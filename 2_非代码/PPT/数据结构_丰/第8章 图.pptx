
<file path=[Content_Types].xml><?xml version="1.0" encoding="utf-8"?>
<Types xmlns="http://schemas.openxmlformats.org/package/2006/content-types">
  <Default Extension="bin" ContentType="application/vnd.openxmlformats-officedocument.oleObject"/>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8"/>
  </p:notesMasterIdLst>
  <p:sldIdLst>
    <p:sldId id="259" r:id="rId2"/>
    <p:sldId id="587" r:id="rId3"/>
    <p:sldId id="588" r:id="rId4"/>
    <p:sldId id="596" r:id="rId5"/>
    <p:sldId id="597" r:id="rId6"/>
    <p:sldId id="598" r:id="rId7"/>
    <p:sldId id="599" r:id="rId8"/>
    <p:sldId id="451" r:id="rId9"/>
    <p:sldId id="590" r:id="rId10"/>
    <p:sldId id="658" r:id="rId11"/>
    <p:sldId id="600" r:id="rId12"/>
    <p:sldId id="603" r:id="rId13"/>
    <p:sldId id="605" r:id="rId14"/>
    <p:sldId id="604" r:id="rId15"/>
    <p:sldId id="452" r:id="rId16"/>
    <p:sldId id="594" r:id="rId17"/>
    <p:sldId id="595" r:id="rId18"/>
    <p:sldId id="463" r:id="rId19"/>
    <p:sldId id="462" r:id="rId20"/>
    <p:sldId id="606" r:id="rId21"/>
    <p:sldId id="464" r:id="rId22"/>
    <p:sldId id="465" r:id="rId23"/>
    <p:sldId id="608" r:id="rId24"/>
    <p:sldId id="607" r:id="rId25"/>
    <p:sldId id="466" r:id="rId26"/>
    <p:sldId id="469" r:id="rId27"/>
    <p:sldId id="610" r:id="rId28"/>
    <p:sldId id="612" r:id="rId29"/>
    <p:sldId id="468" r:id="rId30"/>
    <p:sldId id="471" r:id="rId31"/>
    <p:sldId id="472" r:id="rId32"/>
    <p:sldId id="618" r:id="rId33"/>
    <p:sldId id="614" r:id="rId34"/>
    <p:sldId id="475" r:id="rId35"/>
    <p:sldId id="476" r:id="rId36"/>
    <p:sldId id="477" r:id="rId37"/>
    <p:sldId id="619" r:id="rId38"/>
    <p:sldId id="478" r:id="rId39"/>
    <p:sldId id="621" r:id="rId40"/>
    <p:sldId id="660" r:id="rId41"/>
    <p:sldId id="661" r:id="rId42"/>
    <p:sldId id="662" r:id="rId43"/>
    <p:sldId id="663" r:id="rId44"/>
    <p:sldId id="664" r:id="rId45"/>
    <p:sldId id="622" r:id="rId46"/>
    <p:sldId id="485" r:id="rId47"/>
    <p:sldId id="486" r:id="rId48"/>
    <p:sldId id="487" r:id="rId49"/>
    <p:sldId id="488" r:id="rId50"/>
    <p:sldId id="665" r:id="rId51"/>
    <p:sldId id="666" r:id="rId52"/>
    <p:sldId id="667" r:id="rId53"/>
    <p:sldId id="668" r:id="rId54"/>
    <p:sldId id="669" r:id="rId55"/>
    <p:sldId id="490" r:id="rId56"/>
    <p:sldId id="491" r:id="rId57"/>
    <p:sldId id="492" r:id="rId58"/>
    <p:sldId id="670" r:id="rId59"/>
    <p:sldId id="671" r:id="rId60"/>
    <p:sldId id="672" r:id="rId61"/>
    <p:sldId id="673" r:id="rId62"/>
    <p:sldId id="674" r:id="rId63"/>
    <p:sldId id="675" r:id="rId64"/>
    <p:sldId id="676" r:id="rId65"/>
    <p:sldId id="679" r:id="rId66"/>
    <p:sldId id="680" r:id="rId67"/>
    <p:sldId id="681" r:id="rId68"/>
    <p:sldId id="682" r:id="rId69"/>
    <p:sldId id="683" r:id="rId70"/>
    <p:sldId id="684" r:id="rId71"/>
    <p:sldId id="685" r:id="rId72"/>
    <p:sldId id="496" r:id="rId73"/>
    <p:sldId id="686" r:id="rId74"/>
    <p:sldId id="502" r:id="rId75"/>
    <p:sldId id="503" r:id="rId76"/>
    <p:sldId id="504" r:id="rId77"/>
    <p:sldId id="505" r:id="rId78"/>
    <p:sldId id="687" r:id="rId79"/>
    <p:sldId id="688" r:id="rId80"/>
    <p:sldId id="689" r:id="rId81"/>
    <p:sldId id="690" r:id="rId82"/>
    <p:sldId id="691" r:id="rId83"/>
    <p:sldId id="692" r:id="rId84"/>
    <p:sldId id="693" r:id="rId85"/>
    <p:sldId id="694" r:id="rId86"/>
    <p:sldId id="695" r:id="rId87"/>
    <p:sldId id="696" r:id="rId88"/>
    <p:sldId id="697" r:id="rId89"/>
    <p:sldId id="698" r:id="rId90"/>
    <p:sldId id="699" r:id="rId91"/>
    <p:sldId id="710" r:id="rId92"/>
    <p:sldId id="526" r:id="rId93"/>
    <p:sldId id="709" r:id="rId94"/>
    <p:sldId id="700" r:id="rId95"/>
    <p:sldId id="701" r:id="rId96"/>
    <p:sldId id="702" r:id="rId97"/>
    <p:sldId id="703" r:id="rId98"/>
    <p:sldId id="704" r:id="rId99"/>
    <p:sldId id="705" r:id="rId100"/>
    <p:sldId id="706" r:id="rId101"/>
    <p:sldId id="707" r:id="rId102"/>
    <p:sldId id="711" r:id="rId103"/>
    <p:sldId id="712" r:id="rId104"/>
    <p:sldId id="643" r:id="rId105"/>
    <p:sldId id="626" r:id="rId106"/>
    <p:sldId id="627" r:id="rId107"/>
    <p:sldId id="628" r:id="rId108"/>
    <p:sldId id="713" r:id="rId109"/>
    <p:sldId id="714" r:id="rId110"/>
    <p:sldId id="715" r:id="rId111"/>
    <p:sldId id="716" r:id="rId112"/>
    <p:sldId id="717" r:id="rId113"/>
    <p:sldId id="718" r:id="rId114"/>
    <p:sldId id="719" r:id="rId115"/>
    <p:sldId id="720" r:id="rId116"/>
    <p:sldId id="721" r:id="rId117"/>
    <p:sldId id="722" r:id="rId118"/>
    <p:sldId id="723" r:id="rId119"/>
    <p:sldId id="726" r:id="rId120"/>
    <p:sldId id="727" r:id="rId121"/>
    <p:sldId id="724" r:id="rId122"/>
    <p:sldId id="725" r:id="rId123"/>
    <p:sldId id="729" r:id="rId124"/>
    <p:sldId id="728" r:id="rId125"/>
    <p:sldId id="730" r:id="rId126"/>
    <p:sldId id="731" r:id="rId127"/>
    <p:sldId id="732" r:id="rId128"/>
    <p:sldId id="733" r:id="rId129"/>
    <p:sldId id="735" r:id="rId130"/>
    <p:sldId id="736" r:id="rId131"/>
    <p:sldId id="737" r:id="rId132"/>
    <p:sldId id="738" r:id="rId133"/>
    <p:sldId id="739" r:id="rId134"/>
    <p:sldId id="740" r:id="rId135"/>
    <p:sldId id="741" r:id="rId136"/>
    <p:sldId id="742" r:id="rId13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0152" autoAdjust="0"/>
  </p:normalViewPr>
  <p:slideViewPr>
    <p:cSldViewPr>
      <p:cViewPr varScale="1">
        <p:scale>
          <a:sx n="72" d="100"/>
          <a:sy n="72" d="100"/>
        </p:scale>
        <p:origin x="423" y="3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38" Type="http://schemas.openxmlformats.org/officeDocument/2006/relationships/notesMaster" Target="notesMasters/notesMaster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slide" Target="slides/slide115.xml"/><Relationship Id="rId124" Type="http://schemas.openxmlformats.org/officeDocument/2006/relationships/slide" Target="slides/slide123.xml"/><Relationship Id="rId129" Type="http://schemas.openxmlformats.org/officeDocument/2006/relationships/slide" Target="slides/slide128.xml"/><Relationship Id="rId137" Type="http://schemas.openxmlformats.org/officeDocument/2006/relationships/slide" Target="slides/slide13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32" Type="http://schemas.openxmlformats.org/officeDocument/2006/relationships/slide" Target="slides/slide131.xml"/><Relationship Id="rId14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slide" Target="slides/slide118.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30" Type="http://schemas.openxmlformats.org/officeDocument/2006/relationships/slide" Target="slides/slide129.xml"/><Relationship Id="rId135" Type="http://schemas.openxmlformats.org/officeDocument/2006/relationships/slide" Target="slides/slide13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A3E4B5A-F0DA-45DB-8057-EA84829C2A07}" type="datetimeFigureOut">
              <a:rPr lang="zh-CN" altLang="en-US" smtClean="0"/>
              <a:t>2025/11/17</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B3F6518-B1A6-4D8A-B838-759C894BA8CF}" type="slidenum">
              <a:rPr lang="zh-CN" altLang="en-US" smtClean="0"/>
              <a:t>‹#›</a:t>
            </a:fld>
            <a:endParaRPr lang="zh-CN" altLang="en-US"/>
          </a:p>
        </p:txBody>
      </p:sp>
    </p:spTree>
    <p:extLst>
      <p:ext uri="{BB962C8B-B14F-4D97-AF65-F5344CB8AC3E}">
        <p14:creationId xmlns:p14="http://schemas.microsoft.com/office/powerpoint/2010/main" val="4714456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B3F6518-B1A6-4D8A-B838-759C894BA8CF}" type="slidenum">
              <a:rPr lang="zh-CN" altLang="en-US" smtClean="0"/>
              <a:t>85</a:t>
            </a:fld>
            <a:endParaRPr lang="zh-CN" altLang="en-US"/>
          </a:p>
        </p:txBody>
      </p:sp>
    </p:spTree>
    <p:extLst>
      <p:ext uri="{BB962C8B-B14F-4D97-AF65-F5344CB8AC3E}">
        <p14:creationId xmlns:p14="http://schemas.microsoft.com/office/powerpoint/2010/main" val="21388403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C9B5F1-092D-13BA-BF90-69CAA5B9ED5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0FCE86F-D99F-5900-9DA0-F4396FF5737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A82D01B-A10C-A47D-8F73-6125FA49090F}"/>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19DEE52F-18CB-6614-4E3C-AB7486C17A1F}"/>
              </a:ext>
            </a:extLst>
          </p:cNvPr>
          <p:cNvSpPr>
            <a:spLocks noGrp="1"/>
          </p:cNvSpPr>
          <p:nvPr>
            <p:ph type="sldNum" sz="quarter" idx="5"/>
          </p:nvPr>
        </p:nvSpPr>
        <p:spPr/>
        <p:txBody>
          <a:bodyPr/>
          <a:lstStyle/>
          <a:p>
            <a:fld id="{4B3F6518-B1A6-4D8A-B838-759C894BA8CF}" type="slidenum">
              <a:rPr lang="zh-CN" altLang="en-US" smtClean="0"/>
              <a:t>86</a:t>
            </a:fld>
            <a:endParaRPr lang="zh-CN" altLang="en-US"/>
          </a:p>
        </p:txBody>
      </p:sp>
    </p:spTree>
    <p:extLst>
      <p:ext uri="{BB962C8B-B14F-4D97-AF65-F5344CB8AC3E}">
        <p14:creationId xmlns:p14="http://schemas.microsoft.com/office/powerpoint/2010/main" val="32770448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93680D-9E2E-B61E-2F23-636544EC535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D86BD7C-CD80-4A0A-4351-5AEEF35020E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13912A8-07BC-3AE6-2353-E64899262C88}"/>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46682FBC-5DB9-9C05-ECEE-727AC842F7C5}"/>
              </a:ext>
            </a:extLst>
          </p:cNvPr>
          <p:cNvSpPr>
            <a:spLocks noGrp="1"/>
          </p:cNvSpPr>
          <p:nvPr>
            <p:ph type="sldNum" sz="quarter" idx="5"/>
          </p:nvPr>
        </p:nvSpPr>
        <p:spPr/>
        <p:txBody>
          <a:bodyPr/>
          <a:lstStyle/>
          <a:p>
            <a:fld id="{4B3F6518-B1A6-4D8A-B838-759C894BA8CF}" type="slidenum">
              <a:rPr lang="zh-CN" altLang="en-US" smtClean="0"/>
              <a:t>87</a:t>
            </a:fld>
            <a:endParaRPr lang="zh-CN" altLang="en-US"/>
          </a:p>
        </p:txBody>
      </p:sp>
    </p:spTree>
    <p:extLst>
      <p:ext uri="{BB962C8B-B14F-4D97-AF65-F5344CB8AC3E}">
        <p14:creationId xmlns:p14="http://schemas.microsoft.com/office/powerpoint/2010/main" val="41080184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D15B05-52C1-AA2A-AD7B-28E0C3F8345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489F3C6-9089-EA89-5462-12215996C10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AE9162F-6A00-2AEC-946E-84BDBD06CCF0}"/>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86472833-6907-1D9E-96B9-BE706C440083}"/>
              </a:ext>
            </a:extLst>
          </p:cNvPr>
          <p:cNvSpPr>
            <a:spLocks noGrp="1"/>
          </p:cNvSpPr>
          <p:nvPr>
            <p:ph type="sldNum" sz="quarter" idx="5"/>
          </p:nvPr>
        </p:nvSpPr>
        <p:spPr/>
        <p:txBody>
          <a:bodyPr/>
          <a:lstStyle/>
          <a:p>
            <a:fld id="{4B3F6518-B1A6-4D8A-B838-759C894BA8CF}" type="slidenum">
              <a:rPr lang="zh-CN" altLang="en-US" smtClean="0"/>
              <a:t>88</a:t>
            </a:fld>
            <a:endParaRPr lang="zh-CN" altLang="en-US"/>
          </a:p>
        </p:txBody>
      </p:sp>
    </p:spTree>
    <p:extLst>
      <p:ext uri="{BB962C8B-B14F-4D97-AF65-F5344CB8AC3E}">
        <p14:creationId xmlns:p14="http://schemas.microsoft.com/office/powerpoint/2010/main" val="18163051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6ADCD0-A09B-9B91-32FA-A59C55400B6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A1A5CE0-FB93-0220-9D34-B97C7BBE572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0D8BBA0-7900-A13D-BB4F-B4176EBB2FA5}"/>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D74807F4-5904-6115-C47A-F3AB63BF8021}"/>
              </a:ext>
            </a:extLst>
          </p:cNvPr>
          <p:cNvSpPr>
            <a:spLocks noGrp="1"/>
          </p:cNvSpPr>
          <p:nvPr>
            <p:ph type="sldNum" sz="quarter" idx="5"/>
          </p:nvPr>
        </p:nvSpPr>
        <p:spPr/>
        <p:txBody>
          <a:bodyPr/>
          <a:lstStyle/>
          <a:p>
            <a:fld id="{4B3F6518-B1A6-4D8A-B838-759C894BA8CF}" type="slidenum">
              <a:rPr lang="zh-CN" altLang="en-US" smtClean="0"/>
              <a:t>89</a:t>
            </a:fld>
            <a:endParaRPr lang="zh-CN" altLang="en-US"/>
          </a:p>
        </p:txBody>
      </p:sp>
    </p:spTree>
    <p:extLst>
      <p:ext uri="{BB962C8B-B14F-4D97-AF65-F5344CB8AC3E}">
        <p14:creationId xmlns:p14="http://schemas.microsoft.com/office/powerpoint/2010/main" val="37666964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B981FB-40A1-B160-3CB9-B8B73529ED3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4150AC5-44C1-1050-379A-DB6EB49ABBB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A5F01FC-8DE6-26E1-F094-EBC5EE3A85FF}"/>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6A8B59C2-FB26-B8A9-935E-11F157341CCA}"/>
              </a:ext>
            </a:extLst>
          </p:cNvPr>
          <p:cNvSpPr>
            <a:spLocks noGrp="1"/>
          </p:cNvSpPr>
          <p:nvPr>
            <p:ph type="sldNum" sz="quarter" idx="5"/>
          </p:nvPr>
        </p:nvSpPr>
        <p:spPr/>
        <p:txBody>
          <a:bodyPr/>
          <a:lstStyle/>
          <a:p>
            <a:fld id="{4B3F6518-B1A6-4D8A-B838-759C894BA8CF}" type="slidenum">
              <a:rPr lang="zh-CN" altLang="en-US" smtClean="0"/>
              <a:t>90</a:t>
            </a:fld>
            <a:endParaRPr lang="zh-CN" altLang="en-US"/>
          </a:p>
        </p:txBody>
      </p:sp>
    </p:spTree>
    <p:extLst>
      <p:ext uri="{BB962C8B-B14F-4D97-AF65-F5344CB8AC3E}">
        <p14:creationId xmlns:p14="http://schemas.microsoft.com/office/powerpoint/2010/main" val="26514994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8C8269-6164-C877-E65A-72004E907DC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1BC7C5F-34DD-50EB-F4D9-6DF32D5E1B0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DDF9462-AF8C-73BC-2B0C-D0461710A9B8}"/>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BB90FE6C-60BD-81FB-7D3D-61C369A677CB}"/>
              </a:ext>
            </a:extLst>
          </p:cNvPr>
          <p:cNvSpPr>
            <a:spLocks noGrp="1"/>
          </p:cNvSpPr>
          <p:nvPr>
            <p:ph type="sldNum" sz="quarter" idx="5"/>
          </p:nvPr>
        </p:nvSpPr>
        <p:spPr/>
        <p:txBody>
          <a:bodyPr/>
          <a:lstStyle/>
          <a:p>
            <a:fld id="{4B3F6518-B1A6-4D8A-B838-759C894BA8CF}" type="slidenum">
              <a:rPr lang="zh-CN" altLang="en-US" smtClean="0"/>
              <a:t>91</a:t>
            </a:fld>
            <a:endParaRPr lang="zh-CN" altLang="en-US"/>
          </a:p>
        </p:txBody>
      </p:sp>
    </p:spTree>
    <p:extLst>
      <p:ext uri="{BB962C8B-B14F-4D97-AF65-F5344CB8AC3E}">
        <p14:creationId xmlns:p14="http://schemas.microsoft.com/office/powerpoint/2010/main" val="329208869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30DBDE-2DFF-1C1D-D786-4731F758018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B1F84AA-E85C-84D0-5683-996F28F5485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D740341-6F3C-D0D8-19DE-326065BC9DC6}"/>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63E7F5EF-EF27-509E-73E6-B38030F10A55}"/>
              </a:ext>
            </a:extLst>
          </p:cNvPr>
          <p:cNvSpPr>
            <a:spLocks noGrp="1"/>
          </p:cNvSpPr>
          <p:nvPr>
            <p:ph type="sldNum" sz="quarter" idx="5"/>
          </p:nvPr>
        </p:nvSpPr>
        <p:spPr/>
        <p:txBody>
          <a:bodyPr/>
          <a:lstStyle/>
          <a:p>
            <a:fld id="{4B3F6518-B1A6-4D8A-B838-759C894BA8CF}" type="slidenum">
              <a:rPr lang="zh-CN" altLang="en-US" smtClean="0"/>
              <a:t>93</a:t>
            </a:fld>
            <a:endParaRPr lang="zh-CN" altLang="en-US"/>
          </a:p>
        </p:txBody>
      </p:sp>
    </p:spTree>
    <p:extLst>
      <p:ext uri="{BB962C8B-B14F-4D97-AF65-F5344CB8AC3E}">
        <p14:creationId xmlns:p14="http://schemas.microsoft.com/office/powerpoint/2010/main" val="121225872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B5B3F1-DC9B-D226-00A5-114C2533280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997EFC1-9F07-AC73-86E9-E8A39BD0964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FCD1C30-3C9E-EEBD-C121-7598C7B4A32A}"/>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D65DC866-E959-582D-794E-00F3A119786F}"/>
              </a:ext>
            </a:extLst>
          </p:cNvPr>
          <p:cNvSpPr>
            <a:spLocks noGrp="1"/>
          </p:cNvSpPr>
          <p:nvPr>
            <p:ph type="sldNum" sz="quarter" idx="5"/>
          </p:nvPr>
        </p:nvSpPr>
        <p:spPr/>
        <p:txBody>
          <a:bodyPr/>
          <a:lstStyle/>
          <a:p>
            <a:fld id="{4B3F6518-B1A6-4D8A-B838-759C894BA8CF}" type="slidenum">
              <a:rPr lang="zh-CN" altLang="en-US" smtClean="0"/>
              <a:t>94</a:t>
            </a:fld>
            <a:endParaRPr lang="zh-CN" altLang="en-US"/>
          </a:p>
        </p:txBody>
      </p:sp>
    </p:spTree>
    <p:extLst>
      <p:ext uri="{BB962C8B-B14F-4D97-AF65-F5344CB8AC3E}">
        <p14:creationId xmlns:p14="http://schemas.microsoft.com/office/powerpoint/2010/main" val="12639081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73BE13-E155-5A10-021A-E4067A394EC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56A8665-3CF3-ED37-4F43-798A8D55988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EDA675E-92F9-4761-80FA-F9006F63FB19}"/>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19314C77-EECE-D390-42D3-FAB3F0B8ACA9}"/>
              </a:ext>
            </a:extLst>
          </p:cNvPr>
          <p:cNvSpPr>
            <a:spLocks noGrp="1"/>
          </p:cNvSpPr>
          <p:nvPr>
            <p:ph type="sldNum" sz="quarter" idx="5"/>
          </p:nvPr>
        </p:nvSpPr>
        <p:spPr/>
        <p:txBody>
          <a:bodyPr/>
          <a:lstStyle/>
          <a:p>
            <a:fld id="{4B3F6518-B1A6-4D8A-B838-759C894BA8CF}" type="slidenum">
              <a:rPr lang="zh-CN" altLang="en-US" smtClean="0"/>
              <a:t>95</a:t>
            </a:fld>
            <a:endParaRPr lang="zh-CN" altLang="en-US"/>
          </a:p>
        </p:txBody>
      </p:sp>
    </p:spTree>
    <p:extLst>
      <p:ext uri="{BB962C8B-B14F-4D97-AF65-F5344CB8AC3E}">
        <p14:creationId xmlns:p14="http://schemas.microsoft.com/office/powerpoint/2010/main" val="131202032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209D7F-48E3-6FB7-F9E1-4318064B52B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5FC4E79-F1BA-BD1D-E152-CC36FA9911C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57A5D09-AA81-72C5-5E1E-685D0B2030C6}"/>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852DCF73-93EB-A12F-2361-579CAB709492}"/>
              </a:ext>
            </a:extLst>
          </p:cNvPr>
          <p:cNvSpPr>
            <a:spLocks noGrp="1"/>
          </p:cNvSpPr>
          <p:nvPr>
            <p:ph type="sldNum" sz="quarter" idx="5"/>
          </p:nvPr>
        </p:nvSpPr>
        <p:spPr/>
        <p:txBody>
          <a:bodyPr/>
          <a:lstStyle/>
          <a:p>
            <a:fld id="{4B3F6518-B1A6-4D8A-B838-759C894BA8CF}" type="slidenum">
              <a:rPr lang="zh-CN" altLang="en-US" smtClean="0"/>
              <a:t>96</a:t>
            </a:fld>
            <a:endParaRPr lang="zh-CN" altLang="en-US"/>
          </a:p>
        </p:txBody>
      </p:sp>
    </p:spTree>
    <p:extLst>
      <p:ext uri="{BB962C8B-B14F-4D97-AF65-F5344CB8AC3E}">
        <p14:creationId xmlns:p14="http://schemas.microsoft.com/office/powerpoint/2010/main" val="410964128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8DC2DB-AAD2-A257-B016-963EE0A78CF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AA29BB3-8BE4-BDD2-88D8-F70CEB043CD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853C304-4D82-32F5-9E75-57F735E2045E}"/>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58C0F9E4-5E47-08C8-DA21-FFD91A1A55BC}"/>
              </a:ext>
            </a:extLst>
          </p:cNvPr>
          <p:cNvSpPr>
            <a:spLocks noGrp="1"/>
          </p:cNvSpPr>
          <p:nvPr>
            <p:ph type="sldNum" sz="quarter" idx="5"/>
          </p:nvPr>
        </p:nvSpPr>
        <p:spPr/>
        <p:txBody>
          <a:bodyPr/>
          <a:lstStyle/>
          <a:p>
            <a:fld id="{4B3F6518-B1A6-4D8A-B838-759C894BA8CF}" type="slidenum">
              <a:rPr lang="zh-CN" altLang="en-US" smtClean="0"/>
              <a:t>97</a:t>
            </a:fld>
            <a:endParaRPr lang="zh-CN" altLang="en-US"/>
          </a:p>
        </p:txBody>
      </p:sp>
    </p:spTree>
    <p:extLst>
      <p:ext uri="{BB962C8B-B14F-4D97-AF65-F5344CB8AC3E}">
        <p14:creationId xmlns:p14="http://schemas.microsoft.com/office/powerpoint/2010/main" val="424867285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79DCF3-057D-A07A-C102-525A1CEB0DA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81CF458-5664-A469-2DDE-37A4D6983DD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EA89708-38F8-9408-7D6D-65E49091DCC3}"/>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252904C6-DC00-1AC0-43BA-03D29575F3D6}"/>
              </a:ext>
            </a:extLst>
          </p:cNvPr>
          <p:cNvSpPr>
            <a:spLocks noGrp="1"/>
          </p:cNvSpPr>
          <p:nvPr>
            <p:ph type="sldNum" sz="quarter" idx="5"/>
          </p:nvPr>
        </p:nvSpPr>
        <p:spPr/>
        <p:txBody>
          <a:bodyPr/>
          <a:lstStyle/>
          <a:p>
            <a:fld id="{4B3F6518-B1A6-4D8A-B838-759C894BA8CF}" type="slidenum">
              <a:rPr lang="zh-CN" altLang="en-US" smtClean="0"/>
              <a:t>98</a:t>
            </a:fld>
            <a:endParaRPr lang="zh-CN" altLang="en-US"/>
          </a:p>
        </p:txBody>
      </p:sp>
    </p:spTree>
    <p:extLst>
      <p:ext uri="{BB962C8B-B14F-4D97-AF65-F5344CB8AC3E}">
        <p14:creationId xmlns:p14="http://schemas.microsoft.com/office/powerpoint/2010/main" val="402901035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21C14A-671E-2EB0-712F-E887391C873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032BACD-C890-7837-45FF-59E50E5047E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D7FE803-97BF-66D2-C5F1-DC8C849EDC90}"/>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22290E63-7138-587E-B8D0-936195EE0F90}"/>
              </a:ext>
            </a:extLst>
          </p:cNvPr>
          <p:cNvSpPr>
            <a:spLocks noGrp="1"/>
          </p:cNvSpPr>
          <p:nvPr>
            <p:ph type="sldNum" sz="quarter" idx="5"/>
          </p:nvPr>
        </p:nvSpPr>
        <p:spPr/>
        <p:txBody>
          <a:bodyPr/>
          <a:lstStyle/>
          <a:p>
            <a:fld id="{4B3F6518-B1A6-4D8A-B838-759C894BA8CF}" type="slidenum">
              <a:rPr lang="zh-CN" altLang="en-US" smtClean="0"/>
              <a:t>99</a:t>
            </a:fld>
            <a:endParaRPr lang="zh-CN" altLang="en-US"/>
          </a:p>
        </p:txBody>
      </p:sp>
    </p:spTree>
    <p:extLst>
      <p:ext uri="{BB962C8B-B14F-4D97-AF65-F5344CB8AC3E}">
        <p14:creationId xmlns:p14="http://schemas.microsoft.com/office/powerpoint/2010/main" val="153313676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C2C3A6-131B-4DED-D187-535C24E9F6E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4EA31B1-3DE9-643A-7413-37BE3EACFB9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A29CB9F-A75D-8902-F518-465124346FA4}"/>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7D5FB502-A56F-6268-29C1-A722A771076A}"/>
              </a:ext>
            </a:extLst>
          </p:cNvPr>
          <p:cNvSpPr>
            <a:spLocks noGrp="1"/>
          </p:cNvSpPr>
          <p:nvPr>
            <p:ph type="sldNum" sz="quarter" idx="5"/>
          </p:nvPr>
        </p:nvSpPr>
        <p:spPr/>
        <p:txBody>
          <a:bodyPr/>
          <a:lstStyle/>
          <a:p>
            <a:fld id="{4B3F6518-B1A6-4D8A-B838-759C894BA8CF}" type="slidenum">
              <a:rPr lang="zh-CN" altLang="en-US" smtClean="0"/>
              <a:t>100</a:t>
            </a:fld>
            <a:endParaRPr lang="zh-CN" altLang="en-US"/>
          </a:p>
        </p:txBody>
      </p:sp>
    </p:spTree>
    <p:extLst>
      <p:ext uri="{BB962C8B-B14F-4D97-AF65-F5344CB8AC3E}">
        <p14:creationId xmlns:p14="http://schemas.microsoft.com/office/powerpoint/2010/main" val="14228244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A4A3AC-0FF1-7C06-5C16-BDF54692D6B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6A28A16-6C5C-AD0E-E6C6-E00DCE9F670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D0A8EDB-0E15-7945-0538-5E3E6FB825D4}"/>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949BBC68-4A1D-6D0B-8C64-0441D6B4B5DC}"/>
              </a:ext>
            </a:extLst>
          </p:cNvPr>
          <p:cNvSpPr>
            <a:spLocks noGrp="1"/>
          </p:cNvSpPr>
          <p:nvPr>
            <p:ph type="sldNum" sz="quarter" idx="5"/>
          </p:nvPr>
        </p:nvSpPr>
        <p:spPr/>
        <p:txBody>
          <a:bodyPr/>
          <a:lstStyle/>
          <a:p>
            <a:fld id="{4B3F6518-B1A6-4D8A-B838-759C894BA8CF}" type="slidenum">
              <a:rPr lang="zh-CN" altLang="en-US" smtClean="0"/>
              <a:t>101</a:t>
            </a:fld>
            <a:endParaRPr lang="zh-CN" altLang="en-US"/>
          </a:p>
        </p:txBody>
      </p:sp>
    </p:spTree>
    <p:extLst>
      <p:ext uri="{BB962C8B-B14F-4D97-AF65-F5344CB8AC3E}">
        <p14:creationId xmlns:p14="http://schemas.microsoft.com/office/powerpoint/2010/main" val="420775795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B3F6518-B1A6-4D8A-B838-759C894BA8CF}" type="slidenum">
              <a:rPr lang="zh-CN" altLang="en-US" smtClean="0"/>
              <a:t>113</a:t>
            </a:fld>
            <a:endParaRPr lang="zh-CN" altLang="en-US"/>
          </a:p>
        </p:txBody>
      </p:sp>
    </p:spTree>
    <p:extLst>
      <p:ext uri="{BB962C8B-B14F-4D97-AF65-F5344CB8AC3E}">
        <p14:creationId xmlns:p14="http://schemas.microsoft.com/office/powerpoint/2010/main" val="2461717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6"/>
            <a:ext cx="10363200" cy="1470025"/>
          </a:xfr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fld id="{A55B11C4-7618-49BA-A742-440409CFAB34}" type="datetimeFigureOut">
              <a:rPr lang="zh-CN" altLang="en-US" smtClean="0"/>
              <a:t>2025/11/17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965A0BF-9B99-4B1A-8F42-46B3DEFA909C}" type="slidenum">
              <a:rPr lang="zh-CN" altLang="en-US" smtClean="0"/>
              <a:t>‹#›</a:t>
            </a:fld>
            <a:endParaRPr lang="zh-CN" altLang="en-US"/>
          </a:p>
        </p:txBody>
      </p:sp>
    </p:spTree>
    <p:extLst>
      <p:ext uri="{BB962C8B-B14F-4D97-AF65-F5344CB8AC3E}">
        <p14:creationId xmlns:p14="http://schemas.microsoft.com/office/powerpoint/2010/main" val="37328408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A55B11C4-7618-49BA-A742-440409CFAB34}" type="datetimeFigureOut">
              <a:rPr lang="zh-CN" altLang="en-US" smtClean="0"/>
              <a:t>2025/11/17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965A0BF-9B99-4B1A-8F42-46B3DEFA909C}" type="slidenum">
              <a:rPr lang="zh-CN" altLang="en-US" smtClean="0"/>
              <a:t>‹#›</a:t>
            </a:fld>
            <a:endParaRPr lang="zh-CN" altLang="en-US"/>
          </a:p>
        </p:txBody>
      </p:sp>
    </p:spTree>
    <p:extLst>
      <p:ext uri="{BB962C8B-B14F-4D97-AF65-F5344CB8AC3E}">
        <p14:creationId xmlns:p14="http://schemas.microsoft.com/office/powerpoint/2010/main" val="37338587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A55B11C4-7618-49BA-A742-440409CFAB34}" type="datetimeFigureOut">
              <a:rPr lang="zh-CN" altLang="en-US" smtClean="0"/>
              <a:t>2025/11/17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965A0BF-9B99-4B1A-8F42-46B3DEFA909C}" type="slidenum">
              <a:rPr lang="zh-CN" altLang="en-US" smtClean="0"/>
              <a:t>‹#›</a:t>
            </a:fld>
            <a:endParaRPr lang="zh-CN" altLang="en-US"/>
          </a:p>
        </p:txBody>
      </p:sp>
    </p:spTree>
    <p:extLst>
      <p:ext uri="{BB962C8B-B14F-4D97-AF65-F5344CB8AC3E}">
        <p14:creationId xmlns:p14="http://schemas.microsoft.com/office/powerpoint/2010/main" val="30557240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A55B11C4-7618-49BA-A742-440409CFAB34}" type="datetimeFigureOut">
              <a:rPr lang="zh-CN" altLang="en-US" smtClean="0"/>
              <a:t>2025/11/17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965A0BF-9B99-4B1A-8F42-46B3DEFA909C}" type="slidenum">
              <a:rPr lang="zh-CN" altLang="en-US" smtClean="0"/>
              <a:t>‹#›</a:t>
            </a:fld>
            <a:endParaRPr lang="zh-CN" altLang="en-US"/>
          </a:p>
        </p:txBody>
      </p:sp>
    </p:spTree>
    <p:extLst>
      <p:ext uri="{BB962C8B-B14F-4D97-AF65-F5344CB8AC3E}">
        <p14:creationId xmlns:p14="http://schemas.microsoft.com/office/powerpoint/2010/main" val="20811296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A55B11C4-7618-49BA-A742-440409CFAB34}" type="datetimeFigureOut">
              <a:rPr lang="zh-CN" altLang="en-US" smtClean="0"/>
              <a:t>2025/11/17</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F965A0BF-9B99-4B1A-8F42-46B3DEFA909C}" type="slidenum">
              <a:rPr lang="zh-CN" altLang="en-US" smtClean="0"/>
              <a:t>‹#›</a:t>
            </a:fld>
            <a:endParaRPr lang="zh-CN" altLang="en-US"/>
          </a:p>
        </p:txBody>
      </p:sp>
    </p:spTree>
    <p:extLst>
      <p:ext uri="{BB962C8B-B14F-4D97-AF65-F5344CB8AC3E}">
        <p14:creationId xmlns:p14="http://schemas.microsoft.com/office/powerpoint/2010/main" val="22470086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A55B11C4-7618-49BA-A742-440409CFAB34}" type="datetimeFigureOut">
              <a:rPr lang="zh-CN" altLang="en-US" smtClean="0"/>
              <a:t>2025/11/17</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F965A0BF-9B99-4B1A-8F42-46B3DEFA909C}" type="slidenum">
              <a:rPr lang="zh-CN" altLang="en-US" smtClean="0"/>
              <a:t>‹#›</a:t>
            </a:fld>
            <a:endParaRPr lang="zh-CN" altLang="en-US"/>
          </a:p>
        </p:txBody>
      </p:sp>
    </p:spTree>
    <p:extLst>
      <p:ext uri="{BB962C8B-B14F-4D97-AF65-F5344CB8AC3E}">
        <p14:creationId xmlns:p14="http://schemas.microsoft.com/office/powerpoint/2010/main" val="26878665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A55B11C4-7618-49BA-A742-440409CFAB34}" type="datetimeFigureOut">
              <a:rPr lang="zh-CN" altLang="en-US" smtClean="0"/>
              <a:t>2025/11/17</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F965A0BF-9B99-4B1A-8F42-46B3DEFA909C}" type="slidenum">
              <a:rPr lang="zh-CN" altLang="en-US" smtClean="0"/>
              <a:t>‹#›</a:t>
            </a:fld>
            <a:endParaRPr lang="zh-CN" altLang="en-US"/>
          </a:p>
        </p:txBody>
      </p:sp>
    </p:spTree>
    <p:extLst>
      <p:ext uri="{BB962C8B-B14F-4D97-AF65-F5344CB8AC3E}">
        <p14:creationId xmlns:p14="http://schemas.microsoft.com/office/powerpoint/2010/main" val="19093447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A55B11C4-7618-49BA-A742-440409CFAB34}" type="datetimeFigureOut">
              <a:rPr lang="zh-CN" altLang="en-US" smtClean="0"/>
              <a:t>2025/11/17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965A0BF-9B99-4B1A-8F42-46B3DEFA909C}" type="slidenum">
              <a:rPr lang="zh-CN" altLang="en-US" smtClean="0"/>
              <a:t>‹#›</a:t>
            </a:fld>
            <a:endParaRPr lang="zh-CN" altLang="en-US"/>
          </a:p>
        </p:txBody>
      </p:sp>
    </p:spTree>
    <p:extLst>
      <p:ext uri="{BB962C8B-B14F-4D97-AF65-F5344CB8AC3E}">
        <p14:creationId xmlns:p14="http://schemas.microsoft.com/office/powerpoint/2010/main" val="12497330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A55B11C4-7618-49BA-A742-440409CFAB34}" type="datetimeFigureOut">
              <a:rPr lang="zh-CN" altLang="en-US" smtClean="0"/>
              <a:t>2025/11/17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965A0BF-9B99-4B1A-8F42-46B3DEFA909C}" type="slidenum">
              <a:rPr lang="zh-CN" altLang="en-US" smtClean="0"/>
              <a:t>‹#›</a:t>
            </a:fld>
            <a:endParaRPr lang="zh-CN" altLang="en-US"/>
          </a:p>
        </p:txBody>
      </p:sp>
    </p:spTree>
    <p:extLst>
      <p:ext uri="{BB962C8B-B14F-4D97-AF65-F5344CB8AC3E}">
        <p14:creationId xmlns:p14="http://schemas.microsoft.com/office/powerpoint/2010/main" val="28831417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A55B11C4-7618-49BA-A742-440409CFAB34}" type="datetimeFigureOut">
              <a:rPr lang="zh-CN" altLang="en-US" smtClean="0"/>
              <a:t>2025/11/17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965A0BF-9B99-4B1A-8F42-46B3DEFA909C}" type="slidenum">
              <a:rPr lang="zh-CN" altLang="en-US" smtClean="0"/>
              <a:t>‹#›</a:t>
            </a:fld>
            <a:endParaRPr lang="zh-CN" altLang="en-US"/>
          </a:p>
        </p:txBody>
      </p:sp>
    </p:spTree>
    <p:extLst>
      <p:ext uri="{BB962C8B-B14F-4D97-AF65-F5344CB8AC3E}">
        <p14:creationId xmlns:p14="http://schemas.microsoft.com/office/powerpoint/2010/main" val="31560220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9"/>
            <a:ext cx="27432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274639"/>
            <a:ext cx="80264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A55B11C4-7618-49BA-A742-440409CFAB34}" type="datetimeFigureOut">
              <a:rPr lang="zh-CN" altLang="en-US" smtClean="0"/>
              <a:t>2025/11/17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965A0BF-9B99-4B1A-8F42-46B3DEFA909C}" type="slidenum">
              <a:rPr lang="zh-CN" altLang="en-US" smtClean="0"/>
              <a:t>‹#›</a:t>
            </a:fld>
            <a:endParaRPr lang="zh-CN" altLang="en-US"/>
          </a:p>
        </p:txBody>
      </p:sp>
    </p:spTree>
    <p:extLst>
      <p:ext uri="{BB962C8B-B14F-4D97-AF65-F5344CB8AC3E}">
        <p14:creationId xmlns:p14="http://schemas.microsoft.com/office/powerpoint/2010/main" val="404605593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661029" y="954742"/>
            <a:ext cx="908424" cy="5171422"/>
          </a:xfrm>
        </p:spPr>
        <p:txBody>
          <a:bodyPr vert="eaVert"/>
          <a:lstStyle/>
          <a:p>
            <a:r>
              <a:rPr lang="en-US" altLang="zh-CN"/>
              <a:t>Click to edit Master title style</a:t>
            </a:r>
            <a:endParaRPr/>
          </a:p>
        </p:txBody>
      </p:sp>
      <p:sp>
        <p:nvSpPr>
          <p:cNvPr id="3" name="Vertical Text Placeholder 2"/>
          <p:cNvSpPr>
            <a:spLocks noGrp="1"/>
          </p:cNvSpPr>
          <p:nvPr>
            <p:ph type="body" orient="vert" idx="1"/>
          </p:nvPr>
        </p:nvSpPr>
        <p:spPr>
          <a:xfrm>
            <a:off x="609600" y="958757"/>
            <a:ext cx="9144000" cy="5184869"/>
          </a:xfrm>
        </p:spPr>
        <p:txBody>
          <a:bodyPr vert="eaVe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a:p>
        </p:txBody>
      </p:sp>
      <p:sp>
        <p:nvSpPr>
          <p:cNvPr id="4" name="Date Placeholder 3"/>
          <p:cNvSpPr>
            <a:spLocks noGrp="1"/>
          </p:cNvSpPr>
          <p:nvPr>
            <p:ph type="dt" sz="half" idx="10"/>
          </p:nvPr>
        </p:nvSpPr>
        <p:spPr/>
        <p:txBody>
          <a:bodyPr/>
          <a:lstStyle>
            <a:lvl1pPr>
              <a:defRPr smtClean="0"/>
            </a:lvl1pPr>
          </a:lstStyle>
          <a:p>
            <a:pPr>
              <a:defRPr/>
            </a:pPr>
            <a:fld id="{853519BE-8366-4AB3-A9DF-75EF957C4D7C}" type="datetime1">
              <a:rPr lang="zh-CN" altLang="en-US"/>
              <a:pPr>
                <a:defRPr/>
              </a:pPr>
              <a:t>2025/11/17</a:t>
            </a:fld>
            <a:endParaRPr lang="en-US" altLang="zh-CN"/>
          </a:p>
        </p:txBody>
      </p:sp>
      <p:sp>
        <p:nvSpPr>
          <p:cNvPr id="5" name="Footer Placeholder 4"/>
          <p:cNvSpPr>
            <a:spLocks noGrp="1"/>
          </p:cNvSpPr>
          <p:nvPr>
            <p:ph type="ftr" sz="quarter" idx="11"/>
          </p:nvPr>
        </p:nvSpPr>
        <p:spPr/>
        <p:txBody>
          <a:bodyPr/>
          <a:lstStyle>
            <a:lvl1pPr>
              <a:defRPr smtClean="0"/>
            </a:lvl1pPr>
          </a:lstStyle>
          <a:p>
            <a:pPr>
              <a:defRPr/>
            </a:pPr>
            <a:r>
              <a:rPr lang="zh-CN" altLang="en-US"/>
              <a:t>
              </a:t>
            </a:r>
          </a:p>
        </p:txBody>
      </p:sp>
    </p:spTree>
    <p:extLst>
      <p:ext uri="{BB962C8B-B14F-4D97-AF65-F5344CB8AC3E}">
        <p14:creationId xmlns:p14="http://schemas.microsoft.com/office/powerpoint/2010/main" val="17666294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55B11C4-7618-49BA-A742-440409CFAB34}" type="datetimeFigureOut">
              <a:rPr lang="zh-CN" altLang="en-US" smtClean="0"/>
              <a:t>2025/11/17</a:t>
            </a:fld>
            <a:endParaRPr lang="zh-CN" altLang="en-US"/>
          </a:p>
        </p:txBody>
      </p:sp>
      <p:sp>
        <p:nvSpPr>
          <p:cNvPr id="5" name="页脚占位符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965A0BF-9B99-4B1A-8F42-46B3DEFA909C}" type="slidenum">
              <a:rPr lang="zh-CN" altLang="en-US" smtClean="0"/>
              <a:t>‹#›</a:t>
            </a:fld>
            <a:endParaRPr lang="zh-CN" altLang="en-US"/>
          </a:p>
        </p:txBody>
      </p:sp>
    </p:spTree>
    <p:extLst>
      <p:ext uri="{BB962C8B-B14F-4D97-AF65-F5344CB8AC3E}">
        <p14:creationId xmlns:p14="http://schemas.microsoft.com/office/powerpoint/2010/main" val="2129300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oleObject" Target="../embeddings/oleObject1.bin"/><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oleObject" Target="../embeddings/oleObject2.bin"/><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oleObject" Target="../embeddings/oleObject3.bin"/><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oleObject" Target="../embeddings/oleObject4.bin"/><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oleObject" Target="../embeddings/oleObject5.bin"/><Relationship Id="rId1" Type="http://schemas.openxmlformats.org/officeDocument/2006/relationships/slideLayout" Target="../slideLayouts/slideLayout1.xml"/><Relationship Id="rId5" Type="http://schemas.openxmlformats.org/officeDocument/2006/relationships/image" Target="../media/image6.wmf"/><Relationship Id="rId4" Type="http://schemas.openxmlformats.org/officeDocument/2006/relationships/oleObject" Target="../embeddings/oleObject6.bin"/></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image" Target="../media/image7.gif"/><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image" Target="../media/image7.gif"/><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image" Target="../media/image8.gif"/><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image" Target="../media/image9.gif"/><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3" Type="http://schemas.openxmlformats.org/officeDocument/2006/relationships/image" Target="../media/image8.gif"/><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3" Type="http://schemas.openxmlformats.org/officeDocument/2006/relationships/image" Target="../media/image8.gif"/><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3.xml.rels><?xml version="1.0" encoding="UTF-8" standalone="yes"?>
<Relationships xmlns="http://schemas.openxmlformats.org/package/2006/relationships"><Relationship Id="rId2" Type="http://schemas.openxmlformats.org/officeDocument/2006/relationships/image" Target="../media/image8.gif"/><Relationship Id="rId1" Type="http://schemas.openxmlformats.org/officeDocument/2006/relationships/slideLayout" Target="../slideLayouts/slideLayout12.xml"/></Relationships>
</file>

<file path=ppt/slides/_rels/slide104.xml.rels><?xml version="1.0" encoding="UTF-8" standalone="yes"?>
<Relationships xmlns="http://schemas.openxmlformats.org/package/2006/relationships"><Relationship Id="rId2" Type="http://schemas.openxmlformats.org/officeDocument/2006/relationships/image" Target="../media/image7.gif"/><Relationship Id="rId1" Type="http://schemas.openxmlformats.org/officeDocument/2006/relationships/slideLayout" Target="../slideLayouts/slideLayout1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7.xml.rels><?xml version="1.0" encoding="UTF-8" standalone="yes"?>
<Relationships xmlns="http://schemas.openxmlformats.org/package/2006/relationships"><Relationship Id="rId2" Type="http://schemas.openxmlformats.org/officeDocument/2006/relationships/image" Target="../media/image8.gif"/><Relationship Id="rId1" Type="http://schemas.openxmlformats.org/officeDocument/2006/relationships/slideLayout" Target="../slideLayouts/slideLayout1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1.xml.rels><?xml version="1.0" encoding="UTF-8" standalone="yes"?>
<Relationships xmlns="http://schemas.openxmlformats.org/package/2006/relationships"><Relationship Id="rId2" Type="http://schemas.openxmlformats.org/officeDocument/2006/relationships/image" Target="../media/image8.gif"/><Relationship Id="rId1" Type="http://schemas.openxmlformats.org/officeDocument/2006/relationships/slideLayout" Target="../slideLayouts/slideLayout1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3.xml.rels><?xml version="1.0" encoding="UTF-8" standalone="yes"?>
<Relationships xmlns="http://schemas.openxmlformats.org/package/2006/relationships"><Relationship Id="rId3" Type="http://schemas.openxmlformats.org/officeDocument/2006/relationships/image" Target="../media/image8.gif"/><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5.xml.rels><?xml version="1.0" encoding="UTF-8" standalone="yes"?>
<Relationships xmlns="http://schemas.openxmlformats.org/package/2006/relationships"><Relationship Id="rId2" Type="http://schemas.openxmlformats.org/officeDocument/2006/relationships/image" Target="../media/image7.gif"/><Relationship Id="rId1" Type="http://schemas.openxmlformats.org/officeDocument/2006/relationships/slideLayout" Target="../slideLayouts/slideLayout1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9.xml.rels><?xml version="1.0" encoding="UTF-8" standalone="yes"?>
<Relationships xmlns="http://schemas.openxmlformats.org/package/2006/relationships"><Relationship Id="rId2" Type="http://schemas.openxmlformats.org/officeDocument/2006/relationships/image" Target="../media/image8.gif"/><Relationship Id="rId1" Type="http://schemas.openxmlformats.org/officeDocument/2006/relationships/slideLayout" Target="../slideLayouts/slideLayout12.xml"/></Relationships>
</file>

<file path=ppt/slides/_rels/slide130.xml.rels><?xml version="1.0" encoding="UTF-8" standalone="yes"?>
<Relationships xmlns="http://schemas.openxmlformats.org/package/2006/relationships"><Relationship Id="rId2" Type="http://schemas.openxmlformats.org/officeDocument/2006/relationships/image" Target="../media/image8.gif"/><Relationship Id="rId1" Type="http://schemas.openxmlformats.org/officeDocument/2006/relationships/slideLayout" Target="../slideLayouts/slideLayout12.xml"/></Relationships>
</file>

<file path=ppt/slides/_rels/slide131.xml.rels><?xml version="1.0" encoding="UTF-8" standalone="yes"?>
<Relationships xmlns="http://schemas.openxmlformats.org/package/2006/relationships"><Relationship Id="rId2" Type="http://schemas.openxmlformats.org/officeDocument/2006/relationships/image" Target="../media/image8.gif"/><Relationship Id="rId1" Type="http://schemas.openxmlformats.org/officeDocument/2006/relationships/slideLayout" Target="../slideLayouts/slideLayout12.xml"/></Relationships>
</file>

<file path=ppt/slides/_rels/slide132.xml.rels><?xml version="1.0" encoding="UTF-8" standalone="yes"?>
<Relationships xmlns="http://schemas.openxmlformats.org/package/2006/relationships"><Relationship Id="rId2" Type="http://schemas.openxmlformats.org/officeDocument/2006/relationships/image" Target="../media/image8.gif"/><Relationship Id="rId1" Type="http://schemas.openxmlformats.org/officeDocument/2006/relationships/slideLayout" Target="../slideLayouts/slideLayout1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 name="直接连接符 7"/>
          <p:cNvCxnSpPr>
            <a:cxnSpLocks/>
          </p:cNvCxnSpPr>
          <p:nvPr/>
        </p:nvCxnSpPr>
        <p:spPr>
          <a:xfrm>
            <a:off x="0" y="1419497"/>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13" name="Rectangle 2"/>
          <p:cNvSpPr txBox="1">
            <a:spLocks noChangeArrowheads="1"/>
          </p:cNvSpPr>
          <p:nvPr/>
        </p:nvSpPr>
        <p:spPr>
          <a:xfrm>
            <a:off x="2209800" y="383177"/>
            <a:ext cx="7772400" cy="925286"/>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zh-CN" altLang="en-US" sz="5400" b="1" dirty="0">
                <a:latin typeface="黑体" pitchFamily="49" charset="-122"/>
                <a:ea typeface="黑体" pitchFamily="49" charset="-122"/>
                <a:cs typeface="+mn-cs"/>
              </a:rPr>
              <a:t>第</a:t>
            </a:r>
            <a:r>
              <a:rPr lang="en-US" altLang="zh-CN" sz="5400" b="1" dirty="0">
                <a:latin typeface="黑体" pitchFamily="49" charset="-122"/>
                <a:ea typeface="黑体" pitchFamily="49" charset="-122"/>
                <a:cs typeface="+mn-cs"/>
              </a:rPr>
              <a:t>8</a:t>
            </a:r>
            <a:r>
              <a:rPr lang="zh-CN" altLang="en-US" sz="5400" b="1" dirty="0">
                <a:latin typeface="黑体" pitchFamily="49" charset="-122"/>
                <a:ea typeface="黑体" pitchFamily="49" charset="-122"/>
                <a:cs typeface="+mn-cs"/>
              </a:rPr>
              <a:t>章 图</a:t>
            </a:r>
            <a:endParaRPr lang="en-US" altLang="zh-CN" sz="5400" dirty="0"/>
          </a:p>
        </p:txBody>
      </p:sp>
      <p:sp>
        <p:nvSpPr>
          <p:cNvPr id="7" name="矩形 6"/>
          <p:cNvSpPr/>
          <p:nvPr/>
        </p:nvSpPr>
        <p:spPr>
          <a:xfrm>
            <a:off x="3846979" y="1611575"/>
            <a:ext cx="5034404" cy="584775"/>
          </a:xfrm>
          <a:prstGeom prst="rect">
            <a:avLst/>
          </a:prstGeom>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3200" dirty="0">
                <a:latin typeface="微软雅黑" pitchFamily="34" charset="-122"/>
                <a:ea typeface="微软雅黑" pitchFamily="34" charset="-122"/>
              </a:rPr>
              <a:t>8.1 </a:t>
            </a:r>
            <a:r>
              <a:rPr lang="zh-CN" altLang="en-US" sz="3200" dirty="0">
                <a:latin typeface="微软雅黑" pitchFamily="34" charset="-122"/>
                <a:ea typeface="微软雅黑" pitchFamily="34" charset="-122"/>
              </a:rPr>
              <a:t>图的基本概念</a:t>
            </a:r>
          </a:p>
        </p:txBody>
      </p:sp>
      <p:sp>
        <p:nvSpPr>
          <p:cNvPr id="10" name="矩形 9"/>
          <p:cNvSpPr/>
          <p:nvPr/>
        </p:nvSpPr>
        <p:spPr>
          <a:xfrm>
            <a:off x="3846979" y="2297967"/>
            <a:ext cx="6480719" cy="584775"/>
          </a:xfrm>
          <a:prstGeom prst="rect">
            <a:avLst/>
          </a:prstGeom>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3200" dirty="0">
                <a:latin typeface="微软雅黑" pitchFamily="34" charset="-122"/>
                <a:ea typeface="微软雅黑" pitchFamily="34" charset="-122"/>
              </a:rPr>
              <a:t>8.2 </a:t>
            </a:r>
            <a:r>
              <a:rPr lang="zh-CN" altLang="en-US" sz="3200" dirty="0">
                <a:latin typeface="微软雅黑" pitchFamily="34" charset="-122"/>
                <a:ea typeface="微软雅黑" pitchFamily="34" charset="-122"/>
              </a:rPr>
              <a:t>图的存储结构和基本运算算法</a:t>
            </a:r>
          </a:p>
        </p:txBody>
      </p:sp>
      <p:sp>
        <p:nvSpPr>
          <p:cNvPr id="11" name="矩形 10"/>
          <p:cNvSpPr/>
          <p:nvPr/>
        </p:nvSpPr>
        <p:spPr>
          <a:xfrm>
            <a:off x="3846979" y="2984359"/>
            <a:ext cx="2736304" cy="584775"/>
          </a:xfrm>
          <a:prstGeom prst="rect">
            <a:avLst/>
          </a:prstGeom>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3200" dirty="0">
                <a:latin typeface="微软雅黑" pitchFamily="34" charset="-122"/>
                <a:ea typeface="微软雅黑" pitchFamily="34" charset="-122"/>
              </a:rPr>
              <a:t>8.3 </a:t>
            </a:r>
            <a:r>
              <a:rPr lang="zh-CN" altLang="en-US" sz="3200" dirty="0">
                <a:latin typeface="微软雅黑" pitchFamily="34" charset="-122"/>
                <a:ea typeface="微软雅黑" pitchFamily="34" charset="-122"/>
              </a:rPr>
              <a:t>图的遍历</a:t>
            </a:r>
          </a:p>
        </p:txBody>
      </p:sp>
      <p:sp>
        <p:nvSpPr>
          <p:cNvPr id="12" name="矩形 11"/>
          <p:cNvSpPr/>
          <p:nvPr/>
        </p:nvSpPr>
        <p:spPr>
          <a:xfrm>
            <a:off x="3846979" y="3670751"/>
            <a:ext cx="5544616" cy="584775"/>
          </a:xfrm>
          <a:prstGeom prst="rect">
            <a:avLst/>
          </a:prstGeom>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3200" dirty="0">
                <a:latin typeface="微软雅黑" pitchFamily="34" charset="-122"/>
                <a:ea typeface="微软雅黑" pitchFamily="34" charset="-122"/>
              </a:rPr>
              <a:t>8.4 </a:t>
            </a:r>
            <a:r>
              <a:rPr lang="zh-CN" altLang="en-US" sz="3200" dirty="0">
                <a:latin typeface="微软雅黑" pitchFamily="34" charset="-122"/>
                <a:ea typeface="微软雅黑" pitchFamily="34" charset="-122"/>
              </a:rPr>
              <a:t>生成树和最小生成树</a:t>
            </a:r>
          </a:p>
        </p:txBody>
      </p:sp>
      <p:sp>
        <p:nvSpPr>
          <p:cNvPr id="14" name="矩形 13"/>
          <p:cNvSpPr/>
          <p:nvPr/>
        </p:nvSpPr>
        <p:spPr>
          <a:xfrm>
            <a:off x="3846979" y="5043535"/>
            <a:ext cx="3009775" cy="584775"/>
          </a:xfrm>
          <a:prstGeom prst="rect">
            <a:avLst/>
          </a:prstGeom>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3200" i="1" dirty="0">
                <a:solidFill>
                  <a:schemeClr val="accent6">
                    <a:lumMod val="40000"/>
                    <a:lumOff val="60000"/>
                  </a:schemeClr>
                </a:solidFill>
                <a:latin typeface="微软雅黑" pitchFamily="34" charset="-122"/>
                <a:ea typeface="微软雅黑" pitchFamily="34" charset="-122"/>
              </a:rPr>
              <a:t>8.6 </a:t>
            </a:r>
            <a:r>
              <a:rPr lang="zh-CN" altLang="en-US" sz="3200" i="1" dirty="0">
                <a:solidFill>
                  <a:schemeClr val="accent6">
                    <a:lumMod val="40000"/>
                    <a:lumOff val="60000"/>
                  </a:schemeClr>
                </a:solidFill>
                <a:latin typeface="微软雅黑" pitchFamily="34" charset="-122"/>
                <a:ea typeface="微软雅黑" pitchFamily="34" charset="-122"/>
              </a:rPr>
              <a:t>拓扑排序</a:t>
            </a:r>
          </a:p>
        </p:txBody>
      </p:sp>
      <p:sp>
        <p:nvSpPr>
          <p:cNvPr id="15" name="矩形 14"/>
          <p:cNvSpPr/>
          <p:nvPr/>
        </p:nvSpPr>
        <p:spPr>
          <a:xfrm>
            <a:off x="3846979" y="4357143"/>
            <a:ext cx="3009775" cy="584775"/>
          </a:xfrm>
          <a:prstGeom prst="rect">
            <a:avLst/>
          </a:prstGeom>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3200" dirty="0">
                <a:latin typeface="微软雅黑" pitchFamily="34" charset="-122"/>
                <a:ea typeface="微软雅黑" pitchFamily="34" charset="-122"/>
              </a:rPr>
              <a:t>8.5 </a:t>
            </a:r>
            <a:r>
              <a:rPr lang="zh-CN" altLang="en-US" sz="3200" dirty="0">
                <a:latin typeface="微软雅黑" pitchFamily="34" charset="-122"/>
                <a:ea typeface="微软雅黑" pitchFamily="34" charset="-122"/>
              </a:rPr>
              <a:t>最短路径</a:t>
            </a:r>
          </a:p>
        </p:txBody>
      </p:sp>
      <p:sp>
        <p:nvSpPr>
          <p:cNvPr id="2" name="矩形 1">
            <a:extLst>
              <a:ext uri="{FF2B5EF4-FFF2-40B4-BE49-F238E27FC236}">
                <a16:creationId xmlns:a16="http://schemas.microsoft.com/office/drawing/2014/main" id="{74759F4E-8B78-173E-CFF4-103089375A68}"/>
              </a:ext>
            </a:extLst>
          </p:cNvPr>
          <p:cNvSpPr/>
          <p:nvPr/>
        </p:nvSpPr>
        <p:spPr>
          <a:xfrm>
            <a:off x="3846979" y="5729925"/>
            <a:ext cx="4747540" cy="584775"/>
          </a:xfrm>
          <a:prstGeom prst="rect">
            <a:avLst/>
          </a:prstGeom>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3200" i="1" dirty="0">
                <a:solidFill>
                  <a:schemeClr val="accent6">
                    <a:lumMod val="40000"/>
                    <a:lumOff val="60000"/>
                  </a:schemeClr>
                </a:solidFill>
                <a:latin typeface="微软雅黑" pitchFamily="34" charset="-122"/>
                <a:ea typeface="微软雅黑" pitchFamily="34" charset="-122"/>
              </a:rPr>
              <a:t>8.7 AOE</a:t>
            </a:r>
            <a:r>
              <a:rPr lang="zh-CN" altLang="en-US" sz="3200" i="1" dirty="0">
                <a:solidFill>
                  <a:schemeClr val="accent6">
                    <a:lumMod val="40000"/>
                    <a:lumOff val="60000"/>
                  </a:schemeClr>
                </a:solidFill>
                <a:latin typeface="微软雅黑" pitchFamily="34" charset="-122"/>
                <a:ea typeface="微软雅黑" pitchFamily="34" charset="-122"/>
              </a:rPr>
              <a:t>网和关键路径</a:t>
            </a:r>
          </a:p>
        </p:txBody>
      </p:sp>
    </p:spTree>
    <p:extLst>
      <p:ext uri="{BB962C8B-B14F-4D97-AF65-F5344CB8AC3E}">
        <p14:creationId xmlns:p14="http://schemas.microsoft.com/office/powerpoint/2010/main" val="301903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0" grpId="0" animBg="1"/>
      <p:bldP spid="11" grpId="0" animBg="1"/>
      <p:bldP spid="12" grpId="0" animBg="1"/>
      <p:bldP spid="14" grpId="0" animBg="1"/>
      <p:bldP spid="15" grpId="0" animBg="1"/>
      <p:bldP spid="2"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4421120" y="339686"/>
            <a:ext cx="3637792"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8.1 </a:t>
            </a:r>
            <a:r>
              <a:rPr lang="zh-CN" altLang="en-US" sz="3000" b="1" dirty="0">
                <a:latin typeface="黑体" pitchFamily="49" charset="-122"/>
                <a:ea typeface="黑体" pitchFamily="49" charset="-122"/>
                <a:cs typeface="经典粗黑简" pitchFamily="49" charset="-122"/>
              </a:rPr>
              <a:t>图的基本概念</a:t>
            </a:r>
          </a:p>
        </p:txBody>
      </p:sp>
      <p:sp>
        <p:nvSpPr>
          <p:cNvPr id="10" name="Rectangle 2"/>
          <p:cNvSpPr txBox="1">
            <a:spLocks noChangeArrowheads="1"/>
          </p:cNvSpPr>
          <p:nvPr/>
        </p:nvSpPr>
        <p:spPr>
          <a:xfrm>
            <a:off x="407368" y="1167247"/>
            <a:ext cx="2808312"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8.1.1 </a:t>
            </a:r>
            <a:r>
              <a:rPr lang="zh-CN" altLang="en-US" dirty="0"/>
              <a:t>图的定义</a:t>
            </a:r>
          </a:p>
        </p:txBody>
      </p:sp>
      <p:sp>
        <p:nvSpPr>
          <p:cNvPr id="12" name="矩形 11"/>
          <p:cNvSpPr/>
          <p:nvPr/>
        </p:nvSpPr>
        <p:spPr>
          <a:xfrm>
            <a:off x="2711624" y="2276872"/>
            <a:ext cx="7056784" cy="1015663"/>
          </a:xfrm>
          <a:prstGeom prst="rect">
            <a:avLst/>
          </a:prstGeom>
        </p:spPr>
        <p:txBody>
          <a:bodyPr wrap="square">
            <a:spAutoFit/>
          </a:bodyPr>
          <a:lstStyle/>
          <a:p>
            <a:r>
              <a:rPr kumimoji="1" lang="zh-CN" altLang="en-US" sz="2000" dirty="0">
                <a:latin typeface="微软雅黑" pitchFamily="34" charset="-122"/>
                <a:ea typeface="微软雅黑" pitchFamily="34" charset="-122"/>
                <a:cs typeface="经典粗黑简" pitchFamily="49" charset="-122"/>
              </a:rPr>
              <a:t>图</a:t>
            </a:r>
            <a:r>
              <a:rPr kumimoji="1" lang="en-US" altLang="zh-CN" sz="2000" dirty="0">
                <a:latin typeface="微软雅黑" pitchFamily="34" charset="-122"/>
                <a:ea typeface="微软雅黑" pitchFamily="34" charset="-122"/>
                <a:cs typeface="经典粗黑简" pitchFamily="49" charset="-122"/>
              </a:rPr>
              <a:t>G</a:t>
            </a:r>
            <a:r>
              <a:rPr kumimoji="1" lang="zh-CN" altLang="en-US" sz="2000" dirty="0">
                <a:latin typeface="微软雅黑" pitchFamily="34" charset="-122"/>
                <a:ea typeface="微软雅黑" pitchFamily="34" charset="-122"/>
                <a:cs typeface="经典粗黑简" pitchFamily="49" charset="-122"/>
              </a:rPr>
              <a:t>由两个集合组成，即</a:t>
            </a:r>
            <a:r>
              <a:rPr kumimoji="1" lang="en-US" altLang="zh-CN" sz="2000" dirty="0">
                <a:latin typeface="微软雅黑" pitchFamily="34" charset="-122"/>
                <a:ea typeface="微软雅黑" pitchFamily="34" charset="-122"/>
                <a:cs typeface="经典粗黑简" pitchFamily="49" charset="-122"/>
              </a:rPr>
              <a:t>G=(V,E)</a:t>
            </a:r>
            <a:r>
              <a:rPr kumimoji="1" lang="zh-CN" altLang="en-US" sz="2000" dirty="0">
                <a:latin typeface="微软雅黑" pitchFamily="34" charset="-122"/>
                <a:ea typeface="微软雅黑" pitchFamily="34" charset="-122"/>
                <a:cs typeface="经典粗黑简" pitchFamily="49" charset="-122"/>
              </a:rPr>
              <a:t>。其中</a:t>
            </a:r>
            <a:r>
              <a:rPr kumimoji="1" lang="en-US" altLang="zh-CN" sz="2000" dirty="0">
                <a:latin typeface="微软雅黑" pitchFamily="34" charset="-122"/>
                <a:ea typeface="微软雅黑" pitchFamily="34" charset="-122"/>
                <a:cs typeface="经典粗黑简" pitchFamily="49" charset="-122"/>
              </a:rPr>
              <a:t>V</a:t>
            </a:r>
            <a:r>
              <a:rPr kumimoji="1" lang="zh-CN" altLang="en-US" sz="2000" dirty="0">
                <a:latin typeface="微软雅黑" pitchFamily="34" charset="-122"/>
                <a:ea typeface="微软雅黑" pitchFamily="34" charset="-122"/>
                <a:cs typeface="经典粗黑简" pitchFamily="49" charset="-122"/>
              </a:rPr>
              <a:t>是顶点的有穷非空集合（图中的数据元素通常称作顶点），</a:t>
            </a:r>
            <a:r>
              <a:rPr kumimoji="1" lang="en-US" altLang="zh-CN" sz="2000" dirty="0">
                <a:latin typeface="微软雅黑" pitchFamily="34" charset="-122"/>
                <a:ea typeface="微软雅黑" pitchFamily="34" charset="-122"/>
                <a:cs typeface="经典粗黑简" pitchFamily="49" charset="-122"/>
              </a:rPr>
              <a:t>E</a:t>
            </a:r>
            <a:r>
              <a:rPr kumimoji="1" lang="zh-CN" altLang="en-US" sz="2000" dirty="0">
                <a:latin typeface="微软雅黑" pitchFamily="34" charset="-122"/>
                <a:ea typeface="微软雅黑" pitchFamily="34" charset="-122"/>
                <a:cs typeface="经典粗黑简" pitchFamily="49" charset="-122"/>
              </a:rPr>
              <a:t>是两个顶点之间关系的集合。</a:t>
            </a:r>
          </a:p>
        </p:txBody>
      </p:sp>
      <p:sp>
        <p:nvSpPr>
          <p:cNvPr id="14" name="Rectangle 2"/>
          <p:cNvSpPr txBox="1">
            <a:spLocks/>
          </p:cNvSpPr>
          <p:nvPr/>
        </p:nvSpPr>
        <p:spPr>
          <a:xfrm>
            <a:off x="2999656" y="3329402"/>
            <a:ext cx="4577128" cy="1395743"/>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Bef>
                <a:spcPts val="1000"/>
              </a:spcBef>
              <a:buNone/>
            </a:pPr>
            <a:r>
              <a:rPr kumimoji="1" lang="zh-CN" altLang="en-US" sz="2000" dirty="0">
                <a:latin typeface="微软雅黑" pitchFamily="34" charset="-122"/>
                <a:ea typeface="微软雅黑" pitchFamily="34" charset="-122"/>
                <a:cs typeface="经典粗黑简" pitchFamily="49" charset="-122"/>
              </a:rPr>
              <a:t>例如：</a:t>
            </a:r>
            <a:r>
              <a:rPr lang="en-US" altLang="zh-CN" sz="2000" b="1" dirty="0">
                <a:latin typeface="Times New Roman" pitchFamily="18" charset="0"/>
                <a:ea typeface="隶书" pitchFamily="49" charset="-122"/>
                <a:cs typeface="Times New Roman" pitchFamily="18" charset="0"/>
              </a:rPr>
              <a:t>G1=(V1,E1)</a:t>
            </a:r>
          </a:p>
          <a:p>
            <a:pPr>
              <a:spcBef>
                <a:spcPts val="1000"/>
              </a:spcBef>
              <a:buNone/>
            </a:pPr>
            <a:r>
              <a:rPr lang="en-US" altLang="zh-CN" sz="2000" b="1" dirty="0">
                <a:latin typeface="Times New Roman" pitchFamily="18" charset="0"/>
                <a:ea typeface="隶书" pitchFamily="49" charset="-122"/>
                <a:cs typeface="Times New Roman" pitchFamily="18" charset="0"/>
              </a:rPr>
              <a:t>V1={v1,v2,v3,v4}</a:t>
            </a:r>
          </a:p>
          <a:p>
            <a:pPr>
              <a:spcBef>
                <a:spcPts val="1000"/>
              </a:spcBef>
              <a:buNone/>
            </a:pPr>
            <a:r>
              <a:rPr lang="en-US" altLang="zh-CN" sz="2000" b="1" dirty="0">
                <a:latin typeface="Times New Roman" pitchFamily="18" charset="0"/>
                <a:ea typeface="隶书" pitchFamily="49" charset="-122"/>
                <a:cs typeface="Times New Roman" pitchFamily="18" charset="0"/>
              </a:rPr>
              <a:t>E1={&lt;v1,v2&gt;,&lt;v1,v3&gt;,&lt;v3,v4&gt;,&lt;v4,v1&gt;}</a:t>
            </a:r>
          </a:p>
        </p:txBody>
      </p:sp>
      <p:grpSp>
        <p:nvGrpSpPr>
          <p:cNvPr id="15" name="Group 15"/>
          <p:cNvGrpSpPr>
            <a:grpSpLocks/>
          </p:cNvGrpSpPr>
          <p:nvPr/>
        </p:nvGrpSpPr>
        <p:grpSpPr bwMode="auto">
          <a:xfrm>
            <a:off x="7998478" y="3157967"/>
            <a:ext cx="2016125" cy="1944687"/>
            <a:chOff x="1338" y="1434"/>
            <a:chExt cx="1270" cy="1225"/>
          </a:xfrm>
        </p:grpSpPr>
        <p:sp>
          <p:nvSpPr>
            <p:cNvPr id="16" name="Oval 16"/>
            <p:cNvSpPr>
              <a:spLocks noChangeArrowheads="1"/>
            </p:cNvSpPr>
            <p:nvPr/>
          </p:nvSpPr>
          <p:spPr bwMode="auto">
            <a:xfrm>
              <a:off x="1338" y="1434"/>
              <a:ext cx="317" cy="317"/>
            </a:xfrm>
            <a:prstGeom prst="ellipse">
              <a:avLst/>
            </a:prstGeom>
            <a:solidFill>
              <a:schemeClr val="bg1"/>
            </a:solidFill>
            <a:ln w="28575" cap="sq">
              <a:solidFill>
                <a:srgbClr val="0033CC"/>
              </a:solidFill>
              <a:miter lim="800000"/>
              <a:headEnd type="none" w="sm" len="sm"/>
              <a:tailEnd type="none" w="sm" len="sm"/>
            </a:ln>
          </p:spPr>
          <p:txBody>
            <a:bodyPr wrap="none" tIns="0" anchorCtr="1"/>
            <a:lstStyle/>
            <a:p>
              <a:r>
                <a:rPr lang="en-US" altLang="zh-CN" sz="2400"/>
                <a:t>v</a:t>
              </a:r>
              <a:r>
                <a:rPr lang="en-US" altLang="zh-CN" sz="2400" baseline="-25000"/>
                <a:t>1</a:t>
              </a:r>
            </a:p>
          </p:txBody>
        </p:sp>
        <p:sp>
          <p:nvSpPr>
            <p:cNvPr id="17" name="Oval 17"/>
            <p:cNvSpPr>
              <a:spLocks noChangeArrowheads="1"/>
            </p:cNvSpPr>
            <p:nvPr/>
          </p:nvSpPr>
          <p:spPr bwMode="auto">
            <a:xfrm>
              <a:off x="2291" y="1434"/>
              <a:ext cx="317" cy="317"/>
            </a:xfrm>
            <a:prstGeom prst="ellipse">
              <a:avLst/>
            </a:prstGeom>
            <a:solidFill>
              <a:schemeClr val="bg1"/>
            </a:solidFill>
            <a:ln w="28575" cap="sq">
              <a:solidFill>
                <a:srgbClr val="0033CC"/>
              </a:solidFill>
              <a:miter lim="800000"/>
              <a:headEnd type="none" w="sm" len="sm"/>
              <a:tailEnd type="none" w="sm" len="sm"/>
            </a:ln>
          </p:spPr>
          <p:txBody>
            <a:bodyPr wrap="none" tIns="0" anchorCtr="1"/>
            <a:lstStyle/>
            <a:p>
              <a:r>
                <a:rPr lang="en-US" altLang="zh-CN" sz="2400"/>
                <a:t>v</a:t>
              </a:r>
              <a:r>
                <a:rPr lang="en-US" altLang="zh-CN" sz="2400" baseline="-25000"/>
                <a:t>2</a:t>
              </a:r>
            </a:p>
          </p:txBody>
        </p:sp>
        <p:sp>
          <p:nvSpPr>
            <p:cNvPr id="18" name="Oval 18"/>
            <p:cNvSpPr>
              <a:spLocks noChangeArrowheads="1"/>
            </p:cNvSpPr>
            <p:nvPr/>
          </p:nvSpPr>
          <p:spPr bwMode="auto">
            <a:xfrm>
              <a:off x="1338" y="2342"/>
              <a:ext cx="317" cy="317"/>
            </a:xfrm>
            <a:prstGeom prst="ellipse">
              <a:avLst/>
            </a:prstGeom>
            <a:solidFill>
              <a:schemeClr val="bg1"/>
            </a:solidFill>
            <a:ln w="28575" cap="sq">
              <a:solidFill>
                <a:srgbClr val="0033CC"/>
              </a:solidFill>
              <a:miter lim="800000"/>
              <a:headEnd type="none" w="sm" len="sm"/>
              <a:tailEnd type="none" w="sm" len="sm"/>
            </a:ln>
          </p:spPr>
          <p:txBody>
            <a:bodyPr wrap="none" tIns="0" anchorCtr="1"/>
            <a:lstStyle/>
            <a:p>
              <a:r>
                <a:rPr lang="en-US" altLang="zh-CN" sz="2400"/>
                <a:t>v</a:t>
              </a:r>
              <a:r>
                <a:rPr lang="en-US" altLang="zh-CN" sz="2400" baseline="-25000"/>
                <a:t>3</a:t>
              </a:r>
            </a:p>
          </p:txBody>
        </p:sp>
        <p:sp>
          <p:nvSpPr>
            <p:cNvPr id="19" name="Oval 19"/>
            <p:cNvSpPr>
              <a:spLocks noChangeArrowheads="1"/>
            </p:cNvSpPr>
            <p:nvPr/>
          </p:nvSpPr>
          <p:spPr bwMode="auto">
            <a:xfrm>
              <a:off x="2290" y="2341"/>
              <a:ext cx="317" cy="317"/>
            </a:xfrm>
            <a:prstGeom prst="ellipse">
              <a:avLst/>
            </a:prstGeom>
            <a:solidFill>
              <a:schemeClr val="bg1"/>
            </a:solidFill>
            <a:ln w="28575" cap="sq">
              <a:solidFill>
                <a:srgbClr val="0033CC"/>
              </a:solidFill>
              <a:miter lim="800000"/>
              <a:headEnd type="none" w="sm" len="sm"/>
              <a:tailEnd type="none" w="sm" len="sm"/>
            </a:ln>
          </p:spPr>
          <p:txBody>
            <a:bodyPr wrap="none" tIns="0" anchorCtr="1"/>
            <a:lstStyle/>
            <a:p>
              <a:r>
                <a:rPr lang="en-US" altLang="zh-CN" sz="2400"/>
                <a:t>v</a:t>
              </a:r>
              <a:r>
                <a:rPr lang="en-US" altLang="zh-CN" sz="2400" baseline="-25000"/>
                <a:t>4</a:t>
              </a:r>
            </a:p>
          </p:txBody>
        </p:sp>
        <p:sp>
          <p:nvSpPr>
            <p:cNvPr id="20" name="Line 20"/>
            <p:cNvSpPr>
              <a:spLocks noChangeShapeType="1"/>
            </p:cNvSpPr>
            <p:nvPr/>
          </p:nvSpPr>
          <p:spPr bwMode="auto">
            <a:xfrm>
              <a:off x="1655" y="1616"/>
              <a:ext cx="635" cy="0"/>
            </a:xfrm>
            <a:prstGeom prst="line">
              <a:avLst/>
            </a:prstGeom>
            <a:noFill/>
            <a:ln w="28575" cap="sq">
              <a:solidFill>
                <a:srgbClr val="0033CC"/>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21" name="Line 21"/>
            <p:cNvSpPr>
              <a:spLocks noChangeShapeType="1"/>
            </p:cNvSpPr>
            <p:nvPr/>
          </p:nvSpPr>
          <p:spPr bwMode="auto">
            <a:xfrm>
              <a:off x="1655" y="2523"/>
              <a:ext cx="635" cy="0"/>
            </a:xfrm>
            <a:prstGeom prst="line">
              <a:avLst/>
            </a:prstGeom>
            <a:noFill/>
            <a:ln w="28575" cap="sq">
              <a:solidFill>
                <a:srgbClr val="0033CC"/>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22" name="Line 22"/>
            <p:cNvSpPr>
              <a:spLocks noChangeShapeType="1"/>
            </p:cNvSpPr>
            <p:nvPr/>
          </p:nvSpPr>
          <p:spPr bwMode="auto">
            <a:xfrm>
              <a:off x="1474" y="1752"/>
              <a:ext cx="0" cy="589"/>
            </a:xfrm>
            <a:prstGeom prst="line">
              <a:avLst/>
            </a:prstGeom>
            <a:noFill/>
            <a:ln w="28575" cap="sq">
              <a:solidFill>
                <a:srgbClr val="0033CC"/>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23" name="Line 23"/>
            <p:cNvSpPr>
              <a:spLocks noChangeShapeType="1"/>
            </p:cNvSpPr>
            <p:nvPr/>
          </p:nvSpPr>
          <p:spPr bwMode="auto">
            <a:xfrm flipH="1" flipV="1">
              <a:off x="1610" y="1706"/>
              <a:ext cx="771" cy="635"/>
            </a:xfrm>
            <a:prstGeom prst="line">
              <a:avLst/>
            </a:prstGeom>
            <a:noFill/>
            <a:ln w="28575" cap="sq">
              <a:solidFill>
                <a:srgbClr val="0033CC"/>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sp>
        <p:nvSpPr>
          <p:cNvPr id="24" name="Text Box 24"/>
          <p:cNvSpPr txBox="1">
            <a:spLocks noChangeArrowheads="1"/>
          </p:cNvSpPr>
          <p:nvPr/>
        </p:nvSpPr>
        <p:spPr bwMode="auto">
          <a:xfrm>
            <a:off x="8286174" y="5157192"/>
            <a:ext cx="151216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rgbClr val="000000"/>
                </a:solidFill>
                <a:miter lim="800000"/>
                <a:headEnd type="none" w="sm" len="sm"/>
                <a:tailEnd type="none" w="sm" len="sm"/>
              </a14:hiddenLine>
            </a:ext>
          </a:extLst>
        </p:spPr>
        <p:txBody>
          <a:bodyPr wrap="square">
            <a:spAutoFit/>
          </a:bodyPr>
          <a:lstStyle>
            <a:lvl1pPr eaLnBrk="0" hangingPunct="0">
              <a:defRPr kumimoji="1" sz="2800">
                <a:solidFill>
                  <a:schemeClr val="tx1"/>
                </a:solidFill>
                <a:latin typeface="Comic Sans MS" pitchFamily="66" charset="0"/>
                <a:ea typeface="宋体" pitchFamily="2" charset="-122"/>
              </a:defRPr>
            </a:lvl1pPr>
            <a:lvl2pPr marL="742950" indent="-285750" eaLnBrk="0" hangingPunct="0">
              <a:defRPr kumimoji="1" sz="2800">
                <a:solidFill>
                  <a:schemeClr val="tx1"/>
                </a:solidFill>
                <a:latin typeface="Comic Sans MS" pitchFamily="66" charset="0"/>
                <a:ea typeface="宋体" pitchFamily="2" charset="-122"/>
              </a:defRPr>
            </a:lvl2pPr>
            <a:lvl3pPr marL="1143000" indent="-228600" eaLnBrk="0" hangingPunct="0">
              <a:defRPr kumimoji="1" sz="2800">
                <a:solidFill>
                  <a:schemeClr val="tx1"/>
                </a:solidFill>
                <a:latin typeface="Comic Sans MS" pitchFamily="66" charset="0"/>
                <a:ea typeface="宋体" pitchFamily="2" charset="-122"/>
              </a:defRPr>
            </a:lvl3pPr>
            <a:lvl4pPr marL="1600200" indent="-228600" eaLnBrk="0" hangingPunct="0">
              <a:defRPr kumimoji="1" sz="2800">
                <a:solidFill>
                  <a:schemeClr val="tx1"/>
                </a:solidFill>
                <a:latin typeface="Comic Sans MS" pitchFamily="66" charset="0"/>
                <a:ea typeface="宋体" pitchFamily="2" charset="-122"/>
              </a:defRPr>
            </a:lvl4pPr>
            <a:lvl5pPr marL="2057400" indent="-228600" eaLnBrk="0" hangingPunct="0">
              <a:defRPr kumimoji="1" sz="2800">
                <a:solidFill>
                  <a:schemeClr val="tx1"/>
                </a:solidFill>
                <a:latin typeface="Comic Sans MS" pitchFamily="66" charset="0"/>
                <a:ea typeface="宋体" pitchFamily="2" charset="-122"/>
              </a:defRPr>
            </a:lvl5pPr>
            <a:lvl6pPr marL="25146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6pPr>
            <a:lvl7pPr marL="29718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7pPr>
            <a:lvl8pPr marL="34290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8pPr>
            <a:lvl9pPr marL="38862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9pPr>
          </a:lstStyle>
          <a:p>
            <a:pPr eaLnBrk="1" hangingPunct="1">
              <a:spcBef>
                <a:spcPct val="50000"/>
              </a:spcBef>
            </a:pPr>
            <a:r>
              <a:rPr lang="zh-CN" altLang="en-US" sz="2000" dirty="0">
                <a:latin typeface="微软雅黑" pitchFamily="34" charset="-122"/>
                <a:ea typeface="微软雅黑" pitchFamily="34" charset="-122"/>
                <a:cs typeface="经典粗黑简" pitchFamily="49" charset="-122"/>
              </a:rPr>
              <a:t>有向图</a:t>
            </a:r>
            <a:r>
              <a:rPr lang="en-US" altLang="zh-CN" sz="2000" dirty="0">
                <a:latin typeface="微软雅黑" pitchFamily="34" charset="-122"/>
                <a:ea typeface="微软雅黑" pitchFamily="34" charset="-122"/>
                <a:cs typeface="经典粗黑简" pitchFamily="49" charset="-122"/>
              </a:rPr>
              <a:t>G1</a:t>
            </a:r>
          </a:p>
        </p:txBody>
      </p:sp>
      <p:sp>
        <p:nvSpPr>
          <p:cNvPr id="25" name="矩形 24"/>
          <p:cNvSpPr/>
          <p:nvPr/>
        </p:nvSpPr>
        <p:spPr>
          <a:xfrm>
            <a:off x="2598212" y="4624708"/>
            <a:ext cx="5297988" cy="1323439"/>
          </a:xfrm>
          <a:prstGeom prst="rect">
            <a:avLst/>
          </a:prstGeom>
        </p:spPr>
        <p:txBody>
          <a:bodyPr wrap="square">
            <a:spAutoFit/>
          </a:bodyPr>
          <a:lstStyle/>
          <a:p>
            <a:pPr eaLnBrk="0" hangingPunct="0">
              <a:spcBef>
                <a:spcPct val="20000"/>
              </a:spcBef>
            </a:pPr>
            <a:r>
              <a:rPr kumimoji="1" lang="zh-CN" altLang="en-US" sz="2000" dirty="0">
                <a:latin typeface="微软雅黑" pitchFamily="34" charset="-122"/>
                <a:ea typeface="微软雅黑" pitchFamily="34" charset="-122"/>
                <a:cs typeface="经典粗黑简" pitchFamily="49" charset="-122"/>
              </a:rPr>
              <a:t>有序对</a:t>
            </a:r>
            <a:r>
              <a:rPr kumimoji="1" lang="en-US" altLang="zh-CN" sz="2000" b="1" dirty="0">
                <a:latin typeface="微软雅黑" pitchFamily="34" charset="-122"/>
                <a:ea typeface="微软雅黑" pitchFamily="34" charset="-122"/>
                <a:cs typeface="经典粗黑简" pitchFamily="49" charset="-122"/>
              </a:rPr>
              <a:t>&lt;</a:t>
            </a:r>
            <a:r>
              <a:rPr kumimoji="1" lang="en-US" altLang="zh-CN" sz="2000" b="1" dirty="0" err="1">
                <a:latin typeface="微软雅黑" pitchFamily="34" charset="-122"/>
                <a:ea typeface="微软雅黑" pitchFamily="34" charset="-122"/>
                <a:cs typeface="经典粗黑简" pitchFamily="49" charset="-122"/>
              </a:rPr>
              <a:t>v</a:t>
            </a:r>
            <a:r>
              <a:rPr kumimoji="1" lang="en-US" altLang="zh-CN" sz="2000" b="1" baseline="-25000" dirty="0" err="1">
                <a:latin typeface="微软雅黑" pitchFamily="34" charset="-122"/>
                <a:ea typeface="微软雅黑" pitchFamily="34" charset="-122"/>
                <a:cs typeface="经典粗黑简" pitchFamily="49" charset="-122"/>
              </a:rPr>
              <a:t>i</a:t>
            </a:r>
            <a:r>
              <a:rPr kumimoji="1" lang="en-US" altLang="zh-CN" sz="2000" b="1" dirty="0" err="1">
                <a:latin typeface="微软雅黑" pitchFamily="34" charset="-122"/>
                <a:ea typeface="微软雅黑" pitchFamily="34" charset="-122"/>
                <a:cs typeface="经典粗黑简" pitchFamily="49" charset="-122"/>
              </a:rPr>
              <a:t>,v</a:t>
            </a:r>
            <a:r>
              <a:rPr kumimoji="1" lang="en-US" altLang="zh-CN" sz="2000" b="1" baseline="-25000" dirty="0" err="1">
                <a:latin typeface="微软雅黑" pitchFamily="34" charset="-122"/>
                <a:ea typeface="微软雅黑" pitchFamily="34" charset="-122"/>
                <a:cs typeface="经典粗黑简" pitchFamily="49" charset="-122"/>
              </a:rPr>
              <a:t>j</a:t>
            </a:r>
            <a:r>
              <a:rPr kumimoji="1" lang="en-US" altLang="zh-CN" sz="2000" b="1" dirty="0">
                <a:latin typeface="微软雅黑" pitchFamily="34" charset="-122"/>
                <a:ea typeface="微软雅黑" pitchFamily="34" charset="-122"/>
                <a:cs typeface="经典粗黑简" pitchFamily="49" charset="-122"/>
              </a:rPr>
              <a:t>&gt; </a:t>
            </a:r>
            <a:r>
              <a:rPr kumimoji="1" lang="zh-CN" altLang="en-US" sz="2000" dirty="0">
                <a:latin typeface="微软雅黑" pitchFamily="34" charset="-122"/>
                <a:ea typeface="微软雅黑" pitchFamily="34" charset="-122"/>
                <a:cs typeface="经典粗黑简" pitchFamily="49" charset="-122"/>
              </a:rPr>
              <a:t>：用以</a:t>
            </a:r>
            <a:r>
              <a:rPr kumimoji="1" lang="en-US" altLang="zh-CN" sz="2000" b="1" dirty="0">
                <a:latin typeface="微软雅黑" pitchFamily="34" charset="-122"/>
                <a:ea typeface="微软雅黑" pitchFamily="34" charset="-122"/>
                <a:cs typeface="经典粗黑简" pitchFamily="49" charset="-122"/>
              </a:rPr>
              <a:t>v</a:t>
            </a:r>
            <a:r>
              <a:rPr kumimoji="1" lang="en-US" altLang="zh-CN" sz="2000" b="1" baseline="-25000" dirty="0">
                <a:latin typeface="微软雅黑" pitchFamily="34" charset="-122"/>
                <a:ea typeface="微软雅黑" pitchFamily="34" charset="-122"/>
                <a:cs typeface="经典粗黑简" pitchFamily="49" charset="-122"/>
              </a:rPr>
              <a:t>i</a:t>
            </a:r>
            <a:r>
              <a:rPr kumimoji="1" lang="zh-CN" altLang="en-US" sz="2000" dirty="0">
                <a:latin typeface="微软雅黑" pitchFamily="34" charset="-122"/>
                <a:ea typeface="微软雅黑" pitchFamily="34" charset="-122"/>
                <a:cs typeface="经典粗黑简" pitchFamily="49" charset="-122"/>
              </a:rPr>
              <a:t>为起点、以</a:t>
            </a:r>
            <a:r>
              <a:rPr kumimoji="1" lang="en-US" altLang="zh-CN" sz="2000" b="1" dirty="0" err="1">
                <a:latin typeface="微软雅黑" pitchFamily="34" charset="-122"/>
                <a:ea typeface="微软雅黑" pitchFamily="34" charset="-122"/>
                <a:cs typeface="经典粗黑简" pitchFamily="49" charset="-122"/>
              </a:rPr>
              <a:t>v</a:t>
            </a:r>
            <a:r>
              <a:rPr kumimoji="1" lang="en-US" altLang="zh-CN" sz="2000" b="1" baseline="-25000" dirty="0" err="1">
                <a:latin typeface="微软雅黑" pitchFamily="34" charset="-122"/>
                <a:ea typeface="微软雅黑" pitchFamily="34" charset="-122"/>
                <a:cs typeface="经典粗黑简" pitchFamily="49" charset="-122"/>
              </a:rPr>
              <a:t>j</a:t>
            </a:r>
            <a:r>
              <a:rPr kumimoji="1" lang="zh-CN" altLang="en-US" sz="2000" dirty="0">
                <a:latin typeface="微软雅黑" pitchFamily="34" charset="-122"/>
                <a:ea typeface="微软雅黑" pitchFamily="34" charset="-122"/>
                <a:cs typeface="经典粗黑简" pitchFamily="49" charset="-122"/>
              </a:rPr>
              <a:t>为终点的有向线段表示，称为</a:t>
            </a:r>
            <a:r>
              <a:rPr kumimoji="1" lang="zh-CN" altLang="en-US" sz="2000" dirty="0">
                <a:solidFill>
                  <a:srgbClr val="FF0000"/>
                </a:solidFill>
                <a:latin typeface="微软雅黑" pitchFamily="34" charset="-122"/>
                <a:ea typeface="微软雅黑" pitchFamily="34" charset="-122"/>
                <a:cs typeface="经典粗黑简" pitchFamily="49" charset="-122"/>
              </a:rPr>
              <a:t>有向边或弧</a:t>
            </a:r>
            <a:r>
              <a:rPr kumimoji="1" lang="zh-CN" altLang="en-US" sz="2000" dirty="0">
                <a:latin typeface="微软雅黑" pitchFamily="34" charset="-122"/>
                <a:ea typeface="微软雅黑" pitchFamily="34" charset="-122"/>
                <a:cs typeface="经典粗黑简" pitchFamily="49" charset="-122"/>
              </a:rPr>
              <a:t>；其中称</a:t>
            </a:r>
            <a:r>
              <a:rPr kumimoji="1" lang="en-US" altLang="zh-CN" sz="2000" b="1" dirty="0">
                <a:latin typeface="微软雅黑" pitchFamily="34" charset="-122"/>
                <a:ea typeface="微软雅黑" pitchFamily="34" charset="-122"/>
                <a:cs typeface="经典粗黑简" pitchFamily="49" charset="-122"/>
              </a:rPr>
              <a:t>v</a:t>
            </a:r>
            <a:r>
              <a:rPr kumimoji="1" lang="en-US" altLang="zh-CN" sz="2000" b="1" baseline="-25000" dirty="0">
                <a:latin typeface="微软雅黑" pitchFamily="34" charset="-122"/>
                <a:ea typeface="微软雅黑" pitchFamily="34" charset="-122"/>
                <a:cs typeface="经典粗黑简" pitchFamily="49" charset="-122"/>
              </a:rPr>
              <a:t>i</a:t>
            </a:r>
            <a:r>
              <a:rPr kumimoji="1" lang="zh-CN" altLang="en-US" sz="2000" dirty="0">
                <a:latin typeface="微软雅黑" pitchFamily="34" charset="-122"/>
                <a:ea typeface="微软雅黑" pitchFamily="34" charset="-122"/>
                <a:cs typeface="经典粗黑简" pitchFamily="49" charset="-122"/>
              </a:rPr>
              <a:t>为</a:t>
            </a:r>
            <a:r>
              <a:rPr kumimoji="1" lang="zh-CN" altLang="en-US" sz="2000" dirty="0">
                <a:solidFill>
                  <a:srgbClr val="FF0000"/>
                </a:solidFill>
                <a:latin typeface="微软雅黑" pitchFamily="34" charset="-122"/>
                <a:ea typeface="微软雅黑" pitchFamily="34" charset="-122"/>
                <a:cs typeface="经典粗黑简" pitchFamily="49" charset="-122"/>
              </a:rPr>
              <a:t>弧尾或初始点</a:t>
            </a:r>
            <a:r>
              <a:rPr kumimoji="1" lang="zh-CN" altLang="en-US" sz="2000" dirty="0">
                <a:latin typeface="微软雅黑" pitchFamily="34" charset="-122"/>
                <a:ea typeface="微软雅黑" pitchFamily="34" charset="-122"/>
                <a:cs typeface="经典粗黑简" pitchFamily="49" charset="-122"/>
              </a:rPr>
              <a:t>，称</a:t>
            </a:r>
            <a:r>
              <a:rPr kumimoji="1" lang="en-US" altLang="zh-CN" sz="2000" b="1" dirty="0" err="1">
                <a:latin typeface="微软雅黑" pitchFamily="34" charset="-122"/>
                <a:ea typeface="微软雅黑" pitchFamily="34" charset="-122"/>
                <a:cs typeface="经典粗黑简" pitchFamily="49" charset="-122"/>
              </a:rPr>
              <a:t>v</a:t>
            </a:r>
            <a:r>
              <a:rPr kumimoji="1" lang="en-US" altLang="zh-CN" sz="2000" b="1" baseline="-25000" dirty="0" err="1">
                <a:latin typeface="微软雅黑" pitchFamily="34" charset="-122"/>
                <a:ea typeface="微软雅黑" pitchFamily="34" charset="-122"/>
                <a:cs typeface="经典粗黑简" pitchFamily="49" charset="-122"/>
              </a:rPr>
              <a:t>j</a:t>
            </a:r>
            <a:r>
              <a:rPr kumimoji="1" lang="zh-CN" altLang="en-US" sz="2000" dirty="0">
                <a:latin typeface="微软雅黑" pitchFamily="34" charset="-122"/>
                <a:ea typeface="微软雅黑" pitchFamily="34" charset="-122"/>
                <a:cs typeface="经典粗黑简" pitchFamily="49" charset="-122"/>
              </a:rPr>
              <a:t>为</a:t>
            </a:r>
            <a:r>
              <a:rPr kumimoji="1" lang="zh-CN" altLang="en-US" sz="2000" dirty="0">
                <a:solidFill>
                  <a:srgbClr val="FF0000"/>
                </a:solidFill>
                <a:latin typeface="微软雅黑" pitchFamily="34" charset="-122"/>
                <a:ea typeface="微软雅黑" pitchFamily="34" charset="-122"/>
                <a:cs typeface="经典粗黑简" pitchFamily="49" charset="-122"/>
              </a:rPr>
              <a:t>弧头或终端点</a:t>
            </a:r>
            <a:r>
              <a:rPr kumimoji="1" lang="zh-CN" altLang="en-US" sz="2000" dirty="0">
                <a:latin typeface="微软雅黑" pitchFamily="34" charset="-122"/>
                <a:ea typeface="微软雅黑" pitchFamily="34" charset="-122"/>
                <a:cs typeface="经典粗黑简" pitchFamily="49" charset="-122"/>
              </a:rPr>
              <a:t>，此时的图称为</a:t>
            </a:r>
            <a:r>
              <a:rPr kumimoji="1" lang="zh-CN" altLang="en-US" sz="2000" dirty="0">
                <a:solidFill>
                  <a:srgbClr val="FF0000"/>
                </a:solidFill>
                <a:latin typeface="微软雅黑" pitchFamily="34" charset="-122"/>
                <a:ea typeface="微软雅黑" pitchFamily="34" charset="-122"/>
                <a:cs typeface="经典粗黑简" pitchFamily="49" charset="-122"/>
              </a:rPr>
              <a:t>有向图</a:t>
            </a:r>
            <a:r>
              <a:rPr kumimoji="1" lang="zh-CN" altLang="en-US" sz="2000" dirty="0">
                <a:latin typeface="微软雅黑" pitchFamily="34" charset="-122"/>
                <a:ea typeface="微软雅黑" pitchFamily="34" charset="-122"/>
                <a:cs typeface="经典粗黑简" pitchFamily="49" charset="-122"/>
              </a:rPr>
              <a:t>。</a:t>
            </a:r>
          </a:p>
        </p:txBody>
      </p:sp>
      <p:cxnSp>
        <p:nvCxnSpPr>
          <p:cNvPr id="26" name="直接连接符 25">
            <a:extLst>
              <a:ext uri="{FF2B5EF4-FFF2-40B4-BE49-F238E27FC236}">
                <a16:creationId xmlns:a16="http://schemas.microsoft.com/office/drawing/2014/main" id="{17DFB612-F1CA-4B59-A7ED-BBE9F44DA675}"/>
              </a:ext>
            </a:extLst>
          </p:cNvPr>
          <p:cNvCxnSpPr>
            <a:cxnSpLocks/>
          </p:cNvCxnSpPr>
          <p:nvPr/>
        </p:nvCxnSpPr>
        <p:spPr>
          <a:xfrm>
            <a:off x="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221266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4" grpId="0"/>
      <p:bldP spid="24" grpId="0"/>
      <p:bldP spid="25"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2711624" y="2276872"/>
            <a:ext cx="7056784" cy="1015663"/>
          </a:xfrm>
          <a:prstGeom prst="rect">
            <a:avLst/>
          </a:prstGeom>
        </p:spPr>
        <p:txBody>
          <a:bodyPr wrap="square">
            <a:spAutoFit/>
          </a:bodyPr>
          <a:lstStyle/>
          <a:p>
            <a:r>
              <a:rPr kumimoji="1" lang="zh-CN" altLang="en-US" sz="2000" dirty="0">
                <a:latin typeface="微软雅黑" pitchFamily="34" charset="-122"/>
                <a:ea typeface="微软雅黑" pitchFamily="34" charset="-122"/>
                <a:cs typeface="经典粗黑简" pitchFamily="49" charset="-122"/>
              </a:rPr>
              <a:t>图</a:t>
            </a:r>
            <a:r>
              <a:rPr kumimoji="1" lang="en-US" altLang="zh-CN" sz="2000" dirty="0">
                <a:latin typeface="微软雅黑" pitchFamily="34" charset="-122"/>
                <a:ea typeface="微软雅黑" pitchFamily="34" charset="-122"/>
                <a:cs typeface="经典粗黑简" pitchFamily="49" charset="-122"/>
              </a:rPr>
              <a:t>G</a:t>
            </a:r>
            <a:r>
              <a:rPr kumimoji="1" lang="zh-CN" altLang="en-US" sz="2000" dirty="0">
                <a:latin typeface="微软雅黑" pitchFamily="34" charset="-122"/>
                <a:ea typeface="微软雅黑" pitchFamily="34" charset="-122"/>
                <a:cs typeface="经典粗黑简" pitchFamily="49" charset="-122"/>
              </a:rPr>
              <a:t>由两个集合组成，即</a:t>
            </a:r>
            <a:r>
              <a:rPr kumimoji="1" lang="en-US" altLang="zh-CN" sz="2000" dirty="0">
                <a:latin typeface="微软雅黑" pitchFamily="34" charset="-122"/>
                <a:ea typeface="微软雅黑" pitchFamily="34" charset="-122"/>
                <a:cs typeface="经典粗黑简" pitchFamily="49" charset="-122"/>
              </a:rPr>
              <a:t>G=(V,E)</a:t>
            </a:r>
            <a:r>
              <a:rPr kumimoji="1" lang="zh-CN" altLang="en-US" sz="2000" dirty="0">
                <a:latin typeface="微软雅黑" pitchFamily="34" charset="-122"/>
                <a:ea typeface="微软雅黑" pitchFamily="34" charset="-122"/>
                <a:cs typeface="经典粗黑简" pitchFamily="49" charset="-122"/>
              </a:rPr>
              <a:t>。其中</a:t>
            </a:r>
            <a:r>
              <a:rPr kumimoji="1" lang="en-US" altLang="zh-CN" sz="2000" dirty="0">
                <a:latin typeface="微软雅黑" pitchFamily="34" charset="-122"/>
                <a:ea typeface="微软雅黑" pitchFamily="34" charset="-122"/>
                <a:cs typeface="经典粗黑简" pitchFamily="49" charset="-122"/>
              </a:rPr>
              <a:t>V</a:t>
            </a:r>
            <a:r>
              <a:rPr kumimoji="1" lang="zh-CN" altLang="en-US" sz="2000" dirty="0">
                <a:latin typeface="微软雅黑" pitchFamily="34" charset="-122"/>
                <a:ea typeface="微软雅黑" pitchFamily="34" charset="-122"/>
                <a:cs typeface="经典粗黑简" pitchFamily="49" charset="-122"/>
              </a:rPr>
              <a:t>是顶点的有穷非空集合（图中的数据元素通常称作顶点），</a:t>
            </a:r>
            <a:r>
              <a:rPr kumimoji="1" lang="en-US" altLang="zh-CN" sz="2000" dirty="0">
                <a:latin typeface="微软雅黑" pitchFamily="34" charset="-122"/>
                <a:ea typeface="微软雅黑" pitchFamily="34" charset="-122"/>
                <a:cs typeface="经典粗黑简" pitchFamily="49" charset="-122"/>
              </a:rPr>
              <a:t>E</a:t>
            </a:r>
            <a:r>
              <a:rPr kumimoji="1" lang="zh-CN" altLang="en-US" sz="2000" dirty="0">
                <a:latin typeface="微软雅黑" pitchFamily="34" charset="-122"/>
                <a:ea typeface="微软雅黑" pitchFamily="34" charset="-122"/>
                <a:cs typeface="经典粗黑简" pitchFamily="49" charset="-122"/>
              </a:rPr>
              <a:t>是两个顶点之间关系的集合。</a:t>
            </a:r>
          </a:p>
        </p:txBody>
      </p:sp>
      <p:sp>
        <p:nvSpPr>
          <p:cNvPr id="26" name="矩形 25"/>
          <p:cNvSpPr/>
          <p:nvPr/>
        </p:nvSpPr>
        <p:spPr>
          <a:xfrm>
            <a:off x="2692923" y="3322669"/>
            <a:ext cx="5717240" cy="1272143"/>
          </a:xfrm>
          <a:prstGeom prst="rect">
            <a:avLst/>
          </a:prstGeom>
        </p:spPr>
        <p:txBody>
          <a:bodyPr wrap="square">
            <a:spAutoFit/>
          </a:bodyPr>
          <a:lstStyle/>
          <a:p>
            <a:pPr>
              <a:spcBef>
                <a:spcPts val="1000"/>
              </a:spcBef>
            </a:pPr>
            <a:r>
              <a:rPr kumimoji="1" lang="zh-CN" altLang="en-US" sz="2000" dirty="0">
                <a:latin typeface="微软雅黑" pitchFamily="34" charset="-122"/>
                <a:ea typeface="微软雅黑" pitchFamily="34" charset="-122"/>
                <a:cs typeface="经典粗黑简" pitchFamily="49" charset="-122"/>
              </a:rPr>
              <a:t>例如：</a:t>
            </a:r>
            <a:r>
              <a:rPr lang="en-US" altLang="zh-CN" sz="2000" b="1" dirty="0">
                <a:latin typeface="Times New Roman" pitchFamily="18" charset="0"/>
                <a:ea typeface="隶书" pitchFamily="49" charset="-122"/>
                <a:cs typeface="Times New Roman" pitchFamily="18" charset="0"/>
              </a:rPr>
              <a:t>G2=(V2,E2)</a:t>
            </a:r>
          </a:p>
          <a:p>
            <a:pPr>
              <a:spcBef>
                <a:spcPts val="1000"/>
              </a:spcBef>
            </a:pPr>
            <a:r>
              <a:rPr lang="en-US" altLang="zh-CN" sz="2000" b="1" dirty="0">
                <a:latin typeface="Times New Roman" pitchFamily="18" charset="0"/>
                <a:ea typeface="隶书" pitchFamily="49" charset="-122"/>
                <a:cs typeface="Times New Roman" pitchFamily="18" charset="0"/>
              </a:rPr>
              <a:t>V2={v1,v2,v3,v4 ,v5}</a:t>
            </a:r>
          </a:p>
          <a:p>
            <a:pPr>
              <a:spcBef>
                <a:spcPts val="1000"/>
              </a:spcBef>
            </a:pPr>
            <a:r>
              <a:rPr lang="en-US" altLang="zh-CN" sz="2000" b="1" dirty="0">
                <a:latin typeface="Times New Roman" pitchFamily="18" charset="0"/>
                <a:ea typeface="隶书" pitchFamily="49" charset="-122"/>
                <a:cs typeface="Times New Roman" pitchFamily="18" charset="0"/>
              </a:rPr>
              <a:t>E2={(v1,v2),(v1,v4),(v2,v3),(v2,v5),(v3,v4) ,(v3,v5)}</a:t>
            </a:r>
          </a:p>
        </p:txBody>
      </p:sp>
      <p:grpSp>
        <p:nvGrpSpPr>
          <p:cNvPr id="27" name="Group 4"/>
          <p:cNvGrpSpPr>
            <a:grpSpLocks/>
          </p:cNvGrpSpPr>
          <p:nvPr/>
        </p:nvGrpSpPr>
        <p:grpSpPr bwMode="auto">
          <a:xfrm>
            <a:off x="8256241" y="3091261"/>
            <a:ext cx="2016125" cy="1944688"/>
            <a:chOff x="975" y="1706"/>
            <a:chExt cx="1270" cy="1225"/>
          </a:xfrm>
        </p:grpSpPr>
        <p:sp>
          <p:nvSpPr>
            <p:cNvPr id="28" name="Oval 5"/>
            <p:cNvSpPr>
              <a:spLocks noChangeArrowheads="1"/>
            </p:cNvSpPr>
            <p:nvPr/>
          </p:nvSpPr>
          <p:spPr bwMode="auto">
            <a:xfrm>
              <a:off x="975" y="1706"/>
              <a:ext cx="317" cy="317"/>
            </a:xfrm>
            <a:prstGeom prst="ellipse">
              <a:avLst/>
            </a:prstGeom>
            <a:solidFill>
              <a:schemeClr val="bg1"/>
            </a:solidFill>
            <a:ln w="28575" cap="sq">
              <a:solidFill>
                <a:schemeClr val="accent1"/>
              </a:solidFill>
              <a:miter lim="800000"/>
              <a:headEnd type="none" w="sm" len="sm"/>
              <a:tailEnd type="none" w="sm" len="sm"/>
            </a:ln>
          </p:spPr>
          <p:txBody>
            <a:bodyPr wrap="none" tIns="0" anchorCtr="1"/>
            <a:lstStyle/>
            <a:p>
              <a:r>
                <a:rPr lang="en-US" altLang="zh-CN" sz="2400" dirty="0"/>
                <a:t>v</a:t>
              </a:r>
              <a:r>
                <a:rPr lang="en-US" altLang="zh-CN" sz="2400" baseline="-25000" dirty="0"/>
                <a:t>1</a:t>
              </a:r>
            </a:p>
          </p:txBody>
        </p:sp>
        <p:sp>
          <p:nvSpPr>
            <p:cNvPr id="29" name="Oval 6"/>
            <p:cNvSpPr>
              <a:spLocks noChangeArrowheads="1"/>
            </p:cNvSpPr>
            <p:nvPr/>
          </p:nvSpPr>
          <p:spPr bwMode="auto">
            <a:xfrm>
              <a:off x="1928" y="1706"/>
              <a:ext cx="317" cy="317"/>
            </a:xfrm>
            <a:prstGeom prst="ellipse">
              <a:avLst/>
            </a:prstGeom>
            <a:solidFill>
              <a:schemeClr val="bg1"/>
            </a:solidFill>
            <a:ln w="28575" cap="sq">
              <a:solidFill>
                <a:schemeClr val="accent1"/>
              </a:solidFill>
              <a:miter lim="800000"/>
              <a:headEnd type="none" w="sm" len="sm"/>
              <a:tailEnd type="none" w="sm" len="sm"/>
            </a:ln>
          </p:spPr>
          <p:txBody>
            <a:bodyPr wrap="none" tIns="0" anchorCtr="1"/>
            <a:lstStyle/>
            <a:p>
              <a:r>
                <a:rPr lang="en-US" altLang="zh-CN" sz="2400"/>
                <a:t>v</a:t>
              </a:r>
              <a:r>
                <a:rPr lang="en-US" altLang="zh-CN" sz="2400" baseline="-25000"/>
                <a:t>2</a:t>
              </a:r>
            </a:p>
          </p:txBody>
        </p:sp>
        <p:sp>
          <p:nvSpPr>
            <p:cNvPr id="30" name="Oval 7"/>
            <p:cNvSpPr>
              <a:spLocks noChangeArrowheads="1"/>
            </p:cNvSpPr>
            <p:nvPr/>
          </p:nvSpPr>
          <p:spPr bwMode="auto">
            <a:xfrm>
              <a:off x="975" y="2614"/>
              <a:ext cx="317" cy="317"/>
            </a:xfrm>
            <a:prstGeom prst="ellipse">
              <a:avLst/>
            </a:prstGeom>
            <a:solidFill>
              <a:schemeClr val="bg1"/>
            </a:solidFill>
            <a:ln w="28575" cap="sq">
              <a:solidFill>
                <a:schemeClr val="accent1"/>
              </a:solidFill>
              <a:miter lim="800000"/>
              <a:headEnd type="none" w="sm" len="sm"/>
              <a:tailEnd type="none" w="sm" len="sm"/>
            </a:ln>
          </p:spPr>
          <p:txBody>
            <a:bodyPr wrap="none" tIns="0" anchorCtr="1"/>
            <a:lstStyle/>
            <a:p>
              <a:r>
                <a:rPr lang="en-US" altLang="zh-CN" sz="2400"/>
                <a:t>v</a:t>
              </a:r>
              <a:r>
                <a:rPr lang="en-US" altLang="zh-CN" sz="2400" baseline="-25000"/>
                <a:t>4</a:t>
              </a:r>
            </a:p>
          </p:txBody>
        </p:sp>
        <p:sp>
          <p:nvSpPr>
            <p:cNvPr id="31" name="Oval 8"/>
            <p:cNvSpPr>
              <a:spLocks noChangeArrowheads="1"/>
            </p:cNvSpPr>
            <p:nvPr/>
          </p:nvSpPr>
          <p:spPr bwMode="auto">
            <a:xfrm>
              <a:off x="1927" y="2613"/>
              <a:ext cx="317" cy="317"/>
            </a:xfrm>
            <a:prstGeom prst="ellipse">
              <a:avLst/>
            </a:prstGeom>
            <a:solidFill>
              <a:schemeClr val="bg1"/>
            </a:solidFill>
            <a:ln w="28575" cap="sq">
              <a:solidFill>
                <a:schemeClr val="accent1"/>
              </a:solidFill>
              <a:miter lim="800000"/>
              <a:headEnd type="none" w="sm" len="sm"/>
              <a:tailEnd type="none" w="sm" len="sm"/>
            </a:ln>
          </p:spPr>
          <p:txBody>
            <a:bodyPr wrap="none" tIns="0" anchorCtr="1"/>
            <a:lstStyle/>
            <a:p>
              <a:r>
                <a:rPr lang="en-US" altLang="zh-CN" sz="2400"/>
                <a:t>v</a:t>
              </a:r>
              <a:r>
                <a:rPr lang="en-US" altLang="zh-CN" sz="2400" baseline="-25000"/>
                <a:t>5</a:t>
              </a:r>
            </a:p>
          </p:txBody>
        </p:sp>
        <p:sp>
          <p:nvSpPr>
            <p:cNvPr id="32" name="Oval 9"/>
            <p:cNvSpPr>
              <a:spLocks noChangeArrowheads="1"/>
            </p:cNvSpPr>
            <p:nvPr/>
          </p:nvSpPr>
          <p:spPr bwMode="auto">
            <a:xfrm>
              <a:off x="1474" y="2161"/>
              <a:ext cx="317" cy="317"/>
            </a:xfrm>
            <a:prstGeom prst="ellipse">
              <a:avLst/>
            </a:prstGeom>
            <a:solidFill>
              <a:schemeClr val="bg1"/>
            </a:solidFill>
            <a:ln w="28575" cap="sq">
              <a:solidFill>
                <a:schemeClr val="accent1"/>
              </a:solidFill>
              <a:miter lim="800000"/>
              <a:headEnd type="none" w="sm" len="sm"/>
              <a:tailEnd type="none" w="sm" len="sm"/>
            </a:ln>
          </p:spPr>
          <p:txBody>
            <a:bodyPr wrap="none" tIns="0" anchorCtr="1"/>
            <a:lstStyle/>
            <a:p>
              <a:r>
                <a:rPr lang="en-US" altLang="zh-CN" sz="2400"/>
                <a:t>v</a:t>
              </a:r>
              <a:r>
                <a:rPr lang="en-US" altLang="zh-CN" sz="2400" baseline="-25000"/>
                <a:t>3</a:t>
              </a:r>
            </a:p>
          </p:txBody>
        </p:sp>
        <p:sp>
          <p:nvSpPr>
            <p:cNvPr id="33" name="Line 10"/>
            <p:cNvSpPr>
              <a:spLocks noChangeShapeType="1"/>
            </p:cNvSpPr>
            <p:nvPr/>
          </p:nvSpPr>
          <p:spPr bwMode="auto">
            <a:xfrm>
              <a:off x="1292" y="1842"/>
              <a:ext cx="635" cy="0"/>
            </a:xfrm>
            <a:prstGeom prst="line">
              <a:avLst/>
            </a:prstGeom>
            <a:noFill/>
            <a:ln w="28575" cap="sq">
              <a:solidFill>
                <a:schemeClr val="accent1"/>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34" name="Line 11"/>
            <p:cNvSpPr>
              <a:spLocks noChangeShapeType="1"/>
            </p:cNvSpPr>
            <p:nvPr/>
          </p:nvSpPr>
          <p:spPr bwMode="auto">
            <a:xfrm>
              <a:off x="1111" y="2024"/>
              <a:ext cx="0" cy="590"/>
            </a:xfrm>
            <a:prstGeom prst="line">
              <a:avLst/>
            </a:prstGeom>
            <a:noFill/>
            <a:ln w="28575" cap="sq">
              <a:solidFill>
                <a:schemeClr val="accent1"/>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35" name="Line 12"/>
            <p:cNvSpPr>
              <a:spLocks noChangeShapeType="1"/>
            </p:cNvSpPr>
            <p:nvPr/>
          </p:nvSpPr>
          <p:spPr bwMode="auto">
            <a:xfrm>
              <a:off x="2109" y="2024"/>
              <a:ext cx="0" cy="590"/>
            </a:xfrm>
            <a:prstGeom prst="line">
              <a:avLst/>
            </a:prstGeom>
            <a:noFill/>
            <a:ln w="28575" cap="sq">
              <a:solidFill>
                <a:schemeClr val="accent1"/>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36" name="Line 13"/>
            <p:cNvSpPr>
              <a:spLocks noChangeShapeType="1"/>
            </p:cNvSpPr>
            <p:nvPr/>
          </p:nvSpPr>
          <p:spPr bwMode="auto">
            <a:xfrm>
              <a:off x="1746" y="2432"/>
              <a:ext cx="227" cy="227"/>
            </a:xfrm>
            <a:prstGeom prst="line">
              <a:avLst/>
            </a:prstGeom>
            <a:noFill/>
            <a:ln w="28575" cap="sq">
              <a:solidFill>
                <a:schemeClr val="accent1"/>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37" name="Line 14"/>
            <p:cNvSpPr>
              <a:spLocks noChangeShapeType="1"/>
            </p:cNvSpPr>
            <p:nvPr/>
          </p:nvSpPr>
          <p:spPr bwMode="auto">
            <a:xfrm flipH="1">
              <a:off x="1746" y="1979"/>
              <a:ext cx="227" cy="226"/>
            </a:xfrm>
            <a:prstGeom prst="line">
              <a:avLst/>
            </a:prstGeom>
            <a:noFill/>
            <a:ln w="28575" cap="sq">
              <a:solidFill>
                <a:schemeClr val="accent1"/>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38" name="Line 15"/>
            <p:cNvSpPr>
              <a:spLocks noChangeShapeType="1"/>
            </p:cNvSpPr>
            <p:nvPr/>
          </p:nvSpPr>
          <p:spPr bwMode="auto">
            <a:xfrm flipH="1">
              <a:off x="1247" y="2432"/>
              <a:ext cx="272" cy="249"/>
            </a:xfrm>
            <a:prstGeom prst="line">
              <a:avLst/>
            </a:prstGeom>
            <a:noFill/>
            <a:ln w="28575" cap="sq">
              <a:solidFill>
                <a:schemeClr val="accent1"/>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grpSp>
      <p:sp>
        <p:nvSpPr>
          <p:cNvPr id="39" name="矩形 38"/>
          <p:cNvSpPr/>
          <p:nvPr/>
        </p:nvSpPr>
        <p:spPr>
          <a:xfrm>
            <a:off x="8723613" y="5143287"/>
            <a:ext cx="1295547" cy="400110"/>
          </a:xfrm>
          <a:prstGeom prst="rect">
            <a:avLst/>
          </a:prstGeom>
        </p:spPr>
        <p:txBody>
          <a:bodyPr wrap="none">
            <a:spAutoFit/>
          </a:bodyPr>
          <a:lstStyle/>
          <a:p>
            <a:r>
              <a:rPr kumimoji="1" lang="zh-CN" altLang="en-US" sz="2000" dirty="0">
                <a:latin typeface="微软雅黑" pitchFamily="34" charset="-122"/>
                <a:ea typeface="微软雅黑" pitchFamily="34" charset="-122"/>
                <a:cs typeface="经典粗黑简" pitchFamily="49" charset="-122"/>
              </a:rPr>
              <a:t>无向图</a:t>
            </a:r>
            <a:r>
              <a:rPr kumimoji="1" lang="en-US" altLang="zh-CN" sz="2000" dirty="0">
                <a:latin typeface="微软雅黑" pitchFamily="34" charset="-122"/>
                <a:ea typeface="微软雅黑" pitchFamily="34" charset="-122"/>
                <a:cs typeface="经典粗黑简" pitchFamily="49" charset="-122"/>
              </a:rPr>
              <a:t>G2</a:t>
            </a:r>
            <a:endParaRPr kumimoji="1" lang="zh-CN" altLang="en-US" sz="2000" dirty="0">
              <a:latin typeface="微软雅黑" pitchFamily="34" charset="-122"/>
              <a:ea typeface="微软雅黑" pitchFamily="34" charset="-122"/>
              <a:cs typeface="经典粗黑简" pitchFamily="49" charset="-122"/>
            </a:endParaRPr>
          </a:p>
        </p:txBody>
      </p:sp>
      <p:sp>
        <p:nvSpPr>
          <p:cNvPr id="40" name="矩形 39"/>
          <p:cNvSpPr/>
          <p:nvPr/>
        </p:nvSpPr>
        <p:spPr>
          <a:xfrm>
            <a:off x="2692924" y="4784330"/>
            <a:ext cx="5491309" cy="707886"/>
          </a:xfrm>
          <a:prstGeom prst="rect">
            <a:avLst/>
          </a:prstGeom>
        </p:spPr>
        <p:txBody>
          <a:bodyPr wrap="square">
            <a:spAutoFit/>
          </a:bodyPr>
          <a:lstStyle/>
          <a:p>
            <a:r>
              <a:rPr kumimoji="1" lang="zh-CN" altLang="en-US" sz="2000" dirty="0">
                <a:latin typeface="微软雅黑" pitchFamily="34" charset="-122"/>
                <a:ea typeface="微软雅黑" pitchFamily="34" charset="-122"/>
                <a:cs typeface="经典粗黑简" pitchFamily="49" charset="-122"/>
              </a:rPr>
              <a:t>无序对</a:t>
            </a:r>
            <a:r>
              <a:rPr kumimoji="1" lang="en-US" altLang="zh-CN" sz="2000" b="1" dirty="0">
                <a:latin typeface="微软雅黑" pitchFamily="34" charset="-122"/>
                <a:ea typeface="微软雅黑" pitchFamily="34" charset="-122"/>
                <a:cs typeface="经典粗黑简" pitchFamily="49" charset="-122"/>
              </a:rPr>
              <a:t>(</a:t>
            </a:r>
            <a:r>
              <a:rPr kumimoji="1" lang="en-US" altLang="zh-CN" sz="2000" b="1" dirty="0" err="1">
                <a:latin typeface="微软雅黑" pitchFamily="34" charset="-122"/>
                <a:ea typeface="微软雅黑" pitchFamily="34" charset="-122"/>
                <a:cs typeface="经典粗黑简" pitchFamily="49" charset="-122"/>
              </a:rPr>
              <a:t>v</a:t>
            </a:r>
            <a:r>
              <a:rPr kumimoji="1" lang="en-US" altLang="zh-CN" sz="2000" b="1" baseline="-25000" dirty="0" err="1">
                <a:latin typeface="微软雅黑" pitchFamily="34" charset="-122"/>
                <a:ea typeface="微软雅黑" pitchFamily="34" charset="-122"/>
                <a:cs typeface="经典粗黑简" pitchFamily="49" charset="-122"/>
              </a:rPr>
              <a:t>i</a:t>
            </a:r>
            <a:r>
              <a:rPr kumimoji="1" lang="en-US" altLang="zh-CN" sz="2000" b="1" dirty="0" err="1">
                <a:latin typeface="微软雅黑" pitchFamily="34" charset="-122"/>
                <a:ea typeface="微软雅黑" pitchFamily="34" charset="-122"/>
                <a:cs typeface="经典粗黑简" pitchFamily="49" charset="-122"/>
              </a:rPr>
              <a:t>,v</a:t>
            </a:r>
            <a:r>
              <a:rPr kumimoji="1" lang="en-US" altLang="zh-CN" sz="2000" b="1" baseline="-25000" dirty="0" err="1">
                <a:latin typeface="微软雅黑" pitchFamily="34" charset="-122"/>
                <a:ea typeface="微软雅黑" pitchFamily="34" charset="-122"/>
                <a:cs typeface="经典粗黑简" pitchFamily="49" charset="-122"/>
              </a:rPr>
              <a:t>j</a:t>
            </a:r>
            <a:r>
              <a:rPr kumimoji="1" lang="en-US" altLang="zh-CN" sz="2000" b="1" dirty="0">
                <a:latin typeface="微软雅黑" pitchFamily="34" charset="-122"/>
                <a:ea typeface="微软雅黑" pitchFamily="34" charset="-122"/>
                <a:cs typeface="经典粗黑简" pitchFamily="49" charset="-122"/>
              </a:rPr>
              <a:t>) </a:t>
            </a:r>
            <a:r>
              <a:rPr kumimoji="1" lang="zh-CN" altLang="en-US" sz="2000" dirty="0">
                <a:latin typeface="微软雅黑" pitchFamily="34" charset="-122"/>
                <a:ea typeface="微软雅黑" pitchFamily="34" charset="-122"/>
                <a:cs typeface="经典粗黑简" pitchFamily="49" charset="-122"/>
              </a:rPr>
              <a:t>：用连接顶点</a:t>
            </a:r>
            <a:r>
              <a:rPr kumimoji="1" lang="en-US" altLang="zh-CN" sz="2000" b="1" dirty="0" err="1">
                <a:latin typeface="微软雅黑" pitchFamily="34" charset="-122"/>
                <a:ea typeface="微软雅黑" pitchFamily="34" charset="-122"/>
                <a:cs typeface="经典粗黑简" pitchFamily="49" charset="-122"/>
              </a:rPr>
              <a:t>v</a:t>
            </a:r>
            <a:r>
              <a:rPr kumimoji="1" lang="en-US" altLang="zh-CN" sz="2000" b="1" baseline="-25000" dirty="0" err="1">
                <a:latin typeface="微软雅黑" pitchFamily="34" charset="-122"/>
                <a:ea typeface="微软雅黑" pitchFamily="34" charset="-122"/>
                <a:cs typeface="经典粗黑简" pitchFamily="49" charset="-122"/>
              </a:rPr>
              <a:t>i</a:t>
            </a:r>
            <a:r>
              <a:rPr kumimoji="1" lang="en-US" altLang="zh-CN" sz="2000" b="1" dirty="0" err="1">
                <a:latin typeface="微软雅黑" pitchFamily="34" charset="-122"/>
                <a:ea typeface="微软雅黑" pitchFamily="34" charset="-122"/>
                <a:cs typeface="经典粗黑简" pitchFamily="49" charset="-122"/>
              </a:rPr>
              <a:t>,v</a:t>
            </a:r>
            <a:r>
              <a:rPr kumimoji="1" lang="en-US" altLang="zh-CN" sz="2000" b="1" baseline="-25000" dirty="0" err="1">
                <a:latin typeface="微软雅黑" pitchFamily="34" charset="-122"/>
                <a:ea typeface="微软雅黑" pitchFamily="34" charset="-122"/>
                <a:cs typeface="经典粗黑简" pitchFamily="49" charset="-122"/>
              </a:rPr>
              <a:t>j</a:t>
            </a:r>
            <a:r>
              <a:rPr kumimoji="1" lang="zh-CN" altLang="en-US" sz="2000" dirty="0">
                <a:latin typeface="微软雅黑" pitchFamily="34" charset="-122"/>
                <a:ea typeface="微软雅黑" pitchFamily="34" charset="-122"/>
                <a:cs typeface="经典粗黑简" pitchFamily="49" charset="-122"/>
              </a:rPr>
              <a:t>的线段表示，称为</a:t>
            </a:r>
            <a:r>
              <a:rPr kumimoji="1" lang="zh-CN" altLang="en-US" sz="2000" dirty="0">
                <a:solidFill>
                  <a:srgbClr val="FF0000"/>
                </a:solidFill>
                <a:latin typeface="微软雅黑" pitchFamily="34" charset="-122"/>
                <a:ea typeface="微软雅黑" pitchFamily="34" charset="-122"/>
                <a:cs typeface="经典粗黑简" pitchFamily="49" charset="-122"/>
              </a:rPr>
              <a:t>无向边或边</a:t>
            </a:r>
            <a:r>
              <a:rPr kumimoji="1" lang="zh-CN" altLang="en-US" sz="2000" dirty="0">
                <a:latin typeface="微软雅黑" pitchFamily="34" charset="-122"/>
                <a:ea typeface="微软雅黑" pitchFamily="34" charset="-122"/>
                <a:cs typeface="经典粗黑简" pitchFamily="49" charset="-122"/>
              </a:rPr>
              <a:t>；此时的图称为</a:t>
            </a:r>
            <a:r>
              <a:rPr kumimoji="1" lang="zh-CN" altLang="en-US" sz="2000" dirty="0">
                <a:solidFill>
                  <a:srgbClr val="FF0000"/>
                </a:solidFill>
                <a:latin typeface="微软雅黑" pitchFamily="34" charset="-122"/>
                <a:ea typeface="微软雅黑" pitchFamily="34" charset="-122"/>
                <a:cs typeface="经典粗黑简" pitchFamily="49" charset="-122"/>
              </a:rPr>
              <a:t>无向图</a:t>
            </a:r>
            <a:r>
              <a:rPr kumimoji="1" lang="zh-CN" altLang="en-US" sz="2000" dirty="0">
                <a:latin typeface="微软雅黑" pitchFamily="34" charset="-122"/>
                <a:ea typeface="微软雅黑" pitchFamily="34" charset="-122"/>
                <a:cs typeface="经典粗黑简" pitchFamily="49" charset="-122"/>
              </a:rPr>
              <a:t>。</a:t>
            </a:r>
          </a:p>
        </p:txBody>
      </p:sp>
      <p:sp>
        <p:nvSpPr>
          <p:cNvPr id="2" name="矩形 1">
            <a:extLst>
              <a:ext uri="{FF2B5EF4-FFF2-40B4-BE49-F238E27FC236}">
                <a16:creationId xmlns:a16="http://schemas.microsoft.com/office/drawing/2014/main" id="{7DABCAAF-59E0-0A02-60A1-7434375A137F}"/>
              </a:ext>
            </a:extLst>
          </p:cNvPr>
          <p:cNvSpPr/>
          <p:nvPr/>
        </p:nvSpPr>
        <p:spPr>
          <a:xfrm>
            <a:off x="4421120" y="339686"/>
            <a:ext cx="3637792"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8.1 </a:t>
            </a:r>
            <a:r>
              <a:rPr lang="zh-CN" altLang="en-US" sz="3000" b="1" dirty="0">
                <a:latin typeface="黑体" pitchFamily="49" charset="-122"/>
                <a:ea typeface="黑体" pitchFamily="49" charset="-122"/>
                <a:cs typeface="经典粗黑简" pitchFamily="49" charset="-122"/>
              </a:rPr>
              <a:t>图的基本概念</a:t>
            </a:r>
          </a:p>
        </p:txBody>
      </p:sp>
      <p:sp>
        <p:nvSpPr>
          <p:cNvPr id="3" name="Rectangle 2">
            <a:extLst>
              <a:ext uri="{FF2B5EF4-FFF2-40B4-BE49-F238E27FC236}">
                <a16:creationId xmlns:a16="http://schemas.microsoft.com/office/drawing/2014/main" id="{0924EBA0-9B15-7828-6B87-FE6E593B0124}"/>
              </a:ext>
            </a:extLst>
          </p:cNvPr>
          <p:cNvSpPr txBox="1">
            <a:spLocks noChangeArrowheads="1"/>
          </p:cNvSpPr>
          <p:nvPr/>
        </p:nvSpPr>
        <p:spPr>
          <a:xfrm>
            <a:off x="407368" y="1167247"/>
            <a:ext cx="2808312"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8.1.1 </a:t>
            </a:r>
            <a:r>
              <a:rPr lang="zh-CN" altLang="en-US" dirty="0"/>
              <a:t>图的定义</a:t>
            </a:r>
          </a:p>
        </p:txBody>
      </p:sp>
      <p:cxnSp>
        <p:nvCxnSpPr>
          <p:cNvPr id="4" name="直接连接符 3">
            <a:extLst>
              <a:ext uri="{FF2B5EF4-FFF2-40B4-BE49-F238E27FC236}">
                <a16:creationId xmlns:a16="http://schemas.microsoft.com/office/drawing/2014/main" id="{3FD59243-4032-37F5-CE52-00731A2A22C5}"/>
              </a:ext>
            </a:extLst>
          </p:cNvPr>
          <p:cNvCxnSpPr>
            <a:cxnSpLocks/>
          </p:cNvCxnSpPr>
          <p:nvPr/>
        </p:nvCxnSpPr>
        <p:spPr>
          <a:xfrm>
            <a:off x="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405854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39" grpId="0"/>
      <p:bldP spid="40"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3036821" y="2667133"/>
            <a:ext cx="6894186" cy="1015663"/>
          </a:xfrm>
          <a:prstGeom prst="rect">
            <a:avLst/>
          </a:prstGeom>
        </p:spPr>
        <p:txBody>
          <a:bodyPr wrap="square">
            <a:spAutoFit/>
          </a:bodyPr>
          <a:lstStyle/>
          <a:p>
            <a:r>
              <a:rPr kumimoji="1" lang="zh-CN" altLang="en-US" sz="2000" dirty="0">
                <a:latin typeface="微软雅黑" pitchFamily="34" charset="-122"/>
                <a:ea typeface="微软雅黑" pitchFamily="34" charset="-122"/>
                <a:cs typeface="经典粗黑简" pitchFamily="49" charset="-122"/>
              </a:rPr>
              <a:t>在一个无向图中，若存在一条边</a:t>
            </a:r>
            <a:r>
              <a:rPr kumimoji="1" lang="en-US" altLang="zh-CN" sz="2000" dirty="0">
                <a:latin typeface="微软雅黑" pitchFamily="34" charset="-122"/>
                <a:ea typeface="微软雅黑" pitchFamily="34" charset="-122"/>
                <a:cs typeface="经典粗黑简" pitchFamily="49" charset="-122"/>
              </a:rPr>
              <a:t>(</a:t>
            </a:r>
            <a:r>
              <a:rPr kumimoji="1" lang="en-US" altLang="zh-CN" sz="2000" dirty="0" err="1">
                <a:latin typeface="微软雅黑" pitchFamily="34" charset="-122"/>
                <a:ea typeface="微软雅黑" pitchFamily="34" charset="-122"/>
                <a:cs typeface="经典粗黑简" pitchFamily="49" charset="-122"/>
              </a:rPr>
              <a:t>vi,vj</a:t>
            </a:r>
            <a:r>
              <a:rPr kumimoji="1" lang="en-US" altLang="zh-CN" sz="2000" dirty="0">
                <a:latin typeface="微软雅黑" pitchFamily="34" charset="-122"/>
                <a:ea typeface="微软雅黑" pitchFamily="34" charset="-122"/>
                <a:cs typeface="经典粗黑简" pitchFamily="49" charset="-122"/>
              </a:rPr>
              <a:t>)</a:t>
            </a:r>
            <a:r>
              <a:rPr kumimoji="1" lang="zh-CN" altLang="en-US" sz="2000" dirty="0">
                <a:latin typeface="微软雅黑" pitchFamily="34" charset="-122"/>
                <a:ea typeface="微软雅黑" pitchFamily="34" charset="-122"/>
                <a:cs typeface="经典粗黑简" pitchFamily="49" charset="-122"/>
              </a:rPr>
              <a:t>，则称顶点</a:t>
            </a:r>
            <a:r>
              <a:rPr kumimoji="1" lang="en-US" altLang="zh-CN" sz="2000" dirty="0">
                <a:latin typeface="微软雅黑" pitchFamily="34" charset="-122"/>
                <a:ea typeface="微软雅黑" pitchFamily="34" charset="-122"/>
                <a:cs typeface="经典粗黑简" pitchFamily="49" charset="-122"/>
              </a:rPr>
              <a:t>vi</a:t>
            </a:r>
            <a:r>
              <a:rPr kumimoji="1" lang="zh-CN" altLang="en-US" sz="2000" dirty="0">
                <a:latin typeface="微软雅黑" pitchFamily="34" charset="-122"/>
                <a:ea typeface="微软雅黑" pitchFamily="34" charset="-122"/>
                <a:cs typeface="经典粗黑简" pitchFamily="49" charset="-122"/>
              </a:rPr>
              <a:t>和</a:t>
            </a:r>
            <a:r>
              <a:rPr kumimoji="1" lang="en-US" altLang="zh-CN" sz="2000" dirty="0" err="1">
                <a:latin typeface="微软雅黑" pitchFamily="34" charset="-122"/>
                <a:ea typeface="微软雅黑" pitchFamily="34" charset="-122"/>
                <a:cs typeface="经典粗黑简" pitchFamily="49" charset="-122"/>
              </a:rPr>
              <a:t>vj</a:t>
            </a:r>
            <a:r>
              <a:rPr kumimoji="1" lang="zh-CN" altLang="en-US" sz="2000" dirty="0">
                <a:latin typeface="微软雅黑" pitchFamily="34" charset="-122"/>
                <a:ea typeface="微软雅黑" pitchFamily="34" charset="-122"/>
                <a:cs typeface="经典粗黑简" pitchFamily="49" charset="-122"/>
              </a:rPr>
              <a:t>互为</a:t>
            </a:r>
            <a:r>
              <a:rPr kumimoji="1" lang="zh-CN" altLang="en-US" sz="2000" dirty="0">
                <a:solidFill>
                  <a:srgbClr val="FF0000"/>
                </a:solidFill>
                <a:latin typeface="微软雅黑" pitchFamily="34" charset="-122"/>
                <a:ea typeface="微软雅黑" pitchFamily="34" charset="-122"/>
                <a:cs typeface="经典粗黑简" pitchFamily="49" charset="-122"/>
              </a:rPr>
              <a:t>邻接点</a:t>
            </a:r>
            <a:r>
              <a:rPr kumimoji="1" lang="zh-CN" altLang="en-US" sz="2000" dirty="0">
                <a:latin typeface="微软雅黑" pitchFamily="34" charset="-122"/>
                <a:ea typeface="微软雅黑" pitchFamily="34" charset="-122"/>
                <a:cs typeface="经典粗黑简" pitchFamily="49" charset="-122"/>
              </a:rPr>
              <a:t>，或称顶点</a:t>
            </a:r>
            <a:r>
              <a:rPr kumimoji="1" lang="en-US" altLang="zh-CN" sz="2000" dirty="0">
                <a:latin typeface="微软雅黑" pitchFamily="34" charset="-122"/>
                <a:ea typeface="微软雅黑" pitchFamily="34" charset="-122"/>
                <a:cs typeface="经典粗黑简" pitchFamily="49" charset="-122"/>
              </a:rPr>
              <a:t>vi</a:t>
            </a:r>
            <a:r>
              <a:rPr kumimoji="1" lang="zh-CN" altLang="en-US" sz="2000" dirty="0">
                <a:latin typeface="微软雅黑" pitchFamily="34" charset="-122"/>
                <a:ea typeface="微软雅黑" pitchFamily="34" charset="-122"/>
                <a:cs typeface="经典粗黑简" pitchFamily="49" charset="-122"/>
              </a:rPr>
              <a:t>和</a:t>
            </a:r>
            <a:r>
              <a:rPr kumimoji="1" lang="en-US" altLang="zh-CN" sz="2000" dirty="0" err="1">
                <a:latin typeface="微软雅黑" pitchFamily="34" charset="-122"/>
                <a:ea typeface="微软雅黑" pitchFamily="34" charset="-122"/>
                <a:cs typeface="经典粗黑简" pitchFamily="49" charset="-122"/>
              </a:rPr>
              <a:t>vj</a:t>
            </a:r>
            <a:r>
              <a:rPr kumimoji="1" lang="zh-CN" altLang="en-US" sz="2000" dirty="0">
                <a:solidFill>
                  <a:srgbClr val="FF0000"/>
                </a:solidFill>
                <a:latin typeface="微软雅黑" pitchFamily="34" charset="-122"/>
                <a:ea typeface="微软雅黑" pitchFamily="34" charset="-122"/>
                <a:cs typeface="经典粗黑简" pitchFamily="49" charset="-122"/>
              </a:rPr>
              <a:t>相邻接</a:t>
            </a:r>
            <a:r>
              <a:rPr kumimoji="1" lang="zh-CN" altLang="en-US" sz="2000" dirty="0">
                <a:latin typeface="微软雅黑" pitchFamily="34" charset="-122"/>
                <a:ea typeface="微软雅黑" pitchFamily="34" charset="-122"/>
                <a:cs typeface="经典粗黑简" pitchFamily="49" charset="-122"/>
              </a:rPr>
              <a:t>。并称边</a:t>
            </a:r>
            <a:r>
              <a:rPr kumimoji="1" lang="en-US" altLang="zh-CN" sz="2000" dirty="0">
                <a:latin typeface="微软雅黑" pitchFamily="34" charset="-122"/>
                <a:ea typeface="微软雅黑" pitchFamily="34" charset="-122"/>
                <a:cs typeface="经典粗黑简" pitchFamily="49" charset="-122"/>
              </a:rPr>
              <a:t>(</a:t>
            </a:r>
            <a:r>
              <a:rPr kumimoji="1" lang="en-US" altLang="zh-CN" sz="2000" dirty="0" err="1">
                <a:latin typeface="微软雅黑" pitchFamily="34" charset="-122"/>
                <a:ea typeface="微软雅黑" pitchFamily="34" charset="-122"/>
                <a:cs typeface="经典粗黑简" pitchFamily="49" charset="-122"/>
              </a:rPr>
              <a:t>vi,vj</a:t>
            </a:r>
            <a:r>
              <a:rPr kumimoji="1" lang="en-US" altLang="zh-CN" sz="2000" dirty="0">
                <a:latin typeface="微软雅黑" pitchFamily="34" charset="-122"/>
                <a:ea typeface="微软雅黑" pitchFamily="34" charset="-122"/>
                <a:cs typeface="经典粗黑简" pitchFamily="49" charset="-122"/>
              </a:rPr>
              <a:t>)</a:t>
            </a:r>
            <a:r>
              <a:rPr kumimoji="1" lang="zh-CN" altLang="en-US" sz="2000" dirty="0">
                <a:solidFill>
                  <a:srgbClr val="FF0000"/>
                </a:solidFill>
                <a:latin typeface="微软雅黑" pitchFamily="34" charset="-122"/>
                <a:ea typeface="微软雅黑" pitchFamily="34" charset="-122"/>
                <a:cs typeface="经典粗黑简" pitchFamily="49" charset="-122"/>
              </a:rPr>
              <a:t>依附于</a:t>
            </a:r>
            <a:r>
              <a:rPr kumimoji="1" lang="zh-CN" altLang="en-US" sz="2000" dirty="0">
                <a:latin typeface="微软雅黑" pitchFamily="34" charset="-122"/>
                <a:ea typeface="微软雅黑" pitchFamily="34" charset="-122"/>
                <a:cs typeface="经典粗黑简" pitchFamily="49" charset="-122"/>
              </a:rPr>
              <a:t>顶点</a:t>
            </a:r>
            <a:r>
              <a:rPr kumimoji="1" lang="en-US" altLang="zh-CN" sz="2000" dirty="0">
                <a:latin typeface="微软雅黑" pitchFamily="34" charset="-122"/>
                <a:ea typeface="微软雅黑" pitchFamily="34" charset="-122"/>
                <a:cs typeface="经典粗黑简" pitchFamily="49" charset="-122"/>
              </a:rPr>
              <a:t>vi</a:t>
            </a:r>
            <a:r>
              <a:rPr kumimoji="1" lang="zh-CN" altLang="en-US" sz="2000" dirty="0">
                <a:latin typeface="微软雅黑" pitchFamily="34" charset="-122"/>
                <a:ea typeface="微软雅黑" pitchFamily="34" charset="-122"/>
                <a:cs typeface="经典粗黑简" pitchFamily="49" charset="-122"/>
              </a:rPr>
              <a:t>和</a:t>
            </a:r>
            <a:r>
              <a:rPr kumimoji="1" lang="en-US" altLang="zh-CN" sz="2000" dirty="0" err="1">
                <a:latin typeface="微软雅黑" pitchFamily="34" charset="-122"/>
                <a:ea typeface="微软雅黑" pitchFamily="34" charset="-122"/>
                <a:cs typeface="经典粗黑简" pitchFamily="49" charset="-122"/>
              </a:rPr>
              <a:t>vj</a:t>
            </a:r>
            <a:r>
              <a:rPr kumimoji="1" lang="zh-CN" altLang="en-US" sz="2000" dirty="0">
                <a:latin typeface="微软雅黑" pitchFamily="34" charset="-122"/>
                <a:ea typeface="微软雅黑" pitchFamily="34" charset="-122"/>
                <a:cs typeface="经典粗黑简" pitchFamily="49" charset="-122"/>
              </a:rPr>
              <a:t>或称边</a:t>
            </a:r>
            <a:r>
              <a:rPr kumimoji="1" lang="en-US" altLang="zh-CN" sz="2000" dirty="0">
                <a:latin typeface="微软雅黑" pitchFamily="34" charset="-122"/>
                <a:ea typeface="微软雅黑" pitchFamily="34" charset="-122"/>
                <a:cs typeface="经典粗黑简" pitchFamily="49" charset="-122"/>
              </a:rPr>
              <a:t>(</a:t>
            </a:r>
            <a:r>
              <a:rPr kumimoji="1" lang="en-US" altLang="zh-CN" sz="2000" dirty="0" err="1">
                <a:latin typeface="微软雅黑" pitchFamily="34" charset="-122"/>
                <a:ea typeface="微软雅黑" pitchFamily="34" charset="-122"/>
                <a:cs typeface="经典粗黑简" pitchFamily="49" charset="-122"/>
              </a:rPr>
              <a:t>vi,vj</a:t>
            </a:r>
            <a:r>
              <a:rPr kumimoji="1" lang="en-US" altLang="zh-CN" sz="2000" dirty="0">
                <a:latin typeface="微软雅黑" pitchFamily="34" charset="-122"/>
                <a:ea typeface="微软雅黑" pitchFamily="34" charset="-122"/>
                <a:cs typeface="经典粗黑简" pitchFamily="49" charset="-122"/>
              </a:rPr>
              <a:t>)</a:t>
            </a:r>
            <a:r>
              <a:rPr kumimoji="1" lang="zh-CN" altLang="en-US" sz="2000" dirty="0">
                <a:latin typeface="微软雅黑" pitchFamily="34" charset="-122"/>
                <a:ea typeface="微软雅黑" pitchFamily="34" charset="-122"/>
                <a:cs typeface="经典粗黑简" pitchFamily="49" charset="-122"/>
              </a:rPr>
              <a:t>和顶点</a:t>
            </a:r>
            <a:r>
              <a:rPr kumimoji="1" lang="en-US" altLang="zh-CN" sz="2000" dirty="0">
                <a:latin typeface="微软雅黑" pitchFamily="34" charset="-122"/>
                <a:ea typeface="微软雅黑" pitchFamily="34" charset="-122"/>
                <a:cs typeface="经典粗黑简" pitchFamily="49" charset="-122"/>
              </a:rPr>
              <a:t>vi</a:t>
            </a:r>
            <a:r>
              <a:rPr kumimoji="1" lang="zh-CN" altLang="en-US" sz="2000" dirty="0">
                <a:latin typeface="微软雅黑" pitchFamily="34" charset="-122"/>
                <a:ea typeface="微软雅黑" pitchFamily="34" charset="-122"/>
                <a:cs typeface="经典粗黑简" pitchFamily="49" charset="-122"/>
              </a:rPr>
              <a:t>和</a:t>
            </a:r>
            <a:r>
              <a:rPr kumimoji="1" lang="en-US" altLang="zh-CN" sz="2000" dirty="0" err="1">
                <a:latin typeface="微软雅黑" pitchFamily="34" charset="-122"/>
                <a:ea typeface="微软雅黑" pitchFamily="34" charset="-122"/>
                <a:cs typeface="经典粗黑简" pitchFamily="49" charset="-122"/>
              </a:rPr>
              <a:t>vj</a:t>
            </a:r>
            <a:r>
              <a:rPr kumimoji="1" lang="zh-CN" altLang="en-US" sz="2000" dirty="0">
                <a:solidFill>
                  <a:srgbClr val="FF0000"/>
                </a:solidFill>
                <a:latin typeface="微软雅黑" pitchFamily="34" charset="-122"/>
                <a:ea typeface="微软雅黑" pitchFamily="34" charset="-122"/>
                <a:cs typeface="经典粗黑简" pitchFamily="49" charset="-122"/>
              </a:rPr>
              <a:t>相关联</a:t>
            </a:r>
            <a:r>
              <a:rPr kumimoji="1" lang="zh-CN" altLang="en-US" sz="2000" dirty="0">
                <a:latin typeface="微软雅黑" pitchFamily="34" charset="-122"/>
                <a:ea typeface="微软雅黑" pitchFamily="34" charset="-122"/>
                <a:cs typeface="经典粗黑简" pitchFamily="49" charset="-122"/>
              </a:rPr>
              <a:t>。</a:t>
            </a:r>
          </a:p>
        </p:txBody>
      </p:sp>
      <p:sp>
        <p:nvSpPr>
          <p:cNvPr id="6" name="矩形 5"/>
          <p:cNvSpPr/>
          <p:nvPr/>
        </p:nvSpPr>
        <p:spPr>
          <a:xfrm>
            <a:off x="3036822" y="3682795"/>
            <a:ext cx="6966193" cy="707886"/>
          </a:xfrm>
          <a:prstGeom prst="rect">
            <a:avLst/>
          </a:prstGeom>
        </p:spPr>
        <p:txBody>
          <a:bodyPr wrap="square">
            <a:spAutoFit/>
          </a:bodyPr>
          <a:lstStyle/>
          <a:p>
            <a:r>
              <a:rPr kumimoji="1" lang="zh-CN" altLang="en-US" sz="2000" dirty="0">
                <a:latin typeface="微软雅黑" pitchFamily="34" charset="-122"/>
                <a:ea typeface="微软雅黑" pitchFamily="34" charset="-122"/>
                <a:cs typeface="经典粗黑简" pitchFamily="49" charset="-122"/>
              </a:rPr>
              <a:t>在有向图中，若存在一条弧</a:t>
            </a:r>
            <a:r>
              <a:rPr kumimoji="1" lang="en-US" altLang="zh-CN" sz="2000" dirty="0">
                <a:latin typeface="微软雅黑" pitchFamily="34" charset="-122"/>
                <a:ea typeface="微软雅黑" pitchFamily="34" charset="-122"/>
                <a:cs typeface="经典粗黑简" pitchFamily="49" charset="-122"/>
              </a:rPr>
              <a:t>&lt;</a:t>
            </a:r>
            <a:r>
              <a:rPr kumimoji="1" lang="en-US" altLang="zh-CN" sz="2000" dirty="0" err="1">
                <a:latin typeface="微软雅黑" pitchFamily="34" charset="-122"/>
                <a:ea typeface="微软雅黑" pitchFamily="34" charset="-122"/>
                <a:cs typeface="经典粗黑简" pitchFamily="49" charset="-122"/>
              </a:rPr>
              <a:t>vi,vj</a:t>
            </a:r>
            <a:r>
              <a:rPr kumimoji="1" lang="en-US" altLang="zh-CN" sz="2000" dirty="0">
                <a:latin typeface="微软雅黑" pitchFamily="34" charset="-122"/>
                <a:ea typeface="微软雅黑" pitchFamily="34" charset="-122"/>
                <a:cs typeface="经典粗黑简" pitchFamily="49" charset="-122"/>
              </a:rPr>
              <a:t>&gt;</a:t>
            </a:r>
            <a:r>
              <a:rPr kumimoji="1" lang="zh-CN" altLang="en-US" sz="2000" dirty="0">
                <a:latin typeface="微软雅黑" pitchFamily="34" charset="-122"/>
                <a:ea typeface="微软雅黑" pitchFamily="34" charset="-122"/>
                <a:cs typeface="经典粗黑简" pitchFamily="49" charset="-122"/>
              </a:rPr>
              <a:t>，则称顶点</a:t>
            </a:r>
            <a:r>
              <a:rPr kumimoji="1" lang="en-US" altLang="zh-CN" sz="2000" dirty="0">
                <a:latin typeface="微软雅黑" pitchFamily="34" charset="-122"/>
                <a:ea typeface="微软雅黑" pitchFamily="34" charset="-122"/>
                <a:cs typeface="经典粗黑简" pitchFamily="49" charset="-122"/>
              </a:rPr>
              <a:t>vi</a:t>
            </a:r>
            <a:r>
              <a:rPr kumimoji="1" lang="zh-CN" altLang="en-US" sz="2000" dirty="0">
                <a:solidFill>
                  <a:srgbClr val="FF0000"/>
                </a:solidFill>
                <a:latin typeface="微软雅黑" pitchFamily="34" charset="-122"/>
                <a:ea typeface="微软雅黑" pitchFamily="34" charset="-122"/>
                <a:cs typeface="经典粗黑简" pitchFamily="49" charset="-122"/>
              </a:rPr>
              <a:t>邻接到</a:t>
            </a:r>
            <a:r>
              <a:rPr kumimoji="1" lang="zh-CN" altLang="en-US" sz="2000" dirty="0">
                <a:latin typeface="微软雅黑" pitchFamily="34" charset="-122"/>
                <a:ea typeface="微软雅黑" pitchFamily="34" charset="-122"/>
                <a:cs typeface="经典粗黑简" pitchFamily="49" charset="-122"/>
              </a:rPr>
              <a:t>顶点</a:t>
            </a:r>
            <a:r>
              <a:rPr kumimoji="1" lang="en-US" altLang="zh-CN" sz="2000" dirty="0" err="1">
                <a:latin typeface="微软雅黑" pitchFamily="34" charset="-122"/>
                <a:ea typeface="微软雅黑" pitchFamily="34" charset="-122"/>
                <a:cs typeface="经典粗黑简" pitchFamily="49" charset="-122"/>
              </a:rPr>
              <a:t>vj</a:t>
            </a:r>
            <a:r>
              <a:rPr kumimoji="1" lang="zh-CN" altLang="en-US" sz="2000" dirty="0">
                <a:latin typeface="微软雅黑" pitchFamily="34" charset="-122"/>
                <a:ea typeface="微软雅黑" pitchFamily="34" charset="-122"/>
                <a:cs typeface="经典粗黑简" pitchFamily="49" charset="-122"/>
              </a:rPr>
              <a:t>，顶点</a:t>
            </a:r>
            <a:r>
              <a:rPr kumimoji="1" lang="en-US" altLang="zh-CN" sz="2000" dirty="0" err="1">
                <a:latin typeface="微软雅黑" pitchFamily="34" charset="-122"/>
                <a:ea typeface="微软雅黑" pitchFamily="34" charset="-122"/>
                <a:cs typeface="经典粗黑简" pitchFamily="49" charset="-122"/>
              </a:rPr>
              <a:t>vj</a:t>
            </a:r>
            <a:r>
              <a:rPr kumimoji="1" lang="zh-CN" altLang="en-US" sz="2000" dirty="0">
                <a:solidFill>
                  <a:srgbClr val="FF0000"/>
                </a:solidFill>
                <a:latin typeface="微软雅黑" pitchFamily="34" charset="-122"/>
                <a:ea typeface="微软雅黑" pitchFamily="34" charset="-122"/>
                <a:cs typeface="经典粗黑简" pitchFamily="49" charset="-122"/>
              </a:rPr>
              <a:t>邻接自</a:t>
            </a:r>
            <a:r>
              <a:rPr kumimoji="1" lang="zh-CN" altLang="en-US" sz="2000" dirty="0">
                <a:latin typeface="微软雅黑" pitchFamily="34" charset="-122"/>
                <a:ea typeface="微软雅黑" pitchFamily="34" charset="-122"/>
                <a:cs typeface="经典粗黑简" pitchFamily="49" charset="-122"/>
              </a:rPr>
              <a:t>顶点</a:t>
            </a:r>
            <a:r>
              <a:rPr kumimoji="1" lang="en-US" altLang="zh-CN" sz="2000" dirty="0">
                <a:latin typeface="微软雅黑" pitchFamily="34" charset="-122"/>
                <a:ea typeface="微软雅黑" pitchFamily="34" charset="-122"/>
                <a:cs typeface="经典粗黑简" pitchFamily="49" charset="-122"/>
              </a:rPr>
              <a:t>vi</a:t>
            </a:r>
            <a:r>
              <a:rPr kumimoji="1" lang="zh-CN" altLang="en-US" sz="2000" dirty="0">
                <a:latin typeface="微软雅黑" pitchFamily="34" charset="-122"/>
                <a:ea typeface="微软雅黑" pitchFamily="34" charset="-122"/>
                <a:cs typeface="经典粗黑简" pitchFamily="49" charset="-122"/>
              </a:rPr>
              <a:t>，并称弧</a:t>
            </a:r>
            <a:r>
              <a:rPr kumimoji="1" lang="en-US" altLang="zh-CN" sz="2000" dirty="0">
                <a:latin typeface="微软雅黑" pitchFamily="34" charset="-122"/>
                <a:ea typeface="微软雅黑" pitchFamily="34" charset="-122"/>
                <a:cs typeface="经典粗黑简" pitchFamily="49" charset="-122"/>
              </a:rPr>
              <a:t>&lt;</a:t>
            </a:r>
            <a:r>
              <a:rPr kumimoji="1" lang="en-US" altLang="zh-CN" sz="2000" dirty="0" err="1">
                <a:latin typeface="微软雅黑" pitchFamily="34" charset="-122"/>
                <a:ea typeface="微软雅黑" pitchFamily="34" charset="-122"/>
                <a:cs typeface="经典粗黑简" pitchFamily="49" charset="-122"/>
              </a:rPr>
              <a:t>vi,vj</a:t>
            </a:r>
            <a:r>
              <a:rPr kumimoji="1" lang="en-US" altLang="zh-CN" sz="2000" dirty="0">
                <a:latin typeface="微软雅黑" pitchFamily="34" charset="-122"/>
                <a:ea typeface="微软雅黑" pitchFamily="34" charset="-122"/>
                <a:cs typeface="经典粗黑简" pitchFamily="49" charset="-122"/>
              </a:rPr>
              <a:t>&gt;</a:t>
            </a:r>
            <a:r>
              <a:rPr kumimoji="1" lang="zh-CN" altLang="en-US" sz="2000" dirty="0">
                <a:latin typeface="微软雅黑" pitchFamily="34" charset="-122"/>
                <a:ea typeface="微软雅黑" pitchFamily="34" charset="-122"/>
                <a:cs typeface="经典粗黑简" pitchFamily="49" charset="-122"/>
              </a:rPr>
              <a:t>和顶点</a:t>
            </a:r>
            <a:r>
              <a:rPr kumimoji="1" lang="en-US" altLang="zh-CN" sz="2000" dirty="0">
                <a:latin typeface="微软雅黑" pitchFamily="34" charset="-122"/>
                <a:ea typeface="微软雅黑" pitchFamily="34" charset="-122"/>
                <a:cs typeface="经典粗黑简" pitchFamily="49" charset="-122"/>
              </a:rPr>
              <a:t>vi</a:t>
            </a:r>
            <a:r>
              <a:rPr kumimoji="1" lang="zh-CN" altLang="en-US" sz="2000" dirty="0">
                <a:latin typeface="微软雅黑" pitchFamily="34" charset="-122"/>
                <a:ea typeface="微软雅黑" pitchFamily="34" charset="-122"/>
                <a:cs typeface="经典粗黑简" pitchFamily="49" charset="-122"/>
              </a:rPr>
              <a:t>和</a:t>
            </a:r>
            <a:r>
              <a:rPr kumimoji="1" lang="en-US" altLang="zh-CN" sz="2000" dirty="0" err="1">
                <a:latin typeface="微软雅黑" pitchFamily="34" charset="-122"/>
                <a:ea typeface="微软雅黑" pitchFamily="34" charset="-122"/>
                <a:cs typeface="经典粗黑简" pitchFamily="49" charset="-122"/>
              </a:rPr>
              <a:t>vj</a:t>
            </a:r>
            <a:r>
              <a:rPr kumimoji="1" lang="zh-CN" altLang="en-US" sz="2000" dirty="0">
                <a:solidFill>
                  <a:srgbClr val="FF0000"/>
                </a:solidFill>
                <a:latin typeface="微软雅黑" pitchFamily="34" charset="-122"/>
                <a:ea typeface="微软雅黑" pitchFamily="34" charset="-122"/>
                <a:cs typeface="经典粗黑简" pitchFamily="49" charset="-122"/>
              </a:rPr>
              <a:t>相关联</a:t>
            </a:r>
            <a:r>
              <a:rPr kumimoji="1" lang="zh-CN" altLang="en-US" sz="2000" dirty="0">
                <a:latin typeface="微软雅黑" pitchFamily="34" charset="-122"/>
                <a:ea typeface="微软雅黑" pitchFamily="34" charset="-122"/>
                <a:cs typeface="经典粗黑简" pitchFamily="49" charset="-122"/>
              </a:rPr>
              <a:t>。</a:t>
            </a:r>
          </a:p>
        </p:txBody>
      </p:sp>
      <p:sp>
        <p:nvSpPr>
          <p:cNvPr id="8" name="矩形 7"/>
          <p:cNvSpPr/>
          <p:nvPr/>
        </p:nvSpPr>
        <p:spPr>
          <a:xfrm>
            <a:off x="3079789" y="2276872"/>
            <a:ext cx="1467068" cy="400110"/>
          </a:xfrm>
          <a:prstGeom prst="rect">
            <a:avLst/>
          </a:prstGeom>
        </p:spPr>
        <p:txBody>
          <a:bodyPr wrap="none">
            <a:spAutoFit/>
          </a:bodyPr>
          <a:lstStyle/>
          <a:p>
            <a:r>
              <a:rPr kumimoji="1" lang="en-US" altLang="zh-CN" sz="2000" dirty="0">
                <a:latin typeface="微软雅黑" pitchFamily="34" charset="-122"/>
                <a:ea typeface="微软雅黑" pitchFamily="34" charset="-122"/>
                <a:cs typeface="经典粗黑简" pitchFamily="49" charset="-122"/>
              </a:rPr>
              <a:t>⑴</a:t>
            </a:r>
            <a:r>
              <a:rPr kumimoji="1" lang="zh-CN" altLang="en-US" sz="2000" dirty="0">
                <a:latin typeface="微软雅黑" pitchFamily="34" charset="-122"/>
                <a:ea typeface="微软雅黑" pitchFamily="34" charset="-122"/>
                <a:cs typeface="经典粗黑简" pitchFamily="49" charset="-122"/>
              </a:rPr>
              <a:t>、邻接点</a:t>
            </a:r>
          </a:p>
        </p:txBody>
      </p:sp>
      <p:grpSp>
        <p:nvGrpSpPr>
          <p:cNvPr id="14" name="Group 15"/>
          <p:cNvGrpSpPr>
            <a:grpSpLocks/>
          </p:cNvGrpSpPr>
          <p:nvPr/>
        </p:nvGrpSpPr>
        <p:grpSpPr bwMode="auto">
          <a:xfrm>
            <a:off x="3251606" y="4416759"/>
            <a:ext cx="2016125" cy="1944687"/>
            <a:chOff x="1338" y="1434"/>
            <a:chExt cx="1270" cy="1225"/>
          </a:xfrm>
        </p:grpSpPr>
        <p:sp>
          <p:nvSpPr>
            <p:cNvPr id="15" name="Oval 16"/>
            <p:cNvSpPr>
              <a:spLocks noChangeArrowheads="1"/>
            </p:cNvSpPr>
            <p:nvPr/>
          </p:nvSpPr>
          <p:spPr bwMode="auto">
            <a:xfrm>
              <a:off x="1338" y="1434"/>
              <a:ext cx="317" cy="317"/>
            </a:xfrm>
            <a:prstGeom prst="ellipse">
              <a:avLst/>
            </a:prstGeom>
            <a:solidFill>
              <a:schemeClr val="bg1"/>
            </a:solidFill>
            <a:ln w="28575" cap="sq">
              <a:solidFill>
                <a:srgbClr val="0033CC"/>
              </a:solidFill>
              <a:miter lim="800000"/>
              <a:headEnd type="none" w="sm" len="sm"/>
              <a:tailEnd type="none" w="sm" len="sm"/>
            </a:ln>
          </p:spPr>
          <p:txBody>
            <a:bodyPr wrap="none" tIns="0" anchorCtr="1"/>
            <a:lstStyle/>
            <a:p>
              <a:r>
                <a:rPr lang="en-US" altLang="zh-CN" sz="2400"/>
                <a:t>v</a:t>
              </a:r>
              <a:r>
                <a:rPr lang="en-US" altLang="zh-CN" sz="2400" baseline="-25000"/>
                <a:t>1</a:t>
              </a:r>
            </a:p>
          </p:txBody>
        </p:sp>
        <p:sp>
          <p:nvSpPr>
            <p:cNvPr id="16" name="Oval 17"/>
            <p:cNvSpPr>
              <a:spLocks noChangeArrowheads="1"/>
            </p:cNvSpPr>
            <p:nvPr/>
          </p:nvSpPr>
          <p:spPr bwMode="auto">
            <a:xfrm>
              <a:off x="2291" y="1434"/>
              <a:ext cx="317" cy="317"/>
            </a:xfrm>
            <a:prstGeom prst="ellipse">
              <a:avLst/>
            </a:prstGeom>
            <a:solidFill>
              <a:schemeClr val="bg1"/>
            </a:solidFill>
            <a:ln w="28575" cap="sq">
              <a:solidFill>
                <a:srgbClr val="0033CC"/>
              </a:solidFill>
              <a:miter lim="800000"/>
              <a:headEnd type="none" w="sm" len="sm"/>
              <a:tailEnd type="none" w="sm" len="sm"/>
            </a:ln>
          </p:spPr>
          <p:txBody>
            <a:bodyPr wrap="none" tIns="0" anchorCtr="1"/>
            <a:lstStyle/>
            <a:p>
              <a:r>
                <a:rPr lang="en-US" altLang="zh-CN" sz="2400"/>
                <a:t>v</a:t>
              </a:r>
              <a:r>
                <a:rPr lang="en-US" altLang="zh-CN" sz="2400" baseline="-25000"/>
                <a:t>2</a:t>
              </a:r>
            </a:p>
          </p:txBody>
        </p:sp>
        <p:sp>
          <p:nvSpPr>
            <p:cNvPr id="17" name="Oval 18"/>
            <p:cNvSpPr>
              <a:spLocks noChangeArrowheads="1"/>
            </p:cNvSpPr>
            <p:nvPr/>
          </p:nvSpPr>
          <p:spPr bwMode="auto">
            <a:xfrm>
              <a:off x="1338" y="2342"/>
              <a:ext cx="317" cy="317"/>
            </a:xfrm>
            <a:prstGeom prst="ellipse">
              <a:avLst/>
            </a:prstGeom>
            <a:solidFill>
              <a:schemeClr val="bg1"/>
            </a:solidFill>
            <a:ln w="28575" cap="sq">
              <a:solidFill>
                <a:srgbClr val="0033CC"/>
              </a:solidFill>
              <a:miter lim="800000"/>
              <a:headEnd type="none" w="sm" len="sm"/>
              <a:tailEnd type="none" w="sm" len="sm"/>
            </a:ln>
          </p:spPr>
          <p:txBody>
            <a:bodyPr wrap="none" tIns="0" anchorCtr="1"/>
            <a:lstStyle/>
            <a:p>
              <a:r>
                <a:rPr lang="en-US" altLang="zh-CN" sz="2400"/>
                <a:t>v</a:t>
              </a:r>
              <a:r>
                <a:rPr lang="en-US" altLang="zh-CN" sz="2400" baseline="-25000"/>
                <a:t>3</a:t>
              </a:r>
            </a:p>
          </p:txBody>
        </p:sp>
        <p:sp>
          <p:nvSpPr>
            <p:cNvPr id="18" name="Oval 19"/>
            <p:cNvSpPr>
              <a:spLocks noChangeArrowheads="1"/>
            </p:cNvSpPr>
            <p:nvPr/>
          </p:nvSpPr>
          <p:spPr bwMode="auto">
            <a:xfrm>
              <a:off x="2290" y="2341"/>
              <a:ext cx="317" cy="317"/>
            </a:xfrm>
            <a:prstGeom prst="ellipse">
              <a:avLst/>
            </a:prstGeom>
            <a:solidFill>
              <a:schemeClr val="bg1"/>
            </a:solidFill>
            <a:ln w="28575" cap="sq">
              <a:solidFill>
                <a:srgbClr val="0033CC"/>
              </a:solidFill>
              <a:miter lim="800000"/>
              <a:headEnd type="none" w="sm" len="sm"/>
              <a:tailEnd type="none" w="sm" len="sm"/>
            </a:ln>
          </p:spPr>
          <p:txBody>
            <a:bodyPr wrap="none" tIns="0" anchorCtr="1"/>
            <a:lstStyle/>
            <a:p>
              <a:r>
                <a:rPr lang="en-US" altLang="zh-CN" sz="2400"/>
                <a:t>v</a:t>
              </a:r>
              <a:r>
                <a:rPr lang="en-US" altLang="zh-CN" sz="2400" baseline="-25000"/>
                <a:t>4</a:t>
              </a:r>
            </a:p>
          </p:txBody>
        </p:sp>
        <p:sp>
          <p:nvSpPr>
            <p:cNvPr id="19" name="Line 20"/>
            <p:cNvSpPr>
              <a:spLocks noChangeShapeType="1"/>
            </p:cNvSpPr>
            <p:nvPr/>
          </p:nvSpPr>
          <p:spPr bwMode="auto">
            <a:xfrm>
              <a:off x="1655" y="1616"/>
              <a:ext cx="635" cy="0"/>
            </a:xfrm>
            <a:prstGeom prst="line">
              <a:avLst/>
            </a:prstGeom>
            <a:noFill/>
            <a:ln w="28575" cap="sq">
              <a:solidFill>
                <a:srgbClr val="0033CC"/>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20" name="Line 21"/>
            <p:cNvSpPr>
              <a:spLocks noChangeShapeType="1"/>
            </p:cNvSpPr>
            <p:nvPr/>
          </p:nvSpPr>
          <p:spPr bwMode="auto">
            <a:xfrm>
              <a:off x="1655" y="2523"/>
              <a:ext cx="635" cy="0"/>
            </a:xfrm>
            <a:prstGeom prst="line">
              <a:avLst/>
            </a:prstGeom>
            <a:noFill/>
            <a:ln w="28575" cap="sq">
              <a:solidFill>
                <a:srgbClr val="0033CC"/>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21" name="Line 22"/>
            <p:cNvSpPr>
              <a:spLocks noChangeShapeType="1"/>
            </p:cNvSpPr>
            <p:nvPr/>
          </p:nvSpPr>
          <p:spPr bwMode="auto">
            <a:xfrm>
              <a:off x="1474" y="1752"/>
              <a:ext cx="0" cy="589"/>
            </a:xfrm>
            <a:prstGeom prst="line">
              <a:avLst/>
            </a:prstGeom>
            <a:noFill/>
            <a:ln w="28575" cap="sq">
              <a:solidFill>
                <a:srgbClr val="0033CC"/>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22" name="Line 23"/>
            <p:cNvSpPr>
              <a:spLocks noChangeShapeType="1"/>
            </p:cNvSpPr>
            <p:nvPr/>
          </p:nvSpPr>
          <p:spPr bwMode="auto">
            <a:xfrm flipH="1" flipV="1">
              <a:off x="1610" y="1706"/>
              <a:ext cx="771" cy="635"/>
            </a:xfrm>
            <a:prstGeom prst="line">
              <a:avLst/>
            </a:prstGeom>
            <a:noFill/>
            <a:ln w="28575" cap="sq">
              <a:solidFill>
                <a:srgbClr val="0033CC"/>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23" name="Group 4"/>
          <p:cNvGrpSpPr>
            <a:grpSpLocks/>
          </p:cNvGrpSpPr>
          <p:nvPr/>
        </p:nvGrpSpPr>
        <p:grpSpPr bwMode="auto">
          <a:xfrm>
            <a:off x="7126982" y="4445221"/>
            <a:ext cx="2016125" cy="1944688"/>
            <a:chOff x="975" y="1706"/>
            <a:chExt cx="1270" cy="1225"/>
          </a:xfrm>
        </p:grpSpPr>
        <p:sp>
          <p:nvSpPr>
            <p:cNvPr id="24" name="Oval 5"/>
            <p:cNvSpPr>
              <a:spLocks noChangeArrowheads="1"/>
            </p:cNvSpPr>
            <p:nvPr/>
          </p:nvSpPr>
          <p:spPr bwMode="auto">
            <a:xfrm>
              <a:off x="975" y="1706"/>
              <a:ext cx="317" cy="317"/>
            </a:xfrm>
            <a:prstGeom prst="ellipse">
              <a:avLst/>
            </a:prstGeom>
            <a:solidFill>
              <a:schemeClr val="bg1"/>
            </a:solidFill>
            <a:ln w="28575" cap="sq">
              <a:solidFill>
                <a:schemeClr val="accent1"/>
              </a:solidFill>
              <a:miter lim="800000"/>
              <a:headEnd type="none" w="sm" len="sm"/>
              <a:tailEnd type="none" w="sm" len="sm"/>
            </a:ln>
          </p:spPr>
          <p:txBody>
            <a:bodyPr wrap="none" tIns="0" anchorCtr="1"/>
            <a:lstStyle/>
            <a:p>
              <a:r>
                <a:rPr lang="en-US" altLang="zh-CN" sz="2400" dirty="0"/>
                <a:t>v</a:t>
              </a:r>
              <a:r>
                <a:rPr lang="en-US" altLang="zh-CN" sz="2400" baseline="-25000" dirty="0"/>
                <a:t>1</a:t>
              </a:r>
            </a:p>
          </p:txBody>
        </p:sp>
        <p:sp>
          <p:nvSpPr>
            <p:cNvPr id="25" name="Oval 6"/>
            <p:cNvSpPr>
              <a:spLocks noChangeArrowheads="1"/>
            </p:cNvSpPr>
            <p:nvPr/>
          </p:nvSpPr>
          <p:spPr bwMode="auto">
            <a:xfrm>
              <a:off x="1928" y="1706"/>
              <a:ext cx="317" cy="317"/>
            </a:xfrm>
            <a:prstGeom prst="ellipse">
              <a:avLst/>
            </a:prstGeom>
            <a:solidFill>
              <a:schemeClr val="bg1"/>
            </a:solidFill>
            <a:ln w="28575" cap="sq">
              <a:solidFill>
                <a:schemeClr val="accent1"/>
              </a:solidFill>
              <a:miter lim="800000"/>
              <a:headEnd type="none" w="sm" len="sm"/>
              <a:tailEnd type="none" w="sm" len="sm"/>
            </a:ln>
          </p:spPr>
          <p:txBody>
            <a:bodyPr wrap="none" tIns="0" anchorCtr="1"/>
            <a:lstStyle/>
            <a:p>
              <a:r>
                <a:rPr lang="en-US" altLang="zh-CN" sz="2400" dirty="0"/>
                <a:t>v</a:t>
              </a:r>
              <a:r>
                <a:rPr lang="en-US" altLang="zh-CN" sz="2400" baseline="-25000" dirty="0"/>
                <a:t>2</a:t>
              </a:r>
            </a:p>
          </p:txBody>
        </p:sp>
        <p:sp>
          <p:nvSpPr>
            <p:cNvPr id="26" name="Oval 7"/>
            <p:cNvSpPr>
              <a:spLocks noChangeArrowheads="1"/>
            </p:cNvSpPr>
            <p:nvPr/>
          </p:nvSpPr>
          <p:spPr bwMode="auto">
            <a:xfrm>
              <a:off x="975" y="2614"/>
              <a:ext cx="317" cy="317"/>
            </a:xfrm>
            <a:prstGeom prst="ellipse">
              <a:avLst/>
            </a:prstGeom>
            <a:solidFill>
              <a:schemeClr val="bg1"/>
            </a:solidFill>
            <a:ln w="28575" cap="sq">
              <a:solidFill>
                <a:schemeClr val="accent1"/>
              </a:solidFill>
              <a:miter lim="800000"/>
              <a:headEnd type="none" w="sm" len="sm"/>
              <a:tailEnd type="none" w="sm" len="sm"/>
            </a:ln>
          </p:spPr>
          <p:txBody>
            <a:bodyPr wrap="none" tIns="0" anchorCtr="1"/>
            <a:lstStyle/>
            <a:p>
              <a:r>
                <a:rPr lang="en-US" altLang="zh-CN" sz="2400"/>
                <a:t>v</a:t>
              </a:r>
              <a:r>
                <a:rPr lang="en-US" altLang="zh-CN" sz="2400" baseline="-25000"/>
                <a:t>4</a:t>
              </a:r>
            </a:p>
          </p:txBody>
        </p:sp>
        <p:sp>
          <p:nvSpPr>
            <p:cNvPr id="27" name="Oval 8"/>
            <p:cNvSpPr>
              <a:spLocks noChangeArrowheads="1"/>
            </p:cNvSpPr>
            <p:nvPr/>
          </p:nvSpPr>
          <p:spPr bwMode="auto">
            <a:xfrm>
              <a:off x="1927" y="2613"/>
              <a:ext cx="317" cy="317"/>
            </a:xfrm>
            <a:prstGeom prst="ellipse">
              <a:avLst/>
            </a:prstGeom>
            <a:solidFill>
              <a:schemeClr val="bg1"/>
            </a:solidFill>
            <a:ln w="28575" cap="sq">
              <a:solidFill>
                <a:schemeClr val="accent1"/>
              </a:solidFill>
              <a:miter lim="800000"/>
              <a:headEnd type="none" w="sm" len="sm"/>
              <a:tailEnd type="none" w="sm" len="sm"/>
            </a:ln>
          </p:spPr>
          <p:txBody>
            <a:bodyPr wrap="none" tIns="0" anchorCtr="1"/>
            <a:lstStyle/>
            <a:p>
              <a:r>
                <a:rPr lang="en-US" altLang="zh-CN" sz="2400"/>
                <a:t>v</a:t>
              </a:r>
              <a:r>
                <a:rPr lang="en-US" altLang="zh-CN" sz="2400" baseline="-25000"/>
                <a:t>5</a:t>
              </a:r>
            </a:p>
          </p:txBody>
        </p:sp>
        <p:sp>
          <p:nvSpPr>
            <p:cNvPr id="28" name="Oval 9"/>
            <p:cNvSpPr>
              <a:spLocks noChangeArrowheads="1"/>
            </p:cNvSpPr>
            <p:nvPr/>
          </p:nvSpPr>
          <p:spPr bwMode="auto">
            <a:xfrm>
              <a:off x="1474" y="2161"/>
              <a:ext cx="317" cy="317"/>
            </a:xfrm>
            <a:prstGeom prst="ellipse">
              <a:avLst/>
            </a:prstGeom>
            <a:solidFill>
              <a:schemeClr val="bg1"/>
            </a:solidFill>
            <a:ln w="28575" cap="sq">
              <a:solidFill>
                <a:schemeClr val="accent1"/>
              </a:solidFill>
              <a:miter lim="800000"/>
              <a:headEnd type="none" w="sm" len="sm"/>
              <a:tailEnd type="none" w="sm" len="sm"/>
            </a:ln>
          </p:spPr>
          <p:txBody>
            <a:bodyPr wrap="none" tIns="0" anchorCtr="1"/>
            <a:lstStyle/>
            <a:p>
              <a:r>
                <a:rPr lang="en-US" altLang="zh-CN" sz="2400"/>
                <a:t>v</a:t>
              </a:r>
              <a:r>
                <a:rPr lang="en-US" altLang="zh-CN" sz="2400" baseline="-25000"/>
                <a:t>3</a:t>
              </a:r>
            </a:p>
          </p:txBody>
        </p:sp>
        <p:sp>
          <p:nvSpPr>
            <p:cNvPr id="29" name="Line 10"/>
            <p:cNvSpPr>
              <a:spLocks noChangeShapeType="1"/>
            </p:cNvSpPr>
            <p:nvPr/>
          </p:nvSpPr>
          <p:spPr bwMode="auto">
            <a:xfrm>
              <a:off x="1292" y="1842"/>
              <a:ext cx="635" cy="0"/>
            </a:xfrm>
            <a:prstGeom prst="line">
              <a:avLst/>
            </a:prstGeom>
            <a:noFill/>
            <a:ln w="28575" cap="sq">
              <a:solidFill>
                <a:schemeClr val="accent1"/>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30" name="Line 11"/>
            <p:cNvSpPr>
              <a:spLocks noChangeShapeType="1"/>
            </p:cNvSpPr>
            <p:nvPr/>
          </p:nvSpPr>
          <p:spPr bwMode="auto">
            <a:xfrm>
              <a:off x="1111" y="2024"/>
              <a:ext cx="0" cy="590"/>
            </a:xfrm>
            <a:prstGeom prst="line">
              <a:avLst/>
            </a:prstGeom>
            <a:noFill/>
            <a:ln w="28575" cap="sq">
              <a:solidFill>
                <a:schemeClr val="accent1"/>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31" name="Line 12"/>
            <p:cNvSpPr>
              <a:spLocks noChangeShapeType="1"/>
            </p:cNvSpPr>
            <p:nvPr/>
          </p:nvSpPr>
          <p:spPr bwMode="auto">
            <a:xfrm>
              <a:off x="2109" y="2024"/>
              <a:ext cx="0" cy="590"/>
            </a:xfrm>
            <a:prstGeom prst="line">
              <a:avLst/>
            </a:prstGeom>
            <a:noFill/>
            <a:ln w="28575" cap="sq">
              <a:solidFill>
                <a:schemeClr val="accent1"/>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32" name="Line 13"/>
            <p:cNvSpPr>
              <a:spLocks noChangeShapeType="1"/>
            </p:cNvSpPr>
            <p:nvPr/>
          </p:nvSpPr>
          <p:spPr bwMode="auto">
            <a:xfrm>
              <a:off x="1746" y="2432"/>
              <a:ext cx="227" cy="227"/>
            </a:xfrm>
            <a:prstGeom prst="line">
              <a:avLst/>
            </a:prstGeom>
            <a:noFill/>
            <a:ln w="28575" cap="sq">
              <a:solidFill>
                <a:schemeClr val="accent1"/>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33" name="Line 14"/>
            <p:cNvSpPr>
              <a:spLocks noChangeShapeType="1"/>
            </p:cNvSpPr>
            <p:nvPr/>
          </p:nvSpPr>
          <p:spPr bwMode="auto">
            <a:xfrm flipH="1">
              <a:off x="1746" y="1979"/>
              <a:ext cx="227" cy="226"/>
            </a:xfrm>
            <a:prstGeom prst="line">
              <a:avLst/>
            </a:prstGeom>
            <a:noFill/>
            <a:ln w="28575" cap="sq">
              <a:solidFill>
                <a:schemeClr val="accent1"/>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34" name="Line 15"/>
            <p:cNvSpPr>
              <a:spLocks noChangeShapeType="1"/>
            </p:cNvSpPr>
            <p:nvPr/>
          </p:nvSpPr>
          <p:spPr bwMode="auto">
            <a:xfrm flipH="1">
              <a:off x="1247" y="2432"/>
              <a:ext cx="272" cy="249"/>
            </a:xfrm>
            <a:prstGeom prst="line">
              <a:avLst/>
            </a:prstGeom>
            <a:noFill/>
            <a:ln w="28575" cap="sq">
              <a:solidFill>
                <a:schemeClr val="accent1"/>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grpSp>
      <p:sp>
        <p:nvSpPr>
          <p:cNvPr id="2" name="矩形 1">
            <a:extLst>
              <a:ext uri="{FF2B5EF4-FFF2-40B4-BE49-F238E27FC236}">
                <a16:creationId xmlns:a16="http://schemas.microsoft.com/office/drawing/2014/main" id="{DCD49297-984F-BF79-DC39-62166B9E4399}"/>
              </a:ext>
            </a:extLst>
          </p:cNvPr>
          <p:cNvSpPr/>
          <p:nvPr/>
        </p:nvSpPr>
        <p:spPr>
          <a:xfrm>
            <a:off x="4421120" y="339686"/>
            <a:ext cx="3637792"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8.1 </a:t>
            </a:r>
            <a:r>
              <a:rPr lang="zh-CN" altLang="en-US" sz="3000" b="1" dirty="0">
                <a:latin typeface="黑体" pitchFamily="49" charset="-122"/>
                <a:ea typeface="黑体" pitchFamily="49" charset="-122"/>
                <a:cs typeface="经典粗黑简" pitchFamily="49" charset="-122"/>
              </a:rPr>
              <a:t>图的基本概念</a:t>
            </a:r>
          </a:p>
        </p:txBody>
      </p:sp>
      <p:sp>
        <p:nvSpPr>
          <p:cNvPr id="3" name="Rectangle 2">
            <a:extLst>
              <a:ext uri="{FF2B5EF4-FFF2-40B4-BE49-F238E27FC236}">
                <a16:creationId xmlns:a16="http://schemas.microsoft.com/office/drawing/2014/main" id="{D0B4A7F4-556B-EFDA-8205-85574430F189}"/>
              </a:ext>
            </a:extLst>
          </p:cNvPr>
          <p:cNvSpPr txBox="1">
            <a:spLocks noChangeArrowheads="1"/>
          </p:cNvSpPr>
          <p:nvPr/>
        </p:nvSpPr>
        <p:spPr>
          <a:xfrm>
            <a:off x="407368" y="1167247"/>
            <a:ext cx="3528392"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8.1.2 </a:t>
            </a:r>
            <a:r>
              <a:rPr lang="zh-CN" altLang="en-US" dirty="0"/>
              <a:t>图的基本术语</a:t>
            </a:r>
          </a:p>
        </p:txBody>
      </p:sp>
      <p:cxnSp>
        <p:nvCxnSpPr>
          <p:cNvPr id="4" name="直接连接符 3">
            <a:extLst>
              <a:ext uri="{FF2B5EF4-FFF2-40B4-BE49-F238E27FC236}">
                <a16:creationId xmlns:a16="http://schemas.microsoft.com/office/drawing/2014/main" id="{F1DB5215-ADDF-AA5E-61A1-2EF18B32EA00}"/>
              </a:ext>
            </a:extLst>
          </p:cNvPr>
          <p:cNvCxnSpPr>
            <a:cxnSpLocks/>
          </p:cNvCxnSpPr>
          <p:nvPr/>
        </p:nvCxnSpPr>
        <p:spPr>
          <a:xfrm>
            <a:off x="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466318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3016393" y="2852936"/>
            <a:ext cx="7472096" cy="400110"/>
          </a:xfrm>
          <a:prstGeom prst="rect">
            <a:avLst/>
          </a:prstGeom>
        </p:spPr>
        <p:txBody>
          <a:bodyPr wrap="square">
            <a:spAutoFit/>
          </a:bodyPr>
          <a:lstStyle/>
          <a:p>
            <a:r>
              <a:rPr kumimoji="1" lang="zh-CN" altLang="en-US" sz="2000" dirty="0">
                <a:latin typeface="微软雅黑" pitchFamily="34" charset="-122"/>
                <a:ea typeface="微软雅黑" pitchFamily="34" charset="-122"/>
                <a:cs typeface="经典粗黑简" pitchFamily="49" charset="-122"/>
              </a:rPr>
              <a:t>无向图中，顶点的度为与每个顶点相连的边数，通常记为</a:t>
            </a:r>
            <a:r>
              <a:rPr kumimoji="1" lang="en-US" altLang="zh-CN" sz="2000" dirty="0">
                <a:latin typeface="微软雅黑" pitchFamily="34" charset="-122"/>
                <a:ea typeface="微软雅黑" pitchFamily="34" charset="-122"/>
                <a:cs typeface="经典粗黑简" pitchFamily="49" charset="-122"/>
              </a:rPr>
              <a:t>TD (v)。</a:t>
            </a:r>
            <a:endParaRPr kumimoji="1" lang="zh-CN" altLang="en-US" sz="2000" dirty="0">
              <a:latin typeface="微软雅黑" pitchFamily="34" charset="-122"/>
              <a:ea typeface="微软雅黑" pitchFamily="34" charset="-122"/>
              <a:cs typeface="经典粗黑简" pitchFamily="49" charset="-122"/>
            </a:endParaRPr>
          </a:p>
        </p:txBody>
      </p:sp>
      <p:grpSp>
        <p:nvGrpSpPr>
          <p:cNvPr id="17" name="Group 4"/>
          <p:cNvGrpSpPr>
            <a:grpSpLocks/>
          </p:cNvGrpSpPr>
          <p:nvPr/>
        </p:nvGrpSpPr>
        <p:grpSpPr bwMode="auto">
          <a:xfrm>
            <a:off x="4067828" y="4167298"/>
            <a:ext cx="2016125" cy="1944688"/>
            <a:chOff x="975" y="1706"/>
            <a:chExt cx="1270" cy="1225"/>
          </a:xfrm>
        </p:grpSpPr>
        <p:sp>
          <p:nvSpPr>
            <p:cNvPr id="18" name="Oval 5"/>
            <p:cNvSpPr>
              <a:spLocks noChangeArrowheads="1"/>
            </p:cNvSpPr>
            <p:nvPr/>
          </p:nvSpPr>
          <p:spPr bwMode="auto">
            <a:xfrm>
              <a:off x="975" y="1706"/>
              <a:ext cx="317" cy="317"/>
            </a:xfrm>
            <a:prstGeom prst="ellipse">
              <a:avLst/>
            </a:prstGeom>
            <a:solidFill>
              <a:schemeClr val="bg1"/>
            </a:solidFill>
            <a:ln w="28575" cap="sq">
              <a:solidFill>
                <a:schemeClr val="accent1"/>
              </a:solidFill>
              <a:miter lim="800000"/>
              <a:headEnd type="none" w="sm" len="sm"/>
              <a:tailEnd type="none" w="sm" len="sm"/>
            </a:ln>
          </p:spPr>
          <p:txBody>
            <a:bodyPr wrap="none" tIns="0" anchorCtr="1"/>
            <a:lstStyle/>
            <a:p>
              <a:r>
                <a:rPr lang="en-US" altLang="zh-CN" sz="2400" dirty="0"/>
                <a:t>v</a:t>
              </a:r>
              <a:r>
                <a:rPr lang="en-US" altLang="zh-CN" sz="2400" baseline="-25000" dirty="0"/>
                <a:t>1</a:t>
              </a:r>
            </a:p>
          </p:txBody>
        </p:sp>
        <p:sp>
          <p:nvSpPr>
            <p:cNvPr id="19" name="Oval 6"/>
            <p:cNvSpPr>
              <a:spLocks noChangeArrowheads="1"/>
            </p:cNvSpPr>
            <p:nvPr/>
          </p:nvSpPr>
          <p:spPr bwMode="auto">
            <a:xfrm>
              <a:off x="1928" y="1706"/>
              <a:ext cx="317" cy="317"/>
            </a:xfrm>
            <a:prstGeom prst="ellipse">
              <a:avLst/>
            </a:prstGeom>
            <a:solidFill>
              <a:schemeClr val="bg1"/>
            </a:solidFill>
            <a:ln w="28575" cap="sq">
              <a:solidFill>
                <a:schemeClr val="accent1"/>
              </a:solidFill>
              <a:miter lim="800000"/>
              <a:headEnd type="none" w="sm" len="sm"/>
              <a:tailEnd type="none" w="sm" len="sm"/>
            </a:ln>
          </p:spPr>
          <p:txBody>
            <a:bodyPr wrap="none" tIns="0" anchorCtr="1"/>
            <a:lstStyle/>
            <a:p>
              <a:r>
                <a:rPr lang="en-US" altLang="zh-CN" sz="2400"/>
                <a:t>v</a:t>
              </a:r>
              <a:r>
                <a:rPr lang="en-US" altLang="zh-CN" sz="2400" baseline="-25000"/>
                <a:t>2</a:t>
              </a:r>
            </a:p>
          </p:txBody>
        </p:sp>
        <p:sp>
          <p:nvSpPr>
            <p:cNvPr id="20" name="Oval 7"/>
            <p:cNvSpPr>
              <a:spLocks noChangeArrowheads="1"/>
            </p:cNvSpPr>
            <p:nvPr/>
          </p:nvSpPr>
          <p:spPr bwMode="auto">
            <a:xfrm>
              <a:off x="975" y="2614"/>
              <a:ext cx="317" cy="317"/>
            </a:xfrm>
            <a:prstGeom prst="ellipse">
              <a:avLst/>
            </a:prstGeom>
            <a:solidFill>
              <a:schemeClr val="bg1"/>
            </a:solidFill>
            <a:ln w="28575" cap="sq">
              <a:solidFill>
                <a:schemeClr val="accent1"/>
              </a:solidFill>
              <a:miter lim="800000"/>
              <a:headEnd type="none" w="sm" len="sm"/>
              <a:tailEnd type="none" w="sm" len="sm"/>
            </a:ln>
          </p:spPr>
          <p:txBody>
            <a:bodyPr wrap="none" tIns="0" anchorCtr="1"/>
            <a:lstStyle/>
            <a:p>
              <a:r>
                <a:rPr lang="en-US" altLang="zh-CN" sz="2400"/>
                <a:t>v</a:t>
              </a:r>
              <a:r>
                <a:rPr lang="en-US" altLang="zh-CN" sz="2400" baseline="-25000"/>
                <a:t>4</a:t>
              </a:r>
            </a:p>
          </p:txBody>
        </p:sp>
        <p:sp>
          <p:nvSpPr>
            <p:cNvPr id="21" name="Oval 8"/>
            <p:cNvSpPr>
              <a:spLocks noChangeArrowheads="1"/>
            </p:cNvSpPr>
            <p:nvPr/>
          </p:nvSpPr>
          <p:spPr bwMode="auto">
            <a:xfrm>
              <a:off x="1927" y="2613"/>
              <a:ext cx="317" cy="317"/>
            </a:xfrm>
            <a:prstGeom prst="ellipse">
              <a:avLst/>
            </a:prstGeom>
            <a:solidFill>
              <a:schemeClr val="bg1"/>
            </a:solidFill>
            <a:ln w="28575" cap="sq">
              <a:solidFill>
                <a:schemeClr val="accent1"/>
              </a:solidFill>
              <a:miter lim="800000"/>
              <a:headEnd type="none" w="sm" len="sm"/>
              <a:tailEnd type="none" w="sm" len="sm"/>
            </a:ln>
          </p:spPr>
          <p:txBody>
            <a:bodyPr wrap="none" tIns="0" anchorCtr="1"/>
            <a:lstStyle/>
            <a:p>
              <a:r>
                <a:rPr lang="en-US" altLang="zh-CN" sz="2400"/>
                <a:t>v</a:t>
              </a:r>
              <a:r>
                <a:rPr lang="en-US" altLang="zh-CN" sz="2400" baseline="-25000"/>
                <a:t>5</a:t>
              </a:r>
            </a:p>
          </p:txBody>
        </p:sp>
        <p:sp>
          <p:nvSpPr>
            <p:cNvPr id="22" name="Oval 9"/>
            <p:cNvSpPr>
              <a:spLocks noChangeArrowheads="1"/>
            </p:cNvSpPr>
            <p:nvPr/>
          </p:nvSpPr>
          <p:spPr bwMode="auto">
            <a:xfrm>
              <a:off x="1474" y="2161"/>
              <a:ext cx="317" cy="317"/>
            </a:xfrm>
            <a:prstGeom prst="ellipse">
              <a:avLst/>
            </a:prstGeom>
            <a:solidFill>
              <a:schemeClr val="bg1"/>
            </a:solidFill>
            <a:ln w="28575" cap="sq">
              <a:solidFill>
                <a:schemeClr val="accent1"/>
              </a:solidFill>
              <a:miter lim="800000"/>
              <a:headEnd type="none" w="sm" len="sm"/>
              <a:tailEnd type="none" w="sm" len="sm"/>
            </a:ln>
          </p:spPr>
          <p:txBody>
            <a:bodyPr wrap="none" tIns="0" anchorCtr="1"/>
            <a:lstStyle/>
            <a:p>
              <a:r>
                <a:rPr lang="en-US" altLang="zh-CN" sz="2400"/>
                <a:t>v</a:t>
              </a:r>
              <a:r>
                <a:rPr lang="en-US" altLang="zh-CN" sz="2400" baseline="-25000"/>
                <a:t>3</a:t>
              </a:r>
            </a:p>
          </p:txBody>
        </p:sp>
        <p:sp>
          <p:nvSpPr>
            <p:cNvPr id="23" name="Line 10"/>
            <p:cNvSpPr>
              <a:spLocks noChangeShapeType="1"/>
            </p:cNvSpPr>
            <p:nvPr/>
          </p:nvSpPr>
          <p:spPr bwMode="auto">
            <a:xfrm>
              <a:off x="1292" y="1842"/>
              <a:ext cx="635" cy="0"/>
            </a:xfrm>
            <a:prstGeom prst="line">
              <a:avLst/>
            </a:prstGeom>
            <a:noFill/>
            <a:ln w="28575" cap="sq">
              <a:solidFill>
                <a:schemeClr val="accent1"/>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24" name="Line 11"/>
            <p:cNvSpPr>
              <a:spLocks noChangeShapeType="1"/>
            </p:cNvSpPr>
            <p:nvPr/>
          </p:nvSpPr>
          <p:spPr bwMode="auto">
            <a:xfrm>
              <a:off x="1111" y="2024"/>
              <a:ext cx="0" cy="590"/>
            </a:xfrm>
            <a:prstGeom prst="line">
              <a:avLst/>
            </a:prstGeom>
            <a:noFill/>
            <a:ln w="28575" cap="sq">
              <a:solidFill>
                <a:schemeClr val="accent1"/>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25" name="Line 12"/>
            <p:cNvSpPr>
              <a:spLocks noChangeShapeType="1"/>
            </p:cNvSpPr>
            <p:nvPr/>
          </p:nvSpPr>
          <p:spPr bwMode="auto">
            <a:xfrm>
              <a:off x="2109" y="2024"/>
              <a:ext cx="0" cy="590"/>
            </a:xfrm>
            <a:prstGeom prst="line">
              <a:avLst/>
            </a:prstGeom>
            <a:noFill/>
            <a:ln w="28575" cap="sq">
              <a:solidFill>
                <a:schemeClr val="accent1"/>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26" name="Line 13"/>
            <p:cNvSpPr>
              <a:spLocks noChangeShapeType="1"/>
            </p:cNvSpPr>
            <p:nvPr/>
          </p:nvSpPr>
          <p:spPr bwMode="auto">
            <a:xfrm>
              <a:off x="1746" y="2432"/>
              <a:ext cx="227" cy="227"/>
            </a:xfrm>
            <a:prstGeom prst="line">
              <a:avLst/>
            </a:prstGeom>
            <a:noFill/>
            <a:ln w="28575" cap="sq">
              <a:solidFill>
                <a:schemeClr val="accent1"/>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27" name="Line 14"/>
            <p:cNvSpPr>
              <a:spLocks noChangeShapeType="1"/>
            </p:cNvSpPr>
            <p:nvPr/>
          </p:nvSpPr>
          <p:spPr bwMode="auto">
            <a:xfrm flipH="1">
              <a:off x="1746" y="1979"/>
              <a:ext cx="227" cy="226"/>
            </a:xfrm>
            <a:prstGeom prst="line">
              <a:avLst/>
            </a:prstGeom>
            <a:noFill/>
            <a:ln w="28575" cap="sq">
              <a:solidFill>
                <a:schemeClr val="accent1"/>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28" name="Line 15"/>
            <p:cNvSpPr>
              <a:spLocks noChangeShapeType="1"/>
            </p:cNvSpPr>
            <p:nvPr/>
          </p:nvSpPr>
          <p:spPr bwMode="auto">
            <a:xfrm flipH="1">
              <a:off x="1247" y="2432"/>
              <a:ext cx="272" cy="249"/>
            </a:xfrm>
            <a:prstGeom prst="line">
              <a:avLst/>
            </a:prstGeom>
            <a:noFill/>
            <a:ln w="28575" cap="sq">
              <a:solidFill>
                <a:schemeClr val="accent1"/>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grpSp>
      <p:sp>
        <p:nvSpPr>
          <p:cNvPr id="15" name="矩形 14"/>
          <p:cNvSpPr/>
          <p:nvPr/>
        </p:nvSpPr>
        <p:spPr>
          <a:xfrm>
            <a:off x="3045272" y="3395900"/>
            <a:ext cx="7155184" cy="707886"/>
          </a:xfrm>
          <a:prstGeom prst="rect">
            <a:avLst/>
          </a:prstGeom>
        </p:spPr>
        <p:txBody>
          <a:bodyPr wrap="square">
            <a:spAutoFit/>
          </a:bodyPr>
          <a:lstStyle/>
          <a:p>
            <a:r>
              <a:rPr kumimoji="1" lang="zh-CN" altLang="en-US" sz="2000" dirty="0">
                <a:latin typeface="微软雅黑" pitchFamily="34" charset="-122"/>
                <a:ea typeface="微软雅黑" pitchFamily="34" charset="-122"/>
                <a:cs typeface="经典粗黑简" pitchFamily="49" charset="-122"/>
              </a:rPr>
              <a:t>一个有</a:t>
            </a:r>
            <a:r>
              <a:rPr kumimoji="1" lang="en-US" altLang="zh-CN" sz="2000" dirty="0">
                <a:latin typeface="微软雅黑" pitchFamily="34" charset="-122"/>
                <a:ea typeface="微软雅黑" pitchFamily="34" charset="-122"/>
                <a:cs typeface="经典粗黑简" pitchFamily="49" charset="-122"/>
              </a:rPr>
              <a:t>n</a:t>
            </a:r>
            <a:r>
              <a:rPr kumimoji="1" lang="zh-CN" altLang="en-US" sz="2000" dirty="0">
                <a:latin typeface="微软雅黑" pitchFamily="34" charset="-122"/>
                <a:ea typeface="微软雅黑" pitchFamily="34" charset="-122"/>
                <a:cs typeface="经典粗黑简" pitchFamily="49" charset="-122"/>
              </a:rPr>
              <a:t>个顶点，</a:t>
            </a:r>
            <a:r>
              <a:rPr kumimoji="1" lang="en-US" altLang="zh-CN" sz="2000" dirty="0">
                <a:latin typeface="微软雅黑" pitchFamily="34" charset="-122"/>
                <a:ea typeface="微软雅黑" pitchFamily="34" charset="-122"/>
                <a:cs typeface="经典粗黑简" pitchFamily="49" charset="-122"/>
              </a:rPr>
              <a:t>e</a:t>
            </a:r>
            <a:r>
              <a:rPr kumimoji="1" lang="zh-CN" altLang="en-US" sz="2000" dirty="0">
                <a:latin typeface="微软雅黑" pitchFamily="34" charset="-122"/>
                <a:ea typeface="微软雅黑" pitchFamily="34" charset="-122"/>
                <a:cs typeface="经典粗黑简" pitchFamily="49" charset="-122"/>
              </a:rPr>
              <a:t>条边或弧的图中，</a:t>
            </a:r>
            <a:r>
              <a:rPr kumimoji="1" lang="en-US" altLang="zh-CN" sz="2000" dirty="0">
                <a:latin typeface="微软雅黑" pitchFamily="34" charset="-122"/>
                <a:ea typeface="微软雅黑" pitchFamily="34" charset="-122"/>
                <a:cs typeface="经典粗黑简" pitchFamily="49" charset="-122"/>
              </a:rPr>
              <a:t>e</a:t>
            </a:r>
            <a:r>
              <a:rPr kumimoji="1" lang="zh-CN" altLang="en-US" sz="2000" dirty="0">
                <a:latin typeface="微软雅黑" pitchFamily="34" charset="-122"/>
                <a:ea typeface="微软雅黑" pitchFamily="34" charset="-122"/>
                <a:cs typeface="经典粗黑简" pitchFamily="49" charset="-122"/>
              </a:rPr>
              <a:t>与顶点的度之间的关系是什么？</a:t>
            </a:r>
          </a:p>
        </p:txBody>
      </p:sp>
      <p:graphicFrame>
        <p:nvGraphicFramePr>
          <p:cNvPr id="16" name="对象 15"/>
          <p:cNvGraphicFramePr>
            <a:graphicFrameLocks noChangeAspect="1"/>
          </p:cNvGraphicFramePr>
          <p:nvPr>
            <p:extLst>
              <p:ext uri="{D42A27DB-BD31-4B8C-83A1-F6EECF244321}">
                <p14:modId xmlns:p14="http://schemas.microsoft.com/office/powerpoint/2010/main" val="3895806155"/>
              </p:ext>
            </p:extLst>
          </p:nvPr>
        </p:nvGraphicFramePr>
        <p:xfrm>
          <a:off x="6960096" y="4282091"/>
          <a:ext cx="2520280" cy="1090829"/>
        </p:xfrm>
        <a:graphic>
          <a:graphicData uri="http://schemas.openxmlformats.org/presentationml/2006/ole">
            <mc:AlternateContent xmlns:mc="http://schemas.openxmlformats.org/markup-compatibility/2006">
              <mc:Choice xmlns:v="urn:schemas-microsoft-com:vml" Requires="v">
                <p:oleObj name="公式" r:id="rId2" imgW="990170" imgH="431613" progId="Equation.3">
                  <p:embed/>
                </p:oleObj>
              </mc:Choice>
              <mc:Fallback>
                <p:oleObj name="公式" r:id="rId2" imgW="990170" imgH="431613"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60096" y="4282091"/>
                        <a:ext cx="2520280" cy="1090829"/>
                      </a:xfrm>
                      <a:prstGeom prst="rect">
                        <a:avLst/>
                      </a:prstGeom>
                      <a:noFill/>
                      <a:ln>
                        <a:noFill/>
                      </a:ln>
                    </p:spPr>
                  </p:pic>
                </p:oleObj>
              </mc:Fallback>
            </mc:AlternateContent>
          </a:graphicData>
        </a:graphic>
      </p:graphicFrame>
      <p:sp>
        <p:nvSpPr>
          <p:cNvPr id="29" name="矩形 28"/>
          <p:cNvSpPr/>
          <p:nvPr/>
        </p:nvSpPr>
        <p:spPr>
          <a:xfrm>
            <a:off x="3079790" y="2390668"/>
            <a:ext cx="1723549" cy="400110"/>
          </a:xfrm>
          <a:prstGeom prst="rect">
            <a:avLst/>
          </a:prstGeom>
        </p:spPr>
        <p:txBody>
          <a:bodyPr wrap="none">
            <a:spAutoFit/>
          </a:bodyPr>
          <a:lstStyle/>
          <a:p>
            <a:r>
              <a:rPr kumimoji="1" lang="en-US" altLang="zh-CN" sz="2000" dirty="0">
                <a:latin typeface="微软雅黑" pitchFamily="34" charset="-122"/>
                <a:ea typeface="微软雅黑" pitchFamily="34" charset="-122"/>
                <a:cs typeface="经典粗黑简" pitchFamily="49" charset="-122"/>
              </a:rPr>
              <a:t>⑵</a:t>
            </a:r>
            <a:r>
              <a:rPr kumimoji="1" lang="zh-CN" altLang="en-US" sz="2000" dirty="0">
                <a:latin typeface="微软雅黑" pitchFamily="34" charset="-122"/>
                <a:ea typeface="微软雅黑" pitchFamily="34" charset="-122"/>
                <a:cs typeface="经典粗黑简" pitchFamily="49" charset="-122"/>
              </a:rPr>
              <a:t>、顶点的度</a:t>
            </a:r>
          </a:p>
        </p:txBody>
      </p:sp>
      <p:sp>
        <p:nvSpPr>
          <p:cNvPr id="33" name="矩形 32"/>
          <p:cNvSpPr/>
          <p:nvPr/>
        </p:nvSpPr>
        <p:spPr>
          <a:xfrm>
            <a:off x="2711624" y="1844824"/>
            <a:ext cx="2376264" cy="400110"/>
          </a:xfrm>
          <a:prstGeom prst="rect">
            <a:avLst/>
          </a:prstGeom>
        </p:spPr>
        <p:txBody>
          <a:bodyPr wrap="square">
            <a:spAutoFit/>
          </a:bodyPr>
          <a:lstStyle/>
          <a:p>
            <a:r>
              <a:rPr kumimoji="1" lang="en-US" altLang="zh-CN" sz="2000" dirty="0">
                <a:latin typeface="微软雅黑" pitchFamily="34" charset="-122"/>
                <a:ea typeface="微软雅黑" pitchFamily="34" charset="-122"/>
                <a:cs typeface="经典粗黑简" pitchFamily="49" charset="-122"/>
              </a:rPr>
              <a:t>2</a:t>
            </a:r>
            <a:r>
              <a:rPr kumimoji="1" lang="zh-CN" altLang="en-US" sz="2000" dirty="0">
                <a:latin typeface="微软雅黑" pitchFamily="34" charset="-122"/>
                <a:ea typeface="微软雅黑" pitchFamily="34" charset="-122"/>
                <a:cs typeface="经典粗黑简" pitchFamily="49" charset="-122"/>
              </a:rPr>
              <a:t>、图的基本术语</a:t>
            </a:r>
          </a:p>
        </p:txBody>
      </p:sp>
      <p:sp>
        <p:nvSpPr>
          <p:cNvPr id="2" name="矩形 1">
            <a:extLst>
              <a:ext uri="{FF2B5EF4-FFF2-40B4-BE49-F238E27FC236}">
                <a16:creationId xmlns:a16="http://schemas.microsoft.com/office/drawing/2014/main" id="{983B85E5-6329-86C3-3676-ACE47C261D5C}"/>
              </a:ext>
            </a:extLst>
          </p:cNvPr>
          <p:cNvSpPr/>
          <p:nvPr/>
        </p:nvSpPr>
        <p:spPr>
          <a:xfrm>
            <a:off x="4421120" y="339686"/>
            <a:ext cx="3637792"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8.1 </a:t>
            </a:r>
            <a:r>
              <a:rPr lang="zh-CN" altLang="en-US" sz="3000" b="1" dirty="0">
                <a:latin typeface="黑体" pitchFamily="49" charset="-122"/>
                <a:ea typeface="黑体" pitchFamily="49" charset="-122"/>
                <a:cs typeface="经典粗黑简" pitchFamily="49" charset="-122"/>
              </a:rPr>
              <a:t>图的基本概念</a:t>
            </a:r>
          </a:p>
        </p:txBody>
      </p:sp>
      <p:sp>
        <p:nvSpPr>
          <p:cNvPr id="3" name="Rectangle 2">
            <a:extLst>
              <a:ext uri="{FF2B5EF4-FFF2-40B4-BE49-F238E27FC236}">
                <a16:creationId xmlns:a16="http://schemas.microsoft.com/office/drawing/2014/main" id="{A22AB219-BA9E-BE5D-8B4B-5C62213DD851}"/>
              </a:ext>
            </a:extLst>
          </p:cNvPr>
          <p:cNvSpPr txBox="1">
            <a:spLocks noChangeArrowheads="1"/>
          </p:cNvSpPr>
          <p:nvPr/>
        </p:nvSpPr>
        <p:spPr>
          <a:xfrm>
            <a:off x="407368" y="1167247"/>
            <a:ext cx="3528392"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8.1.2 </a:t>
            </a:r>
            <a:r>
              <a:rPr lang="zh-CN" altLang="en-US" dirty="0"/>
              <a:t>图的基本术语</a:t>
            </a:r>
          </a:p>
        </p:txBody>
      </p:sp>
      <p:cxnSp>
        <p:nvCxnSpPr>
          <p:cNvPr id="4" name="直接连接符 3">
            <a:extLst>
              <a:ext uri="{FF2B5EF4-FFF2-40B4-BE49-F238E27FC236}">
                <a16:creationId xmlns:a16="http://schemas.microsoft.com/office/drawing/2014/main" id="{D733512C-A724-5290-7D1B-F5ACC514DDC6}"/>
              </a:ext>
            </a:extLst>
          </p:cNvPr>
          <p:cNvCxnSpPr>
            <a:cxnSpLocks/>
          </p:cNvCxnSpPr>
          <p:nvPr/>
        </p:nvCxnSpPr>
        <p:spPr>
          <a:xfrm>
            <a:off x="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697778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矩形 28"/>
          <p:cNvSpPr/>
          <p:nvPr/>
        </p:nvSpPr>
        <p:spPr>
          <a:xfrm>
            <a:off x="3079790" y="2390668"/>
            <a:ext cx="1723549" cy="400110"/>
          </a:xfrm>
          <a:prstGeom prst="rect">
            <a:avLst/>
          </a:prstGeom>
        </p:spPr>
        <p:txBody>
          <a:bodyPr wrap="none">
            <a:spAutoFit/>
          </a:bodyPr>
          <a:lstStyle/>
          <a:p>
            <a:r>
              <a:rPr kumimoji="1" lang="en-US" altLang="zh-CN" sz="2000" dirty="0">
                <a:latin typeface="微软雅黑" pitchFamily="34" charset="-122"/>
                <a:ea typeface="微软雅黑" pitchFamily="34" charset="-122"/>
                <a:cs typeface="经典粗黑简" pitchFamily="49" charset="-122"/>
              </a:rPr>
              <a:t>⑵</a:t>
            </a:r>
            <a:r>
              <a:rPr kumimoji="1" lang="zh-CN" altLang="en-US" sz="2000" dirty="0">
                <a:latin typeface="微软雅黑" pitchFamily="34" charset="-122"/>
                <a:ea typeface="微软雅黑" pitchFamily="34" charset="-122"/>
                <a:cs typeface="经典粗黑简" pitchFamily="49" charset="-122"/>
              </a:rPr>
              <a:t>、顶点的度</a:t>
            </a:r>
          </a:p>
        </p:txBody>
      </p:sp>
      <p:sp>
        <p:nvSpPr>
          <p:cNvPr id="33" name="矩形 32"/>
          <p:cNvSpPr/>
          <p:nvPr/>
        </p:nvSpPr>
        <p:spPr>
          <a:xfrm>
            <a:off x="2711624" y="1844824"/>
            <a:ext cx="2376264" cy="400110"/>
          </a:xfrm>
          <a:prstGeom prst="rect">
            <a:avLst/>
          </a:prstGeom>
        </p:spPr>
        <p:txBody>
          <a:bodyPr wrap="square">
            <a:spAutoFit/>
          </a:bodyPr>
          <a:lstStyle/>
          <a:p>
            <a:r>
              <a:rPr kumimoji="1" lang="en-US" altLang="zh-CN" sz="2000" dirty="0">
                <a:latin typeface="微软雅黑" pitchFamily="34" charset="-122"/>
                <a:ea typeface="微软雅黑" pitchFamily="34" charset="-122"/>
                <a:cs typeface="经典粗黑简" pitchFamily="49" charset="-122"/>
              </a:rPr>
              <a:t>2</a:t>
            </a:r>
            <a:r>
              <a:rPr kumimoji="1" lang="zh-CN" altLang="en-US" sz="2000" dirty="0">
                <a:latin typeface="微软雅黑" pitchFamily="34" charset="-122"/>
                <a:ea typeface="微软雅黑" pitchFamily="34" charset="-122"/>
                <a:cs typeface="经典粗黑简" pitchFamily="49" charset="-122"/>
              </a:rPr>
              <a:t>、图的基本术语</a:t>
            </a:r>
          </a:p>
        </p:txBody>
      </p:sp>
      <p:sp>
        <p:nvSpPr>
          <p:cNvPr id="3" name="矩形 2"/>
          <p:cNvSpPr/>
          <p:nvPr/>
        </p:nvSpPr>
        <p:spPr>
          <a:xfrm>
            <a:off x="3071664" y="3059668"/>
            <a:ext cx="6462464" cy="707886"/>
          </a:xfrm>
          <a:prstGeom prst="rect">
            <a:avLst/>
          </a:prstGeom>
        </p:spPr>
        <p:txBody>
          <a:bodyPr wrap="square">
            <a:spAutoFit/>
          </a:bodyPr>
          <a:lstStyle/>
          <a:p>
            <a:r>
              <a:rPr kumimoji="1" lang="zh-CN" altLang="en-US" sz="2000" dirty="0">
                <a:solidFill>
                  <a:srgbClr val="FF0000"/>
                </a:solidFill>
                <a:latin typeface="微软雅黑" pitchFamily="34" charset="-122"/>
                <a:ea typeface="微软雅黑" pitchFamily="34" charset="-122"/>
                <a:cs typeface="经典粗黑简" pitchFamily="49" charset="-122"/>
              </a:rPr>
              <a:t>顶点的入度</a:t>
            </a:r>
            <a:r>
              <a:rPr kumimoji="1" lang="zh-CN" altLang="en-US" sz="2000" dirty="0">
                <a:latin typeface="微软雅黑" pitchFamily="34" charset="-122"/>
                <a:ea typeface="微软雅黑" pitchFamily="34" charset="-122"/>
                <a:cs typeface="经典粗黑简" pitchFamily="49" charset="-122"/>
              </a:rPr>
              <a:t>：在有向图中，顶点</a:t>
            </a:r>
            <a:r>
              <a:rPr kumimoji="1" lang="en-US" altLang="zh-CN" sz="2000" dirty="0">
                <a:latin typeface="微软雅黑" pitchFamily="34" charset="-122"/>
                <a:ea typeface="微软雅黑" pitchFamily="34" charset="-122"/>
                <a:cs typeface="经典粗黑简" pitchFamily="49" charset="-122"/>
              </a:rPr>
              <a:t>v</a:t>
            </a:r>
            <a:r>
              <a:rPr kumimoji="1" lang="zh-CN" altLang="en-US" sz="2000" dirty="0">
                <a:latin typeface="微软雅黑" pitchFamily="34" charset="-122"/>
                <a:ea typeface="微软雅黑" pitchFamily="34" charset="-122"/>
                <a:cs typeface="经典粗黑简" pitchFamily="49" charset="-122"/>
              </a:rPr>
              <a:t>的入度是指以该顶点为弧头的弧的数目，记为</a:t>
            </a:r>
            <a:r>
              <a:rPr kumimoji="1" lang="en-US" altLang="zh-CN" sz="2000" dirty="0">
                <a:latin typeface="微软雅黑" pitchFamily="34" charset="-122"/>
                <a:ea typeface="微软雅黑" pitchFamily="34" charset="-122"/>
                <a:cs typeface="经典粗黑简" pitchFamily="49" charset="-122"/>
              </a:rPr>
              <a:t>ID (v)</a:t>
            </a:r>
            <a:r>
              <a:rPr kumimoji="1" lang="zh-CN" altLang="en-US" sz="2000" dirty="0">
                <a:latin typeface="微软雅黑" pitchFamily="34" charset="-122"/>
                <a:ea typeface="微软雅黑" pitchFamily="34" charset="-122"/>
                <a:cs typeface="经典粗黑简" pitchFamily="49" charset="-122"/>
              </a:rPr>
              <a:t>；</a:t>
            </a:r>
          </a:p>
        </p:txBody>
      </p:sp>
      <p:sp>
        <p:nvSpPr>
          <p:cNvPr id="4" name="矩形 3"/>
          <p:cNvSpPr/>
          <p:nvPr/>
        </p:nvSpPr>
        <p:spPr>
          <a:xfrm>
            <a:off x="3071664" y="3779748"/>
            <a:ext cx="6594466" cy="707886"/>
          </a:xfrm>
          <a:prstGeom prst="rect">
            <a:avLst/>
          </a:prstGeom>
        </p:spPr>
        <p:txBody>
          <a:bodyPr wrap="square">
            <a:spAutoFit/>
          </a:bodyPr>
          <a:lstStyle/>
          <a:p>
            <a:r>
              <a:rPr kumimoji="1" lang="zh-CN" altLang="en-US" sz="2000" dirty="0">
                <a:solidFill>
                  <a:srgbClr val="FF0000"/>
                </a:solidFill>
                <a:latin typeface="微软雅黑" pitchFamily="34" charset="-122"/>
                <a:ea typeface="微软雅黑" pitchFamily="34" charset="-122"/>
                <a:cs typeface="经典粗黑简" pitchFamily="49" charset="-122"/>
              </a:rPr>
              <a:t>顶点的出度</a:t>
            </a:r>
            <a:r>
              <a:rPr kumimoji="1" lang="zh-CN" altLang="en-US" sz="2000" dirty="0">
                <a:latin typeface="微软雅黑" pitchFamily="34" charset="-122"/>
                <a:ea typeface="微软雅黑" pitchFamily="34" charset="-122"/>
                <a:cs typeface="经典粗黑简" pitchFamily="49" charset="-122"/>
              </a:rPr>
              <a:t>：在有向图中，顶点</a:t>
            </a:r>
            <a:r>
              <a:rPr kumimoji="1" lang="en-US" altLang="zh-CN" sz="2000" dirty="0">
                <a:latin typeface="微软雅黑" pitchFamily="34" charset="-122"/>
                <a:ea typeface="微软雅黑" pitchFamily="34" charset="-122"/>
                <a:cs typeface="经典粗黑简" pitchFamily="49" charset="-122"/>
              </a:rPr>
              <a:t>v</a:t>
            </a:r>
            <a:r>
              <a:rPr kumimoji="1" lang="zh-CN" altLang="en-US" sz="2000" dirty="0">
                <a:latin typeface="微软雅黑" pitchFamily="34" charset="-122"/>
                <a:ea typeface="微软雅黑" pitchFamily="34" charset="-122"/>
                <a:cs typeface="经典粗黑简" pitchFamily="49" charset="-122"/>
              </a:rPr>
              <a:t>的出度是指以该顶点为弧尾的弧的数目，记为</a:t>
            </a:r>
            <a:r>
              <a:rPr kumimoji="1" lang="en-US" altLang="zh-CN" sz="2000" dirty="0">
                <a:latin typeface="微软雅黑" pitchFamily="34" charset="-122"/>
                <a:ea typeface="微软雅黑" pitchFamily="34" charset="-122"/>
                <a:cs typeface="经典粗黑简" pitchFamily="49" charset="-122"/>
              </a:rPr>
              <a:t>OD (v)</a:t>
            </a:r>
            <a:r>
              <a:rPr kumimoji="1" lang="zh-CN" altLang="en-US" sz="2000" dirty="0">
                <a:latin typeface="微软雅黑" pitchFamily="34" charset="-122"/>
                <a:ea typeface="微软雅黑" pitchFamily="34" charset="-122"/>
                <a:cs typeface="经典粗黑简" pitchFamily="49" charset="-122"/>
              </a:rPr>
              <a:t>。</a:t>
            </a:r>
          </a:p>
        </p:txBody>
      </p:sp>
      <p:sp>
        <p:nvSpPr>
          <p:cNvPr id="59" name="矩形 58"/>
          <p:cNvSpPr/>
          <p:nvPr/>
        </p:nvSpPr>
        <p:spPr>
          <a:xfrm>
            <a:off x="3061533" y="4487634"/>
            <a:ext cx="6594466" cy="400110"/>
          </a:xfrm>
          <a:prstGeom prst="rect">
            <a:avLst/>
          </a:prstGeom>
        </p:spPr>
        <p:txBody>
          <a:bodyPr wrap="square">
            <a:spAutoFit/>
          </a:bodyPr>
          <a:lstStyle/>
          <a:p>
            <a:r>
              <a:rPr kumimoji="1" lang="zh-CN" altLang="en-US" sz="2000" dirty="0">
                <a:latin typeface="微软雅黑" pitchFamily="34" charset="-122"/>
                <a:ea typeface="微软雅黑" pitchFamily="34" charset="-122"/>
                <a:cs typeface="经典粗黑简" pitchFamily="49" charset="-122"/>
              </a:rPr>
              <a:t>在有向图中，</a:t>
            </a:r>
            <a:r>
              <a:rPr kumimoji="1" lang="zh-CN" altLang="en-US" sz="2000" dirty="0">
                <a:solidFill>
                  <a:srgbClr val="FF0000"/>
                </a:solidFill>
                <a:latin typeface="微软雅黑" pitchFamily="34" charset="-122"/>
                <a:ea typeface="微软雅黑" pitchFamily="34" charset="-122"/>
                <a:cs typeface="经典粗黑简" pitchFamily="49" charset="-122"/>
              </a:rPr>
              <a:t>顶点</a:t>
            </a:r>
            <a:r>
              <a:rPr kumimoji="1" lang="en-US" altLang="zh-CN" sz="2000" dirty="0">
                <a:solidFill>
                  <a:srgbClr val="FF0000"/>
                </a:solidFill>
                <a:latin typeface="微软雅黑" pitchFamily="34" charset="-122"/>
                <a:ea typeface="微软雅黑" pitchFamily="34" charset="-122"/>
                <a:cs typeface="经典粗黑简" pitchFamily="49" charset="-122"/>
              </a:rPr>
              <a:t>v</a:t>
            </a:r>
            <a:r>
              <a:rPr kumimoji="1" lang="zh-CN" altLang="en-US" sz="2000" dirty="0">
                <a:solidFill>
                  <a:srgbClr val="FF0000"/>
                </a:solidFill>
                <a:latin typeface="微软雅黑" pitchFamily="34" charset="-122"/>
                <a:ea typeface="微软雅黑" pitchFamily="34" charset="-122"/>
                <a:cs typeface="经典粗黑简" pitchFamily="49" charset="-122"/>
              </a:rPr>
              <a:t>的度</a:t>
            </a:r>
            <a:r>
              <a:rPr kumimoji="1" lang="zh-CN" altLang="en-US" sz="2000" dirty="0">
                <a:latin typeface="微软雅黑" pitchFamily="34" charset="-122"/>
                <a:ea typeface="微软雅黑" pitchFamily="34" charset="-122"/>
                <a:cs typeface="经典粗黑简" pitchFamily="49" charset="-122"/>
              </a:rPr>
              <a:t>是指该顶点的入度与出度之和。</a:t>
            </a:r>
          </a:p>
        </p:txBody>
      </p:sp>
      <p:sp>
        <p:nvSpPr>
          <p:cNvPr id="2" name="矩形 1"/>
          <p:cNvSpPr/>
          <p:nvPr/>
        </p:nvSpPr>
        <p:spPr>
          <a:xfrm>
            <a:off x="4079776" y="5003884"/>
            <a:ext cx="2616422" cy="369332"/>
          </a:xfrm>
          <a:prstGeom prst="rect">
            <a:avLst/>
          </a:prstGeom>
        </p:spPr>
        <p:txBody>
          <a:bodyPr wrap="none">
            <a:spAutoFit/>
          </a:bodyPr>
          <a:lstStyle/>
          <a:p>
            <a:r>
              <a:rPr kumimoji="1" lang="en-US" altLang="zh-CN" dirty="0">
                <a:latin typeface="微软雅黑" pitchFamily="34" charset="-122"/>
                <a:ea typeface="微软雅黑" pitchFamily="34" charset="-122"/>
                <a:cs typeface="经典粗黑简" pitchFamily="49" charset="-122"/>
              </a:rPr>
              <a:t>TD (v)= ID (v)+ OD (v)</a:t>
            </a:r>
            <a:endParaRPr lang="zh-CN" altLang="en-US" dirty="0"/>
          </a:p>
        </p:txBody>
      </p:sp>
      <p:grpSp>
        <p:nvGrpSpPr>
          <p:cNvPr id="11" name="Group 15"/>
          <p:cNvGrpSpPr>
            <a:grpSpLocks/>
          </p:cNvGrpSpPr>
          <p:nvPr/>
        </p:nvGrpSpPr>
        <p:grpSpPr bwMode="auto">
          <a:xfrm>
            <a:off x="7896201" y="1100293"/>
            <a:ext cx="2016125" cy="1944687"/>
            <a:chOff x="1338" y="1434"/>
            <a:chExt cx="1270" cy="1225"/>
          </a:xfrm>
        </p:grpSpPr>
        <p:sp>
          <p:nvSpPr>
            <p:cNvPr id="12" name="Oval 16"/>
            <p:cNvSpPr>
              <a:spLocks noChangeArrowheads="1"/>
            </p:cNvSpPr>
            <p:nvPr/>
          </p:nvSpPr>
          <p:spPr bwMode="auto">
            <a:xfrm>
              <a:off x="1338" y="1434"/>
              <a:ext cx="317" cy="317"/>
            </a:xfrm>
            <a:prstGeom prst="ellipse">
              <a:avLst/>
            </a:prstGeom>
            <a:solidFill>
              <a:schemeClr val="bg1"/>
            </a:solidFill>
            <a:ln w="28575" cap="sq">
              <a:solidFill>
                <a:srgbClr val="0033CC"/>
              </a:solidFill>
              <a:miter lim="800000"/>
              <a:headEnd type="none" w="sm" len="sm"/>
              <a:tailEnd type="none" w="sm" len="sm"/>
            </a:ln>
          </p:spPr>
          <p:txBody>
            <a:bodyPr wrap="none" tIns="0" anchorCtr="1"/>
            <a:lstStyle/>
            <a:p>
              <a:r>
                <a:rPr lang="en-US" altLang="zh-CN" sz="2400"/>
                <a:t>v</a:t>
              </a:r>
              <a:r>
                <a:rPr lang="en-US" altLang="zh-CN" sz="2400" baseline="-25000"/>
                <a:t>1</a:t>
              </a:r>
            </a:p>
          </p:txBody>
        </p:sp>
        <p:sp>
          <p:nvSpPr>
            <p:cNvPr id="13" name="Oval 17"/>
            <p:cNvSpPr>
              <a:spLocks noChangeArrowheads="1"/>
            </p:cNvSpPr>
            <p:nvPr/>
          </p:nvSpPr>
          <p:spPr bwMode="auto">
            <a:xfrm>
              <a:off x="2291" y="1434"/>
              <a:ext cx="317" cy="317"/>
            </a:xfrm>
            <a:prstGeom prst="ellipse">
              <a:avLst/>
            </a:prstGeom>
            <a:solidFill>
              <a:schemeClr val="bg1"/>
            </a:solidFill>
            <a:ln w="28575" cap="sq">
              <a:solidFill>
                <a:srgbClr val="0033CC"/>
              </a:solidFill>
              <a:miter lim="800000"/>
              <a:headEnd type="none" w="sm" len="sm"/>
              <a:tailEnd type="none" w="sm" len="sm"/>
            </a:ln>
          </p:spPr>
          <p:txBody>
            <a:bodyPr wrap="none" tIns="0" anchorCtr="1"/>
            <a:lstStyle/>
            <a:p>
              <a:r>
                <a:rPr lang="en-US" altLang="zh-CN" sz="2400"/>
                <a:t>v</a:t>
              </a:r>
              <a:r>
                <a:rPr lang="en-US" altLang="zh-CN" sz="2400" baseline="-25000"/>
                <a:t>2</a:t>
              </a:r>
            </a:p>
          </p:txBody>
        </p:sp>
        <p:sp>
          <p:nvSpPr>
            <p:cNvPr id="14" name="Oval 18"/>
            <p:cNvSpPr>
              <a:spLocks noChangeArrowheads="1"/>
            </p:cNvSpPr>
            <p:nvPr/>
          </p:nvSpPr>
          <p:spPr bwMode="auto">
            <a:xfrm>
              <a:off x="1338" y="2342"/>
              <a:ext cx="317" cy="317"/>
            </a:xfrm>
            <a:prstGeom prst="ellipse">
              <a:avLst/>
            </a:prstGeom>
            <a:solidFill>
              <a:schemeClr val="bg1"/>
            </a:solidFill>
            <a:ln w="28575" cap="sq">
              <a:solidFill>
                <a:srgbClr val="0033CC"/>
              </a:solidFill>
              <a:miter lim="800000"/>
              <a:headEnd type="none" w="sm" len="sm"/>
              <a:tailEnd type="none" w="sm" len="sm"/>
            </a:ln>
          </p:spPr>
          <p:txBody>
            <a:bodyPr wrap="none" tIns="0" anchorCtr="1"/>
            <a:lstStyle/>
            <a:p>
              <a:r>
                <a:rPr lang="en-US" altLang="zh-CN" sz="2400"/>
                <a:t>v</a:t>
              </a:r>
              <a:r>
                <a:rPr lang="en-US" altLang="zh-CN" sz="2400" baseline="-25000"/>
                <a:t>3</a:t>
              </a:r>
            </a:p>
          </p:txBody>
        </p:sp>
        <p:sp>
          <p:nvSpPr>
            <p:cNvPr id="15" name="Oval 19"/>
            <p:cNvSpPr>
              <a:spLocks noChangeArrowheads="1"/>
            </p:cNvSpPr>
            <p:nvPr/>
          </p:nvSpPr>
          <p:spPr bwMode="auto">
            <a:xfrm>
              <a:off x="2290" y="2341"/>
              <a:ext cx="317" cy="317"/>
            </a:xfrm>
            <a:prstGeom prst="ellipse">
              <a:avLst/>
            </a:prstGeom>
            <a:solidFill>
              <a:schemeClr val="bg1"/>
            </a:solidFill>
            <a:ln w="28575" cap="sq">
              <a:solidFill>
                <a:srgbClr val="0033CC"/>
              </a:solidFill>
              <a:miter lim="800000"/>
              <a:headEnd type="none" w="sm" len="sm"/>
              <a:tailEnd type="none" w="sm" len="sm"/>
            </a:ln>
          </p:spPr>
          <p:txBody>
            <a:bodyPr wrap="none" tIns="0" anchorCtr="1"/>
            <a:lstStyle/>
            <a:p>
              <a:r>
                <a:rPr lang="en-US" altLang="zh-CN" sz="2400"/>
                <a:t>v</a:t>
              </a:r>
              <a:r>
                <a:rPr lang="en-US" altLang="zh-CN" sz="2400" baseline="-25000"/>
                <a:t>4</a:t>
              </a:r>
            </a:p>
          </p:txBody>
        </p:sp>
        <p:sp>
          <p:nvSpPr>
            <p:cNvPr id="16" name="Line 20"/>
            <p:cNvSpPr>
              <a:spLocks noChangeShapeType="1"/>
            </p:cNvSpPr>
            <p:nvPr/>
          </p:nvSpPr>
          <p:spPr bwMode="auto">
            <a:xfrm>
              <a:off x="1655" y="1616"/>
              <a:ext cx="635" cy="0"/>
            </a:xfrm>
            <a:prstGeom prst="line">
              <a:avLst/>
            </a:prstGeom>
            <a:noFill/>
            <a:ln w="28575" cap="sq">
              <a:solidFill>
                <a:srgbClr val="0033CC"/>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7" name="Line 21"/>
            <p:cNvSpPr>
              <a:spLocks noChangeShapeType="1"/>
            </p:cNvSpPr>
            <p:nvPr/>
          </p:nvSpPr>
          <p:spPr bwMode="auto">
            <a:xfrm>
              <a:off x="1655" y="2523"/>
              <a:ext cx="635" cy="0"/>
            </a:xfrm>
            <a:prstGeom prst="line">
              <a:avLst/>
            </a:prstGeom>
            <a:noFill/>
            <a:ln w="28575" cap="sq">
              <a:solidFill>
                <a:srgbClr val="0033CC"/>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8" name="Line 22"/>
            <p:cNvSpPr>
              <a:spLocks noChangeShapeType="1"/>
            </p:cNvSpPr>
            <p:nvPr/>
          </p:nvSpPr>
          <p:spPr bwMode="auto">
            <a:xfrm>
              <a:off x="1474" y="1752"/>
              <a:ext cx="0" cy="589"/>
            </a:xfrm>
            <a:prstGeom prst="line">
              <a:avLst/>
            </a:prstGeom>
            <a:noFill/>
            <a:ln w="28575" cap="sq">
              <a:solidFill>
                <a:srgbClr val="0033CC"/>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9" name="Line 23"/>
            <p:cNvSpPr>
              <a:spLocks noChangeShapeType="1"/>
            </p:cNvSpPr>
            <p:nvPr/>
          </p:nvSpPr>
          <p:spPr bwMode="auto">
            <a:xfrm flipH="1" flipV="1">
              <a:off x="1610" y="1706"/>
              <a:ext cx="771" cy="635"/>
            </a:xfrm>
            <a:prstGeom prst="line">
              <a:avLst/>
            </a:prstGeom>
            <a:noFill/>
            <a:ln w="28575" cap="sq">
              <a:solidFill>
                <a:srgbClr val="0033CC"/>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sp>
        <p:nvSpPr>
          <p:cNvPr id="5" name="矩形 4">
            <a:extLst>
              <a:ext uri="{FF2B5EF4-FFF2-40B4-BE49-F238E27FC236}">
                <a16:creationId xmlns:a16="http://schemas.microsoft.com/office/drawing/2014/main" id="{5664A929-8A23-9AB2-6E97-96B739B8092F}"/>
              </a:ext>
            </a:extLst>
          </p:cNvPr>
          <p:cNvSpPr/>
          <p:nvPr/>
        </p:nvSpPr>
        <p:spPr>
          <a:xfrm>
            <a:off x="4421120" y="339686"/>
            <a:ext cx="3637792"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8.1 </a:t>
            </a:r>
            <a:r>
              <a:rPr lang="zh-CN" altLang="en-US" sz="3000" b="1" dirty="0">
                <a:latin typeface="黑体" pitchFamily="49" charset="-122"/>
                <a:ea typeface="黑体" pitchFamily="49" charset="-122"/>
                <a:cs typeface="经典粗黑简" pitchFamily="49" charset="-122"/>
              </a:rPr>
              <a:t>图的基本概念</a:t>
            </a:r>
          </a:p>
        </p:txBody>
      </p:sp>
      <p:sp>
        <p:nvSpPr>
          <p:cNvPr id="6" name="Rectangle 2">
            <a:extLst>
              <a:ext uri="{FF2B5EF4-FFF2-40B4-BE49-F238E27FC236}">
                <a16:creationId xmlns:a16="http://schemas.microsoft.com/office/drawing/2014/main" id="{1E825B97-C991-177E-4087-713BC13DC936}"/>
              </a:ext>
            </a:extLst>
          </p:cNvPr>
          <p:cNvSpPr txBox="1">
            <a:spLocks noChangeArrowheads="1"/>
          </p:cNvSpPr>
          <p:nvPr/>
        </p:nvSpPr>
        <p:spPr>
          <a:xfrm>
            <a:off x="407368" y="1167247"/>
            <a:ext cx="3528392"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8.1.2 </a:t>
            </a:r>
            <a:r>
              <a:rPr lang="zh-CN" altLang="en-US" dirty="0"/>
              <a:t>图的基本术语</a:t>
            </a:r>
          </a:p>
        </p:txBody>
      </p:sp>
      <p:cxnSp>
        <p:nvCxnSpPr>
          <p:cNvPr id="7" name="直接连接符 6">
            <a:extLst>
              <a:ext uri="{FF2B5EF4-FFF2-40B4-BE49-F238E27FC236}">
                <a16:creationId xmlns:a16="http://schemas.microsoft.com/office/drawing/2014/main" id="{F357553A-574C-E196-93A8-2D35C1F56586}"/>
              </a:ext>
            </a:extLst>
          </p:cNvPr>
          <p:cNvCxnSpPr>
            <a:cxnSpLocks/>
          </p:cNvCxnSpPr>
          <p:nvPr/>
        </p:nvCxnSpPr>
        <p:spPr>
          <a:xfrm>
            <a:off x="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081616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9" grpId="0"/>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矩形 28"/>
          <p:cNvSpPr/>
          <p:nvPr/>
        </p:nvSpPr>
        <p:spPr>
          <a:xfrm>
            <a:off x="3079790" y="2390668"/>
            <a:ext cx="1723549" cy="400110"/>
          </a:xfrm>
          <a:prstGeom prst="rect">
            <a:avLst/>
          </a:prstGeom>
        </p:spPr>
        <p:txBody>
          <a:bodyPr wrap="none">
            <a:spAutoFit/>
          </a:bodyPr>
          <a:lstStyle/>
          <a:p>
            <a:r>
              <a:rPr kumimoji="1" lang="en-US" altLang="zh-CN" sz="2000" dirty="0">
                <a:latin typeface="微软雅黑" pitchFamily="34" charset="-122"/>
                <a:ea typeface="微软雅黑" pitchFamily="34" charset="-122"/>
                <a:cs typeface="经典粗黑简" pitchFamily="49" charset="-122"/>
              </a:rPr>
              <a:t>⑵</a:t>
            </a:r>
            <a:r>
              <a:rPr kumimoji="1" lang="zh-CN" altLang="en-US" sz="2000" dirty="0">
                <a:latin typeface="微软雅黑" pitchFamily="34" charset="-122"/>
                <a:ea typeface="微软雅黑" pitchFamily="34" charset="-122"/>
                <a:cs typeface="经典粗黑简" pitchFamily="49" charset="-122"/>
              </a:rPr>
              <a:t>、顶点的度</a:t>
            </a:r>
          </a:p>
        </p:txBody>
      </p:sp>
      <p:sp>
        <p:nvSpPr>
          <p:cNvPr id="33" name="矩形 32"/>
          <p:cNvSpPr/>
          <p:nvPr/>
        </p:nvSpPr>
        <p:spPr>
          <a:xfrm>
            <a:off x="2711624" y="1844824"/>
            <a:ext cx="2376264" cy="400110"/>
          </a:xfrm>
          <a:prstGeom prst="rect">
            <a:avLst/>
          </a:prstGeom>
        </p:spPr>
        <p:txBody>
          <a:bodyPr wrap="square">
            <a:spAutoFit/>
          </a:bodyPr>
          <a:lstStyle/>
          <a:p>
            <a:r>
              <a:rPr kumimoji="1" lang="en-US" altLang="zh-CN" sz="2000" dirty="0">
                <a:latin typeface="微软雅黑" pitchFamily="34" charset="-122"/>
                <a:ea typeface="微软雅黑" pitchFamily="34" charset="-122"/>
                <a:cs typeface="经典粗黑简" pitchFamily="49" charset="-122"/>
              </a:rPr>
              <a:t>2</a:t>
            </a:r>
            <a:r>
              <a:rPr kumimoji="1" lang="zh-CN" altLang="en-US" sz="2000" dirty="0">
                <a:latin typeface="微软雅黑" pitchFamily="34" charset="-122"/>
                <a:ea typeface="微软雅黑" pitchFamily="34" charset="-122"/>
                <a:cs typeface="经典粗黑简" pitchFamily="49" charset="-122"/>
              </a:rPr>
              <a:t>、图的基本术语</a:t>
            </a:r>
          </a:p>
        </p:txBody>
      </p:sp>
      <p:sp>
        <p:nvSpPr>
          <p:cNvPr id="3" name="矩形 2"/>
          <p:cNvSpPr/>
          <p:nvPr/>
        </p:nvSpPr>
        <p:spPr>
          <a:xfrm>
            <a:off x="3071664" y="2852936"/>
            <a:ext cx="6462464" cy="707886"/>
          </a:xfrm>
          <a:prstGeom prst="rect">
            <a:avLst/>
          </a:prstGeom>
        </p:spPr>
        <p:txBody>
          <a:bodyPr wrap="square">
            <a:spAutoFit/>
          </a:bodyPr>
          <a:lstStyle/>
          <a:p>
            <a:r>
              <a:rPr kumimoji="1" lang="zh-CN" altLang="en-US" sz="2000" dirty="0">
                <a:solidFill>
                  <a:srgbClr val="FF0000"/>
                </a:solidFill>
                <a:latin typeface="微软雅黑" pitchFamily="34" charset="-122"/>
                <a:ea typeface="微软雅黑" pitchFamily="34" charset="-122"/>
                <a:cs typeface="经典粗黑简" pitchFamily="49" charset="-122"/>
              </a:rPr>
              <a:t>顶点的入度</a:t>
            </a:r>
            <a:r>
              <a:rPr kumimoji="1" lang="zh-CN" altLang="en-US" sz="2000" dirty="0">
                <a:latin typeface="微软雅黑" pitchFamily="34" charset="-122"/>
                <a:ea typeface="微软雅黑" pitchFamily="34" charset="-122"/>
                <a:cs typeface="经典粗黑简" pitchFamily="49" charset="-122"/>
              </a:rPr>
              <a:t>：在有向图中，顶点</a:t>
            </a:r>
            <a:r>
              <a:rPr kumimoji="1" lang="en-US" altLang="zh-CN" sz="2000" dirty="0">
                <a:latin typeface="微软雅黑" pitchFamily="34" charset="-122"/>
                <a:ea typeface="微软雅黑" pitchFamily="34" charset="-122"/>
                <a:cs typeface="经典粗黑简" pitchFamily="49" charset="-122"/>
              </a:rPr>
              <a:t>v</a:t>
            </a:r>
            <a:r>
              <a:rPr kumimoji="1" lang="zh-CN" altLang="en-US" sz="2000" dirty="0">
                <a:latin typeface="微软雅黑" pitchFamily="34" charset="-122"/>
                <a:ea typeface="微软雅黑" pitchFamily="34" charset="-122"/>
                <a:cs typeface="经典粗黑简" pitchFamily="49" charset="-122"/>
              </a:rPr>
              <a:t>的入度是指以该顶点为弧头的弧的数目，记为</a:t>
            </a:r>
            <a:r>
              <a:rPr kumimoji="1" lang="en-US" altLang="zh-CN" sz="2000" dirty="0">
                <a:latin typeface="微软雅黑" pitchFamily="34" charset="-122"/>
                <a:ea typeface="微软雅黑" pitchFamily="34" charset="-122"/>
                <a:cs typeface="经典粗黑简" pitchFamily="49" charset="-122"/>
              </a:rPr>
              <a:t>ID (v)</a:t>
            </a:r>
            <a:r>
              <a:rPr kumimoji="1" lang="zh-CN" altLang="en-US" sz="2000" dirty="0">
                <a:latin typeface="微软雅黑" pitchFamily="34" charset="-122"/>
                <a:ea typeface="微软雅黑" pitchFamily="34" charset="-122"/>
                <a:cs typeface="经典粗黑简" pitchFamily="49" charset="-122"/>
              </a:rPr>
              <a:t>；</a:t>
            </a:r>
          </a:p>
        </p:txBody>
      </p:sp>
      <p:sp>
        <p:nvSpPr>
          <p:cNvPr id="4" name="矩形 3"/>
          <p:cNvSpPr/>
          <p:nvPr/>
        </p:nvSpPr>
        <p:spPr>
          <a:xfrm>
            <a:off x="3071664" y="3573016"/>
            <a:ext cx="6594466" cy="707886"/>
          </a:xfrm>
          <a:prstGeom prst="rect">
            <a:avLst/>
          </a:prstGeom>
        </p:spPr>
        <p:txBody>
          <a:bodyPr wrap="square">
            <a:spAutoFit/>
          </a:bodyPr>
          <a:lstStyle/>
          <a:p>
            <a:r>
              <a:rPr kumimoji="1" lang="zh-CN" altLang="en-US" sz="2000" dirty="0">
                <a:solidFill>
                  <a:srgbClr val="FF0000"/>
                </a:solidFill>
                <a:latin typeface="微软雅黑" pitchFamily="34" charset="-122"/>
                <a:ea typeface="微软雅黑" pitchFamily="34" charset="-122"/>
                <a:cs typeface="经典粗黑简" pitchFamily="49" charset="-122"/>
              </a:rPr>
              <a:t>顶点的出度</a:t>
            </a:r>
            <a:r>
              <a:rPr kumimoji="1" lang="zh-CN" altLang="en-US" sz="2000" dirty="0">
                <a:latin typeface="微软雅黑" pitchFamily="34" charset="-122"/>
                <a:ea typeface="微软雅黑" pitchFamily="34" charset="-122"/>
                <a:cs typeface="经典粗黑简" pitchFamily="49" charset="-122"/>
              </a:rPr>
              <a:t>：在有向图中，顶点</a:t>
            </a:r>
            <a:r>
              <a:rPr kumimoji="1" lang="en-US" altLang="zh-CN" sz="2000" dirty="0">
                <a:latin typeface="微软雅黑" pitchFamily="34" charset="-122"/>
                <a:ea typeface="微软雅黑" pitchFamily="34" charset="-122"/>
                <a:cs typeface="经典粗黑简" pitchFamily="49" charset="-122"/>
              </a:rPr>
              <a:t>v</a:t>
            </a:r>
            <a:r>
              <a:rPr kumimoji="1" lang="zh-CN" altLang="en-US" sz="2000" dirty="0">
                <a:latin typeface="微软雅黑" pitchFamily="34" charset="-122"/>
                <a:ea typeface="微软雅黑" pitchFamily="34" charset="-122"/>
                <a:cs typeface="经典粗黑简" pitchFamily="49" charset="-122"/>
              </a:rPr>
              <a:t>的出度是指以该顶点为弧尾的弧的数目，记为</a:t>
            </a:r>
            <a:r>
              <a:rPr kumimoji="1" lang="en-US" altLang="zh-CN" sz="2000" dirty="0">
                <a:latin typeface="微软雅黑" pitchFamily="34" charset="-122"/>
                <a:ea typeface="微软雅黑" pitchFamily="34" charset="-122"/>
                <a:cs typeface="经典粗黑简" pitchFamily="49" charset="-122"/>
              </a:rPr>
              <a:t>OD (v)</a:t>
            </a:r>
            <a:r>
              <a:rPr kumimoji="1" lang="zh-CN" altLang="en-US" sz="2000" dirty="0">
                <a:latin typeface="微软雅黑" pitchFamily="34" charset="-122"/>
                <a:ea typeface="微软雅黑" pitchFamily="34" charset="-122"/>
                <a:cs typeface="经典粗黑简" pitchFamily="49" charset="-122"/>
              </a:rPr>
              <a:t>。</a:t>
            </a:r>
          </a:p>
        </p:txBody>
      </p:sp>
      <p:sp>
        <p:nvSpPr>
          <p:cNvPr id="6" name="矩形 5"/>
          <p:cNvSpPr/>
          <p:nvPr/>
        </p:nvSpPr>
        <p:spPr>
          <a:xfrm>
            <a:off x="3071664" y="4293096"/>
            <a:ext cx="6636204" cy="707886"/>
          </a:xfrm>
          <a:prstGeom prst="rect">
            <a:avLst/>
          </a:prstGeom>
        </p:spPr>
        <p:txBody>
          <a:bodyPr wrap="square">
            <a:spAutoFit/>
          </a:bodyPr>
          <a:lstStyle/>
          <a:p>
            <a:r>
              <a:rPr kumimoji="1" lang="zh-CN" altLang="en-US" sz="2000" dirty="0">
                <a:latin typeface="微软雅黑" pitchFamily="34" charset="-122"/>
                <a:ea typeface="微软雅黑" pitchFamily="34" charset="-122"/>
                <a:cs typeface="经典粗黑简" pitchFamily="49" charset="-122"/>
              </a:rPr>
              <a:t>在具有</a:t>
            </a:r>
            <a:r>
              <a:rPr kumimoji="1" lang="en-US" altLang="zh-CN" sz="2000" dirty="0">
                <a:latin typeface="微软雅黑" pitchFamily="34" charset="-122"/>
                <a:ea typeface="微软雅黑" pitchFamily="34" charset="-122"/>
                <a:cs typeface="经典粗黑简" pitchFamily="49" charset="-122"/>
              </a:rPr>
              <a:t>n</a:t>
            </a:r>
            <a:r>
              <a:rPr kumimoji="1" lang="zh-CN" altLang="en-US" sz="2000" dirty="0">
                <a:latin typeface="微软雅黑" pitchFamily="34" charset="-122"/>
                <a:ea typeface="微软雅黑" pitchFamily="34" charset="-122"/>
                <a:cs typeface="经典粗黑简" pitchFamily="49" charset="-122"/>
              </a:rPr>
              <a:t>个顶点、</a:t>
            </a:r>
            <a:r>
              <a:rPr kumimoji="1" lang="en-US" altLang="zh-CN" sz="2000" dirty="0">
                <a:latin typeface="微软雅黑" pitchFamily="34" charset="-122"/>
                <a:ea typeface="微软雅黑" pitchFamily="34" charset="-122"/>
                <a:cs typeface="经典粗黑简" pitchFamily="49" charset="-122"/>
              </a:rPr>
              <a:t>e</a:t>
            </a:r>
            <a:r>
              <a:rPr kumimoji="1" lang="zh-CN" altLang="en-US" sz="2000" dirty="0">
                <a:latin typeface="微软雅黑" pitchFamily="34" charset="-122"/>
                <a:ea typeface="微软雅黑" pitchFamily="34" charset="-122"/>
                <a:cs typeface="经典粗黑简" pitchFamily="49" charset="-122"/>
              </a:rPr>
              <a:t>条边的有向图</a:t>
            </a:r>
            <a:r>
              <a:rPr kumimoji="1" lang="en-US" altLang="zh-CN" sz="2000" dirty="0">
                <a:latin typeface="微软雅黑" pitchFamily="34" charset="-122"/>
                <a:ea typeface="微软雅黑" pitchFamily="34" charset="-122"/>
                <a:cs typeface="经典粗黑简" pitchFamily="49" charset="-122"/>
              </a:rPr>
              <a:t>G</a:t>
            </a:r>
            <a:r>
              <a:rPr kumimoji="1" lang="zh-CN" altLang="en-US" sz="2000" dirty="0">
                <a:latin typeface="微软雅黑" pitchFamily="34" charset="-122"/>
                <a:ea typeface="微软雅黑" pitchFamily="34" charset="-122"/>
                <a:cs typeface="经典粗黑简" pitchFamily="49" charset="-122"/>
              </a:rPr>
              <a:t>中，各顶点的入度之和与各顶点的出度之和的关系？与边数之和的关系？</a:t>
            </a:r>
          </a:p>
        </p:txBody>
      </p:sp>
      <p:grpSp>
        <p:nvGrpSpPr>
          <p:cNvPr id="34" name="组合 33"/>
          <p:cNvGrpSpPr>
            <a:grpSpLocks/>
          </p:cNvGrpSpPr>
          <p:nvPr/>
        </p:nvGrpSpPr>
        <p:grpSpPr bwMode="auto">
          <a:xfrm>
            <a:off x="3551907" y="4869161"/>
            <a:ext cx="4697412" cy="1436687"/>
            <a:chOff x="487363" y="4097338"/>
            <a:chExt cx="4697412" cy="1436687"/>
          </a:xfrm>
        </p:grpSpPr>
        <p:sp>
          <p:nvSpPr>
            <p:cNvPr id="35" name="AutoShape 45"/>
            <p:cNvSpPr>
              <a:spLocks noChangeAspect="1" noChangeArrowheads="1" noTextEdit="1"/>
            </p:cNvSpPr>
            <p:nvPr/>
          </p:nvSpPr>
          <p:spPr bwMode="auto">
            <a:xfrm>
              <a:off x="487363" y="4097338"/>
              <a:ext cx="4697412" cy="1436687"/>
            </a:xfrm>
            <a:prstGeom prst="rect">
              <a:avLst/>
            </a:prstGeom>
            <a:noFill/>
            <a:ln>
              <a:noFill/>
            </a:ln>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6" name="Rectangle 47"/>
            <p:cNvSpPr>
              <a:spLocks noChangeArrowheads="1"/>
            </p:cNvSpPr>
            <p:nvPr/>
          </p:nvSpPr>
          <p:spPr bwMode="auto">
            <a:xfrm>
              <a:off x="4906025" y="4559300"/>
              <a:ext cx="193964" cy="523220"/>
            </a:xfrm>
            <a:prstGeom prst="rect">
              <a:avLst/>
            </a:prstGeom>
            <a:noFill/>
            <a:ln>
              <a:noFill/>
            </a:ln>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1600" b="1">
                  <a:solidFill>
                    <a:schemeClr val="tx1"/>
                  </a:solidFill>
                  <a:latin typeface="Tahoma" panose="020B0604030504040204" pitchFamily="34" charset="0"/>
                  <a:ea typeface="宋体" panose="02010600030101010101" pitchFamily="2" charset="-122"/>
                </a:defRPr>
              </a:lvl1pPr>
              <a:lvl2pPr marL="742950" indent="-285750" eaLnBrk="0" hangingPunct="0">
                <a:defRPr sz="1600" b="1">
                  <a:solidFill>
                    <a:schemeClr val="tx1"/>
                  </a:solidFill>
                  <a:latin typeface="Tahoma" panose="020B0604030504040204" pitchFamily="34" charset="0"/>
                  <a:ea typeface="宋体" panose="02010600030101010101" pitchFamily="2" charset="-122"/>
                </a:defRPr>
              </a:lvl2pPr>
              <a:lvl3pPr marL="1143000" indent="-228600" eaLnBrk="0" hangingPunct="0">
                <a:defRPr sz="1600" b="1">
                  <a:solidFill>
                    <a:schemeClr val="tx1"/>
                  </a:solidFill>
                  <a:latin typeface="Tahoma" panose="020B0604030504040204" pitchFamily="34" charset="0"/>
                  <a:ea typeface="宋体" panose="02010600030101010101" pitchFamily="2" charset="-122"/>
                </a:defRPr>
              </a:lvl3pPr>
              <a:lvl4pPr marL="1600200" indent="-228600" eaLnBrk="0" hangingPunct="0">
                <a:defRPr sz="1600" b="1">
                  <a:solidFill>
                    <a:schemeClr val="tx1"/>
                  </a:solidFill>
                  <a:latin typeface="Tahoma" panose="020B0604030504040204" pitchFamily="34" charset="0"/>
                  <a:ea typeface="宋体" panose="02010600030101010101" pitchFamily="2" charset="-122"/>
                </a:defRPr>
              </a:lvl4pPr>
              <a:lvl5pPr marL="2057400" indent="-228600" eaLnBrk="0" hangingPunct="0">
                <a:defRPr sz="16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9pPr>
            </a:lstStyle>
            <a:p>
              <a:pPr algn="ctr" eaLnBrk="1" hangingPunct="1"/>
              <a:r>
                <a:rPr lang="en-US" altLang="zh-CN" sz="3400" i="1">
                  <a:solidFill>
                    <a:srgbClr val="000000"/>
                  </a:solidFill>
                  <a:latin typeface="Times New Roman" panose="02020603050405020304" pitchFamily="18" charset="0"/>
                  <a:ea typeface="华文行楷" panose="02010800040101010101" pitchFamily="2" charset="-122"/>
                </a:rPr>
                <a:t>e</a:t>
              </a:r>
              <a:endParaRPr lang="en-US" altLang="zh-CN" sz="1800">
                <a:solidFill>
                  <a:schemeClr val="accent2"/>
                </a:solidFill>
                <a:latin typeface="Arial" panose="020B0604020202020204" pitchFamily="34" charset="0"/>
                <a:ea typeface="华文行楷" panose="02010800040101010101" pitchFamily="2" charset="-122"/>
              </a:endParaRPr>
            </a:p>
          </p:txBody>
        </p:sp>
        <p:sp>
          <p:nvSpPr>
            <p:cNvPr id="37" name="Rectangle 48"/>
            <p:cNvSpPr>
              <a:spLocks noChangeArrowheads="1"/>
            </p:cNvSpPr>
            <p:nvPr/>
          </p:nvSpPr>
          <p:spPr bwMode="auto">
            <a:xfrm>
              <a:off x="4007500" y="4559300"/>
              <a:ext cx="193964" cy="523220"/>
            </a:xfrm>
            <a:prstGeom prst="rect">
              <a:avLst/>
            </a:prstGeom>
            <a:noFill/>
            <a:ln>
              <a:noFill/>
            </a:ln>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1600" b="1">
                  <a:solidFill>
                    <a:schemeClr val="tx1"/>
                  </a:solidFill>
                  <a:latin typeface="Tahoma" panose="020B0604030504040204" pitchFamily="34" charset="0"/>
                  <a:ea typeface="宋体" panose="02010600030101010101" pitchFamily="2" charset="-122"/>
                </a:defRPr>
              </a:lvl1pPr>
              <a:lvl2pPr marL="742950" indent="-285750" eaLnBrk="0" hangingPunct="0">
                <a:defRPr sz="1600" b="1">
                  <a:solidFill>
                    <a:schemeClr val="tx1"/>
                  </a:solidFill>
                  <a:latin typeface="Tahoma" panose="020B0604030504040204" pitchFamily="34" charset="0"/>
                  <a:ea typeface="宋体" panose="02010600030101010101" pitchFamily="2" charset="-122"/>
                </a:defRPr>
              </a:lvl2pPr>
              <a:lvl3pPr marL="1143000" indent="-228600" eaLnBrk="0" hangingPunct="0">
                <a:defRPr sz="1600" b="1">
                  <a:solidFill>
                    <a:schemeClr val="tx1"/>
                  </a:solidFill>
                  <a:latin typeface="Tahoma" panose="020B0604030504040204" pitchFamily="34" charset="0"/>
                  <a:ea typeface="宋体" panose="02010600030101010101" pitchFamily="2" charset="-122"/>
                </a:defRPr>
              </a:lvl3pPr>
              <a:lvl4pPr marL="1600200" indent="-228600" eaLnBrk="0" hangingPunct="0">
                <a:defRPr sz="1600" b="1">
                  <a:solidFill>
                    <a:schemeClr val="tx1"/>
                  </a:solidFill>
                  <a:latin typeface="Tahoma" panose="020B0604030504040204" pitchFamily="34" charset="0"/>
                  <a:ea typeface="宋体" panose="02010600030101010101" pitchFamily="2" charset="-122"/>
                </a:defRPr>
              </a:lvl4pPr>
              <a:lvl5pPr marL="2057400" indent="-228600" eaLnBrk="0" hangingPunct="0">
                <a:defRPr sz="16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9pPr>
            </a:lstStyle>
            <a:p>
              <a:pPr algn="ctr" eaLnBrk="1" hangingPunct="1"/>
              <a:r>
                <a:rPr lang="en-US" altLang="zh-CN" sz="3400" i="1">
                  <a:solidFill>
                    <a:srgbClr val="000000"/>
                  </a:solidFill>
                  <a:latin typeface="Times New Roman" panose="02020603050405020304" pitchFamily="18" charset="0"/>
                  <a:ea typeface="华文行楷" panose="02010800040101010101" pitchFamily="2" charset="-122"/>
                </a:rPr>
                <a:t>v</a:t>
              </a:r>
              <a:endParaRPr lang="en-US" altLang="zh-CN" sz="1800">
                <a:solidFill>
                  <a:schemeClr val="accent2"/>
                </a:solidFill>
                <a:latin typeface="Arial" panose="020B0604020202020204" pitchFamily="34" charset="0"/>
                <a:ea typeface="华文行楷" panose="02010800040101010101" pitchFamily="2" charset="-122"/>
              </a:endParaRPr>
            </a:p>
          </p:txBody>
        </p:sp>
        <p:sp>
          <p:nvSpPr>
            <p:cNvPr id="38" name="Rectangle 49"/>
            <p:cNvSpPr>
              <a:spLocks noChangeArrowheads="1"/>
            </p:cNvSpPr>
            <p:nvPr/>
          </p:nvSpPr>
          <p:spPr bwMode="auto">
            <a:xfrm>
              <a:off x="3219587" y="4559300"/>
              <a:ext cx="628377" cy="523220"/>
            </a:xfrm>
            <a:prstGeom prst="rect">
              <a:avLst/>
            </a:prstGeom>
            <a:noFill/>
            <a:ln>
              <a:noFill/>
            </a:ln>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1600" b="1">
                  <a:solidFill>
                    <a:schemeClr val="tx1"/>
                  </a:solidFill>
                  <a:latin typeface="Tahoma" panose="020B0604030504040204" pitchFamily="34" charset="0"/>
                  <a:ea typeface="宋体" panose="02010600030101010101" pitchFamily="2" charset="-122"/>
                </a:defRPr>
              </a:lvl1pPr>
              <a:lvl2pPr marL="742950" indent="-285750" eaLnBrk="0" hangingPunct="0">
                <a:defRPr sz="1600" b="1">
                  <a:solidFill>
                    <a:schemeClr val="tx1"/>
                  </a:solidFill>
                  <a:latin typeface="Tahoma" panose="020B0604030504040204" pitchFamily="34" charset="0"/>
                  <a:ea typeface="宋体" panose="02010600030101010101" pitchFamily="2" charset="-122"/>
                </a:defRPr>
              </a:lvl2pPr>
              <a:lvl3pPr marL="1143000" indent="-228600" eaLnBrk="0" hangingPunct="0">
                <a:defRPr sz="1600" b="1">
                  <a:solidFill>
                    <a:schemeClr val="tx1"/>
                  </a:solidFill>
                  <a:latin typeface="Tahoma" panose="020B0604030504040204" pitchFamily="34" charset="0"/>
                  <a:ea typeface="宋体" panose="02010600030101010101" pitchFamily="2" charset="-122"/>
                </a:defRPr>
              </a:lvl3pPr>
              <a:lvl4pPr marL="1600200" indent="-228600" eaLnBrk="0" hangingPunct="0">
                <a:defRPr sz="1600" b="1">
                  <a:solidFill>
                    <a:schemeClr val="tx1"/>
                  </a:solidFill>
                  <a:latin typeface="Tahoma" panose="020B0604030504040204" pitchFamily="34" charset="0"/>
                  <a:ea typeface="宋体" panose="02010600030101010101" pitchFamily="2" charset="-122"/>
                </a:defRPr>
              </a:lvl4pPr>
              <a:lvl5pPr marL="2057400" indent="-228600" eaLnBrk="0" hangingPunct="0">
                <a:defRPr sz="16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9pPr>
            </a:lstStyle>
            <a:p>
              <a:pPr algn="ctr" eaLnBrk="1" hangingPunct="1"/>
              <a:r>
                <a:rPr lang="en-US" altLang="zh-CN" sz="3400" i="1">
                  <a:solidFill>
                    <a:srgbClr val="000000"/>
                  </a:solidFill>
                  <a:latin typeface="Times New Roman" panose="02020603050405020304" pitchFamily="18" charset="0"/>
                  <a:ea typeface="华文行楷" panose="02010800040101010101" pitchFamily="2" charset="-122"/>
                </a:rPr>
                <a:t>OD</a:t>
              </a:r>
              <a:endParaRPr lang="en-US" altLang="zh-CN" sz="1800">
                <a:solidFill>
                  <a:schemeClr val="accent2"/>
                </a:solidFill>
                <a:latin typeface="Arial" panose="020B0604020202020204" pitchFamily="34" charset="0"/>
                <a:ea typeface="华文行楷" panose="02010800040101010101" pitchFamily="2" charset="-122"/>
              </a:endParaRPr>
            </a:p>
          </p:txBody>
        </p:sp>
        <p:sp>
          <p:nvSpPr>
            <p:cNvPr id="39" name="Rectangle 50"/>
            <p:cNvSpPr>
              <a:spLocks noChangeArrowheads="1"/>
            </p:cNvSpPr>
            <p:nvPr/>
          </p:nvSpPr>
          <p:spPr bwMode="auto">
            <a:xfrm>
              <a:off x="1802462" y="4559300"/>
              <a:ext cx="193964" cy="523220"/>
            </a:xfrm>
            <a:prstGeom prst="rect">
              <a:avLst/>
            </a:prstGeom>
            <a:noFill/>
            <a:ln>
              <a:noFill/>
            </a:ln>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1600" b="1">
                  <a:solidFill>
                    <a:schemeClr val="tx1"/>
                  </a:solidFill>
                  <a:latin typeface="Tahoma" panose="020B0604030504040204" pitchFamily="34" charset="0"/>
                  <a:ea typeface="宋体" panose="02010600030101010101" pitchFamily="2" charset="-122"/>
                </a:defRPr>
              </a:lvl1pPr>
              <a:lvl2pPr marL="742950" indent="-285750" eaLnBrk="0" hangingPunct="0">
                <a:defRPr sz="1600" b="1">
                  <a:solidFill>
                    <a:schemeClr val="tx1"/>
                  </a:solidFill>
                  <a:latin typeface="Tahoma" panose="020B0604030504040204" pitchFamily="34" charset="0"/>
                  <a:ea typeface="宋体" panose="02010600030101010101" pitchFamily="2" charset="-122"/>
                </a:defRPr>
              </a:lvl2pPr>
              <a:lvl3pPr marL="1143000" indent="-228600" eaLnBrk="0" hangingPunct="0">
                <a:defRPr sz="1600" b="1">
                  <a:solidFill>
                    <a:schemeClr val="tx1"/>
                  </a:solidFill>
                  <a:latin typeface="Tahoma" panose="020B0604030504040204" pitchFamily="34" charset="0"/>
                  <a:ea typeface="宋体" panose="02010600030101010101" pitchFamily="2" charset="-122"/>
                </a:defRPr>
              </a:lvl3pPr>
              <a:lvl4pPr marL="1600200" indent="-228600" eaLnBrk="0" hangingPunct="0">
                <a:defRPr sz="1600" b="1">
                  <a:solidFill>
                    <a:schemeClr val="tx1"/>
                  </a:solidFill>
                  <a:latin typeface="Tahoma" panose="020B0604030504040204" pitchFamily="34" charset="0"/>
                  <a:ea typeface="宋体" panose="02010600030101010101" pitchFamily="2" charset="-122"/>
                </a:defRPr>
              </a:lvl4pPr>
              <a:lvl5pPr marL="2057400" indent="-228600" eaLnBrk="0" hangingPunct="0">
                <a:defRPr sz="16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9pPr>
            </a:lstStyle>
            <a:p>
              <a:pPr algn="ctr" eaLnBrk="1" hangingPunct="1"/>
              <a:r>
                <a:rPr lang="en-US" altLang="zh-CN" sz="3400" i="1">
                  <a:solidFill>
                    <a:srgbClr val="000000"/>
                  </a:solidFill>
                  <a:latin typeface="Times New Roman" panose="02020603050405020304" pitchFamily="18" charset="0"/>
                  <a:ea typeface="华文行楷" panose="02010800040101010101" pitchFamily="2" charset="-122"/>
                </a:rPr>
                <a:t>v</a:t>
              </a:r>
              <a:endParaRPr lang="en-US" altLang="zh-CN" sz="1800">
                <a:solidFill>
                  <a:schemeClr val="accent2"/>
                </a:solidFill>
                <a:latin typeface="Arial" panose="020B0604020202020204" pitchFamily="34" charset="0"/>
                <a:ea typeface="华文行楷" panose="02010800040101010101" pitchFamily="2" charset="-122"/>
              </a:endParaRPr>
            </a:p>
          </p:txBody>
        </p:sp>
        <p:sp>
          <p:nvSpPr>
            <p:cNvPr id="40" name="Rectangle 51"/>
            <p:cNvSpPr>
              <a:spLocks noChangeArrowheads="1"/>
            </p:cNvSpPr>
            <p:nvPr/>
          </p:nvSpPr>
          <p:spPr bwMode="auto">
            <a:xfrm>
              <a:off x="1170822" y="4559300"/>
              <a:ext cx="484107" cy="523220"/>
            </a:xfrm>
            <a:prstGeom prst="rect">
              <a:avLst/>
            </a:prstGeom>
            <a:noFill/>
            <a:ln>
              <a:noFill/>
            </a:ln>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1600" b="1">
                  <a:solidFill>
                    <a:schemeClr val="tx1"/>
                  </a:solidFill>
                  <a:latin typeface="Tahoma" panose="020B0604030504040204" pitchFamily="34" charset="0"/>
                  <a:ea typeface="宋体" panose="02010600030101010101" pitchFamily="2" charset="-122"/>
                </a:defRPr>
              </a:lvl1pPr>
              <a:lvl2pPr marL="742950" indent="-285750" eaLnBrk="0" hangingPunct="0">
                <a:defRPr sz="1600" b="1">
                  <a:solidFill>
                    <a:schemeClr val="tx1"/>
                  </a:solidFill>
                  <a:latin typeface="Tahoma" panose="020B0604030504040204" pitchFamily="34" charset="0"/>
                  <a:ea typeface="宋体" panose="02010600030101010101" pitchFamily="2" charset="-122"/>
                </a:defRPr>
              </a:lvl2pPr>
              <a:lvl3pPr marL="1143000" indent="-228600" eaLnBrk="0" hangingPunct="0">
                <a:defRPr sz="1600" b="1">
                  <a:solidFill>
                    <a:schemeClr val="tx1"/>
                  </a:solidFill>
                  <a:latin typeface="Tahoma" panose="020B0604030504040204" pitchFamily="34" charset="0"/>
                  <a:ea typeface="宋体" panose="02010600030101010101" pitchFamily="2" charset="-122"/>
                </a:defRPr>
              </a:lvl3pPr>
              <a:lvl4pPr marL="1600200" indent="-228600" eaLnBrk="0" hangingPunct="0">
                <a:defRPr sz="1600" b="1">
                  <a:solidFill>
                    <a:schemeClr val="tx1"/>
                  </a:solidFill>
                  <a:latin typeface="Tahoma" panose="020B0604030504040204" pitchFamily="34" charset="0"/>
                  <a:ea typeface="宋体" panose="02010600030101010101" pitchFamily="2" charset="-122"/>
                </a:defRPr>
              </a:lvl4pPr>
              <a:lvl5pPr marL="2057400" indent="-228600" eaLnBrk="0" hangingPunct="0">
                <a:defRPr sz="16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9pPr>
            </a:lstStyle>
            <a:p>
              <a:pPr algn="ctr" eaLnBrk="1" hangingPunct="1"/>
              <a:r>
                <a:rPr lang="en-US" altLang="zh-CN" sz="3400" i="1" dirty="0">
                  <a:solidFill>
                    <a:srgbClr val="000000"/>
                  </a:solidFill>
                  <a:latin typeface="Times New Roman" panose="02020603050405020304" pitchFamily="18" charset="0"/>
                  <a:ea typeface="华文行楷" panose="02010800040101010101" pitchFamily="2" charset="-122"/>
                </a:rPr>
                <a:t>ID</a:t>
              </a:r>
              <a:endParaRPr lang="en-US" altLang="zh-CN" sz="1800" dirty="0">
                <a:solidFill>
                  <a:schemeClr val="accent2"/>
                </a:solidFill>
                <a:latin typeface="Arial" panose="020B0604020202020204" pitchFamily="34" charset="0"/>
                <a:ea typeface="华文行楷" panose="02010800040101010101" pitchFamily="2" charset="-122"/>
              </a:endParaRPr>
            </a:p>
          </p:txBody>
        </p:sp>
        <p:sp>
          <p:nvSpPr>
            <p:cNvPr id="41" name="Rectangle 53"/>
            <p:cNvSpPr>
              <a:spLocks noChangeArrowheads="1"/>
            </p:cNvSpPr>
            <p:nvPr/>
          </p:nvSpPr>
          <p:spPr bwMode="auto">
            <a:xfrm>
              <a:off x="2801938" y="5075238"/>
              <a:ext cx="98425" cy="427037"/>
            </a:xfrm>
            <a:prstGeom prst="rect">
              <a:avLst/>
            </a:prstGeom>
            <a:noFill/>
            <a:ln>
              <a:noFill/>
            </a:ln>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1600" b="1">
                  <a:solidFill>
                    <a:schemeClr val="tx1"/>
                  </a:solidFill>
                  <a:latin typeface="Tahoma" panose="020B0604030504040204" pitchFamily="34" charset="0"/>
                  <a:ea typeface="宋体" panose="02010600030101010101" pitchFamily="2" charset="-122"/>
                </a:defRPr>
              </a:lvl1pPr>
              <a:lvl2pPr marL="742950" indent="-285750" eaLnBrk="0" hangingPunct="0">
                <a:defRPr sz="1600" b="1">
                  <a:solidFill>
                    <a:schemeClr val="tx1"/>
                  </a:solidFill>
                  <a:latin typeface="Tahoma" panose="020B0604030504040204" pitchFamily="34" charset="0"/>
                  <a:ea typeface="宋体" panose="02010600030101010101" pitchFamily="2" charset="-122"/>
                </a:defRPr>
              </a:lvl2pPr>
              <a:lvl3pPr marL="1143000" indent="-228600" eaLnBrk="0" hangingPunct="0">
                <a:defRPr sz="1600" b="1">
                  <a:solidFill>
                    <a:schemeClr val="tx1"/>
                  </a:solidFill>
                  <a:latin typeface="Tahoma" panose="020B0604030504040204" pitchFamily="34" charset="0"/>
                  <a:ea typeface="宋体" panose="02010600030101010101" pitchFamily="2" charset="-122"/>
                </a:defRPr>
              </a:lvl3pPr>
              <a:lvl4pPr marL="1600200" indent="-228600" eaLnBrk="0" hangingPunct="0">
                <a:defRPr sz="1600" b="1">
                  <a:solidFill>
                    <a:schemeClr val="tx1"/>
                  </a:solidFill>
                  <a:latin typeface="Tahoma" panose="020B0604030504040204" pitchFamily="34" charset="0"/>
                  <a:ea typeface="宋体" panose="02010600030101010101" pitchFamily="2" charset="-122"/>
                </a:defRPr>
              </a:lvl4pPr>
              <a:lvl5pPr marL="2057400" indent="-228600" eaLnBrk="0" hangingPunct="0">
                <a:defRPr sz="16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9pPr>
            </a:lstStyle>
            <a:p>
              <a:pPr algn="ctr" eaLnBrk="1" hangingPunct="1"/>
              <a:r>
                <a:rPr lang="en-US" altLang="zh-CN" sz="2800" i="1">
                  <a:solidFill>
                    <a:srgbClr val="000000"/>
                  </a:solidFill>
                  <a:latin typeface="Times New Roman" panose="02020603050405020304" pitchFamily="18" charset="0"/>
                  <a:ea typeface="华文行楷" panose="02010800040101010101" pitchFamily="2" charset="-122"/>
                </a:rPr>
                <a:t>i</a:t>
              </a:r>
              <a:endParaRPr lang="en-US" altLang="zh-CN" sz="2800">
                <a:solidFill>
                  <a:schemeClr val="accent2"/>
                </a:solidFill>
                <a:latin typeface="Arial" panose="020B0604020202020204" pitchFamily="34" charset="0"/>
                <a:ea typeface="华文行楷" panose="02010800040101010101" pitchFamily="2" charset="-122"/>
              </a:endParaRPr>
            </a:p>
          </p:txBody>
        </p:sp>
        <p:sp>
          <p:nvSpPr>
            <p:cNvPr id="42" name="Rectangle 54"/>
            <p:cNvSpPr>
              <a:spLocks noChangeArrowheads="1"/>
            </p:cNvSpPr>
            <p:nvPr/>
          </p:nvSpPr>
          <p:spPr bwMode="auto">
            <a:xfrm>
              <a:off x="4160838" y="4830763"/>
              <a:ext cx="69850" cy="304800"/>
            </a:xfrm>
            <a:prstGeom prst="rect">
              <a:avLst/>
            </a:prstGeom>
            <a:noFill/>
            <a:ln>
              <a:noFill/>
            </a:ln>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1600" b="1">
                  <a:solidFill>
                    <a:schemeClr val="tx1"/>
                  </a:solidFill>
                  <a:latin typeface="Tahoma" panose="020B0604030504040204" pitchFamily="34" charset="0"/>
                  <a:ea typeface="宋体" panose="02010600030101010101" pitchFamily="2" charset="-122"/>
                </a:defRPr>
              </a:lvl1pPr>
              <a:lvl2pPr marL="742950" indent="-285750" eaLnBrk="0" hangingPunct="0">
                <a:defRPr sz="1600" b="1">
                  <a:solidFill>
                    <a:schemeClr val="tx1"/>
                  </a:solidFill>
                  <a:latin typeface="Tahoma" panose="020B0604030504040204" pitchFamily="34" charset="0"/>
                  <a:ea typeface="宋体" panose="02010600030101010101" pitchFamily="2" charset="-122"/>
                </a:defRPr>
              </a:lvl2pPr>
              <a:lvl3pPr marL="1143000" indent="-228600" eaLnBrk="0" hangingPunct="0">
                <a:defRPr sz="1600" b="1">
                  <a:solidFill>
                    <a:schemeClr val="tx1"/>
                  </a:solidFill>
                  <a:latin typeface="Tahoma" panose="020B0604030504040204" pitchFamily="34" charset="0"/>
                  <a:ea typeface="宋体" panose="02010600030101010101" pitchFamily="2" charset="-122"/>
                </a:defRPr>
              </a:lvl3pPr>
              <a:lvl4pPr marL="1600200" indent="-228600" eaLnBrk="0" hangingPunct="0">
                <a:defRPr sz="1600" b="1">
                  <a:solidFill>
                    <a:schemeClr val="tx1"/>
                  </a:solidFill>
                  <a:latin typeface="Tahoma" panose="020B0604030504040204" pitchFamily="34" charset="0"/>
                  <a:ea typeface="宋体" panose="02010600030101010101" pitchFamily="2" charset="-122"/>
                </a:defRPr>
              </a:lvl4pPr>
              <a:lvl5pPr marL="2057400" indent="-228600" eaLnBrk="0" hangingPunct="0">
                <a:defRPr sz="16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9pPr>
            </a:lstStyle>
            <a:p>
              <a:pPr algn="ctr" eaLnBrk="1" hangingPunct="1"/>
              <a:r>
                <a:rPr lang="en-US" altLang="zh-CN" sz="2000" i="1">
                  <a:solidFill>
                    <a:srgbClr val="000000"/>
                  </a:solidFill>
                  <a:latin typeface="Times New Roman" panose="02020603050405020304" pitchFamily="18" charset="0"/>
                  <a:ea typeface="华文行楷" panose="02010800040101010101" pitchFamily="2" charset="-122"/>
                </a:rPr>
                <a:t>i</a:t>
              </a:r>
              <a:endParaRPr lang="en-US" altLang="zh-CN" sz="1800">
                <a:solidFill>
                  <a:schemeClr val="accent2"/>
                </a:solidFill>
                <a:latin typeface="Arial" panose="020B0604020202020204" pitchFamily="34" charset="0"/>
                <a:ea typeface="华文行楷" panose="02010800040101010101" pitchFamily="2" charset="-122"/>
              </a:endParaRPr>
            </a:p>
          </p:txBody>
        </p:sp>
        <p:sp>
          <p:nvSpPr>
            <p:cNvPr id="43" name="Rectangle 56"/>
            <p:cNvSpPr>
              <a:spLocks noChangeArrowheads="1"/>
            </p:cNvSpPr>
            <p:nvPr/>
          </p:nvSpPr>
          <p:spPr bwMode="auto">
            <a:xfrm>
              <a:off x="658813" y="5075238"/>
              <a:ext cx="98425" cy="427037"/>
            </a:xfrm>
            <a:prstGeom prst="rect">
              <a:avLst/>
            </a:prstGeom>
            <a:noFill/>
            <a:ln>
              <a:noFill/>
            </a:ln>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1600" b="1">
                  <a:solidFill>
                    <a:schemeClr val="tx1"/>
                  </a:solidFill>
                  <a:latin typeface="Tahoma" panose="020B0604030504040204" pitchFamily="34" charset="0"/>
                  <a:ea typeface="宋体" panose="02010600030101010101" pitchFamily="2" charset="-122"/>
                </a:defRPr>
              </a:lvl1pPr>
              <a:lvl2pPr marL="742950" indent="-285750" eaLnBrk="0" hangingPunct="0">
                <a:defRPr sz="1600" b="1">
                  <a:solidFill>
                    <a:schemeClr val="tx1"/>
                  </a:solidFill>
                  <a:latin typeface="Tahoma" panose="020B0604030504040204" pitchFamily="34" charset="0"/>
                  <a:ea typeface="宋体" panose="02010600030101010101" pitchFamily="2" charset="-122"/>
                </a:defRPr>
              </a:lvl2pPr>
              <a:lvl3pPr marL="1143000" indent="-228600" eaLnBrk="0" hangingPunct="0">
                <a:defRPr sz="1600" b="1">
                  <a:solidFill>
                    <a:schemeClr val="tx1"/>
                  </a:solidFill>
                  <a:latin typeface="Tahoma" panose="020B0604030504040204" pitchFamily="34" charset="0"/>
                  <a:ea typeface="宋体" panose="02010600030101010101" pitchFamily="2" charset="-122"/>
                </a:defRPr>
              </a:lvl3pPr>
              <a:lvl4pPr marL="1600200" indent="-228600" eaLnBrk="0" hangingPunct="0">
                <a:defRPr sz="1600" b="1">
                  <a:solidFill>
                    <a:schemeClr val="tx1"/>
                  </a:solidFill>
                  <a:latin typeface="Tahoma" panose="020B0604030504040204" pitchFamily="34" charset="0"/>
                  <a:ea typeface="宋体" panose="02010600030101010101" pitchFamily="2" charset="-122"/>
                </a:defRPr>
              </a:lvl4pPr>
              <a:lvl5pPr marL="2057400" indent="-228600" eaLnBrk="0" hangingPunct="0">
                <a:defRPr sz="16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9pPr>
            </a:lstStyle>
            <a:p>
              <a:pPr algn="ctr" eaLnBrk="1" hangingPunct="1"/>
              <a:r>
                <a:rPr lang="en-US" altLang="zh-CN" sz="2800" i="1">
                  <a:solidFill>
                    <a:srgbClr val="000000"/>
                  </a:solidFill>
                  <a:latin typeface="Times New Roman" panose="02020603050405020304" pitchFamily="18" charset="0"/>
                  <a:ea typeface="华文行楷" panose="02010800040101010101" pitchFamily="2" charset="-122"/>
                </a:rPr>
                <a:t>i</a:t>
              </a:r>
              <a:endParaRPr lang="en-US" altLang="zh-CN" sz="2800">
                <a:solidFill>
                  <a:schemeClr val="accent2"/>
                </a:solidFill>
                <a:latin typeface="Arial" panose="020B0604020202020204" pitchFamily="34" charset="0"/>
                <a:ea typeface="华文行楷" panose="02010800040101010101" pitchFamily="2" charset="-122"/>
              </a:endParaRPr>
            </a:p>
          </p:txBody>
        </p:sp>
        <p:sp>
          <p:nvSpPr>
            <p:cNvPr id="44" name="Rectangle 57"/>
            <p:cNvSpPr>
              <a:spLocks noChangeArrowheads="1"/>
            </p:cNvSpPr>
            <p:nvPr/>
          </p:nvSpPr>
          <p:spPr bwMode="auto">
            <a:xfrm>
              <a:off x="1955800" y="4830763"/>
              <a:ext cx="69850" cy="304800"/>
            </a:xfrm>
            <a:prstGeom prst="rect">
              <a:avLst/>
            </a:prstGeom>
            <a:noFill/>
            <a:ln>
              <a:noFill/>
            </a:ln>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1600" b="1">
                  <a:solidFill>
                    <a:schemeClr val="tx1"/>
                  </a:solidFill>
                  <a:latin typeface="Tahoma" panose="020B0604030504040204" pitchFamily="34" charset="0"/>
                  <a:ea typeface="宋体" panose="02010600030101010101" pitchFamily="2" charset="-122"/>
                </a:defRPr>
              </a:lvl1pPr>
              <a:lvl2pPr marL="742950" indent="-285750" eaLnBrk="0" hangingPunct="0">
                <a:defRPr sz="1600" b="1">
                  <a:solidFill>
                    <a:schemeClr val="tx1"/>
                  </a:solidFill>
                  <a:latin typeface="Tahoma" panose="020B0604030504040204" pitchFamily="34" charset="0"/>
                  <a:ea typeface="宋体" panose="02010600030101010101" pitchFamily="2" charset="-122"/>
                </a:defRPr>
              </a:lvl2pPr>
              <a:lvl3pPr marL="1143000" indent="-228600" eaLnBrk="0" hangingPunct="0">
                <a:defRPr sz="1600" b="1">
                  <a:solidFill>
                    <a:schemeClr val="tx1"/>
                  </a:solidFill>
                  <a:latin typeface="Tahoma" panose="020B0604030504040204" pitchFamily="34" charset="0"/>
                  <a:ea typeface="宋体" panose="02010600030101010101" pitchFamily="2" charset="-122"/>
                </a:defRPr>
              </a:lvl3pPr>
              <a:lvl4pPr marL="1600200" indent="-228600" eaLnBrk="0" hangingPunct="0">
                <a:defRPr sz="1600" b="1">
                  <a:solidFill>
                    <a:schemeClr val="tx1"/>
                  </a:solidFill>
                  <a:latin typeface="Tahoma" panose="020B0604030504040204" pitchFamily="34" charset="0"/>
                  <a:ea typeface="宋体" panose="02010600030101010101" pitchFamily="2" charset="-122"/>
                </a:defRPr>
              </a:lvl4pPr>
              <a:lvl5pPr marL="2057400" indent="-228600" eaLnBrk="0" hangingPunct="0">
                <a:defRPr sz="16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9pPr>
            </a:lstStyle>
            <a:p>
              <a:pPr algn="ctr" eaLnBrk="1" hangingPunct="1"/>
              <a:r>
                <a:rPr lang="en-US" altLang="zh-CN" sz="2000" i="1">
                  <a:solidFill>
                    <a:srgbClr val="000000"/>
                  </a:solidFill>
                  <a:latin typeface="Times New Roman" panose="02020603050405020304" pitchFamily="18" charset="0"/>
                  <a:ea typeface="华文行楷" panose="02010800040101010101" pitchFamily="2" charset="-122"/>
                </a:rPr>
                <a:t>i</a:t>
              </a:r>
              <a:endParaRPr lang="en-US" altLang="zh-CN" sz="1800">
                <a:solidFill>
                  <a:schemeClr val="accent2"/>
                </a:solidFill>
                <a:latin typeface="Arial" panose="020B0604020202020204" pitchFamily="34" charset="0"/>
                <a:ea typeface="华文行楷" panose="02010800040101010101" pitchFamily="2" charset="-122"/>
              </a:endParaRPr>
            </a:p>
          </p:txBody>
        </p:sp>
        <p:sp>
          <p:nvSpPr>
            <p:cNvPr id="45" name="Rectangle 58"/>
            <p:cNvSpPr>
              <a:spLocks noChangeArrowheads="1"/>
            </p:cNvSpPr>
            <p:nvPr/>
          </p:nvSpPr>
          <p:spPr bwMode="auto">
            <a:xfrm>
              <a:off x="4616883" y="4508500"/>
              <a:ext cx="238848" cy="523220"/>
            </a:xfrm>
            <a:prstGeom prst="rect">
              <a:avLst/>
            </a:prstGeom>
            <a:noFill/>
            <a:ln>
              <a:noFill/>
            </a:ln>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1600" b="1">
                  <a:solidFill>
                    <a:schemeClr val="tx1"/>
                  </a:solidFill>
                  <a:latin typeface="Tahoma" panose="020B0604030504040204" pitchFamily="34" charset="0"/>
                  <a:ea typeface="宋体" panose="02010600030101010101" pitchFamily="2" charset="-122"/>
                </a:defRPr>
              </a:lvl1pPr>
              <a:lvl2pPr marL="742950" indent="-285750" eaLnBrk="0" hangingPunct="0">
                <a:defRPr sz="1600" b="1">
                  <a:solidFill>
                    <a:schemeClr val="tx1"/>
                  </a:solidFill>
                  <a:latin typeface="Tahoma" panose="020B0604030504040204" pitchFamily="34" charset="0"/>
                  <a:ea typeface="宋体" panose="02010600030101010101" pitchFamily="2" charset="-122"/>
                </a:defRPr>
              </a:lvl2pPr>
              <a:lvl3pPr marL="1143000" indent="-228600" eaLnBrk="0" hangingPunct="0">
                <a:defRPr sz="1600" b="1">
                  <a:solidFill>
                    <a:schemeClr val="tx1"/>
                  </a:solidFill>
                  <a:latin typeface="Tahoma" panose="020B0604030504040204" pitchFamily="34" charset="0"/>
                  <a:ea typeface="宋体" panose="02010600030101010101" pitchFamily="2" charset="-122"/>
                </a:defRPr>
              </a:lvl3pPr>
              <a:lvl4pPr marL="1600200" indent="-228600" eaLnBrk="0" hangingPunct="0">
                <a:defRPr sz="1600" b="1">
                  <a:solidFill>
                    <a:schemeClr val="tx1"/>
                  </a:solidFill>
                  <a:latin typeface="Tahoma" panose="020B0604030504040204" pitchFamily="34" charset="0"/>
                  <a:ea typeface="宋体" panose="02010600030101010101" pitchFamily="2" charset="-122"/>
                </a:defRPr>
              </a:lvl4pPr>
              <a:lvl5pPr marL="2057400" indent="-228600" eaLnBrk="0" hangingPunct="0">
                <a:defRPr sz="16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9pPr>
            </a:lstStyle>
            <a:p>
              <a:pPr algn="ctr" eaLnBrk="1" hangingPunct="1"/>
              <a:r>
                <a:rPr lang="en-US" altLang="zh-CN" sz="3400">
                  <a:solidFill>
                    <a:srgbClr val="000000"/>
                  </a:solidFill>
                  <a:latin typeface="Symbol" panose="05050102010706020507" pitchFamily="18" charset="2"/>
                  <a:ea typeface="华文行楷" panose="02010800040101010101" pitchFamily="2" charset="-122"/>
                </a:rPr>
                <a:t>=</a:t>
              </a:r>
              <a:endParaRPr lang="en-US" altLang="zh-CN" sz="1800">
                <a:solidFill>
                  <a:schemeClr val="accent2"/>
                </a:solidFill>
                <a:latin typeface="Arial" panose="020B0604020202020204" pitchFamily="34" charset="0"/>
                <a:ea typeface="华文行楷" panose="02010800040101010101" pitchFamily="2" charset="-122"/>
              </a:endParaRPr>
            </a:p>
          </p:txBody>
        </p:sp>
        <p:sp>
          <p:nvSpPr>
            <p:cNvPr id="46" name="Rectangle 59"/>
            <p:cNvSpPr>
              <a:spLocks noChangeArrowheads="1"/>
            </p:cNvSpPr>
            <p:nvPr/>
          </p:nvSpPr>
          <p:spPr bwMode="auto">
            <a:xfrm>
              <a:off x="2411845" y="4508500"/>
              <a:ext cx="238848" cy="523220"/>
            </a:xfrm>
            <a:prstGeom prst="rect">
              <a:avLst/>
            </a:prstGeom>
            <a:noFill/>
            <a:ln>
              <a:noFill/>
            </a:ln>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1600" b="1">
                  <a:solidFill>
                    <a:schemeClr val="tx1"/>
                  </a:solidFill>
                  <a:latin typeface="Tahoma" panose="020B0604030504040204" pitchFamily="34" charset="0"/>
                  <a:ea typeface="宋体" panose="02010600030101010101" pitchFamily="2" charset="-122"/>
                </a:defRPr>
              </a:lvl1pPr>
              <a:lvl2pPr marL="742950" indent="-285750" eaLnBrk="0" hangingPunct="0">
                <a:defRPr sz="1600" b="1">
                  <a:solidFill>
                    <a:schemeClr val="tx1"/>
                  </a:solidFill>
                  <a:latin typeface="Tahoma" panose="020B0604030504040204" pitchFamily="34" charset="0"/>
                  <a:ea typeface="宋体" panose="02010600030101010101" pitchFamily="2" charset="-122"/>
                </a:defRPr>
              </a:lvl2pPr>
              <a:lvl3pPr marL="1143000" indent="-228600" eaLnBrk="0" hangingPunct="0">
                <a:defRPr sz="1600" b="1">
                  <a:solidFill>
                    <a:schemeClr val="tx1"/>
                  </a:solidFill>
                  <a:latin typeface="Tahoma" panose="020B0604030504040204" pitchFamily="34" charset="0"/>
                  <a:ea typeface="宋体" panose="02010600030101010101" pitchFamily="2" charset="-122"/>
                </a:defRPr>
              </a:lvl3pPr>
              <a:lvl4pPr marL="1600200" indent="-228600" eaLnBrk="0" hangingPunct="0">
                <a:defRPr sz="1600" b="1">
                  <a:solidFill>
                    <a:schemeClr val="tx1"/>
                  </a:solidFill>
                  <a:latin typeface="Tahoma" panose="020B0604030504040204" pitchFamily="34" charset="0"/>
                  <a:ea typeface="宋体" panose="02010600030101010101" pitchFamily="2" charset="-122"/>
                </a:defRPr>
              </a:lvl4pPr>
              <a:lvl5pPr marL="2057400" indent="-228600" eaLnBrk="0" hangingPunct="0">
                <a:defRPr sz="16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9pPr>
            </a:lstStyle>
            <a:p>
              <a:pPr algn="ctr" eaLnBrk="1" hangingPunct="1"/>
              <a:r>
                <a:rPr lang="en-US" altLang="zh-CN" sz="3400">
                  <a:solidFill>
                    <a:srgbClr val="000000"/>
                  </a:solidFill>
                  <a:latin typeface="Symbol" panose="05050102010706020507" pitchFamily="18" charset="2"/>
                  <a:ea typeface="华文行楷" panose="02010800040101010101" pitchFamily="2" charset="-122"/>
                </a:rPr>
                <a:t>=</a:t>
              </a:r>
              <a:endParaRPr lang="en-US" altLang="zh-CN" sz="1800">
                <a:solidFill>
                  <a:schemeClr val="accent2"/>
                </a:solidFill>
                <a:latin typeface="Arial" panose="020B0604020202020204" pitchFamily="34" charset="0"/>
                <a:ea typeface="华文行楷" panose="02010800040101010101" pitchFamily="2" charset="-122"/>
              </a:endParaRPr>
            </a:p>
          </p:txBody>
        </p:sp>
        <p:sp>
          <p:nvSpPr>
            <p:cNvPr id="47" name="Rectangle 60"/>
            <p:cNvSpPr>
              <a:spLocks noChangeArrowheads="1"/>
            </p:cNvSpPr>
            <p:nvPr/>
          </p:nvSpPr>
          <p:spPr bwMode="auto">
            <a:xfrm>
              <a:off x="2759948" y="4405313"/>
              <a:ext cx="476092" cy="800219"/>
            </a:xfrm>
            <a:prstGeom prst="rect">
              <a:avLst/>
            </a:prstGeom>
            <a:noFill/>
            <a:ln>
              <a:noFill/>
            </a:ln>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1600" b="1">
                  <a:solidFill>
                    <a:schemeClr val="tx1"/>
                  </a:solidFill>
                  <a:latin typeface="Tahoma" panose="020B0604030504040204" pitchFamily="34" charset="0"/>
                  <a:ea typeface="宋体" panose="02010600030101010101" pitchFamily="2" charset="-122"/>
                </a:defRPr>
              </a:lvl1pPr>
              <a:lvl2pPr marL="742950" indent="-285750" eaLnBrk="0" hangingPunct="0">
                <a:defRPr sz="1600" b="1">
                  <a:solidFill>
                    <a:schemeClr val="tx1"/>
                  </a:solidFill>
                  <a:latin typeface="Tahoma" panose="020B0604030504040204" pitchFamily="34" charset="0"/>
                  <a:ea typeface="宋体" panose="02010600030101010101" pitchFamily="2" charset="-122"/>
                </a:defRPr>
              </a:lvl2pPr>
              <a:lvl3pPr marL="1143000" indent="-228600" eaLnBrk="0" hangingPunct="0">
                <a:defRPr sz="1600" b="1">
                  <a:solidFill>
                    <a:schemeClr val="tx1"/>
                  </a:solidFill>
                  <a:latin typeface="Tahoma" panose="020B0604030504040204" pitchFamily="34" charset="0"/>
                  <a:ea typeface="宋体" panose="02010600030101010101" pitchFamily="2" charset="-122"/>
                </a:defRPr>
              </a:lvl3pPr>
              <a:lvl4pPr marL="1600200" indent="-228600" eaLnBrk="0" hangingPunct="0">
                <a:defRPr sz="1600" b="1">
                  <a:solidFill>
                    <a:schemeClr val="tx1"/>
                  </a:solidFill>
                  <a:latin typeface="Tahoma" panose="020B0604030504040204" pitchFamily="34" charset="0"/>
                  <a:ea typeface="宋体" panose="02010600030101010101" pitchFamily="2" charset="-122"/>
                </a:defRPr>
              </a:lvl4pPr>
              <a:lvl5pPr marL="2057400" indent="-228600" eaLnBrk="0" hangingPunct="0">
                <a:defRPr sz="16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9pPr>
            </a:lstStyle>
            <a:p>
              <a:pPr algn="ctr" eaLnBrk="1" hangingPunct="1"/>
              <a:r>
                <a:rPr lang="en-US" altLang="zh-CN" sz="5200">
                  <a:solidFill>
                    <a:srgbClr val="000000"/>
                  </a:solidFill>
                  <a:latin typeface="Symbol" panose="05050102010706020507" pitchFamily="18" charset="2"/>
                  <a:ea typeface="华文行楷" panose="02010800040101010101" pitchFamily="2" charset="-122"/>
                </a:rPr>
                <a:t>å</a:t>
              </a:r>
              <a:endParaRPr lang="en-US" altLang="zh-CN" sz="1800">
                <a:solidFill>
                  <a:schemeClr val="accent2"/>
                </a:solidFill>
                <a:latin typeface="Arial" panose="020B0604020202020204" pitchFamily="34" charset="0"/>
                <a:ea typeface="华文行楷" panose="02010800040101010101" pitchFamily="2" charset="-122"/>
              </a:endParaRPr>
            </a:p>
          </p:txBody>
        </p:sp>
        <p:sp>
          <p:nvSpPr>
            <p:cNvPr id="48" name="Rectangle 61"/>
            <p:cNvSpPr>
              <a:spLocks noChangeArrowheads="1"/>
            </p:cNvSpPr>
            <p:nvPr/>
          </p:nvSpPr>
          <p:spPr bwMode="auto">
            <a:xfrm>
              <a:off x="621586" y="4406900"/>
              <a:ext cx="476092" cy="800219"/>
            </a:xfrm>
            <a:prstGeom prst="rect">
              <a:avLst/>
            </a:prstGeom>
            <a:noFill/>
            <a:ln>
              <a:noFill/>
            </a:ln>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1600" b="1">
                  <a:solidFill>
                    <a:schemeClr val="tx1"/>
                  </a:solidFill>
                  <a:latin typeface="Tahoma" panose="020B0604030504040204" pitchFamily="34" charset="0"/>
                  <a:ea typeface="宋体" panose="02010600030101010101" pitchFamily="2" charset="-122"/>
                </a:defRPr>
              </a:lvl1pPr>
              <a:lvl2pPr marL="742950" indent="-285750" eaLnBrk="0" hangingPunct="0">
                <a:defRPr sz="1600" b="1">
                  <a:solidFill>
                    <a:schemeClr val="tx1"/>
                  </a:solidFill>
                  <a:latin typeface="Tahoma" panose="020B0604030504040204" pitchFamily="34" charset="0"/>
                  <a:ea typeface="宋体" panose="02010600030101010101" pitchFamily="2" charset="-122"/>
                </a:defRPr>
              </a:lvl2pPr>
              <a:lvl3pPr marL="1143000" indent="-228600" eaLnBrk="0" hangingPunct="0">
                <a:defRPr sz="1600" b="1">
                  <a:solidFill>
                    <a:schemeClr val="tx1"/>
                  </a:solidFill>
                  <a:latin typeface="Tahoma" panose="020B0604030504040204" pitchFamily="34" charset="0"/>
                  <a:ea typeface="宋体" panose="02010600030101010101" pitchFamily="2" charset="-122"/>
                </a:defRPr>
              </a:lvl3pPr>
              <a:lvl4pPr marL="1600200" indent="-228600" eaLnBrk="0" hangingPunct="0">
                <a:defRPr sz="1600" b="1">
                  <a:solidFill>
                    <a:schemeClr val="tx1"/>
                  </a:solidFill>
                  <a:latin typeface="Tahoma" panose="020B0604030504040204" pitchFamily="34" charset="0"/>
                  <a:ea typeface="宋体" panose="02010600030101010101" pitchFamily="2" charset="-122"/>
                </a:defRPr>
              </a:lvl4pPr>
              <a:lvl5pPr marL="2057400" indent="-228600" eaLnBrk="0" hangingPunct="0">
                <a:defRPr sz="16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9pPr>
            </a:lstStyle>
            <a:p>
              <a:pPr algn="ctr" eaLnBrk="1" hangingPunct="1"/>
              <a:r>
                <a:rPr lang="en-US" altLang="zh-CN" sz="5200" dirty="0">
                  <a:solidFill>
                    <a:srgbClr val="000000"/>
                  </a:solidFill>
                  <a:latin typeface="Symbol" panose="05050102010706020507" pitchFamily="18" charset="2"/>
                  <a:ea typeface="华文行楷" panose="02010800040101010101" pitchFamily="2" charset="-122"/>
                </a:rPr>
                <a:t>å</a:t>
              </a:r>
              <a:endParaRPr lang="en-US" altLang="zh-CN" sz="1800" dirty="0">
                <a:solidFill>
                  <a:schemeClr val="accent2"/>
                </a:solidFill>
                <a:latin typeface="Arial" panose="020B0604020202020204" pitchFamily="34" charset="0"/>
                <a:ea typeface="华文行楷" panose="02010800040101010101" pitchFamily="2" charset="-122"/>
              </a:endParaRPr>
            </a:p>
          </p:txBody>
        </p:sp>
        <p:sp>
          <p:nvSpPr>
            <p:cNvPr id="49" name="Rectangle 62"/>
            <p:cNvSpPr>
              <a:spLocks noChangeArrowheads="1"/>
            </p:cNvSpPr>
            <p:nvPr/>
          </p:nvSpPr>
          <p:spPr bwMode="auto">
            <a:xfrm>
              <a:off x="2905759" y="5046663"/>
              <a:ext cx="197170" cy="430887"/>
            </a:xfrm>
            <a:prstGeom prst="rect">
              <a:avLst/>
            </a:prstGeom>
            <a:noFill/>
            <a:ln>
              <a:noFill/>
            </a:ln>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1600" b="1">
                  <a:solidFill>
                    <a:schemeClr val="tx1"/>
                  </a:solidFill>
                  <a:latin typeface="Tahoma" panose="020B0604030504040204" pitchFamily="34" charset="0"/>
                  <a:ea typeface="宋体" panose="02010600030101010101" pitchFamily="2" charset="-122"/>
                </a:defRPr>
              </a:lvl1pPr>
              <a:lvl2pPr marL="742950" indent="-285750" eaLnBrk="0" hangingPunct="0">
                <a:defRPr sz="1600" b="1">
                  <a:solidFill>
                    <a:schemeClr val="tx1"/>
                  </a:solidFill>
                  <a:latin typeface="Tahoma" panose="020B0604030504040204" pitchFamily="34" charset="0"/>
                  <a:ea typeface="宋体" panose="02010600030101010101" pitchFamily="2" charset="-122"/>
                </a:defRPr>
              </a:lvl2pPr>
              <a:lvl3pPr marL="1143000" indent="-228600" eaLnBrk="0" hangingPunct="0">
                <a:defRPr sz="1600" b="1">
                  <a:solidFill>
                    <a:schemeClr val="tx1"/>
                  </a:solidFill>
                  <a:latin typeface="Tahoma" panose="020B0604030504040204" pitchFamily="34" charset="0"/>
                  <a:ea typeface="宋体" panose="02010600030101010101" pitchFamily="2" charset="-122"/>
                </a:defRPr>
              </a:lvl3pPr>
              <a:lvl4pPr marL="1600200" indent="-228600" eaLnBrk="0" hangingPunct="0">
                <a:defRPr sz="1600" b="1">
                  <a:solidFill>
                    <a:schemeClr val="tx1"/>
                  </a:solidFill>
                  <a:latin typeface="Tahoma" panose="020B0604030504040204" pitchFamily="34" charset="0"/>
                  <a:ea typeface="宋体" panose="02010600030101010101" pitchFamily="2" charset="-122"/>
                </a:defRPr>
              </a:lvl4pPr>
              <a:lvl5pPr marL="2057400" indent="-228600" eaLnBrk="0" hangingPunct="0">
                <a:defRPr sz="16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9pPr>
            </a:lstStyle>
            <a:p>
              <a:pPr algn="ctr" eaLnBrk="1" hangingPunct="1"/>
              <a:r>
                <a:rPr lang="en-US" altLang="zh-CN" sz="2800">
                  <a:solidFill>
                    <a:srgbClr val="000000"/>
                  </a:solidFill>
                  <a:latin typeface="Symbol" panose="05050102010706020507" pitchFamily="18" charset="2"/>
                  <a:ea typeface="华文行楷" panose="02010800040101010101" pitchFamily="2" charset="-122"/>
                </a:rPr>
                <a:t>=</a:t>
              </a:r>
              <a:endParaRPr lang="en-US" altLang="zh-CN" sz="2800">
                <a:solidFill>
                  <a:schemeClr val="accent2"/>
                </a:solidFill>
                <a:latin typeface="Arial" panose="020B0604020202020204" pitchFamily="34" charset="0"/>
                <a:ea typeface="华文行楷" panose="02010800040101010101" pitchFamily="2" charset="-122"/>
              </a:endParaRPr>
            </a:p>
          </p:txBody>
        </p:sp>
        <p:sp>
          <p:nvSpPr>
            <p:cNvPr id="50" name="Rectangle 63"/>
            <p:cNvSpPr>
              <a:spLocks noChangeArrowheads="1"/>
            </p:cNvSpPr>
            <p:nvPr/>
          </p:nvSpPr>
          <p:spPr bwMode="auto">
            <a:xfrm>
              <a:off x="765175" y="5046663"/>
              <a:ext cx="195263" cy="427037"/>
            </a:xfrm>
            <a:prstGeom prst="rect">
              <a:avLst/>
            </a:prstGeom>
            <a:noFill/>
            <a:ln>
              <a:noFill/>
            </a:ln>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1600" b="1">
                  <a:solidFill>
                    <a:schemeClr val="tx1"/>
                  </a:solidFill>
                  <a:latin typeface="Tahoma" panose="020B0604030504040204" pitchFamily="34" charset="0"/>
                  <a:ea typeface="宋体" panose="02010600030101010101" pitchFamily="2" charset="-122"/>
                </a:defRPr>
              </a:lvl1pPr>
              <a:lvl2pPr marL="742950" indent="-285750" eaLnBrk="0" hangingPunct="0">
                <a:defRPr sz="1600" b="1">
                  <a:solidFill>
                    <a:schemeClr val="tx1"/>
                  </a:solidFill>
                  <a:latin typeface="Tahoma" panose="020B0604030504040204" pitchFamily="34" charset="0"/>
                  <a:ea typeface="宋体" panose="02010600030101010101" pitchFamily="2" charset="-122"/>
                </a:defRPr>
              </a:lvl2pPr>
              <a:lvl3pPr marL="1143000" indent="-228600" eaLnBrk="0" hangingPunct="0">
                <a:defRPr sz="1600" b="1">
                  <a:solidFill>
                    <a:schemeClr val="tx1"/>
                  </a:solidFill>
                  <a:latin typeface="Tahoma" panose="020B0604030504040204" pitchFamily="34" charset="0"/>
                  <a:ea typeface="宋体" panose="02010600030101010101" pitchFamily="2" charset="-122"/>
                </a:defRPr>
              </a:lvl3pPr>
              <a:lvl4pPr marL="1600200" indent="-228600" eaLnBrk="0" hangingPunct="0">
                <a:defRPr sz="1600" b="1">
                  <a:solidFill>
                    <a:schemeClr val="tx1"/>
                  </a:solidFill>
                  <a:latin typeface="Tahoma" panose="020B0604030504040204" pitchFamily="34" charset="0"/>
                  <a:ea typeface="宋体" panose="02010600030101010101" pitchFamily="2" charset="-122"/>
                </a:defRPr>
              </a:lvl4pPr>
              <a:lvl5pPr marL="2057400" indent="-228600" eaLnBrk="0" hangingPunct="0">
                <a:defRPr sz="16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9pPr>
            </a:lstStyle>
            <a:p>
              <a:pPr algn="ctr" eaLnBrk="1" hangingPunct="1"/>
              <a:r>
                <a:rPr lang="en-US" altLang="zh-CN" sz="2800">
                  <a:solidFill>
                    <a:srgbClr val="000000"/>
                  </a:solidFill>
                  <a:latin typeface="Symbol" panose="05050102010706020507" pitchFamily="18" charset="2"/>
                  <a:ea typeface="华文行楷" panose="02010800040101010101" pitchFamily="2" charset="-122"/>
                </a:rPr>
                <a:t>=</a:t>
              </a:r>
              <a:endParaRPr lang="en-US" altLang="zh-CN" sz="2800">
                <a:solidFill>
                  <a:schemeClr val="accent2"/>
                </a:solidFill>
                <a:latin typeface="Arial" panose="020B0604020202020204" pitchFamily="34" charset="0"/>
                <a:ea typeface="华文行楷" panose="02010800040101010101" pitchFamily="2" charset="-122"/>
              </a:endParaRPr>
            </a:p>
          </p:txBody>
        </p:sp>
        <p:sp>
          <p:nvSpPr>
            <p:cNvPr id="51" name="Rectangle 64"/>
            <p:cNvSpPr>
              <a:spLocks noChangeArrowheads="1"/>
            </p:cNvSpPr>
            <p:nvPr/>
          </p:nvSpPr>
          <p:spPr bwMode="auto">
            <a:xfrm>
              <a:off x="3071813" y="5073650"/>
              <a:ext cx="177800" cy="427038"/>
            </a:xfrm>
            <a:prstGeom prst="rect">
              <a:avLst/>
            </a:prstGeom>
            <a:noFill/>
            <a:ln>
              <a:noFill/>
            </a:ln>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1600" b="1">
                  <a:solidFill>
                    <a:schemeClr val="tx1"/>
                  </a:solidFill>
                  <a:latin typeface="Tahoma" panose="020B0604030504040204" pitchFamily="34" charset="0"/>
                  <a:ea typeface="宋体" panose="02010600030101010101" pitchFamily="2" charset="-122"/>
                </a:defRPr>
              </a:lvl1pPr>
              <a:lvl2pPr marL="742950" indent="-285750" eaLnBrk="0" hangingPunct="0">
                <a:defRPr sz="1600" b="1">
                  <a:solidFill>
                    <a:schemeClr val="tx1"/>
                  </a:solidFill>
                  <a:latin typeface="Tahoma" panose="020B0604030504040204" pitchFamily="34" charset="0"/>
                  <a:ea typeface="宋体" panose="02010600030101010101" pitchFamily="2" charset="-122"/>
                </a:defRPr>
              </a:lvl2pPr>
              <a:lvl3pPr marL="1143000" indent="-228600" eaLnBrk="0" hangingPunct="0">
                <a:defRPr sz="1600" b="1">
                  <a:solidFill>
                    <a:schemeClr val="tx1"/>
                  </a:solidFill>
                  <a:latin typeface="Tahoma" panose="020B0604030504040204" pitchFamily="34" charset="0"/>
                  <a:ea typeface="宋体" panose="02010600030101010101" pitchFamily="2" charset="-122"/>
                </a:defRPr>
              </a:lvl3pPr>
              <a:lvl4pPr marL="1600200" indent="-228600" eaLnBrk="0" hangingPunct="0">
                <a:defRPr sz="1600" b="1">
                  <a:solidFill>
                    <a:schemeClr val="tx1"/>
                  </a:solidFill>
                  <a:latin typeface="Tahoma" panose="020B0604030504040204" pitchFamily="34" charset="0"/>
                  <a:ea typeface="宋体" panose="02010600030101010101" pitchFamily="2" charset="-122"/>
                </a:defRPr>
              </a:lvl4pPr>
              <a:lvl5pPr marL="2057400" indent="-228600" eaLnBrk="0" hangingPunct="0">
                <a:defRPr sz="16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9pPr>
            </a:lstStyle>
            <a:p>
              <a:pPr algn="ctr" eaLnBrk="1" hangingPunct="1"/>
              <a:r>
                <a:rPr lang="en-US" altLang="zh-CN" sz="2800">
                  <a:solidFill>
                    <a:srgbClr val="000000"/>
                  </a:solidFill>
                  <a:latin typeface="Times New Roman" panose="02020603050405020304" pitchFamily="18" charset="0"/>
                  <a:ea typeface="华文行楷" panose="02010800040101010101" pitchFamily="2" charset="-122"/>
                </a:rPr>
                <a:t>1</a:t>
              </a:r>
              <a:endParaRPr lang="en-US" altLang="zh-CN" sz="2800">
                <a:solidFill>
                  <a:schemeClr val="accent2"/>
                </a:solidFill>
                <a:latin typeface="Arial" panose="020B0604020202020204" pitchFamily="34" charset="0"/>
                <a:ea typeface="华文行楷" panose="02010800040101010101" pitchFamily="2" charset="-122"/>
              </a:endParaRPr>
            </a:p>
          </p:txBody>
        </p:sp>
        <p:sp>
          <p:nvSpPr>
            <p:cNvPr id="52" name="Rectangle 65"/>
            <p:cNvSpPr>
              <a:spLocks noChangeArrowheads="1"/>
            </p:cNvSpPr>
            <p:nvPr/>
          </p:nvSpPr>
          <p:spPr bwMode="auto">
            <a:xfrm>
              <a:off x="912813" y="5073650"/>
              <a:ext cx="177800" cy="427038"/>
            </a:xfrm>
            <a:prstGeom prst="rect">
              <a:avLst/>
            </a:prstGeom>
            <a:noFill/>
            <a:ln>
              <a:noFill/>
            </a:ln>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1600" b="1">
                  <a:solidFill>
                    <a:schemeClr val="tx1"/>
                  </a:solidFill>
                  <a:latin typeface="Tahoma" panose="020B0604030504040204" pitchFamily="34" charset="0"/>
                  <a:ea typeface="宋体" panose="02010600030101010101" pitchFamily="2" charset="-122"/>
                </a:defRPr>
              </a:lvl1pPr>
              <a:lvl2pPr marL="742950" indent="-285750" eaLnBrk="0" hangingPunct="0">
                <a:defRPr sz="1600" b="1">
                  <a:solidFill>
                    <a:schemeClr val="tx1"/>
                  </a:solidFill>
                  <a:latin typeface="Tahoma" panose="020B0604030504040204" pitchFamily="34" charset="0"/>
                  <a:ea typeface="宋体" panose="02010600030101010101" pitchFamily="2" charset="-122"/>
                </a:defRPr>
              </a:lvl2pPr>
              <a:lvl3pPr marL="1143000" indent="-228600" eaLnBrk="0" hangingPunct="0">
                <a:defRPr sz="1600" b="1">
                  <a:solidFill>
                    <a:schemeClr val="tx1"/>
                  </a:solidFill>
                  <a:latin typeface="Tahoma" panose="020B0604030504040204" pitchFamily="34" charset="0"/>
                  <a:ea typeface="宋体" panose="02010600030101010101" pitchFamily="2" charset="-122"/>
                </a:defRPr>
              </a:lvl3pPr>
              <a:lvl4pPr marL="1600200" indent="-228600" eaLnBrk="0" hangingPunct="0">
                <a:defRPr sz="1600" b="1">
                  <a:solidFill>
                    <a:schemeClr val="tx1"/>
                  </a:solidFill>
                  <a:latin typeface="Tahoma" panose="020B0604030504040204" pitchFamily="34" charset="0"/>
                  <a:ea typeface="宋体" panose="02010600030101010101" pitchFamily="2" charset="-122"/>
                </a:defRPr>
              </a:lvl4pPr>
              <a:lvl5pPr marL="2057400" indent="-228600" eaLnBrk="0" hangingPunct="0">
                <a:defRPr sz="16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9pPr>
            </a:lstStyle>
            <a:p>
              <a:pPr algn="ctr" eaLnBrk="1" hangingPunct="1"/>
              <a:r>
                <a:rPr lang="en-US" altLang="zh-CN" sz="2800">
                  <a:solidFill>
                    <a:srgbClr val="000000"/>
                  </a:solidFill>
                  <a:latin typeface="Times New Roman" panose="02020603050405020304" pitchFamily="18" charset="0"/>
                  <a:ea typeface="华文行楷" panose="02010800040101010101" pitchFamily="2" charset="-122"/>
                </a:rPr>
                <a:t>1</a:t>
              </a:r>
              <a:endParaRPr lang="en-US" altLang="zh-CN" sz="2800">
                <a:solidFill>
                  <a:schemeClr val="accent2"/>
                </a:solidFill>
                <a:latin typeface="Arial" panose="020B0604020202020204" pitchFamily="34" charset="0"/>
                <a:ea typeface="华文行楷" panose="02010800040101010101" pitchFamily="2" charset="-122"/>
              </a:endParaRPr>
            </a:p>
          </p:txBody>
        </p:sp>
        <p:sp>
          <p:nvSpPr>
            <p:cNvPr id="53" name="Rectangle 66"/>
            <p:cNvSpPr>
              <a:spLocks noChangeArrowheads="1"/>
            </p:cNvSpPr>
            <p:nvPr/>
          </p:nvSpPr>
          <p:spPr bwMode="auto">
            <a:xfrm>
              <a:off x="4323645" y="4559300"/>
              <a:ext cx="145874" cy="523220"/>
            </a:xfrm>
            <a:prstGeom prst="rect">
              <a:avLst/>
            </a:prstGeom>
            <a:noFill/>
            <a:ln>
              <a:noFill/>
            </a:ln>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1600" b="1">
                  <a:solidFill>
                    <a:schemeClr val="tx1"/>
                  </a:solidFill>
                  <a:latin typeface="Tahoma" panose="020B0604030504040204" pitchFamily="34" charset="0"/>
                  <a:ea typeface="宋体" panose="02010600030101010101" pitchFamily="2" charset="-122"/>
                </a:defRPr>
              </a:lvl1pPr>
              <a:lvl2pPr marL="742950" indent="-285750" eaLnBrk="0" hangingPunct="0">
                <a:defRPr sz="1600" b="1">
                  <a:solidFill>
                    <a:schemeClr val="tx1"/>
                  </a:solidFill>
                  <a:latin typeface="Tahoma" panose="020B0604030504040204" pitchFamily="34" charset="0"/>
                  <a:ea typeface="宋体" panose="02010600030101010101" pitchFamily="2" charset="-122"/>
                </a:defRPr>
              </a:lvl2pPr>
              <a:lvl3pPr marL="1143000" indent="-228600" eaLnBrk="0" hangingPunct="0">
                <a:defRPr sz="1600" b="1">
                  <a:solidFill>
                    <a:schemeClr val="tx1"/>
                  </a:solidFill>
                  <a:latin typeface="Tahoma" panose="020B0604030504040204" pitchFamily="34" charset="0"/>
                  <a:ea typeface="宋体" panose="02010600030101010101" pitchFamily="2" charset="-122"/>
                </a:defRPr>
              </a:lvl3pPr>
              <a:lvl4pPr marL="1600200" indent="-228600" eaLnBrk="0" hangingPunct="0">
                <a:defRPr sz="1600" b="1">
                  <a:solidFill>
                    <a:schemeClr val="tx1"/>
                  </a:solidFill>
                  <a:latin typeface="Tahoma" panose="020B0604030504040204" pitchFamily="34" charset="0"/>
                  <a:ea typeface="宋体" panose="02010600030101010101" pitchFamily="2" charset="-122"/>
                </a:defRPr>
              </a:lvl4pPr>
              <a:lvl5pPr marL="2057400" indent="-228600" eaLnBrk="0" hangingPunct="0">
                <a:defRPr sz="16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9pPr>
            </a:lstStyle>
            <a:p>
              <a:pPr algn="ctr" eaLnBrk="1" hangingPunct="1"/>
              <a:r>
                <a:rPr lang="en-US" altLang="zh-CN" sz="3400">
                  <a:solidFill>
                    <a:srgbClr val="000000"/>
                  </a:solidFill>
                  <a:latin typeface="Times New Roman" panose="02020603050405020304" pitchFamily="18" charset="0"/>
                  <a:ea typeface="华文行楷" panose="02010800040101010101" pitchFamily="2" charset="-122"/>
                </a:rPr>
                <a:t>)</a:t>
              </a:r>
              <a:endParaRPr lang="en-US" altLang="zh-CN" sz="1800">
                <a:solidFill>
                  <a:schemeClr val="accent2"/>
                </a:solidFill>
                <a:latin typeface="Arial" panose="020B0604020202020204" pitchFamily="34" charset="0"/>
                <a:ea typeface="华文行楷" panose="02010800040101010101" pitchFamily="2" charset="-122"/>
              </a:endParaRPr>
            </a:p>
          </p:txBody>
        </p:sp>
        <p:sp>
          <p:nvSpPr>
            <p:cNvPr id="54" name="Rectangle 67"/>
            <p:cNvSpPr>
              <a:spLocks noChangeArrowheads="1"/>
            </p:cNvSpPr>
            <p:nvPr/>
          </p:nvSpPr>
          <p:spPr bwMode="auto">
            <a:xfrm>
              <a:off x="3856920" y="4559300"/>
              <a:ext cx="145874" cy="523220"/>
            </a:xfrm>
            <a:prstGeom prst="rect">
              <a:avLst/>
            </a:prstGeom>
            <a:noFill/>
            <a:ln>
              <a:noFill/>
            </a:ln>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1600" b="1">
                  <a:solidFill>
                    <a:schemeClr val="tx1"/>
                  </a:solidFill>
                  <a:latin typeface="Tahoma" panose="020B0604030504040204" pitchFamily="34" charset="0"/>
                  <a:ea typeface="宋体" panose="02010600030101010101" pitchFamily="2" charset="-122"/>
                </a:defRPr>
              </a:lvl1pPr>
              <a:lvl2pPr marL="742950" indent="-285750" eaLnBrk="0" hangingPunct="0">
                <a:defRPr sz="1600" b="1">
                  <a:solidFill>
                    <a:schemeClr val="tx1"/>
                  </a:solidFill>
                  <a:latin typeface="Tahoma" panose="020B0604030504040204" pitchFamily="34" charset="0"/>
                  <a:ea typeface="宋体" panose="02010600030101010101" pitchFamily="2" charset="-122"/>
                </a:defRPr>
              </a:lvl2pPr>
              <a:lvl3pPr marL="1143000" indent="-228600" eaLnBrk="0" hangingPunct="0">
                <a:defRPr sz="1600" b="1">
                  <a:solidFill>
                    <a:schemeClr val="tx1"/>
                  </a:solidFill>
                  <a:latin typeface="Tahoma" panose="020B0604030504040204" pitchFamily="34" charset="0"/>
                  <a:ea typeface="宋体" panose="02010600030101010101" pitchFamily="2" charset="-122"/>
                </a:defRPr>
              </a:lvl3pPr>
              <a:lvl4pPr marL="1600200" indent="-228600" eaLnBrk="0" hangingPunct="0">
                <a:defRPr sz="1600" b="1">
                  <a:solidFill>
                    <a:schemeClr val="tx1"/>
                  </a:solidFill>
                  <a:latin typeface="Tahoma" panose="020B0604030504040204" pitchFamily="34" charset="0"/>
                  <a:ea typeface="宋体" panose="02010600030101010101" pitchFamily="2" charset="-122"/>
                </a:defRPr>
              </a:lvl4pPr>
              <a:lvl5pPr marL="2057400" indent="-228600" eaLnBrk="0" hangingPunct="0">
                <a:defRPr sz="16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9pPr>
            </a:lstStyle>
            <a:p>
              <a:pPr algn="ctr" eaLnBrk="1" hangingPunct="1"/>
              <a:r>
                <a:rPr lang="en-US" altLang="zh-CN" sz="3400">
                  <a:solidFill>
                    <a:srgbClr val="000000"/>
                  </a:solidFill>
                  <a:latin typeface="Times New Roman" panose="02020603050405020304" pitchFamily="18" charset="0"/>
                  <a:ea typeface="华文行楷" panose="02010800040101010101" pitchFamily="2" charset="-122"/>
                </a:rPr>
                <a:t>(</a:t>
              </a:r>
              <a:endParaRPr lang="en-US" altLang="zh-CN" sz="1800">
                <a:solidFill>
                  <a:schemeClr val="accent2"/>
                </a:solidFill>
                <a:latin typeface="Arial" panose="020B0604020202020204" pitchFamily="34" charset="0"/>
                <a:ea typeface="华文行楷" panose="02010800040101010101" pitchFamily="2" charset="-122"/>
              </a:endParaRPr>
            </a:p>
          </p:txBody>
        </p:sp>
        <p:sp>
          <p:nvSpPr>
            <p:cNvPr id="55" name="Rectangle 68"/>
            <p:cNvSpPr>
              <a:spLocks noChangeArrowheads="1"/>
            </p:cNvSpPr>
            <p:nvPr/>
          </p:nvSpPr>
          <p:spPr bwMode="auto">
            <a:xfrm>
              <a:off x="2118607" y="4559300"/>
              <a:ext cx="145874" cy="523220"/>
            </a:xfrm>
            <a:prstGeom prst="rect">
              <a:avLst/>
            </a:prstGeom>
            <a:noFill/>
            <a:ln>
              <a:noFill/>
            </a:ln>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1600" b="1">
                  <a:solidFill>
                    <a:schemeClr val="tx1"/>
                  </a:solidFill>
                  <a:latin typeface="Tahoma" panose="020B0604030504040204" pitchFamily="34" charset="0"/>
                  <a:ea typeface="宋体" panose="02010600030101010101" pitchFamily="2" charset="-122"/>
                </a:defRPr>
              </a:lvl1pPr>
              <a:lvl2pPr marL="742950" indent="-285750" eaLnBrk="0" hangingPunct="0">
                <a:defRPr sz="1600" b="1">
                  <a:solidFill>
                    <a:schemeClr val="tx1"/>
                  </a:solidFill>
                  <a:latin typeface="Tahoma" panose="020B0604030504040204" pitchFamily="34" charset="0"/>
                  <a:ea typeface="宋体" panose="02010600030101010101" pitchFamily="2" charset="-122"/>
                </a:defRPr>
              </a:lvl2pPr>
              <a:lvl3pPr marL="1143000" indent="-228600" eaLnBrk="0" hangingPunct="0">
                <a:defRPr sz="1600" b="1">
                  <a:solidFill>
                    <a:schemeClr val="tx1"/>
                  </a:solidFill>
                  <a:latin typeface="Tahoma" panose="020B0604030504040204" pitchFamily="34" charset="0"/>
                  <a:ea typeface="宋体" panose="02010600030101010101" pitchFamily="2" charset="-122"/>
                </a:defRPr>
              </a:lvl3pPr>
              <a:lvl4pPr marL="1600200" indent="-228600" eaLnBrk="0" hangingPunct="0">
                <a:defRPr sz="1600" b="1">
                  <a:solidFill>
                    <a:schemeClr val="tx1"/>
                  </a:solidFill>
                  <a:latin typeface="Tahoma" panose="020B0604030504040204" pitchFamily="34" charset="0"/>
                  <a:ea typeface="宋体" panose="02010600030101010101" pitchFamily="2" charset="-122"/>
                </a:defRPr>
              </a:lvl4pPr>
              <a:lvl5pPr marL="2057400" indent="-228600" eaLnBrk="0" hangingPunct="0">
                <a:defRPr sz="16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9pPr>
            </a:lstStyle>
            <a:p>
              <a:pPr algn="ctr" eaLnBrk="1" hangingPunct="1"/>
              <a:r>
                <a:rPr lang="en-US" altLang="zh-CN" sz="3400" dirty="0">
                  <a:solidFill>
                    <a:srgbClr val="000000"/>
                  </a:solidFill>
                  <a:latin typeface="Times New Roman" panose="02020603050405020304" pitchFamily="18" charset="0"/>
                  <a:ea typeface="华文行楷" panose="02010800040101010101" pitchFamily="2" charset="-122"/>
                </a:rPr>
                <a:t>)</a:t>
              </a:r>
              <a:endParaRPr lang="en-US" altLang="zh-CN" sz="1800" dirty="0">
                <a:solidFill>
                  <a:schemeClr val="accent2"/>
                </a:solidFill>
                <a:latin typeface="Arial" panose="020B0604020202020204" pitchFamily="34" charset="0"/>
                <a:ea typeface="华文行楷" panose="02010800040101010101" pitchFamily="2" charset="-122"/>
              </a:endParaRPr>
            </a:p>
          </p:txBody>
        </p:sp>
        <p:sp>
          <p:nvSpPr>
            <p:cNvPr id="56" name="Rectangle 69"/>
            <p:cNvSpPr>
              <a:spLocks noChangeArrowheads="1"/>
            </p:cNvSpPr>
            <p:nvPr/>
          </p:nvSpPr>
          <p:spPr bwMode="auto">
            <a:xfrm>
              <a:off x="1650295" y="4559300"/>
              <a:ext cx="145874" cy="523220"/>
            </a:xfrm>
            <a:prstGeom prst="rect">
              <a:avLst/>
            </a:prstGeom>
            <a:noFill/>
            <a:ln>
              <a:noFill/>
            </a:ln>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1600" b="1">
                  <a:solidFill>
                    <a:schemeClr val="tx1"/>
                  </a:solidFill>
                  <a:latin typeface="Tahoma" panose="020B0604030504040204" pitchFamily="34" charset="0"/>
                  <a:ea typeface="宋体" panose="02010600030101010101" pitchFamily="2" charset="-122"/>
                </a:defRPr>
              </a:lvl1pPr>
              <a:lvl2pPr marL="742950" indent="-285750" eaLnBrk="0" hangingPunct="0">
                <a:defRPr sz="1600" b="1">
                  <a:solidFill>
                    <a:schemeClr val="tx1"/>
                  </a:solidFill>
                  <a:latin typeface="Tahoma" panose="020B0604030504040204" pitchFamily="34" charset="0"/>
                  <a:ea typeface="宋体" panose="02010600030101010101" pitchFamily="2" charset="-122"/>
                </a:defRPr>
              </a:lvl2pPr>
              <a:lvl3pPr marL="1143000" indent="-228600" eaLnBrk="0" hangingPunct="0">
                <a:defRPr sz="1600" b="1">
                  <a:solidFill>
                    <a:schemeClr val="tx1"/>
                  </a:solidFill>
                  <a:latin typeface="Tahoma" panose="020B0604030504040204" pitchFamily="34" charset="0"/>
                  <a:ea typeface="宋体" panose="02010600030101010101" pitchFamily="2" charset="-122"/>
                </a:defRPr>
              </a:lvl3pPr>
              <a:lvl4pPr marL="1600200" indent="-228600" eaLnBrk="0" hangingPunct="0">
                <a:defRPr sz="1600" b="1">
                  <a:solidFill>
                    <a:schemeClr val="tx1"/>
                  </a:solidFill>
                  <a:latin typeface="Tahoma" panose="020B0604030504040204" pitchFamily="34" charset="0"/>
                  <a:ea typeface="宋体" panose="02010600030101010101" pitchFamily="2" charset="-122"/>
                </a:defRPr>
              </a:lvl4pPr>
              <a:lvl5pPr marL="2057400" indent="-228600" eaLnBrk="0" hangingPunct="0">
                <a:defRPr sz="16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9pPr>
            </a:lstStyle>
            <a:p>
              <a:pPr algn="ctr" eaLnBrk="1" hangingPunct="1"/>
              <a:r>
                <a:rPr lang="en-US" altLang="zh-CN" sz="3400">
                  <a:solidFill>
                    <a:srgbClr val="000000"/>
                  </a:solidFill>
                  <a:latin typeface="Times New Roman" panose="02020603050405020304" pitchFamily="18" charset="0"/>
                  <a:ea typeface="华文行楷" panose="02010800040101010101" pitchFamily="2" charset="-122"/>
                </a:rPr>
                <a:t>(</a:t>
              </a:r>
              <a:endParaRPr lang="en-US" altLang="zh-CN" sz="1800">
                <a:solidFill>
                  <a:schemeClr val="accent2"/>
                </a:solidFill>
                <a:latin typeface="Arial" panose="020B0604020202020204" pitchFamily="34" charset="0"/>
                <a:ea typeface="华文行楷" panose="02010800040101010101" pitchFamily="2" charset="-122"/>
              </a:endParaRPr>
            </a:p>
          </p:txBody>
        </p:sp>
        <p:sp>
          <p:nvSpPr>
            <p:cNvPr id="57" name="Rectangle 55"/>
            <p:cNvSpPr>
              <a:spLocks noChangeArrowheads="1"/>
            </p:cNvSpPr>
            <p:nvPr/>
          </p:nvSpPr>
          <p:spPr bwMode="auto">
            <a:xfrm>
              <a:off x="768969" y="4124325"/>
              <a:ext cx="200376" cy="430887"/>
            </a:xfrm>
            <a:prstGeom prst="rect">
              <a:avLst/>
            </a:prstGeom>
            <a:noFill/>
            <a:ln>
              <a:noFill/>
            </a:ln>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1600" b="1">
                  <a:solidFill>
                    <a:schemeClr val="tx1"/>
                  </a:solidFill>
                  <a:latin typeface="Tahoma" panose="020B0604030504040204" pitchFamily="34" charset="0"/>
                  <a:ea typeface="宋体" panose="02010600030101010101" pitchFamily="2" charset="-122"/>
                </a:defRPr>
              </a:lvl1pPr>
              <a:lvl2pPr marL="742950" indent="-285750" eaLnBrk="0" hangingPunct="0">
                <a:defRPr sz="1600" b="1">
                  <a:solidFill>
                    <a:schemeClr val="tx1"/>
                  </a:solidFill>
                  <a:latin typeface="Tahoma" panose="020B0604030504040204" pitchFamily="34" charset="0"/>
                  <a:ea typeface="宋体" panose="02010600030101010101" pitchFamily="2" charset="-122"/>
                </a:defRPr>
              </a:lvl2pPr>
              <a:lvl3pPr marL="1143000" indent="-228600" eaLnBrk="0" hangingPunct="0">
                <a:defRPr sz="1600" b="1">
                  <a:solidFill>
                    <a:schemeClr val="tx1"/>
                  </a:solidFill>
                  <a:latin typeface="Tahoma" panose="020B0604030504040204" pitchFamily="34" charset="0"/>
                  <a:ea typeface="宋体" panose="02010600030101010101" pitchFamily="2" charset="-122"/>
                </a:defRPr>
              </a:lvl3pPr>
              <a:lvl4pPr marL="1600200" indent="-228600" eaLnBrk="0" hangingPunct="0">
                <a:defRPr sz="1600" b="1">
                  <a:solidFill>
                    <a:schemeClr val="tx1"/>
                  </a:solidFill>
                  <a:latin typeface="Tahoma" panose="020B0604030504040204" pitchFamily="34" charset="0"/>
                  <a:ea typeface="宋体" panose="02010600030101010101" pitchFamily="2" charset="-122"/>
                </a:defRPr>
              </a:lvl4pPr>
              <a:lvl5pPr marL="2057400" indent="-228600" eaLnBrk="0" hangingPunct="0">
                <a:defRPr sz="16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9pPr>
            </a:lstStyle>
            <a:p>
              <a:pPr algn="ctr" eaLnBrk="1" hangingPunct="1"/>
              <a:r>
                <a:rPr lang="en-US" altLang="zh-CN" sz="2800" i="1">
                  <a:solidFill>
                    <a:srgbClr val="000000"/>
                  </a:solidFill>
                  <a:latin typeface="Times New Roman" panose="02020603050405020304" pitchFamily="18" charset="0"/>
                  <a:ea typeface="华文行楷" panose="02010800040101010101" pitchFamily="2" charset="-122"/>
                </a:rPr>
                <a:t>n</a:t>
              </a:r>
              <a:endParaRPr lang="en-US" altLang="zh-CN" sz="2800">
                <a:solidFill>
                  <a:schemeClr val="accent2"/>
                </a:solidFill>
                <a:latin typeface="Arial" panose="020B0604020202020204" pitchFamily="34" charset="0"/>
                <a:ea typeface="华文行楷" panose="02010800040101010101" pitchFamily="2" charset="-122"/>
              </a:endParaRPr>
            </a:p>
          </p:txBody>
        </p:sp>
        <p:sp>
          <p:nvSpPr>
            <p:cNvPr id="58" name="Rectangle 52"/>
            <p:cNvSpPr>
              <a:spLocks noChangeArrowheads="1"/>
            </p:cNvSpPr>
            <p:nvPr/>
          </p:nvSpPr>
          <p:spPr bwMode="auto">
            <a:xfrm>
              <a:off x="2950194" y="4110038"/>
              <a:ext cx="200376" cy="430887"/>
            </a:xfrm>
            <a:prstGeom prst="rect">
              <a:avLst/>
            </a:prstGeom>
            <a:noFill/>
            <a:ln>
              <a:noFill/>
            </a:ln>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1600" b="1">
                  <a:solidFill>
                    <a:schemeClr val="tx1"/>
                  </a:solidFill>
                  <a:latin typeface="Tahoma" panose="020B0604030504040204" pitchFamily="34" charset="0"/>
                  <a:ea typeface="宋体" panose="02010600030101010101" pitchFamily="2" charset="-122"/>
                </a:defRPr>
              </a:lvl1pPr>
              <a:lvl2pPr marL="742950" indent="-285750" eaLnBrk="0" hangingPunct="0">
                <a:defRPr sz="1600" b="1">
                  <a:solidFill>
                    <a:schemeClr val="tx1"/>
                  </a:solidFill>
                  <a:latin typeface="Tahoma" panose="020B0604030504040204" pitchFamily="34" charset="0"/>
                  <a:ea typeface="宋体" panose="02010600030101010101" pitchFamily="2" charset="-122"/>
                </a:defRPr>
              </a:lvl2pPr>
              <a:lvl3pPr marL="1143000" indent="-228600" eaLnBrk="0" hangingPunct="0">
                <a:defRPr sz="1600" b="1">
                  <a:solidFill>
                    <a:schemeClr val="tx1"/>
                  </a:solidFill>
                  <a:latin typeface="Tahoma" panose="020B0604030504040204" pitchFamily="34" charset="0"/>
                  <a:ea typeface="宋体" panose="02010600030101010101" pitchFamily="2" charset="-122"/>
                </a:defRPr>
              </a:lvl3pPr>
              <a:lvl4pPr marL="1600200" indent="-228600" eaLnBrk="0" hangingPunct="0">
                <a:defRPr sz="1600" b="1">
                  <a:solidFill>
                    <a:schemeClr val="tx1"/>
                  </a:solidFill>
                  <a:latin typeface="Tahoma" panose="020B0604030504040204" pitchFamily="34" charset="0"/>
                  <a:ea typeface="宋体" panose="02010600030101010101" pitchFamily="2" charset="-122"/>
                </a:defRPr>
              </a:lvl4pPr>
              <a:lvl5pPr marL="2057400" indent="-228600" eaLnBrk="0" hangingPunct="0">
                <a:defRPr sz="16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9pPr>
            </a:lstStyle>
            <a:p>
              <a:pPr algn="ctr" eaLnBrk="1" hangingPunct="1"/>
              <a:r>
                <a:rPr lang="en-US" altLang="zh-CN" sz="2800" i="1">
                  <a:solidFill>
                    <a:srgbClr val="000000"/>
                  </a:solidFill>
                  <a:latin typeface="Times New Roman" panose="02020603050405020304" pitchFamily="18" charset="0"/>
                  <a:ea typeface="华文行楷" panose="02010800040101010101" pitchFamily="2" charset="-122"/>
                </a:rPr>
                <a:t>n</a:t>
              </a:r>
              <a:endParaRPr lang="en-US" altLang="zh-CN" sz="2800">
                <a:solidFill>
                  <a:schemeClr val="accent2"/>
                </a:solidFill>
                <a:latin typeface="Arial" panose="020B0604020202020204" pitchFamily="34" charset="0"/>
                <a:ea typeface="华文行楷" panose="02010800040101010101" pitchFamily="2" charset="-122"/>
              </a:endParaRPr>
            </a:p>
          </p:txBody>
        </p:sp>
      </p:grpSp>
      <p:sp>
        <p:nvSpPr>
          <p:cNvPr id="2" name="矩形 1">
            <a:extLst>
              <a:ext uri="{FF2B5EF4-FFF2-40B4-BE49-F238E27FC236}">
                <a16:creationId xmlns:a16="http://schemas.microsoft.com/office/drawing/2014/main" id="{B8696679-D05A-088C-97E3-901F2FB4E4F2}"/>
              </a:ext>
            </a:extLst>
          </p:cNvPr>
          <p:cNvSpPr/>
          <p:nvPr/>
        </p:nvSpPr>
        <p:spPr>
          <a:xfrm>
            <a:off x="4421120" y="339686"/>
            <a:ext cx="3637792"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8.1 </a:t>
            </a:r>
            <a:r>
              <a:rPr lang="zh-CN" altLang="en-US" sz="3000" b="1" dirty="0">
                <a:latin typeface="黑体" pitchFamily="49" charset="-122"/>
                <a:ea typeface="黑体" pitchFamily="49" charset="-122"/>
                <a:cs typeface="经典粗黑简" pitchFamily="49" charset="-122"/>
              </a:rPr>
              <a:t>图的基本概念</a:t>
            </a:r>
          </a:p>
        </p:txBody>
      </p:sp>
      <p:sp>
        <p:nvSpPr>
          <p:cNvPr id="5" name="Rectangle 2">
            <a:extLst>
              <a:ext uri="{FF2B5EF4-FFF2-40B4-BE49-F238E27FC236}">
                <a16:creationId xmlns:a16="http://schemas.microsoft.com/office/drawing/2014/main" id="{07BFFE9F-ECD5-9476-6770-2F452A97AEF1}"/>
              </a:ext>
            </a:extLst>
          </p:cNvPr>
          <p:cNvSpPr txBox="1">
            <a:spLocks noChangeArrowheads="1"/>
          </p:cNvSpPr>
          <p:nvPr/>
        </p:nvSpPr>
        <p:spPr>
          <a:xfrm>
            <a:off x="407368" y="1167247"/>
            <a:ext cx="3528392"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8.1.2 </a:t>
            </a:r>
            <a:r>
              <a:rPr lang="zh-CN" altLang="en-US" dirty="0"/>
              <a:t>图的基本术语</a:t>
            </a:r>
          </a:p>
        </p:txBody>
      </p:sp>
      <p:cxnSp>
        <p:nvCxnSpPr>
          <p:cNvPr id="7" name="直接连接符 6">
            <a:extLst>
              <a:ext uri="{FF2B5EF4-FFF2-40B4-BE49-F238E27FC236}">
                <a16:creationId xmlns:a16="http://schemas.microsoft.com/office/drawing/2014/main" id="{197607C2-A25F-7DF7-A5CC-504EFF1B774A}"/>
              </a:ext>
            </a:extLst>
          </p:cNvPr>
          <p:cNvCxnSpPr>
            <a:cxnSpLocks/>
          </p:cNvCxnSpPr>
          <p:nvPr/>
        </p:nvCxnSpPr>
        <p:spPr>
          <a:xfrm>
            <a:off x="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352503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079790" y="2390668"/>
            <a:ext cx="5057795" cy="400110"/>
          </a:xfrm>
          <a:prstGeom prst="rect">
            <a:avLst/>
          </a:prstGeom>
        </p:spPr>
        <p:txBody>
          <a:bodyPr wrap="none">
            <a:spAutoFit/>
          </a:bodyPr>
          <a:lstStyle/>
          <a:p>
            <a:r>
              <a:rPr kumimoji="1" lang="en-US" altLang="zh-CN" sz="2000" dirty="0">
                <a:latin typeface="微软雅黑" pitchFamily="34" charset="-122"/>
                <a:ea typeface="微软雅黑" pitchFamily="34" charset="-122"/>
                <a:cs typeface="经典粗黑简" pitchFamily="49" charset="-122"/>
              </a:rPr>
              <a:t>⑶</a:t>
            </a:r>
            <a:r>
              <a:rPr kumimoji="1" lang="zh-CN" altLang="en-US" sz="2000" dirty="0">
                <a:latin typeface="微软雅黑" pitchFamily="34" charset="-122"/>
                <a:ea typeface="微软雅黑" pitchFamily="34" charset="-122"/>
                <a:cs typeface="经典粗黑简" pitchFamily="49" charset="-122"/>
              </a:rPr>
              <a:t>、完全图、有向完全图、稠密图和稀疏图</a:t>
            </a:r>
          </a:p>
        </p:txBody>
      </p:sp>
      <p:sp>
        <p:nvSpPr>
          <p:cNvPr id="30" name="Oval 4"/>
          <p:cNvSpPr>
            <a:spLocks noChangeArrowheads="1"/>
          </p:cNvSpPr>
          <p:nvPr/>
        </p:nvSpPr>
        <p:spPr bwMode="auto">
          <a:xfrm>
            <a:off x="3440425" y="2924944"/>
            <a:ext cx="503238" cy="503238"/>
          </a:xfrm>
          <a:prstGeom prst="ellipse">
            <a:avLst/>
          </a:prstGeom>
          <a:solidFill>
            <a:schemeClr val="bg1"/>
          </a:solidFill>
          <a:ln w="28575" cap="sq">
            <a:solidFill>
              <a:srgbClr val="0033CC"/>
            </a:solidFill>
            <a:miter lim="800000"/>
            <a:headEnd type="none" w="sm" len="sm"/>
            <a:tailEnd type="none" w="sm" len="sm"/>
          </a:ln>
        </p:spPr>
        <p:txBody>
          <a:bodyPr wrap="none" tIns="0" anchorCtr="1"/>
          <a:lstStyle/>
          <a:p>
            <a:r>
              <a:rPr lang="en-US" altLang="zh-CN" sz="2400"/>
              <a:t>v</a:t>
            </a:r>
            <a:r>
              <a:rPr lang="en-US" altLang="zh-CN" sz="2400" baseline="-25000"/>
              <a:t>1</a:t>
            </a:r>
          </a:p>
        </p:txBody>
      </p:sp>
      <p:sp>
        <p:nvSpPr>
          <p:cNvPr id="31" name="Oval 5"/>
          <p:cNvSpPr>
            <a:spLocks noChangeArrowheads="1"/>
          </p:cNvSpPr>
          <p:nvPr/>
        </p:nvSpPr>
        <p:spPr bwMode="auto">
          <a:xfrm>
            <a:off x="4953313" y="2924944"/>
            <a:ext cx="503238" cy="503238"/>
          </a:xfrm>
          <a:prstGeom prst="ellipse">
            <a:avLst/>
          </a:prstGeom>
          <a:solidFill>
            <a:schemeClr val="bg1"/>
          </a:solidFill>
          <a:ln w="28575" cap="sq">
            <a:solidFill>
              <a:srgbClr val="0033CC"/>
            </a:solidFill>
            <a:miter lim="800000"/>
            <a:headEnd type="none" w="sm" len="sm"/>
            <a:tailEnd type="none" w="sm" len="sm"/>
          </a:ln>
        </p:spPr>
        <p:txBody>
          <a:bodyPr wrap="none" tIns="0" anchorCtr="1"/>
          <a:lstStyle/>
          <a:p>
            <a:r>
              <a:rPr lang="en-US" altLang="zh-CN" sz="2400"/>
              <a:t>v</a:t>
            </a:r>
            <a:r>
              <a:rPr lang="en-US" altLang="zh-CN" sz="2400" baseline="-25000"/>
              <a:t>2</a:t>
            </a:r>
          </a:p>
        </p:txBody>
      </p:sp>
      <p:sp>
        <p:nvSpPr>
          <p:cNvPr id="32" name="Oval 6"/>
          <p:cNvSpPr>
            <a:spLocks noChangeArrowheads="1"/>
          </p:cNvSpPr>
          <p:nvPr/>
        </p:nvSpPr>
        <p:spPr bwMode="auto">
          <a:xfrm>
            <a:off x="4232588" y="3647257"/>
            <a:ext cx="503238" cy="503238"/>
          </a:xfrm>
          <a:prstGeom prst="ellipse">
            <a:avLst/>
          </a:prstGeom>
          <a:solidFill>
            <a:schemeClr val="bg1"/>
          </a:solidFill>
          <a:ln w="28575" cap="sq">
            <a:solidFill>
              <a:srgbClr val="0033CC"/>
            </a:solidFill>
            <a:miter lim="800000"/>
            <a:headEnd type="none" w="sm" len="sm"/>
            <a:tailEnd type="none" w="sm" len="sm"/>
          </a:ln>
        </p:spPr>
        <p:txBody>
          <a:bodyPr wrap="none" tIns="0" anchorCtr="1"/>
          <a:lstStyle/>
          <a:p>
            <a:r>
              <a:rPr lang="en-US" altLang="zh-CN" sz="2400"/>
              <a:t>v</a:t>
            </a:r>
            <a:r>
              <a:rPr lang="en-US" altLang="zh-CN" sz="2400" baseline="-25000"/>
              <a:t>3</a:t>
            </a:r>
          </a:p>
        </p:txBody>
      </p:sp>
      <p:sp>
        <p:nvSpPr>
          <p:cNvPr id="33" name="Line 7"/>
          <p:cNvSpPr>
            <a:spLocks noChangeShapeType="1"/>
          </p:cNvSpPr>
          <p:nvPr/>
        </p:nvSpPr>
        <p:spPr bwMode="auto">
          <a:xfrm>
            <a:off x="3943664" y="3140844"/>
            <a:ext cx="1008063" cy="0"/>
          </a:xfrm>
          <a:prstGeom prst="line">
            <a:avLst/>
          </a:prstGeom>
          <a:noFill/>
          <a:ln w="28575" cap="sq">
            <a:solidFill>
              <a:srgbClr val="0033CC"/>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34" name="Line 8"/>
          <p:cNvSpPr>
            <a:spLocks noChangeShapeType="1"/>
          </p:cNvSpPr>
          <p:nvPr/>
        </p:nvSpPr>
        <p:spPr bwMode="auto">
          <a:xfrm>
            <a:off x="3872226" y="3356744"/>
            <a:ext cx="360363" cy="431800"/>
          </a:xfrm>
          <a:prstGeom prst="line">
            <a:avLst/>
          </a:prstGeom>
          <a:noFill/>
          <a:ln w="28575" cap="sq">
            <a:solidFill>
              <a:srgbClr val="0033CC"/>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35" name="Line 9"/>
          <p:cNvSpPr>
            <a:spLocks noChangeShapeType="1"/>
          </p:cNvSpPr>
          <p:nvPr/>
        </p:nvSpPr>
        <p:spPr bwMode="auto">
          <a:xfrm flipH="1">
            <a:off x="4664389" y="3358333"/>
            <a:ext cx="360363" cy="358775"/>
          </a:xfrm>
          <a:prstGeom prst="line">
            <a:avLst/>
          </a:prstGeom>
          <a:noFill/>
          <a:ln w="28575" cap="sq">
            <a:solidFill>
              <a:srgbClr val="0033CC"/>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36" name="Text Box 10"/>
          <p:cNvSpPr txBox="1">
            <a:spLocks noChangeArrowheads="1"/>
          </p:cNvSpPr>
          <p:nvPr/>
        </p:nvSpPr>
        <p:spPr bwMode="auto">
          <a:xfrm>
            <a:off x="3871110" y="4279083"/>
            <a:ext cx="122396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spAutoFit/>
          </a:bodyPr>
          <a:lstStyle>
            <a:lvl1pPr eaLnBrk="0" hangingPunct="0">
              <a:defRPr kumimoji="1" sz="2800">
                <a:solidFill>
                  <a:schemeClr val="tx1"/>
                </a:solidFill>
                <a:latin typeface="Comic Sans MS" pitchFamily="66" charset="0"/>
                <a:ea typeface="宋体" pitchFamily="2" charset="-122"/>
              </a:defRPr>
            </a:lvl1pPr>
            <a:lvl2pPr marL="742950" indent="-285750" eaLnBrk="0" hangingPunct="0">
              <a:defRPr kumimoji="1" sz="2800">
                <a:solidFill>
                  <a:schemeClr val="tx1"/>
                </a:solidFill>
                <a:latin typeface="Comic Sans MS" pitchFamily="66" charset="0"/>
                <a:ea typeface="宋体" pitchFamily="2" charset="-122"/>
              </a:defRPr>
            </a:lvl2pPr>
            <a:lvl3pPr marL="1143000" indent="-228600" eaLnBrk="0" hangingPunct="0">
              <a:defRPr kumimoji="1" sz="2800">
                <a:solidFill>
                  <a:schemeClr val="tx1"/>
                </a:solidFill>
                <a:latin typeface="Comic Sans MS" pitchFamily="66" charset="0"/>
                <a:ea typeface="宋体" pitchFamily="2" charset="-122"/>
              </a:defRPr>
            </a:lvl3pPr>
            <a:lvl4pPr marL="1600200" indent="-228600" eaLnBrk="0" hangingPunct="0">
              <a:defRPr kumimoji="1" sz="2800">
                <a:solidFill>
                  <a:schemeClr val="tx1"/>
                </a:solidFill>
                <a:latin typeface="Comic Sans MS" pitchFamily="66" charset="0"/>
                <a:ea typeface="宋体" pitchFamily="2" charset="-122"/>
              </a:defRPr>
            </a:lvl4pPr>
            <a:lvl5pPr marL="2057400" indent="-228600" eaLnBrk="0" hangingPunct="0">
              <a:defRPr kumimoji="1" sz="2800">
                <a:solidFill>
                  <a:schemeClr val="tx1"/>
                </a:solidFill>
                <a:latin typeface="Comic Sans MS" pitchFamily="66" charset="0"/>
                <a:ea typeface="宋体" pitchFamily="2" charset="-122"/>
              </a:defRPr>
            </a:lvl5pPr>
            <a:lvl6pPr marL="25146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6pPr>
            <a:lvl7pPr marL="29718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7pPr>
            <a:lvl8pPr marL="34290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8pPr>
            <a:lvl9pPr marL="38862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9pPr>
          </a:lstStyle>
          <a:p>
            <a:pPr eaLnBrk="1" hangingPunct="1">
              <a:spcBef>
                <a:spcPct val="50000"/>
              </a:spcBef>
            </a:pPr>
            <a:r>
              <a:rPr lang="zh-CN" altLang="en-US" sz="2000" dirty="0">
                <a:latin typeface="微软雅黑" pitchFamily="34" charset="-122"/>
                <a:ea typeface="微软雅黑" pitchFamily="34" charset="-122"/>
                <a:cs typeface="经典粗黑简" pitchFamily="49" charset="-122"/>
              </a:rPr>
              <a:t>完全图</a:t>
            </a:r>
          </a:p>
        </p:txBody>
      </p:sp>
      <p:sp>
        <p:nvSpPr>
          <p:cNvPr id="38" name="Oval 12"/>
          <p:cNvSpPr>
            <a:spLocks noChangeArrowheads="1"/>
          </p:cNvSpPr>
          <p:nvPr/>
        </p:nvSpPr>
        <p:spPr bwMode="auto">
          <a:xfrm>
            <a:off x="6824975" y="2997969"/>
            <a:ext cx="503238" cy="503238"/>
          </a:xfrm>
          <a:prstGeom prst="ellipse">
            <a:avLst/>
          </a:prstGeom>
          <a:solidFill>
            <a:schemeClr val="bg1"/>
          </a:solidFill>
          <a:ln w="28575" cap="sq">
            <a:solidFill>
              <a:srgbClr val="0033CC"/>
            </a:solidFill>
            <a:miter lim="800000"/>
            <a:headEnd type="none" w="sm" len="sm"/>
            <a:tailEnd type="none" w="sm" len="sm"/>
          </a:ln>
        </p:spPr>
        <p:txBody>
          <a:bodyPr wrap="none" tIns="0" anchorCtr="1"/>
          <a:lstStyle/>
          <a:p>
            <a:r>
              <a:rPr lang="en-US" altLang="zh-CN" sz="2400"/>
              <a:t>v</a:t>
            </a:r>
            <a:r>
              <a:rPr lang="en-US" altLang="zh-CN" sz="2400" baseline="-25000"/>
              <a:t>1</a:t>
            </a:r>
          </a:p>
        </p:txBody>
      </p:sp>
      <p:sp>
        <p:nvSpPr>
          <p:cNvPr id="39" name="Oval 13"/>
          <p:cNvSpPr>
            <a:spLocks noChangeArrowheads="1"/>
          </p:cNvSpPr>
          <p:nvPr/>
        </p:nvSpPr>
        <p:spPr bwMode="auto">
          <a:xfrm>
            <a:off x="8409300" y="2997969"/>
            <a:ext cx="503238" cy="503238"/>
          </a:xfrm>
          <a:prstGeom prst="ellipse">
            <a:avLst/>
          </a:prstGeom>
          <a:solidFill>
            <a:schemeClr val="bg1"/>
          </a:solidFill>
          <a:ln w="28575" cap="sq">
            <a:solidFill>
              <a:srgbClr val="0033CC"/>
            </a:solidFill>
            <a:miter lim="800000"/>
            <a:headEnd type="none" w="sm" len="sm"/>
            <a:tailEnd type="none" w="sm" len="sm"/>
          </a:ln>
        </p:spPr>
        <p:txBody>
          <a:bodyPr wrap="none" tIns="0" anchorCtr="1"/>
          <a:lstStyle/>
          <a:p>
            <a:r>
              <a:rPr lang="en-US" altLang="zh-CN" sz="2400"/>
              <a:t>v</a:t>
            </a:r>
            <a:r>
              <a:rPr lang="en-US" altLang="zh-CN" sz="2400" baseline="-25000"/>
              <a:t>2</a:t>
            </a:r>
          </a:p>
        </p:txBody>
      </p:sp>
      <p:sp>
        <p:nvSpPr>
          <p:cNvPr id="40" name="Oval 14"/>
          <p:cNvSpPr>
            <a:spLocks noChangeArrowheads="1"/>
          </p:cNvSpPr>
          <p:nvPr/>
        </p:nvSpPr>
        <p:spPr bwMode="auto">
          <a:xfrm>
            <a:off x="7617137" y="3720282"/>
            <a:ext cx="503238" cy="503238"/>
          </a:xfrm>
          <a:prstGeom prst="ellipse">
            <a:avLst/>
          </a:prstGeom>
          <a:solidFill>
            <a:schemeClr val="bg1"/>
          </a:solidFill>
          <a:ln w="28575" cap="sq">
            <a:solidFill>
              <a:srgbClr val="0033CC"/>
            </a:solidFill>
            <a:miter lim="800000"/>
            <a:headEnd type="none" w="sm" len="sm"/>
            <a:tailEnd type="none" w="sm" len="sm"/>
          </a:ln>
        </p:spPr>
        <p:txBody>
          <a:bodyPr wrap="none" tIns="0" anchorCtr="1"/>
          <a:lstStyle/>
          <a:p>
            <a:r>
              <a:rPr lang="en-US" altLang="zh-CN" sz="2400"/>
              <a:t>v</a:t>
            </a:r>
            <a:r>
              <a:rPr lang="en-US" altLang="zh-CN" sz="2400" baseline="-25000"/>
              <a:t>3</a:t>
            </a:r>
          </a:p>
        </p:txBody>
      </p:sp>
      <p:sp>
        <p:nvSpPr>
          <p:cNvPr id="41" name="Line 15"/>
          <p:cNvSpPr>
            <a:spLocks noChangeShapeType="1"/>
          </p:cNvSpPr>
          <p:nvPr/>
        </p:nvSpPr>
        <p:spPr bwMode="auto">
          <a:xfrm>
            <a:off x="7328212" y="3140844"/>
            <a:ext cx="1081088" cy="0"/>
          </a:xfrm>
          <a:prstGeom prst="line">
            <a:avLst/>
          </a:prstGeom>
          <a:noFill/>
          <a:ln w="28575" cap="sq">
            <a:solidFill>
              <a:srgbClr val="0033CC"/>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42" name="Line 16"/>
          <p:cNvSpPr>
            <a:spLocks noChangeShapeType="1"/>
          </p:cNvSpPr>
          <p:nvPr/>
        </p:nvSpPr>
        <p:spPr bwMode="auto">
          <a:xfrm flipH="1">
            <a:off x="7328212" y="3356744"/>
            <a:ext cx="1081088" cy="0"/>
          </a:xfrm>
          <a:prstGeom prst="line">
            <a:avLst/>
          </a:prstGeom>
          <a:noFill/>
          <a:ln w="28575" cap="sq">
            <a:solidFill>
              <a:srgbClr val="0033CC"/>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43" name="Line 17"/>
          <p:cNvSpPr>
            <a:spLocks noChangeShapeType="1"/>
          </p:cNvSpPr>
          <p:nvPr/>
        </p:nvSpPr>
        <p:spPr bwMode="auto">
          <a:xfrm>
            <a:off x="7256775" y="3429770"/>
            <a:ext cx="431800" cy="360363"/>
          </a:xfrm>
          <a:prstGeom prst="line">
            <a:avLst/>
          </a:prstGeom>
          <a:noFill/>
          <a:ln w="28575" cap="sq">
            <a:solidFill>
              <a:srgbClr val="0033CC"/>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44" name="Line 18"/>
          <p:cNvSpPr>
            <a:spLocks noChangeShapeType="1"/>
          </p:cNvSpPr>
          <p:nvPr/>
        </p:nvSpPr>
        <p:spPr bwMode="auto">
          <a:xfrm flipH="1" flipV="1">
            <a:off x="7112313" y="3501208"/>
            <a:ext cx="504825" cy="504825"/>
          </a:xfrm>
          <a:prstGeom prst="line">
            <a:avLst/>
          </a:prstGeom>
          <a:noFill/>
          <a:ln w="28575" cap="sq">
            <a:solidFill>
              <a:srgbClr val="0033CC"/>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45" name="Line 19"/>
          <p:cNvSpPr>
            <a:spLocks noChangeShapeType="1"/>
          </p:cNvSpPr>
          <p:nvPr/>
        </p:nvSpPr>
        <p:spPr bwMode="auto">
          <a:xfrm flipH="1">
            <a:off x="8048937" y="3429770"/>
            <a:ext cx="431800" cy="360363"/>
          </a:xfrm>
          <a:prstGeom prst="line">
            <a:avLst/>
          </a:prstGeom>
          <a:noFill/>
          <a:ln w="28575" cap="sq">
            <a:solidFill>
              <a:srgbClr val="0033CC"/>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46" name="Line 20"/>
          <p:cNvSpPr>
            <a:spLocks noChangeShapeType="1"/>
          </p:cNvSpPr>
          <p:nvPr/>
        </p:nvSpPr>
        <p:spPr bwMode="auto">
          <a:xfrm flipV="1">
            <a:off x="8120376" y="3501208"/>
            <a:ext cx="504825" cy="504825"/>
          </a:xfrm>
          <a:prstGeom prst="line">
            <a:avLst/>
          </a:prstGeom>
          <a:noFill/>
          <a:ln w="28575" cap="sq">
            <a:solidFill>
              <a:srgbClr val="0033CC"/>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47" name="Text Box 21"/>
          <p:cNvSpPr txBox="1">
            <a:spLocks noChangeArrowheads="1"/>
          </p:cNvSpPr>
          <p:nvPr/>
        </p:nvSpPr>
        <p:spPr bwMode="auto">
          <a:xfrm>
            <a:off x="7211104" y="4221088"/>
            <a:ext cx="17272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spAutoFit/>
          </a:bodyPr>
          <a:lstStyle>
            <a:lvl1pPr eaLnBrk="0" hangingPunct="0">
              <a:defRPr kumimoji="1" sz="2800">
                <a:solidFill>
                  <a:schemeClr val="tx1"/>
                </a:solidFill>
                <a:latin typeface="Comic Sans MS" pitchFamily="66" charset="0"/>
                <a:ea typeface="宋体" pitchFamily="2" charset="-122"/>
              </a:defRPr>
            </a:lvl1pPr>
            <a:lvl2pPr marL="742950" indent="-285750" eaLnBrk="0" hangingPunct="0">
              <a:defRPr kumimoji="1" sz="2800">
                <a:solidFill>
                  <a:schemeClr val="tx1"/>
                </a:solidFill>
                <a:latin typeface="Comic Sans MS" pitchFamily="66" charset="0"/>
                <a:ea typeface="宋体" pitchFamily="2" charset="-122"/>
              </a:defRPr>
            </a:lvl2pPr>
            <a:lvl3pPr marL="1143000" indent="-228600" eaLnBrk="0" hangingPunct="0">
              <a:defRPr kumimoji="1" sz="2800">
                <a:solidFill>
                  <a:schemeClr val="tx1"/>
                </a:solidFill>
                <a:latin typeface="Comic Sans MS" pitchFamily="66" charset="0"/>
                <a:ea typeface="宋体" pitchFamily="2" charset="-122"/>
              </a:defRPr>
            </a:lvl3pPr>
            <a:lvl4pPr marL="1600200" indent="-228600" eaLnBrk="0" hangingPunct="0">
              <a:defRPr kumimoji="1" sz="2800">
                <a:solidFill>
                  <a:schemeClr val="tx1"/>
                </a:solidFill>
                <a:latin typeface="Comic Sans MS" pitchFamily="66" charset="0"/>
                <a:ea typeface="宋体" pitchFamily="2" charset="-122"/>
              </a:defRPr>
            </a:lvl4pPr>
            <a:lvl5pPr marL="2057400" indent="-228600" eaLnBrk="0" hangingPunct="0">
              <a:defRPr kumimoji="1" sz="2800">
                <a:solidFill>
                  <a:schemeClr val="tx1"/>
                </a:solidFill>
                <a:latin typeface="Comic Sans MS" pitchFamily="66" charset="0"/>
                <a:ea typeface="宋体" pitchFamily="2" charset="-122"/>
              </a:defRPr>
            </a:lvl5pPr>
            <a:lvl6pPr marL="25146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6pPr>
            <a:lvl7pPr marL="29718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7pPr>
            <a:lvl8pPr marL="34290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8pPr>
            <a:lvl9pPr marL="38862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9pPr>
          </a:lstStyle>
          <a:p>
            <a:pPr eaLnBrk="1" hangingPunct="1">
              <a:spcBef>
                <a:spcPct val="50000"/>
              </a:spcBef>
            </a:pPr>
            <a:r>
              <a:rPr lang="zh-CN" altLang="en-US" sz="2000" dirty="0">
                <a:latin typeface="微软雅黑" pitchFamily="34" charset="-122"/>
                <a:ea typeface="微软雅黑" pitchFamily="34" charset="-122"/>
                <a:cs typeface="经典粗黑简" pitchFamily="49" charset="-122"/>
              </a:rPr>
              <a:t>有向完全图</a:t>
            </a:r>
          </a:p>
        </p:txBody>
      </p:sp>
      <p:sp>
        <p:nvSpPr>
          <p:cNvPr id="5" name="矩形 4"/>
          <p:cNvSpPr/>
          <p:nvPr/>
        </p:nvSpPr>
        <p:spPr>
          <a:xfrm>
            <a:off x="2711624" y="4665330"/>
            <a:ext cx="7200800" cy="707886"/>
          </a:xfrm>
          <a:prstGeom prst="rect">
            <a:avLst/>
          </a:prstGeom>
        </p:spPr>
        <p:txBody>
          <a:bodyPr wrap="square">
            <a:spAutoFit/>
          </a:bodyPr>
          <a:lstStyle/>
          <a:p>
            <a:r>
              <a:rPr kumimoji="1" lang="zh-CN" altLang="en-US" sz="2000" dirty="0">
                <a:solidFill>
                  <a:srgbClr val="FF0000"/>
                </a:solidFill>
                <a:latin typeface="微软雅黑" pitchFamily="34" charset="-122"/>
                <a:ea typeface="微软雅黑" pitchFamily="34" charset="-122"/>
                <a:cs typeface="经典粗黑简" pitchFamily="49" charset="-122"/>
              </a:rPr>
              <a:t>无向完全图</a:t>
            </a:r>
            <a:r>
              <a:rPr kumimoji="1" lang="zh-CN" altLang="en-US" sz="2000" dirty="0">
                <a:latin typeface="微软雅黑" pitchFamily="34" charset="-122"/>
                <a:ea typeface="微软雅黑" pitchFamily="34" charset="-122"/>
                <a:cs typeface="经典粗黑简" pitchFamily="49" charset="-122"/>
              </a:rPr>
              <a:t>：在无向图中，如果任意两个顶点之间都存在边，则称该图为无向完全图。</a:t>
            </a:r>
          </a:p>
        </p:txBody>
      </p:sp>
      <p:sp>
        <p:nvSpPr>
          <p:cNvPr id="6" name="矩形 5"/>
          <p:cNvSpPr/>
          <p:nvPr/>
        </p:nvSpPr>
        <p:spPr>
          <a:xfrm>
            <a:off x="2711624" y="5385267"/>
            <a:ext cx="7200800" cy="707886"/>
          </a:xfrm>
          <a:prstGeom prst="rect">
            <a:avLst/>
          </a:prstGeom>
        </p:spPr>
        <p:txBody>
          <a:bodyPr wrap="square">
            <a:spAutoFit/>
          </a:bodyPr>
          <a:lstStyle/>
          <a:p>
            <a:r>
              <a:rPr kumimoji="1" lang="zh-CN" altLang="en-US" sz="2000" dirty="0">
                <a:solidFill>
                  <a:srgbClr val="FF0000"/>
                </a:solidFill>
                <a:latin typeface="微软雅黑" pitchFamily="34" charset="-122"/>
                <a:ea typeface="微软雅黑" pitchFamily="34" charset="-122"/>
                <a:cs typeface="经典粗黑简" pitchFamily="49" charset="-122"/>
              </a:rPr>
              <a:t>有向完全图</a:t>
            </a:r>
            <a:r>
              <a:rPr kumimoji="1" lang="zh-CN" altLang="en-US" sz="2000" dirty="0">
                <a:latin typeface="微软雅黑" pitchFamily="34" charset="-122"/>
                <a:ea typeface="微软雅黑" pitchFamily="34" charset="-122"/>
                <a:cs typeface="经典粗黑简" pitchFamily="49" charset="-122"/>
              </a:rPr>
              <a:t>：在有向图中，如果任意两个顶点之间都存在方向相反的两条弧，则称该图为有向完全图。</a:t>
            </a:r>
          </a:p>
        </p:txBody>
      </p:sp>
      <p:sp>
        <p:nvSpPr>
          <p:cNvPr id="3" name="矩形 2">
            <a:extLst>
              <a:ext uri="{FF2B5EF4-FFF2-40B4-BE49-F238E27FC236}">
                <a16:creationId xmlns:a16="http://schemas.microsoft.com/office/drawing/2014/main" id="{4F456D41-A50A-B378-8455-B83EF454A47E}"/>
              </a:ext>
            </a:extLst>
          </p:cNvPr>
          <p:cNvSpPr/>
          <p:nvPr/>
        </p:nvSpPr>
        <p:spPr>
          <a:xfrm>
            <a:off x="4421120" y="339686"/>
            <a:ext cx="3637792"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8.1 </a:t>
            </a:r>
            <a:r>
              <a:rPr lang="zh-CN" altLang="en-US" sz="3000" b="1" dirty="0">
                <a:latin typeface="黑体" pitchFamily="49" charset="-122"/>
                <a:ea typeface="黑体" pitchFamily="49" charset="-122"/>
                <a:cs typeface="经典粗黑简" pitchFamily="49" charset="-122"/>
              </a:rPr>
              <a:t>图的基本概念</a:t>
            </a:r>
          </a:p>
        </p:txBody>
      </p:sp>
      <p:sp>
        <p:nvSpPr>
          <p:cNvPr id="4" name="Rectangle 2">
            <a:extLst>
              <a:ext uri="{FF2B5EF4-FFF2-40B4-BE49-F238E27FC236}">
                <a16:creationId xmlns:a16="http://schemas.microsoft.com/office/drawing/2014/main" id="{2AEB8E8A-35B4-3D88-D2CC-50E6F044EB71}"/>
              </a:ext>
            </a:extLst>
          </p:cNvPr>
          <p:cNvSpPr txBox="1">
            <a:spLocks noChangeArrowheads="1"/>
          </p:cNvSpPr>
          <p:nvPr/>
        </p:nvSpPr>
        <p:spPr>
          <a:xfrm>
            <a:off x="407368" y="1167247"/>
            <a:ext cx="3528392"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8.1.2 </a:t>
            </a:r>
            <a:r>
              <a:rPr lang="zh-CN" altLang="en-US" dirty="0"/>
              <a:t>图的基本术语</a:t>
            </a:r>
          </a:p>
        </p:txBody>
      </p:sp>
      <p:cxnSp>
        <p:nvCxnSpPr>
          <p:cNvPr id="7" name="直接连接符 6">
            <a:extLst>
              <a:ext uri="{FF2B5EF4-FFF2-40B4-BE49-F238E27FC236}">
                <a16:creationId xmlns:a16="http://schemas.microsoft.com/office/drawing/2014/main" id="{1F92FE72-D839-5079-2DE7-50FDC74CE460}"/>
              </a:ext>
            </a:extLst>
          </p:cNvPr>
          <p:cNvCxnSpPr>
            <a:cxnSpLocks/>
          </p:cNvCxnSpPr>
          <p:nvPr/>
        </p:nvCxnSpPr>
        <p:spPr>
          <a:xfrm>
            <a:off x="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646521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4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41"/>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4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4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44"/>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45"/>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46"/>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31" grpId="0" animBg="1"/>
      <p:bldP spid="32" grpId="0" animBg="1"/>
      <p:bldP spid="33" grpId="0" animBg="1"/>
      <p:bldP spid="34" grpId="0" animBg="1"/>
      <p:bldP spid="35" grpId="0" animBg="1"/>
      <p:bldP spid="36" grpId="0"/>
      <p:bldP spid="38" grpId="0" animBg="1"/>
      <p:bldP spid="39" grpId="0" animBg="1"/>
      <p:bldP spid="40" grpId="0" animBg="1"/>
      <p:bldP spid="41" grpId="0" animBg="1"/>
      <p:bldP spid="42" grpId="0" animBg="1"/>
      <p:bldP spid="43" grpId="0" animBg="1"/>
      <p:bldP spid="44" grpId="0" animBg="1"/>
      <p:bldP spid="45" grpId="0" animBg="1"/>
      <p:bldP spid="46" grpId="0" animBg="1"/>
      <p:bldP spid="47" grpId="0"/>
      <p:bldP spid="5" grpId="0"/>
      <p:bldP spid="6"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079790" y="2390668"/>
            <a:ext cx="5057795" cy="400110"/>
          </a:xfrm>
          <a:prstGeom prst="rect">
            <a:avLst/>
          </a:prstGeom>
        </p:spPr>
        <p:txBody>
          <a:bodyPr wrap="none">
            <a:spAutoFit/>
          </a:bodyPr>
          <a:lstStyle/>
          <a:p>
            <a:r>
              <a:rPr kumimoji="1" lang="en-US" altLang="zh-CN" sz="2000" dirty="0">
                <a:latin typeface="微软雅黑" pitchFamily="34" charset="-122"/>
                <a:ea typeface="微软雅黑" pitchFamily="34" charset="-122"/>
                <a:cs typeface="经典粗黑简" pitchFamily="49" charset="-122"/>
              </a:rPr>
              <a:t>⑶</a:t>
            </a:r>
            <a:r>
              <a:rPr kumimoji="1" lang="zh-CN" altLang="en-US" sz="2000" dirty="0">
                <a:latin typeface="微软雅黑" pitchFamily="34" charset="-122"/>
                <a:ea typeface="微软雅黑" pitchFamily="34" charset="-122"/>
                <a:cs typeface="经典粗黑简" pitchFamily="49" charset="-122"/>
              </a:rPr>
              <a:t>、完全图、有向完全图、稠密图和稀疏图</a:t>
            </a:r>
          </a:p>
        </p:txBody>
      </p:sp>
      <p:sp>
        <p:nvSpPr>
          <p:cNvPr id="30" name="Oval 4"/>
          <p:cNvSpPr>
            <a:spLocks noChangeArrowheads="1"/>
          </p:cNvSpPr>
          <p:nvPr/>
        </p:nvSpPr>
        <p:spPr bwMode="auto">
          <a:xfrm>
            <a:off x="3440425" y="2924944"/>
            <a:ext cx="503238" cy="503238"/>
          </a:xfrm>
          <a:prstGeom prst="ellipse">
            <a:avLst/>
          </a:prstGeom>
          <a:solidFill>
            <a:schemeClr val="bg1"/>
          </a:solidFill>
          <a:ln w="28575" cap="sq">
            <a:solidFill>
              <a:srgbClr val="0033CC"/>
            </a:solidFill>
            <a:miter lim="800000"/>
            <a:headEnd type="none" w="sm" len="sm"/>
            <a:tailEnd type="none" w="sm" len="sm"/>
          </a:ln>
        </p:spPr>
        <p:txBody>
          <a:bodyPr wrap="none" tIns="0" anchorCtr="1"/>
          <a:lstStyle/>
          <a:p>
            <a:r>
              <a:rPr lang="en-US" altLang="zh-CN" sz="2400"/>
              <a:t>v</a:t>
            </a:r>
            <a:r>
              <a:rPr lang="en-US" altLang="zh-CN" sz="2400" baseline="-25000"/>
              <a:t>1</a:t>
            </a:r>
          </a:p>
        </p:txBody>
      </p:sp>
      <p:sp>
        <p:nvSpPr>
          <p:cNvPr id="31" name="Oval 5"/>
          <p:cNvSpPr>
            <a:spLocks noChangeArrowheads="1"/>
          </p:cNvSpPr>
          <p:nvPr/>
        </p:nvSpPr>
        <p:spPr bwMode="auto">
          <a:xfrm>
            <a:off x="4953313" y="2924944"/>
            <a:ext cx="503238" cy="503238"/>
          </a:xfrm>
          <a:prstGeom prst="ellipse">
            <a:avLst/>
          </a:prstGeom>
          <a:solidFill>
            <a:schemeClr val="bg1"/>
          </a:solidFill>
          <a:ln w="28575" cap="sq">
            <a:solidFill>
              <a:srgbClr val="0033CC"/>
            </a:solidFill>
            <a:miter lim="800000"/>
            <a:headEnd type="none" w="sm" len="sm"/>
            <a:tailEnd type="none" w="sm" len="sm"/>
          </a:ln>
        </p:spPr>
        <p:txBody>
          <a:bodyPr wrap="none" tIns="0" anchorCtr="1"/>
          <a:lstStyle/>
          <a:p>
            <a:r>
              <a:rPr lang="en-US" altLang="zh-CN" sz="2400"/>
              <a:t>v</a:t>
            </a:r>
            <a:r>
              <a:rPr lang="en-US" altLang="zh-CN" sz="2400" baseline="-25000"/>
              <a:t>2</a:t>
            </a:r>
          </a:p>
        </p:txBody>
      </p:sp>
      <p:sp>
        <p:nvSpPr>
          <p:cNvPr id="32" name="Oval 6"/>
          <p:cNvSpPr>
            <a:spLocks noChangeArrowheads="1"/>
          </p:cNvSpPr>
          <p:nvPr/>
        </p:nvSpPr>
        <p:spPr bwMode="auto">
          <a:xfrm>
            <a:off x="4232588" y="3647257"/>
            <a:ext cx="503238" cy="503238"/>
          </a:xfrm>
          <a:prstGeom prst="ellipse">
            <a:avLst/>
          </a:prstGeom>
          <a:solidFill>
            <a:schemeClr val="bg1"/>
          </a:solidFill>
          <a:ln w="28575" cap="sq">
            <a:solidFill>
              <a:srgbClr val="0033CC"/>
            </a:solidFill>
            <a:miter lim="800000"/>
            <a:headEnd type="none" w="sm" len="sm"/>
            <a:tailEnd type="none" w="sm" len="sm"/>
          </a:ln>
        </p:spPr>
        <p:txBody>
          <a:bodyPr wrap="none" tIns="0" anchorCtr="1"/>
          <a:lstStyle/>
          <a:p>
            <a:r>
              <a:rPr lang="en-US" altLang="zh-CN" sz="2400"/>
              <a:t>v</a:t>
            </a:r>
            <a:r>
              <a:rPr lang="en-US" altLang="zh-CN" sz="2400" baseline="-25000"/>
              <a:t>3</a:t>
            </a:r>
          </a:p>
        </p:txBody>
      </p:sp>
      <p:sp>
        <p:nvSpPr>
          <p:cNvPr id="33" name="Line 7"/>
          <p:cNvSpPr>
            <a:spLocks noChangeShapeType="1"/>
          </p:cNvSpPr>
          <p:nvPr/>
        </p:nvSpPr>
        <p:spPr bwMode="auto">
          <a:xfrm>
            <a:off x="3943664" y="3140844"/>
            <a:ext cx="1008063" cy="0"/>
          </a:xfrm>
          <a:prstGeom prst="line">
            <a:avLst/>
          </a:prstGeom>
          <a:noFill/>
          <a:ln w="28575" cap="sq">
            <a:solidFill>
              <a:srgbClr val="0033CC"/>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34" name="Line 8"/>
          <p:cNvSpPr>
            <a:spLocks noChangeShapeType="1"/>
          </p:cNvSpPr>
          <p:nvPr/>
        </p:nvSpPr>
        <p:spPr bwMode="auto">
          <a:xfrm>
            <a:off x="3872226" y="3356744"/>
            <a:ext cx="360363" cy="431800"/>
          </a:xfrm>
          <a:prstGeom prst="line">
            <a:avLst/>
          </a:prstGeom>
          <a:noFill/>
          <a:ln w="28575" cap="sq">
            <a:solidFill>
              <a:srgbClr val="0033CC"/>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35" name="Line 9"/>
          <p:cNvSpPr>
            <a:spLocks noChangeShapeType="1"/>
          </p:cNvSpPr>
          <p:nvPr/>
        </p:nvSpPr>
        <p:spPr bwMode="auto">
          <a:xfrm flipH="1">
            <a:off x="4664389" y="3358333"/>
            <a:ext cx="360363" cy="358775"/>
          </a:xfrm>
          <a:prstGeom prst="line">
            <a:avLst/>
          </a:prstGeom>
          <a:noFill/>
          <a:ln w="28575" cap="sq">
            <a:solidFill>
              <a:srgbClr val="0033CC"/>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36" name="Text Box 10"/>
          <p:cNvSpPr txBox="1">
            <a:spLocks noChangeArrowheads="1"/>
          </p:cNvSpPr>
          <p:nvPr/>
        </p:nvSpPr>
        <p:spPr bwMode="auto">
          <a:xfrm>
            <a:off x="3871110" y="4279083"/>
            <a:ext cx="122396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spAutoFit/>
          </a:bodyPr>
          <a:lstStyle>
            <a:lvl1pPr eaLnBrk="0" hangingPunct="0">
              <a:defRPr kumimoji="1" sz="2800">
                <a:solidFill>
                  <a:schemeClr val="tx1"/>
                </a:solidFill>
                <a:latin typeface="Comic Sans MS" pitchFamily="66" charset="0"/>
                <a:ea typeface="宋体" pitchFamily="2" charset="-122"/>
              </a:defRPr>
            </a:lvl1pPr>
            <a:lvl2pPr marL="742950" indent="-285750" eaLnBrk="0" hangingPunct="0">
              <a:defRPr kumimoji="1" sz="2800">
                <a:solidFill>
                  <a:schemeClr val="tx1"/>
                </a:solidFill>
                <a:latin typeface="Comic Sans MS" pitchFamily="66" charset="0"/>
                <a:ea typeface="宋体" pitchFamily="2" charset="-122"/>
              </a:defRPr>
            </a:lvl2pPr>
            <a:lvl3pPr marL="1143000" indent="-228600" eaLnBrk="0" hangingPunct="0">
              <a:defRPr kumimoji="1" sz="2800">
                <a:solidFill>
                  <a:schemeClr val="tx1"/>
                </a:solidFill>
                <a:latin typeface="Comic Sans MS" pitchFamily="66" charset="0"/>
                <a:ea typeface="宋体" pitchFamily="2" charset="-122"/>
              </a:defRPr>
            </a:lvl3pPr>
            <a:lvl4pPr marL="1600200" indent="-228600" eaLnBrk="0" hangingPunct="0">
              <a:defRPr kumimoji="1" sz="2800">
                <a:solidFill>
                  <a:schemeClr val="tx1"/>
                </a:solidFill>
                <a:latin typeface="Comic Sans MS" pitchFamily="66" charset="0"/>
                <a:ea typeface="宋体" pitchFamily="2" charset="-122"/>
              </a:defRPr>
            </a:lvl4pPr>
            <a:lvl5pPr marL="2057400" indent="-228600" eaLnBrk="0" hangingPunct="0">
              <a:defRPr kumimoji="1" sz="2800">
                <a:solidFill>
                  <a:schemeClr val="tx1"/>
                </a:solidFill>
                <a:latin typeface="Comic Sans MS" pitchFamily="66" charset="0"/>
                <a:ea typeface="宋体" pitchFamily="2" charset="-122"/>
              </a:defRPr>
            </a:lvl5pPr>
            <a:lvl6pPr marL="25146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6pPr>
            <a:lvl7pPr marL="29718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7pPr>
            <a:lvl8pPr marL="34290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8pPr>
            <a:lvl9pPr marL="38862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9pPr>
          </a:lstStyle>
          <a:p>
            <a:pPr eaLnBrk="1" hangingPunct="1">
              <a:spcBef>
                <a:spcPct val="50000"/>
              </a:spcBef>
            </a:pPr>
            <a:r>
              <a:rPr lang="zh-CN" altLang="en-US" sz="2000" dirty="0">
                <a:latin typeface="微软雅黑" pitchFamily="34" charset="-122"/>
                <a:ea typeface="微软雅黑" pitchFamily="34" charset="-122"/>
                <a:cs typeface="经典粗黑简" pitchFamily="49" charset="-122"/>
              </a:rPr>
              <a:t>完全图</a:t>
            </a:r>
          </a:p>
        </p:txBody>
      </p:sp>
      <p:sp>
        <p:nvSpPr>
          <p:cNvPr id="38" name="Oval 12"/>
          <p:cNvSpPr>
            <a:spLocks noChangeArrowheads="1"/>
          </p:cNvSpPr>
          <p:nvPr/>
        </p:nvSpPr>
        <p:spPr bwMode="auto">
          <a:xfrm>
            <a:off x="6824975" y="2997969"/>
            <a:ext cx="503238" cy="503238"/>
          </a:xfrm>
          <a:prstGeom prst="ellipse">
            <a:avLst/>
          </a:prstGeom>
          <a:solidFill>
            <a:schemeClr val="bg1"/>
          </a:solidFill>
          <a:ln w="28575" cap="sq">
            <a:solidFill>
              <a:srgbClr val="0033CC"/>
            </a:solidFill>
            <a:miter lim="800000"/>
            <a:headEnd type="none" w="sm" len="sm"/>
            <a:tailEnd type="none" w="sm" len="sm"/>
          </a:ln>
        </p:spPr>
        <p:txBody>
          <a:bodyPr wrap="none" tIns="0" anchorCtr="1"/>
          <a:lstStyle/>
          <a:p>
            <a:r>
              <a:rPr lang="en-US" altLang="zh-CN" sz="2400"/>
              <a:t>v</a:t>
            </a:r>
            <a:r>
              <a:rPr lang="en-US" altLang="zh-CN" sz="2400" baseline="-25000"/>
              <a:t>1</a:t>
            </a:r>
          </a:p>
        </p:txBody>
      </p:sp>
      <p:sp>
        <p:nvSpPr>
          <p:cNvPr id="39" name="Oval 13"/>
          <p:cNvSpPr>
            <a:spLocks noChangeArrowheads="1"/>
          </p:cNvSpPr>
          <p:nvPr/>
        </p:nvSpPr>
        <p:spPr bwMode="auto">
          <a:xfrm>
            <a:off x="8409300" y="2997969"/>
            <a:ext cx="503238" cy="503238"/>
          </a:xfrm>
          <a:prstGeom prst="ellipse">
            <a:avLst/>
          </a:prstGeom>
          <a:solidFill>
            <a:schemeClr val="bg1"/>
          </a:solidFill>
          <a:ln w="28575" cap="sq">
            <a:solidFill>
              <a:srgbClr val="0033CC"/>
            </a:solidFill>
            <a:miter lim="800000"/>
            <a:headEnd type="none" w="sm" len="sm"/>
            <a:tailEnd type="none" w="sm" len="sm"/>
          </a:ln>
        </p:spPr>
        <p:txBody>
          <a:bodyPr wrap="none" tIns="0" anchorCtr="1"/>
          <a:lstStyle/>
          <a:p>
            <a:r>
              <a:rPr lang="en-US" altLang="zh-CN" sz="2400"/>
              <a:t>v</a:t>
            </a:r>
            <a:r>
              <a:rPr lang="en-US" altLang="zh-CN" sz="2400" baseline="-25000"/>
              <a:t>2</a:t>
            </a:r>
          </a:p>
        </p:txBody>
      </p:sp>
      <p:sp>
        <p:nvSpPr>
          <p:cNvPr id="40" name="Oval 14"/>
          <p:cNvSpPr>
            <a:spLocks noChangeArrowheads="1"/>
          </p:cNvSpPr>
          <p:nvPr/>
        </p:nvSpPr>
        <p:spPr bwMode="auto">
          <a:xfrm>
            <a:off x="7617137" y="3720282"/>
            <a:ext cx="503238" cy="503238"/>
          </a:xfrm>
          <a:prstGeom prst="ellipse">
            <a:avLst/>
          </a:prstGeom>
          <a:solidFill>
            <a:schemeClr val="bg1"/>
          </a:solidFill>
          <a:ln w="28575" cap="sq">
            <a:solidFill>
              <a:srgbClr val="0033CC"/>
            </a:solidFill>
            <a:miter lim="800000"/>
            <a:headEnd type="none" w="sm" len="sm"/>
            <a:tailEnd type="none" w="sm" len="sm"/>
          </a:ln>
        </p:spPr>
        <p:txBody>
          <a:bodyPr wrap="none" tIns="0" anchorCtr="1"/>
          <a:lstStyle/>
          <a:p>
            <a:r>
              <a:rPr lang="en-US" altLang="zh-CN" sz="2400"/>
              <a:t>v</a:t>
            </a:r>
            <a:r>
              <a:rPr lang="en-US" altLang="zh-CN" sz="2400" baseline="-25000"/>
              <a:t>3</a:t>
            </a:r>
          </a:p>
        </p:txBody>
      </p:sp>
      <p:sp>
        <p:nvSpPr>
          <p:cNvPr id="41" name="Line 15"/>
          <p:cNvSpPr>
            <a:spLocks noChangeShapeType="1"/>
          </p:cNvSpPr>
          <p:nvPr/>
        </p:nvSpPr>
        <p:spPr bwMode="auto">
          <a:xfrm>
            <a:off x="7328212" y="3140844"/>
            <a:ext cx="1081088" cy="0"/>
          </a:xfrm>
          <a:prstGeom prst="line">
            <a:avLst/>
          </a:prstGeom>
          <a:noFill/>
          <a:ln w="28575" cap="sq">
            <a:solidFill>
              <a:srgbClr val="0033CC"/>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42" name="Line 16"/>
          <p:cNvSpPr>
            <a:spLocks noChangeShapeType="1"/>
          </p:cNvSpPr>
          <p:nvPr/>
        </p:nvSpPr>
        <p:spPr bwMode="auto">
          <a:xfrm flipH="1">
            <a:off x="7328212" y="3356744"/>
            <a:ext cx="1081088" cy="0"/>
          </a:xfrm>
          <a:prstGeom prst="line">
            <a:avLst/>
          </a:prstGeom>
          <a:noFill/>
          <a:ln w="28575" cap="sq">
            <a:solidFill>
              <a:srgbClr val="0033CC"/>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43" name="Line 17"/>
          <p:cNvSpPr>
            <a:spLocks noChangeShapeType="1"/>
          </p:cNvSpPr>
          <p:nvPr/>
        </p:nvSpPr>
        <p:spPr bwMode="auto">
          <a:xfrm>
            <a:off x="7256775" y="3429770"/>
            <a:ext cx="431800" cy="360363"/>
          </a:xfrm>
          <a:prstGeom prst="line">
            <a:avLst/>
          </a:prstGeom>
          <a:noFill/>
          <a:ln w="28575" cap="sq">
            <a:solidFill>
              <a:srgbClr val="0033CC"/>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44" name="Line 18"/>
          <p:cNvSpPr>
            <a:spLocks noChangeShapeType="1"/>
          </p:cNvSpPr>
          <p:nvPr/>
        </p:nvSpPr>
        <p:spPr bwMode="auto">
          <a:xfrm flipH="1" flipV="1">
            <a:off x="7112313" y="3501208"/>
            <a:ext cx="504825" cy="504825"/>
          </a:xfrm>
          <a:prstGeom prst="line">
            <a:avLst/>
          </a:prstGeom>
          <a:noFill/>
          <a:ln w="28575" cap="sq">
            <a:solidFill>
              <a:srgbClr val="0033CC"/>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45" name="Line 19"/>
          <p:cNvSpPr>
            <a:spLocks noChangeShapeType="1"/>
          </p:cNvSpPr>
          <p:nvPr/>
        </p:nvSpPr>
        <p:spPr bwMode="auto">
          <a:xfrm flipH="1">
            <a:off x="8048937" y="3429770"/>
            <a:ext cx="431800" cy="360363"/>
          </a:xfrm>
          <a:prstGeom prst="line">
            <a:avLst/>
          </a:prstGeom>
          <a:noFill/>
          <a:ln w="28575" cap="sq">
            <a:solidFill>
              <a:srgbClr val="0033CC"/>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46" name="Line 20"/>
          <p:cNvSpPr>
            <a:spLocks noChangeShapeType="1"/>
          </p:cNvSpPr>
          <p:nvPr/>
        </p:nvSpPr>
        <p:spPr bwMode="auto">
          <a:xfrm flipV="1">
            <a:off x="8120376" y="3501208"/>
            <a:ext cx="504825" cy="504825"/>
          </a:xfrm>
          <a:prstGeom prst="line">
            <a:avLst/>
          </a:prstGeom>
          <a:noFill/>
          <a:ln w="28575" cap="sq">
            <a:solidFill>
              <a:srgbClr val="0033CC"/>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47" name="Text Box 21"/>
          <p:cNvSpPr txBox="1">
            <a:spLocks noChangeArrowheads="1"/>
          </p:cNvSpPr>
          <p:nvPr/>
        </p:nvSpPr>
        <p:spPr bwMode="auto">
          <a:xfrm>
            <a:off x="7211104" y="4221088"/>
            <a:ext cx="17272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spAutoFit/>
          </a:bodyPr>
          <a:lstStyle>
            <a:lvl1pPr eaLnBrk="0" hangingPunct="0">
              <a:defRPr kumimoji="1" sz="2800">
                <a:solidFill>
                  <a:schemeClr val="tx1"/>
                </a:solidFill>
                <a:latin typeface="Comic Sans MS" pitchFamily="66" charset="0"/>
                <a:ea typeface="宋体" pitchFamily="2" charset="-122"/>
              </a:defRPr>
            </a:lvl1pPr>
            <a:lvl2pPr marL="742950" indent="-285750" eaLnBrk="0" hangingPunct="0">
              <a:defRPr kumimoji="1" sz="2800">
                <a:solidFill>
                  <a:schemeClr val="tx1"/>
                </a:solidFill>
                <a:latin typeface="Comic Sans MS" pitchFamily="66" charset="0"/>
                <a:ea typeface="宋体" pitchFamily="2" charset="-122"/>
              </a:defRPr>
            </a:lvl2pPr>
            <a:lvl3pPr marL="1143000" indent="-228600" eaLnBrk="0" hangingPunct="0">
              <a:defRPr kumimoji="1" sz="2800">
                <a:solidFill>
                  <a:schemeClr val="tx1"/>
                </a:solidFill>
                <a:latin typeface="Comic Sans MS" pitchFamily="66" charset="0"/>
                <a:ea typeface="宋体" pitchFamily="2" charset="-122"/>
              </a:defRPr>
            </a:lvl3pPr>
            <a:lvl4pPr marL="1600200" indent="-228600" eaLnBrk="0" hangingPunct="0">
              <a:defRPr kumimoji="1" sz="2800">
                <a:solidFill>
                  <a:schemeClr val="tx1"/>
                </a:solidFill>
                <a:latin typeface="Comic Sans MS" pitchFamily="66" charset="0"/>
                <a:ea typeface="宋体" pitchFamily="2" charset="-122"/>
              </a:defRPr>
            </a:lvl4pPr>
            <a:lvl5pPr marL="2057400" indent="-228600" eaLnBrk="0" hangingPunct="0">
              <a:defRPr kumimoji="1" sz="2800">
                <a:solidFill>
                  <a:schemeClr val="tx1"/>
                </a:solidFill>
                <a:latin typeface="Comic Sans MS" pitchFamily="66" charset="0"/>
                <a:ea typeface="宋体" pitchFamily="2" charset="-122"/>
              </a:defRPr>
            </a:lvl5pPr>
            <a:lvl6pPr marL="25146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6pPr>
            <a:lvl7pPr marL="29718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7pPr>
            <a:lvl8pPr marL="34290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8pPr>
            <a:lvl9pPr marL="38862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9pPr>
          </a:lstStyle>
          <a:p>
            <a:pPr eaLnBrk="1" hangingPunct="1">
              <a:spcBef>
                <a:spcPct val="50000"/>
              </a:spcBef>
            </a:pPr>
            <a:r>
              <a:rPr lang="zh-CN" altLang="en-US" sz="2000" dirty="0">
                <a:latin typeface="微软雅黑" pitchFamily="34" charset="-122"/>
                <a:ea typeface="微软雅黑" pitchFamily="34" charset="-122"/>
                <a:cs typeface="经典粗黑简" pitchFamily="49" charset="-122"/>
              </a:rPr>
              <a:t>有向完全图</a:t>
            </a:r>
          </a:p>
        </p:txBody>
      </p:sp>
      <p:sp>
        <p:nvSpPr>
          <p:cNvPr id="27" name="Text Box 6"/>
          <p:cNvSpPr txBox="1">
            <a:spLocks noChangeArrowheads="1"/>
          </p:cNvSpPr>
          <p:nvPr/>
        </p:nvSpPr>
        <p:spPr bwMode="auto">
          <a:xfrm>
            <a:off x="2999656" y="4797152"/>
            <a:ext cx="4703532" cy="40011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Lst>
        </p:spPr>
        <p:txBody>
          <a:bodyPr wrap="none">
            <a:spAutoFit/>
          </a:bodyPr>
          <a:lstStyle>
            <a:defPPr>
              <a:defRPr lang="zh-CN"/>
            </a:defPPr>
            <a:lvl1pPr>
              <a:defRPr kumimoji="1" sz="2000">
                <a:latin typeface="微软雅黑" pitchFamily="34" charset="-122"/>
                <a:ea typeface="微软雅黑" pitchFamily="34" charset="-122"/>
                <a:cs typeface="经典粗黑简" pitchFamily="49" charset="-122"/>
              </a:defRPr>
            </a:lvl1pPr>
          </a:lstStyle>
          <a:p>
            <a:r>
              <a:rPr lang="zh-CN" altLang="en-US" dirty="0"/>
              <a:t>含有</a:t>
            </a:r>
            <a:r>
              <a:rPr lang="en-US" altLang="zh-CN" dirty="0"/>
              <a:t>n</a:t>
            </a:r>
            <a:r>
              <a:rPr lang="zh-CN" altLang="en-US" dirty="0"/>
              <a:t>个顶点的无向完全图有多少条边？</a:t>
            </a:r>
          </a:p>
        </p:txBody>
      </p:sp>
      <p:sp>
        <p:nvSpPr>
          <p:cNvPr id="3" name="矩形 2"/>
          <p:cNvSpPr/>
          <p:nvPr/>
        </p:nvSpPr>
        <p:spPr>
          <a:xfrm>
            <a:off x="2999656" y="5373216"/>
            <a:ext cx="4778872" cy="400110"/>
          </a:xfrm>
          <a:prstGeom prst="rect">
            <a:avLst/>
          </a:prstGeom>
        </p:spPr>
        <p:txBody>
          <a:bodyPr wrap="none">
            <a:spAutoFit/>
          </a:bodyPr>
          <a:lstStyle/>
          <a:p>
            <a:r>
              <a:rPr kumimoji="1" lang="zh-CN" altLang="en-US" sz="2000" dirty="0">
                <a:latin typeface="微软雅黑" pitchFamily="34" charset="-122"/>
                <a:ea typeface="微软雅黑" pitchFamily="34" charset="-122"/>
                <a:cs typeface="经典粗黑简" pitchFamily="49" charset="-122"/>
              </a:rPr>
              <a:t>含有</a:t>
            </a:r>
            <a:r>
              <a:rPr kumimoji="1" lang="en-US" altLang="zh-CN" sz="2000" dirty="0">
                <a:latin typeface="微软雅黑" pitchFamily="34" charset="-122"/>
                <a:ea typeface="微软雅黑" pitchFamily="34" charset="-122"/>
                <a:cs typeface="经典粗黑简" pitchFamily="49" charset="-122"/>
              </a:rPr>
              <a:t>n</a:t>
            </a:r>
            <a:r>
              <a:rPr kumimoji="1" lang="zh-CN" altLang="en-US" sz="2000" dirty="0">
                <a:latin typeface="微软雅黑" pitchFamily="34" charset="-122"/>
                <a:ea typeface="微软雅黑" pitchFamily="34" charset="-122"/>
                <a:cs typeface="经典粗黑简" pitchFamily="49" charset="-122"/>
              </a:rPr>
              <a:t>个顶点的有向完全图有多少条弧？ </a:t>
            </a:r>
          </a:p>
        </p:txBody>
      </p:sp>
      <p:sp>
        <p:nvSpPr>
          <p:cNvPr id="4" name="矩形 3"/>
          <p:cNvSpPr/>
          <p:nvPr/>
        </p:nvSpPr>
        <p:spPr>
          <a:xfrm>
            <a:off x="7688576" y="4797152"/>
            <a:ext cx="1896673" cy="400110"/>
          </a:xfrm>
          <a:prstGeom prst="rect">
            <a:avLst/>
          </a:prstGeom>
        </p:spPr>
        <p:txBody>
          <a:bodyPr wrap="none">
            <a:spAutoFit/>
          </a:bodyPr>
          <a:lstStyle/>
          <a:p>
            <a:r>
              <a:rPr kumimoji="1" lang="en-US" altLang="zh-CN" sz="2000" dirty="0">
                <a:latin typeface="微软雅黑" pitchFamily="34" charset="-122"/>
                <a:ea typeface="微软雅黑" pitchFamily="34" charset="-122"/>
                <a:cs typeface="经典粗黑简" pitchFamily="49" charset="-122"/>
              </a:rPr>
              <a:t>n×(n-1)/2</a:t>
            </a:r>
            <a:r>
              <a:rPr kumimoji="1" lang="zh-CN" altLang="en-US" sz="2000" dirty="0">
                <a:latin typeface="微软雅黑" pitchFamily="34" charset="-122"/>
                <a:ea typeface="微软雅黑" pitchFamily="34" charset="-122"/>
                <a:cs typeface="经典粗黑简" pitchFamily="49" charset="-122"/>
              </a:rPr>
              <a:t>条边</a:t>
            </a:r>
          </a:p>
        </p:txBody>
      </p:sp>
      <p:sp>
        <p:nvSpPr>
          <p:cNvPr id="7" name="矩形 6"/>
          <p:cNvSpPr/>
          <p:nvPr/>
        </p:nvSpPr>
        <p:spPr>
          <a:xfrm>
            <a:off x="7688575" y="5373216"/>
            <a:ext cx="1712328" cy="400110"/>
          </a:xfrm>
          <a:prstGeom prst="rect">
            <a:avLst/>
          </a:prstGeom>
        </p:spPr>
        <p:txBody>
          <a:bodyPr wrap="none">
            <a:spAutoFit/>
          </a:bodyPr>
          <a:lstStyle/>
          <a:p>
            <a:r>
              <a:rPr kumimoji="1" lang="en-US" altLang="zh-CN" sz="2000" dirty="0">
                <a:latin typeface="微软雅黑" pitchFamily="34" charset="-122"/>
                <a:ea typeface="微软雅黑" pitchFamily="34" charset="-122"/>
                <a:cs typeface="经典粗黑简" pitchFamily="49" charset="-122"/>
              </a:rPr>
              <a:t>n×(n-1)</a:t>
            </a:r>
            <a:r>
              <a:rPr kumimoji="1" lang="zh-CN" altLang="en-US" sz="2000" dirty="0">
                <a:latin typeface="微软雅黑" pitchFamily="34" charset="-122"/>
                <a:ea typeface="微软雅黑" pitchFamily="34" charset="-122"/>
                <a:cs typeface="经典粗黑简" pitchFamily="49" charset="-122"/>
              </a:rPr>
              <a:t>条弧 </a:t>
            </a:r>
          </a:p>
        </p:txBody>
      </p:sp>
      <p:sp>
        <p:nvSpPr>
          <p:cNvPr id="5" name="矩形 4">
            <a:extLst>
              <a:ext uri="{FF2B5EF4-FFF2-40B4-BE49-F238E27FC236}">
                <a16:creationId xmlns:a16="http://schemas.microsoft.com/office/drawing/2014/main" id="{635FAD1F-69E7-1BDD-66D2-C660885D7824}"/>
              </a:ext>
            </a:extLst>
          </p:cNvPr>
          <p:cNvSpPr/>
          <p:nvPr/>
        </p:nvSpPr>
        <p:spPr>
          <a:xfrm>
            <a:off x="4421120" y="339686"/>
            <a:ext cx="3637792"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8.1 </a:t>
            </a:r>
            <a:r>
              <a:rPr lang="zh-CN" altLang="en-US" sz="3000" b="1" dirty="0">
                <a:latin typeface="黑体" pitchFamily="49" charset="-122"/>
                <a:ea typeface="黑体" pitchFamily="49" charset="-122"/>
                <a:cs typeface="经典粗黑简" pitchFamily="49" charset="-122"/>
              </a:rPr>
              <a:t>图的基本概念</a:t>
            </a:r>
          </a:p>
        </p:txBody>
      </p:sp>
      <p:sp>
        <p:nvSpPr>
          <p:cNvPr id="6" name="Rectangle 2">
            <a:extLst>
              <a:ext uri="{FF2B5EF4-FFF2-40B4-BE49-F238E27FC236}">
                <a16:creationId xmlns:a16="http://schemas.microsoft.com/office/drawing/2014/main" id="{C7D14522-2138-9580-F75A-0479746FF367}"/>
              </a:ext>
            </a:extLst>
          </p:cNvPr>
          <p:cNvSpPr txBox="1">
            <a:spLocks noChangeArrowheads="1"/>
          </p:cNvSpPr>
          <p:nvPr/>
        </p:nvSpPr>
        <p:spPr>
          <a:xfrm>
            <a:off x="407368" y="1167247"/>
            <a:ext cx="3528392"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8.1.2 </a:t>
            </a:r>
            <a:r>
              <a:rPr lang="zh-CN" altLang="en-US" dirty="0"/>
              <a:t>图的基本术语</a:t>
            </a:r>
          </a:p>
        </p:txBody>
      </p:sp>
      <p:cxnSp>
        <p:nvCxnSpPr>
          <p:cNvPr id="8" name="直接连接符 7">
            <a:extLst>
              <a:ext uri="{FF2B5EF4-FFF2-40B4-BE49-F238E27FC236}">
                <a16:creationId xmlns:a16="http://schemas.microsoft.com/office/drawing/2014/main" id="{85B8FDE0-7F4A-4D3D-F46F-04DB282D3B95}"/>
              </a:ext>
            </a:extLst>
          </p:cNvPr>
          <p:cNvCxnSpPr>
            <a:cxnSpLocks/>
          </p:cNvCxnSpPr>
          <p:nvPr/>
        </p:nvCxnSpPr>
        <p:spPr>
          <a:xfrm>
            <a:off x="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681690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3" grpId="0"/>
      <p:bldP spid="4" grpId="0"/>
      <p:bldP spid="7"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8E8CA9-1577-0181-D959-EFCA6A6E06B2}"/>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71B662CC-FECA-CEC0-8DD0-543A51D5E46B}"/>
              </a:ext>
            </a:extLst>
          </p:cNvPr>
          <p:cNvSpPr/>
          <p:nvPr/>
        </p:nvSpPr>
        <p:spPr>
          <a:xfrm>
            <a:off x="3079790" y="2390668"/>
            <a:ext cx="5057795" cy="400110"/>
          </a:xfrm>
          <a:prstGeom prst="rect">
            <a:avLst/>
          </a:prstGeom>
        </p:spPr>
        <p:txBody>
          <a:bodyPr wrap="none">
            <a:spAutoFit/>
          </a:bodyPr>
          <a:lstStyle/>
          <a:p>
            <a:r>
              <a:rPr kumimoji="1" lang="en-US" altLang="zh-CN" sz="2000" dirty="0">
                <a:latin typeface="微软雅黑" pitchFamily="34" charset="-122"/>
                <a:ea typeface="微软雅黑" pitchFamily="34" charset="-122"/>
                <a:cs typeface="经典粗黑简" pitchFamily="49" charset="-122"/>
              </a:rPr>
              <a:t>⑶</a:t>
            </a:r>
            <a:r>
              <a:rPr kumimoji="1" lang="zh-CN" altLang="en-US" sz="2000" dirty="0">
                <a:latin typeface="微软雅黑" pitchFamily="34" charset="-122"/>
                <a:ea typeface="微软雅黑" pitchFamily="34" charset="-122"/>
                <a:cs typeface="经典粗黑简" pitchFamily="49" charset="-122"/>
              </a:rPr>
              <a:t>、完全图、有向完全图、稠密图和稀疏图</a:t>
            </a:r>
          </a:p>
        </p:txBody>
      </p:sp>
      <p:sp>
        <p:nvSpPr>
          <p:cNvPr id="5" name="矩形 4">
            <a:extLst>
              <a:ext uri="{FF2B5EF4-FFF2-40B4-BE49-F238E27FC236}">
                <a16:creationId xmlns:a16="http://schemas.microsoft.com/office/drawing/2014/main" id="{57C30F26-9C00-65E3-F4A8-CBEAF2FBF620}"/>
              </a:ext>
            </a:extLst>
          </p:cNvPr>
          <p:cNvSpPr/>
          <p:nvPr/>
        </p:nvSpPr>
        <p:spPr>
          <a:xfrm>
            <a:off x="4421120" y="339686"/>
            <a:ext cx="3637792"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8.1 </a:t>
            </a:r>
            <a:r>
              <a:rPr lang="zh-CN" altLang="en-US" sz="3000" b="1" dirty="0">
                <a:latin typeface="黑体" pitchFamily="49" charset="-122"/>
                <a:ea typeface="黑体" pitchFamily="49" charset="-122"/>
                <a:cs typeface="经典粗黑简" pitchFamily="49" charset="-122"/>
              </a:rPr>
              <a:t>图的基本概念</a:t>
            </a:r>
          </a:p>
        </p:txBody>
      </p:sp>
      <p:sp>
        <p:nvSpPr>
          <p:cNvPr id="6" name="Rectangle 2">
            <a:extLst>
              <a:ext uri="{FF2B5EF4-FFF2-40B4-BE49-F238E27FC236}">
                <a16:creationId xmlns:a16="http://schemas.microsoft.com/office/drawing/2014/main" id="{A87F10BD-9A83-4A4D-8754-7782039020BC}"/>
              </a:ext>
            </a:extLst>
          </p:cNvPr>
          <p:cNvSpPr txBox="1">
            <a:spLocks noChangeArrowheads="1"/>
          </p:cNvSpPr>
          <p:nvPr/>
        </p:nvSpPr>
        <p:spPr>
          <a:xfrm>
            <a:off x="407368" y="1167247"/>
            <a:ext cx="3528392"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8.1.2 </a:t>
            </a:r>
            <a:r>
              <a:rPr lang="zh-CN" altLang="en-US" dirty="0"/>
              <a:t>图的基本术语</a:t>
            </a:r>
          </a:p>
        </p:txBody>
      </p:sp>
      <p:cxnSp>
        <p:nvCxnSpPr>
          <p:cNvPr id="8" name="直接连接符 7">
            <a:extLst>
              <a:ext uri="{FF2B5EF4-FFF2-40B4-BE49-F238E27FC236}">
                <a16:creationId xmlns:a16="http://schemas.microsoft.com/office/drawing/2014/main" id="{E86E212A-B8F7-8B05-183D-0D399C186FAB}"/>
              </a:ext>
            </a:extLst>
          </p:cNvPr>
          <p:cNvCxnSpPr>
            <a:cxnSpLocks/>
          </p:cNvCxnSpPr>
          <p:nvPr/>
        </p:nvCxnSpPr>
        <p:spPr>
          <a:xfrm>
            <a:off x="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9" name="TextBox 2">
            <a:extLst>
              <a:ext uri="{FF2B5EF4-FFF2-40B4-BE49-F238E27FC236}">
                <a16:creationId xmlns:a16="http://schemas.microsoft.com/office/drawing/2014/main" id="{EA12C72A-96BE-0EC9-FE3C-2780435A06E6}"/>
              </a:ext>
            </a:extLst>
          </p:cNvPr>
          <p:cNvSpPr txBox="1"/>
          <p:nvPr/>
        </p:nvSpPr>
        <p:spPr>
          <a:xfrm>
            <a:off x="2999656" y="2921168"/>
            <a:ext cx="7000924" cy="1015663"/>
          </a:xfrm>
          <a:prstGeom prst="rect">
            <a:avLst/>
          </a:prstGeom>
          <a:noFill/>
          <a:ln>
            <a:noFill/>
          </a:ln>
          <a:effectLst/>
          <a:scene3d>
            <a:camera prst="orthographicFront">
              <a:rot lat="0" lon="0" rev="0"/>
            </a:camera>
            <a:lightRig rig="contrasting" dir="t">
              <a:rot lat="0" lon="0" rev="1500000"/>
            </a:lightRig>
          </a:scene3d>
          <a:sp3d prstMaterial="metal">
            <a:bevelT w="88900" h="88900"/>
          </a:sp3d>
        </p:spPr>
        <p:txBody>
          <a:bodyPr wrap="square" rtlCol="0">
            <a:spAutoFit/>
          </a:bodyPr>
          <a:lstStyle/>
          <a:p>
            <a:pPr algn="l">
              <a:lnSpc>
                <a:spcPct val="150000"/>
              </a:lnSpc>
            </a:pPr>
            <a:r>
              <a:rPr lang="zh-CN" altLang="zh-CN" sz="2000">
                <a:latin typeface="Consolas" pitchFamily="49" charset="0"/>
                <a:ea typeface="楷体" pitchFamily="49" charset="-122"/>
                <a:cs typeface="Consolas" pitchFamily="49" charset="0"/>
              </a:rPr>
              <a:t>设</a:t>
            </a:r>
            <a:r>
              <a:rPr lang="en-US" altLang="zh-CN" sz="2000">
                <a:latin typeface="Consolas" pitchFamily="49" charset="0"/>
                <a:ea typeface="楷体" pitchFamily="49" charset="-122"/>
                <a:cs typeface="Consolas" pitchFamily="49" charset="0"/>
              </a:rPr>
              <a:t>G</a:t>
            </a:r>
            <a:r>
              <a:rPr lang="zh-CN" altLang="zh-CN" sz="2000">
                <a:latin typeface="Consolas" pitchFamily="49" charset="0"/>
                <a:ea typeface="楷体" pitchFamily="49" charset="-122"/>
                <a:cs typeface="Consolas" pitchFamily="49" charset="0"/>
              </a:rPr>
              <a:t>是一个含有</a:t>
            </a:r>
            <a:r>
              <a:rPr lang="en-US" altLang="zh-CN" sz="2000">
                <a:latin typeface="Consolas" pitchFamily="49" charset="0"/>
                <a:ea typeface="楷体" pitchFamily="49" charset="-122"/>
                <a:cs typeface="Consolas" pitchFamily="49" charset="0"/>
              </a:rPr>
              <a:t>6</a:t>
            </a:r>
            <a:r>
              <a:rPr lang="zh-CN" altLang="zh-CN" sz="2000">
                <a:latin typeface="Consolas" pitchFamily="49" charset="0"/>
                <a:ea typeface="楷体" pitchFamily="49" charset="-122"/>
                <a:cs typeface="Consolas" pitchFamily="49" charset="0"/>
              </a:rPr>
              <a:t>个顶点的无向图，该图至多有</a:t>
            </a:r>
            <a:r>
              <a:rPr lang="zh-CN" altLang="en-US" sz="2000">
                <a:latin typeface="Consolas" pitchFamily="49" charset="0"/>
                <a:ea typeface="楷体" pitchFamily="49" charset="-122"/>
                <a:cs typeface="Consolas" pitchFamily="49" charset="0"/>
              </a:rPr>
              <a:t>（  ）</a:t>
            </a:r>
            <a:r>
              <a:rPr lang="zh-CN" altLang="zh-CN" sz="2000">
                <a:latin typeface="Consolas" pitchFamily="49" charset="0"/>
                <a:ea typeface="楷体" pitchFamily="49" charset="-122"/>
                <a:cs typeface="Consolas" pitchFamily="49" charset="0"/>
              </a:rPr>
              <a:t>条边。</a:t>
            </a:r>
          </a:p>
          <a:p>
            <a:pPr algn="l">
              <a:lnSpc>
                <a:spcPct val="150000"/>
              </a:lnSpc>
            </a:pPr>
            <a:r>
              <a:rPr lang="en-US" altLang="zh-CN" sz="2000">
                <a:latin typeface="Consolas" pitchFamily="49" charset="0"/>
                <a:ea typeface="楷体" pitchFamily="49" charset="-122"/>
                <a:cs typeface="Consolas" pitchFamily="49" charset="0"/>
              </a:rPr>
              <a:t>A. 5	    B. 6	 C. 7      D. 15</a:t>
            </a:r>
            <a:endParaRPr lang="zh-CN" altLang="en-US" sz="2000">
              <a:latin typeface="Consolas" pitchFamily="49" charset="0"/>
              <a:ea typeface="楷体" pitchFamily="49" charset="-122"/>
              <a:cs typeface="Consolas" pitchFamily="49" charset="0"/>
            </a:endParaRPr>
          </a:p>
        </p:txBody>
      </p:sp>
      <p:sp>
        <p:nvSpPr>
          <p:cNvPr id="10" name="TextBox 9">
            <a:extLst>
              <a:ext uri="{FF2B5EF4-FFF2-40B4-BE49-F238E27FC236}">
                <a16:creationId xmlns:a16="http://schemas.microsoft.com/office/drawing/2014/main" id="{E8F02B05-B91B-4F39-DEB7-3BB09E8FAE69}"/>
              </a:ext>
            </a:extLst>
          </p:cNvPr>
          <p:cNvSpPr txBox="1"/>
          <p:nvPr/>
        </p:nvSpPr>
        <p:spPr>
          <a:xfrm>
            <a:off x="2999656" y="4992870"/>
            <a:ext cx="1785950" cy="400110"/>
          </a:xfrm>
          <a:prstGeom prst="rect">
            <a:avLst/>
          </a:prstGeom>
          <a:noFill/>
        </p:spPr>
        <p:txBody>
          <a:bodyPr wrap="square" rtlCol="0">
            <a:spAutoFit/>
          </a:bodyPr>
          <a:lstStyle/>
          <a:p>
            <a:pPr algn="l"/>
            <a:r>
              <a:rPr lang="zh-CN" altLang="zh-CN" sz="2000">
                <a:latin typeface="Consolas" pitchFamily="49" charset="0"/>
                <a:ea typeface="楷体" pitchFamily="49" charset="-122"/>
                <a:cs typeface="Consolas" pitchFamily="49" charset="0"/>
              </a:rPr>
              <a:t>答案</a:t>
            </a:r>
            <a:r>
              <a:rPr lang="zh-CN" altLang="en-US" sz="2000">
                <a:latin typeface="Consolas" pitchFamily="49" charset="0"/>
                <a:ea typeface="楷体" pitchFamily="49" charset="-122"/>
                <a:cs typeface="Consolas" pitchFamily="49" charset="0"/>
              </a:rPr>
              <a:t>为</a:t>
            </a:r>
            <a:r>
              <a:rPr lang="en-US" altLang="zh-CN" sz="2000">
                <a:solidFill>
                  <a:srgbClr val="C00000"/>
                </a:solidFill>
                <a:latin typeface="Consolas" pitchFamily="49" charset="0"/>
                <a:ea typeface="楷体" pitchFamily="49" charset="-122"/>
                <a:cs typeface="Consolas" pitchFamily="49" charset="0"/>
              </a:rPr>
              <a:t>D</a:t>
            </a:r>
            <a:r>
              <a:rPr lang="zh-CN" altLang="zh-CN" sz="2000">
                <a:latin typeface="Consolas" pitchFamily="49" charset="0"/>
                <a:ea typeface="楷体" pitchFamily="49" charset="-122"/>
                <a:cs typeface="Consolas" pitchFamily="49" charset="0"/>
              </a:rPr>
              <a:t>。</a:t>
            </a:r>
            <a:endParaRPr lang="zh-CN" altLang="en-US" sz="2000"/>
          </a:p>
        </p:txBody>
      </p:sp>
      <p:sp>
        <p:nvSpPr>
          <p:cNvPr id="11" name="TextBox 10">
            <a:extLst>
              <a:ext uri="{FF2B5EF4-FFF2-40B4-BE49-F238E27FC236}">
                <a16:creationId xmlns:a16="http://schemas.microsoft.com/office/drawing/2014/main" id="{DF99AE69-47C3-E356-E37A-30DCC2707506}"/>
              </a:ext>
            </a:extLst>
          </p:cNvPr>
          <p:cNvSpPr txBox="1"/>
          <p:nvPr/>
        </p:nvSpPr>
        <p:spPr>
          <a:xfrm>
            <a:off x="2999656" y="4421366"/>
            <a:ext cx="5715040" cy="400110"/>
          </a:xfrm>
          <a:prstGeom prst="rect">
            <a:avLst/>
          </a:prstGeom>
          <a:noFill/>
        </p:spPr>
        <p:txBody>
          <a:bodyPr wrap="square" rtlCol="0">
            <a:spAutoFit/>
          </a:bodyPr>
          <a:lstStyle/>
          <a:p>
            <a:pPr algn="l"/>
            <a:r>
              <a:rPr lang="zh-CN" altLang="zh-CN" sz="2000">
                <a:latin typeface="Consolas" pitchFamily="49" charset="0"/>
                <a:ea typeface="仿宋" pitchFamily="49" charset="-122"/>
                <a:cs typeface="Consolas" pitchFamily="49" charset="0"/>
              </a:rPr>
              <a:t>边数最多时为完全无向图，有</a:t>
            </a:r>
            <a:r>
              <a:rPr lang="en-US" altLang="zh-CN" sz="2000" i="1">
                <a:latin typeface="Consolas" pitchFamily="49" charset="0"/>
                <a:ea typeface="仿宋" pitchFamily="49" charset="-122"/>
                <a:cs typeface="Consolas" pitchFamily="49" charset="0"/>
              </a:rPr>
              <a:t>n</a:t>
            </a:r>
            <a:r>
              <a:rPr lang="en-US" altLang="zh-CN" sz="2000">
                <a:latin typeface="Consolas" pitchFamily="49" charset="0"/>
                <a:ea typeface="仿宋" pitchFamily="49" charset="-122"/>
                <a:cs typeface="Consolas" pitchFamily="49" charset="0"/>
              </a:rPr>
              <a:t>(</a:t>
            </a:r>
            <a:r>
              <a:rPr lang="en-US" altLang="zh-CN" sz="2000" i="1">
                <a:latin typeface="Consolas" pitchFamily="49" charset="0"/>
                <a:ea typeface="仿宋" pitchFamily="49" charset="-122"/>
                <a:cs typeface="Consolas" pitchFamily="49" charset="0"/>
              </a:rPr>
              <a:t>n</a:t>
            </a:r>
            <a:r>
              <a:rPr lang="en-US" altLang="zh-CN" sz="2000">
                <a:latin typeface="Consolas" pitchFamily="49" charset="0"/>
                <a:ea typeface="仿宋" pitchFamily="49" charset="-122"/>
                <a:cs typeface="Consolas" pitchFamily="49" charset="0"/>
              </a:rPr>
              <a:t>-1)/2=15</a:t>
            </a:r>
            <a:r>
              <a:rPr lang="zh-CN" altLang="zh-CN" sz="2000">
                <a:latin typeface="Consolas" pitchFamily="49" charset="0"/>
                <a:ea typeface="仿宋" pitchFamily="49" charset="-122"/>
                <a:cs typeface="Consolas" pitchFamily="49" charset="0"/>
              </a:rPr>
              <a:t>条边。</a:t>
            </a:r>
            <a:endParaRPr lang="zh-CN" altLang="en-US" sz="2000">
              <a:latin typeface="Consolas" pitchFamily="49" charset="0"/>
              <a:ea typeface="仿宋" pitchFamily="49" charset="-122"/>
              <a:cs typeface="Consolas" pitchFamily="49" charset="0"/>
            </a:endParaRPr>
          </a:p>
        </p:txBody>
      </p:sp>
    </p:spTree>
    <p:extLst>
      <p:ext uri="{BB962C8B-B14F-4D97-AF65-F5344CB8AC3E}">
        <p14:creationId xmlns:p14="http://schemas.microsoft.com/office/powerpoint/2010/main" val="10306875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639616" y="2797918"/>
            <a:ext cx="7488832" cy="1015663"/>
          </a:xfrm>
          <a:prstGeom prst="rect">
            <a:avLst/>
          </a:prstGeom>
        </p:spPr>
        <p:txBody>
          <a:bodyPr wrap="square">
            <a:spAutoFit/>
          </a:bodyPr>
          <a:lstStyle/>
          <a:p>
            <a:pPr>
              <a:spcBef>
                <a:spcPts val="1000"/>
              </a:spcBef>
            </a:pPr>
            <a:r>
              <a:rPr kumimoji="1" lang="zh-CN" altLang="en-US" sz="2000" dirty="0">
                <a:latin typeface="微软雅黑" pitchFamily="34" charset="-122"/>
                <a:ea typeface="微软雅黑" pitchFamily="34" charset="-122"/>
                <a:cs typeface="经典粗黑简" pitchFamily="49" charset="-122"/>
              </a:rPr>
              <a:t>      在无向图</a:t>
            </a:r>
            <a:r>
              <a:rPr kumimoji="1" lang="en-US" altLang="zh-CN" sz="2000" dirty="0">
                <a:latin typeface="微软雅黑" pitchFamily="34" charset="-122"/>
                <a:ea typeface="微软雅黑" pitchFamily="34" charset="-122"/>
                <a:cs typeface="经典粗黑简" pitchFamily="49" charset="-122"/>
              </a:rPr>
              <a:t>G</a:t>
            </a:r>
            <a:r>
              <a:rPr kumimoji="1" lang="zh-CN" altLang="en-US" sz="2000" dirty="0">
                <a:latin typeface="微软雅黑" pitchFamily="34" charset="-122"/>
                <a:ea typeface="微软雅黑" pitchFamily="34" charset="-122"/>
                <a:cs typeface="经典粗黑简" pitchFamily="49" charset="-122"/>
              </a:rPr>
              <a:t>中，若存在一个顶点序列</a:t>
            </a:r>
            <a:r>
              <a:rPr kumimoji="1" lang="en-US" altLang="zh-CN" sz="2000" b="1" dirty="0">
                <a:latin typeface="微软雅黑" pitchFamily="34" charset="-122"/>
                <a:ea typeface="微软雅黑" pitchFamily="34" charset="-122"/>
                <a:cs typeface="经典粗黑简" pitchFamily="49" charset="-122"/>
              </a:rPr>
              <a:t>v</a:t>
            </a:r>
            <a:r>
              <a:rPr kumimoji="1" lang="en-US" altLang="zh-CN" sz="2000" b="1" baseline="-25000" dirty="0">
                <a:latin typeface="微软雅黑" pitchFamily="34" charset="-122"/>
                <a:ea typeface="微软雅黑" pitchFamily="34" charset="-122"/>
                <a:cs typeface="经典粗黑简" pitchFamily="49" charset="-122"/>
              </a:rPr>
              <a:t>i</a:t>
            </a:r>
            <a:r>
              <a:rPr kumimoji="1" lang="en-US" altLang="zh-CN" sz="2000" b="1" dirty="0">
                <a:latin typeface="微软雅黑" pitchFamily="34" charset="-122"/>
                <a:ea typeface="微软雅黑" pitchFamily="34" charset="-122"/>
                <a:cs typeface="经典粗黑简" pitchFamily="49" charset="-122"/>
              </a:rPr>
              <a:t>,v</a:t>
            </a:r>
            <a:r>
              <a:rPr kumimoji="1" lang="en-US" altLang="zh-CN" sz="2000" b="1" baseline="-25000" dirty="0">
                <a:latin typeface="微软雅黑" pitchFamily="34" charset="-122"/>
                <a:ea typeface="微软雅黑" pitchFamily="34" charset="-122"/>
                <a:cs typeface="经典粗黑简" pitchFamily="49" charset="-122"/>
              </a:rPr>
              <a:t>k1</a:t>
            </a:r>
            <a:r>
              <a:rPr kumimoji="1" lang="en-US" altLang="zh-CN" sz="2000" b="1" dirty="0">
                <a:latin typeface="微软雅黑" pitchFamily="34" charset="-122"/>
                <a:ea typeface="微软雅黑" pitchFamily="34" charset="-122"/>
                <a:cs typeface="经典粗黑简" pitchFamily="49" charset="-122"/>
              </a:rPr>
              <a:t>,v</a:t>
            </a:r>
            <a:r>
              <a:rPr kumimoji="1" lang="en-US" altLang="zh-CN" sz="2000" b="1" baseline="-25000" dirty="0">
                <a:latin typeface="微软雅黑" pitchFamily="34" charset="-122"/>
                <a:ea typeface="微软雅黑" pitchFamily="34" charset="-122"/>
                <a:cs typeface="经典粗黑简" pitchFamily="49" charset="-122"/>
              </a:rPr>
              <a:t>k2</a:t>
            </a:r>
            <a:r>
              <a:rPr kumimoji="1" lang="en-US" altLang="zh-CN" sz="2000" b="1" dirty="0">
                <a:latin typeface="微软雅黑" pitchFamily="34" charset="-122"/>
                <a:ea typeface="微软雅黑" pitchFamily="34" charset="-122"/>
                <a:cs typeface="经典粗黑简" pitchFamily="49" charset="-122"/>
              </a:rPr>
              <a:t>,…,</a:t>
            </a:r>
            <a:r>
              <a:rPr kumimoji="1" lang="en-US" altLang="zh-CN" sz="2000" b="1" dirty="0" err="1">
                <a:latin typeface="微软雅黑" pitchFamily="34" charset="-122"/>
                <a:ea typeface="微软雅黑" pitchFamily="34" charset="-122"/>
                <a:cs typeface="经典粗黑简" pitchFamily="49" charset="-122"/>
              </a:rPr>
              <a:t>v</a:t>
            </a:r>
            <a:r>
              <a:rPr kumimoji="1" lang="en-US" altLang="zh-CN" sz="2000" b="1" baseline="-25000" dirty="0" err="1">
                <a:latin typeface="微软雅黑" pitchFamily="34" charset="-122"/>
                <a:ea typeface="微软雅黑" pitchFamily="34" charset="-122"/>
                <a:cs typeface="经典粗黑简" pitchFamily="49" charset="-122"/>
              </a:rPr>
              <a:t>kn</a:t>
            </a:r>
            <a:r>
              <a:rPr kumimoji="1" lang="en-US" altLang="zh-CN" sz="2000" b="1" dirty="0" err="1">
                <a:latin typeface="微软雅黑" pitchFamily="34" charset="-122"/>
                <a:ea typeface="微软雅黑" pitchFamily="34" charset="-122"/>
                <a:cs typeface="经典粗黑简" pitchFamily="49" charset="-122"/>
              </a:rPr>
              <a:t>,v</a:t>
            </a:r>
            <a:r>
              <a:rPr kumimoji="1" lang="en-US" altLang="zh-CN" sz="2000" b="1" baseline="-25000" dirty="0" err="1">
                <a:latin typeface="微软雅黑" pitchFamily="34" charset="-122"/>
                <a:ea typeface="微软雅黑" pitchFamily="34" charset="-122"/>
                <a:cs typeface="经典粗黑简" pitchFamily="49" charset="-122"/>
              </a:rPr>
              <a:t>j</a:t>
            </a:r>
            <a:r>
              <a:rPr kumimoji="1" lang="zh-CN" altLang="en-US" sz="2000" dirty="0">
                <a:latin typeface="微软雅黑" pitchFamily="34" charset="-122"/>
                <a:ea typeface="微软雅黑" pitchFamily="34" charset="-122"/>
                <a:cs typeface="经典粗黑简" pitchFamily="49" charset="-122"/>
              </a:rPr>
              <a:t>使得</a:t>
            </a:r>
            <a:r>
              <a:rPr kumimoji="1" lang="en-US" altLang="zh-CN" sz="2000" b="1" dirty="0">
                <a:latin typeface="微软雅黑" pitchFamily="34" charset="-122"/>
                <a:ea typeface="微软雅黑" pitchFamily="34" charset="-122"/>
                <a:cs typeface="经典粗黑简" pitchFamily="49" charset="-122"/>
              </a:rPr>
              <a:t>(v</a:t>
            </a:r>
            <a:r>
              <a:rPr kumimoji="1" lang="en-US" altLang="zh-CN" sz="2000" b="1" baseline="-25000" dirty="0">
                <a:latin typeface="微软雅黑" pitchFamily="34" charset="-122"/>
                <a:ea typeface="微软雅黑" pitchFamily="34" charset="-122"/>
                <a:cs typeface="经典粗黑简" pitchFamily="49" charset="-122"/>
              </a:rPr>
              <a:t>i</a:t>
            </a:r>
            <a:r>
              <a:rPr kumimoji="1" lang="en-US" altLang="zh-CN" sz="2000" b="1" dirty="0">
                <a:latin typeface="微软雅黑" pitchFamily="34" charset="-122"/>
                <a:ea typeface="微软雅黑" pitchFamily="34" charset="-122"/>
                <a:cs typeface="经典粗黑简" pitchFamily="49" charset="-122"/>
              </a:rPr>
              <a:t>,v</a:t>
            </a:r>
            <a:r>
              <a:rPr kumimoji="1" lang="en-US" altLang="zh-CN" sz="2000" b="1" baseline="-25000" dirty="0">
                <a:latin typeface="微软雅黑" pitchFamily="34" charset="-122"/>
                <a:ea typeface="微软雅黑" pitchFamily="34" charset="-122"/>
                <a:cs typeface="经典粗黑简" pitchFamily="49" charset="-122"/>
              </a:rPr>
              <a:t>k1</a:t>
            </a:r>
            <a:r>
              <a:rPr kumimoji="1" lang="en-US" altLang="zh-CN" sz="2000" b="1" dirty="0">
                <a:latin typeface="微软雅黑" pitchFamily="34" charset="-122"/>
                <a:ea typeface="微软雅黑" pitchFamily="34" charset="-122"/>
                <a:cs typeface="经典粗黑简" pitchFamily="49" charset="-122"/>
              </a:rPr>
              <a:t>),(v</a:t>
            </a:r>
            <a:r>
              <a:rPr kumimoji="1" lang="en-US" altLang="zh-CN" sz="2000" b="1" baseline="-25000" dirty="0">
                <a:latin typeface="微软雅黑" pitchFamily="34" charset="-122"/>
                <a:ea typeface="微软雅黑" pitchFamily="34" charset="-122"/>
                <a:cs typeface="经典粗黑简" pitchFamily="49" charset="-122"/>
              </a:rPr>
              <a:t>k1</a:t>
            </a:r>
            <a:r>
              <a:rPr kumimoji="1" lang="en-US" altLang="zh-CN" sz="2000" b="1" dirty="0">
                <a:latin typeface="微软雅黑" pitchFamily="34" charset="-122"/>
                <a:ea typeface="微软雅黑" pitchFamily="34" charset="-122"/>
                <a:cs typeface="经典粗黑简" pitchFamily="49" charset="-122"/>
              </a:rPr>
              <a:t>,v</a:t>
            </a:r>
            <a:r>
              <a:rPr kumimoji="1" lang="en-US" altLang="zh-CN" sz="2000" b="1" baseline="-25000" dirty="0">
                <a:latin typeface="微软雅黑" pitchFamily="34" charset="-122"/>
                <a:ea typeface="微软雅黑" pitchFamily="34" charset="-122"/>
                <a:cs typeface="经典粗黑简" pitchFamily="49" charset="-122"/>
              </a:rPr>
              <a:t>k2</a:t>
            </a:r>
            <a:r>
              <a:rPr kumimoji="1" lang="en-US" altLang="zh-CN" sz="2000" b="1" dirty="0">
                <a:latin typeface="微软雅黑" pitchFamily="34" charset="-122"/>
                <a:ea typeface="微软雅黑" pitchFamily="34" charset="-122"/>
                <a:cs typeface="经典粗黑简" pitchFamily="49" charset="-122"/>
              </a:rPr>
              <a:t>),…,(</a:t>
            </a:r>
            <a:r>
              <a:rPr kumimoji="1" lang="en-US" altLang="zh-CN" sz="2000" b="1" dirty="0" err="1">
                <a:latin typeface="微软雅黑" pitchFamily="34" charset="-122"/>
                <a:ea typeface="微软雅黑" pitchFamily="34" charset="-122"/>
                <a:cs typeface="经典粗黑简" pitchFamily="49" charset="-122"/>
              </a:rPr>
              <a:t>v</a:t>
            </a:r>
            <a:r>
              <a:rPr kumimoji="1" lang="en-US" altLang="zh-CN" sz="2000" b="1" baseline="-25000" dirty="0" err="1">
                <a:latin typeface="微软雅黑" pitchFamily="34" charset="-122"/>
                <a:ea typeface="微软雅黑" pitchFamily="34" charset="-122"/>
                <a:cs typeface="经典粗黑简" pitchFamily="49" charset="-122"/>
              </a:rPr>
              <a:t>kn</a:t>
            </a:r>
            <a:r>
              <a:rPr kumimoji="1" lang="en-US" altLang="zh-CN" sz="2000" b="1" dirty="0" err="1">
                <a:latin typeface="微软雅黑" pitchFamily="34" charset="-122"/>
                <a:ea typeface="微软雅黑" pitchFamily="34" charset="-122"/>
                <a:cs typeface="经典粗黑简" pitchFamily="49" charset="-122"/>
              </a:rPr>
              <a:t>,v</a:t>
            </a:r>
            <a:r>
              <a:rPr kumimoji="1" lang="en-US" altLang="zh-CN" sz="2000" b="1" baseline="-25000" dirty="0" err="1">
                <a:latin typeface="微软雅黑" pitchFamily="34" charset="-122"/>
                <a:ea typeface="微软雅黑" pitchFamily="34" charset="-122"/>
                <a:cs typeface="经典粗黑简" pitchFamily="49" charset="-122"/>
              </a:rPr>
              <a:t>j</a:t>
            </a:r>
            <a:r>
              <a:rPr kumimoji="1" lang="en-US" altLang="zh-CN" sz="2000" b="1" dirty="0">
                <a:latin typeface="微软雅黑" pitchFamily="34" charset="-122"/>
                <a:ea typeface="微软雅黑" pitchFamily="34" charset="-122"/>
                <a:cs typeface="经典粗黑简" pitchFamily="49" charset="-122"/>
              </a:rPr>
              <a:t>)</a:t>
            </a:r>
            <a:r>
              <a:rPr kumimoji="1" lang="zh-CN" altLang="en-US" sz="2000" dirty="0">
                <a:latin typeface="微软雅黑" pitchFamily="34" charset="-122"/>
                <a:ea typeface="微软雅黑" pitchFamily="34" charset="-122"/>
                <a:cs typeface="经典粗黑简" pitchFamily="49" charset="-122"/>
              </a:rPr>
              <a:t>均属于</a:t>
            </a:r>
            <a:r>
              <a:rPr kumimoji="1" lang="en-US" altLang="zh-CN" sz="2000" dirty="0">
                <a:latin typeface="微软雅黑" pitchFamily="34" charset="-122"/>
                <a:ea typeface="微软雅黑" pitchFamily="34" charset="-122"/>
                <a:cs typeface="经典粗黑简" pitchFamily="49" charset="-122"/>
              </a:rPr>
              <a:t>E</a:t>
            </a:r>
            <a:r>
              <a:rPr kumimoji="1" lang="zh-CN" altLang="en-US" sz="2000" dirty="0">
                <a:latin typeface="微软雅黑" pitchFamily="34" charset="-122"/>
                <a:ea typeface="微软雅黑" pitchFamily="34" charset="-122"/>
                <a:cs typeface="经典粗黑简" pitchFamily="49" charset="-122"/>
              </a:rPr>
              <a:t>，则称顶点</a:t>
            </a:r>
            <a:r>
              <a:rPr kumimoji="1" lang="en-US" altLang="zh-CN" sz="2000" b="1" dirty="0">
                <a:latin typeface="微软雅黑" pitchFamily="34" charset="-122"/>
                <a:ea typeface="微软雅黑" pitchFamily="34" charset="-122"/>
                <a:cs typeface="经典粗黑简" pitchFamily="49" charset="-122"/>
              </a:rPr>
              <a:t>v</a:t>
            </a:r>
            <a:r>
              <a:rPr kumimoji="1" lang="en-US" altLang="zh-CN" sz="2000" b="1" baseline="-25000" dirty="0">
                <a:latin typeface="微软雅黑" pitchFamily="34" charset="-122"/>
                <a:ea typeface="微软雅黑" pitchFamily="34" charset="-122"/>
                <a:cs typeface="经典粗黑简" pitchFamily="49" charset="-122"/>
              </a:rPr>
              <a:t>i</a:t>
            </a:r>
            <a:r>
              <a:rPr kumimoji="1" lang="zh-CN" altLang="en-US" sz="2000" dirty="0">
                <a:latin typeface="微软雅黑" pitchFamily="34" charset="-122"/>
                <a:ea typeface="微软雅黑" pitchFamily="34" charset="-122"/>
                <a:cs typeface="经典粗黑简" pitchFamily="49" charset="-122"/>
              </a:rPr>
              <a:t>和</a:t>
            </a:r>
            <a:r>
              <a:rPr kumimoji="1" lang="en-US" altLang="zh-CN" sz="2000" b="1" dirty="0" err="1">
                <a:latin typeface="微软雅黑" pitchFamily="34" charset="-122"/>
                <a:ea typeface="微软雅黑" pitchFamily="34" charset="-122"/>
                <a:cs typeface="经典粗黑简" pitchFamily="49" charset="-122"/>
              </a:rPr>
              <a:t>v</a:t>
            </a:r>
            <a:r>
              <a:rPr kumimoji="1" lang="en-US" altLang="zh-CN" sz="2000" b="1" baseline="-25000" dirty="0" err="1">
                <a:latin typeface="微软雅黑" pitchFamily="34" charset="-122"/>
                <a:ea typeface="微软雅黑" pitchFamily="34" charset="-122"/>
                <a:cs typeface="经典粗黑简" pitchFamily="49" charset="-122"/>
              </a:rPr>
              <a:t>j</a:t>
            </a:r>
            <a:r>
              <a:rPr kumimoji="1" lang="zh-CN" altLang="en-US" sz="2000" dirty="0">
                <a:latin typeface="微软雅黑" pitchFamily="34" charset="-122"/>
                <a:ea typeface="微软雅黑" pitchFamily="34" charset="-122"/>
                <a:cs typeface="经典粗黑简" pitchFamily="49" charset="-122"/>
              </a:rPr>
              <a:t>存在一条</a:t>
            </a:r>
            <a:r>
              <a:rPr kumimoji="1" lang="zh-CN" altLang="en-US" sz="2000" dirty="0">
                <a:solidFill>
                  <a:srgbClr val="FF0000"/>
                </a:solidFill>
                <a:latin typeface="微软雅黑" pitchFamily="34" charset="-122"/>
                <a:ea typeface="微软雅黑" pitchFamily="34" charset="-122"/>
                <a:cs typeface="经典粗黑简" pitchFamily="49" charset="-122"/>
              </a:rPr>
              <a:t>路径</a:t>
            </a:r>
            <a:r>
              <a:rPr kumimoji="1" lang="en-US" altLang="zh-CN" sz="2000" b="1" dirty="0">
                <a:latin typeface="微软雅黑" pitchFamily="34" charset="-122"/>
                <a:ea typeface="微软雅黑" pitchFamily="34" charset="-122"/>
                <a:cs typeface="经典粗黑简" pitchFamily="49" charset="-122"/>
              </a:rPr>
              <a:t>v</a:t>
            </a:r>
            <a:r>
              <a:rPr kumimoji="1" lang="en-US" altLang="zh-CN" sz="2000" b="1" baseline="-25000" dirty="0">
                <a:latin typeface="微软雅黑" pitchFamily="34" charset="-122"/>
                <a:ea typeface="微软雅黑" pitchFamily="34" charset="-122"/>
                <a:cs typeface="经典粗黑简" pitchFamily="49" charset="-122"/>
              </a:rPr>
              <a:t>i</a:t>
            </a:r>
            <a:r>
              <a:rPr kumimoji="1" lang="en-US" altLang="zh-CN" sz="2000" b="1" dirty="0">
                <a:latin typeface="微软雅黑" pitchFamily="34" charset="-122"/>
                <a:ea typeface="微软雅黑" pitchFamily="34" charset="-122"/>
                <a:cs typeface="经典粗黑简" pitchFamily="49" charset="-122"/>
              </a:rPr>
              <a:t>,v</a:t>
            </a:r>
            <a:r>
              <a:rPr kumimoji="1" lang="en-US" altLang="zh-CN" sz="2000" b="1" baseline="-25000" dirty="0">
                <a:latin typeface="微软雅黑" pitchFamily="34" charset="-122"/>
                <a:ea typeface="微软雅黑" pitchFamily="34" charset="-122"/>
                <a:cs typeface="经典粗黑简" pitchFamily="49" charset="-122"/>
              </a:rPr>
              <a:t>k1</a:t>
            </a:r>
            <a:r>
              <a:rPr kumimoji="1" lang="en-US" altLang="zh-CN" sz="2000" b="1" dirty="0">
                <a:latin typeface="微软雅黑" pitchFamily="34" charset="-122"/>
                <a:ea typeface="微软雅黑" pitchFamily="34" charset="-122"/>
                <a:cs typeface="经典粗黑简" pitchFamily="49" charset="-122"/>
              </a:rPr>
              <a:t>,v</a:t>
            </a:r>
            <a:r>
              <a:rPr kumimoji="1" lang="en-US" altLang="zh-CN" sz="2000" b="1" baseline="-25000" dirty="0">
                <a:latin typeface="微软雅黑" pitchFamily="34" charset="-122"/>
                <a:ea typeface="微软雅黑" pitchFamily="34" charset="-122"/>
                <a:cs typeface="经典粗黑简" pitchFamily="49" charset="-122"/>
              </a:rPr>
              <a:t>k2</a:t>
            </a:r>
            <a:r>
              <a:rPr kumimoji="1" lang="en-US" altLang="zh-CN" sz="2000" b="1" dirty="0">
                <a:latin typeface="微软雅黑" pitchFamily="34" charset="-122"/>
                <a:ea typeface="微软雅黑" pitchFamily="34" charset="-122"/>
                <a:cs typeface="经典粗黑简" pitchFamily="49" charset="-122"/>
              </a:rPr>
              <a:t>,…,</a:t>
            </a:r>
            <a:r>
              <a:rPr kumimoji="1" lang="en-US" altLang="zh-CN" sz="2000" b="1" dirty="0" err="1">
                <a:latin typeface="微软雅黑" pitchFamily="34" charset="-122"/>
                <a:ea typeface="微软雅黑" pitchFamily="34" charset="-122"/>
                <a:cs typeface="经典粗黑简" pitchFamily="49" charset="-122"/>
              </a:rPr>
              <a:t>v</a:t>
            </a:r>
            <a:r>
              <a:rPr kumimoji="1" lang="en-US" altLang="zh-CN" sz="2000" b="1" baseline="-25000" dirty="0" err="1">
                <a:latin typeface="微软雅黑" pitchFamily="34" charset="-122"/>
                <a:ea typeface="微软雅黑" pitchFamily="34" charset="-122"/>
                <a:cs typeface="经典粗黑简" pitchFamily="49" charset="-122"/>
              </a:rPr>
              <a:t>kn</a:t>
            </a:r>
            <a:r>
              <a:rPr kumimoji="1" lang="en-US" altLang="zh-CN" sz="2000" b="1" dirty="0" err="1">
                <a:latin typeface="微软雅黑" pitchFamily="34" charset="-122"/>
                <a:ea typeface="微软雅黑" pitchFamily="34" charset="-122"/>
                <a:cs typeface="经典粗黑简" pitchFamily="49" charset="-122"/>
              </a:rPr>
              <a:t>,v</a:t>
            </a:r>
            <a:r>
              <a:rPr kumimoji="1" lang="en-US" altLang="zh-CN" sz="2000" b="1" baseline="-25000" dirty="0" err="1">
                <a:latin typeface="微软雅黑" pitchFamily="34" charset="-122"/>
                <a:ea typeface="微软雅黑" pitchFamily="34" charset="-122"/>
                <a:cs typeface="经典粗黑简" pitchFamily="49" charset="-122"/>
              </a:rPr>
              <a:t>j</a:t>
            </a:r>
            <a:r>
              <a:rPr kumimoji="1" lang="zh-CN" altLang="en-US" sz="2000" dirty="0">
                <a:latin typeface="微软雅黑" pitchFamily="34" charset="-122"/>
                <a:ea typeface="微软雅黑" pitchFamily="34" charset="-122"/>
                <a:cs typeface="经典粗黑简" pitchFamily="49" charset="-122"/>
              </a:rPr>
              <a:t>，若图是有向的，则路径也是有向的。</a:t>
            </a:r>
          </a:p>
        </p:txBody>
      </p:sp>
      <p:grpSp>
        <p:nvGrpSpPr>
          <p:cNvPr id="23" name="Group 4"/>
          <p:cNvGrpSpPr>
            <a:grpSpLocks/>
          </p:cNvGrpSpPr>
          <p:nvPr/>
        </p:nvGrpSpPr>
        <p:grpSpPr bwMode="auto">
          <a:xfrm>
            <a:off x="3142917" y="3789041"/>
            <a:ext cx="3168351" cy="2783195"/>
            <a:chOff x="1247" y="391"/>
            <a:chExt cx="2858" cy="2812"/>
          </a:xfrm>
        </p:grpSpPr>
        <p:sp>
          <p:nvSpPr>
            <p:cNvPr id="24" name="Oval 5"/>
            <p:cNvSpPr>
              <a:spLocks noChangeArrowheads="1"/>
            </p:cNvSpPr>
            <p:nvPr/>
          </p:nvSpPr>
          <p:spPr bwMode="auto">
            <a:xfrm>
              <a:off x="1247" y="391"/>
              <a:ext cx="317" cy="317"/>
            </a:xfrm>
            <a:prstGeom prst="ellipse">
              <a:avLst/>
            </a:prstGeom>
            <a:solidFill>
              <a:schemeClr val="bg1"/>
            </a:solidFill>
            <a:ln w="28575" cap="sq">
              <a:solidFill>
                <a:srgbClr val="0033CC"/>
              </a:solidFill>
              <a:miter lim="800000"/>
              <a:headEnd type="none" w="sm" len="sm"/>
              <a:tailEnd type="none" w="sm" len="sm"/>
            </a:ln>
          </p:spPr>
          <p:txBody>
            <a:bodyPr wrap="none" tIns="0" anchorCtr="1"/>
            <a:lstStyle/>
            <a:p>
              <a:r>
                <a:rPr lang="en-US" altLang="zh-CN"/>
                <a:t>A</a:t>
              </a:r>
              <a:endParaRPr lang="en-US" altLang="zh-CN" baseline="-25000"/>
            </a:p>
          </p:txBody>
        </p:sp>
        <p:sp>
          <p:nvSpPr>
            <p:cNvPr id="25" name="Oval 6"/>
            <p:cNvSpPr>
              <a:spLocks noChangeArrowheads="1"/>
            </p:cNvSpPr>
            <p:nvPr/>
          </p:nvSpPr>
          <p:spPr bwMode="auto">
            <a:xfrm>
              <a:off x="3742" y="391"/>
              <a:ext cx="317" cy="317"/>
            </a:xfrm>
            <a:prstGeom prst="ellipse">
              <a:avLst/>
            </a:prstGeom>
            <a:solidFill>
              <a:schemeClr val="bg1"/>
            </a:solidFill>
            <a:ln w="28575" cap="sq">
              <a:solidFill>
                <a:srgbClr val="0033CC"/>
              </a:solidFill>
              <a:miter lim="800000"/>
              <a:headEnd type="none" w="sm" len="sm"/>
              <a:tailEnd type="none" w="sm" len="sm"/>
            </a:ln>
          </p:spPr>
          <p:txBody>
            <a:bodyPr wrap="none" tIns="0" anchorCtr="1"/>
            <a:lstStyle/>
            <a:p>
              <a:r>
                <a:rPr lang="en-US" altLang="zh-CN"/>
                <a:t>B</a:t>
              </a:r>
              <a:endParaRPr lang="en-US" altLang="zh-CN" baseline="-25000"/>
            </a:p>
          </p:txBody>
        </p:sp>
        <p:sp>
          <p:nvSpPr>
            <p:cNvPr id="26" name="Oval 7"/>
            <p:cNvSpPr>
              <a:spLocks noChangeArrowheads="1"/>
            </p:cNvSpPr>
            <p:nvPr/>
          </p:nvSpPr>
          <p:spPr bwMode="auto">
            <a:xfrm>
              <a:off x="1247" y="2841"/>
              <a:ext cx="317" cy="317"/>
            </a:xfrm>
            <a:prstGeom prst="ellipse">
              <a:avLst/>
            </a:prstGeom>
            <a:solidFill>
              <a:schemeClr val="bg1"/>
            </a:solidFill>
            <a:ln w="28575" cap="sq">
              <a:solidFill>
                <a:srgbClr val="0033CC"/>
              </a:solidFill>
              <a:miter lim="800000"/>
              <a:headEnd type="none" w="sm" len="sm"/>
              <a:tailEnd type="none" w="sm" len="sm"/>
            </a:ln>
          </p:spPr>
          <p:txBody>
            <a:bodyPr wrap="none" tIns="0" anchorCtr="1"/>
            <a:lstStyle/>
            <a:p>
              <a:r>
                <a:rPr lang="en-US" altLang="zh-CN"/>
                <a:t>L</a:t>
              </a:r>
              <a:endParaRPr lang="en-US" altLang="zh-CN" baseline="-25000"/>
            </a:p>
          </p:txBody>
        </p:sp>
        <p:sp>
          <p:nvSpPr>
            <p:cNvPr id="27" name="Oval 8"/>
            <p:cNvSpPr>
              <a:spLocks noChangeArrowheads="1"/>
            </p:cNvSpPr>
            <p:nvPr/>
          </p:nvSpPr>
          <p:spPr bwMode="auto">
            <a:xfrm>
              <a:off x="3788" y="2886"/>
              <a:ext cx="317" cy="317"/>
            </a:xfrm>
            <a:prstGeom prst="ellipse">
              <a:avLst/>
            </a:prstGeom>
            <a:solidFill>
              <a:schemeClr val="bg1"/>
            </a:solidFill>
            <a:ln w="28575" cap="sq">
              <a:solidFill>
                <a:srgbClr val="0033CC"/>
              </a:solidFill>
              <a:miter lim="800000"/>
              <a:headEnd type="none" w="sm" len="sm"/>
              <a:tailEnd type="none" w="sm" len="sm"/>
            </a:ln>
          </p:spPr>
          <p:txBody>
            <a:bodyPr wrap="none" tIns="0" anchorCtr="1"/>
            <a:lstStyle/>
            <a:p>
              <a:r>
                <a:rPr lang="en-US" altLang="zh-CN"/>
                <a:t>M</a:t>
              </a:r>
              <a:endParaRPr lang="en-US" altLang="zh-CN" baseline="-25000"/>
            </a:p>
          </p:txBody>
        </p:sp>
        <p:sp>
          <p:nvSpPr>
            <p:cNvPr id="28" name="Oval 9"/>
            <p:cNvSpPr>
              <a:spLocks noChangeArrowheads="1"/>
            </p:cNvSpPr>
            <p:nvPr/>
          </p:nvSpPr>
          <p:spPr bwMode="auto">
            <a:xfrm>
              <a:off x="2472" y="2433"/>
              <a:ext cx="317" cy="317"/>
            </a:xfrm>
            <a:prstGeom prst="ellipse">
              <a:avLst/>
            </a:prstGeom>
            <a:solidFill>
              <a:schemeClr val="bg1"/>
            </a:solidFill>
            <a:ln w="28575" cap="sq">
              <a:solidFill>
                <a:srgbClr val="0033CC"/>
              </a:solidFill>
              <a:miter lim="800000"/>
              <a:headEnd type="none" w="sm" len="sm"/>
              <a:tailEnd type="none" w="sm" len="sm"/>
            </a:ln>
          </p:spPr>
          <p:txBody>
            <a:bodyPr wrap="none" tIns="0" anchorCtr="1"/>
            <a:lstStyle/>
            <a:p>
              <a:r>
                <a:rPr lang="en-US" altLang="zh-CN"/>
                <a:t>J</a:t>
              </a:r>
              <a:endParaRPr lang="en-US" altLang="zh-CN" baseline="-25000"/>
            </a:p>
          </p:txBody>
        </p:sp>
        <p:sp>
          <p:nvSpPr>
            <p:cNvPr id="46" name="Oval 15"/>
            <p:cNvSpPr>
              <a:spLocks noChangeArrowheads="1"/>
            </p:cNvSpPr>
            <p:nvPr/>
          </p:nvSpPr>
          <p:spPr bwMode="auto">
            <a:xfrm>
              <a:off x="1701" y="1344"/>
              <a:ext cx="317" cy="317"/>
            </a:xfrm>
            <a:prstGeom prst="ellipse">
              <a:avLst/>
            </a:prstGeom>
            <a:solidFill>
              <a:schemeClr val="bg1"/>
            </a:solidFill>
            <a:ln w="28575" cap="sq">
              <a:solidFill>
                <a:srgbClr val="0033CC"/>
              </a:solidFill>
              <a:miter lim="800000"/>
              <a:headEnd type="none" w="sm" len="sm"/>
              <a:tailEnd type="none" w="sm" len="sm"/>
            </a:ln>
          </p:spPr>
          <p:txBody>
            <a:bodyPr wrap="none" tIns="0" anchorCtr="1"/>
            <a:lstStyle/>
            <a:p>
              <a:r>
                <a:rPr lang="en-US" altLang="zh-CN"/>
                <a:t>F</a:t>
              </a:r>
              <a:endParaRPr lang="en-US" altLang="zh-CN" baseline="-25000"/>
            </a:p>
          </p:txBody>
        </p:sp>
        <p:sp>
          <p:nvSpPr>
            <p:cNvPr id="47" name="Oval 16"/>
            <p:cNvSpPr>
              <a:spLocks noChangeArrowheads="1"/>
            </p:cNvSpPr>
            <p:nvPr/>
          </p:nvSpPr>
          <p:spPr bwMode="auto">
            <a:xfrm>
              <a:off x="1701" y="845"/>
              <a:ext cx="317" cy="317"/>
            </a:xfrm>
            <a:prstGeom prst="ellipse">
              <a:avLst/>
            </a:prstGeom>
            <a:solidFill>
              <a:schemeClr val="bg1"/>
            </a:solidFill>
            <a:ln w="28575" cap="sq">
              <a:solidFill>
                <a:srgbClr val="0033CC"/>
              </a:solidFill>
              <a:miter lim="800000"/>
              <a:headEnd type="none" w="sm" len="sm"/>
              <a:tailEnd type="none" w="sm" len="sm"/>
            </a:ln>
          </p:spPr>
          <p:txBody>
            <a:bodyPr wrap="none" tIns="0" anchorCtr="1"/>
            <a:lstStyle/>
            <a:p>
              <a:r>
                <a:rPr lang="en-US" altLang="zh-CN"/>
                <a:t>C</a:t>
              </a:r>
              <a:endParaRPr lang="en-US" altLang="zh-CN" baseline="-25000"/>
            </a:p>
          </p:txBody>
        </p:sp>
        <p:sp>
          <p:nvSpPr>
            <p:cNvPr id="49" name="Line 18"/>
            <p:cNvSpPr>
              <a:spLocks noChangeShapeType="1"/>
            </p:cNvSpPr>
            <p:nvPr/>
          </p:nvSpPr>
          <p:spPr bwMode="auto">
            <a:xfrm>
              <a:off x="1565" y="527"/>
              <a:ext cx="2177" cy="0"/>
            </a:xfrm>
            <a:prstGeom prst="line">
              <a:avLst/>
            </a:prstGeom>
            <a:noFill/>
            <a:ln w="28575" cap="sq">
              <a:solidFill>
                <a:srgbClr val="FF0000"/>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50" name="Line 19"/>
            <p:cNvSpPr>
              <a:spLocks noChangeShapeType="1"/>
            </p:cNvSpPr>
            <p:nvPr/>
          </p:nvSpPr>
          <p:spPr bwMode="auto">
            <a:xfrm>
              <a:off x="1383" y="709"/>
              <a:ext cx="0" cy="2131"/>
            </a:xfrm>
            <a:prstGeom prst="line">
              <a:avLst/>
            </a:prstGeom>
            <a:noFill/>
            <a:ln w="28575" cap="sq">
              <a:solidFill>
                <a:srgbClr val="0033CC"/>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51" name="Line 20"/>
            <p:cNvSpPr>
              <a:spLocks noChangeShapeType="1"/>
            </p:cNvSpPr>
            <p:nvPr/>
          </p:nvSpPr>
          <p:spPr bwMode="auto">
            <a:xfrm>
              <a:off x="3943" y="709"/>
              <a:ext cx="0" cy="2176"/>
            </a:xfrm>
            <a:prstGeom prst="line">
              <a:avLst/>
            </a:prstGeom>
            <a:noFill/>
            <a:ln w="28575" cap="sq">
              <a:solidFill>
                <a:srgbClr val="FF0000"/>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52" name="Line 21"/>
            <p:cNvSpPr>
              <a:spLocks noChangeShapeType="1"/>
            </p:cNvSpPr>
            <p:nvPr/>
          </p:nvSpPr>
          <p:spPr bwMode="auto">
            <a:xfrm>
              <a:off x="1565" y="3022"/>
              <a:ext cx="2222" cy="0"/>
            </a:xfrm>
            <a:prstGeom prst="line">
              <a:avLst/>
            </a:prstGeom>
            <a:noFill/>
            <a:ln w="28575" cap="sq">
              <a:solidFill>
                <a:srgbClr val="0033CC"/>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53" name="Line 22"/>
            <p:cNvSpPr>
              <a:spLocks noChangeShapeType="1"/>
            </p:cNvSpPr>
            <p:nvPr/>
          </p:nvSpPr>
          <p:spPr bwMode="auto">
            <a:xfrm>
              <a:off x="1551" y="650"/>
              <a:ext cx="227" cy="227"/>
            </a:xfrm>
            <a:prstGeom prst="line">
              <a:avLst/>
            </a:prstGeom>
            <a:noFill/>
            <a:ln w="28575" cap="sq">
              <a:solidFill>
                <a:srgbClr val="FF0000"/>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54" name="Line 23"/>
            <p:cNvSpPr>
              <a:spLocks noChangeShapeType="1"/>
            </p:cNvSpPr>
            <p:nvPr/>
          </p:nvSpPr>
          <p:spPr bwMode="auto">
            <a:xfrm>
              <a:off x="1474" y="709"/>
              <a:ext cx="272" cy="680"/>
            </a:xfrm>
            <a:prstGeom prst="line">
              <a:avLst/>
            </a:prstGeom>
            <a:noFill/>
            <a:ln w="28575" cap="sq">
              <a:solidFill>
                <a:srgbClr val="0033CC"/>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60" name="Line 29"/>
            <p:cNvSpPr>
              <a:spLocks noChangeShapeType="1"/>
            </p:cNvSpPr>
            <p:nvPr/>
          </p:nvSpPr>
          <p:spPr bwMode="auto">
            <a:xfrm flipH="1">
              <a:off x="1519" y="2614"/>
              <a:ext cx="953" cy="272"/>
            </a:xfrm>
            <a:prstGeom prst="line">
              <a:avLst/>
            </a:prstGeom>
            <a:noFill/>
            <a:ln w="28575" cap="sq">
              <a:solidFill>
                <a:srgbClr val="0033CC"/>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61" name="Line 30"/>
            <p:cNvSpPr>
              <a:spLocks noChangeShapeType="1"/>
            </p:cNvSpPr>
            <p:nvPr/>
          </p:nvSpPr>
          <p:spPr bwMode="auto">
            <a:xfrm>
              <a:off x="2789" y="2568"/>
              <a:ext cx="1044" cy="362"/>
            </a:xfrm>
            <a:prstGeom prst="line">
              <a:avLst/>
            </a:prstGeom>
            <a:noFill/>
            <a:ln w="28575" cap="sq">
              <a:solidFill>
                <a:srgbClr val="FF0000"/>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grpSp>
      <p:sp>
        <p:nvSpPr>
          <p:cNvPr id="62" name="Oval 19"/>
          <p:cNvSpPr>
            <a:spLocks noChangeArrowheads="1"/>
          </p:cNvSpPr>
          <p:nvPr/>
        </p:nvSpPr>
        <p:spPr bwMode="auto">
          <a:xfrm>
            <a:off x="7248946" y="4127929"/>
            <a:ext cx="503238" cy="503237"/>
          </a:xfrm>
          <a:prstGeom prst="ellipse">
            <a:avLst/>
          </a:prstGeom>
          <a:solidFill>
            <a:schemeClr val="bg1"/>
          </a:solidFill>
          <a:ln w="19050" cap="sq">
            <a:solidFill>
              <a:srgbClr val="006666"/>
            </a:solidFill>
            <a:miter lim="800000"/>
            <a:headEnd type="none" w="sm" len="sm"/>
            <a:tailEnd type="none" w="sm" len="sm"/>
          </a:ln>
        </p:spPr>
        <p:txBody>
          <a:bodyPr wrap="none" tIns="0" anchorCtr="1"/>
          <a:lstStyle/>
          <a:p>
            <a:r>
              <a:rPr lang="en-US" altLang="zh-CN" sz="2400" dirty="0"/>
              <a:t>v</a:t>
            </a:r>
            <a:r>
              <a:rPr lang="en-US" altLang="zh-CN" sz="2400" baseline="-25000" dirty="0"/>
              <a:t>1</a:t>
            </a:r>
          </a:p>
        </p:txBody>
      </p:sp>
      <p:sp>
        <p:nvSpPr>
          <p:cNvPr id="63" name="Oval 20"/>
          <p:cNvSpPr>
            <a:spLocks noChangeArrowheads="1"/>
          </p:cNvSpPr>
          <p:nvPr/>
        </p:nvSpPr>
        <p:spPr bwMode="auto">
          <a:xfrm>
            <a:off x="8761835" y="4127929"/>
            <a:ext cx="503237" cy="503237"/>
          </a:xfrm>
          <a:prstGeom prst="ellipse">
            <a:avLst/>
          </a:prstGeom>
          <a:solidFill>
            <a:schemeClr val="bg1"/>
          </a:solidFill>
          <a:ln w="19050" cap="sq">
            <a:solidFill>
              <a:srgbClr val="006666"/>
            </a:solidFill>
            <a:miter lim="800000"/>
            <a:headEnd type="none" w="sm" len="sm"/>
            <a:tailEnd type="none" w="sm" len="sm"/>
          </a:ln>
        </p:spPr>
        <p:txBody>
          <a:bodyPr wrap="none" tIns="0" anchorCtr="1"/>
          <a:lstStyle/>
          <a:p>
            <a:r>
              <a:rPr lang="en-US" altLang="zh-CN" sz="2400"/>
              <a:t>v</a:t>
            </a:r>
            <a:r>
              <a:rPr lang="en-US" altLang="zh-CN" sz="2400" baseline="-25000"/>
              <a:t>2</a:t>
            </a:r>
          </a:p>
        </p:txBody>
      </p:sp>
      <p:sp>
        <p:nvSpPr>
          <p:cNvPr id="64" name="Oval 21"/>
          <p:cNvSpPr>
            <a:spLocks noChangeArrowheads="1"/>
          </p:cNvSpPr>
          <p:nvPr/>
        </p:nvSpPr>
        <p:spPr bwMode="auto">
          <a:xfrm>
            <a:off x="7248946" y="5569379"/>
            <a:ext cx="503238" cy="503237"/>
          </a:xfrm>
          <a:prstGeom prst="ellipse">
            <a:avLst/>
          </a:prstGeom>
          <a:solidFill>
            <a:schemeClr val="bg1"/>
          </a:solidFill>
          <a:ln w="19050" cap="sq">
            <a:solidFill>
              <a:srgbClr val="006666"/>
            </a:solidFill>
            <a:miter lim="800000"/>
            <a:headEnd type="none" w="sm" len="sm"/>
            <a:tailEnd type="none" w="sm" len="sm"/>
          </a:ln>
        </p:spPr>
        <p:txBody>
          <a:bodyPr wrap="none" tIns="0" anchorCtr="1"/>
          <a:lstStyle/>
          <a:p>
            <a:r>
              <a:rPr lang="en-US" altLang="zh-CN" sz="2400"/>
              <a:t>v</a:t>
            </a:r>
            <a:r>
              <a:rPr lang="en-US" altLang="zh-CN" sz="2400" baseline="-25000"/>
              <a:t>3</a:t>
            </a:r>
          </a:p>
        </p:txBody>
      </p:sp>
      <p:sp>
        <p:nvSpPr>
          <p:cNvPr id="65" name="Oval 22"/>
          <p:cNvSpPr>
            <a:spLocks noChangeArrowheads="1"/>
          </p:cNvSpPr>
          <p:nvPr/>
        </p:nvSpPr>
        <p:spPr bwMode="auto">
          <a:xfrm>
            <a:off x="8760246" y="5567790"/>
            <a:ext cx="503238" cy="503238"/>
          </a:xfrm>
          <a:prstGeom prst="ellipse">
            <a:avLst/>
          </a:prstGeom>
          <a:solidFill>
            <a:schemeClr val="bg1"/>
          </a:solidFill>
          <a:ln w="19050" cap="sq">
            <a:solidFill>
              <a:srgbClr val="006666"/>
            </a:solidFill>
            <a:miter lim="800000"/>
            <a:headEnd type="none" w="sm" len="sm"/>
            <a:tailEnd type="none" w="sm" len="sm"/>
          </a:ln>
        </p:spPr>
        <p:txBody>
          <a:bodyPr wrap="none" tIns="0" anchorCtr="1"/>
          <a:lstStyle/>
          <a:p>
            <a:r>
              <a:rPr lang="en-US" altLang="zh-CN" sz="2400"/>
              <a:t>v</a:t>
            </a:r>
            <a:r>
              <a:rPr lang="en-US" altLang="zh-CN" sz="2400" baseline="-25000"/>
              <a:t>4</a:t>
            </a:r>
          </a:p>
        </p:txBody>
      </p:sp>
      <p:sp>
        <p:nvSpPr>
          <p:cNvPr id="66" name="Line 23"/>
          <p:cNvSpPr>
            <a:spLocks noChangeShapeType="1"/>
          </p:cNvSpPr>
          <p:nvPr/>
        </p:nvSpPr>
        <p:spPr bwMode="auto">
          <a:xfrm>
            <a:off x="7752184" y="4416853"/>
            <a:ext cx="1008062" cy="0"/>
          </a:xfrm>
          <a:prstGeom prst="line">
            <a:avLst/>
          </a:prstGeom>
          <a:noFill/>
          <a:ln w="19050" cap="sq">
            <a:solidFill>
              <a:srgbClr val="006666"/>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67" name="Line 24"/>
          <p:cNvSpPr>
            <a:spLocks noChangeShapeType="1"/>
          </p:cNvSpPr>
          <p:nvPr/>
        </p:nvSpPr>
        <p:spPr bwMode="auto">
          <a:xfrm>
            <a:off x="7752184" y="5856715"/>
            <a:ext cx="1008062" cy="0"/>
          </a:xfrm>
          <a:prstGeom prst="line">
            <a:avLst/>
          </a:prstGeom>
          <a:noFill/>
          <a:ln w="19050" cap="sq">
            <a:solidFill>
              <a:srgbClr val="FF0000"/>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68" name="Line 25"/>
          <p:cNvSpPr>
            <a:spLocks noChangeShapeType="1"/>
          </p:cNvSpPr>
          <p:nvPr/>
        </p:nvSpPr>
        <p:spPr bwMode="auto">
          <a:xfrm>
            <a:off x="7464846" y="4632754"/>
            <a:ext cx="0" cy="935037"/>
          </a:xfrm>
          <a:prstGeom prst="line">
            <a:avLst/>
          </a:prstGeom>
          <a:noFill/>
          <a:ln w="19050" cap="sq">
            <a:solidFill>
              <a:srgbClr val="FF0000"/>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69" name="Line 26"/>
          <p:cNvSpPr>
            <a:spLocks noChangeShapeType="1"/>
          </p:cNvSpPr>
          <p:nvPr/>
        </p:nvSpPr>
        <p:spPr bwMode="auto">
          <a:xfrm flipH="1" flipV="1">
            <a:off x="7680747" y="4559728"/>
            <a:ext cx="1223963" cy="1008062"/>
          </a:xfrm>
          <a:prstGeom prst="line">
            <a:avLst/>
          </a:prstGeom>
          <a:noFill/>
          <a:ln w="19050" cap="sq">
            <a:solidFill>
              <a:srgbClr val="006666"/>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32" name="矩形 31"/>
          <p:cNvSpPr/>
          <p:nvPr/>
        </p:nvSpPr>
        <p:spPr>
          <a:xfrm>
            <a:off x="3079789" y="2390668"/>
            <a:ext cx="2492990" cy="400110"/>
          </a:xfrm>
          <a:prstGeom prst="rect">
            <a:avLst/>
          </a:prstGeom>
        </p:spPr>
        <p:txBody>
          <a:bodyPr wrap="none">
            <a:spAutoFit/>
          </a:bodyPr>
          <a:lstStyle/>
          <a:p>
            <a:r>
              <a:rPr kumimoji="1" lang="en-US" altLang="zh-CN" sz="2000" dirty="0">
                <a:latin typeface="微软雅黑" pitchFamily="34" charset="-122"/>
                <a:ea typeface="微软雅黑" pitchFamily="34" charset="-122"/>
                <a:cs typeface="经典粗黑简" pitchFamily="49" charset="-122"/>
              </a:rPr>
              <a:t>⑷</a:t>
            </a:r>
            <a:r>
              <a:rPr kumimoji="1" lang="zh-CN" altLang="en-US" sz="2000" dirty="0">
                <a:latin typeface="微软雅黑" pitchFamily="34" charset="-122"/>
                <a:ea typeface="微软雅黑" pitchFamily="34" charset="-122"/>
                <a:cs typeface="经典粗黑简" pitchFamily="49" charset="-122"/>
              </a:rPr>
              <a:t>、路径和路径长度</a:t>
            </a:r>
          </a:p>
        </p:txBody>
      </p:sp>
      <p:sp>
        <p:nvSpPr>
          <p:cNvPr id="2" name="矩形 1">
            <a:extLst>
              <a:ext uri="{FF2B5EF4-FFF2-40B4-BE49-F238E27FC236}">
                <a16:creationId xmlns:a16="http://schemas.microsoft.com/office/drawing/2014/main" id="{EEC92840-F5D5-619B-387B-EF3E6F19A52D}"/>
              </a:ext>
            </a:extLst>
          </p:cNvPr>
          <p:cNvSpPr/>
          <p:nvPr/>
        </p:nvSpPr>
        <p:spPr>
          <a:xfrm>
            <a:off x="4421120" y="339686"/>
            <a:ext cx="3637792"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8.1 </a:t>
            </a:r>
            <a:r>
              <a:rPr lang="zh-CN" altLang="en-US" sz="3000" b="1" dirty="0">
                <a:latin typeface="黑体" pitchFamily="49" charset="-122"/>
                <a:ea typeface="黑体" pitchFamily="49" charset="-122"/>
                <a:cs typeface="经典粗黑简" pitchFamily="49" charset="-122"/>
              </a:rPr>
              <a:t>图的基本概念</a:t>
            </a:r>
          </a:p>
        </p:txBody>
      </p:sp>
      <p:sp>
        <p:nvSpPr>
          <p:cNvPr id="3" name="Rectangle 2">
            <a:extLst>
              <a:ext uri="{FF2B5EF4-FFF2-40B4-BE49-F238E27FC236}">
                <a16:creationId xmlns:a16="http://schemas.microsoft.com/office/drawing/2014/main" id="{4C6FE42E-8856-5C07-0640-004A93DB9A25}"/>
              </a:ext>
            </a:extLst>
          </p:cNvPr>
          <p:cNvSpPr txBox="1">
            <a:spLocks noChangeArrowheads="1"/>
          </p:cNvSpPr>
          <p:nvPr/>
        </p:nvSpPr>
        <p:spPr>
          <a:xfrm>
            <a:off x="407368" y="1167247"/>
            <a:ext cx="3528392"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8.1.2 </a:t>
            </a:r>
            <a:r>
              <a:rPr lang="zh-CN" altLang="en-US" dirty="0"/>
              <a:t>图的基本术语</a:t>
            </a:r>
          </a:p>
        </p:txBody>
      </p:sp>
      <p:cxnSp>
        <p:nvCxnSpPr>
          <p:cNvPr id="5" name="直接连接符 4">
            <a:extLst>
              <a:ext uri="{FF2B5EF4-FFF2-40B4-BE49-F238E27FC236}">
                <a16:creationId xmlns:a16="http://schemas.microsoft.com/office/drawing/2014/main" id="{14330F7C-F030-E162-FE10-FD6A41940E67}"/>
              </a:ext>
            </a:extLst>
          </p:cNvPr>
          <p:cNvCxnSpPr>
            <a:cxnSpLocks/>
          </p:cNvCxnSpPr>
          <p:nvPr/>
        </p:nvCxnSpPr>
        <p:spPr>
          <a:xfrm>
            <a:off x="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442417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68"/>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6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2" grpId="0" animBg="1"/>
      <p:bldP spid="63" grpId="0" animBg="1"/>
      <p:bldP spid="64" grpId="0" animBg="1"/>
      <p:bldP spid="65" grpId="0" animBg="1"/>
      <p:bldP spid="66" grpId="0" animBg="1"/>
      <p:bldP spid="67" grpId="0" animBg="1"/>
      <p:bldP spid="68" grpId="0" animBg="1"/>
      <p:bldP spid="69"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Group 4"/>
          <p:cNvGrpSpPr>
            <a:grpSpLocks/>
          </p:cNvGrpSpPr>
          <p:nvPr/>
        </p:nvGrpSpPr>
        <p:grpSpPr bwMode="auto">
          <a:xfrm>
            <a:off x="3142917" y="3382110"/>
            <a:ext cx="3168351" cy="2783195"/>
            <a:chOff x="1247" y="391"/>
            <a:chExt cx="2858" cy="2812"/>
          </a:xfrm>
        </p:grpSpPr>
        <p:sp>
          <p:nvSpPr>
            <p:cNvPr id="24" name="Oval 5"/>
            <p:cNvSpPr>
              <a:spLocks noChangeArrowheads="1"/>
            </p:cNvSpPr>
            <p:nvPr/>
          </p:nvSpPr>
          <p:spPr bwMode="auto">
            <a:xfrm>
              <a:off x="1247" y="391"/>
              <a:ext cx="317" cy="317"/>
            </a:xfrm>
            <a:prstGeom prst="ellipse">
              <a:avLst/>
            </a:prstGeom>
            <a:solidFill>
              <a:schemeClr val="bg1"/>
            </a:solidFill>
            <a:ln w="28575" cap="sq">
              <a:solidFill>
                <a:srgbClr val="0033CC"/>
              </a:solidFill>
              <a:miter lim="800000"/>
              <a:headEnd type="none" w="sm" len="sm"/>
              <a:tailEnd type="none" w="sm" len="sm"/>
            </a:ln>
          </p:spPr>
          <p:txBody>
            <a:bodyPr wrap="none" tIns="0" anchorCtr="1"/>
            <a:lstStyle/>
            <a:p>
              <a:r>
                <a:rPr lang="en-US" altLang="zh-CN"/>
                <a:t>A</a:t>
              </a:r>
              <a:endParaRPr lang="en-US" altLang="zh-CN" baseline="-25000"/>
            </a:p>
          </p:txBody>
        </p:sp>
        <p:sp>
          <p:nvSpPr>
            <p:cNvPr id="25" name="Oval 6"/>
            <p:cNvSpPr>
              <a:spLocks noChangeArrowheads="1"/>
            </p:cNvSpPr>
            <p:nvPr/>
          </p:nvSpPr>
          <p:spPr bwMode="auto">
            <a:xfrm>
              <a:off x="3742" y="391"/>
              <a:ext cx="317" cy="317"/>
            </a:xfrm>
            <a:prstGeom prst="ellipse">
              <a:avLst/>
            </a:prstGeom>
            <a:solidFill>
              <a:schemeClr val="bg1"/>
            </a:solidFill>
            <a:ln w="28575" cap="sq">
              <a:solidFill>
                <a:srgbClr val="0033CC"/>
              </a:solidFill>
              <a:miter lim="800000"/>
              <a:headEnd type="none" w="sm" len="sm"/>
              <a:tailEnd type="none" w="sm" len="sm"/>
            </a:ln>
          </p:spPr>
          <p:txBody>
            <a:bodyPr wrap="none" tIns="0" anchorCtr="1"/>
            <a:lstStyle/>
            <a:p>
              <a:r>
                <a:rPr lang="en-US" altLang="zh-CN"/>
                <a:t>B</a:t>
              </a:r>
              <a:endParaRPr lang="en-US" altLang="zh-CN" baseline="-25000"/>
            </a:p>
          </p:txBody>
        </p:sp>
        <p:sp>
          <p:nvSpPr>
            <p:cNvPr id="26" name="Oval 7"/>
            <p:cNvSpPr>
              <a:spLocks noChangeArrowheads="1"/>
            </p:cNvSpPr>
            <p:nvPr/>
          </p:nvSpPr>
          <p:spPr bwMode="auto">
            <a:xfrm>
              <a:off x="1247" y="2841"/>
              <a:ext cx="317" cy="317"/>
            </a:xfrm>
            <a:prstGeom prst="ellipse">
              <a:avLst/>
            </a:prstGeom>
            <a:solidFill>
              <a:schemeClr val="bg1"/>
            </a:solidFill>
            <a:ln w="28575" cap="sq">
              <a:solidFill>
                <a:srgbClr val="0033CC"/>
              </a:solidFill>
              <a:miter lim="800000"/>
              <a:headEnd type="none" w="sm" len="sm"/>
              <a:tailEnd type="none" w="sm" len="sm"/>
            </a:ln>
          </p:spPr>
          <p:txBody>
            <a:bodyPr wrap="none" tIns="0" anchorCtr="1"/>
            <a:lstStyle/>
            <a:p>
              <a:r>
                <a:rPr lang="en-US" altLang="zh-CN"/>
                <a:t>L</a:t>
              </a:r>
              <a:endParaRPr lang="en-US" altLang="zh-CN" baseline="-25000"/>
            </a:p>
          </p:txBody>
        </p:sp>
        <p:sp>
          <p:nvSpPr>
            <p:cNvPr id="27" name="Oval 8"/>
            <p:cNvSpPr>
              <a:spLocks noChangeArrowheads="1"/>
            </p:cNvSpPr>
            <p:nvPr/>
          </p:nvSpPr>
          <p:spPr bwMode="auto">
            <a:xfrm>
              <a:off x="3788" y="2886"/>
              <a:ext cx="317" cy="317"/>
            </a:xfrm>
            <a:prstGeom prst="ellipse">
              <a:avLst/>
            </a:prstGeom>
            <a:solidFill>
              <a:schemeClr val="bg1"/>
            </a:solidFill>
            <a:ln w="28575" cap="sq">
              <a:solidFill>
                <a:srgbClr val="0033CC"/>
              </a:solidFill>
              <a:miter lim="800000"/>
              <a:headEnd type="none" w="sm" len="sm"/>
              <a:tailEnd type="none" w="sm" len="sm"/>
            </a:ln>
          </p:spPr>
          <p:txBody>
            <a:bodyPr wrap="none" tIns="0" anchorCtr="1"/>
            <a:lstStyle/>
            <a:p>
              <a:r>
                <a:rPr lang="en-US" altLang="zh-CN"/>
                <a:t>M</a:t>
              </a:r>
              <a:endParaRPr lang="en-US" altLang="zh-CN" baseline="-25000"/>
            </a:p>
          </p:txBody>
        </p:sp>
        <p:sp>
          <p:nvSpPr>
            <p:cNvPr id="28" name="Oval 9"/>
            <p:cNvSpPr>
              <a:spLocks noChangeArrowheads="1"/>
            </p:cNvSpPr>
            <p:nvPr/>
          </p:nvSpPr>
          <p:spPr bwMode="auto">
            <a:xfrm>
              <a:off x="2472" y="2433"/>
              <a:ext cx="317" cy="317"/>
            </a:xfrm>
            <a:prstGeom prst="ellipse">
              <a:avLst/>
            </a:prstGeom>
            <a:solidFill>
              <a:schemeClr val="bg1"/>
            </a:solidFill>
            <a:ln w="28575" cap="sq">
              <a:solidFill>
                <a:srgbClr val="0033CC"/>
              </a:solidFill>
              <a:miter lim="800000"/>
              <a:headEnd type="none" w="sm" len="sm"/>
              <a:tailEnd type="none" w="sm" len="sm"/>
            </a:ln>
          </p:spPr>
          <p:txBody>
            <a:bodyPr wrap="none" tIns="0" anchorCtr="1"/>
            <a:lstStyle/>
            <a:p>
              <a:r>
                <a:rPr lang="en-US" altLang="zh-CN"/>
                <a:t>J</a:t>
              </a:r>
              <a:endParaRPr lang="en-US" altLang="zh-CN" baseline="-25000"/>
            </a:p>
          </p:txBody>
        </p:sp>
        <p:sp>
          <p:nvSpPr>
            <p:cNvPr id="46" name="Oval 15"/>
            <p:cNvSpPr>
              <a:spLocks noChangeArrowheads="1"/>
            </p:cNvSpPr>
            <p:nvPr/>
          </p:nvSpPr>
          <p:spPr bwMode="auto">
            <a:xfrm>
              <a:off x="1701" y="1344"/>
              <a:ext cx="317" cy="317"/>
            </a:xfrm>
            <a:prstGeom prst="ellipse">
              <a:avLst/>
            </a:prstGeom>
            <a:solidFill>
              <a:schemeClr val="bg1"/>
            </a:solidFill>
            <a:ln w="28575" cap="sq">
              <a:solidFill>
                <a:srgbClr val="0033CC"/>
              </a:solidFill>
              <a:miter lim="800000"/>
              <a:headEnd type="none" w="sm" len="sm"/>
              <a:tailEnd type="none" w="sm" len="sm"/>
            </a:ln>
          </p:spPr>
          <p:txBody>
            <a:bodyPr wrap="none" tIns="0" anchorCtr="1"/>
            <a:lstStyle/>
            <a:p>
              <a:r>
                <a:rPr lang="en-US" altLang="zh-CN"/>
                <a:t>F</a:t>
              </a:r>
              <a:endParaRPr lang="en-US" altLang="zh-CN" baseline="-25000"/>
            </a:p>
          </p:txBody>
        </p:sp>
        <p:sp>
          <p:nvSpPr>
            <p:cNvPr id="47" name="Oval 16"/>
            <p:cNvSpPr>
              <a:spLocks noChangeArrowheads="1"/>
            </p:cNvSpPr>
            <p:nvPr/>
          </p:nvSpPr>
          <p:spPr bwMode="auto">
            <a:xfrm>
              <a:off x="1701" y="845"/>
              <a:ext cx="317" cy="317"/>
            </a:xfrm>
            <a:prstGeom prst="ellipse">
              <a:avLst/>
            </a:prstGeom>
            <a:solidFill>
              <a:schemeClr val="bg1"/>
            </a:solidFill>
            <a:ln w="28575" cap="sq">
              <a:solidFill>
                <a:srgbClr val="0033CC"/>
              </a:solidFill>
              <a:miter lim="800000"/>
              <a:headEnd type="none" w="sm" len="sm"/>
              <a:tailEnd type="none" w="sm" len="sm"/>
            </a:ln>
          </p:spPr>
          <p:txBody>
            <a:bodyPr wrap="none" tIns="0" anchorCtr="1"/>
            <a:lstStyle/>
            <a:p>
              <a:r>
                <a:rPr lang="en-US" altLang="zh-CN"/>
                <a:t>C</a:t>
              </a:r>
              <a:endParaRPr lang="en-US" altLang="zh-CN" baseline="-25000"/>
            </a:p>
          </p:txBody>
        </p:sp>
        <p:sp>
          <p:nvSpPr>
            <p:cNvPr id="49" name="Line 18"/>
            <p:cNvSpPr>
              <a:spLocks noChangeShapeType="1"/>
            </p:cNvSpPr>
            <p:nvPr/>
          </p:nvSpPr>
          <p:spPr bwMode="auto">
            <a:xfrm>
              <a:off x="1565" y="527"/>
              <a:ext cx="2177" cy="0"/>
            </a:xfrm>
            <a:prstGeom prst="line">
              <a:avLst/>
            </a:prstGeom>
            <a:noFill/>
            <a:ln w="28575" cap="sq">
              <a:solidFill>
                <a:srgbClr val="FF0000"/>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50" name="Line 19"/>
            <p:cNvSpPr>
              <a:spLocks noChangeShapeType="1"/>
            </p:cNvSpPr>
            <p:nvPr/>
          </p:nvSpPr>
          <p:spPr bwMode="auto">
            <a:xfrm>
              <a:off x="1383" y="709"/>
              <a:ext cx="0" cy="2131"/>
            </a:xfrm>
            <a:prstGeom prst="line">
              <a:avLst/>
            </a:prstGeom>
            <a:noFill/>
            <a:ln w="28575" cap="sq">
              <a:solidFill>
                <a:srgbClr val="0033CC"/>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51" name="Line 20"/>
            <p:cNvSpPr>
              <a:spLocks noChangeShapeType="1"/>
            </p:cNvSpPr>
            <p:nvPr/>
          </p:nvSpPr>
          <p:spPr bwMode="auto">
            <a:xfrm>
              <a:off x="3943" y="709"/>
              <a:ext cx="0" cy="2176"/>
            </a:xfrm>
            <a:prstGeom prst="line">
              <a:avLst/>
            </a:prstGeom>
            <a:noFill/>
            <a:ln w="28575" cap="sq">
              <a:solidFill>
                <a:srgbClr val="FF0000"/>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52" name="Line 21"/>
            <p:cNvSpPr>
              <a:spLocks noChangeShapeType="1"/>
            </p:cNvSpPr>
            <p:nvPr/>
          </p:nvSpPr>
          <p:spPr bwMode="auto">
            <a:xfrm>
              <a:off x="1565" y="3022"/>
              <a:ext cx="2222" cy="0"/>
            </a:xfrm>
            <a:prstGeom prst="line">
              <a:avLst/>
            </a:prstGeom>
            <a:noFill/>
            <a:ln w="28575" cap="sq">
              <a:solidFill>
                <a:srgbClr val="0033CC"/>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53" name="Line 22"/>
            <p:cNvSpPr>
              <a:spLocks noChangeShapeType="1"/>
            </p:cNvSpPr>
            <p:nvPr/>
          </p:nvSpPr>
          <p:spPr bwMode="auto">
            <a:xfrm>
              <a:off x="1551" y="650"/>
              <a:ext cx="227" cy="227"/>
            </a:xfrm>
            <a:prstGeom prst="line">
              <a:avLst/>
            </a:prstGeom>
            <a:noFill/>
            <a:ln w="28575" cap="sq">
              <a:solidFill>
                <a:srgbClr val="FF0000"/>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54" name="Line 23"/>
            <p:cNvSpPr>
              <a:spLocks noChangeShapeType="1"/>
            </p:cNvSpPr>
            <p:nvPr/>
          </p:nvSpPr>
          <p:spPr bwMode="auto">
            <a:xfrm>
              <a:off x="1474" y="709"/>
              <a:ext cx="272" cy="680"/>
            </a:xfrm>
            <a:prstGeom prst="line">
              <a:avLst/>
            </a:prstGeom>
            <a:noFill/>
            <a:ln w="28575" cap="sq">
              <a:solidFill>
                <a:srgbClr val="0033CC"/>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60" name="Line 29"/>
            <p:cNvSpPr>
              <a:spLocks noChangeShapeType="1"/>
            </p:cNvSpPr>
            <p:nvPr/>
          </p:nvSpPr>
          <p:spPr bwMode="auto">
            <a:xfrm flipH="1">
              <a:off x="1519" y="2614"/>
              <a:ext cx="953" cy="272"/>
            </a:xfrm>
            <a:prstGeom prst="line">
              <a:avLst/>
            </a:prstGeom>
            <a:noFill/>
            <a:ln w="28575" cap="sq">
              <a:solidFill>
                <a:srgbClr val="0033CC"/>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61" name="Line 30"/>
            <p:cNvSpPr>
              <a:spLocks noChangeShapeType="1"/>
            </p:cNvSpPr>
            <p:nvPr/>
          </p:nvSpPr>
          <p:spPr bwMode="auto">
            <a:xfrm>
              <a:off x="2789" y="2568"/>
              <a:ext cx="1044" cy="362"/>
            </a:xfrm>
            <a:prstGeom prst="line">
              <a:avLst/>
            </a:prstGeom>
            <a:noFill/>
            <a:ln w="28575" cap="sq">
              <a:solidFill>
                <a:srgbClr val="FF0000"/>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grpSp>
      <p:sp>
        <p:nvSpPr>
          <p:cNvPr id="62" name="Oval 19"/>
          <p:cNvSpPr>
            <a:spLocks noChangeArrowheads="1"/>
          </p:cNvSpPr>
          <p:nvPr/>
        </p:nvSpPr>
        <p:spPr bwMode="auto">
          <a:xfrm>
            <a:off x="7248946" y="3720998"/>
            <a:ext cx="503238" cy="503237"/>
          </a:xfrm>
          <a:prstGeom prst="ellipse">
            <a:avLst/>
          </a:prstGeom>
          <a:solidFill>
            <a:schemeClr val="bg1"/>
          </a:solidFill>
          <a:ln w="19050" cap="sq">
            <a:solidFill>
              <a:srgbClr val="006666"/>
            </a:solidFill>
            <a:miter lim="800000"/>
            <a:headEnd type="none" w="sm" len="sm"/>
            <a:tailEnd type="none" w="sm" len="sm"/>
          </a:ln>
        </p:spPr>
        <p:txBody>
          <a:bodyPr wrap="none" tIns="0" anchorCtr="1"/>
          <a:lstStyle/>
          <a:p>
            <a:r>
              <a:rPr lang="en-US" altLang="zh-CN" sz="2400" dirty="0"/>
              <a:t>v</a:t>
            </a:r>
            <a:r>
              <a:rPr lang="en-US" altLang="zh-CN" sz="2400" baseline="-25000" dirty="0"/>
              <a:t>1</a:t>
            </a:r>
          </a:p>
        </p:txBody>
      </p:sp>
      <p:sp>
        <p:nvSpPr>
          <p:cNvPr id="63" name="Oval 20"/>
          <p:cNvSpPr>
            <a:spLocks noChangeArrowheads="1"/>
          </p:cNvSpPr>
          <p:nvPr/>
        </p:nvSpPr>
        <p:spPr bwMode="auto">
          <a:xfrm>
            <a:off x="8761835" y="3720998"/>
            <a:ext cx="503237" cy="503237"/>
          </a:xfrm>
          <a:prstGeom prst="ellipse">
            <a:avLst/>
          </a:prstGeom>
          <a:solidFill>
            <a:schemeClr val="bg1"/>
          </a:solidFill>
          <a:ln w="19050" cap="sq">
            <a:solidFill>
              <a:srgbClr val="006666"/>
            </a:solidFill>
            <a:miter lim="800000"/>
            <a:headEnd type="none" w="sm" len="sm"/>
            <a:tailEnd type="none" w="sm" len="sm"/>
          </a:ln>
        </p:spPr>
        <p:txBody>
          <a:bodyPr wrap="none" tIns="0" anchorCtr="1"/>
          <a:lstStyle/>
          <a:p>
            <a:r>
              <a:rPr lang="en-US" altLang="zh-CN" sz="2400"/>
              <a:t>v</a:t>
            </a:r>
            <a:r>
              <a:rPr lang="en-US" altLang="zh-CN" sz="2400" baseline="-25000"/>
              <a:t>2</a:t>
            </a:r>
          </a:p>
        </p:txBody>
      </p:sp>
      <p:sp>
        <p:nvSpPr>
          <p:cNvPr id="64" name="Oval 21"/>
          <p:cNvSpPr>
            <a:spLocks noChangeArrowheads="1"/>
          </p:cNvSpPr>
          <p:nvPr/>
        </p:nvSpPr>
        <p:spPr bwMode="auto">
          <a:xfrm>
            <a:off x="7248946" y="5162448"/>
            <a:ext cx="503238" cy="503237"/>
          </a:xfrm>
          <a:prstGeom prst="ellipse">
            <a:avLst/>
          </a:prstGeom>
          <a:solidFill>
            <a:schemeClr val="bg1"/>
          </a:solidFill>
          <a:ln w="19050" cap="sq">
            <a:solidFill>
              <a:srgbClr val="006666"/>
            </a:solidFill>
            <a:miter lim="800000"/>
            <a:headEnd type="none" w="sm" len="sm"/>
            <a:tailEnd type="none" w="sm" len="sm"/>
          </a:ln>
        </p:spPr>
        <p:txBody>
          <a:bodyPr wrap="none" tIns="0" anchorCtr="1"/>
          <a:lstStyle/>
          <a:p>
            <a:r>
              <a:rPr lang="en-US" altLang="zh-CN" sz="2400"/>
              <a:t>v</a:t>
            </a:r>
            <a:r>
              <a:rPr lang="en-US" altLang="zh-CN" sz="2400" baseline="-25000"/>
              <a:t>3</a:t>
            </a:r>
          </a:p>
        </p:txBody>
      </p:sp>
      <p:sp>
        <p:nvSpPr>
          <p:cNvPr id="65" name="Oval 22"/>
          <p:cNvSpPr>
            <a:spLocks noChangeArrowheads="1"/>
          </p:cNvSpPr>
          <p:nvPr/>
        </p:nvSpPr>
        <p:spPr bwMode="auto">
          <a:xfrm>
            <a:off x="8760246" y="5160859"/>
            <a:ext cx="503238" cy="503238"/>
          </a:xfrm>
          <a:prstGeom prst="ellipse">
            <a:avLst/>
          </a:prstGeom>
          <a:solidFill>
            <a:schemeClr val="bg1"/>
          </a:solidFill>
          <a:ln w="19050" cap="sq">
            <a:solidFill>
              <a:srgbClr val="006666"/>
            </a:solidFill>
            <a:miter lim="800000"/>
            <a:headEnd type="none" w="sm" len="sm"/>
            <a:tailEnd type="none" w="sm" len="sm"/>
          </a:ln>
        </p:spPr>
        <p:txBody>
          <a:bodyPr wrap="none" tIns="0" anchorCtr="1"/>
          <a:lstStyle/>
          <a:p>
            <a:r>
              <a:rPr lang="en-US" altLang="zh-CN" sz="2400"/>
              <a:t>v</a:t>
            </a:r>
            <a:r>
              <a:rPr lang="en-US" altLang="zh-CN" sz="2400" baseline="-25000"/>
              <a:t>4</a:t>
            </a:r>
          </a:p>
        </p:txBody>
      </p:sp>
      <p:sp>
        <p:nvSpPr>
          <p:cNvPr id="66" name="Line 23"/>
          <p:cNvSpPr>
            <a:spLocks noChangeShapeType="1"/>
          </p:cNvSpPr>
          <p:nvPr/>
        </p:nvSpPr>
        <p:spPr bwMode="auto">
          <a:xfrm>
            <a:off x="7752184" y="4009922"/>
            <a:ext cx="1008062" cy="0"/>
          </a:xfrm>
          <a:prstGeom prst="line">
            <a:avLst/>
          </a:prstGeom>
          <a:noFill/>
          <a:ln w="19050" cap="sq">
            <a:solidFill>
              <a:srgbClr val="006666"/>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67" name="Line 24"/>
          <p:cNvSpPr>
            <a:spLocks noChangeShapeType="1"/>
          </p:cNvSpPr>
          <p:nvPr/>
        </p:nvSpPr>
        <p:spPr bwMode="auto">
          <a:xfrm>
            <a:off x="7752184" y="5449784"/>
            <a:ext cx="1008062" cy="0"/>
          </a:xfrm>
          <a:prstGeom prst="line">
            <a:avLst/>
          </a:prstGeom>
          <a:noFill/>
          <a:ln w="19050" cap="sq">
            <a:solidFill>
              <a:srgbClr val="FF0000"/>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68" name="Line 25"/>
          <p:cNvSpPr>
            <a:spLocks noChangeShapeType="1"/>
          </p:cNvSpPr>
          <p:nvPr/>
        </p:nvSpPr>
        <p:spPr bwMode="auto">
          <a:xfrm>
            <a:off x="7464846" y="4225823"/>
            <a:ext cx="0" cy="935037"/>
          </a:xfrm>
          <a:prstGeom prst="line">
            <a:avLst/>
          </a:prstGeom>
          <a:noFill/>
          <a:ln w="19050" cap="sq">
            <a:solidFill>
              <a:srgbClr val="FF0000"/>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69" name="Line 26"/>
          <p:cNvSpPr>
            <a:spLocks noChangeShapeType="1"/>
          </p:cNvSpPr>
          <p:nvPr/>
        </p:nvSpPr>
        <p:spPr bwMode="auto">
          <a:xfrm flipH="1" flipV="1">
            <a:off x="7680747" y="4152797"/>
            <a:ext cx="1223963" cy="1008062"/>
          </a:xfrm>
          <a:prstGeom prst="line">
            <a:avLst/>
          </a:prstGeom>
          <a:noFill/>
          <a:ln w="19050" cap="sq">
            <a:solidFill>
              <a:srgbClr val="006666"/>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32" name="矩形 31"/>
          <p:cNvSpPr/>
          <p:nvPr/>
        </p:nvSpPr>
        <p:spPr>
          <a:xfrm>
            <a:off x="3079789" y="2390668"/>
            <a:ext cx="2492990" cy="400110"/>
          </a:xfrm>
          <a:prstGeom prst="rect">
            <a:avLst/>
          </a:prstGeom>
        </p:spPr>
        <p:txBody>
          <a:bodyPr wrap="none">
            <a:spAutoFit/>
          </a:bodyPr>
          <a:lstStyle/>
          <a:p>
            <a:r>
              <a:rPr kumimoji="1" lang="en-US" altLang="zh-CN" sz="2000" dirty="0">
                <a:latin typeface="微软雅黑" pitchFamily="34" charset="-122"/>
                <a:ea typeface="微软雅黑" pitchFamily="34" charset="-122"/>
                <a:cs typeface="经典粗黑简" pitchFamily="49" charset="-122"/>
              </a:rPr>
              <a:t>⑷</a:t>
            </a:r>
            <a:r>
              <a:rPr kumimoji="1" lang="zh-CN" altLang="en-US" sz="2000" dirty="0">
                <a:latin typeface="微软雅黑" pitchFamily="34" charset="-122"/>
                <a:ea typeface="微软雅黑" pitchFamily="34" charset="-122"/>
                <a:cs typeface="经典粗黑简" pitchFamily="49" charset="-122"/>
              </a:rPr>
              <a:t>、路径和路径长度</a:t>
            </a:r>
          </a:p>
        </p:txBody>
      </p:sp>
      <p:sp>
        <p:nvSpPr>
          <p:cNvPr id="38" name="矩形 37"/>
          <p:cNvSpPr/>
          <p:nvPr/>
        </p:nvSpPr>
        <p:spPr>
          <a:xfrm>
            <a:off x="3071664" y="2884874"/>
            <a:ext cx="6191820" cy="400110"/>
          </a:xfrm>
          <a:prstGeom prst="rect">
            <a:avLst/>
          </a:prstGeom>
        </p:spPr>
        <p:txBody>
          <a:bodyPr wrap="square">
            <a:spAutoFit/>
          </a:bodyPr>
          <a:lstStyle/>
          <a:p>
            <a:r>
              <a:rPr kumimoji="1" lang="zh-CN" altLang="en-US" sz="2000" dirty="0">
                <a:solidFill>
                  <a:srgbClr val="FF0000"/>
                </a:solidFill>
                <a:latin typeface="微软雅黑" pitchFamily="34" charset="-122"/>
                <a:ea typeface="微软雅黑" pitchFamily="34" charset="-122"/>
                <a:cs typeface="经典粗黑简" pitchFamily="49" charset="-122"/>
              </a:rPr>
              <a:t>路径长度</a:t>
            </a:r>
            <a:r>
              <a:rPr kumimoji="1" lang="zh-CN" altLang="en-US" sz="2000" dirty="0">
                <a:latin typeface="微软雅黑" pitchFamily="34" charset="-122"/>
                <a:ea typeface="微软雅黑" pitchFamily="34" charset="-122"/>
                <a:cs typeface="经典粗黑简" pitchFamily="49" charset="-122"/>
              </a:rPr>
              <a:t>：沿路径边的数目或沿路径各边权值之和。</a:t>
            </a:r>
          </a:p>
        </p:txBody>
      </p:sp>
      <p:sp>
        <p:nvSpPr>
          <p:cNvPr id="2" name="矩形 1">
            <a:extLst>
              <a:ext uri="{FF2B5EF4-FFF2-40B4-BE49-F238E27FC236}">
                <a16:creationId xmlns:a16="http://schemas.microsoft.com/office/drawing/2014/main" id="{EBC38DC3-A2DA-59DC-730E-E0A3607D0F1A}"/>
              </a:ext>
            </a:extLst>
          </p:cNvPr>
          <p:cNvSpPr/>
          <p:nvPr/>
        </p:nvSpPr>
        <p:spPr>
          <a:xfrm>
            <a:off x="4421120" y="339686"/>
            <a:ext cx="3637792"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8.1 </a:t>
            </a:r>
            <a:r>
              <a:rPr lang="zh-CN" altLang="en-US" sz="3000" b="1" dirty="0">
                <a:latin typeface="黑体" pitchFamily="49" charset="-122"/>
                <a:ea typeface="黑体" pitchFamily="49" charset="-122"/>
                <a:cs typeface="经典粗黑简" pitchFamily="49" charset="-122"/>
              </a:rPr>
              <a:t>图的基本概念</a:t>
            </a:r>
          </a:p>
        </p:txBody>
      </p:sp>
      <p:sp>
        <p:nvSpPr>
          <p:cNvPr id="3" name="Rectangle 2">
            <a:extLst>
              <a:ext uri="{FF2B5EF4-FFF2-40B4-BE49-F238E27FC236}">
                <a16:creationId xmlns:a16="http://schemas.microsoft.com/office/drawing/2014/main" id="{7301A171-12C2-3202-7EC2-82336410D4D4}"/>
              </a:ext>
            </a:extLst>
          </p:cNvPr>
          <p:cNvSpPr txBox="1">
            <a:spLocks noChangeArrowheads="1"/>
          </p:cNvSpPr>
          <p:nvPr/>
        </p:nvSpPr>
        <p:spPr>
          <a:xfrm>
            <a:off x="407368" y="1167247"/>
            <a:ext cx="3528392"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8.1.2 </a:t>
            </a:r>
            <a:r>
              <a:rPr lang="zh-CN" altLang="en-US" dirty="0"/>
              <a:t>图的基本术语</a:t>
            </a:r>
          </a:p>
        </p:txBody>
      </p:sp>
      <p:cxnSp>
        <p:nvCxnSpPr>
          <p:cNvPr id="4" name="直接连接符 3">
            <a:extLst>
              <a:ext uri="{FF2B5EF4-FFF2-40B4-BE49-F238E27FC236}">
                <a16:creationId xmlns:a16="http://schemas.microsoft.com/office/drawing/2014/main" id="{B7086A64-4474-7A4A-C1E9-66EC478C627E}"/>
              </a:ext>
            </a:extLst>
          </p:cNvPr>
          <p:cNvCxnSpPr>
            <a:cxnSpLocks/>
          </p:cNvCxnSpPr>
          <p:nvPr/>
        </p:nvCxnSpPr>
        <p:spPr>
          <a:xfrm>
            <a:off x="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065418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4" name="Group 25"/>
          <p:cNvGrpSpPr>
            <a:grpSpLocks/>
          </p:cNvGrpSpPr>
          <p:nvPr/>
        </p:nvGrpSpPr>
        <p:grpSpPr bwMode="auto">
          <a:xfrm>
            <a:off x="4295775" y="3778812"/>
            <a:ext cx="3529012" cy="1944688"/>
            <a:chOff x="975" y="300"/>
            <a:chExt cx="2223" cy="1225"/>
          </a:xfrm>
        </p:grpSpPr>
        <p:grpSp>
          <p:nvGrpSpPr>
            <p:cNvPr id="55" name="Group 26"/>
            <p:cNvGrpSpPr>
              <a:grpSpLocks/>
            </p:cNvGrpSpPr>
            <p:nvPr/>
          </p:nvGrpSpPr>
          <p:grpSpPr bwMode="auto">
            <a:xfrm>
              <a:off x="975" y="300"/>
              <a:ext cx="1270" cy="1225"/>
              <a:chOff x="1338" y="1434"/>
              <a:chExt cx="1270" cy="1225"/>
            </a:xfrm>
          </p:grpSpPr>
          <p:sp>
            <p:nvSpPr>
              <p:cNvPr id="64" name="Oval 27"/>
              <p:cNvSpPr>
                <a:spLocks noChangeArrowheads="1"/>
              </p:cNvSpPr>
              <p:nvPr/>
            </p:nvSpPr>
            <p:spPr bwMode="auto">
              <a:xfrm>
                <a:off x="1338" y="1434"/>
                <a:ext cx="317" cy="317"/>
              </a:xfrm>
              <a:prstGeom prst="ellipse">
                <a:avLst/>
              </a:prstGeom>
              <a:solidFill>
                <a:schemeClr val="bg1"/>
              </a:solidFill>
              <a:ln w="28575" cap="sq">
                <a:solidFill>
                  <a:srgbClr val="0033CC"/>
                </a:solidFill>
                <a:miter lim="800000"/>
                <a:headEnd type="none" w="sm" len="sm"/>
                <a:tailEnd type="none" w="sm" len="sm"/>
              </a:ln>
            </p:spPr>
            <p:txBody>
              <a:bodyPr wrap="none" tIns="0" anchorCtr="1"/>
              <a:lstStyle/>
              <a:p>
                <a:r>
                  <a:rPr lang="en-US" altLang="zh-CN" sz="2400"/>
                  <a:t>A</a:t>
                </a:r>
                <a:endParaRPr lang="en-US" altLang="zh-CN" sz="2400" baseline="-25000"/>
              </a:p>
            </p:txBody>
          </p:sp>
          <p:sp>
            <p:nvSpPr>
              <p:cNvPr id="65" name="Oval 28"/>
              <p:cNvSpPr>
                <a:spLocks noChangeArrowheads="1"/>
              </p:cNvSpPr>
              <p:nvPr/>
            </p:nvSpPr>
            <p:spPr bwMode="auto">
              <a:xfrm>
                <a:off x="2291" y="1434"/>
                <a:ext cx="317" cy="317"/>
              </a:xfrm>
              <a:prstGeom prst="ellipse">
                <a:avLst/>
              </a:prstGeom>
              <a:solidFill>
                <a:schemeClr val="bg1"/>
              </a:solidFill>
              <a:ln w="28575" cap="sq">
                <a:solidFill>
                  <a:srgbClr val="0033CC"/>
                </a:solidFill>
                <a:miter lim="800000"/>
                <a:headEnd type="none" w="sm" len="sm"/>
                <a:tailEnd type="none" w="sm" len="sm"/>
              </a:ln>
            </p:spPr>
            <p:txBody>
              <a:bodyPr wrap="none" tIns="0" anchorCtr="1"/>
              <a:lstStyle/>
              <a:p>
                <a:r>
                  <a:rPr lang="en-US" altLang="zh-CN" sz="2400"/>
                  <a:t>B</a:t>
                </a:r>
                <a:endParaRPr lang="en-US" altLang="zh-CN" sz="2400" baseline="-25000"/>
              </a:p>
            </p:txBody>
          </p:sp>
          <p:sp>
            <p:nvSpPr>
              <p:cNvPr id="66" name="Oval 29"/>
              <p:cNvSpPr>
                <a:spLocks noChangeArrowheads="1"/>
              </p:cNvSpPr>
              <p:nvPr/>
            </p:nvSpPr>
            <p:spPr bwMode="auto">
              <a:xfrm>
                <a:off x="1338" y="2342"/>
                <a:ext cx="317" cy="317"/>
              </a:xfrm>
              <a:prstGeom prst="ellipse">
                <a:avLst/>
              </a:prstGeom>
              <a:solidFill>
                <a:schemeClr val="bg1"/>
              </a:solidFill>
              <a:ln w="28575" cap="sq">
                <a:solidFill>
                  <a:srgbClr val="0033CC"/>
                </a:solidFill>
                <a:miter lim="800000"/>
                <a:headEnd type="none" w="sm" len="sm"/>
                <a:tailEnd type="none" w="sm" len="sm"/>
              </a:ln>
            </p:spPr>
            <p:txBody>
              <a:bodyPr wrap="none" tIns="0" anchorCtr="1"/>
              <a:lstStyle/>
              <a:p>
                <a:r>
                  <a:rPr lang="en-US" altLang="zh-CN" sz="2400"/>
                  <a:t>F</a:t>
                </a:r>
                <a:endParaRPr lang="en-US" altLang="zh-CN" sz="2400" baseline="-25000"/>
              </a:p>
            </p:txBody>
          </p:sp>
          <p:sp>
            <p:nvSpPr>
              <p:cNvPr id="67" name="Oval 30"/>
              <p:cNvSpPr>
                <a:spLocks noChangeArrowheads="1"/>
              </p:cNvSpPr>
              <p:nvPr/>
            </p:nvSpPr>
            <p:spPr bwMode="auto">
              <a:xfrm>
                <a:off x="2290" y="2341"/>
                <a:ext cx="317" cy="317"/>
              </a:xfrm>
              <a:prstGeom prst="ellipse">
                <a:avLst/>
              </a:prstGeom>
              <a:solidFill>
                <a:schemeClr val="bg1"/>
              </a:solidFill>
              <a:ln w="28575" cap="sq">
                <a:solidFill>
                  <a:srgbClr val="0033CC"/>
                </a:solidFill>
                <a:miter lim="800000"/>
                <a:headEnd type="none" w="sm" len="sm"/>
                <a:tailEnd type="none" w="sm" len="sm"/>
              </a:ln>
            </p:spPr>
            <p:txBody>
              <a:bodyPr wrap="none" tIns="0" anchorCtr="1"/>
              <a:lstStyle/>
              <a:p>
                <a:r>
                  <a:rPr lang="en-US" altLang="zh-CN" sz="2400"/>
                  <a:t>E</a:t>
                </a:r>
                <a:endParaRPr lang="en-US" altLang="zh-CN" sz="2400" baseline="-25000"/>
              </a:p>
            </p:txBody>
          </p:sp>
          <p:sp>
            <p:nvSpPr>
              <p:cNvPr id="68" name="Line 31"/>
              <p:cNvSpPr>
                <a:spLocks noChangeShapeType="1"/>
              </p:cNvSpPr>
              <p:nvPr/>
            </p:nvSpPr>
            <p:spPr bwMode="auto">
              <a:xfrm>
                <a:off x="1655" y="1616"/>
                <a:ext cx="635" cy="0"/>
              </a:xfrm>
              <a:prstGeom prst="line">
                <a:avLst/>
              </a:prstGeom>
              <a:noFill/>
              <a:ln w="28575" cap="sq">
                <a:solidFill>
                  <a:srgbClr val="0033CC"/>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69" name="Line 32"/>
              <p:cNvSpPr>
                <a:spLocks noChangeShapeType="1"/>
              </p:cNvSpPr>
              <p:nvPr/>
            </p:nvSpPr>
            <p:spPr bwMode="auto">
              <a:xfrm>
                <a:off x="1655" y="2523"/>
                <a:ext cx="635" cy="0"/>
              </a:xfrm>
              <a:prstGeom prst="line">
                <a:avLst/>
              </a:prstGeom>
              <a:noFill/>
              <a:ln w="28575" cap="sq">
                <a:solidFill>
                  <a:srgbClr val="0033CC"/>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71" name="Line 33"/>
              <p:cNvSpPr>
                <a:spLocks noChangeShapeType="1"/>
              </p:cNvSpPr>
              <p:nvPr/>
            </p:nvSpPr>
            <p:spPr bwMode="auto">
              <a:xfrm>
                <a:off x="1474" y="1752"/>
                <a:ext cx="0" cy="589"/>
              </a:xfrm>
              <a:prstGeom prst="line">
                <a:avLst/>
              </a:prstGeom>
              <a:noFill/>
              <a:ln w="28575" cap="sq">
                <a:solidFill>
                  <a:srgbClr val="0033CC"/>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72" name="Line 34"/>
              <p:cNvSpPr>
                <a:spLocks noChangeShapeType="1"/>
              </p:cNvSpPr>
              <p:nvPr/>
            </p:nvSpPr>
            <p:spPr bwMode="auto">
              <a:xfrm flipH="1" flipV="1">
                <a:off x="1610" y="1706"/>
                <a:ext cx="771" cy="635"/>
              </a:xfrm>
              <a:prstGeom prst="line">
                <a:avLst/>
              </a:prstGeom>
              <a:noFill/>
              <a:ln w="28575" cap="sq">
                <a:solidFill>
                  <a:srgbClr val="0033CC"/>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sp>
          <p:nvSpPr>
            <p:cNvPr id="56" name="Oval 35"/>
            <p:cNvSpPr>
              <a:spLocks noChangeArrowheads="1"/>
            </p:cNvSpPr>
            <p:nvPr/>
          </p:nvSpPr>
          <p:spPr bwMode="auto">
            <a:xfrm>
              <a:off x="2881" y="300"/>
              <a:ext cx="317" cy="317"/>
            </a:xfrm>
            <a:prstGeom prst="ellipse">
              <a:avLst/>
            </a:prstGeom>
            <a:solidFill>
              <a:schemeClr val="bg1"/>
            </a:solidFill>
            <a:ln w="28575" cap="sq">
              <a:solidFill>
                <a:srgbClr val="0033CC"/>
              </a:solidFill>
              <a:miter lim="800000"/>
              <a:headEnd type="none" w="sm" len="sm"/>
              <a:tailEnd type="none" w="sm" len="sm"/>
            </a:ln>
          </p:spPr>
          <p:txBody>
            <a:bodyPr wrap="none" tIns="0" anchorCtr="1"/>
            <a:lstStyle/>
            <a:p>
              <a:r>
                <a:rPr lang="en-US" altLang="zh-CN" sz="2400"/>
                <a:t>C</a:t>
              </a:r>
              <a:endParaRPr lang="en-US" altLang="zh-CN" sz="2400" baseline="-25000"/>
            </a:p>
          </p:txBody>
        </p:sp>
        <p:sp>
          <p:nvSpPr>
            <p:cNvPr id="57" name="Oval 36"/>
            <p:cNvSpPr>
              <a:spLocks noChangeArrowheads="1"/>
            </p:cNvSpPr>
            <p:nvPr/>
          </p:nvSpPr>
          <p:spPr bwMode="auto">
            <a:xfrm>
              <a:off x="2880" y="1207"/>
              <a:ext cx="317" cy="317"/>
            </a:xfrm>
            <a:prstGeom prst="ellipse">
              <a:avLst/>
            </a:prstGeom>
            <a:solidFill>
              <a:schemeClr val="bg1"/>
            </a:solidFill>
            <a:ln w="28575" cap="sq">
              <a:solidFill>
                <a:srgbClr val="0033CC"/>
              </a:solidFill>
              <a:miter lim="800000"/>
              <a:headEnd type="none" w="sm" len="sm"/>
              <a:tailEnd type="none" w="sm" len="sm"/>
            </a:ln>
          </p:spPr>
          <p:txBody>
            <a:bodyPr wrap="none" tIns="0" anchorCtr="1"/>
            <a:lstStyle/>
            <a:p>
              <a:r>
                <a:rPr lang="en-US" altLang="zh-CN" sz="2400"/>
                <a:t>D</a:t>
              </a:r>
              <a:endParaRPr lang="en-US" altLang="zh-CN" sz="2400" baseline="-25000"/>
            </a:p>
          </p:txBody>
        </p:sp>
        <p:sp>
          <p:nvSpPr>
            <p:cNvPr id="58" name="Line 37"/>
            <p:cNvSpPr>
              <a:spLocks noChangeShapeType="1"/>
            </p:cNvSpPr>
            <p:nvPr/>
          </p:nvSpPr>
          <p:spPr bwMode="auto">
            <a:xfrm flipV="1">
              <a:off x="1228" y="540"/>
              <a:ext cx="726" cy="703"/>
            </a:xfrm>
            <a:prstGeom prst="line">
              <a:avLst/>
            </a:prstGeom>
            <a:noFill/>
            <a:ln w="28575" cap="sq">
              <a:solidFill>
                <a:srgbClr val="0033CC"/>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59" name="Line 38"/>
            <p:cNvSpPr>
              <a:spLocks noChangeShapeType="1"/>
            </p:cNvSpPr>
            <p:nvPr/>
          </p:nvSpPr>
          <p:spPr bwMode="auto">
            <a:xfrm flipV="1">
              <a:off x="2109" y="618"/>
              <a:ext cx="0" cy="589"/>
            </a:xfrm>
            <a:prstGeom prst="line">
              <a:avLst/>
            </a:prstGeom>
            <a:noFill/>
            <a:ln w="28575" cap="sq">
              <a:solidFill>
                <a:srgbClr val="0033CC"/>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60" name="Line 39"/>
            <p:cNvSpPr>
              <a:spLocks noChangeShapeType="1"/>
            </p:cNvSpPr>
            <p:nvPr/>
          </p:nvSpPr>
          <p:spPr bwMode="auto">
            <a:xfrm flipH="1">
              <a:off x="2232" y="1389"/>
              <a:ext cx="635" cy="0"/>
            </a:xfrm>
            <a:prstGeom prst="line">
              <a:avLst/>
            </a:prstGeom>
            <a:noFill/>
            <a:ln w="28575" cap="sq">
              <a:solidFill>
                <a:srgbClr val="0033CC"/>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61" name="Line 40"/>
            <p:cNvSpPr>
              <a:spLocks noChangeShapeType="1"/>
            </p:cNvSpPr>
            <p:nvPr/>
          </p:nvSpPr>
          <p:spPr bwMode="auto">
            <a:xfrm flipH="1">
              <a:off x="2245" y="436"/>
              <a:ext cx="635" cy="0"/>
            </a:xfrm>
            <a:prstGeom prst="line">
              <a:avLst/>
            </a:prstGeom>
            <a:noFill/>
            <a:ln w="28575" cap="sq">
              <a:solidFill>
                <a:srgbClr val="0033CC"/>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62" name="Line 41"/>
            <p:cNvSpPr>
              <a:spLocks noChangeShapeType="1"/>
            </p:cNvSpPr>
            <p:nvPr/>
          </p:nvSpPr>
          <p:spPr bwMode="auto">
            <a:xfrm flipV="1">
              <a:off x="3048" y="618"/>
              <a:ext cx="0" cy="589"/>
            </a:xfrm>
            <a:prstGeom prst="line">
              <a:avLst/>
            </a:prstGeom>
            <a:noFill/>
            <a:ln w="28575" cap="sq">
              <a:solidFill>
                <a:srgbClr val="0033CC"/>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63" name="Line 42"/>
            <p:cNvSpPr>
              <a:spLocks noChangeShapeType="1"/>
            </p:cNvSpPr>
            <p:nvPr/>
          </p:nvSpPr>
          <p:spPr bwMode="auto">
            <a:xfrm flipH="1">
              <a:off x="2245" y="572"/>
              <a:ext cx="680" cy="748"/>
            </a:xfrm>
            <a:prstGeom prst="line">
              <a:avLst/>
            </a:prstGeom>
            <a:noFill/>
            <a:ln w="28575" cap="sq">
              <a:solidFill>
                <a:srgbClr val="0033CC"/>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sp>
        <p:nvSpPr>
          <p:cNvPr id="26" name="Text Box 43"/>
          <p:cNvSpPr txBox="1">
            <a:spLocks noChangeArrowheads="1"/>
          </p:cNvSpPr>
          <p:nvPr/>
        </p:nvSpPr>
        <p:spPr bwMode="auto">
          <a:xfrm>
            <a:off x="4945063" y="3681974"/>
            <a:ext cx="43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kumimoji="1" sz="2800">
                <a:solidFill>
                  <a:schemeClr val="tx1"/>
                </a:solidFill>
                <a:latin typeface="Comic Sans MS" pitchFamily="66" charset="0"/>
                <a:ea typeface="宋体" pitchFamily="2" charset="-122"/>
              </a:defRPr>
            </a:lvl1pPr>
            <a:lvl2pPr marL="742950" indent="-285750" eaLnBrk="0" hangingPunct="0">
              <a:defRPr kumimoji="1" sz="2800">
                <a:solidFill>
                  <a:schemeClr val="tx1"/>
                </a:solidFill>
                <a:latin typeface="Comic Sans MS" pitchFamily="66" charset="0"/>
                <a:ea typeface="宋体" pitchFamily="2" charset="-122"/>
              </a:defRPr>
            </a:lvl2pPr>
            <a:lvl3pPr marL="1143000" indent="-228600" eaLnBrk="0" hangingPunct="0">
              <a:defRPr kumimoji="1" sz="2800">
                <a:solidFill>
                  <a:schemeClr val="tx1"/>
                </a:solidFill>
                <a:latin typeface="Comic Sans MS" pitchFamily="66" charset="0"/>
                <a:ea typeface="宋体" pitchFamily="2" charset="-122"/>
              </a:defRPr>
            </a:lvl3pPr>
            <a:lvl4pPr marL="1600200" indent="-228600" eaLnBrk="0" hangingPunct="0">
              <a:defRPr kumimoji="1" sz="2800">
                <a:solidFill>
                  <a:schemeClr val="tx1"/>
                </a:solidFill>
                <a:latin typeface="Comic Sans MS" pitchFamily="66" charset="0"/>
                <a:ea typeface="宋体" pitchFamily="2" charset="-122"/>
              </a:defRPr>
            </a:lvl4pPr>
            <a:lvl5pPr marL="2057400" indent="-228600" eaLnBrk="0" hangingPunct="0">
              <a:defRPr kumimoji="1" sz="2800">
                <a:solidFill>
                  <a:schemeClr val="tx1"/>
                </a:solidFill>
                <a:latin typeface="Comic Sans MS" pitchFamily="66" charset="0"/>
                <a:ea typeface="宋体" pitchFamily="2" charset="-122"/>
              </a:defRPr>
            </a:lvl5pPr>
            <a:lvl6pPr marL="25146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6pPr>
            <a:lvl7pPr marL="29718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7pPr>
            <a:lvl8pPr marL="34290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8pPr>
            <a:lvl9pPr marL="38862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9pPr>
          </a:lstStyle>
          <a:p>
            <a:pPr eaLnBrk="1" hangingPunct="1">
              <a:spcBef>
                <a:spcPct val="50000"/>
              </a:spcBef>
            </a:pPr>
            <a:r>
              <a:rPr lang="en-US" altLang="zh-CN" sz="2400" b="1">
                <a:solidFill>
                  <a:srgbClr val="DE580E"/>
                </a:solidFill>
              </a:rPr>
              <a:t>3</a:t>
            </a:r>
          </a:p>
        </p:txBody>
      </p:sp>
      <p:sp>
        <p:nvSpPr>
          <p:cNvPr id="27" name="Text Box 44"/>
          <p:cNvSpPr txBox="1">
            <a:spLocks noChangeArrowheads="1"/>
          </p:cNvSpPr>
          <p:nvPr/>
        </p:nvSpPr>
        <p:spPr bwMode="auto">
          <a:xfrm>
            <a:off x="6600825" y="3619872"/>
            <a:ext cx="43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kumimoji="1" sz="2800">
                <a:solidFill>
                  <a:schemeClr val="tx1"/>
                </a:solidFill>
                <a:latin typeface="Comic Sans MS" pitchFamily="66" charset="0"/>
                <a:ea typeface="宋体" pitchFamily="2" charset="-122"/>
              </a:defRPr>
            </a:lvl1pPr>
            <a:lvl2pPr marL="742950" indent="-285750" eaLnBrk="0" hangingPunct="0">
              <a:defRPr kumimoji="1" sz="2800">
                <a:solidFill>
                  <a:schemeClr val="tx1"/>
                </a:solidFill>
                <a:latin typeface="Comic Sans MS" pitchFamily="66" charset="0"/>
                <a:ea typeface="宋体" pitchFamily="2" charset="-122"/>
              </a:defRPr>
            </a:lvl2pPr>
            <a:lvl3pPr marL="1143000" indent="-228600" eaLnBrk="0" hangingPunct="0">
              <a:defRPr kumimoji="1" sz="2800">
                <a:solidFill>
                  <a:schemeClr val="tx1"/>
                </a:solidFill>
                <a:latin typeface="Comic Sans MS" pitchFamily="66" charset="0"/>
                <a:ea typeface="宋体" pitchFamily="2" charset="-122"/>
              </a:defRPr>
            </a:lvl3pPr>
            <a:lvl4pPr marL="1600200" indent="-228600" eaLnBrk="0" hangingPunct="0">
              <a:defRPr kumimoji="1" sz="2800">
                <a:solidFill>
                  <a:schemeClr val="tx1"/>
                </a:solidFill>
                <a:latin typeface="Comic Sans MS" pitchFamily="66" charset="0"/>
                <a:ea typeface="宋体" pitchFamily="2" charset="-122"/>
              </a:defRPr>
            </a:lvl4pPr>
            <a:lvl5pPr marL="2057400" indent="-228600" eaLnBrk="0" hangingPunct="0">
              <a:defRPr kumimoji="1" sz="2800">
                <a:solidFill>
                  <a:schemeClr val="tx1"/>
                </a:solidFill>
                <a:latin typeface="Comic Sans MS" pitchFamily="66" charset="0"/>
                <a:ea typeface="宋体" pitchFamily="2" charset="-122"/>
              </a:defRPr>
            </a:lvl5pPr>
            <a:lvl6pPr marL="25146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6pPr>
            <a:lvl7pPr marL="29718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7pPr>
            <a:lvl8pPr marL="34290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8pPr>
            <a:lvl9pPr marL="38862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9pPr>
          </a:lstStyle>
          <a:p>
            <a:pPr eaLnBrk="1" hangingPunct="1">
              <a:spcBef>
                <a:spcPct val="50000"/>
              </a:spcBef>
            </a:pPr>
            <a:r>
              <a:rPr lang="en-US" altLang="zh-CN" sz="2400" b="1" dirty="0">
                <a:solidFill>
                  <a:srgbClr val="DE580E"/>
                </a:solidFill>
              </a:rPr>
              <a:t>5</a:t>
            </a:r>
          </a:p>
        </p:txBody>
      </p:sp>
      <p:sp>
        <p:nvSpPr>
          <p:cNvPr id="28" name="Text Box 45"/>
          <p:cNvSpPr txBox="1">
            <a:spLocks noChangeArrowheads="1"/>
          </p:cNvSpPr>
          <p:nvPr/>
        </p:nvSpPr>
        <p:spPr bwMode="auto">
          <a:xfrm>
            <a:off x="7464425" y="4474137"/>
            <a:ext cx="43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kumimoji="1" sz="2800">
                <a:solidFill>
                  <a:schemeClr val="tx1"/>
                </a:solidFill>
                <a:latin typeface="Comic Sans MS" pitchFamily="66" charset="0"/>
                <a:ea typeface="宋体" pitchFamily="2" charset="-122"/>
              </a:defRPr>
            </a:lvl1pPr>
            <a:lvl2pPr marL="742950" indent="-285750" eaLnBrk="0" hangingPunct="0">
              <a:defRPr kumimoji="1" sz="2800">
                <a:solidFill>
                  <a:schemeClr val="tx1"/>
                </a:solidFill>
                <a:latin typeface="Comic Sans MS" pitchFamily="66" charset="0"/>
                <a:ea typeface="宋体" pitchFamily="2" charset="-122"/>
              </a:defRPr>
            </a:lvl2pPr>
            <a:lvl3pPr marL="1143000" indent="-228600" eaLnBrk="0" hangingPunct="0">
              <a:defRPr kumimoji="1" sz="2800">
                <a:solidFill>
                  <a:schemeClr val="tx1"/>
                </a:solidFill>
                <a:latin typeface="Comic Sans MS" pitchFamily="66" charset="0"/>
                <a:ea typeface="宋体" pitchFamily="2" charset="-122"/>
              </a:defRPr>
            </a:lvl3pPr>
            <a:lvl4pPr marL="1600200" indent="-228600" eaLnBrk="0" hangingPunct="0">
              <a:defRPr kumimoji="1" sz="2800">
                <a:solidFill>
                  <a:schemeClr val="tx1"/>
                </a:solidFill>
                <a:latin typeface="Comic Sans MS" pitchFamily="66" charset="0"/>
                <a:ea typeface="宋体" pitchFamily="2" charset="-122"/>
              </a:defRPr>
            </a:lvl4pPr>
            <a:lvl5pPr marL="2057400" indent="-228600" eaLnBrk="0" hangingPunct="0">
              <a:defRPr kumimoji="1" sz="2800">
                <a:solidFill>
                  <a:schemeClr val="tx1"/>
                </a:solidFill>
                <a:latin typeface="Comic Sans MS" pitchFamily="66" charset="0"/>
                <a:ea typeface="宋体" pitchFamily="2" charset="-122"/>
              </a:defRPr>
            </a:lvl5pPr>
            <a:lvl6pPr marL="25146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6pPr>
            <a:lvl7pPr marL="29718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7pPr>
            <a:lvl8pPr marL="34290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8pPr>
            <a:lvl9pPr marL="38862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9pPr>
          </a:lstStyle>
          <a:p>
            <a:pPr eaLnBrk="1" hangingPunct="1">
              <a:spcBef>
                <a:spcPct val="50000"/>
              </a:spcBef>
            </a:pPr>
            <a:r>
              <a:rPr lang="en-US" altLang="zh-CN" sz="2400" b="1">
                <a:solidFill>
                  <a:srgbClr val="DE580E"/>
                </a:solidFill>
              </a:rPr>
              <a:t>8</a:t>
            </a:r>
          </a:p>
        </p:txBody>
      </p:sp>
      <p:sp>
        <p:nvSpPr>
          <p:cNvPr id="29" name="Text Box 46"/>
          <p:cNvSpPr txBox="1">
            <a:spLocks noChangeArrowheads="1"/>
          </p:cNvSpPr>
          <p:nvPr/>
        </p:nvSpPr>
        <p:spPr bwMode="auto">
          <a:xfrm>
            <a:off x="6600825" y="5409174"/>
            <a:ext cx="647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kumimoji="1" sz="2800">
                <a:solidFill>
                  <a:schemeClr val="tx1"/>
                </a:solidFill>
                <a:latin typeface="Comic Sans MS" pitchFamily="66" charset="0"/>
                <a:ea typeface="宋体" pitchFamily="2" charset="-122"/>
              </a:defRPr>
            </a:lvl1pPr>
            <a:lvl2pPr marL="742950" indent="-285750" eaLnBrk="0" hangingPunct="0">
              <a:defRPr kumimoji="1" sz="2800">
                <a:solidFill>
                  <a:schemeClr val="tx1"/>
                </a:solidFill>
                <a:latin typeface="Comic Sans MS" pitchFamily="66" charset="0"/>
                <a:ea typeface="宋体" pitchFamily="2" charset="-122"/>
              </a:defRPr>
            </a:lvl2pPr>
            <a:lvl3pPr marL="1143000" indent="-228600" eaLnBrk="0" hangingPunct="0">
              <a:defRPr kumimoji="1" sz="2800">
                <a:solidFill>
                  <a:schemeClr val="tx1"/>
                </a:solidFill>
                <a:latin typeface="Comic Sans MS" pitchFamily="66" charset="0"/>
                <a:ea typeface="宋体" pitchFamily="2" charset="-122"/>
              </a:defRPr>
            </a:lvl3pPr>
            <a:lvl4pPr marL="1600200" indent="-228600" eaLnBrk="0" hangingPunct="0">
              <a:defRPr kumimoji="1" sz="2800">
                <a:solidFill>
                  <a:schemeClr val="tx1"/>
                </a:solidFill>
                <a:latin typeface="Comic Sans MS" pitchFamily="66" charset="0"/>
                <a:ea typeface="宋体" pitchFamily="2" charset="-122"/>
              </a:defRPr>
            </a:lvl4pPr>
            <a:lvl5pPr marL="2057400" indent="-228600" eaLnBrk="0" hangingPunct="0">
              <a:defRPr kumimoji="1" sz="2800">
                <a:solidFill>
                  <a:schemeClr val="tx1"/>
                </a:solidFill>
                <a:latin typeface="Comic Sans MS" pitchFamily="66" charset="0"/>
                <a:ea typeface="宋体" pitchFamily="2" charset="-122"/>
              </a:defRPr>
            </a:lvl5pPr>
            <a:lvl6pPr marL="25146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6pPr>
            <a:lvl7pPr marL="29718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7pPr>
            <a:lvl8pPr marL="34290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8pPr>
            <a:lvl9pPr marL="38862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9pPr>
          </a:lstStyle>
          <a:p>
            <a:pPr eaLnBrk="1" hangingPunct="1">
              <a:spcBef>
                <a:spcPct val="50000"/>
              </a:spcBef>
            </a:pPr>
            <a:r>
              <a:rPr lang="en-US" altLang="zh-CN" sz="2400" b="1">
                <a:solidFill>
                  <a:srgbClr val="DE580E"/>
                </a:solidFill>
              </a:rPr>
              <a:t>10</a:t>
            </a:r>
          </a:p>
        </p:txBody>
      </p:sp>
      <p:sp>
        <p:nvSpPr>
          <p:cNvPr id="37" name="Text Box 47"/>
          <p:cNvSpPr txBox="1">
            <a:spLocks noChangeArrowheads="1"/>
          </p:cNvSpPr>
          <p:nvPr/>
        </p:nvSpPr>
        <p:spPr bwMode="auto">
          <a:xfrm>
            <a:off x="5016500" y="5409174"/>
            <a:ext cx="43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kumimoji="1" sz="2800">
                <a:solidFill>
                  <a:schemeClr val="tx1"/>
                </a:solidFill>
                <a:latin typeface="Comic Sans MS" pitchFamily="66" charset="0"/>
                <a:ea typeface="宋体" pitchFamily="2" charset="-122"/>
              </a:defRPr>
            </a:lvl1pPr>
            <a:lvl2pPr marL="742950" indent="-285750" eaLnBrk="0" hangingPunct="0">
              <a:defRPr kumimoji="1" sz="2800">
                <a:solidFill>
                  <a:schemeClr val="tx1"/>
                </a:solidFill>
                <a:latin typeface="Comic Sans MS" pitchFamily="66" charset="0"/>
                <a:ea typeface="宋体" pitchFamily="2" charset="-122"/>
              </a:defRPr>
            </a:lvl2pPr>
            <a:lvl3pPr marL="1143000" indent="-228600" eaLnBrk="0" hangingPunct="0">
              <a:defRPr kumimoji="1" sz="2800">
                <a:solidFill>
                  <a:schemeClr val="tx1"/>
                </a:solidFill>
                <a:latin typeface="Comic Sans MS" pitchFamily="66" charset="0"/>
                <a:ea typeface="宋体" pitchFamily="2" charset="-122"/>
              </a:defRPr>
            </a:lvl3pPr>
            <a:lvl4pPr marL="1600200" indent="-228600" eaLnBrk="0" hangingPunct="0">
              <a:defRPr kumimoji="1" sz="2800">
                <a:solidFill>
                  <a:schemeClr val="tx1"/>
                </a:solidFill>
                <a:latin typeface="Comic Sans MS" pitchFamily="66" charset="0"/>
                <a:ea typeface="宋体" pitchFamily="2" charset="-122"/>
              </a:defRPr>
            </a:lvl4pPr>
            <a:lvl5pPr marL="2057400" indent="-228600" eaLnBrk="0" hangingPunct="0">
              <a:defRPr kumimoji="1" sz="2800">
                <a:solidFill>
                  <a:schemeClr val="tx1"/>
                </a:solidFill>
                <a:latin typeface="Comic Sans MS" pitchFamily="66" charset="0"/>
                <a:ea typeface="宋体" pitchFamily="2" charset="-122"/>
              </a:defRPr>
            </a:lvl5pPr>
            <a:lvl6pPr marL="25146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6pPr>
            <a:lvl7pPr marL="29718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7pPr>
            <a:lvl8pPr marL="34290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8pPr>
            <a:lvl9pPr marL="38862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9pPr>
          </a:lstStyle>
          <a:p>
            <a:pPr eaLnBrk="1" hangingPunct="1">
              <a:spcBef>
                <a:spcPct val="50000"/>
              </a:spcBef>
            </a:pPr>
            <a:r>
              <a:rPr lang="en-US" altLang="zh-CN" sz="2400" b="1">
                <a:solidFill>
                  <a:srgbClr val="DE580E"/>
                </a:solidFill>
              </a:rPr>
              <a:t>2</a:t>
            </a:r>
          </a:p>
        </p:txBody>
      </p:sp>
      <p:sp>
        <p:nvSpPr>
          <p:cNvPr id="48" name="Text Box 48"/>
          <p:cNvSpPr txBox="1">
            <a:spLocks noChangeArrowheads="1"/>
          </p:cNvSpPr>
          <p:nvPr/>
        </p:nvSpPr>
        <p:spPr bwMode="auto">
          <a:xfrm>
            <a:off x="4081463" y="4474137"/>
            <a:ext cx="43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kumimoji="1" sz="2800">
                <a:solidFill>
                  <a:schemeClr val="tx1"/>
                </a:solidFill>
                <a:latin typeface="Comic Sans MS" pitchFamily="66" charset="0"/>
                <a:ea typeface="宋体" pitchFamily="2" charset="-122"/>
              </a:defRPr>
            </a:lvl1pPr>
            <a:lvl2pPr marL="742950" indent="-285750" eaLnBrk="0" hangingPunct="0">
              <a:defRPr kumimoji="1" sz="2800">
                <a:solidFill>
                  <a:schemeClr val="tx1"/>
                </a:solidFill>
                <a:latin typeface="Comic Sans MS" pitchFamily="66" charset="0"/>
                <a:ea typeface="宋体" pitchFamily="2" charset="-122"/>
              </a:defRPr>
            </a:lvl2pPr>
            <a:lvl3pPr marL="1143000" indent="-228600" eaLnBrk="0" hangingPunct="0">
              <a:defRPr kumimoji="1" sz="2800">
                <a:solidFill>
                  <a:schemeClr val="tx1"/>
                </a:solidFill>
                <a:latin typeface="Comic Sans MS" pitchFamily="66" charset="0"/>
                <a:ea typeface="宋体" pitchFamily="2" charset="-122"/>
              </a:defRPr>
            </a:lvl3pPr>
            <a:lvl4pPr marL="1600200" indent="-228600" eaLnBrk="0" hangingPunct="0">
              <a:defRPr kumimoji="1" sz="2800">
                <a:solidFill>
                  <a:schemeClr val="tx1"/>
                </a:solidFill>
                <a:latin typeface="Comic Sans MS" pitchFamily="66" charset="0"/>
                <a:ea typeface="宋体" pitchFamily="2" charset="-122"/>
              </a:defRPr>
            </a:lvl4pPr>
            <a:lvl5pPr marL="2057400" indent="-228600" eaLnBrk="0" hangingPunct="0">
              <a:defRPr kumimoji="1" sz="2800">
                <a:solidFill>
                  <a:schemeClr val="tx1"/>
                </a:solidFill>
                <a:latin typeface="Comic Sans MS" pitchFamily="66" charset="0"/>
                <a:ea typeface="宋体" pitchFamily="2" charset="-122"/>
              </a:defRPr>
            </a:lvl5pPr>
            <a:lvl6pPr marL="25146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6pPr>
            <a:lvl7pPr marL="29718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7pPr>
            <a:lvl8pPr marL="34290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8pPr>
            <a:lvl9pPr marL="38862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9pPr>
          </a:lstStyle>
          <a:p>
            <a:pPr eaLnBrk="1" hangingPunct="1">
              <a:spcBef>
                <a:spcPct val="50000"/>
              </a:spcBef>
            </a:pPr>
            <a:r>
              <a:rPr lang="en-US" altLang="zh-CN" sz="2400" b="1">
                <a:solidFill>
                  <a:srgbClr val="DE580E"/>
                </a:solidFill>
              </a:rPr>
              <a:t>3</a:t>
            </a:r>
          </a:p>
        </p:txBody>
      </p:sp>
      <p:sp>
        <p:nvSpPr>
          <p:cNvPr id="49" name="Text Box 49"/>
          <p:cNvSpPr txBox="1">
            <a:spLocks noChangeArrowheads="1"/>
          </p:cNvSpPr>
          <p:nvPr/>
        </p:nvSpPr>
        <p:spPr bwMode="auto">
          <a:xfrm>
            <a:off x="4872038" y="4761474"/>
            <a:ext cx="43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kumimoji="1" sz="2800">
                <a:solidFill>
                  <a:schemeClr val="tx1"/>
                </a:solidFill>
                <a:latin typeface="Comic Sans MS" pitchFamily="66" charset="0"/>
                <a:ea typeface="宋体" pitchFamily="2" charset="-122"/>
              </a:defRPr>
            </a:lvl1pPr>
            <a:lvl2pPr marL="742950" indent="-285750" eaLnBrk="0" hangingPunct="0">
              <a:defRPr kumimoji="1" sz="2800">
                <a:solidFill>
                  <a:schemeClr val="tx1"/>
                </a:solidFill>
                <a:latin typeface="Comic Sans MS" pitchFamily="66" charset="0"/>
                <a:ea typeface="宋体" pitchFamily="2" charset="-122"/>
              </a:defRPr>
            </a:lvl2pPr>
            <a:lvl3pPr marL="1143000" indent="-228600" eaLnBrk="0" hangingPunct="0">
              <a:defRPr kumimoji="1" sz="2800">
                <a:solidFill>
                  <a:schemeClr val="tx1"/>
                </a:solidFill>
                <a:latin typeface="Comic Sans MS" pitchFamily="66" charset="0"/>
                <a:ea typeface="宋体" pitchFamily="2" charset="-122"/>
              </a:defRPr>
            </a:lvl3pPr>
            <a:lvl4pPr marL="1600200" indent="-228600" eaLnBrk="0" hangingPunct="0">
              <a:defRPr kumimoji="1" sz="2800">
                <a:solidFill>
                  <a:schemeClr val="tx1"/>
                </a:solidFill>
                <a:latin typeface="Comic Sans MS" pitchFamily="66" charset="0"/>
                <a:ea typeface="宋体" pitchFamily="2" charset="-122"/>
              </a:defRPr>
            </a:lvl4pPr>
            <a:lvl5pPr marL="2057400" indent="-228600" eaLnBrk="0" hangingPunct="0">
              <a:defRPr kumimoji="1" sz="2800">
                <a:solidFill>
                  <a:schemeClr val="tx1"/>
                </a:solidFill>
                <a:latin typeface="Comic Sans MS" pitchFamily="66" charset="0"/>
                <a:ea typeface="宋体" pitchFamily="2" charset="-122"/>
              </a:defRPr>
            </a:lvl5pPr>
            <a:lvl6pPr marL="25146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6pPr>
            <a:lvl7pPr marL="29718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7pPr>
            <a:lvl8pPr marL="34290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8pPr>
            <a:lvl9pPr marL="38862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9pPr>
          </a:lstStyle>
          <a:p>
            <a:pPr eaLnBrk="1" hangingPunct="1">
              <a:spcBef>
                <a:spcPct val="50000"/>
              </a:spcBef>
            </a:pPr>
            <a:r>
              <a:rPr lang="en-US" altLang="zh-CN" sz="2400" b="1">
                <a:solidFill>
                  <a:srgbClr val="DE580E"/>
                </a:solidFill>
              </a:rPr>
              <a:t>4</a:t>
            </a:r>
          </a:p>
        </p:txBody>
      </p:sp>
      <p:sp>
        <p:nvSpPr>
          <p:cNvPr id="50" name="Text Box 50"/>
          <p:cNvSpPr txBox="1">
            <a:spLocks noChangeArrowheads="1"/>
          </p:cNvSpPr>
          <p:nvPr/>
        </p:nvSpPr>
        <p:spPr bwMode="auto">
          <a:xfrm>
            <a:off x="5305425" y="4474137"/>
            <a:ext cx="43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kumimoji="1" sz="2800">
                <a:solidFill>
                  <a:schemeClr val="tx1"/>
                </a:solidFill>
                <a:latin typeface="Comic Sans MS" pitchFamily="66" charset="0"/>
                <a:ea typeface="宋体" pitchFamily="2" charset="-122"/>
              </a:defRPr>
            </a:lvl1pPr>
            <a:lvl2pPr marL="742950" indent="-285750" eaLnBrk="0" hangingPunct="0">
              <a:defRPr kumimoji="1" sz="2800">
                <a:solidFill>
                  <a:schemeClr val="tx1"/>
                </a:solidFill>
                <a:latin typeface="Comic Sans MS" pitchFamily="66" charset="0"/>
                <a:ea typeface="宋体" pitchFamily="2" charset="-122"/>
              </a:defRPr>
            </a:lvl2pPr>
            <a:lvl3pPr marL="1143000" indent="-228600" eaLnBrk="0" hangingPunct="0">
              <a:defRPr kumimoji="1" sz="2800">
                <a:solidFill>
                  <a:schemeClr val="tx1"/>
                </a:solidFill>
                <a:latin typeface="Comic Sans MS" pitchFamily="66" charset="0"/>
                <a:ea typeface="宋体" pitchFamily="2" charset="-122"/>
              </a:defRPr>
            </a:lvl3pPr>
            <a:lvl4pPr marL="1600200" indent="-228600" eaLnBrk="0" hangingPunct="0">
              <a:defRPr kumimoji="1" sz="2800">
                <a:solidFill>
                  <a:schemeClr val="tx1"/>
                </a:solidFill>
                <a:latin typeface="Comic Sans MS" pitchFamily="66" charset="0"/>
                <a:ea typeface="宋体" pitchFamily="2" charset="-122"/>
              </a:defRPr>
            </a:lvl4pPr>
            <a:lvl5pPr marL="2057400" indent="-228600" eaLnBrk="0" hangingPunct="0">
              <a:defRPr kumimoji="1" sz="2800">
                <a:solidFill>
                  <a:schemeClr val="tx1"/>
                </a:solidFill>
                <a:latin typeface="Comic Sans MS" pitchFamily="66" charset="0"/>
                <a:ea typeface="宋体" pitchFamily="2" charset="-122"/>
              </a:defRPr>
            </a:lvl5pPr>
            <a:lvl6pPr marL="25146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6pPr>
            <a:lvl7pPr marL="29718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7pPr>
            <a:lvl8pPr marL="34290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8pPr>
            <a:lvl9pPr marL="38862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9pPr>
          </a:lstStyle>
          <a:p>
            <a:pPr eaLnBrk="1" hangingPunct="1">
              <a:spcBef>
                <a:spcPct val="50000"/>
              </a:spcBef>
            </a:pPr>
            <a:r>
              <a:rPr lang="en-US" altLang="zh-CN" sz="2400" b="1" dirty="0">
                <a:solidFill>
                  <a:srgbClr val="DE580E"/>
                </a:solidFill>
              </a:rPr>
              <a:t>7</a:t>
            </a:r>
          </a:p>
        </p:txBody>
      </p:sp>
      <p:sp>
        <p:nvSpPr>
          <p:cNvPr id="51" name="Text Box 51"/>
          <p:cNvSpPr txBox="1">
            <a:spLocks noChangeArrowheads="1"/>
          </p:cNvSpPr>
          <p:nvPr/>
        </p:nvSpPr>
        <p:spPr bwMode="auto">
          <a:xfrm>
            <a:off x="5953125" y="4474137"/>
            <a:ext cx="43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kumimoji="1" sz="2800">
                <a:solidFill>
                  <a:schemeClr val="tx1"/>
                </a:solidFill>
                <a:latin typeface="Comic Sans MS" pitchFamily="66" charset="0"/>
                <a:ea typeface="宋体" pitchFamily="2" charset="-122"/>
              </a:defRPr>
            </a:lvl1pPr>
            <a:lvl2pPr marL="742950" indent="-285750" eaLnBrk="0" hangingPunct="0">
              <a:defRPr kumimoji="1" sz="2800">
                <a:solidFill>
                  <a:schemeClr val="tx1"/>
                </a:solidFill>
                <a:latin typeface="Comic Sans MS" pitchFamily="66" charset="0"/>
                <a:ea typeface="宋体" pitchFamily="2" charset="-122"/>
              </a:defRPr>
            </a:lvl2pPr>
            <a:lvl3pPr marL="1143000" indent="-228600" eaLnBrk="0" hangingPunct="0">
              <a:defRPr kumimoji="1" sz="2800">
                <a:solidFill>
                  <a:schemeClr val="tx1"/>
                </a:solidFill>
                <a:latin typeface="Comic Sans MS" pitchFamily="66" charset="0"/>
                <a:ea typeface="宋体" pitchFamily="2" charset="-122"/>
              </a:defRPr>
            </a:lvl3pPr>
            <a:lvl4pPr marL="1600200" indent="-228600" eaLnBrk="0" hangingPunct="0">
              <a:defRPr kumimoji="1" sz="2800">
                <a:solidFill>
                  <a:schemeClr val="tx1"/>
                </a:solidFill>
                <a:latin typeface="Comic Sans MS" pitchFamily="66" charset="0"/>
                <a:ea typeface="宋体" pitchFamily="2" charset="-122"/>
              </a:defRPr>
            </a:lvl4pPr>
            <a:lvl5pPr marL="2057400" indent="-228600" eaLnBrk="0" hangingPunct="0">
              <a:defRPr kumimoji="1" sz="2800">
                <a:solidFill>
                  <a:schemeClr val="tx1"/>
                </a:solidFill>
                <a:latin typeface="Comic Sans MS" pitchFamily="66" charset="0"/>
                <a:ea typeface="宋体" pitchFamily="2" charset="-122"/>
              </a:defRPr>
            </a:lvl5pPr>
            <a:lvl6pPr marL="25146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6pPr>
            <a:lvl7pPr marL="29718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7pPr>
            <a:lvl8pPr marL="34290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8pPr>
            <a:lvl9pPr marL="38862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9pPr>
          </a:lstStyle>
          <a:p>
            <a:pPr eaLnBrk="1" hangingPunct="1">
              <a:spcBef>
                <a:spcPct val="50000"/>
              </a:spcBef>
            </a:pPr>
            <a:r>
              <a:rPr lang="en-US" altLang="zh-CN" sz="2400" b="1">
                <a:solidFill>
                  <a:srgbClr val="DE580E"/>
                </a:solidFill>
              </a:rPr>
              <a:t>6</a:t>
            </a:r>
          </a:p>
        </p:txBody>
      </p:sp>
      <p:sp>
        <p:nvSpPr>
          <p:cNvPr id="52" name="Text Box 52"/>
          <p:cNvSpPr txBox="1">
            <a:spLocks noChangeArrowheads="1"/>
          </p:cNvSpPr>
          <p:nvPr/>
        </p:nvSpPr>
        <p:spPr bwMode="auto">
          <a:xfrm>
            <a:off x="6745288" y="4617012"/>
            <a:ext cx="43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kumimoji="1" sz="2800">
                <a:solidFill>
                  <a:schemeClr val="tx1"/>
                </a:solidFill>
                <a:latin typeface="Comic Sans MS" pitchFamily="66" charset="0"/>
                <a:ea typeface="宋体" pitchFamily="2" charset="-122"/>
              </a:defRPr>
            </a:lvl1pPr>
            <a:lvl2pPr marL="742950" indent="-285750" eaLnBrk="0" hangingPunct="0">
              <a:defRPr kumimoji="1" sz="2800">
                <a:solidFill>
                  <a:schemeClr val="tx1"/>
                </a:solidFill>
                <a:latin typeface="Comic Sans MS" pitchFamily="66" charset="0"/>
                <a:ea typeface="宋体" pitchFamily="2" charset="-122"/>
              </a:defRPr>
            </a:lvl2pPr>
            <a:lvl3pPr marL="1143000" indent="-228600" eaLnBrk="0" hangingPunct="0">
              <a:defRPr kumimoji="1" sz="2800">
                <a:solidFill>
                  <a:schemeClr val="tx1"/>
                </a:solidFill>
                <a:latin typeface="Comic Sans MS" pitchFamily="66" charset="0"/>
                <a:ea typeface="宋体" pitchFamily="2" charset="-122"/>
              </a:defRPr>
            </a:lvl3pPr>
            <a:lvl4pPr marL="1600200" indent="-228600" eaLnBrk="0" hangingPunct="0">
              <a:defRPr kumimoji="1" sz="2800">
                <a:solidFill>
                  <a:schemeClr val="tx1"/>
                </a:solidFill>
                <a:latin typeface="Comic Sans MS" pitchFamily="66" charset="0"/>
                <a:ea typeface="宋体" pitchFamily="2" charset="-122"/>
              </a:defRPr>
            </a:lvl4pPr>
            <a:lvl5pPr marL="2057400" indent="-228600" eaLnBrk="0" hangingPunct="0">
              <a:defRPr kumimoji="1" sz="2800">
                <a:solidFill>
                  <a:schemeClr val="tx1"/>
                </a:solidFill>
                <a:latin typeface="Comic Sans MS" pitchFamily="66" charset="0"/>
                <a:ea typeface="宋体" pitchFamily="2" charset="-122"/>
              </a:defRPr>
            </a:lvl5pPr>
            <a:lvl6pPr marL="25146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6pPr>
            <a:lvl7pPr marL="29718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7pPr>
            <a:lvl8pPr marL="34290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8pPr>
            <a:lvl9pPr marL="38862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9pPr>
          </a:lstStyle>
          <a:p>
            <a:pPr eaLnBrk="1" hangingPunct="1">
              <a:spcBef>
                <a:spcPct val="50000"/>
              </a:spcBef>
            </a:pPr>
            <a:r>
              <a:rPr lang="en-US" altLang="zh-CN" sz="2400" b="1">
                <a:solidFill>
                  <a:srgbClr val="DE580E"/>
                </a:solidFill>
              </a:rPr>
              <a:t>9</a:t>
            </a:r>
          </a:p>
        </p:txBody>
      </p:sp>
      <p:sp>
        <p:nvSpPr>
          <p:cNvPr id="73" name="矩形 72"/>
          <p:cNvSpPr/>
          <p:nvPr/>
        </p:nvSpPr>
        <p:spPr>
          <a:xfrm>
            <a:off x="5849778" y="5805265"/>
            <a:ext cx="492443" cy="461665"/>
          </a:xfrm>
          <a:prstGeom prst="rect">
            <a:avLst/>
          </a:prstGeom>
        </p:spPr>
        <p:txBody>
          <a:bodyPr wrap="none">
            <a:spAutoFit/>
          </a:bodyPr>
          <a:lstStyle/>
          <a:p>
            <a:r>
              <a:rPr kumimoji="1" lang="zh-CN" altLang="en-US" sz="2400" dirty="0">
                <a:latin typeface="微软雅黑" pitchFamily="34" charset="-122"/>
                <a:ea typeface="微软雅黑" pitchFamily="34" charset="-122"/>
                <a:cs typeface="经典粗黑简" pitchFamily="49" charset="-122"/>
              </a:rPr>
              <a:t>网</a:t>
            </a:r>
          </a:p>
        </p:txBody>
      </p:sp>
      <p:sp>
        <p:nvSpPr>
          <p:cNvPr id="42" name="矩形 41"/>
          <p:cNvSpPr/>
          <p:nvPr/>
        </p:nvSpPr>
        <p:spPr>
          <a:xfrm>
            <a:off x="3079789" y="2390668"/>
            <a:ext cx="2492990" cy="400110"/>
          </a:xfrm>
          <a:prstGeom prst="rect">
            <a:avLst/>
          </a:prstGeom>
        </p:spPr>
        <p:txBody>
          <a:bodyPr wrap="none">
            <a:spAutoFit/>
          </a:bodyPr>
          <a:lstStyle/>
          <a:p>
            <a:r>
              <a:rPr kumimoji="1" lang="en-US" altLang="zh-CN" sz="2000" dirty="0">
                <a:latin typeface="微软雅黑" pitchFamily="34" charset="-122"/>
                <a:ea typeface="微软雅黑" pitchFamily="34" charset="-122"/>
                <a:cs typeface="经典粗黑简" pitchFamily="49" charset="-122"/>
              </a:rPr>
              <a:t>⑷</a:t>
            </a:r>
            <a:r>
              <a:rPr kumimoji="1" lang="zh-CN" altLang="en-US" sz="2000" dirty="0">
                <a:latin typeface="微软雅黑" pitchFamily="34" charset="-122"/>
                <a:ea typeface="微软雅黑" pitchFamily="34" charset="-122"/>
                <a:cs typeface="经典粗黑简" pitchFamily="49" charset="-122"/>
              </a:rPr>
              <a:t>、路径和路径长度</a:t>
            </a:r>
          </a:p>
        </p:txBody>
      </p:sp>
      <p:sp>
        <p:nvSpPr>
          <p:cNvPr id="43" name="矩形 42"/>
          <p:cNvSpPr/>
          <p:nvPr/>
        </p:nvSpPr>
        <p:spPr>
          <a:xfrm>
            <a:off x="3071664" y="2884874"/>
            <a:ext cx="6191820" cy="400110"/>
          </a:xfrm>
          <a:prstGeom prst="rect">
            <a:avLst/>
          </a:prstGeom>
        </p:spPr>
        <p:txBody>
          <a:bodyPr wrap="square">
            <a:spAutoFit/>
          </a:bodyPr>
          <a:lstStyle/>
          <a:p>
            <a:r>
              <a:rPr kumimoji="1" lang="zh-CN" altLang="en-US" sz="2000" dirty="0">
                <a:solidFill>
                  <a:srgbClr val="FF0000"/>
                </a:solidFill>
                <a:latin typeface="微软雅黑" pitchFamily="34" charset="-122"/>
                <a:ea typeface="微软雅黑" pitchFamily="34" charset="-122"/>
                <a:cs typeface="经典粗黑简" pitchFamily="49" charset="-122"/>
              </a:rPr>
              <a:t>路径长度</a:t>
            </a:r>
            <a:r>
              <a:rPr kumimoji="1" lang="zh-CN" altLang="en-US" sz="2000" dirty="0">
                <a:latin typeface="微软雅黑" pitchFamily="34" charset="-122"/>
                <a:ea typeface="微软雅黑" pitchFamily="34" charset="-122"/>
                <a:cs typeface="经典粗黑简" pitchFamily="49" charset="-122"/>
              </a:rPr>
              <a:t>：沿路径边的数目或沿路径各边权值之和。</a:t>
            </a:r>
          </a:p>
        </p:txBody>
      </p:sp>
      <p:sp>
        <p:nvSpPr>
          <p:cNvPr id="2" name="矩形 1">
            <a:extLst>
              <a:ext uri="{FF2B5EF4-FFF2-40B4-BE49-F238E27FC236}">
                <a16:creationId xmlns:a16="http://schemas.microsoft.com/office/drawing/2014/main" id="{C7718E93-CEA9-C21E-BCB5-874B1EA5D2FA}"/>
              </a:ext>
            </a:extLst>
          </p:cNvPr>
          <p:cNvSpPr/>
          <p:nvPr/>
        </p:nvSpPr>
        <p:spPr>
          <a:xfrm>
            <a:off x="4421120" y="339686"/>
            <a:ext cx="3637792"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8.1 </a:t>
            </a:r>
            <a:r>
              <a:rPr lang="zh-CN" altLang="en-US" sz="3000" b="1" dirty="0">
                <a:latin typeface="黑体" pitchFamily="49" charset="-122"/>
                <a:ea typeface="黑体" pitchFamily="49" charset="-122"/>
                <a:cs typeface="经典粗黑简" pitchFamily="49" charset="-122"/>
              </a:rPr>
              <a:t>图的基本概念</a:t>
            </a:r>
          </a:p>
        </p:txBody>
      </p:sp>
      <p:sp>
        <p:nvSpPr>
          <p:cNvPr id="3" name="Rectangle 2">
            <a:extLst>
              <a:ext uri="{FF2B5EF4-FFF2-40B4-BE49-F238E27FC236}">
                <a16:creationId xmlns:a16="http://schemas.microsoft.com/office/drawing/2014/main" id="{F9BDB374-5919-A3B7-FA60-B91F9620676E}"/>
              </a:ext>
            </a:extLst>
          </p:cNvPr>
          <p:cNvSpPr txBox="1">
            <a:spLocks noChangeArrowheads="1"/>
          </p:cNvSpPr>
          <p:nvPr/>
        </p:nvSpPr>
        <p:spPr>
          <a:xfrm>
            <a:off x="407368" y="1167247"/>
            <a:ext cx="3528392"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8.1.2 </a:t>
            </a:r>
            <a:r>
              <a:rPr lang="zh-CN" altLang="en-US" dirty="0"/>
              <a:t>图的基本术语</a:t>
            </a:r>
          </a:p>
        </p:txBody>
      </p:sp>
      <p:cxnSp>
        <p:nvCxnSpPr>
          <p:cNvPr id="4" name="直接连接符 3">
            <a:extLst>
              <a:ext uri="{FF2B5EF4-FFF2-40B4-BE49-F238E27FC236}">
                <a16:creationId xmlns:a16="http://schemas.microsoft.com/office/drawing/2014/main" id="{A4C17C44-8833-FEB8-B645-29143E0C6DE5}"/>
              </a:ext>
            </a:extLst>
          </p:cNvPr>
          <p:cNvCxnSpPr>
            <a:cxnSpLocks/>
          </p:cNvCxnSpPr>
          <p:nvPr/>
        </p:nvCxnSpPr>
        <p:spPr>
          <a:xfrm>
            <a:off x="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215419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矩形 31"/>
          <p:cNvSpPr/>
          <p:nvPr/>
        </p:nvSpPr>
        <p:spPr>
          <a:xfrm>
            <a:off x="3079789" y="2390668"/>
            <a:ext cx="2492990" cy="400110"/>
          </a:xfrm>
          <a:prstGeom prst="rect">
            <a:avLst/>
          </a:prstGeom>
        </p:spPr>
        <p:txBody>
          <a:bodyPr wrap="none">
            <a:spAutoFit/>
          </a:bodyPr>
          <a:lstStyle/>
          <a:p>
            <a:r>
              <a:rPr kumimoji="1" lang="en-US" altLang="zh-CN" sz="2000" dirty="0">
                <a:latin typeface="微软雅黑" pitchFamily="34" charset="-122"/>
                <a:ea typeface="微软雅黑" pitchFamily="34" charset="-122"/>
                <a:cs typeface="经典粗黑简" pitchFamily="49" charset="-122"/>
              </a:rPr>
              <a:t>⑸</a:t>
            </a:r>
            <a:r>
              <a:rPr kumimoji="1" lang="zh-CN" altLang="en-US" sz="2000" dirty="0">
                <a:latin typeface="微软雅黑" pitchFamily="34" charset="-122"/>
                <a:ea typeface="微软雅黑" pitchFamily="34" charset="-122"/>
                <a:cs typeface="经典粗黑简" pitchFamily="49" charset="-122"/>
              </a:rPr>
              <a:t>、简单路径和回路</a:t>
            </a:r>
          </a:p>
        </p:txBody>
      </p:sp>
      <p:sp>
        <p:nvSpPr>
          <p:cNvPr id="3" name="矩形 2"/>
          <p:cNvSpPr/>
          <p:nvPr/>
        </p:nvSpPr>
        <p:spPr>
          <a:xfrm>
            <a:off x="3071665" y="2852936"/>
            <a:ext cx="5057795" cy="400110"/>
          </a:xfrm>
          <a:prstGeom prst="rect">
            <a:avLst/>
          </a:prstGeom>
        </p:spPr>
        <p:txBody>
          <a:bodyPr wrap="none">
            <a:spAutoFit/>
          </a:bodyPr>
          <a:lstStyle/>
          <a:p>
            <a:r>
              <a:rPr kumimoji="1" lang="zh-CN" altLang="en-US" sz="2000" dirty="0">
                <a:solidFill>
                  <a:srgbClr val="FF0000"/>
                </a:solidFill>
                <a:latin typeface="微软雅黑" pitchFamily="34" charset="-122"/>
                <a:ea typeface="微软雅黑" pitchFamily="34" charset="-122"/>
                <a:cs typeface="经典粗黑简" pitchFamily="49" charset="-122"/>
              </a:rPr>
              <a:t>简单路径</a:t>
            </a:r>
            <a:r>
              <a:rPr kumimoji="1" lang="zh-CN" altLang="en-US" sz="2000" dirty="0">
                <a:latin typeface="微软雅黑" pitchFamily="34" charset="-122"/>
                <a:ea typeface="微软雅黑" pitchFamily="34" charset="-122"/>
                <a:cs typeface="经典粗黑简" pitchFamily="49" charset="-122"/>
              </a:rPr>
              <a:t>：序列中顶点不重复出现的路径。</a:t>
            </a:r>
          </a:p>
        </p:txBody>
      </p:sp>
      <p:sp>
        <p:nvSpPr>
          <p:cNvPr id="4" name="矩形 3"/>
          <p:cNvSpPr/>
          <p:nvPr/>
        </p:nvSpPr>
        <p:spPr>
          <a:xfrm>
            <a:off x="3060087" y="3248980"/>
            <a:ext cx="6340197" cy="400110"/>
          </a:xfrm>
          <a:prstGeom prst="rect">
            <a:avLst/>
          </a:prstGeom>
        </p:spPr>
        <p:txBody>
          <a:bodyPr wrap="none">
            <a:spAutoFit/>
          </a:bodyPr>
          <a:lstStyle/>
          <a:p>
            <a:r>
              <a:rPr kumimoji="1" lang="zh-CN" altLang="en-US" sz="2000" dirty="0">
                <a:solidFill>
                  <a:srgbClr val="FF0000"/>
                </a:solidFill>
                <a:latin typeface="微软雅黑" pitchFamily="34" charset="-122"/>
                <a:ea typeface="微软雅黑" pitchFamily="34" charset="-122"/>
                <a:cs typeface="经典粗黑简" pitchFamily="49" charset="-122"/>
              </a:rPr>
              <a:t>回路（环）</a:t>
            </a:r>
            <a:r>
              <a:rPr kumimoji="1" lang="zh-CN" altLang="en-US" sz="2000" dirty="0">
                <a:latin typeface="微软雅黑" pitchFamily="34" charset="-122"/>
                <a:ea typeface="微软雅黑" pitchFamily="34" charset="-122"/>
                <a:cs typeface="经典粗黑简" pitchFamily="49" charset="-122"/>
              </a:rPr>
              <a:t>：第一个顶点和最后一个顶点相同的路径。</a:t>
            </a:r>
          </a:p>
        </p:txBody>
      </p:sp>
      <p:sp>
        <p:nvSpPr>
          <p:cNvPr id="5" name="矩形 4"/>
          <p:cNvSpPr/>
          <p:nvPr/>
        </p:nvSpPr>
        <p:spPr>
          <a:xfrm>
            <a:off x="3060086" y="3645024"/>
            <a:ext cx="6708322" cy="707886"/>
          </a:xfrm>
          <a:prstGeom prst="rect">
            <a:avLst/>
          </a:prstGeom>
        </p:spPr>
        <p:txBody>
          <a:bodyPr wrap="square">
            <a:spAutoFit/>
          </a:bodyPr>
          <a:lstStyle/>
          <a:p>
            <a:r>
              <a:rPr kumimoji="1" lang="zh-CN" altLang="en-US" sz="2000" dirty="0">
                <a:solidFill>
                  <a:srgbClr val="FF0000"/>
                </a:solidFill>
                <a:latin typeface="微软雅黑" pitchFamily="34" charset="-122"/>
                <a:ea typeface="微软雅黑" pitchFamily="34" charset="-122"/>
                <a:cs typeface="经典粗黑简" pitchFamily="49" charset="-122"/>
              </a:rPr>
              <a:t>简单回路（简单环）</a:t>
            </a:r>
            <a:r>
              <a:rPr kumimoji="1" lang="zh-CN" altLang="en-US" sz="2000" dirty="0">
                <a:latin typeface="微软雅黑" pitchFamily="34" charset="-122"/>
                <a:ea typeface="微软雅黑" pitchFamily="34" charset="-122"/>
                <a:cs typeface="经典粗黑简" pitchFamily="49" charset="-122"/>
              </a:rPr>
              <a:t>：除了第一个顶点和最后一个顶点外，其余顶点不重复出现的回路。</a:t>
            </a:r>
          </a:p>
        </p:txBody>
      </p:sp>
      <p:sp>
        <p:nvSpPr>
          <p:cNvPr id="39" name="Freeform 31"/>
          <p:cNvSpPr>
            <a:spLocks/>
          </p:cNvSpPr>
          <p:nvPr/>
        </p:nvSpPr>
        <p:spPr bwMode="auto">
          <a:xfrm>
            <a:off x="8012112" y="4795839"/>
            <a:ext cx="777876" cy="611980"/>
          </a:xfrm>
          <a:custGeom>
            <a:avLst/>
            <a:gdLst>
              <a:gd name="T0" fmla="*/ 698 w 375"/>
              <a:gd name="T1" fmla="*/ 0 h 375"/>
              <a:gd name="T2" fmla="*/ 0 w 375"/>
              <a:gd name="T3" fmla="*/ 730 h 375"/>
              <a:gd name="T4" fmla="*/ 0 60000 65536"/>
              <a:gd name="T5" fmla="*/ 0 60000 65536"/>
            </a:gdLst>
            <a:ahLst/>
            <a:cxnLst>
              <a:cxn ang="T4">
                <a:pos x="T0" y="T1"/>
              </a:cxn>
              <a:cxn ang="T5">
                <a:pos x="T2" y="T3"/>
              </a:cxn>
            </a:cxnLst>
            <a:rect l="0" t="0" r="r" b="b"/>
            <a:pathLst>
              <a:path w="375" h="375">
                <a:moveTo>
                  <a:pt x="375" y="0"/>
                </a:moveTo>
                <a:lnTo>
                  <a:pt x="0" y="375"/>
                </a:lnTo>
              </a:path>
            </a:pathLst>
          </a:custGeom>
          <a:noFill/>
          <a:ln w="3810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10800" tIns="28800" rIns="0" bIns="10800"/>
          <a:lstStyle/>
          <a:p>
            <a:endParaRPr lang="zh-CN" altLang="en-US"/>
          </a:p>
        </p:txBody>
      </p:sp>
      <p:grpSp>
        <p:nvGrpSpPr>
          <p:cNvPr id="40" name="Group 32"/>
          <p:cNvGrpSpPr>
            <a:grpSpLocks/>
          </p:cNvGrpSpPr>
          <p:nvPr/>
        </p:nvGrpSpPr>
        <p:grpSpPr bwMode="auto">
          <a:xfrm>
            <a:off x="6783389" y="4413250"/>
            <a:ext cx="2481263" cy="598488"/>
            <a:chOff x="220" y="942"/>
            <a:chExt cx="1563" cy="377"/>
          </a:xfrm>
        </p:grpSpPr>
        <p:sp>
          <p:nvSpPr>
            <p:cNvPr id="59" name="Oval 33"/>
            <p:cNvSpPr>
              <a:spLocks noChangeArrowheads="1"/>
            </p:cNvSpPr>
            <p:nvPr/>
          </p:nvSpPr>
          <p:spPr bwMode="auto">
            <a:xfrm>
              <a:off x="220" y="975"/>
              <a:ext cx="317" cy="317"/>
            </a:xfrm>
            <a:prstGeom prst="ellipse">
              <a:avLst/>
            </a:prstGeom>
            <a:gradFill rotWithShape="1">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2857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0800" tIns="28800" rIns="0" bIns="10800"/>
            <a:lstStyle/>
            <a:p>
              <a:pPr algn="ctr">
                <a:defRPr/>
              </a:pPr>
              <a:endParaRPr lang="zh-CN" altLang="en-US">
                <a:solidFill>
                  <a:schemeClr val="bg1"/>
                </a:solidFill>
                <a:latin typeface="Arial" charset="0"/>
                <a:ea typeface="华文行楷" pitchFamily="2" charset="-122"/>
              </a:endParaRPr>
            </a:p>
          </p:txBody>
        </p:sp>
        <p:sp>
          <p:nvSpPr>
            <p:cNvPr id="70" name="Text Box 34"/>
            <p:cNvSpPr txBox="1">
              <a:spLocks noChangeArrowheads="1"/>
            </p:cNvSpPr>
            <p:nvPr/>
          </p:nvSpPr>
          <p:spPr bwMode="auto">
            <a:xfrm>
              <a:off x="262" y="944"/>
              <a:ext cx="292" cy="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0800" tIns="28800" rIns="0" bIns="10800"/>
            <a:lstStyle>
              <a:lvl1pPr eaLnBrk="0" hangingPunct="0">
                <a:defRPr sz="1600" b="1">
                  <a:solidFill>
                    <a:schemeClr val="tx1"/>
                  </a:solidFill>
                  <a:latin typeface="Tahoma" panose="020B0604030504040204" pitchFamily="34" charset="0"/>
                  <a:ea typeface="宋体" panose="02010600030101010101" pitchFamily="2" charset="-122"/>
                </a:defRPr>
              </a:lvl1pPr>
              <a:lvl2pPr marL="742950" indent="-285750" eaLnBrk="0" hangingPunct="0">
                <a:defRPr sz="1600" b="1">
                  <a:solidFill>
                    <a:schemeClr val="tx1"/>
                  </a:solidFill>
                  <a:latin typeface="Tahoma" panose="020B0604030504040204" pitchFamily="34" charset="0"/>
                  <a:ea typeface="宋体" panose="02010600030101010101" pitchFamily="2" charset="-122"/>
                </a:defRPr>
              </a:lvl2pPr>
              <a:lvl3pPr marL="1143000" indent="-228600" eaLnBrk="0" hangingPunct="0">
                <a:defRPr sz="1600" b="1">
                  <a:solidFill>
                    <a:schemeClr val="tx1"/>
                  </a:solidFill>
                  <a:latin typeface="Tahoma" panose="020B0604030504040204" pitchFamily="34" charset="0"/>
                  <a:ea typeface="宋体" panose="02010600030101010101" pitchFamily="2" charset="-122"/>
                </a:defRPr>
              </a:lvl3pPr>
              <a:lvl4pPr marL="1600200" indent="-228600" eaLnBrk="0" hangingPunct="0">
                <a:defRPr sz="1600" b="1">
                  <a:solidFill>
                    <a:schemeClr val="tx1"/>
                  </a:solidFill>
                  <a:latin typeface="Tahoma" panose="020B0604030504040204" pitchFamily="34" charset="0"/>
                  <a:ea typeface="宋体" panose="02010600030101010101" pitchFamily="2" charset="-122"/>
                </a:defRPr>
              </a:lvl4pPr>
              <a:lvl5pPr marL="2057400" indent="-228600" eaLnBrk="0" hangingPunct="0">
                <a:defRPr sz="16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9pPr>
            </a:lstStyle>
            <a:p>
              <a:pPr algn="just"/>
              <a:r>
                <a:rPr lang="en-US" altLang="zh-CN" sz="2400" i="1">
                  <a:solidFill>
                    <a:schemeClr val="bg1"/>
                  </a:solidFill>
                  <a:latin typeface="Times New Roman" panose="02020603050405020304" pitchFamily="18" charset="0"/>
                </a:rPr>
                <a:t>V</a:t>
              </a:r>
              <a:r>
                <a:rPr lang="en-US" altLang="zh-CN" sz="2400" baseline="-25000">
                  <a:solidFill>
                    <a:schemeClr val="bg1"/>
                  </a:solidFill>
                  <a:latin typeface="Times New Roman" panose="02020603050405020304" pitchFamily="18" charset="0"/>
                </a:rPr>
                <a:t>1</a:t>
              </a:r>
              <a:endParaRPr lang="en-US" altLang="zh-CN" sz="2400">
                <a:solidFill>
                  <a:schemeClr val="bg1"/>
                </a:solidFill>
                <a:latin typeface="Times New Roman" panose="02020603050405020304" pitchFamily="18" charset="0"/>
              </a:endParaRPr>
            </a:p>
          </p:txBody>
        </p:sp>
        <p:sp>
          <p:nvSpPr>
            <p:cNvPr id="71" name="Line 35"/>
            <p:cNvSpPr>
              <a:spLocks noChangeShapeType="1"/>
            </p:cNvSpPr>
            <p:nvPr/>
          </p:nvSpPr>
          <p:spPr bwMode="auto">
            <a:xfrm>
              <a:off x="516" y="1104"/>
              <a:ext cx="952"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lIns="10800" tIns="28800" rIns="0" bIns="10800"/>
            <a:lstStyle/>
            <a:p>
              <a:endParaRPr lang="zh-CN" altLang="en-US"/>
            </a:p>
          </p:txBody>
        </p:sp>
        <p:sp>
          <p:nvSpPr>
            <p:cNvPr id="72" name="Oval 36"/>
            <p:cNvSpPr>
              <a:spLocks noChangeArrowheads="1"/>
            </p:cNvSpPr>
            <p:nvPr/>
          </p:nvSpPr>
          <p:spPr bwMode="auto">
            <a:xfrm>
              <a:off x="1449" y="973"/>
              <a:ext cx="317" cy="317"/>
            </a:xfrm>
            <a:prstGeom prst="ellipse">
              <a:avLst/>
            </a:prstGeom>
            <a:gradFill rotWithShape="1">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2857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0800" tIns="28800" rIns="0" bIns="10800"/>
            <a:lstStyle/>
            <a:p>
              <a:pPr algn="ctr">
                <a:defRPr/>
              </a:pPr>
              <a:endParaRPr lang="zh-CN" altLang="en-US">
                <a:solidFill>
                  <a:schemeClr val="bg1"/>
                </a:solidFill>
                <a:latin typeface="Arial" charset="0"/>
                <a:ea typeface="华文行楷" pitchFamily="2" charset="-122"/>
              </a:endParaRPr>
            </a:p>
          </p:txBody>
        </p:sp>
        <p:sp>
          <p:nvSpPr>
            <p:cNvPr id="73" name="Text Box 37"/>
            <p:cNvSpPr txBox="1">
              <a:spLocks noChangeArrowheads="1"/>
            </p:cNvSpPr>
            <p:nvPr/>
          </p:nvSpPr>
          <p:spPr bwMode="auto">
            <a:xfrm>
              <a:off x="1491" y="942"/>
              <a:ext cx="292" cy="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0800" tIns="28800" rIns="0" bIns="10800"/>
            <a:lstStyle>
              <a:lvl1pPr eaLnBrk="0" hangingPunct="0">
                <a:defRPr sz="1600" b="1">
                  <a:solidFill>
                    <a:schemeClr val="tx1"/>
                  </a:solidFill>
                  <a:latin typeface="Tahoma" panose="020B0604030504040204" pitchFamily="34" charset="0"/>
                  <a:ea typeface="宋体" panose="02010600030101010101" pitchFamily="2" charset="-122"/>
                </a:defRPr>
              </a:lvl1pPr>
              <a:lvl2pPr marL="742950" indent="-285750" eaLnBrk="0" hangingPunct="0">
                <a:defRPr sz="1600" b="1">
                  <a:solidFill>
                    <a:schemeClr val="tx1"/>
                  </a:solidFill>
                  <a:latin typeface="Tahoma" panose="020B0604030504040204" pitchFamily="34" charset="0"/>
                  <a:ea typeface="宋体" panose="02010600030101010101" pitchFamily="2" charset="-122"/>
                </a:defRPr>
              </a:lvl2pPr>
              <a:lvl3pPr marL="1143000" indent="-228600" eaLnBrk="0" hangingPunct="0">
                <a:defRPr sz="1600" b="1">
                  <a:solidFill>
                    <a:schemeClr val="tx1"/>
                  </a:solidFill>
                  <a:latin typeface="Tahoma" panose="020B0604030504040204" pitchFamily="34" charset="0"/>
                  <a:ea typeface="宋体" panose="02010600030101010101" pitchFamily="2" charset="-122"/>
                </a:defRPr>
              </a:lvl3pPr>
              <a:lvl4pPr marL="1600200" indent="-228600" eaLnBrk="0" hangingPunct="0">
                <a:defRPr sz="1600" b="1">
                  <a:solidFill>
                    <a:schemeClr val="tx1"/>
                  </a:solidFill>
                  <a:latin typeface="Tahoma" panose="020B0604030504040204" pitchFamily="34" charset="0"/>
                  <a:ea typeface="宋体" panose="02010600030101010101" pitchFamily="2" charset="-122"/>
                </a:defRPr>
              </a:lvl4pPr>
              <a:lvl5pPr marL="2057400" indent="-228600" eaLnBrk="0" hangingPunct="0">
                <a:defRPr sz="16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9pPr>
            </a:lstStyle>
            <a:p>
              <a:pPr algn="just"/>
              <a:r>
                <a:rPr lang="en-US" altLang="zh-CN" sz="2400" i="1">
                  <a:solidFill>
                    <a:schemeClr val="bg1"/>
                  </a:solidFill>
                  <a:latin typeface="Times New Roman" panose="02020603050405020304" pitchFamily="18" charset="0"/>
                </a:rPr>
                <a:t>V</a:t>
              </a:r>
              <a:r>
                <a:rPr lang="en-US" altLang="zh-CN" sz="2400" baseline="-25000">
                  <a:solidFill>
                    <a:schemeClr val="bg1"/>
                  </a:solidFill>
                  <a:latin typeface="Times New Roman" panose="02020603050405020304" pitchFamily="18" charset="0"/>
                </a:rPr>
                <a:t>2</a:t>
              </a:r>
              <a:endParaRPr lang="en-US" altLang="zh-CN" sz="2400">
                <a:solidFill>
                  <a:schemeClr val="bg1"/>
                </a:solidFill>
                <a:latin typeface="Times New Roman" panose="02020603050405020304" pitchFamily="18" charset="0"/>
              </a:endParaRPr>
            </a:p>
          </p:txBody>
        </p:sp>
      </p:grpSp>
      <p:sp>
        <p:nvSpPr>
          <p:cNvPr id="41" name="Freeform 38"/>
          <p:cNvSpPr>
            <a:spLocks/>
          </p:cNvSpPr>
          <p:nvPr/>
        </p:nvSpPr>
        <p:spPr bwMode="auto">
          <a:xfrm>
            <a:off x="7212013" y="5721351"/>
            <a:ext cx="490537" cy="312738"/>
          </a:xfrm>
          <a:custGeom>
            <a:avLst/>
            <a:gdLst>
              <a:gd name="T0" fmla="*/ 895 w 300"/>
              <a:gd name="T1" fmla="*/ 0 h 300"/>
              <a:gd name="T2" fmla="*/ 0 w 300"/>
              <a:gd name="T3" fmla="*/ 824 h 300"/>
              <a:gd name="T4" fmla="*/ 0 60000 65536"/>
              <a:gd name="T5" fmla="*/ 0 60000 65536"/>
            </a:gdLst>
            <a:ahLst/>
            <a:cxnLst>
              <a:cxn ang="T4">
                <a:pos x="T0" y="T1"/>
              </a:cxn>
              <a:cxn ang="T5">
                <a:pos x="T2" y="T3"/>
              </a:cxn>
            </a:cxnLst>
            <a:rect l="0" t="0" r="r" b="b"/>
            <a:pathLst>
              <a:path w="300" h="300">
                <a:moveTo>
                  <a:pt x="300" y="0"/>
                </a:moveTo>
                <a:lnTo>
                  <a:pt x="0" y="300"/>
                </a:lnTo>
              </a:path>
            </a:pathLst>
          </a:custGeom>
          <a:noFill/>
          <a:ln w="3810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10800" tIns="28800" rIns="0" bIns="10800"/>
          <a:lstStyle/>
          <a:p>
            <a:endParaRPr lang="zh-CN" altLang="en-US"/>
          </a:p>
        </p:txBody>
      </p:sp>
      <p:sp>
        <p:nvSpPr>
          <p:cNvPr id="42" name="Line 39"/>
          <p:cNvSpPr>
            <a:spLocks noChangeShapeType="1"/>
          </p:cNvSpPr>
          <p:nvPr/>
        </p:nvSpPr>
        <p:spPr bwMode="auto">
          <a:xfrm>
            <a:off x="8991600" y="4938714"/>
            <a:ext cx="0" cy="1235075"/>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lIns="10800" tIns="28800" rIns="0" bIns="10800"/>
          <a:lstStyle/>
          <a:p>
            <a:endParaRPr lang="zh-CN" altLang="en-US"/>
          </a:p>
        </p:txBody>
      </p:sp>
      <p:sp>
        <p:nvSpPr>
          <p:cNvPr id="43" name="Line 40"/>
          <p:cNvSpPr>
            <a:spLocks noChangeShapeType="1"/>
          </p:cNvSpPr>
          <p:nvPr/>
        </p:nvSpPr>
        <p:spPr bwMode="auto">
          <a:xfrm>
            <a:off x="8012113" y="5661249"/>
            <a:ext cx="722313" cy="341883"/>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lIns="10800" tIns="28800" rIns="0" bIns="10800"/>
          <a:lstStyle/>
          <a:p>
            <a:endParaRPr lang="zh-CN" altLang="en-US"/>
          </a:p>
        </p:txBody>
      </p:sp>
      <p:sp>
        <p:nvSpPr>
          <p:cNvPr id="44" name="Line 41"/>
          <p:cNvSpPr>
            <a:spLocks noChangeShapeType="1"/>
          </p:cNvSpPr>
          <p:nvPr/>
        </p:nvSpPr>
        <p:spPr bwMode="auto">
          <a:xfrm>
            <a:off x="6926263" y="4945064"/>
            <a:ext cx="0" cy="89606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lIns="10800" tIns="28800" rIns="0" bIns="10800"/>
          <a:lstStyle/>
          <a:p>
            <a:endParaRPr lang="zh-CN" altLang="en-US"/>
          </a:p>
        </p:txBody>
      </p:sp>
      <p:sp>
        <p:nvSpPr>
          <p:cNvPr id="45" name="Oval 42"/>
          <p:cNvSpPr>
            <a:spLocks noChangeArrowheads="1"/>
          </p:cNvSpPr>
          <p:nvPr/>
        </p:nvSpPr>
        <p:spPr bwMode="auto">
          <a:xfrm>
            <a:off x="7608168" y="5278413"/>
            <a:ext cx="503238" cy="503238"/>
          </a:xfrm>
          <a:prstGeom prst="ellipse">
            <a:avLst/>
          </a:prstGeom>
          <a:gradFill rotWithShape="1">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2857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0800" tIns="28800" rIns="0" bIns="10800"/>
          <a:lstStyle/>
          <a:p>
            <a:pPr algn="ctr">
              <a:defRPr/>
            </a:pPr>
            <a:endParaRPr lang="zh-CN" altLang="en-US">
              <a:solidFill>
                <a:schemeClr val="bg1"/>
              </a:solidFill>
              <a:latin typeface="Arial" charset="0"/>
              <a:ea typeface="华文行楷" pitchFamily="2" charset="-122"/>
            </a:endParaRPr>
          </a:p>
        </p:txBody>
      </p:sp>
      <p:sp>
        <p:nvSpPr>
          <p:cNvPr id="48" name="Text Box 43"/>
          <p:cNvSpPr txBox="1">
            <a:spLocks noChangeArrowheads="1"/>
          </p:cNvSpPr>
          <p:nvPr/>
        </p:nvSpPr>
        <p:spPr bwMode="auto">
          <a:xfrm>
            <a:off x="7674843" y="5229201"/>
            <a:ext cx="463550" cy="5953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0800" tIns="28800" rIns="0" bIns="10800"/>
          <a:lstStyle>
            <a:lvl1pPr eaLnBrk="0" hangingPunct="0">
              <a:defRPr sz="1600" b="1">
                <a:solidFill>
                  <a:schemeClr val="tx1"/>
                </a:solidFill>
                <a:latin typeface="Tahoma" panose="020B0604030504040204" pitchFamily="34" charset="0"/>
                <a:ea typeface="宋体" panose="02010600030101010101" pitchFamily="2" charset="-122"/>
              </a:defRPr>
            </a:lvl1pPr>
            <a:lvl2pPr marL="742950" indent="-285750" eaLnBrk="0" hangingPunct="0">
              <a:defRPr sz="1600" b="1">
                <a:solidFill>
                  <a:schemeClr val="tx1"/>
                </a:solidFill>
                <a:latin typeface="Tahoma" panose="020B0604030504040204" pitchFamily="34" charset="0"/>
                <a:ea typeface="宋体" panose="02010600030101010101" pitchFamily="2" charset="-122"/>
              </a:defRPr>
            </a:lvl2pPr>
            <a:lvl3pPr marL="1143000" indent="-228600" eaLnBrk="0" hangingPunct="0">
              <a:defRPr sz="1600" b="1">
                <a:solidFill>
                  <a:schemeClr val="tx1"/>
                </a:solidFill>
                <a:latin typeface="Tahoma" panose="020B0604030504040204" pitchFamily="34" charset="0"/>
                <a:ea typeface="宋体" panose="02010600030101010101" pitchFamily="2" charset="-122"/>
              </a:defRPr>
            </a:lvl3pPr>
            <a:lvl4pPr marL="1600200" indent="-228600" eaLnBrk="0" hangingPunct="0">
              <a:defRPr sz="1600" b="1">
                <a:solidFill>
                  <a:schemeClr val="tx1"/>
                </a:solidFill>
                <a:latin typeface="Tahoma" panose="020B0604030504040204" pitchFamily="34" charset="0"/>
                <a:ea typeface="宋体" panose="02010600030101010101" pitchFamily="2" charset="-122"/>
              </a:defRPr>
            </a:lvl4pPr>
            <a:lvl5pPr marL="2057400" indent="-228600" eaLnBrk="0" hangingPunct="0">
              <a:defRPr sz="16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9pPr>
          </a:lstStyle>
          <a:p>
            <a:pPr algn="just"/>
            <a:r>
              <a:rPr lang="en-US" altLang="zh-CN" sz="2400" i="1">
                <a:solidFill>
                  <a:schemeClr val="bg1"/>
                </a:solidFill>
                <a:latin typeface="Times New Roman" panose="02020603050405020304" pitchFamily="18" charset="0"/>
              </a:rPr>
              <a:t>V</a:t>
            </a:r>
            <a:r>
              <a:rPr lang="en-US" altLang="zh-CN" sz="2400" baseline="-25000">
                <a:solidFill>
                  <a:schemeClr val="bg1"/>
                </a:solidFill>
                <a:latin typeface="Times New Roman" panose="02020603050405020304" pitchFamily="18" charset="0"/>
              </a:rPr>
              <a:t>3</a:t>
            </a:r>
            <a:endParaRPr lang="en-US" altLang="zh-CN" sz="2400">
              <a:solidFill>
                <a:schemeClr val="bg1"/>
              </a:solidFill>
              <a:latin typeface="Times New Roman" panose="02020603050405020304" pitchFamily="18" charset="0"/>
            </a:endParaRPr>
          </a:p>
        </p:txBody>
      </p:sp>
      <p:sp>
        <p:nvSpPr>
          <p:cNvPr id="55" name="Oval 44"/>
          <p:cNvSpPr>
            <a:spLocks noChangeArrowheads="1"/>
          </p:cNvSpPr>
          <p:nvPr/>
        </p:nvSpPr>
        <p:spPr bwMode="auto">
          <a:xfrm>
            <a:off x="6708775" y="5854477"/>
            <a:ext cx="503238" cy="503238"/>
          </a:xfrm>
          <a:prstGeom prst="ellipse">
            <a:avLst/>
          </a:prstGeom>
          <a:gradFill rotWithShape="1">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2857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0800" tIns="28800" rIns="0" bIns="10800"/>
          <a:lstStyle/>
          <a:p>
            <a:pPr algn="ctr">
              <a:defRPr/>
            </a:pPr>
            <a:endParaRPr lang="zh-CN" altLang="en-US">
              <a:solidFill>
                <a:schemeClr val="bg1"/>
              </a:solidFill>
              <a:latin typeface="Arial" charset="0"/>
              <a:ea typeface="华文行楷" pitchFamily="2" charset="-122"/>
            </a:endParaRPr>
          </a:p>
        </p:txBody>
      </p:sp>
      <p:sp>
        <p:nvSpPr>
          <p:cNvPr id="56" name="Text Box 45"/>
          <p:cNvSpPr txBox="1">
            <a:spLocks noChangeArrowheads="1"/>
          </p:cNvSpPr>
          <p:nvPr/>
        </p:nvSpPr>
        <p:spPr bwMode="auto">
          <a:xfrm>
            <a:off x="6775450" y="5805265"/>
            <a:ext cx="463550" cy="5953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0800" tIns="28800" rIns="0" bIns="10800"/>
          <a:lstStyle>
            <a:lvl1pPr eaLnBrk="0" hangingPunct="0">
              <a:defRPr sz="1600" b="1">
                <a:solidFill>
                  <a:schemeClr val="tx1"/>
                </a:solidFill>
                <a:latin typeface="Tahoma" panose="020B0604030504040204" pitchFamily="34" charset="0"/>
                <a:ea typeface="宋体" panose="02010600030101010101" pitchFamily="2" charset="-122"/>
              </a:defRPr>
            </a:lvl1pPr>
            <a:lvl2pPr marL="742950" indent="-285750" eaLnBrk="0" hangingPunct="0">
              <a:defRPr sz="1600" b="1">
                <a:solidFill>
                  <a:schemeClr val="tx1"/>
                </a:solidFill>
                <a:latin typeface="Tahoma" panose="020B0604030504040204" pitchFamily="34" charset="0"/>
                <a:ea typeface="宋体" panose="02010600030101010101" pitchFamily="2" charset="-122"/>
              </a:defRPr>
            </a:lvl2pPr>
            <a:lvl3pPr marL="1143000" indent="-228600" eaLnBrk="0" hangingPunct="0">
              <a:defRPr sz="1600" b="1">
                <a:solidFill>
                  <a:schemeClr val="tx1"/>
                </a:solidFill>
                <a:latin typeface="Tahoma" panose="020B0604030504040204" pitchFamily="34" charset="0"/>
                <a:ea typeface="宋体" panose="02010600030101010101" pitchFamily="2" charset="-122"/>
              </a:defRPr>
            </a:lvl3pPr>
            <a:lvl4pPr marL="1600200" indent="-228600" eaLnBrk="0" hangingPunct="0">
              <a:defRPr sz="1600" b="1">
                <a:solidFill>
                  <a:schemeClr val="tx1"/>
                </a:solidFill>
                <a:latin typeface="Tahoma" panose="020B0604030504040204" pitchFamily="34" charset="0"/>
                <a:ea typeface="宋体" panose="02010600030101010101" pitchFamily="2" charset="-122"/>
              </a:defRPr>
            </a:lvl4pPr>
            <a:lvl5pPr marL="2057400" indent="-228600" eaLnBrk="0" hangingPunct="0">
              <a:defRPr sz="16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9pPr>
          </a:lstStyle>
          <a:p>
            <a:pPr algn="just"/>
            <a:r>
              <a:rPr lang="en-US" altLang="zh-CN" sz="2400" i="1" dirty="0">
                <a:solidFill>
                  <a:schemeClr val="bg1"/>
                </a:solidFill>
                <a:latin typeface="Times New Roman" panose="02020603050405020304" pitchFamily="18" charset="0"/>
              </a:rPr>
              <a:t>V</a:t>
            </a:r>
            <a:r>
              <a:rPr lang="en-US" altLang="zh-CN" sz="2400" baseline="-25000" dirty="0">
                <a:solidFill>
                  <a:schemeClr val="bg1"/>
                </a:solidFill>
                <a:latin typeface="Times New Roman" panose="02020603050405020304" pitchFamily="18" charset="0"/>
              </a:rPr>
              <a:t>4</a:t>
            </a:r>
            <a:endParaRPr lang="en-US" altLang="zh-CN" sz="2400" dirty="0">
              <a:solidFill>
                <a:schemeClr val="bg1"/>
              </a:solidFill>
              <a:latin typeface="Times New Roman" panose="02020603050405020304" pitchFamily="18" charset="0"/>
            </a:endParaRPr>
          </a:p>
        </p:txBody>
      </p:sp>
      <p:sp>
        <p:nvSpPr>
          <p:cNvPr id="57" name="Oval 46"/>
          <p:cNvSpPr>
            <a:spLocks noChangeArrowheads="1"/>
          </p:cNvSpPr>
          <p:nvPr/>
        </p:nvSpPr>
        <p:spPr bwMode="auto">
          <a:xfrm>
            <a:off x="8734425" y="5782469"/>
            <a:ext cx="503238" cy="503238"/>
          </a:xfrm>
          <a:prstGeom prst="ellipse">
            <a:avLst/>
          </a:prstGeom>
          <a:gradFill rotWithShape="1">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2857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0800" tIns="28800" rIns="0" bIns="10800"/>
          <a:lstStyle/>
          <a:p>
            <a:pPr algn="ctr">
              <a:defRPr/>
            </a:pPr>
            <a:endParaRPr lang="zh-CN" altLang="en-US">
              <a:solidFill>
                <a:schemeClr val="bg1"/>
              </a:solidFill>
              <a:latin typeface="Arial" charset="0"/>
              <a:ea typeface="华文行楷" pitchFamily="2" charset="-122"/>
            </a:endParaRPr>
          </a:p>
        </p:txBody>
      </p:sp>
      <p:sp>
        <p:nvSpPr>
          <p:cNvPr id="58" name="Text Box 47"/>
          <p:cNvSpPr txBox="1">
            <a:spLocks noChangeArrowheads="1"/>
          </p:cNvSpPr>
          <p:nvPr/>
        </p:nvSpPr>
        <p:spPr bwMode="auto">
          <a:xfrm>
            <a:off x="8801100" y="5733257"/>
            <a:ext cx="463550" cy="5953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0800" tIns="28800" rIns="0" bIns="10800"/>
          <a:lstStyle>
            <a:lvl1pPr eaLnBrk="0" hangingPunct="0">
              <a:defRPr sz="1600" b="1">
                <a:solidFill>
                  <a:schemeClr val="tx1"/>
                </a:solidFill>
                <a:latin typeface="Tahoma" panose="020B0604030504040204" pitchFamily="34" charset="0"/>
                <a:ea typeface="宋体" panose="02010600030101010101" pitchFamily="2" charset="-122"/>
              </a:defRPr>
            </a:lvl1pPr>
            <a:lvl2pPr marL="742950" indent="-285750" eaLnBrk="0" hangingPunct="0">
              <a:defRPr sz="1600" b="1">
                <a:solidFill>
                  <a:schemeClr val="tx1"/>
                </a:solidFill>
                <a:latin typeface="Tahoma" panose="020B0604030504040204" pitchFamily="34" charset="0"/>
                <a:ea typeface="宋体" panose="02010600030101010101" pitchFamily="2" charset="-122"/>
              </a:defRPr>
            </a:lvl2pPr>
            <a:lvl3pPr marL="1143000" indent="-228600" eaLnBrk="0" hangingPunct="0">
              <a:defRPr sz="1600" b="1">
                <a:solidFill>
                  <a:schemeClr val="tx1"/>
                </a:solidFill>
                <a:latin typeface="Tahoma" panose="020B0604030504040204" pitchFamily="34" charset="0"/>
                <a:ea typeface="宋体" panose="02010600030101010101" pitchFamily="2" charset="-122"/>
              </a:defRPr>
            </a:lvl3pPr>
            <a:lvl4pPr marL="1600200" indent="-228600" eaLnBrk="0" hangingPunct="0">
              <a:defRPr sz="1600" b="1">
                <a:solidFill>
                  <a:schemeClr val="tx1"/>
                </a:solidFill>
                <a:latin typeface="Tahoma" panose="020B0604030504040204" pitchFamily="34" charset="0"/>
                <a:ea typeface="宋体" panose="02010600030101010101" pitchFamily="2" charset="-122"/>
              </a:defRPr>
            </a:lvl4pPr>
            <a:lvl5pPr marL="2057400" indent="-228600" eaLnBrk="0" hangingPunct="0">
              <a:defRPr sz="16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9pPr>
          </a:lstStyle>
          <a:p>
            <a:pPr algn="just"/>
            <a:r>
              <a:rPr lang="en-US" altLang="zh-CN" sz="2400" i="1" dirty="0">
                <a:solidFill>
                  <a:schemeClr val="bg1"/>
                </a:solidFill>
                <a:latin typeface="Times New Roman" panose="02020603050405020304" pitchFamily="18" charset="0"/>
              </a:rPr>
              <a:t>V</a:t>
            </a:r>
            <a:r>
              <a:rPr lang="en-US" altLang="zh-CN" sz="2400" baseline="-25000" dirty="0">
                <a:solidFill>
                  <a:schemeClr val="bg1"/>
                </a:solidFill>
                <a:latin typeface="Times New Roman" panose="02020603050405020304" pitchFamily="18" charset="0"/>
              </a:rPr>
              <a:t>5</a:t>
            </a:r>
            <a:endParaRPr lang="en-US" altLang="zh-CN" sz="2400" dirty="0">
              <a:solidFill>
                <a:schemeClr val="bg1"/>
              </a:solidFill>
              <a:latin typeface="Times New Roman" panose="02020603050405020304" pitchFamily="18" charset="0"/>
            </a:endParaRPr>
          </a:p>
        </p:txBody>
      </p:sp>
      <p:grpSp>
        <p:nvGrpSpPr>
          <p:cNvPr id="75" name="Group 49"/>
          <p:cNvGrpSpPr>
            <a:grpSpLocks/>
          </p:cNvGrpSpPr>
          <p:nvPr/>
        </p:nvGrpSpPr>
        <p:grpSpPr bwMode="auto">
          <a:xfrm>
            <a:off x="3360738" y="4392613"/>
            <a:ext cx="2463800" cy="608012"/>
            <a:chOff x="229" y="2605"/>
            <a:chExt cx="1552" cy="383"/>
          </a:xfrm>
        </p:grpSpPr>
        <p:sp>
          <p:nvSpPr>
            <p:cNvPr id="84" name="Freeform 50"/>
            <p:cNvSpPr>
              <a:spLocks/>
            </p:cNvSpPr>
            <p:nvPr/>
          </p:nvSpPr>
          <p:spPr bwMode="auto">
            <a:xfrm>
              <a:off x="543" y="2786"/>
              <a:ext cx="902" cy="1"/>
            </a:xfrm>
            <a:custGeom>
              <a:avLst/>
              <a:gdLst>
                <a:gd name="T0" fmla="*/ 0 w 901"/>
                <a:gd name="T1" fmla="*/ 0 h 7"/>
                <a:gd name="T2" fmla="*/ 907 w 901"/>
                <a:gd name="T3" fmla="*/ 0 h 7"/>
                <a:gd name="T4" fmla="*/ 0 60000 65536"/>
                <a:gd name="T5" fmla="*/ 0 60000 65536"/>
              </a:gdLst>
              <a:ahLst/>
              <a:cxnLst>
                <a:cxn ang="T4">
                  <a:pos x="T0" y="T1"/>
                </a:cxn>
                <a:cxn ang="T5">
                  <a:pos x="T2" y="T3"/>
                </a:cxn>
              </a:cxnLst>
              <a:rect l="0" t="0" r="r" b="b"/>
              <a:pathLst>
                <a:path w="901" h="7">
                  <a:moveTo>
                    <a:pt x="0" y="7"/>
                  </a:moveTo>
                  <a:lnTo>
                    <a:pt x="901" y="0"/>
                  </a:lnTo>
                </a:path>
              </a:pathLst>
            </a:custGeom>
            <a:noFill/>
            <a:ln w="38100" cmpd="sng">
              <a:solidFill>
                <a:srgbClr val="000000"/>
              </a:solidFill>
              <a:round/>
              <a:headEnd/>
              <a:tailEnd type="stealth" w="lg" len="lg"/>
            </a:ln>
            <a:extLst>
              <a:ext uri="{909E8E84-426E-40DD-AFC4-6F175D3DCCD1}">
                <a14:hiddenFill xmlns:a14="http://schemas.microsoft.com/office/drawing/2010/main">
                  <a:solidFill>
                    <a:srgbClr val="FFFFFF"/>
                  </a:solidFill>
                </a14:hiddenFill>
              </a:ext>
            </a:extLst>
          </p:spPr>
          <p:txBody>
            <a:bodyPr lIns="10800" tIns="28800" rIns="0" bIns="10800"/>
            <a:lstStyle/>
            <a:p>
              <a:endParaRPr lang="zh-CN" altLang="en-US"/>
            </a:p>
          </p:txBody>
        </p:sp>
        <p:sp>
          <p:nvSpPr>
            <p:cNvPr id="85" name="Oval 51"/>
            <p:cNvSpPr>
              <a:spLocks noChangeArrowheads="1"/>
            </p:cNvSpPr>
            <p:nvPr/>
          </p:nvSpPr>
          <p:spPr bwMode="auto">
            <a:xfrm>
              <a:off x="229" y="2636"/>
              <a:ext cx="317" cy="317"/>
            </a:xfrm>
            <a:prstGeom prst="ellipse">
              <a:avLst/>
            </a:prstGeom>
            <a:gradFill rotWithShape="1">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2857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0800" tIns="28800" rIns="0" bIns="10800"/>
            <a:lstStyle/>
            <a:p>
              <a:pPr algn="ctr">
                <a:defRPr/>
              </a:pPr>
              <a:endParaRPr lang="zh-CN" altLang="en-US">
                <a:solidFill>
                  <a:schemeClr val="bg1"/>
                </a:solidFill>
                <a:latin typeface="Arial" charset="0"/>
                <a:ea typeface="华文行楷" pitchFamily="2" charset="-122"/>
              </a:endParaRPr>
            </a:p>
          </p:txBody>
        </p:sp>
        <p:sp>
          <p:nvSpPr>
            <p:cNvPr id="86" name="Text Box 52"/>
            <p:cNvSpPr txBox="1">
              <a:spLocks noChangeArrowheads="1"/>
            </p:cNvSpPr>
            <p:nvPr/>
          </p:nvSpPr>
          <p:spPr bwMode="auto">
            <a:xfrm>
              <a:off x="271" y="2605"/>
              <a:ext cx="292" cy="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0800" tIns="28800" rIns="0" bIns="10800"/>
            <a:lstStyle>
              <a:lvl1pPr eaLnBrk="0" hangingPunct="0">
                <a:defRPr sz="1600" b="1">
                  <a:solidFill>
                    <a:schemeClr val="tx1"/>
                  </a:solidFill>
                  <a:latin typeface="Tahoma" panose="020B0604030504040204" pitchFamily="34" charset="0"/>
                  <a:ea typeface="宋体" panose="02010600030101010101" pitchFamily="2" charset="-122"/>
                </a:defRPr>
              </a:lvl1pPr>
              <a:lvl2pPr marL="742950" indent="-285750" eaLnBrk="0" hangingPunct="0">
                <a:defRPr sz="1600" b="1">
                  <a:solidFill>
                    <a:schemeClr val="tx1"/>
                  </a:solidFill>
                  <a:latin typeface="Tahoma" panose="020B0604030504040204" pitchFamily="34" charset="0"/>
                  <a:ea typeface="宋体" panose="02010600030101010101" pitchFamily="2" charset="-122"/>
                </a:defRPr>
              </a:lvl2pPr>
              <a:lvl3pPr marL="1143000" indent="-228600" eaLnBrk="0" hangingPunct="0">
                <a:defRPr sz="1600" b="1">
                  <a:solidFill>
                    <a:schemeClr val="tx1"/>
                  </a:solidFill>
                  <a:latin typeface="Tahoma" panose="020B0604030504040204" pitchFamily="34" charset="0"/>
                  <a:ea typeface="宋体" panose="02010600030101010101" pitchFamily="2" charset="-122"/>
                </a:defRPr>
              </a:lvl3pPr>
              <a:lvl4pPr marL="1600200" indent="-228600" eaLnBrk="0" hangingPunct="0">
                <a:defRPr sz="1600" b="1">
                  <a:solidFill>
                    <a:schemeClr val="tx1"/>
                  </a:solidFill>
                  <a:latin typeface="Tahoma" panose="020B0604030504040204" pitchFamily="34" charset="0"/>
                  <a:ea typeface="宋体" panose="02010600030101010101" pitchFamily="2" charset="-122"/>
                </a:defRPr>
              </a:lvl4pPr>
              <a:lvl5pPr marL="2057400" indent="-228600" eaLnBrk="0" hangingPunct="0">
                <a:defRPr sz="16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9pPr>
            </a:lstStyle>
            <a:p>
              <a:pPr algn="just"/>
              <a:r>
                <a:rPr lang="en-US" altLang="zh-CN" sz="2400" i="1">
                  <a:solidFill>
                    <a:schemeClr val="bg1"/>
                  </a:solidFill>
                  <a:latin typeface="Times New Roman" panose="02020603050405020304" pitchFamily="18" charset="0"/>
                </a:rPr>
                <a:t>V</a:t>
              </a:r>
              <a:r>
                <a:rPr lang="en-US" altLang="zh-CN" sz="2400" baseline="-25000">
                  <a:solidFill>
                    <a:schemeClr val="bg1"/>
                  </a:solidFill>
                  <a:latin typeface="Times New Roman" panose="02020603050405020304" pitchFamily="18" charset="0"/>
                </a:rPr>
                <a:t>1</a:t>
              </a:r>
              <a:endParaRPr lang="en-US" altLang="zh-CN" sz="2400">
                <a:solidFill>
                  <a:schemeClr val="bg1"/>
                </a:solidFill>
                <a:latin typeface="Times New Roman" panose="02020603050405020304" pitchFamily="18" charset="0"/>
              </a:endParaRPr>
            </a:p>
          </p:txBody>
        </p:sp>
        <p:sp>
          <p:nvSpPr>
            <p:cNvPr id="87" name="Oval 53"/>
            <p:cNvSpPr>
              <a:spLocks noChangeArrowheads="1"/>
            </p:cNvSpPr>
            <p:nvPr/>
          </p:nvSpPr>
          <p:spPr bwMode="auto">
            <a:xfrm>
              <a:off x="1447" y="2644"/>
              <a:ext cx="317" cy="317"/>
            </a:xfrm>
            <a:prstGeom prst="ellipse">
              <a:avLst/>
            </a:prstGeom>
            <a:gradFill rotWithShape="1">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2857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0800" tIns="28800" rIns="0" bIns="10800"/>
            <a:lstStyle/>
            <a:p>
              <a:pPr algn="ctr">
                <a:defRPr/>
              </a:pPr>
              <a:endParaRPr lang="zh-CN" altLang="en-US">
                <a:solidFill>
                  <a:schemeClr val="bg1"/>
                </a:solidFill>
                <a:latin typeface="Arial" charset="0"/>
                <a:ea typeface="华文行楷" pitchFamily="2" charset="-122"/>
              </a:endParaRPr>
            </a:p>
          </p:txBody>
        </p:sp>
        <p:sp>
          <p:nvSpPr>
            <p:cNvPr id="88" name="Text Box 54"/>
            <p:cNvSpPr txBox="1">
              <a:spLocks noChangeArrowheads="1"/>
            </p:cNvSpPr>
            <p:nvPr/>
          </p:nvSpPr>
          <p:spPr bwMode="auto">
            <a:xfrm>
              <a:off x="1489" y="2613"/>
              <a:ext cx="292" cy="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0800" tIns="28800" rIns="0" bIns="10800"/>
            <a:lstStyle>
              <a:lvl1pPr eaLnBrk="0" hangingPunct="0">
                <a:defRPr sz="1600" b="1">
                  <a:solidFill>
                    <a:schemeClr val="tx1"/>
                  </a:solidFill>
                  <a:latin typeface="Tahoma" panose="020B0604030504040204" pitchFamily="34" charset="0"/>
                  <a:ea typeface="宋体" panose="02010600030101010101" pitchFamily="2" charset="-122"/>
                </a:defRPr>
              </a:lvl1pPr>
              <a:lvl2pPr marL="742950" indent="-285750" eaLnBrk="0" hangingPunct="0">
                <a:defRPr sz="1600" b="1">
                  <a:solidFill>
                    <a:schemeClr val="tx1"/>
                  </a:solidFill>
                  <a:latin typeface="Tahoma" panose="020B0604030504040204" pitchFamily="34" charset="0"/>
                  <a:ea typeface="宋体" panose="02010600030101010101" pitchFamily="2" charset="-122"/>
                </a:defRPr>
              </a:lvl2pPr>
              <a:lvl3pPr marL="1143000" indent="-228600" eaLnBrk="0" hangingPunct="0">
                <a:defRPr sz="1600" b="1">
                  <a:solidFill>
                    <a:schemeClr val="tx1"/>
                  </a:solidFill>
                  <a:latin typeface="Tahoma" panose="020B0604030504040204" pitchFamily="34" charset="0"/>
                  <a:ea typeface="宋体" panose="02010600030101010101" pitchFamily="2" charset="-122"/>
                </a:defRPr>
              </a:lvl3pPr>
              <a:lvl4pPr marL="1600200" indent="-228600" eaLnBrk="0" hangingPunct="0">
                <a:defRPr sz="1600" b="1">
                  <a:solidFill>
                    <a:schemeClr val="tx1"/>
                  </a:solidFill>
                  <a:latin typeface="Tahoma" panose="020B0604030504040204" pitchFamily="34" charset="0"/>
                  <a:ea typeface="宋体" panose="02010600030101010101" pitchFamily="2" charset="-122"/>
                </a:defRPr>
              </a:lvl4pPr>
              <a:lvl5pPr marL="2057400" indent="-228600" eaLnBrk="0" hangingPunct="0">
                <a:defRPr sz="16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9pPr>
            </a:lstStyle>
            <a:p>
              <a:pPr algn="just"/>
              <a:r>
                <a:rPr lang="en-US" altLang="zh-CN" sz="2400" i="1">
                  <a:solidFill>
                    <a:schemeClr val="bg1"/>
                  </a:solidFill>
                  <a:latin typeface="Times New Roman" panose="02020603050405020304" pitchFamily="18" charset="0"/>
                </a:rPr>
                <a:t>V</a:t>
              </a:r>
              <a:r>
                <a:rPr lang="en-US" altLang="zh-CN" sz="2400" baseline="-25000">
                  <a:solidFill>
                    <a:schemeClr val="bg1"/>
                  </a:solidFill>
                  <a:latin typeface="Times New Roman" panose="02020603050405020304" pitchFamily="18" charset="0"/>
                </a:rPr>
                <a:t>2</a:t>
              </a:r>
              <a:endParaRPr lang="en-US" altLang="zh-CN" sz="2400">
                <a:solidFill>
                  <a:schemeClr val="bg1"/>
                </a:solidFill>
                <a:latin typeface="Times New Roman" panose="02020603050405020304" pitchFamily="18" charset="0"/>
              </a:endParaRPr>
            </a:p>
          </p:txBody>
        </p:sp>
      </p:grpSp>
      <p:sp>
        <p:nvSpPr>
          <p:cNvPr id="77" name="Line 56"/>
          <p:cNvSpPr>
            <a:spLocks noChangeShapeType="1"/>
          </p:cNvSpPr>
          <p:nvPr/>
        </p:nvSpPr>
        <p:spPr bwMode="auto">
          <a:xfrm flipH="1">
            <a:off x="3609975" y="4941887"/>
            <a:ext cx="0" cy="944562"/>
          </a:xfrm>
          <a:prstGeom prst="line">
            <a:avLst/>
          </a:prstGeom>
          <a:noFill/>
          <a:ln w="38100">
            <a:solidFill>
              <a:srgbClr val="000000"/>
            </a:solidFill>
            <a:round/>
            <a:headEnd/>
            <a:tailEnd type="stealth" w="lg" len="lg"/>
          </a:ln>
          <a:extLst>
            <a:ext uri="{909E8E84-426E-40DD-AFC4-6F175D3DCCD1}">
              <a14:hiddenFill xmlns:a14="http://schemas.microsoft.com/office/drawing/2010/main">
                <a:noFill/>
              </a14:hiddenFill>
            </a:ext>
          </a:extLst>
        </p:spPr>
        <p:txBody>
          <a:bodyPr lIns="10800" tIns="28800" rIns="0" bIns="10800"/>
          <a:lstStyle/>
          <a:p>
            <a:endParaRPr lang="zh-CN" altLang="en-US"/>
          </a:p>
        </p:txBody>
      </p:sp>
      <p:sp>
        <p:nvSpPr>
          <p:cNvPr id="78" name="Freeform 57"/>
          <p:cNvSpPr>
            <a:spLocks/>
          </p:cNvSpPr>
          <p:nvPr/>
        </p:nvSpPr>
        <p:spPr bwMode="auto">
          <a:xfrm>
            <a:off x="3827463" y="6161808"/>
            <a:ext cx="1474788" cy="1587"/>
          </a:xfrm>
          <a:custGeom>
            <a:avLst/>
            <a:gdLst>
              <a:gd name="T0" fmla="*/ 0 w 901"/>
              <a:gd name="T1" fmla="*/ 0 h 5"/>
              <a:gd name="T2" fmla="*/ 1084 w 901"/>
              <a:gd name="T3" fmla="*/ 0 h 5"/>
              <a:gd name="T4" fmla="*/ 0 60000 65536"/>
              <a:gd name="T5" fmla="*/ 0 60000 65536"/>
            </a:gdLst>
            <a:ahLst/>
            <a:cxnLst>
              <a:cxn ang="T4">
                <a:pos x="T0" y="T1"/>
              </a:cxn>
              <a:cxn ang="T5">
                <a:pos x="T2" y="T3"/>
              </a:cxn>
            </a:cxnLst>
            <a:rect l="0" t="0" r="r" b="b"/>
            <a:pathLst>
              <a:path w="901" h="5">
                <a:moveTo>
                  <a:pt x="0" y="0"/>
                </a:moveTo>
                <a:lnTo>
                  <a:pt x="901" y="5"/>
                </a:lnTo>
              </a:path>
            </a:pathLst>
          </a:custGeom>
          <a:noFill/>
          <a:ln w="38100" cmpd="sng">
            <a:solidFill>
              <a:srgbClr val="000000"/>
            </a:solidFill>
            <a:round/>
            <a:headEnd/>
            <a:tailEnd type="stealth" w="lg" len="lg"/>
          </a:ln>
          <a:extLst>
            <a:ext uri="{909E8E84-426E-40DD-AFC4-6F175D3DCCD1}">
              <a14:hiddenFill xmlns:a14="http://schemas.microsoft.com/office/drawing/2010/main">
                <a:solidFill>
                  <a:srgbClr val="FFFFFF"/>
                </a:solidFill>
              </a14:hiddenFill>
            </a:ext>
          </a:extLst>
        </p:spPr>
        <p:txBody>
          <a:bodyPr lIns="10800" tIns="28800" rIns="0" bIns="10800"/>
          <a:lstStyle/>
          <a:p>
            <a:endParaRPr lang="zh-CN" altLang="en-US"/>
          </a:p>
        </p:txBody>
      </p:sp>
      <p:sp>
        <p:nvSpPr>
          <p:cNvPr id="79" name="Line 58"/>
          <p:cNvSpPr>
            <a:spLocks noChangeShapeType="1"/>
          </p:cNvSpPr>
          <p:nvPr/>
        </p:nvSpPr>
        <p:spPr bwMode="auto">
          <a:xfrm flipH="1" flipV="1">
            <a:off x="3797300" y="4838701"/>
            <a:ext cx="1549400" cy="1138237"/>
          </a:xfrm>
          <a:prstGeom prst="line">
            <a:avLst/>
          </a:prstGeom>
          <a:noFill/>
          <a:ln w="38100">
            <a:solidFill>
              <a:srgbClr val="000000"/>
            </a:solidFill>
            <a:round/>
            <a:headEnd/>
            <a:tailEnd type="stealth" w="lg" len="lg"/>
          </a:ln>
          <a:extLst>
            <a:ext uri="{909E8E84-426E-40DD-AFC4-6F175D3DCCD1}">
              <a14:hiddenFill xmlns:a14="http://schemas.microsoft.com/office/drawing/2010/main">
                <a:noFill/>
              </a14:hiddenFill>
            </a:ext>
          </a:extLst>
        </p:spPr>
        <p:txBody>
          <a:bodyPr lIns="10800" tIns="28800" rIns="0" bIns="10800"/>
          <a:lstStyle/>
          <a:p>
            <a:endParaRPr lang="zh-CN" altLang="en-US"/>
          </a:p>
        </p:txBody>
      </p:sp>
      <p:sp>
        <p:nvSpPr>
          <p:cNvPr id="80" name="Oval 59"/>
          <p:cNvSpPr>
            <a:spLocks noChangeArrowheads="1"/>
          </p:cNvSpPr>
          <p:nvPr/>
        </p:nvSpPr>
        <p:spPr bwMode="auto">
          <a:xfrm>
            <a:off x="3352800" y="5893520"/>
            <a:ext cx="503238" cy="503237"/>
          </a:xfrm>
          <a:prstGeom prst="ellipse">
            <a:avLst/>
          </a:prstGeom>
          <a:gradFill rotWithShape="1">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2857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0800" tIns="28800" rIns="0" bIns="10800"/>
          <a:lstStyle/>
          <a:p>
            <a:pPr algn="ctr">
              <a:defRPr/>
            </a:pPr>
            <a:endParaRPr lang="zh-CN" altLang="en-US">
              <a:solidFill>
                <a:schemeClr val="bg1"/>
              </a:solidFill>
              <a:latin typeface="Arial" charset="0"/>
              <a:ea typeface="华文行楷" pitchFamily="2" charset="-122"/>
            </a:endParaRPr>
          </a:p>
        </p:txBody>
      </p:sp>
      <p:sp>
        <p:nvSpPr>
          <p:cNvPr id="81" name="Text Box 60"/>
          <p:cNvSpPr txBox="1">
            <a:spLocks noChangeArrowheads="1"/>
          </p:cNvSpPr>
          <p:nvPr/>
        </p:nvSpPr>
        <p:spPr bwMode="auto">
          <a:xfrm>
            <a:off x="3419475" y="5930032"/>
            <a:ext cx="463550" cy="595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0800" tIns="28800" rIns="0" bIns="10800"/>
          <a:lstStyle>
            <a:lvl1pPr eaLnBrk="0" hangingPunct="0">
              <a:defRPr sz="1600" b="1">
                <a:solidFill>
                  <a:schemeClr val="tx1"/>
                </a:solidFill>
                <a:latin typeface="Tahoma" panose="020B0604030504040204" pitchFamily="34" charset="0"/>
                <a:ea typeface="宋体" panose="02010600030101010101" pitchFamily="2" charset="-122"/>
              </a:defRPr>
            </a:lvl1pPr>
            <a:lvl2pPr marL="742950" indent="-285750" eaLnBrk="0" hangingPunct="0">
              <a:defRPr sz="1600" b="1">
                <a:solidFill>
                  <a:schemeClr val="tx1"/>
                </a:solidFill>
                <a:latin typeface="Tahoma" panose="020B0604030504040204" pitchFamily="34" charset="0"/>
                <a:ea typeface="宋体" panose="02010600030101010101" pitchFamily="2" charset="-122"/>
              </a:defRPr>
            </a:lvl2pPr>
            <a:lvl3pPr marL="1143000" indent="-228600" eaLnBrk="0" hangingPunct="0">
              <a:defRPr sz="1600" b="1">
                <a:solidFill>
                  <a:schemeClr val="tx1"/>
                </a:solidFill>
                <a:latin typeface="Tahoma" panose="020B0604030504040204" pitchFamily="34" charset="0"/>
                <a:ea typeface="宋体" panose="02010600030101010101" pitchFamily="2" charset="-122"/>
              </a:defRPr>
            </a:lvl3pPr>
            <a:lvl4pPr marL="1600200" indent="-228600" eaLnBrk="0" hangingPunct="0">
              <a:defRPr sz="1600" b="1">
                <a:solidFill>
                  <a:schemeClr val="tx1"/>
                </a:solidFill>
                <a:latin typeface="Tahoma" panose="020B0604030504040204" pitchFamily="34" charset="0"/>
                <a:ea typeface="宋体" panose="02010600030101010101" pitchFamily="2" charset="-122"/>
              </a:defRPr>
            </a:lvl4pPr>
            <a:lvl5pPr marL="2057400" indent="-228600" eaLnBrk="0" hangingPunct="0">
              <a:defRPr sz="16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9pPr>
          </a:lstStyle>
          <a:p>
            <a:pPr algn="just"/>
            <a:r>
              <a:rPr lang="en-US" altLang="zh-CN" sz="2400" i="1" dirty="0">
                <a:solidFill>
                  <a:schemeClr val="bg1"/>
                </a:solidFill>
                <a:latin typeface="Times New Roman" panose="02020603050405020304" pitchFamily="18" charset="0"/>
              </a:rPr>
              <a:t>V</a:t>
            </a:r>
            <a:r>
              <a:rPr lang="en-US" altLang="zh-CN" sz="2400" baseline="-25000" dirty="0">
                <a:solidFill>
                  <a:schemeClr val="bg1"/>
                </a:solidFill>
                <a:latin typeface="Times New Roman" panose="02020603050405020304" pitchFamily="18" charset="0"/>
              </a:rPr>
              <a:t>3</a:t>
            </a:r>
            <a:endParaRPr lang="en-US" altLang="zh-CN" sz="2400" dirty="0">
              <a:solidFill>
                <a:schemeClr val="bg1"/>
              </a:solidFill>
              <a:latin typeface="Times New Roman" panose="02020603050405020304" pitchFamily="18" charset="0"/>
            </a:endParaRPr>
          </a:p>
        </p:txBody>
      </p:sp>
      <p:sp>
        <p:nvSpPr>
          <p:cNvPr id="82" name="Oval 61"/>
          <p:cNvSpPr>
            <a:spLocks noChangeArrowheads="1"/>
          </p:cNvSpPr>
          <p:nvPr/>
        </p:nvSpPr>
        <p:spPr bwMode="auto">
          <a:xfrm>
            <a:off x="5280025" y="5890345"/>
            <a:ext cx="503238" cy="503237"/>
          </a:xfrm>
          <a:prstGeom prst="ellipse">
            <a:avLst/>
          </a:prstGeom>
          <a:gradFill rotWithShape="1">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2857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0800" tIns="28800" rIns="0" bIns="10800"/>
          <a:lstStyle/>
          <a:p>
            <a:pPr algn="ctr">
              <a:defRPr/>
            </a:pPr>
            <a:endParaRPr lang="zh-CN" altLang="en-US">
              <a:solidFill>
                <a:schemeClr val="bg1"/>
              </a:solidFill>
              <a:latin typeface="Arial" charset="0"/>
              <a:ea typeface="华文行楷" pitchFamily="2" charset="-122"/>
            </a:endParaRPr>
          </a:p>
        </p:txBody>
      </p:sp>
      <p:sp>
        <p:nvSpPr>
          <p:cNvPr id="83" name="Text Box 62"/>
          <p:cNvSpPr txBox="1">
            <a:spLocks noChangeArrowheads="1"/>
          </p:cNvSpPr>
          <p:nvPr/>
        </p:nvSpPr>
        <p:spPr bwMode="auto">
          <a:xfrm>
            <a:off x="5346700" y="5841132"/>
            <a:ext cx="463550" cy="595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0800" tIns="28800" rIns="0" bIns="10800"/>
          <a:lstStyle>
            <a:lvl1pPr eaLnBrk="0" hangingPunct="0">
              <a:defRPr sz="1600" b="1">
                <a:solidFill>
                  <a:schemeClr val="tx1"/>
                </a:solidFill>
                <a:latin typeface="Tahoma" panose="020B0604030504040204" pitchFamily="34" charset="0"/>
                <a:ea typeface="宋体" panose="02010600030101010101" pitchFamily="2" charset="-122"/>
              </a:defRPr>
            </a:lvl1pPr>
            <a:lvl2pPr marL="742950" indent="-285750" eaLnBrk="0" hangingPunct="0">
              <a:defRPr sz="1600" b="1">
                <a:solidFill>
                  <a:schemeClr val="tx1"/>
                </a:solidFill>
                <a:latin typeface="Tahoma" panose="020B0604030504040204" pitchFamily="34" charset="0"/>
                <a:ea typeface="宋体" panose="02010600030101010101" pitchFamily="2" charset="-122"/>
              </a:defRPr>
            </a:lvl2pPr>
            <a:lvl3pPr marL="1143000" indent="-228600" eaLnBrk="0" hangingPunct="0">
              <a:defRPr sz="1600" b="1">
                <a:solidFill>
                  <a:schemeClr val="tx1"/>
                </a:solidFill>
                <a:latin typeface="Tahoma" panose="020B0604030504040204" pitchFamily="34" charset="0"/>
                <a:ea typeface="宋体" panose="02010600030101010101" pitchFamily="2" charset="-122"/>
              </a:defRPr>
            </a:lvl3pPr>
            <a:lvl4pPr marL="1600200" indent="-228600" eaLnBrk="0" hangingPunct="0">
              <a:defRPr sz="1600" b="1">
                <a:solidFill>
                  <a:schemeClr val="tx1"/>
                </a:solidFill>
                <a:latin typeface="Tahoma" panose="020B0604030504040204" pitchFamily="34" charset="0"/>
                <a:ea typeface="宋体" panose="02010600030101010101" pitchFamily="2" charset="-122"/>
              </a:defRPr>
            </a:lvl4pPr>
            <a:lvl5pPr marL="2057400" indent="-228600" eaLnBrk="0" hangingPunct="0">
              <a:defRPr sz="16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9pPr>
          </a:lstStyle>
          <a:p>
            <a:pPr algn="just"/>
            <a:r>
              <a:rPr lang="en-US" altLang="zh-CN" sz="2400" i="1">
                <a:solidFill>
                  <a:schemeClr val="bg1"/>
                </a:solidFill>
                <a:latin typeface="Times New Roman" panose="02020603050405020304" pitchFamily="18" charset="0"/>
              </a:rPr>
              <a:t>V</a:t>
            </a:r>
            <a:r>
              <a:rPr lang="en-US" altLang="zh-CN" sz="2400" baseline="-25000">
                <a:solidFill>
                  <a:schemeClr val="bg1"/>
                </a:solidFill>
                <a:latin typeface="Times New Roman" panose="02020603050405020304" pitchFamily="18" charset="0"/>
              </a:rPr>
              <a:t>4</a:t>
            </a:r>
            <a:endParaRPr lang="en-US" altLang="zh-CN" sz="2400">
              <a:solidFill>
                <a:schemeClr val="bg1"/>
              </a:solidFill>
              <a:latin typeface="Times New Roman" panose="02020603050405020304" pitchFamily="18" charset="0"/>
            </a:endParaRPr>
          </a:p>
        </p:txBody>
      </p:sp>
      <p:sp>
        <p:nvSpPr>
          <p:cNvPr id="89" name="Line 63"/>
          <p:cNvSpPr>
            <a:spLocks noChangeShapeType="1"/>
          </p:cNvSpPr>
          <p:nvPr/>
        </p:nvSpPr>
        <p:spPr bwMode="auto">
          <a:xfrm>
            <a:off x="3608389" y="4949826"/>
            <a:ext cx="0" cy="936626"/>
          </a:xfrm>
          <a:prstGeom prst="line">
            <a:avLst/>
          </a:prstGeom>
          <a:noFill/>
          <a:ln w="57150">
            <a:solidFill>
              <a:srgbClr val="FF0000"/>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18900000" algn="ctr" rotWithShape="0">
                    <a:schemeClr val="bg2"/>
                  </a:outerShdw>
                </a:effectLst>
              </a14:hiddenEffects>
            </a:ext>
          </a:extLst>
        </p:spPr>
        <p:txBody>
          <a:bodyPr wrap="square" anchor="ctr">
            <a:spAutoFit/>
          </a:bodyPr>
          <a:lstStyle/>
          <a:p>
            <a:endParaRPr lang="zh-CN" altLang="en-US"/>
          </a:p>
        </p:txBody>
      </p:sp>
      <p:sp>
        <p:nvSpPr>
          <p:cNvPr id="90" name="Line 64"/>
          <p:cNvSpPr>
            <a:spLocks noChangeShapeType="1"/>
          </p:cNvSpPr>
          <p:nvPr/>
        </p:nvSpPr>
        <p:spPr bwMode="auto">
          <a:xfrm>
            <a:off x="3854450" y="6155459"/>
            <a:ext cx="1462088" cy="1587"/>
          </a:xfrm>
          <a:prstGeom prst="line">
            <a:avLst/>
          </a:prstGeom>
          <a:noFill/>
          <a:ln w="57150">
            <a:solidFill>
              <a:srgbClr val="FF0000"/>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18900000" algn="ctr" rotWithShape="0">
                    <a:schemeClr val="bg2"/>
                  </a:outerShdw>
                </a:effectLst>
              </a14:hiddenEffects>
            </a:ext>
          </a:extLst>
        </p:spPr>
        <p:txBody>
          <a:bodyPr anchor="ctr">
            <a:spAutoFit/>
          </a:bodyPr>
          <a:lstStyle/>
          <a:p>
            <a:endParaRPr lang="zh-CN" altLang="en-US"/>
          </a:p>
        </p:txBody>
      </p:sp>
      <p:sp>
        <p:nvSpPr>
          <p:cNvPr id="91" name="Line 65"/>
          <p:cNvSpPr>
            <a:spLocks noChangeShapeType="1"/>
          </p:cNvSpPr>
          <p:nvPr/>
        </p:nvSpPr>
        <p:spPr bwMode="auto">
          <a:xfrm flipH="1" flipV="1">
            <a:off x="3776664" y="4814889"/>
            <a:ext cx="1570037" cy="1162049"/>
          </a:xfrm>
          <a:prstGeom prst="line">
            <a:avLst/>
          </a:prstGeom>
          <a:noFill/>
          <a:ln w="57150">
            <a:solidFill>
              <a:srgbClr val="FF0000"/>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18900000" algn="ctr" rotWithShape="0">
                    <a:schemeClr val="bg2"/>
                  </a:outerShdw>
                </a:effectLst>
              </a14:hiddenEffects>
            </a:ext>
          </a:extLst>
        </p:spPr>
        <p:txBody>
          <a:bodyPr wrap="square" anchor="ctr">
            <a:spAutoFit/>
          </a:bodyPr>
          <a:lstStyle/>
          <a:p>
            <a:endParaRPr lang="zh-CN" altLang="en-US"/>
          </a:p>
        </p:txBody>
      </p:sp>
      <p:sp>
        <p:nvSpPr>
          <p:cNvPr id="92" name="Line 66"/>
          <p:cNvSpPr>
            <a:spLocks noChangeShapeType="1"/>
          </p:cNvSpPr>
          <p:nvPr/>
        </p:nvSpPr>
        <p:spPr bwMode="auto">
          <a:xfrm>
            <a:off x="7280276" y="4659314"/>
            <a:ext cx="1463675" cy="1587"/>
          </a:xfrm>
          <a:prstGeom prst="line">
            <a:avLst/>
          </a:prstGeom>
          <a:noFill/>
          <a:ln w="571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18900000" algn="ctr" rotWithShape="0">
                    <a:schemeClr val="bg2"/>
                  </a:outerShdw>
                </a:effectLst>
              </a14:hiddenEffects>
            </a:ext>
          </a:extLst>
        </p:spPr>
        <p:txBody>
          <a:bodyPr anchor="ctr">
            <a:spAutoFit/>
          </a:bodyPr>
          <a:lstStyle/>
          <a:p>
            <a:endParaRPr lang="zh-CN" altLang="en-US"/>
          </a:p>
        </p:txBody>
      </p:sp>
      <p:sp>
        <p:nvSpPr>
          <p:cNvPr id="93" name="Line 67"/>
          <p:cNvSpPr>
            <a:spLocks noChangeShapeType="1"/>
          </p:cNvSpPr>
          <p:nvPr/>
        </p:nvSpPr>
        <p:spPr bwMode="auto">
          <a:xfrm flipV="1">
            <a:off x="8012113" y="4811713"/>
            <a:ext cx="747713" cy="575828"/>
          </a:xfrm>
          <a:prstGeom prst="line">
            <a:avLst/>
          </a:prstGeom>
          <a:noFill/>
          <a:ln w="571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18900000" algn="ctr" rotWithShape="0">
                    <a:schemeClr val="bg2"/>
                  </a:outerShdw>
                </a:effectLst>
              </a14:hiddenEffects>
            </a:ext>
          </a:extLst>
        </p:spPr>
        <p:txBody>
          <a:bodyPr wrap="square" anchor="ctr">
            <a:spAutoFit/>
          </a:bodyPr>
          <a:lstStyle/>
          <a:p>
            <a:endParaRPr lang="zh-CN" altLang="en-US"/>
          </a:p>
        </p:txBody>
      </p:sp>
      <p:sp>
        <p:nvSpPr>
          <p:cNvPr id="94" name="Line 68"/>
          <p:cNvSpPr>
            <a:spLocks noChangeShapeType="1"/>
          </p:cNvSpPr>
          <p:nvPr/>
        </p:nvSpPr>
        <p:spPr bwMode="auto">
          <a:xfrm flipV="1">
            <a:off x="7212013" y="5708650"/>
            <a:ext cx="512762" cy="322262"/>
          </a:xfrm>
          <a:prstGeom prst="line">
            <a:avLst/>
          </a:prstGeom>
          <a:noFill/>
          <a:ln w="571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18900000" algn="ctr" rotWithShape="0">
                    <a:schemeClr val="bg2"/>
                  </a:outerShdw>
                </a:effectLst>
              </a14:hiddenEffects>
            </a:ext>
          </a:extLst>
        </p:spPr>
        <p:txBody>
          <a:bodyPr wrap="square" anchor="ctr">
            <a:spAutoFit/>
          </a:bodyPr>
          <a:lstStyle/>
          <a:p>
            <a:endParaRPr lang="zh-CN" altLang="en-US"/>
          </a:p>
        </p:txBody>
      </p:sp>
      <p:sp>
        <p:nvSpPr>
          <p:cNvPr id="95" name="Line 69"/>
          <p:cNvSpPr>
            <a:spLocks noChangeShapeType="1"/>
          </p:cNvSpPr>
          <p:nvPr/>
        </p:nvSpPr>
        <p:spPr bwMode="auto">
          <a:xfrm flipV="1">
            <a:off x="6932613" y="4933950"/>
            <a:ext cx="0" cy="907182"/>
          </a:xfrm>
          <a:prstGeom prst="line">
            <a:avLst/>
          </a:prstGeom>
          <a:noFill/>
          <a:ln w="571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18900000" algn="ctr" rotWithShape="0">
                    <a:schemeClr val="bg2"/>
                  </a:outerShdw>
                </a:effectLst>
              </a14:hiddenEffects>
            </a:ext>
          </a:extLst>
        </p:spPr>
        <p:txBody>
          <a:bodyPr wrap="square" anchor="ctr">
            <a:spAutoFit/>
          </a:bodyPr>
          <a:lstStyle/>
          <a:p>
            <a:endParaRPr lang="zh-CN" altLang="en-US"/>
          </a:p>
        </p:txBody>
      </p:sp>
      <p:sp>
        <p:nvSpPr>
          <p:cNvPr id="2" name="矩形 1">
            <a:extLst>
              <a:ext uri="{FF2B5EF4-FFF2-40B4-BE49-F238E27FC236}">
                <a16:creationId xmlns:a16="http://schemas.microsoft.com/office/drawing/2014/main" id="{83FDFC3D-4940-25EB-42B7-F4BD0432C4E7}"/>
              </a:ext>
            </a:extLst>
          </p:cNvPr>
          <p:cNvSpPr/>
          <p:nvPr/>
        </p:nvSpPr>
        <p:spPr>
          <a:xfrm>
            <a:off x="4421120" y="339686"/>
            <a:ext cx="3637792"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8.1 </a:t>
            </a:r>
            <a:r>
              <a:rPr lang="zh-CN" altLang="en-US" sz="3000" b="1" dirty="0">
                <a:latin typeface="黑体" pitchFamily="49" charset="-122"/>
                <a:ea typeface="黑体" pitchFamily="49" charset="-122"/>
                <a:cs typeface="经典粗黑简" pitchFamily="49" charset="-122"/>
              </a:rPr>
              <a:t>图的基本概念</a:t>
            </a:r>
          </a:p>
        </p:txBody>
      </p:sp>
      <p:sp>
        <p:nvSpPr>
          <p:cNvPr id="6" name="Rectangle 2">
            <a:extLst>
              <a:ext uri="{FF2B5EF4-FFF2-40B4-BE49-F238E27FC236}">
                <a16:creationId xmlns:a16="http://schemas.microsoft.com/office/drawing/2014/main" id="{C970A9C4-1AFB-29FA-92D1-1EDCAFAFE528}"/>
              </a:ext>
            </a:extLst>
          </p:cNvPr>
          <p:cNvSpPr txBox="1">
            <a:spLocks noChangeArrowheads="1"/>
          </p:cNvSpPr>
          <p:nvPr/>
        </p:nvSpPr>
        <p:spPr>
          <a:xfrm>
            <a:off x="407368" y="1167247"/>
            <a:ext cx="3528392"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8.1.2 </a:t>
            </a:r>
            <a:r>
              <a:rPr lang="zh-CN" altLang="en-US" dirty="0"/>
              <a:t>图的基本术语</a:t>
            </a:r>
          </a:p>
        </p:txBody>
      </p:sp>
      <p:cxnSp>
        <p:nvCxnSpPr>
          <p:cNvPr id="7" name="直接连接符 6">
            <a:extLst>
              <a:ext uri="{FF2B5EF4-FFF2-40B4-BE49-F238E27FC236}">
                <a16:creationId xmlns:a16="http://schemas.microsoft.com/office/drawing/2014/main" id="{33C3A0B6-7AD0-CFF7-EEA2-A70CBDB22B88}"/>
              </a:ext>
            </a:extLst>
          </p:cNvPr>
          <p:cNvCxnSpPr>
            <a:cxnSpLocks/>
          </p:cNvCxnSpPr>
          <p:nvPr/>
        </p:nvCxnSpPr>
        <p:spPr>
          <a:xfrm>
            <a:off x="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328748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7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7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7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8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8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8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83"/>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89"/>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9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91"/>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9"/>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40"/>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41"/>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42"/>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43"/>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44"/>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45"/>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48"/>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55"/>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56"/>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57"/>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58"/>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92"/>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93"/>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94"/>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9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39" grpId="0" animBg="1"/>
      <p:bldP spid="41" grpId="0" animBg="1"/>
      <p:bldP spid="42" grpId="0" animBg="1"/>
      <p:bldP spid="43" grpId="0" animBg="1"/>
      <p:bldP spid="44" grpId="0" animBg="1"/>
      <p:bldP spid="45" grpId="0" animBg="1"/>
      <p:bldP spid="48" grpId="0"/>
      <p:bldP spid="55" grpId="0" animBg="1"/>
      <p:bldP spid="56" grpId="0"/>
      <p:bldP spid="57" grpId="0" animBg="1"/>
      <p:bldP spid="58" grpId="0"/>
      <p:bldP spid="77" grpId="0" animBg="1"/>
      <p:bldP spid="78" grpId="0" animBg="1"/>
      <p:bldP spid="79" grpId="0" animBg="1"/>
      <p:bldP spid="80" grpId="0" animBg="1"/>
      <p:bldP spid="81" grpId="0"/>
      <p:bldP spid="82" grpId="0" animBg="1"/>
      <p:bldP spid="83" grpId="0"/>
      <p:bldP spid="89" grpId="0" animBg="1"/>
      <p:bldP spid="90" grpId="0" animBg="1"/>
      <p:bldP spid="91" grpId="0" animBg="1"/>
      <p:bldP spid="92" grpId="0" animBg="1"/>
      <p:bldP spid="93" grpId="0" animBg="1"/>
      <p:bldP spid="94" grpId="0" animBg="1"/>
      <p:bldP spid="95"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4" name="Group 25"/>
          <p:cNvGrpSpPr>
            <a:grpSpLocks/>
          </p:cNvGrpSpPr>
          <p:nvPr/>
        </p:nvGrpSpPr>
        <p:grpSpPr bwMode="auto">
          <a:xfrm>
            <a:off x="4295775" y="3778812"/>
            <a:ext cx="3529012" cy="1944688"/>
            <a:chOff x="975" y="300"/>
            <a:chExt cx="2223" cy="1225"/>
          </a:xfrm>
        </p:grpSpPr>
        <p:grpSp>
          <p:nvGrpSpPr>
            <p:cNvPr id="55" name="Group 26"/>
            <p:cNvGrpSpPr>
              <a:grpSpLocks/>
            </p:cNvGrpSpPr>
            <p:nvPr/>
          </p:nvGrpSpPr>
          <p:grpSpPr bwMode="auto">
            <a:xfrm>
              <a:off x="975" y="300"/>
              <a:ext cx="1270" cy="1225"/>
              <a:chOff x="1338" y="1434"/>
              <a:chExt cx="1270" cy="1225"/>
            </a:xfrm>
          </p:grpSpPr>
          <p:sp>
            <p:nvSpPr>
              <p:cNvPr id="64" name="Oval 27"/>
              <p:cNvSpPr>
                <a:spLocks noChangeArrowheads="1"/>
              </p:cNvSpPr>
              <p:nvPr/>
            </p:nvSpPr>
            <p:spPr bwMode="auto">
              <a:xfrm>
                <a:off x="1338" y="1434"/>
                <a:ext cx="317" cy="317"/>
              </a:xfrm>
              <a:prstGeom prst="ellipse">
                <a:avLst/>
              </a:prstGeom>
              <a:solidFill>
                <a:schemeClr val="bg1"/>
              </a:solidFill>
              <a:ln w="28575" cap="sq">
                <a:solidFill>
                  <a:srgbClr val="0033CC"/>
                </a:solidFill>
                <a:miter lim="800000"/>
                <a:headEnd type="none" w="sm" len="sm"/>
                <a:tailEnd type="none" w="sm" len="sm"/>
              </a:ln>
            </p:spPr>
            <p:txBody>
              <a:bodyPr wrap="none" tIns="0" anchorCtr="1"/>
              <a:lstStyle/>
              <a:p>
                <a:r>
                  <a:rPr lang="en-US" altLang="zh-CN" sz="2400"/>
                  <a:t>A</a:t>
                </a:r>
                <a:endParaRPr lang="en-US" altLang="zh-CN" sz="2400" baseline="-25000"/>
              </a:p>
            </p:txBody>
          </p:sp>
          <p:sp>
            <p:nvSpPr>
              <p:cNvPr id="65" name="Oval 28"/>
              <p:cNvSpPr>
                <a:spLocks noChangeArrowheads="1"/>
              </p:cNvSpPr>
              <p:nvPr/>
            </p:nvSpPr>
            <p:spPr bwMode="auto">
              <a:xfrm>
                <a:off x="2291" y="1434"/>
                <a:ext cx="317" cy="317"/>
              </a:xfrm>
              <a:prstGeom prst="ellipse">
                <a:avLst/>
              </a:prstGeom>
              <a:solidFill>
                <a:schemeClr val="bg1"/>
              </a:solidFill>
              <a:ln w="28575" cap="sq">
                <a:solidFill>
                  <a:srgbClr val="0033CC"/>
                </a:solidFill>
                <a:miter lim="800000"/>
                <a:headEnd type="none" w="sm" len="sm"/>
                <a:tailEnd type="none" w="sm" len="sm"/>
              </a:ln>
            </p:spPr>
            <p:txBody>
              <a:bodyPr wrap="none" tIns="0" anchorCtr="1"/>
              <a:lstStyle/>
              <a:p>
                <a:r>
                  <a:rPr lang="en-US" altLang="zh-CN" sz="2400"/>
                  <a:t>B</a:t>
                </a:r>
                <a:endParaRPr lang="en-US" altLang="zh-CN" sz="2400" baseline="-25000"/>
              </a:p>
            </p:txBody>
          </p:sp>
          <p:sp>
            <p:nvSpPr>
              <p:cNvPr id="66" name="Oval 29"/>
              <p:cNvSpPr>
                <a:spLocks noChangeArrowheads="1"/>
              </p:cNvSpPr>
              <p:nvPr/>
            </p:nvSpPr>
            <p:spPr bwMode="auto">
              <a:xfrm>
                <a:off x="1338" y="2342"/>
                <a:ext cx="317" cy="317"/>
              </a:xfrm>
              <a:prstGeom prst="ellipse">
                <a:avLst/>
              </a:prstGeom>
              <a:solidFill>
                <a:schemeClr val="bg1"/>
              </a:solidFill>
              <a:ln w="28575" cap="sq">
                <a:solidFill>
                  <a:srgbClr val="0033CC"/>
                </a:solidFill>
                <a:miter lim="800000"/>
                <a:headEnd type="none" w="sm" len="sm"/>
                <a:tailEnd type="none" w="sm" len="sm"/>
              </a:ln>
            </p:spPr>
            <p:txBody>
              <a:bodyPr wrap="none" tIns="0" anchorCtr="1"/>
              <a:lstStyle/>
              <a:p>
                <a:r>
                  <a:rPr lang="en-US" altLang="zh-CN" sz="2400"/>
                  <a:t>F</a:t>
                </a:r>
                <a:endParaRPr lang="en-US" altLang="zh-CN" sz="2400" baseline="-25000"/>
              </a:p>
            </p:txBody>
          </p:sp>
          <p:sp>
            <p:nvSpPr>
              <p:cNvPr id="67" name="Oval 30"/>
              <p:cNvSpPr>
                <a:spLocks noChangeArrowheads="1"/>
              </p:cNvSpPr>
              <p:nvPr/>
            </p:nvSpPr>
            <p:spPr bwMode="auto">
              <a:xfrm>
                <a:off x="2290" y="2341"/>
                <a:ext cx="317" cy="317"/>
              </a:xfrm>
              <a:prstGeom prst="ellipse">
                <a:avLst/>
              </a:prstGeom>
              <a:solidFill>
                <a:schemeClr val="bg1"/>
              </a:solidFill>
              <a:ln w="28575" cap="sq">
                <a:solidFill>
                  <a:srgbClr val="0033CC"/>
                </a:solidFill>
                <a:miter lim="800000"/>
                <a:headEnd type="none" w="sm" len="sm"/>
                <a:tailEnd type="none" w="sm" len="sm"/>
              </a:ln>
            </p:spPr>
            <p:txBody>
              <a:bodyPr wrap="none" tIns="0" anchorCtr="1"/>
              <a:lstStyle/>
              <a:p>
                <a:r>
                  <a:rPr lang="en-US" altLang="zh-CN" sz="2400"/>
                  <a:t>E</a:t>
                </a:r>
                <a:endParaRPr lang="en-US" altLang="zh-CN" sz="2400" baseline="-25000"/>
              </a:p>
            </p:txBody>
          </p:sp>
          <p:sp>
            <p:nvSpPr>
              <p:cNvPr id="68" name="Line 31"/>
              <p:cNvSpPr>
                <a:spLocks noChangeShapeType="1"/>
              </p:cNvSpPr>
              <p:nvPr/>
            </p:nvSpPr>
            <p:spPr bwMode="auto">
              <a:xfrm>
                <a:off x="1655" y="1616"/>
                <a:ext cx="635" cy="0"/>
              </a:xfrm>
              <a:prstGeom prst="line">
                <a:avLst/>
              </a:prstGeom>
              <a:noFill/>
              <a:ln w="28575" cap="sq">
                <a:solidFill>
                  <a:srgbClr val="0033CC"/>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69" name="Line 32"/>
              <p:cNvSpPr>
                <a:spLocks noChangeShapeType="1"/>
              </p:cNvSpPr>
              <p:nvPr/>
            </p:nvSpPr>
            <p:spPr bwMode="auto">
              <a:xfrm>
                <a:off x="1655" y="2523"/>
                <a:ext cx="635" cy="0"/>
              </a:xfrm>
              <a:prstGeom prst="line">
                <a:avLst/>
              </a:prstGeom>
              <a:noFill/>
              <a:ln w="28575" cap="sq">
                <a:solidFill>
                  <a:srgbClr val="0033CC"/>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71" name="Line 33"/>
              <p:cNvSpPr>
                <a:spLocks noChangeShapeType="1"/>
              </p:cNvSpPr>
              <p:nvPr/>
            </p:nvSpPr>
            <p:spPr bwMode="auto">
              <a:xfrm>
                <a:off x="1474" y="1752"/>
                <a:ext cx="0" cy="589"/>
              </a:xfrm>
              <a:prstGeom prst="line">
                <a:avLst/>
              </a:prstGeom>
              <a:noFill/>
              <a:ln w="28575" cap="sq">
                <a:solidFill>
                  <a:srgbClr val="0033CC"/>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72" name="Line 34"/>
              <p:cNvSpPr>
                <a:spLocks noChangeShapeType="1"/>
              </p:cNvSpPr>
              <p:nvPr/>
            </p:nvSpPr>
            <p:spPr bwMode="auto">
              <a:xfrm flipH="1" flipV="1">
                <a:off x="1610" y="1706"/>
                <a:ext cx="771" cy="635"/>
              </a:xfrm>
              <a:prstGeom prst="line">
                <a:avLst/>
              </a:prstGeom>
              <a:noFill/>
              <a:ln w="28575" cap="sq">
                <a:solidFill>
                  <a:srgbClr val="0033CC"/>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sp>
          <p:nvSpPr>
            <p:cNvPr id="56" name="Oval 35"/>
            <p:cNvSpPr>
              <a:spLocks noChangeArrowheads="1"/>
            </p:cNvSpPr>
            <p:nvPr/>
          </p:nvSpPr>
          <p:spPr bwMode="auto">
            <a:xfrm>
              <a:off x="2881" y="300"/>
              <a:ext cx="317" cy="317"/>
            </a:xfrm>
            <a:prstGeom prst="ellipse">
              <a:avLst/>
            </a:prstGeom>
            <a:solidFill>
              <a:schemeClr val="bg1"/>
            </a:solidFill>
            <a:ln w="28575" cap="sq">
              <a:solidFill>
                <a:srgbClr val="0033CC"/>
              </a:solidFill>
              <a:miter lim="800000"/>
              <a:headEnd type="none" w="sm" len="sm"/>
              <a:tailEnd type="none" w="sm" len="sm"/>
            </a:ln>
          </p:spPr>
          <p:txBody>
            <a:bodyPr wrap="none" tIns="0" anchorCtr="1"/>
            <a:lstStyle/>
            <a:p>
              <a:r>
                <a:rPr lang="en-US" altLang="zh-CN" sz="2400"/>
                <a:t>C</a:t>
              </a:r>
              <a:endParaRPr lang="en-US" altLang="zh-CN" sz="2400" baseline="-25000"/>
            </a:p>
          </p:txBody>
        </p:sp>
        <p:sp>
          <p:nvSpPr>
            <p:cNvPr id="57" name="Oval 36"/>
            <p:cNvSpPr>
              <a:spLocks noChangeArrowheads="1"/>
            </p:cNvSpPr>
            <p:nvPr/>
          </p:nvSpPr>
          <p:spPr bwMode="auto">
            <a:xfrm>
              <a:off x="2880" y="1207"/>
              <a:ext cx="317" cy="317"/>
            </a:xfrm>
            <a:prstGeom prst="ellipse">
              <a:avLst/>
            </a:prstGeom>
            <a:solidFill>
              <a:schemeClr val="bg1"/>
            </a:solidFill>
            <a:ln w="28575" cap="sq">
              <a:solidFill>
                <a:srgbClr val="0033CC"/>
              </a:solidFill>
              <a:miter lim="800000"/>
              <a:headEnd type="none" w="sm" len="sm"/>
              <a:tailEnd type="none" w="sm" len="sm"/>
            </a:ln>
          </p:spPr>
          <p:txBody>
            <a:bodyPr wrap="none" tIns="0" anchorCtr="1"/>
            <a:lstStyle/>
            <a:p>
              <a:r>
                <a:rPr lang="en-US" altLang="zh-CN" sz="2400"/>
                <a:t>D</a:t>
              </a:r>
              <a:endParaRPr lang="en-US" altLang="zh-CN" sz="2400" baseline="-25000"/>
            </a:p>
          </p:txBody>
        </p:sp>
        <p:sp>
          <p:nvSpPr>
            <p:cNvPr id="58" name="Line 37"/>
            <p:cNvSpPr>
              <a:spLocks noChangeShapeType="1"/>
            </p:cNvSpPr>
            <p:nvPr/>
          </p:nvSpPr>
          <p:spPr bwMode="auto">
            <a:xfrm flipV="1">
              <a:off x="1228" y="540"/>
              <a:ext cx="726" cy="703"/>
            </a:xfrm>
            <a:prstGeom prst="line">
              <a:avLst/>
            </a:prstGeom>
            <a:noFill/>
            <a:ln w="28575" cap="sq">
              <a:solidFill>
                <a:srgbClr val="0033CC"/>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59" name="Line 38"/>
            <p:cNvSpPr>
              <a:spLocks noChangeShapeType="1"/>
            </p:cNvSpPr>
            <p:nvPr/>
          </p:nvSpPr>
          <p:spPr bwMode="auto">
            <a:xfrm flipV="1">
              <a:off x="2109" y="618"/>
              <a:ext cx="0" cy="589"/>
            </a:xfrm>
            <a:prstGeom prst="line">
              <a:avLst/>
            </a:prstGeom>
            <a:noFill/>
            <a:ln w="28575" cap="sq">
              <a:solidFill>
                <a:srgbClr val="0033CC"/>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60" name="Line 39"/>
            <p:cNvSpPr>
              <a:spLocks noChangeShapeType="1"/>
            </p:cNvSpPr>
            <p:nvPr/>
          </p:nvSpPr>
          <p:spPr bwMode="auto">
            <a:xfrm flipH="1">
              <a:off x="2232" y="1389"/>
              <a:ext cx="635" cy="0"/>
            </a:xfrm>
            <a:prstGeom prst="line">
              <a:avLst/>
            </a:prstGeom>
            <a:noFill/>
            <a:ln w="28575" cap="sq">
              <a:solidFill>
                <a:srgbClr val="0033CC"/>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61" name="Line 40"/>
            <p:cNvSpPr>
              <a:spLocks noChangeShapeType="1"/>
            </p:cNvSpPr>
            <p:nvPr/>
          </p:nvSpPr>
          <p:spPr bwMode="auto">
            <a:xfrm flipH="1">
              <a:off x="2245" y="436"/>
              <a:ext cx="635" cy="0"/>
            </a:xfrm>
            <a:prstGeom prst="line">
              <a:avLst/>
            </a:prstGeom>
            <a:noFill/>
            <a:ln w="28575" cap="sq">
              <a:solidFill>
                <a:srgbClr val="0033CC"/>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62" name="Line 41"/>
            <p:cNvSpPr>
              <a:spLocks noChangeShapeType="1"/>
            </p:cNvSpPr>
            <p:nvPr/>
          </p:nvSpPr>
          <p:spPr bwMode="auto">
            <a:xfrm flipV="1">
              <a:off x="3048" y="618"/>
              <a:ext cx="0" cy="589"/>
            </a:xfrm>
            <a:prstGeom prst="line">
              <a:avLst/>
            </a:prstGeom>
            <a:noFill/>
            <a:ln w="28575" cap="sq">
              <a:solidFill>
                <a:srgbClr val="0033CC"/>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63" name="Line 42"/>
            <p:cNvSpPr>
              <a:spLocks noChangeShapeType="1"/>
            </p:cNvSpPr>
            <p:nvPr/>
          </p:nvSpPr>
          <p:spPr bwMode="auto">
            <a:xfrm flipH="1">
              <a:off x="2245" y="572"/>
              <a:ext cx="680" cy="748"/>
            </a:xfrm>
            <a:prstGeom prst="line">
              <a:avLst/>
            </a:prstGeom>
            <a:noFill/>
            <a:ln w="28575" cap="sq">
              <a:solidFill>
                <a:srgbClr val="0033CC"/>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sp>
        <p:nvSpPr>
          <p:cNvPr id="26" name="Text Box 43"/>
          <p:cNvSpPr txBox="1">
            <a:spLocks noChangeArrowheads="1"/>
          </p:cNvSpPr>
          <p:nvPr/>
        </p:nvSpPr>
        <p:spPr bwMode="auto">
          <a:xfrm>
            <a:off x="4945063" y="3681974"/>
            <a:ext cx="43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kumimoji="1" sz="2800">
                <a:solidFill>
                  <a:schemeClr val="tx1"/>
                </a:solidFill>
                <a:latin typeface="Comic Sans MS" pitchFamily="66" charset="0"/>
                <a:ea typeface="宋体" pitchFamily="2" charset="-122"/>
              </a:defRPr>
            </a:lvl1pPr>
            <a:lvl2pPr marL="742950" indent="-285750" eaLnBrk="0" hangingPunct="0">
              <a:defRPr kumimoji="1" sz="2800">
                <a:solidFill>
                  <a:schemeClr val="tx1"/>
                </a:solidFill>
                <a:latin typeface="Comic Sans MS" pitchFamily="66" charset="0"/>
                <a:ea typeface="宋体" pitchFamily="2" charset="-122"/>
              </a:defRPr>
            </a:lvl2pPr>
            <a:lvl3pPr marL="1143000" indent="-228600" eaLnBrk="0" hangingPunct="0">
              <a:defRPr kumimoji="1" sz="2800">
                <a:solidFill>
                  <a:schemeClr val="tx1"/>
                </a:solidFill>
                <a:latin typeface="Comic Sans MS" pitchFamily="66" charset="0"/>
                <a:ea typeface="宋体" pitchFamily="2" charset="-122"/>
              </a:defRPr>
            </a:lvl3pPr>
            <a:lvl4pPr marL="1600200" indent="-228600" eaLnBrk="0" hangingPunct="0">
              <a:defRPr kumimoji="1" sz="2800">
                <a:solidFill>
                  <a:schemeClr val="tx1"/>
                </a:solidFill>
                <a:latin typeface="Comic Sans MS" pitchFamily="66" charset="0"/>
                <a:ea typeface="宋体" pitchFamily="2" charset="-122"/>
              </a:defRPr>
            </a:lvl4pPr>
            <a:lvl5pPr marL="2057400" indent="-228600" eaLnBrk="0" hangingPunct="0">
              <a:defRPr kumimoji="1" sz="2800">
                <a:solidFill>
                  <a:schemeClr val="tx1"/>
                </a:solidFill>
                <a:latin typeface="Comic Sans MS" pitchFamily="66" charset="0"/>
                <a:ea typeface="宋体" pitchFamily="2" charset="-122"/>
              </a:defRPr>
            </a:lvl5pPr>
            <a:lvl6pPr marL="25146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6pPr>
            <a:lvl7pPr marL="29718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7pPr>
            <a:lvl8pPr marL="34290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8pPr>
            <a:lvl9pPr marL="38862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9pPr>
          </a:lstStyle>
          <a:p>
            <a:pPr eaLnBrk="1" hangingPunct="1">
              <a:spcBef>
                <a:spcPct val="50000"/>
              </a:spcBef>
            </a:pPr>
            <a:r>
              <a:rPr lang="en-US" altLang="zh-CN" sz="2400" b="1">
                <a:solidFill>
                  <a:srgbClr val="DE580E"/>
                </a:solidFill>
              </a:rPr>
              <a:t>3</a:t>
            </a:r>
          </a:p>
        </p:txBody>
      </p:sp>
      <p:sp>
        <p:nvSpPr>
          <p:cNvPr id="27" name="Text Box 44"/>
          <p:cNvSpPr txBox="1">
            <a:spLocks noChangeArrowheads="1"/>
          </p:cNvSpPr>
          <p:nvPr/>
        </p:nvSpPr>
        <p:spPr bwMode="auto">
          <a:xfrm>
            <a:off x="6600825" y="3619872"/>
            <a:ext cx="43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kumimoji="1" sz="2800">
                <a:solidFill>
                  <a:schemeClr val="tx1"/>
                </a:solidFill>
                <a:latin typeface="Comic Sans MS" pitchFamily="66" charset="0"/>
                <a:ea typeface="宋体" pitchFamily="2" charset="-122"/>
              </a:defRPr>
            </a:lvl1pPr>
            <a:lvl2pPr marL="742950" indent="-285750" eaLnBrk="0" hangingPunct="0">
              <a:defRPr kumimoji="1" sz="2800">
                <a:solidFill>
                  <a:schemeClr val="tx1"/>
                </a:solidFill>
                <a:latin typeface="Comic Sans MS" pitchFamily="66" charset="0"/>
                <a:ea typeface="宋体" pitchFamily="2" charset="-122"/>
              </a:defRPr>
            </a:lvl2pPr>
            <a:lvl3pPr marL="1143000" indent="-228600" eaLnBrk="0" hangingPunct="0">
              <a:defRPr kumimoji="1" sz="2800">
                <a:solidFill>
                  <a:schemeClr val="tx1"/>
                </a:solidFill>
                <a:latin typeface="Comic Sans MS" pitchFamily="66" charset="0"/>
                <a:ea typeface="宋体" pitchFamily="2" charset="-122"/>
              </a:defRPr>
            </a:lvl3pPr>
            <a:lvl4pPr marL="1600200" indent="-228600" eaLnBrk="0" hangingPunct="0">
              <a:defRPr kumimoji="1" sz="2800">
                <a:solidFill>
                  <a:schemeClr val="tx1"/>
                </a:solidFill>
                <a:latin typeface="Comic Sans MS" pitchFamily="66" charset="0"/>
                <a:ea typeface="宋体" pitchFamily="2" charset="-122"/>
              </a:defRPr>
            </a:lvl4pPr>
            <a:lvl5pPr marL="2057400" indent="-228600" eaLnBrk="0" hangingPunct="0">
              <a:defRPr kumimoji="1" sz="2800">
                <a:solidFill>
                  <a:schemeClr val="tx1"/>
                </a:solidFill>
                <a:latin typeface="Comic Sans MS" pitchFamily="66" charset="0"/>
                <a:ea typeface="宋体" pitchFamily="2" charset="-122"/>
              </a:defRPr>
            </a:lvl5pPr>
            <a:lvl6pPr marL="25146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6pPr>
            <a:lvl7pPr marL="29718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7pPr>
            <a:lvl8pPr marL="34290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8pPr>
            <a:lvl9pPr marL="38862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9pPr>
          </a:lstStyle>
          <a:p>
            <a:pPr eaLnBrk="1" hangingPunct="1">
              <a:spcBef>
                <a:spcPct val="50000"/>
              </a:spcBef>
            </a:pPr>
            <a:r>
              <a:rPr lang="en-US" altLang="zh-CN" sz="2400" b="1" dirty="0">
                <a:solidFill>
                  <a:srgbClr val="DE580E"/>
                </a:solidFill>
              </a:rPr>
              <a:t>5</a:t>
            </a:r>
          </a:p>
        </p:txBody>
      </p:sp>
      <p:sp>
        <p:nvSpPr>
          <p:cNvPr id="28" name="Text Box 45"/>
          <p:cNvSpPr txBox="1">
            <a:spLocks noChangeArrowheads="1"/>
          </p:cNvSpPr>
          <p:nvPr/>
        </p:nvSpPr>
        <p:spPr bwMode="auto">
          <a:xfrm>
            <a:off x="7464425" y="4474137"/>
            <a:ext cx="43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kumimoji="1" sz="2800">
                <a:solidFill>
                  <a:schemeClr val="tx1"/>
                </a:solidFill>
                <a:latin typeface="Comic Sans MS" pitchFamily="66" charset="0"/>
                <a:ea typeface="宋体" pitchFamily="2" charset="-122"/>
              </a:defRPr>
            </a:lvl1pPr>
            <a:lvl2pPr marL="742950" indent="-285750" eaLnBrk="0" hangingPunct="0">
              <a:defRPr kumimoji="1" sz="2800">
                <a:solidFill>
                  <a:schemeClr val="tx1"/>
                </a:solidFill>
                <a:latin typeface="Comic Sans MS" pitchFamily="66" charset="0"/>
                <a:ea typeface="宋体" pitchFamily="2" charset="-122"/>
              </a:defRPr>
            </a:lvl2pPr>
            <a:lvl3pPr marL="1143000" indent="-228600" eaLnBrk="0" hangingPunct="0">
              <a:defRPr kumimoji="1" sz="2800">
                <a:solidFill>
                  <a:schemeClr val="tx1"/>
                </a:solidFill>
                <a:latin typeface="Comic Sans MS" pitchFamily="66" charset="0"/>
                <a:ea typeface="宋体" pitchFamily="2" charset="-122"/>
              </a:defRPr>
            </a:lvl3pPr>
            <a:lvl4pPr marL="1600200" indent="-228600" eaLnBrk="0" hangingPunct="0">
              <a:defRPr kumimoji="1" sz="2800">
                <a:solidFill>
                  <a:schemeClr val="tx1"/>
                </a:solidFill>
                <a:latin typeface="Comic Sans MS" pitchFamily="66" charset="0"/>
                <a:ea typeface="宋体" pitchFamily="2" charset="-122"/>
              </a:defRPr>
            </a:lvl4pPr>
            <a:lvl5pPr marL="2057400" indent="-228600" eaLnBrk="0" hangingPunct="0">
              <a:defRPr kumimoji="1" sz="2800">
                <a:solidFill>
                  <a:schemeClr val="tx1"/>
                </a:solidFill>
                <a:latin typeface="Comic Sans MS" pitchFamily="66" charset="0"/>
                <a:ea typeface="宋体" pitchFamily="2" charset="-122"/>
              </a:defRPr>
            </a:lvl5pPr>
            <a:lvl6pPr marL="25146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6pPr>
            <a:lvl7pPr marL="29718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7pPr>
            <a:lvl8pPr marL="34290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8pPr>
            <a:lvl9pPr marL="38862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9pPr>
          </a:lstStyle>
          <a:p>
            <a:pPr eaLnBrk="1" hangingPunct="1">
              <a:spcBef>
                <a:spcPct val="50000"/>
              </a:spcBef>
            </a:pPr>
            <a:r>
              <a:rPr lang="en-US" altLang="zh-CN" sz="2400" b="1">
                <a:solidFill>
                  <a:srgbClr val="DE580E"/>
                </a:solidFill>
              </a:rPr>
              <a:t>8</a:t>
            </a:r>
          </a:p>
        </p:txBody>
      </p:sp>
      <p:sp>
        <p:nvSpPr>
          <p:cNvPr id="29" name="Text Box 46"/>
          <p:cNvSpPr txBox="1">
            <a:spLocks noChangeArrowheads="1"/>
          </p:cNvSpPr>
          <p:nvPr/>
        </p:nvSpPr>
        <p:spPr bwMode="auto">
          <a:xfrm>
            <a:off x="6600825" y="5409174"/>
            <a:ext cx="647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kumimoji="1" sz="2800">
                <a:solidFill>
                  <a:schemeClr val="tx1"/>
                </a:solidFill>
                <a:latin typeface="Comic Sans MS" pitchFamily="66" charset="0"/>
                <a:ea typeface="宋体" pitchFamily="2" charset="-122"/>
              </a:defRPr>
            </a:lvl1pPr>
            <a:lvl2pPr marL="742950" indent="-285750" eaLnBrk="0" hangingPunct="0">
              <a:defRPr kumimoji="1" sz="2800">
                <a:solidFill>
                  <a:schemeClr val="tx1"/>
                </a:solidFill>
                <a:latin typeface="Comic Sans MS" pitchFamily="66" charset="0"/>
                <a:ea typeface="宋体" pitchFamily="2" charset="-122"/>
              </a:defRPr>
            </a:lvl2pPr>
            <a:lvl3pPr marL="1143000" indent="-228600" eaLnBrk="0" hangingPunct="0">
              <a:defRPr kumimoji="1" sz="2800">
                <a:solidFill>
                  <a:schemeClr val="tx1"/>
                </a:solidFill>
                <a:latin typeface="Comic Sans MS" pitchFamily="66" charset="0"/>
                <a:ea typeface="宋体" pitchFamily="2" charset="-122"/>
              </a:defRPr>
            </a:lvl3pPr>
            <a:lvl4pPr marL="1600200" indent="-228600" eaLnBrk="0" hangingPunct="0">
              <a:defRPr kumimoji="1" sz="2800">
                <a:solidFill>
                  <a:schemeClr val="tx1"/>
                </a:solidFill>
                <a:latin typeface="Comic Sans MS" pitchFamily="66" charset="0"/>
                <a:ea typeface="宋体" pitchFamily="2" charset="-122"/>
              </a:defRPr>
            </a:lvl4pPr>
            <a:lvl5pPr marL="2057400" indent="-228600" eaLnBrk="0" hangingPunct="0">
              <a:defRPr kumimoji="1" sz="2800">
                <a:solidFill>
                  <a:schemeClr val="tx1"/>
                </a:solidFill>
                <a:latin typeface="Comic Sans MS" pitchFamily="66" charset="0"/>
                <a:ea typeface="宋体" pitchFamily="2" charset="-122"/>
              </a:defRPr>
            </a:lvl5pPr>
            <a:lvl6pPr marL="25146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6pPr>
            <a:lvl7pPr marL="29718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7pPr>
            <a:lvl8pPr marL="34290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8pPr>
            <a:lvl9pPr marL="38862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9pPr>
          </a:lstStyle>
          <a:p>
            <a:pPr eaLnBrk="1" hangingPunct="1">
              <a:spcBef>
                <a:spcPct val="50000"/>
              </a:spcBef>
            </a:pPr>
            <a:r>
              <a:rPr lang="en-US" altLang="zh-CN" sz="2400" b="1">
                <a:solidFill>
                  <a:srgbClr val="DE580E"/>
                </a:solidFill>
              </a:rPr>
              <a:t>10</a:t>
            </a:r>
          </a:p>
        </p:txBody>
      </p:sp>
      <p:sp>
        <p:nvSpPr>
          <p:cNvPr id="37" name="Text Box 47"/>
          <p:cNvSpPr txBox="1">
            <a:spLocks noChangeArrowheads="1"/>
          </p:cNvSpPr>
          <p:nvPr/>
        </p:nvSpPr>
        <p:spPr bwMode="auto">
          <a:xfrm>
            <a:off x="5016500" y="5409174"/>
            <a:ext cx="43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kumimoji="1" sz="2800">
                <a:solidFill>
                  <a:schemeClr val="tx1"/>
                </a:solidFill>
                <a:latin typeface="Comic Sans MS" pitchFamily="66" charset="0"/>
                <a:ea typeface="宋体" pitchFamily="2" charset="-122"/>
              </a:defRPr>
            </a:lvl1pPr>
            <a:lvl2pPr marL="742950" indent="-285750" eaLnBrk="0" hangingPunct="0">
              <a:defRPr kumimoji="1" sz="2800">
                <a:solidFill>
                  <a:schemeClr val="tx1"/>
                </a:solidFill>
                <a:latin typeface="Comic Sans MS" pitchFamily="66" charset="0"/>
                <a:ea typeface="宋体" pitchFamily="2" charset="-122"/>
              </a:defRPr>
            </a:lvl2pPr>
            <a:lvl3pPr marL="1143000" indent="-228600" eaLnBrk="0" hangingPunct="0">
              <a:defRPr kumimoji="1" sz="2800">
                <a:solidFill>
                  <a:schemeClr val="tx1"/>
                </a:solidFill>
                <a:latin typeface="Comic Sans MS" pitchFamily="66" charset="0"/>
                <a:ea typeface="宋体" pitchFamily="2" charset="-122"/>
              </a:defRPr>
            </a:lvl3pPr>
            <a:lvl4pPr marL="1600200" indent="-228600" eaLnBrk="0" hangingPunct="0">
              <a:defRPr kumimoji="1" sz="2800">
                <a:solidFill>
                  <a:schemeClr val="tx1"/>
                </a:solidFill>
                <a:latin typeface="Comic Sans MS" pitchFamily="66" charset="0"/>
                <a:ea typeface="宋体" pitchFamily="2" charset="-122"/>
              </a:defRPr>
            </a:lvl4pPr>
            <a:lvl5pPr marL="2057400" indent="-228600" eaLnBrk="0" hangingPunct="0">
              <a:defRPr kumimoji="1" sz="2800">
                <a:solidFill>
                  <a:schemeClr val="tx1"/>
                </a:solidFill>
                <a:latin typeface="Comic Sans MS" pitchFamily="66" charset="0"/>
                <a:ea typeface="宋体" pitchFamily="2" charset="-122"/>
              </a:defRPr>
            </a:lvl5pPr>
            <a:lvl6pPr marL="25146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6pPr>
            <a:lvl7pPr marL="29718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7pPr>
            <a:lvl8pPr marL="34290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8pPr>
            <a:lvl9pPr marL="38862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9pPr>
          </a:lstStyle>
          <a:p>
            <a:pPr eaLnBrk="1" hangingPunct="1">
              <a:spcBef>
                <a:spcPct val="50000"/>
              </a:spcBef>
            </a:pPr>
            <a:r>
              <a:rPr lang="en-US" altLang="zh-CN" sz="2400" b="1">
                <a:solidFill>
                  <a:srgbClr val="DE580E"/>
                </a:solidFill>
              </a:rPr>
              <a:t>2</a:t>
            </a:r>
          </a:p>
        </p:txBody>
      </p:sp>
      <p:sp>
        <p:nvSpPr>
          <p:cNvPr id="48" name="Text Box 48"/>
          <p:cNvSpPr txBox="1">
            <a:spLocks noChangeArrowheads="1"/>
          </p:cNvSpPr>
          <p:nvPr/>
        </p:nvSpPr>
        <p:spPr bwMode="auto">
          <a:xfrm>
            <a:off x="4081463" y="4474137"/>
            <a:ext cx="43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kumimoji="1" sz="2800">
                <a:solidFill>
                  <a:schemeClr val="tx1"/>
                </a:solidFill>
                <a:latin typeface="Comic Sans MS" pitchFamily="66" charset="0"/>
                <a:ea typeface="宋体" pitchFamily="2" charset="-122"/>
              </a:defRPr>
            </a:lvl1pPr>
            <a:lvl2pPr marL="742950" indent="-285750" eaLnBrk="0" hangingPunct="0">
              <a:defRPr kumimoji="1" sz="2800">
                <a:solidFill>
                  <a:schemeClr val="tx1"/>
                </a:solidFill>
                <a:latin typeface="Comic Sans MS" pitchFamily="66" charset="0"/>
                <a:ea typeface="宋体" pitchFamily="2" charset="-122"/>
              </a:defRPr>
            </a:lvl2pPr>
            <a:lvl3pPr marL="1143000" indent="-228600" eaLnBrk="0" hangingPunct="0">
              <a:defRPr kumimoji="1" sz="2800">
                <a:solidFill>
                  <a:schemeClr val="tx1"/>
                </a:solidFill>
                <a:latin typeface="Comic Sans MS" pitchFamily="66" charset="0"/>
                <a:ea typeface="宋体" pitchFamily="2" charset="-122"/>
              </a:defRPr>
            </a:lvl3pPr>
            <a:lvl4pPr marL="1600200" indent="-228600" eaLnBrk="0" hangingPunct="0">
              <a:defRPr kumimoji="1" sz="2800">
                <a:solidFill>
                  <a:schemeClr val="tx1"/>
                </a:solidFill>
                <a:latin typeface="Comic Sans MS" pitchFamily="66" charset="0"/>
                <a:ea typeface="宋体" pitchFamily="2" charset="-122"/>
              </a:defRPr>
            </a:lvl4pPr>
            <a:lvl5pPr marL="2057400" indent="-228600" eaLnBrk="0" hangingPunct="0">
              <a:defRPr kumimoji="1" sz="2800">
                <a:solidFill>
                  <a:schemeClr val="tx1"/>
                </a:solidFill>
                <a:latin typeface="Comic Sans MS" pitchFamily="66" charset="0"/>
                <a:ea typeface="宋体" pitchFamily="2" charset="-122"/>
              </a:defRPr>
            </a:lvl5pPr>
            <a:lvl6pPr marL="25146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6pPr>
            <a:lvl7pPr marL="29718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7pPr>
            <a:lvl8pPr marL="34290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8pPr>
            <a:lvl9pPr marL="38862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9pPr>
          </a:lstStyle>
          <a:p>
            <a:pPr eaLnBrk="1" hangingPunct="1">
              <a:spcBef>
                <a:spcPct val="50000"/>
              </a:spcBef>
            </a:pPr>
            <a:r>
              <a:rPr lang="en-US" altLang="zh-CN" sz="2400" b="1">
                <a:solidFill>
                  <a:srgbClr val="DE580E"/>
                </a:solidFill>
              </a:rPr>
              <a:t>3</a:t>
            </a:r>
          </a:p>
        </p:txBody>
      </p:sp>
      <p:sp>
        <p:nvSpPr>
          <p:cNvPr id="49" name="Text Box 49"/>
          <p:cNvSpPr txBox="1">
            <a:spLocks noChangeArrowheads="1"/>
          </p:cNvSpPr>
          <p:nvPr/>
        </p:nvSpPr>
        <p:spPr bwMode="auto">
          <a:xfrm>
            <a:off x="4872038" y="4761474"/>
            <a:ext cx="43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kumimoji="1" sz="2800">
                <a:solidFill>
                  <a:schemeClr val="tx1"/>
                </a:solidFill>
                <a:latin typeface="Comic Sans MS" pitchFamily="66" charset="0"/>
                <a:ea typeface="宋体" pitchFamily="2" charset="-122"/>
              </a:defRPr>
            </a:lvl1pPr>
            <a:lvl2pPr marL="742950" indent="-285750" eaLnBrk="0" hangingPunct="0">
              <a:defRPr kumimoji="1" sz="2800">
                <a:solidFill>
                  <a:schemeClr val="tx1"/>
                </a:solidFill>
                <a:latin typeface="Comic Sans MS" pitchFamily="66" charset="0"/>
                <a:ea typeface="宋体" pitchFamily="2" charset="-122"/>
              </a:defRPr>
            </a:lvl2pPr>
            <a:lvl3pPr marL="1143000" indent="-228600" eaLnBrk="0" hangingPunct="0">
              <a:defRPr kumimoji="1" sz="2800">
                <a:solidFill>
                  <a:schemeClr val="tx1"/>
                </a:solidFill>
                <a:latin typeface="Comic Sans MS" pitchFamily="66" charset="0"/>
                <a:ea typeface="宋体" pitchFamily="2" charset="-122"/>
              </a:defRPr>
            </a:lvl3pPr>
            <a:lvl4pPr marL="1600200" indent="-228600" eaLnBrk="0" hangingPunct="0">
              <a:defRPr kumimoji="1" sz="2800">
                <a:solidFill>
                  <a:schemeClr val="tx1"/>
                </a:solidFill>
                <a:latin typeface="Comic Sans MS" pitchFamily="66" charset="0"/>
                <a:ea typeface="宋体" pitchFamily="2" charset="-122"/>
              </a:defRPr>
            </a:lvl4pPr>
            <a:lvl5pPr marL="2057400" indent="-228600" eaLnBrk="0" hangingPunct="0">
              <a:defRPr kumimoji="1" sz="2800">
                <a:solidFill>
                  <a:schemeClr val="tx1"/>
                </a:solidFill>
                <a:latin typeface="Comic Sans MS" pitchFamily="66" charset="0"/>
                <a:ea typeface="宋体" pitchFamily="2" charset="-122"/>
              </a:defRPr>
            </a:lvl5pPr>
            <a:lvl6pPr marL="25146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6pPr>
            <a:lvl7pPr marL="29718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7pPr>
            <a:lvl8pPr marL="34290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8pPr>
            <a:lvl9pPr marL="38862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9pPr>
          </a:lstStyle>
          <a:p>
            <a:pPr eaLnBrk="1" hangingPunct="1">
              <a:spcBef>
                <a:spcPct val="50000"/>
              </a:spcBef>
            </a:pPr>
            <a:r>
              <a:rPr lang="en-US" altLang="zh-CN" sz="2400" b="1">
                <a:solidFill>
                  <a:srgbClr val="DE580E"/>
                </a:solidFill>
              </a:rPr>
              <a:t>4</a:t>
            </a:r>
          </a:p>
        </p:txBody>
      </p:sp>
      <p:sp>
        <p:nvSpPr>
          <p:cNvPr id="50" name="Text Box 50"/>
          <p:cNvSpPr txBox="1">
            <a:spLocks noChangeArrowheads="1"/>
          </p:cNvSpPr>
          <p:nvPr/>
        </p:nvSpPr>
        <p:spPr bwMode="auto">
          <a:xfrm>
            <a:off x="5305425" y="4474137"/>
            <a:ext cx="43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kumimoji="1" sz="2800">
                <a:solidFill>
                  <a:schemeClr val="tx1"/>
                </a:solidFill>
                <a:latin typeface="Comic Sans MS" pitchFamily="66" charset="0"/>
                <a:ea typeface="宋体" pitchFamily="2" charset="-122"/>
              </a:defRPr>
            </a:lvl1pPr>
            <a:lvl2pPr marL="742950" indent="-285750" eaLnBrk="0" hangingPunct="0">
              <a:defRPr kumimoji="1" sz="2800">
                <a:solidFill>
                  <a:schemeClr val="tx1"/>
                </a:solidFill>
                <a:latin typeface="Comic Sans MS" pitchFamily="66" charset="0"/>
                <a:ea typeface="宋体" pitchFamily="2" charset="-122"/>
              </a:defRPr>
            </a:lvl2pPr>
            <a:lvl3pPr marL="1143000" indent="-228600" eaLnBrk="0" hangingPunct="0">
              <a:defRPr kumimoji="1" sz="2800">
                <a:solidFill>
                  <a:schemeClr val="tx1"/>
                </a:solidFill>
                <a:latin typeface="Comic Sans MS" pitchFamily="66" charset="0"/>
                <a:ea typeface="宋体" pitchFamily="2" charset="-122"/>
              </a:defRPr>
            </a:lvl3pPr>
            <a:lvl4pPr marL="1600200" indent="-228600" eaLnBrk="0" hangingPunct="0">
              <a:defRPr kumimoji="1" sz="2800">
                <a:solidFill>
                  <a:schemeClr val="tx1"/>
                </a:solidFill>
                <a:latin typeface="Comic Sans MS" pitchFamily="66" charset="0"/>
                <a:ea typeface="宋体" pitchFamily="2" charset="-122"/>
              </a:defRPr>
            </a:lvl4pPr>
            <a:lvl5pPr marL="2057400" indent="-228600" eaLnBrk="0" hangingPunct="0">
              <a:defRPr kumimoji="1" sz="2800">
                <a:solidFill>
                  <a:schemeClr val="tx1"/>
                </a:solidFill>
                <a:latin typeface="Comic Sans MS" pitchFamily="66" charset="0"/>
                <a:ea typeface="宋体" pitchFamily="2" charset="-122"/>
              </a:defRPr>
            </a:lvl5pPr>
            <a:lvl6pPr marL="25146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6pPr>
            <a:lvl7pPr marL="29718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7pPr>
            <a:lvl8pPr marL="34290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8pPr>
            <a:lvl9pPr marL="38862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9pPr>
          </a:lstStyle>
          <a:p>
            <a:pPr eaLnBrk="1" hangingPunct="1">
              <a:spcBef>
                <a:spcPct val="50000"/>
              </a:spcBef>
            </a:pPr>
            <a:r>
              <a:rPr lang="en-US" altLang="zh-CN" sz="2400" b="1" dirty="0">
                <a:solidFill>
                  <a:srgbClr val="DE580E"/>
                </a:solidFill>
              </a:rPr>
              <a:t>7</a:t>
            </a:r>
          </a:p>
        </p:txBody>
      </p:sp>
      <p:sp>
        <p:nvSpPr>
          <p:cNvPr id="51" name="Text Box 51"/>
          <p:cNvSpPr txBox="1">
            <a:spLocks noChangeArrowheads="1"/>
          </p:cNvSpPr>
          <p:nvPr/>
        </p:nvSpPr>
        <p:spPr bwMode="auto">
          <a:xfrm>
            <a:off x="5953125" y="4474137"/>
            <a:ext cx="43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kumimoji="1" sz="2800">
                <a:solidFill>
                  <a:schemeClr val="tx1"/>
                </a:solidFill>
                <a:latin typeface="Comic Sans MS" pitchFamily="66" charset="0"/>
                <a:ea typeface="宋体" pitchFamily="2" charset="-122"/>
              </a:defRPr>
            </a:lvl1pPr>
            <a:lvl2pPr marL="742950" indent="-285750" eaLnBrk="0" hangingPunct="0">
              <a:defRPr kumimoji="1" sz="2800">
                <a:solidFill>
                  <a:schemeClr val="tx1"/>
                </a:solidFill>
                <a:latin typeface="Comic Sans MS" pitchFamily="66" charset="0"/>
                <a:ea typeface="宋体" pitchFamily="2" charset="-122"/>
              </a:defRPr>
            </a:lvl2pPr>
            <a:lvl3pPr marL="1143000" indent="-228600" eaLnBrk="0" hangingPunct="0">
              <a:defRPr kumimoji="1" sz="2800">
                <a:solidFill>
                  <a:schemeClr val="tx1"/>
                </a:solidFill>
                <a:latin typeface="Comic Sans MS" pitchFamily="66" charset="0"/>
                <a:ea typeface="宋体" pitchFamily="2" charset="-122"/>
              </a:defRPr>
            </a:lvl3pPr>
            <a:lvl4pPr marL="1600200" indent="-228600" eaLnBrk="0" hangingPunct="0">
              <a:defRPr kumimoji="1" sz="2800">
                <a:solidFill>
                  <a:schemeClr val="tx1"/>
                </a:solidFill>
                <a:latin typeface="Comic Sans MS" pitchFamily="66" charset="0"/>
                <a:ea typeface="宋体" pitchFamily="2" charset="-122"/>
              </a:defRPr>
            </a:lvl4pPr>
            <a:lvl5pPr marL="2057400" indent="-228600" eaLnBrk="0" hangingPunct="0">
              <a:defRPr kumimoji="1" sz="2800">
                <a:solidFill>
                  <a:schemeClr val="tx1"/>
                </a:solidFill>
                <a:latin typeface="Comic Sans MS" pitchFamily="66" charset="0"/>
                <a:ea typeface="宋体" pitchFamily="2" charset="-122"/>
              </a:defRPr>
            </a:lvl5pPr>
            <a:lvl6pPr marL="25146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6pPr>
            <a:lvl7pPr marL="29718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7pPr>
            <a:lvl8pPr marL="34290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8pPr>
            <a:lvl9pPr marL="38862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9pPr>
          </a:lstStyle>
          <a:p>
            <a:pPr eaLnBrk="1" hangingPunct="1">
              <a:spcBef>
                <a:spcPct val="50000"/>
              </a:spcBef>
            </a:pPr>
            <a:r>
              <a:rPr lang="en-US" altLang="zh-CN" sz="2400" b="1">
                <a:solidFill>
                  <a:srgbClr val="DE580E"/>
                </a:solidFill>
              </a:rPr>
              <a:t>6</a:t>
            </a:r>
          </a:p>
        </p:txBody>
      </p:sp>
      <p:sp>
        <p:nvSpPr>
          <p:cNvPr id="52" name="Text Box 52"/>
          <p:cNvSpPr txBox="1">
            <a:spLocks noChangeArrowheads="1"/>
          </p:cNvSpPr>
          <p:nvPr/>
        </p:nvSpPr>
        <p:spPr bwMode="auto">
          <a:xfrm>
            <a:off x="6745288" y="4617012"/>
            <a:ext cx="43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kumimoji="1" sz="2800">
                <a:solidFill>
                  <a:schemeClr val="tx1"/>
                </a:solidFill>
                <a:latin typeface="Comic Sans MS" pitchFamily="66" charset="0"/>
                <a:ea typeface="宋体" pitchFamily="2" charset="-122"/>
              </a:defRPr>
            </a:lvl1pPr>
            <a:lvl2pPr marL="742950" indent="-285750" eaLnBrk="0" hangingPunct="0">
              <a:defRPr kumimoji="1" sz="2800">
                <a:solidFill>
                  <a:schemeClr val="tx1"/>
                </a:solidFill>
                <a:latin typeface="Comic Sans MS" pitchFamily="66" charset="0"/>
                <a:ea typeface="宋体" pitchFamily="2" charset="-122"/>
              </a:defRPr>
            </a:lvl2pPr>
            <a:lvl3pPr marL="1143000" indent="-228600" eaLnBrk="0" hangingPunct="0">
              <a:defRPr kumimoji="1" sz="2800">
                <a:solidFill>
                  <a:schemeClr val="tx1"/>
                </a:solidFill>
                <a:latin typeface="Comic Sans MS" pitchFamily="66" charset="0"/>
                <a:ea typeface="宋体" pitchFamily="2" charset="-122"/>
              </a:defRPr>
            </a:lvl3pPr>
            <a:lvl4pPr marL="1600200" indent="-228600" eaLnBrk="0" hangingPunct="0">
              <a:defRPr kumimoji="1" sz="2800">
                <a:solidFill>
                  <a:schemeClr val="tx1"/>
                </a:solidFill>
                <a:latin typeface="Comic Sans MS" pitchFamily="66" charset="0"/>
                <a:ea typeface="宋体" pitchFamily="2" charset="-122"/>
              </a:defRPr>
            </a:lvl4pPr>
            <a:lvl5pPr marL="2057400" indent="-228600" eaLnBrk="0" hangingPunct="0">
              <a:defRPr kumimoji="1" sz="2800">
                <a:solidFill>
                  <a:schemeClr val="tx1"/>
                </a:solidFill>
                <a:latin typeface="Comic Sans MS" pitchFamily="66" charset="0"/>
                <a:ea typeface="宋体" pitchFamily="2" charset="-122"/>
              </a:defRPr>
            </a:lvl5pPr>
            <a:lvl6pPr marL="25146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6pPr>
            <a:lvl7pPr marL="29718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7pPr>
            <a:lvl8pPr marL="34290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8pPr>
            <a:lvl9pPr marL="38862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9pPr>
          </a:lstStyle>
          <a:p>
            <a:pPr eaLnBrk="1" hangingPunct="1">
              <a:spcBef>
                <a:spcPct val="50000"/>
              </a:spcBef>
            </a:pPr>
            <a:r>
              <a:rPr lang="en-US" altLang="zh-CN" sz="2400" b="1">
                <a:solidFill>
                  <a:srgbClr val="DE580E"/>
                </a:solidFill>
              </a:rPr>
              <a:t>9</a:t>
            </a:r>
          </a:p>
        </p:txBody>
      </p:sp>
      <p:sp>
        <p:nvSpPr>
          <p:cNvPr id="73" name="矩形 72"/>
          <p:cNvSpPr/>
          <p:nvPr/>
        </p:nvSpPr>
        <p:spPr>
          <a:xfrm>
            <a:off x="5849778" y="5805265"/>
            <a:ext cx="492443" cy="461665"/>
          </a:xfrm>
          <a:prstGeom prst="rect">
            <a:avLst/>
          </a:prstGeom>
        </p:spPr>
        <p:txBody>
          <a:bodyPr wrap="none">
            <a:spAutoFit/>
          </a:bodyPr>
          <a:lstStyle/>
          <a:p>
            <a:r>
              <a:rPr kumimoji="1" lang="zh-CN" altLang="en-US" sz="2400" dirty="0">
                <a:latin typeface="微软雅黑" pitchFamily="34" charset="-122"/>
                <a:ea typeface="微软雅黑" pitchFamily="34" charset="-122"/>
                <a:cs typeface="经典粗黑简" pitchFamily="49" charset="-122"/>
              </a:rPr>
              <a:t>网</a:t>
            </a:r>
          </a:p>
        </p:txBody>
      </p:sp>
      <p:sp>
        <p:nvSpPr>
          <p:cNvPr id="36" name="矩形 35"/>
          <p:cNvSpPr/>
          <p:nvPr/>
        </p:nvSpPr>
        <p:spPr>
          <a:xfrm>
            <a:off x="3079789" y="2390668"/>
            <a:ext cx="1467068" cy="400110"/>
          </a:xfrm>
          <a:prstGeom prst="rect">
            <a:avLst/>
          </a:prstGeom>
        </p:spPr>
        <p:txBody>
          <a:bodyPr wrap="none">
            <a:spAutoFit/>
          </a:bodyPr>
          <a:lstStyle/>
          <a:p>
            <a:r>
              <a:rPr kumimoji="1" lang="en-US" altLang="zh-CN" sz="2000" dirty="0">
                <a:latin typeface="微软雅黑" pitchFamily="34" charset="-122"/>
                <a:ea typeface="微软雅黑" pitchFamily="34" charset="-122"/>
                <a:cs typeface="经典粗黑简" pitchFamily="49" charset="-122"/>
              </a:rPr>
              <a:t>⑹</a:t>
            </a:r>
            <a:r>
              <a:rPr kumimoji="1" lang="zh-CN" altLang="en-US" sz="2000" dirty="0">
                <a:latin typeface="微软雅黑" pitchFamily="34" charset="-122"/>
                <a:ea typeface="微软雅黑" pitchFamily="34" charset="-122"/>
                <a:cs typeface="经典粗黑简" pitchFamily="49" charset="-122"/>
              </a:rPr>
              <a:t>、权和网</a:t>
            </a:r>
          </a:p>
        </p:txBody>
      </p:sp>
      <p:sp>
        <p:nvSpPr>
          <p:cNvPr id="6" name="矩形 5"/>
          <p:cNvSpPr/>
          <p:nvPr/>
        </p:nvSpPr>
        <p:spPr>
          <a:xfrm>
            <a:off x="3103791" y="2844224"/>
            <a:ext cx="4544834" cy="400110"/>
          </a:xfrm>
          <a:prstGeom prst="rect">
            <a:avLst/>
          </a:prstGeom>
        </p:spPr>
        <p:txBody>
          <a:bodyPr wrap="none">
            <a:spAutoFit/>
          </a:bodyPr>
          <a:lstStyle/>
          <a:p>
            <a:r>
              <a:rPr kumimoji="1" lang="zh-CN" altLang="en-US" sz="2000" dirty="0">
                <a:solidFill>
                  <a:srgbClr val="FF0000"/>
                </a:solidFill>
                <a:latin typeface="微软雅黑" pitchFamily="34" charset="-122"/>
                <a:ea typeface="微软雅黑" pitchFamily="34" charset="-122"/>
                <a:cs typeface="经典粗黑简" pitchFamily="49" charset="-122"/>
              </a:rPr>
              <a:t>权</a:t>
            </a:r>
            <a:r>
              <a:rPr kumimoji="1" lang="zh-CN" altLang="en-US" sz="2000" dirty="0">
                <a:latin typeface="微软雅黑" pitchFamily="34" charset="-122"/>
                <a:ea typeface="微软雅黑" pitchFamily="34" charset="-122"/>
                <a:cs typeface="经典粗黑简" pitchFamily="49" charset="-122"/>
              </a:rPr>
              <a:t>：是指对边赋予的有意义的数值量。</a:t>
            </a:r>
          </a:p>
        </p:txBody>
      </p:sp>
      <p:sp>
        <p:nvSpPr>
          <p:cNvPr id="7" name="矩形 6"/>
          <p:cNvSpPr/>
          <p:nvPr/>
        </p:nvSpPr>
        <p:spPr>
          <a:xfrm>
            <a:off x="3103791" y="3244914"/>
            <a:ext cx="3518912" cy="400110"/>
          </a:xfrm>
          <a:prstGeom prst="rect">
            <a:avLst/>
          </a:prstGeom>
        </p:spPr>
        <p:txBody>
          <a:bodyPr wrap="none">
            <a:spAutoFit/>
          </a:bodyPr>
          <a:lstStyle/>
          <a:p>
            <a:r>
              <a:rPr kumimoji="1" lang="zh-CN" altLang="en-US" sz="2000" dirty="0">
                <a:solidFill>
                  <a:srgbClr val="FF0000"/>
                </a:solidFill>
                <a:latin typeface="微软雅黑" pitchFamily="34" charset="-122"/>
                <a:ea typeface="微软雅黑" pitchFamily="34" charset="-122"/>
                <a:cs typeface="经典粗黑简" pitchFamily="49" charset="-122"/>
              </a:rPr>
              <a:t>网</a:t>
            </a:r>
            <a:r>
              <a:rPr kumimoji="1" lang="zh-CN" altLang="en-US" sz="2000" dirty="0">
                <a:latin typeface="微软雅黑" pitchFamily="34" charset="-122"/>
                <a:ea typeface="微软雅黑" pitchFamily="34" charset="-122"/>
                <a:cs typeface="经典粗黑简" pitchFamily="49" charset="-122"/>
              </a:rPr>
              <a:t>：边上带权的图，也称网。</a:t>
            </a:r>
          </a:p>
        </p:txBody>
      </p:sp>
      <p:sp>
        <p:nvSpPr>
          <p:cNvPr id="2" name="矩形 1">
            <a:extLst>
              <a:ext uri="{FF2B5EF4-FFF2-40B4-BE49-F238E27FC236}">
                <a16:creationId xmlns:a16="http://schemas.microsoft.com/office/drawing/2014/main" id="{7F397E9A-3E00-96A5-0754-2061418CADBD}"/>
              </a:ext>
            </a:extLst>
          </p:cNvPr>
          <p:cNvSpPr/>
          <p:nvPr/>
        </p:nvSpPr>
        <p:spPr>
          <a:xfrm>
            <a:off x="4421120" y="339686"/>
            <a:ext cx="3637792"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8.1 </a:t>
            </a:r>
            <a:r>
              <a:rPr lang="zh-CN" altLang="en-US" sz="3000" b="1" dirty="0">
                <a:latin typeface="黑体" pitchFamily="49" charset="-122"/>
                <a:ea typeface="黑体" pitchFamily="49" charset="-122"/>
                <a:cs typeface="经典粗黑简" pitchFamily="49" charset="-122"/>
              </a:rPr>
              <a:t>图的基本概念</a:t>
            </a:r>
          </a:p>
        </p:txBody>
      </p:sp>
      <p:sp>
        <p:nvSpPr>
          <p:cNvPr id="3" name="Rectangle 2">
            <a:extLst>
              <a:ext uri="{FF2B5EF4-FFF2-40B4-BE49-F238E27FC236}">
                <a16:creationId xmlns:a16="http://schemas.microsoft.com/office/drawing/2014/main" id="{16428894-4E5D-DD1E-9860-9A7DD7F20139}"/>
              </a:ext>
            </a:extLst>
          </p:cNvPr>
          <p:cNvSpPr txBox="1">
            <a:spLocks noChangeArrowheads="1"/>
          </p:cNvSpPr>
          <p:nvPr/>
        </p:nvSpPr>
        <p:spPr>
          <a:xfrm>
            <a:off x="407368" y="1167247"/>
            <a:ext cx="3528392"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8.1.2 </a:t>
            </a:r>
            <a:r>
              <a:rPr lang="zh-CN" altLang="en-US" dirty="0"/>
              <a:t>图的基本术语</a:t>
            </a:r>
          </a:p>
        </p:txBody>
      </p:sp>
      <p:cxnSp>
        <p:nvCxnSpPr>
          <p:cNvPr id="4" name="直接连接符 3">
            <a:extLst>
              <a:ext uri="{FF2B5EF4-FFF2-40B4-BE49-F238E27FC236}">
                <a16:creationId xmlns:a16="http://schemas.microsoft.com/office/drawing/2014/main" id="{1EAD8237-E952-29E0-A2C6-28E13F268083}"/>
              </a:ext>
            </a:extLst>
          </p:cNvPr>
          <p:cNvCxnSpPr>
            <a:cxnSpLocks/>
          </p:cNvCxnSpPr>
          <p:nvPr/>
        </p:nvCxnSpPr>
        <p:spPr>
          <a:xfrm>
            <a:off x="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274010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7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27" grpId="0"/>
      <p:bldP spid="28" grpId="0"/>
      <p:bldP spid="29" grpId="0"/>
      <p:bldP spid="37" grpId="0"/>
      <p:bldP spid="48" grpId="0"/>
      <p:bldP spid="49" grpId="0"/>
      <p:bldP spid="50" grpId="0"/>
      <p:bldP spid="51" grpId="0"/>
      <p:bldP spid="52" grpId="0"/>
      <p:bldP spid="73"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矩形 37"/>
          <p:cNvSpPr/>
          <p:nvPr/>
        </p:nvSpPr>
        <p:spPr>
          <a:xfrm>
            <a:off x="3035660" y="2793122"/>
            <a:ext cx="7236804" cy="707886"/>
          </a:xfrm>
          <a:prstGeom prst="rect">
            <a:avLst/>
          </a:prstGeom>
        </p:spPr>
        <p:txBody>
          <a:bodyPr wrap="square">
            <a:spAutoFit/>
          </a:bodyPr>
          <a:lstStyle/>
          <a:p>
            <a:r>
              <a:rPr kumimoji="1" lang="zh-CN" altLang="en-US" sz="2000" dirty="0">
                <a:latin typeface="微软雅黑" pitchFamily="34" charset="-122"/>
                <a:ea typeface="微软雅黑" pitchFamily="34" charset="-122"/>
                <a:cs typeface="经典粗黑简" pitchFamily="49" charset="-122"/>
              </a:rPr>
              <a:t>设图</a:t>
            </a:r>
            <a:r>
              <a:rPr kumimoji="1" lang="en-US" altLang="zh-CN" sz="2000" dirty="0">
                <a:latin typeface="微软雅黑" pitchFamily="34" charset="-122"/>
                <a:ea typeface="微软雅黑" pitchFamily="34" charset="-122"/>
                <a:cs typeface="经典粗黑简" pitchFamily="49" charset="-122"/>
              </a:rPr>
              <a:t>G1=(V1,E1)</a:t>
            </a:r>
            <a:r>
              <a:rPr kumimoji="1" lang="zh-CN" altLang="en-US" sz="2000" dirty="0">
                <a:latin typeface="微软雅黑" pitchFamily="34" charset="-122"/>
                <a:ea typeface="微软雅黑" pitchFamily="34" charset="-122"/>
                <a:cs typeface="经典粗黑简" pitchFamily="49" charset="-122"/>
              </a:rPr>
              <a:t>和图</a:t>
            </a:r>
            <a:r>
              <a:rPr kumimoji="1" lang="en-US" altLang="zh-CN" sz="2000" dirty="0">
                <a:latin typeface="微软雅黑" pitchFamily="34" charset="-122"/>
                <a:ea typeface="微软雅黑" pitchFamily="34" charset="-122"/>
                <a:cs typeface="经典粗黑简" pitchFamily="49" charset="-122"/>
              </a:rPr>
              <a:t>G2=(V2,E2)</a:t>
            </a:r>
            <a:r>
              <a:rPr kumimoji="1" lang="zh-CN" altLang="en-US" sz="2000" dirty="0">
                <a:latin typeface="微软雅黑" pitchFamily="34" charset="-122"/>
                <a:ea typeface="微软雅黑" pitchFamily="34" charset="-122"/>
                <a:cs typeface="经典粗黑简" pitchFamily="49" charset="-122"/>
              </a:rPr>
              <a:t>，若</a:t>
            </a:r>
            <a:r>
              <a:rPr kumimoji="1" lang="en-US" altLang="zh-CN" sz="2000" dirty="0">
                <a:latin typeface="微软雅黑" pitchFamily="34" charset="-122"/>
                <a:ea typeface="微软雅黑" pitchFamily="34" charset="-122"/>
                <a:cs typeface="经典粗黑简" pitchFamily="49" charset="-122"/>
              </a:rPr>
              <a:t>V2⊆V1</a:t>
            </a:r>
            <a:r>
              <a:rPr kumimoji="1" lang="zh-CN" altLang="en-US" sz="2000" dirty="0">
                <a:latin typeface="微软雅黑" pitchFamily="34" charset="-122"/>
                <a:ea typeface="微软雅黑" pitchFamily="34" charset="-122"/>
                <a:cs typeface="经典粗黑简" pitchFamily="49" charset="-122"/>
              </a:rPr>
              <a:t>且</a:t>
            </a:r>
            <a:r>
              <a:rPr kumimoji="1" lang="en-US" altLang="zh-CN" sz="2000" dirty="0">
                <a:latin typeface="微软雅黑" pitchFamily="34" charset="-122"/>
                <a:ea typeface="微软雅黑" pitchFamily="34" charset="-122"/>
                <a:cs typeface="经典粗黑简" pitchFamily="49" charset="-122"/>
              </a:rPr>
              <a:t>E2⊆E1</a:t>
            </a:r>
            <a:r>
              <a:rPr kumimoji="1" lang="zh-CN" altLang="en-US" sz="2000" dirty="0">
                <a:latin typeface="微软雅黑" pitchFamily="34" charset="-122"/>
                <a:ea typeface="微软雅黑" pitchFamily="34" charset="-122"/>
                <a:cs typeface="经典粗黑简" pitchFamily="49" charset="-122"/>
              </a:rPr>
              <a:t>，则称图</a:t>
            </a:r>
            <a:r>
              <a:rPr kumimoji="1" lang="en-US" altLang="zh-CN" sz="2000" dirty="0">
                <a:latin typeface="微软雅黑" pitchFamily="34" charset="-122"/>
                <a:ea typeface="微软雅黑" pitchFamily="34" charset="-122"/>
                <a:cs typeface="经典粗黑简" pitchFamily="49" charset="-122"/>
              </a:rPr>
              <a:t>G2</a:t>
            </a:r>
            <a:r>
              <a:rPr kumimoji="1" lang="zh-CN" altLang="en-US" sz="2000" dirty="0">
                <a:latin typeface="微软雅黑" pitchFamily="34" charset="-122"/>
                <a:ea typeface="微软雅黑" pitchFamily="34" charset="-122"/>
                <a:cs typeface="经典粗黑简" pitchFamily="49" charset="-122"/>
              </a:rPr>
              <a:t>是图</a:t>
            </a:r>
            <a:r>
              <a:rPr kumimoji="1" lang="en-US" altLang="zh-CN" sz="2000" dirty="0">
                <a:latin typeface="微软雅黑" pitchFamily="34" charset="-122"/>
                <a:ea typeface="微软雅黑" pitchFamily="34" charset="-122"/>
                <a:cs typeface="经典粗黑简" pitchFamily="49" charset="-122"/>
              </a:rPr>
              <a:t>G1</a:t>
            </a:r>
            <a:r>
              <a:rPr kumimoji="1" lang="zh-CN" altLang="en-US" sz="2000" dirty="0">
                <a:latin typeface="微软雅黑" pitchFamily="34" charset="-122"/>
                <a:ea typeface="微软雅黑" pitchFamily="34" charset="-122"/>
                <a:cs typeface="经典粗黑简" pitchFamily="49" charset="-122"/>
              </a:rPr>
              <a:t>的</a:t>
            </a:r>
            <a:r>
              <a:rPr kumimoji="1" lang="zh-CN" altLang="en-US" sz="2000" dirty="0">
                <a:solidFill>
                  <a:srgbClr val="FF0000"/>
                </a:solidFill>
                <a:latin typeface="微软雅黑" pitchFamily="34" charset="-122"/>
                <a:ea typeface="微软雅黑" pitchFamily="34" charset="-122"/>
                <a:cs typeface="经典粗黑简" pitchFamily="49" charset="-122"/>
              </a:rPr>
              <a:t>子图</a:t>
            </a:r>
            <a:r>
              <a:rPr kumimoji="1" lang="zh-CN" altLang="en-US" sz="2000" dirty="0">
                <a:latin typeface="微软雅黑" pitchFamily="34" charset="-122"/>
                <a:ea typeface="微软雅黑" pitchFamily="34" charset="-122"/>
                <a:cs typeface="经典粗黑简" pitchFamily="49" charset="-122"/>
              </a:rPr>
              <a:t>。</a:t>
            </a:r>
          </a:p>
        </p:txBody>
      </p:sp>
      <p:sp>
        <p:nvSpPr>
          <p:cNvPr id="54" name="矩形 53"/>
          <p:cNvSpPr/>
          <p:nvPr/>
        </p:nvSpPr>
        <p:spPr>
          <a:xfrm>
            <a:off x="3079789" y="2390668"/>
            <a:ext cx="1210588" cy="400110"/>
          </a:xfrm>
          <a:prstGeom prst="rect">
            <a:avLst/>
          </a:prstGeom>
        </p:spPr>
        <p:txBody>
          <a:bodyPr wrap="none">
            <a:spAutoFit/>
          </a:bodyPr>
          <a:lstStyle/>
          <a:p>
            <a:r>
              <a:rPr kumimoji="1" lang="en-US" altLang="zh-CN" sz="2000" dirty="0">
                <a:latin typeface="微软雅黑" pitchFamily="34" charset="-122"/>
                <a:ea typeface="微软雅黑" pitchFamily="34" charset="-122"/>
                <a:cs typeface="经典粗黑简" pitchFamily="49" charset="-122"/>
              </a:rPr>
              <a:t>⑺</a:t>
            </a:r>
            <a:r>
              <a:rPr kumimoji="1" lang="zh-CN" altLang="en-US" sz="2000" dirty="0">
                <a:latin typeface="微软雅黑" pitchFamily="34" charset="-122"/>
                <a:ea typeface="微软雅黑" pitchFamily="34" charset="-122"/>
                <a:cs typeface="经典粗黑简" pitchFamily="49" charset="-122"/>
              </a:rPr>
              <a:t>、子图</a:t>
            </a:r>
          </a:p>
        </p:txBody>
      </p:sp>
      <p:grpSp>
        <p:nvGrpSpPr>
          <p:cNvPr id="59" name="Group 10"/>
          <p:cNvGrpSpPr>
            <a:grpSpLocks/>
          </p:cNvGrpSpPr>
          <p:nvPr/>
        </p:nvGrpSpPr>
        <p:grpSpPr bwMode="auto">
          <a:xfrm>
            <a:off x="5388038" y="3656935"/>
            <a:ext cx="2016125" cy="1943100"/>
            <a:chOff x="2653" y="346"/>
            <a:chExt cx="1270" cy="1224"/>
          </a:xfrm>
        </p:grpSpPr>
        <p:sp>
          <p:nvSpPr>
            <p:cNvPr id="60" name="Oval 11"/>
            <p:cNvSpPr>
              <a:spLocks noChangeArrowheads="1"/>
            </p:cNvSpPr>
            <p:nvPr/>
          </p:nvSpPr>
          <p:spPr bwMode="auto">
            <a:xfrm>
              <a:off x="2653" y="346"/>
              <a:ext cx="317" cy="317"/>
            </a:xfrm>
            <a:prstGeom prst="ellipse">
              <a:avLst/>
            </a:prstGeom>
            <a:solidFill>
              <a:schemeClr val="bg1"/>
            </a:solidFill>
            <a:ln w="19050" cap="sq">
              <a:solidFill>
                <a:srgbClr val="0033CC"/>
              </a:solidFill>
              <a:miter lim="800000"/>
              <a:headEnd type="none" w="sm" len="sm"/>
              <a:tailEnd type="none" w="sm" len="sm"/>
            </a:ln>
          </p:spPr>
          <p:txBody>
            <a:bodyPr wrap="none" tIns="0" anchorCtr="1"/>
            <a:lstStyle/>
            <a:p>
              <a:r>
                <a:rPr lang="en-US" altLang="zh-CN"/>
                <a:t>v</a:t>
              </a:r>
              <a:r>
                <a:rPr lang="en-US" altLang="zh-CN" baseline="-25000"/>
                <a:t>1</a:t>
              </a:r>
            </a:p>
          </p:txBody>
        </p:sp>
        <p:sp>
          <p:nvSpPr>
            <p:cNvPr id="61" name="Oval 12"/>
            <p:cNvSpPr>
              <a:spLocks noChangeArrowheads="1"/>
            </p:cNvSpPr>
            <p:nvPr/>
          </p:nvSpPr>
          <p:spPr bwMode="auto">
            <a:xfrm>
              <a:off x="3606" y="346"/>
              <a:ext cx="317" cy="317"/>
            </a:xfrm>
            <a:prstGeom prst="ellipse">
              <a:avLst/>
            </a:prstGeom>
            <a:solidFill>
              <a:schemeClr val="bg1"/>
            </a:solidFill>
            <a:ln w="19050" cap="sq">
              <a:solidFill>
                <a:srgbClr val="0033CC"/>
              </a:solidFill>
              <a:miter lim="800000"/>
              <a:headEnd type="none" w="sm" len="sm"/>
              <a:tailEnd type="none" w="sm" len="sm"/>
            </a:ln>
          </p:spPr>
          <p:txBody>
            <a:bodyPr wrap="none" tIns="0" anchorCtr="1"/>
            <a:lstStyle/>
            <a:p>
              <a:r>
                <a:rPr lang="en-US" altLang="zh-CN"/>
                <a:t>v</a:t>
              </a:r>
              <a:r>
                <a:rPr lang="en-US" altLang="zh-CN" baseline="-25000"/>
                <a:t>2</a:t>
              </a:r>
            </a:p>
          </p:txBody>
        </p:sp>
        <p:sp>
          <p:nvSpPr>
            <p:cNvPr id="62" name="Oval 13"/>
            <p:cNvSpPr>
              <a:spLocks noChangeArrowheads="1"/>
            </p:cNvSpPr>
            <p:nvPr/>
          </p:nvSpPr>
          <p:spPr bwMode="auto">
            <a:xfrm>
              <a:off x="3605" y="1253"/>
              <a:ext cx="317" cy="317"/>
            </a:xfrm>
            <a:prstGeom prst="ellipse">
              <a:avLst/>
            </a:prstGeom>
            <a:solidFill>
              <a:schemeClr val="bg1"/>
            </a:solidFill>
            <a:ln w="19050" cap="sq">
              <a:solidFill>
                <a:srgbClr val="0033CC"/>
              </a:solidFill>
              <a:miter lim="800000"/>
              <a:headEnd type="none" w="sm" len="sm"/>
              <a:tailEnd type="none" w="sm" len="sm"/>
            </a:ln>
          </p:spPr>
          <p:txBody>
            <a:bodyPr wrap="none" tIns="0" anchorCtr="1"/>
            <a:lstStyle/>
            <a:p>
              <a:r>
                <a:rPr lang="en-US" altLang="zh-CN"/>
                <a:t>v</a:t>
              </a:r>
              <a:r>
                <a:rPr lang="en-US" altLang="zh-CN" baseline="-25000"/>
                <a:t>4</a:t>
              </a:r>
            </a:p>
          </p:txBody>
        </p:sp>
        <p:sp>
          <p:nvSpPr>
            <p:cNvPr id="63" name="Oval 14"/>
            <p:cNvSpPr>
              <a:spLocks noChangeArrowheads="1"/>
            </p:cNvSpPr>
            <p:nvPr/>
          </p:nvSpPr>
          <p:spPr bwMode="auto">
            <a:xfrm>
              <a:off x="3152" y="801"/>
              <a:ext cx="317" cy="317"/>
            </a:xfrm>
            <a:prstGeom prst="ellipse">
              <a:avLst/>
            </a:prstGeom>
            <a:solidFill>
              <a:schemeClr val="bg1"/>
            </a:solidFill>
            <a:ln w="19050" cap="sq">
              <a:solidFill>
                <a:srgbClr val="0033CC"/>
              </a:solidFill>
              <a:miter lim="800000"/>
              <a:headEnd type="none" w="sm" len="sm"/>
              <a:tailEnd type="none" w="sm" len="sm"/>
            </a:ln>
          </p:spPr>
          <p:txBody>
            <a:bodyPr wrap="none" tIns="0" anchorCtr="1"/>
            <a:lstStyle/>
            <a:p>
              <a:r>
                <a:rPr lang="en-US" altLang="zh-CN"/>
                <a:t>v</a:t>
              </a:r>
              <a:r>
                <a:rPr lang="en-US" altLang="zh-CN" baseline="-25000"/>
                <a:t>3</a:t>
              </a:r>
            </a:p>
          </p:txBody>
        </p:sp>
        <p:sp>
          <p:nvSpPr>
            <p:cNvPr id="64" name="Line 15"/>
            <p:cNvSpPr>
              <a:spLocks noChangeShapeType="1"/>
            </p:cNvSpPr>
            <p:nvPr/>
          </p:nvSpPr>
          <p:spPr bwMode="auto">
            <a:xfrm>
              <a:off x="2970" y="482"/>
              <a:ext cx="635" cy="0"/>
            </a:xfrm>
            <a:prstGeom prst="line">
              <a:avLst/>
            </a:prstGeom>
            <a:noFill/>
            <a:ln w="19050" cap="sq">
              <a:solidFill>
                <a:srgbClr val="0033CC"/>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65" name="Line 16"/>
            <p:cNvSpPr>
              <a:spLocks noChangeShapeType="1"/>
            </p:cNvSpPr>
            <p:nvPr/>
          </p:nvSpPr>
          <p:spPr bwMode="auto">
            <a:xfrm>
              <a:off x="3424" y="1072"/>
              <a:ext cx="227" cy="227"/>
            </a:xfrm>
            <a:prstGeom prst="line">
              <a:avLst/>
            </a:prstGeom>
            <a:noFill/>
            <a:ln w="19050" cap="sq">
              <a:solidFill>
                <a:srgbClr val="0033CC"/>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66" name="Line 17"/>
            <p:cNvSpPr>
              <a:spLocks noChangeShapeType="1"/>
            </p:cNvSpPr>
            <p:nvPr/>
          </p:nvSpPr>
          <p:spPr bwMode="auto">
            <a:xfrm flipH="1">
              <a:off x="3424" y="619"/>
              <a:ext cx="227" cy="226"/>
            </a:xfrm>
            <a:prstGeom prst="line">
              <a:avLst/>
            </a:prstGeom>
            <a:noFill/>
            <a:ln w="19050" cap="sq">
              <a:solidFill>
                <a:srgbClr val="0033CC"/>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67" name="Group 26"/>
          <p:cNvGrpSpPr>
            <a:grpSpLocks/>
          </p:cNvGrpSpPr>
          <p:nvPr/>
        </p:nvGrpSpPr>
        <p:grpSpPr bwMode="auto">
          <a:xfrm>
            <a:off x="2868675" y="3637459"/>
            <a:ext cx="2016125" cy="1944687"/>
            <a:chOff x="975" y="1706"/>
            <a:chExt cx="1270" cy="1225"/>
          </a:xfrm>
        </p:grpSpPr>
        <p:sp>
          <p:nvSpPr>
            <p:cNvPr id="68" name="Oval 27"/>
            <p:cNvSpPr>
              <a:spLocks noChangeArrowheads="1"/>
            </p:cNvSpPr>
            <p:nvPr/>
          </p:nvSpPr>
          <p:spPr bwMode="auto">
            <a:xfrm>
              <a:off x="975" y="1706"/>
              <a:ext cx="317" cy="317"/>
            </a:xfrm>
            <a:prstGeom prst="ellipse">
              <a:avLst/>
            </a:prstGeom>
            <a:solidFill>
              <a:schemeClr val="bg1"/>
            </a:solidFill>
            <a:ln w="19050" cap="sq">
              <a:solidFill>
                <a:srgbClr val="0033CC"/>
              </a:solidFill>
              <a:miter lim="800000"/>
              <a:headEnd type="none" w="sm" len="sm"/>
              <a:tailEnd type="none" w="sm" len="sm"/>
            </a:ln>
          </p:spPr>
          <p:txBody>
            <a:bodyPr wrap="none" tIns="0" anchorCtr="1"/>
            <a:lstStyle/>
            <a:p>
              <a:r>
                <a:rPr lang="en-US" altLang="zh-CN"/>
                <a:t>v</a:t>
              </a:r>
              <a:r>
                <a:rPr lang="en-US" altLang="zh-CN" baseline="-25000"/>
                <a:t>1</a:t>
              </a:r>
            </a:p>
          </p:txBody>
        </p:sp>
        <p:sp>
          <p:nvSpPr>
            <p:cNvPr id="69" name="Oval 28"/>
            <p:cNvSpPr>
              <a:spLocks noChangeArrowheads="1"/>
            </p:cNvSpPr>
            <p:nvPr/>
          </p:nvSpPr>
          <p:spPr bwMode="auto">
            <a:xfrm>
              <a:off x="1928" y="1706"/>
              <a:ext cx="317" cy="317"/>
            </a:xfrm>
            <a:prstGeom prst="ellipse">
              <a:avLst/>
            </a:prstGeom>
            <a:solidFill>
              <a:schemeClr val="bg1"/>
            </a:solidFill>
            <a:ln w="19050" cap="sq">
              <a:solidFill>
                <a:srgbClr val="0033CC"/>
              </a:solidFill>
              <a:miter lim="800000"/>
              <a:headEnd type="none" w="sm" len="sm"/>
              <a:tailEnd type="none" w="sm" len="sm"/>
            </a:ln>
          </p:spPr>
          <p:txBody>
            <a:bodyPr wrap="none" tIns="0" anchorCtr="1"/>
            <a:lstStyle/>
            <a:p>
              <a:r>
                <a:rPr lang="en-US" altLang="zh-CN"/>
                <a:t>v</a:t>
              </a:r>
              <a:r>
                <a:rPr lang="en-US" altLang="zh-CN" baseline="-25000"/>
                <a:t>2</a:t>
              </a:r>
            </a:p>
          </p:txBody>
        </p:sp>
        <p:sp>
          <p:nvSpPr>
            <p:cNvPr id="71" name="Oval 29"/>
            <p:cNvSpPr>
              <a:spLocks noChangeArrowheads="1"/>
            </p:cNvSpPr>
            <p:nvPr/>
          </p:nvSpPr>
          <p:spPr bwMode="auto">
            <a:xfrm>
              <a:off x="975" y="2614"/>
              <a:ext cx="317" cy="317"/>
            </a:xfrm>
            <a:prstGeom prst="ellipse">
              <a:avLst/>
            </a:prstGeom>
            <a:solidFill>
              <a:schemeClr val="bg1"/>
            </a:solidFill>
            <a:ln w="19050" cap="sq">
              <a:solidFill>
                <a:srgbClr val="0033CC"/>
              </a:solidFill>
              <a:miter lim="800000"/>
              <a:headEnd type="none" w="sm" len="sm"/>
              <a:tailEnd type="none" w="sm" len="sm"/>
            </a:ln>
          </p:spPr>
          <p:txBody>
            <a:bodyPr wrap="none" tIns="0" anchorCtr="1"/>
            <a:lstStyle/>
            <a:p>
              <a:r>
                <a:rPr lang="en-US" altLang="zh-CN"/>
                <a:t>v</a:t>
              </a:r>
              <a:r>
                <a:rPr lang="en-US" altLang="zh-CN" baseline="-25000"/>
                <a:t>5</a:t>
              </a:r>
            </a:p>
          </p:txBody>
        </p:sp>
        <p:sp>
          <p:nvSpPr>
            <p:cNvPr id="72" name="Oval 30"/>
            <p:cNvSpPr>
              <a:spLocks noChangeArrowheads="1"/>
            </p:cNvSpPr>
            <p:nvPr/>
          </p:nvSpPr>
          <p:spPr bwMode="auto">
            <a:xfrm>
              <a:off x="1927" y="2613"/>
              <a:ext cx="317" cy="317"/>
            </a:xfrm>
            <a:prstGeom prst="ellipse">
              <a:avLst/>
            </a:prstGeom>
            <a:solidFill>
              <a:schemeClr val="bg1"/>
            </a:solidFill>
            <a:ln w="19050" cap="sq">
              <a:solidFill>
                <a:srgbClr val="0033CC"/>
              </a:solidFill>
              <a:miter lim="800000"/>
              <a:headEnd type="none" w="sm" len="sm"/>
              <a:tailEnd type="none" w="sm" len="sm"/>
            </a:ln>
          </p:spPr>
          <p:txBody>
            <a:bodyPr wrap="none" tIns="0" anchorCtr="1"/>
            <a:lstStyle/>
            <a:p>
              <a:r>
                <a:rPr lang="en-US" altLang="zh-CN"/>
                <a:t>v</a:t>
              </a:r>
              <a:r>
                <a:rPr lang="en-US" altLang="zh-CN" baseline="-25000"/>
                <a:t>4</a:t>
              </a:r>
            </a:p>
          </p:txBody>
        </p:sp>
        <p:sp>
          <p:nvSpPr>
            <p:cNvPr id="73" name="Oval 31"/>
            <p:cNvSpPr>
              <a:spLocks noChangeArrowheads="1"/>
            </p:cNvSpPr>
            <p:nvPr/>
          </p:nvSpPr>
          <p:spPr bwMode="auto">
            <a:xfrm>
              <a:off x="1474" y="2161"/>
              <a:ext cx="317" cy="317"/>
            </a:xfrm>
            <a:prstGeom prst="ellipse">
              <a:avLst/>
            </a:prstGeom>
            <a:solidFill>
              <a:schemeClr val="bg1"/>
            </a:solidFill>
            <a:ln w="19050" cap="sq">
              <a:solidFill>
                <a:srgbClr val="0033CC"/>
              </a:solidFill>
              <a:miter lim="800000"/>
              <a:headEnd type="none" w="sm" len="sm"/>
              <a:tailEnd type="none" w="sm" len="sm"/>
            </a:ln>
          </p:spPr>
          <p:txBody>
            <a:bodyPr wrap="none" tIns="0" anchorCtr="1"/>
            <a:lstStyle/>
            <a:p>
              <a:r>
                <a:rPr lang="en-US" altLang="zh-CN"/>
                <a:t>v</a:t>
              </a:r>
              <a:r>
                <a:rPr lang="en-US" altLang="zh-CN" baseline="-25000"/>
                <a:t>3</a:t>
              </a:r>
            </a:p>
          </p:txBody>
        </p:sp>
        <p:sp>
          <p:nvSpPr>
            <p:cNvPr id="112" name="Line 32"/>
            <p:cNvSpPr>
              <a:spLocks noChangeShapeType="1"/>
            </p:cNvSpPr>
            <p:nvPr/>
          </p:nvSpPr>
          <p:spPr bwMode="auto">
            <a:xfrm>
              <a:off x="1292" y="1842"/>
              <a:ext cx="635" cy="0"/>
            </a:xfrm>
            <a:prstGeom prst="line">
              <a:avLst/>
            </a:prstGeom>
            <a:noFill/>
            <a:ln w="19050" cap="sq">
              <a:solidFill>
                <a:srgbClr val="0033CC"/>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13" name="Line 33"/>
            <p:cNvSpPr>
              <a:spLocks noChangeShapeType="1"/>
            </p:cNvSpPr>
            <p:nvPr/>
          </p:nvSpPr>
          <p:spPr bwMode="auto">
            <a:xfrm>
              <a:off x="1292" y="2795"/>
              <a:ext cx="635" cy="0"/>
            </a:xfrm>
            <a:prstGeom prst="line">
              <a:avLst/>
            </a:prstGeom>
            <a:noFill/>
            <a:ln w="19050" cap="sq">
              <a:solidFill>
                <a:srgbClr val="0033CC"/>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14" name="Line 34"/>
            <p:cNvSpPr>
              <a:spLocks noChangeShapeType="1"/>
            </p:cNvSpPr>
            <p:nvPr/>
          </p:nvSpPr>
          <p:spPr bwMode="auto">
            <a:xfrm>
              <a:off x="1111" y="2024"/>
              <a:ext cx="0" cy="590"/>
            </a:xfrm>
            <a:prstGeom prst="line">
              <a:avLst/>
            </a:prstGeom>
            <a:noFill/>
            <a:ln w="19050" cap="sq">
              <a:solidFill>
                <a:srgbClr val="0033CC"/>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15" name="Line 35"/>
            <p:cNvSpPr>
              <a:spLocks noChangeShapeType="1"/>
            </p:cNvSpPr>
            <p:nvPr/>
          </p:nvSpPr>
          <p:spPr bwMode="auto">
            <a:xfrm>
              <a:off x="2109" y="2024"/>
              <a:ext cx="0" cy="590"/>
            </a:xfrm>
            <a:prstGeom prst="line">
              <a:avLst/>
            </a:prstGeom>
            <a:noFill/>
            <a:ln w="19050" cap="sq">
              <a:solidFill>
                <a:srgbClr val="0033CC"/>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16" name="Line 36"/>
            <p:cNvSpPr>
              <a:spLocks noChangeShapeType="1"/>
            </p:cNvSpPr>
            <p:nvPr/>
          </p:nvSpPr>
          <p:spPr bwMode="auto">
            <a:xfrm>
              <a:off x="1746" y="2432"/>
              <a:ext cx="227" cy="227"/>
            </a:xfrm>
            <a:prstGeom prst="line">
              <a:avLst/>
            </a:prstGeom>
            <a:noFill/>
            <a:ln w="19050" cap="sq">
              <a:solidFill>
                <a:srgbClr val="0033CC"/>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17" name="Line 37"/>
            <p:cNvSpPr>
              <a:spLocks noChangeShapeType="1"/>
            </p:cNvSpPr>
            <p:nvPr/>
          </p:nvSpPr>
          <p:spPr bwMode="auto">
            <a:xfrm flipH="1">
              <a:off x="1746" y="1979"/>
              <a:ext cx="227" cy="226"/>
            </a:xfrm>
            <a:prstGeom prst="line">
              <a:avLst/>
            </a:prstGeom>
            <a:noFill/>
            <a:ln w="19050" cap="sq">
              <a:solidFill>
                <a:srgbClr val="0033CC"/>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18" name="Line 38"/>
            <p:cNvSpPr>
              <a:spLocks noChangeShapeType="1"/>
            </p:cNvSpPr>
            <p:nvPr/>
          </p:nvSpPr>
          <p:spPr bwMode="auto">
            <a:xfrm flipH="1">
              <a:off x="1247" y="2432"/>
              <a:ext cx="272" cy="249"/>
            </a:xfrm>
            <a:prstGeom prst="line">
              <a:avLst/>
            </a:prstGeom>
            <a:noFill/>
            <a:ln w="19050" cap="sq">
              <a:solidFill>
                <a:srgbClr val="0033CC"/>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120" name="Group 18"/>
          <p:cNvGrpSpPr>
            <a:grpSpLocks/>
          </p:cNvGrpSpPr>
          <p:nvPr/>
        </p:nvGrpSpPr>
        <p:grpSpPr bwMode="auto">
          <a:xfrm>
            <a:off x="7968209" y="3635869"/>
            <a:ext cx="2016125" cy="1944688"/>
            <a:chOff x="1020" y="1979"/>
            <a:chExt cx="1270" cy="1225"/>
          </a:xfrm>
        </p:grpSpPr>
        <p:sp>
          <p:nvSpPr>
            <p:cNvPr id="121" name="Oval 19"/>
            <p:cNvSpPr>
              <a:spLocks noChangeArrowheads="1"/>
            </p:cNvSpPr>
            <p:nvPr/>
          </p:nvSpPr>
          <p:spPr bwMode="auto">
            <a:xfrm>
              <a:off x="1020" y="1979"/>
              <a:ext cx="317" cy="317"/>
            </a:xfrm>
            <a:prstGeom prst="ellipse">
              <a:avLst/>
            </a:prstGeom>
            <a:solidFill>
              <a:schemeClr val="bg1"/>
            </a:solidFill>
            <a:ln w="19050" cap="sq">
              <a:solidFill>
                <a:srgbClr val="0033CC"/>
              </a:solidFill>
              <a:miter lim="800000"/>
              <a:headEnd type="none" w="sm" len="sm"/>
              <a:tailEnd type="none" w="sm" len="sm"/>
            </a:ln>
          </p:spPr>
          <p:txBody>
            <a:bodyPr wrap="none" tIns="0" anchorCtr="1"/>
            <a:lstStyle/>
            <a:p>
              <a:r>
                <a:rPr lang="en-US" altLang="zh-CN"/>
                <a:t>v</a:t>
              </a:r>
              <a:r>
                <a:rPr lang="en-US" altLang="zh-CN" baseline="-25000"/>
                <a:t>1</a:t>
              </a:r>
            </a:p>
          </p:txBody>
        </p:sp>
        <p:sp>
          <p:nvSpPr>
            <p:cNvPr id="122" name="Oval 20"/>
            <p:cNvSpPr>
              <a:spLocks noChangeArrowheads="1"/>
            </p:cNvSpPr>
            <p:nvPr/>
          </p:nvSpPr>
          <p:spPr bwMode="auto">
            <a:xfrm>
              <a:off x="1973" y="1979"/>
              <a:ext cx="317" cy="317"/>
            </a:xfrm>
            <a:prstGeom prst="ellipse">
              <a:avLst/>
            </a:prstGeom>
            <a:solidFill>
              <a:schemeClr val="bg1"/>
            </a:solidFill>
            <a:ln w="19050" cap="sq">
              <a:solidFill>
                <a:srgbClr val="0033CC"/>
              </a:solidFill>
              <a:miter lim="800000"/>
              <a:headEnd type="none" w="sm" len="sm"/>
              <a:tailEnd type="none" w="sm" len="sm"/>
            </a:ln>
          </p:spPr>
          <p:txBody>
            <a:bodyPr wrap="none" tIns="0" anchorCtr="1"/>
            <a:lstStyle/>
            <a:p>
              <a:r>
                <a:rPr lang="en-US" altLang="zh-CN"/>
                <a:t>v</a:t>
              </a:r>
              <a:r>
                <a:rPr lang="en-US" altLang="zh-CN" baseline="-25000"/>
                <a:t>2</a:t>
              </a:r>
            </a:p>
          </p:txBody>
        </p:sp>
        <p:sp>
          <p:nvSpPr>
            <p:cNvPr id="123" name="Oval 21"/>
            <p:cNvSpPr>
              <a:spLocks noChangeArrowheads="1"/>
            </p:cNvSpPr>
            <p:nvPr/>
          </p:nvSpPr>
          <p:spPr bwMode="auto">
            <a:xfrm>
              <a:off x="1020" y="2887"/>
              <a:ext cx="317" cy="317"/>
            </a:xfrm>
            <a:prstGeom prst="ellipse">
              <a:avLst/>
            </a:prstGeom>
            <a:solidFill>
              <a:schemeClr val="bg1"/>
            </a:solidFill>
            <a:ln w="19050" cap="sq">
              <a:solidFill>
                <a:srgbClr val="0033CC"/>
              </a:solidFill>
              <a:miter lim="800000"/>
              <a:headEnd type="none" w="sm" len="sm"/>
              <a:tailEnd type="none" w="sm" len="sm"/>
            </a:ln>
          </p:spPr>
          <p:txBody>
            <a:bodyPr wrap="none" tIns="0" anchorCtr="1"/>
            <a:lstStyle/>
            <a:p>
              <a:r>
                <a:rPr lang="en-US" altLang="zh-CN"/>
                <a:t>v</a:t>
              </a:r>
              <a:r>
                <a:rPr lang="en-US" altLang="zh-CN" baseline="-25000"/>
                <a:t>5</a:t>
              </a:r>
            </a:p>
          </p:txBody>
        </p:sp>
        <p:sp>
          <p:nvSpPr>
            <p:cNvPr id="124" name="Oval 22"/>
            <p:cNvSpPr>
              <a:spLocks noChangeArrowheads="1"/>
            </p:cNvSpPr>
            <p:nvPr/>
          </p:nvSpPr>
          <p:spPr bwMode="auto">
            <a:xfrm>
              <a:off x="1972" y="2886"/>
              <a:ext cx="317" cy="317"/>
            </a:xfrm>
            <a:prstGeom prst="ellipse">
              <a:avLst/>
            </a:prstGeom>
            <a:solidFill>
              <a:schemeClr val="bg1"/>
            </a:solidFill>
            <a:ln w="19050" cap="sq">
              <a:solidFill>
                <a:srgbClr val="0033CC"/>
              </a:solidFill>
              <a:miter lim="800000"/>
              <a:headEnd type="none" w="sm" len="sm"/>
              <a:tailEnd type="none" w="sm" len="sm"/>
            </a:ln>
          </p:spPr>
          <p:txBody>
            <a:bodyPr wrap="none" tIns="0" anchorCtr="1"/>
            <a:lstStyle/>
            <a:p>
              <a:r>
                <a:rPr lang="en-US" altLang="zh-CN"/>
                <a:t>v</a:t>
              </a:r>
              <a:r>
                <a:rPr lang="en-US" altLang="zh-CN" baseline="-25000"/>
                <a:t>4</a:t>
              </a:r>
            </a:p>
          </p:txBody>
        </p:sp>
        <p:sp>
          <p:nvSpPr>
            <p:cNvPr id="125" name="Line 23"/>
            <p:cNvSpPr>
              <a:spLocks noChangeShapeType="1"/>
            </p:cNvSpPr>
            <p:nvPr/>
          </p:nvSpPr>
          <p:spPr bwMode="auto">
            <a:xfrm>
              <a:off x="1337" y="2115"/>
              <a:ext cx="635" cy="0"/>
            </a:xfrm>
            <a:prstGeom prst="line">
              <a:avLst/>
            </a:prstGeom>
            <a:noFill/>
            <a:ln w="19050" cap="sq">
              <a:solidFill>
                <a:srgbClr val="0033CC"/>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26" name="Line 24"/>
            <p:cNvSpPr>
              <a:spLocks noChangeShapeType="1"/>
            </p:cNvSpPr>
            <p:nvPr/>
          </p:nvSpPr>
          <p:spPr bwMode="auto">
            <a:xfrm>
              <a:off x="1156" y="2297"/>
              <a:ext cx="0" cy="590"/>
            </a:xfrm>
            <a:prstGeom prst="line">
              <a:avLst/>
            </a:prstGeom>
            <a:noFill/>
            <a:ln w="19050" cap="sq">
              <a:solidFill>
                <a:srgbClr val="0033CC"/>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27" name="Line 25"/>
            <p:cNvSpPr>
              <a:spLocks noChangeShapeType="1"/>
            </p:cNvSpPr>
            <p:nvPr/>
          </p:nvSpPr>
          <p:spPr bwMode="auto">
            <a:xfrm>
              <a:off x="2154" y="2297"/>
              <a:ext cx="0" cy="590"/>
            </a:xfrm>
            <a:prstGeom prst="line">
              <a:avLst/>
            </a:prstGeom>
            <a:noFill/>
            <a:ln w="19050" cap="sq">
              <a:solidFill>
                <a:srgbClr val="0033CC"/>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grpSp>
      <p:sp>
        <p:nvSpPr>
          <p:cNvPr id="2" name="矩形 1">
            <a:extLst>
              <a:ext uri="{FF2B5EF4-FFF2-40B4-BE49-F238E27FC236}">
                <a16:creationId xmlns:a16="http://schemas.microsoft.com/office/drawing/2014/main" id="{95B9CAE5-A9D8-6B00-2DA1-9CDB3B5370DB}"/>
              </a:ext>
            </a:extLst>
          </p:cNvPr>
          <p:cNvSpPr/>
          <p:nvPr/>
        </p:nvSpPr>
        <p:spPr>
          <a:xfrm>
            <a:off x="4421120" y="339686"/>
            <a:ext cx="3637792"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8.1 </a:t>
            </a:r>
            <a:r>
              <a:rPr lang="zh-CN" altLang="en-US" sz="3000" b="1" dirty="0">
                <a:latin typeface="黑体" pitchFamily="49" charset="-122"/>
                <a:ea typeface="黑体" pitchFamily="49" charset="-122"/>
                <a:cs typeface="经典粗黑简" pitchFamily="49" charset="-122"/>
              </a:rPr>
              <a:t>图的基本概念</a:t>
            </a:r>
          </a:p>
        </p:txBody>
      </p:sp>
      <p:sp>
        <p:nvSpPr>
          <p:cNvPr id="3" name="Rectangle 2">
            <a:extLst>
              <a:ext uri="{FF2B5EF4-FFF2-40B4-BE49-F238E27FC236}">
                <a16:creationId xmlns:a16="http://schemas.microsoft.com/office/drawing/2014/main" id="{A783563E-C517-DDFF-24CA-8B5DB43837A5}"/>
              </a:ext>
            </a:extLst>
          </p:cNvPr>
          <p:cNvSpPr txBox="1">
            <a:spLocks noChangeArrowheads="1"/>
          </p:cNvSpPr>
          <p:nvPr/>
        </p:nvSpPr>
        <p:spPr>
          <a:xfrm>
            <a:off x="407368" y="1167247"/>
            <a:ext cx="3528392"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8.1.2 </a:t>
            </a:r>
            <a:r>
              <a:rPr lang="zh-CN" altLang="en-US" dirty="0"/>
              <a:t>图的基本术语</a:t>
            </a:r>
          </a:p>
        </p:txBody>
      </p:sp>
      <p:cxnSp>
        <p:nvCxnSpPr>
          <p:cNvPr id="4" name="直接连接符 3">
            <a:extLst>
              <a:ext uri="{FF2B5EF4-FFF2-40B4-BE49-F238E27FC236}">
                <a16:creationId xmlns:a16="http://schemas.microsoft.com/office/drawing/2014/main" id="{8B877C33-3FB5-1404-0039-AAB04DFC78E9}"/>
              </a:ext>
            </a:extLst>
          </p:cNvPr>
          <p:cNvCxnSpPr>
            <a:cxnSpLocks/>
          </p:cNvCxnSpPr>
          <p:nvPr/>
        </p:nvCxnSpPr>
        <p:spPr>
          <a:xfrm>
            <a:off x="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416665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矩形 37"/>
          <p:cNvSpPr/>
          <p:nvPr/>
        </p:nvSpPr>
        <p:spPr>
          <a:xfrm>
            <a:off x="3035660" y="2793122"/>
            <a:ext cx="7236804" cy="707886"/>
          </a:xfrm>
          <a:prstGeom prst="rect">
            <a:avLst/>
          </a:prstGeom>
        </p:spPr>
        <p:txBody>
          <a:bodyPr wrap="square">
            <a:spAutoFit/>
          </a:bodyPr>
          <a:lstStyle/>
          <a:p>
            <a:r>
              <a:rPr kumimoji="1" lang="zh-CN" altLang="en-US" sz="2000" dirty="0">
                <a:latin typeface="微软雅黑" pitchFamily="34" charset="-122"/>
                <a:ea typeface="微软雅黑" pitchFamily="34" charset="-122"/>
                <a:cs typeface="经典粗黑简" pitchFamily="49" charset="-122"/>
              </a:rPr>
              <a:t>设图</a:t>
            </a:r>
            <a:r>
              <a:rPr kumimoji="1" lang="en-US" altLang="zh-CN" sz="2000" dirty="0">
                <a:latin typeface="微软雅黑" pitchFamily="34" charset="-122"/>
                <a:ea typeface="微软雅黑" pitchFamily="34" charset="-122"/>
                <a:cs typeface="经典粗黑简" pitchFamily="49" charset="-122"/>
              </a:rPr>
              <a:t>G1=(V1,E1)</a:t>
            </a:r>
            <a:r>
              <a:rPr kumimoji="1" lang="zh-CN" altLang="en-US" sz="2000" dirty="0">
                <a:latin typeface="微软雅黑" pitchFamily="34" charset="-122"/>
                <a:ea typeface="微软雅黑" pitchFamily="34" charset="-122"/>
                <a:cs typeface="经典粗黑简" pitchFamily="49" charset="-122"/>
              </a:rPr>
              <a:t>和图</a:t>
            </a:r>
            <a:r>
              <a:rPr kumimoji="1" lang="en-US" altLang="zh-CN" sz="2000" dirty="0">
                <a:latin typeface="微软雅黑" pitchFamily="34" charset="-122"/>
                <a:ea typeface="微软雅黑" pitchFamily="34" charset="-122"/>
                <a:cs typeface="经典粗黑简" pitchFamily="49" charset="-122"/>
              </a:rPr>
              <a:t>G2=(V2,E2)</a:t>
            </a:r>
            <a:r>
              <a:rPr kumimoji="1" lang="zh-CN" altLang="en-US" sz="2000" dirty="0">
                <a:latin typeface="微软雅黑" pitchFamily="34" charset="-122"/>
                <a:ea typeface="微软雅黑" pitchFamily="34" charset="-122"/>
                <a:cs typeface="经典粗黑简" pitchFamily="49" charset="-122"/>
              </a:rPr>
              <a:t>，若</a:t>
            </a:r>
            <a:r>
              <a:rPr kumimoji="1" lang="en-US" altLang="zh-CN" sz="2000" dirty="0">
                <a:latin typeface="微软雅黑" pitchFamily="34" charset="-122"/>
                <a:ea typeface="微软雅黑" pitchFamily="34" charset="-122"/>
                <a:cs typeface="经典粗黑简" pitchFamily="49" charset="-122"/>
              </a:rPr>
              <a:t>V2⊆V1</a:t>
            </a:r>
            <a:r>
              <a:rPr kumimoji="1" lang="zh-CN" altLang="en-US" sz="2000" dirty="0">
                <a:latin typeface="微软雅黑" pitchFamily="34" charset="-122"/>
                <a:ea typeface="微软雅黑" pitchFamily="34" charset="-122"/>
                <a:cs typeface="经典粗黑简" pitchFamily="49" charset="-122"/>
              </a:rPr>
              <a:t>且</a:t>
            </a:r>
            <a:r>
              <a:rPr kumimoji="1" lang="en-US" altLang="zh-CN" sz="2000" dirty="0">
                <a:latin typeface="微软雅黑" pitchFamily="34" charset="-122"/>
                <a:ea typeface="微软雅黑" pitchFamily="34" charset="-122"/>
                <a:cs typeface="经典粗黑简" pitchFamily="49" charset="-122"/>
              </a:rPr>
              <a:t>E2⊆E1</a:t>
            </a:r>
            <a:r>
              <a:rPr kumimoji="1" lang="zh-CN" altLang="en-US" sz="2000" dirty="0">
                <a:latin typeface="微软雅黑" pitchFamily="34" charset="-122"/>
                <a:ea typeface="微软雅黑" pitchFamily="34" charset="-122"/>
                <a:cs typeface="经典粗黑简" pitchFamily="49" charset="-122"/>
              </a:rPr>
              <a:t>，则称图</a:t>
            </a:r>
            <a:r>
              <a:rPr kumimoji="1" lang="en-US" altLang="zh-CN" sz="2000" dirty="0">
                <a:latin typeface="微软雅黑" pitchFamily="34" charset="-122"/>
                <a:ea typeface="微软雅黑" pitchFamily="34" charset="-122"/>
                <a:cs typeface="经典粗黑简" pitchFamily="49" charset="-122"/>
              </a:rPr>
              <a:t>G2</a:t>
            </a:r>
            <a:r>
              <a:rPr kumimoji="1" lang="zh-CN" altLang="en-US" sz="2000" dirty="0">
                <a:latin typeface="微软雅黑" pitchFamily="34" charset="-122"/>
                <a:ea typeface="微软雅黑" pitchFamily="34" charset="-122"/>
                <a:cs typeface="经典粗黑简" pitchFamily="49" charset="-122"/>
              </a:rPr>
              <a:t>是图</a:t>
            </a:r>
            <a:r>
              <a:rPr kumimoji="1" lang="en-US" altLang="zh-CN" sz="2000" dirty="0">
                <a:latin typeface="微软雅黑" pitchFamily="34" charset="-122"/>
                <a:ea typeface="微软雅黑" pitchFamily="34" charset="-122"/>
                <a:cs typeface="经典粗黑简" pitchFamily="49" charset="-122"/>
              </a:rPr>
              <a:t>G1</a:t>
            </a:r>
            <a:r>
              <a:rPr kumimoji="1" lang="zh-CN" altLang="en-US" sz="2000" dirty="0">
                <a:latin typeface="微软雅黑" pitchFamily="34" charset="-122"/>
                <a:ea typeface="微软雅黑" pitchFamily="34" charset="-122"/>
                <a:cs typeface="经典粗黑简" pitchFamily="49" charset="-122"/>
              </a:rPr>
              <a:t>的</a:t>
            </a:r>
            <a:r>
              <a:rPr kumimoji="1" lang="zh-CN" altLang="en-US" sz="2000" dirty="0">
                <a:solidFill>
                  <a:srgbClr val="FF0000"/>
                </a:solidFill>
                <a:latin typeface="微软雅黑" pitchFamily="34" charset="-122"/>
                <a:ea typeface="微软雅黑" pitchFamily="34" charset="-122"/>
                <a:cs typeface="经典粗黑简" pitchFamily="49" charset="-122"/>
              </a:rPr>
              <a:t>子图</a:t>
            </a:r>
            <a:r>
              <a:rPr kumimoji="1" lang="zh-CN" altLang="en-US" sz="2000" dirty="0">
                <a:latin typeface="微软雅黑" pitchFamily="34" charset="-122"/>
                <a:ea typeface="微软雅黑" pitchFamily="34" charset="-122"/>
                <a:cs typeface="经典粗黑简" pitchFamily="49" charset="-122"/>
              </a:rPr>
              <a:t>。</a:t>
            </a:r>
          </a:p>
        </p:txBody>
      </p:sp>
      <p:sp>
        <p:nvSpPr>
          <p:cNvPr id="54" name="矩形 53"/>
          <p:cNvSpPr/>
          <p:nvPr/>
        </p:nvSpPr>
        <p:spPr>
          <a:xfrm>
            <a:off x="3079789" y="2390668"/>
            <a:ext cx="1210588" cy="400110"/>
          </a:xfrm>
          <a:prstGeom prst="rect">
            <a:avLst/>
          </a:prstGeom>
        </p:spPr>
        <p:txBody>
          <a:bodyPr wrap="none">
            <a:spAutoFit/>
          </a:bodyPr>
          <a:lstStyle/>
          <a:p>
            <a:r>
              <a:rPr kumimoji="1" lang="en-US" altLang="zh-CN" sz="2000" dirty="0">
                <a:latin typeface="微软雅黑" pitchFamily="34" charset="-122"/>
                <a:ea typeface="微软雅黑" pitchFamily="34" charset="-122"/>
                <a:cs typeface="经典粗黑简" pitchFamily="49" charset="-122"/>
              </a:rPr>
              <a:t>⑺</a:t>
            </a:r>
            <a:r>
              <a:rPr kumimoji="1" lang="zh-CN" altLang="en-US" sz="2000" dirty="0">
                <a:latin typeface="微软雅黑" pitchFamily="34" charset="-122"/>
                <a:ea typeface="微软雅黑" pitchFamily="34" charset="-122"/>
                <a:cs typeface="经典粗黑简" pitchFamily="49" charset="-122"/>
              </a:rPr>
              <a:t>、子图</a:t>
            </a:r>
          </a:p>
        </p:txBody>
      </p:sp>
      <p:grpSp>
        <p:nvGrpSpPr>
          <p:cNvPr id="67" name="Group 26"/>
          <p:cNvGrpSpPr>
            <a:grpSpLocks/>
          </p:cNvGrpSpPr>
          <p:nvPr/>
        </p:nvGrpSpPr>
        <p:grpSpPr bwMode="auto">
          <a:xfrm>
            <a:off x="2868675" y="3637459"/>
            <a:ext cx="2016125" cy="1944687"/>
            <a:chOff x="975" y="1706"/>
            <a:chExt cx="1270" cy="1225"/>
          </a:xfrm>
        </p:grpSpPr>
        <p:sp>
          <p:nvSpPr>
            <p:cNvPr id="68" name="Oval 27"/>
            <p:cNvSpPr>
              <a:spLocks noChangeArrowheads="1"/>
            </p:cNvSpPr>
            <p:nvPr/>
          </p:nvSpPr>
          <p:spPr bwMode="auto">
            <a:xfrm>
              <a:off x="975" y="1706"/>
              <a:ext cx="317" cy="317"/>
            </a:xfrm>
            <a:prstGeom prst="ellipse">
              <a:avLst/>
            </a:prstGeom>
            <a:solidFill>
              <a:schemeClr val="bg1"/>
            </a:solidFill>
            <a:ln w="19050" cap="sq">
              <a:solidFill>
                <a:srgbClr val="0033CC"/>
              </a:solidFill>
              <a:miter lim="800000"/>
              <a:headEnd type="none" w="sm" len="sm"/>
              <a:tailEnd type="none" w="sm" len="sm"/>
            </a:ln>
          </p:spPr>
          <p:txBody>
            <a:bodyPr wrap="none" tIns="0" anchorCtr="1"/>
            <a:lstStyle/>
            <a:p>
              <a:r>
                <a:rPr lang="en-US" altLang="zh-CN"/>
                <a:t>v</a:t>
              </a:r>
              <a:r>
                <a:rPr lang="en-US" altLang="zh-CN" baseline="-25000"/>
                <a:t>1</a:t>
              </a:r>
            </a:p>
          </p:txBody>
        </p:sp>
        <p:sp>
          <p:nvSpPr>
            <p:cNvPr id="69" name="Oval 28"/>
            <p:cNvSpPr>
              <a:spLocks noChangeArrowheads="1"/>
            </p:cNvSpPr>
            <p:nvPr/>
          </p:nvSpPr>
          <p:spPr bwMode="auto">
            <a:xfrm>
              <a:off x="1928" y="1706"/>
              <a:ext cx="317" cy="317"/>
            </a:xfrm>
            <a:prstGeom prst="ellipse">
              <a:avLst/>
            </a:prstGeom>
            <a:solidFill>
              <a:schemeClr val="bg1"/>
            </a:solidFill>
            <a:ln w="19050" cap="sq">
              <a:solidFill>
                <a:srgbClr val="0033CC"/>
              </a:solidFill>
              <a:miter lim="800000"/>
              <a:headEnd type="none" w="sm" len="sm"/>
              <a:tailEnd type="none" w="sm" len="sm"/>
            </a:ln>
          </p:spPr>
          <p:txBody>
            <a:bodyPr wrap="none" tIns="0" anchorCtr="1"/>
            <a:lstStyle/>
            <a:p>
              <a:r>
                <a:rPr lang="en-US" altLang="zh-CN"/>
                <a:t>v</a:t>
              </a:r>
              <a:r>
                <a:rPr lang="en-US" altLang="zh-CN" baseline="-25000"/>
                <a:t>2</a:t>
              </a:r>
            </a:p>
          </p:txBody>
        </p:sp>
        <p:sp>
          <p:nvSpPr>
            <p:cNvPr id="71" name="Oval 29"/>
            <p:cNvSpPr>
              <a:spLocks noChangeArrowheads="1"/>
            </p:cNvSpPr>
            <p:nvPr/>
          </p:nvSpPr>
          <p:spPr bwMode="auto">
            <a:xfrm>
              <a:off x="975" y="2614"/>
              <a:ext cx="317" cy="317"/>
            </a:xfrm>
            <a:prstGeom prst="ellipse">
              <a:avLst/>
            </a:prstGeom>
            <a:solidFill>
              <a:schemeClr val="bg1"/>
            </a:solidFill>
            <a:ln w="19050" cap="sq">
              <a:solidFill>
                <a:srgbClr val="0033CC"/>
              </a:solidFill>
              <a:miter lim="800000"/>
              <a:headEnd type="none" w="sm" len="sm"/>
              <a:tailEnd type="none" w="sm" len="sm"/>
            </a:ln>
          </p:spPr>
          <p:txBody>
            <a:bodyPr wrap="none" tIns="0" anchorCtr="1"/>
            <a:lstStyle/>
            <a:p>
              <a:r>
                <a:rPr lang="en-US" altLang="zh-CN"/>
                <a:t>v</a:t>
              </a:r>
              <a:r>
                <a:rPr lang="en-US" altLang="zh-CN" baseline="-25000"/>
                <a:t>5</a:t>
              </a:r>
            </a:p>
          </p:txBody>
        </p:sp>
        <p:sp>
          <p:nvSpPr>
            <p:cNvPr id="72" name="Oval 30"/>
            <p:cNvSpPr>
              <a:spLocks noChangeArrowheads="1"/>
            </p:cNvSpPr>
            <p:nvPr/>
          </p:nvSpPr>
          <p:spPr bwMode="auto">
            <a:xfrm>
              <a:off x="1927" y="2613"/>
              <a:ext cx="317" cy="317"/>
            </a:xfrm>
            <a:prstGeom prst="ellipse">
              <a:avLst/>
            </a:prstGeom>
            <a:solidFill>
              <a:schemeClr val="bg1"/>
            </a:solidFill>
            <a:ln w="19050" cap="sq">
              <a:solidFill>
                <a:srgbClr val="0033CC"/>
              </a:solidFill>
              <a:miter lim="800000"/>
              <a:headEnd type="none" w="sm" len="sm"/>
              <a:tailEnd type="none" w="sm" len="sm"/>
            </a:ln>
          </p:spPr>
          <p:txBody>
            <a:bodyPr wrap="none" tIns="0" anchorCtr="1"/>
            <a:lstStyle/>
            <a:p>
              <a:r>
                <a:rPr lang="en-US" altLang="zh-CN"/>
                <a:t>v</a:t>
              </a:r>
              <a:r>
                <a:rPr lang="en-US" altLang="zh-CN" baseline="-25000"/>
                <a:t>4</a:t>
              </a:r>
            </a:p>
          </p:txBody>
        </p:sp>
        <p:sp>
          <p:nvSpPr>
            <p:cNvPr id="73" name="Oval 31"/>
            <p:cNvSpPr>
              <a:spLocks noChangeArrowheads="1"/>
            </p:cNvSpPr>
            <p:nvPr/>
          </p:nvSpPr>
          <p:spPr bwMode="auto">
            <a:xfrm>
              <a:off x="1474" y="2161"/>
              <a:ext cx="317" cy="317"/>
            </a:xfrm>
            <a:prstGeom prst="ellipse">
              <a:avLst/>
            </a:prstGeom>
            <a:solidFill>
              <a:schemeClr val="bg1"/>
            </a:solidFill>
            <a:ln w="19050" cap="sq">
              <a:solidFill>
                <a:srgbClr val="0033CC"/>
              </a:solidFill>
              <a:miter lim="800000"/>
              <a:headEnd type="none" w="sm" len="sm"/>
              <a:tailEnd type="none" w="sm" len="sm"/>
            </a:ln>
          </p:spPr>
          <p:txBody>
            <a:bodyPr wrap="none" tIns="0" anchorCtr="1"/>
            <a:lstStyle/>
            <a:p>
              <a:r>
                <a:rPr lang="en-US" altLang="zh-CN"/>
                <a:t>v</a:t>
              </a:r>
              <a:r>
                <a:rPr lang="en-US" altLang="zh-CN" baseline="-25000"/>
                <a:t>3</a:t>
              </a:r>
            </a:p>
          </p:txBody>
        </p:sp>
        <p:sp>
          <p:nvSpPr>
            <p:cNvPr id="112" name="Line 32"/>
            <p:cNvSpPr>
              <a:spLocks noChangeShapeType="1"/>
            </p:cNvSpPr>
            <p:nvPr/>
          </p:nvSpPr>
          <p:spPr bwMode="auto">
            <a:xfrm>
              <a:off x="1292" y="1842"/>
              <a:ext cx="635" cy="0"/>
            </a:xfrm>
            <a:prstGeom prst="line">
              <a:avLst/>
            </a:prstGeom>
            <a:noFill/>
            <a:ln w="19050" cap="sq">
              <a:solidFill>
                <a:srgbClr val="0033CC"/>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13" name="Line 33"/>
            <p:cNvSpPr>
              <a:spLocks noChangeShapeType="1"/>
            </p:cNvSpPr>
            <p:nvPr/>
          </p:nvSpPr>
          <p:spPr bwMode="auto">
            <a:xfrm>
              <a:off x="1292" y="2795"/>
              <a:ext cx="635" cy="0"/>
            </a:xfrm>
            <a:prstGeom prst="line">
              <a:avLst/>
            </a:prstGeom>
            <a:noFill/>
            <a:ln w="19050" cap="sq">
              <a:solidFill>
                <a:srgbClr val="0033CC"/>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14" name="Line 34"/>
            <p:cNvSpPr>
              <a:spLocks noChangeShapeType="1"/>
            </p:cNvSpPr>
            <p:nvPr/>
          </p:nvSpPr>
          <p:spPr bwMode="auto">
            <a:xfrm>
              <a:off x="1111" y="2024"/>
              <a:ext cx="0" cy="590"/>
            </a:xfrm>
            <a:prstGeom prst="line">
              <a:avLst/>
            </a:prstGeom>
            <a:noFill/>
            <a:ln w="19050" cap="sq">
              <a:solidFill>
                <a:srgbClr val="0033CC"/>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15" name="Line 35"/>
            <p:cNvSpPr>
              <a:spLocks noChangeShapeType="1"/>
            </p:cNvSpPr>
            <p:nvPr/>
          </p:nvSpPr>
          <p:spPr bwMode="auto">
            <a:xfrm>
              <a:off x="2109" y="2024"/>
              <a:ext cx="0" cy="590"/>
            </a:xfrm>
            <a:prstGeom prst="line">
              <a:avLst/>
            </a:prstGeom>
            <a:noFill/>
            <a:ln w="19050" cap="sq">
              <a:solidFill>
                <a:srgbClr val="0033CC"/>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16" name="Line 36"/>
            <p:cNvSpPr>
              <a:spLocks noChangeShapeType="1"/>
            </p:cNvSpPr>
            <p:nvPr/>
          </p:nvSpPr>
          <p:spPr bwMode="auto">
            <a:xfrm>
              <a:off x="1746" y="2432"/>
              <a:ext cx="227" cy="227"/>
            </a:xfrm>
            <a:prstGeom prst="line">
              <a:avLst/>
            </a:prstGeom>
            <a:noFill/>
            <a:ln w="19050" cap="sq">
              <a:solidFill>
                <a:srgbClr val="0033CC"/>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17" name="Line 37"/>
            <p:cNvSpPr>
              <a:spLocks noChangeShapeType="1"/>
            </p:cNvSpPr>
            <p:nvPr/>
          </p:nvSpPr>
          <p:spPr bwMode="auto">
            <a:xfrm flipH="1">
              <a:off x="1746" y="1979"/>
              <a:ext cx="227" cy="226"/>
            </a:xfrm>
            <a:prstGeom prst="line">
              <a:avLst/>
            </a:prstGeom>
            <a:noFill/>
            <a:ln w="19050" cap="sq">
              <a:solidFill>
                <a:srgbClr val="0033CC"/>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18" name="Line 38"/>
            <p:cNvSpPr>
              <a:spLocks noChangeShapeType="1"/>
            </p:cNvSpPr>
            <p:nvPr/>
          </p:nvSpPr>
          <p:spPr bwMode="auto">
            <a:xfrm flipH="1">
              <a:off x="1247" y="2432"/>
              <a:ext cx="272" cy="249"/>
            </a:xfrm>
            <a:prstGeom prst="line">
              <a:avLst/>
            </a:prstGeom>
            <a:noFill/>
            <a:ln w="19050" cap="sq">
              <a:solidFill>
                <a:srgbClr val="0033CC"/>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37" name="Group 2"/>
          <p:cNvGrpSpPr>
            <a:grpSpLocks/>
          </p:cNvGrpSpPr>
          <p:nvPr/>
        </p:nvGrpSpPr>
        <p:grpSpPr bwMode="auto">
          <a:xfrm>
            <a:off x="5424501" y="3640883"/>
            <a:ext cx="2016125" cy="1944688"/>
            <a:chOff x="2789" y="1979"/>
            <a:chExt cx="1270" cy="1225"/>
          </a:xfrm>
        </p:grpSpPr>
        <p:sp>
          <p:nvSpPr>
            <p:cNvPr id="39" name="Oval 3"/>
            <p:cNvSpPr>
              <a:spLocks noChangeArrowheads="1"/>
            </p:cNvSpPr>
            <p:nvPr/>
          </p:nvSpPr>
          <p:spPr bwMode="auto">
            <a:xfrm>
              <a:off x="2789" y="1979"/>
              <a:ext cx="317" cy="317"/>
            </a:xfrm>
            <a:prstGeom prst="ellipse">
              <a:avLst/>
            </a:prstGeom>
            <a:solidFill>
              <a:schemeClr val="bg1"/>
            </a:solidFill>
            <a:ln w="19050" cap="sq">
              <a:solidFill>
                <a:srgbClr val="0033CC"/>
              </a:solidFill>
              <a:miter lim="800000"/>
              <a:headEnd type="none" w="sm" len="sm"/>
              <a:tailEnd type="none" w="sm" len="sm"/>
            </a:ln>
          </p:spPr>
          <p:txBody>
            <a:bodyPr wrap="none" tIns="0" anchorCtr="1"/>
            <a:lstStyle/>
            <a:p>
              <a:r>
                <a:rPr lang="en-US" altLang="zh-CN"/>
                <a:t>v</a:t>
              </a:r>
              <a:r>
                <a:rPr lang="en-US" altLang="zh-CN" baseline="-25000"/>
                <a:t>1</a:t>
              </a:r>
            </a:p>
          </p:txBody>
        </p:sp>
        <p:sp>
          <p:nvSpPr>
            <p:cNvPr id="40" name="Oval 4"/>
            <p:cNvSpPr>
              <a:spLocks noChangeArrowheads="1"/>
            </p:cNvSpPr>
            <p:nvPr/>
          </p:nvSpPr>
          <p:spPr bwMode="auto">
            <a:xfrm>
              <a:off x="3742" y="1979"/>
              <a:ext cx="317" cy="317"/>
            </a:xfrm>
            <a:prstGeom prst="ellipse">
              <a:avLst/>
            </a:prstGeom>
            <a:solidFill>
              <a:schemeClr val="bg1"/>
            </a:solidFill>
            <a:ln w="19050" cap="sq">
              <a:solidFill>
                <a:srgbClr val="0033CC"/>
              </a:solidFill>
              <a:miter lim="800000"/>
              <a:headEnd type="none" w="sm" len="sm"/>
              <a:tailEnd type="none" w="sm" len="sm"/>
            </a:ln>
          </p:spPr>
          <p:txBody>
            <a:bodyPr wrap="none" tIns="0" anchorCtr="1"/>
            <a:lstStyle/>
            <a:p>
              <a:r>
                <a:rPr lang="en-US" altLang="zh-CN"/>
                <a:t>v</a:t>
              </a:r>
              <a:r>
                <a:rPr lang="en-US" altLang="zh-CN" baseline="-25000"/>
                <a:t>2</a:t>
              </a:r>
            </a:p>
          </p:txBody>
        </p:sp>
        <p:sp>
          <p:nvSpPr>
            <p:cNvPr id="41" name="Oval 5"/>
            <p:cNvSpPr>
              <a:spLocks noChangeArrowheads="1"/>
            </p:cNvSpPr>
            <p:nvPr/>
          </p:nvSpPr>
          <p:spPr bwMode="auto">
            <a:xfrm>
              <a:off x="2789" y="2887"/>
              <a:ext cx="317" cy="317"/>
            </a:xfrm>
            <a:prstGeom prst="ellipse">
              <a:avLst/>
            </a:prstGeom>
            <a:solidFill>
              <a:schemeClr val="bg1"/>
            </a:solidFill>
            <a:ln w="19050" cap="sq">
              <a:solidFill>
                <a:srgbClr val="0033CC"/>
              </a:solidFill>
              <a:miter lim="800000"/>
              <a:headEnd type="none" w="sm" len="sm"/>
              <a:tailEnd type="none" w="sm" len="sm"/>
            </a:ln>
          </p:spPr>
          <p:txBody>
            <a:bodyPr wrap="none" tIns="0" anchorCtr="1"/>
            <a:lstStyle/>
            <a:p>
              <a:r>
                <a:rPr lang="en-US" altLang="zh-CN"/>
                <a:t>v</a:t>
              </a:r>
              <a:r>
                <a:rPr lang="en-US" altLang="zh-CN" baseline="-25000"/>
                <a:t>5</a:t>
              </a:r>
            </a:p>
          </p:txBody>
        </p:sp>
        <p:sp>
          <p:nvSpPr>
            <p:cNvPr id="42" name="Oval 6"/>
            <p:cNvSpPr>
              <a:spLocks noChangeArrowheads="1"/>
            </p:cNvSpPr>
            <p:nvPr/>
          </p:nvSpPr>
          <p:spPr bwMode="auto">
            <a:xfrm>
              <a:off x="3741" y="2886"/>
              <a:ext cx="317" cy="317"/>
            </a:xfrm>
            <a:prstGeom prst="ellipse">
              <a:avLst/>
            </a:prstGeom>
            <a:solidFill>
              <a:schemeClr val="bg1"/>
            </a:solidFill>
            <a:ln w="19050" cap="sq">
              <a:solidFill>
                <a:srgbClr val="0033CC"/>
              </a:solidFill>
              <a:miter lim="800000"/>
              <a:headEnd type="none" w="sm" len="sm"/>
              <a:tailEnd type="none" w="sm" len="sm"/>
            </a:ln>
          </p:spPr>
          <p:txBody>
            <a:bodyPr wrap="none" tIns="0" anchorCtr="1"/>
            <a:lstStyle/>
            <a:p>
              <a:r>
                <a:rPr lang="en-US" altLang="zh-CN"/>
                <a:t>v</a:t>
              </a:r>
              <a:r>
                <a:rPr lang="en-US" altLang="zh-CN" baseline="-25000"/>
                <a:t>4</a:t>
              </a:r>
            </a:p>
          </p:txBody>
        </p:sp>
        <p:sp>
          <p:nvSpPr>
            <p:cNvPr id="43" name="Oval 7"/>
            <p:cNvSpPr>
              <a:spLocks noChangeArrowheads="1"/>
            </p:cNvSpPr>
            <p:nvPr/>
          </p:nvSpPr>
          <p:spPr bwMode="auto">
            <a:xfrm>
              <a:off x="3288" y="2434"/>
              <a:ext cx="317" cy="317"/>
            </a:xfrm>
            <a:prstGeom prst="ellipse">
              <a:avLst/>
            </a:prstGeom>
            <a:solidFill>
              <a:schemeClr val="bg1"/>
            </a:solidFill>
            <a:ln w="19050" cap="sq">
              <a:solidFill>
                <a:srgbClr val="0033CC"/>
              </a:solidFill>
              <a:miter lim="800000"/>
              <a:headEnd type="none" w="sm" len="sm"/>
              <a:tailEnd type="none" w="sm" len="sm"/>
            </a:ln>
          </p:spPr>
          <p:txBody>
            <a:bodyPr wrap="none" tIns="0" anchorCtr="1"/>
            <a:lstStyle/>
            <a:p>
              <a:r>
                <a:rPr lang="en-US" altLang="zh-CN"/>
                <a:t>v</a:t>
              </a:r>
              <a:r>
                <a:rPr lang="en-US" altLang="zh-CN" baseline="-25000"/>
                <a:t>3</a:t>
              </a:r>
            </a:p>
          </p:txBody>
        </p:sp>
        <p:sp>
          <p:nvSpPr>
            <p:cNvPr id="44" name="Line 8"/>
            <p:cNvSpPr>
              <a:spLocks noChangeShapeType="1"/>
            </p:cNvSpPr>
            <p:nvPr/>
          </p:nvSpPr>
          <p:spPr bwMode="auto">
            <a:xfrm>
              <a:off x="3923" y="2297"/>
              <a:ext cx="0" cy="590"/>
            </a:xfrm>
            <a:prstGeom prst="line">
              <a:avLst/>
            </a:prstGeom>
            <a:noFill/>
            <a:ln w="19050" cap="sq">
              <a:solidFill>
                <a:srgbClr val="0033CC"/>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45" name="Line 9"/>
            <p:cNvSpPr>
              <a:spLocks noChangeShapeType="1"/>
            </p:cNvSpPr>
            <p:nvPr/>
          </p:nvSpPr>
          <p:spPr bwMode="auto">
            <a:xfrm flipH="1">
              <a:off x="3061" y="2705"/>
              <a:ext cx="272" cy="249"/>
            </a:xfrm>
            <a:prstGeom prst="line">
              <a:avLst/>
            </a:prstGeom>
            <a:noFill/>
            <a:ln w="19050" cap="sq">
              <a:solidFill>
                <a:srgbClr val="0033CC"/>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46" name="Group 39"/>
          <p:cNvGrpSpPr>
            <a:grpSpLocks/>
          </p:cNvGrpSpPr>
          <p:nvPr/>
        </p:nvGrpSpPr>
        <p:grpSpPr bwMode="auto">
          <a:xfrm>
            <a:off x="7968308" y="3606713"/>
            <a:ext cx="2016125" cy="1944687"/>
            <a:chOff x="4377" y="1978"/>
            <a:chExt cx="1270" cy="1225"/>
          </a:xfrm>
        </p:grpSpPr>
        <p:grpSp>
          <p:nvGrpSpPr>
            <p:cNvPr id="47" name="Group 40"/>
            <p:cNvGrpSpPr>
              <a:grpSpLocks/>
            </p:cNvGrpSpPr>
            <p:nvPr/>
          </p:nvGrpSpPr>
          <p:grpSpPr bwMode="auto">
            <a:xfrm>
              <a:off x="4377" y="1978"/>
              <a:ext cx="1270" cy="1225"/>
              <a:chOff x="1020" y="1979"/>
              <a:chExt cx="1270" cy="1225"/>
            </a:xfrm>
          </p:grpSpPr>
          <p:sp>
            <p:nvSpPr>
              <p:cNvPr id="49" name="Oval 41"/>
              <p:cNvSpPr>
                <a:spLocks noChangeArrowheads="1"/>
              </p:cNvSpPr>
              <p:nvPr/>
            </p:nvSpPr>
            <p:spPr bwMode="auto">
              <a:xfrm>
                <a:off x="1020" y="1979"/>
                <a:ext cx="317" cy="317"/>
              </a:xfrm>
              <a:prstGeom prst="ellipse">
                <a:avLst/>
              </a:prstGeom>
              <a:solidFill>
                <a:schemeClr val="bg1"/>
              </a:solidFill>
              <a:ln w="19050" cap="sq">
                <a:solidFill>
                  <a:srgbClr val="0033CC"/>
                </a:solidFill>
                <a:miter lim="800000"/>
                <a:headEnd type="none" w="sm" len="sm"/>
                <a:tailEnd type="none" w="sm" len="sm"/>
              </a:ln>
            </p:spPr>
            <p:txBody>
              <a:bodyPr wrap="none" tIns="0" anchorCtr="1"/>
              <a:lstStyle/>
              <a:p>
                <a:r>
                  <a:rPr lang="en-US" altLang="zh-CN"/>
                  <a:t>v</a:t>
                </a:r>
                <a:r>
                  <a:rPr lang="en-US" altLang="zh-CN" baseline="-25000"/>
                  <a:t>1</a:t>
                </a:r>
              </a:p>
            </p:txBody>
          </p:sp>
          <p:sp>
            <p:nvSpPr>
              <p:cNvPr id="50" name="Oval 42"/>
              <p:cNvSpPr>
                <a:spLocks noChangeArrowheads="1"/>
              </p:cNvSpPr>
              <p:nvPr/>
            </p:nvSpPr>
            <p:spPr bwMode="auto">
              <a:xfrm>
                <a:off x="1973" y="1979"/>
                <a:ext cx="317" cy="317"/>
              </a:xfrm>
              <a:prstGeom prst="ellipse">
                <a:avLst/>
              </a:prstGeom>
              <a:solidFill>
                <a:schemeClr val="bg1"/>
              </a:solidFill>
              <a:ln w="19050" cap="sq">
                <a:solidFill>
                  <a:srgbClr val="0033CC"/>
                </a:solidFill>
                <a:miter lim="800000"/>
                <a:headEnd type="none" w="sm" len="sm"/>
                <a:tailEnd type="none" w="sm" len="sm"/>
              </a:ln>
            </p:spPr>
            <p:txBody>
              <a:bodyPr wrap="none" tIns="0" anchorCtr="1"/>
              <a:lstStyle/>
              <a:p>
                <a:r>
                  <a:rPr lang="en-US" altLang="zh-CN"/>
                  <a:t>v</a:t>
                </a:r>
                <a:r>
                  <a:rPr lang="en-US" altLang="zh-CN" baseline="-25000"/>
                  <a:t>2</a:t>
                </a:r>
              </a:p>
            </p:txBody>
          </p:sp>
          <p:sp>
            <p:nvSpPr>
              <p:cNvPr id="51" name="Oval 43"/>
              <p:cNvSpPr>
                <a:spLocks noChangeArrowheads="1"/>
              </p:cNvSpPr>
              <p:nvPr/>
            </p:nvSpPr>
            <p:spPr bwMode="auto">
              <a:xfrm>
                <a:off x="1020" y="2887"/>
                <a:ext cx="317" cy="317"/>
              </a:xfrm>
              <a:prstGeom prst="ellipse">
                <a:avLst/>
              </a:prstGeom>
              <a:solidFill>
                <a:schemeClr val="bg1"/>
              </a:solidFill>
              <a:ln w="19050" cap="sq">
                <a:solidFill>
                  <a:srgbClr val="0033CC"/>
                </a:solidFill>
                <a:miter lim="800000"/>
                <a:headEnd type="none" w="sm" len="sm"/>
                <a:tailEnd type="none" w="sm" len="sm"/>
              </a:ln>
            </p:spPr>
            <p:txBody>
              <a:bodyPr wrap="none" tIns="0" anchorCtr="1"/>
              <a:lstStyle/>
              <a:p>
                <a:r>
                  <a:rPr lang="en-US" altLang="zh-CN"/>
                  <a:t>v</a:t>
                </a:r>
                <a:r>
                  <a:rPr lang="en-US" altLang="zh-CN" baseline="-25000"/>
                  <a:t>5</a:t>
                </a:r>
              </a:p>
            </p:txBody>
          </p:sp>
          <p:sp>
            <p:nvSpPr>
              <p:cNvPr id="52" name="Oval 44"/>
              <p:cNvSpPr>
                <a:spLocks noChangeArrowheads="1"/>
              </p:cNvSpPr>
              <p:nvPr/>
            </p:nvSpPr>
            <p:spPr bwMode="auto">
              <a:xfrm>
                <a:off x="1972" y="2886"/>
                <a:ext cx="317" cy="317"/>
              </a:xfrm>
              <a:prstGeom prst="ellipse">
                <a:avLst/>
              </a:prstGeom>
              <a:solidFill>
                <a:schemeClr val="bg1"/>
              </a:solidFill>
              <a:ln w="19050" cap="sq">
                <a:solidFill>
                  <a:srgbClr val="0033CC"/>
                </a:solidFill>
                <a:miter lim="800000"/>
                <a:headEnd type="none" w="sm" len="sm"/>
                <a:tailEnd type="none" w="sm" len="sm"/>
              </a:ln>
            </p:spPr>
            <p:txBody>
              <a:bodyPr wrap="none" tIns="0" anchorCtr="1"/>
              <a:lstStyle/>
              <a:p>
                <a:r>
                  <a:rPr lang="en-US" altLang="zh-CN"/>
                  <a:t>v</a:t>
                </a:r>
                <a:r>
                  <a:rPr lang="en-US" altLang="zh-CN" baseline="-25000"/>
                  <a:t>4</a:t>
                </a:r>
              </a:p>
            </p:txBody>
          </p:sp>
          <p:sp>
            <p:nvSpPr>
              <p:cNvPr id="53" name="Line 45"/>
              <p:cNvSpPr>
                <a:spLocks noChangeShapeType="1"/>
              </p:cNvSpPr>
              <p:nvPr/>
            </p:nvSpPr>
            <p:spPr bwMode="auto">
              <a:xfrm>
                <a:off x="1337" y="2115"/>
                <a:ext cx="635" cy="0"/>
              </a:xfrm>
              <a:prstGeom prst="line">
                <a:avLst/>
              </a:prstGeom>
              <a:noFill/>
              <a:ln w="19050" cap="sq">
                <a:solidFill>
                  <a:srgbClr val="0033CC"/>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70" name="Line 46"/>
              <p:cNvSpPr>
                <a:spLocks noChangeShapeType="1"/>
              </p:cNvSpPr>
              <p:nvPr/>
            </p:nvSpPr>
            <p:spPr bwMode="auto">
              <a:xfrm>
                <a:off x="1156" y="2297"/>
                <a:ext cx="0" cy="590"/>
              </a:xfrm>
              <a:prstGeom prst="line">
                <a:avLst/>
              </a:prstGeom>
              <a:noFill/>
              <a:ln w="19050" cap="sq">
                <a:solidFill>
                  <a:srgbClr val="0033CC"/>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74" name="Line 47"/>
              <p:cNvSpPr>
                <a:spLocks noChangeShapeType="1"/>
              </p:cNvSpPr>
              <p:nvPr/>
            </p:nvSpPr>
            <p:spPr bwMode="auto">
              <a:xfrm>
                <a:off x="2154" y="2297"/>
                <a:ext cx="0" cy="590"/>
              </a:xfrm>
              <a:prstGeom prst="line">
                <a:avLst/>
              </a:prstGeom>
              <a:noFill/>
              <a:ln w="19050" cap="sq">
                <a:solidFill>
                  <a:srgbClr val="0033CC"/>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grpSp>
        <p:sp>
          <p:nvSpPr>
            <p:cNvPr id="48" name="Line 48"/>
            <p:cNvSpPr>
              <a:spLocks noChangeShapeType="1"/>
            </p:cNvSpPr>
            <p:nvPr/>
          </p:nvSpPr>
          <p:spPr bwMode="auto">
            <a:xfrm>
              <a:off x="4649" y="2251"/>
              <a:ext cx="726" cy="680"/>
            </a:xfrm>
            <a:prstGeom prst="line">
              <a:avLst/>
            </a:prstGeom>
            <a:noFill/>
            <a:ln w="19050" cap="sq">
              <a:solidFill>
                <a:srgbClr val="0033CC"/>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grpSp>
      <p:sp>
        <p:nvSpPr>
          <p:cNvPr id="2" name="矩形 1">
            <a:extLst>
              <a:ext uri="{FF2B5EF4-FFF2-40B4-BE49-F238E27FC236}">
                <a16:creationId xmlns:a16="http://schemas.microsoft.com/office/drawing/2014/main" id="{99B201C9-1E16-DADC-662E-8B52B2126059}"/>
              </a:ext>
            </a:extLst>
          </p:cNvPr>
          <p:cNvSpPr/>
          <p:nvPr/>
        </p:nvSpPr>
        <p:spPr>
          <a:xfrm>
            <a:off x="4421120" y="339686"/>
            <a:ext cx="3637792"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8.1 </a:t>
            </a:r>
            <a:r>
              <a:rPr lang="zh-CN" altLang="en-US" sz="3000" b="1" dirty="0">
                <a:latin typeface="黑体" pitchFamily="49" charset="-122"/>
                <a:ea typeface="黑体" pitchFamily="49" charset="-122"/>
                <a:cs typeface="经典粗黑简" pitchFamily="49" charset="-122"/>
              </a:rPr>
              <a:t>图的基本概念</a:t>
            </a:r>
          </a:p>
        </p:txBody>
      </p:sp>
      <p:sp>
        <p:nvSpPr>
          <p:cNvPr id="3" name="Rectangle 2">
            <a:extLst>
              <a:ext uri="{FF2B5EF4-FFF2-40B4-BE49-F238E27FC236}">
                <a16:creationId xmlns:a16="http://schemas.microsoft.com/office/drawing/2014/main" id="{CF430929-2FC7-E561-7800-B1E9B4D1997C}"/>
              </a:ext>
            </a:extLst>
          </p:cNvPr>
          <p:cNvSpPr txBox="1">
            <a:spLocks noChangeArrowheads="1"/>
          </p:cNvSpPr>
          <p:nvPr/>
        </p:nvSpPr>
        <p:spPr>
          <a:xfrm>
            <a:off x="407368" y="1167247"/>
            <a:ext cx="3528392"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8.1.2 </a:t>
            </a:r>
            <a:r>
              <a:rPr lang="zh-CN" altLang="en-US" dirty="0"/>
              <a:t>图的基本术语</a:t>
            </a:r>
          </a:p>
        </p:txBody>
      </p:sp>
      <p:cxnSp>
        <p:nvCxnSpPr>
          <p:cNvPr id="4" name="直接连接符 3">
            <a:extLst>
              <a:ext uri="{FF2B5EF4-FFF2-40B4-BE49-F238E27FC236}">
                <a16:creationId xmlns:a16="http://schemas.microsoft.com/office/drawing/2014/main" id="{84DC3149-2888-9DC6-3D03-E5186CE4742B}"/>
              </a:ext>
            </a:extLst>
          </p:cNvPr>
          <p:cNvCxnSpPr>
            <a:cxnSpLocks/>
          </p:cNvCxnSpPr>
          <p:nvPr/>
        </p:nvCxnSpPr>
        <p:spPr>
          <a:xfrm>
            <a:off x="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166866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3071664" y="2793702"/>
            <a:ext cx="7128793" cy="923330"/>
          </a:xfrm>
          <a:prstGeom prst="rect">
            <a:avLst/>
          </a:prstGeom>
        </p:spPr>
        <p:txBody>
          <a:bodyPr wrap="square">
            <a:spAutoFit/>
          </a:bodyPr>
          <a:lstStyle/>
          <a:p>
            <a:r>
              <a:rPr kumimoji="1" lang="zh-CN" altLang="en-US" dirty="0">
                <a:latin typeface="微软雅黑" pitchFamily="34" charset="-122"/>
                <a:ea typeface="微软雅黑" pitchFamily="34" charset="-122"/>
                <a:cs typeface="经典粗黑简" pitchFamily="49" charset="-122"/>
              </a:rPr>
              <a:t>无向图</a:t>
            </a:r>
            <a:r>
              <a:rPr kumimoji="1" lang="en-US" altLang="zh-CN" dirty="0">
                <a:latin typeface="微软雅黑" pitchFamily="34" charset="-122"/>
                <a:ea typeface="微软雅黑" pitchFamily="34" charset="-122"/>
                <a:cs typeface="经典粗黑简" pitchFamily="49" charset="-122"/>
              </a:rPr>
              <a:t>G</a:t>
            </a:r>
            <a:r>
              <a:rPr kumimoji="1" lang="zh-CN" altLang="en-US" dirty="0">
                <a:latin typeface="微软雅黑" pitchFamily="34" charset="-122"/>
                <a:ea typeface="微软雅黑" pitchFamily="34" charset="-122"/>
                <a:cs typeface="经典粗黑简" pitchFamily="49" charset="-122"/>
              </a:rPr>
              <a:t>中，如果从顶点</a:t>
            </a:r>
            <a:r>
              <a:rPr kumimoji="1" lang="en-US" altLang="zh-CN" dirty="0">
                <a:latin typeface="微软雅黑" pitchFamily="34" charset="-122"/>
                <a:ea typeface="微软雅黑" pitchFamily="34" charset="-122"/>
                <a:cs typeface="经典粗黑简" pitchFamily="49" charset="-122"/>
              </a:rPr>
              <a:t>vi</a:t>
            </a:r>
            <a:r>
              <a:rPr kumimoji="1" lang="zh-CN" altLang="en-US" dirty="0">
                <a:latin typeface="微软雅黑" pitchFamily="34" charset="-122"/>
                <a:ea typeface="微软雅黑" pitchFamily="34" charset="-122"/>
                <a:cs typeface="经典粗黑简" pitchFamily="49" charset="-122"/>
              </a:rPr>
              <a:t>到顶点</a:t>
            </a:r>
            <a:r>
              <a:rPr kumimoji="1" lang="en-US" altLang="zh-CN" dirty="0" err="1">
                <a:latin typeface="微软雅黑" pitchFamily="34" charset="-122"/>
                <a:ea typeface="微软雅黑" pitchFamily="34" charset="-122"/>
                <a:cs typeface="经典粗黑简" pitchFamily="49" charset="-122"/>
              </a:rPr>
              <a:t>vj</a:t>
            </a:r>
            <a:r>
              <a:rPr kumimoji="1" lang="zh-CN" altLang="en-US" dirty="0">
                <a:latin typeface="微软雅黑" pitchFamily="34" charset="-122"/>
                <a:ea typeface="微软雅黑" pitchFamily="34" charset="-122"/>
                <a:cs typeface="经典粗黑简" pitchFamily="49" charset="-122"/>
              </a:rPr>
              <a:t>有路径，则称顶点</a:t>
            </a:r>
            <a:r>
              <a:rPr kumimoji="1" lang="en-US" altLang="zh-CN" dirty="0">
                <a:latin typeface="微软雅黑" pitchFamily="34" charset="-122"/>
                <a:ea typeface="微软雅黑" pitchFamily="34" charset="-122"/>
                <a:cs typeface="经典粗黑简" pitchFamily="49" charset="-122"/>
              </a:rPr>
              <a:t>vi</a:t>
            </a:r>
            <a:r>
              <a:rPr kumimoji="1" lang="zh-CN" altLang="en-US" dirty="0">
                <a:latin typeface="微软雅黑" pitchFamily="34" charset="-122"/>
                <a:ea typeface="微软雅黑" pitchFamily="34" charset="-122"/>
                <a:cs typeface="经典粗黑简" pitchFamily="49" charset="-122"/>
              </a:rPr>
              <a:t>和</a:t>
            </a:r>
            <a:r>
              <a:rPr kumimoji="1" lang="en-US" altLang="zh-CN" dirty="0" err="1">
                <a:latin typeface="微软雅黑" pitchFamily="34" charset="-122"/>
                <a:ea typeface="微软雅黑" pitchFamily="34" charset="-122"/>
                <a:cs typeface="经典粗黑简" pitchFamily="49" charset="-122"/>
              </a:rPr>
              <a:t>vj</a:t>
            </a:r>
            <a:r>
              <a:rPr kumimoji="1" lang="zh-CN" altLang="en-US" dirty="0">
                <a:latin typeface="微软雅黑" pitchFamily="34" charset="-122"/>
                <a:ea typeface="微软雅黑" pitchFamily="34" charset="-122"/>
                <a:cs typeface="经典粗黑简" pitchFamily="49" charset="-122"/>
              </a:rPr>
              <a:t>是连通的。如果对于图</a:t>
            </a:r>
            <a:r>
              <a:rPr kumimoji="1" lang="en-US" altLang="zh-CN" dirty="0">
                <a:latin typeface="微软雅黑" pitchFamily="34" charset="-122"/>
                <a:ea typeface="微软雅黑" pitchFamily="34" charset="-122"/>
                <a:cs typeface="经典粗黑简" pitchFamily="49" charset="-122"/>
              </a:rPr>
              <a:t>G</a:t>
            </a:r>
            <a:r>
              <a:rPr kumimoji="1" lang="zh-CN" altLang="en-US" dirty="0">
                <a:latin typeface="微软雅黑" pitchFamily="34" charset="-122"/>
                <a:ea typeface="微软雅黑" pitchFamily="34" charset="-122"/>
                <a:cs typeface="经典粗黑简" pitchFamily="49" charset="-122"/>
              </a:rPr>
              <a:t>中的任意两个顶点</a:t>
            </a:r>
            <a:r>
              <a:rPr kumimoji="1" lang="en-US" altLang="zh-CN" dirty="0">
                <a:latin typeface="微软雅黑" pitchFamily="34" charset="-122"/>
                <a:ea typeface="微软雅黑" pitchFamily="34" charset="-122"/>
                <a:cs typeface="经典粗黑简" pitchFamily="49" charset="-122"/>
              </a:rPr>
              <a:t>vi</a:t>
            </a:r>
            <a:r>
              <a:rPr kumimoji="1" lang="zh-CN" altLang="en-US" dirty="0">
                <a:latin typeface="微软雅黑" pitchFamily="34" charset="-122"/>
                <a:ea typeface="微软雅黑" pitchFamily="34" charset="-122"/>
                <a:cs typeface="经典粗黑简" pitchFamily="49" charset="-122"/>
              </a:rPr>
              <a:t>和</a:t>
            </a:r>
            <a:r>
              <a:rPr kumimoji="1" lang="en-US" altLang="zh-CN" dirty="0" err="1">
                <a:latin typeface="微软雅黑" pitchFamily="34" charset="-122"/>
                <a:ea typeface="微软雅黑" pitchFamily="34" charset="-122"/>
                <a:cs typeface="经典粗黑简" pitchFamily="49" charset="-122"/>
              </a:rPr>
              <a:t>vj</a:t>
            </a:r>
            <a:r>
              <a:rPr kumimoji="1" lang="zh-CN" altLang="en-US" dirty="0">
                <a:latin typeface="微软雅黑" pitchFamily="34" charset="-122"/>
                <a:ea typeface="微软雅黑" pitchFamily="34" charset="-122"/>
                <a:cs typeface="经典粗黑简" pitchFamily="49" charset="-122"/>
              </a:rPr>
              <a:t>都是连通的，则称</a:t>
            </a:r>
            <a:r>
              <a:rPr kumimoji="1" lang="en-US" altLang="zh-CN" dirty="0">
                <a:latin typeface="微软雅黑" pitchFamily="34" charset="-122"/>
                <a:ea typeface="微软雅黑" pitchFamily="34" charset="-122"/>
                <a:cs typeface="经典粗黑简" pitchFamily="49" charset="-122"/>
              </a:rPr>
              <a:t>G</a:t>
            </a:r>
            <a:r>
              <a:rPr kumimoji="1" lang="zh-CN" altLang="en-US" dirty="0">
                <a:latin typeface="微软雅黑" pitchFamily="34" charset="-122"/>
                <a:ea typeface="微软雅黑" pitchFamily="34" charset="-122"/>
                <a:cs typeface="经典粗黑简" pitchFamily="49" charset="-122"/>
              </a:rPr>
              <a:t>是</a:t>
            </a:r>
            <a:r>
              <a:rPr kumimoji="1" lang="zh-CN" altLang="en-US" dirty="0">
                <a:solidFill>
                  <a:srgbClr val="FF0000"/>
                </a:solidFill>
                <a:latin typeface="微软雅黑" pitchFamily="34" charset="-122"/>
                <a:ea typeface="微软雅黑" pitchFamily="34" charset="-122"/>
                <a:cs typeface="经典粗黑简" pitchFamily="49" charset="-122"/>
              </a:rPr>
              <a:t>连通图</a:t>
            </a:r>
            <a:r>
              <a:rPr kumimoji="1" lang="zh-CN" altLang="en-US" dirty="0">
                <a:latin typeface="微软雅黑" pitchFamily="34" charset="-122"/>
                <a:ea typeface="微软雅黑" pitchFamily="34" charset="-122"/>
                <a:cs typeface="经典粗黑简" pitchFamily="49" charset="-122"/>
              </a:rPr>
              <a:t>。无向图的极大连通子图称为无向图的</a:t>
            </a:r>
            <a:r>
              <a:rPr kumimoji="1" lang="zh-CN" altLang="en-US" dirty="0">
                <a:solidFill>
                  <a:srgbClr val="FF0000"/>
                </a:solidFill>
                <a:latin typeface="微软雅黑" pitchFamily="34" charset="-122"/>
                <a:ea typeface="微软雅黑" pitchFamily="34" charset="-122"/>
                <a:cs typeface="经典粗黑简" pitchFamily="49" charset="-122"/>
              </a:rPr>
              <a:t>连通分量</a:t>
            </a:r>
            <a:r>
              <a:rPr kumimoji="1" lang="zh-CN" altLang="en-US" dirty="0">
                <a:latin typeface="微软雅黑" pitchFamily="34" charset="-122"/>
                <a:ea typeface="微软雅黑" pitchFamily="34" charset="-122"/>
                <a:cs typeface="经典粗黑简" pitchFamily="49" charset="-122"/>
              </a:rPr>
              <a:t>。</a:t>
            </a:r>
          </a:p>
        </p:txBody>
      </p:sp>
      <p:grpSp>
        <p:nvGrpSpPr>
          <p:cNvPr id="55" name="组合 54"/>
          <p:cNvGrpSpPr/>
          <p:nvPr/>
        </p:nvGrpSpPr>
        <p:grpSpPr>
          <a:xfrm>
            <a:off x="7029604" y="3765101"/>
            <a:ext cx="2428107" cy="2442036"/>
            <a:chOff x="303272" y="3573931"/>
            <a:chExt cx="2428107" cy="2267810"/>
          </a:xfrm>
        </p:grpSpPr>
        <p:sp>
          <p:nvSpPr>
            <p:cNvPr id="56" name="Oval 5"/>
            <p:cNvSpPr>
              <a:spLocks noChangeArrowheads="1"/>
            </p:cNvSpPr>
            <p:nvPr/>
          </p:nvSpPr>
          <p:spPr bwMode="auto">
            <a:xfrm>
              <a:off x="303272" y="3573931"/>
              <a:ext cx="269318" cy="255653"/>
            </a:xfrm>
            <a:prstGeom prst="ellipse">
              <a:avLst/>
            </a:prstGeom>
            <a:solidFill>
              <a:schemeClr val="bg1"/>
            </a:solidFill>
            <a:ln w="28575" cap="sq">
              <a:solidFill>
                <a:srgbClr val="0033CC"/>
              </a:solidFill>
              <a:miter lim="800000"/>
              <a:headEnd type="none" w="sm" len="sm"/>
              <a:tailEnd type="none" w="sm" len="sm"/>
            </a:ln>
          </p:spPr>
          <p:txBody>
            <a:bodyPr wrap="none" tIns="0" anchorCtr="1"/>
            <a:lstStyle/>
            <a:p>
              <a:r>
                <a:rPr lang="en-US" altLang="zh-CN"/>
                <a:t>A</a:t>
              </a:r>
              <a:endParaRPr lang="en-US" altLang="zh-CN" baseline="-25000"/>
            </a:p>
          </p:txBody>
        </p:sp>
        <p:sp>
          <p:nvSpPr>
            <p:cNvPr id="85" name="Oval 6"/>
            <p:cNvSpPr>
              <a:spLocks noChangeArrowheads="1"/>
            </p:cNvSpPr>
            <p:nvPr/>
          </p:nvSpPr>
          <p:spPr bwMode="auto">
            <a:xfrm>
              <a:off x="2422981" y="3573931"/>
              <a:ext cx="269318" cy="255653"/>
            </a:xfrm>
            <a:prstGeom prst="ellipse">
              <a:avLst/>
            </a:prstGeom>
            <a:solidFill>
              <a:schemeClr val="bg1"/>
            </a:solidFill>
            <a:ln w="28575" cap="sq">
              <a:solidFill>
                <a:srgbClr val="0033CC"/>
              </a:solidFill>
              <a:miter lim="800000"/>
              <a:headEnd type="none" w="sm" len="sm"/>
              <a:tailEnd type="none" w="sm" len="sm"/>
            </a:ln>
          </p:spPr>
          <p:txBody>
            <a:bodyPr wrap="none" tIns="0" anchorCtr="1"/>
            <a:lstStyle/>
            <a:p>
              <a:r>
                <a:rPr lang="en-US" altLang="zh-CN" dirty="0"/>
                <a:t>B</a:t>
              </a:r>
              <a:endParaRPr lang="en-US" altLang="zh-CN" baseline="-25000" dirty="0"/>
            </a:p>
          </p:txBody>
        </p:sp>
        <p:sp>
          <p:nvSpPr>
            <p:cNvPr id="91" name="Oval 7"/>
            <p:cNvSpPr>
              <a:spLocks noChangeArrowheads="1"/>
            </p:cNvSpPr>
            <p:nvPr/>
          </p:nvSpPr>
          <p:spPr bwMode="auto">
            <a:xfrm>
              <a:off x="303272" y="5549797"/>
              <a:ext cx="269318" cy="255653"/>
            </a:xfrm>
            <a:prstGeom prst="ellipse">
              <a:avLst/>
            </a:prstGeom>
            <a:solidFill>
              <a:schemeClr val="bg1"/>
            </a:solidFill>
            <a:ln w="28575" cap="sq">
              <a:solidFill>
                <a:srgbClr val="0033CC"/>
              </a:solidFill>
              <a:miter lim="800000"/>
              <a:headEnd type="none" w="sm" len="sm"/>
              <a:tailEnd type="none" w="sm" len="sm"/>
            </a:ln>
          </p:spPr>
          <p:txBody>
            <a:bodyPr wrap="none" tIns="0" anchorCtr="1"/>
            <a:lstStyle/>
            <a:p>
              <a:r>
                <a:rPr lang="en-US" altLang="zh-CN"/>
                <a:t>L</a:t>
              </a:r>
              <a:endParaRPr lang="en-US" altLang="zh-CN" baseline="-25000"/>
            </a:p>
          </p:txBody>
        </p:sp>
        <p:sp>
          <p:nvSpPr>
            <p:cNvPr id="92" name="Oval 8"/>
            <p:cNvSpPr>
              <a:spLocks noChangeArrowheads="1"/>
            </p:cNvSpPr>
            <p:nvPr/>
          </p:nvSpPr>
          <p:spPr bwMode="auto">
            <a:xfrm>
              <a:off x="2462061" y="5586088"/>
              <a:ext cx="269318" cy="255653"/>
            </a:xfrm>
            <a:prstGeom prst="ellipse">
              <a:avLst/>
            </a:prstGeom>
            <a:solidFill>
              <a:schemeClr val="bg1"/>
            </a:solidFill>
            <a:ln w="28575" cap="sq">
              <a:solidFill>
                <a:srgbClr val="0033CC"/>
              </a:solidFill>
              <a:miter lim="800000"/>
              <a:headEnd type="none" w="sm" len="sm"/>
              <a:tailEnd type="none" w="sm" len="sm"/>
            </a:ln>
          </p:spPr>
          <p:txBody>
            <a:bodyPr wrap="none" tIns="0" anchorCtr="1"/>
            <a:lstStyle/>
            <a:p>
              <a:r>
                <a:rPr lang="en-US" altLang="zh-CN" dirty="0"/>
                <a:t>M</a:t>
              </a:r>
              <a:endParaRPr lang="en-US" altLang="zh-CN" baseline="-25000" dirty="0"/>
            </a:p>
          </p:txBody>
        </p:sp>
        <p:sp>
          <p:nvSpPr>
            <p:cNvPr id="93" name="Oval 9"/>
            <p:cNvSpPr>
              <a:spLocks noChangeArrowheads="1"/>
            </p:cNvSpPr>
            <p:nvPr/>
          </p:nvSpPr>
          <p:spPr bwMode="auto">
            <a:xfrm>
              <a:off x="1344011" y="5220755"/>
              <a:ext cx="269318" cy="255653"/>
            </a:xfrm>
            <a:prstGeom prst="ellipse">
              <a:avLst/>
            </a:prstGeom>
            <a:solidFill>
              <a:schemeClr val="bg1"/>
            </a:solidFill>
            <a:ln w="28575" cap="sq">
              <a:solidFill>
                <a:srgbClr val="0033CC"/>
              </a:solidFill>
              <a:miter lim="800000"/>
              <a:headEnd type="none" w="sm" len="sm"/>
              <a:tailEnd type="none" w="sm" len="sm"/>
            </a:ln>
          </p:spPr>
          <p:txBody>
            <a:bodyPr wrap="none" tIns="0" anchorCtr="1"/>
            <a:lstStyle/>
            <a:p>
              <a:r>
                <a:rPr lang="en-US" altLang="zh-CN"/>
                <a:t>J</a:t>
              </a:r>
              <a:endParaRPr lang="en-US" altLang="zh-CN" baseline="-25000"/>
            </a:p>
          </p:txBody>
        </p:sp>
        <p:sp>
          <p:nvSpPr>
            <p:cNvPr id="94" name="Oval 10"/>
            <p:cNvSpPr>
              <a:spLocks noChangeArrowheads="1"/>
            </p:cNvSpPr>
            <p:nvPr/>
          </p:nvSpPr>
          <p:spPr bwMode="auto">
            <a:xfrm>
              <a:off x="1189387" y="3940071"/>
              <a:ext cx="269318" cy="255653"/>
            </a:xfrm>
            <a:prstGeom prst="ellipse">
              <a:avLst/>
            </a:prstGeom>
            <a:solidFill>
              <a:schemeClr val="bg1"/>
            </a:solidFill>
            <a:ln w="28575" cap="sq">
              <a:solidFill>
                <a:srgbClr val="0033CC"/>
              </a:solidFill>
              <a:miter lim="800000"/>
              <a:headEnd type="none" w="sm" len="sm"/>
              <a:tailEnd type="none" w="sm" len="sm"/>
            </a:ln>
          </p:spPr>
          <p:txBody>
            <a:bodyPr wrap="none" tIns="0" anchorCtr="1"/>
            <a:lstStyle/>
            <a:p>
              <a:r>
                <a:rPr lang="en-US" altLang="zh-CN"/>
                <a:t>D</a:t>
              </a:r>
              <a:endParaRPr lang="en-US" altLang="zh-CN" baseline="-25000"/>
            </a:p>
          </p:txBody>
        </p:sp>
        <p:sp>
          <p:nvSpPr>
            <p:cNvPr id="95" name="Oval 11"/>
            <p:cNvSpPr>
              <a:spLocks noChangeArrowheads="1"/>
            </p:cNvSpPr>
            <p:nvPr/>
          </p:nvSpPr>
          <p:spPr bwMode="auto">
            <a:xfrm>
              <a:off x="1806184" y="3940071"/>
              <a:ext cx="269318" cy="255653"/>
            </a:xfrm>
            <a:prstGeom prst="ellipse">
              <a:avLst/>
            </a:prstGeom>
            <a:solidFill>
              <a:schemeClr val="bg1"/>
            </a:solidFill>
            <a:ln w="28575" cap="sq">
              <a:solidFill>
                <a:srgbClr val="0033CC"/>
              </a:solidFill>
              <a:miter lim="800000"/>
              <a:headEnd type="none" w="sm" len="sm"/>
              <a:tailEnd type="none" w="sm" len="sm"/>
            </a:ln>
          </p:spPr>
          <p:txBody>
            <a:bodyPr wrap="none" tIns="0" anchorCtr="1"/>
            <a:lstStyle/>
            <a:p>
              <a:r>
                <a:rPr lang="en-US" altLang="zh-CN"/>
                <a:t>E</a:t>
              </a:r>
              <a:endParaRPr lang="en-US" altLang="zh-CN" baseline="-25000"/>
            </a:p>
          </p:txBody>
        </p:sp>
        <p:sp>
          <p:nvSpPr>
            <p:cNvPr id="98" name="Oval 12"/>
            <p:cNvSpPr>
              <a:spLocks noChangeArrowheads="1"/>
            </p:cNvSpPr>
            <p:nvPr/>
          </p:nvSpPr>
          <p:spPr bwMode="auto">
            <a:xfrm>
              <a:off x="1189387" y="4342502"/>
              <a:ext cx="269318" cy="255653"/>
            </a:xfrm>
            <a:prstGeom prst="ellipse">
              <a:avLst/>
            </a:prstGeom>
            <a:solidFill>
              <a:schemeClr val="bg1"/>
            </a:solidFill>
            <a:ln w="28575" cap="sq">
              <a:solidFill>
                <a:srgbClr val="0033CC"/>
              </a:solidFill>
              <a:miter lim="800000"/>
              <a:headEnd type="none" w="sm" len="sm"/>
              <a:tailEnd type="none" w="sm" len="sm"/>
            </a:ln>
          </p:spPr>
          <p:txBody>
            <a:bodyPr wrap="none" tIns="0" anchorCtr="1"/>
            <a:lstStyle/>
            <a:p>
              <a:r>
                <a:rPr lang="en-US" altLang="zh-CN"/>
                <a:t>G</a:t>
              </a:r>
              <a:endParaRPr lang="en-US" altLang="zh-CN" baseline="-25000"/>
            </a:p>
          </p:txBody>
        </p:sp>
        <p:sp>
          <p:nvSpPr>
            <p:cNvPr id="105" name="Oval 13"/>
            <p:cNvSpPr>
              <a:spLocks noChangeArrowheads="1"/>
            </p:cNvSpPr>
            <p:nvPr/>
          </p:nvSpPr>
          <p:spPr bwMode="auto">
            <a:xfrm>
              <a:off x="1844415" y="4342502"/>
              <a:ext cx="269318" cy="255653"/>
            </a:xfrm>
            <a:prstGeom prst="ellipse">
              <a:avLst/>
            </a:prstGeom>
            <a:solidFill>
              <a:schemeClr val="bg1"/>
            </a:solidFill>
            <a:ln w="28575" cap="sq">
              <a:solidFill>
                <a:srgbClr val="0033CC"/>
              </a:solidFill>
              <a:miter lim="800000"/>
              <a:headEnd type="none" w="sm" len="sm"/>
              <a:tailEnd type="none" w="sm" len="sm"/>
            </a:ln>
          </p:spPr>
          <p:txBody>
            <a:bodyPr wrap="none" tIns="0" anchorCtr="1"/>
            <a:lstStyle/>
            <a:p>
              <a:r>
                <a:rPr lang="en-US" altLang="zh-CN"/>
                <a:t>H</a:t>
              </a:r>
              <a:endParaRPr lang="en-US" altLang="zh-CN" baseline="-25000"/>
            </a:p>
          </p:txBody>
        </p:sp>
        <p:sp>
          <p:nvSpPr>
            <p:cNvPr id="106" name="Oval 14"/>
            <p:cNvSpPr>
              <a:spLocks noChangeArrowheads="1"/>
            </p:cNvSpPr>
            <p:nvPr/>
          </p:nvSpPr>
          <p:spPr bwMode="auto">
            <a:xfrm>
              <a:off x="649902" y="4927197"/>
              <a:ext cx="269318" cy="255653"/>
            </a:xfrm>
            <a:prstGeom prst="ellipse">
              <a:avLst/>
            </a:prstGeom>
            <a:solidFill>
              <a:schemeClr val="bg1"/>
            </a:solidFill>
            <a:ln w="28575" cap="sq">
              <a:solidFill>
                <a:srgbClr val="0033CC"/>
              </a:solidFill>
              <a:miter lim="800000"/>
              <a:headEnd type="none" w="sm" len="sm"/>
              <a:tailEnd type="none" w="sm" len="sm"/>
            </a:ln>
          </p:spPr>
          <p:txBody>
            <a:bodyPr wrap="none" tIns="0" anchorCtr="1"/>
            <a:lstStyle/>
            <a:p>
              <a:r>
                <a:rPr lang="en-US" altLang="zh-CN"/>
                <a:t>I</a:t>
              </a:r>
              <a:endParaRPr lang="en-US" altLang="zh-CN" baseline="-25000"/>
            </a:p>
          </p:txBody>
        </p:sp>
        <p:sp>
          <p:nvSpPr>
            <p:cNvPr id="107" name="Oval 15"/>
            <p:cNvSpPr>
              <a:spLocks noChangeArrowheads="1"/>
            </p:cNvSpPr>
            <p:nvPr/>
          </p:nvSpPr>
          <p:spPr bwMode="auto">
            <a:xfrm>
              <a:off x="688982" y="4342502"/>
              <a:ext cx="269318" cy="255653"/>
            </a:xfrm>
            <a:prstGeom prst="ellipse">
              <a:avLst/>
            </a:prstGeom>
            <a:solidFill>
              <a:schemeClr val="bg1"/>
            </a:solidFill>
            <a:ln w="28575" cap="sq">
              <a:solidFill>
                <a:srgbClr val="0033CC"/>
              </a:solidFill>
              <a:miter lim="800000"/>
              <a:headEnd type="none" w="sm" len="sm"/>
              <a:tailEnd type="none" w="sm" len="sm"/>
            </a:ln>
          </p:spPr>
          <p:txBody>
            <a:bodyPr wrap="none" tIns="0" anchorCtr="1"/>
            <a:lstStyle/>
            <a:p>
              <a:r>
                <a:rPr lang="en-US" altLang="zh-CN"/>
                <a:t>F</a:t>
              </a:r>
              <a:endParaRPr lang="en-US" altLang="zh-CN" baseline="-25000"/>
            </a:p>
          </p:txBody>
        </p:sp>
        <p:sp>
          <p:nvSpPr>
            <p:cNvPr id="108" name="Oval 16"/>
            <p:cNvSpPr>
              <a:spLocks noChangeArrowheads="1"/>
            </p:cNvSpPr>
            <p:nvPr/>
          </p:nvSpPr>
          <p:spPr bwMode="auto">
            <a:xfrm>
              <a:off x="688982" y="3940071"/>
              <a:ext cx="269318" cy="255653"/>
            </a:xfrm>
            <a:prstGeom prst="ellipse">
              <a:avLst/>
            </a:prstGeom>
            <a:solidFill>
              <a:schemeClr val="bg1"/>
            </a:solidFill>
            <a:ln w="28575" cap="sq">
              <a:solidFill>
                <a:srgbClr val="0033CC"/>
              </a:solidFill>
              <a:miter lim="800000"/>
              <a:headEnd type="none" w="sm" len="sm"/>
              <a:tailEnd type="none" w="sm" len="sm"/>
            </a:ln>
          </p:spPr>
          <p:txBody>
            <a:bodyPr wrap="none" tIns="0" anchorCtr="1"/>
            <a:lstStyle/>
            <a:p>
              <a:r>
                <a:rPr lang="en-US" altLang="zh-CN"/>
                <a:t>C</a:t>
              </a:r>
              <a:endParaRPr lang="en-US" altLang="zh-CN" baseline="-25000"/>
            </a:p>
          </p:txBody>
        </p:sp>
        <p:sp>
          <p:nvSpPr>
            <p:cNvPr id="109" name="Oval 17"/>
            <p:cNvSpPr>
              <a:spLocks noChangeArrowheads="1"/>
            </p:cNvSpPr>
            <p:nvPr/>
          </p:nvSpPr>
          <p:spPr bwMode="auto">
            <a:xfrm>
              <a:off x="1883496" y="4854615"/>
              <a:ext cx="269318" cy="255653"/>
            </a:xfrm>
            <a:prstGeom prst="ellipse">
              <a:avLst/>
            </a:prstGeom>
            <a:solidFill>
              <a:schemeClr val="bg1"/>
            </a:solidFill>
            <a:ln w="28575" cap="sq">
              <a:solidFill>
                <a:srgbClr val="0033CC"/>
              </a:solidFill>
              <a:miter lim="800000"/>
              <a:headEnd type="none" w="sm" len="sm"/>
              <a:tailEnd type="none" w="sm" len="sm"/>
            </a:ln>
          </p:spPr>
          <p:txBody>
            <a:bodyPr wrap="none" tIns="0" anchorCtr="1"/>
            <a:lstStyle/>
            <a:p>
              <a:r>
                <a:rPr lang="en-US" altLang="zh-CN"/>
                <a:t>K</a:t>
              </a:r>
              <a:endParaRPr lang="en-US" altLang="zh-CN" baseline="-25000"/>
            </a:p>
          </p:txBody>
        </p:sp>
        <p:sp>
          <p:nvSpPr>
            <p:cNvPr id="112" name="Line 18"/>
            <p:cNvSpPr>
              <a:spLocks noChangeShapeType="1"/>
            </p:cNvSpPr>
            <p:nvPr/>
          </p:nvSpPr>
          <p:spPr bwMode="auto">
            <a:xfrm>
              <a:off x="573439" y="3683612"/>
              <a:ext cx="1849541" cy="0"/>
            </a:xfrm>
            <a:prstGeom prst="line">
              <a:avLst/>
            </a:prstGeom>
            <a:noFill/>
            <a:ln w="28575" cap="sq">
              <a:solidFill>
                <a:srgbClr val="0033CC"/>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13" name="Line 19"/>
            <p:cNvSpPr>
              <a:spLocks noChangeShapeType="1"/>
            </p:cNvSpPr>
            <p:nvPr/>
          </p:nvSpPr>
          <p:spPr bwMode="auto">
            <a:xfrm>
              <a:off x="418815" y="3830390"/>
              <a:ext cx="0" cy="1718600"/>
            </a:xfrm>
            <a:prstGeom prst="line">
              <a:avLst/>
            </a:prstGeom>
            <a:noFill/>
            <a:ln w="28575" cap="sq">
              <a:solidFill>
                <a:srgbClr val="0033CC"/>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14" name="Line 20"/>
            <p:cNvSpPr>
              <a:spLocks noChangeShapeType="1"/>
            </p:cNvSpPr>
            <p:nvPr/>
          </p:nvSpPr>
          <p:spPr bwMode="auto">
            <a:xfrm>
              <a:off x="2593747" y="3830390"/>
              <a:ext cx="0" cy="1754891"/>
            </a:xfrm>
            <a:prstGeom prst="line">
              <a:avLst/>
            </a:prstGeom>
            <a:noFill/>
            <a:ln w="28575" cap="sq">
              <a:solidFill>
                <a:srgbClr val="0033CC"/>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15" name="Line 21"/>
            <p:cNvSpPr>
              <a:spLocks noChangeShapeType="1"/>
            </p:cNvSpPr>
            <p:nvPr/>
          </p:nvSpPr>
          <p:spPr bwMode="auto">
            <a:xfrm>
              <a:off x="573439" y="5695769"/>
              <a:ext cx="1887772" cy="0"/>
            </a:xfrm>
            <a:prstGeom prst="line">
              <a:avLst/>
            </a:prstGeom>
            <a:noFill/>
            <a:ln w="28575" cap="sq">
              <a:solidFill>
                <a:srgbClr val="0033CC"/>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16" name="Line 22"/>
            <p:cNvSpPr>
              <a:spLocks noChangeShapeType="1"/>
            </p:cNvSpPr>
            <p:nvPr/>
          </p:nvSpPr>
          <p:spPr bwMode="auto">
            <a:xfrm>
              <a:off x="561545" y="3782808"/>
              <a:ext cx="192855" cy="183070"/>
            </a:xfrm>
            <a:prstGeom prst="line">
              <a:avLst/>
            </a:prstGeom>
            <a:noFill/>
            <a:ln w="28575" cap="sq">
              <a:solidFill>
                <a:srgbClr val="0033CC"/>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17" name="Line 23"/>
            <p:cNvSpPr>
              <a:spLocks noChangeShapeType="1"/>
            </p:cNvSpPr>
            <p:nvPr/>
          </p:nvSpPr>
          <p:spPr bwMode="auto">
            <a:xfrm>
              <a:off x="496127" y="3830390"/>
              <a:ext cx="231086" cy="548404"/>
            </a:xfrm>
            <a:prstGeom prst="line">
              <a:avLst/>
            </a:prstGeom>
            <a:noFill/>
            <a:ln w="28575" cap="sq">
              <a:solidFill>
                <a:srgbClr val="0033CC"/>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18" name="Line 24"/>
            <p:cNvSpPr>
              <a:spLocks noChangeShapeType="1"/>
            </p:cNvSpPr>
            <p:nvPr/>
          </p:nvSpPr>
          <p:spPr bwMode="auto">
            <a:xfrm>
              <a:off x="1459554" y="4049752"/>
              <a:ext cx="346630" cy="0"/>
            </a:xfrm>
            <a:prstGeom prst="line">
              <a:avLst/>
            </a:prstGeom>
            <a:noFill/>
            <a:ln w="28575" cap="sq">
              <a:solidFill>
                <a:srgbClr val="0033CC"/>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19" name="Line 25"/>
            <p:cNvSpPr>
              <a:spLocks noChangeShapeType="1"/>
            </p:cNvSpPr>
            <p:nvPr/>
          </p:nvSpPr>
          <p:spPr bwMode="auto">
            <a:xfrm>
              <a:off x="1459554" y="4488475"/>
              <a:ext cx="384861" cy="0"/>
            </a:xfrm>
            <a:prstGeom prst="line">
              <a:avLst/>
            </a:prstGeom>
            <a:noFill/>
            <a:ln w="28575" cap="sq">
              <a:solidFill>
                <a:srgbClr val="0033CC"/>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20" name="Line 26"/>
            <p:cNvSpPr>
              <a:spLocks noChangeShapeType="1"/>
            </p:cNvSpPr>
            <p:nvPr/>
          </p:nvSpPr>
          <p:spPr bwMode="auto">
            <a:xfrm>
              <a:off x="1999039" y="4598155"/>
              <a:ext cx="0" cy="256459"/>
            </a:xfrm>
            <a:prstGeom prst="line">
              <a:avLst/>
            </a:prstGeom>
            <a:noFill/>
            <a:ln w="28575" cap="sq">
              <a:solidFill>
                <a:srgbClr val="0033CC"/>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21" name="Line 27"/>
            <p:cNvSpPr>
              <a:spLocks noChangeShapeType="1"/>
            </p:cNvSpPr>
            <p:nvPr/>
          </p:nvSpPr>
          <p:spPr bwMode="auto">
            <a:xfrm>
              <a:off x="1420473" y="4566703"/>
              <a:ext cx="501254" cy="329042"/>
            </a:xfrm>
            <a:prstGeom prst="line">
              <a:avLst/>
            </a:prstGeom>
            <a:noFill/>
            <a:ln w="28575" cap="sq">
              <a:solidFill>
                <a:srgbClr val="0033CC"/>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22" name="Line 28"/>
            <p:cNvSpPr>
              <a:spLocks noChangeShapeType="1"/>
            </p:cNvSpPr>
            <p:nvPr/>
          </p:nvSpPr>
          <p:spPr bwMode="auto">
            <a:xfrm flipH="1">
              <a:off x="842757" y="4561864"/>
              <a:ext cx="385710" cy="365334"/>
            </a:xfrm>
            <a:prstGeom prst="line">
              <a:avLst/>
            </a:prstGeom>
            <a:noFill/>
            <a:ln w="28575" cap="sq">
              <a:solidFill>
                <a:srgbClr val="0033CC"/>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23" name="Line 29"/>
            <p:cNvSpPr>
              <a:spLocks noChangeShapeType="1"/>
            </p:cNvSpPr>
            <p:nvPr/>
          </p:nvSpPr>
          <p:spPr bwMode="auto">
            <a:xfrm flipH="1">
              <a:off x="534358" y="5366727"/>
              <a:ext cx="809652" cy="219361"/>
            </a:xfrm>
            <a:prstGeom prst="line">
              <a:avLst/>
            </a:prstGeom>
            <a:noFill/>
            <a:ln w="28575" cap="sq">
              <a:solidFill>
                <a:srgbClr val="0033CC"/>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24" name="Line 30"/>
            <p:cNvSpPr>
              <a:spLocks noChangeShapeType="1"/>
            </p:cNvSpPr>
            <p:nvPr/>
          </p:nvSpPr>
          <p:spPr bwMode="auto">
            <a:xfrm>
              <a:off x="1613328" y="5329629"/>
              <a:ext cx="886964" cy="291944"/>
            </a:xfrm>
            <a:prstGeom prst="line">
              <a:avLst/>
            </a:prstGeom>
            <a:noFill/>
            <a:ln w="28575" cap="sq">
              <a:solidFill>
                <a:srgbClr val="0033CC"/>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125" name="组合 124"/>
          <p:cNvGrpSpPr/>
          <p:nvPr/>
        </p:nvGrpSpPr>
        <p:grpSpPr>
          <a:xfrm>
            <a:off x="3359697" y="3803600"/>
            <a:ext cx="2385561" cy="2505721"/>
            <a:chOff x="1476472" y="3461076"/>
            <a:chExt cx="3136351" cy="2929298"/>
          </a:xfrm>
        </p:grpSpPr>
        <p:sp>
          <p:nvSpPr>
            <p:cNvPr id="126" name="Oval 5"/>
            <p:cNvSpPr>
              <a:spLocks noChangeArrowheads="1"/>
            </p:cNvSpPr>
            <p:nvPr/>
          </p:nvSpPr>
          <p:spPr bwMode="auto">
            <a:xfrm>
              <a:off x="1476472" y="3461076"/>
              <a:ext cx="347874" cy="330223"/>
            </a:xfrm>
            <a:prstGeom prst="ellipse">
              <a:avLst/>
            </a:prstGeom>
            <a:solidFill>
              <a:schemeClr val="bg1"/>
            </a:solidFill>
            <a:ln w="28575" cap="sq">
              <a:solidFill>
                <a:srgbClr val="0033CC"/>
              </a:solidFill>
              <a:miter lim="800000"/>
              <a:headEnd type="none" w="sm" len="sm"/>
              <a:tailEnd type="none" w="sm" len="sm"/>
            </a:ln>
          </p:spPr>
          <p:txBody>
            <a:bodyPr wrap="none" tIns="0" anchorCtr="1"/>
            <a:lstStyle/>
            <a:p>
              <a:r>
                <a:rPr lang="en-US" altLang="zh-CN" dirty="0"/>
                <a:t>A</a:t>
              </a:r>
              <a:endParaRPr lang="en-US" altLang="zh-CN" baseline="-25000" dirty="0"/>
            </a:p>
          </p:txBody>
        </p:sp>
        <p:sp>
          <p:nvSpPr>
            <p:cNvPr id="127" name="Oval 6"/>
            <p:cNvSpPr>
              <a:spLocks noChangeArrowheads="1"/>
            </p:cNvSpPr>
            <p:nvPr/>
          </p:nvSpPr>
          <p:spPr bwMode="auto">
            <a:xfrm>
              <a:off x="4214469" y="3461076"/>
              <a:ext cx="347874" cy="330223"/>
            </a:xfrm>
            <a:prstGeom prst="ellipse">
              <a:avLst/>
            </a:prstGeom>
            <a:solidFill>
              <a:schemeClr val="bg1"/>
            </a:solidFill>
            <a:ln w="28575" cap="sq">
              <a:solidFill>
                <a:srgbClr val="0033CC"/>
              </a:solidFill>
              <a:miter lim="800000"/>
              <a:headEnd type="none" w="sm" len="sm"/>
              <a:tailEnd type="none" w="sm" len="sm"/>
            </a:ln>
          </p:spPr>
          <p:txBody>
            <a:bodyPr wrap="none" tIns="0" anchorCtr="1"/>
            <a:lstStyle/>
            <a:p>
              <a:r>
                <a:rPr lang="en-US" altLang="zh-CN"/>
                <a:t>B</a:t>
              </a:r>
              <a:endParaRPr lang="en-US" altLang="zh-CN" baseline="-25000"/>
            </a:p>
          </p:txBody>
        </p:sp>
        <p:sp>
          <p:nvSpPr>
            <p:cNvPr id="128" name="Oval 7"/>
            <p:cNvSpPr>
              <a:spLocks noChangeArrowheads="1"/>
            </p:cNvSpPr>
            <p:nvPr/>
          </p:nvSpPr>
          <p:spPr bwMode="auto">
            <a:xfrm>
              <a:off x="1476472" y="6013274"/>
              <a:ext cx="347874" cy="330223"/>
            </a:xfrm>
            <a:prstGeom prst="ellipse">
              <a:avLst/>
            </a:prstGeom>
            <a:solidFill>
              <a:schemeClr val="bg1"/>
            </a:solidFill>
            <a:ln w="28575" cap="sq">
              <a:solidFill>
                <a:srgbClr val="0033CC"/>
              </a:solidFill>
              <a:miter lim="800000"/>
              <a:headEnd type="none" w="sm" len="sm"/>
              <a:tailEnd type="none" w="sm" len="sm"/>
            </a:ln>
          </p:spPr>
          <p:txBody>
            <a:bodyPr wrap="none" tIns="0" anchorCtr="1"/>
            <a:lstStyle/>
            <a:p>
              <a:r>
                <a:rPr lang="en-US" altLang="zh-CN"/>
                <a:t>L</a:t>
              </a:r>
              <a:endParaRPr lang="en-US" altLang="zh-CN" baseline="-25000"/>
            </a:p>
          </p:txBody>
        </p:sp>
        <p:sp>
          <p:nvSpPr>
            <p:cNvPr id="129" name="Oval 8"/>
            <p:cNvSpPr>
              <a:spLocks noChangeArrowheads="1"/>
            </p:cNvSpPr>
            <p:nvPr/>
          </p:nvSpPr>
          <p:spPr bwMode="auto">
            <a:xfrm>
              <a:off x="4264949" y="6060151"/>
              <a:ext cx="347874" cy="330223"/>
            </a:xfrm>
            <a:prstGeom prst="ellipse">
              <a:avLst/>
            </a:prstGeom>
            <a:solidFill>
              <a:schemeClr val="bg1"/>
            </a:solidFill>
            <a:ln w="28575" cap="sq">
              <a:solidFill>
                <a:srgbClr val="0033CC"/>
              </a:solidFill>
              <a:miter lim="800000"/>
              <a:headEnd type="none" w="sm" len="sm"/>
              <a:tailEnd type="none" w="sm" len="sm"/>
            </a:ln>
          </p:spPr>
          <p:txBody>
            <a:bodyPr wrap="none" tIns="0" anchorCtr="1"/>
            <a:lstStyle/>
            <a:p>
              <a:r>
                <a:rPr lang="en-US" altLang="zh-CN"/>
                <a:t>M</a:t>
              </a:r>
              <a:endParaRPr lang="en-US" altLang="zh-CN" baseline="-25000"/>
            </a:p>
          </p:txBody>
        </p:sp>
        <p:sp>
          <p:nvSpPr>
            <p:cNvPr id="130" name="Oval 9"/>
            <p:cNvSpPr>
              <a:spLocks noChangeArrowheads="1"/>
            </p:cNvSpPr>
            <p:nvPr/>
          </p:nvSpPr>
          <p:spPr bwMode="auto">
            <a:xfrm>
              <a:off x="2820779" y="5588255"/>
              <a:ext cx="347874" cy="330223"/>
            </a:xfrm>
            <a:prstGeom prst="ellipse">
              <a:avLst/>
            </a:prstGeom>
            <a:solidFill>
              <a:schemeClr val="bg1"/>
            </a:solidFill>
            <a:ln w="28575" cap="sq">
              <a:solidFill>
                <a:srgbClr val="0033CC"/>
              </a:solidFill>
              <a:miter lim="800000"/>
              <a:headEnd type="none" w="sm" len="sm"/>
              <a:tailEnd type="none" w="sm" len="sm"/>
            </a:ln>
          </p:spPr>
          <p:txBody>
            <a:bodyPr wrap="none" tIns="0" anchorCtr="1"/>
            <a:lstStyle/>
            <a:p>
              <a:r>
                <a:rPr lang="en-US" altLang="zh-CN"/>
                <a:t>J</a:t>
              </a:r>
              <a:endParaRPr lang="en-US" altLang="zh-CN" baseline="-25000"/>
            </a:p>
          </p:txBody>
        </p:sp>
        <p:sp>
          <p:nvSpPr>
            <p:cNvPr id="131" name="Oval 15"/>
            <p:cNvSpPr>
              <a:spLocks noChangeArrowheads="1"/>
            </p:cNvSpPr>
            <p:nvPr/>
          </p:nvSpPr>
          <p:spPr bwMode="auto">
            <a:xfrm>
              <a:off x="1974689" y="4453829"/>
              <a:ext cx="347874" cy="330223"/>
            </a:xfrm>
            <a:prstGeom prst="ellipse">
              <a:avLst/>
            </a:prstGeom>
            <a:solidFill>
              <a:schemeClr val="bg1"/>
            </a:solidFill>
            <a:ln w="28575" cap="sq">
              <a:solidFill>
                <a:srgbClr val="0033CC"/>
              </a:solidFill>
              <a:miter lim="800000"/>
              <a:headEnd type="none" w="sm" len="sm"/>
              <a:tailEnd type="none" w="sm" len="sm"/>
            </a:ln>
          </p:spPr>
          <p:txBody>
            <a:bodyPr wrap="none" tIns="0" anchorCtr="1"/>
            <a:lstStyle/>
            <a:p>
              <a:r>
                <a:rPr lang="en-US" altLang="zh-CN"/>
                <a:t>F</a:t>
              </a:r>
              <a:endParaRPr lang="en-US" altLang="zh-CN" baseline="-25000"/>
            </a:p>
          </p:txBody>
        </p:sp>
        <p:sp>
          <p:nvSpPr>
            <p:cNvPr id="132" name="Oval 16"/>
            <p:cNvSpPr>
              <a:spLocks noChangeArrowheads="1"/>
            </p:cNvSpPr>
            <p:nvPr/>
          </p:nvSpPr>
          <p:spPr bwMode="auto">
            <a:xfrm>
              <a:off x="1974689" y="3934014"/>
              <a:ext cx="347874" cy="330223"/>
            </a:xfrm>
            <a:prstGeom prst="ellipse">
              <a:avLst/>
            </a:prstGeom>
            <a:solidFill>
              <a:schemeClr val="bg1"/>
            </a:solidFill>
            <a:ln w="28575" cap="sq">
              <a:solidFill>
                <a:srgbClr val="0033CC"/>
              </a:solidFill>
              <a:miter lim="800000"/>
              <a:headEnd type="none" w="sm" len="sm"/>
              <a:tailEnd type="none" w="sm" len="sm"/>
            </a:ln>
          </p:spPr>
          <p:txBody>
            <a:bodyPr wrap="none" tIns="0" anchorCtr="1"/>
            <a:lstStyle/>
            <a:p>
              <a:r>
                <a:rPr lang="en-US" altLang="zh-CN"/>
                <a:t>C</a:t>
              </a:r>
              <a:endParaRPr lang="en-US" altLang="zh-CN" baseline="-25000"/>
            </a:p>
          </p:txBody>
        </p:sp>
        <p:sp>
          <p:nvSpPr>
            <p:cNvPr id="133" name="Line 18"/>
            <p:cNvSpPr>
              <a:spLocks noChangeShapeType="1"/>
            </p:cNvSpPr>
            <p:nvPr/>
          </p:nvSpPr>
          <p:spPr bwMode="auto">
            <a:xfrm>
              <a:off x="1825443" y="3602749"/>
              <a:ext cx="2389026" cy="0"/>
            </a:xfrm>
            <a:prstGeom prst="line">
              <a:avLst/>
            </a:prstGeom>
            <a:noFill/>
            <a:ln w="28575" cap="sq">
              <a:solidFill>
                <a:srgbClr val="0033CC"/>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34" name="Line 19"/>
            <p:cNvSpPr>
              <a:spLocks noChangeShapeType="1"/>
            </p:cNvSpPr>
            <p:nvPr/>
          </p:nvSpPr>
          <p:spPr bwMode="auto">
            <a:xfrm>
              <a:off x="1625718" y="3792341"/>
              <a:ext cx="0" cy="2219891"/>
            </a:xfrm>
            <a:prstGeom prst="line">
              <a:avLst/>
            </a:prstGeom>
            <a:noFill/>
            <a:ln w="28575" cap="sq">
              <a:solidFill>
                <a:srgbClr val="0033CC"/>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35" name="Line 20"/>
            <p:cNvSpPr>
              <a:spLocks noChangeShapeType="1"/>
            </p:cNvSpPr>
            <p:nvPr/>
          </p:nvSpPr>
          <p:spPr bwMode="auto">
            <a:xfrm>
              <a:off x="4435045" y="3792341"/>
              <a:ext cx="0" cy="2266768"/>
            </a:xfrm>
            <a:prstGeom prst="line">
              <a:avLst/>
            </a:prstGeom>
            <a:noFill/>
            <a:ln w="28575" cap="sq">
              <a:solidFill>
                <a:srgbClr val="0033CC"/>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36" name="Line 21"/>
            <p:cNvSpPr>
              <a:spLocks noChangeShapeType="1"/>
            </p:cNvSpPr>
            <p:nvPr/>
          </p:nvSpPr>
          <p:spPr bwMode="auto">
            <a:xfrm>
              <a:off x="1825443" y="6201824"/>
              <a:ext cx="2438409" cy="0"/>
            </a:xfrm>
            <a:prstGeom prst="line">
              <a:avLst/>
            </a:prstGeom>
            <a:noFill/>
            <a:ln w="28575" cap="sq">
              <a:solidFill>
                <a:srgbClr val="0033CC"/>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37" name="Line 22"/>
            <p:cNvSpPr>
              <a:spLocks noChangeShapeType="1"/>
            </p:cNvSpPr>
            <p:nvPr/>
          </p:nvSpPr>
          <p:spPr bwMode="auto">
            <a:xfrm>
              <a:off x="1810080" y="3730880"/>
              <a:ext cx="249108" cy="236469"/>
            </a:xfrm>
            <a:prstGeom prst="line">
              <a:avLst/>
            </a:prstGeom>
            <a:noFill/>
            <a:ln w="28575" cap="sq">
              <a:solidFill>
                <a:srgbClr val="0033CC"/>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38" name="Line 23"/>
            <p:cNvSpPr>
              <a:spLocks noChangeShapeType="1"/>
            </p:cNvSpPr>
            <p:nvPr/>
          </p:nvSpPr>
          <p:spPr bwMode="auto">
            <a:xfrm>
              <a:off x="1725580" y="3792341"/>
              <a:ext cx="298491" cy="708365"/>
            </a:xfrm>
            <a:prstGeom prst="line">
              <a:avLst/>
            </a:prstGeom>
            <a:noFill/>
            <a:ln w="28575" cap="sq">
              <a:solidFill>
                <a:srgbClr val="0033CC"/>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39" name="Line 29"/>
            <p:cNvSpPr>
              <a:spLocks noChangeShapeType="1"/>
            </p:cNvSpPr>
            <p:nvPr/>
          </p:nvSpPr>
          <p:spPr bwMode="auto">
            <a:xfrm flipH="1">
              <a:off x="1774963" y="5776805"/>
              <a:ext cx="1045816" cy="283346"/>
            </a:xfrm>
            <a:prstGeom prst="line">
              <a:avLst/>
            </a:prstGeom>
            <a:noFill/>
            <a:ln w="28575" cap="sq">
              <a:solidFill>
                <a:srgbClr val="0033CC"/>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40" name="Line 30"/>
            <p:cNvSpPr>
              <a:spLocks noChangeShapeType="1"/>
            </p:cNvSpPr>
            <p:nvPr/>
          </p:nvSpPr>
          <p:spPr bwMode="auto">
            <a:xfrm>
              <a:off x="3168653" y="5728886"/>
              <a:ext cx="1145679" cy="377100"/>
            </a:xfrm>
            <a:prstGeom prst="line">
              <a:avLst/>
            </a:prstGeom>
            <a:noFill/>
            <a:ln w="28575" cap="sq">
              <a:solidFill>
                <a:srgbClr val="0033CC"/>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grpSp>
      <p:sp>
        <p:nvSpPr>
          <p:cNvPr id="143" name="矩形 142"/>
          <p:cNvSpPr/>
          <p:nvPr/>
        </p:nvSpPr>
        <p:spPr>
          <a:xfrm>
            <a:off x="3071665" y="2390668"/>
            <a:ext cx="2749471" cy="400110"/>
          </a:xfrm>
          <a:prstGeom prst="rect">
            <a:avLst/>
          </a:prstGeom>
        </p:spPr>
        <p:txBody>
          <a:bodyPr wrap="none">
            <a:spAutoFit/>
          </a:bodyPr>
          <a:lstStyle/>
          <a:p>
            <a:r>
              <a:rPr kumimoji="1" lang="en-US" altLang="zh-CN" sz="2000" dirty="0">
                <a:latin typeface="微软雅黑" pitchFamily="34" charset="-122"/>
                <a:ea typeface="微软雅黑" pitchFamily="34" charset="-122"/>
                <a:cs typeface="经典粗黑简" pitchFamily="49" charset="-122"/>
              </a:rPr>
              <a:t>⑻</a:t>
            </a:r>
            <a:r>
              <a:rPr kumimoji="1" lang="zh-CN" altLang="en-US" sz="2000" dirty="0">
                <a:latin typeface="微软雅黑" pitchFamily="34" charset="-122"/>
                <a:ea typeface="微软雅黑" pitchFamily="34" charset="-122"/>
                <a:cs typeface="经典粗黑简" pitchFamily="49" charset="-122"/>
              </a:rPr>
              <a:t>、连通图和连通分量</a:t>
            </a:r>
          </a:p>
        </p:txBody>
      </p:sp>
      <p:sp>
        <p:nvSpPr>
          <p:cNvPr id="2" name="矩形 1">
            <a:extLst>
              <a:ext uri="{FF2B5EF4-FFF2-40B4-BE49-F238E27FC236}">
                <a16:creationId xmlns:a16="http://schemas.microsoft.com/office/drawing/2014/main" id="{CDEFB6C9-8DF8-F0A5-FA59-0295F76ABE41}"/>
              </a:ext>
            </a:extLst>
          </p:cNvPr>
          <p:cNvSpPr/>
          <p:nvPr/>
        </p:nvSpPr>
        <p:spPr>
          <a:xfrm>
            <a:off x="4421120" y="339686"/>
            <a:ext cx="3637792"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8.1 </a:t>
            </a:r>
            <a:r>
              <a:rPr lang="zh-CN" altLang="en-US" sz="3000" b="1" dirty="0">
                <a:latin typeface="黑体" pitchFamily="49" charset="-122"/>
                <a:ea typeface="黑体" pitchFamily="49" charset="-122"/>
                <a:cs typeface="经典粗黑简" pitchFamily="49" charset="-122"/>
              </a:rPr>
              <a:t>图的基本概念</a:t>
            </a:r>
          </a:p>
        </p:txBody>
      </p:sp>
      <p:sp>
        <p:nvSpPr>
          <p:cNvPr id="3" name="Rectangle 2">
            <a:extLst>
              <a:ext uri="{FF2B5EF4-FFF2-40B4-BE49-F238E27FC236}">
                <a16:creationId xmlns:a16="http://schemas.microsoft.com/office/drawing/2014/main" id="{A88F6F41-4C5D-478C-1ABC-067922C0F74B}"/>
              </a:ext>
            </a:extLst>
          </p:cNvPr>
          <p:cNvSpPr txBox="1">
            <a:spLocks noChangeArrowheads="1"/>
          </p:cNvSpPr>
          <p:nvPr/>
        </p:nvSpPr>
        <p:spPr>
          <a:xfrm>
            <a:off x="407368" y="1167247"/>
            <a:ext cx="3528392"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8.1.2 </a:t>
            </a:r>
            <a:r>
              <a:rPr lang="zh-CN" altLang="en-US" dirty="0"/>
              <a:t>图的基本术语</a:t>
            </a:r>
          </a:p>
        </p:txBody>
      </p:sp>
      <p:cxnSp>
        <p:nvCxnSpPr>
          <p:cNvPr id="4" name="直接连接符 3">
            <a:extLst>
              <a:ext uri="{FF2B5EF4-FFF2-40B4-BE49-F238E27FC236}">
                <a16:creationId xmlns:a16="http://schemas.microsoft.com/office/drawing/2014/main" id="{3FA26917-D8D9-01D8-9CD7-47A6A36CF5D8}"/>
              </a:ext>
            </a:extLst>
          </p:cNvPr>
          <p:cNvCxnSpPr>
            <a:cxnSpLocks/>
          </p:cNvCxnSpPr>
          <p:nvPr/>
        </p:nvCxnSpPr>
        <p:spPr>
          <a:xfrm>
            <a:off x="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602501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p:cNvGrpSpPr/>
          <p:nvPr/>
        </p:nvGrpSpPr>
        <p:grpSpPr>
          <a:xfrm>
            <a:off x="2385449" y="3751160"/>
            <a:ext cx="2428107" cy="2486152"/>
            <a:chOff x="303272" y="3573931"/>
            <a:chExt cx="2428107" cy="2267810"/>
          </a:xfrm>
        </p:grpSpPr>
        <p:sp>
          <p:nvSpPr>
            <p:cNvPr id="58" name="Oval 5"/>
            <p:cNvSpPr>
              <a:spLocks noChangeArrowheads="1"/>
            </p:cNvSpPr>
            <p:nvPr/>
          </p:nvSpPr>
          <p:spPr bwMode="auto">
            <a:xfrm>
              <a:off x="303272" y="3573931"/>
              <a:ext cx="269318" cy="255653"/>
            </a:xfrm>
            <a:prstGeom prst="ellipse">
              <a:avLst/>
            </a:prstGeom>
            <a:solidFill>
              <a:schemeClr val="bg1"/>
            </a:solidFill>
            <a:ln w="28575" cap="sq">
              <a:solidFill>
                <a:srgbClr val="0033CC"/>
              </a:solidFill>
              <a:miter lim="800000"/>
              <a:headEnd type="none" w="sm" len="sm"/>
              <a:tailEnd type="none" w="sm" len="sm"/>
            </a:ln>
          </p:spPr>
          <p:txBody>
            <a:bodyPr wrap="none" tIns="0" anchorCtr="1"/>
            <a:lstStyle/>
            <a:p>
              <a:r>
                <a:rPr lang="en-US" altLang="zh-CN"/>
                <a:t>A</a:t>
              </a:r>
              <a:endParaRPr lang="en-US" altLang="zh-CN" baseline="-25000"/>
            </a:p>
          </p:txBody>
        </p:sp>
        <p:sp>
          <p:nvSpPr>
            <p:cNvPr id="59" name="Oval 6"/>
            <p:cNvSpPr>
              <a:spLocks noChangeArrowheads="1"/>
            </p:cNvSpPr>
            <p:nvPr/>
          </p:nvSpPr>
          <p:spPr bwMode="auto">
            <a:xfrm>
              <a:off x="2422981" y="3573931"/>
              <a:ext cx="269318" cy="255653"/>
            </a:xfrm>
            <a:prstGeom prst="ellipse">
              <a:avLst/>
            </a:prstGeom>
            <a:solidFill>
              <a:schemeClr val="bg1"/>
            </a:solidFill>
            <a:ln w="28575" cap="sq">
              <a:solidFill>
                <a:srgbClr val="0033CC"/>
              </a:solidFill>
              <a:miter lim="800000"/>
              <a:headEnd type="none" w="sm" len="sm"/>
              <a:tailEnd type="none" w="sm" len="sm"/>
            </a:ln>
          </p:spPr>
          <p:txBody>
            <a:bodyPr wrap="none" tIns="0" anchorCtr="1"/>
            <a:lstStyle/>
            <a:p>
              <a:r>
                <a:rPr lang="en-US" altLang="zh-CN"/>
                <a:t>B</a:t>
              </a:r>
              <a:endParaRPr lang="en-US" altLang="zh-CN" baseline="-25000"/>
            </a:p>
          </p:txBody>
        </p:sp>
        <p:sp>
          <p:nvSpPr>
            <p:cNvPr id="60" name="Oval 7"/>
            <p:cNvSpPr>
              <a:spLocks noChangeArrowheads="1"/>
            </p:cNvSpPr>
            <p:nvPr/>
          </p:nvSpPr>
          <p:spPr bwMode="auto">
            <a:xfrm>
              <a:off x="303272" y="5549797"/>
              <a:ext cx="269318" cy="255653"/>
            </a:xfrm>
            <a:prstGeom prst="ellipse">
              <a:avLst/>
            </a:prstGeom>
            <a:solidFill>
              <a:schemeClr val="bg1"/>
            </a:solidFill>
            <a:ln w="28575" cap="sq">
              <a:solidFill>
                <a:srgbClr val="0033CC"/>
              </a:solidFill>
              <a:miter lim="800000"/>
              <a:headEnd type="none" w="sm" len="sm"/>
              <a:tailEnd type="none" w="sm" len="sm"/>
            </a:ln>
          </p:spPr>
          <p:txBody>
            <a:bodyPr wrap="none" tIns="0" anchorCtr="1"/>
            <a:lstStyle/>
            <a:p>
              <a:r>
                <a:rPr lang="en-US" altLang="zh-CN"/>
                <a:t>L</a:t>
              </a:r>
              <a:endParaRPr lang="en-US" altLang="zh-CN" baseline="-25000"/>
            </a:p>
          </p:txBody>
        </p:sp>
        <p:sp>
          <p:nvSpPr>
            <p:cNvPr id="61" name="Oval 8"/>
            <p:cNvSpPr>
              <a:spLocks noChangeArrowheads="1"/>
            </p:cNvSpPr>
            <p:nvPr/>
          </p:nvSpPr>
          <p:spPr bwMode="auto">
            <a:xfrm>
              <a:off x="2462061" y="5586088"/>
              <a:ext cx="269318" cy="255653"/>
            </a:xfrm>
            <a:prstGeom prst="ellipse">
              <a:avLst/>
            </a:prstGeom>
            <a:solidFill>
              <a:schemeClr val="bg1"/>
            </a:solidFill>
            <a:ln w="28575" cap="sq">
              <a:solidFill>
                <a:srgbClr val="0033CC"/>
              </a:solidFill>
              <a:miter lim="800000"/>
              <a:headEnd type="none" w="sm" len="sm"/>
              <a:tailEnd type="none" w="sm" len="sm"/>
            </a:ln>
          </p:spPr>
          <p:txBody>
            <a:bodyPr wrap="none" tIns="0" anchorCtr="1"/>
            <a:lstStyle/>
            <a:p>
              <a:r>
                <a:rPr lang="en-US" altLang="zh-CN" dirty="0"/>
                <a:t>M</a:t>
              </a:r>
              <a:endParaRPr lang="en-US" altLang="zh-CN" baseline="-25000" dirty="0"/>
            </a:p>
          </p:txBody>
        </p:sp>
        <p:sp>
          <p:nvSpPr>
            <p:cNvPr id="62" name="Oval 9"/>
            <p:cNvSpPr>
              <a:spLocks noChangeArrowheads="1"/>
            </p:cNvSpPr>
            <p:nvPr/>
          </p:nvSpPr>
          <p:spPr bwMode="auto">
            <a:xfrm>
              <a:off x="1344011" y="5220755"/>
              <a:ext cx="269318" cy="255653"/>
            </a:xfrm>
            <a:prstGeom prst="ellipse">
              <a:avLst/>
            </a:prstGeom>
            <a:solidFill>
              <a:schemeClr val="bg1"/>
            </a:solidFill>
            <a:ln w="28575" cap="sq">
              <a:solidFill>
                <a:srgbClr val="0033CC"/>
              </a:solidFill>
              <a:miter lim="800000"/>
              <a:headEnd type="none" w="sm" len="sm"/>
              <a:tailEnd type="none" w="sm" len="sm"/>
            </a:ln>
          </p:spPr>
          <p:txBody>
            <a:bodyPr wrap="none" tIns="0" anchorCtr="1"/>
            <a:lstStyle/>
            <a:p>
              <a:r>
                <a:rPr lang="en-US" altLang="zh-CN"/>
                <a:t>J</a:t>
              </a:r>
              <a:endParaRPr lang="en-US" altLang="zh-CN" baseline="-25000"/>
            </a:p>
          </p:txBody>
        </p:sp>
        <p:sp>
          <p:nvSpPr>
            <p:cNvPr id="63" name="Oval 10"/>
            <p:cNvSpPr>
              <a:spLocks noChangeArrowheads="1"/>
            </p:cNvSpPr>
            <p:nvPr/>
          </p:nvSpPr>
          <p:spPr bwMode="auto">
            <a:xfrm>
              <a:off x="1189387" y="3940071"/>
              <a:ext cx="269318" cy="255653"/>
            </a:xfrm>
            <a:prstGeom prst="ellipse">
              <a:avLst/>
            </a:prstGeom>
            <a:solidFill>
              <a:schemeClr val="bg1"/>
            </a:solidFill>
            <a:ln w="28575" cap="sq">
              <a:solidFill>
                <a:srgbClr val="0033CC"/>
              </a:solidFill>
              <a:miter lim="800000"/>
              <a:headEnd type="none" w="sm" len="sm"/>
              <a:tailEnd type="none" w="sm" len="sm"/>
            </a:ln>
          </p:spPr>
          <p:txBody>
            <a:bodyPr wrap="none" tIns="0" anchorCtr="1"/>
            <a:lstStyle/>
            <a:p>
              <a:r>
                <a:rPr lang="en-US" altLang="zh-CN"/>
                <a:t>D</a:t>
              </a:r>
              <a:endParaRPr lang="en-US" altLang="zh-CN" baseline="-25000"/>
            </a:p>
          </p:txBody>
        </p:sp>
        <p:sp>
          <p:nvSpPr>
            <p:cNvPr id="64" name="Oval 11"/>
            <p:cNvSpPr>
              <a:spLocks noChangeArrowheads="1"/>
            </p:cNvSpPr>
            <p:nvPr/>
          </p:nvSpPr>
          <p:spPr bwMode="auto">
            <a:xfrm>
              <a:off x="1806184" y="3940071"/>
              <a:ext cx="269318" cy="255653"/>
            </a:xfrm>
            <a:prstGeom prst="ellipse">
              <a:avLst/>
            </a:prstGeom>
            <a:solidFill>
              <a:schemeClr val="bg1"/>
            </a:solidFill>
            <a:ln w="28575" cap="sq">
              <a:solidFill>
                <a:srgbClr val="0033CC"/>
              </a:solidFill>
              <a:miter lim="800000"/>
              <a:headEnd type="none" w="sm" len="sm"/>
              <a:tailEnd type="none" w="sm" len="sm"/>
            </a:ln>
          </p:spPr>
          <p:txBody>
            <a:bodyPr wrap="none" tIns="0" anchorCtr="1"/>
            <a:lstStyle/>
            <a:p>
              <a:r>
                <a:rPr lang="en-US" altLang="zh-CN"/>
                <a:t>E</a:t>
              </a:r>
              <a:endParaRPr lang="en-US" altLang="zh-CN" baseline="-25000"/>
            </a:p>
          </p:txBody>
        </p:sp>
        <p:sp>
          <p:nvSpPr>
            <p:cNvPr id="65" name="Oval 12"/>
            <p:cNvSpPr>
              <a:spLocks noChangeArrowheads="1"/>
            </p:cNvSpPr>
            <p:nvPr/>
          </p:nvSpPr>
          <p:spPr bwMode="auto">
            <a:xfrm>
              <a:off x="1189387" y="4342502"/>
              <a:ext cx="269318" cy="255653"/>
            </a:xfrm>
            <a:prstGeom prst="ellipse">
              <a:avLst/>
            </a:prstGeom>
            <a:solidFill>
              <a:schemeClr val="bg1"/>
            </a:solidFill>
            <a:ln w="28575" cap="sq">
              <a:solidFill>
                <a:srgbClr val="0033CC"/>
              </a:solidFill>
              <a:miter lim="800000"/>
              <a:headEnd type="none" w="sm" len="sm"/>
              <a:tailEnd type="none" w="sm" len="sm"/>
            </a:ln>
          </p:spPr>
          <p:txBody>
            <a:bodyPr wrap="none" tIns="0" anchorCtr="1"/>
            <a:lstStyle/>
            <a:p>
              <a:r>
                <a:rPr lang="en-US" altLang="zh-CN"/>
                <a:t>G</a:t>
              </a:r>
              <a:endParaRPr lang="en-US" altLang="zh-CN" baseline="-25000"/>
            </a:p>
          </p:txBody>
        </p:sp>
        <p:sp>
          <p:nvSpPr>
            <p:cNvPr id="66" name="Oval 13"/>
            <p:cNvSpPr>
              <a:spLocks noChangeArrowheads="1"/>
            </p:cNvSpPr>
            <p:nvPr/>
          </p:nvSpPr>
          <p:spPr bwMode="auto">
            <a:xfrm>
              <a:off x="1844415" y="4342502"/>
              <a:ext cx="269318" cy="255653"/>
            </a:xfrm>
            <a:prstGeom prst="ellipse">
              <a:avLst/>
            </a:prstGeom>
            <a:solidFill>
              <a:schemeClr val="bg1"/>
            </a:solidFill>
            <a:ln w="28575" cap="sq">
              <a:solidFill>
                <a:srgbClr val="0033CC"/>
              </a:solidFill>
              <a:miter lim="800000"/>
              <a:headEnd type="none" w="sm" len="sm"/>
              <a:tailEnd type="none" w="sm" len="sm"/>
            </a:ln>
          </p:spPr>
          <p:txBody>
            <a:bodyPr wrap="none" tIns="0" anchorCtr="1"/>
            <a:lstStyle/>
            <a:p>
              <a:r>
                <a:rPr lang="en-US" altLang="zh-CN"/>
                <a:t>H</a:t>
              </a:r>
              <a:endParaRPr lang="en-US" altLang="zh-CN" baseline="-25000"/>
            </a:p>
          </p:txBody>
        </p:sp>
        <p:sp>
          <p:nvSpPr>
            <p:cNvPr id="67" name="Oval 14"/>
            <p:cNvSpPr>
              <a:spLocks noChangeArrowheads="1"/>
            </p:cNvSpPr>
            <p:nvPr/>
          </p:nvSpPr>
          <p:spPr bwMode="auto">
            <a:xfrm>
              <a:off x="649902" y="4927197"/>
              <a:ext cx="269318" cy="255653"/>
            </a:xfrm>
            <a:prstGeom prst="ellipse">
              <a:avLst/>
            </a:prstGeom>
            <a:solidFill>
              <a:schemeClr val="bg1"/>
            </a:solidFill>
            <a:ln w="28575" cap="sq">
              <a:solidFill>
                <a:srgbClr val="0033CC"/>
              </a:solidFill>
              <a:miter lim="800000"/>
              <a:headEnd type="none" w="sm" len="sm"/>
              <a:tailEnd type="none" w="sm" len="sm"/>
            </a:ln>
          </p:spPr>
          <p:txBody>
            <a:bodyPr wrap="none" tIns="0" anchorCtr="1"/>
            <a:lstStyle/>
            <a:p>
              <a:r>
                <a:rPr lang="en-US" altLang="zh-CN"/>
                <a:t>I</a:t>
              </a:r>
              <a:endParaRPr lang="en-US" altLang="zh-CN" baseline="-25000"/>
            </a:p>
          </p:txBody>
        </p:sp>
        <p:sp>
          <p:nvSpPr>
            <p:cNvPr id="68" name="Oval 15"/>
            <p:cNvSpPr>
              <a:spLocks noChangeArrowheads="1"/>
            </p:cNvSpPr>
            <p:nvPr/>
          </p:nvSpPr>
          <p:spPr bwMode="auto">
            <a:xfrm>
              <a:off x="688982" y="4342502"/>
              <a:ext cx="269318" cy="255653"/>
            </a:xfrm>
            <a:prstGeom prst="ellipse">
              <a:avLst/>
            </a:prstGeom>
            <a:solidFill>
              <a:schemeClr val="bg1"/>
            </a:solidFill>
            <a:ln w="28575" cap="sq">
              <a:solidFill>
                <a:srgbClr val="0033CC"/>
              </a:solidFill>
              <a:miter lim="800000"/>
              <a:headEnd type="none" w="sm" len="sm"/>
              <a:tailEnd type="none" w="sm" len="sm"/>
            </a:ln>
          </p:spPr>
          <p:txBody>
            <a:bodyPr wrap="none" tIns="0" anchorCtr="1"/>
            <a:lstStyle/>
            <a:p>
              <a:r>
                <a:rPr lang="en-US" altLang="zh-CN"/>
                <a:t>F</a:t>
              </a:r>
              <a:endParaRPr lang="en-US" altLang="zh-CN" baseline="-25000"/>
            </a:p>
          </p:txBody>
        </p:sp>
        <p:sp>
          <p:nvSpPr>
            <p:cNvPr id="69" name="Oval 16"/>
            <p:cNvSpPr>
              <a:spLocks noChangeArrowheads="1"/>
            </p:cNvSpPr>
            <p:nvPr/>
          </p:nvSpPr>
          <p:spPr bwMode="auto">
            <a:xfrm>
              <a:off x="688982" y="3940071"/>
              <a:ext cx="269318" cy="255653"/>
            </a:xfrm>
            <a:prstGeom prst="ellipse">
              <a:avLst/>
            </a:prstGeom>
            <a:solidFill>
              <a:schemeClr val="bg1"/>
            </a:solidFill>
            <a:ln w="28575" cap="sq">
              <a:solidFill>
                <a:srgbClr val="0033CC"/>
              </a:solidFill>
              <a:miter lim="800000"/>
              <a:headEnd type="none" w="sm" len="sm"/>
              <a:tailEnd type="none" w="sm" len="sm"/>
            </a:ln>
          </p:spPr>
          <p:txBody>
            <a:bodyPr wrap="none" tIns="0" anchorCtr="1"/>
            <a:lstStyle/>
            <a:p>
              <a:r>
                <a:rPr lang="en-US" altLang="zh-CN"/>
                <a:t>C</a:t>
              </a:r>
              <a:endParaRPr lang="en-US" altLang="zh-CN" baseline="-25000"/>
            </a:p>
          </p:txBody>
        </p:sp>
        <p:sp>
          <p:nvSpPr>
            <p:cNvPr id="71" name="Oval 17"/>
            <p:cNvSpPr>
              <a:spLocks noChangeArrowheads="1"/>
            </p:cNvSpPr>
            <p:nvPr/>
          </p:nvSpPr>
          <p:spPr bwMode="auto">
            <a:xfrm>
              <a:off x="1883496" y="4854615"/>
              <a:ext cx="269318" cy="255653"/>
            </a:xfrm>
            <a:prstGeom prst="ellipse">
              <a:avLst/>
            </a:prstGeom>
            <a:solidFill>
              <a:schemeClr val="bg1"/>
            </a:solidFill>
            <a:ln w="28575" cap="sq">
              <a:solidFill>
                <a:srgbClr val="0033CC"/>
              </a:solidFill>
              <a:miter lim="800000"/>
              <a:headEnd type="none" w="sm" len="sm"/>
              <a:tailEnd type="none" w="sm" len="sm"/>
            </a:ln>
          </p:spPr>
          <p:txBody>
            <a:bodyPr wrap="none" tIns="0" anchorCtr="1"/>
            <a:lstStyle/>
            <a:p>
              <a:r>
                <a:rPr lang="en-US" altLang="zh-CN"/>
                <a:t>K</a:t>
              </a:r>
              <a:endParaRPr lang="en-US" altLang="zh-CN" baseline="-25000"/>
            </a:p>
          </p:txBody>
        </p:sp>
        <p:sp>
          <p:nvSpPr>
            <p:cNvPr id="72" name="Line 18"/>
            <p:cNvSpPr>
              <a:spLocks noChangeShapeType="1"/>
            </p:cNvSpPr>
            <p:nvPr/>
          </p:nvSpPr>
          <p:spPr bwMode="auto">
            <a:xfrm>
              <a:off x="573439" y="3683612"/>
              <a:ext cx="1849541" cy="0"/>
            </a:xfrm>
            <a:prstGeom prst="line">
              <a:avLst/>
            </a:prstGeom>
            <a:noFill/>
            <a:ln w="28575" cap="sq">
              <a:solidFill>
                <a:srgbClr val="0033CC"/>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73" name="Line 19"/>
            <p:cNvSpPr>
              <a:spLocks noChangeShapeType="1"/>
            </p:cNvSpPr>
            <p:nvPr/>
          </p:nvSpPr>
          <p:spPr bwMode="auto">
            <a:xfrm>
              <a:off x="418815" y="3830390"/>
              <a:ext cx="0" cy="1718600"/>
            </a:xfrm>
            <a:prstGeom prst="line">
              <a:avLst/>
            </a:prstGeom>
            <a:noFill/>
            <a:ln w="28575" cap="sq">
              <a:solidFill>
                <a:srgbClr val="0033CC"/>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74" name="Line 20"/>
            <p:cNvSpPr>
              <a:spLocks noChangeShapeType="1"/>
            </p:cNvSpPr>
            <p:nvPr/>
          </p:nvSpPr>
          <p:spPr bwMode="auto">
            <a:xfrm>
              <a:off x="2593747" y="3830390"/>
              <a:ext cx="0" cy="1754891"/>
            </a:xfrm>
            <a:prstGeom prst="line">
              <a:avLst/>
            </a:prstGeom>
            <a:noFill/>
            <a:ln w="28575" cap="sq">
              <a:solidFill>
                <a:srgbClr val="0033CC"/>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75" name="Line 21"/>
            <p:cNvSpPr>
              <a:spLocks noChangeShapeType="1"/>
            </p:cNvSpPr>
            <p:nvPr/>
          </p:nvSpPr>
          <p:spPr bwMode="auto">
            <a:xfrm>
              <a:off x="573439" y="5695769"/>
              <a:ext cx="1887772" cy="0"/>
            </a:xfrm>
            <a:prstGeom prst="line">
              <a:avLst/>
            </a:prstGeom>
            <a:noFill/>
            <a:ln w="28575" cap="sq">
              <a:solidFill>
                <a:srgbClr val="0033CC"/>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76" name="Line 22"/>
            <p:cNvSpPr>
              <a:spLocks noChangeShapeType="1"/>
            </p:cNvSpPr>
            <p:nvPr/>
          </p:nvSpPr>
          <p:spPr bwMode="auto">
            <a:xfrm>
              <a:off x="561545" y="3782808"/>
              <a:ext cx="192855" cy="183070"/>
            </a:xfrm>
            <a:prstGeom prst="line">
              <a:avLst/>
            </a:prstGeom>
            <a:noFill/>
            <a:ln w="28575" cap="sq">
              <a:solidFill>
                <a:srgbClr val="0033CC"/>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77" name="Line 23"/>
            <p:cNvSpPr>
              <a:spLocks noChangeShapeType="1"/>
            </p:cNvSpPr>
            <p:nvPr/>
          </p:nvSpPr>
          <p:spPr bwMode="auto">
            <a:xfrm>
              <a:off x="496127" y="3830390"/>
              <a:ext cx="231086" cy="548404"/>
            </a:xfrm>
            <a:prstGeom prst="line">
              <a:avLst/>
            </a:prstGeom>
            <a:noFill/>
            <a:ln w="28575" cap="sq">
              <a:solidFill>
                <a:srgbClr val="0033CC"/>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78" name="Line 24"/>
            <p:cNvSpPr>
              <a:spLocks noChangeShapeType="1"/>
            </p:cNvSpPr>
            <p:nvPr/>
          </p:nvSpPr>
          <p:spPr bwMode="auto">
            <a:xfrm>
              <a:off x="1459554" y="4049752"/>
              <a:ext cx="346630" cy="0"/>
            </a:xfrm>
            <a:prstGeom prst="line">
              <a:avLst/>
            </a:prstGeom>
            <a:noFill/>
            <a:ln w="28575" cap="sq">
              <a:solidFill>
                <a:srgbClr val="0033CC"/>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79" name="Line 25"/>
            <p:cNvSpPr>
              <a:spLocks noChangeShapeType="1"/>
            </p:cNvSpPr>
            <p:nvPr/>
          </p:nvSpPr>
          <p:spPr bwMode="auto">
            <a:xfrm>
              <a:off x="1459554" y="4488475"/>
              <a:ext cx="384861" cy="0"/>
            </a:xfrm>
            <a:prstGeom prst="line">
              <a:avLst/>
            </a:prstGeom>
            <a:noFill/>
            <a:ln w="28575" cap="sq">
              <a:solidFill>
                <a:srgbClr val="0033CC"/>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80" name="Line 26"/>
            <p:cNvSpPr>
              <a:spLocks noChangeShapeType="1"/>
            </p:cNvSpPr>
            <p:nvPr/>
          </p:nvSpPr>
          <p:spPr bwMode="auto">
            <a:xfrm>
              <a:off x="1999039" y="4598155"/>
              <a:ext cx="0" cy="256459"/>
            </a:xfrm>
            <a:prstGeom prst="line">
              <a:avLst/>
            </a:prstGeom>
            <a:noFill/>
            <a:ln w="28575" cap="sq">
              <a:solidFill>
                <a:srgbClr val="0033CC"/>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81" name="Line 27"/>
            <p:cNvSpPr>
              <a:spLocks noChangeShapeType="1"/>
            </p:cNvSpPr>
            <p:nvPr/>
          </p:nvSpPr>
          <p:spPr bwMode="auto">
            <a:xfrm>
              <a:off x="1420473" y="4566703"/>
              <a:ext cx="501254" cy="329042"/>
            </a:xfrm>
            <a:prstGeom prst="line">
              <a:avLst/>
            </a:prstGeom>
            <a:noFill/>
            <a:ln w="28575" cap="sq">
              <a:solidFill>
                <a:srgbClr val="0033CC"/>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82" name="Line 28"/>
            <p:cNvSpPr>
              <a:spLocks noChangeShapeType="1"/>
            </p:cNvSpPr>
            <p:nvPr/>
          </p:nvSpPr>
          <p:spPr bwMode="auto">
            <a:xfrm flipH="1">
              <a:off x="842757" y="4561864"/>
              <a:ext cx="385710" cy="365334"/>
            </a:xfrm>
            <a:prstGeom prst="line">
              <a:avLst/>
            </a:prstGeom>
            <a:noFill/>
            <a:ln w="28575" cap="sq">
              <a:solidFill>
                <a:srgbClr val="0033CC"/>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83" name="Line 29"/>
            <p:cNvSpPr>
              <a:spLocks noChangeShapeType="1"/>
            </p:cNvSpPr>
            <p:nvPr/>
          </p:nvSpPr>
          <p:spPr bwMode="auto">
            <a:xfrm flipH="1">
              <a:off x="534358" y="5366727"/>
              <a:ext cx="809652" cy="219361"/>
            </a:xfrm>
            <a:prstGeom prst="line">
              <a:avLst/>
            </a:prstGeom>
            <a:noFill/>
            <a:ln w="28575" cap="sq">
              <a:solidFill>
                <a:srgbClr val="0033CC"/>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84" name="Line 30"/>
            <p:cNvSpPr>
              <a:spLocks noChangeShapeType="1"/>
            </p:cNvSpPr>
            <p:nvPr/>
          </p:nvSpPr>
          <p:spPr bwMode="auto">
            <a:xfrm>
              <a:off x="1613328" y="5329629"/>
              <a:ext cx="886964" cy="291944"/>
            </a:xfrm>
            <a:prstGeom prst="line">
              <a:avLst/>
            </a:prstGeom>
            <a:noFill/>
            <a:ln w="28575" cap="sq">
              <a:solidFill>
                <a:srgbClr val="0033CC"/>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7" name="组合 6"/>
          <p:cNvGrpSpPr/>
          <p:nvPr/>
        </p:nvGrpSpPr>
        <p:grpSpPr>
          <a:xfrm>
            <a:off x="5351615" y="3822017"/>
            <a:ext cx="2385561" cy="2375511"/>
            <a:chOff x="1476472" y="3461076"/>
            <a:chExt cx="3136351" cy="2929298"/>
          </a:xfrm>
        </p:grpSpPr>
        <p:sp>
          <p:nvSpPr>
            <p:cNvPr id="86" name="Oval 5"/>
            <p:cNvSpPr>
              <a:spLocks noChangeArrowheads="1"/>
            </p:cNvSpPr>
            <p:nvPr/>
          </p:nvSpPr>
          <p:spPr bwMode="auto">
            <a:xfrm>
              <a:off x="1476472" y="3461076"/>
              <a:ext cx="347874" cy="330223"/>
            </a:xfrm>
            <a:prstGeom prst="ellipse">
              <a:avLst/>
            </a:prstGeom>
            <a:solidFill>
              <a:schemeClr val="bg1"/>
            </a:solidFill>
            <a:ln w="28575" cap="sq">
              <a:solidFill>
                <a:srgbClr val="0033CC"/>
              </a:solidFill>
              <a:miter lim="800000"/>
              <a:headEnd type="none" w="sm" len="sm"/>
              <a:tailEnd type="none" w="sm" len="sm"/>
            </a:ln>
          </p:spPr>
          <p:txBody>
            <a:bodyPr wrap="none" tIns="0" anchorCtr="1"/>
            <a:lstStyle/>
            <a:p>
              <a:r>
                <a:rPr lang="en-US" altLang="zh-CN"/>
                <a:t>A</a:t>
              </a:r>
              <a:endParaRPr lang="en-US" altLang="zh-CN" baseline="-25000"/>
            </a:p>
          </p:txBody>
        </p:sp>
        <p:sp>
          <p:nvSpPr>
            <p:cNvPr id="87" name="Oval 6"/>
            <p:cNvSpPr>
              <a:spLocks noChangeArrowheads="1"/>
            </p:cNvSpPr>
            <p:nvPr/>
          </p:nvSpPr>
          <p:spPr bwMode="auto">
            <a:xfrm>
              <a:off x="4214469" y="3461076"/>
              <a:ext cx="347874" cy="330223"/>
            </a:xfrm>
            <a:prstGeom prst="ellipse">
              <a:avLst/>
            </a:prstGeom>
            <a:solidFill>
              <a:schemeClr val="bg1"/>
            </a:solidFill>
            <a:ln w="28575" cap="sq">
              <a:solidFill>
                <a:srgbClr val="0033CC"/>
              </a:solidFill>
              <a:miter lim="800000"/>
              <a:headEnd type="none" w="sm" len="sm"/>
              <a:tailEnd type="none" w="sm" len="sm"/>
            </a:ln>
          </p:spPr>
          <p:txBody>
            <a:bodyPr wrap="none" tIns="0" anchorCtr="1"/>
            <a:lstStyle/>
            <a:p>
              <a:r>
                <a:rPr lang="en-US" altLang="zh-CN"/>
                <a:t>B</a:t>
              </a:r>
              <a:endParaRPr lang="en-US" altLang="zh-CN" baseline="-25000"/>
            </a:p>
          </p:txBody>
        </p:sp>
        <p:sp>
          <p:nvSpPr>
            <p:cNvPr id="88" name="Oval 7"/>
            <p:cNvSpPr>
              <a:spLocks noChangeArrowheads="1"/>
            </p:cNvSpPr>
            <p:nvPr/>
          </p:nvSpPr>
          <p:spPr bwMode="auto">
            <a:xfrm>
              <a:off x="1476472" y="6013274"/>
              <a:ext cx="347874" cy="330223"/>
            </a:xfrm>
            <a:prstGeom prst="ellipse">
              <a:avLst/>
            </a:prstGeom>
            <a:solidFill>
              <a:schemeClr val="bg1"/>
            </a:solidFill>
            <a:ln w="28575" cap="sq">
              <a:solidFill>
                <a:srgbClr val="0033CC"/>
              </a:solidFill>
              <a:miter lim="800000"/>
              <a:headEnd type="none" w="sm" len="sm"/>
              <a:tailEnd type="none" w="sm" len="sm"/>
            </a:ln>
          </p:spPr>
          <p:txBody>
            <a:bodyPr wrap="none" tIns="0" anchorCtr="1"/>
            <a:lstStyle/>
            <a:p>
              <a:r>
                <a:rPr lang="en-US" altLang="zh-CN"/>
                <a:t>L</a:t>
              </a:r>
              <a:endParaRPr lang="en-US" altLang="zh-CN" baseline="-25000"/>
            </a:p>
          </p:txBody>
        </p:sp>
        <p:sp>
          <p:nvSpPr>
            <p:cNvPr id="89" name="Oval 8"/>
            <p:cNvSpPr>
              <a:spLocks noChangeArrowheads="1"/>
            </p:cNvSpPr>
            <p:nvPr/>
          </p:nvSpPr>
          <p:spPr bwMode="auto">
            <a:xfrm>
              <a:off x="4264949" y="6060151"/>
              <a:ext cx="347874" cy="330223"/>
            </a:xfrm>
            <a:prstGeom prst="ellipse">
              <a:avLst/>
            </a:prstGeom>
            <a:solidFill>
              <a:schemeClr val="bg1"/>
            </a:solidFill>
            <a:ln w="28575" cap="sq">
              <a:solidFill>
                <a:srgbClr val="0033CC"/>
              </a:solidFill>
              <a:miter lim="800000"/>
              <a:headEnd type="none" w="sm" len="sm"/>
              <a:tailEnd type="none" w="sm" len="sm"/>
            </a:ln>
          </p:spPr>
          <p:txBody>
            <a:bodyPr wrap="none" tIns="0" anchorCtr="1"/>
            <a:lstStyle/>
            <a:p>
              <a:r>
                <a:rPr lang="en-US" altLang="zh-CN"/>
                <a:t>M</a:t>
              </a:r>
              <a:endParaRPr lang="en-US" altLang="zh-CN" baseline="-25000"/>
            </a:p>
          </p:txBody>
        </p:sp>
        <p:sp>
          <p:nvSpPr>
            <p:cNvPr id="90" name="Oval 9"/>
            <p:cNvSpPr>
              <a:spLocks noChangeArrowheads="1"/>
            </p:cNvSpPr>
            <p:nvPr/>
          </p:nvSpPr>
          <p:spPr bwMode="auto">
            <a:xfrm>
              <a:off x="2820779" y="5588255"/>
              <a:ext cx="347874" cy="330223"/>
            </a:xfrm>
            <a:prstGeom prst="ellipse">
              <a:avLst/>
            </a:prstGeom>
            <a:solidFill>
              <a:schemeClr val="bg1"/>
            </a:solidFill>
            <a:ln w="28575" cap="sq">
              <a:solidFill>
                <a:srgbClr val="0033CC"/>
              </a:solidFill>
              <a:miter lim="800000"/>
              <a:headEnd type="none" w="sm" len="sm"/>
              <a:tailEnd type="none" w="sm" len="sm"/>
            </a:ln>
          </p:spPr>
          <p:txBody>
            <a:bodyPr wrap="none" tIns="0" anchorCtr="1"/>
            <a:lstStyle/>
            <a:p>
              <a:r>
                <a:rPr lang="en-US" altLang="zh-CN"/>
                <a:t>J</a:t>
              </a:r>
              <a:endParaRPr lang="en-US" altLang="zh-CN" baseline="-25000"/>
            </a:p>
          </p:txBody>
        </p:sp>
        <p:sp>
          <p:nvSpPr>
            <p:cNvPr id="96" name="Oval 15"/>
            <p:cNvSpPr>
              <a:spLocks noChangeArrowheads="1"/>
            </p:cNvSpPr>
            <p:nvPr/>
          </p:nvSpPr>
          <p:spPr bwMode="auto">
            <a:xfrm>
              <a:off x="1974689" y="4453829"/>
              <a:ext cx="347874" cy="330223"/>
            </a:xfrm>
            <a:prstGeom prst="ellipse">
              <a:avLst/>
            </a:prstGeom>
            <a:solidFill>
              <a:schemeClr val="bg1"/>
            </a:solidFill>
            <a:ln w="28575" cap="sq">
              <a:solidFill>
                <a:srgbClr val="0033CC"/>
              </a:solidFill>
              <a:miter lim="800000"/>
              <a:headEnd type="none" w="sm" len="sm"/>
              <a:tailEnd type="none" w="sm" len="sm"/>
            </a:ln>
          </p:spPr>
          <p:txBody>
            <a:bodyPr wrap="none" tIns="0" anchorCtr="1"/>
            <a:lstStyle/>
            <a:p>
              <a:r>
                <a:rPr lang="en-US" altLang="zh-CN"/>
                <a:t>F</a:t>
              </a:r>
              <a:endParaRPr lang="en-US" altLang="zh-CN" baseline="-25000"/>
            </a:p>
          </p:txBody>
        </p:sp>
        <p:sp>
          <p:nvSpPr>
            <p:cNvPr id="97" name="Oval 16"/>
            <p:cNvSpPr>
              <a:spLocks noChangeArrowheads="1"/>
            </p:cNvSpPr>
            <p:nvPr/>
          </p:nvSpPr>
          <p:spPr bwMode="auto">
            <a:xfrm>
              <a:off x="1974689" y="3934014"/>
              <a:ext cx="347874" cy="330223"/>
            </a:xfrm>
            <a:prstGeom prst="ellipse">
              <a:avLst/>
            </a:prstGeom>
            <a:solidFill>
              <a:schemeClr val="bg1"/>
            </a:solidFill>
            <a:ln w="28575" cap="sq">
              <a:solidFill>
                <a:srgbClr val="0033CC"/>
              </a:solidFill>
              <a:miter lim="800000"/>
              <a:headEnd type="none" w="sm" len="sm"/>
              <a:tailEnd type="none" w="sm" len="sm"/>
            </a:ln>
          </p:spPr>
          <p:txBody>
            <a:bodyPr wrap="none" tIns="0" anchorCtr="1"/>
            <a:lstStyle/>
            <a:p>
              <a:r>
                <a:rPr lang="en-US" altLang="zh-CN"/>
                <a:t>C</a:t>
              </a:r>
              <a:endParaRPr lang="en-US" altLang="zh-CN" baseline="-25000"/>
            </a:p>
          </p:txBody>
        </p:sp>
        <p:sp>
          <p:nvSpPr>
            <p:cNvPr id="99" name="Line 18"/>
            <p:cNvSpPr>
              <a:spLocks noChangeShapeType="1"/>
            </p:cNvSpPr>
            <p:nvPr/>
          </p:nvSpPr>
          <p:spPr bwMode="auto">
            <a:xfrm>
              <a:off x="1825443" y="3602749"/>
              <a:ext cx="2389026" cy="0"/>
            </a:xfrm>
            <a:prstGeom prst="line">
              <a:avLst/>
            </a:prstGeom>
            <a:noFill/>
            <a:ln w="28575" cap="sq">
              <a:solidFill>
                <a:srgbClr val="0033CC"/>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00" name="Line 19"/>
            <p:cNvSpPr>
              <a:spLocks noChangeShapeType="1"/>
            </p:cNvSpPr>
            <p:nvPr/>
          </p:nvSpPr>
          <p:spPr bwMode="auto">
            <a:xfrm>
              <a:off x="1625718" y="3792341"/>
              <a:ext cx="0" cy="2219891"/>
            </a:xfrm>
            <a:prstGeom prst="line">
              <a:avLst/>
            </a:prstGeom>
            <a:noFill/>
            <a:ln w="28575" cap="sq">
              <a:solidFill>
                <a:srgbClr val="0033CC"/>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01" name="Line 20"/>
            <p:cNvSpPr>
              <a:spLocks noChangeShapeType="1"/>
            </p:cNvSpPr>
            <p:nvPr/>
          </p:nvSpPr>
          <p:spPr bwMode="auto">
            <a:xfrm>
              <a:off x="4435045" y="3792341"/>
              <a:ext cx="0" cy="2266768"/>
            </a:xfrm>
            <a:prstGeom prst="line">
              <a:avLst/>
            </a:prstGeom>
            <a:noFill/>
            <a:ln w="28575" cap="sq">
              <a:solidFill>
                <a:srgbClr val="0033CC"/>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02" name="Line 21"/>
            <p:cNvSpPr>
              <a:spLocks noChangeShapeType="1"/>
            </p:cNvSpPr>
            <p:nvPr/>
          </p:nvSpPr>
          <p:spPr bwMode="auto">
            <a:xfrm>
              <a:off x="1825443" y="6201824"/>
              <a:ext cx="2438409" cy="0"/>
            </a:xfrm>
            <a:prstGeom prst="line">
              <a:avLst/>
            </a:prstGeom>
            <a:noFill/>
            <a:ln w="28575" cap="sq">
              <a:solidFill>
                <a:srgbClr val="0033CC"/>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03" name="Line 22"/>
            <p:cNvSpPr>
              <a:spLocks noChangeShapeType="1"/>
            </p:cNvSpPr>
            <p:nvPr/>
          </p:nvSpPr>
          <p:spPr bwMode="auto">
            <a:xfrm>
              <a:off x="1810080" y="3730880"/>
              <a:ext cx="249108" cy="236469"/>
            </a:xfrm>
            <a:prstGeom prst="line">
              <a:avLst/>
            </a:prstGeom>
            <a:noFill/>
            <a:ln w="28575" cap="sq">
              <a:solidFill>
                <a:srgbClr val="0033CC"/>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04" name="Line 23"/>
            <p:cNvSpPr>
              <a:spLocks noChangeShapeType="1"/>
            </p:cNvSpPr>
            <p:nvPr/>
          </p:nvSpPr>
          <p:spPr bwMode="auto">
            <a:xfrm>
              <a:off x="1725580" y="3792341"/>
              <a:ext cx="298491" cy="708365"/>
            </a:xfrm>
            <a:prstGeom prst="line">
              <a:avLst/>
            </a:prstGeom>
            <a:noFill/>
            <a:ln w="28575" cap="sq">
              <a:solidFill>
                <a:srgbClr val="0033CC"/>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10" name="Line 29"/>
            <p:cNvSpPr>
              <a:spLocks noChangeShapeType="1"/>
            </p:cNvSpPr>
            <p:nvPr/>
          </p:nvSpPr>
          <p:spPr bwMode="auto">
            <a:xfrm flipH="1">
              <a:off x="1774963" y="5776805"/>
              <a:ext cx="1045816" cy="283346"/>
            </a:xfrm>
            <a:prstGeom prst="line">
              <a:avLst/>
            </a:prstGeom>
            <a:noFill/>
            <a:ln w="28575" cap="sq">
              <a:solidFill>
                <a:srgbClr val="0033CC"/>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11" name="Line 30"/>
            <p:cNvSpPr>
              <a:spLocks noChangeShapeType="1"/>
            </p:cNvSpPr>
            <p:nvPr/>
          </p:nvSpPr>
          <p:spPr bwMode="auto">
            <a:xfrm>
              <a:off x="3168653" y="5728886"/>
              <a:ext cx="1145679" cy="377100"/>
            </a:xfrm>
            <a:prstGeom prst="line">
              <a:avLst/>
            </a:prstGeom>
            <a:noFill/>
            <a:ln w="28575" cap="sq">
              <a:solidFill>
                <a:srgbClr val="0033CC"/>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8" name="组合 7"/>
          <p:cNvGrpSpPr/>
          <p:nvPr/>
        </p:nvGrpSpPr>
        <p:grpSpPr>
          <a:xfrm>
            <a:off x="7967071" y="3947603"/>
            <a:ext cx="1777031" cy="1002101"/>
            <a:chOff x="5747297" y="3881137"/>
            <a:chExt cx="1502912" cy="840348"/>
          </a:xfrm>
        </p:grpSpPr>
        <p:sp>
          <p:nvSpPr>
            <p:cNvPr id="112" name="Oval 12"/>
            <p:cNvSpPr>
              <a:spLocks noChangeArrowheads="1"/>
            </p:cNvSpPr>
            <p:nvPr/>
          </p:nvSpPr>
          <p:spPr bwMode="auto">
            <a:xfrm>
              <a:off x="6286782" y="3881137"/>
              <a:ext cx="269318" cy="255653"/>
            </a:xfrm>
            <a:prstGeom prst="ellipse">
              <a:avLst/>
            </a:prstGeom>
            <a:solidFill>
              <a:schemeClr val="bg1"/>
            </a:solidFill>
            <a:ln w="28575" cap="sq">
              <a:solidFill>
                <a:srgbClr val="0033CC"/>
              </a:solidFill>
              <a:miter lim="800000"/>
              <a:headEnd type="none" w="sm" len="sm"/>
              <a:tailEnd type="none" w="sm" len="sm"/>
            </a:ln>
          </p:spPr>
          <p:txBody>
            <a:bodyPr wrap="none" tIns="0" anchorCtr="1"/>
            <a:lstStyle/>
            <a:p>
              <a:r>
                <a:rPr lang="en-US" altLang="zh-CN"/>
                <a:t>G</a:t>
              </a:r>
              <a:endParaRPr lang="en-US" altLang="zh-CN" baseline="-25000"/>
            </a:p>
          </p:txBody>
        </p:sp>
        <p:sp>
          <p:nvSpPr>
            <p:cNvPr id="113" name="Oval 13"/>
            <p:cNvSpPr>
              <a:spLocks noChangeArrowheads="1"/>
            </p:cNvSpPr>
            <p:nvPr/>
          </p:nvSpPr>
          <p:spPr bwMode="auto">
            <a:xfrm>
              <a:off x="6941810" y="3881137"/>
              <a:ext cx="269318" cy="255653"/>
            </a:xfrm>
            <a:prstGeom prst="ellipse">
              <a:avLst/>
            </a:prstGeom>
            <a:solidFill>
              <a:schemeClr val="bg1"/>
            </a:solidFill>
            <a:ln w="28575" cap="sq">
              <a:solidFill>
                <a:srgbClr val="0033CC"/>
              </a:solidFill>
              <a:miter lim="800000"/>
              <a:headEnd type="none" w="sm" len="sm"/>
              <a:tailEnd type="none" w="sm" len="sm"/>
            </a:ln>
          </p:spPr>
          <p:txBody>
            <a:bodyPr wrap="none" tIns="0" anchorCtr="1"/>
            <a:lstStyle/>
            <a:p>
              <a:r>
                <a:rPr lang="en-US" altLang="zh-CN"/>
                <a:t>H</a:t>
              </a:r>
              <a:endParaRPr lang="en-US" altLang="zh-CN" baseline="-25000"/>
            </a:p>
          </p:txBody>
        </p:sp>
        <p:sp>
          <p:nvSpPr>
            <p:cNvPr id="114" name="Oval 14"/>
            <p:cNvSpPr>
              <a:spLocks noChangeArrowheads="1"/>
            </p:cNvSpPr>
            <p:nvPr/>
          </p:nvSpPr>
          <p:spPr bwMode="auto">
            <a:xfrm>
              <a:off x="5747297" y="4465832"/>
              <a:ext cx="269318" cy="255653"/>
            </a:xfrm>
            <a:prstGeom prst="ellipse">
              <a:avLst/>
            </a:prstGeom>
            <a:solidFill>
              <a:schemeClr val="bg1"/>
            </a:solidFill>
            <a:ln w="28575" cap="sq">
              <a:solidFill>
                <a:srgbClr val="0033CC"/>
              </a:solidFill>
              <a:miter lim="800000"/>
              <a:headEnd type="none" w="sm" len="sm"/>
              <a:tailEnd type="none" w="sm" len="sm"/>
            </a:ln>
          </p:spPr>
          <p:txBody>
            <a:bodyPr wrap="none" tIns="0" anchorCtr="1"/>
            <a:lstStyle/>
            <a:p>
              <a:r>
                <a:rPr lang="en-US" altLang="zh-CN"/>
                <a:t>I</a:t>
              </a:r>
              <a:endParaRPr lang="en-US" altLang="zh-CN" baseline="-25000"/>
            </a:p>
          </p:txBody>
        </p:sp>
        <p:sp>
          <p:nvSpPr>
            <p:cNvPr id="115" name="Oval 17"/>
            <p:cNvSpPr>
              <a:spLocks noChangeArrowheads="1"/>
            </p:cNvSpPr>
            <p:nvPr/>
          </p:nvSpPr>
          <p:spPr bwMode="auto">
            <a:xfrm>
              <a:off x="6980891" y="4393250"/>
              <a:ext cx="269318" cy="255653"/>
            </a:xfrm>
            <a:prstGeom prst="ellipse">
              <a:avLst/>
            </a:prstGeom>
            <a:solidFill>
              <a:schemeClr val="bg1"/>
            </a:solidFill>
            <a:ln w="28575" cap="sq">
              <a:solidFill>
                <a:srgbClr val="0033CC"/>
              </a:solidFill>
              <a:miter lim="800000"/>
              <a:headEnd type="none" w="sm" len="sm"/>
              <a:tailEnd type="none" w="sm" len="sm"/>
            </a:ln>
          </p:spPr>
          <p:txBody>
            <a:bodyPr wrap="none" tIns="0" anchorCtr="1"/>
            <a:lstStyle/>
            <a:p>
              <a:r>
                <a:rPr lang="en-US" altLang="zh-CN"/>
                <a:t>K</a:t>
              </a:r>
              <a:endParaRPr lang="en-US" altLang="zh-CN" baseline="-25000"/>
            </a:p>
          </p:txBody>
        </p:sp>
        <p:sp>
          <p:nvSpPr>
            <p:cNvPr id="116" name="Line 25"/>
            <p:cNvSpPr>
              <a:spLocks noChangeShapeType="1"/>
            </p:cNvSpPr>
            <p:nvPr/>
          </p:nvSpPr>
          <p:spPr bwMode="auto">
            <a:xfrm>
              <a:off x="6556949" y="4027110"/>
              <a:ext cx="384861" cy="0"/>
            </a:xfrm>
            <a:prstGeom prst="line">
              <a:avLst/>
            </a:prstGeom>
            <a:noFill/>
            <a:ln w="28575" cap="sq">
              <a:solidFill>
                <a:srgbClr val="0033CC"/>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17" name="Line 26"/>
            <p:cNvSpPr>
              <a:spLocks noChangeShapeType="1"/>
            </p:cNvSpPr>
            <p:nvPr/>
          </p:nvSpPr>
          <p:spPr bwMode="auto">
            <a:xfrm>
              <a:off x="7096434" y="4136790"/>
              <a:ext cx="0" cy="256459"/>
            </a:xfrm>
            <a:prstGeom prst="line">
              <a:avLst/>
            </a:prstGeom>
            <a:noFill/>
            <a:ln w="28575" cap="sq">
              <a:solidFill>
                <a:srgbClr val="0033CC"/>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18" name="Line 27"/>
            <p:cNvSpPr>
              <a:spLocks noChangeShapeType="1"/>
            </p:cNvSpPr>
            <p:nvPr/>
          </p:nvSpPr>
          <p:spPr bwMode="auto">
            <a:xfrm>
              <a:off x="6517868" y="4105338"/>
              <a:ext cx="501254" cy="329042"/>
            </a:xfrm>
            <a:prstGeom prst="line">
              <a:avLst/>
            </a:prstGeom>
            <a:noFill/>
            <a:ln w="28575" cap="sq">
              <a:solidFill>
                <a:srgbClr val="0033CC"/>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19" name="Line 28"/>
            <p:cNvSpPr>
              <a:spLocks noChangeShapeType="1"/>
            </p:cNvSpPr>
            <p:nvPr/>
          </p:nvSpPr>
          <p:spPr bwMode="auto">
            <a:xfrm flipH="1">
              <a:off x="5940152" y="4100499"/>
              <a:ext cx="385710" cy="365334"/>
            </a:xfrm>
            <a:prstGeom prst="line">
              <a:avLst/>
            </a:prstGeom>
            <a:noFill/>
            <a:ln w="28575" cap="sq">
              <a:solidFill>
                <a:srgbClr val="0033CC"/>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9" name="组合 8"/>
          <p:cNvGrpSpPr/>
          <p:nvPr/>
        </p:nvGrpSpPr>
        <p:grpSpPr>
          <a:xfrm>
            <a:off x="8432950" y="5314318"/>
            <a:ext cx="1002507" cy="351865"/>
            <a:chOff x="6016615" y="5111074"/>
            <a:chExt cx="886115" cy="255653"/>
          </a:xfrm>
        </p:grpSpPr>
        <p:sp>
          <p:nvSpPr>
            <p:cNvPr id="120" name="Oval 10"/>
            <p:cNvSpPr>
              <a:spLocks noChangeArrowheads="1"/>
            </p:cNvSpPr>
            <p:nvPr/>
          </p:nvSpPr>
          <p:spPr bwMode="auto">
            <a:xfrm>
              <a:off x="6016615" y="5111074"/>
              <a:ext cx="269318" cy="255653"/>
            </a:xfrm>
            <a:prstGeom prst="ellipse">
              <a:avLst/>
            </a:prstGeom>
            <a:solidFill>
              <a:schemeClr val="bg1"/>
            </a:solidFill>
            <a:ln w="28575" cap="sq">
              <a:solidFill>
                <a:srgbClr val="0033CC"/>
              </a:solidFill>
              <a:miter lim="800000"/>
              <a:headEnd type="none" w="sm" len="sm"/>
              <a:tailEnd type="none" w="sm" len="sm"/>
            </a:ln>
          </p:spPr>
          <p:txBody>
            <a:bodyPr wrap="none" tIns="0" anchorCtr="1"/>
            <a:lstStyle/>
            <a:p>
              <a:r>
                <a:rPr lang="en-US" altLang="zh-CN" dirty="0"/>
                <a:t>D</a:t>
              </a:r>
              <a:endParaRPr lang="en-US" altLang="zh-CN" baseline="-25000" dirty="0"/>
            </a:p>
          </p:txBody>
        </p:sp>
        <p:sp>
          <p:nvSpPr>
            <p:cNvPr id="121" name="Oval 11"/>
            <p:cNvSpPr>
              <a:spLocks noChangeArrowheads="1"/>
            </p:cNvSpPr>
            <p:nvPr/>
          </p:nvSpPr>
          <p:spPr bwMode="auto">
            <a:xfrm>
              <a:off x="6633412" y="5111074"/>
              <a:ext cx="269318" cy="255653"/>
            </a:xfrm>
            <a:prstGeom prst="ellipse">
              <a:avLst/>
            </a:prstGeom>
            <a:solidFill>
              <a:schemeClr val="bg1"/>
            </a:solidFill>
            <a:ln w="28575" cap="sq">
              <a:solidFill>
                <a:srgbClr val="0033CC"/>
              </a:solidFill>
              <a:miter lim="800000"/>
              <a:headEnd type="none" w="sm" len="sm"/>
              <a:tailEnd type="none" w="sm" len="sm"/>
            </a:ln>
          </p:spPr>
          <p:txBody>
            <a:bodyPr wrap="none" tIns="0" anchorCtr="1"/>
            <a:lstStyle/>
            <a:p>
              <a:r>
                <a:rPr lang="en-US" altLang="zh-CN"/>
                <a:t>E</a:t>
              </a:r>
              <a:endParaRPr lang="en-US" altLang="zh-CN" baseline="-25000"/>
            </a:p>
          </p:txBody>
        </p:sp>
        <p:sp>
          <p:nvSpPr>
            <p:cNvPr id="122" name="Line 24"/>
            <p:cNvSpPr>
              <a:spLocks noChangeShapeType="1"/>
            </p:cNvSpPr>
            <p:nvPr/>
          </p:nvSpPr>
          <p:spPr bwMode="auto">
            <a:xfrm>
              <a:off x="6286782" y="5220755"/>
              <a:ext cx="346630" cy="0"/>
            </a:xfrm>
            <a:prstGeom prst="line">
              <a:avLst/>
            </a:prstGeom>
            <a:noFill/>
            <a:ln w="28575" cap="sq">
              <a:solidFill>
                <a:srgbClr val="0033CC"/>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grpSp>
      <p:sp>
        <p:nvSpPr>
          <p:cNvPr id="85" name="矩形 84"/>
          <p:cNvSpPr/>
          <p:nvPr/>
        </p:nvSpPr>
        <p:spPr>
          <a:xfrm>
            <a:off x="3071664" y="2793702"/>
            <a:ext cx="7128793" cy="923330"/>
          </a:xfrm>
          <a:prstGeom prst="rect">
            <a:avLst/>
          </a:prstGeom>
        </p:spPr>
        <p:txBody>
          <a:bodyPr wrap="square">
            <a:spAutoFit/>
          </a:bodyPr>
          <a:lstStyle/>
          <a:p>
            <a:r>
              <a:rPr kumimoji="1" lang="zh-CN" altLang="en-US" dirty="0">
                <a:latin typeface="微软雅黑" pitchFamily="34" charset="-122"/>
                <a:ea typeface="微软雅黑" pitchFamily="34" charset="-122"/>
                <a:cs typeface="经典粗黑简" pitchFamily="49" charset="-122"/>
              </a:rPr>
              <a:t>无向图</a:t>
            </a:r>
            <a:r>
              <a:rPr kumimoji="1" lang="en-US" altLang="zh-CN" dirty="0">
                <a:latin typeface="微软雅黑" pitchFamily="34" charset="-122"/>
                <a:ea typeface="微软雅黑" pitchFamily="34" charset="-122"/>
                <a:cs typeface="经典粗黑简" pitchFamily="49" charset="-122"/>
              </a:rPr>
              <a:t>G</a:t>
            </a:r>
            <a:r>
              <a:rPr kumimoji="1" lang="zh-CN" altLang="en-US" dirty="0">
                <a:latin typeface="微软雅黑" pitchFamily="34" charset="-122"/>
                <a:ea typeface="微软雅黑" pitchFamily="34" charset="-122"/>
                <a:cs typeface="经典粗黑简" pitchFamily="49" charset="-122"/>
              </a:rPr>
              <a:t>中，如果从顶点</a:t>
            </a:r>
            <a:r>
              <a:rPr kumimoji="1" lang="en-US" altLang="zh-CN" dirty="0">
                <a:latin typeface="微软雅黑" pitchFamily="34" charset="-122"/>
                <a:ea typeface="微软雅黑" pitchFamily="34" charset="-122"/>
                <a:cs typeface="经典粗黑简" pitchFamily="49" charset="-122"/>
              </a:rPr>
              <a:t>vi</a:t>
            </a:r>
            <a:r>
              <a:rPr kumimoji="1" lang="zh-CN" altLang="en-US" dirty="0">
                <a:latin typeface="微软雅黑" pitchFamily="34" charset="-122"/>
                <a:ea typeface="微软雅黑" pitchFamily="34" charset="-122"/>
                <a:cs typeface="经典粗黑简" pitchFamily="49" charset="-122"/>
              </a:rPr>
              <a:t>到顶点</a:t>
            </a:r>
            <a:r>
              <a:rPr kumimoji="1" lang="en-US" altLang="zh-CN" dirty="0" err="1">
                <a:latin typeface="微软雅黑" pitchFamily="34" charset="-122"/>
                <a:ea typeface="微软雅黑" pitchFamily="34" charset="-122"/>
                <a:cs typeface="经典粗黑简" pitchFamily="49" charset="-122"/>
              </a:rPr>
              <a:t>vj</a:t>
            </a:r>
            <a:r>
              <a:rPr kumimoji="1" lang="zh-CN" altLang="en-US" dirty="0">
                <a:latin typeface="微软雅黑" pitchFamily="34" charset="-122"/>
                <a:ea typeface="微软雅黑" pitchFamily="34" charset="-122"/>
                <a:cs typeface="经典粗黑简" pitchFamily="49" charset="-122"/>
              </a:rPr>
              <a:t>有路径，则称顶点</a:t>
            </a:r>
            <a:r>
              <a:rPr kumimoji="1" lang="en-US" altLang="zh-CN" dirty="0">
                <a:latin typeface="微软雅黑" pitchFamily="34" charset="-122"/>
                <a:ea typeface="微软雅黑" pitchFamily="34" charset="-122"/>
                <a:cs typeface="经典粗黑简" pitchFamily="49" charset="-122"/>
              </a:rPr>
              <a:t>vi</a:t>
            </a:r>
            <a:r>
              <a:rPr kumimoji="1" lang="zh-CN" altLang="en-US" dirty="0">
                <a:latin typeface="微软雅黑" pitchFamily="34" charset="-122"/>
                <a:ea typeface="微软雅黑" pitchFamily="34" charset="-122"/>
                <a:cs typeface="经典粗黑简" pitchFamily="49" charset="-122"/>
              </a:rPr>
              <a:t>和</a:t>
            </a:r>
            <a:r>
              <a:rPr kumimoji="1" lang="en-US" altLang="zh-CN" dirty="0" err="1">
                <a:latin typeface="微软雅黑" pitchFamily="34" charset="-122"/>
                <a:ea typeface="微软雅黑" pitchFamily="34" charset="-122"/>
                <a:cs typeface="经典粗黑简" pitchFamily="49" charset="-122"/>
              </a:rPr>
              <a:t>vj</a:t>
            </a:r>
            <a:r>
              <a:rPr kumimoji="1" lang="zh-CN" altLang="en-US" dirty="0">
                <a:latin typeface="微软雅黑" pitchFamily="34" charset="-122"/>
                <a:ea typeface="微软雅黑" pitchFamily="34" charset="-122"/>
                <a:cs typeface="经典粗黑简" pitchFamily="49" charset="-122"/>
              </a:rPr>
              <a:t>是连通的。如果对于图</a:t>
            </a:r>
            <a:r>
              <a:rPr kumimoji="1" lang="en-US" altLang="zh-CN" dirty="0">
                <a:latin typeface="微软雅黑" pitchFamily="34" charset="-122"/>
                <a:ea typeface="微软雅黑" pitchFamily="34" charset="-122"/>
                <a:cs typeface="经典粗黑简" pitchFamily="49" charset="-122"/>
              </a:rPr>
              <a:t>G</a:t>
            </a:r>
            <a:r>
              <a:rPr kumimoji="1" lang="zh-CN" altLang="en-US" dirty="0">
                <a:latin typeface="微软雅黑" pitchFamily="34" charset="-122"/>
                <a:ea typeface="微软雅黑" pitchFamily="34" charset="-122"/>
                <a:cs typeface="经典粗黑简" pitchFamily="49" charset="-122"/>
              </a:rPr>
              <a:t>中的任意两个顶点</a:t>
            </a:r>
            <a:r>
              <a:rPr kumimoji="1" lang="en-US" altLang="zh-CN" dirty="0">
                <a:latin typeface="微软雅黑" pitchFamily="34" charset="-122"/>
                <a:ea typeface="微软雅黑" pitchFamily="34" charset="-122"/>
                <a:cs typeface="经典粗黑简" pitchFamily="49" charset="-122"/>
              </a:rPr>
              <a:t>vi</a:t>
            </a:r>
            <a:r>
              <a:rPr kumimoji="1" lang="zh-CN" altLang="en-US" dirty="0">
                <a:latin typeface="微软雅黑" pitchFamily="34" charset="-122"/>
                <a:ea typeface="微软雅黑" pitchFamily="34" charset="-122"/>
                <a:cs typeface="经典粗黑简" pitchFamily="49" charset="-122"/>
              </a:rPr>
              <a:t>和</a:t>
            </a:r>
            <a:r>
              <a:rPr kumimoji="1" lang="en-US" altLang="zh-CN" dirty="0" err="1">
                <a:latin typeface="微软雅黑" pitchFamily="34" charset="-122"/>
                <a:ea typeface="微软雅黑" pitchFamily="34" charset="-122"/>
                <a:cs typeface="经典粗黑简" pitchFamily="49" charset="-122"/>
              </a:rPr>
              <a:t>vj</a:t>
            </a:r>
            <a:r>
              <a:rPr kumimoji="1" lang="zh-CN" altLang="en-US" dirty="0">
                <a:latin typeface="微软雅黑" pitchFamily="34" charset="-122"/>
                <a:ea typeface="微软雅黑" pitchFamily="34" charset="-122"/>
                <a:cs typeface="经典粗黑简" pitchFamily="49" charset="-122"/>
              </a:rPr>
              <a:t>都是连通的，则称</a:t>
            </a:r>
            <a:r>
              <a:rPr kumimoji="1" lang="en-US" altLang="zh-CN" dirty="0">
                <a:latin typeface="微软雅黑" pitchFamily="34" charset="-122"/>
                <a:ea typeface="微软雅黑" pitchFamily="34" charset="-122"/>
                <a:cs typeface="经典粗黑简" pitchFamily="49" charset="-122"/>
              </a:rPr>
              <a:t>G</a:t>
            </a:r>
            <a:r>
              <a:rPr kumimoji="1" lang="zh-CN" altLang="en-US" dirty="0">
                <a:latin typeface="微软雅黑" pitchFamily="34" charset="-122"/>
                <a:ea typeface="微软雅黑" pitchFamily="34" charset="-122"/>
                <a:cs typeface="经典粗黑简" pitchFamily="49" charset="-122"/>
              </a:rPr>
              <a:t>是</a:t>
            </a:r>
            <a:r>
              <a:rPr kumimoji="1" lang="zh-CN" altLang="en-US" dirty="0">
                <a:solidFill>
                  <a:srgbClr val="FF0000"/>
                </a:solidFill>
                <a:latin typeface="微软雅黑" pitchFamily="34" charset="-122"/>
                <a:ea typeface="微软雅黑" pitchFamily="34" charset="-122"/>
                <a:cs typeface="经典粗黑简" pitchFamily="49" charset="-122"/>
              </a:rPr>
              <a:t>连通图</a:t>
            </a:r>
            <a:r>
              <a:rPr kumimoji="1" lang="zh-CN" altLang="en-US" dirty="0">
                <a:latin typeface="微软雅黑" pitchFamily="34" charset="-122"/>
                <a:ea typeface="微软雅黑" pitchFamily="34" charset="-122"/>
                <a:cs typeface="经典粗黑简" pitchFamily="49" charset="-122"/>
              </a:rPr>
              <a:t>。无向图的极大连通子图称为无向图的</a:t>
            </a:r>
            <a:r>
              <a:rPr kumimoji="1" lang="zh-CN" altLang="en-US" dirty="0">
                <a:solidFill>
                  <a:srgbClr val="FF0000"/>
                </a:solidFill>
                <a:latin typeface="微软雅黑" pitchFamily="34" charset="-122"/>
                <a:ea typeface="微软雅黑" pitchFamily="34" charset="-122"/>
                <a:cs typeface="经典粗黑简" pitchFamily="49" charset="-122"/>
              </a:rPr>
              <a:t>连通分量</a:t>
            </a:r>
            <a:r>
              <a:rPr kumimoji="1" lang="zh-CN" altLang="en-US" dirty="0">
                <a:latin typeface="微软雅黑" pitchFamily="34" charset="-122"/>
                <a:ea typeface="微软雅黑" pitchFamily="34" charset="-122"/>
                <a:cs typeface="经典粗黑简" pitchFamily="49" charset="-122"/>
              </a:rPr>
              <a:t>。</a:t>
            </a:r>
          </a:p>
        </p:txBody>
      </p:sp>
      <p:sp>
        <p:nvSpPr>
          <p:cNvPr id="95" name="矩形 94"/>
          <p:cNvSpPr/>
          <p:nvPr/>
        </p:nvSpPr>
        <p:spPr>
          <a:xfrm>
            <a:off x="3071665" y="2390668"/>
            <a:ext cx="2749471" cy="400110"/>
          </a:xfrm>
          <a:prstGeom prst="rect">
            <a:avLst/>
          </a:prstGeom>
        </p:spPr>
        <p:txBody>
          <a:bodyPr wrap="none">
            <a:spAutoFit/>
          </a:bodyPr>
          <a:lstStyle/>
          <a:p>
            <a:r>
              <a:rPr kumimoji="1" lang="en-US" altLang="zh-CN" sz="2000" dirty="0">
                <a:latin typeface="微软雅黑" pitchFamily="34" charset="-122"/>
                <a:ea typeface="微软雅黑" pitchFamily="34" charset="-122"/>
                <a:cs typeface="经典粗黑简" pitchFamily="49" charset="-122"/>
              </a:rPr>
              <a:t>⑻</a:t>
            </a:r>
            <a:r>
              <a:rPr kumimoji="1" lang="zh-CN" altLang="en-US" sz="2000" dirty="0">
                <a:latin typeface="微软雅黑" pitchFamily="34" charset="-122"/>
                <a:ea typeface="微软雅黑" pitchFamily="34" charset="-122"/>
                <a:cs typeface="经典粗黑简" pitchFamily="49" charset="-122"/>
              </a:rPr>
              <a:t>、连通图和连通分量</a:t>
            </a:r>
          </a:p>
        </p:txBody>
      </p:sp>
      <p:sp>
        <p:nvSpPr>
          <p:cNvPr id="2" name="矩形 1">
            <a:extLst>
              <a:ext uri="{FF2B5EF4-FFF2-40B4-BE49-F238E27FC236}">
                <a16:creationId xmlns:a16="http://schemas.microsoft.com/office/drawing/2014/main" id="{9A4E86EF-D5AD-551D-EEA6-D2FCDFE8C27A}"/>
              </a:ext>
            </a:extLst>
          </p:cNvPr>
          <p:cNvSpPr/>
          <p:nvPr/>
        </p:nvSpPr>
        <p:spPr>
          <a:xfrm>
            <a:off x="4421120" y="339686"/>
            <a:ext cx="3637792"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8.1 </a:t>
            </a:r>
            <a:r>
              <a:rPr lang="zh-CN" altLang="en-US" sz="3000" b="1" dirty="0">
                <a:latin typeface="黑体" pitchFamily="49" charset="-122"/>
                <a:ea typeface="黑体" pitchFamily="49" charset="-122"/>
                <a:cs typeface="经典粗黑简" pitchFamily="49" charset="-122"/>
              </a:rPr>
              <a:t>图的基本概念</a:t>
            </a:r>
          </a:p>
        </p:txBody>
      </p:sp>
      <p:sp>
        <p:nvSpPr>
          <p:cNvPr id="3" name="Rectangle 2">
            <a:extLst>
              <a:ext uri="{FF2B5EF4-FFF2-40B4-BE49-F238E27FC236}">
                <a16:creationId xmlns:a16="http://schemas.microsoft.com/office/drawing/2014/main" id="{6D8AF629-F883-8336-63AC-5549FC6A041E}"/>
              </a:ext>
            </a:extLst>
          </p:cNvPr>
          <p:cNvSpPr txBox="1">
            <a:spLocks noChangeArrowheads="1"/>
          </p:cNvSpPr>
          <p:nvPr/>
        </p:nvSpPr>
        <p:spPr>
          <a:xfrm>
            <a:off x="407368" y="1167247"/>
            <a:ext cx="3528392"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8.1.2 </a:t>
            </a:r>
            <a:r>
              <a:rPr lang="zh-CN" altLang="en-US" dirty="0"/>
              <a:t>图的基本术语</a:t>
            </a:r>
          </a:p>
        </p:txBody>
      </p:sp>
      <p:cxnSp>
        <p:nvCxnSpPr>
          <p:cNvPr id="4" name="直接连接符 3">
            <a:extLst>
              <a:ext uri="{FF2B5EF4-FFF2-40B4-BE49-F238E27FC236}">
                <a16:creationId xmlns:a16="http://schemas.microsoft.com/office/drawing/2014/main" id="{391594C0-434C-CAB1-F6FE-232E6CF68E24}"/>
              </a:ext>
            </a:extLst>
          </p:cNvPr>
          <p:cNvCxnSpPr>
            <a:cxnSpLocks/>
          </p:cNvCxnSpPr>
          <p:nvPr/>
        </p:nvCxnSpPr>
        <p:spPr>
          <a:xfrm>
            <a:off x="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707205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p:cNvGrpSpPr/>
          <p:nvPr/>
        </p:nvGrpSpPr>
        <p:grpSpPr>
          <a:xfrm>
            <a:off x="2385449" y="3573016"/>
            <a:ext cx="2428107" cy="2486152"/>
            <a:chOff x="303272" y="3573931"/>
            <a:chExt cx="2428107" cy="2267810"/>
          </a:xfrm>
        </p:grpSpPr>
        <p:sp>
          <p:nvSpPr>
            <p:cNvPr id="58" name="Oval 5"/>
            <p:cNvSpPr>
              <a:spLocks noChangeArrowheads="1"/>
            </p:cNvSpPr>
            <p:nvPr/>
          </p:nvSpPr>
          <p:spPr bwMode="auto">
            <a:xfrm>
              <a:off x="303272" y="3573931"/>
              <a:ext cx="269318" cy="255653"/>
            </a:xfrm>
            <a:prstGeom prst="ellipse">
              <a:avLst/>
            </a:prstGeom>
            <a:solidFill>
              <a:schemeClr val="bg1"/>
            </a:solidFill>
            <a:ln w="28575" cap="sq">
              <a:solidFill>
                <a:srgbClr val="0033CC"/>
              </a:solidFill>
              <a:miter lim="800000"/>
              <a:headEnd type="none" w="sm" len="sm"/>
              <a:tailEnd type="none" w="sm" len="sm"/>
            </a:ln>
          </p:spPr>
          <p:txBody>
            <a:bodyPr wrap="none" tIns="0" anchorCtr="1"/>
            <a:lstStyle/>
            <a:p>
              <a:r>
                <a:rPr lang="en-US" altLang="zh-CN"/>
                <a:t>A</a:t>
              </a:r>
              <a:endParaRPr lang="en-US" altLang="zh-CN" baseline="-25000"/>
            </a:p>
          </p:txBody>
        </p:sp>
        <p:sp>
          <p:nvSpPr>
            <p:cNvPr id="59" name="Oval 6"/>
            <p:cNvSpPr>
              <a:spLocks noChangeArrowheads="1"/>
            </p:cNvSpPr>
            <p:nvPr/>
          </p:nvSpPr>
          <p:spPr bwMode="auto">
            <a:xfrm>
              <a:off x="2422981" y="3573931"/>
              <a:ext cx="269318" cy="255653"/>
            </a:xfrm>
            <a:prstGeom prst="ellipse">
              <a:avLst/>
            </a:prstGeom>
            <a:solidFill>
              <a:schemeClr val="bg1"/>
            </a:solidFill>
            <a:ln w="28575" cap="sq">
              <a:solidFill>
                <a:srgbClr val="0033CC"/>
              </a:solidFill>
              <a:miter lim="800000"/>
              <a:headEnd type="none" w="sm" len="sm"/>
              <a:tailEnd type="none" w="sm" len="sm"/>
            </a:ln>
          </p:spPr>
          <p:txBody>
            <a:bodyPr wrap="none" tIns="0" anchorCtr="1"/>
            <a:lstStyle/>
            <a:p>
              <a:r>
                <a:rPr lang="en-US" altLang="zh-CN"/>
                <a:t>B</a:t>
              </a:r>
              <a:endParaRPr lang="en-US" altLang="zh-CN" baseline="-25000"/>
            </a:p>
          </p:txBody>
        </p:sp>
        <p:sp>
          <p:nvSpPr>
            <p:cNvPr id="60" name="Oval 7"/>
            <p:cNvSpPr>
              <a:spLocks noChangeArrowheads="1"/>
            </p:cNvSpPr>
            <p:nvPr/>
          </p:nvSpPr>
          <p:spPr bwMode="auto">
            <a:xfrm>
              <a:off x="303272" y="5549797"/>
              <a:ext cx="269318" cy="255653"/>
            </a:xfrm>
            <a:prstGeom prst="ellipse">
              <a:avLst/>
            </a:prstGeom>
            <a:solidFill>
              <a:schemeClr val="bg1"/>
            </a:solidFill>
            <a:ln w="28575" cap="sq">
              <a:solidFill>
                <a:srgbClr val="0033CC"/>
              </a:solidFill>
              <a:miter lim="800000"/>
              <a:headEnd type="none" w="sm" len="sm"/>
              <a:tailEnd type="none" w="sm" len="sm"/>
            </a:ln>
          </p:spPr>
          <p:txBody>
            <a:bodyPr wrap="none" tIns="0" anchorCtr="1"/>
            <a:lstStyle/>
            <a:p>
              <a:r>
                <a:rPr lang="en-US" altLang="zh-CN"/>
                <a:t>L</a:t>
              </a:r>
              <a:endParaRPr lang="en-US" altLang="zh-CN" baseline="-25000"/>
            </a:p>
          </p:txBody>
        </p:sp>
        <p:sp>
          <p:nvSpPr>
            <p:cNvPr id="61" name="Oval 8"/>
            <p:cNvSpPr>
              <a:spLocks noChangeArrowheads="1"/>
            </p:cNvSpPr>
            <p:nvPr/>
          </p:nvSpPr>
          <p:spPr bwMode="auto">
            <a:xfrm>
              <a:off x="2462061" y="5586088"/>
              <a:ext cx="269318" cy="255653"/>
            </a:xfrm>
            <a:prstGeom prst="ellipse">
              <a:avLst/>
            </a:prstGeom>
            <a:solidFill>
              <a:schemeClr val="bg1"/>
            </a:solidFill>
            <a:ln w="28575" cap="sq">
              <a:solidFill>
                <a:srgbClr val="0033CC"/>
              </a:solidFill>
              <a:miter lim="800000"/>
              <a:headEnd type="none" w="sm" len="sm"/>
              <a:tailEnd type="none" w="sm" len="sm"/>
            </a:ln>
          </p:spPr>
          <p:txBody>
            <a:bodyPr wrap="none" tIns="0" anchorCtr="1"/>
            <a:lstStyle/>
            <a:p>
              <a:r>
                <a:rPr lang="en-US" altLang="zh-CN" dirty="0"/>
                <a:t>M</a:t>
              </a:r>
              <a:endParaRPr lang="en-US" altLang="zh-CN" baseline="-25000" dirty="0"/>
            </a:p>
          </p:txBody>
        </p:sp>
        <p:sp>
          <p:nvSpPr>
            <p:cNvPr id="62" name="Oval 9"/>
            <p:cNvSpPr>
              <a:spLocks noChangeArrowheads="1"/>
            </p:cNvSpPr>
            <p:nvPr/>
          </p:nvSpPr>
          <p:spPr bwMode="auto">
            <a:xfrm>
              <a:off x="1344011" y="5220755"/>
              <a:ext cx="269318" cy="255653"/>
            </a:xfrm>
            <a:prstGeom prst="ellipse">
              <a:avLst/>
            </a:prstGeom>
            <a:solidFill>
              <a:schemeClr val="bg1"/>
            </a:solidFill>
            <a:ln w="28575" cap="sq">
              <a:solidFill>
                <a:srgbClr val="0033CC"/>
              </a:solidFill>
              <a:miter lim="800000"/>
              <a:headEnd type="none" w="sm" len="sm"/>
              <a:tailEnd type="none" w="sm" len="sm"/>
            </a:ln>
          </p:spPr>
          <p:txBody>
            <a:bodyPr wrap="none" tIns="0" anchorCtr="1"/>
            <a:lstStyle/>
            <a:p>
              <a:r>
                <a:rPr lang="en-US" altLang="zh-CN"/>
                <a:t>J</a:t>
              </a:r>
              <a:endParaRPr lang="en-US" altLang="zh-CN" baseline="-25000"/>
            </a:p>
          </p:txBody>
        </p:sp>
        <p:sp>
          <p:nvSpPr>
            <p:cNvPr id="63" name="Oval 10"/>
            <p:cNvSpPr>
              <a:spLocks noChangeArrowheads="1"/>
            </p:cNvSpPr>
            <p:nvPr/>
          </p:nvSpPr>
          <p:spPr bwMode="auto">
            <a:xfrm>
              <a:off x="1189387" y="3940071"/>
              <a:ext cx="269318" cy="255653"/>
            </a:xfrm>
            <a:prstGeom prst="ellipse">
              <a:avLst/>
            </a:prstGeom>
            <a:solidFill>
              <a:schemeClr val="bg1"/>
            </a:solidFill>
            <a:ln w="28575" cap="sq">
              <a:solidFill>
                <a:srgbClr val="0033CC"/>
              </a:solidFill>
              <a:miter lim="800000"/>
              <a:headEnd type="none" w="sm" len="sm"/>
              <a:tailEnd type="none" w="sm" len="sm"/>
            </a:ln>
          </p:spPr>
          <p:txBody>
            <a:bodyPr wrap="none" tIns="0" anchorCtr="1"/>
            <a:lstStyle/>
            <a:p>
              <a:r>
                <a:rPr lang="en-US" altLang="zh-CN"/>
                <a:t>D</a:t>
              </a:r>
              <a:endParaRPr lang="en-US" altLang="zh-CN" baseline="-25000"/>
            </a:p>
          </p:txBody>
        </p:sp>
        <p:sp>
          <p:nvSpPr>
            <p:cNvPr id="64" name="Oval 11"/>
            <p:cNvSpPr>
              <a:spLocks noChangeArrowheads="1"/>
            </p:cNvSpPr>
            <p:nvPr/>
          </p:nvSpPr>
          <p:spPr bwMode="auto">
            <a:xfrm>
              <a:off x="1806184" y="3940071"/>
              <a:ext cx="269318" cy="255653"/>
            </a:xfrm>
            <a:prstGeom prst="ellipse">
              <a:avLst/>
            </a:prstGeom>
            <a:solidFill>
              <a:schemeClr val="bg1"/>
            </a:solidFill>
            <a:ln w="28575" cap="sq">
              <a:solidFill>
                <a:srgbClr val="0033CC"/>
              </a:solidFill>
              <a:miter lim="800000"/>
              <a:headEnd type="none" w="sm" len="sm"/>
              <a:tailEnd type="none" w="sm" len="sm"/>
            </a:ln>
          </p:spPr>
          <p:txBody>
            <a:bodyPr wrap="none" tIns="0" anchorCtr="1"/>
            <a:lstStyle/>
            <a:p>
              <a:r>
                <a:rPr lang="en-US" altLang="zh-CN"/>
                <a:t>E</a:t>
              </a:r>
              <a:endParaRPr lang="en-US" altLang="zh-CN" baseline="-25000"/>
            </a:p>
          </p:txBody>
        </p:sp>
        <p:sp>
          <p:nvSpPr>
            <p:cNvPr id="65" name="Oval 12"/>
            <p:cNvSpPr>
              <a:spLocks noChangeArrowheads="1"/>
            </p:cNvSpPr>
            <p:nvPr/>
          </p:nvSpPr>
          <p:spPr bwMode="auto">
            <a:xfrm>
              <a:off x="1189387" y="4342502"/>
              <a:ext cx="269318" cy="255653"/>
            </a:xfrm>
            <a:prstGeom prst="ellipse">
              <a:avLst/>
            </a:prstGeom>
            <a:solidFill>
              <a:schemeClr val="bg1"/>
            </a:solidFill>
            <a:ln w="28575" cap="sq">
              <a:solidFill>
                <a:srgbClr val="0033CC"/>
              </a:solidFill>
              <a:miter lim="800000"/>
              <a:headEnd type="none" w="sm" len="sm"/>
              <a:tailEnd type="none" w="sm" len="sm"/>
            </a:ln>
          </p:spPr>
          <p:txBody>
            <a:bodyPr wrap="none" tIns="0" anchorCtr="1"/>
            <a:lstStyle/>
            <a:p>
              <a:r>
                <a:rPr lang="en-US" altLang="zh-CN"/>
                <a:t>G</a:t>
              </a:r>
              <a:endParaRPr lang="en-US" altLang="zh-CN" baseline="-25000"/>
            </a:p>
          </p:txBody>
        </p:sp>
        <p:sp>
          <p:nvSpPr>
            <p:cNvPr id="66" name="Oval 13"/>
            <p:cNvSpPr>
              <a:spLocks noChangeArrowheads="1"/>
            </p:cNvSpPr>
            <p:nvPr/>
          </p:nvSpPr>
          <p:spPr bwMode="auto">
            <a:xfrm>
              <a:off x="1844415" y="4342502"/>
              <a:ext cx="269318" cy="255653"/>
            </a:xfrm>
            <a:prstGeom prst="ellipse">
              <a:avLst/>
            </a:prstGeom>
            <a:solidFill>
              <a:schemeClr val="bg1"/>
            </a:solidFill>
            <a:ln w="28575" cap="sq">
              <a:solidFill>
                <a:srgbClr val="0033CC"/>
              </a:solidFill>
              <a:miter lim="800000"/>
              <a:headEnd type="none" w="sm" len="sm"/>
              <a:tailEnd type="none" w="sm" len="sm"/>
            </a:ln>
          </p:spPr>
          <p:txBody>
            <a:bodyPr wrap="none" tIns="0" anchorCtr="1"/>
            <a:lstStyle/>
            <a:p>
              <a:r>
                <a:rPr lang="en-US" altLang="zh-CN"/>
                <a:t>H</a:t>
              </a:r>
              <a:endParaRPr lang="en-US" altLang="zh-CN" baseline="-25000"/>
            </a:p>
          </p:txBody>
        </p:sp>
        <p:sp>
          <p:nvSpPr>
            <p:cNvPr id="67" name="Oval 14"/>
            <p:cNvSpPr>
              <a:spLocks noChangeArrowheads="1"/>
            </p:cNvSpPr>
            <p:nvPr/>
          </p:nvSpPr>
          <p:spPr bwMode="auto">
            <a:xfrm>
              <a:off x="649902" y="4927197"/>
              <a:ext cx="269318" cy="255653"/>
            </a:xfrm>
            <a:prstGeom prst="ellipse">
              <a:avLst/>
            </a:prstGeom>
            <a:solidFill>
              <a:schemeClr val="bg1"/>
            </a:solidFill>
            <a:ln w="28575" cap="sq">
              <a:solidFill>
                <a:srgbClr val="0033CC"/>
              </a:solidFill>
              <a:miter lim="800000"/>
              <a:headEnd type="none" w="sm" len="sm"/>
              <a:tailEnd type="none" w="sm" len="sm"/>
            </a:ln>
          </p:spPr>
          <p:txBody>
            <a:bodyPr wrap="none" tIns="0" anchorCtr="1"/>
            <a:lstStyle/>
            <a:p>
              <a:r>
                <a:rPr lang="en-US" altLang="zh-CN"/>
                <a:t>I</a:t>
              </a:r>
              <a:endParaRPr lang="en-US" altLang="zh-CN" baseline="-25000"/>
            </a:p>
          </p:txBody>
        </p:sp>
        <p:sp>
          <p:nvSpPr>
            <p:cNvPr id="68" name="Oval 15"/>
            <p:cNvSpPr>
              <a:spLocks noChangeArrowheads="1"/>
            </p:cNvSpPr>
            <p:nvPr/>
          </p:nvSpPr>
          <p:spPr bwMode="auto">
            <a:xfrm>
              <a:off x="688982" y="4342502"/>
              <a:ext cx="269318" cy="255653"/>
            </a:xfrm>
            <a:prstGeom prst="ellipse">
              <a:avLst/>
            </a:prstGeom>
            <a:solidFill>
              <a:schemeClr val="bg1"/>
            </a:solidFill>
            <a:ln w="28575" cap="sq">
              <a:solidFill>
                <a:srgbClr val="0033CC"/>
              </a:solidFill>
              <a:miter lim="800000"/>
              <a:headEnd type="none" w="sm" len="sm"/>
              <a:tailEnd type="none" w="sm" len="sm"/>
            </a:ln>
          </p:spPr>
          <p:txBody>
            <a:bodyPr wrap="none" tIns="0" anchorCtr="1"/>
            <a:lstStyle/>
            <a:p>
              <a:r>
                <a:rPr lang="en-US" altLang="zh-CN"/>
                <a:t>F</a:t>
              </a:r>
              <a:endParaRPr lang="en-US" altLang="zh-CN" baseline="-25000"/>
            </a:p>
          </p:txBody>
        </p:sp>
        <p:sp>
          <p:nvSpPr>
            <p:cNvPr id="69" name="Oval 16"/>
            <p:cNvSpPr>
              <a:spLocks noChangeArrowheads="1"/>
            </p:cNvSpPr>
            <p:nvPr/>
          </p:nvSpPr>
          <p:spPr bwMode="auto">
            <a:xfrm>
              <a:off x="688982" y="3940071"/>
              <a:ext cx="269318" cy="255653"/>
            </a:xfrm>
            <a:prstGeom prst="ellipse">
              <a:avLst/>
            </a:prstGeom>
            <a:solidFill>
              <a:schemeClr val="bg1"/>
            </a:solidFill>
            <a:ln w="28575" cap="sq">
              <a:solidFill>
                <a:srgbClr val="0033CC"/>
              </a:solidFill>
              <a:miter lim="800000"/>
              <a:headEnd type="none" w="sm" len="sm"/>
              <a:tailEnd type="none" w="sm" len="sm"/>
            </a:ln>
          </p:spPr>
          <p:txBody>
            <a:bodyPr wrap="none" tIns="0" anchorCtr="1"/>
            <a:lstStyle/>
            <a:p>
              <a:r>
                <a:rPr lang="en-US" altLang="zh-CN"/>
                <a:t>C</a:t>
              </a:r>
              <a:endParaRPr lang="en-US" altLang="zh-CN" baseline="-25000"/>
            </a:p>
          </p:txBody>
        </p:sp>
        <p:sp>
          <p:nvSpPr>
            <p:cNvPr id="71" name="Oval 17"/>
            <p:cNvSpPr>
              <a:spLocks noChangeArrowheads="1"/>
            </p:cNvSpPr>
            <p:nvPr/>
          </p:nvSpPr>
          <p:spPr bwMode="auto">
            <a:xfrm>
              <a:off x="1883496" y="4854615"/>
              <a:ext cx="269318" cy="255653"/>
            </a:xfrm>
            <a:prstGeom prst="ellipse">
              <a:avLst/>
            </a:prstGeom>
            <a:solidFill>
              <a:schemeClr val="bg1"/>
            </a:solidFill>
            <a:ln w="28575" cap="sq">
              <a:solidFill>
                <a:srgbClr val="0033CC"/>
              </a:solidFill>
              <a:miter lim="800000"/>
              <a:headEnd type="none" w="sm" len="sm"/>
              <a:tailEnd type="none" w="sm" len="sm"/>
            </a:ln>
          </p:spPr>
          <p:txBody>
            <a:bodyPr wrap="none" tIns="0" anchorCtr="1"/>
            <a:lstStyle/>
            <a:p>
              <a:r>
                <a:rPr lang="en-US" altLang="zh-CN"/>
                <a:t>K</a:t>
              </a:r>
              <a:endParaRPr lang="en-US" altLang="zh-CN" baseline="-25000"/>
            </a:p>
          </p:txBody>
        </p:sp>
        <p:sp>
          <p:nvSpPr>
            <p:cNvPr id="72" name="Line 18"/>
            <p:cNvSpPr>
              <a:spLocks noChangeShapeType="1"/>
            </p:cNvSpPr>
            <p:nvPr/>
          </p:nvSpPr>
          <p:spPr bwMode="auto">
            <a:xfrm>
              <a:off x="573439" y="3683612"/>
              <a:ext cx="1849541" cy="0"/>
            </a:xfrm>
            <a:prstGeom prst="line">
              <a:avLst/>
            </a:prstGeom>
            <a:noFill/>
            <a:ln w="28575" cap="sq">
              <a:solidFill>
                <a:srgbClr val="0033CC"/>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73" name="Line 19"/>
            <p:cNvSpPr>
              <a:spLocks noChangeShapeType="1"/>
            </p:cNvSpPr>
            <p:nvPr/>
          </p:nvSpPr>
          <p:spPr bwMode="auto">
            <a:xfrm>
              <a:off x="418815" y="3830390"/>
              <a:ext cx="0" cy="1718600"/>
            </a:xfrm>
            <a:prstGeom prst="line">
              <a:avLst/>
            </a:prstGeom>
            <a:noFill/>
            <a:ln w="28575" cap="sq">
              <a:solidFill>
                <a:srgbClr val="0033CC"/>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74" name="Line 20"/>
            <p:cNvSpPr>
              <a:spLocks noChangeShapeType="1"/>
            </p:cNvSpPr>
            <p:nvPr/>
          </p:nvSpPr>
          <p:spPr bwMode="auto">
            <a:xfrm>
              <a:off x="2593747" y="3830390"/>
              <a:ext cx="0" cy="1754891"/>
            </a:xfrm>
            <a:prstGeom prst="line">
              <a:avLst/>
            </a:prstGeom>
            <a:noFill/>
            <a:ln w="28575" cap="sq">
              <a:solidFill>
                <a:srgbClr val="0033CC"/>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75" name="Line 21"/>
            <p:cNvSpPr>
              <a:spLocks noChangeShapeType="1"/>
            </p:cNvSpPr>
            <p:nvPr/>
          </p:nvSpPr>
          <p:spPr bwMode="auto">
            <a:xfrm>
              <a:off x="573439" y="5695769"/>
              <a:ext cx="1887772" cy="0"/>
            </a:xfrm>
            <a:prstGeom prst="line">
              <a:avLst/>
            </a:prstGeom>
            <a:noFill/>
            <a:ln w="28575" cap="sq">
              <a:solidFill>
                <a:srgbClr val="0033CC"/>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76" name="Line 22"/>
            <p:cNvSpPr>
              <a:spLocks noChangeShapeType="1"/>
            </p:cNvSpPr>
            <p:nvPr/>
          </p:nvSpPr>
          <p:spPr bwMode="auto">
            <a:xfrm>
              <a:off x="561545" y="3782808"/>
              <a:ext cx="192855" cy="183070"/>
            </a:xfrm>
            <a:prstGeom prst="line">
              <a:avLst/>
            </a:prstGeom>
            <a:noFill/>
            <a:ln w="28575" cap="sq">
              <a:solidFill>
                <a:srgbClr val="0033CC"/>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77" name="Line 23"/>
            <p:cNvSpPr>
              <a:spLocks noChangeShapeType="1"/>
            </p:cNvSpPr>
            <p:nvPr/>
          </p:nvSpPr>
          <p:spPr bwMode="auto">
            <a:xfrm>
              <a:off x="496127" y="3830390"/>
              <a:ext cx="231086" cy="548404"/>
            </a:xfrm>
            <a:prstGeom prst="line">
              <a:avLst/>
            </a:prstGeom>
            <a:noFill/>
            <a:ln w="28575" cap="sq">
              <a:solidFill>
                <a:srgbClr val="0033CC"/>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78" name="Line 24"/>
            <p:cNvSpPr>
              <a:spLocks noChangeShapeType="1"/>
            </p:cNvSpPr>
            <p:nvPr/>
          </p:nvSpPr>
          <p:spPr bwMode="auto">
            <a:xfrm>
              <a:off x="1459554" y="4049752"/>
              <a:ext cx="346630" cy="0"/>
            </a:xfrm>
            <a:prstGeom prst="line">
              <a:avLst/>
            </a:prstGeom>
            <a:noFill/>
            <a:ln w="28575" cap="sq">
              <a:solidFill>
                <a:srgbClr val="0033CC"/>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79" name="Line 25"/>
            <p:cNvSpPr>
              <a:spLocks noChangeShapeType="1"/>
            </p:cNvSpPr>
            <p:nvPr/>
          </p:nvSpPr>
          <p:spPr bwMode="auto">
            <a:xfrm>
              <a:off x="1459554" y="4488475"/>
              <a:ext cx="384861" cy="0"/>
            </a:xfrm>
            <a:prstGeom prst="line">
              <a:avLst/>
            </a:prstGeom>
            <a:noFill/>
            <a:ln w="28575" cap="sq">
              <a:solidFill>
                <a:srgbClr val="0033CC"/>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80" name="Line 26"/>
            <p:cNvSpPr>
              <a:spLocks noChangeShapeType="1"/>
            </p:cNvSpPr>
            <p:nvPr/>
          </p:nvSpPr>
          <p:spPr bwMode="auto">
            <a:xfrm>
              <a:off x="1999039" y="4598155"/>
              <a:ext cx="0" cy="256459"/>
            </a:xfrm>
            <a:prstGeom prst="line">
              <a:avLst/>
            </a:prstGeom>
            <a:noFill/>
            <a:ln w="28575" cap="sq">
              <a:solidFill>
                <a:srgbClr val="0033CC"/>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81" name="Line 27"/>
            <p:cNvSpPr>
              <a:spLocks noChangeShapeType="1"/>
            </p:cNvSpPr>
            <p:nvPr/>
          </p:nvSpPr>
          <p:spPr bwMode="auto">
            <a:xfrm>
              <a:off x="1420473" y="4566703"/>
              <a:ext cx="501254" cy="329042"/>
            </a:xfrm>
            <a:prstGeom prst="line">
              <a:avLst/>
            </a:prstGeom>
            <a:noFill/>
            <a:ln w="28575" cap="sq">
              <a:solidFill>
                <a:srgbClr val="0033CC"/>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82" name="Line 28"/>
            <p:cNvSpPr>
              <a:spLocks noChangeShapeType="1"/>
            </p:cNvSpPr>
            <p:nvPr/>
          </p:nvSpPr>
          <p:spPr bwMode="auto">
            <a:xfrm flipH="1">
              <a:off x="842757" y="4561864"/>
              <a:ext cx="385710" cy="365334"/>
            </a:xfrm>
            <a:prstGeom prst="line">
              <a:avLst/>
            </a:prstGeom>
            <a:noFill/>
            <a:ln w="28575" cap="sq">
              <a:solidFill>
                <a:srgbClr val="0033CC"/>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83" name="Line 29"/>
            <p:cNvSpPr>
              <a:spLocks noChangeShapeType="1"/>
            </p:cNvSpPr>
            <p:nvPr/>
          </p:nvSpPr>
          <p:spPr bwMode="auto">
            <a:xfrm flipH="1">
              <a:off x="534358" y="5366727"/>
              <a:ext cx="809652" cy="219361"/>
            </a:xfrm>
            <a:prstGeom prst="line">
              <a:avLst/>
            </a:prstGeom>
            <a:noFill/>
            <a:ln w="28575" cap="sq">
              <a:solidFill>
                <a:srgbClr val="0033CC"/>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84" name="Line 30"/>
            <p:cNvSpPr>
              <a:spLocks noChangeShapeType="1"/>
            </p:cNvSpPr>
            <p:nvPr/>
          </p:nvSpPr>
          <p:spPr bwMode="auto">
            <a:xfrm>
              <a:off x="1613328" y="5329629"/>
              <a:ext cx="886964" cy="291944"/>
            </a:xfrm>
            <a:prstGeom prst="line">
              <a:avLst/>
            </a:prstGeom>
            <a:noFill/>
            <a:ln w="28575" cap="sq">
              <a:solidFill>
                <a:srgbClr val="0033CC"/>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7" name="组合 6"/>
          <p:cNvGrpSpPr/>
          <p:nvPr/>
        </p:nvGrpSpPr>
        <p:grpSpPr>
          <a:xfrm>
            <a:off x="5351615" y="3643873"/>
            <a:ext cx="2385561" cy="2375511"/>
            <a:chOff x="1476472" y="3461076"/>
            <a:chExt cx="3136351" cy="2929298"/>
          </a:xfrm>
        </p:grpSpPr>
        <p:sp>
          <p:nvSpPr>
            <p:cNvPr id="86" name="Oval 5"/>
            <p:cNvSpPr>
              <a:spLocks noChangeArrowheads="1"/>
            </p:cNvSpPr>
            <p:nvPr/>
          </p:nvSpPr>
          <p:spPr bwMode="auto">
            <a:xfrm>
              <a:off x="1476472" y="3461076"/>
              <a:ext cx="347874" cy="330223"/>
            </a:xfrm>
            <a:prstGeom prst="ellipse">
              <a:avLst/>
            </a:prstGeom>
            <a:solidFill>
              <a:schemeClr val="bg1"/>
            </a:solidFill>
            <a:ln w="28575" cap="sq">
              <a:solidFill>
                <a:srgbClr val="0033CC"/>
              </a:solidFill>
              <a:miter lim="800000"/>
              <a:headEnd type="none" w="sm" len="sm"/>
              <a:tailEnd type="none" w="sm" len="sm"/>
            </a:ln>
          </p:spPr>
          <p:txBody>
            <a:bodyPr wrap="none" tIns="0" anchorCtr="1"/>
            <a:lstStyle/>
            <a:p>
              <a:r>
                <a:rPr lang="en-US" altLang="zh-CN"/>
                <a:t>A</a:t>
              </a:r>
              <a:endParaRPr lang="en-US" altLang="zh-CN" baseline="-25000"/>
            </a:p>
          </p:txBody>
        </p:sp>
        <p:sp>
          <p:nvSpPr>
            <p:cNvPr id="87" name="Oval 6"/>
            <p:cNvSpPr>
              <a:spLocks noChangeArrowheads="1"/>
            </p:cNvSpPr>
            <p:nvPr/>
          </p:nvSpPr>
          <p:spPr bwMode="auto">
            <a:xfrm>
              <a:off x="4214469" y="3461076"/>
              <a:ext cx="347874" cy="330223"/>
            </a:xfrm>
            <a:prstGeom prst="ellipse">
              <a:avLst/>
            </a:prstGeom>
            <a:solidFill>
              <a:schemeClr val="bg1"/>
            </a:solidFill>
            <a:ln w="28575" cap="sq">
              <a:solidFill>
                <a:srgbClr val="0033CC"/>
              </a:solidFill>
              <a:miter lim="800000"/>
              <a:headEnd type="none" w="sm" len="sm"/>
              <a:tailEnd type="none" w="sm" len="sm"/>
            </a:ln>
          </p:spPr>
          <p:txBody>
            <a:bodyPr wrap="none" tIns="0" anchorCtr="1"/>
            <a:lstStyle/>
            <a:p>
              <a:r>
                <a:rPr lang="en-US" altLang="zh-CN"/>
                <a:t>B</a:t>
              </a:r>
              <a:endParaRPr lang="en-US" altLang="zh-CN" baseline="-25000"/>
            </a:p>
          </p:txBody>
        </p:sp>
        <p:sp>
          <p:nvSpPr>
            <p:cNvPr id="88" name="Oval 7"/>
            <p:cNvSpPr>
              <a:spLocks noChangeArrowheads="1"/>
            </p:cNvSpPr>
            <p:nvPr/>
          </p:nvSpPr>
          <p:spPr bwMode="auto">
            <a:xfrm>
              <a:off x="1476472" y="6013274"/>
              <a:ext cx="347874" cy="330223"/>
            </a:xfrm>
            <a:prstGeom prst="ellipse">
              <a:avLst/>
            </a:prstGeom>
            <a:solidFill>
              <a:schemeClr val="bg1"/>
            </a:solidFill>
            <a:ln w="28575" cap="sq">
              <a:solidFill>
                <a:srgbClr val="0033CC"/>
              </a:solidFill>
              <a:miter lim="800000"/>
              <a:headEnd type="none" w="sm" len="sm"/>
              <a:tailEnd type="none" w="sm" len="sm"/>
            </a:ln>
          </p:spPr>
          <p:txBody>
            <a:bodyPr wrap="none" tIns="0" anchorCtr="1"/>
            <a:lstStyle/>
            <a:p>
              <a:r>
                <a:rPr lang="en-US" altLang="zh-CN"/>
                <a:t>L</a:t>
              </a:r>
              <a:endParaRPr lang="en-US" altLang="zh-CN" baseline="-25000"/>
            </a:p>
          </p:txBody>
        </p:sp>
        <p:sp>
          <p:nvSpPr>
            <p:cNvPr id="89" name="Oval 8"/>
            <p:cNvSpPr>
              <a:spLocks noChangeArrowheads="1"/>
            </p:cNvSpPr>
            <p:nvPr/>
          </p:nvSpPr>
          <p:spPr bwMode="auto">
            <a:xfrm>
              <a:off x="4264949" y="6060151"/>
              <a:ext cx="347874" cy="330223"/>
            </a:xfrm>
            <a:prstGeom prst="ellipse">
              <a:avLst/>
            </a:prstGeom>
            <a:solidFill>
              <a:schemeClr val="bg1"/>
            </a:solidFill>
            <a:ln w="28575" cap="sq">
              <a:solidFill>
                <a:srgbClr val="0033CC"/>
              </a:solidFill>
              <a:miter lim="800000"/>
              <a:headEnd type="none" w="sm" len="sm"/>
              <a:tailEnd type="none" w="sm" len="sm"/>
            </a:ln>
          </p:spPr>
          <p:txBody>
            <a:bodyPr wrap="none" tIns="0" anchorCtr="1"/>
            <a:lstStyle/>
            <a:p>
              <a:r>
                <a:rPr lang="en-US" altLang="zh-CN"/>
                <a:t>M</a:t>
              </a:r>
              <a:endParaRPr lang="en-US" altLang="zh-CN" baseline="-25000"/>
            </a:p>
          </p:txBody>
        </p:sp>
        <p:sp>
          <p:nvSpPr>
            <p:cNvPr id="90" name="Oval 9"/>
            <p:cNvSpPr>
              <a:spLocks noChangeArrowheads="1"/>
            </p:cNvSpPr>
            <p:nvPr/>
          </p:nvSpPr>
          <p:spPr bwMode="auto">
            <a:xfrm>
              <a:off x="2820779" y="5588255"/>
              <a:ext cx="347874" cy="330223"/>
            </a:xfrm>
            <a:prstGeom prst="ellipse">
              <a:avLst/>
            </a:prstGeom>
            <a:solidFill>
              <a:schemeClr val="bg1"/>
            </a:solidFill>
            <a:ln w="28575" cap="sq">
              <a:solidFill>
                <a:srgbClr val="0033CC"/>
              </a:solidFill>
              <a:miter lim="800000"/>
              <a:headEnd type="none" w="sm" len="sm"/>
              <a:tailEnd type="none" w="sm" len="sm"/>
            </a:ln>
          </p:spPr>
          <p:txBody>
            <a:bodyPr wrap="none" tIns="0" anchorCtr="1"/>
            <a:lstStyle/>
            <a:p>
              <a:r>
                <a:rPr lang="en-US" altLang="zh-CN"/>
                <a:t>J</a:t>
              </a:r>
              <a:endParaRPr lang="en-US" altLang="zh-CN" baseline="-25000"/>
            </a:p>
          </p:txBody>
        </p:sp>
        <p:sp>
          <p:nvSpPr>
            <p:cNvPr id="96" name="Oval 15"/>
            <p:cNvSpPr>
              <a:spLocks noChangeArrowheads="1"/>
            </p:cNvSpPr>
            <p:nvPr/>
          </p:nvSpPr>
          <p:spPr bwMode="auto">
            <a:xfrm>
              <a:off x="1974689" y="4453829"/>
              <a:ext cx="347874" cy="330223"/>
            </a:xfrm>
            <a:prstGeom prst="ellipse">
              <a:avLst/>
            </a:prstGeom>
            <a:solidFill>
              <a:schemeClr val="bg1"/>
            </a:solidFill>
            <a:ln w="28575" cap="sq">
              <a:solidFill>
                <a:srgbClr val="0033CC"/>
              </a:solidFill>
              <a:miter lim="800000"/>
              <a:headEnd type="none" w="sm" len="sm"/>
              <a:tailEnd type="none" w="sm" len="sm"/>
            </a:ln>
          </p:spPr>
          <p:txBody>
            <a:bodyPr wrap="none" tIns="0" anchorCtr="1"/>
            <a:lstStyle/>
            <a:p>
              <a:r>
                <a:rPr lang="en-US" altLang="zh-CN"/>
                <a:t>F</a:t>
              </a:r>
              <a:endParaRPr lang="en-US" altLang="zh-CN" baseline="-25000"/>
            </a:p>
          </p:txBody>
        </p:sp>
        <p:sp>
          <p:nvSpPr>
            <p:cNvPr id="97" name="Oval 16"/>
            <p:cNvSpPr>
              <a:spLocks noChangeArrowheads="1"/>
            </p:cNvSpPr>
            <p:nvPr/>
          </p:nvSpPr>
          <p:spPr bwMode="auto">
            <a:xfrm>
              <a:off x="1974689" y="3934014"/>
              <a:ext cx="347874" cy="330223"/>
            </a:xfrm>
            <a:prstGeom prst="ellipse">
              <a:avLst/>
            </a:prstGeom>
            <a:solidFill>
              <a:schemeClr val="bg1"/>
            </a:solidFill>
            <a:ln w="28575" cap="sq">
              <a:solidFill>
                <a:srgbClr val="0033CC"/>
              </a:solidFill>
              <a:miter lim="800000"/>
              <a:headEnd type="none" w="sm" len="sm"/>
              <a:tailEnd type="none" w="sm" len="sm"/>
            </a:ln>
          </p:spPr>
          <p:txBody>
            <a:bodyPr wrap="none" tIns="0" anchorCtr="1"/>
            <a:lstStyle/>
            <a:p>
              <a:r>
                <a:rPr lang="en-US" altLang="zh-CN"/>
                <a:t>C</a:t>
              </a:r>
              <a:endParaRPr lang="en-US" altLang="zh-CN" baseline="-25000"/>
            </a:p>
          </p:txBody>
        </p:sp>
        <p:sp>
          <p:nvSpPr>
            <p:cNvPr id="99" name="Line 18"/>
            <p:cNvSpPr>
              <a:spLocks noChangeShapeType="1"/>
            </p:cNvSpPr>
            <p:nvPr/>
          </p:nvSpPr>
          <p:spPr bwMode="auto">
            <a:xfrm>
              <a:off x="1825443" y="3602749"/>
              <a:ext cx="2389026" cy="0"/>
            </a:xfrm>
            <a:prstGeom prst="line">
              <a:avLst/>
            </a:prstGeom>
            <a:noFill/>
            <a:ln w="28575" cap="sq">
              <a:solidFill>
                <a:srgbClr val="0033CC"/>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00" name="Line 19"/>
            <p:cNvSpPr>
              <a:spLocks noChangeShapeType="1"/>
            </p:cNvSpPr>
            <p:nvPr/>
          </p:nvSpPr>
          <p:spPr bwMode="auto">
            <a:xfrm>
              <a:off x="1625718" y="3792341"/>
              <a:ext cx="0" cy="2219891"/>
            </a:xfrm>
            <a:prstGeom prst="line">
              <a:avLst/>
            </a:prstGeom>
            <a:noFill/>
            <a:ln w="28575" cap="sq">
              <a:solidFill>
                <a:srgbClr val="0033CC"/>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01" name="Line 20"/>
            <p:cNvSpPr>
              <a:spLocks noChangeShapeType="1"/>
            </p:cNvSpPr>
            <p:nvPr/>
          </p:nvSpPr>
          <p:spPr bwMode="auto">
            <a:xfrm>
              <a:off x="4435045" y="3792341"/>
              <a:ext cx="0" cy="2266768"/>
            </a:xfrm>
            <a:prstGeom prst="line">
              <a:avLst/>
            </a:prstGeom>
            <a:noFill/>
            <a:ln w="28575" cap="sq">
              <a:solidFill>
                <a:srgbClr val="0033CC"/>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02" name="Line 21"/>
            <p:cNvSpPr>
              <a:spLocks noChangeShapeType="1"/>
            </p:cNvSpPr>
            <p:nvPr/>
          </p:nvSpPr>
          <p:spPr bwMode="auto">
            <a:xfrm>
              <a:off x="1825443" y="6201824"/>
              <a:ext cx="2438409" cy="0"/>
            </a:xfrm>
            <a:prstGeom prst="line">
              <a:avLst/>
            </a:prstGeom>
            <a:noFill/>
            <a:ln w="28575" cap="sq">
              <a:solidFill>
                <a:srgbClr val="0033CC"/>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03" name="Line 22"/>
            <p:cNvSpPr>
              <a:spLocks noChangeShapeType="1"/>
            </p:cNvSpPr>
            <p:nvPr/>
          </p:nvSpPr>
          <p:spPr bwMode="auto">
            <a:xfrm>
              <a:off x="1810080" y="3730880"/>
              <a:ext cx="249108" cy="236469"/>
            </a:xfrm>
            <a:prstGeom prst="line">
              <a:avLst/>
            </a:prstGeom>
            <a:noFill/>
            <a:ln w="28575" cap="sq">
              <a:solidFill>
                <a:srgbClr val="0033CC"/>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04" name="Line 23"/>
            <p:cNvSpPr>
              <a:spLocks noChangeShapeType="1"/>
            </p:cNvSpPr>
            <p:nvPr/>
          </p:nvSpPr>
          <p:spPr bwMode="auto">
            <a:xfrm>
              <a:off x="1725580" y="3792341"/>
              <a:ext cx="298491" cy="708365"/>
            </a:xfrm>
            <a:prstGeom prst="line">
              <a:avLst/>
            </a:prstGeom>
            <a:noFill/>
            <a:ln w="28575" cap="sq">
              <a:solidFill>
                <a:srgbClr val="0033CC"/>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10" name="Line 29"/>
            <p:cNvSpPr>
              <a:spLocks noChangeShapeType="1"/>
            </p:cNvSpPr>
            <p:nvPr/>
          </p:nvSpPr>
          <p:spPr bwMode="auto">
            <a:xfrm flipH="1">
              <a:off x="1774963" y="5776805"/>
              <a:ext cx="1045816" cy="283346"/>
            </a:xfrm>
            <a:prstGeom prst="line">
              <a:avLst/>
            </a:prstGeom>
            <a:noFill/>
            <a:ln w="28575" cap="sq">
              <a:solidFill>
                <a:srgbClr val="0033CC"/>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11" name="Line 30"/>
            <p:cNvSpPr>
              <a:spLocks noChangeShapeType="1"/>
            </p:cNvSpPr>
            <p:nvPr/>
          </p:nvSpPr>
          <p:spPr bwMode="auto">
            <a:xfrm>
              <a:off x="3168653" y="5728886"/>
              <a:ext cx="1145679" cy="377100"/>
            </a:xfrm>
            <a:prstGeom prst="line">
              <a:avLst/>
            </a:prstGeom>
            <a:noFill/>
            <a:ln w="28575" cap="sq">
              <a:solidFill>
                <a:srgbClr val="0033CC"/>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8" name="组合 7"/>
          <p:cNvGrpSpPr/>
          <p:nvPr/>
        </p:nvGrpSpPr>
        <p:grpSpPr>
          <a:xfrm>
            <a:off x="7967071" y="3769459"/>
            <a:ext cx="1777031" cy="1002101"/>
            <a:chOff x="5747297" y="3881137"/>
            <a:chExt cx="1502912" cy="840348"/>
          </a:xfrm>
        </p:grpSpPr>
        <p:sp>
          <p:nvSpPr>
            <p:cNvPr id="112" name="Oval 12"/>
            <p:cNvSpPr>
              <a:spLocks noChangeArrowheads="1"/>
            </p:cNvSpPr>
            <p:nvPr/>
          </p:nvSpPr>
          <p:spPr bwMode="auto">
            <a:xfrm>
              <a:off x="6286782" y="3881137"/>
              <a:ext cx="269318" cy="255653"/>
            </a:xfrm>
            <a:prstGeom prst="ellipse">
              <a:avLst/>
            </a:prstGeom>
            <a:solidFill>
              <a:schemeClr val="bg1"/>
            </a:solidFill>
            <a:ln w="28575" cap="sq">
              <a:solidFill>
                <a:srgbClr val="0033CC"/>
              </a:solidFill>
              <a:miter lim="800000"/>
              <a:headEnd type="none" w="sm" len="sm"/>
              <a:tailEnd type="none" w="sm" len="sm"/>
            </a:ln>
          </p:spPr>
          <p:txBody>
            <a:bodyPr wrap="none" tIns="0" anchorCtr="1"/>
            <a:lstStyle/>
            <a:p>
              <a:r>
                <a:rPr lang="en-US" altLang="zh-CN"/>
                <a:t>G</a:t>
              </a:r>
              <a:endParaRPr lang="en-US" altLang="zh-CN" baseline="-25000"/>
            </a:p>
          </p:txBody>
        </p:sp>
        <p:sp>
          <p:nvSpPr>
            <p:cNvPr id="113" name="Oval 13"/>
            <p:cNvSpPr>
              <a:spLocks noChangeArrowheads="1"/>
            </p:cNvSpPr>
            <p:nvPr/>
          </p:nvSpPr>
          <p:spPr bwMode="auto">
            <a:xfrm>
              <a:off x="6941810" y="3881137"/>
              <a:ext cx="269318" cy="255653"/>
            </a:xfrm>
            <a:prstGeom prst="ellipse">
              <a:avLst/>
            </a:prstGeom>
            <a:solidFill>
              <a:schemeClr val="bg1"/>
            </a:solidFill>
            <a:ln w="28575" cap="sq">
              <a:solidFill>
                <a:srgbClr val="0033CC"/>
              </a:solidFill>
              <a:miter lim="800000"/>
              <a:headEnd type="none" w="sm" len="sm"/>
              <a:tailEnd type="none" w="sm" len="sm"/>
            </a:ln>
          </p:spPr>
          <p:txBody>
            <a:bodyPr wrap="none" tIns="0" anchorCtr="1"/>
            <a:lstStyle/>
            <a:p>
              <a:r>
                <a:rPr lang="en-US" altLang="zh-CN"/>
                <a:t>H</a:t>
              </a:r>
              <a:endParaRPr lang="en-US" altLang="zh-CN" baseline="-25000"/>
            </a:p>
          </p:txBody>
        </p:sp>
        <p:sp>
          <p:nvSpPr>
            <p:cNvPr id="114" name="Oval 14"/>
            <p:cNvSpPr>
              <a:spLocks noChangeArrowheads="1"/>
            </p:cNvSpPr>
            <p:nvPr/>
          </p:nvSpPr>
          <p:spPr bwMode="auto">
            <a:xfrm>
              <a:off x="5747297" y="4465832"/>
              <a:ext cx="269318" cy="255653"/>
            </a:xfrm>
            <a:prstGeom prst="ellipse">
              <a:avLst/>
            </a:prstGeom>
            <a:solidFill>
              <a:schemeClr val="bg1"/>
            </a:solidFill>
            <a:ln w="28575" cap="sq">
              <a:solidFill>
                <a:srgbClr val="0033CC"/>
              </a:solidFill>
              <a:miter lim="800000"/>
              <a:headEnd type="none" w="sm" len="sm"/>
              <a:tailEnd type="none" w="sm" len="sm"/>
            </a:ln>
          </p:spPr>
          <p:txBody>
            <a:bodyPr wrap="none" tIns="0" anchorCtr="1"/>
            <a:lstStyle/>
            <a:p>
              <a:r>
                <a:rPr lang="en-US" altLang="zh-CN"/>
                <a:t>I</a:t>
              </a:r>
              <a:endParaRPr lang="en-US" altLang="zh-CN" baseline="-25000"/>
            </a:p>
          </p:txBody>
        </p:sp>
        <p:sp>
          <p:nvSpPr>
            <p:cNvPr id="115" name="Oval 17"/>
            <p:cNvSpPr>
              <a:spLocks noChangeArrowheads="1"/>
            </p:cNvSpPr>
            <p:nvPr/>
          </p:nvSpPr>
          <p:spPr bwMode="auto">
            <a:xfrm>
              <a:off x="6980891" y="4393250"/>
              <a:ext cx="269318" cy="255653"/>
            </a:xfrm>
            <a:prstGeom prst="ellipse">
              <a:avLst/>
            </a:prstGeom>
            <a:solidFill>
              <a:schemeClr val="bg1"/>
            </a:solidFill>
            <a:ln w="28575" cap="sq">
              <a:solidFill>
                <a:srgbClr val="0033CC"/>
              </a:solidFill>
              <a:miter lim="800000"/>
              <a:headEnd type="none" w="sm" len="sm"/>
              <a:tailEnd type="none" w="sm" len="sm"/>
            </a:ln>
          </p:spPr>
          <p:txBody>
            <a:bodyPr wrap="none" tIns="0" anchorCtr="1"/>
            <a:lstStyle/>
            <a:p>
              <a:r>
                <a:rPr lang="en-US" altLang="zh-CN"/>
                <a:t>K</a:t>
              </a:r>
              <a:endParaRPr lang="en-US" altLang="zh-CN" baseline="-25000"/>
            </a:p>
          </p:txBody>
        </p:sp>
        <p:sp>
          <p:nvSpPr>
            <p:cNvPr id="116" name="Line 25"/>
            <p:cNvSpPr>
              <a:spLocks noChangeShapeType="1"/>
            </p:cNvSpPr>
            <p:nvPr/>
          </p:nvSpPr>
          <p:spPr bwMode="auto">
            <a:xfrm>
              <a:off x="6556949" y="4027110"/>
              <a:ext cx="384861" cy="0"/>
            </a:xfrm>
            <a:prstGeom prst="line">
              <a:avLst/>
            </a:prstGeom>
            <a:noFill/>
            <a:ln w="28575" cap="sq">
              <a:solidFill>
                <a:srgbClr val="0033CC"/>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17" name="Line 26"/>
            <p:cNvSpPr>
              <a:spLocks noChangeShapeType="1"/>
            </p:cNvSpPr>
            <p:nvPr/>
          </p:nvSpPr>
          <p:spPr bwMode="auto">
            <a:xfrm>
              <a:off x="7096434" y="4136790"/>
              <a:ext cx="0" cy="256459"/>
            </a:xfrm>
            <a:prstGeom prst="line">
              <a:avLst/>
            </a:prstGeom>
            <a:noFill/>
            <a:ln w="28575" cap="sq">
              <a:solidFill>
                <a:srgbClr val="0033CC"/>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18" name="Line 27"/>
            <p:cNvSpPr>
              <a:spLocks noChangeShapeType="1"/>
            </p:cNvSpPr>
            <p:nvPr/>
          </p:nvSpPr>
          <p:spPr bwMode="auto">
            <a:xfrm>
              <a:off x="6517868" y="4105338"/>
              <a:ext cx="501254" cy="329042"/>
            </a:xfrm>
            <a:prstGeom prst="line">
              <a:avLst/>
            </a:prstGeom>
            <a:noFill/>
            <a:ln w="28575" cap="sq">
              <a:solidFill>
                <a:srgbClr val="0033CC"/>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19" name="Line 28"/>
            <p:cNvSpPr>
              <a:spLocks noChangeShapeType="1"/>
            </p:cNvSpPr>
            <p:nvPr/>
          </p:nvSpPr>
          <p:spPr bwMode="auto">
            <a:xfrm flipH="1">
              <a:off x="5940152" y="4100499"/>
              <a:ext cx="385710" cy="365334"/>
            </a:xfrm>
            <a:prstGeom prst="line">
              <a:avLst/>
            </a:prstGeom>
            <a:noFill/>
            <a:ln w="28575" cap="sq">
              <a:solidFill>
                <a:srgbClr val="0033CC"/>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9" name="组合 8"/>
          <p:cNvGrpSpPr/>
          <p:nvPr/>
        </p:nvGrpSpPr>
        <p:grpSpPr>
          <a:xfrm>
            <a:off x="8432950" y="5136174"/>
            <a:ext cx="1002507" cy="351865"/>
            <a:chOff x="6016615" y="5111074"/>
            <a:chExt cx="886115" cy="255653"/>
          </a:xfrm>
        </p:grpSpPr>
        <p:sp>
          <p:nvSpPr>
            <p:cNvPr id="120" name="Oval 10"/>
            <p:cNvSpPr>
              <a:spLocks noChangeArrowheads="1"/>
            </p:cNvSpPr>
            <p:nvPr/>
          </p:nvSpPr>
          <p:spPr bwMode="auto">
            <a:xfrm>
              <a:off x="6016615" y="5111074"/>
              <a:ext cx="269318" cy="255653"/>
            </a:xfrm>
            <a:prstGeom prst="ellipse">
              <a:avLst/>
            </a:prstGeom>
            <a:solidFill>
              <a:schemeClr val="bg1"/>
            </a:solidFill>
            <a:ln w="28575" cap="sq">
              <a:solidFill>
                <a:srgbClr val="0033CC"/>
              </a:solidFill>
              <a:miter lim="800000"/>
              <a:headEnd type="none" w="sm" len="sm"/>
              <a:tailEnd type="none" w="sm" len="sm"/>
            </a:ln>
          </p:spPr>
          <p:txBody>
            <a:bodyPr wrap="none" tIns="0" anchorCtr="1"/>
            <a:lstStyle/>
            <a:p>
              <a:r>
                <a:rPr lang="en-US" altLang="zh-CN" dirty="0"/>
                <a:t>D</a:t>
              </a:r>
              <a:endParaRPr lang="en-US" altLang="zh-CN" baseline="-25000" dirty="0"/>
            </a:p>
          </p:txBody>
        </p:sp>
        <p:sp>
          <p:nvSpPr>
            <p:cNvPr id="121" name="Oval 11"/>
            <p:cNvSpPr>
              <a:spLocks noChangeArrowheads="1"/>
            </p:cNvSpPr>
            <p:nvPr/>
          </p:nvSpPr>
          <p:spPr bwMode="auto">
            <a:xfrm>
              <a:off x="6633412" y="5111074"/>
              <a:ext cx="269318" cy="255653"/>
            </a:xfrm>
            <a:prstGeom prst="ellipse">
              <a:avLst/>
            </a:prstGeom>
            <a:solidFill>
              <a:schemeClr val="bg1"/>
            </a:solidFill>
            <a:ln w="28575" cap="sq">
              <a:solidFill>
                <a:srgbClr val="0033CC"/>
              </a:solidFill>
              <a:miter lim="800000"/>
              <a:headEnd type="none" w="sm" len="sm"/>
              <a:tailEnd type="none" w="sm" len="sm"/>
            </a:ln>
          </p:spPr>
          <p:txBody>
            <a:bodyPr wrap="none" tIns="0" anchorCtr="1"/>
            <a:lstStyle/>
            <a:p>
              <a:r>
                <a:rPr lang="en-US" altLang="zh-CN"/>
                <a:t>E</a:t>
              </a:r>
              <a:endParaRPr lang="en-US" altLang="zh-CN" baseline="-25000"/>
            </a:p>
          </p:txBody>
        </p:sp>
        <p:sp>
          <p:nvSpPr>
            <p:cNvPr id="122" name="Line 24"/>
            <p:cNvSpPr>
              <a:spLocks noChangeShapeType="1"/>
            </p:cNvSpPr>
            <p:nvPr/>
          </p:nvSpPr>
          <p:spPr bwMode="auto">
            <a:xfrm>
              <a:off x="6286782" y="5220755"/>
              <a:ext cx="346630" cy="0"/>
            </a:xfrm>
            <a:prstGeom prst="line">
              <a:avLst/>
            </a:prstGeom>
            <a:noFill/>
            <a:ln w="28575" cap="sq">
              <a:solidFill>
                <a:srgbClr val="0033CC"/>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grpSp>
      <p:sp>
        <p:nvSpPr>
          <p:cNvPr id="95" name="矩形 94"/>
          <p:cNvSpPr/>
          <p:nvPr/>
        </p:nvSpPr>
        <p:spPr>
          <a:xfrm>
            <a:off x="3071665" y="2390668"/>
            <a:ext cx="2749471" cy="400110"/>
          </a:xfrm>
          <a:prstGeom prst="rect">
            <a:avLst/>
          </a:prstGeom>
        </p:spPr>
        <p:txBody>
          <a:bodyPr wrap="none">
            <a:spAutoFit/>
          </a:bodyPr>
          <a:lstStyle/>
          <a:p>
            <a:r>
              <a:rPr kumimoji="1" lang="en-US" altLang="zh-CN" sz="2000" dirty="0">
                <a:latin typeface="微软雅黑" pitchFamily="34" charset="-122"/>
                <a:ea typeface="微软雅黑" pitchFamily="34" charset="-122"/>
                <a:cs typeface="经典粗黑简" pitchFamily="49" charset="-122"/>
              </a:rPr>
              <a:t>⑻</a:t>
            </a:r>
            <a:r>
              <a:rPr kumimoji="1" lang="zh-CN" altLang="en-US" sz="2000" dirty="0">
                <a:latin typeface="微软雅黑" pitchFamily="34" charset="-122"/>
                <a:ea typeface="微软雅黑" pitchFamily="34" charset="-122"/>
                <a:cs typeface="经典粗黑简" pitchFamily="49" charset="-122"/>
              </a:rPr>
              <a:t>、连通图和连通分量</a:t>
            </a:r>
          </a:p>
        </p:txBody>
      </p:sp>
      <p:sp>
        <p:nvSpPr>
          <p:cNvPr id="70" name="矩形 69"/>
          <p:cNvSpPr/>
          <p:nvPr/>
        </p:nvSpPr>
        <p:spPr>
          <a:xfrm>
            <a:off x="3040476" y="2816998"/>
            <a:ext cx="7154676" cy="646331"/>
          </a:xfrm>
          <a:prstGeom prst="rect">
            <a:avLst/>
          </a:prstGeom>
        </p:spPr>
        <p:txBody>
          <a:bodyPr wrap="square">
            <a:spAutoFit/>
          </a:bodyPr>
          <a:lstStyle/>
          <a:p>
            <a:r>
              <a:rPr kumimoji="1" lang="zh-CN" altLang="en-US" dirty="0">
                <a:latin typeface="微软雅黑" pitchFamily="34" charset="-122"/>
                <a:ea typeface="微软雅黑" pitchFamily="34" charset="-122"/>
                <a:cs typeface="经典粗黑简" pitchFamily="49" charset="-122"/>
              </a:rPr>
              <a:t>所谓极大是指连通分量中顶点数最多，再添加任何一个顶点就会使之变为</a:t>
            </a:r>
            <a:r>
              <a:rPr kumimoji="1" lang="zh-CN" altLang="en-US" dirty="0">
                <a:solidFill>
                  <a:srgbClr val="FF0000"/>
                </a:solidFill>
                <a:latin typeface="微软雅黑" pitchFamily="34" charset="-122"/>
                <a:ea typeface="微软雅黑" pitchFamily="34" charset="-122"/>
                <a:cs typeface="经典粗黑简" pitchFamily="49" charset="-122"/>
              </a:rPr>
              <a:t>非连通图</a:t>
            </a:r>
            <a:r>
              <a:rPr kumimoji="1" lang="zh-CN" altLang="en-US" dirty="0">
                <a:latin typeface="微软雅黑" pitchFamily="34" charset="-122"/>
                <a:ea typeface="微软雅黑" pitchFamily="34" charset="-122"/>
                <a:cs typeface="经典粗黑简" pitchFamily="49" charset="-122"/>
              </a:rPr>
              <a:t>。</a:t>
            </a:r>
          </a:p>
        </p:txBody>
      </p:sp>
      <p:sp>
        <p:nvSpPr>
          <p:cNvPr id="2" name="矩形 1">
            <a:extLst>
              <a:ext uri="{FF2B5EF4-FFF2-40B4-BE49-F238E27FC236}">
                <a16:creationId xmlns:a16="http://schemas.microsoft.com/office/drawing/2014/main" id="{FBF95E25-3EC3-1B75-E8A5-B1AEF9CCD262}"/>
              </a:ext>
            </a:extLst>
          </p:cNvPr>
          <p:cNvSpPr/>
          <p:nvPr/>
        </p:nvSpPr>
        <p:spPr>
          <a:xfrm>
            <a:off x="4421120" y="339686"/>
            <a:ext cx="3637792"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8.1 </a:t>
            </a:r>
            <a:r>
              <a:rPr lang="zh-CN" altLang="en-US" sz="3000" b="1" dirty="0">
                <a:latin typeface="黑体" pitchFamily="49" charset="-122"/>
                <a:ea typeface="黑体" pitchFamily="49" charset="-122"/>
                <a:cs typeface="经典粗黑简" pitchFamily="49" charset="-122"/>
              </a:rPr>
              <a:t>图的基本概念</a:t>
            </a:r>
          </a:p>
        </p:txBody>
      </p:sp>
      <p:sp>
        <p:nvSpPr>
          <p:cNvPr id="3" name="Rectangle 2">
            <a:extLst>
              <a:ext uri="{FF2B5EF4-FFF2-40B4-BE49-F238E27FC236}">
                <a16:creationId xmlns:a16="http://schemas.microsoft.com/office/drawing/2014/main" id="{3A8AC6A3-4D9B-591D-2FEE-BFFEAC575C8B}"/>
              </a:ext>
            </a:extLst>
          </p:cNvPr>
          <p:cNvSpPr txBox="1">
            <a:spLocks noChangeArrowheads="1"/>
          </p:cNvSpPr>
          <p:nvPr/>
        </p:nvSpPr>
        <p:spPr>
          <a:xfrm>
            <a:off x="407368" y="1167247"/>
            <a:ext cx="3528392"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8.1.2 </a:t>
            </a:r>
            <a:r>
              <a:rPr lang="zh-CN" altLang="en-US" dirty="0"/>
              <a:t>图的基本术语</a:t>
            </a:r>
          </a:p>
        </p:txBody>
      </p:sp>
      <p:cxnSp>
        <p:nvCxnSpPr>
          <p:cNvPr id="4" name="直接连接符 3">
            <a:extLst>
              <a:ext uri="{FF2B5EF4-FFF2-40B4-BE49-F238E27FC236}">
                <a16:creationId xmlns:a16="http://schemas.microsoft.com/office/drawing/2014/main" id="{31835CBA-894E-AA4E-21BF-E17DBECC5FDA}"/>
              </a:ext>
            </a:extLst>
          </p:cNvPr>
          <p:cNvCxnSpPr>
            <a:cxnSpLocks/>
          </p:cNvCxnSpPr>
          <p:nvPr/>
        </p:nvCxnSpPr>
        <p:spPr>
          <a:xfrm>
            <a:off x="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462874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3041234" y="2836390"/>
            <a:ext cx="7303238" cy="1015663"/>
          </a:xfrm>
          <a:prstGeom prst="rect">
            <a:avLst/>
          </a:prstGeom>
        </p:spPr>
        <p:txBody>
          <a:bodyPr wrap="square">
            <a:spAutoFit/>
          </a:bodyPr>
          <a:lstStyle/>
          <a:p>
            <a:r>
              <a:rPr kumimoji="1" lang="zh-CN" altLang="en-US" sz="2000" dirty="0">
                <a:latin typeface="微软雅黑" pitchFamily="34" charset="-122"/>
                <a:ea typeface="微软雅黑" pitchFamily="34" charset="-122"/>
                <a:cs typeface="经典粗黑简" pitchFamily="49" charset="-122"/>
              </a:rPr>
              <a:t>有向图</a:t>
            </a:r>
            <a:r>
              <a:rPr kumimoji="1" lang="en-US" altLang="zh-CN" sz="2000" dirty="0">
                <a:latin typeface="微软雅黑" pitchFamily="34" charset="-122"/>
                <a:ea typeface="微软雅黑" pitchFamily="34" charset="-122"/>
                <a:cs typeface="经典粗黑简" pitchFamily="49" charset="-122"/>
              </a:rPr>
              <a:t>G</a:t>
            </a:r>
            <a:r>
              <a:rPr kumimoji="1" lang="zh-CN" altLang="en-US" sz="2000" dirty="0">
                <a:latin typeface="微软雅黑" pitchFamily="34" charset="-122"/>
                <a:ea typeface="微软雅黑" pitchFamily="34" charset="-122"/>
                <a:cs typeface="经典粗黑简" pitchFamily="49" charset="-122"/>
              </a:rPr>
              <a:t>中，如果对于每一对顶点</a:t>
            </a:r>
            <a:r>
              <a:rPr kumimoji="1" lang="en-US" altLang="zh-CN" sz="2000" dirty="0">
                <a:latin typeface="微软雅黑" pitchFamily="34" charset="-122"/>
                <a:ea typeface="微软雅黑" pitchFamily="34" charset="-122"/>
                <a:cs typeface="经典粗黑简" pitchFamily="49" charset="-122"/>
              </a:rPr>
              <a:t>vi</a:t>
            </a:r>
            <a:r>
              <a:rPr kumimoji="1" lang="zh-CN" altLang="en-US" sz="2000" dirty="0">
                <a:latin typeface="微软雅黑" pitchFamily="34" charset="-122"/>
                <a:ea typeface="微软雅黑" pitchFamily="34" charset="-122"/>
                <a:cs typeface="经典粗黑简" pitchFamily="49" charset="-122"/>
              </a:rPr>
              <a:t>和</a:t>
            </a:r>
            <a:r>
              <a:rPr kumimoji="1" lang="en-US" altLang="zh-CN" sz="2000" dirty="0" err="1">
                <a:latin typeface="微软雅黑" pitchFamily="34" charset="-122"/>
                <a:ea typeface="微软雅黑" pitchFamily="34" charset="-122"/>
                <a:cs typeface="经典粗黑简" pitchFamily="49" charset="-122"/>
              </a:rPr>
              <a:t>vj</a:t>
            </a:r>
            <a:r>
              <a:rPr kumimoji="1" lang="zh-CN" altLang="en-US" sz="2000" dirty="0">
                <a:latin typeface="微软雅黑" pitchFamily="34" charset="-122"/>
                <a:ea typeface="微软雅黑" pitchFamily="34" charset="-122"/>
                <a:cs typeface="经典粗黑简" pitchFamily="49" charset="-122"/>
              </a:rPr>
              <a:t>，从</a:t>
            </a:r>
            <a:r>
              <a:rPr kumimoji="1" lang="en-US" altLang="zh-CN" sz="2000" dirty="0">
                <a:latin typeface="微软雅黑" pitchFamily="34" charset="-122"/>
                <a:ea typeface="微软雅黑" pitchFamily="34" charset="-122"/>
                <a:cs typeface="经典粗黑简" pitchFamily="49" charset="-122"/>
              </a:rPr>
              <a:t>vi</a:t>
            </a:r>
            <a:r>
              <a:rPr kumimoji="1" lang="zh-CN" altLang="en-US" sz="2000" dirty="0">
                <a:latin typeface="微软雅黑" pitchFamily="34" charset="-122"/>
                <a:ea typeface="微软雅黑" pitchFamily="34" charset="-122"/>
                <a:cs typeface="经典粗黑简" pitchFamily="49" charset="-122"/>
              </a:rPr>
              <a:t>到</a:t>
            </a:r>
            <a:r>
              <a:rPr kumimoji="1" lang="en-US" altLang="zh-CN" sz="2000" dirty="0" err="1">
                <a:latin typeface="微软雅黑" pitchFamily="34" charset="-122"/>
                <a:ea typeface="微软雅黑" pitchFamily="34" charset="-122"/>
                <a:cs typeface="经典粗黑简" pitchFamily="49" charset="-122"/>
              </a:rPr>
              <a:t>vj</a:t>
            </a:r>
            <a:r>
              <a:rPr kumimoji="1" lang="zh-CN" altLang="en-US" sz="2000" dirty="0">
                <a:latin typeface="微软雅黑" pitchFamily="34" charset="-122"/>
                <a:ea typeface="微软雅黑" pitchFamily="34" charset="-122"/>
                <a:cs typeface="经典粗黑简" pitchFamily="49" charset="-122"/>
              </a:rPr>
              <a:t>和从</a:t>
            </a:r>
            <a:r>
              <a:rPr kumimoji="1" lang="en-US" altLang="zh-CN" sz="2000" dirty="0" err="1">
                <a:latin typeface="微软雅黑" pitchFamily="34" charset="-122"/>
                <a:ea typeface="微软雅黑" pitchFamily="34" charset="-122"/>
                <a:cs typeface="经典粗黑简" pitchFamily="49" charset="-122"/>
              </a:rPr>
              <a:t>vj</a:t>
            </a:r>
            <a:r>
              <a:rPr kumimoji="1" lang="zh-CN" altLang="en-US" sz="2000" dirty="0">
                <a:latin typeface="微软雅黑" pitchFamily="34" charset="-122"/>
                <a:ea typeface="微软雅黑" pitchFamily="34" charset="-122"/>
                <a:cs typeface="经典粗黑简" pitchFamily="49" charset="-122"/>
              </a:rPr>
              <a:t>到</a:t>
            </a:r>
            <a:r>
              <a:rPr kumimoji="1" lang="en-US" altLang="zh-CN" sz="2000" dirty="0">
                <a:latin typeface="微软雅黑" pitchFamily="34" charset="-122"/>
                <a:ea typeface="微软雅黑" pitchFamily="34" charset="-122"/>
                <a:cs typeface="经典粗黑简" pitchFamily="49" charset="-122"/>
              </a:rPr>
              <a:t>vi</a:t>
            </a:r>
            <a:r>
              <a:rPr kumimoji="1" lang="zh-CN" altLang="en-US" sz="2000" dirty="0">
                <a:latin typeface="微软雅黑" pitchFamily="34" charset="-122"/>
                <a:ea typeface="微软雅黑" pitchFamily="34" charset="-122"/>
                <a:cs typeface="经典粗黑简" pitchFamily="49" charset="-122"/>
              </a:rPr>
              <a:t>都有路径，则称</a:t>
            </a:r>
            <a:r>
              <a:rPr kumimoji="1" lang="en-US" altLang="zh-CN" sz="2000" dirty="0">
                <a:latin typeface="微软雅黑" pitchFamily="34" charset="-122"/>
                <a:ea typeface="微软雅黑" pitchFamily="34" charset="-122"/>
                <a:cs typeface="经典粗黑简" pitchFamily="49" charset="-122"/>
              </a:rPr>
              <a:t>G</a:t>
            </a:r>
            <a:r>
              <a:rPr kumimoji="1" lang="zh-CN" altLang="en-US" sz="2000" dirty="0">
                <a:latin typeface="微软雅黑" pitchFamily="34" charset="-122"/>
                <a:ea typeface="微软雅黑" pitchFamily="34" charset="-122"/>
                <a:cs typeface="经典粗黑简" pitchFamily="49" charset="-122"/>
              </a:rPr>
              <a:t>是</a:t>
            </a:r>
            <a:r>
              <a:rPr kumimoji="1" lang="zh-CN" altLang="en-US" sz="2000" dirty="0">
                <a:solidFill>
                  <a:srgbClr val="FF0000"/>
                </a:solidFill>
                <a:latin typeface="微软雅黑" pitchFamily="34" charset="-122"/>
                <a:ea typeface="微软雅黑" pitchFamily="34" charset="-122"/>
                <a:cs typeface="经典粗黑简" pitchFamily="49" charset="-122"/>
              </a:rPr>
              <a:t>强连通图</a:t>
            </a:r>
            <a:r>
              <a:rPr kumimoji="1" lang="zh-CN" altLang="en-US" sz="2000" dirty="0">
                <a:latin typeface="微软雅黑" pitchFamily="34" charset="-122"/>
                <a:ea typeface="微软雅黑" pitchFamily="34" charset="-122"/>
                <a:cs typeface="经典粗黑简" pitchFamily="49" charset="-122"/>
              </a:rPr>
              <a:t>。有向图的极大强连通子图称为有向图的</a:t>
            </a:r>
            <a:r>
              <a:rPr kumimoji="1" lang="zh-CN" altLang="en-US" sz="2000" dirty="0">
                <a:solidFill>
                  <a:srgbClr val="FF0000"/>
                </a:solidFill>
                <a:latin typeface="微软雅黑" pitchFamily="34" charset="-122"/>
                <a:ea typeface="微软雅黑" pitchFamily="34" charset="-122"/>
                <a:cs typeface="经典粗黑简" pitchFamily="49" charset="-122"/>
              </a:rPr>
              <a:t>强连通分量</a:t>
            </a:r>
            <a:r>
              <a:rPr kumimoji="1" lang="zh-CN" altLang="en-US" sz="2000" dirty="0">
                <a:latin typeface="微软雅黑" pitchFamily="34" charset="-122"/>
                <a:ea typeface="微软雅黑" pitchFamily="34" charset="-122"/>
                <a:cs typeface="经典粗黑简" pitchFamily="49" charset="-122"/>
              </a:rPr>
              <a:t>。</a:t>
            </a:r>
          </a:p>
        </p:txBody>
      </p:sp>
      <p:grpSp>
        <p:nvGrpSpPr>
          <p:cNvPr id="85" name="Group 3"/>
          <p:cNvGrpSpPr>
            <a:grpSpLocks/>
          </p:cNvGrpSpPr>
          <p:nvPr/>
        </p:nvGrpSpPr>
        <p:grpSpPr bwMode="auto">
          <a:xfrm>
            <a:off x="2857501" y="4005064"/>
            <a:ext cx="2016125" cy="1944688"/>
            <a:chOff x="1338" y="1434"/>
            <a:chExt cx="1270" cy="1225"/>
          </a:xfrm>
        </p:grpSpPr>
        <p:sp>
          <p:nvSpPr>
            <p:cNvPr id="91" name="Oval 4"/>
            <p:cNvSpPr>
              <a:spLocks noChangeArrowheads="1"/>
            </p:cNvSpPr>
            <p:nvPr/>
          </p:nvSpPr>
          <p:spPr bwMode="auto">
            <a:xfrm>
              <a:off x="1338" y="1434"/>
              <a:ext cx="317" cy="317"/>
            </a:xfrm>
            <a:prstGeom prst="ellipse">
              <a:avLst/>
            </a:prstGeom>
            <a:solidFill>
              <a:schemeClr val="bg1"/>
            </a:solidFill>
            <a:ln w="28575" cap="sq">
              <a:solidFill>
                <a:srgbClr val="0033CC"/>
              </a:solidFill>
              <a:miter lim="800000"/>
              <a:headEnd type="none" w="sm" len="sm"/>
              <a:tailEnd type="none" w="sm" len="sm"/>
            </a:ln>
          </p:spPr>
          <p:txBody>
            <a:bodyPr wrap="none" tIns="0" anchorCtr="1"/>
            <a:lstStyle/>
            <a:p>
              <a:r>
                <a:rPr lang="en-US" altLang="zh-CN" sz="2400"/>
                <a:t>v</a:t>
              </a:r>
              <a:r>
                <a:rPr lang="en-US" altLang="zh-CN" sz="2400" baseline="-25000"/>
                <a:t>1</a:t>
              </a:r>
            </a:p>
          </p:txBody>
        </p:sp>
        <p:sp>
          <p:nvSpPr>
            <p:cNvPr id="92" name="Oval 5"/>
            <p:cNvSpPr>
              <a:spLocks noChangeArrowheads="1"/>
            </p:cNvSpPr>
            <p:nvPr/>
          </p:nvSpPr>
          <p:spPr bwMode="auto">
            <a:xfrm>
              <a:off x="2291" y="1434"/>
              <a:ext cx="317" cy="317"/>
            </a:xfrm>
            <a:prstGeom prst="ellipse">
              <a:avLst/>
            </a:prstGeom>
            <a:solidFill>
              <a:schemeClr val="bg1"/>
            </a:solidFill>
            <a:ln w="28575" cap="sq">
              <a:solidFill>
                <a:srgbClr val="0033CC"/>
              </a:solidFill>
              <a:miter lim="800000"/>
              <a:headEnd type="none" w="sm" len="sm"/>
              <a:tailEnd type="none" w="sm" len="sm"/>
            </a:ln>
          </p:spPr>
          <p:txBody>
            <a:bodyPr wrap="none" tIns="0" anchorCtr="1"/>
            <a:lstStyle/>
            <a:p>
              <a:r>
                <a:rPr lang="en-US" altLang="zh-CN" sz="2400"/>
                <a:t>v</a:t>
              </a:r>
              <a:r>
                <a:rPr lang="en-US" altLang="zh-CN" sz="2400" baseline="-25000"/>
                <a:t>2</a:t>
              </a:r>
            </a:p>
          </p:txBody>
        </p:sp>
        <p:sp>
          <p:nvSpPr>
            <p:cNvPr id="93" name="Oval 6"/>
            <p:cNvSpPr>
              <a:spLocks noChangeArrowheads="1"/>
            </p:cNvSpPr>
            <p:nvPr/>
          </p:nvSpPr>
          <p:spPr bwMode="auto">
            <a:xfrm>
              <a:off x="1338" y="2342"/>
              <a:ext cx="317" cy="317"/>
            </a:xfrm>
            <a:prstGeom prst="ellipse">
              <a:avLst/>
            </a:prstGeom>
            <a:solidFill>
              <a:schemeClr val="bg1"/>
            </a:solidFill>
            <a:ln w="28575" cap="sq">
              <a:solidFill>
                <a:srgbClr val="0033CC"/>
              </a:solidFill>
              <a:miter lim="800000"/>
              <a:headEnd type="none" w="sm" len="sm"/>
              <a:tailEnd type="none" w="sm" len="sm"/>
            </a:ln>
          </p:spPr>
          <p:txBody>
            <a:bodyPr wrap="none" tIns="0" anchorCtr="1"/>
            <a:lstStyle/>
            <a:p>
              <a:r>
                <a:rPr lang="en-US" altLang="zh-CN" sz="2400"/>
                <a:t>v</a:t>
              </a:r>
              <a:r>
                <a:rPr lang="en-US" altLang="zh-CN" sz="2400" baseline="-25000"/>
                <a:t>3</a:t>
              </a:r>
            </a:p>
          </p:txBody>
        </p:sp>
        <p:sp>
          <p:nvSpPr>
            <p:cNvPr id="94" name="Oval 7"/>
            <p:cNvSpPr>
              <a:spLocks noChangeArrowheads="1"/>
            </p:cNvSpPr>
            <p:nvPr/>
          </p:nvSpPr>
          <p:spPr bwMode="auto">
            <a:xfrm>
              <a:off x="2290" y="2341"/>
              <a:ext cx="317" cy="317"/>
            </a:xfrm>
            <a:prstGeom prst="ellipse">
              <a:avLst/>
            </a:prstGeom>
            <a:solidFill>
              <a:schemeClr val="bg1"/>
            </a:solidFill>
            <a:ln w="28575" cap="sq">
              <a:solidFill>
                <a:srgbClr val="0033CC"/>
              </a:solidFill>
              <a:miter lim="800000"/>
              <a:headEnd type="none" w="sm" len="sm"/>
              <a:tailEnd type="none" w="sm" len="sm"/>
            </a:ln>
          </p:spPr>
          <p:txBody>
            <a:bodyPr wrap="none" tIns="0" anchorCtr="1"/>
            <a:lstStyle/>
            <a:p>
              <a:r>
                <a:rPr lang="en-US" altLang="zh-CN" sz="2400"/>
                <a:t>v</a:t>
              </a:r>
              <a:r>
                <a:rPr lang="en-US" altLang="zh-CN" sz="2400" baseline="-25000"/>
                <a:t>4</a:t>
              </a:r>
            </a:p>
          </p:txBody>
        </p:sp>
        <p:sp>
          <p:nvSpPr>
            <p:cNvPr id="95" name="Line 8"/>
            <p:cNvSpPr>
              <a:spLocks noChangeShapeType="1"/>
            </p:cNvSpPr>
            <p:nvPr/>
          </p:nvSpPr>
          <p:spPr bwMode="auto">
            <a:xfrm>
              <a:off x="1655" y="1616"/>
              <a:ext cx="635" cy="0"/>
            </a:xfrm>
            <a:prstGeom prst="line">
              <a:avLst/>
            </a:prstGeom>
            <a:noFill/>
            <a:ln w="28575" cap="sq">
              <a:solidFill>
                <a:srgbClr val="0033CC"/>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98" name="Line 9"/>
            <p:cNvSpPr>
              <a:spLocks noChangeShapeType="1"/>
            </p:cNvSpPr>
            <p:nvPr/>
          </p:nvSpPr>
          <p:spPr bwMode="auto">
            <a:xfrm>
              <a:off x="1655" y="2523"/>
              <a:ext cx="635" cy="0"/>
            </a:xfrm>
            <a:prstGeom prst="line">
              <a:avLst/>
            </a:prstGeom>
            <a:noFill/>
            <a:ln w="28575" cap="sq">
              <a:solidFill>
                <a:srgbClr val="0033CC"/>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5" name="Line 10"/>
            <p:cNvSpPr>
              <a:spLocks noChangeShapeType="1"/>
            </p:cNvSpPr>
            <p:nvPr/>
          </p:nvSpPr>
          <p:spPr bwMode="auto">
            <a:xfrm>
              <a:off x="1474" y="1752"/>
              <a:ext cx="0" cy="589"/>
            </a:xfrm>
            <a:prstGeom prst="line">
              <a:avLst/>
            </a:prstGeom>
            <a:noFill/>
            <a:ln w="28575" cap="sq">
              <a:solidFill>
                <a:srgbClr val="0033CC"/>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6" name="Line 11"/>
            <p:cNvSpPr>
              <a:spLocks noChangeShapeType="1"/>
            </p:cNvSpPr>
            <p:nvPr/>
          </p:nvSpPr>
          <p:spPr bwMode="auto">
            <a:xfrm flipH="1" flipV="1">
              <a:off x="1610" y="1706"/>
              <a:ext cx="771" cy="635"/>
            </a:xfrm>
            <a:prstGeom prst="line">
              <a:avLst/>
            </a:prstGeom>
            <a:noFill/>
            <a:ln w="28575" cap="sq">
              <a:solidFill>
                <a:srgbClr val="0033CC"/>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sp>
        <p:nvSpPr>
          <p:cNvPr id="107" name="Oval 13"/>
          <p:cNvSpPr>
            <a:spLocks noChangeArrowheads="1"/>
          </p:cNvSpPr>
          <p:nvPr/>
        </p:nvSpPr>
        <p:spPr bwMode="auto">
          <a:xfrm>
            <a:off x="9337675" y="4725790"/>
            <a:ext cx="503238" cy="503237"/>
          </a:xfrm>
          <a:prstGeom prst="ellipse">
            <a:avLst/>
          </a:prstGeom>
          <a:solidFill>
            <a:schemeClr val="bg1"/>
          </a:solidFill>
          <a:ln w="28575" cap="sq">
            <a:solidFill>
              <a:srgbClr val="0033CC"/>
            </a:solidFill>
            <a:miter lim="800000"/>
            <a:headEnd type="none" w="sm" len="sm"/>
            <a:tailEnd type="none" w="sm" len="sm"/>
          </a:ln>
        </p:spPr>
        <p:txBody>
          <a:bodyPr wrap="none" tIns="0" anchorCtr="1"/>
          <a:lstStyle/>
          <a:p>
            <a:r>
              <a:rPr lang="en-US" altLang="zh-CN" sz="2400"/>
              <a:t>v</a:t>
            </a:r>
            <a:r>
              <a:rPr lang="en-US" altLang="zh-CN" sz="2400" baseline="-25000"/>
              <a:t>2</a:t>
            </a:r>
          </a:p>
        </p:txBody>
      </p:sp>
      <p:grpSp>
        <p:nvGrpSpPr>
          <p:cNvPr id="108" name="Group 14"/>
          <p:cNvGrpSpPr>
            <a:grpSpLocks/>
          </p:cNvGrpSpPr>
          <p:nvPr/>
        </p:nvGrpSpPr>
        <p:grpSpPr bwMode="auto">
          <a:xfrm>
            <a:off x="6097589" y="4005065"/>
            <a:ext cx="2014537" cy="1944687"/>
            <a:chOff x="3016" y="300"/>
            <a:chExt cx="1269" cy="1225"/>
          </a:xfrm>
        </p:grpSpPr>
        <p:sp>
          <p:nvSpPr>
            <p:cNvPr id="109" name="Oval 15"/>
            <p:cNvSpPr>
              <a:spLocks noChangeArrowheads="1"/>
            </p:cNvSpPr>
            <p:nvPr/>
          </p:nvSpPr>
          <p:spPr bwMode="auto">
            <a:xfrm>
              <a:off x="3016" y="300"/>
              <a:ext cx="317" cy="317"/>
            </a:xfrm>
            <a:prstGeom prst="ellipse">
              <a:avLst/>
            </a:prstGeom>
            <a:solidFill>
              <a:schemeClr val="bg1"/>
            </a:solidFill>
            <a:ln w="28575" cap="sq">
              <a:solidFill>
                <a:srgbClr val="0033CC"/>
              </a:solidFill>
              <a:miter lim="800000"/>
              <a:headEnd type="none" w="sm" len="sm"/>
              <a:tailEnd type="none" w="sm" len="sm"/>
            </a:ln>
          </p:spPr>
          <p:txBody>
            <a:bodyPr wrap="none" tIns="0" anchorCtr="1"/>
            <a:lstStyle/>
            <a:p>
              <a:r>
                <a:rPr lang="en-US" altLang="zh-CN" sz="2400"/>
                <a:t>v</a:t>
              </a:r>
              <a:r>
                <a:rPr lang="en-US" altLang="zh-CN" sz="2400" baseline="-25000"/>
                <a:t>1</a:t>
              </a:r>
            </a:p>
          </p:txBody>
        </p:sp>
        <p:sp>
          <p:nvSpPr>
            <p:cNvPr id="123" name="Oval 16"/>
            <p:cNvSpPr>
              <a:spLocks noChangeArrowheads="1"/>
            </p:cNvSpPr>
            <p:nvPr/>
          </p:nvSpPr>
          <p:spPr bwMode="auto">
            <a:xfrm>
              <a:off x="3016" y="1208"/>
              <a:ext cx="317" cy="317"/>
            </a:xfrm>
            <a:prstGeom prst="ellipse">
              <a:avLst/>
            </a:prstGeom>
            <a:solidFill>
              <a:schemeClr val="bg1"/>
            </a:solidFill>
            <a:ln w="28575" cap="sq">
              <a:solidFill>
                <a:srgbClr val="0033CC"/>
              </a:solidFill>
              <a:miter lim="800000"/>
              <a:headEnd type="none" w="sm" len="sm"/>
              <a:tailEnd type="none" w="sm" len="sm"/>
            </a:ln>
          </p:spPr>
          <p:txBody>
            <a:bodyPr wrap="none" tIns="0" anchorCtr="1"/>
            <a:lstStyle/>
            <a:p>
              <a:r>
                <a:rPr lang="en-US" altLang="zh-CN" sz="2400"/>
                <a:t>v</a:t>
              </a:r>
              <a:r>
                <a:rPr lang="en-US" altLang="zh-CN" sz="2400" baseline="-25000"/>
                <a:t>3</a:t>
              </a:r>
            </a:p>
          </p:txBody>
        </p:sp>
        <p:sp>
          <p:nvSpPr>
            <p:cNvPr id="124" name="Oval 17"/>
            <p:cNvSpPr>
              <a:spLocks noChangeArrowheads="1"/>
            </p:cNvSpPr>
            <p:nvPr/>
          </p:nvSpPr>
          <p:spPr bwMode="auto">
            <a:xfrm>
              <a:off x="3968" y="1207"/>
              <a:ext cx="317" cy="317"/>
            </a:xfrm>
            <a:prstGeom prst="ellipse">
              <a:avLst/>
            </a:prstGeom>
            <a:solidFill>
              <a:schemeClr val="bg1"/>
            </a:solidFill>
            <a:ln w="28575" cap="sq">
              <a:solidFill>
                <a:srgbClr val="0033CC"/>
              </a:solidFill>
              <a:miter lim="800000"/>
              <a:headEnd type="none" w="sm" len="sm"/>
              <a:tailEnd type="none" w="sm" len="sm"/>
            </a:ln>
          </p:spPr>
          <p:txBody>
            <a:bodyPr wrap="none" tIns="0" anchorCtr="1"/>
            <a:lstStyle/>
            <a:p>
              <a:r>
                <a:rPr lang="en-US" altLang="zh-CN" sz="2400"/>
                <a:t>v</a:t>
              </a:r>
              <a:r>
                <a:rPr lang="en-US" altLang="zh-CN" sz="2400" baseline="-25000"/>
                <a:t>4</a:t>
              </a:r>
            </a:p>
          </p:txBody>
        </p:sp>
        <p:sp>
          <p:nvSpPr>
            <p:cNvPr id="125" name="Line 18"/>
            <p:cNvSpPr>
              <a:spLocks noChangeShapeType="1"/>
            </p:cNvSpPr>
            <p:nvPr/>
          </p:nvSpPr>
          <p:spPr bwMode="auto">
            <a:xfrm>
              <a:off x="3333" y="1389"/>
              <a:ext cx="635" cy="0"/>
            </a:xfrm>
            <a:prstGeom prst="line">
              <a:avLst/>
            </a:prstGeom>
            <a:noFill/>
            <a:ln w="28575" cap="sq">
              <a:solidFill>
                <a:srgbClr val="0033CC"/>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26" name="Line 19"/>
            <p:cNvSpPr>
              <a:spLocks noChangeShapeType="1"/>
            </p:cNvSpPr>
            <p:nvPr/>
          </p:nvSpPr>
          <p:spPr bwMode="auto">
            <a:xfrm>
              <a:off x="3152" y="618"/>
              <a:ext cx="0" cy="589"/>
            </a:xfrm>
            <a:prstGeom prst="line">
              <a:avLst/>
            </a:prstGeom>
            <a:noFill/>
            <a:ln w="28575" cap="sq">
              <a:solidFill>
                <a:srgbClr val="0033CC"/>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27" name="Line 20"/>
            <p:cNvSpPr>
              <a:spLocks noChangeShapeType="1"/>
            </p:cNvSpPr>
            <p:nvPr/>
          </p:nvSpPr>
          <p:spPr bwMode="auto">
            <a:xfrm flipH="1" flipV="1">
              <a:off x="3288" y="572"/>
              <a:ext cx="771" cy="635"/>
            </a:xfrm>
            <a:prstGeom prst="line">
              <a:avLst/>
            </a:prstGeom>
            <a:noFill/>
            <a:ln w="28575" cap="sq">
              <a:solidFill>
                <a:srgbClr val="0033CC"/>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sp>
        <p:nvSpPr>
          <p:cNvPr id="28" name="矩形 27"/>
          <p:cNvSpPr/>
          <p:nvPr/>
        </p:nvSpPr>
        <p:spPr>
          <a:xfrm>
            <a:off x="3071664" y="2390668"/>
            <a:ext cx="3262432" cy="400110"/>
          </a:xfrm>
          <a:prstGeom prst="rect">
            <a:avLst/>
          </a:prstGeom>
        </p:spPr>
        <p:txBody>
          <a:bodyPr wrap="none">
            <a:spAutoFit/>
          </a:bodyPr>
          <a:lstStyle/>
          <a:p>
            <a:r>
              <a:rPr kumimoji="1" lang="en-US" altLang="zh-CN" sz="2000" dirty="0">
                <a:latin typeface="微软雅黑" pitchFamily="34" charset="-122"/>
                <a:ea typeface="微软雅黑" pitchFamily="34" charset="-122"/>
                <a:cs typeface="经典粗黑简" pitchFamily="49" charset="-122"/>
              </a:rPr>
              <a:t>⑼</a:t>
            </a:r>
            <a:r>
              <a:rPr kumimoji="1" lang="zh-CN" altLang="en-US" sz="2000" dirty="0">
                <a:latin typeface="微软雅黑" pitchFamily="34" charset="-122"/>
                <a:ea typeface="微软雅黑" pitchFamily="34" charset="-122"/>
                <a:cs typeface="经典粗黑简" pitchFamily="49" charset="-122"/>
              </a:rPr>
              <a:t>、强连通图和强连通分量</a:t>
            </a:r>
          </a:p>
        </p:txBody>
      </p:sp>
      <p:sp>
        <p:nvSpPr>
          <p:cNvPr id="2" name="矩形 1">
            <a:extLst>
              <a:ext uri="{FF2B5EF4-FFF2-40B4-BE49-F238E27FC236}">
                <a16:creationId xmlns:a16="http://schemas.microsoft.com/office/drawing/2014/main" id="{E0084368-F497-9288-74AC-E7CB2FE557B1}"/>
              </a:ext>
            </a:extLst>
          </p:cNvPr>
          <p:cNvSpPr/>
          <p:nvPr/>
        </p:nvSpPr>
        <p:spPr>
          <a:xfrm>
            <a:off x="4421120" y="339686"/>
            <a:ext cx="3637792"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8.1 </a:t>
            </a:r>
            <a:r>
              <a:rPr lang="zh-CN" altLang="en-US" sz="3000" b="1" dirty="0">
                <a:latin typeface="黑体" pitchFamily="49" charset="-122"/>
                <a:ea typeface="黑体" pitchFamily="49" charset="-122"/>
                <a:cs typeface="经典粗黑简" pitchFamily="49" charset="-122"/>
              </a:rPr>
              <a:t>图的基本概念</a:t>
            </a:r>
          </a:p>
        </p:txBody>
      </p:sp>
      <p:sp>
        <p:nvSpPr>
          <p:cNvPr id="3" name="Rectangle 2">
            <a:extLst>
              <a:ext uri="{FF2B5EF4-FFF2-40B4-BE49-F238E27FC236}">
                <a16:creationId xmlns:a16="http://schemas.microsoft.com/office/drawing/2014/main" id="{E2542165-0EF9-64E8-F1D2-5091D324D711}"/>
              </a:ext>
            </a:extLst>
          </p:cNvPr>
          <p:cNvSpPr txBox="1">
            <a:spLocks noChangeArrowheads="1"/>
          </p:cNvSpPr>
          <p:nvPr/>
        </p:nvSpPr>
        <p:spPr>
          <a:xfrm>
            <a:off x="407368" y="1167247"/>
            <a:ext cx="3528392"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8.1.2 </a:t>
            </a:r>
            <a:r>
              <a:rPr lang="zh-CN" altLang="en-US" dirty="0"/>
              <a:t>图的基本术语</a:t>
            </a:r>
          </a:p>
        </p:txBody>
      </p:sp>
      <p:cxnSp>
        <p:nvCxnSpPr>
          <p:cNvPr id="5" name="直接连接符 4">
            <a:extLst>
              <a:ext uri="{FF2B5EF4-FFF2-40B4-BE49-F238E27FC236}">
                <a16:creationId xmlns:a16="http://schemas.microsoft.com/office/drawing/2014/main" id="{B3C1F904-CC0D-B8EA-4981-3F3D6F938983}"/>
              </a:ext>
            </a:extLst>
          </p:cNvPr>
          <p:cNvCxnSpPr>
            <a:cxnSpLocks/>
          </p:cNvCxnSpPr>
          <p:nvPr/>
        </p:nvCxnSpPr>
        <p:spPr>
          <a:xfrm>
            <a:off x="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519530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7"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3095700" y="2814028"/>
            <a:ext cx="7320781" cy="830997"/>
          </a:xfrm>
          <a:prstGeom prst="rect">
            <a:avLst/>
          </a:prstGeom>
        </p:spPr>
        <p:txBody>
          <a:bodyPr wrap="square">
            <a:spAutoFit/>
          </a:bodyPr>
          <a:lstStyle/>
          <a:p>
            <a:r>
              <a:rPr kumimoji="1" lang="zh-CN" altLang="en-US" sz="1600" dirty="0">
                <a:latin typeface="微软雅黑" pitchFamily="34" charset="-122"/>
                <a:ea typeface="微软雅黑" pitchFamily="34" charset="-122"/>
                <a:cs typeface="经典粗黑简" pitchFamily="49" charset="-122"/>
              </a:rPr>
              <a:t>一个连通图的生成树是一个极小连通子图，它含有图中全部顶点，但只有足以构成一棵树的</a:t>
            </a:r>
            <a:r>
              <a:rPr kumimoji="1" lang="en-US" altLang="zh-CN" sz="1600" dirty="0">
                <a:latin typeface="微软雅黑" pitchFamily="34" charset="-122"/>
                <a:ea typeface="微软雅黑" pitchFamily="34" charset="-122"/>
                <a:cs typeface="经典粗黑简" pitchFamily="49" charset="-122"/>
              </a:rPr>
              <a:t>n-1</a:t>
            </a:r>
            <a:r>
              <a:rPr kumimoji="1" lang="zh-CN" altLang="en-US" sz="1600" dirty="0">
                <a:latin typeface="微软雅黑" pitchFamily="34" charset="-122"/>
                <a:ea typeface="微软雅黑" pitchFamily="34" charset="-122"/>
                <a:cs typeface="经典粗黑简" pitchFamily="49" charset="-122"/>
              </a:rPr>
              <a:t>条边。在非连通图中，由每个连通分量都可以得到一个极小连通子图，即一个</a:t>
            </a:r>
            <a:r>
              <a:rPr kumimoji="1" lang="zh-CN" altLang="en-US" sz="1600" dirty="0">
                <a:solidFill>
                  <a:srgbClr val="FF0000"/>
                </a:solidFill>
                <a:latin typeface="微软雅黑" pitchFamily="34" charset="-122"/>
                <a:ea typeface="微软雅黑" pitchFamily="34" charset="-122"/>
                <a:cs typeface="经典粗黑简" pitchFamily="49" charset="-122"/>
              </a:rPr>
              <a:t>生成树</a:t>
            </a:r>
            <a:r>
              <a:rPr kumimoji="1" lang="zh-CN" altLang="en-US" sz="1600" dirty="0">
                <a:latin typeface="微软雅黑" pitchFamily="34" charset="-122"/>
                <a:ea typeface="微软雅黑" pitchFamily="34" charset="-122"/>
                <a:cs typeface="经典粗黑简" pitchFamily="49" charset="-122"/>
              </a:rPr>
              <a:t>，这些连通分量的生成树就组成了一个非连通图的</a:t>
            </a:r>
            <a:r>
              <a:rPr kumimoji="1" lang="zh-CN" altLang="en-US" sz="1600" dirty="0">
                <a:solidFill>
                  <a:srgbClr val="FF0000"/>
                </a:solidFill>
                <a:latin typeface="微软雅黑" pitchFamily="34" charset="-122"/>
                <a:ea typeface="微软雅黑" pitchFamily="34" charset="-122"/>
                <a:cs typeface="经典粗黑简" pitchFamily="49" charset="-122"/>
              </a:rPr>
              <a:t>生成森林</a:t>
            </a:r>
            <a:r>
              <a:rPr kumimoji="1" lang="zh-CN" altLang="en-US" sz="1600" dirty="0">
                <a:latin typeface="微软雅黑" pitchFamily="34" charset="-122"/>
                <a:ea typeface="微软雅黑" pitchFamily="34" charset="-122"/>
                <a:cs typeface="经典粗黑简" pitchFamily="49" charset="-122"/>
              </a:rPr>
              <a:t>。</a:t>
            </a:r>
          </a:p>
        </p:txBody>
      </p:sp>
      <p:sp>
        <p:nvSpPr>
          <p:cNvPr id="61" name="矩形 60"/>
          <p:cNvSpPr/>
          <p:nvPr/>
        </p:nvSpPr>
        <p:spPr>
          <a:xfrm>
            <a:off x="3071665" y="2390668"/>
            <a:ext cx="2749471" cy="400110"/>
          </a:xfrm>
          <a:prstGeom prst="rect">
            <a:avLst/>
          </a:prstGeom>
        </p:spPr>
        <p:txBody>
          <a:bodyPr wrap="none">
            <a:spAutoFit/>
          </a:bodyPr>
          <a:lstStyle/>
          <a:p>
            <a:r>
              <a:rPr kumimoji="1" lang="en-US" altLang="zh-CN" sz="2000" dirty="0">
                <a:latin typeface="微软雅黑" pitchFamily="34" charset="-122"/>
                <a:ea typeface="微软雅黑" pitchFamily="34" charset="-122"/>
                <a:cs typeface="经典粗黑简" pitchFamily="49" charset="-122"/>
              </a:rPr>
              <a:t>⑽</a:t>
            </a:r>
            <a:r>
              <a:rPr kumimoji="1" lang="zh-CN" altLang="en-US" sz="2000" dirty="0">
                <a:latin typeface="微软雅黑" pitchFamily="34" charset="-122"/>
                <a:ea typeface="微软雅黑" pitchFamily="34" charset="-122"/>
                <a:cs typeface="经典粗黑简" pitchFamily="49" charset="-122"/>
              </a:rPr>
              <a:t>、生成树和生成森林</a:t>
            </a:r>
          </a:p>
        </p:txBody>
      </p:sp>
      <p:grpSp>
        <p:nvGrpSpPr>
          <p:cNvPr id="62" name="Group 47"/>
          <p:cNvGrpSpPr>
            <a:grpSpLocks/>
          </p:cNvGrpSpPr>
          <p:nvPr/>
        </p:nvGrpSpPr>
        <p:grpSpPr bwMode="auto">
          <a:xfrm>
            <a:off x="2791338" y="3757613"/>
            <a:ext cx="2555875" cy="2259013"/>
            <a:chOff x="884" y="1307"/>
            <a:chExt cx="1610" cy="1423"/>
          </a:xfrm>
        </p:grpSpPr>
        <p:sp>
          <p:nvSpPr>
            <p:cNvPr id="63" name="Freeform 48"/>
            <p:cNvSpPr>
              <a:spLocks/>
            </p:cNvSpPr>
            <p:nvPr/>
          </p:nvSpPr>
          <p:spPr bwMode="auto">
            <a:xfrm>
              <a:off x="1779" y="1548"/>
              <a:ext cx="416" cy="419"/>
            </a:xfrm>
            <a:custGeom>
              <a:avLst/>
              <a:gdLst>
                <a:gd name="T0" fmla="*/ 698 w 375"/>
                <a:gd name="T1" fmla="*/ 0 h 375"/>
                <a:gd name="T2" fmla="*/ 0 w 375"/>
                <a:gd name="T3" fmla="*/ 730 h 375"/>
                <a:gd name="T4" fmla="*/ 0 60000 65536"/>
                <a:gd name="T5" fmla="*/ 0 60000 65536"/>
              </a:gdLst>
              <a:ahLst/>
              <a:cxnLst>
                <a:cxn ang="T4">
                  <a:pos x="T0" y="T1"/>
                </a:cxn>
                <a:cxn ang="T5">
                  <a:pos x="T2" y="T3"/>
                </a:cxn>
              </a:cxnLst>
              <a:rect l="0" t="0" r="r" b="b"/>
              <a:pathLst>
                <a:path w="375" h="375">
                  <a:moveTo>
                    <a:pt x="375" y="0"/>
                  </a:moveTo>
                  <a:lnTo>
                    <a:pt x="0" y="375"/>
                  </a:lnTo>
                </a:path>
              </a:pathLst>
            </a:custGeom>
            <a:noFill/>
            <a:ln w="3810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10800" tIns="28800" rIns="0" bIns="10800"/>
            <a:lstStyle/>
            <a:p>
              <a:endParaRPr lang="zh-CN" altLang="en-US"/>
            </a:p>
          </p:txBody>
        </p:sp>
        <p:grpSp>
          <p:nvGrpSpPr>
            <p:cNvPr id="64" name="Group 49"/>
            <p:cNvGrpSpPr>
              <a:grpSpLocks/>
            </p:cNvGrpSpPr>
            <p:nvPr/>
          </p:nvGrpSpPr>
          <p:grpSpPr bwMode="auto">
            <a:xfrm>
              <a:off x="931" y="1307"/>
              <a:ext cx="1563" cy="377"/>
              <a:chOff x="220" y="942"/>
              <a:chExt cx="1563" cy="377"/>
            </a:xfrm>
          </p:grpSpPr>
          <p:sp>
            <p:nvSpPr>
              <p:cNvPr id="76" name="Oval 50"/>
              <p:cNvSpPr>
                <a:spLocks noChangeArrowheads="1"/>
              </p:cNvSpPr>
              <p:nvPr/>
            </p:nvSpPr>
            <p:spPr bwMode="auto">
              <a:xfrm>
                <a:off x="220" y="975"/>
                <a:ext cx="317" cy="317"/>
              </a:xfrm>
              <a:prstGeom prst="ellipse">
                <a:avLst/>
              </a:prstGeom>
              <a:gradFill rotWithShape="1">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2857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0800" tIns="28800" rIns="0" bIns="10800"/>
              <a:lstStyle/>
              <a:p>
                <a:pPr algn="ctr">
                  <a:defRPr/>
                </a:pPr>
                <a:endParaRPr lang="zh-CN" altLang="en-US">
                  <a:solidFill>
                    <a:schemeClr val="bg1"/>
                  </a:solidFill>
                  <a:latin typeface="Arial" charset="0"/>
                  <a:ea typeface="华文行楷" pitchFamily="2" charset="-122"/>
                </a:endParaRPr>
              </a:p>
            </p:txBody>
          </p:sp>
          <p:sp>
            <p:nvSpPr>
              <p:cNvPr id="77" name="Text Box 51"/>
              <p:cNvSpPr txBox="1">
                <a:spLocks noChangeArrowheads="1"/>
              </p:cNvSpPr>
              <p:nvPr/>
            </p:nvSpPr>
            <p:spPr bwMode="auto">
              <a:xfrm>
                <a:off x="262" y="944"/>
                <a:ext cx="292" cy="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0800" tIns="28800" rIns="0" bIns="10800"/>
              <a:lstStyle>
                <a:lvl1pPr eaLnBrk="0" hangingPunct="0">
                  <a:defRPr sz="1600" b="1">
                    <a:solidFill>
                      <a:schemeClr val="tx1"/>
                    </a:solidFill>
                    <a:latin typeface="Tahoma" panose="020B0604030504040204" pitchFamily="34" charset="0"/>
                    <a:ea typeface="宋体" panose="02010600030101010101" pitchFamily="2" charset="-122"/>
                  </a:defRPr>
                </a:lvl1pPr>
                <a:lvl2pPr marL="742950" indent="-285750" eaLnBrk="0" hangingPunct="0">
                  <a:defRPr sz="1600" b="1">
                    <a:solidFill>
                      <a:schemeClr val="tx1"/>
                    </a:solidFill>
                    <a:latin typeface="Tahoma" panose="020B0604030504040204" pitchFamily="34" charset="0"/>
                    <a:ea typeface="宋体" panose="02010600030101010101" pitchFamily="2" charset="-122"/>
                  </a:defRPr>
                </a:lvl2pPr>
                <a:lvl3pPr marL="1143000" indent="-228600" eaLnBrk="0" hangingPunct="0">
                  <a:defRPr sz="1600" b="1">
                    <a:solidFill>
                      <a:schemeClr val="tx1"/>
                    </a:solidFill>
                    <a:latin typeface="Tahoma" panose="020B0604030504040204" pitchFamily="34" charset="0"/>
                    <a:ea typeface="宋体" panose="02010600030101010101" pitchFamily="2" charset="-122"/>
                  </a:defRPr>
                </a:lvl3pPr>
                <a:lvl4pPr marL="1600200" indent="-228600" eaLnBrk="0" hangingPunct="0">
                  <a:defRPr sz="1600" b="1">
                    <a:solidFill>
                      <a:schemeClr val="tx1"/>
                    </a:solidFill>
                    <a:latin typeface="Tahoma" panose="020B0604030504040204" pitchFamily="34" charset="0"/>
                    <a:ea typeface="宋体" panose="02010600030101010101" pitchFamily="2" charset="-122"/>
                  </a:defRPr>
                </a:lvl4pPr>
                <a:lvl5pPr marL="2057400" indent="-228600" eaLnBrk="0" hangingPunct="0">
                  <a:defRPr sz="16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9pPr>
              </a:lstStyle>
              <a:p>
                <a:pPr algn="just"/>
                <a:r>
                  <a:rPr lang="en-US" altLang="zh-CN" sz="2800" i="1">
                    <a:solidFill>
                      <a:schemeClr val="bg1"/>
                    </a:solidFill>
                    <a:latin typeface="Times New Roman" panose="02020603050405020304" pitchFamily="18" charset="0"/>
                  </a:rPr>
                  <a:t>V</a:t>
                </a:r>
                <a:r>
                  <a:rPr lang="en-US" altLang="zh-CN" sz="2800" baseline="-25000">
                    <a:solidFill>
                      <a:schemeClr val="bg1"/>
                    </a:solidFill>
                    <a:latin typeface="Times New Roman" panose="02020603050405020304" pitchFamily="18" charset="0"/>
                  </a:rPr>
                  <a:t>1</a:t>
                </a:r>
                <a:endParaRPr lang="en-US" altLang="zh-CN" sz="2800">
                  <a:solidFill>
                    <a:schemeClr val="bg1"/>
                  </a:solidFill>
                  <a:latin typeface="Times New Roman" panose="02020603050405020304" pitchFamily="18" charset="0"/>
                </a:endParaRPr>
              </a:p>
            </p:txBody>
          </p:sp>
          <p:sp>
            <p:nvSpPr>
              <p:cNvPr id="78" name="Line 52"/>
              <p:cNvSpPr>
                <a:spLocks noChangeShapeType="1"/>
              </p:cNvSpPr>
              <p:nvPr/>
            </p:nvSpPr>
            <p:spPr bwMode="auto">
              <a:xfrm>
                <a:off x="516" y="1104"/>
                <a:ext cx="952"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lIns="10800" tIns="28800" rIns="0" bIns="10800"/>
              <a:lstStyle/>
              <a:p>
                <a:endParaRPr lang="zh-CN" altLang="en-US"/>
              </a:p>
            </p:txBody>
          </p:sp>
          <p:sp>
            <p:nvSpPr>
              <p:cNvPr id="79" name="Oval 53"/>
              <p:cNvSpPr>
                <a:spLocks noChangeArrowheads="1"/>
              </p:cNvSpPr>
              <p:nvPr/>
            </p:nvSpPr>
            <p:spPr bwMode="auto">
              <a:xfrm>
                <a:off x="1449" y="973"/>
                <a:ext cx="317" cy="317"/>
              </a:xfrm>
              <a:prstGeom prst="ellipse">
                <a:avLst/>
              </a:prstGeom>
              <a:gradFill rotWithShape="1">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2857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0800" tIns="28800" rIns="0" bIns="10800"/>
              <a:lstStyle/>
              <a:p>
                <a:pPr algn="ctr">
                  <a:defRPr/>
                </a:pPr>
                <a:endParaRPr lang="zh-CN" altLang="en-US">
                  <a:solidFill>
                    <a:schemeClr val="bg1"/>
                  </a:solidFill>
                  <a:latin typeface="Arial" charset="0"/>
                  <a:ea typeface="华文行楷" pitchFamily="2" charset="-122"/>
                </a:endParaRPr>
              </a:p>
            </p:txBody>
          </p:sp>
          <p:sp>
            <p:nvSpPr>
              <p:cNvPr id="80" name="Text Box 54"/>
              <p:cNvSpPr txBox="1">
                <a:spLocks noChangeArrowheads="1"/>
              </p:cNvSpPr>
              <p:nvPr/>
            </p:nvSpPr>
            <p:spPr bwMode="auto">
              <a:xfrm>
                <a:off x="1491" y="942"/>
                <a:ext cx="292" cy="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0800" tIns="28800" rIns="0" bIns="10800"/>
              <a:lstStyle>
                <a:lvl1pPr eaLnBrk="0" hangingPunct="0">
                  <a:defRPr sz="1600" b="1">
                    <a:solidFill>
                      <a:schemeClr val="tx1"/>
                    </a:solidFill>
                    <a:latin typeface="Tahoma" panose="020B0604030504040204" pitchFamily="34" charset="0"/>
                    <a:ea typeface="宋体" panose="02010600030101010101" pitchFamily="2" charset="-122"/>
                  </a:defRPr>
                </a:lvl1pPr>
                <a:lvl2pPr marL="742950" indent="-285750" eaLnBrk="0" hangingPunct="0">
                  <a:defRPr sz="1600" b="1">
                    <a:solidFill>
                      <a:schemeClr val="tx1"/>
                    </a:solidFill>
                    <a:latin typeface="Tahoma" panose="020B0604030504040204" pitchFamily="34" charset="0"/>
                    <a:ea typeface="宋体" panose="02010600030101010101" pitchFamily="2" charset="-122"/>
                  </a:defRPr>
                </a:lvl2pPr>
                <a:lvl3pPr marL="1143000" indent="-228600" eaLnBrk="0" hangingPunct="0">
                  <a:defRPr sz="1600" b="1">
                    <a:solidFill>
                      <a:schemeClr val="tx1"/>
                    </a:solidFill>
                    <a:latin typeface="Tahoma" panose="020B0604030504040204" pitchFamily="34" charset="0"/>
                    <a:ea typeface="宋体" panose="02010600030101010101" pitchFamily="2" charset="-122"/>
                  </a:defRPr>
                </a:lvl3pPr>
                <a:lvl4pPr marL="1600200" indent="-228600" eaLnBrk="0" hangingPunct="0">
                  <a:defRPr sz="1600" b="1">
                    <a:solidFill>
                      <a:schemeClr val="tx1"/>
                    </a:solidFill>
                    <a:latin typeface="Tahoma" panose="020B0604030504040204" pitchFamily="34" charset="0"/>
                    <a:ea typeface="宋体" panose="02010600030101010101" pitchFamily="2" charset="-122"/>
                  </a:defRPr>
                </a:lvl4pPr>
                <a:lvl5pPr marL="2057400" indent="-228600" eaLnBrk="0" hangingPunct="0">
                  <a:defRPr sz="16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9pPr>
              </a:lstStyle>
              <a:p>
                <a:pPr algn="just"/>
                <a:r>
                  <a:rPr lang="en-US" altLang="zh-CN" sz="2800" i="1">
                    <a:solidFill>
                      <a:schemeClr val="bg1"/>
                    </a:solidFill>
                    <a:latin typeface="Times New Roman" panose="02020603050405020304" pitchFamily="18" charset="0"/>
                  </a:rPr>
                  <a:t>V</a:t>
                </a:r>
                <a:r>
                  <a:rPr lang="en-US" altLang="zh-CN" sz="2800" baseline="-25000">
                    <a:solidFill>
                      <a:schemeClr val="bg1"/>
                    </a:solidFill>
                    <a:latin typeface="Times New Roman" panose="02020603050405020304" pitchFamily="18" charset="0"/>
                  </a:rPr>
                  <a:t>2</a:t>
                </a:r>
                <a:endParaRPr lang="en-US" altLang="zh-CN" sz="2800">
                  <a:solidFill>
                    <a:schemeClr val="bg1"/>
                  </a:solidFill>
                  <a:latin typeface="Times New Roman" panose="02020603050405020304" pitchFamily="18" charset="0"/>
                </a:endParaRPr>
              </a:p>
            </p:txBody>
          </p:sp>
        </p:grpSp>
        <p:sp>
          <p:nvSpPr>
            <p:cNvPr id="65" name="Freeform 55"/>
            <p:cNvSpPr>
              <a:spLocks/>
            </p:cNvSpPr>
            <p:nvPr/>
          </p:nvSpPr>
          <p:spPr bwMode="auto">
            <a:xfrm>
              <a:off x="1150" y="2131"/>
              <a:ext cx="360" cy="355"/>
            </a:xfrm>
            <a:custGeom>
              <a:avLst/>
              <a:gdLst>
                <a:gd name="T0" fmla="*/ 895 w 300"/>
                <a:gd name="T1" fmla="*/ 0 h 300"/>
                <a:gd name="T2" fmla="*/ 0 w 300"/>
                <a:gd name="T3" fmla="*/ 824 h 300"/>
                <a:gd name="T4" fmla="*/ 0 60000 65536"/>
                <a:gd name="T5" fmla="*/ 0 60000 65536"/>
              </a:gdLst>
              <a:ahLst/>
              <a:cxnLst>
                <a:cxn ang="T4">
                  <a:pos x="T0" y="T1"/>
                </a:cxn>
                <a:cxn ang="T5">
                  <a:pos x="T2" y="T3"/>
                </a:cxn>
              </a:cxnLst>
              <a:rect l="0" t="0" r="r" b="b"/>
              <a:pathLst>
                <a:path w="300" h="300">
                  <a:moveTo>
                    <a:pt x="300" y="0"/>
                  </a:moveTo>
                  <a:lnTo>
                    <a:pt x="0" y="300"/>
                  </a:lnTo>
                </a:path>
              </a:pathLst>
            </a:custGeom>
            <a:noFill/>
            <a:ln w="3810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10800" tIns="28800" rIns="0" bIns="10800"/>
            <a:lstStyle/>
            <a:p>
              <a:endParaRPr lang="zh-CN" altLang="en-US"/>
            </a:p>
          </p:txBody>
        </p:sp>
        <p:sp>
          <p:nvSpPr>
            <p:cNvPr id="66" name="Line 56"/>
            <p:cNvSpPr>
              <a:spLocks noChangeShapeType="1"/>
            </p:cNvSpPr>
            <p:nvPr/>
          </p:nvSpPr>
          <p:spPr bwMode="auto">
            <a:xfrm>
              <a:off x="2322" y="1638"/>
              <a:ext cx="0" cy="778"/>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lIns="10800" tIns="28800" rIns="0" bIns="10800"/>
            <a:lstStyle/>
            <a:p>
              <a:endParaRPr lang="zh-CN" altLang="en-US"/>
            </a:p>
          </p:txBody>
        </p:sp>
        <p:sp>
          <p:nvSpPr>
            <p:cNvPr id="67" name="Line 57"/>
            <p:cNvSpPr>
              <a:spLocks noChangeShapeType="1"/>
            </p:cNvSpPr>
            <p:nvPr/>
          </p:nvSpPr>
          <p:spPr bwMode="auto">
            <a:xfrm>
              <a:off x="1805" y="2141"/>
              <a:ext cx="405" cy="34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lIns="10800" tIns="28800" rIns="0" bIns="10800"/>
            <a:lstStyle/>
            <a:p>
              <a:endParaRPr lang="zh-CN" altLang="en-US"/>
            </a:p>
          </p:txBody>
        </p:sp>
        <p:sp>
          <p:nvSpPr>
            <p:cNvPr id="68" name="Line 58"/>
            <p:cNvSpPr>
              <a:spLocks noChangeShapeType="1"/>
            </p:cNvSpPr>
            <p:nvPr/>
          </p:nvSpPr>
          <p:spPr bwMode="auto">
            <a:xfrm>
              <a:off x="1021" y="1642"/>
              <a:ext cx="0" cy="76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lIns="10800" tIns="28800" rIns="0" bIns="10800"/>
            <a:lstStyle/>
            <a:p>
              <a:endParaRPr lang="zh-CN" altLang="en-US"/>
            </a:p>
          </p:txBody>
        </p:sp>
        <p:sp>
          <p:nvSpPr>
            <p:cNvPr id="69" name="Oval 59"/>
            <p:cNvSpPr>
              <a:spLocks noChangeArrowheads="1"/>
            </p:cNvSpPr>
            <p:nvPr/>
          </p:nvSpPr>
          <p:spPr bwMode="auto">
            <a:xfrm>
              <a:off x="1511" y="1918"/>
              <a:ext cx="317" cy="317"/>
            </a:xfrm>
            <a:prstGeom prst="ellipse">
              <a:avLst/>
            </a:prstGeom>
            <a:gradFill rotWithShape="1">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2857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0800" tIns="28800" rIns="0" bIns="10800"/>
            <a:lstStyle/>
            <a:p>
              <a:pPr algn="ctr">
                <a:defRPr/>
              </a:pPr>
              <a:endParaRPr lang="zh-CN" altLang="en-US">
                <a:solidFill>
                  <a:schemeClr val="bg1"/>
                </a:solidFill>
                <a:latin typeface="Arial" charset="0"/>
                <a:ea typeface="华文行楷" pitchFamily="2" charset="-122"/>
              </a:endParaRPr>
            </a:p>
          </p:txBody>
        </p:sp>
        <p:sp>
          <p:nvSpPr>
            <p:cNvPr id="71" name="Text Box 60"/>
            <p:cNvSpPr txBox="1">
              <a:spLocks noChangeArrowheads="1"/>
            </p:cNvSpPr>
            <p:nvPr/>
          </p:nvSpPr>
          <p:spPr bwMode="auto">
            <a:xfrm>
              <a:off x="1553" y="1887"/>
              <a:ext cx="292" cy="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0800" tIns="28800" rIns="0" bIns="10800"/>
            <a:lstStyle>
              <a:lvl1pPr eaLnBrk="0" hangingPunct="0">
                <a:defRPr sz="1600" b="1">
                  <a:solidFill>
                    <a:schemeClr val="tx1"/>
                  </a:solidFill>
                  <a:latin typeface="Tahoma" panose="020B0604030504040204" pitchFamily="34" charset="0"/>
                  <a:ea typeface="宋体" panose="02010600030101010101" pitchFamily="2" charset="-122"/>
                </a:defRPr>
              </a:lvl1pPr>
              <a:lvl2pPr marL="742950" indent="-285750" eaLnBrk="0" hangingPunct="0">
                <a:defRPr sz="1600" b="1">
                  <a:solidFill>
                    <a:schemeClr val="tx1"/>
                  </a:solidFill>
                  <a:latin typeface="Tahoma" panose="020B0604030504040204" pitchFamily="34" charset="0"/>
                  <a:ea typeface="宋体" panose="02010600030101010101" pitchFamily="2" charset="-122"/>
                </a:defRPr>
              </a:lvl2pPr>
              <a:lvl3pPr marL="1143000" indent="-228600" eaLnBrk="0" hangingPunct="0">
                <a:defRPr sz="1600" b="1">
                  <a:solidFill>
                    <a:schemeClr val="tx1"/>
                  </a:solidFill>
                  <a:latin typeface="Tahoma" panose="020B0604030504040204" pitchFamily="34" charset="0"/>
                  <a:ea typeface="宋体" panose="02010600030101010101" pitchFamily="2" charset="-122"/>
                </a:defRPr>
              </a:lvl3pPr>
              <a:lvl4pPr marL="1600200" indent="-228600" eaLnBrk="0" hangingPunct="0">
                <a:defRPr sz="1600" b="1">
                  <a:solidFill>
                    <a:schemeClr val="tx1"/>
                  </a:solidFill>
                  <a:latin typeface="Tahoma" panose="020B0604030504040204" pitchFamily="34" charset="0"/>
                  <a:ea typeface="宋体" panose="02010600030101010101" pitchFamily="2" charset="-122"/>
                </a:defRPr>
              </a:lvl4pPr>
              <a:lvl5pPr marL="2057400" indent="-228600" eaLnBrk="0" hangingPunct="0">
                <a:defRPr sz="16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9pPr>
            </a:lstStyle>
            <a:p>
              <a:pPr algn="just"/>
              <a:r>
                <a:rPr lang="en-US" altLang="zh-CN" sz="2800" i="1">
                  <a:solidFill>
                    <a:schemeClr val="bg1"/>
                  </a:solidFill>
                  <a:latin typeface="Times New Roman" panose="02020603050405020304" pitchFamily="18" charset="0"/>
                </a:rPr>
                <a:t>V</a:t>
              </a:r>
              <a:r>
                <a:rPr lang="en-US" altLang="zh-CN" sz="2800" baseline="-25000">
                  <a:solidFill>
                    <a:schemeClr val="bg1"/>
                  </a:solidFill>
                  <a:latin typeface="Times New Roman" panose="02020603050405020304" pitchFamily="18" charset="0"/>
                </a:rPr>
                <a:t>3</a:t>
              </a:r>
              <a:endParaRPr lang="en-US" altLang="zh-CN" sz="2800">
                <a:solidFill>
                  <a:schemeClr val="bg1"/>
                </a:solidFill>
                <a:latin typeface="Times New Roman" panose="02020603050405020304" pitchFamily="18" charset="0"/>
              </a:endParaRPr>
            </a:p>
          </p:txBody>
        </p:sp>
        <p:sp>
          <p:nvSpPr>
            <p:cNvPr id="72" name="Oval 61"/>
            <p:cNvSpPr>
              <a:spLocks noChangeArrowheads="1"/>
            </p:cNvSpPr>
            <p:nvPr/>
          </p:nvSpPr>
          <p:spPr bwMode="auto">
            <a:xfrm>
              <a:off x="884" y="2386"/>
              <a:ext cx="317" cy="317"/>
            </a:xfrm>
            <a:prstGeom prst="ellipse">
              <a:avLst/>
            </a:prstGeom>
            <a:gradFill rotWithShape="1">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2857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0800" tIns="28800" rIns="0" bIns="10800"/>
            <a:lstStyle/>
            <a:p>
              <a:pPr algn="ctr">
                <a:defRPr/>
              </a:pPr>
              <a:endParaRPr lang="zh-CN" altLang="en-US">
                <a:solidFill>
                  <a:schemeClr val="bg1"/>
                </a:solidFill>
                <a:latin typeface="Arial" charset="0"/>
                <a:ea typeface="华文行楷" pitchFamily="2" charset="-122"/>
              </a:endParaRPr>
            </a:p>
          </p:txBody>
        </p:sp>
        <p:sp>
          <p:nvSpPr>
            <p:cNvPr id="73" name="Text Box 62"/>
            <p:cNvSpPr txBox="1">
              <a:spLocks noChangeArrowheads="1"/>
            </p:cNvSpPr>
            <p:nvPr/>
          </p:nvSpPr>
          <p:spPr bwMode="auto">
            <a:xfrm>
              <a:off x="926" y="2355"/>
              <a:ext cx="292" cy="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0800" tIns="28800" rIns="0" bIns="10800"/>
            <a:lstStyle>
              <a:lvl1pPr eaLnBrk="0" hangingPunct="0">
                <a:defRPr sz="1600" b="1">
                  <a:solidFill>
                    <a:schemeClr val="tx1"/>
                  </a:solidFill>
                  <a:latin typeface="Tahoma" panose="020B0604030504040204" pitchFamily="34" charset="0"/>
                  <a:ea typeface="宋体" panose="02010600030101010101" pitchFamily="2" charset="-122"/>
                </a:defRPr>
              </a:lvl1pPr>
              <a:lvl2pPr marL="742950" indent="-285750" eaLnBrk="0" hangingPunct="0">
                <a:defRPr sz="1600" b="1">
                  <a:solidFill>
                    <a:schemeClr val="tx1"/>
                  </a:solidFill>
                  <a:latin typeface="Tahoma" panose="020B0604030504040204" pitchFamily="34" charset="0"/>
                  <a:ea typeface="宋体" panose="02010600030101010101" pitchFamily="2" charset="-122"/>
                </a:defRPr>
              </a:lvl2pPr>
              <a:lvl3pPr marL="1143000" indent="-228600" eaLnBrk="0" hangingPunct="0">
                <a:defRPr sz="1600" b="1">
                  <a:solidFill>
                    <a:schemeClr val="tx1"/>
                  </a:solidFill>
                  <a:latin typeface="Tahoma" panose="020B0604030504040204" pitchFamily="34" charset="0"/>
                  <a:ea typeface="宋体" panose="02010600030101010101" pitchFamily="2" charset="-122"/>
                </a:defRPr>
              </a:lvl3pPr>
              <a:lvl4pPr marL="1600200" indent="-228600" eaLnBrk="0" hangingPunct="0">
                <a:defRPr sz="1600" b="1">
                  <a:solidFill>
                    <a:schemeClr val="tx1"/>
                  </a:solidFill>
                  <a:latin typeface="Tahoma" panose="020B0604030504040204" pitchFamily="34" charset="0"/>
                  <a:ea typeface="宋体" panose="02010600030101010101" pitchFamily="2" charset="-122"/>
                </a:defRPr>
              </a:lvl4pPr>
              <a:lvl5pPr marL="2057400" indent="-228600" eaLnBrk="0" hangingPunct="0">
                <a:defRPr sz="16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9pPr>
            </a:lstStyle>
            <a:p>
              <a:pPr algn="just"/>
              <a:r>
                <a:rPr lang="en-US" altLang="zh-CN" sz="2800" i="1" dirty="0">
                  <a:solidFill>
                    <a:schemeClr val="bg1"/>
                  </a:solidFill>
                  <a:latin typeface="Times New Roman" panose="02020603050405020304" pitchFamily="18" charset="0"/>
                </a:rPr>
                <a:t>V</a:t>
              </a:r>
              <a:r>
                <a:rPr lang="en-US" altLang="zh-CN" sz="2800" baseline="-25000" dirty="0">
                  <a:solidFill>
                    <a:schemeClr val="bg1"/>
                  </a:solidFill>
                  <a:latin typeface="Times New Roman" panose="02020603050405020304" pitchFamily="18" charset="0"/>
                </a:rPr>
                <a:t>4</a:t>
              </a:r>
              <a:endParaRPr lang="en-US" altLang="zh-CN" sz="2800" dirty="0">
                <a:solidFill>
                  <a:schemeClr val="bg1"/>
                </a:solidFill>
                <a:latin typeface="Times New Roman" panose="02020603050405020304" pitchFamily="18" charset="0"/>
              </a:endParaRPr>
            </a:p>
          </p:txBody>
        </p:sp>
        <p:sp>
          <p:nvSpPr>
            <p:cNvPr id="74" name="Oval 63"/>
            <p:cNvSpPr>
              <a:spLocks noChangeArrowheads="1"/>
            </p:cNvSpPr>
            <p:nvPr/>
          </p:nvSpPr>
          <p:spPr bwMode="auto">
            <a:xfrm>
              <a:off x="2160" y="2384"/>
              <a:ext cx="317" cy="317"/>
            </a:xfrm>
            <a:prstGeom prst="ellipse">
              <a:avLst/>
            </a:prstGeom>
            <a:gradFill rotWithShape="1">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2857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0800" tIns="28800" rIns="0" bIns="10800"/>
            <a:lstStyle/>
            <a:p>
              <a:pPr algn="ctr">
                <a:defRPr/>
              </a:pPr>
              <a:endParaRPr lang="zh-CN" altLang="en-US">
                <a:solidFill>
                  <a:schemeClr val="bg1"/>
                </a:solidFill>
                <a:latin typeface="Arial" charset="0"/>
                <a:ea typeface="华文行楷" pitchFamily="2" charset="-122"/>
              </a:endParaRPr>
            </a:p>
          </p:txBody>
        </p:sp>
        <p:sp>
          <p:nvSpPr>
            <p:cNvPr id="75" name="Text Box 64"/>
            <p:cNvSpPr txBox="1">
              <a:spLocks noChangeArrowheads="1"/>
            </p:cNvSpPr>
            <p:nvPr/>
          </p:nvSpPr>
          <p:spPr bwMode="auto">
            <a:xfrm>
              <a:off x="2202" y="2353"/>
              <a:ext cx="292" cy="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0800" tIns="28800" rIns="0" bIns="10800"/>
            <a:lstStyle>
              <a:lvl1pPr eaLnBrk="0" hangingPunct="0">
                <a:defRPr sz="1600" b="1">
                  <a:solidFill>
                    <a:schemeClr val="tx1"/>
                  </a:solidFill>
                  <a:latin typeface="Tahoma" panose="020B0604030504040204" pitchFamily="34" charset="0"/>
                  <a:ea typeface="宋体" panose="02010600030101010101" pitchFamily="2" charset="-122"/>
                </a:defRPr>
              </a:lvl1pPr>
              <a:lvl2pPr marL="742950" indent="-285750" eaLnBrk="0" hangingPunct="0">
                <a:defRPr sz="1600" b="1">
                  <a:solidFill>
                    <a:schemeClr val="tx1"/>
                  </a:solidFill>
                  <a:latin typeface="Tahoma" panose="020B0604030504040204" pitchFamily="34" charset="0"/>
                  <a:ea typeface="宋体" panose="02010600030101010101" pitchFamily="2" charset="-122"/>
                </a:defRPr>
              </a:lvl2pPr>
              <a:lvl3pPr marL="1143000" indent="-228600" eaLnBrk="0" hangingPunct="0">
                <a:defRPr sz="1600" b="1">
                  <a:solidFill>
                    <a:schemeClr val="tx1"/>
                  </a:solidFill>
                  <a:latin typeface="Tahoma" panose="020B0604030504040204" pitchFamily="34" charset="0"/>
                  <a:ea typeface="宋体" panose="02010600030101010101" pitchFamily="2" charset="-122"/>
                </a:defRPr>
              </a:lvl3pPr>
              <a:lvl4pPr marL="1600200" indent="-228600" eaLnBrk="0" hangingPunct="0">
                <a:defRPr sz="1600" b="1">
                  <a:solidFill>
                    <a:schemeClr val="tx1"/>
                  </a:solidFill>
                  <a:latin typeface="Tahoma" panose="020B0604030504040204" pitchFamily="34" charset="0"/>
                  <a:ea typeface="宋体" panose="02010600030101010101" pitchFamily="2" charset="-122"/>
                </a:defRPr>
              </a:lvl4pPr>
              <a:lvl5pPr marL="2057400" indent="-228600" eaLnBrk="0" hangingPunct="0">
                <a:defRPr sz="16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9pPr>
            </a:lstStyle>
            <a:p>
              <a:pPr algn="just"/>
              <a:r>
                <a:rPr lang="en-US" altLang="zh-CN" sz="2800" i="1">
                  <a:solidFill>
                    <a:schemeClr val="bg1"/>
                  </a:solidFill>
                  <a:latin typeface="Times New Roman" panose="02020603050405020304" pitchFamily="18" charset="0"/>
                </a:rPr>
                <a:t>V</a:t>
              </a:r>
              <a:r>
                <a:rPr lang="en-US" altLang="zh-CN" sz="2800" baseline="-25000">
                  <a:solidFill>
                    <a:schemeClr val="bg1"/>
                  </a:solidFill>
                  <a:latin typeface="Times New Roman" panose="02020603050405020304" pitchFamily="18" charset="0"/>
                </a:rPr>
                <a:t>5</a:t>
              </a:r>
              <a:endParaRPr lang="en-US" altLang="zh-CN" sz="2800">
                <a:solidFill>
                  <a:schemeClr val="bg1"/>
                </a:solidFill>
                <a:latin typeface="Times New Roman" panose="02020603050405020304" pitchFamily="18" charset="0"/>
              </a:endParaRPr>
            </a:p>
          </p:txBody>
        </p:sp>
      </p:grpSp>
      <p:grpSp>
        <p:nvGrpSpPr>
          <p:cNvPr id="81" name="Group 84"/>
          <p:cNvGrpSpPr>
            <a:grpSpLocks/>
          </p:cNvGrpSpPr>
          <p:nvPr/>
        </p:nvGrpSpPr>
        <p:grpSpPr bwMode="auto">
          <a:xfrm>
            <a:off x="7469701" y="3662363"/>
            <a:ext cx="2555875" cy="2259013"/>
            <a:chOff x="3345" y="890"/>
            <a:chExt cx="1610" cy="1423"/>
          </a:xfrm>
        </p:grpSpPr>
        <p:sp>
          <p:nvSpPr>
            <p:cNvPr id="82" name="Freeform 66"/>
            <p:cNvSpPr>
              <a:spLocks/>
            </p:cNvSpPr>
            <p:nvPr/>
          </p:nvSpPr>
          <p:spPr bwMode="auto">
            <a:xfrm>
              <a:off x="4240" y="1131"/>
              <a:ext cx="416" cy="419"/>
            </a:xfrm>
            <a:custGeom>
              <a:avLst/>
              <a:gdLst>
                <a:gd name="T0" fmla="*/ 698 w 375"/>
                <a:gd name="T1" fmla="*/ 0 h 375"/>
                <a:gd name="T2" fmla="*/ 0 w 375"/>
                <a:gd name="T3" fmla="*/ 730 h 375"/>
                <a:gd name="T4" fmla="*/ 0 60000 65536"/>
                <a:gd name="T5" fmla="*/ 0 60000 65536"/>
              </a:gdLst>
              <a:ahLst/>
              <a:cxnLst>
                <a:cxn ang="T4">
                  <a:pos x="T0" y="T1"/>
                </a:cxn>
                <a:cxn ang="T5">
                  <a:pos x="T2" y="T3"/>
                </a:cxn>
              </a:cxnLst>
              <a:rect l="0" t="0" r="r" b="b"/>
              <a:pathLst>
                <a:path w="375" h="375">
                  <a:moveTo>
                    <a:pt x="375" y="0"/>
                  </a:moveTo>
                  <a:lnTo>
                    <a:pt x="0" y="375"/>
                  </a:lnTo>
                </a:path>
              </a:pathLst>
            </a:custGeom>
            <a:noFill/>
            <a:ln w="3810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10800" tIns="28800" rIns="0" bIns="10800"/>
            <a:lstStyle/>
            <a:p>
              <a:endParaRPr lang="zh-CN" altLang="en-US"/>
            </a:p>
          </p:txBody>
        </p:sp>
        <p:grpSp>
          <p:nvGrpSpPr>
            <p:cNvPr id="83" name="Group 67"/>
            <p:cNvGrpSpPr>
              <a:grpSpLocks/>
            </p:cNvGrpSpPr>
            <p:nvPr/>
          </p:nvGrpSpPr>
          <p:grpSpPr bwMode="auto">
            <a:xfrm>
              <a:off x="3392" y="890"/>
              <a:ext cx="1563" cy="377"/>
              <a:chOff x="220" y="942"/>
              <a:chExt cx="1563" cy="377"/>
            </a:xfrm>
          </p:grpSpPr>
          <p:sp>
            <p:nvSpPr>
              <p:cNvPr id="92" name="Oval 68"/>
              <p:cNvSpPr>
                <a:spLocks noChangeArrowheads="1"/>
              </p:cNvSpPr>
              <p:nvPr/>
            </p:nvSpPr>
            <p:spPr bwMode="auto">
              <a:xfrm>
                <a:off x="220" y="975"/>
                <a:ext cx="317" cy="317"/>
              </a:xfrm>
              <a:prstGeom prst="ellipse">
                <a:avLst/>
              </a:prstGeom>
              <a:gradFill rotWithShape="1">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2857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0800" tIns="28800" rIns="0" bIns="10800"/>
              <a:lstStyle/>
              <a:p>
                <a:pPr algn="ctr">
                  <a:defRPr/>
                </a:pPr>
                <a:endParaRPr lang="zh-CN" altLang="en-US">
                  <a:solidFill>
                    <a:schemeClr val="bg1"/>
                  </a:solidFill>
                  <a:latin typeface="Arial" charset="0"/>
                  <a:ea typeface="华文行楷" pitchFamily="2" charset="-122"/>
                </a:endParaRPr>
              </a:p>
            </p:txBody>
          </p:sp>
          <p:sp>
            <p:nvSpPr>
              <p:cNvPr id="93" name="Text Box 69"/>
              <p:cNvSpPr txBox="1">
                <a:spLocks noChangeArrowheads="1"/>
              </p:cNvSpPr>
              <p:nvPr/>
            </p:nvSpPr>
            <p:spPr bwMode="auto">
              <a:xfrm>
                <a:off x="262" y="944"/>
                <a:ext cx="292" cy="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0800" tIns="28800" rIns="0" bIns="10800"/>
              <a:lstStyle>
                <a:lvl1pPr eaLnBrk="0" hangingPunct="0">
                  <a:defRPr sz="1600" b="1">
                    <a:solidFill>
                      <a:schemeClr val="tx1"/>
                    </a:solidFill>
                    <a:latin typeface="Tahoma" panose="020B0604030504040204" pitchFamily="34" charset="0"/>
                    <a:ea typeface="宋体" panose="02010600030101010101" pitchFamily="2" charset="-122"/>
                  </a:defRPr>
                </a:lvl1pPr>
                <a:lvl2pPr marL="742950" indent="-285750" eaLnBrk="0" hangingPunct="0">
                  <a:defRPr sz="1600" b="1">
                    <a:solidFill>
                      <a:schemeClr val="tx1"/>
                    </a:solidFill>
                    <a:latin typeface="Tahoma" panose="020B0604030504040204" pitchFamily="34" charset="0"/>
                    <a:ea typeface="宋体" panose="02010600030101010101" pitchFamily="2" charset="-122"/>
                  </a:defRPr>
                </a:lvl2pPr>
                <a:lvl3pPr marL="1143000" indent="-228600" eaLnBrk="0" hangingPunct="0">
                  <a:defRPr sz="1600" b="1">
                    <a:solidFill>
                      <a:schemeClr val="tx1"/>
                    </a:solidFill>
                    <a:latin typeface="Tahoma" panose="020B0604030504040204" pitchFamily="34" charset="0"/>
                    <a:ea typeface="宋体" panose="02010600030101010101" pitchFamily="2" charset="-122"/>
                  </a:defRPr>
                </a:lvl3pPr>
                <a:lvl4pPr marL="1600200" indent="-228600" eaLnBrk="0" hangingPunct="0">
                  <a:defRPr sz="1600" b="1">
                    <a:solidFill>
                      <a:schemeClr val="tx1"/>
                    </a:solidFill>
                    <a:latin typeface="Tahoma" panose="020B0604030504040204" pitchFamily="34" charset="0"/>
                    <a:ea typeface="宋体" panose="02010600030101010101" pitchFamily="2" charset="-122"/>
                  </a:defRPr>
                </a:lvl4pPr>
                <a:lvl5pPr marL="2057400" indent="-228600" eaLnBrk="0" hangingPunct="0">
                  <a:defRPr sz="16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9pPr>
              </a:lstStyle>
              <a:p>
                <a:pPr algn="just"/>
                <a:r>
                  <a:rPr lang="en-US" altLang="zh-CN" sz="2800" i="1">
                    <a:solidFill>
                      <a:schemeClr val="bg1"/>
                    </a:solidFill>
                    <a:latin typeface="Times New Roman" panose="02020603050405020304" pitchFamily="18" charset="0"/>
                  </a:rPr>
                  <a:t>V</a:t>
                </a:r>
                <a:r>
                  <a:rPr lang="en-US" altLang="zh-CN" sz="2800" baseline="-25000">
                    <a:solidFill>
                      <a:schemeClr val="bg1"/>
                    </a:solidFill>
                    <a:latin typeface="Times New Roman" panose="02020603050405020304" pitchFamily="18" charset="0"/>
                  </a:rPr>
                  <a:t>1</a:t>
                </a:r>
                <a:endParaRPr lang="en-US" altLang="zh-CN" sz="2800">
                  <a:solidFill>
                    <a:schemeClr val="bg1"/>
                  </a:solidFill>
                  <a:latin typeface="Times New Roman" panose="02020603050405020304" pitchFamily="18" charset="0"/>
                </a:endParaRPr>
              </a:p>
            </p:txBody>
          </p:sp>
          <p:sp>
            <p:nvSpPr>
              <p:cNvPr id="94" name="Line 70"/>
              <p:cNvSpPr>
                <a:spLocks noChangeShapeType="1"/>
              </p:cNvSpPr>
              <p:nvPr/>
            </p:nvSpPr>
            <p:spPr bwMode="auto">
              <a:xfrm>
                <a:off x="516" y="1104"/>
                <a:ext cx="952"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lIns="10800" tIns="28800" rIns="0" bIns="10800"/>
              <a:lstStyle/>
              <a:p>
                <a:endParaRPr lang="zh-CN" altLang="en-US"/>
              </a:p>
            </p:txBody>
          </p:sp>
          <p:sp>
            <p:nvSpPr>
              <p:cNvPr id="95" name="Oval 71"/>
              <p:cNvSpPr>
                <a:spLocks noChangeArrowheads="1"/>
              </p:cNvSpPr>
              <p:nvPr/>
            </p:nvSpPr>
            <p:spPr bwMode="auto">
              <a:xfrm>
                <a:off x="1449" y="973"/>
                <a:ext cx="317" cy="317"/>
              </a:xfrm>
              <a:prstGeom prst="ellipse">
                <a:avLst/>
              </a:prstGeom>
              <a:gradFill rotWithShape="1">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2857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0800" tIns="28800" rIns="0" bIns="10800"/>
              <a:lstStyle/>
              <a:p>
                <a:pPr algn="ctr">
                  <a:defRPr/>
                </a:pPr>
                <a:endParaRPr lang="zh-CN" altLang="en-US">
                  <a:solidFill>
                    <a:schemeClr val="bg1"/>
                  </a:solidFill>
                  <a:latin typeface="Arial" charset="0"/>
                  <a:ea typeface="华文行楷" pitchFamily="2" charset="-122"/>
                </a:endParaRPr>
              </a:p>
            </p:txBody>
          </p:sp>
          <p:sp>
            <p:nvSpPr>
              <p:cNvPr id="96" name="Text Box 72"/>
              <p:cNvSpPr txBox="1">
                <a:spLocks noChangeArrowheads="1"/>
              </p:cNvSpPr>
              <p:nvPr/>
            </p:nvSpPr>
            <p:spPr bwMode="auto">
              <a:xfrm>
                <a:off x="1491" y="942"/>
                <a:ext cx="292" cy="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0800" tIns="28800" rIns="0" bIns="10800"/>
              <a:lstStyle>
                <a:lvl1pPr eaLnBrk="0" hangingPunct="0">
                  <a:defRPr sz="1600" b="1">
                    <a:solidFill>
                      <a:schemeClr val="tx1"/>
                    </a:solidFill>
                    <a:latin typeface="Tahoma" panose="020B0604030504040204" pitchFamily="34" charset="0"/>
                    <a:ea typeface="宋体" panose="02010600030101010101" pitchFamily="2" charset="-122"/>
                  </a:defRPr>
                </a:lvl1pPr>
                <a:lvl2pPr marL="742950" indent="-285750" eaLnBrk="0" hangingPunct="0">
                  <a:defRPr sz="1600" b="1">
                    <a:solidFill>
                      <a:schemeClr val="tx1"/>
                    </a:solidFill>
                    <a:latin typeface="Tahoma" panose="020B0604030504040204" pitchFamily="34" charset="0"/>
                    <a:ea typeface="宋体" panose="02010600030101010101" pitchFamily="2" charset="-122"/>
                  </a:defRPr>
                </a:lvl2pPr>
                <a:lvl3pPr marL="1143000" indent="-228600" eaLnBrk="0" hangingPunct="0">
                  <a:defRPr sz="1600" b="1">
                    <a:solidFill>
                      <a:schemeClr val="tx1"/>
                    </a:solidFill>
                    <a:latin typeface="Tahoma" panose="020B0604030504040204" pitchFamily="34" charset="0"/>
                    <a:ea typeface="宋体" panose="02010600030101010101" pitchFamily="2" charset="-122"/>
                  </a:defRPr>
                </a:lvl3pPr>
                <a:lvl4pPr marL="1600200" indent="-228600" eaLnBrk="0" hangingPunct="0">
                  <a:defRPr sz="1600" b="1">
                    <a:solidFill>
                      <a:schemeClr val="tx1"/>
                    </a:solidFill>
                    <a:latin typeface="Tahoma" panose="020B0604030504040204" pitchFamily="34" charset="0"/>
                    <a:ea typeface="宋体" panose="02010600030101010101" pitchFamily="2" charset="-122"/>
                  </a:defRPr>
                </a:lvl4pPr>
                <a:lvl5pPr marL="2057400" indent="-228600" eaLnBrk="0" hangingPunct="0">
                  <a:defRPr sz="16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9pPr>
              </a:lstStyle>
              <a:p>
                <a:pPr algn="just"/>
                <a:r>
                  <a:rPr lang="en-US" altLang="zh-CN" sz="2800" i="1">
                    <a:solidFill>
                      <a:schemeClr val="bg1"/>
                    </a:solidFill>
                    <a:latin typeface="Times New Roman" panose="02020603050405020304" pitchFamily="18" charset="0"/>
                  </a:rPr>
                  <a:t>V</a:t>
                </a:r>
                <a:r>
                  <a:rPr lang="en-US" altLang="zh-CN" sz="2800" baseline="-25000">
                    <a:solidFill>
                      <a:schemeClr val="bg1"/>
                    </a:solidFill>
                    <a:latin typeface="Times New Roman" panose="02020603050405020304" pitchFamily="18" charset="0"/>
                  </a:rPr>
                  <a:t>2</a:t>
                </a:r>
                <a:endParaRPr lang="en-US" altLang="zh-CN" sz="2800">
                  <a:solidFill>
                    <a:schemeClr val="bg1"/>
                  </a:solidFill>
                  <a:latin typeface="Times New Roman" panose="02020603050405020304" pitchFamily="18" charset="0"/>
                </a:endParaRPr>
              </a:p>
            </p:txBody>
          </p:sp>
        </p:grpSp>
        <p:sp>
          <p:nvSpPr>
            <p:cNvPr id="84" name="Line 74"/>
            <p:cNvSpPr>
              <a:spLocks noChangeShapeType="1"/>
            </p:cNvSpPr>
            <p:nvPr/>
          </p:nvSpPr>
          <p:spPr bwMode="auto">
            <a:xfrm>
              <a:off x="4783" y="1221"/>
              <a:ext cx="0" cy="778"/>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lIns="10800" tIns="28800" rIns="0" bIns="10800"/>
            <a:lstStyle/>
            <a:p>
              <a:endParaRPr lang="zh-CN" altLang="en-US"/>
            </a:p>
          </p:txBody>
        </p:sp>
        <p:sp>
          <p:nvSpPr>
            <p:cNvPr id="85" name="Line 76"/>
            <p:cNvSpPr>
              <a:spLocks noChangeShapeType="1"/>
            </p:cNvSpPr>
            <p:nvPr/>
          </p:nvSpPr>
          <p:spPr bwMode="auto">
            <a:xfrm>
              <a:off x="3482" y="1225"/>
              <a:ext cx="0" cy="76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lIns="10800" tIns="28800" rIns="0" bIns="10800"/>
            <a:lstStyle/>
            <a:p>
              <a:endParaRPr lang="zh-CN" altLang="en-US"/>
            </a:p>
          </p:txBody>
        </p:sp>
        <p:sp>
          <p:nvSpPr>
            <p:cNvPr id="86" name="Oval 77"/>
            <p:cNvSpPr>
              <a:spLocks noChangeArrowheads="1"/>
            </p:cNvSpPr>
            <p:nvPr/>
          </p:nvSpPr>
          <p:spPr bwMode="auto">
            <a:xfrm>
              <a:off x="3972" y="1501"/>
              <a:ext cx="317" cy="317"/>
            </a:xfrm>
            <a:prstGeom prst="ellipse">
              <a:avLst/>
            </a:prstGeom>
            <a:gradFill rotWithShape="1">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2857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0800" tIns="28800" rIns="0" bIns="10800"/>
            <a:lstStyle/>
            <a:p>
              <a:pPr algn="ctr">
                <a:defRPr/>
              </a:pPr>
              <a:endParaRPr lang="zh-CN" altLang="en-US">
                <a:solidFill>
                  <a:schemeClr val="bg1"/>
                </a:solidFill>
                <a:latin typeface="Arial" charset="0"/>
                <a:ea typeface="华文行楷" pitchFamily="2" charset="-122"/>
              </a:endParaRPr>
            </a:p>
          </p:txBody>
        </p:sp>
        <p:sp>
          <p:nvSpPr>
            <p:cNvPr id="87" name="Text Box 78"/>
            <p:cNvSpPr txBox="1">
              <a:spLocks noChangeArrowheads="1"/>
            </p:cNvSpPr>
            <p:nvPr/>
          </p:nvSpPr>
          <p:spPr bwMode="auto">
            <a:xfrm>
              <a:off x="4014" y="1470"/>
              <a:ext cx="292" cy="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0800" tIns="28800" rIns="0" bIns="10800"/>
            <a:lstStyle>
              <a:lvl1pPr eaLnBrk="0" hangingPunct="0">
                <a:defRPr sz="1600" b="1">
                  <a:solidFill>
                    <a:schemeClr val="tx1"/>
                  </a:solidFill>
                  <a:latin typeface="Tahoma" panose="020B0604030504040204" pitchFamily="34" charset="0"/>
                  <a:ea typeface="宋体" panose="02010600030101010101" pitchFamily="2" charset="-122"/>
                </a:defRPr>
              </a:lvl1pPr>
              <a:lvl2pPr marL="742950" indent="-285750" eaLnBrk="0" hangingPunct="0">
                <a:defRPr sz="1600" b="1">
                  <a:solidFill>
                    <a:schemeClr val="tx1"/>
                  </a:solidFill>
                  <a:latin typeface="Tahoma" panose="020B0604030504040204" pitchFamily="34" charset="0"/>
                  <a:ea typeface="宋体" panose="02010600030101010101" pitchFamily="2" charset="-122"/>
                </a:defRPr>
              </a:lvl2pPr>
              <a:lvl3pPr marL="1143000" indent="-228600" eaLnBrk="0" hangingPunct="0">
                <a:defRPr sz="1600" b="1">
                  <a:solidFill>
                    <a:schemeClr val="tx1"/>
                  </a:solidFill>
                  <a:latin typeface="Tahoma" panose="020B0604030504040204" pitchFamily="34" charset="0"/>
                  <a:ea typeface="宋体" panose="02010600030101010101" pitchFamily="2" charset="-122"/>
                </a:defRPr>
              </a:lvl3pPr>
              <a:lvl4pPr marL="1600200" indent="-228600" eaLnBrk="0" hangingPunct="0">
                <a:defRPr sz="1600" b="1">
                  <a:solidFill>
                    <a:schemeClr val="tx1"/>
                  </a:solidFill>
                  <a:latin typeface="Tahoma" panose="020B0604030504040204" pitchFamily="34" charset="0"/>
                  <a:ea typeface="宋体" panose="02010600030101010101" pitchFamily="2" charset="-122"/>
                </a:defRPr>
              </a:lvl4pPr>
              <a:lvl5pPr marL="2057400" indent="-228600" eaLnBrk="0" hangingPunct="0">
                <a:defRPr sz="16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9pPr>
            </a:lstStyle>
            <a:p>
              <a:pPr algn="just"/>
              <a:r>
                <a:rPr lang="en-US" altLang="zh-CN" sz="2800" i="1">
                  <a:solidFill>
                    <a:schemeClr val="bg1"/>
                  </a:solidFill>
                  <a:latin typeface="Times New Roman" panose="02020603050405020304" pitchFamily="18" charset="0"/>
                </a:rPr>
                <a:t>V</a:t>
              </a:r>
              <a:r>
                <a:rPr lang="en-US" altLang="zh-CN" sz="2800" baseline="-25000">
                  <a:solidFill>
                    <a:schemeClr val="bg1"/>
                  </a:solidFill>
                  <a:latin typeface="Times New Roman" panose="02020603050405020304" pitchFamily="18" charset="0"/>
                </a:rPr>
                <a:t>3</a:t>
              </a:r>
              <a:endParaRPr lang="en-US" altLang="zh-CN" sz="2800">
                <a:solidFill>
                  <a:schemeClr val="bg1"/>
                </a:solidFill>
                <a:latin typeface="Times New Roman" panose="02020603050405020304" pitchFamily="18" charset="0"/>
              </a:endParaRPr>
            </a:p>
          </p:txBody>
        </p:sp>
        <p:sp>
          <p:nvSpPr>
            <p:cNvPr id="88" name="Oval 79"/>
            <p:cNvSpPr>
              <a:spLocks noChangeArrowheads="1"/>
            </p:cNvSpPr>
            <p:nvPr/>
          </p:nvSpPr>
          <p:spPr bwMode="auto">
            <a:xfrm>
              <a:off x="3345" y="1969"/>
              <a:ext cx="317" cy="317"/>
            </a:xfrm>
            <a:prstGeom prst="ellipse">
              <a:avLst/>
            </a:prstGeom>
            <a:gradFill rotWithShape="1">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2857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0800" tIns="28800" rIns="0" bIns="10800"/>
            <a:lstStyle/>
            <a:p>
              <a:pPr algn="ctr">
                <a:defRPr/>
              </a:pPr>
              <a:endParaRPr lang="zh-CN" altLang="en-US">
                <a:solidFill>
                  <a:schemeClr val="bg1"/>
                </a:solidFill>
                <a:latin typeface="Arial" charset="0"/>
                <a:ea typeface="华文行楷" pitchFamily="2" charset="-122"/>
              </a:endParaRPr>
            </a:p>
          </p:txBody>
        </p:sp>
        <p:sp>
          <p:nvSpPr>
            <p:cNvPr id="89" name="Text Box 80"/>
            <p:cNvSpPr txBox="1">
              <a:spLocks noChangeArrowheads="1"/>
            </p:cNvSpPr>
            <p:nvPr/>
          </p:nvSpPr>
          <p:spPr bwMode="auto">
            <a:xfrm>
              <a:off x="3387" y="1938"/>
              <a:ext cx="292" cy="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0800" tIns="28800" rIns="0" bIns="10800"/>
            <a:lstStyle>
              <a:lvl1pPr eaLnBrk="0" hangingPunct="0">
                <a:defRPr sz="1600" b="1">
                  <a:solidFill>
                    <a:schemeClr val="tx1"/>
                  </a:solidFill>
                  <a:latin typeface="Tahoma" panose="020B0604030504040204" pitchFamily="34" charset="0"/>
                  <a:ea typeface="宋体" panose="02010600030101010101" pitchFamily="2" charset="-122"/>
                </a:defRPr>
              </a:lvl1pPr>
              <a:lvl2pPr marL="742950" indent="-285750" eaLnBrk="0" hangingPunct="0">
                <a:defRPr sz="1600" b="1">
                  <a:solidFill>
                    <a:schemeClr val="tx1"/>
                  </a:solidFill>
                  <a:latin typeface="Tahoma" panose="020B0604030504040204" pitchFamily="34" charset="0"/>
                  <a:ea typeface="宋体" panose="02010600030101010101" pitchFamily="2" charset="-122"/>
                </a:defRPr>
              </a:lvl2pPr>
              <a:lvl3pPr marL="1143000" indent="-228600" eaLnBrk="0" hangingPunct="0">
                <a:defRPr sz="1600" b="1">
                  <a:solidFill>
                    <a:schemeClr val="tx1"/>
                  </a:solidFill>
                  <a:latin typeface="Tahoma" panose="020B0604030504040204" pitchFamily="34" charset="0"/>
                  <a:ea typeface="宋体" panose="02010600030101010101" pitchFamily="2" charset="-122"/>
                </a:defRPr>
              </a:lvl3pPr>
              <a:lvl4pPr marL="1600200" indent="-228600" eaLnBrk="0" hangingPunct="0">
                <a:defRPr sz="1600" b="1">
                  <a:solidFill>
                    <a:schemeClr val="tx1"/>
                  </a:solidFill>
                  <a:latin typeface="Tahoma" panose="020B0604030504040204" pitchFamily="34" charset="0"/>
                  <a:ea typeface="宋体" panose="02010600030101010101" pitchFamily="2" charset="-122"/>
                </a:defRPr>
              </a:lvl4pPr>
              <a:lvl5pPr marL="2057400" indent="-228600" eaLnBrk="0" hangingPunct="0">
                <a:defRPr sz="16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9pPr>
            </a:lstStyle>
            <a:p>
              <a:pPr algn="just"/>
              <a:r>
                <a:rPr lang="en-US" altLang="zh-CN" sz="2800" i="1">
                  <a:solidFill>
                    <a:schemeClr val="bg1"/>
                  </a:solidFill>
                  <a:latin typeface="Times New Roman" panose="02020603050405020304" pitchFamily="18" charset="0"/>
                </a:rPr>
                <a:t>V</a:t>
              </a:r>
              <a:r>
                <a:rPr lang="en-US" altLang="zh-CN" sz="2800" baseline="-25000">
                  <a:solidFill>
                    <a:schemeClr val="bg1"/>
                  </a:solidFill>
                  <a:latin typeface="Times New Roman" panose="02020603050405020304" pitchFamily="18" charset="0"/>
                </a:rPr>
                <a:t>4</a:t>
              </a:r>
              <a:endParaRPr lang="en-US" altLang="zh-CN" sz="2800">
                <a:solidFill>
                  <a:schemeClr val="bg1"/>
                </a:solidFill>
                <a:latin typeface="Times New Roman" panose="02020603050405020304" pitchFamily="18" charset="0"/>
              </a:endParaRPr>
            </a:p>
          </p:txBody>
        </p:sp>
        <p:sp>
          <p:nvSpPr>
            <p:cNvPr id="90" name="Oval 81"/>
            <p:cNvSpPr>
              <a:spLocks noChangeArrowheads="1"/>
            </p:cNvSpPr>
            <p:nvPr/>
          </p:nvSpPr>
          <p:spPr bwMode="auto">
            <a:xfrm>
              <a:off x="4621" y="1967"/>
              <a:ext cx="317" cy="317"/>
            </a:xfrm>
            <a:prstGeom prst="ellipse">
              <a:avLst/>
            </a:prstGeom>
            <a:gradFill rotWithShape="1">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2857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0800" tIns="28800" rIns="0" bIns="10800"/>
            <a:lstStyle/>
            <a:p>
              <a:pPr algn="ctr">
                <a:defRPr/>
              </a:pPr>
              <a:endParaRPr lang="zh-CN" altLang="en-US">
                <a:solidFill>
                  <a:schemeClr val="bg1"/>
                </a:solidFill>
                <a:latin typeface="Arial" charset="0"/>
                <a:ea typeface="华文行楷" pitchFamily="2" charset="-122"/>
              </a:endParaRPr>
            </a:p>
          </p:txBody>
        </p:sp>
        <p:sp>
          <p:nvSpPr>
            <p:cNvPr id="91" name="Text Box 82"/>
            <p:cNvSpPr txBox="1">
              <a:spLocks noChangeArrowheads="1"/>
            </p:cNvSpPr>
            <p:nvPr/>
          </p:nvSpPr>
          <p:spPr bwMode="auto">
            <a:xfrm>
              <a:off x="4663" y="1936"/>
              <a:ext cx="292" cy="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0800" tIns="28800" rIns="0" bIns="10800"/>
            <a:lstStyle>
              <a:lvl1pPr eaLnBrk="0" hangingPunct="0">
                <a:defRPr sz="1600" b="1">
                  <a:solidFill>
                    <a:schemeClr val="tx1"/>
                  </a:solidFill>
                  <a:latin typeface="Tahoma" panose="020B0604030504040204" pitchFamily="34" charset="0"/>
                  <a:ea typeface="宋体" panose="02010600030101010101" pitchFamily="2" charset="-122"/>
                </a:defRPr>
              </a:lvl1pPr>
              <a:lvl2pPr marL="742950" indent="-285750" eaLnBrk="0" hangingPunct="0">
                <a:defRPr sz="1600" b="1">
                  <a:solidFill>
                    <a:schemeClr val="tx1"/>
                  </a:solidFill>
                  <a:latin typeface="Tahoma" panose="020B0604030504040204" pitchFamily="34" charset="0"/>
                  <a:ea typeface="宋体" panose="02010600030101010101" pitchFamily="2" charset="-122"/>
                </a:defRPr>
              </a:lvl2pPr>
              <a:lvl3pPr marL="1143000" indent="-228600" eaLnBrk="0" hangingPunct="0">
                <a:defRPr sz="1600" b="1">
                  <a:solidFill>
                    <a:schemeClr val="tx1"/>
                  </a:solidFill>
                  <a:latin typeface="Tahoma" panose="020B0604030504040204" pitchFamily="34" charset="0"/>
                  <a:ea typeface="宋体" panose="02010600030101010101" pitchFamily="2" charset="-122"/>
                </a:defRPr>
              </a:lvl3pPr>
              <a:lvl4pPr marL="1600200" indent="-228600" eaLnBrk="0" hangingPunct="0">
                <a:defRPr sz="1600" b="1">
                  <a:solidFill>
                    <a:schemeClr val="tx1"/>
                  </a:solidFill>
                  <a:latin typeface="Tahoma" panose="020B0604030504040204" pitchFamily="34" charset="0"/>
                  <a:ea typeface="宋体" panose="02010600030101010101" pitchFamily="2" charset="-122"/>
                </a:defRPr>
              </a:lvl4pPr>
              <a:lvl5pPr marL="2057400" indent="-228600" eaLnBrk="0" hangingPunct="0">
                <a:defRPr sz="16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9pPr>
            </a:lstStyle>
            <a:p>
              <a:pPr algn="just"/>
              <a:r>
                <a:rPr lang="en-US" altLang="zh-CN" sz="2800" i="1">
                  <a:solidFill>
                    <a:schemeClr val="bg1"/>
                  </a:solidFill>
                  <a:latin typeface="Times New Roman" panose="02020603050405020304" pitchFamily="18" charset="0"/>
                </a:rPr>
                <a:t>V</a:t>
              </a:r>
              <a:r>
                <a:rPr lang="en-US" altLang="zh-CN" sz="2800" baseline="-25000">
                  <a:solidFill>
                    <a:schemeClr val="bg1"/>
                  </a:solidFill>
                  <a:latin typeface="Times New Roman" panose="02020603050405020304" pitchFamily="18" charset="0"/>
                </a:rPr>
                <a:t>5</a:t>
              </a:r>
              <a:endParaRPr lang="en-US" altLang="zh-CN" sz="2800">
                <a:solidFill>
                  <a:schemeClr val="bg1"/>
                </a:solidFill>
                <a:latin typeface="Times New Roman" panose="02020603050405020304" pitchFamily="18" charset="0"/>
              </a:endParaRPr>
            </a:p>
          </p:txBody>
        </p:sp>
      </p:grpSp>
      <p:grpSp>
        <p:nvGrpSpPr>
          <p:cNvPr id="97" name="Group 86"/>
          <p:cNvGrpSpPr>
            <a:grpSpLocks/>
          </p:cNvGrpSpPr>
          <p:nvPr/>
        </p:nvGrpSpPr>
        <p:grpSpPr bwMode="auto">
          <a:xfrm>
            <a:off x="5680587" y="4316414"/>
            <a:ext cx="1265238" cy="922338"/>
            <a:chOff x="2218" y="1302"/>
            <a:chExt cx="797" cy="581"/>
          </a:xfrm>
        </p:grpSpPr>
        <p:sp>
          <p:nvSpPr>
            <p:cNvPr id="98" name="AutoShape 83"/>
            <p:cNvSpPr>
              <a:spLocks noChangeArrowheads="1"/>
            </p:cNvSpPr>
            <p:nvPr/>
          </p:nvSpPr>
          <p:spPr bwMode="auto">
            <a:xfrm>
              <a:off x="2246" y="1459"/>
              <a:ext cx="769" cy="424"/>
            </a:xfrm>
            <a:prstGeom prst="rightArrow">
              <a:avLst>
                <a:gd name="adj1" fmla="val 50000"/>
                <a:gd name="adj2" fmla="val 71468"/>
              </a:avLst>
            </a:prstGeom>
            <a:solidFill>
              <a:schemeClr val="bg2"/>
            </a:solidFill>
            <a:ln w="6350">
              <a:solidFill>
                <a:schemeClr val="tx1"/>
              </a:solidFill>
              <a:miter lim="800000"/>
              <a:headEnd/>
              <a:tailEnd/>
            </a:ln>
            <a:effectLst/>
            <a:extLst>
              <a:ext uri="{AF507438-7753-43E0-B8FC-AC1667EBCBE1}">
                <a14:hiddenEffects xmlns:a14="http://schemas.microsoft.com/office/drawing/2010/main">
                  <a:effectLst>
                    <a:outerShdw dist="107763" dir="18900000" algn="ctr" rotWithShape="0">
                      <a:schemeClr val="bg2"/>
                    </a:outerShdw>
                  </a:effectLst>
                </a14:hiddenEffects>
              </a:ext>
            </a:extLst>
          </p:spPr>
          <p:txBody>
            <a:bodyPr anchor="ctr">
              <a:spAutoFit/>
            </a:bodyPr>
            <a:lstStyle>
              <a:lvl1pPr eaLnBrk="0" hangingPunct="0">
                <a:defRPr sz="1600" b="1">
                  <a:solidFill>
                    <a:schemeClr val="tx1"/>
                  </a:solidFill>
                  <a:latin typeface="Tahoma" panose="020B0604030504040204" pitchFamily="34" charset="0"/>
                  <a:ea typeface="宋体" panose="02010600030101010101" pitchFamily="2" charset="-122"/>
                </a:defRPr>
              </a:lvl1pPr>
              <a:lvl2pPr marL="742950" indent="-285750" eaLnBrk="0" hangingPunct="0">
                <a:defRPr sz="1600" b="1">
                  <a:solidFill>
                    <a:schemeClr val="tx1"/>
                  </a:solidFill>
                  <a:latin typeface="Tahoma" panose="020B0604030504040204" pitchFamily="34" charset="0"/>
                  <a:ea typeface="宋体" panose="02010600030101010101" pitchFamily="2" charset="-122"/>
                </a:defRPr>
              </a:lvl2pPr>
              <a:lvl3pPr marL="1143000" indent="-228600" eaLnBrk="0" hangingPunct="0">
                <a:defRPr sz="1600" b="1">
                  <a:solidFill>
                    <a:schemeClr val="tx1"/>
                  </a:solidFill>
                  <a:latin typeface="Tahoma" panose="020B0604030504040204" pitchFamily="34" charset="0"/>
                  <a:ea typeface="宋体" panose="02010600030101010101" pitchFamily="2" charset="-122"/>
                </a:defRPr>
              </a:lvl3pPr>
              <a:lvl4pPr marL="1600200" indent="-228600" eaLnBrk="0" hangingPunct="0">
                <a:defRPr sz="1600" b="1">
                  <a:solidFill>
                    <a:schemeClr val="tx1"/>
                  </a:solidFill>
                  <a:latin typeface="Tahoma" panose="020B0604030504040204" pitchFamily="34" charset="0"/>
                  <a:ea typeface="宋体" panose="02010600030101010101" pitchFamily="2" charset="-122"/>
                </a:defRPr>
              </a:lvl4pPr>
              <a:lvl5pPr marL="2057400" indent="-228600" eaLnBrk="0" hangingPunct="0">
                <a:defRPr sz="16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sp>
          <p:nvSpPr>
            <p:cNvPr id="99" name="Text Box 85"/>
            <p:cNvSpPr txBox="1">
              <a:spLocks noChangeArrowheads="1"/>
            </p:cNvSpPr>
            <p:nvPr/>
          </p:nvSpPr>
          <p:spPr bwMode="auto">
            <a:xfrm>
              <a:off x="2218" y="1302"/>
              <a:ext cx="720" cy="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pPr algn="ctr">
                <a:spcBef>
                  <a:spcPct val="50000"/>
                </a:spcBef>
                <a:defRPr/>
              </a:pPr>
              <a:r>
                <a:rPr kumimoji="1" lang="zh-CN" altLang="en-US" sz="1600" dirty="0">
                  <a:latin typeface="微软雅黑" pitchFamily="34" charset="-122"/>
                  <a:ea typeface="微软雅黑" pitchFamily="34" charset="-122"/>
                  <a:cs typeface="经典粗黑简" pitchFamily="49" charset="-122"/>
                </a:rPr>
                <a:t>生成树</a:t>
              </a:r>
            </a:p>
          </p:txBody>
        </p:sp>
      </p:grpSp>
      <p:sp>
        <p:nvSpPr>
          <p:cNvPr id="2" name="矩形 1">
            <a:extLst>
              <a:ext uri="{FF2B5EF4-FFF2-40B4-BE49-F238E27FC236}">
                <a16:creationId xmlns:a16="http://schemas.microsoft.com/office/drawing/2014/main" id="{798B24FA-7072-2F94-D08D-800E457AAAED}"/>
              </a:ext>
            </a:extLst>
          </p:cNvPr>
          <p:cNvSpPr/>
          <p:nvPr/>
        </p:nvSpPr>
        <p:spPr>
          <a:xfrm>
            <a:off x="4421120" y="339686"/>
            <a:ext cx="3637792"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8.1 </a:t>
            </a:r>
            <a:r>
              <a:rPr lang="zh-CN" altLang="en-US" sz="3000" b="1" dirty="0">
                <a:latin typeface="黑体" pitchFamily="49" charset="-122"/>
                <a:ea typeface="黑体" pitchFamily="49" charset="-122"/>
                <a:cs typeface="经典粗黑简" pitchFamily="49" charset="-122"/>
              </a:rPr>
              <a:t>图的基本概念</a:t>
            </a:r>
          </a:p>
        </p:txBody>
      </p:sp>
      <p:sp>
        <p:nvSpPr>
          <p:cNvPr id="3" name="Rectangle 2">
            <a:extLst>
              <a:ext uri="{FF2B5EF4-FFF2-40B4-BE49-F238E27FC236}">
                <a16:creationId xmlns:a16="http://schemas.microsoft.com/office/drawing/2014/main" id="{58D038F8-3B51-B80A-9662-71FFDD5733B1}"/>
              </a:ext>
            </a:extLst>
          </p:cNvPr>
          <p:cNvSpPr txBox="1">
            <a:spLocks noChangeArrowheads="1"/>
          </p:cNvSpPr>
          <p:nvPr/>
        </p:nvSpPr>
        <p:spPr>
          <a:xfrm>
            <a:off x="407368" y="1167247"/>
            <a:ext cx="3528392"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8.1.2 </a:t>
            </a:r>
            <a:r>
              <a:rPr lang="zh-CN" altLang="en-US" dirty="0"/>
              <a:t>图的基本术语</a:t>
            </a:r>
          </a:p>
        </p:txBody>
      </p:sp>
      <p:cxnSp>
        <p:nvCxnSpPr>
          <p:cNvPr id="4" name="直接连接符 3">
            <a:extLst>
              <a:ext uri="{FF2B5EF4-FFF2-40B4-BE49-F238E27FC236}">
                <a16:creationId xmlns:a16="http://schemas.microsoft.com/office/drawing/2014/main" id="{AE90281A-5528-017F-601E-25335492DE0B}"/>
              </a:ext>
            </a:extLst>
          </p:cNvPr>
          <p:cNvCxnSpPr>
            <a:cxnSpLocks/>
          </p:cNvCxnSpPr>
          <p:nvPr/>
        </p:nvCxnSpPr>
        <p:spPr>
          <a:xfrm>
            <a:off x="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886650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97"/>
                                        </p:tgtEl>
                                        <p:attrNameLst>
                                          <p:attrName>style.visibility</p:attrName>
                                        </p:attrNameLst>
                                      </p:cBhvr>
                                      <p:to>
                                        <p:strVal val="visible"/>
                                      </p:to>
                                    </p:set>
                                    <p:animEffect transition="in" filter="wipe(left)">
                                      <p:cBhvr>
                                        <p:cTn id="7" dur="500"/>
                                        <p:tgtEl>
                                          <p:spTgt spid="97"/>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8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3095700" y="2814028"/>
            <a:ext cx="7320781" cy="830997"/>
          </a:xfrm>
          <a:prstGeom prst="rect">
            <a:avLst/>
          </a:prstGeom>
        </p:spPr>
        <p:txBody>
          <a:bodyPr wrap="square">
            <a:spAutoFit/>
          </a:bodyPr>
          <a:lstStyle/>
          <a:p>
            <a:r>
              <a:rPr kumimoji="1" lang="zh-CN" altLang="en-US" sz="1600" dirty="0">
                <a:latin typeface="微软雅黑" pitchFamily="34" charset="-122"/>
                <a:ea typeface="微软雅黑" pitchFamily="34" charset="-122"/>
                <a:cs typeface="经典粗黑简" pitchFamily="49" charset="-122"/>
              </a:rPr>
              <a:t>一个连通图的生成树是一个极小连通子图，它含有图中全部顶点，但只有足以构成一棵树的</a:t>
            </a:r>
            <a:r>
              <a:rPr kumimoji="1" lang="en-US" altLang="zh-CN" sz="1600" dirty="0">
                <a:latin typeface="微软雅黑" pitchFamily="34" charset="-122"/>
                <a:ea typeface="微软雅黑" pitchFamily="34" charset="-122"/>
                <a:cs typeface="经典粗黑简" pitchFamily="49" charset="-122"/>
              </a:rPr>
              <a:t>n-1</a:t>
            </a:r>
            <a:r>
              <a:rPr kumimoji="1" lang="zh-CN" altLang="en-US" sz="1600" dirty="0">
                <a:latin typeface="微软雅黑" pitchFamily="34" charset="-122"/>
                <a:ea typeface="微软雅黑" pitchFamily="34" charset="-122"/>
                <a:cs typeface="经典粗黑简" pitchFamily="49" charset="-122"/>
              </a:rPr>
              <a:t>条边。在非连通图中，由每个连通分量都可以得到一个极小连通子图，即一个</a:t>
            </a:r>
            <a:r>
              <a:rPr kumimoji="1" lang="zh-CN" altLang="en-US" sz="1600" dirty="0">
                <a:solidFill>
                  <a:srgbClr val="FF0000"/>
                </a:solidFill>
                <a:latin typeface="微软雅黑" pitchFamily="34" charset="-122"/>
                <a:ea typeface="微软雅黑" pitchFamily="34" charset="-122"/>
                <a:cs typeface="经典粗黑简" pitchFamily="49" charset="-122"/>
              </a:rPr>
              <a:t>生成树</a:t>
            </a:r>
            <a:r>
              <a:rPr kumimoji="1" lang="zh-CN" altLang="en-US" sz="1600" dirty="0">
                <a:latin typeface="微软雅黑" pitchFamily="34" charset="-122"/>
                <a:ea typeface="微软雅黑" pitchFamily="34" charset="-122"/>
                <a:cs typeface="经典粗黑简" pitchFamily="49" charset="-122"/>
              </a:rPr>
              <a:t>，这些连通分量的生成树就组成了一个非连通图的</a:t>
            </a:r>
            <a:r>
              <a:rPr kumimoji="1" lang="zh-CN" altLang="en-US" sz="1600" dirty="0">
                <a:solidFill>
                  <a:srgbClr val="FF0000"/>
                </a:solidFill>
                <a:latin typeface="微软雅黑" pitchFamily="34" charset="-122"/>
                <a:ea typeface="微软雅黑" pitchFamily="34" charset="-122"/>
                <a:cs typeface="经典粗黑简" pitchFamily="49" charset="-122"/>
              </a:rPr>
              <a:t>生成森林</a:t>
            </a:r>
            <a:r>
              <a:rPr kumimoji="1" lang="zh-CN" altLang="en-US" sz="1600" dirty="0">
                <a:latin typeface="微软雅黑" pitchFamily="34" charset="-122"/>
                <a:ea typeface="微软雅黑" pitchFamily="34" charset="-122"/>
                <a:cs typeface="经典粗黑简" pitchFamily="49" charset="-122"/>
              </a:rPr>
              <a:t>。</a:t>
            </a:r>
          </a:p>
        </p:txBody>
      </p:sp>
      <p:sp>
        <p:nvSpPr>
          <p:cNvPr id="61" name="矩形 60"/>
          <p:cNvSpPr/>
          <p:nvPr/>
        </p:nvSpPr>
        <p:spPr>
          <a:xfrm>
            <a:off x="3071665" y="2390668"/>
            <a:ext cx="2749471" cy="400110"/>
          </a:xfrm>
          <a:prstGeom prst="rect">
            <a:avLst/>
          </a:prstGeom>
        </p:spPr>
        <p:txBody>
          <a:bodyPr wrap="none">
            <a:spAutoFit/>
          </a:bodyPr>
          <a:lstStyle/>
          <a:p>
            <a:r>
              <a:rPr kumimoji="1" lang="en-US" altLang="zh-CN" sz="2000" dirty="0">
                <a:latin typeface="微软雅黑" pitchFamily="34" charset="-122"/>
                <a:ea typeface="微软雅黑" pitchFamily="34" charset="-122"/>
                <a:cs typeface="经典粗黑简" pitchFamily="49" charset="-122"/>
              </a:rPr>
              <a:t>⑽</a:t>
            </a:r>
            <a:r>
              <a:rPr kumimoji="1" lang="zh-CN" altLang="en-US" sz="2000" dirty="0">
                <a:latin typeface="微软雅黑" pitchFamily="34" charset="-122"/>
                <a:ea typeface="微软雅黑" pitchFamily="34" charset="-122"/>
                <a:cs typeface="经典粗黑简" pitchFamily="49" charset="-122"/>
              </a:rPr>
              <a:t>、生成树和生成森林</a:t>
            </a:r>
          </a:p>
        </p:txBody>
      </p:sp>
      <p:sp>
        <p:nvSpPr>
          <p:cNvPr id="56" name="Text Box 32"/>
          <p:cNvSpPr txBox="1">
            <a:spLocks noChangeArrowheads="1"/>
          </p:cNvSpPr>
          <p:nvPr/>
        </p:nvSpPr>
        <p:spPr bwMode="auto">
          <a:xfrm>
            <a:off x="3071665" y="3645025"/>
            <a:ext cx="6972945" cy="584775"/>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spAutoFit/>
          </a:bodyPr>
          <a:lstStyle>
            <a:defPPr>
              <a:defRPr lang="zh-CN"/>
            </a:defPPr>
            <a:lvl1pPr>
              <a:defRPr kumimoji="1" sz="1600">
                <a:latin typeface="微软雅黑" pitchFamily="34" charset="-122"/>
                <a:ea typeface="微软雅黑" pitchFamily="34" charset="-122"/>
                <a:cs typeface="经典粗黑简" pitchFamily="49" charset="-122"/>
              </a:defRPr>
            </a:lvl1pPr>
          </a:lstStyle>
          <a:p>
            <a:r>
              <a:rPr lang="zh-CN" altLang="en-US" dirty="0"/>
              <a:t>所谓极小是指连通分量中边数最少，若在生成树中去掉任何一条边都会使之变为非连通图，若在生成数上任意添加一条边，就必会出现回路。</a:t>
            </a:r>
          </a:p>
        </p:txBody>
      </p:sp>
      <p:grpSp>
        <p:nvGrpSpPr>
          <p:cNvPr id="62" name="Group 47"/>
          <p:cNvGrpSpPr>
            <a:grpSpLocks/>
          </p:cNvGrpSpPr>
          <p:nvPr/>
        </p:nvGrpSpPr>
        <p:grpSpPr bwMode="auto">
          <a:xfrm>
            <a:off x="2822203" y="4316339"/>
            <a:ext cx="2555875" cy="2259013"/>
            <a:chOff x="884" y="1307"/>
            <a:chExt cx="1610" cy="1423"/>
          </a:xfrm>
        </p:grpSpPr>
        <p:sp>
          <p:nvSpPr>
            <p:cNvPr id="63" name="Freeform 48"/>
            <p:cNvSpPr>
              <a:spLocks/>
            </p:cNvSpPr>
            <p:nvPr/>
          </p:nvSpPr>
          <p:spPr bwMode="auto">
            <a:xfrm>
              <a:off x="1779" y="1548"/>
              <a:ext cx="416" cy="419"/>
            </a:xfrm>
            <a:custGeom>
              <a:avLst/>
              <a:gdLst>
                <a:gd name="T0" fmla="*/ 698 w 375"/>
                <a:gd name="T1" fmla="*/ 0 h 375"/>
                <a:gd name="T2" fmla="*/ 0 w 375"/>
                <a:gd name="T3" fmla="*/ 730 h 375"/>
                <a:gd name="T4" fmla="*/ 0 60000 65536"/>
                <a:gd name="T5" fmla="*/ 0 60000 65536"/>
              </a:gdLst>
              <a:ahLst/>
              <a:cxnLst>
                <a:cxn ang="T4">
                  <a:pos x="T0" y="T1"/>
                </a:cxn>
                <a:cxn ang="T5">
                  <a:pos x="T2" y="T3"/>
                </a:cxn>
              </a:cxnLst>
              <a:rect l="0" t="0" r="r" b="b"/>
              <a:pathLst>
                <a:path w="375" h="375">
                  <a:moveTo>
                    <a:pt x="375" y="0"/>
                  </a:moveTo>
                  <a:lnTo>
                    <a:pt x="0" y="375"/>
                  </a:lnTo>
                </a:path>
              </a:pathLst>
            </a:custGeom>
            <a:noFill/>
            <a:ln w="3810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10800" tIns="28800" rIns="0" bIns="10800"/>
            <a:lstStyle/>
            <a:p>
              <a:endParaRPr lang="zh-CN" altLang="en-US"/>
            </a:p>
          </p:txBody>
        </p:sp>
        <p:grpSp>
          <p:nvGrpSpPr>
            <p:cNvPr id="64" name="Group 49"/>
            <p:cNvGrpSpPr>
              <a:grpSpLocks/>
            </p:cNvGrpSpPr>
            <p:nvPr/>
          </p:nvGrpSpPr>
          <p:grpSpPr bwMode="auto">
            <a:xfrm>
              <a:off x="931" y="1307"/>
              <a:ext cx="1563" cy="377"/>
              <a:chOff x="220" y="942"/>
              <a:chExt cx="1563" cy="377"/>
            </a:xfrm>
          </p:grpSpPr>
          <p:sp>
            <p:nvSpPr>
              <p:cNvPr id="76" name="Oval 50"/>
              <p:cNvSpPr>
                <a:spLocks noChangeArrowheads="1"/>
              </p:cNvSpPr>
              <p:nvPr/>
            </p:nvSpPr>
            <p:spPr bwMode="auto">
              <a:xfrm>
                <a:off x="220" y="975"/>
                <a:ext cx="317" cy="317"/>
              </a:xfrm>
              <a:prstGeom prst="ellipse">
                <a:avLst/>
              </a:prstGeom>
              <a:gradFill rotWithShape="1">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2857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0800" tIns="28800" rIns="0" bIns="10800"/>
              <a:lstStyle/>
              <a:p>
                <a:pPr algn="ctr">
                  <a:defRPr/>
                </a:pPr>
                <a:endParaRPr lang="zh-CN" altLang="en-US">
                  <a:solidFill>
                    <a:schemeClr val="bg1"/>
                  </a:solidFill>
                  <a:latin typeface="Arial" charset="0"/>
                  <a:ea typeface="华文行楷" pitchFamily="2" charset="-122"/>
                </a:endParaRPr>
              </a:p>
            </p:txBody>
          </p:sp>
          <p:sp>
            <p:nvSpPr>
              <p:cNvPr id="77" name="Text Box 51"/>
              <p:cNvSpPr txBox="1">
                <a:spLocks noChangeArrowheads="1"/>
              </p:cNvSpPr>
              <p:nvPr/>
            </p:nvSpPr>
            <p:spPr bwMode="auto">
              <a:xfrm>
                <a:off x="262" y="944"/>
                <a:ext cx="292" cy="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0800" tIns="28800" rIns="0" bIns="10800"/>
              <a:lstStyle>
                <a:lvl1pPr eaLnBrk="0" hangingPunct="0">
                  <a:defRPr sz="1600" b="1">
                    <a:solidFill>
                      <a:schemeClr val="tx1"/>
                    </a:solidFill>
                    <a:latin typeface="Tahoma" panose="020B0604030504040204" pitchFamily="34" charset="0"/>
                    <a:ea typeface="宋体" panose="02010600030101010101" pitchFamily="2" charset="-122"/>
                  </a:defRPr>
                </a:lvl1pPr>
                <a:lvl2pPr marL="742950" indent="-285750" eaLnBrk="0" hangingPunct="0">
                  <a:defRPr sz="1600" b="1">
                    <a:solidFill>
                      <a:schemeClr val="tx1"/>
                    </a:solidFill>
                    <a:latin typeface="Tahoma" panose="020B0604030504040204" pitchFamily="34" charset="0"/>
                    <a:ea typeface="宋体" panose="02010600030101010101" pitchFamily="2" charset="-122"/>
                  </a:defRPr>
                </a:lvl2pPr>
                <a:lvl3pPr marL="1143000" indent="-228600" eaLnBrk="0" hangingPunct="0">
                  <a:defRPr sz="1600" b="1">
                    <a:solidFill>
                      <a:schemeClr val="tx1"/>
                    </a:solidFill>
                    <a:latin typeface="Tahoma" panose="020B0604030504040204" pitchFamily="34" charset="0"/>
                    <a:ea typeface="宋体" panose="02010600030101010101" pitchFamily="2" charset="-122"/>
                  </a:defRPr>
                </a:lvl3pPr>
                <a:lvl4pPr marL="1600200" indent="-228600" eaLnBrk="0" hangingPunct="0">
                  <a:defRPr sz="1600" b="1">
                    <a:solidFill>
                      <a:schemeClr val="tx1"/>
                    </a:solidFill>
                    <a:latin typeface="Tahoma" panose="020B0604030504040204" pitchFamily="34" charset="0"/>
                    <a:ea typeface="宋体" panose="02010600030101010101" pitchFamily="2" charset="-122"/>
                  </a:defRPr>
                </a:lvl4pPr>
                <a:lvl5pPr marL="2057400" indent="-228600" eaLnBrk="0" hangingPunct="0">
                  <a:defRPr sz="16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9pPr>
              </a:lstStyle>
              <a:p>
                <a:pPr algn="just"/>
                <a:r>
                  <a:rPr lang="en-US" altLang="zh-CN" sz="2800" i="1">
                    <a:solidFill>
                      <a:schemeClr val="bg1"/>
                    </a:solidFill>
                    <a:latin typeface="Times New Roman" panose="02020603050405020304" pitchFamily="18" charset="0"/>
                  </a:rPr>
                  <a:t>V</a:t>
                </a:r>
                <a:r>
                  <a:rPr lang="en-US" altLang="zh-CN" sz="2800" baseline="-25000">
                    <a:solidFill>
                      <a:schemeClr val="bg1"/>
                    </a:solidFill>
                    <a:latin typeface="Times New Roman" panose="02020603050405020304" pitchFamily="18" charset="0"/>
                  </a:rPr>
                  <a:t>1</a:t>
                </a:r>
                <a:endParaRPr lang="en-US" altLang="zh-CN" sz="2800">
                  <a:solidFill>
                    <a:schemeClr val="bg1"/>
                  </a:solidFill>
                  <a:latin typeface="Times New Roman" panose="02020603050405020304" pitchFamily="18" charset="0"/>
                </a:endParaRPr>
              </a:p>
            </p:txBody>
          </p:sp>
          <p:sp>
            <p:nvSpPr>
              <p:cNvPr id="78" name="Line 52"/>
              <p:cNvSpPr>
                <a:spLocks noChangeShapeType="1"/>
              </p:cNvSpPr>
              <p:nvPr/>
            </p:nvSpPr>
            <p:spPr bwMode="auto">
              <a:xfrm>
                <a:off x="516" y="1104"/>
                <a:ext cx="952"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lIns="10800" tIns="28800" rIns="0" bIns="10800"/>
              <a:lstStyle/>
              <a:p>
                <a:endParaRPr lang="zh-CN" altLang="en-US"/>
              </a:p>
            </p:txBody>
          </p:sp>
          <p:sp>
            <p:nvSpPr>
              <p:cNvPr id="79" name="Oval 53"/>
              <p:cNvSpPr>
                <a:spLocks noChangeArrowheads="1"/>
              </p:cNvSpPr>
              <p:nvPr/>
            </p:nvSpPr>
            <p:spPr bwMode="auto">
              <a:xfrm>
                <a:off x="1449" y="973"/>
                <a:ext cx="317" cy="317"/>
              </a:xfrm>
              <a:prstGeom prst="ellipse">
                <a:avLst/>
              </a:prstGeom>
              <a:gradFill rotWithShape="1">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2857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0800" tIns="28800" rIns="0" bIns="10800"/>
              <a:lstStyle/>
              <a:p>
                <a:pPr algn="ctr">
                  <a:defRPr/>
                </a:pPr>
                <a:endParaRPr lang="zh-CN" altLang="en-US">
                  <a:solidFill>
                    <a:schemeClr val="bg1"/>
                  </a:solidFill>
                  <a:latin typeface="Arial" charset="0"/>
                  <a:ea typeface="华文行楷" pitchFamily="2" charset="-122"/>
                </a:endParaRPr>
              </a:p>
            </p:txBody>
          </p:sp>
          <p:sp>
            <p:nvSpPr>
              <p:cNvPr id="80" name="Text Box 54"/>
              <p:cNvSpPr txBox="1">
                <a:spLocks noChangeArrowheads="1"/>
              </p:cNvSpPr>
              <p:nvPr/>
            </p:nvSpPr>
            <p:spPr bwMode="auto">
              <a:xfrm>
                <a:off x="1491" y="942"/>
                <a:ext cx="292" cy="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0800" tIns="28800" rIns="0" bIns="10800"/>
              <a:lstStyle>
                <a:lvl1pPr eaLnBrk="0" hangingPunct="0">
                  <a:defRPr sz="1600" b="1">
                    <a:solidFill>
                      <a:schemeClr val="tx1"/>
                    </a:solidFill>
                    <a:latin typeface="Tahoma" panose="020B0604030504040204" pitchFamily="34" charset="0"/>
                    <a:ea typeface="宋体" panose="02010600030101010101" pitchFamily="2" charset="-122"/>
                  </a:defRPr>
                </a:lvl1pPr>
                <a:lvl2pPr marL="742950" indent="-285750" eaLnBrk="0" hangingPunct="0">
                  <a:defRPr sz="1600" b="1">
                    <a:solidFill>
                      <a:schemeClr val="tx1"/>
                    </a:solidFill>
                    <a:latin typeface="Tahoma" panose="020B0604030504040204" pitchFamily="34" charset="0"/>
                    <a:ea typeface="宋体" panose="02010600030101010101" pitchFamily="2" charset="-122"/>
                  </a:defRPr>
                </a:lvl2pPr>
                <a:lvl3pPr marL="1143000" indent="-228600" eaLnBrk="0" hangingPunct="0">
                  <a:defRPr sz="1600" b="1">
                    <a:solidFill>
                      <a:schemeClr val="tx1"/>
                    </a:solidFill>
                    <a:latin typeface="Tahoma" panose="020B0604030504040204" pitchFamily="34" charset="0"/>
                    <a:ea typeface="宋体" panose="02010600030101010101" pitchFamily="2" charset="-122"/>
                  </a:defRPr>
                </a:lvl3pPr>
                <a:lvl4pPr marL="1600200" indent="-228600" eaLnBrk="0" hangingPunct="0">
                  <a:defRPr sz="1600" b="1">
                    <a:solidFill>
                      <a:schemeClr val="tx1"/>
                    </a:solidFill>
                    <a:latin typeface="Tahoma" panose="020B0604030504040204" pitchFamily="34" charset="0"/>
                    <a:ea typeface="宋体" panose="02010600030101010101" pitchFamily="2" charset="-122"/>
                  </a:defRPr>
                </a:lvl4pPr>
                <a:lvl5pPr marL="2057400" indent="-228600" eaLnBrk="0" hangingPunct="0">
                  <a:defRPr sz="16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9pPr>
              </a:lstStyle>
              <a:p>
                <a:pPr algn="just"/>
                <a:r>
                  <a:rPr lang="en-US" altLang="zh-CN" sz="2800" i="1">
                    <a:solidFill>
                      <a:schemeClr val="bg1"/>
                    </a:solidFill>
                    <a:latin typeface="Times New Roman" panose="02020603050405020304" pitchFamily="18" charset="0"/>
                  </a:rPr>
                  <a:t>V</a:t>
                </a:r>
                <a:r>
                  <a:rPr lang="en-US" altLang="zh-CN" sz="2800" baseline="-25000">
                    <a:solidFill>
                      <a:schemeClr val="bg1"/>
                    </a:solidFill>
                    <a:latin typeface="Times New Roman" panose="02020603050405020304" pitchFamily="18" charset="0"/>
                  </a:rPr>
                  <a:t>2</a:t>
                </a:r>
                <a:endParaRPr lang="en-US" altLang="zh-CN" sz="2800">
                  <a:solidFill>
                    <a:schemeClr val="bg1"/>
                  </a:solidFill>
                  <a:latin typeface="Times New Roman" panose="02020603050405020304" pitchFamily="18" charset="0"/>
                </a:endParaRPr>
              </a:p>
            </p:txBody>
          </p:sp>
        </p:grpSp>
        <p:sp>
          <p:nvSpPr>
            <p:cNvPr id="65" name="Freeform 55"/>
            <p:cNvSpPr>
              <a:spLocks/>
            </p:cNvSpPr>
            <p:nvPr/>
          </p:nvSpPr>
          <p:spPr bwMode="auto">
            <a:xfrm>
              <a:off x="1150" y="2131"/>
              <a:ext cx="360" cy="355"/>
            </a:xfrm>
            <a:custGeom>
              <a:avLst/>
              <a:gdLst>
                <a:gd name="T0" fmla="*/ 895 w 300"/>
                <a:gd name="T1" fmla="*/ 0 h 300"/>
                <a:gd name="T2" fmla="*/ 0 w 300"/>
                <a:gd name="T3" fmla="*/ 824 h 300"/>
                <a:gd name="T4" fmla="*/ 0 60000 65536"/>
                <a:gd name="T5" fmla="*/ 0 60000 65536"/>
              </a:gdLst>
              <a:ahLst/>
              <a:cxnLst>
                <a:cxn ang="T4">
                  <a:pos x="T0" y="T1"/>
                </a:cxn>
                <a:cxn ang="T5">
                  <a:pos x="T2" y="T3"/>
                </a:cxn>
              </a:cxnLst>
              <a:rect l="0" t="0" r="r" b="b"/>
              <a:pathLst>
                <a:path w="300" h="300">
                  <a:moveTo>
                    <a:pt x="300" y="0"/>
                  </a:moveTo>
                  <a:lnTo>
                    <a:pt x="0" y="300"/>
                  </a:lnTo>
                </a:path>
              </a:pathLst>
            </a:custGeom>
            <a:noFill/>
            <a:ln w="3810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10800" tIns="28800" rIns="0" bIns="10800"/>
            <a:lstStyle/>
            <a:p>
              <a:endParaRPr lang="zh-CN" altLang="en-US"/>
            </a:p>
          </p:txBody>
        </p:sp>
        <p:sp>
          <p:nvSpPr>
            <p:cNvPr id="66" name="Line 56"/>
            <p:cNvSpPr>
              <a:spLocks noChangeShapeType="1"/>
            </p:cNvSpPr>
            <p:nvPr/>
          </p:nvSpPr>
          <p:spPr bwMode="auto">
            <a:xfrm>
              <a:off x="2322" y="1638"/>
              <a:ext cx="0" cy="778"/>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lIns="10800" tIns="28800" rIns="0" bIns="10800"/>
            <a:lstStyle/>
            <a:p>
              <a:endParaRPr lang="zh-CN" altLang="en-US"/>
            </a:p>
          </p:txBody>
        </p:sp>
        <p:sp>
          <p:nvSpPr>
            <p:cNvPr id="67" name="Line 57"/>
            <p:cNvSpPr>
              <a:spLocks noChangeShapeType="1"/>
            </p:cNvSpPr>
            <p:nvPr/>
          </p:nvSpPr>
          <p:spPr bwMode="auto">
            <a:xfrm>
              <a:off x="1805" y="2141"/>
              <a:ext cx="405" cy="34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lIns="10800" tIns="28800" rIns="0" bIns="10800"/>
            <a:lstStyle/>
            <a:p>
              <a:endParaRPr lang="zh-CN" altLang="en-US"/>
            </a:p>
          </p:txBody>
        </p:sp>
        <p:sp>
          <p:nvSpPr>
            <p:cNvPr id="68" name="Line 58"/>
            <p:cNvSpPr>
              <a:spLocks noChangeShapeType="1"/>
            </p:cNvSpPr>
            <p:nvPr/>
          </p:nvSpPr>
          <p:spPr bwMode="auto">
            <a:xfrm>
              <a:off x="1021" y="1642"/>
              <a:ext cx="0" cy="76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lIns="10800" tIns="28800" rIns="0" bIns="10800"/>
            <a:lstStyle/>
            <a:p>
              <a:endParaRPr lang="zh-CN" altLang="en-US"/>
            </a:p>
          </p:txBody>
        </p:sp>
        <p:sp>
          <p:nvSpPr>
            <p:cNvPr id="69" name="Oval 59"/>
            <p:cNvSpPr>
              <a:spLocks noChangeArrowheads="1"/>
            </p:cNvSpPr>
            <p:nvPr/>
          </p:nvSpPr>
          <p:spPr bwMode="auto">
            <a:xfrm>
              <a:off x="1511" y="1918"/>
              <a:ext cx="317" cy="317"/>
            </a:xfrm>
            <a:prstGeom prst="ellipse">
              <a:avLst/>
            </a:prstGeom>
            <a:gradFill rotWithShape="1">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2857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0800" tIns="28800" rIns="0" bIns="10800"/>
            <a:lstStyle/>
            <a:p>
              <a:pPr algn="ctr">
                <a:defRPr/>
              </a:pPr>
              <a:endParaRPr lang="zh-CN" altLang="en-US">
                <a:solidFill>
                  <a:schemeClr val="bg1"/>
                </a:solidFill>
                <a:latin typeface="Arial" charset="0"/>
                <a:ea typeface="华文行楷" pitchFamily="2" charset="-122"/>
              </a:endParaRPr>
            </a:p>
          </p:txBody>
        </p:sp>
        <p:sp>
          <p:nvSpPr>
            <p:cNvPr id="71" name="Text Box 60"/>
            <p:cNvSpPr txBox="1">
              <a:spLocks noChangeArrowheads="1"/>
            </p:cNvSpPr>
            <p:nvPr/>
          </p:nvSpPr>
          <p:spPr bwMode="auto">
            <a:xfrm>
              <a:off x="1553" y="1887"/>
              <a:ext cx="292" cy="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0800" tIns="28800" rIns="0" bIns="10800"/>
            <a:lstStyle>
              <a:lvl1pPr eaLnBrk="0" hangingPunct="0">
                <a:defRPr sz="1600" b="1">
                  <a:solidFill>
                    <a:schemeClr val="tx1"/>
                  </a:solidFill>
                  <a:latin typeface="Tahoma" panose="020B0604030504040204" pitchFamily="34" charset="0"/>
                  <a:ea typeface="宋体" panose="02010600030101010101" pitchFamily="2" charset="-122"/>
                </a:defRPr>
              </a:lvl1pPr>
              <a:lvl2pPr marL="742950" indent="-285750" eaLnBrk="0" hangingPunct="0">
                <a:defRPr sz="1600" b="1">
                  <a:solidFill>
                    <a:schemeClr val="tx1"/>
                  </a:solidFill>
                  <a:latin typeface="Tahoma" panose="020B0604030504040204" pitchFamily="34" charset="0"/>
                  <a:ea typeface="宋体" panose="02010600030101010101" pitchFamily="2" charset="-122"/>
                </a:defRPr>
              </a:lvl2pPr>
              <a:lvl3pPr marL="1143000" indent="-228600" eaLnBrk="0" hangingPunct="0">
                <a:defRPr sz="1600" b="1">
                  <a:solidFill>
                    <a:schemeClr val="tx1"/>
                  </a:solidFill>
                  <a:latin typeface="Tahoma" panose="020B0604030504040204" pitchFamily="34" charset="0"/>
                  <a:ea typeface="宋体" panose="02010600030101010101" pitchFamily="2" charset="-122"/>
                </a:defRPr>
              </a:lvl3pPr>
              <a:lvl4pPr marL="1600200" indent="-228600" eaLnBrk="0" hangingPunct="0">
                <a:defRPr sz="1600" b="1">
                  <a:solidFill>
                    <a:schemeClr val="tx1"/>
                  </a:solidFill>
                  <a:latin typeface="Tahoma" panose="020B0604030504040204" pitchFamily="34" charset="0"/>
                  <a:ea typeface="宋体" panose="02010600030101010101" pitchFamily="2" charset="-122"/>
                </a:defRPr>
              </a:lvl4pPr>
              <a:lvl5pPr marL="2057400" indent="-228600" eaLnBrk="0" hangingPunct="0">
                <a:defRPr sz="16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9pPr>
            </a:lstStyle>
            <a:p>
              <a:pPr algn="just"/>
              <a:r>
                <a:rPr lang="en-US" altLang="zh-CN" sz="2800" i="1">
                  <a:solidFill>
                    <a:schemeClr val="bg1"/>
                  </a:solidFill>
                  <a:latin typeface="Times New Roman" panose="02020603050405020304" pitchFamily="18" charset="0"/>
                </a:rPr>
                <a:t>V</a:t>
              </a:r>
              <a:r>
                <a:rPr lang="en-US" altLang="zh-CN" sz="2800" baseline="-25000">
                  <a:solidFill>
                    <a:schemeClr val="bg1"/>
                  </a:solidFill>
                  <a:latin typeface="Times New Roman" panose="02020603050405020304" pitchFamily="18" charset="0"/>
                </a:rPr>
                <a:t>3</a:t>
              </a:r>
              <a:endParaRPr lang="en-US" altLang="zh-CN" sz="2800">
                <a:solidFill>
                  <a:schemeClr val="bg1"/>
                </a:solidFill>
                <a:latin typeface="Times New Roman" panose="02020603050405020304" pitchFamily="18" charset="0"/>
              </a:endParaRPr>
            </a:p>
          </p:txBody>
        </p:sp>
        <p:sp>
          <p:nvSpPr>
            <p:cNvPr id="72" name="Oval 61"/>
            <p:cNvSpPr>
              <a:spLocks noChangeArrowheads="1"/>
            </p:cNvSpPr>
            <p:nvPr/>
          </p:nvSpPr>
          <p:spPr bwMode="auto">
            <a:xfrm>
              <a:off x="884" y="2386"/>
              <a:ext cx="317" cy="317"/>
            </a:xfrm>
            <a:prstGeom prst="ellipse">
              <a:avLst/>
            </a:prstGeom>
            <a:gradFill rotWithShape="1">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2857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0800" tIns="28800" rIns="0" bIns="10800"/>
            <a:lstStyle/>
            <a:p>
              <a:pPr algn="ctr">
                <a:defRPr/>
              </a:pPr>
              <a:endParaRPr lang="zh-CN" altLang="en-US">
                <a:solidFill>
                  <a:schemeClr val="bg1"/>
                </a:solidFill>
                <a:latin typeface="Arial" charset="0"/>
                <a:ea typeface="华文行楷" pitchFamily="2" charset="-122"/>
              </a:endParaRPr>
            </a:p>
          </p:txBody>
        </p:sp>
        <p:sp>
          <p:nvSpPr>
            <p:cNvPr id="73" name="Text Box 62"/>
            <p:cNvSpPr txBox="1">
              <a:spLocks noChangeArrowheads="1"/>
            </p:cNvSpPr>
            <p:nvPr/>
          </p:nvSpPr>
          <p:spPr bwMode="auto">
            <a:xfrm>
              <a:off x="926" y="2355"/>
              <a:ext cx="292" cy="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0800" tIns="28800" rIns="0" bIns="10800"/>
            <a:lstStyle>
              <a:lvl1pPr eaLnBrk="0" hangingPunct="0">
                <a:defRPr sz="1600" b="1">
                  <a:solidFill>
                    <a:schemeClr val="tx1"/>
                  </a:solidFill>
                  <a:latin typeface="Tahoma" panose="020B0604030504040204" pitchFamily="34" charset="0"/>
                  <a:ea typeface="宋体" panose="02010600030101010101" pitchFamily="2" charset="-122"/>
                </a:defRPr>
              </a:lvl1pPr>
              <a:lvl2pPr marL="742950" indent="-285750" eaLnBrk="0" hangingPunct="0">
                <a:defRPr sz="1600" b="1">
                  <a:solidFill>
                    <a:schemeClr val="tx1"/>
                  </a:solidFill>
                  <a:latin typeface="Tahoma" panose="020B0604030504040204" pitchFamily="34" charset="0"/>
                  <a:ea typeface="宋体" panose="02010600030101010101" pitchFamily="2" charset="-122"/>
                </a:defRPr>
              </a:lvl2pPr>
              <a:lvl3pPr marL="1143000" indent="-228600" eaLnBrk="0" hangingPunct="0">
                <a:defRPr sz="1600" b="1">
                  <a:solidFill>
                    <a:schemeClr val="tx1"/>
                  </a:solidFill>
                  <a:latin typeface="Tahoma" panose="020B0604030504040204" pitchFamily="34" charset="0"/>
                  <a:ea typeface="宋体" panose="02010600030101010101" pitchFamily="2" charset="-122"/>
                </a:defRPr>
              </a:lvl3pPr>
              <a:lvl4pPr marL="1600200" indent="-228600" eaLnBrk="0" hangingPunct="0">
                <a:defRPr sz="1600" b="1">
                  <a:solidFill>
                    <a:schemeClr val="tx1"/>
                  </a:solidFill>
                  <a:latin typeface="Tahoma" panose="020B0604030504040204" pitchFamily="34" charset="0"/>
                  <a:ea typeface="宋体" panose="02010600030101010101" pitchFamily="2" charset="-122"/>
                </a:defRPr>
              </a:lvl4pPr>
              <a:lvl5pPr marL="2057400" indent="-228600" eaLnBrk="0" hangingPunct="0">
                <a:defRPr sz="16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9pPr>
            </a:lstStyle>
            <a:p>
              <a:pPr algn="just"/>
              <a:r>
                <a:rPr lang="en-US" altLang="zh-CN" sz="2800" i="1" dirty="0">
                  <a:solidFill>
                    <a:schemeClr val="bg1"/>
                  </a:solidFill>
                  <a:latin typeface="Times New Roman" panose="02020603050405020304" pitchFamily="18" charset="0"/>
                </a:rPr>
                <a:t>V</a:t>
              </a:r>
              <a:r>
                <a:rPr lang="en-US" altLang="zh-CN" sz="2800" baseline="-25000" dirty="0">
                  <a:solidFill>
                    <a:schemeClr val="bg1"/>
                  </a:solidFill>
                  <a:latin typeface="Times New Roman" panose="02020603050405020304" pitchFamily="18" charset="0"/>
                </a:rPr>
                <a:t>4</a:t>
              </a:r>
              <a:endParaRPr lang="en-US" altLang="zh-CN" sz="2800" dirty="0">
                <a:solidFill>
                  <a:schemeClr val="bg1"/>
                </a:solidFill>
                <a:latin typeface="Times New Roman" panose="02020603050405020304" pitchFamily="18" charset="0"/>
              </a:endParaRPr>
            </a:p>
          </p:txBody>
        </p:sp>
        <p:sp>
          <p:nvSpPr>
            <p:cNvPr id="74" name="Oval 63"/>
            <p:cNvSpPr>
              <a:spLocks noChangeArrowheads="1"/>
            </p:cNvSpPr>
            <p:nvPr/>
          </p:nvSpPr>
          <p:spPr bwMode="auto">
            <a:xfrm>
              <a:off x="2160" y="2384"/>
              <a:ext cx="317" cy="317"/>
            </a:xfrm>
            <a:prstGeom prst="ellipse">
              <a:avLst/>
            </a:prstGeom>
            <a:gradFill rotWithShape="1">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2857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0800" tIns="28800" rIns="0" bIns="10800"/>
            <a:lstStyle/>
            <a:p>
              <a:pPr algn="ctr">
                <a:defRPr/>
              </a:pPr>
              <a:endParaRPr lang="zh-CN" altLang="en-US">
                <a:solidFill>
                  <a:schemeClr val="bg1"/>
                </a:solidFill>
                <a:latin typeface="Arial" charset="0"/>
                <a:ea typeface="华文行楷" pitchFamily="2" charset="-122"/>
              </a:endParaRPr>
            </a:p>
          </p:txBody>
        </p:sp>
        <p:sp>
          <p:nvSpPr>
            <p:cNvPr id="75" name="Text Box 64"/>
            <p:cNvSpPr txBox="1">
              <a:spLocks noChangeArrowheads="1"/>
            </p:cNvSpPr>
            <p:nvPr/>
          </p:nvSpPr>
          <p:spPr bwMode="auto">
            <a:xfrm>
              <a:off x="2202" y="2353"/>
              <a:ext cx="292" cy="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0800" tIns="28800" rIns="0" bIns="10800"/>
            <a:lstStyle>
              <a:lvl1pPr eaLnBrk="0" hangingPunct="0">
                <a:defRPr sz="1600" b="1">
                  <a:solidFill>
                    <a:schemeClr val="tx1"/>
                  </a:solidFill>
                  <a:latin typeface="Tahoma" panose="020B0604030504040204" pitchFamily="34" charset="0"/>
                  <a:ea typeface="宋体" panose="02010600030101010101" pitchFamily="2" charset="-122"/>
                </a:defRPr>
              </a:lvl1pPr>
              <a:lvl2pPr marL="742950" indent="-285750" eaLnBrk="0" hangingPunct="0">
                <a:defRPr sz="1600" b="1">
                  <a:solidFill>
                    <a:schemeClr val="tx1"/>
                  </a:solidFill>
                  <a:latin typeface="Tahoma" panose="020B0604030504040204" pitchFamily="34" charset="0"/>
                  <a:ea typeface="宋体" panose="02010600030101010101" pitchFamily="2" charset="-122"/>
                </a:defRPr>
              </a:lvl2pPr>
              <a:lvl3pPr marL="1143000" indent="-228600" eaLnBrk="0" hangingPunct="0">
                <a:defRPr sz="1600" b="1">
                  <a:solidFill>
                    <a:schemeClr val="tx1"/>
                  </a:solidFill>
                  <a:latin typeface="Tahoma" panose="020B0604030504040204" pitchFamily="34" charset="0"/>
                  <a:ea typeface="宋体" panose="02010600030101010101" pitchFamily="2" charset="-122"/>
                </a:defRPr>
              </a:lvl3pPr>
              <a:lvl4pPr marL="1600200" indent="-228600" eaLnBrk="0" hangingPunct="0">
                <a:defRPr sz="1600" b="1">
                  <a:solidFill>
                    <a:schemeClr val="tx1"/>
                  </a:solidFill>
                  <a:latin typeface="Tahoma" panose="020B0604030504040204" pitchFamily="34" charset="0"/>
                  <a:ea typeface="宋体" panose="02010600030101010101" pitchFamily="2" charset="-122"/>
                </a:defRPr>
              </a:lvl4pPr>
              <a:lvl5pPr marL="2057400" indent="-228600" eaLnBrk="0" hangingPunct="0">
                <a:defRPr sz="16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9pPr>
            </a:lstStyle>
            <a:p>
              <a:pPr algn="just"/>
              <a:r>
                <a:rPr lang="en-US" altLang="zh-CN" sz="2800" i="1">
                  <a:solidFill>
                    <a:schemeClr val="bg1"/>
                  </a:solidFill>
                  <a:latin typeface="Times New Roman" panose="02020603050405020304" pitchFamily="18" charset="0"/>
                </a:rPr>
                <a:t>V</a:t>
              </a:r>
              <a:r>
                <a:rPr lang="en-US" altLang="zh-CN" sz="2800" baseline="-25000">
                  <a:solidFill>
                    <a:schemeClr val="bg1"/>
                  </a:solidFill>
                  <a:latin typeface="Times New Roman" panose="02020603050405020304" pitchFamily="18" charset="0"/>
                </a:rPr>
                <a:t>5</a:t>
              </a:r>
              <a:endParaRPr lang="en-US" altLang="zh-CN" sz="2800">
                <a:solidFill>
                  <a:schemeClr val="bg1"/>
                </a:solidFill>
                <a:latin typeface="Times New Roman" panose="02020603050405020304" pitchFamily="18" charset="0"/>
              </a:endParaRPr>
            </a:p>
          </p:txBody>
        </p:sp>
      </p:grpSp>
      <p:grpSp>
        <p:nvGrpSpPr>
          <p:cNvPr id="81" name="Group 84"/>
          <p:cNvGrpSpPr>
            <a:grpSpLocks/>
          </p:cNvGrpSpPr>
          <p:nvPr/>
        </p:nvGrpSpPr>
        <p:grpSpPr bwMode="auto">
          <a:xfrm>
            <a:off x="7500566" y="4221089"/>
            <a:ext cx="2555875" cy="2259013"/>
            <a:chOff x="3345" y="890"/>
            <a:chExt cx="1610" cy="1423"/>
          </a:xfrm>
        </p:grpSpPr>
        <p:sp>
          <p:nvSpPr>
            <p:cNvPr id="82" name="Freeform 66"/>
            <p:cNvSpPr>
              <a:spLocks/>
            </p:cNvSpPr>
            <p:nvPr/>
          </p:nvSpPr>
          <p:spPr bwMode="auto">
            <a:xfrm>
              <a:off x="4240" y="1131"/>
              <a:ext cx="416" cy="419"/>
            </a:xfrm>
            <a:custGeom>
              <a:avLst/>
              <a:gdLst>
                <a:gd name="T0" fmla="*/ 698 w 375"/>
                <a:gd name="T1" fmla="*/ 0 h 375"/>
                <a:gd name="T2" fmla="*/ 0 w 375"/>
                <a:gd name="T3" fmla="*/ 730 h 375"/>
                <a:gd name="T4" fmla="*/ 0 60000 65536"/>
                <a:gd name="T5" fmla="*/ 0 60000 65536"/>
              </a:gdLst>
              <a:ahLst/>
              <a:cxnLst>
                <a:cxn ang="T4">
                  <a:pos x="T0" y="T1"/>
                </a:cxn>
                <a:cxn ang="T5">
                  <a:pos x="T2" y="T3"/>
                </a:cxn>
              </a:cxnLst>
              <a:rect l="0" t="0" r="r" b="b"/>
              <a:pathLst>
                <a:path w="375" h="375">
                  <a:moveTo>
                    <a:pt x="375" y="0"/>
                  </a:moveTo>
                  <a:lnTo>
                    <a:pt x="0" y="375"/>
                  </a:lnTo>
                </a:path>
              </a:pathLst>
            </a:custGeom>
            <a:noFill/>
            <a:ln w="3810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10800" tIns="28800" rIns="0" bIns="10800"/>
            <a:lstStyle/>
            <a:p>
              <a:endParaRPr lang="zh-CN" altLang="en-US"/>
            </a:p>
          </p:txBody>
        </p:sp>
        <p:grpSp>
          <p:nvGrpSpPr>
            <p:cNvPr id="83" name="Group 67"/>
            <p:cNvGrpSpPr>
              <a:grpSpLocks/>
            </p:cNvGrpSpPr>
            <p:nvPr/>
          </p:nvGrpSpPr>
          <p:grpSpPr bwMode="auto">
            <a:xfrm>
              <a:off x="3392" y="890"/>
              <a:ext cx="1563" cy="377"/>
              <a:chOff x="220" y="942"/>
              <a:chExt cx="1563" cy="377"/>
            </a:xfrm>
          </p:grpSpPr>
          <p:sp>
            <p:nvSpPr>
              <p:cNvPr id="92" name="Oval 68"/>
              <p:cNvSpPr>
                <a:spLocks noChangeArrowheads="1"/>
              </p:cNvSpPr>
              <p:nvPr/>
            </p:nvSpPr>
            <p:spPr bwMode="auto">
              <a:xfrm>
                <a:off x="220" y="975"/>
                <a:ext cx="317" cy="317"/>
              </a:xfrm>
              <a:prstGeom prst="ellipse">
                <a:avLst/>
              </a:prstGeom>
              <a:gradFill rotWithShape="1">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2857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0800" tIns="28800" rIns="0" bIns="10800"/>
              <a:lstStyle/>
              <a:p>
                <a:pPr algn="ctr">
                  <a:defRPr/>
                </a:pPr>
                <a:endParaRPr lang="zh-CN" altLang="en-US">
                  <a:solidFill>
                    <a:schemeClr val="bg1"/>
                  </a:solidFill>
                  <a:latin typeface="Arial" charset="0"/>
                  <a:ea typeface="华文行楷" pitchFamily="2" charset="-122"/>
                </a:endParaRPr>
              </a:p>
            </p:txBody>
          </p:sp>
          <p:sp>
            <p:nvSpPr>
              <p:cNvPr id="93" name="Text Box 69"/>
              <p:cNvSpPr txBox="1">
                <a:spLocks noChangeArrowheads="1"/>
              </p:cNvSpPr>
              <p:nvPr/>
            </p:nvSpPr>
            <p:spPr bwMode="auto">
              <a:xfrm>
                <a:off x="262" y="944"/>
                <a:ext cx="292" cy="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0800" tIns="28800" rIns="0" bIns="10800"/>
              <a:lstStyle>
                <a:lvl1pPr eaLnBrk="0" hangingPunct="0">
                  <a:defRPr sz="1600" b="1">
                    <a:solidFill>
                      <a:schemeClr val="tx1"/>
                    </a:solidFill>
                    <a:latin typeface="Tahoma" panose="020B0604030504040204" pitchFamily="34" charset="0"/>
                    <a:ea typeface="宋体" panose="02010600030101010101" pitchFamily="2" charset="-122"/>
                  </a:defRPr>
                </a:lvl1pPr>
                <a:lvl2pPr marL="742950" indent="-285750" eaLnBrk="0" hangingPunct="0">
                  <a:defRPr sz="1600" b="1">
                    <a:solidFill>
                      <a:schemeClr val="tx1"/>
                    </a:solidFill>
                    <a:latin typeface="Tahoma" panose="020B0604030504040204" pitchFamily="34" charset="0"/>
                    <a:ea typeface="宋体" panose="02010600030101010101" pitchFamily="2" charset="-122"/>
                  </a:defRPr>
                </a:lvl2pPr>
                <a:lvl3pPr marL="1143000" indent="-228600" eaLnBrk="0" hangingPunct="0">
                  <a:defRPr sz="1600" b="1">
                    <a:solidFill>
                      <a:schemeClr val="tx1"/>
                    </a:solidFill>
                    <a:latin typeface="Tahoma" panose="020B0604030504040204" pitchFamily="34" charset="0"/>
                    <a:ea typeface="宋体" panose="02010600030101010101" pitchFamily="2" charset="-122"/>
                  </a:defRPr>
                </a:lvl3pPr>
                <a:lvl4pPr marL="1600200" indent="-228600" eaLnBrk="0" hangingPunct="0">
                  <a:defRPr sz="1600" b="1">
                    <a:solidFill>
                      <a:schemeClr val="tx1"/>
                    </a:solidFill>
                    <a:latin typeface="Tahoma" panose="020B0604030504040204" pitchFamily="34" charset="0"/>
                    <a:ea typeface="宋体" panose="02010600030101010101" pitchFamily="2" charset="-122"/>
                  </a:defRPr>
                </a:lvl4pPr>
                <a:lvl5pPr marL="2057400" indent="-228600" eaLnBrk="0" hangingPunct="0">
                  <a:defRPr sz="16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9pPr>
              </a:lstStyle>
              <a:p>
                <a:pPr algn="just"/>
                <a:r>
                  <a:rPr lang="en-US" altLang="zh-CN" sz="2800" i="1">
                    <a:solidFill>
                      <a:schemeClr val="bg1"/>
                    </a:solidFill>
                    <a:latin typeface="Times New Roman" panose="02020603050405020304" pitchFamily="18" charset="0"/>
                  </a:rPr>
                  <a:t>V</a:t>
                </a:r>
                <a:r>
                  <a:rPr lang="en-US" altLang="zh-CN" sz="2800" baseline="-25000">
                    <a:solidFill>
                      <a:schemeClr val="bg1"/>
                    </a:solidFill>
                    <a:latin typeface="Times New Roman" panose="02020603050405020304" pitchFamily="18" charset="0"/>
                  </a:rPr>
                  <a:t>1</a:t>
                </a:r>
                <a:endParaRPr lang="en-US" altLang="zh-CN" sz="2800">
                  <a:solidFill>
                    <a:schemeClr val="bg1"/>
                  </a:solidFill>
                  <a:latin typeface="Times New Roman" panose="02020603050405020304" pitchFamily="18" charset="0"/>
                </a:endParaRPr>
              </a:p>
            </p:txBody>
          </p:sp>
          <p:sp>
            <p:nvSpPr>
              <p:cNvPr id="94" name="Line 70"/>
              <p:cNvSpPr>
                <a:spLocks noChangeShapeType="1"/>
              </p:cNvSpPr>
              <p:nvPr/>
            </p:nvSpPr>
            <p:spPr bwMode="auto">
              <a:xfrm>
                <a:off x="516" y="1104"/>
                <a:ext cx="952"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lIns="10800" tIns="28800" rIns="0" bIns="10800"/>
              <a:lstStyle/>
              <a:p>
                <a:endParaRPr lang="zh-CN" altLang="en-US"/>
              </a:p>
            </p:txBody>
          </p:sp>
          <p:sp>
            <p:nvSpPr>
              <p:cNvPr id="95" name="Oval 71"/>
              <p:cNvSpPr>
                <a:spLocks noChangeArrowheads="1"/>
              </p:cNvSpPr>
              <p:nvPr/>
            </p:nvSpPr>
            <p:spPr bwMode="auto">
              <a:xfrm>
                <a:off x="1449" y="973"/>
                <a:ext cx="317" cy="317"/>
              </a:xfrm>
              <a:prstGeom prst="ellipse">
                <a:avLst/>
              </a:prstGeom>
              <a:gradFill rotWithShape="1">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2857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0800" tIns="28800" rIns="0" bIns="10800"/>
              <a:lstStyle/>
              <a:p>
                <a:pPr algn="ctr">
                  <a:defRPr/>
                </a:pPr>
                <a:endParaRPr lang="zh-CN" altLang="en-US">
                  <a:solidFill>
                    <a:schemeClr val="bg1"/>
                  </a:solidFill>
                  <a:latin typeface="Arial" charset="0"/>
                  <a:ea typeface="华文行楷" pitchFamily="2" charset="-122"/>
                </a:endParaRPr>
              </a:p>
            </p:txBody>
          </p:sp>
          <p:sp>
            <p:nvSpPr>
              <p:cNvPr id="96" name="Text Box 72"/>
              <p:cNvSpPr txBox="1">
                <a:spLocks noChangeArrowheads="1"/>
              </p:cNvSpPr>
              <p:nvPr/>
            </p:nvSpPr>
            <p:spPr bwMode="auto">
              <a:xfrm>
                <a:off x="1491" y="942"/>
                <a:ext cx="292" cy="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0800" tIns="28800" rIns="0" bIns="10800"/>
              <a:lstStyle>
                <a:lvl1pPr eaLnBrk="0" hangingPunct="0">
                  <a:defRPr sz="1600" b="1">
                    <a:solidFill>
                      <a:schemeClr val="tx1"/>
                    </a:solidFill>
                    <a:latin typeface="Tahoma" panose="020B0604030504040204" pitchFamily="34" charset="0"/>
                    <a:ea typeface="宋体" panose="02010600030101010101" pitchFamily="2" charset="-122"/>
                  </a:defRPr>
                </a:lvl1pPr>
                <a:lvl2pPr marL="742950" indent="-285750" eaLnBrk="0" hangingPunct="0">
                  <a:defRPr sz="1600" b="1">
                    <a:solidFill>
                      <a:schemeClr val="tx1"/>
                    </a:solidFill>
                    <a:latin typeface="Tahoma" panose="020B0604030504040204" pitchFamily="34" charset="0"/>
                    <a:ea typeface="宋体" panose="02010600030101010101" pitchFamily="2" charset="-122"/>
                  </a:defRPr>
                </a:lvl2pPr>
                <a:lvl3pPr marL="1143000" indent="-228600" eaLnBrk="0" hangingPunct="0">
                  <a:defRPr sz="1600" b="1">
                    <a:solidFill>
                      <a:schemeClr val="tx1"/>
                    </a:solidFill>
                    <a:latin typeface="Tahoma" panose="020B0604030504040204" pitchFamily="34" charset="0"/>
                    <a:ea typeface="宋体" panose="02010600030101010101" pitchFamily="2" charset="-122"/>
                  </a:defRPr>
                </a:lvl3pPr>
                <a:lvl4pPr marL="1600200" indent="-228600" eaLnBrk="0" hangingPunct="0">
                  <a:defRPr sz="1600" b="1">
                    <a:solidFill>
                      <a:schemeClr val="tx1"/>
                    </a:solidFill>
                    <a:latin typeface="Tahoma" panose="020B0604030504040204" pitchFamily="34" charset="0"/>
                    <a:ea typeface="宋体" panose="02010600030101010101" pitchFamily="2" charset="-122"/>
                  </a:defRPr>
                </a:lvl4pPr>
                <a:lvl5pPr marL="2057400" indent="-228600" eaLnBrk="0" hangingPunct="0">
                  <a:defRPr sz="16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9pPr>
              </a:lstStyle>
              <a:p>
                <a:pPr algn="just"/>
                <a:r>
                  <a:rPr lang="en-US" altLang="zh-CN" sz="2800" i="1">
                    <a:solidFill>
                      <a:schemeClr val="bg1"/>
                    </a:solidFill>
                    <a:latin typeface="Times New Roman" panose="02020603050405020304" pitchFamily="18" charset="0"/>
                  </a:rPr>
                  <a:t>V</a:t>
                </a:r>
                <a:r>
                  <a:rPr lang="en-US" altLang="zh-CN" sz="2800" baseline="-25000">
                    <a:solidFill>
                      <a:schemeClr val="bg1"/>
                    </a:solidFill>
                    <a:latin typeface="Times New Roman" panose="02020603050405020304" pitchFamily="18" charset="0"/>
                  </a:rPr>
                  <a:t>2</a:t>
                </a:r>
                <a:endParaRPr lang="en-US" altLang="zh-CN" sz="2800">
                  <a:solidFill>
                    <a:schemeClr val="bg1"/>
                  </a:solidFill>
                  <a:latin typeface="Times New Roman" panose="02020603050405020304" pitchFamily="18" charset="0"/>
                </a:endParaRPr>
              </a:p>
            </p:txBody>
          </p:sp>
        </p:grpSp>
        <p:sp>
          <p:nvSpPr>
            <p:cNvPr id="84" name="Line 74"/>
            <p:cNvSpPr>
              <a:spLocks noChangeShapeType="1"/>
            </p:cNvSpPr>
            <p:nvPr/>
          </p:nvSpPr>
          <p:spPr bwMode="auto">
            <a:xfrm>
              <a:off x="4783" y="1221"/>
              <a:ext cx="0" cy="778"/>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lIns="10800" tIns="28800" rIns="0" bIns="10800"/>
            <a:lstStyle/>
            <a:p>
              <a:endParaRPr lang="zh-CN" altLang="en-US"/>
            </a:p>
          </p:txBody>
        </p:sp>
        <p:sp>
          <p:nvSpPr>
            <p:cNvPr id="85" name="Line 76"/>
            <p:cNvSpPr>
              <a:spLocks noChangeShapeType="1"/>
            </p:cNvSpPr>
            <p:nvPr/>
          </p:nvSpPr>
          <p:spPr bwMode="auto">
            <a:xfrm>
              <a:off x="3482" y="1225"/>
              <a:ext cx="0" cy="76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lIns="10800" tIns="28800" rIns="0" bIns="10800"/>
            <a:lstStyle/>
            <a:p>
              <a:endParaRPr lang="zh-CN" altLang="en-US"/>
            </a:p>
          </p:txBody>
        </p:sp>
        <p:sp>
          <p:nvSpPr>
            <p:cNvPr id="86" name="Oval 77"/>
            <p:cNvSpPr>
              <a:spLocks noChangeArrowheads="1"/>
            </p:cNvSpPr>
            <p:nvPr/>
          </p:nvSpPr>
          <p:spPr bwMode="auto">
            <a:xfrm>
              <a:off x="3972" y="1501"/>
              <a:ext cx="317" cy="317"/>
            </a:xfrm>
            <a:prstGeom prst="ellipse">
              <a:avLst/>
            </a:prstGeom>
            <a:gradFill rotWithShape="1">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2857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0800" tIns="28800" rIns="0" bIns="10800"/>
            <a:lstStyle/>
            <a:p>
              <a:pPr algn="ctr">
                <a:defRPr/>
              </a:pPr>
              <a:endParaRPr lang="zh-CN" altLang="en-US">
                <a:solidFill>
                  <a:schemeClr val="bg1"/>
                </a:solidFill>
                <a:latin typeface="Arial" charset="0"/>
                <a:ea typeface="华文行楷" pitchFamily="2" charset="-122"/>
              </a:endParaRPr>
            </a:p>
          </p:txBody>
        </p:sp>
        <p:sp>
          <p:nvSpPr>
            <p:cNvPr id="87" name="Text Box 78"/>
            <p:cNvSpPr txBox="1">
              <a:spLocks noChangeArrowheads="1"/>
            </p:cNvSpPr>
            <p:nvPr/>
          </p:nvSpPr>
          <p:spPr bwMode="auto">
            <a:xfrm>
              <a:off x="4014" y="1470"/>
              <a:ext cx="292" cy="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0800" tIns="28800" rIns="0" bIns="10800"/>
            <a:lstStyle>
              <a:lvl1pPr eaLnBrk="0" hangingPunct="0">
                <a:defRPr sz="1600" b="1">
                  <a:solidFill>
                    <a:schemeClr val="tx1"/>
                  </a:solidFill>
                  <a:latin typeface="Tahoma" panose="020B0604030504040204" pitchFamily="34" charset="0"/>
                  <a:ea typeface="宋体" panose="02010600030101010101" pitchFamily="2" charset="-122"/>
                </a:defRPr>
              </a:lvl1pPr>
              <a:lvl2pPr marL="742950" indent="-285750" eaLnBrk="0" hangingPunct="0">
                <a:defRPr sz="1600" b="1">
                  <a:solidFill>
                    <a:schemeClr val="tx1"/>
                  </a:solidFill>
                  <a:latin typeface="Tahoma" panose="020B0604030504040204" pitchFamily="34" charset="0"/>
                  <a:ea typeface="宋体" panose="02010600030101010101" pitchFamily="2" charset="-122"/>
                </a:defRPr>
              </a:lvl2pPr>
              <a:lvl3pPr marL="1143000" indent="-228600" eaLnBrk="0" hangingPunct="0">
                <a:defRPr sz="1600" b="1">
                  <a:solidFill>
                    <a:schemeClr val="tx1"/>
                  </a:solidFill>
                  <a:latin typeface="Tahoma" panose="020B0604030504040204" pitchFamily="34" charset="0"/>
                  <a:ea typeface="宋体" panose="02010600030101010101" pitchFamily="2" charset="-122"/>
                </a:defRPr>
              </a:lvl3pPr>
              <a:lvl4pPr marL="1600200" indent="-228600" eaLnBrk="0" hangingPunct="0">
                <a:defRPr sz="1600" b="1">
                  <a:solidFill>
                    <a:schemeClr val="tx1"/>
                  </a:solidFill>
                  <a:latin typeface="Tahoma" panose="020B0604030504040204" pitchFamily="34" charset="0"/>
                  <a:ea typeface="宋体" panose="02010600030101010101" pitchFamily="2" charset="-122"/>
                </a:defRPr>
              </a:lvl4pPr>
              <a:lvl5pPr marL="2057400" indent="-228600" eaLnBrk="0" hangingPunct="0">
                <a:defRPr sz="16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9pPr>
            </a:lstStyle>
            <a:p>
              <a:pPr algn="just"/>
              <a:r>
                <a:rPr lang="en-US" altLang="zh-CN" sz="2800" i="1">
                  <a:solidFill>
                    <a:schemeClr val="bg1"/>
                  </a:solidFill>
                  <a:latin typeface="Times New Roman" panose="02020603050405020304" pitchFamily="18" charset="0"/>
                </a:rPr>
                <a:t>V</a:t>
              </a:r>
              <a:r>
                <a:rPr lang="en-US" altLang="zh-CN" sz="2800" baseline="-25000">
                  <a:solidFill>
                    <a:schemeClr val="bg1"/>
                  </a:solidFill>
                  <a:latin typeface="Times New Roman" panose="02020603050405020304" pitchFamily="18" charset="0"/>
                </a:rPr>
                <a:t>3</a:t>
              </a:r>
              <a:endParaRPr lang="en-US" altLang="zh-CN" sz="2800">
                <a:solidFill>
                  <a:schemeClr val="bg1"/>
                </a:solidFill>
                <a:latin typeface="Times New Roman" panose="02020603050405020304" pitchFamily="18" charset="0"/>
              </a:endParaRPr>
            </a:p>
          </p:txBody>
        </p:sp>
        <p:sp>
          <p:nvSpPr>
            <p:cNvPr id="88" name="Oval 79"/>
            <p:cNvSpPr>
              <a:spLocks noChangeArrowheads="1"/>
            </p:cNvSpPr>
            <p:nvPr/>
          </p:nvSpPr>
          <p:spPr bwMode="auto">
            <a:xfrm>
              <a:off x="3345" y="1969"/>
              <a:ext cx="317" cy="317"/>
            </a:xfrm>
            <a:prstGeom prst="ellipse">
              <a:avLst/>
            </a:prstGeom>
            <a:gradFill rotWithShape="1">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2857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0800" tIns="28800" rIns="0" bIns="10800"/>
            <a:lstStyle/>
            <a:p>
              <a:pPr algn="ctr">
                <a:defRPr/>
              </a:pPr>
              <a:endParaRPr lang="zh-CN" altLang="en-US">
                <a:solidFill>
                  <a:schemeClr val="bg1"/>
                </a:solidFill>
                <a:latin typeface="Arial" charset="0"/>
                <a:ea typeface="华文行楷" pitchFamily="2" charset="-122"/>
              </a:endParaRPr>
            </a:p>
          </p:txBody>
        </p:sp>
        <p:sp>
          <p:nvSpPr>
            <p:cNvPr id="89" name="Text Box 80"/>
            <p:cNvSpPr txBox="1">
              <a:spLocks noChangeArrowheads="1"/>
            </p:cNvSpPr>
            <p:nvPr/>
          </p:nvSpPr>
          <p:spPr bwMode="auto">
            <a:xfrm>
              <a:off x="3387" y="1938"/>
              <a:ext cx="292" cy="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0800" tIns="28800" rIns="0" bIns="10800"/>
            <a:lstStyle>
              <a:lvl1pPr eaLnBrk="0" hangingPunct="0">
                <a:defRPr sz="1600" b="1">
                  <a:solidFill>
                    <a:schemeClr val="tx1"/>
                  </a:solidFill>
                  <a:latin typeface="Tahoma" panose="020B0604030504040204" pitchFamily="34" charset="0"/>
                  <a:ea typeface="宋体" panose="02010600030101010101" pitchFamily="2" charset="-122"/>
                </a:defRPr>
              </a:lvl1pPr>
              <a:lvl2pPr marL="742950" indent="-285750" eaLnBrk="0" hangingPunct="0">
                <a:defRPr sz="1600" b="1">
                  <a:solidFill>
                    <a:schemeClr val="tx1"/>
                  </a:solidFill>
                  <a:latin typeface="Tahoma" panose="020B0604030504040204" pitchFamily="34" charset="0"/>
                  <a:ea typeface="宋体" panose="02010600030101010101" pitchFamily="2" charset="-122"/>
                </a:defRPr>
              </a:lvl2pPr>
              <a:lvl3pPr marL="1143000" indent="-228600" eaLnBrk="0" hangingPunct="0">
                <a:defRPr sz="1600" b="1">
                  <a:solidFill>
                    <a:schemeClr val="tx1"/>
                  </a:solidFill>
                  <a:latin typeface="Tahoma" panose="020B0604030504040204" pitchFamily="34" charset="0"/>
                  <a:ea typeface="宋体" panose="02010600030101010101" pitchFamily="2" charset="-122"/>
                </a:defRPr>
              </a:lvl3pPr>
              <a:lvl4pPr marL="1600200" indent="-228600" eaLnBrk="0" hangingPunct="0">
                <a:defRPr sz="1600" b="1">
                  <a:solidFill>
                    <a:schemeClr val="tx1"/>
                  </a:solidFill>
                  <a:latin typeface="Tahoma" panose="020B0604030504040204" pitchFamily="34" charset="0"/>
                  <a:ea typeface="宋体" panose="02010600030101010101" pitchFamily="2" charset="-122"/>
                </a:defRPr>
              </a:lvl4pPr>
              <a:lvl5pPr marL="2057400" indent="-228600" eaLnBrk="0" hangingPunct="0">
                <a:defRPr sz="16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9pPr>
            </a:lstStyle>
            <a:p>
              <a:pPr algn="just"/>
              <a:r>
                <a:rPr lang="en-US" altLang="zh-CN" sz="2800" i="1">
                  <a:solidFill>
                    <a:schemeClr val="bg1"/>
                  </a:solidFill>
                  <a:latin typeface="Times New Roman" panose="02020603050405020304" pitchFamily="18" charset="0"/>
                </a:rPr>
                <a:t>V</a:t>
              </a:r>
              <a:r>
                <a:rPr lang="en-US" altLang="zh-CN" sz="2800" baseline="-25000">
                  <a:solidFill>
                    <a:schemeClr val="bg1"/>
                  </a:solidFill>
                  <a:latin typeface="Times New Roman" panose="02020603050405020304" pitchFamily="18" charset="0"/>
                </a:rPr>
                <a:t>4</a:t>
              </a:r>
              <a:endParaRPr lang="en-US" altLang="zh-CN" sz="2800">
                <a:solidFill>
                  <a:schemeClr val="bg1"/>
                </a:solidFill>
                <a:latin typeface="Times New Roman" panose="02020603050405020304" pitchFamily="18" charset="0"/>
              </a:endParaRPr>
            </a:p>
          </p:txBody>
        </p:sp>
        <p:sp>
          <p:nvSpPr>
            <p:cNvPr id="90" name="Oval 81"/>
            <p:cNvSpPr>
              <a:spLocks noChangeArrowheads="1"/>
            </p:cNvSpPr>
            <p:nvPr/>
          </p:nvSpPr>
          <p:spPr bwMode="auto">
            <a:xfrm>
              <a:off x="4621" y="1967"/>
              <a:ext cx="317" cy="317"/>
            </a:xfrm>
            <a:prstGeom prst="ellipse">
              <a:avLst/>
            </a:prstGeom>
            <a:gradFill rotWithShape="1">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2857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0800" tIns="28800" rIns="0" bIns="10800"/>
            <a:lstStyle/>
            <a:p>
              <a:pPr algn="ctr">
                <a:defRPr/>
              </a:pPr>
              <a:endParaRPr lang="zh-CN" altLang="en-US">
                <a:solidFill>
                  <a:schemeClr val="bg1"/>
                </a:solidFill>
                <a:latin typeface="Arial" charset="0"/>
                <a:ea typeface="华文行楷" pitchFamily="2" charset="-122"/>
              </a:endParaRPr>
            </a:p>
          </p:txBody>
        </p:sp>
        <p:sp>
          <p:nvSpPr>
            <p:cNvPr id="91" name="Text Box 82"/>
            <p:cNvSpPr txBox="1">
              <a:spLocks noChangeArrowheads="1"/>
            </p:cNvSpPr>
            <p:nvPr/>
          </p:nvSpPr>
          <p:spPr bwMode="auto">
            <a:xfrm>
              <a:off x="4663" y="1936"/>
              <a:ext cx="292" cy="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0800" tIns="28800" rIns="0" bIns="10800"/>
            <a:lstStyle>
              <a:lvl1pPr eaLnBrk="0" hangingPunct="0">
                <a:defRPr sz="1600" b="1">
                  <a:solidFill>
                    <a:schemeClr val="tx1"/>
                  </a:solidFill>
                  <a:latin typeface="Tahoma" panose="020B0604030504040204" pitchFamily="34" charset="0"/>
                  <a:ea typeface="宋体" panose="02010600030101010101" pitchFamily="2" charset="-122"/>
                </a:defRPr>
              </a:lvl1pPr>
              <a:lvl2pPr marL="742950" indent="-285750" eaLnBrk="0" hangingPunct="0">
                <a:defRPr sz="1600" b="1">
                  <a:solidFill>
                    <a:schemeClr val="tx1"/>
                  </a:solidFill>
                  <a:latin typeface="Tahoma" panose="020B0604030504040204" pitchFamily="34" charset="0"/>
                  <a:ea typeface="宋体" panose="02010600030101010101" pitchFamily="2" charset="-122"/>
                </a:defRPr>
              </a:lvl2pPr>
              <a:lvl3pPr marL="1143000" indent="-228600" eaLnBrk="0" hangingPunct="0">
                <a:defRPr sz="1600" b="1">
                  <a:solidFill>
                    <a:schemeClr val="tx1"/>
                  </a:solidFill>
                  <a:latin typeface="Tahoma" panose="020B0604030504040204" pitchFamily="34" charset="0"/>
                  <a:ea typeface="宋体" panose="02010600030101010101" pitchFamily="2" charset="-122"/>
                </a:defRPr>
              </a:lvl3pPr>
              <a:lvl4pPr marL="1600200" indent="-228600" eaLnBrk="0" hangingPunct="0">
                <a:defRPr sz="1600" b="1">
                  <a:solidFill>
                    <a:schemeClr val="tx1"/>
                  </a:solidFill>
                  <a:latin typeface="Tahoma" panose="020B0604030504040204" pitchFamily="34" charset="0"/>
                  <a:ea typeface="宋体" panose="02010600030101010101" pitchFamily="2" charset="-122"/>
                </a:defRPr>
              </a:lvl4pPr>
              <a:lvl5pPr marL="2057400" indent="-228600" eaLnBrk="0" hangingPunct="0">
                <a:defRPr sz="16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9pPr>
            </a:lstStyle>
            <a:p>
              <a:pPr algn="just"/>
              <a:r>
                <a:rPr lang="en-US" altLang="zh-CN" sz="2800" i="1">
                  <a:solidFill>
                    <a:schemeClr val="bg1"/>
                  </a:solidFill>
                  <a:latin typeface="Times New Roman" panose="02020603050405020304" pitchFamily="18" charset="0"/>
                </a:rPr>
                <a:t>V</a:t>
              </a:r>
              <a:r>
                <a:rPr lang="en-US" altLang="zh-CN" sz="2800" baseline="-25000">
                  <a:solidFill>
                    <a:schemeClr val="bg1"/>
                  </a:solidFill>
                  <a:latin typeface="Times New Roman" panose="02020603050405020304" pitchFamily="18" charset="0"/>
                </a:rPr>
                <a:t>5</a:t>
              </a:r>
              <a:endParaRPr lang="en-US" altLang="zh-CN" sz="2800">
                <a:solidFill>
                  <a:schemeClr val="bg1"/>
                </a:solidFill>
                <a:latin typeface="Times New Roman" panose="02020603050405020304" pitchFamily="18" charset="0"/>
              </a:endParaRPr>
            </a:p>
          </p:txBody>
        </p:sp>
      </p:grpSp>
      <p:grpSp>
        <p:nvGrpSpPr>
          <p:cNvPr id="97" name="Group 86"/>
          <p:cNvGrpSpPr>
            <a:grpSpLocks/>
          </p:cNvGrpSpPr>
          <p:nvPr/>
        </p:nvGrpSpPr>
        <p:grpSpPr bwMode="auto">
          <a:xfrm>
            <a:off x="5711452" y="4875140"/>
            <a:ext cx="1265238" cy="922338"/>
            <a:chOff x="2218" y="1302"/>
            <a:chExt cx="797" cy="581"/>
          </a:xfrm>
        </p:grpSpPr>
        <p:sp>
          <p:nvSpPr>
            <p:cNvPr id="98" name="AutoShape 83"/>
            <p:cNvSpPr>
              <a:spLocks noChangeArrowheads="1"/>
            </p:cNvSpPr>
            <p:nvPr/>
          </p:nvSpPr>
          <p:spPr bwMode="auto">
            <a:xfrm>
              <a:off x="2246" y="1459"/>
              <a:ext cx="769" cy="424"/>
            </a:xfrm>
            <a:prstGeom prst="rightArrow">
              <a:avLst>
                <a:gd name="adj1" fmla="val 50000"/>
                <a:gd name="adj2" fmla="val 71468"/>
              </a:avLst>
            </a:prstGeom>
            <a:solidFill>
              <a:schemeClr val="bg2"/>
            </a:solidFill>
            <a:ln w="6350">
              <a:solidFill>
                <a:schemeClr val="tx1"/>
              </a:solidFill>
              <a:miter lim="800000"/>
              <a:headEnd/>
              <a:tailEnd/>
            </a:ln>
            <a:effectLst/>
            <a:extLst>
              <a:ext uri="{AF507438-7753-43E0-B8FC-AC1667EBCBE1}">
                <a14:hiddenEffects xmlns:a14="http://schemas.microsoft.com/office/drawing/2010/main">
                  <a:effectLst>
                    <a:outerShdw dist="107763" dir="18900000" algn="ctr" rotWithShape="0">
                      <a:schemeClr val="bg2"/>
                    </a:outerShdw>
                  </a:effectLst>
                </a14:hiddenEffects>
              </a:ext>
            </a:extLst>
          </p:spPr>
          <p:txBody>
            <a:bodyPr anchor="ctr">
              <a:spAutoFit/>
            </a:bodyPr>
            <a:lstStyle>
              <a:lvl1pPr eaLnBrk="0" hangingPunct="0">
                <a:defRPr sz="1600" b="1">
                  <a:solidFill>
                    <a:schemeClr val="tx1"/>
                  </a:solidFill>
                  <a:latin typeface="Tahoma" panose="020B0604030504040204" pitchFamily="34" charset="0"/>
                  <a:ea typeface="宋体" panose="02010600030101010101" pitchFamily="2" charset="-122"/>
                </a:defRPr>
              </a:lvl1pPr>
              <a:lvl2pPr marL="742950" indent="-285750" eaLnBrk="0" hangingPunct="0">
                <a:defRPr sz="1600" b="1">
                  <a:solidFill>
                    <a:schemeClr val="tx1"/>
                  </a:solidFill>
                  <a:latin typeface="Tahoma" panose="020B0604030504040204" pitchFamily="34" charset="0"/>
                  <a:ea typeface="宋体" panose="02010600030101010101" pitchFamily="2" charset="-122"/>
                </a:defRPr>
              </a:lvl2pPr>
              <a:lvl3pPr marL="1143000" indent="-228600" eaLnBrk="0" hangingPunct="0">
                <a:defRPr sz="1600" b="1">
                  <a:solidFill>
                    <a:schemeClr val="tx1"/>
                  </a:solidFill>
                  <a:latin typeface="Tahoma" panose="020B0604030504040204" pitchFamily="34" charset="0"/>
                  <a:ea typeface="宋体" panose="02010600030101010101" pitchFamily="2" charset="-122"/>
                </a:defRPr>
              </a:lvl3pPr>
              <a:lvl4pPr marL="1600200" indent="-228600" eaLnBrk="0" hangingPunct="0">
                <a:defRPr sz="1600" b="1">
                  <a:solidFill>
                    <a:schemeClr val="tx1"/>
                  </a:solidFill>
                  <a:latin typeface="Tahoma" panose="020B0604030504040204" pitchFamily="34" charset="0"/>
                  <a:ea typeface="宋体" panose="02010600030101010101" pitchFamily="2" charset="-122"/>
                </a:defRPr>
              </a:lvl4pPr>
              <a:lvl5pPr marL="2057400" indent="-228600" eaLnBrk="0" hangingPunct="0">
                <a:defRPr sz="16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sp>
          <p:nvSpPr>
            <p:cNvPr id="99" name="Text Box 85"/>
            <p:cNvSpPr txBox="1">
              <a:spLocks noChangeArrowheads="1"/>
            </p:cNvSpPr>
            <p:nvPr/>
          </p:nvSpPr>
          <p:spPr bwMode="auto">
            <a:xfrm>
              <a:off x="2218" y="1302"/>
              <a:ext cx="720" cy="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pPr algn="ctr">
                <a:spcBef>
                  <a:spcPct val="50000"/>
                </a:spcBef>
                <a:defRPr/>
              </a:pPr>
              <a:r>
                <a:rPr kumimoji="1" lang="zh-CN" altLang="en-US" sz="1600" dirty="0">
                  <a:latin typeface="微软雅黑" pitchFamily="34" charset="-122"/>
                  <a:ea typeface="微软雅黑" pitchFamily="34" charset="-122"/>
                  <a:cs typeface="经典粗黑简" pitchFamily="49" charset="-122"/>
                </a:rPr>
                <a:t>生成树</a:t>
              </a:r>
            </a:p>
          </p:txBody>
        </p:sp>
      </p:grpSp>
      <p:sp>
        <p:nvSpPr>
          <p:cNvPr id="2" name="矩形 1">
            <a:extLst>
              <a:ext uri="{FF2B5EF4-FFF2-40B4-BE49-F238E27FC236}">
                <a16:creationId xmlns:a16="http://schemas.microsoft.com/office/drawing/2014/main" id="{FABD4BC0-0EE6-804E-DC91-6EEC76413195}"/>
              </a:ext>
            </a:extLst>
          </p:cNvPr>
          <p:cNvSpPr/>
          <p:nvPr/>
        </p:nvSpPr>
        <p:spPr>
          <a:xfrm>
            <a:off x="4421120" y="339686"/>
            <a:ext cx="3637792"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8.1 </a:t>
            </a:r>
            <a:r>
              <a:rPr lang="zh-CN" altLang="en-US" sz="3000" b="1" dirty="0">
                <a:latin typeface="黑体" pitchFamily="49" charset="-122"/>
                <a:ea typeface="黑体" pitchFamily="49" charset="-122"/>
                <a:cs typeface="经典粗黑简" pitchFamily="49" charset="-122"/>
              </a:rPr>
              <a:t>图的基本概念</a:t>
            </a:r>
          </a:p>
        </p:txBody>
      </p:sp>
      <p:sp>
        <p:nvSpPr>
          <p:cNvPr id="3" name="Rectangle 2">
            <a:extLst>
              <a:ext uri="{FF2B5EF4-FFF2-40B4-BE49-F238E27FC236}">
                <a16:creationId xmlns:a16="http://schemas.microsoft.com/office/drawing/2014/main" id="{32C4E104-59E0-F680-D05D-32728DDB2703}"/>
              </a:ext>
            </a:extLst>
          </p:cNvPr>
          <p:cNvSpPr txBox="1">
            <a:spLocks noChangeArrowheads="1"/>
          </p:cNvSpPr>
          <p:nvPr/>
        </p:nvSpPr>
        <p:spPr>
          <a:xfrm>
            <a:off x="407368" y="1167247"/>
            <a:ext cx="3528392"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8.1.2 </a:t>
            </a:r>
            <a:r>
              <a:rPr lang="zh-CN" altLang="en-US" dirty="0"/>
              <a:t>图的基本术语</a:t>
            </a:r>
          </a:p>
        </p:txBody>
      </p:sp>
      <p:cxnSp>
        <p:nvCxnSpPr>
          <p:cNvPr id="4" name="直接连接符 3">
            <a:extLst>
              <a:ext uri="{FF2B5EF4-FFF2-40B4-BE49-F238E27FC236}">
                <a16:creationId xmlns:a16="http://schemas.microsoft.com/office/drawing/2014/main" id="{68C7F0D4-E45D-081D-B5F1-ABAB9CBB80D9}"/>
              </a:ext>
            </a:extLst>
          </p:cNvPr>
          <p:cNvCxnSpPr>
            <a:cxnSpLocks/>
          </p:cNvCxnSpPr>
          <p:nvPr/>
        </p:nvCxnSpPr>
        <p:spPr>
          <a:xfrm>
            <a:off x="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749036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nodeType="clickEffect">
                                  <p:stCondLst>
                                    <p:cond delay="0"/>
                                  </p:stCondLst>
                                  <p:childTnLst>
                                    <p:set>
                                      <p:cBhvr>
                                        <p:cTn id="10" dur="1" fill="hold">
                                          <p:stCondLst>
                                            <p:cond delay="0"/>
                                          </p:stCondLst>
                                        </p:cTn>
                                        <p:tgtEl>
                                          <p:spTgt spid="97"/>
                                        </p:tgtEl>
                                        <p:attrNameLst>
                                          <p:attrName>style.visibility</p:attrName>
                                        </p:attrNameLst>
                                      </p:cBhvr>
                                      <p:to>
                                        <p:strVal val="visible"/>
                                      </p:to>
                                    </p:set>
                                    <p:animEffect transition="in" filter="wipe(left)">
                                      <p:cBhvr>
                                        <p:cTn id="11" dur="500"/>
                                        <p:tgtEl>
                                          <p:spTgt spid="97"/>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8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3095700" y="2814028"/>
            <a:ext cx="7320781" cy="830997"/>
          </a:xfrm>
          <a:prstGeom prst="rect">
            <a:avLst/>
          </a:prstGeom>
        </p:spPr>
        <p:txBody>
          <a:bodyPr wrap="square">
            <a:spAutoFit/>
          </a:bodyPr>
          <a:lstStyle/>
          <a:p>
            <a:r>
              <a:rPr kumimoji="1" lang="zh-CN" altLang="en-US" sz="1600" dirty="0">
                <a:latin typeface="微软雅黑" pitchFamily="34" charset="-122"/>
                <a:ea typeface="微软雅黑" pitchFamily="34" charset="-122"/>
                <a:cs typeface="经典粗黑简" pitchFamily="49" charset="-122"/>
              </a:rPr>
              <a:t>一个连通图的生成树是一个极小连通子图，它含有图中全部顶点，但只有足以构成一棵树的</a:t>
            </a:r>
            <a:r>
              <a:rPr kumimoji="1" lang="en-US" altLang="zh-CN" sz="1600" dirty="0">
                <a:latin typeface="微软雅黑" pitchFamily="34" charset="-122"/>
                <a:ea typeface="微软雅黑" pitchFamily="34" charset="-122"/>
                <a:cs typeface="经典粗黑简" pitchFamily="49" charset="-122"/>
              </a:rPr>
              <a:t>n-1</a:t>
            </a:r>
            <a:r>
              <a:rPr kumimoji="1" lang="zh-CN" altLang="en-US" sz="1600" dirty="0">
                <a:latin typeface="微软雅黑" pitchFamily="34" charset="-122"/>
                <a:ea typeface="微软雅黑" pitchFamily="34" charset="-122"/>
                <a:cs typeface="经典粗黑简" pitchFamily="49" charset="-122"/>
              </a:rPr>
              <a:t>条边。在非连通图中，由每个连通分量都可以得到一个极小连通子图，即一个</a:t>
            </a:r>
            <a:r>
              <a:rPr kumimoji="1" lang="zh-CN" altLang="en-US" sz="1600" dirty="0">
                <a:solidFill>
                  <a:srgbClr val="FF0000"/>
                </a:solidFill>
                <a:latin typeface="微软雅黑" pitchFamily="34" charset="-122"/>
                <a:ea typeface="微软雅黑" pitchFamily="34" charset="-122"/>
                <a:cs typeface="经典粗黑简" pitchFamily="49" charset="-122"/>
              </a:rPr>
              <a:t>生成树</a:t>
            </a:r>
            <a:r>
              <a:rPr kumimoji="1" lang="zh-CN" altLang="en-US" sz="1600" dirty="0">
                <a:latin typeface="微软雅黑" pitchFamily="34" charset="-122"/>
                <a:ea typeface="微软雅黑" pitchFamily="34" charset="-122"/>
                <a:cs typeface="经典粗黑简" pitchFamily="49" charset="-122"/>
              </a:rPr>
              <a:t>，这些连通分量的生成树就组成了一个非连通图的</a:t>
            </a:r>
            <a:r>
              <a:rPr kumimoji="1" lang="zh-CN" altLang="en-US" sz="1600" dirty="0">
                <a:solidFill>
                  <a:srgbClr val="FF0000"/>
                </a:solidFill>
                <a:latin typeface="微软雅黑" pitchFamily="34" charset="-122"/>
                <a:ea typeface="微软雅黑" pitchFamily="34" charset="-122"/>
                <a:cs typeface="经典粗黑简" pitchFamily="49" charset="-122"/>
              </a:rPr>
              <a:t>生成森林</a:t>
            </a:r>
            <a:r>
              <a:rPr kumimoji="1" lang="zh-CN" altLang="en-US" sz="1600" dirty="0">
                <a:latin typeface="微软雅黑" pitchFamily="34" charset="-122"/>
                <a:ea typeface="微软雅黑" pitchFamily="34" charset="-122"/>
                <a:cs typeface="经典粗黑简" pitchFamily="49" charset="-122"/>
              </a:rPr>
              <a:t>。</a:t>
            </a:r>
          </a:p>
        </p:txBody>
      </p:sp>
      <p:sp>
        <p:nvSpPr>
          <p:cNvPr id="61" name="矩形 60"/>
          <p:cNvSpPr/>
          <p:nvPr/>
        </p:nvSpPr>
        <p:spPr>
          <a:xfrm>
            <a:off x="3071665" y="2390668"/>
            <a:ext cx="2749471" cy="400110"/>
          </a:xfrm>
          <a:prstGeom prst="rect">
            <a:avLst/>
          </a:prstGeom>
        </p:spPr>
        <p:txBody>
          <a:bodyPr wrap="none">
            <a:spAutoFit/>
          </a:bodyPr>
          <a:lstStyle/>
          <a:p>
            <a:r>
              <a:rPr kumimoji="1" lang="en-US" altLang="zh-CN" sz="2000" dirty="0">
                <a:latin typeface="微软雅黑" pitchFamily="34" charset="-122"/>
                <a:ea typeface="微软雅黑" pitchFamily="34" charset="-122"/>
                <a:cs typeface="经典粗黑简" pitchFamily="49" charset="-122"/>
              </a:rPr>
              <a:t>⑽</a:t>
            </a:r>
            <a:r>
              <a:rPr kumimoji="1" lang="zh-CN" altLang="en-US" sz="2000" dirty="0">
                <a:latin typeface="微软雅黑" pitchFamily="34" charset="-122"/>
                <a:ea typeface="微软雅黑" pitchFamily="34" charset="-122"/>
                <a:cs typeface="经典粗黑简" pitchFamily="49" charset="-122"/>
              </a:rPr>
              <a:t>、生成树和生成森林</a:t>
            </a:r>
          </a:p>
        </p:txBody>
      </p:sp>
      <p:grpSp>
        <p:nvGrpSpPr>
          <p:cNvPr id="46" name="Group 88"/>
          <p:cNvGrpSpPr>
            <a:grpSpLocks/>
          </p:cNvGrpSpPr>
          <p:nvPr/>
        </p:nvGrpSpPr>
        <p:grpSpPr bwMode="auto">
          <a:xfrm>
            <a:off x="1988444" y="3645024"/>
            <a:ext cx="2809875" cy="2501900"/>
            <a:chOff x="351" y="2455"/>
            <a:chExt cx="1770" cy="1576"/>
          </a:xfrm>
        </p:grpSpPr>
        <p:sp>
          <p:nvSpPr>
            <p:cNvPr id="47" name="Line 4"/>
            <p:cNvSpPr>
              <a:spLocks noChangeShapeType="1"/>
            </p:cNvSpPr>
            <p:nvPr/>
          </p:nvSpPr>
          <p:spPr bwMode="auto">
            <a:xfrm>
              <a:off x="664" y="3855"/>
              <a:ext cx="1125"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lIns="10800" tIns="28800" rIns="0" bIns="10800"/>
            <a:lstStyle/>
            <a:p>
              <a:endParaRPr lang="zh-CN" altLang="en-US"/>
            </a:p>
          </p:txBody>
        </p:sp>
        <p:sp>
          <p:nvSpPr>
            <p:cNvPr id="48" name="Oval 5"/>
            <p:cNvSpPr>
              <a:spLocks noChangeArrowheads="1"/>
            </p:cNvSpPr>
            <p:nvPr/>
          </p:nvSpPr>
          <p:spPr bwMode="auto">
            <a:xfrm>
              <a:off x="388" y="2488"/>
              <a:ext cx="317" cy="317"/>
            </a:xfrm>
            <a:prstGeom prst="ellipse">
              <a:avLst/>
            </a:prstGeom>
            <a:gradFill rotWithShape="1">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2857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0800" tIns="28800" rIns="0" bIns="10800"/>
            <a:lstStyle/>
            <a:p>
              <a:pPr algn="ctr">
                <a:defRPr/>
              </a:pPr>
              <a:endParaRPr lang="zh-CN" altLang="en-US">
                <a:solidFill>
                  <a:schemeClr val="bg1"/>
                </a:solidFill>
                <a:latin typeface="Arial" charset="0"/>
                <a:ea typeface="华文行楷" pitchFamily="2" charset="-122"/>
              </a:endParaRPr>
            </a:p>
          </p:txBody>
        </p:sp>
        <p:sp>
          <p:nvSpPr>
            <p:cNvPr id="49" name="Text Box 6"/>
            <p:cNvSpPr txBox="1">
              <a:spLocks noChangeArrowheads="1"/>
            </p:cNvSpPr>
            <p:nvPr/>
          </p:nvSpPr>
          <p:spPr bwMode="auto">
            <a:xfrm>
              <a:off x="430" y="2457"/>
              <a:ext cx="292" cy="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0800" tIns="28800" rIns="0" bIns="10800"/>
            <a:lstStyle>
              <a:lvl1pPr eaLnBrk="0" hangingPunct="0">
                <a:defRPr sz="1600" b="1">
                  <a:solidFill>
                    <a:schemeClr val="tx1"/>
                  </a:solidFill>
                  <a:latin typeface="Tahoma" panose="020B0604030504040204" pitchFamily="34" charset="0"/>
                  <a:ea typeface="宋体" panose="02010600030101010101" pitchFamily="2" charset="-122"/>
                </a:defRPr>
              </a:lvl1pPr>
              <a:lvl2pPr marL="742950" indent="-285750" eaLnBrk="0" hangingPunct="0">
                <a:defRPr sz="1600" b="1">
                  <a:solidFill>
                    <a:schemeClr val="tx1"/>
                  </a:solidFill>
                  <a:latin typeface="Tahoma" panose="020B0604030504040204" pitchFamily="34" charset="0"/>
                  <a:ea typeface="宋体" panose="02010600030101010101" pitchFamily="2" charset="-122"/>
                </a:defRPr>
              </a:lvl2pPr>
              <a:lvl3pPr marL="1143000" indent="-228600" eaLnBrk="0" hangingPunct="0">
                <a:defRPr sz="1600" b="1">
                  <a:solidFill>
                    <a:schemeClr val="tx1"/>
                  </a:solidFill>
                  <a:latin typeface="Tahoma" panose="020B0604030504040204" pitchFamily="34" charset="0"/>
                  <a:ea typeface="宋体" panose="02010600030101010101" pitchFamily="2" charset="-122"/>
                </a:defRPr>
              </a:lvl3pPr>
              <a:lvl4pPr marL="1600200" indent="-228600" eaLnBrk="0" hangingPunct="0">
                <a:defRPr sz="1600" b="1">
                  <a:solidFill>
                    <a:schemeClr val="tx1"/>
                  </a:solidFill>
                  <a:latin typeface="Tahoma" panose="020B0604030504040204" pitchFamily="34" charset="0"/>
                  <a:ea typeface="宋体" panose="02010600030101010101" pitchFamily="2" charset="-122"/>
                </a:defRPr>
              </a:lvl4pPr>
              <a:lvl5pPr marL="2057400" indent="-228600" eaLnBrk="0" hangingPunct="0">
                <a:defRPr sz="16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9pPr>
            </a:lstStyle>
            <a:p>
              <a:pPr algn="just"/>
              <a:r>
                <a:rPr lang="en-US" altLang="zh-CN" sz="2800" i="1">
                  <a:solidFill>
                    <a:schemeClr val="bg1"/>
                  </a:solidFill>
                  <a:latin typeface="Times New Roman" panose="02020603050405020304" pitchFamily="18" charset="0"/>
                </a:rPr>
                <a:t>V</a:t>
              </a:r>
              <a:r>
                <a:rPr lang="en-US" altLang="zh-CN" sz="2800" baseline="-25000">
                  <a:solidFill>
                    <a:schemeClr val="bg1"/>
                  </a:solidFill>
                  <a:latin typeface="Times New Roman" panose="02020603050405020304" pitchFamily="18" charset="0"/>
                </a:rPr>
                <a:t>1</a:t>
              </a:r>
              <a:endParaRPr lang="en-US" altLang="zh-CN" sz="2800">
                <a:solidFill>
                  <a:schemeClr val="bg1"/>
                </a:solidFill>
                <a:latin typeface="Times New Roman" panose="02020603050405020304" pitchFamily="18" charset="0"/>
              </a:endParaRPr>
            </a:p>
          </p:txBody>
        </p:sp>
        <p:sp>
          <p:nvSpPr>
            <p:cNvPr id="50" name="Line 7"/>
            <p:cNvSpPr>
              <a:spLocks noChangeShapeType="1"/>
            </p:cNvSpPr>
            <p:nvPr/>
          </p:nvSpPr>
          <p:spPr bwMode="auto">
            <a:xfrm>
              <a:off x="684" y="2617"/>
              <a:ext cx="1125"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lIns="10800" tIns="28800" rIns="0" bIns="10800"/>
            <a:lstStyle/>
            <a:p>
              <a:endParaRPr lang="zh-CN" altLang="en-US"/>
            </a:p>
          </p:txBody>
        </p:sp>
        <p:sp>
          <p:nvSpPr>
            <p:cNvPr id="51" name="Oval 8"/>
            <p:cNvSpPr>
              <a:spLocks noChangeArrowheads="1"/>
            </p:cNvSpPr>
            <p:nvPr/>
          </p:nvSpPr>
          <p:spPr bwMode="auto">
            <a:xfrm>
              <a:off x="1787" y="2486"/>
              <a:ext cx="317" cy="317"/>
            </a:xfrm>
            <a:prstGeom prst="ellipse">
              <a:avLst/>
            </a:prstGeom>
            <a:gradFill rotWithShape="1">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2857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0800" tIns="28800" rIns="0" bIns="10800"/>
            <a:lstStyle/>
            <a:p>
              <a:pPr algn="ctr">
                <a:defRPr/>
              </a:pPr>
              <a:endParaRPr lang="zh-CN" altLang="en-US">
                <a:solidFill>
                  <a:schemeClr val="bg1"/>
                </a:solidFill>
                <a:latin typeface="Arial" charset="0"/>
                <a:ea typeface="华文行楷" pitchFamily="2" charset="-122"/>
              </a:endParaRPr>
            </a:p>
          </p:txBody>
        </p:sp>
        <p:sp>
          <p:nvSpPr>
            <p:cNvPr id="52" name="Text Box 9"/>
            <p:cNvSpPr txBox="1">
              <a:spLocks noChangeArrowheads="1"/>
            </p:cNvSpPr>
            <p:nvPr/>
          </p:nvSpPr>
          <p:spPr bwMode="auto">
            <a:xfrm>
              <a:off x="1829" y="2455"/>
              <a:ext cx="292" cy="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0800" tIns="28800" rIns="0" bIns="10800"/>
            <a:lstStyle>
              <a:lvl1pPr eaLnBrk="0" hangingPunct="0">
                <a:defRPr sz="1600" b="1">
                  <a:solidFill>
                    <a:schemeClr val="tx1"/>
                  </a:solidFill>
                  <a:latin typeface="Tahoma" panose="020B0604030504040204" pitchFamily="34" charset="0"/>
                  <a:ea typeface="宋体" panose="02010600030101010101" pitchFamily="2" charset="-122"/>
                </a:defRPr>
              </a:lvl1pPr>
              <a:lvl2pPr marL="742950" indent="-285750" eaLnBrk="0" hangingPunct="0">
                <a:defRPr sz="1600" b="1">
                  <a:solidFill>
                    <a:schemeClr val="tx1"/>
                  </a:solidFill>
                  <a:latin typeface="Tahoma" panose="020B0604030504040204" pitchFamily="34" charset="0"/>
                  <a:ea typeface="宋体" panose="02010600030101010101" pitchFamily="2" charset="-122"/>
                </a:defRPr>
              </a:lvl2pPr>
              <a:lvl3pPr marL="1143000" indent="-228600" eaLnBrk="0" hangingPunct="0">
                <a:defRPr sz="1600" b="1">
                  <a:solidFill>
                    <a:schemeClr val="tx1"/>
                  </a:solidFill>
                  <a:latin typeface="Tahoma" panose="020B0604030504040204" pitchFamily="34" charset="0"/>
                  <a:ea typeface="宋体" panose="02010600030101010101" pitchFamily="2" charset="-122"/>
                </a:defRPr>
              </a:lvl3pPr>
              <a:lvl4pPr marL="1600200" indent="-228600" eaLnBrk="0" hangingPunct="0">
                <a:defRPr sz="1600" b="1">
                  <a:solidFill>
                    <a:schemeClr val="tx1"/>
                  </a:solidFill>
                  <a:latin typeface="Tahoma" panose="020B0604030504040204" pitchFamily="34" charset="0"/>
                  <a:ea typeface="宋体" panose="02010600030101010101" pitchFamily="2" charset="-122"/>
                </a:defRPr>
              </a:lvl4pPr>
              <a:lvl5pPr marL="2057400" indent="-228600" eaLnBrk="0" hangingPunct="0">
                <a:defRPr sz="16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9pPr>
            </a:lstStyle>
            <a:p>
              <a:pPr algn="just"/>
              <a:r>
                <a:rPr lang="en-US" altLang="zh-CN" sz="2800" i="1">
                  <a:solidFill>
                    <a:schemeClr val="bg1"/>
                  </a:solidFill>
                  <a:latin typeface="Times New Roman" panose="02020603050405020304" pitchFamily="18" charset="0"/>
                </a:rPr>
                <a:t>V</a:t>
              </a:r>
              <a:r>
                <a:rPr lang="en-US" altLang="zh-CN" sz="2800" baseline="-25000">
                  <a:solidFill>
                    <a:schemeClr val="bg1"/>
                  </a:solidFill>
                  <a:latin typeface="Times New Roman" panose="02020603050405020304" pitchFamily="18" charset="0"/>
                </a:rPr>
                <a:t>2</a:t>
              </a:r>
              <a:endParaRPr lang="en-US" altLang="zh-CN" sz="2800">
                <a:solidFill>
                  <a:schemeClr val="bg1"/>
                </a:solidFill>
                <a:latin typeface="Times New Roman" panose="02020603050405020304" pitchFamily="18" charset="0"/>
              </a:endParaRPr>
            </a:p>
          </p:txBody>
        </p:sp>
        <p:sp>
          <p:nvSpPr>
            <p:cNvPr id="53" name="Line 10"/>
            <p:cNvSpPr>
              <a:spLocks noChangeShapeType="1"/>
            </p:cNvSpPr>
            <p:nvPr/>
          </p:nvSpPr>
          <p:spPr bwMode="auto">
            <a:xfrm>
              <a:off x="1939" y="2805"/>
              <a:ext cx="0" cy="903"/>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lIns="10800" tIns="28800" rIns="0" bIns="10800"/>
            <a:lstStyle/>
            <a:p>
              <a:endParaRPr lang="zh-CN" altLang="en-US"/>
            </a:p>
          </p:txBody>
        </p:sp>
        <p:sp>
          <p:nvSpPr>
            <p:cNvPr id="54" name="Line 11"/>
            <p:cNvSpPr>
              <a:spLocks noChangeShapeType="1"/>
            </p:cNvSpPr>
            <p:nvPr/>
          </p:nvSpPr>
          <p:spPr bwMode="auto">
            <a:xfrm>
              <a:off x="516" y="2800"/>
              <a:ext cx="0" cy="885"/>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lIns="10800" tIns="28800" rIns="0" bIns="10800"/>
            <a:lstStyle/>
            <a:p>
              <a:endParaRPr lang="zh-CN" altLang="en-US"/>
            </a:p>
          </p:txBody>
        </p:sp>
        <p:sp>
          <p:nvSpPr>
            <p:cNvPr id="55" name="Oval 12"/>
            <p:cNvSpPr>
              <a:spLocks noChangeArrowheads="1"/>
            </p:cNvSpPr>
            <p:nvPr/>
          </p:nvSpPr>
          <p:spPr bwMode="auto">
            <a:xfrm>
              <a:off x="746" y="2835"/>
              <a:ext cx="317" cy="317"/>
            </a:xfrm>
            <a:prstGeom prst="ellipse">
              <a:avLst/>
            </a:prstGeom>
            <a:gradFill rotWithShape="1">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2857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0800" tIns="28800" rIns="0" bIns="10800"/>
            <a:lstStyle/>
            <a:p>
              <a:pPr algn="ctr">
                <a:defRPr/>
              </a:pPr>
              <a:endParaRPr lang="zh-CN" altLang="en-US">
                <a:solidFill>
                  <a:schemeClr val="bg1"/>
                </a:solidFill>
                <a:latin typeface="Arial" charset="0"/>
                <a:ea typeface="华文行楷" pitchFamily="2" charset="-122"/>
              </a:endParaRPr>
            </a:p>
          </p:txBody>
        </p:sp>
        <p:sp>
          <p:nvSpPr>
            <p:cNvPr id="70" name="Text Box 13"/>
            <p:cNvSpPr txBox="1">
              <a:spLocks noChangeArrowheads="1"/>
            </p:cNvSpPr>
            <p:nvPr/>
          </p:nvSpPr>
          <p:spPr bwMode="auto">
            <a:xfrm>
              <a:off x="788" y="2804"/>
              <a:ext cx="292" cy="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0800" tIns="28800" rIns="0" bIns="10800"/>
            <a:lstStyle>
              <a:lvl1pPr eaLnBrk="0" hangingPunct="0">
                <a:defRPr sz="1600" b="1">
                  <a:solidFill>
                    <a:schemeClr val="tx1"/>
                  </a:solidFill>
                  <a:latin typeface="Tahoma" panose="020B0604030504040204" pitchFamily="34" charset="0"/>
                  <a:ea typeface="宋体" panose="02010600030101010101" pitchFamily="2" charset="-122"/>
                </a:defRPr>
              </a:lvl1pPr>
              <a:lvl2pPr marL="742950" indent="-285750" eaLnBrk="0" hangingPunct="0">
                <a:defRPr sz="1600" b="1">
                  <a:solidFill>
                    <a:schemeClr val="tx1"/>
                  </a:solidFill>
                  <a:latin typeface="Tahoma" panose="020B0604030504040204" pitchFamily="34" charset="0"/>
                  <a:ea typeface="宋体" panose="02010600030101010101" pitchFamily="2" charset="-122"/>
                </a:defRPr>
              </a:lvl2pPr>
              <a:lvl3pPr marL="1143000" indent="-228600" eaLnBrk="0" hangingPunct="0">
                <a:defRPr sz="1600" b="1">
                  <a:solidFill>
                    <a:schemeClr val="tx1"/>
                  </a:solidFill>
                  <a:latin typeface="Tahoma" panose="020B0604030504040204" pitchFamily="34" charset="0"/>
                  <a:ea typeface="宋体" panose="02010600030101010101" pitchFamily="2" charset="-122"/>
                </a:defRPr>
              </a:lvl3pPr>
              <a:lvl4pPr marL="1600200" indent="-228600" eaLnBrk="0" hangingPunct="0">
                <a:defRPr sz="1600" b="1">
                  <a:solidFill>
                    <a:schemeClr val="tx1"/>
                  </a:solidFill>
                  <a:latin typeface="Tahoma" panose="020B0604030504040204" pitchFamily="34" charset="0"/>
                  <a:ea typeface="宋体" panose="02010600030101010101" pitchFamily="2" charset="-122"/>
                </a:defRPr>
              </a:lvl4pPr>
              <a:lvl5pPr marL="2057400" indent="-228600" eaLnBrk="0" hangingPunct="0">
                <a:defRPr sz="16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9pPr>
            </a:lstStyle>
            <a:p>
              <a:pPr algn="just"/>
              <a:r>
                <a:rPr lang="en-US" altLang="zh-CN" sz="2800" i="1">
                  <a:solidFill>
                    <a:schemeClr val="bg1"/>
                  </a:solidFill>
                  <a:latin typeface="Times New Roman" panose="02020603050405020304" pitchFamily="18" charset="0"/>
                </a:rPr>
                <a:t>V</a:t>
              </a:r>
              <a:r>
                <a:rPr lang="en-US" altLang="zh-CN" sz="2800" baseline="-25000">
                  <a:solidFill>
                    <a:schemeClr val="bg1"/>
                  </a:solidFill>
                  <a:latin typeface="Times New Roman" panose="02020603050405020304" pitchFamily="18" charset="0"/>
                </a:rPr>
                <a:t>3</a:t>
              </a:r>
              <a:endParaRPr lang="en-US" altLang="zh-CN" sz="2800">
                <a:solidFill>
                  <a:schemeClr val="bg1"/>
                </a:solidFill>
                <a:latin typeface="Times New Roman" panose="02020603050405020304" pitchFamily="18" charset="0"/>
              </a:endParaRPr>
            </a:p>
          </p:txBody>
        </p:sp>
        <p:sp>
          <p:nvSpPr>
            <p:cNvPr id="100" name="Oval 14"/>
            <p:cNvSpPr>
              <a:spLocks noChangeArrowheads="1"/>
            </p:cNvSpPr>
            <p:nvPr/>
          </p:nvSpPr>
          <p:spPr bwMode="auto">
            <a:xfrm>
              <a:off x="351" y="3687"/>
              <a:ext cx="317" cy="317"/>
            </a:xfrm>
            <a:prstGeom prst="ellipse">
              <a:avLst/>
            </a:prstGeom>
            <a:gradFill rotWithShape="1">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2857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0800" tIns="28800" rIns="0" bIns="10800"/>
            <a:lstStyle/>
            <a:p>
              <a:pPr algn="ctr">
                <a:defRPr/>
              </a:pPr>
              <a:endParaRPr lang="zh-CN" altLang="en-US">
                <a:solidFill>
                  <a:schemeClr val="bg1"/>
                </a:solidFill>
                <a:latin typeface="Arial" charset="0"/>
                <a:ea typeface="华文行楷" pitchFamily="2" charset="-122"/>
              </a:endParaRPr>
            </a:p>
          </p:txBody>
        </p:sp>
        <p:sp>
          <p:nvSpPr>
            <p:cNvPr id="101" name="Text Box 15"/>
            <p:cNvSpPr txBox="1">
              <a:spLocks noChangeArrowheads="1"/>
            </p:cNvSpPr>
            <p:nvPr/>
          </p:nvSpPr>
          <p:spPr bwMode="auto">
            <a:xfrm>
              <a:off x="393" y="3656"/>
              <a:ext cx="292" cy="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0800" tIns="28800" rIns="0" bIns="10800"/>
            <a:lstStyle>
              <a:lvl1pPr eaLnBrk="0" hangingPunct="0">
                <a:defRPr sz="1600" b="1">
                  <a:solidFill>
                    <a:schemeClr val="tx1"/>
                  </a:solidFill>
                  <a:latin typeface="Tahoma" panose="020B0604030504040204" pitchFamily="34" charset="0"/>
                  <a:ea typeface="宋体" panose="02010600030101010101" pitchFamily="2" charset="-122"/>
                </a:defRPr>
              </a:lvl1pPr>
              <a:lvl2pPr marL="742950" indent="-285750" eaLnBrk="0" hangingPunct="0">
                <a:defRPr sz="1600" b="1">
                  <a:solidFill>
                    <a:schemeClr val="tx1"/>
                  </a:solidFill>
                  <a:latin typeface="Tahoma" panose="020B0604030504040204" pitchFamily="34" charset="0"/>
                  <a:ea typeface="宋体" panose="02010600030101010101" pitchFamily="2" charset="-122"/>
                </a:defRPr>
              </a:lvl2pPr>
              <a:lvl3pPr marL="1143000" indent="-228600" eaLnBrk="0" hangingPunct="0">
                <a:defRPr sz="1600" b="1">
                  <a:solidFill>
                    <a:schemeClr val="tx1"/>
                  </a:solidFill>
                  <a:latin typeface="Tahoma" panose="020B0604030504040204" pitchFamily="34" charset="0"/>
                  <a:ea typeface="宋体" panose="02010600030101010101" pitchFamily="2" charset="-122"/>
                </a:defRPr>
              </a:lvl3pPr>
              <a:lvl4pPr marL="1600200" indent="-228600" eaLnBrk="0" hangingPunct="0">
                <a:defRPr sz="1600" b="1">
                  <a:solidFill>
                    <a:schemeClr val="tx1"/>
                  </a:solidFill>
                  <a:latin typeface="Tahoma" panose="020B0604030504040204" pitchFamily="34" charset="0"/>
                  <a:ea typeface="宋体" panose="02010600030101010101" pitchFamily="2" charset="-122"/>
                </a:defRPr>
              </a:lvl4pPr>
              <a:lvl5pPr marL="2057400" indent="-228600" eaLnBrk="0" hangingPunct="0">
                <a:defRPr sz="16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9pPr>
            </a:lstStyle>
            <a:p>
              <a:pPr algn="just"/>
              <a:r>
                <a:rPr lang="en-US" altLang="zh-CN" sz="2800" i="1">
                  <a:solidFill>
                    <a:schemeClr val="bg1"/>
                  </a:solidFill>
                  <a:latin typeface="Times New Roman" panose="02020603050405020304" pitchFamily="18" charset="0"/>
                </a:rPr>
                <a:t>V</a:t>
              </a:r>
              <a:r>
                <a:rPr lang="en-US" altLang="zh-CN" sz="2800" baseline="-25000">
                  <a:solidFill>
                    <a:schemeClr val="bg1"/>
                  </a:solidFill>
                  <a:latin typeface="Times New Roman" panose="02020603050405020304" pitchFamily="18" charset="0"/>
                </a:rPr>
                <a:t>4</a:t>
              </a:r>
              <a:endParaRPr lang="en-US" altLang="zh-CN" sz="2800">
                <a:solidFill>
                  <a:schemeClr val="bg1"/>
                </a:solidFill>
                <a:latin typeface="Times New Roman" panose="02020603050405020304" pitchFamily="18" charset="0"/>
              </a:endParaRPr>
            </a:p>
          </p:txBody>
        </p:sp>
        <p:sp>
          <p:nvSpPr>
            <p:cNvPr id="102" name="Oval 16"/>
            <p:cNvSpPr>
              <a:spLocks noChangeArrowheads="1"/>
            </p:cNvSpPr>
            <p:nvPr/>
          </p:nvSpPr>
          <p:spPr bwMode="auto">
            <a:xfrm>
              <a:off x="1777" y="3685"/>
              <a:ext cx="317" cy="317"/>
            </a:xfrm>
            <a:prstGeom prst="ellipse">
              <a:avLst/>
            </a:prstGeom>
            <a:gradFill rotWithShape="1">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2857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0800" tIns="28800" rIns="0" bIns="10800"/>
            <a:lstStyle/>
            <a:p>
              <a:pPr algn="ctr">
                <a:defRPr/>
              </a:pPr>
              <a:endParaRPr lang="zh-CN" altLang="en-US">
                <a:solidFill>
                  <a:schemeClr val="bg1"/>
                </a:solidFill>
                <a:latin typeface="Arial" charset="0"/>
                <a:ea typeface="华文行楷" pitchFamily="2" charset="-122"/>
              </a:endParaRPr>
            </a:p>
          </p:txBody>
        </p:sp>
        <p:sp>
          <p:nvSpPr>
            <p:cNvPr id="103" name="Text Box 17"/>
            <p:cNvSpPr txBox="1">
              <a:spLocks noChangeArrowheads="1"/>
            </p:cNvSpPr>
            <p:nvPr/>
          </p:nvSpPr>
          <p:spPr bwMode="auto">
            <a:xfrm>
              <a:off x="1819" y="3654"/>
              <a:ext cx="292" cy="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0800" tIns="28800" rIns="0" bIns="10800"/>
            <a:lstStyle>
              <a:lvl1pPr eaLnBrk="0" hangingPunct="0">
                <a:defRPr sz="1600" b="1">
                  <a:solidFill>
                    <a:schemeClr val="tx1"/>
                  </a:solidFill>
                  <a:latin typeface="Tahoma" panose="020B0604030504040204" pitchFamily="34" charset="0"/>
                  <a:ea typeface="宋体" panose="02010600030101010101" pitchFamily="2" charset="-122"/>
                </a:defRPr>
              </a:lvl1pPr>
              <a:lvl2pPr marL="742950" indent="-285750" eaLnBrk="0" hangingPunct="0">
                <a:defRPr sz="1600" b="1">
                  <a:solidFill>
                    <a:schemeClr val="tx1"/>
                  </a:solidFill>
                  <a:latin typeface="Tahoma" panose="020B0604030504040204" pitchFamily="34" charset="0"/>
                  <a:ea typeface="宋体" panose="02010600030101010101" pitchFamily="2" charset="-122"/>
                </a:defRPr>
              </a:lvl2pPr>
              <a:lvl3pPr marL="1143000" indent="-228600" eaLnBrk="0" hangingPunct="0">
                <a:defRPr sz="1600" b="1">
                  <a:solidFill>
                    <a:schemeClr val="tx1"/>
                  </a:solidFill>
                  <a:latin typeface="Tahoma" panose="020B0604030504040204" pitchFamily="34" charset="0"/>
                  <a:ea typeface="宋体" panose="02010600030101010101" pitchFamily="2" charset="-122"/>
                </a:defRPr>
              </a:lvl3pPr>
              <a:lvl4pPr marL="1600200" indent="-228600" eaLnBrk="0" hangingPunct="0">
                <a:defRPr sz="1600" b="1">
                  <a:solidFill>
                    <a:schemeClr val="tx1"/>
                  </a:solidFill>
                  <a:latin typeface="Tahoma" panose="020B0604030504040204" pitchFamily="34" charset="0"/>
                  <a:ea typeface="宋体" panose="02010600030101010101" pitchFamily="2" charset="-122"/>
                </a:defRPr>
              </a:lvl4pPr>
              <a:lvl5pPr marL="2057400" indent="-228600" eaLnBrk="0" hangingPunct="0">
                <a:defRPr sz="16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9pPr>
            </a:lstStyle>
            <a:p>
              <a:pPr algn="just"/>
              <a:r>
                <a:rPr lang="en-US" altLang="zh-CN" sz="2800" i="1">
                  <a:solidFill>
                    <a:schemeClr val="bg1"/>
                  </a:solidFill>
                  <a:latin typeface="Times New Roman" panose="02020603050405020304" pitchFamily="18" charset="0"/>
                </a:rPr>
                <a:t>V</a:t>
              </a:r>
              <a:r>
                <a:rPr lang="en-US" altLang="zh-CN" sz="2800" baseline="-25000">
                  <a:solidFill>
                    <a:schemeClr val="bg1"/>
                  </a:solidFill>
                  <a:latin typeface="Times New Roman" panose="02020603050405020304" pitchFamily="18" charset="0"/>
                </a:rPr>
                <a:t>5</a:t>
              </a:r>
              <a:endParaRPr lang="en-US" altLang="zh-CN" sz="2800">
                <a:solidFill>
                  <a:schemeClr val="bg1"/>
                </a:solidFill>
                <a:latin typeface="Times New Roman" panose="02020603050405020304" pitchFamily="18" charset="0"/>
              </a:endParaRPr>
            </a:p>
          </p:txBody>
        </p:sp>
        <p:sp>
          <p:nvSpPr>
            <p:cNvPr id="104" name="Oval 18"/>
            <p:cNvSpPr>
              <a:spLocks noChangeArrowheads="1"/>
            </p:cNvSpPr>
            <p:nvPr/>
          </p:nvSpPr>
          <p:spPr bwMode="auto">
            <a:xfrm>
              <a:off x="1371" y="2835"/>
              <a:ext cx="317" cy="317"/>
            </a:xfrm>
            <a:prstGeom prst="ellipse">
              <a:avLst/>
            </a:prstGeom>
            <a:gradFill rotWithShape="1">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2857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0800" tIns="28800" rIns="0" bIns="10800"/>
            <a:lstStyle/>
            <a:p>
              <a:pPr algn="ctr">
                <a:defRPr/>
              </a:pPr>
              <a:endParaRPr lang="zh-CN" altLang="en-US">
                <a:solidFill>
                  <a:schemeClr val="bg1"/>
                </a:solidFill>
                <a:latin typeface="Arial" charset="0"/>
                <a:ea typeface="华文行楷" pitchFamily="2" charset="-122"/>
              </a:endParaRPr>
            </a:p>
          </p:txBody>
        </p:sp>
        <p:sp>
          <p:nvSpPr>
            <p:cNvPr id="105" name="Text Box 19"/>
            <p:cNvSpPr txBox="1">
              <a:spLocks noChangeArrowheads="1"/>
            </p:cNvSpPr>
            <p:nvPr/>
          </p:nvSpPr>
          <p:spPr bwMode="auto">
            <a:xfrm>
              <a:off x="1413" y="2804"/>
              <a:ext cx="292" cy="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0800" tIns="28800" rIns="0" bIns="10800"/>
            <a:lstStyle>
              <a:lvl1pPr eaLnBrk="0" hangingPunct="0">
                <a:defRPr sz="1600" b="1">
                  <a:solidFill>
                    <a:schemeClr val="tx1"/>
                  </a:solidFill>
                  <a:latin typeface="Tahoma" panose="020B0604030504040204" pitchFamily="34" charset="0"/>
                  <a:ea typeface="宋体" panose="02010600030101010101" pitchFamily="2" charset="-122"/>
                </a:defRPr>
              </a:lvl1pPr>
              <a:lvl2pPr marL="742950" indent="-285750" eaLnBrk="0" hangingPunct="0">
                <a:defRPr sz="1600" b="1">
                  <a:solidFill>
                    <a:schemeClr val="tx1"/>
                  </a:solidFill>
                  <a:latin typeface="Tahoma" panose="020B0604030504040204" pitchFamily="34" charset="0"/>
                  <a:ea typeface="宋体" panose="02010600030101010101" pitchFamily="2" charset="-122"/>
                </a:defRPr>
              </a:lvl2pPr>
              <a:lvl3pPr marL="1143000" indent="-228600" eaLnBrk="0" hangingPunct="0">
                <a:defRPr sz="1600" b="1">
                  <a:solidFill>
                    <a:schemeClr val="tx1"/>
                  </a:solidFill>
                  <a:latin typeface="Tahoma" panose="020B0604030504040204" pitchFamily="34" charset="0"/>
                  <a:ea typeface="宋体" panose="02010600030101010101" pitchFamily="2" charset="-122"/>
                </a:defRPr>
              </a:lvl3pPr>
              <a:lvl4pPr marL="1600200" indent="-228600" eaLnBrk="0" hangingPunct="0">
                <a:defRPr sz="1600" b="1">
                  <a:solidFill>
                    <a:schemeClr val="tx1"/>
                  </a:solidFill>
                  <a:latin typeface="Tahoma" panose="020B0604030504040204" pitchFamily="34" charset="0"/>
                  <a:ea typeface="宋体" panose="02010600030101010101" pitchFamily="2" charset="-122"/>
                </a:defRPr>
              </a:lvl4pPr>
              <a:lvl5pPr marL="2057400" indent="-228600" eaLnBrk="0" hangingPunct="0">
                <a:defRPr sz="16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9pPr>
            </a:lstStyle>
            <a:p>
              <a:pPr algn="just"/>
              <a:r>
                <a:rPr lang="en-US" altLang="zh-CN" sz="2800" i="1">
                  <a:solidFill>
                    <a:schemeClr val="bg1"/>
                  </a:solidFill>
                  <a:latin typeface="Times New Roman" panose="02020603050405020304" pitchFamily="18" charset="0"/>
                </a:rPr>
                <a:t>V</a:t>
              </a:r>
              <a:r>
                <a:rPr lang="en-US" altLang="zh-CN" sz="2800" baseline="-25000">
                  <a:solidFill>
                    <a:schemeClr val="bg1"/>
                  </a:solidFill>
                  <a:latin typeface="Times New Roman" panose="02020603050405020304" pitchFamily="18" charset="0"/>
                </a:rPr>
                <a:t>6</a:t>
              </a:r>
              <a:endParaRPr lang="en-US" altLang="zh-CN" sz="2800">
                <a:solidFill>
                  <a:schemeClr val="bg1"/>
                </a:solidFill>
                <a:latin typeface="Times New Roman" panose="02020603050405020304" pitchFamily="18" charset="0"/>
              </a:endParaRPr>
            </a:p>
          </p:txBody>
        </p:sp>
        <p:sp>
          <p:nvSpPr>
            <p:cNvPr id="106" name="Oval 20"/>
            <p:cNvSpPr>
              <a:spLocks noChangeArrowheads="1"/>
            </p:cNvSpPr>
            <p:nvPr/>
          </p:nvSpPr>
          <p:spPr bwMode="auto">
            <a:xfrm>
              <a:off x="1045" y="3334"/>
              <a:ext cx="317" cy="317"/>
            </a:xfrm>
            <a:prstGeom prst="ellipse">
              <a:avLst/>
            </a:prstGeom>
            <a:gradFill rotWithShape="1">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2857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0800" tIns="28800" rIns="0" bIns="10800"/>
            <a:lstStyle/>
            <a:p>
              <a:pPr algn="ctr">
                <a:defRPr/>
              </a:pPr>
              <a:endParaRPr lang="zh-CN" altLang="en-US">
                <a:solidFill>
                  <a:schemeClr val="bg1"/>
                </a:solidFill>
                <a:latin typeface="Arial" charset="0"/>
                <a:ea typeface="华文行楷" pitchFamily="2" charset="-122"/>
              </a:endParaRPr>
            </a:p>
          </p:txBody>
        </p:sp>
        <p:sp>
          <p:nvSpPr>
            <p:cNvPr id="107" name="Text Box 21"/>
            <p:cNvSpPr txBox="1">
              <a:spLocks noChangeArrowheads="1"/>
            </p:cNvSpPr>
            <p:nvPr/>
          </p:nvSpPr>
          <p:spPr bwMode="auto">
            <a:xfrm>
              <a:off x="1087" y="3303"/>
              <a:ext cx="292" cy="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0800" tIns="28800" rIns="0" bIns="10800"/>
            <a:lstStyle>
              <a:lvl1pPr eaLnBrk="0" hangingPunct="0">
                <a:defRPr sz="1600" b="1">
                  <a:solidFill>
                    <a:schemeClr val="tx1"/>
                  </a:solidFill>
                  <a:latin typeface="Tahoma" panose="020B0604030504040204" pitchFamily="34" charset="0"/>
                  <a:ea typeface="宋体" panose="02010600030101010101" pitchFamily="2" charset="-122"/>
                </a:defRPr>
              </a:lvl1pPr>
              <a:lvl2pPr marL="742950" indent="-285750" eaLnBrk="0" hangingPunct="0">
                <a:defRPr sz="1600" b="1">
                  <a:solidFill>
                    <a:schemeClr val="tx1"/>
                  </a:solidFill>
                  <a:latin typeface="Tahoma" panose="020B0604030504040204" pitchFamily="34" charset="0"/>
                  <a:ea typeface="宋体" panose="02010600030101010101" pitchFamily="2" charset="-122"/>
                </a:defRPr>
              </a:lvl2pPr>
              <a:lvl3pPr marL="1143000" indent="-228600" eaLnBrk="0" hangingPunct="0">
                <a:defRPr sz="1600" b="1">
                  <a:solidFill>
                    <a:schemeClr val="tx1"/>
                  </a:solidFill>
                  <a:latin typeface="Tahoma" panose="020B0604030504040204" pitchFamily="34" charset="0"/>
                  <a:ea typeface="宋体" panose="02010600030101010101" pitchFamily="2" charset="-122"/>
                </a:defRPr>
              </a:lvl3pPr>
              <a:lvl4pPr marL="1600200" indent="-228600" eaLnBrk="0" hangingPunct="0">
                <a:defRPr sz="1600" b="1">
                  <a:solidFill>
                    <a:schemeClr val="tx1"/>
                  </a:solidFill>
                  <a:latin typeface="Tahoma" panose="020B0604030504040204" pitchFamily="34" charset="0"/>
                  <a:ea typeface="宋体" panose="02010600030101010101" pitchFamily="2" charset="-122"/>
                </a:defRPr>
              </a:lvl4pPr>
              <a:lvl5pPr marL="2057400" indent="-228600" eaLnBrk="0" hangingPunct="0">
                <a:defRPr sz="16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9pPr>
            </a:lstStyle>
            <a:p>
              <a:pPr algn="just"/>
              <a:r>
                <a:rPr lang="en-US" altLang="zh-CN" sz="2800" i="1">
                  <a:solidFill>
                    <a:schemeClr val="bg1"/>
                  </a:solidFill>
                  <a:latin typeface="Times New Roman" panose="02020603050405020304" pitchFamily="18" charset="0"/>
                </a:rPr>
                <a:t>V</a:t>
              </a:r>
              <a:r>
                <a:rPr lang="en-US" altLang="zh-CN" sz="2800" baseline="-25000">
                  <a:solidFill>
                    <a:schemeClr val="bg1"/>
                  </a:solidFill>
                  <a:latin typeface="Times New Roman" panose="02020603050405020304" pitchFamily="18" charset="0"/>
                </a:rPr>
                <a:t>7</a:t>
              </a:r>
              <a:endParaRPr lang="en-US" altLang="zh-CN" sz="2800">
                <a:solidFill>
                  <a:schemeClr val="bg1"/>
                </a:solidFill>
                <a:latin typeface="Times New Roman" panose="02020603050405020304" pitchFamily="18" charset="0"/>
              </a:endParaRPr>
            </a:p>
          </p:txBody>
        </p:sp>
        <p:sp>
          <p:nvSpPr>
            <p:cNvPr id="108" name="Line 22"/>
            <p:cNvSpPr>
              <a:spLocks noChangeShapeType="1"/>
            </p:cNvSpPr>
            <p:nvPr/>
          </p:nvSpPr>
          <p:spPr bwMode="auto">
            <a:xfrm flipV="1">
              <a:off x="1059" y="2991"/>
              <a:ext cx="318"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lIns="10800" tIns="28800" rIns="0" bIns="10800"/>
            <a:lstStyle/>
            <a:p>
              <a:endParaRPr lang="zh-CN" altLang="en-US"/>
            </a:p>
          </p:txBody>
        </p:sp>
        <p:sp>
          <p:nvSpPr>
            <p:cNvPr id="109" name="Line 23"/>
            <p:cNvSpPr>
              <a:spLocks noChangeShapeType="1"/>
            </p:cNvSpPr>
            <p:nvPr/>
          </p:nvSpPr>
          <p:spPr bwMode="auto">
            <a:xfrm>
              <a:off x="905" y="3136"/>
              <a:ext cx="175" cy="25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lIns="10800" tIns="28800" rIns="0" bIns="10800"/>
            <a:lstStyle/>
            <a:p>
              <a:endParaRPr lang="zh-CN" altLang="en-US"/>
            </a:p>
          </p:txBody>
        </p:sp>
        <p:sp>
          <p:nvSpPr>
            <p:cNvPr id="110" name="Line 24"/>
            <p:cNvSpPr>
              <a:spLocks noChangeShapeType="1"/>
            </p:cNvSpPr>
            <p:nvPr/>
          </p:nvSpPr>
          <p:spPr bwMode="auto">
            <a:xfrm flipH="1">
              <a:off x="1310" y="3145"/>
              <a:ext cx="161" cy="24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lIns="10800" tIns="28800" rIns="0" bIns="10800"/>
            <a:lstStyle/>
            <a:p>
              <a:endParaRPr lang="zh-CN" altLang="en-US"/>
            </a:p>
          </p:txBody>
        </p:sp>
      </p:grpSp>
      <p:grpSp>
        <p:nvGrpSpPr>
          <p:cNvPr id="111" name="Group 90"/>
          <p:cNvGrpSpPr>
            <a:grpSpLocks/>
          </p:cNvGrpSpPr>
          <p:nvPr/>
        </p:nvGrpSpPr>
        <p:grpSpPr bwMode="auto">
          <a:xfrm>
            <a:off x="6188968" y="3786311"/>
            <a:ext cx="4227512" cy="2101850"/>
            <a:chOff x="2917" y="2630"/>
            <a:chExt cx="2663" cy="1324"/>
          </a:xfrm>
        </p:grpSpPr>
        <p:sp>
          <p:nvSpPr>
            <p:cNvPr id="112" name="Oval 27"/>
            <p:cNvSpPr>
              <a:spLocks noChangeArrowheads="1"/>
            </p:cNvSpPr>
            <p:nvPr/>
          </p:nvSpPr>
          <p:spPr bwMode="auto">
            <a:xfrm>
              <a:off x="2944" y="2661"/>
              <a:ext cx="317" cy="317"/>
            </a:xfrm>
            <a:prstGeom prst="ellipse">
              <a:avLst/>
            </a:prstGeom>
            <a:gradFill rotWithShape="1">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2857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0800" tIns="28800" rIns="0" bIns="10800"/>
            <a:lstStyle/>
            <a:p>
              <a:pPr algn="ctr">
                <a:defRPr/>
              </a:pPr>
              <a:endParaRPr lang="zh-CN" altLang="en-US">
                <a:solidFill>
                  <a:schemeClr val="bg1"/>
                </a:solidFill>
                <a:latin typeface="Arial" charset="0"/>
                <a:ea typeface="华文行楷" pitchFamily="2" charset="-122"/>
              </a:endParaRPr>
            </a:p>
          </p:txBody>
        </p:sp>
        <p:sp>
          <p:nvSpPr>
            <p:cNvPr id="113" name="Text Box 28"/>
            <p:cNvSpPr txBox="1">
              <a:spLocks noChangeArrowheads="1"/>
            </p:cNvSpPr>
            <p:nvPr/>
          </p:nvSpPr>
          <p:spPr bwMode="auto">
            <a:xfrm>
              <a:off x="2986" y="2630"/>
              <a:ext cx="292" cy="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0800" tIns="28800" rIns="0" bIns="10800"/>
            <a:lstStyle>
              <a:lvl1pPr eaLnBrk="0" hangingPunct="0">
                <a:defRPr sz="1600" b="1">
                  <a:solidFill>
                    <a:schemeClr val="tx1"/>
                  </a:solidFill>
                  <a:latin typeface="Tahoma" panose="020B0604030504040204" pitchFamily="34" charset="0"/>
                  <a:ea typeface="宋体" panose="02010600030101010101" pitchFamily="2" charset="-122"/>
                </a:defRPr>
              </a:lvl1pPr>
              <a:lvl2pPr marL="742950" indent="-285750" eaLnBrk="0" hangingPunct="0">
                <a:defRPr sz="1600" b="1">
                  <a:solidFill>
                    <a:schemeClr val="tx1"/>
                  </a:solidFill>
                  <a:latin typeface="Tahoma" panose="020B0604030504040204" pitchFamily="34" charset="0"/>
                  <a:ea typeface="宋体" panose="02010600030101010101" pitchFamily="2" charset="-122"/>
                </a:defRPr>
              </a:lvl2pPr>
              <a:lvl3pPr marL="1143000" indent="-228600" eaLnBrk="0" hangingPunct="0">
                <a:defRPr sz="1600" b="1">
                  <a:solidFill>
                    <a:schemeClr val="tx1"/>
                  </a:solidFill>
                  <a:latin typeface="Tahoma" panose="020B0604030504040204" pitchFamily="34" charset="0"/>
                  <a:ea typeface="宋体" panose="02010600030101010101" pitchFamily="2" charset="-122"/>
                </a:defRPr>
              </a:lvl3pPr>
              <a:lvl4pPr marL="1600200" indent="-228600" eaLnBrk="0" hangingPunct="0">
                <a:defRPr sz="1600" b="1">
                  <a:solidFill>
                    <a:schemeClr val="tx1"/>
                  </a:solidFill>
                  <a:latin typeface="Tahoma" panose="020B0604030504040204" pitchFamily="34" charset="0"/>
                  <a:ea typeface="宋体" panose="02010600030101010101" pitchFamily="2" charset="-122"/>
                </a:defRPr>
              </a:lvl4pPr>
              <a:lvl5pPr marL="2057400" indent="-228600" eaLnBrk="0" hangingPunct="0">
                <a:defRPr sz="16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9pPr>
            </a:lstStyle>
            <a:p>
              <a:pPr algn="just"/>
              <a:r>
                <a:rPr lang="en-US" altLang="zh-CN" sz="2800" i="1">
                  <a:solidFill>
                    <a:schemeClr val="bg1"/>
                  </a:solidFill>
                  <a:latin typeface="Times New Roman" panose="02020603050405020304" pitchFamily="18" charset="0"/>
                </a:rPr>
                <a:t>V</a:t>
              </a:r>
              <a:r>
                <a:rPr lang="en-US" altLang="zh-CN" sz="2800" baseline="-25000">
                  <a:solidFill>
                    <a:schemeClr val="bg1"/>
                  </a:solidFill>
                  <a:latin typeface="Times New Roman" panose="02020603050405020304" pitchFamily="18" charset="0"/>
                </a:rPr>
                <a:t>1</a:t>
              </a:r>
              <a:endParaRPr lang="en-US" altLang="zh-CN" sz="2800">
                <a:solidFill>
                  <a:schemeClr val="bg1"/>
                </a:solidFill>
                <a:latin typeface="Times New Roman" panose="02020603050405020304" pitchFamily="18" charset="0"/>
              </a:endParaRPr>
            </a:p>
          </p:txBody>
        </p:sp>
        <p:sp>
          <p:nvSpPr>
            <p:cNvPr id="114" name="Line 29"/>
            <p:cNvSpPr>
              <a:spLocks noChangeShapeType="1"/>
            </p:cNvSpPr>
            <p:nvPr/>
          </p:nvSpPr>
          <p:spPr bwMode="auto">
            <a:xfrm flipV="1">
              <a:off x="3250" y="2790"/>
              <a:ext cx="866"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lIns="10800" tIns="28800" rIns="0" bIns="10800"/>
            <a:lstStyle/>
            <a:p>
              <a:endParaRPr lang="zh-CN" altLang="en-US"/>
            </a:p>
          </p:txBody>
        </p:sp>
        <p:sp>
          <p:nvSpPr>
            <p:cNvPr id="115" name="Oval 30"/>
            <p:cNvSpPr>
              <a:spLocks noChangeArrowheads="1"/>
            </p:cNvSpPr>
            <p:nvPr/>
          </p:nvSpPr>
          <p:spPr bwMode="auto">
            <a:xfrm>
              <a:off x="4113" y="2669"/>
              <a:ext cx="317" cy="317"/>
            </a:xfrm>
            <a:prstGeom prst="ellipse">
              <a:avLst/>
            </a:prstGeom>
            <a:gradFill rotWithShape="1">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2857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0800" tIns="28800" rIns="0" bIns="10800"/>
            <a:lstStyle/>
            <a:p>
              <a:pPr algn="ctr">
                <a:defRPr/>
              </a:pPr>
              <a:endParaRPr lang="zh-CN" altLang="en-US">
                <a:solidFill>
                  <a:schemeClr val="bg1"/>
                </a:solidFill>
                <a:latin typeface="Arial" charset="0"/>
                <a:ea typeface="华文行楷" pitchFamily="2" charset="-122"/>
              </a:endParaRPr>
            </a:p>
          </p:txBody>
        </p:sp>
        <p:sp>
          <p:nvSpPr>
            <p:cNvPr id="116" name="Text Box 31"/>
            <p:cNvSpPr txBox="1">
              <a:spLocks noChangeArrowheads="1"/>
            </p:cNvSpPr>
            <p:nvPr/>
          </p:nvSpPr>
          <p:spPr bwMode="auto">
            <a:xfrm>
              <a:off x="4155" y="2638"/>
              <a:ext cx="292" cy="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0800" tIns="28800" rIns="0" bIns="10800"/>
            <a:lstStyle>
              <a:lvl1pPr eaLnBrk="0" hangingPunct="0">
                <a:defRPr sz="1600" b="1">
                  <a:solidFill>
                    <a:schemeClr val="tx1"/>
                  </a:solidFill>
                  <a:latin typeface="Tahoma" panose="020B0604030504040204" pitchFamily="34" charset="0"/>
                  <a:ea typeface="宋体" panose="02010600030101010101" pitchFamily="2" charset="-122"/>
                </a:defRPr>
              </a:lvl1pPr>
              <a:lvl2pPr marL="742950" indent="-285750" eaLnBrk="0" hangingPunct="0">
                <a:defRPr sz="1600" b="1">
                  <a:solidFill>
                    <a:schemeClr val="tx1"/>
                  </a:solidFill>
                  <a:latin typeface="Tahoma" panose="020B0604030504040204" pitchFamily="34" charset="0"/>
                  <a:ea typeface="宋体" panose="02010600030101010101" pitchFamily="2" charset="-122"/>
                </a:defRPr>
              </a:lvl2pPr>
              <a:lvl3pPr marL="1143000" indent="-228600" eaLnBrk="0" hangingPunct="0">
                <a:defRPr sz="1600" b="1">
                  <a:solidFill>
                    <a:schemeClr val="tx1"/>
                  </a:solidFill>
                  <a:latin typeface="Tahoma" panose="020B0604030504040204" pitchFamily="34" charset="0"/>
                  <a:ea typeface="宋体" panose="02010600030101010101" pitchFamily="2" charset="-122"/>
                </a:defRPr>
              </a:lvl3pPr>
              <a:lvl4pPr marL="1600200" indent="-228600" eaLnBrk="0" hangingPunct="0">
                <a:defRPr sz="1600" b="1">
                  <a:solidFill>
                    <a:schemeClr val="tx1"/>
                  </a:solidFill>
                  <a:latin typeface="Tahoma" panose="020B0604030504040204" pitchFamily="34" charset="0"/>
                  <a:ea typeface="宋体" panose="02010600030101010101" pitchFamily="2" charset="-122"/>
                </a:defRPr>
              </a:lvl4pPr>
              <a:lvl5pPr marL="2057400" indent="-228600" eaLnBrk="0" hangingPunct="0">
                <a:defRPr sz="16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9pPr>
            </a:lstStyle>
            <a:p>
              <a:pPr algn="just"/>
              <a:r>
                <a:rPr lang="en-US" altLang="zh-CN" sz="2800" i="1">
                  <a:solidFill>
                    <a:schemeClr val="bg1"/>
                  </a:solidFill>
                  <a:latin typeface="Times New Roman" panose="02020603050405020304" pitchFamily="18" charset="0"/>
                </a:rPr>
                <a:t>V</a:t>
              </a:r>
              <a:r>
                <a:rPr lang="en-US" altLang="zh-CN" sz="2800" baseline="-25000">
                  <a:solidFill>
                    <a:schemeClr val="bg1"/>
                  </a:solidFill>
                  <a:latin typeface="Times New Roman" panose="02020603050405020304" pitchFamily="18" charset="0"/>
                </a:rPr>
                <a:t>2</a:t>
              </a:r>
              <a:endParaRPr lang="en-US" altLang="zh-CN" sz="2800">
                <a:solidFill>
                  <a:schemeClr val="bg1"/>
                </a:solidFill>
                <a:latin typeface="Times New Roman" panose="02020603050405020304" pitchFamily="18" charset="0"/>
              </a:endParaRPr>
            </a:p>
          </p:txBody>
        </p:sp>
        <p:sp>
          <p:nvSpPr>
            <p:cNvPr id="117" name="Line 32"/>
            <p:cNvSpPr>
              <a:spLocks noChangeShapeType="1"/>
            </p:cNvSpPr>
            <p:nvPr/>
          </p:nvSpPr>
          <p:spPr bwMode="auto">
            <a:xfrm>
              <a:off x="4265" y="2978"/>
              <a:ext cx="0" cy="903"/>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lIns="10800" tIns="28800" rIns="0" bIns="10800"/>
            <a:lstStyle/>
            <a:p>
              <a:endParaRPr lang="zh-CN" altLang="en-US"/>
            </a:p>
          </p:txBody>
        </p:sp>
        <p:sp>
          <p:nvSpPr>
            <p:cNvPr id="118" name="Line 33"/>
            <p:cNvSpPr>
              <a:spLocks noChangeShapeType="1"/>
            </p:cNvSpPr>
            <p:nvPr/>
          </p:nvSpPr>
          <p:spPr bwMode="auto">
            <a:xfrm>
              <a:off x="3072" y="2973"/>
              <a:ext cx="0" cy="885"/>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lIns="10800" tIns="28800" rIns="0" bIns="10800"/>
            <a:lstStyle/>
            <a:p>
              <a:endParaRPr lang="zh-CN" altLang="en-US"/>
            </a:p>
          </p:txBody>
        </p:sp>
        <p:sp>
          <p:nvSpPr>
            <p:cNvPr id="119" name="Oval 34"/>
            <p:cNvSpPr>
              <a:spLocks noChangeArrowheads="1"/>
            </p:cNvSpPr>
            <p:nvPr/>
          </p:nvSpPr>
          <p:spPr bwMode="auto">
            <a:xfrm>
              <a:off x="4620" y="2671"/>
              <a:ext cx="317" cy="317"/>
            </a:xfrm>
            <a:prstGeom prst="ellipse">
              <a:avLst/>
            </a:prstGeom>
            <a:gradFill rotWithShape="1">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2857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0800" tIns="28800" rIns="0" bIns="10800"/>
            <a:lstStyle/>
            <a:p>
              <a:pPr algn="ctr">
                <a:defRPr/>
              </a:pPr>
              <a:endParaRPr lang="zh-CN" altLang="en-US">
                <a:solidFill>
                  <a:schemeClr val="bg1"/>
                </a:solidFill>
                <a:latin typeface="Arial" charset="0"/>
                <a:ea typeface="华文行楷" pitchFamily="2" charset="-122"/>
              </a:endParaRPr>
            </a:p>
          </p:txBody>
        </p:sp>
        <p:sp>
          <p:nvSpPr>
            <p:cNvPr id="120" name="Text Box 35"/>
            <p:cNvSpPr txBox="1">
              <a:spLocks noChangeArrowheads="1"/>
            </p:cNvSpPr>
            <p:nvPr/>
          </p:nvSpPr>
          <p:spPr bwMode="auto">
            <a:xfrm>
              <a:off x="4662" y="2640"/>
              <a:ext cx="292" cy="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0800" tIns="28800" rIns="0" bIns="10800"/>
            <a:lstStyle>
              <a:lvl1pPr eaLnBrk="0" hangingPunct="0">
                <a:defRPr sz="1600" b="1">
                  <a:solidFill>
                    <a:schemeClr val="tx1"/>
                  </a:solidFill>
                  <a:latin typeface="Tahoma" panose="020B0604030504040204" pitchFamily="34" charset="0"/>
                  <a:ea typeface="宋体" panose="02010600030101010101" pitchFamily="2" charset="-122"/>
                </a:defRPr>
              </a:lvl1pPr>
              <a:lvl2pPr marL="742950" indent="-285750" eaLnBrk="0" hangingPunct="0">
                <a:defRPr sz="1600" b="1">
                  <a:solidFill>
                    <a:schemeClr val="tx1"/>
                  </a:solidFill>
                  <a:latin typeface="Tahoma" panose="020B0604030504040204" pitchFamily="34" charset="0"/>
                  <a:ea typeface="宋体" panose="02010600030101010101" pitchFamily="2" charset="-122"/>
                </a:defRPr>
              </a:lvl2pPr>
              <a:lvl3pPr marL="1143000" indent="-228600" eaLnBrk="0" hangingPunct="0">
                <a:defRPr sz="1600" b="1">
                  <a:solidFill>
                    <a:schemeClr val="tx1"/>
                  </a:solidFill>
                  <a:latin typeface="Tahoma" panose="020B0604030504040204" pitchFamily="34" charset="0"/>
                  <a:ea typeface="宋体" panose="02010600030101010101" pitchFamily="2" charset="-122"/>
                </a:defRPr>
              </a:lvl3pPr>
              <a:lvl4pPr marL="1600200" indent="-228600" eaLnBrk="0" hangingPunct="0">
                <a:defRPr sz="1600" b="1">
                  <a:solidFill>
                    <a:schemeClr val="tx1"/>
                  </a:solidFill>
                  <a:latin typeface="Tahoma" panose="020B0604030504040204" pitchFamily="34" charset="0"/>
                  <a:ea typeface="宋体" panose="02010600030101010101" pitchFamily="2" charset="-122"/>
                </a:defRPr>
              </a:lvl4pPr>
              <a:lvl5pPr marL="2057400" indent="-228600" eaLnBrk="0" hangingPunct="0">
                <a:defRPr sz="16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9pPr>
            </a:lstStyle>
            <a:p>
              <a:pPr algn="just"/>
              <a:r>
                <a:rPr lang="en-US" altLang="zh-CN" sz="2800" i="1">
                  <a:solidFill>
                    <a:schemeClr val="bg1"/>
                  </a:solidFill>
                  <a:latin typeface="Times New Roman" panose="02020603050405020304" pitchFamily="18" charset="0"/>
                </a:rPr>
                <a:t>V</a:t>
              </a:r>
              <a:r>
                <a:rPr lang="en-US" altLang="zh-CN" sz="2800" baseline="-25000">
                  <a:solidFill>
                    <a:schemeClr val="bg1"/>
                  </a:solidFill>
                  <a:latin typeface="Times New Roman" panose="02020603050405020304" pitchFamily="18" charset="0"/>
                </a:rPr>
                <a:t>3</a:t>
              </a:r>
              <a:endParaRPr lang="en-US" altLang="zh-CN" sz="2800">
                <a:solidFill>
                  <a:schemeClr val="bg1"/>
                </a:solidFill>
                <a:latin typeface="Times New Roman" panose="02020603050405020304" pitchFamily="18" charset="0"/>
              </a:endParaRPr>
            </a:p>
          </p:txBody>
        </p:sp>
        <p:sp>
          <p:nvSpPr>
            <p:cNvPr id="121" name="Oval 36"/>
            <p:cNvSpPr>
              <a:spLocks noChangeArrowheads="1"/>
            </p:cNvSpPr>
            <p:nvPr/>
          </p:nvSpPr>
          <p:spPr bwMode="auto">
            <a:xfrm>
              <a:off x="2917" y="3610"/>
              <a:ext cx="317" cy="317"/>
            </a:xfrm>
            <a:prstGeom prst="ellipse">
              <a:avLst/>
            </a:prstGeom>
            <a:gradFill rotWithShape="1">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2857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0800" tIns="28800" rIns="0" bIns="10800"/>
            <a:lstStyle/>
            <a:p>
              <a:pPr algn="ctr">
                <a:defRPr/>
              </a:pPr>
              <a:endParaRPr lang="zh-CN" altLang="en-US">
                <a:solidFill>
                  <a:schemeClr val="bg1"/>
                </a:solidFill>
                <a:latin typeface="Arial" charset="0"/>
                <a:ea typeface="华文行楷" pitchFamily="2" charset="-122"/>
              </a:endParaRPr>
            </a:p>
          </p:txBody>
        </p:sp>
        <p:sp>
          <p:nvSpPr>
            <p:cNvPr id="122" name="Text Box 37"/>
            <p:cNvSpPr txBox="1">
              <a:spLocks noChangeArrowheads="1"/>
            </p:cNvSpPr>
            <p:nvPr/>
          </p:nvSpPr>
          <p:spPr bwMode="auto">
            <a:xfrm>
              <a:off x="2959" y="3579"/>
              <a:ext cx="292" cy="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0800" tIns="28800" rIns="0" bIns="10800"/>
            <a:lstStyle>
              <a:lvl1pPr eaLnBrk="0" hangingPunct="0">
                <a:defRPr sz="1600" b="1">
                  <a:solidFill>
                    <a:schemeClr val="tx1"/>
                  </a:solidFill>
                  <a:latin typeface="Tahoma" panose="020B0604030504040204" pitchFamily="34" charset="0"/>
                  <a:ea typeface="宋体" panose="02010600030101010101" pitchFamily="2" charset="-122"/>
                </a:defRPr>
              </a:lvl1pPr>
              <a:lvl2pPr marL="742950" indent="-285750" eaLnBrk="0" hangingPunct="0">
                <a:defRPr sz="1600" b="1">
                  <a:solidFill>
                    <a:schemeClr val="tx1"/>
                  </a:solidFill>
                  <a:latin typeface="Tahoma" panose="020B0604030504040204" pitchFamily="34" charset="0"/>
                  <a:ea typeface="宋体" panose="02010600030101010101" pitchFamily="2" charset="-122"/>
                </a:defRPr>
              </a:lvl2pPr>
              <a:lvl3pPr marL="1143000" indent="-228600" eaLnBrk="0" hangingPunct="0">
                <a:defRPr sz="1600" b="1">
                  <a:solidFill>
                    <a:schemeClr val="tx1"/>
                  </a:solidFill>
                  <a:latin typeface="Tahoma" panose="020B0604030504040204" pitchFamily="34" charset="0"/>
                  <a:ea typeface="宋体" panose="02010600030101010101" pitchFamily="2" charset="-122"/>
                </a:defRPr>
              </a:lvl3pPr>
              <a:lvl4pPr marL="1600200" indent="-228600" eaLnBrk="0" hangingPunct="0">
                <a:defRPr sz="1600" b="1">
                  <a:solidFill>
                    <a:schemeClr val="tx1"/>
                  </a:solidFill>
                  <a:latin typeface="Tahoma" panose="020B0604030504040204" pitchFamily="34" charset="0"/>
                  <a:ea typeface="宋体" panose="02010600030101010101" pitchFamily="2" charset="-122"/>
                </a:defRPr>
              </a:lvl4pPr>
              <a:lvl5pPr marL="2057400" indent="-228600" eaLnBrk="0" hangingPunct="0">
                <a:defRPr sz="16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9pPr>
            </a:lstStyle>
            <a:p>
              <a:pPr algn="just"/>
              <a:r>
                <a:rPr lang="en-US" altLang="zh-CN" sz="2800" i="1">
                  <a:solidFill>
                    <a:schemeClr val="bg1"/>
                  </a:solidFill>
                  <a:latin typeface="Times New Roman" panose="02020603050405020304" pitchFamily="18" charset="0"/>
                </a:rPr>
                <a:t>V</a:t>
              </a:r>
              <a:r>
                <a:rPr lang="en-US" altLang="zh-CN" sz="2800" baseline="-25000">
                  <a:solidFill>
                    <a:schemeClr val="bg1"/>
                  </a:solidFill>
                  <a:latin typeface="Times New Roman" panose="02020603050405020304" pitchFamily="18" charset="0"/>
                </a:rPr>
                <a:t>4</a:t>
              </a:r>
              <a:endParaRPr lang="en-US" altLang="zh-CN" sz="2800">
                <a:solidFill>
                  <a:schemeClr val="bg1"/>
                </a:solidFill>
                <a:latin typeface="Times New Roman" panose="02020603050405020304" pitchFamily="18" charset="0"/>
              </a:endParaRPr>
            </a:p>
          </p:txBody>
        </p:sp>
        <p:sp>
          <p:nvSpPr>
            <p:cNvPr id="123" name="Oval 38"/>
            <p:cNvSpPr>
              <a:spLocks noChangeArrowheads="1"/>
            </p:cNvSpPr>
            <p:nvPr/>
          </p:nvSpPr>
          <p:spPr bwMode="auto">
            <a:xfrm>
              <a:off x="4113" y="3608"/>
              <a:ext cx="317" cy="317"/>
            </a:xfrm>
            <a:prstGeom prst="ellipse">
              <a:avLst/>
            </a:prstGeom>
            <a:gradFill rotWithShape="1">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2857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0800" tIns="28800" rIns="0" bIns="10800"/>
            <a:lstStyle/>
            <a:p>
              <a:pPr algn="ctr">
                <a:defRPr/>
              </a:pPr>
              <a:endParaRPr lang="zh-CN" altLang="en-US">
                <a:solidFill>
                  <a:schemeClr val="bg1"/>
                </a:solidFill>
                <a:latin typeface="Arial" charset="0"/>
                <a:ea typeface="华文行楷" pitchFamily="2" charset="-122"/>
              </a:endParaRPr>
            </a:p>
          </p:txBody>
        </p:sp>
        <p:sp>
          <p:nvSpPr>
            <p:cNvPr id="124" name="Text Box 39"/>
            <p:cNvSpPr txBox="1">
              <a:spLocks noChangeArrowheads="1"/>
            </p:cNvSpPr>
            <p:nvPr/>
          </p:nvSpPr>
          <p:spPr bwMode="auto">
            <a:xfrm>
              <a:off x="4155" y="3577"/>
              <a:ext cx="292" cy="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0800" tIns="28800" rIns="0" bIns="10800"/>
            <a:lstStyle>
              <a:lvl1pPr eaLnBrk="0" hangingPunct="0">
                <a:defRPr sz="1600" b="1">
                  <a:solidFill>
                    <a:schemeClr val="tx1"/>
                  </a:solidFill>
                  <a:latin typeface="Tahoma" panose="020B0604030504040204" pitchFamily="34" charset="0"/>
                  <a:ea typeface="宋体" panose="02010600030101010101" pitchFamily="2" charset="-122"/>
                </a:defRPr>
              </a:lvl1pPr>
              <a:lvl2pPr marL="742950" indent="-285750" eaLnBrk="0" hangingPunct="0">
                <a:defRPr sz="1600" b="1">
                  <a:solidFill>
                    <a:schemeClr val="tx1"/>
                  </a:solidFill>
                  <a:latin typeface="Tahoma" panose="020B0604030504040204" pitchFamily="34" charset="0"/>
                  <a:ea typeface="宋体" panose="02010600030101010101" pitchFamily="2" charset="-122"/>
                </a:defRPr>
              </a:lvl2pPr>
              <a:lvl3pPr marL="1143000" indent="-228600" eaLnBrk="0" hangingPunct="0">
                <a:defRPr sz="1600" b="1">
                  <a:solidFill>
                    <a:schemeClr val="tx1"/>
                  </a:solidFill>
                  <a:latin typeface="Tahoma" panose="020B0604030504040204" pitchFamily="34" charset="0"/>
                  <a:ea typeface="宋体" panose="02010600030101010101" pitchFamily="2" charset="-122"/>
                </a:defRPr>
              </a:lvl3pPr>
              <a:lvl4pPr marL="1600200" indent="-228600" eaLnBrk="0" hangingPunct="0">
                <a:defRPr sz="1600" b="1">
                  <a:solidFill>
                    <a:schemeClr val="tx1"/>
                  </a:solidFill>
                  <a:latin typeface="Tahoma" panose="020B0604030504040204" pitchFamily="34" charset="0"/>
                  <a:ea typeface="宋体" panose="02010600030101010101" pitchFamily="2" charset="-122"/>
                </a:defRPr>
              </a:lvl4pPr>
              <a:lvl5pPr marL="2057400" indent="-228600" eaLnBrk="0" hangingPunct="0">
                <a:defRPr sz="16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9pPr>
            </a:lstStyle>
            <a:p>
              <a:pPr algn="just"/>
              <a:r>
                <a:rPr lang="en-US" altLang="zh-CN" sz="2800" i="1">
                  <a:solidFill>
                    <a:schemeClr val="bg1"/>
                  </a:solidFill>
                  <a:latin typeface="Times New Roman" panose="02020603050405020304" pitchFamily="18" charset="0"/>
                </a:rPr>
                <a:t>V</a:t>
              </a:r>
              <a:r>
                <a:rPr lang="en-US" altLang="zh-CN" sz="2800" baseline="-25000">
                  <a:solidFill>
                    <a:schemeClr val="bg1"/>
                  </a:solidFill>
                  <a:latin typeface="Times New Roman" panose="02020603050405020304" pitchFamily="18" charset="0"/>
                </a:rPr>
                <a:t>5</a:t>
              </a:r>
              <a:endParaRPr lang="en-US" altLang="zh-CN" sz="2800">
                <a:solidFill>
                  <a:schemeClr val="bg1"/>
                </a:solidFill>
                <a:latin typeface="Times New Roman" panose="02020603050405020304" pitchFamily="18" charset="0"/>
              </a:endParaRPr>
            </a:p>
          </p:txBody>
        </p:sp>
        <p:sp>
          <p:nvSpPr>
            <p:cNvPr id="125" name="Oval 40"/>
            <p:cNvSpPr>
              <a:spLocks noChangeArrowheads="1"/>
            </p:cNvSpPr>
            <p:nvPr/>
          </p:nvSpPr>
          <p:spPr bwMode="auto">
            <a:xfrm>
              <a:off x="5245" y="2671"/>
              <a:ext cx="317" cy="317"/>
            </a:xfrm>
            <a:prstGeom prst="ellipse">
              <a:avLst/>
            </a:prstGeom>
            <a:gradFill rotWithShape="1">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2857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0800" tIns="28800" rIns="0" bIns="10800"/>
            <a:lstStyle/>
            <a:p>
              <a:pPr algn="ctr">
                <a:defRPr/>
              </a:pPr>
              <a:endParaRPr lang="zh-CN" altLang="en-US">
                <a:solidFill>
                  <a:schemeClr val="bg1"/>
                </a:solidFill>
                <a:latin typeface="Arial" charset="0"/>
                <a:ea typeface="华文行楷" pitchFamily="2" charset="-122"/>
              </a:endParaRPr>
            </a:p>
          </p:txBody>
        </p:sp>
        <p:sp>
          <p:nvSpPr>
            <p:cNvPr id="126" name="Text Box 41"/>
            <p:cNvSpPr txBox="1">
              <a:spLocks noChangeArrowheads="1"/>
            </p:cNvSpPr>
            <p:nvPr/>
          </p:nvSpPr>
          <p:spPr bwMode="auto">
            <a:xfrm>
              <a:off x="5288" y="2640"/>
              <a:ext cx="292" cy="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0800" tIns="28800" rIns="0" bIns="10800"/>
            <a:lstStyle>
              <a:lvl1pPr eaLnBrk="0" hangingPunct="0">
                <a:defRPr sz="1600" b="1">
                  <a:solidFill>
                    <a:schemeClr val="tx1"/>
                  </a:solidFill>
                  <a:latin typeface="Tahoma" panose="020B0604030504040204" pitchFamily="34" charset="0"/>
                  <a:ea typeface="宋体" panose="02010600030101010101" pitchFamily="2" charset="-122"/>
                </a:defRPr>
              </a:lvl1pPr>
              <a:lvl2pPr marL="742950" indent="-285750" eaLnBrk="0" hangingPunct="0">
                <a:defRPr sz="1600" b="1">
                  <a:solidFill>
                    <a:schemeClr val="tx1"/>
                  </a:solidFill>
                  <a:latin typeface="Tahoma" panose="020B0604030504040204" pitchFamily="34" charset="0"/>
                  <a:ea typeface="宋体" panose="02010600030101010101" pitchFamily="2" charset="-122"/>
                </a:defRPr>
              </a:lvl2pPr>
              <a:lvl3pPr marL="1143000" indent="-228600" eaLnBrk="0" hangingPunct="0">
                <a:defRPr sz="1600" b="1">
                  <a:solidFill>
                    <a:schemeClr val="tx1"/>
                  </a:solidFill>
                  <a:latin typeface="Tahoma" panose="020B0604030504040204" pitchFamily="34" charset="0"/>
                  <a:ea typeface="宋体" panose="02010600030101010101" pitchFamily="2" charset="-122"/>
                </a:defRPr>
              </a:lvl3pPr>
              <a:lvl4pPr marL="1600200" indent="-228600" eaLnBrk="0" hangingPunct="0">
                <a:defRPr sz="1600" b="1">
                  <a:solidFill>
                    <a:schemeClr val="tx1"/>
                  </a:solidFill>
                  <a:latin typeface="Tahoma" panose="020B0604030504040204" pitchFamily="34" charset="0"/>
                  <a:ea typeface="宋体" panose="02010600030101010101" pitchFamily="2" charset="-122"/>
                </a:defRPr>
              </a:lvl4pPr>
              <a:lvl5pPr marL="2057400" indent="-228600" eaLnBrk="0" hangingPunct="0">
                <a:defRPr sz="16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9pPr>
            </a:lstStyle>
            <a:p>
              <a:pPr algn="just"/>
              <a:r>
                <a:rPr lang="en-US" altLang="zh-CN" sz="2800" i="1">
                  <a:solidFill>
                    <a:schemeClr val="bg1"/>
                  </a:solidFill>
                  <a:latin typeface="Times New Roman" panose="02020603050405020304" pitchFamily="18" charset="0"/>
                </a:rPr>
                <a:t>V</a:t>
              </a:r>
              <a:r>
                <a:rPr lang="en-US" altLang="zh-CN" sz="2800" baseline="-25000">
                  <a:solidFill>
                    <a:schemeClr val="bg1"/>
                  </a:solidFill>
                  <a:latin typeface="Times New Roman" panose="02020603050405020304" pitchFamily="18" charset="0"/>
                </a:rPr>
                <a:t>6</a:t>
              </a:r>
              <a:endParaRPr lang="en-US" altLang="zh-CN" sz="2800">
                <a:solidFill>
                  <a:schemeClr val="bg1"/>
                </a:solidFill>
                <a:latin typeface="Times New Roman" panose="02020603050405020304" pitchFamily="18" charset="0"/>
              </a:endParaRPr>
            </a:p>
          </p:txBody>
        </p:sp>
        <p:sp>
          <p:nvSpPr>
            <p:cNvPr id="127" name="Oval 42"/>
            <p:cNvSpPr>
              <a:spLocks noChangeArrowheads="1"/>
            </p:cNvSpPr>
            <p:nvPr/>
          </p:nvSpPr>
          <p:spPr bwMode="auto">
            <a:xfrm>
              <a:off x="4919" y="3170"/>
              <a:ext cx="317" cy="317"/>
            </a:xfrm>
            <a:prstGeom prst="ellipse">
              <a:avLst/>
            </a:prstGeom>
            <a:gradFill rotWithShape="1">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2857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0800" tIns="28800" rIns="0" bIns="10800"/>
            <a:lstStyle/>
            <a:p>
              <a:pPr algn="ctr">
                <a:defRPr/>
              </a:pPr>
              <a:endParaRPr lang="zh-CN" altLang="en-US">
                <a:solidFill>
                  <a:schemeClr val="bg1"/>
                </a:solidFill>
                <a:latin typeface="Arial" charset="0"/>
                <a:ea typeface="华文行楷" pitchFamily="2" charset="-122"/>
              </a:endParaRPr>
            </a:p>
          </p:txBody>
        </p:sp>
        <p:sp>
          <p:nvSpPr>
            <p:cNvPr id="128" name="Text Box 43"/>
            <p:cNvSpPr txBox="1">
              <a:spLocks noChangeArrowheads="1"/>
            </p:cNvSpPr>
            <p:nvPr/>
          </p:nvSpPr>
          <p:spPr bwMode="auto">
            <a:xfrm>
              <a:off x="4961" y="3139"/>
              <a:ext cx="292" cy="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0800" tIns="28800" rIns="0" bIns="10800"/>
            <a:lstStyle>
              <a:lvl1pPr eaLnBrk="0" hangingPunct="0">
                <a:defRPr sz="1600" b="1">
                  <a:solidFill>
                    <a:schemeClr val="tx1"/>
                  </a:solidFill>
                  <a:latin typeface="Tahoma" panose="020B0604030504040204" pitchFamily="34" charset="0"/>
                  <a:ea typeface="宋体" panose="02010600030101010101" pitchFamily="2" charset="-122"/>
                </a:defRPr>
              </a:lvl1pPr>
              <a:lvl2pPr marL="742950" indent="-285750" eaLnBrk="0" hangingPunct="0">
                <a:defRPr sz="1600" b="1">
                  <a:solidFill>
                    <a:schemeClr val="tx1"/>
                  </a:solidFill>
                  <a:latin typeface="Tahoma" panose="020B0604030504040204" pitchFamily="34" charset="0"/>
                  <a:ea typeface="宋体" panose="02010600030101010101" pitchFamily="2" charset="-122"/>
                </a:defRPr>
              </a:lvl2pPr>
              <a:lvl3pPr marL="1143000" indent="-228600" eaLnBrk="0" hangingPunct="0">
                <a:defRPr sz="1600" b="1">
                  <a:solidFill>
                    <a:schemeClr val="tx1"/>
                  </a:solidFill>
                  <a:latin typeface="Tahoma" panose="020B0604030504040204" pitchFamily="34" charset="0"/>
                  <a:ea typeface="宋体" panose="02010600030101010101" pitchFamily="2" charset="-122"/>
                </a:defRPr>
              </a:lvl3pPr>
              <a:lvl4pPr marL="1600200" indent="-228600" eaLnBrk="0" hangingPunct="0">
                <a:defRPr sz="1600" b="1">
                  <a:solidFill>
                    <a:schemeClr val="tx1"/>
                  </a:solidFill>
                  <a:latin typeface="Tahoma" panose="020B0604030504040204" pitchFamily="34" charset="0"/>
                  <a:ea typeface="宋体" panose="02010600030101010101" pitchFamily="2" charset="-122"/>
                </a:defRPr>
              </a:lvl4pPr>
              <a:lvl5pPr marL="2057400" indent="-228600" eaLnBrk="0" hangingPunct="0">
                <a:defRPr sz="16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9pPr>
            </a:lstStyle>
            <a:p>
              <a:pPr algn="just"/>
              <a:r>
                <a:rPr lang="en-US" altLang="zh-CN" sz="2800" i="1">
                  <a:solidFill>
                    <a:schemeClr val="bg1"/>
                  </a:solidFill>
                  <a:latin typeface="Times New Roman" panose="02020603050405020304" pitchFamily="18" charset="0"/>
                </a:rPr>
                <a:t>V</a:t>
              </a:r>
              <a:r>
                <a:rPr lang="en-US" altLang="zh-CN" sz="2800" baseline="-25000">
                  <a:solidFill>
                    <a:schemeClr val="bg1"/>
                  </a:solidFill>
                  <a:latin typeface="Times New Roman" panose="02020603050405020304" pitchFamily="18" charset="0"/>
                </a:rPr>
                <a:t>7</a:t>
              </a:r>
              <a:endParaRPr lang="en-US" altLang="zh-CN" sz="2800">
                <a:solidFill>
                  <a:schemeClr val="bg1"/>
                </a:solidFill>
                <a:latin typeface="Times New Roman" panose="02020603050405020304" pitchFamily="18" charset="0"/>
              </a:endParaRPr>
            </a:p>
          </p:txBody>
        </p:sp>
        <p:sp>
          <p:nvSpPr>
            <p:cNvPr id="129" name="Line 44"/>
            <p:cNvSpPr>
              <a:spLocks noChangeShapeType="1"/>
            </p:cNvSpPr>
            <p:nvPr/>
          </p:nvSpPr>
          <p:spPr bwMode="auto">
            <a:xfrm flipV="1">
              <a:off x="4933" y="2827"/>
              <a:ext cx="318"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lIns="10800" tIns="28800" rIns="0" bIns="10800"/>
            <a:lstStyle/>
            <a:p>
              <a:endParaRPr lang="zh-CN" altLang="en-US"/>
            </a:p>
          </p:txBody>
        </p:sp>
        <p:sp>
          <p:nvSpPr>
            <p:cNvPr id="130" name="Line 45"/>
            <p:cNvSpPr>
              <a:spLocks noChangeShapeType="1"/>
            </p:cNvSpPr>
            <p:nvPr/>
          </p:nvSpPr>
          <p:spPr bwMode="auto">
            <a:xfrm>
              <a:off x="4779" y="2972"/>
              <a:ext cx="175" cy="25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lIns="10800" tIns="28800" rIns="0" bIns="10800"/>
            <a:lstStyle/>
            <a:p>
              <a:endParaRPr lang="zh-CN" altLang="en-US"/>
            </a:p>
          </p:txBody>
        </p:sp>
      </p:grpSp>
      <p:grpSp>
        <p:nvGrpSpPr>
          <p:cNvPr id="131" name="Group 89"/>
          <p:cNvGrpSpPr>
            <a:grpSpLocks/>
          </p:cNvGrpSpPr>
          <p:nvPr/>
        </p:nvGrpSpPr>
        <p:grpSpPr bwMode="auto">
          <a:xfrm>
            <a:off x="4647506" y="4460996"/>
            <a:ext cx="1554163" cy="914400"/>
            <a:chOff x="2064" y="2968"/>
            <a:chExt cx="979" cy="576"/>
          </a:xfrm>
        </p:grpSpPr>
        <p:sp>
          <p:nvSpPr>
            <p:cNvPr id="132" name="AutoShape 25"/>
            <p:cNvSpPr>
              <a:spLocks noChangeArrowheads="1"/>
            </p:cNvSpPr>
            <p:nvPr/>
          </p:nvSpPr>
          <p:spPr bwMode="auto">
            <a:xfrm>
              <a:off x="2294" y="3120"/>
              <a:ext cx="692" cy="424"/>
            </a:xfrm>
            <a:prstGeom prst="rightArrow">
              <a:avLst>
                <a:gd name="adj1" fmla="val 50000"/>
                <a:gd name="adj2" fmla="val 64312"/>
              </a:avLst>
            </a:prstGeom>
            <a:solidFill>
              <a:schemeClr val="bg2"/>
            </a:solidFill>
            <a:ln w="6350">
              <a:solidFill>
                <a:schemeClr val="tx1"/>
              </a:solidFill>
              <a:miter lim="800000"/>
              <a:headEnd/>
              <a:tailEnd/>
            </a:ln>
            <a:effectLst/>
            <a:extLst>
              <a:ext uri="{AF507438-7753-43E0-B8FC-AC1667EBCBE1}">
                <a14:hiddenEffects xmlns:a14="http://schemas.microsoft.com/office/drawing/2010/main">
                  <a:effectLst>
                    <a:outerShdw dist="107763" dir="18900000" algn="ctr" rotWithShape="0">
                      <a:schemeClr val="bg2"/>
                    </a:outerShdw>
                  </a:effectLst>
                </a14:hiddenEffects>
              </a:ext>
            </a:extLst>
          </p:spPr>
          <p:txBody>
            <a:bodyPr anchor="ctr">
              <a:spAutoFit/>
            </a:bodyPr>
            <a:lstStyle>
              <a:lvl1pPr eaLnBrk="0" hangingPunct="0">
                <a:defRPr sz="1600" b="1">
                  <a:solidFill>
                    <a:schemeClr val="tx1"/>
                  </a:solidFill>
                  <a:latin typeface="Tahoma" panose="020B0604030504040204" pitchFamily="34" charset="0"/>
                  <a:ea typeface="宋体" panose="02010600030101010101" pitchFamily="2" charset="-122"/>
                </a:defRPr>
              </a:lvl1pPr>
              <a:lvl2pPr marL="742950" indent="-285750" eaLnBrk="0" hangingPunct="0">
                <a:defRPr sz="1600" b="1">
                  <a:solidFill>
                    <a:schemeClr val="tx1"/>
                  </a:solidFill>
                  <a:latin typeface="Tahoma" panose="020B0604030504040204" pitchFamily="34" charset="0"/>
                  <a:ea typeface="宋体" panose="02010600030101010101" pitchFamily="2" charset="-122"/>
                </a:defRPr>
              </a:lvl2pPr>
              <a:lvl3pPr marL="1143000" indent="-228600" eaLnBrk="0" hangingPunct="0">
                <a:defRPr sz="1600" b="1">
                  <a:solidFill>
                    <a:schemeClr val="tx1"/>
                  </a:solidFill>
                  <a:latin typeface="Tahoma" panose="020B0604030504040204" pitchFamily="34" charset="0"/>
                  <a:ea typeface="宋体" panose="02010600030101010101" pitchFamily="2" charset="-122"/>
                </a:defRPr>
              </a:lvl3pPr>
              <a:lvl4pPr marL="1600200" indent="-228600" eaLnBrk="0" hangingPunct="0">
                <a:defRPr sz="1600" b="1">
                  <a:solidFill>
                    <a:schemeClr val="tx1"/>
                  </a:solidFill>
                  <a:latin typeface="Tahoma" panose="020B0604030504040204" pitchFamily="34" charset="0"/>
                  <a:ea typeface="宋体" panose="02010600030101010101" pitchFamily="2" charset="-122"/>
                </a:defRPr>
              </a:lvl4pPr>
              <a:lvl5pPr marL="2057400" indent="-228600" eaLnBrk="0" hangingPunct="0">
                <a:defRPr sz="16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sp>
          <p:nvSpPr>
            <p:cNvPr id="133" name="Text Box 87"/>
            <p:cNvSpPr txBox="1">
              <a:spLocks noChangeArrowheads="1"/>
            </p:cNvSpPr>
            <p:nvPr/>
          </p:nvSpPr>
          <p:spPr bwMode="auto">
            <a:xfrm>
              <a:off x="2064" y="2968"/>
              <a:ext cx="979" cy="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pPr algn="ctr">
                <a:spcBef>
                  <a:spcPct val="50000"/>
                </a:spcBef>
                <a:defRPr/>
              </a:pPr>
              <a:r>
                <a:rPr kumimoji="1" lang="zh-CN" altLang="en-US" sz="1600" dirty="0">
                  <a:latin typeface="微软雅黑" pitchFamily="34" charset="-122"/>
                  <a:ea typeface="微软雅黑" pitchFamily="34" charset="-122"/>
                  <a:cs typeface="经典粗黑简" pitchFamily="49" charset="-122"/>
                </a:rPr>
                <a:t>生成森林</a:t>
              </a:r>
            </a:p>
          </p:txBody>
        </p:sp>
      </p:grpSp>
      <p:sp>
        <p:nvSpPr>
          <p:cNvPr id="2" name="矩形 1">
            <a:extLst>
              <a:ext uri="{FF2B5EF4-FFF2-40B4-BE49-F238E27FC236}">
                <a16:creationId xmlns:a16="http://schemas.microsoft.com/office/drawing/2014/main" id="{32A469F2-3957-1227-A658-0D9F58D1A8C2}"/>
              </a:ext>
            </a:extLst>
          </p:cNvPr>
          <p:cNvSpPr/>
          <p:nvPr/>
        </p:nvSpPr>
        <p:spPr>
          <a:xfrm>
            <a:off x="4421120" y="339686"/>
            <a:ext cx="3637792"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8.1 </a:t>
            </a:r>
            <a:r>
              <a:rPr lang="zh-CN" altLang="en-US" sz="3000" b="1" dirty="0">
                <a:latin typeface="黑体" pitchFamily="49" charset="-122"/>
                <a:ea typeface="黑体" pitchFamily="49" charset="-122"/>
                <a:cs typeface="经典粗黑简" pitchFamily="49" charset="-122"/>
              </a:rPr>
              <a:t>图的基本概念</a:t>
            </a:r>
          </a:p>
        </p:txBody>
      </p:sp>
      <p:sp>
        <p:nvSpPr>
          <p:cNvPr id="3" name="Rectangle 2">
            <a:extLst>
              <a:ext uri="{FF2B5EF4-FFF2-40B4-BE49-F238E27FC236}">
                <a16:creationId xmlns:a16="http://schemas.microsoft.com/office/drawing/2014/main" id="{9AB3EC98-38E9-3622-0914-C138F140E933}"/>
              </a:ext>
            </a:extLst>
          </p:cNvPr>
          <p:cNvSpPr txBox="1">
            <a:spLocks noChangeArrowheads="1"/>
          </p:cNvSpPr>
          <p:nvPr/>
        </p:nvSpPr>
        <p:spPr>
          <a:xfrm>
            <a:off x="407368" y="1167247"/>
            <a:ext cx="3528392"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8.1.2 </a:t>
            </a:r>
            <a:r>
              <a:rPr lang="zh-CN" altLang="en-US" dirty="0"/>
              <a:t>图的基本术语</a:t>
            </a:r>
          </a:p>
        </p:txBody>
      </p:sp>
      <p:cxnSp>
        <p:nvCxnSpPr>
          <p:cNvPr id="4" name="直接连接符 3">
            <a:extLst>
              <a:ext uri="{FF2B5EF4-FFF2-40B4-BE49-F238E27FC236}">
                <a16:creationId xmlns:a16="http://schemas.microsoft.com/office/drawing/2014/main" id="{BB9BC492-87E4-D1D6-C670-75F1CEB8D00C}"/>
              </a:ext>
            </a:extLst>
          </p:cNvPr>
          <p:cNvCxnSpPr>
            <a:cxnSpLocks/>
          </p:cNvCxnSpPr>
          <p:nvPr/>
        </p:nvCxnSpPr>
        <p:spPr>
          <a:xfrm>
            <a:off x="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562764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31"/>
                                        </p:tgtEl>
                                        <p:attrNameLst>
                                          <p:attrName>style.visibility</p:attrName>
                                        </p:attrNameLst>
                                      </p:cBhvr>
                                      <p:to>
                                        <p:strVal val="visible"/>
                                      </p:to>
                                    </p:set>
                                    <p:animEffect transition="in" filter="wipe(left)">
                                      <p:cBhvr>
                                        <p:cTn id="7" dur="500"/>
                                        <p:tgtEl>
                                          <p:spTgt spid="131"/>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1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903662" y="2883344"/>
            <a:ext cx="6864747" cy="923330"/>
          </a:xfrm>
          <a:prstGeom prst="rect">
            <a:avLst/>
          </a:prstGeom>
        </p:spPr>
        <p:txBody>
          <a:bodyPr wrap="square">
            <a:spAutoFit/>
          </a:bodyPr>
          <a:lstStyle/>
          <a:p>
            <a:r>
              <a:rPr kumimoji="1" lang="zh-CN" altLang="en-US" dirty="0">
                <a:latin typeface="微软雅黑" pitchFamily="34" charset="-122"/>
                <a:ea typeface="微软雅黑" pitchFamily="34" charset="-122"/>
                <a:cs typeface="经典粗黑简" pitchFamily="49" charset="-122"/>
              </a:rPr>
              <a:t>如果一个有向图恰有一个顶点的入度为</a:t>
            </a:r>
            <a:r>
              <a:rPr kumimoji="1" lang="en-US" altLang="zh-CN" dirty="0">
                <a:latin typeface="微软雅黑" pitchFamily="34" charset="-122"/>
                <a:ea typeface="微软雅黑" pitchFamily="34" charset="-122"/>
                <a:cs typeface="经典粗黑简" pitchFamily="49" charset="-122"/>
              </a:rPr>
              <a:t>0</a:t>
            </a:r>
            <a:r>
              <a:rPr kumimoji="1" lang="zh-CN" altLang="en-US" dirty="0">
                <a:latin typeface="微软雅黑" pitchFamily="34" charset="-122"/>
                <a:ea typeface="微软雅黑" pitchFamily="34" charset="-122"/>
                <a:cs typeface="经典粗黑简" pitchFamily="49" charset="-122"/>
              </a:rPr>
              <a:t>，其余顶点的入度均为</a:t>
            </a:r>
            <a:r>
              <a:rPr kumimoji="1" lang="en-US" altLang="zh-CN" dirty="0">
                <a:latin typeface="微软雅黑" pitchFamily="34" charset="-122"/>
                <a:ea typeface="微软雅黑" pitchFamily="34" charset="-122"/>
                <a:cs typeface="经典粗黑简" pitchFamily="49" charset="-122"/>
              </a:rPr>
              <a:t>1</a:t>
            </a:r>
            <a:r>
              <a:rPr kumimoji="1" lang="zh-CN" altLang="en-US" dirty="0">
                <a:latin typeface="微软雅黑" pitchFamily="34" charset="-122"/>
                <a:ea typeface="微软雅黑" pitchFamily="34" charset="-122"/>
                <a:cs typeface="经典粗黑简" pitchFamily="49" charset="-122"/>
              </a:rPr>
              <a:t>，则是一棵</a:t>
            </a:r>
            <a:r>
              <a:rPr kumimoji="1" lang="zh-CN" altLang="en-US" dirty="0">
                <a:solidFill>
                  <a:srgbClr val="FF0000"/>
                </a:solidFill>
                <a:latin typeface="微软雅黑" pitchFamily="34" charset="-122"/>
                <a:ea typeface="微软雅黑" pitchFamily="34" charset="-122"/>
                <a:cs typeface="经典粗黑简" pitchFamily="49" charset="-122"/>
              </a:rPr>
              <a:t>有向树</a:t>
            </a:r>
            <a:r>
              <a:rPr kumimoji="1" lang="zh-CN" altLang="en-US" dirty="0">
                <a:latin typeface="微软雅黑" pitchFamily="34" charset="-122"/>
                <a:ea typeface="微软雅黑" pitchFamily="34" charset="-122"/>
                <a:cs typeface="经典粗黑简" pitchFamily="49" charset="-122"/>
              </a:rPr>
              <a:t>，一个有向图的生成森林由若干棵有向树组成，含有图中的全部顶点，但只有足以构成若干棵不相交的有向树的弧。</a:t>
            </a:r>
            <a:endParaRPr lang="zh-CN" altLang="en-US" dirty="0"/>
          </a:p>
        </p:txBody>
      </p:sp>
      <p:grpSp>
        <p:nvGrpSpPr>
          <p:cNvPr id="12" name="Group 4"/>
          <p:cNvGrpSpPr>
            <a:grpSpLocks/>
          </p:cNvGrpSpPr>
          <p:nvPr/>
        </p:nvGrpSpPr>
        <p:grpSpPr bwMode="auto">
          <a:xfrm>
            <a:off x="2387936" y="3955646"/>
            <a:ext cx="3529013" cy="1944688"/>
            <a:chOff x="975" y="300"/>
            <a:chExt cx="2223" cy="1225"/>
          </a:xfrm>
        </p:grpSpPr>
        <p:grpSp>
          <p:nvGrpSpPr>
            <p:cNvPr id="13" name="Group 5"/>
            <p:cNvGrpSpPr>
              <a:grpSpLocks/>
            </p:cNvGrpSpPr>
            <p:nvPr/>
          </p:nvGrpSpPr>
          <p:grpSpPr bwMode="auto">
            <a:xfrm>
              <a:off x="975" y="300"/>
              <a:ext cx="1270" cy="1225"/>
              <a:chOff x="1338" y="1434"/>
              <a:chExt cx="1270" cy="1225"/>
            </a:xfrm>
          </p:grpSpPr>
          <p:sp>
            <p:nvSpPr>
              <p:cNvPr id="22" name="Oval 6"/>
              <p:cNvSpPr>
                <a:spLocks noChangeArrowheads="1"/>
              </p:cNvSpPr>
              <p:nvPr/>
            </p:nvSpPr>
            <p:spPr bwMode="auto">
              <a:xfrm>
                <a:off x="1338" y="1434"/>
                <a:ext cx="317" cy="317"/>
              </a:xfrm>
              <a:prstGeom prst="ellipse">
                <a:avLst/>
              </a:prstGeom>
              <a:solidFill>
                <a:schemeClr val="bg1"/>
              </a:solidFill>
              <a:ln w="28575" cap="sq">
                <a:solidFill>
                  <a:srgbClr val="0033CC"/>
                </a:solidFill>
                <a:miter lim="800000"/>
                <a:headEnd type="none" w="sm" len="sm"/>
                <a:tailEnd type="none" w="sm" len="sm"/>
              </a:ln>
            </p:spPr>
            <p:txBody>
              <a:bodyPr wrap="none" tIns="0" anchorCtr="1"/>
              <a:lstStyle/>
              <a:p>
                <a:r>
                  <a:rPr lang="en-US" altLang="zh-CN"/>
                  <a:t>A</a:t>
                </a:r>
                <a:endParaRPr lang="en-US" altLang="zh-CN" baseline="-25000"/>
              </a:p>
            </p:txBody>
          </p:sp>
          <p:sp>
            <p:nvSpPr>
              <p:cNvPr id="23" name="Oval 7"/>
              <p:cNvSpPr>
                <a:spLocks noChangeArrowheads="1"/>
              </p:cNvSpPr>
              <p:nvPr/>
            </p:nvSpPr>
            <p:spPr bwMode="auto">
              <a:xfrm>
                <a:off x="2291" y="1434"/>
                <a:ext cx="317" cy="317"/>
              </a:xfrm>
              <a:prstGeom prst="ellipse">
                <a:avLst/>
              </a:prstGeom>
              <a:solidFill>
                <a:schemeClr val="bg1"/>
              </a:solidFill>
              <a:ln w="28575" cap="sq">
                <a:solidFill>
                  <a:srgbClr val="0033CC"/>
                </a:solidFill>
                <a:miter lim="800000"/>
                <a:headEnd type="none" w="sm" len="sm"/>
                <a:tailEnd type="none" w="sm" len="sm"/>
              </a:ln>
            </p:spPr>
            <p:txBody>
              <a:bodyPr wrap="none" tIns="0" anchorCtr="1"/>
              <a:lstStyle/>
              <a:p>
                <a:r>
                  <a:rPr lang="en-US" altLang="zh-CN"/>
                  <a:t>B</a:t>
                </a:r>
                <a:endParaRPr lang="en-US" altLang="zh-CN" baseline="-25000"/>
              </a:p>
            </p:txBody>
          </p:sp>
          <p:sp>
            <p:nvSpPr>
              <p:cNvPr id="25" name="Oval 8"/>
              <p:cNvSpPr>
                <a:spLocks noChangeArrowheads="1"/>
              </p:cNvSpPr>
              <p:nvPr/>
            </p:nvSpPr>
            <p:spPr bwMode="auto">
              <a:xfrm>
                <a:off x="1338" y="2342"/>
                <a:ext cx="317" cy="317"/>
              </a:xfrm>
              <a:prstGeom prst="ellipse">
                <a:avLst/>
              </a:prstGeom>
              <a:solidFill>
                <a:schemeClr val="bg1"/>
              </a:solidFill>
              <a:ln w="28575" cap="sq">
                <a:solidFill>
                  <a:srgbClr val="0033CC"/>
                </a:solidFill>
                <a:miter lim="800000"/>
                <a:headEnd type="none" w="sm" len="sm"/>
                <a:tailEnd type="none" w="sm" len="sm"/>
              </a:ln>
            </p:spPr>
            <p:txBody>
              <a:bodyPr wrap="none" tIns="0" anchorCtr="1"/>
              <a:lstStyle/>
              <a:p>
                <a:r>
                  <a:rPr lang="en-US" altLang="zh-CN"/>
                  <a:t>F</a:t>
                </a:r>
                <a:endParaRPr lang="en-US" altLang="zh-CN" baseline="-25000"/>
              </a:p>
            </p:txBody>
          </p:sp>
          <p:sp>
            <p:nvSpPr>
              <p:cNvPr id="26" name="Oval 9"/>
              <p:cNvSpPr>
                <a:spLocks noChangeArrowheads="1"/>
              </p:cNvSpPr>
              <p:nvPr/>
            </p:nvSpPr>
            <p:spPr bwMode="auto">
              <a:xfrm>
                <a:off x="2290" y="2341"/>
                <a:ext cx="317" cy="317"/>
              </a:xfrm>
              <a:prstGeom prst="ellipse">
                <a:avLst/>
              </a:prstGeom>
              <a:solidFill>
                <a:schemeClr val="bg1"/>
              </a:solidFill>
              <a:ln w="28575" cap="sq">
                <a:solidFill>
                  <a:srgbClr val="0033CC"/>
                </a:solidFill>
                <a:miter lim="800000"/>
                <a:headEnd type="none" w="sm" len="sm"/>
                <a:tailEnd type="none" w="sm" len="sm"/>
              </a:ln>
            </p:spPr>
            <p:txBody>
              <a:bodyPr wrap="none" tIns="0" anchorCtr="1"/>
              <a:lstStyle/>
              <a:p>
                <a:r>
                  <a:rPr lang="en-US" altLang="zh-CN"/>
                  <a:t>E</a:t>
                </a:r>
                <a:endParaRPr lang="en-US" altLang="zh-CN" baseline="-25000"/>
              </a:p>
            </p:txBody>
          </p:sp>
          <p:sp>
            <p:nvSpPr>
              <p:cNvPr id="27" name="Line 10"/>
              <p:cNvSpPr>
                <a:spLocks noChangeShapeType="1"/>
              </p:cNvSpPr>
              <p:nvPr/>
            </p:nvSpPr>
            <p:spPr bwMode="auto">
              <a:xfrm>
                <a:off x="1655" y="1616"/>
                <a:ext cx="635" cy="0"/>
              </a:xfrm>
              <a:prstGeom prst="line">
                <a:avLst/>
              </a:prstGeom>
              <a:noFill/>
              <a:ln w="28575" cap="sq">
                <a:solidFill>
                  <a:srgbClr val="0033CC"/>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28" name="Line 11"/>
              <p:cNvSpPr>
                <a:spLocks noChangeShapeType="1"/>
              </p:cNvSpPr>
              <p:nvPr/>
            </p:nvSpPr>
            <p:spPr bwMode="auto">
              <a:xfrm>
                <a:off x="1655" y="2523"/>
                <a:ext cx="635" cy="0"/>
              </a:xfrm>
              <a:prstGeom prst="line">
                <a:avLst/>
              </a:prstGeom>
              <a:noFill/>
              <a:ln w="28575" cap="sq">
                <a:solidFill>
                  <a:srgbClr val="0033CC"/>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29" name="Line 12"/>
              <p:cNvSpPr>
                <a:spLocks noChangeShapeType="1"/>
              </p:cNvSpPr>
              <p:nvPr/>
            </p:nvSpPr>
            <p:spPr bwMode="auto">
              <a:xfrm>
                <a:off x="1474" y="1752"/>
                <a:ext cx="0" cy="589"/>
              </a:xfrm>
              <a:prstGeom prst="line">
                <a:avLst/>
              </a:prstGeom>
              <a:noFill/>
              <a:ln w="28575" cap="sq">
                <a:solidFill>
                  <a:srgbClr val="0033CC"/>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30" name="Line 13"/>
              <p:cNvSpPr>
                <a:spLocks noChangeShapeType="1"/>
              </p:cNvSpPr>
              <p:nvPr/>
            </p:nvSpPr>
            <p:spPr bwMode="auto">
              <a:xfrm flipH="1" flipV="1">
                <a:off x="1610" y="1706"/>
                <a:ext cx="771" cy="635"/>
              </a:xfrm>
              <a:prstGeom prst="line">
                <a:avLst/>
              </a:prstGeom>
              <a:noFill/>
              <a:ln w="28575" cap="sq">
                <a:solidFill>
                  <a:srgbClr val="0033CC"/>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sp>
          <p:nvSpPr>
            <p:cNvPr id="14" name="Oval 14"/>
            <p:cNvSpPr>
              <a:spLocks noChangeArrowheads="1"/>
            </p:cNvSpPr>
            <p:nvPr/>
          </p:nvSpPr>
          <p:spPr bwMode="auto">
            <a:xfrm>
              <a:off x="2881" y="300"/>
              <a:ext cx="317" cy="317"/>
            </a:xfrm>
            <a:prstGeom prst="ellipse">
              <a:avLst/>
            </a:prstGeom>
            <a:solidFill>
              <a:schemeClr val="bg1"/>
            </a:solidFill>
            <a:ln w="28575" cap="sq">
              <a:solidFill>
                <a:srgbClr val="0033CC"/>
              </a:solidFill>
              <a:miter lim="800000"/>
              <a:headEnd type="none" w="sm" len="sm"/>
              <a:tailEnd type="none" w="sm" len="sm"/>
            </a:ln>
          </p:spPr>
          <p:txBody>
            <a:bodyPr wrap="none" tIns="0" anchorCtr="1"/>
            <a:lstStyle/>
            <a:p>
              <a:r>
                <a:rPr lang="en-US" altLang="zh-CN"/>
                <a:t>C</a:t>
              </a:r>
              <a:endParaRPr lang="en-US" altLang="zh-CN" baseline="-25000"/>
            </a:p>
          </p:txBody>
        </p:sp>
        <p:sp>
          <p:nvSpPr>
            <p:cNvPr id="15" name="Oval 15"/>
            <p:cNvSpPr>
              <a:spLocks noChangeArrowheads="1"/>
            </p:cNvSpPr>
            <p:nvPr/>
          </p:nvSpPr>
          <p:spPr bwMode="auto">
            <a:xfrm>
              <a:off x="2880" y="1207"/>
              <a:ext cx="317" cy="317"/>
            </a:xfrm>
            <a:prstGeom prst="ellipse">
              <a:avLst/>
            </a:prstGeom>
            <a:solidFill>
              <a:schemeClr val="bg1"/>
            </a:solidFill>
            <a:ln w="28575" cap="sq">
              <a:solidFill>
                <a:srgbClr val="0033CC"/>
              </a:solidFill>
              <a:miter lim="800000"/>
              <a:headEnd type="none" w="sm" len="sm"/>
              <a:tailEnd type="none" w="sm" len="sm"/>
            </a:ln>
          </p:spPr>
          <p:txBody>
            <a:bodyPr wrap="none" tIns="0" anchorCtr="1"/>
            <a:lstStyle/>
            <a:p>
              <a:r>
                <a:rPr lang="en-US" altLang="zh-CN"/>
                <a:t>D</a:t>
              </a:r>
              <a:endParaRPr lang="en-US" altLang="zh-CN" baseline="-25000"/>
            </a:p>
          </p:txBody>
        </p:sp>
        <p:sp>
          <p:nvSpPr>
            <p:cNvPr id="16" name="Line 16"/>
            <p:cNvSpPr>
              <a:spLocks noChangeShapeType="1"/>
            </p:cNvSpPr>
            <p:nvPr/>
          </p:nvSpPr>
          <p:spPr bwMode="auto">
            <a:xfrm flipV="1">
              <a:off x="1228" y="540"/>
              <a:ext cx="726" cy="703"/>
            </a:xfrm>
            <a:prstGeom prst="line">
              <a:avLst/>
            </a:prstGeom>
            <a:noFill/>
            <a:ln w="28575" cap="sq">
              <a:solidFill>
                <a:srgbClr val="0033CC"/>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7" name="Line 17"/>
            <p:cNvSpPr>
              <a:spLocks noChangeShapeType="1"/>
            </p:cNvSpPr>
            <p:nvPr/>
          </p:nvSpPr>
          <p:spPr bwMode="auto">
            <a:xfrm flipV="1">
              <a:off x="2109" y="618"/>
              <a:ext cx="0" cy="589"/>
            </a:xfrm>
            <a:prstGeom prst="line">
              <a:avLst/>
            </a:prstGeom>
            <a:noFill/>
            <a:ln w="28575" cap="sq">
              <a:solidFill>
                <a:srgbClr val="0033CC"/>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8" name="Line 18"/>
            <p:cNvSpPr>
              <a:spLocks noChangeShapeType="1"/>
            </p:cNvSpPr>
            <p:nvPr/>
          </p:nvSpPr>
          <p:spPr bwMode="auto">
            <a:xfrm flipH="1">
              <a:off x="2232" y="1389"/>
              <a:ext cx="635" cy="0"/>
            </a:xfrm>
            <a:prstGeom prst="line">
              <a:avLst/>
            </a:prstGeom>
            <a:noFill/>
            <a:ln w="28575" cap="sq">
              <a:solidFill>
                <a:srgbClr val="0033CC"/>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9" name="Line 19"/>
            <p:cNvSpPr>
              <a:spLocks noChangeShapeType="1"/>
            </p:cNvSpPr>
            <p:nvPr/>
          </p:nvSpPr>
          <p:spPr bwMode="auto">
            <a:xfrm flipH="1">
              <a:off x="2245" y="436"/>
              <a:ext cx="635" cy="0"/>
            </a:xfrm>
            <a:prstGeom prst="line">
              <a:avLst/>
            </a:prstGeom>
            <a:noFill/>
            <a:ln w="28575" cap="sq">
              <a:solidFill>
                <a:srgbClr val="0033CC"/>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20" name="Line 20"/>
            <p:cNvSpPr>
              <a:spLocks noChangeShapeType="1"/>
            </p:cNvSpPr>
            <p:nvPr/>
          </p:nvSpPr>
          <p:spPr bwMode="auto">
            <a:xfrm flipV="1">
              <a:off x="3048" y="618"/>
              <a:ext cx="0" cy="589"/>
            </a:xfrm>
            <a:prstGeom prst="line">
              <a:avLst/>
            </a:prstGeom>
            <a:noFill/>
            <a:ln w="28575" cap="sq">
              <a:solidFill>
                <a:srgbClr val="0033CC"/>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21" name="Line 21"/>
            <p:cNvSpPr>
              <a:spLocks noChangeShapeType="1"/>
            </p:cNvSpPr>
            <p:nvPr/>
          </p:nvSpPr>
          <p:spPr bwMode="auto">
            <a:xfrm flipH="1">
              <a:off x="2245" y="572"/>
              <a:ext cx="680" cy="748"/>
            </a:xfrm>
            <a:prstGeom prst="line">
              <a:avLst/>
            </a:prstGeom>
            <a:noFill/>
            <a:ln w="28575" cap="sq">
              <a:solidFill>
                <a:srgbClr val="0033CC"/>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31" name="Group 22"/>
          <p:cNvGrpSpPr>
            <a:grpSpLocks/>
          </p:cNvGrpSpPr>
          <p:nvPr/>
        </p:nvGrpSpPr>
        <p:grpSpPr bwMode="auto">
          <a:xfrm>
            <a:off x="6600499" y="3970954"/>
            <a:ext cx="2016125" cy="1944687"/>
            <a:chOff x="2699" y="1933"/>
            <a:chExt cx="1270" cy="1225"/>
          </a:xfrm>
        </p:grpSpPr>
        <p:sp>
          <p:nvSpPr>
            <p:cNvPr id="32" name="Oval 23"/>
            <p:cNvSpPr>
              <a:spLocks noChangeArrowheads="1"/>
            </p:cNvSpPr>
            <p:nvPr/>
          </p:nvSpPr>
          <p:spPr bwMode="auto">
            <a:xfrm>
              <a:off x="2699" y="1933"/>
              <a:ext cx="317" cy="317"/>
            </a:xfrm>
            <a:prstGeom prst="ellipse">
              <a:avLst/>
            </a:prstGeom>
            <a:solidFill>
              <a:schemeClr val="bg1"/>
            </a:solidFill>
            <a:ln w="28575" cap="sq">
              <a:solidFill>
                <a:srgbClr val="0033CC"/>
              </a:solidFill>
              <a:miter lim="800000"/>
              <a:headEnd type="none" w="sm" len="sm"/>
              <a:tailEnd type="none" w="sm" len="sm"/>
            </a:ln>
          </p:spPr>
          <p:txBody>
            <a:bodyPr wrap="none" tIns="0" anchorCtr="1"/>
            <a:lstStyle/>
            <a:p>
              <a:r>
                <a:rPr lang="en-US" altLang="zh-CN"/>
                <a:t>A</a:t>
              </a:r>
              <a:endParaRPr lang="en-US" altLang="zh-CN" baseline="-25000"/>
            </a:p>
          </p:txBody>
        </p:sp>
        <p:sp>
          <p:nvSpPr>
            <p:cNvPr id="33" name="Oval 24"/>
            <p:cNvSpPr>
              <a:spLocks noChangeArrowheads="1"/>
            </p:cNvSpPr>
            <p:nvPr/>
          </p:nvSpPr>
          <p:spPr bwMode="auto">
            <a:xfrm>
              <a:off x="3652" y="1933"/>
              <a:ext cx="317" cy="317"/>
            </a:xfrm>
            <a:prstGeom prst="ellipse">
              <a:avLst/>
            </a:prstGeom>
            <a:solidFill>
              <a:schemeClr val="bg1"/>
            </a:solidFill>
            <a:ln w="28575" cap="sq">
              <a:solidFill>
                <a:srgbClr val="0033CC"/>
              </a:solidFill>
              <a:miter lim="800000"/>
              <a:headEnd type="none" w="sm" len="sm"/>
              <a:tailEnd type="none" w="sm" len="sm"/>
            </a:ln>
          </p:spPr>
          <p:txBody>
            <a:bodyPr wrap="none" tIns="0" anchorCtr="1"/>
            <a:lstStyle/>
            <a:p>
              <a:r>
                <a:rPr lang="en-US" altLang="zh-CN"/>
                <a:t>B</a:t>
              </a:r>
              <a:endParaRPr lang="en-US" altLang="zh-CN" baseline="-25000"/>
            </a:p>
          </p:txBody>
        </p:sp>
        <p:sp>
          <p:nvSpPr>
            <p:cNvPr id="34" name="Oval 25"/>
            <p:cNvSpPr>
              <a:spLocks noChangeArrowheads="1"/>
            </p:cNvSpPr>
            <p:nvPr/>
          </p:nvSpPr>
          <p:spPr bwMode="auto">
            <a:xfrm>
              <a:off x="2699" y="2841"/>
              <a:ext cx="317" cy="317"/>
            </a:xfrm>
            <a:prstGeom prst="ellipse">
              <a:avLst/>
            </a:prstGeom>
            <a:solidFill>
              <a:schemeClr val="bg1"/>
            </a:solidFill>
            <a:ln w="28575" cap="sq">
              <a:solidFill>
                <a:srgbClr val="0033CC"/>
              </a:solidFill>
              <a:miter lim="800000"/>
              <a:headEnd type="none" w="sm" len="sm"/>
              <a:tailEnd type="none" w="sm" len="sm"/>
            </a:ln>
          </p:spPr>
          <p:txBody>
            <a:bodyPr wrap="none" tIns="0" anchorCtr="1"/>
            <a:lstStyle/>
            <a:p>
              <a:r>
                <a:rPr lang="en-US" altLang="zh-CN"/>
                <a:t>F</a:t>
              </a:r>
              <a:endParaRPr lang="en-US" altLang="zh-CN" baseline="-25000"/>
            </a:p>
          </p:txBody>
        </p:sp>
        <p:sp>
          <p:nvSpPr>
            <p:cNvPr id="35" name="Oval 26"/>
            <p:cNvSpPr>
              <a:spLocks noChangeArrowheads="1"/>
            </p:cNvSpPr>
            <p:nvPr/>
          </p:nvSpPr>
          <p:spPr bwMode="auto">
            <a:xfrm>
              <a:off x="3651" y="2840"/>
              <a:ext cx="317" cy="317"/>
            </a:xfrm>
            <a:prstGeom prst="ellipse">
              <a:avLst/>
            </a:prstGeom>
            <a:solidFill>
              <a:schemeClr val="bg1"/>
            </a:solidFill>
            <a:ln w="28575" cap="sq">
              <a:solidFill>
                <a:srgbClr val="0033CC"/>
              </a:solidFill>
              <a:miter lim="800000"/>
              <a:headEnd type="none" w="sm" len="sm"/>
              <a:tailEnd type="none" w="sm" len="sm"/>
            </a:ln>
          </p:spPr>
          <p:txBody>
            <a:bodyPr wrap="none" tIns="0" anchorCtr="1"/>
            <a:lstStyle/>
            <a:p>
              <a:r>
                <a:rPr lang="en-US" altLang="zh-CN"/>
                <a:t>E</a:t>
              </a:r>
              <a:endParaRPr lang="en-US" altLang="zh-CN" baseline="-25000"/>
            </a:p>
          </p:txBody>
        </p:sp>
        <p:sp>
          <p:nvSpPr>
            <p:cNvPr id="36" name="Line 27"/>
            <p:cNvSpPr>
              <a:spLocks noChangeShapeType="1"/>
            </p:cNvSpPr>
            <p:nvPr/>
          </p:nvSpPr>
          <p:spPr bwMode="auto">
            <a:xfrm>
              <a:off x="3016" y="2115"/>
              <a:ext cx="635" cy="0"/>
            </a:xfrm>
            <a:prstGeom prst="line">
              <a:avLst/>
            </a:prstGeom>
            <a:noFill/>
            <a:ln w="28575" cap="sq">
              <a:solidFill>
                <a:srgbClr val="0033CC"/>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37" name="Line 28"/>
            <p:cNvSpPr>
              <a:spLocks noChangeShapeType="1"/>
            </p:cNvSpPr>
            <p:nvPr/>
          </p:nvSpPr>
          <p:spPr bwMode="auto">
            <a:xfrm>
              <a:off x="3016" y="3022"/>
              <a:ext cx="635" cy="0"/>
            </a:xfrm>
            <a:prstGeom prst="line">
              <a:avLst/>
            </a:prstGeom>
            <a:noFill/>
            <a:ln w="28575" cap="sq">
              <a:solidFill>
                <a:srgbClr val="0033CC"/>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38" name="Line 29"/>
            <p:cNvSpPr>
              <a:spLocks noChangeShapeType="1"/>
            </p:cNvSpPr>
            <p:nvPr/>
          </p:nvSpPr>
          <p:spPr bwMode="auto">
            <a:xfrm>
              <a:off x="2835" y="2251"/>
              <a:ext cx="0" cy="589"/>
            </a:xfrm>
            <a:prstGeom prst="line">
              <a:avLst/>
            </a:prstGeom>
            <a:noFill/>
            <a:ln w="28575" cap="sq">
              <a:solidFill>
                <a:srgbClr val="0033CC"/>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39" name="Group 30"/>
          <p:cNvGrpSpPr>
            <a:grpSpLocks/>
          </p:cNvGrpSpPr>
          <p:nvPr/>
        </p:nvGrpSpPr>
        <p:grpSpPr bwMode="auto">
          <a:xfrm>
            <a:off x="9263584" y="3933056"/>
            <a:ext cx="504825" cy="1943100"/>
            <a:chOff x="4604" y="1933"/>
            <a:chExt cx="318" cy="1224"/>
          </a:xfrm>
        </p:grpSpPr>
        <p:sp>
          <p:nvSpPr>
            <p:cNvPr id="40" name="Oval 31"/>
            <p:cNvSpPr>
              <a:spLocks noChangeArrowheads="1"/>
            </p:cNvSpPr>
            <p:nvPr/>
          </p:nvSpPr>
          <p:spPr bwMode="auto">
            <a:xfrm>
              <a:off x="4605" y="1933"/>
              <a:ext cx="317" cy="317"/>
            </a:xfrm>
            <a:prstGeom prst="ellipse">
              <a:avLst/>
            </a:prstGeom>
            <a:solidFill>
              <a:schemeClr val="bg1"/>
            </a:solidFill>
            <a:ln w="28575" cap="sq">
              <a:solidFill>
                <a:srgbClr val="0033CC"/>
              </a:solidFill>
              <a:miter lim="800000"/>
              <a:headEnd type="none" w="sm" len="sm"/>
              <a:tailEnd type="none" w="sm" len="sm"/>
            </a:ln>
          </p:spPr>
          <p:txBody>
            <a:bodyPr wrap="none" tIns="0" anchorCtr="1"/>
            <a:lstStyle/>
            <a:p>
              <a:r>
                <a:rPr lang="en-US" altLang="zh-CN"/>
                <a:t>C</a:t>
              </a:r>
              <a:endParaRPr lang="en-US" altLang="zh-CN" baseline="-25000"/>
            </a:p>
          </p:txBody>
        </p:sp>
        <p:sp>
          <p:nvSpPr>
            <p:cNvPr id="41" name="Oval 32"/>
            <p:cNvSpPr>
              <a:spLocks noChangeArrowheads="1"/>
            </p:cNvSpPr>
            <p:nvPr/>
          </p:nvSpPr>
          <p:spPr bwMode="auto">
            <a:xfrm>
              <a:off x="4604" y="2840"/>
              <a:ext cx="317" cy="317"/>
            </a:xfrm>
            <a:prstGeom prst="ellipse">
              <a:avLst/>
            </a:prstGeom>
            <a:solidFill>
              <a:schemeClr val="bg1"/>
            </a:solidFill>
            <a:ln w="28575" cap="sq">
              <a:solidFill>
                <a:srgbClr val="0033CC"/>
              </a:solidFill>
              <a:miter lim="800000"/>
              <a:headEnd type="none" w="sm" len="sm"/>
              <a:tailEnd type="none" w="sm" len="sm"/>
            </a:ln>
          </p:spPr>
          <p:txBody>
            <a:bodyPr wrap="none" tIns="0" anchorCtr="1"/>
            <a:lstStyle/>
            <a:p>
              <a:r>
                <a:rPr lang="en-US" altLang="zh-CN"/>
                <a:t>D</a:t>
              </a:r>
              <a:endParaRPr lang="en-US" altLang="zh-CN" baseline="-25000"/>
            </a:p>
          </p:txBody>
        </p:sp>
        <p:sp>
          <p:nvSpPr>
            <p:cNvPr id="42" name="Line 33"/>
            <p:cNvSpPr>
              <a:spLocks noChangeShapeType="1"/>
            </p:cNvSpPr>
            <p:nvPr/>
          </p:nvSpPr>
          <p:spPr bwMode="auto">
            <a:xfrm flipV="1">
              <a:off x="4772" y="2251"/>
              <a:ext cx="0" cy="589"/>
            </a:xfrm>
            <a:prstGeom prst="line">
              <a:avLst/>
            </a:prstGeom>
            <a:noFill/>
            <a:ln w="28575" cap="sq">
              <a:solidFill>
                <a:srgbClr val="0033CC"/>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sp>
        <p:nvSpPr>
          <p:cNvPr id="47" name="矩形 46"/>
          <p:cNvSpPr/>
          <p:nvPr/>
        </p:nvSpPr>
        <p:spPr>
          <a:xfrm>
            <a:off x="3071665" y="2390668"/>
            <a:ext cx="2749471" cy="400110"/>
          </a:xfrm>
          <a:prstGeom prst="rect">
            <a:avLst/>
          </a:prstGeom>
        </p:spPr>
        <p:txBody>
          <a:bodyPr wrap="none">
            <a:spAutoFit/>
          </a:bodyPr>
          <a:lstStyle/>
          <a:p>
            <a:r>
              <a:rPr kumimoji="1" lang="en-US" altLang="zh-CN" sz="2000" dirty="0">
                <a:latin typeface="微软雅黑" pitchFamily="34" charset="-122"/>
                <a:ea typeface="微软雅黑" pitchFamily="34" charset="-122"/>
                <a:cs typeface="经典粗黑简" pitchFamily="49" charset="-122"/>
              </a:rPr>
              <a:t>⑽</a:t>
            </a:r>
            <a:r>
              <a:rPr kumimoji="1" lang="zh-CN" altLang="en-US" sz="2000" dirty="0">
                <a:latin typeface="微软雅黑" pitchFamily="34" charset="-122"/>
                <a:ea typeface="微软雅黑" pitchFamily="34" charset="-122"/>
                <a:cs typeface="经典粗黑简" pitchFamily="49" charset="-122"/>
              </a:rPr>
              <a:t>、生成树和生成森林</a:t>
            </a:r>
          </a:p>
        </p:txBody>
      </p:sp>
      <p:sp>
        <p:nvSpPr>
          <p:cNvPr id="2" name="矩形 1">
            <a:extLst>
              <a:ext uri="{FF2B5EF4-FFF2-40B4-BE49-F238E27FC236}">
                <a16:creationId xmlns:a16="http://schemas.microsoft.com/office/drawing/2014/main" id="{8CAA077E-D020-C73C-962E-7C3BC374399B}"/>
              </a:ext>
            </a:extLst>
          </p:cNvPr>
          <p:cNvSpPr/>
          <p:nvPr/>
        </p:nvSpPr>
        <p:spPr>
          <a:xfrm>
            <a:off x="4421120" y="339686"/>
            <a:ext cx="3637792"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8.1 </a:t>
            </a:r>
            <a:r>
              <a:rPr lang="zh-CN" altLang="en-US" sz="3000" b="1" dirty="0">
                <a:latin typeface="黑体" pitchFamily="49" charset="-122"/>
                <a:ea typeface="黑体" pitchFamily="49" charset="-122"/>
                <a:cs typeface="经典粗黑简" pitchFamily="49" charset="-122"/>
              </a:rPr>
              <a:t>图的基本概念</a:t>
            </a:r>
          </a:p>
        </p:txBody>
      </p:sp>
      <p:sp>
        <p:nvSpPr>
          <p:cNvPr id="3" name="Rectangle 2">
            <a:extLst>
              <a:ext uri="{FF2B5EF4-FFF2-40B4-BE49-F238E27FC236}">
                <a16:creationId xmlns:a16="http://schemas.microsoft.com/office/drawing/2014/main" id="{7F882D31-A6E0-3F88-4C0E-B21EC09F4FC2}"/>
              </a:ext>
            </a:extLst>
          </p:cNvPr>
          <p:cNvSpPr txBox="1">
            <a:spLocks noChangeArrowheads="1"/>
          </p:cNvSpPr>
          <p:nvPr/>
        </p:nvSpPr>
        <p:spPr>
          <a:xfrm>
            <a:off x="407368" y="1167247"/>
            <a:ext cx="3528392"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8.1.2 </a:t>
            </a:r>
            <a:r>
              <a:rPr lang="zh-CN" altLang="en-US" dirty="0"/>
              <a:t>图的基本术语</a:t>
            </a:r>
          </a:p>
        </p:txBody>
      </p:sp>
      <p:cxnSp>
        <p:nvCxnSpPr>
          <p:cNvPr id="5" name="直接连接符 4">
            <a:extLst>
              <a:ext uri="{FF2B5EF4-FFF2-40B4-BE49-F238E27FC236}">
                <a16:creationId xmlns:a16="http://schemas.microsoft.com/office/drawing/2014/main" id="{28158359-509F-D4FE-97EC-F2A33736C4E3}"/>
              </a:ext>
            </a:extLst>
          </p:cNvPr>
          <p:cNvCxnSpPr>
            <a:cxnSpLocks/>
          </p:cNvCxnSpPr>
          <p:nvPr/>
        </p:nvCxnSpPr>
        <p:spPr>
          <a:xfrm>
            <a:off x="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037739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783632" y="2428197"/>
            <a:ext cx="6840760" cy="707886"/>
          </a:xfrm>
          <a:prstGeom prst="rect">
            <a:avLst/>
          </a:prstGeom>
        </p:spPr>
        <p:txBody>
          <a:bodyPr wrap="square">
            <a:spAutoFit/>
          </a:bodyPr>
          <a:lstStyle/>
          <a:p>
            <a:r>
              <a:rPr kumimoji="1" lang="zh-CN" altLang="en-US" sz="2000" dirty="0">
                <a:latin typeface="微软雅黑" pitchFamily="34" charset="-122"/>
                <a:ea typeface="微软雅黑" pitchFamily="34" charset="-122"/>
                <a:cs typeface="经典粗黑简" pitchFamily="49" charset="-122"/>
              </a:rPr>
              <a:t>用一维数组存储图中顶点的信息，用二维数组存储图中边或弧的信息，该二维数组称为邻接矩阵。</a:t>
            </a:r>
          </a:p>
        </p:txBody>
      </p:sp>
      <p:sp>
        <p:nvSpPr>
          <p:cNvPr id="4" name="矩形 3"/>
          <p:cNvSpPr/>
          <p:nvPr/>
        </p:nvSpPr>
        <p:spPr>
          <a:xfrm>
            <a:off x="2783632" y="3284984"/>
            <a:ext cx="7056784" cy="707886"/>
          </a:xfrm>
          <a:prstGeom prst="rect">
            <a:avLst/>
          </a:prstGeom>
        </p:spPr>
        <p:txBody>
          <a:bodyPr wrap="square">
            <a:spAutoFit/>
          </a:bodyPr>
          <a:lstStyle/>
          <a:p>
            <a:r>
              <a:rPr kumimoji="1" lang="zh-CN" altLang="en-US" sz="2000" dirty="0">
                <a:latin typeface="微软雅黑" pitchFamily="34" charset="-122"/>
                <a:ea typeface="微软雅黑" pitchFamily="34" charset="-122"/>
                <a:cs typeface="经典粗黑简" pitchFamily="49" charset="-122"/>
              </a:rPr>
              <a:t>设</a:t>
            </a:r>
            <a:r>
              <a:rPr kumimoji="1" lang="en-US" altLang="zh-CN" sz="2000" dirty="0">
                <a:latin typeface="微软雅黑" pitchFamily="34" charset="-122"/>
                <a:ea typeface="微软雅黑" pitchFamily="34" charset="-122"/>
                <a:cs typeface="经典粗黑简" pitchFamily="49" charset="-122"/>
              </a:rPr>
              <a:t>G=(V,E)</a:t>
            </a:r>
            <a:r>
              <a:rPr kumimoji="1" lang="zh-CN" altLang="en-US" sz="2000" dirty="0">
                <a:latin typeface="微软雅黑" pitchFamily="34" charset="-122"/>
                <a:ea typeface="微软雅黑" pitchFamily="34" charset="-122"/>
                <a:cs typeface="经典粗黑简" pitchFamily="49" charset="-122"/>
              </a:rPr>
              <a:t>是具有</a:t>
            </a:r>
            <a:r>
              <a:rPr kumimoji="1" lang="en-US" altLang="zh-CN" sz="2000" dirty="0">
                <a:latin typeface="微软雅黑" pitchFamily="34" charset="-122"/>
                <a:ea typeface="微软雅黑" pitchFamily="34" charset="-122"/>
                <a:cs typeface="经典粗黑简" pitchFamily="49" charset="-122"/>
              </a:rPr>
              <a:t>n</a:t>
            </a:r>
            <a:r>
              <a:rPr kumimoji="1" lang="zh-CN" altLang="en-US" sz="2000" dirty="0">
                <a:latin typeface="微软雅黑" pitchFamily="34" charset="-122"/>
                <a:ea typeface="微软雅黑" pitchFamily="34" charset="-122"/>
                <a:cs typeface="经典粗黑简" pitchFamily="49" charset="-122"/>
              </a:rPr>
              <a:t>个顶点的图，则</a:t>
            </a:r>
            <a:r>
              <a:rPr kumimoji="1" lang="en-US" altLang="zh-CN" sz="2000" dirty="0">
                <a:latin typeface="微软雅黑" pitchFamily="34" charset="-122"/>
                <a:ea typeface="微软雅黑" pitchFamily="34" charset="-122"/>
                <a:cs typeface="经典粗黑简" pitchFamily="49" charset="-122"/>
              </a:rPr>
              <a:t>G</a:t>
            </a:r>
            <a:r>
              <a:rPr kumimoji="1" lang="zh-CN" altLang="en-US" sz="2000" dirty="0">
                <a:latin typeface="微软雅黑" pitchFamily="34" charset="-122"/>
                <a:ea typeface="微软雅黑" pitchFamily="34" charset="-122"/>
                <a:cs typeface="经典粗黑简" pitchFamily="49" charset="-122"/>
              </a:rPr>
              <a:t>的邻接矩阵是</a:t>
            </a:r>
            <a:r>
              <a:rPr kumimoji="1" lang="en-US" altLang="zh-CN" sz="2000" dirty="0">
                <a:latin typeface="微软雅黑" pitchFamily="34" charset="-122"/>
                <a:ea typeface="微软雅黑" pitchFamily="34" charset="-122"/>
                <a:cs typeface="经典粗黑简" pitchFamily="49" charset="-122"/>
              </a:rPr>
              <a:t>n</a:t>
            </a:r>
            <a:r>
              <a:rPr kumimoji="1" lang="zh-CN" altLang="en-US" sz="2000" dirty="0">
                <a:latin typeface="微软雅黑" pitchFamily="34" charset="-122"/>
                <a:ea typeface="微软雅黑" pitchFamily="34" charset="-122"/>
                <a:cs typeface="经典粗黑简" pitchFamily="49" charset="-122"/>
              </a:rPr>
              <a:t>阶方阵，且：</a:t>
            </a:r>
            <a:endParaRPr kumimoji="1" lang="en-US" altLang="zh-CN" sz="2000" dirty="0">
              <a:latin typeface="微软雅黑" pitchFamily="34" charset="-122"/>
              <a:ea typeface="微软雅黑" pitchFamily="34" charset="-122"/>
              <a:cs typeface="经典粗黑简" pitchFamily="49" charset="-122"/>
            </a:endParaRPr>
          </a:p>
        </p:txBody>
      </p:sp>
      <p:graphicFrame>
        <p:nvGraphicFramePr>
          <p:cNvPr id="5" name="对象 4"/>
          <p:cNvGraphicFramePr>
            <a:graphicFrameLocks noChangeAspect="1"/>
          </p:cNvGraphicFramePr>
          <p:nvPr>
            <p:extLst>
              <p:ext uri="{D42A27DB-BD31-4B8C-83A1-F6EECF244321}">
                <p14:modId xmlns:p14="http://schemas.microsoft.com/office/powerpoint/2010/main" val="2088557466"/>
              </p:ext>
            </p:extLst>
          </p:nvPr>
        </p:nvGraphicFramePr>
        <p:xfrm>
          <a:off x="2730995" y="4149081"/>
          <a:ext cx="6928123" cy="1069975"/>
        </p:xfrm>
        <a:graphic>
          <a:graphicData uri="http://schemas.openxmlformats.org/presentationml/2006/ole">
            <mc:AlternateContent xmlns:mc="http://schemas.openxmlformats.org/markup-compatibility/2006">
              <mc:Choice xmlns:v="urn:schemas-microsoft-com:vml" Requires="v">
                <p:oleObj name="公式" r:id="rId2" imgW="3504960" imgH="507960" progId="Equation.3">
                  <p:embed/>
                </p:oleObj>
              </mc:Choice>
              <mc:Fallback>
                <p:oleObj name="公式" r:id="rId2" imgW="3504960" imgH="507960" progId="Equation.3">
                  <p:embed/>
                  <p:pic>
                    <p:nvPicPr>
                      <p:cNvPr id="0" name=""/>
                      <p:cNvPicPr>
                        <a:picLocks noChangeAspect="1" noChangeArrowheads="1"/>
                      </p:cNvPicPr>
                      <p:nvPr/>
                    </p:nvPicPr>
                    <p:blipFill>
                      <a:blip r:embed="rId3"/>
                      <a:srcRect/>
                      <a:stretch>
                        <a:fillRect/>
                      </a:stretch>
                    </p:blipFill>
                    <p:spPr bwMode="auto">
                      <a:xfrm>
                        <a:off x="2730995" y="4149081"/>
                        <a:ext cx="6928123" cy="1069975"/>
                      </a:xfrm>
                      <a:prstGeom prst="rect">
                        <a:avLst/>
                      </a:prstGeom>
                      <a:noFill/>
                      <a:ln>
                        <a:noFill/>
                      </a:ln>
                    </p:spPr>
                  </p:pic>
                </p:oleObj>
              </mc:Fallback>
            </mc:AlternateContent>
          </a:graphicData>
        </a:graphic>
      </p:graphicFrame>
      <p:sp>
        <p:nvSpPr>
          <p:cNvPr id="11" name="Rectangle 2"/>
          <p:cNvSpPr txBox="1">
            <a:spLocks noChangeArrowheads="1"/>
          </p:cNvSpPr>
          <p:nvPr/>
        </p:nvSpPr>
        <p:spPr>
          <a:xfrm>
            <a:off x="474772" y="1230902"/>
            <a:ext cx="4253075"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8.2.1 </a:t>
            </a:r>
            <a:r>
              <a:rPr kumimoji="1" lang="zh-CN" altLang="en-US" dirty="0">
                <a:latin typeface="微软雅黑" pitchFamily="34" charset="-122"/>
                <a:ea typeface="微软雅黑" pitchFamily="34" charset="-122"/>
              </a:rPr>
              <a:t>邻接矩阵存储方法</a:t>
            </a:r>
            <a:endParaRPr lang="zh-CN" altLang="en-US" dirty="0"/>
          </a:p>
        </p:txBody>
      </p:sp>
      <p:sp>
        <p:nvSpPr>
          <p:cNvPr id="6" name="矩形 5">
            <a:extLst>
              <a:ext uri="{FF2B5EF4-FFF2-40B4-BE49-F238E27FC236}">
                <a16:creationId xmlns:a16="http://schemas.microsoft.com/office/drawing/2014/main" id="{D7219B54-FED3-76C8-74F2-A71183C3B559}"/>
              </a:ext>
            </a:extLst>
          </p:cNvPr>
          <p:cNvSpPr/>
          <p:nvPr/>
        </p:nvSpPr>
        <p:spPr>
          <a:xfrm>
            <a:off x="2846292" y="348366"/>
            <a:ext cx="6715440"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8.2 </a:t>
            </a:r>
            <a:r>
              <a:rPr lang="zh-CN" altLang="en-US" sz="3000" b="1" dirty="0">
                <a:latin typeface="黑体" pitchFamily="49" charset="-122"/>
                <a:ea typeface="黑体" pitchFamily="49" charset="-122"/>
                <a:cs typeface="经典粗黑简" pitchFamily="49" charset="-122"/>
              </a:rPr>
              <a:t>图的存储结构和基本运算算法</a:t>
            </a:r>
          </a:p>
        </p:txBody>
      </p:sp>
      <p:cxnSp>
        <p:nvCxnSpPr>
          <p:cNvPr id="8" name="直接连接符 7">
            <a:extLst>
              <a:ext uri="{FF2B5EF4-FFF2-40B4-BE49-F238E27FC236}">
                <a16:creationId xmlns:a16="http://schemas.microsoft.com/office/drawing/2014/main" id="{E49BE1BA-9F96-DCC6-3D24-BB81DD3E1FDC}"/>
              </a:ext>
            </a:extLst>
          </p:cNvPr>
          <p:cNvCxnSpPr>
            <a:cxnSpLocks/>
          </p:cNvCxnSpPr>
          <p:nvPr/>
        </p:nvCxnSpPr>
        <p:spPr>
          <a:xfrm>
            <a:off x="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9085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487488" y="1781714"/>
            <a:ext cx="9865096" cy="707886"/>
          </a:xfrm>
          <a:prstGeom prst="rect">
            <a:avLst/>
          </a:prstGeom>
        </p:spPr>
        <p:txBody>
          <a:bodyPr wrap="square">
            <a:spAutoFit/>
          </a:bodyPr>
          <a:lstStyle/>
          <a:p>
            <a:r>
              <a:rPr kumimoji="1" lang="zh-CN" altLang="en-US" sz="2000" dirty="0">
                <a:latin typeface="微软雅黑" pitchFamily="34" charset="-122"/>
                <a:ea typeface="微软雅黑" pitchFamily="34" charset="-122"/>
                <a:cs typeface="经典粗黑简" pitchFamily="49" charset="-122"/>
              </a:rPr>
              <a:t>用一维数组存储图中顶点的信息，用二维数组存储图中边或弧的信息，该二维数组称为邻接矩阵。</a:t>
            </a:r>
          </a:p>
        </p:txBody>
      </p:sp>
      <p:sp>
        <p:nvSpPr>
          <p:cNvPr id="7" name="矩形 6"/>
          <p:cNvSpPr/>
          <p:nvPr/>
        </p:nvSpPr>
        <p:spPr>
          <a:xfrm>
            <a:off x="1487488" y="2511067"/>
            <a:ext cx="1980029" cy="523220"/>
          </a:xfrm>
          <a:prstGeom prst="rect">
            <a:avLst/>
          </a:prstGeom>
        </p:spPr>
        <p:txBody>
          <a:bodyPr wrap="none">
            <a:spAutoFit/>
          </a:bodyPr>
          <a:lstStyle/>
          <a:p>
            <a:r>
              <a:rPr kumimoji="1" lang="zh-CN" altLang="en-US" sz="2800" dirty="0">
                <a:solidFill>
                  <a:srgbClr val="FF0000"/>
                </a:solidFill>
                <a:latin typeface="微软雅黑" pitchFamily="34" charset="-122"/>
                <a:ea typeface="微软雅黑" pitchFamily="34" charset="-122"/>
                <a:cs typeface="经典粗黑简" pitchFamily="49" charset="-122"/>
              </a:rPr>
              <a:t>类型定义：</a:t>
            </a:r>
            <a:endParaRPr lang="zh-CN" altLang="en-US" sz="2800" dirty="0">
              <a:solidFill>
                <a:srgbClr val="FF0000"/>
              </a:solidFill>
            </a:endParaRPr>
          </a:p>
        </p:txBody>
      </p:sp>
      <p:sp>
        <p:nvSpPr>
          <p:cNvPr id="4" name="Rectangle 2">
            <a:extLst>
              <a:ext uri="{FF2B5EF4-FFF2-40B4-BE49-F238E27FC236}">
                <a16:creationId xmlns:a16="http://schemas.microsoft.com/office/drawing/2014/main" id="{AD1E3A76-CD4E-552D-4C2B-76906E572F24}"/>
              </a:ext>
            </a:extLst>
          </p:cNvPr>
          <p:cNvSpPr txBox="1">
            <a:spLocks noChangeArrowheads="1"/>
          </p:cNvSpPr>
          <p:nvPr/>
        </p:nvSpPr>
        <p:spPr>
          <a:xfrm>
            <a:off x="474772" y="1230902"/>
            <a:ext cx="4253075"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8.2.1 </a:t>
            </a:r>
            <a:r>
              <a:rPr kumimoji="1" lang="zh-CN" altLang="en-US" dirty="0">
                <a:latin typeface="微软雅黑" pitchFamily="34" charset="-122"/>
                <a:ea typeface="微软雅黑" pitchFamily="34" charset="-122"/>
              </a:rPr>
              <a:t>邻接矩阵存储方法</a:t>
            </a:r>
            <a:endParaRPr lang="zh-CN" altLang="en-US" dirty="0"/>
          </a:p>
        </p:txBody>
      </p:sp>
      <p:sp>
        <p:nvSpPr>
          <p:cNvPr id="5" name="矩形 4">
            <a:extLst>
              <a:ext uri="{FF2B5EF4-FFF2-40B4-BE49-F238E27FC236}">
                <a16:creationId xmlns:a16="http://schemas.microsoft.com/office/drawing/2014/main" id="{9EBAC9B4-F32F-40BC-FA81-78D264A41E67}"/>
              </a:ext>
            </a:extLst>
          </p:cNvPr>
          <p:cNvSpPr/>
          <p:nvPr/>
        </p:nvSpPr>
        <p:spPr>
          <a:xfrm>
            <a:off x="2846292" y="348366"/>
            <a:ext cx="6715440"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8.2 </a:t>
            </a:r>
            <a:r>
              <a:rPr lang="zh-CN" altLang="en-US" sz="3000" b="1" dirty="0">
                <a:latin typeface="黑体" pitchFamily="49" charset="-122"/>
                <a:ea typeface="黑体" pitchFamily="49" charset="-122"/>
                <a:cs typeface="经典粗黑简" pitchFamily="49" charset="-122"/>
              </a:rPr>
              <a:t>图的存储结构和基本运算算法</a:t>
            </a:r>
          </a:p>
        </p:txBody>
      </p:sp>
      <p:cxnSp>
        <p:nvCxnSpPr>
          <p:cNvPr id="8" name="直接连接符 7">
            <a:extLst>
              <a:ext uri="{FF2B5EF4-FFF2-40B4-BE49-F238E27FC236}">
                <a16:creationId xmlns:a16="http://schemas.microsoft.com/office/drawing/2014/main" id="{5679BA92-6DC8-6ADC-B88B-AD0B370D7DF7}"/>
              </a:ext>
            </a:extLst>
          </p:cNvPr>
          <p:cNvCxnSpPr>
            <a:cxnSpLocks/>
          </p:cNvCxnSpPr>
          <p:nvPr/>
        </p:nvCxnSpPr>
        <p:spPr>
          <a:xfrm>
            <a:off x="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12" name="Text Box 2">
            <a:extLst>
              <a:ext uri="{FF2B5EF4-FFF2-40B4-BE49-F238E27FC236}">
                <a16:creationId xmlns:a16="http://schemas.microsoft.com/office/drawing/2014/main" id="{89621196-D665-D381-40D3-EC90E34D64DC}"/>
              </a:ext>
            </a:extLst>
          </p:cNvPr>
          <p:cNvSpPr txBox="1">
            <a:spLocks noChangeArrowheads="1"/>
          </p:cNvSpPr>
          <p:nvPr/>
        </p:nvSpPr>
        <p:spPr bwMode="auto">
          <a:xfrm>
            <a:off x="3719736" y="2276872"/>
            <a:ext cx="6105537" cy="4476574"/>
          </a:xfrm>
          <a:prstGeom prst="rect">
            <a:avLst/>
          </a:prstGeom>
          <a:solidFill>
            <a:schemeClr val="bg1">
              <a:lumMod val="95000"/>
            </a:schemeClr>
          </a:solidFill>
          <a:ln>
            <a:noFill/>
            <a:headEnd/>
            <a:tailEnd/>
          </a:ln>
          <a:effectLst/>
          <a:scene3d>
            <a:camera prst="orthographicFront">
              <a:rot lat="0" lon="0" rev="0"/>
            </a:camera>
            <a:lightRig rig="chilly" dir="t">
              <a:rot lat="0" lon="0" rev="18480000"/>
            </a:lightRig>
          </a:scene3d>
          <a:sp3d prstMaterial="clear">
            <a:bevelT h="63500"/>
          </a:sp3d>
        </p:spPr>
        <p:style>
          <a:lnRef idx="1">
            <a:schemeClr val="accent3"/>
          </a:lnRef>
          <a:fillRef idx="2">
            <a:schemeClr val="accent3"/>
          </a:fillRef>
          <a:effectRef idx="1">
            <a:schemeClr val="accent3"/>
          </a:effectRef>
          <a:fontRef idx="minor">
            <a:schemeClr val="dk1"/>
          </a:fontRef>
        </p:style>
        <p:txBody>
          <a:bodyPr wrap="square" lIns="180000" tIns="144000" rIns="180000" bIns="144000">
            <a:spAutoFit/>
          </a:bodyPr>
          <a:lstStyle/>
          <a:p>
            <a:pPr algn="just">
              <a:spcBef>
                <a:spcPct val="50000"/>
              </a:spcBef>
            </a:pPr>
            <a:r>
              <a:rPr kumimoji="1" lang="en-US" altLang="zh-CN" sz="1800" dirty="0">
                <a:solidFill>
                  <a:srgbClr val="0000FF"/>
                </a:solidFill>
                <a:latin typeface="Consolas" pitchFamily="49" charset="0"/>
                <a:ea typeface="仿宋" pitchFamily="49" charset="-122"/>
                <a:cs typeface="Consolas" pitchFamily="49" charset="0"/>
              </a:rPr>
              <a:t>#define  </a:t>
            </a:r>
            <a:r>
              <a:rPr kumimoji="1" lang="en-US" altLang="zh-CN" sz="1800" dirty="0" err="1">
                <a:solidFill>
                  <a:srgbClr val="0000FF"/>
                </a:solidFill>
                <a:latin typeface="Consolas" pitchFamily="49" charset="0"/>
                <a:ea typeface="仿宋" pitchFamily="49" charset="-122"/>
                <a:cs typeface="Consolas" pitchFamily="49" charset="0"/>
              </a:rPr>
              <a:t>MAXV</a:t>
            </a:r>
            <a:r>
              <a:rPr kumimoji="1" lang="en-US" altLang="zh-CN" sz="1800" dirty="0">
                <a:solidFill>
                  <a:srgbClr val="0000FF"/>
                </a:solidFill>
                <a:latin typeface="Consolas" pitchFamily="49" charset="0"/>
                <a:ea typeface="仿宋" pitchFamily="49" charset="-122"/>
                <a:cs typeface="Consolas" pitchFamily="49" charset="0"/>
              </a:rPr>
              <a:t>  &lt;</a:t>
            </a:r>
            <a:r>
              <a:rPr kumimoji="1" lang="zh-CN" altLang="en-US" sz="1800" dirty="0">
                <a:solidFill>
                  <a:srgbClr val="0000FF"/>
                </a:solidFill>
                <a:latin typeface="Consolas" pitchFamily="49" charset="0"/>
                <a:ea typeface="仿宋" pitchFamily="49" charset="-122"/>
                <a:cs typeface="Consolas" pitchFamily="49" charset="0"/>
              </a:rPr>
              <a:t>最大顶点个数</a:t>
            </a:r>
            <a:r>
              <a:rPr kumimoji="1" lang="en-US" altLang="zh-CN" sz="1800" dirty="0">
                <a:solidFill>
                  <a:srgbClr val="0000FF"/>
                </a:solidFill>
                <a:latin typeface="Consolas" pitchFamily="49" charset="0"/>
                <a:ea typeface="仿宋" pitchFamily="49" charset="-122"/>
                <a:cs typeface="Consolas" pitchFamily="49" charset="0"/>
              </a:rPr>
              <a:t>&gt;	</a:t>
            </a:r>
          </a:p>
          <a:p>
            <a:pPr algn="just">
              <a:spcBef>
                <a:spcPct val="50000"/>
              </a:spcBef>
            </a:pPr>
            <a:r>
              <a:rPr kumimoji="1" lang="en-US" altLang="zh-CN" sz="1800" dirty="0" err="1">
                <a:solidFill>
                  <a:srgbClr val="0000FF"/>
                </a:solidFill>
                <a:latin typeface="Consolas" pitchFamily="49" charset="0"/>
                <a:ea typeface="仿宋" pitchFamily="49" charset="-122"/>
                <a:cs typeface="Consolas" pitchFamily="49" charset="0"/>
              </a:rPr>
              <a:t>typedef</a:t>
            </a:r>
            <a:r>
              <a:rPr kumimoji="1" lang="en-US" altLang="zh-CN" sz="1800" dirty="0">
                <a:solidFill>
                  <a:srgbClr val="0000FF"/>
                </a:solidFill>
                <a:latin typeface="Consolas" pitchFamily="49" charset="0"/>
                <a:ea typeface="仿宋" pitchFamily="49" charset="-122"/>
                <a:cs typeface="Consolas" pitchFamily="49" charset="0"/>
              </a:rPr>
              <a:t> </a:t>
            </a:r>
            <a:r>
              <a:rPr kumimoji="1" lang="en-US" altLang="zh-CN" sz="1800" dirty="0" err="1">
                <a:solidFill>
                  <a:srgbClr val="0000FF"/>
                </a:solidFill>
                <a:latin typeface="Consolas" pitchFamily="49" charset="0"/>
                <a:ea typeface="仿宋" pitchFamily="49" charset="-122"/>
                <a:cs typeface="Consolas" pitchFamily="49" charset="0"/>
              </a:rPr>
              <a:t>struct</a:t>
            </a:r>
            <a:r>
              <a:rPr kumimoji="1" lang="en-US" altLang="zh-CN" sz="1800" dirty="0">
                <a:solidFill>
                  <a:srgbClr val="0000FF"/>
                </a:solidFill>
                <a:latin typeface="Consolas" pitchFamily="49" charset="0"/>
                <a:ea typeface="仿宋" pitchFamily="49" charset="-122"/>
                <a:cs typeface="Consolas" pitchFamily="49" charset="0"/>
              </a:rPr>
              <a:t> </a:t>
            </a:r>
          </a:p>
          <a:p>
            <a:pPr algn="just">
              <a:spcBef>
                <a:spcPct val="50000"/>
              </a:spcBef>
            </a:pPr>
            <a:r>
              <a:rPr kumimoji="1" lang="en-US" altLang="zh-CN" sz="1800" dirty="0">
                <a:solidFill>
                  <a:srgbClr val="0000FF"/>
                </a:solidFill>
                <a:latin typeface="Consolas" pitchFamily="49" charset="0"/>
                <a:ea typeface="仿宋" pitchFamily="49" charset="-122"/>
                <a:cs typeface="Consolas" pitchFamily="49" charset="0"/>
              </a:rPr>
              <a:t>{  int no;			</a:t>
            </a:r>
            <a:r>
              <a:rPr kumimoji="1" lang="en-US" altLang="zh-CN" sz="1800" dirty="0">
                <a:solidFill>
                  <a:srgbClr val="00B0F0"/>
                </a:solidFill>
                <a:latin typeface="Consolas" pitchFamily="49" charset="0"/>
                <a:ea typeface="仿宋" pitchFamily="49" charset="-122"/>
                <a:cs typeface="Consolas" pitchFamily="49" charset="0"/>
              </a:rPr>
              <a:t>//</a:t>
            </a:r>
            <a:r>
              <a:rPr kumimoji="1" lang="zh-CN" altLang="en-US" sz="1800" dirty="0">
                <a:solidFill>
                  <a:srgbClr val="00B0F0"/>
                </a:solidFill>
                <a:latin typeface="Consolas" pitchFamily="49" charset="0"/>
                <a:ea typeface="仿宋" pitchFamily="49" charset="-122"/>
                <a:cs typeface="Consolas" pitchFamily="49" charset="0"/>
              </a:rPr>
              <a:t>顶点编号</a:t>
            </a:r>
          </a:p>
          <a:p>
            <a:pPr algn="just">
              <a:spcBef>
                <a:spcPct val="50000"/>
              </a:spcBef>
            </a:pPr>
            <a:r>
              <a:rPr kumimoji="1" lang="zh-CN" altLang="en-US" sz="1800" dirty="0">
                <a:solidFill>
                  <a:srgbClr val="0000FF"/>
                </a:solidFill>
                <a:latin typeface="Consolas" pitchFamily="49" charset="0"/>
                <a:ea typeface="仿宋" pitchFamily="49" charset="-122"/>
                <a:cs typeface="Consolas" pitchFamily="49" charset="0"/>
              </a:rPr>
              <a:t>   </a:t>
            </a:r>
            <a:r>
              <a:rPr kumimoji="1" lang="en-US" altLang="zh-CN" sz="1800" dirty="0" err="1">
                <a:solidFill>
                  <a:srgbClr val="0000FF"/>
                </a:solidFill>
                <a:latin typeface="Consolas" pitchFamily="49" charset="0"/>
                <a:ea typeface="仿宋" pitchFamily="49" charset="-122"/>
                <a:cs typeface="Consolas" pitchFamily="49" charset="0"/>
              </a:rPr>
              <a:t>InfoType</a:t>
            </a:r>
            <a:r>
              <a:rPr kumimoji="1" lang="en-US" altLang="zh-CN" sz="1800" dirty="0">
                <a:solidFill>
                  <a:srgbClr val="0000FF"/>
                </a:solidFill>
                <a:latin typeface="Consolas" pitchFamily="49" charset="0"/>
                <a:ea typeface="仿宋" pitchFamily="49" charset="-122"/>
                <a:cs typeface="Consolas" pitchFamily="49" charset="0"/>
              </a:rPr>
              <a:t> info;		</a:t>
            </a:r>
            <a:r>
              <a:rPr kumimoji="1" lang="en-US" altLang="zh-CN" sz="1800" dirty="0">
                <a:solidFill>
                  <a:srgbClr val="00B0F0"/>
                </a:solidFill>
                <a:latin typeface="Consolas" pitchFamily="49" charset="0"/>
                <a:ea typeface="仿宋" pitchFamily="49" charset="-122"/>
                <a:cs typeface="Consolas" pitchFamily="49" charset="0"/>
              </a:rPr>
              <a:t>//</a:t>
            </a:r>
            <a:r>
              <a:rPr kumimoji="1" lang="zh-CN" altLang="en-US" sz="1800" dirty="0">
                <a:solidFill>
                  <a:srgbClr val="00B0F0"/>
                </a:solidFill>
                <a:latin typeface="Consolas" pitchFamily="49" charset="0"/>
                <a:ea typeface="仿宋" pitchFamily="49" charset="-122"/>
                <a:cs typeface="Consolas" pitchFamily="49" charset="0"/>
              </a:rPr>
              <a:t>顶点其他信息</a:t>
            </a:r>
          </a:p>
          <a:p>
            <a:pPr algn="just">
              <a:spcBef>
                <a:spcPct val="50000"/>
              </a:spcBef>
            </a:pPr>
            <a:r>
              <a:rPr kumimoji="1" lang="en-US" altLang="zh-CN" sz="1800" dirty="0">
                <a:solidFill>
                  <a:srgbClr val="0000FF"/>
                </a:solidFill>
                <a:latin typeface="Consolas" pitchFamily="49" charset="0"/>
                <a:ea typeface="仿宋" pitchFamily="49" charset="-122"/>
                <a:cs typeface="Consolas" pitchFamily="49" charset="0"/>
              </a:rPr>
              <a:t>} </a:t>
            </a:r>
            <a:r>
              <a:rPr kumimoji="1" lang="en-US" altLang="zh-CN" sz="1800" dirty="0" err="1">
                <a:solidFill>
                  <a:srgbClr val="FF00FF"/>
                </a:solidFill>
                <a:latin typeface="Consolas" pitchFamily="49" charset="0"/>
                <a:ea typeface="仿宋" pitchFamily="49" charset="-122"/>
                <a:cs typeface="Consolas" pitchFamily="49" charset="0"/>
              </a:rPr>
              <a:t>VertexType</a:t>
            </a:r>
            <a:r>
              <a:rPr kumimoji="1" lang="en-US" altLang="zh-CN" sz="1800" dirty="0">
                <a:solidFill>
                  <a:srgbClr val="0000FF"/>
                </a:solidFill>
                <a:latin typeface="Consolas" pitchFamily="49" charset="0"/>
                <a:ea typeface="仿宋" pitchFamily="49" charset="-122"/>
                <a:cs typeface="Consolas" pitchFamily="49" charset="0"/>
              </a:rPr>
              <a:t>;</a:t>
            </a:r>
            <a:endParaRPr kumimoji="1" lang="zh-CN" altLang="en-US" sz="1800" dirty="0">
              <a:solidFill>
                <a:srgbClr val="0000FF"/>
              </a:solidFill>
              <a:latin typeface="Consolas" pitchFamily="49" charset="0"/>
              <a:ea typeface="仿宋" pitchFamily="49" charset="-122"/>
              <a:cs typeface="Consolas" pitchFamily="49" charset="0"/>
            </a:endParaRPr>
          </a:p>
          <a:p>
            <a:pPr algn="just">
              <a:spcBef>
                <a:spcPts val="2400"/>
              </a:spcBef>
            </a:pPr>
            <a:r>
              <a:rPr kumimoji="1" lang="en-US" altLang="zh-CN" sz="1800" dirty="0">
                <a:solidFill>
                  <a:srgbClr val="0000FF"/>
                </a:solidFill>
                <a:latin typeface="Consolas" pitchFamily="49" charset="0"/>
                <a:ea typeface="仿宋" pitchFamily="49" charset="-122"/>
                <a:cs typeface="Consolas" pitchFamily="49" charset="0"/>
              </a:rPr>
              <a:t>typedef struct  		</a:t>
            </a:r>
            <a:r>
              <a:rPr kumimoji="1" lang="en-US" altLang="zh-CN" sz="1800" dirty="0">
                <a:solidFill>
                  <a:srgbClr val="00B0F0"/>
                </a:solidFill>
                <a:latin typeface="Consolas" pitchFamily="49" charset="0"/>
                <a:ea typeface="仿宋" pitchFamily="49" charset="-122"/>
                <a:cs typeface="Consolas" pitchFamily="49" charset="0"/>
              </a:rPr>
              <a:t>//</a:t>
            </a:r>
            <a:r>
              <a:rPr kumimoji="1" lang="zh-CN" altLang="en-US" sz="1800" dirty="0">
                <a:solidFill>
                  <a:srgbClr val="00B0F0"/>
                </a:solidFill>
                <a:latin typeface="Consolas" pitchFamily="49" charset="0"/>
                <a:ea typeface="仿宋" pitchFamily="49" charset="-122"/>
                <a:cs typeface="Consolas" pitchFamily="49" charset="0"/>
              </a:rPr>
              <a:t>图的定义</a:t>
            </a:r>
          </a:p>
          <a:p>
            <a:pPr algn="just">
              <a:spcBef>
                <a:spcPct val="50000"/>
              </a:spcBef>
            </a:pPr>
            <a:r>
              <a:rPr kumimoji="1" lang="en-US" altLang="zh-CN" sz="1800" dirty="0">
                <a:solidFill>
                  <a:srgbClr val="0000FF"/>
                </a:solidFill>
                <a:latin typeface="Consolas" pitchFamily="49" charset="0"/>
                <a:ea typeface="仿宋" pitchFamily="49" charset="-122"/>
                <a:cs typeface="Consolas" pitchFamily="49" charset="0"/>
              </a:rPr>
              <a:t>{  int edges[MAXV][MAXV]; 	</a:t>
            </a:r>
            <a:r>
              <a:rPr kumimoji="1" lang="en-US" altLang="zh-CN" sz="1800" dirty="0">
                <a:solidFill>
                  <a:srgbClr val="00B0F0"/>
                </a:solidFill>
                <a:latin typeface="Consolas" pitchFamily="49" charset="0"/>
                <a:ea typeface="仿宋" pitchFamily="49" charset="-122"/>
                <a:cs typeface="Consolas" pitchFamily="49" charset="0"/>
              </a:rPr>
              <a:t>//</a:t>
            </a:r>
            <a:r>
              <a:rPr kumimoji="1" lang="zh-CN" altLang="en-US" sz="1800" dirty="0">
                <a:solidFill>
                  <a:srgbClr val="00B0F0"/>
                </a:solidFill>
                <a:latin typeface="Consolas" pitchFamily="49" charset="0"/>
                <a:ea typeface="仿宋" pitchFamily="49" charset="-122"/>
                <a:cs typeface="Consolas" pitchFamily="49" charset="0"/>
              </a:rPr>
              <a:t>邻接矩阵</a:t>
            </a:r>
          </a:p>
          <a:p>
            <a:pPr algn="just">
              <a:spcBef>
                <a:spcPct val="50000"/>
              </a:spcBef>
            </a:pPr>
            <a:r>
              <a:rPr kumimoji="1" lang="zh-CN" altLang="en-US" sz="1800" dirty="0">
                <a:solidFill>
                  <a:srgbClr val="0000FF"/>
                </a:solidFill>
                <a:latin typeface="Consolas" pitchFamily="49" charset="0"/>
                <a:ea typeface="仿宋" pitchFamily="49" charset="-122"/>
                <a:cs typeface="Consolas" pitchFamily="49" charset="0"/>
              </a:rPr>
              <a:t>   </a:t>
            </a:r>
            <a:r>
              <a:rPr kumimoji="1" lang="en-US" altLang="zh-CN" sz="1800" dirty="0">
                <a:solidFill>
                  <a:srgbClr val="0000FF"/>
                </a:solidFill>
                <a:latin typeface="Consolas" pitchFamily="49" charset="0"/>
                <a:ea typeface="仿宋" pitchFamily="49" charset="-122"/>
                <a:cs typeface="Consolas" pitchFamily="49" charset="0"/>
              </a:rPr>
              <a:t>int n</a:t>
            </a:r>
            <a:r>
              <a:rPr kumimoji="1" lang="zh-CN" altLang="en-US" sz="1800" dirty="0">
                <a:solidFill>
                  <a:srgbClr val="0000FF"/>
                </a:solidFill>
                <a:latin typeface="Consolas" pitchFamily="49" charset="0"/>
                <a:ea typeface="仿宋" pitchFamily="49" charset="-122"/>
                <a:cs typeface="Consolas" pitchFamily="49" charset="0"/>
              </a:rPr>
              <a:t>，</a:t>
            </a:r>
            <a:r>
              <a:rPr kumimoji="1" lang="en-US" altLang="zh-CN" sz="1800" dirty="0">
                <a:solidFill>
                  <a:srgbClr val="0000FF"/>
                </a:solidFill>
                <a:latin typeface="Consolas" pitchFamily="49" charset="0"/>
                <a:ea typeface="仿宋" pitchFamily="49" charset="-122"/>
                <a:cs typeface="Consolas" pitchFamily="49" charset="0"/>
              </a:rPr>
              <a:t>e;  			</a:t>
            </a:r>
            <a:r>
              <a:rPr kumimoji="1" lang="en-US" altLang="zh-CN" sz="1800" dirty="0">
                <a:solidFill>
                  <a:srgbClr val="00B0F0"/>
                </a:solidFill>
                <a:latin typeface="Consolas" pitchFamily="49" charset="0"/>
                <a:ea typeface="仿宋" pitchFamily="49" charset="-122"/>
                <a:cs typeface="Consolas" pitchFamily="49" charset="0"/>
              </a:rPr>
              <a:t>//</a:t>
            </a:r>
            <a:r>
              <a:rPr kumimoji="1" lang="zh-CN" altLang="en-US" sz="1800" dirty="0">
                <a:solidFill>
                  <a:srgbClr val="00B0F0"/>
                </a:solidFill>
                <a:latin typeface="Consolas" pitchFamily="49" charset="0"/>
                <a:ea typeface="仿宋" pitchFamily="49" charset="-122"/>
                <a:cs typeface="Consolas" pitchFamily="49" charset="0"/>
              </a:rPr>
              <a:t>顶点数，边数</a:t>
            </a:r>
          </a:p>
          <a:p>
            <a:pPr algn="just">
              <a:spcBef>
                <a:spcPct val="50000"/>
              </a:spcBef>
            </a:pPr>
            <a:r>
              <a:rPr kumimoji="1" lang="zh-CN" altLang="en-US" sz="1800" dirty="0">
                <a:solidFill>
                  <a:srgbClr val="0000FF"/>
                </a:solidFill>
                <a:latin typeface="Consolas" pitchFamily="49" charset="0"/>
                <a:ea typeface="仿宋" pitchFamily="49" charset="-122"/>
                <a:cs typeface="Consolas" pitchFamily="49" charset="0"/>
              </a:rPr>
              <a:t>   </a:t>
            </a:r>
            <a:r>
              <a:rPr kumimoji="1" lang="en-US" altLang="zh-CN" sz="1800" dirty="0" err="1">
                <a:solidFill>
                  <a:srgbClr val="FF00FF"/>
                </a:solidFill>
                <a:latin typeface="Consolas" pitchFamily="49" charset="0"/>
                <a:ea typeface="仿宋" pitchFamily="49" charset="-122"/>
                <a:cs typeface="Consolas" pitchFamily="49" charset="0"/>
              </a:rPr>
              <a:t>VertexType</a:t>
            </a:r>
            <a:r>
              <a:rPr kumimoji="1" lang="en-US" altLang="zh-CN" sz="1800" dirty="0">
                <a:solidFill>
                  <a:srgbClr val="0000FF"/>
                </a:solidFill>
                <a:latin typeface="Consolas" pitchFamily="49" charset="0"/>
                <a:ea typeface="仿宋" pitchFamily="49" charset="-122"/>
                <a:cs typeface="Consolas" pitchFamily="49" charset="0"/>
              </a:rPr>
              <a:t> </a:t>
            </a:r>
            <a:r>
              <a:rPr kumimoji="1" lang="en-US" altLang="zh-CN" sz="1800" dirty="0" err="1">
                <a:solidFill>
                  <a:srgbClr val="0000FF"/>
                </a:solidFill>
                <a:latin typeface="Consolas" pitchFamily="49" charset="0"/>
                <a:ea typeface="仿宋" pitchFamily="49" charset="-122"/>
                <a:cs typeface="Consolas" pitchFamily="49" charset="0"/>
              </a:rPr>
              <a:t>vexs</a:t>
            </a:r>
            <a:r>
              <a:rPr kumimoji="1" lang="en-US" altLang="zh-CN" sz="1800" dirty="0">
                <a:solidFill>
                  <a:srgbClr val="0000FF"/>
                </a:solidFill>
                <a:latin typeface="Consolas" pitchFamily="49" charset="0"/>
                <a:ea typeface="仿宋" pitchFamily="49" charset="-122"/>
                <a:cs typeface="Consolas" pitchFamily="49" charset="0"/>
              </a:rPr>
              <a:t>[MAXV];	</a:t>
            </a:r>
            <a:r>
              <a:rPr kumimoji="1" lang="en-US" altLang="zh-CN" sz="1800" dirty="0">
                <a:solidFill>
                  <a:srgbClr val="00B0F0"/>
                </a:solidFill>
                <a:latin typeface="Consolas" pitchFamily="49" charset="0"/>
                <a:ea typeface="仿宋" pitchFamily="49" charset="-122"/>
                <a:cs typeface="Consolas" pitchFamily="49" charset="0"/>
              </a:rPr>
              <a:t>//</a:t>
            </a:r>
            <a:r>
              <a:rPr kumimoji="1" lang="zh-CN" altLang="en-US" sz="1800" dirty="0">
                <a:solidFill>
                  <a:srgbClr val="00B0F0"/>
                </a:solidFill>
                <a:latin typeface="Consolas" pitchFamily="49" charset="0"/>
                <a:ea typeface="仿宋" pitchFamily="49" charset="-122"/>
                <a:cs typeface="Consolas" pitchFamily="49" charset="0"/>
              </a:rPr>
              <a:t>存放顶点信息</a:t>
            </a:r>
          </a:p>
          <a:p>
            <a:pPr algn="just">
              <a:spcBef>
                <a:spcPct val="50000"/>
              </a:spcBef>
            </a:pPr>
            <a:r>
              <a:rPr kumimoji="1" lang="en-US" altLang="zh-CN" sz="1800" dirty="0">
                <a:solidFill>
                  <a:srgbClr val="0000FF"/>
                </a:solidFill>
                <a:latin typeface="Consolas" pitchFamily="49" charset="0"/>
                <a:ea typeface="仿宋" pitchFamily="49" charset="-122"/>
                <a:cs typeface="Consolas" pitchFamily="49" charset="0"/>
              </a:rPr>
              <a:t>}  </a:t>
            </a:r>
            <a:r>
              <a:rPr kumimoji="1" lang="en-US" altLang="zh-CN" sz="1800" dirty="0" err="1">
                <a:solidFill>
                  <a:srgbClr val="0000FF"/>
                </a:solidFill>
                <a:latin typeface="Consolas" pitchFamily="49" charset="0"/>
                <a:ea typeface="仿宋" pitchFamily="49" charset="-122"/>
                <a:cs typeface="Consolas" pitchFamily="49" charset="0"/>
              </a:rPr>
              <a:t>MatGraph</a:t>
            </a:r>
            <a:r>
              <a:rPr kumimoji="1" lang="en-US" altLang="zh-CN" sz="1800" dirty="0">
                <a:solidFill>
                  <a:srgbClr val="0000FF"/>
                </a:solidFill>
                <a:latin typeface="Consolas" pitchFamily="49" charset="0"/>
                <a:ea typeface="仿宋" pitchFamily="49" charset="-122"/>
                <a:cs typeface="Consolas" pitchFamily="49" charset="0"/>
              </a:rPr>
              <a:t>;</a:t>
            </a:r>
            <a:endParaRPr kumimoji="1" lang="zh-CN" altLang="en-US" sz="1800" dirty="0">
              <a:solidFill>
                <a:srgbClr val="0000FF"/>
              </a:solidFill>
              <a:latin typeface="Consolas" pitchFamily="49" charset="0"/>
              <a:ea typeface="仿宋" pitchFamily="49" charset="-122"/>
              <a:cs typeface="Consolas" pitchFamily="49" charset="0"/>
            </a:endParaRPr>
          </a:p>
        </p:txBody>
      </p:sp>
      <p:sp>
        <p:nvSpPr>
          <p:cNvPr id="6" name="文本框 5">
            <a:extLst>
              <a:ext uri="{FF2B5EF4-FFF2-40B4-BE49-F238E27FC236}">
                <a16:creationId xmlns:a16="http://schemas.microsoft.com/office/drawing/2014/main" id="{C455BF16-8FAC-24CA-DF7F-891A852FE928}"/>
              </a:ext>
            </a:extLst>
          </p:cNvPr>
          <p:cNvSpPr txBox="1"/>
          <p:nvPr/>
        </p:nvSpPr>
        <p:spPr>
          <a:xfrm>
            <a:off x="9984432" y="6381402"/>
            <a:ext cx="1621029" cy="369332"/>
          </a:xfrm>
          <a:prstGeom prst="rect">
            <a:avLst/>
          </a:prstGeom>
          <a:noFill/>
        </p:spPr>
        <p:txBody>
          <a:bodyPr wrap="square">
            <a:spAutoFit/>
          </a:bodyPr>
          <a:lstStyle/>
          <a:p>
            <a:r>
              <a:rPr kumimoji="1" lang="en-US" altLang="zh-CN" sz="1800" dirty="0" err="1">
                <a:solidFill>
                  <a:srgbClr val="0000FF"/>
                </a:solidFill>
                <a:latin typeface="Consolas" pitchFamily="49" charset="0"/>
                <a:ea typeface="仿宋" pitchFamily="49" charset="-122"/>
                <a:cs typeface="Consolas" pitchFamily="49" charset="0"/>
              </a:rPr>
              <a:t>MatGraph</a:t>
            </a:r>
            <a:r>
              <a:rPr kumimoji="1" lang="en-US" altLang="zh-CN" sz="1800" dirty="0">
                <a:solidFill>
                  <a:srgbClr val="0000FF"/>
                </a:solidFill>
                <a:latin typeface="Consolas" pitchFamily="49" charset="0"/>
                <a:ea typeface="仿宋" pitchFamily="49" charset="-122"/>
                <a:cs typeface="Consolas" pitchFamily="49" charset="0"/>
              </a:rPr>
              <a:t> g</a:t>
            </a:r>
            <a:r>
              <a:rPr kumimoji="1" lang="en-US" altLang="zh-CN" dirty="0">
                <a:solidFill>
                  <a:srgbClr val="0000FF"/>
                </a:solidFill>
                <a:latin typeface="Consolas" pitchFamily="49" charset="0"/>
                <a:ea typeface="仿宋" pitchFamily="49" charset="-122"/>
                <a:cs typeface="Consolas" pitchFamily="49" charset="0"/>
              </a:rPr>
              <a:t>;</a:t>
            </a:r>
            <a:endParaRPr lang="zh-CN" altLang="en-US" dirty="0"/>
          </a:p>
        </p:txBody>
      </p:sp>
    </p:spTree>
    <p:extLst>
      <p:ext uri="{BB962C8B-B14F-4D97-AF65-F5344CB8AC3E}">
        <p14:creationId xmlns:p14="http://schemas.microsoft.com/office/powerpoint/2010/main" val="28082841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2">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2">
                                            <p:txEl>
                                              <p:pRg st="4" end="4"/>
                                            </p:txEl>
                                          </p:spTgt>
                                        </p:tgtEl>
                                        <p:attrNameLst>
                                          <p:attrName>style.visibility</p:attrName>
                                        </p:attrNameLst>
                                      </p:cBhvr>
                                      <p:to>
                                        <p:strVal val="visible"/>
                                      </p:to>
                                    </p:set>
                                  </p:childTnLst>
                                </p:cTn>
                              </p:par>
                            </p:childTnLst>
                          </p:cTn>
                        </p:par>
                        <p:par>
                          <p:cTn id="13" fill="hold">
                            <p:stCondLst>
                              <p:cond delay="0"/>
                            </p:stCondLst>
                            <p:childTnLst>
                              <p:par>
                                <p:cTn id="14" presetID="1" presetClass="entr" presetSubtype="0" fill="hold" nodeType="afterEffect">
                                  <p:stCondLst>
                                    <p:cond delay="0"/>
                                  </p:stCondLst>
                                  <p:childTnLst>
                                    <p:set>
                                      <p:cBhvr>
                                        <p:cTn id="15" dur="1" fill="hold">
                                          <p:stCondLst>
                                            <p:cond delay="0"/>
                                          </p:stCondLst>
                                        </p:cTn>
                                        <p:tgtEl>
                                          <p:spTgt spid="12">
                                            <p:txEl>
                                              <p:pRg st="5" end="5"/>
                                            </p:txEl>
                                          </p:spTgt>
                                        </p:tgtEl>
                                        <p:attrNameLst>
                                          <p:attrName>style.visibility</p:attrName>
                                        </p:attrNameLst>
                                      </p:cBhvr>
                                      <p:to>
                                        <p:strVal val="visible"/>
                                      </p:to>
                                    </p:set>
                                  </p:childTnLst>
                                </p:cTn>
                              </p:par>
                            </p:childTnLst>
                          </p:cTn>
                        </p:par>
                        <p:par>
                          <p:cTn id="16" fill="hold">
                            <p:stCondLst>
                              <p:cond delay="0"/>
                            </p:stCondLst>
                            <p:childTnLst>
                              <p:par>
                                <p:cTn id="17" presetID="1" presetClass="entr" presetSubtype="0" fill="hold" nodeType="afterEffect">
                                  <p:stCondLst>
                                    <p:cond delay="0"/>
                                  </p:stCondLst>
                                  <p:childTnLst>
                                    <p:set>
                                      <p:cBhvr>
                                        <p:cTn id="18" dur="1" fill="hold">
                                          <p:stCondLst>
                                            <p:cond delay="0"/>
                                          </p:stCondLst>
                                        </p:cTn>
                                        <p:tgtEl>
                                          <p:spTgt spid="12">
                                            <p:txEl>
                                              <p:pRg st="6" end="6"/>
                                            </p:txEl>
                                          </p:spTgt>
                                        </p:tgtEl>
                                        <p:attrNameLst>
                                          <p:attrName>style.visibility</p:attrName>
                                        </p:attrNameLst>
                                      </p:cBhvr>
                                      <p:to>
                                        <p:strVal val="visible"/>
                                      </p:to>
                                    </p:set>
                                  </p:childTnLst>
                                </p:cTn>
                              </p:par>
                            </p:childTnLst>
                          </p:cTn>
                        </p:par>
                        <p:par>
                          <p:cTn id="19" fill="hold">
                            <p:stCondLst>
                              <p:cond delay="0"/>
                            </p:stCondLst>
                            <p:childTnLst>
                              <p:par>
                                <p:cTn id="20" presetID="1" presetClass="entr" presetSubtype="0" fill="hold" nodeType="afterEffect">
                                  <p:stCondLst>
                                    <p:cond delay="0"/>
                                  </p:stCondLst>
                                  <p:childTnLst>
                                    <p:set>
                                      <p:cBhvr>
                                        <p:cTn id="21" dur="1" fill="hold">
                                          <p:stCondLst>
                                            <p:cond delay="0"/>
                                          </p:stCondLst>
                                        </p:cTn>
                                        <p:tgtEl>
                                          <p:spTgt spid="12">
                                            <p:txEl>
                                              <p:pRg st="7" end="7"/>
                                            </p:txEl>
                                          </p:spTgt>
                                        </p:tgtEl>
                                        <p:attrNameLst>
                                          <p:attrName>style.visibility</p:attrName>
                                        </p:attrNameLst>
                                      </p:cBhvr>
                                      <p:to>
                                        <p:strVal val="visible"/>
                                      </p:to>
                                    </p:set>
                                  </p:childTnLst>
                                </p:cTn>
                              </p:par>
                            </p:childTnLst>
                          </p:cTn>
                        </p:par>
                        <p:par>
                          <p:cTn id="22" fill="hold">
                            <p:stCondLst>
                              <p:cond delay="0"/>
                            </p:stCondLst>
                            <p:childTnLst>
                              <p:par>
                                <p:cTn id="23" presetID="1" presetClass="entr" presetSubtype="0" fill="hold" nodeType="afterEffect">
                                  <p:stCondLst>
                                    <p:cond delay="0"/>
                                  </p:stCondLst>
                                  <p:childTnLst>
                                    <p:set>
                                      <p:cBhvr>
                                        <p:cTn id="24" dur="1" fill="hold">
                                          <p:stCondLst>
                                            <p:cond delay="0"/>
                                          </p:stCondLst>
                                        </p:cTn>
                                        <p:tgtEl>
                                          <p:spTgt spid="12">
                                            <p:txEl>
                                              <p:pRg st="8" end="8"/>
                                            </p:txEl>
                                          </p:spTgt>
                                        </p:tgtEl>
                                        <p:attrNameLst>
                                          <p:attrName>style.visibility</p:attrName>
                                        </p:attrNameLst>
                                      </p:cBhvr>
                                      <p:to>
                                        <p:strVal val="visible"/>
                                      </p:to>
                                    </p:set>
                                  </p:childTnLst>
                                </p:cTn>
                              </p:par>
                            </p:childTnLst>
                          </p:cTn>
                        </p:par>
                        <p:par>
                          <p:cTn id="25" fill="hold">
                            <p:stCondLst>
                              <p:cond delay="0"/>
                            </p:stCondLst>
                            <p:childTnLst>
                              <p:par>
                                <p:cTn id="26" presetID="1" presetClass="entr" presetSubtype="0" fill="hold" nodeType="afterEffect">
                                  <p:stCondLst>
                                    <p:cond delay="0"/>
                                  </p:stCondLst>
                                  <p:childTnLst>
                                    <p:set>
                                      <p:cBhvr>
                                        <p:cTn id="27" dur="1" fill="hold">
                                          <p:stCondLst>
                                            <p:cond delay="0"/>
                                          </p:stCondLst>
                                        </p:cTn>
                                        <p:tgtEl>
                                          <p:spTgt spid="12">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nvGrpSpPr>
        <p:grpSpPr>
          <a:xfrm>
            <a:off x="3143673" y="2348881"/>
            <a:ext cx="2016125" cy="2425593"/>
            <a:chOff x="1972468" y="4084035"/>
            <a:chExt cx="2016125" cy="2425593"/>
          </a:xfrm>
        </p:grpSpPr>
        <p:sp>
          <p:nvSpPr>
            <p:cNvPr id="9" name="Oval 4"/>
            <p:cNvSpPr>
              <a:spLocks noChangeArrowheads="1"/>
            </p:cNvSpPr>
            <p:nvPr/>
          </p:nvSpPr>
          <p:spPr bwMode="auto">
            <a:xfrm>
              <a:off x="1972468" y="4084035"/>
              <a:ext cx="503238" cy="503238"/>
            </a:xfrm>
            <a:prstGeom prst="ellipse">
              <a:avLst/>
            </a:prstGeom>
            <a:solidFill>
              <a:schemeClr val="bg1"/>
            </a:solidFill>
            <a:ln w="28575" cap="sq">
              <a:solidFill>
                <a:srgbClr val="996600"/>
              </a:solidFill>
              <a:miter lim="800000"/>
              <a:headEnd type="none" w="sm" len="sm"/>
              <a:tailEnd type="none" w="sm" len="sm"/>
            </a:ln>
          </p:spPr>
          <p:txBody>
            <a:bodyPr wrap="none" tIns="0" anchorCtr="1"/>
            <a:lstStyle/>
            <a:p>
              <a:r>
                <a:rPr lang="en-US" altLang="zh-CN" sz="2400" dirty="0"/>
                <a:t>v</a:t>
              </a:r>
              <a:r>
                <a:rPr lang="en-US" altLang="zh-CN" sz="2400" baseline="-25000" dirty="0"/>
                <a:t>1</a:t>
              </a:r>
            </a:p>
          </p:txBody>
        </p:sp>
        <p:sp>
          <p:nvSpPr>
            <p:cNvPr id="11" name="Oval 5"/>
            <p:cNvSpPr>
              <a:spLocks noChangeArrowheads="1"/>
            </p:cNvSpPr>
            <p:nvPr/>
          </p:nvSpPr>
          <p:spPr bwMode="auto">
            <a:xfrm>
              <a:off x="3485355" y="4084035"/>
              <a:ext cx="503238" cy="503238"/>
            </a:xfrm>
            <a:prstGeom prst="ellipse">
              <a:avLst/>
            </a:prstGeom>
            <a:solidFill>
              <a:schemeClr val="bg1"/>
            </a:solidFill>
            <a:ln w="28575" cap="sq">
              <a:solidFill>
                <a:srgbClr val="996600"/>
              </a:solidFill>
              <a:miter lim="800000"/>
              <a:headEnd type="none" w="sm" len="sm"/>
              <a:tailEnd type="none" w="sm" len="sm"/>
            </a:ln>
          </p:spPr>
          <p:txBody>
            <a:bodyPr wrap="none" tIns="0" anchorCtr="1"/>
            <a:lstStyle/>
            <a:p>
              <a:r>
                <a:rPr lang="en-US" altLang="zh-CN" sz="2400"/>
                <a:t>v</a:t>
              </a:r>
              <a:r>
                <a:rPr lang="en-US" altLang="zh-CN" sz="2400" baseline="-25000"/>
                <a:t>2</a:t>
              </a:r>
            </a:p>
          </p:txBody>
        </p:sp>
        <p:sp>
          <p:nvSpPr>
            <p:cNvPr id="12" name="Oval 6"/>
            <p:cNvSpPr>
              <a:spLocks noChangeArrowheads="1"/>
            </p:cNvSpPr>
            <p:nvPr/>
          </p:nvSpPr>
          <p:spPr bwMode="auto">
            <a:xfrm>
              <a:off x="1972468" y="5525485"/>
              <a:ext cx="503238" cy="503238"/>
            </a:xfrm>
            <a:prstGeom prst="ellipse">
              <a:avLst/>
            </a:prstGeom>
            <a:solidFill>
              <a:schemeClr val="bg1"/>
            </a:solidFill>
            <a:ln w="28575" cap="sq">
              <a:solidFill>
                <a:srgbClr val="996600"/>
              </a:solidFill>
              <a:miter lim="800000"/>
              <a:headEnd type="none" w="sm" len="sm"/>
              <a:tailEnd type="none" w="sm" len="sm"/>
            </a:ln>
          </p:spPr>
          <p:txBody>
            <a:bodyPr wrap="none" tIns="0" anchorCtr="1"/>
            <a:lstStyle/>
            <a:p>
              <a:r>
                <a:rPr lang="en-US" altLang="zh-CN" sz="2400"/>
                <a:t>v</a:t>
              </a:r>
              <a:r>
                <a:rPr lang="en-US" altLang="zh-CN" sz="2400" baseline="-25000"/>
                <a:t>4</a:t>
              </a:r>
            </a:p>
          </p:txBody>
        </p:sp>
        <p:sp>
          <p:nvSpPr>
            <p:cNvPr id="13" name="Oval 7"/>
            <p:cNvSpPr>
              <a:spLocks noChangeArrowheads="1"/>
            </p:cNvSpPr>
            <p:nvPr/>
          </p:nvSpPr>
          <p:spPr bwMode="auto">
            <a:xfrm>
              <a:off x="3483768" y="5523898"/>
              <a:ext cx="503238" cy="503238"/>
            </a:xfrm>
            <a:prstGeom prst="ellipse">
              <a:avLst/>
            </a:prstGeom>
            <a:solidFill>
              <a:schemeClr val="bg1"/>
            </a:solidFill>
            <a:ln w="28575" cap="sq">
              <a:solidFill>
                <a:srgbClr val="996600"/>
              </a:solidFill>
              <a:miter lim="800000"/>
              <a:headEnd type="none" w="sm" len="sm"/>
              <a:tailEnd type="none" w="sm" len="sm"/>
            </a:ln>
          </p:spPr>
          <p:txBody>
            <a:bodyPr wrap="none" tIns="0" anchorCtr="1"/>
            <a:lstStyle/>
            <a:p>
              <a:r>
                <a:rPr lang="en-US" altLang="zh-CN" sz="2400"/>
                <a:t>v</a:t>
              </a:r>
              <a:r>
                <a:rPr lang="en-US" altLang="zh-CN" sz="2400" baseline="-25000"/>
                <a:t>5</a:t>
              </a:r>
            </a:p>
          </p:txBody>
        </p:sp>
        <p:sp>
          <p:nvSpPr>
            <p:cNvPr id="14" name="Oval 8"/>
            <p:cNvSpPr>
              <a:spLocks noChangeArrowheads="1"/>
            </p:cNvSpPr>
            <p:nvPr/>
          </p:nvSpPr>
          <p:spPr bwMode="auto">
            <a:xfrm>
              <a:off x="2764630" y="4806348"/>
              <a:ext cx="503238" cy="503238"/>
            </a:xfrm>
            <a:prstGeom prst="ellipse">
              <a:avLst/>
            </a:prstGeom>
            <a:solidFill>
              <a:schemeClr val="bg1"/>
            </a:solidFill>
            <a:ln w="28575" cap="sq">
              <a:solidFill>
                <a:srgbClr val="996600"/>
              </a:solidFill>
              <a:miter lim="800000"/>
              <a:headEnd type="none" w="sm" len="sm"/>
              <a:tailEnd type="none" w="sm" len="sm"/>
            </a:ln>
          </p:spPr>
          <p:txBody>
            <a:bodyPr wrap="none" tIns="0" anchorCtr="1"/>
            <a:lstStyle/>
            <a:p>
              <a:r>
                <a:rPr lang="en-US" altLang="zh-CN" sz="2400" dirty="0"/>
                <a:t>v</a:t>
              </a:r>
              <a:r>
                <a:rPr lang="en-US" altLang="zh-CN" sz="2400" baseline="-25000" dirty="0"/>
                <a:t>3</a:t>
              </a:r>
            </a:p>
          </p:txBody>
        </p:sp>
        <p:sp>
          <p:nvSpPr>
            <p:cNvPr id="15" name="Line 9"/>
            <p:cNvSpPr>
              <a:spLocks noChangeShapeType="1"/>
            </p:cNvSpPr>
            <p:nvPr/>
          </p:nvSpPr>
          <p:spPr bwMode="auto">
            <a:xfrm>
              <a:off x="2475705" y="4299935"/>
              <a:ext cx="1008063" cy="0"/>
            </a:xfrm>
            <a:prstGeom prst="line">
              <a:avLst/>
            </a:prstGeom>
            <a:noFill/>
            <a:ln w="28575" cap="sq">
              <a:solidFill>
                <a:srgbClr val="996600"/>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6" name="Line 10"/>
            <p:cNvSpPr>
              <a:spLocks noChangeShapeType="1"/>
            </p:cNvSpPr>
            <p:nvPr/>
          </p:nvSpPr>
          <p:spPr bwMode="auto">
            <a:xfrm>
              <a:off x="2188368" y="4588860"/>
              <a:ext cx="0" cy="936625"/>
            </a:xfrm>
            <a:prstGeom prst="line">
              <a:avLst/>
            </a:prstGeom>
            <a:noFill/>
            <a:ln w="28575" cap="sq">
              <a:solidFill>
                <a:srgbClr val="996600"/>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7" name="Line 11"/>
            <p:cNvSpPr>
              <a:spLocks noChangeShapeType="1"/>
            </p:cNvSpPr>
            <p:nvPr/>
          </p:nvSpPr>
          <p:spPr bwMode="auto">
            <a:xfrm>
              <a:off x="3772693" y="4588860"/>
              <a:ext cx="0" cy="936625"/>
            </a:xfrm>
            <a:prstGeom prst="line">
              <a:avLst/>
            </a:prstGeom>
            <a:noFill/>
            <a:ln w="28575" cap="sq">
              <a:solidFill>
                <a:srgbClr val="996600"/>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8" name="Line 12"/>
            <p:cNvSpPr>
              <a:spLocks noChangeShapeType="1"/>
            </p:cNvSpPr>
            <p:nvPr/>
          </p:nvSpPr>
          <p:spPr bwMode="auto">
            <a:xfrm>
              <a:off x="3196430" y="5236560"/>
              <a:ext cx="360363" cy="360363"/>
            </a:xfrm>
            <a:prstGeom prst="line">
              <a:avLst/>
            </a:prstGeom>
            <a:noFill/>
            <a:ln w="28575" cap="sq">
              <a:solidFill>
                <a:srgbClr val="996600"/>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9" name="Line 13"/>
            <p:cNvSpPr>
              <a:spLocks noChangeShapeType="1"/>
            </p:cNvSpPr>
            <p:nvPr/>
          </p:nvSpPr>
          <p:spPr bwMode="auto">
            <a:xfrm flipH="1">
              <a:off x="3196430" y="4517423"/>
              <a:ext cx="360363" cy="358775"/>
            </a:xfrm>
            <a:prstGeom prst="line">
              <a:avLst/>
            </a:prstGeom>
            <a:noFill/>
            <a:ln w="28575" cap="sq">
              <a:solidFill>
                <a:srgbClr val="996600"/>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20" name="Line 14"/>
            <p:cNvSpPr>
              <a:spLocks noChangeShapeType="1"/>
            </p:cNvSpPr>
            <p:nvPr/>
          </p:nvSpPr>
          <p:spPr bwMode="auto">
            <a:xfrm flipH="1">
              <a:off x="2404268" y="5236560"/>
              <a:ext cx="431800" cy="395288"/>
            </a:xfrm>
            <a:prstGeom prst="line">
              <a:avLst/>
            </a:prstGeom>
            <a:noFill/>
            <a:ln w="28575" cap="sq">
              <a:solidFill>
                <a:srgbClr val="996600"/>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21" name="Text Box 15"/>
            <p:cNvSpPr txBox="1">
              <a:spLocks noChangeArrowheads="1"/>
            </p:cNvSpPr>
            <p:nvPr/>
          </p:nvSpPr>
          <p:spPr bwMode="auto">
            <a:xfrm>
              <a:off x="2349102" y="6109518"/>
              <a:ext cx="133429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spAutoFit/>
            </a:bodyPr>
            <a:lstStyle>
              <a:lvl1pPr eaLnBrk="0" hangingPunct="0">
                <a:defRPr kumimoji="1" sz="2800">
                  <a:solidFill>
                    <a:schemeClr val="tx1"/>
                  </a:solidFill>
                  <a:latin typeface="Comic Sans MS" pitchFamily="66" charset="0"/>
                  <a:ea typeface="宋体" pitchFamily="2" charset="-122"/>
                </a:defRPr>
              </a:lvl1pPr>
              <a:lvl2pPr marL="742950" indent="-285750" eaLnBrk="0" hangingPunct="0">
                <a:defRPr kumimoji="1" sz="2800">
                  <a:solidFill>
                    <a:schemeClr val="tx1"/>
                  </a:solidFill>
                  <a:latin typeface="Comic Sans MS" pitchFamily="66" charset="0"/>
                  <a:ea typeface="宋体" pitchFamily="2" charset="-122"/>
                </a:defRPr>
              </a:lvl2pPr>
              <a:lvl3pPr marL="1143000" indent="-228600" eaLnBrk="0" hangingPunct="0">
                <a:defRPr kumimoji="1" sz="2800">
                  <a:solidFill>
                    <a:schemeClr val="tx1"/>
                  </a:solidFill>
                  <a:latin typeface="Comic Sans MS" pitchFamily="66" charset="0"/>
                  <a:ea typeface="宋体" pitchFamily="2" charset="-122"/>
                </a:defRPr>
              </a:lvl3pPr>
              <a:lvl4pPr marL="1600200" indent="-228600" eaLnBrk="0" hangingPunct="0">
                <a:defRPr kumimoji="1" sz="2800">
                  <a:solidFill>
                    <a:schemeClr val="tx1"/>
                  </a:solidFill>
                  <a:latin typeface="Comic Sans MS" pitchFamily="66" charset="0"/>
                  <a:ea typeface="宋体" pitchFamily="2" charset="-122"/>
                </a:defRPr>
              </a:lvl4pPr>
              <a:lvl5pPr marL="2057400" indent="-228600" eaLnBrk="0" hangingPunct="0">
                <a:defRPr kumimoji="1" sz="2800">
                  <a:solidFill>
                    <a:schemeClr val="tx1"/>
                  </a:solidFill>
                  <a:latin typeface="Comic Sans MS" pitchFamily="66" charset="0"/>
                  <a:ea typeface="宋体" pitchFamily="2" charset="-122"/>
                </a:defRPr>
              </a:lvl5pPr>
              <a:lvl6pPr marL="25146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6pPr>
              <a:lvl7pPr marL="29718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7pPr>
              <a:lvl8pPr marL="34290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8pPr>
              <a:lvl9pPr marL="38862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9pPr>
            </a:lstStyle>
            <a:p>
              <a:pPr eaLnBrk="1" hangingPunct="1">
                <a:spcBef>
                  <a:spcPct val="50000"/>
                </a:spcBef>
              </a:pPr>
              <a:r>
                <a:rPr lang="zh-CN" altLang="en-US" sz="2000" dirty="0">
                  <a:latin typeface="微软雅黑" pitchFamily="34" charset="-122"/>
                  <a:ea typeface="微软雅黑" pitchFamily="34" charset="-122"/>
                  <a:cs typeface="经典粗黑简" pitchFamily="49" charset="-122"/>
                </a:rPr>
                <a:t>无向图</a:t>
              </a:r>
              <a:r>
                <a:rPr lang="en-US" altLang="zh-CN" sz="2000" dirty="0">
                  <a:latin typeface="微软雅黑" pitchFamily="34" charset="-122"/>
                  <a:ea typeface="微软雅黑" pitchFamily="34" charset="-122"/>
                  <a:cs typeface="经典粗黑简" pitchFamily="49" charset="-122"/>
                </a:rPr>
                <a:t>G2</a:t>
              </a:r>
            </a:p>
          </p:txBody>
        </p:sp>
      </p:grpSp>
      <p:graphicFrame>
        <p:nvGraphicFramePr>
          <p:cNvPr id="6" name="对象 5"/>
          <p:cNvGraphicFramePr>
            <a:graphicFrameLocks noChangeAspect="1"/>
          </p:cNvGraphicFramePr>
          <p:nvPr>
            <p:extLst>
              <p:ext uri="{D42A27DB-BD31-4B8C-83A1-F6EECF244321}">
                <p14:modId xmlns:p14="http://schemas.microsoft.com/office/powerpoint/2010/main" val="1822543755"/>
              </p:ext>
            </p:extLst>
          </p:nvPr>
        </p:nvGraphicFramePr>
        <p:xfrm>
          <a:off x="6770687" y="2775785"/>
          <a:ext cx="2880320" cy="2496466"/>
        </p:xfrm>
        <a:graphic>
          <a:graphicData uri="http://schemas.openxmlformats.org/presentationml/2006/ole">
            <mc:AlternateContent xmlns:mc="http://schemas.openxmlformats.org/markup-compatibility/2006">
              <mc:Choice xmlns:v="urn:schemas-microsoft-com:vml" Requires="v">
                <p:oleObj name="公式" r:id="rId2" imgW="1066800" imgH="1168400" progId="Equation.3">
                  <p:embed/>
                </p:oleObj>
              </mc:Choice>
              <mc:Fallback>
                <p:oleObj name="公式" r:id="rId2" imgW="1066800" imgH="1168400"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70687" y="2775785"/>
                        <a:ext cx="2880320" cy="2496466"/>
                      </a:xfrm>
                      <a:prstGeom prst="rect">
                        <a:avLst/>
                      </a:prstGeom>
                      <a:noFill/>
                      <a:ln>
                        <a:noFill/>
                      </a:ln>
                    </p:spPr>
                  </p:pic>
                </p:oleObj>
              </mc:Fallback>
            </mc:AlternateContent>
          </a:graphicData>
        </a:graphic>
      </p:graphicFrame>
      <p:grpSp>
        <p:nvGrpSpPr>
          <p:cNvPr id="2" name="组合 1"/>
          <p:cNvGrpSpPr/>
          <p:nvPr/>
        </p:nvGrpSpPr>
        <p:grpSpPr>
          <a:xfrm>
            <a:off x="5448723" y="1628800"/>
            <a:ext cx="4326026" cy="559412"/>
            <a:chOff x="4350430" y="1908175"/>
            <a:chExt cx="4326026" cy="559412"/>
          </a:xfrm>
        </p:grpSpPr>
        <p:sp>
          <p:nvSpPr>
            <p:cNvPr id="30" name="Text Box 77"/>
            <p:cNvSpPr txBox="1">
              <a:spLocks noChangeArrowheads="1"/>
            </p:cNvSpPr>
            <p:nvPr/>
          </p:nvSpPr>
          <p:spPr bwMode="auto">
            <a:xfrm>
              <a:off x="5932488" y="1908175"/>
              <a:ext cx="2743968" cy="523220"/>
            </a:xfrm>
            <a:prstGeom prst="rect">
              <a:avLst/>
            </a:prstGeom>
            <a:noFill/>
            <a:ln w="28575">
              <a:solidFill>
                <a:schemeClr val="accent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107763" dir="18900000" algn="ctr" rotWithShape="0">
                      <a:schemeClr val="bg2"/>
                    </a:outerShdw>
                  </a:effectLst>
                </a14:hiddenEffects>
              </a:ext>
            </a:extLst>
          </p:spPr>
          <p:txBody>
            <a:bodyPr wrap="square" lIns="126000" rIns="0">
              <a:spAutoFit/>
            </a:bodyPr>
            <a:lstStyle/>
            <a:p>
              <a:pPr>
                <a:spcBef>
                  <a:spcPct val="50000"/>
                </a:spcBef>
                <a:defRPr/>
              </a:pPr>
              <a:r>
                <a:rPr lang="en-US" altLang="zh-CN" sz="2800" i="1" dirty="0">
                  <a:effectLst>
                    <a:outerShdw blurRad="38100" dist="38100" dir="2700000" algn="tl">
                      <a:srgbClr val="C0C0C0"/>
                    </a:outerShdw>
                  </a:effectLst>
                  <a:latin typeface="Times New Roman" pitchFamily="18" charset="0"/>
                </a:rPr>
                <a:t>V</a:t>
              </a:r>
              <a:r>
                <a:rPr lang="en-US" altLang="zh-CN" sz="2800" baseline="-25000" dirty="0">
                  <a:effectLst>
                    <a:outerShdw blurRad="38100" dist="38100" dir="2700000" algn="tl">
                      <a:srgbClr val="C0C0C0"/>
                    </a:outerShdw>
                  </a:effectLst>
                  <a:latin typeface="Times New Roman" pitchFamily="18" charset="0"/>
                </a:rPr>
                <a:t>1   </a:t>
              </a:r>
              <a:r>
                <a:rPr lang="en-US" altLang="zh-CN" sz="2800" i="1" dirty="0">
                  <a:effectLst>
                    <a:outerShdw blurRad="38100" dist="38100" dir="2700000" algn="tl">
                      <a:srgbClr val="C0C0C0"/>
                    </a:outerShdw>
                  </a:effectLst>
                  <a:latin typeface="Times New Roman" pitchFamily="18" charset="0"/>
                </a:rPr>
                <a:t>V</a:t>
              </a:r>
              <a:r>
                <a:rPr lang="en-US" altLang="zh-CN" sz="2800" baseline="-25000" dirty="0">
                  <a:effectLst>
                    <a:outerShdw blurRad="38100" dist="38100" dir="2700000" algn="tl">
                      <a:srgbClr val="C0C0C0"/>
                    </a:outerShdw>
                  </a:effectLst>
                  <a:latin typeface="Times New Roman" pitchFamily="18" charset="0"/>
                </a:rPr>
                <a:t>2   </a:t>
              </a:r>
              <a:r>
                <a:rPr lang="en-US" altLang="zh-CN" sz="2800" i="1" dirty="0">
                  <a:effectLst>
                    <a:outerShdw blurRad="38100" dist="38100" dir="2700000" algn="tl">
                      <a:srgbClr val="C0C0C0"/>
                    </a:outerShdw>
                  </a:effectLst>
                  <a:latin typeface="Times New Roman" pitchFamily="18" charset="0"/>
                </a:rPr>
                <a:t>V</a:t>
              </a:r>
              <a:r>
                <a:rPr lang="en-US" altLang="zh-CN" sz="2800" baseline="-25000" dirty="0">
                  <a:effectLst>
                    <a:outerShdw blurRad="38100" dist="38100" dir="2700000" algn="tl">
                      <a:srgbClr val="C0C0C0"/>
                    </a:outerShdw>
                  </a:effectLst>
                  <a:latin typeface="Times New Roman" pitchFamily="18" charset="0"/>
                </a:rPr>
                <a:t>3    </a:t>
              </a:r>
              <a:r>
                <a:rPr lang="en-US" altLang="zh-CN" sz="2800" i="1" dirty="0">
                  <a:effectLst>
                    <a:outerShdw blurRad="38100" dist="38100" dir="2700000" algn="tl">
                      <a:srgbClr val="C0C0C0"/>
                    </a:outerShdw>
                  </a:effectLst>
                  <a:latin typeface="Times New Roman" pitchFamily="18" charset="0"/>
                </a:rPr>
                <a:t>V</a:t>
              </a:r>
              <a:r>
                <a:rPr lang="en-US" altLang="zh-CN" sz="2800" baseline="-25000" dirty="0">
                  <a:effectLst>
                    <a:outerShdw blurRad="38100" dist="38100" dir="2700000" algn="tl">
                      <a:srgbClr val="C0C0C0"/>
                    </a:outerShdw>
                  </a:effectLst>
                  <a:latin typeface="Times New Roman" pitchFamily="18" charset="0"/>
                </a:rPr>
                <a:t>4    </a:t>
              </a:r>
              <a:r>
                <a:rPr lang="en-US" altLang="zh-CN" sz="2800" i="1" dirty="0">
                  <a:effectLst>
                    <a:outerShdw blurRad="38100" dist="38100" dir="2700000" algn="tl">
                      <a:srgbClr val="C0C0C0"/>
                    </a:outerShdw>
                  </a:effectLst>
                  <a:latin typeface="Times New Roman" pitchFamily="18" charset="0"/>
                </a:rPr>
                <a:t>V</a:t>
              </a:r>
              <a:r>
                <a:rPr lang="en-US" altLang="zh-CN" sz="2800" baseline="-25000" dirty="0">
                  <a:effectLst>
                    <a:outerShdw blurRad="38100" dist="38100" dir="2700000" algn="tl">
                      <a:srgbClr val="C0C0C0"/>
                    </a:outerShdw>
                  </a:effectLst>
                  <a:latin typeface="Times New Roman" pitchFamily="18" charset="0"/>
                </a:rPr>
                <a:t>5</a:t>
              </a:r>
              <a:endParaRPr lang="zh-CN" altLang="en-US" sz="2800" baseline="-25000" dirty="0">
                <a:effectLst>
                  <a:outerShdw blurRad="38100" dist="38100" dir="2700000" algn="tl">
                    <a:srgbClr val="C0C0C0"/>
                  </a:outerShdw>
                </a:effectLst>
                <a:latin typeface="Times New Roman" pitchFamily="18" charset="0"/>
              </a:endParaRPr>
            </a:p>
          </p:txBody>
        </p:sp>
        <p:sp>
          <p:nvSpPr>
            <p:cNvPr id="31" name="Line 78"/>
            <p:cNvSpPr>
              <a:spLocks noChangeShapeType="1"/>
            </p:cNvSpPr>
            <p:nvPr/>
          </p:nvSpPr>
          <p:spPr bwMode="auto">
            <a:xfrm>
              <a:off x="6497638" y="1908175"/>
              <a:ext cx="0" cy="533400"/>
            </a:xfrm>
            <a:prstGeom prst="line">
              <a:avLst/>
            </a:prstGeom>
            <a:noFill/>
            <a:ln w="2857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18900000" algn="ctr" rotWithShape="0">
                      <a:schemeClr val="bg2"/>
                    </a:outerShdw>
                  </a:effectLst>
                </a14:hiddenEffects>
              </a:ext>
            </a:extLst>
          </p:spPr>
          <p:txBody>
            <a:bodyPr wrap="none" anchor="ctr">
              <a:spAutoFit/>
            </a:bodyPr>
            <a:lstStyle/>
            <a:p>
              <a:endParaRPr lang="zh-CN" altLang="en-US"/>
            </a:p>
          </p:txBody>
        </p:sp>
        <p:sp>
          <p:nvSpPr>
            <p:cNvPr id="32" name="Line 79"/>
            <p:cNvSpPr>
              <a:spLocks noChangeShapeType="1"/>
            </p:cNvSpPr>
            <p:nvPr/>
          </p:nvSpPr>
          <p:spPr bwMode="auto">
            <a:xfrm>
              <a:off x="7062788" y="1908175"/>
              <a:ext cx="0" cy="533400"/>
            </a:xfrm>
            <a:prstGeom prst="line">
              <a:avLst/>
            </a:prstGeom>
            <a:noFill/>
            <a:ln w="2857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18900000" algn="ctr" rotWithShape="0">
                      <a:schemeClr val="bg2"/>
                    </a:outerShdw>
                  </a:effectLst>
                </a14:hiddenEffects>
              </a:ext>
            </a:extLst>
          </p:spPr>
          <p:txBody>
            <a:bodyPr wrap="none" anchor="ctr">
              <a:spAutoFit/>
            </a:bodyPr>
            <a:lstStyle/>
            <a:p>
              <a:endParaRPr lang="zh-CN" altLang="en-US"/>
            </a:p>
          </p:txBody>
        </p:sp>
        <p:sp>
          <p:nvSpPr>
            <p:cNvPr id="33" name="Line 80"/>
            <p:cNvSpPr>
              <a:spLocks noChangeShapeType="1"/>
            </p:cNvSpPr>
            <p:nvPr/>
          </p:nvSpPr>
          <p:spPr bwMode="auto">
            <a:xfrm>
              <a:off x="7612063" y="1908175"/>
              <a:ext cx="0" cy="533400"/>
            </a:xfrm>
            <a:prstGeom prst="line">
              <a:avLst/>
            </a:prstGeom>
            <a:noFill/>
            <a:ln w="2857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18900000" algn="ctr" rotWithShape="0">
                      <a:schemeClr val="bg2"/>
                    </a:outerShdw>
                  </a:effectLst>
                </a14:hiddenEffects>
              </a:ext>
            </a:extLst>
          </p:spPr>
          <p:txBody>
            <a:bodyPr wrap="none" anchor="ctr">
              <a:spAutoFit/>
            </a:bodyPr>
            <a:lstStyle/>
            <a:p>
              <a:endParaRPr lang="zh-CN" altLang="en-US"/>
            </a:p>
          </p:txBody>
        </p:sp>
        <p:sp>
          <p:nvSpPr>
            <p:cNvPr id="34" name="Rectangle 81"/>
            <p:cNvSpPr>
              <a:spLocks noChangeArrowheads="1"/>
            </p:cNvSpPr>
            <p:nvPr/>
          </p:nvSpPr>
          <p:spPr bwMode="auto">
            <a:xfrm>
              <a:off x="4350430" y="1944367"/>
              <a:ext cx="1465265"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wrap="square">
              <a:spAutoFit/>
            </a:bodyPr>
            <a:lstStyle/>
            <a:p>
              <a:pPr algn="ctr">
                <a:defRPr/>
              </a:pPr>
              <a:r>
                <a:rPr lang="en-US" altLang="zh-CN" sz="2800" dirty="0" err="1">
                  <a:effectLst>
                    <a:outerShdw blurRad="38100" dist="38100" dir="2700000" algn="tl">
                      <a:srgbClr val="C0C0C0"/>
                    </a:outerShdw>
                  </a:effectLst>
                  <a:latin typeface="Times New Roman" pitchFamily="18" charset="0"/>
                  <a:ea typeface="华文行楷" pitchFamily="2" charset="-122"/>
                </a:rPr>
                <a:t>g.vexs</a:t>
              </a:r>
              <a:r>
                <a:rPr lang="en-US" altLang="zh-CN" sz="2800" dirty="0">
                  <a:effectLst>
                    <a:outerShdw blurRad="38100" dist="38100" dir="2700000" algn="tl">
                      <a:srgbClr val="C0C0C0"/>
                    </a:outerShdw>
                  </a:effectLst>
                  <a:latin typeface="Times New Roman" pitchFamily="18" charset="0"/>
                  <a:ea typeface="华文行楷" pitchFamily="2" charset="-122"/>
                </a:rPr>
                <a:t> =</a:t>
              </a:r>
              <a:endParaRPr lang="zh-CN" altLang="en-US" sz="2800" dirty="0">
                <a:effectLst>
                  <a:outerShdw blurRad="38100" dist="38100" dir="2700000" algn="tl">
                    <a:srgbClr val="C0C0C0"/>
                  </a:outerShdw>
                </a:effectLst>
                <a:latin typeface="Times New Roman" pitchFamily="18" charset="0"/>
                <a:ea typeface="华文行楷" pitchFamily="2" charset="-122"/>
              </a:endParaRPr>
            </a:p>
          </p:txBody>
        </p:sp>
        <p:sp>
          <p:nvSpPr>
            <p:cNvPr id="35" name="Line 80"/>
            <p:cNvSpPr>
              <a:spLocks noChangeShapeType="1"/>
            </p:cNvSpPr>
            <p:nvPr/>
          </p:nvSpPr>
          <p:spPr bwMode="auto">
            <a:xfrm>
              <a:off x="8172400" y="1908175"/>
              <a:ext cx="0" cy="533400"/>
            </a:xfrm>
            <a:prstGeom prst="line">
              <a:avLst/>
            </a:prstGeom>
            <a:noFill/>
            <a:ln w="2857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18900000" algn="ctr" rotWithShape="0">
                      <a:schemeClr val="bg2"/>
                    </a:outerShdw>
                  </a:effectLst>
                </a14:hiddenEffects>
              </a:ext>
            </a:extLst>
          </p:spPr>
          <p:txBody>
            <a:bodyPr wrap="none" anchor="ctr">
              <a:spAutoFit/>
            </a:bodyPr>
            <a:lstStyle/>
            <a:p>
              <a:endParaRPr lang="zh-CN" altLang="en-US"/>
            </a:p>
          </p:txBody>
        </p:sp>
      </p:grpSp>
      <p:sp>
        <p:nvSpPr>
          <p:cNvPr id="36" name="Rectangle 87"/>
          <p:cNvSpPr>
            <a:spLocks noChangeArrowheads="1"/>
          </p:cNvSpPr>
          <p:nvPr/>
        </p:nvSpPr>
        <p:spPr bwMode="auto">
          <a:xfrm>
            <a:off x="6824838" y="2319923"/>
            <a:ext cx="279717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pPr>
              <a:defRPr/>
            </a:pPr>
            <a:r>
              <a:rPr lang="en-US" altLang="zh-CN" sz="2400" i="1" dirty="0">
                <a:effectLst>
                  <a:outerShdw blurRad="38100" dist="38100" dir="2700000" algn="tl">
                    <a:srgbClr val="C0C0C0"/>
                  </a:outerShdw>
                </a:effectLst>
                <a:latin typeface="Times New Roman" pitchFamily="18" charset="0"/>
              </a:rPr>
              <a:t>V</a:t>
            </a:r>
            <a:r>
              <a:rPr lang="en-US" altLang="zh-CN" sz="2400" baseline="-25000" dirty="0">
                <a:effectLst>
                  <a:outerShdw blurRad="38100" dist="38100" dir="2700000" algn="tl">
                    <a:srgbClr val="C0C0C0"/>
                  </a:outerShdw>
                </a:effectLst>
                <a:latin typeface="Times New Roman" pitchFamily="18" charset="0"/>
              </a:rPr>
              <a:t>1     </a:t>
            </a:r>
            <a:r>
              <a:rPr lang="en-US" altLang="zh-CN" sz="2400" i="1" dirty="0">
                <a:effectLst>
                  <a:outerShdw blurRad="38100" dist="38100" dir="2700000" algn="tl">
                    <a:srgbClr val="C0C0C0"/>
                  </a:outerShdw>
                </a:effectLst>
                <a:latin typeface="Times New Roman" pitchFamily="18" charset="0"/>
              </a:rPr>
              <a:t>V</a:t>
            </a:r>
            <a:r>
              <a:rPr lang="en-US" altLang="zh-CN" sz="2400" baseline="-25000" dirty="0">
                <a:effectLst>
                  <a:outerShdw blurRad="38100" dist="38100" dir="2700000" algn="tl">
                    <a:srgbClr val="C0C0C0"/>
                  </a:outerShdw>
                </a:effectLst>
                <a:latin typeface="Times New Roman" pitchFamily="18" charset="0"/>
              </a:rPr>
              <a:t>2     </a:t>
            </a:r>
            <a:r>
              <a:rPr lang="en-US" altLang="zh-CN" sz="2400" i="1" dirty="0">
                <a:effectLst>
                  <a:outerShdw blurRad="38100" dist="38100" dir="2700000" algn="tl">
                    <a:srgbClr val="C0C0C0"/>
                  </a:outerShdw>
                </a:effectLst>
                <a:latin typeface="Times New Roman" pitchFamily="18" charset="0"/>
              </a:rPr>
              <a:t>V</a:t>
            </a:r>
            <a:r>
              <a:rPr lang="en-US" altLang="zh-CN" sz="2400" baseline="-25000" dirty="0">
                <a:effectLst>
                  <a:outerShdw blurRad="38100" dist="38100" dir="2700000" algn="tl">
                    <a:srgbClr val="C0C0C0"/>
                  </a:outerShdw>
                </a:effectLst>
                <a:latin typeface="Times New Roman" pitchFamily="18" charset="0"/>
              </a:rPr>
              <a:t>3     </a:t>
            </a:r>
            <a:r>
              <a:rPr lang="en-US" altLang="zh-CN" sz="2400" i="1" dirty="0">
                <a:effectLst>
                  <a:outerShdw blurRad="38100" dist="38100" dir="2700000" algn="tl">
                    <a:srgbClr val="C0C0C0"/>
                  </a:outerShdw>
                </a:effectLst>
                <a:latin typeface="Times New Roman" pitchFamily="18" charset="0"/>
              </a:rPr>
              <a:t>V</a:t>
            </a:r>
            <a:r>
              <a:rPr lang="en-US" altLang="zh-CN" sz="2400" baseline="-25000" dirty="0">
                <a:effectLst>
                  <a:outerShdw blurRad="38100" dist="38100" dir="2700000" algn="tl">
                    <a:srgbClr val="C0C0C0"/>
                  </a:outerShdw>
                </a:effectLst>
                <a:latin typeface="Times New Roman" pitchFamily="18" charset="0"/>
              </a:rPr>
              <a:t>4      </a:t>
            </a:r>
            <a:r>
              <a:rPr lang="en-US" altLang="zh-CN" sz="2400" i="1" dirty="0">
                <a:effectLst>
                  <a:outerShdw blurRad="38100" dist="38100" dir="2700000" algn="tl">
                    <a:srgbClr val="C0C0C0"/>
                  </a:outerShdw>
                </a:effectLst>
                <a:latin typeface="Times New Roman" pitchFamily="18" charset="0"/>
              </a:rPr>
              <a:t>V</a:t>
            </a:r>
            <a:r>
              <a:rPr lang="en-US" altLang="zh-CN" sz="2400" baseline="-25000" dirty="0">
                <a:effectLst>
                  <a:outerShdw blurRad="38100" dist="38100" dir="2700000" algn="tl">
                    <a:srgbClr val="C0C0C0"/>
                  </a:outerShdw>
                </a:effectLst>
                <a:latin typeface="Times New Roman" pitchFamily="18" charset="0"/>
              </a:rPr>
              <a:t>5</a:t>
            </a:r>
            <a:endParaRPr lang="zh-CN" altLang="en-US" sz="2400" baseline="-25000" dirty="0">
              <a:effectLst>
                <a:outerShdw blurRad="38100" dist="38100" dir="2700000" algn="tl">
                  <a:srgbClr val="C0C0C0"/>
                </a:outerShdw>
              </a:effectLst>
              <a:latin typeface="Times New Roman" pitchFamily="18" charset="0"/>
            </a:endParaRPr>
          </a:p>
        </p:txBody>
      </p:sp>
      <p:sp>
        <p:nvSpPr>
          <p:cNvPr id="37" name="Rectangle 88"/>
          <p:cNvSpPr>
            <a:spLocks noChangeArrowheads="1"/>
          </p:cNvSpPr>
          <p:nvPr/>
        </p:nvSpPr>
        <p:spPr bwMode="auto">
          <a:xfrm>
            <a:off x="9635595" y="2671219"/>
            <a:ext cx="601662" cy="26010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pPr>
              <a:lnSpc>
                <a:spcPts val="4000"/>
              </a:lnSpc>
              <a:defRPr/>
            </a:pPr>
            <a:r>
              <a:rPr lang="en-US" altLang="zh-CN" sz="2400" i="1" dirty="0">
                <a:effectLst>
                  <a:outerShdw blurRad="38100" dist="38100" dir="2700000" algn="tl">
                    <a:srgbClr val="C0C0C0"/>
                  </a:outerShdw>
                </a:effectLst>
                <a:latin typeface="Times New Roman" pitchFamily="18" charset="0"/>
              </a:rPr>
              <a:t>V</a:t>
            </a:r>
            <a:r>
              <a:rPr lang="en-US" altLang="zh-CN" sz="2400" baseline="-25000" dirty="0">
                <a:effectLst>
                  <a:outerShdw blurRad="38100" dist="38100" dir="2700000" algn="tl">
                    <a:srgbClr val="C0C0C0"/>
                  </a:outerShdw>
                </a:effectLst>
                <a:latin typeface="Times New Roman" pitchFamily="18" charset="0"/>
              </a:rPr>
              <a:t>1</a:t>
            </a:r>
          </a:p>
          <a:p>
            <a:pPr>
              <a:lnSpc>
                <a:spcPts val="4000"/>
              </a:lnSpc>
              <a:defRPr/>
            </a:pPr>
            <a:r>
              <a:rPr lang="en-US" altLang="zh-CN" sz="2400" i="1" dirty="0">
                <a:effectLst>
                  <a:outerShdw blurRad="38100" dist="38100" dir="2700000" algn="tl">
                    <a:srgbClr val="C0C0C0"/>
                  </a:outerShdw>
                </a:effectLst>
                <a:latin typeface="Times New Roman" pitchFamily="18" charset="0"/>
              </a:rPr>
              <a:t>V</a:t>
            </a:r>
            <a:r>
              <a:rPr lang="en-US" altLang="zh-CN" sz="2400" baseline="-25000" dirty="0">
                <a:effectLst>
                  <a:outerShdw blurRad="38100" dist="38100" dir="2700000" algn="tl">
                    <a:srgbClr val="C0C0C0"/>
                  </a:outerShdw>
                </a:effectLst>
                <a:latin typeface="Times New Roman" pitchFamily="18" charset="0"/>
              </a:rPr>
              <a:t>2</a:t>
            </a:r>
          </a:p>
          <a:p>
            <a:pPr>
              <a:lnSpc>
                <a:spcPts val="4000"/>
              </a:lnSpc>
              <a:defRPr/>
            </a:pPr>
            <a:r>
              <a:rPr lang="en-US" altLang="zh-CN" sz="2400" i="1" dirty="0">
                <a:effectLst>
                  <a:outerShdw blurRad="38100" dist="38100" dir="2700000" algn="tl">
                    <a:srgbClr val="C0C0C0"/>
                  </a:outerShdw>
                </a:effectLst>
                <a:latin typeface="Times New Roman" pitchFamily="18" charset="0"/>
              </a:rPr>
              <a:t>V</a:t>
            </a:r>
            <a:r>
              <a:rPr lang="en-US" altLang="zh-CN" sz="2400" baseline="-25000" dirty="0">
                <a:effectLst>
                  <a:outerShdw blurRad="38100" dist="38100" dir="2700000" algn="tl">
                    <a:srgbClr val="C0C0C0"/>
                  </a:outerShdw>
                </a:effectLst>
                <a:latin typeface="Times New Roman" pitchFamily="18" charset="0"/>
              </a:rPr>
              <a:t>3</a:t>
            </a:r>
          </a:p>
          <a:p>
            <a:pPr>
              <a:lnSpc>
                <a:spcPts val="4000"/>
              </a:lnSpc>
              <a:defRPr/>
            </a:pPr>
            <a:r>
              <a:rPr lang="en-US" altLang="zh-CN" sz="2400" i="1" dirty="0">
                <a:effectLst>
                  <a:outerShdw blurRad="38100" dist="38100" dir="2700000" algn="tl">
                    <a:srgbClr val="C0C0C0"/>
                  </a:outerShdw>
                </a:effectLst>
                <a:latin typeface="Times New Roman" pitchFamily="18" charset="0"/>
              </a:rPr>
              <a:t>V</a:t>
            </a:r>
            <a:r>
              <a:rPr lang="en-US" altLang="zh-CN" sz="2400" baseline="-25000" dirty="0">
                <a:effectLst>
                  <a:outerShdw blurRad="38100" dist="38100" dir="2700000" algn="tl">
                    <a:srgbClr val="C0C0C0"/>
                  </a:outerShdw>
                </a:effectLst>
                <a:latin typeface="Times New Roman" pitchFamily="18" charset="0"/>
              </a:rPr>
              <a:t>4</a:t>
            </a:r>
          </a:p>
          <a:p>
            <a:pPr>
              <a:lnSpc>
                <a:spcPts val="4000"/>
              </a:lnSpc>
              <a:defRPr/>
            </a:pPr>
            <a:r>
              <a:rPr lang="en-US" altLang="zh-CN" sz="2400" i="1" dirty="0">
                <a:effectLst>
                  <a:outerShdw blurRad="38100" dist="38100" dir="2700000" algn="tl">
                    <a:srgbClr val="C0C0C0"/>
                  </a:outerShdw>
                </a:effectLst>
                <a:latin typeface="Times New Roman" pitchFamily="18" charset="0"/>
              </a:rPr>
              <a:t>V</a:t>
            </a:r>
            <a:r>
              <a:rPr lang="en-US" altLang="zh-CN" sz="2400" baseline="-25000" dirty="0">
                <a:effectLst>
                  <a:outerShdw blurRad="38100" dist="38100" dir="2700000" algn="tl">
                    <a:srgbClr val="C0C0C0"/>
                  </a:outerShdw>
                </a:effectLst>
                <a:latin typeface="Times New Roman" pitchFamily="18" charset="0"/>
              </a:rPr>
              <a:t>5</a:t>
            </a:r>
            <a:endParaRPr lang="zh-CN" altLang="en-US" sz="2400" baseline="-25000" dirty="0">
              <a:effectLst>
                <a:outerShdw blurRad="38100" dist="38100" dir="2700000" algn="tl">
                  <a:srgbClr val="C0C0C0"/>
                </a:outerShdw>
              </a:effectLst>
              <a:latin typeface="Times New Roman" pitchFamily="18" charset="0"/>
            </a:endParaRPr>
          </a:p>
        </p:txBody>
      </p:sp>
      <p:sp>
        <p:nvSpPr>
          <p:cNvPr id="38" name="Rectangle 83"/>
          <p:cNvSpPr>
            <a:spLocks noChangeArrowheads="1"/>
          </p:cNvSpPr>
          <p:nvPr/>
        </p:nvSpPr>
        <p:spPr bwMode="auto">
          <a:xfrm>
            <a:off x="5291428" y="3555191"/>
            <a:ext cx="162256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wrap="none">
            <a:spAutoFit/>
          </a:bodyPr>
          <a:lstStyle/>
          <a:p>
            <a:pPr algn="ctr">
              <a:defRPr/>
            </a:pPr>
            <a:r>
              <a:rPr lang="en-US" altLang="zh-CN" sz="2800" dirty="0" err="1">
                <a:effectLst>
                  <a:outerShdw blurRad="38100" dist="38100" dir="2700000" algn="tl">
                    <a:srgbClr val="C0C0C0"/>
                  </a:outerShdw>
                </a:effectLst>
                <a:latin typeface="Times New Roman" pitchFamily="18" charset="0"/>
                <a:ea typeface="华文行楷" pitchFamily="2" charset="-122"/>
              </a:rPr>
              <a:t>g.edges</a:t>
            </a:r>
            <a:r>
              <a:rPr lang="en-US" altLang="zh-CN" sz="2800" dirty="0">
                <a:effectLst>
                  <a:outerShdw blurRad="38100" dist="38100" dir="2700000" algn="tl">
                    <a:srgbClr val="C0C0C0"/>
                  </a:outerShdw>
                </a:effectLst>
                <a:latin typeface="Times New Roman" pitchFamily="18" charset="0"/>
                <a:ea typeface="华文行楷" pitchFamily="2" charset="-122"/>
              </a:rPr>
              <a:t> =</a:t>
            </a:r>
            <a:endParaRPr lang="zh-CN" altLang="en-US" sz="2800" dirty="0">
              <a:effectLst>
                <a:outerShdw blurRad="38100" dist="38100" dir="2700000" algn="tl">
                  <a:srgbClr val="C0C0C0"/>
                </a:outerShdw>
              </a:effectLst>
              <a:latin typeface="Times New Roman" pitchFamily="18" charset="0"/>
              <a:ea typeface="华文行楷" pitchFamily="2" charset="-122"/>
            </a:endParaRPr>
          </a:p>
        </p:txBody>
      </p:sp>
      <p:sp>
        <p:nvSpPr>
          <p:cNvPr id="39" name="Text Box 2"/>
          <p:cNvSpPr txBox="1">
            <a:spLocks noChangeArrowheads="1"/>
          </p:cNvSpPr>
          <p:nvPr/>
        </p:nvSpPr>
        <p:spPr bwMode="auto">
          <a:xfrm>
            <a:off x="2495476" y="5261138"/>
            <a:ext cx="316847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spAutoFit/>
          </a:bodyPr>
          <a:lstStyle>
            <a:lvl1pPr eaLnBrk="0" hangingPunct="0">
              <a:defRPr kumimoji="1" sz="2800">
                <a:solidFill>
                  <a:schemeClr val="tx1"/>
                </a:solidFill>
                <a:latin typeface="Comic Sans MS" pitchFamily="66" charset="0"/>
                <a:ea typeface="宋体" pitchFamily="2" charset="-122"/>
              </a:defRPr>
            </a:lvl1pPr>
            <a:lvl2pPr marL="742950" indent="-285750" eaLnBrk="0" hangingPunct="0">
              <a:defRPr kumimoji="1" sz="2800">
                <a:solidFill>
                  <a:schemeClr val="tx1"/>
                </a:solidFill>
                <a:latin typeface="Comic Sans MS" pitchFamily="66" charset="0"/>
                <a:ea typeface="宋体" pitchFamily="2" charset="-122"/>
              </a:defRPr>
            </a:lvl2pPr>
            <a:lvl3pPr marL="1143000" indent="-228600" eaLnBrk="0" hangingPunct="0">
              <a:defRPr kumimoji="1" sz="2800">
                <a:solidFill>
                  <a:schemeClr val="tx1"/>
                </a:solidFill>
                <a:latin typeface="Comic Sans MS" pitchFamily="66" charset="0"/>
                <a:ea typeface="宋体" pitchFamily="2" charset="-122"/>
              </a:defRPr>
            </a:lvl3pPr>
            <a:lvl4pPr marL="1600200" indent="-228600" eaLnBrk="0" hangingPunct="0">
              <a:defRPr kumimoji="1" sz="2800">
                <a:solidFill>
                  <a:schemeClr val="tx1"/>
                </a:solidFill>
                <a:latin typeface="Comic Sans MS" pitchFamily="66" charset="0"/>
                <a:ea typeface="宋体" pitchFamily="2" charset="-122"/>
              </a:defRPr>
            </a:lvl4pPr>
            <a:lvl5pPr marL="2057400" indent="-228600" eaLnBrk="0" hangingPunct="0">
              <a:defRPr kumimoji="1" sz="2800">
                <a:solidFill>
                  <a:schemeClr val="tx1"/>
                </a:solidFill>
                <a:latin typeface="Comic Sans MS" pitchFamily="66" charset="0"/>
                <a:ea typeface="宋体" pitchFamily="2" charset="-122"/>
              </a:defRPr>
            </a:lvl5pPr>
            <a:lvl6pPr marL="25146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6pPr>
            <a:lvl7pPr marL="29718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7pPr>
            <a:lvl8pPr marL="34290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8pPr>
            <a:lvl9pPr marL="38862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9pPr>
          </a:lstStyle>
          <a:p>
            <a:pPr algn="l" eaLnBrk="1" hangingPunct="1">
              <a:spcBef>
                <a:spcPct val="50000"/>
              </a:spcBef>
              <a:buClr>
                <a:schemeClr val="accent1"/>
              </a:buClr>
              <a:buSzPct val="75000"/>
            </a:pPr>
            <a:r>
              <a:rPr lang="en-US" altLang="zh-CN" sz="2000" dirty="0">
                <a:latin typeface="微软雅黑" pitchFamily="34" charset="-122"/>
                <a:ea typeface="微软雅黑" pitchFamily="34" charset="-122"/>
                <a:cs typeface="经典粗黑简" pitchFamily="49" charset="-122"/>
              </a:rPr>
              <a:t>1</a:t>
            </a:r>
            <a:r>
              <a:rPr lang="zh-CN" altLang="en-US" sz="2000" dirty="0">
                <a:latin typeface="微软雅黑" pitchFamily="34" charset="-122"/>
                <a:ea typeface="微软雅黑" pitchFamily="34" charset="-122"/>
                <a:cs typeface="经典粗黑简" pitchFamily="49" charset="-122"/>
              </a:rPr>
              <a:t>、是一个对称矩阵；</a:t>
            </a:r>
          </a:p>
        </p:txBody>
      </p:sp>
      <p:sp>
        <p:nvSpPr>
          <p:cNvPr id="40" name="矩形 39"/>
          <p:cNvSpPr/>
          <p:nvPr/>
        </p:nvSpPr>
        <p:spPr>
          <a:xfrm>
            <a:off x="2495921" y="4869160"/>
            <a:ext cx="3262432" cy="400110"/>
          </a:xfrm>
          <a:prstGeom prst="rect">
            <a:avLst/>
          </a:prstGeom>
        </p:spPr>
        <p:txBody>
          <a:bodyPr wrap="square">
            <a:spAutoFit/>
          </a:bodyPr>
          <a:lstStyle/>
          <a:p>
            <a:r>
              <a:rPr kumimoji="1" lang="zh-CN" altLang="en-US" sz="2000" dirty="0">
                <a:latin typeface="微软雅黑" pitchFamily="34" charset="-122"/>
                <a:ea typeface="微软雅黑" pitchFamily="34" charset="-122"/>
                <a:cs typeface="经典粗黑简" pitchFamily="49" charset="-122"/>
              </a:rPr>
              <a:t>无向图的邻接矩阵的特点？</a:t>
            </a:r>
          </a:p>
        </p:txBody>
      </p:sp>
      <p:sp>
        <p:nvSpPr>
          <p:cNvPr id="41" name="矩形 40"/>
          <p:cNvSpPr/>
          <p:nvPr/>
        </p:nvSpPr>
        <p:spPr>
          <a:xfrm>
            <a:off x="2500930" y="5661248"/>
            <a:ext cx="6835430" cy="400110"/>
          </a:xfrm>
          <a:prstGeom prst="rect">
            <a:avLst/>
          </a:prstGeom>
        </p:spPr>
        <p:txBody>
          <a:bodyPr wrap="square">
            <a:spAutoFit/>
          </a:bodyPr>
          <a:lstStyle/>
          <a:p>
            <a:pPr>
              <a:spcBef>
                <a:spcPct val="50000"/>
              </a:spcBef>
              <a:buClr>
                <a:schemeClr val="accent1"/>
              </a:buClr>
              <a:buSzPct val="75000"/>
            </a:pPr>
            <a:r>
              <a:rPr kumimoji="1" lang="en-US" altLang="zh-CN" sz="2000" dirty="0">
                <a:latin typeface="微软雅黑" pitchFamily="34" charset="-122"/>
                <a:ea typeface="微软雅黑" pitchFamily="34" charset="-122"/>
                <a:cs typeface="经典粗黑简" pitchFamily="49" charset="-122"/>
              </a:rPr>
              <a:t>2</a:t>
            </a:r>
            <a:r>
              <a:rPr kumimoji="1" lang="zh-CN" altLang="en-US" sz="2000" dirty="0">
                <a:latin typeface="微软雅黑" pitchFamily="34" charset="-122"/>
                <a:ea typeface="微软雅黑" pitchFamily="34" charset="-122"/>
                <a:cs typeface="经典粗黑简" pitchFamily="49" charset="-122"/>
              </a:rPr>
              <a:t>、顶点</a:t>
            </a:r>
            <a:r>
              <a:rPr kumimoji="1" lang="en-US" altLang="zh-CN" sz="2000" dirty="0">
                <a:latin typeface="微软雅黑" pitchFamily="34" charset="-122"/>
                <a:ea typeface="微软雅黑" pitchFamily="34" charset="-122"/>
                <a:cs typeface="经典粗黑简" pitchFamily="49" charset="-122"/>
              </a:rPr>
              <a:t>vi</a:t>
            </a:r>
            <a:r>
              <a:rPr kumimoji="1" lang="zh-CN" altLang="en-US" sz="2000" dirty="0">
                <a:latin typeface="微软雅黑" pitchFamily="34" charset="-122"/>
                <a:ea typeface="微软雅黑" pitchFamily="34" charset="-122"/>
                <a:cs typeface="经典粗黑简" pitchFamily="49" charset="-122"/>
              </a:rPr>
              <a:t>的度是邻接矩阵中第</a:t>
            </a:r>
            <a:r>
              <a:rPr kumimoji="1" lang="en-US" altLang="zh-CN" sz="2000" dirty="0">
                <a:latin typeface="微软雅黑" pitchFamily="34" charset="-122"/>
                <a:ea typeface="微软雅黑" pitchFamily="34" charset="-122"/>
                <a:cs typeface="经典粗黑简" pitchFamily="49" charset="-122"/>
              </a:rPr>
              <a:t>i</a:t>
            </a:r>
            <a:r>
              <a:rPr kumimoji="1" lang="zh-CN" altLang="en-US" sz="2000" dirty="0">
                <a:latin typeface="微软雅黑" pitchFamily="34" charset="-122"/>
                <a:ea typeface="微软雅黑" pitchFamily="34" charset="-122"/>
                <a:cs typeface="经典粗黑简" pitchFamily="49" charset="-122"/>
              </a:rPr>
              <a:t>行（或第</a:t>
            </a:r>
            <a:r>
              <a:rPr kumimoji="1" lang="en-US" altLang="zh-CN" sz="2000" dirty="0">
                <a:latin typeface="微软雅黑" pitchFamily="34" charset="-122"/>
                <a:ea typeface="微软雅黑" pitchFamily="34" charset="-122"/>
                <a:cs typeface="经典粗黑简" pitchFamily="49" charset="-122"/>
              </a:rPr>
              <a:t>i</a:t>
            </a:r>
            <a:r>
              <a:rPr kumimoji="1" lang="zh-CN" altLang="en-US" sz="2000" dirty="0">
                <a:latin typeface="微软雅黑" pitchFamily="34" charset="-122"/>
                <a:ea typeface="微软雅黑" pitchFamily="34" charset="-122"/>
                <a:cs typeface="经典粗黑简" pitchFamily="49" charset="-122"/>
              </a:rPr>
              <a:t>列）的元素之和；</a:t>
            </a:r>
          </a:p>
        </p:txBody>
      </p:sp>
      <p:sp>
        <p:nvSpPr>
          <p:cNvPr id="3" name="Rectangle 2">
            <a:extLst>
              <a:ext uri="{FF2B5EF4-FFF2-40B4-BE49-F238E27FC236}">
                <a16:creationId xmlns:a16="http://schemas.microsoft.com/office/drawing/2014/main" id="{B03DFBDF-9D53-2825-4C57-342DD8B001CA}"/>
              </a:ext>
            </a:extLst>
          </p:cNvPr>
          <p:cNvSpPr txBox="1">
            <a:spLocks noChangeArrowheads="1"/>
          </p:cNvSpPr>
          <p:nvPr/>
        </p:nvSpPr>
        <p:spPr>
          <a:xfrm>
            <a:off x="474772" y="1230902"/>
            <a:ext cx="4253075"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8.2.1 </a:t>
            </a:r>
            <a:r>
              <a:rPr kumimoji="1" lang="zh-CN" altLang="en-US" dirty="0">
                <a:latin typeface="微软雅黑" pitchFamily="34" charset="-122"/>
                <a:ea typeface="微软雅黑" pitchFamily="34" charset="-122"/>
              </a:rPr>
              <a:t>邻接矩阵存储方法</a:t>
            </a:r>
            <a:endParaRPr lang="zh-CN" altLang="en-US" dirty="0"/>
          </a:p>
        </p:txBody>
      </p:sp>
      <p:sp>
        <p:nvSpPr>
          <p:cNvPr id="4" name="矩形 3">
            <a:extLst>
              <a:ext uri="{FF2B5EF4-FFF2-40B4-BE49-F238E27FC236}">
                <a16:creationId xmlns:a16="http://schemas.microsoft.com/office/drawing/2014/main" id="{EED961A1-7A07-C95A-9EA3-52671F11FB9C}"/>
              </a:ext>
            </a:extLst>
          </p:cNvPr>
          <p:cNvSpPr/>
          <p:nvPr/>
        </p:nvSpPr>
        <p:spPr>
          <a:xfrm>
            <a:off x="2846292" y="348366"/>
            <a:ext cx="6715440"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8.2 </a:t>
            </a:r>
            <a:r>
              <a:rPr lang="zh-CN" altLang="en-US" sz="3000" b="1" dirty="0">
                <a:latin typeface="黑体" pitchFamily="49" charset="-122"/>
                <a:ea typeface="黑体" pitchFamily="49" charset="-122"/>
                <a:cs typeface="经典粗黑简" pitchFamily="49" charset="-122"/>
              </a:rPr>
              <a:t>图的存储结构和基本运算算法</a:t>
            </a:r>
          </a:p>
        </p:txBody>
      </p:sp>
      <p:cxnSp>
        <p:nvCxnSpPr>
          <p:cNvPr id="5" name="直接连接符 4">
            <a:extLst>
              <a:ext uri="{FF2B5EF4-FFF2-40B4-BE49-F238E27FC236}">
                <a16:creationId xmlns:a16="http://schemas.microsoft.com/office/drawing/2014/main" id="{68C2F828-EDA2-BC5C-9FC0-7F83EA6576C7}"/>
              </a:ext>
            </a:extLst>
          </p:cNvPr>
          <p:cNvCxnSpPr>
            <a:cxnSpLocks/>
          </p:cNvCxnSpPr>
          <p:nvPr/>
        </p:nvCxnSpPr>
        <p:spPr>
          <a:xfrm>
            <a:off x="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991217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P spid="37" grpId="0"/>
      <p:bldP spid="38" grpId="0"/>
      <p:bldP spid="39" grpId="0"/>
      <p:bldP spid="40" grpId="0"/>
      <p:bldP spid="41"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Text Box 77"/>
          <p:cNvSpPr txBox="1">
            <a:spLocks noChangeArrowheads="1"/>
          </p:cNvSpPr>
          <p:nvPr/>
        </p:nvSpPr>
        <p:spPr bwMode="auto">
          <a:xfrm>
            <a:off x="7030780" y="1628800"/>
            <a:ext cx="2233572" cy="523220"/>
          </a:xfrm>
          <a:prstGeom prst="rect">
            <a:avLst/>
          </a:prstGeom>
          <a:noFill/>
          <a:ln w="28575">
            <a:solidFill>
              <a:schemeClr val="accent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107763" dir="18900000" algn="ctr" rotWithShape="0">
                    <a:schemeClr val="bg2"/>
                  </a:outerShdw>
                </a:effectLst>
              </a14:hiddenEffects>
            </a:ext>
          </a:extLst>
        </p:spPr>
        <p:txBody>
          <a:bodyPr wrap="square" lIns="126000" rIns="0">
            <a:spAutoFit/>
          </a:bodyPr>
          <a:lstStyle/>
          <a:p>
            <a:pPr>
              <a:spcBef>
                <a:spcPct val="50000"/>
              </a:spcBef>
              <a:defRPr/>
            </a:pPr>
            <a:r>
              <a:rPr lang="en-US" altLang="zh-CN" sz="2800" i="1" dirty="0">
                <a:effectLst>
                  <a:outerShdw blurRad="38100" dist="38100" dir="2700000" algn="tl">
                    <a:srgbClr val="C0C0C0"/>
                  </a:outerShdw>
                </a:effectLst>
                <a:latin typeface="Times New Roman" pitchFamily="18" charset="0"/>
              </a:rPr>
              <a:t>V</a:t>
            </a:r>
            <a:r>
              <a:rPr lang="en-US" altLang="zh-CN" sz="2800" baseline="-25000" dirty="0">
                <a:effectLst>
                  <a:outerShdw blurRad="38100" dist="38100" dir="2700000" algn="tl">
                    <a:srgbClr val="C0C0C0"/>
                  </a:outerShdw>
                </a:effectLst>
                <a:latin typeface="Times New Roman" pitchFamily="18" charset="0"/>
              </a:rPr>
              <a:t>1   </a:t>
            </a:r>
            <a:r>
              <a:rPr lang="en-US" altLang="zh-CN" sz="2800" i="1" dirty="0">
                <a:effectLst>
                  <a:outerShdw blurRad="38100" dist="38100" dir="2700000" algn="tl">
                    <a:srgbClr val="C0C0C0"/>
                  </a:outerShdw>
                </a:effectLst>
                <a:latin typeface="Times New Roman" pitchFamily="18" charset="0"/>
              </a:rPr>
              <a:t>V</a:t>
            </a:r>
            <a:r>
              <a:rPr lang="en-US" altLang="zh-CN" sz="2800" baseline="-25000" dirty="0">
                <a:effectLst>
                  <a:outerShdw blurRad="38100" dist="38100" dir="2700000" algn="tl">
                    <a:srgbClr val="C0C0C0"/>
                  </a:outerShdw>
                </a:effectLst>
                <a:latin typeface="Times New Roman" pitchFamily="18" charset="0"/>
              </a:rPr>
              <a:t>2   </a:t>
            </a:r>
            <a:r>
              <a:rPr lang="en-US" altLang="zh-CN" sz="2800" i="1" dirty="0">
                <a:effectLst>
                  <a:outerShdw blurRad="38100" dist="38100" dir="2700000" algn="tl">
                    <a:srgbClr val="C0C0C0"/>
                  </a:outerShdw>
                </a:effectLst>
                <a:latin typeface="Times New Roman" pitchFamily="18" charset="0"/>
              </a:rPr>
              <a:t>V</a:t>
            </a:r>
            <a:r>
              <a:rPr lang="en-US" altLang="zh-CN" sz="2800" baseline="-25000" dirty="0">
                <a:effectLst>
                  <a:outerShdw blurRad="38100" dist="38100" dir="2700000" algn="tl">
                    <a:srgbClr val="C0C0C0"/>
                  </a:outerShdw>
                </a:effectLst>
                <a:latin typeface="Times New Roman" pitchFamily="18" charset="0"/>
              </a:rPr>
              <a:t>3    </a:t>
            </a:r>
            <a:r>
              <a:rPr lang="en-US" altLang="zh-CN" sz="2800" i="1" dirty="0">
                <a:effectLst>
                  <a:outerShdw blurRad="38100" dist="38100" dir="2700000" algn="tl">
                    <a:srgbClr val="C0C0C0"/>
                  </a:outerShdw>
                </a:effectLst>
                <a:latin typeface="Times New Roman" pitchFamily="18" charset="0"/>
              </a:rPr>
              <a:t>V</a:t>
            </a:r>
            <a:r>
              <a:rPr lang="en-US" altLang="zh-CN" sz="2800" baseline="-25000" dirty="0">
                <a:effectLst>
                  <a:outerShdw blurRad="38100" dist="38100" dir="2700000" algn="tl">
                    <a:srgbClr val="C0C0C0"/>
                  </a:outerShdw>
                </a:effectLst>
                <a:latin typeface="Times New Roman" pitchFamily="18" charset="0"/>
              </a:rPr>
              <a:t>4</a:t>
            </a:r>
            <a:endParaRPr lang="zh-CN" altLang="en-US" sz="2800" baseline="-25000" dirty="0">
              <a:effectLst>
                <a:outerShdw blurRad="38100" dist="38100" dir="2700000" algn="tl">
                  <a:srgbClr val="C0C0C0"/>
                </a:outerShdw>
              </a:effectLst>
              <a:latin typeface="Times New Roman" pitchFamily="18" charset="0"/>
            </a:endParaRPr>
          </a:p>
        </p:txBody>
      </p:sp>
      <p:sp>
        <p:nvSpPr>
          <p:cNvPr id="31" name="Line 78"/>
          <p:cNvSpPr>
            <a:spLocks noChangeShapeType="1"/>
          </p:cNvSpPr>
          <p:nvPr/>
        </p:nvSpPr>
        <p:spPr bwMode="auto">
          <a:xfrm>
            <a:off x="7595930" y="1628800"/>
            <a:ext cx="0" cy="533400"/>
          </a:xfrm>
          <a:prstGeom prst="line">
            <a:avLst/>
          </a:prstGeom>
          <a:noFill/>
          <a:ln w="2857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18900000" algn="ctr" rotWithShape="0">
                    <a:schemeClr val="bg2"/>
                  </a:outerShdw>
                </a:effectLst>
              </a14:hiddenEffects>
            </a:ext>
          </a:extLst>
        </p:spPr>
        <p:txBody>
          <a:bodyPr wrap="none" anchor="ctr">
            <a:spAutoFit/>
          </a:bodyPr>
          <a:lstStyle/>
          <a:p>
            <a:endParaRPr lang="zh-CN" altLang="en-US"/>
          </a:p>
        </p:txBody>
      </p:sp>
      <p:sp>
        <p:nvSpPr>
          <p:cNvPr id="32" name="Line 79"/>
          <p:cNvSpPr>
            <a:spLocks noChangeShapeType="1"/>
          </p:cNvSpPr>
          <p:nvPr/>
        </p:nvSpPr>
        <p:spPr bwMode="auto">
          <a:xfrm>
            <a:off x="8161080" y="1628800"/>
            <a:ext cx="0" cy="533400"/>
          </a:xfrm>
          <a:prstGeom prst="line">
            <a:avLst/>
          </a:prstGeom>
          <a:noFill/>
          <a:ln w="2857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18900000" algn="ctr" rotWithShape="0">
                    <a:schemeClr val="bg2"/>
                  </a:outerShdw>
                </a:effectLst>
              </a14:hiddenEffects>
            </a:ext>
          </a:extLst>
        </p:spPr>
        <p:txBody>
          <a:bodyPr wrap="none" anchor="ctr">
            <a:spAutoFit/>
          </a:bodyPr>
          <a:lstStyle/>
          <a:p>
            <a:endParaRPr lang="zh-CN" altLang="en-US"/>
          </a:p>
        </p:txBody>
      </p:sp>
      <p:sp>
        <p:nvSpPr>
          <p:cNvPr id="33" name="Line 80"/>
          <p:cNvSpPr>
            <a:spLocks noChangeShapeType="1"/>
          </p:cNvSpPr>
          <p:nvPr/>
        </p:nvSpPr>
        <p:spPr bwMode="auto">
          <a:xfrm>
            <a:off x="8710355" y="1628800"/>
            <a:ext cx="0" cy="533400"/>
          </a:xfrm>
          <a:prstGeom prst="line">
            <a:avLst/>
          </a:prstGeom>
          <a:noFill/>
          <a:ln w="2857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18900000" algn="ctr" rotWithShape="0">
                    <a:schemeClr val="bg2"/>
                  </a:outerShdw>
                </a:effectLst>
              </a14:hiddenEffects>
            </a:ext>
          </a:extLst>
        </p:spPr>
        <p:txBody>
          <a:bodyPr wrap="none" anchor="ctr">
            <a:spAutoFit/>
          </a:bodyPr>
          <a:lstStyle/>
          <a:p>
            <a:endParaRPr lang="zh-CN" altLang="en-US"/>
          </a:p>
        </p:txBody>
      </p:sp>
      <p:sp>
        <p:nvSpPr>
          <p:cNvPr id="34" name="Rectangle 81"/>
          <p:cNvSpPr>
            <a:spLocks noChangeArrowheads="1"/>
          </p:cNvSpPr>
          <p:nvPr/>
        </p:nvSpPr>
        <p:spPr bwMode="auto">
          <a:xfrm>
            <a:off x="5673468" y="1665314"/>
            <a:ext cx="13430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pPr algn="ctr">
              <a:defRPr/>
            </a:pPr>
            <a:r>
              <a:rPr lang="en-US" altLang="zh-CN" sz="2800" dirty="0" err="1">
                <a:effectLst>
                  <a:outerShdw blurRad="38100" dist="38100" dir="2700000" algn="tl">
                    <a:srgbClr val="C0C0C0"/>
                  </a:outerShdw>
                </a:effectLst>
                <a:latin typeface="Times New Roman" pitchFamily="18" charset="0"/>
                <a:ea typeface="华文行楷" pitchFamily="2" charset="-122"/>
              </a:rPr>
              <a:t>g.vexs</a:t>
            </a:r>
            <a:r>
              <a:rPr lang="en-US" altLang="zh-CN" sz="2800" dirty="0">
                <a:effectLst>
                  <a:outerShdw blurRad="38100" dist="38100" dir="2700000" algn="tl">
                    <a:srgbClr val="C0C0C0"/>
                  </a:outerShdw>
                </a:effectLst>
                <a:latin typeface="Times New Roman" pitchFamily="18" charset="0"/>
                <a:ea typeface="华文行楷" pitchFamily="2" charset="-122"/>
              </a:rPr>
              <a:t>=</a:t>
            </a:r>
            <a:endParaRPr lang="zh-CN" altLang="en-US" sz="2800" dirty="0">
              <a:effectLst>
                <a:outerShdw blurRad="38100" dist="38100" dir="2700000" algn="tl">
                  <a:srgbClr val="C0C0C0"/>
                </a:outerShdw>
              </a:effectLst>
              <a:latin typeface="Times New Roman" pitchFamily="18" charset="0"/>
              <a:ea typeface="华文行楷" pitchFamily="2" charset="-122"/>
            </a:endParaRPr>
          </a:p>
        </p:txBody>
      </p:sp>
      <p:sp>
        <p:nvSpPr>
          <p:cNvPr id="36" name="Rectangle 87"/>
          <p:cNvSpPr>
            <a:spLocks noChangeArrowheads="1"/>
          </p:cNvSpPr>
          <p:nvPr/>
        </p:nvSpPr>
        <p:spPr bwMode="auto">
          <a:xfrm>
            <a:off x="6824838" y="2319923"/>
            <a:ext cx="229549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wrap="square">
            <a:spAutoFit/>
          </a:bodyPr>
          <a:lstStyle/>
          <a:p>
            <a:pPr>
              <a:defRPr/>
            </a:pPr>
            <a:r>
              <a:rPr lang="en-US" altLang="zh-CN" sz="2400" i="1" dirty="0">
                <a:effectLst>
                  <a:outerShdw blurRad="38100" dist="38100" dir="2700000" algn="tl">
                    <a:srgbClr val="C0C0C0"/>
                  </a:outerShdw>
                </a:effectLst>
                <a:latin typeface="Times New Roman" pitchFamily="18" charset="0"/>
              </a:rPr>
              <a:t>V</a:t>
            </a:r>
            <a:r>
              <a:rPr lang="en-US" altLang="zh-CN" sz="2400" baseline="-25000" dirty="0">
                <a:effectLst>
                  <a:outerShdw blurRad="38100" dist="38100" dir="2700000" algn="tl">
                    <a:srgbClr val="C0C0C0"/>
                  </a:outerShdw>
                </a:effectLst>
                <a:latin typeface="Times New Roman" pitchFamily="18" charset="0"/>
              </a:rPr>
              <a:t>1     </a:t>
            </a:r>
            <a:r>
              <a:rPr lang="en-US" altLang="zh-CN" sz="2400" i="1" dirty="0">
                <a:effectLst>
                  <a:outerShdw blurRad="38100" dist="38100" dir="2700000" algn="tl">
                    <a:srgbClr val="C0C0C0"/>
                  </a:outerShdw>
                </a:effectLst>
                <a:latin typeface="Times New Roman" pitchFamily="18" charset="0"/>
              </a:rPr>
              <a:t>V</a:t>
            </a:r>
            <a:r>
              <a:rPr lang="en-US" altLang="zh-CN" sz="2400" baseline="-25000" dirty="0">
                <a:effectLst>
                  <a:outerShdw blurRad="38100" dist="38100" dir="2700000" algn="tl">
                    <a:srgbClr val="C0C0C0"/>
                  </a:outerShdw>
                </a:effectLst>
                <a:latin typeface="Times New Roman" pitchFamily="18" charset="0"/>
              </a:rPr>
              <a:t>2     </a:t>
            </a:r>
            <a:r>
              <a:rPr lang="en-US" altLang="zh-CN" sz="2400" i="1" dirty="0">
                <a:effectLst>
                  <a:outerShdw blurRad="38100" dist="38100" dir="2700000" algn="tl">
                    <a:srgbClr val="C0C0C0"/>
                  </a:outerShdw>
                </a:effectLst>
                <a:latin typeface="Times New Roman" pitchFamily="18" charset="0"/>
              </a:rPr>
              <a:t>V</a:t>
            </a:r>
            <a:r>
              <a:rPr lang="en-US" altLang="zh-CN" sz="2400" baseline="-25000" dirty="0">
                <a:effectLst>
                  <a:outerShdw blurRad="38100" dist="38100" dir="2700000" algn="tl">
                    <a:srgbClr val="C0C0C0"/>
                  </a:outerShdw>
                </a:effectLst>
                <a:latin typeface="Times New Roman" pitchFamily="18" charset="0"/>
              </a:rPr>
              <a:t>3     </a:t>
            </a:r>
            <a:r>
              <a:rPr lang="en-US" altLang="zh-CN" sz="2400" i="1" dirty="0">
                <a:effectLst>
                  <a:outerShdw blurRad="38100" dist="38100" dir="2700000" algn="tl">
                    <a:srgbClr val="C0C0C0"/>
                  </a:outerShdw>
                </a:effectLst>
                <a:latin typeface="Times New Roman" pitchFamily="18" charset="0"/>
              </a:rPr>
              <a:t>V</a:t>
            </a:r>
            <a:r>
              <a:rPr lang="en-US" altLang="zh-CN" sz="2400" baseline="-25000" dirty="0">
                <a:effectLst>
                  <a:outerShdw blurRad="38100" dist="38100" dir="2700000" algn="tl">
                    <a:srgbClr val="C0C0C0"/>
                  </a:outerShdw>
                </a:effectLst>
                <a:latin typeface="Times New Roman" pitchFamily="18" charset="0"/>
              </a:rPr>
              <a:t>4</a:t>
            </a:r>
            <a:endParaRPr lang="zh-CN" altLang="en-US" sz="2400" baseline="-25000" dirty="0">
              <a:effectLst>
                <a:outerShdw blurRad="38100" dist="38100" dir="2700000" algn="tl">
                  <a:srgbClr val="C0C0C0"/>
                </a:outerShdw>
              </a:effectLst>
              <a:latin typeface="Times New Roman" pitchFamily="18" charset="0"/>
            </a:endParaRPr>
          </a:p>
        </p:txBody>
      </p:sp>
      <p:sp>
        <p:nvSpPr>
          <p:cNvPr id="37" name="Rectangle 88"/>
          <p:cNvSpPr>
            <a:spLocks noChangeArrowheads="1"/>
          </p:cNvSpPr>
          <p:nvPr/>
        </p:nvSpPr>
        <p:spPr bwMode="auto">
          <a:xfrm>
            <a:off x="9120336" y="2668080"/>
            <a:ext cx="601662" cy="23285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pPr>
              <a:lnSpc>
                <a:spcPts val="4500"/>
              </a:lnSpc>
              <a:defRPr/>
            </a:pPr>
            <a:r>
              <a:rPr lang="en-US" altLang="zh-CN" sz="2400" i="1" dirty="0">
                <a:effectLst>
                  <a:outerShdw blurRad="38100" dist="38100" dir="2700000" algn="tl">
                    <a:srgbClr val="C0C0C0"/>
                  </a:outerShdw>
                </a:effectLst>
                <a:latin typeface="Times New Roman" pitchFamily="18" charset="0"/>
              </a:rPr>
              <a:t>V</a:t>
            </a:r>
            <a:r>
              <a:rPr lang="en-US" altLang="zh-CN" sz="2400" baseline="-25000" dirty="0">
                <a:effectLst>
                  <a:outerShdw blurRad="38100" dist="38100" dir="2700000" algn="tl">
                    <a:srgbClr val="C0C0C0"/>
                  </a:outerShdw>
                </a:effectLst>
                <a:latin typeface="Times New Roman" pitchFamily="18" charset="0"/>
              </a:rPr>
              <a:t>1</a:t>
            </a:r>
          </a:p>
          <a:p>
            <a:pPr>
              <a:lnSpc>
                <a:spcPts val="4500"/>
              </a:lnSpc>
              <a:defRPr/>
            </a:pPr>
            <a:r>
              <a:rPr lang="en-US" altLang="zh-CN" sz="2400" i="1" dirty="0">
                <a:effectLst>
                  <a:outerShdw blurRad="38100" dist="38100" dir="2700000" algn="tl">
                    <a:srgbClr val="C0C0C0"/>
                  </a:outerShdw>
                </a:effectLst>
                <a:latin typeface="Times New Roman" pitchFamily="18" charset="0"/>
              </a:rPr>
              <a:t>V</a:t>
            </a:r>
            <a:r>
              <a:rPr lang="en-US" altLang="zh-CN" sz="2400" baseline="-25000" dirty="0">
                <a:effectLst>
                  <a:outerShdw blurRad="38100" dist="38100" dir="2700000" algn="tl">
                    <a:srgbClr val="C0C0C0"/>
                  </a:outerShdw>
                </a:effectLst>
                <a:latin typeface="Times New Roman" pitchFamily="18" charset="0"/>
              </a:rPr>
              <a:t>2</a:t>
            </a:r>
          </a:p>
          <a:p>
            <a:pPr>
              <a:lnSpc>
                <a:spcPts val="4500"/>
              </a:lnSpc>
              <a:defRPr/>
            </a:pPr>
            <a:r>
              <a:rPr lang="en-US" altLang="zh-CN" sz="2400" i="1" dirty="0">
                <a:effectLst>
                  <a:outerShdw blurRad="38100" dist="38100" dir="2700000" algn="tl">
                    <a:srgbClr val="C0C0C0"/>
                  </a:outerShdw>
                </a:effectLst>
                <a:latin typeface="Times New Roman" pitchFamily="18" charset="0"/>
              </a:rPr>
              <a:t>V</a:t>
            </a:r>
            <a:r>
              <a:rPr lang="en-US" altLang="zh-CN" sz="2400" baseline="-25000" dirty="0">
                <a:effectLst>
                  <a:outerShdw blurRad="38100" dist="38100" dir="2700000" algn="tl">
                    <a:srgbClr val="C0C0C0"/>
                  </a:outerShdw>
                </a:effectLst>
                <a:latin typeface="Times New Roman" pitchFamily="18" charset="0"/>
              </a:rPr>
              <a:t>3</a:t>
            </a:r>
          </a:p>
          <a:p>
            <a:pPr>
              <a:lnSpc>
                <a:spcPts val="4500"/>
              </a:lnSpc>
              <a:defRPr/>
            </a:pPr>
            <a:r>
              <a:rPr lang="en-US" altLang="zh-CN" sz="2400" i="1" dirty="0">
                <a:effectLst>
                  <a:outerShdw blurRad="38100" dist="38100" dir="2700000" algn="tl">
                    <a:srgbClr val="C0C0C0"/>
                  </a:outerShdw>
                </a:effectLst>
                <a:latin typeface="Times New Roman" pitchFamily="18" charset="0"/>
              </a:rPr>
              <a:t>V</a:t>
            </a:r>
            <a:r>
              <a:rPr lang="en-US" altLang="zh-CN" sz="2400" baseline="-25000" dirty="0">
                <a:effectLst>
                  <a:outerShdw blurRad="38100" dist="38100" dir="2700000" algn="tl">
                    <a:srgbClr val="C0C0C0"/>
                  </a:outerShdw>
                </a:effectLst>
                <a:latin typeface="Times New Roman" pitchFamily="18" charset="0"/>
              </a:rPr>
              <a:t>4</a:t>
            </a:r>
          </a:p>
        </p:txBody>
      </p:sp>
      <p:grpSp>
        <p:nvGrpSpPr>
          <p:cNvPr id="42" name="组合 41"/>
          <p:cNvGrpSpPr/>
          <p:nvPr/>
        </p:nvGrpSpPr>
        <p:grpSpPr>
          <a:xfrm>
            <a:off x="3063993" y="2220536"/>
            <a:ext cx="2016125" cy="2560350"/>
            <a:chOff x="1541579" y="2060848"/>
            <a:chExt cx="2016125" cy="2560350"/>
          </a:xfrm>
        </p:grpSpPr>
        <p:grpSp>
          <p:nvGrpSpPr>
            <p:cNvPr id="43" name="Group 3"/>
            <p:cNvGrpSpPr>
              <a:grpSpLocks/>
            </p:cNvGrpSpPr>
            <p:nvPr/>
          </p:nvGrpSpPr>
          <p:grpSpPr bwMode="auto">
            <a:xfrm>
              <a:off x="1541579" y="2060848"/>
              <a:ext cx="2016125" cy="1944688"/>
              <a:chOff x="1338" y="1434"/>
              <a:chExt cx="1270" cy="1225"/>
            </a:xfrm>
          </p:grpSpPr>
          <p:sp>
            <p:nvSpPr>
              <p:cNvPr id="45" name="Oval 4"/>
              <p:cNvSpPr>
                <a:spLocks noChangeArrowheads="1"/>
              </p:cNvSpPr>
              <p:nvPr/>
            </p:nvSpPr>
            <p:spPr bwMode="auto">
              <a:xfrm>
                <a:off x="1338" y="1434"/>
                <a:ext cx="317" cy="317"/>
              </a:xfrm>
              <a:prstGeom prst="ellipse">
                <a:avLst/>
              </a:prstGeom>
              <a:solidFill>
                <a:schemeClr val="bg1"/>
              </a:solidFill>
              <a:ln w="28575" cap="sq">
                <a:solidFill>
                  <a:srgbClr val="996600"/>
                </a:solidFill>
                <a:miter lim="800000"/>
                <a:headEnd type="none" w="sm" len="sm"/>
                <a:tailEnd type="none" w="sm" len="sm"/>
              </a:ln>
            </p:spPr>
            <p:txBody>
              <a:bodyPr wrap="none" tIns="0" anchorCtr="1"/>
              <a:lstStyle/>
              <a:p>
                <a:r>
                  <a:rPr lang="en-US" altLang="zh-CN" sz="2400"/>
                  <a:t>v</a:t>
                </a:r>
                <a:r>
                  <a:rPr lang="en-US" altLang="zh-CN" sz="2400" baseline="-25000"/>
                  <a:t>1</a:t>
                </a:r>
              </a:p>
            </p:txBody>
          </p:sp>
          <p:sp>
            <p:nvSpPr>
              <p:cNvPr id="46" name="Oval 5"/>
              <p:cNvSpPr>
                <a:spLocks noChangeArrowheads="1"/>
              </p:cNvSpPr>
              <p:nvPr/>
            </p:nvSpPr>
            <p:spPr bwMode="auto">
              <a:xfrm>
                <a:off x="2291" y="1434"/>
                <a:ext cx="317" cy="317"/>
              </a:xfrm>
              <a:prstGeom prst="ellipse">
                <a:avLst/>
              </a:prstGeom>
              <a:solidFill>
                <a:schemeClr val="bg1"/>
              </a:solidFill>
              <a:ln w="28575" cap="sq">
                <a:solidFill>
                  <a:srgbClr val="996600"/>
                </a:solidFill>
                <a:miter lim="800000"/>
                <a:headEnd type="none" w="sm" len="sm"/>
                <a:tailEnd type="none" w="sm" len="sm"/>
              </a:ln>
            </p:spPr>
            <p:txBody>
              <a:bodyPr wrap="none" tIns="0" anchorCtr="1"/>
              <a:lstStyle/>
              <a:p>
                <a:r>
                  <a:rPr lang="en-US" altLang="zh-CN" sz="2400"/>
                  <a:t>v</a:t>
                </a:r>
                <a:r>
                  <a:rPr lang="en-US" altLang="zh-CN" sz="2400" baseline="-25000"/>
                  <a:t>2</a:t>
                </a:r>
              </a:p>
            </p:txBody>
          </p:sp>
          <p:sp>
            <p:nvSpPr>
              <p:cNvPr id="47" name="Oval 6"/>
              <p:cNvSpPr>
                <a:spLocks noChangeArrowheads="1"/>
              </p:cNvSpPr>
              <p:nvPr/>
            </p:nvSpPr>
            <p:spPr bwMode="auto">
              <a:xfrm>
                <a:off x="1338" y="2342"/>
                <a:ext cx="317" cy="317"/>
              </a:xfrm>
              <a:prstGeom prst="ellipse">
                <a:avLst/>
              </a:prstGeom>
              <a:solidFill>
                <a:schemeClr val="bg1"/>
              </a:solidFill>
              <a:ln w="28575" cap="sq">
                <a:solidFill>
                  <a:srgbClr val="996600"/>
                </a:solidFill>
                <a:miter lim="800000"/>
                <a:headEnd type="none" w="sm" len="sm"/>
                <a:tailEnd type="none" w="sm" len="sm"/>
              </a:ln>
            </p:spPr>
            <p:txBody>
              <a:bodyPr wrap="none" tIns="0" anchorCtr="1"/>
              <a:lstStyle/>
              <a:p>
                <a:r>
                  <a:rPr lang="en-US" altLang="zh-CN" sz="2400"/>
                  <a:t>v</a:t>
                </a:r>
                <a:r>
                  <a:rPr lang="en-US" altLang="zh-CN" sz="2400" baseline="-25000"/>
                  <a:t>3</a:t>
                </a:r>
              </a:p>
            </p:txBody>
          </p:sp>
          <p:sp>
            <p:nvSpPr>
              <p:cNvPr id="48" name="Oval 7"/>
              <p:cNvSpPr>
                <a:spLocks noChangeArrowheads="1"/>
              </p:cNvSpPr>
              <p:nvPr/>
            </p:nvSpPr>
            <p:spPr bwMode="auto">
              <a:xfrm>
                <a:off x="2290" y="2341"/>
                <a:ext cx="317" cy="317"/>
              </a:xfrm>
              <a:prstGeom prst="ellipse">
                <a:avLst/>
              </a:prstGeom>
              <a:solidFill>
                <a:schemeClr val="bg1"/>
              </a:solidFill>
              <a:ln w="28575" cap="sq">
                <a:solidFill>
                  <a:srgbClr val="996600"/>
                </a:solidFill>
                <a:miter lim="800000"/>
                <a:headEnd type="none" w="sm" len="sm"/>
                <a:tailEnd type="none" w="sm" len="sm"/>
              </a:ln>
            </p:spPr>
            <p:txBody>
              <a:bodyPr wrap="none" tIns="0" anchorCtr="1"/>
              <a:lstStyle/>
              <a:p>
                <a:r>
                  <a:rPr lang="en-US" altLang="zh-CN" sz="2400"/>
                  <a:t>v</a:t>
                </a:r>
                <a:r>
                  <a:rPr lang="en-US" altLang="zh-CN" sz="2400" baseline="-25000"/>
                  <a:t>4</a:t>
                </a:r>
              </a:p>
            </p:txBody>
          </p:sp>
          <p:sp>
            <p:nvSpPr>
              <p:cNvPr id="49" name="Line 8"/>
              <p:cNvSpPr>
                <a:spLocks noChangeShapeType="1"/>
              </p:cNvSpPr>
              <p:nvPr/>
            </p:nvSpPr>
            <p:spPr bwMode="auto">
              <a:xfrm>
                <a:off x="1655" y="1616"/>
                <a:ext cx="635" cy="0"/>
              </a:xfrm>
              <a:prstGeom prst="line">
                <a:avLst/>
              </a:prstGeom>
              <a:noFill/>
              <a:ln w="28575" cap="sq">
                <a:solidFill>
                  <a:srgbClr val="996600"/>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50" name="Line 9"/>
              <p:cNvSpPr>
                <a:spLocks noChangeShapeType="1"/>
              </p:cNvSpPr>
              <p:nvPr/>
            </p:nvSpPr>
            <p:spPr bwMode="auto">
              <a:xfrm>
                <a:off x="1655" y="2523"/>
                <a:ext cx="635" cy="0"/>
              </a:xfrm>
              <a:prstGeom prst="line">
                <a:avLst/>
              </a:prstGeom>
              <a:noFill/>
              <a:ln w="28575" cap="sq">
                <a:solidFill>
                  <a:srgbClr val="996600"/>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51" name="Line 10"/>
              <p:cNvSpPr>
                <a:spLocks noChangeShapeType="1"/>
              </p:cNvSpPr>
              <p:nvPr/>
            </p:nvSpPr>
            <p:spPr bwMode="auto">
              <a:xfrm>
                <a:off x="1474" y="1752"/>
                <a:ext cx="0" cy="589"/>
              </a:xfrm>
              <a:prstGeom prst="line">
                <a:avLst/>
              </a:prstGeom>
              <a:noFill/>
              <a:ln w="28575" cap="sq">
                <a:solidFill>
                  <a:srgbClr val="996600"/>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52" name="Line 11"/>
              <p:cNvSpPr>
                <a:spLocks noChangeShapeType="1"/>
              </p:cNvSpPr>
              <p:nvPr/>
            </p:nvSpPr>
            <p:spPr bwMode="auto">
              <a:xfrm flipH="1" flipV="1">
                <a:off x="1610" y="1706"/>
                <a:ext cx="771" cy="635"/>
              </a:xfrm>
              <a:prstGeom prst="line">
                <a:avLst/>
              </a:prstGeom>
              <a:noFill/>
              <a:ln w="28575" cap="sq">
                <a:solidFill>
                  <a:srgbClr val="996600"/>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sp>
          <p:nvSpPr>
            <p:cNvPr id="44" name="Text Box 12"/>
            <p:cNvSpPr txBox="1">
              <a:spLocks noChangeArrowheads="1"/>
            </p:cNvSpPr>
            <p:nvPr/>
          </p:nvSpPr>
          <p:spPr bwMode="auto">
            <a:xfrm>
              <a:off x="1973379" y="4221088"/>
              <a:ext cx="13028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spAutoFit/>
            </a:bodyPr>
            <a:lstStyle>
              <a:lvl1pPr eaLnBrk="0" hangingPunct="0">
                <a:defRPr kumimoji="1" sz="2800">
                  <a:solidFill>
                    <a:schemeClr val="tx1"/>
                  </a:solidFill>
                  <a:latin typeface="Comic Sans MS" pitchFamily="66" charset="0"/>
                  <a:ea typeface="宋体" pitchFamily="2" charset="-122"/>
                </a:defRPr>
              </a:lvl1pPr>
              <a:lvl2pPr marL="742950" indent="-285750" eaLnBrk="0" hangingPunct="0">
                <a:defRPr kumimoji="1" sz="2800">
                  <a:solidFill>
                    <a:schemeClr val="tx1"/>
                  </a:solidFill>
                  <a:latin typeface="Comic Sans MS" pitchFamily="66" charset="0"/>
                  <a:ea typeface="宋体" pitchFamily="2" charset="-122"/>
                </a:defRPr>
              </a:lvl2pPr>
              <a:lvl3pPr marL="1143000" indent="-228600" eaLnBrk="0" hangingPunct="0">
                <a:defRPr kumimoji="1" sz="2800">
                  <a:solidFill>
                    <a:schemeClr val="tx1"/>
                  </a:solidFill>
                  <a:latin typeface="Comic Sans MS" pitchFamily="66" charset="0"/>
                  <a:ea typeface="宋体" pitchFamily="2" charset="-122"/>
                </a:defRPr>
              </a:lvl3pPr>
              <a:lvl4pPr marL="1600200" indent="-228600" eaLnBrk="0" hangingPunct="0">
                <a:defRPr kumimoji="1" sz="2800">
                  <a:solidFill>
                    <a:schemeClr val="tx1"/>
                  </a:solidFill>
                  <a:latin typeface="Comic Sans MS" pitchFamily="66" charset="0"/>
                  <a:ea typeface="宋体" pitchFamily="2" charset="-122"/>
                </a:defRPr>
              </a:lvl4pPr>
              <a:lvl5pPr marL="2057400" indent="-228600" eaLnBrk="0" hangingPunct="0">
                <a:defRPr kumimoji="1" sz="2800">
                  <a:solidFill>
                    <a:schemeClr val="tx1"/>
                  </a:solidFill>
                  <a:latin typeface="Comic Sans MS" pitchFamily="66" charset="0"/>
                  <a:ea typeface="宋体" pitchFamily="2" charset="-122"/>
                </a:defRPr>
              </a:lvl5pPr>
              <a:lvl6pPr marL="25146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6pPr>
              <a:lvl7pPr marL="29718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7pPr>
              <a:lvl8pPr marL="34290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8pPr>
              <a:lvl9pPr marL="38862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9pPr>
            </a:lstStyle>
            <a:p>
              <a:pPr eaLnBrk="1" hangingPunct="1">
                <a:spcBef>
                  <a:spcPct val="50000"/>
                </a:spcBef>
              </a:pPr>
              <a:r>
                <a:rPr lang="zh-CN" altLang="en-US" sz="2000" dirty="0">
                  <a:latin typeface="微软雅黑" pitchFamily="34" charset="-122"/>
                  <a:ea typeface="微软雅黑" pitchFamily="34" charset="-122"/>
                  <a:cs typeface="经典粗黑简" pitchFamily="49" charset="-122"/>
                </a:rPr>
                <a:t>有向图</a:t>
              </a:r>
              <a:r>
                <a:rPr lang="en-US" altLang="zh-CN" sz="2000" dirty="0">
                  <a:latin typeface="微软雅黑" pitchFamily="34" charset="-122"/>
                  <a:ea typeface="微软雅黑" pitchFamily="34" charset="-122"/>
                  <a:cs typeface="经典粗黑简" pitchFamily="49" charset="-122"/>
                </a:rPr>
                <a:t>G1</a:t>
              </a:r>
            </a:p>
          </p:txBody>
        </p:sp>
      </p:grpSp>
      <p:graphicFrame>
        <p:nvGraphicFramePr>
          <p:cNvPr id="4" name="对象 3"/>
          <p:cNvGraphicFramePr>
            <a:graphicFrameLocks noChangeAspect="1"/>
          </p:cNvGraphicFramePr>
          <p:nvPr>
            <p:extLst>
              <p:ext uri="{D42A27DB-BD31-4B8C-83A1-F6EECF244321}">
                <p14:modId xmlns:p14="http://schemas.microsoft.com/office/powerpoint/2010/main" val="3101493678"/>
              </p:ext>
            </p:extLst>
          </p:nvPr>
        </p:nvGraphicFramePr>
        <p:xfrm>
          <a:off x="6672263" y="2738439"/>
          <a:ext cx="2513012" cy="2346325"/>
        </p:xfrm>
        <a:graphic>
          <a:graphicData uri="http://schemas.openxmlformats.org/presentationml/2006/ole">
            <mc:AlternateContent xmlns:mc="http://schemas.openxmlformats.org/markup-compatibility/2006">
              <mc:Choice xmlns:v="urn:schemas-microsoft-com:vml" Requires="v">
                <p:oleObj name="公式" r:id="rId2" imgW="901700" imgH="914400" progId="Equation.3">
                  <p:embed/>
                </p:oleObj>
              </mc:Choice>
              <mc:Fallback>
                <p:oleObj name="公式" r:id="rId2" imgW="901700" imgH="914400" progId="Equation.3">
                  <p:embed/>
                  <p:pic>
                    <p:nvPicPr>
                      <p:cNvPr id="0" name="Object 1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72263" y="2738439"/>
                        <a:ext cx="2513012" cy="234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3" name="Text Box 15"/>
          <p:cNvSpPr txBox="1">
            <a:spLocks noChangeArrowheads="1"/>
          </p:cNvSpPr>
          <p:nvPr/>
        </p:nvSpPr>
        <p:spPr bwMode="auto">
          <a:xfrm>
            <a:off x="2574111" y="5303836"/>
            <a:ext cx="7559675"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kumimoji="1" sz="2800">
                <a:solidFill>
                  <a:schemeClr val="tx1"/>
                </a:solidFill>
                <a:latin typeface="Comic Sans MS" pitchFamily="66" charset="0"/>
                <a:ea typeface="宋体" pitchFamily="2" charset="-122"/>
              </a:defRPr>
            </a:lvl1pPr>
            <a:lvl2pPr marL="742950" indent="-285750" eaLnBrk="0" hangingPunct="0">
              <a:defRPr kumimoji="1" sz="2800">
                <a:solidFill>
                  <a:schemeClr val="tx1"/>
                </a:solidFill>
                <a:latin typeface="Comic Sans MS" pitchFamily="66" charset="0"/>
                <a:ea typeface="宋体" pitchFamily="2" charset="-122"/>
              </a:defRPr>
            </a:lvl2pPr>
            <a:lvl3pPr marL="1143000" indent="-228600" eaLnBrk="0" hangingPunct="0">
              <a:defRPr kumimoji="1" sz="2800">
                <a:solidFill>
                  <a:schemeClr val="tx1"/>
                </a:solidFill>
                <a:latin typeface="Comic Sans MS" pitchFamily="66" charset="0"/>
                <a:ea typeface="宋体" pitchFamily="2" charset="-122"/>
              </a:defRPr>
            </a:lvl3pPr>
            <a:lvl4pPr marL="1600200" indent="-228600" eaLnBrk="0" hangingPunct="0">
              <a:defRPr kumimoji="1" sz="2800">
                <a:solidFill>
                  <a:schemeClr val="tx1"/>
                </a:solidFill>
                <a:latin typeface="Comic Sans MS" pitchFamily="66" charset="0"/>
                <a:ea typeface="宋体" pitchFamily="2" charset="-122"/>
              </a:defRPr>
            </a:lvl4pPr>
            <a:lvl5pPr marL="2057400" indent="-228600" eaLnBrk="0" hangingPunct="0">
              <a:defRPr kumimoji="1" sz="2800">
                <a:solidFill>
                  <a:schemeClr val="tx1"/>
                </a:solidFill>
                <a:latin typeface="Comic Sans MS" pitchFamily="66" charset="0"/>
                <a:ea typeface="宋体" pitchFamily="2" charset="-122"/>
              </a:defRPr>
            </a:lvl5pPr>
            <a:lvl6pPr marL="25146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6pPr>
            <a:lvl7pPr marL="29718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7pPr>
            <a:lvl8pPr marL="34290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8pPr>
            <a:lvl9pPr marL="38862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9pPr>
          </a:lstStyle>
          <a:p>
            <a:pPr algn="l" eaLnBrk="1" hangingPunct="1">
              <a:spcBef>
                <a:spcPct val="50000"/>
              </a:spcBef>
            </a:pPr>
            <a:r>
              <a:rPr lang="zh-CN" altLang="en-US" sz="2000" dirty="0">
                <a:latin typeface="微软雅黑" pitchFamily="34" charset="-122"/>
                <a:ea typeface="微软雅黑" pitchFamily="34" charset="-122"/>
                <a:cs typeface="经典粗黑简" pitchFamily="49" charset="-122"/>
              </a:rPr>
              <a:t>有向图中，顶点</a:t>
            </a:r>
            <a:r>
              <a:rPr lang="en-US" altLang="zh-CN" sz="2000" dirty="0">
                <a:latin typeface="微软雅黑" pitchFamily="34" charset="-122"/>
                <a:ea typeface="微软雅黑" pitchFamily="34" charset="-122"/>
                <a:cs typeface="经典粗黑简" pitchFamily="49" charset="-122"/>
              </a:rPr>
              <a:t>vi</a:t>
            </a:r>
            <a:r>
              <a:rPr lang="zh-CN" altLang="en-US" sz="2000" dirty="0">
                <a:latin typeface="微软雅黑" pitchFamily="34" charset="-122"/>
                <a:ea typeface="微软雅黑" pitchFamily="34" charset="-122"/>
                <a:cs typeface="经典粗黑简" pitchFamily="49" charset="-122"/>
              </a:rPr>
              <a:t>的入度是邻接矩阵中第</a:t>
            </a:r>
            <a:r>
              <a:rPr lang="en-US" altLang="zh-CN" sz="2000" dirty="0">
                <a:latin typeface="微软雅黑" pitchFamily="34" charset="-122"/>
                <a:ea typeface="微软雅黑" pitchFamily="34" charset="-122"/>
                <a:cs typeface="经典粗黑简" pitchFamily="49" charset="-122"/>
              </a:rPr>
              <a:t>i</a:t>
            </a:r>
            <a:r>
              <a:rPr lang="zh-CN" altLang="en-US" sz="2000" dirty="0">
                <a:latin typeface="微软雅黑" pitchFamily="34" charset="-122"/>
                <a:ea typeface="微软雅黑" pitchFamily="34" charset="-122"/>
                <a:cs typeface="经典粗黑简" pitchFamily="49" charset="-122"/>
              </a:rPr>
              <a:t>列的元素之和，顶点</a:t>
            </a:r>
            <a:r>
              <a:rPr lang="en-US" altLang="zh-CN" sz="2000" dirty="0">
                <a:latin typeface="微软雅黑" pitchFamily="34" charset="-122"/>
                <a:ea typeface="微软雅黑" pitchFamily="34" charset="-122"/>
                <a:cs typeface="经典粗黑简" pitchFamily="49" charset="-122"/>
              </a:rPr>
              <a:t>vi</a:t>
            </a:r>
            <a:r>
              <a:rPr lang="zh-CN" altLang="en-US" sz="2000" dirty="0">
                <a:latin typeface="微软雅黑" pitchFamily="34" charset="-122"/>
                <a:ea typeface="微软雅黑" pitchFamily="34" charset="-122"/>
                <a:cs typeface="经典粗黑简" pitchFamily="49" charset="-122"/>
              </a:rPr>
              <a:t>的出度是邻接矩阵中第</a:t>
            </a:r>
            <a:r>
              <a:rPr lang="en-US" altLang="zh-CN" sz="2000" dirty="0">
                <a:latin typeface="微软雅黑" pitchFamily="34" charset="-122"/>
                <a:ea typeface="微软雅黑" pitchFamily="34" charset="-122"/>
                <a:cs typeface="经典粗黑简" pitchFamily="49" charset="-122"/>
              </a:rPr>
              <a:t>i</a:t>
            </a:r>
            <a:r>
              <a:rPr lang="zh-CN" altLang="en-US" sz="2000" dirty="0">
                <a:latin typeface="微软雅黑" pitchFamily="34" charset="-122"/>
                <a:ea typeface="微软雅黑" pitchFamily="34" charset="-122"/>
                <a:cs typeface="经典粗黑简" pitchFamily="49" charset="-122"/>
              </a:rPr>
              <a:t>行的元素之和。</a:t>
            </a:r>
          </a:p>
        </p:txBody>
      </p:sp>
      <p:sp>
        <p:nvSpPr>
          <p:cNvPr id="54" name="Text Box 16"/>
          <p:cNvSpPr txBox="1">
            <a:spLocks noChangeArrowheads="1"/>
          </p:cNvSpPr>
          <p:nvPr/>
        </p:nvSpPr>
        <p:spPr bwMode="auto">
          <a:xfrm>
            <a:off x="2574110" y="4901098"/>
            <a:ext cx="323155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spAutoFit/>
          </a:bodyPr>
          <a:lstStyle>
            <a:lvl1pPr eaLnBrk="0" hangingPunct="0">
              <a:defRPr kumimoji="1" sz="2800">
                <a:solidFill>
                  <a:schemeClr val="tx1"/>
                </a:solidFill>
                <a:latin typeface="Comic Sans MS" pitchFamily="66" charset="0"/>
                <a:ea typeface="宋体" pitchFamily="2" charset="-122"/>
              </a:defRPr>
            </a:lvl1pPr>
            <a:lvl2pPr marL="742950" indent="-285750" eaLnBrk="0" hangingPunct="0">
              <a:defRPr kumimoji="1" sz="2800">
                <a:solidFill>
                  <a:schemeClr val="tx1"/>
                </a:solidFill>
                <a:latin typeface="Comic Sans MS" pitchFamily="66" charset="0"/>
                <a:ea typeface="宋体" pitchFamily="2" charset="-122"/>
              </a:defRPr>
            </a:lvl2pPr>
            <a:lvl3pPr marL="1143000" indent="-228600" eaLnBrk="0" hangingPunct="0">
              <a:defRPr kumimoji="1" sz="2800">
                <a:solidFill>
                  <a:schemeClr val="tx1"/>
                </a:solidFill>
                <a:latin typeface="Comic Sans MS" pitchFamily="66" charset="0"/>
                <a:ea typeface="宋体" pitchFamily="2" charset="-122"/>
              </a:defRPr>
            </a:lvl3pPr>
            <a:lvl4pPr marL="1600200" indent="-228600" eaLnBrk="0" hangingPunct="0">
              <a:defRPr kumimoji="1" sz="2800">
                <a:solidFill>
                  <a:schemeClr val="tx1"/>
                </a:solidFill>
                <a:latin typeface="Comic Sans MS" pitchFamily="66" charset="0"/>
                <a:ea typeface="宋体" pitchFamily="2" charset="-122"/>
              </a:defRPr>
            </a:lvl4pPr>
            <a:lvl5pPr marL="2057400" indent="-228600" eaLnBrk="0" hangingPunct="0">
              <a:defRPr kumimoji="1" sz="2800">
                <a:solidFill>
                  <a:schemeClr val="tx1"/>
                </a:solidFill>
                <a:latin typeface="Comic Sans MS" pitchFamily="66" charset="0"/>
                <a:ea typeface="宋体" pitchFamily="2" charset="-122"/>
              </a:defRPr>
            </a:lvl5pPr>
            <a:lvl6pPr marL="25146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6pPr>
            <a:lvl7pPr marL="29718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7pPr>
            <a:lvl8pPr marL="34290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8pPr>
            <a:lvl9pPr marL="38862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9pPr>
          </a:lstStyle>
          <a:p>
            <a:pPr algn="l" eaLnBrk="1" hangingPunct="1">
              <a:spcBef>
                <a:spcPct val="50000"/>
              </a:spcBef>
            </a:pPr>
            <a:r>
              <a:rPr lang="zh-CN" altLang="en-US" sz="2000" dirty="0">
                <a:latin typeface="微软雅黑" pitchFamily="34" charset="-122"/>
                <a:ea typeface="微软雅黑" pitchFamily="34" charset="-122"/>
                <a:cs typeface="经典粗黑简" pitchFamily="49" charset="-122"/>
              </a:rPr>
              <a:t>有向图的邻接矩阵的特点？</a:t>
            </a:r>
          </a:p>
        </p:txBody>
      </p:sp>
      <p:sp>
        <p:nvSpPr>
          <p:cNvPr id="2" name="Rectangle 83">
            <a:extLst>
              <a:ext uri="{FF2B5EF4-FFF2-40B4-BE49-F238E27FC236}">
                <a16:creationId xmlns:a16="http://schemas.microsoft.com/office/drawing/2014/main" id="{AF11377E-0975-60C7-C280-6680F64D07DC}"/>
              </a:ext>
            </a:extLst>
          </p:cNvPr>
          <p:cNvSpPr>
            <a:spLocks noChangeArrowheads="1"/>
          </p:cNvSpPr>
          <p:nvPr/>
        </p:nvSpPr>
        <p:spPr bwMode="auto">
          <a:xfrm>
            <a:off x="5159896" y="3533648"/>
            <a:ext cx="1471878"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wrap="none">
            <a:spAutoFit/>
          </a:bodyPr>
          <a:lstStyle/>
          <a:p>
            <a:pPr algn="ctr">
              <a:defRPr/>
            </a:pPr>
            <a:r>
              <a:rPr lang="en-US" altLang="zh-CN" sz="2800" dirty="0" err="1">
                <a:effectLst>
                  <a:outerShdw blurRad="38100" dist="38100" dir="2700000" algn="tl">
                    <a:srgbClr val="C0C0C0"/>
                  </a:outerShdw>
                </a:effectLst>
                <a:latin typeface="Times New Roman" pitchFamily="18" charset="0"/>
                <a:ea typeface="华文行楷" pitchFamily="2" charset="-122"/>
              </a:rPr>
              <a:t>g.edges</a:t>
            </a:r>
            <a:r>
              <a:rPr lang="en-US" altLang="zh-CN" sz="2800" dirty="0">
                <a:effectLst>
                  <a:outerShdw blurRad="38100" dist="38100" dir="2700000" algn="tl">
                    <a:srgbClr val="C0C0C0"/>
                  </a:outerShdw>
                </a:effectLst>
                <a:latin typeface="Times New Roman" pitchFamily="18" charset="0"/>
                <a:ea typeface="华文行楷" pitchFamily="2" charset="-122"/>
              </a:rPr>
              <a:t>=</a:t>
            </a:r>
            <a:endParaRPr lang="zh-CN" altLang="en-US" sz="2800" dirty="0">
              <a:effectLst>
                <a:outerShdw blurRad="38100" dist="38100" dir="2700000" algn="tl">
                  <a:srgbClr val="C0C0C0"/>
                </a:outerShdw>
              </a:effectLst>
              <a:latin typeface="Times New Roman" pitchFamily="18" charset="0"/>
              <a:ea typeface="华文行楷" pitchFamily="2" charset="-122"/>
            </a:endParaRPr>
          </a:p>
        </p:txBody>
      </p:sp>
      <p:sp>
        <p:nvSpPr>
          <p:cNvPr id="3" name="Rectangle 2">
            <a:extLst>
              <a:ext uri="{FF2B5EF4-FFF2-40B4-BE49-F238E27FC236}">
                <a16:creationId xmlns:a16="http://schemas.microsoft.com/office/drawing/2014/main" id="{70A3DFFB-208C-54B7-F8C7-4E9DBF481EA5}"/>
              </a:ext>
            </a:extLst>
          </p:cNvPr>
          <p:cNvSpPr txBox="1">
            <a:spLocks noChangeArrowheads="1"/>
          </p:cNvSpPr>
          <p:nvPr/>
        </p:nvSpPr>
        <p:spPr>
          <a:xfrm>
            <a:off x="474772" y="1230902"/>
            <a:ext cx="4253075"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8.2.1 </a:t>
            </a:r>
            <a:r>
              <a:rPr kumimoji="1" lang="zh-CN" altLang="en-US" dirty="0">
                <a:latin typeface="微软雅黑" pitchFamily="34" charset="-122"/>
                <a:ea typeface="微软雅黑" pitchFamily="34" charset="-122"/>
              </a:rPr>
              <a:t>邻接矩阵存储方法</a:t>
            </a:r>
            <a:endParaRPr lang="zh-CN" altLang="en-US" dirty="0"/>
          </a:p>
        </p:txBody>
      </p:sp>
      <p:sp>
        <p:nvSpPr>
          <p:cNvPr id="5" name="矩形 4">
            <a:extLst>
              <a:ext uri="{FF2B5EF4-FFF2-40B4-BE49-F238E27FC236}">
                <a16:creationId xmlns:a16="http://schemas.microsoft.com/office/drawing/2014/main" id="{39E33C90-4E74-BD89-51E5-8CF4C82669D8}"/>
              </a:ext>
            </a:extLst>
          </p:cNvPr>
          <p:cNvSpPr/>
          <p:nvPr/>
        </p:nvSpPr>
        <p:spPr>
          <a:xfrm>
            <a:off x="2846292" y="348366"/>
            <a:ext cx="6715440"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8.2 </a:t>
            </a:r>
            <a:r>
              <a:rPr lang="zh-CN" altLang="en-US" sz="3000" b="1" dirty="0">
                <a:latin typeface="黑体" pitchFamily="49" charset="-122"/>
                <a:ea typeface="黑体" pitchFamily="49" charset="-122"/>
                <a:cs typeface="经典粗黑简" pitchFamily="49" charset="-122"/>
              </a:rPr>
              <a:t>图的存储结构和基本运算算法</a:t>
            </a:r>
          </a:p>
        </p:txBody>
      </p:sp>
      <p:cxnSp>
        <p:nvCxnSpPr>
          <p:cNvPr id="6" name="直接连接符 5">
            <a:extLst>
              <a:ext uri="{FF2B5EF4-FFF2-40B4-BE49-F238E27FC236}">
                <a16:creationId xmlns:a16="http://schemas.microsoft.com/office/drawing/2014/main" id="{E7734D3E-5E52-A4C5-6CA2-ECF6A15DFF78}"/>
              </a:ext>
            </a:extLst>
          </p:cNvPr>
          <p:cNvCxnSpPr>
            <a:cxnSpLocks/>
          </p:cNvCxnSpPr>
          <p:nvPr/>
        </p:nvCxnSpPr>
        <p:spPr>
          <a:xfrm>
            <a:off x="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519681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31" grpId="0" animBg="1"/>
      <p:bldP spid="32" grpId="0" animBg="1"/>
      <p:bldP spid="33" grpId="0" animBg="1"/>
      <p:bldP spid="34" grpId="0"/>
      <p:bldP spid="36" grpId="0"/>
      <p:bldP spid="37" grpId="0"/>
      <p:bldP spid="53" grpId="0"/>
      <p:bldP spid="54" grpId="0"/>
      <p:bldP spid="2"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2"/>
          <p:cNvSpPr txBox="1">
            <a:spLocks/>
          </p:cNvSpPr>
          <p:nvPr/>
        </p:nvSpPr>
        <p:spPr>
          <a:xfrm>
            <a:off x="2711624" y="2204864"/>
            <a:ext cx="3200488" cy="432048"/>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kumimoji="1" lang="zh-CN" altLang="en-US" sz="2000" dirty="0">
                <a:latin typeface="微软雅黑" pitchFamily="34" charset="-122"/>
                <a:ea typeface="微软雅黑" pitchFamily="34" charset="-122"/>
                <a:cs typeface="经典粗黑简" pitchFamily="49" charset="-122"/>
              </a:rPr>
              <a:t>网的邻接矩阵可以定义为：</a:t>
            </a:r>
          </a:p>
        </p:txBody>
      </p:sp>
      <p:graphicFrame>
        <p:nvGraphicFramePr>
          <p:cNvPr id="20" name="Object 4"/>
          <p:cNvGraphicFramePr>
            <a:graphicFrameLocks noChangeAspect="1"/>
          </p:cNvGraphicFramePr>
          <p:nvPr>
            <p:extLst>
              <p:ext uri="{D42A27DB-BD31-4B8C-83A1-F6EECF244321}">
                <p14:modId xmlns:p14="http://schemas.microsoft.com/office/powerpoint/2010/main" val="3600248564"/>
              </p:ext>
            </p:extLst>
          </p:nvPr>
        </p:nvGraphicFramePr>
        <p:xfrm>
          <a:off x="3243756" y="2612208"/>
          <a:ext cx="4257790" cy="871135"/>
        </p:xfrm>
        <a:graphic>
          <a:graphicData uri="http://schemas.openxmlformats.org/presentationml/2006/ole">
            <mc:AlternateContent xmlns:mc="http://schemas.openxmlformats.org/markup-compatibility/2006">
              <mc:Choice xmlns:v="urn:schemas-microsoft-com:vml" Requires="v">
                <p:oleObj name="公式" r:id="rId2" imgW="2463800" imgH="508000" progId="Equation.3">
                  <p:embed/>
                </p:oleObj>
              </mc:Choice>
              <mc:Fallback>
                <p:oleObj name="公式" r:id="rId2" imgW="2463800" imgH="508000"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43756" y="2612208"/>
                        <a:ext cx="4257790" cy="871135"/>
                      </a:xfrm>
                      <a:prstGeom prst="rect">
                        <a:avLst/>
                      </a:prstGeom>
                      <a:noFill/>
                    </p:spPr>
                  </p:pic>
                </p:oleObj>
              </mc:Fallback>
            </mc:AlternateContent>
          </a:graphicData>
        </a:graphic>
      </p:graphicFrame>
      <p:sp>
        <p:nvSpPr>
          <p:cNvPr id="21" name="Rectangle 5"/>
          <p:cNvSpPr>
            <a:spLocks noChangeArrowheads="1"/>
          </p:cNvSpPr>
          <p:nvPr/>
        </p:nvSpPr>
        <p:spPr bwMode="auto">
          <a:xfrm>
            <a:off x="6456040" y="3068961"/>
            <a:ext cx="1944216" cy="432519"/>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ormAutofit/>
          </a:bodyPr>
          <a:lstStyle/>
          <a:p>
            <a:pPr>
              <a:spcBef>
                <a:spcPct val="20000"/>
              </a:spcBef>
              <a:buFont typeface="Arial" pitchFamily="34" charset="0"/>
              <a:buNone/>
            </a:pPr>
            <a:r>
              <a:rPr kumimoji="1" lang="zh-CN" altLang="en-US" sz="2000" dirty="0">
                <a:latin typeface="微软雅黑" pitchFamily="34" charset="-122"/>
                <a:ea typeface="微软雅黑" pitchFamily="34" charset="-122"/>
                <a:cs typeface="经典粗黑简" pitchFamily="49" charset="-122"/>
              </a:rPr>
              <a:t>其中</a:t>
            </a:r>
            <a:r>
              <a:rPr kumimoji="1" lang="en-US" altLang="zh-CN" sz="2000" dirty="0" err="1">
                <a:latin typeface="微软雅黑" pitchFamily="34" charset="-122"/>
                <a:ea typeface="微软雅黑" pitchFamily="34" charset="-122"/>
                <a:cs typeface="经典粗黑简" pitchFamily="49" charset="-122"/>
              </a:rPr>
              <a:t>w</a:t>
            </a:r>
            <a:r>
              <a:rPr lang="en-US" altLang="zh-CN" sz="2400" baseline="-25000" dirty="0" err="1">
                <a:effectLst>
                  <a:outerShdw blurRad="38100" dist="38100" dir="2700000" algn="tl">
                    <a:srgbClr val="C0C0C0"/>
                  </a:outerShdw>
                </a:effectLst>
                <a:latin typeface="Times New Roman" pitchFamily="18" charset="0"/>
              </a:rPr>
              <a:t>ij</a:t>
            </a:r>
            <a:r>
              <a:rPr kumimoji="1" lang="zh-CN" altLang="en-US" sz="2000" dirty="0">
                <a:latin typeface="微软雅黑" pitchFamily="34" charset="-122"/>
                <a:ea typeface="微软雅黑" pitchFamily="34" charset="-122"/>
                <a:cs typeface="经典粗黑简" pitchFamily="49" charset="-122"/>
              </a:rPr>
              <a:t>为权值</a:t>
            </a:r>
          </a:p>
        </p:txBody>
      </p:sp>
      <p:grpSp>
        <p:nvGrpSpPr>
          <p:cNvPr id="22" name="Group 2"/>
          <p:cNvGrpSpPr>
            <a:grpSpLocks/>
          </p:cNvGrpSpPr>
          <p:nvPr/>
        </p:nvGrpSpPr>
        <p:grpSpPr bwMode="auto">
          <a:xfrm>
            <a:off x="2415876" y="3525516"/>
            <a:ext cx="3814763" cy="2257425"/>
            <a:chOff x="1610" y="255"/>
            <a:chExt cx="2403" cy="1422"/>
          </a:xfrm>
        </p:grpSpPr>
        <p:grpSp>
          <p:nvGrpSpPr>
            <p:cNvPr id="23" name="Group 3"/>
            <p:cNvGrpSpPr>
              <a:grpSpLocks/>
            </p:cNvGrpSpPr>
            <p:nvPr/>
          </p:nvGrpSpPr>
          <p:grpSpPr bwMode="auto">
            <a:xfrm>
              <a:off x="1745" y="362"/>
              <a:ext cx="2223" cy="1225"/>
              <a:chOff x="975" y="300"/>
              <a:chExt cx="2223" cy="1225"/>
            </a:xfrm>
          </p:grpSpPr>
          <p:grpSp>
            <p:nvGrpSpPr>
              <p:cNvPr id="47" name="Group 4"/>
              <p:cNvGrpSpPr>
                <a:grpSpLocks/>
              </p:cNvGrpSpPr>
              <p:nvPr/>
            </p:nvGrpSpPr>
            <p:grpSpPr bwMode="auto">
              <a:xfrm>
                <a:off x="975" y="300"/>
                <a:ext cx="1270" cy="1225"/>
                <a:chOff x="1338" y="1434"/>
                <a:chExt cx="1270" cy="1225"/>
              </a:xfrm>
            </p:grpSpPr>
            <p:sp>
              <p:nvSpPr>
                <p:cNvPr id="56" name="Oval 5"/>
                <p:cNvSpPr>
                  <a:spLocks noChangeArrowheads="1"/>
                </p:cNvSpPr>
                <p:nvPr/>
              </p:nvSpPr>
              <p:spPr bwMode="auto">
                <a:xfrm>
                  <a:off x="1338" y="1434"/>
                  <a:ext cx="317" cy="317"/>
                </a:xfrm>
                <a:prstGeom prst="ellipse">
                  <a:avLst/>
                </a:prstGeom>
                <a:solidFill>
                  <a:schemeClr val="bg1"/>
                </a:solidFill>
                <a:ln w="28575" cap="sq">
                  <a:solidFill>
                    <a:srgbClr val="0033CC"/>
                  </a:solidFill>
                  <a:miter lim="800000"/>
                  <a:headEnd type="none" w="sm" len="sm"/>
                  <a:tailEnd type="none" w="sm" len="sm"/>
                </a:ln>
              </p:spPr>
              <p:txBody>
                <a:bodyPr wrap="none" tIns="0" anchorCtr="1"/>
                <a:lstStyle/>
                <a:p>
                  <a:r>
                    <a:rPr lang="en-US" altLang="zh-CN" sz="2400">
                      <a:latin typeface="Times New Roman" pitchFamily="18" charset="0"/>
                    </a:rPr>
                    <a:t>A</a:t>
                  </a:r>
                  <a:endParaRPr lang="en-US" altLang="zh-CN" sz="2400" baseline="-25000">
                    <a:latin typeface="Times New Roman" pitchFamily="18" charset="0"/>
                  </a:endParaRPr>
                </a:p>
              </p:txBody>
            </p:sp>
            <p:sp>
              <p:nvSpPr>
                <p:cNvPr id="57" name="Oval 6"/>
                <p:cNvSpPr>
                  <a:spLocks noChangeArrowheads="1"/>
                </p:cNvSpPr>
                <p:nvPr/>
              </p:nvSpPr>
              <p:spPr bwMode="auto">
                <a:xfrm>
                  <a:off x="2291" y="1434"/>
                  <a:ext cx="317" cy="317"/>
                </a:xfrm>
                <a:prstGeom prst="ellipse">
                  <a:avLst/>
                </a:prstGeom>
                <a:solidFill>
                  <a:schemeClr val="bg1"/>
                </a:solidFill>
                <a:ln w="28575" cap="sq">
                  <a:solidFill>
                    <a:srgbClr val="0033CC"/>
                  </a:solidFill>
                  <a:miter lim="800000"/>
                  <a:headEnd type="none" w="sm" len="sm"/>
                  <a:tailEnd type="none" w="sm" len="sm"/>
                </a:ln>
              </p:spPr>
              <p:txBody>
                <a:bodyPr wrap="none" tIns="0" anchorCtr="1"/>
                <a:lstStyle/>
                <a:p>
                  <a:r>
                    <a:rPr lang="en-US" altLang="zh-CN" sz="2400">
                      <a:latin typeface="Times New Roman" pitchFamily="18" charset="0"/>
                    </a:rPr>
                    <a:t>B</a:t>
                  </a:r>
                  <a:endParaRPr lang="en-US" altLang="zh-CN" sz="2400" baseline="-25000">
                    <a:latin typeface="Times New Roman" pitchFamily="18" charset="0"/>
                  </a:endParaRPr>
                </a:p>
              </p:txBody>
            </p:sp>
            <p:sp>
              <p:nvSpPr>
                <p:cNvPr id="58" name="Oval 7"/>
                <p:cNvSpPr>
                  <a:spLocks noChangeArrowheads="1"/>
                </p:cNvSpPr>
                <p:nvPr/>
              </p:nvSpPr>
              <p:spPr bwMode="auto">
                <a:xfrm>
                  <a:off x="1338" y="2342"/>
                  <a:ext cx="317" cy="317"/>
                </a:xfrm>
                <a:prstGeom prst="ellipse">
                  <a:avLst/>
                </a:prstGeom>
                <a:solidFill>
                  <a:schemeClr val="bg1"/>
                </a:solidFill>
                <a:ln w="28575" cap="sq">
                  <a:solidFill>
                    <a:srgbClr val="0033CC"/>
                  </a:solidFill>
                  <a:miter lim="800000"/>
                  <a:headEnd type="none" w="sm" len="sm"/>
                  <a:tailEnd type="none" w="sm" len="sm"/>
                </a:ln>
              </p:spPr>
              <p:txBody>
                <a:bodyPr wrap="none" tIns="0" anchorCtr="1"/>
                <a:lstStyle/>
                <a:p>
                  <a:r>
                    <a:rPr lang="en-US" altLang="zh-CN" sz="2400">
                      <a:latin typeface="Times New Roman" pitchFamily="18" charset="0"/>
                    </a:rPr>
                    <a:t>F</a:t>
                  </a:r>
                  <a:endParaRPr lang="en-US" altLang="zh-CN" sz="2400" baseline="-25000">
                    <a:latin typeface="Times New Roman" pitchFamily="18" charset="0"/>
                  </a:endParaRPr>
                </a:p>
              </p:txBody>
            </p:sp>
            <p:sp>
              <p:nvSpPr>
                <p:cNvPr id="59" name="Oval 8"/>
                <p:cNvSpPr>
                  <a:spLocks noChangeArrowheads="1"/>
                </p:cNvSpPr>
                <p:nvPr/>
              </p:nvSpPr>
              <p:spPr bwMode="auto">
                <a:xfrm>
                  <a:off x="2290" y="2341"/>
                  <a:ext cx="317" cy="317"/>
                </a:xfrm>
                <a:prstGeom prst="ellipse">
                  <a:avLst/>
                </a:prstGeom>
                <a:solidFill>
                  <a:schemeClr val="bg1"/>
                </a:solidFill>
                <a:ln w="28575" cap="sq">
                  <a:solidFill>
                    <a:srgbClr val="0033CC"/>
                  </a:solidFill>
                  <a:miter lim="800000"/>
                  <a:headEnd type="none" w="sm" len="sm"/>
                  <a:tailEnd type="none" w="sm" len="sm"/>
                </a:ln>
              </p:spPr>
              <p:txBody>
                <a:bodyPr wrap="none" tIns="0" anchorCtr="1"/>
                <a:lstStyle/>
                <a:p>
                  <a:r>
                    <a:rPr lang="en-US" altLang="zh-CN" sz="2400">
                      <a:latin typeface="Times New Roman" pitchFamily="18" charset="0"/>
                    </a:rPr>
                    <a:t>E</a:t>
                  </a:r>
                  <a:endParaRPr lang="en-US" altLang="zh-CN" sz="2400" baseline="-25000">
                    <a:latin typeface="Times New Roman" pitchFamily="18" charset="0"/>
                  </a:endParaRPr>
                </a:p>
              </p:txBody>
            </p:sp>
            <p:sp>
              <p:nvSpPr>
                <p:cNvPr id="60" name="Line 9"/>
                <p:cNvSpPr>
                  <a:spLocks noChangeShapeType="1"/>
                </p:cNvSpPr>
                <p:nvPr/>
              </p:nvSpPr>
              <p:spPr bwMode="auto">
                <a:xfrm>
                  <a:off x="1655" y="1616"/>
                  <a:ext cx="635" cy="0"/>
                </a:xfrm>
                <a:prstGeom prst="line">
                  <a:avLst/>
                </a:prstGeom>
                <a:noFill/>
                <a:ln w="28575" cap="sq">
                  <a:solidFill>
                    <a:srgbClr val="0033CC"/>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61" name="Line 10"/>
                <p:cNvSpPr>
                  <a:spLocks noChangeShapeType="1"/>
                </p:cNvSpPr>
                <p:nvPr/>
              </p:nvSpPr>
              <p:spPr bwMode="auto">
                <a:xfrm>
                  <a:off x="1655" y="2523"/>
                  <a:ext cx="635" cy="0"/>
                </a:xfrm>
                <a:prstGeom prst="line">
                  <a:avLst/>
                </a:prstGeom>
                <a:noFill/>
                <a:ln w="28575" cap="sq">
                  <a:solidFill>
                    <a:srgbClr val="0033CC"/>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62" name="Line 11"/>
                <p:cNvSpPr>
                  <a:spLocks noChangeShapeType="1"/>
                </p:cNvSpPr>
                <p:nvPr/>
              </p:nvSpPr>
              <p:spPr bwMode="auto">
                <a:xfrm>
                  <a:off x="1474" y="1752"/>
                  <a:ext cx="0" cy="589"/>
                </a:xfrm>
                <a:prstGeom prst="line">
                  <a:avLst/>
                </a:prstGeom>
                <a:noFill/>
                <a:ln w="28575" cap="sq">
                  <a:solidFill>
                    <a:srgbClr val="0033CC"/>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63" name="Line 12"/>
                <p:cNvSpPr>
                  <a:spLocks noChangeShapeType="1"/>
                </p:cNvSpPr>
                <p:nvPr/>
              </p:nvSpPr>
              <p:spPr bwMode="auto">
                <a:xfrm flipH="1" flipV="1">
                  <a:off x="1610" y="1706"/>
                  <a:ext cx="771" cy="635"/>
                </a:xfrm>
                <a:prstGeom prst="line">
                  <a:avLst/>
                </a:prstGeom>
                <a:noFill/>
                <a:ln w="28575" cap="sq">
                  <a:solidFill>
                    <a:srgbClr val="0033CC"/>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sp>
            <p:nvSpPr>
              <p:cNvPr id="48" name="Oval 13"/>
              <p:cNvSpPr>
                <a:spLocks noChangeArrowheads="1"/>
              </p:cNvSpPr>
              <p:nvPr/>
            </p:nvSpPr>
            <p:spPr bwMode="auto">
              <a:xfrm>
                <a:off x="2881" y="300"/>
                <a:ext cx="317" cy="317"/>
              </a:xfrm>
              <a:prstGeom prst="ellipse">
                <a:avLst/>
              </a:prstGeom>
              <a:solidFill>
                <a:schemeClr val="bg1"/>
              </a:solidFill>
              <a:ln w="28575" cap="sq">
                <a:solidFill>
                  <a:srgbClr val="0033CC"/>
                </a:solidFill>
                <a:miter lim="800000"/>
                <a:headEnd type="none" w="sm" len="sm"/>
                <a:tailEnd type="none" w="sm" len="sm"/>
              </a:ln>
            </p:spPr>
            <p:txBody>
              <a:bodyPr wrap="none" tIns="0" anchorCtr="1"/>
              <a:lstStyle/>
              <a:p>
                <a:r>
                  <a:rPr lang="en-US" altLang="zh-CN" sz="2400">
                    <a:latin typeface="Times New Roman" pitchFamily="18" charset="0"/>
                  </a:rPr>
                  <a:t>C</a:t>
                </a:r>
                <a:endParaRPr lang="en-US" altLang="zh-CN" sz="2400" baseline="-25000">
                  <a:latin typeface="Times New Roman" pitchFamily="18" charset="0"/>
                </a:endParaRPr>
              </a:p>
            </p:txBody>
          </p:sp>
          <p:sp>
            <p:nvSpPr>
              <p:cNvPr id="49" name="Oval 14"/>
              <p:cNvSpPr>
                <a:spLocks noChangeArrowheads="1"/>
              </p:cNvSpPr>
              <p:nvPr/>
            </p:nvSpPr>
            <p:spPr bwMode="auto">
              <a:xfrm>
                <a:off x="2880" y="1207"/>
                <a:ext cx="317" cy="317"/>
              </a:xfrm>
              <a:prstGeom prst="ellipse">
                <a:avLst/>
              </a:prstGeom>
              <a:solidFill>
                <a:schemeClr val="bg1"/>
              </a:solidFill>
              <a:ln w="28575" cap="sq">
                <a:solidFill>
                  <a:srgbClr val="0033CC"/>
                </a:solidFill>
                <a:miter lim="800000"/>
                <a:headEnd type="none" w="sm" len="sm"/>
                <a:tailEnd type="none" w="sm" len="sm"/>
              </a:ln>
            </p:spPr>
            <p:txBody>
              <a:bodyPr wrap="none" tIns="0" anchorCtr="1"/>
              <a:lstStyle/>
              <a:p>
                <a:r>
                  <a:rPr lang="en-US" altLang="zh-CN" sz="2400">
                    <a:latin typeface="Times New Roman" pitchFamily="18" charset="0"/>
                  </a:rPr>
                  <a:t>D</a:t>
                </a:r>
                <a:endParaRPr lang="en-US" altLang="zh-CN" sz="2400" baseline="-25000">
                  <a:latin typeface="Times New Roman" pitchFamily="18" charset="0"/>
                </a:endParaRPr>
              </a:p>
            </p:txBody>
          </p:sp>
          <p:sp>
            <p:nvSpPr>
              <p:cNvPr id="50" name="Line 15"/>
              <p:cNvSpPr>
                <a:spLocks noChangeShapeType="1"/>
              </p:cNvSpPr>
              <p:nvPr/>
            </p:nvSpPr>
            <p:spPr bwMode="auto">
              <a:xfrm flipV="1">
                <a:off x="1228" y="540"/>
                <a:ext cx="726" cy="703"/>
              </a:xfrm>
              <a:prstGeom prst="line">
                <a:avLst/>
              </a:prstGeom>
              <a:noFill/>
              <a:ln w="28575" cap="sq">
                <a:solidFill>
                  <a:srgbClr val="0033CC"/>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51" name="Line 16"/>
              <p:cNvSpPr>
                <a:spLocks noChangeShapeType="1"/>
              </p:cNvSpPr>
              <p:nvPr/>
            </p:nvSpPr>
            <p:spPr bwMode="auto">
              <a:xfrm flipV="1">
                <a:off x="2109" y="618"/>
                <a:ext cx="0" cy="589"/>
              </a:xfrm>
              <a:prstGeom prst="line">
                <a:avLst/>
              </a:prstGeom>
              <a:noFill/>
              <a:ln w="28575" cap="sq">
                <a:solidFill>
                  <a:srgbClr val="0033CC"/>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52" name="Line 17"/>
              <p:cNvSpPr>
                <a:spLocks noChangeShapeType="1"/>
              </p:cNvSpPr>
              <p:nvPr/>
            </p:nvSpPr>
            <p:spPr bwMode="auto">
              <a:xfrm flipH="1">
                <a:off x="2232" y="1389"/>
                <a:ext cx="635" cy="0"/>
              </a:xfrm>
              <a:prstGeom prst="line">
                <a:avLst/>
              </a:prstGeom>
              <a:noFill/>
              <a:ln w="28575" cap="sq">
                <a:solidFill>
                  <a:srgbClr val="0033CC"/>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53" name="Line 18"/>
              <p:cNvSpPr>
                <a:spLocks noChangeShapeType="1"/>
              </p:cNvSpPr>
              <p:nvPr/>
            </p:nvSpPr>
            <p:spPr bwMode="auto">
              <a:xfrm flipH="1">
                <a:off x="2245" y="436"/>
                <a:ext cx="635" cy="0"/>
              </a:xfrm>
              <a:prstGeom prst="line">
                <a:avLst/>
              </a:prstGeom>
              <a:noFill/>
              <a:ln w="28575" cap="sq">
                <a:solidFill>
                  <a:srgbClr val="0033CC"/>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54" name="Line 19"/>
              <p:cNvSpPr>
                <a:spLocks noChangeShapeType="1"/>
              </p:cNvSpPr>
              <p:nvPr/>
            </p:nvSpPr>
            <p:spPr bwMode="auto">
              <a:xfrm flipV="1">
                <a:off x="3048" y="618"/>
                <a:ext cx="0" cy="589"/>
              </a:xfrm>
              <a:prstGeom prst="line">
                <a:avLst/>
              </a:prstGeom>
              <a:noFill/>
              <a:ln w="28575" cap="sq">
                <a:solidFill>
                  <a:srgbClr val="0033CC"/>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55" name="Line 20"/>
              <p:cNvSpPr>
                <a:spLocks noChangeShapeType="1"/>
              </p:cNvSpPr>
              <p:nvPr/>
            </p:nvSpPr>
            <p:spPr bwMode="auto">
              <a:xfrm flipH="1">
                <a:off x="2245" y="572"/>
                <a:ext cx="680" cy="748"/>
              </a:xfrm>
              <a:prstGeom prst="line">
                <a:avLst/>
              </a:prstGeom>
              <a:noFill/>
              <a:ln w="28575" cap="sq">
                <a:solidFill>
                  <a:srgbClr val="0033CC"/>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sp>
          <p:nvSpPr>
            <p:cNvPr id="24" name="Text Box 21"/>
            <p:cNvSpPr txBox="1">
              <a:spLocks noChangeArrowheads="1"/>
            </p:cNvSpPr>
            <p:nvPr/>
          </p:nvSpPr>
          <p:spPr bwMode="auto">
            <a:xfrm>
              <a:off x="2154" y="301"/>
              <a:ext cx="27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kumimoji="1" sz="2800">
                  <a:solidFill>
                    <a:schemeClr val="tx1"/>
                  </a:solidFill>
                  <a:latin typeface="Comic Sans MS" pitchFamily="66" charset="0"/>
                  <a:ea typeface="宋体" pitchFamily="2" charset="-122"/>
                </a:defRPr>
              </a:lvl1pPr>
              <a:lvl2pPr marL="742950" indent="-285750" eaLnBrk="0" hangingPunct="0">
                <a:defRPr kumimoji="1" sz="2800">
                  <a:solidFill>
                    <a:schemeClr val="tx1"/>
                  </a:solidFill>
                  <a:latin typeface="Comic Sans MS" pitchFamily="66" charset="0"/>
                  <a:ea typeface="宋体" pitchFamily="2" charset="-122"/>
                </a:defRPr>
              </a:lvl2pPr>
              <a:lvl3pPr marL="1143000" indent="-228600" eaLnBrk="0" hangingPunct="0">
                <a:defRPr kumimoji="1" sz="2800">
                  <a:solidFill>
                    <a:schemeClr val="tx1"/>
                  </a:solidFill>
                  <a:latin typeface="Comic Sans MS" pitchFamily="66" charset="0"/>
                  <a:ea typeface="宋体" pitchFamily="2" charset="-122"/>
                </a:defRPr>
              </a:lvl3pPr>
              <a:lvl4pPr marL="1600200" indent="-228600" eaLnBrk="0" hangingPunct="0">
                <a:defRPr kumimoji="1" sz="2800">
                  <a:solidFill>
                    <a:schemeClr val="tx1"/>
                  </a:solidFill>
                  <a:latin typeface="Comic Sans MS" pitchFamily="66" charset="0"/>
                  <a:ea typeface="宋体" pitchFamily="2" charset="-122"/>
                </a:defRPr>
              </a:lvl4pPr>
              <a:lvl5pPr marL="2057400" indent="-228600" eaLnBrk="0" hangingPunct="0">
                <a:defRPr kumimoji="1" sz="2800">
                  <a:solidFill>
                    <a:schemeClr val="tx1"/>
                  </a:solidFill>
                  <a:latin typeface="Comic Sans MS" pitchFamily="66" charset="0"/>
                  <a:ea typeface="宋体" pitchFamily="2" charset="-122"/>
                </a:defRPr>
              </a:lvl5pPr>
              <a:lvl6pPr marL="25146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6pPr>
              <a:lvl7pPr marL="29718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7pPr>
              <a:lvl8pPr marL="34290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8pPr>
              <a:lvl9pPr marL="38862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9pPr>
            </a:lstStyle>
            <a:p>
              <a:pPr eaLnBrk="1" hangingPunct="1">
                <a:spcBef>
                  <a:spcPct val="50000"/>
                </a:spcBef>
              </a:pPr>
              <a:r>
                <a:rPr lang="en-US" altLang="zh-CN" sz="2400" b="1">
                  <a:solidFill>
                    <a:srgbClr val="DE580E"/>
                  </a:solidFill>
                  <a:latin typeface="Times New Roman" pitchFamily="18" charset="0"/>
                </a:rPr>
                <a:t>3</a:t>
              </a:r>
            </a:p>
          </p:txBody>
        </p:sp>
        <p:sp>
          <p:nvSpPr>
            <p:cNvPr id="26" name="Text Box 22"/>
            <p:cNvSpPr txBox="1">
              <a:spLocks noChangeArrowheads="1"/>
            </p:cNvSpPr>
            <p:nvPr/>
          </p:nvSpPr>
          <p:spPr bwMode="auto">
            <a:xfrm>
              <a:off x="3152" y="255"/>
              <a:ext cx="27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kumimoji="1" sz="2800">
                  <a:solidFill>
                    <a:schemeClr val="tx1"/>
                  </a:solidFill>
                  <a:latin typeface="Comic Sans MS" pitchFamily="66" charset="0"/>
                  <a:ea typeface="宋体" pitchFamily="2" charset="-122"/>
                </a:defRPr>
              </a:lvl1pPr>
              <a:lvl2pPr marL="742950" indent="-285750" eaLnBrk="0" hangingPunct="0">
                <a:defRPr kumimoji="1" sz="2800">
                  <a:solidFill>
                    <a:schemeClr val="tx1"/>
                  </a:solidFill>
                  <a:latin typeface="Comic Sans MS" pitchFamily="66" charset="0"/>
                  <a:ea typeface="宋体" pitchFamily="2" charset="-122"/>
                </a:defRPr>
              </a:lvl2pPr>
              <a:lvl3pPr marL="1143000" indent="-228600" eaLnBrk="0" hangingPunct="0">
                <a:defRPr kumimoji="1" sz="2800">
                  <a:solidFill>
                    <a:schemeClr val="tx1"/>
                  </a:solidFill>
                  <a:latin typeface="Comic Sans MS" pitchFamily="66" charset="0"/>
                  <a:ea typeface="宋体" pitchFamily="2" charset="-122"/>
                </a:defRPr>
              </a:lvl3pPr>
              <a:lvl4pPr marL="1600200" indent="-228600" eaLnBrk="0" hangingPunct="0">
                <a:defRPr kumimoji="1" sz="2800">
                  <a:solidFill>
                    <a:schemeClr val="tx1"/>
                  </a:solidFill>
                  <a:latin typeface="Comic Sans MS" pitchFamily="66" charset="0"/>
                  <a:ea typeface="宋体" pitchFamily="2" charset="-122"/>
                </a:defRPr>
              </a:lvl4pPr>
              <a:lvl5pPr marL="2057400" indent="-228600" eaLnBrk="0" hangingPunct="0">
                <a:defRPr kumimoji="1" sz="2800">
                  <a:solidFill>
                    <a:schemeClr val="tx1"/>
                  </a:solidFill>
                  <a:latin typeface="Comic Sans MS" pitchFamily="66" charset="0"/>
                  <a:ea typeface="宋体" pitchFamily="2" charset="-122"/>
                </a:defRPr>
              </a:lvl5pPr>
              <a:lvl6pPr marL="25146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6pPr>
              <a:lvl7pPr marL="29718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7pPr>
              <a:lvl8pPr marL="34290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8pPr>
              <a:lvl9pPr marL="38862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9pPr>
            </a:lstStyle>
            <a:p>
              <a:pPr eaLnBrk="1" hangingPunct="1">
                <a:spcBef>
                  <a:spcPct val="50000"/>
                </a:spcBef>
              </a:pPr>
              <a:r>
                <a:rPr lang="en-US" altLang="zh-CN" sz="2400" b="1">
                  <a:solidFill>
                    <a:srgbClr val="DE580E"/>
                  </a:solidFill>
                  <a:latin typeface="Times New Roman" pitchFamily="18" charset="0"/>
                </a:rPr>
                <a:t>5</a:t>
              </a:r>
            </a:p>
          </p:txBody>
        </p:sp>
        <p:sp>
          <p:nvSpPr>
            <p:cNvPr id="39" name="Text Box 23"/>
            <p:cNvSpPr txBox="1">
              <a:spLocks noChangeArrowheads="1"/>
            </p:cNvSpPr>
            <p:nvPr/>
          </p:nvSpPr>
          <p:spPr bwMode="auto">
            <a:xfrm>
              <a:off x="3741" y="800"/>
              <a:ext cx="27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kumimoji="1" sz="2800">
                  <a:solidFill>
                    <a:schemeClr val="tx1"/>
                  </a:solidFill>
                  <a:latin typeface="Comic Sans MS" pitchFamily="66" charset="0"/>
                  <a:ea typeface="宋体" pitchFamily="2" charset="-122"/>
                </a:defRPr>
              </a:lvl1pPr>
              <a:lvl2pPr marL="742950" indent="-285750" eaLnBrk="0" hangingPunct="0">
                <a:defRPr kumimoji="1" sz="2800">
                  <a:solidFill>
                    <a:schemeClr val="tx1"/>
                  </a:solidFill>
                  <a:latin typeface="Comic Sans MS" pitchFamily="66" charset="0"/>
                  <a:ea typeface="宋体" pitchFamily="2" charset="-122"/>
                </a:defRPr>
              </a:lvl2pPr>
              <a:lvl3pPr marL="1143000" indent="-228600" eaLnBrk="0" hangingPunct="0">
                <a:defRPr kumimoji="1" sz="2800">
                  <a:solidFill>
                    <a:schemeClr val="tx1"/>
                  </a:solidFill>
                  <a:latin typeface="Comic Sans MS" pitchFamily="66" charset="0"/>
                  <a:ea typeface="宋体" pitchFamily="2" charset="-122"/>
                </a:defRPr>
              </a:lvl3pPr>
              <a:lvl4pPr marL="1600200" indent="-228600" eaLnBrk="0" hangingPunct="0">
                <a:defRPr kumimoji="1" sz="2800">
                  <a:solidFill>
                    <a:schemeClr val="tx1"/>
                  </a:solidFill>
                  <a:latin typeface="Comic Sans MS" pitchFamily="66" charset="0"/>
                  <a:ea typeface="宋体" pitchFamily="2" charset="-122"/>
                </a:defRPr>
              </a:lvl4pPr>
              <a:lvl5pPr marL="2057400" indent="-228600" eaLnBrk="0" hangingPunct="0">
                <a:defRPr kumimoji="1" sz="2800">
                  <a:solidFill>
                    <a:schemeClr val="tx1"/>
                  </a:solidFill>
                  <a:latin typeface="Comic Sans MS" pitchFamily="66" charset="0"/>
                  <a:ea typeface="宋体" pitchFamily="2" charset="-122"/>
                </a:defRPr>
              </a:lvl5pPr>
              <a:lvl6pPr marL="25146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6pPr>
              <a:lvl7pPr marL="29718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7pPr>
              <a:lvl8pPr marL="34290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8pPr>
              <a:lvl9pPr marL="38862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9pPr>
            </a:lstStyle>
            <a:p>
              <a:pPr eaLnBrk="1" hangingPunct="1">
                <a:spcBef>
                  <a:spcPct val="50000"/>
                </a:spcBef>
              </a:pPr>
              <a:r>
                <a:rPr lang="en-US" altLang="zh-CN" sz="2400" b="1">
                  <a:solidFill>
                    <a:srgbClr val="DE580E"/>
                  </a:solidFill>
                  <a:latin typeface="Times New Roman" pitchFamily="18" charset="0"/>
                </a:rPr>
                <a:t>8</a:t>
              </a:r>
            </a:p>
          </p:txBody>
        </p:sp>
        <p:sp>
          <p:nvSpPr>
            <p:cNvPr id="40" name="Text Box 24"/>
            <p:cNvSpPr txBox="1">
              <a:spLocks noChangeArrowheads="1"/>
            </p:cNvSpPr>
            <p:nvPr/>
          </p:nvSpPr>
          <p:spPr bwMode="auto">
            <a:xfrm>
              <a:off x="3197" y="1389"/>
              <a:ext cx="40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kumimoji="1" sz="2800">
                  <a:solidFill>
                    <a:schemeClr val="tx1"/>
                  </a:solidFill>
                  <a:latin typeface="Comic Sans MS" pitchFamily="66" charset="0"/>
                  <a:ea typeface="宋体" pitchFamily="2" charset="-122"/>
                </a:defRPr>
              </a:lvl1pPr>
              <a:lvl2pPr marL="742950" indent="-285750" eaLnBrk="0" hangingPunct="0">
                <a:defRPr kumimoji="1" sz="2800">
                  <a:solidFill>
                    <a:schemeClr val="tx1"/>
                  </a:solidFill>
                  <a:latin typeface="Comic Sans MS" pitchFamily="66" charset="0"/>
                  <a:ea typeface="宋体" pitchFamily="2" charset="-122"/>
                </a:defRPr>
              </a:lvl2pPr>
              <a:lvl3pPr marL="1143000" indent="-228600" eaLnBrk="0" hangingPunct="0">
                <a:defRPr kumimoji="1" sz="2800">
                  <a:solidFill>
                    <a:schemeClr val="tx1"/>
                  </a:solidFill>
                  <a:latin typeface="Comic Sans MS" pitchFamily="66" charset="0"/>
                  <a:ea typeface="宋体" pitchFamily="2" charset="-122"/>
                </a:defRPr>
              </a:lvl3pPr>
              <a:lvl4pPr marL="1600200" indent="-228600" eaLnBrk="0" hangingPunct="0">
                <a:defRPr kumimoji="1" sz="2800">
                  <a:solidFill>
                    <a:schemeClr val="tx1"/>
                  </a:solidFill>
                  <a:latin typeface="Comic Sans MS" pitchFamily="66" charset="0"/>
                  <a:ea typeface="宋体" pitchFamily="2" charset="-122"/>
                </a:defRPr>
              </a:lvl4pPr>
              <a:lvl5pPr marL="2057400" indent="-228600" eaLnBrk="0" hangingPunct="0">
                <a:defRPr kumimoji="1" sz="2800">
                  <a:solidFill>
                    <a:schemeClr val="tx1"/>
                  </a:solidFill>
                  <a:latin typeface="Comic Sans MS" pitchFamily="66" charset="0"/>
                  <a:ea typeface="宋体" pitchFamily="2" charset="-122"/>
                </a:defRPr>
              </a:lvl5pPr>
              <a:lvl6pPr marL="25146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6pPr>
              <a:lvl7pPr marL="29718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7pPr>
              <a:lvl8pPr marL="34290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8pPr>
              <a:lvl9pPr marL="38862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9pPr>
            </a:lstStyle>
            <a:p>
              <a:pPr eaLnBrk="1" hangingPunct="1">
                <a:spcBef>
                  <a:spcPct val="50000"/>
                </a:spcBef>
              </a:pPr>
              <a:r>
                <a:rPr lang="en-US" altLang="zh-CN" sz="2400" b="1">
                  <a:solidFill>
                    <a:srgbClr val="DE580E"/>
                  </a:solidFill>
                  <a:latin typeface="Times New Roman" pitchFamily="18" charset="0"/>
                </a:rPr>
                <a:t>10</a:t>
              </a:r>
            </a:p>
          </p:txBody>
        </p:sp>
        <p:sp>
          <p:nvSpPr>
            <p:cNvPr id="41" name="Text Box 25"/>
            <p:cNvSpPr txBox="1">
              <a:spLocks noChangeArrowheads="1"/>
            </p:cNvSpPr>
            <p:nvPr/>
          </p:nvSpPr>
          <p:spPr bwMode="auto">
            <a:xfrm>
              <a:off x="2199" y="1389"/>
              <a:ext cx="27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kumimoji="1" sz="2800">
                  <a:solidFill>
                    <a:schemeClr val="tx1"/>
                  </a:solidFill>
                  <a:latin typeface="Comic Sans MS" pitchFamily="66" charset="0"/>
                  <a:ea typeface="宋体" pitchFamily="2" charset="-122"/>
                </a:defRPr>
              </a:lvl1pPr>
              <a:lvl2pPr marL="742950" indent="-285750" eaLnBrk="0" hangingPunct="0">
                <a:defRPr kumimoji="1" sz="2800">
                  <a:solidFill>
                    <a:schemeClr val="tx1"/>
                  </a:solidFill>
                  <a:latin typeface="Comic Sans MS" pitchFamily="66" charset="0"/>
                  <a:ea typeface="宋体" pitchFamily="2" charset="-122"/>
                </a:defRPr>
              </a:lvl2pPr>
              <a:lvl3pPr marL="1143000" indent="-228600" eaLnBrk="0" hangingPunct="0">
                <a:defRPr kumimoji="1" sz="2800">
                  <a:solidFill>
                    <a:schemeClr val="tx1"/>
                  </a:solidFill>
                  <a:latin typeface="Comic Sans MS" pitchFamily="66" charset="0"/>
                  <a:ea typeface="宋体" pitchFamily="2" charset="-122"/>
                </a:defRPr>
              </a:lvl3pPr>
              <a:lvl4pPr marL="1600200" indent="-228600" eaLnBrk="0" hangingPunct="0">
                <a:defRPr kumimoji="1" sz="2800">
                  <a:solidFill>
                    <a:schemeClr val="tx1"/>
                  </a:solidFill>
                  <a:latin typeface="Comic Sans MS" pitchFamily="66" charset="0"/>
                  <a:ea typeface="宋体" pitchFamily="2" charset="-122"/>
                </a:defRPr>
              </a:lvl4pPr>
              <a:lvl5pPr marL="2057400" indent="-228600" eaLnBrk="0" hangingPunct="0">
                <a:defRPr kumimoji="1" sz="2800">
                  <a:solidFill>
                    <a:schemeClr val="tx1"/>
                  </a:solidFill>
                  <a:latin typeface="Comic Sans MS" pitchFamily="66" charset="0"/>
                  <a:ea typeface="宋体" pitchFamily="2" charset="-122"/>
                </a:defRPr>
              </a:lvl5pPr>
              <a:lvl6pPr marL="25146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6pPr>
              <a:lvl7pPr marL="29718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7pPr>
              <a:lvl8pPr marL="34290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8pPr>
              <a:lvl9pPr marL="38862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9pPr>
            </a:lstStyle>
            <a:p>
              <a:pPr eaLnBrk="1" hangingPunct="1">
                <a:spcBef>
                  <a:spcPct val="50000"/>
                </a:spcBef>
              </a:pPr>
              <a:r>
                <a:rPr lang="en-US" altLang="zh-CN" sz="2400" b="1">
                  <a:solidFill>
                    <a:srgbClr val="DE580E"/>
                  </a:solidFill>
                  <a:latin typeface="Times New Roman" pitchFamily="18" charset="0"/>
                </a:rPr>
                <a:t>2</a:t>
              </a:r>
            </a:p>
          </p:txBody>
        </p:sp>
        <p:sp>
          <p:nvSpPr>
            <p:cNvPr id="42" name="Text Box 26"/>
            <p:cNvSpPr txBox="1">
              <a:spLocks noChangeArrowheads="1"/>
            </p:cNvSpPr>
            <p:nvPr/>
          </p:nvSpPr>
          <p:spPr bwMode="auto">
            <a:xfrm>
              <a:off x="1610" y="800"/>
              <a:ext cx="27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kumimoji="1" sz="2800">
                  <a:solidFill>
                    <a:schemeClr val="tx1"/>
                  </a:solidFill>
                  <a:latin typeface="Comic Sans MS" pitchFamily="66" charset="0"/>
                  <a:ea typeface="宋体" pitchFamily="2" charset="-122"/>
                </a:defRPr>
              </a:lvl1pPr>
              <a:lvl2pPr marL="742950" indent="-285750" eaLnBrk="0" hangingPunct="0">
                <a:defRPr kumimoji="1" sz="2800">
                  <a:solidFill>
                    <a:schemeClr val="tx1"/>
                  </a:solidFill>
                  <a:latin typeface="Comic Sans MS" pitchFamily="66" charset="0"/>
                  <a:ea typeface="宋体" pitchFamily="2" charset="-122"/>
                </a:defRPr>
              </a:lvl2pPr>
              <a:lvl3pPr marL="1143000" indent="-228600" eaLnBrk="0" hangingPunct="0">
                <a:defRPr kumimoji="1" sz="2800">
                  <a:solidFill>
                    <a:schemeClr val="tx1"/>
                  </a:solidFill>
                  <a:latin typeface="Comic Sans MS" pitchFamily="66" charset="0"/>
                  <a:ea typeface="宋体" pitchFamily="2" charset="-122"/>
                </a:defRPr>
              </a:lvl3pPr>
              <a:lvl4pPr marL="1600200" indent="-228600" eaLnBrk="0" hangingPunct="0">
                <a:defRPr kumimoji="1" sz="2800">
                  <a:solidFill>
                    <a:schemeClr val="tx1"/>
                  </a:solidFill>
                  <a:latin typeface="Comic Sans MS" pitchFamily="66" charset="0"/>
                  <a:ea typeface="宋体" pitchFamily="2" charset="-122"/>
                </a:defRPr>
              </a:lvl4pPr>
              <a:lvl5pPr marL="2057400" indent="-228600" eaLnBrk="0" hangingPunct="0">
                <a:defRPr kumimoji="1" sz="2800">
                  <a:solidFill>
                    <a:schemeClr val="tx1"/>
                  </a:solidFill>
                  <a:latin typeface="Comic Sans MS" pitchFamily="66" charset="0"/>
                  <a:ea typeface="宋体" pitchFamily="2" charset="-122"/>
                </a:defRPr>
              </a:lvl5pPr>
              <a:lvl6pPr marL="25146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6pPr>
              <a:lvl7pPr marL="29718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7pPr>
              <a:lvl8pPr marL="34290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8pPr>
              <a:lvl9pPr marL="38862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9pPr>
            </a:lstStyle>
            <a:p>
              <a:pPr eaLnBrk="1" hangingPunct="1">
                <a:spcBef>
                  <a:spcPct val="50000"/>
                </a:spcBef>
              </a:pPr>
              <a:r>
                <a:rPr lang="en-US" altLang="zh-CN" sz="2400" b="1">
                  <a:solidFill>
                    <a:srgbClr val="DE580E"/>
                  </a:solidFill>
                  <a:latin typeface="Times New Roman" pitchFamily="18" charset="0"/>
                </a:rPr>
                <a:t>3</a:t>
              </a:r>
            </a:p>
          </p:txBody>
        </p:sp>
        <p:sp>
          <p:nvSpPr>
            <p:cNvPr id="43" name="Text Box 27"/>
            <p:cNvSpPr txBox="1">
              <a:spLocks noChangeArrowheads="1"/>
            </p:cNvSpPr>
            <p:nvPr/>
          </p:nvSpPr>
          <p:spPr bwMode="auto">
            <a:xfrm>
              <a:off x="2108" y="981"/>
              <a:ext cx="27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kumimoji="1" sz="2800">
                  <a:solidFill>
                    <a:schemeClr val="tx1"/>
                  </a:solidFill>
                  <a:latin typeface="Comic Sans MS" pitchFamily="66" charset="0"/>
                  <a:ea typeface="宋体" pitchFamily="2" charset="-122"/>
                </a:defRPr>
              </a:lvl1pPr>
              <a:lvl2pPr marL="742950" indent="-285750" eaLnBrk="0" hangingPunct="0">
                <a:defRPr kumimoji="1" sz="2800">
                  <a:solidFill>
                    <a:schemeClr val="tx1"/>
                  </a:solidFill>
                  <a:latin typeface="Comic Sans MS" pitchFamily="66" charset="0"/>
                  <a:ea typeface="宋体" pitchFamily="2" charset="-122"/>
                </a:defRPr>
              </a:lvl2pPr>
              <a:lvl3pPr marL="1143000" indent="-228600" eaLnBrk="0" hangingPunct="0">
                <a:defRPr kumimoji="1" sz="2800">
                  <a:solidFill>
                    <a:schemeClr val="tx1"/>
                  </a:solidFill>
                  <a:latin typeface="Comic Sans MS" pitchFamily="66" charset="0"/>
                  <a:ea typeface="宋体" pitchFamily="2" charset="-122"/>
                </a:defRPr>
              </a:lvl3pPr>
              <a:lvl4pPr marL="1600200" indent="-228600" eaLnBrk="0" hangingPunct="0">
                <a:defRPr kumimoji="1" sz="2800">
                  <a:solidFill>
                    <a:schemeClr val="tx1"/>
                  </a:solidFill>
                  <a:latin typeface="Comic Sans MS" pitchFamily="66" charset="0"/>
                  <a:ea typeface="宋体" pitchFamily="2" charset="-122"/>
                </a:defRPr>
              </a:lvl4pPr>
              <a:lvl5pPr marL="2057400" indent="-228600" eaLnBrk="0" hangingPunct="0">
                <a:defRPr kumimoji="1" sz="2800">
                  <a:solidFill>
                    <a:schemeClr val="tx1"/>
                  </a:solidFill>
                  <a:latin typeface="Comic Sans MS" pitchFamily="66" charset="0"/>
                  <a:ea typeface="宋体" pitchFamily="2" charset="-122"/>
                </a:defRPr>
              </a:lvl5pPr>
              <a:lvl6pPr marL="25146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6pPr>
              <a:lvl7pPr marL="29718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7pPr>
              <a:lvl8pPr marL="34290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8pPr>
              <a:lvl9pPr marL="38862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9pPr>
            </a:lstStyle>
            <a:p>
              <a:pPr eaLnBrk="1" hangingPunct="1">
                <a:spcBef>
                  <a:spcPct val="50000"/>
                </a:spcBef>
              </a:pPr>
              <a:r>
                <a:rPr lang="en-US" altLang="zh-CN" sz="2400" b="1">
                  <a:solidFill>
                    <a:srgbClr val="DE580E"/>
                  </a:solidFill>
                  <a:latin typeface="Times New Roman" pitchFamily="18" charset="0"/>
                </a:rPr>
                <a:t>4</a:t>
              </a:r>
            </a:p>
          </p:txBody>
        </p:sp>
        <p:sp>
          <p:nvSpPr>
            <p:cNvPr id="44" name="Text Box 28"/>
            <p:cNvSpPr txBox="1">
              <a:spLocks noChangeArrowheads="1"/>
            </p:cNvSpPr>
            <p:nvPr/>
          </p:nvSpPr>
          <p:spPr bwMode="auto">
            <a:xfrm>
              <a:off x="2381" y="800"/>
              <a:ext cx="27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kumimoji="1" sz="2800">
                  <a:solidFill>
                    <a:schemeClr val="tx1"/>
                  </a:solidFill>
                  <a:latin typeface="Comic Sans MS" pitchFamily="66" charset="0"/>
                  <a:ea typeface="宋体" pitchFamily="2" charset="-122"/>
                </a:defRPr>
              </a:lvl1pPr>
              <a:lvl2pPr marL="742950" indent="-285750" eaLnBrk="0" hangingPunct="0">
                <a:defRPr kumimoji="1" sz="2800">
                  <a:solidFill>
                    <a:schemeClr val="tx1"/>
                  </a:solidFill>
                  <a:latin typeface="Comic Sans MS" pitchFamily="66" charset="0"/>
                  <a:ea typeface="宋体" pitchFamily="2" charset="-122"/>
                </a:defRPr>
              </a:lvl2pPr>
              <a:lvl3pPr marL="1143000" indent="-228600" eaLnBrk="0" hangingPunct="0">
                <a:defRPr kumimoji="1" sz="2800">
                  <a:solidFill>
                    <a:schemeClr val="tx1"/>
                  </a:solidFill>
                  <a:latin typeface="Comic Sans MS" pitchFamily="66" charset="0"/>
                  <a:ea typeface="宋体" pitchFamily="2" charset="-122"/>
                </a:defRPr>
              </a:lvl3pPr>
              <a:lvl4pPr marL="1600200" indent="-228600" eaLnBrk="0" hangingPunct="0">
                <a:defRPr kumimoji="1" sz="2800">
                  <a:solidFill>
                    <a:schemeClr val="tx1"/>
                  </a:solidFill>
                  <a:latin typeface="Comic Sans MS" pitchFamily="66" charset="0"/>
                  <a:ea typeface="宋体" pitchFamily="2" charset="-122"/>
                </a:defRPr>
              </a:lvl4pPr>
              <a:lvl5pPr marL="2057400" indent="-228600" eaLnBrk="0" hangingPunct="0">
                <a:defRPr kumimoji="1" sz="2800">
                  <a:solidFill>
                    <a:schemeClr val="tx1"/>
                  </a:solidFill>
                  <a:latin typeface="Comic Sans MS" pitchFamily="66" charset="0"/>
                  <a:ea typeface="宋体" pitchFamily="2" charset="-122"/>
                </a:defRPr>
              </a:lvl5pPr>
              <a:lvl6pPr marL="25146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6pPr>
              <a:lvl7pPr marL="29718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7pPr>
              <a:lvl8pPr marL="34290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8pPr>
              <a:lvl9pPr marL="38862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9pPr>
            </a:lstStyle>
            <a:p>
              <a:pPr eaLnBrk="1" hangingPunct="1">
                <a:spcBef>
                  <a:spcPct val="50000"/>
                </a:spcBef>
              </a:pPr>
              <a:r>
                <a:rPr lang="en-US" altLang="zh-CN" sz="2400" b="1">
                  <a:solidFill>
                    <a:srgbClr val="DE580E"/>
                  </a:solidFill>
                  <a:latin typeface="Times New Roman" pitchFamily="18" charset="0"/>
                </a:rPr>
                <a:t>7</a:t>
              </a:r>
            </a:p>
          </p:txBody>
        </p:sp>
        <p:sp>
          <p:nvSpPr>
            <p:cNvPr id="45" name="Text Box 29"/>
            <p:cNvSpPr txBox="1">
              <a:spLocks noChangeArrowheads="1"/>
            </p:cNvSpPr>
            <p:nvPr/>
          </p:nvSpPr>
          <p:spPr bwMode="auto">
            <a:xfrm>
              <a:off x="2789" y="800"/>
              <a:ext cx="27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kumimoji="1" sz="2800">
                  <a:solidFill>
                    <a:schemeClr val="tx1"/>
                  </a:solidFill>
                  <a:latin typeface="Comic Sans MS" pitchFamily="66" charset="0"/>
                  <a:ea typeface="宋体" pitchFamily="2" charset="-122"/>
                </a:defRPr>
              </a:lvl1pPr>
              <a:lvl2pPr marL="742950" indent="-285750" eaLnBrk="0" hangingPunct="0">
                <a:defRPr kumimoji="1" sz="2800">
                  <a:solidFill>
                    <a:schemeClr val="tx1"/>
                  </a:solidFill>
                  <a:latin typeface="Comic Sans MS" pitchFamily="66" charset="0"/>
                  <a:ea typeface="宋体" pitchFamily="2" charset="-122"/>
                </a:defRPr>
              </a:lvl2pPr>
              <a:lvl3pPr marL="1143000" indent="-228600" eaLnBrk="0" hangingPunct="0">
                <a:defRPr kumimoji="1" sz="2800">
                  <a:solidFill>
                    <a:schemeClr val="tx1"/>
                  </a:solidFill>
                  <a:latin typeface="Comic Sans MS" pitchFamily="66" charset="0"/>
                  <a:ea typeface="宋体" pitchFamily="2" charset="-122"/>
                </a:defRPr>
              </a:lvl3pPr>
              <a:lvl4pPr marL="1600200" indent="-228600" eaLnBrk="0" hangingPunct="0">
                <a:defRPr kumimoji="1" sz="2800">
                  <a:solidFill>
                    <a:schemeClr val="tx1"/>
                  </a:solidFill>
                  <a:latin typeface="Comic Sans MS" pitchFamily="66" charset="0"/>
                  <a:ea typeface="宋体" pitchFamily="2" charset="-122"/>
                </a:defRPr>
              </a:lvl4pPr>
              <a:lvl5pPr marL="2057400" indent="-228600" eaLnBrk="0" hangingPunct="0">
                <a:defRPr kumimoji="1" sz="2800">
                  <a:solidFill>
                    <a:schemeClr val="tx1"/>
                  </a:solidFill>
                  <a:latin typeface="Comic Sans MS" pitchFamily="66" charset="0"/>
                  <a:ea typeface="宋体" pitchFamily="2" charset="-122"/>
                </a:defRPr>
              </a:lvl5pPr>
              <a:lvl6pPr marL="25146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6pPr>
              <a:lvl7pPr marL="29718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7pPr>
              <a:lvl8pPr marL="34290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8pPr>
              <a:lvl9pPr marL="38862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9pPr>
            </a:lstStyle>
            <a:p>
              <a:pPr eaLnBrk="1" hangingPunct="1">
                <a:spcBef>
                  <a:spcPct val="50000"/>
                </a:spcBef>
              </a:pPr>
              <a:r>
                <a:rPr lang="en-US" altLang="zh-CN" sz="2400" b="1">
                  <a:solidFill>
                    <a:srgbClr val="DE580E"/>
                  </a:solidFill>
                  <a:latin typeface="Times New Roman" pitchFamily="18" charset="0"/>
                </a:rPr>
                <a:t>6</a:t>
              </a:r>
            </a:p>
          </p:txBody>
        </p:sp>
        <p:sp>
          <p:nvSpPr>
            <p:cNvPr id="46" name="Text Box 30"/>
            <p:cNvSpPr txBox="1">
              <a:spLocks noChangeArrowheads="1"/>
            </p:cNvSpPr>
            <p:nvPr/>
          </p:nvSpPr>
          <p:spPr bwMode="auto">
            <a:xfrm>
              <a:off x="3288" y="890"/>
              <a:ext cx="27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kumimoji="1" sz="2800">
                  <a:solidFill>
                    <a:schemeClr val="tx1"/>
                  </a:solidFill>
                  <a:latin typeface="Comic Sans MS" pitchFamily="66" charset="0"/>
                  <a:ea typeface="宋体" pitchFamily="2" charset="-122"/>
                </a:defRPr>
              </a:lvl1pPr>
              <a:lvl2pPr marL="742950" indent="-285750" eaLnBrk="0" hangingPunct="0">
                <a:defRPr kumimoji="1" sz="2800">
                  <a:solidFill>
                    <a:schemeClr val="tx1"/>
                  </a:solidFill>
                  <a:latin typeface="Comic Sans MS" pitchFamily="66" charset="0"/>
                  <a:ea typeface="宋体" pitchFamily="2" charset="-122"/>
                </a:defRPr>
              </a:lvl2pPr>
              <a:lvl3pPr marL="1143000" indent="-228600" eaLnBrk="0" hangingPunct="0">
                <a:defRPr kumimoji="1" sz="2800">
                  <a:solidFill>
                    <a:schemeClr val="tx1"/>
                  </a:solidFill>
                  <a:latin typeface="Comic Sans MS" pitchFamily="66" charset="0"/>
                  <a:ea typeface="宋体" pitchFamily="2" charset="-122"/>
                </a:defRPr>
              </a:lvl3pPr>
              <a:lvl4pPr marL="1600200" indent="-228600" eaLnBrk="0" hangingPunct="0">
                <a:defRPr kumimoji="1" sz="2800">
                  <a:solidFill>
                    <a:schemeClr val="tx1"/>
                  </a:solidFill>
                  <a:latin typeface="Comic Sans MS" pitchFamily="66" charset="0"/>
                  <a:ea typeface="宋体" pitchFamily="2" charset="-122"/>
                </a:defRPr>
              </a:lvl4pPr>
              <a:lvl5pPr marL="2057400" indent="-228600" eaLnBrk="0" hangingPunct="0">
                <a:defRPr kumimoji="1" sz="2800">
                  <a:solidFill>
                    <a:schemeClr val="tx1"/>
                  </a:solidFill>
                  <a:latin typeface="Comic Sans MS" pitchFamily="66" charset="0"/>
                  <a:ea typeface="宋体" pitchFamily="2" charset="-122"/>
                </a:defRPr>
              </a:lvl5pPr>
              <a:lvl6pPr marL="25146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6pPr>
              <a:lvl7pPr marL="29718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7pPr>
              <a:lvl8pPr marL="34290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8pPr>
              <a:lvl9pPr marL="38862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9pPr>
            </a:lstStyle>
            <a:p>
              <a:pPr eaLnBrk="1" hangingPunct="1">
                <a:spcBef>
                  <a:spcPct val="50000"/>
                </a:spcBef>
              </a:pPr>
              <a:r>
                <a:rPr lang="en-US" altLang="zh-CN" sz="2400" b="1">
                  <a:solidFill>
                    <a:srgbClr val="DE580E"/>
                  </a:solidFill>
                  <a:latin typeface="Times New Roman" pitchFamily="18" charset="0"/>
                </a:rPr>
                <a:t>9</a:t>
              </a:r>
            </a:p>
          </p:txBody>
        </p:sp>
      </p:grpSp>
      <p:graphicFrame>
        <p:nvGraphicFramePr>
          <p:cNvPr id="64" name="Object 32"/>
          <p:cNvGraphicFramePr>
            <a:graphicFrameLocks noChangeAspect="1"/>
          </p:cNvGraphicFramePr>
          <p:nvPr>
            <p:extLst>
              <p:ext uri="{D42A27DB-BD31-4B8C-83A1-F6EECF244321}">
                <p14:modId xmlns:p14="http://schemas.microsoft.com/office/powerpoint/2010/main" val="1777080502"/>
              </p:ext>
            </p:extLst>
          </p:nvPr>
        </p:nvGraphicFramePr>
        <p:xfrm>
          <a:off x="6528049" y="3502324"/>
          <a:ext cx="3432345" cy="2761009"/>
        </p:xfrm>
        <a:graphic>
          <a:graphicData uri="http://schemas.openxmlformats.org/presentationml/2006/ole">
            <mc:AlternateContent xmlns:mc="http://schemas.openxmlformats.org/markup-compatibility/2006">
              <mc:Choice xmlns:v="urn:schemas-microsoft-com:vml" Requires="v">
                <p:oleObj name="公式" r:id="rId4" imgW="1701800" imgH="1371600" progId="Equation.3">
                  <p:embed/>
                </p:oleObj>
              </mc:Choice>
              <mc:Fallback>
                <p:oleObj name="公式" r:id="rId4" imgW="1701800" imgH="137160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28049" y="3502324"/>
                        <a:ext cx="3432345" cy="2761009"/>
                      </a:xfrm>
                      <a:prstGeom prst="rect">
                        <a:avLst/>
                      </a:prstGeom>
                      <a:noFill/>
                    </p:spPr>
                  </p:pic>
                </p:oleObj>
              </mc:Fallback>
            </mc:AlternateContent>
          </a:graphicData>
        </a:graphic>
      </p:graphicFrame>
      <p:sp>
        <p:nvSpPr>
          <p:cNvPr id="2" name="Rectangle 2">
            <a:extLst>
              <a:ext uri="{FF2B5EF4-FFF2-40B4-BE49-F238E27FC236}">
                <a16:creationId xmlns:a16="http://schemas.microsoft.com/office/drawing/2014/main" id="{F529CD1A-B9C9-0916-BB72-BD821D020F37}"/>
              </a:ext>
            </a:extLst>
          </p:cNvPr>
          <p:cNvSpPr txBox="1">
            <a:spLocks noChangeArrowheads="1"/>
          </p:cNvSpPr>
          <p:nvPr/>
        </p:nvSpPr>
        <p:spPr>
          <a:xfrm>
            <a:off x="474772" y="1230902"/>
            <a:ext cx="4253075"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8.2.1 </a:t>
            </a:r>
            <a:r>
              <a:rPr kumimoji="1" lang="zh-CN" altLang="en-US" dirty="0">
                <a:latin typeface="微软雅黑" pitchFamily="34" charset="-122"/>
                <a:ea typeface="微软雅黑" pitchFamily="34" charset="-122"/>
              </a:rPr>
              <a:t>邻接矩阵存储方法</a:t>
            </a:r>
            <a:endParaRPr lang="zh-CN" altLang="en-US" dirty="0"/>
          </a:p>
        </p:txBody>
      </p:sp>
      <p:sp>
        <p:nvSpPr>
          <p:cNvPr id="3" name="矩形 2">
            <a:extLst>
              <a:ext uri="{FF2B5EF4-FFF2-40B4-BE49-F238E27FC236}">
                <a16:creationId xmlns:a16="http://schemas.microsoft.com/office/drawing/2014/main" id="{80917551-5471-D94F-6E25-76263290CB17}"/>
              </a:ext>
            </a:extLst>
          </p:cNvPr>
          <p:cNvSpPr/>
          <p:nvPr/>
        </p:nvSpPr>
        <p:spPr>
          <a:xfrm>
            <a:off x="2846292" y="348366"/>
            <a:ext cx="6715440"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8.2 </a:t>
            </a:r>
            <a:r>
              <a:rPr lang="zh-CN" altLang="en-US" sz="3000" b="1" dirty="0">
                <a:latin typeface="黑体" pitchFamily="49" charset="-122"/>
                <a:ea typeface="黑体" pitchFamily="49" charset="-122"/>
                <a:cs typeface="经典粗黑简" pitchFamily="49" charset="-122"/>
              </a:rPr>
              <a:t>图的存储结构和基本运算算法</a:t>
            </a:r>
          </a:p>
        </p:txBody>
      </p:sp>
      <p:cxnSp>
        <p:nvCxnSpPr>
          <p:cNvPr id="4" name="直接连接符 3">
            <a:extLst>
              <a:ext uri="{FF2B5EF4-FFF2-40B4-BE49-F238E27FC236}">
                <a16:creationId xmlns:a16="http://schemas.microsoft.com/office/drawing/2014/main" id="{145F9CE3-F4D2-E36E-2074-5EE7544ADAD9}"/>
              </a:ext>
            </a:extLst>
          </p:cNvPr>
          <p:cNvCxnSpPr>
            <a:cxnSpLocks/>
          </p:cNvCxnSpPr>
          <p:nvPr/>
        </p:nvCxnSpPr>
        <p:spPr>
          <a:xfrm>
            <a:off x="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091899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755030" y="2204864"/>
            <a:ext cx="3518912" cy="400110"/>
          </a:xfrm>
          <a:prstGeom prst="rect">
            <a:avLst/>
          </a:prstGeom>
        </p:spPr>
        <p:txBody>
          <a:bodyPr wrap="square">
            <a:spAutoFit/>
          </a:bodyPr>
          <a:lstStyle/>
          <a:p>
            <a:r>
              <a:rPr kumimoji="1" lang="zh-CN" altLang="en-US" sz="2000" dirty="0">
                <a:latin typeface="微软雅黑" pitchFamily="34" charset="-122"/>
                <a:ea typeface="微软雅黑" pitchFamily="34" charset="-122"/>
                <a:cs typeface="经典粗黑简" pitchFamily="49" charset="-122"/>
              </a:rPr>
              <a:t>图的邻接矩阵表示法的特点：</a:t>
            </a:r>
          </a:p>
        </p:txBody>
      </p:sp>
      <p:sp>
        <p:nvSpPr>
          <p:cNvPr id="4" name="矩形 3"/>
          <p:cNvSpPr/>
          <p:nvPr/>
        </p:nvSpPr>
        <p:spPr>
          <a:xfrm>
            <a:off x="2711624" y="2643416"/>
            <a:ext cx="4801314" cy="400110"/>
          </a:xfrm>
          <a:prstGeom prst="rect">
            <a:avLst/>
          </a:prstGeom>
        </p:spPr>
        <p:txBody>
          <a:bodyPr wrap="none">
            <a:spAutoFit/>
          </a:bodyPr>
          <a:lstStyle/>
          <a:p>
            <a:r>
              <a:rPr kumimoji="1" lang="en-US" altLang="zh-CN" sz="2000" dirty="0">
                <a:latin typeface="微软雅黑" pitchFamily="34" charset="-122"/>
                <a:ea typeface="微软雅黑" pitchFamily="34" charset="-122"/>
                <a:cs typeface="经典粗黑简" pitchFamily="49" charset="-122"/>
              </a:rPr>
              <a:t>①</a:t>
            </a:r>
            <a:r>
              <a:rPr kumimoji="1" lang="zh-CN" altLang="en-US" sz="2000" dirty="0">
                <a:latin typeface="微软雅黑" pitchFamily="34" charset="-122"/>
                <a:ea typeface="微软雅黑" pitchFamily="34" charset="-122"/>
                <a:cs typeface="经典粗黑简" pitchFamily="49" charset="-122"/>
              </a:rPr>
              <a:t>、无向图的邻接矩阵是一个对称矩阵；</a:t>
            </a:r>
            <a:endParaRPr lang="zh-CN" altLang="en-US" sz="2000" dirty="0"/>
          </a:p>
        </p:txBody>
      </p:sp>
      <p:sp>
        <p:nvSpPr>
          <p:cNvPr id="5" name="矩形 4"/>
          <p:cNvSpPr/>
          <p:nvPr/>
        </p:nvSpPr>
        <p:spPr>
          <a:xfrm>
            <a:off x="2711624" y="3081968"/>
            <a:ext cx="6984776" cy="707886"/>
          </a:xfrm>
          <a:prstGeom prst="rect">
            <a:avLst/>
          </a:prstGeom>
        </p:spPr>
        <p:txBody>
          <a:bodyPr wrap="square">
            <a:spAutoFit/>
          </a:bodyPr>
          <a:lstStyle/>
          <a:p>
            <a:r>
              <a:rPr kumimoji="1" lang="en-US" altLang="zh-CN" sz="2000" dirty="0">
                <a:latin typeface="微软雅黑" pitchFamily="34" charset="-122"/>
                <a:ea typeface="微软雅黑" pitchFamily="34" charset="-122"/>
                <a:cs typeface="经典粗黑简" pitchFamily="49" charset="-122"/>
              </a:rPr>
              <a:t>②</a:t>
            </a:r>
            <a:r>
              <a:rPr kumimoji="1" lang="zh-CN" altLang="en-US" sz="2000" dirty="0">
                <a:latin typeface="微软雅黑" pitchFamily="34" charset="-122"/>
                <a:ea typeface="微软雅黑" pitchFamily="34" charset="-122"/>
                <a:cs typeface="经典粗黑简" pitchFamily="49" charset="-122"/>
              </a:rPr>
              <a:t>、无向图中，顶点</a:t>
            </a:r>
            <a:r>
              <a:rPr kumimoji="1" lang="en-US" altLang="zh-CN" sz="2000" dirty="0">
                <a:latin typeface="微软雅黑" pitchFamily="34" charset="-122"/>
                <a:ea typeface="微软雅黑" pitchFamily="34" charset="-122"/>
                <a:cs typeface="经典粗黑简" pitchFamily="49" charset="-122"/>
              </a:rPr>
              <a:t>vi</a:t>
            </a:r>
            <a:r>
              <a:rPr kumimoji="1" lang="zh-CN" altLang="en-US" sz="2000" dirty="0">
                <a:latin typeface="微软雅黑" pitchFamily="34" charset="-122"/>
                <a:ea typeface="微软雅黑" pitchFamily="34" charset="-122"/>
                <a:cs typeface="经典粗黑简" pitchFamily="49" charset="-122"/>
              </a:rPr>
              <a:t>的度是邻接矩阵中第</a:t>
            </a:r>
            <a:r>
              <a:rPr kumimoji="1" lang="en-US" altLang="zh-CN" sz="2000" dirty="0">
                <a:latin typeface="微软雅黑" pitchFamily="34" charset="-122"/>
                <a:ea typeface="微软雅黑" pitchFamily="34" charset="-122"/>
                <a:cs typeface="经典粗黑简" pitchFamily="49" charset="-122"/>
              </a:rPr>
              <a:t>i</a:t>
            </a:r>
            <a:r>
              <a:rPr kumimoji="1" lang="zh-CN" altLang="en-US" sz="2000" dirty="0">
                <a:latin typeface="微软雅黑" pitchFamily="34" charset="-122"/>
                <a:ea typeface="微软雅黑" pitchFamily="34" charset="-122"/>
                <a:cs typeface="经典粗黑简" pitchFamily="49" charset="-122"/>
              </a:rPr>
              <a:t>行（或第</a:t>
            </a:r>
            <a:r>
              <a:rPr kumimoji="1" lang="en-US" altLang="zh-CN" sz="2000" dirty="0">
                <a:latin typeface="微软雅黑" pitchFamily="34" charset="-122"/>
                <a:ea typeface="微软雅黑" pitchFamily="34" charset="-122"/>
                <a:cs typeface="经典粗黑简" pitchFamily="49" charset="-122"/>
              </a:rPr>
              <a:t>i</a:t>
            </a:r>
            <a:r>
              <a:rPr kumimoji="1" lang="zh-CN" altLang="en-US" sz="2000" dirty="0">
                <a:latin typeface="微软雅黑" pitchFamily="34" charset="-122"/>
                <a:ea typeface="微软雅黑" pitchFamily="34" charset="-122"/>
                <a:cs typeface="经典粗黑简" pitchFamily="49" charset="-122"/>
              </a:rPr>
              <a:t>列）的元素之和；</a:t>
            </a:r>
          </a:p>
        </p:txBody>
      </p:sp>
      <p:sp>
        <p:nvSpPr>
          <p:cNvPr id="6" name="矩形 5"/>
          <p:cNvSpPr/>
          <p:nvPr/>
        </p:nvSpPr>
        <p:spPr>
          <a:xfrm>
            <a:off x="2711624" y="3828296"/>
            <a:ext cx="6840760" cy="707886"/>
          </a:xfrm>
          <a:prstGeom prst="rect">
            <a:avLst/>
          </a:prstGeom>
        </p:spPr>
        <p:txBody>
          <a:bodyPr wrap="square">
            <a:spAutoFit/>
          </a:bodyPr>
          <a:lstStyle/>
          <a:p>
            <a:r>
              <a:rPr kumimoji="1" lang="en-US" altLang="zh-CN" sz="2000" dirty="0">
                <a:latin typeface="微软雅黑" pitchFamily="34" charset="-122"/>
                <a:ea typeface="微软雅黑" pitchFamily="34" charset="-122"/>
                <a:cs typeface="经典粗黑简" pitchFamily="49" charset="-122"/>
              </a:rPr>
              <a:t>③</a:t>
            </a:r>
            <a:r>
              <a:rPr kumimoji="1" lang="zh-CN" altLang="en-US" sz="2000" dirty="0">
                <a:latin typeface="微软雅黑" pitchFamily="34" charset="-122"/>
                <a:ea typeface="微软雅黑" pitchFamily="34" charset="-122"/>
                <a:cs typeface="经典粗黑简" pitchFamily="49" charset="-122"/>
              </a:rPr>
              <a:t>、有向图中，顶点</a:t>
            </a:r>
            <a:r>
              <a:rPr kumimoji="1" lang="en-US" altLang="zh-CN" sz="2000" dirty="0">
                <a:latin typeface="微软雅黑" pitchFamily="34" charset="-122"/>
                <a:ea typeface="微软雅黑" pitchFamily="34" charset="-122"/>
                <a:cs typeface="经典粗黑简" pitchFamily="49" charset="-122"/>
              </a:rPr>
              <a:t>vi</a:t>
            </a:r>
            <a:r>
              <a:rPr kumimoji="1" lang="zh-CN" altLang="en-US" sz="2000" dirty="0">
                <a:latin typeface="微软雅黑" pitchFamily="34" charset="-122"/>
                <a:ea typeface="微软雅黑" pitchFamily="34" charset="-122"/>
                <a:cs typeface="经典粗黑简" pitchFamily="49" charset="-122"/>
              </a:rPr>
              <a:t>的入度是邻接矩阵中第</a:t>
            </a:r>
            <a:r>
              <a:rPr kumimoji="1" lang="en-US" altLang="zh-CN" sz="2000" dirty="0">
                <a:latin typeface="微软雅黑" pitchFamily="34" charset="-122"/>
                <a:ea typeface="微软雅黑" pitchFamily="34" charset="-122"/>
                <a:cs typeface="经典粗黑简" pitchFamily="49" charset="-122"/>
              </a:rPr>
              <a:t>i</a:t>
            </a:r>
            <a:r>
              <a:rPr kumimoji="1" lang="zh-CN" altLang="en-US" sz="2000" dirty="0">
                <a:latin typeface="微软雅黑" pitchFamily="34" charset="-122"/>
                <a:ea typeface="微软雅黑" pitchFamily="34" charset="-122"/>
                <a:cs typeface="经典粗黑简" pitchFamily="49" charset="-122"/>
              </a:rPr>
              <a:t>列的元素之和，顶点</a:t>
            </a:r>
            <a:r>
              <a:rPr kumimoji="1" lang="en-US" altLang="zh-CN" sz="2000" dirty="0">
                <a:latin typeface="微软雅黑" pitchFamily="34" charset="-122"/>
                <a:ea typeface="微软雅黑" pitchFamily="34" charset="-122"/>
                <a:cs typeface="经典粗黑简" pitchFamily="49" charset="-122"/>
              </a:rPr>
              <a:t>vi</a:t>
            </a:r>
            <a:r>
              <a:rPr kumimoji="1" lang="zh-CN" altLang="en-US" sz="2000" dirty="0">
                <a:latin typeface="微软雅黑" pitchFamily="34" charset="-122"/>
                <a:ea typeface="微软雅黑" pitchFamily="34" charset="-122"/>
                <a:cs typeface="经典粗黑简" pitchFamily="49" charset="-122"/>
              </a:rPr>
              <a:t>的出度是邻接矩阵中第</a:t>
            </a:r>
            <a:r>
              <a:rPr kumimoji="1" lang="en-US" altLang="zh-CN" sz="2000" dirty="0">
                <a:latin typeface="微软雅黑" pitchFamily="34" charset="-122"/>
                <a:ea typeface="微软雅黑" pitchFamily="34" charset="-122"/>
                <a:cs typeface="经典粗黑简" pitchFamily="49" charset="-122"/>
              </a:rPr>
              <a:t>i</a:t>
            </a:r>
            <a:r>
              <a:rPr kumimoji="1" lang="zh-CN" altLang="en-US" sz="2000" dirty="0">
                <a:latin typeface="微软雅黑" pitchFamily="34" charset="-122"/>
                <a:ea typeface="微软雅黑" pitchFamily="34" charset="-122"/>
                <a:cs typeface="经典粗黑简" pitchFamily="49" charset="-122"/>
              </a:rPr>
              <a:t>行的元素之和；</a:t>
            </a:r>
          </a:p>
        </p:txBody>
      </p:sp>
      <p:sp>
        <p:nvSpPr>
          <p:cNvPr id="7" name="矩形 6"/>
          <p:cNvSpPr/>
          <p:nvPr/>
        </p:nvSpPr>
        <p:spPr>
          <a:xfrm>
            <a:off x="2711624" y="4574624"/>
            <a:ext cx="7200800" cy="400110"/>
          </a:xfrm>
          <a:prstGeom prst="rect">
            <a:avLst/>
          </a:prstGeom>
        </p:spPr>
        <p:txBody>
          <a:bodyPr wrap="square">
            <a:spAutoFit/>
          </a:bodyPr>
          <a:lstStyle/>
          <a:p>
            <a:r>
              <a:rPr kumimoji="1" lang="en-US" altLang="zh-CN" sz="2000" dirty="0">
                <a:latin typeface="微软雅黑" pitchFamily="34" charset="-122"/>
                <a:ea typeface="微软雅黑" pitchFamily="34" charset="-122"/>
                <a:cs typeface="经典粗黑简" pitchFamily="49" charset="-122"/>
              </a:rPr>
              <a:t>④</a:t>
            </a:r>
            <a:r>
              <a:rPr kumimoji="1" lang="zh-CN" altLang="en-US" sz="2000" dirty="0">
                <a:latin typeface="微软雅黑" pitchFamily="34" charset="-122"/>
                <a:ea typeface="微软雅黑" pitchFamily="34" charset="-122"/>
                <a:cs typeface="经典粗黑简" pitchFamily="49" charset="-122"/>
              </a:rPr>
              <a:t>、若邻接矩阵中元素</a:t>
            </a:r>
            <a:r>
              <a:rPr kumimoji="1" lang="en-US" altLang="zh-CN" sz="2000" dirty="0" err="1">
                <a:latin typeface="微软雅黑" pitchFamily="34" charset="-122"/>
                <a:ea typeface="微软雅黑" pitchFamily="34" charset="-122"/>
                <a:cs typeface="经典粗黑简" pitchFamily="49" charset="-122"/>
              </a:rPr>
              <a:t>a</a:t>
            </a:r>
            <a:r>
              <a:rPr kumimoji="1" lang="en-US" altLang="zh-CN" baseline="-25000" dirty="0" err="1">
                <a:latin typeface="微软雅黑" pitchFamily="34" charset="-122"/>
                <a:ea typeface="微软雅黑" pitchFamily="34" charset="-122"/>
                <a:cs typeface="经典粗黑简" pitchFamily="49" charset="-122"/>
              </a:rPr>
              <a:t>ij</a:t>
            </a:r>
            <a:r>
              <a:rPr kumimoji="1" lang="zh-CN" altLang="en-US" sz="2000" dirty="0">
                <a:latin typeface="微软雅黑" pitchFamily="34" charset="-122"/>
                <a:ea typeface="微软雅黑" pitchFamily="34" charset="-122"/>
                <a:cs typeface="经典粗黑简" pitchFamily="49" charset="-122"/>
              </a:rPr>
              <a:t>的值为</a:t>
            </a:r>
            <a:r>
              <a:rPr kumimoji="1" lang="en-US" altLang="zh-CN" sz="2000" dirty="0">
                <a:latin typeface="微软雅黑" pitchFamily="34" charset="-122"/>
                <a:ea typeface="微软雅黑" pitchFamily="34" charset="-122"/>
                <a:cs typeface="经典粗黑简" pitchFamily="49" charset="-122"/>
              </a:rPr>
              <a:t>1</a:t>
            </a:r>
            <a:r>
              <a:rPr kumimoji="1" lang="zh-CN" altLang="en-US" sz="2000" dirty="0">
                <a:latin typeface="微软雅黑" pitchFamily="34" charset="-122"/>
                <a:ea typeface="微软雅黑" pitchFamily="34" charset="-122"/>
                <a:cs typeface="经典粗黑简" pitchFamily="49" charset="-122"/>
              </a:rPr>
              <a:t>，则</a:t>
            </a:r>
            <a:r>
              <a:rPr kumimoji="1" lang="en-US" altLang="zh-CN" sz="2000" dirty="0">
                <a:latin typeface="微软雅黑" pitchFamily="34" charset="-122"/>
                <a:ea typeface="微软雅黑" pitchFamily="34" charset="-122"/>
                <a:cs typeface="经典粗黑简" pitchFamily="49" charset="-122"/>
              </a:rPr>
              <a:t>vi</a:t>
            </a:r>
            <a:r>
              <a:rPr kumimoji="1" lang="zh-CN" altLang="en-US" sz="2000" dirty="0">
                <a:latin typeface="微软雅黑" pitchFamily="34" charset="-122"/>
                <a:ea typeface="微软雅黑" pitchFamily="34" charset="-122"/>
                <a:cs typeface="经典粗黑简" pitchFamily="49" charset="-122"/>
              </a:rPr>
              <a:t>和</a:t>
            </a:r>
            <a:r>
              <a:rPr kumimoji="1" lang="en-US" altLang="zh-CN" sz="2000" dirty="0" err="1">
                <a:latin typeface="微软雅黑" pitchFamily="34" charset="-122"/>
                <a:ea typeface="微软雅黑" pitchFamily="34" charset="-122"/>
                <a:cs typeface="经典粗黑简" pitchFamily="49" charset="-122"/>
              </a:rPr>
              <a:t>vj</a:t>
            </a:r>
            <a:r>
              <a:rPr kumimoji="1" lang="zh-CN" altLang="en-US" sz="2000" dirty="0">
                <a:latin typeface="微软雅黑" pitchFamily="34" charset="-122"/>
                <a:ea typeface="微软雅黑" pitchFamily="34" charset="-122"/>
                <a:cs typeface="经典粗黑简" pitchFamily="49" charset="-122"/>
              </a:rPr>
              <a:t>之间有边或弧相连；</a:t>
            </a:r>
          </a:p>
        </p:txBody>
      </p:sp>
      <p:sp>
        <p:nvSpPr>
          <p:cNvPr id="8" name="矩形 7"/>
          <p:cNvSpPr/>
          <p:nvPr/>
        </p:nvSpPr>
        <p:spPr>
          <a:xfrm>
            <a:off x="2711624" y="5013176"/>
            <a:ext cx="6984776" cy="707886"/>
          </a:xfrm>
          <a:prstGeom prst="rect">
            <a:avLst/>
          </a:prstGeom>
        </p:spPr>
        <p:txBody>
          <a:bodyPr wrap="square">
            <a:spAutoFit/>
          </a:bodyPr>
          <a:lstStyle/>
          <a:p>
            <a:r>
              <a:rPr kumimoji="1" lang="en-US" altLang="zh-CN" sz="2000" dirty="0">
                <a:latin typeface="微软雅黑" pitchFamily="34" charset="-122"/>
                <a:ea typeface="微软雅黑" pitchFamily="34" charset="-122"/>
                <a:cs typeface="经典粗黑简" pitchFamily="49" charset="-122"/>
              </a:rPr>
              <a:t>⑤</a:t>
            </a:r>
            <a:r>
              <a:rPr kumimoji="1" lang="zh-CN" altLang="en-US" sz="2000" dirty="0">
                <a:latin typeface="微软雅黑" pitchFamily="34" charset="-122"/>
                <a:ea typeface="微软雅黑" pitchFamily="34" charset="-122"/>
                <a:cs typeface="经典粗黑简" pitchFamily="49" charset="-122"/>
              </a:rPr>
              <a:t>、图</a:t>
            </a:r>
            <a:r>
              <a:rPr kumimoji="1" lang="en-US" altLang="zh-CN" sz="2000" dirty="0">
                <a:latin typeface="微软雅黑" pitchFamily="34" charset="-122"/>
                <a:ea typeface="微软雅黑" pitchFamily="34" charset="-122"/>
                <a:cs typeface="经典粗黑简" pitchFamily="49" charset="-122"/>
              </a:rPr>
              <a:t>G</a:t>
            </a:r>
            <a:r>
              <a:rPr kumimoji="1" lang="zh-CN" altLang="en-US" sz="2000" dirty="0">
                <a:latin typeface="微软雅黑" pitchFamily="34" charset="-122"/>
                <a:ea typeface="微软雅黑" pitchFamily="34" charset="-122"/>
                <a:cs typeface="经典粗黑简" pitchFamily="49" charset="-122"/>
              </a:rPr>
              <a:t>的邻接矩阵的空间复杂度为</a:t>
            </a:r>
            <a:r>
              <a:rPr kumimoji="1" lang="en-US" altLang="zh-CN" sz="2000" dirty="0">
                <a:latin typeface="微软雅黑" pitchFamily="34" charset="-122"/>
                <a:ea typeface="微软雅黑" pitchFamily="34" charset="-122"/>
                <a:cs typeface="经典粗黑简" pitchFamily="49" charset="-122"/>
              </a:rPr>
              <a:t>O(n</a:t>
            </a:r>
            <a:r>
              <a:rPr kumimoji="1" lang="en-US" altLang="zh-CN" sz="2000" baseline="30000" dirty="0">
                <a:latin typeface="微软雅黑" pitchFamily="34" charset="-122"/>
                <a:ea typeface="微软雅黑" pitchFamily="34" charset="-122"/>
                <a:cs typeface="经典粗黑简" pitchFamily="49" charset="-122"/>
              </a:rPr>
              <a:t>2</a:t>
            </a:r>
            <a:r>
              <a:rPr kumimoji="1" lang="en-US" altLang="zh-CN" sz="2000" dirty="0">
                <a:latin typeface="微软雅黑" pitchFamily="34" charset="-122"/>
                <a:ea typeface="微软雅黑" pitchFamily="34" charset="-122"/>
                <a:cs typeface="经典粗黑简" pitchFamily="49" charset="-122"/>
              </a:rPr>
              <a:t>)</a:t>
            </a:r>
            <a:r>
              <a:rPr kumimoji="1" lang="zh-CN" altLang="en-US" sz="2000" dirty="0">
                <a:latin typeface="微软雅黑" pitchFamily="34" charset="-122"/>
                <a:ea typeface="微软雅黑" pitchFamily="34" charset="-122"/>
                <a:cs typeface="经典粗黑简" pitchFamily="49" charset="-122"/>
              </a:rPr>
              <a:t>，只与顶点数</a:t>
            </a:r>
            <a:r>
              <a:rPr kumimoji="1" lang="en-US" altLang="zh-CN" sz="2000" dirty="0">
                <a:latin typeface="微软雅黑" pitchFamily="34" charset="-122"/>
                <a:ea typeface="微软雅黑" pitchFamily="34" charset="-122"/>
                <a:cs typeface="经典粗黑简" pitchFamily="49" charset="-122"/>
              </a:rPr>
              <a:t>n</a:t>
            </a:r>
            <a:r>
              <a:rPr kumimoji="1" lang="zh-CN" altLang="en-US" sz="2000" dirty="0">
                <a:latin typeface="微软雅黑" pitchFamily="34" charset="-122"/>
                <a:ea typeface="微软雅黑" pitchFamily="34" charset="-122"/>
                <a:cs typeface="经典粗黑简" pitchFamily="49" charset="-122"/>
              </a:rPr>
              <a:t>有关，与边数无关，</a:t>
            </a:r>
            <a:r>
              <a:rPr kumimoji="1" lang="zh-CN" altLang="en-US" sz="2000" dirty="0">
                <a:solidFill>
                  <a:srgbClr val="FF0000"/>
                </a:solidFill>
                <a:latin typeface="微软雅黑" pitchFamily="34" charset="-122"/>
                <a:ea typeface="微软雅黑" pitchFamily="34" charset="-122"/>
                <a:cs typeface="经典粗黑简" pitchFamily="49" charset="-122"/>
              </a:rPr>
              <a:t>适合于表示稠密图</a:t>
            </a:r>
            <a:r>
              <a:rPr kumimoji="1" lang="zh-CN" altLang="en-US" sz="2000" dirty="0">
                <a:latin typeface="微软雅黑" pitchFamily="34" charset="-122"/>
                <a:ea typeface="微软雅黑" pitchFamily="34" charset="-122"/>
                <a:cs typeface="经典粗黑简" pitchFamily="49" charset="-122"/>
              </a:rPr>
              <a:t>。</a:t>
            </a:r>
          </a:p>
        </p:txBody>
      </p:sp>
      <p:sp>
        <p:nvSpPr>
          <p:cNvPr id="3" name="Rectangle 2">
            <a:extLst>
              <a:ext uri="{FF2B5EF4-FFF2-40B4-BE49-F238E27FC236}">
                <a16:creationId xmlns:a16="http://schemas.microsoft.com/office/drawing/2014/main" id="{C743B1E6-44E5-3D0A-4392-533479026763}"/>
              </a:ext>
            </a:extLst>
          </p:cNvPr>
          <p:cNvSpPr txBox="1">
            <a:spLocks noChangeArrowheads="1"/>
          </p:cNvSpPr>
          <p:nvPr/>
        </p:nvSpPr>
        <p:spPr>
          <a:xfrm>
            <a:off x="474772" y="1230902"/>
            <a:ext cx="4253075"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8.2.1 </a:t>
            </a:r>
            <a:r>
              <a:rPr kumimoji="1" lang="zh-CN" altLang="en-US" dirty="0">
                <a:latin typeface="微软雅黑" pitchFamily="34" charset="-122"/>
                <a:ea typeface="微软雅黑" pitchFamily="34" charset="-122"/>
              </a:rPr>
              <a:t>邻接矩阵存储方法</a:t>
            </a:r>
            <a:endParaRPr lang="zh-CN" altLang="en-US" dirty="0"/>
          </a:p>
        </p:txBody>
      </p:sp>
      <p:sp>
        <p:nvSpPr>
          <p:cNvPr id="9" name="矩形 8">
            <a:extLst>
              <a:ext uri="{FF2B5EF4-FFF2-40B4-BE49-F238E27FC236}">
                <a16:creationId xmlns:a16="http://schemas.microsoft.com/office/drawing/2014/main" id="{CC1BB695-DAD2-D47F-ADD0-8C33342EE476}"/>
              </a:ext>
            </a:extLst>
          </p:cNvPr>
          <p:cNvSpPr/>
          <p:nvPr/>
        </p:nvSpPr>
        <p:spPr>
          <a:xfrm>
            <a:off x="2846292" y="348366"/>
            <a:ext cx="6715440"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8.2 </a:t>
            </a:r>
            <a:r>
              <a:rPr lang="zh-CN" altLang="en-US" sz="3000" b="1" dirty="0">
                <a:latin typeface="黑体" pitchFamily="49" charset="-122"/>
                <a:ea typeface="黑体" pitchFamily="49" charset="-122"/>
                <a:cs typeface="经典粗黑简" pitchFamily="49" charset="-122"/>
              </a:rPr>
              <a:t>图的存储结构和基本运算算法</a:t>
            </a:r>
          </a:p>
        </p:txBody>
      </p:sp>
      <p:cxnSp>
        <p:nvCxnSpPr>
          <p:cNvPr id="10" name="直接连接符 9">
            <a:extLst>
              <a:ext uri="{FF2B5EF4-FFF2-40B4-BE49-F238E27FC236}">
                <a16:creationId xmlns:a16="http://schemas.microsoft.com/office/drawing/2014/main" id="{4F61B9EA-B6BC-112C-052A-74C6344718A7}"/>
              </a:ext>
            </a:extLst>
          </p:cNvPr>
          <p:cNvCxnSpPr>
            <a:cxnSpLocks/>
          </p:cNvCxnSpPr>
          <p:nvPr/>
        </p:nvCxnSpPr>
        <p:spPr>
          <a:xfrm>
            <a:off x="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629355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8"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14"/>
          <p:cNvSpPr/>
          <p:nvPr/>
        </p:nvSpPr>
        <p:spPr>
          <a:xfrm>
            <a:off x="3133117" y="2204864"/>
            <a:ext cx="4094391" cy="400110"/>
          </a:xfrm>
          <a:prstGeom prst="rect">
            <a:avLst/>
          </a:prstGeom>
        </p:spPr>
        <p:txBody>
          <a:bodyPr wrap="none">
            <a:spAutoFit/>
          </a:bodyPr>
          <a:lstStyle/>
          <a:p>
            <a:r>
              <a:rPr kumimoji="1" lang="zh-CN" altLang="en-US" sz="2000" dirty="0">
                <a:latin typeface="微软雅黑" pitchFamily="34" charset="-122"/>
                <a:ea typeface="微软雅黑" pitchFamily="34" charset="-122"/>
                <a:cs typeface="经典粗黑简" pitchFamily="49" charset="-122"/>
              </a:rPr>
              <a:t>邻接表</a:t>
            </a:r>
            <a:r>
              <a:rPr kumimoji="1" lang="en-US" altLang="zh-CN" sz="2000" dirty="0">
                <a:latin typeface="微软雅黑" pitchFamily="34" charset="-122"/>
                <a:ea typeface="微软雅黑" pitchFamily="34" charset="-122"/>
                <a:cs typeface="经典粗黑简" pitchFamily="49" charset="-122"/>
              </a:rPr>
              <a:t>:</a:t>
            </a:r>
            <a:r>
              <a:rPr kumimoji="1" lang="zh-CN" altLang="en-US" sz="2000" dirty="0">
                <a:latin typeface="微软雅黑" pitchFamily="34" charset="-122"/>
                <a:ea typeface="微软雅黑" pitchFamily="34" charset="-122"/>
                <a:cs typeface="经典粗黑简" pitchFamily="49" charset="-122"/>
              </a:rPr>
              <a:t>是图的一种链式存储结构。</a:t>
            </a:r>
          </a:p>
        </p:txBody>
      </p:sp>
      <p:sp>
        <p:nvSpPr>
          <p:cNvPr id="27" name="矩形 26"/>
          <p:cNvSpPr/>
          <p:nvPr/>
        </p:nvSpPr>
        <p:spPr>
          <a:xfrm>
            <a:off x="3143673" y="2636912"/>
            <a:ext cx="1800493" cy="369332"/>
          </a:xfrm>
          <a:prstGeom prst="rect">
            <a:avLst/>
          </a:prstGeom>
        </p:spPr>
        <p:txBody>
          <a:bodyPr wrap="none">
            <a:spAutoFit/>
          </a:bodyPr>
          <a:lstStyle/>
          <a:p>
            <a:r>
              <a:rPr lang="zh-CN" altLang="zh-CN" dirty="0">
                <a:latin typeface="微软雅黑" pitchFamily="34" charset="-122"/>
                <a:ea typeface="微软雅黑" pitchFamily="34" charset="-122"/>
                <a:cs typeface="经典粗黑简" pitchFamily="49" charset="-122"/>
              </a:rPr>
              <a:t>顶点的结点</a:t>
            </a:r>
            <a:r>
              <a:rPr lang="zh-CN" altLang="en-US" dirty="0">
                <a:latin typeface="微软雅黑" pitchFamily="34" charset="-122"/>
                <a:ea typeface="微软雅黑" pitchFamily="34" charset="-122"/>
                <a:cs typeface="经典粗黑简" pitchFamily="49" charset="-122"/>
              </a:rPr>
              <a:t>结构</a:t>
            </a:r>
            <a:endParaRPr lang="zh-CN" altLang="en-US" dirty="0"/>
          </a:p>
        </p:txBody>
      </p:sp>
      <p:sp>
        <p:nvSpPr>
          <p:cNvPr id="29" name="Text Box 9"/>
          <p:cNvSpPr txBox="1">
            <a:spLocks noChangeArrowheads="1"/>
          </p:cNvSpPr>
          <p:nvPr/>
        </p:nvSpPr>
        <p:spPr bwMode="auto">
          <a:xfrm>
            <a:off x="3168622" y="3757101"/>
            <a:ext cx="4896544" cy="729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eaLnBrk="0" hangingPunct="0">
              <a:spcBef>
                <a:spcPct val="40000"/>
              </a:spcBef>
              <a:defRPr/>
            </a:pPr>
            <a:r>
              <a:rPr lang="en-US" altLang="zh-CN" dirty="0">
                <a:latin typeface="微软雅黑" pitchFamily="34" charset="-122"/>
                <a:ea typeface="微软雅黑" pitchFamily="34" charset="-122"/>
                <a:cs typeface="经典粗黑简" pitchFamily="49" charset="-122"/>
              </a:rPr>
              <a:t>data：</a:t>
            </a:r>
            <a:r>
              <a:rPr lang="zh-CN" altLang="en-US" dirty="0">
                <a:latin typeface="微软雅黑" pitchFamily="34" charset="-122"/>
                <a:ea typeface="微软雅黑" pitchFamily="34" charset="-122"/>
                <a:cs typeface="经典粗黑简" pitchFamily="49" charset="-122"/>
              </a:rPr>
              <a:t>数据域，存放顶点信息。 </a:t>
            </a:r>
          </a:p>
          <a:p>
            <a:pPr algn="just" eaLnBrk="0" hangingPunct="0">
              <a:spcBef>
                <a:spcPct val="30000"/>
              </a:spcBef>
              <a:defRPr/>
            </a:pPr>
            <a:r>
              <a:rPr lang="en-US" altLang="zh-CN" dirty="0" err="1">
                <a:latin typeface="微软雅黑" pitchFamily="34" charset="-122"/>
                <a:ea typeface="微软雅黑" pitchFamily="34" charset="-122"/>
                <a:cs typeface="经典粗黑简" pitchFamily="49" charset="-122"/>
              </a:rPr>
              <a:t>firstarc</a:t>
            </a:r>
            <a:r>
              <a:rPr lang="en-US" altLang="zh-CN" dirty="0">
                <a:latin typeface="微软雅黑" pitchFamily="34" charset="-122"/>
                <a:ea typeface="微软雅黑" pitchFamily="34" charset="-122"/>
                <a:cs typeface="经典粗黑简" pitchFamily="49" charset="-122"/>
              </a:rPr>
              <a:t>：</a:t>
            </a:r>
            <a:r>
              <a:rPr lang="zh-CN" altLang="en-US" dirty="0">
                <a:latin typeface="微软雅黑" pitchFamily="34" charset="-122"/>
                <a:ea typeface="微软雅黑" pitchFamily="34" charset="-122"/>
                <a:cs typeface="经典粗黑简" pitchFamily="49" charset="-122"/>
              </a:rPr>
              <a:t>指针域，指向边表中第一个结点。 </a:t>
            </a:r>
          </a:p>
        </p:txBody>
      </p:sp>
      <p:sp>
        <p:nvSpPr>
          <p:cNvPr id="2" name="Rectangle 2">
            <a:extLst>
              <a:ext uri="{FF2B5EF4-FFF2-40B4-BE49-F238E27FC236}">
                <a16:creationId xmlns:a16="http://schemas.microsoft.com/office/drawing/2014/main" id="{2720AB5A-A1F2-E273-52D7-38DD8CBEFBC7}"/>
              </a:ext>
            </a:extLst>
          </p:cNvPr>
          <p:cNvSpPr txBox="1">
            <a:spLocks noChangeArrowheads="1"/>
          </p:cNvSpPr>
          <p:nvPr/>
        </p:nvSpPr>
        <p:spPr>
          <a:xfrm>
            <a:off x="474772" y="1230902"/>
            <a:ext cx="4253075"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8.2.2 </a:t>
            </a:r>
            <a:r>
              <a:rPr kumimoji="1" lang="zh-CN" altLang="en-US" dirty="0">
                <a:latin typeface="微软雅黑" pitchFamily="34" charset="-122"/>
                <a:ea typeface="微软雅黑" pitchFamily="34" charset="-122"/>
              </a:rPr>
              <a:t>邻接表存储方法</a:t>
            </a:r>
            <a:endParaRPr lang="zh-CN" altLang="en-US" dirty="0"/>
          </a:p>
        </p:txBody>
      </p:sp>
      <p:sp>
        <p:nvSpPr>
          <p:cNvPr id="4" name="矩形 3">
            <a:extLst>
              <a:ext uri="{FF2B5EF4-FFF2-40B4-BE49-F238E27FC236}">
                <a16:creationId xmlns:a16="http://schemas.microsoft.com/office/drawing/2014/main" id="{AC056A19-DA6D-193E-CB59-F5AFAA59C978}"/>
              </a:ext>
            </a:extLst>
          </p:cNvPr>
          <p:cNvSpPr/>
          <p:nvPr/>
        </p:nvSpPr>
        <p:spPr>
          <a:xfrm>
            <a:off x="2846292" y="348366"/>
            <a:ext cx="6715440"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8.2 </a:t>
            </a:r>
            <a:r>
              <a:rPr lang="zh-CN" altLang="en-US" sz="3000" b="1" dirty="0">
                <a:latin typeface="黑体" pitchFamily="49" charset="-122"/>
                <a:ea typeface="黑体" pitchFamily="49" charset="-122"/>
                <a:cs typeface="经典粗黑简" pitchFamily="49" charset="-122"/>
              </a:rPr>
              <a:t>图的存储结构和基本运算算法</a:t>
            </a:r>
          </a:p>
        </p:txBody>
      </p:sp>
      <p:cxnSp>
        <p:nvCxnSpPr>
          <p:cNvPr id="5" name="直接连接符 4">
            <a:extLst>
              <a:ext uri="{FF2B5EF4-FFF2-40B4-BE49-F238E27FC236}">
                <a16:creationId xmlns:a16="http://schemas.microsoft.com/office/drawing/2014/main" id="{CDB0EB7A-A2B0-62F8-B5AD-22A9CEAE1EB9}"/>
              </a:ext>
            </a:extLst>
          </p:cNvPr>
          <p:cNvCxnSpPr>
            <a:cxnSpLocks/>
          </p:cNvCxnSpPr>
          <p:nvPr/>
        </p:nvCxnSpPr>
        <p:spPr>
          <a:xfrm>
            <a:off x="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7" name="文本框 6">
            <a:extLst>
              <a:ext uri="{FF2B5EF4-FFF2-40B4-BE49-F238E27FC236}">
                <a16:creationId xmlns:a16="http://schemas.microsoft.com/office/drawing/2014/main" id="{9410205F-1A99-EA44-6F03-3F8E9AF7C737}"/>
              </a:ext>
            </a:extLst>
          </p:cNvPr>
          <p:cNvSpPr txBox="1"/>
          <p:nvPr/>
        </p:nvSpPr>
        <p:spPr>
          <a:xfrm>
            <a:off x="3173200" y="4628824"/>
            <a:ext cx="6107836" cy="1200329"/>
          </a:xfrm>
          <a:prstGeom prst="rect">
            <a:avLst/>
          </a:prstGeom>
          <a:noFill/>
        </p:spPr>
        <p:txBody>
          <a:bodyPr wrap="square">
            <a:spAutoFit/>
          </a:bodyPr>
          <a:lstStyle/>
          <a:p>
            <a:pPr algn="l"/>
            <a:r>
              <a:rPr lang="en-US" altLang="zh-CN" sz="1800" dirty="0">
                <a:solidFill>
                  <a:srgbClr val="0000FF"/>
                </a:solidFill>
                <a:latin typeface="Consolas" pitchFamily="49" charset="0"/>
                <a:ea typeface="仿宋" pitchFamily="49" charset="-122"/>
                <a:cs typeface="Consolas" pitchFamily="49" charset="0"/>
              </a:rPr>
              <a:t>typedef struct </a:t>
            </a:r>
            <a:r>
              <a:rPr lang="en-US" altLang="zh-CN" sz="1800" dirty="0" err="1">
                <a:solidFill>
                  <a:srgbClr val="0000FF"/>
                </a:solidFill>
                <a:latin typeface="Consolas" pitchFamily="49" charset="0"/>
                <a:ea typeface="仿宋" pitchFamily="49" charset="-122"/>
                <a:cs typeface="Consolas" pitchFamily="49" charset="0"/>
              </a:rPr>
              <a:t>Vnode</a:t>
            </a:r>
            <a:endParaRPr lang="en-US" altLang="zh-CN" sz="1800" dirty="0">
              <a:solidFill>
                <a:srgbClr val="0000FF"/>
              </a:solidFill>
              <a:latin typeface="Consolas" pitchFamily="49" charset="0"/>
              <a:ea typeface="仿宋" pitchFamily="49" charset="-122"/>
              <a:cs typeface="Consolas" pitchFamily="49" charset="0"/>
            </a:endParaRPr>
          </a:p>
          <a:p>
            <a:pPr algn="l"/>
            <a:r>
              <a:rPr lang="en-US" altLang="zh-CN" sz="1800" dirty="0">
                <a:solidFill>
                  <a:srgbClr val="0000FF"/>
                </a:solidFill>
                <a:latin typeface="Consolas" pitchFamily="49" charset="0"/>
                <a:ea typeface="仿宋" pitchFamily="49" charset="-122"/>
                <a:cs typeface="Consolas" pitchFamily="49" charset="0"/>
              </a:rPr>
              <a:t>{  Vertex  data;		</a:t>
            </a:r>
            <a:r>
              <a:rPr lang="en-US" altLang="zh-CN" sz="1800" dirty="0">
                <a:solidFill>
                  <a:srgbClr val="00B0F0"/>
                </a:solidFill>
                <a:latin typeface="Consolas" pitchFamily="49" charset="0"/>
                <a:ea typeface="仿宋" pitchFamily="49" charset="-122"/>
                <a:cs typeface="Consolas" pitchFamily="49" charset="0"/>
              </a:rPr>
              <a:t>//</a:t>
            </a:r>
            <a:r>
              <a:rPr lang="zh-CN" altLang="en-US" sz="1800" dirty="0">
                <a:solidFill>
                  <a:srgbClr val="00B0F0"/>
                </a:solidFill>
                <a:latin typeface="Consolas" pitchFamily="49" charset="0"/>
                <a:ea typeface="仿宋" pitchFamily="49" charset="-122"/>
                <a:cs typeface="Consolas" pitchFamily="49" charset="0"/>
              </a:rPr>
              <a:t>顶点信息</a:t>
            </a:r>
          </a:p>
          <a:p>
            <a:pPr algn="l"/>
            <a:r>
              <a:rPr lang="zh-CN" altLang="en-US" sz="1800" dirty="0">
                <a:solidFill>
                  <a:srgbClr val="0000FF"/>
                </a:solidFill>
                <a:latin typeface="Consolas" pitchFamily="49" charset="0"/>
                <a:ea typeface="仿宋" pitchFamily="49" charset="-122"/>
                <a:cs typeface="Consolas" pitchFamily="49" charset="0"/>
              </a:rPr>
              <a:t>   </a:t>
            </a:r>
            <a:r>
              <a:rPr lang="en-US" altLang="zh-CN" sz="1800" dirty="0" err="1">
                <a:solidFill>
                  <a:srgbClr val="FF00FF"/>
                </a:solidFill>
                <a:latin typeface="Consolas" pitchFamily="49" charset="0"/>
                <a:ea typeface="仿宋" pitchFamily="49" charset="-122"/>
                <a:cs typeface="Consolas" pitchFamily="49" charset="0"/>
              </a:rPr>
              <a:t>ArcNode</a:t>
            </a:r>
            <a:r>
              <a:rPr lang="en-US" altLang="zh-CN" sz="1800" dirty="0">
                <a:solidFill>
                  <a:srgbClr val="0000FF"/>
                </a:solidFill>
                <a:latin typeface="Consolas" pitchFamily="49" charset="0"/>
                <a:ea typeface="仿宋" pitchFamily="49" charset="-122"/>
                <a:cs typeface="Consolas" pitchFamily="49" charset="0"/>
              </a:rPr>
              <a:t> *</a:t>
            </a:r>
            <a:r>
              <a:rPr lang="en-US" altLang="zh-CN" sz="1800" dirty="0" err="1">
                <a:solidFill>
                  <a:srgbClr val="0000FF"/>
                </a:solidFill>
                <a:latin typeface="Consolas" pitchFamily="49" charset="0"/>
                <a:ea typeface="仿宋" pitchFamily="49" charset="-122"/>
                <a:cs typeface="Consolas" pitchFamily="49" charset="0"/>
              </a:rPr>
              <a:t>firstarc</a:t>
            </a:r>
            <a:r>
              <a:rPr lang="en-US" altLang="zh-CN" sz="1800" dirty="0">
                <a:solidFill>
                  <a:srgbClr val="0000FF"/>
                </a:solidFill>
                <a:latin typeface="Consolas" pitchFamily="49" charset="0"/>
                <a:ea typeface="仿宋" pitchFamily="49" charset="-122"/>
                <a:cs typeface="Consolas" pitchFamily="49" charset="0"/>
              </a:rPr>
              <a:t>;		</a:t>
            </a:r>
            <a:r>
              <a:rPr lang="en-US" altLang="zh-CN" sz="1800" dirty="0">
                <a:solidFill>
                  <a:srgbClr val="00B0F0"/>
                </a:solidFill>
                <a:latin typeface="Consolas" pitchFamily="49" charset="0"/>
                <a:ea typeface="仿宋" pitchFamily="49" charset="-122"/>
                <a:cs typeface="Consolas" pitchFamily="49" charset="0"/>
              </a:rPr>
              <a:t>//</a:t>
            </a:r>
            <a:r>
              <a:rPr lang="zh-CN" altLang="en-US" sz="1800" dirty="0">
                <a:solidFill>
                  <a:srgbClr val="00B0F0"/>
                </a:solidFill>
                <a:latin typeface="Consolas" pitchFamily="49" charset="0"/>
                <a:ea typeface="仿宋" pitchFamily="49" charset="-122"/>
                <a:cs typeface="Consolas" pitchFamily="49" charset="0"/>
              </a:rPr>
              <a:t>指向第一条边</a:t>
            </a:r>
          </a:p>
          <a:p>
            <a:pPr algn="l"/>
            <a:r>
              <a:rPr lang="en-US" altLang="zh-CN" sz="1800" dirty="0">
                <a:solidFill>
                  <a:srgbClr val="0000FF"/>
                </a:solidFill>
                <a:latin typeface="Consolas" pitchFamily="49" charset="0"/>
                <a:ea typeface="仿宋" pitchFamily="49" charset="-122"/>
                <a:cs typeface="Consolas" pitchFamily="49" charset="0"/>
              </a:rPr>
              <a:t>}  </a:t>
            </a:r>
            <a:r>
              <a:rPr lang="en-US" altLang="zh-CN" sz="1800" dirty="0" err="1">
                <a:solidFill>
                  <a:srgbClr val="C00000"/>
                </a:solidFill>
                <a:latin typeface="Consolas" pitchFamily="49" charset="0"/>
                <a:ea typeface="仿宋" pitchFamily="49" charset="-122"/>
                <a:cs typeface="Consolas" pitchFamily="49" charset="0"/>
              </a:rPr>
              <a:t>VNode</a:t>
            </a:r>
            <a:r>
              <a:rPr lang="en-US" altLang="zh-CN" sz="1800" dirty="0">
                <a:solidFill>
                  <a:srgbClr val="0000FF"/>
                </a:solidFill>
                <a:latin typeface="Consolas" pitchFamily="49" charset="0"/>
                <a:ea typeface="仿宋" pitchFamily="49" charset="-122"/>
                <a:cs typeface="Consolas" pitchFamily="49" charset="0"/>
              </a:rPr>
              <a:t>;</a:t>
            </a:r>
            <a:endParaRPr lang="zh-CN" altLang="en-US" sz="1800" dirty="0">
              <a:solidFill>
                <a:srgbClr val="0000FF"/>
              </a:solidFill>
              <a:latin typeface="Consolas" pitchFamily="49" charset="0"/>
              <a:ea typeface="仿宋" pitchFamily="49" charset="-122"/>
              <a:cs typeface="Consolas" pitchFamily="49" charset="0"/>
            </a:endParaRPr>
          </a:p>
        </p:txBody>
      </p:sp>
      <p:grpSp>
        <p:nvGrpSpPr>
          <p:cNvPr id="8" name="组合 98">
            <a:extLst>
              <a:ext uri="{FF2B5EF4-FFF2-40B4-BE49-F238E27FC236}">
                <a16:creationId xmlns:a16="http://schemas.microsoft.com/office/drawing/2014/main" id="{6A4D93F1-FEF9-6E2B-1E3C-F96DAE432607}"/>
              </a:ext>
            </a:extLst>
          </p:cNvPr>
          <p:cNvGrpSpPr/>
          <p:nvPr/>
        </p:nvGrpSpPr>
        <p:grpSpPr>
          <a:xfrm>
            <a:off x="3287688" y="3097260"/>
            <a:ext cx="2286016" cy="428628"/>
            <a:chOff x="1571604" y="5429264"/>
            <a:chExt cx="2286016" cy="428628"/>
          </a:xfrm>
        </p:grpSpPr>
        <p:sp>
          <p:nvSpPr>
            <p:cNvPr id="9" name="矩形 8">
              <a:extLst>
                <a:ext uri="{FF2B5EF4-FFF2-40B4-BE49-F238E27FC236}">
                  <a16:creationId xmlns:a16="http://schemas.microsoft.com/office/drawing/2014/main" id="{B74DDCEE-0D67-5105-CE71-0AAB24B6FCEB}"/>
                </a:ext>
              </a:extLst>
            </p:cNvPr>
            <p:cNvSpPr/>
            <p:nvPr/>
          </p:nvSpPr>
          <p:spPr bwMode="auto">
            <a:xfrm>
              <a:off x="1571604" y="5429264"/>
              <a:ext cx="1143008" cy="428628"/>
            </a:xfrm>
            <a:prstGeom prst="rect">
              <a:avLst/>
            </a:prstGeom>
            <a:ln>
              <a:headEnd type="stealth" w="med" len="lg"/>
              <a:tailEnd type="none" w="med" len="med"/>
            </a:ln>
          </p:spPr>
          <p:style>
            <a:lnRef idx="1">
              <a:schemeClr val="accent5"/>
            </a:lnRef>
            <a:fillRef idx="2">
              <a:schemeClr val="accent5"/>
            </a:fillRef>
            <a:effectRef idx="1">
              <a:schemeClr val="accent5"/>
            </a:effectRef>
            <a:fontRef idx="minor">
              <a:schemeClr val="dk1"/>
            </a:fontRef>
          </p:style>
          <p:txBody>
            <a:bodyPr wrap="none" rtlCol="0" anchor="ctr"/>
            <a:lstStyle/>
            <a:p>
              <a:pPr algn="ctr"/>
              <a:r>
                <a:rPr lang="en-US" altLang="zh-CN" sz="1800" dirty="0">
                  <a:solidFill>
                    <a:srgbClr val="0000FF"/>
                  </a:solidFill>
                  <a:latin typeface="Consolas" pitchFamily="49" charset="0"/>
                  <a:cs typeface="Consolas" pitchFamily="49" charset="0"/>
                </a:rPr>
                <a:t>data</a:t>
              </a:r>
              <a:endParaRPr lang="zh-CN" altLang="en-US" sz="1800" dirty="0">
                <a:solidFill>
                  <a:srgbClr val="0000FF"/>
                </a:solidFill>
                <a:latin typeface="Consolas" pitchFamily="49" charset="0"/>
                <a:cs typeface="Consolas" pitchFamily="49" charset="0"/>
              </a:endParaRPr>
            </a:p>
          </p:txBody>
        </p:sp>
        <p:sp>
          <p:nvSpPr>
            <p:cNvPr id="10" name="矩形 9">
              <a:extLst>
                <a:ext uri="{FF2B5EF4-FFF2-40B4-BE49-F238E27FC236}">
                  <a16:creationId xmlns:a16="http://schemas.microsoft.com/office/drawing/2014/main" id="{94FCAC60-0255-6EE9-3F00-D6D04138A379}"/>
                </a:ext>
              </a:extLst>
            </p:cNvPr>
            <p:cNvSpPr/>
            <p:nvPr/>
          </p:nvSpPr>
          <p:spPr bwMode="auto">
            <a:xfrm>
              <a:off x="2714612" y="5429264"/>
              <a:ext cx="1143008" cy="428628"/>
            </a:xfrm>
            <a:prstGeom prst="rect">
              <a:avLst/>
            </a:prstGeom>
            <a:ln>
              <a:headEnd type="stealth" w="med" len="lg"/>
              <a:tailEnd type="none" w="med" len="med"/>
            </a:ln>
          </p:spPr>
          <p:style>
            <a:lnRef idx="1">
              <a:schemeClr val="accent5"/>
            </a:lnRef>
            <a:fillRef idx="2">
              <a:schemeClr val="accent5"/>
            </a:fillRef>
            <a:effectRef idx="1">
              <a:schemeClr val="accent5"/>
            </a:effectRef>
            <a:fontRef idx="minor">
              <a:schemeClr val="dk1"/>
            </a:fontRef>
          </p:style>
          <p:txBody>
            <a:bodyPr wrap="none" rtlCol="0" anchor="ctr"/>
            <a:lstStyle/>
            <a:p>
              <a:pPr algn="ctr"/>
              <a:r>
                <a:rPr lang="en-US" altLang="zh-CN" sz="1800" dirty="0" err="1">
                  <a:solidFill>
                    <a:srgbClr val="0000FF"/>
                  </a:solidFill>
                  <a:latin typeface="Consolas" pitchFamily="49" charset="0"/>
                  <a:cs typeface="Consolas" pitchFamily="49" charset="0"/>
                </a:rPr>
                <a:t>firstarc</a:t>
              </a:r>
              <a:endParaRPr lang="zh-CN" altLang="en-US" sz="1800" dirty="0">
                <a:solidFill>
                  <a:srgbClr val="0000FF"/>
                </a:solidFill>
                <a:latin typeface="Consolas" pitchFamily="49" charset="0"/>
                <a:cs typeface="Consolas" pitchFamily="49" charset="0"/>
              </a:endParaRPr>
            </a:p>
          </p:txBody>
        </p:sp>
      </p:grpSp>
    </p:spTree>
    <p:extLst>
      <p:ext uri="{BB962C8B-B14F-4D97-AF65-F5344CB8AC3E}">
        <p14:creationId xmlns:p14="http://schemas.microsoft.com/office/powerpoint/2010/main" val="162835163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14"/>
          <p:cNvSpPr/>
          <p:nvPr/>
        </p:nvSpPr>
        <p:spPr>
          <a:xfrm>
            <a:off x="3133117" y="2204864"/>
            <a:ext cx="4094391" cy="400110"/>
          </a:xfrm>
          <a:prstGeom prst="rect">
            <a:avLst/>
          </a:prstGeom>
        </p:spPr>
        <p:txBody>
          <a:bodyPr wrap="none">
            <a:spAutoFit/>
          </a:bodyPr>
          <a:lstStyle/>
          <a:p>
            <a:r>
              <a:rPr kumimoji="1" lang="zh-CN" altLang="en-US" sz="2000" dirty="0">
                <a:latin typeface="微软雅黑" pitchFamily="34" charset="-122"/>
                <a:ea typeface="微软雅黑" pitchFamily="34" charset="-122"/>
                <a:cs typeface="经典粗黑简" pitchFamily="49" charset="-122"/>
              </a:rPr>
              <a:t>邻接表</a:t>
            </a:r>
            <a:r>
              <a:rPr kumimoji="1" lang="en-US" altLang="zh-CN" sz="2000" dirty="0">
                <a:latin typeface="微软雅黑" pitchFamily="34" charset="-122"/>
                <a:ea typeface="微软雅黑" pitchFamily="34" charset="-122"/>
                <a:cs typeface="经典粗黑简" pitchFamily="49" charset="-122"/>
              </a:rPr>
              <a:t>:</a:t>
            </a:r>
            <a:r>
              <a:rPr kumimoji="1" lang="zh-CN" altLang="en-US" sz="2000" dirty="0">
                <a:latin typeface="微软雅黑" pitchFamily="34" charset="-122"/>
                <a:ea typeface="微软雅黑" pitchFamily="34" charset="-122"/>
                <a:cs typeface="经典粗黑简" pitchFamily="49" charset="-122"/>
              </a:rPr>
              <a:t>是图的一种链式存储结构。</a:t>
            </a:r>
          </a:p>
        </p:txBody>
      </p:sp>
      <p:sp>
        <p:nvSpPr>
          <p:cNvPr id="32" name="矩形 31"/>
          <p:cNvSpPr/>
          <p:nvPr/>
        </p:nvSpPr>
        <p:spPr>
          <a:xfrm>
            <a:off x="3158188" y="2636912"/>
            <a:ext cx="2262158" cy="369332"/>
          </a:xfrm>
          <a:prstGeom prst="rect">
            <a:avLst/>
          </a:prstGeom>
        </p:spPr>
        <p:txBody>
          <a:bodyPr wrap="none">
            <a:spAutoFit/>
          </a:bodyPr>
          <a:lstStyle/>
          <a:p>
            <a:r>
              <a:rPr lang="zh-CN" altLang="en-US" dirty="0">
                <a:latin typeface="微软雅黑" pitchFamily="34" charset="-122"/>
                <a:ea typeface="微软雅黑" pitchFamily="34" charset="-122"/>
                <a:cs typeface="经典粗黑简" pitchFamily="49" charset="-122"/>
              </a:rPr>
              <a:t>边（弧）</a:t>
            </a:r>
            <a:r>
              <a:rPr lang="zh-CN" altLang="zh-CN" dirty="0">
                <a:latin typeface="微软雅黑" pitchFamily="34" charset="-122"/>
                <a:ea typeface="微软雅黑" pitchFamily="34" charset="-122"/>
                <a:cs typeface="经典粗黑简" pitchFamily="49" charset="-122"/>
              </a:rPr>
              <a:t>的结点</a:t>
            </a:r>
            <a:r>
              <a:rPr lang="zh-CN" altLang="en-US" dirty="0">
                <a:latin typeface="微软雅黑" pitchFamily="34" charset="-122"/>
                <a:ea typeface="微软雅黑" pitchFamily="34" charset="-122"/>
                <a:cs typeface="经典粗黑简" pitchFamily="49" charset="-122"/>
              </a:rPr>
              <a:t>结构</a:t>
            </a:r>
            <a:endParaRPr lang="zh-CN" altLang="en-US" dirty="0"/>
          </a:p>
        </p:txBody>
      </p:sp>
      <p:sp>
        <p:nvSpPr>
          <p:cNvPr id="40" name="Text Box 9"/>
          <p:cNvSpPr txBox="1">
            <a:spLocks noChangeArrowheads="1"/>
          </p:cNvSpPr>
          <p:nvPr/>
        </p:nvSpPr>
        <p:spPr bwMode="auto">
          <a:xfrm>
            <a:off x="3097601" y="3652339"/>
            <a:ext cx="5197419" cy="11449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eaLnBrk="0" hangingPunct="0">
              <a:spcBef>
                <a:spcPct val="40000"/>
              </a:spcBef>
              <a:defRPr/>
            </a:pPr>
            <a:r>
              <a:rPr kumimoji="1" lang="en-US" altLang="zh-CN" dirty="0" err="1">
                <a:latin typeface="微软雅黑" pitchFamily="34" charset="-122"/>
                <a:ea typeface="微软雅黑" pitchFamily="34" charset="-122"/>
                <a:cs typeface="经典粗黑简" pitchFamily="49" charset="-122"/>
              </a:rPr>
              <a:t>adjvex</a:t>
            </a:r>
            <a:r>
              <a:rPr kumimoji="1" lang="zh-CN" altLang="en-US" dirty="0">
                <a:latin typeface="微软雅黑" pitchFamily="34" charset="-122"/>
                <a:ea typeface="微软雅黑" pitchFamily="34" charset="-122"/>
                <a:cs typeface="经典粗黑简" pitchFamily="49" charset="-122"/>
              </a:rPr>
              <a:t>：邻接点域，边的终点在顶点表中的下标</a:t>
            </a:r>
          </a:p>
          <a:p>
            <a:pPr algn="just" eaLnBrk="0" hangingPunct="0">
              <a:spcBef>
                <a:spcPct val="40000"/>
              </a:spcBef>
              <a:defRPr/>
            </a:pPr>
            <a:r>
              <a:rPr kumimoji="1" lang="en-US" altLang="zh-CN" dirty="0" err="1">
                <a:latin typeface="微软雅黑" pitchFamily="34" charset="-122"/>
                <a:ea typeface="微软雅黑" pitchFamily="34" charset="-122"/>
                <a:cs typeface="经典粗黑简" pitchFamily="49" charset="-122"/>
              </a:rPr>
              <a:t>nextarc</a:t>
            </a:r>
            <a:r>
              <a:rPr kumimoji="1" lang="zh-CN" altLang="en-US" dirty="0">
                <a:latin typeface="微软雅黑" pitchFamily="34" charset="-122"/>
                <a:ea typeface="微软雅黑" pitchFamily="34" charset="-122"/>
                <a:cs typeface="经典粗黑简" pitchFamily="49" charset="-122"/>
              </a:rPr>
              <a:t>：指针域，指向边表中的下一个结点</a:t>
            </a:r>
            <a:endParaRPr kumimoji="1" lang="en-US" altLang="zh-CN" dirty="0">
              <a:latin typeface="微软雅黑" pitchFamily="34" charset="-122"/>
              <a:ea typeface="微软雅黑" pitchFamily="34" charset="-122"/>
              <a:cs typeface="经典粗黑简" pitchFamily="49" charset="-122"/>
            </a:endParaRPr>
          </a:p>
          <a:p>
            <a:pPr algn="just" eaLnBrk="0" hangingPunct="0">
              <a:spcBef>
                <a:spcPct val="40000"/>
              </a:spcBef>
              <a:defRPr/>
            </a:pPr>
            <a:r>
              <a:rPr kumimoji="1" lang="en-US" altLang="zh-CN" dirty="0">
                <a:latin typeface="微软雅黑" pitchFamily="34" charset="-122"/>
                <a:ea typeface="微软雅黑" pitchFamily="34" charset="-122"/>
                <a:cs typeface="经典粗黑简" pitchFamily="49" charset="-122"/>
              </a:rPr>
              <a:t>Weight</a:t>
            </a:r>
            <a:r>
              <a:rPr kumimoji="1" lang="zh-CN" altLang="en-US" dirty="0">
                <a:latin typeface="微软雅黑" pitchFamily="34" charset="-122"/>
                <a:ea typeface="微软雅黑" pitchFamily="34" charset="-122"/>
                <a:cs typeface="经典粗黑简" pitchFamily="49" charset="-122"/>
              </a:rPr>
              <a:t>：边信息如权</a:t>
            </a:r>
          </a:p>
        </p:txBody>
      </p:sp>
      <p:grpSp>
        <p:nvGrpSpPr>
          <p:cNvPr id="2" name="组合 99">
            <a:extLst>
              <a:ext uri="{FF2B5EF4-FFF2-40B4-BE49-F238E27FC236}">
                <a16:creationId xmlns:a16="http://schemas.microsoft.com/office/drawing/2014/main" id="{A8E3D9E5-DF4A-4428-1DBF-903A426930E7}"/>
              </a:ext>
            </a:extLst>
          </p:cNvPr>
          <p:cNvGrpSpPr/>
          <p:nvPr/>
        </p:nvGrpSpPr>
        <p:grpSpPr>
          <a:xfrm>
            <a:off x="3158188" y="3067041"/>
            <a:ext cx="3214710" cy="428628"/>
            <a:chOff x="4286248" y="5429264"/>
            <a:chExt cx="3214710" cy="428628"/>
          </a:xfrm>
        </p:grpSpPr>
        <p:sp>
          <p:nvSpPr>
            <p:cNvPr id="3" name="矩形 2">
              <a:extLst>
                <a:ext uri="{FF2B5EF4-FFF2-40B4-BE49-F238E27FC236}">
                  <a16:creationId xmlns:a16="http://schemas.microsoft.com/office/drawing/2014/main" id="{F8137CD4-477D-442C-C23F-225256C91B43}"/>
                </a:ext>
              </a:extLst>
            </p:cNvPr>
            <p:cNvSpPr/>
            <p:nvPr/>
          </p:nvSpPr>
          <p:spPr bwMode="auto">
            <a:xfrm>
              <a:off x="4286248" y="5429264"/>
              <a:ext cx="1143008" cy="428628"/>
            </a:xfrm>
            <a:prstGeom prst="rect">
              <a:avLst/>
            </a:prstGeom>
            <a:ln>
              <a:headEnd type="stealth" w="med" len="lg"/>
              <a:tailEnd type="none" w="med" len="med"/>
            </a:ln>
          </p:spPr>
          <p:style>
            <a:lnRef idx="1">
              <a:schemeClr val="accent5"/>
            </a:lnRef>
            <a:fillRef idx="2">
              <a:schemeClr val="accent5"/>
            </a:fillRef>
            <a:effectRef idx="1">
              <a:schemeClr val="accent5"/>
            </a:effectRef>
            <a:fontRef idx="minor">
              <a:schemeClr val="dk1"/>
            </a:fontRef>
          </p:style>
          <p:txBody>
            <a:bodyPr wrap="none" rtlCol="0" anchor="ctr"/>
            <a:lstStyle/>
            <a:p>
              <a:pPr algn="ctr"/>
              <a:r>
                <a:rPr lang="en-US" altLang="zh-CN" sz="1800" dirty="0" err="1">
                  <a:solidFill>
                    <a:srgbClr val="0000FF"/>
                  </a:solidFill>
                  <a:latin typeface="Consolas" pitchFamily="49" charset="0"/>
                  <a:cs typeface="Consolas" pitchFamily="49" charset="0"/>
                </a:rPr>
                <a:t>adjvex</a:t>
              </a:r>
              <a:endParaRPr lang="zh-CN" altLang="en-US" sz="1800" dirty="0">
                <a:solidFill>
                  <a:srgbClr val="0000FF"/>
                </a:solidFill>
                <a:latin typeface="Consolas" pitchFamily="49" charset="0"/>
                <a:cs typeface="Consolas" pitchFamily="49" charset="0"/>
              </a:endParaRPr>
            </a:p>
          </p:txBody>
        </p:sp>
        <p:sp>
          <p:nvSpPr>
            <p:cNvPr id="4" name="矩形 3">
              <a:extLst>
                <a:ext uri="{FF2B5EF4-FFF2-40B4-BE49-F238E27FC236}">
                  <a16:creationId xmlns:a16="http://schemas.microsoft.com/office/drawing/2014/main" id="{401F3771-2E16-3FC0-ECB7-E4B126698EA8}"/>
                </a:ext>
              </a:extLst>
            </p:cNvPr>
            <p:cNvSpPr/>
            <p:nvPr/>
          </p:nvSpPr>
          <p:spPr bwMode="auto">
            <a:xfrm>
              <a:off x="5429256" y="5429264"/>
              <a:ext cx="1143008" cy="428628"/>
            </a:xfrm>
            <a:prstGeom prst="rect">
              <a:avLst/>
            </a:prstGeom>
            <a:ln>
              <a:headEnd type="stealth" w="med" len="lg"/>
              <a:tailEnd type="none" w="med" len="med"/>
            </a:ln>
          </p:spPr>
          <p:style>
            <a:lnRef idx="1">
              <a:schemeClr val="accent5"/>
            </a:lnRef>
            <a:fillRef idx="2">
              <a:schemeClr val="accent5"/>
            </a:fillRef>
            <a:effectRef idx="1">
              <a:schemeClr val="accent5"/>
            </a:effectRef>
            <a:fontRef idx="minor">
              <a:schemeClr val="dk1"/>
            </a:fontRef>
          </p:style>
          <p:txBody>
            <a:bodyPr wrap="none" rtlCol="0" anchor="ctr"/>
            <a:lstStyle/>
            <a:p>
              <a:pPr algn="ctr"/>
              <a:r>
                <a:rPr lang="en-US" altLang="zh-CN" sz="1800" dirty="0" err="1">
                  <a:solidFill>
                    <a:srgbClr val="0000FF"/>
                  </a:solidFill>
                  <a:latin typeface="Consolas" pitchFamily="49" charset="0"/>
                  <a:cs typeface="Consolas" pitchFamily="49" charset="0"/>
                </a:rPr>
                <a:t>nextarc</a:t>
              </a:r>
              <a:endParaRPr lang="zh-CN" altLang="en-US" sz="1800" dirty="0">
                <a:solidFill>
                  <a:srgbClr val="0000FF"/>
                </a:solidFill>
                <a:latin typeface="Consolas" pitchFamily="49" charset="0"/>
                <a:cs typeface="Consolas" pitchFamily="49" charset="0"/>
              </a:endParaRPr>
            </a:p>
          </p:txBody>
        </p:sp>
        <p:sp>
          <p:nvSpPr>
            <p:cNvPr id="6" name="矩形 5">
              <a:extLst>
                <a:ext uri="{FF2B5EF4-FFF2-40B4-BE49-F238E27FC236}">
                  <a16:creationId xmlns:a16="http://schemas.microsoft.com/office/drawing/2014/main" id="{7E25AC4C-5E3C-E978-1878-731A4B0C0FFD}"/>
                </a:ext>
              </a:extLst>
            </p:cNvPr>
            <p:cNvSpPr/>
            <p:nvPr/>
          </p:nvSpPr>
          <p:spPr bwMode="auto">
            <a:xfrm>
              <a:off x="6572264" y="5429264"/>
              <a:ext cx="928694" cy="428628"/>
            </a:xfrm>
            <a:prstGeom prst="rect">
              <a:avLst/>
            </a:prstGeom>
            <a:ln>
              <a:headEnd type="stealth" w="med" len="lg"/>
              <a:tailEnd type="none" w="med" len="med"/>
            </a:ln>
          </p:spPr>
          <p:style>
            <a:lnRef idx="1">
              <a:schemeClr val="accent5"/>
            </a:lnRef>
            <a:fillRef idx="2">
              <a:schemeClr val="accent5"/>
            </a:fillRef>
            <a:effectRef idx="1">
              <a:schemeClr val="accent5"/>
            </a:effectRef>
            <a:fontRef idx="minor">
              <a:schemeClr val="dk1"/>
            </a:fontRef>
          </p:style>
          <p:txBody>
            <a:bodyPr wrap="none" rtlCol="0" anchor="ctr"/>
            <a:lstStyle/>
            <a:p>
              <a:pPr algn="ctr"/>
              <a:r>
                <a:rPr lang="en-US" altLang="zh-CN" sz="1800" dirty="0">
                  <a:solidFill>
                    <a:srgbClr val="0000FF"/>
                  </a:solidFill>
                  <a:latin typeface="Consolas" pitchFamily="49" charset="0"/>
                  <a:cs typeface="Consolas" pitchFamily="49" charset="0"/>
                </a:rPr>
                <a:t>weight</a:t>
              </a:r>
              <a:endParaRPr lang="zh-CN" altLang="en-US" sz="1800" dirty="0">
                <a:solidFill>
                  <a:srgbClr val="0000FF"/>
                </a:solidFill>
                <a:latin typeface="Consolas" pitchFamily="49" charset="0"/>
                <a:cs typeface="Consolas" pitchFamily="49" charset="0"/>
              </a:endParaRPr>
            </a:p>
          </p:txBody>
        </p:sp>
      </p:grpSp>
      <p:sp>
        <p:nvSpPr>
          <p:cNvPr id="8" name="文本框 7">
            <a:extLst>
              <a:ext uri="{FF2B5EF4-FFF2-40B4-BE49-F238E27FC236}">
                <a16:creationId xmlns:a16="http://schemas.microsoft.com/office/drawing/2014/main" id="{02DA6BC5-220D-B7EC-E82F-4991E38A89E4}"/>
              </a:ext>
            </a:extLst>
          </p:cNvPr>
          <p:cNvSpPr txBox="1"/>
          <p:nvPr/>
        </p:nvSpPr>
        <p:spPr>
          <a:xfrm>
            <a:off x="3042082" y="4856093"/>
            <a:ext cx="7374398" cy="1477328"/>
          </a:xfrm>
          <a:prstGeom prst="rect">
            <a:avLst/>
          </a:prstGeom>
          <a:noFill/>
        </p:spPr>
        <p:txBody>
          <a:bodyPr wrap="square">
            <a:spAutoFit/>
          </a:bodyPr>
          <a:lstStyle/>
          <a:p>
            <a:pPr algn="l"/>
            <a:r>
              <a:rPr lang="en-US" altLang="zh-CN" sz="1800" dirty="0">
                <a:solidFill>
                  <a:srgbClr val="0000FF"/>
                </a:solidFill>
                <a:latin typeface="Consolas" pitchFamily="49" charset="0"/>
                <a:ea typeface="仿宋" pitchFamily="49" charset="-122"/>
                <a:cs typeface="Consolas" pitchFamily="49" charset="0"/>
              </a:rPr>
              <a:t>typedef struct </a:t>
            </a:r>
            <a:r>
              <a:rPr lang="en-US" altLang="zh-CN" sz="1800" dirty="0" err="1">
                <a:solidFill>
                  <a:srgbClr val="0000FF"/>
                </a:solidFill>
                <a:latin typeface="Consolas" pitchFamily="49" charset="0"/>
                <a:ea typeface="仿宋" pitchFamily="49" charset="-122"/>
                <a:cs typeface="Consolas" pitchFamily="49" charset="0"/>
              </a:rPr>
              <a:t>ANode</a:t>
            </a:r>
            <a:endParaRPr lang="en-US" altLang="zh-CN" sz="1800" dirty="0">
              <a:solidFill>
                <a:srgbClr val="0000FF"/>
              </a:solidFill>
              <a:latin typeface="Consolas" pitchFamily="49" charset="0"/>
              <a:ea typeface="仿宋" pitchFamily="49" charset="-122"/>
              <a:cs typeface="Consolas" pitchFamily="49" charset="0"/>
            </a:endParaRPr>
          </a:p>
          <a:p>
            <a:pPr algn="l"/>
            <a:r>
              <a:rPr lang="en-US" altLang="zh-CN" sz="1800" dirty="0">
                <a:solidFill>
                  <a:srgbClr val="0000FF"/>
                </a:solidFill>
                <a:latin typeface="Consolas" pitchFamily="49" charset="0"/>
                <a:ea typeface="仿宋" pitchFamily="49" charset="-122"/>
                <a:cs typeface="Consolas" pitchFamily="49" charset="0"/>
              </a:rPr>
              <a:t>{  int </a:t>
            </a:r>
            <a:r>
              <a:rPr lang="en-US" altLang="zh-CN" sz="1800" dirty="0" err="1">
                <a:solidFill>
                  <a:srgbClr val="0000FF"/>
                </a:solidFill>
                <a:latin typeface="Consolas" pitchFamily="49" charset="0"/>
                <a:ea typeface="仿宋" pitchFamily="49" charset="-122"/>
                <a:cs typeface="Consolas" pitchFamily="49" charset="0"/>
              </a:rPr>
              <a:t>adjvex</a:t>
            </a:r>
            <a:r>
              <a:rPr lang="en-US" altLang="zh-CN" sz="1800" dirty="0">
                <a:solidFill>
                  <a:srgbClr val="0000FF"/>
                </a:solidFill>
                <a:latin typeface="Consolas" pitchFamily="49" charset="0"/>
                <a:ea typeface="仿宋" pitchFamily="49" charset="-122"/>
                <a:cs typeface="Consolas" pitchFamily="49" charset="0"/>
              </a:rPr>
              <a:t>;			</a:t>
            </a:r>
            <a:r>
              <a:rPr lang="en-US" altLang="zh-CN" sz="1800" dirty="0">
                <a:solidFill>
                  <a:srgbClr val="00B0F0"/>
                </a:solidFill>
                <a:latin typeface="Consolas" pitchFamily="49" charset="0"/>
                <a:ea typeface="仿宋" pitchFamily="49" charset="-122"/>
                <a:cs typeface="Consolas" pitchFamily="49" charset="0"/>
              </a:rPr>
              <a:t>//</a:t>
            </a:r>
            <a:r>
              <a:rPr lang="zh-CN" altLang="en-US" sz="1800" dirty="0">
                <a:solidFill>
                  <a:srgbClr val="00B0F0"/>
                </a:solidFill>
                <a:latin typeface="Consolas" pitchFamily="49" charset="0"/>
                <a:ea typeface="仿宋" pitchFamily="49" charset="-122"/>
                <a:cs typeface="Consolas" pitchFamily="49" charset="0"/>
              </a:rPr>
              <a:t>该边的终点编号</a:t>
            </a:r>
          </a:p>
          <a:p>
            <a:pPr algn="l"/>
            <a:r>
              <a:rPr lang="zh-CN" altLang="en-US" sz="1800" dirty="0">
                <a:solidFill>
                  <a:srgbClr val="0000FF"/>
                </a:solidFill>
                <a:latin typeface="Consolas" pitchFamily="49" charset="0"/>
                <a:ea typeface="仿宋" pitchFamily="49" charset="-122"/>
                <a:cs typeface="Consolas" pitchFamily="49" charset="0"/>
              </a:rPr>
              <a:t>   </a:t>
            </a:r>
            <a:r>
              <a:rPr lang="en-US" altLang="zh-CN" sz="1800" dirty="0">
                <a:solidFill>
                  <a:srgbClr val="0000FF"/>
                </a:solidFill>
                <a:latin typeface="Consolas" pitchFamily="49" charset="0"/>
                <a:ea typeface="仿宋" pitchFamily="49" charset="-122"/>
                <a:cs typeface="Consolas" pitchFamily="49" charset="0"/>
              </a:rPr>
              <a:t>struct </a:t>
            </a:r>
            <a:r>
              <a:rPr lang="en-US" altLang="zh-CN" sz="1800" dirty="0" err="1">
                <a:solidFill>
                  <a:srgbClr val="0000FF"/>
                </a:solidFill>
                <a:latin typeface="Consolas" pitchFamily="49" charset="0"/>
                <a:ea typeface="仿宋" pitchFamily="49" charset="-122"/>
                <a:cs typeface="Consolas" pitchFamily="49" charset="0"/>
              </a:rPr>
              <a:t>ANode</a:t>
            </a:r>
            <a:r>
              <a:rPr lang="en-US" altLang="zh-CN" sz="1800" dirty="0">
                <a:solidFill>
                  <a:srgbClr val="0000FF"/>
                </a:solidFill>
                <a:latin typeface="Consolas" pitchFamily="49" charset="0"/>
                <a:ea typeface="仿宋" pitchFamily="49" charset="-122"/>
                <a:cs typeface="Consolas" pitchFamily="49" charset="0"/>
              </a:rPr>
              <a:t> *</a:t>
            </a:r>
            <a:r>
              <a:rPr lang="en-US" altLang="zh-CN" sz="1800" dirty="0" err="1">
                <a:solidFill>
                  <a:srgbClr val="0000FF"/>
                </a:solidFill>
                <a:latin typeface="Consolas" pitchFamily="49" charset="0"/>
                <a:ea typeface="仿宋" pitchFamily="49" charset="-122"/>
                <a:cs typeface="Consolas" pitchFamily="49" charset="0"/>
              </a:rPr>
              <a:t>nextarc</a:t>
            </a:r>
            <a:r>
              <a:rPr lang="en-US" altLang="zh-CN" sz="1800" dirty="0">
                <a:solidFill>
                  <a:srgbClr val="0000FF"/>
                </a:solidFill>
                <a:latin typeface="Consolas" pitchFamily="49" charset="0"/>
                <a:ea typeface="仿宋" pitchFamily="49" charset="-122"/>
                <a:cs typeface="Consolas" pitchFamily="49" charset="0"/>
              </a:rPr>
              <a:t>;	</a:t>
            </a:r>
            <a:r>
              <a:rPr lang="en-US" altLang="zh-CN" sz="1800" dirty="0">
                <a:solidFill>
                  <a:srgbClr val="00B0F0"/>
                </a:solidFill>
                <a:latin typeface="Consolas" pitchFamily="49" charset="0"/>
                <a:ea typeface="仿宋" pitchFamily="49" charset="-122"/>
                <a:cs typeface="Consolas" pitchFamily="49" charset="0"/>
              </a:rPr>
              <a:t>//</a:t>
            </a:r>
            <a:r>
              <a:rPr lang="zh-CN" altLang="en-US" sz="1800" dirty="0">
                <a:solidFill>
                  <a:srgbClr val="00B0F0"/>
                </a:solidFill>
                <a:latin typeface="Consolas" pitchFamily="49" charset="0"/>
                <a:ea typeface="仿宋" pitchFamily="49" charset="-122"/>
                <a:cs typeface="Consolas" pitchFamily="49" charset="0"/>
              </a:rPr>
              <a:t>指向下一条边的指针</a:t>
            </a:r>
          </a:p>
          <a:p>
            <a:pPr algn="l"/>
            <a:r>
              <a:rPr lang="zh-CN" altLang="en-US" sz="1800" dirty="0">
                <a:solidFill>
                  <a:srgbClr val="0000FF"/>
                </a:solidFill>
                <a:latin typeface="Consolas" pitchFamily="49" charset="0"/>
                <a:ea typeface="仿宋" pitchFamily="49" charset="-122"/>
                <a:cs typeface="Consolas" pitchFamily="49" charset="0"/>
              </a:rPr>
              <a:t>   </a:t>
            </a:r>
            <a:r>
              <a:rPr lang="en-US" altLang="zh-CN" sz="1800" dirty="0" err="1">
                <a:solidFill>
                  <a:srgbClr val="0000FF"/>
                </a:solidFill>
                <a:latin typeface="Consolas" pitchFamily="49" charset="0"/>
                <a:ea typeface="仿宋" pitchFamily="49" charset="-122"/>
                <a:cs typeface="Consolas" pitchFamily="49" charset="0"/>
              </a:rPr>
              <a:t>InfoType</a:t>
            </a:r>
            <a:r>
              <a:rPr lang="en-US" altLang="zh-CN" sz="1800" dirty="0">
                <a:solidFill>
                  <a:srgbClr val="0000FF"/>
                </a:solidFill>
                <a:latin typeface="Consolas" pitchFamily="49" charset="0"/>
                <a:ea typeface="仿宋" pitchFamily="49" charset="-122"/>
                <a:cs typeface="Consolas" pitchFamily="49" charset="0"/>
              </a:rPr>
              <a:t> weight;		</a:t>
            </a:r>
            <a:r>
              <a:rPr lang="en-US" altLang="zh-CN" sz="1800" dirty="0">
                <a:solidFill>
                  <a:srgbClr val="00B0F0"/>
                </a:solidFill>
                <a:latin typeface="Consolas" pitchFamily="49" charset="0"/>
                <a:ea typeface="仿宋" pitchFamily="49" charset="-122"/>
                <a:cs typeface="Consolas" pitchFamily="49" charset="0"/>
              </a:rPr>
              <a:t>//</a:t>
            </a:r>
            <a:r>
              <a:rPr lang="zh-CN" altLang="en-US" sz="1800" dirty="0">
                <a:solidFill>
                  <a:srgbClr val="00B0F0"/>
                </a:solidFill>
                <a:latin typeface="Consolas" pitchFamily="49" charset="0"/>
                <a:ea typeface="仿宋" pitchFamily="49" charset="-122"/>
                <a:cs typeface="Consolas" pitchFamily="49" charset="0"/>
              </a:rPr>
              <a:t>该边的权值等信息</a:t>
            </a:r>
          </a:p>
          <a:p>
            <a:pPr algn="l"/>
            <a:r>
              <a:rPr lang="en-US" altLang="zh-CN" sz="1800" dirty="0">
                <a:solidFill>
                  <a:srgbClr val="0000FF"/>
                </a:solidFill>
                <a:latin typeface="Consolas" pitchFamily="49" charset="0"/>
                <a:ea typeface="仿宋" pitchFamily="49" charset="-122"/>
                <a:cs typeface="Consolas" pitchFamily="49" charset="0"/>
              </a:rPr>
              <a:t>}  </a:t>
            </a:r>
            <a:r>
              <a:rPr lang="en-US" altLang="zh-CN" sz="1800" dirty="0" err="1">
                <a:solidFill>
                  <a:srgbClr val="FF00FF"/>
                </a:solidFill>
                <a:latin typeface="Consolas" pitchFamily="49" charset="0"/>
                <a:ea typeface="仿宋" pitchFamily="49" charset="-122"/>
                <a:cs typeface="Consolas" pitchFamily="49" charset="0"/>
              </a:rPr>
              <a:t>ArcNode</a:t>
            </a:r>
            <a:r>
              <a:rPr lang="en-US" altLang="zh-CN" sz="1800" dirty="0">
                <a:solidFill>
                  <a:srgbClr val="0000FF"/>
                </a:solidFill>
                <a:latin typeface="Consolas" pitchFamily="49" charset="0"/>
                <a:ea typeface="仿宋" pitchFamily="49" charset="-122"/>
                <a:cs typeface="Consolas" pitchFamily="49" charset="0"/>
              </a:rPr>
              <a:t>;</a:t>
            </a:r>
            <a:endParaRPr lang="zh-CN" altLang="en-US" sz="1800" dirty="0">
              <a:solidFill>
                <a:srgbClr val="0000FF"/>
              </a:solidFill>
              <a:latin typeface="Consolas" pitchFamily="49" charset="0"/>
              <a:ea typeface="仿宋" pitchFamily="49" charset="-122"/>
              <a:cs typeface="Consolas" pitchFamily="49" charset="0"/>
            </a:endParaRPr>
          </a:p>
        </p:txBody>
      </p:sp>
      <p:sp>
        <p:nvSpPr>
          <p:cNvPr id="10" name="Rectangle 2">
            <a:extLst>
              <a:ext uri="{FF2B5EF4-FFF2-40B4-BE49-F238E27FC236}">
                <a16:creationId xmlns:a16="http://schemas.microsoft.com/office/drawing/2014/main" id="{B95B4471-A717-232D-4EC0-52F7C3914BFD}"/>
              </a:ext>
            </a:extLst>
          </p:cNvPr>
          <p:cNvSpPr txBox="1">
            <a:spLocks noChangeArrowheads="1"/>
          </p:cNvSpPr>
          <p:nvPr/>
        </p:nvSpPr>
        <p:spPr>
          <a:xfrm>
            <a:off x="474772" y="1230902"/>
            <a:ext cx="4253075"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8.2.2 </a:t>
            </a:r>
            <a:r>
              <a:rPr kumimoji="1" lang="zh-CN" altLang="en-US" dirty="0">
                <a:latin typeface="微软雅黑" pitchFamily="34" charset="-122"/>
                <a:ea typeface="微软雅黑" pitchFamily="34" charset="-122"/>
              </a:rPr>
              <a:t>邻接表存储方法</a:t>
            </a:r>
            <a:endParaRPr lang="zh-CN" altLang="en-US" dirty="0"/>
          </a:p>
        </p:txBody>
      </p:sp>
      <p:sp>
        <p:nvSpPr>
          <p:cNvPr id="12" name="矩形 11">
            <a:extLst>
              <a:ext uri="{FF2B5EF4-FFF2-40B4-BE49-F238E27FC236}">
                <a16:creationId xmlns:a16="http://schemas.microsoft.com/office/drawing/2014/main" id="{EDFC042F-3706-8DC4-7B5A-36D3817FB33F}"/>
              </a:ext>
            </a:extLst>
          </p:cNvPr>
          <p:cNvSpPr/>
          <p:nvPr/>
        </p:nvSpPr>
        <p:spPr>
          <a:xfrm>
            <a:off x="2846292" y="348366"/>
            <a:ext cx="6715440"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8.2 </a:t>
            </a:r>
            <a:r>
              <a:rPr lang="zh-CN" altLang="en-US" sz="3000" b="1" dirty="0">
                <a:latin typeface="黑体" pitchFamily="49" charset="-122"/>
                <a:ea typeface="黑体" pitchFamily="49" charset="-122"/>
                <a:cs typeface="经典粗黑简" pitchFamily="49" charset="-122"/>
              </a:rPr>
              <a:t>图的存储结构和基本运算算法</a:t>
            </a:r>
          </a:p>
        </p:txBody>
      </p:sp>
      <p:cxnSp>
        <p:nvCxnSpPr>
          <p:cNvPr id="17" name="直接连接符 16">
            <a:extLst>
              <a:ext uri="{FF2B5EF4-FFF2-40B4-BE49-F238E27FC236}">
                <a16:creationId xmlns:a16="http://schemas.microsoft.com/office/drawing/2014/main" id="{7CDCD467-3147-C434-2D44-BE7C808EC954}"/>
              </a:ext>
            </a:extLst>
          </p:cNvPr>
          <p:cNvCxnSpPr>
            <a:cxnSpLocks/>
          </p:cNvCxnSpPr>
          <p:nvPr/>
        </p:nvCxnSpPr>
        <p:spPr>
          <a:xfrm>
            <a:off x="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9373691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 name="Group 3"/>
          <p:cNvGrpSpPr>
            <a:grpSpLocks/>
          </p:cNvGrpSpPr>
          <p:nvPr/>
        </p:nvGrpSpPr>
        <p:grpSpPr bwMode="auto">
          <a:xfrm>
            <a:off x="2423692" y="2270098"/>
            <a:ext cx="2016125" cy="1944687"/>
            <a:chOff x="975" y="1706"/>
            <a:chExt cx="1270" cy="1225"/>
          </a:xfrm>
        </p:grpSpPr>
        <p:sp>
          <p:nvSpPr>
            <p:cNvPr id="27" name="Oval 4"/>
            <p:cNvSpPr>
              <a:spLocks noChangeArrowheads="1"/>
            </p:cNvSpPr>
            <p:nvPr/>
          </p:nvSpPr>
          <p:spPr bwMode="auto">
            <a:xfrm>
              <a:off x="975" y="1706"/>
              <a:ext cx="317" cy="317"/>
            </a:xfrm>
            <a:prstGeom prst="ellipse">
              <a:avLst/>
            </a:prstGeom>
            <a:solidFill>
              <a:schemeClr val="bg1"/>
            </a:solidFill>
            <a:ln w="28575" cap="sq">
              <a:solidFill>
                <a:srgbClr val="0033CC"/>
              </a:solidFill>
              <a:miter lim="800000"/>
              <a:headEnd type="none" w="sm" len="sm"/>
              <a:tailEnd type="none" w="sm" len="sm"/>
            </a:ln>
          </p:spPr>
          <p:txBody>
            <a:bodyPr wrap="none" tIns="0" anchorCtr="1"/>
            <a:lstStyle/>
            <a:p>
              <a:r>
                <a:rPr lang="en-US" altLang="zh-CN" sz="2400"/>
                <a:t>A</a:t>
              </a:r>
              <a:endParaRPr lang="en-US" altLang="zh-CN" sz="2400" baseline="-25000"/>
            </a:p>
          </p:txBody>
        </p:sp>
        <p:sp>
          <p:nvSpPr>
            <p:cNvPr id="28" name="Oval 5"/>
            <p:cNvSpPr>
              <a:spLocks noChangeArrowheads="1"/>
            </p:cNvSpPr>
            <p:nvPr/>
          </p:nvSpPr>
          <p:spPr bwMode="auto">
            <a:xfrm>
              <a:off x="1928" y="1706"/>
              <a:ext cx="317" cy="317"/>
            </a:xfrm>
            <a:prstGeom prst="ellipse">
              <a:avLst/>
            </a:prstGeom>
            <a:solidFill>
              <a:schemeClr val="bg1"/>
            </a:solidFill>
            <a:ln w="28575" cap="sq">
              <a:solidFill>
                <a:srgbClr val="0033CC"/>
              </a:solidFill>
              <a:miter lim="800000"/>
              <a:headEnd type="none" w="sm" len="sm"/>
              <a:tailEnd type="none" w="sm" len="sm"/>
            </a:ln>
          </p:spPr>
          <p:txBody>
            <a:bodyPr wrap="none" tIns="0" anchorCtr="1"/>
            <a:lstStyle/>
            <a:p>
              <a:r>
                <a:rPr lang="en-US" altLang="zh-CN" sz="2400"/>
                <a:t>B</a:t>
              </a:r>
              <a:endParaRPr lang="en-US" altLang="zh-CN" sz="2400" baseline="-25000"/>
            </a:p>
          </p:txBody>
        </p:sp>
        <p:sp>
          <p:nvSpPr>
            <p:cNvPr id="29" name="Oval 6"/>
            <p:cNvSpPr>
              <a:spLocks noChangeArrowheads="1"/>
            </p:cNvSpPr>
            <p:nvPr/>
          </p:nvSpPr>
          <p:spPr bwMode="auto">
            <a:xfrm>
              <a:off x="975" y="2614"/>
              <a:ext cx="317" cy="317"/>
            </a:xfrm>
            <a:prstGeom prst="ellipse">
              <a:avLst/>
            </a:prstGeom>
            <a:solidFill>
              <a:schemeClr val="bg1"/>
            </a:solidFill>
            <a:ln w="28575" cap="sq">
              <a:solidFill>
                <a:srgbClr val="0033CC"/>
              </a:solidFill>
              <a:miter lim="800000"/>
              <a:headEnd type="none" w="sm" len="sm"/>
              <a:tailEnd type="none" w="sm" len="sm"/>
            </a:ln>
          </p:spPr>
          <p:txBody>
            <a:bodyPr wrap="none" tIns="0" anchorCtr="1"/>
            <a:lstStyle/>
            <a:p>
              <a:r>
                <a:rPr lang="en-US" altLang="zh-CN" sz="2400"/>
                <a:t>E</a:t>
              </a:r>
              <a:endParaRPr lang="en-US" altLang="zh-CN" sz="2400" baseline="-25000"/>
            </a:p>
          </p:txBody>
        </p:sp>
        <p:sp>
          <p:nvSpPr>
            <p:cNvPr id="30" name="Oval 7"/>
            <p:cNvSpPr>
              <a:spLocks noChangeArrowheads="1"/>
            </p:cNvSpPr>
            <p:nvPr/>
          </p:nvSpPr>
          <p:spPr bwMode="auto">
            <a:xfrm>
              <a:off x="1927" y="2613"/>
              <a:ext cx="317" cy="317"/>
            </a:xfrm>
            <a:prstGeom prst="ellipse">
              <a:avLst/>
            </a:prstGeom>
            <a:solidFill>
              <a:schemeClr val="bg1"/>
            </a:solidFill>
            <a:ln w="28575" cap="sq">
              <a:solidFill>
                <a:srgbClr val="0033CC"/>
              </a:solidFill>
              <a:miter lim="800000"/>
              <a:headEnd type="none" w="sm" len="sm"/>
              <a:tailEnd type="none" w="sm" len="sm"/>
            </a:ln>
          </p:spPr>
          <p:txBody>
            <a:bodyPr wrap="none" tIns="0" anchorCtr="1"/>
            <a:lstStyle/>
            <a:p>
              <a:r>
                <a:rPr lang="en-US" altLang="zh-CN" sz="2400"/>
                <a:t>D</a:t>
              </a:r>
              <a:endParaRPr lang="en-US" altLang="zh-CN" sz="2400" baseline="-25000"/>
            </a:p>
          </p:txBody>
        </p:sp>
        <p:sp>
          <p:nvSpPr>
            <p:cNvPr id="31" name="Oval 8"/>
            <p:cNvSpPr>
              <a:spLocks noChangeArrowheads="1"/>
            </p:cNvSpPr>
            <p:nvPr/>
          </p:nvSpPr>
          <p:spPr bwMode="auto">
            <a:xfrm>
              <a:off x="1474" y="2161"/>
              <a:ext cx="317" cy="317"/>
            </a:xfrm>
            <a:prstGeom prst="ellipse">
              <a:avLst/>
            </a:prstGeom>
            <a:solidFill>
              <a:schemeClr val="bg1"/>
            </a:solidFill>
            <a:ln w="28575" cap="sq">
              <a:solidFill>
                <a:srgbClr val="0033CC"/>
              </a:solidFill>
              <a:miter lim="800000"/>
              <a:headEnd type="none" w="sm" len="sm"/>
              <a:tailEnd type="none" w="sm" len="sm"/>
            </a:ln>
          </p:spPr>
          <p:txBody>
            <a:bodyPr wrap="none" tIns="0" anchorCtr="1"/>
            <a:lstStyle/>
            <a:p>
              <a:r>
                <a:rPr lang="en-US" altLang="zh-CN" sz="2400"/>
                <a:t>C</a:t>
              </a:r>
              <a:endParaRPr lang="en-US" altLang="zh-CN" sz="2400" baseline="-25000"/>
            </a:p>
          </p:txBody>
        </p:sp>
        <p:sp>
          <p:nvSpPr>
            <p:cNvPr id="32" name="Line 9"/>
            <p:cNvSpPr>
              <a:spLocks noChangeShapeType="1"/>
            </p:cNvSpPr>
            <p:nvPr/>
          </p:nvSpPr>
          <p:spPr bwMode="auto">
            <a:xfrm>
              <a:off x="1292" y="1842"/>
              <a:ext cx="635" cy="0"/>
            </a:xfrm>
            <a:prstGeom prst="line">
              <a:avLst/>
            </a:prstGeom>
            <a:noFill/>
            <a:ln w="28575" cap="sq">
              <a:solidFill>
                <a:srgbClr val="0033CC"/>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33" name="Line 10"/>
            <p:cNvSpPr>
              <a:spLocks noChangeShapeType="1"/>
            </p:cNvSpPr>
            <p:nvPr/>
          </p:nvSpPr>
          <p:spPr bwMode="auto">
            <a:xfrm>
              <a:off x="1292" y="2795"/>
              <a:ext cx="635" cy="0"/>
            </a:xfrm>
            <a:prstGeom prst="line">
              <a:avLst/>
            </a:prstGeom>
            <a:noFill/>
            <a:ln w="28575" cap="sq">
              <a:solidFill>
                <a:srgbClr val="0033CC"/>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34" name="Line 11"/>
            <p:cNvSpPr>
              <a:spLocks noChangeShapeType="1"/>
            </p:cNvSpPr>
            <p:nvPr/>
          </p:nvSpPr>
          <p:spPr bwMode="auto">
            <a:xfrm>
              <a:off x="1111" y="2024"/>
              <a:ext cx="0" cy="590"/>
            </a:xfrm>
            <a:prstGeom prst="line">
              <a:avLst/>
            </a:prstGeom>
            <a:noFill/>
            <a:ln w="28575" cap="sq">
              <a:solidFill>
                <a:srgbClr val="0033CC"/>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35" name="Line 12"/>
            <p:cNvSpPr>
              <a:spLocks noChangeShapeType="1"/>
            </p:cNvSpPr>
            <p:nvPr/>
          </p:nvSpPr>
          <p:spPr bwMode="auto">
            <a:xfrm>
              <a:off x="2109" y="2024"/>
              <a:ext cx="0" cy="590"/>
            </a:xfrm>
            <a:prstGeom prst="line">
              <a:avLst/>
            </a:prstGeom>
            <a:noFill/>
            <a:ln w="28575" cap="sq">
              <a:solidFill>
                <a:srgbClr val="0033CC"/>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36" name="Line 13"/>
            <p:cNvSpPr>
              <a:spLocks noChangeShapeType="1"/>
            </p:cNvSpPr>
            <p:nvPr/>
          </p:nvSpPr>
          <p:spPr bwMode="auto">
            <a:xfrm>
              <a:off x="1746" y="2432"/>
              <a:ext cx="227" cy="227"/>
            </a:xfrm>
            <a:prstGeom prst="line">
              <a:avLst/>
            </a:prstGeom>
            <a:noFill/>
            <a:ln w="28575" cap="sq">
              <a:solidFill>
                <a:srgbClr val="0033CC"/>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37" name="Line 14"/>
            <p:cNvSpPr>
              <a:spLocks noChangeShapeType="1"/>
            </p:cNvSpPr>
            <p:nvPr/>
          </p:nvSpPr>
          <p:spPr bwMode="auto">
            <a:xfrm flipH="1">
              <a:off x="1746" y="1979"/>
              <a:ext cx="227" cy="226"/>
            </a:xfrm>
            <a:prstGeom prst="line">
              <a:avLst/>
            </a:prstGeom>
            <a:noFill/>
            <a:ln w="28575" cap="sq">
              <a:solidFill>
                <a:srgbClr val="0033CC"/>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38" name="Line 15"/>
            <p:cNvSpPr>
              <a:spLocks noChangeShapeType="1"/>
            </p:cNvSpPr>
            <p:nvPr/>
          </p:nvSpPr>
          <p:spPr bwMode="auto">
            <a:xfrm flipH="1">
              <a:off x="1247" y="2432"/>
              <a:ext cx="272" cy="249"/>
            </a:xfrm>
            <a:prstGeom prst="line">
              <a:avLst/>
            </a:prstGeom>
            <a:noFill/>
            <a:ln w="28575" cap="sq">
              <a:solidFill>
                <a:srgbClr val="0033CC"/>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grpSp>
      <p:sp>
        <p:nvSpPr>
          <p:cNvPr id="26" name="Text Box 16"/>
          <p:cNvSpPr txBox="1">
            <a:spLocks noChangeArrowheads="1"/>
          </p:cNvSpPr>
          <p:nvPr/>
        </p:nvSpPr>
        <p:spPr bwMode="auto">
          <a:xfrm>
            <a:off x="2831374" y="4427820"/>
            <a:ext cx="129540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spAutoFit/>
          </a:bodyPr>
          <a:lstStyle>
            <a:lvl1pPr eaLnBrk="0" hangingPunct="0">
              <a:defRPr kumimoji="1" sz="2800">
                <a:solidFill>
                  <a:schemeClr val="tx1"/>
                </a:solidFill>
                <a:latin typeface="Comic Sans MS" pitchFamily="66" charset="0"/>
                <a:ea typeface="宋体" pitchFamily="2" charset="-122"/>
              </a:defRPr>
            </a:lvl1pPr>
            <a:lvl2pPr marL="742950" indent="-285750" eaLnBrk="0" hangingPunct="0">
              <a:defRPr kumimoji="1" sz="2800">
                <a:solidFill>
                  <a:schemeClr val="tx1"/>
                </a:solidFill>
                <a:latin typeface="Comic Sans MS" pitchFamily="66" charset="0"/>
                <a:ea typeface="宋体" pitchFamily="2" charset="-122"/>
              </a:defRPr>
            </a:lvl2pPr>
            <a:lvl3pPr marL="1143000" indent="-228600" eaLnBrk="0" hangingPunct="0">
              <a:defRPr kumimoji="1" sz="2800">
                <a:solidFill>
                  <a:schemeClr val="tx1"/>
                </a:solidFill>
                <a:latin typeface="Comic Sans MS" pitchFamily="66" charset="0"/>
                <a:ea typeface="宋体" pitchFamily="2" charset="-122"/>
              </a:defRPr>
            </a:lvl3pPr>
            <a:lvl4pPr marL="1600200" indent="-228600" eaLnBrk="0" hangingPunct="0">
              <a:defRPr kumimoji="1" sz="2800">
                <a:solidFill>
                  <a:schemeClr val="tx1"/>
                </a:solidFill>
                <a:latin typeface="Comic Sans MS" pitchFamily="66" charset="0"/>
                <a:ea typeface="宋体" pitchFamily="2" charset="-122"/>
              </a:defRPr>
            </a:lvl4pPr>
            <a:lvl5pPr marL="2057400" indent="-228600" eaLnBrk="0" hangingPunct="0">
              <a:defRPr kumimoji="1" sz="2800">
                <a:solidFill>
                  <a:schemeClr val="tx1"/>
                </a:solidFill>
                <a:latin typeface="Comic Sans MS" pitchFamily="66" charset="0"/>
                <a:ea typeface="宋体" pitchFamily="2" charset="-122"/>
              </a:defRPr>
            </a:lvl5pPr>
            <a:lvl6pPr marL="25146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6pPr>
            <a:lvl7pPr marL="29718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7pPr>
            <a:lvl8pPr marL="34290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8pPr>
            <a:lvl9pPr marL="38862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9pPr>
          </a:lstStyle>
          <a:p>
            <a:pPr eaLnBrk="1" hangingPunct="1">
              <a:spcBef>
                <a:spcPct val="50000"/>
              </a:spcBef>
            </a:pPr>
            <a:r>
              <a:rPr lang="zh-CN" altLang="en-US" sz="1800" dirty="0">
                <a:latin typeface="微软雅黑" pitchFamily="34" charset="-122"/>
                <a:ea typeface="微软雅黑" pitchFamily="34" charset="-122"/>
                <a:cs typeface="经典粗黑简" pitchFamily="49" charset="-122"/>
              </a:rPr>
              <a:t>无向图</a:t>
            </a:r>
            <a:r>
              <a:rPr lang="en-US" altLang="zh-CN" sz="1800" dirty="0">
                <a:latin typeface="微软雅黑" pitchFamily="34" charset="-122"/>
                <a:ea typeface="微软雅黑" pitchFamily="34" charset="-122"/>
                <a:cs typeface="经典粗黑简" pitchFamily="49" charset="-122"/>
              </a:rPr>
              <a:t>G2</a:t>
            </a:r>
          </a:p>
        </p:txBody>
      </p:sp>
      <p:graphicFrame>
        <p:nvGraphicFramePr>
          <p:cNvPr id="39" name="Group 17"/>
          <p:cNvGraphicFramePr>
            <a:graphicFrameLocks noGrp="1"/>
          </p:cNvGraphicFramePr>
          <p:nvPr>
            <p:extLst>
              <p:ext uri="{D42A27DB-BD31-4B8C-83A1-F6EECF244321}">
                <p14:modId xmlns:p14="http://schemas.microsoft.com/office/powerpoint/2010/main" val="1405206094"/>
              </p:ext>
            </p:extLst>
          </p:nvPr>
        </p:nvGraphicFramePr>
        <p:xfrm>
          <a:off x="5353249" y="1988271"/>
          <a:ext cx="1008063" cy="2952751"/>
        </p:xfrm>
        <a:graphic>
          <a:graphicData uri="http://schemas.openxmlformats.org/drawingml/2006/table">
            <a:tbl>
              <a:tblPr/>
              <a:tblGrid>
                <a:gridCol w="336550">
                  <a:extLst>
                    <a:ext uri="{9D8B030D-6E8A-4147-A177-3AD203B41FA5}">
                      <a16:colId xmlns:a16="http://schemas.microsoft.com/office/drawing/2014/main" val="20000"/>
                    </a:ext>
                  </a:extLst>
                </a:gridCol>
                <a:gridCol w="312738">
                  <a:extLst>
                    <a:ext uri="{9D8B030D-6E8A-4147-A177-3AD203B41FA5}">
                      <a16:colId xmlns:a16="http://schemas.microsoft.com/office/drawing/2014/main" val="20001"/>
                    </a:ext>
                  </a:extLst>
                </a:gridCol>
                <a:gridCol w="358775">
                  <a:extLst>
                    <a:ext uri="{9D8B030D-6E8A-4147-A177-3AD203B41FA5}">
                      <a16:colId xmlns:a16="http://schemas.microsoft.com/office/drawing/2014/main" val="20002"/>
                    </a:ext>
                  </a:extLst>
                </a:gridCol>
              </a:tblGrid>
              <a:tr h="495300">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1800" b="1" i="0" u="none" strike="noStrike" cap="none" normalizeH="0" baseline="0" dirty="0">
                          <a:ln>
                            <a:noFill/>
                          </a:ln>
                          <a:solidFill>
                            <a:schemeClr val="tx1"/>
                          </a:solidFill>
                          <a:effectLst/>
                          <a:latin typeface="Comic Sans MS" pitchFamily="66" charset="0"/>
                          <a:ea typeface="ＭＳ Ｐゴシック" pitchFamily="34" charset="-128"/>
                        </a:rPr>
                        <a:t>0</a:t>
                      </a:r>
                    </a:p>
                  </a:txBody>
                  <a:tcPr horzOverflow="overflow">
                    <a:lnL>
                      <a:noFill/>
                    </a:lnL>
                    <a:lnR w="28575" cap="flat" cmpd="sng" algn="ctr">
                      <a:solidFill>
                        <a:srgbClr val="0033CC"/>
                      </a:solidFill>
                      <a:prstDash val="solid"/>
                      <a:miter lim="800000"/>
                      <a:headEnd type="none" w="sm" len="sm"/>
                      <a:tailEnd type="none" w="sm" len="sm"/>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Comic Sans MS" pitchFamily="66" charset="0"/>
                          <a:ea typeface="ＭＳ Ｐゴシック" pitchFamily="34" charset="-128"/>
                        </a:rPr>
                        <a:t>A</a:t>
                      </a:r>
                    </a:p>
                  </a:txBody>
                  <a:tcPr horzOverflow="overflow">
                    <a:lnL w="28575" cap="flat" cmpd="sng" algn="ctr">
                      <a:solidFill>
                        <a:srgbClr val="0033CC"/>
                      </a:solidFill>
                      <a:prstDash val="solid"/>
                      <a:miter lim="800000"/>
                      <a:headEnd type="none" w="sm" len="sm"/>
                      <a:tailEnd type="none" w="sm" len="sm"/>
                    </a:lnL>
                    <a:lnR w="28575" cap="flat" cmpd="sng" algn="ctr">
                      <a:solidFill>
                        <a:srgbClr val="0033CC"/>
                      </a:solidFill>
                      <a:prstDash val="solid"/>
                      <a:miter lim="800000"/>
                      <a:headEnd type="none" w="sm" len="sm"/>
                      <a:tailEnd type="none" w="sm" len="sm"/>
                    </a:lnR>
                    <a:lnT w="28575" cap="flat" cmpd="sng" algn="ctr">
                      <a:solidFill>
                        <a:srgbClr val="0033CC"/>
                      </a:solidFill>
                      <a:prstDash val="solid"/>
                      <a:miter lim="800000"/>
                      <a:headEnd type="none" w="sm" len="sm"/>
                      <a:tailEnd type="none" w="sm" len="sm"/>
                    </a:lnT>
                    <a:lnB w="28575" cap="flat" cmpd="sng" algn="ctr">
                      <a:solidFill>
                        <a:srgbClr val="0033CC"/>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endParaRPr kumimoji="0" lang="zh-CN" altLang="en-US" sz="1800" b="1" i="0" u="none" strike="noStrike" cap="none" normalizeH="0" baseline="0">
                        <a:ln>
                          <a:noFill/>
                        </a:ln>
                        <a:solidFill>
                          <a:schemeClr val="tx1"/>
                        </a:solidFill>
                        <a:effectLst/>
                        <a:latin typeface="Comic Sans MS" pitchFamily="66" charset="0"/>
                        <a:ea typeface="ＭＳ Ｐゴシック" pitchFamily="34" charset="-128"/>
                      </a:endParaRPr>
                    </a:p>
                  </a:txBody>
                  <a:tcPr horzOverflow="overflow">
                    <a:lnL w="28575" cap="flat" cmpd="sng" algn="ctr">
                      <a:solidFill>
                        <a:srgbClr val="0033CC"/>
                      </a:solidFill>
                      <a:prstDash val="solid"/>
                      <a:miter lim="800000"/>
                      <a:headEnd type="none" w="sm" len="sm"/>
                      <a:tailEnd type="none" w="sm" len="sm"/>
                    </a:lnL>
                    <a:lnR w="28575" cap="flat" cmpd="sng" algn="ctr">
                      <a:solidFill>
                        <a:srgbClr val="0033CC"/>
                      </a:solidFill>
                      <a:prstDash val="solid"/>
                      <a:miter lim="800000"/>
                      <a:headEnd type="none" w="sm" len="sm"/>
                      <a:tailEnd type="none" w="sm" len="sm"/>
                    </a:lnR>
                    <a:lnT w="28575" cap="flat" cmpd="sng" algn="ctr">
                      <a:solidFill>
                        <a:srgbClr val="0033CC"/>
                      </a:solidFill>
                      <a:prstDash val="solid"/>
                      <a:miter lim="800000"/>
                      <a:headEnd type="none" w="sm" len="sm"/>
                      <a:tailEnd type="none" w="sm" len="sm"/>
                    </a:lnT>
                    <a:lnB w="28575" cap="flat" cmpd="sng" algn="ctr">
                      <a:solidFill>
                        <a:srgbClr val="0033CC"/>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10000"/>
                  </a:ext>
                </a:extLst>
              </a:tr>
              <a:tr h="609600">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Comic Sans MS" pitchFamily="66" charset="0"/>
                          <a:ea typeface="ＭＳ Ｐゴシック" pitchFamily="34" charset="-128"/>
                        </a:rPr>
                        <a:t>1</a:t>
                      </a:r>
                    </a:p>
                  </a:txBody>
                  <a:tcPr horzOverflow="overflow">
                    <a:lnL>
                      <a:noFill/>
                    </a:lnL>
                    <a:lnR w="28575" cap="flat" cmpd="sng" algn="ctr">
                      <a:solidFill>
                        <a:srgbClr val="0033CC"/>
                      </a:solidFill>
                      <a:prstDash val="solid"/>
                      <a:miter lim="800000"/>
                      <a:headEnd type="none" w="sm" len="sm"/>
                      <a:tailEnd type="none" w="sm" len="sm"/>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Comic Sans MS" pitchFamily="66" charset="0"/>
                          <a:ea typeface="ＭＳ Ｐゴシック" pitchFamily="34" charset="-128"/>
                        </a:rPr>
                        <a:t>B</a:t>
                      </a:r>
                    </a:p>
                  </a:txBody>
                  <a:tcPr horzOverflow="overflow">
                    <a:lnL w="28575" cap="flat" cmpd="sng" algn="ctr">
                      <a:solidFill>
                        <a:srgbClr val="0033CC"/>
                      </a:solidFill>
                      <a:prstDash val="solid"/>
                      <a:miter lim="800000"/>
                      <a:headEnd type="none" w="sm" len="sm"/>
                      <a:tailEnd type="none" w="sm" len="sm"/>
                    </a:lnL>
                    <a:lnR w="28575" cap="flat" cmpd="sng" algn="ctr">
                      <a:solidFill>
                        <a:srgbClr val="0033CC"/>
                      </a:solidFill>
                      <a:prstDash val="solid"/>
                      <a:miter lim="800000"/>
                      <a:headEnd type="none" w="sm" len="sm"/>
                      <a:tailEnd type="none" w="sm" len="sm"/>
                    </a:lnR>
                    <a:lnT w="28575" cap="flat" cmpd="sng" algn="ctr">
                      <a:solidFill>
                        <a:srgbClr val="0033CC"/>
                      </a:solidFill>
                      <a:prstDash val="solid"/>
                      <a:miter lim="800000"/>
                      <a:headEnd type="none" w="sm" len="sm"/>
                      <a:tailEnd type="none" w="sm" len="sm"/>
                    </a:lnT>
                    <a:lnB w="28575" cap="flat" cmpd="sng" algn="ctr">
                      <a:solidFill>
                        <a:srgbClr val="0033CC"/>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endParaRPr kumimoji="0" lang="zh-CN" altLang="en-US" sz="1800" b="1" i="0" u="none" strike="noStrike" cap="none" normalizeH="0" baseline="0">
                        <a:ln>
                          <a:noFill/>
                        </a:ln>
                        <a:solidFill>
                          <a:schemeClr val="tx1"/>
                        </a:solidFill>
                        <a:effectLst/>
                        <a:latin typeface="Comic Sans MS" pitchFamily="66" charset="0"/>
                        <a:ea typeface="ＭＳ Ｐゴシック" pitchFamily="34" charset="-128"/>
                      </a:endParaRPr>
                    </a:p>
                  </a:txBody>
                  <a:tcPr horzOverflow="overflow">
                    <a:lnL w="28575" cap="flat" cmpd="sng" algn="ctr">
                      <a:solidFill>
                        <a:srgbClr val="0033CC"/>
                      </a:solidFill>
                      <a:prstDash val="solid"/>
                      <a:miter lim="800000"/>
                      <a:headEnd type="none" w="sm" len="sm"/>
                      <a:tailEnd type="none" w="sm" len="sm"/>
                    </a:lnL>
                    <a:lnR w="28575" cap="flat" cmpd="sng" algn="ctr">
                      <a:solidFill>
                        <a:srgbClr val="0033CC"/>
                      </a:solidFill>
                      <a:prstDash val="solid"/>
                      <a:miter lim="800000"/>
                      <a:headEnd type="none" w="sm" len="sm"/>
                      <a:tailEnd type="none" w="sm" len="sm"/>
                    </a:lnR>
                    <a:lnT w="28575" cap="flat" cmpd="sng" algn="ctr">
                      <a:solidFill>
                        <a:srgbClr val="0033CC"/>
                      </a:solidFill>
                      <a:prstDash val="solid"/>
                      <a:miter lim="800000"/>
                      <a:headEnd type="none" w="sm" len="sm"/>
                      <a:tailEnd type="none" w="sm" len="sm"/>
                    </a:lnT>
                    <a:lnB w="28575" cap="flat" cmpd="sng" algn="ctr">
                      <a:solidFill>
                        <a:srgbClr val="0033CC"/>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10001"/>
                  </a:ext>
                </a:extLst>
              </a:tr>
              <a:tr h="608013">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Comic Sans MS" pitchFamily="66" charset="0"/>
                          <a:ea typeface="ＭＳ Ｐゴシック" pitchFamily="34" charset="-128"/>
                        </a:rPr>
                        <a:t>2</a:t>
                      </a:r>
                    </a:p>
                  </a:txBody>
                  <a:tcPr horzOverflow="overflow">
                    <a:lnL>
                      <a:noFill/>
                    </a:lnL>
                    <a:lnR w="28575" cap="flat" cmpd="sng" algn="ctr">
                      <a:solidFill>
                        <a:srgbClr val="0033CC"/>
                      </a:solidFill>
                      <a:prstDash val="solid"/>
                      <a:miter lim="800000"/>
                      <a:headEnd type="none" w="sm" len="sm"/>
                      <a:tailEnd type="none" w="sm" len="sm"/>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Comic Sans MS" pitchFamily="66" charset="0"/>
                          <a:ea typeface="ＭＳ Ｐゴシック" pitchFamily="34" charset="-128"/>
                        </a:rPr>
                        <a:t>C</a:t>
                      </a:r>
                    </a:p>
                  </a:txBody>
                  <a:tcPr horzOverflow="overflow">
                    <a:lnL w="28575" cap="flat" cmpd="sng" algn="ctr">
                      <a:solidFill>
                        <a:srgbClr val="0033CC"/>
                      </a:solidFill>
                      <a:prstDash val="solid"/>
                      <a:miter lim="800000"/>
                      <a:headEnd type="none" w="sm" len="sm"/>
                      <a:tailEnd type="none" w="sm" len="sm"/>
                    </a:lnL>
                    <a:lnR w="28575" cap="flat" cmpd="sng" algn="ctr">
                      <a:solidFill>
                        <a:srgbClr val="0033CC"/>
                      </a:solidFill>
                      <a:prstDash val="solid"/>
                      <a:miter lim="800000"/>
                      <a:headEnd type="none" w="sm" len="sm"/>
                      <a:tailEnd type="none" w="sm" len="sm"/>
                    </a:lnR>
                    <a:lnT w="28575" cap="flat" cmpd="sng" algn="ctr">
                      <a:solidFill>
                        <a:srgbClr val="0033CC"/>
                      </a:solidFill>
                      <a:prstDash val="solid"/>
                      <a:miter lim="800000"/>
                      <a:headEnd type="none" w="sm" len="sm"/>
                      <a:tailEnd type="none" w="sm" len="sm"/>
                    </a:lnT>
                    <a:lnB w="28575" cap="flat" cmpd="sng" algn="ctr">
                      <a:solidFill>
                        <a:srgbClr val="0033CC"/>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endParaRPr kumimoji="0" lang="zh-CN" altLang="en-US" sz="1800" b="1" i="0" u="none" strike="noStrike" cap="none" normalizeH="0" baseline="0">
                        <a:ln>
                          <a:noFill/>
                        </a:ln>
                        <a:solidFill>
                          <a:schemeClr val="tx1"/>
                        </a:solidFill>
                        <a:effectLst/>
                        <a:latin typeface="Comic Sans MS" pitchFamily="66" charset="0"/>
                        <a:ea typeface="ＭＳ Ｐゴシック" pitchFamily="34" charset="-128"/>
                      </a:endParaRPr>
                    </a:p>
                  </a:txBody>
                  <a:tcPr horzOverflow="overflow">
                    <a:lnL w="28575" cap="flat" cmpd="sng" algn="ctr">
                      <a:solidFill>
                        <a:srgbClr val="0033CC"/>
                      </a:solidFill>
                      <a:prstDash val="solid"/>
                      <a:miter lim="800000"/>
                      <a:headEnd type="none" w="sm" len="sm"/>
                      <a:tailEnd type="none" w="sm" len="sm"/>
                    </a:lnL>
                    <a:lnR w="28575" cap="flat" cmpd="sng" algn="ctr">
                      <a:solidFill>
                        <a:srgbClr val="0033CC"/>
                      </a:solidFill>
                      <a:prstDash val="solid"/>
                      <a:miter lim="800000"/>
                      <a:headEnd type="none" w="sm" len="sm"/>
                      <a:tailEnd type="none" w="sm" len="sm"/>
                    </a:lnR>
                    <a:lnT w="28575" cap="flat" cmpd="sng" algn="ctr">
                      <a:solidFill>
                        <a:srgbClr val="0033CC"/>
                      </a:solidFill>
                      <a:prstDash val="solid"/>
                      <a:miter lim="800000"/>
                      <a:headEnd type="none" w="sm" len="sm"/>
                      <a:tailEnd type="none" w="sm" len="sm"/>
                    </a:lnT>
                    <a:lnB w="28575" cap="flat" cmpd="sng" algn="ctr">
                      <a:solidFill>
                        <a:srgbClr val="0033CC"/>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10002"/>
                  </a:ext>
                </a:extLst>
              </a:tr>
              <a:tr h="631825">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Comic Sans MS" pitchFamily="66" charset="0"/>
                          <a:ea typeface="ＭＳ Ｐゴシック" pitchFamily="34" charset="-128"/>
                        </a:rPr>
                        <a:t>3</a:t>
                      </a:r>
                    </a:p>
                  </a:txBody>
                  <a:tcPr horzOverflow="overflow">
                    <a:lnL>
                      <a:noFill/>
                    </a:lnL>
                    <a:lnR w="28575" cap="flat" cmpd="sng" algn="ctr">
                      <a:solidFill>
                        <a:srgbClr val="0033CC"/>
                      </a:solidFill>
                      <a:prstDash val="solid"/>
                      <a:miter lim="800000"/>
                      <a:headEnd type="none" w="sm" len="sm"/>
                      <a:tailEnd type="none" w="sm" len="sm"/>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1800" b="1" i="0" u="none" strike="noStrike" cap="none" normalizeH="0" baseline="0" dirty="0">
                          <a:ln>
                            <a:noFill/>
                          </a:ln>
                          <a:solidFill>
                            <a:schemeClr val="tx1"/>
                          </a:solidFill>
                          <a:effectLst/>
                          <a:latin typeface="Comic Sans MS" pitchFamily="66" charset="0"/>
                          <a:ea typeface="ＭＳ Ｐゴシック" pitchFamily="34" charset="-128"/>
                        </a:rPr>
                        <a:t>D</a:t>
                      </a:r>
                    </a:p>
                  </a:txBody>
                  <a:tcPr horzOverflow="overflow">
                    <a:lnL w="28575" cap="flat" cmpd="sng" algn="ctr">
                      <a:solidFill>
                        <a:srgbClr val="0033CC"/>
                      </a:solidFill>
                      <a:prstDash val="solid"/>
                      <a:miter lim="800000"/>
                      <a:headEnd type="none" w="sm" len="sm"/>
                      <a:tailEnd type="none" w="sm" len="sm"/>
                    </a:lnL>
                    <a:lnR w="28575" cap="flat" cmpd="sng" algn="ctr">
                      <a:solidFill>
                        <a:srgbClr val="0033CC"/>
                      </a:solidFill>
                      <a:prstDash val="solid"/>
                      <a:miter lim="800000"/>
                      <a:headEnd type="none" w="sm" len="sm"/>
                      <a:tailEnd type="none" w="sm" len="sm"/>
                    </a:lnR>
                    <a:lnT w="28575" cap="flat" cmpd="sng" algn="ctr">
                      <a:solidFill>
                        <a:srgbClr val="0033CC"/>
                      </a:solidFill>
                      <a:prstDash val="solid"/>
                      <a:miter lim="800000"/>
                      <a:headEnd type="none" w="sm" len="sm"/>
                      <a:tailEnd type="none" w="sm" len="sm"/>
                    </a:lnT>
                    <a:lnB w="28575" cap="flat" cmpd="sng" algn="ctr">
                      <a:solidFill>
                        <a:srgbClr val="0033CC"/>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endParaRPr kumimoji="0" lang="zh-CN" altLang="en-US" sz="1800" b="1" i="0" u="none" strike="noStrike" cap="none" normalizeH="0" baseline="0">
                        <a:ln>
                          <a:noFill/>
                        </a:ln>
                        <a:solidFill>
                          <a:schemeClr val="tx1"/>
                        </a:solidFill>
                        <a:effectLst/>
                        <a:latin typeface="Comic Sans MS" pitchFamily="66" charset="0"/>
                        <a:ea typeface="ＭＳ Ｐゴシック" pitchFamily="34" charset="-128"/>
                      </a:endParaRPr>
                    </a:p>
                  </a:txBody>
                  <a:tcPr horzOverflow="overflow">
                    <a:lnL w="28575" cap="flat" cmpd="sng" algn="ctr">
                      <a:solidFill>
                        <a:srgbClr val="0033CC"/>
                      </a:solidFill>
                      <a:prstDash val="solid"/>
                      <a:miter lim="800000"/>
                      <a:headEnd type="none" w="sm" len="sm"/>
                      <a:tailEnd type="none" w="sm" len="sm"/>
                    </a:lnL>
                    <a:lnR w="28575" cap="flat" cmpd="sng" algn="ctr">
                      <a:solidFill>
                        <a:srgbClr val="0033CC"/>
                      </a:solidFill>
                      <a:prstDash val="solid"/>
                      <a:miter lim="800000"/>
                      <a:headEnd type="none" w="sm" len="sm"/>
                      <a:tailEnd type="none" w="sm" len="sm"/>
                    </a:lnR>
                    <a:lnT w="28575" cap="flat" cmpd="sng" algn="ctr">
                      <a:solidFill>
                        <a:srgbClr val="0033CC"/>
                      </a:solidFill>
                      <a:prstDash val="solid"/>
                      <a:miter lim="800000"/>
                      <a:headEnd type="none" w="sm" len="sm"/>
                      <a:tailEnd type="none" w="sm" len="sm"/>
                    </a:lnT>
                    <a:lnB w="28575" cap="flat" cmpd="sng" algn="ctr">
                      <a:solidFill>
                        <a:srgbClr val="0033CC"/>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10003"/>
                  </a:ext>
                </a:extLst>
              </a:tr>
              <a:tr h="608013">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Comic Sans MS" pitchFamily="66" charset="0"/>
                          <a:ea typeface="ＭＳ Ｐゴシック" pitchFamily="34" charset="-128"/>
                        </a:rPr>
                        <a:t>4</a:t>
                      </a:r>
                    </a:p>
                  </a:txBody>
                  <a:tcPr horzOverflow="overflow">
                    <a:lnL>
                      <a:noFill/>
                    </a:lnL>
                    <a:lnR w="28575" cap="flat" cmpd="sng" algn="ctr">
                      <a:solidFill>
                        <a:srgbClr val="0033CC"/>
                      </a:solidFill>
                      <a:prstDash val="solid"/>
                      <a:miter lim="800000"/>
                      <a:headEnd type="none" w="sm" len="sm"/>
                      <a:tailEnd type="none" w="sm" len="sm"/>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Comic Sans MS" pitchFamily="66" charset="0"/>
                          <a:ea typeface="ＭＳ Ｐゴシック" pitchFamily="34" charset="-128"/>
                        </a:rPr>
                        <a:t>E</a:t>
                      </a:r>
                    </a:p>
                  </a:txBody>
                  <a:tcPr horzOverflow="overflow">
                    <a:lnL w="28575" cap="flat" cmpd="sng" algn="ctr">
                      <a:solidFill>
                        <a:srgbClr val="0033CC"/>
                      </a:solidFill>
                      <a:prstDash val="solid"/>
                      <a:miter lim="800000"/>
                      <a:headEnd type="none" w="sm" len="sm"/>
                      <a:tailEnd type="none" w="sm" len="sm"/>
                    </a:lnL>
                    <a:lnR w="28575" cap="flat" cmpd="sng" algn="ctr">
                      <a:solidFill>
                        <a:srgbClr val="0033CC"/>
                      </a:solidFill>
                      <a:prstDash val="solid"/>
                      <a:miter lim="800000"/>
                      <a:headEnd type="none" w="sm" len="sm"/>
                      <a:tailEnd type="none" w="sm" len="sm"/>
                    </a:lnR>
                    <a:lnT w="28575" cap="flat" cmpd="sng" algn="ctr">
                      <a:solidFill>
                        <a:srgbClr val="0033CC"/>
                      </a:solidFill>
                      <a:prstDash val="solid"/>
                      <a:miter lim="800000"/>
                      <a:headEnd type="none" w="sm" len="sm"/>
                      <a:tailEnd type="none" w="sm" len="sm"/>
                    </a:lnT>
                    <a:lnB w="28575" cap="flat" cmpd="sng" algn="ctr">
                      <a:solidFill>
                        <a:srgbClr val="0033CC"/>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endParaRPr kumimoji="0" lang="zh-CN" altLang="en-US" sz="1800" b="1" i="0" u="none" strike="noStrike" cap="none" normalizeH="0" baseline="0">
                        <a:ln>
                          <a:noFill/>
                        </a:ln>
                        <a:solidFill>
                          <a:schemeClr val="tx1"/>
                        </a:solidFill>
                        <a:effectLst/>
                        <a:latin typeface="Comic Sans MS" pitchFamily="66" charset="0"/>
                        <a:ea typeface="ＭＳ Ｐゴシック" pitchFamily="34" charset="-128"/>
                      </a:endParaRPr>
                    </a:p>
                  </a:txBody>
                  <a:tcPr horzOverflow="overflow">
                    <a:lnL w="28575" cap="flat" cmpd="sng" algn="ctr">
                      <a:solidFill>
                        <a:srgbClr val="0033CC"/>
                      </a:solidFill>
                      <a:prstDash val="solid"/>
                      <a:miter lim="800000"/>
                      <a:headEnd type="none" w="sm" len="sm"/>
                      <a:tailEnd type="none" w="sm" len="sm"/>
                    </a:lnL>
                    <a:lnR w="28575" cap="flat" cmpd="sng" algn="ctr">
                      <a:solidFill>
                        <a:srgbClr val="0033CC"/>
                      </a:solidFill>
                      <a:prstDash val="solid"/>
                      <a:miter lim="800000"/>
                      <a:headEnd type="none" w="sm" len="sm"/>
                      <a:tailEnd type="none" w="sm" len="sm"/>
                    </a:lnR>
                    <a:lnT w="28575" cap="flat" cmpd="sng" algn="ctr">
                      <a:solidFill>
                        <a:srgbClr val="0033CC"/>
                      </a:solidFill>
                      <a:prstDash val="solid"/>
                      <a:miter lim="800000"/>
                      <a:headEnd type="none" w="sm" len="sm"/>
                      <a:tailEnd type="none" w="sm" len="sm"/>
                    </a:lnT>
                    <a:lnB w="28575" cap="flat" cmpd="sng" algn="ctr">
                      <a:solidFill>
                        <a:srgbClr val="0033CC"/>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10004"/>
                  </a:ext>
                </a:extLst>
              </a:tr>
            </a:tbl>
          </a:graphicData>
        </a:graphic>
      </p:graphicFrame>
      <p:sp>
        <p:nvSpPr>
          <p:cNvPr id="40" name="Line 49"/>
          <p:cNvSpPr>
            <a:spLocks noChangeShapeType="1"/>
          </p:cNvSpPr>
          <p:nvPr/>
        </p:nvSpPr>
        <p:spPr bwMode="auto">
          <a:xfrm>
            <a:off x="6289873" y="2132732"/>
            <a:ext cx="647700" cy="0"/>
          </a:xfrm>
          <a:prstGeom prst="line">
            <a:avLst/>
          </a:prstGeom>
          <a:noFill/>
          <a:ln w="28575" cap="sq">
            <a:solidFill>
              <a:srgbClr val="0000FF"/>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41" name="Line 50"/>
          <p:cNvSpPr>
            <a:spLocks noChangeShapeType="1"/>
          </p:cNvSpPr>
          <p:nvPr/>
        </p:nvSpPr>
        <p:spPr bwMode="auto">
          <a:xfrm>
            <a:off x="7513836" y="2132732"/>
            <a:ext cx="647700" cy="0"/>
          </a:xfrm>
          <a:prstGeom prst="line">
            <a:avLst/>
          </a:prstGeom>
          <a:noFill/>
          <a:ln w="28575" cap="sq">
            <a:solidFill>
              <a:srgbClr val="0000FF"/>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42" name="Line 51"/>
          <p:cNvSpPr>
            <a:spLocks noChangeShapeType="1"/>
          </p:cNvSpPr>
          <p:nvPr/>
        </p:nvSpPr>
        <p:spPr bwMode="auto">
          <a:xfrm>
            <a:off x="6289873" y="2828057"/>
            <a:ext cx="647700" cy="0"/>
          </a:xfrm>
          <a:prstGeom prst="line">
            <a:avLst/>
          </a:prstGeom>
          <a:noFill/>
          <a:ln w="28575" cap="sq">
            <a:solidFill>
              <a:srgbClr val="0000FF"/>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aphicFrame>
        <p:nvGraphicFramePr>
          <p:cNvPr id="43" name="Group 196"/>
          <p:cNvGraphicFramePr>
            <a:graphicFrameLocks noGrp="1"/>
          </p:cNvGraphicFramePr>
          <p:nvPr>
            <p:extLst>
              <p:ext uri="{D42A27DB-BD31-4B8C-83A1-F6EECF244321}">
                <p14:modId xmlns:p14="http://schemas.microsoft.com/office/powerpoint/2010/main" val="1240414293"/>
              </p:ext>
            </p:extLst>
          </p:nvPr>
        </p:nvGraphicFramePr>
        <p:xfrm>
          <a:off x="6937573" y="1916832"/>
          <a:ext cx="744538" cy="365760"/>
        </p:xfrm>
        <a:graphic>
          <a:graphicData uri="http://schemas.openxmlformats.org/drawingml/2006/table">
            <a:tbl>
              <a:tblPr/>
              <a:tblGrid>
                <a:gridCol w="360363">
                  <a:extLst>
                    <a:ext uri="{9D8B030D-6E8A-4147-A177-3AD203B41FA5}">
                      <a16:colId xmlns:a16="http://schemas.microsoft.com/office/drawing/2014/main" val="20000"/>
                    </a:ext>
                  </a:extLst>
                </a:gridCol>
                <a:gridCol w="384175">
                  <a:extLst>
                    <a:ext uri="{9D8B030D-6E8A-4147-A177-3AD203B41FA5}">
                      <a16:colId xmlns:a16="http://schemas.microsoft.com/office/drawing/2014/main" val="20001"/>
                    </a:ext>
                  </a:extLst>
                </a:gridCol>
              </a:tblGrid>
              <a:tr h="287338">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Comic Sans MS" pitchFamily="66" charset="0"/>
                          <a:ea typeface="ＭＳ Ｐゴシック" pitchFamily="34" charset="-128"/>
                        </a:rPr>
                        <a:t>1</a:t>
                      </a:r>
                    </a:p>
                  </a:txBody>
                  <a:tcPr horzOverflow="overflow">
                    <a:lnL w="28575" cap="flat" cmpd="sng" algn="ctr">
                      <a:solidFill>
                        <a:srgbClr val="0033CC"/>
                      </a:solidFill>
                      <a:prstDash val="solid"/>
                      <a:miter lim="800000"/>
                      <a:headEnd type="none" w="sm" len="sm"/>
                      <a:tailEnd type="none" w="sm" len="sm"/>
                    </a:lnL>
                    <a:lnR w="28575" cap="flat" cmpd="sng" algn="ctr">
                      <a:solidFill>
                        <a:srgbClr val="0033CC"/>
                      </a:solidFill>
                      <a:prstDash val="solid"/>
                      <a:miter lim="800000"/>
                      <a:headEnd type="none" w="sm" len="sm"/>
                      <a:tailEnd type="none" w="sm" len="sm"/>
                    </a:lnR>
                    <a:lnT w="28575" cap="flat" cmpd="sng" algn="ctr">
                      <a:solidFill>
                        <a:srgbClr val="0033CC"/>
                      </a:solidFill>
                      <a:prstDash val="solid"/>
                      <a:miter lim="800000"/>
                      <a:headEnd type="none" w="sm" len="sm"/>
                      <a:tailEnd type="none" w="sm" len="sm"/>
                    </a:lnT>
                    <a:lnB w="28575" cap="flat" cmpd="sng" algn="ctr">
                      <a:solidFill>
                        <a:srgbClr val="0033CC"/>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endParaRPr kumimoji="0" lang="zh-CN" altLang="en-US" sz="1800" b="1" i="0" u="none" strike="noStrike" cap="none" normalizeH="0" baseline="0">
                        <a:ln>
                          <a:noFill/>
                        </a:ln>
                        <a:solidFill>
                          <a:schemeClr val="tx1"/>
                        </a:solidFill>
                        <a:effectLst/>
                        <a:latin typeface="Comic Sans MS" pitchFamily="66" charset="0"/>
                        <a:ea typeface="ＭＳ Ｐゴシック" pitchFamily="34" charset="-128"/>
                      </a:endParaRPr>
                    </a:p>
                  </a:txBody>
                  <a:tcPr horzOverflow="overflow">
                    <a:lnL w="28575" cap="flat" cmpd="sng" algn="ctr">
                      <a:solidFill>
                        <a:srgbClr val="0033CC"/>
                      </a:solidFill>
                      <a:prstDash val="solid"/>
                      <a:miter lim="800000"/>
                      <a:headEnd type="none" w="sm" len="sm"/>
                      <a:tailEnd type="none" w="sm" len="sm"/>
                    </a:lnL>
                    <a:lnR w="28575" cap="flat" cmpd="sng" algn="ctr">
                      <a:solidFill>
                        <a:srgbClr val="0033CC"/>
                      </a:solidFill>
                      <a:prstDash val="solid"/>
                      <a:miter lim="800000"/>
                      <a:headEnd type="none" w="sm" len="sm"/>
                      <a:tailEnd type="none" w="sm" len="sm"/>
                    </a:lnR>
                    <a:lnT w="28575" cap="flat" cmpd="sng" algn="ctr">
                      <a:solidFill>
                        <a:srgbClr val="0033CC"/>
                      </a:solidFill>
                      <a:prstDash val="solid"/>
                      <a:miter lim="800000"/>
                      <a:headEnd type="none" w="sm" len="sm"/>
                      <a:tailEnd type="none" w="sm" len="sm"/>
                    </a:lnT>
                    <a:lnB w="28575" cap="flat" cmpd="sng" algn="ctr">
                      <a:solidFill>
                        <a:srgbClr val="0033CC"/>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10000"/>
                  </a:ext>
                </a:extLst>
              </a:tr>
            </a:tbl>
          </a:graphicData>
        </a:graphic>
      </p:graphicFrame>
      <p:sp>
        <p:nvSpPr>
          <p:cNvPr id="44" name="Line 60"/>
          <p:cNvSpPr>
            <a:spLocks noChangeShapeType="1"/>
          </p:cNvSpPr>
          <p:nvPr/>
        </p:nvSpPr>
        <p:spPr bwMode="auto">
          <a:xfrm>
            <a:off x="7513836" y="2828057"/>
            <a:ext cx="647700" cy="0"/>
          </a:xfrm>
          <a:prstGeom prst="line">
            <a:avLst/>
          </a:prstGeom>
          <a:noFill/>
          <a:ln w="28575" cap="sq">
            <a:solidFill>
              <a:srgbClr val="0000FF"/>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45" name="Line 61"/>
          <p:cNvSpPr>
            <a:spLocks noChangeShapeType="1"/>
          </p:cNvSpPr>
          <p:nvPr/>
        </p:nvSpPr>
        <p:spPr bwMode="auto">
          <a:xfrm>
            <a:off x="8713986" y="2828057"/>
            <a:ext cx="647700" cy="0"/>
          </a:xfrm>
          <a:prstGeom prst="line">
            <a:avLst/>
          </a:prstGeom>
          <a:noFill/>
          <a:ln w="28575" cap="sq">
            <a:solidFill>
              <a:srgbClr val="0000FF"/>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aphicFrame>
        <p:nvGraphicFramePr>
          <p:cNvPr id="46" name="Group 195"/>
          <p:cNvGraphicFramePr>
            <a:graphicFrameLocks noGrp="1"/>
          </p:cNvGraphicFramePr>
          <p:nvPr>
            <p:extLst>
              <p:ext uri="{D42A27DB-BD31-4B8C-83A1-F6EECF244321}">
                <p14:modId xmlns:p14="http://schemas.microsoft.com/office/powerpoint/2010/main" val="670221415"/>
              </p:ext>
            </p:extLst>
          </p:nvPr>
        </p:nvGraphicFramePr>
        <p:xfrm>
          <a:off x="8161537" y="1916832"/>
          <a:ext cx="744537" cy="431800"/>
        </p:xfrm>
        <a:graphic>
          <a:graphicData uri="http://schemas.openxmlformats.org/drawingml/2006/table">
            <a:tbl>
              <a:tblPr/>
              <a:tblGrid>
                <a:gridCol w="360362">
                  <a:extLst>
                    <a:ext uri="{9D8B030D-6E8A-4147-A177-3AD203B41FA5}">
                      <a16:colId xmlns:a16="http://schemas.microsoft.com/office/drawing/2014/main" val="20000"/>
                    </a:ext>
                  </a:extLst>
                </a:gridCol>
                <a:gridCol w="384175">
                  <a:extLst>
                    <a:ext uri="{9D8B030D-6E8A-4147-A177-3AD203B41FA5}">
                      <a16:colId xmlns:a16="http://schemas.microsoft.com/office/drawing/2014/main" val="20001"/>
                    </a:ext>
                  </a:extLst>
                </a:gridCol>
              </a:tblGrid>
              <a:tr h="431800">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Comic Sans MS" pitchFamily="66" charset="0"/>
                          <a:ea typeface="ＭＳ Ｐゴシック" pitchFamily="34" charset="-128"/>
                        </a:rPr>
                        <a:t>4</a:t>
                      </a:r>
                    </a:p>
                  </a:txBody>
                  <a:tcPr horzOverflow="overflow">
                    <a:lnL w="28575" cap="flat" cmpd="sng" algn="ctr">
                      <a:solidFill>
                        <a:srgbClr val="0033CC"/>
                      </a:solidFill>
                      <a:prstDash val="solid"/>
                      <a:miter lim="800000"/>
                      <a:headEnd type="none" w="sm" len="sm"/>
                      <a:tailEnd type="none" w="sm" len="sm"/>
                    </a:lnL>
                    <a:lnR w="28575" cap="flat" cmpd="sng" algn="ctr">
                      <a:solidFill>
                        <a:srgbClr val="0033CC"/>
                      </a:solidFill>
                      <a:prstDash val="solid"/>
                      <a:miter lim="800000"/>
                      <a:headEnd type="none" w="sm" len="sm"/>
                      <a:tailEnd type="none" w="sm" len="sm"/>
                    </a:lnR>
                    <a:lnT w="28575" cap="flat" cmpd="sng" algn="ctr">
                      <a:solidFill>
                        <a:srgbClr val="0033CC"/>
                      </a:solidFill>
                      <a:prstDash val="solid"/>
                      <a:miter lim="800000"/>
                      <a:headEnd type="none" w="sm" len="sm"/>
                      <a:tailEnd type="none" w="sm" len="sm"/>
                    </a:lnT>
                    <a:lnB w="28575" cap="flat" cmpd="sng" algn="ctr">
                      <a:solidFill>
                        <a:srgbClr val="0033CC"/>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endParaRPr kumimoji="0" lang="zh-CN" altLang="en-US" sz="1800" b="1" i="0" u="none" strike="noStrike" cap="none" normalizeH="0" baseline="0">
                        <a:ln>
                          <a:noFill/>
                        </a:ln>
                        <a:solidFill>
                          <a:schemeClr val="tx1"/>
                        </a:solidFill>
                        <a:effectLst/>
                        <a:latin typeface="Comic Sans MS" pitchFamily="66" charset="0"/>
                        <a:ea typeface="ＭＳ Ｐゴシック" pitchFamily="34" charset="-128"/>
                      </a:endParaRPr>
                    </a:p>
                  </a:txBody>
                  <a:tcPr horzOverflow="overflow">
                    <a:lnL w="28575" cap="flat" cmpd="sng" algn="ctr">
                      <a:solidFill>
                        <a:srgbClr val="0033CC"/>
                      </a:solidFill>
                      <a:prstDash val="solid"/>
                      <a:miter lim="800000"/>
                      <a:headEnd type="none" w="sm" len="sm"/>
                      <a:tailEnd type="none" w="sm" len="sm"/>
                    </a:lnL>
                    <a:lnR w="28575" cap="flat" cmpd="sng" algn="ctr">
                      <a:solidFill>
                        <a:srgbClr val="0033CC"/>
                      </a:solidFill>
                      <a:prstDash val="solid"/>
                      <a:miter lim="800000"/>
                      <a:headEnd type="none" w="sm" len="sm"/>
                      <a:tailEnd type="none" w="sm" len="sm"/>
                    </a:lnR>
                    <a:lnT w="28575" cap="flat" cmpd="sng" algn="ctr">
                      <a:solidFill>
                        <a:srgbClr val="0033CC"/>
                      </a:solidFill>
                      <a:prstDash val="solid"/>
                      <a:miter lim="800000"/>
                      <a:headEnd type="none" w="sm" len="sm"/>
                      <a:tailEnd type="none" w="sm" len="sm"/>
                    </a:lnT>
                    <a:lnB w="28575" cap="flat" cmpd="sng" algn="ctr">
                      <a:solidFill>
                        <a:srgbClr val="0033CC"/>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10000"/>
                  </a:ext>
                </a:extLst>
              </a:tr>
            </a:tbl>
          </a:graphicData>
        </a:graphic>
      </p:graphicFrame>
      <p:sp>
        <p:nvSpPr>
          <p:cNvPr id="47" name="Line 70"/>
          <p:cNvSpPr>
            <a:spLocks noChangeShapeType="1"/>
          </p:cNvSpPr>
          <p:nvPr/>
        </p:nvSpPr>
        <p:spPr bwMode="auto">
          <a:xfrm>
            <a:off x="6289873" y="3404320"/>
            <a:ext cx="647700" cy="0"/>
          </a:xfrm>
          <a:prstGeom prst="line">
            <a:avLst/>
          </a:prstGeom>
          <a:noFill/>
          <a:ln w="28575" cap="sq">
            <a:solidFill>
              <a:srgbClr val="0000FF"/>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48" name="Line 71"/>
          <p:cNvSpPr>
            <a:spLocks noChangeShapeType="1"/>
          </p:cNvSpPr>
          <p:nvPr/>
        </p:nvSpPr>
        <p:spPr bwMode="auto">
          <a:xfrm>
            <a:off x="7513836" y="3404320"/>
            <a:ext cx="647700" cy="0"/>
          </a:xfrm>
          <a:prstGeom prst="line">
            <a:avLst/>
          </a:prstGeom>
          <a:noFill/>
          <a:ln w="28575" cap="sq">
            <a:solidFill>
              <a:srgbClr val="0000FF"/>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aphicFrame>
        <p:nvGraphicFramePr>
          <p:cNvPr id="49" name="Group 194"/>
          <p:cNvGraphicFramePr>
            <a:graphicFrameLocks noGrp="1"/>
          </p:cNvGraphicFramePr>
          <p:nvPr>
            <p:extLst>
              <p:ext uri="{D42A27DB-BD31-4B8C-83A1-F6EECF244321}">
                <p14:modId xmlns:p14="http://schemas.microsoft.com/office/powerpoint/2010/main" val="2283481562"/>
              </p:ext>
            </p:extLst>
          </p:nvPr>
        </p:nvGraphicFramePr>
        <p:xfrm>
          <a:off x="6937573" y="2612157"/>
          <a:ext cx="744538" cy="365760"/>
        </p:xfrm>
        <a:graphic>
          <a:graphicData uri="http://schemas.openxmlformats.org/drawingml/2006/table">
            <a:tbl>
              <a:tblPr/>
              <a:tblGrid>
                <a:gridCol w="360363">
                  <a:extLst>
                    <a:ext uri="{9D8B030D-6E8A-4147-A177-3AD203B41FA5}">
                      <a16:colId xmlns:a16="http://schemas.microsoft.com/office/drawing/2014/main" val="20000"/>
                    </a:ext>
                  </a:extLst>
                </a:gridCol>
                <a:gridCol w="384175">
                  <a:extLst>
                    <a:ext uri="{9D8B030D-6E8A-4147-A177-3AD203B41FA5}">
                      <a16:colId xmlns:a16="http://schemas.microsoft.com/office/drawing/2014/main" val="20001"/>
                    </a:ext>
                  </a:extLst>
                </a:gridCol>
              </a:tblGrid>
              <a:tr h="287338">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Comic Sans MS" pitchFamily="66" charset="0"/>
                          <a:ea typeface="ＭＳ Ｐゴシック" pitchFamily="34" charset="-128"/>
                        </a:rPr>
                        <a:t>0</a:t>
                      </a:r>
                    </a:p>
                  </a:txBody>
                  <a:tcPr horzOverflow="overflow">
                    <a:lnL w="28575" cap="flat" cmpd="sng" algn="ctr">
                      <a:solidFill>
                        <a:srgbClr val="0033CC"/>
                      </a:solidFill>
                      <a:prstDash val="solid"/>
                      <a:miter lim="800000"/>
                      <a:headEnd type="none" w="sm" len="sm"/>
                      <a:tailEnd type="none" w="sm" len="sm"/>
                    </a:lnL>
                    <a:lnR w="28575" cap="flat" cmpd="sng" algn="ctr">
                      <a:solidFill>
                        <a:srgbClr val="0033CC"/>
                      </a:solidFill>
                      <a:prstDash val="solid"/>
                      <a:miter lim="800000"/>
                      <a:headEnd type="none" w="sm" len="sm"/>
                      <a:tailEnd type="none" w="sm" len="sm"/>
                    </a:lnR>
                    <a:lnT w="28575" cap="flat" cmpd="sng" algn="ctr">
                      <a:solidFill>
                        <a:srgbClr val="0033CC"/>
                      </a:solidFill>
                      <a:prstDash val="solid"/>
                      <a:miter lim="800000"/>
                      <a:headEnd type="none" w="sm" len="sm"/>
                      <a:tailEnd type="none" w="sm" len="sm"/>
                    </a:lnT>
                    <a:lnB w="28575" cap="flat" cmpd="sng" algn="ctr">
                      <a:solidFill>
                        <a:srgbClr val="0033CC"/>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endParaRPr kumimoji="0" lang="zh-CN" altLang="en-US" sz="1800" b="1" i="0" u="none" strike="noStrike" cap="none" normalizeH="0" baseline="0">
                        <a:ln>
                          <a:noFill/>
                        </a:ln>
                        <a:solidFill>
                          <a:schemeClr val="tx1"/>
                        </a:solidFill>
                        <a:effectLst/>
                        <a:latin typeface="Comic Sans MS" pitchFamily="66" charset="0"/>
                        <a:ea typeface="ＭＳ Ｐゴシック" pitchFamily="34" charset="-128"/>
                      </a:endParaRPr>
                    </a:p>
                  </a:txBody>
                  <a:tcPr horzOverflow="overflow">
                    <a:lnL w="28575" cap="flat" cmpd="sng" algn="ctr">
                      <a:solidFill>
                        <a:srgbClr val="0033CC"/>
                      </a:solidFill>
                      <a:prstDash val="solid"/>
                      <a:miter lim="800000"/>
                      <a:headEnd type="none" w="sm" len="sm"/>
                      <a:tailEnd type="none" w="sm" len="sm"/>
                    </a:lnL>
                    <a:lnR w="28575" cap="flat" cmpd="sng" algn="ctr">
                      <a:solidFill>
                        <a:srgbClr val="0033CC"/>
                      </a:solidFill>
                      <a:prstDash val="solid"/>
                      <a:miter lim="800000"/>
                      <a:headEnd type="none" w="sm" len="sm"/>
                      <a:tailEnd type="none" w="sm" len="sm"/>
                    </a:lnR>
                    <a:lnT w="28575" cap="flat" cmpd="sng" algn="ctr">
                      <a:solidFill>
                        <a:srgbClr val="0033CC"/>
                      </a:solidFill>
                      <a:prstDash val="solid"/>
                      <a:miter lim="800000"/>
                      <a:headEnd type="none" w="sm" len="sm"/>
                      <a:tailEnd type="none" w="sm" len="sm"/>
                    </a:lnT>
                    <a:lnB w="28575" cap="flat" cmpd="sng" algn="ctr">
                      <a:solidFill>
                        <a:srgbClr val="0033CC"/>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10000"/>
                  </a:ext>
                </a:extLst>
              </a:tr>
            </a:tbl>
          </a:graphicData>
        </a:graphic>
      </p:graphicFrame>
      <p:sp>
        <p:nvSpPr>
          <p:cNvPr id="50" name="Line 80"/>
          <p:cNvSpPr>
            <a:spLocks noChangeShapeType="1"/>
          </p:cNvSpPr>
          <p:nvPr/>
        </p:nvSpPr>
        <p:spPr bwMode="auto">
          <a:xfrm>
            <a:off x="8713986" y="3404320"/>
            <a:ext cx="647700" cy="0"/>
          </a:xfrm>
          <a:prstGeom prst="line">
            <a:avLst/>
          </a:prstGeom>
          <a:noFill/>
          <a:ln w="28575" cap="sq">
            <a:solidFill>
              <a:srgbClr val="0000FF"/>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51" name="Line 81"/>
          <p:cNvSpPr>
            <a:spLocks noChangeShapeType="1"/>
          </p:cNvSpPr>
          <p:nvPr/>
        </p:nvSpPr>
        <p:spPr bwMode="auto">
          <a:xfrm>
            <a:off x="6289873" y="4004395"/>
            <a:ext cx="647700" cy="0"/>
          </a:xfrm>
          <a:prstGeom prst="line">
            <a:avLst/>
          </a:prstGeom>
          <a:noFill/>
          <a:ln w="28575" cap="sq">
            <a:solidFill>
              <a:srgbClr val="0000FF"/>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aphicFrame>
        <p:nvGraphicFramePr>
          <p:cNvPr id="52" name="Group 193"/>
          <p:cNvGraphicFramePr>
            <a:graphicFrameLocks noGrp="1"/>
          </p:cNvGraphicFramePr>
          <p:nvPr>
            <p:extLst>
              <p:ext uri="{D42A27DB-BD31-4B8C-83A1-F6EECF244321}">
                <p14:modId xmlns:p14="http://schemas.microsoft.com/office/powerpoint/2010/main" val="4248907451"/>
              </p:ext>
            </p:extLst>
          </p:nvPr>
        </p:nvGraphicFramePr>
        <p:xfrm>
          <a:off x="8161537" y="2612158"/>
          <a:ext cx="744537" cy="384175"/>
        </p:xfrm>
        <a:graphic>
          <a:graphicData uri="http://schemas.openxmlformats.org/drawingml/2006/table">
            <a:tbl>
              <a:tblPr/>
              <a:tblGrid>
                <a:gridCol w="360362">
                  <a:extLst>
                    <a:ext uri="{9D8B030D-6E8A-4147-A177-3AD203B41FA5}">
                      <a16:colId xmlns:a16="http://schemas.microsoft.com/office/drawing/2014/main" val="20000"/>
                    </a:ext>
                  </a:extLst>
                </a:gridCol>
                <a:gridCol w="384175">
                  <a:extLst>
                    <a:ext uri="{9D8B030D-6E8A-4147-A177-3AD203B41FA5}">
                      <a16:colId xmlns:a16="http://schemas.microsoft.com/office/drawing/2014/main" val="20001"/>
                    </a:ext>
                  </a:extLst>
                </a:gridCol>
              </a:tblGrid>
              <a:tr h="384175">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Comic Sans MS" pitchFamily="66" charset="0"/>
                          <a:ea typeface="ＭＳ Ｐゴシック" pitchFamily="34" charset="-128"/>
                        </a:rPr>
                        <a:t>2</a:t>
                      </a:r>
                    </a:p>
                  </a:txBody>
                  <a:tcPr horzOverflow="overflow">
                    <a:lnL w="28575" cap="flat" cmpd="sng" algn="ctr">
                      <a:solidFill>
                        <a:srgbClr val="0033CC"/>
                      </a:solidFill>
                      <a:prstDash val="solid"/>
                      <a:miter lim="800000"/>
                      <a:headEnd type="none" w="sm" len="sm"/>
                      <a:tailEnd type="none" w="sm" len="sm"/>
                    </a:lnL>
                    <a:lnR w="28575" cap="flat" cmpd="sng" algn="ctr">
                      <a:solidFill>
                        <a:srgbClr val="0033CC"/>
                      </a:solidFill>
                      <a:prstDash val="solid"/>
                      <a:miter lim="800000"/>
                      <a:headEnd type="none" w="sm" len="sm"/>
                      <a:tailEnd type="none" w="sm" len="sm"/>
                    </a:lnR>
                    <a:lnT w="28575" cap="flat" cmpd="sng" algn="ctr">
                      <a:solidFill>
                        <a:srgbClr val="0033CC"/>
                      </a:solidFill>
                      <a:prstDash val="solid"/>
                      <a:miter lim="800000"/>
                      <a:headEnd type="none" w="sm" len="sm"/>
                      <a:tailEnd type="none" w="sm" len="sm"/>
                    </a:lnT>
                    <a:lnB w="28575" cap="flat" cmpd="sng" algn="ctr">
                      <a:solidFill>
                        <a:srgbClr val="0033CC"/>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endParaRPr kumimoji="0" lang="zh-CN" altLang="en-US" sz="1800" b="1" i="0" u="none" strike="noStrike" cap="none" normalizeH="0" baseline="0">
                        <a:ln>
                          <a:noFill/>
                        </a:ln>
                        <a:solidFill>
                          <a:schemeClr val="tx1"/>
                        </a:solidFill>
                        <a:effectLst/>
                        <a:latin typeface="Comic Sans MS" pitchFamily="66" charset="0"/>
                        <a:ea typeface="ＭＳ Ｐゴシック" pitchFamily="34" charset="-128"/>
                      </a:endParaRPr>
                    </a:p>
                  </a:txBody>
                  <a:tcPr horzOverflow="overflow">
                    <a:lnL w="28575" cap="flat" cmpd="sng" algn="ctr">
                      <a:solidFill>
                        <a:srgbClr val="0033CC"/>
                      </a:solidFill>
                      <a:prstDash val="solid"/>
                      <a:miter lim="800000"/>
                      <a:headEnd type="none" w="sm" len="sm"/>
                      <a:tailEnd type="none" w="sm" len="sm"/>
                    </a:lnL>
                    <a:lnR w="28575" cap="flat" cmpd="sng" algn="ctr">
                      <a:solidFill>
                        <a:srgbClr val="0033CC"/>
                      </a:solidFill>
                      <a:prstDash val="solid"/>
                      <a:miter lim="800000"/>
                      <a:headEnd type="none" w="sm" len="sm"/>
                      <a:tailEnd type="none" w="sm" len="sm"/>
                    </a:lnR>
                    <a:lnT w="28575" cap="flat" cmpd="sng" algn="ctr">
                      <a:solidFill>
                        <a:srgbClr val="0033CC"/>
                      </a:solidFill>
                      <a:prstDash val="solid"/>
                      <a:miter lim="800000"/>
                      <a:headEnd type="none" w="sm" len="sm"/>
                      <a:tailEnd type="none" w="sm" len="sm"/>
                    </a:lnT>
                    <a:lnB w="28575" cap="flat" cmpd="sng" algn="ctr">
                      <a:solidFill>
                        <a:srgbClr val="0033CC"/>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10000"/>
                  </a:ext>
                </a:extLst>
              </a:tr>
            </a:tbl>
          </a:graphicData>
        </a:graphic>
      </p:graphicFrame>
      <p:sp>
        <p:nvSpPr>
          <p:cNvPr id="53" name="Line 90"/>
          <p:cNvSpPr>
            <a:spLocks noChangeShapeType="1"/>
          </p:cNvSpPr>
          <p:nvPr/>
        </p:nvSpPr>
        <p:spPr bwMode="auto">
          <a:xfrm>
            <a:off x="7513836" y="4004395"/>
            <a:ext cx="647700" cy="0"/>
          </a:xfrm>
          <a:prstGeom prst="line">
            <a:avLst/>
          </a:prstGeom>
          <a:noFill/>
          <a:ln w="28575" cap="sq">
            <a:solidFill>
              <a:srgbClr val="0000FF"/>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aphicFrame>
        <p:nvGraphicFramePr>
          <p:cNvPr id="54" name="Group 192"/>
          <p:cNvGraphicFramePr>
            <a:graphicFrameLocks noGrp="1"/>
          </p:cNvGraphicFramePr>
          <p:nvPr>
            <p:extLst>
              <p:ext uri="{D42A27DB-BD31-4B8C-83A1-F6EECF244321}">
                <p14:modId xmlns:p14="http://schemas.microsoft.com/office/powerpoint/2010/main" val="1642302167"/>
              </p:ext>
            </p:extLst>
          </p:nvPr>
        </p:nvGraphicFramePr>
        <p:xfrm>
          <a:off x="9361687" y="2635970"/>
          <a:ext cx="744537" cy="407988"/>
        </p:xfrm>
        <a:graphic>
          <a:graphicData uri="http://schemas.openxmlformats.org/drawingml/2006/table">
            <a:tbl>
              <a:tblPr/>
              <a:tblGrid>
                <a:gridCol w="384175">
                  <a:extLst>
                    <a:ext uri="{9D8B030D-6E8A-4147-A177-3AD203B41FA5}">
                      <a16:colId xmlns:a16="http://schemas.microsoft.com/office/drawing/2014/main" val="20000"/>
                    </a:ext>
                  </a:extLst>
                </a:gridCol>
                <a:gridCol w="360362">
                  <a:extLst>
                    <a:ext uri="{9D8B030D-6E8A-4147-A177-3AD203B41FA5}">
                      <a16:colId xmlns:a16="http://schemas.microsoft.com/office/drawing/2014/main" val="20001"/>
                    </a:ext>
                  </a:extLst>
                </a:gridCol>
              </a:tblGrid>
              <a:tr h="407988">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Comic Sans MS" pitchFamily="66" charset="0"/>
                          <a:ea typeface="ＭＳ Ｐゴシック" pitchFamily="34" charset="-128"/>
                        </a:rPr>
                        <a:t>3</a:t>
                      </a:r>
                    </a:p>
                  </a:txBody>
                  <a:tcPr horzOverflow="overflow">
                    <a:lnL w="28575" cap="flat" cmpd="sng" algn="ctr">
                      <a:solidFill>
                        <a:srgbClr val="0033CC"/>
                      </a:solidFill>
                      <a:prstDash val="solid"/>
                      <a:miter lim="800000"/>
                      <a:headEnd type="none" w="sm" len="sm"/>
                      <a:tailEnd type="none" w="sm" len="sm"/>
                    </a:lnL>
                    <a:lnR w="28575" cap="flat" cmpd="sng" algn="ctr">
                      <a:solidFill>
                        <a:srgbClr val="0033CC"/>
                      </a:solidFill>
                      <a:prstDash val="solid"/>
                      <a:miter lim="800000"/>
                      <a:headEnd type="none" w="sm" len="sm"/>
                      <a:tailEnd type="none" w="sm" len="sm"/>
                    </a:lnR>
                    <a:lnT w="28575" cap="flat" cmpd="sng" algn="ctr">
                      <a:solidFill>
                        <a:srgbClr val="0033CC"/>
                      </a:solidFill>
                      <a:prstDash val="solid"/>
                      <a:miter lim="800000"/>
                      <a:headEnd type="none" w="sm" len="sm"/>
                      <a:tailEnd type="none" w="sm" len="sm"/>
                    </a:lnT>
                    <a:lnB w="28575" cap="flat" cmpd="sng" algn="ctr">
                      <a:solidFill>
                        <a:srgbClr val="0033CC"/>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endParaRPr kumimoji="0" lang="zh-CN" altLang="en-US" sz="1800" b="1" i="0" u="none" strike="noStrike" cap="none" normalizeH="0" baseline="0">
                        <a:ln>
                          <a:noFill/>
                        </a:ln>
                        <a:solidFill>
                          <a:schemeClr val="tx1"/>
                        </a:solidFill>
                        <a:effectLst/>
                        <a:latin typeface="Comic Sans MS" pitchFamily="66" charset="0"/>
                        <a:ea typeface="ＭＳ Ｐゴシック" pitchFamily="34" charset="-128"/>
                      </a:endParaRPr>
                    </a:p>
                  </a:txBody>
                  <a:tcPr horzOverflow="overflow">
                    <a:lnL w="28575" cap="flat" cmpd="sng" algn="ctr">
                      <a:solidFill>
                        <a:srgbClr val="0033CC"/>
                      </a:solidFill>
                      <a:prstDash val="solid"/>
                      <a:miter lim="800000"/>
                      <a:headEnd type="none" w="sm" len="sm"/>
                      <a:tailEnd type="none" w="sm" len="sm"/>
                    </a:lnL>
                    <a:lnR w="28575" cap="flat" cmpd="sng" algn="ctr">
                      <a:solidFill>
                        <a:srgbClr val="0033CC"/>
                      </a:solidFill>
                      <a:prstDash val="solid"/>
                      <a:miter lim="800000"/>
                      <a:headEnd type="none" w="sm" len="sm"/>
                      <a:tailEnd type="none" w="sm" len="sm"/>
                    </a:lnR>
                    <a:lnT w="28575" cap="flat" cmpd="sng" algn="ctr">
                      <a:solidFill>
                        <a:srgbClr val="0033CC"/>
                      </a:solidFill>
                      <a:prstDash val="solid"/>
                      <a:miter lim="800000"/>
                      <a:headEnd type="none" w="sm" len="sm"/>
                      <a:tailEnd type="none" w="sm" len="sm"/>
                    </a:lnT>
                    <a:lnB w="28575" cap="flat" cmpd="sng" algn="ctr">
                      <a:solidFill>
                        <a:srgbClr val="0033CC"/>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10000"/>
                  </a:ext>
                </a:extLst>
              </a:tr>
            </a:tbl>
          </a:graphicData>
        </a:graphic>
      </p:graphicFrame>
      <p:sp>
        <p:nvSpPr>
          <p:cNvPr id="55" name="Line 99"/>
          <p:cNvSpPr>
            <a:spLocks noChangeShapeType="1"/>
          </p:cNvSpPr>
          <p:nvPr/>
        </p:nvSpPr>
        <p:spPr bwMode="auto">
          <a:xfrm>
            <a:off x="8713986" y="4004395"/>
            <a:ext cx="647700" cy="0"/>
          </a:xfrm>
          <a:prstGeom prst="line">
            <a:avLst/>
          </a:prstGeom>
          <a:noFill/>
          <a:ln w="28575" cap="sq">
            <a:solidFill>
              <a:srgbClr val="0000FF"/>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56" name="Line 100"/>
          <p:cNvSpPr>
            <a:spLocks noChangeShapeType="1"/>
          </p:cNvSpPr>
          <p:nvPr/>
        </p:nvSpPr>
        <p:spPr bwMode="auto">
          <a:xfrm>
            <a:off x="6289873" y="4652095"/>
            <a:ext cx="647700" cy="0"/>
          </a:xfrm>
          <a:prstGeom prst="line">
            <a:avLst/>
          </a:prstGeom>
          <a:noFill/>
          <a:ln w="28575" cap="sq">
            <a:solidFill>
              <a:srgbClr val="0000FF"/>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aphicFrame>
        <p:nvGraphicFramePr>
          <p:cNvPr id="57" name="Group 191"/>
          <p:cNvGraphicFramePr>
            <a:graphicFrameLocks noGrp="1"/>
          </p:cNvGraphicFramePr>
          <p:nvPr>
            <p:extLst>
              <p:ext uri="{D42A27DB-BD31-4B8C-83A1-F6EECF244321}">
                <p14:modId xmlns:p14="http://schemas.microsoft.com/office/powerpoint/2010/main" val="1561546124"/>
              </p:ext>
            </p:extLst>
          </p:nvPr>
        </p:nvGraphicFramePr>
        <p:xfrm>
          <a:off x="6937573" y="3188420"/>
          <a:ext cx="744538" cy="365760"/>
        </p:xfrm>
        <a:graphic>
          <a:graphicData uri="http://schemas.openxmlformats.org/drawingml/2006/table">
            <a:tbl>
              <a:tblPr/>
              <a:tblGrid>
                <a:gridCol w="360363">
                  <a:extLst>
                    <a:ext uri="{9D8B030D-6E8A-4147-A177-3AD203B41FA5}">
                      <a16:colId xmlns:a16="http://schemas.microsoft.com/office/drawing/2014/main" val="20000"/>
                    </a:ext>
                  </a:extLst>
                </a:gridCol>
                <a:gridCol w="384175">
                  <a:extLst>
                    <a:ext uri="{9D8B030D-6E8A-4147-A177-3AD203B41FA5}">
                      <a16:colId xmlns:a16="http://schemas.microsoft.com/office/drawing/2014/main" val="20001"/>
                    </a:ext>
                  </a:extLst>
                </a:gridCol>
              </a:tblGrid>
              <a:tr h="287338">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Comic Sans MS" pitchFamily="66" charset="0"/>
                          <a:ea typeface="ＭＳ Ｐゴシック" pitchFamily="34" charset="-128"/>
                        </a:rPr>
                        <a:t>1</a:t>
                      </a:r>
                    </a:p>
                  </a:txBody>
                  <a:tcPr horzOverflow="overflow">
                    <a:lnL w="28575" cap="flat" cmpd="sng" algn="ctr">
                      <a:solidFill>
                        <a:srgbClr val="0033CC"/>
                      </a:solidFill>
                      <a:prstDash val="solid"/>
                      <a:miter lim="800000"/>
                      <a:headEnd type="none" w="sm" len="sm"/>
                      <a:tailEnd type="none" w="sm" len="sm"/>
                    </a:lnL>
                    <a:lnR w="28575" cap="flat" cmpd="sng" algn="ctr">
                      <a:solidFill>
                        <a:srgbClr val="0033CC"/>
                      </a:solidFill>
                      <a:prstDash val="solid"/>
                      <a:miter lim="800000"/>
                      <a:headEnd type="none" w="sm" len="sm"/>
                      <a:tailEnd type="none" w="sm" len="sm"/>
                    </a:lnR>
                    <a:lnT w="28575" cap="flat" cmpd="sng" algn="ctr">
                      <a:solidFill>
                        <a:srgbClr val="0033CC"/>
                      </a:solidFill>
                      <a:prstDash val="solid"/>
                      <a:miter lim="800000"/>
                      <a:headEnd type="none" w="sm" len="sm"/>
                      <a:tailEnd type="none" w="sm" len="sm"/>
                    </a:lnT>
                    <a:lnB w="28575" cap="flat" cmpd="sng" algn="ctr">
                      <a:solidFill>
                        <a:srgbClr val="0033CC"/>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endParaRPr kumimoji="0" lang="zh-CN" altLang="en-US" sz="1800" b="1" i="0" u="none" strike="noStrike" cap="none" normalizeH="0" baseline="0">
                        <a:ln>
                          <a:noFill/>
                        </a:ln>
                        <a:solidFill>
                          <a:schemeClr val="tx1"/>
                        </a:solidFill>
                        <a:effectLst/>
                        <a:latin typeface="Comic Sans MS" pitchFamily="66" charset="0"/>
                        <a:ea typeface="ＭＳ Ｐゴシック" pitchFamily="34" charset="-128"/>
                      </a:endParaRPr>
                    </a:p>
                  </a:txBody>
                  <a:tcPr horzOverflow="overflow">
                    <a:lnL w="28575" cap="flat" cmpd="sng" algn="ctr">
                      <a:solidFill>
                        <a:srgbClr val="0033CC"/>
                      </a:solidFill>
                      <a:prstDash val="solid"/>
                      <a:miter lim="800000"/>
                      <a:headEnd type="none" w="sm" len="sm"/>
                      <a:tailEnd type="none" w="sm" len="sm"/>
                    </a:lnL>
                    <a:lnR w="28575" cap="flat" cmpd="sng" algn="ctr">
                      <a:solidFill>
                        <a:srgbClr val="0033CC"/>
                      </a:solidFill>
                      <a:prstDash val="solid"/>
                      <a:miter lim="800000"/>
                      <a:headEnd type="none" w="sm" len="sm"/>
                      <a:tailEnd type="none" w="sm" len="sm"/>
                    </a:lnR>
                    <a:lnT w="28575" cap="flat" cmpd="sng" algn="ctr">
                      <a:solidFill>
                        <a:srgbClr val="0033CC"/>
                      </a:solidFill>
                      <a:prstDash val="solid"/>
                      <a:miter lim="800000"/>
                      <a:headEnd type="none" w="sm" len="sm"/>
                      <a:tailEnd type="none" w="sm" len="sm"/>
                    </a:lnT>
                    <a:lnB w="28575" cap="flat" cmpd="sng" algn="ctr">
                      <a:solidFill>
                        <a:srgbClr val="0033CC"/>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10000"/>
                  </a:ext>
                </a:extLst>
              </a:tr>
            </a:tbl>
          </a:graphicData>
        </a:graphic>
      </p:graphicFrame>
      <p:sp>
        <p:nvSpPr>
          <p:cNvPr id="58" name="Line 109"/>
          <p:cNvSpPr>
            <a:spLocks noChangeShapeType="1"/>
          </p:cNvSpPr>
          <p:nvPr/>
        </p:nvSpPr>
        <p:spPr bwMode="auto">
          <a:xfrm>
            <a:off x="7513836" y="4652095"/>
            <a:ext cx="647700" cy="0"/>
          </a:xfrm>
          <a:prstGeom prst="line">
            <a:avLst/>
          </a:prstGeom>
          <a:noFill/>
          <a:ln w="28575" cap="sq">
            <a:solidFill>
              <a:srgbClr val="0000FF"/>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59" name="Line 110"/>
          <p:cNvSpPr>
            <a:spLocks noChangeShapeType="1"/>
          </p:cNvSpPr>
          <p:nvPr/>
        </p:nvSpPr>
        <p:spPr bwMode="auto">
          <a:xfrm>
            <a:off x="8713986" y="4652095"/>
            <a:ext cx="647700" cy="0"/>
          </a:xfrm>
          <a:prstGeom prst="line">
            <a:avLst/>
          </a:prstGeom>
          <a:noFill/>
          <a:ln w="28575" cap="sq">
            <a:solidFill>
              <a:srgbClr val="0000FF"/>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60" name="Rectangle 111"/>
          <p:cNvSpPr>
            <a:spLocks noChangeArrowheads="1"/>
          </p:cNvSpPr>
          <p:nvPr/>
        </p:nvSpPr>
        <p:spPr bwMode="auto">
          <a:xfrm>
            <a:off x="8534598" y="1967633"/>
            <a:ext cx="33855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p>
            <a:r>
              <a:rPr lang="en-US" altLang="zh-CN" sz="2400" b="1"/>
              <a:t>^</a:t>
            </a:r>
          </a:p>
        </p:txBody>
      </p:sp>
      <p:sp>
        <p:nvSpPr>
          <p:cNvPr id="61" name="Rectangle 112"/>
          <p:cNvSpPr>
            <a:spLocks noChangeArrowheads="1"/>
          </p:cNvSpPr>
          <p:nvPr/>
        </p:nvSpPr>
        <p:spPr bwMode="auto">
          <a:xfrm>
            <a:off x="9758561" y="2640733"/>
            <a:ext cx="33855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p>
            <a:r>
              <a:rPr lang="en-US" altLang="zh-CN" sz="2400" b="1"/>
              <a:t>^</a:t>
            </a:r>
          </a:p>
        </p:txBody>
      </p:sp>
      <p:sp>
        <p:nvSpPr>
          <p:cNvPr id="62" name="Rectangle 113"/>
          <p:cNvSpPr>
            <a:spLocks noChangeArrowheads="1"/>
          </p:cNvSpPr>
          <p:nvPr/>
        </p:nvSpPr>
        <p:spPr bwMode="auto">
          <a:xfrm>
            <a:off x="9758561" y="3290021"/>
            <a:ext cx="33855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p>
            <a:r>
              <a:rPr lang="en-US" altLang="zh-CN" sz="2400" b="1"/>
              <a:t>^</a:t>
            </a:r>
          </a:p>
        </p:txBody>
      </p:sp>
      <p:graphicFrame>
        <p:nvGraphicFramePr>
          <p:cNvPr id="63" name="Group 190"/>
          <p:cNvGraphicFramePr>
            <a:graphicFrameLocks noGrp="1"/>
          </p:cNvGraphicFramePr>
          <p:nvPr>
            <p:extLst>
              <p:ext uri="{D42A27DB-BD31-4B8C-83A1-F6EECF244321}">
                <p14:modId xmlns:p14="http://schemas.microsoft.com/office/powerpoint/2010/main" val="1319478503"/>
              </p:ext>
            </p:extLst>
          </p:nvPr>
        </p:nvGraphicFramePr>
        <p:xfrm>
          <a:off x="8161537" y="3188421"/>
          <a:ext cx="744537" cy="384175"/>
        </p:xfrm>
        <a:graphic>
          <a:graphicData uri="http://schemas.openxmlformats.org/drawingml/2006/table">
            <a:tbl>
              <a:tblPr/>
              <a:tblGrid>
                <a:gridCol w="360362">
                  <a:extLst>
                    <a:ext uri="{9D8B030D-6E8A-4147-A177-3AD203B41FA5}">
                      <a16:colId xmlns:a16="http://schemas.microsoft.com/office/drawing/2014/main" val="20000"/>
                    </a:ext>
                  </a:extLst>
                </a:gridCol>
                <a:gridCol w="384175">
                  <a:extLst>
                    <a:ext uri="{9D8B030D-6E8A-4147-A177-3AD203B41FA5}">
                      <a16:colId xmlns:a16="http://schemas.microsoft.com/office/drawing/2014/main" val="20001"/>
                    </a:ext>
                  </a:extLst>
                </a:gridCol>
              </a:tblGrid>
              <a:tr h="384175">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Comic Sans MS" pitchFamily="66" charset="0"/>
                          <a:ea typeface="ＭＳ Ｐゴシック" pitchFamily="34" charset="-128"/>
                        </a:rPr>
                        <a:t>3</a:t>
                      </a:r>
                    </a:p>
                  </a:txBody>
                  <a:tcPr horzOverflow="overflow">
                    <a:lnL w="28575" cap="flat" cmpd="sng" algn="ctr">
                      <a:solidFill>
                        <a:srgbClr val="0033CC"/>
                      </a:solidFill>
                      <a:prstDash val="solid"/>
                      <a:miter lim="800000"/>
                      <a:headEnd type="none" w="sm" len="sm"/>
                      <a:tailEnd type="none" w="sm" len="sm"/>
                    </a:lnL>
                    <a:lnR w="28575" cap="flat" cmpd="sng" algn="ctr">
                      <a:solidFill>
                        <a:srgbClr val="0033CC"/>
                      </a:solidFill>
                      <a:prstDash val="solid"/>
                      <a:miter lim="800000"/>
                      <a:headEnd type="none" w="sm" len="sm"/>
                      <a:tailEnd type="none" w="sm" len="sm"/>
                    </a:lnR>
                    <a:lnT w="28575" cap="flat" cmpd="sng" algn="ctr">
                      <a:solidFill>
                        <a:srgbClr val="0033CC"/>
                      </a:solidFill>
                      <a:prstDash val="solid"/>
                      <a:miter lim="800000"/>
                      <a:headEnd type="none" w="sm" len="sm"/>
                      <a:tailEnd type="none" w="sm" len="sm"/>
                    </a:lnT>
                    <a:lnB w="28575" cap="flat" cmpd="sng" algn="ctr">
                      <a:solidFill>
                        <a:srgbClr val="0033CC"/>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endParaRPr kumimoji="0" lang="zh-CN" altLang="en-US" sz="1800" b="1" i="0" u="none" strike="noStrike" cap="none" normalizeH="0" baseline="0">
                        <a:ln>
                          <a:noFill/>
                        </a:ln>
                        <a:solidFill>
                          <a:schemeClr val="tx1"/>
                        </a:solidFill>
                        <a:effectLst/>
                        <a:latin typeface="Comic Sans MS" pitchFamily="66" charset="0"/>
                        <a:ea typeface="ＭＳ Ｐゴシック" pitchFamily="34" charset="-128"/>
                      </a:endParaRPr>
                    </a:p>
                  </a:txBody>
                  <a:tcPr horzOverflow="overflow">
                    <a:lnL w="28575" cap="flat" cmpd="sng" algn="ctr">
                      <a:solidFill>
                        <a:srgbClr val="0033CC"/>
                      </a:solidFill>
                      <a:prstDash val="solid"/>
                      <a:miter lim="800000"/>
                      <a:headEnd type="none" w="sm" len="sm"/>
                      <a:tailEnd type="none" w="sm" len="sm"/>
                    </a:lnL>
                    <a:lnR w="28575" cap="flat" cmpd="sng" algn="ctr">
                      <a:solidFill>
                        <a:srgbClr val="0033CC"/>
                      </a:solidFill>
                      <a:prstDash val="solid"/>
                      <a:miter lim="800000"/>
                      <a:headEnd type="none" w="sm" len="sm"/>
                      <a:tailEnd type="none" w="sm" len="sm"/>
                    </a:lnR>
                    <a:lnT w="28575" cap="flat" cmpd="sng" algn="ctr">
                      <a:solidFill>
                        <a:srgbClr val="0033CC"/>
                      </a:solidFill>
                      <a:prstDash val="solid"/>
                      <a:miter lim="800000"/>
                      <a:headEnd type="none" w="sm" len="sm"/>
                      <a:tailEnd type="none" w="sm" len="sm"/>
                    </a:lnT>
                    <a:lnB w="28575" cap="flat" cmpd="sng" algn="ctr">
                      <a:solidFill>
                        <a:srgbClr val="0033CC"/>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10000"/>
                  </a:ext>
                </a:extLst>
              </a:tr>
            </a:tbl>
          </a:graphicData>
        </a:graphic>
      </p:graphicFrame>
      <p:sp>
        <p:nvSpPr>
          <p:cNvPr id="64" name="Rectangle 122"/>
          <p:cNvSpPr>
            <a:spLocks noChangeArrowheads="1"/>
          </p:cNvSpPr>
          <p:nvPr/>
        </p:nvSpPr>
        <p:spPr bwMode="auto">
          <a:xfrm>
            <a:off x="9758561" y="3864696"/>
            <a:ext cx="33855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p>
            <a:r>
              <a:rPr lang="en-US" altLang="zh-CN" sz="2400" b="1"/>
              <a:t>^</a:t>
            </a:r>
          </a:p>
        </p:txBody>
      </p:sp>
      <p:sp>
        <p:nvSpPr>
          <p:cNvPr id="65" name="Rectangle 123"/>
          <p:cNvSpPr>
            <a:spLocks noChangeArrowheads="1"/>
          </p:cNvSpPr>
          <p:nvPr/>
        </p:nvSpPr>
        <p:spPr bwMode="auto">
          <a:xfrm>
            <a:off x="9758561" y="4513983"/>
            <a:ext cx="33855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p>
            <a:r>
              <a:rPr lang="en-US" altLang="zh-CN" sz="2400" b="1"/>
              <a:t>^</a:t>
            </a:r>
          </a:p>
        </p:txBody>
      </p:sp>
      <p:graphicFrame>
        <p:nvGraphicFramePr>
          <p:cNvPr id="66" name="Group 189"/>
          <p:cNvGraphicFramePr>
            <a:graphicFrameLocks noGrp="1"/>
          </p:cNvGraphicFramePr>
          <p:nvPr>
            <p:extLst>
              <p:ext uri="{D42A27DB-BD31-4B8C-83A1-F6EECF244321}">
                <p14:modId xmlns:p14="http://schemas.microsoft.com/office/powerpoint/2010/main" val="3166627500"/>
              </p:ext>
            </p:extLst>
          </p:nvPr>
        </p:nvGraphicFramePr>
        <p:xfrm>
          <a:off x="9361687" y="3188420"/>
          <a:ext cx="744537" cy="431800"/>
        </p:xfrm>
        <a:graphic>
          <a:graphicData uri="http://schemas.openxmlformats.org/drawingml/2006/table">
            <a:tbl>
              <a:tblPr/>
              <a:tblGrid>
                <a:gridCol w="384175">
                  <a:extLst>
                    <a:ext uri="{9D8B030D-6E8A-4147-A177-3AD203B41FA5}">
                      <a16:colId xmlns:a16="http://schemas.microsoft.com/office/drawing/2014/main" val="20000"/>
                    </a:ext>
                  </a:extLst>
                </a:gridCol>
                <a:gridCol w="360362">
                  <a:extLst>
                    <a:ext uri="{9D8B030D-6E8A-4147-A177-3AD203B41FA5}">
                      <a16:colId xmlns:a16="http://schemas.microsoft.com/office/drawing/2014/main" val="20001"/>
                    </a:ext>
                  </a:extLst>
                </a:gridCol>
              </a:tblGrid>
              <a:tr h="431800">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Comic Sans MS" pitchFamily="66" charset="0"/>
                          <a:ea typeface="ＭＳ Ｐゴシック" pitchFamily="34" charset="-128"/>
                        </a:rPr>
                        <a:t>4</a:t>
                      </a:r>
                    </a:p>
                  </a:txBody>
                  <a:tcPr horzOverflow="overflow">
                    <a:lnL w="28575" cap="flat" cmpd="sng" algn="ctr">
                      <a:solidFill>
                        <a:srgbClr val="0033CC"/>
                      </a:solidFill>
                      <a:prstDash val="solid"/>
                      <a:miter lim="800000"/>
                      <a:headEnd type="none" w="sm" len="sm"/>
                      <a:tailEnd type="none" w="sm" len="sm"/>
                    </a:lnL>
                    <a:lnR w="28575" cap="flat" cmpd="sng" algn="ctr">
                      <a:solidFill>
                        <a:srgbClr val="0033CC"/>
                      </a:solidFill>
                      <a:prstDash val="solid"/>
                      <a:miter lim="800000"/>
                      <a:headEnd type="none" w="sm" len="sm"/>
                      <a:tailEnd type="none" w="sm" len="sm"/>
                    </a:lnR>
                    <a:lnT w="28575" cap="flat" cmpd="sng" algn="ctr">
                      <a:solidFill>
                        <a:srgbClr val="0033CC"/>
                      </a:solidFill>
                      <a:prstDash val="solid"/>
                      <a:miter lim="800000"/>
                      <a:headEnd type="none" w="sm" len="sm"/>
                      <a:tailEnd type="none" w="sm" len="sm"/>
                    </a:lnT>
                    <a:lnB w="28575" cap="flat" cmpd="sng" algn="ctr">
                      <a:solidFill>
                        <a:srgbClr val="0033CC"/>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endParaRPr kumimoji="0" lang="zh-CN" altLang="en-US" sz="1800" b="1" i="0" u="none" strike="noStrike" cap="none" normalizeH="0" baseline="0">
                        <a:ln>
                          <a:noFill/>
                        </a:ln>
                        <a:solidFill>
                          <a:schemeClr val="tx1"/>
                        </a:solidFill>
                        <a:effectLst/>
                        <a:latin typeface="Comic Sans MS" pitchFamily="66" charset="0"/>
                        <a:ea typeface="ＭＳ Ｐゴシック" pitchFamily="34" charset="-128"/>
                      </a:endParaRPr>
                    </a:p>
                  </a:txBody>
                  <a:tcPr horzOverflow="overflow">
                    <a:lnL w="28575" cap="flat" cmpd="sng" algn="ctr">
                      <a:solidFill>
                        <a:srgbClr val="0033CC"/>
                      </a:solidFill>
                      <a:prstDash val="solid"/>
                      <a:miter lim="800000"/>
                      <a:headEnd type="none" w="sm" len="sm"/>
                      <a:tailEnd type="none" w="sm" len="sm"/>
                    </a:lnL>
                    <a:lnR w="28575" cap="flat" cmpd="sng" algn="ctr">
                      <a:solidFill>
                        <a:srgbClr val="0033CC"/>
                      </a:solidFill>
                      <a:prstDash val="solid"/>
                      <a:miter lim="800000"/>
                      <a:headEnd type="none" w="sm" len="sm"/>
                      <a:tailEnd type="none" w="sm" len="sm"/>
                    </a:lnR>
                    <a:lnT w="28575" cap="flat" cmpd="sng" algn="ctr">
                      <a:solidFill>
                        <a:srgbClr val="0033CC"/>
                      </a:solidFill>
                      <a:prstDash val="solid"/>
                      <a:miter lim="800000"/>
                      <a:headEnd type="none" w="sm" len="sm"/>
                      <a:tailEnd type="none" w="sm" len="sm"/>
                    </a:lnT>
                    <a:lnB w="28575" cap="flat" cmpd="sng" algn="ctr">
                      <a:solidFill>
                        <a:srgbClr val="0033CC"/>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67" name="Group 188"/>
          <p:cNvGraphicFramePr>
            <a:graphicFrameLocks noGrp="1"/>
          </p:cNvGraphicFramePr>
          <p:nvPr>
            <p:extLst>
              <p:ext uri="{D42A27DB-BD31-4B8C-83A1-F6EECF244321}">
                <p14:modId xmlns:p14="http://schemas.microsoft.com/office/powerpoint/2010/main" val="1197448698"/>
              </p:ext>
            </p:extLst>
          </p:nvPr>
        </p:nvGraphicFramePr>
        <p:xfrm>
          <a:off x="6937573" y="3788495"/>
          <a:ext cx="744538" cy="365760"/>
        </p:xfrm>
        <a:graphic>
          <a:graphicData uri="http://schemas.openxmlformats.org/drawingml/2006/table">
            <a:tbl>
              <a:tblPr/>
              <a:tblGrid>
                <a:gridCol w="360363">
                  <a:extLst>
                    <a:ext uri="{9D8B030D-6E8A-4147-A177-3AD203B41FA5}">
                      <a16:colId xmlns:a16="http://schemas.microsoft.com/office/drawing/2014/main" val="20000"/>
                    </a:ext>
                  </a:extLst>
                </a:gridCol>
                <a:gridCol w="384175">
                  <a:extLst>
                    <a:ext uri="{9D8B030D-6E8A-4147-A177-3AD203B41FA5}">
                      <a16:colId xmlns:a16="http://schemas.microsoft.com/office/drawing/2014/main" val="20001"/>
                    </a:ext>
                  </a:extLst>
                </a:gridCol>
              </a:tblGrid>
              <a:tr h="287338">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Comic Sans MS" pitchFamily="66" charset="0"/>
                          <a:ea typeface="ＭＳ Ｐゴシック" pitchFamily="34" charset="-128"/>
                        </a:rPr>
                        <a:t>1</a:t>
                      </a:r>
                    </a:p>
                  </a:txBody>
                  <a:tcPr horzOverflow="overflow">
                    <a:lnL w="28575" cap="flat" cmpd="sng" algn="ctr">
                      <a:solidFill>
                        <a:srgbClr val="0033CC"/>
                      </a:solidFill>
                      <a:prstDash val="solid"/>
                      <a:miter lim="800000"/>
                      <a:headEnd type="none" w="sm" len="sm"/>
                      <a:tailEnd type="none" w="sm" len="sm"/>
                    </a:lnL>
                    <a:lnR w="28575" cap="flat" cmpd="sng" algn="ctr">
                      <a:solidFill>
                        <a:srgbClr val="0033CC"/>
                      </a:solidFill>
                      <a:prstDash val="solid"/>
                      <a:miter lim="800000"/>
                      <a:headEnd type="none" w="sm" len="sm"/>
                      <a:tailEnd type="none" w="sm" len="sm"/>
                    </a:lnR>
                    <a:lnT w="28575" cap="flat" cmpd="sng" algn="ctr">
                      <a:solidFill>
                        <a:srgbClr val="0033CC"/>
                      </a:solidFill>
                      <a:prstDash val="solid"/>
                      <a:miter lim="800000"/>
                      <a:headEnd type="none" w="sm" len="sm"/>
                      <a:tailEnd type="none" w="sm" len="sm"/>
                    </a:lnT>
                    <a:lnB w="28575" cap="flat" cmpd="sng" algn="ctr">
                      <a:solidFill>
                        <a:srgbClr val="0033CC"/>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endParaRPr kumimoji="0" lang="zh-CN" altLang="en-US" sz="1800" b="1" i="0" u="none" strike="noStrike" cap="none" normalizeH="0" baseline="0">
                        <a:ln>
                          <a:noFill/>
                        </a:ln>
                        <a:solidFill>
                          <a:schemeClr val="tx1"/>
                        </a:solidFill>
                        <a:effectLst/>
                        <a:latin typeface="Comic Sans MS" pitchFamily="66" charset="0"/>
                        <a:ea typeface="ＭＳ Ｐゴシック" pitchFamily="34" charset="-128"/>
                      </a:endParaRPr>
                    </a:p>
                  </a:txBody>
                  <a:tcPr horzOverflow="overflow">
                    <a:lnL w="28575" cap="flat" cmpd="sng" algn="ctr">
                      <a:solidFill>
                        <a:srgbClr val="0033CC"/>
                      </a:solidFill>
                      <a:prstDash val="solid"/>
                      <a:miter lim="800000"/>
                      <a:headEnd type="none" w="sm" len="sm"/>
                      <a:tailEnd type="none" w="sm" len="sm"/>
                    </a:lnL>
                    <a:lnR w="28575" cap="flat" cmpd="sng" algn="ctr">
                      <a:solidFill>
                        <a:srgbClr val="0033CC"/>
                      </a:solidFill>
                      <a:prstDash val="solid"/>
                      <a:miter lim="800000"/>
                      <a:headEnd type="none" w="sm" len="sm"/>
                      <a:tailEnd type="none" w="sm" len="sm"/>
                    </a:lnR>
                    <a:lnT w="28575" cap="flat" cmpd="sng" algn="ctr">
                      <a:solidFill>
                        <a:srgbClr val="0033CC"/>
                      </a:solidFill>
                      <a:prstDash val="solid"/>
                      <a:miter lim="800000"/>
                      <a:headEnd type="none" w="sm" len="sm"/>
                      <a:tailEnd type="none" w="sm" len="sm"/>
                    </a:lnT>
                    <a:lnB w="28575" cap="flat" cmpd="sng" algn="ctr">
                      <a:solidFill>
                        <a:srgbClr val="0033CC"/>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68" name="Group 187"/>
          <p:cNvGraphicFramePr>
            <a:graphicFrameLocks noGrp="1"/>
          </p:cNvGraphicFramePr>
          <p:nvPr>
            <p:extLst>
              <p:ext uri="{D42A27DB-BD31-4B8C-83A1-F6EECF244321}">
                <p14:modId xmlns:p14="http://schemas.microsoft.com/office/powerpoint/2010/main" val="2100387601"/>
              </p:ext>
            </p:extLst>
          </p:nvPr>
        </p:nvGraphicFramePr>
        <p:xfrm>
          <a:off x="8161537" y="3788496"/>
          <a:ext cx="744537" cy="384175"/>
        </p:xfrm>
        <a:graphic>
          <a:graphicData uri="http://schemas.openxmlformats.org/drawingml/2006/table">
            <a:tbl>
              <a:tblPr/>
              <a:tblGrid>
                <a:gridCol w="360362">
                  <a:extLst>
                    <a:ext uri="{9D8B030D-6E8A-4147-A177-3AD203B41FA5}">
                      <a16:colId xmlns:a16="http://schemas.microsoft.com/office/drawing/2014/main" val="20000"/>
                    </a:ext>
                  </a:extLst>
                </a:gridCol>
                <a:gridCol w="384175">
                  <a:extLst>
                    <a:ext uri="{9D8B030D-6E8A-4147-A177-3AD203B41FA5}">
                      <a16:colId xmlns:a16="http://schemas.microsoft.com/office/drawing/2014/main" val="20001"/>
                    </a:ext>
                  </a:extLst>
                </a:gridCol>
              </a:tblGrid>
              <a:tr h="384175">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Comic Sans MS" pitchFamily="66" charset="0"/>
                          <a:ea typeface="ＭＳ Ｐゴシック" pitchFamily="34" charset="-128"/>
                        </a:rPr>
                        <a:t>2</a:t>
                      </a:r>
                    </a:p>
                  </a:txBody>
                  <a:tcPr horzOverflow="overflow">
                    <a:lnL w="28575" cap="flat" cmpd="sng" algn="ctr">
                      <a:solidFill>
                        <a:srgbClr val="0033CC"/>
                      </a:solidFill>
                      <a:prstDash val="solid"/>
                      <a:miter lim="800000"/>
                      <a:headEnd type="none" w="sm" len="sm"/>
                      <a:tailEnd type="none" w="sm" len="sm"/>
                    </a:lnL>
                    <a:lnR w="28575" cap="flat" cmpd="sng" algn="ctr">
                      <a:solidFill>
                        <a:srgbClr val="0033CC"/>
                      </a:solidFill>
                      <a:prstDash val="solid"/>
                      <a:miter lim="800000"/>
                      <a:headEnd type="none" w="sm" len="sm"/>
                      <a:tailEnd type="none" w="sm" len="sm"/>
                    </a:lnR>
                    <a:lnT w="28575" cap="flat" cmpd="sng" algn="ctr">
                      <a:solidFill>
                        <a:srgbClr val="0033CC"/>
                      </a:solidFill>
                      <a:prstDash val="solid"/>
                      <a:miter lim="800000"/>
                      <a:headEnd type="none" w="sm" len="sm"/>
                      <a:tailEnd type="none" w="sm" len="sm"/>
                    </a:lnT>
                    <a:lnB w="28575" cap="flat" cmpd="sng" algn="ctr">
                      <a:solidFill>
                        <a:srgbClr val="0033CC"/>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endParaRPr kumimoji="0" lang="zh-CN" altLang="en-US" sz="1800" b="1" i="0" u="none" strike="noStrike" cap="none" normalizeH="0" baseline="0">
                        <a:ln>
                          <a:noFill/>
                        </a:ln>
                        <a:solidFill>
                          <a:schemeClr val="tx1"/>
                        </a:solidFill>
                        <a:effectLst/>
                        <a:latin typeface="Comic Sans MS" pitchFamily="66" charset="0"/>
                        <a:ea typeface="ＭＳ Ｐゴシック" pitchFamily="34" charset="-128"/>
                      </a:endParaRPr>
                    </a:p>
                  </a:txBody>
                  <a:tcPr horzOverflow="overflow">
                    <a:lnL w="28575" cap="flat" cmpd="sng" algn="ctr">
                      <a:solidFill>
                        <a:srgbClr val="0033CC"/>
                      </a:solidFill>
                      <a:prstDash val="solid"/>
                      <a:miter lim="800000"/>
                      <a:headEnd type="none" w="sm" len="sm"/>
                      <a:tailEnd type="none" w="sm" len="sm"/>
                    </a:lnL>
                    <a:lnR w="28575" cap="flat" cmpd="sng" algn="ctr">
                      <a:solidFill>
                        <a:srgbClr val="0033CC"/>
                      </a:solidFill>
                      <a:prstDash val="solid"/>
                      <a:miter lim="800000"/>
                      <a:headEnd type="none" w="sm" len="sm"/>
                      <a:tailEnd type="none" w="sm" len="sm"/>
                    </a:lnR>
                    <a:lnT w="28575" cap="flat" cmpd="sng" algn="ctr">
                      <a:solidFill>
                        <a:srgbClr val="0033CC"/>
                      </a:solidFill>
                      <a:prstDash val="solid"/>
                      <a:miter lim="800000"/>
                      <a:headEnd type="none" w="sm" len="sm"/>
                      <a:tailEnd type="none" w="sm" len="sm"/>
                    </a:lnT>
                    <a:lnB w="28575" cap="flat" cmpd="sng" algn="ctr">
                      <a:solidFill>
                        <a:srgbClr val="0033CC"/>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69" name="Group 186"/>
          <p:cNvGraphicFramePr>
            <a:graphicFrameLocks noGrp="1"/>
          </p:cNvGraphicFramePr>
          <p:nvPr>
            <p:extLst>
              <p:ext uri="{D42A27DB-BD31-4B8C-83A1-F6EECF244321}">
                <p14:modId xmlns:p14="http://schemas.microsoft.com/office/powerpoint/2010/main" val="713142511"/>
              </p:ext>
            </p:extLst>
          </p:nvPr>
        </p:nvGraphicFramePr>
        <p:xfrm>
          <a:off x="9361687" y="3788495"/>
          <a:ext cx="744537" cy="431800"/>
        </p:xfrm>
        <a:graphic>
          <a:graphicData uri="http://schemas.openxmlformats.org/drawingml/2006/table">
            <a:tbl>
              <a:tblPr/>
              <a:tblGrid>
                <a:gridCol w="384175">
                  <a:extLst>
                    <a:ext uri="{9D8B030D-6E8A-4147-A177-3AD203B41FA5}">
                      <a16:colId xmlns:a16="http://schemas.microsoft.com/office/drawing/2014/main" val="20000"/>
                    </a:ext>
                  </a:extLst>
                </a:gridCol>
                <a:gridCol w="360362">
                  <a:extLst>
                    <a:ext uri="{9D8B030D-6E8A-4147-A177-3AD203B41FA5}">
                      <a16:colId xmlns:a16="http://schemas.microsoft.com/office/drawing/2014/main" val="20001"/>
                    </a:ext>
                  </a:extLst>
                </a:gridCol>
              </a:tblGrid>
              <a:tr h="431800">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Comic Sans MS" pitchFamily="66" charset="0"/>
                          <a:ea typeface="ＭＳ Ｐゴシック" pitchFamily="34" charset="-128"/>
                        </a:rPr>
                        <a:t>4</a:t>
                      </a:r>
                    </a:p>
                  </a:txBody>
                  <a:tcPr horzOverflow="overflow">
                    <a:lnL w="28575" cap="flat" cmpd="sng" algn="ctr">
                      <a:solidFill>
                        <a:srgbClr val="0033CC"/>
                      </a:solidFill>
                      <a:prstDash val="solid"/>
                      <a:miter lim="800000"/>
                      <a:headEnd type="none" w="sm" len="sm"/>
                      <a:tailEnd type="none" w="sm" len="sm"/>
                    </a:lnL>
                    <a:lnR w="28575" cap="flat" cmpd="sng" algn="ctr">
                      <a:solidFill>
                        <a:srgbClr val="0033CC"/>
                      </a:solidFill>
                      <a:prstDash val="solid"/>
                      <a:miter lim="800000"/>
                      <a:headEnd type="none" w="sm" len="sm"/>
                      <a:tailEnd type="none" w="sm" len="sm"/>
                    </a:lnR>
                    <a:lnT w="28575" cap="flat" cmpd="sng" algn="ctr">
                      <a:solidFill>
                        <a:srgbClr val="0033CC"/>
                      </a:solidFill>
                      <a:prstDash val="solid"/>
                      <a:miter lim="800000"/>
                      <a:headEnd type="none" w="sm" len="sm"/>
                      <a:tailEnd type="none" w="sm" len="sm"/>
                    </a:lnT>
                    <a:lnB w="28575" cap="flat" cmpd="sng" algn="ctr">
                      <a:solidFill>
                        <a:srgbClr val="0033CC"/>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endParaRPr kumimoji="0" lang="zh-CN" altLang="en-US" sz="1800" b="1" i="0" u="none" strike="noStrike" cap="none" normalizeH="0" baseline="0">
                        <a:ln>
                          <a:noFill/>
                        </a:ln>
                        <a:solidFill>
                          <a:schemeClr val="tx1"/>
                        </a:solidFill>
                        <a:effectLst/>
                        <a:latin typeface="Comic Sans MS" pitchFamily="66" charset="0"/>
                        <a:ea typeface="ＭＳ Ｐゴシック" pitchFamily="34" charset="-128"/>
                      </a:endParaRPr>
                    </a:p>
                  </a:txBody>
                  <a:tcPr horzOverflow="overflow">
                    <a:lnL w="28575" cap="flat" cmpd="sng" algn="ctr">
                      <a:solidFill>
                        <a:srgbClr val="0033CC"/>
                      </a:solidFill>
                      <a:prstDash val="solid"/>
                      <a:miter lim="800000"/>
                      <a:headEnd type="none" w="sm" len="sm"/>
                      <a:tailEnd type="none" w="sm" len="sm"/>
                    </a:lnL>
                    <a:lnR w="28575" cap="flat" cmpd="sng" algn="ctr">
                      <a:solidFill>
                        <a:srgbClr val="0033CC"/>
                      </a:solidFill>
                      <a:prstDash val="solid"/>
                      <a:miter lim="800000"/>
                      <a:headEnd type="none" w="sm" len="sm"/>
                      <a:tailEnd type="none" w="sm" len="sm"/>
                    </a:lnR>
                    <a:lnT w="28575" cap="flat" cmpd="sng" algn="ctr">
                      <a:solidFill>
                        <a:srgbClr val="0033CC"/>
                      </a:solidFill>
                      <a:prstDash val="solid"/>
                      <a:miter lim="800000"/>
                      <a:headEnd type="none" w="sm" len="sm"/>
                      <a:tailEnd type="none" w="sm" len="sm"/>
                    </a:lnT>
                    <a:lnB w="28575" cap="flat" cmpd="sng" algn="ctr">
                      <a:solidFill>
                        <a:srgbClr val="0033CC"/>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71" name="Group 185"/>
          <p:cNvGraphicFramePr>
            <a:graphicFrameLocks noGrp="1"/>
          </p:cNvGraphicFramePr>
          <p:nvPr>
            <p:extLst>
              <p:ext uri="{D42A27DB-BD31-4B8C-83A1-F6EECF244321}">
                <p14:modId xmlns:p14="http://schemas.microsoft.com/office/powerpoint/2010/main" val="4081641368"/>
              </p:ext>
            </p:extLst>
          </p:nvPr>
        </p:nvGraphicFramePr>
        <p:xfrm>
          <a:off x="6937573" y="4436195"/>
          <a:ext cx="744538" cy="365760"/>
        </p:xfrm>
        <a:graphic>
          <a:graphicData uri="http://schemas.openxmlformats.org/drawingml/2006/table">
            <a:tbl>
              <a:tblPr/>
              <a:tblGrid>
                <a:gridCol w="360363">
                  <a:extLst>
                    <a:ext uri="{9D8B030D-6E8A-4147-A177-3AD203B41FA5}">
                      <a16:colId xmlns:a16="http://schemas.microsoft.com/office/drawing/2014/main" val="20000"/>
                    </a:ext>
                  </a:extLst>
                </a:gridCol>
                <a:gridCol w="384175">
                  <a:extLst>
                    <a:ext uri="{9D8B030D-6E8A-4147-A177-3AD203B41FA5}">
                      <a16:colId xmlns:a16="http://schemas.microsoft.com/office/drawing/2014/main" val="20001"/>
                    </a:ext>
                  </a:extLst>
                </a:gridCol>
              </a:tblGrid>
              <a:tr h="287338">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Comic Sans MS" pitchFamily="66" charset="0"/>
                          <a:ea typeface="ＭＳ Ｐゴシック" pitchFamily="34" charset="-128"/>
                        </a:rPr>
                        <a:t>0</a:t>
                      </a:r>
                    </a:p>
                  </a:txBody>
                  <a:tcPr horzOverflow="overflow">
                    <a:lnL w="28575" cap="flat" cmpd="sng" algn="ctr">
                      <a:solidFill>
                        <a:srgbClr val="0033CC"/>
                      </a:solidFill>
                      <a:prstDash val="solid"/>
                      <a:miter lim="800000"/>
                      <a:headEnd type="none" w="sm" len="sm"/>
                      <a:tailEnd type="none" w="sm" len="sm"/>
                    </a:lnL>
                    <a:lnR w="28575" cap="flat" cmpd="sng" algn="ctr">
                      <a:solidFill>
                        <a:srgbClr val="0033CC"/>
                      </a:solidFill>
                      <a:prstDash val="solid"/>
                      <a:miter lim="800000"/>
                      <a:headEnd type="none" w="sm" len="sm"/>
                      <a:tailEnd type="none" w="sm" len="sm"/>
                    </a:lnR>
                    <a:lnT w="28575" cap="flat" cmpd="sng" algn="ctr">
                      <a:solidFill>
                        <a:srgbClr val="0033CC"/>
                      </a:solidFill>
                      <a:prstDash val="solid"/>
                      <a:miter lim="800000"/>
                      <a:headEnd type="none" w="sm" len="sm"/>
                      <a:tailEnd type="none" w="sm" len="sm"/>
                    </a:lnT>
                    <a:lnB w="28575" cap="flat" cmpd="sng" algn="ctr">
                      <a:solidFill>
                        <a:srgbClr val="0033CC"/>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endParaRPr kumimoji="0" lang="zh-CN" altLang="en-US" sz="1800" b="1" i="0" u="none" strike="noStrike" cap="none" normalizeH="0" baseline="0">
                        <a:ln>
                          <a:noFill/>
                        </a:ln>
                        <a:solidFill>
                          <a:schemeClr val="tx1"/>
                        </a:solidFill>
                        <a:effectLst/>
                        <a:latin typeface="Comic Sans MS" pitchFamily="66" charset="0"/>
                        <a:ea typeface="ＭＳ Ｐゴシック" pitchFamily="34" charset="-128"/>
                      </a:endParaRPr>
                    </a:p>
                  </a:txBody>
                  <a:tcPr horzOverflow="overflow">
                    <a:lnL w="28575" cap="flat" cmpd="sng" algn="ctr">
                      <a:solidFill>
                        <a:srgbClr val="0033CC"/>
                      </a:solidFill>
                      <a:prstDash val="solid"/>
                      <a:miter lim="800000"/>
                      <a:headEnd type="none" w="sm" len="sm"/>
                      <a:tailEnd type="none" w="sm" len="sm"/>
                    </a:lnL>
                    <a:lnR w="28575" cap="flat" cmpd="sng" algn="ctr">
                      <a:solidFill>
                        <a:srgbClr val="0033CC"/>
                      </a:solidFill>
                      <a:prstDash val="solid"/>
                      <a:miter lim="800000"/>
                      <a:headEnd type="none" w="sm" len="sm"/>
                      <a:tailEnd type="none" w="sm" len="sm"/>
                    </a:lnR>
                    <a:lnT w="28575" cap="flat" cmpd="sng" algn="ctr">
                      <a:solidFill>
                        <a:srgbClr val="0033CC"/>
                      </a:solidFill>
                      <a:prstDash val="solid"/>
                      <a:miter lim="800000"/>
                      <a:headEnd type="none" w="sm" len="sm"/>
                      <a:tailEnd type="none" w="sm" len="sm"/>
                    </a:lnT>
                    <a:lnB w="28575" cap="flat" cmpd="sng" algn="ctr">
                      <a:solidFill>
                        <a:srgbClr val="0033CC"/>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72" name="Group 184"/>
          <p:cNvGraphicFramePr>
            <a:graphicFrameLocks noGrp="1"/>
          </p:cNvGraphicFramePr>
          <p:nvPr>
            <p:extLst>
              <p:ext uri="{D42A27DB-BD31-4B8C-83A1-F6EECF244321}">
                <p14:modId xmlns:p14="http://schemas.microsoft.com/office/powerpoint/2010/main" val="3207426759"/>
              </p:ext>
            </p:extLst>
          </p:nvPr>
        </p:nvGraphicFramePr>
        <p:xfrm>
          <a:off x="8161537" y="4436195"/>
          <a:ext cx="744537" cy="365760"/>
        </p:xfrm>
        <a:graphic>
          <a:graphicData uri="http://schemas.openxmlformats.org/drawingml/2006/table">
            <a:tbl>
              <a:tblPr/>
              <a:tblGrid>
                <a:gridCol w="360362">
                  <a:extLst>
                    <a:ext uri="{9D8B030D-6E8A-4147-A177-3AD203B41FA5}">
                      <a16:colId xmlns:a16="http://schemas.microsoft.com/office/drawing/2014/main" val="20000"/>
                    </a:ext>
                  </a:extLst>
                </a:gridCol>
                <a:gridCol w="384175">
                  <a:extLst>
                    <a:ext uri="{9D8B030D-6E8A-4147-A177-3AD203B41FA5}">
                      <a16:colId xmlns:a16="http://schemas.microsoft.com/office/drawing/2014/main" val="20001"/>
                    </a:ext>
                  </a:extLst>
                </a:gridCol>
              </a:tblGrid>
              <a:tr h="360363">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Comic Sans MS" pitchFamily="66" charset="0"/>
                          <a:ea typeface="ＭＳ Ｐゴシック" pitchFamily="34" charset="-128"/>
                        </a:rPr>
                        <a:t>2</a:t>
                      </a:r>
                    </a:p>
                  </a:txBody>
                  <a:tcPr horzOverflow="overflow">
                    <a:lnL w="28575" cap="flat" cmpd="sng" algn="ctr">
                      <a:solidFill>
                        <a:srgbClr val="0033CC"/>
                      </a:solidFill>
                      <a:prstDash val="solid"/>
                      <a:miter lim="800000"/>
                      <a:headEnd type="none" w="sm" len="sm"/>
                      <a:tailEnd type="none" w="sm" len="sm"/>
                    </a:lnL>
                    <a:lnR w="28575" cap="flat" cmpd="sng" algn="ctr">
                      <a:solidFill>
                        <a:srgbClr val="0033CC"/>
                      </a:solidFill>
                      <a:prstDash val="solid"/>
                      <a:miter lim="800000"/>
                      <a:headEnd type="none" w="sm" len="sm"/>
                      <a:tailEnd type="none" w="sm" len="sm"/>
                    </a:lnR>
                    <a:lnT w="28575" cap="flat" cmpd="sng" algn="ctr">
                      <a:solidFill>
                        <a:srgbClr val="0033CC"/>
                      </a:solidFill>
                      <a:prstDash val="solid"/>
                      <a:miter lim="800000"/>
                      <a:headEnd type="none" w="sm" len="sm"/>
                      <a:tailEnd type="none" w="sm" len="sm"/>
                    </a:lnT>
                    <a:lnB w="28575" cap="flat" cmpd="sng" algn="ctr">
                      <a:solidFill>
                        <a:srgbClr val="0033CC"/>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endParaRPr kumimoji="0" lang="zh-CN" altLang="en-US" sz="1800" b="1" i="0" u="none" strike="noStrike" cap="none" normalizeH="0" baseline="0">
                        <a:ln>
                          <a:noFill/>
                        </a:ln>
                        <a:solidFill>
                          <a:schemeClr val="tx1"/>
                        </a:solidFill>
                        <a:effectLst/>
                        <a:latin typeface="Comic Sans MS" pitchFamily="66" charset="0"/>
                        <a:ea typeface="ＭＳ Ｐゴシック" pitchFamily="34" charset="-128"/>
                      </a:endParaRPr>
                    </a:p>
                  </a:txBody>
                  <a:tcPr horzOverflow="overflow">
                    <a:lnL w="28575" cap="flat" cmpd="sng" algn="ctr">
                      <a:solidFill>
                        <a:srgbClr val="0033CC"/>
                      </a:solidFill>
                      <a:prstDash val="solid"/>
                      <a:miter lim="800000"/>
                      <a:headEnd type="none" w="sm" len="sm"/>
                      <a:tailEnd type="none" w="sm" len="sm"/>
                    </a:lnL>
                    <a:lnR w="28575" cap="flat" cmpd="sng" algn="ctr">
                      <a:solidFill>
                        <a:srgbClr val="0033CC"/>
                      </a:solidFill>
                      <a:prstDash val="solid"/>
                      <a:miter lim="800000"/>
                      <a:headEnd type="none" w="sm" len="sm"/>
                      <a:tailEnd type="none" w="sm" len="sm"/>
                    </a:lnR>
                    <a:lnT w="28575" cap="flat" cmpd="sng" algn="ctr">
                      <a:solidFill>
                        <a:srgbClr val="0033CC"/>
                      </a:solidFill>
                      <a:prstDash val="solid"/>
                      <a:miter lim="800000"/>
                      <a:headEnd type="none" w="sm" len="sm"/>
                      <a:tailEnd type="none" w="sm" len="sm"/>
                    </a:lnT>
                    <a:lnB w="28575" cap="flat" cmpd="sng" algn="ctr">
                      <a:solidFill>
                        <a:srgbClr val="0033CC"/>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73" name="Group 183"/>
          <p:cNvGraphicFramePr>
            <a:graphicFrameLocks noGrp="1"/>
          </p:cNvGraphicFramePr>
          <p:nvPr>
            <p:extLst>
              <p:ext uri="{D42A27DB-BD31-4B8C-83A1-F6EECF244321}">
                <p14:modId xmlns:p14="http://schemas.microsoft.com/office/powerpoint/2010/main" val="596383573"/>
              </p:ext>
            </p:extLst>
          </p:nvPr>
        </p:nvGraphicFramePr>
        <p:xfrm>
          <a:off x="9361687" y="4436195"/>
          <a:ext cx="744537" cy="431800"/>
        </p:xfrm>
        <a:graphic>
          <a:graphicData uri="http://schemas.openxmlformats.org/drawingml/2006/table">
            <a:tbl>
              <a:tblPr/>
              <a:tblGrid>
                <a:gridCol w="384175">
                  <a:extLst>
                    <a:ext uri="{9D8B030D-6E8A-4147-A177-3AD203B41FA5}">
                      <a16:colId xmlns:a16="http://schemas.microsoft.com/office/drawing/2014/main" val="20000"/>
                    </a:ext>
                  </a:extLst>
                </a:gridCol>
                <a:gridCol w="360362">
                  <a:extLst>
                    <a:ext uri="{9D8B030D-6E8A-4147-A177-3AD203B41FA5}">
                      <a16:colId xmlns:a16="http://schemas.microsoft.com/office/drawing/2014/main" val="20001"/>
                    </a:ext>
                  </a:extLst>
                </a:gridCol>
              </a:tblGrid>
              <a:tr h="431800">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Comic Sans MS" pitchFamily="66" charset="0"/>
                          <a:ea typeface="ＭＳ Ｐゴシック" pitchFamily="34" charset="-128"/>
                        </a:rPr>
                        <a:t>3</a:t>
                      </a:r>
                    </a:p>
                  </a:txBody>
                  <a:tcPr horzOverflow="overflow">
                    <a:lnL w="28575" cap="flat" cmpd="sng" algn="ctr">
                      <a:solidFill>
                        <a:srgbClr val="0033CC"/>
                      </a:solidFill>
                      <a:prstDash val="solid"/>
                      <a:miter lim="800000"/>
                      <a:headEnd type="none" w="sm" len="sm"/>
                      <a:tailEnd type="none" w="sm" len="sm"/>
                    </a:lnL>
                    <a:lnR w="28575" cap="flat" cmpd="sng" algn="ctr">
                      <a:solidFill>
                        <a:srgbClr val="0033CC"/>
                      </a:solidFill>
                      <a:prstDash val="solid"/>
                      <a:miter lim="800000"/>
                      <a:headEnd type="none" w="sm" len="sm"/>
                      <a:tailEnd type="none" w="sm" len="sm"/>
                    </a:lnR>
                    <a:lnT w="28575" cap="flat" cmpd="sng" algn="ctr">
                      <a:solidFill>
                        <a:srgbClr val="0033CC"/>
                      </a:solidFill>
                      <a:prstDash val="solid"/>
                      <a:miter lim="800000"/>
                      <a:headEnd type="none" w="sm" len="sm"/>
                      <a:tailEnd type="none" w="sm" len="sm"/>
                    </a:lnT>
                    <a:lnB w="28575" cap="flat" cmpd="sng" algn="ctr">
                      <a:solidFill>
                        <a:srgbClr val="0033CC"/>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endParaRPr kumimoji="0" lang="zh-CN" altLang="en-US" sz="1800" b="1" i="0" u="none" strike="noStrike" cap="none" normalizeH="0" baseline="0">
                        <a:ln>
                          <a:noFill/>
                        </a:ln>
                        <a:solidFill>
                          <a:schemeClr val="tx1"/>
                        </a:solidFill>
                        <a:effectLst/>
                        <a:latin typeface="Comic Sans MS" pitchFamily="66" charset="0"/>
                        <a:ea typeface="ＭＳ Ｐゴシック" pitchFamily="34" charset="-128"/>
                      </a:endParaRPr>
                    </a:p>
                  </a:txBody>
                  <a:tcPr horzOverflow="overflow">
                    <a:lnL w="28575" cap="flat" cmpd="sng" algn="ctr">
                      <a:solidFill>
                        <a:srgbClr val="0033CC"/>
                      </a:solidFill>
                      <a:prstDash val="solid"/>
                      <a:miter lim="800000"/>
                      <a:headEnd type="none" w="sm" len="sm"/>
                      <a:tailEnd type="none" w="sm" len="sm"/>
                    </a:lnL>
                    <a:lnR w="28575" cap="flat" cmpd="sng" algn="ctr">
                      <a:solidFill>
                        <a:srgbClr val="0033CC"/>
                      </a:solidFill>
                      <a:prstDash val="solid"/>
                      <a:miter lim="800000"/>
                      <a:headEnd type="none" w="sm" len="sm"/>
                      <a:tailEnd type="none" w="sm" len="sm"/>
                    </a:lnR>
                    <a:lnT w="28575" cap="flat" cmpd="sng" algn="ctr">
                      <a:solidFill>
                        <a:srgbClr val="0033CC"/>
                      </a:solidFill>
                      <a:prstDash val="solid"/>
                      <a:miter lim="800000"/>
                      <a:headEnd type="none" w="sm" len="sm"/>
                      <a:tailEnd type="none" w="sm" len="sm"/>
                    </a:lnT>
                    <a:lnB w="28575" cap="flat" cmpd="sng" algn="ctr">
                      <a:solidFill>
                        <a:srgbClr val="0033CC"/>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10000"/>
                  </a:ext>
                </a:extLst>
              </a:tr>
            </a:tbl>
          </a:graphicData>
        </a:graphic>
      </p:graphicFrame>
      <p:sp>
        <p:nvSpPr>
          <p:cNvPr id="74" name="Text Box 180"/>
          <p:cNvSpPr txBox="1">
            <a:spLocks noChangeArrowheads="1"/>
          </p:cNvSpPr>
          <p:nvPr/>
        </p:nvSpPr>
        <p:spPr bwMode="auto">
          <a:xfrm>
            <a:off x="2206625" y="5085184"/>
            <a:ext cx="352933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spAutoFit/>
          </a:bodyPr>
          <a:lstStyle>
            <a:lvl1pPr eaLnBrk="0" hangingPunct="0">
              <a:defRPr kumimoji="1" sz="2800">
                <a:solidFill>
                  <a:schemeClr val="tx1"/>
                </a:solidFill>
                <a:latin typeface="Comic Sans MS" pitchFamily="66" charset="0"/>
                <a:ea typeface="宋体" pitchFamily="2" charset="-122"/>
              </a:defRPr>
            </a:lvl1pPr>
            <a:lvl2pPr marL="742950" indent="-285750" eaLnBrk="0" hangingPunct="0">
              <a:defRPr kumimoji="1" sz="2800">
                <a:solidFill>
                  <a:schemeClr val="tx1"/>
                </a:solidFill>
                <a:latin typeface="Comic Sans MS" pitchFamily="66" charset="0"/>
                <a:ea typeface="宋体" pitchFamily="2" charset="-122"/>
              </a:defRPr>
            </a:lvl2pPr>
            <a:lvl3pPr marL="1143000" indent="-228600" eaLnBrk="0" hangingPunct="0">
              <a:defRPr kumimoji="1" sz="2800">
                <a:solidFill>
                  <a:schemeClr val="tx1"/>
                </a:solidFill>
                <a:latin typeface="Comic Sans MS" pitchFamily="66" charset="0"/>
                <a:ea typeface="宋体" pitchFamily="2" charset="-122"/>
              </a:defRPr>
            </a:lvl3pPr>
            <a:lvl4pPr marL="1600200" indent="-228600" eaLnBrk="0" hangingPunct="0">
              <a:defRPr kumimoji="1" sz="2800">
                <a:solidFill>
                  <a:schemeClr val="tx1"/>
                </a:solidFill>
                <a:latin typeface="Comic Sans MS" pitchFamily="66" charset="0"/>
                <a:ea typeface="宋体" pitchFamily="2" charset="-122"/>
              </a:defRPr>
            </a:lvl4pPr>
            <a:lvl5pPr marL="2057400" indent="-228600" eaLnBrk="0" hangingPunct="0">
              <a:defRPr kumimoji="1" sz="2800">
                <a:solidFill>
                  <a:schemeClr val="tx1"/>
                </a:solidFill>
                <a:latin typeface="Comic Sans MS" pitchFamily="66" charset="0"/>
                <a:ea typeface="宋体" pitchFamily="2" charset="-122"/>
              </a:defRPr>
            </a:lvl5pPr>
            <a:lvl6pPr marL="25146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6pPr>
            <a:lvl7pPr marL="29718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7pPr>
            <a:lvl8pPr marL="34290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8pPr>
            <a:lvl9pPr marL="38862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9pPr>
          </a:lstStyle>
          <a:p>
            <a:pPr algn="l" eaLnBrk="1" hangingPunct="1">
              <a:spcBef>
                <a:spcPct val="50000"/>
              </a:spcBef>
            </a:pPr>
            <a:r>
              <a:rPr lang="zh-CN" altLang="en-US" sz="2000" dirty="0">
                <a:latin typeface="微软雅黑" pitchFamily="34" charset="-122"/>
                <a:ea typeface="微软雅黑" pitchFamily="34" charset="-122"/>
                <a:cs typeface="经典粗黑简" pitchFamily="49" charset="-122"/>
              </a:rPr>
              <a:t>无向图的邻接表的特点？</a:t>
            </a:r>
          </a:p>
        </p:txBody>
      </p:sp>
      <p:sp>
        <p:nvSpPr>
          <p:cNvPr id="76" name="Text Box 182"/>
          <p:cNvSpPr txBox="1">
            <a:spLocks noChangeArrowheads="1"/>
          </p:cNvSpPr>
          <p:nvPr/>
        </p:nvSpPr>
        <p:spPr bwMode="auto">
          <a:xfrm>
            <a:off x="2208212" y="5517232"/>
            <a:ext cx="741618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spAutoFit/>
          </a:bodyPr>
          <a:lstStyle>
            <a:lvl1pPr eaLnBrk="0" hangingPunct="0">
              <a:defRPr kumimoji="1" sz="2800">
                <a:solidFill>
                  <a:schemeClr val="tx1"/>
                </a:solidFill>
                <a:latin typeface="Comic Sans MS" pitchFamily="66" charset="0"/>
                <a:ea typeface="宋体" pitchFamily="2" charset="-122"/>
              </a:defRPr>
            </a:lvl1pPr>
            <a:lvl2pPr marL="742950" indent="-285750" eaLnBrk="0" hangingPunct="0">
              <a:defRPr kumimoji="1" sz="2800">
                <a:solidFill>
                  <a:schemeClr val="tx1"/>
                </a:solidFill>
                <a:latin typeface="Comic Sans MS" pitchFamily="66" charset="0"/>
                <a:ea typeface="宋体" pitchFamily="2" charset="-122"/>
              </a:defRPr>
            </a:lvl2pPr>
            <a:lvl3pPr marL="1143000" indent="-228600" eaLnBrk="0" hangingPunct="0">
              <a:defRPr kumimoji="1" sz="2800">
                <a:solidFill>
                  <a:schemeClr val="tx1"/>
                </a:solidFill>
                <a:latin typeface="Comic Sans MS" pitchFamily="66" charset="0"/>
                <a:ea typeface="宋体" pitchFamily="2" charset="-122"/>
              </a:defRPr>
            </a:lvl3pPr>
            <a:lvl4pPr marL="1600200" indent="-228600" eaLnBrk="0" hangingPunct="0">
              <a:defRPr kumimoji="1" sz="2800">
                <a:solidFill>
                  <a:schemeClr val="tx1"/>
                </a:solidFill>
                <a:latin typeface="Comic Sans MS" pitchFamily="66" charset="0"/>
                <a:ea typeface="宋体" pitchFamily="2" charset="-122"/>
              </a:defRPr>
            </a:lvl4pPr>
            <a:lvl5pPr marL="2057400" indent="-228600" eaLnBrk="0" hangingPunct="0">
              <a:defRPr kumimoji="1" sz="2800">
                <a:solidFill>
                  <a:schemeClr val="tx1"/>
                </a:solidFill>
                <a:latin typeface="Comic Sans MS" pitchFamily="66" charset="0"/>
                <a:ea typeface="宋体" pitchFamily="2" charset="-122"/>
              </a:defRPr>
            </a:lvl5pPr>
            <a:lvl6pPr marL="25146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6pPr>
            <a:lvl7pPr marL="29718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7pPr>
            <a:lvl8pPr marL="34290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8pPr>
            <a:lvl9pPr marL="38862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9pPr>
          </a:lstStyle>
          <a:p>
            <a:pPr eaLnBrk="1" hangingPunct="1">
              <a:spcBef>
                <a:spcPct val="50000"/>
              </a:spcBef>
            </a:pPr>
            <a:r>
              <a:rPr lang="zh-CN" altLang="en-US" sz="2000" dirty="0">
                <a:latin typeface="微软雅黑" pitchFamily="34" charset="-122"/>
                <a:ea typeface="微软雅黑" pitchFamily="34" charset="-122"/>
                <a:cs typeface="经典粗黑简" pitchFamily="49" charset="-122"/>
              </a:rPr>
              <a:t>在无向图的邻接表中第</a:t>
            </a:r>
            <a:r>
              <a:rPr lang="en-US" altLang="zh-CN" sz="2000" dirty="0">
                <a:latin typeface="微软雅黑" pitchFamily="34" charset="-122"/>
                <a:ea typeface="微软雅黑" pitchFamily="34" charset="-122"/>
                <a:cs typeface="经典粗黑简" pitchFamily="49" charset="-122"/>
              </a:rPr>
              <a:t>i</a:t>
            </a:r>
            <a:r>
              <a:rPr lang="zh-CN" altLang="en-US" sz="2000" dirty="0">
                <a:latin typeface="微软雅黑" pitchFamily="34" charset="-122"/>
                <a:ea typeface="微软雅黑" pitchFamily="34" charset="-122"/>
                <a:cs typeface="经典粗黑简" pitchFamily="49" charset="-122"/>
              </a:rPr>
              <a:t>个链表中结点的个数即为第</a:t>
            </a:r>
            <a:r>
              <a:rPr lang="en-US" altLang="zh-CN" sz="2000" dirty="0">
                <a:latin typeface="微软雅黑" pitchFamily="34" charset="-122"/>
                <a:ea typeface="微软雅黑" pitchFamily="34" charset="-122"/>
                <a:cs typeface="经典粗黑简" pitchFamily="49" charset="-122"/>
              </a:rPr>
              <a:t>i</a:t>
            </a:r>
            <a:r>
              <a:rPr lang="zh-CN" altLang="en-US" sz="2000" dirty="0">
                <a:latin typeface="微软雅黑" pitchFamily="34" charset="-122"/>
                <a:ea typeface="微软雅黑" pitchFamily="34" charset="-122"/>
                <a:cs typeface="经典粗黑简" pitchFamily="49" charset="-122"/>
              </a:rPr>
              <a:t>个顶点的度。</a:t>
            </a:r>
          </a:p>
        </p:txBody>
      </p:sp>
      <p:sp>
        <p:nvSpPr>
          <p:cNvPr id="2" name="Rectangle 2">
            <a:extLst>
              <a:ext uri="{FF2B5EF4-FFF2-40B4-BE49-F238E27FC236}">
                <a16:creationId xmlns:a16="http://schemas.microsoft.com/office/drawing/2014/main" id="{D20CCA95-064E-B591-A225-7613617071AF}"/>
              </a:ext>
            </a:extLst>
          </p:cNvPr>
          <p:cNvSpPr txBox="1">
            <a:spLocks noChangeArrowheads="1"/>
          </p:cNvSpPr>
          <p:nvPr/>
        </p:nvSpPr>
        <p:spPr>
          <a:xfrm>
            <a:off x="474772" y="1230902"/>
            <a:ext cx="4253075"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8.2.2 </a:t>
            </a:r>
            <a:r>
              <a:rPr kumimoji="1" lang="zh-CN" altLang="en-US" dirty="0">
                <a:latin typeface="微软雅黑" pitchFamily="34" charset="-122"/>
                <a:ea typeface="微软雅黑" pitchFamily="34" charset="-122"/>
              </a:rPr>
              <a:t>邻接表存储方法</a:t>
            </a:r>
            <a:endParaRPr lang="zh-CN" altLang="en-US" dirty="0"/>
          </a:p>
        </p:txBody>
      </p:sp>
      <p:sp>
        <p:nvSpPr>
          <p:cNvPr id="3" name="矩形 2">
            <a:extLst>
              <a:ext uri="{FF2B5EF4-FFF2-40B4-BE49-F238E27FC236}">
                <a16:creationId xmlns:a16="http://schemas.microsoft.com/office/drawing/2014/main" id="{82A9F8A9-B40B-BD0A-1454-32063CD2538F}"/>
              </a:ext>
            </a:extLst>
          </p:cNvPr>
          <p:cNvSpPr/>
          <p:nvPr/>
        </p:nvSpPr>
        <p:spPr>
          <a:xfrm>
            <a:off x="2846292" y="348366"/>
            <a:ext cx="6715440"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8.2 </a:t>
            </a:r>
            <a:r>
              <a:rPr lang="zh-CN" altLang="en-US" sz="3000" b="1" dirty="0">
                <a:latin typeface="黑体" pitchFamily="49" charset="-122"/>
                <a:ea typeface="黑体" pitchFamily="49" charset="-122"/>
                <a:cs typeface="经典粗黑简" pitchFamily="49" charset="-122"/>
              </a:rPr>
              <a:t>图的存储结构和基本运算算法</a:t>
            </a:r>
          </a:p>
        </p:txBody>
      </p:sp>
      <p:cxnSp>
        <p:nvCxnSpPr>
          <p:cNvPr id="4" name="直接连接符 3">
            <a:extLst>
              <a:ext uri="{FF2B5EF4-FFF2-40B4-BE49-F238E27FC236}">
                <a16:creationId xmlns:a16="http://schemas.microsoft.com/office/drawing/2014/main" id="{1222B6CF-3C26-8CA0-3E54-A7A12492A573}"/>
              </a:ext>
            </a:extLst>
          </p:cNvPr>
          <p:cNvCxnSpPr>
            <a:cxnSpLocks/>
          </p:cNvCxnSpPr>
          <p:nvPr/>
        </p:nvCxnSpPr>
        <p:spPr>
          <a:xfrm>
            <a:off x="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004960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3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4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499"/>
                                          </p:stCondLst>
                                        </p:cTn>
                                        <p:tgtEl>
                                          <p:spTgt spid="4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499"/>
                                          </p:stCondLst>
                                        </p:cTn>
                                        <p:tgtEl>
                                          <p:spTgt spid="4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499"/>
                                          </p:stCondLst>
                                        </p:cTn>
                                        <p:tgtEl>
                                          <p:spTgt spid="4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6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499"/>
                                          </p:stCondLst>
                                        </p:cTn>
                                        <p:tgtEl>
                                          <p:spTgt spid="4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499"/>
                                          </p:stCondLst>
                                        </p:cTn>
                                        <p:tgtEl>
                                          <p:spTgt spid="42"/>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499"/>
                                          </p:stCondLst>
                                        </p:cTn>
                                        <p:tgtEl>
                                          <p:spTgt spid="52"/>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499"/>
                                          </p:stCondLst>
                                        </p:cTn>
                                        <p:tgtEl>
                                          <p:spTgt spid="4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499"/>
                                          </p:stCondLst>
                                        </p:cTn>
                                        <p:tgtEl>
                                          <p:spTgt spid="54"/>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499"/>
                                          </p:stCondLst>
                                        </p:cTn>
                                        <p:tgtEl>
                                          <p:spTgt spid="45"/>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499"/>
                                          </p:stCondLst>
                                        </p:cTn>
                                        <p:tgtEl>
                                          <p:spTgt spid="61"/>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499"/>
                                          </p:stCondLst>
                                        </p:cTn>
                                        <p:tgtEl>
                                          <p:spTgt spid="57"/>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499"/>
                                          </p:stCondLst>
                                        </p:cTn>
                                        <p:tgtEl>
                                          <p:spTgt spid="47"/>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499"/>
                                          </p:stCondLst>
                                        </p:cTn>
                                        <p:tgtEl>
                                          <p:spTgt spid="63"/>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499"/>
                                          </p:stCondLst>
                                        </p:cTn>
                                        <p:tgtEl>
                                          <p:spTgt spid="48"/>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499"/>
                                          </p:stCondLst>
                                        </p:cTn>
                                        <p:tgtEl>
                                          <p:spTgt spid="66"/>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499"/>
                                          </p:stCondLst>
                                        </p:cTn>
                                        <p:tgtEl>
                                          <p:spTgt spid="50"/>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499"/>
                                          </p:stCondLst>
                                        </p:cTn>
                                        <p:tgtEl>
                                          <p:spTgt spid="62"/>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499"/>
                                          </p:stCondLst>
                                        </p:cTn>
                                        <p:tgtEl>
                                          <p:spTgt spid="51"/>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499"/>
                                          </p:stCondLst>
                                        </p:cTn>
                                        <p:tgtEl>
                                          <p:spTgt spid="67"/>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499"/>
                                          </p:stCondLst>
                                        </p:cTn>
                                        <p:tgtEl>
                                          <p:spTgt spid="53"/>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499"/>
                                          </p:stCondLst>
                                        </p:cTn>
                                        <p:tgtEl>
                                          <p:spTgt spid="68"/>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499"/>
                                          </p:stCondLst>
                                        </p:cTn>
                                        <p:tgtEl>
                                          <p:spTgt spid="55"/>
                                        </p:tgtEl>
                                        <p:attrNameLst>
                                          <p:attrName>style.visibility</p:attrName>
                                        </p:attrNameLst>
                                      </p:cBhvr>
                                      <p:to>
                                        <p:strVal val="visible"/>
                                      </p:to>
                                    </p:set>
                                  </p:childTnLst>
                                </p:cTn>
                              </p:par>
                              <p:par>
                                <p:cTn id="83" presetID="1" presetClass="entr" presetSubtype="0" fill="hold" nodeType="withEffect">
                                  <p:stCondLst>
                                    <p:cond delay="0"/>
                                  </p:stCondLst>
                                  <p:childTnLst>
                                    <p:set>
                                      <p:cBhvr>
                                        <p:cTn id="84" dur="1" fill="hold">
                                          <p:stCondLst>
                                            <p:cond delay="499"/>
                                          </p:stCondLst>
                                        </p:cTn>
                                        <p:tgtEl>
                                          <p:spTgt spid="69"/>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grpId="0" nodeType="clickEffect">
                                  <p:stCondLst>
                                    <p:cond delay="0"/>
                                  </p:stCondLst>
                                  <p:childTnLst>
                                    <p:set>
                                      <p:cBhvr>
                                        <p:cTn id="88" dur="1" fill="hold">
                                          <p:stCondLst>
                                            <p:cond delay="499"/>
                                          </p:stCondLst>
                                        </p:cTn>
                                        <p:tgtEl>
                                          <p:spTgt spid="64"/>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grpId="0" nodeType="clickEffect">
                                  <p:stCondLst>
                                    <p:cond delay="0"/>
                                  </p:stCondLst>
                                  <p:childTnLst>
                                    <p:set>
                                      <p:cBhvr>
                                        <p:cTn id="92" dur="1" fill="hold">
                                          <p:stCondLst>
                                            <p:cond delay="499"/>
                                          </p:stCondLst>
                                        </p:cTn>
                                        <p:tgtEl>
                                          <p:spTgt spid="56"/>
                                        </p:tgtEl>
                                        <p:attrNameLst>
                                          <p:attrName>style.visibility</p:attrName>
                                        </p:attrNameLst>
                                      </p:cBhvr>
                                      <p:to>
                                        <p:strVal val="visible"/>
                                      </p:to>
                                    </p:set>
                                  </p:childTnLst>
                                </p:cTn>
                              </p:par>
                              <p:par>
                                <p:cTn id="93" presetID="1" presetClass="entr" presetSubtype="0" fill="hold" nodeType="withEffect">
                                  <p:stCondLst>
                                    <p:cond delay="0"/>
                                  </p:stCondLst>
                                  <p:childTnLst>
                                    <p:set>
                                      <p:cBhvr>
                                        <p:cTn id="94" dur="1" fill="hold">
                                          <p:stCondLst>
                                            <p:cond delay="499"/>
                                          </p:stCondLst>
                                        </p:cTn>
                                        <p:tgtEl>
                                          <p:spTgt spid="71"/>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nodeType="clickEffect">
                                  <p:stCondLst>
                                    <p:cond delay="0"/>
                                  </p:stCondLst>
                                  <p:childTnLst>
                                    <p:set>
                                      <p:cBhvr>
                                        <p:cTn id="98" dur="1" fill="hold">
                                          <p:stCondLst>
                                            <p:cond delay="499"/>
                                          </p:stCondLst>
                                        </p:cTn>
                                        <p:tgtEl>
                                          <p:spTgt spid="72"/>
                                        </p:tgtEl>
                                        <p:attrNameLst>
                                          <p:attrName>style.visibility</p:attrName>
                                        </p:attrNameLst>
                                      </p:cBhvr>
                                      <p:to>
                                        <p:strVal val="visible"/>
                                      </p:to>
                                    </p:set>
                                  </p:childTnLst>
                                </p:cTn>
                              </p:par>
                              <p:par>
                                <p:cTn id="99" presetID="1" presetClass="entr" presetSubtype="0" fill="hold" grpId="0" nodeType="withEffect">
                                  <p:stCondLst>
                                    <p:cond delay="0"/>
                                  </p:stCondLst>
                                  <p:childTnLst>
                                    <p:set>
                                      <p:cBhvr>
                                        <p:cTn id="100" dur="1" fill="hold">
                                          <p:stCondLst>
                                            <p:cond delay="499"/>
                                          </p:stCondLst>
                                        </p:cTn>
                                        <p:tgtEl>
                                          <p:spTgt spid="58"/>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1" presetClass="entr" presetSubtype="0" fill="hold" nodeType="clickEffect">
                                  <p:stCondLst>
                                    <p:cond delay="0"/>
                                  </p:stCondLst>
                                  <p:childTnLst>
                                    <p:set>
                                      <p:cBhvr>
                                        <p:cTn id="104" dur="1" fill="hold">
                                          <p:stCondLst>
                                            <p:cond delay="499"/>
                                          </p:stCondLst>
                                        </p:cTn>
                                        <p:tgtEl>
                                          <p:spTgt spid="73"/>
                                        </p:tgtEl>
                                        <p:attrNameLst>
                                          <p:attrName>style.visibility</p:attrName>
                                        </p:attrNameLst>
                                      </p:cBhvr>
                                      <p:to>
                                        <p:strVal val="visible"/>
                                      </p:to>
                                    </p:set>
                                  </p:childTnLst>
                                </p:cTn>
                              </p:par>
                              <p:par>
                                <p:cTn id="105" presetID="1" presetClass="entr" presetSubtype="0" fill="hold" grpId="0" nodeType="withEffect">
                                  <p:stCondLst>
                                    <p:cond delay="0"/>
                                  </p:stCondLst>
                                  <p:childTnLst>
                                    <p:set>
                                      <p:cBhvr>
                                        <p:cTn id="106" dur="1" fill="hold">
                                          <p:stCondLst>
                                            <p:cond delay="499"/>
                                          </p:stCondLst>
                                        </p:cTn>
                                        <p:tgtEl>
                                          <p:spTgt spid="59"/>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grpId="0" nodeType="clickEffect">
                                  <p:stCondLst>
                                    <p:cond delay="0"/>
                                  </p:stCondLst>
                                  <p:childTnLst>
                                    <p:set>
                                      <p:cBhvr>
                                        <p:cTn id="110" dur="1" fill="hold">
                                          <p:stCondLst>
                                            <p:cond delay="499"/>
                                          </p:stCondLst>
                                        </p:cTn>
                                        <p:tgtEl>
                                          <p:spTgt spid="65"/>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grpId="0" nodeType="clickEffect">
                                  <p:stCondLst>
                                    <p:cond delay="0"/>
                                  </p:stCondLst>
                                  <p:childTnLst>
                                    <p:set>
                                      <p:cBhvr>
                                        <p:cTn id="114" dur="1" fill="hold">
                                          <p:stCondLst>
                                            <p:cond delay="0"/>
                                          </p:stCondLst>
                                        </p:cTn>
                                        <p:tgtEl>
                                          <p:spTgt spid="74"/>
                                        </p:tgtEl>
                                        <p:attrNameLst>
                                          <p:attrName>style.visibility</p:attrName>
                                        </p:attrNameLst>
                                      </p:cBhvr>
                                      <p:to>
                                        <p:strVal val="visible"/>
                                      </p:to>
                                    </p:set>
                                  </p:childTnLst>
                                </p:cTn>
                              </p:par>
                              <p:par>
                                <p:cTn id="115" presetID="1" presetClass="exit" presetSubtype="0" fill="hold" grpId="1" nodeType="withEffect">
                                  <p:stCondLst>
                                    <p:cond delay="0"/>
                                  </p:stCondLst>
                                  <p:childTnLst>
                                    <p:set>
                                      <p:cBhvr>
                                        <p:cTn id="116" dur="1" fill="hold">
                                          <p:stCondLst>
                                            <p:cond delay="0"/>
                                          </p:stCondLst>
                                        </p:cTn>
                                        <p:tgtEl>
                                          <p:spTgt spid="74"/>
                                        </p:tgtEl>
                                        <p:attrNameLst>
                                          <p:attrName>style.visibility</p:attrName>
                                        </p:attrNameLst>
                                      </p:cBhvr>
                                      <p:to>
                                        <p:strVal val="hidden"/>
                                      </p:to>
                                    </p:set>
                                  </p:childTnLst>
                                </p:cTn>
                              </p:par>
                              <p:par>
                                <p:cTn id="117" presetID="1" presetClass="entr" presetSubtype="0" fill="hold" grpId="0" nodeType="withEffect">
                                  <p:stCondLst>
                                    <p:cond delay="0"/>
                                  </p:stCondLst>
                                  <p:childTnLst>
                                    <p:set>
                                      <p:cBhvr>
                                        <p:cTn id="118" dur="1" fill="hold">
                                          <p:stCondLst>
                                            <p:cond delay="0"/>
                                          </p:stCondLst>
                                        </p:cTn>
                                        <p:tgtEl>
                                          <p:spTgt spid="7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animBg="1"/>
      <p:bldP spid="41" grpId="0" animBg="1"/>
      <p:bldP spid="42" grpId="0" animBg="1"/>
      <p:bldP spid="44" grpId="0" animBg="1"/>
      <p:bldP spid="45" grpId="0" animBg="1"/>
      <p:bldP spid="47" grpId="0" animBg="1"/>
      <p:bldP spid="48" grpId="0" animBg="1"/>
      <p:bldP spid="50" grpId="0" animBg="1"/>
      <p:bldP spid="51" grpId="0" animBg="1"/>
      <p:bldP spid="53" grpId="0" animBg="1"/>
      <p:bldP spid="55" grpId="0" animBg="1"/>
      <p:bldP spid="56" grpId="0" animBg="1"/>
      <p:bldP spid="58" grpId="0" animBg="1"/>
      <p:bldP spid="59" grpId="0" animBg="1"/>
      <p:bldP spid="60" grpId="0" autoUpdateAnimBg="0"/>
      <p:bldP spid="61" grpId="0" autoUpdateAnimBg="0"/>
      <p:bldP spid="62" grpId="0" autoUpdateAnimBg="0"/>
      <p:bldP spid="64" grpId="0" autoUpdateAnimBg="0"/>
      <p:bldP spid="65" grpId="0" autoUpdateAnimBg="0"/>
      <p:bldP spid="74" grpId="0"/>
      <p:bldP spid="74" grpId="1"/>
      <p:bldP spid="76"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7" name="Group 3"/>
          <p:cNvGrpSpPr>
            <a:grpSpLocks/>
          </p:cNvGrpSpPr>
          <p:nvPr/>
        </p:nvGrpSpPr>
        <p:grpSpPr bwMode="auto">
          <a:xfrm>
            <a:off x="2889363" y="2348408"/>
            <a:ext cx="2016125" cy="1944688"/>
            <a:chOff x="1338" y="1434"/>
            <a:chExt cx="1270" cy="1225"/>
          </a:xfrm>
        </p:grpSpPr>
        <p:sp>
          <p:nvSpPr>
            <p:cNvPr id="79" name="Oval 4"/>
            <p:cNvSpPr>
              <a:spLocks noChangeArrowheads="1"/>
            </p:cNvSpPr>
            <p:nvPr/>
          </p:nvSpPr>
          <p:spPr bwMode="auto">
            <a:xfrm>
              <a:off x="1338" y="1434"/>
              <a:ext cx="317" cy="317"/>
            </a:xfrm>
            <a:prstGeom prst="ellipse">
              <a:avLst/>
            </a:prstGeom>
            <a:solidFill>
              <a:schemeClr val="bg1"/>
            </a:solidFill>
            <a:ln w="28575" cap="sq">
              <a:solidFill>
                <a:srgbClr val="0033CC"/>
              </a:solidFill>
              <a:miter lim="800000"/>
              <a:headEnd type="none" w="sm" len="sm"/>
              <a:tailEnd type="none" w="sm" len="sm"/>
            </a:ln>
          </p:spPr>
          <p:txBody>
            <a:bodyPr wrap="none" tIns="0" anchorCtr="1"/>
            <a:lstStyle/>
            <a:p>
              <a:r>
                <a:rPr lang="en-US" altLang="zh-CN"/>
                <a:t>A</a:t>
              </a:r>
              <a:endParaRPr lang="en-US" altLang="zh-CN" baseline="-25000"/>
            </a:p>
          </p:txBody>
        </p:sp>
        <p:sp>
          <p:nvSpPr>
            <p:cNvPr id="80" name="Oval 5"/>
            <p:cNvSpPr>
              <a:spLocks noChangeArrowheads="1"/>
            </p:cNvSpPr>
            <p:nvPr/>
          </p:nvSpPr>
          <p:spPr bwMode="auto">
            <a:xfrm>
              <a:off x="2291" y="1434"/>
              <a:ext cx="317" cy="317"/>
            </a:xfrm>
            <a:prstGeom prst="ellipse">
              <a:avLst/>
            </a:prstGeom>
            <a:solidFill>
              <a:schemeClr val="bg1"/>
            </a:solidFill>
            <a:ln w="28575" cap="sq">
              <a:solidFill>
                <a:srgbClr val="0033CC"/>
              </a:solidFill>
              <a:miter lim="800000"/>
              <a:headEnd type="none" w="sm" len="sm"/>
              <a:tailEnd type="none" w="sm" len="sm"/>
            </a:ln>
          </p:spPr>
          <p:txBody>
            <a:bodyPr wrap="none" tIns="0" anchorCtr="1"/>
            <a:lstStyle/>
            <a:p>
              <a:r>
                <a:rPr lang="en-US" altLang="zh-CN"/>
                <a:t>B</a:t>
              </a:r>
              <a:endParaRPr lang="en-US" altLang="zh-CN" baseline="-25000"/>
            </a:p>
          </p:txBody>
        </p:sp>
        <p:sp>
          <p:nvSpPr>
            <p:cNvPr id="81" name="Oval 6"/>
            <p:cNvSpPr>
              <a:spLocks noChangeArrowheads="1"/>
            </p:cNvSpPr>
            <p:nvPr/>
          </p:nvSpPr>
          <p:spPr bwMode="auto">
            <a:xfrm>
              <a:off x="1338" y="2342"/>
              <a:ext cx="317" cy="317"/>
            </a:xfrm>
            <a:prstGeom prst="ellipse">
              <a:avLst/>
            </a:prstGeom>
            <a:solidFill>
              <a:schemeClr val="bg1"/>
            </a:solidFill>
            <a:ln w="28575" cap="sq">
              <a:solidFill>
                <a:srgbClr val="0033CC"/>
              </a:solidFill>
              <a:miter lim="800000"/>
              <a:headEnd type="none" w="sm" len="sm"/>
              <a:tailEnd type="none" w="sm" len="sm"/>
            </a:ln>
          </p:spPr>
          <p:txBody>
            <a:bodyPr wrap="none" tIns="0" anchorCtr="1"/>
            <a:lstStyle/>
            <a:p>
              <a:r>
                <a:rPr lang="en-US" altLang="zh-CN"/>
                <a:t>C</a:t>
              </a:r>
              <a:endParaRPr lang="en-US" altLang="zh-CN" baseline="-25000"/>
            </a:p>
          </p:txBody>
        </p:sp>
        <p:sp>
          <p:nvSpPr>
            <p:cNvPr id="82" name="Oval 7"/>
            <p:cNvSpPr>
              <a:spLocks noChangeArrowheads="1"/>
            </p:cNvSpPr>
            <p:nvPr/>
          </p:nvSpPr>
          <p:spPr bwMode="auto">
            <a:xfrm>
              <a:off x="2290" y="2341"/>
              <a:ext cx="317" cy="317"/>
            </a:xfrm>
            <a:prstGeom prst="ellipse">
              <a:avLst/>
            </a:prstGeom>
            <a:solidFill>
              <a:schemeClr val="bg1"/>
            </a:solidFill>
            <a:ln w="28575" cap="sq">
              <a:solidFill>
                <a:srgbClr val="0033CC"/>
              </a:solidFill>
              <a:miter lim="800000"/>
              <a:headEnd type="none" w="sm" len="sm"/>
              <a:tailEnd type="none" w="sm" len="sm"/>
            </a:ln>
          </p:spPr>
          <p:txBody>
            <a:bodyPr wrap="none" tIns="0" anchorCtr="1"/>
            <a:lstStyle/>
            <a:p>
              <a:r>
                <a:rPr lang="en-US" altLang="zh-CN"/>
                <a:t>D</a:t>
              </a:r>
              <a:endParaRPr lang="en-US" altLang="zh-CN" baseline="-25000"/>
            </a:p>
          </p:txBody>
        </p:sp>
        <p:sp>
          <p:nvSpPr>
            <p:cNvPr id="83" name="Line 8"/>
            <p:cNvSpPr>
              <a:spLocks noChangeShapeType="1"/>
            </p:cNvSpPr>
            <p:nvPr/>
          </p:nvSpPr>
          <p:spPr bwMode="auto">
            <a:xfrm>
              <a:off x="1655" y="1616"/>
              <a:ext cx="635" cy="0"/>
            </a:xfrm>
            <a:prstGeom prst="line">
              <a:avLst/>
            </a:prstGeom>
            <a:noFill/>
            <a:ln w="28575" cap="sq">
              <a:solidFill>
                <a:srgbClr val="0033CC"/>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84" name="Line 9"/>
            <p:cNvSpPr>
              <a:spLocks noChangeShapeType="1"/>
            </p:cNvSpPr>
            <p:nvPr/>
          </p:nvSpPr>
          <p:spPr bwMode="auto">
            <a:xfrm>
              <a:off x="1655" y="2523"/>
              <a:ext cx="635" cy="0"/>
            </a:xfrm>
            <a:prstGeom prst="line">
              <a:avLst/>
            </a:prstGeom>
            <a:noFill/>
            <a:ln w="28575" cap="sq">
              <a:solidFill>
                <a:srgbClr val="0033CC"/>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85" name="Line 10"/>
            <p:cNvSpPr>
              <a:spLocks noChangeShapeType="1"/>
            </p:cNvSpPr>
            <p:nvPr/>
          </p:nvSpPr>
          <p:spPr bwMode="auto">
            <a:xfrm>
              <a:off x="1474" y="1752"/>
              <a:ext cx="0" cy="589"/>
            </a:xfrm>
            <a:prstGeom prst="line">
              <a:avLst/>
            </a:prstGeom>
            <a:noFill/>
            <a:ln w="28575" cap="sq">
              <a:solidFill>
                <a:srgbClr val="0033CC"/>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86" name="Line 11"/>
            <p:cNvSpPr>
              <a:spLocks noChangeShapeType="1"/>
            </p:cNvSpPr>
            <p:nvPr/>
          </p:nvSpPr>
          <p:spPr bwMode="auto">
            <a:xfrm flipH="1" flipV="1">
              <a:off x="1610" y="1706"/>
              <a:ext cx="771" cy="635"/>
            </a:xfrm>
            <a:prstGeom prst="line">
              <a:avLst/>
            </a:prstGeom>
            <a:noFill/>
            <a:ln w="28575" cap="sq">
              <a:solidFill>
                <a:srgbClr val="0033CC"/>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sp>
        <p:nvSpPr>
          <p:cNvPr id="78" name="Text Box 12"/>
          <p:cNvSpPr txBox="1">
            <a:spLocks noChangeArrowheads="1"/>
          </p:cNvSpPr>
          <p:nvPr/>
        </p:nvSpPr>
        <p:spPr bwMode="auto">
          <a:xfrm>
            <a:off x="2960800" y="4509914"/>
            <a:ext cx="22320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rgbClr val="000000"/>
                </a:solidFill>
                <a:miter lim="800000"/>
                <a:headEnd type="none" w="sm" len="sm"/>
                <a:tailEnd type="none" w="sm" len="sm"/>
              </a14:hiddenLine>
            </a:ext>
          </a:extLst>
        </p:spPr>
        <p:txBody>
          <a:bodyPr>
            <a:spAutoFit/>
          </a:bodyPr>
          <a:lstStyle>
            <a:lvl1pPr eaLnBrk="0" hangingPunct="0">
              <a:defRPr kumimoji="1" sz="2800">
                <a:solidFill>
                  <a:schemeClr val="tx1"/>
                </a:solidFill>
                <a:latin typeface="Comic Sans MS" pitchFamily="66" charset="0"/>
                <a:ea typeface="宋体" pitchFamily="2" charset="-122"/>
              </a:defRPr>
            </a:lvl1pPr>
            <a:lvl2pPr marL="742950" indent="-285750" eaLnBrk="0" hangingPunct="0">
              <a:defRPr kumimoji="1" sz="2800">
                <a:solidFill>
                  <a:schemeClr val="tx1"/>
                </a:solidFill>
                <a:latin typeface="Comic Sans MS" pitchFamily="66" charset="0"/>
                <a:ea typeface="宋体" pitchFamily="2" charset="-122"/>
              </a:defRPr>
            </a:lvl2pPr>
            <a:lvl3pPr marL="1143000" indent="-228600" eaLnBrk="0" hangingPunct="0">
              <a:defRPr kumimoji="1" sz="2800">
                <a:solidFill>
                  <a:schemeClr val="tx1"/>
                </a:solidFill>
                <a:latin typeface="Comic Sans MS" pitchFamily="66" charset="0"/>
                <a:ea typeface="宋体" pitchFamily="2" charset="-122"/>
              </a:defRPr>
            </a:lvl3pPr>
            <a:lvl4pPr marL="1600200" indent="-228600" eaLnBrk="0" hangingPunct="0">
              <a:defRPr kumimoji="1" sz="2800">
                <a:solidFill>
                  <a:schemeClr val="tx1"/>
                </a:solidFill>
                <a:latin typeface="Comic Sans MS" pitchFamily="66" charset="0"/>
                <a:ea typeface="宋体" pitchFamily="2" charset="-122"/>
              </a:defRPr>
            </a:lvl4pPr>
            <a:lvl5pPr marL="2057400" indent="-228600" eaLnBrk="0" hangingPunct="0">
              <a:defRPr kumimoji="1" sz="2800">
                <a:solidFill>
                  <a:schemeClr val="tx1"/>
                </a:solidFill>
                <a:latin typeface="Comic Sans MS" pitchFamily="66" charset="0"/>
                <a:ea typeface="宋体" pitchFamily="2" charset="-122"/>
              </a:defRPr>
            </a:lvl5pPr>
            <a:lvl6pPr marL="25146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6pPr>
            <a:lvl7pPr marL="29718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7pPr>
            <a:lvl8pPr marL="34290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8pPr>
            <a:lvl9pPr marL="38862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9pPr>
          </a:lstStyle>
          <a:p>
            <a:pPr algn="ctr" eaLnBrk="1" hangingPunct="1">
              <a:spcBef>
                <a:spcPct val="50000"/>
              </a:spcBef>
            </a:pPr>
            <a:r>
              <a:rPr lang="zh-CN" altLang="en-US" sz="1800" dirty="0">
                <a:latin typeface="微软雅黑" pitchFamily="34" charset="-122"/>
                <a:ea typeface="微软雅黑" pitchFamily="34" charset="-122"/>
                <a:cs typeface="经典粗黑简" pitchFamily="49" charset="-122"/>
              </a:rPr>
              <a:t>有向图</a:t>
            </a:r>
            <a:r>
              <a:rPr lang="en-US" altLang="zh-CN" sz="1800" dirty="0">
                <a:latin typeface="微软雅黑" pitchFamily="34" charset="-122"/>
                <a:ea typeface="微软雅黑" pitchFamily="34" charset="-122"/>
                <a:cs typeface="经典粗黑简" pitchFamily="49" charset="-122"/>
              </a:rPr>
              <a:t>G1</a:t>
            </a:r>
          </a:p>
        </p:txBody>
      </p:sp>
      <p:graphicFrame>
        <p:nvGraphicFramePr>
          <p:cNvPr id="87" name="Group 84"/>
          <p:cNvGraphicFramePr>
            <a:graphicFrameLocks noGrp="1"/>
          </p:cNvGraphicFramePr>
          <p:nvPr>
            <p:extLst>
              <p:ext uri="{D42A27DB-BD31-4B8C-83A1-F6EECF244321}">
                <p14:modId xmlns:p14="http://schemas.microsoft.com/office/powerpoint/2010/main" val="2535504826"/>
              </p:ext>
            </p:extLst>
          </p:nvPr>
        </p:nvGraphicFramePr>
        <p:xfrm>
          <a:off x="5753590" y="1945482"/>
          <a:ext cx="1008063" cy="2303463"/>
        </p:xfrm>
        <a:graphic>
          <a:graphicData uri="http://schemas.openxmlformats.org/drawingml/2006/table">
            <a:tbl>
              <a:tblPr/>
              <a:tblGrid>
                <a:gridCol w="336550">
                  <a:extLst>
                    <a:ext uri="{9D8B030D-6E8A-4147-A177-3AD203B41FA5}">
                      <a16:colId xmlns:a16="http://schemas.microsoft.com/office/drawing/2014/main" val="20000"/>
                    </a:ext>
                  </a:extLst>
                </a:gridCol>
                <a:gridCol w="384175">
                  <a:extLst>
                    <a:ext uri="{9D8B030D-6E8A-4147-A177-3AD203B41FA5}">
                      <a16:colId xmlns:a16="http://schemas.microsoft.com/office/drawing/2014/main" val="20001"/>
                    </a:ext>
                  </a:extLst>
                </a:gridCol>
                <a:gridCol w="287338">
                  <a:extLst>
                    <a:ext uri="{9D8B030D-6E8A-4147-A177-3AD203B41FA5}">
                      <a16:colId xmlns:a16="http://schemas.microsoft.com/office/drawing/2014/main" val="20002"/>
                    </a:ext>
                  </a:extLst>
                </a:gridCol>
              </a:tblGrid>
              <a:tr h="495300">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2400" b="1" i="0" u="none" strike="noStrike" cap="none" normalizeH="0" baseline="0">
                          <a:ln>
                            <a:noFill/>
                          </a:ln>
                          <a:solidFill>
                            <a:schemeClr val="tx1"/>
                          </a:solidFill>
                          <a:effectLst/>
                          <a:latin typeface="Comic Sans MS" pitchFamily="66" charset="0"/>
                          <a:ea typeface="ＭＳ Ｐゴシック" pitchFamily="34" charset="-128"/>
                        </a:rPr>
                        <a:t>0</a:t>
                      </a:r>
                    </a:p>
                  </a:txBody>
                  <a:tcPr horzOverflow="overflow">
                    <a:lnL>
                      <a:noFill/>
                    </a:lnL>
                    <a:lnR w="28575" cap="flat" cmpd="sng" algn="ctr">
                      <a:solidFill>
                        <a:srgbClr val="0033CC"/>
                      </a:solidFill>
                      <a:prstDash val="solid"/>
                      <a:miter lim="800000"/>
                      <a:headEnd type="none" w="sm" len="sm"/>
                      <a:tailEnd type="none" w="sm" len="sm"/>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2400" b="1" i="0" u="none" strike="noStrike" cap="none" normalizeH="0" baseline="0">
                          <a:ln>
                            <a:noFill/>
                          </a:ln>
                          <a:solidFill>
                            <a:schemeClr val="tx1"/>
                          </a:solidFill>
                          <a:effectLst/>
                          <a:latin typeface="Comic Sans MS" pitchFamily="66" charset="0"/>
                          <a:ea typeface="ＭＳ Ｐゴシック" pitchFamily="34" charset="-128"/>
                        </a:rPr>
                        <a:t>A</a:t>
                      </a:r>
                    </a:p>
                  </a:txBody>
                  <a:tcPr horzOverflow="overflow">
                    <a:lnL w="28575" cap="flat" cmpd="sng" algn="ctr">
                      <a:solidFill>
                        <a:srgbClr val="0033CC"/>
                      </a:solidFill>
                      <a:prstDash val="solid"/>
                      <a:miter lim="800000"/>
                      <a:headEnd type="none" w="sm" len="sm"/>
                      <a:tailEnd type="none" w="sm" len="sm"/>
                    </a:lnL>
                    <a:lnR w="28575" cap="flat" cmpd="sng" algn="ctr">
                      <a:solidFill>
                        <a:srgbClr val="0033CC"/>
                      </a:solidFill>
                      <a:prstDash val="solid"/>
                      <a:miter lim="800000"/>
                      <a:headEnd type="none" w="sm" len="sm"/>
                      <a:tailEnd type="none" w="sm" len="sm"/>
                    </a:lnR>
                    <a:lnT w="28575" cap="flat" cmpd="sng" algn="ctr">
                      <a:solidFill>
                        <a:srgbClr val="0033CC"/>
                      </a:solidFill>
                      <a:prstDash val="solid"/>
                      <a:miter lim="800000"/>
                      <a:headEnd type="none" w="sm" len="sm"/>
                      <a:tailEnd type="none" w="sm" len="sm"/>
                    </a:lnT>
                    <a:lnB w="28575" cap="flat" cmpd="sng" algn="ctr">
                      <a:solidFill>
                        <a:srgbClr val="0033CC"/>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endParaRPr kumimoji="0" lang="zh-CN" altLang="en-US" sz="2400" b="1" i="0" u="none" strike="noStrike" cap="none" normalizeH="0" baseline="0">
                        <a:ln>
                          <a:noFill/>
                        </a:ln>
                        <a:solidFill>
                          <a:schemeClr val="tx1"/>
                        </a:solidFill>
                        <a:effectLst/>
                        <a:latin typeface="Comic Sans MS" pitchFamily="66" charset="0"/>
                        <a:ea typeface="ＭＳ Ｐゴシック" pitchFamily="34" charset="-128"/>
                      </a:endParaRPr>
                    </a:p>
                  </a:txBody>
                  <a:tcPr horzOverflow="overflow">
                    <a:lnL w="28575" cap="flat" cmpd="sng" algn="ctr">
                      <a:solidFill>
                        <a:srgbClr val="0033CC"/>
                      </a:solidFill>
                      <a:prstDash val="solid"/>
                      <a:miter lim="800000"/>
                      <a:headEnd type="none" w="sm" len="sm"/>
                      <a:tailEnd type="none" w="sm" len="sm"/>
                    </a:lnL>
                    <a:lnR w="28575" cap="flat" cmpd="sng" algn="ctr">
                      <a:solidFill>
                        <a:srgbClr val="0033CC"/>
                      </a:solidFill>
                      <a:prstDash val="solid"/>
                      <a:miter lim="800000"/>
                      <a:headEnd type="none" w="sm" len="sm"/>
                      <a:tailEnd type="none" w="sm" len="sm"/>
                    </a:lnR>
                    <a:lnT w="28575" cap="flat" cmpd="sng" algn="ctr">
                      <a:solidFill>
                        <a:srgbClr val="0033CC"/>
                      </a:solidFill>
                      <a:prstDash val="solid"/>
                      <a:miter lim="800000"/>
                      <a:headEnd type="none" w="sm" len="sm"/>
                      <a:tailEnd type="none" w="sm" len="sm"/>
                    </a:lnT>
                    <a:lnB w="28575" cap="flat" cmpd="sng" algn="ctr">
                      <a:solidFill>
                        <a:srgbClr val="0033CC"/>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10000"/>
                  </a:ext>
                </a:extLst>
              </a:tr>
              <a:tr h="609600">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2400" b="1" i="0" u="none" strike="noStrike" cap="none" normalizeH="0" baseline="0">
                          <a:ln>
                            <a:noFill/>
                          </a:ln>
                          <a:solidFill>
                            <a:schemeClr val="tx1"/>
                          </a:solidFill>
                          <a:effectLst/>
                          <a:latin typeface="Comic Sans MS" pitchFamily="66" charset="0"/>
                          <a:ea typeface="ＭＳ Ｐゴシック" pitchFamily="34" charset="-128"/>
                        </a:rPr>
                        <a:t>1</a:t>
                      </a:r>
                    </a:p>
                  </a:txBody>
                  <a:tcPr horzOverflow="overflow">
                    <a:lnL>
                      <a:noFill/>
                    </a:lnL>
                    <a:lnR w="28575" cap="flat" cmpd="sng" algn="ctr">
                      <a:solidFill>
                        <a:srgbClr val="0033CC"/>
                      </a:solidFill>
                      <a:prstDash val="solid"/>
                      <a:miter lim="800000"/>
                      <a:headEnd type="none" w="sm" len="sm"/>
                      <a:tailEnd type="none" w="sm" len="sm"/>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2400" b="1" i="0" u="none" strike="noStrike" cap="none" normalizeH="0" baseline="0">
                          <a:ln>
                            <a:noFill/>
                          </a:ln>
                          <a:solidFill>
                            <a:schemeClr val="tx1"/>
                          </a:solidFill>
                          <a:effectLst/>
                          <a:latin typeface="Comic Sans MS" pitchFamily="66" charset="0"/>
                          <a:ea typeface="ＭＳ Ｐゴシック" pitchFamily="34" charset="-128"/>
                        </a:rPr>
                        <a:t>B</a:t>
                      </a:r>
                    </a:p>
                  </a:txBody>
                  <a:tcPr horzOverflow="overflow">
                    <a:lnL w="28575" cap="flat" cmpd="sng" algn="ctr">
                      <a:solidFill>
                        <a:srgbClr val="0033CC"/>
                      </a:solidFill>
                      <a:prstDash val="solid"/>
                      <a:miter lim="800000"/>
                      <a:headEnd type="none" w="sm" len="sm"/>
                      <a:tailEnd type="none" w="sm" len="sm"/>
                    </a:lnL>
                    <a:lnR w="28575" cap="flat" cmpd="sng" algn="ctr">
                      <a:solidFill>
                        <a:srgbClr val="0033CC"/>
                      </a:solidFill>
                      <a:prstDash val="solid"/>
                      <a:miter lim="800000"/>
                      <a:headEnd type="none" w="sm" len="sm"/>
                      <a:tailEnd type="none" w="sm" len="sm"/>
                    </a:lnR>
                    <a:lnT w="28575" cap="flat" cmpd="sng" algn="ctr">
                      <a:solidFill>
                        <a:srgbClr val="0033CC"/>
                      </a:solidFill>
                      <a:prstDash val="solid"/>
                      <a:miter lim="800000"/>
                      <a:headEnd type="none" w="sm" len="sm"/>
                      <a:tailEnd type="none" w="sm" len="sm"/>
                    </a:lnT>
                    <a:lnB w="28575" cap="flat" cmpd="sng" algn="ctr">
                      <a:solidFill>
                        <a:srgbClr val="0033CC"/>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endParaRPr kumimoji="0" lang="zh-CN" altLang="en-US" sz="2400" b="1" i="0" u="none" strike="noStrike" cap="none" normalizeH="0" baseline="0">
                        <a:ln>
                          <a:noFill/>
                        </a:ln>
                        <a:solidFill>
                          <a:schemeClr val="tx1"/>
                        </a:solidFill>
                        <a:effectLst/>
                        <a:latin typeface="Comic Sans MS" pitchFamily="66" charset="0"/>
                        <a:ea typeface="ＭＳ Ｐゴシック" pitchFamily="34" charset="-128"/>
                      </a:endParaRPr>
                    </a:p>
                  </a:txBody>
                  <a:tcPr horzOverflow="overflow">
                    <a:lnL w="28575" cap="flat" cmpd="sng" algn="ctr">
                      <a:solidFill>
                        <a:srgbClr val="0033CC"/>
                      </a:solidFill>
                      <a:prstDash val="solid"/>
                      <a:miter lim="800000"/>
                      <a:headEnd type="none" w="sm" len="sm"/>
                      <a:tailEnd type="none" w="sm" len="sm"/>
                    </a:lnL>
                    <a:lnR w="28575" cap="flat" cmpd="sng" algn="ctr">
                      <a:solidFill>
                        <a:srgbClr val="0033CC"/>
                      </a:solidFill>
                      <a:prstDash val="solid"/>
                      <a:miter lim="800000"/>
                      <a:headEnd type="none" w="sm" len="sm"/>
                      <a:tailEnd type="none" w="sm" len="sm"/>
                    </a:lnR>
                    <a:lnT w="28575" cap="flat" cmpd="sng" algn="ctr">
                      <a:solidFill>
                        <a:srgbClr val="0033CC"/>
                      </a:solidFill>
                      <a:prstDash val="solid"/>
                      <a:miter lim="800000"/>
                      <a:headEnd type="none" w="sm" len="sm"/>
                      <a:tailEnd type="none" w="sm" len="sm"/>
                    </a:lnT>
                    <a:lnB w="28575" cap="flat" cmpd="sng" algn="ctr">
                      <a:solidFill>
                        <a:srgbClr val="0033CC"/>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10001"/>
                  </a:ext>
                </a:extLst>
              </a:tr>
              <a:tr h="608013">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2400" b="1" i="0" u="none" strike="noStrike" cap="none" normalizeH="0" baseline="0">
                          <a:ln>
                            <a:noFill/>
                          </a:ln>
                          <a:solidFill>
                            <a:schemeClr val="tx1"/>
                          </a:solidFill>
                          <a:effectLst/>
                          <a:latin typeface="Comic Sans MS" pitchFamily="66" charset="0"/>
                          <a:ea typeface="ＭＳ Ｐゴシック" pitchFamily="34" charset="-128"/>
                        </a:rPr>
                        <a:t>2</a:t>
                      </a:r>
                    </a:p>
                  </a:txBody>
                  <a:tcPr horzOverflow="overflow">
                    <a:lnL>
                      <a:noFill/>
                    </a:lnL>
                    <a:lnR w="28575" cap="flat" cmpd="sng" algn="ctr">
                      <a:solidFill>
                        <a:srgbClr val="0033CC"/>
                      </a:solidFill>
                      <a:prstDash val="solid"/>
                      <a:miter lim="800000"/>
                      <a:headEnd type="none" w="sm" len="sm"/>
                      <a:tailEnd type="none" w="sm" len="sm"/>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2400" b="1" i="0" u="none" strike="noStrike" cap="none" normalizeH="0" baseline="0">
                          <a:ln>
                            <a:noFill/>
                          </a:ln>
                          <a:solidFill>
                            <a:schemeClr val="tx1"/>
                          </a:solidFill>
                          <a:effectLst/>
                          <a:latin typeface="Comic Sans MS" pitchFamily="66" charset="0"/>
                          <a:ea typeface="ＭＳ Ｐゴシック" pitchFamily="34" charset="-128"/>
                        </a:rPr>
                        <a:t>C</a:t>
                      </a:r>
                    </a:p>
                  </a:txBody>
                  <a:tcPr horzOverflow="overflow">
                    <a:lnL w="28575" cap="flat" cmpd="sng" algn="ctr">
                      <a:solidFill>
                        <a:srgbClr val="0033CC"/>
                      </a:solidFill>
                      <a:prstDash val="solid"/>
                      <a:miter lim="800000"/>
                      <a:headEnd type="none" w="sm" len="sm"/>
                      <a:tailEnd type="none" w="sm" len="sm"/>
                    </a:lnL>
                    <a:lnR w="28575" cap="flat" cmpd="sng" algn="ctr">
                      <a:solidFill>
                        <a:srgbClr val="0033CC"/>
                      </a:solidFill>
                      <a:prstDash val="solid"/>
                      <a:miter lim="800000"/>
                      <a:headEnd type="none" w="sm" len="sm"/>
                      <a:tailEnd type="none" w="sm" len="sm"/>
                    </a:lnR>
                    <a:lnT w="28575" cap="flat" cmpd="sng" algn="ctr">
                      <a:solidFill>
                        <a:srgbClr val="0033CC"/>
                      </a:solidFill>
                      <a:prstDash val="solid"/>
                      <a:miter lim="800000"/>
                      <a:headEnd type="none" w="sm" len="sm"/>
                      <a:tailEnd type="none" w="sm" len="sm"/>
                    </a:lnT>
                    <a:lnB w="28575" cap="flat" cmpd="sng" algn="ctr">
                      <a:solidFill>
                        <a:srgbClr val="0033CC"/>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endParaRPr kumimoji="0" lang="zh-CN" altLang="en-US" sz="2400" b="1" i="0" u="none" strike="noStrike" cap="none" normalizeH="0" baseline="0">
                        <a:ln>
                          <a:noFill/>
                        </a:ln>
                        <a:solidFill>
                          <a:schemeClr val="tx1"/>
                        </a:solidFill>
                        <a:effectLst/>
                        <a:latin typeface="Comic Sans MS" pitchFamily="66" charset="0"/>
                        <a:ea typeface="ＭＳ Ｐゴシック" pitchFamily="34" charset="-128"/>
                      </a:endParaRPr>
                    </a:p>
                  </a:txBody>
                  <a:tcPr horzOverflow="overflow">
                    <a:lnL w="28575" cap="flat" cmpd="sng" algn="ctr">
                      <a:solidFill>
                        <a:srgbClr val="0033CC"/>
                      </a:solidFill>
                      <a:prstDash val="solid"/>
                      <a:miter lim="800000"/>
                      <a:headEnd type="none" w="sm" len="sm"/>
                      <a:tailEnd type="none" w="sm" len="sm"/>
                    </a:lnL>
                    <a:lnR w="28575" cap="flat" cmpd="sng" algn="ctr">
                      <a:solidFill>
                        <a:srgbClr val="0033CC"/>
                      </a:solidFill>
                      <a:prstDash val="solid"/>
                      <a:miter lim="800000"/>
                      <a:headEnd type="none" w="sm" len="sm"/>
                      <a:tailEnd type="none" w="sm" len="sm"/>
                    </a:lnR>
                    <a:lnT w="28575" cap="flat" cmpd="sng" algn="ctr">
                      <a:solidFill>
                        <a:srgbClr val="0033CC"/>
                      </a:solidFill>
                      <a:prstDash val="solid"/>
                      <a:miter lim="800000"/>
                      <a:headEnd type="none" w="sm" len="sm"/>
                      <a:tailEnd type="none" w="sm" len="sm"/>
                    </a:lnT>
                    <a:lnB w="28575" cap="flat" cmpd="sng" algn="ctr">
                      <a:solidFill>
                        <a:srgbClr val="0033CC"/>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10002"/>
                  </a:ext>
                </a:extLst>
              </a:tr>
              <a:tr h="590550">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2400" b="1" i="0" u="none" strike="noStrike" cap="none" normalizeH="0" baseline="0">
                          <a:ln>
                            <a:noFill/>
                          </a:ln>
                          <a:solidFill>
                            <a:schemeClr val="tx1"/>
                          </a:solidFill>
                          <a:effectLst/>
                          <a:latin typeface="Comic Sans MS" pitchFamily="66" charset="0"/>
                          <a:ea typeface="ＭＳ Ｐゴシック" pitchFamily="34" charset="-128"/>
                        </a:rPr>
                        <a:t>3</a:t>
                      </a:r>
                    </a:p>
                  </a:txBody>
                  <a:tcPr horzOverflow="overflow">
                    <a:lnL>
                      <a:noFill/>
                    </a:lnL>
                    <a:lnR w="28575" cap="flat" cmpd="sng" algn="ctr">
                      <a:solidFill>
                        <a:srgbClr val="0033CC"/>
                      </a:solidFill>
                      <a:prstDash val="solid"/>
                      <a:miter lim="800000"/>
                      <a:headEnd type="none" w="sm" len="sm"/>
                      <a:tailEnd type="none" w="sm" len="sm"/>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2400" b="1" i="0" u="none" strike="noStrike" cap="none" normalizeH="0" baseline="0">
                          <a:ln>
                            <a:noFill/>
                          </a:ln>
                          <a:solidFill>
                            <a:schemeClr val="tx1"/>
                          </a:solidFill>
                          <a:effectLst/>
                          <a:latin typeface="Comic Sans MS" pitchFamily="66" charset="0"/>
                          <a:ea typeface="ＭＳ Ｐゴシック" pitchFamily="34" charset="-128"/>
                        </a:rPr>
                        <a:t>D</a:t>
                      </a:r>
                    </a:p>
                  </a:txBody>
                  <a:tcPr horzOverflow="overflow">
                    <a:lnL w="28575" cap="flat" cmpd="sng" algn="ctr">
                      <a:solidFill>
                        <a:srgbClr val="0033CC"/>
                      </a:solidFill>
                      <a:prstDash val="solid"/>
                      <a:miter lim="800000"/>
                      <a:headEnd type="none" w="sm" len="sm"/>
                      <a:tailEnd type="none" w="sm" len="sm"/>
                    </a:lnL>
                    <a:lnR w="28575" cap="flat" cmpd="sng" algn="ctr">
                      <a:solidFill>
                        <a:srgbClr val="0033CC"/>
                      </a:solidFill>
                      <a:prstDash val="solid"/>
                      <a:miter lim="800000"/>
                      <a:headEnd type="none" w="sm" len="sm"/>
                      <a:tailEnd type="none" w="sm" len="sm"/>
                    </a:lnR>
                    <a:lnT w="28575" cap="flat" cmpd="sng" algn="ctr">
                      <a:solidFill>
                        <a:srgbClr val="0033CC"/>
                      </a:solidFill>
                      <a:prstDash val="solid"/>
                      <a:miter lim="800000"/>
                      <a:headEnd type="none" w="sm" len="sm"/>
                      <a:tailEnd type="none" w="sm" len="sm"/>
                    </a:lnT>
                    <a:lnB w="28575" cap="flat" cmpd="sng" algn="ctr">
                      <a:solidFill>
                        <a:srgbClr val="0033CC"/>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endParaRPr kumimoji="0" lang="zh-CN" altLang="en-US" sz="2400" b="1" i="0" u="none" strike="noStrike" cap="none" normalizeH="0" baseline="0">
                        <a:ln>
                          <a:noFill/>
                        </a:ln>
                        <a:solidFill>
                          <a:schemeClr val="tx1"/>
                        </a:solidFill>
                        <a:effectLst/>
                        <a:latin typeface="Comic Sans MS" pitchFamily="66" charset="0"/>
                        <a:ea typeface="ＭＳ Ｐゴシック" pitchFamily="34" charset="-128"/>
                      </a:endParaRPr>
                    </a:p>
                  </a:txBody>
                  <a:tcPr horzOverflow="overflow">
                    <a:lnL w="28575" cap="flat" cmpd="sng" algn="ctr">
                      <a:solidFill>
                        <a:srgbClr val="0033CC"/>
                      </a:solidFill>
                      <a:prstDash val="solid"/>
                      <a:miter lim="800000"/>
                      <a:headEnd type="none" w="sm" len="sm"/>
                      <a:tailEnd type="none" w="sm" len="sm"/>
                    </a:lnL>
                    <a:lnR w="28575" cap="flat" cmpd="sng" algn="ctr">
                      <a:solidFill>
                        <a:srgbClr val="0033CC"/>
                      </a:solidFill>
                      <a:prstDash val="solid"/>
                      <a:miter lim="800000"/>
                      <a:headEnd type="none" w="sm" len="sm"/>
                      <a:tailEnd type="none" w="sm" len="sm"/>
                    </a:lnR>
                    <a:lnT w="28575" cap="flat" cmpd="sng" algn="ctr">
                      <a:solidFill>
                        <a:srgbClr val="0033CC"/>
                      </a:solidFill>
                      <a:prstDash val="solid"/>
                      <a:miter lim="800000"/>
                      <a:headEnd type="none" w="sm" len="sm"/>
                      <a:tailEnd type="none" w="sm" len="sm"/>
                    </a:lnT>
                    <a:lnB w="28575" cap="flat" cmpd="sng" algn="ctr">
                      <a:solidFill>
                        <a:srgbClr val="0033CC"/>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10003"/>
                  </a:ext>
                </a:extLst>
              </a:tr>
            </a:tbl>
          </a:graphicData>
        </a:graphic>
      </p:graphicFrame>
      <p:sp>
        <p:nvSpPr>
          <p:cNvPr id="88" name="Line 40"/>
          <p:cNvSpPr>
            <a:spLocks noChangeShapeType="1"/>
          </p:cNvSpPr>
          <p:nvPr/>
        </p:nvSpPr>
        <p:spPr bwMode="auto">
          <a:xfrm>
            <a:off x="6594964" y="2161381"/>
            <a:ext cx="647700" cy="0"/>
          </a:xfrm>
          <a:prstGeom prst="line">
            <a:avLst/>
          </a:prstGeom>
          <a:noFill/>
          <a:ln w="28575" cap="sq">
            <a:solidFill>
              <a:srgbClr val="0000FF"/>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89" name="Line 41"/>
          <p:cNvSpPr>
            <a:spLocks noChangeShapeType="1"/>
          </p:cNvSpPr>
          <p:nvPr/>
        </p:nvSpPr>
        <p:spPr bwMode="auto">
          <a:xfrm>
            <a:off x="7818927" y="2161381"/>
            <a:ext cx="647700" cy="0"/>
          </a:xfrm>
          <a:prstGeom prst="line">
            <a:avLst/>
          </a:prstGeom>
          <a:noFill/>
          <a:ln w="28575" cap="sq">
            <a:solidFill>
              <a:srgbClr val="0000FF"/>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aphicFrame>
        <p:nvGraphicFramePr>
          <p:cNvPr id="90" name="Group 42"/>
          <p:cNvGraphicFramePr>
            <a:graphicFrameLocks noGrp="1"/>
          </p:cNvGraphicFramePr>
          <p:nvPr>
            <p:extLst>
              <p:ext uri="{D42A27DB-BD31-4B8C-83A1-F6EECF244321}">
                <p14:modId xmlns:p14="http://schemas.microsoft.com/office/powerpoint/2010/main" val="3578678561"/>
              </p:ext>
            </p:extLst>
          </p:nvPr>
        </p:nvGraphicFramePr>
        <p:xfrm>
          <a:off x="7242664" y="1945481"/>
          <a:ext cx="744538" cy="457200"/>
        </p:xfrm>
        <a:graphic>
          <a:graphicData uri="http://schemas.openxmlformats.org/drawingml/2006/table">
            <a:tbl>
              <a:tblPr/>
              <a:tblGrid>
                <a:gridCol w="360363">
                  <a:extLst>
                    <a:ext uri="{9D8B030D-6E8A-4147-A177-3AD203B41FA5}">
                      <a16:colId xmlns:a16="http://schemas.microsoft.com/office/drawing/2014/main" val="20000"/>
                    </a:ext>
                  </a:extLst>
                </a:gridCol>
                <a:gridCol w="384175">
                  <a:extLst>
                    <a:ext uri="{9D8B030D-6E8A-4147-A177-3AD203B41FA5}">
                      <a16:colId xmlns:a16="http://schemas.microsoft.com/office/drawing/2014/main" val="20001"/>
                    </a:ext>
                  </a:extLst>
                </a:gridCol>
              </a:tblGrid>
              <a:tr h="455613">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2400" b="1" i="0" u="none" strike="noStrike" cap="none" normalizeH="0" baseline="0">
                          <a:ln>
                            <a:noFill/>
                          </a:ln>
                          <a:solidFill>
                            <a:schemeClr val="tx1"/>
                          </a:solidFill>
                          <a:effectLst/>
                          <a:latin typeface="Comic Sans MS" pitchFamily="66" charset="0"/>
                          <a:ea typeface="ＭＳ Ｐゴシック" pitchFamily="34" charset="-128"/>
                        </a:rPr>
                        <a:t>1</a:t>
                      </a:r>
                    </a:p>
                  </a:txBody>
                  <a:tcPr horzOverflow="overflow">
                    <a:lnL w="28575" cap="flat" cmpd="sng" algn="ctr">
                      <a:solidFill>
                        <a:srgbClr val="0033CC"/>
                      </a:solidFill>
                      <a:prstDash val="solid"/>
                      <a:miter lim="800000"/>
                      <a:headEnd type="none" w="sm" len="sm"/>
                      <a:tailEnd type="none" w="sm" len="sm"/>
                    </a:lnL>
                    <a:lnR w="28575" cap="flat" cmpd="sng" algn="ctr">
                      <a:solidFill>
                        <a:srgbClr val="0033CC"/>
                      </a:solidFill>
                      <a:prstDash val="solid"/>
                      <a:miter lim="800000"/>
                      <a:headEnd type="none" w="sm" len="sm"/>
                      <a:tailEnd type="none" w="sm" len="sm"/>
                    </a:lnR>
                    <a:lnT w="28575" cap="flat" cmpd="sng" algn="ctr">
                      <a:solidFill>
                        <a:srgbClr val="0033CC"/>
                      </a:solidFill>
                      <a:prstDash val="solid"/>
                      <a:miter lim="800000"/>
                      <a:headEnd type="none" w="sm" len="sm"/>
                      <a:tailEnd type="none" w="sm" len="sm"/>
                    </a:lnT>
                    <a:lnB w="28575" cap="flat" cmpd="sng" algn="ctr">
                      <a:solidFill>
                        <a:srgbClr val="0033CC"/>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endParaRPr kumimoji="0" lang="zh-CN" altLang="en-US" sz="2400" b="1" i="0" u="none" strike="noStrike" cap="none" normalizeH="0" baseline="0">
                        <a:ln>
                          <a:noFill/>
                        </a:ln>
                        <a:solidFill>
                          <a:schemeClr val="tx1"/>
                        </a:solidFill>
                        <a:effectLst/>
                        <a:latin typeface="Comic Sans MS" pitchFamily="66" charset="0"/>
                        <a:ea typeface="ＭＳ Ｐゴシック" pitchFamily="34" charset="-128"/>
                      </a:endParaRPr>
                    </a:p>
                  </a:txBody>
                  <a:tcPr horzOverflow="overflow">
                    <a:lnL w="28575" cap="flat" cmpd="sng" algn="ctr">
                      <a:solidFill>
                        <a:srgbClr val="0033CC"/>
                      </a:solidFill>
                      <a:prstDash val="solid"/>
                      <a:miter lim="800000"/>
                      <a:headEnd type="none" w="sm" len="sm"/>
                      <a:tailEnd type="none" w="sm" len="sm"/>
                    </a:lnL>
                    <a:lnR w="28575" cap="flat" cmpd="sng" algn="ctr">
                      <a:solidFill>
                        <a:srgbClr val="0033CC"/>
                      </a:solidFill>
                      <a:prstDash val="solid"/>
                      <a:miter lim="800000"/>
                      <a:headEnd type="none" w="sm" len="sm"/>
                      <a:tailEnd type="none" w="sm" len="sm"/>
                    </a:lnR>
                    <a:lnT w="28575" cap="flat" cmpd="sng" algn="ctr">
                      <a:solidFill>
                        <a:srgbClr val="0033CC"/>
                      </a:solidFill>
                      <a:prstDash val="solid"/>
                      <a:miter lim="800000"/>
                      <a:headEnd type="none" w="sm" len="sm"/>
                      <a:tailEnd type="none" w="sm" len="sm"/>
                    </a:lnT>
                    <a:lnB w="28575" cap="flat" cmpd="sng" algn="ctr">
                      <a:solidFill>
                        <a:srgbClr val="0033CC"/>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91" name="Group 50"/>
          <p:cNvGraphicFramePr>
            <a:graphicFrameLocks noGrp="1"/>
          </p:cNvGraphicFramePr>
          <p:nvPr>
            <p:extLst>
              <p:ext uri="{D42A27DB-BD31-4B8C-83A1-F6EECF244321}">
                <p14:modId xmlns:p14="http://schemas.microsoft.com/office/powerpoint/2010/main" val="2231690626"/>
              </p:ext>
            </p:extLst>
          </p:nvPr>
        </p:nvGraphicFramePr>
        <p:xfrm>
          <a:off x="8466628" y="1945481"/>
          <a:ext cx="744537" cy="457200"/>
        </p:xfrm>
        <a:graphic>
          <a:graphicData uri="http://schemas.openxmlformats.org/drawingml/2006/table">
            <a:tbl>
              <a:tblPr/>
              <a:tblGrid>
                <a:gridCol w="360362">
                  <a:extLst>
                    <a:ext uri="{9D8B030D-6E8A-4147-A177-3AD203B41FA5}">
                      <a16:colId xmlns:a16="http://schemas.microsoft.com/office/drawing/2014/main" val="20000"/>
                    </a:ext>
                  </a:extLst>
                </a:gridCol>
                <a:gridCol w="384175">
                  <a:extLst>
                    <a:ext uri="{9D8B030D-6E8A-4147-A177-3AD203B41FA5}">
                      <a16:colId xmlns:a16="http://schemas.microsoft.com/office/drawing/2014/main" val="20001"/>
                    </a:ext>
                  </a:extLst>
                </a:gridCol>
              </a:tblGrid>
              <a:tr h="455613">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2400" b="1" i="0" u="none" strike="noStrike" cap="none" normalizeH="0" baseline="0">
                          <a:ln>
                            <a:noFill/>
                          </a:ln>
                          <a:solidFill>
                            <a:schemeClr val="tx1"/>
                          </a:solidFill>
                          <a:effectLst/>
                          <a:latin typeface="Comic Sans MS" pitchFamily="66" charset="0"/>
                          <a:ea typeface="ＭＳ Ｐゴシック" pitchFamily="34" charset="-128"/>
                        </a:rPr>
                        <a:t>2</a:t>
                      </a:r>
                    </a:p>
                  </a:txBody>
                  <a:tcPr horzOverflow="overflow">
                    <a:lnL w="28575" cap="flat" cmpd="sng" algn="ctr">
                      <a:solidFill>
                        <a:srgbClr val="0033CC"/>
                      </a:solidFill>
                      <a:prstDash val="solid"/>
                      <a:miter lim="800000"/>
                      <a:headEnd type="none" w="sm" len="sm"/>
                      <a:tailEnd type="none" w="sm" len="sm"/>
                    </a:lnL>
                    <a:lnR w="28575" cap="flat" cmpd="sng" algn="ctr">
                      <a:solidFill>
                        <a:srgbClr val="0033CC"/>
                      </a:solidFill>
                      <a:prstDash val="solid"/>
                      <a:miter lim="800000"/>
                      <a:headEnd type="none" w="sm" len="sm"/>
                      <a:tailEnd type="none" w="sm" len="sm"/>
                    </a:lnR>
                    <a:lnT w="28575" cap="flat" cmpd="sng" algn="ctr">
                      <a:solidFill>
                        <a:srgbClr val="0033CC"/>
                      </a:solidFill>
                      <a:prstDash val="solid"/>
                      <a:miter lim="800000"/>
                      <a:headEnd type="none" w="sm" len="sm"/>
                      <a:tailEnd type="none" w="sm" len="sm"/>
                    </a:lnT>
                    <a:lnB w="28575" cap="flat" cmpd="sng" algn="ctr">
                      <a:solidFill>
                        <a:srgbClr val="0033CC"/>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endParaRPr kumimoji="0" lang="zh-CN" altLang="en-US" sz="2400" b="1" i="0" u="none" strike="noStrike" cap="none" normalizeH="0" baseline="0">
                        <a:ln>
                          <a:noFill/>
                        </a:ln>
                        <a:solidFill>
                          <a:schemeClr val="tx1"/>
                        </a:solidFill>
                        <a:effectLst/>
                        <a:latin typeface="Comic Sans MS" pitchFamily="66" charset="0"/>
                        <a:ea typeface="ＭＳ Ｐゴシック" pitchFamily="34" charset="-128"/>
                      </a:endParaRPr>
                    </a:p>
                  </a:txBody>
                  <a:tcPr horzOverflow="overflow">
                    <a:lnL w="28575" cap="flat" cmpd="sng" algn="ctr">
                      <a:solidFill>
                        <a:srgbClr val="0033CC"/>
                      </a:solidFill>
                      <a:prstDash val="solid"/>
                      <a:miter lim="800000"/>
                      <a:headEnd type="none" w="sm" len="sm"/>
                      <a:tailEnd type="none" w="sm" len="sm"/>
                    </a:lnL>
                    <a:lnR w="28575" cap="flat" cmpd="sng" algn="ctr">
                      <a:solidFill>
                        <a:srgbClr val="0033CC"/>
                      </a:solidFill>
                      <a:prstDash val="solid"/>
                      <a:miter lim="800000"/>
                      <a:headEnd type="none" w="sm" len="sm"/>
                      <a:tailEnd type="none" w="sm" len="sm"/>
                    </a:lnR>
                    <a:lnT w="28575" cap="flat" cmpd="sng" algn="ctr">
                      <a:solidFill>
                        <a:srgbClr val="0033CC"/>
                      </a:solidFill>
                      <a:prstDash val="solid"/>
                      <a:miter lim="800000"/>
                      <a:headEnd type="none" w="sm" len="sm"/>
                      <a:tailEnd type="none" w="sm" len="sm"/>
                    </a:lnT>
                    <a:lnB w="28575" cap="flat" cmpd="sng" algn="ctr">
                      <a:solidFill>
                        <a:srgbClr val="0033CC"/>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10000"/>
                  </a:ext>
                </a:extLst>
              </a:tr>
            </a:tbl>
          </a:graphicData>
        </a:graphic>
      </p:graphicFrame>
      <p:sp>
        <p:nvSpPr>
          <p:cNvPr id="92" name="Rectangle 58"/>
          <p:cNvSpPr>
            <a:spLocks noChangeArrowheads="1"/>
          </p:cNvSpPr>
          <p:nvPr/>
        </p:nvSpPr>
        <p:spPr bwMode="auto">
          <a:xfrm>
            <a:off x="8839689" y="1996282"/>
            <a:ext cx="33855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p>
            <a:r>
              <a:rPr lang="en-US" altLang="zh-CN" sz="2400" b="1"/>
              <a:t>^</a:t>
            </a:r>
          </a:p>
        </p:txBody>
      </p:sp>
      <p:sp>
        <p:nvSpPr>
          <p:cNvPr id="93" name="Rectangle 59"/>
          <p:cNvSpPr>
            <a:spLocks noChangeArrowheads="1"/>
          </p:cNvSpPr>
          <p:nvPr/>
        </p:nvSpPr>
        <p:spPr bwMode="auto">
          <a:xfrm>
            <a:off x="6469552" y="2501107"/>
            <a:ext cx="33855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p>
            <a:r>
              <a:rPr lang="en-US" altLang="zh-CN" sz="2400" b="1"/>
              <a:t>^</a:t>
            </a:r>
          </a:p>
        </p:txBody>
      </p:sp>
      <p:sp>
        <p:nvSpPr>
          <p:cNvPr id="94" name="Line 60"/>
          <p:cNvSpPr>
            <a:spLocks noChangeShapeType="1"/>
          </p:cNvSpPr>
          <p:nvPr/>
        </p:nvSpPr>
        <p:spPr bwMode="auto">
          <a:xfrm>
            <a:off x="6618777" y="3385344"/>
            <a:ext cx="647700" cy="0"/>
          </a:xfrm>
          <a:prstGeom prst="line">
            <a:avLst/>
          </a:prstGeom>
          <a:noFill/>
          <a:ln w="28575" cap="sq">
            <a:solidFill>
              <a:srgbClr val="0000FF"/>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aphicFrame>
        <p:nvGraphicFramePr>
          <p:cNvPr id="95" name="Group 61"/>
          <p:cNvGraphicFramePr>
            <a:graphicFrameLocks noGrp="1"/>
          </p:cNvGraphicFramePr>
          <p:nvPr>
            <p:extLst>
              <p:ext uri="{D42A27DB-BD31-4B8C-83A1-F6EECF244321}">
                <p14:modId xmlns:p14="http://schemas.microsoft.com/office/powerpoint/2010/main" val="1689189520"/>
              </p:ext>
            </p:extLst>
          </p:nvPr>
        </p:nvGraphicFramePr>
        <p:xfrm>
          <a:off x="7266478" y="3169444"/>
          <a:ext cx="744537" cy="457200"/>
        </p:xfrm>
        <a:graphic>
          <a:graphicData uri="http://schemas.openxmlformats.org/drawingml/2006/table">
            <a:tbl>
              <a:tblPr/>
              <a:tblGrid>
                <a:gridCol w="360362">
                  <a:extLst>
                    <a:ext uri="{9D8B030D-6E8A-4147-A177-3AD203B41FA5}">
                      <a16:colId xmlns:a16="http://schemas.microsoft.com/office/drawing/2014/main" val="20000"/>
                    </a:ext>
                  </a:extLst>
                </a:gridCol>
                <a:gridCol w="384175">
                  <a:extLst>
                    <a:ext uri="{9D8B030D-6E8A-4147-A177-3AD203B41FA5}">
                      <a16:colId xmlns:a16="http://schemas.microsoft.com/office/drawing/2014/main" val="20001"/>
                    </a:ext>
                  </a:extLst>
                </a:gridCol>
              </a:tblGrid>
              <a:tr h="455613">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2400" b="1" i="0" u="none" strike="noStrike" cap="none" normalizeH="0" baseline="0">
                          <a:ln>
                            <a:noFill/>
                          </a:ln>
                          <a:solidFill>
                            <a:schemeClr val="tx1"/>
                          </a:solidFill>
                          <a:effectLst/>
                          <a:latin typeface="Comic Sans MS" pitchFamily="66" charset="0"/>
                          <a:ea typeface="ＭＳ Ｐゴシック" pitchFamily="34" charset="-128"/>
                        </a:rPr>
                        <a:t>3</a:t>
                      </a:r>
                    </a:p>
                  </a:txBody>
                  <a:tcPr horzOverflow="overflow">
                    <a:lnL w="28575" cap="flat" cmpd="sng" algn="ctr">
                      <a:solidFill>
                        <a:srgbClr val="0033CC"/>
                      </a:solidFill>
                      <a:prstDash val="solid"/>
                      <a:miter lim="800000"/>
                      <a:headEnd type="none" w="sm" len="sm"/>
                      <a:tailEnd type="none" w="sm" len="sm"/>
                    </a:lnL>
                    <a:lnR w="28575" cap="flat" cmpd="sng" algn="ctr">
                      <a:solidFill>
                        <a:srgbClr val="0033CC"/>
                      </a:solidFill>
                      <a:prstDash val="solid"/>
                      <a:miter lim="800000"/>
                      <a:headEnd type="none" w="sm" len="sm"/>
                      <a:tailEnd type="none" w="sm" len="sm"/>
                    </a:lnR>
                    <a:lnT w="28575" cap="flat" cmpd="sng" algn="ctr">
                      <a:solidFill>
                        <a:srgbClr val="0033CC"/>
                      </a:solidFill>
                      <a:prstDash val="solid"/>
                      <a:miter lim="800000"/>
                      <a:headEnd type="none" w="sm" len="sm"/>
                      <a:tailEnd type="none" w="sm" len="sm"/>
                    </a:lnT>
                    <a:lnB w="28575" cap="flat" cmpd="sng" algn="ctr">
                      <a:solidFill>
                        <a:srgbClr val="0033CC"/>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endParaRPr kumimoji="0" lang="zh-CN" altLang="en-US" sz="2400" b="1" i="0" u="none" strike="noStrike" cap="none" normalizeH="0" baseline="0">
                        <a:ln>
                          <a:noFill/>
                        </a:ln>
                        <a:solidFill>
                          <a:schemeClr val="tx1"/>
                        </a:solidFill>
                        <a:effectLst/>
                        <a:latin typeface="Comic Sans MS" pitchFamily="66" charset="0"/>
                        <a:ea typeface="ＭＳ Ｐゴシック" pitchFamily="34" charset="-128"/>
                      </a:endParaRPr>
                    </a:p>
                  </a:txBody>
                  <a:tcPr horzOverflow="overflow">
                    <a:lnL w="28575" cap="flat" cmpd="sng" algn="ctr">
                      <a:solidFill>
                        <a:srgbClr val="0033CC"/>
                      </a:solidFill>
                      <a:prstDash val="solid"/>
                      <a:miter lim="800000"/>
                      <a:headEnd type="none" w="sm" len="sm"/>
                      <a:tailEnd type="none" w="sm" len="sm"/>
                    </a:lnL>
                    <a:lnR w="28575" cap="flat" cmpd="sng" algn="ctr">
                      <a:solidFill>
                        <a:srgbClr val="0033CC"/>
                      </a:solidFill>
                      <a:prstDash val="solid"/>
                      <a:miter lim="800000"/>
                      <a:headEnd type="none" w="sm" len="sm"/>
                      <a:tailEnd type="none" w="sm" len="sm"/>
                    </a:lnR>
                    <a:lnT w="28575" cap="flat" cmpd="sng" algn="ctr">
                      <a:solidFill>
                        <a:srgbClr val="0033CC"/>
                      </a:solidFill>
                      <a:prstDash val="solid"/>
                      <a:miter lim="800000"/>
                      <a:headEnd type="none" w="sm" len="sm"/>
                      <a:tailEnd type="none" w="sm" len="sm"/>
                    </a:lnT>
                    <a:lnB w="28575" cap="flat" cmpd="sng" algn="ctr">
                      <a:solidFill>
                        <a:srgbClr val="0033CC"/>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10000"/>
                  </a:ext>
                </a:extLst>
              </a:tr>
            </a:tbl>
          </a:graphicData>
        </a:graphic>
      </p:graphicFrame>
      <p:sp>
        <p:nvSpPr>
          <p:cNvPr id="96" name="Rectangle 69"/>
          <p:cNvSpPr>
            <a:spLocks noChangeArrowheads="1"/>
          </p:cNvSpPr>
          <p:nvPr/>
        </p:nvSpPr>
        <p:spPr bwMode="auto">
          <a:xfrm>
            <a:off x="7639539" y="3220245"/>
            <a:ext cx="33855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p>
            <a:r>
              <a:rPr lang="en-US" altLang="zh-CN" sz="2400" b="1"/>
              <a:t>^</a:t>
            </a:r>
          </a:p>
        </p:txBody>
      </p:sp>
      <p:sp>
        <p:nvSpPr>
          <p:cNvPr id="97" name="Line 70"/>
          <p:cNvSpPr>
            <a:spLocks noChangeShapeType="1"/>
          </p:cNvSpPr>
          <p:nvPr/>
        </p:nvSpPr>
        <p:spPr bwMode="auto">
          <a:xfrm>
            <a:off x="6618777" y="4033044"/>
            <a:ext cx="647700" cy="0"/>
          </a:xfrm>
          <a:prstGeom prst="line">
            <a:avLst/>
          </a:prstGeom>
          <a:noFill/>
          <a:ln w="28575" cap="sq">
            <a:solidFill>
              <a:srgbClr val="0000FF"/>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aphicFrame>
        <p:nvGraphicFramePr>
          <p:cNvPr id="98" name="Group 71"/>
          <p:cNvGraphicFramePr>
            <a:graphicFrameLocks noGrp="1"/>
          </p:cNvGraphicFramePr>
          <p:nvPr>
            <p:extLst>
              <p:ext uri="{D42A27DB-BD31-4B8C-83A1-F6EECF244321}">
                <p14:modId xmlns:p14="http://schemas.microsoft.com/office/powerpoint/2010/main" val="1902450231"/>
              </p:ext>
            </p:extLst>
          </p:nvPr>
        </p:nvGraphicFramePr>
        <p:xfrm>
          <a:off x="7266478" y="3817144"/>
          <a:ext cx="744537" cy="457200"/>
        </p:xfrm>
        <a:graphic>
          <a:graphicData uri="http://schemas.openxmlformats.org/drawingml/2006/table">
            <a:tbl>
              <a:tblPr/>
              <a:tblGrid>
                <a:gridCol w="360362">
                  <a:extLst>
                    <a:ext uri="{9D8B030D-6E8A-4147-A177-3AD203B41FA5}">
                      <a16:colId xmlns:a16="http://schemas.microsoft.com/office/drawing/2014/main" val="20000"/>
                    </a:ext>
                  </a:extLst>
                </a:gridCol>
                <a:gridCol w="384175">
                  <a:extLst>
                    <a:ext uri="{9D8B030D-6E8A-4147-A177-3AD203B41FA5}">
                      <a16:colId xmlns:a16="http://schemas.microsoft.com/office/drawing/2014/main" val="20001"/>
                    </a:ext>
                  </a:extLst>
                </a:gridCol>
              </a:tblGrid>
              <a:tr h="455613">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2400" b="1" i="0" u="none" strike="noStrike" cap="none" normalizeH="0" baseline="0">
                          <a:ln>
                            <a:noFill/>
                          </a:ln>
                          <a:solidFill>
                            <a:schemeClr val="tx1"/>
                          </a:solidFill>
                          <a:effectLst/>
                          <a:latin typeface="Comic Sans MS" pitchFamily="66" charset="0"/>
                          <a:ea typeface="ＭＳ Ｐゴシック" pitchFamily="34" charset="-128"/>
                        </a:rPr>
                        <a:t>0</a:t>
                      </a:r>
                    </a:p>
                  </a:txBody>
                  <a:tcPr horzOverflow="overflow">
                    <a:lnL w="28575" cap="flat" cmpd="sng" algn="ctr">
                      <a:solidFill>
                        <a:srgbClr val="0033CC"/>
                      </a:solidFill>
                      <a:prstDash val="solid"/>
                      <a:miter lim="800000"/>
                      <a:headEnd type="none" w="sm" len="sm"/>
                      <a:tailEnd type="none" w="sm" len="sm"/>
                    </a:lnL>
                    <a:lnR w="28575" cap="flat" cmpd="sng" algn="ctr">
                      <a:solidFill>
                        <a:srgbClr val="0033CC"/>
                      </a:solidFill>
                      <a:prstDash val="solid"/>
                      <a:miter lim="800000"/>
                      <a:headEnd type="none" w="sm" len="sm"/>
                      <a:tailEnd type="none" w="sm" len="sm"/>
                    </a:lnR>
                    <a:lnT w="28575" cap="flat" cmpd="sng" algn="ctr">
                      <a:solidFill>
                        <a:srgbClr val="0033CC"/>
                      </a:solidFill>
                      <a:prstDash val="solid"/>
                      <a:miter lim="800000"/>
                      <a:headEnd type="none" w="sm" len="sm"/>
                      <a:tailEnd type="none" w="sm" len="sm"/>
                    </a:lnT>
                    <a:lnB w="28575" cap="flat" cmpd="sng" algn="ctr">
                      <a:solidFill>
                        <a:srgbClr val="0033CC"/>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endParaRPr kumimoji="0" lang="zh-CN" altLang="en-US" sz="2400" b="1" i="0" u="none" strike="noStrike" cap="none" normalizeH="0" baseline="0">
                        <a:ln>
                          <a:noFill/>
                        </a:ln>
                        <a:solidFill>
                          <a:schemeClr val="tx1"/>
                        </a:solidFill>
                        <a:effectLst/>
                        <a:latin typeface="Comic Sans MS" pitchFamily="66" charset="0"/>
                        <a:ea typeface="ＭＳ Ｐゴシック" pitchFamily="34" charset="-128"/>
                      </a:endParaRPr>
                    </a:p>
                  </a:txBody>
                  <a:tcPr horzOverflow="overflow">
                    <a:lnL w="28575" cap="flat" cmpd="sng" algn="ctr">
                      <a:solidFill>
                        <a:srgbClr val="0033CC"/>
                      </a:solidFill>
                      <a:prstDash val="solid"/>
                      <a:miter lim="800000"/>
                      <a:headEnd type="none" w="sm" len="sm"/>
                      <a:tailEnd type="none" w="sm" len="sm"/>
                    </a:lnL>
                    <a:lnR w="28575" cap="flat" cmpd="sng" algn="ctr">
                      <a:solidFill>
                        <a:srgbClr val="0033CC"/>
                      </a:solidFill>
                      <a:prstDash val="solid"/>
                      <a:miter lim="800000"/>
                      <a:headEnd type="none" w="sm" len="sm"/>
                      <a:tailEnd type="none" w="sm" len="sm"/>
                    </a:lnR>
                    <a:lnT w="28575" cap="flat" cmpd="sng" algn="ctr">
                      <a:solidFill>
                        <a:srgbClr val="0033CC"/>
                      </a:solidFill>
                      <a:prstDash val="solid"/>
                      <a:miter lim="800000"/>
                      <a:headEnd type="none" w="sm" len="sm"/>
                      <a:tailEnd type="none" w="sm" len="sm"/>
                    </a:lnT>
                    <a:lnB w="28575" cap="flat" cmpd="sng" algn="ctr">
                      <a:solidFill>
                        <a:srgbClr val="0033CC"/>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10000"/>
                  </a:ext>
                </a:extLst>
              </a:tr>
            </a:tbl>
          </a:graphicData>
        </a:graphic>
      </p:graphicFrame>
      <p:sp>
        <p:nvSpPr>
          <p:cNvPr id="99" name="Rectangle 79"/>
          <p:cNvSpPr>
            <a:spLocks noChangeArrowheads="1"/>
          </p:cNvSpPr>
          <p:nvPr/>
        </p:nvSpPr>
        <p:spPr bwMode="auto">
          <a:xfrm>
            <a:off x="7639539" y="3867945"/>
            <a:ext cx="33855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p>
            <a:r>
              <a:rPr lang="en-US" altLang="zh-CN" sz="2400" b="1"/>
              <a:t>^</a:t>
            </a:r>
          </a:p>
        </p:txBody>
      </p:sp>
      <p:sp>
        <p:nvSpPr>
          <p:cNvPr id="100" name="Text Box 80"/>
          <p:cNvSpPr txBox="1">
            <a:spLocks noChangeArrowheads="1"/>
          </p:cNvSpPr>
          <p:nvPr/>
        </p:nvSpPr>
        <p:spPr bwMode="auto">
          <a:xfrm>
            <a:off x="6113953" y="4499828"/>
            <a:ext cx="189547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spAutoFit/>
          </a:bodyPr>
          <a:lstStyle>
            <a:lvl1pPr eaLnBrk="0" hangingPunct="0">
              <a:defRPr kumimoji="1" sz="2800">
                <a:solidFill>
                  <a:schemeClr val="tx1"/>
                </a:solidFill>
                <a:latin typeface="Comic Sans MS" pitchFamily="66" charset="0"/>
                <a:ea typeface="宋体" pitchFamily="2" charset="-122"/>
              </a:defRPr>
            </a:lvl1pPr>
            <a:lvl2pPr marL="742950" indent="-285750" eaLnBrk="0" hangingPunct="0">
              <a:defRPr kumimoji="1" sz="2800">
                <a:solidFill>
                  <a:schemeClr val="tx1"/>
                </a:solidFill>
                <a:latin typeface="Comic Sans MS" pitchFamily="66" charset="0"/>
                <a:ea typeface="宋体" pitchFamily="2" charset="-122"/>
              </a:defRPr>
            </a:lvl2pPr>
            <a:lvl3pPr marL="1143000" indent="-228600" eaLnBrk="0" hangingPunct="0">
              <a:defRPr kumimoji="1" sz="2800">
                <a:solidFill>
                  <a:schemeClr val="tx1"/>
                </a:solidFill>
                <a:latin typeface="Comic Sans MS" pitchFamily="66" charset="0"/>
                <a:ea typeface="宋体" pitchFamily="2" charset="-122"/>
              </a:defRPr>
            </a:lvl3pPr>
            <a:lvl4pPr marL="1600200" indent="-228600" eaLnBrk="0" hangingPunct="0">
              <a:defRPr kumimoji="1" sz="2800">
                <a:solidFill>
                  <a:schemeClr val="tx1"/>
                </a:solidFill>
                <a:latin typeface="Comic Sans MS" pitchFamily="66" charset="0"/>
                <a:ea typeface="宋体" pitchFamily="2" charset="-122"/>
              </a:defRPr>
            </a:lvl4pPr>
            <a:lvl5pPr marL="2057400" indent="-228600" eaLnBrk="0" hangingPunct="0">
              <a:defRPr kumimoji="1" sz="2800">
                <a:solidFill>
                  <a:schemeClr val="tx1"/>
                </a:solidFill>
                <a:latin typeface="Comic Sans MS" pitchFamily="66" charset="0"/>
                <a:ea typeface="宋体" pitchFamily="2" charset="-122"/>
              </a:defRPr>
            </a:lvl5pPr>
            <a:lvl6pPr marL="25146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6pPr>
            <a:lvl7pPr marL="29718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7pPr>
            <a:lvl8pPr marL="34290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8pPr>
            <a:lvl9pPr marL="38862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9pPr>
          </a:lstStyle>
          <a:p>
            <a:pPr eaLnBrk="1" hangingPunct="1">
              <a:spcBef>
                <a:spcPct val="50000"/>
              </a:spcBef>
            </a:pPr>
            <a:r>
              <a:rPr lang="zh-CN" altLang="en-US" sz="1800" dirty="0">
                <a:latin typeface="微软雅黑" pitchFamily="34" charset="-122"/>
                <a:ea typeface="微软雅黑" pitchFamily="34" charset="-122"/>
                <a:cs typeface="经典粗黑简" pitchFamily="49" charset="-122"/>
              </a:rPr>
              <a:t>有向图的邻接表</a:t>
            </a:r>
          </a:p>
        </p:txBody>
      </p:sp>
      <p:sp>
        <p:nvSpPr>
          <p:cNvPr id="101" name="Text Box 81"/>
          <p:cNvSpPr txBox="1">
            <a:spLocks noChangeArrowheads="1"/>
          </p:cNvSpPr>
          <p:nvPr/>
        </p:nvSpPr>
        <p:spPr bwMode="auto">
          <a:xfrm>
            <a:off x="2588115" y="4941168"/>
            <a:ext cx="352583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spAutoFit/>
          </a:bodyPr>
          <a:lstStyle>
            <a:lvl1pPr eaLnBrk="0" hangingPunct="0">
              <a:defRPr kumimoji="1" sz="2800">
                <a:solidFill>
                  <a:schemeClr val="tx1"/>
                </a:solidFill>
                <a:latin typeface="Comic Sans MS" pitchFamily="66" charset="0"/>
                <a:ea typeface="宋体" pitchFamily="2" charset="-122"/>
              </a:defRPr>
            </a:lvl1pPr>
            <a:lvl2pPr marL="742950" indent="-285750" eaLnBrk="0" hangingPunct="0">
              <a:defRPr kumimoji="1" sz="2800">
                <a:solidFill>
                  <a:schemeClr val="tx1"/>
                </a:solidFill>
                <a:latin typeface="Comic Sans MS" pitchFamily="66" charset="0"/>
                <a:ea typeface="宋体" pitchFamily="2" charset="-122"/>
              </a:defRPr>
            </a:lvl2pPr>
            <a:lvl3pPr marL="1143000" indent="-228600" eaLnBrk="0" hangingPunct="0">
              <a:defRPr kumimoji="1" sz="2800">
                <a:solidFill>
                  <a:schemeClr val="tx1"/>
                </a:solidFill>
                <a:latin typeface="Comic Sans MS" pitchFamily="66" charset="0"/>
                <a:ea typeface="宋体" pitchFamily="2" charset="-122"/>
              </a:defRPr>
            </a:lvl3pPr>
            <a:lvl4pPr marL="1600200" indent="-228600" eaLnBrk="0" hangingPunct="0">
              <a:defRPr kumimoji="1" sz="2800">
                <a:solidFill>
                  <a:schemeClr val="tx1"/>
                </a:solidFill>
                <a:latin typeface="Comic Sans MS" pitchFamily="66" charset="0"/>
                <a:ea typeface="宋体" pitchFamily="2" charset="-122"/>
              </a:defRPr>
            </a:lvl4pPr>
            <a:lvl5pPr marL="2057400" indent="-228600" eaLnBrk="0" hangingPunct="0">
              <a:defRPr kumimoji="1" sz="2800">
                <a:solidFill>
                  <a:schemeClr val="tx1"/>
                </a:solidFill>
                <a:latin typeface="Comic Sans MS" pitchFamily="66" charset="0"/>
                <a:ea typeface="宋体" pitchFamily="2" charset="-122"/>
              </a:defRPr>
            </a:lvl5pPr>
            <a:lvl6pPr marL="25146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6pPr>
            <a:lvl7pPr marL="29718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7pPr>
            <a:lvl8pPr marL="34290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8pPr>
            <a:lvl9pPr marL="38862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9pPr>
          </a:lstStyle>
          <a:p>
            <a:pPr algn="l" eaLnBrk="1" hangingPunct="1">
              <a:spcBef>
                <a:spcPct val="50000"/>
              </a:spcBef>
            </a:pPr>
            <a:r>
              <a:rPr lang="zh-CN" altLang="en-US" sz="2000" dirty="0">
                <a:latin typeface="微软雅黑" pitchFamily="34" charset="-122"/>
                <a:ea typeface="微软雅黑" pitchFamily="34" charset="-122"/>
                <a:cs typeface="经典粗黑简" pitchFamily="49" charset="-122"/>
              </a:rPr>
              <a:t>有向图的邻接表的特点？</a:t>
            </a:r>
          </a:p>
        </p:txBody>
      </p:sp>
      <p:sp>
        <p:nvSpPr>
          <p:cNvPr id="103" name="Text Box 83"/>
          <p:cNvSpPr txBox="1">
            <a:spLocks noChangeArrowheads="1"/>
          </p:cNvSpPr>
          <p:nvPr/>
        </p:nvSpPr>
        <p:spPr bwMode="auto">
          <a:xfrm>
            <a:off x="2588116" y="5373216"/>
            <a:ext cx="792003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kumimoji="1" sz="2800">
                <a:solidFill>
                  <a:schemeClr val="tx1"/>
                </a:solidFill>
                <a:latin typeface="Comic Sans MS" pitchFamily="66" charset="0"/>
                <a:ea typeface="宋体" pitchFamily="2" charset="-122"/>
              </a:defRPr>
            </a:lvl1pPr>
            <a:lvl2pPr marL="742950" indent="-285750" eaLnBrk="0" hangingPunct="0">
              <a:defRPr kumimoji="1" sz="2800">
                <a:solidFill>
                  <a:schemeClr val="tx1"/>
                </a:solidFill>
                <a:latin typeface="Comic Sans MS" pitchFamily="66" charset="0"/>
                <a:ea typeface="宋体" pitchFamily="2" charset="-122"/>
              </a:defRPr>
            </a:lvl2pPr>
            <a:lvl3pPr marL="1143000" indent="-228600" eaLnBrk="0" hangingPunct="0">
              <a:defRPr kumimoji="1" sz="2800">
                <a:solidFill>
                  <a:schemeClr val="tx1"/>
                </a:solidFill>
                <a:latin typeface="Comic Sans MS" pitchFamily="66" charset="0"/>
                <a:ea typeface="宋体" pitchFamily="2" charset="-122"/>
              </a:defRPr>
            </a:lvl3pPr>
            <a:lvl4pPr marL="1600200" indent="-228600" eaLnBrk="0" hangingPunct="0">
              <a:defRPr kumimoji="1" sz="2800">
                <a:solidFill>
                  <a:schemeClr val="tx1"/>
                </a:solidFill>
                <a:latin typeface="Comic Sans MS" pitchFamily="66" charset="0"/>
                <a:ea typeface="宋体" pitchFamily="2" charset="-122"/>
              </a:defRPr>
            </a:lvl4pPr>
            <a:lvl5pPr marL="2057400" indent="-228600" eaLnBrk="0" hangingPunct="0">
              <a:defRPr kumimoji="1" sz="2800">
                <a:solidFill>
                  <a:schemeClr val="tx1"/>
                </a:solidFill>
                <a:latin typeface="Comic Sans MS" pitchFamily="66" charset="0"/>
                <a:ea typeface="宋体" pitchFamily="2" charset="-122"/>
              </a:defRPr>
            </a:lvl5pPr>
            <a:lvl6pPr marL="25146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6pPr>
            <a:lvl7pPr marL="29718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7pPr>
            <a:lvl8pPr marL="34290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8pPr>
            <a:lvl9pPr marL="38862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9pPr>
          </a:lstStyle>
          <a:p>
            <a:pPr algn="l" eaLnBrk="1" hangingPunct="1">
              <a:spcBef>
                <a:spcPct val="50000"/>
              </a:spcBef>
            </a:pPr>
            <a:r>
              <a:rPr lang="zh-CN" altLang="en-US" sz="2000" dirty="0">
                <a:latin typeface="微软雅黑" pitchFamily="34" charset="-122"/>
                <a:ea typeface="微软雅黑" pitchFamily="34" charset="-122"/>
                <a:cs typeface="经典粗黑简" pitchFamily="49" charset="-122"/>
              </a:rPr>
              <a:t>在有向图的邻接表中第</a:t>
            </a:r>
            <a:r>
              <a:rPr lang="en-US" altLang="zh-CN" sz="2000" dirty="0">
                <a:latin typeface="微软雅黑" pitchFamily="34" charset="-122"/>
                <a:ea typeface="微软雅黑" pitchFamily="34" charset="-122"/>
                <a:cs typeface="经典粗黑简" pitchFamily="49" charset="-122"/>
              </a:rPr>
              <a:t>i</a:t>
            </a:r>
            <a:r>
              <a:rPr lang="zh-CN" altLang="en-US" sz="2000" dirty="0">
                <a:latin typeface="微软雅黑" pitchFamily="34" charset="-122"/>
                <a:ea typeface="微软雅黑" pitchFamily="34" charset="-122"/>
                <a:cs typeface="经典粗黑简" pitchFamily="49" charset="-122"/>
              </a:rPr>
              <a:t>个链表中结点的个数即为第</a:t>
            </a:r>
            <a:r>
              <a:rPr lang="en-US" altLang="zh-CN" sz="2000" dirty="0">
                <a:latin typeface="微软雅黑" pitchFamily="34" charset="-122"/>
                <a:ea typeface="微软雅黑" pitchFamily="34" charset="-122"/>
                <a:cs typeface="经典粗黑简" pitchFamily="49" charset="-122"/>
              </a:rPr>
              <a:t>i</a:t>
            </a:r>
            <a:r>
              <a:rPr lang="zh-CN" altLang="en-US" sz="2000" dirty="0">
                <a:latin typeface="微软雅黑" pitchFamily="34" charset="-122"/>
                <a:ea typeface="微软雅黑" pitchFamily="34" charset="-122"/>
                <a:cs typeface="经典粗黑简" pitchFamily="49" charset="-122"/>
              </a:rPr>
              <a:t>个顶点的出度。</a:t>
            </a:r>
          </a:p>
        </p:txBody>
      </p:sp>
      <p:sp>
        <p:nvSpPr>
          <p:cNvPr id="2" name="Rectangle 2">
            <a:extLst>
              <a:ext uri="{FF2B5EF4-FFF2-40B4-BE49-F238E27FC236}">
                <a16:creationId xmlns:a16="http://schemas.microsoft.com/office/drawing/2014/main" id="{E9517C50-10B3-120F-846A-ECF2045C57C9}"/>
              </a:ext>
            </a:extLst>
          </p:cNvPr>
          <p:cNvSpPr txBox="1">
            <a:spLocks noChangeArrowheads="1"/>
          </p:cNvSpPr>
          <p:nvPr/>
        </p:nvSpPr>
        <p:spPr>
          <a:xfrm>
            <a:off x="474772" y="1230902"/>
            <a:ext cx="4253075"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8.2.2 </a:t>
            </a:r>
            <a:r>
              <a:rPr kumimoji="1" lang="zh-CN" altLang="en-US" dirty="0">
                <a:latin typeface="微软雅黑" pitchFamily="34" charset="-122"/>
                <a:ea typeface="微软雅黑" pitchFamily="34" charset="-122"/>
              </a:rPr>
              <a:t>邻接表存储方法</a:t>
            </a:r>
            <a:endParaRPr lang="zh-CN" altLang="en-US" dirty="0"/>
          </a:p>
        </p:txBody>
      </p:sp>
      <p:sp>
        <p:nvSpPr>
          <p:cNvPr id="3" name="矩形 2">
            <a:extLst>
              <a:ext uri="{FF2B5EF4-FFF2-40B4-BE49-F238E27FC236}">
                <a16:creationId xmlns:a16="http://schemas.microsoft.com/office/drawing/2014/main" id="{42751368-5585-11F9-7FE1-CE464546B46B}"/>
              </a:ext>
            </a:extLst>
          </p:cNvPr>
          <p:cNvSpPr/>
          <p:nvPr/>
        </p:nvSpPr>
        <p:spPr>
          <a:xfrm>
            <a:off x="2846292" y="348366"/>
            <a:ext cx="6715440"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8.2 </a:t>
            </a:r>
            <a:r>
              <a:rPr lang="zh-CN" altLang="en-US" sz="3000" b="1" dirty="0">
                <a:latin typeface="黑体" pitchFamily="49" charset="-122"/>
                <a:ea typeface="黑体" pitchFamily="49" charset="-122"/>
                <a:cs typeface="经典粗黑简" pitchFamily="49" charset="-122"/>
              </a:rPr>
              <a:t>图的存储结构和基本运算算法</a:t>
            </a:r>
          </a:p>
        </p:txBody>
      </p:sp>
      <p:cxnSp>
        <p:nvCxnSpPr>
          <p:cNvPr id="4" name="直接连接符 3">
            <a:extLst>
              <a:ext uri="{FF2B5EF4-FFF2-40B4-BE49-F238E27FC236}">
                <a16:creationId xmlns:a16="http://schemas.microsoft.com/office/drawing/2014/main" id="{3CD8DCC4-EEDE-C0A8-F9EC-770D5CC8EF4B}"/>
              </a:ext>
            </a:extLst>
          </p:cNvPr>
          <p:cNvCxnSpPr>
            <a:cxnSpLocks/>
          </p:cNvCxnSpPr>
          <p:nvPr/>
        </p:nvCxnSpPr>
        <p:spPr>
          <a:xfrm>
            <a:off x="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994571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9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9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9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9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94"/>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499"/>
                                          </p:stCondLst>
                                        </p:cTn>
                                        <p:tgtEl>
                                          <p:spTgt spid="96"/>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98"/>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97"/>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499"/>
                                          </p:stCondLst>
                                        </p:cTn>
                                        <p:tgtEl>
                                          <p:spTgt spid="99"/>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00"/>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01"/>
                                        </p:tgtEl>
                                        <p:attrNameLst>
                                          <p:attrName>style.visibility</p:attrName>
                                        </p:attrNameLst>
                                      </p:cBhvr>
                                      <p:to>
                                        <p:strVal val="visible"/>
                                      </p:to>
                                    </p:set>
                                  </p:childTnLst>
                                </p:cTn>
                              </p:par>
                              <p:par>
                                <p:cTn id="55" presetID="1" presetClass="exit" presetSubtype="0" fill="hold" grpId="1" nodeType="withEffect">
                                  <p:stCondLst>
                                    <p:cond delay="0"/>
                                  </p:stCondLst>
                                  <p:childTnLst>
                                    <p:set>
                                      <p:cBhvr>
                                        <p:cTn id="56" dur="1" fill="hold">
                                          <p:stCondLst>
                                            <p:cond delay="0"/>
                                          </p:stCondLst>
                                        </p:cTn>
                                        <p:tgtEl>
                                          <p:spTgt spid="101"/>
                                        </p:tgtEl>
                                        <p:attrNameLst>
                                          <p:attrName>style.visibility</p:attrName>
                                        </p:attrNameLst>
                                      </p:cBhvr>
                                      <p:to>
                                        <p:strVal val="hidden"/>
                                      </p:to>
                                    </p:set>
                                  </p:childTnLst>
                                </p:cTn>
                              </p:par>
                              <p:par>
                                <p:cTn id="57" presetID="1" presetClass="entr" presetSubtype="0" fill="hold" grpId="0" nodeType="withEffect">
                                  <p:stCondLst>
                                    <p:cond delay="0"/>
                                  </p:stCondLst>
                                  <p:childTnLst>
                                    <p:set>
                                      <p:cBhvr>
                                        <p:cTn id="58" dur="1" fill="hold">
                                          <p:stCondLst>
                                            <p:cond delay="0"/>
                                          </p:stCondLst>
                                        </p:cTn>
                                        <p:tgtEl>
                                          <p:spTgt spid="10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 grpId="0" animBg="1"/>
      <p:bldP spid="89" grpId="0" animBg="1"/>
      <p:bldP spid="92" grpId="0" autoUpdateAnimBg="0"/>
      <p:bldP spid="93" grpId="0" autoUpdateAnimBg="0"/>
      <p:bldP spid="94" grpId="0" animBg="1"/>
      <p:bldP spid="96" grpId="0" autoUpdateAnimBg="0"/>
      <p:bldP spid="97" grpId="0" animBg="1"/>
      <p:bldP spid="99" grpId="0" autoUpdateAnimBg="0"/>
      <p:bldP spid="100" grpId="0"/>
      <p:bldP spid="101" grpId="0"/>
      <p:bldP spid="101" grpId="1"/>
      <p:bldP spid="103"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9" name="Group 13"/>
          <p:cNvGraphicFramePr>
            <a:graphicFrameLocks noGrp="1"/>
          </p:cNvGraphicFramePr>
          <p:nvPr>
            <p:extLst>
              <p:ext uri="{D42A27DB-BD31-4B8C-83A1-F6EECF244321}">
                <p14:modId xmlns:p14="http://schemas.microsoft.com/office/powerpoint/2010/main" val="3095280613"/>
              </p:ext>
            </p:extLst>
          </p:nvPr>
        </p:nvGraphicFramePr>
        <p:xfrm>
          <a:off x="6590137" y="1897856"/>
          <a:ext cx="1008063" cy="2344738"/>
        </p:xfrm>
        <a:graphic>
          <a:graphicData uri="http://schemas.openxmlformats.org/drawingml/2006/table">
            <a:tbl>
              <a:tblPr/>
              <a:tblGrid>
                <a:gridCol w="336550">
                  <a:extLst>
                    <a:ext uri="{9D8B030D-6E8A-4147-A177-3AD203B41FA5}">
                      <a16:colId xmlns:a16="http://schemas.microsoft.com/office/drawing/2014/main" val="20000"/>
                    </a:ext>
                  </a:extLst>
                </a:gridCol>
                <a:gridCol w="384175">
                  <a:extLst>
                    <a:ext uri="{9D8B030D-6E8A-4147-A177-3AD203B41FA5}">
                      <a16:colId xmlns:a16="http://schemas.microsoft.com/office/drawing/2014/main" val="20001"/>
                    </a:ext>
                  </a:extLst>
                </a:gridCol>
                <a:gridCol w="287338">
                  <a:extLst>
                    <a:ext uri="{9D8B030D-6E8A-4147-A177-3AD203B41FA5}">
                      <a16:colId xmlns:a16="http://schemas.microsoft.com/office/drawing/2014/main" val="20002"/>
                    </a:ext>
                  </a:extLst>
                </a:gridCol>
              </a:tblGrid>
              <a:tr h="495300">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2400" b="1" i="0" u="none" strike="noStrike" cap="none" normalizeH="0" baseline="0">
                          <a:ln>
                            <a:noFill/>
                          </a:ln>
                          <a:solidFill>
                            <a:schemeClr val="tx1"/>
                          </a:solidFill>
                          <a:effectLst/>
                          <a:latin typeface="Comic Sans MS" pitchFamily="66" charset="0"/>
                          <a:ea typeface="ＭＳ Ｐゴシック" pitchFamily="34" charset="-128"/>
                        </a:rPr>
                        <a:t>0</a:t>
                      </a:r>
                    </a:p>
                  </a:txBody>
                  <a:tcPr horzOverflow="overflow">
                    <a:lnL>
                      <a:noFill/>
                    </a:lnL>
                    <a:lnR w="28575" cap="flat" cmpd="sng" algn="ctr">
                      <a:solidFill>
                        <a:srgbClr val="0033CC"/>
                      </a:solidFill>
                      <a:prstDash val="solid"/>
                      <a:miter lim="800000"/>
                      <a:headEnd type="none" w="sm" len="sm"/>
                      <a:tailEnd type="none" w="sm" len="sm"/>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2400" b="1" i="0" u="none" strike="noStrike" cap="none" normalizeH="0" baseline="0">
                          <a:ln>
                            <a:noFill/>
                          </a:ln>
                          <a:solidFill>
                            <a:schemeClr val="tx1"/>
                          </a:solidFill>
                          <a:effectLst/>
                          <a:latin typeface="Comic Sans MS" pitchFamily="66" charset="0"/>
                          <a:ea typeface="ＭＳ Ｐゴシック" pitchFamily="34" charset="-128"/>
                        </a:rPr>
                        <a:t>A</a:t>
                      </a:r>
                    </a:p>
                  </a:txBody>
                  <a:tcPr horzOverflow="overflow">
                    <a:lnL w="28575" cap="flat" cmpd="sng" algn="ctr">
                      <a:solidFill>
                        <a:srgbClr val="0033CC"/>
                      </a:solidFill>
                      <a:prstDash val="solid"/>
                      <a:miter lim="800000"/>
                      <a:headEnd type="none" w="sm" len="sm"/>
                      <a:tailEnd type="none" w="sm" len="sm"/>
                    </a:lnL>
                    <a:lnR w="28575" cap="flat" cmpd="sng" algn="ctr">
                      <a:solidFill>
                        <a:srgbClr val="0033CC"/>
                      </a:solidFill>
                      <a:prstDash val="solid"/>
                      <a:miter lim="800000"/>
                      <a:headEnd type="none" w="sm" len="sm"/>
                      <a:tailEnd type="none" w="sm" len="sm"/>
                    </a:lnR>
                    <a:lnT w="28575" cap="flat" cmpd="sng" algn="ctr">
                      <a:solidFill>
                        <a:srgbClr val="0033CC"/>
                      </a:solidFill>
                      <a:prstDash val="solid"/>
                      <a:miter lim="800000"/>
                      <a:headEnd type="none" w="sm" len="sm"/>
                      <a:tailEnd type="none" w="sm" len="sm"/>
                    </a:lnT>
                    <a:lnB w="28575" cap="flat" cmpd="sng" algn="ctr">
                      <a:solidFill>
                        <a:srgbClr val="0033CC"/>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endParaRPr kumimoji="0" lang="zh-CN" altLang="en-US" sz="2400" b="1" i="0" u="none" strike="noStrike" cap="none" normalizeH="0" baseline="0">
                        <a:ln>
                          <a:noFill/>
                        </a:ln>
                        <a:solidFill>
                          <a:schemeClr val="tx1"/>
                        </a:solidFill>
                        <a:effectLst/>
                        <a:latin typeface="Comic Sans MS" pitchFamily="66" charset="0"/>
                        <a:ea typeface="ＭＳ Ｐゴシック" pitchFamily="34" charset="-128"/>
                      </a:endParaRPr>
                    </a:p>
                  </a:txBody>
                  <a:tcPr horzOverflow="overflow">
                    <a:lnL w="28575" cap="flat" cmpd="sng" algn="ctr">
                      <a:solidFill>
                        <a:srgbClr val="0033CC"/>
                      </a:solidFill>
                      <a:prstDash val="solid"/>
                      <a:miter lim="800000"/>
                      <a:headEnd type="none" w="sm" len="sm"/>
                      <a:tailEnd type="none" w="sm" len="sm"/>
                    </a:lnL>
                    <a:lnR w="28575" cap="flat" cmpd="sng" algn="ctr">
                      <a:solidFill>
                        <a:srgbClr val="0033CC"/>
                      </a:solidFill>
                      <a:prstDash val="solid"/>
                      <a:miter lim="800000"/>
                      <a:headEnd type="none" w="sm" len="sm"/>
                      <a:tailEnd type="none" w="sm" len="sm"/>
                    </a:lnR>
                    <a:lnT w="28575" cap="flat" cmpd="sng" algn="ctr">
                      <a:solidFill>
                        <a:srgbClr val="0033CC"/>
                      </a:solidFill>
                      <a:prstDash val="solid"/>
                      <a:miter lim="800000"/>
                      <a:headEnd type="none" w="sm" len="sm"/>
                      <a:tailEnd type="none" w="sm" len="sm"/>
                    </a:lnT>
                    <a:lnB w="28575" cap="flat" cmpd="sng" algn="ctr">
                      <a:solidFill>
                        <a:srgbClr val="0033CC"/>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10000"/>
                  </a:ext>
                </a:extLst>
              </a:tr>
              <a:tr h="609600">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2400" b="1" i="0" u="none" strike="noStrike" cap="none" normalizeH="0" baseline="0">
                          <a:ln>
                            <a:noFill/>
                          </a:ln>
                          <a:solidFill>
                            <a:schemeClr val="tx1"/>
                          </a:solidFill>
                          <a:effectLst/>
                          <a:latin typeface="Comic Sans MS" pitchFamily="66" charset="0"/>
                          <a:ea typeface="ＭＳ Ｐゴシック" pitchFamily="34" charset="-128"/>
                        </a:rPr>
                        <a:t>1</a:t>
                      </a:r>
                    </a:p>
                  </a:txBody>
                  <a:tcPr horzOverflow="overflow">
                    <a:lnL>
                      <a:noFill/>
                    </a:lnL>
                    <a:lnR w="28575" cap="flat" cmpd="sng" algn="ctr">
                      <a:solidFill>
                        <a:srgbClr val="0033CC"/>
                      </a:solidFill>
                      <a:prstDash val="solid"/>
                      <a:miter lim="800000"/>
                      <a:headEnd type="none" w="sm" len="sm"/>
                      <a:tailEnd type="none" w="sm" len="sm"/>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2400" b="1" i="0" u="none" strike="noStrike" cap="none" normalizeH="0" baseline="0">
                          <a:ln>
                            <a:noFill/>
                          </a:ln>
                          <a:solidFill>
                            <a:schemeClr val="tx1"/>
                          </a:solidFill>
                          <a:effectLst/>
                          <a:latin typeface="Comic Sans MS" pitchFamily="66" charset="0"/>
                          <a:ea typeface="ＭＳ Ｐゴシック" pitchFamily="34" charset="-128"/>
                        </a:rPr>
                        <a:t>B</a:t>
                      </a:r>
                    </a:p>
                  </a:txBody>
                  <a:tcPr horzOverflow="overflow">
                    <a:lnL w="28575" cap="flat" cmpd="sng" algn="ctr">
                      <a:solidFill>
                        <a:srgbClr val="0033CC"/>
                      </a:solidFill>
                      <a:prstDash val="solid"/>
                      <a:miter lim="800000"/>
                      <a:headEnd type="none" w="sm" len="sm"/>
                      <a:tailEnd type="none" w="sm" len="sm"/>
                    </a:lnL>
                    <a:lnR w="28575" cap="flat" cmpd="sng" algn="ctr">
                      <a:solidFill>
                        <a:srgbClr val="0033CC"/>
                      </a:solidFill>
                      <a:prstDash val="solid"/>
                      <a:miter lim="800000"/>
                      <a:headEnd type="none" w="sm" len="sm"/>
                      <a:tailEnd type="none" w="sm" len="sm"/>
                    </a:lnR>
                    <a:lnT w="28575" cap="flat" cmpd="sng" algn="ctr">
                      <a:solidFill>
                        <a:srgbClr val="0033CC"/>
                      </a:solidFill>
                      <a:prstDash val="solid"/>
                      <a:miter lim="800000"/>
                      <a:headEnd type="none" w="sm" len="sm"/>
                      <a:tailEnd type="none" w="sm" len="sm"/>
                    </a:lnT>
                    <a:lnB w="28575" cap="flat" cmpd="sng" algn="ctr">
                      <a:solidFill>
                        <a:srgbClr val="0033CC"/>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endParaRPr kumimoji="0" lang="zh-CN" altLang="en-US" sz="2400" b="1" i="0" u="none" strike="noStrike" cap="none" normalizeH="0" baseline="0">
                        <a:ln>
                          <a:noFill/>
                        </a:ln>
                        <a:solidFill>
                          <a:schemeClr val="tx1"/>
                        </a:solidFill>
                        <a:effectLst/>
                        <a:latin typeface="Comic Sans MS" pitchFamily="66" charset="0"/>
                        <a:ea typeface="ＭＳ Ｐゴシック" pitchFamily="34" charset="-128"/>
                      </a:endParaRPr>
                    </a:p>
                  </a:txBody>
                  <a:tcPr horzOverflow="overflow">
                    <a:lnL w="28575" cap="flat" cmpd="sng" algn="ctr">
                      <a:solidFill>
                        <a:srgbClr val="0033CC"/>
                      </a:solidFill>
                      <a:prstDash val="solid"/>
                      <a:miter lim="800000"/>
                      <a:headEnd type="none" w="sm" len="sm"/>
                      <a:tailEnd type="none" w="sm" len="sm"/>
                    </a:lnL>
                    <a:lnR w="28575" cap="flat" cmpd="sng" algn="ctr">
                      <a:solidFill>
                        <a:srgbClr val="0033CC"/>
                      </a:solidFill>
                      <a:prstDash val="solid"/>
                      <a:miter lim="800000"/>
                      <a:headEnd type="none" w="sm" len="sm"/>
                      <a:tailEnd type="none" w="sm" len="sm"/>
                    </a:lnR>
                    <a:lnT w="28575" cap="flat" cmpd="sng" algn="ctr">
                      <a:solidFill>
                        <a:srgbClr val="0033CC"/>
                      </a:solidFill>
                      <a:prstDash val="solid"/>
                      <a:miter lim="800000"/>
                      <a:headEnd type="none" w="sm" len="sm"/>
                      <a:tailEnd type="none" w="sm" len="sm"/>
                    </a:lnT>
                    <a:lnB w="28575" cap="flat" cmpd="sng" algn="ctr">
                      <a:solidFill>
                        <a:srgbClr val="0033CC"/>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10001"/>
                  </a:ext>
                </a:extLst>
              </a:tr>
              <a:tr h="608013">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2400" b="1" i="0" u="none" strike="noStrike" cap="none" normalizeH="0" baseline="0">
                          <a:ln>
                            <a:noFill/>
                          </a:ln>
                          <a:solidFill>
                            <a:schemeClr val="tx1"/>
                          </a:solidFill>
                          <a:effectLst/>
                          <a:latin typeface="Comic Sans MS" pitchFamily="66" charset="0"/>
                          <a:ea typeface="ＭＳ Ｐゴシック" pitchFamily="34" charset="-128"/>
                        </a:rPr>
                        <a:t>2</a:t>
                      </a:r>
                    </a:p>
                  </a:txBody>
                  <a:tcPr horzOverflow="overflow">
                    <a:lnL>
                      <a:noFill/>
                    </a:lnL>
                    <a:lnR w="28575" cap="flat" cmpd="sng" algn="ctr">
                      <a:solidFill>
                        <a:srgbClr val="0033CC"/>
                      </a:solidFill>
                      <a:prstDash val="solid"/>
                      <a:miter lim="800000"/>
                      <a:headEnd type="none" w="sm" len="sm"/>
                      <a:tailEnd type="none" w="sm" len="sm"/>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2400" b="1" i="0" u="none" strike="noStrike" cap="none" normalizeH="0" baseline="0">
                          <a:ln>
                            <a:noFill/>
                          </a:ln>
                          <a:solidFill>
                            <a:schemeClr val="tx1"/>
                          </a:solidFill>
                          <a:effectLst/>
                          <a:latin typeface="Comic Sans MS" pitchFamily="66" charset="0"/>
                          <a:ea typeface="ＭＳ Ｐゴシック" pitchFamily="34" charset="-128"/>
                        </a:rPr>
                        <a:t>C</a:t>
                      </a:r>
                    </a:p>
                  </a:txBody>
                  <a:tcPr horzOverflow="overflow">
                    <a:lnL w="28575" cap="flat" cmpd="sng" algn="ctr">
                      <a:solidFill>
                        <a:srgbClr val="0033CC"/>
                      </a:solidFill>
                      <a:prstDash val="solid"/>
                      <a:miter lim="800000"/>
                      <a:headEnd type="none" w="sm" len="sm"/>
                      <a:tailEnd type="none" w="sm" len="sm"/>
                    </a:lnL>
                    <a:lnR w="28575" cap="flat" cmpd="sng" algn="ctr">
                      <a:solidFill>
                        <a:srgbClr val="0033CC"/>
                      </a:solidFill>
                      <a:prstDash val="solid"/>
                      <a:miter lim="800000"/>
                      <a:headEnd type="none" w="sm" len="sm"/>
                      <a:tailEnd type="none" w="sm" len="sm"/>
                    </a:lnR>
                    <a:lnT w="28575" cap="flat" cmpd="sng" algn="ctr">
                      <a:solidFill>
                        <a:srgbClr val="0033CC"/>
                      </a:solidFill>
                      <a:prstDash val="solid"/>
                      <a:miter lim="800000"/>
                      <a:headEnd type="none" w="sm" len="sm"/>
                      <a:tailEnd type="none" w="sm" len="sm"/>
                    </a:lnT>
                    <a:lnB w="28575" cap="flat" cmpd="sng" algn="ctr">
                      <a:solidFill>
                        <a:srgbClr val="0033CC"/>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endParaRPr kumimoji="0" lang="zh-CN" altLang="en-US" sz="2400" b="1" i="0" u="none" strike="noStrike" cap="none" normalizeH="0" baseline="0">
                        <a:ln>
                          <a:noFill/>
                        </a:ln>
                        <a:solidFill>
                          <a:schemeClr val="tx1"/>
                        </a:solidFill>
                        <a:effectLst/>
                        <a:latin typeface="Comic Sans MS" pitchFamily="66" charset="0"/>
                        <a:ea typeface="ＭＳ Ｐゴシック" pitchFamily="34" charset="-128"/>
                      </a:endParaRPr>
                    </a:p>
                  </a:txBody>
                  <a:tcPr horzOverflow="overflow">
                    <a:lnL w="28575" cap="flat" cmpd="sng" algn="ctr">
                      <a:solidFill>
                        <a:srgbClr val="0033CC"/>
                      </a:solidFill>
                      <a:prstDash val="solid"/>
                      <a:miter lim="800000"/>
                      <a:headEnd type="none" w="sm" len="sm"/>
                      <a:tailEnd type="none" w="sm" len="sm"/>
                    </a:lnL>
                    <a:lnR w="28575" cap="flat" cmpd="sng" algn="ctr">
                      <a:solidFill>
                        <a:srgbClr val="0033CC"/>
                      </a:solidFill>
                      <a:prstDash val="solid"/>
                      <a:miter lim="800000"/>
                      <a:headEnd type="none" w="sm" len="sm"/>
                      <a:tailEnd type="none" w="sm" len="sm"/>
                    </a:lnR>
                    <a:lnT w="28575" cap="flat" cmpd="sng" algn="ctr">
                      <a:solidFill>
                        <a:srgbClr val="0033CC"/>
                      </a:solidFill>
                      <a:prstDash val="solid"/>
                      <a:miter lim="800000"/>
                      <a:headEnd type="none" w="sm" len="sm"/>
                      <a:tailEnd type="none" w="sm" len="sm"/>
                    </a:lnT>
                    <a:lnB w="28575" cap="flat" cmpd="sng" algn="ctr">
                      <a:solidFill>
                        <a:srgbClr val="0033CC"/>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10002"/>
                  </a:ext>
                </a:extLst>
              </a:tr>
              <a:tr h="631825">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2400" b="1" i="0" u="none" strike="noStrike" cap="none" normalizeH="0" baseline="0">
                          <a:ln>
                            <a:noFill/>
                          </a:ln>
                          <a:solidFill>
                            <a:schemeClr val="tx1"/>
                          </a:solidFill>
                          <a:effectLst/>
                          <a:latin typeface="Comic Sans MS" pitchFamily="66" charset="0"/>
                          <a:ea typeface="ＭＳ Ｐゴシック" pitchFamily="34" charset="-128"/>
                        </a:rPr>
                        <a:t>3</a:t>
                      </a:r>
                    </a:p>
                  </a:txBody>
                  <a:tcPr horzOverflow="overflow">
                    <a:lnL>
                      <a:noFill/>
                    </a:lnL>
                    <a:lnR w="28575" cap="flat" cmpd="sng" algn="ctr">
                      <a:solidFill>
                        <a:srgbClr val="0033CC"/>
                      </a:solidFill>
                      <a:prstDash val="solid"/>
                      <a:miter lim="800000"/>
                      <a:headEnd type="none" w="sm" len="sm"/>
                      <a:tailEnd type="none" w="sm" len="sm"/>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2400" b="1" i="0" u="none" strike="noStrike" cap="none" normalizeH="0" baseline="0">
                          <a:ln>
                            <a:noFill/>
                          </a:ln>
                          <a:solidFill>
                            <a:schemeClr val="tx1"/>
                          </a:solidFill>
                          <a:effectLst/>
                          <a:latin typeface="Comic Sans MS" pitchFamily="66" charset="0"/>
                          <a:ea typeface="ＭＳ Ｐゴシック" pitchFamily="34" charset="-128"/>
                        </a:rPr>
                        <a:t>D</a:t>
                      </a:r>
                    </a:p>
                  </a:txBody>
                  <a:tcPr horzOverflow="overflow">
                    <a:lnL w="28575" cap="flat" cmpd="sng" algn="ctr">
                      <a:solidFill>
                        <a:srgbClr val="0033CC"/>
                      </a:solidFill>
                      <a:prstDash val="solid"/>
                      <a:miter lim="800000"/>
                      <a:headEnd type="none" w="sm" len="sm"/>
                      <a:tailEnd type="none" w="sm" len="sm"/>
                    </a:lnL>
                    <a:lnR w="28575" cap="flat" cmpd="sng" algn="ctr">
                      <a:solidFill>
                        <a:srgbClr val="0033CC"/>
                      </a:solidFill>
                      <a:prstDash val="solid"/>
                      <a:miter lim="800000"/>
                      <a:headEnd type="none" w="sm" len="sm"/>
                      <a:tailEnd type="none" w="sm" len="sm"/>
                    </a:lnR>
                    <a:lnT w="28575" cap="flat" cmpd="sng" algn="ctr">
                      <a:solidFill>
                        <a:srgbClr val="0033CC"/>
                      </a:solidFill>
                      <a:prstDash val="solid"/>
                      <a:miter lim="800000"/>
                      <a:headEnd type="none" w="sm" len="sm"/>
                      <a:tailEnd type="none" w="sm" len="sm"/>
                    </a:lnT>
                    <a:lnB w="28575" cap="flat" cmpd="sng" algn="ctr">
                      <a:solidFill>
                        <a:srgbClr val="0033CC"/>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endParaRPr kumimoji="0" lang="zh-CN" altLang="en-US" sz="2400" b="1" i="0" u="none" strike="noStrike" cap="none" normalizeH="0" baseline="0" dirty="0">
                        <a:ln>
                          <a:noFill/>
                        </a:ln>
                        <a:solidFill>
                          <a:schemeClr val="tx1"/>
                        </a:solidFill>
                        <a:effectLst/>
                        <a:latin typeface="Comic Sans MS" pitchFamily="66" charset="0"/>
                        <a:ea typeface="ＭＳ Ｐゴシック" pitchFamily="34" charset="-128"/>
                      </a:endParaRPr>
                    </a:p>
                  </a:txBody>
                  <a:tcPr horzOverflow="overflow">
                    <a:lnL w="28575" cap="flat" cmpd="sng" algn="ctr">
                      <a:solidFill>
                        <a:srgbClr val="0033CC"/>
                      </a:solidFill>
                      <a:prstDash val="solid"/>
                      <a:miter lim="800000"/>
                      <a:headEnd type="none" w="sm" len="sm"/>
                      <a:tailEnd type="none" w="sm" len="sm"/>
                    </a:lnL>
                    <a:lnR w="28575" cap="flat" cmpd="sng" algn="ctr">
                      <a:solidFill>
                        <a:srgbClr val="0033CC"/>
                      </a:solidFill>
                      <a:prstDash val="solid"/>
                      <a:miter lim="800000"/>
                      <a:headEnd type="none" w="sm" len="sm"/>
                      <a:tailEnd type="none" w="sm" len="sm"/>
                    </a:lnR>
                    <a:lnT w="28575" cap="flat" cmpd="sng" algn="ctr">
                      <a:solidFill>
                        <a:srgbClr val="0033CC"/>
                      </a:solidFill>
                      <a:prstDash val="solid"/>
                      <a:miter lim="800000"/>
                      <a:headEnd type="none" w="sm" len="sm"/>
                      <a:tailEnd type="none" w="sm" len="sm"/>
                    </a:lnT>
                    <a:lnB w="28575" cap="flat" cmpd="sng" algn="ctr">
                      <a:solidFill>
                        <a:srgbClr val="0033CC"/>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10003"/>
                  </a:ext>
                </a:extLst>
              </a:tr>
            </a:tbl>
          </a:graphicData>
        </a:graphic>
      </p:graphicFrame>
      <p:sp>
        <p:nvSpPr>
          <p:cNvPr id="50" name="Line 40"/>
          <p:cNvSpPr>
            <a:spLocks noChangeShapeType="1"/>
          </p:cNvSpPr>
          <p:nvPr/>
        </p:nvSpPr>
        <p:spPr bwMode="auto">
          <a:xfrm>
            <a:off x="7453736" y="2113756"/>
            <a:ext cx="647700" cy="0"/>
          </a:xfrm>
          <a:prstGeom prst="line">
            <a:avLst/>
          </a:prstGeom>
          <a:noFill/>
          <a:ln w="28575" cap="sq">
            <a:solidFill>
              <a:srgbClr val="0000FF"/>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aphicFrame>
        <p:nvGraphicFramePr>
          <p:cNvPr id="51" name="Group 41"/>
          <p:cNvGraphicFramePr>
            <a:graphicFrameLocks noGrp="1"/>
          </p:cNvGraphicFramePr>
          <p:nvPr>
            <p:extLst>
              <p:ext uri="{D42A27DB-BD31-4B8C-83A1-F6EECF244321}">
                <p14:modId xmlns:p14="http://schemas.microsoft.com/office/powerpoint/2010/main" val="614727285"/>
              </p:ext>
            </p:extLst>
          </p:nvPr>
        </p:nvGraphicFramePr>
        <p:xfrm>
          <a:off x="8101436" y="1897856"/>
          <a:ext cx="744538" cy="457200"/>
        </p:xfrm>
        <a:graphic>
          <a:graphicData uri="http://schemas.openxmlformats.org/drawingml/2006/table">
            <a:tbl>
              <a:tblPr/>
              <a:tblGrid>
                <a:gridCol w="360363">
                  <a:extLst>
                    <a:ext uri="{9D8B030D-6E8A-4147-A177-3AD203B41FA5}">
                      <a16:colId xmlns:a16="http://schemas.microsoft.com/office/drawing/2014/main" val="20000"/>
                    </a:ext>
                  </a:extLst>
                </a:gridCol>
                <a:gridCol w="384175">
                  <a:extLst>
                    <a:ext uri="{9D8B030D-6E8A-4147-A177-3AD203B41FA5}">
                      <a16:colId xmlns:a16="http://schemas.microsoft.com/office/drawing/2014/main" val="20001"/>
                    </a:ext>
                  </a:extLst>
                </a:gridCol>
              </a:tblGrid>
              <a:tr h="455613">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2400" b="1" i="0" u="none" strike="noStrike" cap="none" normalizeH="0" baseline="0">
                          <a:ln>
                            <a:noFill/>
                          </a:ln>
                          <a:solidFill>
                            <a:schemeClr val="tx1"/>
                          </a:solidFill>
                          <a:effectLst/>
                          <a:latin typeface="Comic Sans MS" pitchFamily="66" charset="0"/>
                          <a:ea typeface="ＭＳ Ｐゴシック" pitchFamily="34" charset="-128"/>
                        </a:rPr>
                        <a:t>3</a:t>
                      </a:r>
                    </a:p>
                  </a:txBody>
                  <a:tcPr horzOverflow="overflow">
                    <a:lnL w="28575" cap="flat" cmpd="sng" algn="ctr">
                      <a:solidFill>
                        <a:srgbClr val="0033CC"/>
                      </a:solidFill>
                      <a:prstDash val="solid"/>
                      <a:miter lim="800000"/>
                      <a:headEnd type="none" w="sm" len="sm"/>
                      <a:tailEnd type="none" w="sm" len="sm"/>
                    </a:lnL>
                    <a:lnR w="28575" cap="flat" cmpd="sng" algn="ctr">
                      <a:solidFill>
                        <a:srgbClr val="0033CC"/>
                      </a:solidFill>
                      <a:prstDash val="solid"/>
                      <a:miter lim="800000"/>
                      <a:headEnd type="none" w="sm" len="sm"/>
                      <a:tailEnd type="none" w="sm" len="sm"/>
                    </a:lnR>
                    <a:lnT w="28575" cap="flat" cmpd="sng" algn="ctr">
                      <a:solidFill>
                        <a:srgbClr val="0033CC"/>
                      </a:solidFill>
                      <a:prstDash val="solid"/>
                      <a:miter lim="800000"/>
                      <a:headEnd type="none" w="sm" len="sm"/>
                      <a:tailEnd type="none" w="sm" len="sm"/>
                    </a:lnT>
                    <a:lnB w="28575" cap="flat" cmpd="sng" algn="ctr">
                      <a:solidFill>
                        <a:srgbClr val="0033CC"/>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endParaRPr kumimoji="0" lang="zh-CN" altLang="en-US" sz="2400" b="1" i="0" u="none" strike="noStrike" cap="none" normalizeH="0" baseline="0">
                        <a:ln>
                          <a:noFill/>
                        </a:ln>
                        <a:solidFill>
                          <a:schemeClr val="tx1"/>
                        </a:solidFill>
                        <a:effectLst/>
                        <a:latin typeface="Comic Sans MS" pitchFamily="66" charset="0"/>
                        <a:ea typeface="ＭＳ Ｐゴシック" pitchFamily="34" charset="-128"/>
                      </a:endParaRPr>
                    </a:p>
                  </a:txBody>
                  <a:tcPr horzOverflow="overflow">
                    <a:lnL w="28575" cap="flat" cmpd="sng" algn="ctr">
                      <a:solidFill>
                        <a:srgbClr val="0033CC"/>
                      </a:solidFill>
                      <a:prstDash val="solid"/>
                      <a:miter lim="800000"/>
                      <a:headEnd type="none" w="sm" len="sm"/>
                      <a:tailEnd type="none" w="sm" len="sm"/>
                    </a:lnL>
                    <a:lnR w="28575" cap="flat" cmpd="sng" algn="ctr">
                      <a:solidFill>
                        <a:srgbClr val="0033CC"/>
                      </a:solidFill>
                      <a:prstDash val="solid"/>
                      <a:miter lim="800000"/>
                      <a:headEnd type="none" w="sm" len="sm"/>
                      <a:tailEnd type="none" w="sm" len="sm"/>
                    </a:lnR>
                    <a:lnT w="28575" cap="flat" cmpd="sng" algn="ctr">
                      <a:solidFill>
                        <a:srgbClr val="0033CC"/>
                      </a:solidFill>
                      <a:prstDash val="solid"/>
                      <a:miter lim="800000"/>
                      <a:headEnd type="none" w="sm" len="sm"/>
                      <a:tailEnd type="none" w="sm" len="sm"/>
                    </a:lnT>
                    <a:lnB w="28575" cap="flat" cmpd="sng" algn="ctr">
                      <a:solidFill>
                        <a:srgbClr val="0033CC"/>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10000"/>
                  </a:ext>
                </a:extLst>
              </a:tr>
            </a:tbl>
          </a:graphicData>
        </a:graphic>
      </p:graphicFrame>
      <p:sp>
        <p:nvSpPr>
          <p:cNvPr id="52" name="Rectangle 49"/>
          <p:cNvSpPr>
            <a:spLocks noChangeArrowheads="1"/>
          </p:cNvSpPr>
          <p:nvPr/>
        </p:nvSpPr>
        <p:spPr bwMode="auto">
          <a:xfrm>
            <a:off x="8474499" y="1948657"/>
            <a:ext cx="33855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p>
            <a:r>
              <a:rPr lang="en-US" altLang="zh-CN" sz="2400" b="1"/>
              <a:t>^</a:t>
            </a:r>
          </a:p>
        </p:txBody>
      </p:sp>
      <p:sp>
        <p:nvSpPr>
          <p:cNvPr id="53" name="Line 50"/>
          <p:cNvSpPr>
            <a:spLocks noChangeShapeType="1"/>
          </p:cNvSpPr>
          <p:nvPr/>
        </p:nvSpPr>
        <p:spPr bwMode="auto">
          <a:xfrm>
            <a:off x="7455324" y="3337719"/>
            <a:ext cx="647700" cy="0"/>
          </a:xfrm>
          <a:prstGeom prst="line">
            <a:avLst/>
          </a:prstGeom>
          <a:noFill/>
          <a:ln w="28575" cap="sq">
            <a:solidFill>
              <a:srgbClr val="0000FF"/>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aphicFrame>
        <p:nvGraphicFramePr>
          <p:cNvPr id="54" name="Group 51"/>
          <p:cNvGraphicFramePr>
            <a:graphicFrameLocks noGrp="1"/>
          </p:cNvGraphicFramePr>
          <p:nvPr>
            <p:extLst>
              <p:ext uri="{D42A27DB-BD31-4B8C-83A1-F6EECF244321}">
                <p14:modId xmlns:p14="http://schemas.microsoft.com/office/powerpoint/2010/main" val="2969197586"/>
              </p:ext>
            </p:extLst>
          </p:nvPr>
        </p:nvGraphicFramePr>
        <p:xfrm>
          <a:off x="8103025" y="3121819"/>
          <a:ext cx="744537" cy="457200"/>
        </p:xfrm>
        <a:graphic>
          <a:graphicData uri="http://schemas.openxmlformats.org/drawingml/2006/table">
            <a:tbl>
              <a:tblPr/>
              <a:tblGrid>
                <a:gridCol w="360362">
                  <a:extLst>
                    <a:ext uri="{9D8B030D-6E8A-4147-A177-3AD203B41FA5}">
                      <a16:colId xmlns:a16="http://schemas.microsoft.com/office/drawing/2014/main" val="20000"/>
                    </a:ext>
                  </a:extLst>
                </a:gridCol>
                <a:gridCol w="384175">
                  <a:extLst>
                    <a:ext uri="{9D8B030D-6E8A-4147-A177-3AD203B41FA5}">
                      <a16:colId xmlns:a16="http://schemas.microsoft.com/office/drawing/2014/main" val="20001"/>
                    </a:ext>
                  </a:extLst>
                </a:gridCol>
              </a:tblGrid>
              <a:tr h="455613">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2400" b="1" i="0" u="none" strike="noStrike" cap="none" normalizeH="0" baseline="0">
                          <a:ln>
                            <a:noFill/>
                          </a:ln>
                          <a:solidFill>
                            <a:schemeClr val="tx1"/>
                          </a:solidFill>
                          <a:effectLst/>
                          <a:latin typeface="Comic Sans MS" pitchFamily="66" charset="0"/>
                          <a:ea typeface="ＭＳ Ｐゴシック" pitchFamily="34" charset="-128"/>
                        </a:rPr>
                        <a:t>0</a:t>
                      </a:r>
                    </a:p>
                  </a:txBody>
                  <a:tcPr horzOverflow="overflow">
                    <a:lnL w="28575" cap="flat" cmpd="sng" algn="ctr">
                      <a:solidFill>
                        <a:srgbClr val="0033CC"/>
                      </a:solidFill>
                      <a:prstDash val="solid"/>
                      <a:miter lim="800000"/>
                      <a:headEnd type="none" w="sm" len="sm"/>
                      <a:tailEnd type="none" w="sm" len="sm"/>
                    </a:lnL>
                    <a:lnR w="28575" cap="flat" cmpd="sng" algn="ctr">
                      <a:solidFill>
                        <a:srgbClr val="0033CC"/>
                      </a:solidFill>
                      <a:prstDash val="solid"/>
                      <a:miter lim="800000"/>
                      <a:headEnd type="none" w="sm" len="sm"/>
                      <a:tailEnd type="none" w="sm" len="sm"/>
                    </a:lnR>
                    <a:lnT w="28575" cap="flat" cmpd="sng" algn="ctr">
                      <a:solidFill>
                        <a:srgbClr val="0033CC"/>
                      </a:solidFill>
                      <a:prstDash val="solid"/>
                      <a:miter lim="800000"/>
                      <a:headEnd type="none" w="sm" len="sm"/>
                      <a:tailEnd type="none" w="sm" len="sm"/>
                    </a:lnT>
                    <a:lnB w="28575" cap="flat" cmpd="sng" algn="ctr">
                      <a:solidFill>
                        <a:srgbClr val="0033CC"/>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endParaRPr kumimoji="0" lang="zh-CN" altLang="en-US" sz="2400" b="1" i="0" u="none" strike="noStrike" cap="none" normalizeH="0" baseline="0">
                        <a:ln>
                          <a:noFill/>
                        </a:ln>
                        <a:solidFill>
                          <a:schemeClr val="tx1"/>
                        </a:solidFill>
                        <a:effectLst/>
                        <a:latin typeface="Comic Sans MS" pitchFamily="66" charset="0"/>
                        <a:ea typeface="ＭＳ Ｐゴシック" pitchFamily="34" charset="-128"/>
                      </a:endParaRPr>
                    </a:p>
                  </a:txBody>
                  <a:tcPr horzOverflow="overflow">
                    <a:lnL w="28575" cap="flat" cmpd="sng" algn="ctr">
                      <a:solidFill>
                        <a:srgbClr val="0033CC"/>
                      </a:solidFill>
                      <a:prstDash val="solid"/>
                      <a:miter lim="800000"/>
                      <a:headEnd type="none" w="sm" len="sm"/>
                      <a:tailEnd type="none" w="sm" len="sm"/>
                    </a:lnL>
                    <a:lnR w="28575" cap="flat" cmpd="sng" algn="ctr">
                      <a:solidFill>
                        <a:srgbClr val="0033CC"/>
                      </a:solidFill>
                      <a:prstDash val="solid"/>
                      <a:miter lim="800000"/>
                      <a:headEnd type="none" w="sm" len="sm"/>
                      <a:tailEnd type="none" w="sm" len="sm"/>
                    </a:lnR>
                    <a:lnT w="28575" cap="flat" cmpd="sng" algn="ctr">
                      <a:solidFill>
                        <a:srgbClr val="0033CC"/>
                      </a:solidFill>
                      <a:prstDash val="solid"/>
                      <a:miter lim="800000"/>
                      <a:headEnd type="none" w="sm" len="sm"/>
                      <a:tailEnd type="none" w="sm" len="sm"/>
                    </a:lnT>
                    <a:lnB w="28575" cap="flat" cmpd="sng" algn="ctr">
                      <a:solidFill>
                        <a:srgbClr val="0033CC"/>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10000"/>
                  </a:ext>
                </a:extLst>
              </a:tr>
            </a:tbl>
          </a:graphicData>
        </a:graphic>
      </p:graphicFrame>
      <p:sp>
        <p:nvSpPr>
          <p:cNvPr id="55" name="Rectangle 59"/>
          <p:cNvSpPr>
            <a:spLocks noChangeArrowheads="1"/>
          </p:cNvSpPr>
          <p:nvPr/>
        </p:nvSpPr>
        <p:spPr bwMode="auto">
          <a:xfrm>
            <a:off x="8476086" y="3172620"/>
            <a:ext cx="33855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p>
            <a:r>
              <a:rPr lang="en-US" altLang="zh-CN" sz="2400" b="1"/>
              <a:t>^</a:t>
            </a:r>
          </a:p>
        </p:txBody>
      </p:sp>
      <p:sp>
        <p:nvSpPr>
          <p:cNvPr id="56" name="Line 60"/>
          <p:cNvSpPr>
            <a:spLocks noChangeShapeType="1"/>
          </p:cNvSpPr>
          <p:nvPr/>
        </p:nvSpPr>
        <p:spPr bwMode="auto">
          <a:xfrm>
            <a:off x="7455324" y="3985419"/>
            <a:ext cx="647700" cy="0"/>
          </a:xfrm>
          <a:prstGeom prst="line">
            <a:avLst/>
          </a:prstGeom>
          <a:noFill/>
          <a:ln w="28575" cap="sq">
            <a:solidFill>
              <a:srgbClr val="0000FF"/>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aphicFrame>
        <p:nvGraphicFramePr>
          <p:cNvPr id="57" name="Group 61"/>
          <p:cNvGraphicFramePr>
            <a:graphicFrameLocks noGrp="1"/>
          </p:cNvGraphicFramePr>
          <p:nvPr>
            <p:extLst>
              <p:ext uri="{D42A27DB-BD31-4B8C-83A1-F6EECF244321}">
                <p14:modId xmlns:p14="http://schemas.microsoft.com/office/powerpoint/2010/main" val="913027647"/>
              </p:ext>
            </p:extLst>
          </p:nvPr>
        </p:nvGraphicFramePr>
        <p:xfrm>
          <a:off x="8103025" y="3769519"/>
          <a:ext cx="744537" cy="457200"/>
        </p:xfrm>
        <a:graphic>
          <a:graphicData uri="http://schemas.openxmlformats.org/drawingml/2006/table">
            <a:tbl>
              <a:tblPr/>
              <a:tblGrid>
                <a:gridCol w="360362">
                  <a:extLst>
                    <a:ext uri="{9D8B030D-6E8A-4147-A177-3AD203B41FA5}">
                      <a16:colId xmlns:a16="http://schemas.microsoft.com/office/drawing/2014/main" val="20000"/>
                    </a:ext>
                  </a:extLst>
                </a:gridCol>
                <a:gridCol w="384175">
                  <a:extLst>
                    <a:ext uri="{9D8B030D-6E8A-4147-A177-3AD203B41FA5}">
                      <a16:colId xmlns:a16="http://schemas.microsoft.com/office/drawing/2014/main" val="20001"/>
                    </a:ext>
                  </a:extLst>
                </a:gridCol>
              </a:tblGrid>
              <a:tr h="455613">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2400" b="1" i="0" u="none" strike="noStrike" cap="none" normalizeH="0" baseline="0">
                          <a:ln>
                            <a:noFill/>
                          </a:ln>
                          <a:solidFill>
                            <a:schemeClr val="tx1"/>
                          </a:solidFill>
                          <a:effectLst/>
                          <a:latin typeface="Comic Sans MS" pitchFamily="66" charset="0"/>
                          <a:ea typeface="ＭＳ Ｐゴシック" pitchFamily="34" charset="-128"/>
                        </a:rPr>
                        <a:t>2</a:t>
                      </a:r>
                    </a:p>
                  </a:txBody>
                  <a:tcPr horzOverflow="overflow">
                    <a:lnL w="28575" cap="flat" cmpd="sng" algn="ctr">
                      <a:solidFill>
                        <a:srgbClr val="0033CC"/>
                      </a:solidFill>
                      <a:prstDash val="solid"/>
                      <a:miter lim="800000"/>
                      <a:headEnd type="none" w="sm" len="sm"/>
                      <a:tailEnd type="none" w="sm" len="sm"/>
                    </a:lnL>
                    <a:lnR w="28575" cap="flat" cmpd="sng" algn="ctr">
                      <a:solidFill>
                        <a:srgbClr val="0033CC"/>
                      </a:solidFill>
                      <a:prstDash val="solid"/>
                      <a:miter lim="800000"/>
                      <a:headEnd type="none" w="sm" len="sm"/>
                      <a:tailEnd type="none" w="sm" len="sm"/>
                    </a:lnR>
                    <a:lnT w="28575" cap="flat" cmpd="sng" algn="ctr">
                      <a:solidFill>
                        <a:srgbClr val="0033CC"/>
                      </a:solidFill>
                      <a:prstDash val="solid"/>
                      <a:miter lim="800000"/>
                      <a:headEnd type="none" w="sm" len="sm"/>
                      <a:tailEnd type="none" w="sm" len="sm"/>
                    </a:lnT>
                    <a:lnB w="28575" cap="flat" cmpd="sng" algn="ctr">
                      <a:solidFill>
                        <a:srgbClr val="0033CC"/>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endParaRPr kumimoji="0" lang="zh-CN" altLang="en-US" sz="2400" b="1" i="0" u="none" strike="noStrike" cap="none" normalizeH="0" baseline="0">
                        <a:ln>
                          <a:noFill/>
                        </a:ln>
                        <a:solidFill>
                          <a:schemeClr val="tx1"/>
                        </a:solidFill>
                        <a:effectLst/>
                        <a:latin typeface="Comic Sans MS" pitchFamily="66" charset="0"/>
                        <a:ea typeface="ＭＳ Ｐゴシック" pitchFamily="34" charset="-128"/>
                      </a:endParaRPr>
                    </a:p>
                  </a:txBody>
                  <a:tcPr horzOverflow="overflow">
                    <a:lnL w="28575" cap="flat" cmpd="sng" algn="ctr">
                      <a:solidFill>
                        <a:srgbClr val="0033CC"/>
                      </a:solidFill>
                      <a:prstDash val="solid"/>
                      <a:miter lim="800000"/>
                      <a:headEnd type="none" w="sm" len="sm"/>
                      <a:tailEnd type="none" w="sm" len="sm"/>
                    </a:lnL>
                    <a:lnR w="28575" cap="flat" cmpd="sng" algn="ctr">
                      <a:solidFill>
                        <a:srgbClr val="0033CC"/>
                      </a:solidFill>
                      <a:prstDash val="solid"/>
                      <a:miter lim="800000"/>
                      <a:headEnd type="none" w="sm" len="sm"/>
                      <a:tailEnd type="none" w="sm" len="sm"/>
                    </a:lnR>
                    <a:lnT w="28575" cap="flat" cmpd="sng" algn="ctr">
                      <a:solidFill>
                        <a:srgbClr val="0033CC"/>
                      </a:solidFill>
                      <a:prstDash val="solid"/>
                      <a:miter lim="800000"/>
                      <a:headEnd type="none" w="sm" len="sm"/>
                      <a:tailEnd type="none" w="sm" len="sm"/>
                    </a:lnT>
                    <a:lnB w="28575" cap="flat" cmpd="sng" algn="ctr">
                      <a:solidFill>
                        <a:srgbClr val="0033CC"/>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10000"/>
                  </a:ext>
                </a:extLst>
              </a:tr>
            </a:tbl>
          </a:graphicData>
        </a:graphic>
      </p:graphicFrame>
      <p:sp>
        <p:nvSpPr>
          <p:cNvPr id="58" name="Rectangle 69"/>
          <p:cNvSpPr>
            <a:spLocks noChangeArrowheads="1"/>
          </p:cNvSpPr>
          <p:nvPr/>
        </p:nvSpPr>
        <p:spPr bwMode="auto">
          <a:xfrm>
            <a:off x="8476086" y="3820320"/>
            <a:ext cx="33855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p>
            <a:r>
              <a:rPr lang="en-US" altLang="zh-CN" sz="2400" b="1"/>
              <a:t>^</a:t>
            </a:r>
          </a:p>
        </p:txBody>
      </p:sp>
      <p:sp>
        <p:nvSpPr>
          <p:cNvPr id="59" name="Line 70"/>
          <p:cNvSpPr>
            <a:spLocks noChangeShapeType="1"/>
          </p:cNvSpPr>
          <p:nvPr/>
        </p:nvSpPr>
        <p:spPr bwMode="auto">
          <a:xfrm>
            <a:off x="7453736" y="2691606"/>
            <a:ext cx="647700" cy="0"/>
          </a:xfrm>
          <a:prstGeom prst="line">
            <a:avLst/>
          </a:prstGeom>
          <a:noFill/>
          <a:ln w="28575" cap="sq">
            <a:solidFill>
              <a:srgbClr val="0000FF"/>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aphicFrame>
        <p:nvGraphicFramePr>
          <p:cNvPr id="60" name="Group 71"/>
          <p:cNvGraphicFramePr>
            <a:graphicFrameLocks noGrp="1"/>
          </p:cNvGraphicFramePr>
          <p:nvPr>
            <p:extLst>
              <p:ext uri="{D42A27DB-BD31-4B8C-83A1-F6EECF244321}">
                <p14:modId xmlns:p14="http://schemas.microsoft.com/office/powerpoint/2010/main" val="188104283"/>
              </p:ext>
            </p:extLst>
          </p:nvPr>
        </p:nvGraphicFramePr>
        <p:xfrm>
          <a:off x="8101436" y="2475706"/>
          <a:ext cx="744538" cy="457200"/>
        </p:xfrm>
        <a:graphic>
          <a:graphicData uri="http://schemas.openxmlformats.org/drawingml/2006/table">
            <a:tbl>
              <a:tblPr/>
              <a:tblGrid>
                <a:gridCol w="360363">
                  <a:extLst>
                    <a:ext uri="{9D8B030D-6E8A-4147-A177-3AD203B41FA5}">
                      <a16:colId xmlns:a16="http://schemas.microsoft.com/office/drawing/2014/main" val="20000"/>
                    </a:ext>
                  </a:extLst>
                </a:gridCol>
                <a:gridCol w="384175">
                  <a:extLst>
                    <a:ext uri="{9D8B030D-6E8A-4147-A177-3AD203B41FA5}">
                      <a16:colId xmlns:a16="http://schemas.microsoft.com/office/drawing/2014/main" val="20001"/>
                    </a:ext>
                  </a:extLst>
                </a:gridCol>
              </a:tblGrid>
              <a:tr h="455613">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2400" b="1" i="0" u="none" strike="noStrike" cap="none" normalizeH="0" baseline="0">
                          <a:ln>
                            <a:noFill/>
                          </a:ln>
                          <a:solidFill>
                            <a:schemeClr val="tx1"/>
                          </a:solidFill>
                          <a:effectLst/>
                          <a:latin typeface="Comic Sans MS" pitchFamily="66" charset="0"/>
                          <a:ea typeface="ＭＳ Ｐゴシック" pitchFamily="34" charset="-128"/>
                        </a:rPr>
                        <a:t>0</a:t>
                      </a:r>
                    </a:p>
                  </a:txBody>
                  <a:tcPr horzOverflow="overflow">
                    <a:lnL w="28575" cap="flat" cmpd="sng" algn="ctr">
                      <a:solidFill>
                        <a:srgbClr val="0033CC"/>
                      </a:solidFill>
                      <a:prstDash val="solid"/>
                      <a:miter lim="800000"/>
                      <a:headEnd type="none" w="sm" len="sm"/>
                      <a:tailEnd type="none" w="sm" len="sm"/>
                    </a:lnL>
                    <a:lnR w="28575" cap="flat" cmpd="sng" algn="ctr">
                      <a:solidFill>
                        <a:srgbClr val="0033CC"/>
                      </a:solidFill>
                      <a:prstDash val="solid"/>
                      <a:miter lim="800000"/>
                      <a:headEnd type="none" w="sm" len="sm"/>
                      <a:tailEnd type="none" w="sm" len="sm"/>
                    </a:lnR>
                    <a:lnT w="28575" cap="flat" cmpd="sng" algn="ctr">
                      <a:solidFill>
                        <a:srgbClr val="0033CC"/>
                      </a:solidFill>
                      <a:prstDash val="solid"/>
                      <a:miter lim="800000"/>
                      <a:headEnd type="none" w="sm" len="sm"/>
                      <a:tailEnd type="none" w="sm" len="sm"/>
                    </a:lnT>
                    <a:lnB w="28575" cap="flat" cmpd="sng" algn="ctr">
                      <a:solidFill>
                        <a:srgbClr val="0033CC"/>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endParaRPr kumimoji="0" lang="zh-CN" altLang="en-US" sz="2400" b="1" i="0" u="none" strike="noStrike" cap="none" normalizeH="0" baseline="0">
                        <a:ln>
                          <a:noFill/>
                        </a:ln>
                        <a:solidFill>
                          <a:schemeClr val="tx1"/>
                        </a:solidFill>
                        <a:effectLst/>
                        <a:latin typeface="Comic Sans MS" pitchFamily="66" charset="0"/>
                        <a:ea typeface="ＭＳ Ｐゴシック" pitchFamily="34" charset="-128"/>
                      </a:endParaRPr>
                    </a:p>
                  </a:txBody>
                  <a:tcPr horzOverflow="overflow">
                    <a:lnL w="28575" cap="flat" cmpd="sng" algn="ctr">
                      <a:solidFill>
                        <a:srgbClr val="0033CC"/>
                      </a:solidFill>
                      <a:prstDash val="solid"/>
                      <a:miter lim="800000"/>
                      <a:headEnd type="none" w="sm" len="sm"/>
                      <a:tailEnd type="none" w="sm" len="sm"/>
                    </a:lnL>
                    <a:lnR w="28575" cap="flat" cmpd="sng" algn="ctr">
                      <a:solidFill>
                        <a:srgbClr val="0033CC"/>
                      </a:solidFill>
                      <a:prstDash val="solid"/>
                      <a:miter lim="800000"/>
                      <a:headEnd type="none" w="sm" len="sm"/>
                      <a:tailEnd type="none" w="sm" len="sm"/>
                    </a:lnR>
                    <a:lnT w="28575" cap="flat" cmpd="sng" algn="ctr">
                      <a:solidFill>
                        <a:srgbClr val="0033CC"/>
                      </a:solidFill>
                      <a:prstDash val="solid"/>
                      <a:miter lim="800000"/>
                      <a:headEnd type="none" w="sm" len="sm"/>
                      <a:tailEnd type="none" w="sm" len="sm"/>
                    </a:lnT>
                    <a:lnB w="28575" cap="flat" cmpd="sng" algn="ctr">
                      <a:solidFill>
                        <a:srgbClr val="0033CC"/>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10000"/>
                  </a:ext>
                </a:extLst>
              </a:tr>
            </a:tbl>
          </a:graphicData>
        </a:graphic>
      </p:graphicFrame>
      <p:sp>
        <p:nvSpPr>
          <p:cNvPr id="61" name="Rectangle 79"/>
          <p:cNvSpPr>
            <a:spLocks noChangeArrowheads="1"/>
          </p:cNvSpPr>
          <p:nvPr/>
        </p:nvSpPr>
        <p:spPr bwMode="auto">
          <a:xfrm>
            <a:off x="8474499" y="2526507"/>
            <a:ext cx="33855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p>
            <a:r>
              <a:rPr lang="en-US" altLang="zh-CN" sz="2400" b="1"/>
              <a:t>^</a:t>
            </a:r>
          </a:p>
        </p:txBody>
      </p:sp>
      <p:sp>
        <p:nvSpPr>
          <p:cNvPr id="62" name="Text Box 80"/>
          <p:cNvSpPr txBox="1">
            <a:spLocks noChangeArrowheads="1"/>
          </p:cNvSpPr>
          <p:nvPr/>
        </p:nvSpPr>
        <p:spPr bwMode="auto">
          <a:xfrm>
            <a:off x="6888088" y="4509914"/>
            <a:ext cx="209872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spAutoFit/>
          </a:bodyPr>
          <a:lstStyle>
            <a:lvl1pPr eaLnBrk="0" hangingPunct="0">
              <a:defRPr kumimoji="1" sz="2800">
                <a:solidFill>
                  <a:schemeClr val="tx1"/>
                </a:solidFill>
                <a:latin typeface="Comic Sans MS" pitchFamily="66" charset="0"/>
                <a:ea typeface="宋体" pitchFamily="2" charset="-122"/>
              </a:defRPr>
            </a:lvl1pPr>
            <a:lvl2pPr marL="742950" indent="-285750" eaLnBrk="0" hangingPunct="0">
              <a:defRPr kumimoji="1" sz="2800">
                <a:solidFill>
                  <a:schemeClr val="tx1"/>
                </a:solidFill>
                <a:latin typeface="Comic Sans MS" pitchFamily="66" charset="0"/>
                <a:ea typeface="宋体" pitchFamily="2" charset="-122"/>
              </a:defRPr>
            </a:lvl2pPr>
            <a:lvl3pPr marL="1143000" indent="-228600" eaLnBrk="0" hangingPunct="0">
              <a:defRPr kumimoji="1" sz="2800">
                <a:solidFill>
                  <a:schemeClr val="tx1"/>
                </a:solidFill>
                <a:latin typeface="Comic Sans MS" pitchFamily="66" charset="0"/>
                <a:ea typeface="宋体" pitchFamily="2" charset="-122"/>
              </a:defRPr>
            </a:lvl3pPr>
            <a:lvl4pPr marL="1600200" indent="-228600" eaLnBrk="0" hangingPunct="0">
              <a:defRPr kumimoji="1" sz="2800">
                <a:solidFill>
                  <a:schemeClr val="tx1"/>
                </a:solidFill>
                <a:latin typeface="Comic Sans MS" pitchFamily="66" charset="0"/>
                <a:ea typeface="宋体" pitchFamily="2" charset="-122"/>
              </a:defRPr>
            </a:lvl4pPr>
            <a:lvl5pPr marL="2057400" indent="-228600" eaLnBrk="0" hangingPunct="0">
              <a:defRPr kumimoji="1" sz="2800">
                <a:solidFill>
                  <a:schemeClr val="tx1"/>
                </a:solidFill>
                <a:latin typeface="Comic Sans MS" pitchFamily="66" charset="0"/>
                <a:ea typeface="宋体" pitchFamily="2" charset="-122"/>
              </a:defRPr>
            </a:lvl5pPr>
            <a:lvl6pPr marL="25146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6pPr>
            <a:lvl7pPr marL="29718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7pPr>
            <a:lvl8pPr marL="34290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8pPr>
            <a:lvl9pPr marL="38862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9pPr>
          </a:lstStyle>
          <a:p>
            <a:pPr eaLnBrk="1" hangingPunct="1">
              <a:spcBef>
                <a:spcPct val="50000"/>
              </a:spcBef>
            </a:pPr>
            <a:r>
              <a:rPr lang="zh-CN" altLang="en-US" sz="1800" dirty="0">
                <a:latin typeface="微软雅黑" pitchFamily="34" charset="-122"/>
                <a:ea typeface="微软雅黑" pitchFamily="34" charset="-122"/>
                <a:cs typeface="经典粗黑简" pitchFamily="49" charset="-122"/>
              </a:rPr>
              <a:t>有向图的逆邻接表</a:t>
            </a:r>
          </a:p>
        </p:txBody>
      </p:sp>
      <p:sp>
        <p:nvSpPr>
          <p:cNvPr id="63" name="Text Box 81"/>
          <p:cNvSpPr txBox="1">
            <a:spLocks noChangeArrowheads="1"/>
          </p:cNvSpPr>
          <p:nvPr/>
        </p:nvSpPr>
        <p:spPr bwMode="auto">
          <a:xfrm>
            <a:off x="2522962" y="4941168"/>
            <a:ext cx="378906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spAutoFit/>
          </a:bodyPr>
          <a:lstStyle>
            <a:lvl1pPr eaLnBrk="0" hangingPunct="0">
              <a:defRPr kumimoji="1" sz="2800">
                <a:solidFill>
                  <a:schemeClr val="tx1"/>
                </a:solidFill>
                <a:latin typeface="Comic Sans MS" pitchFamily="66" charset="0"/>
                <a:ea typeface="宋体" pitchFamily="2" charset="-122"/>
              </a:defRPr>
            </a:lvl1pPr>
            <a:lvl2pPr marL="742950" indent="-285750" eaLnBrk="0" hangingPunct="0">
              <a:defRPr kumimoji="1" sz="2800">
                <a:solidFill>
                  <a:schemeClr val="tx1"/>
                </a:solidFill>
                <a:latin typeface="Comic Sans MS" pitchFamily="66" charset="0"/>
                <a:ea typeface="宋体" pitchFamily="2" charset="-122"/>
              </a:defRPr>
            </a:lvl2pPr>
            <a:lvl3pPr marL="1143000" indent="-228600" eaLnBrk="0" hangingPunct="0">
              <a:defRPr kumimoji="1" sz="2800">
                <a:solidFill>
                  <a:schemeClr val="tx1"/>
                </a:solidFill>
                <a:latin typeface="Comic Sans MS" pitchFamily="66" charset="0"/>
                <a:ea typeface="宋体" pitchFamily="2" charset="-122"/>
              </a:defRPr>
            </a:lvl3pPr>
            <a:lvl4pPr marL="1600200" indent="-228600" eaLnBrk="0" hangingPunct="0">
              <a:defRPr kumimoji="1" sz="2800">
                <a:solidFill>
                  <a:schemeClr val="tx1"/>
                </a:solidFill>
                <a:latin typeface="Comic Sans MS" pitchFamily="66" charset="0"/>
                <a:ea typeface="宋体" pitchFamily="2" charset="-122"/>
              </a:defRPr>
            </a:lvl4pPr>
            <a:lvl5pPr marL="2057400" indent="-228600" eaLnBrk="0" hangingPunct="0">
              <a:defRPr kumimoji="1" sz="2800">
                <a:solidFill>
                  <a:schemeClr val="tx1"/>
                </a:solidFill>
                <a:latin typeface="Comic Sans MS" pitchFamily="66" charset="0"/>
                <a:ea typeface="宋体" pitchFamily="2" charset="-122"/>
              </a:defRPr>
            </a:lvl5pPr>
            <a:lvl6pPr marL="25146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6pPr>
            <a:lvl7pPr marL="29718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7pPr>
            <a:lvl8pPr marL="34290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8pPr>
            <a:lvl9pPr marL="38862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9pPr>
          </a:lstStyle>
          <a:p>
            <a:pPr algn="l" eaLnBrk="1" hangingPunct="1">
              <a:spcBef>
                <a:spcPct val="50000"/>
              </a:spcBef>
            </a:pPr>
            <a:r>
              <a:rPr lang="zh-CN" altLang="en-US" sz="2000" dirty="0">
                <a:latin typeface="微软雅黑" pitchFamily="34" charset="-122"/>
                <a:ea typeface="微软雅黑" pitchFamily="34" charset="-122"/>
                <a:cs typeface="经典粗黑简" pitchFamily="49" charset="-122"/>
              </a:rPr>
              <a:t>有向图的逆邻接表的特点？</a:t>
            </a:r>
          </a:p>
        </p:txBody>
      </p:sp>
      <p:sp>
        <p:nvSpPr>
          <p:cNvPr id="65" name="Text Box 83"/>
          <p:cNvSpPr txBox="1">
            <a:spLocks noChangeArrowheads="1"/>
          </p:cNvSpPr>
          <p:nvPr/>
        </p:nvSpPr>
        <p:spPr bwMode="auto">
          <a:xfrm>
            <a:off x="2524550" y="5373216"/>
            <a:ext cx="792003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kumimoji="1" sz="2800">
                <a:solidFill>
                  <a:schemeClr val="tx1"/>
                </a:solidFill>
                <a:latin typeface="Comic Sans MS" pitchFamily="66" charset="0"/>
                <a:ea typeface="宋体" pitchFamily="2" charset="-122"/>
              </a:defRPr>
            </a:lvl1pPr>
            <a:lvl2pPr marL="742950" indent="-285750" eaLnBrk="0" hangingPunct="0">
              <a:defRPr kumimoji="1" sz="2800">
                <a:solidFill>
                  <a:schemeClr val="tx1"/>
                </a:solidFill>
                <a:latin typeface="Comic Sans MS" pitchFamily="66" charset="0"/>
                <a:ea typeface="宋体" pitchFamily="2" charset="-122"/>
              </a:defRPr>
            </a:lvl2pPr>
            <a:lvl3pPr marL="1143000" indent="-228600" eaLnBrk="0" hangingPunct="0">
              <a:defRPr kumimoji="1" sz="2800">
                <a:solidFill>
                  <a:schemeClr val="tx1"/>
                </a:solidFill>
                <a:latin typeface="Comic Sans MS" pitchFamily="66" charset="0"/>
                <a:ea typeface="宋体" pitchFamily="2" charset="-122"/>
              </a:defRPr>
            </a:lvl3pPr>
            <a:lvl4pPr marL="1600200" indent="-228600" eaLnBrk="0" hangingPunct="0">
              <a:defRPr kumimoji="1" sz="2800">
                <a:solidFill>
                  <a:schemeClr val="tx1"/>
                </a:solidFill>
                <a:latin typeface="Comic Sans MS" pitchFamily="66" charset="0"/>
                <a:ea typeface="宋体" pitchFamily="2" charset="-122"/>
              </a:defRPr>
            </a:lvl4pPr>
            <a:lvl5pPr marL="2057400" indent="-228600" eaLnBrk="0" hangingPunct="0">
              <a:defRPr kumimoji="1" sz="2800">
                <a:solidFill>
                  <a:schemeClr val="tx1"/>
                </a:solidFill>
                <a:latin typeface="Comic Sans MS" pitchFamily="66" charset="0"/>
                <a:ea typeface="宋体" pitchFamily="2" charset="-122"/>
              </a:defRPr>
            </a:lvl5pPr>
            <a:lvl6pPr marL="25146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6pPr>
            <a:lvl7pPr marL="29718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7pPr>
            <a:lvl8pPr marL="34290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8pPr>
            <a:lvl9pPr marL="38862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9pPr>
          </a:lstStyle>
          <a:p>
            <a:pPr algn="l" eaLnBrk="1" hangingPunct="1">
              <a:spcBef>
                <a:spcPct val="50000"/>
              </a:spcBef>
            </a:pPr>
            <a:r>
              <a:rPr lang="zh-CN" altLang="en-US" sz="2000" dirty="0">
                <a:latin typeface="微软雅黑" pitchFamily="34" charset="-122"/>
                <a:ea typeface="微软雅黑" pitchFamily="34" charset="-122"/>
                <a:cs typeface="经典粗黑简" pitchFamily="49" charset="-122"/>
              </a:rPr>
              <a:t>在有向图的逆邻接表中第</a:t>
            </a:r>
            <a:r>
              <a:rPr lang="en-US" altLang="zh-CN" sz="2000" dirty="0">
                <a:latin typeface="微软雅黑" pitchFamily="34" charset="-122"/>
                <a:ea typeface="微软雅黑" pitchFamily="34" charset="-122"/>
                <a:cs typeface="经典粗黑简" pitchFamily="49" charset="-122"/>
              </a:rPr>
              <a:t>i</a:t>
            </a:r>
            <a:r>
              <a:rPr lang="zh-CN" altLang="en-US" sz="2000" dirty="0">
                <a:latin typeface="微软雅黑" pitchFamily="34" charset="-122"/>
                <a:ea typeface="微软雅黑" pitchFamily="34" charset="-122"/>
                <a:cs typeface="经典粗黑简" pitchFamily="49" charset="-122"/>
              </a:rPr>
              <a:t>个链表中结点的个数即为第</a:t>
            </a:r>
            <a:r>
              <a:rPr lang="en-US" altLang="zh-CN" sz="2000" dirty="0">
                <a:latin typeface="微软雅黑" pitchFamily="34" charset="-122"/>
                <a:ea typeface="微软雅黑" pitchFamily="34" charset="-122"/>
                <a:cs typeface="经典粗黑简" pitchFamily="49" charset="-122"/>
              </a:rPr>
              <a:t>i</a:t>
            </a:r>
            <a:r>
              <a:rPr lang="zh-CN" altLang="en-US" sz="2000" dirty="0">
                <a:latin typeface="微软雅黑" pitchFamily="34" charset="-122"/>
                <a:ea typeface="微软雅黑" pitchFamily="34" charset="-122"/>
                <a:cs typeface="经典粗黑简" pitchFamily="49" charset="-122"/>
              </a:rPr>
              <a:t>个顶点的入度。</a:t>
            </a:r>
          </a:p>
        </p:txBody>
      </p:sp>
      <p:grpSp>
        <p:nvGrpSpPr>
          <p:cNvPr id="36" name="Group 3"/>
          <p:cNvGrpSpPr>
            <a:grpSpLocks/>
          </p:cNvGrpSpPr>
          <p:nvPr/>
        </p:nvGrpSpPr>
        <p:grpSpPr bwMode="auto">
          <a:xfrm>
            <a:off x="2889363" y="2348408"/>
            <a:ext cx="2016125" cy="1944688"/>
            <a:chOff x="1338" y="1434"/>
            <a:chExt cx="1270" cy="1225"/>
          </a:xfrm>
        </p:grpSpPr>
        <p:sp>
          <p:nvSpPr>
            <p:cNvPr id="37" name="Oval 4"/>
            <p:cNvSpPr>
              <a:spLocks noChangeArrowheads="1"/>
            </p:cNvSpPr>
            <p:nvPr/>
          </p:nvSpPr>
          <p:spPr bwMode="auto">
            <a:xfrm>
              <a:off x="1338" y="1434"/>
              <a:ext cx="317" cy="317"/>
            </a:xfrm>
            <a:prstGeom prst="ellipse">
              <a:avLst/>
            </a:prstGeom>
            <a:solidFill>
              <a:schemeClr val="bg1"/>
            </a:solidFill>
            <a:ln w="28575" cap="sq">
              <a:solidFill>
                <a:srgbClr val="0033CC"/>
              </a:solidFill>
              <a:miter lim="800000"/>
              <a:headEnd type="none" w="sm" len="sm"/>
              <a:tailEnd type="none" w="sm" len="sm"/>
            </a:ln>
          </p:spPr>
          <p:txBody>
            <a:bodyPr wrap="none" tIns="0" anchorCtr="1"/>
            <a:lstStyle/>
            <a:p>
              <a:r>
                <a:rPr lang="en-US" altLang="zh-CN"/>
                <a:t>A</a:t>
              </a:r>
              <a:endParaRPr lang="en-US" altLang="zh-CN" baseline="-25000"/>
            </a:p>
          </p:txBody>
        </p:sp>
        <p:sp>
          <p:nvSpPr>
            <p:cNvPr id="38" name="Oval 5"/>
            <p:cNvSpPr>
              <a:spLocks noChangeArrowheads="1"/>
            </p:cNvSpPr>
            <p:nvPr/>
          </p:nvSpPr>
          <p:spPr bwMode="auto">
            <a:xfrm>
              <a:off x="2291" y="1434"/>
              <a:ext cx="317" cy="317"/>
            </a:xfrm>
            <a:prstGeom prst="ellipse">
              <a:avLst/>
            </a:prstGeom>
            <a:solidFill>
              <a:schemeClr val="bg1"/>
            </a:solidFill>
            <a:ln w="28575" cap="sq">
              <a:solidFill>
                <a:srgbClr val="0033CC"/>
              </a:solidFill>
              <a:miter lim="800000"/>
              <a:headEnd type="none" w="sm" len="sm"/>
              <a:tailEnd type="none" w="sm" len="sm"/>
            </a:ln>
          </p:spPr>
          <p:txBody>
            <a:bodyPr wrap="none" tIns="0" anchorCtr="1"/>
            <a:lstStyle/>
            <a:p>
              <a:r>
                <a:rPr lang="en-US" altLang="zh-CN"/>
                <a:t>B</a:t>
              </a:r>
              <a:endParaRPr lang="en-US" altLang="zh-CN" baseline="-25000"/>
            </a:p>
          </p:txBody>
        </p:sp>
        <p:sp>
          <p:nvSpPr>
            <p:cNvPr id="39" name="Oval 6"/>
            <p:cNvSpPr>
              <a:spLocks noChangeArrowheads="1"/>
            </p:cNvSpPr>
            <p:nvPr/>
          </p:nvSpPr>
          <p:spPr bwMode="auto">
            <a:xfrm>
              <a:off x="1338" y="2342"/>
              <a:ext cx="317" cy="317"/>
            </a:xfrm>
            <a:prstGeom prst="ellipse">
              <a:avLst/>
            </a:prstGeom>
            <a:solidFill>
              <a:schemeClr val="bg1"/>
            </a:solidFill>
            <a:ln w="28575" cap="sq">
              <a:solidFill>
                <a:srgbClr val="0033CC"/>
              </a:solidFill>
              <a:miter lim="800000"/>
              <a:headEnd type="none" w="sm" len="sm"/>
              <a:tailEnd type="none" w="sm" len="sm"/>
            </a:ln>
          </p:spPr>
          <p:txBody>
            <a:bodyPr wrap="none" tIns="0" anchorCtr="1"/>
            <a:lstStyle/>
            <a:p>
              <a:r>
                <a:rPr lang="en-US" altLang="zh-CN"/>
                <a:t>C</a:t>
              </a:r>
              <a:endParaRPr lang="en-US" altLang="zh-CN" baseline="-25000"/>
            </a:p>
          </p:txBody>
        </p:sp>
        <p:sp>
          <p:nvSpPr>
            <p:cNvPr id="40" name="Oval 7"/>
            <p:cNvSpPr>
              <a:spLocks noChangeArrowheads="1"/>
            </p:cNvSpPr>
            <p:nvPr/>
          </p:nvSpPr>
          <p:spPr bwMode="auto">
            <a:xfrm>
              <a:off x="2290" y="2341"/>
              <a:ext cx="317" cy="317"/>
            </a:xfrm>
            <a:prstGeom prst="ellipse">
              <a:avLst/>
            </a:prstGeom>
            <a:solidFill>
              <a:schemeClr val="bg1"/>
            </a:solidFill>
            <a:ln w="28575" cap="sq">
              <a:solidFill>
                <a:srgbClr val="0033CC"/>
              </a:solidFill>
              <a:miter lim="800000"/>
              <a:headEnd type="none" w="sm" len="sm"/>
              <a:tailEnd type="none" w="sm" len="sm"/>
            </a:ln>
          </p:spPr>
          <p:txBody>
            <a:bodyPr wrap="none" tIns="0" anchorCtr="1"/>
            <a:lstStyle/>
            <a:p>
              <a:r>
                <a:rPr lang="en-US" altLang="zh-CN"/>
                <a:t>D</a:t>
              </a:r>
              <a:endParaRPr lang="en-US" altLang="zh-CN" baseline="-25000"/>
            </a:p>
          </p:txBody>
        </p:sp>
        <p:sp>
          <p:nvSpPr>
            <p:cNvPr id="41" name="Line 8"/>
            <p:cNvSpPr>
              <a:spLocks noChangeShapeType="1"/>
            </p:cNvSpPr>
            <p:nvPr/>
          </p:nvSpPr>
          <p:spPr bwMode="auto">
            <a:xfrm>
              <a:off x="1655" y="1616"/>
              <a:ext cx="635" cy="0"/>
            </a:xfrm>
            <a:prstGeom prst="line">
              <a:avLst/>
            </a:prstGeom>
            <a:noFill/>
            <a:ln w="28575" cap="sq">
              <a:solidFill>
                <a:srgbClr val="0033CC"/>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42" name="Line 9"/>
            <p:cNvSpPr>
              <a:spLocks noChangeShapeType="1"/>
            </p:cNvSpPr>
            <p:nvPr/>
          </p:nvSpPr>
          <p:spPr bwMode="auto">
            <a:xfrm>
              <a:off x="1655" y="2523"/>
              <a:ext cx="635" cy="0"/>
            </a:xfrm>
            <a:prstGeom prst="line">
              <a:avLst/>
            </a:prstGeom>
            <a:noFill/>
            <a:ln w="28575" cap="sq">
              <a:solidFill>
                <a:srgbClr val="0033CC"/>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43" name="Line 10"/>
            <p:cNvSpPr>
              <a:spLocks noChangeShapeType="1"/>
            </p:cNvSpPr>
            <p:nvPr/>
          </p:nvSpPr>
          <p:spPr bwMode="auto">
            <a:xfrm>
              <a:off x="1474" y="1752"/>
              <a:ext cx="0" cy="589"/>
            </a:xfrm>
            <a:prstGeom prst="line">
              <a:avLst/>
            </a:prstGeom>
            <a:noFill/>
            <a:ln w="28575" cap="sq">
              <a:solidFill>
                <a:srgbClr val="0033CC"/>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44" name="Line 11"/>
            <p:cNvSpPr>
              <a:spLocks noChangeShapeType="1"/>
            </p:cNvSpPr>
            <p:nvPr/>
          </p:nvSpPr>
          <p:spPr bwMode="auto">
            <a:xfrm flipH="1" flipV="1">
              <a:off x="1610" y="1706"/>
              <a:ext cx="771" cy="635"/>
            </a:xfrm>
            <a:prstGeom prst="line">
              <a:avLst/>
            </a:prstGeom>
            <a:noFill/>
            <a:ln w="28575" cap="sq">
              <a:solidFill>
                <a:srgbClr val="0033CC"/>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sp>
        <p:nvSpPr>
          <p:cNvPr id="45" name="Text Box 12"/>
          <p:cNvSpPr txBox="1">
            <a:spLocks noChangeArrowheads="1"/>
          </p:cNvSpPr>
          <p:nvPr/>
        </p:nvSpPr>
        <p:spPr bwMode="auto">
          <a:xfrm>
            <a:off x="2960800" y="4509914"/>
            <a:ext cx="22320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rgbClr val="000000"/>
                </a:solidFill>
                <a:miter lim="800000"/>
                <a:headEnd type="none" w="sm" len="sm"/>
                <a:tailEnd type="none" w="sm" len="sm"/>
              </a14:hiddenLine>
            </a:ext>
          </a:extLst>
        </p:spPr>
        <p:txBody>
          <a:bodyPr>
            <a:spAutoFit/>
          </a:bodyPr>
          <a:lstStyle>
            <a:lvl1pPr eaLnBrk="0" hangingPunct="0">
              <a:defRPr kumimoji="1" sz="2800">
                <a:solidFill>
                  <a:schemeClr val="tx1"/>
                </a:solidFill>
                <a:latin typeface="Comic Sans MS" pitchFamily="66" charset="0"/>
                <a:ea typeface="宋体" pitchFamily="2" charset="-122"/>
              </a:defRPr>
            </a:lvl1pPr>
            <a:lvl2pPr marL="742950" indent="-285750" eaLnBrk="0" hangingPunct="0">
              <a:defRPr kumimoji="1" sz="2800">
                <a:solidFill>
                  <a:schemeClr val="tx1"/>
                </a:solidFill>
                <a:latin typeface="Comic Sans MS" pitchFamily="66" charset="0"/>
                <a:ea typeface="宋体" pitchFamily="2" charset="-122"/>
              </a:defRPr>
            </a:lvl2pPr>
            <a:lvl3pPr marL="1143000" indent="-228600" eaLnBrk="0" hangingPunct="0">
              <a:defRPr kumimoji="1" sz="2800">
                <a:solidFill>
                  <a:schemeClr val="tx1"/>
                </a:solidFill>
                <a:latin typeface="Comic Sans MS" pitchFamily="66" charset="0"/>
                <a:ea typeface="宋体" pitchFamily="2" charset="-122"/>
              </a:defRPr>
            </a:lvl3pPr>
            <a:lvl4pPr marL="1600200" indent="-228600" eaLnBrk="0" hangingPunct="0">
              <a:defRPr kumimoji="1" sz="2800">
                <a:solidFill>
                  <a:schemeClr val="tx1"/>
                </a:solidFill>
                <a:latin typeface="Comic Sans MS" pitchFamily="66" charset="0"/>
                <a:ea typeface="宋体" pitchFamily="2" charset="-122"/>
              </a:defRPr>
            </a:lvl4pPr>
            <a:lvl5pPr marL="2057400" indent="-228600" eaLnBrk="0" hangingPunct="0">
              <a:defRPr kumimoji="1" sz="2800">
                <a:solidFill>
                  <a:schemeClr val="tx1"/>
                </a:solidFill>
                <a:latin typeface="Comic Sans MS" pitchFamily="66" charset="0"/>
                <a:ea typeface="宋体" pitchFamily="2" charset="-122"/>
              </a:defRPr>
            </a:lvl5pPr>
            <a:lvl6pPr marL="25146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6pPr>
            <a:lvl7pPr marL="29718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7pPr>
            <a:lvl8pPr marL="34290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8pPr>
            <a:lvl9pPr marL="38862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9pPr>
          </a:lstStyle>
          <a:p>
            <a:pPr algn="ctr" eaLnBrk="1" hangingPunct="1">
              <a:spcBef>
                <a:spcPct val="50000"/>
              </a:spcBef>
            </a:pPr>
            <a:r>
              <a:rPr lang="zh-CN" altLang="en-US" sz="1800" dirty="0">
                <a:latin typeface="微软雅黑" pitchFamily="34" charset="-122"/>
                <a:ea typeface="微软雅黑" pitchFamily="34" charset="-122"/>
                <a:cs typeface="经典粗黑简" pitchFamily="49" charset="-122"/>
              </a:rPr>
              <a:t>有向图</a:t>
            </a:r>
            <a:r>
              <a:rPr lang="en-US" altLang="zh-CN" sz="1800" dirty="0">
                <a:latin typeface="微软雅黑" pitchFamily="34" charset="-122"/>
                <a:ea typeface="微软雅黑" pitchFamily="34" charset="-122"/>
                <a:cs typeface="经典粗黑简" pitchFamily="49" charset="-122"/>
              </a:rPr>
              <a:t>G1</a:t>
            </a:r>
          </a:p>
        </p:txBody>
      </p:sp>
      <p:sp>
        <p:nvSpPr>
          <p:cNvPr id="2" name="Rectangle 2">
            <a:extLst>
              <a:ext uri="{FF2B5EF4-FFF2-40B4-BE49-F238E27FC236}">
                <a16:creationId xmlns:a16="http://schemas.microsoft.com/office/drawing/2014/main" id="{1EC2C43E-DF13-1A3F-700F-72F600126331}"/>
              </a:ext>
            </a:extLst>
          </p:cNvPr>
          <p:cNvSpPr txBox="1">
            <a:spLocks noChangeArrowheads="1"/>
          </p:cNvSpPr>
          <p:nvPr/>
        </p:nvSpPr>
        <p:spPr>
          <a:xfrm>
            <a:off x="474772" y="1230902"/>
            <a:ext cx="4253075"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8.2.2 </a:t>
            </a:r>
            <a:r>
              <a:rPr kumimoji="1" lang="zh-CN" altLang="en-US" dirty="0">
                <a:latin typeface="微软雅黑" pitchFamily="34" charset="-122"/>
                <a:ea typeface="微软雅黑" pitchFamily="34" charset="-122"/>
              </a:rPr>
              <a:t>邻接表存储方法</a:t>
            </a:r>
            <a:endParaRPr lang="zh-CN" altLang="en-US" dirty="0"/>
          </a:p>
        </p:txBody>
      </p:sp>
      <p:sp>
        <p:nvSpPr>
          <p:cNvPr id="3" name="矩形 2">
            <a:extLst>
              <a:ext uri="{FF2B5EF4-FFF2-40B4-BE49-F238E27FC236}">
                <a16:creationId xmlns:a16="http://schemas.microsoft.com/office/drawing/2014/main" id="{C6A8DC75-CB3E-1649-7F3F-0F384A07C407}"/>
              </a:ext>
            </a:extLst>
          </p:cNvPr>
          <p:cNvSpPr/>
          <p:nvPr/>
        </p:nvSpPr>
        <p:spPr>
          <a:xfrm>
            <a:off x="2846292" y="348366"/>
            <a:ext cx="6715440"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8.2 </a:t>
            </a:r>
            <a:r>
              <a:rPr lang="zh-CN" altLang="en-US" sz="3000" b="1" dirty="0">
                <a:latin typeface="黑体" pitchFamily="49" charset="-122"/>
                <a:ea typeface="黑体" pitchFamily="49" charset="-122"/>
                <a:cs typeface="经典粗黑简" pitchFamily="49" charset="-122"/>
              </a:rPr>
              <a:t>图的存储结构和基本运算算法</a:t>
            </a:r>
          </a:p>
        </p:txBody>
      </p:sp>
      <p:cxnSp>
        <p:nvCxnSpPr>
          <p:cNvPr id="4" name="直接连接符 3">
            <a:extLst>
              <a:ext uri="{FF2B5EF4-FFF2-40B4-BE49-F238E27FC236}">
                <a16:creationId xmlns:a16="http://schemas.microsoft.com/office/drawing/2014/main" id="{19F4E537-A82F-9357-2E06-74F975E344DB}"/>
              </a:ext>
            </a:extLst>
          </p:cNvPr>
          <p:cNvCxnSpPr>
            <a:cxnSpLocks/>
          </p:cNvCxnSpPr>
          <p:nvPr/>
        </p:nvCxnSpPr>
        <p:spPr>
          <a:xfrm>
            <a:off x="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253084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499"/>
                                          </p:stCondLst>
                                        </p:cTn>
                                        <p:tgtEl>
                                          <p:spTgt spid="5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6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6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4"/>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3"/>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499"/>
                                          </p:stCondLst>
                                        </p:cTn>
                                        <p:tgtEl>
                                          <p:spTgt spid="55"/>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57"/>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56"/>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499"/>
                                          </p:stCondLst>
                                        </p:cTn>
                                        <p:tgtEl>
                                          <p:spTgt spid="58"/>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62"/>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63"/>
                                        </p:tgtEl>
                                        <p:attrNameLst>
                                          <p:attrName>style.visibility</p:attrName>
                                        </p:attrNameLst>
                                      </p:cBhvr>
                                      <p:to>
                                        <p:strVal val="visible"/>
                                      </p:to>
                                    </p:set>
                                  </p:childTnLst>
                                </p:cTn>
                              </p:par>
                              <p:par>
                                <p:cTn id="55" presetID="1" presetClass="exit" presetSubtype="0" fill="hold" grpId="1" nodeType="withEffect">
                                  <p:stCondLst>
                                    <p:cond delay="0"/>
                                  </p:stCondLst>
                                  <p:childTnLst>
                                    <p:set>
                                      <p:cBhvr>
                                        <p:cTn id="56" dur="1" fill="hold">
                                          <p:stCondLst>
                                            <p:cond delay="0"/>
                                          </p:stCondLst>
                                        </p:cTn>
                                        <p:tgtEl>
                                          <p:spTgt spid="63"/>
                                        </p:tgtEl>
                                        <p:attrNameLst>
                                          <p:attrName>style.visibility</p:attrName>
                                        </p:attrNameLst>
                                      </p:cBhvr>
                                      <p:to>
                                        <p:strVal val="hidden"/>
                                      </p:to>
                                    </p:set>
                                  </p:childTnLst>
                                </p:cTn>
                              </p:par>
                              <p:par>
                                <p:cTn id="57" presetID="1" presetClass="entr" presetSubtype="0" fill="hold" grpId="0" nodeType="withEffect">
                                  <p:stCondLst>
                                    <p:cond delay="0"/>
                                  </p:stCondLst>
                                  <p:childTnLst>
                                    <p:set>
                                      <p:cBhvr>
                                        <p:cTn id="58" dur="1" fill="hold">
                                          <p:stCondLst>
                                            <p:cond delay="0"/>
                                          </p:stCondLst>
                                        </p:cTn>
                                        <p:tgtEl>
                                          <p:spTgt spid="6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animBg="1"/>
      <p:bldP spid="52" grpId="0" autoUpdateAnimBg="0"/>
      <p:bldP spid="53" grpId="0" animBg="1"/>
      <p:bldP spid="55" grpId="0" autoUpdateAnimBg="0"/>
      <p:bldP spid="56" grpId="0" animBg="1"/>
      <p:bldP spid="58" grpId="0" autoUpdateAnimBg="0"/>
      <p:bldP spid="59" grpId="0" animBg="1"/>
      <p:bldP spid="61" grpId="0" autoUpdateAnimBg="0"/>
      <p:bldP spid="62" grpId="0"/>
      <p:bldP spid="63" grpId="0"/>
      <p:bldP spid="63" grpId="1"/>
      <p:bldP spid="65"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6" name="Group 4"/>
          <p:cNvGrpSpPr>
            <a:grpSpLocks/>
          </p:cNvGrpSpPr>
          <p:nvPr/>
        </p:nvGrpSpPr>
        <p:grpSpPr bwMode="auto">
          <a:xfrm>
            <a:off x="1952745" y="2498369"/>
            <a:ext cx="2471737" cy="2524125"/>
            <a:chOff x="2046" y="2227"/>
            <a:chExt cx="1557" cy="1590"/>
          </a:xfrm>
        </p:grpSpPr>
        <p:grpSp>
          <p:nvGrpSpPr>
            <p:cNvPr id="47" name="Group 5"/>
            <p:cNvGrpSpPr>
              <a:grpSpLocks/>
            </p:cNvGrpSpPr>
            <p:nvPr/>
          </p:nvGrpSpPr>
          <p:grpSpPr bwMode="auto">
            <a:xfrm>
              <a:off x="2046" y="2346"/>
              <a:ext cx="1557" cy="1471"/>
              <a:chOff x="3191" y="1300"/>
              <a:chExt cx="1557" cy="1471"/>
            </a:xfrm>
          </p:grpSpPr>
          <p:grpSp>
            <p:nvGrpSpPr>
              <p:cNvPr id="68" name="Group 6"/>
              <p:cNvGrpSpPr>
                <a:grpSpLocks/>
              </p:cNvGrpSpPr>
              <p:nvPr/>
            </p:nvGrpSpPr>
            <p:grpSpPr bwMode="auto">
              <a:xfrm>
                <a:off x="3196" y="1300"/>
                <a:ext cx="1552" cy="383"/>
                <a:chOff x="229" y="2605"/>
                <a:chExt cx="1552" cy="383"/>
              </a:xfrm>
            </p:grpSpPr>
            <p:sp>
              <p:nvSpPr>
                <p:cNvPr id="77" name="Freeform 7"/>
                <p:cNvSpPr>
                  <a:spLocks/>
                </p:cNvSpPr>
                <p:nvPr/>
              </p:nvSpPr>
              <p:spPr bwMode="auto">
                <a:xfrm>
                  <a:off x="543" y="2786"/>
                  <a:ext cx="902" cy="1"/>
                </a:xfrm>
                <a:custGeom>
                  <a:avLst/>
                  <a:gdLst>
                    <a:gd name="T0" fmla="*/ 0 w 901"/>
                    <a:gd name="T1" fmla="*/ 0 h 7"/>
                    <a:gd name="T2" fmla="*/ 907 w 901"/>
                    <a:gd name="T3" fmla="*/ 0 h 7"/>
                    <a:gd name="T4" fmla="*/ 0 60000 65536"/>
                    <a:gd name="T5" fmla="*/ 0 60000 65536"/>
                  </a:gdLst>
                  <a:ahLst/>
                  <a:cxnLst>
                    <a:cxn ang="T4">
                      <a:pos x="T0" y="T1"/>
                    </a:cxn>
                    <a:cxn ang="T5">
                      <a:pos x="T2" y="T3"/>
                    </a:cxn>
                  </a:cxnLst>
                  <a:rect l="0" t="0" r="r" b="b"/>
                  <a:pathLst>
                    <a:path w="901" h="7">
                      <a:moveTo>
                        <a:pt x="0" y="7"/>
                      </a:moveTo>
                      <a:lnTo>
                        <a:pt x="901" y="0"/>
                      </a:lnTo>
                    </a:path>
                  </a:pathLst>
                </a:custGeom>
                <a:noFill/>
                <a:ln w="38100" cmpd="sng">
                  <a:solidFill>
                    <a:srgbClr val="000000"/>
                  </a:solidFill>
                  <a:round/>
                  <a:headEnd/>
                  <a:tailEnd type="stealth" w="lg" len="lg"/>
                </a:ln>
                <a:extLst>
                  <a:ext uri="{909E8E84-426E-40DD-AFC4-6F175D3DCCD1}">
                    <a14:hiddenFill xmlns:a14="http://schemas.microsoft.com/office/drawing/2010/main">
                      <a:solidFill>
                        <a:srgbClr val="FFFFFF"/>
                      </a:solidFill>
                    </a14:hiddenFill>
                  </a:ext>
                </a:extLst>
              </p:spPr>
              <p:txBody>
                <a:bodyPr lIns="10800" tIns="28800" rIns="0" bIns="10800"/>
                <a:lstStyle/>
                <a:p>
                  <a:endParaRPr lang="zh-CN" altLang="en-US"/>
                </a:p>
              </p:txBody>
            </p:sp>
            <p:sp>
              <p:nvSpPr>
                <p:cNvPr id="78" name="Oval 8"/>
                <p:cNvSpPr>
                  <a:spLocks noChangeArrowheads="1"/>
                </p:cNvSpPr>
                <p:nvPr/>
              </p:nvSpPr>
              <p:spPr bwMode="auto">
                <a:xfrm>
                  <a:off x="229" y="2636"/>
                  <a:ext cx="317" cy="317"/>
                </a:xfrm>
                <a:prstGeom prst="ellipse">
                  <a:avLst/>
                </a:prstGeom>
                <a:gradFill rotWithShape="1">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2857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0800" tIns="28800" rIns="0" bIns="10800"/>
                <a:lstStyle/>
                <a:p>
                  <a:pPr algn="ctr">
                    <a:defRPr/>
                  </a:pPr>
                  <a:endParaRPr lang="zh-CN" altLang="en-US">
                    <a:solidFill>
                      <a:schemeClr val="bg1"/>
                    </a:solidFill>
                    <a:latin typeface="Arial" charset="0"/>
                    <a:ea typeface="华文行楷" pitchFamily="2" charset="-122"/>
                  </a:endParaRPr>
                </a:p>
              </p:txBody>
            </p:sp>
            <p:sp>
              <p:nvSpPr>
                <p:cNvPr id="79" name="Text Box 9"/>
                <p:cNvSpPr txBox="1">
                  <a:spLocks noChangeArrowheads="1"/>
                </p:cNvSpPr>
                <p:nvPr/>
              </p:nvSpPr>
              <p:spPr bwMode="auto">
                <a:xfrm>
                  <a:off x="271" y="2605"/>
                  <a:ext cx="292" cy="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0800" tIns="28800" rIns="0" bIns="10800"/>
                <a:lstStyle>
                  <a:lvl1pPr eaLnBrk="0" hangingPunct="0">
                    <a:defRPr sz="1600" b="1">
                      <a:solidFill>
                        <a:schemeClr val="tx1"/>
                      </a:solidFill>
                      <a:latin typeface="Tahoma" panose="020B0604030504040204" pitchFamily="34" charset="0"/>
                      <a:ea typeface="宋体" panose="02010600030101010101" pitchFamily="2" charset="-122"/>
                    </a:defRPr>
                  </a:lvl1pPr>
                  <a:lvl2pPr marL="742950" indent="-285750" eaLnBrk="0" hangingPunct="0">
                    <a:defRPr sz="1600" b="1">
                      <a:solidFill>
                        <a:schemeClr val="tx1"/>
                      </a:solidFill>
                      <a:latin typeface="Tahoma" panose="020B0604030504040204" pitchFamily="34" charset="0"/>
                      <a:ea typeface="宋体" panose="02010600030101010101" pitchFamily="2" charset="-122"/>
                    </a:defRPr>
                  </a:lvl2pPr>
                  <a:lvl3pPr marL="1143000" indent="-228600" eaLnBrk="0" hangingPunct="0">
                    <a:defRPr sz="1600" b="1">
                      <a:solidFill>
                        <a:schemeClr val="tx1"/>
                      </a:solidFill>
                      <a:latin typeface="Tahoma" panose="020B0604030504040204" pitchFamily="34" charset="0"/>
                      <a:ea typeface="宋体" panose="02010600030101010101" pitchFamily="2" charset="-122"/>
                    </a:defRPr>
                  </a:lvl3pPr>
                  <a:lvl4pPr marL="1600200" indent="-228600" eaLnBrk="0" hangingPunct="0">
                    <a:defRPr sz="1600" b="1">
                      <a:solidFill>
                        <a:schemeClr val="tx1"/>
                      </a:solidFill>
                      <a:latin typeface="Tahoma" panose="020B0604030504040204" pitchFamily="34" charset="0"/>
                      <a:ea typeface="宋体" panose="02010600030101010101" pitchFamily="2" charset="-122"/>
                    </a:defRPr>
                  </a:lvl4pPr>
                  <a:lvl5pPr marL="2057400" indent="-228600" eaLnBrk="0" hangingPunct="0">
                    <a:defRPr sz="16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9pPr>
                </a:lstStyle>
                <a:p>
                  <a:pPr algn="just"/>
                  <a:r>
                    <a:rPr lang="en-US" altLang="zh-CN" sz="2800" i="1">
                      <a:solidFill>
                        <a:schemeClr val="bg1"/>
                      </a:solidFill>
                      <a:latin typeface="Times New Roman" panose="02020603050405020304" pitchFamily="18" charset="0"/>
                    </a:rPr>
                    <a:t>V</a:t>
                  </a:r>
                  <a:r>
                    <a:rPr lang="en-US" altLang="zh-CN" sz="2800" baseline="-25000">
                      <a:solidFill>
                        <a:schemeClr val="bg1"/>
                      </a:solidFill>
                      <a:latin typeface="Times New Roman" panose="02020603050405020304" pitchFamily="18" charset="0"/>
                    </a:rPr>
                    <a:t>1</a:t>
                  </a:r>
                  <a:endParaRPr lang="en-US" altLang="zh-CN" sz="2800">
                    <a:solidFill>
                      <a:schemeClr val="bg1"/>
                    </a:solidFill>
                    <a:latin typeface="Times New Roman" panose="02020603050405020304" pitchFamily="18" charset="0"/>
                  </a:endParaRPr>
                </a:p>
              </p:txBody>
            </p:sp>
            <p:sp>
              <p:nvSpPr>
                <p:cNvPr id="80" name="Oval 10"/>
                <p:cNvSpPr>
                  <a:spLocks noChangeArrowheads="1"/>
                </p:cNvSpPr>
                <p:nvPr/>
              </p:nvSpPr>
              <p:spPr bwMode="auto">
                <a:xfrm>
                  <a:off x="1447" y="2644"/>
                  <a:ext cx="317" cy="317"/>
                </a:xfrm>
                <a:prstGeom prst="ellipse">
                  <a:avLst/>
                </a:prstGeom>
                <a:gradFill rotWithShape="1">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2857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0800" tIns="28800" rIns="0" bIns="10800"/>
                <a:lstStyle/>
                <a:p>
                  <a:pPr algn="ctr">
                    <a:defRPr/>
                  </a:pPr>
                  <a:endParaRPr lang="zh-CN" altLang="en-US">
                    <a:solidFill>
                      <a:schemeClr val="bg1"/>
                    </a:solidFill>
                    <a:latin typeface="Arial" charset="0"/>
                    <a:ea typeface="华文行楷" pitchFamily="2" charset="-122"/>
                  </a:endParaRPr>
                </a:p>
              </p:txBody>
            </p:sp>
            <p:sp>
              <p:nvSpPr>
                <p:cNvPr id="81" name="Text Box 11"/>
                <p:cNvSpPr txBox="1">
                  <a:spLocks noChangeArrowheads="1"/>
                </p:cNvSpPr>
                <p:nvPr/>
              </p:nvSpPr>
              <p:spPr bwMode="auto">
                <a:xfrm>
                  <a:off x="1489" y="2613"/>
                  <a:ext cx="292" cy="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0800" tIns="28800" rIns="0" bIns="10800"/>
                <a:lstStyle>
                  <a:lvl1pPr eaLnBrk="0" hangingPunct="0">
                    <a:defRPr sz="1600" b="1">
                      <a:solidFill>
                        <a:schemeClr val="tx1"/>
                      </a:solidFill>
                      <a:latin typeface="Tahoma" panose="020B0604030504040204" pitchFamily="34" charset="0"/>
                      <a:ea typeface="宋体" panose="02010600030101010101" pitchFamily="2" charset="-122"/>
                    </a:defRPr>
                  </a:lvl1pPr>
                  <a:lvl2pPr marL="742950" indent="-285750" eaLnBrk="0" hangingPunct="0">
                    <a:defRPr sz="1600" b="1">
                      <a:solidFill>
                        <a:schemeClr val="tx1"/>
                      </a:solidFill>
                      <a:latin typeface="Tahoma" panose="020B0604030504040204" pitchFamily="34" charset="0"/>
                      <a:ea typeface="宋体" panose="02010600030101010101" pitchFamily="2" charset="-122"/>
                    </a:defRPr>
                  </a:lvl2pPr>
                  <a:lvl3pPr marL="1143000" indent="-228600" eaLnBrk="0" hangingPunct="0">
                    <a:defRPr sz="1600" b="1">
                      <a:solidFill>
                        <a:schemeClr val="tx1"/>
                      </a:solidFill>
                      <a:latin typeface="Tahoma" panose="020B0604030504040204" pitchFamily="34" charset="0"/>
                      <a:ea typeface="宋体" panose="02010600030101010101" pitchFamily="2" charset="-122"/>
                    </a:defRPr>
                  </a:lvl3pPr>
                  <a:lvl4pPr marL="1600200" indent="-228600" eaLnBrk="0" hangingPunct="0">
                    <a:defRPr sz="1600" b="1">
                      <a:solidFill>
                        <a:schemeClr val="tx1"/>
                      </a:solidFill>
                      <a:latin typeface="Tahoma" panose="020B0604030504040204" pitchFamily="34" charset="0"/>
                      <a:ea typeface="宋体" panose="02010600030101010101" pitchFamily="2" charset="-122"/>
                    </a:defRPr>
                  </a:lvl4pPr>
                  <a:lvl5pPr marL="2057400" indent="-228600" eaLnBrk="0" hangingPunct="0">
                    <a:defRPr sz="16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9pPr>
                </a:lstStyle>
                <a:p>
                  <a:pPr algn="just"/>
                  <a:r>
                    <a:rPr lang="en-US" altLang="zh-CN" sz="2800" i="1">
                      <a:solidFill>
                        <a:schemeClr val="bg1"/>
                      </a:solidFill>
                      <a:latin typeface="Times New Roman" panose="02020603050405020304" pitchFamily="18" charset="0"/>
                    </a:rPr>
                    <a:t>V</a:t>
                  </a:r>
                  <a:r>
                    <a:rPr lang="en-US" altLang="zh-CN" sz="2800" baseline="-25000">
                      <a:solidFill>
                        <a:schemeClr val="bg1"/>
                      </a:solidFill>
                      <a:latin typeface="Times New Roman" panose="02020603050405020304" pitchFamily="18" charset="0"/>
                    </a:rPr>
                    <a:t>2</a:t>
                  </a:r>
                  <a:endParaRPr lang="en-US" altLang="zh-CN" sz="2800">
                    <a:solidFill>
                      <a:schemeClr val="bg1"/>
                    </a:solidFill>
                    <a:latin typeface="Times New Roman" panose="02020603050405020304" pitchFamily="18" charset="0"/>
                  </a:endParaRPr>
                </a:p>
              </p:txBody>
            </p:sp>
          </p:grpSp>
          <p:grpSp>
            <p:nvGrpSpPr>
              <p:cNvPr id="69" name="Group 12"/>
              <p:cNvGrpSpPr>
                <a:grpSpLocks/>
              </p:cNvGrpSpPr>
              <p:nvPr/>
            </p:nvGrpSpPr>
            <p:grpSpPr bwMode="auto">
              <a:xfrm>
                <a:off x="3191" y="1581"/>
                <a:ext cx="1548" cy="1190"/>
                <a:chOff x="224" y="2886"/>
                <a:chExt cx="1548" cy="1190"/>
              </a:xfrm>
            </p:grpSpPr>
            <p:sp>
              <p:nvSpPr>
                <p:cNvPr id="70" name="Line 13"/>
                <p:cNvSpPr>
                  <a:spLocks noChangeShapeType="1"/>
                </p:cNvSpPr>
                <p:nvPr/>
              </p:nvSpPr>
              <p:spPr bwMode="auto">
                <a:xfrm flipH="1">
                  <a:off x="386" y="2951"/>
                  <a:ext cx="0" cy="802"/>
                </a:xfrm>
                <a:prstGeom prst="line">
                  <a:avLst/>
                </a:prstGeom>
                <a:noFill/>
                <a:ln w="38100">
                  <a:solidFill>
                    <a:srgbClr val="000000"/>
                  </a:solidFill>
                  <a:round/>
                  <a:headEnd/>
                  <a:tailEnd type="stealth" w="lg" len="lg"/>
                </a:ln>
                <a:extLst>
                  <a:ext uri="{909E8E84-426E-40DD-AFC4-6F175D3DCCD1}">
                    <a14:hiddenFill xmlns:a14="http://schemas.microsoft.com/office/drawing/2010/main">
                      <a:noFill/>
                    </a14:hiddenFill>
                  </a:ext>
                </a:extLst>
              </p:spPr>
              <p:txBody>
                <a:bodyPr lIns="10800" tIns="28800" rIns="0" bIns="10800"/>
                <a:lstStyle/>
                <a:p>
                  <a:endParaRPr lang="zh-CN" altLang="en-US"/>
                </a:p>
              </p:txBody>
            </p:sp>
            <p:sp>
              <p:nvSpPr>
                <p:cNvPr id="71" name="Freeform 14"/>
                <p:cNvSpPr>
                  <a:spLocks/>
                </p:cNvSpPr>
                <p:nvPr/>
              </p:nvSpPr>
              <p:spPr bwMode="auto">
                <a:xfrm>
                  <a:off x="523" y="3901"/>
                  <a:ext cx="929" cy="1"/>
                </a:xfrm>
                <a:custGeom>
                  <a:avLst/>
                  <a:gdLst>
                    <a:gd name="T0" fmla="*/ 0 w 901"/>
                    <a:gd name="T1" fmla="*/ 0 h 5"/>
                    <a:gd name="T2" fmla="*/ 1084 w 901"/>
                    <a:gd name="T3" fmla="*/ 0 h 5"/>
                    <a:gd name="T4" fmla="*/ 0 60000 65536"/>
                    <a:gd name="T5" fmla="*/ 0 60000 65536"/>
                  </a:gdLst>
                  <a:ahLst/>
                  <a:cxnLst>
                    <a:cxn ang="T4">
                      <a:pos x="T0" y="T1"/>
                    </a:cxn>
                    <a:cxn ang="T5">
                      <a:pos x="T2" y="T3"/>
                    </a:cxn>
                  </a:cxnLst>
                  <a:rect l="0" t="0" r="r" b="b"/>
                  <a:pathLst>
                    <a:path w="901" h="5">
                      <a:moveTo>
                        <a:pt x="0" y="0"/>
                      </a:moveTo>
                      <a:lnTo>
                        <a:pt x="901" y="5"/>
                      </a:lnTo>
                    </a:path>
                  </a:pathLst>
                </a:custGeom>
                <a:noFill/>
                <a:ln w="38100" cmpd="sng">
                  <a:solidFill>
                    <a:srgbClr val="000000"/>
                  </a:solidFill>
                  <a:round/>
                  <a:headEnd/>
                  <a:tailEnd type="stealth" w="lg" len="lg"/>
                </a:ln>
                <a:extLst>
                  <a:ext uri="{909E8E84-426E-40DD-AFC4-6F175D3DCCD1}">
                    <a14:hiddenFill xmlns:a14="http://schemas.microsoft.com/office/drawing/2010/main">
                      <a:solidFill>
                        <a:srgbClr val="FFFFFF"/>
                      </a:solidFill>
                    </a14:hiddenFill>
                  </a:ext>
                </a:extLst>
              </p:spPr>
              <p:txBody>
                <a:bodyPr lIns="10800" tIns="28800" rIns="0" bIns="10800"/>
                <a:lstStyle/>
                <a:p>
                  <a:endParaRPr lang="zh-CN" altLang="en-US"/>
                </a:p>
              </p:txBody>
            </p:sp>
            <p:sp>
              <p:nvSpPr>
                <p:cNvPr id="72" name="Line 15"/>
                <p:cNvSpPr>
                  <a:spLocks noChangeShapeType="1"/>
                </p:cNvSpPr>
                <p:nvPr/>
              </p:nvSpPr>
              <p:spPr bwMode="auto">
                <a:xfrm flipH="1" flipV="1">
                  <a:off x="504" y="2886"/>
                  <a:ext cx="987" cy="878"/>
                </a:xfrm>
                <a:prstGeom prst="line">
                  <a:avLst/>
                </a:prstGeom>
                <a:noFill/>
                <a:ln w="38100">
                  <a:solidFill>
                    <a:srgbClr val="000000"/>
                  </a:solidFill>
                  <a:round/>
                  <a:headEnd/>
                  <a:tailEnd type="stealth" w="lg" len="lg"/>
                </a:ln>
                <a:extLst>
                  <a:ext uri="{909E8E84-426E-40DD-AFC4-6F175D3DCCD1}">
                    <a14:hiddenFill xmlns:a14="http://schemas.microsoft.com/office/drawing/2010/main">
                      <a:noFill/>
                    </a14:hiddenFill>
                  </a:ext>
                </a:extLst>
              </p:spPr>
              <p:txBody>
                <a:bodyPr lIns="10800" tIns="28800" rIns="0" bIns="10800"/>
                <a:lstStyle/>
                <a:p>
                  <a:endParaRPr lang="zh-CN" altLang="en-US"/>
                </a:p>
              </p:txBody>
            </p:sp>
            <p:sp>
              <p:nvSpPr>
                <p:cNvPr id="73" name="Oval 16"/>
                <p:cNvSpPr>
                  <a:spLocks noChangeArrowheads="1"/>
                </p:cNvSpPr>
                <p:nvPr/>
              </p:nvSpPr>
              <p:spPr bwMode="auto">
                <a:xfrm>
                  <a:off x="224" y="3732"/>
                  <a:ext cx="317" cy="317"/>
                </a:xfrm>
                <a:prstGeom prst="ellipse">
                  <a:avLst/>
                </a:prstGeom>
                <a:gradFill rotWithShape="1">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2857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0800" tIns="28800" rIns="0" bIns="10800"/>
                <a:lstStyle/>
                <a:p>
                  <a:pPr algn="ctr">
                    <a:defRPr/>
                  </a:pPr>
                  <a:endParaRPr lang="zh-CN" altLang="en-US">
                    <a:solidFill>
                      <a:schemeClr val="bg1"/>
                    </a:solidFill>
                    <a:latin typeface="Arial" charset="0"/>
                    <a:ea typeface="华文行楷" pitchFamily="2" charset="-122"/>
                  </a:endParaRPr>
                </a:p>
              </p:txBody>
            </p:sp>
            <p:sp>
              <p:nvSpPr>
                <p:cNvPr id="74" name="Text Box 17"/>
                <p:cNvSpPr txBox="1">
                  <a:spLocks noChangeArrowheads="1"/>
                </p:cNvSpPr>
                <p:nvPr/>
              </p:nvSpPr>
              <p:spPr bwMode="auto">
                <a:xfrm>
                  <a:off x="266" y="3701"/>
                  <a:ext cx="292" cy="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0800" tIns="28800" rIns="0" bIns="10800"/>
                <a:lstStyle>
                  <a:lvl1pPr eaLnBrk="0" hangingPunct="0">
                    <a:defRPr sz="1600" b="1">
                      <a:solidFill>
                        <a:schemeClr val="tx1"/>
                      </a:solidFill>
                      <a:latin typeface="Tahoma" panose="020B0604030504040204" pitchFamily="34" charset="0"/>
                      <a:ea typeface="宋体" panose="02010600030101010101" pitchFamily="2" charset="-122"/>
                    </a:defRPr>
                  </a:lvl1pPr>
                  <a:lvl2pPr marL="742950" indent="-285750" eaLnBrk="0" hangingPunct="0">
                    <a:defRPr sz="1600" b="1">
                      <a:solidFill>
                        <a:schemeClr val="tx1"/>
                      </a:solidFill>
                      <a:latin typeface="Tahoma" panose="020B0604030504040204" pitchFamily="34" charset="0"/>
                      <a:ea typeface="宋体" panose="02010600030101010101" pitchFamily="2" charset="-122"/>
                    </a:defRPr>
                  </a:lvl2pPr>
                  <a:lvl3pPr marL="1143000" indent="-228600" eaLnBrk="0" hangingPunct="0">
                    <a:defRPr sz="1600" b="1">
                      <a:solidFill>
                        <a:schemeClr val="tx1"/>
                      </a:solidFill>
                      <a:latin typeface="Tahoma" panose="020B0604030504040204" pitchFamily="34" charset="0"/>
                      <a:ea typeface="宋体" panose="02010600030101010101" pitchFamily="2" charset="-122"/>
                    </a:defRPr>
                  </a:lvl3pPr>
                  <a:lvl4pPr marL="1600200" indent="-228600" eaLnBrk="0" hangingPunct="0">
                    <a:defRPr sz="1600" b="1">
                      <a:solidFill>
                        <a:schemeClr val="tx1"/>
                      </a:solidFill>
                      <a:latin typeface="Tahoma" panose="020B0604030504040204" pitchFamily="34" charset="0"/>
                      <a:ea typeface="宋体" panose="02010600030101010101" pitchFamily="2" charset="-122"/>
                    </a:defRPr>
                  </a:lvl4pPr>
                  <a:lvl5pPr marL="2057400" indent="-228600" eaLnBrk="0" hangingPunct="0">
                    <a:defRPr sz="16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9pPr>
                </a:lstStyle>
                <a:p>
                  <a:pPr algn="just"/>
                  <a:r>
                    <a:rPr lang="en-US" altLang="zh-CN" sz="2800" i="1">
                      <a:solidFill>
                        <a:schemeClr val="bg1"/>
                      </a:solidFill>
                      <a:latin typeface="Times New Roman" panose="02020603050405020304" pitchFamily="18" charset="0"/>
                    </a:rPr>
                    <a:t>V</a:t>
                  </a:r>
                  <a:r>
                    <a:rPr lang="en-US" altLang="zh-CN" sz="2800" baseline="-25000">
                      <a:solidFill>
                        <a:schemeClr val="bg1"/>
                      </a:solidFill>
                      <a:latin typeface="Times New Roman" panose="02020603050405020304" pitchFamily="18" charset="0"/>
                    </a:rPr>
                    <a:t>3</a:t>
                  </a:r>
                  <a:endParaRPr lang="en-US" altLang="zh-CN" sz="2800">
                    <a:solidFill>
                      <a:schemeClr val="bg1"/>
                    </a:solidFill>
                    <a:latin typeface="Times New Roman" panose="02020603050405020304" pitchFamily="18" charset="0"/>
                  </a:endParaRPr>
                </a:p>
              </p:txBody>
            </p:sp>
            <p:sp>
              <p:nvSpPr>
                <p:cNvPr id="75" name="Oval 18"/>
                <p:cNvSpPr>
                  <a:spLocks noChangeArrowheads="1"/>
                </p:cNvSpPr>
                <p:nvPr/>
              </p:nvSpPr>
              <p:spPr bwMode="auto">
                <a:xfrm>
                  <a:off x="1438" y="3730"/>
                  <a:ext cx="317" cy="317"/>
                </a:xfrm>
                <a:prstGeom prst="ellipse">
                  <a:avLst/>
                </a:prstGeom>
                <a:gradFill rotWithShape="1">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2857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0800" tIns="28800" rIns="0" bIns="10800"/>
                <a:lstStyle/>
                <a:p>
                  <a:pPr algn="ctr">
                    <a:defRPr/>
                  </a:pPr>
                  <a:endParaRPr lang="zh-CN" altLang="en-US">
                    <a:solidFill>
                      <a:schemeClr val="bg1"/>
                    </a:solidFill>
                    <a:latin typeface="Arial" charset="0"/>
                    <a:ea typeface="华文行楷" pitchFamily="2" charset="-122"/>
                  </a:endParaRPr>
                </a:p>
              </p:txBody>
            </p:sp>
            <p:sp>
              <p:nvSpPr>
                <p:cNvPr id="76" name="Text Box 19"/>
                <p:cNvSpPr txBox="1">
                  <a:spLocks noChangeArrowheads="1"/>
                </p:cNvSpPr>
                <p:nvPr/>
              </p:nvSpPr>
              <p:spPr bwMode="auto">
                <a:xfrm>
                  <a:off x="1480" y="3699"/>
                  <a:ext cx="292" cy="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0800" tIns="28800" rIns="0" bIns="10800"/>
                <a:lstStyle>
                  <a:lvl1pPr eaLnBrk="0" hangingPunct="0">
                    <a:defRPr sz="1600" b="1">
                      <a:solidFill>
                        <a:schemeClr val="tx1"/>
                      </a:solidFill>
                      <a:latin typeface="Tahoma" panose="020B0604030504040204" pitchFamily="34" charset="0"/>
                      <a:ea typeface="宋体" panose="02010600030101010101" pitchFamily="2" charset="-122"/>
                    </a:defRPr>
                  </a:lvl1pPr>
                  <a:lvl2pPr marL="742950" indent="-285750" eaLnBrk="0" hangingPunct="0">
                    <a:defRPr sz="1600" b="1">
                      <a:solidFill>
                        <a:schemeClr val="tx1"/>
                      </a:solidFill>
                      <a:latin typeface="Tahoma" panose="020B0604030504040204" pitchFamily="34" charset="0"/>
                      <a:ea typeface="宋体" panose="02010600030101010101" pitchFamily="2" charset="-122"/>
                    </a:defRPr>
                  </a:lvl2pPr>
                  <a:lvl3pPr marL="1143000" indent="-228600" eaLnBrk="0" hangingPunct="0">
                    <a:defRPr sz="1600" b="1">
                      <a:solidFill>
                        <a:schemeClr val="tx1"/>
                      </a:solidFill>
                      <a:latin typeface="Tahoma" panose="020B0604030504040204" pitchFamily="34" charset="0"/>
                      <a:ea typeface="宋体" panose="02010600030101010101" pitchFamily="2" charset="-122"/>
                    </a:defRPr>
                  </a:lvl3pPr>
                  <a:lvl4pPr marL="1600200" indent="-228600" eaLnBrk="0" hangingPunct="0">
                    <a:defRPr sz="1600" b="1">
                      <a:solidFill>
                        <a:schemeClr val="tx1"/>
                      </a:solidFill>
                      <a:latin typeface="Tahoma" panose="020B0604030504040204" pitchFamily="34" charset="0"/>
                      <a:ea typeface="宋体" panose="02010600030101010101" pitchFamily="2" charset="-122"/>
                    </a:defRPr>
                  </a:lvl4pPr>
                  <a:lvl5pPr marL="2057400" indent="-228600" eaLnBrk="0" hangingPunct="0">
                    <a:defRPr sz="16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9pPr>
                </a:lstStyle>
                <a:p>
                  <a:pPr algn="just"/>
                  <a:r>
                    <a:rPr lang="en-US" altLang="zh-CN" sz="2800" i="1">
                      <a:solidFill>
                        <a:schemeClr val="bg1"/>
                      </a:solidFill>
                      <a:latin typeface="Times New Roman" panose="02020603050405020304" pitchFamily="18" charset="0"/>
                    </a:rPr>
                    <a:t>V</a:t>
                  </a:r>
                  <a:r>
                    <a:rPr lang="en-US" altLang="zh-CN" sz="2800" baseline="-25000">
                      <a:solidFill>
                        <a:schemeClr val="bg1"/>
                      </a:solidFill>
                      <a:latin typeface="Times New Roman" panose="02020603050405020304" pitchFamily="18" charset="0"/>
                    </a:rPr>
                    <a:t>4</a:t>
                  </a:r>
                  <a:endParaRPr lang="en-US" altLang="zh-CN" sz="2800">
                    <a:solidFill>
                      <a:schemeClr val="bg1"/>
                    </a:solidFill>
                    <a:latin typeface="Times New Roman" panose="02020603050405020304" pitchFamily="18" charset="0"/>
                  </a:endParaRPr>
                </a:p>
              </p:txBody>
            </p:sp>
          </p:grpSp>
        </p:grpSp>
        <p:sp>
          <p:nvSpPr>
            <p:cNvPr id="48" name="Text Box 20"/>
            <p:cNvSpPr txBox="1">
              <a:spLocks noChangeArrowheads="1"/>
            </p:cNvSpPr>
            <p:nvPr/>
          </p:nvSpPr>
          <p:spPr bwMode="auto">
            <a:xfrm>
              <a:off x="2606" y="2227"/>
              <a:ext cx="365"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lvl1pPr eaLnBrk="0" hangingPunct="0">
                <a:defRPr sz="1600" b="1">
                  <a:solidFill>
                    <a:schemeClr val="tx1"/>
                  </a:solidFill>
                  <a:latin typeface="Tahoma" panose="020B0604030504040204" pitchFamily="34" charset="0"/>
                  <a:ea typeface="宋体" panose="02010600030101010101" pitchFamily="2" charset="-122"/>
                </a:defRPr>
              </a:lvl1pPr>
              <a:lvl2pPr marL="742950" indent="-285750" eaLnBrk="0" hangingPunct="0">
                <a:defRPr sz="1600" b="1">
                  <a:solidFill>
                    <a:schemeClr val="tx1"/>
                  </a:solidFill>
                  <a:latin typeface="Tahoma" panose="020B0604030504040204" pitchFamily="34" charset="0"/>
                  <a:ea typeface="宋体" panose="02010600030101010101" pitchFamily="2" charset="-122"/>
                </a:defRPr>
              </a:lvl2pPr>
              <a:lvl3pPr marL="1143000" indent="-228600" eaLnBrk="0" hangingPunct="0">
                <a:defRPr sz="1600" b="1">
                  <a:solidFill>
                    <a:schemeClr val="tx1"/>
                  </a:solidFill>
                  <a:latin typeface="Tahoma" panose="020B0604030504040204" pitchFamily="34" charset="0"/>
                  <a:ea typeface="宋体" panose="02010600030101010101" pitchFamily="2" charset="-122"/>
                </a:defRPr>
              </a:lvl3pPr>
              <a:lvl4pPr marL="1600200" indent="-228600" eaLnBrk="0" hangingPunct="0">
                <a:defRPr sz="1600" b="1">
                  <a:solidFill>
                    <a:schemeClr val="tx1"/>
                  </a:solidFill>
                  <a:latin typeface="Tahoma" panose="020B0604030504040204" pitchFamily="34" charset="0"/>
                  <a:ea typeface="宋体" panose="02010600030101010101" pitchFamily="2" charset="-122"/>
                </a:defRPr>
              </a:lvl4pPr>
              <a:lvl5pPr marL="2057400" indent="-228600" eaLnBrk="0" hangingPunct="0">
                <a:defRPr sz="16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pPr>
              <a:r>
                <a:rPr lang="en-US" altLang="zh-CN" sz="2800">
                  <a:latin typeface="Times New Roman" panose="02020603050405020304" pitchFamily="18" charset="0"/>
                  <a:ea typeface="华文行楷" panose="02010800040101010101" pitchFamily="2" charset="-122"/>
                </a:rPr>
                <a:t>2</a:t>
              </a:r>
            </a:p>
          </p:txBody>
        </p:sp>
        <p:sp>
          <p:nvSpPr>
            <p:cNvPr id="64" name="Text Box 21"/>
            <p:cNvSpPr txBox="1">
              <a:spLocks noChangeArrowheads="1"/>
            </p:cNvSpPr>
            <p:nvPr/>
          </p:nvSpPr>
          <p:spPr bwMode="auto">
            <a:xfrm>
              <a:off x="2759" y="2774"/>
              <a:ext cx="365"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lvl1pPr eaLnBrk="0" hangingPunct="0">
                <a:defRPr sz="1600" b="1">
                  <a:solidFill>
                    <a:schemeClr val="tx1"/>
                  </a:solidFill>
                  <a:latin typeface="Tahoma" panose="020B0604030504040204" pitchFamily="34" charset="0"/>
                  <a:ea typeface="宋体" panose="02010600030101010101" pitchFamily="2" charset="-122"/>
                </a:defRPr>
              </a:lvl1pPr>
              <a:lvl2pPr marL="742950" indent="-285750" eaLnBrk="0" hangingPunct="0">
                <a:defRPr sz="1600" b="1">
                  <a:solidFill>
                    <a:schemeClr val="tx1"/>
                  </a:solidFill>
                  <a:latin typeface="Tahoma" panose="020B0604030504040204" pitchFamily="34" charset="0"/>
                  <a:ea typeface="宋体" panose="02010600030101010101" pitchFamily="2" charset="-122"/>
                </a:defRPr>
              </a:lvl2pPr>
              <a:lvl3pPr marL="1143000" indent="-228600" eaLnBrk="0" hangingPunct="0">
                <a:defRPr sz="1600" b="1">
                  <a:solidFill>
                    <a:schemeClr val="tx1"/>
                  </a:solidFill>
                  <a:latin typeface="Tahoma" panose="020B0604030504040204" pitchFamily="34" charset="0"/>
                  <a:ea typeface="宋体" panose="02010600030101010101" pitchFamily="2" charset="-122"/>
                </a:defRPr>
              </a:lvl3pPr>
              <a:lvl4pPr marL="1600200" indent="-228600" eaLnBrk="0" hangingPunct="0">
                <a:defRPr sz="1600" b="1">
                  <a:solidFill>
                    <a:schemeClr val="tx1"/>
                  </a:solidFill>
                  <a:latin typeface="Tahoma" panose="020B0604030504040204" pitchFamily="34" charset="0"/>
                  <a:ea typeface="宋体" panose="02010600030101010101" pitchFamily="2" charset="-122"/>
                </a:defRPr>
              </a:lvl4pPr>
              <a:lvl5pPr marL="2057400" indent="-228600" eaLnBrk="0" hangingPunct="0">
                <a:defRPr sz="16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pPr>
              <a:r>
                <a:rPr lang="en-US" altLang="zh-CN" sz="2800">
                  <a:latin typeface="Times New Roman" panose="02020603050405020304" pitchFamily="18" charset="0"/>
                  <a:ea typeface="华文行楷" panose="02010800040101010101" pitchFamily="2" charset="-122"/>
                </a:rPr>
                <a:t>7</a:t>
              </a:r>
            </a:p>
          </p:txBody>
        </p:sp>
        <p:sp>
          <p:nvSpPr>
            <p:cNvPr id="66" name="Text Box 22"/>
            <p:cNvSpPr txBox="1">
              <a:spLocks noChangeArrowheads="1"/>
            </p:cNvSpPr>
            <p:nvPr/>
          </p:nvSpPr>
          <p:spPr bwMode="auto">
            <a:xfrm>
              <a:off x="2539" y="3331"/>
              <a:ext cx="365"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lvl1pPr eaLnBrk="0" hangingPunct="0">
                <a:defRPr sz="1600" b="1">
                  <a:solidFill>
                    <a:schemeClr val="tx1"/>
                  </a:solidFill>
                  <a:latin typeface="Tahoma" panose="020B0604030504040204" pitchFamily="34" charset="0"/>
                  <a:ea typeface="宋体" panose="02010600030101010101" pitchFamily="2" charset="-122"/>
                </a:defRPr>
              </a:lvl1pPr>
              <a:lvl2pPr marL="742950" indent="-285750" eaLnBrk="0" hangingPunct="0">
                <a:defRPr sz="1600" b="1">
                  <a:solidFill>
                    <a:schemeClr val="tx1"/>
                  </a:solidFill>
                  <a:latin typeface="Tahoma" panose="020B0604030504040204" pitchFamily="34" charset="0"/>
                  <a:ea typeface="宋体" panose="02010600030101010101" pitchFamily="2" charset="-122"/>
                </a:defRPr>
              </a:lvl2pPr>
              <a:lvl3pPr marL="1143000" indent="-228600" eaLnBrk="0" hangingPunct="0">
                <a:defRPr sz="1600" b="1">
                  <a:solidFill>
                    <a:schemeClr val="tx1"/>
                  </a:solidFill>
                  <a:latin typeface="Tahoma" panose="020B0604030504040204" pitchFamily="34" charset="0"/>
                  <a:ea typeface="宋体" panose="02010600030101010101" pitchFamily="2" charset="-122"/>
                </a:defRPr>
              </a:lvl3pPr>
              <a:lvl4pPr marL="1600200" indent="-228600" eaLnBrk="0" hangingPunct="0">
                <a:defRPr sz="1600" b="1">
                  <a:solidFill>
                    <a:schemeClr val="tx1"/>
                  </a:solidFill>
                  <a:latin typeface="Tahoma" panose="020B0604030504040204" pitchFamily="34" charset="0"/>
                  <a:ea typeface="宋体" panose="02010600030101010101" pitchFamily="2" charset="-122"/>
                </a:defRPr>
              </a:lvl4pPr>
              <a:lvl5pPr marL="2057400" indent="-228600" eaLnBrk="0" hangingPunct="0">
                <a:defRPr sz="16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pPr>
              <a:r>
                <a:rPr lang="en-US" altLang="zh-CN" sz="2800">
                  <a:latin typeface="Times New Roman" panose="02020603050405020304" pitchFamily="18" charset="0"/>
                  <a:ea typeface="华文行楷" panose="02010800040101010101" pitchFamily="2" charset="-122"/>
                </a:rPr>
                <a:t>8</a:t>
              </a:r>
            </a:p>
          </p:txBody>
        </p:sp>
        <p:sp>
          <p:nvSpPr>
            <p:cNvPr id="67" name="Text Box 23"/>
            <p:cNvSpPr txBox="1">
              <a:spLocks noChangeArrowheads="1"/>
            </p:cNvSpPr>
            <p:nvPr/>
          </p:nvSpPr>
          <p:spPr bwMode="auto">
            <a:xfrm>
              <a:off x="2135" y="2937"/>
              <a:ext cx="365"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lvl1pPr eaLnBrk="0" hangingPunct="0">
                <a:defRPr sz="1600" b="1">
                  <a:solidFill>
                    <a:schemeClr val="tx1"/>
                  </a:solidFill>
                  <a:latin typeface="Tahoma" panose="020B0604030504040204" pitchFamily="34" charset="0"/>
                  <a:ea typeface="宋体" panose="02010600030101010101" pitchFamily="2" charset="-122"/>
                </a:defRPr>
              </a:lvl1pPr>
              <a:lvl2pPr marL="742950" indent="-285750" eaLnBrk="0" hangingPunct="0">
                <a:defRPr sz="1600" b="1">
                  <a:solidFill>
                    <a:schemeClr val="tx1"/>
                  </a:solidFill>
                  <a:latin typeface="Tahoma" panose="020B0604030504040204" pitchFamily="34" charset="0"/>
                  <a:ea typeface="宋体" panose="02010600030101010101" pitchFamily="2" charset="-122"/>
                </a:defRPr>
              </a:lvl2pPr>
              <a:lvl3pPr marL="1143000" indent="-228600" eaLnBrk="0" hangingPunct="0">
                <a:defRPr sz="1600" b="1">
                  <a:solidFill>
                    <a:schemeClr val="tx1"/>
                  </a:solidFill>
                  <a:latin typeface="Tahoma" panose="020B0604030504040204" pitchFamily="34" charset="0"/>
                  <a:ea typeface="宋体" panose="02010600030101010101" pitchFamily="2" charset="-122"/>
                </a:defRPr>
              </a:lvl3pPr>
              <a:lvl4pPr marL="1600200" indent="-228600" eaLnBrk="0" hangingPunct="0">
                <a:defRPr sz="1600" b="1">
                  <a:solidFill>
                    <a:schemeClr val="tx1"/>
                  </a:solidFill>
                  <a:latin typeface="Tahoma" panose="020B0604030504040204" pitchFamily="34" charset="0"/>
                  <a:ea typeface="宋体" panose="02010600030101010101" pitchFamily="2" charset="-122"/>
                </a:defRPr>
              </a:lvl4pPr>
              <a:lvl5pPr marL="2057400" indent="-228600" eaLnBrk="0" hangingPunct="0">
                <a:defRPr sz="16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pPr>
              <a:r>
                <a:rPr lang="en-US" altLang="zh-CN" sz="2800">
                  <a:latin typeface="Times New Roman" panose="02020603050405020304" pitchFamily="18" charset="0"/>
                  <a:ea typeface="华文行楷" panose="02010800040101010101" pitchFamily="2" charset="-122"/>
                </a:rPr>
                <a:t>5</a:t>
              </a:r>
            </a:p>
          </p:txBody>
        </p:sp>
      </p:grpSp>
      <p:grpSp>
        <p:nvGrpSpPr>
          <p:cNvPr id="82" name="Group 24"/>
          <p:cNvGrpSpPr>
            <a:grpSpLocks/>
          </p:cNvGrpSpPr>
          <p:nvPr/>
        </p:nvGrpSpPr>
        <p:grpSpPr bwMode="auto">
          <a:xfrm>
            <a:off x="4597737" y="2509481"/>
            <a:ext cx="5868987" cy="2513012"/>
            <a:chOff x="217" y="1335"/>
            <a:chExt cx="3697" cy="1583"/>
          </a:xfrm>
        </p:grpSpPr>
        <p:sp>
          <p:nvSpPr>
            <p:cNvPr id="83" name="Rectangle 25"/>
            <p:cNvSpPr>
              <a:spLocks noChangeArrowheads="1"/>
            </p:cNvSpPr>
            <p:nvPr/>
          </p:nvSpPr>
          <p:spPr bwMode="auto">
            <a:xfrm>
              <a:off x="2233" y="1630"/>
              <a:ext cx="725" cy="283"/>
            </a:xfrm>
            <a:prstGeom prst="rect">
              <a:avLst/>
            </a:prstGeom>
            <a:noFill/>
            <a:ln w="28575">
              <a:solidFill>
                <a:srgbClr val="000000"/>
              </a:solidFill>
              <a:miter lim="800000"/>
              <a:headEnd/>
              <a:tailEnd/>
            </a:ln>
            <a:extLst>
              <a:ext uri="{909E8E84-426E-40DD-AFC4-6F175D3DCCD1}">
                <a14:hiddenFill xmlns:a14="http://schemas.microsoft.com/office/drawing/2010/main">
                  <a:solidFill>
                    <a:schemeClr val="hlink"/>
                  </a:solidFill>
                </a14:hiddenFill>
              </a:ext>
            </a:extLst>
          </p:spPr>
          <p:txBody>
            <a:bodyPr lIns="108000" tIns="54000" bIns="10800"/>
            <a:lstStyle>
              <a:lvl1pPr eaLnBrk="0" hangingPunct="0">
                <a:defRPr sz="1600" b="1">
                  <a:solidFill>
                    <a:schemeClr val="tx1"/>
                  </a:solidFill>
                  <a:latin typeface="Tahoma" panose="020B0604030504040204" pitchFamily="34" charset="0"/>
                  <a:ea typeface="宋体" panose="02010600030101010101" pitchFamily="2" charset="-122"/>
                </a:defRPr>
              </a:lvl1pPr>
              <a:lvl2pPr marL="742950" indent="-285750" eaLnBrk="0" hangingPunct="0">
                <a:defRPr sz="1600" b="1">
                  <a:solidFill>
                    <a:schemeClr val="tx1"/>
                  </a:solidFill>
                  <a:latin typeface="Tahoma" panose="020B0604030504040204" pitchFamily="34" charset="0"/>
                  <a:ea typeface="宋体" panose="02010600030101010101" pitchFamily="2" charset="-122"/>
                </a:defRPr>
              </a:lvl2pPr>
              <a:lvl3pPr marL="1143000" indent="-228600" eaLnBrk="0" hangingPunct="0">
                <a:defRPr sz="1600" b="1">
                  <a:solidFill>
                    <a:schemeClr val="tx1"/>
                  </a:solidFill>
                  <a:latin typeface="Tahoma" panose="020B0604030504040204" pitchFamily="34" charset="0"/>
                  <a:ea typeface="宋体" panose="02010600030101010101" pitchFamily="2" charset="-122"/>
                </a:defRPr>
              </a:lvl3pPr>
              <a:lvl4pPr marL="1600200" indent="-228600" eaLnBrk="0" hangingPunct="0">
                <a:defRPr sz="1600" b="1">
                  <a:solidFill>
                    <a:schemeClr val="tx1"/>
                  </a:solidFill>
                  <a:latin typeface="Tahoma" panose="020B0604030504040204" pitchFamily="34" charset="0"/>
                  <a:ea typeface="宋体" panose="02010600030101010101" pitchFamily="2" charset="-122"/>
                </a:defRPr>
              </a:lvl4pPr>
              <a:lvl5pPr marL="2057400" indent="-228600" eaLnBrk="0" hangingPunct="0">
                <a:defRPr sz="16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9pPr>
            </a:lstStyle>
            <a:p>
              <a:pPr algn="just"/>
              <a:r>
                <a:rPr lang="en-US" altLang="zh-CN" sz="2400">
                  <a:solidFill>
                    <a:schemeClr val="hlink"/>
                  </a:solidFill>
                  <a:latin typeface="Times New Roman" panose="02020603050405020304" pitchFamily="18" charset="0"/>
                </a:rPr>
                <a:t>2</a:t>
              </a:r>
              <a:r>
                <a:rPr lang="en-US" altLang="zh-CN" sz="2400">
                  <a:latin typeface="Times New Roman" panose="02020603050405020304" pitchFamily="18" charset="0"/>
                </a:rPr>
                <a:t>   1</a:t>
              </a:r>
            </a:p>
          </p:txBody>
        </p:sp>
        <p:sp>
          <p:nvSpPr>
            <p:cNvPr id="84" name="Rectangle 26"/>
            <p:cNvSpPr>
              <a:spLocks noChangeArrowheads="1"/>
            </p:cNvSpPr>
            <p:nvPr/>
          </p:nvSpPr>
          <p:spPr bwMode="auto">
            <a:xfrm>
              <a:off x="473" y="1608"/>
              <a:ext cx="641" cy="321"/>
            </a:xfrm>
            <a:prstGeom prst="rect">
              <a:avLst/>
            </a:prstGeom>
            <a:noFill/>
            <a:ln w="28575">
              <a:solidFill>
                <a:srgbClr val="000000"/>
              </a:solidFill>
              <a:miter lim="800000"/>
              <a:headEnd/>
              <a:tailEnd/>
            </a:ln>
            <a:extLst>
              <a:ext uri="{909E8E84-426E-40DD-AFC4-6F175D3DCCD1}">
                <a14:hiddenFill xmlns:a14="http://schemas.microsoft.com/office/drawing/2010/main">
                  <a:solidFill>
                    <a:schemeClr val="hlink"/>
                  </a:solidFill>
                </a14:hiddenFill>
              </a:ext>
            </a:extLst>
          </p:spPr>
          <p:txBody>
            <a:bodyPr tIns="0"/>
            <a:lstStyle>
              <a:lvl1pPr eaLnBrk="0" hangingPunct="0">
                <a:defRPr sz="1600" b="1">
                  <a:solidFill>
                    <a:schemeClr val="tx1"/>
                  </a:solidFill>
                  <a:latin typeface="Tahoma" panose="020B0604030504040204" pitchFamily="34" charset="0"/>
                  <a:ea typeface="宋体" panose="02010600030101010101" pitchFamily="2" charset="-122"/>
                </a:defRPr>
              </a:lvl1pPr>
              <a:lvl2pPr marL="742950" indent="-285750" eaLnBrk="0" hangingPunct="0">
                <a:defRPr sz="1600" b="1">
                  <a:solidFill>
                    <a:schemeClr val="tx1"/>
                  </a:solidFill>
                  <a:latin typeface="Tahoma" panose="020B0604030504040204" pitchFamily="34" charset="0"/>
                  <a:ea typeface="宋体" panose="02010600030101010101" pitchFamily="2" charset="-122"/>
                </a:defRPr>
              </a:lvl2pPr>
              <a:lvl3pPr marL="1143000" indent="-228600" eaLnBrk="0" hangingPunct="0">
                <a:defRPr sz="1600" b="1">
                  <a:solidFill>
                    <a:schemeClr val="tx1"/>
                  </a:solidFill>
                  <a:latin typeface="Tahoma" panose="020B0604030504040204" pitchFamily="34" charset="0"/>
                  <a:ea typeface="宋体" panose="02010600030101010101" pitchFamily="2" charset="-122"/>
                </a:defRPr>
              </a:lvl3pPr>
              <a:lvl4pPr marL="1600200" indent="-228600" eaLnBrk="0" hangingPunct="0">
                <a:defRPr sz="1600" b="1">
                  <a:solidFill>
                    <a:schemeClr val="tx1"/>
                  </a:solidFill>
                  <a:latin typeface="Tahoma" panose="020B0604030504040204" pitchFamily="34" charset="0"/>
                  <a:ea typeface="宋体" panose="02010600030101010101" pitchFamily="2" charset="-122"/>
                </a:defRPr>
              </a:lvl4pPr>
              <a:lvl5pPr marL="2057400" indent="-228600" eaLnBrk="0" hangingPunct="0">
                <a:defRPr sz="16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9pPr>
            </a:lstStyle>
            <a:p>
              <a:pPr algn="just"/>
              <a:r>
                <a:rPr lang="en-US" altLang="zh-CN" sz="2800">
                  <a:latin typeface="Times New Roman" panose="02020603050405020304" pitchFamily="18" charset="0"/>
                </a:rPr>
                <a:t>  V</a:t>
              </a:r>
              <a:r>
                <a:rPr lang="en-US" altLang="zh-CN" sz="2800" baseline="-25000">
                  <a:latin typeface="Times New Roman" panose="02020603050405020304" pitchFamily="18" charset="0"/>
                </a:rPr>
                <a:t>1</a:t>
              </a:r>
            </a:p>
          </p:txBody>
        </p:sp>
        <p:sp>
          <p:nvSpPr>
            <p:cNvPr id="85" name="Rectangle 27"/>
            <p:cNvSpPr>
              <a:spLocks noChangeArrowheads="1"/>
            </p:cNvSpPr>
            <p:nvPr/>
          </p:nvSpPr>
          <p:spPr bwMode="auto">
            <a:xfrm>
              <a:off x="1114" y="1608"/>
              <a:ext cx="741" cy="321"/>
            </a:xfrm>
            <a:prstGeom prst="rect">
              <a:avLst/>
            </a:prstGeom>
            <a:noFill/>
            <a:ln w="28575">
              <a:solidFill>
                <a:srgbClr val="000000"/>
              </a:solidFill>
              <a:miter lim="800000"/>
              <a:headEnd/>
              <a:tailEnd/>
            </a:ln>
            <a:extLst>
              <a:ext uri="{909E8E84-426E-40DD-AFC4-6F175D3DCCD1}">
                <a14:hiddenFill xmlns:a14="http://schemas.microsoft.com/office/drawing/2010/main">
                  <a:solidFill>
                    <a:schemeClr val="hlink"/>
                  </a:solidFill>
                </a14:hiddenFill>
              </a:ext>
            </a:extLst>
          </p:spPr>
          <p:txBody>
            <a:bodyPr tIns="10800"/>
            <a:lstStyle>
              <a:lvl1pPr eaLnBrk="0" hangingPunct="0">
                <a:defRPr sz="1600" b="1">
                  <a:solidFill>
                    <a:schemeClr val="tx1"/>
                  </a:solidFill>
                  <a:latin typeface="Tahoma" panose="020B0604030504040204" pitchFamily="34" charset="0"/>
                  <a:ea typeface="宋体" panose="02010600030101010101" pitchFamily="2" charset="-122"/>
                </a:defRPr>
              </a:lvl1pPr>
              <a:lvl2pPr marL="742950" indent="-285750" eaLnBrk="0" hangingPunct="0">
                <a:defRPr sz="1600" b="1">
                  <a:solidFill>
                    <a:schemeClr val="tx1"/>
                  </a:solidFill>
                  <a:latin typeface="Tahoma" panose="020B0604030504040204" pitchFamily="34" charset="0"/>
                  <a:ea typeface="宋体" panose="02010600030101010101" pitchFamily="2" charset="-122"/>
                </a:defRPr>
              </a:lvl2pPr>
              <a:lvl3pPr marL="1143000" indent="-228600" eaLnBrk="0" hangingPunct="0">
                <a:defRPr sz="1600" b="1">
                  <a:solidFill>
                    <a:schemeClr val="tx1"/>
                  </a:solidFill>
                  <a:latin typeface="Tahoma" panose="020B0604030504040204" pitchFamily="34" charset="0"/>
                  <a:ea typeface="宋体" panose="02010600030101010101" pitchFamily="2" charset="-122"/>
                </a:defRPr>
              </a:lvl3pPr>
              <a:lvl4pPr marL="1600200" indent="-228600" eaLnBrk="0" hangingPunct="0">
                <a:defRPr sz="1600" b="1">
                  <a:solidFill>
                    <a:schemeClr val="tx1"/>
                  </a:solidFill>
                  <a:latin typeface="Tahoma" panose="020B0604030504040204" pitchFamily="34" charset="0"/>
                  <a:ea typeface="宋体" panose="02010600030101010101" pitchFamily="2" charset="-122"/>
                </a:defRPr>
              </a:lvl4pPr>
              <a:lvl5pPr marL="2057400" indent="-228600" eaLnBrk="0" hangingPunct="0">
                <a:defRPr sz="16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sp>
          <p:nvSpPr>
            <p:cNvPr id="86" name="Rectangle 28"/>
            <p:cNvSpPr>
              <a:spLocks noChangeArrowheads="1"/>
            </p:cNvSpPr>
            <p:nvPr/>
          </p:nvSpPr>
          <p:spPr bwMode="auto">
            <a:xfrm>
              <a:off x="473" y="1932"/>
              <a:ext cx="641" cy="323"/>
            </a:xfrm>
            <a:prstGeom prst="rect">
              <a:avLst/>
            </a:prstGeom>
            <a:noFill/>
            <a:ln w="28575">
              <a:solidFill>
                <a:srgbClr val="000000"/>
              </a:solidFill>
              <a:miter lim="800000"/>
              <a:headEnd/>
              <a:tailEnd/>
            </a:ln>
            <a:extLst>
              <a:ext uri="{909E8E84-426E-40DD-AFC4-6F175D3DCCD1}">
                <a14:hiddenFill xmlns:a14="http://schemas.microsoft.com/office/drawing/2010/main">
                  <a:solidFill>
                    <a:schemeClr val="hlink"/>
                  </a:solidFill>
                </a14:hiddenFill>
              </a:ext>
            </a:extLst>
          </p:spPr>
          <p:txBody>
            <a:bodyPr tIns="0"/>
            <a:lstStyle>
              <a:lvl1pPr eaLnBrk="0" hangingPunct="0">
                <a:defRPr sz="1600" b="1">
                  <a:solidFill>
                    <a:schemeClr val="tx1"/>
                  </a:solidFill>
                  <a:latin typeface="Tahoma" panose="020B0604030504040204" pitchFamily="34" charset="0"/>
                  <a:ea typeface="宋体" panose="02010600030101010101" pitchFamily="2" charset="-122"/>
                </a:defRPr>
              </a:lvl1pPr>
              <a:lvl2pPr marL="742950" indent="-285750" eaLnBrk="0" hangingPunct="0">
                <a:defRPr sz="1600" b="1">
                  <a:solidFill>
                    <a:schemeClr val="tx1"/>
                  </a:solidFill>
                  <a:latin typeface="Tahoma" panose="020B0604030504040204" pitchFamily="34" charset="0"/>
                  <a:ea typeface="宋体" panose="02010600030101010101" pitchFamily="2" charset="-122"/>
                </a:defRPr>
              </a:lvl2pPr>
              <a:lvl3pPr marL="1143000" indent="-228600" eaLnBrk="0" hangingPunct="0">
                <a:defRPr sz="1600" b="1">
                  <a:solidFill>
                    <a:schemeClr val="tx1"/>
                  </a:solidFill>
                  <a:latin typeface="Tahoma" panose="020B0604030504040204" pitchFamily="34" charset="0"/>
                  <a:ea typeface="宋体" panose="02010600030101010101" pitchFamily="2" charset="-122"/>
                </a:defRPr>
              </a:lvl3pPr>
              <a:lvl4pPr marL="1600200" indent="-228600" eaLnBrk="0" hangingPunct="0">
                <a:defRPr sz="1600" b="1">
                  <a:solidFill>
                    <a:schemeClr val="tx1"/>
                  </a:solidFill>
                  <a:latin typeface="Tahoma" panose="020B0604030504040204" pitchFamily="34" charset="0"/>
                  <a:ea typeface="宋体" panose="02010600030101010101" pitchFamily="2" charset="-122"/>
                </a:defRPr>
              </a:lvl4pPr>
              <a:lvl5pPr marL="2057400" indent="-228600" eaLnBrk="0" hangingPunct="0">
                <a:defRPr sz="16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9pPr>
            </a:lstStyle>
            <a:p>
              <a:pPr algn="just"/>
              <a:r>
                <a:rPr lang="en-US" altLang="zh-CN" sz="2800">
                  <a:latin typeface="Times New Roman" panose="02020603050405020304" pitchFamily="18" charset="0"/>
                </a:rPr>
                <a:t>  V</a:t>
              </a:r>
              <a:r>
                <a:rPr lang="en-US" altLang="zh-CN" sz="2800" baseline="-25000">
                  <a:latin typeface="Times New Roman" panose="02020603050405020304" pitchFamily="18" charset="0"/>
                </a:rPr>
                <a:t>2</a:t>
              </a:r>
              <a:r>
                <a:rPr lang="en-US" altLang="zh-CN" sz="2800">
                  <a:latin typeface="Times New Roman" panose="02020603050405020304" pitchFamily="18" charset="0"/>
                </a:rPr>
                <a:t> </a:t>
              </a:r>
            </a:p>
          </p:txBody>
        </p:sp>
        <p:sp>
          <p:nvSpPr>
            <p:cNvPr id="87" name="Rectangle 29"/>
            <p:cNvSpPr>
              <a:spLocks noChangeArrowheads="1"/>
            </p:cNvSpPr>
            <p:nvPr/>
          </p:nvSpPr>
          <p:spPr bwMode="auto">
            <a:xfrm>
              <a:off x="1114" y="1926"/>
              <a:ext cx="741" cy="323"/>
            </a:xfrm>
            <a:prstGeom prst="rect">
              <a:avLst/>
            </a:prstGeom>
            <a:noFill/>
            <a:ln w="28575">
              <a:solidFill>
                <a:srgbClr val="000000"/>
              </a:solidFill>
              <a:miter lim="800000"/>
              <a:headEnd/>
              <a:tailEnd/>
            </a:ln>
            <a:extLst>
              <a:ext uri="{909E8E84-426E-40DD-AFC4-6F175D3DCCD1}">
                <a14:hiddenFill xmlns:a14="http://schemas.microsoft.com/office/drawing/2010/main">
                  <a:solidFill>
                    <a:schemeClr val="hlink"/>
                  </a:solidFill>
                </a14:hiddenFill>
              </a:ext>
            </a:extLst>
          </p:spPr>
          <p:txBody>
            <a:bodyPr tIns="10800"/>
            <a:lstStyle>
              <a:lvl1pPr eaLnBrk="0" hangingPunct="0">
                <a:defRPr sz="1600" b="1">
                  <a:solidFill>
                    <a:schemeClr val="tx1"/>
                  </a:solidFill>
                  <a:latin typeface="Tahoma" panose="020B0604030504040204" pitchFamily="34" charset="0"/>
                  <a:ea typeface="宋体" panose="02010600030101010101" pitchFamily="2" charset="-122"/>
                </a:defRPr>
              </a:lvl1pPr>
              <a:lvl2pPr marL="742950" indent="-285750" eaLnBrk="0" hangingPunct="0">
                <a:defRPr sz="1600" b="1">
                  <a:solidFill>
                    <a:schemeClr val="tx1"/>
                  </a:solidFill>
                  <a:latin typeface="Tahoma" panose="020B0604030504040204" pitchFamily="34" charset="0"/>
                  <a:ea typeface="宋体" panose="02010600030101010101" pitchFamily="2" charset="-122"/>
                </a:defRPr>
              </a:lvl2pPr>
              <a:lvl3pPr marL="1143000" indent="-228600" eaLnBrk="0" hangingPunct="0">
                <a:defRPr sz="1600" b="1">
                  <a:solidFill>
                    <a:schemeClr val="tx1"/>
                  </a:solidFill>
                  <a:latin typeface="Tahoma" panose="020B0604030504040204" pitchFamily="34" charset="0"/>
                  <a:ea typeface="宋体" panose="02010600030101010101" pitchFamily="2" charset="-122"/>
                </a:defRPr>
              </a:lvl3pPr>
              <a:lvl4pPr marL="1600200" indent="-228600" eaLnBrk="0" hangingPunct="0">
                <a:defRPr sz="1600" b="1">
                  <a:solidFill>
                    <a:schemeClr val="tx1"/>
                  </a:solidFill>
                  <a:latin typeface="Tahoma" panose="020B0604030504040204" pitchFamily="34" charset="0"/>
                  <a:ea typeface="宋体" panose="02010600030101010101" pitchFamily="2" charset="-122"/>
                </a:defRPr>
              </a:lvl4pPr>
              <a:lvl5pPr marL="2057400" indent="-228600" eaLnBrk="0" hangingPunct="0">
                <a:defRPr sz="16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sp>
          <p:nvSpPr>
            <p:cNvPr id="88" name="Rectangle 30"/>
            <p:cNvSpPr>
              <a:spLocks noChangeArrowheads="1"/>
            </p:cNvSpPr>
            <p:nvPr/>
          </p:nvSpPr>
          <p:spPr bwMode="auto">
            <a:xfrm>
              <a:off x="473" y="2257"/>
              <a:ext cx="641" cy="321"/>
            </a:xfrm>
            <a:prstGeom prst="rect">
              <a:avLst/>
            </a:prstGeom>
            <a:noFill/>
            <a:ln w="28575">
              <a:solidFill>
                <a:srgbClr val="000000"/>
              </a:solidFill>
              <a:miter lim="800000"/>
              <a:headEnd/>
              <a:tailEnd/>
            </a:ln>
            <a:extLst>
              <a:ext uri="{909E8E84-426E-40DD-AFC4-6F175D3DCCD1}">
                <a14:hiddenFill xmlns:a14="http://schemas.microsoft.com/office/drawing/2010/main">
                  <a:solidFill>
                    <a:schemeClr val="hlink"/>
                  </a:solidFill>
                </a14:hiddenFill>
              </a:ext>
            </a:extLst>
          </p:spPr>
          <p:txBody>
            <a:bodyPr tIns="0"/>
            <a:lstStyle>
              <a:lvl1pPr eaLnBrk="0" hangingPunct="0">
                <a:defRPr sz="1600" b="1">
                  <a:solidFill>
                    <a:schemeClr val="tx1"/>
                  </a:solidFill>
                  <a:latin typeface="Tahoma" panose="020B0604030504040204" pitchFamily="34" charset="0"/>
                  <a:ea typeface="宋体" panose="02010600030101010101" pitchFamily="2" charset="-122"/>
                </a:defRPr>
              </a:lvl1pPr>
              <a:lvl2pPr marL="742950" indent="-285750" eaLnBrk="0" hangingPunct="0">
                <a:defRPr sz="1600" b="1">
                  <a:solidFill>
                    <a:schemeClr val="tx1"/>
                  </a:solidFill>
                  <a:latin typeface="Tahoma" panose="020B0604030504040204" pitchFamily="34" charset="0"/>
                  <a:ea typeface="宋体" panose="02010600030101010101" pitchFamily="2" charset="-122"/>
                </a:defRPr>
              </a:lvl2pPr>
              <a:lvl3pPr marL="1143000" indent="-228600" eaLnBrk="0" hangingPunct="0">
                <a:defRPr sz="1600" b="1">
                  <a:solidFill>
                    <a:schemeClr val="tx1"/>
                  </a:solidFill>
                  <a:latin typeface="Tahoma" panose="020B0604030504040204" pitchFamily="34" charset="0"/>
                  <a:ea typeface="宋体" panose="02010600030101010101" pitchFamily="2" charset="-122"/>
                </a:defRPr>
              </a:lvl3pPr>
              <a:lvl4pPr marL="1600200" indent="-228600" eaLnBrk="0" hangingPunct="0">
                <a:defRPr sz="1600" b="1">
                  <a:solidFill>
                    <a:schemeClr val="tx1"/>
                  </a:solidFill>
                  <a:latin typeface="Tahoma" panose="020B0604030504040204" pitchFamily="34" charset="0"/>
                  <a:ea typeface="宋体" panose="02010600030101010101" pitchFamily="2" charset="-122"/>
                </a:defRPr>
              </a:lvl4pPr>
              <a:lvl5pPr marL="2057400" indent="-228600" eaLnBrk="0" hangingPunct="0">
                <a:defRPr sz="16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9pPr>
            </a:lstStyle>
            <a:p>
              <a:pPr algn="just"/>
              <a:r>
                <a:rPr lang="en-US" altLang="zh-CN" sz="2800">
                  <a:latin typeface="Times New Roman" panose="02020603050405020304" pitchFamily="18" charset="0"/>
                </a:rPr>
                <a:t>  V</a:t>
              </a:r>
              <a:r>
                <a:rPr lang="en-US" altLang="zh-CN" sz="2800" baseline="-25000">
                  <a:latin typeface="Times New Roman" panose="02020603050405020304" pitchFamily="18" charset="0"/>
                </a:rPr>
                <a:t>3</a:t>
              </a:r>
              <a:endParaRPr lang="en-US" altLang="zh-CN" sz="2800">
                <a:latin typeface="Times New Roman" panose="02020603050405020304" pitchFamily="18" charset="0"/>
              </a:endParaRPr>
            </a:p>
          </p:txBody>
        </p:sp>
        <p:sp>
          <p:nvSpPr>
            <p:cNvPr id="89" name="Rectangle 31"/>
            <p:cNvSpPr>
              <a:spLocks noChangeArrowheads="1"/>
            </p:cNvSpPr>
            <p:nvPr/>
          </p:nvSpPr>
          <p:spPr bwMode="auto">
            <a:xfrm>
              <a:off x="1114" y="2254"/>
              <a:ext cx="741" cy="322"/>
            </a:xfrm>
            <a:prstGeom prst="rect">
              <a:avLst/>
            </a:prstGeom>
            <a:noFill/>
            <a:ln w="28575">
              <a:solidFill>
                <a:srgbClr val="000000"/>
              </a:solidFill>
              <a:miter lim="800000"/>
              <a:headEnd/>
              <a:tailEnd/>
            </a:ln>
            <a:extLst>
              <a:ext uri="{909E8E84-426E-40DD-AFC4-6F175D3DCCD1}">
                <a14:hiddenFill xmlns:a14="http://schemas.microsoft.com/office/drawing/2010/main">
                  <a:solidFill>
                    <a:schemeClr val="hlink"/>
                  </a:solidFill>
                </a14:hiddenFill>
              </a:ext>
            </a:extLst>
          </p:spPr>
          <p:txBody>
            <a:bodyPr tIns="10800"/>
            <a:lstStyle>
              <a:lvl1pPr eaLnBrk="0" hangingPunct="0">
                <a:defRPr sz="1600" b="1">
                  <a:solidFill>
                    <a:schemeClr val="tx1"/>
                  </a:solidFill>
                  <a:latin typeface="Tahoma" panose="020B0604030504040204" pitchFamily="34" charset="0"/>
                  <a:ea typeface="宋体" panose="02010600030101010101" pitchFamily="2" charset="-122"/>
                </a:defRPr>
              </a:lvl1pPr>
              <a:lvl2pPr marL="742950" indent="-285750" eaLnBrk="0" hangingPunct="0">
                <a:defRPr sz="1600" b="1">
                  <a:solidFill>
                    <a:schemeClr val="tx1"/>
                  </a:solidFill>
                  <a:latin typeface="Tahoma" panose="020B0604030504040204" pitchFamily="34" charset="0"/>
                  <a:ea typeface="宋体" panose="02010600030101010101" pitchFamily="2" charset="-122"/>
                </a:defRPr>
              </a:lvl2pPr>
              <a:lvl3pPr marL="1143000" indent="-228600" eaLnBrk="0" hangingPunct="0">
                <a:defRPr sz="1600" b="1">
                  <a:solidFill>
                    <a:schemeClr val="tx1"/>
                  </a:solidFill>
                  <a:latin typeface="Tahoma" panose="020B0604030504040204" pitchFamily="34" charset="0"/>
                  <a:ea typeface="宋体" panose="02010600030101010101" pitchFamily="2" charset="-122"/>
                </a:defRPr>
              </a:lvl3pPr>
              <a:lvl4pPr marL="1600200" indent="-228600" eaLnBrk="0" hangingPunct="0">
                <a:defRPr sz="1600" b="1">
                  <a:solidFill>
                    <a:schemeClr val="tx1"/>
                  </a:solidFill>
                  <a:latin typeface="Tahoma" panose="020B0604030504040204" pitchFamily="34" charset="0"/>
                  <a:ea typeface="宋体" panose="02010600030101010101" pitchFamily="2" charset="-122"/>
                </a:defRPr>
              </a:lvl4pPr>
              <a:lvl5pPr marL="2057400" indent="-228600" eaLnBrk="0" hangingPunct="0">
                <a:defRPr sz="16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sp>
          <p:nvSpPr>
            <p:cNvPr id="90" name="Rectangle 32"/>
            <p:cNvSpPr>
              <a:spLocks noChangeArrowheads="1"/>
            </p:cNvSpPr>
            <p:nvPr/>
          </p:nvSpPr>
          <p:spPr bwMode="auto">
            <a:xfrm>
              <a:off x="473" y="2570"/>
              <a:ext cx="641" cy="322"/>
            </a:xfrm>
            <a:prstGeom prst="rect">
              <a:avLst/>
            </a:prstGeom>
            <a:noFill/>
            <a:ln w="28575">
              <a:solidFill>
                <a:srgbClr val="000000"/>
              </a:solidFill>
              <a:miter lim="800000"/>
              <a:headEnd/>
              <a:tailEnd/>
            </a:ln>
            <a:extLst>
              <a:ext uri="{909E8E84-426E-40DD-AFC4-6F175D3DCCD1}">
                <a14:hiddenFill xmlns:a14="http://schemas.microsoft.com/office/drawing/2010/main">
                  <a:solidFill>
                    <a:schemeClr val="hlink"/>
                  </a:solidFill>
                </a14:hiddenFill>
              </a:ext>
            </a:extLst>
          </p:spPr>
          <p:txBody>
            <a:bodyPr tIns="0"/>
            <a:lstStyle>
              <a:lvl1pPr eaLnBrk="0" hangingPunct="0">
                <a:defRPr sz="1600" b="1">
                  <a:solidFill>
                    <a:schemeClr val="tx1"/>
                  </a:solidFill>
                  <a:latin typeface="Tahoma" panose="020B0604030504040204" pitchFamily="34" charset="0"/>
                  <a:ea typeface="宋体" panose="02010600030101010101" pitchFamily="2" charset="-122"/>
                </a:defRPr>
              </a:lvl1pPr>
              <a:lvl2pPr marL="742950" indent="-285750" eaLnBrk="0" hangingPunct="0">
                <a:defRPr sz="1600" b="1">
                  <a:solidFill>
                    <a:schemeClr val="tx1"/>
                  </a:solidFill>
                  <a:latin typeface="Tahoma" panose="020B0604030504040204" pitchFamily="34" charset="0"/>
                  <a:ea typeface="宋体" panose="02010600030101010101" pitchFamily="2" charset="-122"/>
                </a:defRPr>
              </a:lvl2pPr>
              <a:lvl3pPr marL="1143000" indent="-228600" eaLnBrk="0" hangingPunct="0">
                <a:defRPr sz="1600" b="1">
                  <a:solidFill>
                    <a:schemeClr val="tx1"/>
                  </a:solidFill>
                  <a:latin typeface="Tahoma" panose="020B0604030504040204" pitchFamily="34" charset="0"/>
                  <a:ea typeface="宋体" panose="02010600030101010101" pitchFamily="2" charset="-122"/>
                </a:defRPr>
              </a:lvl3pPr>
              <a:lvl4pPr marL="1600200" indent="-228600" eaLnBrk="0" hangingPunct="0">
                <a:defRPr sz="1600" b="1">
                  <a:solidFill>
                    <a:schemeClr val="tx1"/>
                  </a:solidFill>
                  <a:latin typeface="Tahoma" panose="020B0604030504040204" pitchFamily="34" charset="0"/>
                  <a:ea typeface="宋体" panose="02010600030101010101" pitchFamily="2" charset="-122"/>
                </a:defRPr>
              </a:lvl4pPr>
              <a:lvl5pPr marL="2057400" indent="-228600" eaLnBrk="0" hangingPunct="0">
                <a:defRPr sz="16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9pPr>
            </a:lstStyle>
            <a:p>
              <a:pPr algn="just"/>
              <a:r>
                <a:rPr lang="en-US" altLang="zh-CN" sz="2800">
                  <a:latin typeface="Times New Roman" panose="02020603050405020304" pitchFamily="18" charset="0"/>
                </a:rPr>
                <a:t>  V</a:t>
              </a:r>
              <a:r>
                <a:rPr lang="en-US" altLang="zh-CN" sz="2800" baseline="-25000">
                  <a:latin typeface="Times New Roman" panose="02020603050405020304" pitchFamily="18" charset="0"/>
                </a:rPr>
                <a:t>4</a:t>
              </a:r>
              <a:endParaRPr lang="en-US" altLang="zh-CN" sz="2800">
                <a:latin typeface="Times New Roman" panose="02020603050405020304" pitchFamily="18" charset="0"/>
              </a:endParaRPr>
            </a:p>
          </p:txBody>
        </p:sp>
        <p:sp>
          <p:nvSpPr>
            <p:cNvPr id="91" name="Rectangle 33"/>
            <p:cNvSpPr>
              <a:spLocks noChangeArrowheads="1"/>
            </p:cNvSpPr>
            <p:nvPr/>
          </p:nvSpPr>
          <p:spPr bwMode="auto">
            <a:xfrm>
              <a:off x="1114" y="2570"/>
              <a:ext cx="741" cy="322"/>
            </a:xfrm>
            <a:prstGeom prst="rect">
              <a:avLst/>
            </a:prstGeom>
            <a:noFill/>
            <a:ln w="28575">
              <a:solidFill>
                <a:srgbClr val="000000"/>
              </a:solidFill>
              <a:miter lim="800000"/>
              <a:headEnd/>
              <a:tailEnd/>
            </a:ln>
            <a:extLst>
              <a:ext uri="{909E8E84-426E-40DD-AFC4-6F175D3DCCD1}">
                <a14:hiddenFill xmlns:a14="http://schemas.microsoft.com/office/drawing/2010/main">
                  <a:solidFill>
                    <a:schemeClr val="hlink"/>
                  </a:solidFill>
                </a14:hiddenFill>
              </a:ext>
            </a:extLst>
          </p:spPr>
          <p:txBody>
            <a:bodyPr tIns="10800"/>
            <a:lstStyle>
              <a:lvl1pPr eaLnBrk="0" hangingPunct="0">
                <a:defRPr sz="1600" b="1">
                  <a:solidFill>
                    <a:schemeClr val="tx1"/>
                  </a:solidFill>
                  <a:latin typeface="Tahoma" panose="020B0604030504040204" pitchFamily="34" charset="0"/>
                  <a:ea typeface="宋体" panose="02010600030101010101" pitchFamily="2" charset="-122"/>
                </a:defRPr>
              </a:lvl1pPr>
              <a:lvl2pPr marL="742950" indent="-285750" eaLnBrk="0" hangingPunct="0">
                <a:defRPr sz="1600" b="1">
                  <a:solidFill>
                    <a:schemeClr val="tx1"/>
                  </a:solidFill>
                  <a:latin typeface="Tahoma" panose="020B0604030504040204" pitchFamily="34" charset="0"/>
                  <a:ea typeface="宋体" panose="02010600030101010101" pitchFamily="2" charset="-122"/>
                </a:defRPr>
              </a:lvl2pPr>
              <a:lvl3pPr marL="1143000" indent="-228600" eaLnBrk="0" hangingPunct="0">
                <a:defRPr sz="1600" b="1">
                  <a:solidFill>
                    <a:schemeClr val="tx1"/>
                  </a:solidFill>
                  <a:latin typeface="Tahoma" panose="020B0604030504040204" pitchFamily="34" charset="0"/>
                  <a:ea typeface="宋体" panose="02010600030101010101" pitchFamily="2" charset="-122"/>
                </a:defRPr>
              </a:lvl3pPr>
              <a:lvl4pPr marL="1600200" indent="-228600" eaLnBrk="0" hangingPunct="0">
                <a:defRPr sz="1600" b="1">
                  <a:solidFill>
                    <a:schemeClr val="tx1"/>
                  </a:solidFill>
                  <a:latin typeface="Tahoma" panose="020B0604030504040204" pitchFamily="34" charset="0"/>
                  <a:ea typeface="宋体" panose="02010600030101010101" pitchFamily="2" charset="-122"/>
                </a:defRPr>
              </a:lvl4pPr>
              <a:lvl5pPr marL="2057400" indent="-228600" eaLnBrk="0" hangingPunct="0">
                <a:defRPr sz="16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sp>
          <p:nvSpPr>
            <p:cNvPr id="92" name="Text Box 34"/>
            <p:cNvSpPr txBox="1">
              <a:spLocks noChangeArrowheads="1"/>
            </p:cNvSpPr>
            <p:nvPr/>
          </p:nvSpPr>
          <p:spPr bwMode="auto">
            <a:xfrm>
              <a:off x="217" y="1591"/>
              <a:ext cx="185" cy="1280"/>
            </a:xfrm>
            <a:prstGeom prst="rect">
              <a:avLst/>
            </a:prstGeom>
            <a:noFill/>
            <a:ln>
              <a:noFill/>
            </a:ln>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28575">
                  <a:solidFill>
                    <a:srgbClr val="FFFFFF"/>
                  </a:solidFill>
                  <a:miter lim="800000"/>
                  <a:headEnd/>
                  <a:tailEnd/>
                </a14:hiddenLine>
              </a:ext>
            </a:extLst>
          </p:spPr>
          <p:txBody>
            <a:bodyPr lIns="0" tIns="0" rIns="0" bIns="0"/>
            <a:lstStyle>
              <a:lvl1pPr eaLnBrk="0" hangingPunct="0">
                <a:defRPr sz="1600" b="1">
                  <a:solidFill>
                    <a:schemeClr val="tx1"/>
                  </a:solidFill>
                  <a:latin typeface="Tahoma" panose="020B0604030504040204" pitchFamily="34" charset="0"/>
                  <a:ea typeface="宋体" panose="02010600030101010101" pitchFamily="2" charset="-122"/>
                </a:defRPr>
              </a:lvl1pPr>
              <a:lvl2pPr marL="742950" indent="-285750" eaLnBrk="0" hangingPunct="0">
                <a:defRPr sz="1600" b="1">
                  <a:solidFill>
                    <a:schemeClr val="tx1"/>
                  </a:solidFill>
                  <a:latin typeface="Tahoma" panose="020B0604030504040204" pitchFamily="34" charset="0"/>
                  <a:ea typeface="宋体" panose="02010600030101010101" pitchFamily="2" charset="-122"/>
                </a:defRPr>
              </a:lvl2pPr>
              <a:lvl3pPr marL="1143000" indent="-228600" eaLnBrk="0" hangingPunct="0">
                <a:defRPr sz="1600" b="1">
                  <a:solidFill>
                    <a:schemeClr val="tx1"/>
                  </a:solidFill>
                  <a:latin typeface="Tahoma" panose="020B0604030504040204" pitchFamily="34" charset="0"/>
                  <a:ea typeface="宋体" panose="02010600030101010101" pitchFamily="2" charset="-122"/>
                </a:defRPr>
              </a:lvl3pPr>
              <a:lvl4pPr marL="1600200" indent="-228600" eaLnBrk="0" hangingPunct="0">
                <a:defRPr sz="1600" b="1">
                  <a:solidFill>
                    <a:schemeClr val="tx1"/>
                  </a:solidFill>
                  <a:latin typeface="Tahoma" panose="020B0604030504040204" pitchFamily="34" charset="0"/>
                  <a:ea typeface="宋体" panose="02010600030101010101" pitchFamily="2" charset="-122"/>
                </a:defRPr>
              </a:lvl4pPr>
              <a:lvl5pPr marL="2057400" indent="-228600" eaLnBrk="0" hangingPunct="0">
                <a:defRPr sz="16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9pPr>
            </a:lstStyle>
            <a:p>
              <a:pPr algn="just">
                <a:lnSpc>
                  <a:spcPct val="135000"/>
                </a:lnSpc>
              </a:pPr>
              <a:r>
                <a:rPr lang="zh-CN" altLang="en-US" sz="2400">
                  <a:latin typeface="Times New Roman" panose="02020603050405020304" pitchFamily="18" charset="0"/>
                </a:rPr>
                <a:t>0</a:t>
              </a:r>
            </a:p>
            <a:p>
              <a:pPr algn="just">
                <a:lnSpc>
                  <a:spcPct val="135000"/>
                </a:lnSpc>
              </a:pPr>
              <a:r>
                <a:rPr lang="en-US" altLang="zh-CN" sz="2400">
                  <a:latin typeface="Times New Roman" panose="02020603050405020304" pitchFamily="18" charset="0"/>
                </a:rPr>
                <a:t>1</a:t>
              </a:r>
            </a:p>
            <a:p>
              <a:pPr algn="just">
                <a:lnSpc>
                  <a:spcPct val="135000"/>
                </a:lnSpc>
              </a:pPr>
              <a:r>
                <a:rPr lang="en-US" altLang="zh-CN" sz="2400">
                  <a:latin typeface="Times New Roman" panose="02020603050405020304" pitchFamily="18" charset="0"/>
                </a:rPr>
                <a:t>2</a:t>
              </a:r>
            </a:p>
            <a:p>
              <a:pPr algn="just">
                <a:lnSpc>
                  <a:spcPct val="135000"/>
                </a:lnSpc>
              </a:pPr>
              <a:r>
                <a:rPr lang="en-US" altLang="zh-CN" sz="2400">
                  <a:latin typeface="Times New Roman" panose="02020603050405020304" pitchFamily="18" charset="0"/>
                </a:rPr>
                <a:t>3</a:t>
              </a:r>
            </a:p>
          </p:txBody>
        </p:sp>
        <p:sp>
          <p:nvSpPr>
            <p:cNvPr id="93" name="Line 35"/>
            <p:cNvSpPr>
              <a:spLocks noChangeShapeType="1"/>
            </p:cNvSpPr>
            <p:nvPr/>
          </p:nvSpPr>
          <p:spPr bwMode="auto">
            <a:xfrm>
              <a:off x="1570" y="1782"/>
              <a:ext cx="632" cy="0"/>
            </a:xfrm>
            <a:prstGeom prst="line">
              <a:avLst/>
            </a:prstGeom>
            <a:noFill/>
            <a:ln w="28575">
              <a:solidFill>
                <a:srgbClr val="000000"/>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94" name="Line 36"/>
            <p:cNvSpPr>
              <a:spLocks noChangeShapeType="1"/>
            </p:cNvSpPr>
            <p:nvPr/>
          </p:nvSpPr>
          <p:spPr bwMode="auto">
            <a:xfrm>
              <a:off x="1543" y="2434"/>
              <a:ext cx="667" cy="0"/>
            </a:xfrm>
            <a:prstGeom prst="line">
              <a:avLst/>
            </a:prstGeom>
            <a:noFill/>
            <a:ln w="28575">
              <a:solidFill>
                <a:srgbClr val="000000"/>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95" name="Line 37"/>
            <p:cNvSpPr>
              <a:spLocks noChangeShapeType="1"/>
            </p:cNvSpPr>
            <p:nvPr/>
          </p:nvSpPr>
          <p:spPr bwMode="auto">
            <a:xfrm>
              <a:off x="1570" y="2768"/>
              <a:ext cx="632" cy="0"/>
            </a:xfrm>
            <a:prstGeom prst="line">
              <a:avLst/>
            </a:prstGeom>
            <a:noFill/>
            <a:ln w="28575">
              <a:solidFill>
                <a:srgbClr val="000000"/>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96" name="Text Box 38"/>
            <p:cNvSpPr txBox="1">
              <a:spLocks noChangeArrowheads="1"/>
            </p:cNvSpPr>
            <p:nvPr/>
          </p:nvSpPr>
          <p:spPr bwMode="auto">
            <a:xfrm>
              <a:off x="462" y="1335"/>
              <a:ext cx="1543" cy="278"/>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algn="just" eaLnBrk="0" hangingPunct="0">
                <a:defRPr/>
              </a:pPr>
              <a:r>
                <a:rPr lang="en-US" altLang="zh-CN" sz="2400" dirty="0">
                  <a:effectLst>
                    <a:outerShdw blurRad="38100" dist="38100" dir="2700000" algn="tl">
                      <a:srgbClr val="C0C0C0"/>
                    </a:outerShdw>
                  </a:effectLst>
                  <a:latin typeface="Times New Roman" pitchFamily="18" charset="0"/>
                </a:rPr>
                <a:t>data      </a:t>
              </a:r>
              <a:r>
                <a:rPr lang="en-US" altLang="zh-CN" sz="2400" dirty="0" err="1">
                  <a:effectLst>
                    <a:outerShdw blurRad="38100" dist="38100" dir="2700000" algn="tl">
                      <a:srgbClr val="C0C0C0"/>
                    </a:outerShdw>
                  </a:effectLst>
                  <a:latin typeface="Times New Roman" pitchFamily="18" charset="0"/>
                </a:rPr>
                <a:t>firstedge</a:t>
              </a:r>
              <a:endParaRPr lang="en-US" altLang="zh-CN" sz="2400" dirty="0">
                <a:effectLst>
                  <a:outerShdw blurRad="38100" dist="38100" dir="2700000" algn="tl">
                    <a:srgbClr val="C0C0C0"/>
                  </a:outerShdw>
                </a:effectLst>
                <a:latin typeface="Times New Roman" pitchFamily="18" charset="0"/>
              </a:endParaRPr>
            </a:p>
          </p:txBody>
        </p:sp>
        <p:sp>
          <p:nvSpPr>
            <p:cNvPr id="97" name="Line 39"/>
            <p:cNvSpPr>
              <a:spLocks noChangeShapeType="1"/>
            </p:cNvSpPr>
            <p:nvPr/>
          </p:nvSpPr>
          <p:spPr bwMode="auto">
            <a:xfrm flipV="1">
              <a:off x="2868" y="1803"/>
              <a:ext cx="296" cy="0"/>
            </a:xfrm>
            <a:prstGeom prst="line">
              <a:avLst/>
            </a:prstGeom>
            <a:noFill/>
            <a:ln w="28575">
              <a:solidFill>
                <a:srgbClr val="000000"/>
              </a:solidFill>
              <a:round/>
              <a:headEnd/>
              <a:tailEnd type="stealth" w="lg" len="lg"/>
            </a:ln>
            <a:extLst>
              <a:ext uri="{909E8E84-426E-40DD-AFC4-6F175D3DCCD1}">
                <a14:hiddenFill xmlns:a14="http://schemas.microsoft.com/office/drawing/2010/main">
                  <a:noFill/>
                </a14:hiddenFill>
              </a:ext>
            </a:extLst>
          </p:spPr>
          <p:txBody>
            <a:bodyPr lIns="144000" tIns="54000"/>
            <a:lstStyle/>
            <a:p>
              <a:endParaRPr lang="zh-CN" altLang="en-US"/>
            </a:p>
          </p:txBody>
        </p:sp>
        <p:sp>
          <p:nvSpPr>
            <p:cNvPr id="98" name="Rectangle 40"/>
            <p:cNvSpPr>
              <a:spLocks noChangeArrowheads="1"/>
            </p:cNvSpPr>
            <p:nvPr/>
          </p:nvSpPr>
          <p:spPr bwMode="auto">
            <a:xfrm>
              <a:off x="1392" y="1974"/>
              <a:ext cx="362" cy="223"/>
            </a:xfrm>
            <a:prstGeom prst="rect">
              <a:avLst/>
            </a:prstGeom>
            <a:noFill/>
            <a:ln>
              <a:noFill/>
            </a:ln>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28575">
                  <a:solidFill>
                    <a:srgbClr val="000000"/>
                  </a:solidFill>
                  <a:miter lim="800000"/>
                  <a:headEnd/>
                  <a:tailEnd/>
                </a14:hiddenLine>
              </a:ext>
            </a:extLst>
          </p:spPr>
          <p:txBody>
            <a:bodyPr lIns="144000" tIns="54000" bIns="10800"/>
            <a:lstStyle>
              <a:lvl1pPr eaLnBrk="0" hangingPunct="0">
                <a:defRPr sz="1600" b="1">
                  <a:solidFill>
                    <a:schemeClr val="tx1"/>
                  </a:solidFill>
                  <a:latin typeface="Tahoma" panose="020B0604030504040204" pitchFamily="34" charset="0"/>
                  <a:ea typeface="宋体" panose="02010600030101010101" pitchFamily="2" charset="-122"/>
                </a:defRPr>
              </a:lvl1pPr>
              <a:lvl2pPr marL="742950" indent="-285750" eaLnBrk="0" hangingPunct="0">
                <a:defRPr sz="1600" b="1">
                  <a:solidFill>
                    <a:schemeClr val="tx1"/>
                  </a:solidFill>
                  <a:latin typeface="Tahoma" panose="020B0604030504040204" pitchFamily="34" charset="0"/>
                  <a:ea typeface="宋体" panose="02010600030101010101" pitchFamily="2" charset="-122"/>
                </a:defRPr>
              </a:lvl2pPr>
              <a:lvl3pPr marL="1143000" indent="-228600" eaLnBrk="0" hangingPunct="0">
                <a:defRPr sz="1600" b="1">
                  <a:solidFill>
                    <a:schemeClr val="tx1"/>
                  </a:solidFill>
                  <a:latin typeface="Tahoma" panose="020B0604030504040204" pitchFamily="34" charset="0"/>
                  <a:ea typeface="宋体" panose="02010600030101010101" pitchFamily="2" charset="-122"/>
                </a:defRPr>
              </a:lvl3pPr>
              <a:lvl4pPr marL="1600200" indent="-228600" eaLnBrk="0" hangingPunct="0">
                <a:defRPr sz="1600" b="1">
                  <a:solidFill>
                    <a:schemeClr val="tx1"/>
                  </a:solidFill>
                  <a:latin typeface="Tahoma" panose="020B0604030504040204" pitchFamily="34" charset="0"/>
                  <a:ea typeface="宋体" panose="02010600030101010101" pitchFamily="2" charset="-122"/>
                </a:defRPr>
              </a:lvl4pPr>
              <a:lvl5pPr marL="2057400" indent="-228600" eaLnBrk="0" hangingPunct="0">
                <a:defRPr sz="16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9pPr>
            </a:lstStyle>
            <a:p>
              <a:pPr algn="just"/>
              <a:r>
                <a:rPr lang="zh-CN" altLang="en-US" sz="2000">
                  <a:latin typeface="Times New Roman" panose="02020603050405020304" pitchFamily="18" charset="0"/>
                </a:rPr>
                <a:t>∧</a:t>
              </a:r>
              <a:endParaRPr lang="zh-CN" altLang="en-US" sz="2400">
                <a:latin typeface="Times New Roman" panose="02020603050405020304" pitchFamily="18" charset="0"/>
              </a:endParaRPr>
            </a:p>
          </p:txBody>
        </p:sp>
        <p:sp>
          <p:nvSpPr>
            <p:cNvPr id="99" name="Line 41"/>
            <p:cNvSpPr>
              <a:spLocks noChangeShapeType="1"/>
            </p:cNvSpPr>
            <p:nvPr/>
          </p:nvSpPr>
          <p:spPr bwMode="auto">
            <a:xfrm>
              <a:off x="2486" y="1633"/>
              <a:ext cx="0" cy="279"/>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18900000" algn="ctr" rotWithShape="0">
                      <a:schemeClr val="bg2"/>
                    </a:outerShdw>
                  </a:effectLst>
                </a14:hiddenEffects>
              </a:ext>
            </a:extLst>
          </p:spPr>
          <p:txBody>
            <a:bodyPr wrap="none" anchor="ctr">
              <a:spAutoFit/>
            </a:bodyPr>
            <a:lstStyle/>
            <a:p>
              <a:endParaRPr lang="zh-CN" altLang="en-US"/>
            </a:p>
          </p:txBody>
        </p:sp>
        <p:sp>
          <p:nvSpPr>
            <p:cNvPr id="100" name="Line 42"/>
            <p:cNvSpPr>
              <a:spLocks noChangeShapeType="1"/>
            </p:cNvSpPr>
            <p:nvPr/>
          </p:nvSpPr>
          <p:spPr bwMode="auto">
            <a:xfrm>
              <a:off x="2727" y="1623"/>
              <a:ext cx="0" cy="279"/>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18900000" algn="ctr" rotWithShape="0">
                      <a:schemeClr val="bg2"/>
                    </a:outerShdw>
                  </a:effectLst>
                </a14:hiddenEffects>
              </a:ext>
            </a:extLst>
          </p:spPr>
          <p:txBody>
            <a:bodyPr wrap="none" anchor="ctr">
              <a:spAutoFit/>
            </a:bodyPr>
            <a:lstStyle/>
            <a:p>
              <a:endParaRPr lang="zh-CN" altLang="en-US"/>
            </a:p>
          </p:txBody>
        </p:sp>
        <p:sp>
          <p:nvSpPr>
            <p:cNvPr id="101" name="Rectangle 43"/>
            <p:cNvSpPr>
              <a:spLocks noChangeArrowheads="1"/>
            </p:cNvSpPr>
            <p:nvPr/>
          </p:nvSpPr>
          <p:spPr bwMode="auto">
            <a:xfrm>
              <a:off x="3184" y="1639"/>
              <a:ext cx="725" cy="283"/>
            </a:xfrm>
            <a:prstGeom prst="rect">
              <a:avLst/>
            </a:prstGeom>
            <a:noFill/>
            <a:ln w="28575">
              <a:solidFill>
                <a:srgbClr val="000000"/>
              </a:solidFill>
              <a:miter lim="800000"/>
              <a:headEnd/>
              <a:tailEnd/>
            </a:ln>
            <a:extLst>
              <a:ext uri="{909E8E84-426E-40DD-AFC4-6F175D3DCCD1}">
                <a14:hiddenFill xmlns:a14="http://schemas.microsoft.com/office/drawing/2010/main">
                  <a:solidFill>
                    <a:schemeClr val="hlink"/>
                  </a:solidFill>
                </a14:hiddenFill>
              </a:ext>
            </a:extLst>
          </p:spPr>
          <p:txBody>
            <a:bodyPr lIns="108000" tIns="54000" bIns="10800"/>
            <a:lstStyle>
              <a:lvl1pPr eaLnBrk="0" hangingPunct="0">
                <a:defRPr sz="1600" b="1">
                  <a:solidFill>
                    <a:schemeClr val="tx1"/>
                  </a:solidFill>
                  <a:latin typeface="Tahoma" panose="020B0604030504040204" pitchFamily="34" charset="0"/>
                  <a:ea typeface="宋体" panose="02010600030101010101" pitchFamily="2" charset="-122"/>
                </a:defRPr>
              </a:lvl1pPr>
              <a:lvl2pPr marL="742950" indent="-285750" eaLnBrk="0" hangingPunct="0">
                <a:defRPr sz="1600" b="1">
                  <a:solidFill>
                    <a:schemeClr val="tx1"/>
                  </a:solidFill>
                  <a:latin typeface="Tahoma" panose="020B0604030504040204" pitchFamily="34" charset="0"/>
                  <a:ea typeface="宋体" panose="02010600030101010101" pitchFamily="2" charset="-122"/>
                </a:defRPr>
              </a:lvl2pPr>
              <a:lvl3pPr marL="1143000" indent="-228600" eaLnBrk="0" hangingPunct="0">
                <a:defRPr sz="1600" b="1">
                  <a:solidFill>
                    <a:schemeClr val="tx1"/>
                  </a:solidFill>
                  <a:latin typeface="Tahoma" panose="020B0604030504040204" pitchFamily="34" charset="0"/>
                  <a:ea typeface="宋体" panose="02010600030101010101" pitchFamily="2" charset="-122"/>
                </a:defRPr>
              </a:lvl3pPr>
              <a:lvl4pPr marL="1600200" indent="-228600" eaLnBrk="0" hangingPunct="0">
                <a:defRPr sz="1600" b="1">
                  <a:solidFill>
                    <a:schemeClr val="tx1"/>
                  </a:solidFill>
                  <a:latin typeface="Tahoma" panose="020B0604030504040204" pitchFamily="34" charset="0"/>
                  <a:ea typeface="宋体" panose="02010600030101010101" pitchFamily="2" charset="-122"/>
                </a:defRPr>
              </a:lvl4pPr>
              <a:lvl5pPr marL="2057400" indent="-228600" eaLnBrk="0" hangingPunct="0">
                <a:defRPr sz="16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9pPr>
            </a:lstStyle>
            <a:p>
              <a:pPr algn="just"/>
              <a:r>
                <a:rPr lang="en-US" altLang="zh-CN" sz="2400">
                  <a:solidFill>
                    <a:schemeClr val="hlink"/>
                  </a:solidFill>
                  <a:latin typeface="Times New Roman" panose="02020603050405020304" pitchFamily="18" charset="0"/>
                </a:rPr>
                <a:t>5</a:t>
              </a:r>
              <a:r>
                <a:rPr lang="en-US" altLang="zh-CN" sz="2400">
                  <a:latin typeface="Times New Roman" panose="02020603050405020304" pitchFamily="18" charset="0"/>
                </a:rPr>
                <a:t>   2</a:t>
              </a:r>
            </a:p>
          </p:txBody>
        </p:sp>
        <p:sp>
          <p:nvSpPr>
            <p:cNvPr id="102" name="Line 44"/>
            <p:cNvSpPr>
              <a:spLocks noChangeShapeType="1"/>
            </p:cNvSpPr>
            <p:nvPr/>
          </p:nvSpPr>
          <p:spPr bwMode="auto">
            <a:xfrm>
              <a:off x="3437" y="1642"/>
              <a:ext cx="0" cy="279"/>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18900000" algn="ctr" rotWithShape="0">
                      <a:schemeClr val="bg2"/>
                    </a:outerShdw>
                  </a:effectLst>
                </a14:hiddenEffects>
              </a:ext>
            </a:extLst>
          </p:spPr>
          <p:txBody>
            <a:bodyPr wrap="none" anchor="ctr">
              <a:spAutoFit/>
            </a:bodyPr>
            <a:lstStyle/>
            <a:p>
              <a:endParaRPr lang="zh-CN" altLang="en-US"/>
            </a:p>
          </p:txBody>
        </p:sp>
        <p:sp>
          <p:nvSpPr>
            <p:cNvPr id="103" name="Line 45"/>
            <p:cNvSpPr>
              <a:spLocks noChangeShapeType="1"/>
            </p:cNvSpPr>
            <p:nvPr/>
          </p:nvSpPr>
          <p:spPr bwMode="auto">
            <a:xfrm>
              <a:off x="3678" y="1632"/>
              <a:ext cx="0" cy="279"/>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18900000" algn="ctr" rotWithShape="0">
                      <a:schemeClr val="bg2"/>
                    </a:outerShdw>
                  </a:effectLst>
                </a14:hiddenEffects>
              </a:ext>
            </a:extLst>
          </p:spPr>
          <p:txBody>
            <a:bodyPr wrap="none" anchor="ctr">
              <a:spAutoFit/>
            </a:bodyPr>
            <a:lstStyle/>
            <a:p>
              <a:endParaRPr lang="zh-CN" altLang="en-US"/>
            </a:p>
          </p:txBody>
        </p:sp>
        <p:sp>
          <p:nvSpPr>
            <p:cNvPr id="104" name="Rectangle 46"/>
            <p:cNvSpPr>
              <a:spLocks noChangeArrowheads="1"/>
            </p:cNvSpPr>
            <p:nvPr/>
          </p:nvSpPr>
          <p:spPr bwMode="auto">
            <a:xfrm>
              <a:off x="3706" y="1688"/>
              <a:ext cx="208" cy="242"/>
            </a:xfrm>
            <a:prstGeom prst="rect">
              <a:avLst/>
            </a:prstGeom>
            <a:noFill/>
            <a:ln>
              <a:noFill/>
            </a:ln>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eaLnBrk="0" hangingPunct="0">
                <a:defRPr sz="1600" b="1">
                  <a:solidFill>
                    <a:schemeClr val="tx1"/>
                  </a:solidFill>
                  <a:latin typeface="Tahoma" panose="020B0604030504040204" pitchFamily="34" charset="0"/>
                  <a:ea typeface="宋体" panose="02010600030101010101" pitchFamily="2" charset="-122"/>
                </a:defRPr>
              </a:lvl1pPr>
              <a:lvl2pPr marL="742950" indent="-285750" eaLnBrk="0" hangingPunct="0">
                <a:defRPr sz="1600" b="1">
                  <a:solidFill>
                    <a:schemeClr val="tx1"/>
                  </a:solidFill>
                  <a:latin typeface="Tahoma" panose="020B0604030504040204" pitchFamily="34" charset="0"/>
                  <a:ea typeface="宋体" panose="02010600030101010101" pitchFamily="2" charset="-122"/>
                </a:defRPr>
              </a:lvl2pPr>
              <a:lvl3pPr marL="1143000" indent="-228600" eaLnBrk="0" hangingPunct="0">
                <a:defRPr sz="1600" b="1">
                  <a:solidFill>
                    <a:schemeClr val="tx1"/>
                  </a:solidFill>
                  <a:latin typeface="Tahoma" panose="020B0604030504040204" pitchFamily="34" charset="0"/>
                  <a:ea typeface="宋体" panose="02010600030101010101" pitchFamily="2" charset="-122"/>
                </a:defRPr>
              </a:lvl3pPr>
              <a:lvl4pPr marL="1600200" indent="-228600" eaLnBrk="0" hangingPunct="0">
                <a:defRPr sz="1600" b="1">
                  <a:solidFill>
                    <a:schemeClr val="tx1"/>
                  </a:solidFill>
                  <a:latin typeface="Tahoma" panose="020B0604030504040204" pitchFamily="34" charset="0"/>
                  <a:ea typeface="宋体" panose="02010600030101010101" pitchFamily="2" charset="-122"/>
                </a:defRPr>
              </a:lvl4pPr>
              <a:lvl5pPr marL="2057400" indent="-228600" eaLnBrk="0" hangingPunct="0">
                <a:defRPr sz="16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9pPr>
            </a:lstStyle>
            <a:p>
              <a:pPr algn="just"/>
              <a:r>
                <a:rPr lang="zh-CN" altLang="en-US" sz="2000">
                  <a:latin typeface="Times New Roman" panose="02020603050405020304" pitchFamily="18" charset="0"/>
                </a:rPr>
                <a:t>∧</a:t>
              </a:r>
              <a:endParaRPr lang="zh-CN" altLang="en-US" sz="2400">
                <a:latin typeface="Times New Roman" panose="02020603050405020304" pitchFamily="18" charset="0"/>
              </a:endParaRPr>
            </a:p>
          </p:txBody>
        </p:sp>
        <p:sp>
          <p:nvSpPr>
            <p:cNvPr id="105" name="Rectangle 47"/>
            <p:cNvSpPr>
              <a:spLocks noChangeArrowheads="1"/>
            </p:cNvSpPr>
            <p:nvPr/>
          </p:nvSpPr>
          <p:spPr bwMode="auto">
            <a:xfrm>
              <a:off x="2224" y="2272"/>
              <a:ext cx="725" cy="283"/>
            </a:xfrm>
            <a:prstGeom prst="rect">
              <a:avLst/>
            </a:prstGeom>
            <a:noFill/>
            <a:ln w="28575">
              <a:solidFill>
                <a:srgbClr val="000000"/>
              </a:solidFill>
              <a:miter lim="800000"/>
              <a:headEnd/>
              <a:tailEnd/>
            </a:ln>
            <a:extLst>
              <a:ext uri="{909E8E84-426E-40DD-AFC4-6F175D3DCCD1}">
                <a14:hiddenFill xmlns:a14="http://schemas.microsoft.com/office/drawing/2010/main">
                  <a:solidFill>
                    <a:schemeClr val="hlink"/>
                  </a:solidFill>
                </a14:hiddenFill>
              </a:ext>
            </a:extLst>
          </p:spPr>
          <p:txBody>
            <a:bodyPr lIns="108000" tIns="54000" bIns="10800"/>
            <a:lstStyle>
              <a:lvl1pPr eaLnBrk="0" hangingPunct="0">
                <a:defRPr sz="1600" b="1">
                  <a:solidFill>
                    <a:schemeClr val="tx1"/>
                  </a:solidFill>
                  <a:latin typeface="Tahoma" panose="020B0604030504040204" pitchFamily="34" charset="0"/>
                  <a:ea typeface="宋体" panose="02010600030101010101" pitchFamily="2" charset="-122"/>
                </a:defRPr>
              </a:lvl1pPr>
              <a:lvl2pPr marL="742950" indent="-285750" eaLnBrk="0" hangingPunct="0">
                <a:defRPr sz="1600" b="1">
                  <a:solidFill>
                    <a:schemeClr val="tx1"/>
                  </a:solidFill>
                  <a:latin typeface="Tahoma" panose="020B0604030504040204" pitchFamily="34" charset="0"/>
                  <a:ea typeface="宋体" panose="02010600030101010101" pitchFamily="2" charset="-122"/>
                </a:defRPr>
              </a:lvl2pPr>
              <a:lvl3pPr marL="1143000" indent="-228600" eaLnBrk="0" hangingPunct="0">
                <a:defRPr sz="1600" b="1">
                  <a:solidFill>
                    <a:schemeClr val="tx1"/>
                  </a:solidFill>
                  <a:latin typeface="Tahoma" panose="020B0604030504040204" pitchFamily="34" charset="0"/>
                  <a:ea typeface="宋体" panose="02010600030101010101" pitchFamily="2" charset="-122"/>
                </a:defRPr>
              </a:lvl3pPr>
              <a:lvl4pPr marL="1600200" indent="-228600" eaLnBrk="0" hangingPunct="0">
                <a:defRPr sz="1600" b="1">
                  <a:solidFill>
                    <a:schemeClr val="tx1"/>
                  </a:solidFill>
                  <a:latin typeface="Tahoma" panose="020B0604030504040204" pitchFamily="34" charset="0"/>
                  <a:ea typeface="宋体" panose="02010600030101010101" pitchFamily="2" charset="-122"/>
                </a:defRPr>
              </a:lvl4pPr>
              <a:lvl5pPr marL="2057400" indent="-228600" eaLnBrk="0" hangingPunct="0">
                <a:defRPr sz="16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9pPr>
            </a:lstStyle>
            <a:p>
              <a:pPr algn="just"/>
              <a:r>
                <a:rPr lang="en-US" altLang="zh-CN" sz="2400">
                  <a:solidFill>
                    <a:schemeClr val="hlink"/>
                  </a:solidFill>
                  <a:latin typeface="Times New Roman" panose="02020603050405020304" pitchFamily="18" charset="0"/>
                </a:rPr>
                <a:t>8</a:t>
              </a:r>
              <a:r>
                <a:rPr lang="en-US" altLang="zh-CN" sz="2400">
                  <a:latin typeface="Times New Roman" panose="02020603050405020304" pitchFamily="18" charset="0"/>
                </a:rPr>
                <a:t>   3</a:t>
              </a:r>
            </a:p>
          </p:txBody>
        </p:sp>
        <p:sp>
          <p:nvSpPr>
            <p:cNvPr id="106" name="Line 48"/>
            <p:cNvSpPr>
              <a:spLocks noChangeShapeType="1"/>
            </p:cNvSpPr>
            <p:nvPr/>
          </p:nvSpPr>
          <p:spPr bwMode="auto">
            <a:xfrm>
              <a:off x="2477" y="2275"/>
              <a:ext cx="0" cy="279"/>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18900000" algn="ctr" rotWithShape="0">
                      <a:schemeClr val="bg2"/>
                    </a:outerShdw>
                  </a:effectLst>
                </a14:hiddenEffects>
              </a:ext>
            </a:extLst>
          </p:spPr>
          <p:txBody>
            <a:bodyPr wrap="none" anchor="ctr">
              <a:spAutoFit/>
            </a:bodyPr>
            <a:lstStyle/>
            <a:p>
              <a:endParaRPr lang="zh-CN" altLang="en-US"/>
            </a:p>
          </p:txBody>
        </p:sp>
        <p:sp>
          <p:nvSpPr>
            <p:cNvPr id="107" name="Line 49"/>
            <p:cNvSpPr>
              <a:spLocks noChangeShapeType="1"/>
            </p:cNvSpPr>
            <p:nvPr/>
          </p:nvSpPr>
          <p:spPr bwMode="auto">
            <a:xfrm>
              <a:off x="2718" y="2265"/>
              <a:ext cx="0" cy="279"/>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18900000" algn="ctr" rotWithShape="0">
                      <a:schemeClr val="bg2"/>
                    </a:outerShdw>
                  </a:effectLst>
                </a14:hiddenEffects>
              </a:ext>
            </a:extLst>
          </p:spPr>
          <p:txBody>
            <a:bodyPr wrap="none" anchor="ctr">
              <a:spAutoFit/>
            </a:bodyPr>
            <a:lstStyle/>
            <a:p>
              <a:endParaRPr lang="zh-CN" altLang="en-US"/>
            </a:p>
          </p:txBody>
        </p:sp>
        <p:sp>
          <p:nvSpPr>
            <p:cNvPr id="108" name="Rectangle 50"/>
            <p:cNvSpPr>
              <a:spLocks noChangeArrowheads="1"/>
            </p:cNvSpPr>
            <p:nvPr/>
          </p:nvSpPr>
          <p:spPr bwMode="auto">
            <a:xfrm>
              <a:off x="2746" y="2321"/>
              <a:ext cx="208" cy="242"/>
            </a:xfrm>
            <a:prstGeom prst="rect">
              <a:avLst/>
            </a:prstGeom>
            <a:noFill/>
            <a:ln>
              <a:noFill/>
            </a:ln>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eaLnBrk="0" hangingPunct="0">
                <a:defRPr sz="1600" b="1">
                  <a:solidFill>
                    <a:schemeClr val="tx1"/>
                  </a:solidFill>
                  <a:latin typeface="Tahoma" panose="020B0604030504040204" pitchFamily="34" charset="0"/>
                  <a:ea typeface="宋体" panose="02010600030101010101" pitchFamily="2" charset="-122"/>
                </a:defRPr>
              </a:lvl1pPr>
              <a:lvl2pPr marL="742950" indent="-285750" eaLnBrk="0" hangingPunct="0">
                <a:defRPr sz="1600" b="1">
                  <a:solidFill>
                    <a:schemeClr val="tx1"/>
                  </a:solidFill>
                  <a:latin typeface="Tahoma" panose="020B0604030504040204" pitchFamily="34" charset="0"/>
                  <a:ea typeface="宋体" panose="02010600030101010101" pitchFamily="2" charset="-122"/>
                </a:defRPr>
              </a:lvl2pPr>
              <a:lvl3pPr marL="1143000" indent="-228600" eaLnBrk="0" hangingPunct="0">
                <a:defRPr sz="1600" b="1">
                  <a:solidFill>
                    <a:schemeClr val="tx1"/>
                  </a:solidFill>
                  <a:latin typeface="Tahoma" panose="020B0604030504040204" pitchFamily="34" charset="0"/>
                  <a:ea typeface="宋体" panose="02010600030101010101" pitchFamily="2" charset="-122"/>
                </a:defRPr>
              </a:lvl3pPr>
              <a:lvl4pPr marL="1600200" indent="-228600" eaLnBrk="0" hangingPunct="0">
                <a:defRPr sz="1600" b="1">
                  <a:solidFill>
                    <a:schemeClr val="tx1"/>
                  </a:solidFill>
                  <a:latin typeface="Tahoma" panose="020B0604030504040204" pitchFamily="34" charset="0"/>
                  <a:ea typeface="宋体" panose="02010600030101010101" pitchFamily="2" charset="-122"/>
                </a:defRPr>
              </a:lvl4pPr>
              <a:lvl5pPr marL="2057400" indent="-228600" eaLnBrk="0" hangingPunct="0">
                <a:defRPr sz="16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9pPr>
            </a:lstStyle>
            <a:p>
              <a:pPr algn="just"/>
              <a:r>
                <a:rPr lang="zh-CN" altLang="en-US" sz="2000">
                  <a:latin typeface="Times New Roman" panose="02020603050405020304" pitchFamily="18" charset="0"/>
                </a:rPr>
                <a:t>∧</a:t>
              </a:r>
              <a:endParaRPr lang="zh-CN" altLang="en-US" sz="2400">
                <a:latin typeface="Times New Roman" panose="02020603050405020304" pitchFamily="18" charset="0"/>
              </a:endParaRPr>
            </a:p>
          </p:txBody>
        </p:sp>
        <p:sp>
          <p:nvSpPr>
            <p:cNvPr id="109" name="Rectangle 51"/>
            <p:cNvSpPr>
              <a:spLocks noChangeArrowheads="1"/>
            </p:cNvSpPr>
            <p:nvPr/>
          </p:nvSpPr>
          <p:spPr bwMode="auto">
            <a:xfrm>
              <a:off x="2224" y="2627"/>
              <a:ext cx="725" cy="283"/>
            </a:xfrm>
            <a:prstGeom prst="rect">
              <a:avLst/>
            </a:prstGeom>
            <a:noFill/>
            <a:ln w="28575">
              <a:solidFill>
                <a:srgbClr val="000000"/>
              </a:solidFill>
              <a:miter lim="800000"/>
              <a:headEnd/>
              <a:tailEnd/>
            </a:ln>
            <a:extLst>
              <a:ext uri="{909E8E84-426E-40DD-AFC4-6F175D3DCCD1}">
                <a14:hiddenFill xmlns:a14="http://schemas.microsoft.com/office/drawing/2010/main">
                  <a:solidFill>
                    <a:schemeClr val="hlink"/>
                  </a:solidFill>
                </a14:hiddenFill>
              </a:ext>
            </a:extLst>
          </p:spPr>
          <p:txBody>
            <a:bodyPr lIns="108000" tIns="54000" bIns="10800"/>
            <a:lstStyle>
              <a:lvl1pPr eaLnBrk="0" hangingPunct="0">
                <a:defRPr sz="1600" b="1">
                  <a:solidFill>
                    <a:schemeClr val="tx1"/>
                  </a:solidFill>
                  <a:latin typeface="Tahoma" panose="020B0604030504040204" pitchFamily="34" charset="0"/>
                  <a:ea typeface="宋体" panose="02010600030101010101" pitchFamily="2" charset="-122"/>
                </a:defRPr>
              </a:lvl1pPr>
              <a:lvl2pPr marL="742950" indent="-285750" eaLnBrk="0" hangingPunct="0">
                <a:defRPr sz="1600" b="1">
                  <a:solidFill>
                    <a:schemeClr val="tx1"/>
                  </a:solidFill>
                  <a:latin typeface="Tahoma" panose="020B0604030504040204" pitchFamily="34" charset="0"/>
                  <a:ea typeface="宋体" panose="02010600030101010101" pitchFamily="2" charset="-122"/>
                </a:defRPr>
              </a:lvl2pPr>
              <a:lvl3pPr marL="1143000" indent="-228600" eaLnBrk="0" hangingPunct="0">
                <a:defRPr sz="1600" b="1">
                  <a:solidFill>
                    <a:schemeClr val="tx1"/>
                  </a:solidFill>
                  <a:latin typeface="Tahoma" panose="020B0604030504040204" pitchFamily="34" charset="0"/>
                  <a:ea typeface="宋体" panose="02010600030101010101" pitchFamily="2" charset="-122"/>
                </a:defRPr>
              </a:lvl3pPr>
              <a:lvl4pPr marL="1600200" indent="-228600" eaLnBrk="0" hangingPunct="0">
                <a:defRPr sz="1600" b="1">
                  <a:solidFill>
                    <a:schemeClr val="tx1"/>
                  </a:solidFill>
                  <a:latin typeface="Tahoma" panose="020B0604030504040204" pitchFamily="34" charset="0"/>
                  <a:ea typeface="宋体" panose="02010600030101010101" pitchFamily="2" charset="-122"/>
                </a:defRPr>
              </a:lvl4pPr>
              <a:lvl5pPr marL="2057400" indent="-228600" eaLnBrk="0" hangingPunct="0">
                <a:defRPr sz="16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9pPr>
            </a:lstStyle>
            <a:p>
              <a:pPr algn="just"/>
              <a:r>
                <a:rPr lang="en-US" altLang="zh-CN" sz="2400">
                  <a:solidFill>
                    <a:schemeClr val="hlink"/>
                  </a:solidFill>
                  <a:latin typeface="Times New Roman" panose="02020603050405020304" pitchFamily="18" charset="0"/>
                </a:rPr>
                <a:t>7</a:t>
              </a:r>
              <a:r>
                <a:rPr lang="en-US" altLang="zh-CN" sz="2400">
                  <a:latin typeface="Times New Roman" panose="02020603050405020304" pitchFamily="18" charset="0"/>
                </a:rPr>
                <a:t>   0</a:t>
              </a:r>
            </a:p>
          </p:txBody>
        </p:sp>
        <p:sp>
          <p:nvSpPr>
            <p:cNvPr id="110" name="Line 52"/>
            <p:cNvSpPr>
              <a:spLocks noChangeShapeType="1"/>
            </p:cNvSpPr>
            <p:nvPr/>
          </p:nvSpPr>
          <p:spPr bwMode="auto">
            <a:xfrm>
              <a:off x="2477" y="2630"/>
              <a:ext cx="0" cy="279"/>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18900000" algn="ctr" rotWithShape="0">
                      <a:schemeClr val="bg2"/>
                    </a:outerShdw>
                  </a:effectLst>
                </a14:hiddenEffects>
              </a:ext>
            </a:extLst>
          </p:spPr>
          <p:txBody>
            <a:bodyPr wrap="none" anchor="ctr">
              <a:spAutoFit/>
            </a:bodyPr>
            <a:lstStyle/>
            <a:p>
              <a:endParaRPr lang="zh-CN" altLang="en-US"/>
            </a:p>
          </p:txBody>
        </p:sp>
        <p:sp>
          <p:nvSpPr>
            <p:cNvPr id="111" name="Line 53"/>
            <p:cNvSpPr>
              <a:spLocks noChangeShapeType="1"/>
            </p:cNvSpPr>
            <p:nvPr/>
          </p:nvSpPr>
          <p:spPr bwMode="auto">
            <a:xfrm>
              <a:off x="2718" y="2620"/>
              <a:ext cx="0" cy="279"/>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18900000" algn="ctr" rotWithShape="0">
                      <a:schemeClr val="bg2"/>
                    </a:outerShdw>
                  </a:effectLst>
                </a14:hiddenEffects>
              </a:ext>
            </a:extLst>
          </p:spPr>
          <p:txBody>
            <a:bodyPr wrap="none" anchor="ctr">
              <a:spAutoFit/>
            </a:bodyPr>
            <a:lstStyle/>
            <a:p>
              <a:endParaRPr lang="zh-CN" altLang="en-US"/>
            </a:p>
          </p:txBody>
        </p:sp>
        <p:sp>
          <p:nvSpPr>
            <p:cNvPr id="112" name="Rectangle 54"/>
            <p:cNvSpPr>
              <a:spLocks noChangeArrowheads="1"/>
            </p:cNvSpPr>
            <p:nvPr/>
          </p:nvSpPr>
          <p:spPr bwMode="auto">
            <a:xfrm>
              <a:off x="2746" y="2676"/>
              <a:ext cx="208" cy="242"/>
            </a:xfrm>
            <a:prstGeom prst="rect">
              <a:avLst/>
            </a:prstGeom>
            <a:noFill/>
            <a:ln>
              <a:noFill/>
            </a:ln>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eaLnBrk="0" hangingPunct="0">
                <a:defRPr sz="1600" b="1">
                  <a:solidFill>
                    <a:schemeClr val="tx1"/>
                  </a:solidFill>
                  <a:latin typeface="Tahoma" panose="020B0604030504040204" pitchFamily="34" charset="0"/>
                  <a:ea typeface="宋体" panose="02010600030101010101" pitchFamily="2" charset="-122"/>
                </a:defRPr>
              </a:lvl1pPr>
              <a:lvl2pPr marL="742950" indent="-285750" eaLnBrk="0" hangingPunct="0">
                <a:defRPr sz="1600" b="1">
                  <a:solidFill>
                    <a:schemeClr val="tx1"/>
                  </a:solidFill>
                  <a:latin typeface="Tahoma" panose="020B0604030504040204" pitchFamily="34" charset="0"/>
                  <a:ea typeface="宋体" panose="02010600030101010101" pitchFamily="2" charset="-122"/>
                </a:defRPr>
              </a:lvl2pPr>
              <a:lvl3pPr marL="1143000" indent="-228600" eaLnBrk="0" hangingPunct="0">
                <a:defRPr sz="1600" b="1">
                  <a:solidFill>
                    <a:schemeClr val="tx1"/>
                  </a:solidFill>
                  <a:latin typeface="Tahoma" panose="020B0604030504040204" pitchFamily="34" charset="0"/>
                  <a:ea typeface="宋体" panose="02010600030101010101" pitchFamily="2" charset="-122"/>
                </a:defRPr>
              </a:lvl3pPr>
              <a:lvl4pPr marL="1600200" indent="-228600" eaLnBrk="0" hangingPunct="0">
                <a:defRPr sz="1600" b="1">
                  <a:solidFill>
                    <a:schemeClr val="tx1"/>
                  </a:solidFill>
                  <a:latin typeface="Tahoma" panose="020B0604030504040204" pitchFamily="34" charset="0"/>
                  <a:ea typeface="宋体" panose="02010600030101010101" pitchFamily="2" charset="-122"/>
                </a:defRPr>
              </a:lvl4pPr>
              <a:lvl5pPr marL="2057400" indent="-228600" eaLnBrk="0" hangingPunct="0">
                <a:defRPr sz="16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9pPr>
            </a:lstStyle>
            <a:p>
              <a:pPr algn="just"/>
              <a:r>
                <a:rPr lang="zh-CN" altLang="en-US" sz="2000">
                  <a:latin typeface="Times New Roman" panose="02020603050405020304" pitchFamily="18" charset="0"/>
                </a:rPr>
                <a:t>∧</a:t>
              </a:r>
              <a:endParaRPr lang="zh-CN" altLang="en-US" sz="2400">
                <a:latin typeface="Times New Roman" panose="02020603050405020304" pitchFamily="18" charset="0"/>
              </a:endParaRPr>
            </a:p>
          </p:txBody>
        </p:sp>
      </p:grpSp>
      <p:sp>
        <p:nvSpPr>
          <p:cNvPr id="2" name="Rectangle 2">
            <a:extLst>
              <a:ext uri="{FF2B5EF4-FFF2-40B4-BE49-F238E27FC236}">
                <a16:creationId xmlns:a16="http://schemas.microsoft.com/office/drawing/2014/main" id="{D2DF5771-B582-7035-F4AE-6EF6EB592329}"/>
              </a:ext>
            </a:extLst>
          </p:cNvPr>
          <p:cNvSpPr txBox="1">
            <a:spLocks noChangeArrowheads="1"/>
          </p:cNvSpPr>
          <p:nvPr/>
        </p:nvSpPr>
        <p:spPr>
          <a:xfrm>
            <a:off x="474772" y="1230902"/>
            <a:ext cx="4253075"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8.2.2 </a:t>
            </a:r>
            <a:r>
              <a:rPr kumimoji="1" lang="zh-CN" altLang="en-US" dirty="0">
                <a:latin typeface="微软雅黑" pitchFamily="34" charset="-122"/>
                <a:ea typeface="微软雅黑" pitchFamily="34" charset="-122"/>
              </a:rPr>
              <a:t>邻接表存储方法</a:t>
            </a:r>
            <a:endParaRPr lang="zh-CN" altLang="en-US" dirty="0"/>
          </a:p>
        </p:txBody>
      </p:sp>
      <p:sp>
        <p:nvSpPr>
          <p:cNvPr id="3" name="矩形 2">
            <a:extLst>
              <a:ext uri="{FF2B5EF4-FFF2-40B4-BE49-F238E27FC236}">
                <a16:creationId xmlns:a16="http://schemas.microsoft.com/office/drawing/2014/main" id="{42A1E52F-DD1B-8E5C-3C5C-7CEEDB33691C}"/>
              </a:ext>
            </a:extLst>
          </p:cNvPr>
          <p:cNvSpPr/>
          <p:nvPr/>
        </p:nvSpPr>
        <p:spPr>
          <a:xfrm>
            <a:off x="2846292" y="348366"/>
            <a:ext cx="6715440"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8.2 </a:t>
            </a:r>
            <a:r>
              <a:rPr lang="zh-CN" altLang="en-US" sz="3000" b="1" dirty="0">
                <a:latin typeface="黑体" pitchFamily="49" charset="-122"/>
                <a:ea typeface="黑体" pitchFamily="49" charset="-122"/>
                <a:cs typeface="经典粗黑简" pitchFamily="49" charset="-122"/>
              </a:rPr>
              <a:t>图的存储结构和基本运算算法</a:t>
            </a:r>
          </a:p>
        </p:txBody>
      </p:sp>
      <p:cxnSp>
        <p:nvCxnSpPr>
          <p:cNvPr id="4" name="直接连接符 3">
            <a:extLst>
              <a:ext uri="{FF2B5EF4-FFF2-40B4-BE49-F238E27FC236}">
                <a16:creationId xmlns:a16="http://schemas.microsoft.com/office/drawing/2014/main" id="{AA756DE9-6DDF-FE8A-8673-E3513AF39FD0}"/>
              </a:ext>
            </a:extLst>
          </p:cNvPr>
          <p:cNvCxnSpPr>
            <a:cxnSpLocks/>
          </p:cNvCxnSpPr>
          <p:nvPr/>
        </p:nvCxnSpPr>
        <p:spPr>
          <a:xfrm>
            <a:off x="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158481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 Box 55"/>
          <p:cNvSpPr txBox="1">
            <a:spLocks noChangeArrowheads="1"/>
          </p:cNvSpPr>
          <p:nvPr/>
        </p:nvSpPr>
        <p:spPr bwMode="auto">
          <a:xfrm>
            <a:off x="6240016" y="1537144"/>
            <a:ext cx="4032448" cy="707886"/>
          </a:xfrm>
          <a:prstGeom prst="rect">
            <a:avLst/>
          </a:prstGeom>
          <a:noFill/>
          <a:ln w="28575">
            <a:solidFill>
              <a:schemeClr va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107763" dir="18900000" algn="ctr" rotWithShape="0">
                    <a:schemeClr val="bg2"/>
                  </a:outerShdw>
                </a:effectLst>
              </a14:hiddenEffects>
            </a:ext>
          </a:extLst>
        </p:spPr>
        <p:txBody>
          <a:bodyPr wrap="square" rIns="0">
            <a:spAutoFit/>
          </a:bodyPr>
          <a:lstStyle/>
          <a:p>
            <a:pPr>
              <a:defRPr/>
            </a:pPr>
            <a:r>
              <a:rPr kumimoji="1" lang="zh-CN" altLang="en-US" sz="2000" dirty="0">
                <a:latin typeface="微软雅黑" pitchFamily="34" charset="-122"/>
                <a:ea typeface="微软雅黑" pitchFamily="34" charset="-122"/>
                <a:cs typeface="经典粗黑简" pitchFamily="49" charset="-122"/>
              </a:rPr>
              <a:t>每个结点对应图中的一条边，</a:t>
            </a:r>
          </a:p>
          <a:p>
            <a:pPr>
              <a:defRPr/>
            </a:pPr>
            <a:r>
              <a:rPr kumimoji="1" lang="zh-CN" altLang="en-US" sz="2000" dirty="0">
                <a:latin typeface="微软雅黑" pitchFamily="34" charset="-122"/>
                <a:ea typeface="微软雅黑" pitchFamily="34" charset="-122"/>
                <a:cs typeface="经典粗黑简" pitchFamily="49" charset="-122"/>
              </a:rPr>
              <a:t>邻接表的空间复杂度为</a:t>
            </a:r>
            <a:r>
              <a:rPr kumimoji="1" lang="en-US" altLang="zh-CN" sz="2000" dirty="0">
                <a:latin typeface="微软雅黑" pitchFamily="34" charset="-122"/>
                <a:ea typeface="微软雅黑" pitchFamily="34" charset="-122"/>
                <a:cs typeface="经典粗黑简" pitchFamily="49" charset="-122"/>
              </a:rPr>
              <a:t>O(</a:t>
            </a:r>
            <a:r>
              <a:rPr kumimoji="1" lang="en-US" altLang="zh-CN" sz="2000" dirty="0" err="1">
                <a:latin typeface="微软雅黑" pitchFamily="34" charset="-122"/>
                <a:ea typeface="微软雅黑" pitchFamily="34" charset="-122"/>
                <a:cs typeface="经典粗黑简" pitchFamily="49" charset="-122"/>
              </a:rPr>
              <a:t>n+e</a:t>
            </a:r>
            <a:r>
              <a:rPr kumimoji="1" lang="en-US" altLang="zh-CN" sz="2000" dirty="0">
                <a:latin typeface="微软雅黑" pitchFamily="34" charset="-122"/>
                <a:ea typeface="微软雅黑" pitchFamily="34" charset="-122"/>
                <a:cs typeface="经典粗黑简" pitchFamily="49" charset="-122"/>
              </a:rPr>
              <a:t>)</a:t>
            </a:r>
            <a:r>
              <a:rPr kumimoji="1" lang="zh-CN" altLang="en-US" sz="2000" dirty="0">
                <a:latin typeface="微软雅黑" pitchFamily="34" charset="-122"/>
                <a:ea typeface="微软雅黑" pitchFamily="34" charset="-122"/>
                <a:cs typeface="经典粗黑简" pitchFamily="49" charset="-122"/>
              </a:rPr>
              <a:t>。</a:t>
            </a:r>
          </a:p>
        </p:txBody>
      </p:sp>
      <p:sp>
        <p:nvSpPr>
          <p:cNvPr id="4" name="Rectangle 2">
            <a:extLst>
              <a:ext uri="{FF2B5EF4-FFF2-40B4-BE49-F238E27FC236}">
                <a16:creationId xmlns:a16="http://schemas.microsoft.com/office/drawing/2014/main" id="{A4FFD004-CE27-15EB-860A-E93DBFA2007B}"/>
              </a:ext>
            </a:extLst>
          </p:cNvPr>
          <p:cNvSpPr txBox="1">
            <a:spLocks noChangeArrowheads="1"/>
          </p:cNvSpPr>
          <p:nvPr/>
        </p:nvSpPr>
        <p:spPr>
          <a:xfrm>
            <a:off x="474772" y="1230902"/>
            <a:ext cx="4253075"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8.2.2 </a:t>
            </a:r>
            <a:r>
              <a:rPr kumimoji="1" lang="zh-CN" altLang="en-US" dirty="0">
                <a:latin typeface="微软雅黑" pitchFamily="34" charset="-122"/>
                <a:ea typeface="微软雅黑" pitchFamily="34" charset="-122"/>
              </a:rPr>
              <a:t>邻接表存储方法</a:t>
            </a:r>
            <a:endParaRPr lang="zh-CN" altLang="en-US" dirty="0"/>
          </a:p>
        </p:txBody>
      </p:sp>
      <p:sp>
        <p:nvSpPr>
          <p:cNvPr id="5" name="矩形 4">
            <a:extLst>
              <a:ext uri="{FF2B5EF4-FFF2-40B4-BE49-F238E27FC236}">
                <a16:creationId xmlns:a16="http://schemas.microsoft.com/office/drawing/2014/main" id="{206FA695-3878-884A-0894-1F85CDCC9B0C}"/>
              </a:ext>
            </a:extLst>
          </p:cNvPr>
          <p:cNvSpPr/>
          <p:nvPr/>
        </p:nvSpPr>
        <p:spPr>
          <a:xfrm>
            <a:off x="2846292" y="348366"/>
            <a:ext cx="6715440"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8.2 </a:t>
            </a:r>
            <a:r>
              <a:rPr lang="zh-CN" altLang="en-US" sz="3000" b="1" dirty="0">
                <a:latin typeface="黑体" pitchFamily="49" charset="-122"/>
                <a:ea typeface="黑体" pitchFamily="49" charset="-122"/>
                <a:cs typeface="经典粗黑简" pitchFamily="49" charset="-122"/>
              </a:rPr>
              <a:t>图的存储结构和基本运算算法</a:t>
            </a:r>
          </a:p>
        </p:txBody>
      </p:sp>
      <p:cxnSp>
        <p:nvCxnSpPr>
          <p:cNvPr id="6" name="直接连接符 5">
            <a:extLst>
              <a:ext uri="{FF2B5EF4-FFF2-40B4-BE49-F238E27FC236}">
                <a16:creationId xmlns:a16="http://schemas.microsoft.com/office/drawing/2014/main" id="{39990A9E-C13F-3EAC-0BA7-5F2F85FE9000}"/>
              </a:ext>
            </a:extLst>
          </p:cNvPr>
          <p:cNvCxnSpPr>
            <a:cxnSpLocks/>
          </p:cNvCxnSpPr>
          <p:nvPr/>
        </p:nvCxnSpPr>
        <p:spPr>
          <a:xfrm>
            <a:off x="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7" name="Text Box 4">
            <a:extLst>
              <a:ext uri="{FF2B5EF4-FFF2-40B4-BE49-F238E27FC236}">
                <a16:creationId xmlns:a16="http://schemas.microsoft.com/office/drawing/2014/main" id="{A73BBACA-70C1-E67F-096D-489BCA7FE9B6}"/>
              </a:ext>
            </a:extLst>
          </p:cNvPr>
          <p:cNvSpPr txBox="1">
            <a:spLocks noChangeArrowheads="1"/>
          </p:cNvSpPr>
          <p:nvPr/>
        </p:nvSpPr>
        <p:spPr bwMode="auto">
          <a:xfrm>
            <a:off x="1343472" y="2485151"/>
            <a:ext cx="6462728" cy="3819095"/>
          </a:xfrm>
          <a:prstGeom prst="rect">
            <a:avLst/>
          </a:prstGeom>
          <a:solidFill>
            <a:schemeClr val="bg1">
              <a:lumMod val="95000"/>
            </a:schemeClr>
          </a:solidFill>
          <a:ln>
            <a:noFill/>
            <a:headEnd/>
            <a:tailEnd type="none" w="med" len="lg"/>
          </a:ln>
          <a:effectLst/>
          <a:scene3d>
            <a:camera prst="orthographicFront">
              <a:rot lat="0" lon="0" rev="0"/>
            </a:camera>
            <a:lightRig rig="chilly" dir="t">
              <a:rot lat="0" lon="0" rev="18480000"/>
            </a:lightRig>
          </a:scene3d>
          <a:sp3d prstMaterial="clear">
            <a:bevelT h="63500"/>
          </a:sp3d>
        </p:spPr>
        <p:style>
          <a:lnRef idx="1">
            <a:schemeClr val="accent3"/>
          </a:lnRef>
          <a:fillRef idx="2">
            <a:schemeClr val="accent3"/>
          </a:fillRef>
          <a:effectRef idx="1">
            <a:schemeClr val="accent3"/>
          </a:effectRef>
          <a:fontRef idx="minor">
            <a:schemeClr val="dk1"/>
          </a:fontRef>
        </p:style>
        <p:txBody>
          <a:bodyPr wrap="square" lIns="144000" tIns="108000" bIns="108000">
            <a:spAutoFit/>
          </a:bodyPr>
          <a:lstStyle/>
          <a:p>
            <a:pPr algn="l"/>
            <a:r>
              <a:rPr lang="en-US" altLang="zh-CN" sz="1800" dirty="0" err="1">
                <a:solidFill>
                  <a:srgbClr val="0000FF"/>
                </a:solidFill>
                <a:latin typeface="Consolas" pitchFamily="49" charset="0"/>
                <a:ea typeface="仿宋" pitchFamily="49" charset="-122"/>
                <a:cs typeface="Consolas" pitchFamily="49" charset="0"/>
              </a:rPr>
              <a:t>typedef</a:t>
            </a:r>
            <a:r>
              <a:rPr lang="en-US" altLang="zh-CN" sz="1800" dirty="0">
                <a:solidFill>
                  <a:srgbClr val="0000FF"/>
                </a:solidFill>
                <a:latin typeface="Consolas" pitchFamily="49" charset="0"/>
                <a:ea typeface="仿宋" pitchFamily="49" charset="-122"/>
                <a:cs typeface="Consolas" pitchFamily="49" charset="0"/>
              </a:rPr>
              <a:t> </a:t>
            </a:r>
            <a:r>
              <a:rPr lang="en-US" altLang="zh-CN" sz="1800" dirty="0" err="1">
                <a:solidFill>
                  <a:srgbClr val="0000FF"/>
                </a:solidFill>
                <a:latin typeface="Consolas" pitchFamily="49" charset="0"/>
                <a:ea typeface="仿宋" pitchFamily="49" charset="-122"/>
                <a:cs typeface="Consolas" pitchFamily="49" charset="0"/>
              </a:rPr>
              <a:t>struct</a:t>
            </a:r>
            <a:r>
              <a:rPr lang="en-US" altLang="zh-CN" sz="1800" dirty="0">
                <a:solidFill>
                  <a:srgbClr val="0000FF"/>
                </a:solidFill>
                <a:latin typeface="Consolas" pitchFamily="49" charset="0"/>
                <a:ea typeface="仿宋" pitchFamily="49" charset="-122"/>
                <a:cs typeface="Consolas" pitchFamily="49" charset="0"/>
              </a:rPr>
              <a:t> </a:t>
            </a:r>
            <a:r>
              <a:rPr lang="en-US" altLang="zh-CN" sz="1800" dirty="0" err="1">
                <a:solidFill>
                  <a:srgbClr val="0000FF"/>
                </a:solidFill>
                <a:latin typeface="Consolas" pitchFamily="49" charset="0"/>
                <a:ea typeface="仿宋" pitchFamily="49" charset="-122"/>
                <a:cs typeface="Consolas" pitchFamily="49" charset="0"/>
              </a:rPr>
              <a:t>ANode</a:t>
            </a:r>
            <a:endParaRPr lang="en-US" altLang="zh-CN" sz="1800" dirty="0">
              <a:solidFill>
                <a:srgbClr val="0000FF"/>
              </a:solidFill>
              <a:latin typeface="Consolas" pitchFamily="49" charset="0"/>
              <a:ea typeface="仿宋" pitchFamily="49" charset="-122"/>
              <a:cs typeface="Consolas" pitchFamily="49" charset="0"/>
            </a:endParaRPr>
          </a:p>
          <a:p>
            <a:pPr algn="l"/>
            <a:r>
              <a:rPr lang="en-US" altLang="zh-CN" sz="1800" dirty="0">
                <a:solidFill>
                  <a:srgbClr val="0000FF"/>
                </a:solidFill>
                <a:latin typeface="Consolas" pitchFamily="49" charset="0"/>
                <a:ea typeface="仿宋" pitchFamily="49" charset="-122"/>
                <a:cs typeface="Consolas" pitchFamily="49" charset="0"/>
              </a:rPr>
              <a:t>{  int </a:t>
            </a:r>
            <a:r>
              <a:rPr lang="en-US" altLang="zh-CN" sz="1800" dirty="0" err="1">
                <a:solidFill>
                  <a:srgbClr val="0000FF"/>
                </a:solidFill>
                <a:latin typeface="Consolas" pitchFamily="49" charset="0"/>
                <a:ea typeface="仿宋" pitchFamily="49" charset="-122"/>
                <a:cs typeface="Consolas" pitchFamily="49" charset="0"/>
              </a:rPr>
              <a:t>adjvex</a:t>
            </a:r>
            <a:r>
              <a:rPr lang="en-US" altLang="zh-CN" sz="1800" dirty="0">
                <a:solidFill>
                  <a:srgbClr val="0000FF"/>
                </a:solidFill>
                <a:latin typeface="Consolas" pitchFamily="49" charset="0"/>
                <a:ea typeface="仿宋" pitchFamily="49" charset="-122"/>
                <a:cs typeface="Consolas" pitchFamily="49" charset="0"/>
              </a:rPr>
              <a:t>;			</a:t>
            </a:r>
            <a:r>
              <a:rPr lang="en-US" altLang="zh-CN" sz="1800" dirty="0">
                <a:solidFill>
                  <a:srgbClr val="00B0F0"/>
                </a:solidFill>
                <a:latin typeface="Consolas" pitchFamily="49" charset="0"/>
                <a:ea typeface="仿宋" pitchFamily="49" charset="-122"/>
                <a:cs typeface="Consolas" pitchFamily="49" charset="0"/>
              </a:rPr>
              <a:t>//</a:t>
            </a:r>
            <a:r>
              <a:rPr lang="zh-CN" altLang="en-US" sz="1800" dirty="0">
                <a:solidFill>
                  <a:srgbClr val="00B0F0"/>
                </a:solidFill>
                <a:latin typeface="Consolas" pitchFamily="49" charset="0"/>
                <a:ea typeface="仿宋" pitchFamily="49" charset="-122"/>
                <a:cs typeface="Consolas" pitchFamily="49" charset="0"/>
              </a:rPr>
              <a:t>该边的终点编号</a:t>
            </a:r>
          </a:p>
          <a:p>
            <a:pPr algn="l"/>
            <a:r>
              <a:rPr lang="zh-CN" altLang="en-US" sz="1800" dirty="0">
                <a:solidFill>
                  <a:srgbClr val="0000FF"/>
                </a:solidFill>
                <a:latin typeface="Consolas" pitchFamily="49" charset="0"/>
                <a:ea typeface="仿宋" pitchFamily="49" charset="-122"/>
                <a:cs typeface="Consolas" pitchFamily="49" charset="0"/>
              </a:rPr>
              <a:t>   </a:t>
            </a:r>
            <a:r>
              <a:rPr lang="en-US" altLang="zh-CN" sz="1800" dirty="0">
                <a:solidFill>
                  <a:srgbClr val="0000FF"/>
                </a:solidFill>
                <a:latin typeface="Consolas" pitchFamily="49" charset="0"/>
                <a:ea typeface="仿宋" pitchFamily="49" charset="-122"/>
                <a:cs typeface="Consolas" pitchFamily="49" charset="0"/>
              </a:rPr>
              <a:t>struct </a:t>
            </a:r>
            <a:r>
              <a:rPr lang="en-US" altLang="zh-CN" sz="1800" dirty="0" err="1">
                <a:solidFill>
                  <a:srgbClr val="0000FF"/>
                </a:solidFill>
                <a:latin typeface="Consolas" pitchFamily="49" charset="0"/>
                <a:ea typeface="仿宋" pitchFamily="49" charset="-122"/>
                <a:cs typeface="Consolas" pitchFamily="49" charset="0"/>
              </a:rPr>
              <a:t>ANode</a:t>
            </a:r>
            <a:r>
              <a:rPr lang="en-US" altLang="zh-CN" sz="1800" dirty="0">
                <a:solidFill>
                  <a:srgbClr val="0000FF"/>
                </a:solidFill>
                <a:latin typeface="Consolas" pitchFamily="49" charset="0"/>
                <a:ea typeface="仿宋" pitchFamily="49" charset="-122"/>
                <a:cs typeface="Consolas" pitchFamily="49" charset="0"/>
              </a:rPr>
              <a:t> *</a:t>
            </a:r>
            <a:r>
              <a:rPr lang="en-US" altLang="zh-CN" sz="1800" dirty="0" err="1">
                <a:solidFill>
                  <a:srgbClr val="0000FF"/>
                </a:solidFill>
                <a:latin typeface="Consolas" pitchFamily="49" charset="0"/>
                <a:ea typeface="仿宋" pitchFamily="49" charset="-122"/>
                <a:cs typeface="Consolas" pitchFamily="49" charset="0"/>
              </a:rPr>
              <a:t>nextarc</a:t>
            </a:r>
            <a:r>
              <a:rPr lang="en-US" altLang="zh-CN" sz="1800" dirty="0">
                <a:solidFill>
                  <a:srgbClr val="0000FF"/>
                </a:solidFill>
                <a:latin typeface="Consolas" pitchFamily="49" charset="0"/>
                <a:ea typeface="仿宋" pitchFamily="49" charset="-122"/>
                <a:cs typeface="Consolas" pitchFamily="49" charset="0"/>
              </a:rPr>
              <a:t>;	</a:t>
            </a:r>
            <a:r>
              <a:rPr lang="en-US" altLang="zh-CN" sz="1800" dirty="0">
                <a:solidFill>
                  <a:srgbClr val="00B0F0"/>
                </a:solidFill>
                <a:latin typeface="Consolas" pitchFamily="49" charset="0"/>
                <a:ea typeface="仿宋" pitchFamily="49" charset="-122"/>
                <a:cs typeface="Consolas" pitchFamily="49" charset="0"/>
              </a:rPr>
              <a:t>//</a:t>
            </a:r>
            <a:r>
              <a:rPr lang="zh-CN" altLang="en-US" sz="1800" dirty="0">
                <a:solidFill>
                  <a:srgbClr val="00B0F0"/>
                </a:solidFill>
                <a:latin typeface="Consolas" pitchFamily="49" charset="0"/>
                <a:ea typeface="仿宋" pitchFamily="49" charset="-122"/>
                <a:cs typeface="Consolas" pitchFamily="49" charset="0"/>
              </a:rPr>
              <a:t>指向下一条边的指针</a:t>
            </a:r>
          </a:p>
          <a:p>
            <a:pPr algn="l"/>
            <a:r>
              <a:rPr lang="zh-CN" altLang="en-US" sz="1800" dirty="0">
                <a:solidFill>
                  <a:srgbClr val="0000FF"/>
                </a:solidFill>
                <a:latin typeface="Consolas" pitchFamily="49" charset="0"/>
                <a:ea typeface="仿宋" pitchFamily="49" charset="-122"/>
                <a:cs typeface="Consolas" pitchFamily="49" charset="0"/>
              </a:rPr>
              <a:t>   </a:t>
            </a:r>
            <a:r>
              <a:rPr lang="en-US" altLang="zh-CN" sz="1800" dirty="0" err="1">
                <a:solidFill>
                  <a:srgbClr val="0000FF"/>
                </a:solidFill>
                <a:latin typeface="Consolas" pitchFamily="49" charset="0"/>
                <a:ea typeface="仿宋" pitchFamily="49" charset="-122"/>
                <a:cs typeface="Consolas" pitchFamily="49" charset="0"/>
              </a:rPr>
              <a:t>InfoType</a:t>
            </a:r>
            <a:r>
              <a:rPr lang="en-US" altLang="zh-CN" sz="1800" dirty="0">
                <a:solidFill>
                  <a:srgbClr val="0000FF"/>
                </a:solidFill>
                <a:latin typeface="Consolas" pitchFamily="49" charset="0"/>
                <a:ea typeface="仿宋" pitchFamily="49" charset="-122"/>
                <a:cs typeface="Consolas" pitchFamily="49" charset="0"/>
              </a:rPr>
              <a:t> weight;		</a:t>
            </a:r>
            <a:r>
              <a:rPr lang="en-US" altLang="zh-CN" sz="1800" dirty="0">
                <a:solidFill>
                  <a:srgbClr val="00B0F0"/>
                </a:solidFill>
                <a:latin typeface="Consolas" pitchFamily="49" charset="0"/>
                <a:ea typeface="仿宋" pitchFamily="49" charset="-122"/>
                <a:cs typeface="Consolas" pitchFamily="49" charset="0"/>
              </a:rPr>
              <a:t>//</a:t>
            </a:r>
            <a:r>
              <a:rPr lang="zh-CN" altLang="en-US" sz="1800" dirty="0">
                <a:solidFill>
                  <a:srgbClr val="00B0F0"/>
                </a:solidFill>
                <a:latin typeface="Consolas" pitchFamily="49" charset="0"/>
                <a:ea typeface="仿宋" pitchFamily="49" charset="-122"/>
                <a:cs typeface="Consolas" pitchFamily="49" charset="0"/>
              </a:rPr>
              <a:t>该边的权值等信息</a:t>
            </a:r>
          </a:p>
          <a:p>
            <a:pPr algn="l"/>
            <a:r>
              <a:rPr lang="en-US" altLang="zh-CN" sz="1800" dirty="0">
                <a:solidFill>
                  <a:srgbClr val="0000FF"/>
                </a:solidFill>
                <a:latin typeface="Consolas" pitchFamily="49" charset="0"/>
                <a:ea typeface="仿宋" pitchFamily="49" charset="-122"/>
                <a:cs typeface="Consolas" pitchFamily="49" charset="0"/>
              </a:rPr>
              <a:t>}  </a:t>
            </a:r>
            <a:r>
              <a:rPr lang="en-US" altLang="zh-CN" sz="1800" dirty="0" err="1">
                <a:solidFill>
                  <a:srgbClr val="FF00FF"/>
                </a:solidFill>
                <a:latin typeface="Consolas" pitchFamily="49" charset="0"/>
                <a:ea typeface="仿宋" pitchFamily="49" charset="-122"/>
                <a:cs typeface="Consolas" pitchFamily="49" charset="0"/>
              </a:rPr>
              <a:t>ArcNode</a:t>
            </a:r>
            <a:r>
              <a:rPr lang="en-US" altLang="zh-CN" sz="1800" dirty="0">
                <a:solidFill>
                  <a:srgbClr val="0000FF"/>
                </a:solidFill>
                <a:latin typeface="Consolas" pitchFamily="49" charset="0"/>
                <a:ea typeface="仿宋" pitchFamily="49" charset="-122"/>
                <a:cs typeface="Consolas" pitchFamily="49" charset="0"/>
              </a:rPr>
              <a:t>;</a:t>
            </a:r>
            <a:endParaRPr lang="zh-CN" altLang="en-US" sz="1800" dirty="0">
              <a:solidFill>
                <a:srgbClr val="0000FF"/>
              </a:solidFill>
              <a:latin typeface="Consolas" pitchFamily="49" charset="0"/>
              <a:ea typeface="仿宋" pitchFamily="49" charset="-122"/>
              <a:cs typeface="Consolas" pitchFamily="49" charset="0"/>
            </a:endParaRPr>
          </a:p>
          <a:p>
            <a:pPr algn="l"/>
            <a:r>
              <a:rPr lang="en-US" altLang="zh-CN" sz="1800" dirty="0">
                <a:solidFill>
                  <a:srgbClr val="0000FF"/>
                </a:solidFill>
                <a:latin typeface="Consolas" pitchFamily="49" charset="0"/>
                <a:ea typeface="仿宋" pitchFamily="49" charset="-122"/>
                <a:cs typeface="Consolas" pitchFamily="49" charset="0"/>
              </a:rPr>
              <a:t>typedef struct </a:t>
            </a:r>
            <a:r>
              <a:rPr lang="en-US" altLang="zh-CN" sz="1800" dirty="0" err="1">
                <a:solidFill>
                  <a:srgbClr val="0000FF"/>
                </a:solidFill>
                <a:latin typeface="Consolas" pitchFamily="49" charset="0"/>
                <a:ea typeface="仿宋" pitchFamily="49" charset="-122"/>
                <a:cs typeface="Consolas" pitchFamily="49" charset="0"/>
              </a:rPr>
              <a:t>Vnode</a:t>
            </a:r>
            <a:endParaRPr lang="en-US" altLang="zh-CN" sz="1800" dirty="0">
              <a:solidFill>
                <a:srgbClr val="0000FF"/>
              </a:solidFill>
              <a:latin typeface="Consolas" pitchFamily="49" charset="0"/>
              <a:ea typeface="仿宋" pitchFamily="49" charset="-122"/>
              <a:cs typeface="Consolas" pitchFamily="49" charset="0"/>
            </a:endParaRPr>
          </a:p>
          <a:p>
            <a:pPr algn="l"/>
            <a:r>
              <a:rPr lang="en-US" altLang="zh-CN" sz="1800" dirty="0">
                <a:solidFill>
                  <a:srgbClr val="0000FF"/>
                </a:solidFill>
                <a:latin typeface="Consolas" pitchFamily="49" charset="0"/>
                <a:ea typeface="仿宋" pitchFamily="49" charset="-122"/>
                <a:cs typeface="Consolas" pitchFamily="49" charset="0"/>
              </a:rPr>
              <a:t>{  Vertex data;		</a:t>
            </a:r>
            <a:r>
              <a:rPr lang="en-US" altLang="zh-CN" sz="1800" dirty="0">
                <a:solidFill>
                  <a:srgbClr val="00B0F0"/>
                </a:solidFill>
                <a:latin typeface="Consolas" pitchFamily="49" charset="0"/>
                <a:ea typeface="仿宋" pitchFamily="49" charset="-122"/>
                <a:cs typeface="Consolas" pitchFamily="49" charset="0"/>
              </a:rPr>
              <a:t>//</a:t>
            </a:r>
            <a:r>
              <a:rPr lang="zh-CN" altLang="en-US" sz="1800" dirty="0">
                <a:solidFill>
                  <a:srgbClr val="00B0F0"/>
                </a:solidFill>
                <a:latin typeface="Consolas" pitchFamily="49" charset="0"/>
                <a:ea typeface="仿宋" pitchFamily="49" charset="-122"/>
                <a:cs typeface="Consolas" pitchFamily="49" charset="0"/>
              </a:rPr>
              <a:t>顶点信息</a:t>
            </a:r>
          </a:p>
          <a:p>
            <a:pPr algn="l"/>
            <a:r>
              <a:rPr lang="zh-CN" altLang="en-US" sz="1800" dirty="0">
                <a:solidFill>
                  <a:srgbClr val="0000FF"/>
                </a:solidFill>
                <a:latin typeface="Consolas" pitchFamily="49" charset="0"/>
                <a:ea typeface="仿宋" pitchFamily="49" charset="-122"/>
                <a:cs typeface="Consolas" pitchFamily="49" charset="0"/>
              </a:rPr>
              <a:t>   </a:t>
            </a:r>
            <a:r>
              <a:rPr lang="en-US" altLang="zh-CN" sz="1800" dirty="0" err="1">
                <a:solidFill>
                  <a:srgbClr val="FF00FF"/>
                </a:solidFill>
                <a:latin typeface="Consolas" pitchFamily="49" charset="0"/>
                <a:ea typeface="仿宋" pitchFamily="49" charset="-122"/>
                <a:cs typeface="Consolas" pitchFamily="49" charset="0"/>
              </a:rPr>
              <a:t>ArcNode</a:t>
            </a:r>
            <a:r>
              <a:rPr lang="en-US" altLang="zh-CN" sz="1800" dirty="0">
                <a:solidFill>
                  <a:srgbClr val="0000FF"/>
                </a:solidFill>
                <a:latin typeface="Consolas" pitchFamily="49" charset="0"/>
                <a:ea typeface="仿宋" pitchFamily="49" charset="-122"/>
                <a:cs typeface="Consolas" pitchFamily="49" charset="0"/>
              </a:rPr>
              <a:t> *</a:t>
            </a:r>
            <a:r>
              <a:rPr lang="en-US" altLang="zh-CN" sz="1800" dirty="0" err="1">
                <a:solidFill>
                  <a:srgbClr val="0000FF"/>
                </a:solidFill>
                <a:latin typeface="Consolas" pitchFamily="49" charset="0"/>
                <a:ea typeface="仿宋" pitchFamily="49" charset="-122"/>
                <a:cs typeface="Consolas" pitchFamily="49" charset="0"/>
              </a:rPr>
              <a:t>firstarc</a:t>
            </a:r>
            <a:r>
              <a:rPr lang="en-US" altLang="zh-CN" sz="1800" dirty="0">
                <a:solidFill>
                  <a:srgbClr val="0000FF"/>
                </a:solidFill>
                <a:latin typeface="Consolas" pitchFamily="49" charset="0"/>
                <a:ea typeface="仿宋" pitchFamily="49" charset="-122"/>
                <a:cs typeface="Consolas" pitchFamily="49" charset="0"/>
              </a:rPr>
              <a:t>;		</a:t>
            </a:r>
            <a:r>
              <a:rPr lang="en-US" altLang="zh-CN" sz="1800" dirty="0">
                <a:solidFill>
                  <a:srgbClr val="00B0F0"/>
                </a:solidFill>
                <a:latin typeface="Consolas" pitchFamily="49" charset="0"/>
                <a:ea typeface="仿宋" pitchFamily="49" charset="-122"/>
                <a:cs typeface="Consolas" pitchFamily="49" charset="0"/>
              </a:rPr>
              <a:t>//</a:t>
            </a:r>
            <a:r>
              <a:rPr lang="zh-CN" altLang="en-US" sz="1800" dirty="0">
                <a:solidFill>
                  <a:srgbClr val="00B0F0"/>
                </a:solidFill>
                <a:latin typeface="Consolas" pitchFamily="49" charset="0"/>
                <a:ea typeface="仿宋" pitchFamily="49" charset="-122"/>
                <a:cs typeface="Consolas" pitchFamily="49" charset="0"/>
              </a:rPr>
              <a:t>指向第一条边</a:t>
            </a:r>
          </a:p>
          <a:p>
            <a:pPr algn="l"/>
            <a:r>
              <a:rPr lang="en-US" altLang="zh-CN" sz="1800" dirty="0">
                <a:solidFill>
                  <a:srgbClr val="0000FF"/>
                </a:solidFill>
                <a:latin typeface="Consolas" pitchFamily="49" charset="0"/>
                <a:ea typeface="仿宋" pitchFamily="49" charset="-122"/>
                <a:cs typeface="Consolas" pitchFamily="49" charset="0"/>
              </a:rPr>
              <a:t>}  </a:t>
            </a:r>
            <a:r>
              <a:rPr lang="en-US" altLang="zh-CN" sz="1800" dirty="0" err="1">
                <a:solidFill>
                  <a:srgbClr val="C00000"/>
                </a:solidFill>
                <a:latin typeface="Consolas" pitchFamily="49" charset="0"/>
                <a:ea typeface="仿宋" pitchFamily="49" charset="-122"/>
                <a:cs typeface="Consolas" pitchFamily="49" charset="0"/>
              </a:rPr>
              <a:t>VNode</a:t>
            </a:r>
            <a:r>
              <a:rPr lang="en-US" altLang="zh-CN" sz="1800" dirty="0">
                <a:solidFill>
                  <a:srgbClr val="0000FF"/>
                </a:solidFill>
                <a:latin typeface="Consolas" pitchFamily="49" charset="0"/>
                <a:ea typeface="仿宋" pitchFamily="49" charset="-122"/>
                <a:cs typeface="Consolas" pitchFamily="49" charset="0"/>
              </a:rPr>
              <a:t>;</a:t>
            </a:r>
            <a:endParaRPr lang="zh-CN" altLang="en-US" sz="1800" dirty="0">
              <a:solidFill>
                <a:srgbClr val="0000FF"/>
              </a:solidFill>
              <a:latin typeface="Consolas" pitchFamily="49" charset="0"/>
              <a:ea typeface="仿宋" pitchFamily="49" charset="-122"/>
              <a:cs typeface="Consolas" pitchFamily="49" charset="0"/>
            </a:endParaRPr>
          </a:p>
          <a:p>
            <a:pPr algn="l"/>
            <a:r>
              <a:rPr lang="en-US" altLang="zh-CN" sz="1800" dirty="0">
                <a:solidFill>
                  <a:srgbClr val="0000FF"/>
                </a:solidFill>
                <a:latin typeface="Consolas" pitchFamily="49" charset="0"/>
                <a:ea typeface="仿宋" pitchFamily="49" charset="-122"/>
                <a:cs typeface="Consolas" pitchFamily="49" charset="0"/>
              </a:rPr>
              <a:t>typedef struct </a:t>
            </a:r>
          </a:p>
          <a:p>
            <a:pPr algn="l"/>
            <a:r>
              <a:rPr lang="en-US" altLang="zh-CN" sz="1800" dirty="0">
                <a:solidFill>
                  <a:srgbClr val="0000FF"/>
                </a:solidFill>
                <a:latin typeface="Consolas" pitchFamily="49" charset="0"/>
                <a:ea typeface="仿宋" pitchFamily="49" charset="-122"/>
                <a:cs typeface="Consolas" pitchFamily="49" charset="0"/>
              </a:rPr>
              <a:t>{  </a:t>
            </a:r>
            <a:r>
              <a:rPr lang="en-US" altLang="zh-CN" sz="1800" dirty="0" err="1">
                <a:solidFill>
                  <a:srgbClr val="C00000"/>
                </a:solidFill>
                <a:latin typeface="Consolas" pitchFamily="49" charset="0"/>
                <a:ea typeface="仿宋" pitchFamily="49" charset="-122"/>
                <a:cs typeface="Consolas" pitchFamily="49" charset="0"/>
              </a:rPr>
              <a:t>VNode</a:t>
            </a:r>
            <a:r>
              <a:rPr lang="en-US" altLang="zh-CN" sz="1800" dirty="0">
                <a:solidFill>
                  <a:srgbClr val="0000FF"/>
                </a:solidFill>
                <a:latin typeface="Consolas" pitchFamily="49" charset="0"/>
                <a:ea typeface="仿宋" pitchFamily="49" charset="-122"/>
                <a:cs typeface="Consolas" pitchFamily="49" charset="0"/>
              </a:rPr>
              <a:t> </a:t>
            </a:r>
            <a:r>
              <a:rPr lang="en-US" altLang="zh-CN" sz="1800" dirty="0" err="1">
                <a:solidFill>
                  <a:srgbClr val="0000FF"/>
                </a:solidFill>
                <a:latin typeface="Consolas" pitchFamily="49" charset="0"/>
                <a:ea typeface="仿宋" pitchFamily="49" charset="-122"/>
                <a:cs typeface="Consolas" pitchFamily="49" charset="0"/>
              </a:rPr>
              <a:t>adjlist</a:t>
            </a:r>
            <a:r>
              <a:rPr lang="en-US" altLang="zh-CN" sz="1800" dirty="0">
                <a:solidFill>
                  <a:srgbClr val="0000FF"/>
                </a:solidFill>
                <a:latin typeface="Consolas" pitchFamily="49" charset="0"/>
                <a:ea typeface="仿宋" pitchFamily="49" charset="-122"/>
                <a:cs typeface="Consolas" pitchFamily="49" charset="0"/>
              </a:rPr>
              <a:t>[MAXV];	</a:t>
            </a:r>
            <a:r>
              <a:rPr lang="en-US" altLang="zh-CN" sz="1800" dirty="0">
                <a:solidFill>
                  <a:srgbClr val="00B0F0"/>
                </a:solidFill>
                <a:latin typeface="Consolas" pitchFamily="49" charset="0"/>
                <a:ea typeface="仿宋" pitchFamily="49" charset="-122"/>
                <a:cs typeface="Consolas" pitchFamily="49" charset="0"/>
              </a:rPr>
              <a:t>//</a:t>
            </a:r>
            <a:r>
              <a:rPr lang="zh-CN" altLang="en-US" sz="1800" dirty="0">
                <a:solidFill>
                  <a:srgbClr val="00B0F0"/>
                </a:solidFill>
                <a:latin typeface="Consolas" pitchFamily="49" charset="0"/>
                <a:ea typeface="仿宋" pitchFamily="49" charset="-122"/>
                <a:cs typeface="Consolas" pitchFamily="49" charset="0"/>
              </a:rPr>
              <a:t>邻接表</a:t>
            </a:r>
          </a:p>
          <a:p>
            <a:pPr algn="l"/>
            <a:r>
              <a:rPr lang="zh-CN" altLang="en-US" sz="1800" dirty="0">
                <a:solidFill>
                  <a:srgbClr val="0000FF"/>
                </a:solidFill>
                <a:latin typeface="Consolas" pitchFamily="49" charset="0"/>
                <a:ea typeface="仿宋" pitchFamily="49" charset="-122"/>
                <a:cs typeface="Consolas" pitchFamily="49" charset="0"/>
              </a:rPr>
              <a:t>   </a:t>
            </a:r>
            <a:r>
              <a:rPr lang="en-US" altLang="zh-CN" sz="1800" dirty="0">
                <a:solidFill>
                  <a:srgbClr val="0000FF"/>
                </a:solidFill>
                <a:latin typeface="Consolas" pitchFamily="49" charset="0"/>
                <a:ea typeface="仿宋" pitchFamily="49" charset="-122"/>
                <a:cs typeface="Consolas" pitchFamily="49" charset="0"/>
              </a:rPr>
              <a:t>int n</a:t>
            </a:r>
            <a:r>
              <a:rPr lang="zh-CN" altLang="en-US" sz="1800" dirty="0">
                <a:solidFill>
                  <a:srgbClr val="0000FF"/>
                </a:solidFill>
                <a:latin typeface="Consolas" pitchFamily="49" charset="0"/>
                <a:ea typeface="仿宋" pitchFamily="49" charset="-122"/>
                <a:cs typeface="Consolas" pitchFamily="49" charset="0"/>
              </a:rPr>
              <a:t>，</a:t>
            </a:r>
            <a:r>
              <a:rPr lang="en-US" altLang="zh-CN" sz="1800" dirty="0">
                <a:solidFill>
                  <a:srgbClr val="0000FF"/>
                </a:solidFill>
                <a:latin typeface="Consolas" pitchFamily="49" charset="0"/>
                <a:ea typeface="仿宋" pitchFamily="49" charset="-122"/>
                <a:cs typeface="Consolas" pitchFamily="49" charset="0"/>
              </a:rPr>
              <a:t>e;			</a:t>
            </a:r>
            <a:r>
              <a:rPr lang="en-US" altLang="zh-CN" sz="1800" dirty="0">
                <a:solidFill>
                  <a:srgbClr val="00B0F0"/>
                </a:solidFill>
                <a:latin typeface="Consolas" pitchFamily="49" charset="0"/>
                <a:ea typeface="仿宋" pitchFamily="49" charset="-122"/>
                <a:cs typeface="Consolas" pitchFamily="49" charset="0"/>
              </a:rPr>
              <a:t>//</a:t>
            </a:r>
            <a:r>
              <a:rPr lang="zh-CN" altLang="en-US" sz="1800" dirty="0">
                <a:solidFill>
                  <a:srgbClr val="00B0F0"/>
                </a:solidFill>
                <a:latin typeface="Consolas" pitchFamily="49" charset="0"/>
                <a:ea typeface="仿宋" pitchFamily="49" charset="-122"/>
                <a:cs typeface="Consolas" pitchFamily="49" charset="0"/>
              </a:rPr>
              <a:t>图中顶点数</a:t>
            </a:r>
            <a:r>
              <a:rPr lang="en-US" altLang="zh-CN" sz="1800" i="1" dirty="0">
                <a:solidFill>
                  <a:srgbClr val="00B0F0"/>
                </a:solidFill>
                <a:latin typeface="Consolas" pitchFamily="49" charset="0"/>
                <a:ea typeface="仿宋" pitchFamily="49" charset="-122"/>
                <a:cs typeface="Consolas" pitchFamily="49" charset="0"/>
              </a:rPr>
              <a:t>n</a:t>
            </a:r>
            <a:r>
              <a:rPr lang="zh-CN" altLang="en-US" sz="1800" dirty="0">
                <a:solidFill>
                  <a:srgbClr val="00B0F0"/>
                </a:solidFill>
                <a:latin typeface="Consolas" pitchFamily="49" charset="0"/>
                <a:ea typeface="仿宋" pitchFamily="49" charset="-122"/>
                <a:cs typeface="Consolas" pitchFamily="49" charset="0"/>
              </a:rPr>
              <a:t>和边数</a:t>
            </a:r>
            <a:r>
              <a:rPr lang="en-US" altLang="zh-CN" sz="1800" i="1" dirty="0">
                <a:solidFill>
                  <a:srgbClr val="00B0F0"/>
                </a:solidFill>
                <a:latin typeface="Consolas" pitchFamily="49" charset="0"/>
                <a:ea typeface="仿宋" pitchFamily="49" charset="-122"/>
                <a:cs typeface="Consolas" pitchFamily="49" charset="0"/>
              </a:rPr>
              <a:t>e</a:t>
            </a:r>
          </a:p>
          <a:p>
            <a:pPr algn="l"/>
            <a:r>
              <a:rPr lang="en-US" altLang="zh-CN" sz="1800" dirty="0">
                <a:solidFill>
                  <a:srgbClr val="0000FF"/>
                </a:solidFill>
                <a:latin typeface="Consolas" pitchFamily="49" charset="0"/>
                <a:ea typeface="仿宋" pitchFamily="49" charset="-122"/>
                <a:cs typeface="Consolas" pitchFamily="49" charset="0"/>
              </a:rPr>
              <a:t>} </a:t>
            </a:r>
            <a:r>
              <a:rPr lang="en-US" altLang="zh-CN" sz="1800" dirty="0" err="1">
                <a:solidFill>
                  <a:srgbClr val="FF0000"/>
                </a:solidFill>
                <a:latin typeface="Consolas" pitchFamily="49" charset="0"/>
                <a:ea typeface="仿宋" pitchFamily="49" charset="-122"/>
                <a:cs typeface="Consolas" pitchFamily="49" charset="0"/>
              </a:rPr>
              <a:t>AdjGraph</a:t>
            </a:r>
            <a:r>
              <a:rPr lang="en-US" altLang="zh-CN" sz="1800" dirty="0">
                <a:solidFill>
                  <a:srgbClr val="0000FF"/>
                </a:solidFill>
                <a:latin typeface="Consolas" pitchFamily="49" charset="0"/>
                <a:ea typeface="仿宋" pitchFamily="49" charset="-122"/>
                <a:cs typeface="Consolas" pitchFamily="49" charset="0"/>
              </a:rPr>
              <a:t>;</a:t>
            </a:r>
            <a:endParaRPr lang="zh-CN" altLang="en-US" sz="1800" dirty="0">
              <a:solidFill>
                <a:srgbClr val="0000FF"/>
              </a:solidFill>
              <a:latin typeface="Consolas" pitchFamily="49" charset="0"/>
              <a:ea typeface="仿宋" pitchFamily="49" charset="-122"/>
              <a:cs typeface="Consolas" pitchFamily="49" charset="0"/>
            </a:endParaRPr>
          </a:p>
        </p:txBody>
      </p:sp>
      <p:sp>
        <p:nvSpPr>
          <p:cNvPr id="8" name="Text Box 5">
            <a:extLst>
              <a:ext uri="{FF2B5EF4-FFF2-40B4-BE49-F238E27FC236}">
                <a16:creationId xmlns:a16="http://schemas.microsoft.com/office/drawing/2014/main" id="{2E01A7B7-2349-46D9-C48E-C4FC8577CD0F}"/>
              </a:ext>
            </a:extLst>
          </p:cNvPr>
          <p:cNvSpPr txBox="1">
            <a:spLocks noChangeArrowheads="1"/>
          </p:cNvSpPr>
          <p:nvPr/>
        </p:nvSpPr>
        <p:spPr bwMode="auto">
          <a:xfrm>
            <a:off x="1343473" y="1832670"/>
            <a:ext cx="3960440" cy="400110"/>
          </a:xfrm>
          <a:prstGeom prst="rect">
            <a:avLst/>
          </a:prstGeom>
          <a:noFill/>
          <a:ln w="19050" algn="ctr">
            <a:noFill/>
            <a:miter lim="800000"/>
            <a:headEnd/>
            <a:tailEnd type="none" w="med" len="lg"/>
          </a:ln>
          <a:effectLst/>
        </p:spPr>
        <p:txBody>
          <a:bodyPr wrap="square">
            <a:spAutoFit/>
          </a:bodyPr>
          <a:lstStyle/>
          <a:p>
            <a:pPr algn="l">
              <a:spcBef>
                <a:spcPct val="50000"/>
              </a:spcBef>
            </a:pPr>
            <a:r>
              <a:rPr kumimoji="1" lang="zh-CN" altLang="en-US" sz="2000" dirty="0">
                <a:latin typeface="微软雅黑" pitchFamily="34" charset="-122"/>
                <a:ea typeface="微软雅黑" pitchFamily="34" charset="-122"/>
                <a:cs typeface="经典粗黑简" pitchFamily="49" charset="-122"/>
              </a:rPr>
              <a:t>图的邻接表存储类型定义如下：</a:t>
            </a:r>
          </a:p>
        </p:txBody>
      </p:sp>
      <p:grpSp>
        <p:nvGrpSpPr>
          <p:cNvPr id="11" name="组合 3">
            <a:extLst>
              <a:ext uri="{FF2B5EF4-FFF2-40B4-BE49-F238E27FC236}">
                <a16:creationId xmlns:a16="http://schemas.microsoft.com/office/drawing/2014/main" id="{313E4AAD-07BF-F90A-1E86-D17756CD86AB}"/>
              </a:ext>
            </a:extLst>
          </p:cNvPr>
          <p:cNvGrpSpPr/>
          <p:nvPr/>
        </p:nvGrpSpPr>
        <p:grpSpPr>
          <a:xfrm>
            <a:off x="7877640" y="2575622"/>
            <a:ext cx="2857982" cy="1285884"/>
            <a:chOff x="6643702" y="1785926"/>
            <a:chExt cx="1482239" cy="1285884"/>
          </a:xfrm>
        </p:grpSpPr>
        <p:sp>
          <p:nvSpPr>
            <p:cNvPr id="16" name="TextBox 4">
              <a:extLst>
                <a:ext uri="{FF2B5EF4-FFF2-40B4-BE49-F238E27FC236}">
                  <a16:creationId xmlns:a16="http://schemas.microsoft.com/office/drawing/2014/main" id="{9E3A9441-6F7E-DA37-6B78-5D9CA8AC551A}"/>
                </a:ext>
              </a:extLst>
            </p:cNvPr>
            <p:cNvSpPr txBox="1"/>
            <p:nvPr/>
          </p:nvSpPr>
          <p:spPr>
            <a:xfrm>
              <a:off x="6840057" y="2228147"/>
              <a:ext cx="1285884" cy="707886"/>
            </a:xfrm>
            <a:prstGeom prst="rect">
              <a:avLst/>
            </a:prstGeom>
            <a:noFill/>
          </p:spPr>
          <p:txBody>
            <a:bodyPr wrap="square" rtlCol="0">
              <a:spAutoFit/>
            </a:bodyPr>
            <a:lstStyle/>
            <a:p>
              <a:r>
                <a:rPr lang="zh-CN" altLang="en-US" sz="2000" dirty="0">
                  <a:latin typeface="Consolas" pitchFamily="49" charset="0"/>
                  <a:ea typeface="仿宋" pitchFamily="49" charset="-122"/>
                  <a:cs typeface="Consolas" pitchFamily="49" charset="0"/>
                </a:rPr>
                <a:t>声明</a:t>
              </a:r>
              <a:r>
                <a:rPr lang="zh-CN" altLang="en-US" sz="2000" dirty="0">
                  <a:solidFill>
                    <a:srgbClr val="FF0000"/>
                  </a:solidFill>
                  <a:latin typeface="Consolas" pitchFamily="49" charset="0"/>
                  <a:ea typeface="仿宋" pitchFamily="49" charset="-122"/>
                  <a:cs typeface="Consolas" pitchFamily="49" charset="0"/>
                </a:rPr>
                <a:t>边结点</a:t>
              </a:r>
              <a:r>
                <a:rPr lang="zh-CN" altLang="en-US" sz="2000" dirty="0">
                  <a:solidFill>
                    <a:srgbClr val="0000FF"/>
                  </a:solidFill>
                  <a:latin typeface="Consolas" pitchFamily="49" charset="0"/>
                  <a:ea typeface="仿宋" pitchFamily="49" charset="-122"/>
                  <a:cs typeface="Consolas" pitchFamily="49" charset="0"/>
                </a:rPr>
                <a:t>类型</a:t>
              </a:r>
              <a:endParaRPr lang="zh-CN" altLang="en-US" sz="2000" dirty="0">
                <a:latin typeface="Consolas" pitchFamily="49" charset="0"/>
                <a:ea typeface="仿宋" pitchFamily="49" charset="-122"/>
                <a:cs typeface="Consolas" pitchFamily="49" charset="0"/>
              </a:endParaRPr>
            </a:p>
          </p:txBody>
        </p:sp>
        <p:sp>
          <p:nvSpPr>
            <p:cNvPr id="17" name="右大括号 16">
              <a:extLst>
                <a:ext uri="{FF2B5EF4-FFF2-40B4-BE49-F238E27FC236}">
                  <a16:creationId xmlns:a16="http://schemas.microsoft.com/office/drawing/2014/main" id="{262AD332-EE99-6C4E-874C-9B6C8796D4CB}"/>
                </a:ext>
              </a:extLst>
            </p:cNvPr>
            <p:cNvSpPr/>
            <p:nvPr/>
          </p:nvSpPr>
          <p:spPr>
            <a:xfrm>
              <a:off x="6643702" y="1785926"/>
              <a:ext cx="214314" cy="1285884"/>
            </a:xfrm>
            <a:prstGeom prst="rightBrace">
              <a:avLst/>
            </a:prstGeom>
            <a:ln w="19050">
              <a:solidFill>
                <a:srgbClr val="C00000"/>
              </a:solidFill>
              <a:tailEnd type="none" w="med"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2000">
                <a:latin typeface="Consolas" pitchFamily="49" charset="0"/>
                <a:ea typeface="仿宋" pitchFamily="49" charset="-122"/>
                <a:cs typeface="Consolas" pitchFamily="49" charset="0"/>
              </a:endParaRPr>
            </a:p>
          </p:txBody>
        </p:sp>
      </p:grpSp>
      <p:grpSp>
        <p:nvGrpSpPr>
          <p:cNvPr id="18" name="组合 10">
            <a:extLst>
              <a:ext uri="{FF2B5EF4-FFF2-40B4-BE49-F238E27FC236}">
                <a16:creationId xmlns:a16="http://schemas.microsoft.com/office/drawing/2014/main" id="{661E3D6A-E149-3132-E396-E73FB4003F11}"/>
              </a:ext>
            </a:extLst>
          </p:cNvPr>
          <p:cNvGrpSpPr/>
          <p:nvPr/>
        </p:nvGrpSpPr>
        <p:grpSpPr>
          <a:xfrm>
            <a:off x="7877636" y="4120586"/>
            <a:ext cx="3279102" cy="1393619"/>
            <a:chOff x="6572264" y="2786058"/>
            <a:chExt cx="1470090" cy="1393619"/>
          </a:xfrm>
        </p:grpSpPr>
        <p:sp>
          <p:nvSpPr>
            <p:cNvPr id="19" name="TextBox 6">
              <a:extLst>
                <a:ext uri="{FF2B5EF4-FFF2-40B4-BE49-F238E27FC236}">
                  <a16:creationId xmlns:a16="http://schemas.microsoft.com/office/drawing/2014/main" id="{E1CC4EC6-E364-3473-BFCC-C9C8BF485E8B}"/>
                </a:ext>
              </a:extLst>
            </p:cNvPr>
            <p:cNvSpPr txBox="1"/>
            <p:nvPr/>
          </p:nvSpPr>
          <p:spPr>
            <a:xfrm>
              <a:off x="6756470" y="3164014"/>
              <a:ext cx="1285884" cy="1015663"/>
            </a:xfrm>
            <a:prstGeom prst="rect">
              <a:avLst/>
            </a:prstGeom>
            <a:noFill/>
          </p:spPr>
          <p:txBody>
            <a:bodyPr wrap="square" rtlCol="0">
              <a:spAutoFit/>
            </a:bodyPr>
            <a:lstStyle/>
            <a:p>
              <a:r>
                <a:rPr lang="zh-CN" altLang="en-US" sz="2000" dirty="0">
                  <a:latin typeface="Consolas" pitchFamily="49" charset="0"/>
                  <a:ea typeface="仿宋" pitchFamily="49" charset="-122"/>
                  <a:cs typeface="Consolas" pitchFamily="49" charset="0"/>
                </a:rPr>
                <a:t>声明</a:t>
              </a:r>
              <a:r>
                <a:rPr lang="zh-CN" altLang="en-US" sz="2000" dirty="0">
                  <a:solidFill>
                    <a:srgbClr val="0000FF"/>
                  </a:solidFill>
                  <a:latin typeface="Consolas" pitchFamily="49" charset="0"/>
                  <a:ea typeface="仿宋" pitchFamily="49" charset="-122"/>
                  <a:cs typeface="Consolas" pitchFamily="49" charset="0"/>
                </a:rPr>
                <a:t>邻接表</a:t>
              </a:r>
              <a:r>
                <a:rPr lang="zh-CN" altLang="en-US" sz="2000" dirty="0">
                  <a:solidFill>
                    <a:srgbClr val="FF0000"/>
                  </a:solidFill>
                  <a:latin typeface="Consolas" pitchFamily="49" charset="0"/>
                  <a:ea typeface="仿宋" pitchFamily="49" charset="-122"/>
                  <a:cs typeface="Consolas" pitchFamily="49" charset="0"/>
                </a:rPr>
                <a:t>头结点</a:t>
              </a:r>
              <a:r>
                <a:rPr lang="zh-CN" altLang="en-US" sz="2000" dirty="0">
                  <a:solidFill>
                    <a:srgbClr val="0000FF"/>
                  </a:solidFill>
                  <a:latin typeface="Consolas" pitchFamily="49" charset="0"/>
                  <a:ea typeface="仿宋" pitchFamily="49" charset="-122"/>
                  <a:cs typeface="Consolas" pitchFamily="49" charset="0"/>
                </a:rPr>
                <a:t>类型</a:t>
              </a:r>
              <a:endParaRPr lang="zh-CN" altLang="en-US" sz="2000" dirty="0">
                <a:latin typeface="Consolas" pitchFamily="49" charset="0"/>
                <a:ea typeface="仿宋" pitchFamily="49" charset="-122"/>
                <a:cs typeface="Consolas" pitchFamily="49" charset="0"/>
              </a:endParaRPr>
            </a:p>
          </p:txBody>
        </p:sp>
        <p:sp>
          <p:nvSpPr>
            <p:cNvPr id="20" name="右大括号 19">
              <a:extLst>
                <a:ext uri="{FF2B5EF4-FFF2-40B4-BE49-F238E27FC236}">
                  <a16:creationId xmlns:a16="http://schemas.microsoft.com/office/drawing/2014/main" id="{B3723BD9-7093-C71C-F157-C3161F2E7608}"/>
                </a:ext>
              </a:extLst>
            </p:cNvPr>
            <p:cNvSpPr/>
            <p:nvPr/>
          </p:nvSpPr>
          <p:spPr>
            <a:xfrm>
              <a:off x="6572264" y="2786058"/>
              <a:ext cx="214314" cy="1143008"/>
            </a:xfrm>
            <a:prstGeom prst="rightBrace">
              <a:avLst/>
            </a:prstGeom>
            <a:ln w="19050">
              <a:solidFill>
                <a:srgbClr val="C00000"/>
              </a:solidFill>
              <a:tailEnd type="none" w="med"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2000">
                <a:latin typeface="Consolas" pitchFamily="49" charset="0"/>
                <a:ea typeface="仿宋" pitchFamily="49" charset="-122"/>
                <a:cs typeface="Consolas" pitchFamily="49" charset="0"/>
              </a:endParaRPr>
            </a:p>
          </p:txBody>
        </p:sp>
      </p:grpSp>
      <p:grpSp>
        <p:nvGrpSpPr>
          <p:cNvPr id="21" name="组合 11">
            <a:extLst>
              <a:ext uri="{FF2B5EF4-FFF2-40B4-BE49-F238E27FC236}">
                <a16:creationId xmlns:a16="http://schemas.microsoft.com/office/drawing/2014/main" id="{78D04E55-5017-D980-528C-C5F0F8DBD492}"/>
              </a:ext>
            </a:extLst>
          </p:cNvPr>
          <p:cNvGrpSpPr/>
          <p:nvPr/>
        </p:nvGrpSpPr>
        <p:grpSpPr>
          <a:xfrm>
            <a:off x="7859890" y="5355635"/>
            <a:ext cx="3296848" cy="893792"/>
            <a:chOff x="6572264" y="4357694"/>
            <a:chExt cx="1500198" cy="893792"/>
          </a:xfrm>
        </p:grpSpPr>
        <p:sp>
          <p:nvSpPr>
            <p:cNvPr id="22" name="TextBox 7">
              <a:extLst>
                <a:ext uri="{FF2B5EF4-FFF2-40B4-BE49-F238E27FC236}">
                  <a16:creationId xmlns:a16="http://schemas.microsoft.com/office/drawing/2014/main" id="{CEA53B3D-5739-AD99-2AAA-471A90875661}"/>
                </a:ext>
              </a:extLst>
            </p:cNvPr>
            <p:cNvSpPr txBox="1"/>
            <p:nvPr/>
          </p:nvSpPr>
          <p:spPr>
            <a:xfrm>
              <a:off x="6786578" y="4543600"/>
              <a:ext cx="1285884" cy="707886"/>
            </a:xfrm>
            <a:prstGeom prst="rect">
              <a:avLst/>
            </a:prstGeom>
            <a:noFill/>
          </p:spPr>
          <p:txBody>
            <a:bodyPr wrap="square" rtlCol="0">
              <a:spAutoFit/>
            </a:bodyPr>
            <a:lstStyle/>
            <a:p>
              <a:r>
                <a:rPr lang="zh-CN" altLang="en-US" sz="2000" dirty="0">
                  <a:latin typeface="Consolas" pitchFamily="49" charset="0"/>
                  <a:ea typeface="仿宋" pitchFamily="49" charset="-122"/>
                  <a:cs typeface="Consolas" pitchFamily="49" charset="0"/>
                </a:rPr>
                <a:t>声明</a:t>
              </a:r>
              <a:r>
                <a:rPr lang="zh-CN" altLang="en-US" sz="2000" dirty="0">
                  <a:solidFill>
                    <a:srgbClr val="0000FF"/>
                  </a:solidFill>
                  <a:latin typeface="Consolas" pitchFamily="49" charset="0"/>
                  <a:ea typeface="仿宋" pitchFamily="49" charset="-122"/>
                  <a:cs typeface="Consolas" pitchFamily="49" charset="0"/>
                </a:rPr>
                <a:t>图邻接表类型</a:t>
              </a:r>
              <a:endParaRPr lang="zh-CN" altLang="en-US" sz="2000" dirty="0">
                <a:latin typeface="Consolas" pitchFamily="49" charset="0"/>
                <a:ea typeface="仿宋" pitchFamily="49" charset="-122"/>
                <a:cs typeface="Consolas" pitchFamily="49" charset="0"/>
              </a:endParaRPr>
            </a:p>
          </p:txBody>
        </p:sp>
        <p:sp>
          <p:nvSpPr>
            <p:cNvPr id="23" name="右大括号 22">
              <a:extLst>
                <a:ext uri="{FF2B5EF4-FFF2-40B4-BE49-F238E27FC236}">
                  <a16:creationId xmlns:a16="http://schemas.microsoft.com/office/drawing/2014/main" id="{2CDBF7E3-CE07-AA9D-4382-278410E89A61}"/>
                </a:ext>
              </a:extLst>
            </p:cNvPr>
            <p:cNvSpPr/>
            <p:nvPr/>
          </p:nvSpPr>
          <p:spPr>
            <a:xfrm>
              <a:off x="6572264" y="4357694"/>
              <a:ext cx="214314" cy="857256"/>
            </a:xfrm>
            <a:prstGeom prst="rightBrace">
              <a:avLst/>
            </a:prstGeom>
            <a:ln w="19050">
              <a:solidFill>
                <a:srgbClr val="C00000"/>
              </a:solidFill>
              <a:tailEnd type="none" w="med"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2000">
                <a:latin typeface="Consolas" pitchFamily="49" charset="0"/>
                <a:ea typeface="仿宋" pitchFamily="49" charset="-122"/>
                <a:cs typeface="Consolas" pitchFamily="49" charset="0"/>
              </a:endParaRPr>
            </a:p>
          </p:txBody>
        </p:sp>
      </p:grpSp>
    </p:spTree>
    <p:extLst>
      <p:ext uri="{BB962C8B-B14F-4D97-AF65-F5344CB8AC3E}">
        <p14:creationId xmlns:p14="http://schemas.microsoft.com/office/powerpoint/2010/main" val="10265821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xEl>
                                              <p:pRg st="1" end="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
                                            <p:txEl>
                                              <p:pRg st="4" end="4"/>
                                            </p:txEl>
                                          </p:spTgt>
                                        </p:tgtEl>
                                        <p:attrNameLst>
                                          <p:attrName>style.visibility</p:attrName>
                                        </p:attrNameLst>
                                      </p:cBhvr>
                                      <p:to>
                                        <p:strVal val="visible"/>
                                      </p:to>
                                    </p:set>
                                  </p:childTnLst>
                                </p:cTn>
                              </p:par>
                            </p:childTnLst>
                          </p:cTn>
                        </p:par>
                        <p:par>
                          <p:cTn id="19" fill="hold">
                            <p:stCondLst>
                              <p:cond delay="0"/>
                            </p:stCondLst>
                            <p:childTnLst>
                              <p:par>
                                <p:cTn id="20" presetID="1" presetClass="entr" presetSubtype="0" fill="hold" nodeType="afterEffect">
                                  <p:stCondLst>
                                    <p:cond delay="0"/>
                                  </p:stCondLst>
                                  <p:childTnLst>
                                    <p:set>
                                      <p:cBhvr>
                                        <p:cTn id="21" dur="1" fill="hold">
                                          <p:stCondLst>
                                            <p:cond delay="0"/>
                                          </p:stCondLst>
                                        </p:cTn>
                                        <p:tgtEl>
                                          <p:spTgt spid="11"/>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7">
                                            <p:txEl>
                                              <p:pRg st="5" end="5"/>
                                            </p:txEl>
                                          </p:spTgt>
                                        </p:tgtEl>
                                        <p:attrNameLst>
                                          <p:attrName>style.visibility</p:attrName>
                                        </p:attrNameLst>
                                      </p:cBhvr>
                                      <p:to>
                                        <p:strVal val="visible"/>
                                      </p:to>
                                    </p:set>
                                  </p:childTnLst>
                                </p:cTn>
                              </p:par>
                              <p:par>
                                <p:cTn id="26" presetID="1" presetClass="entr" presetSubtype="0" fill="hold" nodeType="withEffect">
                                  <p:stCondLst>
                                    <p:cond delay="0"/>
                                  </p:stCondLst>
                                  <p:childTnLst>
                                    <p:set>
                                      <p:cBhvr>
                                        <p:cTn id="27" dur="1" fill="hold">
                                          <p:stCondLst>
                                            <p:cond delay="0"/>
                                          </p:stCondLst>
                                        </p:cTn>
                                        <p:tgtEl>
                                          <p:spTgt spid="7">
                                            <p:txEl>
                                              <p:pRg st="6" end="6"/>
                                            </p:txEl>
                                          </p:spTgt>
                                        </p:tgtEl>
                                        <p:attrNameLst>
                                          <p:attrName>style.visibility</p:attrName>
                                        </p:attrNameLst>
                                      </p:cBhvr>
                                      <p:to>
                                        <p:strVal val="visible"/>
                                      </p:to>
                                    </p:set>
                                  </p:childTnLst>
                                </p:cTn>
                              </p:par>
                              <p:par>
                                <p:cTn id="28" presetID="1" presetClass="entr" presetSubtype="0" fill="hold" nodeType="withEffect">
                                  <p:stCondLst>
                                    <p:cond delay="0"/>
                                  </p:stCondLst>
                                  <p:childTnLst>
                                    <p:set>
                                      <p:cBhvr>
                                        <p:cTn id="29" dur="1" fill="hold">
                                          <p:stCondLst>
                                            <p:cond delay="0"/>
                                          </p:stCondLst>
                                        </p:cTn>
                                        <p:tgtEl>
                                          <p:spTgt spid="7">
                                            <p:txEl>
                                              <p:pRg st="7" end="7"/>
                                            </p:txEl>
                                          </p:spTgt>
                                        </p:tgtEl>
                                        <p:attrNameLst>
                                          <p:attrName>style.visibility</p:attrName>
                                        </p:attrNameLst>
                                      </p:cBhvr>
                                      <p:to>
                                        <p:strVal val="visible"/>
                                      </p:to>
                                    </p:set>
                                  </p:childTnLst>
                                </p:cTn>
                              </p:par>
                              <p:par>
                                <p:cTn id="30" presetID="1" presetClass="entr" presetSubtype="0" fill="hold" nodeType="withEffect">
                                  <p:stCondLst>
                                    <p:cond delay="0"/>
                                  </p:stCondLst>
                                  <p:childTnLst>
                                    <p:set>
                                      <p:cBhvr>
                                        <p:cTn id="31" dur="1" fill="hold">
                                          <p:stCondLst>
                                            <p:cond delay="0"/>
                                          </p:stCondLst>
                                        </p:cTn>
                                        <p:tgtEl>
                                          <p:spTgt spid="7">
                                            <p:txEl>
                                              <p:pRg st="8" end="8"/>
                                            </p:txEl>
                                          </p:spTgt>
                                        </p:tgtEl>
                                        <p:attrNameLst>
                                          <p:attrName>style.visibility</p:attrName>
                                        </p:attrNameLst>
                                      </p:cBhvr>
                                      <p:to>
                                        <p:strVal val="visible"/>
                                      </p:to>
                                    </p:set>
                                  </p:childTnLst>
                                </p:cTn>
                              </p:par>
                            </p:childTnLst>
                          </p:cTn>
                        </p:par>
                        <p:par>
                          <p:cTn id="32" fill="hold">
                            <p:stCondLst>
                              <p:cond delay="0"/>
                            </p:stCondLst>
                            <p:childTnLst>
                              <p:par>
                                <p:cTn id="33" presetID="1" presetClass="entr" presetSubtype="0" fill="hold" nodeType="afterEffect">
                                  <p:stCondLst>
                                    <p:cond delay="0"/>
                                  </p:stCondLst>
                                  <p:childTnLst>
                                    <p:set>
                                      <p:cBhvr>
                                        <p:cTn id="34" dur="1" fill="hold">
                                          <p:stCondLst>
                                            <p:cond delay="0"/>
                                          </p:stCondLst>
                                        </p:cTn>
                                        <p:tgtEl>
                                          <p:spTgt spid="1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7">
                                            <p:txEl>
                                              <p:pRg st="9" end="9"/>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7">
                                            <p:txEl>
                                              <p:pRg st="10" end="10"/>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7">
                                            <p:txEl>
                                              <p:pRg st="11" end="11"/>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7">
                                            <p:txEl>
                                              <p:pRg st="12" end="12"/>
                                            </p:txEl>
                                          </p:spTgt>
                                        </p:tgtEl>
                                        <p:attrNameLst>
                                          <p:attrName>style.visibility</p:attrName>
                                        </p:attrNameLst>
                                      </p:cBhvr>
                                      <p:to>
                                        <p:strVal val="visible"/>
                                      </p:to>
                                    </p:set>
                                  </p:childTnLst>
                                </p:cTn>
                              </p:par>
                            </p:childTnLst>
                          </p:cTn>
                        </p:par>
                        <p:par>
                          <p:cTn id="45" fill="hold">
                            <p:stCondLst>
                              <p:cond delay="0"/>
                            </p:stCondLst>
                            <p:childTnLst>
                              <p:par>
                                <p:cTn id="46" presetID="1" presetClass="entr" presetSubtype="0" fill="hold" nodeType="afterEffect">
                                  <p:stCondLst>
                                    <p:cond delay="0"/>
                                  </p:stCondLst>
                                  <p:childTnLst>
                                    <p:set>
                                      <p:cBhvr>
                                        <p:cTn id="47"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autoUpdateAnimBg="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3"/>
          <p:cNvSpPr>
            <a:spLocks noChangeArrowheads="1"/>
          </p:cNvSpPr>
          <p:nvPr/>
        </p:nvSpPr>
        <p:spPr bwMode="auto">
          <a:xfrm>
            <a:off x="2987675" y="3644106"/>
            <a:ext cx="1600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000" rIns="18000" anchor="ctr"/>
          <a:lstStyle/>
          <a:p>
            <a:pPr algn="ctr" eaLnBrk="0" hangingPunct="0">
              <a:defRPr/>
            </a:pPr>
            <a:r>
              <a:rPr lang="en-US" altLang="zh-CN" sz="2800">
                <a:effectLst>
                  <a:outerShdw blurRad="38100" dist="38100" dir="2700000" algn="tl">
                    <a:srgbClr val="C0C0C0"/>
                  </a:outerShdw>
                </a:effectLst>
                <a:latin typeface="Times New Roman" pitchFamily="18" charset="0"/>
              </a:rPr>
              <a:t>O(n</a:t>
            </a:r>
            <a:r>
              <a:rPr lang="en-US" altLang="zh-CN" sz="2800" baseline="30000">
                <a:effectLst>
                  <a:outerShdw blurRad="38100" dist="38100" dir="2700000" algn="tl">
                    <a:srgbClr val="C0C0C0"/>
                  </a:outerShdw>
                </a:effectLst>
                <a:latin typeface="Times New Roman" pitchFamily="18" charset="0"/>
              </a:rPr>
              <a:t>2</a:t>
            </a:r>
            <a:r>
              <a:rPr lang="en-US" altLang="zh-CN" sz="2800">
                <a:effectLst>
                  <a:outerShdw blurRad="38100" dist="38100" dir="2700000" algn="tl">
                    <a:srgbClr val="C0C0C0"/>
                  </a:outerShdw>
                </a:effectLst>
                <a:latin typeface="Times New Roman" pitchFamily="18" charset="0"/>
              </a:rPr>
              <a:t>)</a:t>
            </a:r>
          </a:p>
        </p:txBody>
      </p:sp>
      <p:sp>
        <p:nvSpPr>
          <p:cNvPr id="15" name="Rectangle 4"/>
          <p:cNvSpPr>
            <a:spLocks noChangeArrowheads="1"/>
          </p:cNvSpPr>
          <p:nvPr/>
        </p:nvSpPr>
        <p:spPr bwMode="auto">
          <a:xfrm>
            <a:off x="2987675" y="5561806"/>
            <a:ext cx="1600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defRPr/>
            </a:pPr>
            <a:r>
              <a:rPr lang="en-US" altLang="zh-CN" sz="2800">
                <a:effectLst>
                  <a:outerShdw blurRad="38100" dist="38100" dir="2700000" algn="tl">
                    <a:srgbClr val="C0C0C0"/>
                  </a:outerShdw>
                </a:effectLst>
                <a:latin typeface="Times New Roman" pitchFamily="18" charset="0"/>
              </a:rPr>
              <a:t>O(n+e)</a:t>
            </a:r>
          </a:p>
        </p:txBody>
      </p:sp>
      <p:grpSp>
        <p:nvGrpSpPr>
          <p:cNvPr id="17" name="Group 5"/>
          <p:cNvGrpSpPr>
            <a:grpSpLocks/>
          </p:cNvGrpSpPr>
          <p:nvPr/>
        </p:nvGrpSpPr>
        <p:grpSpPr bwMode="auto">
          <a:xfrm>
            <a:off x="4664075" y="3644106"/>
            <a:ext cx="1676400" cy="2374900"/>
            <a:chOff x="1920" y="2304"/>
            <a:chExt cx="1056" cy="1496"/>
          </a:xfrm>
        </p:grpSpPr>
        <p:sp>
          <p:nvSpPr>
            <p:cNvPr id="18" name="Rectangle 6"/>
            <p:cNvSpPr>
              <a:spLocks noChangeArrowheads="1"/>
            </p:cNvSpPr>
            <p:nvPr/>
          </p:nvSpPr>
          <p:spPr bwMode="auto">
            <a:xfrm>
              <a:off x="1920" y="2304"/>
              <a:ext cx="93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defRPr/>
              </a:pPr>
              <a:r>
                <a:rPr lang="en-US" altLang="zh-CN" sz="2800">
                  <a:effectLst>
                    <a:outerShdw blurRad="38100" dist="38100" dir="2700000" algn="tl">
                      <a:srgbClr val="C0C0C0"/>
                    </a:outerShdw>
                  </a:effectLst>
                  <a:latin typeface="Times New Roman" pitchFamily="18" charset="0"/>
                </a:rPr>
                <a:t>O(n</a:t>
              </a:r>
              <a:r>
                <a:rPr lang="en-US" altLang="zh-CN" sz="2800" baseline="30000">
                  <a:effectLst>
                    <a:outerShdw blurRad="38100" dist="38100" dir="2700000" algn="tl">
                      <a:srgbClr val="C0C0C0"/>
                    </a:outerShdw>
                  </a:effectLst>
                  <a:latin typeface="Times New Roman" pitchFamily="18" charset="0"/>
                </a:rPr>
                <a:t>2</a:t>
              </a:r>
              <a:r>
                <a:rPr lang="en-US" altLang="zh-CN" sz="2800">
                  <a:effectLst>
                    <a:outerShdw blurRad="38100" dist="38100" dir="2700000" algn="tl">
                      <a:srgbClr val="C0C0C0"/>
                    </a:outerShdw>
                  </a:effectLst>
                  <a:latin typeface="Times New Roman" pitchFamily="18" charset="0"/>
                </a:rPr>
                <a:t>)</a:t>
              </a:r>
            </a:p>
          </p:txBody>
        </p:sp>
        <p:sp>
          <p:nvSpPr>
            <p:cNvPr id="19" name="Rectangle 7"/>
            <p:cNvSpPr>
              <a:spLocks noChangeArrowheads="1"/>
            </p:cNvSpPr>
            <p:nvPr/>
          </p:nvSpPr>
          <p:spPr bwMode="auto">
            <a:xfrm>
              <a:off x="1920" y="3512"/>
              <a:ext cx="105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defRPr/>
              </a:pPr>
              <a:r>
                <a:rPr lang="en-US" altLang="zh-CN" sz="2800">
                  <a:effectLst>
                    <a:outerShdw blurRad="38100" dist="38100" dir="2700000" algn="tl">
                      <a:srgbClr val="C0C0C0"/>
                    </a:outerShdw>
                  </a:effectLst>
                  <a:latin typeface="Times New Roman" pitchFamily="18" charset="0"/>
                </a:rPr>
                <a:t>O(n+e)</a:t>
              </a:r>
            </a:p>
          </p:txBody>
        </p:sp>
      </p:grpSp>
      <p:grpSp>
        <p:nvGrpSpPr>
          <p:cNvPr id="20" name="Group 8"/>
          <p:cNvGrpSpPr>
            <a:grpSpLocks/>
          </p:cNvGrpSpPr>
          <p:nvPr/>
        </p:nvGrpSpPr>
        <p:grpSpPr bwMode="auto">
          <a:xfrm>
            <a:off x="2911475" y="2424906"/>
            <a:ext cx="6781800" cy="533400"/>
            <a:chOff x="816" y="1824"/>
            <a:chExt cx="4272" cy="336"/>
          </a:xfrm>
        </p:grpSpPr>
        <p:sp>
          <p:nvSpPr>
            <p:cNvPr id="21" name="Rectangle 9"/>
            <p:cNvSpPr>
              <a:spLocks noChangeArrowheads="1"/>
            </p:cNvSpPr>
            <p:nvPr/>
          </p:nvSpPr>
          <p:spPr bwMode="auto">
            <a:xfrm>
              <a:off x="816" y="1824"/>
              <a:ext cx="1056" cy="336"/>
            </a:xfrm>
            <a:prstGeom prst="rect">
              <a:avLst/>
            </a:prstGeom>
            <a:gradFill rotWithShape="0">
              <a:gsLst>
                <a:gs pos="0">
                  <a:srgbClr val="FFEFD1"/>
                </a:gs>
                <a:gs pos="64999">
                  <a:srgbClr val="F0EBD5"/>
                </a:gs>
                <a:gs pos="100000">
                  <a:srgbClr val="D1C39F"/>
                </a:gs>
              </a:gsLst>
              <a:path path="rect">
                <a:fillToRect r="100000" b="100000"/>
              </a:path>
            </a:gradFill>
            <a:ln w="28575">
              <a:solidFill>
                <a:srgbClr val="66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defRPr/>
              </a:pPr>
              <a:r>
                <a:rPr kumimoji="1" lang="zh-CN" altLang="en-US" sz="2400" dirty="0">
                  <a:latin typeface="微软雅黑" pitchFamily="34" charset="-122"/>
                  <a:ea typeface="微软雅黑" pitchFamily="34" charset="-122"/>
                  <a:cs typeface="经典粗黑简" pitchFamily="49" charset="-122"/>
                </a:rPr>
                <a:t>空间性能</a:t>
              </a:r>
            </a:p>
          </p:txBody>
        </p:sp>
        <p:sp>
          <p:nvSpPr>
            <p:cNvPr id="22" name="Rectangle 10"/>
            <p:cNvSpPr>
              <a:spLocks noChangeArrowheads="1"/>
            </p:cNvSpPr>
            <p:nvPr/>
          </p:nvSpPr>
          <p:spPr bwMode="auto">
            <a:xfrm>
              <a:off x="1872" y="1824"/>
              <a:ext cx="1056" cy="336"/>
            </a:xfrm>
            <a:prstGeom prst="rect">
              <a:avLst/>
            </a:prstGeom>
            <a:gradFill rotWithShape="0">
              <a:gsLst>
                <a:gs pos="0">
                  <a:srgbClr val="FFEFD1"/>
                </a:gs>
                <a:gs pos="64999">
                  <a:srgbClr val="F0EBD5"/>
                </a:gs>
                <a:gs pos="100000">
                  <a:srgbClr val="D1C39F"/>
                </a:gs>
              </a:gsLst>
              <a:path path="rect">
                <a:fillToRect r="100000" b="100000"/>
              </a:path>
            </a:gradFill>
            <a:ln w="28575">
              <a:solidFill>
                <a:srgbClr val="66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defRPr/>
              </a:pPr>
              <a:r>
                <a:rPr kumimoji="1" lang="zh-CN" altLang="en-US" sz="2400" dirty="0">
                  <a:latin typeface="微软雅黑" pitchFamily="34" charset="-122"/>
                  <a:ea typeface="微软雅黑" pitchFamily="34" charset="-122"/>
                  <a:cs typeface="经典粗黑简" pitchFamily="49" charset="-122"/>
                </a:rPr>
                <a:t>时间性能</a:t>
              </a:r>
            </a:p>
          </p:txBody>
        </p:sp>
        <p:sp>
          <p:nvSpPr>
            <p:cNvPr id="23" name="Rectangle 11"/>
            <p:cNvSpPr>
              <a:spLocks noChangeArrowheads="1"/>
            </p:cNvSpPr>
            <p:nvPr/>
          </p:nvSpPr>
          <p:spPr bwMode="auto">
            <a:xfrm>
              <a:off x="2928" y="1824"/>
              <a:ext cx="1056" cy="336"/>
            </a:xfrm>
            <a:prstGeom prst="rect">
              <a:avLst/>
            </a:prstGeom>
            <a:gradFill rotWithShape="0">
              <a:gsLst>
                <a:gs pos="0">
                  <a:srgbClr val="FFEFD1"/>
                </a:gs>
                <a:gs pos="64999">
                  <a:srgbClr val="F0EBD5"/>
                </a:gs>
                <a:gs pos="100000">
                  <a:srgbClr val="D1C39F"/>
                </a:gs>
              </a:gsLst>
              <a:path path="rect">
                <a:fillToRect r="100000" b="100000"/>
              </a:path>
            </a:gradFill>
            <a:ln w="28575">
              <a:solidFill>
                <a:srgbClr val="66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defRPr/>
              </a:pPr>
              <a:r>
                <a:rPr kumimoji="1" lang="zh-CN" altLang="en-US" sz="2400" dirty="0">
                  <a:latin typeface="微软雅黑" pitchFamily="34" charset="-122"/>
                  <a:ea typeface="微软雅黑" pitchFamily="34" charset="-122"/>
                  <a:cs typeface="经典粗黑简" pitchFamily="49" charset="-122"/>
                </a:rPr>
                <a:t>适用范围</a:t>
              </a:r>
            </a:p>
          </p:txBody>
        </p:sp>
        <p:sp>
          <p:nvSpPr>
            <p:cNvPr id="24" name="Rectangle 12"/>
            <p:cNvSpPr>
              <a:spLocks noChangeArrowheads="1"/>
            </p:cNvSpPr>
            <p:nvPr/>
          </p:nvSpPr>
          <p:spPr bwMode="auto">
            <a:xfrm>
              <a:off x="3984" y="1824"/>
              <a:ext cx="1104" cy="336"/>
            </a:xfrm>
            <a:prstGeom prst="rect">
              <a:avLst/>
            </a:prstGeom>
            <a:gradFill rotWithShape="0">
              <a:gsLst>
                <a:gs pos="0">
                  <a:srgbClr val="FFEFD1"/>
                </a:gs>
                <a:gs pos="64999">
                  <a:srgbClr val="F0EBD5"/>
                </a:gs>
                <a:gs pos="100000">
                  <a:srgbClr val="D1C39F"/>
                </a:gs>
              </a:gsLst>
              <a:path path="rect">
                <a:fillToRect r="100000" b="100000"/>
              </a:path>
            </a:gradFill>
            <a:ln w="28575">
              <a:solidFill>
                <a:srgbClr val="66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defRPr/>
              </a:pPr>
              <a:r>
                <a:rPr kumimoji="1" lang="zh-CN" altLang="en-US" sz="2400" dirty="0">
                  <a:latin typeface="微软雅黑" pitchFamily="34" charset="-122"/>
                  <a:ea typeface="微软雅黑" pitchFamily="34" charset="-122"/>
                  <a:cs typeface="经典粗黑简" pitchFamily="49" charset="-122"/>
                </a:rPr>
                <a:t>唯一性</a:t>
              </a:r>
            </a:p>
          </p:txBody>
        </p:sp>
      </p:grpSp>
      <p:grpSp>
        <p:nvGrpSpPr>
          <p:cNvPr id="25" name="Group 13"/>
          <p:cNvGrpSpPr>
            <a:grpSpLocks/>
          </p:cNvGrpSpPr>
          <p:nvPr/>
        </p:nvGrpSpPr>
        <p:grpSpPr bwMode="auto">
          <a:xfrm>
            <a:off x="2289175" y="2977356"/>
            <a:ext cx="609600" cy="3686310"/>
            <a:chOff x="424" y="1864"/>
            <a:chExt cx="384" cy="2342"/>
          </a:xfrm>
        </p:grpSpPr>
        <p:sp>
          <p:nvSpPr>
            <p:cNvPr id="26" name="Rectangle 14"/>
            <p:cNvSpPr>
              <a:spLocks noChangeArrowheads="1"/>
            </p:cNvSpPr>
            <p:nvPr/>
          </p:nvSpPr>
          <p:spPr bwMode="auto">
            <a:xfrm>
              <a:off x="424" y="1864"/>
              <a:ext cx="384" cy="1152"/>
            </a:xfrm>
            <a:prstGeom prst="rect">
              <a:avLst/>
            </a:prstGeom>
            <a:gradFill rotWithShape="1">
              <a:gsLst>
                <a:gs pos="0">
                  <a:srgbClr val="FFEFD1"/>
                </a:gs>
                <a:gs pos="64999">
                  <a:srgbClr val="F0EBD5"/>
                </a:gs>
                <a:gs pos="100000">
                  <a:srgbClr val="D1C39F"/>
                </a:gs>
              </a:gsLst>
              <a:path path="rect">
                <a:fillToRect r="100000" b="100000"/>
              </a:path>
            </a:gradFill>
            <a:ln w="28575">
              <a:solidFill>
                <a:schemeClr val="accent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defRPr/>
              </a:pPr>
              <a:r>
                <a:rPr kumimoji="1" lang="zh-CN" altLang="en-US" sz="2400" dirty="0">
                  <a:latin typeface="微软雅黑" pitchFamily="34" charset="-122"/>
                  <a:ea typeface="微软雅黑" pitchFamily="34" charset="-122"/>
                  <a:cs typeface="经典粗黑简" pitchFamily="49" charset="-122"/>
                </a:rPr>
                <a:t>邻</a:t>
              </a:r>
            </a:p>
            <a:p>
              <a:pPr algn="ctr" eaLnBrk="0" hangingPunct="0">
                <a:defRPr/>
              </a:pPr>
              <a:r>
                <a:rPr kumimoji="1" lang="zh-CN" altLang="en-US" sz="2400" dirty="0">
                  <a:latin typeface="微软雅黑" pitchFamily="34" charset="-122"/>
                  <a:ea typeface="微软雅黑" pitchFamily="34" charset="-122"/>
                  <a:cs typeface="经典粗黑简" pitchFamily="49" charset="-122"/>
                </a:rPr>
                <a:t>接</a:t>
              </a:r>
            </a:p>
            <a:p>
              <a:pPr algn="ctr" eaLnBrk="0" hangingPunct="0">
                <a:defRPr/>
              </a:pPr>
              <a:r>
                <a:rPr kumimoji="1" lang="zh-CN" altLang="en-US" sz="2400" dirty="0">
                  <a:latin typeface="微软雅黑" pitchFamily="34" charset="-122"/>
                  <a:ea typeface="微软雅黑" pitchFamily="34" charset="-122"/>
                  <a:cs typeface="经典粗黑简" pitchFamily="49" charset="-122"/>
                </a:rPr>
                <a:t>矩</a:t>
              </a:r>
            </a:p>
            <a:p>
              <a:pPr algn="ctr" eaLnBrk="0" hangingPunct="0">
                <a:defRPr/>
              </a:pPr>
              <a:r>
                <a:rPr kumimoji="1" lang="zh-CN" altLang="en-US" sz="2400" dirty="0">
                  <a:latin typeface="微软雅黑" pitchFamily="34" charset="-122"/>
                  <a:ea typeface="微软雅黑" pitchFamily="34" charset="-122"/>
                  <a:cs typeface="经典粗黑简" pitchFamily="49" charset="-122"/>
                </a:rPr>
                <a:t>阵</a:t>
              </a:r>
            </a:p>
          </p:txBody>
        </p:sp>
        <p:sp>
          <p:nvSpPr>
            <p:cNvPr id="27" name="Rectangle 15"/>
            <p:cNvSpPr>
              <a:spLocks noChangeArrowheads="1"/>
            </p:cNvSpPr>
            <p:nvPr/>
          </p:nvSpPr>
          <p:spPr bwMode="auto">
            <a:xfrm>
              <a:off x="424" y="3006"/>
              <a:ext cx="384" cy="1200"/>
            </a:xfrm>
            <a:prstGeom prst="rect">
              <a:avLst/>
            </a:prstGeom>
            <a:gradFill rotWithShape="1">
              <a:gsLst>
                <a:gs pos="0">
                  <a:srgbClr val="FFEFD1"/>
                </a:gs>
                <a:gs pos="64999">
                  <a:srgbClr val="F0EBD5"/>
                </a:gs>
                <a:gs pos="100000">
                  <a:srgbClr val="D1C39F"/>
                </a:gs>
              </a:gsLst>
              <a:path path="rect">
                <a:fillToRect r="100000" b="100000"/>
              </a:path>
            </a:gradFill>
            <a:ln w="28575">
              <a:solidFill>
                <a:schemeClr val="accent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defRPr/>
              </a:pPr>
              <a:r>
                <a:rPr kumimoji="1" lang="zh-CN" altLang="en-US" sz="2400" dirty="0">
                  <a:latin typeface="微软雅黑" pitchFamily="34" charset="-122"/>
                  <a:ea typeface="微软雅黑" pitchFamily="34" charset="-122"/>
                  <a:cs typeface="经典粗黑简" pitchFamily="49" charset="-122"/>
                </a:rPr>
                <a:t>邻</a:t>
              </a:r>
            </a:p>
            <a:p>
              <a:pPr algn="ctr" eaLnBrk="0" hangingPunct="0">
                <a:defRPr/>
              </a:pPr>
              <a:r>
                <a:rPr kumimoji="1" lang="zh-CN" altLang="en-US" sz="2400" dirty="0">
                  <a:latin typeface="微软雅黑" pitchFamily="34" charset="-122"/>
                  <a:ea typeface="微软雅黑" pitchFamily="34" charset="-122"/>
                  <a:cs typeface="经典粗黑简" pitchFamily="49" charset="-122"/>
                </a:rPr>
                <a:t>接</a:t>
              </a:r>
            </a:p>
            <a:p>
              <a:pPr algn="ctr" eaLnBrk="0" hangingPunct="0">
                <a:defRPr/>
              </a:pPr>
              <a:r>
                <a:rPr kumimoji="1" lang="zh-CN" altLang="en-US" sz="2400" dirty="0">
                  <a:latin typeface="微软雅黑" pitchFamily="34" charset="-122"/>
                  <a:ea typeface="微软雅黑" pitchFamily="34" charset="-122"/>
                  <a:cs typeface="经典粗黑简" pitchFamily="49" charset="-122"/>
                </a:rPr>
                <a:t>表</a:t>
              </a:r>
            </a:p>
          </p:txBody>
        </p:sp>
      </p:grpSp>
      <p:grpSp>
        <p:nvGrpSpPr>
          <p:cNvPr id="28" name="Group 16"/>
          <p:cNvGrpSpPr>
            <a:grpSpLocks/>
          </p:cNvGrpSpPr>
          <p:nvPr/>
        </p:nvGrpSpPr>
        <p:grpSpPr bwMode="auto">
          <a:xfrm>
            <a:off x="6416675" y="3644107"/>
            <a:ext cx="1524000" cy="2290763"/>
            <a:chOff x="3024" y="2304"/>
            <a:chExt cx="960" cy="1443"/>
          </a:xfrm>
        </p:grpSpPr>
        <p:sp>
          <p:nvSpPr>
            <p:cNvPr id="29" name="Text Box 17"/>
            <p:cNvSpPr txBox="1">
              <a:spLocks noChangeArrowheads="1"/>
            </p:cNvSpPr>
            <p:nvPr/>
          </p:nvSpPr>
          <p:spPr bwMode="auto">
            <a:xfrm>
              <a:off x="3024" y="2304"/>
              <a:ext cx="864"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spcBef>
                  <a:spcPct val="50000"/>
                </a:spcBef>
                <a:defRPr/>
              </a:pPr>
              <a:r>
                <a:rPr kumimoji="1" lang="zh-CN" altLang="en-US" sz="2400" dirty="0">
                  <a:latin typeface="微软雅黑" pitchFamily="34" charset="-122"/>
                  <a:ea typeface="微软雅黑" pitchFamily="34" charset="-122"/>
                  <a:cs typeface="经典粗黑简" pitchFamily="49" charset="-122"/>
                </a:rPr>
                <a:t>稠密图</a:t>
              </a:r>
            </a:p>
          </p:txBody>
        </p:sp>
        <p:sp>
          <p:nvSpPr>
            <p:cNvPr id="30" name="Text Box 18"/>
            <p:cNvSpPr txBox="1">
              <a:spLocks noChangeArrowheads="1"/>
            </p:cNvSpPr>
            <p:nvPr/>
          </p:nvSpPr>
          <p:spPr bwMode="auto">
            <a:xfrm>
              <a:off x="3024" y="3456"/>
              <a:ext cx="960"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spcBef>
                  <a:spcPct val="50000"/>
                </a:spcBef>
                <a:defRPr/>
              </a:pPr>
              <a:r>
                <a:rPr kumimoji="1" lang="zh-CN" altLang="en-US" sz="2400" dirty="0">
                  <a:latin typeface="微软雅黑" pitchFamily="34" charset="-122"/>
                  <a:ea typeface="微软雅黑" pitchFamily="34" charset="-122"/>
                  <a:cs typeface="经典粗黑简" pitchFamily="49" charset="-122"/>
                </a:rPr>
                <a:t>稀疏图</a:t>
              </a:r>
            </a:p>
          </p:txBody>
        </p:sp>
      </p:grpSp>
      <p:grpSp>
        <p:nvGrpSpPr>
          <p:cNvPr id="31" name="Group 19"/>
          <p:cNvGrpSpPr>
            <a:grpSpLocks/>
          </p:cNvGrpSpPr>
          <p:nvPr/>
        </p:nvGrpSpPr>
        <p:grpSpPr bwMode="auto">
          <a:xfrm>
            <a:off x="8169275" y="3720307"/>
            <a:ext cx="1371600" cy="2214563"/>
            <a:chOff x="4128" y="2352"/>
            <a:chExt cx="864" cy="1395"/>
          </a:xfrm>
        </p:grpSpPr>
        <p:sp>
          <p:nvSpPr>
            <p:cNvPr id="32" name="Text Box 20"/>
            <p:cNvSpPr txBox="1">
              <a:spLocks noChangeArrowheads="1"/>
            </p:cNvSpPr>
            <p:nvPr/>
          </p:nvSpPr>
          <p:spPr bwMode="auto">
            <a:xfrm>
              <a:off x="4176" y="2352"/>
              <a:ext cx="672"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spcBef>
                  <a:spcPct val="50000"/>
                </a:spcBef>
                <a:defRPr/>
              </a:pPr>
              <a:r>
                <a:rPr kumimoji="1" lang="zh-CN" altLang="en-US" sz="2400" dirty="0">
                  <a:latin typeface="微软雅黑" pitchFamily="34" charset="-122"/>
                  <a:ea typeface="微软雅黑" pitchFamily="34" charset="-122"/>
                  <a:cs typeface="经典粗黑简" pitchFamily="49" charset="-122"/>
                </a:rPr>
                <a:t>唯一</a:t>
              </a:r>
            </a:p>
          </p:txBody>
        </p:sp>
        <p:sp>
          <p:nvSpPr>
            <p:cNvPr id="33" name="Text Box 21"/>
            <p:cNvSpPr txBox="1">
              <a:spLocks noChangeArrowheads="1"/>
            </p:cNvSpPr>
            <p:nvPr/>
          </p:nvSpPr>
          <p:spPr bwMode="auto">
            <a:xfrm>
              <a:off x="4128" y="3456"/>
              <a:ext cx="864"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spcBef>
                  <a:spcPct val="50000"/>
                </a:spcBef>
                <a:defRPr/>
              </a:pPr>
              <a:r>
                <a:rPr kumimoji="1" lang="zh-CN" altLang="en-US" sz="2400" dirty="0">
                  <a:latin typeface="微软雅黑" pitchFamily="34" charset="-122"/>
                  <a:ea typeface="微软雅黑" pitchFamily="34" charset="-122"/>
                  <a:cs typeface="经典粗黑简" pitchFamily="49" charset="-122"/>
                </a:rPr>
                <a:t>不唯一</a:t>
              </a:r>
            </a:p>
          </p:txBody>
        </p:sp>
      </p:grpSp>
      <p:grpSp>
        <p:nvGrpSpPr>
          <p:cNvPr id="34" name="Group 22"/>
          <p:cNvGrpSpPr>
            <a:grpSpLocks/>
          </p:cNvGrpSpPr>
          <p:nvPr/>
        </p:nvGrpSpPr>
        <p:grpSpPr bwMode="auto">
          <a:xfrm>
            <a:off x="2911475" y="2958306"/>
            <a:ext cx="6781800" cy="3733800"/>
            <a:chOff x="816" y="1872"/>
            <a:chExt cx="4272" cy="2352"/>
          </a:xfrm>
        </p:grpSpPr>
        <p:sp>
          <p:nvSpPr>
            <p:cNvPr id="35" name="Line 23"/>
            <p:cNvSpPr>
              <a:spLocks noChangeShapeType="1"/>
            </p:cNvSpPr>
            <p:nvPr/>
          </p:nvSpPr>
          <p:spPr bwMode="auto">
            <a:xfrm>
              <a:off x="816" y="4210"/>
              <a:ext cx="4272" cy="0"/>
            </a:xfrm>
            <a:prstGeom prst="line">
              <a:avLst/>
            </a:prstGeom>
            <a:noFill/>
            <a:ln w="38100">
              <a:solidFill>
                <a:srgbClr val="66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 name="Line 24"/>
            <p:cNvSpPr>
              <a:spLocks noChangeShapeType="1"/>
            </p:cNvSpPr>
            <p:nvPr/>
          </p:nvSpPr>
          <p:spPr bwMode="auto">
            <a:xfrm>
              <a:off x="5088" y="1872"/>
              <a:ext cx="0" cy="2352"/>
            </a:xfrm>
            <a:prstGeom prst="line">
              <a:avLst/>
            </a:prstGeom>
            <a:noFill/>
            <a:ln w="38100">
              <a:solidFill>
                <a:srgbClr val="66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7" name="Line 25"/>
            <p:cNvSpPr>
              <a:spLocks noChangeShapeType="1"/>
            </p:cNvSpPr>
            <p:nvPr/>
          </p:nvSpPr>
          <p:spPr bwMode="auto">
            <a:xfrm>
              <a:off x="816" y="3016"/>
              <a:ext cx="4272" cy="0"/>
            </a:xfrm>
            <a:prstGeom prst="line">
              <a:avLst/>
            </a:prstGeom>
            <a:noFill/>
            <a:ln w="38100">
              <a:solidFill>
                <a:srgbClr val="66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8" name="Line 26"/>
            <p:cNvSpPr>
              <a:spLocks noChangeShapeType="1"/>
            </p:cNvSpPr>
            <p:nvPr/>
          </p:nvSpPr>
          <p:spPr bwMode="auto">
            <a:xfrm>
              <a:off x="1872" y="1872"/>
              <a:ext cx="0" cy="2352"/>
            </a:xfrm>
            <a:prstGeom prst="line">
              <a:avLst/>
            </a:prstGeom>
            <a:noFill/>
            <a:ln w="38100">
              <a:solidFill>
                <a:srgbClr val="66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9" name="Line 27"/>
            <p:cNvSpPr>
              <a:spLocks noChangeShapeType="1"/>
            </p:cNvSpPr>
            <p:nvPr/>
          </p:nvSpPr>
          <p:spPr bwMode="auto">
            <a:xfrm>
              <a:off x="2928" y="1872"/>
              <a:ext cx="0" cy="2352"/>
            </a:xfrm>
            <a:prstGeom prst="line">
              <a:avLst/>
            </a:prstGeom>
            <a:noFill/>
            <a:ln w="38100">
              <a:solidFill>
                <a:srgbClr val="66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0" name="Line 28"/>
            <p:cNvSpPr>
              <a:spLocks noChangeShapeType="1"/>
            </p:cNvSpPr>
            <p:nvPr/>
          </p:nvSpPr>
          <p:spPr bwMode="auto">
            <a:xfrm>
              <a:off x="3984" y="1872"/>
              <a:ext cx="0" cy="2352"/>
            </a:xfrm>
            <a:prstGeom prst="line">
              <a:avLst/>
            </a:prstGeom>
            <a:noFill/>
            <a:ln w="38100">
              <a:solidFill>
                <a:srgbClr val="66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41" name="Rectangle 30"/>
          <p:cNvSpPr>
            <a:spLocks noChangeArrowheads="1"/>
          </p:cNvSpPr>
          <p:nvPr/>
        </p:nvSpPr>
        <p:spPr bwMode="auto">
          <a:xfrm>
            <a:off x="2958551" y="1772816"/>
            <a:ext cx="6274901" cy="542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p>
            <a:pPr>
              <a:defRPr/>
            </a:pPr>
            <a:r>
              <a:rPr kumimoji="1" lang="zh-CN" altLang="en-US" sz="2400" dirty="0">
                <a:latin typeface="微软雅黑" pitchFamily="34" charset="-122"/>
                <a:ea typeface="微软雅黑" pitchFamily="34" charset="-122"/>
                <a:cs typeface="经典粗黑简" pitchFamily="49" charset="-122"/>
              </a:rPr>
              <a:t>图的存储结构的比较——邻接矩阵和邻接表</a:t>
            </a:r>
          </a:p>
        </p:txBody>
      </p:sp>
      <p:sp>
        <p:nvSpPr>
          <p:cNvPr id="2" name="Rectangle 2">
            <a:extLst>
              <a:ext uri="{FF2B5EF4-FFF2-40B4-BE49-F238E27FC236}">
                <a16:creationId xmlns:a16="http://schemas.microsoft.com/office/drawing/2014/main" id="{4301F09C-C0A2-438D-E452-67734CF78435}"/>
              </a:ext>
            </a:extLst>
          </p:cNvPr>
          <p:cNvSpPr txBox="1">
            <a:spLocks noChangeArrowheads="1"/>
          </p:cNvSpPr>
          <p:nvPr/>
        </p:nvSpPr>
        <p:spPr>
          <a:xfrm>
            <a:off x="474772" y="1230902"/>
            <a:ext cx="4253075"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8.2.2 </a:t>
            </a:r>
            <a:r>
              <a:rPr kumimoji="1" lang="zh-CN" altLang="en-US" dirty="0">
                <a:latin typeface="微软雅黑" pitchFamily="34" charset="-122"/>
                <a:ea typeface="微软雅黑" pitchFamily="34" charset="-122"/>
              </a:rPr>
              <a:t>邻接表存储方法</a:t>
            </a:r>
            <a:endParaRPr lang="zh-CN" altLang="en-US" dirty="0"/>
          </a:p>
        </p:txBody>
      </p:sp>
      <p:sp>
        <p:nvSpPr>
          <p:cNvPr id="3" name="矩形 2">
            <a:extLst>
              <a:ext uri="{FF2B5EF4-FFF2-40B4-BE49-F238E27FC236}">
                <a16:creationId xmlns:a16="http://schemas.microsoft.com/office/drawing/2014/main" id="{59D983F4-97F1-BFDE-26A1-3B7B7D3736A8}"/>
              </a:ext>
            </a:extLst>
          </p:cNvPr>
          <p:cNvSpPr/>
          <p:nvPr/>
        </p:nvSpPr>
        <p:spPr>
          <a:xfrm>
            <a:off x="2846292" y="348366"/>
            <a:ext cx="6715440"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8.2 </a:t>
            </a:r>
            <a:r>
              <a:rPr lang="zh-CN" altLang="en-US" sz="3000" b="1" dirty="0">
                <a:latin typeface="黑体" pitchFamily="49" charset="-122"/>
                <a:ea typeface="黑体" pitchFamily="49" charset="-122"/>
                <a:cs typeface="经典粗黑简" pitchFamily="49" charset="-122"/>
              </a:rPr>
              <a:t>图的存储结构和基本运算算法</a:t>
            </a:r>
          </a:p>
        </p:txBody>
      </p:sp>
      <p:cxnSp>
        <p:nvCxnSpPr>
          <p:cNvPr id="4" name="直接连接符 3">
            <a:extLst>
              <a:ext uri="{FF2B5EF4-FFF2-40B4-BE49-F238E27FC236}">
                <a16:creationId xmlns:a16="http://schemas.microsoft.com/office/drawing/2014/main" id="{84D99FAF-1843-F193-6AF5-A78CC5FC41B5}"/>
              </a:ext>
            </a:extLst>
          </p:cNvPr>
          <p:cNvCxnSpPr>
            <a:cxnSpLocks/>
          </p:cNvCxnSpPr>
          <p:nvPr/>
        </p:nvCxnSpPr>
        <p:spPr>
          <a:xfrm>
            <a:off x="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8110272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9CE08A-D9ED-4749-CD41-2AC22D31D1D2}"/>
            </a:ext>
          </a:extLst>
        </p:cNvPr>
        <p:cNvGrpSpPr/>
        <p:nvPr/>
      </p:nvGrpSpPr>
      <p:grpSpPr>
        <a:xfrm>
          <a:off x="0" y="0"/>
          <a:ext cx="0" cy="0"/>
          <a:chOff x="0" y="0"/>
          <a:chExt cx="0" cy="0"/>
        </a:xfrm>
      </p:grpSpPr>
      <p:sp>
        <p:nvSpPr>
          <p:cNvPr id="4" name="Rectangle 2">
            <a:extLst>
              <a:ext uri="{FF2B5EF4-FFF2-40B4-BE49-F238E27FC236}">
                <a16:creationId xmlns:a16="http://schemas.microsoft.com/office/drawing/2014/main" id="{B758F1FA-95D3-2231-6705-89680F082C2B}"/>
              </a:ext>
            </a:extLst>
          </p:cNvPr>
          <p:cNvSpPr txBox="1">
            <a:spLocks noChangeArrowheads="1"/>
          </p:cNvSpPr>
          <p:nvPr/>
        </p:nvSpPr>
        <p:spPr>
          <a:xfrm>
            <a:off x="474772" y="1230902"/>
            <a:ext cx="4901148"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8.2.3 </a:t>
            </a:r>
            <a:r>
              <a:rPr kumimoji="1" lang="zh-CN" altLang="en-US" dirty="0">
                <a:latin typeface="微软雅黑" pitchFamily="34" charset="-122"/>
                <a:ea typeface="微软雅黑" pitchFamily="34" charset="-122"/>
              </a:rPr>
              <a:t>图的基本运算算法设计</a:t>
            </a:r>
            <a:endParaRPr lang="zh-CN" altLang="en-US" dirty="0"/>
          </a:p>
        </p:txBody>
      </p:sp>
      <p:sp>
        <p:nvSpPr>
          <p:cNvPr id="5" name="矩形 4">
            <a:extLst>
              <a:ext uri="{FF2B5EF4-FFF2-40B4-BE49-F238E27FC236}">
                <a16:creationId xmlns:a16="http://schemas.microsoft.com/office/drawing/2014/main" id="{F3021443-7B04-5717-4CD2-DFC686DE862B}"/>
              </a:ext>
            </a:extLst>
          </p:cNvPr>
          <p:cNvSpPr/>
          <p:nvPr/>
        </p:nvSpPr>
        <p:spPr>
          <a:xfrm>
            <a:off x="2846292" y="348366"/>
            <a:ext cx="6715440"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8.2 </a:t>
            </a:r>
            <a:r>
              <a:rPr lang="zh-CN" altLang="en-US" sz="3000" b="1" dirty="0">
                <a:latin typeface="黑体" pitchFamily="49" charset="-122"/>
                <a:ea typeface="黑体" pitchFamily="49" charset="-122"/>
                <a:cs typeface="经典粗黑简" pitchFamily="49" charset="-122"/>
              </a:rPr>
              <a:t>图的存储结构和基本运算算法</a:t>
            </a:r>
          </a:p>
        </p:txBody>
      </p:sp>
      <p:cxnSp>
        <p:nvCxnSpPr>
          <p:cNvPr id="6" name="直接连接符 5">
            <a:extLst>
              <a:ext uri="{FF2B5EF4-FFF2-40B4-BE49-F238E27FC236}">
                <a16:creationId xmlns:a16="http://schemas.microsoft.com/office/drawing/2014/main" id="{0F1FFCA6-79BC-8B26-43D6-D1AB4BAE8B70}"/>
              </a:ext>
            </a:extLst>
          </p:cNvPr>
          <p:cNvCxnSpPr>
            <a:cxnSpLocks/>
          </p:cNvCxnSpPr>
          <p:nvPr/>
        </p:nvCxnSpPr>
        <p:spPr>
          <a:xfrm>
            <a:off x="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2" name="TextBox 3">
            <a:extLst>
              <a:ext uri="{FF2B5EF4-FFF2-40B4-BE49-F238E27FC236}">
                <a16:creationId xmlns:a16="http://schemas.microsoft.com/office/drawing/2014/main" id="{D9844E0D-4C3B-AD93-EEFE-12D615B50DD5}"/>
              </a:ext>
            </a:extLst>
          </p:cNvPr>
          <p:cNvSpPr txBox="1"/>
          <p:nvPr/>
        </p:nvSpPr>
        <p:spPr>
          <a:xfrm>
            <a:off x="1487488" y="1902840"/>
            <a:ext cx="9577064" cy="1106686"/>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marL="457200" indent="-457200" algn="l">
              <a:lnSpc>
                <a:spcPts val="3000"/>
              </a:lnSpc>
              <a:spcBef>
                <a:spcPts val="1200"/>
              </a:spcBef>
              <a:buBlip>
                <a:blip r:embed="rId2"/>
              </a:buBlip>
            </a:pPr>
            <a:r>
              <a:rPr lang="zh-CN" altLang="en-US" sz="2000" dirty="0">
                <a:solidFill>
                  <a:srgbClr val="0000FF"/>
                </a:solidFill>
                <a:latin typeface="Consolas" pitchFamily="49" charset="0"/>
                <a:ea typeface="仿宋" pitchFamily="49" charset="-122"/>
                <a:cs typeface="Consolas" pitchFamily="49" charset="0"/>
              </a:rPr>
              <a:t>图的基本运算算法主要有创建图、输出图和销毁图。</a:t>
            </a:r>
            <a:endParaRPr lang="en-US" altLang="zh-CN" sz="2000" dirty="0">
              <a:solidFill>
                <a:srgbClr val="0000FF"/>
              </a:solidFill>
              <a:latin typeface="Consolas" pitchFamily="49" charset="0"/>
              <a:ea typeface="仿宋" pitchFamily="49" charset="-122"/>
              <a:cs typeface="Consolas" pitchFamily="49" charset="0"/>
            </a:endParaRPr>
          </a:p>
          <a:p>
            <a:pPr marL="457200" indent="-457200" algn="l">
              <a:lnSpc>
                <a:spcPts val="3000"/>
              </a:lnSpc>
              <a:spcBef>
                <a:spcPts val="1200"/>
              </a:spcBef>
              <a:buBlip>
                <a:blip r:embed="rId2"/>
              </a:buBlip>
            </a:pPr>
            <a:r>
              <a:rPr lang="zh-CN" altLang="en-US" sz="2000" dirty="0">
                <a:solidFill>
                  <a:srgbClr val="0000FF"/>
                </a:solidFill>
                <a:latin typeface="Consolas" pitchFamily="49" charset="0"/>
                <a:ea typeface="仿宋" pitchFamily="49" charset="-122"/>
                <a:cs typeface="Consolas" pitchFamily="49" charset="0"/>
              </a:rPr>
              <a:t>对于邻接矩阵实现相关算法十分容易的。下面讨论</a:t>
            </a:r>
            <a:r>
              <a:rPr lang="zh-CN" altLang="en-US" sz="2000" dirty="0">
                <a:solidFill>
                  <a:srgbClr val="FF0000"/>
                </a:solidFill>
                <a:latin typeface="Consolas" pitchFamily="49" charset="0"/>
                <a:ea typeface="仿宋" pitchFamily="49" charset="-122"/>
                <a:cs typeface="Consolas" pitchFamily="49" charset="0"/>
              </a:rPr>
              <a:t>邻接表的相关算法设计</a:t>
            </a:r>
            <a:r>
              <a:rPr lang="zh-CN" altLang="en-US" sz="2000" dirty="0">
                <a:solidFill>
                  <a:srgbClr val="0000FF"/>
                </a:solidFill>
                <a:latin typeface="Consolas" pitchFamily="49" charset="0"/>
                <a:ea typeface="仿宋" pitchFamily="49" charset="-122"/>
                <a:cs typeface="Consolas" pitchFamily="49" charset="0"/>
              </a:rPr>
              <a:t>。</a:t>
            </a:r>
          </a:p>
        </p:txBody>
      </p:sp>
      <p:sp>
        <p:nvSpPr>
          <p:cNvPr id="3" name="TextBox 2">
            <a:extLst>
              <a:ext uri="{FF2B5EF4-FFF2-40B4-BE49-F238E27FC236}">
                <a16:creationId xmlns:a16="http://schemas.microsoft.com/office/drawing/2014/main" id="{9554A523-3AC5-927A-018E-EF0084B1C362}"/>
              </a:ext>
            </a:extLst>
          </p:cNvPr>
          <p:cNvSpPr txBox="1"/>
          <p:nvPr/>
        </p:nvSpPr>
        <p:spPr>
          <a:xfrm>
            <a:off x="1487488" y="3158244"/>
            <a:ext cx="3357586" cy="430887"/>
          </a:xfrm>
          <a:prstGeom prst="rect">
            <a:avLst/>
          </a:prstGeom>
        </p:spPr>
        <p:style>
          <a:lnRef idx="1">
            <a:schemeClr val="accent3"/>
          </a:lnRef>
          <a:fillRef idx="3">
            <a:schemeClr val="accent3"/>
          </a:fillRef>
          <a:effectRef idx="2">
            <a:schemeClr val="accent3"/>
          </a:effectRef>
          <a:fontRef idx="minor">
            <a:schemeClr val="lt1"/>
          </a:fontRef>
        </p:style>
        <p:txBody>
          <a:bodyPr wrap="square" rtlCol="0">
            <a:spAutoFit/>
          </a:bodyPr>
          <a:lstStyle/>
          <a:p>
            <a:pPr algn="l"/>
            <a:r>
              <a:rPr lang="zh-CN" altLang="en-US" sz="2200" dirty="0">
                <a:solidFill>
                  <a:srgbClr val="FF0000"/>
                </a:solidFill>
                <a:latin typeface="Consolas" pitchFamily="49" charset="0"/>
                <a:ea typeface="华文中宋" pitchFamily="2" charset="-122"/>
                <a:cs typeface="Consolas" pitchFamily="49" charset="0"/>
              </a:rPr>
              <a:t>（</a:t>
            </a:r>
            <a:r>
              <a:rPr lang="en-US" sz="2200" dirty="0">
                <a:solidFill>
                  <a:srgbClr val="FF0000"/>
                </a:solidFill>
                <a:latin typeface="Consolas" pitchFamily="49" charset="0"/>
                <a:ea typeface="华文中宋" pitchFamily="2" charset="-122"/>
                <a:cs typeface="Consolas" pitchFamily="49" charset="0"/>
              </a:rPr>
              <a:t>1</a:t>
            </a:r>
            <a:r>
              <a:rPr lang="zh-CN" altLang="en-US" sz="2200" dirty="0">
                <a:solidFill>
                  <a:srgbClr val="FF0000"/>
                </a:solidFill>
                <a:latin typeface="Consolas" pitchFamily="49" charset="0"/>
                <a:ea typeface="华文中宋" pitchFamily="2" charset="-122"/>
                <a:cs typeface="Consolas" pitchFamily="49" charset="0"/>
              </a:rPr>
              <a:t>）创建图的运算算法</a:t>
            </a:r>
          </a:p>
        </p:txBody>
      </p:sp>
      <p:sp>
        <p:nvSpPr>
          <p:cNvPr id="9" name="TextBox 3">
            <a:extLst>
              <a:ext uri="{FF2B5EF4-FFF2-40B4-BE49-F238E27FC236}">
                <a16:creationId xmlns:a16="http://schemas.microsoft.com/office/drawing/2014/main" id="{1F34E405-0A7C-02DC-FE1D-72228D1C4E3B}"/>
              </a:ext>
            </a:extLst>
          </p:cNvPr>
          <p:cNvSpPr txBox="1"/>
          <p:nvPr/>
        </p:nvSpPr>
        <p:spPr>
          <a:xfrm>
            <a:off x="1559496" y="3715827"/>
            <a:ext cx="9937104" cy="423065"/>
          </a:xfrm>
          <a:prstGeom prst="rect">
            <a:avLst/>
          </a:prstGeom>
          <a:noFill/>
        </p:spPr>
        <p:txBody>
          <a:bodyPr wrap="square" rtlCol="0">
            <a:spAutoFit/>
          </a:bodyPr>
          <a:lstStyle/>
          <a:p>
            <a:pPr algn="l">
              <a:lnSpc>
                <a:spcPts val="2800"/>
              </a:lnSpc>
            </a:pPr>
            <a:r>
              <a:rPr lang="zh-CN" altLang="en-US" sz="2000" dirty="0">
                <a:latin typeface="Consolas" pitchFamily="49" charset="0"/>
                <a:ea typeface="仿宋" pitchFamily="49" charset="-122"/>
                <a:cs typeface="Consolas" pitchFamily="49" charset="0"/>
              </a:rPr>
              <a:t>根据邻接矩阵数组</a:t>
            </a:r>
            <a:r>
              <a:rPr lang="en-US" sz="2000" i="1" dirty="0">
                <a:latin typeface="Consolas" pitchFamily="49" charset="0"/>
                <a:ea typeface="仿宋" pitchFamily="49" charset="-122"/>
                <a:cs typeface="Consolas" pitchFamily="49" charset="0"/>
              </a:rPr>
              <a:t>A</a:t>
            </a:r>
            <a:r>
              <a:rPr lang="zh-CN" altLang="en-US" sz="2000" dirty="0">
                <a:latin typeface="Consolas" pitchFamily="49" charset="0"/>
                <a:ea typeface="仿宋" pitchFamily="49" charset="-122"/>
                <a:cs typeface="Consolas" pitchFamily="49" charset="0"/>
              </a:rPr>
              <a:t>、顶点个数</a:t>
            </a:r>
            <a:r>
              <a:rPr lang="en-US" sz="2000" i="1" dirty="0">
                <a:latin typeface="Consolas" pitchFamily="49" charset="0"/>
                <a:ea typeface="仿宋" pitchFamily="49" charset="-122"/>
                <a:cs typeface="Consolas" pitchFamily="49" charset="0"/>
              </a:rPr>
              <a:t>n</a:t>
            </a:r>
            <a:r>
              <a:rPr lang="zh-CN" altLang="en-US" sz="2000" dirty="0">
                <a:latin typeface="Consolas" pitchFamily="49" charset="0"/>
                <a:ea typeface="仿宋" pitchFamily="49" charset="-122"/>
                <a:cs typeface="Consolas" pitchFamily="49" charset="0"/>
              </a:rPr>
              <a:t>和边数</a:t>
            </a:r>
            <a:r>
              <a:rPr lang="en-US" sz="2000" i="1" dirty="0">
                <a:latin typeface="Consolas" pitchFamily="49" charset="0"/>
                <a:ea typeface="仿宋" pitchFamily="49" charset="-122"/>
                <a:cs typeface="Consolas" pitchFamily="49" charset="0"/>
              </a:rPr>
              <a:t>e</a:t>
            </a:r>
            <a:r>
              <a:rPr lang="zh-CN" altLang="en-US" sz="2000" dirty="0">
                <a:latin typeface="Consolas" pitchFamily="49" charset="0"/>
                <a:ea typeface="仿宋" pitchFamily="49" charset="-122"/>
                <a:cs typeface="Consolas" pitchFamily="49" charset="0"/>
              </a:rPr>
              <a:t>来建立图的邻接表</a:t>
            </a:r>
            <a:r>
              <a:rPr lang="en-US" sz="2000" i="1" dirty="0">
                <a:latin typeface="Consolas" pitchFamily="49" charset="0"/>
                <a:ea typeface="仿宋" pitchFamily="49" charset="-122"/>
                <a:cs typeface="Consolas" pitchFamily="49" charset="0"/>
              </a:rPr>
              <a:t>G</a:t>
            </a:r>
            <a:r>
              <a:rPr lang="zh-CN" altLang="en-US" sz="2000" dirty="0">
                <a:latin typeface="Consolas" pitchFamily="49" charset="0"/>
                <a:ea typeface="仿宋" pitchFamily="49" charset="-122"/>
                <a:cs typeface="Consolas" pitchFamily="49" charset="0"/>
              </a:rPr>
              <a:t>（采用邻接表指针方式）。</a:t>
            </a:r>
          </a:p>
        </p:txBody>
      </p:sp>
      <p:sp>
        <p:nvSpPr>
          <p:cNvPr id="10" name="TextBox 4">
            <a:extLst>
              <a:ext uri="{FF2B5EF4-FFF2-40B4-BE49-F238E27FC236}">
                <a16:creationId xmlns:a16="http://schemas.microsoft.com/office/drawing/2014/main" id="{C69832C5-57B2-F660-D65C-7F018565DCDC}"/>
              </a:ext>
            </a:extLst>
          </p:cNvPr>
          <p:cNvSpPr txBox="1"/>
          <p:nvPr/>
        </p:nvSpPr>
        <p:spPr>
          <a:xfrm>
            <a:off x="1703512" y="4146049"/>
            <a:ext cx="8215370" cy="2543989"/>
          </a:xfrm>
          <a:prstGeom prst="rect">
            <a:avLst/>
          </a:prstGeom>
          <a:solidFill>
            <a:schemeClr val="bg1">
              <a:lumMod val="95000"/>
            </a:schemeClr>
          </a:solidFill>
          <a:ln>
            <a:noFill/>
          </a:ln>
          <a:effectLst/>
          <a:scene3d>
            <a:camera prst="orthographicFront">
              <a:rot lat="0" lon="0" rev="0"/>
            </a:camera>
            <a:lightRig rig="chilly" dir="t">
              <a:rot lat="0" lon="0" rev="18480000"/>
            </a:lightRig>
          </a:scene3d>
          <a:sp3d prstMaterial="clear">
            <a:bevelT h="63500"/>
          </a:sp3d>
        </p:spPr>
        <p:style>
          <a:lnRef idx="1">
            <a:schemeClr val="accent3"/>
          </a:lnRef>
          <a:fillRef idx="2">
            <a:schemeClr val="accent3"/>
          </a:fillRef>
          <a:effectRef idx="1">
            <a:schemeClr val="accent3"/>
          </a:effectRef>
          <a:fontRef idx="minor">
            <a:schemeClr val="dk1"/>
          </a:fontRef>
        </p:style>
        <p:txBody>
          <a:bodyPr wrap="square" lIns="180000" tIns="180000" bIns="144000" rtlCol="0">
            <a:spAutoFit/>
          </a:bodyPr>
          <a:lstStyle/>
          <a:p>
            <a:pPr algn="l">
              <a:lnSpc>
                <a:spcPts val="2500"/>
              </a:lnSpc>
            </a:pPr>
            <a:r>
              <a:rPr lang="en-US" sz="1600" dirty="0">
                <a:solidFill>
                  <a:srgbClr val="0000FF"/>
                </a:solidFill>
                <a:latin typeface="Consolas" pitchFamily="49" charset="0"/>
                <a:ea typeface="仿宋" pitchFamily="49" charset="-122"/>
                <a:cs typeface="Consolas" pitchFamily="49" charset="0"/>
              </a:rPr>
              <a:t>void </a:t>
            </a:r>
            <a:r>
              <a:rPr lang="en-US" sz="1600" dirty="0" err="1">
                <a:solidFill>
                  <a:srgbClr val="FF0000"/>
                </a:solidFill>
                <a:latin typeface="Consolas" pitchFamily="49" charset="0"/>
                <a:ea typeface="仿宋" pitchFamily="49" charset="-122"/>
                <a:cs typeface="Consolas" pitchFamily="49" charset="0"/>
              </a:rPr>
              <a:t>CreateAdj</a:t>
            </a:r>
            <a:r>
              <a:rPr lang="en-US" sz="1600" dirty="0">
                <a:solidFill>
                  <a:srgbClr val="0000FF"/>
                </a:solidFill>
                <a:latin typeface="Consolas" pitchFamily="49" charset="0"/>
                <a:ea typeface="仿宋" pitchFamily="49" charset="-122"/>
                <a:cs typeface="Consolas" pitchFamily="49" charset="0"/>
              </a:rPr>
              <a:t>(</a:t>
            </a:r>
            <a:r>
              <a:rPr lang="en-US" sz="1600" dirty="0" err="1">
                <a:solidFill>
                  <a:srgbClr val="0000FF"/>
                </a:solidFill>
                <a:latin typeface="Consolas" pitchFamily="49" charset="0"/>
                <a:ea typeface="仿宋" pitchFamily="49" charset="-122"/>
                <a:cs typeface="Consolas" pitchFamily="49" charset="0"/>
              </a:rPr>
              <a:t>AdjGraph</a:t>
            </a:r>
            <a:r>
              <a:rPr lang="en-US" sz="1600" dirty="0">
                <a:solidFill>
                  <a:srgbClr val="0000FF"/>
                </a:solidFill>
                <a:latin typeface="Consolas" pitchFamily="49" charset="0"/>
                <a:ea typeface="仿宋" pitchFamily="49" charset="-122"/>
                <a:cs typeface="Consolas" pitchFamily="49" charset="0"/>
              </a:rPr>
              <a:t> *&amp;</a:t>
            </a:r>
            <a:r>
              <a:rPr lang="en-US" sz="1600" dirty="0" err="1">
                <a:solidFill>
                  <a:srgbClr val="0000FF"/>
                </a:solidFill>
                <a:latin typeface="Consolas" pitchFamily="49" charset="0"/>
                <a:ea typeface="仿宋" pitchFamily="49" charset="-122"/>
                <a:cs typeface="Consolas" pitchFamily="49" charset="0"/>
              </a:rPr>
              <a:t>G，int</a:t>
            </a:r>
            <a:r>
              <a:rPr lang="en-US" sz="1600" dirty="0">
                <a:solidFill>
                  <a:srgbClr val="0000FF"/>
                </a:solidFill>
                <a:latin typeface="Consolas" pitchFamily="49" charset="0"/>
                <a:ea typeface="仿宋" pitchFamily="49" charset="-122"/>
                <a:cs typeface="Consolas" pitchFamily="49" charset="0"/>
              </a:rPr>
              <a:t> A[MAXV][MAXV]，int </a:t>
            </a:r>
            <a:r>
              <a:rPr lang="en-US" sz="1600" dirty="0" err="1">
                <a:solidFill>
                  <a:srgbClr val="0000FF"/>
                </a:solidFill>
                <a:latin typeface="Consolas" pitchFamily="49" charset="0"/>
                <a:ea typeface="仿宋" pitchFamily="49" charset="-122"/>
                <a:cs typeface="Consolas" pitchFamily="49" charset="0"/>
              </a:rPr>
              <a:t>n，int</a:t>
            </a:r>
            <a:r>
              <a:rPr lang="en-US" sz="1600" dirty="0">
                <a:solidFill>
                  <a:srgbClr val="0000FF"/>
                </a:solidFill>
                <a:latin typeface="Consolas" pitchFamily="49" charset="0"/>
                <a:ea typeface="仿宋" pitchFamily="49" charset="-122"/>
                <a:cs typeface="Consolas" pitchFamily="49" charset="0"/>
              </a:rPr>
              <a:t> e) </a:t>
            </a:r>
          </a:p>
          <a:p>
            <a:pPr algn="l">
              <a:lnSpc>
                <a:spcPts val="2500"/>
              </a:lnSpc>
            </a:pPr>
            <a:r>
              <a:rPr lang="en-US" sz="1600" dirty="0">
                <a:solidFill>
                  <a:srgbClr val="339933"/>
                </a:solidFill>
                <a:latin typeface="Consolas" pitchFamily="49" charset="0"/>
                <a:ea typeface="仿宋" pitchFamily="49" charset="-122"/>
                <a:cs typeface="Consolas" pitchFamily="49" charset="0"/>
              </a:rPr>
              <a:t>//</a:t>
            </a:r>
            <a:r>
              <a:rPr lang="zh-CN" altLang="en-US" sz="1600" dirty="0">
                <a:solidFill>
                  <a:srgbClr val="339933"/>
                </a:solidFill>
                <a:latin typeface="Consolas" pitchFamily="49" charset="0"/>
                <a:ea typeface="仿宋" pitchFamily="49" charset="-122"/>
                <a:cs typeface="Consolas" pitchFamily="49" charset="0"/>
              </a:rPr>
              <a:t>创建图的邻接表</a:t>
            </a:r>
          </a:p>
          <a:p>
            <a:pPr algn="l">
              <a:lnSpc>
                <a:spcPts val="2500"/>
              </a:lnSpc>
            </a:pPr>
            <a:r>
              <a:rPr lang="en-US" sz="1600" dirty="0">
                <a:solidFill>
                  <a:srgbClr val="0000FF"/>
                </a:solidFill>
                <a:latin typeface="Consolas" pitchFamily="49" charset="0"/>
                <a:ea typeface="仿宋" pitchFamily="49" charset="-122"/>
                <a:cs typeface="Consolas" pitchFamily="49" charset="0"/>
              </a:rPr>
              <a:t>{  int </a:t>
            </a:r>
            <a:r>
              <a:rPr lang="en-US" sz="1600" dirty="0" err="1">
                <a:solidFill>
                  <a:srgbClr val="0000FF"/>
                </a:solidFill>
                <a:latin typeface="Consolas" pitchFamily="49" charset="0"/>
                <a:ea typeface="仿宋" pitchFamily="49" charset="-122"/>
                <a:cs typeface="Consolas" pitchFamily="49" charset="0"/>
              </a:rPr>
              <a:t>i</a:t>
            </a:r>
            <a:r>
              <a:rPr lang="en-US" sz="1600" dirty="0">
                <a:solidFill>
                  <a:srgbClr val="0000FF"/>
                </a:solidFill>
                <a:latin typeface="Consolas" pitchFamily="49" charset="0"/>
                <a:ea typeface="仿宋" pitchFamily="49" charset="-122"/>
                <a:cs typeface="Consolas" pitchFamily="49" charset="0"/>
              </a:rPr>
              <a:t>， j;</a:t>
            </a:r>
          </a:p>
          <a:p>
            <a:pPr algn="l">
              <a:lnSpc>
                <a:spcPts val="2500"/>
              </a:lnSpc>
            </a:pPr>
            <a:r>
              <a:rPr lang="en-US" sz="1600" dirty="0">
                <a:solidFill>
                  <a:srgbClr val="0000FF"/>
                </a:solidFill>
                <a:latin typeface="Consolas" pitchFamily="49" charset="0"/>
                <a:ea typeface="仿宋" pitchFamily="49" charset="-122"/>
                <a:cs typeface="Consolas" pitchFamily="49" charset="0"/>
              </a:rPr>
              <a:t>   </a:t>
            </a:r>
            <a:r>
              <a:rPr lang="en-US" sz="1600" dirty="0" err="1">
                <a:solidFill>
                  <a:srgbClr val="0000FF"/>
                </a:solidFill>
                <a:latin typeface="Consolas" pitchFamily="49" charset="0"/>
                <a:ea typeface="仿宋" pitchFamily="49" charset="-122"/>
                <a:cs typeface="Consolas" pitchFamily="49" charset="0"/>
              </a:rPr>
              <a:t>ArcNode</a:t>
            </a:r>
            <a:r>
              <a:rPr lang="en-US" sz="1600" dirty="0">
                <a:solidFill>
                  <a:srgbClr val="0000FF"/>
                </a:solidFill>
                <a:latin typeface="Consolas" pitchFamily="49" charset="0"/>
                <a:ea typeface="仿宋" pitchFamily="49" charset="-122"/>
                <a:cs typeface="Consolas" pitchFamily="49" charset="0"/>
              </a:rPr>
              <a:t> *p;</a:t>
            </a:r>
            <a:endParaRPr lang="zh-CN" altLang="en-US" sz="1600" dirty="0">
              <a:solidFill>
                <a:srgbClr val="0000FF"/>
              </a:solidFill>
              <a:latin typeface="Consolas" pitchFamily="49" charset="0"/>
              <a:ea typeface="仿宋" pitchFamily="49" charset="-122"/>
              <a:cs typeface="Consolas" pitchFamily="49" charset="0"/>
            </a:endParaRPr>
          </a:p>
          <a:p>
            <a:pPr algn="l">
              <a:lnSpc>
                <a:spcPts val="2500"/>
              </a:lnSpc>
            </a:pPr>
            <a:r>
              <a:rPr lang="en-US" sz="1600" dirty="0">
                <a:solidFill>
                  <a:srgbClr val="0000FF"/>
                </a:solidFill>
                <a:latin typeface="Consolas" pitchFamily="49" charset="0"/>
                <a:ea typeface="仿宋" pitchFamily="49" charset="-122"/>
                <a:cs typeface="Consolas" pitchFamily="49" charset="0"/>
              </a:rPr>
              <a:t>   G=(</a:t>
            </a:r>
            <a:r>
              <a:rPr lang="en-US" sz="1600" dirty="0" err="1">
                <a:solidFill>
                  <a:srgbClr val="0000FF"/>
                </a:solidFill>
                <a:latin typeface="Consolas" pitchFamily="49" charset="0"/>
                <a:ea typeface="仿宋" pitchFamily="49" charset="-122"/>
                <a:cs typeface="Consolas" pitchFamily="49" charset="0"/>
              </a:rPr>
              <a:t>AdjGraph</a:t>
            </a:r>
            <a:r>
              <a:rPr lang="en-US" sz="1600" dirty="0">
                <a:solidFill>
                  <a:srgbClr val="0000FF"/>
                </a:solidFill>
                <a:latin typeface="Consolas" pitchFamily="49" charset="0"/>
                <a:ea typeface="仿宋" pitchFamily="49" charset="-122"/>
                <a:cs typeface="Consolas" pitchFamily="49" charset="0"/>
              </a:rPr>
              <a:t> *)malloc(</a:t>
            </a:r>
            <a:r>
              <a:rPr lang="en-US" sz="1600" dirty="0" err="1">
                <a:solidFill>
                  <a:srgbClr val="0000FF"/>
                </a:solidFill>
                <a:latin typeface="Consolas" pitchFamily="49" charset="0"/>
                <a:ea typeface="仿宋" pitchFamily="49" charset="-122"/>
                <a:cs typeface="Consolas" pitchFamily="49" charset="0"/>
              </a:rPr>
              <a:t>sizeof</a:t>
            </a:r>
            <a:r>
              <a:rPr lang="en-US" sz="1600" dirty="0">
                <a:solidFill>
                  <a:srgbClr val="0000FF"/>
                </a:solidFill>
                <a:latin typeface="Consolas" pitchFamily="49" charset="0"/>
                <a:ea typeface="仿宋" pitchFamily="49" charset="-122"/>
                <a:cs typeface="Consolas" pitchFamily="49" charset="0"/>
              </a:rPr>
              <a:t>(</a:t>
            </a:r>
            <a:r>
              <a:rPr lang="en-US" sz="1600" dirty="0" err="1">
                <a:solidFill>
                  <a:srgbClr val="0000FF"/>
                </a:solidFill>
                <a:latin typeface="Consolas" pitchFamily="49" charset="0"/>
                <a:ea typeface="仿宋" pitchFamily="49" charset="-122"/>
                <a:cs typeface="Consolas" pitchFamily="49" charset="0"/>
              </a:rPr>
              <a:t>AdjGraph</a:t>
            </a:r>
            <a:r>
              <a:rPr lang="en-US" sz="1600" dirty="0">
                <a:solidFill>
                  <a:srgbClr val="0000FF"/>
                </a:solidFill>
                <a:latin typeface="Consolas" pitchFamily="49" charset="0"/>
                <a:ea typeface="仿宋" pitchFamily="49" charset="-122"/>
                <a:cs typeface="Consolas" pitchFamily="49" charset="0"/>
              </a:rPr>
              <a:t>));</a:t>
            </a:r>
            <a:endParaRPr lang="zh-CN" altLang="en-US" sz="1600" dirty="0">
              <a:solidFill>
                <a:srgbClr val="0000FF"/>
              </a:solidFill>
              <a:latin typeface="Consolas" pitchFamily="49" charset="0"/>
              <a:ea typeface="仿宋" pitchFamily="49" charset="-122"/>
              <a:cs typeface="Consolas" pitchFamily="49" charset="0"/>
            </a:endParaRPr>
          </a:p>
          <a:p>
            <a:pPr algn="l">
              <a:lnSpc>
                <a:spcPts val="2500"/>
              </a:lnSpc>
            </a:pPr>
            <a:r>
              <a:rPr lang="en-US" sz="1600" dirty="0">
                <a:solidFill>
                  <a:srgbClr val="0000FF"/>
                </a:solidFill>
                <a:latin typeface="Consolas" pitchFamily="49" charset="0"/>
                <a:ea typeface="仿宋" pitchFamily="49" charset="-122"/>
                <a:cs typeface="Consolas" pitchFamily="49" charset="0"/>
              </a:rPr>
              <a:t>   for (</a:t>
            </a:r>
            <a:r>
              <a:rPr lang="en-US" sz="1600" dirty="0" err="1">
                <a:solidFill>
                  <a:srgbClr val="0000FF"/>
                </a:solidFill>
                <a:latin typeface="Consolas" pitchFamily="49" charset="0"/>
                <a:ea typeface="仿宋" pitchFamily="49" charset="-122"/>
                <a:cs typeface="Consolas" pitchFamily="49" charset="0"/>
              </a:rPr>
              <a:t>i</a:t>
            </a:r>
            <a:r>
              <a:rPr lang="en-US" sz="1600" dirty="0">
                <a:solidFill>
                  <a:srgbClr val="0000FF"/>
                </a:solidFill>
                <a:latin typeface="Consolas" pitchFamily="49" charset="0"/>
                <a:ea typeface="仿宋" pitchFamily="49" charset="-122"/>
                <a:cs typeface="Consolas" pitchFamily="49" charset="0"/>
              </a:rPr>
              <a:t>=0;i&lt;</a:t>
            </a:r>
            <a:r>
              <a:rPr lang="en-US" sz="1600" dirty="0" err="1">
                <a:solidFill>
                  <a:srgbClr val="0000FF"/>
                </a:solidFill>
                <a:latin typeface="Consolas" pitchFamily="49" charset="0"/>
                <a:ea typeface="仿宋" pitchFamily="49" charset="-122"/>
                <a:cs typeface="Consolas" pitchFamily="49" charset="0"/>
              </a:rPr>
              <a:t>n;i</a:t>
            </a:r>
            <a:r>
              <a:rPr lang="en-US" sz="1600" dirty="0">
                <a:solidFill>
                  <a:srgbClr val="0000FF"/>
                </a:solidFill>
                <a:latin typeface="Consolas" pitchFamily="49" charset="0"/>
                <a:ea typeface="仿宋" pitchFamily="49" charset="-122"/>
                <a:cs typeface="Consolas" pitchFamily="49" charset="0"/>
              </a:rPr>
              <a:t>++)	     </a:t>
            </a:r>
            <a:r>
              <a:rPr lang="en-US" sz="1600" dirty="0">
                <a:solidFill>
                  <a:srgbClr val="00B0F0"/>
                </a:solidFill>
                <a:latin typeface="Consolas" pitchFamily="49" charset="0"/>
                <a:ea typeface="仿宋" pitchFamily="49" charset="-122"/>
                <a:cs typeface="Consolas" pitchFamily="49" charset="0"/>
              </a:rPr>
              <a:t>//</a:t>
            </a:r>
            <a:r>
              <a:rPr lang="zh-CN" altLang="en-US" sz="1600" dirty="0">
                <a:solidFill>
                  <a:srgbClr val="00B0F0"/>
                </a:solidFill>
                <a:latin typeface="Consolas" pitchFamily="49" charset="0"/>
                <a:ea typeface="仿宋" pitchFamily="49" charset="-122"/>
                <a:cs typeface="Consolas" pitchFamily="49" charset="0"/>
              </a:rPr>
              <a:t>给邻接表中所有头结点的指针域置初值</a:t>
            </a:r>
          </a:p>
          <a:p>
            <a:pPr algn="l">
              <a:lnSpc>
                <a:spcPts val="2500"/>
              </a:lnSpc>
            </a:pPr>
            <a:r>
              <a:rPr lang="en-US" sz="1600" dirty="0">
                <a:solidFill>
                  <a:srgbClr val="0000FF"/>
                </a:solidFill>
                <a:latin typeface="Consolas" pitchFamily="49" charset="0"/>
                <a:ea typeface="仿宋" pitchFamily="49" charset="-122"/>
                <a:cs typeface="Consolas" pitchFamily="49" charset="0"/>
              </a:rPr>
              <a:t>      G-&gt;</a:t>
            </a:r>
            <a:r>
              <a:rPr lang="en-US" sz="1600" dirty="0" err="1">
                <a:solidFill>
                  <a:srgbClr val="0000FF"/>
                </a:solidFill>
                <a:latin typeface="Consolas" pitchFamily="49" charset="0"/>
                <a:ea typeface="仿宋" pitchFamily="49" charset="-122"/>
                <a:cs typeface="Consolas" pitchFamily="49" charset="0"/>
              </a:rPr>
              <a:t>adjlist</a:t>
            </a:r>
            <a:r>
              <a:rPr lang="en-US" sz="1600" dirty="0">
                <a:solidFill>
                  <a:srgbClr val="0000FF"/>
                </a:solidFill>
                <a:latin typeface="Consolas" pitchFamily="49" charset="0"/>
                <a:ea typeface="仿宋" pitchFamily="49" charset="-122"/>
                <a:cs typeface="Consolas" pitchFamily="49" charset="0"/>
              </a:rPr>
              <a:t>[</a:t>
            </a:r>
            <a:r>
              <a:rPr lang="en-US" sz="1600" dirty="0" err="1">
                <a:solidFill>
                  <a:srgbClr val="0000FF"/>
                </a:solidFill>
                <a:latin typeface="Consolas" pitchFamily="49" charset="0"/>
                <a:ea typeface="仿宋" pitchFamily="49" charset="-122"/>
                <a:cs typeface="Consolas" pitchFamily="49" charset="0"/>
              </a:rPr>
              <a:t>i</a:t>
            </a:r>
            <a:r>
              <a:rPr lang="en-US" sz="1600" dirty="0">
                <a:solidFill>
                  <a:srgbClr val="0000FF"/>
                </a:solidFill>
                <a:latin typeface="Consolas" pitchFamily="49" charset="0"/>
                <a:ea typeface="仿宋" pitchFamily="49" charset="-122"/>
                <a:cs typeface="Consolas" pitchFamily="49" charset="0"/>
              </a:rPr>
              <a:t>].</a:t>
            </a:r>
            <a:r>
              <a:rPr lang="en-US" sz="1600" dirty="0" err="1">
                <a:solidFill>
                  <a:srgbClr val="0000FF"/>
                </a:solidFill>
                <a:latin typeface="Consolas" pitchFamily="49" charset="0"/>
                <a:ea typeface="仿宋" pitchFamily="49" charset="-122"/>
                <a:cs typeface="Consolas" pitchFamily="49" charset="0"/>
              </a:rPr>
              <a:t>firstarc</a:t>
            </a:r>
            <a:r>
              <a:rPr lang="en-US" sz="1600" dirty="0">
                <a:solidFill>
                  <a:srgbClr val="0000FF"/>
                </a:solidFill>
                <a:latin typeface="Consolas" pitchFamily="49" charset="0"/>
                <a:ea typeface="仿宋" pitchFamily="49" charset="-122"/>
                <a:cs typeface="Consolas" pitchFamily="49" charset="0"/>
              </a:rPr>
              <a:t>=NULL;</a:t>
            </a:r>
            <a:endParaRPr lang="zh-CN" altLang="en-US" sz="1600" dirty="0">
              <a:solidFill>
                <a:srgbClr val="0000FF"/>
              </a:solidFill>
              <a:latin typeface="Consolas" pitchFamily="49" charset="0"/>
              <a:ea typeface="仿宋" pitchFamily="49" charset="-122"/>
              <a:cs typeface="Consolas" pitchFamily="49" charset="0"/>
            </a:endParaRPr>
          </a:p>
        </p:txBody>
      </p:sp>
    </p:spTree>
    <p:extLst>
      <p:ext uri="{BB962C8B-B14F-4D97-AF65-F5344CB8AC3E}">
        <p14:creationId xmlns:p14="http://schemas.microsoft.com/office/powerpoint/2010/main" val="85060478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DA7912-0DE4-5556-37EA-FDA39773D217}"/>
            </a:ext>
          </a:extLst>
        </p:cNvPr>
        <p:cNvGrpSpPr/>
        <p:nvPr/>
      </p:nvGrpSpPr>
      <p:grpSpPr>
        <a:xfrm>
          <a:off x="0" y="0"/>
          <a:ext cx="0" cy="0"/>
          <a:chOff x="0" y="0"/>
          <a:chExt cx="0" cy="0"/>
        </a:xfrm>
      </p:grpSpPr>
      <p:sp>
        <p:nvSpPr>
          <p:cNvPr id="4" name="Rectangle 2">
            <a:extLst>
              <a:ext uri="{FF2B5EF4-FFF2-40B4-BE49-F238E27FC236}">
                <a16:creationId xmlns:a16="http://schemas.microsoft.com/office/drawing/2014/main" id="{CAC1A1A1-CBC3-001E-4730-6C737ECF690C}"/>
              </a:ext>
            </a:extLst>
          </p:cNvPr>
          <p:cNvSpPr txBox="1">
            <a:spLocks noChangeArrowheads="1"/>
          </p:cNvSpPr>
          <p:nvPr/>
        </p:nvSpPr>
        <p:spPr>
          <a:xfrm>
            <a:off x="474772" y="1230902"/>
            <a:ext cx="4901148"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8.2.3 </a:t>
            </a:r>
            <a:r>
              <a:rPr kumimoji="1" lang="zh-CN" altLang="en-US" dirty="0">
                <a:latin typeface="微软雅黑" pitchFamily="34" charset="-122"/>
                <a:ea typeface="微软雅黑" pitchFamily="34" charset="-122"/>
              </a:rPr>
              <a:t>图的基本运算算法设计</a:t>
            </a:r>
            <a:endParaRPr lang="zh-CN" altLang="en-US" dirty="0"/>
          </a:p>
        </p:txBody>
      </p:sp>
      <p:sp>
        <p:nvSpPr>
          <p:cNvPr id="5" name="矩形 4">
            <a:extLst>
              <a:ext uri="{FF2B5EF4-FFF2-40B4-BE49-F238E27FC236}">
                <a16:creationId xmlns:a16="http://schemas.microsoft.com/office/drawing/2014/main" id="{7EC3F7A5-6A66-41B7-52AB-74D7C389CD18}"/>
              </a:ext>
            </a:extLst>
          </p:cNvPr>
          <p:cNvSpPr/>
          <p:nvPr/>
        </p:nvSpPr>
        <p:spPr>
          <a:xfrm>
            <a:off x="2846292" y="348366"/>
            <a:ext cx="6715440"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8.2 </a:t>
            </a:r>
            <a:r>
              <a:rPr lang="zh-CN" altLang="en-US" sz="3000" b="1" dirty="0">
                <a:latin typeface="黑体" pitchFamily="49" charset="-122"/>
                <a:ea typeface="黑体" pitchFamily="49" charset="-122"/>
                <a:cs typeface="经典粗黑简" pitchFamily="49" charset="-122"/>
              </a:rPr>
              <a:t>图的存储结构和基本运算算法</a:t>
            </a:r>
          </a:p>
        </p:txBody>
      </p:sp>
      <p:cxnSp>
        <p:nvCxnSpPr>
          <p:cNvPr id="6" name="直接连接符 5">
            <a:extLst>
              <a:ext uri="{FF2B5EF4-FFF2-40B4-BE49-F238E27FC236}">
                <a16:creationId xmlns:a16="http://schemas.microsoft.com/office/drawing/2014/main" id="{64480AAF-96F2-D5D6-1FF2-A16706148919}"/>
              </a:ext>
            </a:extLst>
          </p:cNvPr>
          <p:cNvCxnSpPr>
            <a:cxnSpLocks/>
          </p:cNvCxnSpPr>
          <p:nvPr/>
        </p:nvCxnSpPr>
        <p:spPr>
          <a:xfrm>
            <a:off x="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ECD8B940-96B6-9067-1445-BFB045050A00}"/>
              </a:ext>
            </a:extLst>
          </p:cNvPr>
          <p:cNvSpPr txBox="1"/>
          <p:nvPr/>
        </p:nvSpPr>
        <p:spPr>
          <a:xfrm>
            <a:off x="474772" y="1910829"/>
            <a:ext cx="3357586" cy="430887"/>
          </a:xfrm>
          <a:prstGeom prst="rect">
            <a:avLst/>
          </a:prstGeom>
        </p:spPr>
        <p:style>
          <a:lnRef idx="1">
            <a:schemeClr val="accent3"/>
          </a:lnRef>
          <a:fillRef idx="3">
            <a:schemeClr val="accent3"/>
          </a:fillRef>
          <a:effectRef idx="2">
            <a:schemeClr val="accent3"/>
          </a:effectRef>
          <a:fontRef idx="minor">
            <a:schemeClr val="lt1"/>
          </a:fontRef>
        </p:style>
        <p:txBody>
          <a:bodyPr wrap="square" rtlCol="0">
            <a:spAutoFit/>
          </a:bodyPr>
          <a:lstStyle/>
          <a:p>
            <a:pPr algn="l"/>
            <a:r>
              <a:rPr lang="zh-CN" altLang="en-US" sz="2200" dirty="0">
                <a:solidFill>
                  <a:srgbClr val="FF0000"/>
                </a:solidFill>
                <a:latin typeface="Consolas" pitchFamily="49" charset="0"/>
                <a:ea typeface="华文中宋" pitchFamily="2" charset="-122"/>
                <a:cs typeface="Consolas" pitchFamily="49" charset="0"/>
              </a:rPr>
              <a:t>（</a:t>
            </a:r>
            <a:r>
              <a:rPr lang="en-US" sz="2200" dirty="0">
                <a:solidFill>
                  <a:srgbClr val="FF0000"/>
                </a:solidFill>
                <a:latin typeface="Consolas" pitchFamily="49" charset="0"/>
                <a:ea typeface="华文中宋" pitchFamily="2" charset="-122"/>
                <a:cs typeface="Consolas" pitchFamily="49" charset="0"/>
              </a:rPr>
              <a:t>1</a:t>
            </a:r>
            <a:r>
              <a:rPr lang="zh-CN" altLang="en-US" sz="2200" dirty="0">
                <a:solidFill>
                  <a:srgbClr val="FF0000"/>
                </a:solidFill>
                <a:latin typeface="Consolas" pitchFamily="49" charset="0"/>
                <a:ea typeface="华文中宋" pitchFamily="2" charset="-122"/>
                <a:cs typeface="Consolas" pitchFamily="49" charset="0"/>
              </a:rPr>
              <a:t>）创建图的运算算法</a:t>
            </a:r>
          </a:p>
        </p:txBody>
      </p:sp>
      <p:sp>
        <p:nvSpPr>
          <p:cNvPr id="10" name="TextBox 4">
            <a:extLst>
              <a:ext uri="{FF2B5EF4-FFF2-40B4-BE49-F238E27FC236}">
                <a16:creationId xmlns:a16="http://schemas.microsoft.com/office/drawing/2014/main" id="{E8F157DF-A461-23D3-3C38-9A2BD988E74F}"/>
              </a:ext>
            </a:extLst>
          </p:cNvPr>
          <p:cNvSpPr txBox="1"/>
          <p:nvPr/>
        </p:nvSpPr>
        <p:spPr>
          <a:xfrm>
            <a:off x="3969956" y="1910829"/>
            <a:ext cx="7747272" cy="4712980"/>
          </a:xfrm>
          <a:prstGeom prst="rect">
            <a:avLst/>
          </a:prstGeom>
          <a:solidFill>
            <a:schemeClr val="bg1">
              <a:lumMod val="95000"/>
            </a:schemeClr>
          </a:solidFill>
          <a:ln>
            <a:noFill/>
          </a:ln>
          <a:effectLst/>
          <a:scene3d>
            <a:camera prst="orthographicFront">
              <a:rot lat="0" lon="0" rev="0"/>
            </a:camera>
            <a:lightRig rig="chilly" dir="t">
              <a:rot lat="0" lon="0" rev="18480000"/>
            </a:lightRig>
          </a:scene3d>
          <a:sp3d prstMaterial="clear">
            <a:bevelT h="63500"/>
          </a:sp3d>
        </p:spPr>
        <p:style>
          <a:lnRef idx="1">
            <a:schemeClr val="accent3"/>
          </a:lnRef>
          <a:fillRef idx="2">
            <a:schemeClr val="accent3"/>
          </a:fillRef>
          <a:effectRef idx="1">
            <a:schemeClr val="accent3"/>
          </a:effectRef>
          <a:fontRef idx="minor">
            <a:schemeClr val="dk1"/>
          </a:fontRef>
        </p:style>
        <p:txBody>
          <a:bodyPr wrap="square" lIns="180000" tIns="180000" bIns="144000" rtlCol="0">
            <a:spAutoFit/>
          </a:bodyPr>
          <a:lstStyle/>
          <a:p>
            <a:pPr algn="l">
              <a:lnSpc>
                <a:spcPts val="1900"/>
              </a:lnSpc>
            </a:pPr>
            <a:r>
              <a:rPr lang="en-US" sz="1600" dirty="0">
                <a:solidFill>
                  <a:srgbClr val="0000FF"/>
                </a:solidFill>
                <a:latin typeface="Consolas" pitchFamily="49" charset="0"/>
                <a:ea typeface="仿宋" pitchFamily="49" charset="-122"/>
                <a:cs typeface="Consolas" pitchFamily="49" charset="0"/>
              </a:rPr>
              <a:t>void </a:t>
            </a:r>
            <a:r>
              <a:rPr lang="en-US" sz="1600" dirty="0" err="1">
                <a:solidFill>
                  <a:srgbClr val="FF0000"/>
                </a:solidFill>
                <a:latin typeface="Consolas" pitchFamily="49" charset="0"/>
                <a:ea typeface="仿宋" pitchFamily="49" charset="-122"/>
                <a:cs typeface="Consolas" pitchFamily="49" charset="0"/>
              </a:rPr>
              <a:t>CreateAdj</a:t>
            </a:r>
            <a:r>
              <a:rPr lang="en-US" sz="1600" dirty="0">
                <a:solidFill>
                  <a:srgbClr val="0000FF"/>
                </a:solidFill>
                <a:latin typeface="Consolas" pitchFamily="49" charset="0"/>
                <a:ea typeface="仿宋" pitchFamily="49" charset="-122"/>
                <a:cs typeface="Consolas" pitchFamily="49" charset="0"/>
              </a:rPr>
              <a:t>(</a:t>
            </a:r>
            <a:r>
              <a:rPr lang="en-US" sz="1600" dirty="0" err="1">
                <a:solidFill>
                  <a:srgbClr val="0000FF"/>
                </a:solidFill>
                <a:latin typeface="Consolas" pitchFamily="49" charset="0"/>
                <a:ea typeface="仿宋" pitchFamily="49" charset="-122"/>
                <a:cs typeface="Consolas" pitchFamily="49" charset="0"/>
              </a:rPr>
              <a:t>AdjGraph</a:t>
            </a:r>
            <a:r>
              <a:rPr lang="en-US" sz="1600" dirty="0">
                <a:solidFill>
                  <a:srgbClr val="0000FF"/>
                </a:solidFill>
                <a:latin typeface="Consolas" pitchFamily="49" charset="0"/>
                <a:ea typeface="仿宋" pitchFamily="49" charset="-122"/>
                <a:cs typeface="Consolas" pitchFamily="49" charset="0"/>
              </a:rPr>
              <a:t> *&amp;</a:t>
            </a:r>
            <a:r>
              <a:rPr lang="en-US" sz="1600" dirty="0" err="1">
                <a:solidFill>
                  <a:srgbClr val="0000FF"/>
                </a:solidFill>
                <a:latin typeface="Consolas" pitchFamily="49" charset="0"/>
                <a:ea typeface="仿宋" pitchFamily="49" charset="-122"/>
                <a:cs typeface="Consolas" pitchFamily="49" charset="0"/>
              </a:rPr>
              <a:t>G，int</a:t>
            </a:r>
            <a:r>
              <a:rPr lang="en-US" sz="1600" dirty="0">
                <a:solidFill>
                  <a:srgbClr val="0000FF"/>
                </a:solidFill>
                <a:latin typeface="Consolas" pitchFamily="49" charset="0"/>
                <a:ea typeface="仿宋" pitchFamily="49" charset="-122"/>
                <a:cs typeface="Consolas" pitchFamily="49" charset="0"/>
              </a:rPr>
              <a:t> A[MAXV][MAXV]，int </a:t>
            </a:r>
            <a:r>
              <a:rPr lang="en-US" sz="1600" dirty="0" err="1">
                <a:solidFill>
                  <a:srgbClr val="0000FF"/>
                </a:solidFill>
                <a:latin typeface="Consolas" pitchFamily="49" charset="0"/>
                <a:ea typeface="仿宋" pitchFamily="49" charset="-122"/>
                <a:cs typeface="Consolas" pitchFamily="49" charset="0"/>
              </a:rPr>
              <a:t>n，int</a:t>
            </a:r>
            <a:r>
              <a:rPr lang="en-US" sz="1600" dirty="0">
                <a:solidFill>
                  <a:srgbClr val="0000FF"/>
                </a:solidFill>
                <a:latin typeface="Consolas" pitchFamily="49" charset="0"/>
                <a:ea typeface="仿宋" pitchFamily="49" charset="-122"/>
                <a:cs typeface="Consolas" pitchFamily="49" charset="0"/>
              </a:rPr>
              <a:t> e) </a:t>
            </a:r>
          </a:p>
          <a:p>
            <a:pPr algn="l">
              <a:lnSpc>
                <a:spcPts val="1900"/>
              </a:lnSpc>
            </a:pPr>
            <a:r>
              <a:rPr lang="en-US" sz="1600" dirty="0">
                <a:solidFill>
                  <a:srgbClr val="339933"/>
                </a:solidFill>
                <a:latin typeface="Consolas" pitchFamily="49" charset="0"/>
                <a:ea typeface="仿宋" pitchFamily="49" charset="-122"/>
                <a:cs typeface="Consolas" pitchFamily="49" charset="0"/>
              </a:rPr>
              <a:t>//</a:t>
            </a:r>
            <a:r>
              <a:rPr lang="zh-CN" altLang="en-US" sz="1600" dirty="0">
                <a:solidFill>
                  <a:srgbClr val="339933"/>
                </a:solidFill>
                <a:latin typeface="Consolas" pitchFamily="49" charset="0"/>
                <a:ea typeface="仿宋" pitchFamily="49" charset="-122"/>
                <a:cs typeface="Consolas" pitchFamily="49" charset="0"/>
              </a:rPr>
              <a:t>创建图的邻接表</a:t>
            </a:r>
          </a:p>
          <a:p>
            <a:pPr algn="l">
              <a:lnSpc>
                <a:spcPts val="1900"/>
              </a:lnSpc>
            </a:pPr>
            <a:r>
              <a:rPr lang="en-US" sz="1600" dirty="0">
                <a:solidFill>
                  <a:srgbClr val="0000FF"/>
                </a:solidFill>
                <a:latin typeface="Consolas" pitchFamily="49" charset="0"/>
                <a:ea typeface="仿宋" pitchFamily="49" charset="-122"/>
                <a:cs typeface="Consolas" pitchFamily="49" charset="0"/>
              </a:rPr>
              <a:t>{  int </a:t>
            </a:r>
            <a:r>
              <a:rPr lang="en-US" sz="1600" dirty="0" err="1">
                <a:solidFill>
                  <a:srgbClr val="0000FF"/>
                </a:solidFill>
                <a:latin typeface="Consolas" pitchFamily="49" charset="0"/>
                <a:ea typeface="仿宋" pitchFamily="49" charset="-122"/>
                <a:cs typeface="Consolas" pitchFamily="49" charset="0"/>
              </a:rPr>
              <a:t>i</a:t>
            </a:r>
            <a:r>
              <a:rPr lang="en-US" sz="1600" dirty="0">
                <a:solidFill>
                  <a:srgbClr val="0000FF"/>
                </a:solidFill>
                <a:latin typeface="Consolas" pitchFamily="49" charset="0"/>
                <a:ea typeface="仿宋" pitchFamily="49" charset="-122"/>
                <a:cs typeface="Consolas" pitchFamily="49" charset="0"/>
              </a:rPr>
              <a:t>， j;</a:t>
            </a:r>
          </a:p>
          <a:p>
            <a:pPr algn="l">
              <a:lnSpc>
                <a:spcPts val="1900"/>
              </a:lnSpc>
            </a:pPr>
            <a:r>
              <a:rPr lang="en-US" sz="1600" dirty="0">
                <a:solidFill>
                  <a:srgbClr val="0000FF"/>
                </a:solidFill>
                <a:latin typeface="Consolas" pitchFamily="49" charset="0"/>
                <a:ea typeface="仿宋" pitchFamily="49" charset="-122"/>
                <a:cs typeface="Consolas" pitchFamily="49" charset="0"/>
              </a:rPr>
              <a:t>   </a:t>
            </a:r>
            <a:r>
              <a:rPr lang="en-US" sz="1600" dirty="0" err="1">
                <a:solidFill>
                  <a:srgbClr val="0000FF"/>
                </a:solidFill>
                <a:latin typeface="Consolas" pitchFamily="49" charset="0"/>
                <a:ea typeface="仿宋" pitchFamily="49" charset="-122"/>
                <a:cs typeface="Consolas" pitchFamily="49" charset="0"/>
              </a:rPr>
              <a:t>ArcNode</a:t>
            </a:r>
            <a:r>
              <a:rPr lang="en-US" sz="1600" dirty="0">
                <a:solidFill>
                  <a:srgbClr val="0000FF"/>
                </a:solidFill>
                <a:latin typeface="Consolas" pitchFamily="49" charset="0"/>
                <a:ea typeface="仿宋" pitchFamily="49" charset="-122"/>
                <a:cs typeface="Consolas" pitchFamily="49" charset="0"/>
              </a:rPr>
              <a:t> *p;</a:t>
            </a:r>
            <a:endParaRPr lang="zh-CN" altLang="en-US" sz="1600" dirty="0">
              <a:solidFill>
                <a:srgbClr val="0000FF"/>
              </a:solidFill>
              <a:latin typeface="Consolas" pitchFamily="49" charset="0"/>
              <a:ea typeface="仿宋" pitchFamily="49" charset="-122"/>
              <a:cs typeface="Consolas" pitchFamily="49" charset="0"/>
            </a:endParaRPr>
          </a:p>
          <a:p>
            <a:pPr algn="l">
              <a:lnSpc>
                <a:spcPts val="1900"/>
              </a:lnSpc>
            </a:pPr>
            <a:r>
              <a:rPr lang="en-US" sz="1600" dirty="0">
                <a:solidFill>
                  <a:srgbClr val="0000FF"/>
                </a:solidFill>
                <a:latin typeface="Consolas" pitchFamily="49" charset="0"/>
                <a:ea typeface="仿宋" pitchFamily="49" charset="-122"/>
                <a:cs typeface="Consolas" pitchFamily="49" charset="0"/>
              </a:rPr>
              <a:t>   G=(</a:t>
            </a:r>
            <a:r>
              <a:rPr lang="en-US" sz="1600" dirty="0" err="1">
                <a:solidFill>
                  <a:srgbClr val="0000FF"/>
                </a:solidFill>
                <a:latin typeface="Consolas" pitchFamily="49" charset="0"/>
                <a:ea typeface="仿宋" pitchFamily="49" charset="-122"/>
                <a:cs typeface="Consolas" pitchFamily="49" charset="0"/>
              </a:rPr>
              <a:t>AdjGraph</a:t>
            </a:r>
            <a:r>
              <a:rPr lang="en-US" sz="1600" dirty="0">
                <a:solidFill>
                  <a:srgbClr val="0000FF"/>
                </a:solidFill>
                <a:latin typeface="Consolas" pitchFamily="49" charset="0"/>
                <a:ea typeface="仿宋" pitchFamily="49" charset="-122"/>
                <a:cs typeface="Consolas" pitchFamily="49" charset="0"/>
              </a:rPr>
              <a:t> *)malloc(</a:t>
            </a:r>
            <a:r>
              <a:rPr lang="en-US" sz="1600" dirty="0" err="1">
                <a:solidFill>
                  <a:srgbClr val="0000FF"/>
                </a:solidFill>
                <a:latin typeface="Consolas" pitchFamily="49" charset="0"/>
                <a:ea typeface="仿宋" pitchFamily="49" charset="-122"/>
                <a:cs typeface="Consolas" pitchFamily="49" charset="0"/>
              </a:rPr>
              <a:t>sizeof</a:t>
            </a:r>
            <a:r>
              <a:rPr lang="en-US" sz="1600" dirty="0">
                <a:solidFill>
                  <a:srgbClr val="0000FF"/>
                </a:solidFill>
                <a:latin typeface="Consolas" pitchFamily="49" charset="0"/>
                <a:ea typeface="仿宋" pitchFamily="49" charset="-122"/>
                <a:cs typeface="Consolas" pitchFamily="49" charset="0"/>
              </a:rPr>
              <a:t>(</a:t>
            </a:r>
            <a:r>
              <a:rPr lang="en-US" sz="1600" dirty="0" err="1">
                <a:solidFill>
                  <a:srgbClr val="0000FF"/>
                </a:solidFill>
                <a:latin typeface="Consolas" pitchFamily="49" charset="0"/>
                <a:ea typeface="仿宋" pitchFamily="49" charset="-122"/>
                <a:cs typeface="Consolas" pitchFamily="49" charset="0"/>
              </a:rPr>
              <a:t>AdjGraph</a:t>
            </a:r>
            <a:r>
              <a:rPr lang="en-US" sz="1600" dirty="0">
                <a:solidFill>
                  <a:srgbClr val="0000FF"/>
                </a:solidFill>
                <a:latin typeface="Consolas" pitchFamily="49" charset="0"/>
                <a:ea typeface="仿宋" pitchFamily="49" charset="-122"/>
                <a:cs typeface="Consolas" pitchFamily="49" charset="0"/>
              </a:rPr>
              <a:t>));</a:t>
            </a:r>
            <a:endParaRPr lang="zh-CN" altLang="en-US" sz="1600" dirty="0">
              <a:solidFill>
                <a:srgbClr val="0000FF"/>
              </a:solidFill>
              <a:latin typeface="Consolas" pitchFamily="49" charset="0"/>
              <a:ea typeface="仿宋" pitchFamily="49" charset="-122"/>
              <a:cs typeface="Consolas" pitchFamily="49" charset="0"/>
            </a:endParaRPr>
          </a:p>
          <a:p>
            <a:pPr algn="l">
              <a:lnSpc>
                <a:spcPts val="1900"/>
              </a:lnSpc>
            </a:pPr>
            <a:r>
              <a:rPr lang="en-US" sz="1600" dirty="0">
                <a:solidFill>
                  <a:srgbClr val="0000FF"/>
                </a:solidFill>
                <a:latin typeface="Consolas" pitchFamily="49" charset="0"/>
                <a:ea typeface="仿宋" pitchFamily="49" charset="-122"/>
                <a:cs typeface="Consolas" pitchFamily="49" charset="0"/>
              </a:rPr>
              <a:t>   for (</a:t>
            </a:r>
            <a:r>
              <a:rPr lang="en-US" sz="1600" dirty="0" err="1">
                <a:solidFill>
                  <a:srgbClr val="0000FF"/>
                </a:solidFill>
                <a:latin typeface="Consolas" pitchFamily="49" charset="0"/>
                <a:ea typeface="仿宋" pitchFamily="49" charset="-122"/>
                <a:cs typeface="Consolas" pitchFamily="49" charset="0"/>
              </a:rPr>
              <a:t>i</a:t>
            </a:r>
            <a:r>
              <a:rPr lang="en-US" sz="1600" dirty="0">
                <a:solidFill>
                  <a:srgbClr val="0000FF"/>
                </a:solidFill>
                <a:latin typeface="Consolas" pitchFamily="49" charset="0"/>
                <a:ea typeface="仿宋" pitchFamily="49" charset="-122"/>
                <a:cs typeface="Consolas" pitchFamily="49" charset="0"/>
              </a:rPr>
              <a:t>=0;i&lt;</a:t>
            </a:r>
            <a:r>
              <a:rPr lang="en-US" sz="1600" dirty="0" err="1">
                <a:solidFill>
                  <a:srgbClr val="0000FF"/>
                </a:solidFill>
                <a:latin typeface="Consolas" pitchFamily="49" charset="0"/>
                <a:ea typeface="仿宋" pitchFamily="49" charset="-122"/>
                <a:cs typeface="Consolas" pitchFamily="49" charset="0"/>
              </a:rPr>
              <a:t>n;i</a:t>
            </a:r>
            <a:r>
              <a:rPr lang="en-US" sz="1600" dirty="0">
                <a:solidFill>
                  <a:srgbClr val="0000FF"/>
                </a:solidFill>
                <a:latin typeface="Consolas" pitchFamily="49" charset="0"/>
                <a:ea typeface="仿宋" pitchFamily="49" charset="-122"/>
                <a:cs typeface="Consolas" pitchFamily="49" charset="0"/>
              </a:rPr>
              <a:t>++)	     </a:t>
            </a:r>
            <a:r>
              <a:rPr lang="en-US" sz="1600" dirty="0">
                <a:solidFill>
                  <a:srgbClr val="00B0F0"/>
                </a:solidFill>
                <a:latin typeface="Consolas" pitchFamily="49" charset="0"/>
                <a:ea typeface="仿宋" pitchFamily="49" charset="-122"/>
                <a:cs typeface="Consolas" pitchFamily="49" charset="0"/>
              </a:rPr>
              <a:t>//</a:t>
            </a:r>
            <a:r>
              <a:rPr lang="zh-CN" altLang="en-US" sz="1600" dirty="0">
                <a:solidFill>
                  <a:srgbClr val="00B0F0"/>
                </a:solidFill>
                <a:latin typeface="Consolas" pitchFamily="49" charset="0"/>
                <a:ea typeface="仿宋" pitchFamily="49" charset="-122"/>
                <a:cs typeface="Consolas" pitchFamily="49" charset="0"/>
              </a:rPr>
              <a:t>给邻接表中所有头结点的指针域置初值</a:t>
            </a:r>
          </a:p>
          <a:p>
            <a:pPr algn="l">
              <a:lnSpc>
                <a:spcPts val="1900"/>
              </a:lnSpc>
            </a:pPr>
            <a:r>
              <a:rPr lang="en-US" sz="1600" dirty="0">
                <a:solidFill>
                  <a:srgbClr val="0000FF"/>
                </a:solidFill>
                <a:latin typeface="Consolas" pitchFamily="49" charset="0"/>
                <a:ea typeface="仿宋" pitchFamily="49" charset="-122"/>
                <a:cs typeface="Consolas" pitchFamily="49" charset="0"/>
              </a:rPr>
              <a:t>      G-&gt;</a:t>
            </a:r>
            <a:r>
              <a:rPr lang="en-US" sz="1600" dirty="0" err="1">
                <a:solidFill>
                  <a:srgbClr val="0000FF"/>
                </a:solidFill>
                <a:latin typeface="Consolas" pitchFamily="49" charset="0"/>
                <a:ea typeface="仿宋" pitchFamily="49" charset="-122"/>
                <a:cs typeface="Consolas" pitchFamily="49" charset="0"/>
              </a:rPr>
              <a:t>adjlist</a:t>
            </a:r>
            <a:r>
              <a:rPr lang="en-US" sz="1600" dirty="0">
                <a:solidFill>
                  <a:srgbClr val="0000FF"/>
                </a:solidFill>
                <a:latin typeface="Consolas" pitchFamily="49" charset="0"/>
                <a:ea typeface="仿宋" pitchFamily="49" charset="-122"/>
                <a:cs typeface="Consolas" pitchFamily="49" charset="0"/>
              </a:rPr>
              <a:t>[</a:t>
            </a:r>
            <a:r>
              <a:rPr lang="en-US" sz="1600" dirty="0" err="1">
                <a:solidFill>
                  <a:srgbClr val="0000FF"/>
                </a:solidFill>
                <a:latin typeface="Consolas" pitchFamily="49" charset="0"/>
                <a:ea typeface="仿宋" pitchFamily="49" charset="-122"/>
                <a:cs typeface="Consolas" pitchFamily="49" charset="0"/>
              </a:rPr>
              <a:t>i</a:t>
            </a:r>
            <a:r>
              <a:rPr lang="en-US" sz="1600" dirty="0">
                <a:solidFill>
                  <a:srgbClr val="0000FF"/>
                </a:solidFill>
                <a:latin typeface="Consolas" pitchFamily="49" charset="0"/>
                <a:ea typeface="仿宋" pitchFamily="49" charset="-122"/>
                <a:cs typeface="Consolas" pitchFamily="49" charset="0"/>
              </a:rPr>
              <a:t>].</a:t>
            </a:r>
            <a:r>
              <a:rPr lang="en-US" sz="1600" dirty="0" err="1">
                <a:solidFill>
                  <a:srgbClr val="0000FF"/>
                </a:solidFill>
                <a:latin typeface="Consolas" pitchFamily="49" charset="0"/>
                <a:ea typeface="仿宋" pitchFamily="49" charset="-122"/>
                <a:cs typeface="Consolas" pitchFamily="49" charset="0"/>
              </a:rPr>
              <a:t>firstarc</a:t>
            </a:r>
            <a:r>
              <a:rPr lang="en-US" sz="1600" dirty="0">
                <a:solidFill>
                  <a:srgbClr val="0000FF"/>
                </a:solidFill>
                <a:latin typeface="Consolas" pitchFamily="49" charset="0"/>
                <a:ea typeface="仿宋" pitchFamily="49" charset="-122"/>
                <a:cs typeface="Consolas" pitchFamily="49" charset="0"/>
              </a:rPr>
              <a:t>=NULL;</a:t>
            </a:r>
          </a:p>
          <a:p>
            <a:pPr>
              <a:lnSpc>
                <a:spcPts val="1900"/>
              </a:lnSpc>
            </a:pPr>
            <a:r>
              <a:rPr lang="en-US" altLang="zh-CN" sz="1600" dirty="0">
                <a:solidFill>
                  <a:srgbClr val="0000FF"/>
                </a:solidFill>
                <a:latin typeface="Consolas" pitchFamily="49" charset="0"/>
                <a:ea typeface="仿宋" pitchFamily="49" charset="-122"/>
                <a:cs typeface="Consolas" pitchFamily="49" charset="0"/>
              </a:rPr>
              <a:t>   for (</a:t>
            </a:r>
            <a:r>
              <a:rPr lang="en-US" altLang="zh-CN" sz="1600" dirty="0" err="1">
                <a:solidFill>
                  <a:srgbClr val="0000FF"/>
                </a:solidFill>
                <a:latin typeface="Consolas" pitchFamily="49" charset="0"/>
                <a:ea typeface="仿宋" pitchFamily="49" charset="-122"/>
                <a:cs typeface="Consolas" pitchFamily="49" charset="0"/>
              </a:rPr>
              <a:t>i</a:t>
            </a:r>
            <a:r>
              <a:rPr lang="en-US" altLang="zh-CN" sz="1600" dirty="0">
                <a:solidFill>
                  <a:srgbClr val="0000FF"/>
                </a:solidFill>
                <a:latin typeface="Consolas" pitchFamily="49" charset="0"/>
                <a:ea typeface="仿宋" pitchFamily="49" charset="-122"/>
                <a:cs typeface="Consolas" pitchFamily="49" charset="0"/>
              </a:rPr>
              <a:t>=0;i&lt;</a:t>
            </a:r>
            <a:r>
              <a:rPr lang="en-US" altLang="zh-CN" sz="1600" dirty="0" err="1">
                <a:solidFill>
                  <a:srgbClr val="0000FF"/>
                </a:solidFill>
                <a:latin typeface="Consolas" pitchFamily="49" charset="0"/>
                <a:ea typeface="仿宋" pitchFamily="49" charset="-122"/>
                <a:cs typeface="Consolas" pitchFamily="49" charset="0"/>
              </a:rPr>
              <a:t>n;i</a:t>
            </a:r>
            <a:r>
              <a:rPr lang="en-US" altLang="zh-CN" sz="1600" dirty="0">
                <a:solidFill>
                  <a:srgbClr val="0000FF"/>
                </a:solidFill>
                <a:latin typeface="Consolas" pitchFamily="49" charset="0"/>
                <a:ea typeface="仿宋" pitchFamily="49" charset="-122"/>
                <a:cs typeface="Consolas" pitchFamily="49" charset="0"/>
              </a:rPr>
              <a:t>++)		</a:t>
            </a:r>
            <a:r>
              <a:rPr lang="en-US" altLang="zh-CN" sz="1600" dirty="0">
                <a:solidFill>
                  <a:srgbClr val="00B050"/>
                </a:solidFill>
                <a:latin typeface="Consolas" pitchFamily="49" charset="0"/>
                <a:ea typeface="仿宋" pitchFamily="49" charset="-122"/>
                <a:cs typeface="Consolas" pitchFamily="49" charset="0"/>
              </a:rPr>
              <a:t>   	</a:t>
            </a:r>
            <a:r>
              <a:rPr lang="en-US" altLang="zh-CN" sz="1600" dirty="0">
                <a:solidFill>
                  <a:srgbClr val="00B0F0"/>
                </a:solidFill>
                <a:latin typeface="Consolas" pitchFamily="49" charset="0"/>
                <a:ea typeface="仿宋" pitchFamily="49" charset="-122"/>
                <a:cs typeface="Consolas" pitchFamily="49" charset="0"/>
              </a:rPr>
              <a:t>//</a:t>
            </a:r>
            <a:r>
              <a:rPr lang="zh-CN" altLang="en-US" sz="1600" dirty="0">
                <a:solidFill>
                  <a:srgbClr val="00B0F0"/>
                </a:solidFill>
                <a:latin typeface="Consolas" pitchFamily="49" charset="0"/>
                <a:ea typeface="仿宋" pitchFamily="49" charset="-122"/>
                <a:cs typeface="Consolas" pitchFamily="49" charset="0"/>
              </a:rPr>
              <a:t>检查邻接矩阵中每个元素</a:t>
            </a:r>
          </a:p>
          <a:p>
            <a:pPr>
              <a:lnSpc>
                <a:spcPts val="1900"/>
              </a:lnSpc>
            </a:pPr>
            <a:r>
              <a:rPr lang="en-US" altLang="zh-CN" sz="1600" dirty="0">
                <a:solidFill>
                  <a:srgbClr val="0000FF"/>
                </a:solidFill>
                <a:latin typeface="Consolas" pitchFamily="49" charset="0"/>
                <a:ea typeface="仿宋" pitchFamily="49" charset="-122"/>
                <a:cs typeface="Consolas" pitchFamily="49" charset="0"/>
              </a:rPr>
              <a:t>     for (j=n-1;j&gt;=0;j--)</a:t>
            </a:r>
            <a:endParaRPr lang="zh-CN" altLang="en-US" sz="1600" dirty="0">
              <a:solidFill>
                <a:srgbClr val="0000FF"/>
              </a:solidFill>
              <a:latin typeface="Consolas" pitchFamily="49" charset="0"/>
              <a:ea typeface="仿宋" pitchFamily="49" charset="-122"/>
              <a:cs typeface="Consolas" pitchFamily="49" charset="0"/>
            </a:endParaRPr>
          </a:p>
          <a:p>
            <a:pPr>
              <a:lnSpc>
                <a:spcPts val="1900"/>
              </a:lnSpc>
            </a:pPr>
            <a:r>
              <a:rPr lang="en-US" altLang="zh-CN" sz="1600" dirty="0">
                <a:solidFill>
                  <a:srgbClr val="0000FF"/>
                </a:solidFill>
                <a:latin typeface="Consolas" pitchFamily="49" charset="0"/>
                <a:ea typeface="仿宋" pitchFamily="49" charset="-122"/>
                <a:cs typeface="Consolas" pitchFamily="49" charset="0"/>
              </a:rPr>
              <a:t>	if (</a:t>
            </a:r>
            <a:r>
              <a:rPr lang="en-US" altLang="zh-CN" sz="1600" dirty="0">
                <a:solidFill>
                  <a:srgbClr val="FF00FF"/>
                </a:solidFill>
                <a:latin typeface="Consolas" pitchFamily="49" charset="0"/>
                <a:ea typeface="仿宋" pitchFamily="49" charset="-122"/>
                <a:cs typeface="Consolas" pitchFamily="49" charset="0"/>
              </a:rPr>
              <a:t>A[</a:t>
            </a:r>
            <a:r>
              <a:rPr lang="en-US" altLang="zh-CN" sz="1600" dirty="0" err="1">
                <a:solidFill>
                  <a:srgbClr val="FF00FF"/>
                </a:solidFill>
                <a:latin typeface="Consolas" pitchFamily="49" charset="0"/>
                <a:ea typeface="仿宋" pitchFamily="49" charset="-122"/>
                <a:cs typeface="Consolas" pitchFamily="49" charset="0"/>
              </a:rPr>
              <a:t>i</a:t>
            </a:r>
            <a:r>
              <a:rPr lang="en-US" altLang="zh-CN" sz="1600" dirty="0">
                <a:solidFill>
                  <a:srgbClr val="FF00FF"/>
                </a:solidFill>
                <a:latin typeface="Consolas" pitchFamily="49" charset="0"/>
                <a:ea typeface="仿宋" pitchFamily="49" charset="-122"/>
                <a:cs typeface="Consolas" pitchFamily="49" charset="0"/>
              </a:rPr>
              <a:t>][j]!=0 &amp;&amp; A[</a:t>
            </a:r>
            <a:r>
              <a:rPr lang="en-US" altLang="zh-CN" sz="1600" dirty="0" err="1">
                <a:solidFill>
                  <a:srgbClr val="FF00FF"/>
                </a:solidFill>
                <a:latin typeface="Consolas" pitchFamily="49" charset="0"/>
                <a:ea typeface="仿宋" pitchFamily="49" charset="-122"/>
                <a:cs typeface="Consolas" pitchFamily="49" charset="0"/>
              </a:rPr>
              <a:t>i</a:t>
            </a:r>
            <a:r>
              <a:rPr lang="en-US" altLang="zh-CN" sz="1600" dirty="0">
                <a:solidFill>
                  <a:srgbClr val="FF00FF"/>
                </a:solidFill>
                <a:latin typeface="Consolas" pitchFamily="49" charset="0"/>
                <a:ea typeface="仿宋" pitchFamily="49" charset="-122"/>
                <a:cs typeface="Consolas" pitchFamily="49" charset="0"/>
              </a:rPr>
              <a:t>][j]!=INF</a:t>
            </a:r>
            <a:r>
              <a:rPr lang="en-US" altLang="zh-CN" sz="1600" dirty="0">
                <a:solidFill>
                  <a:srgbClr val="0000FF"/>
                </a:solidFill>
                <a:latin typeface="Consolas" pitchFamily="49" charset="0"/>
                <a:ea typeface="仿宋" pitchFamily="49" charset="-122"/>
                <a:cs typeface="Consolas" pitchFamily="49" charset="0"/>
              </a:rPr>
              <a:t>)	  </a:t>
            </a:r>
            <a:r>
              <a:rPr lang="en-US" altLang="zh-CN" sz="1600" dirty="0">
                <a:solidFill>
                  <a:srgbClr val="00B050"/>
                </a:solidFill>
                <a:latin typeface="Consolas" pitchFamily="49" charset="0"/>
                <a:ea typeface="仿宋" pitchFamily="49" charset="-122"/>
                <a:cs typeface="Consolas" pitchFamily="49" charset="0"/>
              </a:rPr>
              <a:t>   	</a:t>
            </a:r>
            <a:r>
              <a:rPr lang="en-US" altLang="zh-CN" sz="1600" dirty="0">
                <a:solidFill>
                  <a:srgbClr val="00B0F0"/>
                </a:solidFill>
                <a:latin typeface="Consolas" pitchFamily="49" charset="0"/>
                <a:ea typeface="仿宋" pitchFamily="49" charset="-122"/>
                <a:cs typeface="Consolas" pitchFamily="49" charset="0"/>
              </a:rPr>
              <a:t>//</a:t>
            </a:r>
            <a:r>
              <a:rPr lang="zh-CN" altLang="en-US" sz="1600" dirty="0">
                <a:solidFill>
                  <a:srgbClr val="00B0F0"/>
                </a:solidFill>
                <a:latin typeface="Consolas" pitchFamily="49" charset="0"/>
                <a:ea typeface="仿宋" pitchFamily="49" charset="-122"/>
                <a:cs typeface="Consolas" pitchFamily="49" charset="0"/>
              </a:rPr>
              <a:t>存在一条边</a:t>
            </a:r>
          </a:p>
          <a:p>
            <a:pPr>
              <a:lnSpc>
                <a:spcPts val="1900"/>
              </a:lnSpc>
            </a:pPr>
            <a:r>
              <a:rPr lang="en-US" altLang="zh-CN" sz="1600" dirty="0">
                <a:solidFill>
                  <a:srgbClr val="0000FF"/>
                </a:solidFill>
                <a:latin typeface="Consolas" pitchFamily="49" charset="0"/>
                <a:ea typeface="仿宋" pitchFamily="49" charset="-122"/>
                <a:cs typeface="Consolas" pitchFamily="49" charset="0"/>
              </a:rPr>
              <a:t>	{  p=(</a:t>
            </a:r>
            <a:r>
              <a:rPr lang="en-US" altLang="zh-CN" sz="1600" dirty="0" err="1">
                <a:solidFill>
                  <a:srgbClr val="0000FF"/>
                </a:solidFill>
                <a:latin typeface="Consolas" pitchFamily="49" charset="0"/>
                <a:ea typeface="仿宋" pitchFamily="49" charset="-122"/>
                <a:cs typeface="Consolas" pitchFamily="49" charset="0"/>
              </a:rPr>
              <a:t>ArcNode</a:t>
            </a:r>
            <a:r>
              <a:rPr lang="en-US" altLang="zh-CN" sz="1600" dirty="0">
                <a:solidFill>
                  <a:srgbClr val="0000FF"/>
                </a:solidFill>
                <a:latin typeface="Consolas" pitchFamily="49" charset="0"/>
                <a:ea typeface="仿宋" pitchFamily="49" charset="-122"/>
                <a:cs typeface="Consolas" pitchFamily="49" charset="0"/>
              </a:rPr>
              <a:t> *)malloc(</a:t>
            </a:r>
            <a:r>
              <a:rPr lang="en-US" altLang="zh-CN" sz="1600" dirty="0" err="1">
                <a:solidFill>
                  <a:srgbClr val="0000FF"/>
                </a:solidFill>
                <a:latin typeface="Consolas" pitchFamily="49" charset="0"/>
                <a:ea typeface="仿宋" pitchFamily="49" charset="-122"/>
                <a:cs typeface="Consolas" pitchFamily="49" charset="0"/>
              </a:rPr>
              <a:t>sizeof</a:t>
            </a:r>
            <a:r>
              <a:rPr lang="en-US" altLang="zh-CN" sz="1600" dirty="0">
                <a:solidFill>
                  <a:srgbClr val="0000FF"/>
                </a:solidFill>
                <a:latin typeface="Consolas" pitchFamily="49" charset="0"/>
                <a:ea typeface="仿宋" pitchFamily="49" charset="-122"/>
                <a:cs typeface="Consolas" pitchFamily="49" charset="0"/>
              </a:rPr>
              <a:t>(</a:t>
            </a:r>
            <a:r>
              <a:rPr lang="en-US" altLang="zh-CN" sz="1600" dirty="0" err="1">
                <a:solidFill>
                  <a:srgbClr val="0000FF"/>
                </a:solidFill>
                <a:latin typeface="Consolas" pitchFamily="49" charset="0"/>
                <a:ea typeface="仿宋" pitchFamily="49" charset="-122"/>
                <a:cs typeface="Consolas" pitchFamily="49" charset="0"/>
              </a:rPr>
              <a:t>ArcNode</a:t>
            </a:r>
            <a:r>
              <a:rPr lang="en-US" altLang="zh-CN" sz="1600" dirty="0">
                <a:solidFill>
                  <a:srgbClr val="0000FF"/>
                </a:solidFill>
                <a:latin typeface="Consolas" pitchFamily="49" charset="0"/>
                <a:ea typeface="仿宋" pitchFamily="49" charset="-122"/>
                <a:cs typeface="Consolas" pitchFamily="49" charset="0"/>
              </a:rPr>
              <a:t>));	</a:t>
            </a:r>
            <a:r>
              <a:rPr lang="en-US" altLang="zh-CN" sz="1600" dirty="0">
                <a:solidFill>
                  <a:srgbClr val="00B0F0"/>
                </a:solidFill>
                <a:latin typeface="Consolas" pitchFamily="49" charset="0"/>
                <a:ea typeface="仿宋" pitchFamily="49" charset="-122"/>
                <a:cs typeface="Consolas" pitchFamily="49" charset="0"/>
              </a:rPr>
              <a:t>//</a:t>
            </a:r>
            <a:r>
              <a:rPr lang="zh-CN" altLang="en-US" sz="1600" dirty="0">
                <a:solidFill>
                  <a:srgbClr val="00B0F0"/>
                </a:solidFill>
                <a:latin typeface="Consolas" pitchFamily="49" charset="0"/>
                <a:ea typeface="仿宋" pitchFamily="49" charset="-122"/>
                <a:cs typeface="Consolas" pitchFamily="49" charset="0"/>
              </a:rPr>
              <a:t>创建一个结点</a:t>
            </a:r>
            <a:r>
              <a:rPr lang="en-US" altLang="zh-CN" sz="1600" dirty="0">
                <a:solidFill>
                  <a:srgbClr val="00B0F0"/>
                </a:solidFill>
                <a:latin typeface="Consolas" pitchFamily="49" charset="0"/>
                <a:ea typeface="仿宋" pitchFamily="49" charset="-122"/>
                <a:cs typeface="Consolas" pitchFamily="49" charset="0"/>
              </a:rPr>
              <a:t>p</a:t>
            </a:r>
            <a:endParaRPr lang="zh-CN" altLang="en-US" sz="1600" dirty="0">
              <a:solidFill>
                <a:srgbClr val="00B0F0"/>
              </a:solidFill>
              <a:latin typeface="Consolas" pitchFamily="49" charset="0"/>
              <a:ea typeface="仿宋" pitchFamily="49" charset="-122"/>
              <a:cs typeface="Consolas" pitchFamily="49" charset="0"/>
            </a:endParaRPr>
          </a:p>
          <a:p>
            <a:pPr>
              <a:lnSpc>
                <a:spcPts val="1900"/>
              </a:lnSpc>
            </a:pPr>
            <a:r>
              <a:rPr lang="en-US" altLang="zh-CN" sz="1600" dirty="0">
                <a:solidFill>
                  <a:srgbClr val="0000FF"/>
                </a:solidFill>
                <a:latin typeface="Consolas" pitchFamily="49" charset="0"/>
                <a:ea typeface="仿宋" pitchFamily="49" charset="-122"/>
                <a:cs typeface="Consolas" pitchFamily="49" charset="0"/>
              </a:rPr>
              <a:t>	   p-&gt;</a:t>
            </a:r>
            <a:r>
              <a:rPr lang="en-US" altLang="zh-CN" sz="1600" dirty="0" err="1">
                <a:solidFill>
                  <a:srgbClr val="0000FF"/>
                </a:solidFill>
                <a:latin typeface="Consolas" pitchFamily="49" charset="0"/>
                <a:ea typeface="仿宋" pitchFamily="49" charset="-122"/>
                <a:cs typeface="Consolas" pitchFamily="49" charset="0"/>
              </a:rPr>
              <a:t>adjvex</a:t>
            </a:r>
            <a:r>
              <a:rPr lang="en-US" altLang="zh-CN" sz="1600" dirty="0">
                <a:solidFill>
                  <a:srgbClr val="0000FF"/>
                </a:solidFill>
                <a:latin typeface="Consolas" pitchFamily="49" charset="0"/>
                <a:ea typeface="仿宋" pitchFamily="49" charset="-122"/>
                <a:cs typeface="Consolas" pitchFamily="49" charset="0"/>
              </a:rPr>
              <a:t>=j;			</a:t>
            </a:r>
            <a:r>
              <a:rPr lang="en-US" altLang="zh-CN" sz="1600" dirty="0">
                <a:solidFill>
                  <a:srgbClr val="00B050"/>
                </a:solidFill>
                <a:latin typeface="Consolas" pitchFamily="49" charset="0"/>
                <a:ea typeface="仿宋" pitchFamily="49" charset="-122"/>
                <a:cs typeface="Consolas" pitchFamily="49" charset="0"/>
              </a:rPr>
              <a:t>     	</a:t>
            </a:r>
            <a:r>
              <a:rPr lang="en-US" altLang="zh-CN" sz="1600" dirty="0">
                <a:solidFill>
                  <a:srgbClr val="00B0F0"/>
                </a:solidFill>
                <a:latin typeface="Consolas" pitchFamily="49" charset="0"/>
                <a:ea typeface="仿宋" pitchFamily="49" charset="-122"/>
                <a:cs typeface="Consolas" pitchFamily="49" charset="0"/>
              </a:rPr>
              <a:t>//</a:t>
            </a:r>
            <a:r>
              <a:rPr lang="zh-CN" altLang="en-US" sz="1600" dirty="0">
                <a:solidFill>
                  <a:srgbClr val="00B0F0"/>
                </a:solidFill>
                <a:latin typeface="Consolas" pitchFamily="49" charset="0"/>
                <a:ea typeface="仿宋" pitchFamily="49" charset="-122"/>
                <a:cs typeface="Consolas" pitchFamily="49" charset="0"/>
              </a:rPr>
              <a:t>存放邻接点</a:t>
            </a:r>
          </a:p>
          <a:p>
            <a:pPr>
              <a:lnSpc>
                <a:spcPts val="1900"/>
              </a:lnSpc>
            </a:pPr>
            <a:r>
              <a:rPr lang="en-US" altLang="zh-CN" sz="1600" dirty="0">
                <a:solidFill>
                  <a:srgbClr val="0000FF"/>
                </a:solidFill>
                <a:latin typeface="Consolas" pitchFamily="49" charset="0"/>
                <a:ea typeface="仿宋" pitchFamily="49" charset="-122"/>
                <a:cs typeface="Consolas" pitchFamily="49" charset="0"/>
              </a:rPr>
              <a:t>	   p-&gt;weight=A[</a:t>
            </a:r>
            <a:r>
              <a:rPr lang="en-US" altLang="zh-CN" sz="1600" dirty="0" err="1">
                <a:solidFill>
                  <a:srgbClr val="0000FF"/>
                </a:solidFill>
                <a:latin typeface="Consolas" pitchFamily="49" charset="0"/>
                <a:ea typeface="仿宋" pitchFamily="49" charset="-122"/>
                <a:cs typeface="Consolas" pitchFamily="49" charset="0"/>
              </a:rPr>
              <a:t>i</a:t>
            </a:r>
            <a:r>
              <a:rPr lang="en-US" altLang="zh-CN" sz="1600" dirty="0">
                <a:solidFill>
                  <a:srgbClr val="0000FF"/>
                </a:solidFill>
                <a:latin typeface="Consolas" pitchFamily="49" charset="0"/>
                <a:ea typeface="仿宋" pitchFamily="49" charset="-122"/>
                <a:cs typeface="Consolas" pitchFamily="49" charset="0"/>
              </a:rPr>
              <a:t>][j];		      	</a:t>
            </a:r>
            <a:r>
              <a:rPr lang="en-US" altLang="zh-CN" sz="1600" dirty="0">
                <a:solidFill>
                  <a:srgbClr val="00B0F0"/>
                </a:solidFill>
                <a:latin typeface="Consolas" pitchFamily="49" charset="0"/>
                <a:ea typeface="仿宋" pitchFamily="49" charset="-122"/>
                <a:cs typeface="Consolas" pitchFamily="49" charset="0"/>
              </a:rPr>
              <a:t>//</a:t>
            </a:r>
            <a:r>
              <a:rPr lang="zh-CN" altLang="en-US" sz="1600" dirty="0">
                <a:solidFill>
                  <a:srgbClr val="00B0F0"/>
                </a:solidFill>
                <a:latin typeface="Consolas" pitchFamily="49" charset="0"/>
                <a:ea typeface="仿宋" pitchFamily="49" charset="-122"/>
                <a:cs typeface="Consolas" pitchFamily="49" charset="0"/>
              </a:rPr>
              <a:t>存放权</a:t>
            </a:r>
          </a:p>
          <a:p>
            <a:pPr>
              <a:lnSpc>
                <a:spcPts val="1900"/>
              </a:lnSpc>
            </a:pPr>
            <a:r>
              <a:rPr lang="en-US" altLang="zh-CN" sz="1600" dirty="0">
                <a:solidFill>
                  <a:srgbClr val="0000FF"/>
                </a:solidFill>
                <a:latin typeface="Consolas" pitchFamily="49" charset="0"/>
                <a:ea typeface="仿宋" pitchFamily="49" charset="-122"/>
                <a:cs typeface="Consolas" pitchFamily="49" charset="0"/>
              </a:rPr>
              <a:t>	   p-&gt;</a:t>
            </a:r>
            <a:r>
              <a:rPr lang="en-US" altLang="zh-CN" sz="1600" dirty="0" err="1">
                <a:solidFill>
                  <a:srgbClr val="0000FF"/>
                </a:solidFill>
                <a:latin typeface="Consolas" pitchFamily="49" charset="0"/>
                <a:ea typeface="仿宋" pitchFamily="49" charset="-122"/>
                <a:cs typeface="Consolas" pitchFamily="49" charset="0"/>
              </a:rPr>
              <a:t>nextarc</a:t>
            </a:r>
            <a:r>
              <a:rPr lang="en-US" altLang="zh-CN" sz="1600" dirty="0">
                <a:solidFill>
                  <a:srgbClr val="0000FF"/>
                </a:solidFill>
                <a:latin typeface="Consolas" pitchFamily="49" charset="0"/>
                <a:ea typeface="仿宋" pitchFamily="49" charset="-122"/>
                <a:cs typeface="Consolas" pitchFamily="49" charset="0"/>
              </a:rPr>
              <a:t>=G-&gt;</a:t>
            </a:r>
            <a:r>
              <a:rPr lang="en-US" altLang="zh-CN" sz="1600" dirty="0" err="1">
                <a:solidFill>
                  <a:srgbClr val="0000FF"/>
                </a:solidFill>
                <a:latin typeface="Consolas" pitchFamily="49" charset="0"/>
                <a:ea typeface="仿宋" pitchFamily="49" charset="-122"/>
                <a:cs typeface="Consolas" pitchFamily="49" charset="0"/>
              </a:rPr>
              <a:t>adjlist</a:t>
            </a:r>
            <a:r>
              <a:rPr lang="en-US" altLang="zh-CN" sz="1600" dirty="0">
                <a:solidFill>
                  <a:srgbClr val="0000FF"/>
                </a:solidFill>
                <a:latin typeface="Consolas" pitchFamily="49" charset="0"/>
                <a:ea typeface="仿宋" pitchFamily="49" charset="-122"/>
                <a:cs typeface="Consolas" pitchFamily="49" charset="0"/>
              </a:rPr>
              <a:t>[</a:t>
            </a:r>
            <a:r>
              <a:rPr lang="en-US" altLang="zh-CN" sz="1600" dirty="0" err="1">
                <a:solidFill>
                  <a:srgbClr val="0000FF"/>
                </a:solidFill>
                <a:latin typeface="Consolas" pitchFamily="49" charset="0"/>
                <a:ea typeface="仿宋" pitchFamily="49" charset="-122"/>
                <a:cs typeface="Consolas" pitchFamily="49" charset="0"/>
              </a:rPr>
              <a:t>i</a:t>
            </a:r>
            <a:r>
              <a:rPr lang="en-US" altLang="zh-CN" sz="1600" dirty="0">
                <a:solidFill>
                  <a:srgbClr val="0000FF"/>
                </a:solidFill>
                <a:latin typeface="Consolas" pitchFamily="49" charset="0"/>
                <a:ea typeface="仿宋" pitchFamily="49" charset="-122"/>
                <a:cs typeface="Consolas" pitchFamily="49" charset="0"/>
              </a:rPr>
              <a:t>].</a:t>
            </a:r>
            <a:r>
              <a:rPr lang="en-US" altLang="zh-CN" sz="1600" dirty="0" err="1">
                <a:solidFill>
                  <a:srgbClr val="0000FF"/>
                </a:solidFill>
                <a:latin typeface="Consolas" pitchFamily="49" charset="0"/>
                <a:ea typeface="仿宋" pitchFamily="49" charset="-122"/>
                <a:cs typeface="Consolas" pitchFamily="49" charset="0"/>
              </a:rPr>
              <a:t>firstarc</a:t>
            </a:r>
            <a:r>
              <a:rPr lang="en-US" altLang="zh-CN" sz="1600" dirty="0">
                <a:solidFill>
                  <a:srgbClr val="0000FF"/>
                </a:solidFill>
                <a:latin typeface="Consolas" pitchFamily="49" charset="0"/>
                <a:ea typeface="仿宋" pitchFamily="49" charset="-122"/>
                <a:cs typeface="Consolas" pitchFamily="49" charset="0"/>
              </a:rPr>
              <a:t>; </a:t>
            </a:r>
            <a:r>
              <a:rPr lang="en-US" altLang="zh-CN" sz="1600" dirty="0">
                <a:solidFill>
                  <a:srgbClr val="00B0F0"/>
                </a:solidFill>
                <a:latin typeface="Consolas" pitchFamily="49" charset="0"/>
                <a:ea typeface="仿宋" pitchFamily="49" charset="-122"/>
                <a:cs typeface="Consolas" pitchFamily="49" charset="0"/>
              </a:rPr>
              <a:t>//</a:t>
            </a:r>
            <a:r>
              <a:rPr lang="zh-CN" altLang="en-US" sz="1600" dirty="0">
                <a:solidFill>
                  <a:srgbClr val="00B0F0"/>
                </a:solidFill>
                <a:latin typeface="Consolas" pitchFamily="49" charset="0"/>
                <a:ea typeface="仿宋" pitchFamily="49" charset="-122"/>
                <a:cs typeface="Consolas" pitchFamily="49" charset="0"/>
              </a:rPr>
              <a:t>采用头插法插入结点</a:t>
            </a:r>
            <a:r>
              <a:rPr lang="en-US" altLang="zh-CN" sz="1600" dirty="0">
                <a:solidFill>
                  <a:srgbClr val="00B0F0"/>
                </a:solidFill>
                <a:latin typeface="Consolas" pitchFamily="49" charset="0"/>
                <a:ea typeface="仿宋" pitchFamily="49" charset="-122"/>
                <a:cs typeface="Consolas" pitchFamily="49" charset="0"/>
              </a:rPr>
              <a:t>p</a:t>
            </a:r>
            <a:endParaRPr lang="zh-CN" altLang="en-US" sz="1600" dirty="0">
              <a:solidFill>
                <a:srgbClr val="00B0F0"/>
              </a:solidFill>
              <a:latin typeface="Consolas" pitchFamily="49" charset="0"/>
              <a:ea typeface="仿宋" pitchFamily="49" charset="-122"/>
              <a:cs typeface="Consolas" pitchFamily="49" charset="0"/>
            </a:endParaRPr>
          </a:p>
          <a:p>
            <a:pPr>
              <a:lnSpc>
                <a:spcPts val="1900"/>
              </a:lnSpc>
            </a:pPr>
            <a:r>
              <a:rPr lang="en-US" altLang="zh-CN" sz="1600" dirty="0">
                <a:solidFill>
                  <a:srgbClr val="0000FF"/>
                </a:solidFill>
                <a:latin typeface="Consolas" pitchFamily="49" charset="0"/>
                <a:ea typeface="仿宋" pitchFamily="49" charset="-122"/>
                <a:cs typeface="Consolas" pitchFamily="49" charset="0"/>
              </a:rPr>
              <a:t>	   G-&gt;</a:t>
            </a:r>
            <a:r>
              <a:rPr lang="en-US" altLang="zh-CN" sz="1600" dirty="0" err="1">
                <a:solidFill>
                  <a:srgbClr val="0000FF"/>
                </a:solidFill>
                <a:latin typeface="Consolas" pitchFamily="49" charset="0"/>
                <a:ea typeface="仿宋" pitchFamily="49" charset="-122"/>
                <a:cs typeface="Consolas" pitchFamily="49" charset="0"/>
              </a:rPr>
              <a:t>adjlist</a:t>
            </a:r>
            <a:r>
              <a:rPr lang="en-US" altLang="zh-CN" sz="1600" dirty="0">
                <a:solidFill>
                  <a:srgbClr val="0000FF"/>
                </a:solidFill>
                <a:latin typeface="Consolas" pitchFamily="49" charset="0"/>
                <a:ea typeface="仿宋" pitchFamily="49" charset="-122"/>
                <a:cs typeface="Consolas" pitchFamily="49" charset="0"/>
              </a:rPr>
              <a:t>[</a:t>
            </a:r>
            <a:r>
              <a:rPr lang="en-US" altLang="zh-CN" sz="1600" dirty="0" err="1">
                <a:solidFill>
                  <a:srgbClr val="0000FF"/>
                </a:solidFill>
                <a:latin typeface="Consolas" pitchFamily="49" charset="0"/>
                <a:ea typeface="仿宋" pitchFamily="49" charset="-122"/>
                <a:cs typeface="Consolas" pitchFamily="49" charset="0"/>
              </a:rPr>
              <a:t>i</a:t>
            </a:r>
            <a:r>
              <a:rPr lang="en-US" altLang="zh-CN" sz="1600" dirty="0">
                <a:solidFill>
                  <a:srgbClr val="0000FF"/>
                </a:solidFill>
                <a:latin typeface="Consolas" pitchFamily="49" charset="0"/>
                <a:ea typeface="仿宋" pitchFamily="49" charset="-122"/>
                <a:cs typeface="Consolas" pitchFamily="49" charset="0"/>
              </a:rPr>
              <a:t>].</a:t>
            </a:r>
            <a:r>
              <a:rPr lang="en-US" altLang="zh-CN" sz="1600" dirty="0" err="1">
                <a:solidFill>
                  <a:srgbClr val="0000FF"/>
                </a:solidFill>
                <a:latin typeface="Consolas" pitchFamily="49" charset="0"/>
                <a:ea typeface="仿宋" pitchFamily="49" charset="-122"/>
                <a:cs typeface="Consolas" pitchFamily="49" charset="0"/>
              </a:rPr>
              <a:t>firstarc</a:t>
            </a:r>
            <a:r>
              <a:rPr lang="en-US" altLang="zh-CN" sz="1600" dirty="0">
                <a:solidFill>
                  <a:srgbClr val="0000FF"/>
                </a:solidFill>
                <a:latin typeface="Consolas" pitchFamily="49" charset="0"/>
                <a:ea typeface="仿宋" pitchFamily="49" charset="-122"/>
                <a:cs typeface="Consolas" pitchFamily="49" charset="0"/>
              </a:rPr>
              <a:t>=p;</a:t>
            </a:r>
            <a:endParaRPr lang="zh-CN" altLang="en-US" sz="1600" dirty="0">
              <a:solidFill>
                <a:srgbClr val="0000FF"/>
              </a:solidFill>
              <a:latin typeface="Consolas" pitchFamily="49" charset="0"/>
              <a:ea typeface="仿宋" pitchFamily="49" charset="-122"/>
              <a:cs typeface="Consolas" pitchFamily="49" charset="0"/>
            </a:endParaRPr>
          </a:p>
          <a:p>
            <a:pPr>
              <a:lnSpc>
                <a:spcPts val="1900"/>
              </a:lnSpc>
            </a:pPr>
            <a:r>
              <a:rPr lang="en-US" altLang="zh-CN" sz="1600" dirty="0">
                <a:solidFill>
                  <a:srgbClr val="0000FF"/>
                </a:solidFill>
                <a:latin typeface="Consolas" pitchFamily="49" charset="0"/>
                <a:ea typeface="仿宋" pitchFamily="49" charset="-122"/>
                <a:cs typeface="Consolas" pitchFamily="49" charset="0"/>
              </a:rPr>
              <a:t>	}</a:t>
            </a:r>
            <a:endParaRPr lang="zh-CN" altLang="en-US" sz="1600" dirty="0">
              <a:solidFill>
                <a:srgbClr val="0000FF"/>
              </a:solidFill>
              <a:latin typeface="Consolas" pitchFamily="49" charset="0"/>
              <a:ea typeface="仿宋" pitchFamily="49" charset="-122"/>
              <a:cs typeface="Consolas" pitchFamily="49" charset="0"/>
            </a:endParaRPr>
          </a:p>
          <a:p>
            <a:pPr>
              <a:lnSpc>
                <a:spcPts val="1900"/>
              </a:lnSpc>
            </a:pPr>
            <a:r>
              <a:rPr lang="en-US" altLang="zh-CN" sz="1600" dirty="0">
                <a:solidFill>
                  <a:srgbClr val="0000FF"/>
                </a:solidFill>
                <a:latin typeface="Consolas" pitchFamily="49" charset="0"/>
                <a:ea typeface="仿宋" pitchFamily="49" charset="-122"/>
                <a:cs typeface="Consolas" pitchFamily="49" charset="0"/>
              </a:rPr>
              <a:t>   G-&gt;n=n; G-&gt;e=e;</a:t>
            </a:r>
            <a:endParaRPr lang="zh-CN" altLang="en-US" sz="1600" dirty="0">
              <a:solidFill>
                <a:srgbClr val="0000FF"/>
              </a:solidFill>
              <a:latin typeface="Consolas" pitchFamily="49" charset="0"/>
              <a:ea typeface="仿宋" pitchFamily="49" charset="-122"/>
              <a:cs typeface="Consolas" pitchFamily="49" charset="0"/>
            </a:endParaRPr>
          </a:p>
          <a:p>
            <a:pPr>
              <a:lnSpc>
                <a:spcPts val="1900"/>
              </a:lnSpc>
            </a:pPr>
            <a:r>
              <a:rPr lang="en-US" altLang="zh-CN" sz="1600" dirty="0">
                <a:solidFill>
                  <a:srgbClr val="0000FF"/>
                </a:solidFill>
                <a:latin typeface="Consolas" pitchFamily="49" charset="0"/>
                <a:ea typeface="仿宋" pitchFamily="49" charset="-122"/>
                <a:cs typeface="Consolas" pitchFamily="49" charset="0"/>
              </a:rPr>
              <a:t>}</a:t>
            </a:r>
            <a:endParaRPr lang="zh-CN" altLang="en-US" sz="1600" dirty="0">
              <a:solidFill>
                <a:srgbClr val="0000FF"/>
              </a:solidFill>
              <a:latin typeface="Consolas" pitchFamily="49" charset="0"/>
              <a:ea typeface="仿宋" pitchFamily="49" charset="-122"/>
              <a:cs typeface="Consolas" pitchFamily="49" charset="0"/>
            </a:endParaRPr>
          </a:p>
        </p:txBody>
      </p:sp>
      <p:grpSp>
        <p:nvGrpSpPr>
          <p:cNvPr id="11" name="组合 25">
            <a:extLst>
              <a:ext uri="{FF2B5EF4-FFF2-40B4-BE49-F238E27FC236}">
                <a16:creationId xmlns:a16="http://schemas.microsoft.com/office/drawing/2014/main" id="{A924179E-C0C6-4DF2-B109-9646B98F5E62}"/>
              </a:ext>
            </a:extLst>
          </p:cNvPr>
          <p:cNvGrpSpPr/>
          <p:nvPr/>
        </p:nvGrpSpPr>
        <p:grpSpPr>
          <a:xfrm>
            <a:off x="47328" y="3916666"/>
            <a:ext cx="4175892" cy="1017416"/>
            <a:chOff x="1000100" y="4769932"/>
            <a:chExt cx="4175892" cy="1017416"/>
          </a:xfrm>
        </p:grpSpPr>
        <p:sp>
          <p:nvSpPr>
            <p:cNvPr id="12" name="矩形 11">
              <a:extLst>
                <a:ext uri="{FF2B5EF4-FFF2-40B4-BE49-F238E27FC236}">
                  <a16:creationId xmlns:a16="http://schemas.microsoft.com/office/drawing/2014/main" id="{C55F8550-BBB6-8422-7994-CBAD7AD8661B}"/>
                </a:ext>
              </a:extLst>
            </p:cNvPr>
            <p:cNvSpPr/>
            <p:nvPr/>
          </p:nvSpPr>
          <p:spPr bwMode="auto">
            <a:xfrm>
              <a:off x="2714612" y="4929198"/>
              <a:ext cx="571504" cy="357190"/>
            </a:xfrm>
            <a:prstGeom prst="rect">
              <a:avLst/>
            </a:prstGeom>
            <a:ln>
              <a:headEnd type="stealth" w="med" len="lg"/>
              <a:tailEnd type="none" w="med" len="med"/>
            </a:ln>
          </p:spPr>
          <p:style>
            <a:lnRef idx="1">
              <a:schemeClr val="accent1"/>
            </a:lnRef>
            <a:fillRef idx="2">
              <a:schemeClr val="accent1"/>
            </a:fillRef>
            <a:effectRef idx="1">
              <a:schemeClr val="accent1"/>
            </a:effectRef>
            <a:fontRef idx="minor">
              <a:schemeClr val="dk1"/>
            </a:fontRef>
          </p:style>
          <p:txBody>
            <a:bodyPr wrap="none" rtlCol="0" anchor="ctr"/>
            <a:lstStyle/>
            <a:p>
              <a:pPr algn="ctr">
                <a:lnSpc>
                  <a:spcPct val="150000"/>
                </a:lnSpc>
              </a:pPr>
              <a:r>
                <a:rPr lang="en-US" altLang="zh-CN" sz="1800">
                  <a:solidFill>
                    <a:srgbClr val="0000FF"/>
                  </a:solidFill>
                  <a:latin typeface="Consolas" pitchFamily="49" charset="0"/>
                  <a:cs typeface="Consolas" pitchFamily="49" charset="0"/>
                </a:rPr>
                <a:t>*</a:t>
              </a:r>
              <a:endParaRPr lang="zh-CN" altLang="en-US" sz="1800" dirty="0">
                <a:solidFill>
                  <a:srgbClr val="0000FF"/>
                </a:solidFill>
                <a:latin typeface="Consolas" pitchFamily="49" charset="0"/>
                <a:cs typeface="Consolas" pitchFamily="49" charset="0"/>
              </a:endParaRPr>
            </a:p>
          </p:txBody>
        </p:sp>
        <p:sp>
          <p:nvSpPr>
            <p:cNvPr id="13" name="矩形 12">
              <a:extLst>
                <a:ext uri="{FF2B5EF4-FFF2-40B4-BE49-F238E27FC236}">
                  <a16:creationId xmlns:a16="http://schemas.microsoft.com/office/drawing/2014/main" id="{CF12EAC8-D787-C4FD-8789-AC94A7CF143A}"/>
                </a:ext>
              </a:extLst>
            </p:cNvPr>
            <p:cNvSpPr/>
            <p:nvPr/>
          </p:nvSpPr>
          <p:spPr bwMode="auto">
            <a:xfrm>
              <a:off x="3857620" y="4929198"/>
              <a:ext cx="428628" cy="357190"/>
            </a:xfrm>
            <a:prstGeom prst="rect">
              <a:avLst/>
            </a:prstGeom>
            <a:ln>
              <a:headEnd type="stealth" w="med" len="lg"/>
              <a:tailEnd type="none" w="med" len="med"/>
            </a:ln>
          </p:spPr>
          <p:style>
            <a:lnRef idx="1">
              <a:schemeClr val="accent1"/>
            </a:lnRef>
            <a:fillRef idx="2">
              <a:schemeClr val="accent1"/>
            </a:fillRef>
            <a:effectRef idx="1">
              <a:schemeClr val="accent1"/>
            </a:effectRef>
            <a:fontRef idx="minor">
              <a:schemeClr val="dk1"/>
            </a:fontRef>
          </p:style>
          <p:txBody>
            <a:bodyPr wrap="none" rtlCol="0" anchor="ctr"/>
            <a:lstStyle/>
            <a:p>
              <a:endParaRPr lang="zh-CN" altLang="en-US" sz="1800" dirty="0">
                <a:solidFill>
                  <a:srgbClr val="0000FF"/>
                </a:solidFill>
                <a:latin typeface="Consolas" pitchFamily="49" charset="0"/>
                <a:cs typeface="Consolas" pitchFamily="49" charset="0"/>
              </a:endParaRPr>
            </a:p>
          </p:txBody>
        </p:sp>
        <p:sp>
          <p:nvSpPr>
            <p:cNvPr id="14" name="矩形 13">
              <a:extLst>
                <a:ext uri="{FF2B5EF4-FFF2-40B4-BE49-F238E27FC236}">
                  <a16:creationId xmlns:a16="http://schemas.microsoft.com/office/drawing/2014/main" id="{E742C556-57A8-054F-24BA-C9939705F03C}"/>
                </a:ext>
              </a:extLst>
            </p:cNvPr>
            <p:cNvSpPr/>
            <p:nvPr/>
          </p:nvSpPr>
          <p:spPr bwMode="auto">
            <a:xfrm>
              <a:off x="1382690" y="4786322"/>
              <a:ext cx="571504" cy="642942"/>
            </a:xfrm>
            <a:prstGeom prst="rect">
              <a:avLst/>
            </a:prstGeom>
            <a:ln>
              <a:headEnd type="stealth" w="med" len="lg"/>
              <a:tailEnd type="none" w="med" len="med"/>
            </a:ln>
          </p:spPr>
          <p:style>
            <a:lnRef idx="1">
              <a:schemeClr val="accent5"/>
            </a:lnRef>
            <a:fillRef idx="2">
              <a:schemeClr val="accent5"/>
            </a:fillRef>
            <a:effectRef idx="1">
              <a:schemeClr val="accent5"/>
            </a:effectRef>
            <a:fontRef idx="minor">
              <a:schemeClr val="dk1"/>
            </a:fontRef>
          </p:style>
          <p:txBody>
            <a:bodyPr wrap="none" rtlCol="0" anchor="ctr"/>
            <a:lstStyle/>
            <a:p>
              <a:pPr algn="ctr"/>
              <a:r>
                <a:rPr lang="en-US" altLang="zh-CN" sz="1800" i="1">
                  <a:solidFill>
                    <a:srgbClr val="0000FF"/>
                  </a:solidFill>
                  <a:latin typeface="Consolas" pitchFamily="49" charset="0"/>
                  <a:cs typeface="Consolas" pitchFamily="49" charset="0"/>
                </a:rPr>
                <a:t>v</a:t>
              </a:r>
              <a:r>
                <a:rPr lang="en-US" altLang="zh-CN" sz="1800" i="1" baseline="-25000" dirty="0" err="1">
                  <a:solidFill>
                    <a:srgbClr val="0000FF"/>
                  </a:solidFill>
                  <a:latin typeface="Consolas" pitchFamily="49" charset="0"/>
                  <a:cs typeface="Consolas" pitchFamily="49" charset="0"/>
                </a:rPr>
                <a:t>i</a:t>
              </a:r>
              <a:endParaRPr lang="zh-CN" altLang="en-US" sz="1800" i="1" baseline="-25000" dirty="0">
                <a:solidFill>
                  <a:srgbClr val="0000FF"/>
                </a:solidFill>
                <a:latin typeface="Consolas" pitchFamily="49" charset="0"/>
                <a:cs typeface="Consolas" pitchFamily="49" charset="0"/>
              </a:endParaRPr>
            </a:p>
          </p:txBody>
        </p:sp>
        <p:sp>
          <p:nvSpPr>
            <p:cNvPr id="15" name="矩形 14">
              <a:extLst>
                <a:ext uri="{FF2B5EF4-FFF2-40B4-BE49-F238E27FC236}">
                  <a16:creationId xmlns:a16="http://schemas.microsoft.com/office/drawing/2014/main" id="{655EF62D-6E3C-06FC-3C4F-E9AA58658AFC}"/>
                </a:ext>
              </a:extLst>
            </p:cNvPr>
            <p:cNvSpPr/>
            <p:nvPr/>
          </p:nvSpPr>
          <p:spPr bwMode="auto">
            <a:xfrm>
              <a:off x="1954194" y="4786322"/>
              <a:ext cx="428628" cy="642942"/>
            </a:xfrm>
            <a:prstGeom prst="rect">
              <a:avLst/>
            </a:prstGeom>
            <a:ln>
              <a:headEnd type="stealth" w="med" len="lg"/>
              <a:tailEnd type="none" w="med" len="med"/>
            </a:ln>
          </p:spPr>
          <p:style>
            <a:lnRef idx="1">
              <a:schemeClr val="accent5"/>
            </a:lnRef>
            <a:fillRef idx="2">
              <a:schemeClr val="accent5"/>
            </a:fillRef>
            <a:effectRef idx="1">
              <a:schemeClr val="accent5"/>
            </a:effectRef>
            <a:fontRef idx="minor">
              <a:schemeClr val="dk1"/>
            </a:fontRef>
          </p:style>
          <p:txBody>
            <a:bodyPr wrap="none" rtlCol="0" anchor="ctr"/>
            <a:lstStyle/>
            <a:p>
              <a:pPr algn="ctr"/>
              <a:endParaRPr lang="zh-CN" altLang="en-US" sz="1800" baseline="-25000" dirty="0">
                <a:latin typeface="Consolas" pitchFamily="49" charset="0"/>
                <a:cs typeface="Consolas" pitchFamily="49" charset="0"/>
              </a:endParaRPr>
            </a:p>
          </p:txBody>
        </p:sp>
        <p:sp>
          <p:nvSpPr>
            <p:cNvPr id="16" name="TextBox 8">
              <a:extLst>
                <a:ext uri="{FF2B5EF4-FFF2-40B4-BE49-F238E27FC236}">
                  <a16:creationId xmlns:a16="http://schemas.microsoft.com/office/drawing/2014/main" id="{487F50CA-2D02-2392-3CA0-1DDB80161900}"/>
                </a:ext>
              </a:extLst>
            </p:cNvPr>
            <p:cNvSpPr txBox="1"/>
            <p:nvPr/>
          </p:nvSpPr>
          <p:spPr>
            <a:xfrm>
              <a:off x="1000100" y="4954598"/>
              <a:ext cx="357190" cy="276999"/>
            </a:xfrm>
            <a:prstGeom prst="rect">
              <a:avLst/>
            </a:prstGeom>
            <a:noFill/>
          </p:spPr>
          <p:txBody>
            <a:bodyPr wrap="square" lIns="0" tIns="0" rIns="0" bIns="0" rtlCol="0">
              <a:spAutoFit/>
            </a:bodyPr>
            <a:lstStyle/>
            <a:p>
              <a:r>
                <a:rPr lang="en-US" altLang="zh-CN" sz="1800" i="1" dirty="0">
                  <a:solidFill>
                    <a:srgbClr val="00B0F0"/>
                  </a:solidFill>
                  <a:latin typeface="Consolas" pitchFamily="49" charset="0"/>
                  <a:cs typeface="Consolas" pitchFamily="49" charset="0"/>
                </a:rPr>
                <a:t>i</a:t>
              </a:r>
              <a:endParaRPr lang="zh-CN" altLang="en-US" sz="1800" i="1" dirty="0">
                <a:solidFill>
                  <a:srgbClr val="00B0F0"/>
                </a:solidFill>
                <a:latin typeface="Consolas" pitchFamily="49" charset="0"/>
                <a:cs typeface="Consolas" pitchFamily="49" charset="0"/>
              </a:endParaRPr>
            </a:p>
          </p:txBody>
        </p:sp>
        <p:cxnSp>
          <p:nvCxnSpPr>
            <p:cNvPr id="17" name="直接箭头连接符 16">
              <a:extLst>
                <a:ext uri="{FF2B5EF4-FFF2-40B4-BE49-F238E27FC236}">
                  <a16:creationId xmlns:a16="http://schemas.microsoft.com/office/drawing/2014/main" id="{26D26931-6F16-9C32-5E16-A6D2E1A2F56B}"/>
                </a:ext>
              </a:extLst>
            </p:cNvPr>
            <p:cNvCxnSpPr/>
            <p:nvPr/>
          </p:nvCxnSpPr>
          <p:spPr>
            <a:xfrm>
              <a:off x="2143108" y="5122874"/>
              <a:ext cx="571504" cy="0"/>
            </a:xfrm>
            <a:prstGeom prst="straightConnector1">
              <a:avLst/>
            </a:prstGeom>
            <a:ln w="28575">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18" name="矩形 17">
              <a:extLst>
                <a:ext uri="{FF2B5EF4-FFF2-40B4-BE49-F238E27FC236}">
                  <a16:creationId xmlns:a16="http://schemas.microsoft.com/office/drawing/2014/main" id="{6C313A55-D215-F3CB-9576-208CB76E95AC}"/>
                </a:ext>
              </a:extLst>
            </p:cNvPr>
            <p:cNvSpPr/>
            <p:nvPr/>
          </p:nvSpPr>
          <p:spPr bwMode="auto">
            <a:xfrm>
              <a:off x="3286116" y="4929198"/>
              <a:ext cx="571504" cy="357190"/>
            </a:xfrm>
            <a:prstGeom prst="rect">
              <a:avLst/>
            </a:prstGeom>
            <a:ln>
              <a:headEnd type="stealth" w="med" len="lg"/>
              <a:tailEnd type="none" w="med" len="med"/>
            </a:ln>
          </p:spPr>
          <p:style>
            <a:lnRef idx="1">
              <a:schemeClr val="accent1"/>
            </a:lnRef>
            <a:fillRef idx="2">
              <a:schemeClr val="accent1"/>
            </a:fillRef>
            <a:effectRef idx="1">
              <a:schemeClr val="accent1"/>
            </a:effectRef>
            <a:fontRef idx="minor">
              <a:schemeClr val="dk1"/>
            </a:fontRef>
          </p:style>
          <p:txBody>
            <a:bodyPr wrap="none" rtlCol="0" anchor="ctr"/>
            <a:lstStyle/>
            <a:p>
              <a:pPr algn="ctr">
                <a:lnSpc>
                  <a:spcPct val="150000"/>
                </a:lnSpc>
              </a:pPr>
              <a:r>
                <a:rPr lang="en-US" altLang="zh-CN" sz="1800">
                  <a:solidFill>
                    <a:srgbClr val="0000FF"/>
                  </a:solidFill>
                  <a:latin typeface="Consolas" pitchFamily="49" charset="0"/>
                  <a:cs typeface="Consolas" pitchFamily="49" charset="0"/>
                </a:rPr>
                <a:t>*</a:t>
              </a:r>
              <a:endParaRPr lang="zh-CN" altLang="en-US" sz="1800" dirty="0">
                <a:solidFill>
                  <a:srgbClr val="0000FF"/>
                </a:solidFill>
                <a:latin typeface="Consolas" pitchFamily="49" charset="0"/>
                <a:cs typeface="Consolas" pitchFamily="49" charset="0"/>
              </a:endParaRPr>
            </a:p>
          </p:txBody>
        </p:sp>
        <p:cxnSp>
          <p:nvCxnSpPr>
            <p:cNvPr id="19" name="直接箭头连接符 18">
              <a:extLst>
                <a:ext uri="{FF2B5EF4-FFF2-40B4-BE49-F238E27FC236}">
                  <a16:creationId xmlns:a16="http://schemas.microsoft.com/office/drawing/2014/main" id="{AA37CC03-F513-496B-C5A8-B602BC3653FA}"/>
                </a:ext>
              </a:extLst>
            </p:cNvPr>
            <p:cNvCxnSpPr/>
            <p:nvPr/>
          </p:nvCxnSpPr>
          <p:spPr>
            <a:xfrm flipV="1">
              <a:off x="4071934" y="5119699"/>
              <a:ext cx="642942" cy="0"/>
            </a:xfrm>
            <a:prstGeom prst="straightConnector1">
              <a:avLst/>
            </a:prstGeom>
            <a:ln>
              <a:tailEnd type="arrow"/>
            </a:ln>
          </p:spPr>
          <p:style>
            <a:lnRef idx="2">
              <a:schemeClr val="accent5"/>
            </a:lnRef>
            <a:fillRef idx="0">
              <a:schemeClr val="accent5"/>
            </a:fillRef>
            <a:effectRef idx="1">
              <a:schemeClr val="accent5"/>
            </a:effectRef>
            <a:fontRef idx="minor">
              <a:schemeClr val="tx1"/>
            </a:fontRef>
          </p:style>
        </p:cxnSp>
        <p:sp>
          <p:nvSpPr>
            <p:cNvPr id="20" name="TextBox 13">
              <a:extLst>
                <a:ext uri="{FF2B5EF4-FFF2-40B4-BE49-F238E27FC236}">
                  <a16:creationId xmlns:a16="http://schemas.microsoft.com/office/drawing/2014/main" id="{EFB8EC00-05CB-D569-A04F-DE9F9ED66452}"/>
                </a:ext>
              </a:extLst>
            </p:cNvPr>
            <p:cNvSpPr txBox="1"/>
            <p:nvPr/>
          </p:nvSpPr>
          <p:spPr>
            <a:xfrm>
              <a:off x="4461612" y="4769932"/>
              <a:ext cx="714380" cy="461665"/>
            </a:xfrm>
            <a:prstGeom prst="rect">
              <a:avLst/>
            </a:prstGeom>
            <a:noFill/>
          </p:spPr>
          <p:txBody>
            <a:bodyPr wrap="square" rtlCol="0">
              <a:spAutoFit/>
            </a:bodyPr>
            <a:lstStyle/>
            <a:p>
              <a:pPr algn="l"/>
              <a:r>
                <a:rPr lang="en-US" altLang="zh-CN" dirty="0"/>
                <a:t>…</a:t>
              </a:r>
              <a:endParaRPr lang="zh-CN" altLang="en-US" dirty="0"/>
            </a:p>
          </p:txBody>
        </p:sp>
        <p:cxnSp>
          <p:nvCxnSpPr>
            <p:cNvPr id="31" name="直接箭头连接符 30">
              <a:extLst>
                <a:ext uri="{FF2B5EF4-FFF2-40B4-BE49-F238E27FC236}">
                  <a16:creationId xmlns:a16="http://schemas.microsoft.com/office/drawing/2014/main" id="{1ECD6E19-FDAE-1D78-1B79-E9A97604D17A}"/>
                </a:ext>
              </a:extLst>
            </p:cNvPr>
            <p:cNvCxnSpPr>
              <a:cxnSpLocks/>
            </p:cNvCxnSpPr>
            <p:nvPr/>
          </p:nvCxnSpPr>
          <p:spPr>
            <a:xfrm flipV="1">
              <a:off x="2512268" y="5231597"/>
              <a:ext cx="0" cy="555751"/>
            </a:xfrm>
            <a:prstGeom prst="straightConnector1">
              <a:avLst/>
            </a:prstGeom>
            <a:ln>
              <a:tailEnd type="arrow"/>
            </a:ln>
          </p:spPr>
          <p:style>
            <a:lnRef idx="2">
              <a:schemeClr val="accent5"/>
            </a:lnRef>
            <a:fillRef idx="0">
              <a:schemeClr val="accent5"/>
            </a:fillRef>
            <a:effectRef idx="1">
              <a:schemeClr val="accent5"/>
            </a:effectRef>
            <a:fontRef idx="minor">
              <a:schemeClr val="tx1"/>
            </a:fontRef>
          </p:style>
        </p:cxnSp>
      </p:grpSp>
      <p:grpSp>
        <p:nvGrpSpPr>
          <p:cNvPr id="21" name="组合 24">
            <a:extLst>
              <a:ext uri="{FF2B5EF4-FFF2-40B4-BE49-F238E27FC236}">
                <a16:creationId xmlns:a16="http://schemas.microsoft.com/office/drawing/2014/main" id="{A5C0E029-0990-8D62-D7F9-AD87F959A7D0}"/>
              </a:ext>
            </a:extLst>
          </p:cNvPr>
          <p:cNvGrpSpPr/>
          <p:nvPr/>
        </p:nvGrpSpPr>
        <p:grpSpPr>
          <a:xfrm>
            <a:off x="974838" y="4982197"/>
            <a:ext cx="2357454" cy="857256"/>
            <a:chOff x="4419599" y="5481652"/>
            <a:chExt cx="2357454" cy="857256"/>
          </a:xfrm>
        </p:grpSpPr>
        <p:sp>
          <p:nvSpPr>
            <p:cNvPr id="22" name="矩形 21">
              <a:extLst>
                <a:ext uri="{FF2B5EF4-FFF2-40B4-BE49-F238E27FC236}">
                  <a16:creationId xmlns:a16="http://schemas.microsoft.com/office/drawing/2014/main" id="{236290B2-9026-D4B6-FFF7-C013C1C345EA}"/>
                </a:ext>
              </a:extLst>
            </p:cNvPr>
            <p:cNvSpPr/>
            <p:nvPr/>
          </p:nvSpPr>
          <p:spPr bwMode="auto">
            <a:xfrm>
              <a:off x="4929190" y="5786454"/>
              <a:ext cx="571504" cy="357190"/>
            </a:xfrm>
            <a:prstGeom prst="rect">
              <a:avLst/>
            </a:prstGeom>
            <a:ln>
              <a:headEnd type="stealth" w="med" len="lg"/>
              <a:tailEnd type="none" w="med" len="med"/>
            </a:ln>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zh-CN" sz="1800" i="1">
                  <a:solidFill>
                    <a:srgbClr val="0000FF"/>
                  </a:solidFill>
                  <a:latin typeface="Consolas" pitchFamily="49" charset="0"/>
                  <a:cs typeface="Consolas" pitchFamily="49" charset="0"/>
                </a:rPr>
                <a:t>j</a:t>
              </a:r>
              <a:endParaRPr lang="zh-CN" altLang="en-US" sz="1800" i="1" dirty="0">
                <a:solidFill>
                  <a:srgbClr val="0000FF"/>
                </a:solidFill>
                <a:latin typeface="Consolas" pitchFamily="49" charset="0"/>
                <a:cs typeface="Consolas" pitchFamily="49" charset="0"/>
              </a:endParaRPr>
            </a:p>
          </p:txBody>
        </p:sp>
        <p:sp>
          <p:nvSpPr>
            <p:cNvPr id="23" name="矩形 22">
              <a:extLst>
                <a:ext uri="{FF2B5EF4-FFF2-40B4-BE49-F238E27FC236}">
                  <a16:creationId xmlns:a16="http://schemas.microsoft.com/office/drawing/2014/main" id="{127A4965-22CA-0D6F-6DBF-8C8B5B7F288F}"/>
                </a:ext>
              </a:extLst>
            </p:cNvPr>
            <p:cNvSpPr/>
            <p:nvPr/>
          </p:nvSpPr>
          <p:spPr bwMode="auto">
            <a:xfrm>
              <a:off x="6286512" y="5786454"/>
              <a:ext cx="428628" cy="357190"/>
            </a:xfrm>
            <a:prstGeom prst="rect">
              <a:avLst/>
            </a:prstGeom>
            <a:ln>
              <a:headEnd type="stealth" w="med" len="lg"/>
              <a:tailEnd type="none" w="med" len="med"/>
            </a:ln>
          </p:spPr>
          <p:style>
            <a:lnRef idx="1">
              <a:schemeClr val="accent1"/>
            </a:lnRef>
            <a:fillRef idx="2">
              <a:schemeClr val="accent1"/>
            </a:fillRef>
            <a:effectRef idx="1">
              <a:schemeClr val="accent1"/>
            </a:effectRef>
            <a:fontRef idx="minor">
              <a:schemeClr val="dk1"/>
            </a:fontRef>
          </p:style>
          <p:txBody>
            <a:bodyPr wrap="none" rtlCol="0" anchor="ctr"/>
            <a:lstStyle/>
            <a:p>
              <a:endParaRPr lang="zh-CN" altLang="en-US" sz="1800" dirty="0">
                <a:solidFill>
                  <a:srgbClr val="0000FF"/>
                </a:solidFill>
                <a:latin typeface="Consolas" pitchFamily="49" charset="0"/>
                <a:cs typeface="Consolas" pitchFamily="49" charset="0"/>
              </a:endParaRPr>
            </a:p>
          </p:txBody>
        </p:sp>
        <p:sp>
          <p:nvSpPr>
            <p:cNvPr id="24" name="矩形 23">
              <a:extLst>
                <a:ext uri="{FF2B5EF4-FFF2-40B4-BE49-F238E27FC236}">
                  <a16:creationId xmlns:a16="http://schemas.microsoft.com/office/drawing/2014/main" id="{7EB1ECA5-26B0-BC8A-8AC8-D67D3814C47F}"/>
                </a:ext>
              </a:extLst>
            </p:cNvPr>
            <p:cNvSpPr/>
            <p:nvPr/>
          </p:nvSpPr>
          <p:spPr bwMode="auto">
            <a:xfrm>
              <a:off x="5500694" y="5786454"/>
              <a:ext cx="785818" cy="357190"/>
            </a:xfrm>
            <a:prstGeom prst="rect">
              <a:avLst/>
            </a:prstGeom>
            <a:ln>
              <a:headEnd type="stealth" w="med" len="lg"/>
              <a:tailEnd type="none" w="med" len="med"/>
            </a:ln>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zh-CN" sz="1600">
                  <a:solidFill>
                    <a:srgbClr val="0000FF"/>
                  </a:solidFill>
                  <a:latin typeface="Consolas" pitchFamily="49" charset="0"/>
                  <a:cs typeface="Consolas" pitchFamily="49" charset="0"/>
                </a:rPr>
                <a:t>A[i][j]</a:t>
              </a:r>
              <a:endParaRPr lang="zh-CN" altLang="en-US" sz="1600" dirty="0">
                <a:solidFill>
                  <a:srgbClr val="0000FF"/>
                </a:solidFill>
                <a:latin typeface="Consolas" pitchFamily="49" charset="0"/>
                <a:cs typeface="Consolas" pitchFamily="49" charset="0"/>
              </a:endParaRPr>
            </a:p>
          </p:txBody>
        </p:sp>
        <p:cxnSp>
          <p:nvCxnSpPr>
            <p:cNvPr id="25" name="直接箭头连接符 24">
              <a:extLst>
                <a:ext uri="{FF2B5EF4-FFF2-40B4-BE49-F238E27FC236}">
                  <a16:creationId xmlns:a16="http://schemas.microsoft.com/office/drawing/2014/main" id="{9E3CD1EF-FF62-B9A7-8200-857241789400}"/>
                </a:ext>
              </a:extLst>
            </p:cNvPr>
            <p:cNvCxnSpPr/>
            <p:nvPr/>
          </p:nvCxnSpPr>
          <p:spPr>
            <a:xfrm>
              <a:off x="4714876" y="5643578"/>
              <a:ext cx="214314" cy="142876"/>
            </a:xfrm>
            <a:prstGeom prst="straightConnector1">
              <a:avLst/>
            </a:prstGeom>
            <a:ln>
              <a:tailEnd type="arrow"/>
            </a:ln>
          </p:spPr>
          <p:style>
            <a:lnRef idx="2">
              <a:schemeClr val="accent6"/>
            </a:lnRef>
            <a:fillRef idx="0">
              <a:schemeClr val="accent6"/>
            </a:fillRef>
            <a:effectRef idx="1">
              <a:schemeClr val="accent6"/>
            </a:effectRef>
            <a:fontRef idx="minor">
              <a:schemeClr val="tx1"/>
            </a:fontRef>
          </p:style>
        </p:cxnSp>
        <p:sp>
          <p:nvSpPr>
            <p:cNvPr id="26" name="TextBox 19">
              <a:extLst>
                <a:ext uri="{FF2B5EF4-FFF2-40B4-BE49-F238E27FC236}">
                  <a16:creationId xmlns:a16="http://schemas.microsoft.com/office/drawing/2014/main" id="{8AF20741-64BF-E110-615D-09EB967BEA9E}"/>
                </a:ext>
              </a:extLst>
            </p:cNvPr>
            <p:cNvSpPr txBox="1"/>
            <p:nvPr/>
          </p:nvSpPr>
          <p:spPr>
            <a:xfrm>
              <a:off x="4500562" y="5559998"/>
              <a:ext cx="285752" cy="369332"/>
            </a:xfrm>
            <a:prstGeom prst="rect">
              <a:avLst/>
            </a:prstGeom>
            <a:noFill/>
          </p:spPr>
          <p:txBody>
            <a:bodyPr wrap="square" rtlCol="0">
              <a:spAutoFit/>
            </a:bodyPr>
            <a:lstStyle/>
            <a:p>
              <a:r>
                <a:rPr lang="en-US" altLang="zh-CN" sz="1800" i="1" dirty="0">
                  <a:latin typeface="Consolas" pitchFamily="49" charset="0"/>
                  <a:cs typeface="Consolas" pitchFamily="49" charset="0"/>
                </a:rPr>
                <a:t>p</a:t>
              </a:r>
              <a:endParaRPr lang="zh-CN" altLang="en-US" sz="1800" i="1" dirty="0">
                <a:latin typeface="Consolas" pitchFamily="49" charset="0"/>
                <a:cs typeface="Consolas" pitchFamily="49" charset="0"/>
              </a:endParaRPr>
            </a:p>
          </p:txBody>
        </p:sp>
        <p:sp>
          <p:nvSpPr>
            <p:cNvPr id="27" name="圆角矩形 21">
              <a:extLst>
                <a:ext uri="{FF2B5EF4-FFF2-40B4-BE49-F238E27FC236}">
                  <a16:creationId xmlns:a16="http://schemas.microsoft.com/office/drawing/2014/main" id="{4767D771-BE35-C1F0-D2F3-A57B8D1C99DD}"/>
                </a:ext>
              </a:extLst>
            </p:cNvPr>
            <p:cNvSpPr/>
            <p:nvPr/>
          </p:nvSpPr>
          <p:spPr bwMode="auto">
            <a:xfrm>
              <a:off x="4419599" y="5481652"/>
              <a:ext cx="2357454" cy="857256"/>
            </a:xfrm>
            <a:prstGeom prst="roundRect">
              <a:avLst/>
            </a:prstGeom>
            <a:noFill/>
            <a:ln w="28575">
              <a:solidFill>
                <a:srgbClr val="3333FF"/>
              </a:solidFill>
              <a:miter lim="800000"/>
              <a:headEnd type="stealth" w="med" len="lg"/>
              <a:tailEnd type="none" w="med" len="med"/>
            </a:ln>
            <a:effectLst/>
          </p:spPr>
          <p:txBody>
            <a:bodyPr wrap="none" rtlCol="0" anchor="ctr"/>
            <a:lstStyle/>
            <a:p>
              <a:pPr algn="ctr"/>
              <a:endParaRPr lang="zh-CN" altLang="en-US"/>
            </a:p>
          </p:txBody>
        </p:sp>
      </p:grpSp>
      <p:sp>
        <p:nvSpPr>
          <p:cNvPr id="34" name="TextBox 23">
            <a:extLst>
              <a:ext uri="{FF2B5EF4-FFF2-40B4-BE49-F238E27FC236}">
                <a16:creationId xmlns:a16="http://schemas.microsoft.com/office/drawing/2014/main" id="{9A9AA6D5-1952-4945-B7CD-F925998BA0AA}"/>
              </a:ext>
            </a:extLst>
          </p:cNvPr>
          <p:cNvSpPr txBox="1"/>
          <p:nvPr/>
        </p:nvSpPr>
        <p:spPr>
          <a:xfrm>
            <a:off x="1588622" y="4564750"/>
            <a:ext cx="714380" cy="369332"/>
          </a:xfrm>
          <a:prstGeom prst="rect">
            <a:avLst/>
          </a:prstGeom>
          <a:noFill/>
        </p:spPr>
        <p:txBody>
          <a:bodyPr wrap="square" rtlCol="0">
            <a:spAutoFit/>
          </a:bodyPr>
          <a:lstStyle/>
          <a:p>
            <a:pPr algn="l"/>
            <a:r>
              <a:rPr lang="zh-CN" altLang="en-US" sz="1800" dirty="0">
                <a:solidFill>
                  <a:srgbClr val="7030A0"/>
                </a:solidFill>
                <a:latin typeface="仿宋" pitchFamily="49" charset="-122"/>
                <a:ea typeface="仿宋" pitchFamily="49" charset="-122"/>
              </a:rPr>
              <a:t>插入</a:t>
            </a:r>
          </a:p>
        </p:txBody>
      </p:sp>
    </p:spTree>
    <p:extLst>
      <p:ext uri="{BB962C8B-B14F-4D97-AF65-F5344CB8AC3E}">
        <p14:creationId xmlns:p14="http://schemas.microsoft.com/office/powerpoint/2010/main" val="24032549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2FF724-45F8-B205-808D-3A3F4FF36D61}"/>
            </a:ext>
          </a:extLst>
        </p:cNvPr>
        <p:cNvGrpSpPr/>
        <p:nvPr/>
      </p:nvGrpSpPr>
      <p:grpSpPr>
        <a:xfrm>
          <a:off x="0" y="0"/>
          <a:ext cx="0" cy="0"/>
          <a:chOff x="0" y="0"/>
          <a:chExt cx="0" cy="0"/>
        </a:xfrm>
      </p:grpSpPr>
      <p:sp>
        <p:nvSpPr>
          <p:cNvPr id="4" name="Rectangle 2">
            <a:extLst>
              <a:ext uri="{FF2B5EF4-FFF2-40B4-BE49-F238E27FC236}">
                <a16:creationId xmlns:a16="http://schemas.microsoft.com/office/drawing/2014/main" id="{84695740-89EA-16D0-CC3A-95DF9FB9937D}"/>
              </a:ext>
            </a:extLst>
          </p:cNvPr>
          <p:cNvSpPr txBox="1">
            <a:spLocks noChangeArrowheads="1"/>
          </p:cNvSpPr>
          <p:nvPr/>
        </p:nvSpPr>
        <p:spPr>
          <a:xfrm>
            <a:off x="474772" y="1230902"/>
            <a:ext cx="4901148"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8.2.3 </a:t>
            </a:r>
            <a:r>
              <a:rPr kumimoji="1" lang="zh-CN" altLang="en-US" dirty="0">
                <a:latin typeface="微软雅黑" pitchFamily="34" charset="-122"/>
                <a:ea typeface="微软雅黑" pitchFamily="34" charset="-122"/>
              </a:rPr>
              <a:t>图的基本运算算法设计</a:t>
            </a:r>
            <a:endParaRPr lang="zh-CN" altLang="en-US" dirty="0"/>
          </a:p>
        </p:txBody>
      </p:sp>
      <p:sp>
        <p:nvSpPr>
          <p:cNvPr id="5" name="矩形 4">
            <a:extLst>
              <a:ext uri="{FF2B5EF4-FFF2-40B4-BE49-F238E27FC236}">
                <a16:creationId xmlns:a16="http://schemas.microsoft.com/office/drawing/2014/main" id="{24DA00D3-6A63-08FC-2708-F0B3F873DB31}"/>
              </a:ext>
            </a:extLst>
          </p:cNvPr>
          <p:cNvSpPr/>
          <p:nvPr/>
        </p:nvSpPr>
        <p:spPr>
          <a:xfrm>
            <a:off x="2846292" y="348366"/>
            <a:ext cx="6715440"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8.2 </a:t>
            </a:r>
            <a:r>
              <a:rPr lang="zh-CN" altLang="en-US" sz="3000" b="1" dirty="0">
                <a:latin typeface="黑体" pitchFamily="49" charset="-122"/>
                <a:ea typeface="黑体" pitchFamily="49" charset="-122"/>
                <a:cs typeface="经典粗黑简" pitchFamily="49" charset="-122"/>
              </a:rPr>
              <a:t>图的存储结构和基本运算算法</a:t>
            </a:r>
          </a:p>
        </p:txBody>
      </p:sp>
      <p:cxnSp>
        <p:nvCxnSpPr>
          <p:cNvPr id="6" name="直接连接符 5">
            <a:extLst>
              <a:ext uri="{FF2B5EF4-FFF2-40B4-BE49-F238E27FC236}">
                <a16:creationId xmlns:a16="http://schemas.microsoft.com/office/drawing/2014/main" id="{FDBD216E-5995-9A53-7132-09FCEB43F3FE}"/>
              </a:ext>
            </a:extLst>
          </p:cNvPr>
          <p:cNvCxnSpPr>
            <a:cxnSpLocks/>
          </p:cNvCxnSpPr>
          <p:nvPr/>
        </p:nvCxnSpPr>
        <p:spPr>
          <a:xfrm>
            <a:off x="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2" name="TextBox 2">
            <a:extLst>
              <a:ext uri="{FF2B5EF4-FFF2-40B4-BE49-F238E27FC236}">
                <a16:creationId xmlns:a16="http://schemas.microsoft.com/office/drawing/2014/main" id="{2981EC51-CF5F-E5F1-28B6-BECE1F5C7407}"/>
              </a:ext>
            </a:extLst>
          </p:cNvPr>
          <p:cNvSpPr txBox="1"/>
          <p:nvPr/>
        </p:nvSpPr>
        <p:spPr>
          <a:xfrm>
            <a:off x="481658" y="1934095"/>
            <a:ext cx="3286148" cy="430887"/>
          </a:xfrm>
          <a:prstGeom prst="rect">
            <a:avLst/>
          </a:prstGeom>
        </p:spPr>
        <p:style>
          <a:lnRef idx="1">
            <a:schemeClr val="accent3"/>
          </a:lnRef>
          <a:fillRef idx="3">
            <a:schemeClr val="accent3"/>
          </a:fillRef>
          <a:effectRef idx="2">
            <a:schemeClr val="accent3"/>
          </a:effectRef>
          <a:fontRef idx="minor">
            <a:schemeClr val="lt1"/>
          </a:fontRef>
        </p:style>
        <p:txBody>
          <a:bodyPr wrap="square" rtlCol="0">
            <a:spAutoFit/>
          </a:bodyPr>
          <a:lstStyle/>
          <a:p>
            <a:pPr algn="l"/>
            <a:r>
              <a:rPr lang="zh-CN" altLang="en-US" sz="2200">
                <a:solidFill>
                  <a:srgbClr val="FF0000"/>
                </a:solidFill>
                <a:latin typeface="Consolas" pitchFamily="49" charset="0"/>
                <a:ea typeface="华文中宋" pitchFamily="2" charset="-122"/>
                <a:cs typeface="Consolas" pitchFamily="49" charset="0"/>
              </a:rPr>
              <a:t>（</a:t>
            </a:r>
            <a:r>
              <a:rPr lang="en-US" sz="2200">
                <a:solidFill>
                  <a:srgbClr val="FF0000"/>
                </a:solidFill>
                <a:latin typeface="Consolas" pitchFamily="49" charset="0"/>
                <a:ea typeface="华文中宋" pitchFamily="2" charset="-122"/>
                <a:cs typeface="Consolas" pitchFamily="49" charset="0"/>
              </a:rPr>
              <a:t>2</a:t>
            </a:r>
            <a:r>
              <a:rPr lang="zh-CN" altLang="en-US" sz="2200">
                <a:solidFill>
                  <a:srgbClr val="FF0000"/>
                </a:solidFill>
                <a:latin typeface="Consolas" pitchFamily="49" charset="0"/>
                <a:ea typeface="华文中宋" pitchFamily="2" charset="-122"/>
                <a:cs typeface="Consolas" pitchFamily="49" charset="0"/>
              </a:rPr>
              <a:t>）输出图的运算算法</a:t>
            </a:r>
          </a:p>
        </p:txBody>
      </p:sp>
      <p:sp>
        <p:nvSpPr>
          <p:cNvPr id="7" name="TextBox 3">
            <a:extLst>
              <a:ext uri="{FF2B5EF4-FFF2-40B4-BE49-F238E27FC236}">
                <a16:creationId xmlns:a16="http://schemas.microsoft.com/office/drawing/2014/main" id="{C379615F-9C46-68D4-DA86-31348607AB70}"/>
              </a:ext>
            </a:extLst>
          </p:cNvPr>
          <p:cNvSpPr txBox="1"/>
          <p:nvPr/>
        </p:nvSpPr>
        <p:spPr>
          <a:xfrm>
            <a:off x="3863752" y="1900971"/>
            <a:ext cx="6984776" cy="4066649"/>
          </a:xfrm>
          <a:prstGeom prst="rect">
            <a:avLst/>
          </a:prstGeom>
          <a:solidFill>
            <a:schemeClr val="bg1">
              <a:lumMod val="95000"/>
            </a:schemeClr>
          </a:solidFill>
          <a:ln>
            <a:noFill/>
          </a:ln>
          <a:effectLst/>
          <a:scene3d>
            <a:camera prst="orthographicFront">
              <a:rot lat="0" lon="0" rev="0"/>
            </a:camera>
            <a:lightRig rig="chilly" dir="t">
              <a:rot lat="0" lon="0" rev="18480000"/>
            </a:lightRig>
          </a:scene3d>
          <a:sp3d prstMaterial="clear">
            <a:bevelT h="63500"/>
          </a:sp3d>
        </p:spPr>
        <p:style>
          <a:lnRef idx="1">
            <a:schemeClr val="accent3"/>
          </a:lnRef>
          <a:fillRef idx="2">
            <a:schemeClr val="accent3"/>
          </a:fillRef>
          <a:effectRef idx="1">
            <a:schemeClr val="accent3"/>
          </a:effectRef>
          <a:fontRef idx="minor">
            <a:schemeClr val="dk1"/>
          </a:fontRef>
        </p:style>
        <p:txBody>
          <a:bodyPr wrap="square" lIns="180000" tIns="144000" bIns="180000" rtlCol="0">
            <a:spAutoFit/>
          </a:bodyPr>
          <a:lstStyle/>
          <a:p>
            <a:pPr algn="l"/>
            <a:r>
              <a:rPr lang="en-US" sz="1800">
                <a:solidFill>
                  <a:srgbClr val="0000FF"/>
                </a:solidFill>
                <a:latin typeface="Consolas" pitchFamily="49" charset="0"/>
                <a:ea typeface="仿宋" pitchFamily="49" charset="-122"/>
                <a:cs typeface="Consolas" pitchFamily="49" charset="0"/>
              </a:rPr>
              <a:t>void </a:t>
            </a:r>
            <a:r>
              <a:rPr lang="en-US" sz="1800">
                <a:solidFill>
                  <a:srgbClr val="FF0000"/>
                </a:solidFill>
                <a:latin typeface="Consolas" pitchFamily="49" charset="0"/>
                <a:ea typeface="仿宋" pitchFamily="49" charset="-122"/>
                <a:cs typeface="Consolas" pitchFamily="49" charset="0"/>
              </a:rPr>
              <a:t>DispAdj</a:t>
            </a:r>
            <a:r>
              <a:rPr lang="en-US" sz="1800">
                <a:solidFill>
                  <a:srgbClr val="0000FF"/>
                </a:solidFill>
                <a:latin typeface="Consolas" pitchFamily="49" charset="0"/>
                <a:ea typeface="仿宋" pitchFamily="49" charset="-122"/>
                <a:cs typeface="Consolas" pitchFamily="49" charset="0"/>
              </a:rPr>
              <a:t>(AdjGraph *G)	</a:t>
            </a:r>
            <a:r>
              <a:rPr lang="en-US" sz="1800">
                <a:solidFill>
                  <a:srgbClr val="00B050"/>
                </a:solidFill>
                <a:latin typeface="Consolas" pitchFamily="49" charset="0"/>
                <a:ea typeface="仿宋" pitchFamily="49" charset="-122"/>
                <a:cs typeface="Consolas" pitchFamily="49" charset="0"/>
              </a:rPr>
              <a:t>//</a:t>
            </a:r>
            <a:r>
              <a:rPr lang="zh-CN" altLang="en-US" sz="1800">
                <a:solidFill>
                  <a:srgbClr val="00B050"/>
                </a:solidFill>
                <a:latin typeface="Consolas" pitchFamily="49" charset="0"/>
                <a:ea typeface="仿宋" pitchFamily="49" charset="-122"/>
                <a:cs typeface="Consolas" pitchFamily="49" charset="0"/>
              </a:rPr>
              <a:t>输出邻接表</a:t>
            </a:r>
            <a:r>
              <a:rPr lang="en-US" sz="1800">
                <a:solidFill>
                  <a:srgbClr val="00B050"/>
                </a:solidFill>
                <a:latin typeface="Consolas" pitchFamily="49" charset="0"/>
                <a:ea typeface="仿宋" pitchFamily="49" charset="-122"/>
                <a:cs typeface="Consolas" pitchFamily="49" charset="0"/>
              </a:rPr>
              <a:t>G</a:t>
            </a:r>
            <a:endParaRPr lang="zh-CN" altLang="en-US" sz="1800">
              <a:solidFill>
                <a:srgbClr val="00B050"/>
              </a:solidFill>
              <a:latin typeface="Consolas" pitchFamily="49" charset="0"/>
              <a:ea typeface="仿宋" pitchFamily="49" charset="-122"/>
              <a:cs typeface="Consolas" pitchFamily="49" charset="0"/>
            </a:endParaRPr>
          </a:p>
          <a:p>
            <a:pPr algn="l"/>
            <a:r>
              <a:rPr lang="en-US" sz="1800">
                <a:solidFill>
                  <a:srgbClr val="0000FF"/>
                </a:solidFill>
                <a:latin typeface="Consolas" pitchFamily="49" charset="0"/>
                <a:ea typeface="仿宋" pitchFamily="49" charset="-122"/>
                <a:cs typeface="Consolas" pitchFamily="49" charset="0"/>
              </a:rPr>
              <a:t>{  int i;</a:t>
            </a:r>
          </a:p>
          <a:p>
            <a:pPr algn="l"/>
            <a:r>
              <a:rPr lang="en-US" sz="1800">
                <a:solidFill>
                  <a:srgbClr val="0000FF"/>
                </a:solidFill>
                <a:latin typeface="Consolas" pitchFamily="49" charset="0"/>
                <a:ea typeface="仿宋" pitchFamily="49" charset="-122"/>
                <a:cs typeface="Consolas" pitchFamily="49" charset="0"/>
              </a:rPr>
              <a:t>   ArcNode *p;</a:t>
            </a:r>
            <a:endParaRPr lang="zh-CN" altLang="en-US" sz="1800">
              <a:solidFill>
                <a:srgbClr val="0000FF"/>
              </a:solidFill>
              <a:latin typeface="Consolas" pitchFamily="49" charset="0"/>
              <a:ea typeface="仿宋" pitchFamily="49" charset="-122"/>
              <a:cs typeface="Consolas" pitchFamily="49" charset="0"/>
            </a:endParaRPr>
          </a:p>
          <a:p>
            <a:pPr algn="l">
              <a:lnSpc>
                <a:spcPct val="150000"/>
              </a:lnSpc>
            </a:pPr>
            <a:r>
              <a:rPr lang="en-US" sz="1800">
                <a:solidFill>
                  <a:srgbClr val="0000FF"/>
                </a:solidFill>
                <a:latin typeface="Consolas" pitchFamily="49" charset="0"/>
                <a:ea typeface="仿宋" pitchFamily="49" charset="-122"/>
                <a:cs typeface="Consolas" pitchFamily="49" charset="0"/>
              </a:rPr>
              <a:t>   for (i=0;i&lt;G-&gt;n;i++)</a:t>
            </a:r>
            <a:endParaRPr lang="zh-CN" altLang="en-US" sz="1800">
              <a:solidFill>
                <a:srgbClr val="0000FF"/>
              </a:solidFill>
              <a:latin typeface="Consolas" pitchFamily="49" charset="0"/>
              <a:ea typeface="仿宋" pitchFamily="49" charset="-122"/>
              <a:cs typeface="Consolas" pitchFamily="49" charset="0"/>
            </a:endParaRPr>
          </a:p>
          <a:p>
            <a:pPr algn="l"/>
            <a:r>
              <a:rPr lang="en-US" sz="1800">
                <a:solidFill>
                  <a:srgbClr val="0000FF"/>
                </a:solidFill>
                <a:latin typeface="Consolas" pitchFamily="49" charset="0"/>
                <a:ea typeface="仿宋" pitchFamily="49" charset="-122"/>
                <a:cs typeface="Consolas" pitchFamily="49" charset="0"/>
              </a:rPr>
              <a:t>   {  p=G-&gt;adjlist[i].firstarc;</a:t>
            </a:r>
            <a:endParaRPr lang="zh-CN" altLang="en-US" sz="1800">
              <a:solidFill>
                <a:srgbClr val="0000FF"/>
              </a:solidFill>
              <a:latin typeface="Consolas" pitchFamily="49" charset="0"/>
              <a:ea typeface="仿宋" pitchFamily="49" charset="-122"/>
              <a:cs typeface="Consolas" pitchFamily="49" charset="0"/>
            </a:endParaRPr>
          </a:p>
          <a:p>
            <a:pPr algn="l"/>
            <a:r>
              <a:rPr lang="en-US" sz="1800">
                <a:solidFill>
                  <a:srgbClr val="0000FF"/>
                </a:solidFill>
                <a:latin typeface="Consolas" pitchFamily="49" charset="0"/>
                <a:ea typeface="仿宋" pitchFamily="49" charset="-122"/>
                <a:cs typeface="Consolas" pitchFamily="49" charset="0"/>
              </a:rPr>
              <a:t>      printf("%3d: "，i);</a:t>
            </a:r>
            <a:endParaRPr lang="zh-CN" altLang="en-US" sz="1800">
              <a:solidFill>
                <a:srgbClr val="0000FF"/>
              </a:solidFill>
              <a:latin typeface="Consolas" pitchFamily="49" charset="0"/>
              <a:ea typeface="仿宋" pitchFamily="49" charset="-122"/>
              <a:cs typeface="Consolas" pitchFamily="49" charset="0"/>
            </a:endParaRPr>
          </a:p>
          <a:p>
            <a:pPr algn="l"/>
            <a:r>
              <a:rPr lang="en-US" sz="1800">
                <a:solidFill>
                  <a:srgbClr val="0000FF"/>
                </a:solidFill>
                <a:latin typeface="Consolas" pitchFamily="49" charset="0"/>
                <a:ea typeface="仿宋" pitchFamily="49" charset="-122"/>
                <a:cs typeface="Consolas" pitchFamily="49" charset="0"/>
              </a:rPr>
              <a:t>      while (p!=NULL)</a:t>
            </a:r>
            <a:endParaRPr lang="zh-CN" altLang="en-US" sz="1800">
              <a:solidFill>
                <a:srgbClr val="0000FF"/>
              </a:solidFill>
              <a:latin typeface="Consolas" pitchFamily="49" charset="0"/>
              <a:ea typeface="仿宋" pitchFamily="49" charset="-122"/>
              <a:cs typeface="Consolas" pitchFamily="49" charset="0"/>
            </a:endParaRPr>
          </a:p>
          <a:p>
            <a:pPr algn="l"/>
            <a:r>
              <a:rPr lang="en-US" sz="1800">
                <a:solidFill>
                  <a:srgbClr val="0000FF"/>
                </a:solidFill>
                <a:latin typeface="Consolas" pitchFamily="49" charset="0"/>
                <a:ea typeface="仿宋" pitchFamily="49" charset="-122"/>
                <a:cs typeface="Consolas" pitchFamily="49" charset="0"/>
              </a:rPr>
              <a:t>      {  printf("%3d[%d]</a:t>
            </a:r>
            <a:r>
              <a:rPr lang="zh-CN" altLang="en-US" sz="1800">
                <a:solidFill>
                  <a:srgbClr val="0000FF"/>
                </a:solidFill>
                <a:latin typeface="Consolas" pitchFamily="49" charset="0"/>
                <a:ea typeface="仿宋" pitchFamily="49" charset="-122"/>
                <a:cs typeface="Consolas" pitchFamily="49" charset="0"/>
              </a:rPr>
              <a:t>→</a:t>
            </a:r>
            <a:r>
              <a:rPr lang="en-US" sz="1800">
                <a:solidFill>
                  <a:srgbClr val="0000FF"/>
                </a:solidFill>
                <a:latin typeface="Consolas" pitchFamily="49" charset="0"/>
                <a:ea typeface="仿宋" pitchFamily="49" charset="-122"/>
                <a:cs typeface="Consolas" pitchFamily="49" charset="0"/>
              </a:rPr>
              <a:t>"，p-&gt;adjvex，p-&gt;weight);</a:t>
            </a:r>
            <a:endParaRPr lang="zh-CN" altLang="en-US" sz="1800">
              <a:solidFill>
                <a:srgbClr val="0000FF"/>
              </a:solidFill>
              <a:latin typeface="Consolas" pitchFamily="49" charset="0"/>
              <a:ea typeface="仿宋" pitchFamily="49" charset="-122"/>
              <a:cs typeface="Consolas" pitchFamily="49" charset="0"/>
            </a:endParaRPr>
          </a:p>
          <a:p>
            <a:pPr algn="l"/>
            <a:r>
              <a:rPr lang="en-US" sz="1800">
                <a:solidFill>
                  <a:srgbClr val="0000FF"/>
                </a:solidFill>
                <a:latin typeface="Consolas" pitchFamily="49" charset="0"/>
                <a:ea typeface="仿宋" pitchFamily="49" charset="-122"/>
                <a:cs typeface="Consolas" pitchFamily="49" charset="0"/>
              </a:rPr>
              <a:t>	  p=p-&gt;nextarc;</a:t>
            </a:r>
            <a:endParaRPr lang="zh-CN" altLang="en-US" sz="1800">
              <a:solidFill>
                <a:srgbClr val="0000FF"/>
              </a:solidFill>
              <a:latin typeface="Consolas" pitchFamily="49" charset="0"/>
              <a:ea typeface="仿宋" pitchFamily="49" charset="-122"/>
              <a:cs typeface="Consolas" pitchFamily="49" charset="0"/>
            </a:endParaRPr>
          </a:p>
          <a:p>
            <a:pPr algn="l"/>
            <a:r>
              <a:rPr lang="en-US" sz="1800">
                <a:solidFill>
                  <a:srgbClr val="0000FF"/>
                </a:solidFill>
                <a:latin typeface="Consolas" pitchFamily="49" charset="0"/>
                <a:ea typeface="仿宋" pitchFamily="49" charset="-122"/>
                <a:cs typeface="Consolas" pitchFamily="49" charset="0"/>
              </a:rPr>
              <a:t>      }</a:t>
            </a:r>
            <a:endParaRPr lang="zh-CN" altLang="en-US" sz="1800">
              <a:solidFill>
                <a:srgbClr val="0000FF"/>
              </a:solidFill>
              <a:latin typeface="Consolas" pitchFamily="49" charset="0"/>
              <a:ea typeface="仿宋" pitchFamily="49" charset="-122"/>
              <a:cs typeface="Consolas" pitchFamily="49" charset="0"/>
            </a:endParaRPr>
          </a:p>
          <a:p>
            <a:pPr algn="l"/>
            <a:r>
              <a:rPr lang="en-US" sz="1800">
                <a:solidFill>
                  <a:srgbClr val="0000FF"/>
                </a:solidFill>
                <a:latin typeface="Consolas" pitchFamily="49" charset="0"/>
                <a:ea typeface="仿宋" pitchFamily="49" charset="-122"/>
                <a:cs typeface="Consolas" pitchFamily="49" charset="0"/>
              </a:rPr>
              <a:t>      printf("</a:t>
            </a:r>
            <a:r>
              <a:rPr lang="zh-CN" altLang="en-US" sz="1800">
                <a:solidFill>
                  <a:srgbClr val="0000FF"/>
                </a:solidFill>
                <a:latin typeface="Consolas" pitchFamily="49" charset="0"/>
                <a:ea typeface="仿宋" pitchFamily="49" charset="-122"/>
                <a:cs typeface="Consolas" pitchFamily="49" charset="0"/>
              </a:rPr>
              <a:t>∧</a:t>
            </a:r>
            <a:r>
              <a:rPr lang="en-US" sz="1800">
                <a:solidFill>
                  <a:srgbClr val="0000FF"/>
                </a:solidFill>
                <a:latin typeface="Consolas" pitchFamily="49" charset="0"/>
                <a:ea typeface="仿宋" pitchFamily="49" charset="-122"/>
                <a:cs typeface="Consolas" pitchFamily="49" charset="0"/>
              </a:rPr>
              <a:t>\n");</a:t>
            </a:r>
            <a:endParaRPr lang="zh-CN" altLang="en-US" sz="1800">
              <a:solidFill>
                <a:srgbClr val="0000FF"/>
              </a:solidFill>
              <a:latin typeface="Consolas" pitchFamily="49" charset="0"/>
              <a:ea typeface="仿宋" pitchFamily="49" charset="-122"/>
              <a:cs typeface="Consolas" pitchFamily="49" charset="0"/>
            </a:endParaRPr>
          </a:p>
          <a:p>
            <a:pPr algn="l"/>
            <a:r>
              <a:rPr lang="en-US" sz="1800">
                <a:solidFill>
                  <a:srgbClr val="0000FF"/>
                </a:solidFill>
                <a:latin typeface="Consolas" pitchFamily="49" charset="0"/>
                <a:ea typeface="仿宋" pitchFamily="49" charset="-122"/>
                <a:cs typeface="Consolas" pitchFamily="49" charset="0"/>
              </a:rPr>
              <a:t>   }</a:t>
            </a:r>
            <a:endParaRPr lang="zh-CN" altLang="en-US" sz="1800">
              <a:solidFill>
                <a:srgbClr val="0000FF"/>
              </a:solidFill>
              <a:latin typeface="Consolas" pitchFamily="49" charset="0"/>
              <a:ea typeface="仿宋" pitchFamily="49" charset="-122"/>
              <a:cs typeface="Consolas" pitchFamily="49" charset="0"/>
            </a:endParaRPr>
          </a:p>
          <a:p>
            <a:pPr algn="l"/>
            <a:r>
              <a:rPr lang="en-US" sz="1800">
                <a:solidFill>
                  <a:srgbClr val="0000FF"/>
                </a:solidFill>
                <a:latin typeface="Consolas" pitchFamily="49" charset="0"/>
                <a:ea typeface="仿宋" pitchFamily="49" charset="-122"/>
                <a:cs typeface="Consolas" pitchFamily="49" charset="0"/>
              </a:rPr>
              <a:t>}</a:t>
            </a:r>
            <a:endParaRPr lang="zh-CN" altLang="en-US" sz="1800">
              <a:solidFill>
                <a:srgbClr val="0000FF"/>
              </a:solidFill>
              <a:latin typeface="Consolas" pitchFamily="49" charset="0"/>
              <a:ea typeface="仿宋" pitchFamily="49" charset="-122"/>
              <a:cs typeface="Consolas" pitchFamily="49" charset="0"/>
            </a:endParaRPr>
          </a:p>
        </p:txBody>
      </p:sp>
    </p:spTree>
    <p:extLst>
      <p:ext uri="{BB962C8B-B14F-4D97-AF65-F5344CB8AC3E}">
        <p14:creationId xmlns:p14="http://schemas.microsoft.com/office/powerpoint/2010/main" val="90998058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8123FC-8989-55F9-9ABD-27C3F0D901E5}"/>
            </a:ext>
          </a:extLst>
        </p:cNvPr>
        <p:cNvGrpSpPr/>
        <p:nvPr/>
      </p:nvGrpSpPr>
      <p:grpSpPr>
        <a:xfrm>
          <a:off x="0" y="0"/>
          <a:ext cx="0" cy="0"/>
          <a:chOff x="0" y="0"/>
          <a:chExt cx="0" cy="0"/>
        </a:xfrm>
      </p:grpSpPr>
      <p:sp>
        <p:nvSpPr>
          <p:cNvPr id="4" name="Rectangle 2">
            <a:extLst>
              <a:ext uri="{FF2B5EF4-FFF2-40B4-BE49-F238E27FC236}">
                <a16:creationId xmlns:a16="http://schemas.microsoft.com/office/drawing/2014/main" id="{9A5775DB-E6A3-14AA-9EBD-82C4EF4E16EA}"/>
              </a:ext>
            </a:extLst>
          </p:cNvPr>
          <p:cNvSpPr txBox="1">
            <a:spLocks noChangeArrowheads="1"/>
          </p:cNvSpPr>
          <p:nvPr/>
        </p:nvSpPr>
        <p:spPr>
          <a:xfrm>
            <a:off x="474772" y="1230902"/>
            <a:ext cx="4901148"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8.2.3 </a:t>
            </a:r>
            <a:r>
              <a:rPr kumimoji="1" lang="zh-CN" altLang="en-US" dirty="0">
                <a:latin typeface="微软雅黑" pitchFamily="34" charset="-122"/>
                <a:ea typeface="微软雅黑" pitchFamily="34" charset="-122"/>
              </a:rPr>
              <a:t>图的基本运算算法设计</a:t>
            </a:r>
            <a:endParaRPr lang="zh-CN" altLang="en-US" dirty="0"/>
          </a:p>
        </p:txBody>
      </p:sp>
      <p:sp>
        <p:nvSpPr>
          <p:cNvPr id="5" name="矩形 4">
            <a:extLst>
              <a:ext uri="{FF2B5EF4-FFF2-40B4-BE49-F238E27FC236}">
                <a16:creationId xmlns:a16="http://schemas.microsoft.com/office/drawing/2014/main" id="{7BC02809-DC6E-0B6A-C2A7-A53363348771}"/>
              </a:ext>
            </a:extLst>
          </p:cNvPr>
          <p:cNvSpPr/>
          <p:nvPr/>
        </p:nvSpPr>
        <p:spPr>
          <a:xfrm>
            <a:off x="2846292" y="348366"/>
            <a:ext cx="6715440"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8.2 </a:t>
            </a:r>
            <a:r>
              <a:rPr lang="zh-CN" altLang="en-US" sz="3000" b="1" dirty="0">
                <a:latin typeface="黑体" pitchFamily="49" charset="-122"/>
                <a:ea typeface="黑体" pitchFamily="49" charset="-122"/>
                <a:cs typeface="经典粗黑简" pitchFamily="49" charset="-122"/>
              </a:rPr>
              <a:t>图的存储结构和基本运算算法</a:t>
            </a:r>
          </a:p>
        </p:txBody>
      </p:sp>
      <p:cxnSp>
        <p:nvCxnSpPr>
          <p:cNvPr id="6" name="直接连接符 5">
            <a:extLst>
              <a:ext uri="{FF2B5EF4-FFF2-40B4-BE49-F238E27FC236}">
                <a16:creationId xmlns:a16="http://schemas.microsoft.com/office/drawing/2014/main" id="{60E4E557-A51C-7BC4-0695-C007F90C5A3D}"/>
              </a:ext>
            </a:extLst>
          </p:cNvPr>
          <p:cNvCxnSpPr>
            <a:cxnSpLocks/>
          </p:cNvCxnSpPr>
          <p:nvPr/>
        </p:nvCxnSpPr>
        <p:spPr>
          <a:xfrm>
            <a:off x="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7246F83E-1727-7C85-39CB-F3DB5D4707F1}"/>
              </a:ext>
            </a:extLst>
          </p:cNvPr>
          <p:cNvSpPr txBox="1"/>
          <p:nvPr/>
        </p:nvSpPr>
        <p:spPr>
          <a:xfrm>
            <a:off x="478236" y="1930558"/>
            <a:ext cx="3357586" cy="430887"/>
          </a:xfrm>
          <a:prstGeom prst="rect">
            <a:avLst/>
          </a:prstGeom>
        </p:spPr>
        <p:style>
          <a:lnRef idx="1">
            <a:schemeClr val="accent3"/>
          </a:lnRef>
          <a:fillRef idx="3">
            <a:schemeClr val="accent3"/>
          </a:fillRef>
          <a:effectRef idx="2">
            <a:schemeClr val="accent3"/>
          </a:effectRef>
          <a:fontRef idx="minor">
            <a:schemeClr val="lt1"/>
          </a:fontRef>
        </p:style>
        <p:txBody>
          <a:bodyPr wrap="square" rtlCol="0">
            <a:spAutoFit/>
          </a:bodyPr>
          <a:lstStyle/>
          <a:p>
            <a:pPr algn="l"/>
            <a:r>
              <a:rPr lang="zh-CN" altLang="en-US" sz="2200">
                <a:solidFill>
                  <a:srgbClr val="FF0000"/>
                </a:solidFill>
                <a:latin typeface="Consolas" pitchFamily="49" charset="0"/>
                <a:ea typeface="华文中宋" pitchFamily="2" charset="-122"/>
                <a:cs typeface="Consolas" pitchFamily="49" charset="0"/>
              </a:rPr>
              <a:t>（</a:t>
            </a:r>
            <a:r>
              <a:rPr lang="en-US" sz="2200">
                <a:solidFill>
                  <a:srgbClr val="FF0000"/>
                </a:solidFill>
                <a:latin typeface="Consolas" pitchFamily="49" charset="0"/>
                <a:ea typeface="华文中宋" pitchFamily="2" charset="-122"/>
                <a:cs typeface="Consolas" pitchFamily="49" charset="0"/>
              </a:rPr>
              <a:t>3</a:t>
            </a:r>
            <a:r>
              <a:rPr lang="zh-CN" altLang="en-US" sz="2200">
                <a:solidFill>
                  <a:srgbClr val="FF0000"/>
                </a:solidFill>
                <a:latin typeface="Consolas" pitchFamily="49" charset="0"/>
                <a:ea typeface="华文中宋" pitchFamily="2" charset="-122"/>
                <a:cs typeface="Consolas" pitchFamily="49" charset="0"/>
              </a:rPr>
              <a:t>）销毁图的运算算法</a:t>
            </a:r>
          </a:p>
        </p:txBody>
      </p:sp>
      <p:sp>
        <p:nvSpPr>
          <p:cNvPr id="8" name="TextBox 3">
            <a:extLst>
              <a:ext uri="{FF2B5EF4-FFF2-40B4-BE49-F238E27FC236}">
                <a16:creationId xmlns:a16="http://schemas.microsoft.com/office/drawing/2014/main" id="{3C2F9C33-B10D-AD7A-8C56-B619FB52DAA0}"/>
              </a:ext>
            </a:extLst>
          </p:cNvPr>
          <p:cNvSpPr txBox="1"/>
          <p:nvPr/>
        </p:nvSpPr>
        <p:spPr>
          <a:xfrm>
            <a:off x="4011707" y="1844824"/>
            <a:ext cx="7705996" cy="4862183"/>
          </a:xfrm>
          <a:prstGeom prst="rect">
            <a:avLst/>
          </a:prstGeom>
          <a:solidFill>
            <a:schemeClr val="bg1">
              <a:lumMod val="95000"/>
            </a:schemeClr>
          </a:solidFill>
          <a:ln>
            <a:noFill/>
          </a:ln>
          <a:effectLst/>
          <a:scene3d>
            <a:camera prst="orthographicFront">
              <a:rot lat="0" lon="0" rev="0"/>
            </a:camera>
            <a:lightRig rig="chilly" dir="t">
              <a:rot lat="0" lon="0" rev="18480000"/>
            </a:lightRig>
          </a:scene3d>
          <a:sp3d prstMaterial="clear">
            <a:bevelT h="63500"/>
          </a:sp3d>
        </p:spPr>
        <p:style>
          <a:lnRef idx="1">
            <a:schemeClr val="accent3"/>
          </a:lnRef>
          <a:fillRef idx="2">
            <a:schemeClr val="accent3"/>
          </a:fillRef>
          <a:effectRef idx="1">
            <a:schemeClr val="accent3"/>
          </a:effectRef>
          <a:fontRef idx="minor">
            <a:schemeClr val="dk1"/>
          </a:fontRef>
        </p:style>
        <p:txBody>
          <a:bodyPr wrap="square" lIns="180000" tIns="180000" bIns="180000" rtlCol="0">
            <a:spAutoFit/>
          </a:bodyPr>
          <a:lstStyle/>
          <a:p>
            <a:pPr algn="l">
              <a:lnSpc>
                <a:spcPts val="2200"/>
              </a:lnSpc>
            </a:pPr>
            <a:r>
              <a:rPr lang="en-US" sz="1800" dirty="0">
                <a:solidFill>
                  <a:srgbClr val="0000FF"/>
                </a:solidFill>
                <a:latin typeface="Consolas" pitchFamily="49" charset="0"/>
                <a:ea typeface="仿宋" pitchFamily="49" charset="-122"/>
                <a:cs typeface="Consolas" pitchFamily="49" charset="0"/>
              </a:rPr>
              <a:t>void </a:t>
            </a:r>
            <a:r>
              <a:rPr lang="en-US" sz="1800" dirty="0" err="1">
                <a:solidFill>
                  <a:srgbClr val="FF0000"/>
                </a:solidFill>
                <a:latin typeface="Consolas" pitchFamily="49" charset="0"/>
                <a:ea typeface="仿宋" pitchFamily="49" charset="-122"/>
                <a:cs typeface="Consolas" pitchFamily="49" charset="0"/>
              </a:rPr>
              <a:t>DestroyAdj</a:t>
            </a:r>
            <a:r>
              <a:rPr lang="en-US" sz="1800" dirty="0">
                <a:solidFill>
                  <a:srgbClr val="0000FF"/>
                </a:solidFill>
                <a:latin typeface="Consolas" pitchFamily="49" charset="0"/>
                <a:ea typeface="仿宋" pitchFamily="49" charset="-122"/>
                <a:cs typeface="Consolas" pitchFamily="49" charset="0"/>
              </a:rPr>
              <a:t>(</a:t>
            </a:r>
            <a:r>
              <a:rPr lang="en-US" sz="1800" dirty="0" err="1">
                <a:solidFill>
                  <a:srgbClr val="0000FF"/>
                </a:solidFill>
                <a:latin typeface="Consolas" pitchFamily="49" charset="0"/>
                <a:ea typeface="仿宋" pitchFamily="49" charset="-122"/>
                <a:cs typeface="Consolas" pitchFamily="49" charset="0"/>
              </a:rPr>
              <a:t>AdjGraph</a:t>
            </a:r>
            <a:r>
              <a:rPr lang="en-US" sz="1800" dirty="0">
                <a:solidFill>
                  <a:srgbClr val="0000FF"/>
                </a:solidFill>
                <a:latin typeface="Consolas" pitchFamily="49" charset="0"/>
                <a:ea typeface="仿宋" pitchFamily="49" charset="-122"/>
                <a:cs typeface="Consolas" pitchFamily="49" charset="0"/>
              </a:rPr>
              <a:t> *&amp;G)   	</a:t>
            </a:r>
            <a:r>
              <a:rPr lang="en-US" sz="1800" dirty="0">
                <a:solidFill>
                  <a:srgbClr val="00B0F0"/>
                </a:solidFill>
                <a:latin typeface="Consolas" pitchFamily="49" charset="0"/>
                <a:ea typeface="仿宋" pitchFamily="49" charset="-122"/>
                <a:cs typeface="Consolas" pitchFamily="49" charset="0"/>
              </a:rPr>
              <a:t>//</a:t>
            </a:r>
            <a:r>
              <a:rPr lang="zh-CN" altLang="en-US" sz="1800" dirty="0">
                <a:solidFill>
                  <a:srgbClr val="00B0F0"/>
                </a:solidFill>
                <a:latin typeface="Consolas" pitchFamily="49" charset="0"/>
                <a:ea typeface="仿宋" pitchFamily="49" charset="-122"/>
                <a:cs typeface="Consolas" pitchFamily="49" charset="0"/>
              </a:rPr>
              <a:t>销毁邻接表</a:t>
            </a:r>
          </a:p>
          <a:p>
            <a:pPr algn="l">
              <a:lnSpc>
                <a:spcPts val="2200"/>
              </a:lnSpc>
            </a:pPr>
            <a:r>
              <a:rPr lang="en-US" sz="1800" dirty="0">
                <a:solidFill>
                  <a:srgbClr val="0000FF"/>
                </a:solidFill>
                <a:latin typeface="Consolas" pitchFamily="49" charset="0"/>
                <a:ea typeface="仿宋" pitchFamily="49" charset="-122"/>
                <a:cs typeface="Consolas" pitchFamily="49" charset="0"/>
              </a:rPr>
              <a:t>{  int </a:t>
            </a:r>
            <a:r>
              <a:rPr lang="en-US" sz="1800" dirty="0" err="1">
                <a:solidFill>
                  <a:srgbClr val="0000FF"/>
                </a:solidFill>
                <a:latin typeface="Consolas" pitchFamily="49" charset="0"/>
                <a:ea typeface="仿宋" pitchFamily="49" charset="-122"/>
                <a:cs typeface="Consolas" pitchFamily="49" charset="0"/>
              </a:rPr>
              <a:t>i</a:t>
            </a:r>
            <a:r>
              <a:rPr lang="en-US" sz="1800" dirty="0">
                <a:solidFill>
                  <a:srgbClr val="0000FF"/>
                </a:solidFill>
                <a:latin typeface="Consolas" pitchFamily="49" charset="0"/>
                <a:ea typeface="仿宋" pitchFamily="49" charset="-122"/>
                <a:cs typeface="Consolas" pitchFamily="49" charset="0"/>
              </a:rPr>
              <a:t>; </a:t>
            </a:r>
            <a:r>
              <a:rPr lang="en-US" sz="1800" dirty="0" err="1">
                <a:solidFill>
                  <a:srgbClr val="0000FF"/>
                </a:solidFill>
                <a:latin typeface="Consolas" pitchFamily="49" charset="0"/>
                <a:ea typeface="仿宋" pitchFamily="49" charset="-122"/>
                <a:cs typeface="Consolas" pitchFamily="49" charset="0"/>
              </a:rPr>
              <a:t>ArcNode</a:t>
            </a:r>
            <a:r>
              <a:rPr lang="en-US" sz="1800" dirty="0">
                <a:solidFill>
                  <a:srgbClr val="0000FF"/>
                </a:solidFill>
                <a:latin typeface="Consolas" pitchFamily="49" charset="0"/>
                <a:ea typeface="仿宋" pitchFamily="49" charset="-122"/>
                <a:cs typeface="Consolas" pitchFamily="49" charset="0"/>
              </a:rPr>
              <a:t> *pre，*p;</a:t>
            </a:r>
            <a:endParaRPr lang="zh-CN" altLang="en-US" sz="1800" dirty="0">
              <a:solidFill>
                <a:srgbClr val="0000FF"/>
              </a:solidFill>
              <a:latin typeface="Consolas" pitchFamily="49" charset="0"/>
              <a:ea typeface="仿宋" pitchFamily="49" charset="-122"/>
              <a:cs typeface="Consolas" pitchFamily="49" charset="0"/>
            </a:endParaRPr>
          </a:p>
          <a:p>
            <a:pPr algn="l">
              <a:lnSpc>
                <a:spcPct val="150000"/>
              </a:lnSpc>
            </a:pPr>
            <a:r>
              <a:rPr lang="en-US" sz="1800" dirty="0">
                <a:solidFill>
                  <a:srgbClr val="0000FF"/>
                </a:solidFill>
                <a:latin typeface="Consolas" pitchFamily="49" charset="0"/>
                <a:ea typeface="仿宋" pitchFamily="49" charset="-122"/>
                <a:cs typeface="Consolas" pitchFamily="49" charset="0"/>
              </a:rPr>
              <a:t>   for (</a:t>
            </a:r>
            <a:r>
              <a:rPr lang="en-US" sz="1800" dirty="0" err="1">
                <a:solidFill>
                  <a:srgbClr val="0000FF"/>
                </a:solidFill>
                <a:latin typeface="Consolas" pitchFamily="49" charset="0"/>
                <a:ea typeface="仿宋" pitchFamily="49" charset="-122"/>
                <a:cs typeface="Consolas" pitchFamily="49" charset="0"/>
              </a:rPr>
              <a:t>i</a:t>
            </a:r>
            <a:r>
              <a:rPr lang="en-US" sz="1800" dirty="0">
                <a:solidFill>
                  <a:srgbClr val="0000FF"/>
                </a:solidFill>
                <a:latin typeface="Consolas" pitchFamily="49" charset="0"/>
                <a:ea typeface="仿宋" pitchFamily="49" charset="-122"/>
                <a:cs typeface="Consolas" pitchFamily="49" charset="0"/>
              </a:rPr>
              <a:t>=0;i&lt;G-&gt;</a:t>
            </a:r>
            <a:r>
              <a:rPr lang="en-US" sz="1800" dirty="0" err="1">
                <a:solidFill>
                  <a:srgbClr val="0000FF"/>
                </a:solidFill>
                <a:latin typeface="Consolas" pitchFamily="49" charset="0"/>
                <a:ea typeface="仿宋" pitchFamily="49" charset="-122"/>
                <a:cs typeface="Consolas" pitchFamily="49" charset="0"/>
              </a:rPr>
              <a:t>n;i</a:t>
            </a:r>
            <a:r>
              <a:rPr lang="en-US" sz="1800" dirty="0">
                <a:solidFill>
                  <a:srgbClr val="0000FF"/>
                </a:solidFill>
                <a:latin typeface="Consolas" pitchFamily="49" charset="0"/>
                <a:ea typeface="仿宋" pitchFamily="49" charset="-122"/>
                <a:cs typeface="Consolas" pitchFamily="49" charset="0"/>
              </a:rPr>
              <a:t>++)		</a:t>
            </a:r>
            <a:r>
              <a:rPr lang="en-US" sz="1800" dirty="0">
                <a:solidFill>
                  <a:srgbClr val="00B0F0"/>
                </a:solidFill>
                <a:latin typeface="Consolas" pitchFamily="49" charset="0"/>
                <a:ea typeface="仿宋" pitchFamily="49" charset="-122"/>
                <a:cs typeface="Consolas" pitchFamily="49" charset="0"/>
              </a:rPr>
              <a:t>//</a:t>
            </a:r>
            <a:r>
              <a:rPr lang="zh-CN" altLang="en-US" sz="1800" dirty="0">
                <a:solidFill>
                  <a:srgbClr val="00B0F0"/>
                </a:solidFill>
                <a:latin typeface="Consolas" pitchFamily="49" charset="0"/>
                <a:ea typeface="仿宋" pitchFamily="49" charset="-122"/>
                <a:cs typeface="Consolas" pitchFamily="49" charset="0"/>
              </a:rPr>
              <a:t>扫描所有的单链表</a:t>
            </a:r>
          </a:p>
          <a:p>
            <a:pPr algn="l">
              <a:lnSpc>
                <a:spcPts val="2200"/>
              </a:lnSpc>
            </a:pPr>
            <a:r>
              <a:rPr lang="en-US" sz="1800" dirty="0">
                <a:solidFill>
                  <a:srgbClr val="0000FF"/>
                </a:solidFill>
                <a:latin typeface="Consolas" pitchFamily="49" charset="0"/>
                <a:ea typeface="仿宋" pitchFamily="49" charset="-122"/>
                <a:cs typeface="Consolas" pitchFamily="49" charset="0"/>
              </a:rPr>
              <a:t>   {  pre=G-&gt;</a:t>
            </a:r>
            <a:r>
              <a:rPr lang="en-US" sz="1800" dirty="0" err="1">
                <a:solidFill>
                  <a:srgbClr val="0000FF"/>
                </a:solidFill>
                <a:latin typeface="Consolas" pitchFamily="49" charset="0"/>
                <a:ea typeface="仿宋" pitchFamily="49" charset="-122"/>
                <a:cs typeface="Consolas" pitchFamily="49" charset="0"/>
              </a:rPr>
              <a:t>adjlist</a:t>
            </a:r>
            <a:r>
              <a:rPr lang="en-US" sz="1800" dirty="0">
                <a:solidFill>
                  <a:srgbClr val="0000FF"/>
                </a:solidFill>
                <a:latin typeface="Consolas" pitchFamily="49" charset="0"/>
                <a:ea typeface="仿宋" pitchFamily="49" charset="-122"/>
                <a:cs typeface="Consolas" pitchFamily="49" charset="0"/>
              </a:rPr>
              <a:t>[</a:t>
            </a:r>
            <a:r>
              <a:rPr lang="en-US" sz="1800" dirty="0" err="1">
                <a:solidFill>
                  <a:srgbClr val="0000FF"/>
                </a:solidFill>
                <a:latin typeface="Consolas" pitchFamily="49" charset="0"/>
                <a:ea typeface="仿宋" pitchFamily="49" charset="-122"/>
                <a:cs typeface="Consolas" pitchFamily="49" charset="0"/>
              </a:rPr>
              <a:t>i</a:t>
            </a:r>
            <a:r>
              <a:rPr lang="en-US" sz="1800" dirty="0">
                <a:solidFill>
                  <a:srgbClr val="0000FF"/>
                </a:solidFill>
                <a:latin typeface="Consolas" pitchFamily="49" charset="0"/>
                <a:ea typeface="仿宋" pitchFamily="49" charset="-122"/>
                <a:cs typeface="Consolas" pitchFamily="49" charset="0"/>
              </a:rPr>
              <a:t>].</a:t>
            </a:r>
            <a:r>
              <a:rPr lang="en-US" sz="1800" dirty="0" err="1">
                <a:solidFill>
                  <a:srgbClr val="0000FF"/>
                </a:solidFill>
                <a:latin typeface="Consolas" pitchFamily="49" charset="0"/>
                <a:ea typeface="仿宋" pitchFamily="49" charset="-122"/>
                <a:cs typeface="Consolas" pitchFamily="49" charset="0"/>
              </a:rPr>
              <a:t>firstarc</a:t>
            </a:r>
            <a:r>
              <a:rPr lang="en-US" sz="1800" dirty="0">
                <a:solidFill>
                  <a:srgbClr val="0000FF"/>
                </a:solidFill>
                <a:latin typeface="Consolas" pitchFamily="49" charset="0"/>
                <a:ea typeface="仿宋" pitchFamily="49" charset="-122"/>
                <a:cs typeface="Consolas" pitchFamily="49" charset="0"/>
              </a:rPr>
              <a:t>;</a:t>
            </a:r>
            <a:r>
              <a:rPr lang="en-US" sz="1800" dirty="0">
                <a:solidFill>
                  <a:srgbClr val="00B0F0"/>
                </a:solidFill>
                <a:latin typeface="Consolas" pitchFamily="49" charset="0"/>
                <a:ea typeface="仿宋" pitchFamily="49" charset="-122"/>
                <a:cs typeface="Consolas" pitchFamily="49" charset="0"/>
              </a:rPr>
              <a:t>//p</a:t>
            </a:r>
            <a:r>
              <a:rPr lang="zh-CN" altLang="en-US" sz="1800" dirty="0">
                <a:solidFill>
                  <a:srgbClr val="00B0F0"/>
                </a:solidFill>
                <a:latin typeface="Consolas" pitchFamily="49" charset="0"/>
                <a:ea typeface="仿宋" pitchFamily="49" charset="-122"/>
                <a:cs typeface="Consolas" pitchFamily="49" charset="0"/>
              </a:rPr>
              <a:t>指向第</a:t>
            </a:r>
            <a:r>
              <a:rPr lang="en-US" sz="1800" dirty="0" err="1">
                <a:solidFill>
                  <a:srgbClr val="00B0F0"/>
                </a:solidFill>
                <a:latin typeface="Consolas" pitchFamily="49" charset="0"/>
                <a:ea typeface="仿宋" pitchFamily="49" charset="-122"/>
                <a:cs typeface="Consolas" pitchFamily="49" charset="0"/>
              </a:rPr>
              <a:t>i</a:t>
            </a:r>
            <a:r>
              <a:rPr lang="zh-CN" altLang="en-US" sz="1800" dirty="0">
                <a:solidFill>
                  <a:srgbClr val="00B0F0"/>
                </a:solidFill>
                <a:latin typeface="Consolas" pitchFamily="49" charset="0"/>
                <a:ea typeface="仿宋" pitchFamily="49" charset="-122"/>
                <a:cs typeface="Consolas" pitchFamily="49" charset="0"/>
              </a:rPr>
              <a:t>个单链表的首结点</a:t>
            </a:r>
          </a:p>
          <a:p>
            <a:pPr algn="l">
              <a:lnSpc>
                <a:spcPts val="2200"/>
              </a:lnSpc>
            </a:pPr>
            <a:r>
              <a:rPr lang="en-US" sz="1800" dirty="0">
                <a:solidFill>
                  <a:srgbClr val="0000FF"/>
                </a:solidFill>
                <a:latin typeface="Consolas" pitchFamily="49" charset="0"/>
                <a:ea typeface="仿宋" pitchFamily="49" charset="-122"/>
                <a:cs typeface="Consolas" pitchFamily="49" charset="0"/>
              </a:rPr>
              <a:t>      if (pre!=NULL)</a:t>
            </a:r>
            <a:endParaRPr lang="zh-CN" altLang="en-US" sz="1800" dirty="0">
              <a:solidFill>
                <a:srgbClr val="0000FF"/>
              </a:solidFill>
              <a:latin typeface="Consolas" pitchFamily="49" charset="0"/>
              <a:ea typeface="仿宋" pitchFamily="49" charset="-122"/>
              <a:cs typeface="Consolas" pitchFamily="49" charset="0"/>
            </a:endParaRPr>
          </a:p>
          <a:p>
            <a:pPr algn="l">
              <a:lnSpc>
                <a:spcPts val="2200"/>
              </a:lnSpc>
            </a:pPr>
            <a:r>
              <a:rPr lang="en-US" sz="1800" dirty="0">
                <a:solidFill>
                  <a:srgbClr val="0000FF"/>
                </a:solidFill>
                <a:latin typeface="Consolas" pitchFamily="49" charset="0"/>
                <a:ea typeface="仿宋" pitchFamily="49" charset="-122"/>
                <a:cs typeface="Consolas" pitchFamily="49" charset="0"/>
              </a:rPr>
              <a:t>      {  p=pre-&gt;</a:t>
            </a:r>
            <a:r>
              <a:rPr lang="en-US" sz="1800" dirty="0" err="1">
                <a:solidFill>
                  <a:srgbClr val="0000FF"/>
                </a:solidFill>
                <a:latin typeface="Consolas" pitchFamily="49" charset="0"/>
                <a:ea typeface="仿宋" pitchFamily="49" charset="-122"/>
                <a:cs typeface="Consolas" pitchFamily="49" charset="0"/>
              </a:rPr>
              <a:t>nextarc</a:t>
            </a:r>
            <a:r>
              <a:rPr lang="en-US" sz="1800" dirty="0">
                <a:solidFill>
                  <a:srgbClr val="0000FF"/>
                </a:solidFill>
                <a:latin typeface="Consolas" pitchFamily="49" charset="0"/>
                <a:ea typeface="仿宋" pitchFamily="49" charset="-122"/>
                <a:cs typeface="Consolas" pitchFamily="49" charset="0"/>
              </a:rPr>
              <a:t>;</a:t>
            </a:r>
            <a:endParaRPr lang="zh-CN" altLang="en-US" sz="1800" dirty="0">
              <a:solidFill>
                <a:srgbClr val="0000FF"/>
              </a:solidFill>
              <a:latin typeface="Consolas" pitchFamily="49" charset="0"/>
              <a:ea typeface="仿宋" pitchFamily="49" charset="-122"/>
              <a:cs typeface="Consolas" pitchFamily="49" charset="0"/>
            </a:endParaRPr>
          </a:p>
          <a:p>
            <a:pPr algn="l">
              <a:lnSpc>
                <a:spcPts val="2200"/>
              </a:lnSpc>
            </a:pPr>
            <a:r>
              <a:rPr lang="en-US" sz="1800" dirty="0">
                <a:solidFill>
                  <a:srgbClr val="0000FF"/>
                </a:solidFill>
                <a:latin typeface="Consolas" pitchFamily="49" charset="0"/>
                <a:ea typeface="仿宋" pitchFamily="49" charset="-122"/>
                <a:cs typeface="Consolas" pitchFamily="49" charset="0"/>
              </a:rPr>
              <a:t>	  while (p!=NULL)	</a:t>
            </a:r>
            <a:r>
              <a:rPr lang="en-US" sz="1800" dirty="0">
                <a:solidFill>
                  <a:srgbClr val="00B0F0"/>
                </a:solidFill>
                <a:latin typeface="Consolas" pitchFamily="49" charset="0"/>
                <a:ea typeface="仿宋" pitchFamily="49" charset="-122"/>
                <a:cs typeface="Consolas" pitchFamily="49" charset="0"/>
              </a:rPr>
              <a:t>//</a:t>
            </a:r>
            <a:r>
              <a:rPr lang="zh-CN" altLang="en-US" sz="1800" dirty="0">
                <a:solidFill>
                  <a:srgbClr val="00B0F0"/>
                </a:solidFill>
                <a:latin typeface="Consolas" pitchFamily="49" charset="0"/>
                <a:ea typeface="仿宋" pitchFamily="49" charset="-122"/>
                <a:cs typeface="Consolas" pitchFamily="49" charset="0"/>
              </a:rPr>
              <a:t>释放第</a:t>
            </a:r>
            <a:r>
              <a:rPr lang="en-US" sz="1800" dirty="0" err="1">
                <a:solidFill>
                  <a:srgbClr val="00B0F0"/>
                </a:solidFill>
                <a:latin typeface="Consolas" pitchFamily="49" charset="0"/>
                <a:ea typeface="仿宋" pitchFamily="49" charset="-122"/>
                <a:cs typeface="Consolas" pitchFamily="49" charset="0"/>
              </a:rPr>
              <a:t>i</a:t>
            </a:r>
            <a:r>
              <a:rPr lang="zh-CN" altLang="en-US" sz="1800" dirty="0">
                <a:solidFill>
                  <a:srgbClr val="00B0F0"/>
                </a:solidFill>
                <a:latin typeface="Consolas" pitchFamily="49" charset="0"/>
                <a:ea typeface="仿宋" pitchFamily="49" charset="-122"/>
                <a:cs typeface="Consolas" pitchFamily="49" charset="0"/>
              </a:rPr>
              <a:t>个单链表的所有边结点</a:t>
            </a:r>
          </a:p>
          <a:p>
            <a:pPr algn="l">
              <a:lnSpc>
                <a:spcPts val="2200"/>
              </a:lnSpc>
            </a:pPr>
            <a:r>
              <a:rPr lang="en-US" sz="1800" dirty="0">
                <a:solidFill>
                  <a:srgbClr val="0000FF"/>
                </a:solidFill>
                <a:latin typeface="Consolas" pitchFamily="49" charset="0"/>
                <a:ea typeface="仿宋" pitchFamily="49" charset="-122"/>
                <a:cs typeface="Consolas" pitchFamily="49" charset="0"/>
              </a:rPr>
              <a:t>	  {  free(pre);</a:t>
            </a:r>
            <a:endParaRPr lang="zh-CN" altLang="en-US" sz="1800" dirty="0">
              <a:solidFill>
                <a:srgbClr val="0000FF"/>
              </a:solidFill>
              <a:latin typeface="Consolas" pitchFamily="49" charset="0"/>
              <a:ea typeface="仿宋" pitchFamily="49" charset="-122"/>
              <a:cs typeface="Consolas" pitchFamily="49" charset="0"/>
            </a:endParaRPr>
          </a:p>
          <a:p>
            <a:pPr algn="l">
              <a:lnSpc>
                <a:spcPts val="2200"/>
              </a:lnSpc>
            </a:pPr>
            <a:r>
              <a:rPr lang="en-US" sz="1800" dirty="0">
                <a:solidFill>
                  <a:srgbClr val="0000FF"/>
                </a:solidFill>
                <a:latin typeface="Consolas" pitchFamily="49" charset="0"/>
                <a:ea typeface="仿宋" pitchFamily="49" charset="-122"/>
                <a:cs typeface="Consolas" pitchFamily="49" charset="0"/>
              </a:rPr>
              <a:t>	     pre=p; p=p-&gt;</a:t>
            </a:r>
            <a:r>
              <a:rPr lang="en-US" sz="1800" dirty="0" err="1">
                <a:solidFill>
                  <a:srgbClr val="0000FF"/>
                </a:solidFill>
                <a:latin typeface="Consolas" pitchFamily="49" charset="0"/>
                <a:ea typeface="仿宋" pitchFamily="49" charset="-122"/>
                <a:cs typeface="Consolas" pitchFamily="49" charset="0"/>
              </a:rPr>
              <a:t>nextarc</a:t>
            </a:r>
            <a:r>
              <a:rPr lang="en-US" sz="1800" dirty="0">
                <a:solidFill>
                  <a:srgbClr val="0000FF"/>
                </a:solidFill>
                <a:latin typeface="Consolas" pitchFamily="49" charset="0"/>
                <a:ea typeface="仿宋" pitchFamily="49" charset="-122"/>
                <a:cs typeface="Consolas" pitchFamily="49" charset="0"/>
              </a:rPr>
              <a:t>;</a:t>
            </a:r>
            <a:endParaRPr lang="zh-CN" altLang="en-US" sz="1800" dirty="0">
              <a:solidFill>
                <a:srgbClr val="0000FF"/>
              </a:solidFill>
              <a:latin typeface="Consolas" pitchFamily="49" charset="0"/>
              <a:ea typeface="仿宋" pitchFamily="49" charset="-122"/>
              <a:cs typeface="Consolas" pitchFamily="49" charset="0"/>
            </a:endParaRPr>
          </a:p>
          <a:p>
            <a:pPr algn="l">
              <a:lnSpc>
                <a:spcPts val="2200"/>
              </a:lnSpc>
            </a:pPr>
            <a:r>
              <a:rPr lang="en-US" sz="1800" dirty="0">
                <a:solidFill>
                  <a:srgbClr val="0000FF"/>
                </a:solidFill>
                <a:latin typeface="Consolas" pitchFamily="49" charset="0"/>
                <a:ea typeface="仿宋" pitchFamily="49" charset="-122"/>
                <a:cs typeface="Consolas" pitchFamily="49" charset="0"/>
              </a:rPr>
              <a:t>	  }</a:t>
            </a:r>
            <a:endParaRPr lang="zh-CN" altLang="en-US" sz="1800" dirty="0">
              <a:solidFill>
                <a:srgbClr val="0000FF"/>
              </a:solidFill>
              <a:latin typeface="Consolas" pitchFamily="49" charset="0"/>
              <a:ea typeface="仿宋" pitchFamily="49" charset="-122"/>
              <a:cs typeface="Consolas" pitchFamily="49" charset="0"/>
            </a:endParaRPr>
          </a:p>
          <a:p>
            <a:pPr algn="l">
              <a:lnSpc>
                <a:spcPts val="2200"/>
              </a:lnSpc>
            </a:pPr>
            <a:r>
              <a:rPr lang="en-US" sz="1800" dirty="0">
                <a:solidFill>
                  <a:srgbClr val="0000FF"/>
                </a:solidFill>
                <a:latin typeface="Consolas" pitchFamily="49" charset="0"/>
                <a:ea typeface="仿宋" pitchFamily="49" charset="-122"/>
                <a:cs typeface="Consolas" pitchFamily="49" charset="0"/>
              </a:rPr>
              <a:t>	  free(pre);</a:t>
            </a:r>
            <a:endParaRPr lang="zh-CN" altLang="en-US" sz="1800" dirty="0">
              <a:solidFill>
                <a:srgbClr val="0000FF"/>
              </a:solidFill>
              <a:latin typeface="Consolas" pitchFamily="49" charset="0"/>
              <a:ea typeface="仿宋" pitchFamily="49" charset="-122"/>
              <a:cs typeface="Consolas" pitchFamily="49" charset="0"/>
            </a:endParaRPr>
          </a:p>
          <a:p>
            <a:pPr algn="l">
              <a:lnSpc>
                <a:spcPts val="2200"/>
              </a:lnSpc>
            </a:pPr>
            <a:r>
              <a:rPr lang="en-US" sz="1800" dirty="0">
                <a:solidFill>
                  <a:srgbClr val="0000FF"/>
                </a:solidFill>
                <a:latin typeface="Consolas" pitchFamily="49" charset="0"/>
                <a:ea typeface="仿宋" pitchFamily="49" charset="-122"/>
                <a:cs typeface="Consolas" pitchFamily="49" charset="0"/>
              </a:rPr>
              <a:t>      }</a:t>
            </a:r>
            <a:endParaRPr lang="zh-CN" altLang="en-US" sz="1800" dirty="0">
              <a:solidFill>
                <a:srgbClr val="0000FF"/>
              </a:solidFill>
              <a:latin typeface="Consolas" pitchFamily="49" charset="0"/>
              <a:ea typeface="仿宋" pitchFamily="49" charset="-122"/>
              <a:cs typeface="Consolas" pitchFamily="49" charset="0"/>
            </a:endParaRPr>
          </a:p>
          <a:p>
            <a:pPr algn="l">
              <a:lnSpc>
                <a:spcPts val="2200"/>
              </a:lnSpc>
            </a:pPr>
            <a:r>
              <a:rPr lang="en-US" sz="1800" dirty="0">
                <a:solidFill>
                  <a:srgbClr val="0000FF"/>
                </a:solidFill>
                <a:latin typeface="Consolas" pitchFamily="49" charset="0"/>
                <a:ea typeface="仿宋" pitchFamily="49" charset="-122"/>
                <a:cs typeface="Consolas" pitchFamily="49" charset="0"/>
              </a:rPr>
              <a:t>   }</a:t>
            </a:r>
            <a:endParaRPr lang="zh-CN" altLang="en-US" sz="1800" dirty="0">
              <a:solidFill>
                <a:srgbClr val="0000FF"/>
              </a:solidFill>
              <a:latin typeface="Consolas" pitchFamily="49" charset="0"/>
              <a:ea typeface="仿宋" pitchFamily="49" charset="-122"/>
              <a:cs typeface="Consolas" pitchFamily="49" charset="0"/>
            </a:endParaRPr>
          </a:p>
          <a:p>
            <a:pPr algn="l">
              <a:lnSpc>
                <a:spcPct val="150000"/>
              </a:lnSpc>
            </a:pPr>
            <a:r>
              <a:rPr lang="en-US" sz="1800" dirty="0">
                <a:solidFill>
                  <a:srgbClr val="0000FF"/>
                </a:solidFill>
                <a:latin typeface="Consolas" pitchFamily="49" charset="0"/>
                <a:ea typeface="仿宋" pitchFamily="49" charset="-122"/>
                <a:cs typeface="Consolas" pitchFamily="49" charset="0"/>
              </a:rPr>
              <a:t>   free(G);				</a:t>
            </a:r>
            <a:r>
              <a:rPr lang="en-US" sz="1800" dirty="0">
                <a:solidFill>
                  <a:srgbClr val="00B0F0"/>
                </a:solidFill>
                <a:latin typeface="Consolas" pitchFamily="49" charset="0"/>
                <a:ea typeface="仿宋" pitchFamily="49" charset="-122"/>
                <a:cs typeface="Consolas" pitchFamily="49" charset="0"/>
              </a:rPr>
              <a:t>//</a:t>
            </a:r>
            <a:r>
              <a:rPr lang="zh-CN" altLang="en-US" sz="1800" dirty="0">
                <a:solidFill>
                  <a:srgbClr val="00B0F0"/>
                </a:solidFill>
                <a:latin typeface="Consolas" pitchFamily="49" charset="0"/>
                <a:ea typeface="仿宋" pitchFamily="49" charset="-122"/>
                <a:cs typeface="Consolas" pitchFamily="49" charset="0"/>
              </a:rPr>
              <a:t>释放头结点数组</a:t>
            </a:r>
          </a:p>
          <a:p>
            <a:pPr algn="l">
              <a:lnSpc>
                <a:spcPts val="2200"/>
              </a:lnSpc>
            </a:pPr>
            <a:r>
              <a:rPr lang="en-US" sz="1800" dirty="0">
                <a:solidFill>
                  <a:srgbClr val="0000FF"/>
                </a:solidFill>
                <a:latin typeface="Consolas" pitchFamily="49" charset="0"/>
                <a:ea typeface="仿宋" pitchFamily="49" charset="-122"/>
                <a:cs typeface="Consolas" pitchFamily="49" charset="0"/>
              </a:rPr>
              <a:t>}</a:t>
            </a:r>
            <a:endParaRPr lang="zh-CN" altLang="en-US" sz="1800" dirty="0">
              <a:solidFill>
                <a:srgbClr val="0000FF"/>
              </a:solidFill>
              <a:latin typeface="Consolas" pitchFamily="49" charset="0"/>
              <a:ea typeface="仿宋" pitchFamily="49" charset="-122"/>
              <a:cs typeface="Consolas" pitchFamily="49" charset="0"/>
            </a:endParaRPr>
          </a:p>
        </p:txBody>
      </p:sp>
    </p:spTree>
    <p:extLst>
      <p:ext uri="{BB962C8B-B14F-4D97-AF65-F5344CB8AC3E}">
        <p14:creationId xmlns:p14="http://schemas.microsoft.com/office/powerpoint/2010/main" val="29541193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8">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8">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8">
                                            <p:txEl>
                                              <p:pRg st="8" end="8"/>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8">
                                            <p:txEl>
                                              <p:pRg st="9" end="9"/>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8">
                                            <p:txEl>
                                              <p:pRg st="10" end="10"/>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8">
                                            <p:txEl>
                                              <p:pRg st="11" end="11"/>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8">
                                            <p:txEl>
                                              <p:pRg st="12" end="12"/>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8">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17FB21-5CE8-243D-9E44-DC7F861606EC}"/>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7C1CF727-140A-14C9-E5FB-7F8E83284960}"/>
              </a:ext>
            </a:extLst>
          </p:cNvPr>
          <p:cNvSpPr txBox="1">
            <a:spLocks noChangeArrowheads="1"/>
          </p:cNvSpPr>
          <p:nvPr/>
        </p:nvSpPr>
        <p:spPr>
          <a:xfrm>
            <a:off x="474772" y="1230902"/>
            <a:ext cx="4901148"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8.3.1 </a:t>
            </a:r>
            <a:r>
              <a:rPr kumimoji="1" lang="zh-CN" altLang="en-US" dirty="0">
                <a:latin typeface="微软雅黑" pitchFamily="34" charset="-122"/>
                <a:ea typeface="微软雅黑" pitchFamily="34" charset="-122"/>
              </a:rPr>
              <a:t>图的遍历的概念</a:t>
            </a:r>
            <a:endParaRPr lang="zh-CN" altLang="en-US" dirty="0"/>
          </a:p>
        </p:txBody>
      </p:sp>
      <p:sp>
        <p:nvSpPr>
          <p:cNvPr id="5" name="矩形 4">
            <a:extLst>
              <a:ext uri="{FF2B5EF4-FFF2-40B4-BE49-F238E27FC236}">
                <a16:creationId xmlns:a16="http://schemas.microsoft.com/office/drawing/2014/main" id="{511ED15C-663B-3A57-F0AC-E48522055414}"/>
              </a:ext>
            </a:extLst>
          </p:cNvPr>
          <p:cNvSpPr/>
          <p:nvPr/>
        </p:nvSpPr>
        <p:spPr>
          <a:xfrm>
            <a:off x="3200907" y="399148"/>
            <a:ext cx="4617860"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8.3 </a:t>
            </a:r>
            <a:r>
              <a:rPr lang="zh-CN" altLang="en-US" sz="3000" b="1" dirty="0">
                <a:latin typeface="黑体" pitchFamily="49" charset="-122"/>
                <a:ea typeface="黑体" pitchFamily="49" charset="-122"/>
                <a:cs typeface="经典粗黑简" pitchFamily="49" charset="-122"/>
              </a:rPr>
              <a:t>图的遍历</a:t>
            </a:r>
          </a:p>
        </p:txBody>
      </p:sp>
      <p:cxnSp>
        <p:nvCxnSpPr>
          <p:cNvPr id="6" name="直接连接符 5">
            <a:extLst>
              <a:ext uri="{FF2B5EF4-FFF2-40B4-BE49-F238E27FC236}">
                <a16:creationId xmlns:a16="http://schemas.microsoft.com/office/drawing/2014/main" id="{EB5110C2-B343-62FA-4418-929769EFE496}"/>
              </a:ext>
            </a:extLst>
          </p:cNvPr>
          <p:cNvCxnSpPr>
            <a:cxnSpLocks/>
          </p:cNvCxnSpPr>
          <p:nvPr/>
        </p:nvCxnSpPr>
        <p:spPr>
          <a:xfrm>
            <a:off x="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7" name="Text Box 2">
            <a:extLst>
              <a:ext uri="{FF2B5EF4-FFF2-40B4-BE49-F238E27FC236}">
                <a16:creationId xmlns:a16="http://schemas.microsoft.com/office/drawing/2014/main" id="{9214FEF4-A61C-9FFD-EDC9-90BA240299B5}"/>
              </a:ext>
            </a:extLst>
          </p:cNvPr>
          <p:cNvSpPr txBox="1">
            <a:spLocks noChangeArrowheads="1"/>
          </p:cNvSpPr>
          <p:nvPr/>
        </p:nvSpPr>
        <p:spPr bwMode="auto">
          <a:xfrm>
            <a:off x="1415480" y="1932286"/>
            <a:ext cx="9473706" cy="1491407"/>
          </a:xfrm>
          <a:prstGeom prst="rect">
            <a:avLst/>
          </a:prstGeom>
          <a:ln>
            <a:noFill/>
            <a:headEnd/>
            <a:tailEnd/>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44000" tIns="108000" bIns="108000">
            <a:spAutoFit/>
          </a:bodyPr>
          <a:lstStyle/>
          <a:p>
            <a:pPr marL="342900" indent="-342900" algn="l">
              <a:lnSpc>
                <a:spcPts val="3000"/>
              </a:lnSpc>
              <a:spcBef>
                <a:spcPts val="1200"/>
              </a:spcBef>
              <a:buBlip>
                <a:blip r:embed="rId2"/>
              </a:buBlip>
            </a:pPr>
            <a:r>
              <a:rPr kumimoji="1" lang="zh-CN" altLang="en-US" sz="2000">
                <a:latin typeface="Consolas" pitchFamily="49" charset="0"/>
                <a:ea typeface="仿宋" pitchFamily="49" charset="-122"/>
                <a:cs typeface="Consolas" pitchFamily="49" charset="0"/>
              </a:rPr>
              <a:t>从</a:t>
            </a:r>
            <a:r>
              <a:rPr kumimoji="1" lang="zh-CN" altLang="en-US" sz="2000" dirty="0">
                <a:latin typeface="Consolas" pitchFamily="49" charset="0"/>
                <a:ea typeface="仿宋" pitchFamily="49" charset="-122"/>
                <a:cs typeface="Consolas" pitchFamily="49" charset="0"/>
              </a:rPr>
              <a:t>给定图中任意指定的顶点（称为初始点</a:t>
            </a:r>
            <a:r>
              <a:rPr kumimoji="1" lang="zh-CN" altLang="en-US" sz="2000">
                <a:latin typeface="Consolas" pitchFamily="49" charset="0"/>
                <a:ea typeface="仿宋" pitchFamily="49" charset="-122"/>
                <a:cs typeface="Consolas" pitchFamily="49" charset="0"/>
              </a:rPr>
              <a:t>）出发，按照</a:t>
            </a:r>
            <a:r>
              <a:rPr kumimoji="1" lang="zh-CN" altLang="en-US" sz="2000" dirty="0">
                <a:solidFill>
                  <a:srgbClr val="C00000"/>
                </a:solidFill>
                <a:latin typeface="Consolas" pitchFamily="49" charset="0"/>
                <a:ea typeface="仿宋" pitchFamily="49" charset="-122"/>
                <a:cs typeface="Consolas" pitchFamily="49" charset="0"/>
              </a:rPr>
              <a:t>某种搜索方法</a:t>
            </a:r>
            <a:r>
              <a:rPr kumimoji="1" lang="zh-CN" altLang="en-US" sz="2000" dirty="0">
                <a:latin typeface="Consolas" pitchFamily="49" charset="0"/>
                <a:ea typeface="仿宋" pitchFamily="49" charset="-122"/>
                <a:cs typeface="Consolas" pitchFamily="49" charset="0"/>
              </a:rPr>
              <a:t>沿着图的边访问图中的</a:t>
            </a:r>
            <a:r>
              <a:rPr kumimoji="1" lang="zh-CN" altLang="en-US" sz="2000">
                <a:solidFill>
                  <a:srgbClr val="FF00FF"/>
                </a:solidFill>
                <a:latin typeface="Consolas" pitchFamily="49" charset="0"/>
                <a:ea typeface="仿宋" pitchFamily="49" charset="-122"/>
                <a:cs typeface="Consolas" pitchFamily="49" charset="0"/>
              </a:rPr>
              <a:t>所有顶点</a:t>
            </a:r>
            <a:r>
              <a:rPr kumimoji="1" lang="zh-CN" altLang="en-US" sz="2000">
                <a:latin typeface="Consolas" pitchFamily="49" charset="0"/>
                <a:ea typeface="仿宋" pitchFamily="49" charset="-122"/>
                <a:cs typeface="Consolas" pitchFamily="49" charset="0"/>
              </a:rPr>
              <a:t>，使</a:t>
            </a:r>
            <a:r>
              <a:rPr kumimoji="1" lang="zh-CN" altLang="en-US" sz="2000" dirty="0">
                <a:solidFill>
                  <a:srgbClr val="FF00FF"/>
                </a:solidFill>
                <a:latin typeface="Consolas" pitchFamily="49" charset="0"/>
                <a:ea typeface="仿宋" pitchFamily="49" charset="-122"/>
                <a:cs typeface="Consolas" pitchFamily="49" charset="0"/>
              </a:rPr>
              <a:t>每个顶点仅被访问</a:t>
            </a:r>
            <a:r>
              <a:rPr kumimoji="1" lang="zh-CN" altLang="en-US" sz="2000">
                <a:solidFill>
                  <a:srgbClr val="FF00FF"/>
                </a:solidFill>
                <a:latin typeface="Consolas" pitchFamily="49" charset="0"/>
                <a:ea typeface="仿宋" pitchFamily="49" charset="-122"/>
                <a:cs typeface="Consolas" pitchFamily="49" charset="0"/>
              </a:rPr>
              <a:t>一次</a:t>
            </a:r>
            <a:r>
              <a:rPr kumimoji="1" lang="zh-CN" altLang="en-US" sz="2000">
                <a:latin typeface="Consolas" pitchFamily="49" charset="0"/>
                <a:ea typeface="仿宋" pitchFamily="49" charset="-122"/>
                <a:cs typeface="Consolas" pitchFamily="49" charset="0"/>
              </a:rPr>
              <a:t>，这个</a:t>
            </a:r>
            <a:r>
              <a:rPr kumimoji="1" lang="zh-CN" altLang="en-US" sz="2000" dirty="0">
                <a:latin typeface="Consolas" pitchFamily="49" charset="0"/>
                <a:ea typeface="仿宋" pitchFamily="49" charset="-122"/>
                <a:cs typeface="Consolas" pitchFamily="49" charset="0"/>
              </a:rPr>
              <a:t>过程称为</a:t>
            </a:r>
            <a:r>
              <a:rPr kumimoji="1" lang="zh-CN" altLang="en-US" sz="2000" dirty="0">
                <a:solidFill>
                  <a:srgbClr val="FF0000"/>
                </a:solidFill>
                <a:latin typeface="方正启体简体" pitchFamily="65" charset="-122"/>
                <a:ea typeface="方正启体简体" pitchFamily="65" charset="-122"/>
                <a:cs typeface="Consolas" pitchFamily="49" charset="0"/>
              </a:rPr>
              <a:t>图的遍历</a:t>
            </a:r>
            <a:r>
              <a:rPr kumimoji="1" lang="zh-CN" altLang="en-US" sz="2000" dirty="0">
                <a:latin typeface="Consolas" pitchFamily="49" charset="0"/>
                <a:ea typeface="仿宋" pitchFamily="49" charset="-122"/>
                <a:cs typeface="Consolas" pitchFamily="49" charset="0"/>
              </a:rPr>
              <a:t>。</a:t>
            </a:r>
            <a:endParaRPr kumimoji="1" lang="en-US" altLang="zh-CN" sz="2000" dirty="0">
              <a:latin typeface="Consolas" pitchFamily="49" charset="0"/>
              <a:ea typeface="仿宋" pitchFamily="49" charset="-122"/>
              <a:cs typeface="Consolas" pitchFamily="49" charset="0"/>
            </a:endParaRPr>
          </a:p>
          <a:p>
            <a:pPr marL="342900" indent="-342900" algn="l">
              <a:lnSpc>
                <a:spcPts val="3000"/>
              </a:lnSpc>
              <a:spcBef>
                <a:spcPts val="1200"/>
              </a:spcBef>
              <a:buBlip>
                <a:blip r:embed="rId2"/>
              </a:buBlip>
            </a:pPr>
            <a:r>
              <a:rPr kumimoji="1" lang="zh-CN" altLang="en-US" sz="2000">
                <a:solidFill>
                  <a:srgbClr val="0000FF"/>
                </a:solidFill>
                <a:latin typeface="Consolas" pitchFamily="49" charset="0"/>
                <a:ea typeface="仿宋" pitchFamily="49" charset="-122"/>
                <a:cs typeface="Consolas" pitchFamily="49" charset="0"/>
              </a:rPr>
              <a:t>图</a:t>
            </a:r>
            <a:r>
              <a:rPr kumimoji="1" lang="zh-CN" altLang="en-US" sz="2000" dirty="0">
                <a:solidFill>
                  <a:srgbClr val="0000FF"/>
                </a:solidFill>
                <a:latin typeface="Consolas" pitchFamily="49" charset="0"/>
                <a:ea typeface="仿宋" pitchFamily="49" charset="-122"/>
                <a:cs typeface="Consolas" pitchFamily="49" charset="0"/>
              </a:rPr>
              <a:t>的遍历得到的顶点序列称为</a:t>
            </a:r>
            <a:r>
              <a:rPr kumimoji="1" lang="zh-CN" altLang="en-US" sz="2000" dirty="0">
                <a:solidFill>
                  <a:srgbClr val="FF0000"/>
                </a:solidFill>
                <a:latin typeface="Consolas" pitchFamily="49" charset="0"/>
                <a:ea typeface="仿宋" pitchFamily="49" charset="-122"/>
                <a:cs typeface="Consolas" pitchFamily="49" charset="0"/>
              </a:rPr>
              <a:t>图遍历序列</a:t>
            </a:r>
            <a:r>
              <a:rPr kumimoji="1" lang="zh-CN" altLang="en-US" sz="2000" dirty="0">
                <a:solidFill>
                  <a:srgbClr val="0000FF"/>
                </a:solidFill>
                <a:latin typeface="Consolas" pitchFamily="49" charset="0"/>
                <a:ea typeface="仿宋" pitchFamily="49" charset="-122"/>
                <a:cs typeface="Consolas" pitchFamily="49" charset="0"/>
              </a:rPr>
              <a:t>。</a:t>
            </a:r>
          </a:p>
        </p:txBody>
      </p:sp>
      <p:sp>
        <p:nvSpPr>
          <p:cNvPr id="8" name="矩形 7">
            <a:extLst>
              <a:ext uri="{FF2B5EF4-FFF2-40B4-BE49-F238E27FC236}">
                <a16:creationId xmlns:a16="http://schemas.microsoft.com/office/drawing/2014/main" id="{DD493198-0DF2-7F9D-F721-17F587BE3746}"/>
              </a:ext>
            </a:extLst>
          </p:cNvPr>
          <p:cNvSpPr/>
          <p:nvPr/>
        </p:nvSpPr>
        <p:spPr>
          <a:xfrm>
            <a:off x="2639617" y="3636631"/>
            <a:ext cx="7488832" cy="830997"/>
          </a:xfrm>
          <a:prstGeom prst="rect">
            <a:avLst/>
          </a:prstGeom>
        </p:spPr>
        <p:txBody>
          <a:bodyPr wrap="square">
            <a:spAutoFit/>
          </a:bodyPr>
          <a:lstStyle/>
          <a:p>
            <a:r>
              <a:rPr kumimoji="1" lang="zh-CN" altLang="en-US" sz="2400" dirty="0">
                <a:latin typeface="微软雅黑" pitchFamily="34" charset="-122"/>
                <a:ea typeface="微软雅黑" pitchFamily="34" charset="-122"/>
                <a:cs typeface="经典粗黑简" pitchFamily="49" charset="-122"/>
              </a:rPr>
              <a:t>从图中某一顶点出发访遍图中其余顶点，且使每一个顶点仅被</a:t>
            </a:r>
            <a:r>
              <a:rPr kumimoji="1" lang="zh-CN" altLang="en-US" sz="2400" dirty="0">
                <a:solidFill>
                  <a:srgbClr val="FF0000"/>
                </a:solidFill>
                <a:latin typeface="微软雅黑" pitchFamily="34" charset="-122"/>
                <a:ea typeface="微软雅黑" pitchFamily="34" charset="-122"/>
                <a:cs typeface="经典粗黑简" pitchFamily="49" charset="-122"/>
              </a:rPr>
              <a:t>访问</a:t>
            </a:r>
            <a:r>
              <a:rPr kumimoji="1" lang="zh-CN" altLang="en-US" sz="2400" dirty="0">
                <a:latin typeface="微软雅黑" pitchFamily="34" charset="-122"/>
                <a:ea typeface="微软雅黑" pitchFamily="34" charset="-122"/>
                <a:cs typeface="经典粗黑简" pitchFamily="49" charset="-122"/>
              </a:rPr>
              <a:t>一次，这一过程就叫做图的遍历。</a:t>
            </a:r>
          </a:p>
        </p:txBody>
      </p:sp>
      <p:grpSp>
        <p:nvGrpSpPr>
          <p:cNvPr id="9" name="组合 8">
            <a:extLst>
              <a:ext uri="{FF2B5EF4-FFF2-40B4-BE49-F238E27FC236}">
                <a16:creationId xmlns:a16="http://schemas.microsoft.com/office/drawing/2014/main" id="{D6CD3D8C-44CF-4C3A-59A6-CB5B81612938}"/>
              </a:ext>
            </a:extLst>
          </p:cNvPr>
          <p:cNvGrpSpPr/>
          <p:nvPr/>
        </p:nvGrpSpPr>
        <p:grpSpPr>
          <a:xfrm>
            <a:off x="2783632" y="4592678"/>
            <a:ext cx="5954712" cy="1169748"/>
            <a:chOff x="793077" y="2891845"/>
            <a:chExt cx="5954712" cy="1169748"/>
          </a:xfrm>
        </p:grpSpPr>
        <p:sp>
          <p:nvSpPr>
            <p:cNvPr id="10" name="Text Box 6">
              <a:extLst>
                <a:ext uri="{FF2B5EF4-FFF2-40B4-BE49-F238E27FC236}">
                  <a16:creationId xmlns:a16="http://schemas.microsoft.com/office/drawing/2014/main" id="{4D4413D1-1AF9-4E58-C9A3-650A5D1060EF}"/>
                </a:ext>
              </a:extLst>
            </p:cNvPr>
            <p:cNvSpPr txBox="1">
              <a:spLocks noChangeArrowheads="1"/>
            </p:cNvSpPr>
            <p:nvPr/>
          </p:nvSpPr>
          <p:spPr bwMode="auto">
            <a:xfrm>
              <a:off x="793077" y="3199581"/>
              <a:ext cx="5954712" cy="862012"/>
            </a:xfrm>
            <a:prstGeom prst="rect">
              <a:avLst/>
            </a:prstGeom>
            <a:noFill/>
            <a:ln w="9525">
              <a:solidFill>
                <a:schemeClr val="hlink"/>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defRPr/>
              </a:pPr>
              <a:r>
                <a:rPr kumimoji="1" lang="zh-CN" altLang="en-US" sz="2000" dirty="0">
                  <a:latin typeface="微软雅黑" pitchFamily="34" charset="-122"/>
                  <a:ea typeface="微软雅黑" pitchFamily="34" charset="-122"/>
                  <a:cs typeface="经典粗黑简" pitchFamily="49" charset="-122"/>
                </a:rPr>
                <a:t>抽象操作，可以是对结点进行的各种处理，</a:t>
              </a:r>
              <a:endParaRPr kumimoji="1" lang="en-US" altLang="zh-CN" sz="2000" dirty="0">
                <a:latin typeface="微软雅黑" pitchFamily="34" charset="-122"/>
                <a:ea typeface="微软雅黑" pitchFamily="34" charset="-122"/>
                <a:cs typeface="经典粗黑简" pitchFamily="49" charset="-122"/>
              </a:endParaRPr>
            </a:p>
            <a:p>
              <a:pPr>
                <a:spcBef>
                  <a:spcPct val="50000"/>
                </a:spcBef>
                <a:defRPr/>
              </a:pPr>
              <a:r>
                <a:rPr kumimoji="1" lang="zh-CN" altLang="en-US" sz="2000" dirty="0">
                  <a:latin typeface="微软雅黑" pitchFamily="34" charset="-122"/>
                  <a:ea typeface="微软雅黑" pitchFamily="34" charset="-122"/>
                  <a:cs typeface="经典粗黑简" pitchFamily="49" charset="-122"/>
                </a:rPr>
                <a:t>这里简化为输出结点的数据。</a:t>
              </a:r>
            </a:p>
          </p:txBody>
        </p:sp>
        <p:sp>
          <p:nvSpPr>
            <p:cNvPr id="11" name="AutoShape 7">
              <a:extLst>
                <a:ext uri="{FF2B5EF4-FFF2-40B4-BE49-F238E27FC236}">
                  <a16:creationId xmlns:a16="http://schemas.microsoft.com/office/drawing/2014/main" id="{5880F818-5684-4BE6-F53F-69B37C12C6E1}"/>
                </a:ext>
              </a:extLst>
            </p:cNvPr>
            <p:cNvSpPr>
              <a:spLocks noChangeArrowheads="1"/>
            </p:cNvSpPr>
            <p:nvPr/>
          </p:nvSpPr>
          <p:spPr bwMode="auto">
            <a:xfrm>
              <a:off x="2106290" y="2891845"/>
              <a:ext cx="521494" cy="265112"/>
            </a:xfrm>
            <a:prstGeom prst="downArrow">
              <a:avLst>
                <a:gd name="adj1" fmla="val 50000"/>
                <a:gd name="adj2" fmla="val 41518"/>
              </a:avLst>
            </a:prstGeom>
            <a:solidFill>
              <a:srgbClr val="FF0000"/>
            </a:solidFill>
            <a:ln w="9525">
              <a:solidFill>
                <a:srgbClr val="000000"/>
              </a:solidFill>
              <a:miter lim="800000"/>
              <a:headEnd/>
              <a:tailEnd/>
            </a:ln>
            <a:effectLst/>
          </p:spPr>
          <p:txBody>
            <a:bodyPr wrap="none" anchor="ctr"/>
            <a:lstStyle>
              <a:lvl1pPr eaLnBrk="0" hangingPunct="0">
                <a:defRPr sz="1600" b="1">
                  <a:solidFill>
                    <a:schemeClr val="tx1"/>
                  </a:solidFill>
                  <a:latin typeface="Tahoma" panose="020B0604030504040204" pitchFamily="34" charset="0"/>
                  <a:ea typeface="宋体" panose="02010600030101010101" pitchFamily="2" charset="-122"/>
                </a:defRPr>
              </a:lvl1pPr>
              <a:lvl2pPr marL="742950" indent="-285750" eaLnBrk="0" hangingPunct="0">
                <a:defRPr sz="1600" b="1">
                  <a:solidFill>
                    <a:schemeClr val="tx1"/>
                  </a:solidFill>
                  <a:latin typeface="Tahoma" panose="020B0604030504040204" pitchFamily="34" charset="0"/>
                  <a:ea typeface="宋体" panose="02010600030101010101" pitchFamily="2" charset="-122"/>
                </a:defRPr>
              </a:lvl2pPr>
              <a:lvl3pPr marL="1143000" indent="-228600" eaLnBrk="0" hangingPunct="0">
                <a:defRPr sz="1600" b="1">
                  <a:solidFill>
                    <a:schemeClr val="tx1"/>
                  </a:solidFill>
                  <a:latin typeface="Tahoma" panose="020B0604030504040204" pitchFamily="34" charset="0"/>
                  <a:ea typeface="宋体" panose="02010600030101010101" pitchFamily="2" charset="-122"/>
                </a:defRPr>
              </a:lvl3pPr>
              <a:lvl4pPr marL="1600200" indent="-228600" eaLnBrk="0" hangingPunct="0">
                <a:defRPr sz="1600" b="1">
                  <a:solidFill>
                    <a:schemeClr val="tx1"/>
                  </a:solidFill>
                  <a:latin typeface="Tahoma" panose="020B0604030504040204" pitchFamily="34" charset="0"/>
                  <a:ea typeface="宋体" panose="02010600030101010101" pitchFamily="2" charset="-122"/>
                </a:defRPr>
              </a:lvl4pPr>
              <a:lvl5pPr marL="2057400" indent="-228600" eaLnBrk="0" hangingPunct="0">
                <a:defRPr sz="16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Tahoma" panose="020B0604030504040204" pitchFamily="34" charset="0"/>
                  <a:ea typeface="宋体" panose="02010600030101010101" pitchFamily="2" charset="-122"/>
                </a:defRPr>
              </a:lvl9pPr>
            </a:lstStyle>
            <a:p>
              <a:pPr eaLnBrk="1" hangingPunct="1"/>
              <a:endParaRPr lang="zh-CN" altLang="en-US" sz="2000">
                <a:solidFill>
                  <a:schemeClr val="tx2">
                    <a:lumMod val="75000"/>
                  </a:schemeClr>
                </a:solidFill>
                <a:latin typeface="微软雅黑" panose="020B0503020204020204" pitchFamily="34" charset="-122"/>
                <a:ea typeface="微软雅黑" panose="020B0503020204020204" pitchFamily="34" charset="-122"/>
              </a:endParaRPr>
            </a:p>
          </p:txBody>
        </p:sp>
      </p:grpSp>
    </p:spTree>
    <p:extLst>
      <p:ext uri="{BB962C8B-B14F-4D97-AF65-F5344CB8AC3E}">
        <p14:creationId xmlns:p14="http://schemas.microsoft.com/office/powerpoint/2010/main" val="37714872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278796" y="2060849"/>
            <a:ext cx="7920880" cy="830997"/>
          </a:xfrm>
          <a:prstGeom prst="rect">
            <a:avLst/>
          </a:prstGeom>
        </p:spPr>
        <p:txBody>
          <a:bodyPr wrap="square">
            <a:spAutoFit/>
          </a:bodyPr>
          <a:lstStyle/>
          <a:p>
            <a:r>
              <a:rPr kumimoji="1" lang="zh-CN" altLang="en-US" sz="2400" dirty="0">
                <a:latin typeface="微软雅黑" pitchFamily="34" charset="-122"/>
                <a:ea typeface="微软雅黑" pitchFamily="34" charset="-122"/>
                <a:cs typeface="经典粗黑简" pitchFamily="49" charset="-122"/>
              </a:rPr>
              <a:t>       从图中某一顶点出发访遍图中其余顶点，且使每一个顶点仅被</a:t>
            </a:r>
            <a:r>
              <a:rPr kumimoji="1" lang="zh-CN" altLang="en-US" sz="2400" dirty="0">
                <a:solidFill>
                  <a:srgbClr val="FF0000"/>
                </a:solidFill>
                <a:latin typeface="微软雅黑" pitchFamily="34" charset="-122"/>
                <a:ea typeface="微软雅黑" pitchFamily="34" charset="-122"/>
                <a:cs typeface="经典粗黑简" pitchFamily="49" charset="-122"/>
              </a:rPr>
              <a:t>访问</a:t>
            </a:r>
            <a:r>
              <a:rPr kumimoji="1" lang="zh-CN" altLang="en-US" sz="2400" dirty="0">
                <a:latin typeface="微软雅黑" pitchFamily="34" charset="-122"/>
                <a:ea typeface="微软雅黑" pitchFamily="34" charset="-122"/>
                <a:cs typeface="经典粗黑简" pitchFamily="49" charset="-122"/>
              </a:rPr>
              <a:t>一次，这一过程就叫做图的遍历。</a:t>
            </a:r>
          </a:p>
        </p:txBody>
      </p:sp>
      <p:sp>
        <p:nvSpPr>
          <p:cNvPr id="5" name="矩形 4"/>
          <p:cNvSpPr/>
          <p:nvPr/>
        </p:nvSpPr>
        <p:spPr>
          <a:xfrm>
            <a:off x="4288525" y="4175049"/>
            <a:ext cx="4493538" cy="461665"/>
          </a:xfrm>
          <a:prstGeom prst="rect">
            <a:avLst/>
          </a:prstGeom>
        </p:spPr>
        <p:txBody>
          <a:bodyPr wrap="none">
            <a:spAutoFit/>
          </a:bodyPr>
          <a:lstStyle/>
          <a:p>
            <a:r>
              <a:rPr kumimoji="1" lang="zh-CN" altLang="en-US" sz="2400" dirty="0">
                <a:latin typeface="微软雅黑" pitchFamily="34" charset="-122"/>
                <a:ea typeface="微软雅黑" pitchFamily="34" charset="-122"/>
                <a:cs typeface="经典粗黑简" pitchFamily="49" charset="-122"/>
              </a:rPr>
              <a:t>深度优先遍历（深度优先搜索）</a:t>
            </a:r>
          </a:p>
        </p:txBody>
      </p:sp>
      <p:sp>
        <p:nvSpPr>
          <p:cNvPr id="6" name="矩形 5"/>
          <p:cNvSpPr/>
          <p:nvPr/>
        </p:nvSpPr>
        <p:spPr>
          <a:xfrm>
            <a:off x="4288525" y="4823121"/>
            <a:ext cx="4493538" cy="461665"/>
          </a:xfrm>
          <a:prstGeom prst="rect">
            <a:avLst/>
          </a:prstGeom>
        </p:spPr>
        <p:txBody>
          <a:bodyPr wrap="none">
            <a:spAutoFit/>
          </a:bodyPr>
          <a:lstStyle/>
          <a:p>
            <a:r>
              <a:rPr kumimoji="1" lang="zh-CN" altLang="en-US" sz="2400" dirty="0">
                <a:latin typeface="微软雅黑" pitchFamily="34" charset="-122"/>
                <a:ea typeface="微软雅黑" pitchFamily="34" charset="-122"/>
                <a:cs typeface="经典粗黑简" pitchFamily="49" charset="-122"/>
              </a:rPr>
              <a:t>广度优先遍历（广度优先搜索）</a:t>
            </a:r>
          </a:p>
        </p:txBody>
      </p:sp>
      <p:sp>
        <p:nvSpPr>
          <p:cNvPr id="3" name="矩形 2"/>
          <p:cNvSpPr/>
          <p:nvPr/>
        </p:nvSpPr>
        <p:spPr>
          <a:xfrm>
            <a:off x="2415537" y="3543400"/>
            <a:ext cx="6768752" cy="461665"/>
          </a:xfrm>
          <a:prstGeom prst="rect">
            <a:avLst/>
          </a:prstGeom>
        </p:spPr>
        <p:txBody>
          <a:bodyPr wrap="square">
            <a:spAutoFit/>
          </a:bodyPr>
          <a:lstStyle/>
          <a:p>
            <a:r>
              <a:rPr kumimoji="1" lang="zh-CN" altLang="en-US" sz="2400" dirty="0">
                <a:latin typeface="微软雅黑" pitchFamily="34" charset="-122"/>
                <a:ea typeface="微软雅黑" pitchFamily="34" charset="-122"/>
                <a:cs typeface="经典粗黑简" pitchFamily="49" charset="-122"/>
              </a:rPr>
              <a:t>根据遍历路径的不同，通常有两种遍历图的方法：</a:t>
            </a:r>
          </a:p>
        </p:txBody>
      </p:sp>
      <p:sp>
        <p:nvSpPr>
          <p:cNvPr id="10" name="矩形 9"/>
          <p:cNvSpPr/>
          <p:nvPr/>
        </p:nvSpPr>
        <p:spPr>
          <a:xfrm>
            <a:off x="2937591" y="2996953"/>
            <a:ext cx="5724644" cy="461665"/>
          </a:xfrm>
          <a:prstGeom prst="rect">
            <a:avLst/>
          </a:prstGeom>
        </p:spPr>
        <p:txBody>
          <a:bodyPr wrap="none">
            <a:spAutoFit/>
          </a:bodyPr>
          <a:lstStyle/>
          <a:p>
            <a:r>
              <a:rPr kumimoji="1" lang="zh-CN" altLang="en-US" sz="2400" dirty="0">
                <a:latin typeface="微软雅黑" pitchFamily="34" charset="-122"/>
                <a:ea typeface="微软雅黑" pitchFamily="34" charset="-122"/>
                <a:cs typeface="经典粗黑简" pitchFamily="49" charset="-122"/>
              </a:rPr>
              <a:t>解决方案：深度优先遍历和广度优先遍历</a:t>
            </a:r>
          </a:p>
        </p:txBody>
      </p:sp>
      <p:sp>
        <p:nvSpPr>
          <p:cNvPr id="4" name="Rectangle 2">
            <a:extLst>
              <a:ext uri="{FF2B5EF4-FFF2-40B4-BE49-F238E27FC236}">
                <a16:creationId xmlns:a16="http://schemas.microsoft.com/office/drawing/2014/main" id="{8E354440-7B11-87B3-9127-EDBA0C66812B}"/>
              </a:ext>
            </a:extLst>
          </p:cNvPr>
          <p:cNvSpPr txBox="1">
            <a:spLocks noChangeArrowheads="1"/>
          </p:cNvSpPr>
          <p:nvPr/>
        </p:nvSpPr>
        <p:spPr>
          <a:xfrm>
            <a:off x="474772" y="1230902"/>
            <a:ext cx="4901148"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8.3.1 </a:t>
            </a:r>
            <a:r>
              <a:rPr kumimoji="1" lang="zh-CN" altLang="en-US" dirty="0">
                <a:latin typeface="微软雅黑" pitchFamily="34" charset="-122"/>
                <a:ea typeface="微软雅黑" pitchFamily="34" charset="-122"/>
              </a:rPr>
              <a:t>图的遍历的概念</a:t>
            </a:r>
            <a:endParaRPr lang="zh-CN" altLang="en-US" dirty="0"/>
          </a:p>
        </p:txBody>
      </p:sp>
      <p:sp>
        <p:nvSpPr>
          <p:cNvPr id="7" name="矩形 6">
            <a:extLst>
              <a:ext uri="{FF2B5EF4-FFF2-40B4-BE49-F238E27FC236}">
                <a16:creationId xmlns:a16="http://schemas.microsoft.com/office/drawing/2014/main" id="{DD0AB6D4-9A10-B608-5B64-E0603D69A1A9}"/>
              </a:ext>
            </a:extLst>
          </p:cNvPr>
          <p:cNvSpPr/>
          <p:nvPr/>
        </p:nvSpPr>
        <p:spPr>
          <a:xfrm>
            <a:off x="3200907" y="399148"/>
            <a:ext cx="4617860"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8.3 </a:t>
            </a:r>
            <a:r>
              <a:rPr lang="zh-CN" altLang="en-US" sz="3000" b="1" dirty="0">
                <a:latin typeface="黑体" pitchFamily="49" charset="-122"/>
                <a:ea typeface="黑体" pitchFamily="49" charset="-122"/>
                <a:cs typeface="经典粗黑简" pitchFamily="49" charset="-122"/>
              </a:rPr>
              <a:t>图的遍历</a:t>
            </a:r>
          </a:p>
        </p:txBody>
      </p:sp>
      <p:cxnSp>
        <p:nvCxnSpPr>
          <p:cNvPr id="12" name="直接连接符 11">
            <a:extLst>
              <a:ext uri="{FF2B5EF4-FFF2-40B4-BE49-F238E27FC236}">
                <a16:creationId xmlns:a16="http://schemas.microsoft.com/office/drawing/2014/main" id="{9A8027CA-8200-A62E-0B7E-72994F5A36DC}"/>
              </a:ext>
            </a:extLst>
          </p:cNvPr>
          <p:cNvCxnSpPr>
            <a:cxnSpLocks/>
          </p:cNvCxnSpPr>
          <p:nvPr/>
        </p:nvCxnSpPr>
        <p:spPr>
          <a:xfrm>
            <a:off x="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180166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3" grpId="0"/>
      <p:bldP spid="10"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415480" y="2420888"/>
            <a:ext cx="8856984" cy="2419124"/>
          </a:xfrm>
          <a:prstGeom prst="rect">
            <a:avLst/>
          </a:prstGeom>
        </p:spPr>
        <p:txBody>
          <a:bodyPr wrap="square">
            <a:spAutoFit/>
          </a:bodyPr>
          <a:lstStyle/>
          <a:p>
            <a:pPr>
              <a:lnSpc>
                <a:spcPct val="90000"/>
              </a:lnSpc>
            </a:pPr>
            <a:r>
              <a:rPr kumimoji="1" lang="zh-CN" altLang="en-US" sz="2400" dirty="0">
                <a:latin typeface="微软雅黑" pitchFamily="34" charset="-122"/>
                <a:ea typeface="微软雅黑" pitchFamily="34" charset="-122"/>
                <a:cs typeface="经典粗黑简" pitchFamily="49" charset="-122"/>
              </a:rPr>
              <a:t>基本思想：</a:t>
            </a:r>
          </a:p>
          <a:p>
            <a:pPr>
              <a:lnSpc>
                <a:spcPct val="90000"/>
              </a:lnSpc>
            </a:pPr>
            <a:r>
              <a:rPr kumimoji="1" lang="zh-CN" altLang="en-US" sz="2400" dirty="0">
                <a:latin typeface="微软雅黑" pitchFamily="34" charset="-122"/>
                <a:ea typeface="微软雅黑" pitchFamily="34" charset="-122"/>
                <a:cs typeface="经典粗黑简" pitchFamily="49" charset="-122"/>
              </a:rPr>
              <a:t>       假设初始状态是图中所有顶点未曾被访问，则深度优先遍历可以从图中某个顶点</a:t>
            </a:r>
            <a:r>
              <a:rPr kumimoji="1" lang="en-US" altLang="zh-CN" sz="2400" dirty="0">
                <a:latin typeface="微软雅黑" pitchFamily="34" charset="-122"/>
                <a:ea typeface="微软雅黑" pitchFamily="34" charset="-122"/>
                <a:cs typeface="经典粗黑简" pitchFamily="49" charset="-122"/>
              </a:rPr>
              <a:t>v</a:t>
            </a:r>
            <a:r>
              <a:rPr kumimoji="1" lang="zh-CN" altLang="en-US" sz="2400" dirty="0">
                <a:latin typeface="微软雅黑" pitchFamily="34" charset="-122"/>
                <a:ea typeface="微软雅黑" pitchFamily="34" charset="-122"/>
                <a:cs typeface="经典粗黑简" pitchFamily="49" charset="-122"/>
              </a:rPr>
              <a:t>出发，访问此顶点，然后依次从</a:t>
            </a:r>
            <a:r>
              <a:rPr kumimoji="1" lang="en-US" altLang="zh-CN" sz="2400" dirty="0">
                <a:latin typeface="微软雅黑" pitchFamily="34" charset="-122"/>
                <a:ea typeface="微软雅黑" pitchFamily="34" charset="-122"/>
                <a:cs typeface="经典粗黑简" pitchFamily="49" charset="-122"/>
              </a:rPr>
              <a:t>v</a:t>
            </a:r>
            <a:r>
              <a:rPr kumimoji="1" lang="zh-CN" altLang="en-US" sz="2400" dirty="0">
                <a:latin typeface="微软雅黑" pitchFamily="34" charset="-122"/>
                <a:ea typeface="微软雅黑" pitchFamily="34" charset="-122"/>
                <a:cs typeface="经典粗黑简" pitchFamily="49" charset="-122"/>
              </a:rPr>
              <a:t>的未被访问的邻接到出发深度优先遍历图，直到图中所有和</a:t>
            </a:r>
            <a:r>
              <a:rPr kumimoji="1" lang="en-US" altLang="zh-CN" sz="2400" dirty="0">
                <a:latin typeface="微软雅黑" pitchFamily="34" charset="-122"/>
                <a:ea typeface="微软雅黑" pitchFamily="34" charset="-122"/>
                <a:cs typeface="经典粗黑简" pitchFamily="49" charset="-122"/>
              </a:rPr>
              <a:t>v</a:t>
            </a:r>
            <a:r>
              <a:rPr kumimoji="1" lang="zh-CN" altLang="en-US" sz="2400" dirty="0">
                <a:latin typeface="微软雅黑" pitchFamily="34" charset="-122"/>
                <a:ea typeface="微软雅黑" pitchFamily="34" charset="-122"/>
                <a:cs typeface="经典粗黑简" pitchFamily="49" charset="-122"/>
              </a:rPr>
              <a:t>有路径相通的顶点都被访问到；若此时图中尚有顶点未被访问，则另选图中一个未曾被访问的顶点作为起始点，重复上述过程，直到图中所有顶点都被访问到为止。</a:t>
            </a:r>
          </a:p>
        </p:txBody>
      </p:sp>
      <p:sp>
        <p:nvSpPr>
          <p:cNvPr id="4" name="Rectangle 2">
            <a:extLst>
              <a:ext uri="{FF2B5EF4-FFF2-40B4-BE49-F238E27FC236}">
                <a16:creationId xmlns:a16="http://schemas.microsoft.com/office/drawing/2014/main" id="{43A5EDA4-26CA-23C6-9C58-7E58182B1ECD}"/>
              </a:ext>
            </a:extLst>
          </p:cNvPr>
          <p:cNvSpPr txBox="1">
            <a:spLocks noChangeArrowheads="1"/>
          </p:cNvSpPr>
          <p:nvPr/>
        </p:nvSpPr>
        <p:spPr>
          <a:xfrm>
            <a:off x="474772" y="1230902"/>
            <a:ext cx="4253076"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8.3.2 </a:t>
            </a:r>
            <a:r>
              <a:rPr kumimoji="1" lang="zh-CN" altLang="en-US" dirty="0">
                <a:latin typeface="微软雅黑" pitchFamily="34" charset="-122"/>
                <a:ea typeface="微软雅黑" pitchFamily="34" charset="-122"/>
              </a:rPr>
              <a:t>深度优先遍历算法</a:t>
            </a:r>
            <a:endParaRPr lang="zh-CN" altLang="en-US" dirty="0"/>
          </a:p>
        </p:txBody>
      </p:sp>
      <p:sp>
        <p:nvSpPr>
          <p:cNvPr id="5" name="矩形 4">
            <a:extLst>
              <a:ext uri="{FF2B5EF4-FFF2-40B4-BE49-F238E27FC236}">
                <a16:creationId xmlns:a16="http://schemas.microsoft.com/office/drawing/2014/main" id="{4E6C6E9B-8745-621C-2191-D50FC8B3048B}"/>
              </a:ext>
            </a:extLst>
          </p:cNvPr>
          <p:cNvSpPr/>
          <p:nvPr/>
        </p:nvSpPr>
        <p:spPr>
          <a:xfrm>
            <a:off x="3200907" y="399148"/>
            <a:ext cx="4617860"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8.3 </a:t>
            </a:r>
            <a:r>
              <a:rPr lang="zh-CN" altLang="en-US" sz="3000" b="1" dirty="0">
                <a:latin typeface="黑体" pitchFamily="49" charset="-122"/>
                <a:ea typeface="黑体" pitchFamily="49" charset="-122"/>
                <a:cs typeface="经典粗黑简" pitchFamily="49" charset="-122"/>
              </a:rPr>
              <a:t>图的遍历</a:t>
            </a:r>
          </a:p>
        </p:txBody>
      </p:sp>
      <p:cxnSp>
        <p:nvCxnSpPr>
          <p:cNvPr id="6" name="直接连接符 5">
            <a:extLst>
              <a:ext uri="{FF2B5EF4-FFF2-40B4-BE49-F238E27FC236}">
                <a16:creationId xmlns:a16="http://schemas.microsoft.com/office/drawing/2014/main" id="{E31CED81-A836-34A2-6215-23CFDA03286B}"/>
              </a:ext>
            </a:extLst>
          </p:cNvPr>
          <p:cNvCxnSpPr>
            <a:cxnSpLocks/>
          </p:cNvCxnSpPr>
          <p:nvPr/>
        </p:nvCxnSpPr>
        <p:spPr>
          <a:xfrm>
            <a:off x="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169959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p:cNvSpPr txBox="1">
            <a:spLocks/>
          </p:cNvSpPr>
          <p:nvPr/>
        </p:nvSpPr>
        <p:spPr>
          <a:xfrm>
            <a:off x="2063690" y="5229200"/>
            <a:ext cx="6912631" cy="359122"/>
          </a:xfrm>
          <a:prstGeom prst="rect">
            <a:avLst/>
          </a:prstGeom>
        </p:spPr>
        <p:txBody>
          <a:bodyPr vert="horz" lIns="91440" tIns="45720" rIns="91440" bIns="45720" rtlCol="0">
            <a:normAutofit lnSpcReduction="1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ct val="80000"/>
              </a:lnSpc>
              <a:buFont typeface="Wingdings" pitchFamily="2" charset="2"/>
              <a:buNone/>
            </a:pPr>
            <a:r>
              <a:rPr kumimoji="1" lang="zh-CN" altLang="en-US" sz="2400" dirty="0">
                <a:latin typeface="微软雅黑" pitchFamily="34" charset="-122"/>
                <a:ea typeface="微软雅黑" pitchFamily="34" charset="-122"/>
                <a:cs typeface="经典粗黑简" pitchFamily="49" charset="-122"/>
              </a:rPr>
              <a:t>从</a:t>
            </a:r>
            <a:r>
              <a:rPr kumimoji="1" lang="en-US" altLang="zh-CN" sz="2400" dirty="0">
                <a:latin typeface="微软雅黑" pitchFamily="34" charset="-122"/>
                <a:ea typeface="微软雅黑" pitchFamily="34" charset="-122"/>
                <a:cs typeface="经典粗黑简" pitchFamily="49" charset="-122"/>
              </a:rPr>
              <a:t>v1</a:t>
            </a:r>
            <a:r>
              <a:rPr kumimoji="1" lang="zh-CN" altLang="en-US" sz="2400" dirty="0">
                <a:latin typeface="微软雅黑" pitchFamily="34" charset="-122"/>
                <a:ea typeface="微软雅黑" pitchFamily="34" charset="-122"/>
                <a:cs typeface="经典粗黑简" pitchFamily="49" charset="-122"/>
              </a:rPr>
              <a:t>出发进行深度优先遍历所得到的遍历序列为：</a:t>
            </a:r>
          </a:p>
        </p:txBody>
      </p:sp>
      <p:sp>
        <p:nvSpPr>
          <p:cNvPr id="7" name="Oval 3"/>
          <p:cNvSpPr>
            <a:spLocks noChangeArrowheads="1"/>
          </p:cNvSpPr>
          <p:nvPr/>
        </p:nvSpPr>
        <p:spPr bwMode="auto">
          <a:xfrm>
            <a:off x="9192146" y="3500463"/>
            <a:ext cx="576262" cy="576262"/>
          </a:xfrm>
          <a:prstGeom prst="ellipse">
            <a:avLst/>
          </a:prstGeom>
          <a:solidFill>
            <a:schemeClr val="bg1"/>
          </a:solidFill>
          <a:ln w="28575" cap="sq">
            <a:solidFill>
              <a:srgbClr val="006666"/>
            </a:solidFill>
            <a:miter lim="800000"/>
            <a:headEnd type="none" w="sm" len="sm"/>
            <a:tailEnd type="none" w="sm" len="sm"/>
          </a:ln>
        </p:spPr>
        <p:txBody>
          <a:bodyPr wrap="none" anchor="ctr"/>
          <a:lstStyle/>
          <a:p>
            <a:r>
              <a:rPr lang="en-US" altLang="zh-CN" sz="3200"/>
              <a:t>v</a:t>
            </a:r>
            <a:r>
              <a:rPr lang="en-US" altLang="zh-CN" sz="3200" baseline="-25000"/>
              <a:t>7</a:t>
            </a:r>
          </a:p>
        </p:txBody>
      </p:sp>
      <p:sp>
        <p:nvSpPr>
          <p:cNvPr id="8" name="Oval 4"/>
          <p:cNvSpPr>
            <a:spLocks noChangeArrowheads="1"/>
          </p:cNvSpPr>
          <p:nvPr/>
        </p:nvSpPr>
        <p:spPr bwMode="auto">
          <a:xfrm>
            <a:off x="5664721" y="3500463"/>
            <a:ext cx="576262" cy="576262"/>
          </a:xfrm>
          <a:prstGeom prst="ellipse">
            <a:avLst/>
          </a:prstGeom>
          <a:solidFill>
            <a:schemeClr val="bg1"/>
          </a:solidFill>
          <a:ln w="28575" cap="sq">
            <a:solidFill>
              <a:srgbClr val="006666"/>
            </a:solidFill>
            <a:miter lim="800000"/>
            <a:headEnd type="none" w="sm" len="sm"/>
            <a:tailEnd type="none" w="sm" len="sm"/>
          </a:ln>
        </p:spPr>
        <p:txBody>
          <a:bodyPr wrap="none" anchor="ctr"/>
          <a:lstStyle/>
          <a:p>
            <a:r>
              <a:rPr lang="en-US" altLang="zh-CN" sz="3200"/>
              <a:t>v</a:t>
            </a:r>
            <a:r>
              <a:rPr lang="en-US" altLang="zh-CN" sz="3200" baseline="-25000"/>
              <a:t>5</a:t>
            </a:r>
          </a:p>
        </p:txBody>
      </p:sp>
      <p:sp>
        <p:nvSpPr>
          <p:cNvPr id="9" name="Oval 5"/>
          <p:cNvSpPr>
            <a:spLocks noChangeArrowheads="1"/>
          </p:cNvSpPr>
          <p:nvPr/>
        </p:nvSpPr>
        <p:spPr bwMode="auto">
          <a:xfrm>
            <a:off x="7393509" y="3500463"/>
            <a:ext cx="576263" cy="576262"/>
          </a:xfrm>
          <a:prstGeom prst="ellipse">
            <a:avLst/>
          </a:prstGeom>
          <a:solidFill>
            <a:schemeClr val="bg1"/>
          </a:solidFill>
          <a:ln w="28575" cap="sq">
            <a:solidFill>
              <a:srgbClr val="006666"/>
            </a:solidFill>
            <a:miter lim="800000"/>
            <a:headEnd type="none" w="sm" len="sm"/>
            <a:tailEnd type="none" w="sm" len="sm"/>
          </a:ln>
        </p:spPr>
        <p:txBody>
          <a:bodyPr wrap="none" anchor="ctr"/>
          <a:lstStyle/>
          <a:p>
            <a:r>
              <a:rPr lang="en-US" altLang="zh-CN" sz="3200"/>
              <a:t>v</a:t>
            </a:r>
            <a:r>
              <a:rPr lang="en-US" altLang="zh-CN" sz="3200" baseline="-25000"/>
              <a:t>6</a:t>
            </a:r>
          </a:p>
        </p:txBody>
      </p:sp>
      <p:sp>
        <p:nvSpPr>
          <p:cNvPr id="11" name="Oval 6"/>
          <p:cNvSpPr>
            <a:spLocks noChangeArrowheads="1"/>
          </p:cNvSpPr>
          <p:nvPr/>
        </p:nvSpPr>
        <p:spPr bwMode="auto">
          <a:xfrm>
            <a:off x="5088459" y="2565426"/>
            <a:ext cx="576263" cy="576263"/>
          </a:xfrm>
          <a:prstGeom prst="ellipse">
            <a:avLst/>
          </a:prstGeom>
          <a:solidFill>
            <a:schemeClr val="bg1"/>
          </a:solidFill>
          <a:ln w="28575" cap="sq">
            <a:solidFill>
              <a:srgbClr val="006666"/>
            </a:solidFill>
            <a:miter lim="800000"/>
            <a:headEnd type="none" w="sm" len="sm"/>
            <a:tailEnd type="none" w="sm" len="sm"/>
          </a:ln>
        </p:spPr>
        <p:txBody>
          <a:bodyPr wrap="none" anchor="ctr"/>
          <a:lstStyle/>
          <a:p>
            <a:r>
              <a:rPr lang="en-US" altLang="zh-CN" sz="3200"/>
              <a:t>v</a:t>
            </a:r>
            <a:r>
              <a:rPr lang="en-US" altLang="zh-CN" sz="3200" baseline="-25000"/>
              <a:t>2</a:t>
            </a:r>
          </a:p>
        </p:txBody>
      </p:sp>
      <p:sp>
        <p:nvSpPr>
          <p:cNvPr id="12" name="Oval 7"/>
          <p:cNvSpPr>
            <a:spLocks noChangeArrowheads="1"/>
          </p:cNvSpPr>
          <p:nvPr/>
        </p:nvSpPr>
        <p:spPr bwMode="auto">
          <a:xfrm>
            <a:off x="8185671" y="2565426"/>
            <a:ext cx="576262" cy="576263"/>
          </a:xfrm>
          <a:prstGeom prst="ellipse">
            <a:avLst/>
          </a:prstGeom>
          <a:solidFill>
            <a:schemeClr val="bg1"/>
          </a:solidFill>
          <a:ln w="28575" cap="sq">
            <a:solidFill>
              <a:srgbClr val="006666"/>
            </a:solidFill>
            <a:miter lim="800000"/>
            <a:headEnd type="none" w="sm" len="sm"/>
            <a:tailEnd type="none" w="sm" len="sm"/>
          </a:ln>
        </p:spPr>
        <p:txBody>
          <a:bodyPr wrap="none" anchor="ctr"/>
          <a:lstStyle/>
          <a:p>
            <a:r>
              <a:rPr lang="en-US" altLang="zh-CN" sz="3200"/>
              <a:t>v</a:t>
            </a:r>
            <a:r>
              <a:rPr lang="en-US" altLang="zh-CN" sz="3200" baseline="-25000"/>
              <a:t>3</a:t>
            </a:r>
          </a:p>
        </p:txBody>
      </p:sp>
      <p:sp>
        <p:nvSpPr>
          <p:cNvPr id="13" name="Oval 8"/>
          <p:cNvSpPr>
            <a:spLocks noChangeArrowheads="1"/>
          </p:cNvSpPr>
          <p:nvPr/>
        </p:nvSpPr>
        <p:spPr bwMode="auto">
          <a:xfrm>
            <a:off x="6528321" y="1628801"/>
            <a:ext cx="576262" cy="576263"/>
          </a:xfrm>
          <a:prstGeom prst="ellipse">
            <a:avLst/>
          </a:prstGeom>
          <a:solidFill>
            <a:schemeClr val="bg1"/>
          </a:solidFill>
          <a:ln w="28575" cap="sq">
            <a:solidFill>
              <a:srgbClr val="006666"/>
            </a:solidFill>
            <a:miter lim="800000"/>
            <a:headEnd type="none" w="sm" len="sm"/>
            <a:tailEnd type="none" w="sm" len="sm"/>
          </a:ln>
        </p:spPr>
        <p:txBody>
          <a:bodyPr wrap="none" anchor="ctr"/>
          <a:lstStyle/>
          <a:p>
            <a:r>
              <a:rPr lang="en-US" altLang="zh-CN" sz="3200"/>
              <a:t>v</a:t>
            </a:r>
            <a:r>
              <a:rPr lang="en-US" altLang="zh-CN" sz="3200" baseline="-25000"/>
              <a:t>1</a:t>
            </a:r>
          </a:p>
        </p:txBody>
      </p:sp>
      <p:sp>
        <p:nvSpPr>
          <p:cNvPr id="14" name="Line 9"/>
          <p:cNvSpPr>
            <a:spLocks noChangeShapeType="1"/>
          </p:cNvSpPr>
          <p:nvPr/>
        </p:nvSpPr>
        <p:spPr bwMode="auto">
          <a:xfrm>
            <a:off x="7104583" y="1916139"/>
            <a:ext cx="1187450" cy="720725"/>
          </a:xfrm>
          <a:prstGeom prst="line">
            <a:avLst/>
          </a:prstGeom>
          <a:noFill/>
          <a:ln w="28575" cap="sq">
            <a:solidFill>
              <a:srgbClr val="006666"/>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5" name="Line 10"/>
          <p:cNvSpPr>
            <a:spLocks noChangeShapeType="1"/>
          </p:cNvSpPr>
          <p:nvPr/>
        </p:nvSpPr>
        <p:spPr bwMode="auto">
          <a:xfrm flipH="1">
            <a:off x="7753871" y="2997225"/>
            <a:ext cx="431800" cy="503238"/>
          </a:xfrm>
          <a:prstGeom prst="line">
            <a:avLst/>
          </a:prstGeom>
          <a:noFill/>
          <a:ln w="28575" cap="sq">
            <a:solidFill>
              <a:srgbClr val="006666"/>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6" name="Line 11"/>
          <p:cNvSpPr>
            <a:spLocks noChangeShapeType="1"/>
          </p:cNvSpPr>
          <p:nvPr/>
        </p:nvSpPr>
        <p:spPr bwMode="auto">
          <a:xfrm flipH="1">
            <a:off x="5556771" y="1916139"/>
            <a:ext cx="971550" cy="720725"/>
          </a:xfrm>
          <a:prstGeom prst="line">
            <a:avLst/>
          </a:prstGeom>
          <a:noFill/>
          <a:ln w="28575" cap="sq">
            <a:solidFill>
              <a:srgbClr val="006666"/>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7" name="Line 12"/>
          <p:cNvSpPr>
            <a:spLocks noChangeShapeType="1"/>
          </p:cNvSpPr>
          <p:nvPr/>
        </p:nvSpPr>
        <p:spPr bwMode="auto">
          <a:xfrm>
            <a:off x="5593283" y="3068663"/>
            <a:ext cx="287338" cy="431800"/>
          </a:xfrm>
          <a:prstGeom prst="line">
            <a:avLst/>
          </a:prstGeom>
          <a:noFill/>
          <a:ln w="28575" cap="sq">
            <a:solidFill>
              <a:srgbClr val="006666"/>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8" name="Oval 13"/>
          <p:cNvSpPr>
            <a:spLocks noChangeArrowheads="1"/>
          </p:cNvSpPr>
          <p:nvPr/>
        </p:nvSpPr>
        <p:spPr bwMode="auto">
          <a:xfrm>
            <a:off x="4296296" y="3500463"/>
            <a:ext cx="576262" cy="576262"/>
          </a:xfrm>
          <a:prstGeom prst="ellipse">
            <a:avLst/>
          </a:prstGeom>
          <a:solidFill>
            <a:schemeClr val="bg1"/>
          </a:solidFill>
          <a:ln w="28575" cap="sq">
            <a:solidFill>
              <a:srgbClr val="006666"/>
            </a:solidFill>
            <a:miter lim="800000"/>
            <a:headEnd type="none" w="sm" len="sm"/>
            <a:tailEnd type="none" w="sm" len="sm"/>
          </a:ln>
        </p:spPr>
        <p:txBody>
          <a:bodyPr wrap="none" anchor="ctr"/>
          <a:lstStyle/>
          <a:p>
            <a:r>
              <a:rPr lang="en-US" altLang="zh-CN" sz="3200"/>
              <a:t>v</a:t>
            </a:r>
            <a:r>
              <a:rPr lang="en-US" altLang="zh-CN" sz="3200" baseline="-25000"/>
              <a:t>4</a:t>
            </a:r>
          </a:p>
        </p:txBody>
      </p:sp>
      <p:sp>
        <p:nvSpPr>
          <p:cNvPr id="19" name="Oval 14"/>
          <p:cNvSpPr>
            <a:spLocks noChangeArrowheads="1"/>
          </p:cNvSpPr>
          <p:nvPr/>
        </p:nvSpPr>
        <p:spPr bwMode="auto">
          <a:xfrm>
            <a:off x="6456884" y="4508526"/>
            <a:ext cx="576263" cy="576263"/>
          </a:xfrm>
          <a:prstGeom prst="ellipse">
            <a:avLst/>
          </a:prstGeom>
          <a:solidFill>
            <a:schemeClr val="bg1"/>
          </a:solidFill>
          <a:ln w="28575" cap="sq">
            <a:solidFill>
              <a:srgbClr val="006666"/>
            </a:solidFill>
            <a:miter lim="800000"/>
            <a:headEnd type="none" w="sm" len="sm"/>
            <a:tailEnd type="none" w="sm" len="sm"/>
          </a:ln>
        </p:spPr>
        <p:txBody>
          <a:bodyPr wrap="none" anchor="ctr"/>
          <a:lstStyle/>
          <a:p>
            <a:r>
              <a:rPr lang="en-US" altLang="zh-CN" sz="3200"/>
              <a:t>v</a:t>
            </a:r>
            <a:r>
              <a:rPr lang="en-US" altLang="zh-CN" sz="3200" baseline="-25000"/>
              <a:t>8</a:t>
            </a:r>
          </a:p>
        </p:txBody>
      </p:sp>
      <p:sp>
        <p:nvSpPr>
          <p:cNvPr id="20" name="Line 15"/>
          <p:cNvSpPr>
            <a:spLocks noChangeShapeType="1"/>
          </p:cNvSpPr>
          <p:nvPr/>
        </p:nvSpPr>
        <p:spPr bwMode="auto">
          <a:xfrm>
            <a:off x="8688908" y="3068664"/>
            <a:ext cx="647700" cy="504825"/>
          </a:xfrm>
          <a:prstGeom prst="line">
            <a:avLst/>
          </a:prstGeom>
          <a:noFill/>
          <a:ln w="28575" cap="sq">
            <a:solidFill>
              <a:srgbClr val="006666"/>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21" name="Line 16"/>
          <p:cNvSpPr>
            <a:spLocks noChangeShapeType="1"/>
          </p:cNvSpPr>
          <p:nvPr/>
        </p:nvSpPr>
        <p:spPr bwMode="auto">
          <a:xfrm>
            <a:off x="7968184" y="3789388"/>
            <a:ext cx="1223963" cy="0"/>
          </a:xfrm>
          <a:prstGeom prst="line">
            <a:avLst/>
          </a:prstGeom>
          <a:noFill/>
          <a:ln w="28575" cap="sq">
            <a:solidFill>
              <a:srgbClr val="006666"/>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22" name="Line 17"/>
          <p:cNvSpPr>
            <a:spLocks noChangeShapeType="1"/>
          </p:cNvSpPr>
          <p:nvPr/>
        </p:nvSpPr>
        <p:spPr bwMode="auto">
          <a:xfrm flipH="1">
            <a:off x="4656658" y="2997225"/>
            <a:ext cx="503238" cy="503238"/>
          </a:xfrm>
          <a:prstGeom prst="line">
            <a:avLst/>
          </a:prstGeom>
          <a:noFill/>
          <a:ln w="28575" cap="sq">
            <a:solidFill>
              <a:srgbClr val="006666"/>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23" name="Line 18"/>
          <p:cNvSpPr>
            <a:spLocks noChangeShapeType="1"/>
          </p:cNvSpPr>
          <p:nvPr/>
        </p:nvSpPr>
        <p:spPr bwMode="auto">
          <a:xfrm>
            <a:off x="6167959" y="4005288"/>
            <a:ext cx="360363" cy="576262"/>
          </a:xfrm>
          <a:prstGeom prst="line">
            <a:avLst/>
          </a:prstGeom>
          <a:noFill/>
          <a:ln w="28575" cap="sq">
            <a:solidFill>
              <a:srgbClr val="006666"/>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24" name="Line 19"/>
          <p:cNvSpPr>
            <a:spLocks noChangeShapeType="1"/>
          </p:cNvSpPr>
          <p:nvPr/>
        </p:nvSpPr>
        <p:spPr bwMode="auto">
          <a:xfrm>
            <a:off x="4799533" y="4005288"/>
            <a:ext cx="1657350" cy="863600"/>
          </a:xfrm>
          <a:prstGeom prst="line">
            <a:avLst/>
          </a:prstGeom>
          <a:noFill/>
          <a:ln w="28575" cap="sq">
            <a:solidFill>
              <a:srgbClr val="006666"/>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25" name="Text Box 20"/>
          <p:cNvSpPr txBox="1">
            <a:spLocks noChangeArrowheads="1"/>
          </p:cNvSpPr>
          <p:nvPr/>
        </p:nvSpPr>
        <p:spPr bwMode="auto">
          <a:xfrm>
            <a:off x="5196009" y="5588323"/>
            <a:ext cx="576262"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kumimoji="1" sz="2800">
                <a:solidFill>
                  <a:schemeClr val="tx1"/>
                </a:solidFill>
                <a:latin typeface="Comic Sans MS" pitchFamily="66" charset="0"/>
                <a:ea typeface="宋体" pitchFamily="2" charset="-122"/>
              </a:defRPr>
            </a:lvl1pPr>
            <a:lvl2pPr marL="742950" indent="-285750" eaLnBrk="0" hangingPunct="0">
              <a:defRPr kumimoji="1" sz="2800">
                <a:solidFill>
                  <a:schemeClr val="tx1"/>
                </a:solidFill>
                <a:latin typeface="Comic Sans MS" pitchFamily="66" charset="0"/>
                <a:ea typeface="宋体" pitchFamily="2" charset="-122"/>
              </a:defRPr>
            </a:lvl2pPr>
            <a:lvl3pPr marL="1143000" indent="-228600" eaLnBrk="0" hangingPunct="0">
              <a:defRPr kumimoji="1" sz="2800">
                <a:solidFill>
                  <a:schemeClr val="tx1"/>
                </a:solidFill>
                <a:latin typeface="Comic Sans MS" pitchFamily="66" charset="0"/>
                <a:ea typeface="宋体" pitchFamily="2" charset="-122"/>
              </a:defRPr>
            </a:lvl3pPr>
            <a:lvl4pPr marL="1600200" indent="-228600" eaLnBrk="0" hangingPunct="0">
              <a:defRPr kumimoji="1" sz="2800">
                <a:solidFill>
                  <a:schemeClr val="tx1"/>
                </a:solidFill>
                <a:latin typeface="Comic Sans MS" pitchFamily="66" charset="0"/>
                <a:ea typeface="宋体" pitchFamily="2" charset="-122"/>
              </a:defRPr>
            </a:lvl4pPr>
            <a:lvl5pPr marL="2057400" indent="-228600" eaLnBrk="0" hangingPunct="0">
              <a:defRPr kumimoji="1" sz="2800">
                <a:solidFill>
                  <a:schemeClr val="tx1"/>
                </a:solidFill>
                <a:latin typeface="Comic Sans MS" pitchFamily="66" charset="0"/>
                <a:ea typeface="宋体" pitchFamily="2" charset="-122"/>
              </a:defRPr>
            </a:lvl5pPr>
            <a:lvl6pPr marL="25146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6pPr>
            <a:lvl7pPr marL="29718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7pPr>
            <a:lvl8pPr marL="34290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8pPr>
            <a:lvl9pPr marL="38862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9pPr>
          </a:lstStyle>
          <a:p>
            <a:pPr eaLnBrk="1" hangingPunct="1">
              <a:spcBef>
                <a:spcPct val="50000"/>
              </a:spcBef>
            </a:pPr>
            <a:r>
              <a:rPr lang="en-US" altLang="zh-CN" sz="3200"/>
              <a:t>v</a:t>
            </a:r>
            <a:r>
              <a:rPr lang="en-US" altLang="zh-CN" sz="3200" baseline="-25000"/>
              <a:t>1</a:t>
            </a:r>
          </a:p>
        </p:txBody>
      </p:sp>
      <p:sp>
        <p:nvSpPr>
          <p:cNvPr id="26" name="Text Box 21"/>
          <p:cNvSpPr txBox="1">
            <a:spLocks noChangeArrowheads="1"/>
          </p:cNvSpPr>
          <p:nvPr/>
        </p:nvSpPr>
        <p:spPr bwMode="auto">
          <a:xfrm>
            <a:off x="5843709" y="5588323"/>
            <a:ext cx="576262"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kumimoji="1" sz="2800">
                <a:solidFill>
                  <a:schemeClr val="tx1"/>
                </a:solidFill>
                <a:latin typeface="Comic Sans MS" pitchFamily="66" charset="0"/>
                <a:ea typeface="宋体" pitchFamily="2" charset="-122"/>
              </a:defRPr>
            </a:lvl1pPr>
            <a:lvl2pPr marL="742950" indent="-285750" eaLnBrk="0" hangingPunct="0">
              <a:defRPr kumimoji="1" sz="2800">
                <a:solidFill>
                  <a:schemeClr val="tx1"/>
                </a:solidFill>
                <a:latin typeface="Comic Sans MS" pitchFamily="66" charset="0"/>
                <a:ea typeface="宋体" pitchFamily="2" charset="-122"/>
              </a:defRPr>
            </a:lvl2pPr>
            <a:lvl3pPr marL="1143000" indent="-228600" eaLnBrk="0" hangingPunct="0">
              <a:defRPr kumimoji="1" sz="2800">
                <a:solidFill>
                  <a:schemeClr val="tx1"/>
                </a:solidFill>
                <a:latin typeface="Comic Sans MS" pitchFamily="66" charset="0"/>
                <a:ea typeface="宋体" pitchFamily="2" charset="-122"/>
              </a:defRPr>
            </a:lvl3pPr>
            <a:lvl4pPr marL="1600200" indent="-228600" eaLnBrk="0" hangingPunct="0">
              <a:defRPr kumimoji="1" sz="2800">
                <a:solidFill>
                  <a:schemeClr val="tx1"/>
                </a:solidFill>
                <a:latin typeface="Comic Sans MS" pitchFamily="66" charset="0"/>
                <a:ea typeface="宋体" pitchFamily="2" charset="-122"/>
              </a:defRPr>
            </a:lvl4pPr>
            <a:lvl5pPr marL="2057400" indent="-228600" eaLnBrk="0" hangingPunct="0">
              <a:defRPr kumimoji="1" sz="2800">
                <a:solidFill>
                  <a:schemeClr val="tx1"/>
                </a:solidFill>
                <a:latin typeface="Comic Sans MS" pitchFamily="66" charset="0"/>
                <a:ea typeface="宋体" pitchFamily="2" charset="-122"/>
              </a:defRPr>
            </a:lvl5pPr>
            <a:lvl6pPr marL="25146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6pPr>
            <a:lvl7pPr marL="29718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7pPr>
            <a:lvl8pPr marL="34290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8pPr>
            <a:lvl9pPr marL="38862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9pPr>
          </a:lstStyle>
          <a:p>
            <a:pPr eaLnBrk="1" hangingPunct="1">
              <a:spcBef>
                <a:spcPct val="50000"/>
              </a:spcBef>
            </a:pPr>
            <a:r>
              <a:rPr lang="en-US" altLang="zh-CN" sz="3200"/>
              <a:t>v</a:t>
            </a:r>
            <a:r>
              <a:rPr lang="en-US" altLang="zh-CN" sz="3200" baseline="-25000"/>
              <a:t>2</a:t>
            </a:r>
          </a:p>
        </p:txBody>
      </p:sp>
      <p:sp>
        <p:nvSpPr>
          <p:cNvPr id="27" name="Text Box 22"/>
          <p:cNvSpPr txBox="1">
            <a:spLocks noChangeArrowheads="1"/>
          </p:cNvSpPr>
          <p:nvPr/>
        </p:nvSpPr>
        <p:spPr bwMode="auto">
          <a:xfrm>
            <a:off x="6419972" y="5588323"/>
            <a:ext cx="576263"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kumimoji="1" sz="2800">
                <a:solidFill>
                  <a:schemeClr val="tx1"/>
                </a:solidFill>
                <a:latin typeface="Comic Sans MS" pitchFamily="66" charset="0"/>
                <a:ea typeface="宋体" pitchFamily="2" charset="-122"/>
              </a:defRPr>
            </a:lvl1pPr>
            <a:lvl2pPr marL="742950" indent="-285750" eaLnBrk="0" hangingPunct="0">
              <a:defRPr kumimoji="1" sz="2800">
                <a:solidFill>
                  <a:schemeClr val="tx1"/>
                </a:solidFill>
                <a:latin typeface="Comic Sans MS" pitchFamily="66" charset="0"/>
                <a:ea typeface="宋体" pitchFamily="2" charset="-122"/>
              </a:defRPr>
            </a:lvl2pPr>
            <a:lvl3pPr marL="1143000" indent="-228600" eaLnBrk="0" hangingPunct="0">
              <a:defRPr kumimoji="1" sz="2800">
                <a:solidFill>
                  <a:schemeClr val="tx1"/>
                </a:solidFill>
                <a:latin typeface="Comic Sans MS" pitchFamily="66" charset="0"/>
                <a:ea typeface="宋体" pitchFamily="2" charset="-122"/>
              </a:defRPr>
            </a:lvl3pPr>
            <a:lvl4pPr marL="1600200" indent="-228600" eaLnBrk="0" hangingPunct="0">
              <a:defRPr kumimoji="1" sz="2800">
                <a:solidFill>
                  <a:schemeClr val="tx1"/>
                </a:solidFill>
                <a:latin typeface="Comic Sans MS" pitchFamily="66" charset="0"/>
                <a:ea typeface="宋体" pitchFamily="2" charset="-122"/>
              </a:defRPr>
            </a:lvl4pPr>
            <a:lvl5pPr marL="2057400" indent="-228600" eaLnBrk="0" hangingPunct="0">
              <a:defRPr kumimoji="1" sz="2800">
                <a:solidFill>
                  <a:schemeClr val="tx1"/>
                </a:solidFill>
                <a:latin typeface="Comic Sans MS" pitchFamily="66" charset="0"/>
                <a:ea typeface="宋体" pitchFamily="2" charset="-122"/>
              </a:defRPr>
            </a:lvl5pPr>
            <a:lvl6pPr marL="25146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6pPr>
            <a:lvl7pPr marL="29718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7pPr>
            <a:lvl8pPr marL="34290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8pPr>
            <a:lvl9pPr marL="38862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9pPr>
          </a:lstStyle>
          <a:p>
            <a:pPr eaLnBrk="1" hangingPunct="1">
              <a:spcBef>
                <a:spcPct val="50000"/>
              </a:spcBef>
            </a:pPr>
            <a:r>
              <a:rPr lang="en-US" altLang="zh-CN" sz="3200" dirty="0"/>
              <a:t>v</a:t>
            </a:r>
            <a:r>
              <a:rPr lang="en-US" altLang="zh-CN" sz="3200" baseline="-25000" dirty="0"/>
              <a:t>4</a:t>
            </a:r>
          </a:p>
        </p:txBody>
      </p:sp>
      <p:sp>
        <p:nvSpPr>
          <p:cNvPr id="28" name="Text Box 23"/>
          <p:cNvSpPr txBox="1">
            <a:spLocks noChangeArrowheads="1"/>
          </p:cNvSpPr>
          <p:nvPr/>
        </p:nvSpPr>
        <p:spPr bwMode="auto">
          <a:xfrm>
            <a:off x="7715372" y="5588323"/>
            <a:ext cx="576263"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kumimoji="1" sz="2800">
                <a:solidFill>
                  <a:schemeClr val="tx1"/>
                </a:solidFill>
                <a:latin typeface="Comic Sans MS" pitchFamily="66" charset="0"/>
                <a:ea typeface="宋体" pitchFamily="2" charset="-122"/>
              </a:defRPr>
            </a:lvl1pPr>
            <a:lvl2pPr marL="742950" indent="-285750" eaLnBrk="0" hangingPunct="0">
              <a:defRPr kumimoji="1" sz="2800">
                <a:solidFill>
                  <a:schemeClr val="tx1"/>
                </a:solidFill>
                <a:latin typeface="Comic Sans MS" pitchFamily="66" charset="0"/>
                <a:ea typeface="宋体" pitchFamily="2" charset="-122"/>
              </a:defRPr>
            </a:lvl2pPr>
            <a:lvl3pPr marL="1143000" indent="-228600" eaLnBrk="0" hangingPunct="0">
              <a:defRPr kumimoji="1" sz="2800">
                <a:solidFill>
                  <a:schemeClr val="tx1"/>
                </a:solidFill>
                <a:latin typeface="Comic Sans MS" pitchFamily="66" charset="0"/>
                <a:ea typeface="宋体" pitchFamily="2" charset="-122"/>
              </a:defRPr>
            </a:lvl3pPr>
            <a:lvl4pPr marL="1600200" indent="-228600" eaLnBrk="0" hangingPunct="0">
              <a:defRPr kumimoji="1" sz="2800">
                <a:solidFill>
                  <a:schemeClr val="tx1"/>
                </a:solidFill>
                <a:latin typeface="Comic Sans MS" pitchFamily="66" charset="0"/>
                <a:ea typeface="宋体" pitchFamily="2" charset="-122"/>
              </a:defRPr>
            </a:lvl4pPr>
            <a:lvl5pPr marL="2057400" indent="-228600" eaLnBrk="0" hangingPunct="0">
              <a:defRPr kumimoji="1" sz="2800">
                <a:solidFill>
                  <a:schemeClr val="tx1"/>
                </a:solidFill>
                <a:latin typeface="Comic Sans MS" pitchFamily="66" charset="0"/>
                <a:ea typeface="宋体" pitchFamily="2" charset="-122"/>
              </a:defRPr>
            </a:lvl5pPr>
            <a:lvl6pPr marL="25146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6pPr>
            <a:lvl7pPr marL="29718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7pPr>
            <a:lvl8pPr marL="34290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8pPr>
            <a:lvl9pPr marL="38862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9pPr>
          </a:lstStyle>
          <a:p>
            <a:pPr eaLnBrk="1" hangingPunct="1">
              <a:spcBef>
                <a:spcPct val="50000"/>
              </a:spcBef>
            </a:pPr>
            <a:r>
              <a:rPr lang="en-US" altLang="zh-CN" sz="3200"/>
              <a:t>v</a:t>
            </a:r>
            <a:r>
              <a:rPr lang="en-US" altLang="zh-CN" sz="3200" baseline="-25000"/>
              <a:t>5</a:t>
            </a:r>
          </a:p>
        </p:txBody>
      </p:sp>
      <p:sp>
        <p:nvSpPr>
          <p:cNvPr id="29" name="Text Box 24"/>
          <p:cNvSpPr txBox="1">
            <a:spLocks noChangeArrowheads="1"/>
          </p:cNvSpPr>
          <p:nvPr/>
        </p:nvSpPr>
        <p:spPr bwMode="auto">
          <a:xfrm>
            <a:off x="7067672" y="5588323"/>
            <a:ext cx="576263"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kumimoji="1" sz="2800">
                <a:solidFill>
                  <a:schemeClr val="tx1"/>
                </a:solidFill>
                <a:latin typeface="Comic Sans MS" pitchFamily="66" charset="0"/>
                <a:ea typeface="宋体" pitchFamily="2" charset="-122"/>
              </a:defRPr>
            </a:lvl1pPr>
            <a:lvl2pPr marL="742950" indent="-285750" eaLnBrk="0" hangingPunct="0">
              <a:defRPr kumimoji="1" sz="2800">
                <a:solidFill>
                  <a:schemeClr val="tx1"/>
                </a:solidFill>
                <a:latin typeface="Comic Sans MS" pitchFamily="66" charset="0"/>
                <a:ea typeface="宋体" pitchFamily="2" charset="-122"/>
              </a:defRPr>
            </a:lvl2pPr>
            <a:lvl3pPr marL="1143000" indent="-228600" eaLnBrk="0" hangingPunct="0">
              <a:defRPr kumimoji="1" sz="2800">
                <a:solidFill>
                  <a:schemeClr val="tx1"/>
                </a:solidFill>
                <a:latin typeface="Comic Sans MS" pitchFamily="66" charset="0"/>
                <a:ea typeface="宋体" pitchFamily="2" charset="-122"/>
              </a:defRPr>
            </a:lvl3pPr>
            <a:lvl4pPr marL="1600200" indent="-228600" eaLnBrk="0" hangingPunct="0">
              <a:defRPr kumimoji="1" sz="2800">
                <a:solidFill>
                  <a:schemeClr val="tx1"/>
                </a:solidFill>
                <a:latin typeface="Comic Sans MS" pitchFamily="66" charset="0"/>
                <a:ea typeface="宋体" pitchFamily="2" charset="-122"/>
              </a:defRPr>
            </a:lvl4pPr>
            <a:lvl5pPr marL="2057400" indent="-228600" eaLnBrk="0" hangingPunct="0">
              <a:defRPr kumimoji="1" sz="2800">
                <a:solidFill>
                  <a:schemeClr val="tx1"/>
                </a:solidFill>
                <a:latin typeface="Comic Sans MS" pitchFamily="66" charset="0"/>
                <a:ea typeface="宋体" pitchFamily="2" charset="-122"/>
              </a:defRPr>
            </a:lvl5pPr>
            <a:lvl6pPr marL="25146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6pPr>
            <a:lvl7pPr marL="29718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7pPr>
            <a:lvl8pPr marL="34290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8pPr>
            <a:lvl9pPr marL="38862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9pPr>
          </a:lstStyle>
          <a:p>
            <a:pPr eaLnBrk="1" hangingPunct="1">
              <a:spcBef>
                <a:spcPct val="50000"/>
              </a:spcBef>
            </a:pPr>
            <a:r>
              <a:rPr lang="en-US" altLang="zh-CN" sz="3200"/>
              <a:t>v</a:t>
            </a:r>
            <a:r>
              <a:rPr lang="en-US" altLang="zh-CN" sz="3200" baseline="-25000"/>
              <a:t>8</a:t>
            </a:r>
          </a:p>
        </p:txBody>
      </p:sp>
      <p:sp>
        <p:nvSpPr>
          <p:cNvPr id="30" name="Text Box 25"/>
          <p:cNvSpPr txBox="1">
            <a:spLocks noChangeArrowheads="1"/>
          </p:cNvSpPr>
          <p:nvPr/>
        </p:nvSpPr>
        <p:spPr bwMode="auto">
          <a:xfrm>
            <a:off x="8364659" y="5588323"/>
            <a:ext cx="576262"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kumimoji="1" sz="2800">
                <a:solidFill>
                  <a:schemeClr val="tx1"/>
                </a:solidFill>
                <a:latin typeface="Comic Sans MS" pitchFamily="66" charset="0"/>
                <a:ea typeface="宋体" pitchFamily="2" charset="-122"/>
              </a:defRPr>
            </a:lvl1pPr>
            <a:lvl2pPr marL="742950" indent="-285750" eaLnBrk="0" hangingPunct="0">
              <a:defRPr kumimoji="1" sz="2800">
                <a:solidFill>
                  <a:schemeClr val="tx1"/>
                </a:solidFill>
                <a:latin typeface="Comic Sans MS" pitchFamily="66" charset="0"/>
                <a:ea typeface="宋体" pitchFamily="2" charset="-122"/>
              </a:defRPr>
            </a:lvl2pPr>
            <a:lvl3pPr marL="1143000" indent="-228600" eaLnBrk="0" hangingPunct="0">
              <a:defRPr kumimoji="1" sz="2800">
                <a:solidFill>
                  <a:schemeClr val="tx1"/>
                </a:solidFill>
                <a:latin typeface="Comic Sans MS" pitchFamily="66" charset="0"/>
                <a:ea typeface="宋体" pitchFamily="2" charset="-122"/>
              </a:defRPr>
            </a:lvl3pPr>
            <a:lvl4pPr marL="1600200" indent="-228600" eaLnBrk="0" hangingPunct="0">
              <a:defRPr kumimoji="1" sz="2800">
                <a:solidFill>
                  <a:schemeClr val="tx1"/>
                </a:solidFill>
                <a:latin typeface="Comic Sans MS" pitchFamily="66" charset="0"/>
                <a:ea typeface="宋体" pitchFamily="2" charset="-122"/>
              </a:defRPr>
            </a:lvl4pPr>
            <a:lvl5pPr marL="2057400" indent="-228600" eaLnBrk="0" hangingPunct="0">
              <a:defRPr kumimoji="1" sz="2800">
                <a:solidFill>
                  <a:schemeClr val="tx1"/>
                </a:solidFill>
                <a:latin typeface="Comic Sans MS" pitchFamily="66" charset="0"/>
                <a:ea typeface="宋体" pitchFamily="2" charset="-122"/>
              </a:defRPr>
            </a:lvl5pPr>
            <a:lvl6pPr marL="25146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6pPr>
            <a:lvl7pPr marL="29718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7pPr>
            <a:lvl8pPr marL="34290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8pPr>
            <a:lvl9pPr marL="38862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9pPr>
          </a:lstStyle>
          <a:p>
            <a:pPr eaLnBrk="1" hangingPunct="1">
              <a:spcBef>
                <a:spcPct val="50000"/>
              </a:spcBef>
            </a:pPr>
            <a:r>
              <a:rPr lang="en-US" altLang="zh-CN" sz="3200"/>
              <a:t>v</a:t>
            </a:r>
            <a:r>
              <a:rPr lang="en-US" altLang="zh-CN" sz="3200" baseline="-25000"/>
              <a:t>3</a:t>
            </a:r>
          </a:p>
        </p:txBody>
      </p:sp>
      <p:sp>
        <p:nvSpPr>
          <p:cNvPr id="31" name="Text Box 26"/>
          <p:cNvSpPr txBox="1">
            <a:spLocks noChangeArrowheads="1"/>
          </p:cNvSpPr>
          <p:nvPr/>
        </p:nvSpPr>
        <p:spPr bwMode="auto">
          <a:xfrm>
            <a:off x="9731497" y="5588323"/>
            <a:ext cx="576263"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kumimoji="1" sz="2800">
                <a:solidFill>
                  <a:schemeClr val="tx1"/>
                </a:solidFill>
                <a:latin typeface="Comic Sans MS" pitchFamily="66" charset="0"/>
                <a:ea typeface="宋体" pitchFamily="2" charset="-122"/>
              </a:defRPr>
            </a:lvl1pPr>
            <a:lvl2pPr marL="742950" indent="-285750" eaLnBrk="0" hangingPunct="0">
              <a:defRPr kumimoji="1" sz="2800">
                <a:solidFill>
                  <a:schemeClr val="tx1"/>
                </a:solidFill>
                <a:latin typeface="Comic Sans MS" pitchFamily="66" charset="0"/>
                <a:ea typeface="宋体" pitchFamily="2" charset="-122"/>
              </a:defRPr>
            </a:lvl2pPr>
            <a:lvl3pPr marL="1143000" indent="-228600" eaLnBrk="0" hangingPunct="0">
              <a:defRPr kumimoji="1" sz="2800">
                <a:solidFill>
                  <a:schemeClr val="tx1"/>
                </a:solidFill>
                <a:latin typeface="Comic Sans MS" pitchFamily="66" charset="0"/>
                <a:ea typeface="宋体" pitchFamily="2" charset="-122"/>
              </a:defRPr>
            </a:lvl3pPr>
            <a:lvl4pPr marL="1600200" indent="-228600" eaLnBrk="0" hangingPunct="0">
              <a:defRPr kumimoji="1" sz="2800">
                <a:solidFill>
                  <a:schemeClr val="tx1"/>
                </a:solidFill>
                <a:latin typeface="Comic Sans MS" pitchFamily="66" charset="0"/>
                <a:ea typeface="宋体" pitchFamily="2" charset="-122"/>
              </a:defRPr>
            </a:lvl4pPr>
            <a:lvl5pPr marL="2057400" indent="-228600" eaLnBrk="0" hangingPunct="0">
              <a:defRPr kumimoji="1" sz="2800">
                <a:solidFill>
                  <a:schemeClr val="tx1"/>
                </a:solidFill>
                <a:latin typeface="Comic Sans MS" pitchFamily="66" charset="0"/>
                <a:ea typeface="宋体" pitchFamily="2" charset="-122"/>
              </a:defRPr>
            </a:lvl5pPr>
            <a:lvl6pPr marL="25146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6pPr>
            <a:lvl7pPr marL="29718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7pPr>
            <a:lvl8pPr marL="34290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8pPr>
            <a:lvl9pPr marL="38862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9pPr>
          </a:lstStyle>
          <a:p>
            <a:pPr eaLnBrk="1" hangingPunct="1">
              <a:spcBef>
                <a:spcPct val="50000"/>
              </a:spcBef>
            </a:pPr>
            <a:r>
              <a:rPr lang="en-US" altLang="zh-CN" sz="3200"/>
              <a:t>v</a:t>
            </a:r>
            <a:r>
              <a:rPr lang="en-US" altLang="zh-CN" sz="3200" baseline="-25000"/>
              <a:t>7</a:t>
            </a:r>
          </a:p>
        </p:txBody>
      </p:sp>
      <p:sp>
        <p:nvSpPr>
          <p:cNvPr id="32" name="Text Box 27"/>
          <p:cNvSpPr txBox="1">
            <a:spLocks noChangeArrowheads="1"/>
          </p:cNvSpPr>
          <p:nvPr/>
        </p:nvSpPr>
        <p:spPr bwMode="auto">
          <a:xfrm>
            <a:off x="9083797" y="5588323"/>
            <a:ext cx="576263"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kumimoji="1" sz="2800">
                <a:solidFill>
                  <a:schemeClr val="tx1"/>
                </a:solidFill>
                <a:latin typeface="Comic Sans MS" pitchFamily="66" charset="0"/>
                <a:ea typeface="宋体" pitchFamily="2" charset="-122"/>
              </a:defRPr>
            </a:lvl1pPr>
            <a:lvl2pPr marL="742950" indent="-285750" eaLnBrk="0" hangingPunct="0">
              <a:defRPr kumimoji="1" sz="2800">
                <a:solidFill>
                  <a:schemeClr val="tx1"/>
                </a:solidFill>
                <a:latin typeface="Comic Sans MS" pitchFamily="66" charset="0"/>
                <a:ea typeface="宋体" pitchFamily="2" charset="-122"/>
              </a:defRPr>
            </a:lvl2pPr>
            <a:lvl3pPr marL="1143000" indent="-228600" eaLnBrk="0" hangingPunct="0">
              <a:defRPr kumimoji="1" sz="2800">
                <a:solidFill>
                  <a:schemeClr val="tx1"/>
                </a:solidFill>
                <a:latin typeface="Comic Sans MS" pitchFamily="66" charset="0"/>
                <a:ea typeface="宋体" pitchFamily="2" charset="-122"/>
              </a:defRPr>
            </a:lvl3pPr>
            <a:lvl4pPr marL="1600200" indent="-228600" eaLnBrk="0" hangingPunct="0">
              <a:defRPr kumimoji="1" sz="2800">
                <a:solidFill>
                  <a:schemeClr val="tx1"/>
                </a:solidFill>
                <a:latin typeface="Comic Sans MS" pitchFamily="66" charset="0"/>
                <a:ea typeface="宋体" pitchFamily="2" charset="-122"/>
              </a:defRPr>
            </a:lvl4pPr>
            <a:lvl5pPr marL="2057400" indent="-228600" eaLnBrk="0" hangingPunct="0">
              <a:defRPr kumimoji="1" sz="2800">
                <a:solidFill>
                  <a:schemeClr val="tx1"/>
                </a:solidFill>
                <a:latin typeface="Comic Sans MS" pitchFamily="66" charset="0"/>
                <a:ea typeface="宋体" pitchFamily="2" charset="-122"/>
              </a:defRPr>
            </a:lvl5pPr>
            <a:lvl6pPr marL="25146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6pPr>
            <a:lvl7pPr marL="29718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7pPr>
            <a:lvl8pPr marL="34290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8pPr>
            <a:lvl9pPr marL="38862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9pPr>
          </a:lstStyle>
          <a:p>
            <a:pPr eaLnBrk="1" hangingPunct="1">
              <a:spcBef>
                <a:spcPct val="50000"/>
              </a:spcBef>
            </a:pPr>
            <a:r>
              <a:rPr lang="en-US" altLang="zh-CN" sz="3200"/>
              <a:t>v</a:t>
            </a:r>
            <a:r>
              <a:rPr lang="en-US" altLang="zh-CN" sz="3200" baseline="-25000"/>
              <a:t>6</a:t>
            </a:r>
          </a:p>
        </p:txBody>
      </p:sp>
      <p:sp>
        <p:nvSpPr>
          <p:cNvPr id="33" name="Text Box 28"/>
          <p:cNvSpPr txBox="1">
            <a:spLocks noChangeArrowheads="1"/>
          </p:cNvSpPr>
          <p:nvPr/>
        </p:nvSpPr>
        <p:spPr bwMode="auto">
          <a:xfrm>
            <a:off x="1633661" y="5732337"/>
            <a:ext cx="356234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spAutoFit/>
          </a:bodyPr>
          <a:lstStyle>
            <a:lvl1pPr eaLnBrk="0" hangingPunct="0">
              <a:defRPr kumimoji="1" sz="2800">
                <a:solidFill>
                  <a:schemeClr val="tx1"/>
                </a:solidFill>
                <a:latin typeface="Comic Sans MS" pitchFamily="66" charset="0"/>
                <a:ea typeface="宋体" pitchFamily="2" charset="-122"/>
              </a:defRPr>
            </a:lvl1pPr>
            <a:lvl2pPr marL="742950" indent="-285750" eaLnBrk="0" hangingPunct="0">
              <a:defRPr kumimoji="1" sz="2800">
                <a:solidFill>
                  <a:schemeClr val="tx1"/>
                </a:solidFill>
                <a:latin typeface="Comic Sans MS" pitchFamily="66" charset="0"/>
                <a:ea typeface="宋体" pitchFamily="2" charset="-122"/>
              </a:defRPr>
            </a:lvl2pPr>
            <a:lvl3pPr marL="1143000" indent="-228600" eaLnBrk="0" hangingPunct="0">
              <a:defRPr kumimoji="1" sz="2800">
                <a:solidFill>
                  <a:schemeClr val="tx1"/>
                </a:solidFill>
                <a:latin typeface="Comic Sans MS" pitchFamily="66" charset="0"/>
                <a:ea typeface="宋体" pitchFamily="2" charset="-122"/>
              </a:defRPr>
            </a:lvl3pPr>
            <a:lvl4pPr marL="1600200" indent="-228600" eaLnBrk="0" hangingPunct="0">
              <a:defRPr kumimoji="1" sz="2800">
                <a:solidFill>
                  <a:schemeClr val="tx1"/>
                </a:solidFill>
                <a:latin typeface="Comic Sans MS" pitchFamily="66" charset="0"/>
                <a:ea typeface="宋体" pitchFamily="2" charset="-122"/>
              </a:defRPr>
            </a:lvl4pPr>
            <a:lvl5pPr marL="2057400" indent="-228600" eaLnBrk="0" hangingPunct="0">
              <a:defRPr kumimoji="1" sz="2800">
                <a:solidFill>
                  <a:schemeClr val="tx1"/>
                </a:solidFill>
                <a:latin typeface="Comic Sans MS" pitchFamily="66" charset="0"/>
                <a:ea typeface="宋体" pitchFamily="2" charset="-122"/>
              </a:defRPr>
            </a:lvl5pPr>
            <a:lvl6pPr marL="25146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6pPr>
            <a:lvl7pPr marL="29718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7pPr>
            <a:lvl8pPr marL="34290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8pPr>
            <a:lvl9pPr marL="38862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9pPr>
          </a:lstStyle>
          <a:p>
            <a:pPr eaLnBrk="1" hangingPunct="1">
              <a:spcBef>
                <a:spcPct val="50000"/>
              </a:spcBef>
            </a:pPr>
            <a:r>
              <a:rPr lang="zh-CN" altLang="en-US" sz="2000" dirty="0">
                <a:latin typeface="微软雅黑" pitchFamily="34" charset="-122"/>
                <a:ea typeface="微软雅黑" pitchFamily="34" charset="-122"/>
                <a:cs typeface="经典粗黑简" pitchFamily="49" charset="-122"/>
              </a:rPr>
              <a:t>深度优先遍历序列或</a:t>
            </a:r>
            <a:r>
              <a:rPr lang="en-US" altLang="zh-CN" sz="2000" dirty="0">
                <a:latin typeface="微软雅黑" pitchFamily="34" charset="-122"/>
                <a:ea typeface="微软雅黑" pitchFamily="34" charset="-122"/>
                <a:cs typeface="经典粗黑简" pitchFamily="49" charset="-122"/>
              </a:rPr>
              <a:t>DFS</a:t>
            </a:r>
            <a:r>
              <a:rPr lang="zh-CN" altLang="en-US" sz="2000" dirty="0">
                <a:latin typeface="微软雅黑" pitchFamily="34" charset="-122"/>
                <a:ea typeface="微软雅黑" pitchFamily="34" charset="-122"/>
                <a:cs typeface="经典粗黑简" pitchFamily="49" charset="-122"/>
              </a:rPr>
              <a:t>序列：</a:t>
            </a:r>
          </a:p>
        </p:txBody>
      </p:sp>
      <p:sp>
        <p:nvSpPr>
          <p:cNvPr id="2" name="Rectangle 2">
            <a:extLst>
              <a:ext uri="{FF2B5EF4-FFF2-40B4-BE49-F238E27FC236}">
                <a16:creationId xmlns:a16="http://schemas.microsoft.com/office/drawing/2014/main" id="{D434433E-3537-42B2-DD74-A41E6AE4B3F5}"/>
              </a:ext>
            </a:extLst>
          </p:cNvPr>
          <p:cNvSpPr txBox="1">
            <a:spLocks noChangeArrowheads="1"/>
          </p:cNvSpPr>
          <p:nvPr/>
        </p:nvSpPr>
        <p:spPr>
          <a:xfrm>
            <a:off x="474772" y="1230902"/>
            <a:ext cx="4253076"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8.3.2 </a:t>
            </a:r>
            <a:r>
              <a:rPr kumimoji="1" lang="zh-CN" altLang="en-US" dirty="0">
                <a:latin typeface="微软雅黑" pitchFamily="34" charset="-122"/>
                <a:ea typeface="微软雅黑" pitchFamily="34" charset="-122"/>
              </a:rPr>
              <a:t>深度优先遍历算法</a:t>
            </a:r>
            <a:endParaRPr lang="zh-CN" altLang="en-US" dirty="0"/>
          </a:p>
        </p:txBody>
      </p:sp>
      <p:sp>
        <p:nvSpPr>
          <p:cNvPr id="3" name="矩形 2">
            <a:extLst>
              <a:ext uri="{FF2B5EF4-FFF2-40B4-BE49-F238E27FC236}">
                <a16:creationId xmlns:a16="http://schemas.microsoft.com/office/drawing/2014/main" id="{0DA6EF41-2D01-974A-C1C5-6523C0831842}"/>
              </a:ext>
            </a:extLst>
          </p:cNvPr>
          <p:cNvSpPr/>
          <p:nvPr/>
        </p:nvSpPr>
        <p:spPr>
          <a:xfrm>
            <a:off x="3200907" y="399148"/>
            <a:ext cx="4617860"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8.3 </a:t>
            </a:r>
            <a:r>
              <a:rPr lang="zh-CN" altLang="en-US" sz="3000" b="1" dirty="0">
                <a:latin typeface="黑体" pitchFamily="49" charset="-122"/>
                <a:ea typeface="黑体" pitchFamily="49" charset="-122"/>
                <a:cs typeface="经典粗黑简" pitchFamily="49" charset="-122"/>
              </a:rPr>
              <a:t>图的遍历</a:t>
            </a:r>
          </a:p>
        </p:txBody>
      </p:sp>
      <p:cxnSp>
        <p:nvCxnSpPr>
          <p:cNvPr id="4" name="直接连接符 3">
            <a:extLst>
              <a:ext uri="{FF2B5EF4-FFF2-40B4-BE49-F238E27FC236}">
                <a16:creationId xmlns:a16="http://schemas.microsoft.com/office/drawing/2014/main" id="{0C166D51-244A-3FB9-A9FD-FE93E659BD3C}"/>
              </a:ext>
            </a:extLst>
          </p:cNvPr>
          <p:cNvCxnSpPr>
            <a:cxnSpLocks/>
          </p:cNvCxnSpPr>
          <p:nvPr/>
        </p:nvCxnSpPr>
        <p:spPr>
          <a:xfrm>
            <a:off x="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810543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mph" presetSubtype="2" fill="hold" nodeType="clickEffect">
                                  <p:stCondLst>
                                    <p:cond delay="0"/>
                                  </p:stCondLst>
                                  <p:childTnLst>
                                    <p:animClr clrSpc="rgb" dir="cw">
                                      <p:cBhvr>
                                        <p:cTn id="10" dur="2000" fill="hold"/>
                                        <p:tgtEl>
                                          <p:spTgt spid="13"/>
                                        </p:tgtEl>
                                        <p:attrNameLst>
                                          <p:attrName>fillcolor</p:attrName>
                                        </p:attrNameLst>
                                      </p:cBhvr>
                                      <p:to>
                                        <a:srgbClr val="DE580E"/>
                                      </p:to>
                                    </p:animClr>
                                    <p:set>
                                      <p:cBhvr>
                                        <p:cTn id="11" dur="2000" fill="hold"/>
                                        <p:tgtEl>
                                          <p:spTgt spid="13"/>
                                        </p:tgtEl>
                                        <p:attrNameLst>
                                          <p:attrName>fill.type</p:attrName>
                                        </p:attrNameLst>
                                      </p:cBhvr>
                                      <p:to>
                                        <p:strVal val="solid"/>
                                      </p:to>
                                    </p:set>
                                    <p:set>
                                      <p:cBhvr>
                                        <p:cTn id="12" dur="2000" fill="hold"/>
                                        <p:tgtEl>
                                          <p:spTgt spid="13"/>
                                        </p:tgtEl>
                                        <p:attrNameLst>
                                          <p:attrName>fill.on</p:attrName>
                                        </p:attrNameLst>
                                      </p:cBhvr>
                                      <p:to>
                                        <p:strVal val="tru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mph" presetSubtype="2" fill="hold" nodeType="clickEffect">
                                  <p:stCondLst>
                                    <p:cond delay="0"/>
                                  </p:stCondLst>
                                  <p:childTnLst>
                                    <p:animClr clrSpc="rgb" dir="cw">
                                      <p:cBhvr>
                                        <p:cTn id="20" dur="2000" fill="hold"/>
                                        <p:tgtEl>
                                          <p:spTgt spid="11"/>
                                        </p:tgtEl>
                                        <p:attrNameLst>
                                          <p:attrName>fillcolor</p:attrName>
                                        </p:attrNameLst>
                                      </p:cBhvr>
                                      <p:to>
                                        <a:srgbClr val="DE580E"/>
                                      </p:to>
                                    </p:animClr>
                                    <p:set>
                                      <p:cBhvr>
                                        <p:cTn id="21" dur="2000" fill="hold"/>
                                        <p:tgtEl>
                                          <p:spTgt spid="11"/>
                                        </p:tgtEl>
                                        <p:attrNameLst>
                                          <p:attrName>fill.type</p:attrName>
                                        </p:attrNameLst>
                                      </p:cBhvr>
                                      <p:to>
                                        <p:strVal val="solid"/>
                                      </p:to>
                                    </p:set>
                                    <p:set>
                                      <p:cBhvr>
                                        <p:cTn id="22" dur="2000" fill="hold"/>
                                        <p:tgtEl>
                                          <p:spTgt spid="11"/>
                                        </p:tgtEl>
                                        <p:attrNameLst>
                                          <p:attrName>fill.on</p:attrName>
                                        </p:attrNameLst>
                                      </p:cBhvr>
                                      <p:to>
                                        <p:strVal val="tru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mph" presetSubtype="2" fill="hold" nodeType="clickEffect">
                                  <p:stCondLst>
                                    <p:cond delay="0"/>
                                  </p:stCondLst>
                                  <p:childTnLst>
                                    <p:animClr clrSpc="rgb" dir="cw">
                                      <p:cBhvr>
                                        <p:cTn id="30" dur="2000" fill="hold"/>
                                        <p:tgtEl>
                                          <p:spTgt spid="18"/>
                                        </p:tgtEl>
                                        <p:attrNameLst>
                                          <p:attrName>fillcolor</p:attrName>
                                        </p:attrNameLst>
                                      </p:cBhvr>
                                      <p:to>
                                        <a:srgbClr val="DE580E"/>
                                      </p:to>
                                    </p:animClr>
                                    <p:set>
                                      <p:cBhvr>
                                        <p:cTn id="31" dur="2000" fill="hold"/>
                                        <p:tgtEl>
                                          <p:spTgt spid="18"/>
                                        </p:tgtEl>
                                        <p:attrNameLst>
                                          <p:attrName>fill.type</p:attrName>
                                        </p:attrNameLst>
                                      </p:cBhvr>
                                      <p:to>
                                        <p:strVal val="solid"/>
                                      </p:to>
                                    </p:set>
                                    <p:set>
                                      <p:cBhvr>
                                        <p:cTn id="32" dur="2000" fill="hold"/>
                                        <p:tgtEl>
                                          <p:spTgt spid="18"/>
                                        </p:tgtEl>
                                        <p:attrNameLst>
                                          <p:attrName>fill.on</p:attrName>
                                        </p:attrNameLst>
                                      </p:cBhvr>
                                      <p:to>
                                        <p:strVal val="tru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7"/>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mph" presetSubtype="2" fill="hold" nodeType="clickEffect">
                                  <p:stCondLst>
                                    <p:cond delay="0"/>
                                  </p:stCondLst>
                                  <p:childTnLst>
                                    <p:animClr clrSpc="rgb" dir="cw">
                                      <p:cBhvr>
                                        <p:cTn id="40" dur="2000" fill="hold"/>
                                        <p:tgtEl>
                                          <p:spTgt spid="19"/>
                                        </p:tgtEl>
                                        <p:attrNameLst>
                                          <p:attrName>fillcolor</p:attrName>
                                        </p:attrNameLst>
                                      </p:cBhvr>
                                      <p:to>
                                        <a:srgbClr val="DE580E"/>
                                      </p:to>
                                    </p:animClr>
                                    <p:set>
                                      <p:cBhvr>
                                        <p:cTn id="41" dur="2000" fill="hold"/>
                                        <p:tgtEl>
                                          <p:spTgt spid="19"/>
                                        </p:tgtEl>
                                        <p:attrNameLst>
                                          <p:attrName>fill.type</p:attrName>
                                        </p:attrNameLst>
                                      </p:cBhvr>
                                      <p:to>
                                        <p:strVal val="solid"/>
                                      </p:to>
                                    </p:set>
                                    <p:set>
                                      <p:cBhvr>
                                        <p:cTn id="42" dur="2000" fill="hold"/>
                                        <p:tgtEl>
                                          <p:spTgt spid="19"/>
                                        </p:tgtEl>
                                        <p:attrNameLst>
                                          <p:attrName>fill.on</p:attrName>
                                        </p:attrNameLst>
                                      </p:cBhvr>
                                      <p:to>
                                        <p:strVal val="tru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9"/>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mph" presetSubtype="2" fill="hold" nodeType="clickEffect">
                                  <p:stCondLst>
                                    <p:cond delay="0"/>
                                  </p:stCondLst>
                                  <p:childTnLst>
                                    <p:animClr clrSpc="rgb" dir="cw">
                                      <p:cBhvr>
                                        <p:cTn id="50" dur="2000" fill="hold"/>
                                        <p:tgtEl>
                                          <p:spTgt spid="8"/>
                                        </p:tgtEl>
                                        <p:attrNameLst>
                                          <p:attrName>fillcolor</p:attrName>
                                        </p:attrNameLst>
                                      </p:cBhvr>
                                      <p:to>
                                        <a:srgbClr val="DE580E"/>
                                      </p:to>
                                    </p:animClr>
                                    <p:set>
                                      <p:cBhvr>
                                        <p:cTn id="51" dur="2000" fill="hold"/>
                                        <p:tgtEl>
                                          <p:spTgt spid="8"/>
                                        </p:tgtEl>
                                        <p:attrNameLst>
                                          <p:attrName>fill.type</p:attrName>
                                        </p:attrNameLst>
                                      </p:cBhvr>
                                      <p:to>
                                        <p:strVal val="solid"/>
                                      </p:to>
                                    </p:set>
                                    <p:set>
                                      <p:cBhvr>
                                        <p:cTn id="52" dur="2000" fill="hold"/>
                                        <p:tgtEl>
                                          <p:spTgt spid="8"/>
                                        </p:tgtEl>
                                        <p:attrNameLst>
                                          <p:attrName>fill.on</p:attrName>
                                        </p:attrNameLst>
                                      </p:cBhvr>
                                      <p:to>
                                        <p:strVal val="tru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28"/>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mph" presetSubtype="2" fill="hold" nodeType="clickEffect">
                                  <p:stCondLst>
                                    <p:cond delay="0"/>
                                  </p:stCondLst>
                                  <p:childTnLst>
                                    <p:animClr clrSpc="rgb" dir="cw">
                                      <p:cBhvr>
                                        <p:cTn id="60" dur="2000" fill="hold"/>
                                        <p:tgtEl>
                                          <p:spTgt spid="12"/>
                                        </p:tgtEl>
                                        <p:attrNameLst>
                                          <p:attrName>fillcolor</p:attrName>
                                        </p:attrNameLst>
                                      </p:cBhvr>
                                      <p:to>
                                        <a:srgbClr val="DE580E"/>
                                      </p:to>
                                    </p:animClr>
                                    <p:set>
                                      <p:cBhvr>
                                        <p:cTn id="61" dur="2000" fill="hold"/>
                                        <p:tgtEl>
                                          <p:spTgt spid="12"/>
                                        </p:tgtEl>
                                        <p:attrNameLst>
                                          <p:attrName>fill.type</p:attrName>
                                        </p:attrNameLst>
                                      </p:cBhvr>
                                      <p:to>
                                        <p:strVal val="solid"/>
                                      </p:to>
                                    </p:set>
                                    <p:set>
                                      <p:cBhvr>
                                        <p:cTn id="62" dur="2000" fill="hold"/>
                                        <p:tgtEl>
                                          <p:spTgt spid="12"/>
                                        </p:tgtEl>
                                        <p:attrNameLst>
                                          <p:attrName>fill.on</p:attrName>
                                        </p:attrNameLst>
                                      </p:cBhvr>
                                      <p:to>
                                        <p:strVal val="tru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30"/>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mph" presetSubtype="2" fill="hold" nodeType="clickEffect">
                                  <p:stCondLst>
                                    <p:cond delay="0"/>
                                  </p:stCondLst>
                                  <p:childTnLst>
                                    <p:animClr clrSpc="rgb" dir="cw">
                                      <p:cBhvr>
                                        <p:cTn id="70" dur="2000" fill="hold"/>
                                        <p:tgtEl>
                                          <p:spTgt spid="9"/>
                                        </p:tgtEl>
                                        <p:attrNameLst>
                                          <p:attrName>fillcolor</p:attrName>
                                        </p:attrNameLst>
                                      </p:cBhvr>
                                      <p:to>
                                        <a:srgbClr val="DE580E"/>
                                      </p:to>
                                    </p:animClr>
                                    <p:set>
                                      <p:cBhvr>
                                        <p:cTn id="71" dur="2000" fill="hold"/>
                                        <p:tgtEl>
                                          <p:spTgt spid="9"/>
                                        </p:tgtEl>
                                        <p:attrNameLst>
                                          <p:attrName>fill.type</p:attrName>
                                        </p:attrNameLst>
                                      </p:cBhvr>
                                      <p:to>
                                        <p:strVal val="solid"/>
                                      </p:to>
                                    </p:set>
                                    <p:set>
                                      <p:cBhvr>
                                        <p:cTn id="72" dur="2000" fill="hold"/>
                                        <p:tgtEl>
                                          <p:spTgt spid="9"/>
                                        </p:tgtEl>
                                        <p:attrNameLst>
                                          <p:attrName>fill.on</p:attrName>
                                        </p:attrNameLst>
                                      </p:cBhvr>
                                      <p:to>
                                        <p:strVal val="tru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32"/>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mph" presetSubtype="2" fill="hold" nodeType="clickEffect">
                                  <p:stCondLst>
                                    <p:cond delay="0"/>
                                  </p:stCondLst>
                                  <p:childTnLst>
                                    <p:animClr clrSpc="rgb" dir="cw">
                                      <p:cBhvr>
                                        <p:cTn id="80" dur="2000" fill="hold"/>
                                        <p:tgtEl>
                                          <p:spTgt spid="7"/>
                                        </p:tgtEl>
                                        <p:attrNameLst>
                                          <p:attrName>fillcolor</p:attrName>
                                        </p:attrNameLst>
                                      </p:cBhvr>
                                      <p:to>
                                        <a:srgbClr val="DE580E"/>
                                      </p:to>
                                    </p:animClr>
                                    <p:set>
                                      <p:cBhvr>
                                        <p:cTn id="81" dur="2000" fill="hold"/>
                                        <p:tgtEl>
                                          <p:spTgt spid="7"/>
                                        </p:tgtEl>
                                        <p:attrNameLst>
                                          <p:attrName>fill.type</p:attrName>
                                        </p:attrNameLst>
                                      </p:cBhvr>
                                      <p:to>
                                        <p:strVal val="solid"/>
                                      </p:to>
                                    </p:set>
                                    <p:set>
                                      <p:cBhvr>
                                        <p:cTn id="82" dur="2000" fill="hold"/>
                                        <p:tgtEl>
                                          <p:spTgt spid="7"/>
                                        </p:tgtEl>
                                        <p:attrNameLst>
                                          <p:attrName>fill.on</p:attrName>
                                        </p:attrNameLst>
                                      </p:cBhvr>
                                      <p:to>
                                        <p:strVal val="tru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31"/>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P spid="25" grpId="0"/>
      <p:bldP spid="26" grpId="0"/>
      <p:bldP spid="27" grpId="0"/>
      <p:bldP spid="28" grpId="0"/>
      <p:bldP spid="29" grpId="0"/>
      <p:bldP spid="30" grpId="0"/>
      <p:bldP spid="31" grpId="0"/>
      <p:bldP spid="32" grpId="0"/>
      <p:bldP spid="33"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0AE6062E-E243-219E-35AB-7178DD365A5C}"/>
              </a:ext>
            </a:extLst>
          </p:cNvPr>
          <p:cNvSpPr txBox="1">
            <a:spLocks noChangeArrowheads="1"/>
          </p:cNvSpPr>
          <p:nvPr/>
        </p:nvSpPr>
        <p:spPr>
          <a:xfrm>
            <a:off x="474772" y="1230902"/>
            <a:ext cx="4253076"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8.3.2 </a:t>
            </a:r>
            <a:r>
              <a:rPr kumimoji="1" lang="zh-CN" altLang="en-US" dirty="0">
                <a:latin typeface="微软雅黑" pitchFamily="34" charset="-122"/>
                <a:ea typeface="微软雅黑" pitchFamily="34" charset="-122"/>
              </a:rPr>
              <a:t>深度优先遍历算法</a:t>
            </a:r>
            <a:endParaRPr lang="zh-CN" altLang="en-US" dirty="0"/>
          </a:p>
        </p:txBody>
      </p:sp>
      <p:sp>
        <p:nvSpPr>
          <p:cNvPr id="3" name="矩形 2">
            <a:extLst>
              <a:ext uri="{FF2B5EF4-FFF2-40B4-BE49-F238E27FC236}">
                <a16:creationId xmlns:a16="http://schemas.microsoft.com/office/drawing/2014/main" id="{BA4DD70B-8A64-8B7E-1F75-6EE4B24988A1}"/>
              </a:ext>
            </a:extLst>
          </p:cNvPr>
          <p:cNvSpPr/>
          <p:nvPr/>
        </p:nvSpPr>
        <p:spPr>
          <a:xfrm>
            <a:off x="3200907" y="399148"/>
            <a:ext cx="4617860"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8.3 </a:t>
            </a:r>
            <a:r>
              <a:rPr lang="zh-CN" altLang="en-US" sz="3000" b="1" dirty="0">
                <a:latin typeface="黑体" pitchFamily="49" charset="-122"/>
                <a:ea typeface="黑体" pitchFamily="49" charset="-122"/>
                <a:cs typeface="经典粗黑简" pitchFamily="49" charset="-122"/>
              </a:rPr>
              <a:t>图的遍历</a:t>
            </a:r>
          </a:p>
        </p:txBody>
      </p:sp>
      <p:cxnSp>
        <p:nvCxnSpPr>
          <p:cNvPr id="4" name="直接连接符 3">
            <a:extLst>
              <a:ext uri="{FF2B5EF4-FFF2-40B4-BE49-F238E27FC236}">
                <a16:creationId xmlns:a16="http://schemas.microsoft.com/office/drawing/2014/main" id="{7BFD4B4D-2CB7-F37C-85A9-B335609C8A98}"/>
              </a:ext>
            </a:extLst>
          </p:cNvPr>
          <p:cNvCxnSpPr>
            <a:cxnSpLocks/>
          </p:cNvCxnSpPr>
          <p:nvPr/>
        </p:nvCxnSpPr>
        <p:spPr>
          <a:xfrm>
            <a:off x="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5" name="TextBox 12">
            <a:extLst>
              <a:ext uri="{FF2B5EF4-FFF2-40B4-BE49-F238E27FC236}">
                <a16:creationId xmlns:a16="http://schemas.microsoft.com/office/drawing/2014/main" id="{707AF4AC-2331-C50C-F118-E37F0B1B3FD6}"/>
              </a:ext>
            </a:extLst>
          </p:cNvPr>
          <p:cNvSpPr txBox="1"/>
          <p:nvPr/>
        </p:nvSpPr>
        <p:spPr>
          <a:xfrm>
            <a:off x="1487488" y="2671090"/>
            <a:ext cx="8358246" cy="477054"/>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pPr marL="457200" indent="-457200" algn="l">
              <a:lnSpc>
                <a:spcPts val="3200"/>
              </a:lnSpc>
              <a:buBlip>
                <a:blip r:embed="rId2"/>
              </a:buBlip>
            </a:pPr>
            <a:r>
              <a:rPr kumimoji="1" lang="zh-CN" altLang="en-US" sz="2000" dirty="0">
                <a:solidFill>
                  <a:srgbClr val="0000FF"/>
                </a:solidFill>
                <a:latin typeface="Consolas" pitchFamily="49" charset="0"/>
                <a:ea typeface="仿宋" pitchFamily="49" charset="-122"/>
                <a:cs typeface="Consolas" pitchFamily="49" charset="0"/>
              </a:rPr>
              <a:t>深度优先遍历的过程</a:t>
            </a:r>
            <a:r>
              <a:rPr lang="zh-CN" altLang="en-US" sz="2000">
                <a:solidFill>
                  <a:srgbClr val="0000FF"/>
                </a:solidFill>
                <a:latin typeface="Consolas" pitchFamily="49" charset="0"/>
                <a:ea typeface="仿宋" pitchFamily="49" charset="-122"/>
                <a:cs typeface="Consolas" pitchFamily="49" charset="0"/>
              </a:rPr>
              <a:t>体现出后进先出</a:t>
            </a:r>
            <a:r>
              <a:rPr lang="zh-CN" altLang="en-US" sz="2000" dirty="0">
                <a:solidFill>
                  <a:srgbClr val="0000FF"/>
                </a:solidFill>
                <a:latin typeface="Consolas" pitchFamily="49" charset="0"/>
                <a:ea typeface="仿宋" pitchFamily="49" charset="-122"/>
                <a:cs typeface="Consolas" pitchFamily="49" charset="0"/>
              </a:rPr>
              <a:t>的特点：用</a:t>
            </a:r>
            <a:r>
              <a:rPr lang="zh-CN" altLang="en-US" sz="2000" dirty="0">
                <a:solidFill>
                  <a:srgbClr val="C00000"/>
                </a:solidFill>
                <a:latin typeface="方正启体简体" pitchFamily="65" charset="-122"/>
                <a:ea typeface="方正启体简体" pitchFamily="65" charset="-122"/>
                <a:cs typeface="Consolas" pitchFamily="49" charset="0"/>
              </a:rPr>
              <a:t>栈</a:t>
            </a:r>
            <a:r>
              <a:rPr lang="zh-CN" altLang="en-US" sz="2000" dirty="0">
                <a:solidFill>
                  <a:srgbClr val="0000FF"/>
                </a:solidFill>
                <a:latin typeface="Consolas" pitchFamily="49" charset="0"/>
                <a:ea typeface="仿宋" pitchFamily="49" charset="-122"/>
                <a:cs typeface="Consolas" pitchFamily="49" charset="0"/>
              </a:rPr>
              <a:t>或</a:t>
            </a:r>
            <a:r>
              <a:rPr lang="zh-CN" altLang="en-US" sz="2000" dirty="0">
                <a:solidFill>
                  <a:srgbClr val="C00000"/>
                </a:solidFill>
                <a:latin typeface="方正启体简体" pitchFamily="65" charset="-122"/>
                <a:ea typeface="方正启体简体" pitchFamily="65" charset="-122"/>
                <a:cs typeface="Consolas" pitchFamily="49" charset="0"/>
              </a:rPr>
              <a:t>递归方式</a:t>
            </a:r>
            <a:r>
              <a:rPr lang="zh-CN" altLang="en-US" sz="2000" dirty="0">
                <a:solidFill>
                  <a:srgbClr val="0000FF"/>
                </a:solidFill>
                <a:latin typeface="Consolas" pitchFamily="49" charset="0"/>
                <a:ea typeface="仿宋" pitchFamily="49" charset="-122"/>
                <a:cs typeface="Consolas" pitchFamily="49" charset="0"/>
              </a:rPr>
              <a:t>实现。</a:t>
            </a:r>
          </a:p>
        </p:txBody>
      </p:sp>
      <p:sp>
        <p:nvSpPr>
          <p:cNvPr id="6" name="TextBox 13">
            <a:extLst>
              <a:ext uri="{FF2B5EF4-FFF2-40B4-BE49-F238E27FC236}">
                <a16:creationId xmlns:a16="http://schemas.microsoft.com/office/drawing/2014/main" id="{B5FFE0A5-DEAB-DB6D-958B-5386F57C24EE}"/>
              </a:ext>
            </a:extLst>
          </p:cNvPr>
          <p:cNvSpPr txBox="1"/>
          <p:nvPr/>
        </p:nvSpPr>
        <p:spPr>
          <a:xfrm>
            <a:off x="1416050" y="2030784"/>
            <a:ext cx="2286016" cy="461665"/>
          </a:xfrm>
          <a:prstGeom prst="rect">
            <a:avLst/>
          </a:prstGeom>
          <a:noFill/>
        </p:spPr>
        <p:txBody>
          <a:bodyPr wrap="square" rtlCol="0">
            <a:spAutoFit/>
          </a:bodyPr>
          <a:lstStyle/>
          <a:p>
            <a:pPr algn="l"/>
            <a:r>
              <a:rPr kumimoji="1" lang="zh-CN" altLang="en-US" sz="2400" dirty="0">
                <a:latin typeface="微软雅黑" pitchFamily="34" charset="-122"/>
                <a:ea typeface="微软雅黑" pitchFamily="34" charset="-122"/>
                <a:cs typeface="经典粗黑简" pitchFamily="49" charset="-122"/>
              </a:rPr>
              <a:t>算法设计思路：</a:t>
            </a:r>
          </a:p>
        </p:txBody>
      </p:sp>
      <p:grpSp>
        <p:nvGrpSpPr>
          <p:cNvPr id="7" name="组合 53">
            <a:extLst>
              <a:ext uri="{FF2B5EF4-FFF2-40B4-BE49-F238E27FC236}">
                <a16:creationId xmlns:a16="http://schemas.microsoft.com/office/drawing/2014/main" id="{0E7F261D-C8FD-5DE5-3F48-950DB1E50385}"/>
              </a:ext>
            </a:extLst>
          </p:cNvPr>
          <p:cNvGrpSpPr/>
          <p:nvPr/>
        </p:nvGrpSpPr>
        <p:grpSpPr>
          <a:xfrm>
            <a:off x="1487488" y="3388107"/>
            <a:ext cx="8358246" cy="2214577"/>
            <a:chOff x="428596" y="3714753"/>
            <a:chExt cx="7928962" cy="2214577"/>
          </a:xfrm>
        </p:grpSpPr>
        <p:sp>
          <p:nvSpPr>
            <p:cNvPr id="8" name="Rectangle 3">
              <a:extLst>
                <a:ext uri="{FF2B5EF4-FFF2-40B4-BE49-F238E27FC236}">
                  <a16:creationId xmlns:a16="http://schemas.microsoft.com/office/drawing/2014/main" id="{5B5C1806-7920-249C-C18A-A76D70A28B5C}"/>
                </a:ext>
              </a:extLst>
            </p:cNvPr>
            <p:cNvSpPr>
              <a:spLocks noChangeArrowheads="1"/>
            </p:cNvSpPr>
            <p:nvPr/>
          </p:nvSpPr>
          <p:spPr bwMode="auto">
            <a:xfrm>
              <a:off x="428596" y="3714753"/>
              <a:ext cx="7928962" cy="1323439"/>
            </a:xfrm>
            <a:prstGeom prst="rect">
              <a:avLst/>
            </a:prstGeom>
            <a:ln>
              <a:headEnd/>
              <a:tailEnd type="none" w="med" len="lg"/>
            </a:ln>
          </p:spPr>
          <p:style>
            <a:lnRef idx="2">
              <a:schemeClr val="accent5"/>
            </a:lnRef>
            <a:fillRef idx="1">
              <a:schemeClr val="lt1"/>
            </a:fillRef>
            <a:effectRef idx="0">
              <a:schemeClr val="accent5"/>
            </a:effectRef>
            <a:fontRef idx="minor">
              <a:schemeClr val="dk1"/>
            </a:fontRef>
          </p:style>
          <p:txBody>
            <a:bodyPr wrap="square">
              <a:spAutoFit/>
            </a:bodyPr>
            <a:lstStyle/>
            <a:p>
              <a:pPr marL="457200" indent="-457200" algn="l">
                <a:lnSpc>
                  <a:spcPts val="3200"/>
                </a:lnSpc>
                <a:spcBef>
                  <a:spcPct val="50000"/>
                </a:spcBef>
                <a:buBlip>
                  <a:blip r:embed="rId2"/>
                </a:buBlip>
              </a:pPr>
              <a:r>
                <a:rPr kumimoji="1" lang="zh-CN" altLang="en-US" sz="2000" dirty="0">
                  <a:solidFill>
                    <a:srgbClr val="0000FF"/>
                  </a:solidFill>
                  <a:latin typeface="Consolas" pitchFamily="49" charset="0"/>
                  <a:ea typeface="仿宋" pitchFamily="49" charset="-122"/>
                  <a:cs typeface="Consolas" pitchFamily="49" charset="0"/>
                </a:rPr>
                <a:t>如何确定一个顶点是否</a:t>
              </a:r>
              <a:r>
                <a:rPr kumimoji="1" lang="zh-CN" altLang="en-US" sz="2000">
                  <a:solidFill>
                    <a:srgbClr val="0000FF"/>
                  </a:solidFill>
                  <a:latin typeface="Consolas" pitchFamily="49" charset="0"/>
                  <a:ea typeface="仿宋" pitchFamily="49" charset="-122"/>
                  <a:cs typeface="Consolas" pitchFamily="49" charset="0"/>
                </a:rPr>
                <a:t>访问过</a:t>
              </a:r>
              <a:r>
                <a:rPr kumimoji="1" lang="en-US" altLang="zh-CN" sz="2000">
                  <a:solidFill>
                    <a:srgbClr val="0000FF"/>
                  </a:solidFill>
                  <a:latin typeface="Consolas" pitchFamily="49" charset="0"/>
                  <a:ea typeface="仿宋" pitchFamily="49" charset="-122"/>
                  <a:cs typeface="Consolas" pitchFamily="49" charset="0"/>
                </a:rPr>
                <a:t>? </a:t>
              </a:r>
              <a:r>
                <a:rPr kumimoji="1" lang="zh-CN" altLang="en-US" sz="2000">
                  <a:solidFill>
                    <a:srgbClr val="0000FF"/>
                  </a:solidFill>
                  <a:latin typeface="Consolas" pitchFamily="49" charset="0"/>
                  <a:ea typeface="仿宋" pitchFamily="49" charset="-122"/>
                  <a:cs typeface="Consolas" pitchFamily="49" charset="0"/>
                </a:rPr>
                <a:t>设置</a:t>
              </a:r>
              <a:r>
                <a:rPr kumimoji="1" lang="zh-CN" altLang="en-US" sz="2000" dirty="0">
                  <a:solidFill>
                    <a:srgbClr val="0000FF"/>
                  </a:solidFill>
                  <a:latin typeface="Consolas" pitchFamily="49" charset="0"/>
                  <a:ea typeface="仿宋" pitchFamily="49" charset="-122"/>
                  <a:cs typeface="Consolas" pitchFamily="49" charset="0"/>
                </a:rPr>
                <a:t>一个</a:t>
              </a:r>
              <a:r>
                <a:rPr kumimoji="1" lang="en-US" altLang="zh-CN" sz="2000" dirty="0">
                  <a:solidFill>
                    <a:srgbClr val="FF00FF"/>
                  </a:solidFill>
                  <a:latin typeface="Consolas" pitchFamily="49" charset="0"/>
                  <a:ea typeface="仿宋" pitchFamily="49" charset="-122"/>
                  <a:cs typeface="Consolas" pitchFamily="49" charset="0"/>
                </a:rPr>
                <a:t>visited[]</a:t>
              </a:r>
              <a:r>
                <a:rPr kumimoji="1" lang="zh-CN" altLang="en-US" sz="2000" dirty="0">
                  <a:solidFill>
                    <a:srgbClr val="FF00FF"/>
                  </a:solidFill>
                  <a:latin typeface="Consolas" pitchFamily="49" charset="0"/>
                  <a:ea typeface="仿宋" pitchFamily="49" charset="-122"/>
                  <a:cs typeface="Consolas" pitchFamily="49" charset="0"/>
                </a:rPr>
                <a:t> </a:t>
              </a:r>
              <a:r>
                <a:rPr kumimoji="1" lang="zh-CN" altLang="en-US" sz="2000">
                  <a:solidFill>
                    <a:srgbClr val="0000FF"/>
                  </a:solidFill>
                  <a:latin typeface="Consolas" pitchFamily="49" charset="0"/>
                  <a:ea typeface="仿宋" pitchFamily="49" charset="-122"/>
                  <a:cs typeface="Consolas" pitchFamily="49" charset="0"/>
                </a:rPr>
                <a:t>全局数组，</a:t>
              </a:r>
              <a:r>
                <a:rPr kumimoji="1" lang="en-US" altLang="zh-CN" sz="2000">
                  <a:solidFill>
                    <a:srgbClr val="0000FF"/>
                  </a:solidFill>
                  <a:latin typeface="Consolas" pitchFamily="49" charset="0"/>
                  <a:ea typeface="仿宋" pitchFamily="49" charset="-122"/>
                  <a:cs typeface="Consolas" pitchFamily="49" charset="0"/>
                </a:rPr>
                <a:t> </a:t>
              </a:r>
              <a:r>
                <a:rPr kumimoji="1" lang="en-US" altLang="zh-CN" sz="2000" dirty="0">
                  <a:solidFill>
                    <a:srgbClr val="FF00FF"/>
                  </a:solidFill>
                  <a:latin typeface="Consolas" pitchFamily="49" charset="0"/>
                  <a:ea typeface="仿宋" pitchFamily="49" charset="-122"/>
                  <a:cs typeface="Consolas" pitchFamily="49" charset="0"/>
                </a:rPr>
                <a:t>visited[</a:t>
              </a:r>
              <a:r>
                <a:rPr kumimoji="1" lang="en-US" altLang="zh-CN" sz="2000" i="1" dirty="0" err="1">
                  <a:solidFill>
                    <a:srgbClr val="FF00FF"/>
                  </a:solidFill>
                  <a:latin typeface="Consolas" pitchFamily="49" charset="0"/>
                  <a:ea typeface="仿宋" pitchFamily="49" charset="-122"/>
                  <a:cs typeface="Consolas" pitchFamily="49" charset="0"/>
                </a:rPr>
                <a:t>i</a:t>
              </a:r>
              <a:r>
                <a:rPr kumimoji="1" lang="en-US" altLang="zh-CN" sz="2000" dirty="0">
                  <a:solidFill>
                    <a:srgbClr val="FF00FF"/>
                  </a:solidFill>
                  <a:latin typeface="Consolas" pitchFamily="49" charset="0"/>
                  <a:ea typeface="仿宋" pitchFamily="49" charset="-122"/>
                  <a:cs typeface="Consolas" pitchFamily="49" charset="0"/>
                </a:rPr>
                <a:t>]=0</a:t>
              </a:r>
              <a:r>
                <a:rPr kumimoji="1" lang="zh-CN" altLang="en-US" sz="2000" dirty="0">
                  <a:solidFill>
                    <a:srgbClr val="0000FF"/>
                  </a:solidFill>
                  <a:latin typeface="Consolas" pitchFamily="49" charset="0"/>
                  <a:ea typeface="仿宋" pitchFamily="49" charset="-122"/>
                  <a:cs typeface="Consolas" pitchFamily="49" charset="0"/>
                </a:rPr>
                <a:t>表示顶点</a:t>
              </a:r>
              <a:r>
                <a:rPr kumimoji="1" lang="en-US" altLang="zh-CN" sz="2000" i="1" dirty="0" err="1">
                  <a:solidFill>
                    <a:srgbClr val="0000FF"/>
                  </a:solidFill>
                  <a:latin typeface="Consolas" pitchFamily="49" charset="0"/>
                  <a:ea typeface="仿宋" pitchFamily="49" charset="-122"/>
                  <a:cs typeface="Consolas" pitchFamily="49" charset="0"/>
                </a:rPr>
                <a:t>i</a:t>
              </a:r>
              <a:r>
                <a:rPr kumimoji="1" lang="zh-CN" altLang="en-US" sz="2000" dirty="0">
                  <a:solidFill>
                    <a:srgbClr val="0000FF"/>
                  </a:solidFill>
                  <a:latin typeface="Consolas" pitchFamily="49" charset="0"/>
                  <a:ea typeface="仿宋" pitchFamily="49" charset="-122"/>
                  <a:cs typeface="Consolas" pitchFamily="49" charset="0"/>
                </a:rPr>
                <a:t>没有访问；</a:t>
              </a:r>
              <a:r>
                <a:rPr kumimoji="1" lang="en-US" altLang="zh-CN" sz="2000" dirty="0">
                  <a:solidFill>
                    <a:srgbClr val="0000FF"/>
                  </a:solidFill>
                  <a:latin typeface="Consolas" pitchFamily="49" charset="0"/>
                  <a:ea typeface="仿宋" pitchFamily="49" charset="-122"/>
                  <a:cs typeface="Consolas" pitchFamily="49" charset="0"/>
                </a:rPr>
                <a:t> </a:t>
              </a:r>
              <a:r>
                <a:rPr kumimoji="1" lang="en-US" altLang="zh-CN" sz="2000" dirty="0">
                  <a:solidFill>
                    <a:srgbClr val="FF00FF"/>
                  </a:solidFill>
                  <a:latin typeface="Consolas" pitchFamily="49" charset="0"/>
                  <a:ea typeface="仿宋" pitchFamily="49" charset="-122"/>
                  <a:cs typeface="Consolas" pitchFamily="49" charset="0"/>
                </a:rPr>
                <a:t>visited[</a:t>
              </a:r>
              <a:r>
                <a:rPr kumimoji="1" lang="en-US" altLang="zh-CN" sz="2000" i="1" dirty="0" err="1">
                  <a:solidFill>
                    <a:srgbClr val="FF00FF"/>
                  </a:solidFill>
                  <a:latin typeface="Consolas" pitchFamily="49" charset="0"/>
                  <a:ea typeface="仿宋" pitchFamily="49" charset="-122"/>
                  <a:cs typeface="Consolas" pitchFamily="49" charset="0"/>
                </a:rPr>
                <a:t>i</a:t>
              </a:r>
              <a:r>
                <a:rPr kumimoji="1" lang="en-US" altLang="zh-CN" sz="2000" dirty="0">
                  <a:solidFill>
                    <a:srgbClr val="FF00FF"/>
                  </a:solidFill>
                  <a:latin typeface="Consolas" pitchFamily="49" charset="0"/>
                  <a:ea typeface="仿宋" pitchFamily="49" charset="-122"/>
                  <a:cs typeface="Consolas" pitchFamily="49" charset="0"/>
                </a:rPr>
                <a:t>]=1</a:t>
              </a:r>
              <a:r>
                <a:rPr kumimoji="1" lang="zh-CN" altLang="en-US" sz="2000" dirty="0">
                  <a:solidFill>
                    <a:srgbClr val="0000FF"/>
                  </a:solidFill>
                  <a:latin typeface="Consolas" pitchFamily="49" charset="0"/>
                  <a:ea typeface="仿宋" pitchFamily="49" charset="-122"/>
                  <a:cs typeface="Consolas" pitchFamily="49" charset="0"/>
                </a:rPr>
                <a:t>表示顶点</a:t>
              </a:r>
              <a:r>
                <a:rPr kumimoji="1" lang="en-US" altLang="zh-CN" sz="2000" i="1" dirty="0" err="1">
                  <a:solidFill>
                    <a:srgbClr val="0000FF"/>
                  </a:solidFill>
                  <a:latin typeface="Consolas" pitchFamily="49" charset="0"/>
                  <a:ea typeface="仿宋" pitchFamily="49" charset="-122"/>
                  <a:cs typeface="Consolas" pitchFamily="49" charset="0"/>
                </a:rPr>
                <a:t>i</a:t>
              </a:r>
              <a:r>
                <a:rPr kumimoji="1" lang="zh-CN" altLang="en-US" sz="2000" dirty="0">
                  <a:solidFill>
                    <a:srgbClr val="0000FF"/>
                  </a:solidFill>
                  <a:latin typeface="Consolas" pitchFamily="49" charset="0"/>
                  <a:ea typeface="仿宋" pitchFamily="49" charset="-122"/>
                  <a:cs typeface="Consolas" pitchFamily="49" charset="0"/>
                </a:rPr>
                <a:t>已经访问过。</a:t>
              </a:r>
            </a:p>
          </p:txBody>
        </p:sp>
        <p:sp>
          <p:nvSpPr>
            <p:cNvPr id="9" name="Oval 10">
              <a:extLst>
                <a:ext uri="{FF2B5EF4-FFF2-40B4-BE49-F238E27FC236}">
                  <a16:creationId xmlns:a16="http://schemas.microsoft.com/office/drawing/2014/main" id="{7A1388B7-2227-C8F3-1CE6-79203F9C5E5D}"/>
                </a:ext>
              </a:extLst>
            </p:cNvPr>
            <p:cNvSpPr>
              <a:spLocks noChangeArrowheads="1"/>
            </p:cNvSpPr>
            <p:nvPr/>
          </p:nvSpPr>
          <p:spPr bwMode="auto">
            <a:xfrm>
              <a:off x="2928926" y="5299635"/>
              <a:ext cx="431800"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2000" i="1" dirty="0">
                  <a:solidFill>
                    <a:srgbClr val="0000FF"/>
                  </a:solidFill>
                  <a:latin typeface="Consolas" pitchFamily="49" charset="0"/>
                  <a:cs typeface="Consolas" pitchFamily="49" charset="0"/>
                </a:rPr>
                <a:t>i</a:t>
              </a:r>
            </a:p>
          </p:txBody>
        </p:sp>
        <p:sp>
          <p:nvSpPr>
            <p:cNvPr id="10" name="TextBox 34">
              <a:extLst>
                <a:ext uri="{FF2B5EF4-FFF2-40B4-BE49-F238E27FC236}">
                  <a16:creationId xmlns:a16="http://schemas.microsoft.com/office/drawing/2014/main" id="{356F7546-1B64-509C-A040-9AE945762DEB}"/>
                </a:ext>
              </a:extLst>
            </p:cNvPr>
            <p:cNvSpPr txBox="1"/>
            <p:nvPr/>
          </p:nvSpPr>
          <p:spPr>
            <a:xfrm>
              <a:off x="3571868" y="5299635"/>
              <a:ext cx="1571636" cy="400110"/>
            </a:xfrm>
            <a:prstGeom prst="rect">
              <a:avLst/>
            </a:prstGeom>
            <a:noFill/>
          </p:spPr>
          <p:txBody>
            <a:bodyPr wrap="square" rtlCol="0">
              <a:spAutoFit/>
            </a:bodyPr>
            <a:lstStyle/>
            <a:p>
              <a:pPr algn="l"/>
              <a:r>
                <a:rPr kumimoji="1" lang="en-US" altLang="zh-CN" sz="2000">
                  <a:solidFill>
                    <a:srgbClr val="0000FF"/>
                  </a:solidFill>
                  <a:latin typeface="Consolas" pitchFamily="49" charset="0"/>
                  <a:ea typeface="楷体" pitchFamily="49" charset="-122"/>
                  <a:cs typeface="Consolas" pitchFamily="49" charset="0"/>
                </a:rPr>
                <a:t>visited[</a:t>
              </a:r>
              <a:r>
                <a:rPr kumimoji="1" lang="en-US" altLang="zh-CN" sz="2000" i="1">
                  <a:solidFill>
                    <a:srgbClr val="0000FF"/>
                  </a:solidFill>
                  <a:latin typeface="Consolas" pitchFamily="49" charset="0"/>
                  <a:ea typeface="楷体" pitchFamily="49" charset="-122"/>
                  <a:cs typeface="Consolas" pitchFamily="49" charset="0"/>
                </a:rPr>
                <a:t>i</a:t>
              </a:r>
              <a:r>
                <a:rPr kumimoji="1" lang="en-US" altLang="zh-CN" sz="2000">
                  <a:solidFill>
                    <a:srgbClr val="0000FF"/>
                  </a:solidFill>
                  <a:latin typeface="Consolas" pitchFamily="49" charset="0"/>
                  <a:ea typeface="楷体" pitchFamily="49" charset="-122"/>
                  <a:cs typeface="Consolas" pitchFamily="49" charset="0"/>
                </a:rPr>
                <a:t>]</a:t>
              </a:r>
              <a:endParaRPr lang="zh-CN" altLang="en-US" sz="2000">
                <a:solidFill>
                  <a:srgbClr val="0000FF"/>
                </a:solidFill>
                <a:latin typeface="Consolas" pitchFamily="49" charset="0"/>
                <a:cs typeface="Consolas" pitchFamily="49" charset="0"/>
              </a:endParaRPr>
            </a:p>
          </p:txBody>
        </p:sp>
        <p:sp>
          <p:nvSpPr>
            <p:cNvPr id="11" name="任意多边形 52">
              <a:extLst>
                <a:ext uri="{FF2B5EF4-FFF2-40B4-BE49-F238E27FC236}">
                  <a16:creationId xmlns:a16="http://schemas.microsoft.com/office/drawing/2014/main" id="{83FD21D8-BC3F-DDA9-1D5A-8BCE70D10326}"/>
                </a:ext>
              </a:extLst>
            </p:cNvPr>
            <p:cNvSpPr/>
            <p:nvPr/>
          </p:nvSpPr>
          <p:spPr>
            <a:xfrm>
              <a:off x="3213100" y="5652047"/>
              <a:ext cx="1295400" cy="277283"/>
            </a:xfrm>
            <a:custGeom>
              <a:avLst/>
              <a:gdLst>
                <a:gd name="connsiteX0" fmla="*/ 0 w 1295400"/>
                <a:gd name="connsiteY0" fmla="*/ 0 h 277283"/>
                <a:gd name="connsiteX1" fmla="*/ 317500 w 1295400"/>
                <a:gd name="connsiteY1" fmla="*/ 241300 h 277283"/>
                <a:gd name="connsiteX2" fmla="*/ 1016000 w 1295400"/>
                <a:gd name="connsiteY2" fmla="*/ 215900 h 277283"/>
                <a:gd name="connsiteX3" fmla="*/ 1295400 w 1295400"/>
                <a:gd name="connsiteY3" fmla="*/ 25400 h 277283"/>
              </a:gdLst>
              <a:ahLst/>
              <a:cxnLst>
                <a:cxn ang="0">
                  <a:pos x="connsiteX0" y="connsiteY0"/>
                </a:cxn>
                <a:cxn ang="0">
                  <a:pos x="connsiteX1" y="connsiteY1"/>
                </a:cxn>
                <a:cxn ang="0">
                  <a:pos x="connsiteX2" y="connsiteY2"/>
                </a:cxn>
                <a:cxn ang="0">
                  <a:pos x="connsiteX3" y="connsiteY3"/>
                </a:cxn>
              </a:cxnLst>
              <a:rect l="l" t="t" r="r" b="b"/>
              <a:pathLst>
                <a:path w="1295400" h="277283">
                  <a:moveTo>
                    <a:pt x="0" y="0"/>
                  </a:moveTo>
                  <a:cubicBezTo>
                    <a:pt x="74083" y="102658"/>
                    <a:pt x="148167" y="205317"/>
                    <a:pt x="317500" y="241300"/>
                  </a:cubicBezTo>
                  <a:cubicBezTo>
                    <a:pt x="486833" y="277283"/>
                    <a:pt x="853017" y="251883"/>
                    <a:pt x="1016000" y="215900"/>
                  </a:cubicBezTo>
                  <a:cubicBezTo>
                    <a:pt x="1178983" y="179917"/>
                    <a:pt x="1237191" y="102658"/>
                    <a:pt x="1295400" y="25400"/>
                  </a:cubicBezTo>
                </a:path>
              </a:pathLst>
            </a:custGeom>
            <a:ln w="28575">
              <a:solidFill>
                <a:srgbClr val="7030A0"/>
              </a:solidFill>
              <a:headEnd type="arrow"/>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2000">
                <a:latin typeface="Consolas" pitchFamily="49" charset="0"/>
                <a:cs typeface="Consolas" pitchFamily="49" charset="0"/>
              </a:endParaRPr>
            </a:p>
          </p:txBody>
        </p:sp>
      </p:grpSp>
    </p:spTree>
    <p:extLst>
      <p:ext uri="{BB962C8B-B14F-4D97-AF65-F5344CB8AC3E}">
        <p14:creationId xmlns:p14="http://schemas.microsoft.com/office/powerpoint/2010/main" val="39117474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5D9284BF-C5B5-D256-FD51-48EEE1CA0D1E}"/>
              </a:ext>
            </a:extLst>
          </p:cNvPr>
          <p:cNvSpPr txBox="1">
            <a:spLocks noChangeArrowheads="1"/>
          </p:cNvSpPr>
          <p:nvPr/>
        </p:nvSpPr>
        <p:spPr>
          <a:xfrm>
            <a:off x="474772" y="1230902"/>
            <a:ext cx="4253076"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8.3.2 </a:t>
            </a:r>
            <a:r>
              <a:rPr kumimoji="1" lang="zh-CN" altLang="en-US" dirty="0">
                <a:latin typeface="微软雅黑" pitchFamily="34" charset="-122"/>
                <a:ea typeface="微软雅黑" pitchFamily="34" charset="-122"/>
              </a:rPr>
              <a:t>深度优先遍历算法</a:t>
            </a:r>
            <a:endParaRPr lang="zh-CN" altLang="en-US" dirty="0"/>
          </a:p>
        </p:txBody>
      </p:sp>
      <p:sp>
        <p:nvSpPr>
          <p:cNvPr id="3" name="矩形 2">
            <a:extLst>
              <a:ext uri="{FF2B5EF4-FFF2-40B4-BE49-F238E27FC236}">
                <a16:creationId xmlns:a16="http://schemas.microsoft.com/office/drawing/2014/main" id="{D2CDF8FF-26B3-C592-97F5-923C12442E8A}"/>
              </a:ext>
            </a:extLst>
          </p:cNvPr>
          <p:cNvSpPr/>
          <p:nvPr/>
        </p:nvSpPr>
        <p:spPr>
          <a:xfrm>
            <a:off x="3200907" y="399148"/>
            <a:ext cx="4617860"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8.3 </a:t>
            </a:r>
            <a:r>
              <a:rPr lang="zh-CN" altLang="en-US" sz="3000" b="1" dirty="0">
                <a:latin typeface="黑体" pitchFamily="49" charset="-122"/>
                <a:ea typeface="黑体" pitchFamily="49" charset="-122"/>
                <a:cs typeface="经典粗黑简" pitchFamily="49" charset="-122"/>
              </a:rPr>
              <a:t>图的遍历</a:t>
            </a:r>
          </a:p>
        </p:txBody>
      </p:sp>
      <p:cxnSp>
        <p:nvCxnSpPr>
          <p:cNvPr id="4" name="直接连接符 3">
            <a:extLst>
              <a:ext uri="{FF2B5EF4-FFF2-40B4-BE49-F238E27FC236}">
                <a16:creationId xmlns:a16="http://schemas.microsoft.com/office/drawing/2014/main" id="{B42CF4D4-C29A-7D9E-072E-405F499991E6}"/>
              </a:ext>
            </a:extLst>
          </p:cNvPr>
          <p:cNvCxnSpPr>
            <a:cxnSpLocks/>
          </p:cNvCxnSpPr>
          <p:nvPr/>
        </p:nvCxnSpPr>
        <p:spPr>
          <a:xfrm>
            <a:off x="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5" name="Text Box 2">
            <a:extLst>
              <a:ext uri="{FF2B5EF4-FFF2-40B4-BE49-F238E27FC236}">
                <a16:creationId xmlns:a16="http://schemas.microsoft.com/office/drawing/2014/main" id="{74D1C9F6-ACDC-C960-B08C-BE2B390B3EDD}"/>
              </a:ext>
            </a:extLst>
          </p:cNvPr>
          <p:cNvSpPr txBox="1">
            <a:spLocks noChangeArrowheads="1"/>
          </p:cNvSpPr>
          <p:nvPr/>
        </p:nvSpPr>
        <p:spPr bwMode="auto">
          <a:xfrm>
            <a:off x="1343472" y="2348880"/>
            <a:ext cx="8548718" cy="4170267"/>
          </a:xfrm>
          <a:prstGeom prst="rect">
            <a:avLst/>
          </a:prstGeom>
          <a:solidFill>
            <a:schemeClr val="bg1">
              <a:lumMod val="95000"/>
            </a:schemeClr>
          </a:solidFill>
          <a:ln>
            <a:noFill/>
            <a:headEnd/>
            <a:tailEnd/>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1">
            <a:schemeClr val="accent3"/>
          </a:lnRef>
          <a:fillRef idx="2">
            <a:schemeClr val="accent3"/>
          </a:fillRef>
          <a:effectRef idx="1">
            <a:schemeClr val="accent3"/>
          </a:effectRef>
          <a:fontRef idx="minor">
            <a:schemeClr val="dk1"/>
          </a:fontRef>
        </p:style>
        <p:txBody>
          <a:bodyPr wrap="square" lIns="252000" tIns="216000" rIns="180000" bIns="108000">
            <a:spAutoFit/>
          </a:bodyPr>
          <a:lstStyle/>
          <a:p>
            <a:pPr algn="just">
              <a:lnSpc>
                <a:spcPts val="1500"/>
              </a:lnSpc>
              <a:spcBef>
                <a:spcPct val="50000"/>
              </a:spcBef>
            </a:pPr>
            <a:r>
              <a:rPr kumimoji="1" lang="en-US" altLang="zh-CN" sz="1800" dirty="0">
                <a:solidFill>
                  <a:srgbClr val="0000FF"/>
                </a:solidFill>
                <a:latin typeface="Consolas" pitchFamily="49" charset="0"/>
                <a:ea typeface="仿宋" pitchFamily="49" charset="-122"/>
                <a:cs typeface="Consolas" pitchFamily="49" charset="0"/>
              </a:rPr>
              <a:t>void </a:t>
            </a:r>
            <a:r>
              <a:rPr kumimoji="1" lang="en-US" altLang="zh-CN" sz="1800" dirty="0">
                <a:solidFill>
                  <a:srgbClr val="FF0000"/>
                </a:solidFill>
                <a:latin typeface="Consolas" pitchFamily="49" charset="0"/>
                <a:ea typeface="仿宋" pitchFamily="49" charset="-122"/>
                <a:cs typeface="Consolas" pitchFamily="49" charset="0"/>
              </a:rPr>
              <a:t>DFS</a:t>
            </a:r>
            <a:r>
              <a:rPr kumimoji="1" lang="en-US" altLang="zh-CN" sz="1800" dirty="0">
                <a:solidFill>
                  <a:srgbClr val="0000FF"/>
                </a:solidFill>
                <a:latin typeface="Consolas" pitchFamily="49" charset="0"/>
                <a:ea typeface="仿宋" pitchFamily="49" charset="-122"/>
                <a:cs typeface="Consolas" pitchFamily="49" charset="0"/>
              </a:rPr>
              <a:t>(</a:t>
            </a:r>
            <a:r>
              <a:rPr kumimoji="1" lang="en-US" altLang="zh-CN" sz="1800" dirty="0" err="1">
                <a:solidFill>
                  <a:srgbClr val="0000FF"/>
                </a:solidFill>
                <a:latin typeface="Consolas" pitchFamily="49" charset="0"/>
                <a:ea typeface="仿宋" pitchFamily="49" charset="-122"/>
                <a:cs typeface="Consolas" pitchFamily="49" charset="0"/>
              </a:rPr>
              <a:t>AdjGraph</a:t>
            </a:r>
            <a:r>
              <a:rPr kumimoji="1" lang="en-US" altLang="zh-CN" sz="1800" dirty="0">
                <a:solidFill>
                  <a:srgbClr val="0000FF"/>
                </a:solidFill>
                <a:latin typeface="Consolas" pitchFamily="49" charset="0"/>
                <a:ea typeface="仿宋" pitchFamily="49" charset="-122"/>
                <a:cs typeface="Consolas" pitchFamily="49" charset="0"/>
              </a:rPr>
              <a:t> *G</a:t>
            </a:r>
            <a:r>
              <a:rPr kumimoji="1" lang="zh-CN" altLang="en-US" sz="1800" dirty="0">
                <a:solidFill>
                  <a:srgbClr val="0000FF"/>
                </a:solidFill>
                <a:latin typeface="Consolas" pitchFamily="49" charset="0"/>
                <a:ea typeface="仿宋" pitchFamily="49" charset="-122"/>
                <a:cs typeface="Consolas" pitchFamily="49" charset="0"/>
              </a:rPr>
              <a:t>，</a:t>
            </a:r>
            <a:r>
              <a:rPr kumimoji="1" lang="en-US" altLang="zh-CN" sz="1800" dirty="0">
                <a:solidFill>
                  <a:srgbClr val="FF00FF"/>
                </a:solidFill>
                <a:latin typeface="Consolas" pitchFamily="49" charset="0"/>
                <a:ea typeface="仿宋" pitchFamily="49" charset="-122"/>
                <a:cs typeface="Consolas" pitchFamily="49" charset="0"/>
              </a:rPr>
              <a:t>int v</a:t>
            </a:r>
            <a:r>
              <a:rPr kumimoji="1" lang="en-US" altLang="zh-CN" sz="1800" dirty="0">
                <a:solidFill>
                  <a:srgbClr val="0000FF"/>
                </a:solidFill>
                <a:latin typeface="Consolas" pitchFamily="49" charset="0"/>
                <a:ea typeface="仿宋" pitchFamily="49" charset="-122"/>
                <a:cs typeface="Consolas" pitchFamily="49" charset="0"/>
              </a:rPr>
              <a:t>)  </a:t>
            </a:r>
          </a:p>
          <a:p>
            <a:pPr algn="just">
              <a:lnSpc>
                <a:spcPts val="1500"/>
              </a:lnSpc>
              <a:spcBef>
                <a:spcPct val="50000"/>
              </a:spcBef>
            </a:pPr>
            <a:r>
              <a:rPr kumimoji="1" lang="en-US" altLang="zh-CN" sz="1800" dirty="0">
                <a:solidFill>
                  <a:srgbClr val="0000FF"/>
                </a:solidFill>
                <a:latin typeface="Consolas" pitchFamily="49" charset="0"/>
                <a:ea typeface="仿宋" pitchFamily="49" charset="-122"/>
                <a:cs typeface="Consolas" pitchFamily="49" charset="0"/>
              </a:rPr>
              <a:t>{  </a:t>
            </a:r>
            <a:r>
              <a:rPr kumimoji="1" lang="en-US" altLang="zh-CN" sz="1800" dirty="0" err="1">
                <a:solidFill>
                  <a:srgbClr val="0000FF"/>
                </a:solidFill>
                <a:latin typeface="Consolas" pitchFamily="49" charset="0"/>
                <a:ea typeface="仿宋" pitchFamily="49" charset="-122"/>
                <a:cs typeface="Consolas" pitchFamily="49" charset="0"/>
              </a:rPr>
              <a:t>ArcNode</a:t>
            </a:r>
            <a:r>
              <a:rPr kumimoji="1" lang="en-US" altLang="zh-CN" sz="1800" dirty="0">
                <a:solidFill>
                  <a:srgbClr val="0000FF"/>
                </a:solidFill>
                <a:latin typeface="Consolas" pitchFamily="49" charset="0"/>
                <a:ea typeface="仿宋" pitchFamily="49" charset="-122"/>
                <a:cs typeface="Consolas" pitchFamily="49" charset="0"/>
              </a:rPr>
              <a:t> *p; int w;</a:t>
            </a:r>
          </a:p>
          <a:p>
            <a:pPr algn="just">
              <a:lnSpc>
                <a:spcPts val="1500"/>
              </a:lnSpc>
              <a:spcBef>
                <a:spcPct val="50000"/>
              </a:spcBef>
            </a:pPr>
            <a:r>
              <a:rPr kumimoji="1" lang="en-US" altLang="zh-CN" sz="1800" dirty="0">
                <a:solidFill>
                  <a:srgbClr val="0000FF"/>
                </a:solidFill>
                <a:latin typeface="Consolas" pitchFamily="49" charset="0"/>
                <a:ea typeface="仿宋" pitchFamily="49" charset="-122"/>
                <a:cs typeface="Consolas" pitchFamily="49" charset="0"/>
              </a:rPr>
              <a:t>   visited[v]=1; 		</a:t>
            </a:r>
            <a:r>
              <a:rPr kumimoji="1" lang="en-US" altLang="zh-CN" sz="1800" dirty="0">
                <a:solidFill>
                  <a:srgbClr val="00B0F0"/>
                </a:solidFill>
                <a:latin typeface="Consolas" pitchFamily="49" charset="0"/>
                <a:ea typeface="仿宋" pitchFamily="49" charset="-122"/>
                <a:cs typeface="Consolas" pitchFamily="49" charset="0"/>
              </a:rPr>
              <a:t>//</a:t>
            </a:r>
            <a:r>
              <a:rPr kumimoji="1" lang="zh-CN" altLang="en-US" sz="1800" dirty="0">
                <a:solidFill>
                  <a:srgbClr val="00B0F0"/>
                </a:solidFill>
                <a:latin typeface="Consolas" pitchFamily="49" charset="0"/>
                <a:ea typeface="仿宋" pitchFamily="49" charset="-122"/>
                <a:cs typeface="Consolas" pitchFamily="49" charset="0"/>
              </a:rPr>
              <a:t>置已访问标记</a:t>
            </a:r>
          </a:p>
          <a:p>
            <a:pPr algn="just">
              <a:lnSpc>
                <a:spcPts val="1500"/>
              </a:lnSpc>
              <a:spcBef>
                <a:spcPct val="50000"/>
              </a:spcBef>
            </a:pPr>
            <a:r>
              <a:rPr kumimoji="1" lang="zh-CN" altLang="en-US" sz="1800" dirty="0">
                <a:solidFill>
                  <a:srgbClr val="0000FF"/>
                </a:solidFill>
                <a:latin typeface="Consolas" pitchFamily="49" charset="0"/>
                <a:ea typeface="仿宋" pitchFamily="49" charset="-122"/>
                <a:cs typeface="Consolas" pitchFamily="49" charset="0"/>
              </a:rPr>
              <a:t>   </a:t>
            </a:r>
            <a:r>
              <a:rPr kumimoji="1" lang="en-US" altLang="zh-CN" sz="1800" dirty="0" err="1">
                <a:solidFill>
                  <a:srgbClr val="FF00FF"/>
                </a:solidFill>
                <a:latin typeface="Consolas" pitchFamily="49" charset="0"/>
                <a:ea typeface="仿宋" pitchFamily="49" charset="-122"/>
                <a:cs typeface="Consolas" pitchFamily="49" charset="0"/>
              </a:rPr>
              <a:t>printf</a:t>
            </a:r>
            <a:r>
              <a:rPr kumimoji="1" lang="en-US" altLang="zh-CN" sz="1800" dirty="0">
                <a:solidFill>
                  <a:srgbClr val="FF00FF"/>
                </a:solidFill>
                <a:latin typeface="Consolas" pitchFamily="49" charset="0"/>
                <a:ea typeface="仿宋" pitchFamily="49" charset="-122"/>
                <a:cs typeface="Consolas" pitchFamily="49" charset="0"/>
              </a:rPr>
              <a:t>("%d  "</a:t>
            </a:r>
            <a:r>
              <a:rPr kumimoji="1" lang="zh-CN" altLang="en-US" sz="1800" dirty="0">
                <a:solidFill>
                  <a:srgbClr val="FF00FF"/>
                </a:solidFill>
                <a:latin typeface="Consolas" pitchFamily="49" charset="0"/>
                <a:ea typeface="仿宋" pitchFamily="49" charset="-122"/>
                <a:cs typeface="Consolas" pitchFamily="49" charset="0"/>
              </a:rPr>
              <a:t>，</a:t>
            </a:r>
            <a:r>
              <a:rPr kumimoji="1" lang="en-US" altLang="zh-CN" sz="1800" dirty="0">
                <a:solidFill>
                  <a:srgbClr val="FF00FF"/>
                </a:solidFill>
                <a:latin typeface="Consolas" pitchFamily="49" charset="0"/>
                <a:ea typeface="仿宋" pitchFamily="49" charset="-122"/>
                <a:cs typeface="Consolas" pitchFamily="49" charset="0"/>
              </a:rPr>
              <a:t>v); 	</a:t>
            </a:r>
            <a:r>
              <a:rPr kumimoji="1" lang="en-US" altLang="zh-CN" sz="1800" dirty="0">
                <a:solidFill>
                  <a:srgbClr val="0000FF"/>
                </a:solidFill>
                <a:latin typeface="Consolas" pitchFamily="49" charset="0"/>
                <a:ea typeface="仿宋" pitchFamily="49" charset="-122"/>
                <a:cs typeface="Consolas" pitchFamily="49" charset="0"/>
              </a:rPr>
              <a:t>	</a:t>
            </a:r>
            <a:r>
              <a:rPr kumimoji="1" lang="en-US" altLang="zh-CN" sz="1800" dirty="0">
                <a:solidFill>
                  <a:srgbClr val="00B0F0"/>
                </a:solidFill>
                <a:latin typeface="Consolas" pitchFamily="49" charset="0"/>
                <a:ea typeface="仿宋" pitchFamily="49" charset="-122"/>
                <a:cs typeface="Consolas" pitchFamily="49" charset="0"/>
              </a:rPr>
              <a:t>//</a:t>
            </a:r>
            <a:r>
              <a:rPr kumimoji="1" lang="zh-CN" altLang="en-US" sz="1800" dirty="0">
                <a:solidFill>
                  <a:srgbClr val="00B0F0"/>
                </a:solidFill>
                <a:latin typeface="Consolas" pitchFamily="49" charset="0"/>
                <a:ea typeface="仿宋" pitchFamily="49" charset="-122"/>
                <a:cs typeface="Consolas" pitchFamily="49" charset="0"/>
              </a:rPr>
              <a:t>输出被访问顶点的编号</a:t>
            </a:r>
          </a:p>
          <a:p>
            <a:pPr algn="just">
              <a:lnSpc>
                <a:spcPts val="1500"/>
              </a:lnSpc>
              <a:spcBef>
                <a:spcPct val="50000"/>
              </a:spcBef>
            </a:pPr>
            <a:r>
              <a:rPr kumimoji="1" lang="zh-CN" altLang="en-US" sz="1800" dirty="0">
                <a:solidFill>
                  <a:srgbClr val="0000FF"/>
                </a:solidFill>
                <a:latin typeface="Consolas" pitchFamily="49" charset="0"/>
                <a:ea typeface="仿宋" pitchFamily="49" charset="-122"/>
                <a:cs typeface="Consolas" pitchFamily="49" charset="0"/>
              </a:rPr>
              <a:t>   </a:t>
            </a:r>
            <a:r>
              <a:rPr kumimoji="1" lang="en-US" altLang="zh-CN" sz="1800" dirty="0">
                <a:solidFill>
                  <a:srgbClr val="0000FF"/>
                </a:solidFill>
                <a:latin typeface="Consolas" pitchFamily="49" charset="0"/>
                <a:ea typeface="仿宋" pitchFamily="49" charset="-122"/>
                <a:cs typeface="Consolas" pitchFamily="49" charset="0"/>
              </a:rPr>
              <a:t>p=G-&gt;</a:t>
            </a:r>
            <a:r>
              <a:rPr kumimoji="1" lang="en-US" altLang="zh-CN" sz="1800" dirty="0" err="1">
                <a:solidFill>
                  <a:srgbClr val="0000FF"/>
                </a:solidFill>
                <a:latin typeface="Consolas" pitchFamily="49" charset="0"/>
                <a:ea typeface="仿宋" pitchFamily="49" charset="-122"/>
                <a:cs typeface="Consolas" pitchFamily="49" charset="0"/>
              </a:rPr>
              <a:t>adjlist</a:t>
            </a:r>
            <a:r>
              <a:rPr kumimoji="1" lang="en-US" altLang="zh-CN" sz="1800" dirty="0">
                <a:solidFill>
                  <a:srgbClr val="0000FF"/>
                </a:solidFill>
                <a:latin typeface="Consolas" pitchFamily="49" charset="0"/>
                <a:ea typeface="仿宋" pitchFamily="49" charset="-122"/>
                <a:cs typeface="Consolas" pitchFamily="49" charset="0"/>
              </a:rPr>
              <a:t>[v].</a:t>
            </a:r>
            <a:r>
              <a:rPr kumimoji="1" lang="en-US" altLang="zh-CN" sz="1800" dirty="0" err="1">
                <a:solidFill>
                  <a:srgbClr val="0000FF"/>
                </a:solidFill>
                <a:latin typeface="Consolas" pitchFamily="49" charset="0"/>
                <a:ea typeface="仿宋" pitchFamily="49" charset="-122"/>
                <a:cs typeface="Consolas" pitchFamily="49" charset="0"/>
              </a:rPr>
              <a:t>firstarc</a:t>
            </a:r>
            <a:r>
              <a:rPr kumimoji="1" lang="en-US" altLang="zh-CN" sz="1800" dirty="0">
                <a:solidFill>
                  <a:srgbClr val="0000FF"/>
                </a:solidFill>
                <a:latin typeface="Consolas" pitchFamily="49" charset="0"/>
                <a:ea typeface="仿宋" pitchFamily="49" charset="-122"/>
                <a:cs typeface="Consolas" pitchFamily="49" charset="0"/>
              </a:rPr>
              <a:t>; 	</a:t>
            </a:r>
            <a:r>
              <a:rPr kumimoji="1" lang="en-US" altLang="zh-CN" sz="1800" dirty="0">
                <a:solidFill>
                  <a:srgbClr val="00B0F0"/>
                </a:solidFill>
                <a:latin typeface="Consolas" pitchFamily="49" charset="0"/>
                <a:ea typeface="仿宋" pitchFamily="49" charset="-122"/>
                <a:cs typeface="Consolas" pitchFamily="49" charset="0"/>
              </a:rPr>
              <a:t>//p</a:t>
            </a:r>
            <a:r>
              <a:rPr kumimoji="1" lang="zh-CN" altLang="en-US" sz="1800" dirty="0">
                <a:solidFill>
                  <a:srgbClr val="00B0F0"/>
                </a:solidFill>
                <a:latin typeface="Consolas" pitchFamily="49" charset="0"/>
                <a:ea typeface="仿宋" pitchFamily="49" charset="-122"/>
                <a:cs typeface="Consolas" pitchFamily="49" charset="0"/>
              </a:rPr>
              <a:t>指向顶点</a:t>
            </a:r>
            <a:r>
              <a:rPr kumimoji="1" lang="en-US" altLang="zh-CN" sz="1800" dirty="0">
                <a:solidFill>
                  <a:srgbClr val="00B0F0"/>
                </a:solidFill>
                <a:latin typeface="Consolas" pitchFamily="49" charset="0"/>
                <a:ea typeface="仿宋" pitchFamily="49" charset="-122"/>
                <a:cs typeface="Consolas" pitchFamily="49" charset="0"/>
              </a:rPr>
              <a:t>v</a:t>
            </a:r>
            <a:r>
              <a:rPr kumimoji="1" lang="zh-CN" altLang="en-US" sz="1800" dirty="0">
                <a:solidFill>
                  <a:srgbClr val="00B0F0"/>
                </a:solidFill>
                <a:latin typeface="Consolas" pitchFamily="49" charset="0"/>
                <a:ea typeface="仿宋" pitchFamily="49" charset="-122"/>
                <a:cs typeface="Consolas" pitchFamily="49" charset="0"/>
              </a:rPr>
              <a:t>的第一条边的边头结点</a:t>
            </a:r>
          </a:p>
          <a:p>
            <a:pPr algn="just">
              <a:lnSpc>
                <a:spcPts val="1500"/>
              </a:lnSpc>
              <a:spcBef>
                <a:spcPct val="50000"/>
              </a:spcBef>
            </a:pPr>
            <a:r>
              <a:rPr kumimoji="1" lang="zh-CN" altLang="en-US" sz="1800" dirty="0">
                <a:solidFill>
                  <a:srgbClr val="0000FF"/>
                </a:solidFill>
                <a:latin typeface="Consolas" pitchFamily="49" charset="0"/>
                <a:ea typeface="仿宋" pitchFamily="49" charset="-122"/>
                <a:cs typeface="Consolas" pitchFamily="49" charset="0"/>
              </a:rPr>
              <a:t>   </a:t>
            </a:r>
            <a:r>
              <a:rPr kumimoji="1" lang="en-US" altLang="zh-CN" sz="1800" dirty="0">
                <a:solidFill>
                  <a:srgbClr val="0000FF"/>
                </a:solidFill>
                <a:latin typeface="Consolas" pitchFamily="49" charset="0"/>
                <a:ea typeface="仿宋" pitchFamily="49" charset="-122"/>
                <a:cs typeface="Consolas" pitchFamily="49" charset="0"/>
              </a:rPr>
              <a:t>while (p!=NULL) </a:t>
            </a:r>
          </a:p>
          <a:p>
            <a:pPr algn="just">
              <a:lnSpc>
                <a:spcPts val="1500"/>
              </a:lnSpc>
              <a:spcBef>
                <a:spcPct val="50000"/>
              </a:spcBef>
            </a:pPr>
            <a:r>
              <a:rPr kumimoji="1" lang="en-US" altLang="zh-CN" sz="1800" dirty="0">
                <a:solidFill>
                  <a:srgbClr val="0000FF"/>
                </a:solidFill>
                <a:latin typeface="Consolas" pitchFamily="49" charset="0"/>
                <a:ea typeface="仿宋" pitchFamily="49" charset="-122"/>
                <a:cs typeface="Consolas" pitchFamily="49" charset="0"/>
              </a:rPr>
              <a:t>   {  w=p-&gt;</a:t>
            </a:r>
            <a:r>
              <a:rPr kumimoji="1" lang="en-US" altLang="zh-CN" sz="1800" dirty="0" err="1">
                <a:solidFill>
                  <a:srgbClr val="0000FF"/>
                </a:solidFill>
                <a:latin typeface="Consolas" pitchFamily="49" charset="0"/>
                <a:ea typeface="仿宋" pitchFamily="49" charset="-122"/>
                <a:cs typeface="Consolas" pitchFamily="49" charset="0"/>
              </a:rPr>
              <a:t>adjvex</a:t>
            </a:r>
            <a:r>
              <a:rPr kumimoji="1" lang="en-US" altLang="zh-CN" sz="1800" dirty="0">
                <a:solidFill>
                  <a:srgbClr val="0000FF"/>
                </a:solidFill>
                <a:latin typeface="Consolas" pitchFamily="49" charset="0"/>
                <a:ea typeface="仿宋" pitchFamily="49" charset="-122"/>
                <a:cs typeface="Consolas" pitchFamily="49" charset="0"/>
              </a:rPr>
              <a:t>;</a:t>
            </a:r>
          </a:p>
          <a:p>
            <a:pPr algn="just">
              <a:lnSpc>
                <a:spcPts val="1500"/>
              </a:lnSpc>
              <a:spcBef>
                <a:spcPct val="50000"/>
              </a:spcBef>
            </a:pPr>
            <a:r>
              <a:rPr kumimoji="1" lang="en-US" altLang="zh-CN" sz="1800" dirty="0">
                <a:solidFill>
                  <a:srgbClr val="0000FF"/>
                </a:solidFill>
                <a:latin typeface="Consolas" pitchFamily="49" charset="0"/>
                <a:ea typeface="仿宋" pitchFamily="49" charset="-122"/>
                <a:cs typeface="Consolas" pitchFamily="49" charset="0"/>
              </a:rPr>
              <a:t>      if (visited[w]==0) </a:t>
            </a:r>
          </a:p>
          <a:p>
            <a:pPr algn="just">
              <a:lnSpc>
                <a:spcPts val="1500"/>
              </a:lnSpc>
              <a:spcBef>
                <a:spcPct val="50000"/>
              </a:spcBef>
            </a:pPr>
            <a:r>
              <a:rPr kumimoji="1" lang="en-US" altLang="zh-CN" sz="1800" dirty="0">
                <a:solidFill>
                  <a:srgbClr val="0000FF"/>
                </a:solidFill>
                <a:latin typeface="Consolas" pitchFamily="49" charset="0"/>
                <a:ea typeface="仿宋" pitchFamily="49" charset="-122"/>
                <a:cs typeface="Consolas" pitchFamily="49" charset="0"/>
              </a:rPr>
              <a:t>         </a:t>
            </a:r>
            <a:r>
              <a:rPr kumimoji="1" lang="en-US" altLang="zh-CN" sz="1800" dirty="0">
                <a:solidFill>
                  <a:srgbClr val="FF0000"/>
                </a:solidFill>
                <a:latin typeface="Consolas" pitchFamily="49" charset="0"/>
                <a:ea typeface="仿宋" pitchFamily="49" charset="-122"/>
                <a:cs typeface="Consolas" pitchFamily="49" charset="0"/>
              </a:rPr>
              <a:t>DFS</a:t>
            </a:r>
            <a:r>
              <a:rPr kumimoji="1" lang="en-US" altLang="zh-CN" sz="1800" dirty="0">
                <a:solidFill>
                  <a:srgbClr val="0000FF"/>
                </a:solidFill>
                <a:latin typeface="Consolas" pitchFamily="49" charset="0"/>
                <a:ea typeface="仿宋" pitchFamily="49" charset="-122"/>
                <a:cs typeface="Consolas" pitchFamily="49" charset="0"/>
              </a:rPr>
              <a:t>(G</a:t>
            </a:r>
            <a:r>
              <a:rPr kumimoji="1" lang="zh-CN" altLang="en-US" sz="1800" dirty="0">
                <a:solidFill>
                  <a:srgbClr val="0000FF"/>
                </a:solidFill>
                <a:latin typeface="Consolas" pitchFamily="49" charset="0"/>
                <a:ea typeface="仿宋" pitchFamily="49" charset="-122"/>
                <a:cs typeface="Consolas" pitchFamily="49" charset="0"/>
              </a:rPr>
              <a:t>，</a:t>
            </a:r>
            <a:r>
              <a:rPr kumimoji="1" lang="en-US" altLang="zh-CN" sz="1800" dirty="0">
                <a:solidFill>
                  <a:srgbClr val="FF00FF"/>
                </a:solidFill>
                <a:latin typeface="Consolas" pitchFamily="49" charset="0"/>
                <a:ea typeface="仿宋" pitchFamily="49" charset="-122"/>
                <a:cs typeface="Consolas" pitchFamily="49" charset="0"/>
              </a:rPr>
              <a:t>w</a:t>
            </a:r>
            <a:r>
              <a:rPr kumimoji="1" lang="en-US" altLang="zh-CN" sz="1800" dirty="0">
                <a:solidFill>
                  <a:srgbClr val="0000FF"/>
                </a:solidFill>
                <a:latin typeface="Consolas" pitchFamily="49" charset="0"/>
                <a:ea typeface="仿宋" pitchFamily="49" charset="-122"/>
                <a:cs typeface="Consolas" pitchFamily="49" charset="0"/>
              </a:rPr>
              <a:t>);   		</a:t>
            </a:r>
            <a:r>
              <a:rPr kumimoji="1" lang="en-US" altLang="zh-CN" sz="1800" dirty="0">
                <a:solidFill>
                  <a:srgbClr val="00B0F0"/>
                </a:solidFill>
                <a:latin typeface="Consolas" pitchFamily="49" charset="0"/>
                <a:ea typeface="仿宋" pitchFamily="49" charset="-122"/>
                <a:cs typeface="Consolas" pitchFamily="49" charset="0"/>
              </a:rPr>
              <a:t>//</a:t>
            </a:r>
            <a:r>
              <a:rPr kumimoji="1" lang="zh-CN" altLang="en-US" sz="1800" dirty="0">
                <a:solidFill>
                  <a:srgbClr val="00B0F0"/>
                </a:solidFill>
                <a:latin typeface="Consolas" pitchFamily="49" charset="0"/>
                <a:ea typeface="仿宋" pitchFamily="49" charset="-122"/>
                <a:cs typeface="Consolas" pitchFamily="49" charset="0"/>
              </a:rPr>
              <a:t>若</a:t>
            </a:r>
            <a:r>
              <a:rPr kumimoji="1" lang="en-US" altLang="zh-CN" sz="1800" dirty="0">
                <a:solidFill>
                  <a:srgbClr val="00B0F0"/>
                </a:solidFill>
                <a:latin typeface="Consolas" pitchFamily="49" charset="0"/>
                <a:ea typeface="仿宋" pitchFamily="49" charset="-122"/>
                <a:cs typeface="Consolas" pitchFamily="49" charset="0"/>
              </a:rPr>
              <a:t>w</a:t>
            </a:r>
            <a:r>
              <a:rPr kumimoji="1" lang="zh-CN" altLang="en-US" sz="1800" dirty="0">
                <a:solidFill>
                  <a:srgbClr val="00B0F0"/>
                </a:solidFill>
                <a:latin typeface="Consolas" pitchFamily="49" charset="0"/>
                <a:ea typeface="仿宋" pitchFamily="49" charset="-122"/>
                <a:cs typeface="Consolas" pitchFamily="49" charset="0"/>
              </a:rPr>
              <a:t>顶点未访问，递归访问它</a:t>
            </a:r>
          </a:p>
          <a:p>
            <a:pPr algn="just">
              <a:lnSpc>
                <a:spcPts val="1500"/>
              </a:lnSpc>
              <a:spcBef>
                <a:spcPct val="50000"/>
              </a:spcBef>
            </a:pPr>
            <a:r>
              <a:rPr kumimoji="1" lang="zh-CN" altLang="en-US" sz="1800" dirty="0">
                <a:solidFill>
                  <a:srgbClr val="0000FF"/>
                </a:solidFill>
                <a:latin typeface="Consolas" pitchFamily="49" charset="0"/>
                <a:ea typeface="仿宋" pitchFamily="49" charset="-122"/>
                <a:cs typeface="Consolas" pitchFamily="49" charset="0"/>
              </a:rPr>
              <a:t>      </a:t>
            </a:r>
            <a:r>
              <a:rPr kumimoji="1" lang="en-US" altLang="zh-CN" sz="1800" dirty="0">
                <a:solidFill>
                  <a:srgbClr val="0000FF"/>
                </a:solidFill>
                <a:latin typeface="Consolas" pitchFamily="49" charset="0"/>
                <a:ea typeface="仿宋" pitchFamily="49" charset="-122"/>
                <a:cs typeface="Consolas" pitchFamily="49" charset="0"/>
              </a:rPr>
              <a:t>p=p-&gt;</a:t>
            </a:r>
            <a:r>
              <a:rPr kumimoji="1" lang="en-US" altLang="zh-CN" sz="1800" dirty="0" err="1">
                <a:solidFill>
                  <a:srgbClr val="0000FF"/>
                </a:solidFill>
                <a:latin typeface="Consolas" pitchFamily="49" charset="0"/>
                <a:ea typeface="仿宋" pitchFamily="49" charset="-122"/>
                <a:cs typeface="Consolas" pitchFamily="49" charset="0"/>
              </a:rPr>
              <a:t>nextarc</a:t>
            </a:r>
            <a:r>
              <a:rPr kumimoji="1" lang="en-US" altLang="zh-CN" sz="1800" dirty="0">
                <a:solidFill>
                  <a:srgbClr val="0000FF"/>
                </a:solidFill>
                <a:latin typeface="Consolas" pitchFamily="49" charset="0"/>
                <a:ea typeface="仿宋" pitchFamily="49" charset="-122"/>
                <a:cs typeface="Consolas" pitchFamily="49" charset="0"/>
              </a:rPr>
              <a:t>; </a:t>
            </a:r>
            <a:r>
              <a:rPr kumimoji="1" lang="zh-CN" altLang="en-US" sz="1800" dirty="0">
                <a:solidFill>
                  <a:srgbClr val="0000FF"/>
                </a:solidFill>
                <a:latin typeface="Consolas" pitchFamily="49" charset="0"/>
                <a:ea typeface="仿宋" pitchFamily="49" charset="-122"/>
                <a:cs typeface="Consolas" pitchFamily="49" charset="0"/>
              </a:rPr>
              <a:t>　</a:t>
            </a:r>
            <a:r>
              <a:rPr kumimoji="1" lang="en-US" altLang="zh-CN" sz="1800" dirty="0">
                <a:solidFill>
                  <a:srgbClr val="0000FF"/>
                </a:solidFill>
                <a:latin typeface="Consolas" pitchFamily="49" charset="0"/>
                <a:ea typeface="仿宋" pitchFamily="49" charset="-122"/>
                <a:cs typeface="Consolas" pitchFamily="49" charset="0"/>
              </a:rPr>
              <a:t>		</a:t>
            </a:r>
            <a:r>
              <a:rPr kumimoji="1" lang="en-US" altLang="zh-CN" sz="1800" dirty="0">
                <a:solidFill>
                  <a:srgbClr val="00B0F0"/>
                </a:solidFill>
                <a:latin typeface="Consolas" pitchFamily="49" charset="0"/>
                <a:ea typeface="仿宋" pitchFamily="49" charset="-122"/>
                <a:cs typeface="Consolas" pitchFamily="49" charset="0"/>
              </a:rPr>
              <a:t>//p</a:t>
            </a:r>
            <a:r>
              <a:rPr kumimoji="1" lang="zh-CN" altLang="en-US" sz="1800" dirty="0">
                <a:solidFill>
                  <a:srgbClr val="00B0F0"/>
                </a:solidFill>
                <a:latin typeface="Consolas" pitchFamily="49" charset="0"/>
                <a:ea typeface="仿宋" pitchFamily="49" charset="-122"/>
                <a:cs typeface="Consolas" pitchFamily="49" charset="0"/>
              </a:rPr>
              <a:t>指向顶点</a:t>
            </a:r>
            <a:r>
              <a:rPr kumimoji="1" lang="en-US" altLang="zh-CN" sz="1800" dirty="0">
                <a:solidFill>
                  <a:srgbClr val="00B0F0"/>
                </a:solidFill>
                <a:latin typeface="Consolas" pitchFamily="49" charset="0"/>
                <a:ea typeface="仿宋" pitchFamily="49" charset="-122"/>
                <a:cs typeface="Consolas" pitchFamily="49" charset="0"/>
              </a:rPr>
              <a:t>v</a:t>
            </a:r>
            <a:r>
              <a:rPr kumimoji="1" lang="zh-CN" altLang="en-US" sz="1800" dirty="0">
                <a:solidFill>
                  <a:srgbClr val="00B0F0"/>
                </a:solidFill>
                <a:latin typeface="Consolas" pitchFamily="49" charset="0"/>
                <a:ea typeface="仿宋" pitchFamily="49" charset="-122"/>
                <a:cs typeface="Consolas" pitchFamily="49" charset="0"/>
              </a:rPr>
              <a:t>的下一条边的边头结点</a:t>
            </a:r>
          </a:p>
          <a:p>
            <a:pPr algn="just">
              <a:lnSpc>
                <a:spcPts val="1500"/>
              </a:lnSpc>
              <a:spcBef>
                <a:spcPct val="50000"/>
              </a:spcBef>
            </a:pPr>
            <a:r>
              <a:rPr kumimoji="1" lang="zh-CN" altLang="en-US" sz="1800" dirty="0">
                <a:solidFill>
                  <a:srgbClr val="0000FF"/>
                </a:solidFill>
                <a:latin typeface="Consolas" pitchFamily="49" charset="0"/>
                <a:ea typeface="仿宋" pitchFamily="49" charset="-122"/>
                <a:cs typeface="Consolas" pitchFamily="49" charset="0"/>
              </a:rPr>
              <a:t>   </a:t>
            </a:r>
            <a:r>
              <a:rPr kumimoji="1" lang="en-US" altLang="zh-CN" sz="1800" dirty="0">
                <a:solidFill>
                  <a:srgbClr val="0000FF"/>
                </a:solidFill>
                <a:latin typeface="Consolas" pitchFamily="49" charset="0"/>
                <a:ea typeface="仿宋" pitchFamily="49" charset="-122"/>
                <a:cs typeface="Consolas" pitchFamily="49" charset="0"/>
              </a:rPr>
              <a:t>}</a:t>
            </a:r>
          </a:p>
          <a:p>
            <a:pPr algn="just">
              <a:lnSpc>
                <a:spcPts val="1500"/>
              </a:lnSpc>
              <a:spcBef>
                <a:spcPct val="50000"/>
              </a:spcBef>
            </a:pPr>
            <a:r>
              <a:rPr kumimoji="1" lang="en-US" altLang="zh-CN" sz="1800" dirty="0">
                <a:solidFill>
                  <a:srgbClr val="0000FF"/>
                </a:solidFill>
                <a:latin typeface="Consolas" pitchFamily="49" charset="0"/>
                <a:ea typeface="仿宋" pitchFamily="49" charset="-122"/>
                <a:cs typeface="Consolas" pitchFamily="49" charset="0"/>
              </a:rPr>
              <a:t>}</a:t>
            </a:r>
          </a:p>
        </p:txBody>
      </p:sp>
      <p:sp>
        <p:nvSpPr>
          <p:cNvPr id="6" name="Text Box 3">
            <a:extLst>
              <a:ext uri="{FF2B5EF4-FFF2-40B4-BE49-F238E27FC236}">
                <a16:creationId xmlns:a16="http://schemas.microsoft.com/office/drawing/2014/main" id="{0543EE0C-B172-2C02-1940-AF4F308A7F00}"/>
              </a:ext>
            </a:extLst>
          </p:cNvPr>
          <p:cNvSpPr txBox="1">
            <a:spLocks noChangeArrowheads="1"/>
          </p:cNvSpPr>
          <p:nvPr/>
        </p:nvSpPr>
        <p:spPr bwMode="auto">
          <a:xfrm>
            <a:off x="6312024" y="5949280"/>
            <a:ext cx="3960440" cy="400110"/>
          </a:xfrm>
          <a:prstGeom prst="rect">
            <a:avLst/>
          </a:prstGeom>
          <a:noFill/>
          <a:ln w="19050" algn="ctr">
            <a:noFill/>
            <a:miter lim="800000"/>
            <a:headEnd/>
            <a:tailEnd type="none" w="med" len="lg"/>
          </a:ln>
        </p:spPr>
        <p:txBody>
          <a:bodyPr wrap="square">
            <a:spAutoFit/>
          </a:bodyPr>
          <a:lstStyle/>
          <a:p>
            <a:pPr algn="l">
              <a:spcBef>
                <a:spcPct val="50000"/>
              </a:spcBef>
            </a:pPr>
            <a:r>
              <a:rPr lang="zh-CN" altLang="en-US" sz="2000" dirty="0">
                <a:latin typeface="Consolas" pitchFamily="49" charset="0"/>
                <a:ea typeface="仿宋" pitchFamily="49" charset="-122"/>
                <a:cs typeface="Consolas" pitchFamily="49" charset="0"/>
              </a:rPr>
              <a:t>该算法的时间复杂度为</a:t>
            </a:r>
            <a:r>
              <a:rPr lang="en-US" altLang="zh-CN" sz="2000" dirty="0">
                <a:latin typeface="Consolas" pitchFamily="49" charset="0"/>
                <a:ea typeface="仿宋" pitchFamily="49" charset="-122"/>
                <a:cs typeface="Consolas" pitchFamily="49" charset="0"/>
              </a:rPr>
              <a:t>O(</a:t>
            </a:r>
            <a:r>
              <a:rPr lang="en-US" altLang="zh-CN" sz="2000" i="1" dirty="0" err="1">
                <a:latin typeface="Consolas" pitchFamily="49" charset="0"/>
                <a:ea typeface="仿宋" pitchFamily="49" charset="-122"/>
                <a:cs typeface="Consolas" pitchFamily="49" charset="0"/>
              </a:rPr>
              <a:t>n</a:t>
            </a:r>
            <a:r>
              <a:rPr lang="en-US" altLang="zh-CN" sz="2000" dirty="0" err="1">
                <a:latin typeface="Consolas" pitchFamily="49" charset="0"/>
                <a:ea typeface="仿宋" pitchFamily="49" charset="-122"/>
                <a:cs typeface="Consolas" pitchFamily="49" charset="0"/>
              </a:rPr>
              <a:t>+</a:t>
            </a:r>
            <a:r>
              <a:rPr lang="en-US" altLang="zh-CN" sz="2000" i="1" dirty="0" err="1">
                <a:latin typeface="Consolas" pitchFamily="49" charset="0"/>
                <a:ea typeface="仿宋" pitchFamily="49" charset="-122"/>
                <a:cs typeface="Consolas" pitchFamily="49" charset="0"/>
              </a:rPr>
              <a:t>e</a:t>
            </a:r>
            <a:r>
              <a:rPr lang="en-US" altLang="zh-CN" sz="2000" dirty="0">
                <a:latin typeface="Consolas" pitchFamily="49" charset="0"/>
                <a:ea typeface="仿宋" pitchFamily="49" charset="-122"/>
                <a:cs typeface="Consolas" pitchFamily="49" charset="0"/>
              </a:rPr>
              <a:t>)</a:t>
            </a:r>
            <a:r>
              <a:rPr lang="zh-CN" altLang="en-US" sz="2000" dirty="0">
                <a:latin typeface="Consolas" pitchFamily="49" charset="0"/>
                <a:ea typeface="仿宋" pitchFamily="49" charset="-122"/>
                <a:cs typeface="Consolas" pitchFamily="49" charset="0"/>
              </a:rPr>
              <a:t>。</a:t>
            </a:r>
          </a:p>
        </p:txBody>
      </p:sp>
      <p:sp>
        <p:nvSpPr>
          <p:cNvPr id="7" name="Text Box 4">
            <a:extLst>
              <a:ext uri="{FF2B5EF4-FFF2-40B4-BE49-F238E27FC236}">
                <a16:creationId xmlns:a16="http://schemas.microsoft.com/office/drawing/2014/main" id="{96938DD1-36EA-4DF2-BDA1-634B048FB6CF}"/>
              </a:ext>
            </a:extLst>
          </p:cNvPr>
          <p:cNvSpPr txBox="1">
            <a:spLocks noChangeArrowheads="1"/>
          </p:cNvSpPr>
          <p:nvPr/>
        </p:nvSpPr>
        <p:spPr bwMode="auto">
          <a:xfrm>
            <a:off x="1319630" y="1856732"/>
            <a:ext cx="3768257" cy="461665"/>
          </a:xfrm>
          <a:prstGeom prst="rect">
            <a:avLst/>
          </a:prstGeom>
          <a:noFill/>
          <a:ln w="28575" algn="ctr">
            <a:noFill/>
            <a:miter lim="800000"/>
            <a:headEnd/>
            <a:tailEnd type="none" w="med" len="lg"/>
          </a:ln>
        </p:spPr>
        <p:txBody>
          <a:bodyPr wrap="square">
            <a:spAutoFit/>
          </a:bodyPr>
          <a:lstStyle/>
          <a:p>
            <a:pPr>
              <a:spcBef>
                <a:spcPct val="50000"/>
              </a:spcBef>
            </a:pPr>
            <a:r>
              <a:rPr kumimoji="1" lang="zh-CN" altLang="en-US" sz="2400" dirty="0">
                <a:latin typeface="微软雅黑" pitchFamily="34" charset="-122"/>
                <a:ea typeface="微软雅黑" pitchFamily="34" charset="-122"/>
                <a:cs typeface="经典粗黑简" pitchFamily="49" charset="-122"/>
              </a:rPr>
              <a:t>采用邻接表的</a:t>
            </a:r>
            <a:r>
              <a:rPr kumimoji="1" lang="en-US" altLang="zh-CN" sz="2400" dirty="0" err="1">
                <a:latin typeface="微软雅黑" pitchFamily="34" charset="-122"/>
                <a:ea typeface="微软雅黑" pitchFamily="34" charset="-122"/>
                <a:cs typeface="经典粗黑简" pitchFamily="49" charset="-122"/>
              </a:rPr>
              <a:t>DFS</a:t>
            </a:r>
            <a:r>
              <a:rPr kumimoji="1" lang="zh-CN" altLang="en-US" sz="2400" dirty="0">
                <a:latin typeface="微软雅黑" pitchFamily="34" charset="-122"/>
                <a:ea typeface="微软雅黑" pitchFamily="34" charset="-122"/>
                <a:cs typeface="经典粗黑简" pitchFamily="49" charset="-122"/>
              </a:rPr>
              <a:t>算法：</a:t>
            </a:r>
          </a:p>
        </p:txBody>
      </p:sp>
    </p:spTree>
    <p:extLst>
      <p:ext uri="{BB962C8B-B14F-4D97-AF65-F5344CB8AC3E}">
        <p14:creationId xmlns:p14="http://schemas.microsoft.com/office/powerpoint/2010/main" val="24321748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5">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9" end="9"/>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5">
                                            <p:txEl>
                                              <p:pRg st="10" end="10"/>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25B06D-AE87-8A69-E623-B58E1F1580F2}"/>
            </a:ext>
          </a:extLst>
        </p:cNvPr>
        <p:cNvGrpSpPr/>
        <p:nvPr/>
      </p:nvGrpSpPr>
      <p:grpSpPr>
        <a:xfrm>
          <a:off x="0" y="0"/>
          <a:ext cx="0" cy="0"/>
          <a:chOff x="0" y="0"/>
          <a:chExt cx="0" cy="0"/>
        </a:xfrm>
      </p:grpSpPr>
      <p:sp>
        <p:nvSpPr>
          <p:cNvPr id="2" name="Rectangle 2">
            <a:extLst>
              <a:ext uri="{FF2B5EF4-FFF2-40B4-BE49-F238E27FC236}">
                <a16:creationId xmlns:a16="http://schemas.microsoft.com/office/drawing/2014/main" id="{E2DD2DEF-AF25-1C96-DA01-22879ADB170B}"/>
              </a:ext>
            </a:extLst>
          </p:cNvPr>
          <p:cNvSpPr txBox="1">
            <a:spLocks noChangeArrowheads="1"/>
          </p:cNvSpPr>
          <p:nvPr/>
        </p:nvSpPr>
        <p:spPr>
          <a:xfrm>
            <a:off x="474772" y="1230902"/>
            <a:ext cx="4253076"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8.3.2 </a:t>
            </a:r>
            <a:r>
              <a:rPr kumimoji="1" lang="zh-CN" altLang="en-US" dirty="0">
                <a:latin typeface="微软雅黑" pitchFamily="34" charset="-122"/>
                <a:ea typeface="微软雅黑" pitchFamily="34" charset="-122"/>
              </a:rPr>
              <a:t>深度优先遍历算法</a:t>
            </a:r>
            <a:endParaRPr lang="zh-CN" altLang="en-US" dirty="0"/>
          </a:p>
        </p:txBody>
      </p:sp>
      <p:sp>
        <p:nvSpPr>
          <p:cNvPr id="3" name="矩形 2">
            <a:extLst>
              <a:ext uri="{FF2B5EF4-FFF2-40B4-BE49-F238E27FC236}">
                <a16:creationId xmlns:a16="http://schemas.microsoft.com/office/drawing/2014/main" id="{EB342537-F578-5E78-D250-0E9F7B997725}"/>
              </a:ext>
            </a:extLst>
          </p:cNvPr>
          <p:cNvSpPr/>
          <p:nvPr/>
        </p:nvSpPr>
        <p:spPr>
          <a:xfrm>
            <a:off x="3200907" y="399148"/>
            <a:ext cx="4617860"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8.3 </a:t>
            </a:r>
            <a:r>
              <a:rPr lang="zh-CN" altLang="en-US" sz="3000" b="1" dirty="0">
                <a:latin typeface="黑体" pitchFamily="49" charset="-122"/>
                <a:ea typeface="黑体" pitchFamily="49" charset="-122"/>
                <a:cs typeface="经典粗黑简" pitchFamily="49" charset="-122"/>
              </a:rPr>
              <a:t>图的遍历</a:t>
            </a:r>
          </a:p>
        </p:txBody>
      </p:sp>
      <p:cxnSp>
        <p:nvCxnSpPr>
          <p:cNvPr id="4" name="直接连接符 3">
            <a:extLst>
              <a:ext uri="{FF2B5EF4-FFF2-40B4-BE49-F238E27FC236}">
                <a16:creationId xmlns:a16="http://schemas.microsoft.com/office/drawing/2014/main" id="{29AB58CC-36BE-541A-0FF5-57A446C68BC3}"/>
              </a:ext>
            </a:extLst>
          </p:cNvPr>
          <p:cNvCxnSpPr>
            <a:cxnSpLocks/>
          </p:cNvCxnSpPr>
          <p:nvPr/>
        </p:nvCxnSpPr>
        <p:spPr>
          <a:xfrm>
            <a:off x="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8" name="Oval 7">
            <a:extLst>
              <a:ext uri="{FF2B5EF4-FFF2-40B4-BE49-F238E27FC236}">
                <a16:creationId xmlns:a16="http://schemas.microsoft.com/office/drawing/2014/main" id="{3E013CE1-7176-A4A4-CA65-AAE8F9656A8C}"/>
              </a:ext>
            </a:extLst>
          </p:cNvPr>
          <p:cNvSpPr>
            <a:spLocks noChangeArrowheads="1"/>
          </p:cNvSpPr>
          <p:nvPr/>
        </p:nvSpPr>
        <p:spPr bwMode="auto">
          <a:xfrm>
            <a:off x="2541093" y="3411471"/>
            <a:ext cx="431800"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1800">
                <a:solidFill>
                  <a:srgbClr val="0000FF"/>
                </a:solidFill>
                <a:latin typeface="Consolas" pitchFamily="49" charset="0"/>
                <a:cs typeface="Consolas" pitchFamily="49" charset="0"/>
              </a:rPr>
              <a:t>3</a:t>
            </a:r>
          </a:p>
        </p:txBody>
      </p:sp>
      <p:sp>
        <p:nvSpPr>
          <p:cNvPr id="9" name="Oval 8">
            <a:extLst>
              <a:ext uri="{FF2B5EF4-FFF2-40B4-BE49-F238E27FC236}">
                <a16:creationId xmlns:a16="http://schemas.microsoft.com/office/drawing/2014/main" id="{A7DAABC1-A7B0-D001-4207-CD9B28C6BE4A}"/>
              </a:ext>
            </a:extLst>
          </p:cNvPr>
          <p:cNvSpPr>
            <a:spLocks noChangeArrowheads="1"/>
          </p:cNvSpPr>
          <p:nvPr/>
        </p:nvSpPr>
        <p:spPr bwMode="auto">
          <a:xfrm>
            <a:off x="1604468" y="3411471"/>
            <a:ext cx="431800"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1800">
                <a:solidFill>
                  <a:srgbClr val="0000FF"/>
                </a:solidFill>
                <a:latin typeface="Consolas" pitchFamily="49" charset="0"/>
                <a:cs typeface="Consolas" pitchFamily="49" charset="0"/>
              </a:rPr>
              <a:t>2</a:t>
            </a:r>
          </a:p>
        </p:txBody>
      </p:sp>
      <p:sp>
        <p:nvSpPr>
          <p:cNvPr id="10" name="Oval 9">
            <a:extLst>
              <a:ext uri="{FF2B5EF4-FFF2-40B4-BE49-F238E27FC236}">
                <a16:creationId xmlns:a16="http://schemas.microsoft.com/office/drawing/2014/main" id="{15768CA9-5B98-7575-D10B-32A59BC7FA54}"/>
              </a:ext>
            </a:extLst>
          </p:cNvPr>
          <p:cNvSpPr>
            <a:spLocks noChangeArrowheads="1"/>
          </p:cNvSpPr>
          <p:nvPr/>
        </p:nvSpPr>
        <p:spPr bwMode="auto">
          <a:xfrm>
            <a:off x="3476131" y="3411471"/>
            <a:ext cx="431800"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1800">
                <a:solidFill>
                  <a:srgbClr val="0000FF"/>
                </a:solidFill>
                <a:latin typeface="Consolas" pitchFamily="49" charset="0"/>
                <a:cs typeface="Consolas" pitchFamily="49" charset="0"/>
              </a:rPr>
              <a:t>0</a:t>
            </a:r>
          </a:p>
        </p:txBody>
      </p:sp>
      <p:sp>
        <p:nvSpPr>
          <p:cNvPr id="11" name="Oval 10">
            <a:extLst>
              <a:ext uri="{FF2B5EF4-FFF2-40B4-BE49-F238E27FC236}">
                <a16:creationId xmlns:a16="http://schemas.microsoft.com/office/drawing/2014/main" id="{CD8286C9-3A5D-3C4F-0930-EEF5E8B0F60D}"/>
              </a:ext>
            </a:extLst>
          </p:cNvPr>
          <p:cNvSpPr>
            <a:spLocks noChangeArrowheads="1"/>
          </p:cNvSpPr>
          <p:nvPr/>
        </p:nvSpPr>
        <p:spPr bwMode="auto">
          <a:xfrm>
            <a:off x="2541093" y="2547871"/>
            <a:ext cx="431800"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1800" dirty="0">
                <a:solidFill>
                  <a:srgbClr val="0000FF"/>
                </a:solidFill>
                <a:latin typeface="Consolas" pitchFamily="49" charset="0"/>
                <a:cs typeface="Consolas" pitchFamily="49" charset="0"/>
              </a:rPr>
              <a:t>1</a:t>
            </a:r>
          </a:p>
        </p:txBody>
      </p:sp>
      <p:sp>
        <p:nvSpPr>
          <p:cNvPr id="12" name="Oval 11">
            <a:extLst>
              <a:ext uri="{FF2B5EF4-FFF2-40B4-BE49-F238E27FC236}">
                <a16:creationId xmlns:a16="http://schemas.microsoft.com/office/drawing/2014/main" id="{8B0D88B0-3662-C1BE-A2D3-E4CF963A0A95}"/>
              </a:ext>
            </a:extLst>
          </p:cNvPr>
          <p:cNvSpPr>
            <a:spLocks noChangeArrowheads="1"/>
          </p:cNvSpPr>
          <p:nvPr/>
        </p:nvSpPr>
        <p:spPr bwMode="auto">
          <a:xfrm>
            <a:off x="2541093" y="4275071"/>
            <a:ext cx="431800"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1800">
                <a:solidFill>
                  <a:srgbClr val="0000FF"/>
                </a:solidFill>
                <a:latin typeface="Consolas" pitchFamily="49" charset="0"/>
                <a:cs typeface="Consolas" pitchFamily="49" charset="0"/>
              </a:rPr>
              <a:t>4</a:t>
            </a:r>
          </a:p>
        </p:txBody>
      </p:sp>
      <p:sp>
        <p:nvSpPr>
          <p:cNvPr id="13" name="Freeform 12">
            <a:extLst>
              <a:ext uri="{FF2B5EF4-FFF2-40B4-BE49-F238E27FC236}">
                <a16:creationId xmlns:a16="http://schemas.microsoft.com/office/drawing/2014/main" id="{C0BAC154-D72A-96EF-B723-C234729F2C0B}"/>
              </a:ext>
            </a:extLst>
          </p:cNvPr>
          <p:cNvSpPr>
            <a:spLocks/>
          </p:cNvSpPr>
          <p:nvPr/>
        </p:nvSpPr>
        <p:spPr bwMode="auto">
          <a:xfrm>
            <a:off x="1910856" y="2835209"/>
            <a:ext cx="630238" cy="588963"/>
          </a:xfrm>
          <a:custGeom>
            <a:avLst/>
            <a:gdLst>
              <a:gd name="T0" fmla="*/ 0 w 397"/>
              <a:gd name="T1" fmla="*/ 371 h 371"/>
              <a:gd name="T2" fmla="*/ 397 w 397"/>
              <a:gd name="T3" fmla="*/ 0 h 371"/>
              <a:gd name="T4" fmla="*/ 0 60000 65536"/>
              <a:gd name="T5" fmla="*/ 0 60000 65536"/>
              <a:gd name="T6" fmla="*/ 0 w 397"/>
              <a:gd name="T7" fmla="*/ 0 h 371"/>
              <a:gd name="T8" fmla="*/ 397 w 397"/>
              <a:gd name="T9" fmla="*/ 371 h 371"/>
            </a:gdLst>
            <a:ahLst/>
            <a:cxnLst>
              <a:cxn ang="T4">
                <a:pos x="T0" y="T1"/>
              </a:cxn>
              <a:cxn ang="T5">
                <a:pos x="T2" y="T3"/>
              </a:cxn>
            </a:cxnLst>
            <a:rect l="T6" t="T7" r="T8" b="T9"/>
            <a:pathLst>
              <a:path w="397" h="371">
                <a:moveTo>
                  <a:pt x="0" y="371"/>
                </a:moveTo>
                <a:lnTo>
                  <a:pt x="397" y="0"/>
                </a:lnTo>
              </a:path>
            </a:pathLst>
          </a:custGeom>
          <a:noFill/>
          <a:ln w="28575">
            <a:solidFill>
              <a:srgbClr val="3333FF"/>
            </a:solidFill>
            <a:round/>
            <a:headEnd/>
            <a:tailEnd type="none" w="med" len="lg"/>
          </a:ln>
        </p:spPr>
        <p:txBody>
          <a:bodyPr wrap="none"/>
          <a:lstStyle/>
          <a:p>
            <a:endParaRPr lang="zh-CN" altLang="en-US" sz="1800">
              <a:latin typeface="Consolas" pitchFamily="49" charset="0"/>
              <a:cs typeface="Consolas" pitchFamily="49" charset="0"/>
            </a:endParaRPr>
          </a:p>
        </p:txBody>
      </p:sp>
      <p:sp>
        <p:nvSpPr>
          <p:cNvPr id="14" name="Freeform 13">
            <a:extLst>
              <a:ext uri="{FF2B5EF4-FFF2-40B4-BE49-F238E27FC236}">
                <a16:creationId xmlns:a16="http://schemas.microsoft.com/office/drawing/2014/main" id="{4E773D18-9886-A274-C6BB-4148F1C5FA5E}"/>
              </a:ext>
            </a:extLst>
          </p:cNvPr>
          <p:cNvSpPr>
            <a:spLocks/>
          </p:cNvSpPr>
          <p:nvPr/>
        </p:nvSpPr>
        <p:spPr bwMode="auto">
          <a:xfrm>
            <a:off x="2036268" y="3627371"/>
            <a:ext cx="503238" cy="1588"/>
          </a:xfrm>
          <a:custGeom>
            <a:avLst/>
            <a:gdLst>
              <a:gd name="T0" fmla="*/ 0 w 317"/>
              <a:gd name="T1" fmla="*/ 0 h 1"/>
              <a:gd name="T2" fmla="*/ 317 w 317"/>
              <a:gd name="T3" fmla="*/ 0 h 1"/>
              <a:gd name="T4" fmla="*/ 0 60000 65536"/>
              <a:gd name="T5" fmla="*/ 0 60000 65536"/>
              <a:gd name="T6" fmla="*/ 0 w 317"/>
              <a:gd name="T7" fmla="*/ 0 h 1"/>
              <a:gd name="T8" fmla="*/ 317 w 317"/>
              <a:gd name="T9" fmla="*/ 1 h 1"/>
            </a:gdLst>
            <a:ahLst/>
            <a:cxnLst>
              <a:cxn ang="T4">
                <a:pos x="T0" y="T1"/>
              </a:cxn>
              <a:cxn ang="T5">
                <a:pos x="T2" y="T3"/>
              </a:cxn>
            </a:cxnLst>
            <a:rect l="T6" t="T7" r="T8" b="T9"/>
            <a:pathLst>
              <a:path w="317" h="1">
                <a:moveTo>
                  <a:pt x="0" y="0"/>
                </a:moveTo>
                <a:lnTo>
                  <a:pt x="317" y="0"/>
                </a:lnTo>
              </a:path>
            </a:pathLst>
          </a:custGeom>
          <a:noFill/>
          <a:ln w="28575">
            <a:solidFill>
              <a:srgbClr val="3333FF"/>
            </a:solidFill>
            <a:round/>
            <a:headEnd/>
            <a:tailEnd type="none" w="med" len="lg"/>
          </a:ln>
        </p:spPr>
        <p:txBody>
          <a:bodyPr wrap="none"/>
          <a:lstStyle/>
          <a:p>
            <a:endParaRPr lang="zh-CN" altLang="en-US" sz="1800">
              <a:latin typeface="Consolas" pitchFamily="49" charset="0"/>
              <a:cs typeface="Consolas" pitchFamily="49" charset="0"/>
            </a:endParaRPr>
          </a:p>
        </p:txBody>
      </p:sp>
      <p:sp>
        <p:nvSpPr>
          <p:cNvPr id="15" name="Line 14">
            <a:extLst>
              <a:ext uri="{FF2B5EF4-FFF2-40B4-BE49-F238E27FC236}">
                <a16:creationId xmlns:a16="http://schemas.microsoft.com/office/drawing/2014/main" id="{6824EEB6-C71B-9926-F6EB-B416A2851491}"/>
              </a:ext>
            </a:extLst>
          </p:cNvPr>
          <p:cNvSpPr>
            <a:spLocks noChangeShapeType="1"/>
          </p:cNvSpPr>
          <p:nvPr/>
        </p:nvSpPr>
        <p:spPr bwMode="auto">
          <a:xfrm>
            <a:off x="2972893" y="3627371"/>
            <a:ext cx="503238" cy="0"/>
          </a:xfrm>
          <a:prstGeom prst="line">
            <a:avLst/>
          </a:prstGeom>
          <a:noFill/>
          <a:ln w="28575">
            <a:solidFill>
              <a:srgbClr val="3333FF"/>
            </a:solidFill>
            <a:round/>
            <a:headEnd/>
            <a:tailEnd type="none" w="med" len="lg"/>
          </a:ln>
        </p:spPr>
        <p:txBody>
          <a:bodyPr wrap="none"/>
          <a:lstStyle/>
          <a:p>
            <a:endParaRPr lang="zh-CN" altLang="en-US" sz="1800">
              <a:latin typeface="Consolas" pitchFamily="49" charset="0"/>
              <a:cs typeface="Consolas" pitchFamily="49" charset="0"/>
            </a:endParaRPr>
          </a:p>
        </p:txBody>
      </p:sp>
      <p:sp>
        <p:nvSpPr>
          <p:cNvPr id="16" name="Freeform 15">
            <a:extLst>
              <a:ext uri="{FF2B5EF4-FFF2-40B4-BE49-F238E27FC236}">
                <a16:creationId xmlns:a16="http://schemas.microsoft.com/office/drawing/2014/main" id="{C4FB74C7-1CE3-7011-3064-36F44BC02748}"/>
              </a:ext>
            </a:extLst>
          </p:cNvPr>
          <p:cNvSpPr>
            <a:spLocks/>
          </p:cNvSpPr>
          <p:nvPr/>
        </p:nvSpPr>
        <p:spPr bwMode="auto">
          <a:xfrm>
            <a:off x="1917206" y="3817871"/>
            <a:ext cx="623888" cy="601663"/>
          </a:xfrm>
          <a:custGeom>
            <a:avLst/>
            <a:gdLst>
              <a:gd name="T0" fmla="*/ 0 w 393"/>
              <a:gd name="T1" fmla="*/ 0 h 379"/>
              <a:gd name="T2" fmla="*/ 393 w 393"/>
              <a:gd name="T3" fmla="*/ 379 h 379"/>
              <a:gd name="T4" fmla="*/ 0 60000 65536"/>
              <a:gd name="T5" fmla="*/ 0 60000 65536"/>
              <a:gd name="T6" fmla="*/ 0 w 393"/>
              <a:gd name="T7" fmla="*/ 0 h 379"/>
              <a:gd name="T8" fmla="*/ 393 w 393"/>
              <a:gd name="T9" fmla="*/ 379 h 379"/>
            </a:gdLst>
            <a:ahLst/>
            <a:cxnLst>
              <a:cxn ang="T4">
                <a:pos x="T0" y="T1"/>
              </a:cxn>
              <a:cxn ang="T5">
                <a:pos x="T2" y="T3"/>
              </a:cxn>
            </a:cxnLst>
            <a:rect l="T6" t="T7" r="T8" b="T9"/>
            <a:pathLst>
              <a:path w="393" h="379">
                <a:moveTo>
                  <a:pt x="0" y="0"/>
                </a:moveTo>
                <a:lnTo>
                  <a:pt x="393" y="379"/>
                </a:lnTo>
              </a:path>
            </a:pathLst>
          </a:custGeom>
          <a:noFill/>
          <a:ln w="28575">
            <a:solidFill>
              <a:srgbClr val="3333FF"/>
            </a:solidFill>
            <a:round/>
            <a:headEnd/>
            <a:tailEnd type="none" w="med" len="lg"/>
          </a:ln>
        </p:spPr>
        <p:txBody>
          <a:bodyPr wrap="none"/>
          <a:lstStyle/>
          <a:p>
            <a:endParaRPr lang="zh-CN" altLang="en-US" sz="1800">
              <a:latin typeface="Consolas" pitchFamily="49" charset="0"/>
              <a:cs typeface="Consolas" pitchFamily="49" charset="0"/>
            </a:endParaRPr>
          </a:p>
        </p:txBody>
      </p:sp>
      <p:sp>
        <p:nvSpPr>
          <p:cNvPr id="17" name="Line 17">
            <a:extLst>
              <a:ext uri="{FF2B5EF4-FFF2-40B4-BE49-F238E27FC236}">
                <a16:creationId xmlns:a16="http://schemas.microsoft.com/office/drawing/2014/main" id="{472B2D1B-BFC7-92FE-15CE-5B1D87B9935A}"/>
              </a:ext>
            </a:extLst>
          </p:cNvPr>
          <p:cNvSpPr>
            <a:spLocks noChangeShapeType="1"/>
          </p:cNvSpPr>
          <p:nvPr/>
        </p:nvSpPr>
        <p:spPr bwMode="auto">
          <a:xfrm>
            <a:off x="2972893" y="2835209"/>
            <a:ext cx="647700" cy="576263"/>
          </a:xfrm>
          <a:prstGeom prst="line">
            <a:avLst/>
          </a:prstGeom>
          <a:noFill/>
          <a:ln w="28575">
            <a:solidFill>
              <a:srgbClr val="3333FF"/>
            </a:solidFill>
            <a:round/>
            <a:headEnd/>
            <a:tailEnd type="none" w="med" len="lg"/>
          </a:ln>
        </p:spPr>
        <p:txBody>
          <a:bodyPr wrap="none"/>
          <a:lstStyle/>
          <a:p>
            <a:endParaRPr lang="zh-CN" altLang="en-US" sz="1800">
              <a:latin typeface="Consolas" pitchFamily="49" charset="0"/>
              <a:cs typeface="Consolas" pitchFamily="49" charset="0"/>
            </a:endParaRPr>
          </a:p>
        </p:txBody>
      </p:sp>
      <p:sp>
        <p:nvSpPr>
          <p:cNvPr id="18" name="Freeform 18">
            <a:extLst>
              <a:ext uri="{FF2B5EF4-FFF2-40B4-BE49-F238E27FC236}">
                <a16:creationId xmlns:a16="http://schemas.microsoft.com/office/drawing/2014/main" id="{BA9C15DC-5165-CE74-F532-5D9CD0489018}"/>
              </a:ext>
            </a:extLst>
          </p:cNvPr>
          <p:cNvSpPr>
            <a:spLocks/>
          </p:cNvSpPr>
          <p:nvPr/>
        </p:nvSpPr>
        <p:spPr bwMode="auto">
          <a:xfrm>
            <a:off x="2972893" y="3817871"/>
            <a:ext cx="620713" cy="603250"/>
          </a:xfrm>
          <a:custGeom>
            <a:avLst/>
            <a:gdLst>
              <a:gd name="T0" fmla="*/ 0 w 391"/>
              <a:gd name="T1" fmla="*/ 380 h 380"/>
              <a:gd name="T2" fmla="*/ 391 w 391"/>
              <a:gd name="T3" fmla="*/ 0 h 380"/>
              <a:gd name="T4" fmla="*/ 0 60000 65536"/>
              <a:gd name="T5" fmla="*/ 0 60000 65536"/>
              <a:gd name="T6" fmla="*/ 0 w 391"/>
              <a:gd name="T7" fmla="*/ 0 h 380"/>
              <a:gd name="T8" fmla="*/ 391 w 391"/>
              <a:gd name="T9" fmla="*/ 380 h 380"/>
            </a:gdLst>
            <a:ahLst/>
            <a:cxnLst>
              <a:cxn ang="T4">
                <a:pos x="T0" y="T1"/>
              </a:cxn>
              <a:cxn ang="T5">
                <a:pos x="T2" y="T3"/>
              </a:cxn>
            </a:cxnLst>
            <a:rect l="T6" t="T7" r="T8" b="T9"/>
            <a:pathLst>
              <a:path w="391" h="380">
                <a:moveTo>
                  <a:pt x="0" y="380"/>
                </a:moveTo>
                <a:lnTo>
                  <a:pt x="391" y="0"/>
                </a:lnTo>
              </a:path>
            </a:pathLst>
          </a:custGeom>
          <a:noFill/>
          <a:ln w="28575">
            <a:solidFill>
              <a:srgbClr val="3333FF"/>
            </a:solidFill>
            <a:round/>
            <a:headEnd/>
            <a:tailEnd type="none" w="med" len="lg"/>
          </a:ln>
        </p:spPr>
        <p:txBody>
          <a:bodyPr wrap="none"/>
          <a:lstStyle/>
          <a:p>
            <a:endParaRPr lang="zh-CN" altLang="en-US" sz="1800">
              <a:latin typeface="Consolas" pitchFamily="49" charset="0"/>
              <a:cs typeface="Consolas" pitchFamily="49" charset="0"/>
            </a:endParaRPr>
          </a:p>
        </p:txBody>
      </p:sp>
      <p:sp>
        <p:nvSpPr>
          <p:cNvPr id="19" name="Line 19">
            <a:extLst>
              <a:ext uri="{FF2B5EF4-FFF2-40B4-BE49-F238E27FC236}">
                <a16:creationId xmlns:a16="http://schemas.microsoft.com/office/drawing/2014/main" id="{79E99D6B-85BB-2254-40A9-E85A1E12D119}"/>
              </a:ext>
            </a:extLst>
          </p:cNvPr>
          <p:cNvSpPr>
            <a:spLocks noChangeShapeType="1"/>
          </p:cNvSpPr>
          <p:nvPr/>
        </p:nvSpPr>
        <p:spPr bwMode="auto">
          <a:xfrm>
            <a:off x="2756993" y="3843271"/>
            <a:ext cx="0" cy="431800"/>
          </a:xfrm>
          <a:prstGeom prst="line">
            <a:avLst/>
          </a:prstGeom>
          <a:noFill/>
          <a:ln w="28575">
            <a:solidFill>
              <a:srgbClr val="3333FF"/>
            </a:solidFill>
            <a:round/>
            <a:headEnd/>
            <a:tailEnd type="none" w="med" len="lg"/>
          </a:ln>
        </p:spPr>
        <p:txBody>
          <a:bodyPr wrap="none"/>
          <a:lstStyle/>
          <a:p>
            <a:endParaRPr lang="zh-CN" altLang="en-US" sz="1800">
              <a:latin typeface="Consolas" pitchFamily="49" charset="0"/>
              <a:cs typeface="Consolas" pitchFamily="49" charset="0"/>
            </a:endParaRPr>
          </a:p>
        </p:txBody>
      </p:sp>
      <p:sp>
        <p:nvSpPr>
          <p:cNvPr id="20" name="Line 20">
            <a:extLst>
              <a:ext uri="{FF2B5EF4-FFF2-40B4-BE49-F238E27FC236}">
                <a16:creationId xmlns:a16="http://schemas.microsoft.com/office/drawing/2014/main" id="{27B6FD17-69B6-D383-4A24-E3CB1DD93B0D}"/>
              </a:ext>
            </a:extLst>
          </p:cNvPr>
          <p:cNvSpPr>
            <a:spLocks noChangeShapeType="1"/>
          </p:cNvSpPr>
          <p:nvPr/>
        </p:nvSpPr>
        <p:spPr bwMode="auto">
          <a:xfrm>
            <a:off x="2756993" y="2979671"/>
            <a:ext cx="0" cy="431800"/>
          </a:xfrm>
          <a:prstGeom prst="line">
            <a:avLst/>
          </a:prstGeom>
          <a:noFill/>
          <a:ln w="28575">
            <a:solidFill>
              <a:srgbClr val="3333FF"/>
            </a:solidFill>
            <a:round/>
            <a:headEnd/>
            <a:tailEnd type="none" w="med" len="lg"/>
          </a:ln>
        </p:spPr>
        <p:txBody>
          <a:bodyPr wrap="none"/>
          <a:lstStyle/>
          <a:p>
            <a:endParaRPr lang="zh-CN" altLang="en-US" sz="1800">
              <a:latin typeface="Consolas" pitchFamily="49" charset="0"/>
              <a:cs typeface="Consolas" pitchFamily="49" charset="0"/>
            </a:endParaRPr>
          </a:p>
        </p:txBody>
      </p:sp>
      <p:grpSp>
        <p:nvGrpSpPr>
          <p:cNvPr id="21" name="组合 110">
            <a:extLst>
              <a:ext uri="{FF2B5EF4-FFF2-40B4-BE49-F238E27FC236}">
                <a16:creationId xmlns:a16="http://schemas.microsoft.com/office/drawing/2014/main" id="{6C6D612C-314A-5516-B94B-C1B690110558}"/>
              </a:ext>
            </a:extLst>
          </p:cNvPr>
          <p:cNvGrpSpPr/>
          <p:nvPr/>
        </p:nvGrpSpPr>
        <p:grpSpPr>
          <a:xfrm>
            <a:off x="5751883" y="1891540"/>
            <a:ext cx="5857916" cy="2500330"/>
            <a:chOff x="2771775" y="1263650"/>
            <a:chExt cx="6121400" cy="2520950"/>
          </a:xfrm>
        </p:grpSpPr>
        <p:sp>
          <p:nvSpPr>
            <p:cNvPr id="22" name="Text Box 23">
              <a:extLst>
                <a:ext uri="{FF2B5EF4-FFF2-40B4-BE49-F238E27FC236}">
                  <a16:creationId xmlns:a16="http://schemas.microsoft.com/office/drawing/2014/main" id="{2D433EE1-E5B5-D042-0130-1F9B3C21DFA5}"/>
                </a:ext>
              </a:extLst>
            </p:cNvPr>
            <p:cNvSpPr txBox="1">
              <a:spLocks noChangeArrowheads="1"/>
            </p:cNvSpPr>
            <p:nvPr/>
          </p:nvSpPr>
          <p:spPr bwMode="auto">
            <a:xfrm>
              <a:off x="2771775" y="1428736"/>
              <a:ext cx="288925" cy="248252"/>
            </a:xfrm>
            <a:prstGeom prst="rect">
              <a:avLst/>
            </a:prstGeom>
            <a:noFill/>
            <a:ln w="28575" algn="ctr">
              <a:noFill/>
              <a:miter lim="800000"/>
              <a:headEnd/>
              <a:tailEnd type="none" w="med" len="lg"/>
            </a:ln>
          </p:spPr>
          <p:txBody>
            <a:bodyPr lIns="0" tIns="0" rIns="0" bIns="0">
              <a:spAutoFit/>
            </a:bodyPr>
            <a:lstStyle/>
            <a:p>
              <a:pPr>
                <a:spcBef>
                  <a:spcPct val="50000"/>
                </a:spcBef>
              </a:pPr>
              <a:r>
                <a:rPr lang="en-US" altLang="zh-CN" sz="1600">
                  <a:solidFill>
                    <a:srgbClr val="00B0F0"/>
                  </a:solidFill>
                  <a:latin typeface="Consolas" pitchFamily="49" charset="0"/>
                  <a:cs typeface="Consolas" pitchFamily="49" charset="0"/>
                </a:rPr>
                <a:t>0</a:t>
              </a:r>
            </a:p>
          </p:txBody>
        </p:sp>
        <p:grpSp>
          <p:nvGrpSpPr>
            <p:cNvPr id="23" name="Group 92">
              <a:extLst>
                <a:ext uri="{FF2B5EF4-FFF2-40B4-BE49-F238E27FC236}">
                  <a16:creationId xmlns:a16="http://schemas.microsoft.com/office/drawing/2014/main" id="{81847C1C-4CB3-721B-559C-23D0CC97891A}"/>
                </a:ext>
              </a:extLst>
            </p:cNvPr>
            <p:cNvGrpSpPr>
              <a:grpSpLocks/>
            </p:cNvGrpSpPr>
            <p:nvPr/>
          </p:nvGrpSpPr>
          <p:grpSpPr bwMode="auto">
            <a:xfrm>
              <a:off x="3170238" y="1263650"/>
              <a:ext cx="1152525" cy="503238"/>
              <a:chOff x="1997" y="300"/>
              <a:chExt cx="726" cy="317"/>
            </a:xfrm>
          </p:grpSpPr>
          <p:sp>
            <p:nvSpPr>
              <p:cNvPr id="104" name="Rectangle 22">
                <a:extLst>
                  <a:ext uri="{FF2B5EF4-FFF2-40B4-BE49-F238E27FC236}">
                    <a16:creationId xmlns:a16="http://schemas.microsoft.com/office/drawing/2014/main" id="{BDF9620A-95C9-CDB6-D5BF-8DCB959D38C2}"/>
                  </a:ext>
                </a:extLst>
              </p:cNvPr>
              <p:cNvSpPr>
                <a:spLocks noChangeArrowheads="1"/>
              </p:cNvSpPr>
              <p:nvPr/>
            </p:nvSpPr>
            <p:spPr bwMode="auto">
              <a:xfrm>
                <a:off x="1997" y="300"/>
                <a:ext cx="363" cy="317"/>
              </a:xfrm>
              <a:prstGeom prst="rect">
                <a:avLst/>
              </a:prstGeom>
              <a:ln>
                <a:headEnd/>
                <a:tailEnd type="none" w="med" len="lg"/>
              </a:ln>
            </p:spPr>
            <p:style>
              <a:lnRef idx="1">
                <a:schemeClr val="accent1"/>
              </a:lnRef>
              <a:fillRef idx="2">
                <a:schemeClr val="accent1"/>
              </a:fillRef>
              <a:effectRef idx="1">
                <a:schemeClr val="accent1"/>
              </a:effectRef>
              <a:fontRef idx="minor">
                <a:schemeClr val="dk1"/>
              </a:fontRef>
            </p:style>
            <p:txBody>
              <a:bodyPr wrap="none" anchor="ctr"/>
              <a:lstStyle/>
              <a:p>
                <a:r>
                  <a:rPr lang="en-US" altLang="zh-CN" sz="1800" i="1" dirty="0" err="1">
                    <a:solidFill>
                      <a:srgbClr val="0000FF"/>
                    </a:solidFill>
                    <a:latin typeface="Consolas" pitchFamily="49" charset="0"/>
                    <a:cs typeface="Consolas" pitchFamily="49" charset="0"/>
                  </a:rPr>
                  <a:t>v</a:t>
                </a:r>
                <a:r>
                  <a:rPr lang="en-US" altLang="zh-CN" sz="1800" baseline="-25000" dirty="0" err="1">
                    <a:solidFill>
                      <a:srgbClr val="0000FF"/>
                    </a:solidFill>
                    <a:latin typeface="Consolas" pitchFamily="49" charset="0"/>
                    <a:cs typeface="Consolas" pitchFamily="49" charset="0"/>
                  </a:rPr>
                  <a:t>0</a:t>
                </a:r>
                <a:endParaRPr lang="en-US" altLang="zh-CN" sz="1800" baseline="-25000" dirty="0">
                  <a:solidFill>
                    <a:srgbClr val="0000FF"/>
                  </a:solidFill>
                  <a:latin typeface="Consolas" pitchFamily="49" charset="0"/>
                  <a:cs typeface="Consolas" pitchFamily="49" charset="0"/>
                </a:endParaRPr>
              </a:p>
            </p:txBody>
          </p:sp>
          <p:sp>
            <p:nvSpPr>
              <p:cNvPr id="105" name="Rectangle 24">
                <a:extLst>
                  <a:ext uri="{FF2B5EF4-FFF2-40B4-BE49-F238E27FC236}">
                    <a16:creationId xmlns:a16="http://schemas.microsoft.com/office/drawing/2014/main" id="{731A1ED4-8519-2871-B653-4AC21ABB9363}"/>
                  </a:ext>
                </a:extLst>
              </p:cNvPr>
              <p:cNvSpPr>
                <a:spLocks noChangeArrowheads="1"/>
              </p:cNvSpPr>
              <p:nvPr/>
            </p:nvSpPr>
            <p:spPr bwMode="auto">
              <a:xfrm>
                <a:off x="2360" y="300"/>
                <a:ext cx="363" cy="317"/>
              </a:xfrm>
              <a:prstGeom prst="rect">
                <a:avLst/>
              </a:prstGeom>
              <a:ln>
                <a:headEnd/>
                <a:tailEnd type="none" w="med" len="lg"/>
              </a:ln>
            </p:spPr>
            <p:style>
              <a:lnRef idx="1">
                <a:schemeClr val="accent1"/>
              </a:lnRef>
              <a:fillRef idx="2">
                <a:schemeClr val="accent1"/>
              </a:fillRef>
              <a:effectRef idx="1">
                <a:schemeClr val="accent1"/>
              </a:effectRef>
              <a:fontRef idx="minor">
                <a:schemeClr val="dk1"/>
              </a:fontRef>
            </p:style>
            <p:txBody>
              <a:bodyPr wrap="none" anchor="ctr"/>
              <a:lstStyle/>
              <a:p>
                <a:endParaRPr lang="zh-CN" altLang="zh-CN" sz="1800" baseline="-25000">
                  <a:solidFill>
                    <a:srgbClr val="0000FF"/>
                  </a:solidFill>
                  <a:latin typeface="Consolas" pitchFamily="49" charset="0"/>
                  <a:cs typeface="Consolas" pitchFamily="49" charset="0"/>
                </a:endParaRPr>
              </a:p>
            </p:txBody>
          </p:sp>
        </p:grpSp>
        <p:grpSp>
          <p:nvGrpSpPr>
            <p:cNvPr id="24" name="Group 97">
              <a:extLst>
                <a:ext uri="{FF2B5EF4-FFF2-40B4-BE49-F238E27FC236}">
                  <a16:creationId xmlns:a16="http://schemas.microsoft.com/office/drawing/2014/main" id="{291BFFDE-D22E-F597-70D0-70E6D35AC1D6}"/>
                </a:ext>
              </a:extLst>
            </p:cNvPr>
            <p:cNvGrpSpPr>
              <a:grpSpLocks/>
            </p:cNvGrpSpPr>
            <p:nvPr/>
          </p:nvGrpSpPr>
          <p:grpSpPr bwMode="auto">
            <a:xfrm>
              <a:off x="4572000" y="1336675"/>
              <a:ext cx="936625" cy="395288"/>
              <a:chOff x="2880" y="346"/>
              <a:chExt cx="590" cy="249"/>
            </a:xfrm>
          </p:grpSpPr>
          <p:sp>
            <p:nvSpPr>
              <p:cNvPr id="102" name="Rectangle 25">
                <a:extLst>
                  <a:ext uri="{FF2B5EF4-FFF2-40B4-BE49-F238E27FC236}">
                    <a16:creationId xmlns:a16="http://schemas.microsoft.com/office/drawing/2014/main" id="{A61988A4-CD3A-6A21-B814-85FB58080C0E}"/>
                  </a:ext>
                </a:extLst>
              </p:cNvPr>
              <p:cNvSpPr>
                <a:spLocks noChangeArrowheads="1"/>
              </p:cNvSpPr>
              <p:nvPr/>
            </p:nvSpPr>
            <p:spPr bwMode="auto">
              <a:xfrm>
                <a:off x="2880" y="346"/>
                <a:ext cx="317" cy="249"/>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anchor="ctr"/>
              <a:lstStyle/>
              <a:p>
                <a:r>
                  <a:rPr lang="en-US" altLang="zh-CN" sz="1800" dirty="0">
                    <a:solidFill>
                      <a:srgbClr val="0000FF"/>
                    </a:solidFill>
                    <a:latin typeface="Consolas" pitchFamily="49" charset="0"/>
                    <a:cs typeface="Consolas" pitchFamily="49" charset="0"/>
                  </a:rPr>
                  <a:t>1</a:t>
                </a:r>
              </a:p>
            </p:txBody>
          </p:sp>
          <p:sp>
            <p:nvSpPr>
              <p:cNvPr id="103" name="Rectangle 26">
                <a:extLst>
                  <a:ext uri="{FF2B5EF4-FFF2-40B4-BE49-F238E27FC236}">
                    <a16:creationId xmlns:a16="http://schemas.microsoft.com/office/drawing/2014/main" id="{D0AF7ACB-85F8-F494-0722-20F1A8E7030C}"/>
                  </a:ext>
                </a:extLst>
              </p:cNvPr>
              <p:cNvSpPr>
                <a:spLocks noChangeArrowheads="1"/>
              </p:cNvSpPr>
              <p:nvPr/>
            </p:nvSpPr>
            <p:spPr bwMode="auto">
              <a:xfrm>
                <a:off x="3198" y="346"/>
                <a:ext cx="272" cy="249"/>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anchor="ctr"/>
              <a:lstStyle/>
              <a:p>
                <a:endParaRPr lang="zh-CN" altLang="zh-CN" sz="1800">
                  <a:solidFill>
                    <a:srgbClr val="0000FF"/>
                  </a:solidFill>
                  <a:latin typeface="Consolas" pitchFamily="49" charset="0"/>
                  <a:cs typeface="Consolas" pitchFamily="49" charset="0"/>
                </a:endParaRPr>
              </a:p>
            </p:txBody>
          </p:sp>
        </p:grpSp>
        <p:grpSp>
          <p:nvGrpSpPr>
            <p:cNvPr id="25" name="Group 98">
              <a:extLst>
                <a:ext uri="{FF2B5EF4-FFF2-40B4-BE49-F238E27FC236}">
                  <a16:creationId xmlns:a16="http://schemas.microsoft.com/office/drawing/2014/main" id="{E0F11699-2BA8-B275-BF7A-88CFD7EB0356}"/>
                </a:ext>
              </a:extLst>
            </p:cNvPr>
            <p:cNvGrpSpPr>
              <a:grpSpLocks/>
            </p:cNvGrpSpPr>
            <p:nvPr/>
          </p:nvGrpSpPr>
          <p:grpSpPr bwMode="auto">
            <a:xfrm>
              <a:off x="5691188" y="1336675"/>
              <a:ext cx="936625" cy="395288"/>
              <a:chOff x="3585" y="346"/>
              <a:chExt cx="590" cy="249"/>
            </a:xfrm>
          </p:grpSpPr>
          <p:sp>
            <p:nvSpPr>
              <p:cNvPr id="100" name="Rectangle 27">
                <a:extLst>
                  <a:ext uri="{FF2B5EF4-FFF2-40B4-BE49-F238E27FC236}">
                    <a16:creationId xmlns:a16="http://schemas.microsoft.com/office/drawing/2014/main" id="{76E4A900-029E-E147-45B2-A09765B38458}"/>
                  </a:ext>
                </a:extLst>
              </p:cNvPr>
              <p:cNvSpPr>
                <a:spLocks noChangeArrowheads="1"/>
              </p:cNvSpPr>
              <p:nvPr/>
            </p:nvSpPr>
            <p:spPr bwMode="auto">
              <a:xfrm>
                <a:off x="3585" y="346"/>
                <a:ext cx="317" cy="249"/>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anchor="ctr"/>
              <a:lstStyle/>
              <a:p>
                <a:r>
                  <a:rPr lang="en-US" altLang="zh-CN" sz="1800" dirty="0">
                    <a:solidFill>
                      <a:srgbClr val="0000FF"/>
                    </a:solidFill>
                    <a:latin typeface="Consolas" pitchFamily="49" charset="0"/>
                    <a:cs typeface="Consolas" pitchFamily="49" charset="0"/>
                  </a:rPr>
                  <a:t>3</a:t>
                </a:r>
              </a:p>
            </p:txBody>
          </p:sp>
          <p:sp>
            <p:nvSpPr>
              <p:cNvPr id="101" name="Rectangle 28">
                <a:extLst>
                  <a:ext uri="{FF2B5EF4-FFF2-40B4-BE49-F238E27FC236}">
                    <a16:creationId xmlns:a16="http://schemas.microsoft.com/office/drawing/2014/main" id="{C772BAA3-0FF9-E20D-1E2F-91C098DA0AD8}"/>
                  </a:ext>
                </a:extLst>
              </p:cNvPr>
              <p:cNvSpPr>
                <a:spLocks noChangeArrowheads="1"/>
              </p:cNvSpPr>
              <p:nvPr/>
            </p:nvSpPr>
            <p:spPr bwMode="auto">
              <a:xfrm>
                <a:off x="3903" y="346"/>
                <a:ext cx="272" cy="249"/>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anchor="ctr"/>
              <a:lstStyle/>
              <a:p>
                <a:endParaRPr lang="zh-CN" altLang="zh-CN" sz="1800">
                  <a:solidFill>
                    <a:srgbClr val="0000FF"/>
                  </a:solidFill>
                  <a:latin typeface="Consolas" pitchFamily="49" charset="0"/>
                  <a:cs typeface="Consolas" pitchFamily="49" charset="0"/>
                </a:endParaRPr>
              </a:p>
            </p:txBody>
          </p:sp>
        </p:grpSp>
        <p:grpSp>
          <p:nvGrpSpPr>
            <p:cNvPr id="26" name="Group 99">
              <a:extLst>
                <a:ext uri="{FF2B5EF4-FFF2-40B4-BE49-F238E27FC236}">
                  <a16:creationId xmlns:a16="http://schemas.microsoft.com/office/drawing/2014/main" id="{DBDCFCD6-36E7-82B7-F980-3324751AED17}"/>
                </a:ext>
              </a:extLst>
            </p:cNvPr>
            <p:cNvGrpSpPr>
              <a:grpSpLocks/>
            </p:cNvGrpSpPr>
            <p:nvPr/>
          </p:nvGrpSpPr>
          <p:grpSpPr bwMode="auto">
            <a:xfrm>
              <a:off x="6808788" y="1336675"/>
              <a:ext cx="936625" cy="395288"/>
              <a:chOff x="4289" y="346"/>
              <a:chExt cx="590" cy="249"/>
            </a:xfrm>
          </p:grpSpPr>
          <p:sp>
            <p:nvSpPr>
              <p:cNvPr id="98" name="Rectangle 29">
                <a:extLst>
                  <a:ext uri="{FF2B5EF4-FFF2-40B4-BE49-F238E27FC236}">
                    <a16:creationId xmlns:a16="http://schemas.microsoft.com/office/drawing/2014/main" id="{E02DB026-E327-D192-B1F7-2CA32E61CDA6}"/>
                  </a:ext>
                </a:extLst>
              </p:cNvPr>
              <p:cNvSpPr>
                <a:spLocks noChangeArrowheads="1"/>
              </p:cNvSpPr>
              <p:nvPr/>
            </p:nvSpPr>
            <p:spPr bwMode="auto">
              <a:xfrm>
                <a:off x="4289" y="346"/>
                <a:ext cx="317" cy="249"/>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anchor="ctr"/>
              <a:lstStyle/>
              <a:p>
                <a:r>
                  <a:rPr lang="en-US" altLang="zh-CN" sz="1800" dirty="0">
                    <a:solidFill>
                      <a:srgbClr val="0000FF"/>
                    </a:solidFill>
                    <a:latin typeface="Consolas" pitchFamily="49" charset="0"/>
                    <a:cs typeface="Consolas" pitchFamily="49" charset="0"/>
                  </a:rPr>
                  <a:t>4</a:t>
                </a:r>
              </a:p>
            </p:txBody>
          </p:sp>
          <p:sp>
            <p:nvSpPr>
              <p:cNvPr id="99" name="Rectangle 30">
                <a:extLst>
                  <a:ext uri="{FF2B5EF4-FFF2-40B4-BE49-F238E27FC236}">
                    <a16:creationId xmlns:a16="http://schemas.microsoft.com/office/drawing/2014/main" id="{D9824523-8EFE-4232-5802-37398BA1B539}"/>
                  </a:ext>
                </a:extLst>
              </p:cNvPr>
              <p:cNvSpPr>
                <a:spLocks noChangeArrowheads="1"/>
              </p:cNvSpPr>
              <p:nvPr/>
            </p:nvSpPr>
            <p:spPr bwMode="auto">
              <a:xfrm>
                <a:off x="4607" y="346"/>
                <a:ext cx="272" cy="249"/>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anchor="ctr"/>
              <a:lstStyle/>
              <a:p>
                <a:r>
                  <a:rPr lang="en-US" altLang="zh-CN" sz="1800">
                    <a:solidFill>
                      <a:srgbClr val="0000FF"/>
                    </a:solidFill>
                    <a:latin typeface="Consolas" pitchFamily="49" charset="0"/>
                    <a:cs typeface="Consolas" pitchFamily="49" charset="0"/>
                  </a:rPr>
                  <a:t>∧</a:t>
                </a:r>
              </a:p>
            </p:txBody>
          </p:sp>
        </p:grpSp>
        <p:sp>
          <p:nvSpPr>
            <p:cNvPr id="27" name="Line 31">
              <a:extLst>
                <a:ext uri="{FF2B5EF4-FFF2-40B4-BE49-F238E27FC236}">
                  <a16:creationId xmlns:a16="http://schemas.microsoft.com/office/drawing/2014/main" id="{5B1120BE-7CBC-4428-BFC6-C3C694D6EC7B}"/>
                </a:ext>
              </a:extLst>
            </p:cNvPr>
            <p:cNvSpPr>
              <a:spLocks noChangeShapeType="1"/>
            </p:cNvSpPr>
            <p:nvPr/>
          </p:nvSpPr>
          <p:spPr bwMode="auto">
            <a:xfrm>
              <a:off x="3995738" y="1552575"/>
              <a:ext cx="576262" cy="0"/>
            </a:xfrm>
            <a:prstGeom prst="line">
              <a:avLst/>
            </a:prstGeom>
            <a:noFill/>
            <a:ln w="28575">
              <a:solidFill>
                <a:srgbClr val="3333FF"/>
              </a:solidFill>
              <a:round/>
              <a:headEnd/>
              <a:tailEnd type="triangle" w="med" len="lg"/>
            </a:ln>
          </p:spPr>
          <p:txBody>
            <a:bodyPr wrap="none"/>
            <a:lstStyle/>
            <a:p>
              <a:endParaRPr lang="zh-CN" altLang="en-US" sz="1800">
                <a:latin typeface="Consolas" pitchFamily="49" charset="0"/>
                <a:cs typeface="Consolas" pitchFamily="49" charset="0"/>
              </a:endParaRPr>
            </a:p>
          </p:txBody>
        </p:sp>
        <p:sp>
          <p:nvSpPr>
            <p:cNvPr id="28" name="Line 32">
              <a:extLst>
                <a:ext uri="{FF2B5EF4-FFF2-40B4-BE49-F238E27FC236}">
                  <a16:creationId xmlns:a16="http://schemas.microsoft.com/office/drawing/2014/main" id="{E9A941E2-91C8-7A57-BDCF-6D130DC97877}"/>
                </a:ext>
              </a:extLst>
            </p:cNvPr>
            <p:cNvSpPr>
              <a:spLocks noChangeShapeType="1"/>
            </p:cNvSpPr>
            <p:nvPr/>
          </p:nvSpPr>
          <p:spPr bwMode="auto">
            <a:xfrm>
              <a:off x="5338763" y="1543050"/>
              <a:ext cx="360362" cy="0"/>
            </a:xfrm>
            <a:prstGeom prst="line">
              <a:avLst/>
            </a:prstGeom>
            <a:noFill/>
            <a:ln w="28575">
              <a:solidFill>
                <a:srgbClr val="3333FF"/>
              </a:solidFill>
              <a:round/>
              <a:headEnd/>
              <a:tailEnd type="triangle" w="med" len="lg"/>
            </a:ln>
          </p:spPr>
          <p:txBody>
            <a:bodyPr wrap="none"/>
            <a:lstStyle/>
            <a:p>
              <a:endParaRPr lang="zh-CN" altLang="en-US" sz="1800">
                <a:latin typeface="Consolas" pitchFamily="49" charset="0"/>
                <a:cs typeface="Consolas" pitchFamily="49" charset="0"/>
              </a:endParaRPr>
            </a:p>
          </p:txBody>
        </p:sp>
        <p:sp>
          <p:nvSpPr>
            <p:cNvPr id="29" name="Line 33">
              <a:extLst>
                <a:ext uri="{FF2B5EF4-FFF2-40B4-BE49-F238E27FC236}">
                  <a16:creationId xmlns:a16="http://schemas.microsoft.com/office/drawing/2014/main" id="{820520B9-4659-A83B-110D-17DA75D22C51}"/>
                </a:ext>
              </a:extLst>
            </p:cNvPr>
            <p:cNvSpPr>
              <a:spLocks noChangeShapeType="1"/>
            </p:cNvSpPr>
            <p:nvPr/>
          </p:nvSpPr>
          <p:spPr bwMode="auto">
            <a:xfrm>
              <a:off x="6461125" y="1552575"/>
              <a:ext cx="360363" cy="0"/>
            </a:xfrm>
            <a:prstGeom prst="line">
              <a:avLst/>
            </a:prstGeom>
            <a:noFill/>
            <a:ln w="28575">
              <a:solidFill>
                <a:srgbClr val="3333FF"/>
              </a:solidFill>
              <a:round/>
              <a:headEnd/>
              <a:tailEnd type="triangle" w="med" len="lg"/>
            </a:ln>
          </p:spPr>
          <p:txBody>
            <a:bodyPr wrap="none"/>
            <a:lstStyle/>
            <a:p>
              <a:endParaRPr lang="zh-CN" altLang="en-US" sz="1800">
                <a:latin typeface="Consolas" pitchFamily="49" charset="0"/>
                <a:cs typeface="Consolas" pitchFamily="49" charset="0"/>
              </a:endParaRPr>
            </a:p>
          </p:txBody>
        </p:sp>
        <p:sp>
          <p:nvSpPr>
            <p:cNvPr id="30" name="Text Box 35">
              <a:extLst>
                <a:ext uri="{FF2B5EF4-FFF2-40B4-BE49-F238E27FC236}">
                  <a16:creationId xmlns:a16="http://schemas.microsoft.com/office/drawing/2014/main" id="{73F486E1-6200-9487-934B-21755D123BC2}"/>
                </a:ext>
              </a:extLst>
            </p:cNvPr>
            <p:cNvSpPr txBox="1">
              <a:spLocks noChangeArrowheads="1"/>
            </p:cNvSpPr>
            <p:nvPr/>
          </p:nvSpPr>
          <p:spPr bwMode="auto">
            <a:xfrm>
              <a:off x="2771775" y="1933561"/>
              <a:ext cx="288925" cy="248252"/>
            </a:xfrm>
            <a:prstGeom prst="rect">
              <a:avLst/>
            </a:prstGeom>
            <a:noFill/>
            <a:ln w="28575" algn="ctr">
              <a:noFill/>
              <a:miter lim="800000"/>
              <a:headEnd/>
              <a:tailEnd type="none" w="med" len="lg"/>
            </a:ln>
          </p:spPr>
          <p:txBody>
            <a:bodyPr lIns="0" tIns="0" rIns="0" bIns="0">
              <a:spAutoFit/>
            </a:bodyPr>
            <a:lstStyle/>
            <a:p>
              <a:pPr>
                <a:spcBef>
                  <a:spcPct val="50000"/>
                </a:spcBef>
              </a:pPr>
              <a:r>
                <a:rPr lang="en-US" altLang="zh-CN" sz="1600">
                  <a:solidFill>
                    <a:srgbClr val="00B0F0"/>
                  </a:solidFill>
                  <a:latin typeface="Consolas" pitchFamily="49" charset="0"/>
                  <a:cs typeface="Consolas" pitchFamily="49" charset="0"/>
                </a:rPr>
                <a:t>1</a:t>
              </a:r>
            </a:p>
          </p:txBody>
        </p:sp>
        <p:grpSp>
          <p:nvGrpSpPr>
            <p:cNvPr id="31" name="Group 93">
              <a:extLst>
                <a:ext uri="{FF2B5EF4-FFF2-40B4-BE49-F238E27FC236}">
                  <a16:creationId xmlns:a16="http://schemas.microsoft.com/office/drawing/2014/main" id="{CD0F31EB-2D95-EB29-94C8-AF0738F72336}"/>
                </a:ext>
              </a:extLst>
            </p:cNvPr>
            <p:cNvGrpSpPr>
              <a:grpSpLocks/>
            </p:cNvGrpSpPr>
            <p:nvPr/>
          </p:nvGrpSpPr>
          <p:grpSpPr bwMode="auto">
            <a:xfrm>
              <a:off x="3170238" y="1768475"/>
              <a:ext cx="1152525" cy="503238"/>
              <a:chOff x="1997" y="618"/>
              <a:chExt cx="726" cy="317"/>
            </a:xfrm>
          </p:grpSpPr>
          <p:sp>
            <p:nvSpPr>
              <p:cNvPr id="96" name="Rectangle 34">
                <a:extLst>
                  <a:ext uri="{FF2B5EF4-FFF2-40B4-BE49-F238E27FC236}">
                    <a16:creationId xmlns:a16="http://schemas.microsoft.com/office/drawing/2014/main" id="{E1AD054B-9D72-6068-74A3-A0BB68CF3DC6}"/>
                  </a:ext>
                </a:extLst>
              </p:cNvPr>
              <p:cNvSpPr>
                <a:spLocks noChangeArrowheads="1"/>
              </p:cNvSpPr>
              <p:nvPr/>
            </p:nvSpPr>
            <p:spPr bwMode="auto">
              <a:xfrm>
                <a:off x="1997" y="618"/>
                <a:ext cx="363" cy="317"/>
              </a:xfrm>
              <a:prstGeom prst="rect">
                <a:avLst/>
              </a:prstGeom>
              <a:ln>
                <a:headEnd/>
                <a:tailEnd type="none" w="med" len="lg"/>
              </a:ln>
            </p:spPr>
            <p:style>
              <a:lnRef idx="1">
                <a:schemeClr val="accent1"/>
              </a:lnRef>
              <a:fillRef idx="2">
                <a:schemeClr val="accent1"/>
              </a:fillRef>
              <a:effectRef idx="1">
                <a:schemeClr val="accent1"/>
              </a:effectRef>
              <a:fontRef idx="minor">
                <a:schemeClr val="dk1"/>
              </a:fontRef>
            </p:style>
            <p:txBody>
              <a:bodyPr wrap="none" anchor="ctr"/>
              <a:lstStyle/>
              <a:p>
                <a:r>
                  <a:rPr lang="en-US" altLang="zh-CN" sz="1800" i="1" dirty="0" err="1">
                    <a:solidFill>
                      <a:srgbClr val="0000FF"/>
                    </a:solidFill>
                    <a:latin typeface="Consolas" pitchFamily="49" charset="0"/>
                    <a:cs typeface="Consolas" pitchFamily="49" charset="0"/>
                  </a:rPr>
                  <a:t>v</a:t>
                </a:r>
                <a:r>
                  <a:rPr lang="en-US" altLang="zh-CN" sz="1800" baseline="-25000" dirty="0" err="1">
                    <a:solidFill>
                      <a:srgbClr val="0000FF"/>
                    </a:solidFill>
                    <a:latin typeface="Consolas" pitchFamily="49" charset="0"/>
                    <a:cs typeface="Consolas" pitchFamily="49" charset="0"/>
                  </a:rPr>
                  <a:t>1</a:t>
                </a:r>
                <a:endParaRPr lang="en-US" altLang="zh-CN" sz="1800" baseline="-25000" dirty="0">
                  <a:solidFill>
                    <a:srgbClr val="0000FF"/>
                  </a:solidFill>
                  <a:latin typeface="Consolas" pitchFamily="49" charset="0"/>
                  <a:cs typeface="Consolas" pitchFamily="49" charset="0"/>
                </a:endParaRPr>
              </a:p>
            </p:txBody>
          </p:sp>
          <p:sp>
            <p:nvSpPr>
              <p:cNvPr id="97" name="Rectangle 36">
                <a:extLst>
                  <a:ext uri="{FF2B5EF4-FFF2-40B4-BE49-F238E27FC236}">
                    <a16:creationId xmlns:a16="http://schemas.microsoft.com/office/drawing/2014/main" id="{B888E572-22EF-6534-5143-57B05FAD16BC}"/>
                  </a:ext>
                </a:extLst>
              </p:cNvPr>
              <p:cNvSpPr>
                <a:spLocks noChangeArrowheads="1"/>
              </p:cNvSpPr>
              <p:nvPr/>
            </p:nvSpPr>
            <p:spPr bwMode="auto">
              <a:xfrm>
                <a:off x="2360" y="618"/>
                <a:ext cx="363" cy="317"/>
              </a:xfrm>
              <a:prstGeom prst="rect">
                <a:avLst/>
              </a:prstGeom>
              <a:ln>
                <a:headEnd/>
                <a:tailEnd type="none" w="med" len="lg"/>
              </a:ln>
            </p:spPr>
            <p:style>
              <a:lnRef idx="1">
                <a:schemeClr val="accent1"/>
              </a:lnRef>
              <a:fillRef idx="2">
                <a:schemeClr val="accent1"/>
              </a:fillRef>
              <a:effectRef idx="1">
                <a:schemeClr val="accent1"/>
              </a:effectRef>
              <a:fontRef idx="minor">
                <a:schemeClr val="dk1"/>
              </a:fontRef>
            </p:style>
            <p:txBody>
              <a:bodyPr wrap="none" anchor="ctr"/>
              <a:lstStyle/>
              <a:p>
                <a:endParaRPr lang="zh-CN" altLang="zh-CN" sz="1800" baseline="-25000">
                  <a:solidFill>
                    <a:srgbClr val="0000FF"/>
                  </a:solidFill>
                  <a:latin typeface="Consolas" pitchFamily="49" charset="0"/>
                  <a:cs typeface="Consolas" pitchFamily="49" charset="0"/>
                </a:endParaRPr>
              </a:p>
            </p:txBody>
          </p:sp>
        </p:grpSp>
        <p:grpSp>
          <p:nvGrpSpPr>
            <p:cNvPr id="32" name="Group 100">
              <a:extLst>
                <a:ext uri="{FF2B5EF4-FFF2-40B4-BE49-F238E27FC236}">
                  <a16:creationId xmlns:a16="http://schemas.microsoft.com/office/drawing/2014/main" id="{D05447D8-2805-9D46-7776-D2D3B8C7EEBB}"/>
                </a:ext>
              </a:extLst>
            </p:cNvPr>
            <p:cNvGrpSpPr>
              <a:grpSpLocks/>
            </p:cNvGrpSpPr>
            <p:nvPr/>
          </p:nvGrpSpPr>
          <p:grpSpPr bwMode="auto">
            <a:xfrm>
              <a:off x="4572000" y="1841500"/>
              <a:ext cx="936625" cy="395288"/>
              <a:chOff x="2880" y="664"/>
              <a:chExt cx="590" cy="249"/>
            </a:xfrm>
          </p:grpSpPr>
          <p:sp>
            <p:nvSpPr>
              <p:cNvPr id="94" name="Rectangle 37">
                <a:extLst>
                  <a:ext uri="{FF2B5EF4-FFF2-40B4-BE49-F238E27FC236}">
                    <a16:creationId xmlns:a16="http://schemas.microsoft.com/office/drawing/2014/main" id="{362EE53E-7653-7727-39A8-336CB01DB9DB}"/>
                  </a:ext>
                </a:extLst>
              </p:cNvPr>
              <p:cNvSpPr>
                <a:spLocks noChangeArrowheads="1"/>
              </p:cNvSpPr>
              <p:nvPr/>
            </p:nvSpPr>
            <p:spPr bwMode="auto">
              <a:xfrm>
                <a:off x="2880" y="664"/>
                <a:ext cx="317" cy="249"/>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anchor="ctr"/>
              <a:lstStyle/>
              <a:p>
                <a:r>
                  <a:rPr lang="en-US" altLang="zh-CN" sz="1800">
                    <a:solidFill>
                      <a:srgbClr val="0000FF"/>
                    </a:solidFill>
                    <a:latin typeface="Consolas" pitchFamily="49" charset="0"/>
                    <a:cs typeface="Consolas" pitchFamily="49" charset="0"/>
                  </a:rPr>
                  <a:t>0</a:t>
                </a:r>
              </a:p>
            </p:txBody>
          </p:sp>
          <p:sp>
            <p:nvSpPr>
              <p:cNvPr id="95" name="Rectangle 38">
                <a:extLst>
                  <a:ext uri="{FF2B5EF4-FFF2-40B4-BE49-F238E27FC236}">
                    <a16:creationId xmlns:a16="http://schemas.microsoft.com/office/drawing/2014/main" id="{18413310-5414-1303-6A55-83351020AD47}"/>
                  </a:ext>
                </a:extLst>
              </p:cNvPr>
              <p:cNvSpPr>
                <a:spLocks noChangeArrowheads="1"/>
              </p:cNvSpPr>
              <p:nvPr/>
            </p:nvSpPr>
            <p:spPr bwMode="auto">
              <a:xfrm>
                <a:off x="3198" y="664"/>
                <a:ext cx="272" cy="249"/>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anchor="ctr"/>
              <a:lstStyle/>
              <a:p>
                <a:endParaRPr lang="zh-CN" altLang="zh-CN" sz="1800">
                  <a:solidFill>
                    <a:srgbClr val="0000FF"/>
                  </a:solidFill>
                  <a:latin typeface="Consolas" pitchFamily="49" charset="0"/>
                  <a:cs typeface="Consolas" pitchFamily="49" charset="0"/>
                </a:endParaRPr>
              </a:p>
            </p:txBody>
          </p:sp>
        </p:grpSp>
        <p:grpSp>
          <p:nvGrpSpPr>
            <p:cNvPr id="33" name="Group 101">
              <a:extLst>
                <a:ext uri="{FF2B5EF4-FFF2-40B4-BE49-F238E27FC236}">
                  <a16:creationId xmlns:a16="http://schemas.microsoft.com/office/drawing/2014/main" id="{3B1A671A-3FF3-938E-62FB-193D98900069}"/>
                </a:ext>
              </a:extLst>
            </p:cNvPr>
            <p:cNvGrpSpPr>
              <a:grpSpLocks/>
            </p:cNvGrpSpPr>
            <p:nvPr/>
          </p:nvGrpSpPr>
          <p:grpSpPr bwMode="auto">
            <a:xfrm>
              <a:off x="5691188" y="1841500"/>
              <a:ext cx="936625" cy="395288"/>
              <a:chOff x="3585" y="664"/>
              <a:chExt cx="590" cy="249"/>
            </a:xfrm>
          </p:grpSpPr>
          <p:sp>
            <p:nvSpPr>
              <p:cNvPr id="92" name="Rectangle 39">
                <a:extLst>
                  <a:ext uri="{FF2B5EF4-FFF2-40B4-BE49-F238E27FC236}">
                    <a16:creationId xmlns:a16="http://schemas.microsoft.com/office/drawing/2014/main" id="{1D22363D-FA21-D171-18A3-0D7589B97D13}"/>
                  </a:ext>
                </a:extLst>
              </p:cNvPr>
              <p:cNvSpPr>
                <a:spLocks noChangeArrowheads="1"/>
              </p:cNvSpPr>
              <p:nvPr/>
            </p:nvSpPr>
            <p:spPr bwMode="auto">
              <a:xfrm>
                <a:off x="3585" y="664"/>
                <a:ext cx="317" cy="249"/>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anchor="ctr"/>
              <a:lstStyle/>
              <a:p>
                <a:r>
                  <a:rPr lang="en-US" altLang="zh-CN" sz="1800" dirty="0">
                    <a:solidFill>
                      <a:srgbClr val="0000FF"/>
                    </a:solidFill>
                    <a:latin typeface="Consolas" pitchFamily="49" charset="0"/>
                    <a:cs typeface="Consolas" pitchFamily="49" charset="0"/>
                  </a:rPr>
                  <a:t>2</a:t>
                </a:r>
              </a:p>
            </p:txBody>
          </p:sp>
          <p:sp>
            <p:nvSpPr>
              <p:cNvPr id="93" name="Rectangle 40">
                <a:extLst>
                  <a:ext uri="{FF2B5EF4-FFF2-40B4-BE49-F238E27FC236}">
                    <a16:creationId xmlns:a16="http://schemas.microsoft.com/office/drawing/2014/main" id="{4D7DFD8F-6273-C90E-9D3B-4F40BEB2D194}"/>
                  </a:ext>
                </a:extLst>
              </p:cNvPr>
              <p:cNvSpPr>
                <a:spLocks noChangeArrowheads="1"/>
              </p:cNvSpPr>
              <p:nvPr/>
            </p:nvSpPr>
            <p:spPr bwMode="auto">
              <a:xfrm>
                <a:off x="3903" y="664"/>
                <a:ext cx="272" cy="249"/>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anchor="ctr"/>
              <a:lstStyle/>
              <a:p>
                <a:endParaRPr lang="zh-CN" altLang="zh-CN" sz="1800">
                  <a:solidFill>
                    <a:srgbClr val="0000FF"/>
                  </a:solidFill>
                  <a:latin typeface="Consolas" pitchFamily="49" charset="0"/>
                  <a:cs typeface="Consolas" pitchFamily="49" charset="0"/>
                </a:endParaRPr>
              </a:p>
            </p:txBody>
          </p:sp>
        </p:grpSp>
        <p:grpSp>
          <p:nvGrpSpPr>
            <p:cNvPr id="34" name="Group 102">
              <a:extLst>
                <a:ext uri="{FF2B5EF4-FFF2-40B4-BE49-F238E27FC236}">
                  <a16:creationId xmlns:a16="http://schemas.microsoft.com/office/drawing/2014/main" id="{EF9F0312-E219-BA5A-9FE7-EAF8CF4CB13B}"/>
                </a:ext>
              </a:extLst>
            </p:cNvPr>
            <p:cNvGrpSpPr>
              <a:grpSpLocks/>
            </p:cNvGrpSpPr>
            <p:nvPr/>
          </p:nvGrpSpPr>
          <p:grpSpPr bwMode="auto">
            <a:xfrm>
              <a:off x="6808788" y="1841500"/>
              <a:ext cx="936625" cy="395288"/>
              <a:chOff x="4289" y="664"/>
              <a:chExt cx="590" cy="249"/>
            </a:xfrm>
          </p:grpSpPr>
          <p:sp>
            <p:nvSpPr>
              <p:cNvPr id="90" name="Rectangle 41">
                <a:extLst>
                  <a:ext uri="{FF2B5EF4-FFF2-40B4-BE49-F238E27FC236}">
                    <a16:creationId xmlns:a16="http://schemas.microsoft.com/office/drawing/2014/main" id="{08C6F074-D9CF-F74F-BD8E-391A495B3B1C}"/>
                  </a:ext>
                </a:extLst>
              </p:cNvPr>
              <p:cNvSpPr>
                <a:spLocks noChangeArrowheads="1"/>
              </p:cNvSpPr>
              <p:nvPr/>
            </p:nvSpPr>
            <p:spPr bwMode="auto">
              <a:xfrm>
                <a:off x="4289" y="664"/>
                <a:ext cx="317" cy="249"/>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anchor="ctr"/>
              <a:lstStyle/>
              <a:p>
                <a:r>
                  <a:rPr lang="en-US" altLang="zh-CN" sz="1800">
                    <a:solidFill>
                      <a:srgbClr val="0000FF"/>
                    </a:solidFill>
                    <a:latin typeface="Consolas" pitchFamily="49" charset="0"/>
                    <a:cs typeface="Consolas" pitchFamily="49" charset="0"/>
                  </a:rPr>
                  <a:t>3</a:t>
                </a:r>
              </a:p>
            </p:txBody>
          </p:sp>
          <p:sp>
            <p:nvSpPr>
              <p:cNvPr id="91" name="Rectangle 42">
                <a:extLst>
                  <a:ext uri="{FF2B5EF4-FFF2-40B4-BE49-F238E27FC236}">
                    <a16:creationId xmlns:a16="http://schemas.microsoft.com/office/drawing/2014/main" id="{4FEB1CC7-BE63-E08A-50A2-3C18402608A9}"/>
                  </a:ext>
                </a:extLst>
              </p:cNvPr>
              <p:cNvSpPr>
                <a:spLocks noChangeArrowheads="1"/>
              </p:cNvSpPr>
              <p:nvPr/>
            </p:nvSpPr>
            <p:spPr bwMode="auto">
              <a:xfrm>
                <a:off x="4607" y="664"/>
                <a:ext cx="272" cy="249"/>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anchor="ctr"/>
              <a:lstStyle/>
              <a:p>
                <a:r>
                  <a:rPr lang="en-US" altLang="zh-CN" sz="1800">
                    <a:solidFill>
                      <a:srgbClr val="0000FF"/>
                    </a:solidFill>
                    <a:latin typeface="Consolas" pitchFamily="49" charset="0"/>
                    <a:cs typeface="Consolas" pitchFamily="49" charset="0"/>
                  </a:rPr>
                  <a:t>∧</a:t>
                </a:r>
              </a:p>
            </p:txBody>
          </p:sp>
        </p:grpSp>
        <p:sp>
          <p:nvSpPr>
            <p:cNvPr id="35" name="Line 43">
              <a:extLst>
                <a:ext uri="{FF2B5EF4-FFF2-40B4-BE49-F238E27FC236}">
                  <a16:creationId xmlns:a16="http://schemas.microsoft.com/office/drawing/2014/main" id="{1FF1D4A5-E68A-0DB4-0AE2-F9553CDD1B02}"/>
                </a:ext>
              </a:extLst>
            </p:cNvPr>
            <p:cNvSpPr>
              <a:spLocks noChangeShapeType="1"/>
            </p:cNvSpPr>
            <p:nvPr/>
          </p:nvSpPr>
          <p:spPr bwMode="auto">
            <a:xfrm>
              <a:off x="3995738" y="2057400"/>
              <a:ext cx="576262" cy="0"/>
            </a:xfrm>
            <a:prstGeom prst="line">
              <a:avLst/>
            </a:prstGeom>
            <a:noFill/>
            <a:ln w="28575">
              <a:solidFill>
                <a:srgbClr val="3333FF"/>
              </a:solidFill>
              <a:round/>
              <a:headEnd/>
              <a:tailEnd type="triangle" w="med" len="lg"/>
            </a:ln>
          </p:spPr>
          <p:txBody>
            <a:bodyPr wrap="none"/>
            <a:lstStyle/>
            <a:p>
              <a:endParaRPr lang="zh-CN" altLang="en-US" sz="1800">
                <a:latin typeface="Consolas" pitchFamily="49" charset="0"/>
                <a:cs typeface="Consolas" pitchFamily="49" charset="0"/>
              </a:endParaRPr>
            </a:p>
          </p:txBody>
        </p:sp>
        <p:sp>
          <p:nvSpPr>
            <p:cNvPr id="36" name="Line 44">
              <a:extLst>
                <a:ext uri="{FF2B5EF4-FFF2-40B4-BE49-F238E27FC236}">
                  <a16:creationId xmlns:a16="http://schemas.microsoft.com/office/drawing/2014/main" id="{CD0233FA-A8CB-E9DC-6B96-FED940E24CAC}"/>
                </a:ext>
              </a:extLst>
            </p:cNvPr>
            <p:cNvSpPr>
              <a:spLocks noChangeShapeType="1"/>
            </p:cNvSpPr>
            <p:nvPr/>
          </p:nvSpPr>
          <p:spPr bwMode="auto">
            <a:xfrm>
              <a:off x="5338763" y="2047875"/>
              <a:ext cx="360362" cy="0"/>
            </a:xfrm>
            <a:prstGeom prst="line">
              <a:avLst/>
            </a:prstGeom>
            <a:noFill/>
            <a:ln w="28575">
              <a:solidFill>
                <a:srgbClr val="3333FF"/>
              </a:solidFill>
              <a:round/>
              <a:headEnd/>
              <a:tailEnd type="triangle" w="med" len="lg"/>
            </a:ln>
          </p:spPr>
          <p:txBody>
            <a:bodyPr wrap="none"/>
            <a:lstStyle/>
            <a:p>
              <a:endParaRPr lang="zh-CN" altLang="en-US" sz="1800">
                <a:latin typeface="Consolas" pitchFamily="49" charset="0"/>
                <a:cs typeface="Consolas" pitchFamily="49" charset="0"/>
              </a:endParaRPr>
            </a:p>
          </p:txBody>
        </p:sp>
        <p:sp>
          <p:nvSpPr>
            <p:cNvPr id="37" name="Line 45">
              <a:extLst>
                <a:ext uri="{FF2B5EF4-FFF2-40B4-BE49-F238E27FC236}">
                  <a16:creationId xmlns:a16="http://schemas.microsoft.com/office/drawing/2014/main" id="{E50C0F00-EE7C-E534-D234-AF0D6608227E}"/>
                </a:ext>
              </a:extLst>
            </p:cNvPr>
            <p:cNvSpPr>
              <a:spLocks noChangeShapeType="1"/>
            </p:cNvSpPr>
            <p:nvPr/>
          </p:nvSpPr>
          <p:spPr bwMode="auto">
            <a:xfrm>
              <a:off x="6461125" y="2057400"/>
              <a:ext cx="360363" cy="0"/>
            </a:xfrm>
            <a:prstGeom prst="line">
              <a:avLst/>
            </a:prstGeom>
            <a:noFill/>
            <a:ln w="28575">
              <a:solidFill>
                <a:srgbClr val="3333FF"/>
              </a:solidFill>
              <a:round/>
              <a:headEnd/>
              <a:tailEnd type="triangle" w="med" len="lg"/>
            </a:ln>
          </p:spPr>
          <p:txBody>
            <a:bodyPr wrap="none"/>
            <a:lstStyle/>
            <a:p>
              <a:endParaRPr lang="zh-CN" altLang="en-US" sz="1800">
                <a:latin typeface="Consolas" pitchFamily="49" charset="0"/>
                <a:cs typeface="Consolas" pitchFamily="49" charset="0"/>
              </a:endParaRPr>
            </a:p>
          </p:txBody>
        </p:sp>
        <p:sp>
          <p:nvSpPr>
            <p:cNvPr id="38" name="Text Box 47">
              <a:extLst>
                <a:ext uri="{FF2B5EF4-FFF2-40B4-BE49-F238E27FC236}">
                  <a16:creationId xmlns:a16="http://schemas.microsoft.com/office/drawing/2014/main" id="{8D6A05C9-3A8C-EADF-0F89-47EE48D2A4E3}"/>
                </a:ext>
              </a:extLst>
            </p:cNvPr>
            <p:cNvSpPr txBox="1">
              <a:spLocks noChangeArrowheads="1"/>
            </p:cNvSpPr>
            <p:nvPr/>
          </p:nvSpPr>
          <p:spPr bwMode="auto">
            <a:xfrm>
              <a:off x="2771775" y="2438386"/>
              <a:ext cx="288925" cy="248252"/>
            </a:xfrm>
            <a:prstGeom prst="rect">
              <a:avLst/>
            </a:prstGeom>
            <a:noFill/>
            <a:ln w="28575" algn="ctr">
              <a:noFill/>
              <a:miter lim="800000"/>
              <a:headEnd/>
              <a:tailEnd type="none" w="med" len="lg"/>
            </a:ln>
          </p:spPr>
          <p:txBody>
            <a:bodyPr lIns="0" tIns="0" rIns="0" bIns="0">
              <a:spAutoFit/>
            </a:bodyPr>
            <a:lstStyle/>
            <a:p>
              <a:pPr>
                <a:spcBef>
                  <a:spcPct val="50000"/>
                </a:spcBef>
              </a:pPr>
              <a:r>
                <a:rPr lang="en-US" altLang="zh-CN" sz="1600">
                  <a:solidFill>
                    <a:srgbClr val="00B0F0"/>
                  </a:solidFill>
                  <a:latin typeface="Consolas" pitchFamily="49" charset="0"/>
                  <a:cs typeface="Consolas" pitchFamily="49" charset="0"/>
                </a:rPr>
                <a:t>2</a:t>
              </a:r>
            </a:p>
          </p:txBody>
        </p:sp>
        <p:grpSp>
          <p:nvGrpSpPr>
            <p:cNvPr id="39" name="Group 94">
              <a:extLst>
                <a:ext uri="{FF2B5EF4-FFF2-40B4-BE49-F238E27FC236}">
                  <a16:creationId xmlns:a16="http://schemas.microsoft.com/office/drawing/2014/main" id="{C4221DF2-C175-6CDD-40DB-D172C39ED65A}"/>
                </a:ext>
              </a:extLst>
            </p:cNvPr>
            <p:cNvGrpSpPr>
              <a:grpSpLocks/>
            </p:cNvGrpSpPr>
            <p:nvPr/>
          </p:nvGrpSpPr>
          <p:grpSpPr bwMode="auto">
            <a:xfrm>
              <a:off x="3170238" y="2273300"/>
              <a:ext cx="1152525" cy="503238"/>
              <a:chOff x="1997" y="936"/>
              <a:chExt cx="726" cy="317"/>
            </a:xfrm>
          </p:grpSpPr>
          <p:sp>
            <p:nvSpPr>
              <p:cNvPr id="88" name="Rectangle 46">
                <a:extLst>
                  <a:ext uri="{FF2B5EF4-FFF2-40B4-BE49-F238E27FC236}">
                    <a16:creationId xmlns:a16="http://schemas.microsoft.com/office/drawing/2014/main" id="{478F1CB6-0664-AA88-465E-0C177B8CE8EF}"/>
                  </a:ext>
                </a:extLst>
              </p:cNvPr>
              <p:cNvSpPr>
                <a:spLocks noChangeArrowheads="1"/>
              </p:cNvSpPr>
              <p:nvPr/>
            </p:nvSpPr>
            <p:spPr bwMode="auto">
              <a:xfrm>
                <a:off x="1997" y="936"/>
                <a:ext cx="363" cy="317"/>
              </a:xfrm>
              <a:prstGeom prst="rect">
                <a:avLst/>
              </a:prstGeom>
              <a:ln>
                <a:headEnd/>
                <a:tailEnd type="none" w="med" len="lg"/>
              </a:ln>
            </p:spPr>
            <p:style>
              <a:lnRef idx="1">
                <a:schemeClr val="accent1"/>
              </a:lnRef>
              <a:fillRef idx="2">
                <a:schemeClr val="accent1"/>
              </a:fillRef>
              <a:effectRef idx="1">
                <a:schemeClr val="accent1"/>
              </a:effectRef>
              <a:fontRef idx="minor">
                <a:schemeClr val="dk1"/>
              </a:fontRef>
            </p:style>
            <p:txBody>
              <a:bodyPr wrap="none" anchor="ctr"/>
              <a:lstStyle/>
              <a:p>
                <a:r>
                  <a:rPr lang="en-US" altLang="zh-CN" sz="1800" i="1" dirty="0" err="1">
                    <a:solidFill>
                      <a:srgbClr val="0000FF"/>
                    </a:solidFill>
                    <a:latin typeface="Consolas" pitchFamily="49" charset="0"/>
                    <a:cs typeface="Consolas" pitchFamily="49" charset="0"/>
                  </a:rPr>
                  <a:t>v</a:t>
                </a:r>
                <a:r>
                  <a:rPr lang="en-US" altLang="zh-CN" sz="1800" baseline="-25000" dirty="0" err="1">
                    <a:solidFill>
                      <a:srgbClr val="0000FF"/>
                    </a:solidFill>
                    <a:latin typeface="Consolas" pitchFamily="49" charset="0"/>
                    <a:cs typeface="Consolas" pitchFamily="49" charset="0"/>
                  </a:rPr>
                  <a:t>2</a:t>
                </a:r>
                <a:endParaRPr lang="en-US" altLang="zh-CN" sz="1800" baseline="-25000" dirty="0">
                  <a:solidFill>
                    <a:srgbClr val="0000FF"/>
                  </a:solidFill>
                  <a:latin typeface="Consolas" pitchFamily="49" charset="0"/>
                  <a:cs typeface="Consolas" pitchFamily="49" charset="0"/>
                </a:endParaRPr>
              </a:p>
            </p:txBody>
          </p:sp>
          <p:sp>
            <p:nvSpPr>
              <p:cNvPr id="89" name="Rectangle 48">
                <a:extLst>
                  <a:ext uri="{FF2B5EF4-FFF2-40B4-BE49-F238E27FC236}">
                    <a16:creationId xmlns:a16="http://schemas.microsoft.com/office/drawing/2014/main" id="{63B925A1-82E7-1665-27C0-4121B5381303}"/>
                  </a:ext>
                </a:extLst>
              </p:cNvPr>
              <p:cNvSpPr>
                <a:spLocks noChangeArrowheads="1"/>
              </p:cNvSpPr>
              <p:nvPr/>
            </p:nvSpPr>
            <p:spPr bwMode="auto">
              <a:xfrm>
                <a:off x="2360" y="936"/>
                <a:ext cx="363" cy="317"/>
              </a:xfrm>
              <a:prstGeom prst="rect">
                <a:avLst/>
              </a:prstGeom>
              <a:ln>
                <a:headEnd/>
                <a:tailEnd type="none" w="med" len="lg"/>
              </a:ln>
            </p:spPr>
            <p:style>
              <a:lnRef idx="1">
                <a:schemeClr val="accent1"/>
              </a:lnRef>
              <a:fillRef idx="2">
                <a:schemeClr val="accent1"/>
              </a:fillRef>
              <a:effectRef idx="1">
                <a:schemeClr val="accent1"/>
              </a:effectRef>
              <a:fontRef idx="minor">
                <a:schemeClr val="dk1"/>
              </a:fontRef>
            </p:style>
            <p:txBody>
              <a:bodyPr wrap="none" anchor="ctr"/>
              <a:lstStyle/>
              <a:p>
                <a:endParaRPr lang="zh-CN" altLang="zh-CN" sz="1800" baseline="-25000">
                  <a:solidFill>
                    <a:srgbClr val="0000FF"/>
                  </a:solidFill>
                  <a:latin typeface="Consolas" pitchFamily="49" charset="0"/>
                  <a:cs typeface="Consolas" pitchFamily="49" charset="0"/>
                </a:endParaRPr>
              </a:p>
            </p:txBody>
          </p:sp>
        </p:grpSp>
        <p:grpSp>
          <p:nvGrpSpPr>
            <p:cNvPr id="40" name="Group 103">
              <a:extLst>
                <a:ext uri="{FF2B5EF4-FFF2-40B4-BE49-F238E27FC236}">
                  <a16:creationId xmlns:a16="http://schemas.microsoft.com/office/drawing/2014/main" id="{B9C433B7-CEC2-149E-78B0-DC1338AC23CF}"/>
                </a:ext>
              </a:extLst>
            </p:cNvPr>
            <p:cNvGrpSpPr>
              <a:grpSpLocks/>
            </p:cNvGrpSpPr>
            <p:nvPr/>
          </p:nvGrpSpPr>
          <p:grpSpPr bwMode="auto">
            <a:xfrm>
              <a:off x="4572000" y="2346325"/>
              <a:ext cx="936625" cy="395288"/>
              <a:chOff x="2880" y="982"/>
              <a:chExt cx="590" cy="249"/>
            </a:xfrm>
          </p:grpSpPr>
          <p:sp>
            <p:nvSpPr>
              <p:cNvPr id="86" name="Rectangle 49">
                <a:extLst>
                  <a:ext uri="{FF2B5EF4-FFF2-40B4-BE49-F238E27FC236}">
                    <a16:creationId xmlns:a16="http://schemas.microsoft.com/office/drawing/2014/main" id="{3838BFD2-5E58-F9B0-4D34-39F45E09B4D3}"/>
                  </a:ext>
                </a:extLst>
              </p:cNvPr>
              <p:cNvSpPr>
                <a:spLocks noChangeArrowheads="1"/>
              </p:cNvSpPr>
              <p:nvPr/>
            </p:nvSpPr>
            <p:spPr bwMode="auto">
              <a:xfrm>
                <a:off x="2880" y="982"/>
                <a:ext cx="317" cy="249"/>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anchor="ctr"/>
              <a:lstStyle/>
              <a:p>
                <a:r>
                  <a:rPr lang="en-US" altLang="zh-CN" sz="1800" dirty="0">
                    <a:solidFill>
                      <a:srgbClr val="0000FF"/>
                    </a:solidFill>
                    <a:latin typeface="Consolas" pitchFamily="49" charset="0"/>
                    <a:cs typeface="Consolas" pitchFamily="49" charset="0"/>
                  </a:rPr>
                  <a:t>1</a:t>
                </a:r>
              </a:p>
            </p:txBody>
          </p:sp>
          <p:sp>
            <p:nvSpPr>
              <p:cNvPr id="87" name="Rectangle 50">
                <a:extLst>
                  <a:ext uri="{FF2B5EF4-FFF2-40B4-BE49-F238E27FC236}">
                    <a16:creationId xmlns:a16="http://schemas.microsoft.com/office/drawing/2014/main" id="{91EC3E03-895B-F5B4-E0BE-42712E76481F}"/>
                  </a:ext>
                </a:extLst>
              </p:cNvPr>
              <p:cNvSpPr>
                <a:spLocks noChangeArrowheads="1"/>
              </p:cNvSpPr>
              <p:nvPr/>
            </p:nvSpPr>
            <p:spPr bwMode="auto">
              <a:xfrm>
                <a:off x="3198" y="982"/>
                <a:ext cx="272" cy="249"/>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anchor="ctr"/>
              <a:lstStyle/>
              <a:p>
                <a:endParaRPr lang="zh-CN" altLang="zh-CN" sz="1800">
                  <a:solidFill>
                    <a:srgbClr val="0000FF"/>
                  </a:solidFill>
                  <a:latin typeface="Consolas" pitchFamily="49" charset="0"/>
                  <a:cs typeface="Consolas" pitchFamily="49" charset="0"/>
                </a:endParaRPr>
              </a:p>
            </p:txBody>
          </p:sp>
        </p:grpSp>
        <p:grpSp>
          <p:nvGrpSpPr>
            <p:cNvPr id="41" name="Group 104">
              <a:extLst>
                <a:ext uri="{FF2B5EF4-FFF2-40B4-BE49-F238E27FC236}">
                  <a16:creationId xmlns:a16="http://schemas.microsoft.com/office/drawing/2014/main" id="{B1763FDE-CD3A-4589-CFD1-674DE8F64453}"/>
                </a:ext>
              </a:extLst>
            </p:cNvPr>
            <p:cNvGrpSpPr>
              <a:grpSpLocks/>
            </p:cNvGrpSpPr>
            <p:nvPr/>
          </p:nvGrpSpPr>
          <p:grpSpPr bwMode="auto">
            <a:xfrm>
              <a:off x="5691188" y="2346325"/>
              <a:ext cx="936625" cy="395288"/>
              <a:chOff x="3585" y="982"/>
              <a:chExt cx="590" cy="249"/>
            </a:xfrm>
          </p:grpSpPr>
          <p:sp>
            <p:nvSpPr>
              <p:cNvPr id="84" name="Rectangle 51">
                <a:extLst>
                  <a:ext uri="{FF2B5EF4-FFF2-40B4-BE49-F238E27FC236}">
                    <a16:creationId xmlns:a16="http://schemas.microsoft.com/office/drawing/2014/main" id="{77238EA3-D3FB-F19E-B5EB-72907BDB364E}"/>
                  </a:ext>
                </a:extLst>
              </p:cNvPr>
              <p:cNvSpPr>
                <a:spLocks noChangeArrowheads="1"/>
              </p:cNvSpPr>
              <p:nvPr/>
            </p:nvSpPr>
            <p:spPr bwMode="auto">
              <a:xfrm>
                <a:off x="3585" y="982"/>
                <a:ext cx="317" cy="249"/>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anchor="ctr"/>
              <a:lstStyle/>
              <a:p>
                <a:r>
                  <a:rPr lang="en-US" altLang="zh-CN" sz="1800" dirty="0">
                    <a:solidFill>
                      <a:srgbClr val="0000FF"/>
                    </a:solidFill>
                    <a:latin typeface="Consolas" pitchFamily="49" charset="0"/>
                    <a:cs typeface="Consolas" pitchFamily="49" charset="0"/>
                  </a:rPr>
                  <a:t>3</a:t>
                </a:r>
              </a:p>
            </p:txBody>
          </p:sp>
          <p:sp>
            <p:nvSpPr>
              <p:cNvPr id="85" name="Rectangle 52">
                <a:extLst>
                  <a:ext uri="{FF2B5EF4-FFF2-40B4-BE49-F238E27FC236}">
                    <a16:creationId xmlns:a16="http://schemas.microsoft.com/office/drawing/2014/main" id="{1ECD115F-FA0F-62F7-EEBC-35CA4CB01FDA}"/>
                  </a:ext>
                </a:extLst>
              </p:cNvPr>
              <p:cNvSpPr>
                <a:spLocks noChangeArrowheads="1"/>
              </p:cNvSpPr>
              <p:nvPr/>
            </p:nvSpPr>
            <p:spPr bwMode="auto">
              <a:xfrm>
                <a:off x="3903" y="982"/>
                <a:ext cx="272" cy="249"/>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anchor="ctr"/>
              <a:lstStyle/>
              <a:p>
                <a:endParaRPr lang="zh-CN" altLang="zh-CN" sz="1800">
                  <a:solidFill>
                    <a:srgbClr val="0000FF"/>
                  </a:solidFill>
                  <a:latin typeface="Consolas" pitchFamily="49" charset="0"/>
                  <a:cs typeface="Consolas" pitchFamily="49" charset="0"/>
                </a:endParaRPr>
              </a:p>
            </p:txBody>
          </p:sp>
        </p:grpSp>
        <p:grpSp>
          <p:nvGrpSpPr>
            <p:cNvPr id="42" name="Group 105">
              <a:extLst>
                <a:ext uri="{FF2B5EF4-FFF2-40B4-BE49-F238E27FC236}">
                  <a16:creationId xmlns:a16="http://schemas.microsoft.com/office/drawing/2014/main" id="{CF0455B3-9993-69CC-F7ED-3FC128CEE7E0}"/>
                </a:ext>
              </a:extLst>
            </p:cNvPr>
            <p:cNvGrpSpPr>
              <a:grpSpLocks/>
            </p:cNvGrpSpPr>
            <p:nvPr/>
          </p:nvGrpSpPr>
          <p:grpSpPr bwMode="auto">
            <a:xfrm>
              <a:off x="6808788" y="2346325"/>
              <a:ext cx="936625" cy="395288"/>
              <a:chOff x="4289" y="982"/>
              <a:chExt cx="590" cy="249"/>
            </a:xfrm>
          </p:grpSpPr>
          <p:sp>
            <p:nvSpPr>
              <p:cNvPr id="82" name="Rectangle 53">
                <a:extLst>
                  <a:ext uri="{FF2B5EF4-FFF2-40B4-BE49-F238E27FC236}">
                    <a16:creationId xmlns:a16="http://schemas.microsoft.com/office/drawing/2014/main" id="{4E54514B-56E6-0171-FD2A-7274B1D1549F}"/>
                  </a:ext>
                </a:extLst>
              </p:cNvPr>
              <p:cNvSpPr>
                <a:spLocks noChangeArrowheads="1"/>
              </p:cNvSpPr>
              <p:nvPr/>
            </p:nvSpPr>
            <p:spPr bwMode="auto">
              <a:xfrm>
                <a:off x="4289" y="982"/>
                <a:ext cx="317" cy="249"/>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anchor="ctr"/>
              <a:lstStyle/>
              <a:p>
                <a:r>
                  <a:rPr lang="en-US" altLang="zh-CN" sz="1800">
                    <a:solidFill>
                      <a:srgbClr val="0000FF"/>
                    </a:solidFill>
                    <a:latin typeface="Consolas" pitchFamily="49" charset="0"/>
                    <a:cs typeface="Consolas" pitchFamily="49" charset="0"/>
                  </a:rPr>
                  <a:t>4</a:t>
                </a:r>
              </a:p>
            </p:txBody>
          </p:sp>
          <p:sp>
            <p:nvSpPr>
              <p:cNvPr id="83" name="Rectangle 54">
                <a:extLst>
                  <a:ext uri="{FF2B5EF4-FFF2-40B4-BE49-F238E27FC236}">
                    <a16:creationId xmlns:a16="http://schemas.microsoft.com/office/drawing/2014/main" id="{2C8C92E8-C8E2-03F7-5AD7-7010687726E8}"/>
                  </a:ext>
                </a:extLst>
              </p:cNvPr>
              <p:cNvSpPr>
                <a:spLocks noChangeArrowheads="1"/>
              </p:cNvSpPr>
              <p:nvPr/>
            </p:nvSpPr>
            <p:spPr bwMode="auto">
              <a:xfrm>
                <a:off x="4607" y="982"/>
                <a:ext cx="272" cy="249"/>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anchor="ctr"/>
              <a:lstStyle/>
              <a:p>
                <a:r>
                  <a:rPr lang="en-US" altLang="zh-CN" sz="1800">
                    <a:solidFill>
                      <a:srgbClr val="0000FF"/>
                    </a:solidFill>
                    <a:latin typeface="Consolas" pitchFamily="49" charset="0"/>
                    <a:cs typeface="Consolas" pitchFamily="49" charset="0"/>
                  </a:rPr>
                  <a:t>∧</a:t>
                </a:r>
              </a:p>
            </p:txBody>
          </p:sp>
        </p:grpSp>
        <p:sp>
          <p:nvSpPr>
            <p:cNvPr id="43" name="Line 55">
              <a:extLst>
                <a:ext uri="{FF2B5EF4-FFF2-40B4-BE49-F238E27FC236}">
                  <a16:creationId xmlns:a16="http://schemas.microsoft.com/office/drawing/2014/main" id="{C83CE3A3-5F8C-8C42-9A0D-F9BE5E30C3A5}"/>
                </a:ext>
              </a:extLst>
            </p:cNvPr>
            <p:cNvSpPr>
              <a:spLocks noChangeShapeType="1"/>
            </p:cNvSpPr>
            <p:nvPr/>
          </p:nvSpPr>
          <p:spPr bwMode="auto">
            <a:xfrm>
              <a:off x="3995738" y="2562225"/>
              <a:ext cx="576262" cy="0"/>
            </a:xfrm>
            <a:prstGeom prst="line">
              <a:avLst/>
            </a:prstGeom>
            <a:noFill/>
            <a:ln w="28575">
              <a:solidFill>
                <a:srgbClr val="3333FF"/>
              </a:solidFill>
              <a:round/>
              <a:headEnd/>
              <a:tailEnd type="triangle" w="med" len="lg"/>
            </a:ln>
          </p:spPr>
          <p:txBody>
            <a:bodyPr wrap="none"/>
            <a:lstStyle/>
            <a:p>
              <a:endParaRPr lang="zh-CN" altLang="en-US" sz="1800">
                <a:latin typeface="Consolas" pitchFamily="49" charset="0"/>
                <a:cs typeface="Consolas" pitchFamily="49" charset="0"/>
              </a:endParaRPr>
            </a:p>
          </p:txBody>
        </p:sp>
        <p:sp>
          <p:nvSpPr>
            <p:cNvPr id="44" name="Line 56">
              <a:extLst>
                <a:ext uri="{FF2B5EF4-FFF2-40B4-BE49-F238E27FC236}">
                  <a16:creationId xmlns:a16="http://schemas.microsoft.com/office/drawing/2014/main" id="{0C9E4A55-EE8B-BA50-F125-10F170D0AF5B}"/>
                </a:ext>
              </a:extLst>
            </p:cNvPr>
            <p:cNvSpPr>
              <a:spLocks noChangeShapeType="1"/>
            </p:cNvSpPr>
            <p:nvPr/>
          </p:nvSpPr>
          <p:spPr bwMode="auto">
            <a:xfrm>
              <a:off x="5338763" y="2552700"/>
              <a:ext cx="360362" cy="0"/>
            </a:xfrm>
            <a:prstGeom prst="line">
              <a:avLst/>
            </a:prstGeom>
            <a:noFill/>
            <a:ln w="28575">
              <a:solidFill>
                <a:srgbClr val="3333FF"/>
              </a:solidFill>
              <a:round/>
              <a:headEnd/>
              <a:tailEnd type="triangle" w="med" len="lg"/>
            </a:ln>
          </p:spPr>
          <p:txBody>
            <a:bodyPr wrap="none"/>
            <a:lstStyle/>
            <a:p>
              <a:endParaRPr lang="zh-CN" altLang="en-US" sz="1800">
                <a:latin typeface="Consolas" pitchFamily="49" charset="0"/>
                <a:cs typeface="Consolas" pitchFamily="49" charset="0"/>
              </a:endParaRPr>
            </a:p>
          </p:txBody>
        </p:sp>
        <p:sp>
          <p:nvSpPr>
            <p:cNvPr id="45" name="Line 57">
              <a:extLst>
                <a:ext uri="{FF2B5EF4-FFF2-40B4-BE49-F238E27FC236}">
                  <a16:creationId xmlns:a16="http://schemas.microsoft.com/office/drawing/2014/main" id="{9DD4F22D-59E1-20EE-2C92-DE797DDDEF87}"/>
                </a:ext>
              </a:extLst>
            </p:cNvPr>
            <p:cNvSpPr>
              <a:spLocks noChangeShapeType="1"/>
            </p:cNvSpPr>
            <p:nvPr/>
          </p:nvSpPr>
          <p:spPr bwMode="auto">
            <a:xfrm>
              <a:off x="6461125" y="2562225"/>
              <a:ext cx="360363" cy="0"/>
            </a:xfrm>
            <a:prstGeom prst="line">
              <a:avLst/>
            </a:prstGeom>
            <a:noFill/>
            <a:ln w="28575">
              <a:solidFill>
                <a:srgbClr val="3333FF"/>
              </a:solidFill>
              <a:round/>
              <a:headEnd/>
              <a:tailEnd type="triangle" w="med" len="lg"/>
            </a:ln>
          </p:spPr>
          <p:txBody>
            <a:bodyPr wrap="none"/>
            <a:lstStyle/>
            <a:p>
              <a:endParaRPr lang="zh-CN" altLang="en-US" sz="1800">
                <a:latin typeface="Consolas" pitchFamily="49" charset="0"/>
                <a:cs typeface="Consolas" pitchFamily="49" charset="0"/>
              </a:endParaRPr>
            </a:p>
          </p:txBody>
        </p:sp>
        <p:sp>
          <p:nvSpPr>
            <p:cNvPr id="46" name="Text Box 59">
              <a:extLst>
                <a:ext uri="{FF2B5EF4-FFF2-40B4-BE49-F238E27FC236}">
                  <a16:creationId xmlns:a16="http://schemas.microsoft.com/office/drawing/2014/main" id="{D13E412F-45DA-396F-E782-D18463C535E4}"/>
                </a:ext>
              </a:extLst>
            </p:cNvPr>
            <p:cNvSpPr txBox="1">
              <a:spLocks noChangeArrowheads="1"/>
            </p:cNvSpPr>
            <p:nvPr/>
          </p:nvSpPr>
          <p:spPr bwMode="auto">
            <a:xfrm>
              <a:off x="2771775" y="2941624"/>
              <a:ext cx="288925" cy="248252"/>
            </a:xfrm>
            <a:prstGeom prst="rect">
              <a:avLst/>
            </a:prstGeom>
            <a:noFill/>
            <a:ln w="28575" algn="ctr">
              <a:noFill/>
              <a:miter lim="800000"/>
              <a:headEnd/>
              <a:tailEnd type="none" w="med" len="lg"/>
            </a:ln>
          </p:spPr>
          <p:txBody>
            <a:bodyPr lIns="0" tIns="0" rIns="0" bIns="0">
              <a:spAutoFit/>
            </a:bodyPr>
            <a:lstStyle/>
            <a:p>
              <a:pPr>
                <a:spcBef>
                  <a:spcPct val="50000"/>
                </a:spcBef>
              </a:pPr>
              <a:r>
                <a:rPr lang="en-US" altLang="zh-CN" sz="1600">
                  <a:solidFill>
                    <a:srgbClr val="00B0F0"/>
                  </a:solidFill>
                  <a:latin typeface="Consolas" pitchFamily="49" charset="0"/>
                  <a:cs typeface="Consolas" pitchFamily="49" charset="0"/>
                </a:rPr>
                <a:t>3</a:t>
              </a:r>
            </a:p>
          </p:txBody>
        </p:sp>
        <p:grpSp>
          <p:nvGrpSpPr>
            <p:cNvPr id="47" name="Group 95">
              <a:extLst>
                <a:ext uri="{FF2B5EF4-FFF2-40B4-BE49-F238E27FC236}">
                  <a16:creationId xmlns:a16="http://schemas.microsoft.com/office/drawing/2014/main" id="{2256E847-E01D-7484-D06A-9ADE8040D265}"/>
                </a:ext>
              </a:extLst>
            </p:cNvPr>
            <p:cNvGrpSpPr>
              <a:grpSpLocks/>
            </p:cNvGrpSpPr>
            <p:nvPr/>
          </p:nvGrpSpPr>
          <p:grpSpPr bwMode="auto">
            <a:xfrm>
              <a:off x="3170238" y="2776538"/>
              <a:ext cx="1152525" cy="503237"/>
              <a:chOff x="1997" y="1253"/>
              <a:chExt cx="726" cy="317"/>
            </a:xfrm>
          </p:grpSpPr>
          <p:sp>
            <p:nvSpPr>
              <p:cNvPr id="80" name="Rectangle 58">
                <a:extLst>
                  <a:ext uri="{FF2B5EF4-FFF2-40B4-BE49-F238E27FC236}">
                    <a16:creationId xmlns:a16="http://schemas.microsoft.com/office/drawing/2014/main" id="{E973D835-103F-D9E3-6ED1-1442F2F813F7}"/>
                  </a:ext>
                </a:extLst>
              </p:cNvPr>
              <p:cNvSpPr>
                <a:spLocks noChangeArrowheads="1"/>
              </p:cNvSpPr>
              <p:nvPr/>
            </p:nvSpPr>
            <p:spPr bwMode="auto">
              <a:xfrm>
                <a:off x="1997" y="1253"/>
                <a:ext cx="363" cy="317"/>
              </a:xfrm>
              <a:prstGeom prst="rect">
                <a:avLst/>
              </a:prstGeom>
              <a:ln>
                <a:headEnd/>
                <a:tailEnd type="none" w="med" len="lg"/>
              </a:ln>
            </p:spPr>
            <p:style>
              <a:lnRef idx="1">
                <a:schemeClr val="accent1"/>
              </a:lnRef>
              <a:fillRef idx="2">
                <a:schemeClr val="accent1"/>
              </a:fillRef>
              <a:effectRef idx="1">
                <a:schemeClr val="accent1"/>
              </a:effectRef>
              <a:fontRef idx="minor">
                <a:schemeClr val="dk1"/>
              </a:fontRef>
            </p:style>
            <p:txBody>
              <a:bodyPr wrap="none" anchor="ctr"/>
              <a:lstStyle/>
              <a:p>
                <a:r>
                  <a:rPr lang="en-US" altLang="zh-CN" sz="1800" i="1" dirty="0" err="1">
                    <a:solidFill>
                      <a:srgbClr val="0000FF"/>
                    </a:solidFill>
                    <a:latin typeface="Consolas" pitchFamily="49" charset="0"/>
                    <a:cs typeface="Consolas" pitchFamily="49" charset="0"/>
                  </a:rPr>
                  <a:t>v</a:t>
                </a:r>
                <a:r>
                  <a:rPr lang="en-US" altLang="zh-CN" sz="1800" baseline="-25000" dirty="0" err="1">
                    <a:solidFill>
                      <a:srgbClr val="0000FF"/>
                    </a:solidFill>
                    <a:latin typeface="Consolas" pitchFamily="49" charset="0"/>
                    <a:cs typeface="Consolas" pitchFamily="49" charset="0"/>
                  </a:rPr>
                  <a:t>3</a:t>
                </a:r>
                <a:endParaRPr lang="en-US" altLang="zh-CN" sz="1800" baseline="-25000" dirty="0">
                  <a:solidFill>
                    <a:srgbClr val="0000FF"/>
                  </a:solidFill>
                  <a:latin typeface="Consolas" pitchFamily="49" charset="0"/>
                  <a:cs typeface="Consolas" pitchFamily="49" charset="0"/>
                </a:endParaRPr>
              </a:p>
            </p:txBody>
          </p:sp>
          <p:sp>
            <p:nvSpPr>
              <p:cNvPr id="81" name="Rectangle 60">
                <a:extLst>
                  <a:ext uri="{FF2B5EF4-FFF2-40B4-BE49-F238E27FC236}">
                    <a16:creationId xmlns:a16="http://schemas.microsoft.com/office/drawing/2014/main" id="{8BE9D017-C450-FBDF-701D-C90B62E37D7A}"/>
                  </a:ext>
                </a:extLst>
              </p:cNvPr>
              <p:cNvSpPr>
                <a:spLocks noChangeArrowheads="1"/>
              </p:cNvSpPr>
              <p:nvPr/>
            </p:nvSpPr>
            <p:spPr bwMode="auto">
              <a:xfrm>
                <a:off x="2360" y="1253"/>
                <a:ext cx="363" cy="317"/>
              </a:xfrm>
              <a:prstGeom prst="rect">
                <a:avLst/>
              </a:prstGeom>
              <a:ln>
                <a:headEnd/>
                <a:tailEnd type="none" w="med" len="lg"/>
              </a:ln>
            </p:spPr>
            <p:style>
              <a:lnRef idx="1">
                <a:schemeClr val="accent1"/>
              </a:lnRef>
              <a:fillRef idx="2">
                <a:schemeClr val="accent1"/>
              </a:fillRef>
              <a:effectRef idx="1">
                <a:schemeClr val="accent1"/>
              </a:effectRef>
              <a:fontRef idx="minor">
                <a:schemeClr val="dk1"/>
              </a:fontRef>
            </p:style>
            <p:txBody>
              <a:bodyPr wrap="none" anchor="ctr"/>
              <a:lstStyle/>
              <a:p>
                <a:endParaRPr lang="zh-CN" altLang="zh-CN" sz="1800" baseline="-25000">
                  <a:solidFill>
                    <a:srgbClr val="0000FF"/>
                  </a:solidFill>
                  <a:latin typeface="Consolas" pitchFamily="49" charset="0"/>
                  <a:cs typeface="Consolas" pitchFamily="49" charset="0"/>
                </a:endParaRPr>
              </a:p>
            </p:txBody>
          </p:sp>
        </p:grpSp>
        <p:grpSp>
          <p:nvGrpSpPr>
            <p:cNvPr id="48" name="Group 106">
              <a:extLst>
                <a:ext uri="{FF2B5EF4-FFF2-40B4-BE49-F238E27FC236}">
                  <a16:creationId xmlns:a16="http://schemas.microsoft.com/office/drawing/2014/main" id="{58FE1218-68A7-D9C9-D8FE-D22FCB705B01}"/>
                </a:ext>
              </a:extLst>
            </p:cNvPr>
            <p:cNvGrpSpPr>
              <a:grpSpLocks/>
            </p:cNvGrpSpPr>
            <p:nvPr/>
          </p:nvGrpSpPr>
          <p:grpSpPr bwMode="auto">
            <a:xfrm>
              <a:off x="4572000" y="2849563"/>
              <a:ext cx="936625" cy="395287"/>
              <a:chOff x="2880" y="1299"/>
              <a:chExt cx="590" cy="249"/>
            </a:xfrm>
          </p:grpSpPr>
          <p:sp>
            <p:nvSpPr>
              <p:cNvPr id="78" name="Rectangle 61">
                <a:extLst>
                  <a:ext uri="{FF2B5EF4-FFF2-40B4-BE49-F238E27FC236}">
                    <a16:creationId xmlns:a16="http://schemas.microsoft.com/office/drawing/2014/main" id="{1B076A00-BEC8-77ED-C90E-E4786F014CC0}"/>
                  </a:ext>
                </a:extLst>
              </p:cNvPr>
              <p:cNvSpPr>
                <a:spLocks noChangeArrowheads="1"/>
              </p:cNvSpPr>
              <p:nvPr/>
            </p:nvSpPr>
            <p:spPr bwMode="auto">
              <a:xfrm>
                <a:off x="2880" y="1299"/>
                <a:ext cx="317" cy="249"/>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anchor="ctr"/>
              <a:lstStyle/>
              <a:p>
                <a:r>
                  <a:rPr lang="en-US" altLang="zh-CN" sz="1800" dirty="0">
                    <a:solidFill>
                      <a:srgbClr val="0000FF"/>
                    </a:solidFill>
                    <a:latin typeface="Consolas" pitchFamily="49" charset="0"/>
                    <a:cs typeface="Consolas" pitchFamily="49" charset="0"/>
                  </a:rPr>
                  <a:t>0</a:t>
                </a:r>
              </a:p>
            </p:txBody>
          </p:sp>
          <p:sp>
            <p:nvSpPr>
              <p:cNvPr id="79" name="Rectangle 62">
                <a:extLst>
                  <a:ext uri="{FF2B5EF4-FFF2-40B4-BE49-F238E27FC236}">
                    <a16:creationId xmlns:a16="http://schemas.microsoft.com/office/drawing/2014/main" id="{EBEDE297-83FC-F956-1999-616CCE873702}"/>
                  </a:ext>
                </a:extLst>
              </p:cNvPr>
              <p:cNvSpPr>
                <a:spLocks noChangeArrowheads="1"/>
              </p:cNvSpPr>
              <p:nvPr/>
            </p:nvSpPr>
            <p:spPr bwMode="auto">
              <a:xfrm>
                <a:off x="3198" y="1299"/>
                <a:ext cx="272" cy="249"/>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anchor="ctr"/>
              <a:lstStyle/>
              <a:p>
                <a:endParaRPr lang="zh-CN" altLang="zh-CN" sz="1800">
                  <a:solidFill>
                    <a:srgbClr val="0000FF"/>
                  </a:solidFill>
                  <a:latin typeface="Consolas" pitchFamily="49" charset="0"/>
                  <a:cs typeface="Consolas" pitchFamily="49" charset="0"/>
                </a:endParaRPr>
              </a:p>
            </p:txBody>
          </p:sp>
        </p:grpSp>
        <p:grpSp>
          <p:nvGrpSpPr>
            <p:cNvPr id="49" name="Group 107">
              <a:extLst>
                <a:ext uri="{FF2B5EF4-FFF2-40B4-BE49-F238E27FC236}">
                  <a16:creationId xmlns:a16="http://schemas.microsoft.com/office/drawing/2014/main" id="{AAEBBB50-455E-697C-86BC-5E7FD5059119}"/>
                </a:ext>
              </a:extLst>
            </p:cNvPr>
            <p:cNvGrpSpPr>
              <a:grpSpLocks/>
            </p:cNvGrpSpPr>
            <p:nvPr/>
          </p:nvGrpSpPr>
          <p:grpSpPr bwMode="auto">
            <a:xfrm>
              <a:off x="5691188" y="2849563"/>
              <a:ext cx="936625" cy="395287"/>
              <a:chOff x="3585" y="1299"/>
              <a:chExt cx="590" cy="249"/>
            </a:xfrm>
          </p:grpSpPr>
          <p:sp>
            <p:nvSpPr>
              <p:cNvPr id="76" name="Rectangle 63">
                <a:extLst>
                  <a:ext uri="{FF2B5EF4-FFF2-40B4-BE49-F238E27FC236}">
                    <a16:creationId xmlns:a16="http://schemas.microsoft.com/office/drawing/2014/main" id="{37305CF4-46CF-31D0-11AB-49382B6139B6}"/>
                  </a:ext>
                </a:extLst>
              </p:cNvPr>
              <p:cNvSpPr>
                <a:spLocks noChangeArrowheads="1"/>
              </p:cNvSpPr>
              <p:nvPr/>
            </p:nvSpPr>
            <p:spPr bwMode="auto">
              <a:xfrm>
                <a:off x="3585" y="1299"/>
                <a:ext cx="317" cy="249"/>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anchor="ctr"/>
              <a:lstStyle/>
              <a:p>
                <a:r>
                  <a:rPr lang="en-US" altLang="zh-CN" sz="1800" dirty="0">
                    <a:solidFill>
                      <a:srgbClr val="0000FF"/>
                    </a:solidFill>
                    <a:latin typeface="Consolas" pitchFamily="49" charset="0"/>
                    <a:cs typeface="Consolas" pitchFamily="49" charset="0"/>
                  </a:rPr>
                  <a:t>1</a:t>
                </a:r>
              </a:p>
            </p:txBody>
          </p:sp>
          <p:sp>
            <p:nvSpPr>
              <p:cNvPr id="77" name="Rectangle 64">
                <a:extLst>
                  <a:ext uri="{FF2B5EF4-FFF2-40B4-BE49-F238E27FC236}">
                    <a16:creationId xmlns:a16="http://schemas.microsoft.com/office/drawing/2014/main" id="{2A8699CC-CB22-86D4-AA33-2A38321235AC}"/>
                  </a:ext>
                </a:extLst>
              </p:cNvPr>
              <p:cNvSpPr>
                <a:spLocks noChangeArrowheads="1"/>
              </p:cNvSpPr>
              <p:nvPr/>
            </p:nvSpPr>
            <p:spPr bwMode="auto">
              <a:xfrm>
                <a:off x="3903" y="1299"/>
                <a:ext cx="272" cy="249"/>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anchor="ctr"/>
              <a:lstStyle/>
              <a:p>
                <a:endParaRPr lang="zh-CN" altLang="zh-CN" sz="1800">
                  <a:solidFill>
                    <a:srgbClr val="0000FF"/>
                  </a:solidFill>
                  <a:latin typeface="Consolas" pitchFamily="49" charset="0"/>
                  <a:cs typeface="Consolas" pitchFamily="49" charset="0"/>
                </a:endParaRPr>
              </a:p>
            </p:txBody>
          </p:sp>
        </p:grpSp>
        <p:grpSp>
          <p:nvGrpSpPr>
            <p:cNvPr id="50" name="Group 108">
              <a:extLst>
                <a:ext uri="{FF2B5EF4-FFF2-40B4-BE49-F238E27FC236}">
                  <a16:creationId xmlns:a16="http://schemas.microsoft.com/office/drawing/2014/main" id="{F1CFD771-11CB-0C71-9608-E531192492A0}"/>
                </a:ext>
              </a:extLst>
            </p:cNvPr>
            <p:cNvGrpSpPr>
              <a:grpSpLocks/>
            </p:cNvGrpSpPr>
            <p:nvPr/>
          </p:nvGrpSpPr>
          <p:grpSpPr bwMode="auto">
            <a:xfrm>
              <a:off x="6808788" y="2849563"/>
              <a:ext cx="936625" cy="395287"/>
              <a:chOff x="4289" y="1299"/>
              <a:chExt cx="590" cy="249"/>
            </a:xfrm>
          </p:grpSpPr>
          <p:sp>
            <p:nvSpPr>
              <p:cNvPr id="74" name="Rectangle 65">
                <a:extLst>
                  <a:ext uri="{FF2B5EF4-FFF2-40B4-BE49-F238E27FC236}">
                    <a16:creationId xmlns:a16="http://schemas.microsoft.com/office/drawing/2014/main" id="{D77B128E-5465-A04F-271A-AF33362F0B3E}"/>
                  </a:ext>
                </a:extLst>
              </p:cNvPr>
              <p:cNvSpPr>
                <a:spLocks noChangeArrowheads="1"/>
              </p:cNvSpPr>
              <p:nvPr/>
            </p:nvSpPr>
            <p:spPr bwMode="auto">
              <a:xfrm>
                <a:off x="4289" y="1299"/>
                <a:ext cx="317" cy="249"/>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anchor="ctr"/>
              <a:lstStyle/>
              <a:p>
                <a:r>
                  <a:rPr lang="en-US" altLang="zh-CN" sz="1800" dirty="0">
                    <a:solidFill>
                      <a:srgbClr val="0000FF"/>
                    </a:solidFill>
                    <a:latin typeface="Consolas" pitchFamily="49" charset="0"/>
                    <a:cs typeface="Consolas" pitchFamily="49" charset="0"/>
                  </a:rPr>
                  <a:t>2</a:t>
                </a:r>
              </a:p>
            </p:txBody>
          </p:sp>
          <p:sp>
            <p:nvSpPr>
              <p:cNvPr id="75" name="Rectangle 66">
                <a:extLst>
                  <a:ext uri="{FF2B5EF4-FFF2-40B4-BE49-F238E27FC236}">
                    <a16:creationId xmlns:a16="http://schemas.microsoft.com/office/drawing/2014/main" id="{D15562D7-EEEB-F4A7-0277-5254799C95AE}"/>
                  </a:ext>
                </a:extLst>
              </p:cNvPr>
              <p:cNvSpPr>
                <a:spLocks noChangeArrowheads="1"/>
              </p:cNvSpPr>
              <p:nvPr/>
            </p:nvSpPr>
            <p:spPr bwMode="auto">
              <a:xfrm>
                <a:off x="4607" y="1299"/>
                <a:ext cx="272" cy="249"/>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anchor="ctr"/>
              <a:lstStyle/>
              <a:p>
                <a:endParaRPr lang="zh-CN" altLang="zh-CN" sz="1800">
                  <a:solidFill>
                    <a:srgbClr val="0000FF"/>
                  </a:solidFill>
                  <a:latin typeface="Consolas" pitchFamily="49" charset="0"/>
                  <a:cs typeface="Consolas" pitchFamily="49" charset="0"/>
                </a:endParaRPr>
              </a:p>
            </p:txBody>
          </p:sp>
        </p:grpSp>
        <p:sp>
          <p:nvSpPr>
            <p:cNvPr id="51" name="Line 67">
              <a:extLst>
                <a:ext uri="{FF2B5EF4-FFF2-40B4-BE49-F238E27FC236}">
                  <a16:creationId xmlns:a16="http://schemas.microsoft.com/office/drawing/2014/main" id="{87CAA067-1CC5-53DB-8219-24AA20E790C3}"/>
                </a:ext>
              </a:extLst>
            </p:cNvPr>
            <p:cNvSpPr>
              <a:spLocks noChangeShapeType="1"/>
            </p:cNvSpPr>
            <p:nvPr/>
          </p:nvSpPr>
          <p:spPr bwMode="auto">
            <a:xfrm>
              <a:off x="3995738" y="3065463"/>
              <a:ext cx="576262" cy="0"/>
            </a:xfrm>
            <a:prstGeom prst="line">
              <a:avLst/>
            </a:prstGeom>
            <a:noFill/>
            <a:ln w="28575">
              <a:solidFill>
                <a:srgbClr val="3333FF"/>
              </a:solidFill>
              <a:round/>
              <a:headEnd/>
              <a:tailEnd type="triangle" w="med" len="lg"/>
            </a:ln>
          </p:spPr>
          <p:txBody>
            <a:bodyPr wrap="none"/>
            <a:lstStyle/>
            <a:p>
              <a:endParaRPr lang="zh-CN" altLang="en-US" sz="1800">
                <a:latin typeface="Consolas" pitchFamily="49" charset="0"/>
                <a:cs typeface="Consolas" pitchFamily="49" charset="0"/>
              </a:endParaRPr>
            </a:p>
          </p:txBody>
        </p:sp>
        <p:sp>
          <p:nvSpPr>
            <p:cNvPr id="52" name="Line 68">
              <a:extLst>
                <a:ext uri="{FF2B5EF4-FFF2-40B4-BE49-F238E27FC236}">
                  <a16:creationId xmlns:a16="http://schemas.microsoft.com/office/drawing/2014/main" id="{C489BABA-2FFB-13AA-A0C4-FF1363E92C0C}"/>
                </a:ext>
              </a:extLst>
            </p:cNvPr>
            <p:cNvSpPr>
              <a:spLocks noChangeShapeType="1"/>
            </p:cNvSpPr>
            <p:nvPr/>
          </p:nvSpPr>
          <p:spPr bwMode="auto">
            <a:xfrm>
              <a:off x="5338763" y="3055938"/>
              <a:ext cx="360362" cy="0"/>
            </a:xfrm>
            <a:prstGeom prst="line">
              <a:avLst/>
            </a:prstGeom>
            <a:noFill/>
            <a:ln w="28575">
              <a:solidFill>
                <a:srgbClr val="3333FF"/>
              </a:solidFill>
              <a:round/>
              <a:headEnd/>
              <a:tailEnd type="triangle" w="med" len="lg"/>
            </a:ln>
          </p:spPr>
          <p:txBody>
            <a:bodyPr wrap="none"/>
            <a:lstStyle/>
            <a:p>
              <a:endParaRPr lang="zh-CN" altLang="en-US" sz="1800">
                <a:latin typeface="Consolas" pitchFamily="49" charset="0"/>
                <a:cs typeface="Consolas" pitchFamily="49" charset="0"/>
              </a:endParaRPr>
            </a:p>
          </p:txBody>
        </p:sp>
        <p:sp>
          <p:nvSpPr>
            <p:cNvPr id="53" name="Line 69">
              <a:extLst>
                <a:ext uri="{FF2B5EF4-FFF2-40B4-BE49-F238E27FC236}">
                  <a16:creationId xmlns:a16="http://schemas.microsoft.com/office/drawing/2014/main" id="{CD19B7FF-2297-D037-D50D-79219F0D7935}"/>
                </a:ext>
              </a:extLst>
            </p:cNvPr>
            <p:cNvSpPr>
              <a:spLocks noChangeShapeType="1"/>
            </p:cNvSpPr>
            <p:nvPr/>
          </p:nvSpPr>
          <p:spPr bwMode="auto">
            <a:xfrm>
              <a:off x="6461125" y="3065463"/>
              <a:ext cx="360363" cy="0"/>
            </a:xfrm>
            <a:prstGeom prst="line">
              <a:avLst/>
            </a:prstGeom>
            <a:noFill/>
            <a:ln w="28575">
              <a:solidFill>
                <a:srgbClr val="3333FF"/>
              </a:solidFill>
              <a:round/>
              <a:headEnd/>
              <a:tailEnd type="triangle" w="med" len="lg"/>
            </a:ln>
          </p:spPr>
          <p:txBody>
            <a:bodyPr wrap="none"/>
            <a:lstStyle/>
            <a:p>
              <a:endParaRPr lang="zh-CN" altLang="en-US" sz="1800">
                <a:latin typeface="Consolas" pitchFamily="49" charset="0"/>
                <a:cs typeface="Consolas" pitchFamily="49" charset="0"/>
              </a:endParaRPr>
            </a:p>
          </p:txBody>
        </p:sp>
        <p:sp>
          <p:nvSpPr>
            <p:cNvPr id="54" name="Text Box 71">
              <a:extLst>
                <a:ext uri="{FF2B5EF4-FFF2-40B4-BE49-F238E27FC236}">
                  <a16:creationId xmlns:a16="http://schemas.microsoft.com/office/drawing/2014/main" id="{CD87B7CA-4964-6280-D74A-E9F04A7ED012}"/>
                </a:ext>
              </a:extLst>
            </p:cNvPr>
            <p:cNvSpPr txBox="1">
              <a:spLocks noChangeArrowheads="1"/>
            </p:cNvSpPr>
            <p:nvPr/>
          </p:nvSpPr>
          <p:spPr bwMode="auto">
            <a:xfrm>
              <a:off x="2771775" y="3446449"/>
              <a:ext cx="288925" cy="248252"/>
            </a:xfrm>
            <a:prstGeom prst="rect">
              <a:avLst/>
            </a:prstGeom>
            <a:noFill/>
            <a:ln w="28575" algn="ctr">
              <a:noFill/>
              <a:miter lim="800000"/>
              <a:headEnd/>
              <a:tailEnd type="none" w="med" len="lg"/>
            </a:ln>
          </p:spPr>
          <p:txBody>
            <a:bodyPr lIns="0" tIns="0" rIns="0" bIns="0">
              <a:spAutoFit/>
            </a:bodyPr>
            <a:lstStyle/>
            <a:p>
              <a:pPr>
                <a:spcBef>
                  <a:spcPct val="50000"/>
                </a:spcBef>
              </a:pPr>
              <a:r>
                <a:rPr lang="en-US" altLang="zh-CN" sz="1600">
                  <a:solidFill>
                    <a:srgbClr val="00B0F0"/>
                  </a:solidFill>
                  <a:latin typeface="Consolas" pitchFamily="49" charset="0"/>
                  <a:cs typeface="Consolas" pitchFamily="49" charset="0"/>
                </a:rPr>
                <a:t>4</a:t>
              </a:r>
            </a:p>
          </p:txBody>
        </p:sp>
        <p:grpSp>
          <p:nvGrpSpPr>
            <p:cNvPr id="55" name="Group 96">
              <a:extLst>
                <a:ext uri="{FF2B5EF4-FFF2-40B4-BE49-F238E27FC236}">
                  <a16:creationId xmlns:a16="http://schemas.microsoft.com/office/drawing/2014/main" id="{44276287-6C0B-A80C-51FB-6520AC8A5D55}"/>
                </a:ext>
              </a:extLst>
            </p:cNvPr>
            <p:cNvGrpSpPr>
              <a:grpSpLocks/>
            </p:cNvGrpSpPr>
            <p:nvPr/>
          </p:nvGrpSpPr>
          <p:grpSpPr bwMode="auto">
            <a:xfrm>
              <a:off x="3170238" y="3281363"/>
              <a:ext cx="1152525" cy="503237"/>
              <a:chOff x="1997" y="1571"/>
              <a:chExt cx="726" cy="317"/>
            </a:xfrm>
          </p:grpSpPr>
          <p:sp>
            <p:nvSpPr>
              <p:cNvPr id="72" name="Rectangle 70">
                <a:extLst>
                  <a:ext uri="{FF2B5EF4-FFF2-40B4-BE49-F238E27FC236}">
                    <a16:creationId xmlns:a16="http://schemas.microsoft.com/office/drawing/2014/main" id="{B877C188-6FDD-8444-849C-A9CED27F9CA1}"/>
                  </a:ext>
                </a:extLst>
              </p:cNvPr>
              <p:cNvSpPr>
                <a:spLocks noChangeArrowheads="1"/>
              </p:cNvSpPr>
              <p:nvPr/>
            </p:nvSpPr>
            <p:spPr bwMode="auto">
              <a:xfrm>
                <a:off x="1997" y="1571"/>
                <a:ext cx="363" cy="317"/>
              </a:xfrm>
              <a:prstGeom prst="rect">
                <a:avLst/>
              </a:prstGeom>
              <a:ln>
                <a:headEnd/>
                <a:tailEnd type="none" w="med" len="lg"/>
              </a:ln>
            </p:spPr>
            <p:style>
              <a:lnRef idx="1">
                <a:schemeClr val="accent1"/>
              </a:lnRef>
              <a:fillRef idx="2">
                <a:schemeClr val="accent1"/>
              </a:fillRef>
              <a:effectRef idx="1">
                <a:schemeClr val="accent1"/>
              </a:effectRef>
              <a:fontRef idx="minor">
                <a:schemeClr val="dk1"/>
              </a:fontRef>
            </p:style>
            <p:txBody>
              <a:bodyPr wrap="none" anchor="ctr"/>
              <a:lstStyle/>
              <a:p>
                <a:r>
                  <a:rPr lang="en-US" altLang="zh-CN" sz="1800" i="1" dirty="0" err="1">
                    <a:solidFill>
                      <a:srgbClr val="0000FF"/>
                    </a:solidFill>
                    <a:latin typeface="Consolas" pitchFamily="49" charset="0"/>
                    <a:cs typeface="Consolas" pitchFamily="49" charset="0"/>
                  </a:rPr>
                  <a:t>v</a:t>
                </a:r>
                <a:r>
                  <a:rPr lang="en-US" altLang="zh-CN" sz="1800" baseline="-25000" dirty="0" err="1">
                    <a:solidFill>
                      <a:srgbClr val="0000FF"/>
                    </a:solidFill>
                    <a:latin typeface="Consolas" pitchFamily="49" charset="0"/>
                    <a:cs typeface="Consolas" pitchFamily="49" charset="0"/>
                  </a:rPr>
                  <a:t>4</a:t>
                </a:r>
                <a:endParaRPr lang="en-US" altLang="zh-CN" sz="1800" baseline="-25000" dirty="0">
                  <a:solidFill>
                    <a:srgbClr val="0000FF"/>
                  </a:solidFill>
                  <a:latin typeface="Consolas" pitchFamily="49" charset="0"/>
                  <a:cs typeface="Consolas" pitchFamily="49" charset="0"/>
                </a:endParaRPr>
              </a:p>
            </p:txBody>
          </p:sp>
          <p:sp>
            <p:nvSpPr>
              <p:cNvPr id="73" name="Rectangle 72">
                <a:extLst>
                  <a:ext uri="{FF2B5EF4-FFF2-40B4-BE49-F238E27FC236}">
                    <a16:creationId xmlns:a16="http://schemas.microsoft.com/office/drawing/2014/main" id="{DBCF9602-2D09-09A5-2945-6A813B10BD45}"/>
                  </a:ext>
                </a:extLst>
              </p:cNvPr>
              <p:cNvSpPr>
                <a:spLocks noChangeArrowheads="1"/>
              </p:cNvSpPr>
              <p:nvPr/>
            </p:nvSpPr>
            <p:spPr bwMode="auto">
              <a:xfrm>
                <a:off x="2360" y="1571"/>
                <a:ext cx="363" cy="317"/>
              </a:xfrm>
              <a:prstGeom prst="rect">
                <a:avLst/>
              </a:prstGeom>
              <a:ln>
                <a:headEnd/>
                <a:tailEnd type="none" w="med" len="lg"/>
              </a:ln>
            </p:spPr>
            <p:style>
              <a:lnRef idx="1">
                <a:schemeClr val="accent1"/>
              </a:lnRef>
              <a:fillRef idx="2">
                <a:schemeClr val="accent1"/>
              </a:fillRef>
              <a:effectRef idx="1">
                <a:schemeClr val="accent1"/>
              </a:effectRef>
              <a:fontRef idx="minor">
                <a:schemeClr val="dk1"/>
              </a:fontRef>
            </p:style>
            <p:txBody>
              <a:bodyPr wrap="none" anchor="ctr"/>
              <a:lstStyle/>
              <a:p>
                <a:endParaRPr lang="zh-CN" altLang="zh-CN" sz="1800" baseline="-25000">
                  <a:solidFill>
                    <a:srgbClr val="0000FF"/>
                  </a:solidFill>
                  <a:latin typeface="Consolas" pitchFamily="49" charset="0"/>
                  <a:cs typeface="Consolas" pitchFamily="49" charset="0"/>
                </a:endParaRPr>
              </a:p>
            </p:txBody>
          </p:sp>
        </p:grpSp>
        <p:grpSp>
          <p:nvGrpSpPr>
            <p:cNvPr id="56" name="Group 110">
              <a:extLst>
                <a:ext uri="{FF2B5EF4-FFF2-40B4-BE49-F238E27FC236}">
                  <a16:creationId xmlns:a16="http://schemas.microsoft.com/office/drawing/2014/main" id="{CAD75BC1-034F-F432-8268-F992251DBF38}"/>
                </a:ext>
              </a:extLst>
            </p:cNvPr>
            <p:cNvGrpSpPr>
              <a:grpSpLocks/>
            </p:cNvGrpSpPr>
            <p:nvPr/>
          </p:nvGrpSpPr>
          <p:grpSpPr bwMode="auto">
            <a:xfrm>
              <a:off x="4572000" y="3354388"/>
              <a:ext cx="936625" cy="395287"/>
              <a:chOff x="2880" y="1617"/>
              <a:chExt cx="590" cy="249"/>
            </a:xfrm>
          </p:grpSpPr>
          <p:sp>
            <p:nvSpPr>
              <p:cNvPr id="70" name="Rectangle 73">
                <a:extLst>
                  <a:ext uri="{FF2B5EF4-FFF2-40B4-BE49-F238E27FC236}">
                    <a16:creationId xmlns:a16="http://schemas.microsoft.com/office/drawing/2014/main" id="{CC5BC202-CA85-C517-7536-47CDA9BD88C1}"/>
                  </a:ext>
                </a:extLst>
              </p:cNvPr>
              <p:cNvSpPr>
                <a:spLocks noChangeArrowheads="1"/>
              </p:cNvSpPr>
              <p:nvPr/>
            </p:nvSpPr>
            <p:spPr bwMode="auto">
              <a:xfrm>
                <a:off x="2880" y="1617"/>
                <a:ext cx="317" cy="249"/>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anchor="ctr"/>
              <a:lstStyle/>
              <a:p>
                <a:r>
                  <a:rPr lang="en-US" altLang="zh-CN" sz="1800">
                    <a:solidFill>
                      <a:srgbClr val="0000FF"/>
                    </a:solidFill>
                    <a:latin typeface="Consolas" pitchFamily="49" charset="0"/>
                    <a:cs typeface="Consolas" pitchFamily="49" charset="0"/>
                  </a:rPr>
                  <a:t>0</a:t>
                </a:r>
              </a:p>
            </p:txBody>
          </p:sp>
          <p:sp>
            <p:nvSpPr>
              <p:cNvPr id="71" name="Rectangle 74">
                <a:extLst>
                  <a:ext uri="{FF2B5EF4-FFF2-40B4-BE49-F238E27FC236}">
                    <a16:creationId xmlns:a16="http://schemas.microsoft.com/office/drawing/2014/main" id="{722B9DAC-E3B7-4FF7-8415-F68F039F8B4F}"/>
                  </a:ext>
                </a:extLst>
              </p:cNvPr>
              <p:cNvSpPr>
                <a:spLocks noChangeArrowheads="1"/>
              </p:cNvSpPr>
              <p:nvPr/>
            </p:nvSpPr>
            <p:spPr bwMode="auto">
              <a:xfrm>
                <a:off x="3198" y="1617"/>
                <a:ext cx="272" cy="249"/>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anchor="ctr"/>
              <a:lstStyle/>
              <a:p>
                <a:endParaRPr lang="zh-CN" altLang="zh-CN" sz="1800">
                  <a:solidFill>
                    <a:srgbClr val="0000FF"/>
                  </a:solidFill>
                  <a:latin typeface="Consolas" pitchFamily="49" charset="0"/>
                  <a:cs typeface="Consolas" pitchFamily="49" charset="0"/>
                </a:endParaRPr>
              </a:p>
            </p:txBody>
          </p:sp>
        </p:grpSp>
        <p:grpSp>
          <p:nvGrpSpPr>
            <p:cNvPr id="57" name="Group 111">
              <a:extLst>
                <a:ext uri="{FF2B5EF4-FFF2-40B4-BE49-F238E27FC236}">
                  <a16:creationId xmlns:a16="http://schemas.microsoft.com/office/drawing/2014/main" id="{F764F53D-D5C9-5902-AF5C-5161FFB6DE19}"/>
                </a:ext>
              </a:extLst>
            </p:cNvPr>
            <p:cNvGrpSpPr>
              <a:grpSpLocks/>
            </p:cNvGrpSpPr>
            <p:nvPr/>
          </p:nvGrpSpPr>
          <p:grpSpPr bwMode="auto">
            <a:xfrm>
              <a:off x="5691188" y="3354388"/>
              <a:ext cx="936625" cy="395287"/>
              <a:chOff x="3585" y="1617"/>
              <a:chExt cx="590" cy="249"/>
            </a:xfrm>
          </p:grpSpPr>
          <p:sp>
            <p:nvSpPr>
              <p:cNvPr id="68" name="Rectangle 75">
                <a:extLst>
                  <a:ext uri="{FF2B5EF4-FFF2-40B4-BE49-F238E27FC236}">
                    <a16:creationId xmlns:a16="http://schemas.microsoft.com/office/drawing/2014/main" id="{BA681872-44C9-01D2-DC59-1F64AF6E24A9}"/>
                  </a:ext>
                </a:extLst>
              </p:cNvPr>
              <p:cNvSpPr>
                <a:spLocks noChangeArrowheads="1"/>
              </p:cNvSpPr>
              <p:nvPr/>
            </p:nvSpPr>
            <p:spPr bwMode="auto">
              <a:xfrm>
                <a:off x="3585" y="1617"/>
                <a:ext cx="317" cy="249"/>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anchor="ctr"/>
              <a:lstStyle/>
              <a:p>
                <a:r>
                  <a:rPr lang="en-US" altLang="zh-CN" sz="1800" dirty="0">
                    <a:solidFill>
                      <a:srgbClr val="0000FF"/>
                    </a:solidFill>
                    <a:latin typeface="Consolas" pitchFamily="49" charset="0"/>
                    <a:cs typeface="Consolas" pitchFamily="49" charset="0"/>
                  </a:rPr>
                  <a:t>2</a:t>
                </a:r>
              </a:p>
            </p:txBody>
          </p:sp>
          <p:sp>
            <p:nvSpPr>
              <p:cNvPr id="69" name="Rectangle 76">
                <a:extLst>
                  <a:ext uri="{FF2B5EF4-FFF2-40B4-BE49-F238E27FC236}">
                    <a16:creationId xmlns:a16="http://schemas.microsoft.com/office/drawing/2014/main" id="{A50DAD73-4724-91B8-1B12-1E0FFF10AD64}"/>
                  </a:ext>
                </a:extLst>
              </p:cNvPr>
              <p:cNvSpPr>
                <a:spLocks noChangeArrowheads="1"/>
              </p:cNvSpPr>
              <p:nvPr/>
            </p:nvSpPr>
            <p:spPr bwMode="auto">
              <a:xfrm>
                <a:off x="3903" y="1617"/>
                <a:ext cx="272" cy="249"/>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anchor="ctr"/>
              <a:lstStyle/>
              <a:p>
                <a:endParaRPr lang="zh-CN" altLang="zh-CN" sz="1800">
                  <a:solidFill>
                    <a:srgbClr val="0000FF"/>
                  </a:solidFill>
                  <a:latin typeface="Consolas" pitchFamily="49" charset="0"/>
                  <a:cs typeface="Consolas" pitchFamily="49" charset="0"/>
                </a:endParaRPr>
              </a:p>
            </p:txBody>
          </p:sp>
        </p:grpSp>
        <p:grpSp>
          <p:nvGrpSpPr>
            <p:cNvPr id="58" name="Group 112">
              <a:extLst>
                <a:ext uri="{FF2B5EF4-FFF2-40B4-BE49-F238E27FC236}">
                  <a16:creationId xmlns:a16="http://schemas.microsoft.com/office/drawing/2014/main" id="{E986AA93-F4DE-4C8F-DB68-079ECD8A24B5}"/>
                </a:ext>
              </a:extLst>
            </p:cNvPr>
            <p:cNvGrpSpPr>
              <a:grpSpLocks/>
            </p:cNvGrpSpPr>
            <p:nvPr/>
          </p:nvGrpSpPr>
          <p:grpSpPr bwMode="auto">
            <a:xfrm>
              <a:off x="6808788" y="3354388"/>
              <a:ext cx="936625" cy="395287"/>
              <a:chOff x="4289" y="1617"/>
              <a:chExt cx="590" cy="249"/>
            </a:xfrm>
          </p:grpSpPr>
          <p:sp>
            <p:nvSpPr>
              <p:cNvPr id="66" name="Rectangle 77">
                <a:extLst>
                  <a:ext uri="{FF2B5EF4-FFF2-40B4-BE49-F238E27FC236}">
                    <a16:creationId xmlns:a16="http://schemas.microsoft.com/office/drawing/2014/main" id="{F60C740C-ED9B-9FF3-07B1-8BE04D951BD8}"/>
                  </a:ext>
                </a:extLst>
              </p:cNvPr>
              <p:cNvSpPr>
                <a:spLocks noChangeArrowheads="1"/>
              </p:cNvSpPr>
              <p:nvPr/>
            </p:nvSpPr>
            <p:spPr bwMode="auto">
              <a:xfrm>
                <a:off x="4289" y="1617"/>
                <a:ext cx="317" cy="249"/>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anchor="ctr"/>
              <a:lstStyle/>
              <a:p>
                <a:r>
                  <a:rPr lang="en-US" altLang="zh-CN" sz="1800">
                    <a:solidFill>
                      <a:srgbClr val="0000FF"/>
                    </a:solidFill>
                    <a:latin typeface="Consolas" pitchFamily="49" charset="0"/>
                    <a:cs typeface="Consolas" pitchFamily="49" charset="0"/>
                  </a:rPr>
                  <a:t>3</a:t>
                </a:r>
              </a:p>
            </p:txBody>
          </p:sp>
          <p:sp>
            <p:nvSpPr>
              <p:cNvPr id="67" name="Rectangle 78">
                <a:extLst>
                  <a:ext uri="{FF2B5EF4-FFF2-40B4-BE49-F238E27FC236}">
                    <a16:creationId xmlns:a16="http://schemas.microsoft.com/office/drawing/2014/main" id="{9AB7A7E8-C6B5-D73D-E575-11AC005C1B61}"/>
                  </a:ext>
                </a:extLst>
              </p:cNvPr>
              <p:cNvSpPr>
                <a:spLocks noChangeArrowheads="1"/>
              </p:cNvSpPr>
              <p:nvPr/>
            </p:nvSpPr>
            <p:spPr bwMode="auto">
              <a:xfrm>
                <a:off x="4607" y="1617"/>
                <a:ext cx="272" cy="249"/>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anchor="ctr"/>
              <a:lstStyle/>
              <a:p>
                <a:r>
                  <a:rPr lang="en-US" altLang="zh-CN" sz="1800">
                    <a:solidFill>
                      <a:srgbClr val="0000FF"/>
                    </a:solidFill>
                    <a:latin typeface="Consolas" pitchFamily="49" charset="0"/>
                    <a:cs typeface="Consolas" pitchFamily="49" charset="0"/>
                  </a:rPr>
                  <a:t>∧</a:t>
                </a:r>
              </a:p>
            </p:txBody>
          </p:sp>
        </p:grpSp>
        <p:sp>
          <p:nvSpPr>
            <p:cNvPr id="59" name="Line 79">
              <a:extLst>
                <a:ext uri="{FF2B5EF4-FFF2-40B4-BE49-F238E27FC236}">
                  <a16:creationId xmlns:a16="http://schemas.microsoft.com/office/drawing/2014/main" id="{DCE6FF06-EA4B-D987-AB5A-C4D39540AE90}"/>
                </a:ext>
              </a:extLst>
            </p:cNvPr>
            <p:cNvSpPr>
              <a:spLocks noChangeShapeType="1"/>
            </p:cNvSpPr>
            <p:nvPr/>
          </p:nvSpPr>
          <p:spPr bwMode="auto">
            <a:xfrm>
              <a:off x="3995738" y="3570288"/>
              <a:ext cx="576262" cy="0"/>
            </a:xfrm>
            <a:prstGeom prst="line">
              <a:avLst/>
            </a:prstGeom>
            <a:noFill/>
            <a:ln w="28575">
              <a:solidFill>
                <a:srgbClr val="3333FF"/>
              </a:solidFill>
              <a:round/>
              <a:headEnd/>
              <a:tailEnd type="triangle" w="med" len="lg"/>
            </a:ln>
          </p:spPr>
          <p:txBody>
            <a:bodyPr wrap="none"/>
            <a:lstStyle/>
            <a:p>
              <a:endParaRPr lang="zh-CN" altLang="en-US" sz="1800">
                <a:latin typeface="Consolas" pitchFamily="49" charset="0"/>
                <a:cs typeface="Consolas" pitchFamily="49" charset="0"/>
              </a:endParaRPr>
            </a:p>
          </p:txBody>
        </p:sp>
        <p:sp>
          <p:nvSpPr>
            <p:cNvPr id="60" name="Line 80">
              <a:extLst>
                <a:ext uri="{FF2B5EF4-FFF2-40B4-BE49-F238E27FC236}">
                  <a16:creationId xmlns:a16="http://schemas.microsoft.com/office/drawing/2014/main" id="{77FC2D02-1F72-2352-DA12-1647996AAC87}"/>
                </a:ext>
              </a:extLst>
            </p:cNvPr>
            <p:cNvSpPr>
              <a:spLocks noChangeShapeType="1"/>
            </p:cNvSpPr>
            <p:nvPr/>
          </p:nvSpPr>
          <p:spPr bwMode="auto">
            <a:xfrm>
              <a:off x="5338763" y="3560763"/>
              <a:ext cx="360362" cy="0"/>
            </a:xfrm>
            <a:prstGeom prst="line">
              <a:avLst/>
            </a:prstGeom>
            <a:noFill/>
            <a:ln w="28575">
              <a:solidFill>
                <a:srgbClr val="3333FF"/>
              </a:solidFill>
              <a:round/>
              <a:headEnd/>
              <a:tailEnd type="triangle" w="med" len="lg"/>
            </a:ln>
          </p:spPr>
          <p:txBody>
            <a:bodyPr wrap="none"/>
            <a:lstStyle/>
            <a:p>
              <a:endParaRPr lang="zh-CN" altLang="en-US" sz="1800">
                <a:latin typeface="Consolas" pitchFamily="49" charset="0"/>
                <a:cs typeface="Consolas" pitchFamily="49" charset="0"/>
              </a:endParaRPr>
            </a:p>
          </p:txBody>
        </p:sp>
        <p:sp>
          <p:nvSpPr>
            <p:cNvPr id="61" name="Line 81">
              <a:extLst>
                <a:ext uri="{FF2B5EF4-FFF2-40B4-BE49-F238E27FC236}">
                  <a16:creationId xmlns:a16="http://schemas.microsoft.com/office/drawing/2014/main" id="{E36DAF94-6E01-3755-4A63-74434CACA45C}"/>
                </a:ext>
              </a:extLst>
            </p:cNvPr>
            <p:cNvSpPr>
              <a:spLocks noChangeShapeType="1"/>
            </p:cNvSpPr>
            <p:nvPr/>
          </p:nvSpPr>
          <p:spPr bwMode="auto">
            <a:xfrm>
              <a:off x="6461125" y="3570288"/>
              <a:ext cx="360363" cy="0"/>
            </a:xfrm>
            <a:prstGeom prst="line">
              <a:avLst/>
            </a:prstGeom>
            <a:noFill/>
            <a:ln w="28575">
              <a:solidFill>
                <a:srgbClr val="3333FF"/>
              </a:solidFill>
              <a:round/>
              <a:headEnd/>
              <a:tailEnd type="triangle" w="med" len="lg"/>
            </a:ln>
          </p:spPr>
          <p:txBody>
            <a:bodyPr wrap="none"/>
            <a:lstStyle/>
            <a:p>
              <a:endParaRPr lang="zh-CN" altLang="en-US" sz="1800">
                <a:latin typeface="Consolas" pitchFamily="49" charset="0"/>
                <a:cs typeface="Consolas" pitchFamily="49" charset="0"/>
              </a:endParaRPr>
            </a:p>
          </p:txBody>
        </p:sp>
        <p:grpSp>
          <p:nvGrpSpPr>
            <p:cNvPr id="62" name="Group 109">
              <a:extLst>
                <a:ext uri="{FF2B5EF4-FFF2-40B4-BE49-F238E27FC236}">
                  <a16:creationId xmlns:a16="http://schemas.microsoft.com/office/drawing/2014/main" id="{480E130E-372F-32C2-9ECE-64E58979B1B2}"/>
                </a:ext>
              </a:extLst>
            </p:cNvPr>
            <p:cNvGrpSpPr>
              <a:grpSpLocks/>
            </p:cNvGrpSpPr>
            <p:nvPr/>
          </p:nvGrpSpPr>
          <p:grpSpPr bwMode="auto">
            <a:xfrm>
              <a:off x="7956550" y="2847975"/>
              <a:ext cx="936625" cy="395288"/>
              <a:chOff x="5012" y="1298"/>
              <a:chExt cx="590" cy="249"/>
            </a:xfrm>
          </p:grpSpPr>
          <p:sp>
            <p:nvSpPr>
              <p:cNvPr id="64" name="Rectangle 82">
                <a:extLst>
                  <a:ext uri="{FF2B5EF4-FFF2-40B4-BE49-F238E27FC236}">
                    <a16:creationId xmlns:a16="http://schemas.microsoft.com/office/drawing/2014/main" id="{7ABF626E-2BB3-2E95-D667-D4D523F3C075}"/>
                  </a:ext>
                </a:extLst>
              </p:cNvPr>
              <p:cNvSpPr>
                <a:spLocks noChangeArrowheads="1"/>
              </p:cNvSpPr>
              <p:nvPr/>
            </p:nvSpPr>
            <p:spPr bwMode="auto">
              <a:xfrm>
                <a:off x="5012" y="1298"/>
                <a:ext cx="317" cy="249"/>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anchor="ctr"/>
              <a:lstStyle/>
              <a:p>
                <a:r>
                  <a:rPr lang="en-US" altLang="zh-CN" sz="1800" dirty="0">
                    <a:solidFill>
                      <a:srgbClr val="0000FF"/>
                    </a:solidFill>
                    <a:latin typeface="Consolas" pitchFamily="49" charset="0"/>
                    <a:cs typeface="Consolas" pitchFamily="49" charset="0"/>
                  </a:rPr>
                  <a:t>4</a:t>
                </a:r>
              </a:p>
            </p:txBody>
          </p:sp>
          <p:sp>
            <p:nvSpPr>
              <p:cNvPr id="65" name="Rectangle 83">
                <a:extLst>
                  <a:ext uri="{FF2B5EF4-FFF2-40B4-BE49-F238E27FC236}">
                    <a16:creationId xmlns:a16="http://schemas.microsoft.com/office/drawing/2014/main" id="{26235D59-D578-1F52-A87E-FBEEDF0EE372}"/>
                  </a:ext>
                </a:extLst>
              </p:cNvPr>
              <p:cNvSpPr>
                <a:spLocks noChangeArrowheads="1"/>
              </p:cNvSpPr>
              <p:nvPr/>
            </p:nvSpPr>
            <p:spPr bwMode="auto">
              <a:xfrm>
                <a:off x="5330" y="1298"/>
                <a:ext cx="272" cy="249"/>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anchor="ctr"/>
              <a:lstStyle/>
              <a:p>
                <a:r>
                  <a:rPr lang="en-US" altLang="zh-CN" sz="1800">
                    <a:solidFill>
                      <a:srgbClr val="0000FF"/>
                    </a:solidFill>
                    <a:latin typeface="Consolas" pitchFamily="49" charset="0"/>
                    <a:cs typeface="Consolas" pitchFamily="49" charset="0"/>
                  </a:rPr>
                  <a:t>∧</a:t>
                </a:r>
              </a:p>
            </p:txBody>
          </p:sp>
        </p:grpSp>
        <p:sp>
          <p:nvSpPr>
            <p:cNvPr id="63" name="Line 84">
              <a:extLst>
                <a:ext uri="{FF2B5EF4-FFF2-40B4-BE49-F238E27FC236}">
                  <a16:creationId xmlns:a16="http://schemas.microsoft.com/office/drawing/2014/main" id="{3670622B-D86D-BFA9-F843-C7F054519AE6}"/>
                </a:ext>
              </a:extLst>
            </p:cNvPr>
            <p:cNvSpPr>
              <a:spLocks noChangeShapeType="1"/>
            </p:cNvSpPr>
            <p:nvPr/>
          </p:nvSpPr>
          <p:spPr bwMode="auto">
            <a:xfrm>
              <a:off x="7608888" y="3063875"/>
              <a:ext cx="360362" cy="0"/>
            </a:xfrm>
            <a:prstGeom prst="line">
              <a:avLst/>
            </a:prstGeom>
            <a:noFill/>
            <a:ln w="28575">
              <a:solidFill>
                <a:srgbClr val="3333FF"/>
              </a:solidFill>
              <a:round/>
              <a:headEnd/>
              <a:tailEnd type="triangle" w="med" len="lg"/>
            </a:ln>
          </p:spPr>
          <p:txBody>
            <a:bodyPr wrap="none"/>
            <a:lstStyle/>
            <a:p>
              <a:endParaRPr lang="zh-CN" altLang="en-US" sz="1800">
                <a:latin typeface="Consolas" pitchFamily="49" charset="0"/>
                <a:cs typeface="Consolas" pitchFamily="49" charset="0"/>
              </a:endParaRPr>
            </a:p>
          </p:txBody>
        </p:sp>
      </p:grpSp>
      <p:sp>
        <p:nvSpPr>
          <p:cNvPr id="106" name="Text Box 85">
            <a:extLst>
              <a:ext uri="{FF2B5EF4-FFF2-40B4-BE49-F238E27FC236}">
                <a16:creationId xmlns:a16="http://schemas.microsoft.com/office/drawing/2014/main" id="{2374844F-B2A7-EE52-9AA7-27EFD93CF66D}"/>
              </a:ext>
            </a:extLst>
          </p:cNvPr>
          <p:cNvSpPr txBox="1">
            <a:spLocks noChangeArrowheads="1"/>
          </p:cNvSpPr>
          <p:nvPr/>
        </p:nvSpPr>
        <p:spPr bwMode="auto">
          <a:xfrm>
            <a:off x="983744" y="4973143"/>
            <a:ext cx="2376488" cy="400110"/>
          </a:xfrm>
          <a:prstGeom prst="rect">
            <a:avLst/>
          </a:prstGeom>
          <a:noFill/>
          <a:ln w="28575" algn="ctr">
            <a:noFill/>
            <a:miter lim="800000"/>
            <a:headEnd/>
            <a:tailEnd type="none" w="med" len="lg"/>
          </a:ln>
        </p:spPr>
        <p:txBody>
          <a:bodyPr>
            <a:spAutoFit/>
          </a:bodyPr>
          <a:lstStyle/>
          <a:p>
            <a:pPr>
              <a:spcBef>
                <a:spcPct val="50000"/>
              </a:spcBef>
            </a:pPr>
            <a:r>
              <a:rPr lang="en-US" altLang="zh-CN" sz="2000" i="1" dirty="0">
                <a:solidFill>
                  <a:srgbClr val="CC00CC"/>
                </a:solidFill>
                <a:latin typeface="Consolas" pitchFamily="49" charset="0"/>
                <a:ea typeface="楷体" pitchFamily="49" charset="-122"/>
                <a:cs typeface="Consolas" pitchFamily="49" charset="0"/>
              </a:rPr>
              <a:t>v</a:t>
            </a:r>
            <a:r>
              <a:rPr lang="en-US" altLang="zh-CN" sz="2000" dirty="0">
                <a:solidFill>
                  <a:srgbClr val="CC00CC"/>
                </a:solidFill>
                <a:latin typeface="Consolas" pitchFamily="49" charset="0"/>
                <a:ea typeface="楷体" pitchFamily="49" charset="-122"/>
                <a:cs typeface="Consolas" pitchFamily="49" charset="0"/>
              </a:rPr>
              <a:t>=2</a:t>
            </a:r>
            <a:r>
              <a:rPr lang="zh-CN" altLang="en-US" sz="2000" dirty="0">
                <a:solidFill>
                  <a:srgbClr val="CC00CC"/>
                </a:solidFill>
                <a:latin typeface="Consolas" pitchFamily="49" charset="0"/>
                <a:ea typeface="楷体" pitchFamily="49" charset="-122"/>
                <a:cs typeface="Consolas" pitchFamily="49" charset="0"/>
              </a:rPr>
              <a:t>的</a:t>
            </a:r>
            <a:r>
              <a:rPr lang="en-US" altLang="zh-CN" sz="2000" dirty="0" err="1">
                <a:solidFill>
                  <a:srgbClr val="CC00CC"/>
                </a:solidFill>
                <a:latin typeface="Consolas" pitchFamily="49" charset="0"/>
                <a:ea typeface="楷体" pitchFamily="49" charset="-122"/>
                <a:cs typeface="Consolas" pitchFamily="49" charset="0"/>
              </a:rPr>
              <a:t>DFS</a:t>
            </a:r>
            <a:r>
              <a:rPr lang="zh-CN" altLang="en-US" sz="2000" dirty="0">
                <a:solidFill>
                  <a:srgbClr val="CC00CC"/>
                </a:solidFill>
                <a:latin typeface="Consolas" pitchFamily="49" charset="0"/>
                <a:ea typeface="楷体" pitchFamily="49" charset="-122"/>
                <a:cs typeface="Consolas" pitchFamily="49" charset="0"/>
              </a:rPr>
              <a:t>序列：</a:t>
            </a:r>
          </a:p>
        </p:txBody>
      </p:sp>
      <p:sp>
        <p:nvSpPr>
          <p:cNvPr id="107" name="Text Box 86">
            <a:extLst>
              <a:ext uri="{FF2B5EF4-FFF2-40B4-BE49-F238E27FC236}">
                <a16:creationId xmlns:a16="http://schemas.microsoft.com/office/drawing/2014/main" id="{512D2236-D6E7-AD2E-4177-4E16871C1614}"/>
              </a:ext>
            </a:extLst>
          </p:cNvPr>
          <p:cNvSpPr txBox="1">
            <a:spLocks noChangeArrowheads="1"/>
          </p:cNvSpPr>
          <p:nvPr/>
        </p:nvSpPr>
        <p:spPr bwMode="auto">
          <a:xfrm>
            <a:off x="1744183" y="5473209"/>
            <a:ext cx="288925" cy="307777"/>
          </a:xfrm>
          <a:prstGeom prst="rect">
            <a:avLst/>
          </a:prstGeom>
          <a:noFill/>
          <a:ln w="28575" algn="ctr">
            <a:noFill/>
            <a:miter lim="800000"/>
            <a:headEnd/>
            <a:tailEnd type="none" w="med" len="lg"/>
          </a:ln>
        </p:spPr>
        <p:txBody>
          <a:bodyPr lIns="0" tIns="0" rIns="0" bIns="0">
            <a:spAutoFit/>
          </a:bodyPr>
          <a:lstStyle/>
          <a:p>
            <a:pPr>
              <a:spcBef>
                <a:spcPct val="50000"/>
              </a:spcBef>
            </a:pPr>
            <a:r>
              <a:rPr lang="en-US" altLang="zh-CN" sz="2000" dirty="0">
                <a:latin typeface="Consolas" pitchFamily="49" charset="0"/>
                <a:cs typeface="Consolas" pitchFamily="49" charset="0"/>
              </a:rPr>
              <a:t>2</a:t>
            </a:r>
          </a:p>
        </p:txBody>
      </p:sp>
      <p:sp>
        <p:nvSpPr>
          <p:cNvPr id="108" name="Text Box 87">
            <a:extLst>
              <a:ext uri="{FF2B5EF4-FFF2-40B4-BE49-F238E27FC236}">
                <a16:creationId xmlns:a16="http://schemas.microsoft.com/office/drawing/2014/main" id="{8DDF7BD9-109A-5A44-C065-8FAE08954360}"/>
              </a:ext>
            </a:extLst>
          </p:cNvPr>
          <p:cNvSpPr txBox="1">
            <a:spLocks noChangeArrowheads="1"/>
          </p:cNvSpPr>
          <p:nvPr/>
        </p:nvSpPr>
        <p:spPr bwMode="auto">
          <a:xfrm>
            <a:off x="2463321" y="5473209"/>
            <a:ext cx="288925" cy="307777"/>
          </a:xfrm>
          <a:prstGeom prst="rect">
            <a:avLst/>
          </a:prstGeom>
          <a:noFill/>
          <a:ln w="28575" algn="ctr">
            <a:noFill/>
            <a:miter lim="800000"/>
            <a:headEnd/>
            <a:tailEnd type="none" w="med" len="lg"/>
          </a:ln>
        </p:spPr>
        <p:txBody>
          <a:bodyPr lIns="0" tIns="0" rIns="0" bIns="0">
            <a:spAutoFit/>
          </a:bodyPr>
          <a:lstStyle/>
          <a:p>
            <a:pPr>
              <a:spcBef>
                <a:spcPct val="50000"/>
              </a:spcBef>
            </a:pPr>
            <a:r>
              <a:rPr lang="en-US" altLang="zh-CN" sz="2000" dirty="0">
                <a:latin typeface="Consolas" pitchFamily="49" charset="0"/>
                <a:cs typeface="Consolas" pitchFamily="49" charset="0"/>
              </a:rPr>
              <a:t>1</a:t>
            </a:r>
          </a:p>
        </p:txBody>
      </p:sp>
      <p:sp>
        <p:nvSpPr>
          <p:cNvPr id="109" name="Text Box 88">
            <a:extLst>
              <a:ext uri="{FF2B5EF4-FFF2-40B4-BE49-F238E27FC236}">
                <a16:creationId xmlns:a16="http://schemas.microsoft.com/office/drawing/2014/main" id="{8BAFCCAB-12B0-E735-C89F-0E93ED8ADBF9}"/>
              </a:ext>
            </a:extLst>
          </p:cNvPr>
          <p:cNvSpPr txBox="1">
            <a:spLocks noChangeArrowheads="1"/>
          </p:cNvSpPr>
          <p:nvPr/>
        </p:nvSpPr>
        <p:spPr bwMode="auto">
          <a:xfrm>
            <a:off x="3112608" y="5473209"/>
            <a:ext cx="288925" cy="307777"/>
          </a:xfrm>
          <a:prstGeom prst="rect">
            <a:avLst/>
          </a:prstGeom>
          <a:noFill/>
          <a:ln w="28575" algn="ctr">
            <a:noFill/>
            <a:miter lim="800000"/>
            <a:headEnd/>
            <a:tailEnd type="none" w="med" len="lg"/>
          </a:ln>
        </p:spPr>
        <p:txBody>
          <a:bodyPr lIns="0" tIns="0" rIns="0" bIns="0">
            <a:spAutoFit/>
          </a:bodyPr>
          <a:lstStyle/>
          <a:p>
            <a:pPr>
              <a:spcBef>
                <a:spcPct val="50000"/>
              </a:spcBef>
            </a:pPr>
            <a:r>
              <a:rPr lang="en-US" altLang="zh-CN" sz="2000" dirty="0">
                <a:latin typeface="Consolas" pitchFamily="49" charset="0"/>
                <a:cs typeface="Consolas" pitchFamily="49" charset="0"/>
              </a:rPr>
              <a:t>0</a:t>
            </a:r>
          </a:p>
        </p:txBody>
      </p:sp>
      <p:sp>
        <p:nvSpPr>
          <p:cNvPr id="110" name="Text Box 89">
            <a:extLst>
              <a:ext uri="{FF2B5EF4-FFF2-40B4-BE49-F238E27FC236}">
                <a16:creationId xmlns:a16="http://schemas.microsoft.com/office/drawing/2014/main" id="{E4825C31-52BE-1039-5700-F2C498E206C8}"/>
              </a:ext>
            </a:extLst>
          </p:cNvPr>
          <p:cNvSpPr txBox="1">
            <a:spLocks noChangeArrowheads="1"/>
          </p:cNvSpPr>
          <p:nvPr/>
        </p:nvSpPr>
        <p:spPr bwMode="auto">
          <a:xfrm>
            <a:off x="3831746" y="5473209"/>
            <a:ext cx="288925" cy="307777"/>
          </a:xfrm>
          <a:prstGeom prst="rect">
            <a:avLst/>
          </a:prstGeom>
          <a:noFill/>
          <a:ln w="28575" algn="ctr">
            <a:noFill/>
            <a:miter lim="800000"/>
            <a:headEnd/>
            <a:tailEnd type="none" w="med" len="lg"/>
          </a:ln>
        </p:spPr>
        <p:txBody>
          <a:bodyPr lIns="0" tIns="0" rIns="0" bIns="0">
            <a:spAutoFit/>
          </a:bodyPr>
          <a:lstStyle/>
          <a:p>
            <a:pPr>
              <a:spcBef>
                <a:spcPct val="50000"/>
              </a:spcBef>
            </a:pPr>
            <a:r>
              <a:rPr lang="en-US" altLang="zh-CN" sz="2000" dirty="0">
                <a:latin typeface="Consolas" pitchFamily="49" charset="0"/>
                <a:cs typeface="Consolas" pitchFamily="49" charset="0"/>
              </a:rPr>
              <a:t>3</a:t>
            </a:r>
          </a:p>
        </p:txBody>
      </p:sp>
      <p:sp>
        <p:nvSpPr>
          <p:cNvPr id="111" name="Text Box 90">
            <a:extLst>
              <a:ext uri="{FF2B5EF4-FFF2-40B4-BE49-F238E27FC236}">
                <a16:creationId xmlns:a16="http://schemas.microsoft.com/office/drawing/2014/main" id="{17AC0604-2E81-46DB-B599-53FDF3D6E994}"/>
              </a:ext>
            </a:extLst>
          </p:cNvPr>
          <p:cNvSpPr txBox="1">
            <a:spLocks noChangeArrowheads="1"/>
          </p:cNvSpPr>
          <p:nvPr/>
        </p:nvSpPr>
        <p:spPr bwMode="auto">
          <a:xfrm>
            <a:off x="4481033" y="5473209"/>
            <a:ext cx="288925" cy="307777"/>
          </a:xfrm>
          <a:prstGeom prst="rect">
            <a:avLst/>
          </a:prstGeom>
          <a:noFill/>
          <a:ln w="28575" algn="ctr">
            <a:noFill/>
            <a:miter lim="800000"/>
            <a:headEnd/>
            <a:tailEnd type="none" w="med" len="lg"/>
          </a:ln>
        </p:spPr>
        <p:txBody>
          <a:bodyPr lIns="0" tIns="0" rIns="0" bIns="0">
            <a:spAutoFit/>
          </a:bodyPr>
          <a:lstStyle/>
          <a:p>
            <a:pPr>
              <a:spcBef>
                <a:spcPct val="50000"/>
              </a:spcBef>
            </a:pPr>
            <a:r>
              <a:rPr lang="en-US" altLang="zh-CN" sz="2000">
                <a:latin typeface="Consolas" pitchFamily="49" charset="0"/>
                <a:cs typeface="Consolas" pitchFamily="49" charset="0"/>
              </a:rPr>
              <a:t>4</a:t>
            </a:r>
          </a:p>
        </p:txBody>
      </p:sp>
      <p:sp>
        <p:nvSpPr>
          <p:cNvPr id="112" name="Text Box 91">
            <a:extLst>
              <a:ext uri="{FF2B5EF4-FFF2-40B4-BE49-F238E27FC236}">
                <a16:creationId xmlns:a16="http://schemas.microsoft.com/office/drawing/2014/main" id="{DC854DDF-D763-48C8-4EB6-3D66DE6FE2DD}"/>
              </a:ext>
            </a:extLst>
          </p:cNvPr>
          <p:cNvSpPr txBox="1">
            <a:spLocks noChangeArrowheads="1"/>
          </p:cNvSpPr>
          <p:nvPr/>
        </p:nvSpPr>
        <p:spPr bwMode="auto">
          <a:xfrm>
            <a:off x="6148405" y="4941819"/>
            <a:ext cx="2376487" cy="307777"/>
          </a:xfrm>
          <a:prstGeom prst="rect">
            <a:avLst/>
          </a:prstGeom>
          <a:noFill/>
          <a:ln w="28575" algn="ctr">
            <a:noFill/>
            <a:miter lim="800000"/>
            <a:headEnd/>
            <a:tailEnd type="none" w="med" len="lg"/>
          </a:ln>
        </p:spPr>
        <p:txBody>
          <a:bodyPr lIns="0" tIns="0" rIns="0" bIns="0">
            <a:spAutoFit/>
          </a:bodyPr>
          <a:lstStyle/>
          <a:p>
            <a:pPr>
              <a:spcBef>
                <a:spcPct val="50000"/>
              </a:spcBef>
            </a:pPr>
            <a:r>
              <a:rPr lang="zh-CN" altLang="en-US" sz="2000" dirty="0">
                <a:solidFill>
                  <a:srgbClr val="FF3300"/>
                </a:solidFill>
                <a:latin typeface="仿宋" pitchFamily="49" charset="-122"/>
                <a:ea typeface="仿宋" pitchFamily="49" charset="-122"/>
                <a:cs typeface="Consolas" pitchFamily="49" charset="0"/>
              </a:rPr>
              <a:t>遍历过程结束</a:t>
            </a:r>
          </a:p>
        </p:txBody>
      </p:sp>
      <p:sp>
        <p:nvSpPr>
          <p:cNvPr id="114" name="Freeform 12">
            <a:extLst>
              <a:ext uri="{FF2B5EF4-FFF2-40B4-BE49-F238E27FC236}">
                <a16:creationId xmlns:a16="http://schemas.microsoft.com/office/drawing/2014/main" id="{A70276FA-55EE-5297-90E4-837157E277AD}"/>
              </a:ext>
            </a:extLst>
          </p:cNvPr>
          <p:cNvSpPr>
            <a:spLocks/>
          </p:cNvSpPr>
          <p:nvPr/>
        </p:nvSpPr>
        <p:spPr bwMode="auto">
          <a:xfrm>
            <a:off x="1864820" y="2762185"/>
            <a:ext cx="630238" cy="588963"/>
          </a:xfrm>
          <a:custGeom>
            <a:avLst/>
            <a:gdLst>
              <a:gd name="T0" fmla="*/ 0 w 397"/>
              <a:gd name="T1" fmla="*/ 371 h 371"/>
              <a:gd name="T2" fmla="*/ 397 w 397"/>
              <a:gd name="T3" fmla="*/ 0 h 371"/>
              <a:gd name="T4" fmla="*/ 0 60000 65536"/>
              <a:gd name="T5" fmla="*/ 0 60000 65536"/>
              <a:gd name="T6" fmla="*/ 0 w 397"/>
              <a:gd name="T7" fmla="*/ 0 h 371"/>
              <a:gd name="T8" fmla="*/ 397 w 397"/>
              <a:gd name="T9" fmla="*/ 371 h 371"/>
            </a:gdLst>
            <a:ahLst/>
            <a:cxnLst>
              <a:cxn ang="T4">
                <a:pos x="T0" y="T1"/>
              </a:cxn>
              <a:cxn ang="T5">
                <a:pos x="T2" y="T3"/>
              </a:cxn>
            </a:cxnLst>
            <a:rect l="T6" t="T7" r="T8" b="T9"/>
            <a:pathLst>
              <a:path w="397" h="371">
                <a:moveTo>
                  <a:pt x="0" y="371"/>
                </a:moveTo>
                <a:lnTo>
                  <a:pt x="397" y="0"/>
                </a:lnTo>
              </a:path>
            </a:pathLst>
          </a:custGeom>
          <a:noFill/>
          <a:ln w="28575">
            <a:solidFill>
              <a:srgbClr val="FF00FF"/>
            </a:solidFill>
            <a:round/>
            <a:headEnd/>
            <a:tailEnd type="arrow" w="med" len="lg"/>
          </a:ln>
        </p:spPr>
        <p:txBody>
          <a:bodyPr wrap="none"/>
          <a:lstStyle/>
          <a:p>
            <a:endParaRPr lang="zh-CN" altLang="en-US" sz="1800">
              <a:latin typeface="Consolas" pitchFamily="49" charset="0"/>
              <a:cs typeface="Consolas" pitchFamily="49" charset="0"/>
            </a:endParaRPr>
          </a:p>
        </p:txBody>
      </p:sp>
      <p:sp>
        <p:nvSpPr>
          <p:cNvPr id="115" name="Line 17">
            <a:extLst>
              <a:ext uri="{FF2B5EF4-FFF2-40B4-BE49-F238E27FC236}">
                <a16:creationId xmlns:a16="http://schemas.microsoft.com/office/drawing/2014/main" id="{A4365DDA-784D-F3BC-3DDD-67C41FFE8C08}"/>
              </a:ext>
            </a:extLst>
          </p:cNvPr>
          <p:cNvSpPr>
            <a:spLocks noChangeShapeType="1"/>
          </p:cNvSpPr>
          <p:nvPr/>
        </p:nvSpPr>
        <p:spPr bwMode="auto">
          <a:xfrm>
            <a:off x="3033228" y="2774885"/>
            <a:ext cx="647700" cy="576263"/>
          </a:xfrm>
          <a:prstGeom prst="line">
            <a:avLst/>
          </a:prstGeom>
          <a:noFill/>
          <a:ln w="28575">
            <a:solidFill>
              <a:srgbClr val="FF00FF"/>
            </a:solidFill>
            <a:round/>
            <a:headEnd/>
            <a:tailEnd type="arrow" w="med" len="lg"/>
          </a:ln>
        </p:spPr>
        <p:txBody>
          <a:bodyPr wrap="none"/>
          <a:lstStyle/>
          <a:p>
            <a:endParaRPr lang="zh-CN" altLang="en-US" sz="1800">
              <a:latin typeface="Consolas" pitchFamily="49" charset="0"/>
              <a:cs typeface="Consolas" pitchFamily="49" charset="0"/>
            </a:endParaRPr>
          </a:p>
        </p:txBody>
      </p:sp>
      <p:sp>
        <p:nvSpPr>
          <p:cNvPr id="116" name="Line 14">
            <a:extLst>
              <a:ext uri="{FF2B5EF4-FFF2-40B4-BE49-F238E27FC236}">
                <a16:creationId xmlns:a16="http://schemas.microsoft.com/office/drawing/2014/main" id="{1554123C-7D72-A5C0-B663-864BF13E23C0}"/>
              </a:ext>
            </a:extLst>
          </p:cNvPr>
          <p:cNvSpPr>
            <a:spLocks noChangeShapeType="1"/>
          </p:cNvSpPr>
          <p:nvPr/>
        </p:nvSpPr>
        <p:spPr bwMode="auto">
          <a:xfrm>
            <a:off x="3007828" y="3548003"/>
            <a:ext cx="503238" cy="0"/>
          </a:xfrm>
          <a:prstGeom prst="line">
            <a:avLst/>
          </a:prstGeom>
          <a:noFill/>
          <a:ln w="28575">
            <a:solidFill>
              <a:srgbClr val="FF00FF"/>
            </a:solidFill>
            <a:round/>
            <a:headEnd type="arrow"/>
            <a:tailEnd type="none" w="med" len="lg"/>
          </a:ln>
        </p:spPr>
        <p:txBody>
          <a:bodyPr wrap="none"/>
          <a:lstStyle/>
          <a:p>
            <a:endParaRPr lang="zh-CN" altLang="en-US" sz="1800">
              <a:latin typeface="Consolas" pitchFamily="49" charset="0"/>
              <a:cs typeface="Consolas" pitchFamily="49" charset="0"/>
            </a:endParaRPr>
          </a:p>
        </p:txBody>
      </p:sp>
      <p:sp>
        <p:nvSpPr>
          <p:cNvPr id="117" name="Line 19">
            <a:extLst>
              <a:ext uri="{FF2B5EF4-FFF2-40B4-BE49-F238E27FC236}">
                <a16:creationId xmlns:a16="http://schemas.microsoft.com/office/drawing/2014/main" id="{1A7F7110-6871-0E24-7A9C-BFE3928525FD}"/>
              </a:ext>
            </a:extLst>
          </p:cNvPr>
          <p:cNvSpPr>
            <a:spLocks noChangeShapeType="1"/>
          </p:cNvSpPr>
          <p:nvPr/>
        </p:nvSpPr>
        <p:spPr bwMode="auto">
          <a:xfrm>
            <a:off x="2831614" y="3867093"/>
            <a:ext cx="0" cy="431800"/>
          </a:xfrm>
          <a:prstGeom prst="line">
            <a:avLst/>
          </a:prstGeom>
          <a:noFill/>
          <a:ln w="28575">
            <a:solidFill>
              <a:srgbClr val="FF00FF"/>
            </a:solidFill>
            <a:round/>
            <a:headEnd/>
            <a:tailEnd type="arrow" w="med" len="lg"/>
          </a:ln>
        </p:spPr>
        <p:txBody>
          <a:bodyPr wrap="none"/>
          <a:lstStyle/>
          <a:p>
            <a:endParaRPr lang="zh-CN" altLang="en-US" sz="1800">
              <a:latin typeface="Consolas" pitchFamily="49" charset="0"/>
              <a:cs typeface="Consolas" pitchFamily="49" charset="0"/>
            </a:endParaRPr>
          </a:p>
        </p:txBody>
      </p:sp>
      <p:sp>
        <p:nvSpPr>
          <p:cNvPr id="118" name="Line 19">
            <a:extLst>
              <a:ext uri="{FF2B5EF4-FFF2-40B4-BE49-F238E27FC236}">
                <a16:creationId xmlns:a16="http://schemas.microsoft.com/office/drawing/2014/main" id="{1C1F580B-2991-01C3-F960-EE5514AC57DB}"/>
              </a:ext>
            </a:extLst>
          </p:cNvPr>
          <p:cNvSpPr>
            <a:spLocks noChangeShapeType="1"/>
          </p:cNvSpPr>
          <p:nvPr/>
        </p:nvSpPr>
        <p:spPr bwMode="auto">
          <a:xfrm>
            <a:off x="2688738" y="3854393"/>
            <a:ext cx="0" cy="431800"/>
          </a:xfrm>
          <a:prstGeom prst="line">
            <a:avLst/>
          </a:prstGeom>
          <a:noFill/>
          <a:ln w="28575">
            <a:solidFill>
              <a:srgbClr val="FF0000"/>
            </a:solidFill>
            <a:prstDash val="sysDash"/>
            <a:round/>
            <a:headEnd type="arrow"/>
            <a:tailEnd type="none" w="med" len="lg"/>
          </a:ln>
        </p:spPr>
        <p:txBody>
          <a:bodyPr wrap="none"/>
          <a:lstStyle/>
          <a:p>
            <a:endParaRPr lang="zh-CN" altLang="en-US" sz="1800">
              <a:latin typeface="Consolas" pitchFamily="49" charset="0"/>
              <a:cs typeface="Consolas" pitchFamily="49" charset="0"/>
            </a:endParaRPr>
          </a:p>
        </p:txBody>
      </p:sp>
      <p:sp>
        <p:nvSpPr>
          <p:cNvPr id="119" name="Line 14">
            <a:extLst>
              <a:ext uri="{FF2B5EF4-FFF2-40B4-BE49-F238E27FC236}">
                <a16:creationId xmlns:a16="http://schemas.microsoft.com/office/drawing/2014/main" id="{93938C7B-DD6B-837B-0F03-401168B34816}"/>
              </a:ext>
            </a:extLst>
          </p:cNvPr>
          <p:cNvSpPr>
            <a:spLocks noChangeShapeType="1"/>
          </p:cNvSpPr>
          <p:nvPr/>
        </p:nvSpPr>
        <p:spPr bwMode="auto">
          <a:xfrm>
            <a:off x="2979256" y="3703579"/>
            <a:ext cx="503238" cy="0"/>
          </a:xfrm>
          <a:prstGeom prst="line">
            <a:avLst/>
          </a:prstGeom>
          <a:noFill/>
          <a:ln w="28575">
            <a:solidFill>
              <a:srgbClr val="FF0000"/>
            </a:solidFill>
            <a:prstDash val="sysDash"/>
            <a:round/>
            <a:headEnd/>
            <a:tailEnd type="arrow" w="med" len="lg"/>
          </a:ln>
        </p:spPr>
        <p:txBody>
          <a:bodyPr wrap="none"/>
          <a:lstStyle/>
          <a:p>
            <a:endParaRPr lang="zh-CN" altLang="en-US" sz="1800">
              <a:latin typeface="Consolas" pitchFamily="49" charset="0"/>
              <a:cs typeface="Consolas" pitchFamily="49" charset="0"/>
            </a:endParaRPr>
          </a:p>
        </p:txBody>
      </p:sp>
      <p:sp>
        <p:nvSpPr>
          <p:cNvPr id="120" name="Line 17">
            <a:extLst>
              <a:ext uri="{FF2B5EF4-FFF2-40B4-BE49-F238E27FC236}">
                <a16:creationId xmlns:a16="http://schemas.microsoft.com/office/drawing/2014/main" id="{99AF94B3-C137-0999-87A3-F4B163A3EB92}"/>
              </a:ext>
            </a:extLst>
          </p:cNvPr>
          <p:cNvSpPr>
            <a:spLocks noChangeShapeType="1"/>
          </p:cNvSpPr>
          <p:nvPr/>
        </p:nvSpPr>
        <p:spPr bwMode="auto">
          <a:xfrm>
            <a:off x="2949090" y="2943162"/>
            <a:ext cx="584204" cy="533404"/>
          </a:xfrm>
          <a:prstGeom prst="line">
            <a:avLst/>
          </a:prstGeom>
          <a:noFill/>
          <a:ln w="28575">
            <a:solidFill>
              <a:srgbClr val="FF0000"/>
            </a:solidFill>
            <a:prstDash val="sysDash"/>
            <a:round/>
            <a:headEnd type="arrow"/>
            <a:tailEnd type="none" w="med" len="lg"/>
          </a:ln>
        </p:spPr>
        <p:txBody>
          <a:bodyPr wrap="none"/>
          <a:lstStyle/>
          <a:p>
            <a:endParaRPr lang="zh-CN" altLang="en-US" sz="1800">
              <a:latin typeface="Consolas" pitchFamily="49" charset="0"/>
              <a:cs typeface="Consolas" pitchFamily="49" charset="0"/>
            </a:endParaRPr>
          </a:p>
        </p:txBody>
      </p:sp>
      <p:sp>
        <p:nvSpPr>
          <p:cNvPr id="121" name="Freeform 12">
            <a:extLst>
              <a:ext uri="{FF2B5EF4-FFF2-40B4-BE49-F238E27FC236}">
                <a16:creationId xmlns:a16="http://schemas.microsoft.com/office/drawing/2014/main" id="{51979222-02CC-CA91-A969-502AC864C4A2}"/>
              </a:ext>
            </a:extLst>
          </p:cNvPr>
          <p:cNvSpPr>
            <a:spLocks/>
          </p:cNvSpPr>
          <p:nvPr/>
        </p:nvSpPr>
        <p:spPr bwMode="auto">
          <a:xfrm>
            <a:off x="1956896" y="2905061"/>
            <a:ext cx="630238" cy="588963"/>
          </a:xfrm>
          <a:custGeom>
            <a:avLst/>
            <a:gdLst>
              <a:gd name="T0" fmla="*/ 0 w 397"/>
              <a:gd name="T1" fmla="*/ 371 h 371"/>
              <a:gd name="T2" fmla="*/ 397 w 397"/>
              <a:gd name="T3" fmla="*/ 0 h 371"/>
              <a:gd name="T4" fmla="*/ 0 60000 65536"/>
              <a:gd name="T5" fmla="*/ 0 60000 65536"/>
              <a:gd name="T6" fmla="*/ 0 w 397"/>
              <a:gd name="T7" fmla="*/ 0 h 371"/>
              <a:gd name="T8" fmla="*/ 397 w 397"/>
              <a:gd name="T9" fmla="*/ 371 h 371"/>
            </a:gdLst>
            <a:ahLst/>
            <a:cxnLst>
              <a:cxn ang="T4">
                <a:pos x="T0" y="T1"/>
              </a:cxn>
              <a:cxn ang="T5">
                <a:pos x="T2" y="T3"/>
              </a:cxn>
            </a:cxnLst>
            <a:rect l="T6" t="T7" r="T8" b="T9"/>
            <a:pathLst>
              <a:path w="397" h="371">
                <a:moveTo>
                  <a:pt x="0" y="371"/>
                </a:moveTo>
                <a:lnTo>
                  <a:pt x="397" y="0"/>
                </a:lnTo>
              </a:path>
            </a:pathLst>
          </a:custGeom>
          <a:noFill/>
          <a:ln w="28575">
            <a:solidFill>
              <a:srgbClr val="FF0000"/>
            </a:solidFill>
            <a:prstDash val="sysDash"/>
            <a:round/>
            <a:headEnd type="arrow"/>
            <a:tailEnd type="none" w="med" len="lg"/>
          </a:ln>
        </p:spPr>
        <p:txBody>
          <a:bodyPr wrap="none"/>
          <a:lstStyle/>
          <a:p>
            <a:endParaRPr lang="zh-CN" altLang="en-US" sz="1800">
              <a:latin typeface="Consolas" pitchFamily="49" charset="0"/>
              <a:cs typeface="Consolas" pitchFamily="49" charset="0"/>
            </a:endParaRPr>
          </a:p>
        </p:txBody>
      </p:sp>
      <p:sp>
        <p:nvSpPr>
          <p:cNvPr id="122" name="Oval 7">
            <a:extLst>
              <a:ext uri="{FF2B5EF4-FFF2-40B4-BE49-F238E27FC236}">
                <a16:creationId xmlns:a16="http://schemas.microsoft.com/office/drawing/2014/main" id="{04470E5B-24C0-08C7-D2B0-F55A2157CA7A}"/>
              </a:ext>
            </a:extLst>
          </p:cNvPr>
          <p:cNvSpPr>
            <a:spLocks noChangeArrowheads="1"/>
          </p:cNvSpPr>
          <p:nvPr/>
        </p:nvSpPr>
        <p:spPr bwMode="auto">
          <a:xfrm>
            <a:off x="2536346" y="3411471"/>
            <a:ext cx="431800" cy="431800"/>
          </a:xfrm>
          <a:prstGeom prst="ellipse">
            <a:avLst/>
          </a:prstGeom>
          <a:ln>
            <a:headEnd/>
            <a:tailEnd type="none" w="med" len="lg"/>
          </a:ln>
        </p:spPr>
        <p:style>
          <a:lnRef idx="1">
            <a:schemeClr val="accent6"/>
          </a:lnRef>
          <a:fillRef idx="3">
            <a:schemeClr val="accent6"/>
          </a:fillRef>
          <a:effectRef idx="2">
            <a:schemeClr val="accent6"/>
          </a:effectRef>
          <a:fontRef idx="minor">
            <a:schemeClr val="lt1"/>
          </a:fontRef>
        </p:style>
        <p:txBody>
          <a:bodyPr wrap="none" anchor="ctr"/>
          <a:lstStyle/>
          <a:p>
            <a:r>
              <a:rPr lang="en-US" altLang="zh-CN" sz="1800">
                <a:solidFill>
                  <a:srgbClr val="0000FF"/>
                </a:solidFill>
                <a:latin typeface="Consolas" pitchFamily="49" charset="0"/>
                <a:cs typeface="Consolas" pitchFamily="49" charset="0"/>
              </a:rPr>
              <a:t>3</a:t>
            </a:r>
          </a:p>
        </p:txBody>
      </p:sp>
      <p:sp>
        <p:nvSpPr>
          <p:cNvPr id="123" name="Oval 8">
            <a:extLst>
              <a:ext uri="{FF2B5EF4-FFF2-40B4-BE49-F238E27FC236}">
                <a16:creationId xmlns:a16="http://schemas.microsoft.com/office/drawing/2014/main" id="{ADE9E0E1-C765-03FA-AF06-A82ED8B2A273}"/>
              </a:ext>
            </a:extLst>
          </p:cNvPr>
          <p:cNvSpPr>
            <a:spLocks noChangeArrowheads="1"/>
          </p:cNvSpPr>
          <p:nvPr/>
        </p:nvSpPr>
        <p:spPr bwMode="auto">
          <a:xfrm>
            <a:off x="1599721" y="3411471"/>
            <a:ext cx="431800" cy="431800"/>
          </a:xfrm>
          <a:prstGeom prst="ellipse">
            <a:avLst/>
          </a:prstGeom>
          <a:ln>
            <a:headEnd/>
            <a:tailEnd type="none" w="med" len="lg"/>
          </a:ln>
        </p:spPr>
        <p:style>
          <a:lnRef idx="1">
            <a:schemeClr val="accent6"/>
          </a:lnRef>
          <a:fillRef idx="3">
            <a:schemeClr val="accent6"/>
          </a:fillRef>
          <a:effectRef idx="2">
            <a:schemeClr val="accent6"/>
          </a:effectRef>
          <a:fontRef idx="minor">
            <a:schemeClr val="lt1"/>
          </a:fontRef>
        </p:style>
        <p:txBody>
          <a:bodyPr wrap="none" anchor="ctr"/>
          <a:lstStyle/>
          <a:p>
            <a:r>
              <a:rPr lang="en-US" altLang="zh-CN" sz="1800">
                <a:solidFill>
                  <a:srgbClr val="0000FF"/>
                </a:solidFill>
                <a:latin typeface="Consolas" pitchFamily="49" charset="0"/>
                <a:cs typeface="Consolas" pitchFamily="49" charset="0"/>
              </a:rPr>
              <a:t>2</a:t>
            </a:r>
          </a:p>
        </p:txBody>
      </p:sp>
      <p:sp>
        <p:nvSpPr>
          <p:cNvPr id="124" name="Oval 9">
            <a:extLst>
              <a:ext uri="{FF2B5EF4-FFF2-40B4-BE49-F238E27FC236}">
                <a16:creationId xmlns:a16="http://schemas.microsoft.com/office/drawing/2014/main" id="{F0AB846D-4BA1-8D84-0443-731A4C3E8CB9}"/>
              </a:ext>
            </a:extLst>
          </p:cNvPr>
          <p:cNvSpPr>
            <a:spLocks noChangeArrowheads="1"/>
          </p:cNvSpPr>
          <p:nvPr/>
        </p:nvSpPr>
        <p:spPr bwMode="auto">
          <a:xfrm>
            <a:off x="3471384" y="3411471"/>
            <a:ext cx="431800" cy="431800"/>
          </a:xfrm>
          <a:prstGeom prst="ellipse">
            <a:avLst/>
          </a:prstGeom>
          <a:ln>
            <a:headEnd/>
            <a:tailEnd type="none" w="med" len="lg"/>
          </a:ln>
        </p:spPr>
        <p:style>
          <a:lnRef idx="1">
            <a:schemeClr val="accent6"/>
          </a:lnRef>
          <a:fillRef idx="3">
            <a:schemeClr val="accent6"/>
          </a:fillRef>
          <a:effectRef idx="2">
            <a:schemeClr val="accent6"/>
          </a:effectRef>
          <a:fontRef idx="minor">
            <a:schemeClr val="lt1"/>
          </a:fontRef>
        </p:style>
        <p:txBody>
          <a:bodyPr wrap="none" anchor="ctr"/>
          <a:lstStyle/>
          <a:p>
            <a:r>
              <a:rPr lang="en-US" altLang="zh-CN" sz="1800">
                <a:solidFill>
                  <a:srgbClr val="0000FF"/>
                </a:solidFill>
                <a:latin typeface="Consolas" pitchFamily="49" charset="0"/>
                <a:cs typeface="Consolas" pitchFamily="49" charset="0"/>
              </a:rPr>
              <a:t>0</a:t>
            </a:r>
          </a:p>
        </p:txBody>
      </p:sp>
      <p:sp>
        <p:nvSpPr>
          <p:cNvPr id="125" name="Oval 10">
            <a:extLst>
              <a:ext uri="{FF2B5EF4-FFF2-40B4-BE49-F238E27FC236}">
                <a16:creationId xmlns:a16="http://schemas.microsoft.com/office/drawing/2014/main" id="{A74F91A1-2BBF-76DB-E486-5CAF80AEBA28}"/>
              </a:ext>
            </a:extLst>
          </p:cNvPr>
          <p:cNvSpPr>
            <a:spLocks noChangeArrowheads="1"/>
          </p:cNvSpPr>
          <p:nvPr/>
        </p:nvSpPr>
        <p:spPr bwMode="auto">
          <a:xfrm>
            <a:off x="2536346" y="2547871"/>
            <a:ext cx="431800" cy="431800"/>
          </a:xfrm>
          <a:prstGeom prst="ellipse">
            <a:avLst/>
          </a:prstGeom>
          <a:ln>
            <a:headEnd/>
            <a:tailEnd type="none" w="med" len="lg"/>
          </a:ln>
        </p:spPr>
        <p:style>
          <a:lnRef idx="1">
            <a:schemeClr val="accent6"/>
          </a:lnRef>
          <a:fillRef idx="3">
            <a:schemeClr val="accent6"/>
          </a:fillRef>
          <a:effectRef idx="2">
            <a:schemeClr val="accent6"/>
          </a:effectRef>
          <a:fontRef idx="minor">
            <a:schemeClr val="lt1"/>
          </a:fontRef>
        </p:style>
        <p:txBody>
          <a:bodyPr wrap="none" anchor="ctr"/>
          <a:lstStyle/>
          <a:p>
            <a:r>
              <a:rPr lang="en-US" altLang="zh-CN" sz="1800" dirty="0">
                <a:solidFill>
                  <a:srgbClr val="0000FF"/>
                </a:solidFill>
                <a:latin typeface="Consolas" pitchFamily="49" charset="0"/>
                <a:cs typeface="Consolas" pitchFamily="49" charset="0"/>
              </a:rPr>
              <a:t>1</a:t>
            </a:r>
          </a:p>
        </p:txBody>
      </p:sp>
      <p:sp>
        <p:nvSpPr>
          <p:cNvPr id="126" name="Oval 11">
            <a:extLst>
              <a:ext uri="{FF2B5EF4-FFF2-40B4-BE49-F238E27FC236}">
                <a16:creationId xmlns:a16="http://schemas.microsoft.com/office/drawing/2014/main" id="{FE3111E0-1610-622A-EF9B-2EE0465B2A3B}"/>
              </a:ext>
            </a:extLst>
          </p:cNvPr>
          <p:cNvSpPr>
            <a:spLocks noChangeArrowheads="1"/>
          </p:cNvSpPr>
          <p:nvPr/>
        </p:nvSpPr>
        <p:spPr bwMode="auto">
          <a:xfrm>
            <a:off x="2536346" y="4275071"/>
            <a:ext cx="431800" cy="431800"/>
          </a:xfrm>
          <a:prstGeom prst="ellipse">
            <a:avLst/>
          </a:prstGeom>
          <a:ln>
            <a:headEnd/>
            <a:tailEnd type="none" w="med" len="lg"/>
          </a:ln>
        </p:spPr>
        <p:style>
          <a:lnRef idx="1">
            <a:schemeClr val="accent6"/>
          </a:lnRef>
          <a:fillRef idx="3">
            <a:schemeClr val="accent6"/>
          </a:fillRef>
          <a:effectRef idx="2">
            <a:schemeClr val="accent6"/>
          </a:effectRef>
          <a:fontRef idx="minor">
            <a:schemeClr val="lt1"/>
          </a:fontRef>
        </p:style>
        <p:txBody>
          <a:bodyPr wrap="none" anchor="ctr"/>
          <a:lstStyle/>
          <a:p>
            <a:r>
              <a:rPr lang="en-US" altLang="zh-CN" sz="1800">
                <a:solidFill>
                  <a:srgbClr val="0000FF"/>
                </a:solidFill>
                <a:latin typeface="Consolas" pitchFamily="49" charset="0"/>
                <a:cs typeface="Consolas" pitchFamily="49" charset="0"/>
              </a:rPr>
              <a:t>4</a:t>
            </a:r>
          </a:p>
        </p:txBody>
      </p:sp>
      <p:grpSp>
        <p:nvGrpSpPr>
          <p:cNvPr id="127" name="组合 126">
            <a:extLst>
              <a:ext uri="{FF2B5EF4-FFF2-40B4-BE49-F238E27FC236}">
                <a16:creationId xmlns:a16="http://schemas.microsoft.com/office/drawing/2014/main" id="{A1D1EB2A-036A-E877-4573-94501E99A447}"/>
              </a:ext>
            </a:extLst>
          </p:cNvPr>
          <p:cNvGrpSpPr/>
          <p:nvPr/>
        </p:nvGrpSpPr>
        <p:grpSpPr>
          <a:xfrm>
            <a:off x="6096000" y="5303102"/>
            <a:ext cx="4857784" cy="685862"/>
            <a:chOff x="2857488" y="5286388"/>
            <a:chExt cx="4857784" cy="685862"/>
          </a:xfrm>
        </p:grpSpPr>
        <p:sp>
          <p:nvSpPr>
            <p:cNvPr id="128" name="TextBox 124">
              <a:extLst>
                <a:ext uri="{FF2B5EF4-FFF2-40B4-BE49-F238E27FC236}">
                  <a16:creationId xmlns:a16="http://schemas.microsoft.com/office/drawing/2014/main" id="{2FBAD0CF-E3A7-B311-405D-58EF0851B53C}"/>
                </a:ext>
              </a:extLst>
            </p:cNvPr>
            <p:cNvSpPr txBox="1"/>
            <p:nvPr/>
          </p:nvSpPr>
          <p:spPr>
            <a:xfrm>
              <a:off x="2857488" y="5572140"/>
              <a:ext cx="4857784" cy="400110"/>
            </a:xfrm>
            <a:prstGeom prst="rect">
              <a:avLst/>
            </a:prstGeom>
            <a:noFill/>
          </p:spPr>
          <p:txBody>
            <a:bodyPr wrap="square" rtlCol="0">
              <a:spAutoFit/>
            </a:bodyPr>
            <a:lstStyle/>
            <a:p>
              <a:pPr algn="l"/>
              <a:r>
                <a:rPr lang="en-US" altLang="zh-CN" sz="2000" dirty="0">
                  <a:solidFill>
                    <a:srgbClr val="FF0000"/>
                  </a:solidFill>
                  <a:latin typeface="Consolas" pitchFamily="49" charset="0"/>
                  <a:ea typeface="方正启体简体" pitchFamily="65" charset="-122"/>
                  <a:cs typeface="Consolas" pitchFamily="49" charset="0"/>
                </a:rPr>
                <a:t>DFS</a:t>
              </a:r>
              <a:r>
                <a:rPr lang="zh-CN" altLang="en-US" sz="2000" dirty="0">
                  <a:solidFill>
                    <a:srgbClr val="FF0000"/>
                  </a:solidFill>
                  <a:latin typeface="Consolas" pitchFamily="49" charset="0"/>
                  <a:ea typeface="方正启体简体" pitchFamily="65" charset="-122"/>
                  <a:cs typeface="Consolas" pitchFamily="49" charset="0"/>
                </a:rPr>
                <a:t>思路：</a:t>
              </a:r>
              <a:r>
                <a:rPr lang="zh-CN" altLang="en-US" sz="2000" dirty="0">
                  <a:solidFill>
                    <a:srgbClr val="0000FF"/>
                  </a:solidFill>
                  <a:latin typeface="Consolas" pitchFamily="49" charset="0"/>
                  <a:ea typeface="方正启体简体" pitchFamily="65" charset="-122"/>
                  <a:cs typeface="Consolas" pitchFamily="49" charset="0"/>
                </a:rPr>
                <a:t>距离初始顶点</a:t>
              </a:r>
              <a:r>
                <a:rPr lang="zh-CN" altLang="en-US" sz="2000" dirty="0">
                  <a:solidFill>
                    <a:srgbClr val="FF00FF"/>
                  </a:solidFill>
                  <a:latin typeface="Consolas" pitchFamily="49" charset="0"/>
                  <a:ea typeface="方正启体简体" pitchFamily="65" charset="-122"/>
                  <a:cs typeface="Consolas" pitchFamily="49" charset="0"/>
                </a:rPr>
                <a:t>越远越优先</a:t>
              </a:r>
              <a:r>
                <a:rPr lang="zh-CN" altLang="en-US" sz="2000" dirty="0">
                  <a:solidFill>
                    <a:srgbClr val="0000FF"/>
                  </a:solidFill>
                  <a:latin typeface="Consolas" pitchFamily="49" charset="0"/>
                  <a:ea typeface="方正启体简体" pitchFamily="65" charset="-122"/>
                  <a:cs typeface="Consolas" pitchFamily="49" charset="0"/>
                </a:rPr>
                <a:t>访问！</a:t>
              </a:r>
              <a:endParaRPr lang="zh-CN" altLang="en-US" sz="2000" dirty="0">
                <a:solidFill>
                  <a:srgbClr val="FF0000"/>
                </a:solidFill>
                <a:latin typeface="Consolas" pitchFamily="49" charset="0"/>
                <a:ea typeface="方正启体简体" pitchFamily="65" charset="-122"/>
                <a:cs typeface="Consolas" pitchFamily="49" charset="0"/>
              </a:endParaRPr>
            </a:p>
          </p:txBody>
        </p:sp>
        <p:sp>
          <p:nvSpPr>
            <p:cNvPr id="129" name="下箭头 125">
              <a:extLst>
                <a:ext uri="{FF2B5EF4-FFF2-40B4-BE49-F238E27FC236}">
                  <a16:creationId xmlns:a16="http://schemas.microsoft.com/office/drawing/2014/main" id="{C0301AC9-9B4D-98B6-46CA-CC7A374FDF59}"/>
                </a:ext>
              </a:extLst>
            </p:cNvPr>
            <p:cNvSpPr/>
            <p:nvPr/>
          </p:nvSpPr>
          <p:spPr>
            <a:xfrm>
              <a:off x="4572000" y="5286388"/>
              <a:ext cx="142876" cy="285752"/>
            </a:xfrm>
            <a:prstGeom prst="downArrow">
              <a:avLst/>
            </a:prstGeom>
          </p:spPr>
          <p:style>
            <a:lnRef idx="0">
              <a:schemeClr val="accent4"/>
            </a:lnRef>
            <a:fillRef idx="3">
              <a:schemeClr val="accent4"/>
            </a:fillRef>
            <a:effectRef idx="3">
              <a:schemeClr val="accent4"/>
            </a:effectRef>
            <a:fontRef idx="minor">
              <a:schemeClr val="lt1"/>
            </a:fontRef>
          </p:style>
          <p:txBody>
            <a:bodyPr rtlCol="0" anchor="ctr"/>
            <a:lstStyle/>
            <a:p>
              <a:pPr algn="ctr"/>
              <a:endParaRPr lang="zh-CN" altLang="en-US" sz="2000">
                <a:latin typeface="Consolas" pitchFamily="49" charset="0"/>
                <a:cs typeface="Consolas" pitchFamily="49" charset="0"/>
              </a:endParaRPr>
            </a:p>
          </p:txBody>
        </p:sp>
      </p:grpSp>
      <p:sp>
        <p:nvSpPr>
          <p:cNvPr id="255" name="文本框 254">
            <a:extLst>
              <a:ext uri="{FF2B5EF4-FFF2-40B4-BE49-F238E27FC236}">
                <a16:creationId xmlns:a16="http://schemas.microsoft.com/office/drawing/2014/main" id="{8341E523-B3F4-9498-494C-7F59506ED85E}"/>
              </a:ext>
            </a:extLst>
          </p:cNvPr>
          <p:cNvSpPr txBox="1"/>
          <p:nvPr/>
        </p:nvSpPr>
        <p:spPr>
          <a:xfrm>
            <a:off x="1347130" y="1856770"/>
            <a:ext cx="3380718" cy="461665"/>
          </a:xfrm>
          <a:prstGeom prst="rect">
            <a:avLst/>
          </a:prstGeom>
          <a:noFill/>
        </p:spPr>
        <p:txBody>
          <a:bodyPr wrap="square">
            <a:spAutoFit/>
          </a:bodyPr>
          <a:lstStyle/>
          <a:p>
            <a:r>
              <a:rPr kumimoji="1" lang="zh-CN" altLang="en-US" sz="2400" dirty="0">
                <a:latin typeface="微软雅黑" pitchFamily="34" charset="-122"/>
                <a:ea typeface="微软雅黑" pitchFamily="34" charset="-122"/>
                <a:cs typeface="经典粗黑简" pitchFamily="49" charset="-122"/>
              </a:rPr>
              <a:t>深度优先遍历过程演示</a:t>
            </a:r>
          </a:p>
        </p:txBody>
      </p:sp>
    </p:spTree>
    <p:extLst>
      <p:ext uri="{BB962C8B-B14F-4D97-AF65-F5344CB8AC3E}">
        <p14:creationId xmlns:p14="http://schemas.microsoft.com/office/powerpoint/2010/main" val="29298852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2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09"/>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1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22"/>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10"/>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17"/>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26"/>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111"/>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118"/>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19"/>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120"/>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121"/>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112"/>
                                        </p:tgtEl>
                                        <p:attrNameLst>
                                          <p:attrName>style.visibility</p:attrName>
                                        </p:attrNameLst>
                                      </p:cBhvr>
                                      <p:to>
                                        <p:strVal val="visible"/>
                                      </p:to>
                                    </p:set>
                                  </p:childTnLst>
                                </p:cTn>
                              </p:par>
                            </p:childTnLst>
                          </p:cTn>
                        </p:par>
                        <p:par>
                          <p:cTn id="79" fill="hold">
                            <p:stCondLst>
                              <p:cond delay="0"/>
                            </p:stCondLst>
                            <p:childTnLst>
                              <p:par>
                                <p:cTn id="80" presetID="1" presetClass="entr" presetSubtype="0" fill="hold" nodeType="afterEffect">
                                  <p:stCondLst>
                                    <p:cond delay="0"/>
                                  </p:stCondLst>
                                  <p:childTnLst>
                                    <p:set>
                                      <p:cBhvr>
                                        <p:cTn id="81" dur="1" fill="hold">
                                          <p:stCondLst>
                                            <p:cond delay="0"/>
                                          </p:stCondLst>
                                        </p:cTn>
                                        <p:tgtEl>
                                          <p:spTgt spid="1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7" grpId="0"/>
      <p:bldP spid="108" grpId="0"/>
      <p:bldP spid="109" grpId="0"/>
      <p:bldP spid="110" grpId="0"/>
      <p:bldP spid="111" grpId="0"/>
      <p:bldP spid="112" grpId="0"/>
      <p:bldP spid="114" grpId="0" animBg="1"/>
      <p:bldP spid="115" grpId="0" animBg="1"/>
      <p:bldP spid="116" grpId="0" animBg="1"/>
      <p:bldP spid="117" grpId="0" animBg="1"/>
      <p:bldP spid="118" grpId="0" animBg="1"/>
      <p:bldP spid="119" grpId="0" animBg="1"/>
      <p:bldP spid="120" grpId="0" animBg="1"/>
      <p:bldP spid="121" grpId="0" animBg="1"/>
      <p:bldP spid="122" grpId="0" animBg="1"/>
      <p:bldP spid="123" grpId="0" animBg="1"/>
      <p:bldP spid="124" grpId="0" animBg="1"/>
      <p:bldP spid="125" grpId="0" animBg="1"/>
      <p:bldP spid="126"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F94C84-794B-7980-799D-18C6632A2589}"/>
            </a:ext>
          </a:extLst>
        </p:cNvPr>
        <p:cNvGrpSpPr/>
        <p:nvPr/>
      </p:nvGrpSpPr>
      <p:grpSpPr>
        <a:xfrm>
          <a:off x="0" y="0"/>
          <a:ext cx="0" cy="0"/>
          <a:chOff x="0" y="0"/>
          <a:chExt cx="0" cy="0"/>
        </a:xfrm>
      </p:grpSpPr>
      <p:sp>
        <p:nvSpPr>
          <p:cNvPr id="2" name="Rectangle 2">
            <a:extLst>
              <a:ext uri="{FF2B5EF4-FFF2-40B4-BE49-F238E27FC236}">
                <a16:creationId xmlns:a16="http://schemas.microsoft.com/office/drawing/2014/main" id="{9758B749-F1C6-EEBA-8ADC-8D7FB8A2CE05}"/>
              </a:ext>
            </a:extLst>
          </p:cNvPr>
          <p:cNvSpPr txBox="1">
            <a:spLocks noChangeArrowheads="1"/>
          </p:cNvSpPr>
          <p:nvPr/>
        </p:nvSpPr>
        <p:spPr>
          <a:xfrm>
            <a:off x="474772" y="1230902"/>
            <a:ext cx="4253076"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8.3.2 </a:t>
            </a:r>
            <a:r>
              <a:rPr kumimoji="1" lang="zh-CN" altLang="en-US" dirty="0">
                <a:latin typeface="微软雅黑" pitchFamily="34" charset="-122"/>
                <a:ea typeface="微软雅黑" pitchFamily="34" charset="-122"/>
              </a:rPr>
              <a:t>深度优先遍历算法</a:t>
            </a:r>
            <a:endParaRPr lang="zh-CN" altLang="en-US" dirty="0"/>
          </a:p>
        </p:txBody>
      </p:sp>
      <p:sp>
        <p:nvSpPr>
          <p:cNvPr id="3" name="矩形 2">
            <a:extLst>
              <a:ext uri="{FF2B5EF4-FFF2-40B4-BE49-F238E27FC236}">
                <a16:creationId xmlns:a16="http://schemas.microsoft.com/office/drawing/2014/main" id="{0731D669-FA36-4315-FAE8-0A9C09984BBD}"/>
              </a:ext>
            </a:extLst>
          </p:cNvPr>
          <p:cNvSpPr/>
          <p:nvPr/>
        </p:nvSpPr>
        <p:spPr>
          <a:xfrm>
            <a:off x="3200907" y="399148"/>
            <a:ext cx="4617860"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8.3 </a:t>
            </a:r>
            <a:r>
              <a:rPr lang="zh-CN" altLang="en-US" sz="3000" b="1" dirty="0">
                <a:latin typeface="黑体" pitchFamily="49" charset="-122"/>
                <a:ea typeface="黑体" pitchFamily="49" charset="-122"/>
                <a:cs typeface="经典粗黑简" pitchFamily="49" charset="-122"/>
              </a:rPr>
              <a:t>图的遍历</a:t>
            </a:r>
          </a:p>
        </p:txBody>
      </p:sp>
      <p:cxnSp>
        <p:nvCxnSpPr>
          <p:cNvPr id="4" name="直接连接符 3">
            <a:extLst>
              <a:ext uri="{FF2B5EF4-FFF2-40B4-BE49-F238E27FC236}">
                <a16:creationId xmlns:a16="http://schemas.microsoft.com/office/drawing/2014/main" id="{D5495373-1269-9FB6-2EBE-7FD58C3E6031}"/>
              </a:ext>
            </a:extLst>
          </p:cNvPr>
          <p:cNvCxnSpPr>
            <a:cxnSpLocks/>
          </p:cNvCxnSpPr>
          <p:nvPr/>
        </p:nvCxnSpPr>
        <p:spPr>
          <a:xfrm>
            <a:off x="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5" name="TextBox 2">
            <a:extLst>
              <a:ext uri="{FF2B5EF4-FFF2-40B4-BE49-F238E27FC236}">
                <a16:creationId xmlns:a16="http://schemas.microsoft.com/office/drawing/2014/main" id="{A71D5355-6A44-3F37-DBC5-F9656DB942BE}"/>
              </a:ext>
            </a:extLst>
          </p:cNvPr>
          <p:cNvSpPr txBox="1"/>
          <p:nvPr/>
        </p:nvSpPr>
        <p:spPr>
          <a:xfrm>
            <a:off x="839416" y="1932287"/>
            <a:ext cx="7286676" cy="3785652"/>
          </a:xfrm>
          <a:prstGeom prst="rect">
            <a:avLst/>
          </a:prstGeom>
          <a:noFill/>
          <a:ln>
            <a:noFill/>
          </a:ln>
          <a:effectLst/>
          <a:scene3d>
            <a:camera prst="orthographicFront">
              <a:rot lat="0" lon="0" rev="0"/>
            </a:camera>
            <a:lightRig rig="contrasting" dir="t">
              <a:rot lat="0" lon="0" rev="1500000"/>
            </a:lightRig>
          </a:scene3d>
          <a:sp3d prstMaterial="metal">
            <a:bevelT w="88900" h="88900"/>
          </a:sp3d>
        </p:spPr>
        <p:style>
          <a:lnRef idx="1">
            <a:schemeClr val="accent1"/>
          </a:lnRef>
          <a:fillRef idx="2">
            <a:schemeClr val="accent1"/>
          </a:fillRef>
          <a:effectRef idx="1">
            <a:schemeClr val="accent1"/>
          </a:effectRef>
          <a:fontRef idx="minor">
            <a:schemeClr val="dk1"/>
          </a:fontRef>
        </p:style>
        <p:txBody>
          <a:bodyPr wrap="square" rtlCol="0">
            <a:spAutoFit/>
          </a:bodyPr>
          <a:lstStyle/>
          <a:p>
            <a:pPr algn="l">
              <a:lnSpc>
                <a:spcPct val="150000"/>
              </a:lnSpc>
            </a:pPr>
            <a:r>
              <a:rPr lang="zh-CN" altLang="en-US" sz="2000" dirty="0">
                <a:solidFill>
                  <a:srgbClr val="0000FF"/>
                </a:solidFill>
                <a:latin typeface="Consolas" pitchFamily="49" charset="0"/>
                <a:ea typeface="楷体" pitchFamily="49" charset="-122"/>
                <a:cs typeface="Consolas" pitchFamily="49" charset="0"/>
              </a:rPr>
              <a:t>   无向图</a:t>
            </a:r>
            <a:r>
              <a:rPr lang="en-US" sz="2000" dirty="0">
                <a:solidFill>
                  <a:srgbClr val="0000FF"/>
                </a:solidFill>
                <a:latin typeface="Consolas" pitchFamily="49" charset="0"/>
                <a:ea typeface="楷体" pitchFamily="49" charset="-122"/>
                <a:cs typeface="Consolas" pitchFamily="49" charset="0"/>
              </a:rPr>
              <a:t>G=（V, E），</a:t>
            </a:r>
            <a:r>
              <a:rPr lang="zh-CN" altLang="en-US" sz="2000" dirty="0">
                <a:solidFill>
                  <a:srgbClr val="0000FF"/>
                </a:solidFill>
                <a:latin typeface="Consolas" pitchFamily="49" charset="0"/>
                <a:ea typeface="楷体" pitchFamily="49" charset="-122"/>
                <a:cs typeface="Consolas" pitchFamily="49" charset="0"/>
              </a:rPr>
              <a:t>其中</a:t>
            </a:r>
            <a:endParaRPr lang="en-US" altLang="zh-CN" sz="2000" dirty="0">
              <a:solidFill>
                <a:srgbClr val="0000FF"/>
              </a:solidFill>
              <a:latin typeface="Consolas" pitchFamily="49" charset="0"/>
              <a:ea typeface="楷体" pitchFamily="49" charset="-122"/>
              <a:cs typeface="Consolas" pitchFamily="49" charset="0"/>
            </a:endParaRPr>
          </a:p>
          <a:p>
            <a:pPr algn="l">
              <a:lnSpc>
                <a:spcPct val="150000"/>
              </a:lnSpc>
            </a:pPr>
            <a:r>
              <a:rPr lang="en-US" sz="2000" dirty="0">
                <a:solidFill>
                  <a:srgbClr val="0000FF"/>
                </a:solidFill>
                <a:latin typeface="Consolas" pitchFamily="49" charset="0"/>
                <a:ea typeface="楷体" pitchFamily="49" charset="-122"/>
                <a:cs typeface="Consolas" pitchFamily="49" charset="0"/>
              </a:rPr>
              <a:t>    V={</a:t>
            </a:r>
            <a:r>
              <a:rPr lang="en-US" sz="2000" dirty="0" err="1">
                <a:solidFill>
                  <a:srgbClr val="0000FF"/>
                </a:solidFill>
                <a:latin typeface="Consolas" pitchFamily="49" charset="0"/>
                <a:ea typeface="楷体" pitchFamily="49" charset="-122"/>
                <a:cs typeface="Consolas" pitchFamily="49" charset="0"/>
              </a:rPr>
              <a:t>a,b,c,d,e,f</a:t>
            </a:r>
            <a:r>
              <a:rPr lang="en-US" sz="2000" dirty="0">
                <a:solidFill>
                  <a:srgbClr val="0000FF"/>
                </a:solidFill>
                <a:latin typeface="Consolas" pitchFamily="49" charset="0"/>
                <a:ea typeface="楷体" pitchFamily="49" charset="-122"/>
                <a:cs typeface="Consolas" pitchFamily="49" charset="0"/>
              </a:rPr>
              <a:t>},</a:t>
            </a:r>
          </a:p>
          <a:p>
            <a:pPr algn="l">
              <a:lnSpc>
                <a:spcPct val="150000"/>
              </a:lnSpc>
            </a:pPr>
            <a:r>
              <a:rPr lang="en-US" sz="2000" dirty="0">
                <a:solidFill>
                  <a:srgbClr val="0000FF"/>
                </a:solidFill>
                <a:latin typeface="Consolas" pitchFamily="49" charset="0"/>
                <a:ea typeface="楷体" pitchFamily="49" charset="-122"/>
                <a:cs typeface="Consolas" pitchFamily="49" charset="0"/>
              </a:rPr>
              <a:t>    E={(</a:t>
            </a:r>
            <a:r>
              <a:rPr lang="en-US" sz="2000" dirty="0" err="1">
                <a:solidFill>
                  <a:srgbClr val="0000FF"/>
                </a:solidFill>
                <a:latin typeface="Consolas" pitchFamily="49" charset="0"/>
                <a:ea typeface="楷体" pitchFamily="49" charset="-122"/>
                <a:cs typeface="Consolas" pitchFamily="49" charset="0"/>
              </a:rPr>
              <a:t>a,b</a:t>
            </a:r>
            <a:r>
              <a:rPr lang="en-US" sz="2000" dirty="0">
                <a:solidFill>
                  <a:srgbClr val="0000FF"/>
                </a:solidFill>
                <a:latin typeface="Consolas" pitchFamily="49" charset="0"/>
                <a:ea typeface="楷体" pitchFamily="49" charset="-122"/>
                <a:cs typeface="Consolas" pitchFamily="49" charset="0"/>
              </a:rPr>
              <a:t>),(</a:t>
            </a:r>
            <a:r>
              <a:rPr lang="en-US" sz="2000" dirty="0" err="1">
                <a:solidFill>
                  <a:srgbClr val="0000FF"/>
                </a:solidFill>
                <a:latin typeface="Consolas" pitchFamily="49" charset="0"/>
                <a:ea typeface="楷体" pitchFamily="49" charset="-122"/>
                <a:cs typeface="Consolas" pitchFamily="49" charset="0"/>
              </a:rPr>
              <a:t>a,e</a:t>
            </a:r>
            <a:r>
              <a:rPr lang="en-US" sz="2000" dirty="0">
                <a:solidFill>
                  <a:srgbClr val="0000FF"/>
                </a:solidFill>
                <a:latin typeface="Consolas" pitchFamily="49" charset="0"/>
                <a:ea typeface="楷体" pitchFamily="49" charset="-122"/>
                <a:cs typeface="Consolas" pitchFamily="49" charset="0"/>
              </a:rPr>
              <a:t>),(</a:t>
            </a:r>
            <a:r>
              <a:rPr lang="en-US" sz="2000" dirty="0" err="1">
                <a:solidFill>
                  <a:srgbClr val="0000FF"/>
                </a:solidFill>
                <a:latin typeface="Consolas" pitchFamily="49" charset="0"/>
                <a:ea typeface="楷体" pitchFamily="49" charset="-122"/>
                <a:cs typeface="Consolas" pitchFamily="49" charset="0"/>
              </a:rPr>
              <a:t>a,c</a:t>
            </a:r>
            <a:r>
              <a:rPr lang="en-US" sz="2000" dirty="0">
                <a:solidFill>
                  <a:srgbClr val="0000FF"/>
                </a:solidFill>
                <a:latin typeface="Consolas" pitchFamily="49" charset="0"/>
                <a:ea typeface="楷体" pitchFamily="49" charset="-122"/>
                <a:cs typeface="Consolas" pitchFamily="49" charset="0"/>
              </a:rPr>
              <a:t>),(</a:t>
            </a:r>
            <a:r>
              <a:rPr lang="en-US" sz="2000" dirty="0" err="1">
                <a:solidFill>
                  <a:srgbClr val="0000FF"/>
                </a:solidFill>
                <a:latin typeface="Consolas" pitchFamily="49" charset="0"/>
                <a:ea typeface="楷体" pitchFamily="49" charset="-122"/>
                <a:cs typeface="Consolas" pitchFamily="49" charset="0"/>
              </a:rPr>
              <a:t>b,e</a:t>
            </a:r>
            <a:r>
              <a:rPr lang="en-US" sz="2000" dirty="0">
                <a:solidFill>
                  <a:srgbClr val="0000FF"/>
                </a:solidFill>
                <a:latin typeface="Consolas" pitchFamily="49" charset="0"/>
                <a:ea typeface="楷体" pitchFamily="49" charset="-122"/>
                <a:cs typeface="Consolas" pitchFamily="49" charset="0"/>
              </a:rPr>
              <a:t>),(</a:t>
            </a:r>
            <a:r>
              <a:rPr lang="en-US" sz="2000" dirty="0" err="1">
                <a:solidFill>
                  <a:srgbClr val="0000FF"/>
                </a:solidFill>
                <a:latin typeface="Consolas" pitchFamily="49" charset="0"/>
                <a:ea typeface="楷体" pitchFamily="49" charset="-122"/>
                <a:cs typeface="Consolas" pitchFamily="49" charset="0"/>
              </a:rPr>
              <a:t>c,f</a:t>
            </a:r>
            <a:r>
              <a:rPr lang="en-US" sz="2000" dirty="0">
                <a:solidFill>
                  <a:srgbClr val="0000FF"/>
                </a:solidFill>
                <a:latin typeface="Consolas" pitchFamily="49" charset="0"/>
                <a:ea typeface="楷体" pitchFamily="49" charset="-122"/>
                <a:cs typeface="Consolas" pitchFamily="49" charset="0"/>
              </a:rPr>
              <a:t>),(</a:t>
            </a:r>
            <a:r>
              <a:rPr lang="en-US" sz="2000" dirty="0" err="1">
                <a:solidFill>
                  <a:srgbClr val="0000FF"/>
                </a:solidFill>
                <a:latin typeface="Consolas" pitchFamily="49" charset="0"/>
                <a:ea typeface="楷体" pitchFamily="49" charset="-122"/>
                <a:cs typeface="Consolas" pitchFamily="49" charset="0"/>
              </a:rPr>
              <a:t>f,d</a:t>
            </a:r>
            <a:r>
              <a:rPr lang="en-US" sz="2000" dirty="0">
                <a:solidFill>
                  <a:srgbClr val="0000FF"/>
                </a:solidFill>
                <a:latin typeface="Consolas" pitchFamily="49" charset="0"/>
                <a:ea typeface="楷体" pitchFamily="49" charset="-122"/>
                <a:cs typeface="Consolas" pitchFamily="49" charset="0"/>
              </a:rPr>
              <a:t>),(</a:t>
            </a:r>
            <a:r>
              <a:rPr lang="en-US" sz="2000" dirty="0" err="1">
                <a:solidFill>
                  <a:srgbClr val="0000FF"/>
                </a:solidFill>
                <a:latin typeface="Consolas" pitchFamily="49" charset="0"/>
                <a:ea typeface="楷体" pitchFamily="49" charset="-122"/>
                <a:cs typeface="Consolas" pitchFamily="49" charset="0"/>
              </a:rPr>
              <a:t>e,d</a:t>
            </a:r>
            <a:r>
              <a:rPr lang="en-US" sz="2000" dirty="0">
                <a:solidFill>
                  <a:srgbClr val="0000FF"/>
                </a:solidFill>
                <a:latin typeface="Consolas" pitchFamily="49" charset="0"/>
                <a:ea typeface="楷体" pitchFamily="49" charset="-122"/>
                <a:cs typeface="Consolas" pitchFamily="49" charset="0"/>
              </a:rPr>
              <a:t>)}</a:t>
            </a:r>
          </a:p>
          <a:p>
            <a:pPr algn="l">
              <a:lnSpc>
                <a:spcPct val="150000"/>
              </a:lnSpc>
            </a:pPr>
            <a:r>
              <a:rPr lang="zh-CN" altLang="en-US" sz="2000" dirty="0">
                <a:solidFill>
                  <a:srgbClr val="0000FF"/>
                </a:solidFill>
                <a:latin typeface="Consolas" pitchFamily="49" charset="0"/>
                <a:ea typeface="楷体" pitchFamily="49" charset="-122"/>
                <a:cs typeface="Consolas" pitchFamily="49" charset="0"/>
              </a:rPr>
              <a:t>对该图进行深度优先排序，得到的顶点序列正确的是（  ）。</a:t>
            </a:r>
            <a:br>
              <a:rPr lang="zh-CN" altLang="en-US" sz="2000" dirty="0">
                <a:solidFill>
                  <a:srgbClr val="0000FF"/>
                </a:solidFill>
                <a:latin typeface="Consolas" pitchFamily="49" charset="0"/>
                <a:ea typeface="楷体" pitchFamily="49" charset="-122"/>
                <a:cs typeface="Consolas" pitchFamily="49" charset="0"/>
              </a:rPr>
            </a:br>
            <a:r>
              <a:rPr lang="zh-CN" altLang="en-US" sz="2000" dirty="0">
                <a:solidFill>
                  <a:srgbClr val="0000FF"/>
                </a:solidFill>
                <a:latin typeface="Consolas" pitchFamily="49" charset="0"/>
                <a:ea typeface="楷体" pitchFamily="49" charset="-122"/>
                <a:cs typeface="Consolas" pitchFamily="49" charset="0"/>
              </a:rPr>
              <a:t>    </a:t>
            </a:r>
            <a:r>
              <a:rPr lang="en-US" altLang="zh-CN" sz="2000" dirty="0">
                <a:solidFill>
                  <a:srgbClr val="0000FF"/>
                </a:solidFill>
                <a:latin typeface="Consolas" pitchFamily="49" charset="0"/>
                <a:ea typeface="楷体" pitchFamily="49" charset="-122"/>
                <a:cs typeface="Consolas" pitchFamily="49" charset="0"/>
              </a:rPr>
              <a:t>A. </a:t>
            </a:r>
            <a:r>
              <a:rPr lang="en-US" sz="2000" dirty="0" err="1">
                <a:solidFill>
                  <a:srgbClr val="0000FF"/>
                </a:solidFill>
                <a:latin typeface="Consolas" pitchFamily="49" charset="0"/>
                <a:ea typeface="楷体" pitchFamily="49" charset="-122"/>
                <a:cs typeface="Consolas" pitchFamily="49" charset="0"/>
              </a:rPr>
              <a:t>a，b，e，c，d，f</a:t>
            </a:r>
            <a:endParaRPr lang="en-US" sz="2000" dirty="0">
              <a:solidFill>
                <a:srgbClr val="0000FF"/>
              </a:solidFill>
              <a:latin typeface="Consolas" pitchFamily="49" charset="0"/>
              <a:ea typeface="楷体" pitchFamily="49" charset="-122"/>
              <a:cs typeface="Consolas" pitchFamily="49" charset="0"/>
            </a:endParaRPr>
          </a:p>
          <a:p>
            <a:pPr algn="l">
              <a:lnSpc>
                <a:spcPct val="150000"/>
              </a:lnSpc>
            </a:pPr>
            <a:r>
              <a:rPr lang="en-US" sz="2000" dirty="0">
                <a:solidFill>
                  <a:srgbClr val="0000FF"/>
                </a:solidFill>
                <a:latin typeface="Consolas" pitchFamily="49" charset="0"/>
                <a:ea typeface="楷体" pitchFamily="49" charset="-122"/>
                <a:cs typeface="Consolas" pitchFamily="49" charset="0"/>
              </a:rPr>
              <a:t>    B. </a:t>
            </a:r>
            <a:r>
              <a:rPr lang="en-US" sz="2000" dirty="0" err="1">
                <a:solidFill>
                  <a:srgbClr val="0000FF"/>
                </a:solidFill>
                <a:latin typeface="Consolas" pitchFamily="49" charset="0"/>
                <a:ea typeface="楷体" pitchFamily="49" charset="-122"/>
                <a:cs typeface="Consolas" pitchFamily="49" charset="0"/>
              </a:rPr>
              <a:t>a，c，f，e，b，d</a:t>
            </a:r>
            <a:endParaRPr lang="en-US" sz="2000" dirty="0">
              <a:solidFill>
                <a:srgbClr val="0000FF"/>
              </a:solidFill>
              <a:latin typeface="Consolas" pitchFamily="49" charset="0"/>
              <a:ea typeface="楷体" pitchFamily="49" charset="-122"/>
              <a:cs typeface="Consolas" pitchFamily="49" charset="0"/>
            </a:endParaRPr>
          </a:p>
          <a:p>
            <a:pPr algn="l">
              <a:lnSpc>
                <a:spcPct val="150000"/>
              </a:lnSpc>
            </a:pPr>
            <a:r>
              <a:rPr lang="en-US" sz="2000" dirty="0">
                <a:solidFill>
                  <a:srgbClr val="0000FF"/>
                </a:solidFill>
                <a:latin typeface="Consolas" pitchFamily="49" charset="0"/>
                <a:ea typeface="楷体" pitchFamily="49" charset="-122"/>
                <a:cs typeface="Consolas" pitchFamily="49" charset="0"/>
              </a:rPr>
              <a:t>    C. </a:t>
            </a:r>
            <a:r>
              <a:rPr lang="en-US" sz="2000" dirty="0" err="1">
                <a:solidFill>
                  <a:srgbClr val="0000FF"/>
                </a:solidFill>
                <a:latin typeface="Consolas" pitchFamily="49" charset="0"/>
                <a:ea typeface="楷体" pitchFamily="49" charset="-122"/>
                <a:cs typeface="Consolas" pitchFamily="49" charset="0"/>
              </a:rPr>
              <a:t>a，e，b，c，f，d</a:t>
            </a:r>
            <a:endParaRPr lang="en-US" sz="2000" dirty="0">
              <a:solidFill>
                <a:srgbClr val="0000FF"/>
              </a:solidFill>
              <a:latin typeface="Consolas" pitchFamily="49" charset="0"/>
              <a:ea typeface="楷体" pitchFamily="49" charset="-122"/>
              <a:cs typeface="Consolas" pitchFamily="49" charset="0"/>
            </a:endParaRPr>
          </a:p>
          <a:p>
            <a:pPr algn="l">
              <a:lnSpc>
                <a:spcPct val="150000"/>
              </a:lnSpc>
            </a:pPr>
            <a:r>
              <a:rPr lang="en-US" sz="2000" dirty="0">
                <a:solidFill>
                  <a:srgbClr val="0000FF"/>
                </a:solidFill>
                <a:latin typeface="Consolas" pitchFamily="49" charset="0"/>
                <a:ea typeface="楷体" pitchFamily="49" charset="-122"/>
                <a:cs typeface="Consolas" pitchFamily="49" charset="0"/>
              </a:rPr>
              <a:t>    D. </a:t>
            </a:r>
            <a:r>
              <a:rPr lang="en-US" sz="2000" dirty="0" err="1">
                <a:solidFill>
                  <a:srgbClr val="0000FF"/>
                </a:solidFill>
                <a:latin typeface="Consolas" pitchFamily="49" charset="0"/>
                <a:ea typeface="楷体" pitchFamily="49" charset="-122"/>
                <a:cs typeface="Consolas" pitchFamily="49" charset="0"/>
              </a:rPr>
              <a:t>a，e，d，f，c，b</a:t>
            </a:r>
            <a:endParaRPr lang="zh-CN" altLang="en-US" sz="2000" dirty="0">
              <a:solidFill>
                <a:srgbClr val="0000FF"/>
              </a:solidFill>
              <a:latin typeface="Consolas" pitchFamily="49" charset="0"/>
              <a:ea typeface="楷体" pitchFamily="49" charset="-122"/>
              <a:cs typeface="Consolas" pitchFamily="49" charset="0"/>
            </a:endParaRPr>
          </a:p>
        </p:txBody>
      </p:sp>
      <p:grpSp>
        <p:nvGrpSpPr>
          <p:cNvPr id="7" name="组合 36">
            <a:extLst>
              <a:ext uri="{FF2B5EF4-FFF2-40B4-BE49-F238E27FC236}">
                <a16:creationId xmlns:a16="http://schemas.microsoft.com/office/drawing/2014/main" id="{FAE40B79-784D-3620-7B2A-47A06BFE4495}"/>
              </a:ext>
            </a:extLst>
          </p:cNvPr>
          <p:cNvGrpSpPr/>
          <p:nvPr/>
        </p:nvGrpSpPr>
        <p:grpSpPr>
          <a:xfrm>
            <a:off x="8288204" y="1500653"/>
            <a:ext cx="3429024" cy="2071702"/>
            <a:chOff x="1285852" y="857232"/>
            <a:chExt cx="3429024" cy="2071702"/>
          </a:xfrm>
        </p:grpSpPr>
        <p:sp>
          <p:nvSpPr>
            <p:cNvPr id="113" name="椭圆 112">
              <a:extLst>
                <a:ext uri="{FF2B5EF4-FFF2-40B4-BE49-F238E27FC236}">
                  <a16:creationId xmlns:a16="http://schemas.microsoft.com/office/drawing/2014/main" id="{EF078DC1-8675-305A-F556-0FE0897C9653}"/>
                </a:ext>
              </a:extLst>
            </p:cNvPr>
            <p:cNvSpPr/>
            <p:nvPr/>
          </p:nvSpPr>
          <p:spPr>
            <a:xfrm>
              <a:off x="1285852" y="1643050"/>
              <a:ext cx="428628" cy="428628"/>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800" i="1">
                  <a:solidFill>
                    <a:srgbClr val="0000FF"/>
                  </a:solidFill>
                  <a:latin typeface="Consolas" pitchFamily="49" charset="0"/>
                  <a:cs typeface="Consolas" pitchFamily="49" charset="0"/>
                </a:rPr>
                <a:t>a</a:t>
              </a:r>
              <a:endParaRPr lang="zh-CN" altLang="en-US" sz="1800" i="1">
                <a:solidFill>
                  <a:srgbClr val="0000FF"/>
                </a:solidFill>
                <a:latin typeface="Consolas" pitchFamily="49" charset="0"/>
                <a:cs typeface="Consolas" pitchFamily="49" charset="0"/>
              </a:endParaRPr>
            </a:p>
          </p:txBody>
        </p:sp>
        <p:sp>
          <p:nvSpPr>
            <p:cNvPr id="130" name="椭圆 129">
              <a:extLst>
                <a:ext uri="{FF2B5EF4-FFF2-40B4-BE49-F238E27FC236}">
                  <a16:creationId xmlns:a16="http://schemas.microsoft.com/office/drawing/2014/main" id="{06A22E3C-4EB9-1D56-A8C3-FC7EE7A767D1}"/>
                </a:ext>
              </a:extLst>
            </p:cNvPr>
            <p:cNvSpPr/>
            <p:nvPr/>
          </p:nvSpPr>
          <p:spPr>
            <a:xfrm>
              <a:off x="2357422" y="857232"/>
              <a:ext cx="428628" cy="428628"/>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800" i="1">
                  <a:solidFill>
                    <a:srgbClr val="0000FF"/>
                  </a:solidFill>
                  <a:latin typeface="Consolas" pitchFamily="49" charset="0"/>
                  <a:cs typeface="Consolas" pitchFamily="49" charset="0"/>
                </a:rPr>
                <a:t>b</a:t>
              </a:r>
              <a:endParaRPr lang="zh-CN" altLang="en-US" sz="1800" i="1">
                <a:solidFill>
                  <a:srgbClr val="0000FF"/>
                </a:solidFill>
                <a:latin typeface="Consolas" pitchFamily="49" charset="0"/>
                <a:cs typeface="Consolas" pitchFamily="49" charset="0"/>
              </a:endParaRPr>
            </a:p>
          </p:txBody>
        </p:sp>
        <p:sp>
          <p:nvSpPr>
            <p:cNvPr id="131" name="椭圆 130">
              <a:extLst>
                <a:ext uri="{FF2B5EF4-FFF2-40B4-BE49-F238E27FC236}">
                  <a16:creationId xmlns:a16="http://schemas.microsoft.com/office/drawing/2014/main" id="{C711A6A4-04C8-0A49-0947-C98BA803FE38}"/>
                </a:ext>
              </a:extLst>
            </p:cNvPr>
            <p:cNvSpPr/>
            <p:nvPr/>
          </p:nvSpPr>
          <p:spPr>
            <a:xfrm>
              <a:off x="2357422" y="1643050"/>
              <a:ext cx="428628" cy="428628"/>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800" i="1">
                  <a:solidFill>
                    <a:srgbClr val="0000FF"/>
                  </a:solidFill>
                  <a:latin typeface="Consolas" pitchFamily="49" charset="0"/>
                  <a:cs typeface="Consolas" pitchFamily="49" charset="0"/>
                </a:rPr>
                <a:t>e</a:t>
              </a:r>
              <a:endParaRPr lang="zh-CN" altLang="en-US" sz="1800" i="1">
                <a:solidFill>
                  <a:srgbClr val="0000FF"/>
                </a:solidFill>
                <a:latin typeface="Consolas" pitchFamily="49" charset="0"/>
                <a:cs typeface="Consolas" pitchFamily="49" charset="0"/>
              </a:endParaRPr>
            </a:p>
          </p:txBody>
        </p:sp>
        <p:sp>
          <p:nvSpPr>
            <p:cNvPr id="132" name="椭圆 131">
              <a:extLst>
                <a:ext uri="{FF2B5EF4-FFF2-40B4-BE49-F238E27FC236}">
                  <a16:creationId xmlns:a16="http://schemas.microsoft.com/office/drawing/2014/main" id="{22023D2E-5BB0-27BA-DF92-60E2FF11D734}"/>
                </a:ext>
              </a:extLst>
            </p:cNvPr>
            <p:cNvSpPr/>
            <p:nvPr/>
          </p:nvSpPr>
          <p:spPr>
            <a:xfrm>
              <a:off x="2357422" y="2500306"/>
              <a:ext cx="428628" cy="428628"/>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800" i="1">
                  <a:solidFill>
                    <a:srgbClr val="0000FF"/>
                  </a:solidFill>
                  <a:latin typeface="Consolas" pitchFamily="49" charset="0"/>
                  <a:cs typeface="Consolas" pitchFamily="49" charset="0"/>
                </a:rPr>
                <a:t>c</a:t>
              </a:r>
              <a:endParaRPr lang="zh-CN" altLang="en-US" sz="1800" i="1">
                <a:solidFill>
                  <a:srgbClr val="0000FF"/>
                </a:solidFill>
                <a:latin typeface="Consolas" pitchFamily="49" charset="0"/>
                <a:cs typeface="Consolas" pitchFamily="49" charset="0"/>
              </a:endParaRPr>
            </a:p>
          </p:txBody>
        </p:sp>
        <p:sp>
          <p:nvSpPr>
            <p:cNvPr id="133" name="椭圆 132">
              <a:extLst>
                <a:ext uri="{FF2B5EF4-FFF2-40B4-BE49-F238E27FC236}">
                  <a16:creationId xmlns:a16="http://schemas.microsoft.com/office/drawing/2014/main" id="{17FDC85C-C0E0-2DFE-585A-CC22F50AC96E}"/>
                </a:ext>
              </a:extLst>
            </p:cNvPr>
            <p:cNvSpPr/>
            <p:nvPr/>
          </p:nvSpPr>
          <p:spPr>
            <a:xfrm>
              <a:off x="3286116" y="2500306"/>
              <a:ext cx="428628" cy="428628"/>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800" i="1">
                  <a:solidFill>
                    <a:srgbClr val="0000FF"/>
                  </a:solidFill>
                  <a:latin typeface="Consolas" pitchFamily="49" charset="0"/>
                  <a:cs typeface="Consolas" pitchFamily="49" charset="0"/>
                </a:rPr>
                <a:t>f</a:t>
              </a:r>
              <a:endParaRPr lang="zh-CN" altLang="en-US" sz="1800" i="1">
                <a:solidFill>
                  <a:srgbClr val="0000FF"/>
                </a:solidFill>
                <a:latin typeface="Consolas" pitchFamily="49" charset="0"/>
                <a:cs typeface="Consolas" pitchFamily="49" charset="0"/>
              </a:endParaRPr>
            </a:p>
          </p:txBody>
        </p:sp>
        <p:sp>
          <p:nvSpPr>
            <p:cNvPr id="134" name="椭圆 133">
              <a:extLst>
                <a:ext uri="{FF2B5EF4-FFF2-40B4-BE49-F238E27FC236}">
                  <a16:creationId xmlns:a16="http://schemas.microsoft.com/office/drawing/2014/main" id="{DC511B3E-C51F-DEC2-D415-75DCB464245E}"/>
                </a:ext>
              </a:extLst>
            </p:cNvPr>
            <p:cNvSpPr/>
            <p:nvPr/>
          </p:nvSpPr>
          <p:spPr>
            <a:xfrm>
              <a:off x="4286248" y="2500306"/>
              <a:ext cx="428628" cy="428628"/>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800" i="1">
                  <a:solidFill>
                    <a:srgbClr val="0000FF"/>
                  </a:solidFill>
                  <a:latin typeface="Consolas" pitchFamily="49" charset="0"/>
                  <a:cs typeface="Consolas" pitchFamily="49" charset="0"/>
                </a:rPr>
                <a:t>d</a:t>
              </a:r>
              <a:endParaRPr lang="zh-CN" altLang="en-US" sz="1800" i="1">
                <a:solidFill>
                  <a:srgbClr val="0000FF"/>
                </a:solidFill>
                <a:latin typeface="Consolas" pitchFamily="49" charset="0"/>
                <a:cs typeface="Consolas" pitchFamily="49" charset="0"/>
              </a:endParaRPr>
            </a:p>
          </p:txBody>
        </p:sp>
        <p:cxnSp>
          <p:nvCxnSpPr>
            <p:cNvPr id="135" name="直接连接符 134">
              <a:extLst>
                <a:ext uri="{FF2B5EF4-FFF2-40B4-BE49-F238E27FC236}">
                  <a16:creationId xmlns:a16="http://schemas.microsoft.com/office/drawing/2014/main" id="{D5C918DD-9097-8B7D-982E-A13D72E8BA96}"/>
                </a:ext>
              </a:extLst>
            </p:cNvPr>
            <p:cNvCxnSpPr>
              <a:cxnSpLocks/>
              <a:stCxn id="113" idx="7"/>
              <a:endCxn id="130" idx="2"/>
            </p:cNvCxnSpPr>
            <p:nvPr/>
          </p:nvCxnSpPr>
          <p:spPr>
            <a:xfrm rot="5400000" flipH="1" flipV="1">
              <a:off x="1687428" y="1035828"/>
              <a:ext cx="634275" cy="705713"/>
            </a:xfrm>
            <a:prstGeom prst="line">
              <a:avLst/>
            </a:prstGeom>
          </p:spPr>
          <p:style>
            <a:lnRef idx="2">
              <a:schemeClr val="accent5"/>
            </a:lnRef>
            <a:fillRef idx="0">
              <a:schemeClr val="accent5"/>
            </a:fillRef>
            <a:effectRef idx="1">
              <a:schemeClr val="accent5"/>
            </a:effectRef>
            <a:fontRef idx="minor">
              <a:schemeClr val="tx1"/>
            </a:fontRef>
          </p:style>
        </p:cxnSp>
        <p:cxnSp>
          <p:nvCxnSpPr>
            <p:cNvPr id="136" name="直接连接符 135">
              <a:extLst>
                <a:ext uri="{FF2B5EF4-FFF2-40B4-BE49-F238E27FC236}">
                  <a16:creationId xmlns:a16="http://schemas.microsoft.com/office/drawing/2014/main" id="{4E8F257C-1F7D-0237-97CC-CC13911C9CD0}"/>
                </a:ext>
              </a:extLst>
            </p:cNvPr>
            <p:cNvCxnSpPr>
              <a:cxnSpLocks/>
              <a:stCxn id="113" idx="6"/>
              <a:endCxn id="131" idx="2"/>
            </p:cNvCxnSpPr>
            <p:nvPr/>
          </p:nvCxnSpPr>
          <p:spPr>
            <a:xfrm>
              <a:off x="1714480" y="1857364"/>
              <a:ext cx="642942" cy="0"/>
            </a:xfrm>
            <a:prstGeom prst="line">
              <a:avLst/>
            </a:prstGeom>
          </p:spPr>
          <p:style>
            <a:lnRef idx="2">
              <a:schemeClr val="accent5"/>
            </a:lnRef>
            <a:fillRef idx="0">
              <a:schemeClr val="accent5"/>
            </a:fillRef>
            <a:effectRef idx="1">
              <a:schemeClr val="accent5"/>
            </a:effectRef>
            <a:fontRef idx="minor">
              <a:schemeClr val="tx1"/>
            </a:fontRef>
          </p:style>
        </p:cxnSp>
        <p:cxnSp>
          <p:nvCxnSpPr>
            <p:cNvPr id="137" name="直接连接符 136">
              <a:extLst>
                <a:ext uri="{FF2B5EF4-FFF2-40B4-BE49-F238E27FC236}">
                  <a16:creationId xmlns:a16="http://schemas.microsoft.com/office/drawing/2014/main" id="{DFC332A0-FB9C-B482-4D64-33BA6F50F0E8}"/>
                </a:ext>
              </a:extLst>
            </p:cNvPr>
            <p:cNvCxnSpPr>
              <a:cxnSpLocks/>
              <a:stCxn id="113" idx="5"/>
              <a:endCxn id="132" idx="2"/>
            </p:cNvCxnSpPr>
            <p:nvPr/>
          </p:nvCxnSpPr>
          <p:spPr>
            <a:xfrm rot="16200000" flipH="1">
              <a:off x="1651709" y="2008906"/>
              <a:ext cx="705713" cy="705713"/>
            </a:xfrm>
            <a:prstGeom prst="line">
              <a:avLst/>
            </a:prstGeom>
          </p:spPr>
          <p:style>
            <a:lnRef idx="2">
              <a:schemeClr val="accent5"/>
            </a:lnRef>
            <a:fillRef idx="0">
              <a:schemeClr val="accent5"/>
            </a:fillRef>
            <a:effectRef idx="1">
              <a:schemeClr val="accent5"/>
            </a:effectRef>
            <a:fontRef idx="minor">
              <a:schemeClr val="tx1"/>
            </a:fontRef>
          </p:style>
        </p:cxnSp>
        <p:cxnSp>
          <p:nvCxnSpPr>
            <p:cNvPr id="138" name="直接连接符 137">
              <a:extLst>
                <a:ext uri="{FF2B5EF4-FFF2-40B4-BE49-F238E27FC236}">
                  <a16:creationId xmlns:a16="http://schemas.microsoft.com/office/drawing/2014/main" id="{48DF3BD9-717C-2033-B932-62BC29D7F38F}"/>
                </a:ext>
              </a:extLst>
            </p:cNvPr>
            <p:cNvCxnSpPr>
              <a:cxnSpLocks/>
              <a:stCxn id="132" idx="6"/>
              <a:endCxn id="133" idx="2"/>
            </p:cNvCxnSpPr>
            <p:nvPr/>
          </p:nvCxnSpPr>
          <p:spPr>
            <a:xfrm>
              <a:off x="2786050" y="2714620"/>
              <a:ext cx="500066" cy="0"/>
            </a:xfrm>
            <a:prstGeom prst="line">
              <a:avLst/>
            </a:prstGeom>
          </p:spPr>
          <p:style>
            <a:lnRef idx="2">
              <a:schemeClr val="accent5"/>
            </a:lnRef>
            <a:fillRef idx="0">
              <a:schemeClr val="accent5"/>
            </a:fillRef>
            <a:effectRef idx="1">
              <a:schemeClr val="accent5"/>
            </a:effectRef>
            <a:fontRef idx="minor">
              <a:schemeClr val="tx1"/>
            </a:fontRef>
          </p:style>
        </p:cxnSp>
        <p:cxnSp>
          <p:nvCxnSpPr>
            <p:cNvPr id="139" name="直接连接符 138">
              <a:extLst>
                <a:ext uri="{FF2B5EF4-FFF2-40B4-BE49-F238E27FC236}">
                  <a16:creationId xmlns:a16="http://schemas.microsoft.com/office/drawing/2014/main" id="{45153082-C1BB-7A0B-1DE4-76E9624FCC77}"/>
                </a:ext>
              </a:extLst>
            </p:cNvPr>
            <p:cNvCxnSpPr>
              <a:cxnSpLocks/>
              <a:stCxn id="133" idx="6"/>
              <a:endCxn id="134" idx="2"/>
            </p:cNvCxnSpPr>
            <p:nvPr/>
          </p:nvCxnSpPr>
          <p:spPr>
            <a:xfrm>
              <a:off x="3714744" y="2714620"/>
              <a:ext cx="571504" cy="0"/>
            </a:xfrm>
            <a:prstGeom prst="line">
              <a:avLst/>
            </a:prstGeom>
          </p:spPr>
          <p:style>
            <a:lnRef idx="2">
              <a:schemeClr val="accent5"/>
            </a:lnRef>
            <a:fillRef idx="0">
              <a:schemeClr val="accent5"/>
            </a:fillRef>
            <a:effectRef idx="1">
              <a:schemeClr val="accent5"/>
            </a:effectRef>
            <a:fontRef idx="minor">
              <a:schemeClr val="tx1"/>
            </a:fontRef>
          </p:style>
        </p:cxnSp>
        <p:cxnSp>
          <p:nvCxnSpPr>
            <p:cNvPr id="140" name="直接连接符 139">
              <a:extLst>
                <a:ext uri="{FF2B5EF4-FFF2-40B4-BE49-F238E27FC236}">
                  <a16:creationId xmlns:a16="http://schemas.microsoft.com/office/drawing/2014/main" id="{2251ADCF-9275-FAE8-5B1D-549F2E75D5F5}"/>
                </a:ext>
              </a:extLst>
            </p:cNvPr>
            <p:cNvCxnSpPr>
              <a:cxnSpLocks/>
              <a:stCxn id="131" idx="6"/>
              <a:endCxn id="134" idx="1"/>
            </p:cNvCxnSpPr>
            <p:nvPr/>
          </p:nvCxnSpPr>
          <p:spPr>
            <a:xfrm>
              <a:off x="2786050" y="1857364"/>
              <a:ext cx="1562969" cy="705713"/>
            </a:xfrm>
            <a:prstGeom prst="line">
              <a:avLst/>
            </a:prstGeom>
          </p:spPr>
          <p:style>
            <a:lnRef idx="2">
              <a:schemeClr val="accent5"/>
            </a:lnRef>
            <a:fillRef idx="0">
              <a:schemeClr val="accent5"/>
            </a:fillRef>
            <a:effectRef idx="1">
              <a:schemeClr val="accent5"/>
            </a:effectRef>
            <a:fontRef idx="minor">
              <a:schemeClr val="tx1"/>
            </a:fontRef>
          </p:style>
        </p:cxnSp>
        <p:cxnSp>
          <p:nvCxnSpPr>
            <p:cNvPr id="142" name="直接连接符 141">
              <a:extLst>
                <a:ext uri="{FF2B5EF4-FFF2-40B4-BE49-F238E27FC236}">
                  <a16:creationId xmlns:a16="http://schemas.microsoft.com/office/drawing/2014/main" id="{94A917F5-A853-C26B-FDFE-4CA33F614A6B}"/>
                </a:ext>
              </a:extLst>
            </p:cNvPr>
            <p:cNvCxnSpPr>
              <a:cxnSpLocks/>
              <a:stCxn id="130" idx="4"/>
              <a:endCxn id="131" idx="0"/>
            </p:cNvCxnSpPr>
            <p:nvPr/>
          </p:nvCxnSpPr>
          <p:spPr>
            <a:xfrm rot="5400000">
              <a:off x="2393141" y="1464455"/>
              <a:ext cx="357190" cy="0"/>
            </a:xfrm>
            <a:prstGeom prst="line">
              <a:avLst/>
            </a:prstGeom>
          </p:spPr>
          <p:style>
            <a:lnRef idx="2">
              <a:schemeClr val="accent5"/>
            </a:lnRef>
            <a:fillRef idx="0">
              <a:schemeClr val="accent5"/>
            </a:fillRef>
            <a:effectRef idx="1">
              <a:schemeClr val="accent5"/>
            </a:effectRef>
            <a:fontRef idx="minor">
              <a:schemeClr val="tx1"/>
            </a:fontRef>
          </p:style>
        </p:cxnSp>
      </p:grpSp>
      <p:grpSp>
        <p:nvGrpSpPr>
          <p:cNvPr id="143" name="组合 36">
            <a:extLst>
              <a:ext uri="{FF2B5EF4-FFF2-40B4-BE49-F238E27FC236}">
                <a16:creationId xmlns:a16="http://schemas.microsoft.com/office/drawing/2014/main" id="{5979CFC1-0605-D910-10AD-C555EC74FC8B}"/>
              </a:ext>
            </a:extLst>
          </p:cNvPr>
          <p:cNvGrpSpPr/>
          <p:nvPr/>
        </p:nvGrpSpPr>
        <p:grpSpPr>
          <a:xfrm>
            <a:off x="6308430" y="3770238"/>
            <a:ext cx="3429024" cy="2071702"/>
            <a:chOff x="1285852" y="857232"/>
            <a:chExt cx="3429024" cy="2071702"/>
          </a:xfrm>
        </p:grpSpPr>
        <p:sp>
          <p:nvSpPr>
            <p:cNvPr id="144" name="椭圆 143">
              <a:extLst>
                <a:ext uri="{FF2B5EF4-FFF2-40B4-BE49-F238E27FC236}">
                  <a16:creationId xmlns:a16="http://schemas.microsoft.com/office/drawing/2014/main" id="{90717377-42E1-290C-3F54-CAD690CFCAB7}"/>
                </a:ext>
              </a:extLst>
            </p:cNvPr>
            <p:cNvSpPr/>
            <p:nvPr/>
          </p:nvSpPr>
          <p:spPr>
            <a:xfrm>
              <a:off x="1285852" y="1643050"/>
              <a:ext cx="428628" cy="428628"/>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800" i="1">
                  <a:solidFill>
                    <a:srgbClr val="0000FF"/>
                  </a:solidFill>
                  <a:latin typeface="Consolas" pitchFamily="49" charset="0"/>
                  <a:cs typeface="Consolas" pitchFamily="49" charset="0"/>
                </a:rPr>
                <a:t>a</a:t>
              </a:r>
              <a:endParaRPr lang="zh-CN" altLang="en-US" sz="1800" i="1">
                <a:solidFill>
                  <a:srgbClr val="0000FF"/>
                </a:solidFill>
                <a:latin typeface="Consolas" pitchFamily="49" charset="0"/>
                <a:cs typeface="Consolas" pitchFamily="49" charset="0"/>
              </a:endParaRPr>
            </a:p>
          </p:txBody>
        </p:sp>
        <p:sp>
          <p:nvSpPr>
            <p:cNvPr id="145" name="椭圆 144">
              <a:extLst>
                <a:ext uri="{FF2B5EF4-FFF2-40B4-BE49-F238E27FC236}">
                  <a16:creationId xmlns:a16="http://schemas.microsoft.com/office/drawing/2014/main" id="{47C35508-9FC4-5FA7-7F55-7B09BC724C41}"/>
                </a:ext>
              </a:extLst>
            </p:cNvPr>
            <p:cNvSpPr/>
            <p:nvPr/>
          </p:nvSpPr>
          <p:spPr>
            <a:xfrm>
              <a:off x="2357422" y="857232"/>
              <a:ext cx="428628" cy="428628"/>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800" i="1">
                  <a:solidFill>
                    <a:srgbClr val="0000FF"/>
                  </a:solidFill>
                  <a:latin typeface="Consolas" pitchFamily="49" charset="0"/>
                  <a:cs typeface="Consolas" pitchFamily="49" charset="0"/>
                </a:rPr>
                <a:t>b</a:t>
              </a:r>
              <a:endParaRPr lang="zh-CN" altLang="en-US" sz="1800" i="1">
                <a:solidFill>
                  <a:srgbClr val="0000FF"/>
                </a:solidFill>
                <a:latin typeface="Consolas" pitchFamily="49" charset="0"/>
                <a:cs typeface="Consolas" pitchFamily="49" charset="0"/>
              </a:endParaRPr>
            </a:p>
          </p:txBody>
        </p:sp>
        <p:sp>
          <p:nvSpPr>
            <p:cNvPr id="146" name="椭圆 145">
              <a:extLst>
                <a:ext uri="{FF2B5EF4-FFF2-40B4-BE49-F238E27FC236}">
                  <a16:creationId xmlns:a16="http://schemas.microsoft.com/office/drawing/2014/main" id="{1C6EA4A4-123D-D5D3-00A0-AF41383D732E}"/>
                </a:ext>
              </a:extLst>
            </p:cNvPr>
            <p:cNvSpPr/>
            <p:nvPr/>
          </p:nvSpPr>
          <p:spPr>
            <a:xfrm>
              <a:off x="2357422" y="1643050"/>
              <a:ext cx="428628" cy="428628"/>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800" i="1">
                  <a:solidFill>
                    <a:srgbClr val="0000FF"/>
                  </a:solidFill>
                  <a:latin typeface="Consolas" pitchFamily="49" charset="0"/>
                  <a:cs typeface="Consolas" pitchFamily="49" charset="0"/>
                </a:rPr>
                <a:t>e</a:t>
              </a:r>
              <a:endParaRPr lang="zh-CN" altLang="en-US" sz="1800" i="1">
                <a:solidFill>
                  <a:srgbClr val="0000FF"/>
                </a:solidFill>
                <a:latin typeface="Consolas" pitchFamily="49" charset="0"/>
                <a:cs typeface="Consolas" pitchFamily="49" charset="0"/>
              </a:endParaRPr>
            </a:p>
          </p:txBody>
        </p:sp>
        <p:sp>
          <p:nvSpPr>
            <p:cNvPr id="147" name="椭圆 146">
              <a:extLst>
                <a:ext uri="{FF2B5EF4-FFF2-40B4-BE49-F238E27FC236}">
                  <a16:creationId xmlns:a16="http://schemas.microsoft.com/office/drawing/2014/main" id="{DB816897-0A96-11C5-98F1-E82FA3CC1B3D}"/>
                </a:ext>
              </a:extLst>
            </p:cNvPr>
            <p:cNvSpPr/>
            <p:nvPr/>
          </p:nvSpPr>
          <p:spPr>
            <a:xfrm>
              <a:off x="2357422" y="2500306"/>
              <a:ext cx="428628" cy="428628"/>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800" i="1">
                  <a:solidFill>
                    <a:srgbClr val="0000FF"/>
                  </a:solidFill>
                  <a:latin typeface="Consolas" pitchFamily="49" charset="0"/>
                  <a:cs typeface="Consolas" pitchFamily="49" charset="0"/>
                </a:rPr>
                <a:t>c</a:t>
              </a:r>
              <a:endParaRPr lang="zh-CN" altLang="en-US" sz="1800" i="1">
                <a:solidFill>
                  <a:srgbClr val="0000FF"/>
                </a:solidFill>
                <a:latin typeface="Consolas" pitchFamily="49" charset="0"/>
                <a:cs typeface="Consolas" pitchFamily="49" charset="0"/>
              </a:endParaRPr>
            </a:p>
          </p:txBody>
        </p:sp>
        <p:sp>
          <p:nvSpPr>
            <p:cNvPr id="148" name="椭圆 147">
              <a:extLst>
                <a:ext uri="{FF2B5EF4-FFF2-40B4-BE49-F238E27FC236}">
                  <a16:creationId xmlns:a16="http://schemas.microsoft.com/office/drawing/2014/main" id="{8EC19AEB-BC26-DC80-5303-27DD819A944C}"/>
                </a:ext>
              </a:extLst>
            </p:cNvPr>
            <p:cNvSpPr/>
            <p:nvPr/>
          </p:nvSpPr>
          <p:spPr>
            <a:xfrm>
              <a:off x="3286116" y="2500306"/>
              <a:ext cx="428628" cy="428628"/>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800" i="1">
                  <a:solidFill>
                    <a:srgbClr val="0000FF"/>
                  </a:solidFill>
                  <a:latin typeface="Consolas" pitchFamily="49" charset="0"/>
                  <a:cs typeface="Consolas" pitchFamily="49" charset="0"/>
                </a:rPr>
                <a:t>f</a:t>
              </a:r>
              <a:endParaRPr lang="zh-CN" altLang="en-US" sz="1800" i="1">
                <a:solidFill>
                  <a:srgbClr val="0000FF"/>
                </a:solidFill>
                <a:latin typeface="Consolas" pitchFamily="49" charset="0"/>
                <a:cs typeface="Consolas" pitchFamily="49" charset="0"/>
              </a:endParaRPr>
            </a:p>
          </p:txBody>
        </p:sp>
        <p:sp>
          <p:nvSpPr>
            <p:cNvPr id="149" name="椭圆 148">
              <a:extLst>
                <a:ext uri="{FF2B5EF4-FFF2-40B4-BE49-F238E27FC236}">
                  <a16:creationId xmlns:a16="http://schemas.microsoft.com/office/drawing/2014/main" id="{FB328C13-44FA-C6EE-5B68-BFBF2E09A6E5}"/>
                </a:ext>
              </a:extLst>
            </p:cNvPr>
            <p:cNvSpPr/>
            <p:nvPr/>
          </p:nvSpPr>
          <p:spPr>
            <a:xfrm>
              <a:off x="4286248" y="2500306"/>
              <a:ext cx="428628" cy="428628"/>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800" i="1">
                  <a:solidFill>
                    <a:srgbClr val="0000FF"/>
                  </a:solidFill>
                  <a:latin typeface="Consolas" pitchFamily="49" charset="0"/>
                  <a:cs typeface="Consolas" pitchFamily="49" charset="0"/>
                </a:rPr>
                <a:t>d</a:t>
              </a:r>
              <a:endParaRPr lang="zh-CN" altLang="en-US" sz="1800" i="1">
                <a:solidFill>
                  <a:srgbClr val="0000FF"/>
                </a:solidFill>
                <a:latin typeface="Consolas" pitchFamily="49" charset="0"/>
                <a:cs typeface="Consolas" pitchFamily="49" charset="0"/>
              </a:endParaRPr>
            </a:p>
          </p:txBody>
        </p:sp>
        <p:cxnSp>
          <p:nvCxnSpPr>
            <p:cNvPr id="150" name="直接连接符 149">
              <a:extLst>
                <a:ext uri="{FF2B5EF4-FFF2-40B4-BE49-F238E27FC236}">
                  <a16:creationId xmlns:a16="http://schemas.microsoft.com/office/drawing/2014/main" id="{2006D56B-0047-1CAD-B6FF-CCFFE849074E}"/>
                </a:ext>
              </a:extLst>
            </p:cNvPr>
            <p:cNvCxnSpPr>
              <a:stCxn id="144" idx="7"/>
              <a:endCxn id="145" idx="2"/>
            </p:cNvCxnSpPr>
            <p:nvPr/>
          </p:nvCxnSpPr>
          <p:spPr>
            <a:xfrm rot="5400000" flipH="1" flipV="1">
              <a:off x="1687428" y="1035828"/>
              <a:ext cx="634275" cy="705713"/>
            </a:xfrm>
            <a:prstGeom prst="line">
              <a:avLst/>
            </a:prstGeom>
          </p:spPr>
          <p:style>
            <a:lnRef idx="2">
              <a:schemeClr val="accent5"/>
            </a:lnRef>
            <a:fillRef idx="0">
              <a:schemeClr val="accent5"/>
            </a:fillRef>
            <a:effectRef idx="1">
              <a:schemeClr val="accent5"/>
            </a:effectRef>
            <a:fontRef idx="minor">
              <a:schemeClr val="tx1"/>
            </a:fontRef>
          </p:style>
        </p:cxnSp>
        <p:cxnSp>
          <p:nvCxnSpPr>
            <p:cNvPr id="151" name="直接连接符 150">
              <a:extLst>
                <a:ext uri="{FF2B5EF4-FFF2-40B4-BE49-F238E27FC236}">
                  <a16:creationId xmlns:a16="http://schemas.microsoft.com/office/drawing/2014/main" id="{C0B78287-669C-EE4C-A505-B4E9AAA073A9}"/>
                </a:ext>
              </a:extLst>
            </p:cNvPr>
            <p:cNvCxnSpPr>
              <a:stCxn id="144" idx="6"/>
              <a:endCxn id="146" idx="2"/>
            </p:cNvCxnSpPr>
            <p:nvPr/>
          </p:nvCxnSpPr>
          <p:spPr>
            <a:xfrm>
              <a:off x="1714480" y="1857364"/>
              <a:ext cx="642942" cy="0"/>
            </a:xfrm>
            <a:prstGeom prst="line">
              <a:avLst/>
            </a:prstGeom>
          </p:spPr>
          <p:style>
            <a:lnRef idx="2">
              <a:schemeClr val="accent5"/>
            </a:lnRef>
            <a:fillRef idx="0">
              <a:schemeClr val="accent5"/>
            </a:fillRef>
            <a:effectRef idx="1">
              <a:schemeClr val="accent5"/>
            </a:effectRef>
            <a:fontRef idx="minor">
              <a:schemeClr val="tx1"/>
            </a:fontRef>
          </p:style>
        </p:cxnSp>
        <p:cxnSp>
          <p:nvCxnSpPr>
            <p:cNvPr id="152" name="直接连接符 151">
              <a:extLst>
                <a:ext uri="{FF2B5EF4-FFF2-40B4-BE49-F238E27FC236}">
                  <a16:creationId xmlns:a16="http://schemas.microsoft.com/office/drawing/2014/main" id="{BE077C90-0F32-50C7-C2DB-AD0A82DF0238}"/>
                </a:ext>
              </a:extLst>
            </p:cNvPr>
            <p:cNvCxnSpPr>
              <a:stCxn id="144" idx="5"/>
              <a:endCxn id="147" idx="2"/>
            </p:cNvCxnSpPr>
            <p:nvPr/>
          </p:nvCxnSpPr>
          <p:spPr>
            <a:xfrm rot="16200000" flipH="1">
              <a:off x="1651709" y="2008906"/>
              <a:ext cx="705713" cy="705713"/>
            </a:xfrm>
            <a:prstGeom prst="line">
              <a:avLst/>
            </a:prstGeom>
          </p:spPr>
          <p:style>
            <a:lnRef idx="2">
              <a:schemeClr val="accent5"/>
            </a:lnRef>
            <a:fillRef idx="0">
              <a:schemeClr val="accent5"/>
            </a:fillRef>
            <a:effectRef idx="1">
              <a:schemeClr val="accent5"/>
            </a:effectRef>
            <a:fontRef idx="minor">
              <a:schemeClr val="tx1"/>
            </a:fontRef>
          </p:style>
        </p:cxnSp>
        <p:cxnSp>
          <p:nvCxnSpPr>
            <p:cNvPr id="153" name="直接连接符 152">
              <a:extLst>
                <a:ext uri="{FF2B5EF4-FFF2-40B4-BE49-F238E27FC236}">
                  <a16:creationId xmlns:a16="http://schemas.microsoft.com/office/drawing/2014/main" id="{6BB6D685-7D01-8310-1250-C0BA08DA407A}"/>
                </a:ext>
              </a:extLst>
            </p:cNvPr>
            <p:cNvCxnSpPr>
              <a:stCxn id="147" idx="6"/>
              <a:endCxn id="148" idx="2"/>
            </p:cNvCxnSpPr>
            <p:nvPr/>
          </p:nvCxnSpPr>
          <p:spPr>
            <a:xfrm>
              <a:off x="2786050" y="2714620"/>
              <a:ext cx="500066" cy="0"/>
            </a:xfrm>
            <a:prstGeom prst="line">
              <a:avLst/>
            </a:prstGeom>
          </p:spPr>
          <p:style>
            <a:lnRef idx="2">
              <a:schemeClr val="accent5"/>
            </a:lnRef>
            <a:fillRef idx="0">
              <a:schemeClr val="accent5"/>
            </a:fillRef>
            <a:effectRef idx="1">
              <a:schemeClr val="accent5"/>
            </a:effectRef>
            <a:fontRef idx="minor">
              <a:schemeClr val="tx1"/>
            </a:fontRef>
          </p:style>
        </p:cxnSp>
        <p:cxnSp>
          <p:nvCxnSpPr>
            <p:cNvPr id="154" name="直接连接符 153">
              <a:extLst>
                <a:ext uri="{FF2B5EF4-FFF2-40B4-BE49-F238E27FC236}">
                  <a16:creationId xmlns:a16="http://schemas.microsoft.com/office/drawing/2014/main" id="{BBCC0734-9E41-541E-817B-D60AFB81D9B7}"/>
                </a:ext>
              </a:extLst>
            </p:cNvPr>
            <p:cNvCxnSpPr>
              <a:stCxn id="148" idx="6"/>
              <a:endCxn id="149" idx="2"/>
            </p:cNvCxnSpPr>
            <p:nvPr/>
          </p:nvCxnSpPr>
          <p:spPr>
            <a:xfrm>
              <a:off x="3714744" y="2714620"/>
              <a:ext cx="571504" cy="0"/>
            </a:xfrm>
            <a:prstGeom prst="line">
              <a:avLst/>
            </a:prstGeom>
          </p:spPr>
          <p:style>
            <a:lnRef idx="2">
              <a:schemeClr val="accent5"/>
            </a:lnRef>
            <a:fillRef idx="0">
              <a:schemeClr val="accent5"/>
            </a:fillRef>
            <a:effectRef idx="1">
              <a:schemeClr val="accent5"/>
            </a:effectRef>
            <a:fontRef idx="minor">
              <a:schemeClr val="tx1"/>
            </a:fontRef>
          </p:style>
        </p:cxnSp>
        <p:cxnSp>
          <p:nvCxnSpPr>
            <p:cNvPr id="155" name="直接连接符 154">
              <a:extLst>
                <a:ext uri="{FF2B5EF4-FFF2-40B4-BE49-F238E27FC236}">
                  <a16:creationId xmlns:a16="http://schemas.microsoft.com/office/drawing/2014/main" id="{8117DBF7-0A25-B0D8-611A-9906F8326C8E}"/>
                </a:ext>
              </a:extLst>
            </p:cNvPr>
            <p:cNvCxnSpPr>
              <a:stCxn id="146" idx="6"/>
              <a:endCxn id="149" idx="1"/>
            </p:cNvCxnSpPr>
            <p:nvPr/>
          </p:nvCxnSpPr>
          <p:spPr>
            <a:xfrm>
              <a:off x="2786050" y="1857364"/>
              <a:ext cx="1562969" cy="705713"/>
            </a:xfrm>
            <a:prstGeom prst="line">
              <a:avLst/>
            </a:prstGeom>
          </p:spPr>
          <p:style>
            <a:lnRef idx="2">
              <a:schemeClr val="accent5"/>
            </a:lnRef>
            <a:fillRef idx="0">
              <a:schemeClr val="accent5"/>
            </a:fillRef>
            <a:effectRef idx="1">
              <a:schemeClr val="accent5"/>
            </a:effectRef>
            <a:fontRef idx="minor">
              <a:schemeClr val="tx1"/>
            </a:fontRef>
          </p:style>
        </p:cxnSp>
        <p:cxnSp>
          <p:nvCxnSpPr>
            <p:cNvPr id="156" name="直接连接符 155">
              <a:extLst>
                <a:ext uri="{FF2B5EF4-FFF2-40B4-BE49-F238E27FC236}">
                  <a16:creationId xmlns:a16="http://schemas.microsoft.com/office/drawing/2014/main" id="{62DDEB35-E6EA-9FD3-3D86-8EBC978DD3B2}"/>
                </a:ext>
              </a:extLst>
            </p:cNvPr>
            <p:cNvCxnSpPr>
              <a:stCxn id="145" idx="4"/>
              <a:endCxn id="146" idx="0"/>
            </p:cNvCxnSpPr>
            <p:nvPr/>
          </p:nvCxnSpPr>
          <p:spPr>
            <a:xfrm rot="5400000">
              <a:off x="2393141" y="1464455"/>
              <a:ext cx="357190" cy="0"/>
            </a:xfrm>
            <a:prstGeom prst="line">
              <a:avLst/>
            </a:prstGeom>
          </p:spPr>
          <p:style>
            <a:lnRef idx="2">
              <a:schemeClr val="accent5"/>
            </a:lnRef>
            <a:fillRef idx="0">
              <a:schemeClr val="accent5"/>
            </a:fillRef>
            <a:effectRef idx="1">
              <a:schemeClr val="accent5"/>
            </a:effectRef>
            <a:fontRef idx="minor">
              <a:schemeClr val="tx1"/>
            </a:fontRef>
          </p:style>
        </p:cxnSp>
      </p:grpSp>
      <p:sp>
        <p:nvSpPr>
          <p:cNvPr id="157" name="TextBox 24">
            <a:extLst>
              <a:ext uri="{FF2B5EF4-FFF2-40B4-BE49-F238E27FC236}">
                <a16:creationId xmlns:a16="http://schemas.microsoft.com/office/drawing/2014/main" id="{4E73DCD8-49D1-FCC9-EFD0-2502333402C2}"/>
              </a:ext>
            </a:extLst>
          </p:cNvPr>
          <p:cNvSpPr txBox="1"/>
          <p:nvPr/>
        </p:nvSpPr>
        <p:spPr>
          <a:xfrm>
            <a:off x="5736926" y="6342006"/>
            <a:ext cx="3559850" cy="400110"/>
          </a:xfrm>
          <a:prstGeom prst="rect">
            <a:avLst/>
          </a:prstGeom>
          <a:solidFill>
            <a:schemeClr val="bg1"/>
          </a:solidFill>
        </p:spPr>
        <p:txBody>
          <a:bodyPr wrap="square" rtlCol="0">
            <a:spAutoFit/>
          </a:bodyPr>
          <a:lstStyle/>
          <a:p>
            <a:pPr algn="l"/>
            <a:r>
              <a:rPr lang="en-US" altLang="zh-CN" sz="2000">
                <a:solidFill>
                  <a:srgbClr val="0000FF"/>
                </a:solidFill>
                <a:latin typeface="Consolas" pitchFamily="49" charset="0"/>
                <a:ea typeface="楷体" pitchFamily="49" charset="-122"/>
                <a:cs typeface="Consolas" pitchFamily="49" charset="0"/>
              </a:rPr>
              <a:t>A. a，b，e，</a:t>
            </a:r>
            <a:r>
              <a:rPr lang="en-US" altLang="zh-CN" sz="2000">
                <a:solidFill>
                  <a:srgbClr val="FF00FF"/>
                </a:solidFill>
                <a:latin typeface="Consolas" pitchFamily="49" charset="0"/>
                <a:ea typeface="楷体" pitchFamily="49" charset="-122"/>
                <a:cs typeface="Consolas" pitchFamily="49" charset="0"/>
              </a:rPr>
              <a:t>c</a:t>
            </a:r>
            <a:r>
              <a:rPr lang="en-US" altLang="zh-CN" sz="2000">
                <a:solidFill>
                  <a:srgbClr val="0000FF"/>
                </a:solidFill>
                <a:latin typeface="Consolas" pitchFamily="49" charset="0"/>
                <a:ea typeface="楷体" pitchFamily="49" charset="-122"/>
                <a:cs typeface="Consolas" pitchFamily="49" charset="0"/>
              </a:rPr>
              <a:t>，d，f</a:t>
            </a:r>
            <a:endParaRPr lang="zh-CN" altLang="en-US" sz="2000"/>
          </a:p>
        </p:txBody>
      </p:sp>
      <p:cxnSp>
        <p:nvCxnSpPr>
          <p:cNvPr id="158" name="直接箭头连接符 157">
            <a:extLst>
              <a:ext uri="{FF2B5EF4-FFF2-40B4-BE49-F238E27FC236}">
                <a16:creationId xmlns:a16="http://schemas.microsoft.com/office/drawing/2014/main" id="{E043F58C-FEF4-4BE9-F305-9C90F8AB086E}"/>
              </a:ext>
            </a:extLst>
          </p:cNvPr>
          <p:cNvCxnSpPr/>
          <p:nvPr/>
        </p:nvCxnSpPr>
        <p:spPr>
          <a:xfrm flipV="1">
            <a:off x="6665620" y="3913114"/>
            <a:ext cx="642942" cy="571504"/>
          </a:xfrm>
          <a:prstGeom prst="straightConnector1">
            <a:avLst/>
          </a:prstGeom>
          <a:ln>
            <a:solidFill>
              <a:srgbClr val="FF0000"/>
            </a:solidFill>
            <a:tailEnd type="arrow"/>
          </a:ln>
        </p:spPr>
        <p:style>
          <a:lnRef idx="2">
            <a:schemeClr val="accent5"/>
          </a:lnRef>
          <a:fillRef idx="0">
            <a:schemeClr val="accent5"/>
          </a:fillRef>
          <a:effectRef idx="1">
            <a:schemeClr val="accent5"/>
          </a:effectRef>
          <a:fontRef idx="minor">
            <a:schemeClr val="tx1"/>
          </a:fontRef>
        </p:style>
      </p:cxnSp>
      <p:cxnSp>
        <p:nvCxnSpPr>
          <p:cNvPr id="159" name="直接箭头连接符 158">
            <a:extLst>
              <a:ext uri="{FF2B5EF4-FFF2-40B4-BE49-F238E27FC236}">
                <a16:creationId xmlns:a16="http://schemas.microsoft.com/office/drawing/2014/main" id="{A4A2FCD7-4D5D-07ED-4DF2-4B1320261B19}"/>
              </a:ext>
            </a:extLst>
          </p:cNvPr>
          <p:cNvCxnSpPr/>
          <p:nvPr/>
        </p:nvCxnSpPr>
        <p:spPr>
          <a:xfrm rot="5400000">
            <a:off x="7487951" y="4377461"/>
            <a:ext cx="357190" cy="1588"/>
          </a:xfrm>
          <a:prstGeom prst="straightConnector1">
            <a:avLst/>
          </a:prstGeom>
          <a:ln>
            <a:solidFill>
              <a:srgbClr val="FF0000"/>
            </a:solidFill>
            <a:tailEnd type="arrow"/>
          </a:ln>
        </p:spPr>
        <p:style>
          <a:lnRef idx="2">
            <a:schemeClr val="accent5"/>
          </a:lnRef>
          <a:fillRef idx="0">
            <a:schemeClr val="accent5"/>
          </a:fillRef>
          <a:effectRef idx="1">
            <a:schemeClr val="accent5"/>
          </a:effectRef>
          <a:fontRef idx="minor">
            <a:schemeClr val="tx1"/>
          </a:fontRef>
        </p:style>
      </p:cxnSp>
      <p:sp>
        <p:nvSpPr>
          <p:cNvPr id="160" name="TextBox 39">
            <a:extLst>
              <a:ext uri="{FF2B5EF4-FFF2-40B4-BE49-F238E27FC236}">
                <a16:creationId xmlns:a16="http://schemas.microsoft.com/office/drawing/2014/main" id="{97A3A1C5-03CF-1D17-D835-8BF77E88B6A2}"/>
              </a:ext>
            </a:extLst>
          </p:cNvPr>
          <p:cNvSpPr txBox="1"/>
          <p:nvPr/>
        </p:nvSpPr>
        <p:spPr>
          <a:xfrm>
            <a:off x="8523008" y="4413180"/>
            <a:ext cx="3643338" cy="400110"/>
          </a:xfrm>
          <a:prstGeom prst="rect">
            <a:avLst/>
          </a:prstGeom>
          <a:noFill/>
        </p:spPr>
        <p:txBody>
          <a:bodyPr wrap="square" rtlCol="0">
            <a:spAutoFit/>
          </a:bodyPr>
          <a:lstStyle/>
          <a:p>
            <a:pPr algn="l"/>
            <a:r>
              <a:rPr lang="zh-CN" altLang="en-US" sz="2000" dirty="0">
                <a:solidFill>
                  <a:srgbClr val="0000FF"/>
                </a:solidFill>
                <a:latin typeface="Consolas" pitchFamily="49" charset="0"/>
                <a:ea typeface="仿宋" pitchFamily="49" charset="-122"/>
                <a:cs typeface="Consolas" pitchFamily="49" charset="0"/>
                <a:sym typeface="Wingdings"/>
              </a:rPr>
              <a:t>下一个访问顶点是</a:t>
            </a:r>
            <a:r>
              <a:rPr lang="en-US" altLang="zh-CN" sz="2000" dirty="0">
                <a:solidFill>
                  <a:srgbClr val="0000FF"/>
                </a:solidFill>
                <a:latin typeface="Consolas" pitchFamily="49" charset="0"/>
                <a:ea typeface="仿宋" pitchFamily="49" charset="-122"/>
                <a:cs typeface="Consolas" pitchFamily="49" charset="0"/>
                <a:sym typeface="Wingdings"/>
              </a:rPr>
              <a:t>d</a:t>
            </a:r>
            <a:r>
              <a:rPr lang="zh-CN" altLang="en-US" sz="2000" dirty="0">
                <a:solidFill>
                  <a:srgbClr val="0000FF"/>
                </a:solidFill>
                <a:latin typeface="Consolas" pitchFamily="49" charset="0"/>
                <a:ea typeface="仿宋" pitchFamily="49" charset="-122"/>
                <a:cs typeface="Consolas" pitchFamily="49" charset="0"/>
                <a:sym typeface="Wingdings"/>
              </a:rPr>
              <a:t>不可能是</a:t>
            </a:r>
            <a:r>
              <a:rPr lang="en-US" altLang="zh-CN" sz="2000" dirty="0">
                <a:solidFill>
                  <a:srgbClr val="FF00FF"/>
                </a:solidFill>
                <a:latin typeface="Consolas" pitchFamily="49" charset="0"/>
                <a:ea typeface="仿宋" pitchFamily="49" charset="-122"/>
                <a:cs typeface="Consolas" pitchFamily="49" charset="0"/>
                <a:sym typeface="Wingdings"/>
              </a:rPr>
              <a:t>c</a:t>
            </a:r>
            <a:endParaRPr lang="zh-CN" altLang="en-US" sz="2000" dirty="0"/>
          </a:p>
        </p:txBody>
      </p:sp>
      <p:cxnSp>
        <p:nvCxnSpPr>
          <p:cNvPr id="161" name="直接箭头连接符 160">
            <a:extLst>
              <a:ext uri="{FF2B5EF4-FFF2-40B4-BE49-F238E27FC236}">
                <a16:creationId xmlns:a16="http://schemas.microsoft.com/office/drawing/2014/main" id="{E62EF44E-AF24-049C-B416-DB12B184D523}"/>
              </a:ext>
            </a:extLst>
          </p:cNvPr>
          <p:cNvCxnSpPr/>
          <p:nvPr/>
        </p:nvCxnSpPr>
        <p:spPr>
          <a:xfrm>
            <a:off x="7850570" y="4669436"/>
            <a:ext cx="1643074" cy="714380"/>
          </a:xfrm>
          <a:prstGeom prst="straightConnector1">
            <a:avLst/>
          </a:prstGeom>
          <a:ln>
            <a:solidFill>
              <a:srgbClr val="FF0000"/>
            </a:solidFill>
            <a:tailEnd type="arrow"/>
          </a:ln>
        </p:spPr>
        <p:style>
          <a:lnRef idx="2">
            <a:schemeClr val="accent5"/>
          </a:lnRef>
          <a:fillRef idx="0">
            <a:schemeClr val="accent5"/>
          </a:fillRef>
          <a:effectRef idx="1">
            <a:schemeClr val="accent5"/>
          </a:effectRef>
          <a:fontRef idx="minor">
            <a:schemeClr val="tx1"/>
          </a:fontRef>
        </p:style>
      </p:cxnSp>
    </p:spTree>
    <p:extLst>
      <p:ext uri="{BB962C8B-B14F-4D97-AF65-F5344CB8AC3E}">
        <p14:creationId xmlns:p14="http://schemas.microsoft.com/office/powerpoint/2010/main" val="4006631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3" fill="hold" nodeType="clickEffect">
                                  <p:stCondLst>
                                    <p:cond delay="0"/>
                                  </p:stCondLst>
                                  <p:childTnLst>
                                    <p:set>
                                      <p:cBhvr>
                                        <p:cTn id="6" dur="1" fill="hold">
                                          <p:stCondLst>
                                            <p:cond delay="0"/>
                                          </p:stCondLst>
                                        </p:cTn>
                                        <p:tgtEl>
                                          <p:spTgt spid="158"/>
                                        </p:tgtEl>
                                        <p:attrNameLst>
                                          <p:attrName>style.visibility</p:attrName>
                                        </p:attrNameLst>
                                      </p:cBhvr>
                                      <p:to>
                                        <p:strVal val="visible"/>
                                      </p:to>
                                    </p:set>
                                    <p:animEffect transition="in" filter="strips(upRight)">
                                      <p:cBhvr>
                                        <p:cTn id="7" dur="1000"/>
                                        <p:tgtEl>
                                          <p:spTgt spid="158"/>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12" fill="hold" nodeType="clickEffect">
                                  <p:stCondLst>
                                    <p:cond delay="0"/>
                                  </p:stCondLst>
                                  <p:childTnLst>
                                    <p:set>
                                      <p:cBhvr>
                                        <p:cTn id="11" dur="1" fill="hold">
                                          <p:stCondLst>
                                            <p:cond delay="0"/>
                                          </p:stCondLst>
                                        </p:cTn>
                                        <p:tgtEl>
                                          <p:spTgt spid="159"/>
                                        </p:tgtEl>
                                        <p:attrNameLst>
                                          <p:attrName>style.visibility</p:attrName>
                                        </p:attrNameLst>
                                      </p:cBhvr>
                                      <p:to>
                                        <p:strVal val="visible"/>
                                      </p:to>
                                    </p:set>
                                    <p:animEffect transition="in" filter="strips(downLeft)">
                                      <p:cBhvr>
                                        <p:cTn id="12" dur="1000"/>
                                        <p:tgtEl>
                                          <p:spTgt spid="159"/>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6" fill="hold" nodeType="clickEffect">
                                  <p:stCondLst>
                                    <p:cond delay="0"/>
                                  </p:stCondLst>
                                  <p:childTnLst>
                                    <p:set>
                                      <p:cBhvr>
                                        <p:cTn id="16" dur="1" fill="hold">
                                          <p:stCondLst>
                                            <p:cond delay="0"/>
                                          </p:stCondLst>
                                        </p:cTn>
                                        <p:tgtEl>
                                          <p:spTgt spid="161"/>
                                        </p:tgtEl>
                                        <p:attrNameLst>
                                          <p:attrName>style.visibility</p:attrName>
                                        </p:attrNameLst>
                                      </p:cBhvr>
                                      <p:to>
                                        <p:strVal val="visible"/>
                                      </p:to>
                                    </p:set>
                                    <p:animEffect transition="in" filter="strips(downRight)">
                                      <p:cBhvr>
                                        <p:cTn id="17" dur="1000"/>
                                        <p:tgtEl>
                                          <p:spTgt spid="161"/>
                                        </p:tgtEl>
                                      </p:cBhvr>
                                    </p:animEffect>
                                  </p:childTnLst>
                                </p:cTn>
                              </p:par>
                            </p:childTnLst>
                          </p:cTn>
                        </p:par>
                        <p:par>
                          <p:cTn id="18" fill="hold">
                            <p:stCondLst>
                              <p:cond delay="1000"/>
                            </p:stCondLst>
                            <p:childTnLst>
                              <p:par>
                                <p:cTn id="19" presetID="1" presetClass="entr" presetSubtype="0" fill="hold" grpId="0" nodeType="afterEffect">
                                  <p:stCondLst>
                                    <p:cond delay="0"/>
                                  </p:stCondLst>
                                  <p:childTnLst>
                                    <p:set>
                                      <p:cBhvr>
                                        <p:cTn id="20" dur="1" fill="hold">
                                          <p:stCondLst>
                                            <p:cond delay="0"/>
                                          </p:stCondLst>
                                        </p:cTn>
                                        <p:tgtEl>
                                          <p:spTgt spid="16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0"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FDA089-A9C9-140B-E597-B6383D6F6998}"/>
            </a:ext>
          </a:extLst>
        </p:cNvPr>
        <p:cNvGrpSpPr/>
        <p:nvPr/>
      </p:nvGrpSpPr>
      <p:grpSpPr>
        <a:xfrm>
          <a:off x="0" y="0"/>
          <a:ext cx="0" cy="0"/>
          <a:chOff x="0" y="0"/>
          <a:chExt cx="0" cy="0"/>
        </a:xfrm>
      </p:grpSpPr>
      <p:sp>
        <p:nvSpPr>
          <p:cNvPr id="2" name="Rectangle 2">
            <a:extLst>
              <a:ext uri="{FF2B5EF4-FFF2-40B4-BE49-F238E27FC236}">
                <a16:creationId xmlns:a16="http://schemas.microsoft.com/office/drawing/2014/main" id="{7E7A03E8-F977-717F-2C3B-5994C930B714}"/>
              </a:ext>
            </a:extLst>
          </p:cNvPr>
          <p:cNvSpPr txBox="1">
            <a:spLocks noChangeArrowheads="1"/>
          </p:cNvSpPr>
          <p:nvPr/>
        </p:nvSpPr>
        <p:spPr>
          <a:xfrm>
            <a:off x="474772" y="1230902"/>
            <a:ext cx="4253076"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8.3.2 </a:t>
            </a:r>
            <a:r>
              <a:rPr kumimoji="1" lang="zh-CN" altLang="en-US" dirty="0">
                <a:latin typeface="微软雅黑" pitchFamily="34" charset="-122"/>
                <a:ea typeface="微软雅黑" pitchFamily="34" charset="-122"/>
              </a:rPr>
              <a:t>深度优先遍历算法</a:t>
            </a:r>
            <a:endParaRPr lang="zh-CN" altLang="en-US" dirty="0"/>
          </a:p>
        </p:txBody>
      </p:sp>
      <p:sp>
        <p:nvSpPr>
          <p:cNvPr id="3" name="矩形 2">
            <a:extLst>
              <a:ext uri="{FF2B5EF4-FFF2-40B4-BE49-F238E27FC236}">
                <a16:creationId xmlns:a16="http://schemas.microsoft.com/office/drawing/2014/main" id="{A38D1175-246B-5B61-2870-89D56C896110}"/>
              </a:ext>
            </a:extLst>
          </p:cNvPr>
          <p:cNvSpPr/>
          <p:nvPr/>
        </p:nvSpPr>
        <p:spPr>
          <a:xfrm>
            <a:off x="3200907" y="399148"/>
            <a:ext cx="4617860"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8.3 </a:t>
            </a:r>
            <a:r>
              <a:rPr lang="zh-CN" altLang="en-US" sz="3000" b="1" dirty="0">
                <a:latin typeface="黑体" pitchFamily="49" charset="-122"/>
                <a:ea typeface="黑体" pitchFamily="49" charset="-122"/>
                <a:cs typeface="经典粗黑简" pitchFamily="49" charset="-122"/>
              </a:rPr>
              <a:t>图的遍历</a:t>
            </a:r>
          </a:p>
        </p:txBody>
      </p:sp>
      <p:cxnSp>
        <p:nvCxnSpPr>
          <p:cNvPr id="4" name="直接连接符 3">
            <a:extLst>
              <a:ext uri="{FF2B5EF4-FFF2-40B4-BE49-F238E27FC236}">
                <a16:creationId xmlns:a16="http://schemas.microsoft.com/office/drawing/2014/main" id="{52779342-B49E-36D8-2E32-80D65FED0B9B}"/>
              </a:ext>
            </a:extLst>
          </p:cNvPr>
          <p:cNvCxnSpPr>
            <a:cxnSpLocks/>
          </p:cNvCxnSpPr>
          <p:nvPr/>
        </p:nvCxnSpPr>
        <p:spPr>
          <a:xfrm>
            <a:off x="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5" name="TextBox 2">
            <a:extLst>
              <a:ext uri="{FF2B5EF4-FFF2-40B4-BE49-F238E27FC236}">
                <a16:creationId xmlns:a16="http://schemas.microsoft.com/office/drawing/2014/main" id="{7D32A21D-EC4C-E184-2444-8C22166DAEC2}"/>
              </a:ext>
            </a:extLst>
          </p:cNvPr>
          <p:cNvSpPr txBox="1"/>
          <p:nvPr/>
        </p:nvSpPr>
        <p:spPr>
          <a:xfrm>
            <a:off x="839416" y="1932287"/>
            <a:ext cx="7286676" cy="3785652"/>
          </a:xfrm>
          <a:prstGeom prst="rect">
            <a:avLst/>
          </a:prstGeom>
          <a:noFill/>
          <a:ln>
            <a:noFill/>
          </a:ln>
          <a:effectLst/>
          <a:scene3d>
            <a:camera prst="orthographicFront">
              <a:rot lat="0" lon="0" rev="0"/>
            </a:camera>
            <a:lightRig rig="contrasting" dir="t">
              <a:rot lat="0" lon="0" rev="1500000"/>
            </a:lightRig>
          </a:scene3d>
          <a:sp3d prstMaterial="metal">
            <a:bevelT w="88900" h="88900"/>
          </a:sp3d>
        </p:spPr>
        <p:style>
          <a:lnRef idx="1">
            <a:schemeClr val="accent1"/>
          </a:lnRef>
          <a:fillRef idx="2">
            <a:schemeClr val="accent1"/>
          </a:fillRef>
          <a:effectRef idx="1">
            <a:schemeClr val="accent1"/>
          </a:effectRef>
          <a:fontRef idx="minor">
            <a:schemeClr val="dk1"/>
          </a:fontRef>
        </p:style>
        <p:txBody>
          <a:bodyPr wrap="square" rtlCol="0">
            <a:spAutoFit/>
          </a:bodyPr>
          <a:lstStyle/>
          <a:p>
            <a:pPr algn="l">
              <a:lnSpc>
                <a:spcPct val="150000"/>
              </a:lnSpc>
            </a:pPr>
            <a:r>
              <a:rPr lang="zh-CN" altLang="en-US" sz="2000" dirty="0">
                <a:solidFill>
                  <a:srgbClr val="0000FF"/>
                </a:solidFill>
                <a:latin typeface="Consolas" pitchFamily="49" charset="0"/>
                <a:ea typeface="楷体" pitchFamily="49" charset="-122"/>
                <a:cs typeface="Consolas" pitchFamily="49" charset="0"/>
              </a:rPr>
              <a:t>   无向图</a:t>
            </a:r>
            <a:r>
              <a:rPr lang="en-US" sz="2000" dirty="0">
                <a:solidFill>
                  <a:srgbClr val="0000FF"/>
                </a:solidFill>
                <a:latin typeface="Consolas" pitchFamily="49" charset="0"/>
                <a:ea typeface="楷体" pitchFamily="49" charset="-122"/>
                <a:cs typeface="Consolas" pitchFamily="49" charset="0"/>
              </a:rPr>
              <a:t>G=（V, E），</a:t>
            </a:r>
            <a:r>
              <a:rPr lang="zh-CN" altLang="en-US" sz="2000" dirty="0">
                <a:solidFill>
                  <a:srgbClr val="0000FF"/>
                </a:solidFill>
                <a:latin typeface="Consolas" pitchFamily="49" charset="0"/>
                <a:ea typeface="楷体" pitchFamily="49" charset="-122"/>
                <a:cs typeface="Consolas" pitchFamily="49" charset="0"/>
              </a:rPr>
              <a:t>其中</a:t>
            </a:r>
            <a:endParaRPr lang="en-US" altLang="zh-CN" sz="2000" dirty="0">
              <a:solidFill>
                <a:srgbClr val="0000FF"/>
              </a:solidFill>
              <a:latin typeface="Consolas" pitchFamily="49" charset="0"/>
              <a:ea typeface="楷体" pitchFamily="49" charset="-122"/>
              <a:cs typeface="Consolas" pitchFamily="49" charset="0"/>
            </a:endParaRPr>
          </a:p>
          <a:p>
            <a:pPr algn="l">
              <a:lnSpc>
                <a:spcPct val="150000"/>
              </a:lnSpc>
            </a:pPr>
            <a:r>
              <a:rPr lang="en-US" sz="2000" dirty="0">
                <a:solidFill>
                  <a:srgbClr val="0000FF"/>
                </a:solidFill>
                <a:latin typeface="Consolas" pitchFamily="49" charset="0"/>
                <a:ea typeface="楷体" pitchFamily="49" charset="-122"/>
                <a:cs typeface="Consolas" pitchFamily="49" charset="0"/>
              </a:rPr>
              <a:t>    V={</a:t>
            </a:r>
            <a:r>
              <a:rPr lang="en-US" sz="2000" dirty="0" err="1">
                <a:solidFill>
                  <a:srgbClr val="0000FF"/>
                </a:solidFill>
                <a:latin typeface="Consolas" pitchFamily="49" charset="0"/>
                <a:ea typeface="楷体" pitchFamily="49" charset="-122"/>
                <a:cs typeface="Consolas" pitchFamily="49" charset="0"/>
              </a:rPr>
              <a:t>a,b,c,d,e,f</a:t>
            </a:r>
            <a:r>
              <a:rPr lang="en-US" sz="2000" dirty="0">
                <a:solidFill>
                  <a:srgbClr val="0000FF"/>
                </a:solidFill>
                <a:latin typeface="Consolas" pitchFamily="49" charset="0"/>
                <a:ea typeface="楷体" pitchFamily="49" charset="-122"/>
                <a:cs typeface="Consolas" pitchFamily="49" charset="0"/>
              </a:rPr>
              <a:t>},</a:t>
            </a:r>
          </a:p>
          <a:p>
            <a:pPr algn="l">
              <a:lnSpc>
                <a:spcPct val="150000"/>
              </a:lnSpc>
            </a:pPr>
            <a:r>
              <a:rPr lang="en-US" sz="2000" dirty="0">
                <a:solidFill>
                  <a:srgbClr val="0000FF"/>
                </a:solidFill>
                <a:latin typeface="Consolas" pitchFamily="49" charset="0"/>
                <a:ea typeface="楷体" pitchFamily="49" charset="-122"/>
                <a:cs typeface="Consolas" pitchFamily="49" charset="0"/>
              </a:rPr>
              <a:t>    E={(</a:t>
            </a:r>
            <a:r>
              <a:rPr lang="en-US" sz="2000" dirty="0" err="1">
                <a:solidFill>
                  <a:srgbClr val="0000FF"/>
                </a:solidFill>
                <a:latin typeface="Consolas" pitchFamily="49" charset="0"/>
                <a:ea typeface="楷体" pitchFamily="49" charset="-122"/>
                <a:cs typeface="Consolas" pitchFamily="49" charset="0"/>
              </a:rPr>
              <a:t>a,b</a:t>
            </a:r>
            <a:r>
              <a:rPr lang="en-US" sz="2000" dirty="0">
                <a:solidFill>
                  <a:srgbClr val="0000FF"/>
                </a:solidFill>
                <a:latin typeface="Consolas" pitchFamily="49" charset="0"/>
                <a:ea typeface="楷体" pitchFamily="49" charset="-122"/>
                <a:cs typeface="Consolas" pitchFamily="49" charset="0"/>
              </a:rPr>
              <a:t>),(</a:t>
            </a:r>
            <a:r>
              <a:rPr lang="en-US" sz="2000" dirty="0" err="1">
                <a:solidFill>
                  <a:srgbClr val="0000FF"/>
                </a:solidFill>
                <a:latin typeface="Consolas" pitchFamily="49" charset="0"/>
                <a:ea typeface="楷体" pitchFamily="49" charset="-122"/>
                <a:cs typeface="Consolas" pitchFamily="49" charset="0"/>
              </a:rPr>
              <a:t>a,e</a:t>
            </a:r>
            <a:r>
              <a:rPr lang="en-US" sz="2000" dirty="0">
                <a:solidFill>
                  <a:srgbClr val="0000FF"/>
                </a:solidFill>
                <a:latin typeface="Consolas" pitchFamily="49" charset="0"/>
                <a:ea typeface="楷体" pitchFamily="49" charset="-122"/>
                <a:cs typeface="Consolas" pitchFamily="49" charset="0"/>
              </a:rPr>
              <a:t>),(</a:t>
            </a:r>
            <a:r>
              <a:rPr lang="en-US" sz="2000" dirty="0" err="1">
                <a:solidFill>
                  <a:srgbClr val="0000FF"/>
                </a:solidFill>
                <a:latin typeface="Consolas" pitchFamily="49" charset="0"/>
                <a:ea typeface="楷体" pitchFamily="49" charset="-122"/>
                <a:cs typeface="Consolas" pitchFamily="49" charset="0"/>
              </a:rPr>
              <a:t>a,c</a:t>
            </a:r>
            <a:r>
              <a:rPr lang="en-US" sz="2000" dirty="0">
                <a:solidFill>
                  <a:srgbClr val="0000FF"/>
                </a:solidFill>
                <a:latin typeface="Consolas" pitchFamily="49" charset="0"/>
                <a:ea typeface="楷体" pitchFamily="49" charset="-122"/>
                <a:cs typeface="Consolas" pitchFamily="49" charset="0"/>
              </a:rPr>
              <a:t>),(</a:t>
            </a:r>
            <a:r>
              <a:rPr lang="en-US" sz="2000" dirty="0" err="1">
                <a:solidFill>
                  <a:srgbClr val="0000FF"/>
                </a:solidFill>
                <a:latin typeface="Consolas" pitchFamily="49" charset="0"/>
                <a:ea typeface="楷体" pitchFamily="49" charset="-122"/>
                <a:cs typeface="Consolas" pitchFamily="49" charset="0"/>
              </a:rPr>
              <a:t>b,e</a:t>
            </a:r>
            <a:r>
              <a:rPr lang="en-US" sz="2000" dirty="0">
                <a:solidFill>
                  <a:srgbClr val="0000FF"/>
                </a:solidFill>
                <a:latin typeface="Consolas" pitchFamily="49" charset="0"/>
                <a:ea typeface="楷体" pitchFamily="49" charset="-122"/>
                <a:cs typeface="Consolas" pitchFamily="49" charset="0"/>
              </a:rPr>
              <a:t>),(</a:t>
            </a:r>
            <a:r>
              <a:rPr lang="en-US" sz="2000" dirty="0" err="1">
                <a:solidFill>
                  <a:srgbClr val="0000FF"/>
                </a:solidFill>
                <a:latin typeface="Consolas" pitchFamily="49" charset="0"/>
                <a:ea typeface="楷体" pitchFamily="49" charset="-122"/>
                <a:cs typeface="Consolas" pitchFamily="49" charset="0"/>
              </a:rPr>
              <a:t>c,f</a:t>
            </a:r>
            <a:r>
              <a:rPr lang="en-US" sz="2000" dirty="0">
                <a:solidFill>
                  <a:srgbClr val="0000FF"/>
                </a:solidFill>
                <a:latin typeface="Consolas" pitchFamily="49" charset="0"/>
                <a:ea typeface="楷体" pitchFamily="49" charset="-122"/>
                <a:cs typeface="Consolas" pitchFamily="49" charset="0"/>
              </a:rPr>
              <a:t>),(</a:t>
            </a:r>
            <a:r>
              <a:rPr lang="en-US" sz="2000" dirty="0" err="1">
                <a:solidFill>
                  <a:srgbClr val="0000FF"/>
                </a:solidFill>
                <a:latin typeface="Consolas" pitchFamily="49" charset="0"/>
                <a:ea typeface="楷体" pitchFamily="49" charset="-122"/>
                <a:cs typeface="Consolas" pitchFamily="49" charset="0"/>
              </a:rPr>
              <a:t>f,d</a:t>
            </a:r>
            <a:r>
              <a:rPr lang="en-US" sz="2000" dirty="0">
                <a:solidFill>
                  <a:srgbClr val="0000FF"/>
                </a:solidFill>
                <a:latin typeface="Consolas" pitchFamily="49" charset="0"/>
                <a:ea typeface="楷体" pitchFamily="49" charset="-122"/>
                <a:cs typeface="Consolas" pitchFamily="49" charset="0"/>
              </a:rPr>
              <a:t>),(</a:t>
            </a:r>
            <a:r>
              <a:rPr lang="en-US" sz="2000" dirty="0" err="1">
                <a:solidFill>
                  <a:srgbClr val="0000FF"/>
                </a:solidFill>
                <a:latin typeface="Consolas" pitchFamily="49" charset="0"/>
                <a:ea typeface="楷体" pitchFamily="49" charset="-122"/>
                <a:cs typeface="Consolas" pitchFamily="49" charset="0"/>
              </a:rPr>
              <a:t>e,d</a:t>
            </a:r>
            <a:r>
              <a:rPr lang="en-US" sz="2000" dirty="0">
                <a:solidFill>
                  <a:srgbClr val="0000FF"/>
                </a:solidFill>
                <a:latin typeface="Consolas" pitchFamily="49" charset="0"/>
                <a:ea typeface="楷体" pitchFamily="49" charset="-122"/>
                <a:cs typeface="Consolas" pitchFamily="49" charset="0"/>
              </a:rPr>
              <a:t>)}</a:t>
            </a:r>
          </a:p>
          <a:p>
            <a:pPr algn="l">
              <a:lnSpc>
                <a:spcPct val="150000"/>
              </a:lnSpc>
            </a:pPr>
            <a:r>
              <a:rPr lang="zh-CN" altLang="en-US" sz="2000" dirty="0">
                <a:solidFill>
                  <a:srgbClr val="0000FF"/>
                </a:solidFill>
                <a:latin typeface="Consolas" pitchFamily="49" charset="0"/>
                <a:ea typeface="楷体" pitchFamily="49" charset="-122"/>
                <a:cs typeface="Consolas" pitchFamily="49" charset="0"/>
              </a:rPr>
              <a:t>对该图进行深度优先排序，得到的顶点序列正确的是（  ）。</a:t>
            </a:r>
            <a:br>
              <a:rPr lang="zh-CN" altLang="en-US" sz="2000" dirty="0">
                <a:solidFill>
                  <a:srgbClr val="0000FF"/>
                </a:solidFill>
                <a:latin typeface="Consolas" pitchFamily="49" charset="0"/>
                <a:ea typeface="楷体" pitchFamily="49" charset="-122"/>
                <a:cs typeface="Consolas" pitchFamily="49" charset="0"/>
              </a:rPr>
            </a:br>
            <a:r>
              <a:rPr lang="zh-CN" altLang="en-US" sz="2000" dirty="0">
                <a:solidFill>
                  <a:srgbClr val="0000FF"/>
                </a:solidFill>
                <a:latin typeface="Consolas" pitchFamily="49" charset="0"/>
                <a:ea typeface="楷体" pitchFamily="49" charset="-122"/>
                <a:cs typeface="Consolas" pitchFamily="49" charset="0"/>
              </a:rPr>
              <a:t>    </a:t>
            </a:r>
            <a:r>
              <a:rPr lang="en-US" altLang="zh-CN" sz="2000" dirty="0">
                <a:solidFill>
                  <a:srgbClr val="0000FF"/>
                </a:solidFill>
                <a:latin typeface="Consolas" pitchFamily="49" charset="0"/>
                <a:ea typeface="楷体" pitchFamily="49" charset="-122"/>
                <a:cs typeface="Consolas" pitchFamily="49" charset="0"/>
              </a:rPr>
              <a:t>A. </a:t>
            </a:r>
            <a:r>
              <a:rPr lang="en-US" sz="2000" dirty="0" err="1">
                <a:solidFill>
                  <a:srgbClr val="0000FF"/>
                </a:solidFill>
                <a:latin typeface="Consolas" pitchFamily="49" charset="0"/>
                <a:ea typeface="楷体" pitchFamily="49" charset="-122"/>
                <a:cs typeface="Consolas" pitchFamily="49" charset="0"/>
              </a:rPr>
              <a:t>a，b，e，c，d，f</a:t>
            </a:r>
            <a:endParaRPr lang="en-US" sz="2000" dirty="0">
              <a:solidFill>
                <a:srgbClr val="0000FF"/>
              </a:solidFill>
              <a:latin typeface="Consolas" pitchFamily="49" charset="0"/>
              <a:ea typeface="楷体" pitchFamily="49" charset="-122"/>
              <a:cs typeface="Consolas" pitchFamily="49" charset="0"/>
            </a:endParaRPr>
          </a:p>
          <a:p>
            <a:pPr algn="l">
              <a:lnSpc>
                <a:spcPct val="150000"/>
              </a:lnSpc>
            </a:pPr>
            <a:r>
              <a:rPr lang="en-US" sz="2000" dirty="0">
                <a:solidFill>
                  <a:srgbClr val="0000FF"/>
                </a:solidFill>
                <a:latin typeface="Consolas" pitchFamily="49" charset="0"/>
                <a:ea typeface="楷体" pitchFamily="49" charset="-122"/>
                <a:cs typeface="Consolas" pitchFamily="49" charset="0"/>
              </a:rPr>
              <a:t>    B. </a:t>
            </a:r>
            <a:r>
              <a:rPr lang="en-US" sz="2000" dirty="0" err="1">
                <a:solidFill>
                  <a:srgbClr val="0000FF"/>
                </a:solidFill>
                <a:latin typeface="Consolas" pitchFamily="49" charset="0"/>
                <a:ea typeface="楷体" pitchFamily="49" charset="-122"/>
                <a:cs typeface="Consolas" pitchFamily="49" charset="0"/>
              </a:rPr>
              <a:t>a，c，f，e，b，d</a:t>
            </a:r>
            <a:endParaRPr lang="en-US" sz="2000" dirty="0">
              <a:solidFill>
                <a:srgbClr val="0000FF"/>
              </a:solidFill>
              <a:latin typeface="Consolas" pitchFamily="49" charset="0"/>
              <a:ea typeface="楷体" pitchFamily="49" charset="-122"/>
              <a:cs typeface="Consolas" pitchFamily="49" charset="0"/>
            </a:endParaRPr>
          </a:p>
          <a:p>
            <a:pPr algn="l">
              <a:lnSpc>
                <a:spcPct val="150000"/>
              </a:lnSpc>
            </a:pPr>
            <a:r>
              <a:rPr lang="en-US" sz="2000" dirty="0">
                <a:solidFill>
                  <a:srgbClr val="0000FF"/>
                </a:solidFill>
                <a:latin typeface="Consolas" pitchFamily="49" charset="0"/>
                <a:ea typeface="楷体" pitchFamily="49" charset="-122"/>
                <a:cs typeface="Consolas" pitchFamily="49" charset="0"/>
              </a:rPr>
              <a:t>    C. </a:t>
            </a:r>
            <a:r>
              <a:rPr lang="en-US" sz="2000" dirty="0" err="1">
                <a:solidFill>
                  <a:srgbClr val="0000FF"/>
                </a:solidFill>
                <a:latin typeface="Consolas" pitchFamily="49" charset="0"/>
                <a:ea typeface="楷体" pitchFamily="49" charset="-122"/>
                <a:cs typeface="Consolas" pitchFamily="49" charset="0"/>
              </a:rPr>
              <a:t>a，e，b，c，f，d</a:t>
            </a:r>
            <a:endParaRPr lang="en-US" sz="2000" dirty="0">
              <a:solidFill>
                <a:srgbClr val="0000FF"/>
              </a:solidFill>
              <a:latin typeface="Consolas" pitchFamily="49" charset="0"/>
              <a:ea typeface="楷体" pitchFamily="49" charset="-122"/>
              <a:cs typeface="Consolas" pitchFamily="49" charset="0"/>
            </a:endParaRPr>
          </a:p>
          <a:p>
            <a:pPr algn="l">
              <a:lnSpc>
                <a:spcPct val="150000"/>
              </a:lnSpc>
            </a:pPr>
            <a:r>
              <a:rPr lang="en-US" sz="2000" dirty="0">
                <a:solidFill>
                  <a:srgbClr val="0000FF"/>
                </a:solidFill>
                <a:latin typeface="Consolas" pitchFamily="49" charset="0"/>
                <a:ea typeface="楷体" pitchFamily="49" charset="-122"/>
                <a:cs typeface="Consolas" pitchFamily="49" charset="0"/>
              </a:rPr>
              <a:t>    D. </a:t>
            </a:r>
            <a:r>
              <a:rPr lang="en-US" sz="2000" dirty="0" err="1">
                <a:solidFill>
                  <a:srgbClr val="0000FF"/>
                </a:solidFill>
                <a:latin typeface="Consolas" pitchFamily="49" charset="0"/>
                <a:ea typeface="楷体" pitchFamily="49" charset="-122"/>
                <a:cs typeface="Consolas" pitchFamily="49" charset="0"/>
              </a:rPr>
              <a:t>a，e，d，f，c，b</a:t>
            </a:r>
            <a:endParaRPr lang="zh-CN" altLang="en-US" sz="2000" dirty="0">
              <a:solidFill>
                <a:srgbClr val="0000FF"/>
              </a:solidFill>
              <a:latin typeface="Consolas" pitchFamily="49" charset="0"/>
              <a:ea typeface="楷体" pitchFamily="49" charset="-122"/>
              <a:cs typeface="Consolas" pitchFamily="49" charset="0"/>
            </a:endParaRPr>
          </a:p>
        </p:txBody>
      </p:sp>
      <p:grpSp>
        <p:nvGrpSpPr>
          <p:cNvPr id="7" name="组合 36">
            <a:extLst>
              <a:ext uri="{FF2B5EF4-FFF2-40B4-BE49-F238E27FC236}">
                <a16:creationId xmlns:a16="http://schemas.microsoft.com/office/drawing/2014/main" id="{9D96E67D-BA49-9F6B-8C39-8058D0A59D72}"/>
              </a:ext>
            </a:extLst>
          </p:cNvPr>
          <p:cNvGrpSpPr/>
          <p:nvPr/>
        </p:nvGrpSpPr>
        <p:grpSpPr>
          <a:xfrm>
            <a:off x="8288204" y="1500653"/>
            <a:ext cx="3429024" cy="2071702"/>
            <a:chOff x="1285852" y="857232"/>
            <a:chExt cx="3429024" cy="2071702"/>
          </a:xfrm>
        </p:grpSpPr>
        <p:sp>
          <p:nvSpPr>
            <p:cNvPr id="113" name="椭圆 112">
              <a:extLst>
                <a:ext uri="{FF2B5EF4-FFF2-40B4-BE49-F238E27FC236}">
                  <a16:creationId xmlns:a16="http://schemas.microsoft.com/office/drawing/2014/main" id="{E508837C-7040-4AF3-0B8B-22A233A6418D}"/>
                </a:ext>
              </a:extLst>
            </p:cNvPr>
            <p:cNvSpPr/>
            <p:nvPr/>
          </p:nvSpPr>
          <p:spPr>
            <a:xfrm>
              <a:off x="1285852" y="1643050"/>
              <a:ext cx="428628" cy="428628"/>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800" i="1">
                  <a:solidFill>
                    <a:srgbClr val="0000FF"/>
                  </a:solidFill>
                  <a:latin typeface="Consolas" pitchFamily="49" charset="0"/>
                  <a:cs typeface="Consolas" pitchFamily="49" charset="0"/>
                </a:rPr>
                <a:t>a</a:t>
              </a:r>
              <a:endParaRPr lang="zh-CN" altLang="en-US" sz="1800" i="1">
                <a:solidFill>
                  <a:srgbClr val="0000FF"/>
                </a:solidFill>
                <a:latin typeface="Consolas" pitchFamily="49" charset="0"/>
                <a:cs typeface="Consolas" pitchFamily="49" charset="0"/>
              </a:endParaRPr>
            </a:p>
          </p:txBody>
        </p:sp>
        <p:sp>
          <p:nvSpPr>
            <p:cNvPr id="130" name="椭圆 129">
              <a:extLst>
                <a:ext uri="{FF2B5EF4-FFF2-40B4-BE49-F238E27FC236}">
                  <a16:creationId xmlns:a16="http://schemas.microsoft.com/office/drawing/2014/main" id="{7BE13BFD-F9BD-AE9A-EC8A-5233591CA092}"/>
                </a:ext>
              </a:extLst>
            </p:cNvPr>
            <p:cNvSpPr/>
            <p:nvPr/>
          </p:nvSpPr>
          <p:spPr>
            <a:xfrm>
              <a:off x="2357422" y="857232"/>
              <a:ext cx="428628" cy="428628"/>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800" i="1">
                  <a:solidFill>
                    <a:srgbClr val="0000FF"/>
                  </a:solidFill>
                  <a:latin typeface="Consolas" pitchFamily="49" charset="0"/>
                  <a:cs typeface="Consolas" pitchFamily="49" charset="0"/>
                </a:rPr>
                <a:t>b</a:t>
              </a:r>
              <a:endParaRPr lang="zh-CN" altLang="en-US" sz="1800" i="1">
                <a:solidFill>
                  <a:srgbClr val="0000FF"/>
                </a:solidFill>
                <a:latin typeface="Consolas" pitchFamily="49" charset="0"/>
                <a:cs typeface="Consolas" pitchFamily="49" charset="0"/>
              </a:endParaRPr>
            </a:p>
          </p:txBody>
        </p:sp>
        <p:sp>
          <p:nvSpPr>
            <p:cNvPr id="131" name="椭圆 130">
              <a:extLst>
                <a:ext uri="{FF2B5EF4-FFF2-40B4-BE49-F238E27FC236}">
                  <a16:creationId xmlns:a16="http://schemas.microsoft.com/office/drawing/2014/main" id="{4892D1DA-E60B-4995-61E7-4BE43B004646}"/>
                </a:ext>
              </a:extLst>
            </p:cNvPr>
            <p:cNvSpPr/>
            <p:nvPr/>
          </p:nvSpPr>
          <p:spPr>
            <a:xfrm>
              <a:off x="2357422" y="1643050"/>
              <a:ext cx="428628" cy="428628"/>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800" i="1">
                  <a:solidFill>
                    <a:srgbClr val="0000FF"/>
                  </a:solidFill>
                  <a:latin typeface="Consolas" pitchFamily="49" charset="0"/>
                  <a:cs typeface="Consolas" pitchFamily="49" charset="0"/>
                </a:rPr>
                <a:t>e</a:t>
              </a:r>
              <a:endParaRPr lang="zh-CN" altLang="en-US" sz="1800" i="1">
                <a:solidFill>
                  <a:srgbClr val="0000FF"/>
                </a:solidFill>
                <a:latin typeface="Consolas" pitchFamily="49" charset="0"/>
                <a:cs typeface="Consolas" pitchFamily="49" charset="0"/>
              </a:endParaRPr>
            </a:p>
          </p:txBody>
        </p:sp>
        <p:sp>
          <p:nvSpPr>
            <p:cNvPr id="132" name="椭圆 131">
              <a:extLst>
                <a:ext uri="{FF2B5EF4-FFF2-40B4-BE49-F238E27FC236}">
                  <a16:creationId xmlns:a16="http://schemas.microsoft.com/office/drawing/2014/main" id="{763D60C3-A9B6-A6A2-459B-9BEA9CDF3970}"/>
                </a:ext>
              </a:extLst>
            </p:cNvPr>
            <p:cNvSpPr/>
            <p:nvPr/>
          </p:nvSpPr>
          <p:spPr>
            <a:xfrm>
              <a:off x="2357422" y="2500306"/>
              <a:ext cx="428628" cy="428628"/>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800" i="1">
                  <a:solidFill>
                    <a:srgbClr val="0000FF"/>
                  </a:solidFill>
                  <a:latin typeface="Consolas" pitchFamily="49" charset="0"/>
                  <a:cs typeface="Consolas" pitchFamily="49" charset="0"/>
                </a:rPr>
                <a:t>c</a:t>
              </a:r>
              <a:endParaRPr lang="zh-CN" altLang="en-US" sz="1800" i="1">
                <a:solidFill>
                  <a:srgbClr val="0000FF"/>
                </a:solidFill>
                <a:latin typeface="Consolas" pitchFamily="49" charset="0"/>
                <a:cs typeface="Consolas" pitchFamily="49" charset="0"/>
              </a:endParaRPr>
            </a:p>
          </p:txBody>
        </p:sp>
        <p:sp>
          <p:nvSpPr>
            <p:cNvPr id="133" name="椭圆 132">
              <a:extLst>
                <a:ext uri="{FF2B5EF4-FFF2-40B4-BE49-F238E27FC236}">
                  <a16:creationId xmlns:a16="http://schemas.microsoft.com/office/drawing/2014/main" id="{6A44E8EE-7C6F-A314-8AEB-B20E6F2D80B6}"/>
                </a:ext>
              </a:extLst>
            </p:cNvPr>
            <p:cNvSpPr/>
            <p:nvPr/>
          </p:nvSpPr>
          <p:spPr>
            <a:xfrm>
              <a:off x="3286116" y="2500306"/>
              <a:ext cx="428628" cy="428628"/>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800" i="1">
                  <a:solidFill>
                    <a:srgbClr val="0000FF"/>
                  </a:solidFill>
                  <a:latin typeface="Consolas" pitchFamily="49" charset="0"/>
                  <a:cs typeface="Consolas" pitchFamily="49" charset="0"/>
                </a:rPr>
                <a:t>f</a:t>
              </a:r>
              <a:endParaRPr lang="zh-CN" altLang="en-US" sz="1800" i="1">
                <a:solidFill>
                  <a:srgbClr val="0000FF"/>
                </a:solidFill>
                <a:latin typeface="Consolas" pitchFamily="49" charset="0"/>
                <a:cs typeface="Consolas" pitchFamily="49" charset="0"/>
              </a:endParaRPr>
            </a:p>
          </p:txBody>
        </p:sp>
        <p:sp>
          <p:nvSpPr>
            <p:cNvPr id="134" name="椭圆 133">
              <a:extLst>
                <a:ext uri="{FF2B5EF4-FFF2-40B4-BE49-F238E27FC236}">
                  <a16:creationId xmlns:a16="http://schemas.microsoft.com/office/drawing/2014/main" id="{660424D0-17EE-9D90-1610-F867A7EAFE0A}"/>
                </a:ext>
              </a:extLst>
            </p:cNvPr>
            <p:cNvSpPr/>
            <p:nvPr/>
          </p:nvSpPr>
          <p:spPr>
            <a:xfrm>
              <a:off x="4286248" y="2500306"/>
              <a:ext cx="428628" cy="428628"/>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800" i="1">
                  <a:solidFill>
                    <a:srgbClr val="0000FF"/>
                  </a:solidFill>
                  <a:latin typeface="Consolas" pitchFamily="49" charset="0"/>
                  <a:cs typeface="Consolas" pitchFamily="49" charset="0"/>
                </a:rPr>
                <a:t>d</a:t>
              </a:r>
              <a:endParaRPr lang="zh-CN" altLang="en-US" sz="1800" i="1">
                <a:solidFill>
                  <a:srgbClr val="0000FF"/>
                </a:solidFill>
                <a:latin typeface="Consolas" pitchFamily="49" charset="0"/>
                <a:cs typeface="Consolas" pitchFamily="49" charset="0"/>
              </a:endParaRPr>
            </a:p>
          </p:txBody>
        </p:sp>
        <p:cxnSp>
          <p:nvCxnSpPr>
            <p:cNvPr id="135" name="直接连接符 134">
              <a:extLst>
                <a:ext uri="{FF2B5EF4-FFF2-40B4-BE49-F238E27FC236}">
                  <a16:creationId xmlns:a16="http://schemas.microsoft.com/office/drawing/2014/main" id="{701A9DC7-2D7D-07C9-FDDD-A6DA2F48F619}"/>
                </a:ext>
              </a:extLst>
            </p:cNvPr>
            <p:cNvCxnSpPr>
              <a:cxnSpLocks/>
              <a:stCxn id="113" idx="7"/>
              <a:endCxn id="130" idx="2"/>
            </p:cNvCxnSpPr>
            <p:nvPr/>
          </p:nvCxnSpPr>
          <p:spPr>
            <a:xfrm rot="5400000" flipH="1" flipV="1">
              <a:off x="1687428" y="1035828"/>
              <a:ext cx="634275" cy="705713"/>
            </a:xfrm>
            <a:prstGeom prst="line">
              <a:avLst/>
            </a:prstGeom>
          </p:spPr>
          <p:style>
            <a:lnRef idx="2">
              <a:schemeClr val="accent5"/>
            </a:lnRef>
            <a:fillRef idx="0">
              <a:schemeClr val="accent5"/>
            </a:fillRef>
            <a:effectRef idx="1">
              <a:schemeClr val="accent5"/>
            </a:effectRef>
            <a:fontRef idx="minor">
              <a:schemeClr val="tx1"/>
            </a:fontRef>
          </p:style>
        </p:cxnSp>
        <p:cxnSp>
          <p:nvCxnSpPr>
            <p:cNvPr id="136" name="直接连接符 135">
              <a:extLst>
                <a:ext uri="{FF2B5EF4-FFF2-40B4-BE49-F238E27FC236}">
                  <a16:creationId xmlns:a16="http://schemas.microsoft.com/office/drawing/2014/main" id="{024EE5DC-123E-A58C-0893-ED96F367E40D}"/>
                </a:ext>
              </a:extLst>
            </p:cNvPr>
            <p:cNvCxnSpPr>
              <a:cxnSpLocks/>
              <a:stCxn id="113" idx="6"/>
              <a:endCxn id="131" idx="2"/>
            </p:cNvCxnSpPr>
            <p:nvPr/>
          </p:nvCxnSpPr>
          <p:spPr>
            <a:xfrm>
              <a:off x="1714480" y="1857364"/>
              <a:ext cx="642942" cy="0"/>
            </a:xfrm>
            <a:prstGeom prst="line">
              <a:avLst/>
            </a:prstGeom>
          </p:spPr>
          <p:style>
            <a:lnRef idx="2">
              <a:schemeClr val="accent5"/>
            </a:lnRef>
            <a:fillRef idx="0">
              <a:schemeClr val="accent5"/>
            </a:fillRef>
            <a:effectRef idx="1">
              <a:schemeClr val="accent5"/>
            </a:effectRef>
            <a:fontRef idx="minor">
              <a:schemeClr val="tx1"/>
            </a:fontRef>
          </p:style>
        </p:cxnSp>
        <p:cxnSp>
          <p:nvCxnSpPr>
            <p:cNvPr id="137" name="直接连接符 136">
              <a:extLst>
                <a:ext uri="{FF2B5EF4-FFF2-40B4-BE49-F238E27FC236}">
                  <a16:creationId xmlns:a16="http://schemas.microsoft.com/office/drawing/2014/main" id="{39061915-E88F-C290-357B-25CBE7D6BC70}"/>
                </a:ext>
              </a:extLst>
            </p:cNvPr>
            <p:cNvCxnSpPr>
              <a:cxnSpLocks/>
              <a:stCxn id="113" idx="5"/>
              <a:endCxn id="132" idx="2"/>
            </p:cNvCxnSpPr>
            <p:nvPr/>
          </p:nvCxnSpPr>
          <p:spPr>
            <a:xfrm rot="16200000" flipH="1">
              <a:off x="1651709" y="2008906"/>
              <a:ext cx="705713" cy="705713"/>
            </a:xfrm>
            <a:prstGeom prst="line">
              <a:avLst/>
            </a:prstGeom>
          </p:spPr>
          <p:style>
            <a:lnRef idx="2">
              <a:schemeClr val="accent5"/>
            </a:lnRef>
            <a:fillRef idx="0">
              <a:schemeClr val="accent5"/>
            </a:fillRef>
            <a:effectRef idx="1">
              <a:schemeClr val="accent5"/>
            </a:effectRef>
            <a:fontRef idx="minor">
              <a:schemeClr val="tx1"/>
            </a:fontRef>
          </p:style>
        </p:cxnSp>
        <p:cxnSp>
          <p:nvCxnSpPr>
            <p:cNvPr id="138" name="直接连接符 137">
              <a:extLst>
                <a:ext uri="{FF2B5EF4-FFF2-40B4-BE49-F238E27FC236}">
                  <a16:creationId xmlns:a16="http://schemas.microsoft.com/office/drawing/2014/main" id="{8A354DE1-38CF-E1E0-2AB5-4678F55358CF}"/>
                </a:ext>
              </a:extLst>
            </p:cNvPr>
            <p:cNvCxnSpPr>
              <a:cxnSpLocks/>
              <a:stCxn id="132" idx="6"/>
              <a:endCxn id="133" idx="2"/>
            </p:cNvCxnSpPr>
            <p:nvPr/>
          </p:nvCxnSpPr>
          <p:spPr>
            <a:xfrm>
              <a:off x="2786050" y="2714620"/>
              <a:ext cx="500066" cy="0"/>
            </a:xfrm>
            <a:prstGeom prst="line">
              <a:avLst/>
            </a:prstGeom>
          </p:spPr>
          <p:style>
            <a:lnRef idx="2">
              <a:schemeClr val="accent5"/>
            </a:lnRef>
            <a:fillRef idx="0">
              <a:schemeClr val="accent5"/>
            </a:fillRef>
            <a:effectRef idx="1">
              <a:schemeClr val="accent5"/>
            </a:effectRef>
            <a:fontRef idx="minor">
              <a:schemeClr val="tx1"/>
            </a:fontRef>
          </p:style>
        </p:cxnSp>
        <p:cxnSp>
          <p:nvCxnSpPr>
            <p:cNvPr id="139" name="直接连接符 138">
              <a:extLst>
                <a:ext uri="{FF2B5EF4-FFF2-40B4-BE49-F238E27FC236}">
                  <a16:creationId xmlns:a16="http://schemas.microsoft.com/office/drawing/2014/main" id="{DD721624-D109-EDA5-8428-212109988AF9}"/>
                </a:ext>
              </a:extLst>
            </p:cNvPr>
            <p:cNvCxnSpPr>
              <a:cxnSpLocks/>
              <a:stCxn id="133" idx="6"/>
              <a:endCxn id="134" idx="2"/>
            </p:cNvCxnSpPr>
            <p:nvPr/>
          </p:nvCxnSpPr>
          <p:spPr>
            <a:xfrm>
              <a:off x="3714744" y="2714620"/>
              <a:ext cx="571504" cy="0"/>
            </a:xfrm>
            <a:prstGeom prst="line">
              <a:avLst/>
            </a:prstGeom>
          </p:spPr>
          <p:style>
            <a:lnRef idx="2">
              <a:schemeClr val="accent5"/>
            </a:lnRef>
            <a:fillRef idx="0">
              <a:schemeClr val="accent5"/>
            </a:fillRef>
            <a:effectRef idx="1">
              <a:schemeClr val="accent5"/>
            </a:effectRef>
            <a:fontRef idx="minor">
              <a:schemeClr val="tx1"/>
            </a:fontRef>
          </p:style>
        </p:cxnSp>
        <p:cxnSp>
          <p:nvCxnSpPr>
            <p:cNvPr id="140" name="直接连接符 139">
              <a:extLst>
                <a:ext uri="{FF2B5EF4-FFF2-40B4-BE49-F238E27FC236}">
                  <a16:creationId xmlns:a16="http://schemas.microsoft.com/office/drawing/2014/main" id="{B7A83397-F3B2-A2D1-9155-64353176B79A}"/>
                </a:ext>
              </a:extLst>
            </p:cNvPr>
            <p:cNvCxnSpPr>
              <a:cxnSpLocks/>
              <a:stCxn id="131" idx="6"/>
              <a:endCxn id="134" idx="1"/>
            </p:cNvCxnSpPr>
            <p:nvPr/>
          </p:nvCxnSpPr>
          <p:spPr>
            <a:xfrm>
              <a:off x="2786050" y="1857364"/>
              <a:ext cx="1562969" cy="705713"/>
            </a:xfrm>
            <a:prstGeom prst="line">
              <a:avLst/>
            </a:prstGeom>
          </p:spPr>
          <p:style>
            <a:lnRef idx="2">
              <a:schemeClr val="accent5"/>
            </a:lnRef>
            <a:fillRef idx="0">
              <a:schemeClr val="accent5"/>
            </a:fillRef>
            <a:effectRef idx="1">
              <a:schemeClr val="accent5"/>
            </a:effectRef>
            <a:fontRef idx="minor">
              <a:schemeClr val="tx1"/>
            </a:fontRef>
          </p:style>
        </p:cxnSp>
        <p:cxnSp>
          <p:nvCxnSpPr>
            <p:cNvPr id="142" name="直接连接符 141">
              <a:extLst>
                <a:ext uri="{FF2B5EF4-FFF2-40B4-BE49-F238E27FC236}">
                  <a16:creationId xmlns:a16="http://schemas.microsoft.com/office/drawing/2014/main" id="{DFEA8008-0B2B-229E-3E96-916929021279}"/>
                </a:ext>
              </a:extLst>
            </p:cNvPr>
            <p:cNvCxnSpPr>
              <a:cxnSpLocks/>
              <a:stCxn id="130" idx="4"/>
              <a:endCxn id="131" idx="0"/>
            </p:cNvCxnSpPr>
            <p:nvPr/>
          </p:nvCxnSpPr>
          <p:spPr>
            <a:xfrm rot="5400000">
              <a:off x="2393141" y="1464455"/>
              <a:ext cx="357190" cy="0"/>
            </a:xfrm>
            <a:prstGeom prst="line">
              <a:avLst/>
            </a:prstGeom>
          </p:spPr>
          <p:style>
            <a:lnRef idx="2">
              <a:schemeClr val="accent5"/>
            </a:lnRef>
            <a:fillRef idx="0">
              <a:schemeClr val="accent5"/>
            </a:fillRef>
            <a:effectRef idx="1">
              <a:schemeClr val="accent5"/>
            </a:effectRef>
            <a:fontRef idx="minor">
              <a:schemeClr val="tx1"/>
            </a:fontRef>
          </p:style>
        </p:cxnSp>
      </p:grpSp>
      <p:grpSp>
        <p:nvGrpSpPr>
          <p:cNvPr id="6" name="组合 36">
            <a:extLst>
              <a:ext uri="{FF2B5EF4-FFF2-40B4-BE49-F238E27FC236}">
                <a16:creationId xmlns:a16="http://schemas.microsoft.com/office/drawing/2014/main" id="{C34DD91D-7499-9FD8-7295-78319BDDBA39}"/>
              </a:ext>
            </a:extLst>
          </p:cNvPr>
          <p:cNvGrpSpPr/>
          <p:nvPr/>
        </p:nvGrpSpPr>
        <p:grpSpPr>
          <a:xfrm>
            <a:off x="5785149" y="3797291"/>
            <a:ext cx="3429024" cy="2071702"/>
            <a:chOff x="1285852" y="857232"/>
            <a:chExt cx="3429024" cy="2071702"/>
          </a:xfrm>
        </p:grpSpPr>
        <p:sp>
          <p:nvSpPr>
            <p:cNvPr id="8" name="椭圆 7">
              <a:extLst>
                <a:ext uri="{FF2B5EF4-FFF2-40B4-BE49-F238E27FC236}">
                  <a16:creationId xmlns:a16="http://schemas.microsoft.com/office/drawing/2014/main" id="{C2A65BC8-FFFF-088E-B42B-90FBE6DE0BBA}"/>
                </a:ext>
              </a:extLst>
            </p:cNvPr>
            <p:cNvSpPr/>
            <p:nvPr/>
          </p:nvSpPr>
          <p:spPr>
            <a:xfrm>
              <a:off x="1285852" y="1643050"/>
              <a:ext cx="428628" cy="428628"/>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800" i="1">
                  <a:solidFill>
                    <a:srgbClr val="0000FF"/>
                  </a:solidFill>
                  <a:latin typeface="Consolas" pitchFamily="49" charset="0"/>
                  <a:cs typeface="Consolas" pitchFamily="49" charset="0"/>
                </a:rPr>
                <a:t>a</a:t>
              </a:r>
              <a:endParaRPr lang="zh-CN" altLang="en-US" sz="1800" i="1">
                <a:solidFill>
                  <a:srgbClr val="0000FF"/>
                </a:solidFill>
                <a:latin typeface="Consolas" pitchFamily="49" charset="0"/>
                <a:cs typeface="Consolas" pitchFamily="49" charset="0"/>
              </a:endParaRPr>
            </a:p>
          </p:txBody>
        </p:sp>
        <p:sp>
          <p:nvSpPr>
            <p:cNvPr id="9" name="椭圆 8">
              <a:extLst>
                <a:ext uri="{FF2B5EF4-FFF2-40B4-BE49-F238E27FC236}">
                  <a16:creationId xmlns:a16="http://schemas.microsoft.com/office/drawing/2014/main" id="{795D992E-EC44-517E-07FF-CAE77FAEE97A}"/>
                </a:ext>
              </a:extLst>
            </p:cNvPr>
            <p:cNvSpPr/>
            <p:nvPr/>
          </p:nvSpPr>
          <p:spPr>
            <a:xfrm>
              <a:off x="2357422" y="857232"/>
              <a:ext cx="428628" cy="428628"/>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800" i="1">
                  <a:solidFill>
                    <a:srgbClr val="0000FF"/>
                  </a:solidFill>
                  <a:latin typeface="Consolas" pitchFamily="49" charset="0"/>
                  <a:cs typeface="Consolas" pitchFamily="49" charset="0"/>
                </a:rPr>
                <a:t>b</a:t>
              </a:r>
              <a:endParaRPr lang="zh-CN" altLang="en-US" sz="1800" i="1">
                <a:solidFill>
                  <a:srgbClr val="0000FF"/>
                </a:solidFill>
                <a:latin typeface="Consolas" pitchFamily="49" charset="0"/>
                <a:cs typeface="Consolas" pitchFamily="49" charset="0"/>
              </a:endParaRPr>
            </a:p>
          </p:txBody>
        </p:sp>
        <p:sp>
          <p:nvSpPr>
            <p:cNvPr id="10" name="椭圆 9">
              <a:extLst>
                <a:ext uri="{FF2B5EF4-FFF2-40B4-BE49-F238E27FC236}">
                  <a16:creationId xmlns:a16="http://schemas.microsoft.com/office/drawing/2014/main" id="{A7128539-16D5-CF3D-4EC8-CABBD643B79D}"/>
                </a:ext>
              </a:extLst>
            </p:cNvPr>
            <p:cNvSpPr/>
            <p:nvPr/>
          </p:nvSpPr>
          <p:spPr>
            <a:xfrm>
              <a:off x="2357422" y="1643050"/>
              <a:ext cx="428628" cy="428628"/>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800" i="1">
                  <a:solidFill>
                    <a:srgbClr val="0000FF"/>
                  </a:solidFill>
                  <a:latin typeface="Consolas" pitchFamily="49" charset="0"/>
                  <a:cs typeface="Consolas" pitchFamily="49" charset="0"/>
                </a:rPr>
                <a:t>e</a:t>
              </a:r>
              <a:endParaRPr lang="zh-CN" altLang="en-US" sz="1800" i="1">
                <a:solidFill>
                  <a:srgbClr val="0000FF"/>
                </a:solidFill>
                <a:latin typeface="Consolas" pitchFamily="49" charset="0"/>
                <a:cs typeface="Consolas" pitchFamily="49" charset="0"/>
              </a:endParaRPr>
            </a:p>
          </p:txBody>
        </p:sp>
        <p:sp>
          <p:nvSpPr>
            <p:cNvPr id="11" name="椭圆 10">
              <a:extLst>
                <a:ext uri="{FF2B5EF4-FFF2-40B4-BE49-F238E27FC236}">
                  <a16:creationId xmlns:a16="http://schemas.microsoft.com/office/drawing/2014/main" id="{27C5DC89-BC63-2518-3D7B-4DAD4BEDAC3F}"/>
                </a:ext>
              </a:extLst>
            </p:cNvPr>
            <p:cNvSpPr/>
            <p:nvPr/>
          </p:nvSpPr>
          <p:spPr>
            <a:xfrm>
              <a:off x="2357422" y="2500306"/>
              <a:ext cx="428628" cy="428628"/>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800" i="1">
                  <a:solidFill>
                    <a:srgbClr val="0000FF"/>
                  </a:solidFill>
                  <a:latin typeface="Consolas" pitchFamily="49" charset="0"/>
                  <a:cs typeface="Consolas" pitchFamily="49" charset="0"/>
                </a:rPr>
                <a:t>c</a:t>
              </a:r>
              <a:endParaRPr lang="zh-CN" altLang="en-US" sz="1800" i="1">
                <a:solidFill>
                  <a:srgbClr val="0000FF"/>
                </a:solidFill>
                <a:latin typeface="Consolas" pitchFamily="49" charset="0"/>
                <a:cs typeface="Consolas" pitchFamily="49" charset="0"/>
              </a:endParaRPr>
            </a:p>
          </p:txBody>
        </p:sp>
        <p:sp>
          <p:nvSpPr>
            <p:cNvPr id="12" name="椭圆 11">
              <a:extLst>
                <a:ext uri="{FF2B5EF4-FFF2-40B4-BE49-F238E27FC236}">
                  <a16:creationId xmlns:a16="http://schemas.microsoft.com/office/drawing/2014/main" id="{4B49E5CA-BC62-85ED-791E-385C365DB922}"/>
                </a:ext>
              </a:extLst>
            </p:cNvPr>
            <p:cNvSpPr/>
            <p:nvPr/>
          </p:nvSpPr>
          <p:spPr>
            <a:xfrm>
              <a:off x="3286116" y="2500306"/>
              <a:ext cx="428628" cy="428628"/>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800" i="1">
                  <a:solidFill>
                    <a:srgbClr val="0000FF"/>
                  </a:solidFill>
                  <a:latin typeface="Consolas" pitchFamily="49" charset="0"/>
                  <a:cs typeface="Consolas" pitchFamily="49" charset="0"/>
                </a:rPr>
                <a:t>f</a:t>
              </a:r>
              <a:endParaRPr lang="zh-CN" altLang="en-US" sz="1800" i="1">
                <a:solidFill>
                  <a:srgbClr val="0000FF"/>
                </a:solidFill>
                <a:latin typeface="Consolas" pitchFamily="49" charset="0"/>
                <a:cs typeface="Consolas" pitchFamily="49" charset="0"/>
              </a:endParaRPr>
            </a:p>
          </p:txBody>
        </p:sp>
        <p:sp>
          <p:nvSpPr>
            <p:cNvPr id="13" name="椭圆 12">
              <a:extLst>
                <a:ext uri="{FF2B5EF4-FFF2-40B4-BE49-F238E27FC236}">
                  <a16:creationId xmlns:a16="http://schemas.microsoft.com/office/drawing/2014/main" id="{0579F803-DF9F-A398-13B7-DA8D91D03D0B}"/>
                </a:ext>
              </a:extLst>
            </p:cNvPr>
            <p:cNvSpPr/>
            <p:nvPr/>
          </p:nvSpPr>
          <p:spPr>
            <a:xfrm>
              <a:off x="4286248" y="2500306"/>
              <a:ext cx="428628" cy="428628"/>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800" i="1">
                  <a:solidFill>
                    <a:srgbClr val="0000FF"/>
                  </a:solidFill>
                  <a:latin typeface="Consolas" pitchFamily="49" charset="0"/>
                  <a:cs typeface="Consolas" pitchFamily="49" charset="0"/>
                </a:rPr>
                <a:t>d</a:t>
              </a:r>
              <a:endParaRPr lang="zh-CN" altLang="en-US" sz="1800" i="1">
                <a:solidFill>
                  <a:srgbClr val="0000FF"/>
                </a:solidFill>
                <a:latin typeface="Consolas" pitchFamily="49" charset="0"/>
                <a:cs typeface="Consolas" pitchFamily="49" charset="0"/>
              </a:endParaRPr>
            </a:p>
          </p:txBody>
        </p:sp>
        <p:cxnSp>
          <p:nvCxnSpPr>
            <p:cNvPr id="14" name="直接连接符 13">
              <a:extLst>
                <a:ext uri="{FF2B5EF4-FFF2-40B4-BE49-F238E27FC236}">
                  <a16:creationId xmlns:a16="http://schemas.microsoft.com/office/drawing/2014/main" id="{08DE529B-6EF3-95C1-CEB1-E3018A8B911A}"/>
                </a:ext>
              </a:extLst>
            </p:cNvPr>
            <p:cNvCxnSpPr>
              <a:stCxn id="8" idx="7"/>
              <a:endCxn id="9" idx="2"/>
            </p:cNvCxnSpPr>
            <p:nvPr/>
          </p:nvCxnSpPr>
          <p:spPr>
            <a:xfrm rot="5400000" flipH="1" flipV="1">
              <a:off x="1687428" y="1035828"/>
              <a:ext cx="634275" cy="705713"/>
            </a:xfrm>
            <a:prstGeom prst="line">
              <a:avLst/>
            </a:prstGeom>
          </p:spPr>
          <p:style>
            <a:lnRef idx="2">
              <a:schemeClr val="accent5"/>
            </a:lnRef>
            <a:fillRef idx="0">
              <a:schemeClr val="accent5"/>
            </a:fillRef>
            <a:effectRef idx="1">
              <a:schemeClr val="accent5"/>
            </a:effectRef>
            <a:fontRef idx="minor">
              <a:schemeClr val="tx1"/>
            </a:fontRef>
          </p:style>
        </p:cxnSp>
        <p:cxnSp>
          <p:nvCxnSpPr>
            <p:cNvPr id="15" name="直接连接符 14">
              <a:extLst>
                <a:ext uri="{FF2B5EF4-FFF2-40B4-BE49-F238E27FC236}">
                  <a16:creationId xmlns:a16="http://schemas.microsoft.com/office/drawing/2014/main" id="{A9D8DE59-6862-C64D-F044-FB6F6DC623E2}"/>
                </a:ext>
              </a:extLst>
            </p:cNvPr>
            <p:cNvCxnSpPr>
              <a:stCxn id="8" idx="6"/>
              <a:endCxn id="10" idx="2"/>
            </p:cNvCxnSpPr>
            <p:nvPr/>
          </p:nvCxnSpPr>
          <p:spPr>
            <a:xfrm>
              <a:off x="1714480" y="1857364"/>
              <a:ext cx="642942" cy="0"/>
            </a:xfrm>
            <a:prstGeom prst="line">
              <a:avLst/>
            </a:prstGeom>
          </p:spPr>
          <p:style>
            <a:lnRef idx="2">
              <a:schemeClr val="accent5"/>
            </a:lnRef>
            <a:fillRef idx="0">
              <a:schemeClr val="accent5"/>
            </a:fillRef>
            <a:effectRef idx="1">
              <a:schemeClr val="accent5"/>
            </a:effectRef>
            <a:fontRef idx="minor">
              <a:schemeClr val="tx1"/>
            </a:fontRef>
          </p:style>
        </p:cxnSp>
        <p:cxnSp>
          <p:nvCxnSpPr>
            <p:cNvPr id="16" name="直接连接符 15">
              <a:extLst>
                <a:ext uri="{FF2B5EF4-FFF2-40B4-BE49-F238E27FC236}">
                  <a16:creationId xmlns:a16="http://schemas.microsoft.com/office/drawing/2014/main" id="{F7101B9C-5FD4-E76B-70EA-D4B5C9D9213A}"/>
                </a:ext>
              </a:extLst>
            </p:cNvPr>
            <p:cNvCxnSpPr>
              <a:stCxn id="8" idx="5"/>
              <a:endCxn id="11" idx="2"/>
            </p:cNvCxnSpPr>
            <p:nvPr/>
          </p:nvCxnSpPr>
          <p:spPr>
            <a:xfrm rot="16200000" flipH="1">
              <a:off x="1651709" y="2008906"/>
              <a:ext cx="705713" cy="705713"/>
            </a:xfrm>
            <a:prstGeom prst="line">
              <a:avLst/>
            </a:prstGeom>
          </p:spPr>
          <p:style>
            <a:lnRef idx="2">
              <a:schemeClr val="accent5"/>
            </a:lnRef>
            <a:fillRef idx="0">
              <a:schemeClr val="accent5"/>
            </a:fillRef>
            <a:effectRef idx="1">
              <a:schemeClr val="accent5"/>
            </a:effectRef>
            <a:fontRef idx="minor">
              <a:schemeClr val="tx1"/>
            </a:fontRef>
          </p:style>
        </p:cxnSp>
        <p:cxnSp>
          <p:nvCxnSpPr>
            <p:cNvPr id="17" name="直接连接符 16">
              <a:extLst>
                <a:ext uri="{FF2B5EF4-FFF2-40B4-BE49-F238E27FC236}">
                  <a16:creationId xmlns:a16="http://schemas.microsoft.com/office/drawing/2014/main" id="{97446672-B400-A9D0-AA8B-BCD8FCD29C68}"/>
                </a:ext>
              </a:extLst>
            </p:cNvPr>
            <p:cNvCxnSpPr>
              <a:stCxn id="11" idx="6"/>
              <a:endCxn id="12" idx="2"/>
            </p:cNvCxnSpPr>
            <p:nvPr/>
          </p:nvCxnSpPr>
          <p:spPr>
            <a:xfrm>
              <a:off x="2786050" y="2714620"/>
              <a:ext cx="500066" cy="0"/>
            </a:xfrm>
            <a:prstGeom prst="line">
              <a:avLst/>
            </a:prstGeom>
          </p:spPr>
          <p:style>
            <a:lnRef idx="2">
              <a:schemeClr val="accent5"/>
            </a:lnRef>
            <a:fillRef idx="0">
              <a:schemeClr val="accent5"/>
            </a:fillRef>
            <a:effectRef idx="1">
              <a:schemeClr val="accent5"/>
            </a:effectRef>
            <a:fontRef idx="minor">
              <a:schemeClr val="tx1"/>
            </a:fontRef>
          </p:style>
        </p:cxnSp>
        <p:cxnSp>
          <p:nvCxnSpPr>
            <p:cNvPr id="18" name="直接连接符 17">
              <a:extLst>
                <a:ext uri="{FF2B5EF4-FFF2-40B4-BE49-F238E27FC236}">
                  <a16:creationId xmlns:a16="http://schemas.microsoft.com/office/drawing/2014/main" id="{38288F7C-747C-EA23-D542-61EBC3F626A2}"/>
                </a:ext>
              </a:extLst>
            </p:cNvPr>
            <p:cNvCxnSpPr>
              <a:stCxn id="12" idx="6"/>
              <a:endCxn id="13" idx="2"/>
            </p:cNvCxnSpPr>
            <p:nvPr/>
          </p:nvCxnSpPr>
          <p:spPr>
            <a:xfrm>
              <a:off x="3714744" y="2714620"/>
              <a:ext cx="571504" cy="0"/>
            </a:xfrm>
            <a:prstGeom prst="line">
              <a:avLst/>
            </a:prstGeom>
          </p:spPr>
          <p:style>
            <a:lnRef idx="2">
              <a:schemeClr val="accent5"/>
            </a:lnRef>
            <a:fillRef idx="0">
              <a:schemeClr val="accent5"/>
            </a:fillRef>
            <a:effectRef idx="1">
              <a:schemeClr val="accent5"/>
            </a:effectRef>
            <a:fontRef idx="minor">
              <a:schemeClr val="tx1"/>
            </a:fontRef>
          </p:style>
        </p:cxnSp>
        <p:cxnSp>
          <p:nvCxnSpPr>
            <p:cNvPr id="19" name="直接连接符 18">
              <a:extLst>
                <a:ext uri="{FF2B5EF4-FFF2-40B4-BE49-F238E27FC236}">
                  <a16:creationId xmlns:a16="http://schemas.microsoft.com/office/drawing/2014/main" id="{1844B2CE-7B93-042B-7C74-74C1D834E48B}"/>
                </a:ext>
              </a:extLst>
            </p:cNvPr>
            <p:cNvCxnSpPr>
              <a:stCxn id="10" idx="6"/>
              <a:endCxn id="13" idx="1"/>
            </p:cNvCxnSpPr>
            <p:nvPr/>
          </p:nvCxnSpPr>
          <p:spPr>
            <a:xfrm>
              <a:off x="2786050" y="1857364"/>
              <a:ext cx="1562969" cy="705713"/>
            </a:xfrm>
            <a:prstGeom prst="line">
              <a:avLst/>
            </a:prstGeom>
          </p:spPr>
          <p:style>
            <a:lnRef idx="2">
              <a:schemeClr val="accent5"/>
            </a:lnRef>
            <a:fillRef idx="0">
              <a:schemeClr val="accent5"/>
            </a:fillRef>
            <a:effectRef idx="1">
              <a:schemeClr val="accent5"/>
            </a:effectRef>
            <a:fontRef idx="minor">
              <a:schemeClr val="tx1"/>
            </a:fontRef>
          </p:style>
        </p:cxnSp>
        <p:cxnSp>
          <p:nvCxnSpPr>
            <p:cNvPr id="20" name="直接连接符 19">
              <a:extLst>
                <a:ext uri="{FF2B5EF4-FFF2-40B4-BE49-F238E27FC236}">
                  <a16:creationId xmlns:a16="http://schemas.microsoft.com/office/drawing/2014/main" id="{040F9CD0-E9B6-6945-B0C8-39AB843E388A}"/>
                </a:ext>
              </a:extLst>
            </p:cNvPr>
            <p:cNvCxnSpPr>
              <a:stCxn id="9" idx="4"/>
              <a:endCxn id="10" idx="0"/>
            </p:cNvCxnSpPr>
            <p:nvPr/>
          </p:nvCxnSpPr>
          <p:spPr>
            <a:xfrm rot="5400000">
              <a:off x="2393141" y="1464455"/>
              <a:ext cx="357190" cy="0"/>
            </a:xfrm>
            <a:prstGeom prst="line">
              <a:avLst/>
            </a:prstGeom>
          </p:spPr>
          <p:style>
            <a:lnRef idx="2">
              <a:schemeClr val="accent5"/>
            </a:lnRef>
            <a:fillRef idx="0">
              <a:schemeClr val="accent5"/>
            </a:fillRef>
            <a:effectRef idx="1">
              <a:schemeClr val="accent5"/>
            </a:effectRef>
            <a:fontRef idx="minor">
              <a:schemeClr val="tx1"/>
            </a:fontRef>
          </p:style>
        </p:cxnSp>
      </p:grpSp>
      <p:sp>
        <p:nvSpPr>
          <p:cNvPr id="21" name="TextBox 24">
            <a:extLst>
              <a:ext uri="{FF2B5EF4-FFF2-40B4-BE49-F238E27FC236}">
                <a16:creationId xmlns:a16="http://schemas.microsoft.com/office/drawing/2014/main" id="{AAB54C92-E1C5-C651-3A62-E22EBA0A40B7}"/>
              </a:ext>
            </a:extLst>
          </p:cNvPr>
          <p:cNvSpPr txBox="1"/>
          <p:nvPr/>
        </p:nvSpPr>
        <p:spPr>
          <a:xfrm>
            <a:off x="5213645" y="6369059"/>
            <a:ext cx="3559850" cy="400110"/>
          </a:xfrm>
          <a:prstGeom prst="rect">
            <a:avLst/>
          </a:prstGeom>
          <a:solidFill>
            <a:schemeClr val="bg1"/>
          </a:solidFill>
        </p:spPr>
        <p:txBody>
          <a:bodyPr wrap="square" rtlCol="0">
            <a:spAutoFit/>
          </a:bodyPr>
          <a:lstStyle/>
          <a:p>
            <a:pPr algn="l"/>
            <a:r>
              <a:rPr lang="en-US" altLang="zh-CN" sz="2000">
                <a:solidFill>
                  <a:srgbClr val="0000FF"/>
                </a:solidFill>
                <a:latin typeface="Consolas" pitchFamily="49" charset="0"/>
                <a:ea typeface="楷体" pitchFamily="49" charset="-122"/>
                <a:cs typeface="Consolas" pitchFamily="49" charset="0"/>
              </a:rPr>
              <a:t>A. a，b，e，c，d，f</a:t>
            </a:r>
            <a:endParaRPr lang="zh-CN" altLang="en-US" sz="2000"/>
          </a:p>
        </p:txBody>
      </p:sp>
      <p:sp>
        <p:nvSpPr>
          <p:cNvPr id="22" name="TextBox 26">
            <a:extLst>
              <a:ext uri="{FF2B5EF4-FFF2-40B4-BE49-F238E27FC236}">
                <a16:creationId xmlns:a16="http://schemas.microsoft.com/office/drawing/2014/main" id="{999F6941-7F97-0EF8-0F65-20C731215013}"/>
              </a:ext>
            </a:extLst>
          </p:cNvPr>
          <p:cNvSpPr txBox="1"/>
          <p:nvPr/>
        </p:nvSpPr>
        <p:spPr>
          <a:xfrm>
            <a:off x="5213645" y="6369059"/>
            <a:ext cx="3143272" cy="400110"/>
          </a:xfrm>
          <a:prstGeom prst="rect">
            <a:avLst/>
          </a:prstGeom>
          <a:solidFill>
            <a:schemeClr val="bg1"/>
          </a:solidFill>
        </p:spPr>
        <p:txBody>
          <a:bodyPr wrap="square" rtlCol="0">
            <a:spAutoFit/>
          </a:bodyPr>
          <a:lstStyle/>
          <a:p>
            <a:pPr algn="l"/>
            <a:r>
              <a:rPr lang="en-US" altLang="zh-CN" sz="2000">
                <a:solidFill>
                  <a:srgbClr val="0000FF"/>
                </a:solidFill>
                <a:latin typeface="Consolas" pitchFamily="49" charset="0"/>
                <a:ea typeface="楷体" pitchFamily="49" charset="-122"/>
                <a:cs typeface="Consolas" pitchFamily="49" charset="0"/>
              </a:rPr>
              <a:t>B. a，c，f，</a:t>
            </a:r>
            <a:r>
              <a:rPr lang="en-US" altLang="zh-CN" sz="2000">
                <a:solidFill>
                  <a:srgbClr val="FF00FF"/>
                </a:solidFill>
                <a:latin typeface="Consolas" pitchFamily="49" charset="0"/>
                <a:ea typeface="楷体" pitchFamily="49" charset="-122"/>
                <a:cs typeface="Consolas" pitchFamily="49" charset="0"/>
              </a:rPr>
              <a:t>e</a:t>
            </a:r>
            <a:r>
              <a:rPr lang="en-US" altLang="zh-CN" sz="2000">
                <a:solidFill>
                  <a:srgbClr val="0000FF"/>
                </a:solidFill>
                <a:latin typeface="Consolas" pitchFamily="49" charset="0"/>
                <a:ea typeface="楷体" pitchFamily="49" charset="-122"/>
                <a:cs typeface="Consolas" pitchFamily="49" charset="0"/>
              </a:rPr>
              <a:t>，b，d</a:t>
            </a:r>
            <a:endParaRPr lang="zh-CN" altLang="en-US" sz="2000"/>
          </a:p>
        </p:txBody>
      </p:sp>
      <p:sp>
        <p:nvSpPr>
          <p:cNvPr id="23" name="TextBox 33">
            <a:extLst>
              <a:ext uri="{FF2B5EF4-FFF2-40B4-BE49-F238E27FC236}">
                <a16:creationId xmlns:a16="http://schemas.microsoft.com/office/drawing/2014/main" id="{19A17A69-0D5A-8B26-4273-8138A1B6C621}"/>
              </a:ext>
            </a:extLst>
          </p:cNvPr>
          <p:cNvSpPr txBox="1"/>
          <p:nvPr/>
        </p:nvSpPr>
        <p:spPr>
          <a:xfrm>
            <a:off x="8428355" y="5940431"/>
            <a:ext cx="3857652" cy="400110"/>
          </a:xfrm>
          <a:prstGeom prst="rect">
            <a:avLst/>
          </a:prstGeom>
          <a:noFill/>
        </p:spPr>
        <p:txBody>
          <a:bodyPr wrap="square" rtlCol="0">
            <a:spAutoFit/>
          </a:bodyPr>
          <a:lstStyle/>
          <a:p>
            <a:pPr algn="l"/>
            <a:r>
              <a:rPr lang="zh-CN" altLang="en-US" sz="2000">
                <a:solidFill>
                  <a:srgbClr val="0000FF"/>
                </a:solidFill>
                <a:latin typeface="Consolas" pitchFamily="49" charset="0"/>
                <a:ea typeface="仿宋" pitchFamily="49" charset="-122"/>
                <a:cs typeface="Consolas" pitchFamily="49" charset="0"/>
                <a:sym typeface="Wingdings"/>
              </a:rPr>
              <a:t>下一个访问顶点是</a:t>
            </a:r>
            <a:r>
              <a:rPr lang="en-US" altLang="zh-CN" sz="2000">
                <a:solidFill>
                  <a:srgbClr val="0000FF"/>
                </a:solidFill>
                <a:latin typeface="Consolas" pitchFamily="49" charset="0"/>
                <a:ea typeface="仿宋" pitchFamily="49" charset="-122"/>
                <a:cs typeface="Consolas" pitchFamily="49" charset="0"/>
                <a:sym typeface="Wingdings"/>
              </a:rPr>
              <a:t>d</a:t>
            </a:r>
            <a:r>
              <a:rPr lang="zh-CN" altLang="en-US" sz="2000">
                <a:solidFill>
                  <a:srgbClr val="0000FF"/>
                </a:solidFill>
                <a:latin typeface="Consolas" pitchFamily="49" charset="0"/>
                <a:ea typeface="仿宋" pitchFamily="49" charset="-122"/>
                <a:cs typeface="Consolas" pitchFamily="49" charset="0"/>
                <a:sym typeface="Wingdings"/>
              </a:rPr>
              <a:t>不可能是</a:t>
            </a:r>
            <a:r>
              <a:rPr lang="en-US" altLang="zh-CN" sz="2000">
                <a:solidFill>
                  <a:srgbClr val="FF00FF"/>
                </a:solidFill>
                <a:latin typeface="Consolas" pitchFamily="49" charset="0"/>
                <a:ea typeface="仿宋" pitchFamily="49" charset="-122"/>
                <a:cs typeface="Consolas" pitchFamily="49" charset="0"/>
                <a:sym typeface="Wingdings"/>
              </a:rPr>
              <a:t>e</a:t>
            </a:r>
            <a:endParaRPr lang="zh-CN" altLang="en-US" sz="2000"/>
          </a:p>
        </p:txBody>
      </p:sp>
      <p:cxnSp>
        <p:nvCxnSpPr>
          <p:cNvPr id="24" name="直接箭头连接符 23">
            <a:extLst>
              <a:ext uri="{FF2B5EF4-FFF2-40B4-BE49-F238E27FC236}">
                <a16:creationId xmlns:a16="http://schemas.microsoft.com/office/drawing/2014/main" id="{0563F807-D543-450B-DA73-2F874BDCBDF6}"/>
              </a:ext>
            </a:extLst>
          </p:cNvPr>
          <p:cNvCxnSpPr/>
          <p:nvPr/>
        </p:nvCxnSpPr>
        <p:spPr>
          <a:xfrm rot="16200000" flipH="1">
            <a:off x="6070901" y="5083175"/>
            <a:ext cx="714380" cy="714380"/>
          </a:xfrm>
          <a:prstGeom prst="straightConnector1">
            <a:avLst/>
          </a:prstGeom>
          <a:ln>
            <a:solidFill>
              <a:srgbClr val="FF0000"/>
            </a:solidFill>
            <a:tailEnd type="arrow"/>
          </a:ln>
        </p:spPr>
        <p:style>
          <a:lnRef idx="2">
            <a:schemeClr val="accent5"/>
          </a:lnRef>
          <a:fillRef idx="0">
            <a:schemeClr val="accent5"/>
          </a:fillRef>
          <a:effectRef idx="1">
            <a:schemeClr val="accent5"/>
          </a:effectRef>
          <a:fontRef idx="minor">
            <a:schemeClr val="tx1"/>
          </a:fontRef>
        </p:style>
      </p:cxnSp>
      <p:cxnSp>
        <p:nvCxnSpPr>
          <p:cNvPr id="25" name="直接箭头连接符 24">
            <a:extLst>
              <a:ext uri="{FF2B5EF4-FFF2-40B4-BE49-F238E27FC236}">
                <a16:creationId xmlns:a16="http://schemas.microsoft.com/office/drawing/2014/main" id="{8159CBF8-6A78-3D2C-A58E-8C0AF5526175}"/>
              </a:ext>
            </a:extLst>
          </p:cNvPr>
          <p:cNvCxnSpPr/>
          <p:nvPr/>
        </p:nvCxnSpPr>
        <p:spPr>
          <a:xfrm>
            <a:off x="7285347" y="5797555"/>
            <a:ext cx="491399" cy="8667"/>
          </a:xfrm>
          <a:prstGeom prst="straightConnector1">
            <a:avLst/>
          </a:prstGeom>
          <a:ln>
            <a:solidFill>
              <a:srgbClr val="FF0000"/>
            </a:solidFill>
            <a:tailEnd type="arrow"/>
          </a:ln>
        </p:spPr>
        <p:style>
          <a:lnRef idx="2">
            <a:schemeClr val="accent5"/>
          </a:lnRef>
          <a:fillRef idx="0">
            <a:schemeClr val="accent5"/>
          </a:fillRef>
          <a:effectRef idx="1">
            <a:schemeClr val="accent5"/>
          </a:effectRef>
          <a:fontRef idx="minor">
            <a:schemeClr val="tx1"/>
          </a:fontRef>
        </p:style>
      </p:cxnSp>
      <p:cxnSp>
        <p:nvCxnSpPr>
          <p:cNvPr id="26" name="直接箭头连接符 25">
            <a:extLst>
              <a:ext uri="{FF2B5EF4-FFF2-40B4-BE49-F238E27FC236}">
                <a16:creationId xmlns:a16="http://schemas.microsoft.com/office/drawing/2014/main" id="{61480D1D-4ED0-3960-9A67-9E368AB9A5B5}"/>
              </a:ext>
            </a:extLst>
          </p:cNvPr>
          <p:cNvCxnSpPr/>
          <p:nvPr/>
        </p:nvCxnSpPr>
        <p:spPr>
          <a:xfrm>
            <a:off x="8194377" y="5787723"/>
            <a:ext cx="634275" cy="8667"/>
          </a:xfrm>
          <a:prstGeom prst="straightConnector1">
            <a:avLst/>
          </a:prstGeom>
          <a:ln>
            <a:solidFill>
              <a:srgbClr val="FF0000"/>
            </a:solidFill>
            <a:tailEnd type="arrow"/>
          </a:ln>
        </p:spPr>
        <p:style>
          <a:lnRef idx="2">
            <a:schemeClr val="accent5"/>
          </a:lnRef>
          <a:fillRef idx="0">
            <a:schemeClr val="accent5"/>
          </a:fillRef>
          <a:effectRef idx="1">
            <a:schemeClr val="accent5"/>
          </a:effectRef>
          <a:fontRef idx="minor">
            <a:schemeClr val="tx1"/>
          </a:fontRef>
        </p:style>
      </p:cxnSp>
    </p:spTree>
    <p:extLst>
      <p:ext uri="{BB962C8B-B14F-4D97-AF65-F5344CB8AC3E}">
        <p14:creationId xmlns:p14="http://schemas.microsoft.com/office/powerpoint/2010/main" val="18264438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strips(downRight)">
                                      <p:cBhvr>
                                        <p:cTn id="7" dur="1000"/>
                                        <p:tgtEl>
                                          <p:spTgt spid="24"/>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3" fill="hold" nodeType="clickEffect">
                                  <p:stCondLst>
                                    <p:cond delay="0"/>
                                  </p:stCondLst>
                                  <p:childTnLst>
                                    <p:set>
                                      <p:cBhvr>
                                        <p:cTn id="11" dur="1" fill="hold">
                                          <p:stCondLst>
                                            <p:cond delay="0"/>
                                          </p:stCondLst>
                                        </p:cTn>
                                        <p:tgtEl>
                                          <p:spTgt spid="25"/>
                                        </p:tgtEl>
                                        <p:attrNameLst>
                                          <p:attrName>style.visibility</p:attrName>
                                        </p:attrNameLst>
                                      </p:cBhvr>
                                      <p:to>
                                        <p:strVal val="visible"/>
                                      </p:to>
                                    </p:set>
                                    <p:animEffect transition="in" filter="strips(upRight)">
                                      <p:cBhvr>
                                        <p:cTn id="12" dur="1000"/>
                                        <p:tgtEl>
                                          <p:spTgt spid="25"/>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3" fill="hold" nodeType="clickEffect">
                                  <p:stCondLst>
                                    <p:cond delay="0"/>
                                  </p:stCondLst>
                                  <p:childTnLst>
                                    <p:set>
                                      <p:cBhvr>
                                        <p:cTn id="16" dur="1" fill="hold">
                                          <p:stCondLst>
                                            <p:cond delay="0"/>
                                          </p:stCondLst>
                                        </p:cTn>
                                        <p:tgtEl>
                                          <p:spTgt spid="26"/>
                                        </p:tgtEl>
                                        <p:attrNameLst>
                                          <p:attrName>style.visibility</p:attrName>
                                        </p:attrNameLst>
                                      </p:cBhvr>
                                      <p:to>
                                        <p:strVal val="visible"/>
                                      </p:to>
                                    </p:set>
                                    <p:animEffect transition="in" filter="strips(upRight)">
                                      <p:cBhvr>
                                        <p:cTn id="17" dur="1000"/>
                                        <p:tgtEl>
                                          <p:spTgt spid="26"/>
                                        </p:tgtEl>
                                      </p:cBhvr>
                                    </p:animEffect>
                                  </p:childTnLst>
                                </p:cTn>
                              </p:par>
                            </p:childTnLst>
                          </p:cTn>
                        </p:par>
                        <p:par>
                          <p:cTn id="18" fill="hold">
                            <p:stCondLst>
                              <p:cond delay="1000"/>
                            </p:stCondLst>
                            <p:childTnLst>
                              <p:par>
                                <p:cTn id="19" presetID="1" presetClass="entr" presetSubtype="0" fill="hold" grpId="0" nodeType="afterEffect">
                                  <p:stCondLst>
                                    <p:cond delay="0"/>
                                  </p:stCondLst>
                                  <p:childTnLst>
                                    <p:set>
                                      <p:cBhvr>
                                        <p:cTn id="20"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8D43D9-218D-745D-4B22-A4E78129BA51}"/>
            </a:ext>
          </a:extLst>
        </p:cNvPr>
        <p:cNvGrpSpPr/>
        <p:nvPr/>
      </p:nvGrpSpPr>
      <p:grpSpPr>
        <a:xfrm>
          <a:off x="0" y="0"/>
          <a:ext cx="0" cy="0"/>
          <a:chOff x="0" y="0"/>
          <a:chExt cx="0" cy="0"/>
        </a:xfrm>
      </p:grpSpPr>
      <p:sp>
        <p:nvSpPr>
          <p:cNvPr id="2" name="Rectangle 2">
            <a:extLst>
              <a:ext uri="{FF2B5EF4-FFF2-40B4-BE49-F238E27FC236}">
                <a16:creationId xmlns:a16="http://schemas.microsoft.com/office/drawing/2014/main" id="{FDB650EB-5E9B-C803-9D0E-77C8642F6793}"/>
              </a:ext>
            </a:extLst>
          </p:cNvPr>
          <p:cNvSpPr txBox="1">
            <a:spLocks noChangeArrowheads="1"/>
          </p:cNvSpPr>
          <p:nvPr/>
        </p:nvSpPr>
        <p:spPr>
          <a:xfrm>
            <a:off x="474772" y="1230902"/>
            <a:ext cx="4253076"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8.3.2 </a:t>
            </a:r>
            <a:r>
              <a:rPr kumimoji="1" lang="zh-CN" altLang="en-US" dirty="0">
                <a:latin typeface="微软雅黑" pitchFamily="34" charset="-122"/>
                <a:ea typeface="微软雅黑" pitchFamily="34" charset="-122"/>
              </a:rPr>
              <a:t>深度优先遍历算法</a:t>
            </a:r>
            <a:endParaRPr lang="zh-CN" altLang="en-US" dirty="0"/>
          </a:p>
        </p:txBody>
      </p:sp>
      <p:sp>
        <p:nvSpPr>
          <p:cNvPr id="3" name="矩形 2">
            <a:extLst>
              <a:ext uri="{FF2B5EF4-FFF2-40B4-BE49-F238E27FC236}">
                <a16:creationId xmlns:a16="http://schemas.microsoft.com/office/drawing/2014/main" id="{DCBDF3A6-BCB1-5016-C4D2-5FFF6112CEC5}"/>
              </a:ext>
            </a:extLst>
          </p:cNvPr>
          <p:cNvSpPr/>
          <p:nvPr/>
        </p:nvSpPr>
        <p:spPr>
          <a:xfrm>
            <a:off x="3200907" y="399148"/>
            <a:ext cx="4617860"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8.3 </a:t>
            </a:r>
            <a:r>
              <a:rPr lang="zh-CN" altLang="en-US" sz="3000" b="1" dirty="0">
                <a:latin typeface="黑体" pitchFamily="49" charset="-122"/>
                <a:ea typeface="黑体" pitchFamily="49" charset="-122"/>
                <a:cs typeface="经典粗黑简" pitchFamily="49" charset="-122"/>
              </a:rPr>
              <a:t>图的遍历</a:t>
            </a:r>
          </a:p>
        </p:txBody>
      </p:sp>
      <p:cxnSp>
        <p:nvCxnSpPr>
          <p:cNvPr id="4" name="直接连接符 3">
            <a:extLst>
              <a:ext uri="{FF2B5EF4-FFF2-40B4-BE49-F238E27FC236}">
                <a16:creationId xmlns:a16="http://schemas.microsoft.com/office/drawing/2014/main" id="{D178F3F6-EBA4-232B-AB06-B50DD467BEA5}"/>
              </a:ext>
            </a:extLst>
          </p:cNvPr>
          <p:cNvCxnSpPr>
            <a:cxnSpLocks/>
          </p:cNvCxnSpPr>
          <p:nvPr/>
        </p:nvCxnSpPr>
        <p:spPr>
          <a:xfrm>
            <a:off x="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5" name="TextBox 2">
            <a:extLst>
              <a:ext uri="{FF2B5EF4-FFF2-40B4-BE49-F238E27FC236}">
                <a16:creationId xmlns:a16="http://schemas.microsoft.com/office/drawing/2014/main" id="{23184045-002C-45AD-CD03-B6F43FB493AF}"/>
              </a:ext>
            </a:extLst>
          </p:cNvPr>
          <p:cNvSpPr txBox="1"/>
          <p:nvPr/>
        </p:nvSpPr>
        <p:spPr>
          <a:xfrm>
            <a:off x="839416" y="1932287"/>
            <a:ext cx="7286676" cy="3785652"/>
          </a:xfrm>
          <a:prstGeom prst="rect">
            <a:avLst/>
          </a:prstGeom>
          <a:noFill/>
          <a:ln>
            <a:noFill/>
          </a:ln>
          <a:effectLst/>
          <a:scene3d>
            <a:camera prst="orthographicFront">
              <a:rot lat="0" lon="0" rev="0"/>
            </a:camera>
            <a:lightRig rig="contrasting" dir="t">
              <a:rot lat="0" lon="0" rev="1500000"/>
            </a:lightRig>
          </a:scene3d>
          <a:sp3d prstMaterial="metal">
            <a:bevelT w="88900" h="88900"/>
          </a:sp3d>
        </p:spPr>
        <p:style>
          <a:lnRef idx="1">
            <a:schemeClr val="accent1"/>
          </a:lnRef>
          <a:fillRef idx="2">
            <a:schemeClr val="accent1"/>
          </a:fillRef>
          <a:effectRef idx="1">
            <a:schemeClr val="accent1"/>
          </a:effectRef>
          <a:fontRef idx="minor">
            <a:schemeClr val="dk1"/>
          </a:fontRef>
        </p:style>
        <p:txBody>
          <a:bodyPr wrap="square" rtlCol="0">
            <a:spAutoFit/>
          </a:bodyPr>
          <a:lstStyle/>
          <a:p>
            <a:pPr algn="l">
              <a:lnSpc>
                <a:spcPct val="150000"/>
              </a:lnSpc>
            </a:pPr>
            <a:r>
              <a:rPr lang="zh-CN" altLang="en-US" sz="2000" dirty="0">
                <a:solidFill>
                  <a:srgbClr val="0000FF"/>
                </a:solidFill>
                <a:latin typeface="Consolas" pitchFamily="49" charset="0"/>
                <a:ea typeface="楷体" pitchFamily="49" charset="-122"/>
                <a:cs typeface="Consolas" pitchFamily="49" charset="0"/>
              </a:rPr>
              <a:t>   无向图</a:t>
            </a:r>
            <a:r>
              <a:rPr lang="en-US" sz="2000" dirty="0">
                <a:solidFill>
                  <a:srgbClr val="0000FF"/>
                </a:solidFill>
                <a:latin typeface="Consolas" pitchFamily="49" charset="0"/>
                <a:ea typeface="楷体" pitchFamily="49" charset="-122"/>
                <a:cs typeface="Consolas" pitchFamily="49" charset="0"/>
              </a:rPr>
              <a:t>G=（V, E），</a:t>
            </a:r>
            <a:r>
              <a:rPr lang="zh-CN" altLang="en-US" sz="2000" dirty="0">
                <a:solidFill>
                  <a:srgbClr val="0000FF"/>
                </a:solidFill>
                <a:latin typeface="Consolas" pitchFamily="49" charset="0"/>
                <a:ea typeface="楷体" pitchFamily="49" charset="-122"/>
                <a:cs typeface="Consolas" pitchFamily="49" charset="0"/>
              </a:rPr>
              <a:t>其中</a:t>
            </a:r>
            <a:endParaRPr lang="en-US" altLang="zh-CN" sz="2000" dirty="0">
              <a:solidFill>
                <a:srgbClr val="0000FF"/>
              </a:solidFill>
              <a:latin typeface="Consolas" pitchFamily="49" charset="0"/>
              <a:ea typeface="楷体" pitchFamily="49" charset="-122"/>
              <a:cs typeface="Consolas" pitchFamily="49" charset="0"/>
            </a:endParaRPr>
          </a:p>
          <a:p>
            <a:pPr algn="l">
              <a:lnSpc>
                <a:spcPct val="150000"/>
              </a:lnSpc>
            </a:pPr>
            <a:r>
              <a:rPr lang="en-US" sz="2000" dirty="0">
                <a:solidFill>
                  <a:srgbClr val="0000FF"/>
                </a:solidFill>
                <a:latin typeface="Consolas" pitchFamily="49" charset="0"/>
                <a:ea typeface="楷体" pitchFamily="49" charset="-122"/>
                <a:cs typeface="Consolas" pitchFamily="49" charset="0"/>
              </a:rPr>
              <a:t>    V={</a:t>
            </a:r>
            <a:r>
              <a:rPr lang="en-US" sz="2000" dirty="0" err="1">
                <a:solidFill>
                  <a:srgbClr val="0000FF"/>
                </a:solidFill>
                <a:latin typeface="Consolas" pitchFamily="49" charset="0"/>
                <a:ea typeface="楷体" pitchFamily="49" charset="-122"/>
                <a:cs typeface="Consolas" pitchFamily="49" charset="0"/>
              </a:rPr>
              <a:t>a,b,c,d,e,f</a:t>
            </a:r>
            <a:r>
              <a:rPr lang="en-US" sz="2000" dirty="0">
                <a:solidFill>
                  <a:srgbClr val="0000FF"/>
                </a:solidFill>
                <a:latin typeface="Consolas" pitchFamily="49" charset="0"/>
                <a:ea typeface="楷体" pitchFamily="49" charset="-122"/>
                <a:cs typeface="Consolas" pitchFamily="49" charset="0"/>
              </a:rPr>
              <a:t>},</a:t>
            </a:r>
          </a:p>
          <a:p>
            <a:pPr algn="l">
              <a:lnSpc>
                <a:spcPct val="150000"/>
              </a:lnSpc>
            </a:pPr>
            <a:r>
              <a:rPr lang="en-US" sz="2000" dirty="0">
                <a:solidFill>
                  <a:srgbClr val="0000FF"/>
                </a:solidFill>
                <a:latin typeface="Consolas" pitchFamily="49" charset="0"/>
                <a:ea typeface="楷体" pitchFamily="49" charset="-122"/>
                <a:cs typeface="Consolas" pitchFamily="49" charset="0"/>
              </a:rPr>
              <a:t>    E={(</a:t>
            </a:r>
            <a:r>
              <a:rPr lang="en-US" sz="2000" dirty="0" err="1">
                <a:solidFill>
                  <a:srgbClr val="0000FF"/>
                </a:solidFill>
                <a:latin typeface="Consolas" pitchFamily="49" charset="0"/>
                <a:ea typeface="楷体" pitchFamily="49" charset="-122"/>
                <a:cs typeface="Consolas" pitchFamily="49" charset="0"/>
              </a:rPr>
              <a:t>a,b</a:t>
            </a:r>
            <a:r>
              <a:rPr lang="en-US" sz="2000" dirty="0">
                <a:solidFill>
                  <a:srgbClr val="0000FF"/>
                </a:solidFill>
                <a:latin typeface="Consolas" pitchFamily="49" charset="0"/>
                <a:ea typeface="楷体" pitchFamily="49" charset="-122"/>
                <a:cs typeface="Consolas" pitchFamily="49" charset="0"/>
              </a:rPr>
              <a:t>),(</a:t>
            </a:r>
            <a:r>
              <a:rPr lang="en-US" sz="2000" dirty="0" err="1">
                <a:solidFill>
                  <a:srgbClr val="0000FF"/>
                </a:solidFill>
                <a:latin typeface="Consolas" pitchFamily="49" charset="0"/>
                <a:ea typeface="楷体" pitchFamily="49" charset="-122"/>
                <a:cs typeface="Consolas" pitchFamily="49" charset="0"/>
              </a:rPr>
              <a:t>a,e</a:t>
            </a:r>
            <a:r>
              <a:rPr lang="en-US" sz="2000" dirty="0">
                <a:solidFill>
                  <a:srgbClr val="0000FF"/>
                </a:solidFill>
                <a:latin typeface="Consolas" pitchFamily="49" charset="0"/>
                <a:ea typeface="楷体" pitchFamily="49" charset="-122"/>
                <a:cs typeface="Consolas" pitchFamily="49" charset="0"/>
              </a:rPr>
              <a:t>),(</a:t>
            </a:r>
            <a:r>
              <a:rPr lang="en-US" sz="2000" dirty="0" err="1">
                <a:solidFill>
                  <a:srgbClr val="0000FF"/>
                </a:solidFill>
                <a:latin typeface="Consolas" pitchFamily="49" charset="0"/>
                <a:ea typeface="楷体" pitchFamily="49" charset="-122"/>
                <a:cs typeface="Consolas" pitchFamily="49" charset="0"/>
              </a:rPr>
              <a:t>a,c</a:t>
            </a:r>
            <a:r>
              <a:rPr lang="en-US" sz="2000" dirty="0">
                <a:solidFill>
                  <a:srgbClr val="0000FF"/>
                </a:solidFill>
                <a:latin typeface="Consolas" pitchFamily="49" charset="0"/>
                <a:ea typeface="楷体" pitchFamily="49" charset="-122"/>
                <a:cs typeface="Consolas" pitchFamily="49" charset="0"/>
              </a:rPr>
              <a:t>),(</a:t>
            </a:r>
            <a:r>
              <a:rPr lang="en-US" sz="2000" dirty="0" err="1">
                <a:solidFill>
                  <a:srgbClr val="0000FF"/>
                </a:solidFill>
                <a:latin typeface="Consolas" pitchFamily="49" charset="0"/>
                <a:ea typeface="楷体" pitchFamily="49" charset="-122"/>
                <a:cs typeface="Consolas" pitchFamily="49" charset="0"/>
              </a:rPr>
              <a:t>b,e</a:t>
            </a:r>
            <a:r>
              <a:rPr lang="en-US" sz="2000" dirty="0">
                <a:solidFill>
                  <a:srgbClr val="0000FF"/>
                </a:solidFill>
                <a:latin typeface="Consolas" pitchFamily="49" charset="0"/>
                <a:ea typeface="楷体" pitchFamily="49" charset="-122"/>
                <a:cs typeface="Consolas" pitchFamily="49" charset="0"/>
              </a:rPr>
              <a:t>),(</a:t>
            </a:r>
            <a:r>
              <a:rPr lang="en-US" sz="2000" dirty="0" err="1">
                <a:solidFill>
                  <a:srgbClr val="0000FF"/>
                </a:solidFill>
                <a:latin typeface="Consolas" pitchFamily="49" charset="0"/>
                <a:ea typeface="楷体" pitchFamily="49" charset="-122"/>
                <a:cs typeface="Consolas" pitchFamily="49" charset="0"/>
              </a:rPr>
              <a:t>c,f</a:t>
            </a:r>
            <a:r>
              <a:rPr lang="en-US" sz="2000" dirty="0">
                <a:solidFill>
                  <a:srgbClr val="0000FF"/>
                </a:solidFill>
                <a:latin typeface="Consolas" pitchFamily="49" charset="0"/>
                <a:ea typeface="楷体" pitchFamily="49" charset="-122"/>
                <a:cs typeface="Consolas" pitchFamily="49" charset="0"/>
              </a:rPr>
              <a:t>),(</a:t>
            </a:r>
            <a:r>
              <a:rPr lang="en-US" sz="2000" dirty="0" err="1">
                <a:solidFill>
                  <a:srgbClr val="0000FF"/>
                </a:solidFill>
                <a:latin typeface="Consolas" pitchFamily="49" charset="0"/>
                <a:ea typeface="楷体" pitchFamily="49" charset="-122"/>
                <a:cs typeface="Consolas" pitchFamily="49" charset="0"/>
              </a:rPr>
              <a:t>f,d</a:t>
            </a:r>
            <a:r>
              <a:rPr lang="en-US" sz="2000" dirty="0">
                <a:solidFill>
                  <a:srgbClr val="0000FF"/>
                </a:solidFill>
                <a:latin typeface="Consolas" pitchFamily="49" charset="0"/>
                <a:ea typeface="楷体" pitchFamily="49" charset="-122"/>
                <a:cs typeface="Consolas" pitchFamily="49" charset="0"/>
              </a:rPr>
              <a:t>),(</a:t>
            </a:r>
            <a:r>
              <a:rPr lang="en-US" sz="2000" dirty="0" err="1">
                <a:solidFill>
                  <a:srgbClr val="0000FF"/>
                </a:solidFill>
                <a:latin typeface="Consolas" pitchFamily="49" charset="0"/>
                <a:ea typeface="楷体" pitchFamily="49" charset="-122"/>
                <a:cs typeface="Consolas" pitchFamily="49" charset="0"/>
              </a:rPr>
              <a:t>e,d</a:t>
            </a:r>
            <a:r>
              <a:rPr lang="en-US" sz="2000" dirty="0">
                <a:solidFill>
                  <a:srgbClr val="0000FF"/>
                </a:solidFill>
                <a:latin typeface="Consolas" pitchFamily="49" charset="0"/>
                <a:ea typeface="楷体" pitchFamily="49" charset="-122"/>
                <a:cs typeface="Consolas" pitchFamily="49" charset="0"/>
              </a:rPr>
              <a:t>)}</a:t>
            </a:r>
          </a:p>
          <a:p>
            <a:pPr algn="l">
              <a:lnSpc>
                <a:spcPct val="150000"/>
              </a:lnSpc>
            </a:pPr>
            <a:r>
              <a:rPr lang="zh-CN" altLang="en-US" sz="2000" dirty="0">
                <a:solidFill>
                  <a:srgbClr val="0000FF"/>
                </a:solidFill>
                <a:latin typeface="Consolas" pitchFamily="49" charset="0"/>
                <a:ea typeface="楷体" pitchFamily="49" charset="-122"/>
                <a:cs typeface="Consolas" pitchFamily="49" charset="0"/>
              </a:rPr>
              <a:t>对该图进行深度优先排序，得到的顶点序列正确的是（  ）。</a:t>
            </a:r>
            <a:br>
              <a:rPr lang="zh-CN" altLang="en-US" sz="2000" dirty="0">
                <a:solidFill>
                  <a:srgbClr val="0000FF"/>
                </a:solidFill>
                <a:latin typeface="Consolas" pitchFamily="49" charset="0"/>
                <a:ea typeface="楷体" pitchFamily="49" charset="-122"/>
                <a:cs typeface="Consolas" pitchFamily="49" charset="0"/>
              </a:rPr>
            </a:br>
            <a:r>
              <a:rPr lang="zh-CN" altLang="en-US" sz="2000" dirty="0">
                <a:solidFill>
                  <a:srgbClr val="0000FF"/>
                </a:solidFill>
                <a:latin typeface="Consolas" pitchFamily="49" charset="0"/>
                <a:ea typeface="楷体" pitchFamily="49" charset="-122"/>
                <a:cs typeface="Consolas" pitchFamily="49" charset="0"/>
              </a:rPr>
              <a:t>    </a:t>
            </a:r>
            <a:r>
              <a:rPr lang="en-US" altLang="zh-CN" sz="2000" dirty="0">
                <a:solidFill>
                  <a:srgbClr val="0000FF"/>
                </a:solidFill>
                <a:latin typeface="Consolas" pitchFamily="49" charset="0"/>
                <a:ea typeface="楷体" pitchFamily="49" charset="-122"/>
                <a:cs typeface="Consolas" pitchFamily="49" charset="0"/>
              </a:rPr>
              <a:t>A. </a:t>
            </a:r>
            <a:r>
              <a:rPr lang="en-US" sz="2000" dirty="0" err="1">
                <a:solidFill>
                  <a:srgbClr val="0000FF"/>
                </a:solidFill>
                <a:latin typeface="Consolas" pitchFamily="49" charset="0"/>
                <a:ea typeface="楷体" pitchFamily="49" charset="-122"/>
                <a:cs typeface="Consolas" pitchFamily="49" charset="0"/>
              </a:rPr>
              <a:t>a，b，e，c，d，f</a:t>
            </a:r>
            <a:endParaRPr lang="en-US" sz="2000" dirty="0">
              <a:solidFill>
                <a:srgbClr val="0000FF"/>
              </a:solidFill>
              <a:latin typeface="Consolas" pitchFamily="49" charset="0"/>
              <a:ea typeface="楷体" pitchFamily="49" charset="-122"/>
              <a:cs typeface="Consolas" pitchFamily="49" charset="0"/>
            </a:endParaRPr>
          </a:p>
          <a:p>
            <a:pPr algn="l">
              <a:lnSpc>
                <a:spcPct val="150000"/>
              </a:lnSpc>
            </a:pPr>
            <a:r>
              <a:rPr lang="en-US" sz="2000" dirty="0">
                <a:solidFill>
                  <a:srgbClr val="0000FF"/>
                </a:solidFill>
                <a:latin typeface="Consolas" pitchFamily="49" charset="0"/>
                <a:ea typeface="楷体" pitchFamily="49" charset="-122"/>
                <a:cs typeface="Consolas" pitchFamily="49" charset="0"/>
              </a:rPr>
              <a:t>    B. </a:t>
            </a:r>
            <a:r>
              <a:rPr lang="en-US" sz="2000" dirty="0" err="1">
                <a:solidFill>
                  <a:srgbClr val="0000FF"/>
                </a:solidFill>
                <a:latin typeface="Consolas" pitchFamily="49" charset="0"/>
                <a:ea typeface="楷体" pitchFamily="49" charset="-122"/>
                <a:cs typeface="Consolas" pitchFamily="49" charset="0"/>
              </a:rPr>
              <a:t>a，c，f，e，b，d</a:t>
            </a:r>
            <a:endParaRPr lang="en-US" sz="2000" dirty="0">
              <a:solidFill>
                <a:srgbClr val="0000FF"/>
              </a:solidFill>
              <a:latin typeface="Consolas" pitchFamily="49" charset="0"/>
              <a:ea typeface="楷体" pitchFamily="49" charset="-122"/>
              <a:cs typeface="Consolas" pitchFamily="49" charset="0"/>
            </a:endParaRPr>
          </a:p>
          <a:p>
            <a:pPr algn="l">
              <a:lnSpc>
                <a:spcPct val="150000"/>
              </a:lnSpc>
            </a:pPr>
            <a:r>
              <a:rPr lang="en-US" sz="2000" dirty="0">
                <a:solidFill>
                  <a:srgbClr val="0000FF"/>
                </a:solidFill>
                <a:latin typeface="Consolas" pitchFamily="49" charset="0"/>
                <a:ea typeface="楷体" pitchFamily="49" charset="-122"/>
                <a:cs typeface="Consolas" pitchFamily="49" charset="0"/>
              </a:rPr>
              <a:t>    C. </a:t>
            </a:r>
            <a:r>
              <a:rPr lang="en-US" sz="2000" dirty="0" err="1">
                <a:solidFill>
                  <a:srgbClr val="0000FF"/>
                </a:solidFill>
                <a:latin typeface="Consolas" pitchFamily="49" charset="0"/>
                <a:ea typeface="楷体" pitchFamily="49" charset="-122"/>
                <a:cs typeface="Consolas" pitchFamily="49" charset="0"/>
              </a:rPr>
              <a:t>a，e，b，c，f，d</a:t>
            </a:r>
            <a:endParaRPr lang="en-US" sz="2000" dirty="0">
              <a:solidFill>
                <a:srgbClr val="0000FF"/>
              </a:solidFill>
              <a:latin typeface="Consolas" pitchFamily="49" charset="0"/>
              <a:ea typeface="楷体" pitchFamily="49" charset="-122"/>
              <a:cs typeface="Consolas" pitchFamily="49" charset="0"/>
            </a:endParaRPr>
          </a:p>
          <a:p>
            <a:pPr algn="l">
              <a:lnSpc>
                <a:spcPct val="150000"/>
              </a:lnSpc>
            </a:pPr>
            <a:r>
              <a:rPr lang="en-US" sz="2000" dirty="0">
                <a:solidFill>
                  <a:srgbClr val="0000FF"/>
                </a:solidFill>
                <a:latin typeface="Consolas" pitchFamily="49" charset="0"/>
                <a:ea typeface="楷体" pitchFamily="49" charset="-122"/>
                <a:cs typeface="Consolas" pitchFamily="49" charset="0"/>
              </a:rPr>
              <a:t>    D. </a:t>
            </a:r>
            <a:r>
              <a:rPr lang="en-US" sz="2000" dirty="0" err="1">
                <a:solidFill>
                  <a:srgbClr val="0000FF"/>
                </a:solidFill>
                <a:latin typeface="Consolas" pitchFamily="49" charset="0"/>
                <a:ea typeface="楷体" pitchFamily="49" charset="-122"/>
                <a:cs typeface="Consolas" pitchFamily="49" charset="0"/>
              </a:rPr>
              <a:t>a，e，d，f，c，b</a:t>
            </a:r>
            <a:endParaRPr lang="zh-CN" altLang="en-US" sz="2000" dirty="0">
              <a:solidFill>
                <a:srgbClr val="0000FF"/>
              </a:solidFill>
              <a:latin typeface="Consolas" pitchFamily="49" charset="0"/>
              <a:ea typeface="楷体" pitchFamily="49" charset="-122"/>
              <a:cs typeface="Consolas" pitchFamily="49" charset="0"/>
            </a:endParaRPr>
          </a:p>
        </p:txBody>
      </p:sp>
      <p:grpSp>
        <p:nvGrpSpPr>
          <p:cNvPr id="7" name="组合 36">
            <a:extLst>
              <a:ext uri="{FF2B5EF4-FFF2-40B4-BE49-F238E27FC236}">
                <a16:creationId xmlns:a16="http://schemas.microsoft.com/office/drawing/2014/main" id="{C7C1A8F4-0F1E-A292-5338-225DDC99B0EA}"/>
              </a:ext>
            </a:extLst>
          </p:cNvPr>
          <p:cNvGrpSpPr/>
          <p:nvPr/>
        </p:nvGrpSpPr>
        <p:grpSpPr>
          <a:xfrm>
            <a:off x="8288204" y="1500653"/>
            <a:ext cx="3429024" cy="2071702"/>
            <a:chOff x="1285852" y="857232"/>
            <a:chExt cx="3429024" cy="2071702"/>
          </a:xfrm>
        </p:grpSpPr>
        <p:sp>
          <p:nvSpPr>
            <p:cNvPr id="113" name="椭圆 112">
              <a:extLst>
                <a:ext uri="{FF2B5EF4-FFF2-40B4-BE49-F238E27FC236}">
                  <a16:creationId xmlns:a16="http://schemas.microsoft.com/office/drawing/2014/main" id="{06F69450-9B5B-BD44-695F-C66CEDAD6773}"/>
                </a:ext>
              </a:extLst>
            </p:cNvPr>
            <p:cNvSpPr/>
            <p:nvPr/>
          </p:nvSpPr>
          <p:spPr>
            <a:xfrm>
              <a:off x="1285852" y="1643050"/>
              <a:ext cx="428628" cy="428628"/>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800" i="1">
                  <a:solidFill>
                    <a:srgbClr val="0000FF"/>
                  </a:solidFill>
                  <a:latin typeface="Consolas" pitchFamily="49" charset="0"/>
                  <a:cs typeface="Consolas" pitchFamily="49" charset="0"/>
                </a:rPr>
                <a:t>a</a:t>
              </a:r>
              <a:endParaRPr lang="zh-CN" altLang="en-US" sz="1800" i="1">
                <a:solidFill>
                  <a:srgbClr val="0000FF"/>
                </a:solidFill>
                <a:latin typeface="Consolas" pitchFamily="49" charset="0"/>
                <a:cs typeface="Consolas" pitchFamily="49" charset="0"/>
              </a:endParaRPr>
            </a:p>
          </p:txBody>
        </p:sp>
        <p:sp>
          <p:nvSpPr>
            <p:cNvPr id="130" name="椭圆 129">
              <a:extLst>
                <a:ext uri="{FF2B5EF4-FFF2-40B4-BE49-F238E27FC236}">
                  <a16:creationId xmlns:a16="http://schemas.microsoft.com/office/drawing/2014/main" id="{52B36960-4E0E-6EBE-D5C3-435A8737A1FC}"/>
                </a:ext>
              </a:extLst>
            </p:cNvPr>
            <p:cNvSpPr/>
            <p:nvPr/>
          </p:nvSpPr>
          <p:spPr>
            <a:xfrm>
              <a:off x="2357422" y="857232"/>
              <a:ext cx="428628" cy="428628"/>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800" i="1">
                  <a:solidFill>
                    <a:srgbClr val="0000FF"/>
                  </a:solidFill>
                  <a:latin typeface="Consolas" pitchFamily="49" charset="0"/>
                  <a:cs typeface="Consolas" pitchFamily="49" charset="0"/>
                </a:rPr>
                <a:t>b</a:t>
              </a:r>
              <a:endParaRPr lang="zh-CN" altLang="en-US" sz="1800" i="1">
                <a:solidFill>
                  <a:srgbClr val="0000FF"/>
                </a:solidFill>
                <a:latin typeface="Consolas" pitchFamily="49" charset="0"/>
                <a:cs typeface="Consolas" pitchFamily="49" charset="0"/>
              </a:endParaRPr>
            </a:p>
          </p:txBody>
        </p:sp>
        <p:sp>
          <p:nvSpPr>
            <p:cNvPr id="131" name="椭圆 130">
              <a:extLst>
                <a:ext uri="{FF2B5EF4-FFF2-40B4-BE49-F238E27FC236}">
                  <a16:creationId xmlns:a16="http://schemas.microsoft.com/office/drawing/2014/main" id="{F463DA4C-99C2-3654-9325-CB9BDEFF5097}"/>
                </a:ext>
              </a:extLst>
            </p:cNvPr>
            <p:cNvSpPr/>
            <p:nvPr/>
          </p:nvSpPr>
          <p:spPr>
            <a:xfrm>
              <a:off x="2357422" y="1643050"/>
              <a:ext cx="428628" cy="428628"/>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800" i="1">
                  <a:solidFill>
                    <a:srgbClr val="0000FF"/>
                  </a:solidFill>
                  <a:latin typeface="Consolas" pitchFamily="49" charset="0"/>
                  <a:cs typeface="Consolas" pitchFamily="49" charset="0"/>
                </a:rPr>
                <a:t>e</a:t>
              </a:r>
              <a:endParaRPr lang="zh-CN" altLang="en-US" sz="1800" i="1">
                <a:solidFill>
                  <a:srgbClr val="0000FF"/>
                </a:solidFill>
                <a:latin typeface="Consolas" pitchFamily="49" charset="0"/>
                <a:cs typeface="Consolas" pitchFamily="49" charset="0"/>
              </a:endParaRPr>
            </a:p>
          </p:txBody>
        </p:sp>
        <p:sp>
          <p:nvSpPr>
            <p:cNvPr id="132" name="椭圆 131">
              <a:extLst>
                <a:ext uri="{FF2B5EF4-FFF2-40B4-BE49-F238E27FC236}">
                  <a16:creationId xmlns:a16="http://schemas.microsoft.com/office/drawing/2014/main" id="{AD9B1504-BEF5-0054-3B88-2386A8F1A521}"/>
                </a:ext>
              </a:extLst>
            </p:cNvPr>
            <p:cNvSpPr/>
            <p:nvPr/>
          </p:nvSpPr>
          <p:spPr>
            <a:xfrm>
              <a:off x="2357422" y="2500306"/>
              <a:ext cx="428628" cy="428628"/>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800" i="1">
                  <a:solidFill>
                    <a:srgbClr val="0000FF"/>
                  </a:solidFill>
                  <a:latin typeface="Consolas" pitchFamily="49" charset="0"/>
                  <a:cs typeface="Consolas" pitchFamily="49" charset="0"/>
                </a:rPr>
                <a:t>c</a:t>
              </a:r>
              <a:endParaRPr lang="zh-CN" altLang="en-US" sz="1800" i="1">
                <a:solidFill>
                  <a:srgbClr val="0000FF"/>
                </a:solidFill>
                <a:latin typeface="Consolas" pitchFamily="49" charset="0"/>
                <a:cs typeface="Consolas" pitchFamily="49" charset="0"/>
              </a:endParaRPr>
            </a:p>
          </p:txBody>
        </p:sp>
        <p:sp>
          <p:nvSpPr>
            <p:cNvPr id="133" name="椭圆 132">
              <a:extLst>
                <a:ext uri="{FF2B5EF4-FFF2-40B4-BE49-F238E27FC236}">
                  <a16:creationId xmlns:a16="http://schemas.microsoft.com/office/drawing/2014/main" id="{AF331E6D-079A-029A-99F1-20242CE46C29}"/>
                </a:ext>
              </a:extLst>
            </p:cNvPr>
            <p:cNvSpPr/>
            <p:nvPr/>
          </p:nvSpPr>
          <p:spPr>
            <a:xfrm>
              <a:off x="3286116" y="2500306"/>
              <a:ext cx="428628" cy="428628"/>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800" i="1">
                  <a:solidFill>
                    <a:srgbClr val="0000FF"/>
                  </a:solidFill>
                  <a:latin typeface="Consolas" pitchFamily="49" charset="0"/>
                  <a:cs typeface="Consolas" pitchFamily="49" charset="0"/>
                </a:rPr>
                <a:t>f</a:t>
              </a:r>
              <a:endParaRPr lang="zh-CN" altLang="en-US" sz="1800" i="1">
                <a:solidFill>
                  <a:srgbClr val="0000FF"/>
                </a:solidFill>
                <a:latin typeface="Consolas" pitchFamily="49" charset="0"/>
                <a:cs typeface="Consolas" pitchFamily="49" charset="0"/>
              </a:endParaRPr>
            </a:p>
          </p:txBody>
        </p:sp>
        <p:sp>
          <p:nvSpPr>
            <p:cNvPr id="134" name="椭圆 133">
              <a:extLst>
                <a:ext uri="{FF2B5EF4-FFF2-40B4-BE49-F238E27FC236}">
                  <a16:creationId xmlns:a16="http://schemas.microsoft.com/office/drawing/2014/main" id="{823127CE-6B6B-432B-D5CE-62F0E6705F86}"/>
                </a:ext>
              </a:extLst>
            </p:cNvPr>
            <p:cNvSpPr/>
            <p:nvPr/>
          </p:nvSpPr>
          <p:spPr>
            <a:xfrm>
              <a:off x="4286248" y="2500306"/>
              <a:ext cx="428628" cy="428628"/>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800" i="1">
                  <a:solidFill>
                    <a:srgbClr val="0000FF"/>
                  </a:solidFill>
                  <a:latin typeface="Consolas" pitchFamily="49" charset="0"/>
                  <a:cs typeface="Consolas" pitchFamily="49" charset="0"/>
                </a:rPr>
                <a:t>d</a:t>
              </a:r>
              <a:endParaRPr lang="zh-CN" altLang="en-US" sz="1800" i="1">
                <a:solidFill>
                  <a:srgbClr val="0000FF"/>
                </a:solidFill>
                <a:latin typeface="Consolas" pitchFamily="49" charset="0"/>
                <a:cs typeface="Consolas" pitchFamily="49" charset="0"/>
              </a:endParaRPr>
            </a:p>
          </p:txBody>
        </p:sp>
        <p:cxnSp>
          <p:nvCxnSpPr>
            <p:cNvPr id="135" name="直接连接符 134">
              <a:extLst>
                <a:ext uri="{FF2B5EF4-FFF2-40B4-BE49-F238E27FC236}">
                  <a16:creationId xmlns:a16="http://schemas.microsoft.com/office/drawing/2014/main" id="{71190B37-94AB-E139-796F-DF329C4105FA}"/>
                </a:ext>
              </a:extLst>
            </p:cNvPr>
            <p:cNvCxnSpPr>
              <a:cxnSpLocks/>
              <a:stCxn id="113" idx="7"/>
              <a:endCxn id="130" idx="2"/>
            </p:cNvCxnSpPr>
            <p:nvPr/>
          </p:nvCxnSpPr>
          <p:spPr>
            <a:xfrm rot="5400000" flipH="1" flipV="1">
              <a:off x="1687428" y="1035828"/>
              <a:ext cx="634275" cy="705713"/>
            </a:xfrm>
            <a:prstGeom prst="line">
              <a:avLst/>
            </a:prstGeom>
          </p:spPr>
          <p:style>
            <a:lnRef idx="2">
              <a:schemeClr val="accent5"/>
            </a:lnRef>
            <a:fillRef idx="0">
              <a:schemeClr val="accent5"/>
            </a:fillRef>
            <a:effectRef idx="1">
              <a:schemeClr val="accent5"/>
            </a:effectRef>
            <a:fontRef idx="minor">
              <a:schemeClr val="tx1"/>
            </a:fontRef>
          </p:style>
        </p:cxnSp>
        <p:cxnSp>
          <p:nvCxnSpPr>
            <p:cNvPr id="136" name="直接连接符 135">
              <a:extLst>
                <a:ext uri="{FF2B5EF4-FFF2-40B4-BE49-F238E27FC236}">
                  <a16:creationId xmlns:a16="http://schemas.microsoft.com/office/drawing/2014/main" id="{3380CD95-68B7-392A-9C38-8BF6CA0A4603}"/>
                </a:ext>
              </a:extLst>
            </p:cNvPr>
            <p:cNvCxnSpPr>
              <a:cxnSpLocks/>
              <a:stCxn id="113" idx="6"/>
              <a:endCxn id="131" idx="2"/>
            </p:cNvCxnSpPr>
            <p:nvPr/>
          </p:nvCxnSpPr>
          <p:spPr>
            <a:xfrm>
              <a:off x="1714480" y="1857364"/>
              <a:ext cx="642942" cy="0"/>
            </a:xfrm>
            <a:prstGeom prst="line">
              <a:avLst/>
            </a:prstGeom>
          </p:spPr>
          <p:style>
            <a:lnRef idx="2">
              <a:schemeClr val="accent5"/>
            </a:lnRef>
            <a:fillRef idx="0">
              <a:schemeClr val="accent5"/>
            </a:fillRef>
            <a:effectRef idx="1">
              <a:schemeClr val="accent5"/>
            </a:effectRef>
            <a:fontRef idx="minor">
              <a:schemeClr val="tx1"/>
            </a:fontRef>
          </p:style>
        </p:cxnSp>
        <p:cxnSp>
          <p:nvCxnSpPr>
            <p:cNvPr id="137" name="直接连接符 136">
              <a:extLst>
                <a:ext uri="{FF2B5EF4-FFF2-40B4-BE49-F238E27FC236}">
                  <a16:creationId xmlns:a16="http://schemas.microsoft.com/office/drawing/2014/main" id="{8158DABF-8849-7D06-57C6-6411D6DDAF95}"/>
                </a:ext>
              </a:extLst>
            </p:cNvPr>
            <p:cNvCxnSpPr>
              <a:cxnSpLocks/>
              <a:stCxn id="113" idx="5"/>
              <a:endCxn id="132" idx="2"/>
            </p:cNvCxnSpPr>
            <p:nvPr/>
          </p:nvCxnSpPr>
          <p:spPr>
            <a:xfrm rot="16200000" flipH="1">
              <a:off x="1651709" y="2008906"/>
              <a:ext cx="705713" cy="705713"/>
            </a:xfrm>
            <a:prstGeom prst="line">
              <a:avLst/>
            </a:prstGeom>
          </p:spPr>
          <p:style>
            <a:lnRef idx="2">
              <a:schemeClr val="accent5"/>
            </a:lnRef>
            <a:fillRef idx="0">
              <a:schemeClr val="accent5"/>
            </a:fillRef>
            <a:effectRef idx="1">
              <a:schemeClr val="accent5"/>
            </a:effectRef>
            <a:fontRef idx="minor">
              <a:schemeClr val="tx1"/>
            </a:fontRef>
          </p:style>
        </p:cxnSp>
        <p:cxnSp>
          <p:nvCxnSpPr>
            <p:cNvPr id="138" name="直接连接符 137">
              <a:extLst>
                <a:ext uri="{FF2B5EF4-FFF2-40B4-BE49-F238E27FC236}">
                  <a16:creationId xmlns:a16="http://schemas.microsoft.com/office/drawing/2014/main" id="{1677E9F6-F1A7-161C-FC8A-5D1EFA4867FF}"/>
                </a:ext>
              </a:extLst>
            </p:cNvPr>
            <p:cNvCxnSpPr>
              <a:cxnSpLocks/>
              <a:stCxn id="132" idx="6"/>
              <a:endCxn id="133" idx="2"/>
            </p:cNvCxnSpPr>
            <p:nvPr/>
          </p:nvCxnSpPr>
          <p:spPr>
            <a:xfrm>
              <a:off x="2786050" y="2714620"/>
              <a:ext cx="500066" cy="0"/>
            </a:xfrm>
            <a:prstGeom prst="line">
              <a:avLst/>
            </a:prstGeom>
          </p:spPr>
          <p:style>
            <a:lnRef idx="2">
              <a:schemeClr val="accent5"/>
            </a:lnRef>
            <a:fillRef idx="0">
              <a:schemeClr val="accent5"/>
            </a:fillRef>
            <a:effectRef idx="1">
              <a:schemeClr val="accent5"/>
            </a:effectRef>
            <a:fontRef idx="minor">
              <a:schemeClr val="tx1"/>
            </a:fontRef>
          </p:style>
        </p:cxnSp>
        <p:cxnSp>
          <p:nvCxnSpPr>
            <p:cNvPr id="139" name="直接连接符 138">
              <a:extLst>
                <a:ext uri="{FF2B5EF4-FFF2-40B4-BE49-F238E27FC236}">
                  <a16:creationId xmlns:a16="http://schemas.microsoft.com/office/drawing/2014/main" id="{D577A4AE-2360-4A35-B2FA-221E3731EA45}"/>
                </a:ext>
              </a:extLst>
            </p:cNvPr>
            <p:cNvCxnSpPr>
              <a:cxnSpLocks/>
              <a:stCxn id="133" idx="6"/>
              <a:endCxn id="134" idx="2"/>
            </p:cNvCxnSpPr>
            <p:nvPr/>
          </p:nvCxnSpPr>
          <p:spPr>
            <a:xfrm>
              <a:off x="3714744" y="2714620"/>
              <a:ext cx="571504" cy="0"/>
            </a:xfrm>
            <a:prstGeom prst="line">
              <a:avLst/>
            </a:prstGeom>
          </p:spPr>
          <p:style>
            <a:lnRef idx="2">
              <a:schemeClr val="accent5"/>
            </a:lnRef>
            <a:fillRef idx="0">
              <a:schemeClr val="accent5"/>
            </a:fillRef>
            <a:effectRef idx="1">
              <a:schemeClr val="accent5"/>
            </a:effectRef>
            <a:fontRef idx="minor">
              <a:schemeClr val="tx1"/>
            </a:fontRef>
          </p:style>
        </p:cxnSp>
        <p:cxnSp>
          <p:nvCxnSpPr>
            <p:cNvPr id="140" name="直接连接符 139">
              <a:extLst>
                <a:ext uri="{FF2B5EF4-FFF2-40B4-BE49-F238E27FC236}">
                  <a16:creationId xmlns:a16="http://schemas.microsoft.com/office/drawing/2014/main" id="{500AD724-8F3B-295B-563B-C71A28D3DF57}"/>
                </a:ext>
              </a:extLst>
            </p:cNvPr>
            <p:cNvCxnSpPr>
              <a:cxnSpLocks/>
              <a:stCxn id="131" idx="6"/>
              <a:endCxn id="134" idx="1"/>
            </p:cNvCxnSpPr>
            <p:nvPr/>
          </p:nvCxnSpPr>
          <p:spPr>
            <a:xfrm>
              <a:off x="2786050" y="1857364"/>
              <a:ext cx="1562969" cy="705713"/>
            </a:xfrm>
            <a:prstGeom prst="line">
              <a:avLst/>
            </a:prstGeom>
          </p:spPr>
          <p:style>
            <a:lnRef idx="2">
              <a:schemeClr val="accent5"/>
            </a:lnRef>
            <a:fillRef idx="0">
              <a:schemeClr val="accent5"/>
            </a:fillRef>
            <a:effectRef idx="1">
              <a:schemeClr val="accent5"/>
            </a:effectRef>
            <a:fontRef idx="minor">
              <a:schemeClr val="tx1"/>
            </a:fontRef>
          </p:style>
        </p:cxnSp>
        <p:cxnSp>
          <p:nvCxnSpPr>
            <p:cNvPr id="142" name="直接连接符 141">
              <a:extLst>
                <a:ext uri="{FF2B5EF4-FFF2-40B4-BE49-F238E27FC236}">
                  <a16:creationId xmlns:a16="http://schemas.microsoft.com/office/drawing/2014/main" id="{BBACA29B-1A1B-CA47-63F9-280CC878BBDC}"/>
                </a:ext>
              </a:extLst>
            </p:cNvPr>
            <p:cNvCxnSpPr>
              <a:cxnSpLocks/>
              <a:stCxn id="130" idx="4"/>
              <a:endCxn id="131" idx="0"/>
            </p:cNvCxnSpPr>
            <p:nvPr/>
          </p:nvCxnSpPr>
          <p:spPr>
            <a:xfrm rot="5400000">
              <a:off x="2393141" y="1464455"/>
              <a:ext cx="357190" cy="0"/>
            </a:xfrm>
            <a:prstGeom prst="line">
              <a:avLst/>
            </a:prstGeom>
          </p:spPr>
          <p:style>
            <a:lnRef idx="2">
              <a:schemeClr val="accent5"/>
            </a:lnRef>
            <a:fillRef idx="0">
              <a:schemeClr val="accent5"/>
            </a:fillRef>
            <a:effectRef idx="1">
              <a:schemeClr val="accent5"/>
            </a:effectRef>
            <a:fontRef idx="minor">
              <a:schemeClr val="tx1"/>
            </a:fontRef>
          </p:style>
        </p:cxnSp>
      </p:grpSp>
      <p:grpSp>
        <p:nvGrpSpPr>
          <p:cNvPr id="27" name="组合 36">
            <a:extLst>
              <a:ext uri="{FF2B5EF4-FFF2-40B4-BE49-F238E27FC236}">
                <a16:creationId xmlns:a16="http://schemas.microsoft.com/office/drawing/2014/main" id="{5EF81F8F-8924-4842-370C-C6E09DF07C59}"/>
              </a:ext>
            </a:extLst>
          </p:cNvPr>
          <p:cNvGrpSpPr/>
          <p:nvPr/>
        </p:nvGrpSpPr>
        <p:grpSpPr>
          <a:xfrm>
            <a:off x="5762645" y="3913979"/>
            <a:ext cx="3429024" cy="2071702"/>
            <a:chOff x="1285852" y="857232"/>
            <a:chExt cx="3429024" cy="2071702"/>
          </a:xfrm>
        </p:grpSpPr>
        <p:sp>
          <p:nvSpPr>
            <p:cNvPr id="28" name="椭圆 27">
              <a:extLst>
                <a:ext uri="{FF2B5EF4-FFF2-40B4-BE49-F238E27FC236}">
                  <a16:creationId xmlns:a16="http://schemas.microsoft.com/office/drawing/2014/main" id="{08D8F28F-987A-4CF6-A2CA-26F63D72469C}"/>
                </a:ext>
              </a:extLst>
            </p:cNvPr>
            <p:cNvSpPr/>
            <p:nvPr/>
          </p:nvSpPr>
          <p:spPr>
            <a:xfrm>
              <a:off x="1285852" y="1643050"/>
              <a:ext cx="428628" cy="428628"/>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800" i="1">
                  <a:solidFill>
                    <a:srgbClr val="0000FF"/>
                  </a:solidFill>
                  <a:latin typeface="Consolas" pitchFamily="49" charset="0"/>
                  <a:cs typeface="Consolas" pitchFamily="49" charset="0"/>
                </a:rPr>
                <a:t>a</a:t>
              </a:r>
              <a:endParaRPr lang="zh-CN" altLang="en-US" sz="1800" i="1">
                <a:solidFill>
                  <a:srgbClr val="0000FF"/>
                </a:solidFill>
                <a:latin typeface="Consolas" pitchFamily="49" charset="0"/>
                <a:cs typeface="Consolas" pitchFamily="49" charset="0"/>
              </a:endParaRPr>
            </a:p>
          </p:txBody>
        </p:sp>
        <p:sp>
          <p:nvSpPr>
            <p:cNvPr id="29" name="椭圆 28">
              <a:extLst>
                <a:ext uri="{FF2B5EF4-FFF2-40B4-BE49-F238E27FC236}">
                  <a16:creationId xmlns:a16="http://schemas.microsoft.com/office/drawing/2014/main" id="{C9EAAB22-A94F-1D40-94FB-A5674903EB86}"/>
                </a:ext>
              </a:extLst>
            </p:cNvPr>
            <p:cNvSpPr/>
            <p:nvPr/>
          </p:nvSpPr>
          <p:spPr>
            <a:xfrm>
              <a:off x="2357422" y="857232"/>
              <a:ext cx="428628" cy="428628"/>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800" i="1">
                  <a:solidFill>
                    <a:srgbClr val="0000FF"/>
                  </a:solidFill>
                  <a:latin typeface="Consolas" pitchFamily="49" charset="0"/>
                  <a:cs typeface="Consolas" pitchFamily="49" charset="0"/>
                </a:rPr>
                <a:t>b</a:t>
              </a:r>
              <a:endParaRPr lang="zh-CN" altLang="en-US" sz="1800" i="1">
                <a:solidFill>
                  <a:srgbClr val="0000FF"/>
                </a:solidFill>
                <a:latin typeface="Consolas" pitchFamily="49" charset="0"/>
                <a:cs typeface="Consolas" pitchFamily="49" charset="0"/>
              </a:endParaRPr>
            </a:p>
          </p:txBody>
        </p:sp>
        <p:sp>
          <p:nvSpPr>
            <p:cNvPr id="30" name="椭圆 29">
              <a:extLst>
                <a:ext uri="{FF2B5EF4-FFF2-40B4-BE49-F238E27FC236}">
                  <a16:creationId xmlns:a16="http://schemas.microsoft.com/office/drawing/2014/main" id="{D1E76936-19F6-6E11-AA69-97C0FF345505}"/>
                </a:ext>
              </a:extLst>
            </p:cNvPr>
            <p:cNvSpPr/>
            <p:nvPr/>
          </p:nvSpPr>
          <p:spPr>
            <a:xfrm>
              <a:off x="2357422" y="1643050"/>
              <a:ext cx="428628" cy="428628"/>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800" i="1">
                  <a:solidFill>
                    <a:srgbClr val="0000FF"/>
                  </a:solidFill>
                  <a:latin typeface="Consolas" pitchFamily="49" charset="0"/>
                  <a:cs typeface="Consolas" pitchFamily="49" charset="0"/>
                </a:rPr>
                <a:t>e</a:t>
              </a:r>
              <a:endParaRPr lang="zh-CN" altLang="en-US" sz="1800" i="1">
                <a:solidFill>
                  <a:srgbClr val="0000FF"/>
                </a:solidFill>
                <a:latin typeface="Consolas" pitchFamily="49" charset="0"/>
                <a:cs typeface="Consolas" pitchFamily="49" charset="0"/>
              </a:endParaRPr>
            </a:p>
          </p:txBody>
        </p:sp>
        <p:sp>
          <p:nvSpPr>
            <p:cNvPr id="31" name="椭圆 30">
              <a:extLst>
                <a:ext uri="{FF2B5EF4-FFF2-40B4-BE49-F238E27FC236}">
                  <a16:creationId xmlns:a16="http://schemas.microsoft.com/office/drawing/2014/main" id="{4342EDA0-81B0-2754-96AB-0A7BEEB6B799}"/>
                </a:ext>
              </a:extLst>
            </p:cNvPr>
            <p:cNvSpPr/>
            <p:nvPr/>
          </p:nvSpPr>
          <p:spPr>
            <a:xfrm>
              <a:off x="2357422" y="2500306"/>
              <a:ext cx="428628" cy="428628"/>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800" i="1">
                  <a:solidFill>
                    <a:srgbClr val="0000FF"/>
                  </a:solidFill>
                  <a:latin typeface="Consolas" pitchFamily="49" charset="0"/>
                  <a:cs typeface="Consolas" pitchFamily="49" charset="0"/>
                </a:rPr>
                <a:t>c</a:t>
              </a:r>
              <a:endParaRPr lang="zh-CN" altLang="en-US" sz="1800" i="1">
                <a:solidFill>
                  <a:srgbClr val="0000FF"/>
                </a:solidFill>
                <a:latin typeface="Consolas" pitchFamily="49" charset="0"/>
                <a:cs typeface="Consolas" pitchFamily="49" charset="0"/>
              </a:endParaRPr>
            </a:p>
          </p:txBody>
        </p:sp>
        <p:sp>
          <p:nvSpPr>
            <p:cNvPr id="32" name="椭圆 31">
              <a:extLst>
                <a:ext uri="{FF2B5EF4-FFF2-40B4-BE49-F238E27FC236}">
                  <a16:creationId xmlns:a16="http://schemas.microsoft.com/office/drawing/2014/main" id="{99E361CE-6F42-C5EA-0EEF-0DDBC0825E41}"/>
                </a:ext>
              </a:extLst>
            </p:cNvPr>
            <p:cNvSpPr/>
            <p:nvPr/>
          </p:nvSpPr>
          <p:spPr>
            <a:xfrm>
              <a:off x="3286116" y="2500306"/>
              <a:ext cx="428628" cy="428628"/>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800" i="1">
                  <a:solidFill>
                    <a:srgbClr val="0000FF"/>
                  </a:solidFill>
                  <a:latin typeface="Consolas" pitchFamily="49" charset="0"/>
                  <a:cs typeface="Consolas" pitchFamily="49" charset="0"/>
                </a:rPr>
                <a:t>f</a:t>
              </a:r>
              <a:endParaRPr lang="zh-CN" altLang="en-US" sz="1800" i="1">
                <a:solidFill>
                  <a:srgbClr val="0000FF"/>
                </a:solidFill>
                <a:latin typeface="Consolas" pitchFamily="49" charset="0"/>
                <a:cs typeface="Consolas" pitchFamily="49" charset="0"/>
              </a:endParaRPr>
            </a:p>
          </p:txBody>
        </p:sp>
        <p:sp>
          <p:nvSpPr>
            <p:cNvPr id="33" name="椭圆 32">
              <a:extLst>
                <a:ext uri="{FF2B5EF4-FFF2-40B4-BE49-F238E27FC236}">
                  <a16:creationId xmlns:a16="http://schemas.microsoft.com/office/drawing/2014/main" id="{63AB275A-1CA7-23B4-CE9E-464657017A5F}"/>
                </a:ext>
              </a:extLst>
            </p:cNvPr>
            <p:cNvSpPr/>
            <p:nvPr/>
          </p:nvSpPr>
          <p:spPr>
            <a:xfrm>
              <a:off x="4286248" y="2500306"/>
              <a:ext cx="428628" cy="428628"/>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800" i="1">
                  <a:solidFill>
                    <a:srgbClr val="0000FF"/>
                  </a:solidFill>
                  <a:latin typeface="Consolas" pitchFamily="49" charset="0"/>
                  <a:cs typeface="Consolas" pitchFamily="49" charset="0"/>
                </a:rPr>
                <a:t>d</a:t>
              </a:r>
              <a:endParaRPr lang="zh-CN" altLang="en-US" sz="1800" i="1">
                <a:solidFill>
                  <a:srgbClr val="0000FF"/>
                </a:solidFill>
                <a:latin typeface="Consolas" pitchFamily="49" charset="0"/>
                <a:cs typeface="Consolas" pitchFamily="49" charset="0"/>
              </a:endParaRPr>
            </a:p>
          </p:txBody>
        </p:sp>
        <p:cxnSp>
          <p:nvCxnSpPr>
            <p:cNvPr id="34" name="直接连接符 33">
              <a:extLst>
                <a:ext uri="{FF2B5EF4-FFF2-40B4-BE49-F238E27FC236}">
                  <a16:creationId xmlns:a16="http://schemas.microsoft.com/office/drawing/2014/main" id="{3C334401-0A23-D390-DD42-62473F93C712}"/>
                </a:ext>
              </a:extLst>
            </p:cNvPr>
            <p:cNvCxnSpPr>
              <a:stCxn id="28" idx="7"/>
              <a:endCxn id="29" idx="2"/>
            </p:cNvCxnSpPr>
            <p:nvPr/>
          </p:nvCxnSpPr>
          <p:spPr>
            <a:xfrm rot="5400000" flipH="1" flipV="1">
              <a:off x="1687428" y="1035828"/>
              <a:ext cx="634275" cy="705713"/>
            </a:xfrm>
            <a:prstGeom prst="line">
              <a:avLst/>
            </a:prstGeom>
          </p:spPr>
          <p:style>
            <a:lnRef idx="2">
              <a:schemeClr val="accent5"/>
            </a:lnRef>
            <a:fillRef idx="0">
              <a:schemeClr val="accent5"/>
            </a:fillRef>
            <a:effectRef idx="1">
              <a:schemeClr val="accent5"/>
            </a:effectRef>
            <a:fontRef idx="minor">
              <a:schemeClr val="tx1"/>
            </a:fontRef>
          </p:style>
        </p:cxnSp>
        <p:cxnSp>
          <p:nvCxnSpPr>
            <p:cNvPr id="35" name="直接连接符 34">
              <a:extLst>
                <a:ext uri="{FF2B5EF4-FFF2-40B4-BE49-F238E27FC236}">
                  <a16:creationId xmlns:a16="http://schemas.microsoft.com/office/drawing/2014/main" id="{552102DC-D5AF-30FA-FEF8-405287B7BC29}"/>
                </a:ext>
              </a:extLst>
            </p:cNvPr>
            <p:cNvCxnSpPr>
              <a:stCxn id="28" idx="6"/>
              <a:endCxn id="30" idx="2"/>
            </p:cNvCxnSpPr>
            <p:nvPr/>
          </p:nvCxnSpPr>
          <p:spPr>
            <a:xfrm>
              <a:off x="1714480" y="1857364"/>
              <a:ext cx="642942" cy="0"/>
            </a:xfrm>
            <a:prstGeom prst="line">
              <a:avLst/>
            </a:prstGeom>
          </p:spPr>
          <p:style>
            <a:lnRef idx="2">
              <a:schemeClr val="accent5"/>
            </a:lnRef>
            <a:fillRef idx="0">
              <a:schemeClr val="accent5"/>
            </a:fillRef>
            <a:effectRef idx="1">
              <a:schemeClr val="accent5"/>
            </a:effectRef>
            <a:fontRef idx="minor">
              <a:schemeClr val="tx1"/>
            </a:fontRef>
          </p:style>
        </p:cxnSp>
        <p:cxnSp>
          <p:nvCxnSpPr>
            <p:cNvPr id="36" name="直接连接符 35">
              <a:extLst>
                <a:ext uri="{FF2B5EF4-FFF2-40B4-BE49-F238E27FC236}">
                  <a16:creationId xmlns:a16="http://schemas.microsoft.com/office/drawing/2014/main" id="{E7870999-B455-3418-B029-0335012B87CF}"/>
                </a:ext>
              </a:extLst>
            </p:cNvPr>
            <p:cNvCxnSpPr>
              <a:stCxn id="28" idx="5"/>
              <a:endCxn id="31" idx="2"/>
            </p:cNvCxnSpPr>
            <p:nvPr/>
          </p:nvCxnSpPr>
          <p:spPr>
            <a:xfrm rot="16200000" flipH="1">
              <a:off x="1651709" y="2008906"/>
              <a:ext cx="705713" cy="705713"/>
            </a:xfrm>
            <a:prstGeom prst="line">
              <a:avLst/>
            </a:prstGeom>
          </p:spPr>
          <p:style>
            <a:lnRef idx="2">
              <a:schemeClr val="accent5"/>
            </a:lnRef>
            <a:fillRef idx="0">
              <a:schemeClr val="accent5"/>
            </a:fillRef>
            <a:effectRef idx="1">
              <a:schemeClr val="accent5"/>
            </a:effectRef>
            <a:fontRef idx="minor">
              <a:schemeClr val="tx1"/>
            </a:fontRef>
          </p:style>
        </p:cxnSp>
        <p:cxnSp>
          <p:nvCxnSpPr>
            <p:cNvPr id="37" name="直接连接符 36">
              <a:extLst>
                <a:ext uri="{FF2B5EF4-FFF2-40B4-BE49-F238E27FC236}">
                  <a16:creationId xmlns:a16="http://schemas.microsoft.com/office/drawing/2014/main" id="{05EBCD55-34E8-91D1-06A6-9F7D38F30929}"/>
                </a:ext>
              </a:extLst>
            </p:cNvPr>
            <p:cNvCxnSpPr>
              <a:stCxn id="31" idx="6"/>
              <a:endCxn id="32" idx="2"/>
            </p:cNvCxnSpPr>
            <p:nvPr/>
          </p:nvCxnSpPr>
          <p:spPr>
            <a:xfrm>
              <a:off x="2786050" y="2714620"/>
              <a:ext cx="500066" cy="0"/>
            </a:xfrm>
            <a:prstGeom prst="line">
              <a:avLst/>
            </a:prstGeom>
          </p:spPr>
          <p:style>
            <a:lnRef idx="2">
              <a:schemeClr val="accent5"/>
            </a:lnRef>
            <a:fillRef idx="0">
              <a:schemeClr val="accent5"/>
            </a:fillRef>
            <a:effectRef idx="1">
              <a:schemeClr val="accent5"/>
            </a:effectRef>
            <a:fontRef idx="minor">
              <a:schemeClr val="tx1"/>
            </a:fontRef>
          </p:style>
        </p:cxnSp>
        <p:cxnSp>
          <p:nvCxnSpPr>
            <p:cNvPr id="38" name="直接连接符 37">
              <a:extLst>
                <a:ext uri="{FF2B5EF4-FFF2-40B4-BE49-F238E27FC236}">
                  <a16:creationId xmlns:a16="http://schemas.microsoft.com/office/drawing/2014/main" id="{4833B8BD-26EA-8725-123E-5697810BF504}"/>
                </a:ext>
              </a:extLst>
            </p:cNvPr>
            <p:cNvCxnSpPr>
              <a:stCxn id="32" idx="6"/>
              <a:endCxn id="33" idx="2"/>
            </p:cNvCxnSpPr>
            <p:nvPr/>
          </p:nvCxnSpPr>
          <p:spPr>
            <a:xfrm>
              <a:off x="3714744" y="2714620"/>
              <a:ext cx="571504" cy="0"/>
            </a:xfrm>
            <a:prstGeom prst="line">
              <a:avLst/>
            </a:prstGeom>
          </p:spPr>
          <p:style>
            <a:lnRef idx="2">
              <a:schemeClr val="accent5"/>
            </a:lnRef>
            <a:fillRef idx="0">
              <a:schemeClr val="accent5"/>
            </a:fillRef>
            <a:effectRef idx="1">
              <a:schemeClr val="accent5"/>
            </a:effectRef>
            <a:fontRef idx="minor">
              <a:schemeClr val="tx1"/>
            </a:fontRef>
          </p:style>
        </p:cxnSp>
        <p:cxnSp>
          <p:nvCxnSpPr>
            <p:cNvPr id="39" name="直接连接符 38">
              <a:extLst>
                <a:ext uri="{FF2B5EF4-FFF2-40B4-BE49-F238E27FC236}">
                  <a16:creationId xmlns:a16="http://schemas.microsoft.com/office/drawing/2014/main" id="{C8BE3FDF-449D-BD7D-ABDC-DB2AF73ACE72}"/>
                </a:ext>
              </a:extLst>
            </p:cNvPr>
            <p:cNvCxnSpPr>
              <a:stCxn id="30" idx="6"/>
              <a:endCxn id="33" idx="1"/>
            </p:cNvCxnSpPr>
            <p:nvPr/>
          </p:nvCxnSpPr>
          <p:spPr>
            <a:xfrm>
              <a:off x="2786050" y="1857364"/>
              <a:ext cx="1562969" cy="705713"/>
            </a:xfrm>
            <a:prstGeom prst="line">
              <a:avLst/>
            </a:prstGeom>
          </p:spPr>
          <p:style>
            <a:lnRef idx="2">
              <a:schemeClr val="accent5"/>
            </a:lnRef>
            <a:fillRef idx="0">
              <a:schemeClr val="accent5"/>
            </a:fillRef>
            <a:effectRef idx="1">
              <a:schemeClr val="accent5"/>
            </a:effectRef>
            <a:fontRef idx="minor">
              <a:schemeClr val="tx1"/>
            </a:fontRef>
          </p:style>
        </p:cxnSp>
        <p:cxnSp>
          <p:nvCxnSpPr>
            <p:cNvPr id="40" name="直接连接符 39">
              <a:extLst>
                <a:ext uri="{FF2B5EF4-FFF2-40B4-BE49-F238E27FC236}">
                  <a16:creationId xmlns:a16="http://schemas.microsoft.com/office/drawing/2014/main" id="{A5EE1581-1E79-DD03-0100-2D3EAAA9AF6E}"/>
                </a:ext>
              </a:extLst>
            </p:cNvPr>
            <p:cNvCxnSpPr>
              <a:stCxn id="29" idx="4"/>
              <a:endCxn id="30" idx="0"/>
            </p:cNvCxnSpPr>
            <p:nvPr/>
          </p:nvCxnSpPr>
          <p:spPr>
            <a:xfrm rot="5400000">
              <a:off x="2393141" y="1464455"/>
              <a:ext cx="357190" cy="0"/>
            </a:xfrm>
            <a:prstGeom prst="line">
              <a:avLst/>
            </a:prstGeom>
          </p:spPr>
          <p:style>
            <a:lnRef idx="2">
              <a:schemeClr val="accent5"/>
            </a:lnRef>
            <a:fillRef idx="0">
              <a:schemeClr val="accent5"/>
            </a:fillRef>
            <a:effectRef idx="1">
              <a:schemeClr val="accent5"/>
            </a:effectRef>
            <a:fontRef idx="minor">
              <a:schemeClr val="tx1"/>
            </a:fontRef>
          </p:style>
        </p:cxnSp>
      </p:grpSp>
      <p:sp>
        <p:nvSpPr>
          <p:cNvPr id="41" name="TextBox 24">
            <a:extLst>
              <a:ext uri="{FF2B5EF4-FFF2-40B4-BE49-F238E27FC236}">
                <a16:creationId xmlns:a16="http://schemas.microsoft.com/office/drawing/2014/main" id="{93AE77A4-B502-63EA-AF80-F22A54EA18AE}"/>
              </a:ext>
            </a:extLst>
          </p:cNvPr>
          <p:cNvSpPr txBox="1"/>
          <p:nvPr/>
        </p:nvSpPr>
        <p:spPr>
          <a:xfrm>
            <a:off x="5191141" y="6485747"/>
            <a:ext cx="3559850" cy="400110"/>
          </a:xfrm>
          <a:prstGeom prst="rect">
            <a:avLst/>
          </a:prstGeom>
          <a:solidFill>
            <a:schemeClr val="bg1"/>
          </a:solidFill>
        </p:spPr>
        <p:txBody>
          <a:bodyPr wrap="square" rtlCol="0">
            <a:spAutoFit/>
          </a:bodyPr>
          <a:lstStyle/>
          <a:p>
            <a:pPr algn="l"/>
            <a:r>
              <a:rPr lang="en-US" altLang="zh-CN" sz="2000">
                <a:solidFill>
                  <a:srgbClr val="0000FF"/>
                </a:solidFill>
                <a:latin typeface="Consolas" pitchFamily="49" charset="0"/>
                <a:ea typeface="楷体" pitchFamily="49" charset="-122"/>
                <a:cs typeface="Consolas" pitchFamily="49" charset="0"/>
              </a:rPr>
              <a:t>A. a，b，e，c，d，f</a:t>
            </a:r>
            <a:endParaRPr lang="zh-CN" altLang="en-US" sz="2000"/>
          </a:p>
        </p:txBody>
      </p:sp>
      <p:sp>
        <p:nvSpPr>
          <p:cNvPr id="42" name="TextBox 26">
            <a:extLst>
              <a:ext uri="{FF2B5EF4-FFF2-40B4-BE49-F238E27FC236}">
                <a16:creationId xmlns:a16="http://schemas.microsoft.com/office/drawing/2014/main" id="{965B0E31-F0EE-7EE6-5297-9AC34D328523}"/>
              </a:ext>
            </a:extLst>
          </p:cNvPr>
          <p:cNvSpPr txBox="1"/>
          <p:nvPr/>
        </p:nvSpPr>
        <p:spPr>
          <a:xfrm>
            <a:off x="5191141" y="6485747"/>
            <a:ext cx="3143272" cy="400110"/>
          </a:xfrm>
          <a:prstGeom prst="rect">
            <a:avLst/>
          </a:prstGeom>
          <a:solidFill>
            <a:schemeClr val="bg1"/>
          </a:solidFill>
        </p:spPr>
        <p:txBody>
          <a:bodyPr wrap="square" rtlCol="0">
            <a:spAutoFit/>
          </a:bodyPr>
          <a:lstStyle/>
          <a:p>
            <a:pPr algn="l"/>
            <a:r>
              <a:rPr lang="en-US" altLang="zh-CN" sz="2000">
                <a:solidFill>
                  <a:srgbClr val="0000FF"/>
                </a:solidFill>
                <a:latin typeface="Consolas" pitchFamily="49" charset="0"/>
                <a:ea typeface="楷体" pitchFamily="49" charset="-122"/>
                <a:cs typeface="Consolas" pitchFamily="49" charset="0"/>
              </a:rPr>
              <a:t>B. a，c，f，e，b，d</a:t>
            </a:r>
            <a:endParaRPr lang="zh-CN" altLang="en-US" sz="2000"/>
          </a:p>
        </p:txBody>
      </p:sp>
      <p:sp>
        <p:nvSpPr>
          <p:cNvPr id="43" name="TextBox 29">
            <a:extLst>
              <a:ext uri="{FF2B5EF4-FFF2-40B4-BE49-F238E27FC236}">
                <a16:creationId xmlns:a16="http://schemas.microsoft.com/office/drawing/2014/main" id="{59E00010-648D-1A3F-7AC2-4CB43B407069}"/>
              </a:ext>
            </a:extLst>
          </p:cNvPr>
          <p:cNvSpPr txBox="1"/>
          <p:nvPr/>
        </p:nvSpPr>
        <p:spPr>
          <a:xfrm>
            <a:off x="5191141" y="6485747"/>
            <a:ext cx="3143272" cy="400110"/>
          </a:xfrm>
          <a:prstGeom prst="rect">
            <a:avLst/>
          </a:prstGeom>
          <a:solidFill>
            <a:schemeClr val="bg1"/>
          </a:solidFill>
        </p:spPr>
        <p:txBody>
          <a:bodyPr wrap="square" rtlCol="0">
            <a:spAutoFit/>
          </a:bodyPr>
          <a:lstStyle/>
          <a:p>
            <a:pPr algn="l"/>
            <a:r>
              <a:rPr lang="en-US" altLang="zh-CN" sz="2000">
                <a:solidFill>
                  <a:srgbClr val="0000FF"/>
                </a:solidFill>
                <a:latin typeface="Consolas" pitchFamily="49" charset="0"/>
                <a:ea typeface="楷体" pitchFamily="49" charset="-122"/>
                <a:cs typeface="Consolas" pitchFamily="49" charset="0"/>
              </a:rPr>
              <a:t>C. a，e，b，</a:t>
            </a:r>
            <a:r>
              <a:rPr lang="en-US" altLang="zh-CN" sz="2000">
                <a:solidFill>
                  <a:srgbClr val="FF00FF"/>
                </a:solidFill>
                <a:latin typeface="Consolas" pitchFamily="49" charset="0"/>
                <a:ea typeface="楷体" pitchFamily="49" charset="-122"/>
                <a:cs typeface="Consolas" pitchFamily="49" charset="0"/>
              </a:rPr>
              <a:t>c</a:t>
            </a:r>
            <a:r>
              <a:rPr lang="en-US" altLang="zh-CN" sz="2000">
                <a:solidFill>
                  <a:srgbClr val="0000FF"/>
                </a:solidFill>
                <a:latin typeface="Consolas" pitchFamily="49" charset="0"/>
                <a:ea typeface="楷体" pitchFamily="49" charset="-122"/>
                <a:cs typeface="Consolas" pitchFamily="49" charset="0"/>
              </a:rPr>
              <a:t>，f，d</a:t>
            </a:r>
            <a:endParaRPr lang="zh-CN" altLang="en-US" sz="2000"/>
          </a:p>
        </p:txBody>
      </p:sp>
      <p:sp>
        <p:nvSpPr>
          <p:cNvPr id="44" name="TextBox 33">
            <a:extLst>
              <a:ext uri="{FF2B5EF4-FFF2-40B4-BE49-F238E27FC236}">
                <a16:creationId xmlns:a16="http://schemas.microsoft.com/office/drawing/2014/main" id="{02477513-F2D7-BEEC-FCA7-673BCB18A159}"/>
              </a:ext>
            </a:extLst>
          </p:cNvPr>
          <p:cNvSpPr txBox="1"/>
          <p:nvPr/>
        </p:nvSpPr>
        <p:spPr>
          <a:xfrm>
            <a:off x="8262974" y="4771235"/>
            <a:ext cx="3521657" cy="400110"/>
          </a:xfrm>
          <a:prstGeom prst="rect">
            <a:avLst/>
          </a:prstGeom>
          <a:noFill/>
        </p:spPr>
        <p:txBody>
          <a:bodyPr wrap="square" rtlCol="0">
            <a:spAutoFit/>
          </a:bodyPr>
          <a:lstStyle/>
          <a:p>
            <a:pPr algn="l"/>
            <a:r>
              <a:rPr lang="zh-CN" altLang="en-US" sz="2000" dirty="0">
                <a:solidFill>
                  <a:srgbClr val="0000FF"/>
                </a:solidFill>
                <a:latin typeface="Consolas" pitchFamily="49" charset="0"/>
                <a:ea typeface="仿宋" pitchFamily="49" charset="-122"/>
                <a:cs typeface="Consolas" pitchFamily="49" charset="0"/>
                <a:sym typeface="Wingdings"/>
              </a:rPr>
              <a:t>下一个访问顶点是</a:t>
            </a:r>
            <a:r>
              <a:rPr lang="en-US" altLang="zh-CN" sz="2000" dirty="0">
                <a:solidFill>
                  <a:srgbClr val="0000FF"/>
                </a:solidFill>
                <a:latin typeface="Consolas" pitchFamily="49" charset="0"/>
                <a:ea typeface="仿宋" pitchFamily="49" charset="-122"/>
                <a:cs typeface="Consolas" pitchFamily="49" charset="0"/>
                <a:sym typeface="Wingdings"/>
              </a:rPr>
              <a:t>d</a:t>
            </a:r>
            <a:r>
              <a:rPr lang="zh-CN" altLang="en-US" sz="2000" dirty="0">
                <a:solidFill>
                  <a:srgbClr val="0000FF"/>
                </a:solidFill>
                <a:latin typeface="Consolas" pitchFamily="49" charset="0"/>
                <a:ea typeface="仿宋" pitchFamily="49" charset="-122"/>
                <a:cs typeface="Consolas" pitchFamily="49" charset="0"/>
                <a:sym typeface="Wingdings"/>
              </a:rPr>
              <a:t>不可能是</a:t>
            </a:r>
            <a:r>
              <a:rPr lang="en-US" altLang="zh-CN" sz="2000" dirty="0">
                <a:solidFill>
                  <a:srgbClr val="FF00FF"/>
                </a:solidFill>
                <a:latin typeface="Consolas" pitchFamily="49" charset="0"/>
                <a:ea typeface="仿宋" pitchFamily="49" charset="-122"/>
                <a:cs typeface="Consolas" pitchFamily="49" charset="0"/>
                <a:sym typeface="Wingdings"/>
              </a:rPr>
              <a:t>c</a:t>
            </a:r>
            <a:endParaRPr lang="zh-CN" altLang="en-US" sz="2000" dirty="0">
              <a:solidFill>
                <a:srgbClr val="FF00FF"/>
              </a:solidFill>
              <a:latin typeface="Consolas" pitchFamily="49" charset="0"/>
              <a:ea typeface="仿宋" pitchFamily="49" charset="-122"/>
              <a:cs typeface="Consolas" pitchFamily="49" charset="0"/>
            </a:endParaRPr>
          </a:p>
        </p:txBody>
      </p:sp>
      <p:cxnSp>
        <p:nvCxnSpPr>
          <p:cNvPr id="45" name="直接箭头连接符 44">
            <a:extLst>
              <a:ext uri="{FF2B5EF4-FFF2-40B4-BE49-F238E27FC236}">
                <a16:creationId xmlns:a16="http://schemas.microsoft.com/office/drawing/2014/main" id="{E4E90FE0-CE6C-260D-5BCC-CC783243C62B}"/>
              </a:ext>
            </a:extLst>
          </p:cNvPr>
          <p:cNvCxnSpPr/>
          <p:nvPr/>
        </p:nvCxnSpPr>
        <p:spPr>
          <a:xfrm rot="16200000" flipH="1">
            <a:off x="6519662" y="4674494"/>
            <a:ext cx="1588" cy="684000"/>
          </a:xfrm>
          <a:prstGeom prst="straightConnector1">
            <a:avLst/>
          </a:prstGeom>
          <a:ln>
            <a:solidFill>
              <a:srgbClr val="FF0000"/>
            </a:solidFill>
            <a:tailEnd type="arrow"/>
          </a:ln>
        </p:spPr>
        <p:style>
          <a:lnRef idx="2">
            <a:schemeClr val="accent5"/>
          </a:lnRef>
          <a:fillRef idx="0">
            <a:schemeClr val="accent5"/>
          </a:fillRef>
          <a:effectRef idx="1">
            <a:schemeClr val="accent5"/>
          </a:effectRef>
          <a:fontRef idx="minor">
            <a:schemeClr val="tx1"/>
          </a:fontRef>
        </p:style>
      </p:cxnSp>
      <p:cxnSp>
        <p:nvCxnSpPr>
          <p:cNvPr id="46" name="直接箭头连接符 45">
            <a:extLst>
              <a:ext uri="{FF2B5EF4-FFF2-40B4-BE49-F238E27FC236}">
                <a16:creationId xmlns:a16="http://schemas.microsoft.com/office/drawing/2014/main" id="{4ACB73ED-CA42-7CE5-E7D4-4FCBC2313D11}"/>
              </a:ext>
            </a:extLst>
          </p:cNvPr>
          <p:cNvCxnSpPr/>
          <p:nvPr/>
        </p:nvCxnSpPr>
        <p:spPr>
          <a:xfrm rot="5400000" flipH="1" flipV="1">
            <a:off x="6941416" y="4518828"/>
            <a:ext cx="360000" cy="1588"/>
          </a:xfrm>
          <a:prstGeom prst="straightConnector1">
            <a:avLst/>
          </a:prstGeom>
          <a:ln>
            <a:solidFill>
              <a:srgbClr val="FF0000"/>
            </a:solidFill>
            <a:tailEnd type="arrow"/>
          </a:ln>
        </p:spPr>
        <p:style>
          <a:lnRef idx="2">
            <a:schemeClr val="accent5"/>
          </a:lnRef>
          <a:fillRef idx="0">
            <a:schemeClr val="accent5"/>
          </a:fillRef>
          <a:effectRef idx="1">
            <a:schemeClr val="accent5"/>
          </a:effectRef>
          <a:fontRef idx="minor">
            <a:schemeClr val="tx1"/>
          </a:fontRef>
        </p:style>
      </p:cxnSp>
      <p:cxnSp>
        <p:nvCxnSpPr>
          <p:cNvPr id="47" name="直接箭头连接符 46">
            <a:extLst>
              <a:ext uri="{FF2B5EF4-FFF2-40B4-BE49-F238E27FC236}">
                <a16:creationId xmlns:a16="http://schemas.microsoft.com/office/drawing/2014/main" id="{4B641A8B-4856-2471-8E0C-AFF2D7F83E70}"/>
              </a:ext>
            </a:extLst>
          </p:cNvPr>
          <p:cNvCxnSpPr/>
          <p:nvPr/>
        </p:nvCxnSpPr>
        <p:spPr>
          <a:xfrm rot="5400000">
            <a:off x="7048529" y="4556921"/>
            <a:ext cx="428628" cy="1588"/>
          </a:xfrm>
          <a:prstGeom prst="straightConnector1">
            <a:avLst/>
          </a:prstGeom>
          <a:ln>
            <a:solidFill>
              <a:srgbClr val="FF0000"/>
            </a:solidFill>
            <a:prstDash val="sysDash"/>
            <a:tailEnd type="arrow"/>
          </a:ln>
        </p:spPr>
        <p:style>
          <a:lnRef idx="2">
            <a:schemeClr val="accent5"/>
          </a:lnRef>
          <a:fillRef idx="0">
            <a:schemeClr val="accent5"/>
          </a:fillRef>
          <a:effectRef idx="1">
            <a:schemeClr val="accent5"/>
          </a:effectRef>
          <a:fontRef idx="minor">
            <a:schemeClr val="tx1"/>
          </a:fontRef>
        </p:style>
      </p:cxnSp>
      <p:cxnSp>
        <p:nvCxnSpPr>
          <p:cNvPr id="48" name="直接箭头连接符 47">
            <a:extLst>
              <a:ext uri="{FF2B5EF4-FFF2-40B4-BE49-F238E27FC236}">
                <a16:creationId xmlns:a16="http://schemas.microsoft.com/office/drawing/2014/main" id="{9E99D954-4D68-EDD2-E9A5-3A31414116DC}"/>
              </a:ext>
            </a:extLst>
          </p:cNvPr>
          <p:cNvCxnSpPr/>
          <p:nvPr/>
        </p:nvCxnSpPr>
        <p:spPr>
          <a:xfrm>
            <a:off x="7334281" y="4842673"/>
            <a:ext cx="1500198" cy="642942"/>
          </a:xfrm>
          <a:prstGeom prst="straightConnector1">
            <a:avLst/>
          </a:prstGeom>
          <a:ln>
            <a:solidFill>
              <a:srgbClr val="FF0000"/>
            </a:solidFill>
            <a:tailEnd type="arrow"/>
          </a:ln>
        </p:spPr>
        <p:style>
          <a:lnRef idx="2">
            <a:schemeClr val="accent5"/>
          </a:lnRef>
          <a:fillRef idx="0">
            <a:schemeClr val="accent5"/>
          </a:fillRef>
          <a:effectRef idx="1">
            <a:schemeClr val="accent5"/>
          </a:effectRef>
          <a:fontRef idx="minor">
            <a:schemeClr val="tx1"/>
          </a:fontRef>
        </p:style>
      </p:cxnSp>
    </p:spTree>
    <p:extLst>
      <p:ext uri="{BB962C8B-B14F-4D97-AF65-F5344CB8AC3E}">
        <p14:creationId xmlns:p14="http://schemas.microsoft.com/office/powerpoint/2010/main" val="33439272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nodeType="clickEffect">
                                  <p:stCondLst>
                                    <p:cond delay="0"/>
                                  </p:stCondLst>
                                  <p:childTnLst>
                                    <p:set>
                                      <p:cBhvr>
                                        <p:cTn id="6" dur="1" fill="hold">
                                          <p:stCondLst>
                                            <p:cond delay="0"/>
                                          </p:stCondLst>
                                        </p:cTn>
                                        <p:tgtEl>
                                          <p:spTgt spid="45"/>
                                        </p:tgtEl>
                                        <p:attrNameLst>
                                          <p:attrName>style.visibility</p:attrName>
                                        </p:attrNameLst>
                                      </p:cBhvr>
                                      <p:to>
                                        <p:strVal val="visible"/>
                                      </p:to>
                                    </p:set>
                                    <p:animEffect transition="in" filter="strips(downRight)">
                                      <p:cBhvr>
                                        <p:cTn id="7" dur="1000"/>
                                        <p:tgtEl>
                                          <p:spTgt spid="45"/>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3" fill="hold" nodeType="clickEffect">
                                  <p:stCondLst>
                                    <p:cond delay="0"/>
                                  </p:stCondLst>
                                  <p:childTnLst>
                                    <p:set>
                                      <p:cBhvr>
                                        <p:cTn id="11" dur="1" fill="hold">
                                          <p:stCondLst>
                                            <p:cond delay="0"/>
                                          </p:stCondLst>
                                        </p:cTn>
                                        <p:tgtEl>
                                          <p:spTgt spid="46"/>
                                        </p:tgtEl>
                                        <p:attrNameLst>
                                          <p:attrName>style.visibility</p:attrName>
                                        </p:attrNameLst>
                                      </p:cBhvr>
                                      <p:to>
                                        <p:strVal val="visible"/>
                                      </p:to>
                                    </p:set>
                                    <p:animEffect transition="in" filter="strips(upRight)">
                                      <p:cBhvr>
                                        <p:cTn id="12" dur="1000"/>
                                        <p:tgtEl>
                                          <p:spTgt spid="46"/>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12" fill="hold" nodeType="clickEffect">
                                  <p:stCondLst>
                                    <p:cond delay="0"/>
                                  </p:stCondLst>
                                  <p:childTnLst>
                                    <p:set>
                                      <p:cBhvr>
                                        <p:cTn id="16" dur="1" fill="hold">
                                          <p:stCondLst>
                                            <p:cond delay="0"/>
                                          </p:stCondLst>
                                        </p:cTn>
                                        <p:tgtEl>
                                          <p:spTgt spid="47"/>
                                        </p:tgtEl>
                                        <p:attrNameLst>
                                          <p:attrName>style.visibility</p:attrName>
                                        </p:attrNameLst>
                                      </p:cBhvr>
                                      <p:to>
                                        <p:strVal val="visible"/>
                                      </p:to>
                                    </p:set>
                                    <p:animEffect transition="in" filter="strips(downLeft)">
                                      <p:cBhvr>
                                        <p:cTn id="17" dur="1000"/>
                                        <p:tgtEl>
                                          <p:spTgt spid="47"/>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6" fill="hold" nodeType="clickEffect">
                                  <p:stCondLst>
                                    <p:cond delay="0"/>
                                  </p:stCondLst>
                                  <p:childTnLst>
                                    <p:set>
                                      <p:cBhvr>
                                        <p:cTn id="21" dur="1" fill="hold">
                                          <p:stCondLst>
                                            <p:cond delay="0"/>
                                          </p:stCondLst>
                                        </p:cTn>
                                        <p:tgtEl>
                                          <p:spTgt spid="48"/>
                                        </p:tgtEl>
                                        <p:attrNameLst>
                                          <p:attrName>style.visibility</p:attrName>
                                        </p:attrNameLst>
                                      </p:cBhvr>
                                      <p:to>
                                        <p:strVal val="visible"/>
                                      </p:to>
                                    </p:set>
                                    <p:animEffect transition="in" filter="strips(downRight)">
                                      <p:cBhvr>
                                        <p:cTn id="22" dur="1000"/>
                                        <p:tgtEl>
                                          <p:spTgt spid="48"/>
                                        </p:tgtEl>
                                      </p:cBhvr>
                                    </p:animEffect>
                                  </p:childTnLst>
                                </p:cTn>
                              </p:par>
                            </p:childTnLst>
                          </p:cTn>
                        </p:par>
                        <p:par>
                          <p:cTn id="23" fill="hold">
                            <p:stCondLst>
                              <p:cond delay="1000"/>
                            </p:stCondLst>
                            <p:childTnLst>
                              <p:par>
                                <p:cTn id="24" presetID="1" presetClass="entr" presetSubtype="0" fill="hold" grpId="0" nodeType="afterEffect">
                                  <p:stCondLst>
                                    <p:cond delay="0"/>
                                  </p:stCondLst>
                                  <p:childTnLst>
                                    <p:set>
                                      <p:cBhvr>
                                        <p:cTn id="25" dur="1" fill="hold">
                                          <p:stCondLst>
                                            <p:cond delay="0"/>
                                          </p:stCondLst>
                                        </p:cTn>
                                        <p:tgtEl>
                                          <p:spTgt spid="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CE02E2-6EE0-7C0B-DF19-8DD85134C26F}"/>
            </a:ext>
          </a:extLst>
        </p:cNvPr>
        <p:cNvGrpSpPr/>
        <p:nvPr/>
      </p:nvGrpSpPr>
      <p:grpSpPr>
        <a:xfrm>
          <a:off x="0" y="0"/>
          <a:ext cx="0" cy="0"/>
          <a:chOff x="0" y="0"/>
          <a:chExt cx="0" cy="0"/>
        </a:xfrm>
      </p:grpSpPr>
      <p:sp>
        <p:nvSpPr>
          <p:cNvPr id="2" name="Rectangle 2">
            <a:extLst>
              <a:ext uri="{FF2B5EF4-FFF2-40B4-BE49-F238E27FC236}">
                <a16:creationId xmlns:a16="http://schemas.microsoft.com/office/drawing/2014/main" id="{809F7483-5C10-CE2E-CD1A-B96CBC260653}"/>
              </a:ext>
            </a:extLst>
          </p:cNvPr>
          <p:cNvSpPr txBox="1">
            <a:spLocks noChangeArrowheads="1"/>
          </p:cNvSpPr>
          <p:nvPr/>
        </p:nvSpPr>
        <p:spPr>
          <a:xfrm>
            <a:off x="474772" y="1230902"/>
            <a:ext cx="4253076"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8.3.2 </a:t>
            </a:r>
            <a:r>
              <a:rPr kumimoji="1" lang="zh-CN" altLang="en-US" dirty="0">
                <a:latin typeface="微软雅黑" pitchFamily="34" charset="-122"/>
                <a:ea typeface="微软雅黑" pitchFamily="34" charset="-122"/>
              </a:rPr>
              <a:t>深度优先遍历算法</a:t>
            </a:r>
            <a:endParaRPr lang="zh-CN" altLang="en-US" dirty="0"/>
          </a:p>
        </p:txBody>
      </p:sp>
      <p:sp>
        <p:nvSpPr>
          <p:cNvPr id="3" name="矩形 2">
            <a:extLst>
              <a:ext uri="{FF2B5EF4-FFF2-40B4-BE49-F238E27FC236}">
                <a16:creationId xmlns:a16="http://schemas.microsoft.com/office/drawing/2014/main" id="{62EDFE22-854A-FA2F-E20C-146939DF63F5}"/>
              </a:ext>
            </a:extLst>
          </p:cNvPr>
          <p:cNvSpPr/>
          <p:nvPr/>
        </p:nvSpPr>
        <p:spPr>
          <a:xfrm>
            <a:off x="3200907" y="399148"/>
            <a:ext cx="4617860"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8.3 </a:t>
            </a:r>
            <a:r>
              <a:rPr lang="zh-CN" altLang="en-US" sz="3000" b="1" dirty="0">
                <a:latin typeface="黑体" pitchFamily="49" charset="-122"/>
                <a:ea typeface="黑体" pitchFamily="49" charset="-122"/>
                <a:cs typeface="经典粗黑简" pitchFamily="49" charset="-122"/>
              </a:rPr>
              <a:t>图的遍历</a:t>
            </a:r>
          </a:p>
        </p:txBody>
      </p:sp>
      <p:cxnSp>
        <p:nvCxnSpPr>
          <p:cNvPr id="4" name="直接连接符 3">
            <a:extLst>
              <a:ext uri="{FF2B5EF4-FFF2-40B4-BE49-F238E27FC236}">
                <a16:creationId xmlns:a16="http://schemas.microsoft.com/office/drawing/2014/main" id="{7DA6C136-BBA3-2C98-B5B7-ACB9C4A26090}"/>
              </a:ext>
            </a:extLst>
          </p:cNvPr>
          <p:cNvCxnSpPr>
            <a:cxnSpLocks/>
          </p:cNvCxnSpPr>
          <p:nvPr/>
        </p:nvCxnSpPr>
        <p:spPr>
          <a:xfrm>
            <a:off x="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5" name="TextBox 2">
            <a:extLst>
              <a:ext uri="{FF2B5EF4-FFF2-40B4-BE49-F238E27FC236}">
                <a16:creationId xmlns:a16="http://schemas.microsoft.com/office/drawing/2014/main" id="{E11C0B93-83FA-46DA-03CE-64F1D106D99A}"/>
              </a:ext>
            </a:extLst>
          </p:cNvPr>
          <p:cNvSpPr txBox="1"/>
          <p:nvPr/>
        </p:nvSpPr>
        <p:spPr>
          <a:xfrm>
            <a:off x="839416" y="1932287"/>
            <a:ext cx="7286676" cy="3785652"/>
          </a:xfrm>
          <a:prstGeom prst="rect">
            <a:avLst/>
          </a:prstGeom>
          <a:noFill/>
          <a:ln>
            <a:noFill/>
          </a:ln>
          <a:effectLst/>
          <a:scene3d>
            <a:camera prst="orthographicFront">
              <a:rot lat="0" lon="0" rev="0"/>
            </a:camera>
            <a:lightRig rig="contrasting" dir="t">
              <a:rot lat="0" lon="0" rev="1500000"/>
            </a:lightRig>
          </a:scene3d>
          <a:sp3d prstMaterial="metal">
            <a:bevelT w="88900" h="88900"/>
          </a:sp3d>
        </p:spPr>
        <p:style>
          <a:lnRef idx="1">
            <a:schemeClr val="accent1"/>
          </a:lnRef>
          <a:fillRef idx="2">
            <a:schemeClr val="accent1"/>
          </a:fillRef>
          <a:effectRef idx="1">
            <a:schemeClr val="accent1"/>
          </a:effectRef>
          <a:fontRef idx="minor">
            <a:schemeClr val="dk1"/>
          </a:fontRef>
        </p:style>
        <p:txBody>
          <a:bodyPr wrap="square" rtlCol="0">
            <a:spAutoFit/>
          </a:bodyPr>
          <a:lstStyle/>
          <a:p>
            <a:pPr algn="l">
              <a:lnSpc>
                <a:spcPct val="150000"/>
              </a:lnSpc>
            </a:pPr>
            <a:r>
              <a:rPr lang="zh-CN" altLang="en-US" sz="2000" dirty="0">
                <a:solidFill>
                  <a:srgbClr val="0000FF"/>
                </a:solidFill>
                <a:latin typeface="Consolas" pitchFamily="49" charset="0"/>
                <a:ea typeface="楷体" pitchFamily="49" charset="-122"/>
                <a:cs typeface="Consolas" pitchFamily="49" charset="0"/>
              </a:rPr>
              <a:t>   无向图</a:t>
            </a:r>
            <a:r>
              <a:rPr lang="en-US" sz="2000" dirty="0">
                <a:solidFill>
                  <a:srgbClr val="0000FF"/>
                </a:solidFill>
                <a:latin typeface="Consolas" pitchFamily="49" charset="0"/>
                <a:ea typeface="楷体" pitchFamily="49" charset="-122"/>
                <a:cs typeface="Consolas" pitchFamily="49" charset="0"/>
              </a:rPr>
              <a:t>G=（V, E），</a:t>
            </a:r>
            <a:r>
              <a:rPr lang="zh-CN" altLang="en-US" sz="2000" dirty="0">
                <a:solidFill>
                  <a:srgbClr val="0000FF"/>
                </a:solidFill>
                <a:latin typeface="Consolas" pitchFamily="49" charset="0"/>
                <a:ea typeface="楷体" pitchFamily="49" charset="-122"/>
                <a:cs typeface="Consolas" pitchFamily="49" charset="0"/>
              </a:rPr>
              <a:t>其中</a:t>
            </a:r>
            <a:endParaRPr lang="en-US" altLang="zh-CN" sz="2000" dirty="0">
              <a:solidFill>
                <a:srgbClr val="0000FF"/>
              </a:solidFill>
              <a:latin typeface="Consolas" pitchFamily="49" charset="0"/>
              <a:ea typeface="楷体" pitchFamily="49" charset="-122"/>
              <a:cs typeface="Consolas" pitchFamily="49" charset="0"/>
            </a:endParaRPr>
          </a:p>
          <a:p>
            <a:pPr algn="l">
              <a:lnSpc>
                <a:spcPct val="150000"/>
              </a:lnSpc>
            </a:pPr>
            <a:r>
              <a:rPr lang="en-US" sz="2000" dirty="0">
                <a:solidFill>
                  <a:srgbClr val="0000FF"/>
                </a:solidFill>
                <a:latin typeface="Consolas" pitchFamily="49" charset="0"/>
                <a:ea typeface="楷体" pitchFamily="49" charset="-122"/>
                <a:cs typeface="Consolas" pitchFamily="49" charset="0"/>
              </a:rPr>
              <a:t>    V={</a:t>
            </a:r>
            <a:r>
              <a:rPr lang="en-US" sz="2000" dirty="0" err="1">
                <a:solidFill>
                  <a:srgbClr val="0000FF"/>
                </a:solidFill>
                <a:latin typeface="Consolas" pitchFamily="49" charset="0"/>
                <a:ea typeface="楷体" pitchFamily="49" charset="-122"/>
                <a:cs typeface="Consolas" pitchFamily="49" charset="0"/>
              </a:rPr>
              <a:t>a,b,c,d,e,f</a:t>
            </a:r>
            <a:r>
              <a:rPr lang="en-US" sz="2000" dirty="0">
                <a:solidFill>
                  <a:srgbClr val="0000FF"/>
                </a:solidFill>
                <a:latin typeface="Consolas" pitchFamily="49" charset="0"/>
                <a:ea typeface="楷体" pitchFamily="49" charset="-122"/>
                <a:cs typeface="Consolas" pitchFamily="49" charset="0"/>
              </a:rPr>
              <a:t>},</a:t>
            </a:r>
          </a:p>
          <a:p>
            <a:pPr algn="l">
              <a:lnSpc>
                <a:spcPct val="150000"/>
              </a:lnSpc>
            </a:pPr>
            <a:r>
              <a:rPr lang="en-US" sz="2000" dirty="0">
                <a:solidFill>
                  <a:srgbClr val="0000FF"/>
                </a:solidFill>
                <a:latin typeface="Consolas" pitchFamily="49" charset="0"/>
                <a:ea typeface="楷体" pitchFamily="49" charset="-122"/>
                <a:cs typeface="Consolas" pitchFamily="49" charset="0"/>
              </a:rPr>
              <a:t>    E={(</a:t>
            </a:r>
            <a:r>
              <a:rPr lang="en-US" sz="2000" dirty="0" err="1">
                <a:solidFill>
                  <a:srgbClr val="0000FF"/>
                </a:solidFill>
                <a:latin typeface="Consolas" pitchFamily="49" charset="0"/>
                <a:ea typeface="楷体" pitchFamily="49" charset="-122"/>
                <a:cs typeface="Consolas" pitchFamily="49" charset="0"/>
              </a:rPr>
              <a:t>a,b</a:t>
            </a:r>
            <a:r>
              <a:rPr lang="en-US" sz="2000" dirty="0">
                <a:solidFill>
                  <a:srgbClr val="0000FF"/>
                </a:solidFill>
                <a:latin typeface="Consolas" pitchFamily="49" charset="0"/>
                <a:ea typeface="楷体" pitchFamily="49" charset="-122"/>
                <a:cs typeface="Consolas" pitchFamily="49" charset="0"/>
              </a:rPr>
              <a:t>),(</a:t>
            </a:r>
            <a:r>
              <a:rPr lang="en-US" sz="2000" dirty="0" err="1">
                <a:solidFill>
                  <a:srgbClr val="0000FF"/>
                </a:solidFill>
                <a:latin typeface="Consolas" pitchFamily="49" charset="0"/>
                <a:ea typeface="楷体" pitchFamily="49" charset="-122"/>
                <a:cs typeface="Consolas" pitchFamily="49" charset="0"/>
              </a:rPr>
              <a:t>a,e</a:t>
            </a:r>
            <a:r>
              <a:rPr lang="en-US" sz="2000" dirty="0">
                <a:solidFill>
                  <a:srgbClr val="0000FF"/>
                </a:solidFill>
                <a:latin typeface="Consolas" pitchFamily="49" charset="0"/>
                <a:ea typeface="楷体" pitchFamily="49" charset="-122"/>
                <a:cs typeface="Consolas" pitchFamily="49" charset="0"/>
              </a:rPr>
              <a:t>),(</a:t>
            </a:r>
            <a:r>
              <a:rPr lang="en-US" sz="2000" dirty="0" err="1">
                <a:solidFill>
                  <a:srgbClr val="0000FF"/>
                </a:solidFill>
                <a:latin typeface="Consolas" pitchFamily="49" charset="0"/>
                <a:ea typeface="楷体" pitchFamily="49" charset="-122"/>
                <a:cs typeface="Consolas" pitchFamily="49" charset="0"/>
              </a:rPr>
              <a:t>a,c</a:t>
            </a:r>
            <a:r>
              <a:rPr lang="en-US" sz="2000" dirty="0">
                <a:solidFill>
                  <a:srgbClr val="0000FF"/>
                </a:solidFill>
                <a:latin typeface="Consolas" pitchFamily="49" charset="0"/>
                <a:ea typeface="楷体" pitchFamily="49" charset="-122"/>
                <a:cs typeface="Consolas" pitchFamily="49" charset="0"/>
              </a:rPr>
              <a:t>),(</a:t>
            </a:r>
            <a:r>
              <a:rPr lang="en-US" sz="2000" dirty="0" err="1">
                <a:solidFill>
                  <a:srgbClr val="0000FF"/>
                </a:solidFill>
                <a:latin typeface="Consolas" pitchFamily="49" charset="0"/>
                <a:ea typeface="楷体" pitchFamily="49" charset="-122"/>
                <a:cs typeface="Consolas" pitchFamily="49" charset="0"/>
              </a:rPr>
              <a:t>b,e</a:t>
            </a:r>
            <a:r>
              <a:rPr lang="en-US" sz="2000" dirty="0">
                <a:solidFill>
                  <a:srgbClr val="0000FF"/>
                </a:solidFill>
                <a:latin typeface="Consolas" pitchFamily="49" charset="0"/>
                <a:ea typeface="楷体" pitchFamily="49" charset="-122"/>
                <a:cs typeface="Consolas" pitchFamily="49" charset="0"/>
              </a:rPr>
              <a:t>),(</a:t>
            </a:r>
            <a:r>
              <a:rPr lang="en-US" sz="2000" dirty="0" err="1">
                <a:solidFill>
                  <a:srgbClr val="0000FF"/>
                </a:solidFill>
                <a:latin typeface="Consolas" pitchFamily="49" charset="0"/>
                <a:ea typeface="楷体" pitchFamily="49" charset="-122"/>
                <a:cs typeface="Consolas" pitchFamily="49" charset="0"/>
              </a:rPr>
              <a:t>c,f</a:t>
            </a:r>
            <a:r>
              <a:rPr lang="en-US" sz="2000" dirty="0">
                <a:solidFill>
                  <a:srgbClr val="0000FF"/>
                </a:solidFill>
                <a:latin typeface="Consolas" pitchFamily="49" charset="0"/>
                <a:ea typeface="楷体" pitchFamily="49" charset="-122"/>
                <a:cs typeface="Consolas" pitchFamily="49" charset="0"/>
              </a:rPr>
              <a:t>),(</a:t>
            </a:r>
            <a:r>
              <a:rPr lang="en-US" sz="2000" dirty="0" err="1">
                <a:solidFill>
                  <a:srgbClr val="0000FF"/>
                </a:solidFill>
                <a:latin typeface="Consolas" pitchFamily="49" charset="0"/>
                <a:ea typeface="楷体" pitchFamily="49" charset="-122"/>
                <a:cs typeface="Consolas" pitchFamily="49" charset="0"/>
              </a:rPr>
              <a:t>f,d</a:t>
            </a:r>
            <a:r>
              <a:rPr lang="en-US" sz="2000" dirty="0">
                <a:solidFill>
                  <a:srgbClr val="0000FF"/>
                </a:solidFill>
                <a:latin typeface="Consolas" pitchFamily="49" charset="0"/>
                <a:ea typeface="楷体" pitchFamily="49" charset="-122"/>
                <a:cs typeface="Consolas" pitchFamily="49" charset="0"/>
              </a:rPr>
              <a:t>),(</a:t>
            </a:r>
            <a:r>
              <a:rPr lang="en-US" sz="2000" dirty="0" err="1">
                <a:solidFill>
                  <a:srgbClr val="0000FF"/>
                </a:solidFill>
                <a:latin typeface="Consolas" pitchFamily="49" charset="0"/>
                <a:ea typeface="楷体" pitchFamily="49" charset="-122"/>
                <a:cs typeface="Consolas" pitchFamily="49" charset="0"/>
              </a:rPr>
              <a:t>e,d</a:t>
            </a:r>
            <a:r>
              <a:rPr lang="en-US" sz="2000" dirty="0">
                <a:solidFill>
                  <a:srgbClr val="0000FF"/>
                </a:solidFill>
                <a:latin typeface="Consolas" pitchFamily="49" charset="0"/>
                <a:ea typeface="楷体" pitchFamily="49" charset="-122"/>
                <a:cs typeface="Consolas" pitchFamily="49" charset="0"/>
              </a:rPr>
              <a:t>)}</a:t>
            </a:r>
          </a:p>
          <a:p>
            <a:pPr algn="l">
              <a:lnSpc>
                <a:spcPct val="150000"/>
              </a:lnSpc>
            </a:pPr>
            <a:r>
              <a:rPr lang="zh-CN" altLang="en-US" sz="2000" dirty="0">
                <a:solidFill>
                  <a:srgbClr val="0000FF"/>
                </a:solidFill>
                <a:latin typeface="Consolas" pitchFamily="49" charset="0"/>
                <a:ea typeface="楷体" pitchFamily="49" charset="-122"/>
                <a:cs typeface="Consolas" pitchFamily="49" charset="0"/>
              </a:rPr>
              <a:t>对该图进行深度优先排序，得到的顶点序列正确的是（  ）。</a:t>
            </a:r>
            <a:br>
              <a:rPr lang="zh-CN" altLang="en-US" sz="2000" dirty="0">
                <a:solidFill>
                  <a:srgbClr val="0000FF"/>
                </a:solidFill>
                <a:latin typeface="Consolas" pitchFamily="49" charset="0"/>
                <a:ea typeface="楷体" pitchFamily="49" charset="-122"/>
                <a:cs typeface="Consolas" pitchFamily="49" charset="0"/>
              </a:rPr>
            </a:br>
            <a:r>
              <a:rPr lang="zh-CN" altLang="en-US" sz="2000" dirty="0">
                <a:solidFill>
                  <a:srgbClr val="0000FF"/>
                </a:solidFill>
                <a:latin typeface="Consolas" pitchFamily="49" charset="0"/>
                <a:ea typeface="楷体" pitchFamily="49" charset="-122"/>
                <a:cs typeface="Consolas" pitchFamily="49" charset="0"/>
              </a:rPr>
              <a:t>    </a:t>
            </a:r>
            <a:r>
              <a:rPr lang="en-US" altLang="zh-CN" sz="2000" dirty="0">
                <a:solidFill>
                  <a:srgbClr val="0000FF"/>
                </a:solidFill>
                <a:latin typeface="Consolas" pitchFamily="49" charset="0"/>
                <a:ea typeface="楷体" pitchFamily="49" charset="-122"/>
                <a:cs typeface="Consolas" pitchFamily="49" charset="0"/>
              </a:rPr>
              <a:t>A. </a:t>
            </a:r>
            <a:r>
              <a:rPr lang="en-US" sz="2000" dirty="0" err="1">
                <a:solidFill>
                  <a:srgbClr val="0000FF"/>
                </a:solidFill>
                <a:latin typeface="Consolas" pitchFamily="49" charset="0"/>
                <a:ea typeface="楷体" pitchFamily="49" charset="-122"/>
                <a:cs typeface="Consolas" pitchFamily="49" charset="0"/>
              </a:rPr>
              <a:t>a，b，e，c，d，f</a:t>
            </a:r>
            <a:endParaRPr lang="en-US" sz="2000" dirty="0">
              <a:solidFill>
                <a:srgbClr val="0000FF"/>
              </a:solidFill>
              <a:latin typeface="Consolas" pitchFamily="49" charset="0"/>
              <a:ea typeface="楷体" pitchFamily="49" charset="-122"/>
              <a:cs typeface="Consolas" pitchFamily="49" charset="0"/>
            </a:endParaRPr>
          </a:p>
          <a:p>
            <a:pPr algn="l">
              <a:lnSpc>
                <a:spcPct val="150000"/>
              </a:lnSpc>
            </a:pPr>
            <a:r>
              <a:rPr lang="en-US" sz="2000" dirty="0">
                <a:solidFill>
                  <a:srgbClr val="0000FF"/>
                </a:solidFill>
                <a:latin typeface="Consolas" pitchFamily="49" charset="0"/>
                <a:ea typeface="楷体" pitchFamily="49" charset="-122"/>
                <a:cs typeface="Consolas" pitchFamily="49" charset="0"/>
              </a:rPr>
              <a:t>    B. </a:t>
            </a:r>
            <a:r>
              <a:rPr lang="en-US" sz="2000" dirty="0" err="1">
                <a:solidFill>
                  <a:srgbClr val="0000FF"/>
                </a:solidFill>
                <a:latin typeface="Consolas" pitchFamily="49" charset="0"/>
                <a:ea typeface="楷体" pitchFamily="49" charset="-122"/>
                <a:cs typeface="Consolas" pitchFamily="49" charset="0"/>
              </a:rPr>
              <a:t>a，c，f，e，b，d</a:t>
            </a:r>
            <a:endParaRPr lang="en-US" sz="2000" dirty="0">
              <a:solidFill>
                <a:srgbClr val="0000FF"/>
              </a:solidFill>
              <a:latin typeface="Consolas" pitchFamily="49" charset="0"/>
              <a:ea typeface="楷体" pitchFamily="49" charset="-122"/>
              <a:cs typeface="Consolas" pitchFamily="49" charset="0"/>
            </a:endParaRPr>
          </a:p>
          <a:p>
            <a:pPr algn="l">
              <a:lnSpc>
                <a:spcPct val="150000"/>
              </a:lnSpc>
            </a:pPr>
            <a:r>
              <a:rPr lang="en-US" sz="2000" dirty="0">
                <a:solidFill>
                  <a:srgbClr val="0000FF"/>
                </a:solidFill>
                <a:latin typeface="Consolas" pitchFamily="49" charset="0"/>
                <a:ea typeface="楷体" pitchFamily="49" charset="-122"/>
                <a:cs typeface="Consolas" pitchFamily="49" charset="0"/>
              </a:rPr>
              <a:t>    C. </a:t>
            </a:r>
            <a:r>
              <a:rPr lang="en-US" sz="2000" dirty="0" err="1">
                <a:solidFill>
                  <a:srgbClr val="0000FF"/>
                </a:solidFill>
                <a:latin typeface="Consolas" pitchFamily="49" charset="0"/>
                <a:ea typeface="楷体" pitchFamily="49" charset="-122"/>
                <a:cs typeface="Consolas" pitchFamily="49" charset="0"/>
              </a:rPr>
              <a:t>a，e，b，c，f，d</a:t>
            </a:r>
            <a:endParaRPr lang="en-US" sz="2000" dirty="0">
              <a:solidFill>
                <a:srgbClr val="0000FF"/>
              </a:solidFill>
              <a:latin typeface="Consolas" pitchFamily="49" charset="0"/>
              <a:ea typeface="楷体" pitchFamily="49" charset="-122"/>
              <a:cs typeface="Consolas" pitchFamily="49" charset="0"/>
            </a:endParaRPr>
          </a:p>
          <a:p>
            <a:pPr algn="l">
              <a:lnSpc>
                <a:spcPct val="150000"/>
              </a:lnSpc>
            </a:pPr>
            <a:r>
              <a:rPr lang="en-US" sz="2000" dirty="0">
                <a:solidFill>
                  <a:srgbClr val="0000FF"/>
                </a:solidFill>
                <a:latin typeface="Consolas" pitchFamily="49" charset="0"/>
                <a:ea typeface="楷体" pitchFamily="49" charset="-122"/>
                <a:cs typeface="Consolas" pitchFamily="49" charset="0"/>
              </a:rPr>
              <a:t>    D. </a:t>
            </a:r>
            <a:r>
              <a:rPr lang="en-US" sz="2000" dirty="0" err="1">
                <a:solidFill>
                  <a:srgbClr val="0000FF"/>
                </a:solidFill>
                <a:latin typeface="Consolas" pitchFamily="49" charset="0"/>
                <a:ea typeface="楷体" pitchFamily="49" charset="-122"/>
                <a:cs typeface="Consolas" pitchFamily="49" charset="0"/>
              </a:rPr>
              <a:t>a，e，d，f，c，b</a:t>
            </a:r>
            <a:endParaRPr lang="zh-CN" altLang="en-US" sz="2000" dirty="0">
              <a:solidFill>
                <a:srgbClr val="0000FF"/>
              </a:solidFill>
              <a:latin typeface="Consolas" pitchFamily="49" charset="0"/>
              <a:ea typeface="楷体" pitchFamily="49" charset="-122"/>
              <a:cs typeface="Consolas" pitchFamily="49" charset="0"/>
            </a:endParaRPr>
          </a:p>
        </p:txBody>
      </p:sp>
      <p:grpSp>
        <p:nvGrpSpPr>
          <p:cNvPr id="7" name="组合 36">
            <a:extLst>
              <a:ext uri="{FF2B5EF4-FFF2-40B4-BE49-F238E27FC236}">
                <a16:creationId xmlns:a16="http://schemas.microsoft.com/office/drawing/2014/main" id="{891D4D04-184C-7F8A-FA95-FD30072F4B90}"/>
              </a:ext>
            </a:extLst>
          </p:cNvPr>
          <p:cNvGrpSpPr/>
          <p:nvPr/>
        </p:nvGrpSpPr>
        <p:grpSpPr>
          <a:xfrm>
            <a:off x="8288204" y="1500653"/>
            <a:ext cx="3429024" cy="2071702"/>
            <a:chOff x="1285852" y="857232"/>
            <a:chExt cx="3429024" cy="2071702"/>
          </a:xfrm>
        </p:grpSpPr>
        <p:sp>
          <p:nvSpPr>
            <p:cNvPr id="113" name="椭圆 112">
              <a:extLst>
                <a:ext uri="{FF2B5EF4-FFF2-40B4-BE49-F238E27FC236}">
                  <a16:creationId xmlns:a16="http://schemas.microsoft.com/office/drawing/2014/main" id="{F1670988-33BE-7C05-006D-1CB7C6997BC5}"/>
                </a:ext>
              </a:extLst>
            </p:cNvPr>
            <p:cNvSpPr/>
            <p:nvPr/>
          </p:nvSpPr>
          <p:spPr>
            <a:xfrm>
              <a:off x="1285852" y="1643050"/>
              <a:ext cx="428628" cy="428628"/>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800" i="1">
                  <a:solidFill>
                    <a:srgbClr val="0000FF"/>
                  </a:solidFill>
                  <a:latin typeface="Consolas" pitchFamily="49" charset="0"/>
                  <a:cs typeface="Consolas" pitchFamily="49" charset="0"/>
                </a:rPr>
                <a:t>a</a:t>
              </a:r>
              <a:endParaRPr lang="zh-CN" altLang="en-US" sz="1800" i="1">
                <a:solidFill>
                  <a:srgbClr val="0000FF"/>
                </a:solidFill>
                <a:latin typeface="Consolas" pitchFamily="49" charset="0"/>
                <a:cs typeface="Consolas" pitchFamily="49" charset="0"/>
              </a:endParaRPr>
            </a:p>
          </p:txBody>
        </p:sp>
        <p:sp>
          <p:nvSpPr>
            <p:cNvPr id="130" name="椭圆 129">
              <a:extLst>
                <a:ext uri="{FF2B5EF4-FFF2-40B4-BE49-F238E27FC236}">
                  <a16:creationId xmlns:a16="http://schemas.microsoft.com/office/drawing/2014/main" id="{611C467A-8083-F854-4EEE-87A911875279}"/>
                </a:ext>
              </a:extLst>
            </p:cNvPr>
            <p:cNvSpPr/>
            <p:nvPr/>
          </p:nvSpPr>
          <p:spPr>
            <a:xfrm>
              <a:off x="2357422" y="857232"/>
              <a:ext cx="428628" cy="428628"/>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800" i="1">
                  <a:solidFill>
                    <a:srgbClr val="0000FF"/>
                  </a:solidFill>
                  <a:latin typeface="Consolas" pitchFamily="49" charset="0"/>
                  <a:cs typeface="Consolas" pitchFamily="49" charset="0"/>
                </a:rPr>
                <a:t>b</a:t>
              </a:r>
              <a:endParaRPr lang="zh-CN" altLang="en-US" sz="1800" i="1">
                <a:solidFill>
                  <a:srgbClr val="0000FF"/>
                </a:solidFill>
                <a:latin typeface="Consolas" pitchFamily="49" charset="0"/>
                <a:cs typeface="Consolas" pitchFamily="49" charset="0"/>
              </a:endParaRPr>
            </a:p>
          </p:txBody>
        </p:sp>
        <p:sp>
          <p:nvSpPr>
            <p:cNvPr id="131" name="椭圆 130">
              <a:extLst>
                <a:ext uri="{FF2B5EF4-FFF2-40B4-BE49-F238E27FC236}">
                  <a16:creationId xmlns:a16="http://schemas.microsoft.com/office/drawing/2014/main" id="{2F9D853B-491B-BC54-1895-5F276D910041}"/>
                </a:ext>
              </a:extLst>
            </p:cNvPr>
            <p:cNvSpPr/>
            <p:nvPr/>
          </p:nvSpPr>
          <p:spPr>
            <a:xfrm>
              <a:off x="2357422" y="1643050"/>
              <a:ext cx="428628" cy="428628"/>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800" i="1">
                  <a:solidFill>
                    <a:srgbClr val="0000FF"/>
                  </a:solidFill>
                  <a:latin typeface="Consolas" pitchFamily="49" charset="0"/>
                  <a:cs typeface="Consolas" pitchFamily="49" charset="0"/>
                </a:rPr>
                <a:t>e</a:t>
              </a:r>
              <a:endParaRPr lang="zh-CN" altLang="en-US" sz="1800" i="1">
                <a:solidFill>
                  <a:srgbClr val="0000FF"/>
                </a:solidFill>
                <a:latin typeface="Consolas" pitchFamily="49" charset="0"/>
                <a:cs typeface="Consolas" pitchFamily="49" charset="0"/>
              </a:endParaRPr>
            </a:p>
          </p:txBody>
        </p:sp>
        <p:sp>
          <p:nvSpPr>
            <p:cNvPr id="132" name="椭圆 131">
              <a:extLst>
                <a:ext uri="{FF2B5EF4-FFF2-40B4-BE49-F238E27FC236}">
                  <a16:creationId xmlns:a16="http://schemas.microsoft.com/office/drawing/2014/main" id="{D373B9B6-9AE4-441E-AE1B-423F21014AF5}"/>
                </a:ext>
              </a:extLst>
            </p:cNvPr>
            <p:cNvSpPr/>
            <p:nvPr/>
          </p:nvSpPr>
          <p:spPr>
            <a:xfrm>
              <a:off x="2357422" y="2500306"/>
              <a:ext cx="428628" cy="428628"/>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800" i="1">
                  <a:solidFill>
                    <a:srgbClr val="0000FF"/>
                  </a:solidFill>
                  <a:latin typeface="Consolas" pitchFamily="49" charset="0"/>
                  <a:cs typeface="Consolas" pitchFamily="49" charset="0"/>
                </a:rPr>
                <a:t>c</a:t>
              </a:r>
              <a:endParaRPr lang="zh-CN" altLang="en-US" sz="1800" i="1">
                <a:solidFill>
                  <a:srgbClr val="0000FF"/>
                </a:solidFill>
                <a:latin typeface="Consolas" pitchFamily="49" charset="0"/>
                <a:cs typeface="Consolas" pitchFamily="49" charset="0"/>
              </a:endParaRPr>
            </a:p>
          </p:txBody>
        </p:sp>
        <p:sp>
          <p:nvSpPr>
            <p:cNvPr id="133" name="椭圆 132">
              <a:extLst>
                <a:ext uri="{FF2B5EF4-FFF2-40B4-BE49-F238E27FC236}">
                  <a16:creationId xmlns:a16="http://schemas.microsoft.com/office/drawing/2014/main" id="{A9AA6189-DAD4-8BB7-C91E-2D297F07D3A2}"/>
                </a:ext>
              </a:extLst>
            </p:cNvPr>
            <p:cNvSpPr/>
            <p:nvPr/>
          </p:nvSpPr>
          <p:spPr>
            <a:xfrm>
              <a:off x="3286116" y="2500306"/>
              <a:ext cx="428628" cy="428628"/>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800" i="1">
                  <a:solidFill>
                    <a:srgbClr val="0000FF"/>
                  </a:solidFill>
                  <a:latin typeface="Consolas" pitchFamily="49" charset="0"/>
                  <a:cs typeface="Consolas" pitchFamily="49" charset="0"/>
                </a:rPr>
                <a:t>f</a:t>
              </a:r>
              <a:endParaRPr lang="zh-CN" altLang="en-US" sz="1800" i="1">
                <a:solidFill>
                  <a:srgbClr val="0000FF"/>
                </a:solidFill>
                <a:latin typeface="Consolas" pitchFamily="49" charset="0"/>
                <a:cs typeface="Consolas" pitchFamily="49" charset="0"/>
              </a:endParaRPr>
            </a:p>
          </p:txBody>
        </p:sp>
        <p:sp>
          <p:nvSpPr>
            <p:cNvPr id="134" name="椭圆 133">
              <a:extLst>
                <a:ext uri="{FF2B5EF4-FFF2-40B4-BE49-F238E27FC236}">
                  <a16:creationId xmlns:a16="http://schemas.microsoft.com/office/drawing/2014/main" id="{383B489B-9EFE-0FC2-847E-02745C2DB2EA}"/>
                </a:ext>
              </a:extLst>
            </p:cNvPr>
            <p:cNvSpPr/>
            <p:nvPr/>
          </p:nvSpPr>
          <p:spPr>
            <a:xfrm>
              <a:off x="4286248" y="2500306"/>
              <a:ext cx="428628" cy="428628"/>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800" i="1">
                  <a:solidFill>
                    <a:srgbClr val="0000FF"/>
                  </a:solidFill>
                  <a:latin typeface="Consolas" pitchFamily="49" charset="0"/>
                  <a:cs typeface="Consolas" pitchFamily="49" charset="0"/>
                </a:rPr>
                <a:t>d</a:t>
              </a:r>
              <a:endParaRPr lang="zh-CN" altLang="en-US" sz="1800" i="1">
                <a:solidFill>
                  <a:srgbClr val="0000FF"/>
                </a:solidFill>
                <a:latin typeface="Consolas" pitchFamily="49" charset="0"/>
                <a:cs typeface="Consolas" pitchFamily="49" charset="0"/>
              </a:endParaRPr>
            </a:p>
          </p:txBody>
        </p:sp>
        <p:cxnSp>
          <p:nvCxnSpPr>
            <p:cNvPr id="135" name="直接连接符 134">
              <a:extLst>
                <a:ext uri="{FF2B5EF4-FFF2-40B4-BE49-F238E27FC236}">
                  <a16:creationId xmlns:a16="http://schemas.microsoft.com/office/drawing/2014/main" id="{F4F16D94-B139-6712-686C-D142E2CBB8FD}"/>
                </a:ext>
              </a:extLst>
            </p:cNvPr>
            <p:cNvCxnSpPr>
              <a:cxnSpLocks/>
              <a:stCxn id="113" idx="7"/>
              <a:endCxn id="130" idx="2"/>
            </p:cNvCxnSpPr>
            <p:nvPr/>
          </p:nvCxnSpPr>
          <p:spPr>
            <a:xfrm rot="5400000" flipH="1" flipV="1">
              <a:off x="1687428" y="1035828"/>
              <a:ext cx="634275" cy="705713"/>
            </a:xfrm>
            <a:prstGeom prst="line">
              <a:avLst/>
            </a:prstGeom>
          </p:spPr>
          <p:style>
            <a:lnRef idx="2">
              <a:schemeClr val="accent5"/>
            </a:lnRef>
            <a:fillRef idx="0">
              <a:schemeClr val="accent5"/>
            </a:fillRef>
            <a:effectRef idx="1">
              <a:schemeClr val="accent5"/>
            </a:effectRef>
            <a:fontRef idx="minor">
              <a:schemeClr val="tx1"/>
            </a:fontRef>
          </p:style>
        </p:cxnSp>
        <p:cxnSp>
          <p:nvCxnSpPr>
            <p:cNvPr id="136" name="直接连接符 135">
              <a:extLst>
                <a:ext uri="{FF2B5EF4-FFF2-40B4-BE49-F238E27FC236}">
                  <a16:creationId xmlns:a16="http://schemas.microsoft.com/office/drawing/2014/main" id="{6A9B50B0-63D0-2051-2BE0-E3342DF8F472}"/>
                </a:ext>
              </a:extLst>
            </p:cNvPr>
            <p:cNvCxnSpPr>
              <a:cxnSpLocks/>
              <a:stCxn id="113" idx="6"/>
              <a:endCxn id="131" idx="2"/>
            </p:cNvCxnSpPr>
            <p:nvPr/>
          </p:nvCxnSpPr>
          <p:spPr>
            <a:xfrm>
              <a:off x="1714480" y="1857364"/>
              <a:ext cx="642942" cy="0"/>
            </a:xfrm>
            <a:prstGeom prst="line">
              <a:avLst/>
            </a:prstGeom>
          </p:spPr>
          <p:style>
            <a:lnRef idx="2">
              <a:schemeClr val="accent5"/>
            </a:lnRef>
            <a:fillRef idx="0">
              <a:schemeClr val="accent5"/>
            </a:fillRef>
            <a:effectRef idx="1">
              <a:schemeClr val="accent5"/>
            </a:effectRef>
            <a:fontRef idx="minor">
              <a:schemeClr val="tx1"/>
            </a:fontRef>
          </p:style>
        </p:cxnSp>
        <p:cxnSp>
          <p:nvCxnSpPr>
            <p:cNvPr id="137" name="直接连接符 136">
              <a:extLst>
                <a:ext uri="{FF2B5EF4-FFF2-40B4-BE49-F238E27FC236}">
                  <a16:creationId xmlns:a16="http://schemas.microsoft.com/office/drawing/2014/main" id="{CFB6EFF6-F050-F848-EF3C-68EB3D71F413}"/>
                </a:ext>
              </a:extLst>
            </p:cNvPr>
            <p:cNvCxnSpPr>
              <a:cxnSpLocks/>
              <a:stCxn id="113" idx="5"/>
              <a:endCxn id="132" idx="2"/>
            </p:cNvCxnSpPr>
            <p:nvPr/>
          </p:nvCxnSpPr>
          <p:spPr>
            <a:xfrm rot="16200000" flipH="1">
              <a:off x="1651709" y="2008906"/>
              <a:ext cx="705713" cy="705713"/>
            </a:xfrm>
            <a:prstGeom prst="line">
              <a:avLst/>
            </a:prstGeom>
          </p:spPr>
          <p:style>
            <a:lnRef idx="2">
              <a:schemeClr val="accent5"/>
            </a:lnRef>
            <a:fillRef idx="0">
              <a:schemeClr val="accent5"/>
            </a:fillRef>
            <a:effectRef idx="1">
              <a:schemeClr val="accent5"/>
            </a:effectRef>
            <a:fontRef idx="minor">
              <a:schemeClr val="tx1"/>
            </a:fontRef>
          </p:style>
        </p:cxnSp>
        <p:cxnSp>
          <p:nvCxnSpPr>
            <p:cNvPr id="138" name="直接连接符 137">
              <a:extLst>
                <a:ext uri="{FF2B5EF4-FFF2-40B4-BE49-F238E27FC236}">
                  <a16:creationId xmlns:a16="http://schemas.microsoft.com/office/drawing/2014/main" id="{5C6C0788-FF5A-9E2C-79FA-FD52ED89C816}"/>
                </a:ext>
              </a:extLst>
            </p:cNvPr>
            <p:cNvCxnSpPr>
              <a:cxnSpLocks/>
              <a:stCxn id="132" idx="6"/>
              <a:endCxn id="133" idx="2"/>
            </p:cNvCxnSpPr>
            <p:nvPr/>
          </p:nvCxnSpPr>
          <p:spPr>
            <a:xfrm>
              <a:off x="2786050" y="2714620"/>
              <a:ext cx="500066" cy="0"/>
            </a:xfrm>
            <a:prstGeom prst="line">
              <a:avLst/>
            </a:prstGeom>
          </p:spPr>
          <p:style>
            <a:lnRef idx="2">
              <a:schemeClr val="accent5"/>
            </a:lnRef>
            <a:fillRef idx="0">
              <a:schemeClr val="accent5"/>
            </a:fillRef>
            <a:effectRef idx="1">
              <a:schemeClr val="accent5"/>
            </a:effectRef>
            <a:fontRef idx="minor">
              <a:schemeClr val="tx1"/>
            </a:fontRef>
          </p:style>
        </p:cxnSp>
        <p:cxnSp>
          <p:nvCxnSpPr>
            <p:cNvPr id="139" name="直接连接符 138">
              <a:extLst>
                <a:ext uri="{FF2B5EF4-FFF2-40B4-BE49-F238E27FC236}">
                  <a16:creationId xmlns:a16="http://schemas.microsoft.com/office/drawing/2014/main" id="{4ED9BC8E-8BEC-5D80-8321-669C4586C577}"/>
                </a:ext>
              </a:extLst>
            </p:cNvPr>
            <p:cNvCxnSpPr>
              <a:cxnSpLocks/>
              <a:stCxn id="133" idx="6"/>
              <a:endCxn id="134" idx="2"/>
            </p:cNvCxnSpPr>
            <p:nvPr/>
          </p:nvCxnSpPr>
          <p:spPr>
            <a:xfrm>
              <a:off x="3714744" y="2714620"/>
              <a:ext cx="571504" cy="0"/>
            </a:xfrm>
            <a:prstGeom prst="line">
              <a:avLst/>
            </a:prstGeom>
          </p:spPr>
          <p:style>
            <a:lnRef idx="2">
              <a:schemeClr val="accent5"/>
            </a:lnRef>
            <a:fillRef idx="0">
              <a:schemeClr val="accent5"/>
            </a:fillRef>
            <a:effectRef idx="1">
              <a:schemeClr val="accent5"/>
            </a:effectRef>
            <a:fontRef idx="minor">
              <a:schemeClr val="tx1"/>
            </a:fontRef>
          </p:style>
        </p:cxnSp>
        <p:cxnSp>
          <p:nvCxnSpPr>
            <p:cNvPr id="140" name="直接连接符 139">
              <a:extLst>
                <a:ext uri="{FF2B5EF4-FFF2-40B4-BE49-F238E27FC236}">
                  <a16:creationId xmlns:a16="http://schemas.microsoft.com/office/drawing/2014/main" id="{98B75299-4418-B32C-DF08-75D76917BDAA}"/>
                </a:ext>
              </a:extLst>
            </p:cNvPr>
            <p:cNvCxnSpPr>
              <a:cxnSpLocks/>
              <a:stCxn id="131" idx="6"/>
              <a:endCxn id="134" idx="1"/>
            </p:cNvCxnSpPr>
            <p:nvPr/>
          </p:nvCxnSpPr>
          <p:spPr>
            <a:xfrm>
              <a:off x="2786050" y="1857364"/>
              <a:ext cx="1562969" cy="705713"/>
            </a:xfrm>
            <a:prstGeom prst="line">
              <a:avLst/>
            </a:prstGeom>
          </p:spPr>
          <p:style>
            <a:lnRef idx="2">
              <a:schemeClr val="accent5"/>
            </a:lnRef>
            <a:fillRef idx="0">
              <a:schemeClr val="accent5"/>
            </a:fillRef>
            <a:effectRef idx="1">
              <a:schemeClr val="accent5"/>
            </a:effectRef>
            <a:fontRef idx="minor">
              <a:schemeClr val="tx1"/>
            </a:fontRef>
          </p:style>
        </p:cxnSp>
        <p:cxnSp>
          <p:nvCxnSpPr>
            <p:cNvPr id="142" name="直接连接符 141">
              <a:extLst>
                <a:ext uri="{FF2B5EF4-FFF2-40B4-BE49-F238E27FC236}">
                  <a16:creationId xmlns:a16="http://schemas.microsoft.com/office/drawing/2014/main" id="{D8B7DD15-ECE6-7663-2A58-513931F36EAF}"/>
                </a:ext>
              </a:extLst>
            </p:cNvPr>
            <p:cNvCxnSpPr>
              <a:cxnSpLocks/>
              <a:stCxn id="130" idx="4"/>
              <a:endCxn id="131" idx="0"/>
            </p:cNvCxnSpPr>
            <p:nvPr/>
          </p:nvCxnSpPr>
          <p:spPr>
            <a:xfrm rot="5400000">
              <a:off x="2393141" y="1464455"/>
              <a:ext cx="357190" cy="0"/>
            </a:xfrm>
            <a:prstGeom prst="line">
              <a:avLst/>
            </a:prstGeom>
          </p:spPr>
          <p:style>
            <a:lnRef idx="2">
              <a:schemeClr val="accent5"/>
            </a:lnRef>
            <a:fillRef idx="0">
              <a:schemeClr val="accent5"/>
            </a:fillRef>
            <a:effectRef idx="1">
              <a:schemeClr val="accent5"/>
            </a:effectRef>
            <a:fontRef idx="minor">
              <a:schemeClr val="tx1"/>
            </a:fontRef>
          </p:style>
        </p:cxnSp>
      </p:grpSp>
      <p:grpSp>
        <p:nvGrpSpPr>
          <p:cNvPr id="6" name="组合 36">
            <a:extLst>
              <a:ext uri="{FF2B5EF4-FFF2-40B4-BE49-F238E27FC236}">
                <a16:creationId xmlns:a16="http://schemas.microsoft.com/office/drawing/2014/main" id="{E4CFF149-6FED-6F35-3594-AB44AB70F286}"/>
              </a:ext>
            </a:extLst>
          </p:cNvPr>
          <p:cNvGrpSpPr/>
          <p:nvPr/>
        </p:nvGrpSpPr>
        <p:grpSpPr>
          <a:xfrm>
            <a:off x="6742669" y="3763363"/>
            <a:ext cx="3429024" cy="2071702"/>
            <a:chOff x="1285852" y="857232"/>
            <a:chExt cx="3429024" cy="2071702"/>
          </a:xfrm>
        </p:grpSpPr>
        <p:sp>
          <p:nvSpPr>
            <p:cNvPr id="8" name="椭圆 7">
              <a:extLst>
                <a:ext uri="{FF2B5EF4-FFF2-40B4-BE49-F238E27FC236}">
                  <a16:creationId xmlns:a16="http://schemas.microsoft.com/office/drawing/2014/main" id="{06FF6CF7-5895-F590-B907-A944C25B6689}"/>
                </a:ext>
              </a:extLst>
            </p:cNvPr>
            <p:cNvSpPr/>
            <p:nvPr/>
          </p:nvSpPr>
          <p:spPr>
            <a:xfrm>
              <a:off x="1285852" y="1643050"/>
              <a:ext cx="428628" cy="428628"/>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800" i="1">
                  <a:solidFill>
                    <a:srgbClr val="0000FF"/>
                  </a:solidFill>
                  <a:latin typeface="Consolas" pitchFamily="49" charset="0"/>
                  <a:cs typeface="Consolas" pitchFamily="49" charset="0"/>
                </a:rPr>
                <a:t>a</a:t>
              </a:r>
              <a:endParaRPr lang="zh-CN" altLang="en-US" sz="1800" i="1">
                <a:solidFill>
                  <a:srgbClr val="0000FF"/>
                </a:solidFill>
                <a:latin typeface="Consolas" pitchFamily="49" charset="0"/>
                <a:cs typeface="Consolas" pitchFamily="49" charset="0"/>
              </a:endParaRPr>
            </a:p>
          </p:txBody>
        </p:sp>
        <p:sp>
          <p:nvSpPr>
            <p:cNvPr id="9" name="椭圆 8">
              <a:extLst>
                <a:ext uri="{FF2B5EF4-FFF2-40B4-BE49-F238E27FC236}">
                  <a16:creationId xmlns:a16="http://schemas.microsoft.com/office/drawing/2014/main" id="{61D77257-B781-7ADD-10B0-88F2946291EE}"/>
                </a:ext>
              </a:extLst>
            </p:cNvPr>
            <p:cNvSpPr/>
            <p:nvPr/>
          </p:nvSpPr>
          <p:spPr>
            <a:xfrm>
              <a:off x="2357422" y="857232"/>
              <a:ext cx="428628" cy="428628"/>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800" i="1">
                  <a:solidFill>
                    <a:srgbClr val="0000FF"/>
                  </a:solidFill>
                  <a:latin typeface="Consolas" pitchFamily="49" charset="0"/>
                  <a:cs typeface="Consolas" pitchFamily="49" charset="0"/>
                </a:rPr>
                <a:t>b</a:t>
              </a:r>
              <a:endParaRPr lang="zh-CN" altLang="en-US" sz="1800" i="1">
                <a:solidFill>
                  <a:srgbClr val="0000FF"/>
                </a:solidFill>
                <a:latin typeface="Consolas" pitchFamily="49" charset="0"/>
                <a:cs typeface="Consolas" pitchFamily="49" charset="0"/>
              </a:endParaRPr>
            </a:p>
          </p:txBody>
        </p:sp>
        <p:sp>
          <p:nvSpPr>
            <p:cNvPr id="10" name="椭圆 9">
              <a:extLst>
                <a:ext uri="{FF2B5EF4-FFF2-40B4-BE49-F238E27FC236}">
                  <a16:creationId xmlns:a16="http://schemas.microsoft.com/office/drawing/2014/main" id="{257E395B-3F5B-C732-2C5E-753CA166174A}"/>
                </a:ext>
              </a:extLst>
            </p:cNvPr>
            <p:cNvSpPr/>
            <p:nvPr/>
          </p:nvSpPr>
          <p:spPr>
            <a:xfrm>
              <a:off x="2357422" y="1643050"/>
              <a:ext cx="428628" cy="428628"/>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800" i="1">
                  <a:solidFill>
                    <a:srgbClr val="0000FF"/>
                  </a:solidFill>
                  <a:latin typeface="Consolas" pitchFamily="49" charset="0"/>
                  <a:cs typeface="Consolas" pitchFamily="49" charset="0"/>
                </a:rPr>
                <a:t>e</a:t>
              </a:r>
              <a:endParaRPr lang="zh-CN" altLang="en-US" sz="1800" i="1">
                <a:solidFill>
                  <a:srgbClr val="0000FF"/>
                </a:solidFill>
                <a:latin typeface="Consolas" pitchFamily="49" charset="0"/>
                <a:cs typeface="Consolas" pitchFamily="49" charset="0"/>
              </a:endParaRPr>
            </a:p>
          </p:txBody>
        </p:sp>
        <p:sp>
          <p:nvSpPr>
            <p:cNvPr id="11" name="椭圆 10">
              <a:extLst>
                <a:ext uri="{FF2B5EF4-FFF2-40B4-BE49-F238E27FC236}">
                  <a16:creationId xmlns:a16="http://schemas.microsoft.com/office/drawing/2014/main" id="{A15B2BEB-0D54-351E-4E3C-8D23B9B878B9}"/>
                </a:ext>
              </a:extLst>
            </p:cNvPr>
            <p:cNvSpPr/>
            <p:nvPr/>
          </p:nvSpPr>
          <p:spPr>
            <a:xfrm>
              <a:off x="2357422" y="2500306"/>
              <a:ext cx="428628" cy="428628"/>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800" i="1">
                  <a:solidFill>
                    <a:srgbClr val="0000FF"/>
                  </a:solidFill>
                  <a:latin typeface="Consolas" pitchFamily="49" charset="0"/>
                  <a:cs typeface="Consolas" pitchFamily="49" charset="0"/>
                </a:rPr>
                <a:t>c</a:t>
              </a:r>
              <a:endParaRPr lang="zh-CN" altLang="en-US" sz="1800" i="1">
                <a:solidFill>
                  <a:srgbClr val="0000FF"/>
                </a:solidFill>
                <a:latin typeface="Consolas" pitchFamily="49" charset="0"/>
                <a:cs typeface="Consolas" pitchFamily="49" charset="0"/>
              </a:endParaRPr>
            </a:p>
          </p:txBody>
        </p:sp>
        <p:sp>
          <p:nvSpPr>
            <p:cNvPr id="12" name="椭圆 11">
              <a:extLst>
                <a:ext uri="{FF2B5EF4-FFF2-40B4-BE49-F238E27FC236}">
                  <a16:creationId xmlns:a16="http://schemas.microsoft.com/office/drawing/2014/main" id="{4988E1C6-69D7-DE2F-184D-2ED4AD6FDEDC}"/>
                </a:ext>
              </a:extLst>
            </p:cNvPr>
            <p:cNvSpPr/>
            <p:nvPr/>
          </p:nvSpPr>
          <p:spPr>
            <a:xfrm>
              <a:off x="3286116" y="2500306"/>
              <a:ext cx="428628" cy="428628"/>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800" i="1">
                  <a:solidFill>
                    <a:srgbClr val="0000FF"/>
                  </a:solidFill>
                  <a:latin typeface="Consolas" pitchFamily="49" charset="0"/>
                  <a:cs typeface="Consolas" pitchFamily="49" charset="0"/>
                </a:rPr>
                <a:t>f</a:t>
              </a:r>
              <a:endParaRPr lang="zh-CN" altLang="en-US" sz="1800" i="1">
                <a:solidFill>
                  <a:srgbClr val="0000FF"/>
                </a:solidFill>
                <a:latin typeface="Consolas" pitchFamily="49" charset="0"/>
                <a:cs typeface="Consolas" pitchFamily="49" charset="0"/>
              </a:endParaRPr>
            </a:p>
          </p:txBody>
        </p:sp>
        <p:sp>
          <p:nvSpPr>
            <p:cNvPr id="13" name="椭圆 12">
              <a:extLst>
                <a:ext uri="{FF2B5EF4-FFF2-40B4-BE49-F238E27FC236}">
                  <a16:creationId xmlns:a16="http://schemas.microsoft.com/office/drawing/2014/main" id="{76FDD617-8843-A2AE-1996-AF9DEC9D13C9}"/>
                </a:ext>
              </a:extLst>
            </p:cNvPr>
            <p:cNvSpPr/>
            <p:nvPr/>
          </p:nvSpPr>
          <p:spPr>
            <a:xfrm>
              <a:off x="4286248" y="2500306"/>
              <a:ext cx="428628" cy="428628"/>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800" i="1">
                  <a:solidFill>
                    <a:srgbClr val="0000FF"/>
                  </a:solidFill>
                  <a:latin typeface="Consolas" pitchFamily="49" charset="0"/>
                  <a:cs typeface="Consolas" pitchFamily="49" charset="0"/>
                </a:rPr>
                <a:t>d</a:t>
              </a:r>
              <a:endParaRPr lang="zh-CN" altLang="en-US" sz="1800" i="1">
                <a:solidFill>
                  <a:srgbClr val="0000FF"/>
                </a:solidFill>
                <a:latin typeface="Consolas" pitchFamily="49" charset="0"/>
                <a:cs typeface="Consolas" pitchFamily="49" charset="0"/>
              </a:endParaRPr>
            </a:p>
          </p:txBody>
        </p:sp>
        <p:cxnSp>
          <p:nvCxnSpPr>
            <p:cNvPr id="14" name="直接连接符 13">
              <a:extLst>
                <a:ext uri="{FF2B5EF4-FFF2-40B4-BE49-F238E27FC236}">
                  <a16:creationId xmlns:a16="http://schemas.microsoft.com/office/drawing/2014/main" id="{E436426E-FCE8-C488-BCC5-513A278EC6FF}"/>
                </a:ext>
              </a:extLst>
            </p:cNvPr>
            <p:cNvCxnSpPr>
              <a:stCxn id="8" idx="7"/>
              <a:endCxn id="9" idx="2"/>
            </p:cNvCxnSpPr>
            <p:nvPr/>
          </p:nvCxnSpPr>
          <p:spPr>
            <a:xfrm rot="5400000" flipH="1" flipV="1">
              <a:off x="1687428" y="1035828"/>
              <a:ext cx="634275" cy="705713"/>
            </a:xfrm>
            <a:prstGeom prst="line">
              <a:avLst/>
            </a:prstGeom>
          </p:spPr>
          <p:style>
            <a:lnRef idx="2">
              <a:schemeClr val="accent5"/>
            </a:lnRef>
            <a:fillRef idx="0">
              <a:schemeClr val="accent5"/>
            </a:fillRef>
            <a:effectRef idx="1">
              <a:schemeClr val="accent5"/>
            </a:effectRef>
            <a:fontRef idx="minor">
              <a:schemeClr val="tx1"/>
            </a:fontRef>
          </p:style>
        </p:cxnSp>
        <p:cxnSp>
          <p:nvCxnSpPr>
            <p:cNvPr id="15" name="直接连接符 14">
              <a:extLst>
                <a:ext uri="{FF2B5EF4-FFF2-40B4-BE49-F238E27FC236}">
                  <a16:creationId xmlns:a16="http://schemas.microsoft.com/office/drawing/2014/main" id="{7B6D95B3-8487-E276-96B5-DAA47F416793}"/>
                </a:ext>
              </a:extLst>
            </p:cNvPr>
            <p:cNvCxnSpPr>
              <a:stCxn id="8" idx="6"/>
              <a:endCxn id="10" idx="2"/>
            </p:cNvCxnSpPr>
            <p:nvPr/>
          </p:nvCxnSpPr>
          <p:spPr>
            <a:xfrm>
              <a:off x="1714480" y="1857364"/>
              <a:ext cx="642942" cy="0"/>
            </a:xfrm>
            <a:prstGeom prst="line">
              <a:avLst/>
            </a:prstGeom>
          </p:spPr>
          <p:style>
            <a:lnRef idx="2">
              <a:schemeClr val="accent5"/>
            </a:lnRef>
            <a:fillRef idx="0">
              <a:schemeClr val="accent5"/>
            </a:fillRef>
            <a:effectRef idx="1">
              <a:schemeClr val="accent5"/>
            </a:effectRef>
            <a:fontRef idx="minor">
              <a:schemeClr val="tx1"/>
            </a:fontRef>
          </p:style>
        </p:cxnSp>
        <p:cxnSp>
          <p:nvCxnSpPr>
            <p:cNvPr id="16" name="直接连接符 15">
              <a:extLst>
                <a:ext uri="{FF2B5EF4-FFF2-40B4-BE49-F238E27FC236}">
                  <a16:creationId xmlns:a16="http://schemas.microsoft.com/office/drawing/2014/main" id="{069DBE01-B906-C7E9-9CBC-0A43E98B9B4F}"/>
                </a:ext>
              </a:extLst>
            </p:cNvPr>
            <p:cNvCxnSpPr>
              <a:stCxn id="8" idx="5"/>
              <a:endCxn id="11" idx="2"/>
            </p:cNvCxnSpPr>
            <p:nvPr/>
          </p:nvCxnSpPr>
          <p:spPr>
            <a:xfrm rot="16200000" flipH="1">
              <a:off x="1651709" y="2008906"/>
              <a:ext cx="705713" cy="705713"/>
            </a:xfrm>
            <a:prstGeom prst="line">
              <a:avLst/>
            </a:prstGeom>
          </p:spPr>
          <p:style>
            <a:lnRef idx="2">
              <a:schemeClr val="accent5"/>
            </a:lnRef>
            <a:fillRef idx="0">
              <a:schemeClr val="accent5"/>
            </a:fillRef>
            <a:effectRef idx="1">
              <a:schemeClr val="accent5"/>
            </a:effectRef>
            <a:fontRef idx="minor">
              <a:schemeClr val="tx1"/>
            </a:fontRef>
          </p:style>
        </p:cxnSp>
        <p:cxnSp>
          <p:nvCxnSpPr>
            <p:cNvPr id="17" name="直接连接符 16">
              <a:extLst>
                <a:ext uri="{FF2B5EF4-FFF2-40B4-BE49-F238E27FC236}">
                  <a16:creationId xmlns:a16="http://schemas.microsoft.com/office/drawing/2014/main" id="{09DB31D5-8CF2-082A-0336-E3D6ED8D3E93}"/>
                </a:ext>
              </a:extLst>
            </p:cNvPr>
            <p:cNvCxnSpPr>
              <a:stCxn id="11" idx="6"/>
              <a:endCxn id="12" idx="2"/>
            </p:cNvCxnSpPr>
            <p:nvPr/>
          </p:nvCxnSpPr>
          <p:spPr>
            <a:xfrm>
              <a:off x="2786050" y="2714620"/>
              <a:ext cx="500066" cy="0"/>
            </a:xfrm>
            <a:prstGeom prst="line">
              <a:avLst/>
            </a:prstGeom>
          </p:spPr>
          <p:style>
            <a:lnRef idx="2">
              <a:schemeClr val="accent5"/>
            </a:lnRef>
            <a:fillRef idx="0">
              <a:schemeClr val="accent5"/>
            </a:fillRef>
            <a:effectRef idx="1">
              <a:schemeClr val="accent5"/>
            </a:effectRef>
            <a:fontRef idx="minor">
              <a:schemeClr val="tx1"/>
            </a:fontRef>
          </p:style>
        </p:cxnSp>
        <p:cxnSp>
          <p:nvCxnSpPr>
            <p:cNvPr id="18" name="直接连接符 17">
              <a:extLst>
                <a:ext uri="{FF2B5EF4-FFF2-40B4-BE49-F238E27FC236}">
                  <a16:creationId xmlns:a16="http://schemas.microsoft.com/office/drawing/2014/main" id="{4410A9BC-F96F-0A75-1C97-BFC1CCE19AE9}"/>
                </a:ext>
              </a:extLst>
            </p:cNvPr>
            <p:cNvCxnSpPr>
              <a:stCxn id="12" idx="6"/>
              <a:endCxn id="13" idx="2"/>
            </p:cNvCxnSpPr>
            <p:nvPr/>
          </p:nvCxnSpPr>
          <p:spPr>
            <a:xfrm>
              <a:off x="3714744" y="2714620"/>
              <a:ext cx="571504" cy="0"/>
            </a:xfrm>
            <a:prstGeom prst="line">
              <a:avLst/>
            </a:prstGeom>
          </p:spPr>
          <p:style>
            <a:lnRef idx="2">
              <a:schemeClr val="accent5"/>
            </a:lnRef>
            <a:fillRef idx="0">
              <a:schemeClr val="accent5"/>
            </a:fillRef>
            <a:effectRef idx="1">
              <a:schemeClr val="accent5"/>
            </a:effectRef>
            <a:fontRef idx="minor">
              <a:schemeClr val="tx1"/>
            </a:fontRef>
          </p:style>
        </p:cxnSp>
        <p:cxnSp>
          <p:nvCxnSpPr>
            <p:cNvPr id="19" name="直接连接符 18">
              <a:extLst>
                <a:ext uri="{FF2B5EF4-FFF2-40B4-BE49-F238E27FC236}">
                  <a16:creationId xmlns:a16="http://schemas.microsoft.com/office/drawing/2014/main" id="{99A32D6B-0386-E956-0F6E-E0299891B273}"/>
                </a:ext>
              </a:extLst>
            </p:cNvPr>
            <p:cNvCxnSpPr>
              <a:stCxn id="10" idx="6"/>
              <a:endCxn id="13" idx="1"/>
            </p:cNvCxnSpPr>
            <p:nvPr/>
          </p:nvCxnSpPr>
          <p:spPr>
            <a:xfrm>
              <a:off x="2786050" y="1857364"/>
              <a:ext cx="1562969" cy="705713"/>
            </a:xfrm>
            <a:prstGeom prst="line">
              <a:avLst/>
            </a:prstGeom>
          </p:spPr>
          <p:style>
            <a:lnRef idx="2">
              <a:schemeClr val="accent5"/>
            </a:lnRef>
            <a:fillRef idx="0">
              <a:schemeClr val="accent5"/>
            </a:fillRef>
            <a:effectRef idx="1">
              <a:schemeClr val="accent5"/>
            </a:effectRef>
            <a:fontRef idx="minor">
              <a:schemeClr val="tx1"/>
            </a:fontRef>
          </p:style>
        </p:cxnSp>
        <p:cxnSp>
          <p:nvCxnSpPr>
            <p:cNvPr id="20" name="直接连接符 19">
              <a:extLst>
                <a:ext uri="{FF2B5EF4-FFF2-40B4-BE49-F238E27FC236}">
                  <a16:creationId xmlns:a16="http://schemas.microsoft.com/office/drawing/2014/main" id="{4C54DB4B-5C3C-45A8-C0A4-7B556A97BE89}"/>
                </a:ext>
              </a:extLst>
            </p:cNvPr>
            <p:cNvCxnSpPr>
              <a:stCxn id="9" idx="4"/>
              <a:endCxn id="10" idx="0"/>
            </p:cNvCxnSpPr>
            <p:nvPr/>
          </p:nvCxnSpPr>
          <p:spPr>
            <a:xfrm rot="5400000">
              <a:off x="2393141" y="1464455"/>
              <a:ext cx="357190" cy="0"/>
            </a:xfrm>
            <a:prstGeom prst="line">
              <a:avLst/>
            </a:prstGeom>
          </p:spPr>
          <p:style>
            <a:lnRef idx="2">
              <a:schemeClr val="accent5"/>
            </a:lnRef>
            <a:fillRef idx="0">
              <a:schemeClr val="accent5"/>
            </a:fillRef>
            <a:effectRef idx="1">
              <a:schemeClr val="accent5"/>
            </a:effectRef>
            <a:fontRef idx="minor">
              <a:schemeClr val="tx1"/>
            </a:fontRef>
          </p:style>
        </p:cxnSp>
      </p:grpSp>
      <p:sp>
        <p:nvSpPr>
          <p:cNvPr id="21" name="TextBox 24">
            <a:extLst>
              <a:ext uri="{FF2B5EF4-FFF2-40B4-BE49-F238E27FC236}">
                <a16:creationId xmlns:a16="http://schemas.microsoft.com/office/drawing/2014/main" id="{9C8E74B4-EFE7-5399-4371-58737EC26B5E}"/>
              </a:ext>
            </a:extLst>
          </p:cNvPr>
          <p:cNvSpPr txBox="1"/>
          <p:nvPr/>
        </p:nvSpPr>
        <p:spPr>
          <a:xfrm>
            <a:off x="6171165" y="6335131"/>
            <a:ext cx="3559850" cy="400110"/>
          </a:xfrm>
          <a:prstGeom prst="rect">
            <a:avLst/>
          </a:prstGeom>
          <a:solidFill>
            <a:schemeClr val="bg1"/>
          </a:solidFill>
        </p:spPr>
        <p:txBody>
          <a:bodyPr wrap="square" rtlCol="0">
            <a:spAutoFit/>
          </a:bodyPr>
          <a:lstStyle/>
          <a:p>
            <a:pPr algn="l"/>
            <a:r>
              <a:rPr lang="en-US" altLang="zh-CN" sz="2000">
                <a:solidFill>
                  <a:srgbClr val="0000FF"/>
                </a:solidFill>
                <a:latin typeface="Consolas" pitchFamily="49" charset="0"/>
                <a:ea typeface="楷体" pitchFamily="49" charset="-122"/>
                <a:cs typeface="Consolas" pitchFamily="49" charset="0"/>
              </a:rPr>
              <a:t>A. a，b，e，c，d，f</a:t>
            </a:r>
            <a:endParaRPr lang="zh-CN" altLang="en-US" sz="2000"/>
          </a:p>
        </p:txBody>
      </p:sp>
      <p:sp>
        <p:nvSpPr>
          <p:cNvPr id="22" name="TextBox 26">
            <a:extLst>
              <a:ext uri="{FF2B5EF4-FFF2-40B4-BE49-F238E27FC236}">
                <a16:creationId xmlns:a16="http://schemas.microsoft.com/office/drawing/2014/main" id="{9CDEB8A8-1756-2494-D3FF-E646F3C41436}"/>
              </a:ext>
            </a:extLst>
          </p:cNvPr>
          <p:cNvSpPr txBox="1"/>
          <p:nvPr/>
        </p:nvSpPr>
        <p:spPr>
          <a:xfrm>
            <a:off x="6171165" y="6335131"/>
            <a:ext cx="3143272" cy="400110"/>
          </a:xfrm>
          <a:prstGeom prst="rect">
            <a:avLst/>
          </a:prstGeom>
          <a:solidFill>
            <a:schemeClr val="bg1"/>
          </a:solidFill>
        </p:spPr>
        <p:txBody>
          <a:bodyPr wrap="square" rtlCol="0">
            <a:spAutoFit/>
          </a:bodyPr>
          <a:lstStyle/>
          <a:p>
            <a:pPr algn="l"/>
            <a:r>
              <a:rPr lang="en-US" altLang="zh-CN" sz="2000">
                <a:solidFill>
                  <a:srgbClr val="0000FF"/>
                </a:solidFill>
                <a:latin typeface="Consolas" pitchFamily="49" charset="0"/>
                <a:ea typeface="楷体" pitchFamily="49" charset="-122"/>
                <a:cs typeface="Consolas" pitchFamily="49" charset="0"/>
              </a:rPr>
              <a:t>B. a，c，f，e，b，d</a:t>
            </a:r>
            <a:endParaRPr lang="zh-CN" altLang="en-US" sz="2000"/>
          </a:p>
        </p:txBody>
      </p:sp>
      <p:sp>
        <p:nvSpPr>
          <p:cNvPr id="23" name="TextBox 29">
            <a:extLst>
              <a:ext uri="{FF2B5EF4-FFF2-40B4-BE49-F238E27FC236}">
                <a16:creationId xmlns:a16="http://schemas.microsoft.com/office/drawing/2014/main" id="{BB1B62A1-F929-DD05-572E-29FC5CE1BFC5}"/>
              </a:ext>
            </a:extLst>
          </p:cNvPr>
          <p:cNvSpPr txBox="1"/>
          <p:nvPr/>
        </p:nvSpPr>
        <p:spPr>
          <a:xfrm>
            <a:off x="6171165" y="6335131"/>
            <a:ext cx="3143272" cy="400110"/>
          </a:xfrm>
          <a:prstGeom prst="rect">
            <a:avLst/>
          </a:prstGeom>
          <a:solidFill>
            <a:schemeClr val="bg1"/>
          </a:solidFill>
        </p:spPr>
        <p:txBody>
          <a:bodyPr wrap="square" rtlCol="0">
            <a:spAutoFit/>
          </a:bodyPr>
          <a:lstStyle/>
          <a:p>
            <a:pPr algn="l"/>
            <a:r>
              <a:rPr lang="en-US" altLang="zh-CN" sz="2000">
                <a:solidFill>
                  <a:srgbClr val="0000FF"/>
                </a:solidFill>
                <a:latin typeface="Consolas" pitchFamily="49" charset="0"/>
                <a:ea typeface="楷体" pitchFamily="49" charset="-122"/>
                <a:cs typeface="Consolas" pitchFamily="49" charset="0"/>
              </a:rPr>
              <a:t>C. a，e，b，c，f，d</a:t>
            </a:r>
            <a:endParaRPr lang="zh-CN" altLang="en-US" sz="2000"/>
          </a:p>
        </p:txBody>
      </p:sp>
      <p:sp>
        <p:nvSpPr>
          <p:cNvPr id="24" name="TextBox 31">
            <a:extLst>
              <a:ext uri="{FF2B5EF4-FFF2-40B4-BE49-F238E27FC236}">
                <a16:creationId xmlns:a16="http://schemas.microsoft.com/office/drawing/2014/main" id="{A4B32E2B-6A81-242A-008E-3A5A48E09DF8}"/>
              </a:ext>
            </a:extLst>
          </p:cNvPr>
          <p:cNvSpPr txBox="1"/>
          <p:nvPr/>
        </p:nvSpPr>
        <p:spPr>
          <a:xfrm>
            <a:off x="6171165" y="6335131"/>
            <a:ext cx="3143272" cy="400110"/>
          </a:xfrm>
          <a:prstGeom prst="rect">
            <a:avLst/>
          </a:prstGeom>
          <a:solidFill>
            <a:schemeClr val="bg1"/>
          </a:solidFill>
        </p:spPr>
        <p:txBody>
          <a:bodyPr wrap="square" rtlCol="0">
            <a:spAutoFit/>
          </a:bodyPr>
          <a:lstStyle/>
          <a:p>
            <a:pPr algn="l"/>
            <a:r>
              <a:rPr lang="en-US" altLang="zh-CN" sz="2000">
                <a:solidFill>
                  <a:srgbClr val="0000FF"/>
                </a:solidFill>
                <a:latin typeface="Consolas" pitchFamily="49" charset="0"/>
                <a:ea typeface="楷体" pitchFamily="49" charset="-122"/>
                <a:cs typeface="Consolas" pitchFamily="49" charset="0"/>
              </a:rPr>
              <a:t>D. a，e，d，f，c，b</a:t>
            </a:r>
            <a:endParaRPr lang="zh-CN" altLang="en-US" sz="2000"/>
          </a:p>
        </p:txBody>
      </p:sp>
      <p:sp>
        <p:nvSpPr>
          <p:cNvPr id="25" name="TextBox 37">
            <a:extLst>
              <a:ext uri="{FF2B5EF4-FFF2-40B4-BE49-F238E27FC236}">
                <a16:creationId xmlns:a16="http://schemas.microsoft.com/office/drawing/2014/main" id="{0AAEC277-384B-8C0B-6C50-A13B16B55BAB}"/>
              </a:ext>
            </a:extLst>
          </p:cNvPr>
          <p:cNvSpPr txBox="1"/>
          <p:nvPr/>
        </p:nvSpPr>
        <p:spPr>
          <a:xfrm>
            <a:off x="9498706" y="6324272"/>
            <a:ext cx="1500198" cy="400110"/>
          </a:xfrm>
          <a:prstGeom prst="rect">
            <a:avLst/>
          </a:prstGeom>
          <a:noFill/>
        </p:spPr>
        <p:txBody>
          <a:bodyPr wrap="square" rtlCol="0">
            <a:spAutoFit/>
          </a:bodyPr>
          <a:lstStyle/>
          <a:p>
            <a:pPr algn="l"/>
            <a:r>
              <a:rPr lang="zh-CN" altLang="en-US" sz="2000" dirty="0">
                <a:latin typeface="Consolas" pitchFamily="49" charset="0"/>
                <a:ea typeface="仿宋" pitchFamily="49" charset="-122"/>
                <a:cs typeface="Consolas" pitchFamily="49" charset="0"/>
              </a:rPr>
              <a:t>答案为</a:t>
            </a:r>
            <a:r>
              <a:rPr lang="en-US" altLang="zh-CN" sz="2000" dirty="0">
                <a:solidFill>
                  <a:srgbClr val="FF0000"/>
                </a:solidFill>
                <a:latin typeface="Consolas" pitchFamily="49" charset="0"/>
                <a:ea typeface="仿宋" pitchFamily="49" charset="-122"/>
                <a:cs typeface="Consolas" pitchFamily="49" charset="0"/>
              </a:rPr>
              <a:t>D</a:t>
            </a:r>
            <a:endParaRPr lang="zh-CN" altLang="en-US" sz="2000" dirty="0">
              <a:solidFill>
                <a:srgbClr val="FF0000"/>
              </a:solidFill>
              <a:latin typeface="Consolas" pitchFamily="49" charset="0"/>
              <a:ea typeface="仿宋" pitchFamily="49" charset="-122"/>
              <a:cs typeface="Consolas" pitchFamily="49" charset="0"/>
            </a:endParaRPr>
          </a:p>
        </p:txBody>
      </p:sp>
      <p:cxnSp>
        <p:nvCxnSpPr>
          <p:cNvPr id="26" name="直接箭头连接符 25">
            <a:extLst>
              <a:ext uri="{FF2B5EF4-FFF2-40B4-BE49-F238E27FC236}">
                <a16:creationId xmlns:a16="http://schemas.microsoft.com/office/drawing/2014/main" id="{AB9EF0A9-B380-8C2A-44C3-068A6FC46031}"/>
              </a:ext>
            </a:extLst>
          </p:cNvPr>
          <p:cNvCxnSpPr/>
          <p:nvPr/>
        </p:nvCxnSpPr>
        <p:spPr>
          <a:xfrm>
            <a:off x="7223071" y="4834933"/>
            <a:ext cx="612000" cy="0"/>
          </a:xfrm>
          <a:prstGeom prst="straightConnector1">
            <a:avLst/>
          </a:prstGeom>
          <a:ln>
            <a:solidFill>
              <a:srgbClr val="FF0000"/>
            </a:solidFill>
            <a:tailEnd type="arrow"/>
          </a:ln>
        </p:spPr>
        <p:style>
          <a:lnRef idx="2">
            <a:schemeClr val="accent5"/>
          </a:lnRef>
          <a:fillRef idx="0">
            <a:schemeClr val="accent5"/>
          </a:fillRef>
          <a:effectRef idx="1">
            <a:schemeClr val="accent5"/>
          </a:effectRef>
          <a:fontRef idx="minor">
            <a:schemeClr val="tx1"/>
          </a:fontRef>
        </p:style>
      </p:cxnSp>
      <p:cxnSp>
        <p:nvCxnSpPr>
          <p:cNvPr id="49" name="直接箭头连接符 48">
            <a:extLst>
              <a:ext uri="{FF2B5EF4-FFF2-40B4-BE49-F238E27FC236}">
                <a16:creationId xmlns:a16="http://schemas.microsoft.com/office/drawing/2014/main" id="{8CE4955A-E865-B3A4-B8A4-D3AC616857EE}"/>
              </a:ext>
            </a:extLst>
          </p:cNvPr>
          <p:cNvCxnSpPr/>
          <p:nvPr/>
        </p:nvCxnSpPr>
        <p:spPr>
          <a:xfrm>
            <a:off x="8314305" y="4692057"/>
            <a:ext cx="1500198" cy="642942"/>
          </a:xfrm>
          <a:prstGeom prst="straightConnector1">
            <a:avLst/>
          </a:prstGeom>
          <a:ln>
            <a:solidFill>
              <a:srgbClr val="FF0000"/>
            </a:solidFill>
            <a:tailEnd type="arrow"/>
          </a:ln>
        </p:spPr>
        <p:style>
          <a:lnRef idx="2">
            <a:schemeClr val="accent5"/>
          </a:lnRef>
          <a:fillRef idx="0">
            <a:schemeClr val="accent5"/>
          </a:fillRef>
          <a:effectRef idx="1">
            <a:schemeClr val="accent5"/>
          </a:effectRef>
          <a:fontRef idx="minor">
            <a:schemeClr val="tx1"/>
          </a:fontRef>
        </p:style>
      </p:cxnSp>
      <p:cxnSp>
        <p:nvCxnSpPr>
          <p:cNvPr id="50" name="直接箭头连接符 49">
            <a:extLst>
              <a:ext uri="{FF2B5EF4-FFF2-40B4-BE49-F238E27FC236}">
                <a16:creationId xmlns:a16="http://schemas.microsoft.com/office/drawing/2014/main" id="{AA225FB5-8EAD-F248-BA95-63543E0B7CC6}"/>
              </a:ext>
            </a:extLst>
          </p:cNvPr>
          <p:cNvCxnSpPr/>
          <p:nvPr/>
        </p:nvCxnSpPr>
        <p:spPr>
          <a:xfrm rot="10800000" flipV="1">
            <a:off x="9157951" y="5714466"/>
            <a:ext cx="562837" cy="8667"/>
          </a:xfrm>
          <a:prstGeom prst="straightConnector1">
            <a:avLst/>
          </a:prstGeom>
          <a:ln>
            <a:solidFill>
              <a:srgbClr val="FF0000"/>
            </a:solidFill>
            <a:tailEnd type="arrow"/>
          </a:ln>
        </p:spPr>
        <p:style>
          <a:lnRef idx="2">
            <a:schemeClr val="accent5"/>
          </a:lnRef>
          <a:fillRef idx="0">
            <a:schemeClr val="accent5"/>
          </a:fillRef>
          <a:effectRef idx="1">
            <a:schemeClr val="accent5"/>
          </a:effectRef>
          <a:fontRef idx="minor">
            <a:schemeClr val="tx1"/>
          </a:fontRef>
        </p:style>
      </p:cxnSp>
      <p:cxnSp>
        <p:nvCxnSpPr>
          <p:cNvPr id="51" name="直接箭头连接符 50">
            <a:extLst>
              <a:ext uri="{FF2B5EF4-FFF2-40B4-BE49-F238E27FC236}">
                <a16:creationId xmlns:a16="http://schemas.microsoft.com/office/drawing/2014/main" id="{7576C233-0BD4-1E69-91CF-B1D19F4D641C}"/>
              </a:ext>
            </a:extLst>
          </p:cNvPr>
          <p:cNvCxnSpPr/>
          <p:nvPr/>
        </p:nvCxnSpPr>
        <p:spPr>
          <a:xfrm rot="5400000">
            <a:off x="8494712" y="5490798"/>
            <a:ext cx="1588" cy="504000"/>
          </a:xfrm>
          <a:prstGeom prst="straightConnector1">
            <a:avLst/>
          </a:prstGeom>
          <a:ln>
            <a:solidFill>
              <a:srgbClr val="FF0000"/>
            </a:solidFill>
            <a:tailEnd type="arrow"/>
          </a:ln>
        </p:spPr>
        <p:style>
          <a:lnRef idx="2">
            <a:schemeClr val="accent5"/>
          </a:lnRef>
          <a:fillRef idx="0">
            <a:schemeClr val="accent5"/>
          </a:fillRef>
          <a:effectRef idx="1">
            <a:schemeClr val="accent5"/>
          </a:effectRef>
          <a:fontRef idx="minor">
            <a:schemeClr val="tx1"/>
          </a:fontRef>
        </p:style>
      </p:cxnSp>
      <p:cxnSp>
        <p:nvCxnSpPr>
          <p:cNvPr id="52" name="直接箭头连接符 51">
            <a:extLst>
              <a:ext uri="{FF2B5EF4-FFF2-40B4-BE49-F238E27FC236}">
                <a16:creationId xmlns:a16="http://schemas.microsoft.com/office/drawing/2014/main" id="{6431F579-80E3-9D53-839A-70B91CA3EBBD}"/>
              </a:ext>
            </a:extLst>
          </p:cNvPr>
          <p:cNvCxnSpPr/>
          <p:nvPr/>
        </p:nvCxnSpPr>
        <p:spPr>
          <a:xfrm>
            <a:off x="8242867" y="5857343"/>
            <a:ext cx="571504" cy="1588"/>
          </a:xfrm>
          <a:prstGeom prst="straightConnector1">
            <a:avLst/>
          </a:prstGeom>
          <a:ln>
            <a:solidFill>
              <a:srgbClr val="FF0000"/>
            </a:solidFill>
            <a:prstDash val="sysDash"/>
            <a:tailEnd type="arrow"/>
          </a:ln>
        </p:spPr>
        <p:style>
          <a:lnRef idx="2">
            <a:schemeClr val="accent5"/>
          </a:lnRef>
          <a:fillRef idx="0">
            <a:schemeClr val="accent5"/>
          </a:fillRef>
          <a:effectRef idx="1">
            <a:schemeClr val="accent5"/>
          </a:effectRef>
          <a:fontRef idx="minor">
            <a:schemeClr val="tx1"/>
          </a:fontRef>
        </p:style>
      </p:cxnSp>
      <p:cxnSp>
        <p:nvCxnSpPr>
          <p:cNvPr id="53" name="直接箭头连接符 52">
            <a:extLst>
              <a:ext uri="{FF2B5EF4-FFF2-40B4-BE49-F238E27FC236}">
                <a16:creationId xmlns:a16="http://schemas.microsoft.com/office/drawing/2014/main" id="{49CD8F23-5C44-3686-EA70-5927C425F6E8}"/>
              </a:ext>
            </a:extLst>
          </p:cNvPr>
          <p:cNvCxnSpPr/>
          <p:nvPr/>
        </p:nvCxnSpPr>
        <p:spPr>
          <a:xfrm>
            <a:off x="9230553" y="5835065"/>
            <a:ext cx="571504" cy="1588"/>
          </a:xfrm>
          <a:prstGeom prst="straightConnector1">
            <a:avLst/>
          </a:prstGeom>
          <a:ln>
            <a:solidFill>
              <a:srgbClr val="FF0000"/>
            </a:solidFill>
            <a:prstDash val="sysDash"/>
            <a:tailEnd type="arrow"/>
          </a:ln>
        </p:spPr>
        <p:style>
          <a:lnRef idx="2">
            <a:schemeClr val="accent5"/>
          </a:lnRef>
          <a:fillRef idx="0">
            <a:schemeClr val="accent5"/>
          </a:fillRef>
          <a:effectRef idx="1">
            <a:schemeClr val="accent5"/>
          </a:effectRef>
          <a:fontRef idx="minor">
            <a:schemeClr val="tx1"/>
          </a:fontRef>
        </p:style>
      </p:cxnSp>
      <p:cxnSp>
        <p:nvCxnSpPr>
          <p:cNvPr id="54" name="直接箭头连接符 53">
            <a:extLst>
              <a:ext uri="{FF2B5EF4-FFF2-40B4-BE49-F238E27FC236}">
                <a16:creationId xmlns:a16="http://schemas.microsoft.com/office/drawing/2014/main" id="{A7CDEF90-454E-44EC-DF3B-6B79D3D36750}"/>
              </a:ext>
            </a:extLst>
          </p:cNvPr>
          <p:cNvCxnSpPr/>
          <p:nvPr/>
        </p:nvCxnSpPr>
        <p:spPr>
          <a:xfrm rot="10800000">
            <a:off x="8314305" y="4591123"/>
            <a:ext cx="1643074" cy="714380"/>
          </a:xfrm>
          <a:prstGeom prst="straightConnector1">
            <a:avLst/>
          </a:prstGeom>
          <a:ln>
            <a:solidFill>
              <a:srgbClr val="FF0000"/>
            </a:solidFill>
            <a:prstDash val="sysDash"/>
            <a:tailEnd type="arrow"/>
          </a:ln>
        </p:spPr>
        <p:style>
          <a:lnRef idx="2">
            <a:schemeClr val="accent5"/>
          </a:lnRef>
          <a:fillRef idx="0">
            <a:schemeClr val="accent5"/>
          </a:fillRef>
          <a:effectRef idx="1">
            <a:schemeClr val="accent5"/>
          </a:effectRef>
          <a:fontRef idx="minor">
            <a:schemeClr val="tx1"/>
          </a:fontRef>
        </p:style>
      </p:cxnSp>
      <p:cxnSp>
        <p:nvCxnSpPr>
          <p:cNvPr id="55" name="直接箭头连接符 54">
            <a:extLst>
              <a:ext uri="{FF2B5EF4-FFF2-40B4-BE49-F238E27FC236}">
                <a16:creationId xmlns:a16="http://schemas.microsoft.com/office/drawing/2014/main" id="{933E2881-CC70-D0D9-4F3F-95A024D1C000}"/>
              </a:ext>
            </a:extLst>
          </p:cNvPr>
          <p:cNvCxnSpPr/>
          <p:nvPr/>
        </p:nvCxnSpPr>
        <p:spPr>
          <a:xfrm rot="5400000" flipH="1" flipV="1">
            <a:off x="7958110" y="4370586"/>
            <a:ext cx="357190" cy="1588"/>
          </a:xfrm>
          <a:prstGeom prst="straightConnector1">
            <a:avLst/>
          </a:prstGeom>
          <a:ln>
            <a:solidFill>
              <a:srgbClr val="FF0000"/>
            </a:solidFill>
            <a:tailEnd type="arrow"/>
          </a:ln>
        </p:spPr>
        <p:style>
          <a:lnRef idx="2">
            <a:schemeClr val="accent5"/>
          </a:lnRef>
          <a:fillRef idx="0">
            <a:schemeClr val="accent5"/>
          </a:fillRef>
          <a:effectRef idx="1">
            <a:schemeClr val="accent5"/>
          </a:effectRef>
          <a:fontRef idx="minor">
            <a:schemeClr val="tx1"/>
          </a:fontRef>
        </p:style>
      </p:cxnSp>
    </p:spTree>
    <p:extLst>
      <p:ext uri="{BB962C8B-B14F-4D97-AF65-F5344CB8AC3E}">
        <p14:creationId xmlns:p14="http://schemas.microsoft.com/office/powerpoint/2010/main" val="23919206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3"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strips(upRight)">
                                      <p:cBhvr>
                                        <p:cTn id="7" dur="1000"/>
                                        <p:tgtEl>
                                          <p:spTgt spid="26"/>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nodeType="clickEffect">
                                  <p:stCondLst>
                                    <p:cond delay="0"/>
                                  </p:stCondLst>
                                  <p:childTnLst>
                                    <p:set>
                                      <p:cBhvr>
                                        <p:cTn id="11" dur="1" fill="hold">
                                          <p:stCondLst>
                                            <p:cond delay="0"/>
                                          </p:stCondLst>
                                        </p:cTn>
                                        <p:tgtEl>
                                          <p:spTgt spid="49"/>
                                        </p:tgtEl>
                                        <p:attrNameLst>
                                          <p:attrName>style.visibility</p:attrName>
                                        </p:attrNameLst>
                                      </p:cBhvr>
                                      <p:to>
                                        <p:strVal val="visible"/>
                                      </p:to>
                                    </p:set>
                                    <p:animEffect transition="in" filter="strips(downRight)">
                                      <p:cBhvr>
                                        <p:cTn id="12" dur="1000"/>
                                        <p:tgtEl>
                                          <p:spTgt spid="49"/>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12" fill="hold" nodeType="clickEffect">
                                  <p:stCondLst>
                                    <p:cond delay="0"/>
                                  </p:stCondLst>
                                  <p:childTnLst>
                                    <p:set>
                                      <p:cBhvr>
                                        <p:cTn id="16" dur="1" fill="hold">
                                          <p:stCondLst>
                                            <p:cond delay="0"/>
                                          </p:stCondLst>
                                        </p:cTn>
                                        <p:tgtEl>
                                          <p:spTgt spid="50"/>
                                        </p:tgtEl>
                                        <p:attrNameLst>
                                          <p:attrName>style.visibility</p:attrName>
                                        </p:attrNameLst>
                                      </p:cBhvr>
                                      <p:to>
                                        <p:strVal val="visible"/>
                                      </p:to>
                                    </p:set>
                                    <p:animEffect transition="in" filter="strips(downLeft)">
                                      <p:cBhvr>
                                        <p:cTn id="17" dur="1000"/>
                                        <p:tgtEl>
                                          <p:spTgt spid="50"/>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12" fill="hold" nodeType="clickEffect">
                                  <p:stCondLst>
                                    <p:cond delay="0"/>
                                  </p:stCondLst>
                                  <p:childTnLst>
                                    <p:set>
                                      <p:cBhvr>
                                        <p:cTn id="21" dur="1" fill="hold">
                                          <p:stCondLst>
                                            <p:cond delay="0"/>
                                          </p:stCondLst>
                                        </p:cTn>
                                        <p:tgtEl>
                                          <p:spTgt spid="51"/>
                                        </p:tgtEl>
                                        <p:attrNameLst>
                                          <p:attrName>style.visibility</p:attrName>
                                        </p:attrNameLst>
                                      </p:cBhvr>
                                      <p:to>
                                        <p:strVal val="visible"/>
                                      </p:to>
                                    </p:set>
                                    <p:animEffect transition="in" filter="strips(downLeft)">
                                      <p:cBhvr>
                                        <p:cTn id="22" dur="1000"/>
                                        <p:tgtEl>
                                          <p:spTgt spid="51"/>
                                        </p:tgtEl>
                                      </p:cBhvr>
                                    </p:animEffect>
                                  </p:childTnLst>
                                </p:cTn>
                              </p:par>
                            </p:childTnLst>
                          </p:cTn>
                        </p:par>
                      </p:childTnLst>
                    </p:cTn>
                  </p:par>
                  <p:par>
                    <p:cTn id="23" fill="hold">
                      <p:stCondLst>
                        <p:cond delay="indefinite"/>
                      </p:stCondLst>
                      <p:childTnLst>
                        <p:par>
                          <p:cTn id="24" fill="hold">
                            <p:stCondLst>
                              <p:cond delay="0"/>
                            </p:stCondLst>
                            <p:childTnLst>
                              <p:par>
                                <p:cTn id="25" presetID="18" presetClass="entr" presetSubtype="6" fill="hold" nodeType="clickEffect">
                                  <p:stCondLst>
                                    <p:cond delay="0"/>
                                  </p:stCondLst>
                                  <p:childTnLst>
                                    <p:set>
                                      <p:cBhvr>
                                        <p:cTn id="26" dur="1" fill="hold">
                                          <p:stCondLst>
                                            <p:cond delay="0"/>
                                          </p:stCondLst>
                                        </p:cTn>
                                        <p:tgtEl>
                                          <p:spTgt spid="52"/>
                                        </p:tgtEl>
                                        <p:attrNameLst>
                                          <p:attrName>style.visibility</p:attrName>
                                        </p:attrNameLst>
                                      </p:cBhvr>
                                      <p:to>
                                        <p:strVal val="visible"/>
                                      </p:to>
                                    </p:set>
                                    <p:animEffect transition="in" filter="strips(downRight)">
                                      <p:cBhvr>
                                        <p:cTn id="27" dur="1000"/>
                                        <p:tgtEl>
                                          <p:spTgt spid="52"/>
                                        </p:tgtEl>
                                      </p:cBhvr>
                                    </p:animEffect>
                                  </p:childTnLst>
                                </p:cTn>
                              </p:par>
                            </p:childTnLst>
                          </p:cTn>
                        </p:par>
                      </p:childTnLst>
                    </p:cTn>
                  </p:par>
                  <p:par>
                    <p:cTn id="28" fill="hold">
                      <p:stCondLst>
                        <p:cond delay="indefinite"/>
                      </p:stCondLst>
                      <p:childTnLst>
                        <p:par>
                          <p:cTn id="29" fill="hold">
                            <p:stCondLst>
                              <p:cond delay="0"/>
                            </p:stCondLst>
                            <p:childTnLst>
                              <p:par>
                                <p:cTn id="30" presetID="18" presetClass="entr" presetSubtype="3" fill="hold" nodeType="clickEffect">
                                  <p:stCondLst>
                                    <p:cond delay="0"/>
                                  </p:stCondLst>
                                  <p:childTnLst>
                                    <p:set>
                                      <p:cBhvr>
                                        <p:cTn id="31" dur="1" fill="hold">
                                          <p:stCondLst>
                                            <p:cond delay="0"/>
                                          </p:stCondLst>
                                        </p:cTn>
                                        <p:tgtEl>
                                          <p:spTgt spid="53"/>
                                        </p:tgtEl>
                                        <p:attrNameLst>
                                          <p:attrName>style.visibility</p:attrName>
                                        </p:attrNameLst>
                                      </p:cBhvr>
                                      <p:to>
                                        <p:strVal val="visible"/>
                                      </p:to>
                                    </p:set>
                                    <p:animEffect transition="in" filter="strips(upRight)">
                                      <p:cBhvr>
                                        <p:cTn id="32" dur="1000"/>
                                        <p:tgtEl>
                                          <p:spTgt spid="53"/>
                                        </p:tgtEl>
                                      </p:cBhvr>
                                    </p:animEffect>
                                  </p:childTnLst>
                                </p:cTn>
                              </p:par>
                            </p:childTnLst>
                          </p:cTn>
                        </p:par>
                      </p:childTnLst>
                    </p:cTn>
                  </p:par>
                  <p:par>
                    <p:cTn id="33" fill="hold">
                      <p:stCondLst>
                        <p:cond delay="indefinite"/>
                      </p:stCondLst>
                      <p:childTnLst>
                        <p:par>
                          <p:cTn id="34" fill="hold">
                            <p:stCondLst>
                              <p:cond delay="0"/>
                            </p:stCondLst>
                            <p:childTnLst>
                              <p:par>
                                <p:cTn id="35" presetID="18" presetClass="entr" presetSubtype="12" fill="hold" nodeType="clickEffect">
                                  <p:stCondLst>
                                    <p:cond delay="0"/>
                                  </p:stCondLst>
                                  <p:childTnLst>
                                    <p:set>
                                      <p:cBhvr>
                                        <p:cTn id="36" dur="1" fill="hold">
                                          <p:stCondLst>
                                            <p:cond delay="0"/>
                                          </p:stCondLst>
                                        </p:cTn>
                                        <p:tgtEl>
                                          <p:spTgt spid="54"/>
                                        </p:tgtEl>
                                        <p:attrNameLst>
                                          <p:attrName>style.visibility</p:attrName>
                                        </p:attrNameLst>
                                      </p:cBhvr>
                                      <p:to>
                                        <p:strVal val="visible"/>
                                      </p:to>
                                    </p:set>
                                    <p:animEffect transition="in" filter="strips(downLeft)">
                                      <p:cBhvr>
                                        <p:cTn id="37" dur="1000"/>
                                        <p:tgtEl>
                                          <p:spTgt spid="54"/>
                                        </p:tgtEl>
                                      </p:cBhvr>
                                    </p:animEffect>
                                  </p:childTnLst>
                                </p:cTn>
                              </p:par>
                            </p:childTnLst>
                          </p:cTn>
                        </p:par>
                      </p:childTnLst>
                    </p:cTn>
                  </p:par>
                  <p:par>
                    <p:cTn id="38" fill="hold">
                      <p:stCondLst>
                        <p:cond delay="indefinite"/>
                      </p:stCondLst>
                      <p:childTnLst>
                        <p:par>
                          <p:cTn id="39" fill="hold">
                            <p:stCondLst>
                              <p:cond delay="0"/>
                            </p:stCondLst>
                            <p:childTnLst>
                              <p:par>
                                <p:cTn id="40" presetID="18" presetClass="entr" presetSubtype="3" fill="hold" nodeType="clickEffect">
                                  <p:stCondLst>
                                    <p:cond delay="0"/>
                                  </p:stCondLst>
                                  <p:childTnLst>
                                    <p:set>
                                      <p:cBhvr>
                                        <p:cTn id="41" dur="1" fill="hold">
                                          <p:stCondLst>
                                            <p:cond delay="0"/>
                                          </p:stCondLst>
                                        </p:cTn>
                                        <p:tgtEl>
                                          <p:spTgt spid="55"/>
                                        </p:tgtEl>
                                        <p:attrNameLst>
                                          <p:attrName>style.visibility</p:attrName>
                                        </p:attrNameLst>
                                      </p:cBhvr>
                                      <p:to>
                                        <p:strVal val="visible"/>
                                      </p:to>
                                    </p:set>
                                    <p:animEffect transition="in" filter="strips(upRight)">
                                      <p:cBhvr>
                                        <p:cTn id="42" dur="1000"/>
                                        <p:tgtEl>
                                          <p:spTgt spid="55"/>
                                        </p:tgtEl>
                                      </p:cBhvr>
                                    </p:animEffec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415480" y="2420888"/>
            <a:ext cx="9145016" cy="2751522"/>
          </a:xfrm>
          <a:prstGeom prst="rect">
            <a:avLst/>
          </a:prstGeom>
        </p:spPr>
        <p:txBody>
          <a:bodyPr wrap="square">
            <a:spAutoFit/>
          </a:bodyPr>
          <a:lstStyle/>
          <a:p>
            <a:pPr>
              <a:lnSpc>
                <a:spcPct val="90000"/>
              </a:lnSpc>
            </a:pPr>
            <a:r>
              <a:rPr kumimoji="1" lang="zh-CN" altLang="en-US" sz="2400" dirty="0">
                <a:latin typeface="微软雅黑" pitchFamily="34" charset="-122"/>
                <a:ea typeface="微软雅黑" pitchFamily="34" charset="-122"/>
                <a:cs typeface="经典粗黑简" pitchFamily="49" charset="-122"/>
              </a:rPr>
              <a:t>基本思想：</a:t>
            </a:r>
          </a:p>
          <a:p>
            <a:pPr>
              <a:lnSpc>
                <a:spcPct val="90000"/>
              </a:lnSpc>
            </a:pPr>
            <a:r>
              <a:rPr kumimoji="1" lang="zh-CN" altLang="en-US" sz="2400" dirty="0">
                <a:latin typeface="微软雅黑" pitchFamily="34" charset="-122"/>
                <a:ea typeface="微软雅黑" pitchFamily="34" charset="-122"/>
                <a:cs typeface="经典粗黑简" pitchFamily="49" charset="-122"/>
              </a:rPr>
              <a:t>       假设初始状态是图中所有顶点未曾被访问，则广度优先遍历可以从图中某个顶点</a:t>
            </a:r>
            <a:r>
              <a:rPr kumimoji="1" lang="en-US" altLang="zh-CN" sz="2400" dirty="0">
                <a:latin typeface="微软雅黑" pitchFamily="34" charset="-122"/>
                <a:ea typeface="微软雅黑" pitchFamily="34" charset="-122"/>
                <a:cs typeface="经典粗黑简" pitchFamily="49" charset="-122"/>
              </a:rPr>
              <a:t>v</a:t>
            </a:r>
            <a:r>
              <a:rPr kumimoji="1" lang="zh-CN" altLang="en-US" sz="2400" dirty="0">
                <a:latin typeface="微软雅黑" pitchFamily="34" charset="-122"/>
                <a:ea typeface="微软雅黑" pitchFamily="34" charset="-122"/>
                <a:cs typeface="经典粗黑简" pitchFamily="49" charset="-122"/>
              </a:rPr>
              <a:t>出发，在访问了</a:t>
            </a:r>
            <a:r>
              <a:rPr kumimoji="1" lang="en-US" altLang="zh-CN" sz="2400" dirty="0">
                <a:latin typeface="微软雅黑" pitchFamily="34" charset="-122"/>
                <a:ea typeface="微软雅黑" pitchFamily="34" charset="-122"/>
                <a:cs typeface="经典粗黑简" pitchFamily="49" charset="-122"/>
              </a:rPr>
              <a:t>v</a:t>
            </a:r>
            <a:r>
              <a:rPr kumimoji="1" lang="zh-CN" altLang="en-US" sz="2400" dirty="0">
                <a:latin typeface="微软雅黑" pitchFamily="34" charset="-122"/>
                <a:ea typeface="微软雅黑" pitchFamily="34" charset="-122"/>
                <a:cs typeface="经典粗黑简" pitchFamily="49" charset="-122"/>
              </a:rPr>
              <a:t>之后依次访问</a:t>
            </a:r>
            <a:r>
              <a:rPr kumimoji="1" lang="en-US" altLang="zh-CN" sz="2400" dirty="0">
                <a:latin typeface="微软雅黑" pitchFamily="34" charset="-122"/>
                <a:ea typeface="微软雅黑" pitchFamily="34" charset="-122"/>
                <a:cs typeface="经典粗黑简" pitchFamily="49" charset="-122"/>
              </a:rPr>
              <a:t>v</a:t>
            </a:r>
            <a:r>
              <a:rPr kumimoji="1" lang="zh-CN" altLang="en-US" sz="2400" dirty="0">
                <a:latin typeface="微软雅黑" pitchFamily="34" charset="-122"/>
                <a:ea typeface="微软雅黑" pitchFamily="34" charset="-122"/>
                <a:cs typeface="经典粗黑简" pitchFamily="49" charset="-122"/>
              </a:rPr>
              <a:t>的各个未曾访问过的邻接点，然后分别从这些邻接点出发依次访问它们的邻接点，并使“先被访问的顶点的邻接点”先于“后被访问的顶点的邻接点”被访问，直到图中所有已被访问的顶点的邻接点都被访问到；若此时图中尚有顶点未被访问，则另选图中一个未曾被访问的顶点作为起始点，重复上述过程，直到图中所有顶点都被访问到为止。</a:t>
            </a:r>
          </a:p>
        </p:txBody>
      </p:sp>
      <p:sp>
        <p:nvSpPr>
          <p:cNvPr id="2" name="Rectangle 2">
            <a:extLst>
              <a:ext uri="{FF2B5EF4-FFF2-40B4-BE49-F238E27FC236}">
                <a16:creationId xmlns:a16="http://schemas.microsoft.com/office/drawing/2014/main" id="{A85A9848-088C-BF4E-6FAC-674302ED283E}"/>
              </a:ext>
            </a:extLst>
          </p:cNvPr>
          <p:cNvSpPr txBox="1">
            <a:spLocks noChangeArrowheads="1"/>
          </p:cNvSpPr>
          <p:nvPr/>
        </p:nvSpPr>
        <p:spPr>
          <a:xfrm>
            <a:off x="474772" y="1230902"/>
            <a:ext cx="4253076"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8.3.3 </a:t>
            </a:r>
            <a:r>
              <a:rPr kumimoji="1" lang="zh-CN" altLang="en-US" dirty="0">
                <a:latin typeface="微软雅黑" pitchFamily="34" charset="-122"/>
                <a:ea typeface="微软雅黑" pitchFamily="34" charset="-122"/>
              </a:rPr>
              <a:t>广度优先遍历算法</a:t>
            </a:r>
            <a:endParaRPr lang="zh-CN" altLang="en-US" dirty="0"/>
          </a:p>
        </p:txBody>
      </p:sp>
      <p:sp>
        <p:nvSpPr>
          <p:cNvPr id="3" name="矩形 2">
            <a:extLst>
              <a:ext uri="{FF2B5EF4-FFF2-40B4-BE49-F238E27FC236}">
                <a16:creationId xmlns:a16="http://schemas.microsoft.com/office/drawing/2014/main" id="{D99F3F07-7AC9-D944-CB91-9CDEFA6BB238}"/>
              </a:ext>
            </a:extLst>
          </p:cNvPr>
          <p:cNvSpPr/>
          <p:nvPr/>
        </p:nvSpPr>
        <p:spPr>
          <a:xfrm>
            <a:off x="3200907" y="399148"/>
            <a:ext cx="4617860"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8.3 </a:t>
            </a:r>
            <a:r>
              <a:rPr lang="zh-CN" altLang="en-US" sz="3000" b="1" dirty="0">
                <a:latin typeface="黑体" pitchFamily="49" charset="-122"/>
                <a:ea typeface="黑体" pitchFamily="49" charset="-122"/>
                <a:cs typeface="经典粗黑简" pitchFamily="49" charset="-122"/>
              </a:rPr>
              <a:t>图的遍历</a:t>
            </a:r>
          </a:p>
        </p:txBody>
      </p:sp>
      <p:cxnSp>
        <p:nvCxnSpPr>
          <p:cNvPr id="5" name="直接连接符 4">
            <a:extLst>
              <a:ext uri="{FF2B5EF4-FFF2-40B4-BE49-F238E27FC236}">
                <a16:creationId xmlns:a16="http://schemas.microsoft.com/office/drawing/2014/main" id="{429CB703-F381-32E7-7158-AC8795A28F0E}"/>
              </a:ext>
            </a:extLst>
          </p:cNvPr>
          <p:cNvCxnSpPr>
            <a:cxnSpLocks/>
          </p:cNvCxnSpPr>
          <p:nvPr/>
        </p:nvCxnSpPr>
        <p:spPr>
          <a:xfrm>
            <a:off x="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430468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p:cNvSpPr txBox="1">
            <a:spLocks/>
          </p:cNvSpPr>
          <p:nvPr/>
        </p:nvSpPr>
        <p:spPr>
          <a:xfrm>
            <a:off x="1913732" y="4941168"/>
            <a:ext cx="5730081" cy="404018"/>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Font typeface="Wingdings" pitchFamily="2" charset="2"/>
              <a:buNone/>
            </a:pPr>
            <a:r>
              <a:rPr kumimoji="1" lang="zh-CN" altLang="en-US" sz="2000" dirty="0">
                <a:latin typeface="微软雅黑" pitchFamily="34" charset="-122"/>
                <a:ea typeface="微软雅黑" pitchFamily="34" charset="-122"/>
                <a:cs typeface="经典粗黑简" pitchFamily="49" charset="-122"/>
              </a:rPr>
              <a:t>从</a:t>
            </a:r>
            <a:r>
              <a:rPr kumimoji="1" lang="en-US" altLang="zh-CN" sz="2000" dirty="0">
                <a:latin typeface="微软雅黑" pitchFamily="34" charset="-122"/>
                <a:ea typeface="微软雅黑" pitchFamily="34" charset="-122"/>
                <a:cs typeface="经典粗黑简" pitchFamily="49" charset="-122"/>
              </a:rPr>
              <a:t>v1</a:t>
            </a:r>
            <a:r>
              <a:rPr kumimoji="1" lang="zh-CN" altLang="en-US" sz="2000" dirty="0">
                <a:latin typeface="微软雅黑" pitchFamily="34" charset="-122"/>
                <a:ea typeface="微软雅黑" pitchFamily="34" charset="-122"/>
                <a:cs typeface="经典粗黑简" pitchFamily="49" charset="-122"/>
              </a:rPr>
              <a:t>出发进行广度优先遍历所得到的遍历序列为：</a:t>
            </a:r>
          </a:p>
        </p:txBody>
      </p:sp>
      <p:sp>
        <p:nvSpPr>
          <p:cNvPr id="7" name="Oval 3"/>
          <p:cNvSpPr>
            <a:spLocks noChangeArrowheads="1"/>
          </p:cNvSpPr>
          <p:nvPr/>
        </p:nvSpPr>
        <p:spPr bwMode="auto">
          <a:xfrm>
            <a:off x="9552186" y="3211513"/>
            <a:ext cx="576263" cy="576262"/>
          </a:xfrm>
          <a:prstGeom prst="ellipse">
            <a:avLst/>
          </a:prstGeom>
          <a:solidFill>
            <a:schemeClr val="bg1"/>
          </a:solidFill>
          <a:ln w="28575" cap="sq">
            <a:solidFill>
              <a:srgbClr val="006666"/>
            </a:solidFill>
            <a:miter lim="800000"/>
            <a:headEnd type="none" w="sm" len="sm"/>
            <a:tailEnd type="none" w="sm" len="sm"/>
          </a:ln>
        </p:spPr>
        <p:txBody>
          <a:bodyPr wrap="none" anchor="ctr"/>
          <a:lstStyle/>
          <a:p>
            <a:r>
              <a:rPr lang="en-US" altLang="zh-CN" sz="3200"/>
              <a:t>v</a:t>
            </a:r>
            <a:r>
              <a:rPr lang="en-US" altLang="zh-CN" sz="3200" baseline="-25000"/>
              <a:t>7</a:t>
            </a:r>
          </a:p>
        </p:txBody>
      </p:sp>
      <p:sp>
        <p:nvSpPr>
          <p:cNvPr id="8" name="Oval 4"/>
          <p:cNvSpPr>
            <a:spLocks noChangeArrowheads="1"/>
          </p:cNvSpPr>
          <p:nvPr/>
        </p:nvSpPr>
        <p:spPr bwMode="auto">
          <a:xfrm>
            <a:off x="6024761" y="3211513"/>
            <a:ext cx="576263" cy="576262"/>
          </a:xfrm>
          <a:prstGeom prst="ellipse">
            <a:avLst/>
          </a:prstGeom>
          <a:solidFill>
            <a:schemeClr val="bg1"/>
          </a:solidFill>
          <a:ln w="28575" cap="sq">
            <a:solidFill>
              <a:srgbClr val="006666"/>
            </a:solidFill>
            <a:miter lim="800000"/>
            <a:headEnd type="none" w="sm" len="sm"/>
            <a:tailEnd type="none" w="sm" len="sm"/>
          </a:ln>
        </p:spPr>
        <p:txBody>
          <a:bodyPr wrap="none" anchor="ctr"/>
          <a:lstStyle/>
          <a:p>
            <a:r>
              <a:rPr lang="en-US" altLang="zh-CN" sz="3200"/>
              <a:t>v</a:t>
            </a:r>
            <a:r>
              <a:rPr lang="en-US" altLang="zh-CN" sz="3200" baseline="-25000"/>
              <a:t>5</a:t>
            </a:r>
          </a:p>
        </p:txBody>
      </p:sp>
      <p:sp>
        <p:nvSpPr>
          <p:cNvPr id="9" name="Oval 5"/>
          <p:cNvSpPr>
            <a:spLocks noChangeArrowheads="1"/>
          </p:cNvSpPr>
          <p:nvPr/>
        </p:nvSpPr>
        <p:spPr bwMode="auto">
          <a:xfrm>
            <a:off x="7753548" y="3211513"/>
            <a:ext cx="576262" cy="576262"/>
          </a:xfrm>
          <a:prstGeom prst="ellipse">
            <a:avLst/>
          </a:prstGeom>
          <a:solidFill>
            <a:schemeClr val="bg1"/>
          </a:solidFill>
          <a:ln w="28575" cap="sq">
            <a:solidFill>
              <a:srgbClr val="006666"/>
            </a:solidFill>
            <a:miter lim="800000"/>
            <a:headEnd type="none" w="sm" len="sm"/>
            <a:tailEnd type="none" w="sm" len="sm"/>
          </a:ln>
        </p:spPr>
        <p:txBody>
          <a:bodyPr wrap="none" anchor="ctr"/>
          <a:lstStyle/>
          <a:p>
            <a:r>
              <a:rPr lang="en-US" altLang="zh-CN" sz="3200"/>
              <a:t>v</a:t>
            </a:r>
            <a:r>
              <a:rPr lang="en-US" altLang="zh-CN" sz="3200" baseline="-25000"/>
              <a:t>6</a:t>
            </a:r>
          </a:p>
        </p:txBody>
      </p:sp>
      <p:sp>
        <p:nvSpPr>
          <p:cNvPr id="11" name="Oval 6"/>
          <p:cNvSpPr>
            <a:spLocks noChangeArrowheads="1"/>
          </p:cNvSpPr>
          <p:nvPr/>
        </p:nvSpPr>
        <p:spPr bwMode="auto">
          <a:xfrm>
            <a:off x="5448498" y="2276476"/>
            <a:ext cx="576262" cy="576263"/>
          </a:xfrm>
          <a:prstGeom prst="ellipse">
            <a:avLst/>
          </a:prstGeom>
          <a:solidFill>
            <a:schemeClr val="bg1"/>
          </a:solidFill>
          <a:ln w="28575" cap="sq">
            <a:solidFill>
              <a:srgbClr val="006666"/>
            </a:solidFill>
            <a:miter lim="800000"/>
            <a:headEnd type="none" w="sm" len="sm"/>
            <a:tailEnd type="none" w="sm" len="sm"/>
          </a:ln>
        </p:spPr>
        <p:txBody>
          <a:bodyPr wrap="none" anchor="ctr"/>
          <a:lstStyle/>
          <a:p>
            <a:r>
              <a:rPr lang="en-US" altLang="zh-CN" sz="3200"/>
              <a:t>v</a:t>
            </a:r>
            <a:r>
              <a:rPr lang="en-US" altLang="zh-CN" sz="3200" baseline="-25000"/>
              <a:t>2</a:t>
            </a:r>
          </a:p>
        </p:txBody>
      </p:sp>
      <p:sp>
        <p:nvSpPr>
          <p:cNvPr id="12" name="Oval 7"/>
          <p:cNvSpPr>
            <a:spLocks noChangeArrowheads="1"/>
          </p:cNvSpPr>
          <p:nvPr/>
        </p:nvSpPr>
        <p:spPr bwMode="auto">
          <a:xfrm>
            <a:off x="8545711" y="2276476"/>
            <a:ext cx="576263" cy="576263"/>
          </a:xfrm>
          <a:prstGeom prst="ellipse">
            <a:avLst/>
          </a:prstGeom>
          <a:solidFill>
            <a:schemeClr val="bg1"/>
          </a:solidFill>
          <a:ln w="28575" cap="sq">
            <a:solidFill>
              <a:srgbClr val="006666"/>
            </a:solidFill>
            <a:miter lim="800000"/>
            <a:headEnd type="none" w="sm" len="sm"/>
            <a:tailEnd type="none" w="sm" len="sm"/>
          </a:ln>
        </p:spPr>
        <p:txBody>
          <a:bodyPr wrap="none" anchor="ctr"/>
          <a:lstStyle/>
          <a:p>
            <a:r>
              <a:rPr lang="en-US" altLang="zh-CN" sz="3200"/>
              <a:t>v</a:t>
            </a:r>
            <a:r>
              <a:rPr lang="en-US" altLang="zh-CN" sz="3200" baseline="-25000"/>
              <a:t>3</a:t>
            </a:r>
          </a:p>
        </p:txBody>
      </p:sp>
      <p:sp>
        <p:nvSpPr>
          <p:cNvPr id="13" name="Oval 8"/>
          <p:cNvSpPr>
            <a:spLocks noChangeArrowheads="1"/>
          </p:cNvSpPr>
          <p:nvPr/>
        </p:nvSpPr>
        <p:spPr bwMode="auto">
          <a:xfrm>
            <a:off x="6888361" y="1339851"/>
            <a:ext cx="576263" cy="576263"/>
          </a:xfrm>
          <a:prstGeom prst="ellipse">
            <a:avLst/>
          </a:prstGeom>
          <a:solidFill>
            <a:schemeClr val="bg1"/>
          </a:solidFill>
          <a:ln w="28575" cap="sq">
            <a:solidFill>
              <a:srgbClr val="006666"/>
            </a:solidFill>
            <a:miter lim="800000"/>
            <a:headEnd type="none" w="sm" len="sm"/>
            <a:tailEnd type="none" w="sm" len="sm"/>
          </a:ln>
        </p:spPr>
        <p:txBody>
          <a:bodyPr wrap="none" anchor="ctr"/>
          <a:lstStyle/>
          <a:p>
            <a:r>
              <a:rPr lang="en-US" altLang="zh-CN" sz="3200"/>
              <a:t>v</a:t>
            </a:r>
            <a:r>
              <a:rPr lang="en-US" altLang="zh-CN" sz="3200" baseline="-25000"/>
              <a:t>1</a:t>
            </a:r>
          </a:p>
        </p:txBody>
      </p:sp>
      <p:sp>
        <p:nvSpPr>
          <p:cNvPr id="14" name="Line 9"/>
          <p:cNvSpPr>
            <a:spLocks noChangeShapeType="1"/>
          </p:cNvSpPr>
          <p:nvPr/>
        </p:nvSpPr>
        <p:spPr bwMode="auto">
          <a:xfrm>
            <a:off x="7464623" y="1627189"/>
            <a:ext cx="1187450" cy="720725"/>
          </a:xfrm>
          <a:prstGeom prst="line">
            <a:avLst/>
          </a:prstGeom>
          <a:noFill/>
          <a:ln w="28575" cap="sq">
            <a:solidFill>
              <a:srgbClr val="006666"/>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5" name="Line 10"/>
          <p:cNvSpPr>
            <a:spLocks noChangeShapeType="1"/>
          </p:cNvSpPr>
          <p:nvPr/>
        </p:nvSpPr>
        <p:spPr bwMode="auto">
          <a:xfrm flipH="1">
            <a:off x="8113910" y="2708275"/>
            <a:ext cx="431800" cy="503238"/>
          </a:xfrm>
          <a:prstGeom prst="line">
            <a:avLst/>
          </a:prstGeom>
          <a:noFill/>
          <a:ln w="28575" cap="sq">
            <a:solidFill>
              <a:srgbClr val="006666"/>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6" name="Line 11"/>
          <p:cNvSpPr>
            <a:spLocks noChangeShapeType="1"/>
          </p:cNvSpPr>
          <p:nvPr/>
        </p:nvSpPr>
        <p:spPr bwMode="auto">
          <a:xfrm flipH="1">
            <a:off x="5916810" y="1627189"/>
            <a:ext cx="971550" cy="720725"/>
          </a:xfrm>
          <a:prstGeom prst="line">
            <a:avLst/>
          </a:prstGeom>
          <a:noFill/>
          <a:ln w="28575" cap="sq">
            <a:solidFill>
              <a:srgbClr val="006666"/>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7" name="Line 12"/>
          <p:cNvSpPr>
            <a:spLocks noChangeShapeType="1"/>
          </p:cNvSpPr>
          <p:nvPr/>
        </p:nvSpPr>
        <p:spPr bwMode="auto">
          <a:xfrm>
            <a:off x="5953324" y="2779713"/>
            <a:ext cx="287337" cy="431800"/>
          </a:xfrm>
          <a:prstGeom prst="line">
            <a:avLst/>
          </a:prstGeom>
          <a:noFill/>
          <a:ln w="28575" cap="sq">
            <a:solidFill>
              <a:srgbClr val="006666"/>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8" name="Oval 13"/>
          <p:cNvSpPr>
            <a:spLocks noChangeArrowheads="1"/>
          </p:cNvSpPr>
          <p:nvPr/>
        </p:nvSpPr>
        <p:spPr bwMode="auto">
          <a:xfrm>
            <a:off x="4656336" y="3211513"/>
            <a:ext cx="576263" cy="576262"/>
          </a:xfrm>
          <a:prstGeom prst="ellipse">
            <a:avLst/>
          </a:prstGeom>
          <a:solidFill>
            <a:schemeClr val="bg1"/>
          </a:solidFill>
          <a:ln w="28575" cap="sq">
            <a:solidFill>
              <a:srgbClr val="006666"/>
            </a:solidFill>
            <a:miter lim="800000"/>
            <a:headEnd type="none" w="sm" len="sm"/>
            <a:tailEnd type="none" w="sm" len="sm"/>
          </a:ln>
        </p:spPr>
        <p:txBody>
          <a:bodyPr wrap="none" anchor="ctr"/>
          <a:lstStyle/>
          <a:p>
            <a:r>
              <a:rPr lang="en-US" altLang="zh-CN" sz="3200"/>
              <a:t>v</a:t>
            </a:r>
            <a:r>
              <a:rPr lang="en-US" altLang="zh-CN" sz="3200" baseline="-25000"/>
              <a:t>4</a:t>
            </a:r>
          </a:p>
        </p:txBody>
      </p:sp>
      <p:sp>
        <p:nvSpPr>
          <p:cNvPr id="19" name="Oval 14"/>
          <p:cNvSpPr>
            <a:spLocks noChangeArrowheads="1"/>
          </p:cNvSpPr>
          <p:nvPr/>
        </p:nvSpPr>
        <p:spPr bwMode="auto">
          <a:xfrm>
            <a:off x="6816923" y="4219576"/>
            <a:ext cx="576262" cy="576263"/>
          </a:xfrm>
          <a:prstGeom prst="ellipse">
            <a:avLst/>
          </a:prstGeom>
          <a:solidFill>
            <a:schemeClr val="bg1"/>
          </a:solidFill>
          <a:ln w="28575" cap="sq">
            <a:solidFill>
              <a:srgbClr val="006666"/>
            </a:solidFill>
            <a:miter lim="800000"/>
            <a:headEnd type="none" w="sm" len="sm"/>
            <a:tailEnd type="none" w="sm" len="sm"/>
          </a:ln>
        </p:spPr>
        <p:txBody>
          <a:bodyPr wrap="none" anchor="ctr"/>
          <a:lstStyle/>
          <a:p>
            <a:r>
              <a:rPr lang="en-US" altLang="zh-CN" sz="3200"/>
              <a:t>v</a:t>
            </a:r>
            <a:r>
              <a:rPr lang="en-US" altLang="zh-CN" sz="3200" baseline="-25000"/>
              <a:t>8</a:t>
            </a:r>
          </a:p>
        </p:txBody>
      </p:sp>
      <p:sp>
        <p:nvSpPr>
          <p:cNvPr id="20" name="Line 15"/>
          <p:cNvSpPr>
            <a:spLocks noChangeShapeType="1"/>
          </p:cNvSpPr>
          <p:nvPr/>
        </p:nvSpPr>
        <p:spPr bwMode="auto">
          <a:xfrm>
            <a:off x="9048948" y="2779714"/>
            <a:ext cx="647700" cy="504825"/>
          </a:xfrm>
          <a:prstGeom prst="line">
            <a:avLst/>
          </a:prstGeom>
          <a:noFill/>
          <a:ln w="28575" cap="sq">
            <a:solidFill>
              <a:srgbClr val="006666"/>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21" name="Line 16"/>
          <p:cNvSpPr>
            <a:spLocks noChangeShapeType="1"/>
          </p:cNvSpPr>
          <p:nvPr/>
        </p:nvSpPr>
        <p:spPr bwMode="auto">
          <a:xfrm>
            <a:off x="8328223" y="3500438"/>
            <a:ext cx="1223962" cy="0"/>
          </a:xfrm>
          <a:prstGeom prst="line">
            <a:avLst/>
          </a:prstGeom>
          <a:noFill/>
          <a:ln w="28575" cap="sq">
            <a:solidFill>
              <a:srgbClr val="006666"/>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22" name="Line 17"/>
          <p:cNvSpPr>
            <a:spLocks noChangeShapeType="1"/>
          </p:cNvSpPr>
          <p:nvPr/>
        </p:nvSpPr>
        <p:spPr bwMode="auto">
          <a:xfrm flipH="1">
            <a:off x="5016699" y="2708275"/>
            <a:ext cx="503237" cy="503238"/>
          </a:xfrm>
          <a:prstGeom prst="line">
            <a:avLst/>
          </a:prstGeom>
          <a:noFill/>
          <a:ln w="28575" cap="sq">
            <a:solidFill>
              <a:srgbClr val="006666"/>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23" name="Line 18"/>
          <p:cNvSpPr>
            <a:spLocks noChangeShapeType="1"/>
          </p:cNvSpPr>
          <p:nvPr/>
        </p:nvSpPr>
        <p:spPr bwMode="auto">
          <a:xfrm>
            <a:off x="6527998" y="3716338"/>
            <a:ext cx="360362" cy="576262"/>
          </a:xfrm>
          <a:prstGeom prst="line">
            <a:avLst/>
          </a:prstGeom>
          <a:noFill/>
          <a:ln w="28575" cap="sq">
            <a:solidFill>
              <a:srgbClr val="006666"/>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24" name="Line 19"/>
          <p:cNvSpPr>
            <a:spLocks noChangeShapeType="1"/>
          </p:cNvSpPr>
          <p:nvPr/>
        </p:nvSpPr>
        <p:spPr bwMode="auto">
          <a:xfrm>
            <a:off x="5159573" y="3716338"/>
            <a:ext cx="1657350" cy="863600"/>
          </a:xfrm>
          <a:prstGeom prst="line">
            <a:avLst/>
          </a:prstGeom>
          <a:noFill/>
          <a:ln w="28575" cap="sq">
            <a:solidFill>
              <a:srgbClr val="006666"/>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25" name="Text Box 20"/>
          <p:cNvSpPr txBox="1">
            <a:spLocks noChangeArrowheads="1"/>
          </p:cNvSpPr>
          <p:nvPr/>
        </p:nvSpPr>
        <p:spPr bwMode="auto">
          <a:xfrm>
            <a:off x="5448746" y="5326609"/>
            <a:ext cx="576262"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kumimoji="1" sz="2800">
                <a:solidFill>
                  <a:schemeClr val="tx1"/>
                </a:solidFill>
                <a:latin typeface="Comic Sans MS" pitchFamily="66" charset="0"/>
                <a:ea typeface="宋体" pitchFamily="2" charset="-122"/>
              </a:defRPr>
            </a:lvl1pPr>
            <a:lvl2pPr marL="742950" indent="-285750" eaLnBrk="0" hangingPunct="0">
              <a:defRPr kumimoji="1" sz="2800">
                <a:solidFill>
                  <a:schemeClr val="tx1"/>
                </a:solidFill>
                <a:latin typeface="Comic Sans MS" pitchFamily="66" charset="0"/>
                <a:ea typeface="宋体" pitchFamily="2" charset="-122"/>
              </a:defRPr>
            </a:lvl2pPr>
            <a:lvl3pPr marL="1143000" indent="-228600" eaLnBrk="0" hangingPunct="0">
              <a:defRPr kumimoji="1" sz="2800">
                <a:solidFill>
                  <a:schemeClr val="tx1"/>
                </a:solidFill>
                <a:latin typeface="Comic Sans MS" pitchFamily="66" charset="0"/>
                <a:ea typeface="宋体" pitchFamily="2" charset="-122"/>
              </a:defRPr>
            </a:lvl3pPr>
            <a:lvl4pPr marL="1600200" indent="-228600" eaLnBrk="0" hangingPunct="0">
              <a:defRPr kumimoji="1" sz="2800">
                <a:solidFill>
                  <a:schemeClr val="tx1"/>
                </a:solidFill>
                <a:latin typeface="Comic Sans MS" pitchFamily="66" charset="0"/>
                <a:ea typeface="宋体" pitchFamily="2" charset="-122"/>
              </a:defRPr>
            </a:lvl4pPr>
            <a:lvl5pPr marL="2057400" indent="-228600" eaLnBrk="0" hangingPunct="0">
              <a:defRPr kumimoji="1" sz="2800">
                <a:solidFill>
                  <a:schemeClr val="tx1"/>
                </a:solidFill>
                <a:latin typeface="Comic Sans MS" pitchFamily="66" charset="0"/>
                <a:ea typeface="宋体" pitchFamily="2" charset="-122"/>
              </a:defRPr>
            </a:lvl5pPr>
            <a:lvl6pPr marL="25146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6pPr>
            <a:lvl7pPr marL="29718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7pPr>
            <a:lvl8pPr marL="34290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8pPr>
            <a:lvl9pPr marL="38862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9pPr>
          </a:lstStyle>
          <a:p>
            <a:pPr eaLnBrk="1" hangingPunct="1">
              <a:spcBef>
                <a:spcPct val="50000"/>
              </a:spcBef>
            </a:pPr>
            <a:r>
              <a:rPr lang="en-US" altLang="zh-CN" sz="3200"/>
              <a:t>v</a:t>
            </a:r>
            <a:r>
              <a:rPr lang="en-US" altLang="zh-CN" sz="3200" baseline="-25000"/>
              <a:t>1</a:t>
            </a:r>
          </a:p>
        </p:txBody>
      </p:sp>
      <p:sp>
        <p:nvSpPr>
          <p:cNvPr id="26" name="Text Box 21"/>
          <p:cNvSpPr txBox="1">
            <a:spLocks noChangeArrowheads="1"/>
          </p:cNvSpPr>
          <p:nvPr/>
        </p:nvSpPr>
        <p:spPr bwMode="auto">
          <a:xfrm>
            <a:off x="6096446" y="5326609"/>
            <a:ext cx="576262"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kumimoji="1" sz="2800">
                <a:solidFill>
                  <a:schemeClr val="tx1"/>
                </a:solidFill>
                <a:latin typeface="Comic Sans MS" pitchFamily="66" charset="0"/>
                <a:ea typeface="宋体" pitchFamily="2" charset="-122"/>
              </a:defRPr>
            </a:lvl1pPr>
            <a:lvl2pPr marL="742950" indent="-285750" eaLnBrk="0" hangingPunct="0">
              <a:defRPr kumimoji="1" sz="2800">
                <a:solidFill>
                  <a:schemeClr val="tx1"/>
                </a:solidFill>
                <a:latin typeface="Comic Sans MS" pitchFamily="66" charset="0"/>
                <a:ea typeface="宋体" pitchFamily="2" charset="-122"/>
              </a:defRPr>
            </a:lvl2pPr>
            <a:lvl3pPr marL="1143000" indent="-228600" eaLnBrk="0" hangingPunct="0">
              <a:defRPr kumimoji="1" sz="2800">
                <a:solidFill>
                  <a:schemeClr val="tx1"/>
                </a:solidFill>
                <a:latin typeface="Comic Sans MS" pitchFamily="66" charset="0"/>
                <a:ea typeface="宋体" pitchFamily="2" charset="-122"/>
              </a:defRPr>
            </a:lvl3pPr>
            <a:lvl4pPr marL="1600200" indent="-228600" eaLnBrk="0" hangingPunct="0">
              <a:defRPr kumimoji="1" sz="2800">
                <a:solidFill>
                  <a:schemeClr val="tx1"/>
                </a:solidFill>
                <a:latin typeface="Comic Sans MS" pitchFamily="66" charset="0"/>
                <a:ea typeface="宋体" pitchFamily="2" charset="-122"/>
              </a:defRPr>
            </a:lvl4pPr>
            <a:lvl5pPr marL="2057400" indent="-228600" eaLnBrk="0" hangingPunct="0">
              <a:defRPr kumimoji="1" sz="2800">
                <a:solidFill>
                  <a:schemeClr val="tx1"/>
                </a:solidFill>
                <a:latin typeface="Comic Sans MS" pitchFamily="66" charset="0"/>
                <a:ea typeface="宋体" pitchFamily="2" charset="-122"/>
              </a:defRPr>
            </a:lvl5pPr>
            <a:lvl6pPr marL="25146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6pPr>
            <a:lvl7pPr marL="29718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7pPr>
            <a:lvl8pPr marL="34290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8pPr>
            <a:lvl9pPr marL="38862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9pPr>
          </a:lstStyle>
          <a:p>
            <a:pPr eaLnBrk="1" hangingPunct="1">
              <a:spcBef>
                <a:spcPct val="50000"/>
              </a:spcBef>
            </a:pPr>
            <a:r>
              <a:rPr lang="en-US" altLang="zh-CN" sz="3200"/>
              <a:t>v</a:t>
            </a:r>
            <a:r>
              <a:rPr lang="en-US" altLang="zh-CN" sz="3200" baseline="-25000"/>
              <a:t>2</a:t>
            </a:r>
          </a:p>
        </p:txBody>
      </p:sp>
      <p:sp>
        <p:nvSpPr>
          <p:cNvPr id="27" name="Text Box 22"/>
          <p:cNvSpPr txBox="1">
            <a:spLocks noChangeArrowheads="1"/>
          </p:cNvSpPr>
          <p:nvPr/>
        </p:nvSpPr>
        <p:spPr bwMode="auto">
          <a:xfrm>
            <a:off x="6672709" y="5326609"/>
            <a:ext cx="576263"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kumimoji="1" sz="2800">
                <a:solidFill>
                  <a:schemeClr val="tx1"/>
                </a:solidFill>
                <a:latin typeface="Comic Sans MS" pitchFamily="66" charset="0"/>
                <a:ea typeface="宋体" pitchFamily="2" charset="-122"/>
              </a:defRPr>
            </a:lvl1pPr>
            <a:lvl2pPr marL="742950" indent="-285750" eaLnBrk="0" hangingPunct="0">
              <a:defRPr kumimoji="1" sz="2800">
                <a:solidFill>
                  <a:schemeClr val="tx1"/>
                </a:solidFill>
                <a:latin typeface="Comic Sans MS" pitchFamily="66" charset="0"/>
                <a:ea typeface="宋体" pitchFamily="2" charset="-122"/>
              </a:defRPr>
            </a:lvl2pPr>
            <a:lvl3pPr marL="1143000" indent="-228600" eaLnBrk="0" hangingPunct="0">
              <a:defRPr kumimoji="1" sz="2800">
                <a:solidFill>
                  <a:schemeClr val="tx1"/>
                </a:solidFill>
                <a:latin typeface="Comic Sans MS" pitchFamily="66" charset="0"/>
                <a:ea typeface="宋体" pitchFamily="2" charset="-122"/>
              </a:defRPr>
            </a:lvl3pPr>
            <a:lvl4pPr marL="1600200" indent="-228600" eaLnBrk="0" hangingPunct="0">
              <a:defRPr kumimoji="1" sz="2800">
                <a:solidFill>
                  <a:schemeClr val="tx1"/>
                </a:solidFill>
                <a:latin typeface="Comic Sans MS" pitchFamily="66" charset="0"/>
                <a:ea typeface="宋体" pitchFamily="2" charset="-122"/>
              </a:defRPr>
            </a:lvl4pPr>
            <a:lvl5pPr marL="2057400" indent="-228600" eaLnBrk="0" hangingPunct="0">
              <a:defRPr kumimoji="1" sz="2800">
                <a:solidFill>
                  <a:schemeClr val="tx1"/>
                </a:solidFill>
                <a:latin typeface="Comic Sans MS" pitchFamily="66" charset="0"/>
                <a:ea typeface="宋体" pitchFamily="2" charset="-122"/>
              </a:defRPr>
            </a:lvl5pPr>
            <a:lvl6pPr marL="25146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6pPr>
            <a:lvl7pPr marL="29718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7pPr>
            <a:lvl8pPr marL="34290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8pPr>
            <a:lvl9pPr marL="38862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9pPr>
          </a:lstStyle>
          <a:p>
            <a:pPr eaLnBrk="1" hangingPunct="1">
              <a:spcBef>
                <a:spcPct val="50000"/>
              </a:spcBef>
            </a:pPr>
            <a:r>
              <a:rPr lang="en-US" altLang="zh-CN" sz="3200"/>
              <a:t>v</a:t>
            </a:r>
            <a:r>
              <a:rPr lang="en-US" altLang="zh-CN" sz="3200" baseline="-25000"/>
              <a:t>3</a:t>
            </a:r>
          </a:p>
        </p:txBody>
      </p:sp>
      <p:sp>
        <p:nvSpPr>
          <p:cNvPr id="28" name="Text Box 23"/>
          <p:cNvSpPr txBox="1">
            <a:spLocks noChangeArrowheads="1"/>
          </p:cNvSpPr>
          <p:nvPr/>
        </p:nvSpPr>
        <p:spPr bwMode="auto">
          <a:xfrm>
            <a:off x="7968109" y="5301209"/>
            <a:ext cx="576263"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kumimoji="1" sz="2800">
                <a:solidFill>
                  <a:schemeClr val="tx1"/>
                </a:solidFill>
                <a:latin typeface="Comic Sans MS" pitchFamily="66" charset="0"/>
                <a:ea typeface="宋体" pitchFamily="2" charset="-122"/>
              </a:defRPr>
            </a:lvl1pPr>
            <a:lvl2pPr marL="742950" indent="-285750" eaLnBrk="0" hangingPunct="0">
              <a:defRPr kumimoji="1" sz="2800">
                <a:solidFill>
                  <a:schemeClr val="tx1"/>
                </a:solidFill>
                <a:latin typeface="Comic Sans MS" pitchFamily="66" charset="0"/>
                <a:ea typeface="宋体" pitchFamily="2" charset="-122"/>
              </a:defRPr>
            </a:lvl2pPr>
            <a:lvl3pPr marL="1143000" indent="-228600" eaLnBrk="0" hangingPunct="0">
              <a:defRPr kumimoji="1" sz="2800">
                <a:solidFill>
                  <a:schemeClr val="tx1"/>
                </a:solidFill>
                <a:latin typeface="Comic Sans MS" pitchFamily="66" charset="0"/>
                <a:ea typeface="宋体" pitchFamily="2" charset="-122"/>
              </a:defRPr>
            </a:lvl3pPr>
            <a:lvl4pPr marL="1600200" indent="-228600" eaLnBrk="0" hangingPunct="0">
              <a:defRPr kumimoji="1" sz="2800">
                <a:solidFill>
                  <a:schemeClr val="tx1"/>
                </a:solidFill>
                <a:latin typeface="Comic Sans MS" pitchFamily="66" charset="0"/>
                <a:ea typeface="宋体" pitchFamily="2" charset="-122"/>
              </a:defRPr>
            </a:lvl4pPr>
            <a:lvl5pPr marL="2057400" indent="-228600" eaLnBrk="0" hangingPunct="0">
              <a:defRPr kumimoji="1" sz="2800">
                <a:solidFill>
                  <a:schemeClr val="tx1"/>
                </a:solidFill>
                <a:latin typeface="Comic Sans MS" pitchFamily="66" charset="0"/>
                <a:ea typeface="宋体" pitchFamily="2" charset="-122"/>
              </a:defRPr>
            </a:lvl5pPr>
            <a:lvl6pPr marL="25146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6pPr>
            <a:lvl7pPr marL="29718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7pPr>
            <a:lvl8pPr marL="34290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8pPr>
            <a:lvl9pPr marL="38862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9pPr>
          </a:lstStyle>
          <a:p>
            <a:pPr eaLnBrk="1" hangingPunct="1">
              <a:spcBef>
                <a:spcPct val="50000"/>
              </a:spcBef>
            </a:pPr>
            <a:r>
              <a:rPr lang="en-US" altLang="zh-CN" sz="3200"/>
              <a:t>v</a:t>
            </a:r>
            <a:r>
              <a:rPr lang="en-US" altLang="zh-CN" sz="3200" baseline="-25000"/>
              <a:t>5</a:t>
            </a:r>
          </a:p>
        </p:txBody>
      </p:sp>
      <p:sp>
        <p:nvSpPr>
          <p:cNvPr id="29" name="Text Box 24"/>
          <p:cNvSpPr txBox="1">
            <a:spLocks noChangeArrowheads="1"/>
          </p:cNvSpPr>
          <p:nvPr/>
        </p:nvSpPr>
        <p:spPr bwMode="auto">
          <a:xfrm>
            <a:off x="7320409" y="5326609"/>
            <a:ext cx="576263"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kumimoji="1" sz="2800">
                <a:solidFill>
                  <a:schemeClr val="tx1"/>
                </a:solidFill>
                <a:latin typeface="Comic Sans MS" pitchFamily="66" charset="0"/>
                <a:ea typeface="宋体" pitchFamily="2" charset="-122"/>
              </a:defRPr>
            </a:lvl1pPr>
            <a:lvl2pPr marL="742950" indent="-285750" eaLnBrk="0" hangingPunct="0">
              <a:defRPr kumimoji="1" sz="2800">
                <a:solidFill>
                  <a:schemeClr val="tx1"/>
                </a:solidFill>
                <a:latin typeface="Comic Sans MS" pitchFamily="66" charset="0"/>
                <a:ea typeface="宋体" pitchFamily="2" charset="-122"/>
              </a:defRPr>
            </a:lvl2pPr>
            <a:lvl3pPr marL="1143000" indent="-228600" eaLnBrk="0" hangingPunct="0">
              <a:defRPr kumimoji="1" sz="2800">
                <a:solidFill>
                  <a:schemeClr val="tx1"/>
                </a:solidFill>
                <a:latin typeface="Comic Sans MS" pitchFamily="66" charset="0"/>
                <a:ea typeface="宋体" pitchFamily="2" charset="-122"/>
              </a:defRPr>
            </a:lvl3pPr>
            <a:lvl4pPr marL="1600200" indent="-228600" eaLnBrk="0" hangingPunct="0">
              <a:defRPr kumimoji="1" sz="2800">
                <a:solidFill>
                  <a:schemeClr val="tx1"/>
                </a:solidFill>
                <a:latin typeface="Comic Sans MS" pitchFamily="66" charset="0"/>
                <a:ea typeface="宋体" pitchFamily="2" charset="-122"/>
              </a:defRPr>
            </a:lvl4pPr>
            <a:lvl5pPr marL="2057400" indent="-228600" eaLnBrk="0" hangingPunct="0">
              <a:defRPr kumimoji="1" sz="2800">
                <a:solidFill>
                  <a:schemeClr val="tx1"/>
                </a:solidFill>
                <a:latin typeface="Comic Sans MS" pitchFamily="66" charset="0"/>
                <a:ea typeface="宋体" pitchFamily="2" charset="-122"/>
              </a:defRPr>
            </a:lvl5pPr>
            <a:lvl6pPr marL="25146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6pPr>
            <a:lvl7pPr marL="29718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7pPr>
            <a:lvl8pPr marL="34290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8pPr>
            <a:lvl9pPr marL="38862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9pPr>
          </a:lstStyle>
          <a:p>
            <a:pPr eaLnBrk="1" hangingPunct="1">
              <a:spcBef>
                <a:spcPct val="50000"/>
              </a:spcBef>
            </a:pPr>
            <a:r>
              <a:rPr lang="en-US" altLang="zh-CN" sz="3200"/>
              <a:t>v</a:t>
            </a:r>
            <a:r>
              <a:rPr lang="en-US" altLang="zh-CN" sz="3200" baseline="-25000"/>
              <a:t>4</a:t>
            </a:r>
          </a:p>
        </p:txBody>
      </p:sp>
      <p:sp>
        <p:nvSpPr>
          <p:cNvPr id="30" name="Text Box 25"/>
          <p:cNvSpPr txBox="1">
            <a:spLocks noChangeArrowheads="1"/>
          </p:cNvSpPr>
          <p:nvPr/>
        </p:nvSpPr>
        <p:spPr bwMode="auto">
          <a:xfrm>
            <a:off x="8617396" y="5326609"/>
            <a:ext cx="576262"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kumimoji="1" sz="2800">
                <a:solidFill>
                  <a:schemeClr val="tx1"/>
                </a:solidFill>
                <a:latin typeface="Comic Sans MS" pitchFamily="66" charset="0"/>
                <a:ea typeface="宋体" pitchFamily="2" charset="-122"/>
              </a:defRPr>
            </a:lvl1pPr>
            <a:lvl2pPr marL="742950" indent="-285750" eaLnBrk="0" hangingPunct="0">
              <a:defRPr kumimoji="1" sz="2800">
                <a:solidFill>
                  <a:schemeClr val="tx1"/>
                </a:solidFill>
                <a:latin typeface="Comic Sans MS" pitchFamily="66" charset="0"/>
                <a:ea typeface="宋体" pitchFamily="2" charset="-122"/>
              </a:defRPr>
            </a:lvl2pPr>
            <a:lvl3pPr marL="1143000" indent="-228600" eaLnBrk="0" hangingPunct="0">
              <a:defRPr kumimoji="1" sz="2800">
                <a:solidFill>
                  <a:schemeClr val="tx1"/>
                </a:solidFill>
                <a:latin typeface="Comic Sans MS" pitchFamily="66" charset="0"/>
                <a:ea typeface="宋体" pitchFamily="2" charset="-122"/>
              </a:defRPr>
            </a:lvl3pPr>
            <a:lvl4pPr marL="1600200" indent="-228600" eaLnBrk="0" hangingPunct="0">
              <a:defRPr kumimoji="1" sz="2800">
                <a:solidFill>
                  <a:schemeClr val="tx1"/>
                </a:solidFill>
                <a:latin typeface="Comic Sans MS" pitchFamily="66" charset="0"/>
                <a:ea typeface="宋体" pitchFamily="2" charset="-122"/>
              </a:defRPr>
            </a:lvl4pPr>
            <a:lvl5pPr marL="2057400" indent="-228600" eaLnBrk="0" hangingPunct="0">
              <a:defRPr kumimoji="1" sz="2800">
                <a:solidFill>
                  <a:schemeClr val="tx1"/>
                </a:solidFill>
                <a:latin typeface="Comic Sans MS" pitchFamily="66" charset="0"/>
                <a:ea typeface="宋体" pitchFamily="2" charset="-122"/>
              </a:defRPr>
            </a:lvl5pPr>
            <a:lvl6pPr marL="25146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6pPr>
            <a:lvl7pPr marL="29718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7pPr>
            <a:lvl8pPr marL="34290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8pPr>
            <a:lvl9pPr marL="38862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9pPr>
          </a:lstStyle>
          <a:p>
            <a:pPr eaLnBrk="1" hangingPunct="1">
              <a:spcBef>
                <a:spcPct val="50000"/>
              </a:spcBef>
            </a:pPr>
            <a:r>
              <a:rPr lang="en-US" altLang="zh-CN" sz="3200"/>
              <a:t>v</a:t>
            </a:r>
            <a:r>
              <a:rPr lang="en-US" altLang="zh-CN" sz="3200" baseline="-25000"/>
              <a:t>6</a:t>
            </a:r>
          </a:p>
        </p:txBody>
      </p:sp>
      <p:sp>
        <p:nvSpPr>
          <p:cNvPr id="31" name="Text Box 26"/>
          <p:cNvSpPr txBox="1">
            <a:spLocks noChangeArrowheads="1"/>
          </p:cNvSpPr>
          <p:nvPr/>
        </p:nvSpPr>
        <p:spPr bwMode="auto">
          <a:xfrm>
            <a:off x="9984234" y="5301209"/>
            <a:ext cx="576263"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kumimoji="1" sz="2800">
                <a:solidFill>
                  <a:schemeClr val="tx1"/>
                </a:solidFill>
                <a:latin typeface="Comic Sans MS" pitchFamily="66" charset="0"/>
                <a:ea typeface="宋体" pitchFamily="2" charset="-122"/>
              </a:defRPr>
            </a:lvl1pPr>
            <a:lvl2pPr marL="742950" indent="-285750" eaLnBrk="0" hangingPunct="0">
              <a:defRPr kumimoji="1" sz="2800">
                <a:solidFill>
                  <a:schemeClr val="tx1"/>
                </a:solidFill>
                <a:latin typeface="Comic Sans MS" pitchFamily="66" charset="0"/>
                <a:ea typeface="宋体" pitchFamily="2" charset="-122"/>
              </a:defRPr>
            </a:lvl2pPr>
            <a:lvl3pPr marL="1143000" indent="-228600" eaLnBrk="0" hangingPunct="0">
              <a:defRPr kumimoji="1" sz="2800">
                <a:solidFill>
                  <a:schemeClr val="tx1"/>
                </a:solidFill>
                <a:latin typeface="Comic Sans MS" pitchFamily="66" charset="0"/>
                <a:ea typeface="宋体" pitchFamily="2" charset="-122"/>
              </a:defRPr>
            </a:lvl3pPr>
            <a:lvl4pPr marL="1600200" indent="-228600" eaLnBrk="0" hangingPunct="0">
              <a:defRPr kumimoji="1" sz="2800">
                <a:solidFill>
                  <a:schemeClr val="tx1"/>
                </a:solidFill>
                <a:latin typeface="Comic Sans MS" pitchFamily="66" charset="0"/>
                <a:ea typeface="宋体" pitchFamily="2" charset="-122"/>
              </a:defRPr>
            </a:lvl4pPr>
            <a:lvl5pPr marL="2057400" indent="-228600" eaLnBrk="0" hangingPunct="0">
              <a:defRPr kumimoji="1" sz="2800">
                <a:solidFill>
                  <a:schemeClr val="tx1"/>
                </a:solidFill>
                <a:latin typeface="Comic Sans MS" pitchFamily="66" charset="0"/>
                <a:ea typeface="宋体" pitchFamily="2" charset="-122"/>
              </a:defRPr>
            </a:lvl5pPr>
            <a:lvl6pPr marL="25146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6pPr>
            <a:lvl7pPr marL="29718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7pPr>
            <a:lvl8pPr marL="34290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8pPr>
            <a:lvl9pPr marL="38862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9pPr>
          </a:lstStyle>
          <a:p>
            <a:pPr eaLnBrk="1" hangingPunct="1">
              <a:spcBef>
                <a:spcPct val="50000"/>
              </a:spcBef>
            </a:pPr>
            <a:r>
              <a:rPr lang="en-US" altLang="zh-CN" sz="3200"/>
              <a:t>v</a:t>
            </a:r>
            <a:r>
              <a:rPr lang="en-US" altLang="zh-CN" sz="3200" baseline="-25000"/>
              <a:t>8</a:t>
            </a:r>
          </a:p>
        </p:txBody>
      </p:sp>
      <p:sp>
        <p:nvSpPr>
          <p:cNvPr id="32" name="Text Box 27"/>
          <p:cNvSpPr txBox="1">
            <a:spLocks noChangeArrowheads="1"/>
          </p:cNvSpPr>
          <p:nvPr/>
        </p:nvSpPr>
        <p:spPr bwMode="auto">
          <a:xfrm>
            <a:off x="9336534" y="5301209"/>
            <a:ext cx="576263"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kumimoji="1" sz="2800">
                <a:solidFill>
                  <a:schemeClr val="tx1"/>
                </a:solidFill>
                <a:latin typeface="Comic Sans MS" pitchFamily="66" charset="0"/>
                <a:ea typeface="宋体" pitchFamily="2" charset="-122"/>
              </a:defRPr>
            </a:lvl1pPr>
            <a:lvl2pPr marL="742950" indent="-285750" eaLnBrk="0" hangingPunct="0">
              <a:defRPr kumimoji="1" sz="2800">
                <a:solidFill>
                  <a:schemeClr val="tx1"/>
                </a:solidFill>
                <a:latin typeface="Comic Sans MS" pitchFamily="66" charset="0"/>
                <a:ea typeface="宋体" pitchFamily="2" charset="-122"/>
              </a:defRPr>
            </a:lvl2pPr>
            <a:lvl3pPr marL="1143000" indent="-228600" eaLnBrk="0" hangingPunct="0">
              <a:defRPr kumimoji="1" sz="2800">
                <a:solidFill>
                  <a:schemeClr val="tx1"/>
                </a:solidFill>
                <a:latin typeface="Comic Sans MS" pitchFamily="66" charset="0"/>
                <a:ea typeface="宋体" pitchFamily="2" charset="-122"/>
              </a:defRPr>
            </a:lvl3pPr>
            <a:lvl4pPr marL="1600200" indent="-228600" eaLnBrk="0" hangingPunct="0">
              <a:defRPr kumimoji="1" sz="2800">
                <a:solidFill>
                  <a:schemeClr val="tx1"/>
                </a:solidFill>
                <a:latin typeface="Comic Sans MS" pitchFamily="66" charset="0"/>
                <a:ea typeface="宋体" pitchFamily="2" charset="-122"/>
              </a:defRPr>
            </a:lvl4pPr>
            <a:lvl5pPr marL="2057400" indent="-228600" eaLnBrk="0" hangingPunct="0">
              <a:defRPr kumimoji="1" sz="2800">
                <a:solidFill>
                  <a:schemeClr val="tx1"/>
                </a:solidFill>
                <a:latin typeface="Comic Sans MS" pitchFamily="66" charset="0"/>
                <a:ea typeface="宋体" pitchFamily="2" charset="-122"/>
              </a:defRPr>
            </a:lvl5pPr>
            <a:lvl6pPr marL="25146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6pPr>
            <a:lvl7pPr marL="29718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7pPr>
            <a:lvl8pPr marL="34290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8pPr>
            <a:lvl9pPr marL="38862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9pPr>
          </a:lstStyle>
          <a:p>
            <a:pPr eaLnBrk="1" hangingPunct="1">
              <a:spcBef>
                <a:spcPct val="50000"/>
              </a:spcBef>
            </a:pPr>
            <a:r>
              <a:rPr lang="en-US" altLang="zh-CN" sz="3200"/>
              <a:t>v</a:t>
            </a:r>
            <a:r>
              <a:rPr lang="en-US" altLang="zh-CN" sz="3200" baseline="-25000"/>
              <a:t>7</a:t>
            </a:r>
          </a:p>
        </p:txBody>
      </p:sp>
      <p:sp>
        <p:nvSpPr>
          <p:cNvPr id="33" name="Text Box 28"/>
          <p:cNvSpPr txBox="1">
            <a:spLocks noChangeArrowheads="1"/>
          </p:cNvSpPr>
          <p:nvPr/>
        </p:nvSpPr>
        <p:spPr bwMode="auto">
          <a:xfrm>
            <a:off x="1919537" y="5473218"/>
            <a:ext cx="345598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spAutoFit/>
          </a:bodyPr>
          <a:lstStyle>
            <a:lvl1pPr eaLnBrk="0" hangingPunct="0">
              <a:defRPr kumimoji="1" sz="2800">
                <a:solidFill>
                  <a:schemeClr val="tx1"/>
                </a:solidFill>
                <a:latin typeface="Comic Sans MS" pitchFamily="66" charset="0"/>
                <a:ea typeface="宋体" pitchFamily="2" charset="-122"/>
              </a:defRPr>
            </a:lvl1pPr>
            <a:lvl2pPr marL="742950" indent="-285750" eaLnBrk="0" hangingPunct="0">
              <a:defRPr kumimoji="1" sz="2800">
                <a:solidFill>
                  <a:schemeClr val="tx1"/>
                </a:solidFill>
                <a:latin typeface="Comic Sans MS" pitchFamily="66" charset="0"/>
                <a:ea typeface="宋体" pitchFamily="2" charset="-122"/>
              </a:defRPr>
            </a:lvl2pPr>
            <a:lvl3pPr marL="1143000" indent="-228600" eaLnBrk="0" hangingPunct="0">
              <a:defRPr kumimoji="1" sz="2800">
                <a:solidFill>
                  <a:schemeClr val="tx1"/>
                </a:solidFill>
                <a:latin typeface="Comic Sans MS" pitchFamily="66" charset="0"/>
                <a:ea typeface="宋体" pitchFamily="2" charset="-122"/>
              </a:defRPr>
            </a:lvl3pPr>
            <a:lvl4pPr marL="1600200" indent="-228600" eaLnBrk="0" hangingPunct="0">
              <a:defRPr kumimoji="1" sz="2800">
                <a:solidFill>
                  <a:schemeClr val="tx1"/>
                </a:solidFill>
                <a:latin typeface="Comic Sans MS" pitchFamily="66" charset="0"/>
                <a:ea typeface="宋体" pitchFamily="2" charset="-122"/>
              </a:defRPr>
            </a:lvl4pPr>
            <a:lvl5pPr marL="2057400" indent="-228600" eaLnBrk="0" hangingPunct="0">
              <a:defRPr kumimoji="1" sz="2800">
                <a:solidFill>
                  <a:schemeClr val="tx1"/>
                </a:solidFill>
                <a:latin typeface="Comic Sans MS" pitchFamily="66" charset="0"/>
                <a:ea typeface="宋体" pitchFamily="2" charset="-122"/>
              </a:defRPr>
            </a:lvl5pPr>
            <a:lvl6pPr marL="25146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6pPr>
            <a:lvl7pPr marL="29718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7pPr>
            <a:lvl8pPr marL="34290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8pPr>
            <a:lvl9pPr marL="38862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9pPr>
          </a:lstStyle>
          <a:p>
            <a:pPr eaLnBrk="1" hangingPunct="1">
              <a:spcBef>
                <a:spcPct val="50000"/>
              </a:spcBef>
            </a:pPr>
            <a:r>
              <a:rPr lang="zh-CN" altLang="en-US" sz="2000" dirty="0">
                <a:latin typeface="微软雅黑" pitchFamily="34" charset="-122"/>
                <a:ea typeface="微软雅黑" pitchFamily="34" charset="-122"/>
                <a:cs typeface="经典粗黑简" pitchFamily="49" charset="-122"/>
              </a:rPr>
              <a:t>广度优先遍历序列或</a:t>
            </a:r>
            <a:r>
              <a:rPr lang="en-US" altLang="zh-CN" sz="2000" dirty="0">
                <a:latin typeface="微软雅黑" pitchFamily="34" charset="-122"/>
                <a:ea typeface="微软雅黑" pitchFamily="34" charset="-122"/>
                <a:cs typeface="经典粗黑简" pitchFamily="49" charset="-122"/>
              </a:rPr>
              <a:t>BFS</a:t>
            </a:r>
            <a:r>
              <a:rPr lang="zh-CN" altLang="en-US" sz="2000" dirty="0">
                <a:latin typeface="微软雅黑" pitchFamily="34" charset="-122"/>
                <a:ea typeface="微软雅黑" pitchFamily="34" charset="-122"/>
                <a:cs typeface="经典粗黑简" pitchFamily="49" charset="-122"/>
              </a:rPr>
              <a:t>序列</a:t>
            </a:r>
          </a:p>
        </p:txBody>
      </p:sp>
      <p:sp>
        <p:nvSpPr>
          <p:cNvPr id="2" name="Rectangle 2">
            <a:extLst>
              <a:ext uri="{FF2B5EF4-FFF2-40B4-BE49-F238E27FC236}">
                <a16:creationId xmlns:a16="http://schemas.microsoft.com/office/drawing/2014/main" id="{A421058E-8C7C-614B-1796-F68FFDEF0E62}"/>
              </a:ext>
            </a:extLst>
          </p:cNvPr>
          <p:cNvSpPr txBox="1">
            <a:spLocks noChangeArrowheads="1"/>
          </p:cNvSpPr>
          <p:nvPr/>
        </p:nvSpPr>
        <p:spPr>
          <a:xfrm>
            <a:off x="474772" y="1230902"/>
            <a:ext cx="4253076"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8.3.3 </a:t>
            </a:r>
            <a:r>
              <a:rPr kumimoji="1" lang="zh-CN" altLang="en-US" dirty="0">
                <a:latin typeface="微软雅黑" pitchFamily="34" charset="-122"/>
                <a:ea typeface="微软雅黑" pitchFamily="34" charset="-122"/>
              </a:rPr>
              <a:t>广度优先遍历算法</a:t>
            </a:r>
            <a:endParaRPr lang="zh-CN" altLang="en-US" dirty="0"/>
          </a:p>
        </p:txBody>
      </p:sp>
      <p:sp>
        <p:nvSpPr>
          <p:cNvPr id="3" name="矩形 2">
            <a:extLst>
              <a:ext uri="{FF2B5EF4-FFF2-40B4-BE49-F238E27FC236}">
                <a16:creationId xmlns:a16="http://schemas.microsoft.com/office/drawing/2014/main" id="{94D9B223-67F4-1840-B74A-323DAE6AEB8E}"/>
              </a:ext>
            </a:extLst>
          </p:cNvPr>
          <p:cNvSpPr/>
          <p:nvPr/>
        </p:nvSpPr>
        <p:spPr>
          <a:xfrm>
            <a:off x="3200907" y="399148"/>
            <a:ext cx="4617860"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8.3 </a:t>
            </a:r>
            <a:r>
              <a:rPr lang="zh-CN" altLang="en-US" sz="3000" b="1" dirty="0">
                <a:latin typeface="黑体" pitchFamily="49" charset="-122"/>
                <a:ea typeface="黑体" pitchFamily="49" charset="-122"/>
                <a:cs typeface="经典粗黑简" pitchFamily="49" charset="-122"/>
              </a:rPr>
              <a:t>图的遍历</a:t>
            </a:r>
          </a:p>
        </p:txBody>
      </p:sp>
      <p:cxnSp>
        <p:nvCxnSpPr>
          <p:cNvPr id="4" name="直接连接符 3">
            <a:extLst>
              <a:ext uri="{FF2B5EF4-FFF2-40B4-BE49-F238E27FC236}">
                <a16:creationId xmlns:a16="http://schemas.microsoft.com/office/drawing/2014/main" id="{87E4FD43-173A-B522-9D04-B8ABD83B83E9}"/>
              </a:ext>
            </a:extLst>
          </p:cNvPr>
          <p:cNvCxnSpPr>
            <a:cxnSpLocks/>
          </p:cNvCxnSpPr>
          <p:nvPr/>
        </p:nvCxnSpPr>
        <p:spPr>
          <a:xfrm>
            <a:off x="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002648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mph" presetSubtype="2" fill="hold" nodeType="clickEffect">
                                  <p:stCondLst>
                                    <p:cond delay="0"/>
                                  </p:stCondLst>
                                  <p:childTnLst>
                                    <p:animClr clrSpc="rgb" dir="cw">
                                      <p:cBhvr>
                                        <p:cTn id="10" dur="2000" fill="hold"/>
                                        <p:tgtEl>
                                          <p:spTgt spid="13"/>
                                        </p:tgtEl>
                                        <p:attrNameLst>
                                          <p:attrName>fillcolor</p:attrName>
                                        </p:attrNameLst>
                                      </p:cBhvr>
                                      <p:to>
                                        <a:srgbClr val="DE580E"/>
                                      </p:to>
                                    </p:animClr>
                                    <p:set>
                                      <p:cBhvr>
                                        <p:cTn id="11" dur="2000" fill="hold"/>
                                        <p:tgtEl>
                                          <p:spTgt spid="13"/>
                                        </p:tgtEl>
                                        <p:attrNameLst>
                                          <p:attrName>fill.type</p:attrName>
                                        </p:attrNameLst>
                                      </p:cBhvr>
                                      <p:to>
                                        <p:strVal val="solid"/>
                                      </p:to>
                                    </p:set>
                                    <p:set>
                                      <p:cBhvr>
                                        <p:cTn id="12" dur="2000" fill="hold"/>
                                        <p:tgtEl>
                                          <p:spTgt spid="13"/>
                                        </p:tgtEl>
                                        <p:attrNameLst>
                                          <p:attrName>fill.on</p:attrName>
                                        </p:attrNameLst>
                                      </p:cBhvr>
                                      <p:to>
                                        <p:strVal val="tru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mph" presetSubtype="2" fill="hold" nodeType="clickEffect">
                                  <p:stCondLst>
                                    <p:cond delay="0"/>
                                  </p:stCondLst>
                                  <p:childTnLst>
                                    <p:animClr clrSpc="rgb" dir="cw">
                                      <p:cBhvr>
                                        <p:cTn id="20" dur="2000" fill="hold"/>
                                        <p:tgtEl>
                                          <p:spTgt spid="11"/>
                                        </p:tgtEl>
                                        <p:attrNameLst>
                                          <p:attrName>fillcolor</p:attrName>
                                        </p:attrNameLst>
                                      </p:cBhvr>
                                      <p:to>
                                        <a:srgbClr val="DE580E"/>
                                      </p:to>
                                    </p:animClr>
                                    <p:set>
                                      <p:cBhvr>
                                        <p:cTn id="21" dur="2000" fill="hold"/>
                                        <p:tgtEl>
                                          <p:spTgt spid="11"/>
                                        </p:tgtEl>
                                        <p:attrNameLst>
                                          <p:attrName>fill.type</p:attrName>
                                        </p:attrNameLst>
                                      </p:cBhvr>
                                      <p:to>
                                        <p:strVal val="solid"/>
                                      </p:to>
                                    </p:set>
                                    <p:set>
                                      <p:cBhvr>
                                        <p:cTn id="22" dur="2000" fill="hold"/>
                                        <p:tgtEl>
                                          <p:spTgt spid="11"/>
                                        </p:tgtEl>
                                        <p:attrNameLst>
                                          <p:attrName>fill.on</p:attrName>
                                        </p:attrNameLst>
                                      </p:cBhvr>
                                      <p:to>
                                        <p:strVal val="tru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mph" presetSubtype="2" fill="hold" nodeType="clickEffect">
                                  <p:stCondLst>
                                    <p:cond delay="0"/>
                                  </p:stCondLst>
                                  <p:childTnLst>
                                    <p:animClr clrSpc="rgb" dir="cw">
                                      <p:cBhvr>
                                        <p:cTn id="30" dur="2000" fill="hold"/>
                                        <p:tgtEl>
                                          <p:spTgt spid="12"/>
                                        </p:tgtEl>
                                        <p:attrNameLst>
                                          <p:attrName>fillcolor</p:attrName>
                                        </p:attrNameLst>
                                      </p:cBhvr>
                                      <p:to>
                                        <a:srgbClr val="DE580E"/>
                                      </p:to>
                                    </p:animClr>
                                    <p:set>
                                      <p:cBhvr>
                                        <p:cTn id="31" dur="2000" fill="hold"/>
                                        <p:tgtEl>
                                          <p:spTgt spid="12"/>
                                        </p:tgtEl>
                                        <p:attrNameLst>
                                          <p:attrName>fill.type</p:attrName>
                                        </p:attrNameLst>
                                      </p:cBhvr>
                                      <p:to>
                                        <p:strVal val="solid"/>
                                      </p:to>
                                    </p:set>
                                    <p:set>
                                      <p:cBhvr>
                                        <p:cTn id="32" dur="2000" fill="hold"/>
                                        <p:tgtEl>
                                          <p:spTgt spid="12"/>
                                        </p:tgtEl>
                                        <p:attrNameLst>
                                          <p:attrName>fill.on</p:attrName>
                                        </p:attrNameLst>
                                      </p:cBhvr>
                                      <p:to>
                                        <p:strVal val="tru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7"/>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mph" presetSubtype="2" fill="hold" nodeType="clickEffect">
                                  <p:stCondLst>
                                    <p:cond delay="0"/>
                                  </p:stCondLst>
                                  <p:childTnLst>
                                    <p:animClr clrSpc="rgb" dir="cw">
                                      <p:cBhvr>
                                        <p:cTn id="40" dur="2000" fill="hold"/>
                                        <p:tgtEl>
                                          <p:spTgt spid="18"/>
                                        </p:tgtEl>
                                        <p:attrNameLst>
                                          <p:attrName>fillcolor</p:attrName>
                                        </p:attrNameLst>
                                      </p:cBhvr>
                                      <p:to>
                                        <a:srgbClr val="DE580E"/>
                                      </p:to>
                                    </p:animClr>
                                    <p:set>
                                      <p:cBhvr>
                                        <p:cTn id="41" dur="2000" fill="hold"/>
                                        <p:tgtEl>
                                          <p:spTgt spid="18"/>
                                        </p:tgtEl>
                                        <p:attrNameLst>
                                          <p:attrName>fill.type</p:attrName>
                                        </p:attrNameLst>
                                      </p:cBhvr>
                                      <p:to>
                                        <p:strVal val="solid"/>
                                      </p:to>
                                    </p:set>
                                    <p:set>
                                      <p:cBhvr>
                                        <p:cTn id="42" dur="2000" fill="hold"/>
                                        <p:tgtEl>
                                          <p:spTgt spid="18"/>
                                        </p:tgtEl>
                                        <p:attrNameLst>
                                          <p:attrName>fill.on</p:attrName>
                                        </p:attrNameLst>
                                      </p:cBhvr>
                                      <p:to>
                                        <p:strVal val="tru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9"/>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mph" presetSubtype="2" fill="hold" nodeType="clickEffect">
                                  <p:stCondLst>
                                    <p:cond delay="0"/>
                                  </p:stCondLst>
                                  <p:childTnLst>
                                    <p:animClr clrSpc="rgb" dir="cw">
                                      <p:cBhvr>
                                        <p:cTn id="50" dur="2000" fill="hold"/>
                                        <p:tgtEl>
                                          <p:spTgt spid="8"/>
                                        </p:tgtEl>
                                        <p:attrNameLst>
                                          <p:attrName>fillcolor</p:attrName>
                                        </p:attrNameLst>
                                      </p:cBhvr>
                                      <p:to>
                                        <a:srgbClr val="DE580E"/>
                                      </p:to>
                                    </p:animClr>
                                    <p:set>
                                      <p:cBhvr>
                                        <p:cTn id="51" dur="2000" fill="hold"/>
                                        <p:tgtEl>
                                          <p:spTgt spid="8"/>
                                        </p:tgtEl>
                                        <p:attrNameLst>
                                          <p:attrName>fill.type</p:attrName>
                                        </p:attrNameLst>
                                      </p:cBhvr>
                                      <p:to>
                                        <p:strVal val="solid"/>
                                      </p:to>
                                    </p:set>
                                    <p:set>
                                      <p:cBhvr>
                                        <p:cTn id="52" dur="2000" fill="hold"/>
                                        <p:tgtEl>
                                          <p:spTgt spid="8"/>
                                        </p:tgtEl>
                                        <p:attrNameLst>
                                          <p:attrName>fill.on</p:attrName>
                                        </p:attrNameLst>
                                      </p:cBhvr>
                                      <p:to>
                                        <p:strVal val="tru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28"/>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mph" presetSubtype="2" fill="hold" nodeType="clickEffect">
                                  <p:stCondLst>
                                    <p:cond delay="0"/>
                                  </p:stCondLst>
                                  <p:childTnLst>
                                    <p:animClr clrSpc="rgb" dir="cw">
                                      <p:cBhvr>
                                        <p:cTn id="60" dur="2000" fill="hold"/>
                                        <p:tgtEl>
                                          <p:spTgt spid="9"/>
                                        </p:tgtEl>
                                        <p:attrNameLst>
                                          <p:attrName>fillcolor</p:attrName>
                                        </p:attrNameLst>
                                      </p:cBhvr>
                                      <p:to>
                                        <a:srgbClr val="DE580E"/>
                                      </p:to>
                                    </p:animClr>
                                    <p:set>
                                      <p:cBhvr>
                                        <p:cTn id="61" dur="2000" fill="hold"/>
                                        <p:tgtEl>
                                          <p:spTgt spid="9"/>
                                        </p:tgtEl>
                                        <p:attrNameLst>
                                          <p:attrName>fill.type</p:attrName>
                                        </p:attrNameLst>
                                      </p:cBhvr>
                                      <p:to>
                                        <p:strVal val="solid"/>
                                      </p:to>
                                    </p:set>
                                    <p:set>
                                      <p:cBhvr>
                                        <p:cTn id="62" dur="2000" fill="hold"/>
                                        <p:tgtEl>
                                          <p:spTgt spid="9"/>
                                        </p:tgtEl>
                                        <p:attrNameLst>
                                          <p:attrName>fill.on</p:attrName>
                                        </p:attrNameLst>
                                      </p:cBhvr>
                                      <p:to>
                                        <p:strVal val="tru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30"/>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mph" presetSubtype="2" fill="hold" nodeType="clickEffect">
                                  <p:stCondLst>
                                    <p:cond delay="0"/>
                                  </p:stCondLst>
                                  <p:childTnLst>
                                    <p:animClr clrSpc="rgb" dir="cw">
                                      <p:cBhvr>
                                        <p:cTn id="70" dur="2000" fill="hold"/>
                                        <p:tgtEl>
                                          <p:spTgt spid="7"/>
                                        </p:tgtEl>
                                        <p:attrNameLst>
                                          <p:attrName>fillcolor</p:attrName>
                                        </p:attrNameLst>
                                      </p:cBhvr>
                                      <p:to>
                                        <a:srgbClr val="DE580E"/>
                                      </p:to>
                                    </p:animClr>
                                    <p:set>
                                      <p:cBhvr>
                                        <p:cTn id="71" dur="2000" fill="hold"/>
                                        <p:tgtEl>
                                          <p:spTgt spid="7"/>
                                        </p:tgtEl>
                                        <p:attrNameLst>
                                          <p:attrName>fill.type</p:attrName>
                                        </p:attrNameLst>
                                      </p:cBhvr>
                                      <p:to>
                                        <p:strVal val="solid"/>
                                      </p:to>
                                    </p:set>
                                    <p:set>
                                      <p:cBhvr>
                                        <p:cTn id="72" dur="2000" fill="hold"/>
                                        <p:tgtEl>
                                          <p:spTgt spid="7"/>
                                        </p:tgtEl>
                                        <p:attrNameLst>
                                          <p:attrName>fill.on</p:attrName>
                                        </p:attrNameLst>
                                      </p:cBhvr>
                                      <p:to>
                                        <p:strVal val="tru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32"/>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mph" presetSubtype="2" fill="hold" nodeType="clickEffect">
                                  <p:stCondLst>
                                    <p:cond delay="0"/>
                                  </p:stCondLst>
                                  <p:childTnLst>
                                    <p:animClr clrSpc="rgb" dir="cw">
                                      <p:cBhvr>
                                        <p:cTn id="80" dur="2000" fill="hold"/>
                                        <p:tgtEl>
                                          <p:spTgt spid="19"/>
                                        </p:tgtEl>
                                        <p:attrNameLst>
                                          <p:attrName>fillcolor</p:attrName>
                                        </p:attrNameLst>
                                      </p:cBhvr>
                                      <p:to>
                                        <a:srgbClr val="DE580E"/>
                                      </p:to>
                                    </p:animClr>
                                    <p:set>
                                      <p:cBhvr>
                                        <p:cTn id="81" dur="2000" fill="hold"/>
                                        <p:tgtEl>
                                          <p:spTgt spid="19"/>
                                        </p:tgtEl>
                                        <p:attrNameLst>
                                          <p:attrName>fill.type</p:attrName>
                                        </p:attrNameLst>
                                      </p:cBhvr>
                                      <p:to>
                                        <p:strVal val="solid"/>
                                      </p:to>
                                    </p:set>
                                    <p:set>
                                      <p:cBhvr>
                                        <p:cTn id="82" dur="2000" fill="hold"/>
                                        <p:tgtEl>
                                          <p:spTgt spid="19"/>
                                        </p:tgtEl>
                                        <p:attrNameLst>
                                          <p:attrName>fill.on</p:attrName>
                                        </p:attrNameLst>
                                      </p:cBhvr>
                                      <p:to>
                                        <p:strVal val="tru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31"/>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P spid="25" grpId="0"/>
      <p:bldP spid="26" grpId="0"/>
      <p:bldP spid="27" grpId="0"/>
      <p:bldP spid="28" grpId="0"/>
      <p:bldP spid="29" grpId="0"/>
      <p:bldP spid="30" grpId="0"/>
      <p:bldP spid="31" grpId="0"/>
      <p:bldP spid="32" grpId="0"/>
      <p:bldP spid="33"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5C35E6A6-7D51-B909-DE6F-E34C94D762C5}"/>
              </a:ext>
            </a:extLst>
          </p:cNvPr>
          <p:cNvSpPr txBox="1">
            <a:spLocks noChangeArrowheads="1"/>
          </p:cNvSpPr>
          <p:nvPr/>
        </p:nvSpPr>
        <p:spPr>
          <a:xfrm>
            <a:off x="474772" y="1230902"/>
            <a:ext cx="4253076"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8.3.3 </a:t>
            </a:r>
            <a:r>
              <a:rPr kumimoji="1" lang="zh-CN" altLang="en-US" dirty="0">
                <a:latin typeface="微软雅黑" pitchFamily="34" charset="-122"/>
                <a:ea typeface="微软雅黑" pitchFamily="34" charset="-122"/>
              </a:rPr>
              <a:t>广度优先遍历算法</a:t>
            </a:r>
            <a:endParaRPr lang="zh-CN" altLang="en-US" dirty="0"/>
          </a:p>
        </p:txBody>
      </p:sp>
      <p:sp>
        <p:nvSpPr>
          <p:cNvPr id="3" name="矩形 2">
            <a:extLst>
              <a:ext uri="{FF2B5EF4-FFF2-40B4-BE49-F238E27FC236}">
                <a16:creationId xmlns:a16="http://schemas.microsoft.com/office/drawing/2014/main" id="{EA8E03FA-7FD4-D0E9-DAA7-F60F88CFB20F}"/>
              </a:ext>
            </a:extLst>
          </p:cNvPr>
          <p:cNvSpPr/>
          <p:nvPr/>
        </p:nvSpPr>
        <p:spPr>
          <a:xfrm>
            <a:off x="3200907" y="399148"/>
            <a:ext cx="4617860"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8.3 </a:t>
            </a:r>
            <a:r>
              <a:rPr lang="zh-CN" altLang="en-US" sz="3000" b="1" dirty="0">
                <a:latin typeface="黑体" pitchFamily="49" charset="-122"/>
                <a:ea typeface="黑体" pitchFamily="49" charset="-122"/>
                <a:cs typeface="经典粗黑简" pitchFamily="49" charset="-122"/>
              </a:rPr>
              <a:t>图的遍历</a:t>
            </a:r>
          </a:p>
        </p:txBody>
      </p:sp>
      <p:cxnSp>
        <p:nvCxnSpPr>
          <p:cNvPr id="4" name="直接连接符 3">
            <a:extLst>
              <a:ext uri="{FF2B5EF4-FFF2-40B4-BE49-F238E27FC236}">
                <a16:creationId xmlns:a16="http://schemas.microsoft.com/office/drawing/2014/main" id="{80F0282E-1F6A-10A2-9D4C-9515F007DEC4}"/>
              </a:ext>
            </a:extLst>
          </p:cNvPr>
          <p:cNvCxnSpPr>
            <a:cxnSpLocks/>
          </p:cNvCxnSpPr>
          <p:nvPr/>
        </p:nvCxnSpPr>
        <p:spPr>
          <a:xfrm>
            <a:off x="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6" name="TextBox 7">
            <a:extLst>
              <a:ext uri="{FF2B5EF4-FFF2-40B4-BE49-F238E27FC236}">
                <a16:creationId xmlns:a16="http://schemas.microsoft.com/office/drawing/2014/main" id="{1DAF0C4B-5773-E6A9-C41B-64438961B4EE}"/>
              </a:ext>
            </a:extLst>
          </p:cNvPr>
          <p:cNvSpPr txBox="1"/>
          <p:nvPr/>
        </p:nvSpPr>
        <p:spPr>
          <a:xfrm>
            <a:off x="1345752" y="1801418"/>
            <a:ext cx="2571768" cy="461665"/>
          </a:xfrm>
          <a:prstGeom prst="rect">
            <a:avLst/>
          </a:prstGeom>
          <a:noFill/>
        </p:spPr>
        <p:txBody>
          <a:bodyPr wrap="square" rtlCol="0">
            <a:spAutoFit/>
          </a:bodyPr>
          <a:lstStyle/>
          <a:p>
            <a:pPr algn="l"/>
            <a:r>
              <a:rPr kumimoji="1" lang="zh-CN" altLang="en-US" sz="2400" dirty="0">
                <a:latin typeface="微软雅黑" pitchFamily="34" charset="-122"/>
                <a:ea typeface="微软雅黑" pitchFamily="34" charset="-122"/>
                <a:cs typeface="经典粗黑简" pitchFamily="49" charset="-122"/>
              </a:rPr>
              <a:t>算法设计思路：</a:t>
            </a:r>
          </a:p>
        </p:txBody>
      </p:sp>
      <p:grpSp>
        <p:nvGrpSpPr>
          <p:cNvPr id="7" name="组合 43">
            <a:extLst>
              <a:ext uri="{FF2B5EF4-FFF2-40B4-BE49-F238E27FC236}">
                <a16:creationId xmlns:a16="http://schemas.microsoft.com/office/drawing/2014/main" id="{41ECD7BE-8BDB-290D-6282-7B08DC7FAE82}"/>
              </a:ext>
            </a:extLst>
          </p:cNvPr>
          <p:cNvGrpSpPr/>
          <p:nvPr/>
        </p:nvGrpSpPr>
        <p:grpSpPr>
          <a:xfrm>
            <a:off x="1496140" y="4555528"/>
            <a:ext cx="9475467" cy="1762121"/>
            <a:chOff x="428596" y="3714752"/>
            <a:chExt cx="8207376" cy="1762121"/>
          </a:xfrm>
        </p:grpSpPr>
        <p:sp>
          <p:nvSpPr>
            <p:cNvPr id="8" name="Rectangle 3">
              <a:extLst>
                <a:ext uri="{FF2B5EF4-FFF2-40B4-BE49-F238E27FC236}">
                  <a16:creationId xmlns:a16="http://schemas.microsoft.com/office/drawing/2014/main" id="{9B839B38-FDAB-BFBE-DADA-1734872B5666}"/>
                </a:ext>
              </a:extLst>
            </p:cNvPr>
            <p:cNvSpPr>
              <a:spLocks noChangeArrowheads="1"/>
            </p:cNvSpPr>
            <p:nvPr/>
          </p:nvSpPr>
          <p:spPr bwMode="auto">
            <a:xfrm>
              <a:off x="428596" y="3714752"/>
              <a:ext cx="8207376" cy="871905"/>
            </a:xfrm>
            <a:prstGeom prst="rect">
              <a:avLst/>
            </a:prstGeom>
            <a:ln>
              <a:noFill/>
              <a:headEnd/>
              <a:tailEnd type="none" w="med" len="lg"/>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a:spAutoFit/>
            </a:bodyPr>
            <a:lstStyle/>
            <a:p>
              <a:pPr algn="l">
                <a:lnSpc>
                  <a:spcPts val="3200"/>
                </a:lnSpc>
                <a:spcBef>
                  <a:spcPct val="50000"/>
                </a:spcBef>
              </a:pPr>
              <a:r>
                <a:rPr kumimoji="1" lang="zh-CN" altLang="en-US" sz="2000" dirty="0">
                  <a:solidFill>
                    <a:srgbClr val="0000FF"/>
                  </a:solidFill>
                  <a:latin typeface="Consolas" pitchFamily="49" charset="0"/>
                  <a:ea typeface="仿宋" pitchFamily="49" charset="-122"/>
                  <a:cs typeface="Consolas" pitchFamily="49" charset="0"/>
                </a:rPr>
                <a:t>如何确定一个顶点是否访问过</a:t>
              </a:r>
              <a:r>
                <a:rPr kumimoji="1" lang="en-US" altLang="zh-CN" sz="2000" dirty="0">
                  <a:solidFill>
                    <a:srgbClr val="0000FF"/>
                  </a:solidFill>
                  <a:latin typeface="Consolas" pitchFamily="49" charset="0"/>
                  <a:ea typeface="仿宋" pitchFamily="49" charset="-122"/>
                  <a:cs typeface="Consolas" pitchFamily="49" charset="0"/>
                </a:rPr>
                <a:t>? </a:t>
              </a:r>
              <a:r>
                <a:rPr kumimoji="1" lang="zh-CN" altLang="en-US" sz="2000" dirty="0">
                  <a:solidFill>
                    <a:srgbClr val="0000FF"/>
                  </a:solidFill>
                  <a:latin typeface="Consolas" pitchFamily="49" charset="0"/>
                  <a:ea typeface="仿宋" pitchFamily="49" charset="-122"/>
                  <a:cs typeface="Consolas" pitchFamily="49" charset="0"/>
                </a:rPr>
                <a:t>设置一个</a:t>
              </a:r>
              <a:r>
                <a:rPr kumimoji="1" lang="en-US" altLang="zh-CN" sz="2000" dirty="0">
                  <a:solidFill>
                    <a:srgbClr val="FF00FF"/>
                  </a:solidFill>
                  <a:latin typeface="Consolas" pitchFamily="49" charset="0"/>
                  <a:ea typeface="仿宋" pitchFamily="49" charset="-122"/>
                  <a:cs typeface="Consolas" pitchFamily="49" charset="0"/>
                </a:rPr>
                <a:t>visited[]</a:t>
              </a:r>
              <a:r>
                <a:rPr kumimoji="1" lang="zh-CN" altLang="en-US" sz="2000" dirty="0">
                  <a:solidFill>
                    <a:srgbClr val="0000FF"/>
                  </a:solidFill>
                  <a:latin typeface="Consolas" pitchFamily="49" charset="0"/>
                  <a:ea typeface="仿宋" pitchFamily="49" charset="-122"/>
                  <a:cs typeface="Consolas" pitchFamily="49" charset="0"/>
                </a:rPr>
                <a:t>数组，</a:t>
              </a:r>
              <a:r>
                <a:rPr kumimoji="1" lang="en-US" altLang="zh-CN" sz="2000" dirty="0">
                  <a:solidFill>
                    <a:srgbClr val="0000FF"/>
                  </a:solidFill>
                  <a:latin typeface="Consolas" pitchFamily="49" charset="0"/>
                  <a:ea typeface="仿宋" pitchFamily="49" charset="-122"/>
                  <a:cs typeface="Consolas" pitchFamily="49" charset="0"/>
                </a:rPr>
                <a:t> </a:t>
              </a:r>
              <a:r>
                <a:rPr kumimoji="1" lang="en-US" altLang="zh-CN" sz="2000" dirty="0">
                  <a:solidFill>
                    <a:srgbClr val="FF00FF"/>
                  </a:solidFill>
                  <a:latin typeface="Consolas" pitchFamily="49" charset="0"/>
                  <a:ea typeface="仿宋" pitchFamily="49" charset="-122"/>
                  <a:cs typeface="Consolas" pitchFamily="49" charset="0"/>
                </a:rPr>
                <a:t>visited[</a:t>
              </a:r>
              <a:r>
                <a:rPr kumimoji="1" lang="en-US" altLang="zh-CN" sz="2000" i="1" dirty="0" err="1">
                  <a:solidFill>
                    <a:srgbClr val="FF00FF"/>
                  </a:solidFill>
                  <a:latin typeface="Consolas" pitchFamily="49" charset="0"/>
                  <a:ea typeface="仿宋" pitchFamily="49" charset="-122"/>
                  <a:cs typeface="Consolas" pitchFamily="49" charset="0"/>
                </a:rPr>
                <a:t>i</a:t>
              </a:r>
              <a:r>
                <a:rPr kumimoji="1" lang="en-US" altLang="zh-CN" sz="2000" dirty="0">
                  <a:solidFill>
                    <a:srgbClr val="FF00FF"/>
                  </a:solidFill>
                  <a:latin typeface="Consolas" pitchFamily="49" charset="0"/>
                  <a:ea typeface="仿宋" pitchFamily="49" charset="-122"/>
                  <a:cs typeface="Consolas" pitchFamily="49" charset="0"/>
                </a:rPr>
                <a:t>]=0</a:t>
              </a:r>
              <a:r>
                <a:rPr kumimoji="1" lang="zh-CN" altLang="en-US" sz="2000" dirty="0">
                  <a:solidFill>
                    <a:srgbClr val="0000FF"/>
                  </a:solidFill>
                  <a:latin typeface="Consolas" pitchFamily="49" charset="0"/>
                  <a:ea typeface="仿宋" pitchFamily="49" charset="-122"/>
                  <a:cs typeface="Consolas" pitchFamily="49" charset="0"/>
                </a:rPr>
                <a:t>表示顶点</a:t>
              </a:r>
              <a:r>
                <a:rPr kumimoji="1" lang="en-US" altLang="zh-CN" sz="2000" i="1" dirty="0" err="1">
                  <a:solidFill>
                    <a:srgbClr val="0000FF"/>
                  </a:solidFill>
                  <a:latin typeface="Consolas" pitchFamily="49" charset="0"/>
                  <a:ea typeface="仿宋" pitchFamily="49" charset="-122"/>
                  <a:cs typeface="Consolas" pitchFamily="49" charset="0"/>
                </a:rPr>
                <a:t>i</a:t>
              </a:r>
              <a:r>
                <a:rPr kumimoji="1" lang="zh-CN" altLang="en-US" sz="2000" dirty="0">
                  <a:solidFill>
                    <a:srgbClr val="0000FF"/>
                  </a:solidFill>
                  <a:latin typeface="Consolas" pitchFamily="49" charset="0"/>
                  <a:ea typeface="仿宋" pitchFamily="49" charset="-122"/>
                  <a:cs typeface="Consolas" pitchFamily="49" charset="0"/>
                </a:rPr>
                <a:t>没有访问；</a:t>
              </a:r>
              <a:r>
                <a:rPr kumimoji="1" lang="en-US" altLang="zh-CN" sz="2000" dirty="0">
                  <a:solidFill>
                    <a:srgbClr val="0000FF"/>
                  </a:solidFill>
                  <a:latin typeface="Consolas" pitchFamily="49" charset="0"/>
                  <a:ea typeface="仿宋" pitchFamily="49" charset="-122"/>
                  <a:cs typeface="Consolas" pitchFamily="49" charset="0"/>
                </a:rPr>
                <a:t> </a:t>
              </a:r>
              <a:r>
                <a:rPr kumimoji="1" lang="en-US" altLang="zh-CN" sz="2000" dirty="0">
                  <a:solidFill>
                    <a:srgbClr val="FF00FF"/>
                  </a:solidFill>
                  <a:latin typeface="Consolas" pitchFamily="49" charset="0"/>
                  <a:ea typeface="仿宋" pitchFamily="49" charset="-122"/>
                  <a:cs typeface="Consolas" pitchFamily="49" charset="0"/>
                </a:rPr>
                <a:t>visited[</a:t>
              </a:r>
              <a:r>
                <a:rPr kumimoji="1" lang="en-US" altLang="zh-CN" sz="2000" i="1" dirty="0" err="1">
                  <a:solidFill>
                    <a:srgbClr val="FF00FF"/>
                  </a:solidFill>
                  <a:latin typeface="Consolas" pitchFamily="49" charset="0"/>
                  <a:ea typeface="仿宋" pitchFamily="49" charset="-122"/>
                  <a:cs typeface="Consolas" pitchFamily="49" charset="0"/>
                </a:rPr>
                <a:t>i</a:t>
              </a:r>
              <a:r>
                <a:rPr kumimoji="1" lang="en-US" altLang="zh-CN" sz="2000" dirty="0">
                  <a:solidFill>
                    <a:srgbClr val="FF00FF"/>
                  </a:solidFill>
                  <a:latin typeface="Consolas" pitchFamily="49" charset="0"/>
                  <a:ea typeface="仿宋" pitchFamily="49" charset="-122"/>
                  <a:cs typeface="Consolas" pitchFamily="49" charset="0"/>
                </a:rPr>
                <a:t>]=1</a:t>
              </a:r>
              <a:r>
                <a:rPr kumimoji="1" lang="zh-CN" altLang="en-US" sz="2000" dirty="0">
                  <a:solidFill>
                    <a:srgbClr val="0000FF"/>
                  </a:solidFill>
                  <a:latin typeface="Consolas" pitchFamily="49" charset="0"/>
                  <a:ea typeface="仿宋" pitchFamily="49" charset="-122"/>
                  <a:cs typeface="Consolas" pitchFamily="49" charset="0"/>
                </a:rPr>
                <a:t>表示顶点</a:t>
              </a:r>
              <a:r>
                <a:rPr kumimoji="1" lang="en-US" altLang="zh-CN" sz="2000" i="1" dirty="0" err="1">
                  <a:solidFill>
                    <a:srgbClr val="0000FF"/>
                  </a:solidFill>
                  <a:latin typeface="Consolas" pitchFamily="49" charset="0"/>
                  <a:ea typeface="仿宋" pitchFamily="49" charset="-122"/>
                  <a:cs typeface="Consolas" pitchFamily="49" charset="0"/>
                </a:rPr>
                <a:t>i</a:t>
              </a:r>
              <a:r>
                <a:rPr kumimoji="1" lang="zh-CN" altLang="en-US" sz="2000" dirty="0">
                  <a:solidFill>
                    <a:srgbClr val="0000FF"/>
                  </a:solidFill>
                  <a:latin typeface="Consolas" pitchFamily="49" charset="0"/>
                  <a:ea typeface="仿宋" pitchFamily="49" charset="-122"/>
                  <a:cs typeface="Consolas" pitchFamily="49" charset="0"/>
                </a:rPr>
                <a:t>已经访问过。</a:t>
              </a:r>
            </a:p>
          </p:txBody>
        </p:sp>
        <p:sp>
          <p:nvSpPr>
            <p:cNvPr id="9" name="Oval 10">
              <a:extLst>
                <a:ext uri="{FF2B5EF4-FFF2-40B4-BE49-F238E27FC236}">
                  <a16:creationId xmlns:a16="http://schemas.microsoft.com/office/drawing/2014/main" id="{3C6675B0-B5FB-4C62-5563-ED35AD182F9A}"/>
                </a:ext>
              </a:extLst>
            </p:cNvPr>
            <p:cNvSpPr>
              <a:spLocks noChangeArrowheads="1"/>
            </p:cNvSpPr>
            <p:nvPr/>
          </p:nvSpPr>
          <p:spPr bwMode="auto">
            <a:xfrm>
              <a:off x="3252583" y="4847178"/>
              <a:ext cx="431800"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2000" i="1" dirty="0">
                  <a:solidFill>
                    <a:srgbClr val="0000FF"/>
                  </a:solidFill>
                  <a:latin typeface="Consolas" pitchFamily="49" charset="0"/>
                  <a:cs typeface="Consolas" pitchFamily="49" charset="0"/>
                </a:rPr>
                <a:t>i</a:t>
              </a:r>
            </a:p>
          </p:txBody>
        </p:sp>
        <p:sp>
          <p:nvSpPr>
            <p:cNvPr id="10" name="TextBox 46">
              <a:extLst>
                <a:ext uri="{FF2B5EF4-FFF2-40B4-BE49-F238E27FC236}">
                  <a16:creationId xmlns:a16="http://schemas.microsoft.com/office/drawing/2014/main" id="{5BC1A031-5170-CAF6-0DBA-8A3B351C862C}"/>
                </a:ext>
              </a:extLst>
            </p:cNvPr>
            <p:cNvSpPr txBox="1"/>
            <p:nvPr/>
          </p:nvSpPr>
          <p:spPr>
            <a:xfrm>
              <a:off x="3895525" y="4847178"/>
              <a:ext cx="1635080" cy="400110"/>
            </a:xfrm>
            <a:prstGeom prst="rect">
              <a:avLst/>
            </a:prstGeom>
            <a:noFill/>
          </p:spPr>
          <p:txBody>
            <a:bodyPr wrap="square" rtlCol="0">
              <a:spAutoFit/>
            </a:bodyPr>
            <a:lstStyle/>
            <a:p>
              <a:pPr algn="l"/>
              <a:r>
                <a:rPr kumimoji="1" lang="en-US" altLang="zh-CN" sz="2000" dirty="0">
                  <a:solidFill>
                    <a:srgbClr val="0000FF"/>
                  </a:solidFill>
                  <a:latin typeface="Consolas" pitchFamily="49" charset="0"/>
                  <a:ea typeface="楷体" pitchFamily="49" charset="-122"/>
                  <a:cs typeface="Consolas" pitchFamily="49" charset="0"/>
                </a:rPr>
                <a:t>visited[</a:t>
              </a:r>
              <a:r>
                <a:rPr kumimoji="1" lang="en-US" altLang="zh-CN" sz="2000" i="1" dirty="0" err="1">
                  <a:solidFill>
                    <a:srgbClr val="0000FF"/>
                  </a:solidFill>
                  <a:latin typeface="Consolas" pitchFamily="49" charset="0"/>
                  <a:ea typeface="楷体" pitchFamily="49" charset="-122"/>
                  <a:cs typeface="Consolas" pitchFamily="49" charset="0"/>
                </a:rPr>
                <a:t>i</a:t>
              </a:r>
              <a:r>
                <a:rPr kumimoji="1" lang="en-US" altLang="zh-CN" sz="2000" dirty="0">
                  <a:solidFill>
                    <a:srgbClr val="0000FF"/>
                  </a:solidFill>
                  <a:latin typeface="Consolas" pitchFamily="49" charset="0"/>
                  <a:ea typeface="楷体" pitchFamily="49" charset="-122"/>
                  <a:cs typeface="Consolas" pitchFamily="49" charset="0"/>
                </a:rPr>
                <a:t>]</a:t>
              </a:r>
              <a:endParaRPr lang="zh-CN" altLang="en-US" sz="2000" dirty="0">
                <a:solidFill>
                  <a:srgbClr val="0000FF"/>
                </a:solidFill>
                <a:latin typeface="Consolas" pitchFamily="49" charset="0"/>
                <a:cs typeface="Consolas" pitchFamily="49" charset="0"/>
              </a:endParaRPr>
            </a:p>
          </p:txBody>
        </p:sp>
        <p:sp>
          <p:nvSpPr>
            <p:cNvPr id="11" name="任意多边形 47">
              <a:extLst>
                <a:ext uri="{FF2B5EF4-FFF2-40B4-BE49-F238E27FC236}">
                  <a16:creationId xmlns:a16="http://schemas.microsoft.com/office/drawing/2014/main" id="{966B69F3-24AE-9FF7-B95B-7285CFD1D252}"/>
                </a:ext>
              </a:extLst>
            </p:cNvPr>
            <p:cNvSpPr/>
            <p:nvPr/>
          </p:nvSpPr>
          <p:spPr>
            <a:xfrm>
              <a:off x="3536757" y="5199590"/>
              <a:ext cx="1295400" cy="277283"/>
            </a:xfrm>
            <a:custGeom>
              <a:avLst/>
              <a:gdLst>
                <a:gd name="connsiteX0" fmla="*/ 0 w 1295400"/>
                <a:gd name="connsiteY0" fmla="*/ 0 h 277283"/>
                <a:gd name="connsiteX1" fmla="*/ 317500 w 1295400"/>
                <a:gd name="connsiteY1" fmla="*/ 241300 h 277283"/>
                <a:gd name="connsiteX2" fmla="*/ 1016000 w 1295400"/>
                <a:gd name="connsiteY2" fmla="*/ 215900 h 277283"/>
                <a:gd name="connsiteX3" fmla="*/ 1295400 w 1295400"/>
                <a:gd name="connsiteY3" fmla="*/ 25400 h 277283"/>
              </a:gdLst>
              <a:ahLst/>
              <a:cxnLst>
                <a:cxn ang="0">
                  <a:pos x="connsiteX0" y="connsiteY0"/>
                </a:cxn>
                <a:cxn ang="0">
                  <a:pos x="connsiteX1" y="connsiteY1"/>
                </a:cxn>
                <a:cxn ang="0">
                  <a:pos x="connsiteX2" y="connsiteY2"/>
                </a:cxn>
                <a:cxn ang="0">
                  <a:pos x="connsiteX3" y="connsiteY3"/>
                </a:cxn>
              </a:cxnLst>
              <a:rect l="l" t="t" r="r" b="b"/>
              <a:pathLst>
                <a:path w="1295400" h="277283">
                  <a:moveTo>
                    <a:pt x="0" y="0"/>
                  </a:moveTo>
                  <a:cubicBezTo>
                    <a:pt x="74083" y="102658"/>
                    <a:pt x="148167" y="205317"/>
                    <a:pt x="317500" y="241300"/>
                  </a:cubicBezTo>
                  <a:cubicBezTo>
                    <a:pt x="486833" y="277283"/>
                    <a:pt x="853017" y="251883"/>
                    <a:pt x="1016000" y="215900"/>
                  </a:cubicBezTo>
                  <a:cubicBezTo>
                    <a:pt x="1178983" y="179917"/>
                    <a:pt x="1237191" y="102658"/>
                    <a:pt x="1295400" y="25400"/>
                  </a:cubicBezTo>
                </a:path>
              </a:pathLst>
            </a:custGeom>
            <a:ln w="28575">
              <a:solidFill>
                <a:srgbClr val="7030A0"/>
              </a:solidFill>
              <a:headEnd type="arrow"/>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2000"/>
            </a:p>
          </p:txBody>
        </p:sp>
      </p:grpSp>
      <p:sp>
        <p:nvSpPr>
          <p:cNvPr id="12" name="Text Box 2" descr="羊皮纸">
            <a:extLst>
              <a:ext uri="{FF2B5EF4-FFF2-40B4-BE49-F238E27FC236}">
                <a16:creationId xmlns:a16="http://schemas.microsoft.com/office/drawing/2014/main" id="{6F3DFFE3-9513-DB1D-B4EA-985FAD8F0385}"/>
              </a:ext>
            </a:extLst>
          </p:cNvPr>
          <p:cNvSpPr txBox="1">
            <a:spLocks noChangeArrowheads="1"/>
          </p:cNvSpPr>
          <p:nvPr/>
        </p:nvSpPr>
        <p:spPr bwMode="auto">
          <a:xfrm>
            <a:off x="1517350" y="2793120"/>
            <a:ext cx="9433048" cy="1533708"/>
          </a:xfrm>
          <a:prstGeom prst="rect">
            <a:avLst/>
          </a:prstGeom>
          <a:solidFill>
            <a:schemeClr val="bg1">
              <a:lumMod val="95000"/>
            </a:schemeClr>
          </a:solidFill>
          <a:ln>
            <a:headEnd/>
            <a:tailEnd/>
          </a:ln>
        </p:spPr>
        <p:style>
          <a:lnRef idx="1">
            <a:schemeClr val="accent3"/>
          </a:lnRef>
          <a:fillRef idx="2">
            <a:schemeClr val="accent3"/>
          </a:fillRef>
          <a:effectRef idx="1">
            <a:schemeClr val="accent3"/>
          </a:effectRef>
          <a:fontRef idx="minor">
            <a:schemeClr val="dk1"/>
          </a:fontRef>
        </p:style>
        <p:txBody>
          <a:bodyPr wrap="square" lIns="216000" tIns="180000" rIns="216000" bIns="180000">
            <a:spAutoFit/>
          </a:bodyPr>
          <a:lstStyle/>
          <a:p>
            <a:pPr algn="just">
              <a:lnSpc>
                <a:spcPct val="110000"/>
              </a:lnSpc>
              <a:spcBef>
                <a:spcPct val="50000"/>
              </a:spcBef>
              <a:defRPr/>
            </a:pPr>
            <a:r>
              <a:rPr kumimoji="1" lang="zh-CN" altLang="en-US" sz="1800" dirty="0">
                <a:solidFill>
                  <a:srgbClr val="0000FF"/>
                </a:solidFill>
                <a:latin typeface="Consolas" pitchFamily="49" charset="0"/>
                <a:ea typeface="仿宋" pitchFamily="49" charset="-122"/>
                <a:cs typeface="Consolas" pitchFamily="49" charset="0"/>
              </a:rPr>
              <a:t>　（</a:t>
            </a:r>
            <a:r>
              <a:rPr kumimoji="1" lang="en-US" altLang="zh-CN" sz="1800" dirty="0">
                <a:solidFill>
                  <a:srgbClr val="0000FF"/>
                </a:solidFill>
                <a:latin typeface="Consolas" pitchFamily="49" charset="0"/>
                <a:ea typeface="仿宋" pitchFamily="49" charset="-122"/>
                <a:cs typeface="Consolas" pitchFamily="49" charset="0"/>
              </a:rPr>
              <a:t>1</a:t>
            </a:r>
            <a:r>
              <a:rPr kumimoji="1" lang="zh-CN" altLang="en-US" sz="1800" dirty="0">
                <a:solidFill>
                  <a:srgbClr val="0000FF"/>
                </a:solidFill>
                <a:latin typeface="Consolas" pitchFamily="49" charset="0"/>
                <a:ea typeface="仿宋" pitchFamily="49" charset="-122"/>
                <a:cs typeface="Consolas" pitchFamily="49" charset="0"/>
              </a:rPr>
              <a:t>）访问初始点</a:t>
            </a:r>
            <a:r>
              <a:rPr kumimoji="1" lang="en-US" altLang="zh-CN" sz="1800" i="1" dirty="0">
                <a:solidFill>
                  <a:srgbClr val="0000FF"/>
                </a:solidFill>
                <a:latin typeface="Consolas" pitchFamily="49" charset="0"/>
                <a:ea typeface="仿宋" pitchFamily="49" charset="-122"/>
                <a:cs typeface="Consolas" pitchFamily="49" charset="0"/>
              </a:rPr>
              <a:t>v</a:t>
            </a:r>
            <a:r>
              <a:rPr kumimoji="1" lang="zh-CN" altLang="en-US" sz="1800" dirty="0">
                <a:solidFill>
                  <a:srgbClr val="0000FF"/>
                </a:solidFill>
                <a:latin typeface="Consolas" pitchFamily="49" charset="0"/>
                <a:ea typeface="仿宋" pitchFamily="49" charset="-122"/>
                <a:cs typeface="Consolas" pitchFamily="49" charset="0"/>
              </a:rPr>
              <a:t>，接着访问</a:t>
            </a:r>
            <a:r>
              <a:rPr kumimoji="1" lang="en-US" altLang="zh-CN" sz="1800" i="1" dirty="0">
                <a:solidFill>
                  <a:srgbClr val="0000FF"/>
                </a:solidFill>
                <a:latin typeface="Consolas" pitchFamily="49" charset="0"/>
                <a:ea typeface="仿宋" pitchFamily="49" charset="-122"/>
                <a:cs typeface="Consolas" pitchFamily="49" charset="0"/>
              </a:rPr>
              <a:t>v</a:t>
            </a:r>
            <a:r>
              <a:rPr kumimoji="1" lang="zh-CN" altLang="en-US" sz="1800" dirty="0">
                <a:solidFill>
                  <a:srgbClr val="0000FF"/>
                </a:solidFill>
                <a:latin typeface="Consolas" pitchFamily="49" charset="0"/>
                <a:ea typeface="仿宋" pitchFamily="49" charset="-122"/>
                <a:cs typeface="Consolas" pitchFamily="49" charset="0"/>
              </a:rPr>
              <a:t>的所有未被访问过的邻接点</a:t>
            </a:r>
            <a:r>
              <a:rPr kumimoji="1" lang="en-US" altLang="zh-CN" sz="1800" i="1" dirty="0">
                <a:solidFill>
                  <a:srgbClr val="FF00FF"/>
                </a:solidFill>
                <a:latin typeface="Consolas" pitchFamily="49" charset="0"/>
                <a:ea typeface="仿宋" pitchFamily="49" charset="-122"/>
                <a:cs typeface="Consolas" pitchFamily="49" charset="0"/>
              </a:rPr>
              <a:t>v</a:t>
            </a:r>
            <a:r>
              <a:rPr kumimoji="1" lang="en-US" altLang="zh-CN" sz="1800" baseline="-30000" dirty="0">
                <a:solidFill>
                  <a:srgbClr val="FF00FF"/>
                </a:solidFill>
                <a:latin typeface="Consolas" pitchFamily="49" charset="0"/>
                <a:ea typeface="仿宋" pitchFamily="49" charset="-122"/>
                <a:cs typeface="Consolas" pitchFamily="49" charset="0"/>
              </a:rPr>
              <a:t>1</a:t>
            </a:r>
            <a:r>
              <a:rPr kumimoji="1" lang="zh-CN" altLang="en-US" sz="1800" dirty="0">
                <a:solidFill>
                  <a:srgbClr val="FF00FF"/>
                </a:solidFill>
                <a:latin typeface="Consolas" pitchFamily="49" charset="0"/>
                <a:ea typeface="仿宋" pitchFamily="49" charset="-122"/>
                <a:cs typeface="Consolas" pitchFamily="49" charset="0"/>
              </a:rPr>
              <a:t>，</a:t>
            </a:r>
            <a:r>
              <a:rPr kumimoji="1" lang="en-US" altLang="zh-CN" sz="1800" i="1" dirty="0">
                <a:solidFill>
                  <a:srgbClr val="FF00FF"/>
                </a:solidFill>
                <a:latin typeface="Consolas" pitchFamily="49" charset="0"/>
                <a:ea typeface="仿宋" pitchFamily="49" charset="-122"/>
                <a:cs typeface="Consolas" pitchFamily="49" charset="0"/>
              </a:rPr>
              <a:t>v</a:t>
            </a:r>
            <a:r>
              <a:rPr kumimoji="1" lang="en-US" altLang="zh-CN" sz="1800" baseline="-30000" dirty="0">
                <a:solidFill>
                  <a:srgbClr val="FF00FF"/>
                </a:solidFill>
                <a:latin typeface="Consolas" pitchFamily="49" charset="0"/>
                <a:ea typeface="仿宋" pitchFamily="49" charset="-122"/>
                <a:cs typeface="Consolas" pitchFamily="49" charset="0"/>
              </a:rPr>
              <a:t>2</a:t>
            </a:r>
            <a:r>
              <a:rPr kumimoji="1" lang="zh-CN" altLang="en-US" sz="1800" dirty="0">
                <a:solidFill>
                  <a:srgbClr val="FF00FF"/>
                </a:solidFill>
                <a:latin typeface="Consolas" pitchFamily="49" charset="0"/>
                <a:ea typeface="仿宋" pitchFamily="49" charset="-122"/>
                <a:cs typeface="Consolas" pitchFamily="49" charset="0"/>
              </a:rPr>
              <a:t>，</a:t>
            </a:r>
            <a:r>
              <a:rPr kumimoji="1" lang="en-US" altLang="zh-CN" sz="1800" dirty="0">
                <a:solidFill>
                  <a:srgbClr val="FF00FF"/>
                </a:solidFill>
                <a:latin typeface="宋体" pitchFamily="2" charset="-122"/>
                <a:ea typeface="宋体" pitchFamily="2" charset="-122"/>
                <a:cs typeface="Consolas" pitchFamily="49" charset="0"/>
              </a:rPr>
              <a:t>…</a:t>
            </a:r>
            <a:r>
              <a:rPr kumimoji="1" lang="zh-CN" altLang="en-US" sz="1800" dirty="0">
                <a:solidFill>
                  <a:srgbClr val="FF00FF"/>
                </a:solidFill>
                <a:latin typeface="Consolas" pitchFamily="49" charset="0"/>
                <a:ea typeface="仿宋" pitchFamily="49" charset="-122"/>
                <a:cs typeface="Consolas" pitchFamily="49" charset="0"/>
              </a:rPr>
              <a:t>，</a:t>
            </a:r>
            <a:r>
              <a:rPr kumimoji="1" lang="en-US" altLang="zh-CN" sz="1800" i="1" dirty="0" err="1">
                <a:solidFill>
                  <a:srgbClr val="FF00FF"/>
                </a:solidFill>
                <a:latin typeface="Consolas" pitchFamily="49" charset="0"/>
                <a:ea typeface="仿宋" pitchFamily="49" charset="-122"/>
                <a:cs typeface="Consolas" pitchFamily="49" charset="0"/>
              </a:rPr>
              <a:t>v</a:t>
            </a:r>
            <a:r>
              <a:rPr kumimoji="1" lang="en-US" altLang="zh-CN" sz="1800" i="1" baseline="-30000" dirty="0" err="1">
                <a:solidFill>
                  <a:srgbClr val="FF00FF"/>
                </a:solidFill>
                <a:latin typeface="Consolas" pitchFamily="49" charset="0"/>
                <a:ea typeface="仿宋" pitchFamily="49" charset="-122"/>
                <a:cs typeface="Consolas" pitchFamily="49" charset="0"/>
              </a:rPr>
              <a:t>t</a:t>
            </a:r>
            <a:r>
              <a:rPr kumimoji="1" lang="zh-CN" altLang="en-US" sz="1800" dirty="0">
                <a:solidFill>
                  <a:srgbClr val="0000FF"/>
                </a:solidFill>
                <a:latin typeface="Consolas" pitchFamily="49" charset="0"/>
                <a:ea typeface="仿宋" pitchFamily="49" charset="-122"/>
                <a:cs typeface="Consolas" pitchFamily="49" charset="0"/>
              </a:rPr>
              <a:t>。</a:t>
            </a:r>
          </a:p>
          <a:p>
            <a:pPr algn="just">
              <a:lnSpc>
                <a:spcPct val="110000"/>
              </a:lnSpc>
              <a:spcBef>
                <a:spcPct val="50000"/>
              </a:spcBef>
              <a:defRPr/>
            </a:pPr>
            <a:r>
              <a:rPr kumimoji="1" lang="zh-CN" altLang="en-US" sz="1800" dirty="0">
                <a:solidFill>
                  <a:srgbClr val="0000FF"/>
                </a:solidFill>
                <a:latin typeface="Consolas" pitchFamily="49" charset="0"/>
                <a:ea typeface="仿宋" pitchFamily="49" charset="-122"/>
                <a:cs typeface="Consolas" pitchFamily="49" charset="0"/>
              </a:rPr>
              <a:t>　（</a:t>
            </a:r>
            <a:r>
              <a:rPr kumimoji="1" lang="en-US" altLang="zh-CN" sz="1800" dirty="0">
                <a:solidFill>
                  <a:srgbClr val="0000FF"/>
                </a:solidFill>
                <a:latin typeface="Consolas" pitchFamily="49" charset="0"/>
                <a:ea typeface="仿宋" pitchFamily="49" charset="-122"/>
                <a:cs typeface="Consolas" pitchFamily="49" charset="0"/>
              </a:rPr>
              <a:t>2</a:t>
            </a:r>
            <a:r>
              <a:rPr kumimoji="1" lang="zh-CN" altLang="en-US" sz="1800" dirty="0">
                <a:solidFill>
                  <a:srgbClr val="0000FF"/>
                </a:solidFill>
                <a:latin typeface="Consolas" pitchFamily="49" charset="0"/>
                <a:ea typeface="仿宋" pitchFamily="49" charset="-122"/>
                <a:cs typeface="Consolas" pitchFamily="49" charset="0"/>
              </a:rPr>
              <a:t>）按照</a:t>
            </a:r>
            <a:r>
              <a:rPr kumimoji="1" lang="en-US" altLang="zh-CN" sz="1800" i="1" dirty="0">
                <a:solidFill>
                  <a:srgbClr val="FF00FF"/>
                </a:solidFill>
                <a:latin typeface="Consolas" pitchFamily="49" charset="0"/>
                <a:ea typeface="仿宋" pitchFamily="49" charset="-122"/>
                <a:cs typeface="Consolas" pitchFamily="49" charset="0"/>
              </a:rPr>
              <a:t>v</a:t>
            </a:r>
            <a:r>
              <a:rPr kumimoji="1" lang="en-US" altLang="zh-CN" sz="1800" baseline="-30000" dirty="0">
                <a:solidFill>
                  <a:srgbClr val="FF00FF"/>
                </a:solidFill>
                <a:latin typeface="Consolas" pitchFamily="49" charset="0"/>
                <a:ea typeface="仿宋" pitchFamily="49" charset="-122"/>
                <a:cs typeface="Consolas" pitchFamily="49" charset="0"/>
              </a:rPr>
              <a:t>1</a:t>
            </a:r>
            <a:r>
              <a:rPr kumimoji="1" lang="zh-CN" altLang="en-US" sz="1800" dirty="0">
                <a:solidFill>
                  <a:srgbClr val="FF00FF"/>
                </a:solidFill>
                <a:latin typeface="Consolas" pitchFamily="49" charset="0"/>
                <a:ea typeface="仿宋" pitchFamily="49" charset="-122"/>
                <a:cs typeface="Consolas" pitchFamily="49" charset="0"/>
              </a:rPr>
              <a:t>，</a:t>
            </a:r>
            <a:r>
              <a:rPr kumimoji="1" lang="en-US" altLang="zh-CN" sz="1800" i="1" dirty="0">
                <a:solidFill>
                  <a:srgbClr val="FF00FF"/>
                </a:solidFill>
                <a:latin typeface="Consolas" pitchFamily="49" charset="0"/>
                <a:ea typeface="仿宋" pitchFamily="49" charset="-122"/>
                <a:cs typeface="Consolas" pitchFamily="49" charset="0"/>
              </a:rPr>
              <a:t>v</a:t>
            </a:r>
            <a:r>
              <a:rPr kumimoji="1" lang="en-US" altLang="zh-CN" sz="1800" baseline="-30000" dirty="0">
                <a:solidFill>
                  <a:srgbClr val="FF00FF"/>
                </a:solidFill>
                <a:latin typeface="Consolas" pitchFamily="49" charset="0"/>
                <a:ea typeface="仿宋" pitchFamily="49" charset="-122"/>
                <a:cs typeface="Consolas" pitchFamily="49" charset="0"/>
              </a:rPr>
              <a:t>2</a:t>
            </a:r>
            <a:r>
              <a:rPr kumimoji="1" lang="zh-CN" altLang="en-US" sz="1800" dirty="0">
                <a:solidFill>
                  <a:srgbClr val="FF00FF"/>
                </a:solidFill>
                <a:latin typeface="Consolas" pitchFamily="49" charset="0"/>
                <a:ea typeface="仿宋" pitchFamily="49" charset="-122"/>
                <a:cs typeface="Consolas" pitchFamily="49" charset="0"/>
              </a:rPr>
              <a:t>，</a:t>
            </a:r>
            <a:r>
              <a:rPr kumimoji="1" lang="en-US" altLang="zh-CN" sz="1800" dirty="0">
                <a:solidFill>
                  <a:srgbClr val="FF00FF"/>
                </a:solidFill>
                <a:latin typeface="宋体" pitchFamily="2" charset="-122"/>
                <a:ea typeface="宋体" pitchFamily="2" charset="-122"/>
                <a:cs typeface="Consolas" pitchFamily="49" charset="0"/>
              </a:rPr>
              <a:t>…</a:t>
            </a:r>
            <a:r>
              <a:rPr kumimoji="1" lang="zh-CN" altLang="en-US" sz="1800" dirty="0">
                <a:solidFill>
                  <a:srgbClr val="FF00FF"/>
                </a:solidFill>
                <a:latin typeface="Consolas" pitchFamily="49" charset="0"/>
                <a:ea typeface="仿宋" pitchFamily="49" charset="-122"/>
                <a:cs typeface="Consolas" pitchFamily="49" charset="0"/>
              </a:rPr>
              <a:t>，</a:t>
            </a:r>
            <a:r>
              <a:rPr kumimoji="1" lang="en-US" altLang="zh-CN" sz="1800" i="1" dirty="0" err="1">
                <a:solidFill>
                  <a:srgbClr val="FF00FF"/>
                </a:solidFill>
                <a:latin typeface="Consolas" pitchFamily="49" charset="0"/>
                <a:ea typeface="仿宋" pitchFamily="49" charset="-122"/>
                <a:cs typeface="Consolas" pitchFamily="49" charset="0"/>
              </a:rPr>
              <a:t>v</a:t>
            </a:r>
            <a:r>
              <a:rPr kumimoji="1" lang="en-US" altLang="zh-CN" sz="1800" i="1" baseline="-30000" dirty="0" err="1">
                <a:solidFill>
                  <a:srgbClr val="FF00FF"/>
                </a:solidFill>
                <a:latin typeface="Consolas" pitchFamily="49" charset="0"/>
                <a:ea typeface="仿宋" pitchFamily="49" charset="-122"/>
                <a:cs typeface="Consolas" pitchFamily="49" charset="0"/>
              </a:rPr>
              <a:t>t</a:t>
            </a:r>
            <a:r>
              <a:rPr kumimoji="1" lang="zh-CN" altLang="en-US" sz="1800" dirty="0">
                <a:solidFill>
                  <a:srgbClr val="0000FF"/>
                </a:solidFill>
                <a:latin typeface="Consolas" pitchFamily="49" charset="0"/>
                <a:ea typeface="仿宋" pitchFamily="49" charset="-122"/>
                <a:cs typeface="Consolas" pitchFamily="49" charset="0"/>
              </a:rPr>
              <a:t>的次序，访问每一个顶点的所有未被访问过的邻接点。　　　</a:t>
            </a:r>
          </a:p>
          <a:p>
            <a:pPr algn="just">
              <a:lnSpc>
                <a:spcPct val="110000"/>
              </a:lnSpc>
              <a:spcBef>
                <a:spcPct val="50000"/>
              </a:spcBef>
              <a:defRPr/>
            </a:pPr>
            <a:r>
              <a:rPr kumimoji="1" lang="zh-CN" altLang="en-US" sz="1800" dirty="0">
                <a:solidFill>
                  <a:srgbClr val="0000FF"/>
                </a:solidFill>
                <a:latin typeface="Consolas" pitchFamily="49" charset="0"/>
                <a:ea typeface="仿宋" pitchFamily="49" charset="-122"/>
                <a:cs typeface="Consolas" pitchFamily="49" charset="0"/>
              </a:rPr>
              <a:t>　（</a:t>
            </a:r>
            <a:r>
              <a:rPr kumimoji="1" lang="en-US" altLang="zh-CN" sz="1800" dirty="0">
                <a:solidFill>
                  <a:srgbClr val="0000FF"/>
                </a:solidFill>
                <a:latin typeface="Consolas" pitchFamily="49" charset="0"/>
                <a:ea typeface="仿宋" pitchFamily="49" charset="-122"/>
                <a:cs typeface="Consolas" pitchFamily="49" charset="0"/>
              </a:rPr>
              <a:t>3</a:t>
            </a:r>
            <a:r>
              <a:rPr kumimoji="1" lang="zh-CN" altLang="en-US" sz="1800" dirty="0">
                <a:solidFill>
                  <a:srgbClr val="0000FF"/>
                </a:solidFill>
                <a:latin typeface="Consolas" pitchFamily="49" charset="0"/>
                <a:ea typeface="仿宋" pitchFamily="49" charset="-122"/>
                <a:cs typeface="Consolas" pitchFamily="49" charset="0"/>
              </a:rPr>
              <a:t>）依次类推，直到图中所有和初始点</a:t>
            </a:r>
            <a:r>
              <a:rPr kumimoji="1" lang="en-US" altLang="zh-CN" sz="1800" i="1" dirty="0">
                <a:solidFill>
                  <a:srgbClr val="0000FF"/>
                </a:solidFill>
                <a:latin typeface="Consolas" pitchFamily="49" charset="0"/>
                <a:ea typeface="仿宋" pitchFamily="49" charset="-122"/>
                <a:cs typeface="Consolas" pitchFamily="49" charset="0"/>
              </a:rPr>
              <a:t>v</a:t>
            </a:r>
            <a:r>
              <a:rPr kumimoji="1" lang="zh-CN" altLang="en-US" sz="1800" dirty="0">
                <a:solidFill>
                  <a:srgbClr val="0000FF"/>
                </a:solidFill>
                <a:latin typeface="Consolas" pitchFamily="49" charset="0"/>
                <a:ea typeface="仿宋" pitchFamily="49" charset="-122"/>
                <a:cs typeface="Consolas" pitchFamily="49" charset="0"/>
              </a:rPr>
              <a:t>有路径相通的顶点都被访问过为止。       </a:t>
            </a:r>
          </a:p>
        </p:txBody>
      </p:sp>
      <p:sp>
        <p:nvSpPr>
          <p:cNvPr id="14" name="文本框 13">
            <a:extLst>
              <a:ext uri="{FF2B5EF4-FFF2-40B4-BE49-F238E27FC236}">
                <a16:creationId xmlns:a16="http://schemas.microsoft.com/office/drawing/2014/main" id="{23225FF1-B10E-A1E1-4DFF-4CF682734F70}"/>
              </a:ext>
            </a:extLst>
          </p:cNvPr>
          <p:cNvSpPr txBox="1"/>
          <p:nvPr/>
        </p:nvSpPr>
        <p:spPr>
          <a:xfrm>
            <a:off x="1919536" y="2370454"/>
            <a:ext cx="6107836" cy="369332"/>
          </a:xfrm>
          <a:prstGeom prst="rect">
            <a:avLst/>
          </a:prstGeom>
          <a:noFill/>
        </p:spPr>
        <p:txBody>
          <a:bodyPr wrap="square">
            <a:spAutoFit/>
          </a:bodyPr>
          <a:lstStyle/>
          <a:p>
            <a:pPr algn="l"/>
            <a:r>
              <a:rPr kumimoji="1" lang="zh-CN" altLang="en-US" sz="1800" dirty="0">
                <a:latin typeface="Consolas" pitchFamily="49" charset="0"/>
                <a:ea typeface="仿宋" pitchFamily="49" charset="-122"/>
                <a:cs typeface="Consolas" pitchFamily="49" charset="0"/>
              </a:rPr>
              <a:t>广度优先搜索遍历体现先进先出的特点，用</a:t>
            </a:r>
            <a:r>
              <a:rPr kumimoji="1" lang="zh-CN" altLang="en-US" sz="1800" dirty="0">
                <a:solidFill>
                  <a:srgbClr val="C00000"/>
                </a:solidFill>
                <a:latin typeface="方正启体简体" pitchFamily="65" charset="-122"/>
                <a:ea typeface="方正启体简体" pitchFamily="65" charset="-122"/>
                <a:cs typeface="Consolas" pitchFamily="49" charset="0"/>
              </a:rPr>
              <a:t>队列</a:t>
            </a:r>
            <a:r>
              <a:rPr kumimoji="1" lang="zh-CN" altLang="en-US" sz="1800" dirty="0">
                <a:latin typeface="Consolas" pitchFamily="49" charset="0"/>
                <a:ea typeface="仿宋" pitchFamily="49" charset="-122"/>
                <a:cs typeface="Consolas" pitchFamily="49" charset="0"/>
              </a:rPr>
              <a:t>实现。</a:t>
            </a:r>
            <a:endParaRPr lang="zh-CN" altLang="en-US" sz="1800" dirty="0">
              <a:latin typeface="Consolas" pitchFamily="49" charset="0"/>
              <a:ea typeface="仿宋" pitchFamily="49" charset="-122"/>
              <a:cs typeface="Consolas" pitchFamily="49" charset="0"/>
            </a:endParaRPr>
          </a:p>
        </p:txBody>
      </p:sp>
    </p:spTree>
    <p:extLst>
      <p:ext uri="{BB962C8B-B14F-4D97-AF65-F5344CB8AC3E}">
        <p14:creationId xmlns:p14="http://schemas.microsoft.com/office/powerpoint/2010/main" val="21784338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38697D-0FED-D707-6514-F2F1937F4F2D}"/>
            </a:ext>
          </a:extLst>
        </p:cNvPr>
        <p:cNvGrpSpPr/>
        <p:nvPr/>
      </p:nvGrpSpPr>
      <p:grpSpPr>
        <a:xfrm>
          <a:off x="0" y="0"/>
          <a:ext cx="0" cy="0"/>
          <a:chOff x="0" y="0"/>
          <a:chExt cx="0" cy="0"/>
        </a:xfrm>
      </p:grpSpPr>
      <p:sp>
        <p:nvSpPr>
          <p:cNvPr id="2" name="Rectangle 2">
            <a:extLst>
              <a:ext uri="{FF2B5EF4-FFF2-40B4-BE49-F238E27FC236}">
                <a16:creationId xmlns:a16="http://schemas.microsoft.com/office/drawing/2014/main" id="{546D0700-D024-CCAA-72B9-34ECBD579D04}"/>
              </a:ext>
            </a:extLst>
          </p:cNvPr>
          <p:cNvSpPr txBox="1">
            <a:spLocks noChangeArrowheads="1"/>
          </p:cNvSpPr>
          <p:nvPr/>
        </p:nvSpPr>
        <p:spPr>
          <a:xfrm>
            <a:off x="474772" y="1230902"/>
            <a:ext cx="4253076"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8.3.3 </a:t>
            </a:r>
            <a:r>
              <a:rPr kumimoji="1" lang="zh-CN" altLang="en-US" dirty="0">
                <a:latin typeface="微软雅黑" pitchFamily="34" charset="-122"/>
                <a:ea typeface="微软雅黑" pitchFamily="34" charset="-122"/>
              </a:rPr>
              <a:t>广度优先遍历算法</a:t>
            </a:r>
            <a:endParaRPr lang="zh-CN" altLang="en-US" dirty="0"/>
          </a:p>
        </p:txBody>
      </p:sp>
      <p:sp>
        <p:nvSpPr>
          <p:cNvPr id="3" name="矩形 2">
            <a:extLst>
              <a:ext uri="{FF2B5EF4-FFF2-40B4-BE49-F238E27FC236}">
                <a16:creationId xmlns:a16="http://schemas.microsoft.com/office/drawing/2014/main" id="{8E55A33D-A50B-5EF2-C6BF-6109B03FBF85}"/>
              </a:ext>
            </a:extLst>
          </p:cNvPr>
          <p:cNvSpPr/>
          <p:nvPr/>
        </p:nvSpPr>
        <p:spPr>
          <a:xfrm>
            <a:off x="3200907" y="399148"/>
            <a:ext cx="4617860"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8.3 </a:t>
            </a:r>
            <a:r>
              <a:rPr lang="zh-CN" altLang="en-US" sz="3000" b="1" dirty="0">
                <a:latin typeface="黑体" pitchFamily="49" charset="-122"/>
                <a:ea typeface="黑体" pitchFamily="49" charset="-122"/>
                <a:cs typeface="经典粗黑简" pitchFamily="49" charset="-122"/>
              </a:rPr>
              <a:t>图的遍历</a:t>
            </a:r>
          </a:p>
        </p:txBody>
      </p:sp>
      <p:cxnSp>
        <p:nvCxnSpPr>
          <p:cNvPr id="4" name="直接连接符 3">
            <a:extLst>
              <a:ext uri="{FF2B5EF4-FFF2-40B4-BE49-F238E27FC236}">
                <a16:creationId xmlns:a16="http://schemas.microsoft.com/office/drawing/2014/main" id="{BA65FA6F-DC48-91BD-7D25-9DCA6BFE68F8}"/>
              </a:ext>
            </a:extLst>
          </p:cNvPr>
          <p:cNvCxnSpPr>
            <a:cxnSpLocks/>
          </p:cNvCxnSpPr>
          <p:nvPr/>
        </p:nvCxnSpPr>
        <p:spPr>
          <a:xfrm>
            <a:off x="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5" name="Text Box 2">
            <a:extLst>
              <a:ext uri="{FF2B5EF4-FFF2-40B4-BE49-F238E27FC236}">
                <a16:creationId xmlns:a16="http://schemas.microsoft.com/office/drawing/2014/main" id="{528DA889-0B64-FB43-B5AA-C26F19EA385B}"/>
              </a:ext>
            </a:extLst>
          </p:cNvPr>
          <p:cNvSpPr txBox="1">
            <a:spLocks noChangeArrowheads="1"/>
          </p:cNvSpPr>
          <p:nvPr/>
        </p:nvSpPr>
        <p:spPr bwMode="auto">
          <a:xfrm>
            <a:off x="1394812" y="2416320"/>
            <a:ext cx="7981976" cy="4137882"/>
          </a:xfrm>
          <a:prstGeom prst="rect">
            <a:avLst/>
          </a:prstGeom>
          <a:solidFill>
            <a:schemeClr val="bg1">
              <a:lumMod val="95000"/>
            </a:schemeClr>
          </a:solidFill>
          <a:ln>
            <a:noFill/>
            <a:headEnd/>
            <a:tailEnd/>
          </a:ln>
          <a:effectLst/>
          <a:scene3d>
            <a:camera prst="orthographicFront">
              <a:rot lat="0" lon="0" rev="0"/>
            </a:camera>
            <a:lightRig rig="chilly" dir="t">
              <a:rot lat="0" lon="0" rev="18480000"/>
            </a:lightRig>
          </a:scene3d>
          <a:sp3d prstMaterial="clear">
            <a:bevelT h="63500"/>
          </a:sp3d>
        </p:spPr>
        <p:style>
          <a:lnRef idx="1">
            <a:schemeClr val="accent3"/>
          </a:lnRef>
          <a:fillRef idx="2">
            <a:schemeClr val="accent3"/>
          </a:fillRef>
          <a:effectRef idx="1">
            <a:schemeClr val="accent3"/>
          </a:effectRef>
          <a:fontRef idx="minor">
            <a:schemeClr val="dk1"/>
          </a:fontRef>
        </p:style>
        <p:txBody>
          <a:bodyPr wrap="square" lIns="216000" tIns="180000" bIns="180000">
            <a:spAutoFit/>
          </a:bodyPr>
          <a:lstStyle/>
          <a:p>
            <a:pPr algn="l">
              <a:lnSpc>
                <a:spcPts val="2700"/>
              </a:lnSpc>
            </a:pPr>
            <a:r>
              <a:rPr lang="en-US" sz="1800">
                <a:solidFill>
                  <a:srgbClr val="0000FF"/>
                </a:solidFill>
                <a:latin typeface="Consolas" pitchFamily="49" charset="0"/>
                <a:ea typeface="仿宋" pitchFamily="49" charset="-122"/>
                <a:cs typeface="Consolas" pitchFamily="49" charset="0"/>
              </a:rPr>
              <a:t>void </a:t>
            </a:r>
            <a:r>
              <a:rPr lang="en-US" sz="1800">
                <a:solidFill>
                  <a:srgbClr val="FF0000"/>
                </a:solidFill>
                <a:latin typeface="Consolas" pitchFamily="49" charset="0"/>
                <a:ea typeface="仿宋" pitchFamily="49" charset="-122"/>
                <a:cs typeface="Consolas" pitchFamily="49" charset="0"/>
              </a:rPr>
              <a:t>BFS</a:t>
            </a:r>
            <a:r>
              <a:rPr lang="en-US" sz="1800">
                <a:solidFill>
                  <a:srgbClr val="0000FF"/>
                </a:solidFill>
                <a:latin typeface="Consolas" pitchFamily="49" charset="0"/>
                <a:ea typeface="仿宋" pitchFamily="49" charset="-122"/>
                <a:cs typeface="Consolas" pitchFamily="49" charset="0"/>
              </a:rPr>
              <a:t>(AdjGraph *G，int v)</a:t>
            </a:r>
            <a:endParaRPr lang="zh-CN" altLang="en-US" sz="1800">
              <a:solidFill>
                <a:srgbClr val="0000FF"/>
              </a:solidFill>
              <a:latin typeface="Consolas" pitchFamily="49" charset="0"/>
              <a:ea typeface="仿宋" pitchFamily="49" charset="-122"/>
              <a:cs typeface="Consolas" pitchFamily="49" charset="0"/>
            </a:endParaRPr>
          </a:p>
          <a:p>
            <a:pPr algn="l">
              <a:lnSpc>
                <a:spcPts val="2700"/>
              </a:lnSpc>
            </a:pPr>
            <a:r>
              <a:rPr lang="en-US" sz="1800">
                <a:solidFill>
                  <a:srgbClr val="0000FF"/>
                </a:solidFill>
                <a:latin typeface="Consolas" pitchFamily="49" charset="0"/>
                <a:ea typeface="仿宋" pitchFamily="49" charset="-122"/>
                <a:cs typeface="Consolas" pitchFamily="49" charset="0"/>
              </a:rPr>
              <a:t>{  int w， i;</a:t>
            </a:r>
          </a:p>
          <a:p>
            <a:pPr algn="l">
              <a:lnSpc>
                <a:spcPts val="2700"/>
              </a:lnSpc>
            </a:pPr>
            <a:r>
              <a:rPr lang="en-US" sz="1800">
                <a:solidFill>
                  <a:srgbClr val="0000FF"/>
                </a:solidFill>
                <a:latin typeface="Consolas" pitchFamily="49" charset="0"/>
                <a:ea typeface="仿宋" pitchFamily="49" charset="-122"/>
                <a:cs typeface="Consolas" pitchFamily="49" charset="0"/>
              </a:rPr>
              <a:t>   ArcNode *p;</a:t>
            </a:r>
            <a:endParaRPr lang="zh-CN" altLang="en-US" sz="1800">
              <a:solidFill>
                <a:srgbClr val="0000FF"/>
              </a:solidFill>
              <a:latin typeface="Consolas" pitchFamily="49" charset="0"/>
              <a:ea typeface="仿宋" pitchFamily="49" charset="-122"/>
              <a:cs typeface="Consolas" pitchFamily="49" charset="0"/>
            </a:endParaRPr>
          </a:p>
          <a:p>
            <a:pPr algn="l">
              <a:lnSpc>
                <a:spcPts val="2700"/>
              </a:lnSpc>
            </a:pPr>
            <a:r>
              <a:rPr lang="en-US" sz="1800">
                <a:solidFill>
                  <a:srgbClr val="0000FF"/>
                </a:solidFill>
                <a:latin typeface="Consolas" pitchFamily="49" charset="0"/>
                <a:ea typeface="仿宋" pitchFamily="49" charset="-122"/>
                <a:cs typeface="Consolas" pitchFamily="49" charset="0"/>
              </a:rPr>
              <a:t>   SqQueue *qu;			</a:t>
            </a:r>
            <a:r>
              <a:rPr lang="en-US" sz="1800">
                <a:solidFill>
                  <a:srgbClr val="00B0F0"/>
                </a:solidFill>
                <a:latin typeface="Consolas" pitchFamily="49" charset="0"/>
                <a:ea typeface="仿宋" pitchFamily="49" charset="-122"/>
                <a:cs typeface="Consolas" pitchFamily="49" charset="0"/>
              </a:rPr>
              <a:t>//</a:t>
            </a:r>
            <a:r>
              <a:rPr lang="zh-CN" altLang="en-US" sz="1800">
                <a:solidFill>
                  <a:srgbClr val="00B0F0"/>
                </a:solidFill>
                <a:latin typeface="Consolas" pitchFamily="49" charset="0"/>
                <a:ea typeface="仿宋" pitchFamily="49" charset="-122"/>
                <a:cs typeface="Consolas" pitchFamily="49" charset="0"/>
              </a:rPr>
              <a:t>定义环形队列指针</a:t>
            </a:r>
          </a:p>
          <a:p>
            <a:pPr algn="l">
              <a:lnSpc>
                <a:spcPts val="2700"/>
              </a:lnSpc>
            </a:pPr>
            <a:r>
              <a:rPr lang="en-US" sz="1800">
                <a:solidFill>
                  <a:srgbClr val="0000FF"/>
                </a:solidFill>
                <a:latin typeface="Consolas" pitchFamily="49" charset="0"/>
                <a:ea typeface="仿宋" pitchFamily="49" charset="-122"/>
                <a:cs typeface="Consolas" pitchFamily="49" charset="0"/>
              </a:rPr>
              <a:t>   </a:t>
            </a:r>
            <a:r>
              <a:rPr lang="en-US" sz="1800">
                <a:solidFill>
                  <a:srgbClr val="FF00FF"/>
                </a:solidFill>
                <a:latin typeface="Consolas" pitchFamily="49" charset="0"/>
                <a:ea typeface="仿宋" pitchFamily="49" charset="-122"/>
                <a:cs typeface="Consolas" pitchFamily="49" charset="0"/>
              </a:rPr>
              <a:t>InitQueue(qu);</a:t>
            </a:r>
            <a:r>
              <a:rPr lang="en-US" sz="1800">
                <a:solidFill>
                  <a:srgbClr val="0000FF"/>
                </a:solidFill>
                <a:latin typeface="Consolas" pitchFamily="49" charset="0"/>
                <a:ea typeface="仿宋" pitchFamily="49" charset="-122"/>
                <a:cs typeface="Consolas" pitchFamily="49" charset="0"/>
              </a:rPr>
              <a:t>			</a:t>
            </a:r>
            <a:r>
              <a:rPr lang="en-US" sz="1800">
                <a:solidFill>
                  <a:srgbClr val="00B0F0"/>
                </a:solidFill>
                <a:latin typeface="Consolas" pitchFamily="49" charset="0"/>
                <a:ea typeface="仿宋" pitchFamily="49" charset="-122"/>
                <a:cs typeface="Consolas" pitchFamily="49" charset="0"/>
              </a:rPr>
              <a:t>//</a:t>
            </a:r>
            <a:r>
              <a:rPr lang="zh-CN" altLang="en-US" sz="1800">
                <a:solidFill>
                  <a:srgbClr val="00B0F0"/>
                </a:solidFill>
                <a:latin typeface="Consolas" pitchFamily="49" charset="0"/>
                <a:ea typeface="仿宋" pitchFamily="49" charset="-122"/>
                <a:cs typeface="Consolas" pitchFamily="49" charset="0"/>
              </a:rPr>
              <a:t>初始化队列</a:t>
            </a:r>
          </a:p>
          <a:p>
            <a:pPr algn="l">
              <a:lnSpc>
                <a:spcPts val="2700"/>
              </a:lnSpc>
            </a:pPr>
            <a:r>
              <a:rPr lang="en-US" sz="1800">
                <a:solidFill>
                  <a:srgbClr val="0000FF"/>
                </a:solidFill>
                <a:latin typeface="Consolas" pitchFamily="49" charset="0"/>
                <a:ea typeface="仿宋" pitchFamily="49" charset="-122"/>
                <a:cs typeface="Consolas" pitchFamily="49" charset="0"/>
              </a:rPr>
              <a:t>   int visited[MAXV];        		</a:t>
            </a:r>
            <a:r>
              <a:rPr lang="en-US" sz="1800">
                <a:solidFill>
                  <a:srgbClr val="00B0F0"/>
                </a:solidFill>
                <a:latin typeface="Consolas" pitchFamily="49" charset="0"/>
                <a:ea typeface="仿宋" pitchFamily="49" charset="-122"/>
                <a:cs typeface="Consolas" pitchFamily="49" charset="0"/>
              </a:rPr>
              <a:t>//</a:t>
            </a:r>
            <a:r>
              <a:rPr lang="zh-CN" altLang="en-US" sz="1800">
                <a:solidFill>
                  <a:srgbClr val="00B0F0"/>
                </a:solidFill>
                <a:latin typeface="Consolas" pitchFamily="49" charset="0"/>
                <a:ea typeface="仿宋" pitchFamily="49" charset="-122"/>
                <a:cs typeface="Consolas" pitchFamily="49" charset="0"/>
              </a:rPr>
              <a:t>定义顶点访问标记数组</a:t>
            </a:r>
          </a:p>
          <a:p>
            <a:pPr algn="l">
              <a:lnSpc>
                <a:spcPts val="2700"/>
              </a:lnSpc>
            </a:pPr>
            <a:r>
              <a:rPr lang="en-US" sz="1800">
                <a:solidFill>
                  <a:srgbClr val="0000FF"/>
                </a:solidFill>
                <a:latin typeface="Consolas" pitchFamily="49" charset="0"/>
                <a:ea typeface="仿宋" pitchFamily="49" charset="-122"/>
                <a:cs typeface="Consolas" pitchFamily="49" charset="0"/>
              </a:rPr>
              <a:t>   for (i=0;i&lt;G-&gt;n;i++) </a:t>
            </a:r>
          </a:p>
          <a:p>
            <a:pPr algn="l">
              <a:lnSpc>
                <a:spcPts val="2700"/>
              </a:lnSpc>
            </a:pPr>
            <a:r>
              <a:rPr lang="en-US" sz="1800">
                <a:solidFill>
                  <a:srgbClr val="0000FF"/>
                </a:solidFill>
                <a:latin typeface="Consolas" pitchFamily="49" charset="0"/>
                <a:ea typeface="仿宋" pitchFamily="49" charset="-122"/>
                <a:cs typeface="Consolas" pitchFamily="49" charset="0"/>
              </a:rPr>
              <a:t>     visited[i]=0;	  		</a:t>
            </a:r>
            <a:r>
              <a:rPr lang="en-US" sz="1800">
                <a:solidFill>
                  <a:srgbClr val="00B0F0"/>
                </a:solidFill>
                <a:latin typeface="Consolas" pitchFamily="49" charset="0"/>
                <a:ea typeface="仿宋" pitchFamily="49" charset="-122"/>
                <a:cs typeface="Consolas" pitchFamily="49" charset="0"/>
              </a:rPr>
              <a:t>//</a:t>
            </a:r>
            <a:r>
              <a:rPr lang="zh-CN" altLang="en-US" sz="1800">
                <a:solidFill>
                  <a:srgbClr val="00B0F0"/>
                </a:solidFill>
                <a:latin typeface="Consolas" pitchFamily="49" charset="0"/>
                <a:ea typeface="仿宋" pitchFamily="49" charset="-122"/>
                <a:cs typeface="Consolas" pitchFamily="49" charset="0"/>
              </a:rPr>
              <a:t>访问标记数组初始化</a:t>
            </a:r>
            <a:endParaRPr lang="en-US" altLang="zh-CN" sz="1800">
              <a:solidFill>
                <a:srgbClr val="00B0F0"/>
              </a:solidFill>
              <a:latin typeface="Consolas" pitchFamily="49" charset="0"/>
              <a:ea typeface="仿宋" pitchFamily="49" charset="-122"/>
              <a:cs typeface="Consolas" pitchFamily="49" charset="0"/>
            </a:endParaRPr>
          </a:p>
          <a:p>
            <a:pPr algn="l">
              <a:lnSpc>
                <a:spcPts val="2700"/>
              </a:lnSpc>
            </a:pPr>
            <a:r>
              <a:rPr lang="en-US" sz="1800">
                <a:solidFill>
                  <a:srgbClr val="00B050"/>
                </a:solidFill>
                <a:latin typeface="Consolas" pitchFamily="49" charset="0"/>
                <a:ea typeface="仿宋" pitchFamily="49" charset="-122"/>
                <a:cs typeface="Consolas" pitchFamily="49" charset="0"/>
              </a:rPr>
              <a:t>   </a:t>
            </a:r>
            <a:r>
              <a:rPr lang="en-US" sz="1800">
                <a:solidFill>
                  <a:srgbClr val="0000FF"/>
                </a:solidFill>
                <a:latin typeface="Consolas" pitchFamily="49" charset="0"/>
                <a:ea typeface="仿宋" pitchFamily="49" charset="-122"/>
                <a:cs typeface="Consolas" pitchFamily="49" charset="0"/>
              </a:rPr>
              <a:t>printf("%2d"，v); 			</a:t>
            </a:r>
            <a:r>
              <a:rPr lang="en-US" sz="1800">
                <a:solidFill>
                  <a:srgbClr val="00B0F0"/>
                </a:solidFill>
                <a:latin typeface="Consolas" pitchFamily="49" charset="0"/>
                <a:ea typeface="仿宋" pitchFamily="49" charset="-122"/>
                <a:cs typeface="Consolas" pitchFamily="49" charset="0"/>
              </a:rPr>
              <a:t>//</a:t>
            </a:r>
            <a:r>
              <a:rPr lang="zh-CN" altLang="en-US" sz="1800">
                <a:solidFill>
                  <a:srgbClr val="00B0F0"/>
                </a:solidFill>
                <a:latin typeface="Consolas" pitchFamily="49" charset="0"/>
                <a:ea typeface="仿宋" pitchFamily="49" charset="-122"/>
                <a:cs typeface="Consolas" pitchFamily="49" charset="0"/>
              </a:rPr>
              <a:t>输出被访问顶点的编号</a:t>
            </a:r>
          </a:p>
          <a:p>
            <a:pPr algn="l">
              <a:lnSpc>
                <a:spcPts val="2700"/>
              </a:lnSpc>
            </a:pPr>
            <a:r>
              <a:rPr lang="en-US" sz="1800">
                <a:solidFill>
                  <a:srgbClr val="0000FF"/>
                </a:solidFill>
                <a:latin typeface="Consolas" pitchFamily="49" charset="0"/>
                <a:ea typeface="仿宋" pitchFamily="49" charset="-122"/>
                <a:cs typeface="Consolas" pitchFamily="49" charset="0"/>
              </a:rPr>
              <a:t>   visited[v]=1;             		</a:t>
            </a:r>
            <a:r>
              <a:rPr lang="en-US" sz="1800">
                <a:solidFill>
                  <a:srgbClr val="00B0F0"/>
                </a:solidFill>
                <a:latin typeface="Consolas" pitchFamily="49" charset="0"/>
                <a:ea typeface="仿宋" pitchFamily="49" charset="-122"/>
                <a:cs typeface="Consolas" pitchFamily="49" charset="0"/>
              </a:rPr>
              <a:t>//</a:t>
            </a:r>
            <a:r>
              <a:rPr lang="zh-CN" altLang="en-US" sz="1800">
                <a:solidFill>
                  <a:srgbClr val="00B0F0"/>
                </a:solidFill>
                <a:latin typeface="Consolas" pitchFamily="49" charset="0"/>
                <a:ea typeface="仿宋" pitchFamily="49" charset="-122"/>
                <a:cs typeface="Consolas" pitchFamily="49" charset="0"/>
              </a:rPr>
              <a:t>置已访问标记</a:t>
            </a:r>
          </a:p>
          <a:p>
            <a:pPr algn="l">
              <a:lnSpc>
                <a:spcPts val="2700"/>
              </a:lnSpc>
            </a:pPr>
            <a:r>
              <a:rPr lang="en-US" sz="1800">
                <a:solidFill>
                  <a:srgbClr val="0000FF"/>
                </a:solidFill>
                <a:latin typeface="Consolas" pitchFamily="49" charset="0"/>
                <a:ea typeface="仿宋" pitchFamily="49" charset="-122"/>
                <a:cs typeface="Consolas" pitchFamily="49" charset="0"/>
              </a:rPr>
              <a:t>   </a:t>
            </a:r>
            <a:r>
              <a:rPr lang="en-US" sz="1800">
                <a:solidFill>
                  <a:srgbClr val="FF00FF"/>
                </a:solidFill>
                <a:latin typeface="Consolas" pitchFamily="49" charset="0"/>
                <a:ea typeface="仿宋" pitchFamily="49" charset="-122"/>
                <a:cs typeface="Consolas" pitchFamily="49" charset="0"/>
              </a:rPr>
              <a:t>enQueue(qu，v);</a:t>
            </a:r>
            <a:endParaRPr lang="zh-CN" altLang="en-US" sz="1800">
              <a:solidFill>
                <a:srgbClr val="FF00FF"/>
              </a:solidFill>
              <a:latin typeface="Consolas" pitchFamily="49" charset="0"/>
              <a:ea typeface="仿宋" pitchFamily="49" charset="-122"/>
              <a:cs typeface="Consolas" pitchFamily="49" charset="0"/>
            </a:endParaRPr>
          </a:p>
        </p:txBody>
      </p:sp>
      <p:sp>
        <p:nvSpPr>
          <p:cNvPr id="13" name="Text Box 3">
            <a:extLst>
              <a:ext uri="{FF2B5EF4-FFF2-40B4-BE49-F238E27FC236}">
                <a16:creationId xmlns:a16="http://schemas.microsoft.com/office/drawing/2014/main" id="{D8DE9A7E-3CBE-FFBA-F223-1BF601B74341}"/>
              </a:ext>
            </a:extLst>
          </p:cNvPr>
          <p:cNvSpPr txBox="1">
            <a:spLocks noChangeArrowheads="1"/>
          </p:cNvSpPr>
          <p:nvPr/>
        </p:nvSpPr>
        <p:spPr bwMode="auto">
          <a:xfrm>
            <a:off x="5405538" y="1916619"/>
            <a:ext cx="6336704" cy="400110"/>
          </a:xfrm>
          <a:prstGeom prst="rect">
            <a:avLst/>
          </a:prstGeom>
          <a:noFill/>
          <a:ln w="19050" algn="ctr">
            <a:noFill/>
            <a:miter lim="800000"/>
            <a:headEnd/>
            <a:tailEnd type="none" w="med" len="lg"/>
          </a:ln>
        </p:spPr>
        <p:txBody>
          <a:bodyPr wrap="square">
            <a:spAutoFit/>
          </a:bodyPr>
          <a:lstStyle/>
          <a:p>
            <a:pPr algn="l">
              <a:spcBef>
                <a:spcPct val="50000"/>
              </a:spcBef>
            </a:pPr>
            <a:r>
              <a:rPr lang="zh-CN" altLang="en-US" sz="2000" dirty="0">
                <a:solidFill>
                  <a:srgbClr val="FF0000"/>
                </a:solidFill>
                <a:latin typeface="Consolas" pitchFamily="49" charset="0"/>
                <a:ea typeface="方正启体简体" pitchFamily="65" charset="-122"/>
                <a:cs typeface="Consolas" pitchFamily="49" charset="0"/>
              </a:rPr>
              <a:t>思考题：</a:t>
            </a:r>
            <a:r>
              <a:rPr lang="zh-CN" altLang="en-US" sz="2000" dirty="0">
                <a:latin typeface="Consolas" pitchFamily="49" charset="0"/>
                <a:ea typeface="方正启体简体" pitchFamily="65" charset="-122"/>
                <a:cs typeface="Consolas" pitchFamily="49" charset="0"/>
              </a:rPr>
              <a:t>为什么</a:t>
            </a:r>
            <a:r>
              <a:rPr lang="en-US" altLang="zh-CN" sz="2000" dirty="0">
                <a:latin typeface="Consolas" pitchFamily="49" charset="0"/>
                <a:ea typeface="方正启体简体" pitchFamily="65" charset="-122"/>
                <a:cs typeface="Consolas" pitchFamily="49" charset="0"/>
              </a:rPr>
              <a:t>visited</a:t>
            </a:r>
            <a:r>
              <a:rPr lang="zh-CN" altLang="en-US" sz="2000" dirty="0">
                <a:latin typeface="Consolas" pitchFamily="49" charset="0"/>
                <a:ea typeface="方正启体简体" pitchFamily="65" charset="-122"/>
                <a:cs typeface="Consolas" pitchFamily="49" charset="0"/>
              </a:rPr>
              <a:t>数组不需要设置为全局变量？</a:t>
            </a:r>
          </a:p>
        </p:txBody>
      </p:sp>
      <p:sp>
        <p:nvSpPr>
          <p:cNvPr id="15" name="Text Box 4">
            <a:extLst>
              <a:ext uri="{FF2B5EF4-FFF2-40B4-BE49-F238E27FC236}">
                <a16:creationId xmlns:a16="http://schemas.microsoft.com/office/drawing/2014/main" id="{D1FB308E-8649-EFCB-1B04-DA16B859B660}"/>
              </a:ext>
            </a:extLst>
          </p:cNvPr>
          <p:cNvSpPr txBox="1">
            <a:spLocks noChangeArrowheads="1"/>
          </p:cNvSpPr>
          <p:nvPr/>
        </p:nvSpPr>
        <p:spPr bwMode="auto">
          <a:xfrm>
            <a:off x="1371127" y="1861169"/>
            <a:ext cx="3356721" cy="461665"/>
          </a:xfrm>
          <a:prstGeom prst="rect">
            <a:avLst/>
          </a:prstGeom>
          <a:noFill/>
          <a:ln w="28575" algn="ctr">
            <a:noFill/>
            <a:miter lim="800000"/>
            <a:headEnd/>
            <a:tailEnd type="none" w="med" len="lg"/>
          </a:ln>
        </p:spPr>
        <p:txBody>
          <a:bodyPr wrap="square">
            <a:spAutoFit/>
          </a:bodyPr>
          <a:lstStyle/>
          <a:p>
            <a:pPr algn="l">
              <a:spcBef>
                <a:spcPct val="50000"/>
              </a:spcBef>
            </a:pPr>
            <a:r>
              <a:rPr kumimoji="1" lang="zh-CN" altLang="en-US" sz="2400" dirty="0">
                <a:latin typeface="微软雅黑" pitchFamily="34" charset="-122"/>
                <a:ea typeface="微软雅黑" pitchFamily="34" charset="-122"/>
                <a:cs typeface="经典粗黑简" pitchFamily="49" charset="-122"/>
              </a:rPr>
              <a:t>采用邻接表的</a:t>
            </a:r>
            <a:r>
              <a:rPr kumimoji="1" lang="en-US" altLang="zh-CN" sz="2400" dirty="0" err="1">
                <a:latin typeface="微软雅黑" pitchFamily="34" charset="-122"/>
                <a:ea typeface="微软雅黑" pitchFamily="34" charset="-122"/>
                <a:cs typeface="经典粗黑简" pitchFamily="49" charset="-122"/>
              </a:rPr>
              <a:t>BFS</a:t>
            </a:r>
            <a:r>
              <a:rPr kumimoji="1" lang="zh-CN" altLang="en-US" sz="2400" dirty="0">
                <a:latin typeface="微软雅黑" pitchFamily="34" charset="-122"/>
                <a:ea typeface="微软雅黑" pitchFamily="34" charset="-122"/>
                <a:cs typeface="经典粗黑简" pitchFamily="49" charset="-122"/>
              </a:rPr>
              <a:t>算法：</a:t>
            </a:r>
          </a:p>
        </p:txBody>
      </p:sp>
    </p:spTree>
    <p:extLst>
      <p:ext uri="{BB962C8B-B14F-4D97-AF65-F5344CB8AC3E}">
        <p14:creationId xmlns:p14="http://schemas.microsoft.com/office/powerpoint/2010/main" val="3672643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
                                            <p:txEl>
                                              <p:pRg st="8" end="8"/>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10" end="1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428570-6564-36BC-3380-56E5290496E7}"/>
            </a:ext>
          </a:extLst>
        </p:cNvPr>
        <p:cNvGrpSpPr/>
        <p:nvPr/>
      </p:nvGrpSpPr>
      <p:grpSpPr>
        <a:xfrm>
          <a:off x="0" y="0"/>
          <a:ext cx="0" cy="0"/>
          <a:chOff x="0" y="0"/>
          <a:chExt cx="0" cy="0"/>
        </a:xfrm>
      </p:grpSpPr>
      <p:sp>
        <p:nvSpPr>
          <p:cNvPr id="2" name="Rectangle 2">
            <a:extLst>
              <a:ext uri="{FF2B5EF4-FFF2-40B4-BE49-F238E27FC236}">
                <a16:creationId xmlns:a16="http://schemas.microsoft.com/office/drawing/2014/main" id="{C757068C-BC9A-672E-E8C8-E2BB58089A9D}"/>
              </a:ext>
            </a:extLst>
          </p:cNvPr>
          <p:cNvSpPr txBox="1">
            <a:spLocks noChangeArrowheads="1"/>
          </p:cNvSpPr>
          <p:nvPr/>
        </p:nvSpPr>
        <p:spPr>
          <a:xfrm>
            <a:off x="474772" y="1230902"/>
            <a:ext cx="4253076"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8.3.3 </a:t>
            </a:r>
            <a:r>
              <a:rPr kumimoji="1" lang="zh-CN" altLang="en-US" dirty="0">
                <a:latin typeface="微软雅黑" pitchFamily="34" charset="-122"/>
                <a:ea typeface="微软雅黑" pitchFamily="34" charset="-122"/>
              </a:rPr>
              <a:t>广度优先遍历算法</a:t>
            </a:r>
            <a:endParaRPr lang="zh-CN" altLang="en-US" dirty="0"/>
          </a:p>
        </p:txBody>
      </p:sp>
      <p:sp>
        <p:nvSpPr>
          <p:cNvPr id="3" name="矩形 2">
            <a:extLst>
              <a:ext uri="{FF2B5EF4-FFF2-40B4-BE49-F238E27FC236}">
                <a16:creationId xmlns:a16="http://schemas.microsoft.com/office/drawing/2014/main" id="{C0CC4228-6939-C0D9-FDC7-D6DB377B6DFA}"/>
              </a:ext>
            </a:extLst>
          </p:cNvPr>
          <p:cNvSpPr/>
          <p:nvPr/>
        </p:nvSpPr>
        <p:spPr>
          <a:xfrm>
            <a:off x="3200907" y="399148"/>
            <a:ext cx="4617860"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8.3 </a:t>
            </a:r>
            <a:r>
              <a:rPr lang="zh-CN" altLang="en-US" sz="3000" b="1" dirty="0">
                <a:latin typeface="黑体" pitchFamily="49" charset="-122"/>
                <a:ea typeface="黑体" pitchFamily="49" charset="-122"/>
                <a:cs typeface="经典粗黑简" pitchFamily="49" charset="-122"/>
              </a:rPr>
              <a:t>图的遍历</a:t>
            </a:r>
          </a:p>
        </p:txBody>
      </p:sp>
      <p:cxnSp>
        <p:nvCxnSpPr>
          <p:cNvPr id="4" name="直接连接符 3">
            <a:extLst>
              <a:ext uri="{FF2B5EF4-FFF2-40B4-BE49-F238E27FC236}">
                <a16:creationId xmlns:a16="http://schemas.microsoft.com/office/drawing/2014/main" id="{39281598-2879-D89E-48F0-F76A114B07F5}"/>
              </a:ext>
            </a:extLst>
          </p:cNvPr>
          <p:cNvCxnSpPr>
            <a:cxnSpLocks/>
          </p:cNvCxnSpPr>
          <p:nvPr/>
        </p:nvCxnSpPr>
        <p:spPr>
          <a:xfrm>
            <a:off x="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15" name="Text Box 4">
            <a:extLst>
              <a:ext uri="{FF2B5EF4-FFF2-40B4-BE49-F238E27FC236}">
                <a16:creationId xmlns:a16="http://schemas.microsoft.com/office/drawing/2014/main" id="{C66D6963-D888-9FC4-4FE8-370B67F70660}"/>
              </a:ext>
            </a:extLst>
          </p:cNvPr>
          <p:cNvSpPr txBox="1">
            <a:spLocks noChangeArrowheads="1"/>
          </p:cNvSpPr>
          <p:nvPr/>
        </p:nvSpPr>
        <p:spPr bwMode="auto">
          <a:xfrm>
            <a:off x="1371127" y="1861169"/>
            <a:ext cx="3356721" cy="461665"/>
          </a:xfrm>
          <a:prstGeom prst="rect">
            <a:avLst/>
          </a:prstGeom>
          <a:noFill/>
          <a:ln w="28575" algn="ctr">
            <a:noFill/>
            <a:miter lim="800000"/>
            <a:headEnd/>
            <a:tailEnd type="none" w="med" len="lg"/>
          </a:ln>
        </p:spPr>
        <p:txBody>
          <a:bodyPr wrap="square">
            <a:spAutoFit/>
          </a:bodyPr>
          <a:lstStyle/>
          <a:p>
            <a:pPr algn="l">
              <a:spcBef>
                <a:spcPct val="50000"/>
              </a:spcBef>
            </a:pPr>
            <a:r>
              <a:rPr kumimoji="1" lang="zh-CN" altLang="en-US" sz="2400" dirty="0">
                <a:latin typeface="微软雅黑" pitchFamily="34" charset="-122"/>
                <a:ea typeface="微软雅黑" pitchFamily="34" charset="-122"/>
                <a:cs typeface="经典粗黑简" pitchFamily="49" charset="-122"/>
              </a:rPr>
              <a:t>采用邻接表的</a:t>
            </a:r>
            <a:r>
              <a:rPr kumimoji="1" lang="en-US" altLang="zh-CN" sz="2400" dirty="0" err="1">
                <a:latin typeface="微软雅黑" pitchFamily="34" charset="-122"/>
                <a:ea typeface="微软雅黑" pitchFamily="34" charset="-122"/>
                <a:cs typeface="经典粗黑简" pitchFamily="49" charset="-122"/>
              </a:rPr>
              <a:t>BFS</a:t>
            </a:r>
            <a:r>
              <a:rPr kumimoji="1" lang="zh-CN" altLang="en-US" sz="2400" dirty="0">
                <a:latin typeface="微软雅黑" pitchFamily="34" charset="-122"/>
                <a:ea typeface="微软雅黑" pitchFamily="34" charset="-122"/>
                <a:cs typeface="经典粗黑简" pitchFamily="49" charset="-122"/>
              </a:rPr>
              <a:t>算法：</a:t>
            </a:r>
          </a:p>
        </p:txBody>
      </p:sp>
      <p:sp>
        <p:nvSpPr>
          <p:cNvPr id="6" name="Text Box 2">
            <a:extLst>
              <a:ext uri="{FF2B5EF4-FFF2-40B4-BE49-F238E27FC236}">
                <a16:creationId xmlns:a16="http://schemas.microsoft.com/office/drawing/2014/main" id="{F798C7A5-D3C7-B4D0-5CD9-66F3DE0AE1B7}"/>
              </a:ext>
            </a:extLst>
          </p:cNvPr>
          <p:cNvSpPr txBox="1">
            <a:spLocks noChangeArrowheads="1"/>
          </p:cNvSpPr>
          <p:nvPr/>
        </p:nvSpPr>
        <p:spPr bwMode="auto">
          <a:xfrm>
            <a:off x="1487488" y="2295923"/>
            <a:ext cx="8534400" cy="4478488"/>
          </a:xfrm>
          <a:prstGeom prst="rect">
            <a:avLst/>
          </a:prstGeom>
          <a:solidFill>
            <a:schemeClr val="bg1">
              <a:lumMod val="95000"/>
            </a:schemeClr>
          </a:solidFill>
          <a:ln>
            <a:noFill/>
            <a:headEnd/>
            <a:tailEnd/>
          </a:ln>
          <a:effectLst/>
          <a:scene3d>
            <a:camera prst="orthographicFront">
              <a:rot lat="0" lon="0" rev="0"/>
            </a:camera>
            <a:lightRig rig="chilly" dir="t">
              <a:rot lat="0" lon="0" rev="18480000"/>
            </a:lightRig>
          </a:scene3d>
          <a:sp3d prstMaterial="clear">
            <a:bevelT h="63500"/>
          </a:sp3d>
        </p:spPr>
        <p:style>
          <a:lnRef idx="1">
            <a:schemeClr val="accent3"/>
          </a:lnRef>
          <a:fillRef idx="2">
            <a:schemeClr val="accent3"/>
          </a:fillRef>
          <a:effectRef idx="1">
            <a:schemeClr val="accent3"/>
          </a:effectRef>
          <a:fontRef idx="minor">
            <a:schemeClr val="dk1"/>
          </a:fontRef>
        </p:style>
        <p:txBody>
          <a:bodyPr lIns="216000" tIns="180000" rIns="144000" bIns="180000">
            <a:spAutoFit/>
          </a:bodyPr>
          <a:lstStyle/>
          <a:p>
            <a:pPr algn="l">
              <a:lnSpc>
                <a:spcPts val="2300"/>
              </a:lnSpc>
            </a:pPr>
            <a:r>
              <a:rPr lang="en-US" sz="1800" dirty="0">
                <a:solidFill>
                  <a:srgbClr val="0000FF"/>
                </a:solidFill>
                <a:latin typeface="Consolas" pitchFamily="49" charset="0"/>
                <a:ea typeface="仿宋" pitchFamily="49" charset="-122"/>
                <a:cs typeface="Consolas" pitchFamily="49" charset="0"/>
              </a:rPr>
              <a:t>   while (!</a:t>
            </a:r>
            <a:r>
              <a:rPr lang="en-US" sz="1800" dirty="0" err="1">
                <a:solidFill>
                  <a:srgbClr val="FF00FF"/>
                </a:solidFill>
                <a:latin typeface="Consolas" pitchFamily="49" charset="0"/>
                <a:ea typeface="仿宋" pitchFamily="49" charset="-122"/>
                <a:cs typeface="Consolas" pitchFamily="49" charset="0"/>
              </a:rPr>
              <a:t>QueueEmpty</a:t>
            </a:r>
            <a:r>
              <a:rPr lang="en-US" sz="1800" dirty="0">
                <a:solidFill>
                  <a:srgbClr val="FF00FF"/>
                </a:solidFill>
                <a:latin typeface="Consolas" pitchFamily="49" charset="0"/>
                <a:ea typeface="仿宋" pitchFamily="49" charset="-122"/>
                <a:cs typeface="Consolas" pitchFamily="49" charset="0"/>
              </a:rPr>
              <a:t>(</a:t>
            </a:r>
            <a:r>
              <a:rPr lang="en-US" sz="1800" dirty="0" err="1">
                <a:solidFill>
                  <a:srgbClr val="FF00FF"/>
                </a:solidFill>
                <a:latin typeface="Consolas" pitchFamily="49" charset="0"/>
                <a:ea typeface="仿宋" pitchFamily="49" charset="-122"/>
                <a:cs typeface="Consolas" pitchFamily="49" charset="0"/>
              </a:rPr>
              <a:t>qu</a:t>
            </a:r>
            <a:r>
              <a:rPr lang="en-US" sz="1800" dirty="0">
                <a:solidFill>
                  <a:srgbClr val="FF00FF"/>
                </a:solidFill>
                <a:latin typeface="Consolas" pitchFamily="49" charset="0"/>
                <a:ea typeface="仿宋" pitchFamily="49" charset="-122"/>
                <a:cs typeface="Consolas" pitchFamily="49" charset="0"/>
              </a:rPr>
              <a:t>)</a:t>
            </a:r>
            <a:r>
              <a:rPr lang="en-US" sz="1800" dirty="0">
                <a:solidFill>
                  <a:srgbClr val="0000FF"/>
                </a:solidFill>
                <a:latin typeface="Consolas" pitchFamily="49" charset="0"/>
                <a:ea typeface="仿宋" pitchFamily="49" charset="-122"/>
                <a:cs typeface="Consolas" pitchFamily="49" charset="0"/>
              </a:rPr>
              <a:t>)       		</a:t>
            </a:r>
            <a:r>
              <a:rPr lang="en-US" sz="1800" dirty="0">
                <a:solidFill>
                  <a:srgbClr val="00B0F0"/>
                </a:solidFill>
                <a:latin typeface="Consolas" pitchFamily="49" charset="0"/>
                <a:ea typeface="仿宋" pitchFamily="49" charset="-122"/>
                <a:cs typeface="Consolas" pitchFamily="49" charset="0"/>
              </a:rPr>
              <a:t>//</a:t>
            </a:r>
            <a:r>
              <a:rPr lang="zh-CN" altLang="en-US" sz="1800" dirty="0">
                <a:solidFill>
                  <a:srgbClr val="00B0F0"/>
                </a:solidFill>
                <a:latin typeface="Consolas" pitchFamily="49" charset="0"/>
                <a:ea typeface="仿宋" pitchFamily="49" charset="-122"/>
                <a:cs typeface="Consolas" pitchFamily="49" charset="0"/>
              </a:rPr>
              <a:t>队不空循环</a:t>
            </a:r>
          </a:p>
          <a:p>
            <a:pPr algn="l">
              <a:lnSpc>
                <a:spcPts val="2300"/>
              </a:lnSpc>
            </a:pPr>
            <a:r>
              <a:rPr lang="en-US" sz="1800" dirty="0">
                <a:solidFill>
                  <a:srgbClr val="0000FF"/>
                </a:solidFill>
                <a:latin typeface="Consolas" pitchFamily="49" charset="0"/>
                <a:ea typeface="仿宋" pitchFamily="49" charset="-122"/>
                <a:cs typeface="Consolas" pitchFamily="49" charset="0"/>
              </a:rPr>
              <a:t>   {  </a:t>
            </a:r>
            <a:r>
              <a:rPr lang="en-US" sz="1800" dirty="0" err="1">
                <a:solidFill>
                  <a:srgbClr val="FF00FF"/>
                </a:solidFill>
                <a:latin typeface="Consolas" pitchFamily="49" charset="0"/>
                <a:ea typeface="仿宋" pitchFamily="49" charset="-122"/>
                <a:cs typeface="Consolas" pitchFamily="49" charset="0"/>
              </a:rPr>
              <a:t>deQueue</a:t>
            </a:r>
            <a:r>
              <a:rPr lang="en-US" sz="1800" dirty="0">
                <a:solidFill>
                  <a:srgbClr val="FF00FF"/>
                </a:solidFill>
                <a:latin typeface="Consolas" pitchFamily="49" charset="0"/>
                <a:ea typeface="仿宋" pitchFamily="49" charset="-122"/>
                <a:cs typeface="Consolas" pitchFamily="49" charset="0"/>
              </a:rPr>
              <a:t>(</a:t>
            </a:r>
            <a:r>
              <a:rPr lang="en-US" sz="1800" dirty="0" err="1">
                <a:solidFill>
                  <a:srgbClr val="FF00FF"/>
                </a:solidFill>
                <a:latin typeface="Consolas" pitchFamily="49" charset="0"/>
                <a:ea typeface="仿宋" pitchFamily="49" charset="-122"/>
                <a:cs typeface="Consolas" pitchFamily="49" charset="0"/>
              </a:rPr>
              <a:t>qu，w</a:t>
            </a:r>
            <a:r>
              <a:rPr lang="en-US" sz="1800" dirty="0">
                <a:solidFill>
                  <a:srgbClr val="FF00FF"/>
                </a:solidFill>
                <a:latin typeface="Consolas" pitchFamily="49" charset="0"/>
                <a:ea typeface="仿宋" pitchFamily="49" charset="-122"/>
                <a:cs typeface="Consolas" pitchFamily="49" charset="0"/>
              </a:rPr>
              <a:t>);	</a:t>
            </a:r>
            <a:r>
              <a:rPr lang="en-US" sz="1800" dirty="0">
                <a:solidFill>
                  <a:srgbClr val="0000FF"/>
                </a:solidFill>
                <a:latin typeface="Consolas" pitchFamily="49" charset="0"/>
                <a:ea typeface="仿宋" pitchFamily="49" charset="-122"/>
                <a:cs typeface="Consolas" pitchFamily="49" charset="0"/>
              </a:rPr>
              <a:t>			</a:t>
            </a:r>
            <a:r>
              <a:rPr lang="en-US" sz="1800" dirty="0">
                <a:solidFill>
                  <a:srgbClr val="00B0F0"/>
                </a:solidFill>
                <a:latin typeface="Consolas" pitchFamily="49" charset="0"/>
                <a:ea typeface="仿宋" pitchFamily="49" charset="-122"/>
                <a:cs typeface="Consolas" pitchFamily="49" charset="0"/>
              </a:rPr>
              <a:t>//</a:t>
            </a:r>
            <a:r>
              <a:rPr lang="zh-CN" altLang="en-US" sz="1800" dirty="0">
                <a:solidFill>
                  <a:srgbClr val="00B0F0"/>
                </a:solidFill>
                <a:latin typeface="Consolas" pitchFamily="49" charset="0"/>
                <a:ea typeface="仿宋" pitchFamily="49" charset="-122"/>
                <a:cs typeface="Consolas" pitchFamily="49" charset="0"/>
              </a:rPr>
              <a:t>出队一个顶点</a:t>
            </a:r>
            <a:r>
              <a:rPr lang="en-US" sz="1800" dirty="0">
                <a:solidFill>
                  <a:srgbClr val="00B0F0"/>
                </a:solidFill>
                <a:latin typeface="Consolas" pitchFamily="49" charset="0"/>
                <a:ea typeface="仿宋" pitchFamily="49" charset="-122"/>
                <a:cs typeface="Consolas" pitchFamily="49" charset="0"/>
              </a:rPr>
              <a:t>w</a:t>
            </a:r>
            <a:endParaRPr lang="zh-CN" altLang="en-US" sz="1800" dirty="0">
              <a:solidFill>
                <a:srgbClr val="00B0F0"/>
              </a:solidFill>
              <a:latin typeface="Consolas" pitchFamily="49" charset="0"/>
              <a:ea typeface="仿宋" pitchFamily="49" charset="-122"/>
              <a:cs typeface="Consolas" pitchFamily="49" charset="0"/>
            </a:endParaRPr>
          </a:p>
          <a:p>
            <a:pPr algn="l">
              <a:lnSpc>
                <a:spcPts val="2300"/>
              </a:lnSpc>
            </a:pPr>
            <a:r>
              <a:rPr lang="en-US" sz="1800" dirty="0">
                <a:solidFill>
                  <a:srgbClr val="0000FF"/>
                </a:solidFill>
                <a:latin typeface="Consolas" pitchFamily="49" charset="0"/>
                <a:ea typeface="仿宋" pitchFamily="49" charset="-122"/>
                <a:cs typeface="Consolas" pitchFamily="49" charset="0"/>
              </a:rPr>
              <a:t>      p=G-&gt;</a:t>
            </a:r>
            <a:r>
              <a:rPr lang="en-US" sz="1800" dirty="0" err="1">
                <a:solidFill>
                  <a:srgbClr val="0000FF"/>
                </a:solidFill>
                <a:latin typeface="Consolas" pitchFamily="49" charset="0"/>
                <a:ea typeface="仿宋" pitchFamily="49" charset="-122"/>
                <a:cs typeface="Consolas" pitchFamily="49" charset="0"/>
              </a:rPr>
              <a:t>adjlist</a:t>
            </a:r>
            <a:r>
              <a:rPr lang="en-US" sz="1800" dirty="0">
                <a:solidFill>
                  <a:srgbClr val="0000FF"/>
                </a:solidFill>
                <a:latin typeface="Consolas" pitchFamily="49" charset="0"/>
                <a:ea typeface="仿宋" pitchFamily="49" charset="-122"/>
                <a:cs typeface="Consolas" pitchFamily="49" charset="0"/>
              </a:rPr>
              <a:t>[w].</a:t>
            </a:r>
            <a:r>
              <a:rPr lang="en-US" sz="1800" dirty="0" err="1">
                <a:solidFill>
                  <a:srgbClr val="0000FF"/>
                </a:solidFill>
                <a:latin typeface="Consolas" pitchFamily="49" charset="0"/>
                <a:ea typeface="仿宋" pitchFamily="49" charset="-122"/>
                <a:cs typeface="Consolas" pitchFamily="49" charset="0"/>
              </a:rPr>
              <a:t>firstarc</a:t>
            </a:r>
            <a:r>
              <a:rPr lang="en-US" sz="1800" dirty="0">
                <a:solidFill>
                  <a:srgbClr val="0000FF"/>
                </a:solidFill>
                <a:latin typeface="Consolas" pitchFamily="49" charset="0"/>
                <a:ea typeface="仿宋" pitchFamily="49" charset="-122"/>
                <a:cs typeface="Consolas" pitchFamily="49" charset="0"/>
              </a:rPr>
              <a:t>; 		</a:t>
            </a:r>
            <a:r>
              <a:rPr lang="en-US" sz="1800" dirty="0">
                <a:solidFill>
                  <a:srgbClr val="00B0F0"/>
                </a:solidFill>
                <a:latin typeface="Consolas" pitchFamily="49" charset="0"/>
                <a:ea typeface="仿宋" pitchFamily="49" charset="-122"/>
                <a:cs typeface="Consolas" pitchFamily="49" charset="0"/>
              </a:rPr>
              <a:t>//</a:t>
            </a:r>
            <a:r>
              <a:rPr lang="zh-CN" altLang="en-US" sz="1800" dirty="0">
                <a:solidFill>
                  <a:srgbClr val="00B0F0"/>
                </a:solidFill>
                <a:latin typeface="Consolas" pitchFamily="49" charset="0"/>
                <a:ea typeface="仿宋" pitchFamily="49" charset="-122"/>
                <a:cs typeface="Consolas" pitchFamily="49" charset="0"/>
              </a:rPr>
              <a:t>指向</a:t>
            </a:r>
            <a:r>
              <a:rPr lang="en-US" sz="1800" dirty="0">
                <a:solidFill>
                  <a:srgbClr val="00B0F0"/>
                </a:solidFill>
                <a:latin typeface="Consolas" pitchFamily="49" charset="0"/>
                <a:ea typeface="仿宋" pitchFamily="49" charset="-122"/>
                <a:cs typeface="Consolas" pitchFamily="49" charset="0"/>
              </a:rPr>
              <a:t>w</a:t>
            </a:r>
            <a:r>
              <a:rPr lang="zh-CN" altLang="en-US" sz="1800" dirty="0">
                <a:solidFill>
                  <a:srgbClr val="00B0F0"/>
                </a:solidFill>
                <a:latin typeface="Consolas" pitchFamily="49" charset="0"/>
                <a:ea typeface="仿宋" pitchFamily="49" charset="-122"/>
                <a:cs typeface="Consolas" pitchFamily="49" charset="0"/>
              </a:rPr>
              <a:t>的第一个邻接点</a:t>
            </a:r>
          </a:p>
          <a:p>
            <a:pPr algn="l">
              <a:lnSpc>
                <a:spcPts val="2300"/>
              </a:lnSpc>
            </a:pPr>
            <a:r>
              <a:rPr lang="en-US" sz="1800" dirty="0">
                <a:solidFill>
                  <a:srgbClr val="0000FF"/>
                </a:solidFill>
                <a:latin typeface="Consolas" pitchFamily="49" charset="0"/>
                <a:ea typeface="仿宋" pitchFamily="49" charset="-122"/>
                <a:cs typeface="Consolas" pitchFamily="49" charset="0"/>
              </a:rPr>
              <a:t>      while (p!=NULL)				</a:t>
            </a:r>
            <a:r>
              <a:rPr lang="en-US" sz="1800" dirty="0">
                <a:solidFill>
                  <a:srgbClr val="00B0F0"/>
                </a:solidFill>
                <a:latin typeface="Consolas" pitchFamily="49" charset="0"/>
                <a:ea typeface="仿宋" pitchFamily="49" charset="-122"/>
                <a:cs typeface="Consolas" pitchFamily="49" charset="0"/>
              </a:rPr>
              <a:t>//</a:t>
            </a:r>
            <a:r>
              <a:rPr lang="zh-CN" altLang="en-US" sz="1800" dirty="0">
                <a:solidFill>
                  <a:srgbClr val="00B0F0"/>
                </a:solidFill>
                <a:latin typeface="Consolas" pitchFamily="49" charset="0"/>
                <a:ea typeface="仿宋" pitchFamily="49" charset="-122"/>
                <a:cs typeface="Consolas" pitchFamily="49" charset="0"/>
              </a:rPr>
              <a:t>查找</a:t>
            </a:r>
            <a:r>
              <a:rPr lang="en-US" sz="1800" dirty="0">
                <a:solidFill>
                  <a:srgbClr val="00B0F0"/>
                </a:solidFill>
                <a:latin typeface="Consolas" pitchFamily="49" charset="0"/>
                <a:ea typeface="仿宋" pitchFamily="49" charset="-122"/>
                <a:cs typeface="Consolas" pitchFamily="49" charset="0"/>
              </a:rPr>
              <a:t>w</a:t>
            </a:r>
            <a:r>
              <a:rPr lang="zh-CN" altLang="en-US" sz="1800" dirty="0">
                <a:solidFill>
                  <a:srgbClr val="00B0F0"/>
                </a:solidFill>
                <a:latin typeface="Consolas" pitchFamily="49" charset="0"/>
                <a:ea typeface="仿宋" pitchFamily="49" charset="-122"/>
                <a:cs typeface="Consolas" pitchFamily="49" charset="0"/>
              </a:rPr>
              <a:t>的所有邻接点</a:t>
            </a:r>
          </a:p>
          <a:p>
            <a:pPr algn="l">
              <a:lnSpc>
                <a:spcPts val="2300"/>
              </a:lnSpc>
            </a:pPr>
            <a:r>
              <a:rPr lang="en-US" sz="1800" dirty="0">
                <a:solidFill>
                  <a:srgbClr val="0000FF"/>
                </a:solidFill>
                <a:latin typeface="Consolas" pitchFamily="49" charset="0"/>
                <a:ea typeface="仿宋" pitchFamily="49" charset="-122"/>
                <a:cs typeface="Consolas" pitchFamily="49" charset="0"/>
              </a:rPr>
              <a:t>      {  if (</a:t>
            </a:r>
            <a:r>
              <a:rPr lang="en-US" sz="1800" dirty="0">
                <a:solidFill>
                  <a:srgbClr val="FF3300"/>
                </a:solidFill>
                <a:latin typeface="Consolas" pitchFamily="49" charset="0"/>
                <a:ea typeface="仿宋" pitchFamily="49" charset="-122"/>
                <a:cs typeface="Consolas" pitchFamily="49" charset="0"/>
              </a:rPr>
              <a:t>visited[p-&gt;</a:t>
            </a:r>
            <a:r>
              <a:rPr lang="en-US" sz="1800" dirty="0" err="1">
                <a:solidFill>
                  <a:srgbClr val="FF3300"/>
                </a:solidFill>
                <a:latin typeface="Consolas" pitchFamily="49" charset="0"/>
                <a:ea typeface="仿宋" pitchFamily="49" charset="-122"/>
                <a:cs typeface="Consolas" pitchFamily="49" charset="0"/>
              </a:rPr>
              <a:t>adjvex</a:t>
            </a:r>
            <a:r>
              <a:rPr lang="en-US" sz="1800" dirty="0">
                <a:solidFill>
                  <a:srgbClr val="FF3300"/>
                </a:solidFill>
                <a:latin typeface="Consolas" pitchFamily="49" charset="0"/>
                <a:ea typeface="仿宋" pitchFamily="49" charset="-122"/>
                <a:cs typeface="Consolas" pitchFamily="49" charset="0"/>
              </a:rPr>
              <a:t>]==0</a:t>
            </a:r>
            <a:r>
              <a:rPr lang="en-US" sz="1800" dirty="0">
                <a:solidFill>
                  <a:srgbClr val="0000FF"/>
                </a:solidFill>
                <a:latin typeface="Consolas" pitchFamily="49" charset="0"/>
                <a:ea typeface="仿宋" pitchFamily="49" charset="-122"/>
                <a:cs typeface="Consolas" pitchFamily="49" charset="0"/>
              </a:rPr>
              <a:t>)		</a:t>
            </a:r>
            <a:r>
              <a:rPr lang="en-US" sz="1800" dirty="0">
                <a:solidFill>
                  <a:srgbClr val="00B0F0"/>
                </a:solidFill>
                <a:latin typeface="Consolas" pitchFamily="49" charset="0"/>
                <a:ea typeface="仿宋" pitchFamily="49" charset="-122"/>
                <a:cs typeface="Consolas" pitchFamily="49" charset="0"/>
              </a:rPr>
              <a:t>//</a:t>
            </a:r>
            <a:r>
              <a:rPr lang="zh-CN" altLang="en-US" sz="1800" dirty="0">
                <a:solidFill>
                  <a:srgbClr val="00B0F0"/>
                </a:solidFill>
                <a:latin typeface="Consolas" pitchFamily="49" charset="0"/>
                <a:ea typeface="仿宋" pitchFamily="49" charset="-122"/>
                <a:cs typeface="Consolas" pitchFamily="49" charset="0"/>
              </a:rPr>
              <a:t>若当前邻接点未被访问</a:t>
            </a:r>
            <a:r>
              <a:rPr lang="zh-CN" altLang="en-US" sz="1800" dirty="0">
                <a:solidFill>
                  <a:srgbClr val="00B050"/>
                </a:solidFill>
                <a:latin typeface="Consolas" pitchFamily="49" charset="0"/>
                <a:ea typeface="仿宋" pitchFamily="49" charset="-122"/>
                <a:cs typeface="Consolas" pitchFamily="49" charset="0"/>
              </a:rPr>
              <a:t>    </a:t>
            </a:r>
            <a:endParaRPr lang="en-US" altLang="zh-CN" sz="1800" dirty="0">
              <a:solidFill>
                <a:srgbClr val="00B050"/>
              </a:solidFill>
              <a:latin typeface="Consolas" pitchFamily="49" charset="0"/>
              <a:ea typeface="仿宋" pitchFamily="49" charset="-122"/>
              <a:cs typeface="Consolas" pitchFamily="49" charset="0"/>
            </a:endParaRPr>
          </a:p>
          <a:p>
            <a:pPr algn="l">
              <a:lnSpc>
                <a:spcPts val="2300"/>
              </a:lnSpc>
            </a:pPr>
            <a:r>
              <a:rPr lang="en-US" sz="1800" dirty="0">
                <a:solidFill>
                  <a:srgbClr val="00B050"/>
                </a:solidFill>
                <a:latin typeface="Consolas" pitchFamily="49" charset="0"/>
                <a:ea typeface="仿宋" pitchFamily="49" charset="-122"/>
                <a:cs typeface="Consolas" pitchFamily="49" charset="0"/>
              </a:rPr>
              <a:t>         </a:t>
            </a:r>
            <a:r>
              <a:rPr lang="en-US" sz="1800" dirty="0">
                <a:solidFill>
                  <a:srgbClr val="0000FF"/>
                </a:solidFill>
                <a:latin typeface="Consolas" pitchFamily="49" charset="0"/>
                <a:ea typeface="仿宋" pitchFamily="49" charset="-122"/>
                <a:cs typeface="Consolas" pitchFamily="49" charset="0"/>
              </a:rPr>
              <a:t>{  </a:t>
            </a:r>
            <a:r>
              <a:rPr lang="en-US" sz="1800" dirty="0" err="1">
                <a:solidFill>
                  <a:srgbClr val="0000FF"/>
                </a:solidFill>
                <a:latin typeface="Consolas" pitchFamily="49" charset="0"/>
                <a:ea typeface="仿宋" pitchFamily="49" charset="-122"/>
                <a:cs typeface="Consolas" pitchFamily="49" charset="0"/>
              </a:rPr>
              <a:t>printf</a:t>
            </a:r>
            <a:r>
              <a:rPr lang="en-US" sz="1800" dirty="0">
                <a:solidFill>
                  <a:srgbClr val="0000FF"/>
                </a:solidFill>
                <a:latin typeface="Consolas" pitchFamily="49" charset="0"/>
                <a:ea typeface="仿宋" pitchFamily="49" charset="-122"/>
                <a:cs typeface="Consolas" pitchFamily="49" charset="0"/>
              </a:rPr>
              <a:t>("%2d"，p-&gt;</a:t>
            </a:r>
            <a:r>
              <a:rPr lang="en-US" sz="1800" dirty="0" err="1">
                <a:solidFill>
                  <a:srgbClr val="0000FF"/>
                </a:solidFill>
                <a:latin typeface="Consolas" pitchFamily="49" charset="0"/>
                <a:ea typeface="仿宋" pitchFamily="49" charset="-122"/>
                <a:cs typeface="Consolas" pitchFamily="49" charset="0"/>
              </a:rPr>
              <a:t>adjvex</a:t>
            </a:r>
            <a:r>
              <a:rPr lang="en-US" sz="1800" dirty="0">
                <a:solidFill>
                  <a:srgbClr val="0000FF"/>
                </a:solidFill>
                <a:latin typeface="Consolas" pitchFamily="49" charset="0"/>
                <a:ea typeface="仿宋" pitchFamily="49" charset="-122"/>
                <a:cs typeface="Consolas" pitchFamily="49" charset="0"/>
              </a:rPr>
              <a:t>);		</a:t>
            </a:r>
            <a:r>
              <a:rPr lang="en-US" sz="1800" dirty="0">
                <a:solidFill>
                  <a:srgbClr val="00B0F0"/>
                </a:solidFill>
                <a:latin typeface="Consolas" pitchFamily="49" charset="0"/>
                <a:ea typeface="仿宋" pitchFamily="49" charset="-122"/>
                <a:cs typeface="Consolas" pitchFamily="49" charset="0"/>
              </a:rPr>
              <a:t>//</a:t>
            </a:r>
            <a:r>
              <a:rPr lang="zh-CN" altLang="en-US" sz="1800" dirty="0">
                <a:solidFill>
                  <a:srgbClr val="00B0F0"/>
                </a:solidFill>
                <a:latin typeface="Consolas" pitchFamily="49" charset="0"/>
                <a:ea typeface="仿宋" pitchFamily="49" charset="-122"/>
                <a:cs typeface="Consolas" pitchFamily="49" charset="0"/>
              </a:rPr>
              <a:t>访问该邻接点</a:t>
            </a:r>
          </a:p>
          <a:p>
            <a:pPr algn="l">
              <a:lnSpc>
                <a:spcPts val="2300"/>
              </a:lnSpc>
            </a:pPr>
            <a:r>
              <a:rPr lang="en-US" sz="1800" dirty="0">
                <a:solidFill>
                  <a:srgbClr val="0000FF"/>
                </a:solidFill>
                <a:latin typeface="Consolas" pitchFamily="49" charset="0"/>
                <a:ea typeface="仿宋" pitchFamily="49" charset="-122"/>
                <a:cs typeface="Consolas" pitchFamily="49" charset="0"/>
              </a:rPr>
              <a:t>            visited[p-&gt;</a:t>
            </a:r>
            <a:r>
              <a:rPr lang="en-US" sz="1800" dirty="0" err="1">
                <a:solidFill>
                  <a:srgbClr val="0000FF"/>
                </a:solidFill>
                <a:latin typeface="Consolas" pitchFamily="49" charset="0"/>
                <a:ea typeface="仿宋" pitchFamily="49" charset="-122"/>
                <a:cs typeface="Consolas" pitchFamily="49" charset="0"/>
              </a:rPr>
              <a:t>adjvex</a:t>
            </a:r>
            <a:r>
              <a:rPr lang="en-US" sz="1800" dirty="0">
                <a:solidFill>
                  <a:srgbClr val="0000FF"/>
                </a:solidFill>
                <a:latin typeface="Consolas" pitchFamily="49" charset="0"/>
                <a:ea typeface="仿宋" pitchFamily="49" charset="-122"/>
                <a:cs typeface="Consolas" pitchFamily="49" charset="0"/>
              </a:rPr>
              <a:t>]=1;		</a:t>
            </a:r>
            <a:r>
              <a:rPr lang="en-US" sz="1800" dirty="0">
                <a:solidFill>
                  <a:srgbClr val="00B0F0"/>
                </a:solidFill>
                <a:latin typeface="Consolas" pitchFamily="49" charset="0"/>
                <a:ea typeface="仿宋" pitchFamily="49" charset="-122"/>
                <a:cs typeface="Consolas" pitchFamily="49" charset="0"/>
              </a:rPr>
              <a:t>//</a:t>
            </a:r>
            <a:r>
              <a:rPr lang="zh-CN" altLang="en-US" sz="1800" dirty="0">
                <a:solidFill>
                  <a:srgbClr val="00B0F0"/>
                </a:solidFill>
                <a:latin typeface="Consolas" pitchFamily="49" charset="0"/>
                <a:ea typeface="仿宋" pitchFamily="49" charset="-122"/>
                <a:cs typeface="Consolas" pitchFamily="49" charset="0"/>
              </a:rPr>
              <a:t>置已访问标记</a:t>
            </a:r>
          </a:p>
          <a:p>
            <a:pPr algn="l">
              <a:lnSpc>
                <a:spcPts val="2300"/>
              </a:lnSpc>
            </a:pPr>
            <a:r>
              <a:rPr lang="en-US" sz="1800" dirty="0">
                <a:solidFill>
                  <a:srgbClr val="0000FF"/>
                </a:solidFill>
                <a:latin typeface="Consolas" pitchFamily="49" charset="0"/>
                <a:ea typeface="仿宋" pitchFamily="49" charset="-122"/>
                <a:cs typeface="Consolas" pitchFamily="49" charset="0"/>
              </a:rPr>
              <a:t>            </a:t>
            </a:r>
            <a:r>
              <a:rPr lang="en-US" sz="1800" dirty="0" err="1">
                <a:solidFill>
                  <a:srgbClr val="FF00FF"/>
                </a:solidFill>
                <a:latin typeface="Consolas" pitchFamily="49" charset="0"/>
                <a:ea typeface="仿宋" pitchFamily="49" charset="-122"/>
                <a:cs typeface="Consolas" pitchFamily="49" charset="0"/>
              </a:rPr>
              <a:t>enQueue</a:t>
            </a:r>
            <a:r>
              <a:rPr lang="en-US" sz="1800" dirty="0">
                <a:solidFill>
                  <a:srgbClr val="FF00FF"/>
                </a:solidFill>
                <a:latin typeface="Consolas" pitchFamily="49" charset="0"/>
                <a:ea typeface="仿宋" pitchFamily="49" charset="-122"/>
                <a:cs typeface="Consolas" pitchFamily="49" charset="0"/>
              </a:rPr>
              <a:t>(</a:t>
            </a:r>
            <a:r>
              <a:rPr lang="en-US" sz="1800" dirty="0" err="1">
                <a:solidFill>
                  <a:srgbClr val="FF00FF"/>
                </a:solidFill>
                <a:latin typeface="Consolas" pitchFamily="49" charset="0"/>
                <a:ea typeface="仿宋" pitchFamily="49" charset="-122"/>
                <a:cs typeface="Consolas" pitchFamily="49" charset="0"/>
              </a:rPr>
              <a:t>qu，p</a:t>
            </a:r>
            <a:r>
              <a:rPr lang="en-US" sz="1800" dirty="0">
                <a:solidFill>
                  <a:srgbClr val="FF00FF"/>
                </a:solidFill>
                <a:latin typeface="Consolas" pitchFamily="49" charset="0"/>
                <a:ea typeface="仿宋" pitchFamily="49" charset="-122"/>
                <a:cs typeface="Consolas" pitchFamily="49" charset="0"/>
              </a:rPr>
              <a:t>-&gt;</a:t>
            </a:r>
            <a:r>
              <a:rPr lang="en-US" sz="1800" dirty="0" err="1">
                <a:solidFill>
                  <a:srgbClr val="FF00FF"/>
                </a:solidFill>
                <a:latin typeface="Consolas" pitchFamily="49" charset="0"/>
                <a:ea typeface="仿宋" pitchFamily="49" charset="-122"/>
                <a:cs typeface="Consolas" pitchFamily="49" charset="0"/>
              </a:rPr>
              <a:t>adjvex</a:t>
            </a:r>
            <a:r>
              <a:rPr lang="en-US" sz="1800" dirty="0">
                <a:solidFill>
                  <a:srgbClr val="FF00FF"/>
                </a:solidFill>
                <a:latin typeface="Consolas" pitchFamily="49" charset="0"/>
                <a:ea typeface="仿宋" pitchFamily="49" charset="-122"/>
                <a:cs typeface="Consolas" pitchFamily="49" charset="0"/>
              </a:rPr>
              <a:t>);</a:t>
            </a:r>
            <a:r>
              <a:rPr lang="en-US" sz="1800" dirty="0">
                <a:solidFill>
                  <a:srgbClr val="0000FF"/>
                </a:solidFill>
                <a:latin typeface="Consolas" pitchFamily="49" charset="0"/>
                <a:ea typeface="仿宋" pitchFamily="49" charset="-122"/>
                <a:cs typeface="Consolas" pitchFamily="49" charset="0"/>
              </a:rPr>
              <a:t>		</a:t>
            </a:r>
            <a:r>
              <a:rPr lang="en-US" sz="1800" dirty="0">
                <a:solidFill>
                  <a:srgbClr val="00B0F0"/>
                </a:solidFill>
                <a:latin typeface="Consolas" pitchFamily="49" charset="0"/>
                <a:ea typeface="仿宋" pitchFamily="49" charset="-122"/>
                <a:cs typeface="Consolas" pitchFamily="49" charset="0"/>
              </a:rPr>
              <a:t>//</a:t>
            </a:r>
            <a:r>
              <a:rPr lang="zh-CN" altLang="en-US" sz="1800" dirty="0">
                <a:solidFill>
                  <a:srgbClr val="00B0F0"/>
                </a:solidFill>
                <a:latin typeface="Consolas" pitchFamily="49" charset="0"/>
                <a:ea typeface="仿宋" pitchFamily="49" charset="-122"/>
                <a:cs typeface="Consolas" pitchFamily="49" charset="0"/>
              </a:rPr>
              <a:t>该顶点进队</a:t>
            </a:r>
          </a:p>
          <a:p>
            <a:pPr algn="l">
              <a:lnSpc>
                <a:spcPts val="2300"/>
              </a:lnSpc>
            </a:pPr>
            <a:r>
              <a:rPr lang="en-US" sz="1800" dirty="0">
                <a:solidFill>
                  <a:srgbClr val="0000FF"/>
                </a:solidFill>
                <a:latin typeface="Consolas" pitchFamily="49" charset="0"/>
                <a:ea typeface="仿宋" pitchFamily="49" charset="-122"/>
                <a:cs typeface="Consolas" pitchFamily="49" charset="0"/>
              </a:rPr>
              <a:t>         }</a:t>
            </a:r>
            <a:endParaRPr lang="zh-CN" altLang="en-US" sz="1800" dirty="0">
              <a:solidFill>
                <a:srgbClr val="0000FF"/>
              </a:solidFill>
              <a:latin typeface="Consolas" pitchFamily="49" charset="0"/>
              <a:ea typeface="仿宋" pitchFamily="49" charset="-122"/>
              <a:cs typeface="Consolas" pitchFamily="49" charset="0"/>
            </a:endParaRPr>
          </a:p>
          <a:p>
            <a:pPr algn="l">
              <a:lnSpc>
                <a:spcPts val="2300"/>
              </a:lnSpc>
            </a:pPr>
            <a:r>
              <a:rPr lang="en-US" sz="1800" dirty="0">
                <a:solidFill>
                  <a:srgbClr val="0000FF"/>
                </a:solidFill>
                <a:latin typeface="Consolas" pitchFamily="49" charset="0"/>
                <a:ea typeface="仿宋" pitchFamily="49" charset="-122"/>
                <a:cs typeface="Consolas" pitchFamily="49" charset="0"/>
              </a:rPr>
              <a:t>         p=p-&gt;</a:t>
            </a:r>
            <a:r>
              <a:rPr lang="en-US" sz="1800" dirty="0" err="1">
                <a:solidFill>
                  <a:srgbClr val="0000FF"/>
                </a:solidFill>
                <a:latin typeface="Consolas" pitchFamily="49" charset="0"/>
                <a:ea typeface="仿宋" pitchFamily="49" charset="-122"/>
                <a:cs typeface="Consolas" pitchFamily="49" charset="0"/>
              </a:rPr>
              <a:t>nextarc</a:t>
            </a:r>
            <a:r>
              <a:rPr lang="en-US" sz="1800" dirty="0">
                <a:solidFill>
                  <a:srgbClr val="0000FF"/>
                </a:solidFill>
                <a:latin typeface="Consolas" pitchFamily="49" charset="0"/>
                <a:ea typeface="仿宋" pitchFamily="49" charset="-122"/>
                <a:cs typeface="Consolas" pitchFamily="49" charset="0"/>
              </a:rPr>
              <a:t>;              		</a:t>
            </a:r>
            <a:r>
              <a:rPr lang="en-US" sz="1800" dirty="0">
                <a:solidFill>
                  <a:srgbClr val="00B0F0"/>
                </a:solidFill>
                <a:latin typeface="Consolas" pitchFamily="49" charset="0"/>
                <a:ea typeface="仿宋" pitchFamily="49" charset="-122"/>
                <a:cs typeface="Consolas" pitchFamily="49" charset="0"/>
              </a:rPr>
              <a:t>//</a:t>
            </a:r>
            <a:r>
              <a:rPr lang="zh-CN" altLang="en-US" sz="1800" dirty="0">
                <a:solidFill>
                  <a:srgbClr val="00B0F0"/>
                </a:solidFill>
                <a:latin typeface="Consolas" pitchFamily="49" charset="0"/>
                <a:ea typeface="仿宋" pitchFamily="49" charset="-122"/>
                <a:cs typeface="Consolas" pitchFamily="49" charset="0"/>
              </a:rPr>
              <a:t>找下一个邻接点</a:t>
            </a:r>
          </a:p>
          <a:p>
            <a:pPr algn="l">
              <a:lnSpc>
                <a:spcPts val="2300"/>
              </a:lnSpc>
            </a:pPr>
            <a:r>
              <a:rPr lang="en-US" sz="1800" dirty="0">
                <a:solidFill>
                  <a:srgbClr val="0000FF"/>
                </a:solidFill>
                <a:latin typeface="Consolas" pitchFamily="49" charset="0"/>
                <a:ea typeface="仿宋" pitchFamily="49" charset="-122"/>
                <a:cs typeface="Consolas" pitchFamily="49" charset="0"/>
              </a:rPr>
              <a:t>      }</a:t>
            </a:r>
            <a:endParaRPr lang="zh-CN" altLang="en-US" sz="1800" dirty="0">
              <a:solidFill>
                <a:srgbClr val="0000FF"/>
              </a:solidFill>
              <a:latin typeface="Consolas" pitchFamily="49" charset="0"/>
              <a:ea typeface="仿宋" pitchFamily="49" charset="-122"/>
              <a:cs typeface="Consolas" pitchFamily="49" charset="0"/>
            </a:endParaRPr>
          </a:p>
          <a:p>
            <a:pPr algn="l">
              <a:lnSpc>
                <a:spcPts val="2300"/>
              </a:lnSpc>
            </a:pPr>
            <a:r>
              <a:rPr lang="en-US" sz="1800" dirty="0">
                <a:solidFill>
                  <a:srgbClr val="0000FF"/>
                </a:solidFill>
                <a:latin typeface="Consolas" pitchFamily="49" charset="0"/>
                <a:ea typeface="仿宋" pitchFamily="49" charset="-122"/>
                <a:cs typeface="Consolas" pitchFamily="49" charset="0"/>
              </a:rPr>
              <a:t>    }</a:t>
            </a:r>
            <a:endParaRPr lang="zh-CN" altLang="en-US" sz="1800" dirty="0">
              <a:solidFill>
                <a:srgbClr val="0000FF"/>
              </a:solidFill>
              <a:latin typeface="Consolas" pitchFamily="49" charset="0"/>
              <a:ea typeface="仿宋" pitchFamily="49" charset="-122"/>
              <a:cs typeface="Consolas" pitchFamily="49" charset="0"/>
            </a:endParaRPr>
          </a:p>
          <a:p>
            <a:pPr algn="l">
              <a:lnSpc>
                <a:spcPts val="2300"/>
              </a:lnSpc>
            </a:pPr>
            <a:r>
              <a:rPr lang="en-US" sz="1800" dirty="0">
                <a:solidFill>
                  <a:srgbClr val="0000FF"/>
                </a:solidFill>
                <a:latin typeface="Consolas" pitchFamily="49" charset="0"/>
                <a:ea typeface="仿宋" pitchFamily="49" charset="-122"/>
                <a:cs typeface="Consolas" pitchFamily="49" charset="0"/>
              </a:rPr>
              <a:t>    </a:t>
            </a:r>
            <a:r>
              <a:rPr lang="en-US" sz="1800" dirty="0" err="1">
                <a:solidFill>
                  <a:srgbClr val="0000FF"/>
                </a:solidFill>
                <a:latin typeface="Consolas" pitchFamily="49" charset="0"/>
                <a:ea typeface="仿宋" pitchFamily="49" charset="-122"/>
                <a:cs typeface="Consolas" pitchFamily="49" charset="0"/>
              </a:rPr>
              <a:t>printf</a:t>
            </a:r>
            <a:r>
              <a:rPr lang="en-US" sz="1800" dirty="0">
                <a:solidFill>
                  <a:srgbClr val="0000FF"/>
                </a:solidFill>
                <a:latin typeface="Consolas" pitchFamily="49" charset="0"/>
                <a:ea typeface="仿宋" pitchFamily="49" charset="-122"/>
                <a:cs typeface="Consolas" pitchFamily="49" charset="0"/>
              </a:rPr>
              <a:t>("\n");</a:t>
            </a:r>
            <a:endParaRPr lang="zh-CN" altLang="en-US" sz="1800" dirty="0">
              <a:solidFill>
                <a:srgbClr val="0000FF"/>
              </a:solidFill>
              <a:latin typeface="Consolas" pitchFamily="49" charset="0"/>
              <a:ea typeface="仿宋" pitchFamily="49" charset="-122"/>
              <a:cs typeface="Consolas" pitchFamily="49" charset="0"/>
            </a:endParaRPr>
          </a:p>
          <a:p>
            <a:pPr algn="l">
              <a:lnSpc>
                <a:spcPts val="2300"/>
              </a:lnSpc>
            </a:pPr>
            <a:r>
              <a:rPr lang="en-US" sz="1800" dirty="0">
                <a:solidFill>
                  <a:srgbClr val="0000FF"/>
                </a:solidFill>
                <a:latin typeface="Consolas" pitchFamily="49" charset="0"/>
                <a:ea typeface="仿宋" pitchFamily="49" charset="-122"/>
                <a:cs typeface="Consolas" pitchFamily="49" charset="0"/>
              </a:rPr>
              <a:t>}</a:t>
            </a:r>
            <a:endParaRPr lang="zh-CN" altLang="en-US" sz="1800" dirty="0">
              <a:solidFill>
                <a:srgbClr val="0000FF"/>
              </a:solidFill>
              <a:latin typeface="Consolas" pitchFamily="49" charset="0"/>
              <a:ea typeface="仿宋" pitchFamily="49" charset="-122"/>
              <a:cs typeface="Consolas" pitchFamily="49" charset="0"/>
            </a:endParaRPr>
          </a:p>
        </p:txBody>
      </p:sp>
      <p:sp>
        <p:nvSpPr>
          <p:cNvPr id="7" name="Text Box 3">
            <a:extLst>
              <a:ext uri="{FF2B5EF4-FFF2-40B4-BE49-F238E27FC236}">
                <a16:creationId xmlns:a16="http://schemas.microsoft.com/office/drawing/2014/main" id="{399F8106-871E-C2B5-B268-8C2E9D6F38FC}"/>
              </a:ext>
            </a:extLst>
          </p:cNvPr>
          <p:cNvSpPr txBox="1">
            <a:spLocks noChangeArrowheads="1"/>
          </p:cNvSpPr>
          <p:nvPr/>
        </p:nvSpPr>
        <p:spPr bwMode="auto">
          <a:xfrm>
            <a:off x="6456040" y="6165304"/>
            <a:ext cx="3816424" cy="400110"/>
          </a:xfrm>
          <a:prstGeom prst="rect">
            <a:avLst/>
          </a:prstGeom>
          <a:noFill/>
          <a:ln w="19050" algn="ctr">
            <a:noFill/>
            <a:miter lim="800000"/>
            <a:headEnd/>
            <a:tailEnd type="none" w="med" len="lg"/>
          </a:ln>
        </p:spPr>
        <p:txBody>
          <a:bodyPr wrap="square">
            <a:spAutoFit/>
          </a:bodyPr>
          <a:lstStyle/>
          <a:p>
            <a:pPr algn="l">
              <a:spcBef>
                <a:spcPct val="50000"/>
              </a:spcBef>
            </a:pPr>
            <a:r>
              <a:rPr lang="zh-CN" altLang="en-US" sz="2000" dirty="0">
                <a:latin typeface="Consolas" pitchFamily="49" charset="0"/>
                <a:ea typeface="仿宋" pitchFamily="49" charset="-122"/>
                <a:cs typeface="Consolas" pitchFamily="49" charset="0"/>
              </a:rPr>
              <a:t>该算法的时间复杂度为</a:t>
            </a:r>
            <a:r>
              <a:rPr lang="en-US" altLang="zh-CN" sz="2000" dirty="0">
                <a:latin typeface="Consolas" pitchFamily="49" charset="0"/>
                <a:ea typeface="仿宋" pitchFamily="49" charset="-122"/>
                <a:cs typeface="Consolas" pitchFamily="49" charset="0"/>
              </a:rPr>
              <a:t>O(</a:t>
            </a:r>
            <a:r>
              <a:rPr lang="en-US" altLang="zh-CN" sz="2000" i="1" dirty="0" err="1">
                <a:latin typeface="Consolas" pitchFamily="49" charset="0"/>
                <a:ea typeface="仿宋" pitchFamily="49" charset="-122"/>
                <a:cs typeface="Consolas" pitchFamily="49" charset="0"/>
              </a:rPr>
              <a:t>n</a:t>
            </a:r>
            <a:r>
              <a:rPr lang="en-US" altLang="zh-CN" sz="2000" dirty="0" err="1">
                <a:latin typeface="Consolas" pitchFamily="49" charset="0"/>
                <a:ea typeface="仿宋" pitchFamily="49" charset="-122"/>
                <a:cs typeface="Consolas" pitchFamily="49" charset="0"/>
              </a:rPr>
              <a:t>+</a:t>
            </a:r>
            <a:r>
              <a:rPr lang="en-US" altLang="zh-CN" sz="2000" i="1" dirty="0" err="1">
                <a:latin typeface="Consolas" pitchFamily="49" charset="0"/>
                <a:ea typeface="仿宋" pitchFamily="49" charset="-122"/>
                <a:cs typeface="Consolas" pitchFamily="49" charset="0"/>
              </a:rPr>
              <a:t>e</a:t>
            </a:r>
            <a:r>
              <a:rPr lang="en-US" altLang="zh-CN" sz="2000" dirty="0">
                <a:latin typeface="Consolas" pitchFamily="49" charset="0"/>
                <a:ea typeface="仿宋" pitchFamily="49" charset="-122"/>
                <a:cs typeface="Consolas" pitchFamily="49" charset="0"/>
              </a:rPr>
              <a:t>)</a:t>
            </a:r>
            <a:r>
              <a:rPr lang="zh-CN" altLang="en-US" sz="2000" dirty="0">
                <a:latin typeface="Consolas" pitchFamily="49" charset="0"/>
                <a:ea typeface="仿宋" pitchFamily="49" charset="-122"/>
                <a:cs typeface="Consolas" pitchFamily="49" charset="0"/>
              </a:rPr>
              <a:t>。</a:t>
            </a:r>
          </a:p>
        </p:txBody>
      </p:sp>
    </p:spTree>
    <p:extLst>
      <p:ext uri="{BB962C8B-B14F-4D97-AF65-F5344CB8AC3E}">
        <p14:creationId xmlns:p14="http://schemas.microsoft.com/office/powerpoint/2010/main" val="42804385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6">
                                            <p:txEl>
                                              <p:pRg st="9" end="9"/>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6">
                                            <p:txEl>
                                              <p:pRg st="10" end="10"/>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
                                            <p:txEl>
                                              <p:pRg st="11" end="11"/>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6">
                                            <p:txEl>
                                              <p:pRg st="12" end="12"/>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66EB3C-BDF5-FEE5-F45C-63BF2FD126C4}"/>
            </a:ext>
          </a:extLst>
        </p:cNvPr>
        <p:cNvGrpSpPr/>
        <p:nvPr/>
      </p:nvGrpSpPr>
      <p:grpSpPr>
        <a:xfrm>
          <a:off x="0" y="0"/>
          <a:ext cx="0" cy="0"/>
          <a:chOff x="0" y="0"/>
          <a:chExt cx="0" cy="0"/>
        </a:xfrm>
      </p:grpSpPr>
      <p:sp>
        <p:nvSpPr>
          <p:cNvPr id="2" name="Rectangle 2">
            <a:extLst>
              <a:ext uri="{FF2B5EF4-FFF2-40B4-BE49-F238E27FC236}">
                <a16:creationId xmlns:a16="http://schemas.microsoft.com/office/drawing/2014/main" id="{8220114E-1225-0D8B-3607-B807CF74CE80}"/>
              </a:ext>
            </a:extLst>
          </p:cNvPr>
          <p:cNvSpPr txBox="1">
            <a:spLocks noChangeArrowheads="1"/>
          </p:cNvSpPr>
          <p:nvPr/>
        </p:nvSpPr>
        <p:spPr>
          <a:xfrm>
            <a:off x="474772" y="1230902"/>
            <a:ext cx="4253076"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8.3.3 </a:t>
            </a:r>
            <a:r>
              <a:rPr kumimoji="1" lang="zh-CN" altLang="en-US" dirty="0">
                <a:latin typeface="微软雅黑" pitchFamily="34" charset="-122"/>
                <a:ea typeface="微软雅黑" pitchFamily="34" charset="-122"/>
              </a:rPr>
              <a:t>广度优先遍历算法</a:t>
            </a:r>
            <a:endParaRPr lang="zh-CN" altLang="en-US" dirty="0"/>
          </a:p>
        </p:txBody>
      </p:sp>
      <p:sp>
        <p:nvSpPr>
          <p:cNvPr id="3" name="矩形 2">
            <a:extLst>
              <a:ext uri="{FF2B5EF4-FFF2-40B4-BE49-F238E27FC236}">
                <a16:creationId xmlns:a16="http://schemas.microsoft.com/office/drawing/2014/main" id="{EB7F51BF-0225-743C-633A-F8EA8781EF09}"/>
              </a:ext>
            </a:extLst>
          </p:cNvPr>
          <p:cNvSpPr/>
          <p:nvPr/>
        </p:nvSpPr>
        <p:spPr>
          <a:xfrm>
            <a:off x="3200907" y="399148"/>
            <a:ext cx="4617860"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8.3 </a:t>
            </a:r>
            <a:r>
              <a:rPr lang="zh-CN" altLang="en-US" sz="3000" b="1" dirty="0">
                <a:latin typeface="黑体" pitchFamily="49" charset="-122"/>
                <a:ea typeface="黑体" pitchFamily="49" charset="-122"/>
                <a:cs typeface="经典粗黑简" pitchFamily="49" charset="-122"/>
              </a:rPr>
              <a:t>图的遍历</a:t>
            </a:r>
          </a:p>
        </p:txBody>
      </p:sp>
      <p:cxnSp>
        <p:nvCxnSpPr>
          <p:cNvPr id="4" name="直接连接符 3">
            <a:extLst>
              <a:ext uri="{FF2B5EF4-FFF2-40B4-BE49-F238E27FC236}">
                <a16:creationId xmlns:a16="http://schemas.microsoft.com/office/drawing/2014/main" id="{159E8104-3DCF-F632-9E41-AD7657149368}"/>
              </a:ext>
            </a:extLst>
          </p:cNvPr>
          <p:cNvCxnSpPr>
            <a:cxnSpLocks/>
          </p:cNvCxnSpPr>
          <p:nvPr/>
        </p:nvCxnSpPr>
        <p:spPr>
          <a:xfrm>
            <a:off x="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5" name="Rectangle 2">
            <a:extLst>
              <a:ext uri="{FF2B5EF4-FFF2-40B4-BE49-F238E27FC236}">
                <a16:creationId xmlns:a16="http://schemas.microsoft.com/office/drawing/2014/main" id="{7D5E6606-16AB-BD52-BBAD-C7B889CBA0D1}"/>
              </a:ext>
            </a:extLst>
          </p:cNvPr>
          <p:cNvSpPr>
            <a:spLocks noChangeArrowheads="1"/>
          </p:cNvSpPr>
          <p:nvPr/>
        </p:nvSpPr>
        <p:spPr bwMode="auto">
          <a:xfrm>
            <a:off x="1057182" y="4929254"/>
            <a:ext cx="9144000" cy="0"/>
          </a:xfrm>
          <a:prstGeom prst="rect">
            <a:avLst/>
          </a:prstGeom>
          <a:noFill/>
          <a:ln w="9525">
            <a:noFill/>
            <a:miter lim="800000"/>
            <a:headEnd/>
            <a:tailEnd/>
          </a:ln>
        </p:spPr>
        <p:txBody>
          <a:bodyPr wrap="none" anchor="ctr">
            <a:spAutoFit/>
          </a:bodyPr>
          <a:lstStyle/>
          <a:p>
            <a:endParaRPr lang="zh-CN" altLang="en-US"/>
          </a:p>
        </p:txBody>
      </p:sp>
      <p:sp>
        <p:nvSpPr>
          <p:cNvPr id="8" name="Text Box 101">
            <a:extLst>
              <a:ext uri="{FF2B5EF4-FFF2-40B4-BE49-F238E27FC236}">
                <a16:creationId xmlns:a16="http://schemas.microsoft.com/office/drawing/2014/main" id="{0B475546-BDC1-167D-F821-D8DE3CAB2431}"/>
              </a:ext>
            </a:extLst>
          </p:cNvPr>
          <p:cNvSpPr txBox="1">
            <a:spLocks noChangeArrowheads="1"/>
          </p:cNvSpPr>
          <p:nvPr/>
        </p:nvSpPr>
        <p:spPr bwMode="auto">
          <a:xfrm>
            <a:off x="1393158" y="5399208"/>
            <a:ext cx="2376488" cy="400110"/>
          </a:xfrm>
          <a:prstGeom prst="rect">
            <a:avLst/>
          </a:prstGeom>
          <a:noFill/>
          <a:ln w="28575" algn="ctr">
            <a:noFill/>
            <a:miter lim="800000"/>
            <a:headEnd/>
            <a:tailEnd type="none" w="med" len="lg"/>
          </a:ln>
        </p:spPr>
        <p:txBody>
          <a:bodyPr>
            <a:spAutoFit/>
          </a:bodyPr>
          <a:lstStyle/>
          <a:p>
            <a:pPr>
              <a:spcBef>
                <a:spcPct val="50000"/>
              </a:spcBef>
            </a:pPr>
            <a:r>
              <a:rPr lang="en-US" altLang="zh-CN" sz="2000" i="1" dirty="0">
                <a:solidFill>
                  <a:srgbClr val="CC00CC"/>
                </a:solidFill>
                <a:latin typeface="Consolas" pitchFamily="49" charset="0"/>
                <a:ea typeface="楷体" pitchFamily="49" charset="-122"/>
                <a:cs typeface="Consolas" pitchFamily="49" charset="0"/>
              </a:rPr>
              <a:t>v</a:t>
            </a:r>
            <a:r>
              <a:rPr lang="en-US" altLang="zh-CN" sz="2000" dirty="0">
                <a:solidFill>
                  <a:srgbClr val="CC00CC"/>
                </a:solidFill>
                <a:latin typeface="Consolas" pitchFamily="49" charset="0"/>
                <a:ea typeface="楷体" pitchFamily="49" charset="-122"/>
                <a:cs typeface="Consolas" pitchFamily="49" charset="0"/>
              </a:rPr>
              <a:t>=2</a:t>
            </a:r>
            <a:r>
              <a:rPr lang="zh-CN" altLang="en-US" sz="2000" dirty="0">
                <a:solidFill>
                  <a:srgbClr val="CC00CC"/>
                </a:solidFill>
                <a:latin typeface="Consolas" pitchFamily="49" charset="0"/>
                <a:ea typeface="楷体" pitchFamily="49" charset="-122"/>
                <a:cs typeface="Consolas" pitchFamily="49" charset="0"/>
              </a:rPr>
              <a:t>的</a:t>
            </a:r>
            <a:r>
              <a:rPr lang="en-US" altLang="zh-CN" sz="2000" dirty="0">
                <a:solidFill>
                  <a:srgbClr val="CC00CC"/>
                </a:solidFill>
                <a:latin typeface="Consolas" pitchFamily="49" charset="0"/>
                <a:ea typeface="楷体" pitchFamily="49" charset="-122"/>
                <a:cs typeface="Consolas" pitchFamily="49" charset="0"/>
              </a:rPr>
              <a:t>BFS</a:t>
            </a:r>
            <a:r>
              <a:rPr lang="zh-CN" altLang="en-US" sz="2000" dirty="0">
                <a:solidFill>
                  <a:srgbClr val="CC00CC"/>
                </a:solidFill>
                <a:latin typeface="Consolas" pitchFamily="49" charset="0"/>
                <a:ea typeface="楷体" pitchFamily="49" charset="-122"/>
                <a:cs typeface="Consolas" pitchFamily="49" charset="0"/>
              </a:rPr>
              <a:t>序列：</a:t>
            </a:r>
          </a:p>
        </p:txBody>
      </p:sp>
      <p:sp>
        <p:nvSpPr>
          <p:cNvPr id="9" name="Text Box 102">
            <a:extLst>
              <a:ext uri="{FF2B5EF4-FFF2-40B4-BE49-F238E27FC236}">
                <a16:creationId xmlns:a16="http://schemas.microsoft.com/office/drawing/2014/main" id="{34C10E4C-359C-1600-4919-FD23A4A31A17}"/>
              </a:ext>
            </a:extLst>
          </p:cNvPr>
          <p:cNvSpPr txBox="1">
            <a:spLocks noChangeArrowheads="1"/>
          </p:cNvSpPr>
          <p:nvPr/>
        </p:nvSpPr>
        <p:spPr bwMode="auto">
          <a:xfrm>
            <a:off x="2459970" y="6034215"/>
            <a:ext cx="288925" cy="307777"/>
          </a:xfrm>
          <a:prstGeom prst="rect">
            <a:avLst/>
          </a:prstGeom>
          <a:noFill/>
          <a:ln w="28575" algn="ctr">
            <a:noFill/>
            <a:miter lim="800000"/>
            <a:headEnd/>
            <a:tailEnd type="none" w="med" len="lg"/>
          </a:ln>
        </p:spPr>
        <p:txBody>
          <a:bodyPr lIns="0" tIns="0" rIns="0" bIns="0">
            <a:spAutoFit/>
          </a:bodyPr>
          <a:lstStyle/>
          <a:p>
            <a:pPr>
              <a:spcBef>
                <a:spcPct val="50000"/>
              </a:spcBef>
            </a:pPr>
            <a:r>
              <a:rPr lang="en-US" altLang="zh-CN" sz="2000" dirty="0">
                <a:latin typeface="Consolas" pitchFamily="49" charset="0"/>
                <a:cs typeface="Consolas" pitchFamily="49" charset="0"/>
              </a:rPr>
              <a:t>2</a:t>
            </a:r>
          </a:p>
        </p:txBody>
      </p:sp>
      <p:sp>
        <p:nvSpPr>
          <p:cNvPr id="10" name="Text Box 103">
            <a:extLst>
              <a:ext uri="{FF2B5EF4-FFF2-40B4-BE49-F238E27FC236}">
                <a16:creationId xmlns:a16="http://schemas.microsoft.com/office/drawing/2014/main" id="{37446CEA-5124-C151-D23F-5A9918F7B5AF}"/>
              </a:ext>
            </a:extLst>
          </p:cNvPr>
          <p:cNvSpPr txBox="1">
            <a:spLocks noChangeArrowheads="1"/>
          </p:cNvSpPr>
          <p:nvPr/>
        </p:nvSpPr>
        <p:spPr bwMode="auto">
          <a:xfrm>
            <a:off x="3179108" y="6034215"/>
            <a:ext cx="288925" cy="307777"/>
          </a:xfrm>
          <a:prstGeom prst="rect">
            <a:avLst/>
          </a:prstGeom>
          <a:noFill/>
          <a:ln w="28575" algn="ctr">
            <a:noFill/>
            <a:miter lim="800000"/>
            <a:headEnd/>
            <a:tailEnd type="none" w="med" len="lg"/>
          </a:ln>
        </p:spPr>
        <p:txBody>
          <a:bodyPr lIns="0" tIns="0" rIns="0" bIns="0">
            <a:spAutoFit/>
          </a:bodyPr>
          <a:lstStyle/>
          <a:p>
            <a:pPr>
              <a:spcBef>
                <a:spcPct val="50000"/>
              </a:spcBef>
            </a:pPr>
            <a:r>
              <a:rPr lang="en-US" altLang="zh-CN" sz="2000" dirty="0">
                <a:latin typeface="Consolas" pitchFamily="49" charset="0"/>
                <a:cs typeface="Consolas" pitchFamily="49" charset="0"/>
              </a:rPr>
              <a:t>1</a:t>
            </a:r>
          </a:p>
        </p:txBody>
      </p:sp>
      <p:sp>
        <p:nvSpPr>
          <p:cNvPr id="11" name="Text Box 104">
            <a:extLst>
              <a:ext uri="{FF2B5EF4-FFF2-40B4-BE49-F238E27FC236}">
                <a16:creationId xmlns:a16="http://schemas.microsoft.com/office/drawing/2014/main" id="{EF7B4834-8F69-F5FD-C318-DE39482BA91D}"/>
              </a:ext>
            </a:extLst>
          </p:cNvPr>
          <p:cNvSpPr txBox="1">
            <a:spLocks noChangeArrowheads="1"/>
          </p:cNvSpPr>
          <p:nvPr/>
        </p:nvSpPr>
        <p:spPr bwMode="auto">
          <a:xfrm>
            <a:off x="3807774" y="6034215"/>
            <a:ext cx="288925" cy="307777"/>
          </a:xfrm>
          <a:prstGeom prst="rect">
            <a:avLst/>
          </a:prstGeom>
          <a:noFill/>
          <a:ln w="28575" algn="ctr">
            <a:noFill/>
            <a:miter lim="800000"/>
            <a:headEnd/>
            <a:tailEnd type="none" w="med" len="lg"/>
          </a:ln>
        </p:spPr>
        <p:txBody>
          <a:bodyPr lIns="0" tIns="0" rIns="0" bIns="0">
            <a:spAutoFit/>
          </a:bodyPr>
          <a:lstStyle/>
          <a:p>
            <a:pPr>
              <a:spcBef>
                <a:spcPct val="50000"/>
              </a:spcBef>
            </a:pPr>
            <a:r>
              <a:rPr lang="en-US" altLang="zh-CN" sz="2000" dirty="0">
                <a:latin typeface="Consolas" pitchFamily="49" charset="0"/>
                <a:cs typeface="Consolas" pitchFamily="49" charset="0"/>
              </a:rPr>
              <a:t>3</a:t>
            </a:r>
          </a:p>
        </p:txBody>
      </p:sp>
      <p:sp>
        <p:nvSpPr>
          <p:cNvPr id="12" name="Text Box 105">
            <a:extLst>
              <a:ext uri="{FF2B5EF4-FFF2-40B4-BE49-F238E27FC236}">
                <a16:creationId xmlns:a16="http://schemas.microsoft.com/office/drawing/2014/main" id="{F8C4E50C-6719-AEBC-031C-29A005F57C09}"/>
              </a:ext>
            </a:extLst>
          </p:cNvPr>
          <p:cNvSpPr txBox="1">
            <a:spLocks noChangeArrowheads="1"/>
          </p:cNvSpPr>
          <p:nvPr/>
        </p:nvSpPr>
        <p:spPr bwMode="auto">
          <a:xfrm>
            <a:off x="4526912" y="6034215"/>
            <a:ext cx="288925" cy="307777"/>
          </a:xfrm>
          <a:prstGeom prst="rect">
            <a:avLst/>
          </a:prstGeom>
          <a:noFill/>
          <a:ln w="28575" algn="ctr">
            <a:noFill/>
            <a:miter lim="800000"/>
            <a:headEnd/>
            <a:tailEnd type="none" w="med" len="lg"/>
          </a:ln>
        </p:spPr>
        <p:txBody>
          <a:bodyPr lIns="0" tIns="0" rIns="0" bIns="0">
            <a:spAutoFit/>
          </a:bodyPr>
          <a:lstStyle/>
          <a:p>
            <a:pPr>
              <a:spcBef>
                <a:spcPct val="50000"/>
              </a:spcBef>
            </a:pPr>
            <a:r>
              <a:rPr lang="en-US" altLang="zh-CN" sz="2000" dirty="0">
                <a:latin typeface="Consolas" pitchFamily="49" charset="0"/>
                <a:cs typeface="Consolas" pitchFamily="49" charset="0"/>
              </a:rPr>
              <a:t>4</a:t>
            </a:r>
          </a:p>
        </p:txBody>
      </p:sp>
      <p:sp>
        <p:nvSpPr>
          <p:cNvPr id="13" name="Text Box 106">
            <a:extLst>
              <a:ext uri="{FF2B5EF4-FFF2-40B4-BE49-F238E27FC236}">
                <a16:creationId xmlns:a16="http://schemas.microsoft.com/office/drawing/2014/main" id="{0C00B763-C9E9-75BC-FD80-2B90A54FB85A}"/>
              </a:ext>
            </a:extLst>
          </p:cNvPr>
          <p:cNvSpPr txBox="1">
            <a:spLocks noChangeArrowheads="1"/>
          </p:cNvSpPr>
          <p:nvPr/>
        </p:nvSpPr>
        <p:spPr bwMode="auto">
          <a:xfrm>
            <a:off x="5176199" y="6034215"/>
            <a:ext cx="288925" cy="307777"/>
          </a:xfrm>
          <a:prstGeom prst="rect">
            <a:avLst/>
          </a:prstGeom>
          <a:noFill/>
          <a:ln w="28575" algn="ctr">
            <a:noFill/>
            <a:miter lim="800000"/>
            <a:headEnd/>
            <a:tailEnd type="none" w="med" len="lg"/>
          </a:ln>
        </p:spPr>
        <p:txBody>
          <a:bodyPr lIns="0" tIns="0" rIns="0" bIns="0">
            <a:spAutoFit/>
          </a:bodyPr>
          <a:lstStyle/>
          <a:p>
            <a:pPr>
              <a:spcBef>
                <a:spcPct val="50000"/>
              </a:spcBef>
            </a:pPr>
            <a:r>
              <a:rPr lang="en-US" altLang="zh-CN" sz="2000" dirty="0">
                <a:latin typeface="Consolas" pitchFamily="49" charset="0"/>
                <a:cs typeface="Consolas" pitchFamily="49" charset="0"/>
              </a:rPr>
              <a:t>0</a:t>
            </a:r>
          </a:p>
        </p:txBody>
      </p:sp>
      <p:sp>
        <p:nvSpPr>
          <p:cNvPr id="14" name="Text Box 107">
            <a:extLst>
              <a:ext uri="{FF2B5EF4-FFF2-40B4-BE49-F238E27FC236}">
                <a16:creationId xmlns:a16="http://schemas.microsoft.com/office/drawing/2014/main" id="{95262D50-1C88-3E05-93B2-E3F70494ABF1}"/>
              </a:ext>
            </a:extLst>
          </p:cNvPr>
          <p:cNvSpPr txBox="1">
            <a:spLocks noChangeArrowheads="1"/>
          </p:cNvSpPr>
          <p:nvPr/>
        </p:nvSpPr>
        <p:spPr bwMode="auto">
          <a:xfrm>
            <a:off x="6568746" y="4961302"/>
            <a:ext cx="2376487" cy="307777"/>
          </a:xfrm>
          <a:prstGeom prst="rect">
            <a:avLst/>
          </a:prstGeom>
          <a:noFill/>
          <a:ln w="28575" algn="ctr">
            <a:noFill/>
            <a:miter lim="800000"/>
            <a:headEnd/>
            <a:tailEnd type="none" w="med" len="lg"/>
          </a:ln>
        </p:spPr>
        <p:txBody>
          <a:bodyPr lIns="0" tIns="0" rIns="0" bIns="0">
            <a:spAutoFit/>
          </a:bodyPr>
          <a:lstStyle/>
          <a:p>
            <a:pPr>
              <a:spcBef>
                <a:spcPct val="50000"/>
              </a:spcBef>
            </a:pPr>
            <a:r>
              <a:rPr lang="zh-CN" altLang="en-US" sz="2000" dirty="0">
                <a:solidFill>
                  <a:srgbClr val="FF3300"/>
                </a:solidFill>
                <a:latin typeface="仿宋" pitchFamily="49" charset="-122"/>
                <a:ea typeface="仿宋" pitchFamily="49" charset="-122"/>
                <a:cs typeface="Consolas" pitchFamily="49" charset="0"/>
              </a:rPr>
              <a:t>遍历过程结束</a:t>
            </a:r>
          </a:p>
        </p:txBody>
      </p:sp>
      <p:sp>
        <p:nvSpPr>
          <p:cNvPr id="17" name="Oval 7">
            <a:extLst>
              <a:ext uri="{FF2B5EF4-FFF2-40B4-BE49-F238E27FC236}">
                <a16:creationId xmlns:a16="http://schemas.microsoft.com/office/drawing/2014/main" id="{29B0D90A-154A-5EC4-8E9F-1E030C839C06}"/>
              </a:ext>
            </a:extLst>
          </p:cNvPr>
          <p:cNvSpPr>
            <a:spLocks noChangeArrowheads="1"/>
          </p:cNvSpPr>
          <p:nvPr/>
        </p:nvSpPr>
        <p:spPr bwMode="auto">
          <a:xfrm>
            <a:off x="2497261" y="3646461"/>
            <a:ext cx="431800"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2000">
                <a:solidFill>
                  <a:srgbClr val="0000FF"/>
                </a:solidFill>
                <a:latin typeface="Consolas" pitchFamily="49" charset="0"/>
                <a:cs typeface="Consolas" pitchFamily="49" charset="0"/>
              </a:rPr>
              <a:t>3</a:t>
            </a:r>
          </a:p>
        </p:txBody>
      </p:sp>
      <p:sp>
        <p:nvSpPr>
          <p:cNvPr id="18" name="Oval 8">
            <a:extLst>
              <a:ext uri="{FF2B5EF4-FFF2-40B4-BE49-F238E27FC236}">
                <a16:creationId xmlns:a16="http://schemas.microsoft.com/office/drawing/2014/main" id="{708C7D99-7C4F-0DA6-6EBB-6250EABC041C}"/>
              </a:ext>
            </a:extLst>
          </p:cNvPr>
          <p:cNvSpPr>
            <a:spLocks noChangeArrowheads="1"/>
          </p:cNvSpPr>
          <p:nvPr/>
        </p:nvSpPr>
        <p:spPr bwMode="auto">
          <a:xfrm>
            <a:off x="1560636" y="3646461"/>
            <a:ext cx="431800"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2000">
                <a:solidFill>
                  <a:srgbClr val="0000FF"/>
                </a:solidFill>
                <a:latin typeface="Consolas" pitchFamily="49" charset="0"/>
                <a:cs typeface="Consolas" pitchFamily="49" charset="0"/>
              </a:rPr>
              <a:t>2</a:t>
            </a:r>
          </a:p>
        </p:txBody>
      </p:sp>
      <p:sp>
        <p:nvSpPr>
          <p:cNvPr id="19" name="Oval 9">
            <a:extLst>
              <a:ext uri="{FF2B5EF4-FFF2-40B4-BE49-F238E27FC236}">
                <a16:creationId xmlns:a16="http://schemas.microsoft.com/office/drawing/2014/main" id="{5AB53797-C03F-DDD2-D5CD-2C457F6B639E}"/>
              </a:ext>
            </a:extLst>
          </p:cNvPr>
          <p:cNvSpPr>
            <a:spLocks noChangeArrowheads="1"/>
          </p:cNvSpPr>
          <p:nvPr/>
        </p:nvSpPr>
        <p:spPr bwMode="auto">
          <a:xfrm>
            <a:off x="3432299" y="3646461"/>
            <a:ext cx="431800"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2000">
                <a:solidFill>
                  <a:srgbClr val="0000FF"/>
                </a:solidFill>
                <a:latin typeface="Consolas" pitchFamily="49" charset="0"/>
                <a:cs typeface="Consolas" pitchFamily="49" charset="0"/>
              </a:rPr>
              <a:t>0</a:t>
            </a:r>
          </a:p>
        </p:txBody>
      </p:sp>
      <p:sp>
        <p:nvSpPr>
          <p:cNvPr id="20" name="Oval 10">
            <a:extLst>
              <a:ext uri="{FF2B5EF4-FFF2-40B4-BE49-F238E27FC236}">
                <a16:creationId xmlns:a16="http://schemas.microsoft.com/office/drawing/2014/main" id="{731674F2-4B98-69A3-689F-61519A001EAC}"/>
              </a:ext>
            </a:extLst>
          </p:cNvPr>
          <p:cNvSpPr>
            <a:spLocks noChangeArrowheads="1"/>
          </p:cNvSpPr>
          <p:nvPr/>
        </p:nvSpPr>
        <p:spPr bwMode="auto">
          <a:xfrm>
            <a:off x="2497261" y="2782861"/>
            <a:ext cx="431800"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2000" dirty="0">
                <a:solidFill>
                  <a:srgbClr val="0000FF"/>
                </a:solidFill>
                <a:latin typeface="Consolas" pitchFamily="49" charset="0"/>
                <a:cs typeface="Consolas" pitchFamily="49" charset="0"/>
              </a:rPr>
              <a:t>1</a:t>
            </a:r>
          </a:p>
        </p:txBody>
      </p:sp>
      <p:sp>
        <p:nvSpPr>
          <p:cNvPr id="21" name="Oval 11">
            <a:extLst>
              <a:ext uri="{FF2B5EF4-FFF2-40B4-BE49-F238E27FC236}">
                <a16:creationId xmlns:a16="http://schemas.microsoft.com/office/drawing/2014/main" id="{3B00265A-37D4-EAB3-3408-C27E25A94EC0}"/>
              </a:ext>
            </a:extLst>
          </p:cNvPr>
          <p:cNvSpPr>
            <a:spLocks noChangeArrowheads="1"/>
          </p:cNvSpPr>
          <p:nvPr/>
        </p:nvSpPr>
        <p:spPr bwMode="auto">
          <a:xfrm>
            <a:off x="2497261" y="4510061"/>
            <a:ext cx="431800"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2000">
                <a:solidFill>
                  <a:srgbClr val="0000FF"/>
                </a:solidFill>
                <a:latin typeface="Consolas" pitchFamily="49" charset="0"/>
                <a:cs typeface="Consolas" pitchFamily="49" charset="0"/>
              </a:rPr>
              <a:t>4</a:t>
            </a:r>
          </a:p>
        </p:txBody>
      </p:sp>
      <p:sp>
        <p:nvSpPr>
          <p:cNvPr id="22" name="Freeform 12">
            <a:extLst>
              <a:ext uri="{FF2B5EF4-FFF2-40B4-BE49-F238E27FC236}">
                <a16:creationId xmlns:a16="http://schemas.microsoft.com/office/drawing/2014/main" id="{11CFACC6-C16D-DA0C-7812-3AFB848DC165}"/>
              </a:ext>
            </a:extLst>
          </p:cNvPr>
          <p:cNvSpPr>
            <a:spLocks/>
          </p:cNvSpPr>
          <p:nvPr/>
        </p:nvSpPr>
        <p:spPr bwMode="auto">
          <a:xfrm>
            <a:off x="1867024" y="3070199"/>
            <a:ext cx="630238" cy="588963"/>
          </a:xfrm>
          <a:custGeom>
            <a:avLst/>
            <a:gdLst>
              <a:gd name="T0" fmla="*/ 0 w 397"/>
              <a:gd name="T1" fmla="*/ 371 h 371"/>
              <a:gd name="T2" fmla="*/ 397 w 397"/>
              <a:gd name="T3" fmla="*/ 0 h 371"/>
              <a:gd name="T4" fmla="*/ 0 60000 65536"/>
              <a:gd name="T5" fmla="*/ 0 60000 65536"/>
              <a:gd name="T6" fmla="*/ 0 w 397"/>
              <a:gd name="T7" fmla="*/ 0 h 371"/>
              <a:gd name="T8" fmla="*/ 397 w 397"/>
              <a:gd name="T9" fmla="*/ 371 h 371"/>
            </a:gdLst>
            <a:ahLst/>
            <a:cxnLst>
              <a:cxn ang="T4">
                <a:pos x="T0" y="T1"/>
              </a:cxn>
              <a:cxn ang="T5">
                <a:pos x="T2" y="T3"/>
              </a:cxn>
            </a:cxnLst>
            <a:rect l="T6" t="T7" r="T8" b="T9"/>
            <a:pathLst>
              <a:path w="397" h="371">
                <a:moveTo>
                  <a:pt x="0" y="371"/>
                </a:moveTo>
                <a:lnTo>
                  <a:pt x="397" y="0"/>
                </a:lnTo>
              </a:path>
            </a:pathLst>
          </a:custGeom>
          <a:noFill/>
          <a:ln w="28575">
            <a:solidFill>
              <a:srgbClr val="3333FF"/>
            </a:solidFill>
            <a:round/>
            <a:headEnd/>
            <a:tailEnd type="none" w="med" len="lg"/>
          </a:ln>
        </p:spPr>
        <p:txBody>
          <a:bodyPr wrap="none"/>
          <a:lstStyle/>
          <a:p>
            <a:endParaRPr lang="zh-CN" altLang="en-US">
              <a:latin typeface="Consolas" pitchFamily="49" charset="0"/>
              <a:cs typeface="Consolas" pitchFamily="49" charset="0"/>
            </a:endParaRPr>
          </a:p>
        </p:txBody>
      </p:sp>
      <p:sp>
        <p:nvSpPr>
          <p:cNvPr id="23" name="Freeform 13">
            <a:extLst>
              <a:ext uri="{FF2B5EF4-FFF2-40B4-BE49-F238E27FC236}">
                <a16:creationId xmlns:a16="http://schemas.microsoft.com/office/drawing/2014/main" id="{9BB00F63-92D8-FF12-CD74-2996E6096D3F}"/>
              </a:ext>
            </a:extLst>
          </p:cNvPr>
          <p:cNvSpPr>
            <a:spLocks/>
          </p:cNvSpPr>
          <p:nvPr/>
        </p:nvSpPr>
        <p:spPr bwMode="auto">
          <a:xfrm>
            <a:off x="1992436" y="3862361"/>
            <a:ext cx="503238" cy="1588"/>
          </a:xfrm>
          <a:custGeom>
            <a:avLst/>
            <a:gdLst>
              <a:gd name="T0" fmla="*/ 0 w 317"/>
              <a:gd name="T1" fmla="*/ 0 h 1"/>
              <a:gd name="T2" fmla="*/ 317 w 317"/>
              <a:gd name="T3" fmla="*/ 0 h 1"/>
              <a:gd name="T4" fmla="*/ 0 60000 65536"/>
              <a:gd name="T5" fmla="*/ 0 60000 65536"/>
              <a:gd name="T6" fmla="*/ 0 w 317"/>
              <a:gd name="T7" fmla="*/ 0 h 1"/>
              <a:gd name="T8" fmla="*/ 317 w 317"/>
              <a:gd name="T9" fmla="*/ 1 h 1"/>
            </a:gdLst>
            <a:ahLst/>
            <a:cxnLst>
              <a:cxn ang="T4">
                <a:pos x="T0" y="T1"/>
              </a:cxn>
              <a:cxn ang="T5">
                <a:pos x="T2" y="T3"/>
              </a:cxn>
            </a:cxnLst>
            <a:rect l="T6" t="T7" r="T8" b="T9"/>
            <a:pathLst>
              <a:path w="317" h="1">
                <a:moveTo>
                  <a:pt x="0" y="0"/>
                </a:moveTo>
                <a:lnTo>
                  <a:pt x="317" y="0"/>
                </a:lnTo>
              </a:path>
            </a:pathLst>
          </a:custGeom>
          <a:noFill/>
          <a:ln w="28575">
            <a:solidFill>
              <a:srgbClr val="3333FF"/>
            </a:solidFill>
            <a:round/>
            <a:headEnd/>
            <a:tailEnd type="none" w="med" len="lg"/>
          </a:ln>
        </p:spPr>
        <p:txBody>
          <a:bodyPr wrap="none"/>
          <a:lstStyle/>
          <a:p>
            <a:endParaRPr lang="zh-CN" altLang="en-US">
              <a:latin typeface="Consolas" pitchFamily="49" charset="0"/>
              <a:cs typeface="Consolas" pitchFamily="49" charset="0"/>
            </a:endParaRPr>
          </a:p>
        </p:txBody>
      </p:sp>
      <p:sp>
        <p:nvSpPr>
          <p:cNvPr id="24" name="Line 14">
            <a:extLst>
              <a:ext uri="{FF2B5EF4-FFF2-40B4-BE49-F238E27FC236}">
                <a16:creationId xmlns:a16="http://schemas.microsoft.com/office/drawing/2014/main" id="{8BA6CA92-09DC-1C92-595E-C3E0D3683563}"/>
              </a:ext>
            </a:extLst>
          </p:cNvPr>
          <p:cNvSpPr>
            <a:spLocks noChangeShapeType="1"/>
          </p:cNvSpPr>
          <p:nvPr/>
        </p:nvSpPr>
        <p:spPr bwMode="auto">
          <a:xfrm>
            <a:off x="2929061" y="3862361"/>
            <a:ext cx="503238" cy="0"/>
          </a:xfrm>
          <a:prstGeom prst="line">
            <a:avLst/>
          </a:prstGeom>
          <a:noFill/>
          <a:ln w="28575">
            <a:solidFill>
              <a:srgbClr val="3333FF"/>
            </a:solidFill>
            <a:round/>
            <a:headEnd/>
            <a:tailEnd type="none" w="med" len="lg"/>
          </a:ln>
        </p:spPr>
        <p:txBody>
          <a:bodyPr wrap="none"/>
          <a:lstStyle/>
          <a:p>
            <a:endParaRPr lang="zh-CN" altLang="en-US">
              <a:latin typeface="Consolas" pitchFamily="49" charset="0"/>
              <a:cs typeface="Consolas" pitchFamily="49" charset="0"/>
            </a:endParaRPr>
          </a:p>
        </p:txBody>
      </p:sp>
      <p:sp>
        <p:nvSpPr>
          <p:cNvPr id="25" name="Freeform 15">
            <a:extLst>
              <a:ext uri="{FF2B5EF4-FFF2-40B4-BE49-F238E27FC236}">
                <a16:creationId xmlns:a16="http://schemas.microsoft.com/office/drawing/2014/main" id="{10F23A8D-B1B3-2B25-4307-E52EFF5F4C3C}"/>
              </a:ext>
            </a:extLst>
          </p:cNvPr>
          <p:cNvSpPr>
            <a:spLocks/>
          </p:cNvSpPr>
          <p:nvPr/>
        </p:nvSpPr>
        <p:spPr bwMode="auto">
          <a:xfrm>
            <a:off x="1873374" y="4052861"/>
            <a:ext cx="623888" cy="601663"/>
          </a:xfrm>
          <a:custGeom>
            <a:avLst/>
            <a:gdLst>
              <a:gd name="T0" fmla="*/ 0 w 393"/>
              <a:gd name="T1" fmla="*/ 0 h 379"/>
              <a:gd name="T2" fmla="*/ 393 w 393"/>
              <a:gd name="T3" fmla="*/ 379 h 379"/>
              <a:gd name="T4" fmla="*/ 0 60000 65536"/>
              <a:gd name="T5" fmla="*/ 0 60000 65536"/>
              <a:gd name="T6" fmla="*/ 0 w 393"/>
              <a:gd name="T7" fmla="*/ 0 h 379"/>
              <a:gd name="T8" fmla="*/ 393 w 393"/>
              <a:gd name="T9" fmla="*/ 379 h 379"/>
            </a:gdLst>
            <a:ahLst/>
            <a:cxnLst>
              <a:cxn ang="T4">
                <a:pos x="T0" y="T1"/>
              </a:cxn>
              <a:cxn ang="T5">
                <a:pos x="T2" y="T3"/>
              </a:cxn>
            </a:cxnLst>
            <a:rect l="T6" t="T7" r="T8" b="T9"/>
            <a:pathLst>
              <a:path w="393" h="379">
                <a:moveTo>
                  <a:pt x="0" y="0"/>
                </a:moveTo>
                <a:lnTo>
                  <a:pt x="393" y="379"/>
                </a:lnTo>
              </a:path>
            </a:pathLst>
          </a:custGeom>
          <a:noFill/>
          <a:ln w="28575">
            <a:solidFill>
              <a:srgbClr val="3333FF"/>
            </a:solidFill>
            <a:round/>
            <a:headEnd/>
            <a:tailEnd type="none" w="med" len="lg"/>
          </a:ln>
        </p:spPr>
        <p:txBody>
          <a:bodyPr wrap="none"/>
          <a:lstStyle/>
          <a:p>
            <a:endParaRPr lang="zh-CN" altLang="en-US">
              <a:latin typeface="Consolas" pitchFamily="49" charset="0"/>
              <a:cs typeface="Consolas" pitchFamily="49" charset="0"/>
            </a:endParaRPr>
          </a:p>
        </p:txBody>
      </p:sp>
      <p:sp>
        <p:nvSpPr>
          <p:cNvPr id="26" name="Line 17">
            <a:extLst>
              <a:ext uri="{FF2B5EF4-FFF2-40B4-BE49-F238E27FC236}">
                <a16:creationId xmlns:a16="http://schemas.microsoft.com/office/drawing/2014/main" id="{79A2DD53-980F-D683-F646-1514226DE83C}"/>
              </a:ext>
            </a:extLst>
          </p:cNvPr>
          <p:cNvSpPr>
            <a:spLocks noChangeShapeType="1"/>
          </p:cNvSpPr>
          <p:nvPr/>
        </p:nvSpPr>
        <p:spPr bwMode="auto">
          <a:xfrm>
            <a:off x="2929061" y="3070199"/>
            <a:ext cx="647700" cy="576263"/>
          </a:xfrm>
          <a:prstGeom prst="line">
            <a:avLst/>
          </a:prstGeom>
          <a:noFill/>
          <a:ln w="28575">
            <a:solidFill>
              <a:srgbClr val="3333FF"/>
            </a:solidFill>
            <a:round/>
            <a:headEnd/>
            <a:tailEnd type="none" w="med" len="lg"/>
          </a:ln>
        </p:spPr>
        <p:txBody>
          <a:bodyPr wrap="none"/>
          <a:lstStyle/>
          <a:p>
            <a:endParaRPr lang="zh-CN" altLang="en-US">
              <a:latin typeface="Consolas" pitchFamily="49" charset="0"/>
              <a:cs typeface="Consolas" pitchFamily="49" charset="0"/>
            </a:endParaRPr>
          </a:p>
        </p:txBody>
      </p:sp>
      <p:sp>
        <p:nvSpPr>
          <p:cNvPr id="27" name="Freeform 18">
            <a:extLst>
              <a:ext uri="{FF2B5EF4-FFF2-40B4-BE49-F238E27FC236}">
                <a16:creationId xmlns:a16="http://schemas.microsoft.com/office/drawing/2014/main" id="{3E1CA733-93FE-C227-8406-CF065F412548}"/>
              </a:ext>
            </a:extLst>
          </p:cNvPr>
          <p:cNvSpPr>
            <a:spLocks/>
          </p:cNvSpPr>
          <p:nvPr/>
        </p:nvSpPr>
        <p:spPr bwMode="auto">
          <a:xfrm>
            <a:off x="2929061" y="4052861"/>
            <a:ext cx="620713" cy="603250"/>
          </a:xfrm>
          <a:custGeom>
            <a:avLst/>
            <a:gdLst>
              <a:gd name="T0" fmla="*/ 0 w 391"/>
              <a:gd name="T1" fmla="*/ 380 h 380"/>
              <a:gd name="T2" fmla="*/ 391 w 391"/>
              <a:gd name="T3" fmla="*/ 0 h 380"/>
              <a:gd name="T4" fmla="*/ 0 60000 65536"/>
              <a:gd name="T5" fmla="*/ 0 60000 65536"/>
              <a:gd name="T6" fmla="*/ 0 w 391"/>
              <a:gd name="T7" fmla="*/ 0 h 380"/>
              <a:gd name="T8" fmla="*/ 391 w 391"/>
              <a:gd name="T9" fmla="*/ 380 h 380"/>
            </a:gdLst>
            <a:ahLst/>
            <a:cxnLst>
              <a:cxn ang="T4">
                <a:pos x="T0" y="T1"/>
              </a:cxn>
              <a:cxn ang="T5">
                <a:pos x="T2" y="T3"/>
              </a:cxn>
            </a:cxnLst>
            <a:rect l="T6" t="T7" r="T8" b="T9"/>
            <a:pathLst>
              <a:path w="391" h="380">
                <a:moveTo>
                  <a:pt x="0" y="380"/>
                </a:moveTo>
                <a:lnTo>
                  <a:pt x="391" y="0"/>
                </a:lnTo>
              </a:path>
            </a:pathLst>
          </a:custGeom>
          <a:noFill/>
          <a:ln w="28575">
            <a:solidFill>
              <a:srgbClr val="3333FF"/>
            </a:solidFill>
            <a:round/>
            <a:headEnd/>
            <a:tailEnd type="none" w="med" len="lg"/>
          </a:ln>
        </p:spPr>
        <p:txBody>
          <a:bodyPr wrap="none"/>
          <a:lstStyle/>
          <a:p>
            <a:endParaRPr lang="zh-CN" altLang="en-US">
              <a:latin typeface="Consolas" pitchFamily="49" charset="0"/>
              <a:cs typeface="Consolas" pitchFamily="49" charset="0"/>
            </a:endParaRPr>
          </a:p>
        </p:txBody>
      </p:sp>
      <p:sp>
        <p:nvSpPr>
          <p:cNvPr id="28" name="Line 19">
            <a:extLst>
              <a:ext uri="{FF2B5EF4-FFF2-40B4-BE49-F238E27FC236}">
                <a16:creationId xmlns:a16="http://schemas.microsoft.com/office/drawing/2014/main" id="{18E7D1FE-4AF8-797E-84E5-7BBAD5B07AD1}"/>
              </a:ext>
            </a:extLst>
          </p:cNvPr>
          <p:cNvSpPr>
            <a:spLocks noChangeShapeType="1"/>
          </p:cNvSpPr>
          <p:nvPr/>
        </p:nvSpPr>
        <p:spPr bwMode="auto">
          <a:xfrm>
            <a:off x="2713161" y="4078261"/>
            <a:ext cx="0" cy="431800"/>
          </a:xfrm>
          <a:prstGeom prst="line">
            <a:avLst/>
          </a:prstGeom>
          <a:noFill/>
          <a:ln w="28575">
            <a:solidFill>
              <a:srgbClr val="3333FF"/>
            </a:solidFill>
            <a:round/>
            <a:headEnd/>
            <a:tailEnd type="none" w="med" len="lg"/>
          </a:ln>
        </p:spPr>
        <p:txBody>
          <a:bodyPr wrap="none"/>
          <a:lstStyle/>
          <a:p>
            <a:endParaRPr lang="zh-CN" altLang="en-US">
              <a:latin typeface="Consolas" pitchFamily="49" charset="0"/>
              <a:cs typeface="Consolas" pitchFamily="49" charset="0"/>
            </a:endParaRPr>
          </a:p>
        </p:txBody>
      </p:sp>
      <p:sp>
        <p:nvSpPr>
          <p:cNvPr id="29" name="Line 20">
            <a:extLst>
              <a:ext uri="{FF2B5EF4-FFF2-40B4-BE49-F238E27FC236}">
                <a16:creationId xmlns:a16="http://schemas.microsoft.com/office/drawing/2014/main" id="{9652D5D9-90A3-8E1F-6D22-995C8513E0D1}"/>
              </a:ext>
            </a:extLst>
          </p:cNvPr>
          <p:cNvSpPr>
            <a:spLocks noChangeShapeType="1"/>
          </p:cNvSpPr>
          <p:nvPr/>
        </p:nvSpPr>
        <p:spPr bwMode="auto">
          <a:xfrm>
            <a:off x="2713161" y="3214661"/>
            <a:ext cx="0" cy="431800"/>
          </a:xfrm>
          <a:prstGeom prst="line">
            <a:avLst/>
          </a:prstGeom>
          <a:noFill/>
          <a:ln w="28575">
            <a:solidFill>
              <a:srgbClr val="3333FF"/>
            </a:solidFill>
            <a:round/>
            <a:headEnd/>
            <a:tailEnd type="none" w="med" len="lg"/>
          </a:ln>
        </p:spPr>
        <p:txBody>
          <a:bodyPr wrap="none"/>
          <a:lstStyle/>
          <a:p>
            <a:endParaRPr lang="zh-CN" altLang="en-US">
              <a:latin typeface="Consolas" pitchFamily="49" charset="0"/>
              <a:cs typeface="Consolas" pitchFamily="49" charset="0"/>
            </a:endParaRPr>
          </a:p>
        </p:txBody>
      </p:sp>
      <p:sp>
        <p:nvSpPr>
          <p:cNvPr id="30" name="Oval 7">
            <a:extLst>
              <a:ext uri="{FF2B5EF4-FFF2-40B4-BE49-F238E27FC236}">
                <a16:creationId xmlns:a16="http://schemas.microsoft.com/office/drawing/2014/main" id="{AD9FCCB0-4986-EF06-2660-14F0023ACB58}"/>
              </a:ext>
            </a:extLst>
          </p:cNvPr>
          <p:cNvSpPr>
            <a:spLocks noChangeArrowheads="1"/>
          </p:cNvSpPr>
          <p:nvPr/>
        </p:nvSpPr>
        <p:spPr bwMode="auto">
          <a:xfrm>
            <a:off x="2497261" y="3659161"/>
            <a:ext cx="431800" cy="431800"/>
          </a:xfrm>
          <a:prstGeom prst="ellipse">
            <a:avLst/>
          </a:prstGeom>
          <a:ln>
            <a:headEnd/>
            <a:tailEnd type="none" w="med" len="lg"/>
          </a:ln>
        </p:spPr>
        <p:style>
          <a:lnRef idx="1">
            <a:schemeClr val="accent6"/>
          </a:lnRef>
          <a:fillRef idx="3">
            <a:schemeClr val="accent6"/>
          </a:fillRef>
          <a:effectRef idx="2">
            <a:schemeClr val="accent6"/>
          </a:effectRef>
          <a:fontRef idx="minor">
            <a:schemeClr val="lt1"/>
          </a:fontRef>
        </p:style>
        <p:txBody>
          <a:bodyPr wrap="none" anchor="ctr"/>
          <a:lstStyle/>
          <a:p>
            <a:r>
              <a:rPr lang="en-US" altLang="zh-CN" sz="1800">
                <a:solidFill>
                  <a:srgbClr val="0000FF"/>
                </a:solidFill>
                <a:latin typeface="Consolas" pitchFamily="49" charset="0"/>
                <a:cs typeface="Consolas" pitchFamily="49" charset="0"/>
              </a:rPr>
              <a:t>3</a:t>
            </a:r>
          </a:p>
        </p:txBody>
      </p:sp>
      <p:sp>
        <p:nvSpPr>
          <p:cNvPr id="31" name="Oval 8">
            <a:extLst>
              <a:ext uri="{FF2B5EF4-FFF2-40B4-BE49-F238E27FC236}">
                <a16:creationId xmlns:a16="http://schemas.microsoft.com/office/drawing/2014/main" id="{DFF7177A-C821-22DA-579C-EFBAB1B0F8BE}"/>
              </a:ext>
            </a:extLst>
          </p:cNvPr>
          <p:cNvSpPr>
            <a:spLocks noChangeArrowheads="1"/>
          </p:cNvSpPr>
          <p:nvPr/>
        </p:nvSpPr>
        <p:spPr bwMode="auto">
          <a:xfrm>
            <a:off x="1560636" y="3659161"/>
            <a:ext cx="431800" cy="431800"/>
          </a:xfrm>
          <a:prstGeom prst="ellipse">
            <a:avLst/>
          </a:prstGeom>
          <a:ln>
            <a:headEnd/>
            <a:tailEnd type="none" w="med" len="lg"/>
          </a:ln>
        </p:spPr>
        <p:style>
          <a:lnRef idx="1">
            <a:schemeClr val="accent6"/>
          </a:lnRef>
          <a:fillRef idx="3">
            <a:schemeClr val="accent6"/>
          </a:fillRef>
          <a:effectRef idx="2">
            <a:schemeClr val="accent6"/>
          </a:effectRef>
          <a:fontRef idx="minor">
            <a:schemeClr val="lt1"/>
          </a:fontRef>
        </p:style>
        <p:txBody>
          <a:bodyPr wrap="none" anchor="ctr"/>
          <a:lstStyle/>
          <a:p>
            <a:r>
              <a:rPr lang="en-US" altLang="zh-CN" sz="1800">
                <a:solidFill>
                  <a:srgbClr val="0000FF"/>
                </a:solidFill>
                <a:latin typeface="Consolas" pitchFamily="49" charset="0"/>
                <a:cs typeface="Consolas" pitchFamily="49" charset="0"/>
              </a:rPr>
              <a:t>2</a:t>
            </a:r>
          </a:p>
        </p:txBody>
      </p:sp>
      <p:sp>
        <p:nvSpPr>
          <p:cNvPr id="32" name="Oval 9">
            <a:extLst>
              <a:ext uri="{FF2B5EF4-FFF2-40B4-BE49-F238E27FC236}">
                <a16:creationId xmlns:a16="http://schemas.microsoft.com/office/drawing/2014/main" id="{1BC87ACC-57B9-71C3-E32D-F296FC960206}"/>
              </a:ext>
            </a:extLst>
          </p:cNvPr>
          <p:cNvSpPr>
            <a:spLocks noChangeArrowheads="1"/>
          </p:cNvSpPr>
          <p:nvPr/>
        </p:nvSpPr>
        <p:spPr bwMode="auto">
          <a:xfrm>
            <a:off x="3432299" y="3659161"/>
            <a:ext cx="431800" cy="431800"/>
          </a:xfrm>
          <a:prstGeom prst="ellipse">
            <a:avLst/>
          </a:prstGeom>
          <a:ln>
            <a:headEnd/>
            <a:tailEnd type="none" w="med" len="lg"/>
          </a:ln>
        </p:spPr>
        <p:style>
          <a:lnRef idx="1">
            <a:schemeClr val="accent6"/>
          </a:lnRef>
          <a:fillRef idx="3">
            <a:schemeClr val="accent6"/>
          </a:fillRef>
          <a:effectRef idx="2">
            <a:schemeClr val="accent6"/>
          </a:effectRef>
          <a:fontRef idx="minor">
            <a:schemeClr val="lt1"/>
          </a:fontRef>
        </p:style>
        <p:txBody>
          <a:bodyPr wrap="none" anchor="ctr"/>
          <a:lstStyle/>
          <a:p>
            <a:r>
              <a:rPr lang="en-US" altLang="zh-CN" sz="1800">
                <a:solidFill>
                  <a:srgbClr val="0000FF"/>
                </a:solidFill>
                <a:latin typeface="Consolas" pitchFamily="49" charset="0"/>
                <a:cs typeface="Consolas" pitchFamily="49" charset="0"/>
              </a:rPr>
              <a:t>0</a:t>
            </a:r>
          </a:p>
        </p:txBody>
      </p:sp>
      <p:sp>
        <p:nvSpPr>
          <p:cNvPr id="33" name="Oval 10">
            <a:extLst>
              <a:ext uri="{FF2B5EF4-FFF2-40B4-BE49-F238E27FC236}">
                <a16:creationId xmlns:a16="http://schemas.microsoft.com/office/drawing/2014/main" id="{22026DDB-7B0D-FBB1-8A89-5C1CAC4B1902}"/>
              </a:ext>
            </a:extLst>
          </p:cNvPr>
          <p:cNvSpPr>
            <a:spLocks noChangeArrowheads="1"/>
          </p:cNvSpPr>
          <p:nvPr/>
        </p:nvSpPr>
        <p:spPr bwMode="auto">
          <a:xfrm>
            <a:off x="2497261" y="2795561"/>
            <a:ext cx="431800" cy="431800"/>
          </a:xfrm>
          <a:prstGeom prst="ellipse">
            <a:avLst/>
          </a:prstGeom>
          <a:ln>
            <a:headEnd/>
            <a:tailEnd type="none" w="med" len="lg"/>
          </a:ln>
        </p:spPr>
        <p:style>
          <a:lnRef idx="1">
            <a:schemeClr val="accent6"/>
          </a:lnRef>
          <a:fillRef idx="3">
            <a:schemeClr val="accent6"/>
          </a:fillRef>
          <a:effectRef idx="2">
            <a:schemeClr val="accent6"/>
          </a:effectRef>
          <a:fontRef idx="minor">
            <a:schemeClr val="lt1"/>
          </a:fontRef>
        </p:style>
        <p:txBody>
          <a:bodyPr wrap="none" anchor="ctr"/>
          <a:lstStyle/>
          <a:p>
            <a:r>
              <a:rPr lang="en-US" altLang="zh-CN" sz="1800" dirty="0">
                <a:solidFill>
                  <a:srgbClr val="0000FF"/>
                </a:solidFill>
                <a:latin typeface="Consolas" pitchFamily="49" charset="0"/>
                <a:cs typeface="Consolas" pitchFamily="49" charset="0"/>
              </a:rPr>
              <a:t>1</a:t>
            </a:r>
          </a:p>
        </p:txBody>
      </p:sp>
      <p:sp>
        <p:nvSpPr>
          <p:cNvPr id="34" name="Oval 11">
            <a:extLst>
              <a:ext uri="{FF2B5EF4-FFF2-40B4-BE49-F238E27FC236}">
                <a16:creationId xmlns:a16="http://schemas.microsoft.com/office/drawing/2014/main" id="{55E94E3C-1F84-4197-5B96-FB9B0966CB54}"/>
              </a:ext>
            </a:extLst>
          </p:cNvPr>
          <p:cNvSpPr>
            <a:spLocks noChangeArrowheads="1"/>
          </p:cNvSpPr>
          <p:nvPr/>
        </p:nvSpPr>
        <p:spPr bwMode="auto">
          <a:xfrm>
            <a:off x="2497261" y="4522761"/>
            <a:ext cx="431800" cy="431800"/>
          </a:xfrm>
          <a:prstGeom prst="ellipse">
            <a:avLst/>
          </a:prstGeom>
          <a:ln>
            <a:headEnd/>
            <a:tailEnd type="none" w="med" len="lg"/>
          </a:ln>
        </p:spPr>
        <p:style>
          <a:lnRef idx="1">
            <a:schemeClr val="accent6"/>
          </a:lnRef>
          <a:fillRef idx="3">
            <a:schemeClr val="accent6"/>
          </a:fillRef>
          <a:effectRef idx="2">
            <a:schemeClr val="accent6"/>
          </a:effectRef>
          <a:fontRef idx="minor">
            <a:schemeClr val="lt1"/>
          </a:fontRef>
        </p:style>
        <p:txBody>
          <a:bodyPr wrap="none" anchor="ctr"/>
          <a:lstStyle/>
          <a:p>
            <a:r>
              <a:rPr lang="en-US" altLang="zh-CN" sz="1800">
                <a:solidFill>
                  <a:srgbClr val="0000FF"/>
                </a:solidFill>
                <a:latin typeface="Consolas" pitchFamily="49" charset="0"/>
                <a:cs typeface="Consolas" pitchFamily="49" charset="0"/>
              </a:rPr>
              <a:t>4</a:t>
            </a:r>
          </a:p>
        </p:txBody>
      </p:sp>
      <p:sp>
        <p:nvSpPr>
          <p:cNvPr id="35" name="Freeform 12">
            <a:extLst>
              <a:ext uri="{FF2B5EF4-FFF2-40B4-BE49-F238E27FC236}">
                <a16:creationId xmlns:a16="http://schemas.microsoft.com/office/drawing/2014/main" id="{60EABD87-3842-6642-D703-FE0413A5CC6F}"/>
              </a:ext>
            </a:extLst>
          </p:cNvPr>
          <p:cNvSpPr>
            <a:spLocks/>
          </p:cNvSpPr>
          <p:nvPr/>
        </p:nvSpPr>
        <p:spPr bwMode="auto">
          <a:xfrm>
            <a:off x="1951164" y="3109873"/>
            <a:ext cx="630238" cy="588963"/>
          </a:xfrm>
          <a:custGeom>
            <a:avLst/>
            <a:gdLst>
              <a:gd name="T0" fmla="*/ 0 w 397"/>
              <a:gd name="T1" fmla="*/ 371 h 371"/>
              <a:gd name="T2" fmla="*/ 397 w 397"/>
              <a:gd name="T3" fmla="*/ 0 h 371"/>
              <a:gd name="T4" fmla="*/ 0 60000 65536"/>
              <a:gd name="T5" fmla="*/ 0 60000 65536"/>
              <a:gd name="T6" fmla="*/ 0 w 397"/>
              <a:gd name="T7" fmla="*/ 0 h 371"/>
              <a:gd name="T8" fmla="*/ 397 w 397"/>
              <a:gd name="T9" fmla="*/ 371 h 371"/>
            </a:gdLst>
            <a:ahLst/>
            <a:cxnLst>
              <a:cxn ang="T4">
                <a:pos x="T0" y="T1"/>
              </a:cxn>
              <a:cxn ang="T5">
                <a:pos x="T2" y="T3"/>
              </a:cxn>
            </a:cxnLst>
            <a:rect l="T6" t="T7" r="T8" b="T9"/>
            <a:pathLst>
              <a:path w="397" h="371">
                <a:moveTo>
                  <a:pt x="0" y="371"/>
                </a:moveTo>
                <a:lnTo>
                  <a:pt x="397" y="0"/>
                </a:lnTo>
              </a:path>
            </a:pathLst>
          </a:custGeom>
          <a:noFill/>
          <a:ln w="28575">
            <a:solidFill>
              <a:srgbClr val="CC00CC"/>
            </a:solidFill>
            <a:round/>
            <a:headEnd/>
            <a:tailEnd type="arrow" w="med" len="lg"/>
          </a:ln>
        </p:spPr>
        <p:txBody>
          <a:bodyPr wrap="none"/>
          <a:lstStyle/>
          <a:p>
            <a:endParaRPr lang="zh-CN" altLang="en-US">
              <a:latin typeface="Consolas" pitchFamily="49" charset="0"/>
              <a:cs typeface="Consolas" pitchFamily="49" charset="0"/>
            </a:endParaRPr>
          </a:p>
        </p:txBody>
      </p:sp>
      <p:sp>
        <p:nvSpPr>
          <p:cNvPr id="36" name="Freeform 13">
            <a:extLst>
              <a:ext uri="{FF2B5EF4-FFF2-40B4-BE49-F238E27FC236}">
                <a16:creationId xmlns:a16="http://schemas.microsoft.com/office/drawing/2014/main" id="{FF59FCD9-C8F2-7568-A40B-AE4552410EAD}"/>
              </a:ext>
            </a:extLst>
          </p:cNvPr>
          <p:cNvSpPr>
            <a:spLocks/>
          </p:cNvSpPr>
          <p:nvPr/>
        </p:nvSpPr>
        <p:spPr bwMode="auto">
          <a:xfrm>
            <a:off x="1989264" y="3941729"/>
            <a:ext cx="503238" cy="1588"/>
          </a:xfrm>
          <a:custGeom>
            <a:avLst/>
            <a:gdLst>
              <a:gd name="T0" fmla="*/ 0 w 317"/>
              <a:gd name="T1" fmla="*/ 0 h 1"/>
              <a:gd name="T2" fmla="*/ 317 w 317"/>
              <a:gd name="T3" fmla="*/ 0 h 1"/>
              <a:gd name="T4" fmla="*/ 0 60000 65536"/>
              <a:gd name="T5" fmla="*/ 0 60000 65536"/>
              <a:gd name="T6" fmla="*/ 0 w 317"/>
              <a:gd name="T7" fmla="*/ 0 h 1"/>
              <a:gd name="T8" fmla="*/ 317 w 317"/>
              <a:gd name="T9" fmla="*/ 1 h 1"/>
            </a:gdLst>
            <a:ahLst/>
            <a:cxnLst>
              <a:cxn ang="T4">
                <a:pos x="T0" y="T1"/>
              </a:cxn>
              <a:cxn ang="T5">
                <a:pos x="T2" y="T3"/>
              </a:cxn>
            </a:cxnLst>
            <a:rect l="T6" t="T7" r="T8" b="T9"/>
            <a:pathLst>
              <a:path w="317" h="1">
                <a:moveTo>
                  <a:pt x="0" y="0"/>
                </a:moveTo>
                <a:lnTo>
                  <a:pt x="317" y="0"/>
                </a:lnTo>
              </a:path>
            </a:pathLst>
          </a:custGeom>
          <a:noFill/>
          <a:ln w="28575">
            <a:solidFill>
              <a:srgbClr val="CC00CC"/>
            </a:solidFill>
            <a:round/>
            <a:headEnd/>
            <a:tailEnd type="arrow" w="med" len="lg"/>
          </a:ln>
        </p:spPr>
        <p:txBody>
          <a:bodyPr wrap="none"/>
          <a:lstStyle/>
          <a:p>
            <a:endParaRPr lang="zh-CN" altLang="en-US">
              <a:latin typeface="Consolas" pitchFamily="49" charset="0"/>
              <a:cs typeface="Consolas" pitchFamily="49" charset="0"/>
            </a:endParaRPr>
          </a:p>
        </p:txBody>
      </p:sp>
      <p:sp>
        <p:nvSpPr>
          <p:cNvPr id="37" name="Freeform 15">
            <a:extLst>
              <a:ext uri="{FF2B5EF4-FFF2-40B4-BE49-F238E27FC236}">
                <a16:creationId xmlns:a16="http://schemas.microsoft.com/office/drawing/2014/main" id="{890AEEF8-F239-3F0D-DEDF-577B81735725}"/>
              </a:ext>
            </a:extLst>
          </p:cNvPr>
          <p:cNvSpPr>
            <a:spLocks/>
          </p:cNvSpPr>
          <p:nvPr/>
        </p:nvSpPr>
        <p:spPr bwMode="auto">
          <a:xfrm>
            <a:off x="1951164" y="3987767"/>
            <a:ext cx="623888" cy="601663"/>
          </a:xfrm>
          <a:custGeom>
            <a:avLst/>
            <a:gdLst>
              <a:gd name="T0" fmla="*/ 0 w 393"/>
              <a:gd name="T1" fmla="*/ 0 h 379"/>
              <a:gd name="T2" fmla="*/ 393 w 393"/>
              <a:gd name="T3" fmla="*/ 379 h 379"/>
              <a:gd name="T4" fmla="*/ 0 60000 65536"/>
              <a:gd name="T5" fmla="*/ 0 60000 65536"/>
              <a:gd name="T6" fmla="*/ 0 w 393"/>
              <a:gd name="T7" fmla="*/ 0 h 379"/>
              <a:gd name="T8" fmla="*/ 393 w 393"/>
              <a:gd name="T9" fmla="*/ 379 h 379"/>
            </a:gdLst>
            <a:ahLst/>
            <a:cxnLst>
              <a:cxn ang="T4">
                <a:pos x="T0" y="T1"/>
              </a:cxn>
              <a:cxn ang="T5">
                <a:pos x="T2" y="T3"/>
              </a:cxn>
            </a:cxnLst>
            <a:rect l="T6" t="T7" r="T8" b="T9"/>
            <a:pathLst>
              <a:path w="393" h="379">
                <a:moveTo>
                  <a:pt x="0" y="0"/>
                </a:moveTo>
                <a:lnTo>
                  <a:pt x="393" y="379"/>
                </a:lnTo>
              </a:path>
            </a:pathLst>
          </a:custGeom>
          <a:noFill/>
          <a:ln w="28575">
            <a:solidFill>
              <a:srgbClr val="CC00CC"/>
            </a:solidFill>
            <a:round/>
            <a:headEnd/>
            <a:tailEnd type="arrow" w="med" len="lg"/>
          </a:ln>
        </p:spPr>
        <p:txBody>
          <a:bodyPr wrap="none"/>
          <a:lstStyle/>
          <a:p>
            <a:endParaRPr lang="zh-CN" altLang="en-US">
              <a:latin typeface="Consolas" pitchFamily="49" charset="0"/>
              <a:cs typeface="Consolas" pitchFamily="49" charset="0"/>
            </a:endParaRPr>
          </a:p>
        </p:txBody>
      </p:sp>
      <p:sp>
        <p:nvSpPr>
          <p:cNvPr id="38" name="Line 17">
            <a:extLst>
              <a:ext uri="{FF2B5EF4-FFF2-40B4-BE49-F238E27FC236}">
                <a16:creationId xmlns:a16="http://schemas.microsoft.com/office/drawing/2014/main" id="{0D173D4A-1535-FB4A-99B5-EABB475B512A}"/>
              </a:ext>
            </a:extLst>
          </p:cNvPr>
          <p:cNvSpPr>
            <a:spLocks noChangeShapeType="1"/>
          </p:cNvSpPr>
          <p:nvPr/>
        </p:nvSpPr>
        <p:spPr bwMode="auto">
          <a:xfrm>
            <a:off x="2997338" y="3000335"/>
            <a:ext cx="647700" cy="576263"/>
          </a:xfrm>
          <a:prstGeom prst="line">
            <a:avLst/>
          </a:prstGeom>
          <a:noFill/>
          <a:ln w="28575">
            <a:solidFill>
              <a:srgbClr val="CC00CC"/>
            </a:solidFill>
            <a:round/>
            <a:headEnd/>
            <a:tailEnd type="arrow" w="med" len="lg"/>
          </a:ln>
        </p:spPr>
        <p:txBody>
          <a:bodyPr wrap="none"/>
          <a:lstStyle/>
          <a:p>
            <a:endParaRPr lang="zh-CN" altLang="en-US">
              <a:latin typeface="Consolas" pitchFamily="49" charset="0"/>
              <a:cs typeface="Consolas" pitchFamily="49" charset="0"/>
            </a:endParaRPr>
          </a:p>
        </p:txBody>
      </p:sp>
      <p:grpSp>
        <p:nvGrpSpPr>
          <p:cNvPr id="39" name="组合 218">
            <a:extLst>
              <a:ext uri="{FF2B5EF4-FFF2-40B4-BE49-F238E27FC236}">
                <a16:creationId xmlns:a16="http://schemas.microsoft.com/office/drawing/2014/main" id="{BA461706-9E5E-114F-6B8D-2C6E9BDF219A}"/>
              </a:ext>
            </a:extLst>
          </p:cNvPr>
          <p:cNvGrpSpPr/>
          <p:nvPr/>
        </p:nvGrpSpPr>
        <p:grpSpPr>
          <a:xfrm>
            <a:off x="6273710" y="2087626"/>
            <a:ext cx="5586448" cy="2446340"/>
            <a:chOff x="2771775" y="1339850"/>
            <a:chExt cx="6121410" cy="2520950"/>
          </a:xfrm>
        </p:grpSpPr>
        <p:sp>
          <p:nvSpPr>
            <p:cNvPr id="40" name="Text Box 17">
              <a:extLst>
                <a:ext uri="{FF2B5EF4-FFF2-40B4-BE49-F238E27FC236}">
                  <a16:creationId xmlns:a16="http://schemas.microsoft.com/office/drawing/2014/main" id="{D2666489-DCEF-516A-39BE-CB9309D7D095}"/>
                </a:ext>
              </a:extLst>
            </p:cNvPr>
            <p:cNvSpPr txBox="1">
              <a:spLocks noChangeArrowheads="1"/>
            </p:cNvSpPr>
            <p:nvPr/>
          </p:nvSpPr>
          <p:spPr bwMode="auto">
            <a:xfrm>
              <a:off x="2771775" y="1463677"/>
              <a:ext cx="288925" cy="253730"/>
            </a:xfrm>
            <a:prstGeom prst="rect">
              <a:avLst/>
            </a:prstGeom>
            <a:noFill/>
            <a:ln w="28575" algn="ctr">
              <a:noFill/>
              <a:miter lim="800000"/>
              <a:headEnd/>
              <a:tailEnd type="none" w="med" len="lg"/>
            </a:ln>
          </p:spPr>
          <p:txBody>
            <a:bodyPr lIns="0" tIns="0" rIns="0" bIns="0">
              <a:spAutoFit/>
            </a:bodyPr>
            <a:lstStyle/>
            <a:p>
              <a:pPr>
                <a:spcBef>
                  <a:spcPct val="50000"/>
                </a:spcBef>
              </a:pPr>
              <a:r>
                <a:rPr lang="en-US" altLang="zh-CN" sz="1600">
                  <a:solidFill>
                    <a:srgbClr val="00B0F0"/>
                  </a:solidFill>
                  <a:latin typeface="Consolas" pitchFamily="49" charset="0"/>
                  <a:cs typeface="Consolas" pitchFamily="49" charset="0"/>
                </a:rPr>
                <a:t>0</a:t>
              </a:r>
            </a:p>
          </p:txBody>
        </p:sp>
        <p:grpSp>
          <p:nvGrpSpPr>
            <p:cNvPr id="41" name="Group 18">
              <a:extLst>
                <a:ext uri="{FF2B5EF4-FFF2-40B4-BE49-F238E27FC236}">
                  <a16:creationId xmlns:a16="http://schemas.microsoft.com/office/drawing/2014/main" id="{D9AE4924-F389-5D37-CB4C-B38F727B69AF}"/>
                </a:ext>
              </a:extLst>
            </p:cNvPr>
            <p:cNvGrpSpPr>
              <a:grpSpLocks/>
            </p:cNvGrpSpPr>
            <p:nvPr/>
          </p:nvGrpSpPr>
          <p:grpSpPr bwMode="auto">
            <a:xfrm>
              <a:off x="3170241" y="1339850"/>
              <a:ext cx="1152526" cy="503238"/>
              <a:chOff x="1997" y="300"/>
              <a:chExt cx="726" cy="317"/>
            </a:xfrm>
          </p:grpSpPr>
          <p:sp>
            <p:nvSpPr>
              <p:cNvPr id="122" name="Rectangle 19">
                <a:extLst>
                  <a:ext uri="{FF2B5EF4-FFF2-40B4-BE49-F238E27FC236}">
                    <a16:creationId xmlns:a16="http://schemas.microsoft.com/office/drawing/2014/main" id="{A680A0B1-0B15-7BE7-AC98-78168F29F8FB}"/>
                  </a:ext>
                </a:extLst>
              </p:cNvPr>
              <p:cNvSpPr>
                <a:spLocks noChangeArrowheads="1"/>
              </p:cNvSpPr>
              <p:nvPr/>
            </p:nvSpPr>
            <p:spPr bwMode="auto">
              <a:xfrm>
                <a:off x="1997" y="300"/>
                <a:ext cx="363" cy="317"/>
              </a:xfrm>
              <a:prstGeom prst="rect">
                <a:avLst/>
              </a:prstGeom>
              <a:ln>
                <a:headEnd/>
                <a:tailEnd type="none" w="med" len="lg"/>
              </a:ln>
            </p:spPr>
            <p:style>
              <a:lnRef idx="1">
                <a:schemeClr val="accent1"/>
              </a:lnRef>
              <a:fillRef idx="2">
                <a:schemeClr val="accent1"/>
              </a:fillRef>
              <a:effectRef idx="1">
                <a:schemeClr val="accent1"/>
              </a:effectRef>
              <a:fontRef idx="minor">
                <a:schemeClr val="dk1"/>
              </a:fontRef>
            </p:style>
            <p:txBody>
              <a:bodyPr wrap="none" anchor="ctr"/>
              <a:lstStyle/>
              <a:p>
                <a:r>
                  <a:rPr lang="en-US" altLang="zh-CN" sz="1800" i="1" dirty="0" err="1">
                    <a:solidFill>
                      <a:srgbClr val="0000FF"/>
                    </a:solidFill>
                    <a:latin typeface="Consolas" pitchFamily="49" charset="0"/>
                    <a:cs typeface="Consolas" pitchFamily="49" charset="0"/>
                  </a:rPr>
                  <a:t>v</a:t>
                </a:r>
                <a:r>
                  <a:rPr lang="en-US" altLang="zh-CN" sz="1800" baseline="-25000" dirty="0" err="1">
                    <a:solidFill>
                      <a:srgbClr val="0000FF"/>
                    </a:solidFill>
                    <a:latin typeface="Consolas" pitchFamily="49" charset="0"/>
                    <a:cs typeface="Consolas" pitchFamily="49" charset="0"/>
                  </a:rPr>
                  <a:t>0</a:t>
                </a:r>
                <a:endParaRPr lang="en-US" altLang="zh-CN" sz="1800" baseline="-25000" dirty="0">
                  <a:solidFill>
                    <a:srgbClr val="0000FF"/>
                  </a:solidFill>
                  <a:latin typeface="Consolas" pitchFamily="49" charset="0"/>
                  <a:cs typeface="Consolas" pitchFamily="49" charset="0"/>
                </a:endParaRPr>
              </a:p>
            </p:txBody>
          </p:sp>
          <p:sp>
            <p:nvSpPr>
              <p:cNvPr id="123" name="Rectangle 20">
                <a:extLst>
                  <a:ext uri="{FF2B5EF4-FFF2-40B4-BE49-F238E27FC236}">
                    <a16:creationId xmlns:a16="http://schemas.microsoft.com/office/drawing/2014/main" id="{D4040F17-F255-8F1F-8AEB-4EDE99596F57}"/>
                  </a:ext>
                </a:extLst>
              </p:cNvPr>
              <p:cNvSpPr>
                <a:spLocks noChangeArrowheads="1"/>
              </p:cNvSpPr>
              <p:nvPr/>
            </p:nvSpPr>
            <p:spPr bwMode="auto">
              <a:xfrm>
                <a:off x="2360" y="300"/>
                <a:ext cx="363" cy="317"/>
              </a:xfrm>
              <a:prstGeom prst="rect">
                <a:avLst/>
              </a:prstGeom>
              <a:ln>
                <a:headEnd/>
                <a:tailEnd type="none" w="med" len="lg"/>
              </a:ln>
            </p:spPr>
            <p:style>
              <a:lnRef idx="1">
                <a:schemeClr val="accent1"/>
              </a:lnRef>
              <a:fillRef idx="2">
                <a:schemeClr val="accent1"/>
              </a:fillRef>
              <a:effectRef idx="1">
                <a:schemeClr val="accent1"/>
              </a:effectRef>
              <a:fontRef idx="minor">
                <a:schemeClr val="dk1"/>
              </a:fontRef>
            </p:style>
            <p:txBody>
              <a:bodyPr wrap="none" anchor="ctr"/>
              <a:lstStyle/>
              <a:p>
                <a:endParaRPr lang="zh-CN" altLang="zh-CN" sz="1800" baseline="-25000">
                  <a:latin typeface="Consolas" pitchFamily="49" charset="0"/>
                  <a:cs typeface="Consolas" pitchFamily="49" charset="0"/>
                </a:endParaRPr>
              </a:p>
            </p:txBody>
          </p:sp>
        </p:grpSp>
        <p:grpSp>
          <p:nvGrpSpPr>
            <p:cNvPr id="42" name="Group 21">
              <a:extLst>
                <a:ext uri="{FF2B5EF4-FFF2-40B4-BE49-F238E27FC236}">
                  <a16:creationId xmlns:a16="http://schemas.microsoft.com/office/drawing/2014/main" id="{99425E16-BAEC-8C0D-76E1-9392C397670F}"/>
                </a:ext>
              </a:extLst>
            </p:cNvPr>
            <p:cNvGrpSpPr>
              <a:grpSpLocks/>
            </p:cNvGrpSpPr>
            <p:nvPr/>
          </p:nvGrpSpPr>
          <p:grpSpPr bwMode="auto">
            <a:xfrm>
              <a:off x="4572005" y="1412875"/>
              <a:ext cx="936626" cy="395288"/>
              <a:chOff x="2880" y="346"/>
              <a:chExt cx="590" cy="249"/>
            </a:xfrm>
          </p:grpSpPr>
          <p:sp>
            <p:nvSpPr>
              <p:cNvPr id="120" name="Rectangle 22">
                <a:extLst>
                  <a:ext uri="{FF2B5EF4-FFF2-40B4-BE49-F238E27FC236}">
                    <a16:creationId xmlns:a16="http://schemas.microsoft.com/office/drawing/2014/main" id="{F9860F44-7044-BFC1-1A36-91C6035EB569}"/>
                  </a:ext>
                </a:extLst>
              </p:cNvPr>
              <p:cNvSpPr>
                <a:spLocks noChangeArrowheads="1"/>
              </p:cNvSpPr>
              <p:nvPr/>
            </p:nvSpPr>
            <p:spPr bwMode="auto">
              <a:xfrm>
                <a:off x="2880" y="346"/>
                <a:ext cx="317" cy="249"/>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anchor="ctr"/>
              <a:lstStyle/>
              <a:p>
                <a:r>
                  <a:rPr lang="en-US" altLang="zh-CN" sz="1800">
                    <a:solidFill>
                      <a:srgbClr val="0000CC"/>
                    </a:solidFill>
                    <a:latin typeface="Consolas" pitchFamily="49" charset="0"/>
                    <a:cs typeface="Consolas" pitchFamily="49" charset="0"/>
                  </a:rPr>
                  <a:t>1</a:t>
                </a:r>
              </a:p>
            </p:txBody>
          </p:sp>
          <p:sp>
            <p:nvSpPr>
              <p:cNvPr id="121" name="Rectangle 23">
                <a:extLst>
                  <a:ext uri="{FF2B5EF4-FFF2-40B4-BE49-F238E27FC236}">
                    <a16:creationId xmlns:a16="http://schemas.microsoft.com/office/drawing/2014/main" id="{75824FC6-F92A-7FE3-9A96-003F2B87F55A}"/>
                  </a:ext>
                </a:extLst>
              </p:cNvPr>
              <p:cNvSpPr>
                <a:spLocks noChangeArrowheads="1"/>
              </p:cNvSpPr>
              <p:nvPr/>
            </p:nvSpPr>
            <p:spPr bwMode="auto">
              <a:xfrm>
                <a:off x="3198" y="346"/>
                <a:ext cx="272" cy="249"/>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anchor="ctr"/>
              <a:lstStyle/>
              <a:p>
                <a:endParaRPr lang="zh-CN" altLang="zh-CN" sz="1800">
                  <a:latin typeface="Consolas" pitchFamily="49" charset="0"/>
                  <a:cs typeface="Consolas" pitchFamily="49" charset="0"/>
                </a:endParaRPr>
              </a:p>
            </p:txBody>
          </p:sp>
        </p:grpSp>
        <p:grpSp>
          <p:nvGrpSpPr>
            <p:cNvPr id="43" name="Group 24">
              <a:extLst>
                <a:ext uri="{FF2B5EF4-FFF2-40B4-BE49-F238E27FC236}">
                  <a16:creationId xmlns:a16="http://schemas.microsoft.com/office/drawing/2014/main" id="{FB428AA0-F6F3-9E19-9790-829201D13A4F}"/>
                </a:ext>
              </a:extLst>
            </p:cNvPr>
            <p:cNvGrpSpPr>
              <a:grpSpLocks/>
            </p:cNvGrpSpPr>
            <p:nvPr/>
          </p:nvGrpSpPr>
          <p:grpSpPr bwMode="auto">
            <a:xfrm>
              <a:off x="5691194" y="1412875"/>
              <a:ext cx="936626" cy="395288"/>
              <a:chOff x="3585" y="346"/>
              <a:chExt cx="590" cy="249"/>
            </a:xfrm>
          </p:grpSpPr>
          <p:sp>
            <p:nvSpPr>
              <p:cNvPr id="118" name="Rectangle 25">
                <a:extLst>
                  <a:ext uri="{FF2B5EF4-FFF2-40B4-BE49-F238E27FC236}">
                    <a16:creationId xmlns:a16="http://schemas.microsoft.com/office/drawing/2014/main" id="{96822259-1479-94D4-33E7-DB9034F303F4}"/>
                  </a:ext>
                </a:extLst>
              </p:cNvPr>
              <p:cNvSpPr>
                <a:spLocks noChangeArrowheads="1"/>
              </p:cNvSpPr>
              <p:nvPr/>
            </p:nvSpPr>
            <p:spPr bwMode="auto">
              <a:xfrm>
                <a:off x="3585" y="346"/>
                <a:ext cx="317" cy="249"/>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anchor="ctr"/>
              <a:lstStyle/>
              <a:p>
                <a:r>
                  <a:rPr lang="en-US" altLang="zh-CN" sz="1800">
                    <a:solidFill>
                      <a:srgbClr val="0000CC"/>
                    </a:solidFill>
                    <a:latin typeface="Consolas" pitchFamily="49" charset="0"/>
                    <a:cs typeface="Consolas" pitchFamily="49" charset="0"/>
                  </a:rPr>
                  <a:t>3</a:t>
                </a:r>
              </a:p>
            </p:txBody>
          </p:sp>
          <p:sp>
            <p:nvSpPr>
              <p:cNvPr id="119" name="Rectangle 26">
                <a:extLst>
                  <a:ext uri="{FF2B5EF4-FFF2-40B4-BE49-F238E27FC236}">
                    <a16:creationId xmlns:a16="http://schemas.microsoft.com/office/drawing/2014/main" id="{98C74E5E-A05B-2AFA-11D9-37DA956FBBB8}"/>
                  </a:ext>
                </a:extLst>
              </p:cNvPr>
              <p:cNvSpPr>
                <a:spLocks noChangeArrowheads="1"/>
              </p:cNvSpPr>
              <p:nvPr/>
            </p:nvSpPr>
            <p:spPr bwMode="auto">
              <a:xfrm>
                <a:off x="3903" y="346"/>
                <a:ext cx="272" cy="249"/>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anchor="ctr"/>
              <a:lstStyle/>
              <a:p>
                <a:endParaRPr lang="zh-CN" altLang="zh-CN" sz="1800">
                  <a:latin typeface="Consolas" pitchFamily="49" charset="0"/>
                  <a:cs typeface="Consolas" pitchFamily="49" charset="0"/>
                </a:endParaRPr>
              </a:p>
            </p:txBody>
          </p:sp>
        </p:grpSp>
        <p:grpSp>
          <p:nvGrpSpPr>
            <p:cNvPr id="44" name="Group 27">
              <a:extLst>
                <a:ext uri="{FF2B5EF4-FFF2-40B4-BE49-F238E27FC236}">
                  <a16:creationId xmlns:a16="http://schemas.microsoft.com/office/drawing/2014/main" id="{F34CF258-B954-FB21-ADD4-9DD4289119CA}"/>
                </a:ext>
              </a:extLst>
            </p:cNvPr>
            <p:cNvGrpSpPr>
              <a:grpSpLocks/>
            </p:cNvGrpSpPr>
            <p:nvPr/>
          </p:nvGrpSpPr>
          <p:grpSpPr bwMode="auto">
            <a:xfrm>
              <a:off x="6808796" y="1412875"/>
              <a:ext cx="936626" cy="395288"/>
              <a:chOff x="4289" y="346"/>
              <a:chExt cx="590" cy="249"/>
            </a:xfrm>
          </p:grpSpPr>
          <p:sp>
            <p:nvSpPr>
              <p:cNvPr id="116" name="Rectangle 28">
                <a:extLst>
                  <a:ext uri="{FF2B5EF4-FFF2-40B4-BE49-F238E27FC236}">
                    <a16:creationId xmlns:a16="http://schemas.microsoft.com/office/drawing/2014/main" id="{5187BDB1-4E66-7574-3BE8-F1FE45C5DACA}"/>
                  </a:ext>
                </a:extLst>
              </p:cNvPr>
              <p:cNvSpPr>
                <a:spLocks noChangeArrowheads="1"/>
              </p:cNvSpPr>
              <p:nvPr/>
            </p:nvSpPr>
            <p:spPr bwMode="auto">
              <a:xfrm>
                <a:off x="4289" y="346"/>
                <a:ext cx="317" cy="249"/>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anchor="ctr"/>
              <a:lstStyle/>
              <a:p>
                <a:r>
                  <a:rPr lang="en-US" altLang="zh-CN" sz="1800">
                    <a:solidFill>
                      <a:srgbClr val="0000CC"/>
                    </a:solidFill>
                    <a:latin typeface="Consolas" pitchFamily="49" charset="0"/>
                    <a:cs typeface="Consolas" pitchFamily="49" charset="0"/>
                  </a:rPr>
                  <a:t>4</a:t>
                </a:r>
              </a:p>
            </p:txBody>
          </p:sp>
          <p:sp>
            <p:nvSpPr>
              <p:cNvPr id="117" name="Rectangle 29">
                <a:extLst>
                  <a:ext uri="{FF2B5EF4-FFF2-40B4-BE49-F238E27FC236}">
                    <a16:creationId xmlns:a16="http://schemas.microsoft.com/office/drawing/2014/main" id="{1C2BF7C9-59EB-273C-A987-433BF287A065}"/>
                  </a:ext>
                </a:extLst>
              </p:cNvPr>
              <p:cNvSpPr>
                <a:spLocks noChangeArrowheads="1"/>
              </p:cNvSpPr>
              <p:nvPr/>
            </p:nvSpPr>
            <p:spPr bwMode="auto">
              <a:xfrm>
                <a:off x="4607" y="346"/>
                <a:ext cx="272" cy="249"/>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anchor="ctr"/>
              <a:lstStyle/>
              <a:p>
                <a:r>
                  <a:rPr lang="en-US" altLang="zh-CN" sz="1800">
                    <a:solidFill>
                      <a:srgbClr val="0000CC"/>
                    </a:solidFill>
                    <a:latin typeface="Consolas" pitchFamily="49" charset="0"/>
                    <a:cs typeface="Consolas" pitchFamily="49" charset="0"/>
                  </a:rPr>
                  <a:t>∧</a:t>
                </a:r>
              </a:p>
            </p:txBody>
          </p:sp>
        </p:grpSp>
        <p:sp>
          <p:nvSpPr>
            <p:cNvPr id="45" name="Line 30">
              <a:extLst>
                <a:ext uri="{FF2B5EF4-FFF2-40B4-BE49-F238E27FC236}">
                  <a16:creationId xmlns:a16="http://schemas.microsoft.com/office/drawing/2014/main" id="{8FDA6C82-DC0F-47D7-DE75-D16864536B0F}"/>
                </a:ext>
              </a:extLst>
            </p:cNvPr>
            <p:cNvSpPr>
              <a:spLocks noChangeShapeType="1"/>
            </p:cNvSpPr>
            <p:nvPr/>
          </p:nvSpPr>
          <p:spPr bwMode="auto">
            <a:xfrm>
              <a:off x="3995738" y="1628775"/>
              <a:ext cx="576262" cy="0"/>
            </a:xfrm>
            <a:prstGeom prst="line">
              <a:avLst/>
            </a:prstGeom>
            <a:noFill/>
            <a:ln w="28575">
              <a:solidFill>
                <a:srgbClr val="3333FF"/>
              </a:solidFill>
              <a:round/>
              <a:headEnd/>
              <a:tailEnd type="triangle" w="med" len="lg"/>
            </a:ln>
          </p:spPr>
          <p:txBody>
            <a:bodyPr wrap="none"/>
            <a:lstStyle/>
            <a:p>
              <a:endParaRPr lang="zh-CN" altLang="en-US" sz="1800">
                <a:latin typeface="Consolas" pitchFamily="49" charset="0"/>
                <a:cs typeface="Consolas" pitchFamily="49" charset="0"/>
              </a:endParaRPr>
            </a:p>
          </p:txBody>
        </p:sp>
        <p:sp>
          <p:nvSpPr>
            <p:cNvPr id="46" name="Line 31">
              <a:extLst>
                <a:ext uri="{FF2B5EF4-FFF2-40B4-BE49-F238E27FC236}">
                  <a16:creationId xmlns:a16="http://schemas.microsoft.com/office/drawing/2014/main" id="{1FC04966-94BA-3591-3BE3-104BF1BDC6AC}"/>
                </a:ext>
              </a:extLst>
            </p:cNvPr>
            <p:cNvSpPr>
              <a:spLocks noChangeShapeType="1"/>
            </p:cNvSpPr>
            <p:nvPr/>
          </p:nvSpPr>
          <p:spPr bwMode="auto">
            <a:xfrm>
              <a:off x="5338763" y="1619250"/>
              <a:ext cx="360362" cy="0"/>
            </a:xfrm>
            <a:prstGeom prst="line">
              <a:avLst/>
            </a:prstGeom>
            <a:noFill/>
            <a:ln w="28575">
              <a:solidFill>
                <a:srgbClr val="3333FF"/>
              </a:solidFill>
              <a:round/>
              <a:headEnd/>
              <a:tailEnd type="triangle" w="med" len="lg"/>
            </a:ln>
          </p:spPr>
          <p:txBody>
            <a:bodyPr wrap="none"/>
            <a:lstStyle/>
            <a:p>
              <a:endParaRPr lang="zh-CN" altLang="en-US" sz="1800">
                <a:latin typeface="Consolas" pitchFamily="49" charset="0"/>
                <a:cs typeface="Consolas" pitchFamily="49" charset="0"/>
              </a:endParaRPr>
            </a:p>
          </p:txBody>
        </p:sp>
        <p:sp>
          <p:nvSpPr>
            <p:cNvPr id="47" name="Line 32">
              <a:extLst>
                <a:ext uri="{FF2B5EF4-FFF2-40B4-BE49-F238E27FC236}">
                  <a16:creationId xmlns:a16="http://schemas.microsoft.com/office/drawing/2014/main" id="{394C5A00-166F-C6F2-909B-D35B885CBDF6}"/>
                </a:ext>
              </a:extLst>
            </p:cNvPr>
            <p:cNvSpPr>
              <a:spLocks noChangeShapeType="1"/>
            </p:cNvSpPr>
            <p:nvPr/>
          </p:nvSpPr>
          <p:spPr bwMode="auto">
            <a:xfrm>
              <a:off x="6461125" y="1628775"/>
              <a:ext cx="360363" cy="0"/>
            </a:xfrm>
            <a:prstGeom prst="line">
              <a:avLst/>
            </a:prstGeom>
            <a:noFill/>
            <a:ln w="28575">
              <a:solidFill>
                <a:srgbClr val="3333FF"/>
              </a:solidFill>
              <a:round/>
              <a:headEnd/>
              <a:tailEnd type="triangle" w="med" len="lg"/>
            </a:ln>
          </p:spPr>
          <p:txBody>
            <a:bodyPr wrap="none"/>
            <a:lstStyle/>
            <a:p>
              <a:endParaRPr lang="zh-CN" altLang="en-US" sz="1800">
                <a:latin typeface="Consolas" pitchFamily="49" charset="0"/>
                <a:cs typeface="Consolas" pitchFamily="49" charset="0"/>
              </a:endParaRPr>
            </a:p>
          </p:txBody>
        </p:sp>
        <p:sp>
          <p:nvSpPr>
            <p:cNvPr id="48" name="Text Box 33">
              <a:extLst>
                <a:ext uri="{FF2B5EF4-FFF2-40B4-BE49-F238E27FC236}">
                  <a16:creationId xmlns:a16="http://schemas.microsoft.com/office/drawing/2014/main" id="{586CDCF2-A158-CAB7-6FBD-251400210567}"/>
                </a:ext>
              </a:extLst>
            </p:cNvPr>
            <p:cNvSpPr txBox="1">
              <a:spLocks noChangeArrowheads="1"/>
            </p:cNvSpPr>
            <p:nvPr/>
          </p:nvSpPr>
          <p:spPr bwMode="auto">
            <a:xfrm>
              <a:off x="2771775" y="1968502"/>
              <a:ext cx="288925" cy="253730"/>
            </a:xfrm>
            <a:prstGeom prst="rect">
              <a:avLst/>
            </a:prstGeom>
            <a:noFill/>
            <a:ln w="28575" algn="ctr">
              <a:noFill/>
              <a:miter lim="800000"/>
              <a:headEnd/>
              <a:tailEnd type="none" w="med" len="lg"/>
            </a:ln>
          </p:spPr>
          <p:txBody>
            <a:bodyPr lIns="0" tIns="0" rIns="0" bIns="0">
              <a:spAutoFit/>
            </a:bodyPr>
            <a:lstStyle/>
            <a:p>
              <a:pPr>
                <a:spcBef>
                  <a:spcPct val="50000"/>
                </a:spcBef>
              </a:pPr>
              <a:r>
                <a:rPr lang="en-US" altLang="zh-CN" sz="1600">
                  <a:solidFill>
                    <a:srgbClr val="00B0F0"/>
                  </a:solidFill>
                  <a:latin typeface="Consolas" pitchFamily="49" charset="0"/>
                  <a:cs typeface="Consolas" pitchFamily="49" charset="0"/>
                </a:rPr>
                <a:t>1</a:t>
              </a:r>
            </a:p>
          </p:txBody>
        </p:sp>
        <p:grpSp>
          <p:nvGrpSpPr>
            <p:cNvPr id="49" name="Group 34">
              <a:extLst>
                <a:ext uri="{FF2B5EF4-FFF2-40B4-BE49-F238E27FC236}">
                  <a16:creationId xmlns:a16="http://schemas.microsoft.com/office/drawing/2014/main" id="{3B117EDF-6558-2D21-EF5B-8F6F2B376321}"/>
                </a:ext>
              </a:extLst>
            </p:cNvPr>
            <p:cNvGrpSpPr>
              <a:grpSpLocks/>
            </p:cNvGrpSpPr>
            <p:nvPr/>
          </p:nvGrpSpPr>
          <p:grpSpPr bwMode="auto">
            <a:xfrm>
              <a:off x="3170241" y="1844675"/>
              <a:ext cx="1152526" cy="503238"/>
              <a:chOff x="1997" y="618"/>
              <a:chExt cx="726" cy="317"/>
            </a:xfrm>
          </p:grpSpPr>
          <p:sp>
            <p:nvSpPr>
              <p:cNvPr id="114" name="Rectangle 35">
                <a:extLst>
                  <a:ext uri="{FF2B5EF4-FFF2-40B4-BE49-F238E27FC236}">
                    <a16:creationId xmlns:a16="http://schemas.microsoft.com/office/drawing/2014/main" id="{32EDB586-18D5-21AD-D430-1CD3BD900937}"/>
                  </a:ext>
                </a:extLst>
              </p:cNvPr>
              <p:cNvSpPr>
                <a:spLocks noChangeArrowheads="1"/>
              </p:cNvSpPr>
              <p:nvPr/>
            </p:nvSpPr>
            <p:spPr bwMode="auto">
              <a:xfrm>
                <a:off x="1997" y="618"/>
                <a:ext cx="363" cy="317"/>
              </a:xfrm>
              <a:prstGeom prst="rect">
                <a:avLst/>
              </a:prstGeom>
              <a:ln>
                <a:headEnd/>
                <a:tailEnd type="none" w="med" len="lg"/>
              </a:ln>
            </p:spPr>
            <p:style>
              <a:lnRef idx="1">
                <a:schemeClr val="accent1"/>
              </a:lnRef>
              <a:fillRef idx="2">
                <a:schemeClr val="accent1"/>
              </a:fillRef>
              <a:effectRef idx="1">
                <a:schemeClr val="accent1"/>
              </a:effectRef>
              <a:fontRef idx="minor">
                <a:schemeClr val="dk1"/>
              </a:fontRef>
            </p:style>
            <p:txBody>
              <a:bodyPr wrap="none" anchor="ctr"/>
              <a:lstStyle/>
              <a:p>
                <a:r>
                  <a:rPr lang="en-US" altLang="zh-CN" sz="1800" i="1" dirty="0" err="1">
                    <a:solidFill>
                      <a:srgbClr val="0000FF"/>
                    </a:solidFill>
                    <a:latin typeface="Consolas" pitchFamily="49" charset="0"/>
                    <a:cs typeface="Consolas" pitchFamily="49" charset="0"/>
                  </a:rPr>
                  <a:t>v</a:t>
                </a:r>
                <a:r>
                  <a:rPr lang="en-US" altLang="zh-CN" sz="1800" baseline="-25000" dirty="0" err="1">
                    <a:solidFill>
                      <a:srgbClr val="0000FF"/>
                    </a:solidFill>
                    <a:latin typeface="Consolas" pitchFamily="49" charset="0"/>
                    <a:cs typeface="Consolas" pitchFamily="49" charset="0"/>
                  </a:rPr>
                  <a:t>1</a:t>
                </a:r>
                <a:endParaRPr lang="en-US" altLang="zh-CN" sz="1800" baseline="-25000" dirty="0">
                  <a:solidFill>
                    <a:srgbClr val="0000FF"/>
                  </a:solidFill>
                  <a:latin typeface="Consolas" pitchFamily="49" charset="0"/>
                  <a:cs typeface="Consolas" pitchFamily="49" charset="0"/>
                </a:endParaRPr>
              </a:p>
            </p:txBody>
          </p:sp>
          <p:sp>
            <p:nvSpPr>
              <p:cNvPr id="115" name="Rectangle 36">
                <a:extLst>
                  <a:ext uri="{FF2B5EF4-FFF2-40B4-BE49-F238E27FC236}">
                    <a16:creationId xmlns:a16="http://schemas.microsoft.com/office/drawing/2014/main" id="{8B498BD1-5AB5-8A22-BF6A-95802836193F}"/>
                  </a:ext>
                </a:extLst>
              </p:cNvPr>
              <p:cNvSpPr>
                <a:spLocks noChangeArrowheads="1"/>
              </p:cNvSpPr>
              <p:nvPr/>
            </p:nvSpPr>
            <p:spPr bwMode="auto">
              <a:xfrm>
                <a:off x="2360" y="618"/>
                <a:ext cx="363" cy="317"/>
              </a:xfrm>
              <a:prstGeom prst="rect">
                <a:avLst/>
              </a:prstGeom>
              <a:ln>
                <a:headEnd/>
                <a:tailEnd type="none" w="med" len="lg"/>
              </a:ln>
            </p:spPr>
            <p:style>
              <a:lnRef idx="1">
                <a:schemeClr val="accent1"/>
              </a:lnRef>
              <a:fillRef idx="2">
                <a:schemeClr val="accent1"/>
              </a:fillRef>
              <a:effectRef idx="1">
                <a:schemeClr val="accent1"/>
              </a:effectRef>
              <a:fontRef idx="minor">
                <a:schemeClr val="dk1"/>
              </a:fontRef>
            </p:style>
            <p:txBody>
              <a:bodyPr wrap="none" anchor="ctr"/>
              <a:lstStyle/>
              <a:p>
                <a:endParaRPr lang="zh-CN" altLang="zh-CN" sz="1800" baseline="-25000">
                  <a:solidFill>
                    <a:srgbClr val="0000FF"/>
                  </a:solidFill>
                  <a:latin typeface="Consolas" pitchFamily="49" charset="0"/>
                  <a:cs typeface="Consolas" pitchFamily="49" charset="0"/>
                </a:endParaRPr>
              </a:p>
            </p:txBody>
          </p:sp>
        </p:grpSp>
        <p:grpSp>
          <p:nvGrpSpPr>
            <p:cNvPr id="50" name="Group 37">
              <a:extLst>
                <a:ext uri="{FF2B5EF4-FFF2-40B4-BE49-F238E27FC236}">
                  <a16:creationId xmlns:a16="http://schemas.microsoft.com/office/drawing/2014/main" id="{7ECF253B-1883-382F-B955-5999C2AD9405}"/>
                </a:ext>
              </a:extLst>
            </p:cNvPr>
            <p:cNvGrpSpPr>
              <a:grpSpLocks/>
            </p:cNvGrpSpPr>
            <p:nvPr/>
          </p:nvGrpSpPr>
          <p:grpSpPr bwMode="auto">
            <a:xfrm>
              <a:off x="4572005" y="1917700"/>
              <a:ext cx="936626" cy="395288"/>
              <a:chOff x="2880" y="664"/>
              <a:chExt cx="590" cy="249"/>
            </a:xfrm>
          </p:grpSpPr>
          <p:sp>
            <p:nvSpPr>
              <p:cNvPr id="112" name="Rectangle 38">
                <a:extLst>
                  <a:ext uri="{FF2B5EF4-FFF2-40B4-BE49-F238E27FC236}">
                    <a16:creationId xmlns:a16="http://schemas.microsoft.com/office/drawing/2014/main" id="{9D6D9D77-5FB0-E0ED-39B3-87FE7939D92D}"/>
                  </a:ext>
                </a:extLst>
              </p:cNvPr>
              <p:cNvSpPr>
                <a:spLocks noChangeArrowheads="1"/>
              </p:cNvSpPr>
              <p:nvPr/>
            </p:nvSpPr>
            <p:spPr bwMode="auto">
              <a:xfrm>
                <a:off x="2880" y="664"/>
                <a:ext cx="317" cy="249"/>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anchor="ctr"/>
              <a:lstStyle/>
              <a:p>
                <a:r>
                  <a:rPr lang="en-US" altLang="zh-CN" sz="1800" dirty="0">
                    <a:solidFill>
                      <a:srgbClr val="0000FF"/>
                    </a:solidFill>
                    <a:latin typeface="Consolas" pitchFamily="49" charset="0"/>
                    <a:cs typeface="Consolas" pitchFamily="49" charset="0"/>
                  </a:rPr>
                  <a:t>0</a:t>
                </a:r>
              </a:p>
            </p:txBody>
          </p:sp>
          <p:sp>
            <p:nvSpPr>
              <p:cNvPr id="113" name="Rectangle 39">
                <a:extLst>
                  <a:ext uri="{FF2B5EF4-FFF2-40B4-BE49-F238E27FC236}">
                    <a16:creationId xmlns:a16="http://schemas.microsoft.com/office/drawing/2014/main" id="{6AFF679C-74E3-2919-73F7-C4F1F758C4FF}"/>
                  </a:ext>
                </a:extLst>
              </p:cNvPr>
              <p:cNvSpPr>
                <a:spLocks noChangeArrowheads="1"/>
              </p:cNvSpPr>
              <p:nvPr/>
            </p:nvSpPr>
            <p:spPr bwMode="auto">
              <a:xfrm>
                <a:off x="3198" y="664"/>
                <a:ext cx="272" cy="249"/>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anchor="ctr"/>
              <a:lstStyle/>
              <a:p>
                <a:endParaRPr lang="zh-CN" altLang="zh-CN" sz="1800">
                  <a:solidFill>
                    <a:srgbClr val="0000FF"/>
                  </a:solidFill>
                  <a:latin typeface="Consolas" pitchFamily="49" charset="0"/>
                  <a:cs typeface="Consolas" pitchFamily="49" charset="0"/>
                </a:endParaRPr>
              </a:p>
            </p:txBody>
          </p:sp>
        </p:grpSp>
        <p:grpSp>
          <p:nvGrpSpPr>
            <p:cNvPr id="51" name="Group 40">
              <a:extLst>
                <a:ext uri="{FF2B5EF4-FFF2-40B4-BE49-F238E27FC236}">
                  <a16:creationId xmlns:a16="http://schemas.microsoft.com/office/drawing/2014/main" id="{C7B90B81-21B2-D3C9-4979-9DBC52A7F955}"/>
                </a:ext>
              </a:extLst>
            </p:cNvPr>
            <p:cNvGrpSpPr>
              <a:grpSpLocks/>
            </p:cNvGrpSpPr>
            <p:nvPr/>
          </p:nvGrpSpPr>
          <p:grpSpPr bwMode="auto">
            <a:xfrm>
              <a:off x="5691194" y="1917700"/>
              <a:ext cx="936626" cy="395288"/>
              <a:chOff x="3585" y="664"/>
              <a:chExt cx="590" cy="249"/>
            </a:xfrm>
          </p:grpSpPr>
          <p:sp>
            <p:nvSpPr>
              <p:cNvPr id="110" name="Rectangle 41">
                <a:extLst>
                  <a:ext uri="{FF2B5EF4-FFF2-40B4-BE49-F238E27FC236}">
                    <a16:creationId xmlns:a16="http://schemas.microsoft.com/office/drawing/2014/main" id="{DFB1D590-B9F1-3EFB-DDBE-92BB50D98317}"/>
                  </a:ext>
                </a:extLst>
              </p:cNvPr>
              <p:cNvSpPr>
                <a:spLocks noChangeArrowheads="1"/>
              </p:cNvSpPr>
              <p:nvPr/>
            </p:nvSpPr>
            <p:spPr bwMode="auto">
              <a:xfrm>
                <a:off x="3585" y="664"/>
                <a:ext cx="317" cy="249"/>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anchor="ctr"/>
              <a:lstStyle/>
              <a:p>
                <a:r>
                  <a:rPr lang="en-US" altLang="zh-CN" sz="1800">
                    <a:solidFill>
                      <a:srgbClr val="0000CC"/>
                    </a:solidFill>
                    <a:latin typeface="Consolas" pitchFamily="49" charset="0"/>
                    <a:cs typeface="Consolas" pitchFamily="49" charset="0"/>
                  </a:rPr>
                  <a:t>2</a:t>
                </a:r>
              </a:p>
            </p:txBody>
          </p:sp>
          <p:sp>
            <p:nvSpPr>
              <p:cNvPr id="111" name="Rectangle 42">
                <a:extLst>
                  <a:ext uri="{FF2B5EF4-FFF2-40B4-BE49-F238E27FC236}">
                    <a16:creationId xmlns:a16="http://schemas.microsoft.com/office/drawing/2014/main" id="{683DEBE5-6341-67F7-F064-9E842566AEF9}"/>
                  </a:ext>
                </a:extLst>
              </p:cNvPr>
              <p:cNvSpPr>
                <a:spLocks noChangeArrowheads="1"/>
              </p:cNvSpPr>
              <p:nvPr/>
            </p:nvSpPr>
            <p:spPr bwMode="auto">
              <a:xfrm>
                <a:off x="3903" y="664"/>
                <a:ext cx="272" cy="249"/>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anchor="ctr"/>
              <a:lstStyle/>
              <a:p>
                <a:endParaRPr lang="zh-CN" altLang="zh-CN" sz="1800">
                  <a:solidFill>
                    <a:srgbClr val="0000CC"/>
                  </a:solidFill>
                  <a:latin typeface="Consolas" pitchFamily="49" charset="0"/>
                  <a:cs typeface="Consolas" pitchFamily="49" charset="0"/>
                </a:endParaRPr>
              </a:p>
            </p:txBody>
          </p:sp>
        </p:grpSp>
        <p:grpSp>
          <p:nvGrpSpPr>
            <p:cNvPr id="52" name="Group 43">
              <a:extLst>
                <a:ext uri="{FF2B5EF4-FFF2-40B4-BE49-F238E27FC236}">
                  <a16:creationId xmlns:a16="http://schemas.microsoft.com/office/drawing/2014/main" id="{5015A0AD-D990-33E9-2423-5064C6324472}"/>
                </a:ext>
              </a:extLst>
            </p:cNvPr>
            <p:cNvGrpSpPr>
              <a:grpSpLocks/>
            </p:cNvGrpSpPr>
            <p:nvPr/>
          </p:nvGrpSpPr>
          <p:grpSpPr bwMode="auto">
            <a:xfrm>
              <a:off x="6808796" y="1917700"/>
              <a:ext cx="936626" cy="395288"/>
              <a:chOff x="4289" y="664"/>
              <a:chExt cx="590" cy="249"/>
            </a:xfrm>
          </p:grpSpPr>
          <p:sp>
            <p:nvSpPr>
              <p:cNvPr id="108" name="Rectangle 44">
                <a:extLst>
                  <a:ext uri="{FF2B5EF4-FFF2-40B4-BE49-F238E27FC236}">
                    <a16:creationId xmlns:a16="http://schemas.microsoft.com/office/drawing/2014/main" id="{ADE27370-7590-C2BB-C8A8-98064BDA6941}"/>
                  </a:ext>
                </a:extLst>
              </p:cNvPr>
              <p:cNvSpPr>
                <a:spLocks noChangeArrowheads="1"/>
              </p:cNvSpPr>
              <p:nvPr/>
            </p:nvSpPr>
            <p:spPr bwMode="auto">
              <a:xfrm>
                <a:off x="4289" y="664"/>
                <a:ext cx="317" cy="249"/>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anchor="ctr"/>
              <a:lstStyle/>
              <a:p>
                <a:r>
                  <a:rPr lang="en-US" altLang="zh-CN" sz="1800">
                    <a:solidFill>
                      <a:srgbClr val="0000CC"/>
                    </a:solidFill>
                    <a:latin typeface="Consolas" pitchFamily="49" charset="0"/>
                    <a:cs typeface="Consolas" pitchFamily="49" charset="0"/>
                  </a:rPr>
                  <a:t>3</a:t>
                </a:r>
              </a:p>
            </p:txBody>
          </p:sp>
          <p:sp>
            <p:nvSpPr>
              <p:cNvPr id="109" name="Rectangle 45">
                <a:extLst>
                  <a:ext uri="{FF2B5EF4-FFF2-40B4-BE49-F238E27FC236}">
                    <a16:creationId xmlns:a16="http://schemas.microsoft.com/office/drawing/2014/main" id="{9092A7F1-ADBB-90C8-E36D-0C5CC733A273}"/>
                  </a:ext>
                </a:extLst>
              </p:cNvPr>
              <p:cNvSpPr>
                <a:spLocks noChangeArrowheads="1"/>
              </p:cNvSpPr>
              <p:nvPr/>
            </p:nvSpPr>
            <p:spPr bwMode="auto">
              <a:xfrm>
                <a:off x="4607" y="664"/>
                <a:ext cx="272" cy="249"/>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anchor="ctr"/>
              <a:lstStyle/>
              <a:p>
                <a:r>
                  <a:rPr lang="en-US" altLang="zh-CN" sz="1800">
                    <a:solidFill>
                      <a:srgbClr val="0000CC"/>
                    </a:solidFill>
                    <a:latin typeface="Consolas" pitchFamily="49" charset="0"/>
                    <a:cs typeface="Consolas" pitchFamily="49" charset="0"/>
                  </a:rPr>
                  <a:t>∧</a:t>
                </a:r>
              </a:p>
            </p:txBody>
          </p:sp>
        </p:grpSp>
        <p:sp>
          <p:nvSpPr>
            <p:cNvPr id="53" name="Line 46">
              <a:extLst>
                <a:ext uri="{FF2B5EF4-FFF2-40B4-BE49-F238E27FC236}">
                  <a16:creationId xmlns:a16="http://schemas.microsoft.com/office/drawing/2014/main" id="{3C42242F-8E0A-2455-3F8B-1F08B599872B}"/>
                </a:ext>
              </a:extLst>
            </p:cNvPr>
            <p:cNvSpPr>
              <a:spLocks noChangeShapeType="1"/>
            </p:cNvSpPr>
            <p:nvPr/>
          </p:nvSpPr>
          <p:spPr bwMode="auto">
            <a:xfrm>
              <a:off x="3995738" y="2133600"/>
              <a:ext cx="576262" cy="0"/>
            </a:xfrm>
            <a:prstGeom prst="line">
              <a:avLst/>
            </a:prstGeom>
            <a:noFill/>
            <a:ln w="28575">
              <a:solidFill>
                <a:srgbClr val="3333FF"/>
              </a:solidFill>
              <a:round/>
              <a:headEnd/>
              <a:tailEnd type="triangle" w="med" len="lg"/>
            </a:ln>
          </p:spPr>
          <p:txBody>
            <a:bodyPr wrap="none"/>
            <a:lstStyle/>
            <a:p>
              <a:endParaRPr lang="zh-CN" altLang="en-US" sz="1800">
                <a:latin typeface="Consolas" pitchFamily="49" charset="0"/>
                <a:cs typeface="Consolas" pitchFamily="49" charset="0"/>
              </a:endParaRPr>
            </a:p>
          </p:txBody>
        </p:sp>
        <p:sp>
          <p:nvSpPr>
            <p:cNvPr id="54" name="Line 47">
              <a:extLst>
                <a:ext uri="{FF2B5EF4-FFF2-40B4-BE49-F238E27FC236}">
                  <a16:creationId xmlns:a16="http://schemas.microsoft.com/office/drawing/2014/main" id="{1168A817-A688-4915-790D-2778809BB803}"/>
                </a:ext>
              </a:extLst>
            </p:cNvPr>
            <p:cNvSpPr>
              <a:spLocks noChangeShapeType="1"/>
            </p:cNvSpPr>
            <p:nvPr/>
          </p:nvSpPr>
          <p:spPr bwMode="auto">
            <a:xfrm>
              <a:off x="5338763" y="2124075"/>
              <a:ext cx="360362" cy="0"/>
            </a:xfrm>
            <a:prstGeom prst="line">
              <a:avLst/>
            </a:prstGeom>
            <a:noFill/>
            <a:ln w="28575">
              <a:solidFill>
                <a:srgbClr val="3333FF"/>
              </a:solidFill>
              <a:round/>
              <a:headEnd/>
              <a:tailEnd type="triangle" w="med" len="lg"/>
            </a:ln>
          </p:spPr>
          <p:txBody>
            <a:bodyPr wrap="none"/>
            <a:lstStyle/>
            <a:p>
              <a:endParaRPr lang="zh-CN" altLang="en-US" sz="1800">
                <a:latin typeface="Consolas" pitchFamily="49" charset="0"/>
                <a:cs typeface="Consolas" pitchFamily="49" charset="0"/>
              </a:endParaRPr>
            </a:p>
          </p:txBody>
        </p:sp>
        <p:sp>
          <p:nvSpPr>
            <p:cNvPr id="55" name="Line 48">
              <a:extLst>
                <a:ext uri="{FF2B5EF4-FFF2-40B4-BE49-F238E27FC236}">
                  <a16:creationId xmlns:a16="http://schemas.microsoft.com/office/drawing/2014/main" id="{FF29C8DA-2428-7F75-FC3C-9C5CAC91AC3E}"/>
                </a:ext>
              </a:extLst>
            </p:cNvPr>
            <p:cNvSpPr>
              <a:spLocks noChangeShapeType="1"/>
            </p:cNvSpPr>
            <p:nvPr/>
          </p:nvSpPr>
          <p:spPr bwMode="auto">
            <a:xfrm>
              <a:off x="6461125" y="2133600"/>
              <a:ext cx="360363" cy="0"/>
            </a:xfrm>
            <a:prstGeom prst="line">
              <a:avLst/>
            </a:prstGeom>
            <a:noFill/>
            <a:ln w="28575">
              <a:solidFill>
                <a:srgbClr val="3333FF"/>
              </a:solidFill>
              <a:round/>
              <a:headEnd/>
              <a:tailEnd type="triangle" w="med" len="lg"/>
            </a:ln>
          </p:spPr>
          <p:txBody>
            <a:bodyPr wrap="none"/>
            <a:lstStyle/>
            <a:p>
              <a:endParaRPr lang="zh-CN" altLang="en-US" sz="1800">
                <a:latin typeface="Consolas" pitchFamily="49" charset="0"/>
                <a:cs typeface="Consolas" pitchFamily="49" charset="0"/>
              </a:endParaRPr>
            </a:p>
          </p:txBody>
        </p:sp>
        <p:sp>
          <p:nvSpPr>
            <p:cNvPr id="56" name="Text Box 49">
              <a:extLst>
                <a:ext uri="{FF2B5EF4-FFF2-40B4-BE49-F238E27FC236}">
                  <a16:creationId xmlns:a16="http://schemas.microsoft.com/office/drawing/2014/main" id="{D92D19BE-A901-11B2-78EE-F41552ED10E1}"/>
                </a:ext>
              </a:extLst>
            </p:cNvPr>
            <p:cNvSpPr txBox="1">
              <a:spLocks noChangeArrowheads="1"/>
            </p:cNvSpPr>
            <p:nvPr/>
          </p:nvSpPr>
          <p:spPr bwMode="auto">
            <a:xfrm>
              <a:off x="2771775" y="2473327"/>
              <a:ext cx="288925" cy="253730"/>
            </a:xfrm>
            <a:prstGeom prst="rect">
              <a:avLst/>
            </a:prstGeom>
            <a:noFill/>
            <a:ln w="28575" algn="ctr">
              <a:noFill/>
              <a:miter lim="800000"/>
              <a:headEnd/>
              <a:tailEnd type="none" w="med" len="lg"/>
            </a:ln>
          </p:spPr>
          <p:txBody>
            <a:bodyPr lIns="0" tIns="0" rIns="0" bIns="0">
              <a:spAutoFit/>
            </a:bodyPr>
            <a:lstStyle/>
            <a:p>
              <a:pPr>
                <a:spcBef>
                  <a:spcPct val="50000"/>
                </a:spcBef>
              </a:pPr>
              <a:r>
                <a:rPr lang="en-US" altLang="zh-CN" sz="1600">
                  <a:solidFill>
                    <a:srgbClr val="00B0F0"/>
                  </a:solidFill>
                  <a:latin typeface="Consolas" pitchFamily="49" charset="0"/>
                  <a:cs typeface="Consolas" pitchFamily="49" charset="0"/>
                </a:rPr>
                <a:t>2</a:t>
              </a:r>
            </a:p>
          </p:txBody>
        </p:sp>
        <p:grpSp>
          <p:nvGrpSpPr>
            <p:cNvPr id="57" name="Group 50">
              <a:extLst>
                <a:ext uri="{FF2B5EF4-FFF2-40B4-BE49-F238E27FC236}">
                  <a16:creationId xmlns:a16="http://schemas.microsoft.com/office/drawing/2014/main" id="{19265CB3-0BB3-1D9C-C90E-847864B7D529}"/>
                </a:ext>
              </a:extLst>
            </p:cNvPr>
            <p:cNvGrpSpPr>
              <a:grpSpLocks/>
            </p:cNvGrpSpPr>
            <p:nvPr/>
          </p:nvGrpSpPr>
          <p:grpSpPr bwMode="auto">
            <a:xfrm>
              <a:off x="3170241" y="2349500"/>
              <a:ext cx="1152526" cy="503238"/>
              <a:chOff x="1997" y="936"/>
              <a:chExt cx="726" cy="317"/>
            </a:xfrm>
          </p:grpSpPr>
          <p:sp>
            <p:nvSpPr>
              <p:cNvPr id="106" name="Rectangle 51">
                <a:extLst>
                  <a:ext uri="{FF2B5EF4-FFF2-40B4-BE49-F238E27FC236}">
                    <a16:creationId xmlns:a16="http://schemas.microsoft.com/office/drawing/2014/main" id="{458728FC-E0CB-0F37-2149-1C6336E4394B}"/>
                  </a:ext>
                </a:extLst>
              </p:cNvPr>
              <p:cNvSpPr>
                <a:spLocks noChangeArrowheads="1"/>
              </p:cNvSpPr>
              <p:nvPr/>
            </p:nvSpPr>
            <p:spPr bwMode="auto">
              <a:xfrm>
                <a:off x="1997" y="936"/>
                <a:ext cx="363" cy="317"/>
              </a:xfrm>
              <a:prstGeom prst="rect">
                <a:avLst/>
              </a:prstGeom>
              <a:ln>
                <a:headEnd/>
                <a:tailEnd type="none" w="med" len="lg"/>
              </a:ln>
            </p:spPr>
            <p:style>
              <a:lnRef idx="1">
                <a:schemeClr val="accent1"/>
              </a:lnRef>
              <a:fillRef idx="2">
                <a:schemeClr val="accent1"/>
              </a:fillRef>
              <a:effectRef idx="1">
                <a:schemeClr val="accent1"/>
              </a:effectRef>
              <a:fontRef idx="minor">
                <a:schemeClr val="dk1"/>
              </a:fontRef>
            </p:style>
            <p:txBody>
              <a:bodyPr wrap="none" anchor="ctr"/>
              <a:lstStyle/>
              <a:p>
                <a:r>
                  <a:rPr lang="en-US" altLang="zh-CN" sz="1800" i="1" dirty="0" err="1">
                    <a:solidFill>
                      <a:srgbClr val="0000FF"/>
                    </a:solidFill>
                    <a:latin typeface="Consolas" pitchFamily="49" charset="0"/>
                    <a:cs typeface="Consolas" pitchFamily="49" charset="0"/>
                  </a:rPr>
                  <a:t>v</a:t>
                </a:r>
                <a:r>
                  <a:rPr lang="en-US" altLang="zh-CN" sz="1800" baseline="-25000" dirty="0" err="1">
                    <a:solidFill>
                      <a:srgbClr val="0000FF"/>
                    </a:solidFill>
                    <a:latin typeface="Consolas" pitchFamily="49" charset="0"/>
                    <a:cs typeface="Consolas" pitchFamily="49" charset="0"/>
                  </a:rPr>
                  <a:t>2</a:t>
                </a:r>
                <a:endParaRPr lang="en-US" altLang="zh-CN" sz="1800" baseline="-25000" dirty="0">
                  <a:solidFill>
                    <a:srgbClr val="0000FF"/>
                  </a:solidFill>
                  <a:latin typeface="Consolas" pitchFamily="49" charset="0"/>
                  <a:cs typeface="Consolas" pitchFamily="49" charset="0"/>
                </a:endParaRPr>
              </a:p>
            </p:txBody>
          </p:sp>
          <p:sp>
            <p:nvSpPr>
              <p:cNvPr id="107" name="Rectangle 52">
                <a:extLst>
                  <a:ext uri="{FF2B5EF4-FFF2-40B4-BE49-F238E27FC236}">
                    <a16:creationId xmlns:a16="http://schemas.microsoft.com/office/drawing/2014/main" id="{415F792D-33C6-4023-2EA1-7B31A6BBECDB}"/>
                  </a:ext>
                </a:extLst>
              </p:cNvPr>
              <p:cNvSpPr>
                <a:spLocks noChangeArrowheads="1"/>
              </p:cNvSpPr>
              <p:nvPr/>
            </p:nvSpPr>
            <p:spPr bwMode="auto">
              <a:xfrm>
                <a:off x="2360" y="936"/>
                <a:ext cx="363" cy="317"/>
              </a:xfrm>
              <a:prstGeom prst="rect">
                <a:avLst/>
              </a:prstGeom>
              <a:ln>
                <a:headEnd/>
                <a:tailEnd type="none" w="med" len="lg"/>
              </a:ln>
            </p:spPr>
            <p:style>
              <a:lnRef idx="1">
                <a:schemeClr val="accent1"/>
              </a:lnRef>
              <a:fillRef idx="2">
                <a:schemeClr val="accent1"/>
              </a:fillRef>
              <a:effectRef idx="1">
                <a:schemeClr val="accent1"/>
              </a:effectRef>
              <a:fontRef idx="minor">
                <a:schemeClr val="dk1"/>
              </a:fontRef>
            </p:style>
            <p:txBody>
              <a:bodyPr wrap="none" anchor="ctr"/>
              <a:lstStyle/>
              <a:p>
                <a:endParaRPr lang="zh-CN" altLang="zh-CN" sz="1800" baseline="-25000">
                  <a:solidFill>
                    <a:srgbClr val="0000FF"/>
                  </a:solidFill>
                  <a:latin typeface="Consolas" pitchFamily="49" charset="0"/>
                  <a:cs typeface="Consolas" pitchFamily="49" charset="0"/>
                </a:endParaRPr>
              </a:p>
            </p:txBody>
          </p:sp>
        </p:grpSp>
        <p:grpSp>
          <p:nvGrpSpPr>
            <p:cNvPr id="58" name="Group 53">
              <a:extLst>
                <a:ext uri="{FF2B5EF4-FFF2-40B4-BE49-F238E27FC236}">
                  <a16:creationId xmlns:a16="http://schemas.microsoft.com/office/drawing/2014/main" id="{DF00DAF7-EF4E-E4A3-3C14-2A97AC4FBE19}"/>
                </a:ext>
              </a:extLst>
            </p:cNvPr>
            <p:cNvGrpSpPr>
              <a:grpSpLocks/>
            </p:cNvGrpSpPr>
            <p:nvPr/>
          </p:nvGrpSpPr>
          <p:grpSpPr bwMode="auto">
            <a:xfrm>
              <a:off x="4572005" y="2422525"/>
              <a:ext cx="936626" cy="395288"/>
              <a:chOff x="2880" y="982"/>
              <a:chExt cx="590" cy="249"/>
            </a:xfrm>
          </p:grpSpPr>
          <p:sp>
            <p:nvSpPr>
              <p:cNvPr id="104" name="Rectangle 54">
                <a:extLst>
                  <a:ext uri="{FF2B5EF4-FFF2-40B4-BE49-F238E27FC236}">
                    <a16:creationId xmlns:a16="http://schemas.microsoft.com/office/drawing/2014/main" id="{4DC0586A-B5A2-BFB6-1F2B-07747CEF714E}"/>
                  </a:ext>
                </a:extLst>
              </p:cNvPr>
              <p:cNvSpPr>
                <a:spLocks noChangeArrowheads="1"/>
              </p:cNvSpPr>
              <p:nvPr/>
            </p:nvSpPr>
            <p:spPr bwMode="auto">
              <a:xfrm>
                <a:off x="2880" y="982"/>
                <a:ext cx="317" cy="249"/>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anchor="ctr"/>
              <a:lstStyle/>
              <a:p>
                <a:r>
                  <a:rPr lang="en-US" altLang="zh-CN" sz="1800" dirty="0">
                    <a:solidFill>
                      <a:srgbClr val="0000FF"/>
                    </a:solidFill>
                    <a:latin typeface="Consolas" pitchFamily="49" charset="0"/>
                    <a:cs typeface="Consolas" pitchFamily="49" charset="0"/>
                  </a:rPr>
                  <a:t>1</a:t>
                </a:r>
              </a:p>
            </p:txBody>
          </p:sp>
          <p:sp>
            <p:nvSpPr>
              <p:cNvPr id="105" name="Rectangle 55">
                <a:extLst>
                  <a:ext uri="{FF2B5EF4-FFF2-40B4-BE49-F238E27FC236}">
                    <a16:creationId xmlns:a16="http://schemas.microsoft.com/office/drawing/2014/main" id="{F6F1A5E2-9964-5C42-198F-7C300276F359}"/>
                  </a:ext>
                </a:extLst>
              </p:cNvPr>
              <p:cNvSpPr>
                <a:spLocks noChangeArrowheads="1"/>
              </p:cNvSpPr>
              <p:nvPr/>
            </p:nvSpPr>
            <p:spPr bwMode="auto">
              <a:xfrm>
                <a:off x="3198" y="982"/>
                <a:ext cx="272" cy="249"/>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anchor="ctr"/>
              <a:lstStyle/>
              <a:p>
                <a:endParaRPr lang="zh-CN" altLang="zh-CN" sz="1800">
                  <a:solidFill>
                    <a:srgbClr val="0000FF"/>
                  </a:solidFill>
                  <a:latin typeface="Consolas" pitchFamily="49" charset="0"/>
                  <a:cs typeface="Consolas" pitchFamily="49" charset="0"/>
                </a:endParaRPr>
              </a:p>
            </p:txBody>
          </p:sp>
        </p:grpSp>
        <p:grpSp>
          <p:nvGrpSpPr>
            <p:cNvPr id="59" name="Group 56">
              <a:extLst>
                <a:ext uri="{FF2B5EF4-FFF2-40B4-BE49-F238E27FC236}">
                  <a16:creationId xmlns:a16="http://schemas.microsoft.com/office/drawing/2014/main" id="{F88F5986-0D8F-01D8-8371-8E2C62B3ECC9}"/>
                </a:ext>
              </a:extLst>
            </p:cNvPr>
            <p:cNvGrpSpPr>
              <a:grpSpLocks/>
            </p:cNvGrpSpPr>
            <p:nvPr/>
          </p:nvGrpSpPr>
          <p:grpSpPr bwMode="auto">
            <a:xfrm>
              <a:off x="5691194" y="2422525"/>
              <a:ext cx="936626" cy="395288"/>
              <a:chOff x="3585" y="982"/>
              <a:chExt cx="590" cy="249"/>
            </a:xfrm>
          </p:grpSpPr>
          <p:sp>
            <p:nvSpPr>
              <p:cNvPr id="102" name="Rectangle 57">
                <a:extLst>
                  <a:ext uri="{FF2B5EF4-FFF2-40B4-BE49-F238E27FC236}">
                    <a16:creationId xmlns:a16="http://schemas.microsoft.com/office/drawing/2014/main" id="{4237CBE5-EB76-D9E5-5BC6-6912706ACFD2}"/>
                  </a:ext>
                </a:extLst>
              </p:cNvPr>
              <p:cNvSpPr>
                <a:spLocks noChangeArrowheads="1"/>
              </p:cNvSpPr>
              <p:nvPr/>
            </p:nvSpPr>
            <p:spPr bwMode="auto">
              <a:xfrm>
                <a:off x="3585" y="982"/>
                <a:ext cx="317" cy="249"/>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anchor="ctr"/>
              <a:lstStyle/>
              <a:p>
                <a:r>
                  <a:rPr lang="en-US" altLang="zh-CN" sz="1800" dirty="0">
                    <a:solidFill>
                      <a:srgbClr val="0000FF"/>
                    </a:solidFill>
                    <a:latin typeface="Consolas" pitchFamily="49" charset="0"/>
                    <a:cs typeface="Consolas" pitchFamily="49" charset="0"/>
                  </a:rPr>
                  <a:t>3</a:t>
                </a:r>
              </a:p>
            </p:txBody>
          </p:sp>
          <p:sp>
            <p:nvSpPr>
              <p:cNvPr id="103" name="Rectangle 58">
                <a:extLst>
                  <a:ext uri="{FF2B5EF4-FFF2-40B4-BE49-F238E27FC236}">
                    <a16:creationId xmlns:a16="http://schemas.microsoft.com/office/drawing/2014/main" id="{4CE361B1-0391-5B85-98F1-316CD85753B8}"/>
                  </a:ext>
                </a:extLst>
              </p:cNvPr>
              <p:cNvSpPr>
                <a:spLocks noChangeArrowheads="1"/>
              </p:cNvSpPr>
              <p:nvPr/>
            </p:nvSpPr>
            <p:spPr bwMode="auto">
              <a:xfrm>
                <a:off x="3903" y="982"/>
                <a:ext cx="272" cy="249"/>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anchor="ctr"/>
              <a:lstStyle/>
              <a:p>
                <a:endParaRPr lang="zh-CN" altLang="zh-CN" sz="1800">
                  <a:solidFill>
                    <a:srgbClr val="0000FF"/>
                  </a:solidFill>
                  <a:latin typeface="Consolas" pitchFamily="49" charset="0"/>
                  <a:cs typeface="Consolas" pitchFamily="49" charset="0"/>
                </a:endParaRPr>
              </a:p>
            </p:txBody>
          </p:sp>
        </p:grpSp>
        <p:grpSp>
          <p:nvGrpSpPr>
            <p:cNvPr id="60" name="Group 59">
              <a:extLst>
                <a:ext uri="{FF2B5EF4-FFF2-40B4-BE49-F238E27FC236}">
                  <a16:creationId xmlns:a16="http://schemas.microsoft.com/office/drawing/2014/main" id="{EF7A1ED0-21BF-F5E8-7064-A1EBB334958A}"/>
                </a:ext>
              </a:extLst>
            </p:cNvPr>
            <p:cNvGrpSpPr>
              <a:grpSpLocks/>
            </p:cNvGrpSpPr>
            <p:nvPr/>
          </p:nvGrpSpPr>
          <p:grpSpPr bwMode="auto">
            <a:xfrm>
              <a:off x="6808796" y="2422525"/>
              <a:ext cx="936626" cy="395288"/>
              <a:chOff x="4289" y="982"/>
              <a:chExt cx="590" cy="249"/>
            </a:xfrm>
          </p:grpSpPr>
          <p:sp>
            <p:nvSpPr>
              <p:cNvPr id="100" name="Rectangle 60">
                <a:extLst>
                  <a:ext uri="{FF2B5EF4-FFF2-40B4-BE49-F238E27FC236}">
                    <a16:creationId xmlns:a16="http://schemas.microsoft.com/office/drawing/2014/main" id="{49947B4C-7E50-E0E6-03E5-240A34CC6E51}"/>
                  </a:ext>
                </a:extLst>
              </p:cNvPr>
              <p:cNvSpPr>
                <a:spLocks noChangeArrowheads="1"/>
              </p:cNvSpPr>
              <p:nvPr/>
            </p:nvSpPr>
            <p:spPr bwMode="auto">
              <a:xfrm>
                <a:off x="4289" y="982"/>
                <a:ext cx="317" cy="249"/>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anchor="ctr"/>
              <a:lstStyle/>
              <a:p>
                <a:r>
                  <a:rPr lang="en-US" altLang="zh-CN" sz="1800" dirty="0">
                    <a:solidFill>
                      <a:srgbClr val="0000FF"/>
                    </a:solidFill>
                    <a:latin typeface="Consolas" pitchFamily="49" charset="0"/>
                    <a:cs typeface="Consolas" pitchFamily="49" charset="0"/>
                  </a:rPr>
                  <a:t>4</a:t>
                </a:r>
              </a:p>
            </p:txBody>
          </p:sp>
          <p:sp>
            <p:nvSpPr>
              <p:cNvPr id="101" name="Rectangle 61">
                <a:extLst>
                  <a:ext uri="{FF2B5EF4-FFF2-40B4-BE49-F238E27FC236}">
                    <a16:creationId xmlns:a16="http://schemas.microsoft.com/office/drawing/2014/main" id="{BB7AABD3-3633-2EDF-6FE3-6ADFDAB59E6C}"/>
                  </a:ext>
                </a:extLst>
              </p:cNvPr>
              <p:cNvSpPr>
                <a:spLocks noChangeArrowheads="1"/>
              </p:cNvSpPr>
              <p:nvPr/>
            </p:nvSpPr>
            <p:spPr bwMode="auto">
              <a:xfrm>
                <a:off x="4607" y="982"/>
                <a:ext cx="272" cy="249"/>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anchor="ctr"/>
              <a:lstStyle/>
              <a:p>
                <a:r>
                  <a:rPr lang="en-US" altLang="zh-CN" sz="1800">
                    <a:solidFill>
                      <a:srgbClr val="0000FF"/>
                    </a:solidFill>
                    <a:latin typeface="Consolas" pitchFamily="49" charset="0"/>
                    <a:cs typeface="Consolas" pitchFamily="49" charset="0"/>
                  </a:rPr>
                  <a:t>∧</a:t>
                </a:r>
              </a:p>
            </p:txBody>
          </p:sp>
        </p:grpSp>
        <p:sp>
          <p:nvSpPr>
            <p:cNvPr id="61" name="Line 62">
              <a:extLst>
                <a:ext uri="{FF2B5EF4-FFF2-40B4-BE49-F238E27FC236}">
                  <a16:creationId xmlns:a16="http://schemas.microsoft.com/office/drawing/2014/main" id="{3EFE7B9A-4549-ED21-D8F8-2827C596B684}"/>
                </a:ext>
              </a:extLst>
            </p:cNvPr>
            <p:cNvSpPr>
              <a:spLocks noChangeShapeType="1"/>
            </p:cNvSpPr>
            <p:nvPr/>
          </p:nvSpPr>
          <p:spPr bwMode="auto">
            <a:xfrm>
              <a:off x="3995738" y="2638425"/>
              <a:ext cx="576262" cy="0"/>
            </a:xfrm>
            <a:prstGeom prst="line">
              <a:avLst/>
            </a:prstGeom>
            <a:noFill/>
            <a:ln w="28575">
              <a:solidFill>
                <a:srgbClr val="3333FF"/>
              </a:solidFill>
              <a:round/>
              <a:headEnd/>
              <a:tailEnd type="triangle" w="med" len="lg"/>
            </a:ln>
          </p:spPr>
          <p:txBody>
            <a:bodyPr wrap="none"/>
            <a:lstStyle/>
            <a:p>
              <a:endParaRPr lang="zh-CN" altLang="en-US" sz="1800">
                <a:latin typeface="Consolas" pitchFamily="49" charset="0"/>
                <a:cs typeface="Consolas" pitchFamily="49" charset="0"/>
              </a:endParaRPr>
            </a:p>
          </p:txBody>
        </p:sp>
        <p:sp>
          <p:nvSpPr>
            <p:cNvPr id="62" name="Line 63">
              <a:extLst>
                <a:ext uri="{FF2B5EF4-FFF2-40B4-BE49-F238E27FC236}">
                  <a16:creationId xmlns:a16="http://schemas.microsoft.com/office/drawing/2014/main" id="{563DD4A6-2818-8097-2E9B-4B7007801DD5}"/>
                </a:ext>
              </a:extLst>
            </p:cNvPr>
            <p:cNvSpPr>
              <a:spLocks noChangeShapeType="1"/>
            </p:cNvSpPr>
            <p:nvPr/>
          </p:nvSpPr>
          <p:spPr bwMode="auto">
            <a:xfrm>
              <a:off x="5338763" y="2628900"/>
              <a:ext cx="360362" cy="0"/>
            </a:xfrm>
            <a:prstGeom prst="line">
              <a:avLst/>
            </a:prstGeom>
            <a:noFill/>
            <a:ln w="28575">
              <a:solidFill>
                <a:srgbClr val="3333FF"/>
              </a:solidFill>
              <a:round/>
              <a:headEnd/>
              <a:tailEnd type="triangle" w="med" len="lg"/>
            </a:ln>
          </p:spPr>
          <p:txBody>
            <a:bodyPr wrap="none"/>
            <a:lstStyle/>
            <a:p>
              <a:endParaRPr lang="zh-CN" altLang="en-US" sz="1800">
                <a:latin typeface="Consolas" pitchFamily="49" charset="0"/>
                <a:cs typeface="Consolas" pitchFamily="49" charset="0"/>
              </a:endParaRPr>
            </a:p>
          </p:txBody>
        </p:sp>
        <p:sp>
          <p:nvSpPr>
            <p:cNvPr id="63" name="Line 64">
              <a:extLst>
                <a:ext uri="{FF2B5EF4-FFF2-40B4-BE49-F238E27FC236}">
                  <a16:creationId xmlns:a16="http://schemas.microsoft.com/office/drawing/2014/main" id="{D7BBAF14-843F-78C2-E4A8-0C391AFE317B}"/>
                </a:ext>
              </a:extLst>
            </p:cNvPr>
            <p:cNvSpPr>
              <a:spLocks noChangeShapeType="1"/>
            </p:cNvSpPr>
            <p:nvPr/>
          </p:nvSpPr>
          <p:spPr bwMode="auto">
            <a:xfrm>
              <a:off x="6461125" y="2638425"/>
              <a:ext cx="360363" cy="0"/>
            </a:xfrm>
            <a:prstGeom prst="line">
              <a:avLst/>
            </a:prstGeom>
            <a:noFill/>
            <a:ln w="28575">
              <a:solidFill>
                <a:srgbClr val="3333FF"/>
              </a:solidFill>
              <a:round/>
              <a:headEnd/>
              <a:tailEnd type="triangle" w="med" len="lg"/>
            </a:ln>
          </p:spPr>
          <p:txBody>
            <a:bodyPr wrap="none"/>
            <a:lstStyle/>
            <a:p>
              <a:endParaRPr lang="zh-CN" altLang="en-US" sz="1800">
                <a:latin typeface="Consolas" pitchFamily="49" charset="0"/>
                <a:cs typeface="Consolas" pitchFamily="49" charset="0"/>
              </a:endParaRPr>
            </a:p>
          </p:txBody>
        </p:sp>
        <p:sp>
          <p:nvSpPr>
            <p:cNvPr id="64" name="Text Box 65">
              <a:extLst>
                <a:ext uri="{FF2B5EF4-FFF2-40B4-BE49-F238E27FC236}">
                  <a16:creationId xmlns:a16="http://schemas.microsoft.com/office/drawing/2014/main" id="{3C55903E-5FCE-5EF2-776A-30D009C95610}"/>
                </a:ext>
              </a:extLst>
            </p:cNvPr>
            <p:cNvSpPr txBox="1">
              <a:spLocks noChangeArrowheads="1"/>
            </p:cNvSpPr>
            <p:nvPr/>
          </p:nvSpPr>
          <p:spPr bwMode="auto">
            <a:xfrm>
              <a:off x="2771775" y="2976565"/>
              <a:ext cx="288925" cy="253730"/>
            </a:xfrm>
            <a:prstGeom prst="rect">
              <a:avLst/>
            </a:prstGeom>
            <a:noFill/>
            <a:ln w="28575" algn="ctr">
              <a:noFill/>
              <a:miter lim="800000"/>
              <a:headEnd/>
              <a:tailEnd type="none" w="med" len="lg"/>
            </a:ln>
          </p:spPr>
          <p:txBody>
            <a:bodyPr lIns="0" tIns="0" rIns="0" bIns="0">
              <a:spAutoFit/>
            </a:bodyPr>
            <a:lstStyle/>
            <a:p>
              <a:pPr>
                <a:spcBef>
                  <a:spcPct val="50000"/>
                </a:spcBef>
              </a:pPr>
              <a:r>
                <a:rPr lang="en-US" altLang="zh-CN" sz="1600">
                  <a:solidFill>
                    <a:srgbClr val="00B0F0"/>
                  </a:solidFill>
                  <a:latin typeface="Consolas" pitchFamily="49" charset="0"/>
                  <a:cs typeface="Consolas" pitchFamily="49" charset="0"/>
                </a:rPr>
                <a:t>3</a:t>
              </a:r>
            </a:p>
          </p:txBody>
        </p:sp>
        <p:grpSp>
          <p:nvGrpSpPr>
            <p:cNvPr id="65" name="Group 66">
              <a:extLst>
                <a:ext uri="{FF2B5EF4-FFF2-40B4-BE49-F238E27FC236}">
                  <a16:creationId xmlns:a16="http://schemas.microsoft.com/office/drawing/2014/main" id="{83065A35-2B38-DD31-F467-AA3463728E55}"/>
                </a:ext>
              </a:extLst>
            </p:cNvPr>
            <p:cNvGrpSpPr>
              <a:grpSpLocks/>
            </p:cNvGrpSpPr>
            <p:nvPr/>
          </p:nvGrpSpPr>
          <p:grpSpPr bwMode="auto">
            <a:xfrm>
              <a:off x="3170241" y="2852738"/>
              <a:ext cx="1152526" cy="503237"/>
              <a:chOff x="1997" y="1253"/>
              <a:chExt cx="726" cy="317"/>
            </a:xfrm>
          </p:grpSpPr>
          <p:sp>
            <p:nvSpPr>
              <p:cNvPr id="98" name="Rectangle 67">
                <a:extLst>
                  <a:ext uri="{FF2B5EF4-FFF2-40B4-BE49-F238E27FC236}">
                    <a16:creationId xmlns:a16="http://schemas.microsoft.com/office/drawing/2014/main" id="{CF7ED84B-6B0B-8F13-CE35-10A0342095D1}"/>
                  </a:ext>
                </a:extLst>
              </p:cNvPr>
              <p:cNvSpPr>
                <a:spLocks noChangeArrowheads="1"/>
              </p:cNvSpPr>
              <p:nvPr/>
            </p:nvSpPr>
            <p:spPr bwMode="auto">
              <a:xfrm>
                <a:off x="1997" y="1253"/>
                <a:ext cx="363" cy="317"/>
              </a:xfrm>
              <a:prstGeom prst="rect">
                <a:avLst/>
              </a:prstGeom>
              <a:ln>
                <a:headEnd/>
                <a:tailEnd type="none" w="med" len="lg"/>
              </a:ln>
            </p:spPr>
            <p:style>
              <a:lnRef idx="1">
                <a:schemeClr val="accent1"/>
              </a:lnRef>
              <a:fillRef idx="2">
                <a:schemeClr val="accent1"/>
              </a:fillRef>
              <a:effectRef idx="1">
                <a:schemeClr val="accent1"/>
              </a:effectRef>
              <a:fontRef idx="minor">
                <a:schemeClr val="dk1"/>
              </a:fontRef>
            </p:style>
            <p:txBody>
              <a:bodyPr wrap="none" anchor="ctr"/>
              <a:lstStyle/>
              <a:p>
                <a:r>
                  <a:rPr lang="en-US" altLang="zh-CN" sz="1800" i="1" dirty="0" err="1">
                    <a:solidFill>
                      <a:srgbClr val="0000FF"/>
                    </a:solidFill>
                    <a:latin typeface="Consolas" pitchFamily="49" charset="0"/>
                    <a:cs typeface="Consolas" pitchFamily="49" charset="0"/>
                  </a:rPr>
                  <a:t>v</a:t>
                </a:r>
                <a:r>
                  <a:rPr lang="en-US" altLang="zh-CN" sz="1800" baseline="-25000" dirty="0" err="1">
                    <a:solidFill>
                      <a:srgbClr val="0000FF"/>
                    </a:solidFill>
                    <a:latin typeface="Consolas" pitchFamily="49" charset="0"/>
                    <a:cs typeface="Consolas" pitchFamily="49" charset="0"/>
                  </a:rPr>
                  <a:t>3</a:t>
                </a:r>
                <a:endParaRPr lang="en-US" altLang="zh-CN" sz="1800" baseline="-25000" dirty="0">
                  <a:solidFill>
                    <a:srgbClr val="0000FF"/>
                  </a:solidFill>
                  <a:latin typeface="Consolas" pitchFamily="49" charset="0"/>
                  <a:cs typeface="Consolas" pitchFamily="49" charset="0"/>
                </a:endParaRPr>
              </a:p>
            </p:txBody>
          </p:sp>
          <p:sp>
            <p:nvSpPr>
              <p:cNvPr id="99" name="Rectangle 68">
                <a:extLst>
                  <a:ext uri="{FF2B5EF4-FFF2-40B4-BE49-F238E27FC236}">
                    <a16:creationId xmlns:a16="http://schemas.microsoft.com/office/drawing/2014/main" id="{D454F786-F327-E83B-5559-F66625678192}"/>
                  </a:ext>
                </a:extLst>
              </p:cNvPr>
              <p:cNvSpPr>
                <a:spLocks noChangeArrowheads="1"/>
              </p:cNvSpPr>
              <p:nvPr/>
            </p:nvSpPr>
            <p:spPr bwMode="auto">
              <a:xfrm>
                <a:off x="2360" y="1253"/>
                <a:ext cx="363" cy="317"/>
              </a:xfrm>
              <a:prstGeom prst="rect">
                <a:avLst/>
              </a:prstGeom>
              <a:ln>
                <a:headEnd/>
                <a:tailEnd type="none" w="med" len="lg"/>
              </a:ln>
            </p:spPr>
            <p:style>
              <a:lnRef idx="1">
                <a:schemeClr val="accent1"/>
              </a:lnRef>
              <a:fillRef idx="2">
                <a:schemeClr val="accent1"/>
              </a:fillRef>
              <a:effectRef idx="1">
                <a:schemeClr val="accent1"/>
              </a:effectRef>
              <a:fontRef idx="minor">
                <a:schemeClr val="dk1"/>
              </a:fontRef>
            </p:style>
            <p:txBody>
              <a:bodyPr wrap="none" anchor="ctr"/>
              <a:lstStyle/>
              <a:p>
                <a:endParaRPr lang="zh-CN" altLang="zh-CN" sz="1800" baseline="-25000">
                  <a:solidFill>
                    <a:srgbClr val="0000FF"/>
                  </a:solidFill>
                  <a:latin typeface="Consolas" pitchFamily="49" charset="0"/>
                  <a:cs typeface="Consolas" pitchFamily="49" charset="0"/>
                </a:endParaRPr>
              </a:p>
            </p:txBody>
          </p:sp>
        </p:grpSp>
        <p:grpSp>
          <p:nvGrpSpPr>
            <p:cNvPr id="66" name="Group 69">
              <a:extLst>
                <a:ext uri="{FF2B5EF4-FFF2-40B4-BE49-F238E27FC236}">
                  <a16:creationId xmlns:a16="http://schemas.microsoft.com/office/drawing/2014/main" id="{588A48D4-356F-F02B-BCE6-2B36AC1DAA57}"/>
                </a:ext>
              </a:extLst>
            </p:cNvPr>
            <p:cNvGrpSpPr>
              <a:grpSpLocks/>
            </p:cNvGrpSpPr>
            <p:nvPr/>
          </p:nvGrpSpPr>
          <p:grpSpPr bwMode="auto">
            <a:xfrm>
              <a:off x="4572005" y="2925763"/>
              <a:ext cx="936626" cy="395287"/>
              <a:chOff x="2880" y="1299"/>
              <a:chExt cx="590" cy="249"/>
            </a:xfrm>
          </p:grpSpPr>
          <p:sp>
            <p:nvSpPr>
              <p:cNvPr id="96" name="Rectangle 70">
                <a:extLst>
                  <a:ext uri="{FF2B5EF4-FFF2-40B4-BE49-F238E27FC236}">
                    <a16:creationId xmlns:a16="http://schemas.microsoft.com/office/drawing/2014/main" id="{7F9B8FC1-8CED-DA70-F375-BDECDDC0A2F2}"/>
                  </a:ext>
                </a:extLst>
              </p:cNvPr>
              <p:cNvSpPr>
                <a:spLocks noChangeArrowheads="1"/>
              </p:cNvSpPr>
              <p:nvPr/>
            </p:nvSpPr>
            <p:spPr bwMode="auto">
              <a:xfrm>
                <a:off x="2880" y="1299"/>
                <a:ext cx="317" cy="249"/>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anchor="ctr"/>
              <a:lstStyle/>
              <a:p>
                <a:r>
                  <a:rPr lang="en-US" altLang="zh-CN" sz="1800">
                    <a:solidFill>
                      <a:srgbClr val="0000CC"/>
                    </a:solidFill>
                    <a:latin typeface="Consolas" pitchFamily="49" charset="0"/>
                    <a:cs typeface="Consolas" pitchFamily="49" charset="0"/>
                  </a:rPr>
                  <a:t>0</a:t>
                </a:r>
              </a:p>
            </p:txBody>
          </p:sp>
          <p:sp>
            <p:nvSpPr>
              <p:cNvPr id="97" name="Rectangle 71">
                <a:extLst>
                  <a:ext uri="{FF2B5EF4-FFF2-40B4-BE49-F238E27FC236}">
                    <a16:creationId xmlns:a16="http://schemas.microsoft.com/office/drawing/2014/main" id="{9C69B3B1-789C-8FB7-7211-BFD421EB6292}"/>
                  </a:ext>
                </a:extLst>
              </p:cNvPr>
              <p:cNvSpPr>
                <a:spLocks noChangeArrowheads="1"/>
              </p:cNvSpPr>
              <p:nvPr/>
            </p:nvSpPr>
            <p:spPr bwMode="auto">
              <a:xfrm>
                <a:off x="3198" y="1299"/>
                <a:ext cx="272" cy="249"/>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anchor="ctr"/>
              <a:lstStyle/>
              <a:p>
                <a:endParaRPr lang="zh-CN" altLang="zh-CN" sz="1800">
                  <a:latin typeface="Consolas" pitchFamily="49" charset="0"/>
                  <a:cs typeface="Consolas" pitchFamily="49" charset="0"/>
                </a:endParaRPr>
              </a:p>
            </p:txBody>
          </p:sp>
        </p:grpSp>
        <p:grpSp>
          <p:nvGrpSpPr>
            <p:cNvPr id="67" name="Group 72">
              <a:extLst>
                <a:ext uri="{FF2B5EF4-FFF2-40B4-BE49-F238E27FC236}">
                  <a16:creationId xmlns:a16="http://schemas.microsoft.com/office/drawing/2014/main" id="{67EE3965-E010-9AE4-BC26-11BEE09225CB}"/>
                </a:ext>
              </a:extLst>
            </p:cNvPr>
            <p:cNvGrpSpPr>
              <a:grpSpLocks/>
            </p:cNvGrpSpPr>
            <p:nvPr/>
          </p:nvGrpSpPr>
          <p:grpSpPr bwMode="auto">
            <a:xfrm>
              <a:off x="5691194" y="2925763"/>
              <a:ext cx="936626" cy="395287"/>
              <a:chOff x="3585" y="1299"/>
              <a:chExt cx="590" cy="249"/>
            </a:xfrm>
          </p:grpSpPr>
          <p:sp>
            <p:nvSpPr>
              <p:cNvPr id="94" name="Rectangle 73">
                <a:extLst>
                  <a:ext uri="{FF2B5EF4-FFF2-40B4-BE49-F238E27FC236}">
                    <a16:creationId xmlns:a16="http://schemas.microsoft.com/office/drawing/2014/main" id="{4E96AA87-541E-8209-636E-EA68301C0938}"/>
                  </a:ext>
                </a:extLst>
              </p:cNvPr>
              <p:cNvSpPr>
                <a:spLocks noChangeArrowheads="1"/>
              </p:cNvSpPr>
              <p:nvPr/>
            </p:nvSpPr>
            <p:spPr bwMode="auto">
              <a:xfrm>
                <a:off x="3585" y="1299"/>
                <a:ext cx="317" cy="249"/>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anchor="ctr"/>
              <a:lstStyle/>
              <a:p>
                <a:r>
                  <a:rPr lang="en-US" altLang="zh-CN" sz="1800">
                    <a:solidFill>
                      <a:srgbClr val="0000CC"/>
                    </a:solidFill>
                    <a:latin typeface="Consolas" pitchFamily="49" charset="0"/>
                    <a:cs typeface="Consolas" pitchFamily="49" charset="0"/>
                  </a:rPr>
                  <a:t>1</a:t>
                </a:r>
              </a:p>
            </p:txBody>
          </p:sp>
          <p:sp>
            <p:nvSpPr>
              <p:cNvPr id="95" name="Rectangle 74">
                <a:extLst>
                  <a:ext uri="{FF2B5EF4-FFF2-40B4-BE49-F238E27FC236}">
                    <a16:creationId xmlns:a16="http://schemas.microsoft.com/office/drawing/2014/main" id="{57BD728E-73A6-2BDB-C46D-A46311F227F0}"/>
                  </a:ext>
                </a:extLst>
              </p:cNvPr>
              <p:cNvSpPr>
                <a:spLocks noChangeArrowheads="1"/>
              </p:cNvSpPr>
              <p:nvPr/>
            </p:nvSpPr>
            <p:spPr bwMode="auto">
              <a:xfrm>
                <a:off x="3903" y="1299"/>
                <a:ext cx="272" cy="249"/>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anchor="ctr"/>
              <a:lstStyle/>
              <a:p>
                <a:endParaRPr lang="zh-CN" altLang="zh-CN" sz="1800">
                  <a:latin typeface="Consolas" pitchFamily="49" charset="0"/>
                  <a:cs typeface="Consolas" pitchFamily="49" charset="0"/>
                </a:endParaRPr>
              </a:p>
            </p:txBody>
          </p:sp>
        </p:grpSp>
        <p:grpSp>
          <p:nvGrpSpPr>
            <p:cNvPr id="68" name="Group 75">
              <a:extLst>
                <a:ext uri="{FF2B5EF4-FFF2-40B4-BE49-F238E27FC236}">
                  <a16:creationId xmlns:a16="http://schemas.microsoft.com/office/drawing/2014/main" id="{5A29091F-704E-4245-3E1A-54A5B97C3947}"/>
                </a:ext>
              </a:extLst>
            </p:cNvPr>
            <p:cNvGrpSpPr>
              <a:grpSpLocks/>
            </p:cNvGrpSpPr>
            <p:nvPr/>
          </p:nvGrpSpPr>
          <p:grpSpPr bwMode="auto">
            <a:xfrm>
              <a:off x="6808796" y="2925763"/>
              <a:ext cx="936626" cy="395287"/>
              <a:chOff x="4289" y="1299"/>
              <a:chExt cx="590" cy="249"/>
            </a:xfrm>
          </p:grpSpPr>
          <p:sp>
            <p:nvSpPr>
              <p:cNvPr id="92" name="Rectangle 76">
                <a:extLst>
                  <a:ext uri="{FF2B5EF4-FFF2-40B4-BE49-F238E27FC236}">
                    <a16:creationId xmlns:a16="http://schemas.microsoft.com/office/drawing/2014/main" id="{26BE5623-01E5-9DBC-9418-A62E83672D5F}"/>
                  </a:ext>
                </a:extLst>
              </p:cNvPr>
              <p:cNvSpPr>
                <a:spLocks noChangeArrowheads="1"/>
              </p:cNvSpPr>
              <p:nvPr/>
            </p:nvSpPr>
            <p:spPr bwMode="auto">
              <a:xfrm>
                <a:off x="4289" y="1299"/>
                <a:ext cx="317" cy="249"/>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anchor="ctr"/>
              <a:lstStyle/>
              <a:p>
                <a:r>
                  <a:rPr lang="en-US" altLang="zh-CN" sz="1800">
                    <a:solidFill>
                      <a:srgbClr val="0000CC"/>
                    </a:solidFill>
                    <a:latin typeface="Consolas" pitchFamily="49" charset="0"/>
                    <a:cs typeface="Consolas" pitchFamily="49" charset="0"/>
                  </a:rPr>
                  <a:t>2</a:t>
                </a:r>
              </a:p>
            </p:txBody>
          </p:sp>
          <p:sp>
            <p:nvSpPr>
              <p:cNvPr id="93" name="Rectangle 77">
                <a:extLst>
                  <a:ext uri="{FF2B5EF4-FFF2-40B4-BE49-F238E27FC236}">
                    <a16:creationId xmlns:a16="http://schemas.microsoft.com/office/drawing/2014/main" id="{FA29AA12-590E-1925-0919-BB6DF44DC75D}"/>
                  </a:ext>
                </a:extLst>
              </p:cNvPr>
              <p:cNvSpPr>
                <a:spLocks noChangeArrowheads="1"/>
              </p:cNvSpPr>
              <p:nvPr/>
            </p:nvSpPr>
            <p:spPr bwMode="auto">
              <a:xfrm>
                <a:off x="4607" y="1299"/>
                <a:ext cx="272" cy="249"/>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anchor="ctr"/>
              <a:lstStyle/>
              <a:p>
                <a:endParaRPr lang="zh-CN" altLang="zh-CN" sz="1800">
                  <a:latin typeface="Consolas" pitchFamily="49" charset="0"/>
                  <a:cs typeface="Consolas" pitchFamily="49" charset="0"/>
                </a:endParaRPr>
              </a:p>
            </p:txBody>
          </p:sp>
        </p:grpSp>
        <p:sp>
          <p:nvSpPr>
            <p:cNvPr id="69" name="Line 78">
              <a:extLst>
                <a:ext uri="{FF2B5EF4-FFF2-40B4-BE49-F238E27FC236}">
                  <a16:creationId xmlns:a16="http://schemas.microsoft.com/office/drawing/2014/main" id="{6E4873E9-3FF7-0205-FC0B-DBC301C335CB}"/>
                </a:ext>
              </a:extLst>
            </p:cNvPr>
            <p:cNvSpPr>
              <a:spLocks noChangeShapeType="1"/>
            </p:cNvSpPr>
            <p:nvPr/>
          </p:nvSpPr>
          <p:spPr bwMode="auto">
            <a:xfrm>
              <a:off x="3995738" y="3141663"/>
              <a:ext cx="576262" cy="0"/>
            </a:xfrm>
            <a:prstGeom prst="line">
              <a:avLst/>
            </a:prstGeom>
            <a:noFill/>
            <a:ln w="28575">
              <a:solidFill>
                <a:srgbClr val="3333FF"/>
              </a:solidFill>
              <a:round/>
              <a:headEnd/>
              <a:tailEnd type="triangle" w="med" len="lg"/>
            </a:ln>
          </p:spPr>
          <p:txBody>
            <a:bodyPr wrap="none"/>
            <a:lstStyle/>
            <a:p>
              <a:endParaRPr lang="zh-CN" altLang="en-US" sz="1800">
                <a:latin typeface="Consolas" pitchFamily="49" charset="0"/>
                <a:cs typeface="Consolas" pitchFamily="49" charset="0"/>
              </a:endParaRPr>
            </a:p>
          </p:txBody>
        </p:sp>
        <p:sp>
          <p:nvSpPr>
            <p:cNvPr id="70" name="Line 79">
              <a:extLst>
                <a:ext uri="{FF2B5EF4-FFF2-40B4-BE49-F238E27FC236}">
                  <a16:creationId xmlns:a16="http://schemas.microsoft.com/office/drawing/2014/main" id="{68F1181A-7F7B-2F8C-7F53-4A74B321F32C}"/>
                </a:ext>
              </a:extLst>
            </p:cNvPr>
            <p:cNvSpPr>
              <a:spLocks noChangeShapeType="1"/>
            </p:cNvSpPr>
            <p:nvPr/>
          </p:nvSpPr>
          <p:spPr bwMode="auto">
            <a:xfrm>
              <a:off x="5338763" y="3132138"/>
              <a:ext cx="360362" cy="0"/>
            </a:xfrm>
            <a:prstGeom prst="line">
              <a:avLst/>
            </a:prstGeom>
            <a:noFill/>
            <a:ln w="28575">
              <a:solidFill>
                <a:srgbClr val="3333FF"/>
              </a:solidFill>
              <a:round/>
              <a:headEnd/>
              <a:tailEnd type="triangle" w="med" len="lg"/>
            </a:ln>
          </p:spPr>
          <p:txBody>
            <a:bodyPr wrap="none"/>
            <a:lstStyle/>
            <a:p>
              <a:endParaRPr lang="zh-CN" altLang="en-US" sz="1800">
                <a:latin typeface="Consolas" pitchFamily="49" charset="0"/>
                <a:cs typeface="Consolas" pitchFamily="49" charset="0"/>
              </a:endParaRPr>
            </a:p>
          </p:txBody>
        </p:sp>
        <p:sp>
          <p:nvSpPr>
            <p:cNvPr id="71" name="Line 80">
              <a:extLst>
                <a:ext uri="{FF2B5EF4-FFF2-40B4-BE49-F238E27FC236}">
                  <a16:creationId xmlns:a16="http://schemas.microsoft.com/office/drawing/2014/main" id="{4BDDE386-AE25-4053-8082-724F01406900}"/>
                </a:ext>
              </a:extLst>
            </p:cNvPr>
            <p:cNvSpPr>
              <a:spLocks noChangeShapeType="1"/>
            </p:cNvSpPr>
            <p:nvPr/>
          </p:nvSpPr>
          <p:spPr bwMode="auto">
            <a:xfrm>
              <a:off x="6461125" y="3141663"/>
              <a:ext cx="360363" cy="0"/>
            </a:xfrm>
            <a:prstGeom prst="line">
              <a:avLst/>
            </a:prstGeom>
            <a:noFill/>
            <a:ln w="28575">
              <a:solidFill>
                <a:srgbClr val="3333FF"/>
              </a:solidFill>
              <a:round/>
              <a:headEnd/>
              <a:tailEnd type="triangle" w="med" len="lg"/>
            </a:ln>
          </p:spPr>
          <p:txBody>
            <a:bodyPr wrap="none"/>
            <a:lstStyle/>
            <a:p>
              <a:endParaRPr lang="zh-CN" altLang="en-US" sz="1800">
                <a:latin typeface="Consolas" pitchFamily="49" charset="0"/>
                <a:cs typeface="Consolas" pitchFamily="49" charset="0"/>
              </a:endParaRPr>
            </a:p>
          </p:txBody>
        </p:sp>
        <p:sp>
          <p:nvSpPr>
            <p:cNvPr id="72" name="Text Box 81">
              <a:extLst>
                <a:ext uri="{FF2B5EF4-FFF2-40B4-BE49-F238E27FC236}">
                  <a16:creationId xmlns:a16="http://schemas.microsoft.com/office/drawing/2014/main" id="{8BFE518F-4D99-D0BC-EF2C-05F4DDA41041}"/>
                </a:ext>
              </a:extLst>
            </p:cNvPr>
            <p:cNvSpPr txBox="1">
              <a:spLocks noChangeArrowheads="1"/>
            </p:cNvSpPr>
            <p:nvPr/>
          </p:nvSpPr>
          <p:spPr bwMode="auto">
            <a:xfrm>
              <a:off x="2771775" y="3481390"/>
              <a:ext cx="288925" cy="253730"/>
            </a:xfrm>
            <a:prstGeom prst="rect">
              <a:avLst/>
            </a:prstGeom>
            <a:noFill/>
            <a:ln w="28575" algn="ctr">
              <a:noFill/>
              <a:miter lim="800000"/>
              <a:headEnd/>
              <a:tailEnd type="none" w="med" len="lg"/>
            </a:ln>
          </p:spPr>
          <p:txBody>
            <a:bodyPr lIns="0" tIns="0" rIns="0" bIns="0">
              <a:spAutoFit/>
            </a:bodyPr>
            <a:lstStyle/>
            <a:p>
              <a:pPr>
                <a:spcBef>
                  <a:spcPct val="50000"/>
                </a:spcBef>
              </a:pPr>
              <a:r>
                <a:rPr lang="en-US" altLang="zh-CN" sz="1600">
                  <a:solidFill>
                    <a:srgbClr val="00B0F0"/>
                  </a:solidFill>
                  <a:latin typeface="Consolas" pitchFamily="49" charset="0"/>
                  <a:cs typeface="Consolas" pitchFamily="49" charset="0"/>
                </a:rPr>
                <a:t>4</a:t>
              </a:r>
            </a:p>
          </p:txBody>
        </p:sp>
        <p:grpSp>
          <p:nvGrpSpPr>
            <p:cNvPr id="73" name="Group 82">
              <a:extLst>
                <a:ext uri="{FF2B5EF4-FFF2-40B4-BE49-F238E27FC236}">
                  <a16:creationId xmlns:a16="http://schemas.microsoft.com/office/drawing/2014/main" id="{C256BEAF-867C-9149-A7FA-AF94B68E8FA8}"/>
                </a:ext>
              </a:extLst>
            </p:cNvPr>
            <p:cNvGrpSpPr>
              <a:grpSpLocks/>
            </p:cNvGrpSpPr>
            <p:nvPr/>
          </p:nvGrpSpPr>
          <p:grpSpPr bwMode="auto">
            <a:xfrm>
              <a:off x="3170241" y="3357563"/>
              <a:ext cx="1152526" cy="503237"/>
              <a:chOff x="1997" y="1571"/>
              <a:chExt cx="726" cy="317"/>
            </a:xfrm>
          </p:grpSpPr>
          <p:sp>
            <p:nvSpPr>
              <p:cNvPr id="90" name="Rectangle 83">
                <a:extLst>
                  <a:ext uri="{FF2B5EF4-FFF2-40B4-BE49-F238E27FC236}">
                    <a16:creationId xmlns:a16="http://schemas.microsoft.com/office/drawing/2014/main" id="{96A7894F-2183-C580-21AF-BCE521F615C4}"/>
                  </a:ext>
                </a:extLst>
              </p:cNvPr>
              <p:cNvSpPr>
                <a:spLocks noChangeArrowheads="1"/>
              </p:cNvSpPr>
              <p:nvPr/>
            </p:nvSpPr>
            <p:spPr bwMode="auto">
              <a:xfrm>
                <a:off x="1997" y="1571"/>
                <a:ext cx="363" cy="317"/>
              </a:xfrm>
              <a:prstGeom prst="rect">
                <a:avLst/>
              </a:prstGeom>
              <a:ln>
                <a:headEnd/>
                <a:tailEnd type="none" w="med" len="lg"/>
              </a:ln>
            </p:spPr>
            <p:style>
              <a:lnRef idx="1">
                <a:schemeClr val="accent1"/>
              </a:lnRef>
              <a:fillRef idx="2">
                <a:schemeClr val="accent1"/>
              </a:fillRef>
              <a:effectRef idx="1">
                <a:schemeClr val="accent1"/>
              </a:effectRef>
              <a:fontRef idx="minor">
                <a:schemeClr val="dk1"/>
              </a:fontRef>
            </p:style>
            <p:txBody>
              <a:bodyPr wrap="none" anchor="ctr"/>
              <a:lstStyle/>
              <a:p>
                <a:r>
                  <a:rPr lang="en-US" altLang="zh-CN" sz="1800" i="1" dirty="0" err="1">
                    <a:solidFill>
                      <a:srgbClr val="0000FF"/>
                    </a:solidFill>
                    <a:latin typeface="Consolas" pitchFamily="49" charset="0"/>
                    <a:cs typeface="Consolas" pitchFamily="49" charset="0"/>
                  </a:rPr>
                  <a:t>v</a:t>
                </a:r>
                <a:r>
                  <a:rPr lang="en-US" altLang="zh-CN" sz="1800" baseline="-25000" dirty="0" err="1">
                    <a:solidFill>
                      <a:srgbClr val="0000FF"/>
                    </a:solidFill>
                    <a:latin typeface="Consolas" pitchFamily="49" charset="0"/>
                    <a:cs typeface="Consolas" pitchFamily="49" charset="0"/>
                  </a:rPr>
                  <a:t>4</a:t>
                </a:r>
                <a:endParaRPr lang="en-US" altLang="zh-CN" sz="1800" baseline="-25000" dirty="0">
                  <a:solidFill>
                    <a:srgbClr val="0000FF"/>
                  </a:solidFill>
                  <a:latin typeface="Consolas" pitchFamily="49" charset="0"/>
                  <a:cs typeface="Consolas" pitchFamily="49" charset="0"/>
                </a:endParaRPr>
              </a:p>
            </p:txBody>
          </p:sp>
          <p:sp>
            <p:nvSpPr>
              <p:cNvPr id="91" name="Rectangle 84">
                <a:extLst>
                  <a:ext uri="{FF2B5EF4-FFF2-40B4-BE49-F238E27FC236}">
                    <a16:creationId xmlns:a16="http://schemas.microsoft.com/office/drawing/2014/main" id="{5C312DC9-D77B-4250-68BB-6FCCF50F549A}"/>
                  </a:ext>
                </a:extLst>
              </p:cNvPr>
              <p:cNvSpPr>
                <a:spLocks noChangeArrowheads="1"/>
              </p:cNvSpPr>
              <p:nvPr/>
            </p:nvSpPr>
            <p:spPr bwMode="auto">
              <a:xfrm>
                <a:off x="2360" y="1571"/>
                <a:ext cx="363" cy="317"/>
              </a:xfrm>
              <a:prstGeom prst="rect">
                <a:avLst/>
              </a:prstGeom>
              <a:ln>
                <a:headEnd/>
                <a:tailEnd type="none" w="med" len="lg"/>
              </a:ln>
            </p:spPr>
            <p:style>
              <a:lnRef idx="1">
                <a:schemeClr val="accent1"/>
              </a:lnRef>
              <a:fillRef idx="2">
                <a:schemeClr val="accent1"/>
              </a:fillRef>
              <a:effectRef idx="1">
                <a:schemeClr val="accent1"/>
              </a:effectRef>
              <a:fontRef idx="minor">
                <a:schemeClr val="dk1"/>
              </a:fontRef>
            </p:style>
            <p:txBody>
              <a:bodyPr wrap="none" anchor="ctr"/>
              <a:lstStyle/>
              <a:p>
                <a:endParaRPr lang="zh-CN" altLang="zh-CN" sz="1800" baseline="-25000">
                  <a:solidFill>
                    <a:srgbClr val="0000FF"/>
                  </a:solidFill>
                  <a:latin typeface="Consolas" pitchFamily="49" charset="0"/>
                  <a:cs typeface="Consolas" pitchFamily="49" charset="0"/>
                </a:endParaRPr>
              </a:p>
            </p:txBody>
          </p:sp>
        </p:grpSp>
        <p:grpSp>
          <p:nvGrpSpPr>
            <p:cNvPr id="74" name="Group 85">
              <a:extLst>
                <a:ext uri="{FF2B5EF4-FFF2-40B4-BE49-F238E27FC236}">
                  <a16:creationId xmlns:a16="http://schemas.microsoft.com/office/drawing/2014/main" id="{96A8D43D-CD54-B2F1-DCCF-E85888A500F9}"/>
                </a:ext>
              </a:extLst>
            </p:cNvPr>
            <p:cNvGrpSpPr>
              <a:grpSpLocks/>
            </p:cNvGrpSpPr>
            <p:nvPr/>
          </p:nvGrpSpPr>
          <p:grpSpPr bwMode="auto">
            <a:xfrm>
              <a:off x="4572005" y="3430588"/>
              <a:ext cx="936626" cy="395287"/>
              <a:chOff x="2880" y="1617"/>
              <a:chExt cx="590" cy="249"/>
            </a:xfrm>
          </p:grpSpPr>
          <p:sp>
            <p:nvSpPr>
              <p:cNvPr id="88" name="Rectangle 86">
                <a:extLst>
                  <a:ext uri="{FF2B5EF4-FFF2-40B4-BE49-F238E27FC236}">
                    <a16:creationId xmlns:a16="http://schemas.microsoft.com/office/drawing/2014/main" id="{E594FBDA-BF2F-7AAE-B1FF-1AF0EE853416}"/>
                  </a:ext>
                </a:extLst>
              </p:cNvPr>
              <p:cNvSpPr>
                <a:spLocks noChangeArrowheads="1"/>
              </p:cNvSpPr>
              <p:nvPr/>
            </p:nvSpPr>
            <p:spPr bwMode="auto">
              <a:xfrm>
                <a:off x="2880" y="1617"/>
                <a:ext cx="317" cy="249"/>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anchor="ctr"/>
              <a:lstStyle/>
              <a:p>
                <a:r>
                  <a:rPr lang="en-US" altLang="zh-CN" sz="1800">
                    <a:solidFill>
                      <a:srgbClr val="0000CC"/>
                    </a:solidFill>
                    <a:latin typeface="Consolas" pitchFamily="49" charset="0"/>
                    <a:cs typeface="Consolas" pitchFamily="49" charset="0"/>
                  </a:rPr>
                  <a:t>0</a:t>
                </a:r>
              </a:p>
            </p:txBody>
          </p:sp>
          <p:sp>
            <p:nvSpPr>
              <p:cNvPr id="89" name="Rectangle 87">
                <a:extLst>
                  <a:ext uri="{FF2B5EF4-FFF2-40B4-BE49-F238E27FC236}">
                    <a16:creationId xmlns:a16="http://schemas.microsoft.com/office/drawing/2014/main" id="{9544524C-158E-66D9-F6EE-B41DE2A276FC}"/>
                  </a:ext>
                </a:extLst>
              </p:cNvPr>
              <p:cNvSpPr>
                <a:spLocks noChangeArrowheads="1"/>
              </p:cNvSpPr>
              <p:nvPr/>
            </p:nvSpPr>
            <p:spPr bwMode="auto">
              <a:xfrm>
                <a:off x="3198" y="1617"/>
                <a:ext cx="272" cy="249"/>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anchor="ctr"/>
              <a:lstStyle/>
              <a:p>
                <a:endParaRPr lang="zh-CN" altLang="zh-CN" sz="1800">
                  <a:latin typeface="Consolas" pitchFamily="49" charset="0"/>
                  <a:cs typeface="Consolas" pitchFamily="49" charset="0"/>
                </a:endParaRPr>
              </a:p>
            </p:txBody>
          </p:sp>
        </p:grpSp>
        <p:grpSp>
          <p:nvGrpSpPr>
            <p:cNvPr id="75" name="Group 88">
              <a:extLst>
                <a:ext uri="{FF2B5EF4-FFF2-40B4-BE49-F238E27FC236}">
                  <a16:creationId xmlns:a16="http://schemas.microsoft.com/office/drawing/2014/main" id="{C16911A5-4FA3-1D71-42DF-AC9E94DBDBC3}"/>
                </a:ext>
              </a:extLst>
            </p:cNvPr>
            <p:cNvGrpSpPr>
              <a:grpSpLocks/>
            </p:cNvGrpSpPr>
            <p:nvPr/>
          </p:nvGrpSpPr>
          <p:grpSpPr bwMode="auto">
            <a:xfrm>
              <a:off x="5691194" y="3430588"/>
              <a:ext cx="936626" cy="395287"/>
              <a:chOff x="3585" y="1617"/>
              <a:chExt cx="590" cy="249"/>
            </a:xfrm>
          </p:grpSpPr>
          <p:sp>
            <p:nvSpPr>
              <p:cNvPr id="86" name="Rectangle 89">
                <a:extLst>
                  <a:ext uri="{FF2B5EF4-FFF2-40B4-BE49-F238E27FC236}">
                    <a16:creationId xmlns:a16="http://schemas.microsoft.com/office/drawing/2014/main" id="{E4A6FA5A-C728-49BA-D3A3-F3622E779316}"/>
                  </a:ext>
                </a:extLst>
              </p:cNvPr>
              <p:cNvSpPr>
                <a:spLocks noChangeArrowheads="1"/>
              </p:cNvSpPr>
              <p:nvPr/>
            </p:nvSpPr>
            <p:spPr bwMode="auto">
              <a:xfrm>
                <a:off x="3585" y="1617"/>
                <a:ext cx="317" cy="249"/>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anchor="ctr"/>
              <a:lstStyle/>
              <a:p>
                <a:r>
                  <a:rPr lang="en-US" altLang="zh-CN" sz="1800">
                    <a:solidFill>
                      <a:srgbClr val="0000CC"/>
                    </a:solidFill>
                    <a:latin typeface="Consolas" pitchFamily="49" charset="0"/>
                    <a:cs typeface="Consolas" pitchFamily="49" charset="0"/>
                  </a:rPr>
                  <a:t>2</a:t>
                </a:r>
              </a:p>
            </p:txBody>
          </p:sp>
          <p:sp>
            <p:nvSpPr>
              <p:cNvPr id="87" name="Rectangle 90">
                <a:extLst>
                  <a:ext uri="{FF2B5EF4-FFF2-40B4-BE49-F238E27FC236}">
                    <a16:creationId xmlns:a16="http://schemas.microsoft.com/office/drawing/2014/main" id="{13EEDC25-94E1-641F-4869-552247B7370A}"/>
                  </a:ext>
                </a:extLst>
              </p:cNvPr>
              <p:cNvSpPr>
                <a:spLocks noChangeArrowheads="1"/>
              </p:cNvSpPr>
              <p:nvPr/>
            </p:nvSpPr>
            <p:spPr bwMode="auto">
              <a:xfrm>
                <a:off x="3903" y="1617"/>
                <a:ext cx="272" cy="249"/>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anchor="ctr"/>
              <a:lstStyle/>
              <a:p>
                <a:endParaRPr lang="zh-CN" altLang="zh-CN" sz="1800">
                  <a:latin typeface="Consolas" pitchFamily="49" charset="0"/>
                  <a:cs typeface="Consolas" pitchFamily="49" charset="0"/>
                </a:endParaRPr>
              </a:p>
            </p:txBody>
          </p:sp>
        </p:grpSp>
        <p:grpSp>
          <p:nvGrpSpPr>
            <p:cNvPr id="76" name="Group 91">
              <a:extLst>
                <a:ext uri="{FF2B5EF4-FFF2-40B4-BE49-F238E27FC236}">
                  <a16:creationId xmlns:a16="http://schemas.microsoft.com/office/drawing/2014/main" id="{88A0DD36-88C6-0EE5-52A3-CA23F09B003D}"/>
                </a:ext>
              </a:extLst>
            </p:cNvPr>
            <p:cNvGrpSpPr>
              <a:grpSpLocks/>
            </p:cNvGrpSpPr>
            <p:nvPr/>
          </p:nvGrpSpPr>
          <p:grpSpPr bwMode="auto">
            <a:xfrm>
              <a:off x="6808796" y="3430588"/>
              <a:ext cx="936626" cy="395287"/>
              <a:chOff x="4289" y="1617"/>
              <a:chExt cx="590" cy="249"/>
            </a:xfrm>
          </p:grpSpPr>
          <p:sp>
            <p:nvSpPr>
              <p:cNvPr id="84" name="Rectangle 92">
                <a:extLst>
                  <a:ext uri="{FF2B5EF4-FFF2-40B4-BE49-F238E27FC236}">
                    <a16:creationId xmlns:a16="http://schemas.microsoft.com/office/drawing/2014/main" id="{3479903B-4CD0-30CE-8320-8AB3E1BE0185}"/>
                  </a:ext>
                </a:extLst>
              </p:cNvPr>
              <p:cNvSpPr>
                <a:spLocks noChangeArrowheads="1"/>
              </p:cNvSpPr>
              <p:nvPr/>
            </p:nvSpPr>
            <p:spPr bwMode="auto">
              <a:xfrm>
                <a:off x="4289" y="1617"/>
                <a:ext cx="317" cy="249"/>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anchor="ctr"/>
              <a:lstStyle/>
              <a:p>
                <a:r>
                  <a:rPr lang="en-US" altLang="zh-CN" sz="1800">
                    <a:solidFill>
                      <a:srgbClr val="0000CC"/>
                    </a:solidFill>
                    <a:latin typeface="Consolas" pitchFamily="49" charset="0"/>
                    <a:cs typeface="Consolas" pitchFamily="49" charset="0"/>
                  </a:rPr>
                  <a:t>3</a:t>
                </a:r>
              </a:p>
            </p:txBody>
          </p:sp>
          <p:sp>
            <p:nvSpPr>
              <p:cNvPr id="85" name="Rectangle 93">
                <a:extLst>
                  <a:ext uri="{FF2B5EF4-FFF2-40B4-BE49-F238E27FC236}">
                    <a16:creationId xmlns:a16="http://schemas.microsoft.com/office/drawing/2014/main" id="{AE68A3C7-44DC-A585-6FC2-B35EB0E6E433}"/>
                  </a:ext>
                </a:extLst>
              </p:cNvPr>
              <p:cNvSpPr>
                <a:spLocks noChangeArrowheads="1"/>
              </p:cNvSpPr>
              <p:nvPr/>
            </p:nvSpPr>
            <p:spPr bwMode="auto">
              <a:xfrm>
                <a:off x="4607" y="1617"/>
                <a:ext cx="272" cy="249"/>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anchor="ctr"/>
              <a:lstStyle/>
              <a:p>
                <a:r>
                  <a:rPr lang="en-US" altLang="zh-CN" sz="1800">
                    <a:solidFill>
                      <a:srgbClr val="0000CC"/>
                    </a:solidFill>
                    <a:latin typeface="Consolas" pitchFamily="49" charset="0"/>
                    <a:cs typeface="Consolas" pitchFamily="49" charset="0"/>
                  </a:rPr>
                  <a:t>∧</a:t>
                </a:r>
              </a:p>
            </p:txBody>
          </p:sp>
        </p:grpSp>
        <p:sp>
          <p:nvSpPr>
            <p:cNvPr id="77" name="Line 94">
              <a:extLst>
                <a:ext uri="{FF2B5EF4-FFF2-40B4-BE49-F238E27FC236}">
                  <a16:creationId xmlns:a16="http://schemas.microsoft.com/office/drawing/2014/main" id="{FB40978E-C1FC-4050-D0D7-B732A426612C}"/>
                </a:ext>
              </a:extLst>
            </p:cNvPr>
            <p:cNvSpPr>
              <a:spLocks noChangeShapeType="1"/>
            </p:cNvSpPr>
            <p:nvPr/>
          </p:nvSpPr>
          <p:spPr bwMode="auto">
            <a:xfrm>
              <a:off x="3995738" y="3646488"/>
              <a:ext cx="576262" cy="0"/>
            </a:xfrm>
            <a:prstGeom prst="line">
              <a:avLst/>
            </a:prstGeom>
            <a:noFill/>
            <a:ln w="28575">
              <a:solidFill>
                <a:srgbClr val="3333FF"/>
              </a:solidFill>
              <a:round/>
              <a:headEnd/>
              <a:tailEnd type="triangle" w="med" len="lg"/>
            </a:ln>
          </p:spPr>
          <p:txBody>
            <a:bodyPr wrap="none"/>
            <a:lstStyle/>
            <a:p>
              <a:endParaRPr lang="zh-CN" altLang="en-US" sz="1800">
                <a:latin typeface="Consolas" pitchFamily="49" charset="0"/>
                <a:cs typeface="Consolas" pitchFamily="49" charset="0"/>
              </a:endParaRPr>
            </a:p>
          </p:txBody>
        </p:sp>
        <p:sp>
          <p:nvSpPr>
            <p:cNvPr id="78" name="Line 95">
              <a:extLst>
                <a:ext uri="{FF2B5EF4-FFF2-40B4-BE49-F238E27FC236}">
                  <a16:creationId xmlns:a16="http://schemas.microsoft.com/office/drawing/2014/main" id="{1AF32E22-88F4-BE71-0771-A448F283153F}"/>
                </a:ext>
              </a:extLst>
            </p:cNvPr>
            <p:cNvSpPr>
              <a:spLocks noChangeShapeType="1"/>
            </p:cNvSpPr>
            <p:nvPr/>
          </p:nvSpPr>
          <p:spPr bwMode="auto">
            <a:xfrm>
              <a:off x="5338763" y="3636963"/>
              <a:ext cx="360362" cy="0"/>
            </a:xfrm>
            <a:prstGeom prst="line">
              <a:avLst/>
            </a:prstGeom>
            <a:noFill/>
            <a:ln w="28575">
              <a:solidFill>
                <a:srgbClr val="3333FF"/>
              </a:solidFill>
              <a:round/>
              <a:headEnd/>
              <a:tailEnd type="triangle" w="med" len="lg"/>
            </a:ln>
          </p:spPr>
          <p:txBody>
            <a:bodyPr wrap="none"/>
            <a:lstStyle/>
            <a:p>
              <a:endParaRPr lang="zh-CN" altLang="en-US" sz="1800">
                <a:latin typeface="Consolas" pitchFamily="49" charset="0"/>
                <a:cs typeface="Consolas" pitchFamily="49" charset="0"/>
              </a:endParaRPr>
            </a:p>
          </p:txBody>
        </p:sp>
        <p:sp>
          <p:nvSpPr>
            <p:cNvPr id="79" name="Line 96">
              <a:extLst>
                <a:ext uri="{FF2B5EF4-FFF2-40B4-BE49-F238E27FC236}">
                  <a16:creationId xmlns:a16="http://schemas.microsoft.com/office/drawing/2014/main" id="{B15432BF-40FA-0AB5-75C9-EBAD63B98778}"/>
                </a:ext>
              </a:extLst>
            </p:cNvPr>
            <p:cNvSpPr>
              <a:spLocks noChangeShapeType="1"/>
            </p:cNvSpPr>
            <p:nvPr/>
          </p:nvSpPr>
          <p:spPr bwMode="auto">
            <a:xfrm>
              <a:off x="6461125" y="3646488"/>
              <a:ext cx="360363" cy="0"/>
            </a:xfrm>
            <a:prstGeom prst="line">
              <a:avLst/>
            </a:prstGeom>
            <a:noFill/>
            <a:ln w="28575">
              <a:solidFill>
                <a:srgbClr val="3333FF"/>
              </a:solidFill>
              <a:round/>
              <a:headEnd/>
              <a:tailEnd type="triangle" w="med" len="lg"/>
            </a:ln>
          </p:spPr>
          <p:txBody>
            <a:bodyPr wrap="none"/>
            <a:lstStyle/>
            <a:p>
              <a:endParaRPr lang="zh-CN" altLang="en-US" sz="1800">
                <a:latin typeface="Consolas" pitchFamily="49" charset="0"/>
                <a:cs typeface="Consolas" pitchFamily="49" charset="0"/>
              </a:endParaRPr>
            </a:p>
          </p:txBody>
        </p:sp>
        <p:grpSp>
          <p:nvGrpSpPr>
            <p:cNvPr id="80" name="Group 97">
              <a:extLst>
                <a:ext uri="{FF2B5EF4-FFF2-40B4-BE49-F238E27FC236}">
                  <a16:creationId xmlns:a16="http://schemas.microsoft.com/office/drawing/2014/main" id="{847FD311-683F-A959-69BA-1CF399EA4C78}"/>
                </a:ext>
              </a:extLst>
            </p:cNvPr>
            <p:cNvGrpSpPr>
              <a:grpSpLocks/>
            </p:cNvGrpSpPr>
            <p:nvPr/>
          </p:nvGrpSpPr>
          <p:grpSpPr bwMode="auto">
            <a:xfrm>
              <a:off x="7956559" y="2924175"/>
              <a:ext cx="936626" cy="395288"/>
              <a:chOff x="5012" y="1298"/>
              <a:chExt cx="590" cy="249"/>
            </a:xfrm>
          </p:grpSpPr>
          <p:sp>
            <p:nvSpPr>
              <p:cNvPr id="82" name="Rectangle 98">
                <a:extLst>
                  <a:ext uri="{FF2B5EF4-FFF2-40B4-BE49-F238E27FC236}">
                    <a16:creationId xmlns:a16="http://schemas.microsoft.com/office/drawing/2014/main" id="{C10BD8B6-2E88-E234-D818-3C4CA733031A}"/>
                  </a:ext>
                </a:extLst>
              </p:cNvPr>
              <p:cNvSpPr>
                <a:spLocks noChangeArrowheads="1"/>
              </p:cNvSpPr>
              <p:nvPr/>
            </p:nvSpPr>
            <p:spPr bwMode="auto">
              <a:xfrm>
                <a:off x="5012" y="1298"/>
                <a:ext cx="317" cy="249"/>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anchor="ctr"/>
              <a:lstStyle/>
              <a:p>
                <a:r>
                  <a:rPr lang="en-US" altLang="zh-CN" sz="1800">
                    <a:solidFill>
                      <a:srgbClr val="0000CC"/>
                    </a:solidFill>
                    <a:latin typeface="Consolas" pitchFamily="49" charset="0"/>
                    <a:cs typeface="Consolas" pitchFamily="49" charset="0"/>
                  </a:rPr>
                  <a:t>4</a:t>
                </a:r>
              </a:p>
            </p:txBody>
          </p:sp>
          <p:sp>
            <p:nvSpPr>
              <p:cNvPr id="83" name="Rectangle 99">
                <a:extLst>
                  <a:ext uri="{FF2B5EF4-FFF2-40B4-BE49-F238E27FC236}">
                    <a16:creationId xmlns:a16="http://schemas.microsoft.com/office/drawing/2014/main" id="{AD8D34CC-E973-4032-23FF-482C811CB1B1}"/>
                  </a:ext>
                </a:extLst>
              </p:cNvPr>
              <p:cNvSpPr>
                <a:spLocks noChangeArrowheads="1"/>
              </p:cNvSpPr>
              <p:nvPr/>
            </p:nvSpPr>
            <p:spPr bwMode="auto">
              <a:xfrm>
                <a:off x="5330" y="1298"/>
                <a:ext cx="272" cy="249"/>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anchor="ctr"/>
              <a:lstStyle/>
              <a:p>
                <a:r>
                  <a:rPr lang="en-US" altLang="zh-CN" sz="1800">
                    <a:solidFill>
                      <a:srgbClr val="0000CC"/>
                    </a:solidFill>
                    <a:latin typeface="Consolas" pitchFamily="49" charset="0"/>
                    <a:cs typeface="Consolas" pitchFamily="49" charset="0"/>
                  </a:rPr>
                  <a:t>∧</a:t>
                </a:r>
              </a:p>
            </p:txBody>
          </p:sp>
        </p:grpSp>
        <p:sp>
          <p:nvSpPr>
            <p:cNvPr id="81" name="Line 100">
              <a:extLst>
                <a:ext uri="{FF2B5EF4-FFF2-40B4-BE49-F238E27FC236}">
                  <a16:creationId xmlns:a16="http://schemas.microsoft.com/office/drawing/2014/main" id="{B7298C91-01DD-1090-3560-06D601E01EA9}"/>
                </a:ext>
              </a:extLst>
            </p:cNvPr>
            <p:cNvSpPr>
              <a:spLocks noChangeShapeType="1"/>
            </p:cNvSpPr>
            <p:nvPr/>
          </p:nvSpPr>
          <p:spPr bwMode="auto">
            <a:xfrm>
              <a:off x="7608888" y="3140075"/>
              <a:ext cx="360362" cy="0"/>
            </a:xfrm>
            <a:prstGeom prst="line">
              <a:avLst/>
            </a:prstGeom>
            <a:noFill/>
            <a:ln w="28575">
              <a:solidFill>
                <a:srgbClr val="3333FF"/>
              </a:solidFill>
              <a:round/>
              <a:headEnd/>
              <a:tailEnd type="triangle" w="med" len="lg"/>
            </a:ln>
          </p:spPr>
          <p:txBody>
            <a:bodyPr wrap="none"/>
            <a:lstStyle/>
            <a:p>
              <a:endParaRPr lang="zh-CN" altLang="en-US" sz="1800">
                <a:latin typeface="Consolas" pitchFamily="49" charset="0"/>
                <a:cs typeface="Consolas" pitchFamily="49" charset="0"/>
              </a:endParaRPr>
            </a:p>
          </p:txBody>
        </p:sp>
      </p:grpSp>
      <p:grpSp>
        <p:nvGrpSpPr>
          <p:cNvPr id="125" name="组合 126">
            <a:extLst>
              <a:ext uri="{FF2B5EF4-FFF2-40B4-BE49-F238E27FC236}">
                <a16:creationId xmlns:a16="http://schemas.microsoft.com/office/drawing/2014/main" id="{A6D08D2F-8AAF-5DB4-ED1D-38ACEF87FB9E}"/>
              </a:ext>
            </a:extLst>
          </p:cNvPr>
          <p:cNvGrpSpPr/>
          <p:nvPr/>
        </p:nvGrpSpPr>
        <p:grpSpPr>
          <a:xfrm>
            <a:off x="6537385" y="5256134"/>
            <a:ext cx="4760967" cy="724263"/>
            <a:chOff x="3019924" y="5429264"/>
            <a:chExt cx="4923930" cy="724263"/>
          </a:xfrm>
        </p:grpSpPr>
        <p:sp>
          <p:nvSpPr>
            <p:cNvPr id="126" name="TextBox 124">
              <a:extLst>
                <a:ext uri="{FF2B5EF4-FFF2-40B4-BE49-F238E27FC236}">
                  <a16:creationId xmlns:a16="http://schemas.microsoft.com/office/drawing/2014/main" id="{AE10A437-4C33-D6E7-1C06-0CA0EEA6AB84}"/>
                </a:ext>
              </a:extLst>
            </p:cNvPr>
            <p:cNvSpPr txBox="1"/>
            <p:nvPr/>
          </p:nvSpPr>
          <p:spPr>
            <a:xfrm>
              <a:off x="3019924" y="5753417"/>
              <a:ext cx="4923930" cy="400110"/>
            </a:xfrm>
            <a:prstGeom prst="rect">
              <a:avLst/>
            </a:prstGeom>
            <a:noFill/>
          </p:spPr>
          <p:txBody>
            <a:bodyPr wrap="square" rtlCol="0">
              <a:spAutoFit/>
            </a:bodyPr>
            <a:lstStyle/>
            <a:p>
              <a:pPr algn="l"/>
              <a:r>
                <a:rPr lang="en-US" altLang="zh-CN" sz="2000">
                  <a:solidFill>
                    <a:srgbClr val="FF0000"/>
                  </a:solidFill>
                  <a:latin typeface="Consolas" pitchFamily="49" charset="0"/>
                  <a:ea typeface="方正启体简体" pitchFamily="65" charset="-122"/>
                  <a:cs typeface="Consolas" pitchFamily="49" charset="0"/>
                </a:rPr>
                <a:t>BFS</a:t>
              </a:r>
              <a:r>
                <a:rPr lang="zh-CN" altLang="en-US" sz="2000">
                  <a:solidFill>
                    <a:srgbClr val="FF0000"/>
                  </a:solidFill>
                  <a:latin typeface="Consolas" pitchFamily="49" charset="0"/>
                  <a:ea typeface="方正启体简体" pitchFamily="65" charset="-122"/>
                  <a:cs typeface="Consolas" pitchFamily="49" charset="0"/>
                </a:rPr>
                <a:t>思路：</a:t>
              </a:r>
              <a:r>
                <a:rPr lang="zh-CN" altLang="en-US" sz="2000">
                  <a:solidFill>
                    <a:srgbClr val="0000FF"/>
                  </a:solidFill>
                  <a:latin typeface="Consolas" pitchFamily="49" charset="0"/>
                  <a:ea typeface="方正启体简体" pitchFamily="65" charset="-122"/>
                  <a:cs typeface="Consolas" pitchFamily="49" charset="0"/>
                </a:rPr>
                <a:t>距离初始顶点</a:t>
              </a:r>
              <a:r>
                <a:rPr lang="zh-CN" altLang="en-US" sz="2000">
                  <a:solidFill>
                    <a:srgbClr val="FF00FF"/>
                  </a:solidFill>
                  <a:latin typeface="Consolas" pitchFamily="49" charset="0"/>
                  <a:ea typeface="方正启体简体" pitchFamily="65" charset="-122"/>
                  <a:cs typeface="Consolas" pitchFamily="49" charset="0"/>
                </a:rPr>
                <a:t>越近越优先</a:t>
              </a:r>
              <a:r>
                <a:rPr lang="zh-CN" altLang="en-US" sz="2000">
                  <a:solidFill>
                    <a:srgbClr val="0000FF"/>
                  </a:solidFill>
                  <a:latin typeface="Consolas" pitchFamily="49" charset="0"/>
                  <a:ea typeface="方正启体简体" pitchFamily="65" charset="-122"/>
                  <a:cs typeface="Consolas" pitchFamily="49" charset="0"/>
                </a:rPr>
                <a:t>访问！</a:t>
              </a:r>
            </a:p>
          </p:txBody>
        </p:sp>
        <p:sp>
          <p:nvSpPr>
            <p:cNvPr id="127" name="下箭头 125">
              <a:extLst>
                <a:ext uri="{FF2B5EF4-FFF2-40B4-BE49-F238E27FC236}">
                  <a16:creationId xmlns:a16="http://schemas.microsoft.com/office/drawing/2014/main" id="{42192300-4536-E35B-7CDB-EEE1C7CE4E95}"/>
                </a:ext>
              </a:extLst>
            </p:cNvPr>
            <p:cNvSpPr/>
            <p:nvPr/>
          </p:nvSpPr>
          <p:spPr>
            <a:xfrm>
              <a:off x="5067300" y="5429264"/>
              <a:ext cx="142876" cy="288000"/>
            </a:xfrm>
            <a:prstGeom prst="downArrow">
              <a:avLst/>
            </a:prstGeom>
          </p:spPr>
          <p:style>
            <a:lnRef idx="0">
              <a:schemeClr val="accent5"/>
            </a:lnRef>
            <a:fillRef idx="3">
              <a:schemeClr val="accent5"/>
            </a:fillRef>
            <a:effectRef idx="3">
              <a:schemeClr val="accent5"/>
            </a:effectRef>
            <a:fontRef idx="minor">
              <a:schemeClr val="lt1"/>
            </a:fontRef>
          </p:style>
          <p:txBody>
            <a:bodyPr rtlCol="0" anchor="ctr"/>
            <a:lstStyle/>
            <a:p>
              <a:pPr algn="ctr"/>
              <a:endParaRPr lang="zh-CN" altLang="en-US" sz="2000">
                <a:latin typeface="Consolas" pitchFamily="49" charset="0"/>
                <a:cs typeface="Consolas" pitchFamily="49" charset="0"/>
              </a:endParaRPr>
            </a:p>
          </p:txBody>
        </p:sp>
      </p:grpSp>
      <p:cxnSp>
        <p:nvCxnSpPr>
          <p:cNvPr id="128" name="直接连接符 127">
            <a:extLst>
              <a:ext uri="{FF2B5EF4-FFF2-40B4-BE49-F238E27FC236}">
                <a16:creationId xmlns:a16="http://schemas.microsoft.com/office/drawing/2014/main" id="{016014EE-E360-06AF-2FB0-71FD5632D5D2}"/>
              </a:ext>
            </a:extLst>
          </p:cNvPr>
          <p:cNvCxnSpPr/>
          <p:nvPr/>
        </p:nvCxnSpPr>
        <p:spPr>
          <a:xfrm rot="5400000">
            <a:off x="382703" y="3833778"/>
            <a:ext cx="2643206" cy="1588"/>
          </a:xfrm>
          <a:prstGeom prst="line">
            <a:avLst/>
          </a:prstGeom>
          <a:ln w="28575">
            <a:solidFill>
              <a:srgbClr val="00B050"/>
            </a:solidFill>
            <a:prstDash val="dash"/>
          </a:ln>
        </p:spPr>
        <p:style>
          <a:lnRef idx="1">
            <a:schemeClr val="accent1"/>
          </a:lnRef>
          <a:fillRef idx="0">
            <a:schemeClr val="accent1"/>
          </a:fillRef>
          <a:effectRef idx="0">
            <a:schemeClr val="accent1"/>
          </a:effectRef>
          <a:fontRef idx="minor">
            <a:schemeClr val="tx1"/>
          </a:fontRef>
        </p:style>
      </p:cxnSp>
      <p:cxnSp>
        <p:nvCxnSpPr>
          <p:cNvPr id="129" name="直接连接符 128">
            <a:extLst>
              <a:ext uri="{FF2B5EF4-FFF2-40B4-BE49-F238E27FC236}">
                <a16:creationId xmlns:a16="http://schemas.microsoft.com/office/drawing/2014/main" id="{2CF232A7-E0AD-CCBD-4848-35AF36F47347}"/>
              </a:ext>
            </a:extLst>
          </p:cNvPr>
          <p:cNvCxnSpPr/>
          <p:nvPr/>
        </p:nvCxnSpPr>
        <p:spPr>
          <a:xfrm rot="5400000">
            <a:off x="1312986" y="3833778"/>
            <a:ext cx="2643206" cy="1588"/>
          </a:xfrm>
          <a:prstGeom prst="line">
            <a:avLst/>
          </a:prstGeom>
          <a:ln w="28575">
            <a:solidFill>
              <a:srgbClr val="00B050"/>
            </a:solidFill>
            <a:prstDash val="dash"/>
          </a:ln>
        </p:spPr>
        <p:style>
          <a:lnRef idx="1">
            <a:schemeClr val="accent1"/>
          </a:lnRef>
          <a:fillRef idx="0">
            <a:schemeClr val="accent1"/>
          </a:fillRef>
          <a:effectRef idx="0">
            <a:schemeClr val="accent1"/>
          </a:effectRef>
          <a:fontRef idx="minor">
            <a:schemeClr val="tx1"/>
          </a:fontRef>
        </p:style>
      </p:cxnSp>
      <p:cxnSp>
        <p:nvCxnSpPr>
          <p:cNvPr id="130" name="直接连接符 129">
            <a:extLst>
              <a:ext uri="{FF2B5EF4-FFF2-40B4-BE49-F238E27FC236}">
                <a16:creationId xmlns:a16="http://schemas.microsoft.com/office/drawing/2014/main" id="{D0D73870-99D7-C0C7-2046-1107DD3F02A7}"/>
              </a:ext>
            </a:extLst>
          </p:cNvPr>
          <p:cNvCxnSpPr/>
          <p:nvPr/>
        </p:nvCxnSpPr>
        <p:spPr>
          <a:xfrm rot="5400000">
            <a:off x="2382968" y="3833778"/>
            <a:ext cx="2643206" cy="1588"/>
          </a:xfrm>
          <a:prstGeom prst="line">
            <a:avLst/>
          </a:prstGeom>
          <a:ln w="28575">
            <a:solidFill>
              <a:srgbClr val="00B050"/>
            </a:solidFill>
            <a:prstDash val="dash"/>
          </a:ln>
        </p:spPr>
        <p:style>
          <a:lnRef idx="1">
            <a:schemeClr val="accent1"/>
          </a:lnRef>
          <a:fillRef idx="0">
            <a:schemeClr val="accent1"/>
          </a:fillRef>
          <a:effectRef idx="0">
            <a:schemeClr val="accent1"/>
          </a:effectRef>
          <a:fontRef idx="minor">
            <a:schemeClr val="tx1"/>
          </a:fontRef>
        </p:style>
      </p:cxnSp>
      <p:sp>
        <p:nvSpPr>
          <p:cNvPr id="132" name="文本框 131">
            <a:extLst>
              <a:ext uri="{FF2B5EF4-FFF2-40B4-BE49-F238E27FC236}">
                <a16:creationId xmlns:a16="http://schemas.microsoft.com/office/drawing/2014/main" id="{E72CF9A0-6298-16A9-C820-E6FBEFC591D8}"/>
              </a:ext>
            </a:extLst>
          </p:cNvPr>
          <p:cNvSpPr txBox="1"/>
          <p:nvPr/>
        </p:nvSpPr>
        <p:spPr>
          <a:xfrm>
            <a:off x="1358368" y="1856794"/>
            <a:ext cx="3369480" cy="461665"/>
          </a:xfrm>
          <a:prstGeom prst="rect">
            <a:avLst/>
          </a:prstGeom>
          <a:noFill/>
        </p:spPr>
        <p:txBody>
          <a:bodyPr wrap="square">
            <a:spAutoFit/>
          </a:bodyPr>
          <a:lstStyle/>
          <a:p>
            <a:r>
              <a:rPr kumimoji="1" lang="zh-CN" altLang="en-US" sz="2400" dirty="0">
                <a:latin typeface="微软雅黑" pitchFamily="34" charset="-122"/>
                <a:ea typeface="微软雅黑" pitchFamily="34" charset="-122"/>
                <a:cs typeface="经典粗黑简" pitchFamily="49" charset="-122"/>
              </a:rPr>
              <a:t>广度优先遍历过程演示</a:t>
            </a:r>
          </a:p>
        </p:txBody>
      </p:sp>
    </p:spTree>
    <p:extLst>
      <p:ext uri="{BB962C8B-B14F-4D97-AF65-F5344CB8AC3E}">
        <p14:creationId xmlns:p14="http://schemas.microsoft.com/office/powerpoint/2010/main" val="31974466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1"/>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8"/>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2"/>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3"/>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4"/>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8" presetClass="entr" presetSubtype="12" fill="hold" nodeType="clickEffect">
                                  <p:stCondLst>
                                    <p:cond delay="0"/>
                                  </p:stCondLst>
                                  <p:childTnLst>
                                    <p:set>
                                      <p:cBhvr>
                                        <p:cTn id="54" dur="1" fill="hold">
                                          <p:stCondLst>
                                            <p:cond delay="0"/>
                                          </p:stCondLst>
                                        </p:cTn>
                                        <p:tgtEl>
                                          <p:spTgt spid="128"/>
                                        </p:tgtEl>
                                        <p:attrNameLst>
                                          <p:attrName>style.visibility</p:attrName>
                                        </p:attrNameLst>
                                      </p:cBhvr>
                                      <p:to>
                                        <p:strVal val="visible"/>
                                      </p:to>
                                    </p:set>
                                    <p:animEffect transition="in" filter="strips(downLeft)">
                                      <p:cBhvr>
                                        <p:cTn id="55" dur="1000"/>
                                        <p:tgtEl>
                                          <p:spTgt spid="128"/>
                                        </p:tgtEl>
                                      </p:cBhvr>
                                    </p:animEffect>
                                  </p:childTnLst>
                                </p:cTn>
                              </p:par>
                            </p:childTnLst>
                          </p:cTn>
                        </p:par>
                        <p:par>
                          <p:cTn id="56" fill="hold">
                            <p:stCondLst>
                              <p:cond delay="1000"/>
                            </p:stCondLst>
                            <p:childTnLst>
                              <p:par>
                                <p:cTn id="57" presetID="18" presetClass="entr" presetSubtype="12" fill="hold" nodeType="afterEffect">
                                  <p:stCondLst>
                                    <p:cond delay="0"/>
                                  </p:stCondLst>
                                  <p:childTnLst>
                                    <p:set>
                                      <p:cBhvr>
                                        <p:cTn id="58" dur="1" fill="hold">
                                          <p:stCondLst>
                                            <p:cond delay="0"/>
                                          </p:stCondLst>
                                        </p:cTn>
                                        <p:tgtEl>
                                          <p:spTgt spid="129"/>
                                        </p:tgtEl>
                                        <p:attrNameLst>
                                          <p:attrName>style.visibility</p:attrName>
                                        </p:attrNameLst>
                                      </p:cBhvr>
                                      <p:to>
                                        <p:strVal val="visible"/>
                                      </p:to>
                                    </p:set>
                                    <p:animEffect transition="in" filter="strips(downLeft)">
                                      <p:cBhvr>
                                        <p:cTn id="59" dur="1000"/>
                                        <p:tgtEl>
                                          <p:spTgt spid="129"/>
                                        </p:tgtEl>
                                      </p:cBhvr>
                                    </p:animEffect>
                                  </p:childTnLst>
                                </p:cTn>
                              </p:par>
                            </p:childTnLst>
                          </p:cTn>
                        </p:par>
                        <p:par>
                          <p:cTn id="60" fill="hold">
                            <p:stCondLst>
                              <p:cond delay="2000"/>
                            </p:stCondLst>
                            <p:childTnLst>
                              <p:par>
                                <p:cTn id="61" presetID="18" presetClass="entr" presetSubtype="12" fill="hold" nodeType="afterEffect">
                                  <p:stCondLst>
                                    <p:cond delay="0"/>
                                  </p:stCondLst>
                                  <p:childTnLst>
                                    <p:set>
                                      <p:cBhvr>
                                        <p:cTn id="62" dur="1" fill="hold">
                                          <p:stCondLst>
                                            <p:cond delay="0"/>
                                          </p:stCondLst>
                                        </p:cTn>
                                        <p:tgtEl>
                                          <p:spTgt spid="130"/>
                                        </p:tgtEl>
                                        <p:attrNameLst>
                                          <p:attrName>style.visibility</p:attrName>
                                        </p:attrNameLst>
                                      </p:cBhvr>
                                      <p:to>
                                        <p:strVal val="visible"/>
                                      </p:to>
                                    </p:set>
                                    <p:animEffect transition="in" filter="strips(downLeft)">
                                      <p:cBhvr>
                                        <p:cTn id="63" dur="1000"/>
                                        <p:tgtEl>
                                          <p:spTgt spid="130"/>
                                        </p:tgtEl>
                                      </p:cBhvr>
                                    </p:animEffect>
                                  </p:childTnLst>
                                </p:cTn>
                              </p:par>
                            </p:childTnLst>
                          </p:cTn>
                        </p:par>
                        <p:par>
                          <p:cTn id="64" fill="hold">
                            <p:stCondLst>
                              <p:cond delay="3000"/>
                            </p:stCondLst>
                            <p:childTnLst>
                              <p:par>
                                <p:cTn id="65" presetID="1" presetClass="entr" presetSubtype="0" fill="hold" nodeType="afterEffect">
                                  <p:stCondLst>
                                    <p:cond delay="0"/>
                                  </p:stCondLst>
                                  <p:childTnLst>
                                    <p:set>
                                      <p:cBhvr>
                                        <p:cTn id="66" dur="1" fill="hold">
                                          <p:stCondLst>
                                            <p:cond delay="0"/>
                                          </p:stCondLst>
                                        </p:cTn>
                                        <p:tgtEl>
                                          <p:spTgt spid="1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1" grpId="0"/>
      <p:bldP spid="12" grpId="0"/>
      <p:bldP spid="13" grpId="0"/>
      <p:bldP spid="14" grpId="0"/>
      <p:bldP spid="30" grpId="0" animBg="1"/>
      <p:bldP spid="31" grpId="0" animBg="1"/>
      <p:bldP spid="32" grpId="0" animBg="1"/>
      <p:bldP spid="33" grpId="0" animBg="1"/>
      <p:bldP spid="34" grpId="0" animBg="1"/>
      <p:bldP spid="35" grpId="0" animBg="1"/>
      <p:bldP spid="36" grpId="0" animBg="1"/>
      <p:bldP spid="37" grpId="0" animBg="1"/>
      <p:bldP spid="38"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530110-B5EE-FA84-975A-3EFC62B407DC}"/>
            </a:ext>
          </a:extLst>
        </p:cNvPr>
        <p:cNvGrpSpPr/>
        <p:nvPr/>
      </p:nvGrpSpPr>
      <p:grpSpPr>
        <a:xfrm>
          <a:off x="0" y="0"/>
          <a:ext cx="0" cy="0"/>
          <a:chOff x="0" y="0"/>
          <a:chExt cx="0" cy="0"/>
        </a:xfrm>
      </p:grpSpPr>
      <p:sp>
        <p:nvSpPr>
          <p:cNvPr id="2" name="Rectangle 2">
            <a:extLst>
              <a:ext uri="{FF2B5EF4-FFF2-40B4-BE49-F238E27FC236}">
                <a16:creationId xmlns:a16="http://schemas.microsoft.com/office/drawing/2014/main" id="{818EDA87-85B4-C16B-6780-C475049A8BA5}"/>
              </a:ext>
            </a:extLst>
          </p:cNvPr>
          <p:cNvSpPr txBox="1">
            <a:spLocks noChangeArrowheads="1"/>
          </p:cNvSpPr>
          <p:nvPr/>
        </p:nvSpPr>
        <p:spPr>
          <a:xfrm>
            <a:off x="474772" y="1230902"/>
            <a:ext cx="4253076"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8.3.3 </a:t>
            </a:r>
            <a:r>
              <a:rPr kumimoji="1" lang="zh-CN" altLang="en-US" dirty="0">
                <a:latin typeface="微软雅黑" pitchFamily="34" charset="-122"/>
                <a:ea typeface="微软雅黑" pitchFamily="34" charset="-122"/>
              </a:rPr>
              <a:t>广度优先遍历算法</a:t>
            </a:r>
            <a:endParaRPr lang="zh-CN" altLang="en-US" dirty="0"/>
          </a:p>
        </p:txBody>
      </p:sp>
      <p:sp>
        <p:nvSpPr>
          <p:cNvPr id="3" name="矩形 2">
            <a:extLst>
              <a:ext uri="{FF2B5EF4-FFF2-40B4-BE49-F238E27FC236}">
                <a16:creationId xmlns:a16="http://schemas.microsoft.com/office/drawing/2014/main" id="{CD331CB0-5548-2115-E94F-ED3A72AA3F5C}"/>
              </a:ext>
            </a:extLst>
          </p:cNvPr>
          <p:cNvSpPr/>
          <p:nvPr/>
        </p:nvSpPr>
        <p:spPr>
          <a:xfrm>
            <a:off x="3200907" y="399148"/>
            <a:ext cx="4617860"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8.3 </a:t>
            </a:r>
            <a:r>
              <a:rPr lang="zh-CN" altLang="en-US" sz="3000" b="1" dirty="0">
                <a:latin typeface="黑体" pitchFamily="49" charset="-122"/>
                <a:ea typeface="黑体" pitchFamily="49" charset="-122"/>
                <a:cs typeface="经典粗黑简" pitchFamily="49" charset="-122"/>
              </a:rPr>
              <a:t>图的遍历</a:t>
            </a:r>
          </a:p>
        </p:txBody>
      </p:sp>
      <p:cxnSp>
        <p:nvCxnSpPr>
          <p:cNvPr id="4" name="直接连接符 3">
            <a:extLst>
              <a:ext uri="{FF2B5EF4-FFF2-40B4-BE49-F238E27FC236}">
                <a16:creationId xmlns:a16="http://schemas.microsoft.com/office/drawing/2014/main" id="{FFFDD80C-7DDC-42C1-61A7-06483A711B99}"/>
              </a:ext>
            </a:extLst>
          </p:cNvPr>
          <p:cNvCxnSpPr>
            <a:cxnSpLocks/>
          </p:cNvCxnSpPr>
          <p:nvPr/>
        </p:nvCxnSpPr>
        <p:spPr>
          <a:xfrm>
            <a:off x="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134" name="TextBox 8">
            <a:extLst>
              <a:ext uri="{FF2B5EF4-FFF2-40B4-BE49-F238E27FC236}">
                <a16:creationId xmlns:a16="http://schemas.microsoft.com/office/drawing/2014/main" id="{67F777B8-97B8-75AF-0F7D-A601E8CE6FBF}"/>
              </a:ext>
            </a:extLst>
          </p:cNvPr>
          <p:cNvSpPr txBox="1"/>
          <p:nvPr/>
        </p:nvSpPr>
        <p:spPr>
          <a:xfrm>
            <a:off x="919404" y="1912212"/>
            <a:ext cx="7200800" cy="1323439"/>
          </a:xfrm>
          <a:prstGeom prst="rect">
            <a:avLst/>
          </a:prstGeom>
          <a:noFill/>
          <a:ln>
            <a:noFill/>
          </a:ln>
          <a:effectLst/>
          <a:scene3d>
            <a:camera prst="orthographicFront">
              <a:rot lat="0" lon="0" rev="0"/>
            </a:camera>
            <a:lightRig rig="contrasting" dir="t">
              <a:rot lat="0" lon="0" rev="1500000"/>
            </a:lightRig>
          </a:scene3d>
          <a:sp3d prstMaterial="metal">
            <a:bevelT w="88900" h="88900"/>
          </a:sp3d>
        </p:spPr>
        <p:txBody>
          <a:bodyPr wrap="square" rtlCol="0">
            <a:spAutoFit/>
          </a:bodyPr>
          <a:lstStyle/>
          <a:p>
            <a:pPr algn="l">
              <a:lnSpc>
                <a:spcPts val="2800"/>
              </a:lnSpc>
              <a:spcBef>
                <a:spcPts val="1200"/>
              </a:spcBef>
            </a:pPr>
            <a:r>
              <a:rPr lang="en-US" altLang="zh-CN" sz="2000" dirty="0">
                <a:latin typeface="Consolas" pitchFamily="49" charset="0"/>
                <a:ea typeface="楷体" pitchFamily="49" charset="-122"/>
                <a:cs typeface="Consolas" pitchFamily="49" charset="0"/>
              </a:rPr>
              <a:t>   </a:t>
            </a:r>
            <a:r>
              <a:rPr lang="zh-CN" altLang="zh-CN" sz="2000" dirty="0">
                <a:latin typeface="Consolas" pitchFamily="49" charset="0"/>
                <a:ea typeface="楷体" pitchFamily="49" charset="-122"/>
                <a:cs typeface="Consolas" pitchFamily="49" charset="0"/>
              </a:rPr>
              <a:t>对</a:t>
            </a:r>
            <a:r>
              <a:rPr lang="zh-CN" altLang="en-US" sz="2000" dirty="0">
                <a:latin typeface="Consolas" pitchFamily="49" charset="0"/>
                <a:ea typeface="楷体" pitchFamily="49" charset="-122"/>
                <a:cs typeface="Consolas" pitchFamily="49" charset="0"/>
              </a:rPr>
              <a:t>下</a:t>
            </a:r>
            <a:r>
              <a:rPr lang="zh-CN" altLang="zh-CN" sz="2000" dirty="0">
                <a:latin typeface="Consolas" pitchFamily="49" charset="0"/>
                <a:ea typeface="楷体" pitchFamily="49" charset="-122"/>
                <a:cs typeface="Consolas" pitchFamily="49" charset="0"/>
              </a:rPr>
              <a:t>图所示的无向图，从顶点</a:t>
            </a:r>
            <a:r>
              <a:rPr lang="en-US" altLang="zh-CN" sz="2000" dirty="0">
                <a:latin typeface="Consolas" pitchFamily="49" charset="0"/>
                <a:ea typeface="楷体" pitchFamily="49" charset="-122"/>
                <a:cs typeface="Consolas" pitchFamily="49" charset="0"/>
              </a:rPr>
              <a:t>0</a:t>
            </a:r>
            <a:r>
              <a:rPr lang="zh-CN" altLang="zh-CN" sz="2000" dirty="0">
                <a:latin typeface="Consolas" pitchFamily="49" charset="0"/>
                <a:ea typeface="楷体" pitchFamily="49" charset="-122"/>
                <a:cs typeface="Consolas" pitchFamily="49" charset="0"/>
              </a:rPr>
              <a:t>开始进行</a:t>
            </a:r>
            <a:r>
              <a:rPr lang="zh-CN" altLang="en-US" sz="2000" dirty="0">
                <a:latin typeface="Consolas" pitchFamily="49" charset="0"/>
                <a:ea typeface="楷体" pitchFamily="49" charset="-122"/>
                <a:cs typeface="Consolas" pitchFamily="49" charset="0"/>
              </a:rPr>
              <a:t>广</a:t>
            </a:r>
            <a:r>
              <a:rPr lang="zh-CN" altLang="zh-CN" sz="2000" dirty="0">
                <a:latin typeface="Consolas" pitchFamily="49" charset="0"/>
                <a:ea typeface="楷体" pitchFamily="49" charset="-122"/>
                <a:cs typeface="Consolas" pitchFamily="49" charset="0"/>
              </a:rPr>
              <a:t>度优先遍历，</a:t>
            </a:r>
            <a:r>
              <a:rPr lang="zh-CN" altLang="en-US" sz="2000" dirty="0">
                <a:latin typeface="Consolas" pitchFamily="49" charset="0"/>
                <a:ea typeface="楷体" pitchFamily="49" charset="-122"/>
                <a:cs typeface="Consolas" pitchFamily="49" charset="0"/>
              </a:rPr>
              <a:t>不可能</a:t>
            </a:r>
            <a:r>
              <a:rPr lang="zh-CN" altLang="zh-CN" sz="2000" dirty="0">
                <a:latin typeface="Consolas" pitchFamily="49" charset="0"/>
                <a:ea typeface="楷体" pitchFamily="49" charset="-122"/>
                <a:cs typeface="Consolas" pitchFamily="49" charset="0"/>
              </a:rPr>
              <a:t>得到顶点访问序列</a:t>
            </a:r>
            <a:r>
              <a:rPr lang="zh-CN" altLang="en-US" sz="2000" dirty="0">
                <a:latin typeface="Consolas" pitchFamily="49" charset="0"/>
                <a:ea typeface="楷体" pitchFamily="49" charset="-122"/>
                <a:cs typeface="Consolas" pitchFamily="49" charset="0"/>
              </a:rPr>
              <a:t>是（  ）</a:t>
            </a:r>
            <a:r>
              <a:rPr lang="zh-CN" altLang="zh-CN" sz="2000" dirty="0">
                <a:latin typeface="Consolas" pitchFamily="49" charset="0"/>
                <a:ea typeface="楷体" pitchFamily="49" charset="-122"/>
                <a:cs typeface="Consolas" pitchFamily="49" charset="0"/>
              </a:rPr>
              <a:t>。</a:t>
            </a:r>
          </a:p>
          <a:p>
            <a:pPr algn="l">
              <a:lnSpc>
                <a:spcPts val="2800"/>
              </a:lnSpc>
              <a:spcBef>
                <a:spcPts val="1200"/>
              </a:spcBef>
            </a:pPr>
            <a:r>
              <a:rPr lang="en-US" altLang="zh-CN" sz="2000" dirty="0">
                <a:latin typeface="Consolas" pitchFamily="49" charset="0"/>
                <a:ea typeface="楷体" pitchFamily="49" charset="-122"/>
                <a:cs typeface="Consolas" pitchFamily="49" charset="0"/>
              </a:rPr>
              <a:t>  A.0231645	B.0163254	C.0613154	D.0243165</a:t>
            </a:r>
            <a:endParaRPr lang="zh-CN" altLang="zh-CN" sz="2000" dirty="0">
              <a:latin typeface="Consolas" pitchFamily="49" charset="0"/>
              <a:ea typeface="楷体" pitchFamily="49" charset="-122"/>
              <a:cs typeface="Consolas" pitchFamily="49" charset="0"/>
            </a:endParaRPr>
          </a:p>
        </p:txBody>
      </p:sp>
      <p:sp>
        <p:nvSpPr>
          <p:cNvPr id="135" name="椭圆 134">
            <a:extLst>
              <a:ext uri="{FF2B5EF4-FFF2-40B4-BE49-F238E27FC236}">
                <a16:creationId xmlns:a16="http://schemas.microsoft.com/office/drawing/2014/main" id="{A8FAE739-20D1-FBC0-FEEC-28EFFF0BC758}"/>
              </a:ext>
            </a:extLst>
          </p:cNvPr>
          <p:cNvSpPr/>
          <p:nvPr/>
        </p:nvSpPr>
        <p:spPr>
          <a:xfrm>
            <a:off x="1276594" y="4087980"/>
            <a:ext cx="396000" cy="396000"/>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800">
                <a:solidFill>
                  <a:srgbClr val="0000FF"/>
                </a:solidFill>
                <a:latin typeface="Consolas" pitchFamily="49" charset="0"/>
                <a:cs typeface="Consolas" pitchFamily="49" charset="0"/>
              </a:rPr>
              <a:t>2</a:t>
            </a:r>
            <a:endParaRPr lang="zh-CN" altLang="en-US" sz="1800">
              <a:solidFill>
                <a:srgbClr val="0000FF"/>
              </a:solidFill>
              <a:latin typeface="Consolas" pitchFamily="49" charset="0"/>
              <a:cs typeface="Consolas" pitchFamily="49" charset="0"/>
            </a:endParaRPr>
          </a:p>
        </p:txBody>
      </p:sp>
      <p:sp>
        <p:nvSpPr>
          <p:cNvPr id="136" name="TextBox 10">
            <a:extLst>
              <a:ext uri="{FF2B5EF4-FFF2-40B4-BE49-F238E27FC236}">
                <a16:creationId xmlns:a16="http://schemas.microsoft.com/office/drawing/2014/main" id="{DB840BD7-C07F-8A03-0C56-869A7AACFDE4}"/>
              </a:ext>
            </a:extLst>
          </p:cNvPr>
          <p:cNvSpPr txBox="1"/>
          <p:nvPr/>
        </p:nvSpPr>
        <p:spPr>
          <a:xfrm>
            <a:off x="5187256" y="5925001"/>
            <a:ext cx="2286016" cy="400110"/>
          </a:xfrm>
          <a:prstGeom prst="rect">
            <a:avLst/>
          </a:prstGeom>
          <a:noFill/>
        </p:spPr>
        <p:txBody>
          <a:bodyPr wrap="square" rtlCol="0">
            <a:spAutoFit/>
          </a:bodyPr>
          <a:lstStyle/>
          <a:p>
            <a:pPr algn="l"/>
            <a:r>
              <a:rPr lang="zh-CN" altLang="zh-CN" sz="2000">
                <a:solidFill>
                  <a:srgbClr val="0000FF"/>
                </a:solidFill>
                <a:latin typeface="Consolas" pitchFamily="49" charset="0"/>
                <a:ea typeface="楷体" pitchFamily="49" charset="-122"/>
                <a:cs typeface="Consolas" pitchFamily="49" charset="0"/>
              </a:rPr>
              <a:t>答案</a:t>
            </a:r>
            <a:r>
              <a:rPr lang="zh-CN" altLang="en-US" sz="2000">
                <a:solidFill>
                  <a:srgbClr val="0000FF"/>
                </a:solidFill>
                <a:latin typeface="Consolas" pitchFamily="49" charset="0"/>
                <a:ea typeface="楷体" pitchFamily="49" charset="-122"/>
                <a:cs typeface="Consolas" pitchFamily="49" charset="0"/>
              </a:rPr>
              <a:t>为</a:t>
            </a:r>
            <a:r>
              <a:rPr lang="en-US" altLang="zh-CN" sz="2000">
                <a:solidFill>
                  <a:srgbClr val="C00000"/>
                </a:solidFill>
                <a:latin typeface="Consolas" pitchFamily="49" charset="0"/>
                <a:ea typeface="楷体" pitchFamily="49" charset="-122"/>
                <a:cs typeface="Consolas" pitchFamily="49" charset="0"/>
              </a:rPr>
              <a:t>D</a:t>
            </a:r>
            <a:r>
              <a:rPr lang="zh-CN" altLang="zh-CN" sz="2000">
                <a:solidFill>
                  <a:srgbClr val="0000FF"/>
                </a:solidFill>
                <a:latin typeface="Consolas" pitchFamily="49" charset="0"/>
                <a:ea typeface="楷体" pitchFamily="49" charset="-122"/>
                <a:cs typeface="Consolas" pitchFamily="49" charset="0"/>
              </a:rPr>
              <a:t>。</a:t>
            </a:r>
            <a:endParaRPr lang="zh-CN" altLang="en-US" sz="2000">
              <a:solidFill>
                <a:srgbClr val="0000FF"/>
              </a:solidFill>
            </a:endParaRPr>
          </a:p>
        </p:txBody>
      </p:sp>
      <p:sp>
        <p:nvSpPr>
          <p:cNvPr id="137" name="椭圆 136">
            <a:extLst>
              <a:ext uri="{FF2B5EF4-FFF2-40B4-BE49-F238E27FC236}">
                <a16:creationId xmlns:a16="http://schemas.microsoft.com/office/drawing/2014/main" id="{DE5EC9E8-40DC-E18A-6961-8DE52F58708A}"/>
              </a:ext>
            </a:extLst>
          </p:cNvPr>
          <p:cNvSpPr/>
          <p:nvPr/>
        </p:nvSpPr>
        <p:spPr>
          <a:xfrm>
            <a:off x="1990974" y="3536236"/>
            <a:ext cx="396000" cy="396000"/>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800">
                <a:solidFill>
                  <a:srgbClr val="0000FF"/>
                </a:solidFill>
                <a:latin typeface="Consolas" pitchFamily="49" charset="0"/>
                <a:cs typeface="Consolas" pitchFamily="49" charset="0"/>
              </a:rPr>
              <a:t>0</a:t>
            </a:r>
            <a:endParaRPr lang="zh-CN" altLang="en-US" sz="1800">
              <a:solidFill>
                <a:srgbClr val="0000FF"/>
              </a:solidFill>
              <a:latin typeface="Consolas" pitchFamily="49" charset="0"/>
              <a:cs typeface="Consolas" pitchFamily="49" charset="0"/>
            </a:endParaRPr>
          </a:p>
        </p:txBody>
      </p:sp>
      <p:sp>
        <p:nvSpPr>
          <p:cNvPr id="138" name="椭圆 137">
            <a:extLst>
              <a:ext uri="{FF2B5EF4-FFF2-40B4-BE49-F238E27FC236}">
                <a16:creationId xmlns:a16="http://schemas.microsoft.com/office/drawing/2014/main" id="{EC906588-F14B-F1F3-DAE2-CC7793597D3C}"/>
              </a:ext>
            </a:extLst>
          </p:cNvPr>
          <p:cNvSpPr/>
          <p:nvPr/>
        </p:nvSpPr>
        <p:spPr>
          <a:xfrm>
            <a:off x="2023602" y="4726869"/>
            <a:ext cx="396000" cy="396000"/>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800">
                <a:solidFill>
                  <a:srgbClr val="0000FF"/>
                </a:solidFill>
                <a:latin typeface="Consolas" pitchFamily="49" charset="0"/>
                <a:cs typeface="Consolas" pitchFamily="49" charset="0"/>
              </a:rPr>
              <a:t>4</a:t>
            </a:r>
            <a:endParaRPr lang="zh-CN" altLang="en-US" sz="1800">
              <a:solidFill>
                <a:srgbClr val="0000FF"/>
              </a:solidFill>
              <a:latin typeface="Consolas" pitchFamily="49" charset="0"/>
              <a:cs typeface="Consolas" pitchFamily="49" charset="0"/>
            </a:endParaRPr>
          </a:p>
        </p:txBody>
      </p:sp>
      <p:sp>
        <p:nvSpPr>
          <p:cNvPr id="139" name="椭圆 138">
            <a:extLst>
              <a:ext uri="{FF2B5EF4-FFF2-40B4-BE49-F238E27FC236}">
                <a16:creationId xmlns:a16="http://schemas.microsoft.com/office/drawing/2014/main" id="{EF1E66C5-5782-21F6-8DFB-5657A1ACE3AC}"/>
              </a:ext>
            </a:extLst>
          </p:cNvPr>
          <p:cNvSpPr/>
          <p:nvPr/>
        </p:nvSpPr>
        <p:spPr>
          <a:xfrm>
            <a:off x="2880858" y="4087980"/>
            <a:ext cx="396000" cy="396000"/>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800">
                <a:solidFill>
                  <a:srgbClr val="0000FF"/>
                </a:solidFill>
                <a:latin typeface="Consolas" pitchFamily="49" charset="0"/>
                <a:cs typeface="Consolas" pitchFamily="49" charset="0"/>
              </a:rPr>
              <a:t>3</a:t>
            </a:r>
            <a:endParaRPr lang="zh-CN" altLang="en-US" sz="1800">
              <a:solidFill>
                <a:srgbClr val="0000FF"/>
              </a:solidFill>
              <a:latin typeface="Consolas" pitchFamily="49" charset="0"/>
              <a:cs typeface="Consolas" pitchFamily="49" charset="0"/>
            </a:endParaRPr>
          </a:p>
        </p:txBody>
      </p:sp>
      <p:sp>
        <p:nvSpPr>
          <p:cNvPr id="140" name="椭圆 139">
            <a:extLst>
              <a:ext uri="{FF2B5EF4-FFF2-40B4-BE49-F238E27FC236}">
                <a16:creationId xmlns:a16="http://schemas.microsoft.com/office/drawing/2014/main" id="{F850685F-2C61-2C48-ABD9-5C803AD938B2}"/>
              </a:ext>
            </a:extLst>
          </p:cNvPr>
          <p:cNvSpPr/>
          <p:nvPr/>
        </p:nvSpPr>
        <p:spPr>
          <a:xfrm>
            <a:off x="4777056" y="4087980"/>
            <a:ext cx="396000" cy="396000"/>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800">
                <a:solidFill>
                  <a:srgbClr val="0000FF"/>
                </a:solidFill>
                <a:latin typeface="Consolas" pitchFamily="49" charset="0"/>
                <a:cs typeface="Consolas" pitchFamily="49" charset="0"/>
              </a:rPr>
              <a:t>6</a:t>
            </a:r>
            <a:endParaRPr lang="zh-CN" altLang="en-US" sz="1800">
              <a:solidFill>
                <a:srgbClr val="0000FF"/>
              </a:solidFill>
              <a:latin typeface="Consolas" pitchFamily="49" charset="0"/>
              <a:cs typeface="Consolas" pitchFamily="49" charset="0"/>
            </a:endParaRPr>
          </a:p>
        </p:txBody>
      </p:sp>
      <p:sp>
        <p:nvSpPr>
          <p:cNvPr id="141" name="椭圆 140">
            <a:extLst>
              <a:ext uri="{FF2B5EF4-FFF2-40B4-BE49-F238E27FC236}">
                <a16:creationId xmlns:a16="http://schemas.microsoft.com/office/drawing/2014/main" id="{23B9E112-5241-143A-95E0-FC674F9FD7CE}"/>
              </a:ext>
            </a:extLst>
          </p:cNvPr>
          <p:cNvSpPr/>
          <p:nvPr/>
        </p:nvSpPr>
        <p:spPr>
          <a:xfrm>
            <a:off x="3991238" y="3536236"/>
            <a:ext cx="396000" cy="396000"/>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800">
                <a:solidFill>
                  <a:srgbClr val="0000FF"/>
                </a:solidFill>
                <a:latin typeface="Consolas" pitchFamily="49" charset="0"/>
                <a:cs typeface="Consolas" pitchFamily="49" charset="0"/>
              </a:rPr>
              <a:t>1</a:t>
            </a:r>
            <a:endParaRPr lang="zh-CN" altLang="en-US" sz="1800">
              <a:solidFill>
                <a:srgbClr val="0000FF"/>
              </a:solidFill>
              <a:latin typeface="Consolas" pitchFamily="49" charset="0"/>
              <a:cs typeface="Consolas" pitchFamily="49" charset="0"/>
            </a:endParaRPr>
          </a:p>
        </p:txBody>
      </p:sp>
      <p:sp>
        <p:nvSpPr>
          <p:cNvPr id="142" name="椭圆 141">
            <a:extLst>
              <a:ext uri="{FF2B5EF4-FFF2-40B4-BE49-F238E27FC236}">
                <a16:creationId xmlns:a16="http://schemas.microsoft.com/office/drawing/2014/main" id="{1B985553-FE26-D0B1-9DAA-81747AD28D5B}"/>
              </a:ext>
            </a:extLst>
          </p:cNvPr>
          <p:cNvSpPr/>
          <p:nvPr/>
        </p:nvSpPr>
        <p:spPr>
          <a:xfrm>
            <a:off x="4023866" y="4726869"/>
            <a:ext cx="396000" cy="396000"/>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800">
                <a:solidFill>
                  <a:srgbClr val="0000FF"/>
                </a:solidFill>
                <a:latin typeface="Consolas" pitchFamily="49" charset="0"/>
                <a:cs typeface="Consolas" pitchFamily="49" charset="0"/>
              </a:rPr>
              <a:t>5</a:t>
            </a:r>
            <a:endParaRPr lang="zh-CN" altLang="en-US" sz="1800">
              <a:solidFill>
                <a:srgbClr val="0000FF"/>
              </a:solidFill>
              <a:latin typeface="Consolas" pitchFamily="49" charset="0"/>
              <a:cs typeface="Consolas" pitchFamily="49" charset="0"/>
            </a:endParaRPr>
          </a:p>
        </p:txBody>
      </p:sp>
      <p:cxnSp>
        <p:nvCxnSpPr>
          <p:cNvPr id="143" name="直接连接符 142">
            <a:extLst>
              <a:ext uri="{FF2B5EF4-FFF2-40B4-BE49-F238E27FC236}">
                <a16:creationId xmlns:a16="http://schemas.microsoft.com/office/drawing/2014/main" id="{34075712-9C8C-2E8C-107A-885741263C17}"/>
              </a:ext>
            </a:extLst>
          </p:cNvPr>
          <p:cNvCxnSpPr>
            <a:stCxn id="135" idx="7"/>
            <a:endCxn id="137" idx="2"/>
          </p:cNvCxnSpPr>
          <p:nvPr/>
        </p:nvCxnSpPr>
        <p:spPr>
          <a:xfrm rot="5400000" flipH="1" flipV="1">
            <a:off x="1596919" y="3751919"/>
            <a:ext cx="411737" cy="376373"/>
          </a:xfrm>
          <a:prstGeom prst="line">
            <a:avLst/>
          </a:prstGeom>
        </p:spPr>
        <p:style>
          <a:lnRef idx="2">
            <a:schemeClr val="accent1"/>
          </a:lnRef>
          <a:fillRef idx="0">
            <a:schemeClr val="accent1"/>
          </a:fillRef>
          <a:effectRef idx="1">
            <a:schemeClr val="accent1"/>
          </a:effectRef>
          <a:fontRef idx="minor">
            <a:schemeClr val="tx1"/>
          </a:fontRef>
        </p:style>
      </p:cxnSp>
      <p:cxnSp>
        <p:nvCxnSpPr>
          <p:cNvPr id="144" name="直接连接符 143">
            <a:extLst>
              <a:ext uri="{FF2B5EF4-FFF2-40B4-BE49-F238E27FC236}">
                <a16:creationId xmlns:a16="http://schemas.microsoft.com/office/drawing/2014/main" id="{A9E76250-F651-FD2D-CCCA-36232662B1AB}"/>
              </a:ext>
            </a:extLst>
          </p:cNvPr>
          <p:cNvCxnSpPr>
            <a:stCxn id="137" idx="6"/>
            <a:endCxn id="141" idx="2"/>
          </p:cNvCxnSpPr>
          <p:nvPr/>
        </p:nvCxnSpPr>
        <p:spPr>
          <a:xfrm>
            <a:off x="2386974" y="3734236"/>
            <a:ext cx="1604264" cy="0"/>
          </a:xfrm>
          <a:prstGeom prst="line">
            <a:avLst/>
          </a:prstGeom>
        </p:spPr>
        <p:style>
          <a:lnRef idx="2">
            <a:schemeClr val="accent5"/>
          </a:lnRef>
          <a:fillRef idx="0">
            <a:schemeClr val="accent5"/>
          </a:fillRef>
          <a:effectRef idx="1">
            <a:schemeClr val="accent5"/>
          </a:effectRef>
          <a:fontRef idx="minor">
            <a:schemeClr val="tx1"/>
          </a:fontRef>
        </p:style>
      </p:cxnSp>
      <p:cxnSp>
        <p:nvCxnSpPr>
          <p:cNvPr id="145" name="直接连接符 144">
            <a:extLst>
              <a:ext uri="{FF2B5EF4-FFF2-40B4-BE49-F238E27FC236}">
                <a16:creationId xmlns:a16="http://schemas.microsoft.com/office/drawing/2014/main" id="{B0EBC0CE-A3F1-A874-4688-44B9D8E5F8EE}"/>
              </a:ext>
            </a:extLst>
          </p:cNvPr>
          <p:cNvCxnSpPr>
            <a:stCxn id="135" idx="5"/>
            <a:endCxn id="138" idx="2"/>
          </p:cNvCxnSpPr>
          <p:nvPr/>
        </p:nvCxnSpPr>
        <p:spPr>
          <a:xfrm rot="16200000" flipH="1">
            <a:off x="1569660" y="4470927"/>
            <a:ext cx="498882" cy="409001"/>
          </a:xfrm>
          <a:prstGeom prst="line">
            <a:avLst/>
          </a:prstGeom>
        </p:spPr>
        <p:style>
          <a:lnRef idx="2">
            <a:schemeClr val="accent5"/>
          </a:lnRef>
          <a:fillRef idx="0">
            <a:schemeClr val="accent5"/>
          </a:fillRef>
          <a:effectRef idx="1">
            <a:schemeClr val="accent5"/>
          </a:effectRef>
          <a:fontRef idx="minor">
            <a:schemeClr val="tx1"/>
          </a:fontRef>
        </p:style>
      </p:cxnSp>
      <p:cxnSp>
        <p:nvCxnSpPr>
          <p:cNvPr id="146" name="直接连接符 145">
            <a:extLst>
              <a:ext uri="{FF2B5EF4-FFF2-40B4-BE49-F238E27FC236}">
                <a16:creationId xmlns:a16="http://schemas.microsoft.com/office/drawing/2014/main" id="{636BC8EC-E278-582D-50C0-3EADD9729D86}"/>
              </a:ext>
            </a:extLst>
          </p:cNvPr>
          <p:cNvCxnSpPr>
            <a:stCxn id="138" idx="6"/>
            <a:endCxn id="142" idx="2"/>
          </p:cNvCxnSpPr>
          <p:nvPr/>
        </p:nvCxnSpPr>
        <p:spPr>
          <a:xfrm>
            <a:off x="2419602" y="4924869"/>
            <a:ext cx="1604264" cy="0"/>
          </a:xfrm>
          <a:prstGeom prst="line">
            <a:avLst/>
          </a:prstGeom>
        </p:spPr>
        <p:style>
          <a:lnRef idx="2">
            <a:schemeClr val="accent5"/>
          </a:lnRef>
          <a:fillRef idx="0">
            <a:schemeClr val="accent5"/>
          </a:fillRef>
          <a:effectRef idx="1">
            <a:schemeClr val="accent5"/>
          </a:effectRef>
          <a:fontRef idx="minor">
            <a:schemeClr val="tx1"/>
          </a:fontRef>
        </p:style>
      </p:cxnSp>
      <p:cxnSp>
        <p:nvCxnSpPr>
          <p:cNvPr id="147" name="直接连接符 146">
            <a:extLst>
              <a:ext uri="{FF2B5EF4-FFF2-40B4-BE49-F238E27FC236}">
                <a16:creationId xmlns:a16="http://schemas.microsoft.com/office/drawing/2014/main" id="{09500D47-B5CE-B741-E666-010BFA6D7EF8}"/>
              </a:ext>
            </a:extLst>
          </p:cNvPr>
          <p:cNvCxnSpPr>
            <a:stCxn id="142" idx="6"/>
            <a:endCxn id="140" idx="3"/>
          </p:cNvCxnSpPr>
          <p:nvPr/>
        </p:nvCxnSpPr>
        <p:spPr>
          <a:xfrm flipV="1">
            <a:off x="4419866" y="4425987"/>
            <a:ext cx="415183" cy="498882"/>
          </a:xfrm>
          <a:prstGeom prst="line">
            <a:avLst/>
          </a:prstGeom>
        </p:spPr>
        <p:style>
          <a:lnRef idx="2">
            <a:schemeClr val="accent5"/>
          </a:lnRef>
          <a:fillRef idx="0">
            <a:schemeClr val="accent5"/>
          </a:fillRef>
          <a:effectRef idx="1">
            <a:schemeClr val="accent5"/>
          </a:effectRef>
          <a:fontRef idx="minor">
            <a:schemeClr val="tx1"/>
          </a:fontRef>
        </p:style>
      </p:cxnSp>
      <p:cxnSp>
        <p:nvCxnSpPr>
          <p:cNvPr id="148" name="直接连接符 147">
            <a:extLst>
              <a:ext uri="{FF2B5EF4-FFF2-40B4-BE49-F238E27FC236}">
                <a16:creationId xmlns:a16="http://schemas.microsoft.com/office/drawing/2014/main" id="{FB03B6D2-89D6-66A6-AD28-898596DCE72F}"/>
              </a:ext>
            </a:extLst>
          </p:cNvPr>
          <p:cNvCxnSpPr>
            <a:stCxn id="141" idx="6"/>
            <a:endCxn id="140" idx="1"/>
          </p:cNvCxnSpPr>
          <p:nvPr/>
        </p:nvCxnSpPr>
        <p:spPr>
          <a:xfrm>
            <a:off x="4387238" y="3734236"/>
            <a:ext cx="447811" cy="411737"/>
          </a:xfrm>
          <a:prstGeom prst="line">
            <a:avLst/>
          </a:prstGeom>
        </p:spPr>
        <p:style>
          <a:lnRef idx="2">
            <a:schemeClr val="accent5"/>
          </a:lnRef>
          <a:fillRef idx="0">
            <a:schemeClr val="accent5"/>
          </a:fillRef>
          <a:effectRef idx="1">
            <a:schemeClr val="accent5"/>
          </a:effectRef>
          <a:fontRef idx="minor">
            <a:schemeClr val="tx1"/>
          </a:fontRef>
        </p:style>
      </p:cxnSp>
      <p:cxnSp>
        <p:nvCxnSpPr>
          <p:cNvPr id="149" name="直接连接符 148">
            <a:extLst>
              <a:ext uri="{FF2B5EF4-FFF2-40B4-BE49-F238E27FC236}">
                <a16:creationId xmlns:a16="http://schemas.microsoft.com/office/drawing/2014/main" id="{AFFFE468-EE77-BFC3-E6F6-FEF447D85EE0}"/>
              </a:ext>
            </a:extLst>
          </p:cNvPr>
          <p:cNvCxnSpPr>
            <a:stCxn id="137" idx="5"/>
            <a:endCxn id="139" idx="1"/>
          </p:cNvCxnSpPr>
          <p:nvPr/>
        </p:nvCxnSpPr>
        <p:spPr>
          <a:xfrm rot="16200000" flipH="1">
            <a:off x="2498051" y="3705173"/>
            <a:ext cx="271730" cy="609870"/>
          </a:xfrm>
          <a:prstGeom prst="line">
            <a:avLst/>
          </a:prstGeom>
        </p:spPr>
        <p:style>
          <a:lnRef idx="2">
            <a:schemeClr val="accent5"/>
          </a:lnRef>
          <a:fillRef idx="0">
            <a:schemeClr val="accent5"/>
          </a:fillRef>
          <a:effectRef idx="1">
            <a:schemeClr val="accent5"/>
          </a:effectRef>
          <a:fontRef idx="minor">
            <a:schemeClr val="tx1"/>
          </a:fontRef>
        </p:style>
      </p:cxnSp>
      <p:cxnSp>
        <p:nvCxnSpPr>
          <p:cNvPr id="150" name="直接连接符 149">
            <a:extLst>
              <a:ext uri="{FF2B5EF4-FFF2-40B4-BE49-F238E27FC236}">
                <a16:creationId xmlns:a16="http://schemas.microsoft.com/office/drawing/2014/main" id="{B9077572-CAAC-AE3E-977E-F0A4283A6A0A}"/>
              </a:ext>
            </a:extLst>
          </p:cNvPr>
          <p:cNvCxnSpPr>
            <a:stCxn id="139" idx="3"/>
            <a:endCxn id="138" idx="7"/>
          </p:cNvCxnSpPr>
          <p:nvPr/>
        </p:nvCxnSpPr>
        <p:spPr>
          <a:xfrm rot="5400000">
            <a:off x="2470793" y="4316803"/>
            <a:ext cx="358875" cy="577242"/>
          </a:xfrm>
          <a:prstGeom prst="line">
            <a:avLst/>
          </a:prstGeom>
        </p:spPr>
        <p:style>
          <a:lnRef idx="2">
            <a:schemeClr val="accent5"/>
          </a:lnRef>
          <a:fillRef idx="0">
            <a:schemeClr val="accent5"/>
          </a:fillRef>
          <a:effectRef idx="1">
            <a:schemeClr val="accent5"/>
          </a:effectRef>
          <a:fontRef idx="minor">
            <a:schemeClr val="tx1"/>
          </a:fontRef>
        </p:style>
      </p:cxnSp>
      <p:cxnSp>
        <p:nvCxnSpPr>
          <p:cNvPr id="151" name="直接连接符 150">
            <a:extLst>
              <a:ext uri="{FF2B5EF4-FFF2-40B4-BE49-F238E27FC236}">
                <a16:creationId xmlns:a16="http://schemas.microsoft.com/office/drawing/2014/main" id="{969F6ED8-950C-820B-DF78-47B43BBF3B87}"/>
              </a:ext>
            </a:extLst>
          </p:cNvPr>
          <p:cNvCxnSpPr>
            <a:stCxn id="139" idx="7"/>
            <a:endCxn id="141" idx="3"/>
          </p:cNvCxnSpPr>
          <p:nvPr/>
        </p:nvCxnSpPr>
        <p:spPr>
          <a:xfrm rot="5400000" flipH="1" flipV="1">
            <a:off x="3498183" y="3594925"/>
            <a:ext cx="271730" cy="830366"/>
          </a:xfrm>
          <a:prstGeom prst="line">
            <a:avLst/>
          </a:prstGeom>
        </p:spPr>
        <p:style>
          <a:lnRef idx="2">
            <a:schemeClr val="accent5"/>
          </a:lnRef>
          <a:fillRef idx="0">
            <a:schemeClr val="accent5"/>
          </a:fillRef>
          <a:effectRef idx="1">
            <a:schemeClr val="accent5"/>
          </a:effectRef>
          <a:fontRef idx="minor">
            <a:schemeClr val="tx1"/>
          </a:fontRef>
        </p:style>
      </p:cxnSp>
      <p:cxnSp>
        <p:nvCxnSpPr>
          <p:cNvPr id="152" name="直接连接符 151">
            <a:extLst>
              <a:ext uri="{FF2B5EF4-FFF2-40B4-BE49-F238E27FC236}">
                <a16:creationId xmlns:a16="http://schemas.microsoft.com/office/drawing/2014/main" id="{B52CD881-4470-503E-1616-314A0ACC6937}"/>
              </a:ext>
            </a:extLst>
          </p:cNvPr>
          <p:cNvCxnSpPr>
            <a:stCxn id="139" idx="5"/>
            <a:endCxn id="142" idx="1"/>
          </p:cNvCxnSpPr>
          <p:nvPr/>
        </p:nvCxnSpPr>
        <p:spPr>
          <a:xfrm rot="16200000" flipH="1">
            <a:off x="3470925" y="4173927"/>
            <a:ext cx="358875" cy="862994"/>
          </a:xfrm>
          <a:prstGeom prst="line">
            <a:avLst/>
          </a:prstGeom>
        </p:spPr>
        <p:style>
          <a:lnRef idx="2">
            <a:schemeClr val="accent5"/>
          </a:lnRef>
          <a:fillRef idx="0">
            <a:schemeClr val="accent5"/>
          </a:fillRef>
          <a:effectRef idx="1">
            <a:schemeClr val="accent5"/>
          </a:effectRef>
          <a:fontRef idx="minor">
            <a:schemeClr val="tx1"/>
          </a:fontRef>
        </p:style>
      </p:cxnSp>
      <p:cxnSp>
        <p:nvCxnSpPr>
          <p:cNvPr id="153" name="直接连接符 152">
            <a:extLst>
              <a:ext uri="{FF2B5EF4-FFF2-40B4-BE49-F238E27FC236}">
                <a16:creationId xmlns:a16="http://schemas.microsoft.com/office/drawing/2014/main" id="{B25C85C3-4ADF-1009-AE11-D7F8D995AC37}"/>
              </a:ext>
            </a:extLst>
          </p:cNvPr>
          <p:cNvCxnSpPr>
            <a:endCxn id="140" idx="2"/>
          </p:cNvCxnSpPr>
          <p:nvPr/>
        </p:nvCxnSpPr>
        <p:spPr>
          <a:xfrm>
            <a:off x="2367081" y="3807567"/>
            <a:ext cx="2409975" cy="478413"/>
          </a:xfrm>
          <a:prstGeom prst="line">
            <a:avLst/>
          </a:prstGeom>
        </p:spPr>
        <p:style>
          <a:lnRef idx="2">
            <a:schemeClr val="accent5"/>
          </a:lnRef>
          <a:fillRef idx="0">
            <a:schemeClr val="accent5"/>
          </a:fillRef>
          <a:effectRef idx="1">
            <a:schemeClr val="accent5"/>
          </a:effectRef>
          <a:fontRef idx="minor">
            <a:schemeClr val="tx1"/>
          </a:fontRef>
        </p:style>
      </p:cxnSp>
      <p:sp>
        <p:nvSpPr>
          <p:cNvPr id="154" name="TextBox 45">
            <a:extLst>
              <a:ext uri="{FF2B5EF4-FFF2-40B4-BE49-F238E27FC236}">
                <a16:creationId xmlns:a16="http://schemas.microsoft.com/office/drawing/2014/main" id="{A7AD28DD-4E10-524D-CD86-B37779A24145}"/>
              </a:ext>
            </a:extLst>
          </p:cNvPr>
          <p:cNvSpPr txBox="1"/>
          <p:nvPr/>
        </p:nvSpPr>
        <p:spPr>
          <a:xfrm>
            <a:off x="5115818" y="4924869"/>
            <a:ext cx="7000924" cy="1169551"/>
          </a:xfrm>
          <a:prstGeom prst="rect">
            <a:avLst/>
          </a:prstGeom>
          <a:noFill/>
        </p:spPr>
        <p:txBody>
          <a:bodyPr wrap="square" rtlCol="0">
            <a:spAutoFit/>
          </a:bodyPr>
          <a:lstStyle/>
          <a:p>
            <a:pPr algn="l">
              <a:lnSpc>
                <a:spcPts val="2800"/>
              </a:lnSpc>
            </a:pPr>
            <a:r>
              <a:rPr lang="en-US" altLang="zh-CN" sz="2000">
                <a:latin typeface="Consolas" pitchFamily="49" charset="0"/>
                <a:ea typeface="楷体" pitchFamily="49" charset="-122"/>
                <a:cs typeface="Consolas" pitchFamily="49" charset="0"/>
              </a:rPr>
              <a:t>D.02</a:t>
            </a:r>
            <a:r>
              <a:rPr lang="en-US" altLang="zh-CN" sz="2000">
                <a:solidFill>
                  <a:srgbClr val="FF00FF"/>
                </a:solidFill>
                <a:latin typeface="Consolas" pitchFamily="49" charset="0"/>
                <a:ea typeface="楷体" pitchFamily="49" charset="-122"/>
                <a:cs typeface="Consolas" pitchFamily="49" charset="0"/>
              </a:rPr>
              <a:t>4</a:t>
            </a:r>
            <a:r>
              <a:rPr lang="en-US" altLang="zh-CN" sz="2000">
                <a:latin typeface="Consolas" pitchFamily="49" charset="0"/>
                <a:ea typeface="楷体" pitchFamily="49" charset="-122"/>
                <a:cs typeface="Consolas" pitchFamily="49" charset="0"/>
              </a:rPr>
              <a:t>3165</a:t>
            </a:r>
          </a:p>
          <a:p>
            <a:pPr algn="l">
              <a:lnSpc>
                <a:spcPts val="2800"/>
              </a:lnSpc>
            </a:pPr>
            <a:r>
              <a:rPr lang="en-US" altLang="zh-CN" sz="2000">
                <a:latin typeface="Consolas" pitchFamily="49" charset="0"/>
                <a:ea typeface="楷体" pitchFamily="49" charset="-122"/>
                <a:cs typeface="Consolas" pitchFamily="49" charset="0"/>
              </a:rPr>
              <a:t>  </a:t>
            </a:r>
            <a:r>
              <a:rPr lang="zh-CN" altLang="en-US" sz="2000">
                <a:latin typeface="Consolas" pitchFamily="49" charset="0"/>
                <a:ea typeface="仿宋" pitchFamily="49" charset="-122"/>
                <a:cs typeface="Consolas" pitchFamily="49" charset="0"/>
              </a:rPr>
              <a:t>顶点</a:t>
            </a:r>
            <a:r>
              <a:rPr lang="en-US" altLang="zh-CN" sz="2000">
                <a:latin typeface="Consolas" pitchFamily="49" charset="0"/>
                <a:ea typeface="仿宋" pitchFamily="49" charset="-122"/>
                <a:cs typeface="Consolas" pitchFamily="49" charset="0"/>
              </a:rPr>
              <a:t>0</a:t>
            </a:r>
            <a:r>
              <a:rPr lang="zh-CN" altLang="en-US" sz="2000">
                <a:latin typeface="Consolas" pitchFamily="49" charset="0"/>
                <a:ea typeface="仿宋" pitchFamily="49" charset="-122"/>
                <a:cs typeface="Consolas" pitchFamily="49" charset="0"/>
              </a:rPr>
              <a:t>到</a:t>
            </a:r>
            <a:r>
              <a:rPr lang="en-US" altLang="zh-CN" sz="2000">
                <a:latin typeface="Consolas" pitchFamily="49" charset="0"/>
                <a:ea typeface="仿宋" pitchFamily="49" charset="-122"/>
                <a:cs typeface="Consolas" pitchFamily="49" charset="0"/>
              </a:rPr>
              <a:t>2</a:t>
            </a:r>
            <a:r>
              <a:rPr lang="zh-CN" altLang="en-US" sz="2000">
                <a:latin typeface="Consolas" pitchFamily="49" charset="0"/>
                <a:ea typeface="仿宋" pitchFamily="49" charset="-122"/>
                <a:cs typeface="Consolas" pitchFamily="49" charset="0"/>
              </a:rPr>
              <a:t>、</a:t>
            </a:r>
            <a:r>
              <a:rPr lang="en-US" altLang="zh-CN" sz="2000">
                <a:latin typeface="Consolas" pitchFamily="49" charset="0"/>
                <a:ea typeface="仿宋" pitchFamily="49" charset="-122"/>
                <a:cs typeface="Consolas" pitchFamily="49" charset="0"/>
              </a:rPr>
              <a:t>3</a:t>
            </a:r>
            <a:r>
              <a:rPr lang="zh-CN" altLang="en-US" sz="2000">
                <a:latin typeface="Consolas" pitchFamily="49" charset="0"/>
                <a:ea typeface="仿宋" pitchFamily="49" charset="-122"/>
                <a:cs typeface="Consolas" pitchFamily="49" charset="0"/>
              </a:rPr>
              <a:t>、</a:t>
            </a:r>
            <a:r>
              <a:rPr lang="en-US" altLang="zh-CN" sz="2000">
                <a:latin typeface="Consolas" pitchFamily="49" charset="0"/>
                <a:ea typeface="仿宋" pitchFamily="49" charset="-122"/>
                <a:cs typeface="Consolas" pitchFamily="49" charset="0"/>
              </a:rPr>
              <a:t>1</a:t>
            </a:r>
            <a:r>
              <a:rPr lang="zh-CN" altLang="en-US" sz="2000">
                <a:latin typeface="Consolas" pitchFamily="49" charset="0"/>
                <a:ea typeface="仿宋" pitchFamily="49" charset="-122"/>
                <a:cs typeface="Consolas" pitchFamily="49" charset="0"/>
              </a:rPr>
              <a:t>、</a:t>
            </a:r>
            <a:r>
              <a:rPr lang="en-US" altLang="zh-CN" sz="2000">
                <a:latin typeface="Consolas" pitchFamily="49" charset="0"/>
                <a:ea typeface="仿宋" pitchFamily="49" charset="-122"/>
                <a:cs typeface="Consolas" pitchFamily="49" charset="0"/>
              </a:rPr>
              <a:t>6</a:t>
            </a:r>
            <a:r>
              <a:rPr lang="zh-CN" altLang="en-US" sz="2000">
                <a:latin typeface="Consolas" pitchFamily="49" charset="0"/>
                <a:ea typeface="仿宋" pitchFamily="49" charset="-122"/>
                <a:cs typeface="Consolas" pitchFamily="49" charset="0"/>
              </a:rPr>
              <a:t>的距离均为</a:t>
            </a:r>
            <a:r>
              <a:rPr lang="en-US" altLang="zh-CN" sz="2000">
                <a:latin typeface="Consolas" pitchFamily="49" charset="0"/>
                <a:ea typeface="仿宋" pitchFamily="49" charset="-122"/>
                <a:cs typeface="Consolas" pitchFamily="49" charset="0"/>
              </a:rPr>
              <a:t>1</a:t>
            </a:r>
            <a:r>
              <a:rPr lang="zh-CN" altLang="en-US" sz="2000">
                <a:latin typeface="Consolas" pitchFamily="49" charset="0"/>
                <a:ea typeface="仿宋" pitchFamily="49" charset="-122"/>
                <a:cs typeface="Consolas" pitchFamily="49" charset="0"/>
              </a:rPr>
              <a:t>。一定是</a:t>
            </a:r>
            <a:r>
              <a:rPr lang="en-US" altLang="zh-CN" sz="2000">
                <a:latin typeface="Consolas" pitchFamily="49" charset="0"/>
                <a:ea typeface="仿宋" pitchFamily="49" charset="-122"/>
                <a:cs typeface="Consolas" pitchFamily="49" charset="0"/>
              </a:rPr>
              <a:t>0</a:t>
            </a:r>
            <a:r>
              <a:rPr lang="zh-CN" altLang="en-US" sz="2000">
                <a:latin typeface="Consolas" pitchFamily="49" charset="0"/>
                <a:ea typeface="仿宋" pitchFamily="49" charset="-122"/>
                <a:cs typeface="Consolas" pitchFamily="49" charset="0"/>
              </a:rPr>
              <a:t>，后面为</a:t>
            </a:r>
            <a:r>
              <a:rPr lang="en-US" altLang="zh-CN" sz="2000">
                <a:latin typeface="Consolas" pitchFamily="49" charset="0"/>
                <a:ea typeface="仿宋" pitchFamily="49" charset="-122"/>
                <a:cs typeface="Consolas" pitchFamily="49" charset="0"/>
              </a:rPr>
              <a:t>2316</a:t>
            </a:r>
            <a:r>
              <a:rPr lang="zh-CN" altLang="en-US" sz="2000">
                <a:latin typeface="Consolas" pitchFamily="49" charset="0"/>
                <a:ea typeface="仿宋" pitchFamily="49" charset="-122"/>
                <a:cs typeface="Consolas" pitchFamily="49" charset="0"/>
              </a:rPr>
              <a:t>的排列</a:t>
            </a:r>
          </a:p>
        </p:txBody>
      </p:sp>
    </p:spTree>
    <p:extLst>
      <p:ext uri="{BB962C8B-B14F-4D97-AF65-F5344CB8AC3E}">
        <p14:creationId xmlns:p14="http://schemas.microsoft.com/office/powerpoint/2010/main" val="18788665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6" grpId="0"/>
      <p:bldP spid="154"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034A69-75F0-C4D7-CBD7-317CC70300C2}"/>
            </a:ext>
          </a:extLst>
        </p:cNvPr>
        <p:cNvGrpSpPr/>
        <p:nvPr/>
      </p:nvGrpSpPr>
      <p:grpSpPr>
        <a:xfrm>
          <a:off x="0" y="0"/>
          <a:ext cx="0" cy="0"/>
          <a:chOff x="0" y="0"/>
          <a:chExt cx="0" cy="0"/>
        </a:xfrm>
      </p:grpSpPr>
      <p:sp>
        <p:nvSpPr>
          <p:cNvPr id="2" name="Rectangle 2">
            <a:extLst>
              <a:ext uri="{FF2B5EF4-FFF2-40B4-BE49-F238E27FC236}">
                <a16:creationId xmlns:a16="http://schemas.microsoft.com/office/drawing/2014/main" id="{0B3B5F8C-B259-925D-2A87-FFDCE130BF90}"/>
              </a:ext>
            </a:extLst>
          </p:cNvPr>
          <p:cNvSpPr txBox="1">
            <a:spLocks noChangeArrowheads="1"/>
          </p:cNvSpPr>
          <p:nvPr/>
        </p:nvSpPr>
        <p:spPr>
          <a:xfrm>
            <a:off x="474772" y="1230902"/>
            <a:ext cx="4253076"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8.3.4 </a:t>
            </a:r>
            <a:r>
              <a:rPr kumimoji="1" lang="zh-CN" altLang="en-US" dirty="0">
                <a:latin typeface="微软雅黑" pitchFamily="34" charset="-122"/>
                <a:ea typeface="微软雅黑" pitchFamily="34" charset="-122"/>
              </a:rPr>
              <a:t>非连通图的遍历</a:t>
            </a:r>
            <a:endParaRPr lang="zh-CN" altLang="en-US" dirty="0"/>
          </a:p>
        </p:txBody>
      </p:sp>
      <p:sp>
        <p:nvSpPr>
          <p:cNvPr id="3" name="矩形 2">
            <a:extLst>
              <a:ext uri="{FF2B5EF4-FFF2-40B4-BE49-F238E27FC236}">
                <a16:creationId xmlns:a16="http://schemas.microsoft.com/office/drawing/2014/main" id="{D680C5E4-A75F-5B07-108F-10F54F490731}"/>
              </a:ext>
            </a:extLst>
          </p:cNvPr>
          <p:cNvSpPr/>
          <p:nvPr/>
        </p:nvSpPr>
        <p:spPr>
          <a:xfrm>
            <a:off x="3200907" y="399148"/>
            <a:ext cx="4617860"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8.3 </a:t>
            </a:r>
            <a:r>
              <a:rPr lang="zh-CN" altLang="en-US" sz="3000" b="1" dirty="0">
                <a:latin typeface="黑体" pitchFamily="49" charset="-122"/>
                <a:ea typeface="黑体" pitchFamily="49" charset="-122"/>
                <a:cs typeface="经典粗黑简" pitchFamily="49" charset="-122"/>
              </a:rPr>
              <a:t>图的遍历</a:t>
            </a:r>
          </a:p>
        </p:txBody>
      </p:sp>
      <p:cxnSp>
        <p:nvCxnSpPr>
          <p:cNvPr id="4" name="直接连接符 3">
            <a:extLst>
              <a:ext uri="{FF2B5EF4-FFF2-40B4-BE49-F238E27FC236}">
                <a16:creationId xmlns:a16="http://schemas.microsoft.com/office/drawing/2014/main" id="{1D9E1001-34BE-3DC2-A95C-F2B0D33DEA46}"/>
              </a:ext>
            </a:extLst>
          </p:cNvPr>
          <p:cNvCxnSpPr>
            <a:cxnSpLocks/>
          </p:cNvCxnSpPr>
          <p:nvPr/>
        </p:nvCxnSpPr>
        <p:spPr>
          <a:xfrm>
            <a:off x="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8" name="矩形 7">
            <a:extLst>
              <a:ext uri="{FF2B5EF4-FFF2-40B4-BE49-F238E27FC236}">
                <a16:creationId xmlns:a16="http://schemas.microsoft.com/office/drawing/2014/main" id="{DBAB278B-1E6A-D820-139A-A58280965A46}"/>
              </a:ext>
            </a:extLst>
          </p:cNvPr>
          <p:cNvSpPr/>
          <p:nvPr/>
        </p:nvSpPr>
        <p:spPr>
          <a:xfrm>
            <a:off x="1611789" y="2126103"/>
            <a:ext cx="3570208" cy="461665"/>
          </a:xfrm>
          <a:prstGeom prst="rect">
            <a:avLst/>
          </a:prstGeom>
        </p:spPr>
        <p:txBody>
          <a:bodyPr wrap="none">
            <a:spAutoFit/>
          </a:bodyPr>
          <a:lstStyle/>
          <a:p>
            <a:pPr>
              <a:defRPr/>
            </a:pPr>
            <a:r>
              <a:rPr kumimoji="1" lang="zh-CN" altLang="en-US" sz="2400" dirty="0">
                <a:latin typeface="微软雅黑" pitchFamily="34" charset="-122"/>
                <a:ea typeface="微软雅黑" pitchFamily="34" charset="-122"/>
                <a:cs typeface="经典粗黑简" pitchFamily="49" charset="-122"/>
              </a:rPr>
              <a:t>⑴无向图的连通性的判断</a:t>
            </a:r>
          </a:p>
        </p:txBody>
      </p:sp>
      <p:sp>
        <p:nvSpPr>
          <p:cNvPr id="9" name="矩形 8">
            <a:extLst>
              <a:ext uri="{FF2B5EF4-FFF2-40B4-BE49-F238E27FC236}">
                <a16:creationId xmlns:a16="http://schemas.microsoft.com/office/drawing/2014/main" id="{48BC67BD-3397-62B9-A365-908250F0895F}"/>
              </a:ext>
            </a:extLst>
          </p:cNvPr>
          <p:cNvSpPr/>
          <p:nvPr/>
        </p:nvSpPr>
        <p:spPr>
          <a:xfrm>
            <a:off x="1611788" y="2637515"/>
            <a:ext cx="9020716" cy="830997"/>
          </a:xfrm>
          <a:prstGeom prst="rect">
            <a:avLst/>
          </a:prstGeom>
        </p:spPr>
        <p:txBody>
          <a:bodyPr wrap="square">
            <a:spAutoFit/>
          </a:bodyPr>
          <a:lstStyle/>
          <a:p>
            <a:r>
              <a:rPr kumimoji="1" lang="zh-CN" altLang="en-US" sz="2400" dirty="0">
                <a:latin typeface="微软雅黑" pitchFamily="34" charset="-122"/>
                <a:ea typeface="微软雅黑" pitchFamily="34" charset="-122"/>
                <a:cs typeface="经典粗黑简" pitchFamily="49" charset="-122"/>
              </a:rPr>
              <a:t>要想判定一个无向图是否为连通图，或有几个连通分量，通过对无向图遍历即可得到结果。</a:t>
            </a:r>
            <a:endParaRPr lang="zh-CN" altLang="en-US" sz="2400" dirty="0"/>
          </a:p>
        </p:txBody>
      </p:sp>
      <p:sp>
        <p:nvSpPr>
          <p:cNvPr id="10" name="矩形 9">
            <a:extLst>
              <a:ext uri="{FF2B5EF4-FFF2-40B4-BE49-F238E27FC236}">
                <a16:creationId xmlns:a16="http://schemas.microsoft.com/office/drawing/2014/main" id="{123529C1-35FB-26FB-3E3A-C6C7EBC368B8}"/>
              </a:ext>
            </a:extLst>
          </p:cNvPr>
          <p:cNvSpPr/>
          <p:nvPr/>
        </p:nvSpPr>
        <p:spPr>
          <a:xfrm>
            <a:off x="1559496" y="3622483"/>
            <a:ext cx="8784976" cy="830997"/>
          </a:xfrm>
          <a:prstGeom prst="rect">
            <a:avLst/>
          </a:prstGeom>
        </p:spPr>
        <p:txBody>
          <a:bodyPr wrap="square">
            <a:spAutoFit/>
          </a:bodyPr>
          <a:lstStyle/>
          <a:p>
            <a:r>
              <a:rPr kumimoji="1" lang="zh-CN" altLang="en-US" sz="2400" dirty="0">
                <a:latin typeface="微软雅黑" pitchFamily="34" charset="-122"/>
                <a:ea typeface="微软雅黑" pitchFamily="34" charset="-122"/>
                <a:cs typeface="经典粗黑简" pitchFamily="49" charset="-122"/>
              </a:rPr>
              <a:t>⑵连通图：仅需从图中任一顶点出发，进行深度优先搜索（或广度优先搜索），便可访问到图中所有顶点。</a:t>
            </a:r>
            <a:endParaRPr lang="zh-CN" altLang="en-US" sz="2400" dirty="0"/>
          </a:p>
        </p:txBody>
      </p:sp>
      <p:sp>
        <p:nvSpPr>
          <p:cNvPr id="11" name="矩形 10">
            <a:extLst>
              <a:ext uri="{FF2B5EF4-FFF2-40B4-BE49-F238E27FC236}">
                <a16:creationId xmlns:a16="http://schemas.microsoft.com/office/drawing/2014/main" id="{D909A149-C3B6-F0C7-E6F9-38A4D9F7B71E}"/>
              </a:ext>
            </a:extLst>
          </p:cNvPr>
          <p:cNvSpPr/>
          <p:nvPr/>
        </p:nvSpPr>
        <p:spPr>
          <a:xfrm>
            <a:off x="1559496" y="4598279"/>
            <a:ext cx="8856983" cy="1200329"/>
          </a:xfrm>
          <a:prstGeom prst="rect">
            <a:avLst/>
          </a:prstGeom>
        </p:spPr>
        <p:txBody>
          <a:bodyPr wrap="square">
            <a:spAutoFit/>
          </a:bodyPr>
          <a:lstStyle/>
          <a:p>
            <a:r>
              <a:rPr kumimoji="1" lang="zh-CN" altLang="en-US" sz="2400" dirty="0">
                <a:latin typeface="微软雅黑" pitchFamily="34" charset="-122"/>
                <a:ea typeface="微软雅黑" pitchFamily="34" charset="-122"/>
                <a:cs typeface="经典粗黑简" pitchFamily="49" charset="-122"/>
              </a:rPr>
              <a:t>⑶非连通图：需从多个顶点出发进行搜索，而每一次从一个新的起始点出发进行搜索过程中得到的顶点访问序列恰为其各个连通分量中的顶点集。</a:t>
            </a:r>
            <a:endParaRPr lang="zh-CN" altLang="en-US" sz="2400" dirty="0"/>
          </a:p>
        </p:txBody>
      </p:sp>
    </p:spTree>
    <p:extLst>
      <p:ext uri="{BB962C8B-B14F-4D97-AF65-F5344CB8AC3E}">
        <p14:creationId xmlns:p14="http://schemas.microsoft.com/office/powerpoint/2010/main" val="259388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P spid="11"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6EACC-0779-F7CA-FE54-4FDE46A1A966}"/>
            </a:ext>
          </a:extLst>
        </p:cNvPr>
        <p:cNvGrpSpPr/>
        <p:nvPr/>
      </p:nvGrpSpPr>
      <p:grpSpPr>
        <a:xfrm>
          <a:off x="0" y="0"/>
          <a:ext cx="0" cy="0"/>
          <a:chOff x="0" y="0"/>
          <a:chExt cx="0" cy="0"/>
        </a:xfrm>
      </p:grpSpPr>
      <p:sp>
        <p:nvSpPr>
          <p:cNvPr id="2" name="Rectangle 2">
            <a:extLst>
              <a:ext uri="{FF2B5EF4-FFF2-40B4-BE49-F238E27FC236}">
                <a16:creationId xmlns:a16="http://schemas.microsoft.com/office/drawing/2014/main" id="{3BF84EB6-BAAD-686D-8CFB-974EA8E41237}"/>
              </a:ext>
            </a:extLst>
          </p:cNvPr>
          <p:cNvSpPr txBox="1">
            <a:spLocks noChangeArrowheads="1"/>
          </p:cNvSpPr>
          <p:nvPr/>
        </p:nvSpPr>
        <p:spPr>
          <a:xfrm>
            <a:off x="474772" y="1230902"/>
            <a:ext cx="4253076"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8.3.4 </a:t>
            </a:r>
            <a:r>
              <a:rPr kumimoji="1" lang="zh-CN" altLang="en-US" dirty="0">
                <a:latin typeface="微软雅黑" pitchFamily="34" charset="-122"/>
                <a:ea typeface="微软雅黑" pitchFamily="34" charset="-122"/>
              </a:rPr>
              <a:t>非连通图的遍历</a:t>
            </a:r>
            <a:endParaRPr lang="zh-CN" altLang="en-US" dirty="0"/>
          </a:p>
        </p:txBody>
      </p:sp>
      <p:sp>
        <p:nvSpPr>
          <p:cNvPr id="3" name="矩形 2">
            <a:extLst>
              <a:ext uri="{FF2B5EF4-FFF2-40B4-BE49-F238E27FC236}">
                <a16:creationId xmlns:a16="http://schemas.microsoft.com/office/drawing/2014/main" id="{CAC9D1F3-78B3-7FC9-6305-D389E3FDEE56}"/>
              </a:ext>
            </a:extLst>
          </p:cNvPr>
          <p:cNvSpPr/>
          <p:nvPr/>
        </p:nvSpPr>
        <p:spPr>
          <a:xfrm>
            <a:off x="3200907" y="399148"/>
            <a:ext cx="4617860"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8.3 </a:t>
            </a:r>
            <a:r>
              <a:rPr lang="zh-CN" altLang="en-US" sz="3000" b="1" dirty="0">
                <a:latin typeface="黑体" pitchFamily="49" charset="-122"/>
                <a:ea typeface="黑体" pitchFamily="49" charset="-122"/>
                <a:cs typeface="经典粗黑简" pitchFamily="49" charset="-122"/>
              </a:rPr>
              <a:t>图的遍历</a:t>
            </a:r>
          </a:p>
        </p:txBody>
      </p:sp>
      <p:cxnSp>
        <p:nvCxnSpPr>
          <p:cNvPr id="4" name="直接连接符 3">
            <a:extLst>
              <a:ext uri="{FF2B5EF4-FFF2-40B4-BE49-F238E27FC236}">
                <a16:creationId xmlns:a16="http://schemas.microsoft.com/office/drawing/2014/main" id="{B1207EEE-A614-F31A-8A75-D885EA2A0FD5}"/>
              </a:ext>
            </a:extLst>
          </p:cNvPr>
          <p:cNvCxnSpPr>
            <a:cxnSpLocks/>
          </p:cNvCxnSpPr>
          <p:nvPr/>
        </p:nvCxnSpPr>
        <p:spPr>
          <a:xfrm>
            <a:off x="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5" name="Text Box 2">
            <a:extLst>
              <a:ext uri="{FF2B5EF4-FFF2-40B4-BE49-F238E27FC236}">
                <a16:creationId xmlns:a16="http://schemas.microsoft.com/office/drawing/2014/main" id="{3584860E-7E31-1FA3-626F-0966F1B0D186}"/>
              </a:ext>
            </a:extLst>
          </p:cNvPr>
          <p:cNvSpPr txBox="1">
            <a:spLocks noChangeArrowheads="1"/>
          </p:cNvSpPr>
          <p:nvPr/>
        </p:nvSpPr>
        <p:spPr bwMode="auto">
          <a:xfrm>
            <a:off x="1487488" y="2678477"/>
            <a:ext cx="7143800" cy="2572600"/>
          </a:xfrm>
          <a:prstGeom prst="rect">
            <a:avLst/>
          </a:prstGeom>
          <a:solidFill>
            <a:schemeClr val="bg1">
              <a:lumMod val="95000"/>
            </a:schemeClr>
          </a:solidFill>
          <a:ln>
            <a:headEnd/>
            <a:tailEnd/>
          </a:ln>
        </p:spPr>
        <p:style>
          <a:lnRef idx="1">
            <a:schemeClr val="accent3"/>
          </a:lnRef>
          <a:fillRef idx="2">
            <a:schemeClr val="accent3"/>
          </a:fillRef>
          <a:effectRef idx="1">
            <a:schemeClr val="accent3"/>
          </a:effectRef>
          <a:fontRef idx="minor">
            <a:schemeClr val="dk1"/>
          </a:fontRef>
        </p:style>
        <p:txBody>
          <a:bodyPr wrap="square" lIns="180000" tIns="108000" rIns="180000" bIns="108000">
            <a:spAutoFit/>
          </a:bodyPr>
          <a:lstStyle/>
          <a:p>
            <a:pPr algn="just">
              <a:spcBef>
                <a:spcPct val="50000"/>
              </a:spcBef>
            </a:pPr>
            <a:r>
              <a:rPr kumimoji="1" lang="en-US" altLang="zh-CN" sz="1800">
                <a:solidFill>
                  <a:srgbClr val="0000FF"/>
                </a:solidFill>
                <a:latin typeface="Consolas" pitchFamily="49" charset="0"/>
                <a:ea typeface="仿宋" pitchFamily="49" charset="-122"/>
                <a:cs typeface="Consolas" pitchFamily="49" charset="0"/>
              </a:rPr>
              <a:t>Void </a:t>
            </a:r>
            <a:r>
              <a:rPr kumimoji="1" lang="en-US" altLang="zh-CN" sz="1800">
                <a:solidFill>
                  <a:srgbClr val="FF0000"/>
                </a:solidFill>
                <a:latin typeface="Consolas" pitchFamily="49" charset="0"/>
                <a:ea typeface="仿宋" pitchFamily="49" charset="-122"/>
                <a:cs typeface="Consolas" pitchFamily="49" charset="0"/>
              </a:rPr>
              <a:t>DFS1</a:t>
            </a:r>
            <a:r>
              <a:rPr kumimoji="1" lang="en-US" altLang="zh-CN" sz="1800">
                <a:solidFill>
                  <a:srgbClr val="0000FF"/>
                </a:solidFill>
                <a:latin typeface="Consolas" pitchFamily="49" charset="0"/>
                <a:ea typeface="仿宋" pitchFamily="49" charset="-122"/>
                <a:cs typeface="Consolas" pitchFamily="49" charset="0"/>
              </a:rPr>
              <a:t>(AdjGraph </a:t>
            </a:r>
            <a:r>
              <a:rPr kumimoji="1" lang="en-US" altLang="zh-CN" sz="1800" dirty="0">
                <a:solidFill>
                  <a:srgbClr val="0000FF"/>
                </a:solidFill>
                <a:latin typeface="Consolas" pitchFamily="49" charset="0"/>
                <a:ea typeface="仿宋" pitchFamily="49" charset="-122"/>
                <a:cs typeface="Consolas" pitchFamily="49" charset="0"/>
              </a:rPr>
              <a:t>*G)</a:t>
            </a:r>
          </a:p>
          <a:p>
            <a:pPr algn="just">
              <a:spcBef>
                <a:spcPct val="50000"/>
              </a:spcBef>
            </a:pPr>
            <a:r>
              <a:rPr kumimoji="1" lang="en-US" altLang="zh-CN" sz="1800">
                <a:solidFill>
                  <a:srgbClr val="0000FF"/>
                </a:solidFill>
                <a:latin typeface="Consolas" pitchFamily="49" charset="0"/>
                <a:ea typeface="仿宋" pitchFamily="49" charset="-122"/>
                <a:cs typeface="Consolas" pitchFamily="49" charset="0"/>
              </a:rPr>
              <a:t>{  int </a:t>
            </a:r>
            <a:r>
              <a:rPr kumimoji="1" lang="en-US" altLang="zh-CN" sz="1800" dirty="0" err="1">
                <a:solidFill>
                  <a:srgbClr val="0000FF"/>
                </a:solidFill>
                <a:latin typeface="Consolas" pitchFamily="49" charset="0"/>
                <a:ea typeface="仿宋" pitchFamily="49" charset="-122"/>
                <a:cs typeface="Consolas" pitchFamily="49" charset="0"/>
              </a:rPr>
              <a:t>i</a:t>
            </a:r>
            <a:r>
              <a:rPr kumimoji="1" lang="en-US" altLang="zh-CN" sz="1800" dirty="0">
                <a:solidFill>
                  <a:srgbClr val="0000FF"/>
                </a:solidFill>
                <a:latin typeface="Consolas" pitchFamily="49" charset="0"/>
                <a:ea typeface="仿宋" pitchFamily="49" charset="-122"/>
                <a:cs typeface="Consolas" pitchFamily="49" charset="0"/>
              </a:rPr>
              <a:t>;</a:t>
            </a:r>
          </a:p>
          <a:p>
            <a:pPr algn="just">
              <a:spcBef>
                <a:spcPct val="50000"/>
              </a:spcBef>
            </a:pPr>
            <a:r>
              <a:rPr kumimoji="1" lang="en-US" altLang="zh-CN" sz="1800">
                <a:solidFill>
                  <a:srgbClr val="0000FF"/>
                </a:solidFill>
                <a:latin typeface="Consolas" pitchFamily="49" charset="0"/>
                <a:ea typeface="仿宋" pitchFamily="49" charset="-122"/>
                <a:cs typeface="Consolas" pitchFamily="49" charset="0"/>
              </a:rPr>
              <a:t>   for </a:t>
            </a:r>
            <a:r>
              <a:rPr kumimoji="1" lang="en-US" altLang="zh-CN" sz="1800" dirty="0">
                <a:solidFill>
                  <a:srgbClr val="0000FF"/>
                </a:solidFill>
                <a:latin typeface="Consolas" pitchFamily="49" charset="0"/>
                <a:ea typeface="仿宋" pitchFamily="49" charset="-122"/>
                <a:cs typeface="Consolas" pitchFamily="49" charset="0"/>
              </a:rPr>
              <a:t>(</a:t>
            </a:r>
            <a:r>
              <a:rPr kumimoji="1" lang="en-US" altLang="zh-CN" sz="1800" dirty="0" err="1">
                <a:solidFill>
                  <a:srgbClr val="0000FF"/>
                </a:solidFill>
                <a:latin typeface="Consolas" pitchFamily="49" charset="0"/>
                <a:ea typeface="仿宋" pitchFamily="49" charset="-122"/>
                <a:cs typeface="Consolas" pitchFamily="49" charset="0"/>
              </a:rPr>
              <a:t>i</a:t>
            </a:r>
            <a:r>
              <a:rPr kumimoji="1" lang="en-US" altLang="zh-CN" sz="1800" dirty="0">
                <a:solidFill>
                  <a:srgbClr val="0000FF"/>
                </a:solidFill>
                <a:latin typeface="Consolas" pitchFamily="49" charset="0"/>
                <a:ea typeface="仿宋" pitchFamily="49" charset="-122"/>
                <a:cs typeface="Consolas" pitchFamily="49" charset="0"/>
              </a:rPr>
              <a:t>=</a:t>
            </a:r>
            <a:r>
              <a:rPr kumimoji="1" lang="en-US" altLang="zh-CN" sz="1800" dirty="0" err="1">
                <a:solidFill>
                  <a:srgbClr val="0000FF"/>
                </a:solidFill>
                <a:latin typeface="Consolas" pitchFamily="49" charset="0"/>
                <a:ea typeface="仿宋" pitchFamily="49" charset="-122"/>
                <a:cs typeface="Consolas" pitchFamily="49" charset="0"/>
              </a:rPr>
              <a:t>0;i</a:t>
            </a:r>
            <a:r>
              <a:rPr kumimoji="1" lang="en-US" altLang="zh-CN" sz="1800" dirty="0">
                <a:solidFill>
                  <a:srgbClr val="0000FF"/>
                </a:solidFill>
                <a:latin typeface="Consolas" pitchFamily="49" charset="0"/>
                <a:ea typeface="仿宋" pitchFamily="49" charset="-122"/>
                <a:cs typeface="Consolas" pitchFamily="49" charset="0"/>
              </a:rPr>
              <a:t>&lt;G-&gt;</a:t>
            </a:r>
            <a:r>
              <a:rPr kumimoji="1" lang="en-US" altLang="zh-CN" sz="1800" dirty="0" err="1">
                <a:solidFill>
                  <a:srgbClr val="0000FF"/>
                </a:solidFill>
                <a:latin typeface="Consolas" pitchFamily="49" charset="0"/>
                <a:ea typeface="仿宋" pitchFamily="49" charset="-122"/>
                <a:cs typeface="Consolas" pitchFamily="49" charset="0"/>
              </a:rPr>
              <a:t>n;i</a:t>
            </a:r>
            <a:r>
              <a:rPr kumimoji="1" lang="en-US" altLang="zh-CN" sz="1800" dirty="0">
                <a:solidFill>
                  <a:srgbClr val="0000FF"/>
                </a:solidFill>
                <a:latin typeface="Consolas" pitchFamily="49" charset="0"/>
                <a:ea typeface="仿宋" pitchFamily="49" charset="-122"/>
                <a:cs typeface="Consolas" pitchFamily="49" charset="0"/>
              </a:rPr>
              <a:t>++)     </a:t>
            </a:r>
            <a:r>
              <a:rPr kumimoji="1" lang="en-US" altLang="zh-CN" sz="1800" dirty="0">
                <a:solidFill>
                  <a:srgbClr val="00B0F0"/>
                </a:solidFill>
                <a:latin typeface="Consolas" pitchFamily="49" charset="0"/>
                <a:ea typeface="仿宋" pitchFamily="49" charset="-122"/>
                <a:cs typeface="Consolas" pitchFamily="49" charset="0"/>
              </a:rPr>
              <a:t>//</a:t>
            </a:r>
            <a:r>
              <a:rPr kumimoji="1" lang="zh-CN" altLang="en-US" sz="1800" dirty="0">
                <a:solidFill>
                  <a:srgbClr val="00B0F0"/>
                </a:solidFill>
                <a:latin typeface="Consolas" pitchFamily="49" charset="0"/>
                <a:ea typeface="仿宋" pitchFamily="49" charset="-122"/>
                <a:cs typeface="Consolas" pitchFamily="49" charset="0"/>
              </a:rPr>
              <a:t>遍历所有未访问过的顶点</a:t>
            </a:r>
          </a:p>
          <a:p>
            <a:pPr algn="just">
              <a:spcBef>
                <a:spcPct val="50000"/>
              </a:spcBef>
            </a:pPr>
            <a:r>
              <a:rPr kumimoji="1" lang="zh-CN" altLang="en-US" sz="1800">
                <a:solidFill>
                  <a:srgbClr val="0000FF"/>
                </a:solidFill>
                <a:latin typeface="Consolas" pitchFamily="49" charset="0"/>
                <a:ea typeface="仿宋" pitchFamily="49" charset="-122"/>
                <a:cs typeface="Consolas" pitchFamily="49" charset="0"/>
              </a:rPr>
              <a:t>      </a:t>
            </a:r>
            <a:r>
              <a:rPr kumimoji="1" lang="en-US" altLang="zh-CN" sz="1800">
                <a:solidFill>
                  <a:srgbClr val="0000FF"/>
                </a:solidFill>
                <a:latin typeface="Consolas" pitchFamily="49" charset="0"/>
                <a:ea typeface="仿宋" pitchFamily="49" charset="-122"/>
                <a:cs typeface="Consolas" pitchFamily="49" charset="0"/>
              </a:rPr>
              <a:t>if </a:t>
            </a:r>
            <a:r>
              <a:rPr kumimoji="1" lang="en-US" altLang="zh-CN" sz="1800" dirty="0">
                <a:solidFill>
                  <a:srgbClr val="0000FF"/>
                </a:solidFill>
                <a:latin typeface="Consolas" pitchFamily="49" charset="0"/>
                <a:ea typeface="仿宋" pitchFamily="49" charset="-122"/>
                <a:cs typeface="Consolas" pitchFamily="49" charset="0"/>
              </a:rPr>
              <a:t>(visited[</a:t>
            </a:r>
            <a:r>
              <a:rPr kumimoji="1" lang="en-US" altLang="zh-CN" sz="1800" dirty="0" err="1">
                <a:solidFill>
                  <a:srgbClr val="0000FF"/>
                </a:solidFill>
                <a:latin typeface="Consolas" pitchFamily="49" charset="0"/>
                <a:ea typeface="仿宋" pitchFamily="49" charset="-122"/>
                <a:cs typeface="Consolas" pitchFamily="49" charset="0"/>
              </a:rPr>
              <a:t>i</a:t>
            </a:r>
            <a:r>
              <a:rPr kumimoji="1" lang="en-US" altLang="zh-CN" sz="1800" dirty="0">
                <a:solidFill>
                  <a:srgbClr val="0000FF"/>
                </a:solidFill>
                <a:latin typeface="Consolas" pitchFamily="49" charset="0"/>
                <a:ea typeface="仿宋" pitchFamily="49" charset="-122"/>
                <a:cs typeface="Consolas" pitchFamily="49" charset="0"/>
              </a:rPr>
              <a:t>]==0) </a:t>
            </a:r>
          </a:p>
          <a:p>
            <a:pPr algn="just">
              <a:spcBef>
                <a:spcPct val="50000"/>
              </a:spcBef>
            </a:pPr>
            <a:r>
              <a:rPr kumimoji="1" lang="en-US" altLang="zh-CN" sz="1800">
                <a:solidFill>
                  <a:srgbClr val="0000FF"/>
                </a:solidFill>
                <a:latin typeface="Consolas" pitchFamily="49" charset="0"/>
                <a:ea typeface="仿宋" pitchFamily="49" charset="-122"/>
                <a:cs typeface="Consolas" pitchFamily="49" charset="0"/>
              </a:rPr>
              <a:t>         </a:t>
            </a:r>
            <a:r>
              <a:rPr kumimoji="1" lang="en-US" altLang="zh-CN" sz="1800">
                <a:solidFill>
                  <a:srgbClr val="FF0000"/>
                </a:solidFill>
                <a:latin typeface="Consolas" pitchFamily="49" charset="0"/>
                <a:ea typeface="仿宋" pitchFamily="49" charset="-122"/>
                <a:cs typeface="Consolas" pitchFamily="49" charset="0"/>
              </a:rPr>
              <a:t>DFS</a:t>
            </a:r>
            <a:r>
              <a:rPr kumimoji="1" lang="en-US" altLang="zh-CN" sz="1800">
                <a:solidFill>
                  <a:srgbClr val="0000FF"/>
                </a:solidFill>
                <a:latin typeface="Consolas" pitchFamily="49" charset="0"/>
                <a:ea typeface="仿宋" pitchFamily="49" charset="-122"/>
                <a:cs typeface="Consolas" pitchFamily="49" charset="0"/>
              </a:rPr>
              <a:t>(G</a:t>
            </a:r>
            <a:r>
              <a:rPr kumimoji="1" lang="zh-CN" altLang="en-US" sz="1800">
                <a:solidFill>
                  <a:srgbClr val="0000FF"/>
                </a:solidFill>
                <a:latin typeface="Consolas" pitchFamily="49" charset="0"/>
                <a:ea typeface="仿宋" pitchFamily="49" charset="-122"/>
                <a:cs typeface="Consolas" pitchFamily="49" charset="0"/>
              </a:rPr>
              <a:t>，</a:t>
            </a:r>
            <a:r>
              <a:rPr kumimoji="1" lang="en-US" altLang="zh-CN" sz="1800">
                <a:solidFill>
                  <a:srgbClr val="0000FF"/>
                </a:solidFill>
                <a:latin typeface="Consolas" pitchFamily="49" charset="0"/>
                <a:ea typeface="仿宋" pitchFamily="49" charset="-122"/>
                <a:cs typeface="Consolas" pitchFamily="49" charset="0"/>
              </a:rPr>
              <a:t>i</a:t>
            </a:r>
            <a:r>
              <a:rPr kumimoji="1" lang="en-US" altLang="zh-CN" sz="1800" dirty="0">
                <a:solidFill>
                  <a:srgbClr val="0000FF"/>
                </a:solidFill>
                <a:latin typeface="Consolas" pitchFamily="49" charset="0"/>
                <a:ea typeface="仿宋" pitchFamily="49" charset="-122"/>
                <a:cs typeface="Consolas" pitchFamily="49" charset="0"/>
              </a:rPr>
              <a:t>);</a:t>
            </a:r>
          </a:p>
          <a:p>
            <a:pPr algn="just">
              <a:spcBef>
                <a:spcPct val="50000"/>
              </a:spcBef>
            </a:pPr>
            <a:r>
              <a:rPr kumimoji="1" lang="en-US" altLang="zh-CN" sz="1800" dirty="0">
                <a:solidFill>
                  <a:srgbClr val="0000FF"/>
                </a:solidFill>
                <a:latin typeface="Consolas" pitchFamily="49" charset="0"/>
                <a:ea typeface="仿宋" pitchFamily="49" charset="-122"/>
                <a:cs typeface="Consolas" pitchFamily="49" charset="0"/>
              </a:rPr>
              <a:t>}</a:t>
            </a:r>
          </a:p>
        </p:txBody>
      </p:sp>
      <p:sp>
        <p:nvSpPr>
          <p:cNvPr id="6" name="Text Box 3">
            <a:extLst>
              <a:ext uri="{FF2B5EF4-FFF2-40B4-BE49-F238E27FC236}">
                <a16:creationId xmlns:a16="http://schemas.microsoft.com/office/drawing/2014/main" id="{A17CF567-3845-7E6B-A8C1-F94FD8F390E2}"/>
              </a:ext>
            </a:extLst>
          </p:cNvPr>
          <p:cNvSpPr txBox="1">
            <a:spLocks noChangeArrowheads="1"/>
          </p:cNvSpPr>
          <p:nvPr/>
        </p:nvSpPr>
        <p:spPr bwMode="auto">
          <a:xfrm>
            <a:off x="1344612" y="1964097"/>
            <a:ext cx="7129463" cy="400110"/>
          </a:xfrm>
          <a:prstGeom prst="rect">
            <a:avLst/>
          </a:prstGeom>
          <a:noFill/>
          <a:ln w="28575" algn="ctr">
            <a:noFill/>
            <a:miter lim="800000"/>
            <a:headEnd/>
            <a:tailEnd type="none" w="med" len="lg"/>
          </a:ln>
        </p:spPr>
        <p:txBody>
          <a:bodyPr>
            <a:spAutoFit/>
          </a:bodyPr>
          <a:lstStyle/>
          <a:p>
            <a:pPr algn="just">
              <a:spcBef>
                <a:spcPct val="50000"/>
              </a:spcBef>
            </a:pPr>
            <a:r>
              <a:rPr kumimoji="1" lang="zh-CN" altLang="en-US" sz="2000" dirty="0">
                <a:latin typeface="楷体" pitchFamily="49" charset="-122"/>
                <a:ea typeface="楷体" pitchFamily="49" charset="-122"/>
              </a:rPr>
              <a:t>采用</a:t>
            </a:r>
            <a:r>
              <a:rPr kumimoji="1" lang="zh-CN" altLang="en-US" sz="2000">
                <a:latin typeface="楷体" pitchFamily="49" charset="-122"/>
                <a:ea typeface="楷体" pitchFamily="49" charset="-122"/>
              </a:rPr>
              <a:t>深度优先遍历方法</a:t>
            </a:r>
            <a:r>
              <a:rPr kumimoji="1" lang="zh-CN" altLang="en-US" sz="2000">
                <a:solidFill>
                  <a:srgbClr val="FF00FF"/>
                </a:solidFill>
                <a:latin typeface="楷体" pitchFamily="49" charset="-122"/>
                <a:ea typeface="楷体" pitchFamily="49" charset="-122"/>
              </a:rPr>
              <a:t>遍历非连通图</a:t>
            </a:r>
            <a:r>
              <a:rPr kumimoji="1" lang="zh-CN" altLang="en-US" sz="2000" dirty="0">
                <a:latin typeface="楷体" pitchFamily="49" charset="-122"/>
                <a:ea typeface="楷体" pitchFamily="49" charset="-122"/>
              </a:rPr>
              <a:t>的算法如下：</a:t>
            </a:r>
            <a:endParaRPr lang="zh-CN" altLang="en-US" sz="2000" dirty="0">
              <a:latin typeface="楷体" pitchFamily="49" charset="-122"/>
              <a:ea typeface="楷体" pitchFamily="49" charset="-122"/>
            </a:endParaRPr>
          </a:p>
        </p:txBody>
      </p:sp>
      <p:sp>
        <p:nvSpPr>
          <p:cNvPr id="7" name="TextBox 3">
            <a:extLst>
              <a:ext uri="{FF2B5EF4-FFF2-40B4-BE49-F238E27FC236}">
                <a16:creationId xmlns:a16="http://schemas.microsoft.com/office/drawing/2014/main" id="{68A2D2B3-06B9-1EB0-434A-82FBAB9C44EC}"/>
              </a:ext>
            </a:extLst>
          </p:cNvPr>
          <p:cNvSpPr txBox="1"/>
          <p:nvPr/>
        </p:nvSpPr>
        <p:spPr>
          <a:xfrm>
            <a:off x="1273174" y="5821749"/>
            <a:ext cx="6858048" cy="400110"/>
          </a:xfrm>
          <a:prstGeom prst="rect">
            <a:avLst/>
          </a:prstGeom>
          <a:noFill/>
        </p:spPr>
        <p:txBody>
          <a:bodyPr wrap="square" rtlCol="0">
            <a:spAutoFit/>
          </a:bodyPr>
          <a:lstStyle/>
          <a:p>
            <a:pPr algn="l"/>
            <a:r>
              <a:rPr kumimoji="1" lang="zh-CN" altLang="en-US" sz="2000">
                <a:solidFill>
                  <a:srgbClr val="FF00FF"/>
                </a:solidFill>
                <a:latin typeface="Consolas" pitchFamily="49" charset="0"/>
                <a:ea typeface="方正启体简体" pitchFamily="65" charset="-122"/>
                <a:cs typeface="Consolas" pitchFamily="49" charset="0"/>
              </a:rPr>
              <a:t>非连通图：</a:t>
            </a:r>
            <a:r>
              <a:rPr kumimoji="1" lang="zh-CN" altLang="en-US" sz="2000">
                <a:solidFill>
                  <a:srgbClr val="0000FF"/>
                </a:solidFill>
                <a:latin typeface="Consolas" pitchFamily="49" charset="0"/>
                <a:ea typeface="方正启体简体" pitchFamily="65" charset="-122"/>
                <a:cs typeface="Consolas" pitchFamily="49" charset="0"/>
              </a:rPr>
              <a:t>调用</a:t>
            </a:r>
            <a:r>
              <a:rPr kumimoji="1" lang="en-US" altLang="zh-CN" sz="2000">
                <a:solidFill>
                  <a:srgbClr val="FF3300"/>
                </a:solidFill>
                <a:latin typeface="Consolas" pitchFamily="49" charset="0"/>
                <a:ea typeface="方正启体简体" pitchFamily="65" charset="-122"/>
                <a:cs typeface="Consolas" pitchFamily="49" charset="0"/>
              </a:rPr>
              <a:t>DFS()</a:t>
            </a:r>
            <a:r>
              <a:rPr kumimoji="1" lang="zh-CN" altLang="en-US" sz="2000">
                <a:solidFill>
                  <a:srgbClr val="0000FF"/>
                </a:solidFill>
                <a:latin typeface="Consolas" pitchFamily="49" charset="0"/>
                <a:ea typeface="方正启体简体" pitchFamily="65" charset="-122"/>
                <a:cs typeface="Consolas" pitchFamily="49" charset="0"/>
              </a:rPr>
              <a:t>的次数恰好等于连通分量的个数</a:t>
            </a:r>
            <a:endParaRPr lang="zh-CN" altLang="en-US" sz="2000">
              <a:solidFill>
                <a:srgbClr val="0000FF"/>
              </a:solidFill>
              <a:latin typeface="Consolas" pitchFamily="49" charset="0"/>
              <a:ea typeface="方正启体简体" pitchFamily="65" charset="-122"/>
              <a:cs typeface="Consolas" pitchFamily="49" charset="0"/>
            </a:endParaRPr>
          </a:p>
        </p:txBody>
      </p:sp>
    </p:spTree>
    <p:extLst>
      <p:ext uri="{BB962C8B-B14F-4D97-AF65-F5344CB8AC3E}">
        <p14:creationId xmlns:p14="http://schemas.microsoft.com/office/powerpoint/2010/main" val="208681576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34709F-C647-A007-FA10-3E968B7488A7}"/>
            </a:ext>
          </a:extLst>
        </p:cNvPr>
        <p:cNvGrpSpPr/>
        <p:nvPr/>
      </p:nvGrpSpPr>
      <p:grpSpPr>
        <a:xfrm>
          <a:off x="0" y="0"/>
          <a:ext cx="0" cy="0"/>
          <a:chOff x="0" y="0"/>
          <a:chExt cx="0" cy="0"/>
        </a:xfrm>
      </p:grpSpPr>
      <p:sp>
        <p:nvSpPr>
          <p:cNvPr id="2" name="Rectangle 2">
            <a:extLst>
              <a:ext uri="{FF2B5EF4-FFF2-40B4-BE49-F238E27FC236}">
                <a16:creationId xmlns:a16="http://schemas.microsoft.com/office/drawing/2014/main" id="{4BD4E2D8-F663-B2CD-8CF8-11BD487FE768}"/>
              </a:ext>
            </a:extLst>
          </p:cNvPr>
          <p:cNvSpPr txBox="1">
            <a:spLocks noChangeArrowheads="1"/>
          </p:cNvSpPr>
          <p:nvPr/>
        </p:nvSpPr>
        <p:spPr>
          <a:xfrm>
            <a:off x="474772" y="1230902"/>
            <a:ext cx="4253076"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8.3.4 </a:t>
            </a:r>
            <a:r>
              <a:rPr kumimoji="1" lang="zh-CN" altLang="en-US" dirty="0">
                <a:latin typeface="微软雅黑" pitchFamily="34" charset="-122"/>
                <a:ea typeface="微软雅黑" pitchFamily="34" charset="-122"/>
              </a:rPr>
              <a:t>非连通图的遍历</a:t>
            </a:r>
            <a:endParaRPr lang="zh-CN" altLang="en-US" dirty="0"/>
          </a:p>
        </p:txBody>
      </p:sp>
      <p:sp>
        <p:nvSpPr>
          <p:cNvPr id="3" name="矩形 2">
            <a:extLst>
              <a:ext uri="{FF2B5EF4-FFF2-40B4-BE49-F238E27FC236}">
                <a16:creationId xmlns:a16="http://schemas.microsoft.com/office/drawing/2014/main" id="{6C0EEFFE-09C1-7BAE-1215-9F5118B80E16}"/>
              </a:ext>
            </a:extLst>
          </p:cNvPr>
          <p:cNvSpPr/>
          <p:nvPr/>
        </p:nvSpPr>
        <p:spPr>
          <a:xfrm>
            <a:off x="3200907" y="399148"/>
            <a:ext cx="4617860"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8.3 </a:t>
            </a:r>
            <a:r>
              <a:rPr lang="zh-CN" altLang="en-US" sz="3000" b="1" dirty="0">
                <a:latin typeface="黑体" pitchFamily="49" charset="-122"/>
                <a:ea typeface="黑体" pitchFamily="49" charset="-122"/>
                <a:cs typeface="经典粗黑简" pitchFamily="49" charset="-122"/>
              </a:rPr>
              <a:t>图的遍历</a:t>
            </a:r>
          </a:p>
        </p:txBody>
      </p:sp>
      <p:cxnSp>
        <p:nvCxnSpPr>
          <p:cNvPr id="4" name="直接连接符 3">
            <a:extLst>
              <a:ext uri="{FF2B5EF4-FFF2-40B4-BE49-F238E27FC236}">
                <a16:creationId xmlns:a16="http://schemas.microsoft.com/office/drawing/2014/main" id="{D3FF213C-5238-B8E3-FB01-E4433B432D66}"/>
              </a:ext>
            </a:extLst>
          </p:cNvPr>
          <p:cNvCxnSpPr>
            <a:cxnSpLocks/>
          </p:cNvCxnSpPr>
          <p:nvPr/>
        </p:nvCxnSpPr>
        <p:spPr>
          <a:xfrm>
            <a:off x="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8" name="Text Box 2">
            <a:extLst>
              <a:ext uri="{FF2B5EF4-FFF2-40B4-BE49-F238E27FC236}">
                <a16:creationId xmlns:a16="http://schemas.microsoft.com/office/drawing/2014/main" id="{5AE896AA-9304-F881-6B3B-CD83B189DB12}"/>
              </a:ext>
            </a:extLst>
          </p:cNvPr>
          <p:cNvSpPr txBox="1">
            <a:spLocks noChangeArrowheads="1"/>
          </p:cNvSpPr>
          <p:nvPr/>
        </p:nvSpPr>
        <p:spPr bwMode="auto">
          <a:xfrm>
            <a:off x="1487488" y="2708920"/>
            <a:ext cx="6896120" cy="2572600"/>
          </a:xfrm>
          <a:prstGeom prst="rect">
            <a:avLst/>
          </a:prstGeom>
          <a:solidFill>
            <a:schemeClr val="bg1">
              <a:lumMod val="95000"/>
            </a:schemeClr>
          </a:solidFill>
          <a:ln>
            <a:headEnd/>
            <a:tailEnd/>
          </a:ln>
        </p:spPr>
        <p:style>
          <a:lnRef idx="1">
            <a:schemeClr val="accent3"/>
          </a:lnRef>
          <a:fillRef idx="2">
            <a:schemeClr val="accent3"/>
          </a:fillRef>
          <a:effectRef idx="1">
            <a:schemeClr val="accent3"/>
          </a:effectRef>
          <a:fontRef idx="minor">
            <a:schemeClr val="dk1"/>
          </a:fontRef>
        </p:style>
        <p:txBody>
          <a:bodyPr wrap="square" lIns="180000" tIns="108000" rIns="180000" bIns="108000">
            <a:spAutoFit/>
          </a:bodyPr>
          <a:lstStyle/>
          <a:p>
            <a:pPr algn="just">
              <a:spcBef>
                <a:spcPct val="50000"/>
              </a:spcBef>
            </a:pPr>
            <a:r>
              <a:rPr kumimoji="1" lang="en-US" altLang="zh-CN" sz="1800">
                <a:solidFill>
                  <a:srgbClr val="0000FF"/>
                </a:solidFill>
                <a:latin typeface="Consolas" pitchFamily="49" charset="0"/>
                <a:ea typeface="仿宋" pitchFamily="49" charset="-122"/>
                <a:cs typeface="Consolas" pitchFamily="49" charset="0"/>
              </a:rPr>
              <a:t>void  </a:t>
            </a:r>
            <a:r>
              <a:rPr kumimoji="1" lang="en-US" altLang="zh-CN" sz="1800">
                <a:solidFill>
                  <a:srgbClr val="FF0000"/>
                </a:solidFill>
                <a:latin typeface="Consolas" pitchFamily="49" charset="0"/>
                <a:ea typeface="仿宋" pitchFamily="49" charset="-122"/>
                <a:cs typeface="Consolas" pitchFamily="49" charset="0"/>
              </a:rPr>
              <a:t>BFS1</a:t>
            </a:r>
            <a:r>
              <a:rPr kumimoji="1" lang="en-US" altLang="zh-CN" sz="1800">
                <a:solidFill>
                  <a:srgbClr val="0000FF"/>
                </a:solidFill>
                <a:latin typeface="Consolas" pitchFamily="49" charset="0"/>
                <a:ea typeface="仿宋" pitchFamily="49" charset="-122"/>
                <a:cs typeface="Consolas" pitchFamily="49" charset="0"/>
              </a:rPr>
              <a:t>(AdjGraph </a:t>
            </a:r>
            <a:r>
              <a:rPr kumimoji="1" lang="en-US" altLang="zh-CN" sz="1800" dirty="0">
                <a:solidFill>
                  <a:srgbClr val="0000FF"/>
                </a:solidFill>
                <a:latin typeface="Consolas" pitchFamily="49" charset="0"/>
                <a:ea typeface="仿宋" pitchFamily="49" charset="-122"/>
                <a:cs typeface="Consolas" pitchFamily="49" charset="0"/>
              </a:rPr>
              <a:t>*G)</a:t>
            </a:r>
          </a:p>
          <a:p>
            <a:pPr algn="just">
              <a:spcBef>
                <a:spcPct val="50000"/>
              </a:spcBef>
            </a:pPr>
            <a:r>
              <a:rPr kumimoji="1" lang="en-US" altLang="zh-CN" sz="1800">
                <a:solidFill>
                  <a:srgbClr val="0000FF"/>
                </a:solidFill>
                <a:latin typeface="Consolas" pitchFamily="49" charset="0"/>
                <a:ea typeface="仿宋" pitchFamily="49" charset="-122"/>
                <a:cs typeface="Consolas" pitchFamily="49" charset="0"/>
              </a:rPr>
              <a:t>{  int </a:t>
            </a:r>
            <a:r>
              <a:rPr kumimoji="1" lang="en-US" altLang="zh-CN" sz="1800" dirty="0" err="1">
                <a:solidFill>
                  <a:srgbClr val="0000FF"/>
                </a:solidFill>
                <a:latin typeface="Consolas" pitchFamily="49" charset="0"/>
                <a:ea typeface="仿宋" pitchFamily="49" charset="-122"/>
                <a:cs typeface="Consolas" pitchFamily="49" charset="0"/>
              </a:rPr>
              <a:t>i</a:t>
            </a:r>
            <a:r>
              <a:rPr kumimoji="1" lang="en-US" altLang="zh-CN" sz="1800" dirty="0">
                <a:solidFill>
                  <a:srgbClr val="0000FF"/>
                </a:solidFill>
                <a:latin typeface="Consolas" pitchFamily="49" charset="0"/>
                <a:ea typeface="仿宋" pitchFamily="49" charset="-122"/>
                <a:cs typeface="Consolas" pitchFamily="49" charset="0"/>
              </a:rPr>
              <a:t>;</a:t>
            </a:r>
          </a:p>
          <a:p>
            <a:pPr algn="just">
              <a:spcBef>
                <a:spcPct val="50000"/>
              </a:spcBef>
            </a:pPr>
            <a:r>
              <a:rPr kumimoji="1" lang="en-US" altLang="zh-CN" sz="1800">
                <a:solidFill>
                  <a:srgbClr val="0000FF"/>
                </a:solidFill>
                <a:latin typeface="Consolas" pitchFamily="49" charset="0"/>
                <a:ea typeface="仿宋" pitchFamily="49" charset="-122"/>
                <a:cs typeface="Consolas" pitchFamily="49" charset="0"/>
              </a:rPr>
              <a:t>   for </a:t>
            </a:r>
            <a:r>
              <a:rPr kumimoji="1" lang="en-US" altLang="zh-CN" sz="1800" dirty="0">
                <a:solidFill>
                  <a:srgbClr val="0000FF"/>
                </a:solidFill>
                <a:latin typeface="Consolas" pitchFamily="49" charset="0"/>
                <a:ea typeface="仿宋" pitchFamily="49" charset="-122"/>
                <a:cs typeface="Consolas" pitchFamily="49" charset="0"/>
              </a:rPr>
              <a:t>(</a:t>
            </a:r>
            <a:r>
              <a:rPr kumimoji="1" lang="en-US" altLang="zh-CN" sz="1800" dirty="0" err="1">
                <a:solidFill>
                  <a:srgbClr val="0000FF"/>
                </a:solidFill>
                <a:latin typeface="Consolas" pitchFamily="49" charset="0"/>
                <a:ea typeface="仿宋" pitchFamily="49" charset="-122"/>
                <a:cs typeface="Consolas" pitchFamily="49" charset="0"/>
              </a:rPr>
              <a:t>i</a:t>
            </a:r>
            <a:r>
              <a:rPr kumimoji="1" lang="en-US" altLang="zh-CN" sz="1800" dirty="0">
                <a:solidFill>
                  <a:srgbClr val="0000FF"/>
                </a:solidFill>
                <a:latin typeface="Consolas" pitchFamily="49" charset="0"/>
                <a:ea typeface="仿宋" pitchFamily="49" charset="-122"/>
                <a:cs typeface="Consolas" pitchFamily="49" charset="0"/>
              </a:rPr>
              <a:t>=</a:t>
            </a:r>
            <a:r>
              <a:rPr kumimoji="1" lang="en-US" altLang="zh-CN" sz="1800" dirty="0" err="1">
                <a:solidFill>
                  <a:srgbClr val="0000FF"/>
                </a:solidFill>
                <a:latin typeface="Consolas" pitchFamily="49" charset="0"/>
                <a:ea typeface="仿宋" pitchFamily="49" charset="-122"/>
                <a:cs typeface="Consolas" pitchFamily="49" charset="0"/>
              </a:rPr>
              <a:t>0;i</a:t>
            </a:r>
            <a:r>
              <a:rPr kumimoji="1" lang="en-US" altLang="zh-CN" sz="1800" dirty="0">
                <a:solidFill>
                  <a:srgbClr val="0000FF"/>
                </a:solidFill>
                <a:latin typeface="Consolas" pitchFamily="49" charset="0"/>
                <a:ea typeface="仿宋" pitchFamily="49" charset="-122"/>
                <a:cs typeface="Consolas" pitchFamily="49" charset="0"/>
              </a:rPr>
              <a:t>&lt;G-&gt;</a:t>
            </a:r>
            <a:r>
              <a:rPr kumimoji="1" lang="en-US" altLang="zh-CN" sz="1800" dirty="0" err="1">
                <a:solidFill>
                  <a:srgbClr val="0000FF"/>
                </a:solidFill>
                <a:latin typeface="Consolas" pitchFamily="49" charset="0"/>
                <a:ea typeface="仿宋" pitchFamily="49" charset="-122"/>
                <a:cs typeface="Consolas" pitchFamily="49" charset="0"/>
              </a:rPr>
              <a:t>n;i</a:t>
            </a:r>
            <a:r>
              <a:rPr kumimoji="1" lang="en-US" altLang="zh-CN" sz="1800" dirty="0">
                <a:solidFill>
                  <a:srgbClr val="0000FF"/>
                </a:solidFill>
                <a:latin typeface="Consolas" pitchFamily="49" charset="0"/>
                <a:ea typeface="仿宋" pitchFamily="49" charset="-122"/>
                <a:cs typeface="Consolas" pitchFamily="49" charset="0"/>
              </a:rPr>
              <a:t>++)     </a:t>
            </a:r>
            <a:r>
              <a:rPr kumimoji="1" lang="en-US" altLang="zh-CN" sz="1800" dirty="0">
                <a:solidFill>
                  <a:srgbClr val="00B0F0"/>
                </a:solidFill>
                <a:latin typeface="Consolas" pitchFamily="49" charset="0"/>
                <a:ea typeface="仿宋" pitchFamily="49" charset="-122"/>
                <a:cs typeface="Consolas" pitchFamily="49" charset="0"/>
              </a:rPr>
              <a:t>//</a:t>
            </a:r>
            <a:r>
              <a:rPr kumimoji="1" lang="zh-CN" altLang="en-US" sz="1800" dirty="0">
                <a:solidFill>
                  <a:srgbClr val="00B0F0"/>
                </a:solidFill>
                <a:latin typeface="Consolas" pitchFamily="49" charset="0"/>
                <a:ea typeface="仿宋" pitchFamily="49" charset="-122"/>
                <a:cs typeface="Consolas" pitchFamily="49" charset="0"/>
              </a:rPr>
              <a:t>遍历所有未访问过的顶点</a:t>
            </a:r>
          </a:p>
          <a:p>
            <a:pPr algn="just">
              <a:spcBef>
                <a:spcPct val="50000"/>
              </a:spcBef>
            </a:pPr>
            <a:r>
              <a:rPr kumimoji="1" lang="zh-CN" altLang="en-US" sz="1800">
                <a:solidFill>
                  <a:srgbClr val="0000FF"/>
                </a:solidFill>
                <a:latin typeface="Consolas" pitchFamily="49" charset="0"/>
                <a:ea typeface="仿宋" pitchFamily="49" charset="-122"/>
                <a:cs typeface="Consolas" pitchFamily="49" charset="0"/>
              </a:rPr>
              <a:t>      </a:t>
            </a:r>
            <a:r>
              <a:rPr kumimoji="1" lang="en-US" altLang="zh-CN" sz="1800" dirty="0">
                <a:solidFill>
                  <a:srgbClr val="0000FF"/>
                </a:solidFill>
                <a:latin typeface="Consolas" pitchFamily="49" charset="0"/>
                <a:ea typeface="仿宋" pitchFamily="49" charset="-122"/>
                <a:cs typeface="Consolas" pitchFamily="49" charset="0"/>
              </a:rPr>
              <a:t>if (visited[</a:t>
            </a:r>
            <a:r>
              <a:rPr kumimoji="1" lang="en-US" altLang="zh-CN" sz="1800" dirty="0" err="1">
                <a:solidFill>
                  <a:srgbClr val="0000FF"/>
                </a:solidFill>
                <a:latin typeface="Consolas" pitchFamily="49" charset="0"/>
                <a:ea typeface="仿宋" pitchFamily="49" charset="-122"/>
                <a:cs typeface="Consolas" pitchFamily="49" charset="0"/>
              </a:rPr>
              <a:t>i</a:t>
            </a:r>
            <a:r>
              <a:rPr kumimoji="1" lang="en-US" altLang="zh-CN" sz="1800" dirty="0">
                <a:solidFill>
                  <a:srgbClr val="0000FF"/>
                </a:solidFill>
                <a:latin typeface="Consolas" pitchFamily="49" charset="0"/>
                <a:ea typeface="仿宋" pitchFamily="49" charset="-122"/>
                <a:cs typeface="Consolas" pitchFamily="49" charset="0"/>
              </a:rPr>
              <a:t>]==0) </a:t>
            </a:r>
          </a:p>
          <a:p>
            <a:pPr algn="just">
              <a:spcBef>
                <a:spcPct val="50000"/>
              </a:spcBef>
            </a:pPr>
            <a:r>
              <a:rPr kumimoji="1" lang="en-US" altLang="zh-CN" sz="1800">
                <a:solidFill>
                  <a:srgbClr val="0000FF"/>
                </a:solidFill>
                <a:latin typeface="Consolas" pitchFamily="49" charset="0"/>
                <a:ea typeface="仿宋" pitchFamily="49" charset="-122"/>
                <a:cs typeface="Consolas" pitchFamily="49" charset="0"/>
              </a:rPr>
              <a:t>          </a:t>
            </a:r>
            <a:r>
              <a:rPr kumimoji="1" lang="en-US" altLang="zh-CN" sz="1800">
                <a:solidFill>
                  <a:srgbClr val="FF0000"/>
                </a:solidFill>
                <a:latin typeface="Consolas" pitchFamily="49" charset="0"/>
                <a:ea typeface="仿宋" pitchFamily="49" charset="-122"/>
                <a:cs typeface="Consolas" pitchFamily="49" charset="0"/>
              </a:rPr>
              <a:t>BFS</a:t>
            </a:r>
            <a:r>
              <a:rPr kumimoji="1" lang="en-US" altLang="zh-CN" sz="1800">
                <a:solidFill>
                  <a:srgbClr val="0000FF"/>
                </a:solidFill>
                <a:latin typeface="Consolas" pitchFamily="49" charset="0"/>
                <a:ea typeface="仿宋" pitchFamily="49" charset="-122"/>
                <a:cs typeface="Consolas" pitchFamily="49" charset="0"/>
              </a:rPr>
              <a:t>(G</a:t>
            </a:r>
            <a:r>
              <a:rPr kumimoji="1" lang="zh-CN" altLang="en-US" sz="1800">
                <a:solidFill>
                  <a:srgbClr val="0000FF"/>
                </a:solidFill>
                <a:latin typeface="Consolas" pitchFamily="49" charset="0"/>
                <a:ea typeface="仿宋" pitchFamily="49" charset="-122"/>
                <a:cs typeface="Consolas" pitchFamily="49" charset="0"/>
              </a:rPr>
              <a:t>，</a:t>
            </a:r>
            <a:r>
              <a:rPr kumimoji="1" lang="en-US" altLang="zh-CN" sz="1800">
                <a:solidFill>
                  <a:srgbClr val="0000FF"/>
                </a:solidFill>
                <a:latin typeface="Consolas" pitchFamily="49" charset="0"/>
                <a:ea typeface="仿宋" pitchFamily="49" charset="-122"/>
                <a:cs typeface="Consolas" pitchFamily="49" charset="0"/>
              </a:rPr>
              <a:t>i</a:t>
            </a:r>
            <a:r>
              <a:rPr kumimoji="1" lang="en-US" altLang="zh-CN" sz="1800" dirty="0">
                <a:solidFill>
                  <a:srgbClr val="0000FF"/>
                </a:solidFill>
                <a:latin typeface="Consolas" pitchFamily="49" charset="0"/>
                <a:ea typeface="仿宋" pitchFamily="49" charset="-122"/>
                <a:cs typeface="Consolas" pitchFamily="49" charset="0"/>
              </a:rPr>
              <a:t>);</a:t>
            </a:r>
          </a:p>
          <a:p>
            <a:pPr algn="just">
              <a:spcBef>
                <a:spcPct val="50000"/>
              </a:spcBef>
            </a:pPr>
            <a:r>
              <a:rPr kumimoji="1" lang="en-US" altLang="zh-CN" sz="1800" dirty="0">
                <a:solidFill>
                  <a:srgbClr val="0000FF"/>
                </a:solidFill>
                <a:latin typeface="Consolas" pitchFamily="49" charset="0"/>
                <a:ea typeface="仿宋" pitchFamily="49" charset="-122"/>
                <a:cs typeface="Consolas" pitchFamily="49" charset="0"/>
              </a:rPr>
              <a:t>}</a:t>
            </a:r>
          </a:p>
        </p:txBody>
      </p:sp>
      <p:sp>
        <p:nvSpPr>
          <p:cNvPr id="9" name="Text Box 3">
            <a:extLst>
              <a:ext uri="{FF2B5EF4-FFF2-40B4-BE49-F238E27FC236}">
                <a16:creationId xmlns:a16="http://schemas.microsoft.com/office/drawing/2014/main" id="{1C811103-1497-A931-DB11-F04A9A2BFD93}"/>
              </a:ext>
            </a:extLst>
          </p:cNvPr>
          <p:cNvSpPr txBox="1">
            <a:spLocks noChangeArrowheads="1"/>
          </p:cNvSpPr>
          <p:nvPr/>
        </p:nvSpPr>
        <p:spPr bwMode="auto">
          <a:xfrm>
            <a:off x="1382684" y="2027577"/>
            <a:ext cx="7345363" cy="400110"/>
          </a:xfrm>
          <a:prstGeom prst="rect">
            <a:avLst/>
          </a:prstGeom>
          <a:noFill/>
          <a:ln w="28575" algn="ctr">
            <a:noFill/>
            <a:miter lim="800000"/>
            <a:headEnd/>
            <a:tailEnd type="none" w="med" len="lg"/>
          </a:ln>
        </p:spPr>
        <p:txBody>
          <a:bodyPr>
            <a:spAutoFit/>
          </a:bodyPr>
          <a:lstStyle/>
          <a:p>
            <a:pPr algn="just">
              <a:spcBef>
                <a:spcPct val="50000"/>
              </a:spcBef>
            </a:pPr>
            <a:r>
              <a:rPr kumimoji="1" lang="zh-CN" altLang="en-US" sz="2000" dirty="0">
                <a:latin typeface="楷体" pitchFamily="49" charset="-122"/>
                <a:ea typeface="楷体" pitchFamily="49" charset="-122"/>
              </a:rPr>
              <a:t>采用</a:t>
            </a:r>
            <a:r>
              <a:rPr kumimoji="1" lang="zh-CN" altLang="en-US" sz="2000">
                <a:latin typeface="楷体" pitchFamily="49" charset="-122"/>
                <a:ea typeface="楷体" pitchFamily="49" charset="-122"/>
              </a:rPr>
              <a:t>广度优先遍历方法</a:t>
            </a:r>
            <a:r>
              <a:rPr kumimoji="1" lang="zh-CN" altLang="en-US" sz="2000">
                <a:solidFill>
                  <a:srgbClr val="FF00FF"/>
                </a:solidFill>
                <a:latin typeface="楷体" pitchFamily="49" charset="-122"/>
                <a:ea typeface="楷体" pitchFamily="49" charset="-122"/>
              </a:rPr>
              <a:t>遍历非连通图</a:t>
            </a:r>
            <a:r>
              <a:rPr kumimoji="1" lang="zh-CN" altLang="en-US" sz="2000" dirty="0">
                <a:latin typeface="楷体" pitchFamily="49" charset="-122"/>
                <a:ea typeface="楷体" pitchFamily="49" charset="-122"/>
              </a:rPr>
              <a:t>的算法如下：</a:t>
            </a:r>
            <a:endParaRPr lang="zh-CN" altLang="en-US" sz="2000" dirty="0">
              <a:latin typeface="楷体" pitchFamily="49" charset="-122"/>
              <a:ea typeface="楷体" pitchFamily="49" charset="-122"/>
            </a:endParaRPr>
          </a:p>
        </p:txBody>
      </p:sp>
      <p:sp>
        <p:nvSpPr>
          <p:cNvPr id="10" name="TextBox 3">
            <a:extLst>
              <a:ext uri="{FF2B5EF4-FFF2-40B4-BE49-F238E27FC236}">
                <a16:creationId xmlns:a16="http://schemas.microsoft.com/office/drawing/2014/main" id="{3BB1602F-06D0-BCC5-0245-221BCAF8DB66}"/>
              </a:ext>
            </a:extLst>
          </p:cNvPr>
          <p:cNvSpPr txBox="1"/>
          <p:nvPr/>
        </p:nvSpPr>
        <p:spPr>
          <a:xfrm>
            <a:off x="1454122" y="5780754"/>
            <a:ext cx="6500858" cy="400110"/>
          </a:xfrm>
          <a:prstGeom prst="rect">
            <a:avLst/>
          </a:prstGeom>
          <a:noFill/>
        </p:spPr>
        <p:txBody>
          <a:bodyPr wrap="square" rtlCol="0">
            <a:spAutoFit/>
          </a:bodyPr>
          <a:lstStyle/>
          <a:p>
            <a:pPr algn="l"/>
            <a:r>
              <a:rPr kumimoji="1" lang="zh-CN" altLang="en-US" sz="2000">
                <a:solidFill>
                  <a:srgbClr val="FF00FF"/>
                </a:solidFill>
                <a:latin typeface="Consolas" pitchFamily="49" charset="0"/>
                <a:ea typeface="方正启体简体" pitchFamily="65" charset="-122"/>
                <a:cs typeface="Consolas" pitchFamily="49" charset="0"/>
              </a:rPr>
              <a:t>非连通图：</a:t>
            </a:r>
            <a:r>
              <a:rPr kumimoji="1" lang="zh-CN" altLang="en-US" sz="2000">
                <a:solidFill>
                  <a:srgbClr val="0000FF"/>
                </a:solidFill>
                <a:latin typeface="Consolas" pitchFamily="49" charset="0"/>
                <a:ea typeface="方正启体简体" pitchFamily="65" charset="-122"/>
                <a:cs typeface="Consolas" pitchFamily="49" charset="0"/>
              </a:rPr>
              <a:t>调用</a:t>
            </a:r>
            <a:r>
              <a:rPr kumimoji="1" lang="en-US" altLang="zh-CN" sz="2000">
                <a:solidFill>
                  <a:srgbClr val="FF3300"/>
                </a:solidFill>
                <a:latin typeface="Consolas" pitchFamily="49" charset="0"/>
                <a:ea typeface="方正启体简体" pitchFamily="65" charset="-122"/>
                <a:cs typeface="Consolas" pitchFamily="49" charset="0"/>
              </a:rPr>
              <a:t>BFS()</a:t>
            </a:r>
            <a:r>
              <a:rPr kumimoji="1" lang="zh-CN" altLang="en-US" sz="2000">
                <a:solidFill>
                  <a:srgbClr val="0000FF"/>
                </a:solidFill>
                <a:latin typeface="Consolas" pitchFamily="49" charset="0"/>
                <a:ea typeface="方正启体简体" pitchFamily="65" charset="-122"/>
                <a:cs typeface="Consolas" pitchFamily="49" charset="0"/>
              </a:rPr>
              <a:t>的次数恰好等于连通分量的个数</a:t>
            </a:r>
            <a:endParaRPr lang="zh-CN" altLang="en-US" sz="2000">
              <a:solidFill>
                <a:srgbClr val="0000FF"/>
              </a:solidFill>
              <a:latin typeface="Consolas" pitchFamily="49" charset="0"/>
              <a:ea typeface="方正启体简体" pitchFamily="65" charset="-122"/>
              <a:cs typeface="Consolas" pitchFamily="49" charset="0"/>
            </a:endParaRPr>
          </a:p>
        </p:txBody>
      </p:sp>
    </p:spTree>
    <p:extLst>
      <p:ext uri="{BB962C8B-B14F-4D97-AF65-F5344CB8AC3E}">
        <p14:creationId xmlns:p14="http://schemas.microsoft.com/office/powerpoint/2010/main" val="71800474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2A75BD-8980-2299-BF05-E20C0B364868}"/>
            </a:ext>
          </a:extLst>
        </p:cNvPr>
        <p:cNvGrpSpPr/>
        <p:nvPr/>
      </p:nvGrpSpPr>
      <p:grpSpPr>
        <a:xfrm>
          <a:off x="0" y="0"/>
          <a:ext cx="0" cy="0"/>
          <a:chOff x="0" y="0"/>
          <a:chExt cx="0" cy="0"/>
        </a:xfrm>
      </p:grpSpPr>
      <p:sp>
        <p:nvSpPr>
          <p:cNvPr id="2" name="Rectangle 2">
            <a:extLst>
              <a:ext uri="{FF2B5EF4-FFF2-40B4-BE49-F238E27FC236}">
                <a16:creationId xmlns:a16="http://schemas.microsoft.com/office/drawing/2014/main" id="{B0AF639C-0CC7-7026-CF40-CBAEECA8D557}"/>
              </a:ext>
            </a:extLst>
          </p:cNvPr>
          <p:cNvSpPr txBox="1">
            <a:spLocks noChangeArrowheads="1"/>
          </p:cNvSpPr>
          <p:nvPr/>
        </p:nvSpPr>
        <p:spPr>
          <a:xfrm>
            <a:off x="474772" y="1230902"/>
            <a:ext cx="4253076"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8.3.5 </a:t>
            </a:r>
            <a:r>
              <a:rPr kumimoji="1" lang="zh-CN" altLang="en-US" dirty="0">
                <a:latin typeface="微软雅黑" pitchFamily="34" charset="-122"/>
                <a:ea typeface="微软雅黑" pitchFamily="34" charset="-122"/>
              </a:rPr>
              <a:t>图遍历的应用</a:t>
            </a:r>
            <a:endParaRPr lang="zh-CN" altLang="en-US" dirty="0"/>
          </a:p>
        </p:txBody>
      </p:sp>
      <p:sp>
        <p:nvSpPr>
          <p:cNvPr id="3" name="矩形 2">
            <a:extLst>
              <a:ext uri="{FF2B5EF4-FFF2-40B4-BE49-F238E27FC236}">
                <a16:creationId xmlns:a16="http://schemas.microsoft.com/office/drawing/2014/main" id="{B7467C4A-651D-4203-BCD9-1DA9658AB44A}"/>
              </a:ext>
            </a:extLst>
          </p:cNvPr>
          <p:cNvSpPr/>
          <p:nvPr/>
        </p:nvSpPr>
        <p:spPr>
          <a:xfrm>
            <a:off x="3200907" y="399148"/>
            <a:ext cx="4617860"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8.3 </a:t>
            </a:r>
            <a:r>
              <a:rPr lang="zh-CN" altLang="en-US" sz="3000" b="1" dirty="0">
                <a:latin typeface="黑体" pitchFamily="49" charset="-122"/>
                <a:ea typeface="黑体" pitchFamily="49" charset="-122"/>
                <a:cs typeface="经典粗黑简" pitchFamily="49" charset="-122"/>
              </a:rPr>
              <a:t>图的遍历</a:t>
            </a:r>
          </a:p>
        </p:txBody>
      </p:sp>
      <p:cxnSp>
        <p:nvCxnSpPr>
          <p:cNvPr id="4" name="直接连接符 3">
            <a:extLst>
              <a:ext uri="{FF2B5EF4-FFF2-40B4-BE49-F238E27FC236}">
                <a16:creationId xmlns:a16="http://schemas.microsoft.com/office/drawing/2014/main" id="{175B12BB-F0EE-30DB-6BE6-F0D136A14369}"/>
              </a:ext>
            </a:extLst>
          </p:cNvPr>
          <p:cNvCxnSpPr>
            <a:cxnSpLocks/>
          </p:cNvCxnSpPr>
          <p:nvPr/>
        </p:nvCxnSpPr>
        <p:spPr>
          <a:xfrm>
            <a:off x="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5" name="Text Box 16">
            <a:extLst>
              <a:ext uri="{FF2B5EF4-FFF2-40B4-BE49-F238E27FC236}">
                <a16:creationId xmlns:a16="http://schemas.microsoft.com/office/drawing/2014/main" id="{E8C0B6A1-F761-1364-5D67-761B56205455}"/>
              </a:ext>
            </a:extLst>
          </p:cNvPr>
          <p:cNvSpPr txBox="1">
            <a:spLocks noChangeArrowheads="1"/>
          </p:cNvSpPr>
          <p:nvPr/>
        </p:nvSpPr>
        <p:spPr bwMode="auto">
          <a:xfrm>
            <a:off x="3359695" y="2689005"/>
            <a:ext cx="4143404" cy="453183"/>
          </a:xfrm>
          <a:prstGeom prst="rect">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square" tIns="72000" bIns="72000">
            <a:spAutoFit/>
          </a:bodyPr>
          <a:lstStyle/>
          <a:p>
            <a:pPr>
              <a:spcBef>
                <a:spcPct val="50000"/>
              </a:spcBef>
            </a:pPr>
            <a:r>
              <a:rPr lang="en-US" altLang="zh-CN" sz="2000" dirty="0">
                <a:solidFill>
                  <a:srgbClr val="FF0000"/>
                </a:solidFill>
                <a:latin typeface="Consolas" pitchFamily="49" charset="0"/>
                <a:ea typeface="微软雅黑" pitchFamily="34" charset="-122"/>
                <a:cs typeface="Consolas" pitchFamily="49" charset="0"/>
                <a:sym typeface="Wingdings" pitchFamily="2" charset="2"/>
              </a:rPr>
              <a:t> 1.</a:t>
            </a:r>
            <a:r>
              <a:rPr lang="zh-CN" altLang="en-US" sz="2000" dirty="0">
                <a:solidFill>
                  <a:srgbClr val="FF0000"/>
                </a:solidFill>
                <a:latin typeface="Consolas" pitchFamily="49" charset="0"/>
                <a:ea typeface="微软雅黑" pitchFamily="34" charset="-122"/>
                <a:cs typeface="Consolas" pitchFamily="49" charset="0"/>
              </a:rPr>
              <a:t>基于深度优先遍历算法的应用</a:t>
            </a:r>
          </a:p>
        </p:txBody>
      </p:sp>
      <p:sp>
        <p:nvSpPr>
          <p:cNvPr id="6" name="Text Box 16">
            <a:extLst>
              <a:ext uri="{FF2B5EF4-FFF2-40B4-BE49-F238E27FC236}">
                <a16:creationId xmlns:a16="http://schemas.microsoft.com/office/drawing/2014/main" id="{C9218105-76D7-6554-A69B-8932B509A015}"/>
              </a:ext>
            </a:extLst>
          </p:cNvPr>
          <p:cNvSpPr txBox="1">
            <a:spLocks noChangeArrowheads="1"/>
          </p:cNvSpPr>
          <p:nvPr/>
        </p:nvSpPr>
        <p:spPr bwMode="auto">
          <a:xfrm>
            <a:off x="3359695" y="3701722"/>
            <a:ext cx="4143404" cy="430887"/>
          </a:xfrm>
          <a:prstGeom prst="rect">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square">
            <a:spAutoFit/>
          </a:bodyPr>
          <a:lstStyle/>
          <a:p>
            <a:pPr>
              <a:spcBef>
                <a:spcPct val="50000"/>
              </a:spcBef>
            </a:pPr>
            <a:r>
              <a:rPr lang="en-US" altLang="zh-CN" sz="2200" dirty="0">
                <a:solidFill>
                  <a:srgbClr val="FF0000"/>
                </a:solidFill>
                <a:latin typeface="Consolas" pitchFamily="49" charset="0"/>
                <a:ea typeface="华文中宋" pitchFamily="2" charset="-122"/>
                <a:cs typeface="Consolas" pitchFamily="49" charset="0"/>
                <a:sym typeface="Wingdings" pitchFamily="2" charset="2"/>
              </a:rPr>
              <a:t> </a:t>
            </a:r>
            <a:r>
              <a:rPr lang="en-US" altLang="zh-CN" sz="2000" dirty="0">
                <a:solidFill>
                  <a:srgbClr val="FF0000"/>
                </a:solidFill>
                <a:latin typeface="Consolas" pitchFamily="49" charset="0"/>
                <a:ea typeface="微软雅黑" pitchFamily="34" charset="-122"/>
                <a:sym typeface="Wingdings" pitchFamily="2" charset="2"/>
              </a:rPr>
              <a:t>2.</a:t>
            </a:r>
            <a:r>
              <a:rPr lang="zh-CN" altLang="en-US" sz="2000" dirty="0">
                <a:solidFill>
                  <a:srgbClr val="FF0000"/>
                </a:solidFill>
                <a:latin typeface="Consolas" pitchFamily="49" charset="0"/>
                <a:ea typeface="微软雅黑" pitchFamily="34" charset="-122"/>
              </a:rPr>
              <a:t>基于广度优先遍历算法的应用</a:t>
            </a:r>
          </a:p>
        </p:txBody>
      </p:sp>
      <p:sp>
        <p:nvSpPr>
          <p:cNvPr id="9" name="Text Box 16">
            <a:extLst>
              <a:ext uri="{FF2B5EF4-FFF2-40B4-BE49-F238E27FC236}">
                <a16:creationId xmlns:a16="http://schemas.microsoft.com/office/drawing/2014/main" id="{C54F5572-1C2D-C2C3-591E-99908BEE2CD1}"/>
              </a:ext>
            </a:extLst>
          </p:cNvPr>
          <p:cNvSpPr txBox="1">
            <a:spLocks noChangeArrowheads="1"/>
          </p:cNvSpPr>
          <p:nvPr/>
        </p:nvSpPr>
        <p:spPr bwMode="auto">
          <a:xfrm>
            <a:off x="3359695" y="4692143"/>
            <a:ext cx="4143404" cy="483960"/>
          </a:xfrm>
          <a:prstGeom prst="rect">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square" tIns="72000" bIns="72000">
            <a:spAutoFit/>
          </a:bodyPr>
          <a:lstStyle/>
          <a:p>
            <a:pPr>
              <a:spcBef>
                <a:spcPct val="50000"/>
              </a:spcBef>
            </a:pPr>
            <a:r>
              <a:rPr lang="en-US" altLang="zh-CN" sz="2200" dirty="0">
                <a:solidFill>
                  <a:srgbClr val="FF0000"/>
                </a:solidFill>
                <a:latin typeface="Consolas" pitchFamily="49" charset="0"/>
                <a:ea typeface="华文中宋" pitchFamily="2" charset="-122"/>
                <a:cs typeface="Consolas" pitchFamily="49" charset="0"/>
                <a:sym typeface="Wingdings" pitchFamily="2" charset="2"/>
              </a:rPr>
              <a:t> </a:t>
            </a:r>
            <a:r>
              <a:rPr lang="en-US" sz="2000" dirty="0">
                <a:solidFill>
                  <a:srgbClr val="FF0000"/>
                </a:solidFill>
                <a:latin typeface="Consolas" pitchFamily="49" charset="0"/>
                <a:ea typeface="微软雅黑" pitchFamily="34" charset="-122"/>
              </a:rPr>
              <a:t>3.</a:t>
            </a:r>
            <a:r>
              <a:rPr lang="zh-CN" altLang="en-US" sz="2000" dirty="0">
                <a:solidFill>
                  <a:srgbClr val="FF0000"/>
                </a:solidFill>
                <a:latin typeface="Consolas" pitchFamily="49" charset="0"/>
                <a:ea typeface="微软雅黑" pitchFamily="34" charset="-122"/>
              </a:rPr>
              <a:t>图遍历方法求解迷宫问题</a:t>
            </a:r>
          </a:p>
        </p:txBody>
      </p:sp>
      <p:sp>
        <p:nvSpPr>
          <p:cNvPr id="10" name="Text Box 4">
            <a:extLst>
              <a:ext uri="{FF2B5EF4-FFF2-40B4-BE49-F238E27FC236}">
                <a16:creationId xmlns:a16="http://schemas.microsoft.com/office/drawing/2014/main" id="{8836E75F-AABA-BBFE-212F-A810100E1C21}"/>
              </a:ext>
            </a:extLst>
          </p:cNvPr>
          <p:cNvSpPr txBox="1">
            <a:spLocks noChangeArrowheads="1"/>
          </p:cNvSpPr>
          <p:nvPr/>
        </p:nvSpPr>
        <p:spPr bwMode="auto">
          <a:xfrm>
            <a:off x="3359695" y="5735636"/>
            <a:ext cx="4143404" cy="400110"/>
          </a:xfrm>
          <a:prstGeom prst="rect">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square">
            <a:spAutoFit/>
          </a:bodyPr>
          <a:lstStyle/>
          <a:p>
            <a:pPr eaLnBrk="1" hangingPunct="1">
              <a:spcBef>
                <a:spcPct val="50000"/>
              </a:spcBef>
            </a:pPr>
            <a:r>
              <a:rPr lang="en-US" altLang="zh-CN" sz="2000" dirty="0">
                <a:solidFill>
                  <a:srgbClr val="FF0000"/>
                </a:solidFill>
                <a:latin typeface="Consolas" pitchFamily="49" charset="0"/>
                <a:ea typeface="微软雅黑" pitchFamily="34" charset="-122"/>
                <a:sym typeface="Wingdings"/>
              </a:rPr>
              <a:t> 4.DFS</a:t>
            </a:r>
            <a:r>
              <a:rPr lang="zh-CN" altLang="en-US" sz="2000" dirty="0">
                <a:solidFill>
                  <a:srgbClr val="FF0000"/>
                </a:solidFill>
                <a:latin typeface="Consolas" pitchFamily="49" charset="0"/>
                <a:ea typeface="微软雅黑" pitchFamily="34" charset="-122"/>
                <a:sym typeface="Wingdings"/>
              </a:rPr>
              <a:t>和</a:t>
            </a:r>
            <a:r>
              <a:rPr lang="en-US" altLang="zh-CN" sz="2000" dirty="0" err="1">
                <a:solidFill>
                  <a:srgbClr val="FF0000"/>
                </a:solidFill>
                <a:latin typeface="Consolas" pitchFamily="49" charset="0"/>
                <a:ea typeface="微软雅黑" pitchFamily="34" charset="-122"/>
                <a:sym typeface="Wingdings"/>
              </a:rPr>
              <a:t>BFS</a:t>
            </a:r>
            <a:r>
              <a:rPr lang="zh-CN" altLang="en-US" sz="2000" dirty="0">
                <a:solidFill>
                  <a:srgbClr val="FF0000"/>
                </a:solidFill>
                <a:latin typeface="Consolas" pitchFamily="49" charset="0"/>
                <a:ea typeface="微软雅黑" pitchFamily="34" charset="-122"/>
                <a:sym typeface="Wingdings"/>
              </a:rPr>
              <a:t>求解路径上</a:t>
            </a:r>
            <a:r>
              <a:rPr lang="zh-CN" altLang="en-US" sz="2000" dirty="0">
                <a:solidFill>
                  <a:srgbClr val="FF0000"/>
                </a:solidFill>
                <a:latin typeface="Consolas" pitchFamily="49" charset="0"/>
                <a:ea typeface="微软雅黑" pitchFamily="34" charset="-122"/>
              </a:rPr>
              <a:t>的差别</a:t>
            </a:r>
          </a:p>
        </p:txBody>
      </p:sp>
    </p:spTree>
    <p:extLst>
      <p:ext uri="{BB962C8B-B14F-4D97-AF65-F5344CB8AC3E}">
        <p14:creationId xmlns:p14="http://schemas.microsoft.com/office/powerpoint/2010/main" val="56387572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1A7FCF-FFF4-A5CD-B060-C830B1C42958}"/>
            </a:ext>
          </a:extLst>
        </p:cNvPr>
        <p:cNvGrpSpPr/>
        <p:nvPr/>
      </p:nvGrpSpPr>
      <p:grpSpPr>
        <a:xfrm>
          <a:off x="0" y="0"/>
          <a:ext cx="0" cy="0"/>
          <a:chOff x="0" y="0"/>
          <a:chExt cx="0" cy="0"/>
        </a:xfrm>
      </p:grpSpPr>
      <p:sp>
        <p:nvSpPr>
          <p:cNvPr id="2" name="Rectangle 2">
            <a:extLst>
              <a:ext uri="{FF2B5EF4-FFF2-40B4-BE49-F238E27FC236}">
                <a16:creationId xmlns:a16="http://schemas.microsoft.com/office/drawing/2014/main" id="{20AFB41F-C415-2104-20FF-D048C1C5886D}"/>
              </a:ext>
            </a:extLst>
          </p:cNvPr>
          <p:cNvSpPr txBox="1">
            <a:spLocks noChangeArrowheads="1"/>
          </p:cNvSpPr>
          <p:nvPr/>
        </p:nvSpPr>
        <p:spPr>
          <a:xfrm>
            <a:off x="474772" y="1230902"/>
            <a:ext cx="3905680"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8.4.1 </a:t>
            </a:r>
            <a:r>
              <a:rPr kumimoji="1" lang="zh-CN" altLang="en-US" dirty="0">
                <a:latin typeface="微软雅黑" pitchFamily="34" charset="-122"/>
                <a:ea typeface="微软雅黑" pitchFamily="34" charset="-122"/>
              </a:rPr>
              <a:t>生成树的概念</a:t>
            </a:r>
            <a:endParaRPr lang="zh-CN" altLang="en-US" dirty="0"/>
          </a:p>
        </p:txBody>
      </p:sp>
      <p:cxnSp>
        <p:nvCxnSpPr>
          <p:cNvPr id="4" name="直接连接符 3">
            <a:extLst>
              <a:ext uri="{FF2B5EF4-FFF2-40B4-BE49-F238E27FC236}">
                <a16:creationId xmlns:a16="http://schemas.microsoft.com/office/drawing/2014/main" id="{D9ACE467-1F0C-CCC0-1063-0692AEA04D72}"/>
              </a:ext>
            </a:extLst>
          </p:cNvPr>
          <p:cNvCxnSpPr>
            <a:cxnSpLocks/>
          </p:cNvCxnSpPr>
          <p:nvPr/>
        </p:nvCxnSpPr>
        <p:spPr>
          <a:xfrm>
            <a:off x="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7" name="Text Box 2">
            <a:extLst>
              <a:ext uri="{FF2B5EF4-FFF2-40B4-BE49-F238E27FC236}">
                <a16:creationId xmlns:a16="http://schemas.microsoft.com/office/drawing/2014/main" id="{D4803DF4-95AF-7516-8A29-462862C327CE}"/>
              </a:ext>
            </a:extLst>
          </p:cNvPr>
          <p:cNvSpPr txBox="1">
            <a:spLocks noChangeArrowheads="1"/>
          </p:cNvSpPr>
          <p:nvPr/>
        </p:nvSpPr>
        <p:spPr bwMode="auto">
          <a:xfrm>
            <a:off x="1379476" y="1940663"/>
            <a:ext cx="9433048" cy="830997"/>
          </a:xfrm>
          <a:prstGeom prst="rect">
            <a:avLst/>
          </a:prstGeom>
          <a:noFill/>
          <a:ln w="9525">
            <a:noFill/>
            <a:miter lim="800000"/>
            <a:headEnd/>
            <a:tailEnd/>
          </a:ln>
          <a:effectLst/>
        </p:spPr>
        <p:txBody>
          <a:bodyPr wrap="square">
            <a:spAutoFit/>
          </a:bodyPr>
          <a:lstStyle/>
          <a:p>
            <a:pPr algn="l">
              <a:lnSpc>
                <a:spcPct val="120000"/>
              </a:lnSpc>
              <a:spcBef>
                <a:spcPct val="50000"/>
              </a:spcBef>
            </a:pPr>
            <a:r>
              <a:rPr kumimoji="1" lang="zh-CN" altLang="en-US" sz="2000" dirty="0">
                <a:latin typeface="Consolas" pitchFamily="49" charset="0"/>
                <a:ea typeface="楷体" pitchFamily="49" charset="-122"/>
                <a:cs typeface="Consolas" pitchFamily="49" charset="0"/>
              </a:rPr>
              <a:t>一个</a:t>
            </a:r>
            <a:r>
              <a:rPr kumimoji="1" lang="zh-CN" altLang="en-US" sz="2000" dirty="0">
                <a:solidFill>
                  <a:srgbClr val="0000FF"/>
                </a:solidFill>
                <a:latin typeface="Consolas" pitchFamily="49" charset="0"/>
                <a:ea typeface="楷体" pitchFamily="49" charset="-122"/>
                <a:cs typeface="Consolas" pitchFamily="49" charset="0"/>
              </a:rPr>
              <a:t>连通图的</a:t>
            </a:r>
            <a:r>
              <a:rPr kumimoji="1" lang="zh-CN" altLang="en-US" sz="2000" dirty="0">
                <a:solidFill>
                  <a:srgbClr val="FF0000"/>
                </a:solidFill>
                <a:latin typeface="方正启体简体" pitchFamily="65" charset="-122"/>
                <a:ea typeface="方正启体简体" pitchFamily="65" charset="-122"/>
                <a:cs typeface="Consolas" pitchFamily="49" charset="0"/>
              </a:rPr>
              <a:t>生成树</a:t>
            </a:r>
            <a:r>
              <a:rPr kumimoji="1" lang="zh-CN" altLang="en-US" sz="2000" dirty="0">
                <a:solidFill>
                  <a:srgbClr val="0000FF"/>
                </a:solidFill>
                <a:latin typeface="Consolas" pitchFamily="49" charset="0"/>
                <a:ea typeface="楷体" pitchFamily="49" charset="-122"/>
                <a:cs typeface="Consolas" pitchFamily="49" charset="0"/>
              </a:rPr>
              <a:t>是一个极小连通子图</a:t>
            </a:r>
            <a:r>
              <a:rPr kumimoji="1" lang="zh-CN" altLang="en-US" sz="2000" dirty="0">
                <a:latin typeface="Consolas" pitchFamily="49" charset="0"/>
                <a:ea typeface="楷体" pitchFamily="49" charset="-122"/>
                <a:cs typeface="Consolas" pitchFamily="49" charset="0"/>
              </a:rPr>
              <a:t>，它含有图中全部</a:t>
            </a:r>
            <a:r>
              <a:rPr kumimoji="1" lang="en-US" altLang="zh-CN" sz="2000" i="1" dirty="0">
                <a:latin typeface="Consolas" pitchFamily="49" charset="0"/>
                <a:ea typeface="楷体" pitchFamily="49" charset="-122"/>
                <a:cs typeface="Consolas" pitchFamily="49" charset="0"/>
              </a:rPr>
              <a:t>n</a:t>
            </a:r>
            <a:r>
              <a:rPr kumimoji="1" lang="zh-CN" altLang="en-US" sz="2000" dirty="0">
                <a:latin typeface="Consolas" pitchFamily="49" charset="0"/>
                <a:ea typeface="楷体" pitchFamily="49" charset="-122"/>
                <a:cs typeface="Consolas" pitchFamily="49" charset="0"/>
              </a:rPr>
              <a:t>个顶点和构成一棵树的</a:t>
            </a:r>
            <a:r>
              <a:rPr kumimoji="1" lang="en-US" altLang="zh-CN" sz="2000" dirty="0">
                <a:latin typeface="Consolas" pitchFamily="49" charset="0"/>
                <a:ea typeface="楷体" pitchFamily="49" charset="-122"/>
                <a:cs typeface="Consolas" pitchFamily="49" charset="0"/>
              </a:rPr>
              <a:t>(</a:t>
            </a:r>
            <a:r>
              <a:rPr kumimoji="1" lang="en-US" altLang="zh-CN" sz="2000" i="1" dirty="0">
                <a:latin typeface="Consolas" pitchFamily="49" charset="0"/>
                <a:ea typeface="楷体" pitchFamily="49" charset="-122"/>
                <a:cs typeface="Consolas" pitchFamily="49" charset="0"/>
              </a:rPr>
              <a:t>n</a:t>
            </a:r>
            <a:r>
              <a:rPr kumimoji="1" lang="en-US" altLang="zh-CN" sz="2000" dirty="0">
                <a:latin typeface="Consolas" pitchFamily="49" charset="0"/>
                <a:ea typeface="+mn-ea"/>
                <a:cs typeface="Consolas" pitchFamily="49" charset="0"/>
              </a:rPr>
              <a:t>-</a:t>
            </a:r>
            <a:r>
              <a:rPr kumimoji="1" lang="en-US" altLang="zh-CN" sz="2000" dirty="0">
                <a:latin typeface="Consolas" pitchFamily="49" charset="0"/>
                <a:ea typeface="楷体" pitchFamily="49" charset="-122"/>
                <a:cs typeface="Consolas" pitchFamily="49" charset="0"/>
              </a:rPr>
              <a:t>1)</a:t>
            </a:r>
            <a:r>
              <a:rPr kumimoji="1" lang="zh-CN" altLang="en-US" sz="2000" dirty="0">
                <a:latin typeface="Consolas" pitchFamily="49" charset="0"/>
                <a:ea typeface="楷体" pitchFamily="49" charset="-122"/>
                <a:cs typeface="Consolas" pitchFamily="49" charset="0"/>
              </a:rPr>
              <a:t>条边。　　</a:t>
            </a:r>
          </a:p>
        </p:txBody>
      </p:sp>
      <p:sp>
        <p:nvSpPr>
          <p:cNvPr id="8" name="TextBox 4">
            <a:extLst>
              <a:ext uri="{FF2B5EF4-FFF2-40B4-BE49-F238E27FC236}">
                <a16:creationId xmlns:a16="http://schemas.microsoft.com/office/drawing/2014/main" id="{69DA859D-4572-802A-C716-51B347C6959D}"/>
              </a:ext>
            </a:extLst>
          </p:cNvPr>
          <p:cNvSpPr txBox="1"/>
          <p:nvPr/>
        </p:nvSpPr>
        <p:spPr>
          <a:xfrm>
            <a:off x="2457601" y="5371305"/>
            <a:ext cx="7276798" cy="400110"/>
          </a:xfrm>
          <a:prstGeom prst="rect">
            <a:avLst/>
          </a:prstGeom>
          <a:noFill/>
          <a:ln>
            <a:noFill/>
          </a:ln>
          <a:effectLst/>
          <a:scene3d>
            <a:camera prst="orthographicFront">
              <a:rot lat="0" lon="0" rev="0"/>
            </a:camera>
            <a:lightRig rig="balanced" dir="t">
              <a:rot lat="0" lon="0" rev="8700000"/>
            </a:lightRig>
          </a:scene3d>
          <a:sp3d>
            <a:bevelT w="190500" h="38100"/>
          </a:sp3d>
        </p:spPr>
        <p:txBody>
          <a:bodyPr wrap="square" rtlCol="0">
            <a:spAutoFit/>
          </a:bodyPr>
          <a:lstStyle/>
          <a:p>
            <a:pPr algn="l"/>
            <a:r>
              <a:rPr kumimoji="1" lang="zh-CN" altLang="en-US" sz="2000" dirty="0">
                <a:latin typeface="Consolas" pitchFamily="49" charset="0"/>
                <a:ea typeface="方正启体简体" pitchFamily="65" charset="-122"/>
                <a:cs typeface="Consolas" pitchFamily="49" charset="0"/>
              </a:rPr>
              <a:t> </a:t>
            </a:r>
            <a:r>
              <a:rPr kumimoji="1" lang="zh-CN" altLang="en-US" sz="2000" dirty="0">
                <a:solidFill>
                  <a:srgbClr val="FF0000"/>
                </a:solidFill>
                <a:latin typeface="Consolas" pitchFamily="49" charset="0"/>
                <a:ea typeface="方正启体简体" pitchFamily="65" charset="-122"/>
                <a:cs typeface="Consolas" pitchFamily="49" charset="0"/>
              </a:rPr>
              <a:t>命题：</a:t>
            </a:r>
            <a:r>
              <a:rPr kumimoji="1" lang="zh-CN" altLang="en-US" sz="2000" dirty="0">
                <a:solidFill>
                  <a:srgbClr val="0000FF"/>
                </a:solidFill>
                <a:latin typeface="Consolas" pitchFamily="49" charset="0"/>
                <a:ea typeface="方正启体简体" pitchFamily="65" charset="-122"/>
                <a:cs typeface="Consolas" pitchFamily="49" charset="0"/>
              </a:rPr>
              <a:t>如果在一棵生成树上添加一条边，必定构成一个环。</a:t>
            </a:r>
            <a:endParaRPr lang="zh-CN" altLang="en-US" sz="2000" dirty="0">
              <a:solidFill>
                <a:srgbClr val="0000FF"/>
              </a:solidFill>
              <a:latin typeface="Consolas" pitchFamily="49" charset="0"/>
              <a:ea typeface="方正启体简体" pitchFamily="65" charset="-122"/>
              <a:cs typeface="Consolas" pitchFamily="49" charset="0"/>
            </a:endParaRPr>
          </a:p>
        </p:txBody>
      </p:sp>
      <p:grpSp>
        <p:nvGrpSpPr>
          <p:cNvPr id="11" name="组合 10">
            <a:extLst>
              <a:ext uri="{FF2B5EF4-FFF2-40B4-BE49-F238E27FC236}">
                <a16:creationId xmlns:a16="http://schemas.microsoft.com/office/drawing/2014/main" id="{24303905-68AC-DD38-5E4A-A8A2E13E41D0}"/>
              </a:ext>
            </a:extLst>
          </p:cNvPr>
          <p:cNvGrpSpPr/>
          <p:nvPr/>
        </p:nvGrpSpPr>
        <p:grpSpPr>
          <a:xfrm>
            <a:off x="2743353" y="2982129"/>
            <a:ext cx="2376488" cy="2016125"/>
            <a:chOff x="1142976" y="2555883"/>
            <a:chExt cx="2376488" cy="2016125"/>
          </a:xfrm>
        </p:grpSpPr>
        <p:sp>
          <p:nvSpPr>
            <p:cNvPr id="12" name="Oval 31">
              <a:extLst>
                <a:ext uri="{FF2B5EF4-FFF2-40B4-BE49-F238E27FC236}">
                  <a16:creationId xmlns:a16="http://schemas.microsoft.com/office/drawing/2014/main" id="{7717C59F-67E1-1E12-7D1C-D2BA7074BB8D}"/>
                </a:ext>
              </a:extLst>
            </p:cNvPr>
            <p:cNvSpPr>
              <a:spLocks noChangeArrowheads="1"/>
            </p:cNvSpPr>
            <p:nvPr/>
          </p:nvSpPr>
          <p:spPr bwMode="auto">
            <a:xfrm>
              <a:off x="1719239" y="2555883"/>
              <a:ext cx="360363"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1800" dirty="0">
                  <a:solidFill>
                    <a:srgbClr val="0000FF"/>
                  </a:solidFill>
                  <a:latin typeface="Consolas" pitchFamily="49" charset="0"/>
                  <a:cs typeface="Consolas" pitchFamily="49" charset="0"/>
                </a:rPr>
                <a:t>0</a:t>
              </a:r>
            </a:p>
          </p:txBody>
        </p:sp>
        <p:sp>
          <p:nvSpPr>
            <p:cNvPr id="13" name="Oval 32">
              <a:extLst>
                <a:ext uri="{FF2B5EF4-FFF2-40B4-BE49-F238E27FC236}">
                  <a16:creationId xmlns:a16="http://schemas.microsoft.com/office/drawing/2014/main" id="{A89ADC98-C491-D5CF-124A-969C3B6A2E0C}"/>
                </a:ext>
              </a:extLst>
            </p:cNvPr>
            <p:cNvSpPr>
              <a:spLocks noChangeArrowheads="1"/>
            </p:cNvSpPr>
            <p:nvPr/>
          </p:nvSpPr>
          <p:spPr bwMode="auto">
            <a:xfrm>
              <a:off x="2282811" y="3384567"/>
              <a:ext cx="360363"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1800">
                  <a:solidFill>
                    <a:srgbClr val="0000FF"/>
                  </a:solidFill>
                  <a:latin typeface="Consolas" pitchFamily="49" charset="0"/>
                  <a:cs typeface="Consolas" pitchFamily="49" charset="0"/>
                </a:rPr>
                <a:t>1</a:t>
              </a:r>
            </a:p>
          </p:txBody>
        </p:sp>
        <p:sp>
          <p:nvSpPr>
            <p:cNvPr id="14" name="Oval 33">
              <a:extLst>
                <a:ext uri="{FF2B5EF4-FFF2-40B4-BE49-F238E27FC236}">
                  <a16:creationId xmlns:a16="http://schemas.microsoft.com/office/drawing/2014/main" id="{4C7CF9D6-6D78-DF2E-E4FD-F79CAD2FB9C6}"/>
                </a:ext>
              </a:extLst>
            </p:cNvPr>
            <p:cNvSpPr>
              <a:spLocks noChangeArrowheads="1"/>
            </p:cNvSpPr>
            <p:nvPr/>
          </p:nvSpPr>
          <p:spPr bwMode="auto">
            <a:xfrm>
              <a:off x="1142976" y="3421071"/>
              <a:ext cx="360363"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1800">
                  <a:solidFill>
                    <a:srgbClr val="0000FF"/>
                  </a:solidFill>
                  <a:latin typeface="Consolas" pitchFamily="49" charset="0"/>
                  <a:cs typeface="Consolas" pitchFamily="49" charset="0"/>
                </a:rPr>
                <a:t>2</a:t>
              </a:r>
            </a:p>
          </p:txBody>
        </p:sp>
        <p:sp>
          <p:nvSpPr>
            <p:cNvPr id="15" name="Oval 34">
              <a:extLst>
                <a:ext uri="{FF2B5EF4-FFF2-40B4-BE49-F238E27FC236}">
                  <a16:creationId xmlns:a16="http://schemas.microsoft.com/office/drawing/2014/main" id="{AD59334F-C4FC-E1C9-EA53-B0C872FD2247}"/>
                </a:ext>
              </a:extLst>
            </p:cNvPr>
            <p:cNvSpPr>
              <a:spLocks noChangeArrowheads="1"/>
            </p:cNvSpPr>
            <p:nvPr/>
          </p:nvSpPr>
          <p:spPr bwMode="auto">
            <a:xfrm>
              <a:off x="1792264" y="4140208"/>
              <a:ext cx="360363"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1800">
                  <a:solidFill>
                    <a:srgbClr val="0000FF"/>
                  </a:solidFill>
                  <a:latin typeface="Consolas" pitchFamily="49" charset="0"/>
                  <a:cs typeface="Consolas" pitchFamily="49" charset="0"/>
                </a:rPr>
                <a:t>3</a:t>
              </a:r>
            </a:p>
          </p:txBody>
        </p:sp>
        <p:sp>
          <p:nvSpPr>
            <p:cNvPr id="16" name="Oval 35">
              <a:extLst>
                <a:ext uri="{FF2B5EF4-FFF2-40B4-BE49-F238E27FC236}">
                  <a16:creationId xmlns:a16="http://schemas.microsoft.com/office/drawing/2014/main" id="{2F673D01-D5C5-1DB3-AB06-6374AC6CE757}"/>
                </a:ext>
              </a:extLst>
            </p:cNvPr>
            <p:cNvSpPr>
              <a:spLocks noChangeArrowheads="1"/>
            </p:cNvSpPr>
            <p:nvPr/>
          </p:nvSpPr>
          <p:spPr bwMode="auto">
            <a:xfrm>
              <a:off x="2727301" y="4137047"/>
              <a:ext cx="360363"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1800">
                  <a:solidFill>
                    <a:srgbClr val="0000FF"/>
                  </a:solidFill>
                  <a:latin typeface="Consolas" pitchFamily="49" charset="0"/>
                  <a:cs typeface="Consolas" pitchFamily="49" charset="0"/>
                </a:rPr>
                <a:t>4</a:t>
              </a:r>
            </a:p>
          </p:txBody>
        </p:sp>
        <p:sp>
          <p:nvSpPr>
            <p:cNvPr id="17" name="Oval 37">
              <a:extLst>
                <a:ext uri="{FF2B5EF4-FFF2-40B4-BE49-F238E27FC236}">
                  <a16:creationId xmlns:a16="http://schemas.microsoft.com/office/drawing/2014/main" id="{6D3A4EB6-8848-197E-94F4-133F5DAE0FC7}"/>
                </a:ext>
              </a:extLst>
            </p:cNvPr>
            <p:cNvSpPr>
              <a:spLocks noChangeArrowheads="1"/>
            </p:cNvSpPr>
            <p:nvPr/>
          </p:nvSpPr>
          <p:spPr bwMode="auto">
            <a:xfrm>
              <a:off x="3159101" y="3348046"/>
              <a:ext cx="360363"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1800">
                  <a:solidFill>
                    <a:srgbClr val="0000FF"/>
                  </a:solidFill>
                  <a:latin typeface="Consolas" pitchFamily="49" charset="0"/>
                  <a:cs typeface="Consolas" pitchFamily="49" charset="0"/>
                </a:rPr>
                <a:t>5</a:t>
              </a:r>
            </a:p>
          </p:txBody>
        </p:sp>
        <p:sp>
          <p:nvSpPr>
            <p:cNvPr id="18" name="Freeform 13">
              <a:extLst>
                <a:ext uri="{FF2B5EF4-FFF2-40B4-BE49-F238E27FC236}">
                  <a16:creationId xmlns:a16="http://schemas.microsoft.com/office/drawing/2014/main" id="{69C7B7D7-2029-4DCF-AC94-D2397E053DFE}"/>
                </a:ext>
              </a:extLst>
            </p:cNvPr>
            <p:cNvSpPr>
              <a:spLocks/>
            </p:cNvSpPr>
            <p:nvPr/>
          </p:nvSpPr>
          <p:spPr bwMode="auto">
            <a:xfrm>
              <a:off x="1379452" y="2913073"/>
              <a:ext cx="395288" cy="528638"/>
            </a:xfrm>
            <a:custGeom>
              <a:avLst/>
              <a:gdLst/>
              <a:ahLst/>
              <a:cxnLst>
                <a:cxn ang="0">
                  <a:pos x="249" y="0"/>
                </a:cxn>
                <a:cxn ang="0">
                  <a:pos x="0" y="333"/>
                </a:cxn>
              </a:cxnLst>
              <a:rect l="0" t="0" r="r" b="b"/>
              <a:pathLst>
                <a:path w="249" h="333">
                  <a:moveTo>
                    <a:pt x="249" y="0"/>
                  </a:moveTo>
                  <a:lnTo>
                    <a:pt x="0" y="333"/>
                  </a:lnTo>
                </a:path>
              </a:pathLst>
            </a:custGeom>
            <a:ln>
              <a:headEnd type="none" w="med" len="med"/>
              <a:tailEnd type="none" w="med" len="lg"/>
            </a:ln>
          </p:spPr>
          <p:style>
            <a:lnRef idx="2">
              <a:schemeClr val="accent5"/>
            </a:lnRef>
            <a:fillRef idx="0">
              <a:schemeClr val="accent5"/>
            </a:fillRef>
            <a:effectRef idx="1">
              <a:schemeClr val="accent5"/>
            </a:effectRef>
            <a:fontRef idx="minor">
              <a:schemeClr val="tx1"/>
            </a:fontRef>
          </p:style>
          <p:txBody>
            <a:bodyPr wrap="none"/>
            <a:lstStyle/>
            <a:p>
              <a:endParaRPr lang="zh-CN" altLang="en-US" sz="1800">
                <a:latin typeface="Consolas" pitchFamily="49" charset="0"/>
                <a:cs typeface="Consolas" pitchFamily="49" charset="0"/>
              </a:endParaRPr>
            </a:p>
          </p:txBody>
        </p:sp>
        <p:cxnSp>
          <p:nvCxnSpPr>
            <p:cNvPr id="19" name="直接连接符 18">
              <a:extLst>
                <a:ext uri="{FF2B5EF4-FFF2-40B4-BE49-F238E27FC236}">
                  <a16:creationId xmlns:a16="http://schemas.microsoft.com/office/drawing/2014/main" id="{8365BD25-9A15-A35E-3866-756C7F097BB8}"/>
                </a:ext>
              </a:extLst>
            </p:cNvPr>
            <p:cNvCxnSpPr>
              <a:stCxn id="14" idx="5"/>
              <a:endCxn id="15" idx="1"/>
            </p:cNvCxnSpPr>
            <p:nvPr/>
          </p:nvCxnSpPr>
          <p:spPr>
            <a:xfrm rot="16200000" flipH="1">
              <a:off x="1440897" y="3799302"/>
              <a:ext cx="413809" cy="394473"/>
            </a:xfrm>
            <a:prstGeom prst="line">
              <a:avLst/>
            </a:prstGeom>
            <a:ln/>
          </p:spPr>
          <p:style>
            <a:lnRef idx="2">
              <a:schemeClr val="accent5"/>
            </a:lnRef>
            <a:fillRef idx="0">
              <a:schemeClr val="accent5"/>
            </a:fillRef>
            <a:effectRef idx="1">
              <a:schemeClr val="accent5"/>
            </a:effectRef>
            <a:fontRef idx="minor">
              <a:schemeClr val="tx1"/>
            </a:fontRef>
          </p:style>
        </p:cxnSp>
        <p:cxnSp>
          <p:nvCxnSpPr>
            <p:cNvPr id="20" name="直接连接符 19">
              <a:extLst>
                <a:ext uri="{FF2B5EF4-FFF2-40B4-BE49-F238E27FC236}">
                  <a16:creationId xmlns:a16="http://schemas.microsoft.com/office/drawing/2014/main" id="{9A30490F-0535-7DCB-185E-60BD88060557}"/>
                </a:ext>
              </a:extLst>
            </p:cNvPr>
            <p:cNvCxnSpPr>
              <a:stCxn id="12" idx="5"/>
              <a:endCxn id="13" idx="1"/>
            </p:cNvCxnSpPr>
            <p:nvPr/>
          </p:nvCxnSpPr>
          <p:spPr>
            <a:xfrm rot="16200000" flipH="1">
              <a:off x="1919528" y="3031746"/>
              <a:ext cx="523356" cy="308757"/>
            </a:xfrm>
            <a:prstGeom prst="line">
              <a:avLst/>
            </a:prstGeom>
            <a:ln/>
          </p:spPr>
          <p:style>
            <a:lnRef idx="2">
              <a:schemeClr val="accent5"/>
            </a:lnRef>
            <a:fillRef idx="0">
              <a:schemeClr val="accent5"/>
            </a:fillRef>
            <a:effectRef idx="1">
              <a:schemeClr val="accent5"/>
            </a:effectRef>
            <a:fontRef idx="minor">
              <a:schemeClr val="tx1"/>
            </a:fontRef>
          </p:style>
        </p:cxnSp>
        <p:cxnSp>
          <p:nvCxnSpPr>
            <p:cNvPr id="21" name="直接连接符 20">
              <a:extLst>
                <a:ext uri="{FF2B5EF4-FFF2-40B4-BE49-F238E27FC236}">
                  <a16:creationId xmlns:a16="http://schemas.microsoft.com/office/drawing/2014/main" id="{C17BF180-89C7-DE60-3CD7-977F40328FE6}"/>
                </a:ext>
              </a:extLst>
            </p:cNvPr>
            <p:cNvCxnSpPr>
              <a:stCxn id="14" idx="6"/>
              <a:endCxn id="13" idx="2"/>
            </p:cNvCxnSpPr>
            <p:nvPr/>
          </p:nvCxnSpPr>
          <p:spPr>
            <a:xfrm flipV="1">
              <a:off x="1503339" y="3600467"/>
              <a:ext cx="779472" cy="36504"/>
            </a:xfrm>
            <a:prstGeom prst="line">
              <a:avLst/>
            </a:prstGeom>
            <a:ln/>
          </p:spPr>
          <p:style>
            <a:lnRef idx="2">
              <a:schemeClr val="accent5"/>
            </a:lnRef>
            <a:fillRef idx="0">
              <a:schemeClr val="accent5"/>
            </a:fillRef>
            <a:effectRef idx="1">
              <a:schemeClr val="accent5"/>
            </a:effectRef>
            <a:fontRef idx="minor">
              <a:schemeClr val="tx1"/>
            </a:fontRef>
          </p:style>
        </p:cxnSp>
        <p:cxnSp>
          <p:nvCxnSpPr>
            <p:cNvPr id="22" name="直接连接符 21">
              <a:extLst>
                <a:ext uri="{FF2B5EF4-FFF2-40B4-BE49-F238E27FC236}">
                  <a16:creationId xmlns:a16="http://schemas.microsoft.com/office/drawing/2014/main" id="{76880FB4-1FFE-0FE0-0379-8498DA85F222}"/>
                </a:ext>
              </a:extLst>
            </p:cNvPr>
            <p:cNvCxnSpPr>
              <a:stCxn id="13" idx="6"/>
              <a:endCxn id="17" idx="2"/>
            </p:cNvCxnSpPr>
            <p:nvPr/>
          </p:nvCxnSpPr>
          <p:spPr>
            <a:xfrm flipV="1">
              <a:off x="2643174" y="3563946"/>
              <a:ext cx="515927" cy="36521"/>
            </a:xfrm>
            <a:prstGeom prst="line">
              <a:avLst/>
            </a:prstGeom>
            <a:ln/>
          </p:spPr>
          <p:style>
            <a:lnRef idx="2">
              <a:schemeClr val="accent5"/>
            </a:lnRef>
            <a:fillRef idx="0">
              <a:schemeClr val="accent5"/>
            </a:fillRef>
            <a:effectRef idx="1">
              <a:schemeClr val="accent5"/>
            </a:effectRef>
            <a:fontRef idx="minor">
              <a:schemeClr val="tx1"/>
            </a:fontRef>
          </p:style>
        </p:cxnSp>
        <p:cxnSp>
          <p:nvCxnSpPr>
            <p:cNvPr id="23" name="直接连接符 22">
              <a:extLst>
                <a:ext uri="{FF2B5EF4-FFF2-40B4-BE49-F238E27FC236}">
                  <a16:creationId xmlns:a16="http://schemas.microsoft.com/office/drawing/2014/main" id="{AFCD593A-5F25-1D39-AC28-9A63AE8D5009}"/>
                </a:ext>
              </a:extLst>
            </p:cNvPr>
            <p:cNvCxnSpPr>
              <a:stCxn id="13" idx="5"/>
              <a:endCxn id="16" idx="1"/>
            </p:cNvCxnSpPr>
            <p:nvPr/>
          </p:nvCxnSpPr>
          <p:spPr>
            <a:xfrm rot="16200000" flipH="1">
              <a:off x="2461661" y="3881869"/>
              <a:ext cx="447152" cy="189675"/>
            </a:xfrm>
            <a:prstGeom prst="line">
              <a:avLst/>
            </a:prstGeom>
            <a:ln/>
          </p:spPr>
          <p:style>
            <a:lnRef idx="2">
              <a:schemeClr val="accent5"/>
            </a:lnRef>
            <a:fillRef idx="0">
              <a:schemeClr val="accent5"/>
            </a:fillRef>
            <a:effectRef idx="1">
              <a:schemeClr val="accent5"/>
            </a:effectRef>
            <a:fontRef idx="minor">
              <a:schemeClr val="tx1"/>
            </a:fontRef>
          </p:style>
        </p:cxnSp>
        <p:cxnSp>
          <p:nvCxnSpPr>
            <p:cNvPr id="24" name="直接连接符 23">
              <a:extLst>
                <a:ext uri="{FF2B5EF4-FFF2-40B4-BE49-F238E27FC236}">
                  <a16:creationId xmlns:a16="http://schemas.microsoft.com/office/drawing/2014/main" id="{BF996C76-79AE-97DE-9C21-EFE88BC4EF4B}"/>
                </a:ext>
              </a:extLst>
            </p:cNvPr>
            <p:cNvCxnSpPr>
              <a:stCxn id="15" idx="6"/>
              <a:endCxn id="16" idx="2"/>
            </p:cNvCxnSpPr>
            <p:nvPr/>
          </p:nvCxnSpPr>
          <p:spPr>
            <a:xfrm flipV="1">
              <a:off x="2152627" y="4352947"/>
              <a:ext cx="574674" cy="3161"/>
            </a:xfrm>
            <a:prstGeom prst="line">
              <a:avLst/>
            </a:prstGeom>
            <a:ln/>
          </p:spPr>
          <p:style>
            <a:lnRef idx="2">
              <a:schemeClr val="accent5"/>
            </a:lnRef>
            <a:fillRef idx="0">
              <a:schemeClr val="accent5"/>
            </a:fillRef>
            <a:effectRef idx="1">
              <a:schemeClr val="accent5"/>
            </a:effectRef>
            <a:fontRef idx="minor">
              <a:schemeClr val="tx1"/>
            </a:fontRef>
          </p:style>
        </p:cxnSp>
        <p:cxnSp>
          <p:nvCxnSpPr>
            <p:cNvPr id="25" name="直接连接符 24">
              <a:extLst>
                <a:ext uri="{FF2B5EF4-FFF2-40B4-BE49-F238E27FC236}">
                  <a16:creationId xmlns:a16="http://schemas.microsoft.com/office/drawing/2014/main" id="{9CB06687-13D9-424E-FD00-C4C12726A7D3}"/>
                </a:ext>
              </a:extLst>
            </p:cNvPr>
            <p:cNvCxnSpPr>
              <a:stCxn id="12" idx="6"/>
              <a:endCxn id="17" idx="1"/>
            </p:cNvCxnSpPr>
            <p:nvPr/>
          </p:nvCxnSpPr>
          <p:spPr>
            <a:xfrm>
              <a:off x="2079602" y="2771783"/>
              <a:ext cx="1132273" cy="639499"/>
            </a:xfrm>
            <a:prstGeom prst="line">
              <a:avLst/>
            </a:prstGeom>
            <a:ln/>
          </p:spPr>
          <p:style>
            <a:lnRef idx="2">
              <a:schemeClr val="accent5"/>
            </a:lnRef>
            <a:fillRef idx="0">
              <a:schemeClr val="accent5"/>
            </a:fillRef>
            <a:effectRef idx="1">
              <a:schemeClr val="accent5"/>
            </a:effectRef>
            <a:fontRef idx="minor">
              <a:schemeClr val="tx1"/>
            </a:fontRef>
          </p:style>
        </p:cxnSp>
      </p:grpSp>
      <p:grpSp>
        <p:nvGrpSpPr>
          <p:cNvPr id="26" name="组合 25">
            <a:extLst>
              <a:ext uri="{FF2B5EF4-FFF2-40B4-BE49-F238E27FC236}">
                <a16:creationId xmlns:a16="http://schemas.microsoft.com/office/drawing/2014/main" id="{51592C3E-FA4C-B5B3-11F5-092F6EACC1D3}"/>
              </a:ext>
            </a:extLst>
          </p:cNvPr>
          <p:cNvGrpSpPr/>
          <p:nvPr/>
        </p:nvGrpSpPr>
        <p:grpSpPr>
          <a:xfrm>
            <a:off x="7010599" y="2997990"/>
            <a:ext cx="2376488" cy="2016125"/>
            <a:chOff x="5410222" y="2571744"/>
            <a:chExt cx="2376488" cy="2016125"/>
          </a:xfrm>
        </p:grpSpPr>
        <p:sp>
          <p:nvSpPr>
            <p:cNvPr id="27" name="Oval 31">
              <a:extLst>
                <a:ext uri="{FF2B5EF4-FFF2-40B4-BE49-F238E27FC236}">
                  <a16:creationId xmlns:a16="http://schemas.microsoft.com/office/drawing/2014/main" id="{3D95069F-BCA0-C00B-4454-E75BE427AC79}"/>
                </a:ext>
              </a:extLst>
            </p:cNvPr>
            <p:cNvSpPr>
              <a:spLocks noChangeArrowheads="1"/>
            </p:cNvSpPr>
            <p:nvPr/>
          </p:nvSpPr>
          <p:spPr bwMode="auto">
            <a:xfrm>
              <a:off x="5986485" y="2571744"/>
              <a:ext cx="360363"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1800" dirty="0">
                  <a:solidFill>
                    <a:srgbClr val="0000FF"/>
                  </a:solidFill>
                  <a:latin typeface="Consolas" pitchFamily="49" charset="0"/>
                  <a:cs typeface="Consolas" pitchFamily="49" charset="0"/>
                </a:rPr>
                <a:t>0</a:t>
              </a:r>
            </a:p>
          </p:txBody>
        </p:sp>
        <p:sp>
          <p:nvSpPr>
            <p:cNvPr id="28" name="Oval 32">
              <a:extLst>
                <a:ext uri="{FF2B5EF4-FFF2-40B4-BE49-F238E27FC236}">
                  <a16:creationId xmlns:a16="http://schemas.microsoft.com/office/drawing/2014/main" id="{2FA7A057-38CF-DB26-46B7-ECBCAE461C94}"/>
                </a:ext>
              </a:extLst>
            </p:cNvPr>
            <p:cNvSpPr>
              <a:spLocks noChangeArrowheads="1"/>
            </p:cNvSpPr>
            <p:nvPr/>
          </p:nvSpPr>
          <p:spPr bwMode="auto">
            <a:xfrm>
              <a:off x="6550057" y="3400428"/>
              <a:ext cx="360363"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1800">
                  <a:solidFill>
                    <a:srgbClr val="0000FF"/>
                  </a:solidFill>
                  <a:latin typeface="Consolas" pitchFamily="49" charset="0"/>
                  <a:cs typeface="Consolas" pitchFamily="49" charset="0"/>
                </a:rPr>
                <a:t>1</a:t>
              </a:r>
            </a:p>
          </p:txBody>
        </p:sp>
        <p:sp>
          <p:nvSpPr>
            <p:cNvPr id="29" name="Oval 33">
              <a:extLst>
                <a:ext uri="{FF2B5EF4-FFF2-40B4-BE49-F238E27FC236}">
                  <a16:creationId xmlns:a16="http://schemas.microsoft.com/office/drawing/2014/main" id="{95B28828-3DDC-C1C0-61B0-D601F61CF178}"/>
                </a:ext>
              </a:extLst>
            </p:cNvPr>
            <p:cNvSpPr>
              <a:spLocks noChangeArrowheads="1"/>
            </p:cNvSpPr>
            <p:nvPr/>
          </p:nvSpPr>
          <p:spPr bwMode="auto">
            <a:xfrm>
              <a:off x="5410222" y="3436932"/>
              <a:ext cx="360363"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1800">
                  <a:solidFill>
                    <a:srgbClr val="0000FF"/>
                  </a:solidFill>
                  <a:latin typeface="Consolas" pitchFamily="49" charset="0"/>
                  <a:cs typeface="Consolas" pitchFamily="49" charset="0"/>
                </a:rPr>
                <a:t>2</a:t>
              </a:r>
            </a:p>
          </p:txBody>
        </p:sp>
        <p:sp>
          <p:nvSpPr>
            <p:cNvPr id="30" name="Oval 34">
              <a:extLst>
                <a:ext uri="{FF2B5EF4-FFF2-40B4-BE49-F238E27FC236}">
                  <a16:creationId xmlns:a16="http://schemas.microsoft.com/office/drawing/2014/main" id="{4E7F5723-0A3C-47BA-E320-6973CD1BAD4A}"/>
                </a:ext>
              </a:extLst>
            </p:cNvPr>
            <p:cNvSpPr>
              <a:spLocks noChangeArrowheads="1"/>
            </p:cNvSpPr>
            <p:nvPr/>
          </p:nvSpPr>
          <p:spPr bwMode="auto">
            <a:xfrm>
              <a:off x="6059510" y="4156069"/>
              <a:ext cx="360363"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1800">
                  <a:solidFill>
                    <a:srgbClr val="0000FF"/>
                  </a:solidFill>
                  <a:latin typeface="Consolas" pitchFamily="49" charset="0"/>
                  <a:cs typeface="Consolas" pitchFamily="49" charset="0"/>
                </a:rPr>
                <a:t>3</a:t>
              </a:r>
            </a:p>
          </p:txBody>
        </p:sp>
        <p:sp>
          <p:nvSpPr>
            <p:cNvPr id="31" name="Oval 35">
              <a:extLst>
                <a:ext uri="{FF2B5EF4-FFF2-40B4-BE49-F238E27FC236}">
                  <a16:creationId xmlns:a16="http://schemas.microsoft.com/office/drawing/2014/main" id="{D6E574F1-9107-73EE-2264-398D39A13821}"/>
                </a:ext>
              </a:extLst>
            </p:cNvPr>
            <p:cNvSpPr>
              <a:spLocks noChangeArrowheads="1"/>
            </p:cNvSpPr>
            <p:nvPr/>
          </p:nvSpPr>
          <p:spPr bwMode="auto">
            <a:xfrm>
              <a:off x="6994547" y="4152908"/>
              <a:ext cx="360363"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1800">
                  <a:solidFill>
                    <a:srgbClr val="0000FF"/>
                  </a:solidFill>
                  <a:latin typeface="Consolas" pitchFamily="49" charset="0"/>
                  <a:cs typeface="Consolas" pitchFamily="49" charset="0"/>
                </a:rPr>
                <a:t>4</a:t>
              </a:r>
            </a:p>
          </p:txBody>
        </p:sp>
        <p:sp>
          <p:nvSpPr>
            <p:cNvPr id="32" name="Oval 37">
              <a:extLst>
                <a:ext uri="{FF2B5EF4-FFF2-40B4-BE49-F238E27FC236}">
                  <a16:creationId xmlns:a16="http://schemas.microsoft.com/office/drawing/2014/main" id="{480A151B-4DB9-87A2-3CDC-083E27D3A338}"/>
                </a:ext>
              </a:extLst>
            </p:cNvPr>
            <p:cNvSpPr>
              <a:spLocks noChangeArrowheads="1"/>
            </p:cNvSpPr>
            <p:nvPr/>
          </p:nvSpPr>
          <p:spPr bwMode="auto">
            <a:xfrm>
              <a:off x="7426347" y="3363907"/>
              <a:ext cx="360363"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1800">
                  <a:solidFill>
                    <a:srgbClr val="0000FF"/>
                  </a:solidFill>
                  <a:latin typeface="Consolas" pitchFamily="49" charset="0"/>
                  <a:cs typeface="Consolas" pitchFamily="49" charset="0"/>
                </a:rPr>
                <a:t>5</a:t>
              </a:r>
            </a:p>
          </p:txBody>
        </p:sp>
        <p:sp>
          <p:nvSpPr>
            <p:cNvPr id="33" name="Freeform 13">
              <a:extLst>
                <a:ext uri="{FF2B5EF4-FFF2-40B4-BE49-F238E27FC236}">
                  <a16:creationId xmlns:a16="http://schemas.microsoft.com/office/drawing/2014/main" id="{81B54811-2DAA-8875-546A-A128BF387325}"/>
                </a:ext>
              </a:extLst>
            </p:cNvPr>
            <p:cNvSpPr>
              <a:spLocks/>
            </p:cNvSpPr>
            <p:nvPr/>
          </p:nvSpPr>
          <p:spPr bwMode="auto">
            <a:xfrm>
              <a:off x="5646698" y="2928934"/>
              <a:ext cx="395288" cy="528638"/>
            </a:xfrm>
            <a:custGeom>
              <a:avLst/>
              <a:gdLst/>
              <a:ahLst/>
              <a:cxnLst>
                <a:cxn ang="0">
                  <a:pos x="249" y="0"/>
                </a:cxn>
                <a:cxn ang="0">
                  <a:pos x="0" y="333"/>
                </a:cxn>
              </a:cxnLst>
              <a:rect l="0" t="0" r="r" b="b"/>
              <a:pathLst>
                <a:path w="249" h="333">
                  <a:moveTo>
                    <a:pt x="249" y="0"/>
                  </a:moveTo>
                  <a:lnTo>
                    <a:pt x="0" y="333"/>
                  </a:lnTo>
                </a:path>
              </a:pathLst>
            </a:custGeom>
            <a:ln>
              <a:headEnd type="none" w="med" len="med"/>
              <a:tailEnd type="none" w="med" len="lg"/>
            </a:ln>
          </p:spPr>
          <p:style>
            <a:lnRef idx="2">
              <a:schemeClr val="accent5"/>
            </a:lnRef>
            <a:fillRef idx="0">
              <a:schemeClr val="accent5"/>
            </a:fillRef>
            <a:effectRef idx="1">
              <a:schemeClr val="accent5"/>
            </a:effectRef>
            <a:fontRef idx="minor">
              <a:schemeClr val="tx1"/>
            </a:fontRef>
          </p:style>
          <p:txBody>
            <a:bodyPr wrap="none"/>
            <a:lstStyle/>
            <a:p>
              <a:endParaRPr lang="zh-CN" altLang="en-US" sz="1800">
                <a:latin typeface="Consolas" pitchFamily="49" charset="0"/>
                <a:cs typeface="Consolas" pitchFamily="49" charset="0"/>
              </a:endParaRPr>
            </a:p>
          </p:txBody>
        </p:sp>
        <p:cxnSp>
          <p:nvCxnSpPr>
            <p:cNvPr id="34" name="直接连接符 33">
              <a:extLst>
                <a:ext uri="{FF2B5EF4-FFF2-40B4-BE49-F238E27FC236}">
                  <a16:creationId xmlns:a16="http://schemas.microsoft.com/office/drawing/2014/main" id="{604BD559-B008-47EE-541B-D5809B2353C6}"/>
                </a:ext>
              </a:extLst>
            </p:cNvPr>
            <p:cNvCxnSpPr>
              <a:stCxn id="29" idx="5"/>
              <a:endCxn id="30" idx="1"/>
            </p:cNvCxnSpPr>
            <p:nvPr/>
          </p:nvCxnSpPr>
          <p:spPr>
            <a:xfrm rot="16200000" flipH="1">
              <a:off x="5708143" y="3815163"/>
              <a:ext cx="413809" cy="394473"/>
            </a:xfrm>
            <a:prstGeom prst="line">
              <a:avLst/>
            </a:prstGeom>
            <a:ln/>
          </p:spPr>
          <p:style>
            <a:lnRef idx="2">
              <a:schemeClr val="accent5"/>
            </a:lnRef>
            <a:fillRef idx="0">
              <a:schemeClr val="accent5"/>
            </a:fillRef>
            <a:effectRef idx="1">
              <a:schemeClr val="accent5"/>
            </a:effectRef>
            <a:fontRef idx="minor">
              <a:schemeClr val="tx1"/>
            </a:fontRef>
          </p:style>
        </p:cxnSp>
        <p:cxnSp>
          <p:nvCxnSpPr>
            <p:cNvPr id="35" name="直接连接符 34">
              <a:extLst>
                <a:ext uri="{FF2B5EF4-FFF2-40B4-BE49-F238E27FC236}">
                  <a16:creationId xmlns:a16="http://schemas.microsoft.com/office/drawing/2014/main" id="{AB7936D6-37EA-D4F8-5DC4-A31C9058EB08}"/>
                </a:ext>
              </a:extLst>
            </p:cNvPr>
            <p:cNvCxnSpPr>
              <a:stCxn id="28" idx="6"/>
              <a:endCxn id="32" idx="2"/>
            </p:cNvCxnSpPr>
            <p:nvPr/>
          </p:nvCxnSpPr>
          <p:spPr>
            <a:xfrm flipV="1">
              <a:off x="6910420" y="3579807"/>
              <a:ext cx="515927" cy="36521"/>
            </a:xfrm>
            <a:prstGeom prst="line">
              <a:avLst/>
            </a:prstGeom>
            <a:ln/>
          </p:spPr>
          <p:style>
            <a:lnRef idx="2">
              <a:schemeClr val="accent5"/>
            </a:lnRef>
            <a:fillRef idx="0">
              <a:schemeClr val="accent5"/>
            </a:fillRef>
            <a:effectRef idx="1">
              <a:schemeClr val="accent5"/>
            </a:effectRef>
            <a:fontRef idx="minor">
              <a:schemeClr val="tx1"/>
            </a:fontRef>
          </p:style>
        </p:cxnSp>
        <p:cxnSp>
          <p:nvCxnSpPr>
            <p:cNvPr id="36" name="直接连接符 35">
              <a:extLst>
                <a:ext uri="{FF2B5EF4-FFF2-40B4-BE49-F238E27FC236}">
                  <a16:creationId xmlns:a16="http://schemas.microsoft.com/office/drawing/2014/main" id="{377E4125-D6A1-25AA-6E07-96808B51E853}"/>
                </a:ext>
              </a:extLst>
            </p:cNvPr>
            <p:cNvCxnSpPr>
              <a:stCxn id="28" idx="5"/>
              <a:endCxn id="31" idx="1"/>
            </p:cNvCxnSpPr>
            <p:nvPr/>
          </p:nvCxnSpPr>
          <p:spPr>
            <a:xfrm rot="16200000" flipH="1">
              <a:off x="6728907" y="3897730"/>
              <a:ext cx="447152" cy="189675"/>
            </a:xfrm>
            <a:prstGeom prst="line">
              <a:avLst/>
            </a:prstGeom>
            <a:ln/>
          </p:spPr>
          <p:style>
            <a:lnRef idx="2">
              <a:schemeClr val="accent5"/>
            </a:lnRef>
            <a:fillRef idx="0">
              <a:schemeClr val="accent5"/>
            </a:fillRef>
            <a:effectRef idx="1">
              <a:schemeClr val="accent5"/>
            </a:effectRef>
            <a:fontRef idx="minor">
              <a:schemeClr val="tx1"/>
            </a:fontRef>
          </p:style>
        </p:cxnSp>
        <p:cxnSp>
          <p:nvCxnSpPr>
            <p:cNvPr id="37" name="直接连接符 36">
              <a:extLst>
                <a:ext uri="{FF2B5EF4-FFF2-40B4-BE49-F238E27FC236}">
                  <a16:creationId xmlns:a16="http://schemas.microsoft.com/office/drawing/2014/main" id="{0881D717-72B8-9E64-B89E-2F1A53CBB317}"/>
                </a:ext>
              </a:extLst>
            </p:cNvPr>
            <p:cNvCxnSpPr>
              <a:stCxn id="27" idx="6"/>
              <a:endCxn id="32" idx="1"/>
            </p:cNvCxnSpPr>
            <p:nvPr/>
          </p:nvCxnSpPr>
          <p:spPr>
            <a:xfrm>
              <a:off x="6346848" y="2787644"/>
              <a:ext cx="1132273" cy="639499"/>
            </a:xfrm>
            <a:prstGeom prst="line">
              <a:avLst/>
            </a:prstGeom>
            <a:ln/>
          </p:spPr>
          <p:style>
            <a:lnRef idx="2">
              <a:schemeClr val="accent5"/>
            </a:lnRef>
            <a:fillRef idx="0">
              <a:schemeClr val="accent5"/>
            </a:fillRef>
            <a:effectRef idx="1">
              <a:schemeClr val="accent5"/>
            </a:effectRef>
            <a:fontRef idx="minor">
              <a:schemeClr val="tx1"/>
            </a:fontRef>
          </p:style>
        </p:cxnSp>
      </p:grpSp>
      <p:grpSp>
        <p:nvGrpSpPr>
          <p:cNvPr id="38" name="组合 37">
            <a:extLst>
              <a:ext uri="{FF2B5EF4-FFF2-40B4-BE49-F238E27FC236}">
                <a16:creationId xmlns:a16="http://schemas.microsoft.com/office/drawing/2014/main" id="{C669F73A-F197-22C6-EACB-07F3E80F843A}"/>
              </a:ext>
            </a:extLst>
          </p:cNvPr>
          <p:cNvGrpSpPr/>
          <p:nvPr/>
        </p:nvGrpSpPr>
        <p:grpSpPr>
          <a:xfrm>
            <a:off x="5243683" y="3426618"/>
            <a:ext cx="1643074" cy="642942"/>
            <a:chOff x="3643306" y="3000372"/>
            <a:chExt cx="1643074" cy="642942"/>
          </a:xfrm>
        </p:grpSpPr>
        <p:sp>
          <p:nvSpPr>
            <p:cNvPr id="39" name="右箭头 47">
              <a:extLst>
                <a:ext uri="{FF2B5EF4-FFF2-40B4-BE49-F238E27FC236}">
                  <a16:creationId xmlns:a16="http://schemas.microsoft.com/office/drawing/2014/main" id="{95C04C47-C8B6-F4C5-4DB2-976BF3999EAA}"/>
                </a:ext>
              </a:extLst>
            </p:cNvPr>
            <p:cNvSpPr/>
            <p:nvPr/>
          </p:nvSpPr>
          <p:spPr bwMode="auto">
            <a:xfrm>
              <a:off x="3786182" y="3429000"/>
              <a:ext cx="1428760" cy="214314"/>
            </a:xfrm>
            <a:prstGeom prst="rightArrow">
              <a:avLst/>
            </a:prstGeom>
            <a:ln>
              <a:headEnd type="none" w="med" len="med"/>
              <a:tailEnd type="none" w="med" len="lg"/>
            </a:ln>
          </p:spPr>
          <p:style>
            <a:lnRef idx="1">
              <a:schemeClr val="accent5"/>
            </a:lnRef>
            <a:fillRef idx="3">
              <a:schemeClr val="accent5"/>
            </a:fillRef>
            <a:effectRef idx="2">
              <a:schemeClr val="accent5"/>
            </a:effectRef>
            <a:fontRef idx="minor">
              <a:schemeClr val="lt1"/>
            </a:fontRef>
          </p:style>
          <p:txBody>
            <a:bodyPr wrap="none" rtlCol="0" anchor="ctr"/>
            <a:lstStyle/>
            <a:p>
              <a:pPr algn="ctr"/>
              <a:endParaRPr lang="zh-CN" altLang="en-US"/>
            </a:p>
          </p:txBody>
        </p:sp>
        <p:sp>
          <p:nvSpPr>
            <p:cNvPr id="40" name="TextBox 48">
              <a:extLst>
                <a:ext uri="{FF2B5EF4-FFF2-40B4-BE49-F238E27FC236}">
                  <a16:creationId xmlns:a16="http://schemas.microsoft.com/office/drawing/2014/main" id="{3EA55823-184C-61E9-09F9-211E2911FF8B}"/>
                </a:ext>
              </a:extLst>
            </p:cNvPr>
            <p:cNvSpPr txBox="1"/>
            <p:nvPr/>
          </p:nvSpPr>
          <p:spPr>
            <a:xfrm>
              <a:off x="3643306" y="3000372"/>
              <a:ext cx="1643074" cy="369332"/>
            </a:xfrm>
            <a:prstGeom prst="rect">
              <a:avLst/>
            </a:prstGeom>
            <a:noFill/>
          </p:spPr>
          <p:txBody>
            <a:bodyPr wrap="square" rtlCol="0">
              <a:spAutoFit/>
            </a:bodyPr>
            <a:lstStyle/>
            <a:p>
              <a:r>
                <a:rPr kumimoji="1" lang="zh-CN" altLang="en-US" sz="1800">
                  <a:solidFill>
                    <a:srgbClr val="0000FF"/>
                  </a:solidFill>
                  <a:latin typeface="仿宋" pitchFamily="49" charset="-122"/>
                  <a:ea typeface="仿宋" pitchFamily="49" charset="-122"/>
                  <a:cs typeface="Times New Roman" pitchFamily="18" charset="0"/>
                </a:rPr>
                <a:t>一棵生成树</a:t>
              </a:r>
              <a:endParaRPr lang="zh-CN" altLang="en-US" sz="1800">
                <a:solidFill>
                  <a:srgbClr val="0000FF"/>
                </a:solidFill>
                <a:latin typeface="仿宋" pitchFamily="49" charset="-122"/>
                <a:ea typeface="仿宋" pitchFamily="49" charset="-122"/>
              </a:endParaRPr>
            </a:p>
          </p:txBody>
        </p:sp>
      </p:grpSp>
      <p:sp>
        <p:nvSpPr>
          <p:cNvPr id="41" name="矩形 40">
            <a:extLst>
              <a:ext uri="{FF2B5EF4-FFF2-40B4-BE49-F238E27FC236}">
                <a16:creationId xmlns:a16="http://schemas.microsoft.com/office/drawing/2014/main" id="{BEA716A2-6D5D-B9D8-0450-9B8D29A7029D}"/>
              </a:ext>
            </a:extLst>
          </p:cNvPr>
          <p:cNvSpPr/>
          <p:nvPr/>
        </p:nvSpPr>
        <p:spPr>
          <a:xfrm>
            <a:off x="3394075" y="399838"/>
            <a:ext cx="4617860"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8.4 </a:t>
            </a:r>
            <a:r>
              <a:rPr lang="zh-CN" altLang="en-US" sz="3000" b="1" dirty="0">
                <a:latin typeface="黑体" pitchFamily="49" charset="-122"/>
                <a:ea typeface="黑体" pitchFamily="49" charset="-122"/>
                <a:cs typeface="经典粗黑简" pitchFamily="49" charset="-122"/>
              </a:rPr>
              <a:t>生成树和最小生成树</a:t>
            </a:r>
          </a:p>
        </p:txBody>
      </p:sp>
    </p:spTree>
    <p:extLst>
      <p:ext uri="{BB962C8B-B14F-4D97-AF65-F5344CB8AC3E}">
        <p14:creationId xmlns:p14="http://schemas.microsoft.com/office/powerpoint/2010/main" val="14978153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8" presetClass="entr" presetSubtype="6" fill="hold" nodeType="clickEffect">
                                  <p:stCondLst>
                                    <p:cond delay="0"/>
                                  </p:stCondLst>
                                  <p:childTnLst>
                                    <p:set>
                                      <p:cBhvr>
                                        <p:cTn id="10" dur="1" fill="hold">
                                          <p:stCondLst>
                                            <p:cond delay="0"/>
                                          </p:stCondLst>
                                        </p:cTn>
                                        <p:tgtEl>
                                          <p:spTgt spid="38"/>
                                        </p:tgtEl>
                                        <p:attrNameLst>
                                          <p:attrName>style.visibility</p:attrName>
                                        </p:attrNameLst>
                                      </p:cBhvr>
                                      <p:to>
                                        <p:strVal val="visible"/>
                                      </p:to>
                                    </p:set>
                                    <p:animEffect transition="in" filter="strips(downRight)">
                                      <p:cBhvr>
                                        <p:cTn id="11" dur="500"/>
                                        <p:tgtEl>
                                          <p:spTgt spid="38"/>
                                        </p:tgtEl>
                                      </p:cBhvr>
                                    </p:animEffect>
                                  </p:childTnLst>
                                </p:cTn>
                              </p:par>
                            </p:childTnLst>
                          </p:cTn>
                        </p:par>
                        <p:par>
                          <p:cTn id="12" fill="hold">
                            <p:stCondLst>
                              <p:cond delay="500"/>
                            </p:stCondLst>
                            <p:childTnLst>
                              <p:par>
                                <p:cTn id="13" presetID="1" presetClass="entr" presetSubtype="0" fill="hold" nodeType="afterEffect">
                                  <p:stCondLst>
                                    <p:cond delay="0"/>
                                  </p:stCondLst>
                                  <p:childTnLst>
                                    <p:set>
                                      <p:cBhvr>
                                        <p:cTn id="14" dur="1" fill="hold">
                                          <p:stCondLst>
                                            <p:cond delay="0"/>
                                          </p:stCondLst>
                                        </p:cTn>
                                        <p:tgtEl>
                                          <p:spTgt spid="2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7" presetClass="entr" presetSubtype="0" fill="hold" grpId="0" nodeType="clickEffect">
                                  <p:stCondLst>
                                    <p:cond delay="0"/>
                                  </p:stCondLst>
                                  <p:iterate type="lt">
                                    <p:tmPct val="50000"/>
                                  </p:iterate>
                                  <p:childTnLst>
                                    <p:set>
                                      <p:cBhvr>
                                        <p:cTn id="18" dur="1" fill="hold">
                                          <p:stCondLst>
                                            <p:cond delay="0"/>
                                          </p:stCondLst>
                                        </p:cTn>
                                        <p:tgtEl>
                                          <p:spTgt spid="8"/>
                                        </p:tgtEl>
                                        <p:attrNameLst>
                                          <p:attrName>style.visibility</p:attrName>
                                        </p:attrNameLst>
                                      </p:cBhvr>
                                      <p:to>
                                        <p:strVal val="visible"/>
                                      </p:to>
                                    </p:set>
                                    <p:anim calcmode="discrete" valueType="clr">
                                      <p:cBhvr override="childStyle">
                                        <p:cTn id="19" dur="80"/>
                                        <p:tgtEl>
                                          <p:spTgt spid="8"/>
                                        </p:tgtEl>
                                        <p:attrNameLst>
                                          <p:attrName>style.color</p:attrName>
                                        </p:attrNameLst>
                                      </p:cBhvr>
                                      <p:tavLst>
                                        <p:tav tm="0">
                                          <p:val>
                                            <p:clrVal>
                                              <a:schemeClr val="accent2"/>
                                            </p:clrVal>
                                          </p:val>
                                        </p:tav>
                                        <p:tav tm="50000">
                                          <p:val>
                                            <p:clrVal>
                                              <a:schemeClr val="hlink"/>
                                            </p:clrVal>
                                          </p:val>
                                        </p:tav>
                                      </p:tavLst>
                                    </p:anim>
                                    <p:anim calcmode="discrete" valueType="clr">
                                      <p:cBhvr>
                                        <p:cTn id="20" dur="80"/>
                                        <p:tgtEl>
                                          <p:spTgt spid="8"/>
                                        </p:tgtEl>
                                        <p:attrNameLst>
                                          <p:attrName>fillcolor</p:attrName>
                                        </p:attrNameLst>
                                      </p:cBhvr>
                                      <p:tavLst>
                                        <p:tav tm="0">
                                          <p:val>
                                            <p:clrVal>
                                              <a:schemeClr val="accent2"/>
                                            </p:clrVal>
                                          </p:val>
                                        </p:tav>
                                        <p:tav tm="50000">
                                          <p:val>
                                            <p:clrVal>
                                              <a:schemeClr val="hlink"/>
                                            </p:clrVal>
                                          </p:val>
                                        </p:tav>
                                      </p:tavLst>
                                    </p:anim>
                                    <p:set>
                                      <p:cBhvr>
                                        <p:cTn id="21" dur="80"/>
                                        <p:tgtEl>
                                          <p:spTgt spid="8"/>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86D4C1-F05C-B506-3979-CF6BD693C14F}"/>
            </a:ext>
          </a:extLst>
        </p:cNvPr>
        <p:cNvGrpSpPr/>
        <p:nvPr/>
      </p:nvGrpSpPr>
      <p:grpSpPr>
        <a:xfrm>
          <a:off x="0" y="0"/>
          <a:ext cx="0" cy="0"/>
          <a:chOff x="0" y="0"/>
          <a:chExt cx="0" cy="0"/>
        </a:xfrm>
      </p:grpSpPr>
      <p:sp>
        <p:nvSpPr>
          <p:cNvPr id="2" name="Rectangle 2">
            <a:extLst>
              <a:ext uri="{FF2B5EF4-FFF2-40B4-BE49-F238E27FC236}">
                <a16:creationId xmlns:a16="http://schemas.microsoft.com/office/drawing/2014/main" id="{696986E2-05E3-BB56-46F4-DC65E6FEFDF8}"/>
              </a:ext>
            </a:extLst>
          </p:cNvPr>
          <p:cNvSpPr txBox="1">
            <a:spLocks noChangeArrowheads="1"/>
          </p:cNvSpPr>
          <p:nvPr/>
        </p:nvSpPr>
        <p:spPr>
          <a:xfrm>
            <a:off x="474772" y="1230902"/>
            <a:ext cx="3905680"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8.4.1 </a:t>
            </a:r>
            <a:r>
              <a:rPr kumimoji="1" lang="zh-CN" altLang="en-US" dirty="0">
                <a:latin typeface="微软雅黑" pitchFamily="34" charset="-122"/>
                <a:ea typeface="微软雅黑" pitchFamily="34" charset="-122"/>
              </a:rPr>
              <a:t>生成树的概念</a:t>
            </a:r>
            <a:endParaRPr lang="zh-CN" altLang="en-US" dirty="0"/>
          </a:p>
        </p:txBody>
      </p:sp>
      <p:cxnSp>
        <p:nvCxnSpPr>
          <p:cNvPr id="4" name="直接连接符 3">
            <a:extLst>
              <a:ext uri="{FF2B5EF4-FFF2-40B4-BE49-F238E27FC236}">
                <a16:creationId xmlns:a16="http://schemas.microsoft.com/office/drawing/2014/main" id="{D988FF04-6EFE-08AB-3B57-5CED24778659}"/>
              </a:ext>
            </a:extLst>
          </p:cNvPr>
          <p:cNvCxnSpPr>
            <a:cxnSpLocks/>
          </p:cNvCxnSpPr>
          <p:nvPr/>
        </p:nvCxnSpPr>
        <p:spPr>
          <a:xfrm>
            <a:off x="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5" name="Text Box 2">
            <a:extLst>
              <a:ext uri="{FF2B5EF4-FFF2-40B4-BE49-F238E27FC236}">
                <a16:creationId xmlns:a16="http://schemas.microsoft.com/office/drawing/2014/main" id="{58E7AA1D-9100-07B9-232B-2A45ABFB80F8}"/>
              </a:ext>
            </a:extLst>
          </p:cNvPr>
          <p:cNvSpPr txBox="1">
            <a:spLocks noChangeArrowheads="1"/>
          </p:cNvSpPr>
          <p:nvPr/>
        </p:nvSpPr>
        <p:spPr bwMode="auto">
          <a:xfrm>
            <a:off x="1486918" y="2521297"/>
            <a:ext cx="6331849" cy="515526"/>
          </a:xfrm>
          <a:prstGeom prst="rect">
            <a:avLst/>
          </a:prstGeom>
          <a:ln>
            <a:noFill/>
            <a:headEnd/>
            <a:tailEnd/>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a:spAutoFit/>
          </a:bodyPr>
          <a:lstStyle/>
          <a:p>
            <a:pPr algn="just">
              <a:lnSpc>
                <a:spcPct val="150000"/>
              </a:lnSpc>
              <a:spcBef>
                <a:spcPts val="0"/>
              </a:spcBef>
            </a:pPr>
            <a:r>
              <a:rPr kumimoji="1" lang="zh-CN" altLang="en-US" sz="2000" dirty="0">
                <a:latin typeface="Consolas" pitchFamily="49" charset="0"/>
                <a:ea typeface="仿宋" pitchFamily="49" charset="-122"/>
                <a:cs typeface="Consolas" pitchFamily="49" charset="0"/>
              </a:rPr>
              <a:t>由深度优先遍历得到的生成树称为</a:t>
            </a:r>
            <a:r>
              <a:rPr kumimoji="1" lang="zh-CN" altLang="en-US" sz="2000" dirty="0">
                <a:solidFill>
                  <a:srgbClr val="FF0000"/>
                </a:solidFill>
                <a:latin typeface="方正启体简体" pitchFamily="65" charset="-122"/>
                <a:ea typeface="方正启体简体" pitchFamily="65" charset="-122"/>
                <a:cs typeface="Consolas" pitchFamily="49" charset="0"/>
              </a:rPr>
              <a:t>深度优先生成树</a:t>
            </a:r>
            <a:r>
              <a:rPr kumimoji="1" lang="zh-CN" altLang="en-US" sz="2000" dirty="0">
                <a:solidFill>
                  <a:srgbClr val="0000FF"/>
                </a:solidFill>
                <a:latin typeface="Consolas" pitchFamily="49" charset="0"/>
                <a:ea typeface="仿宋" pitchFamily="49" charset="-122"/>
                <a:cs typeface="Consolas" pitchFamily="49" charset="0"/>
              </a:rPr>
              <a:t>。</a:t>
            </a:r>
            <a:endParaRPr kumimoji="1" lang="en-US" altLang="zh-CN" sz="2000" dirty="0">
              <a:solidFill>
                <a:srgbClr val="0000FF"/>
              </a:solidFill>
              <a:latin typeface="Consolas" pitchFamily="49" charset="0"/>
              <a:ea typeface="仿宋" pitchFamily="49" charset="-122"/>
              <a:cs typeface="Consolas" pitchFamily="49" charset="0"/>
            </a:endParaRPr>
          </a:p>
        </p:txBody>
      </p:sp>
      <p:sp>
        <p:nvSpPr>
          <p:cNvPr id="6" name="TextBox 2">
            <a:extLst>
              <a:ext uri="{FF2B5EF4-FFF2-40B4-BE49-F238E27FC236}">
                <a16:creationId xmlns:a16="http://schemas.microsoft.com/office/drawing/2014/main" id="{290C33F7-4A1B-E176-9047-7867B32A5F3E}"/>
              </a:ext>
            </a:extLst>
          </p:cNvPr>
          <p:cNvSpPr txBox="1"/>
          <p:nvPr/>
        </p:nvSpPr>
        <p:spPr>
          <a:xfrm>
            <a:off x="1415480" y="1932287"/>
            <a:ext cx="4071966" cy="400110"/>
          </a:xfrm>
          <a:prstGeom prst="rect">
            <a:avLst/>
          </a:prstGeom>
          <a:noFill/>
        </p:spPr>
        <p:txBody>
          <a:bodyPr wrap="square" rtlCol="0">
            <a:spAutoFit/>
          </a:bodyPr>
          <a:lstStyle/>
          <a:p>
            <a:pPr algn="l"/>
            <a:r>
              <a:rPr lang="zh-CN" altLang="en-US" sz="2000" dirty="0">
                <a:ea typeface="楷体" pitchFamily="49" charset="-122"/>
                <a:cs typeface="Times New Roman" pitchFamily="18" charset="0"/>
              </a:rPr>
              <a:t>可以通过</a:t>
            </a:r>
            <a:r>
              <a:rPr kumimoji="1" lang="zh-CN" altLang="en-US" sz="2000" dirty="0">
                <a:ea typeface="楷体" pitchFamily="49" charset="-122"/>
                <a:cs typeface="Times New Roman" pitchFamily="18" charset="0"/>
              </a:rPr>
              <a:t>遍历方法产生</a:t>
            </a:r>
            <a:r>
              <a:rPr kumimoji="1" lang="zh-CN" altLang="en-US" sz="2000">
                <a:ea typeface="楷体" pitchFamily="49" charset="-122"/>
                <a:cs typeface="Times New Roman" pitchFamily="18" charset="0"/>
              </a:rPr>
              <a:t>生成树：</a:t>
            </a:r>
            <a:endParaRPr lang="zh-CN" altLang="en-US" sz="2000" dirty="0">
              <a:ea typeface="楷体" pitchFamily="49" charset="-122"/>
              <a:cs typeface="Times New Roman" pitchFamily="18" charset="0"/>
            </a:endParaRPr>
          </a:p>
        </p:txBody>
      </p:sp>
      <p:grpSp>
        <p:nvGrpSpPr>
          <p:cNvPr id="9" name="组合 8">
            <a:extLst>
              <a:ext uri="{FF2B5EF4-FFF2-40B4-BE49-F238E27FC236}">
                <a16:creationId xmlns:a16="http://schemas.microsoft.com/office/drawing/2014/main" id="{F9C78C5B-CBD2-7A4E-2379-9EA62A5BB0BD}"/>
              </a:ext>
            </a:extLst>
          </p:cNvPr>
          <p:cNvGrpSpPr/>
          <p:nvPr/>
        </p:nvGrpSpPr>
        <p:grpSpPr>
          <a:xfrm>
            <a:off x="1032769" y="3284984"/>
            <a:ext cx="2376488" cy="2016125"/>
            <a:chOff x="571472" y="1785926"/>
            <a:chExt cx="2376488" cy="2016125"/>
          </a:xfrm>
        </p:grpSpPr>
        <p:sp>
          <p:nvSpPr>
            <p:cNvPr id="10" name="Oval 31">
              <a:extLst>
                <a:ext uri="{FF2B5EF4-FFF2-40B4-BE49-F238E27FC236}">
                  <a16:creationId xmlns:a16="http://schemas.microsoft.com/office/drawing/2014/main" id="{3C807B75-C55F-18A5-40F2-9AC802F2BE5A}"/>
                </a:ext>
              </a:extLst>
            </p:cNvPr>
            <p:cNvSpPr>
              <a:spLocks noChangeArrowheads="1"/>
            </p:cNvSpPr>
            <p:nvPr/>
          </p:nvSpPr>
          <p:spPr bwMode="auto">
            <a:xfrm>
              <a:off x="1147735" y="1785926"/>
              <a:ext cx="360363" cy="431800"/>
            </a:xfrm>
            <a:prstGeom prst="ellipse">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anchor="ctr"/>
            <a:lstStyle/>
            <a:p>
              <a:r>
                <a:rPr lang="en-US" altLang="zh-CN" sz="1800" dirty="0">
                  <a:solidFill>
                    <a:srgbClr val="0000FF"/>
                  </a:solidFill>
                  <a:latin typeface="Consolas" pitchFamily="49" charset="0"/>
                  <a:cs typeface="Consolas" pitchFamily="49" charset="0"/>
                </a:rPr>
                <a:t>0</a:t>
              </a:r>
            </a:p>
          </p:txBody>
        </p:sp>
        <p:sp>
          <p:nvSpPr>
            <p:cNvPr id="41" name="Oval 32">
              <a:extLst>
                <a:ext uri="{FF2B5EF4-FFF2-40B4-BE49-F238E27FC236}">
                  <a16:creationId xmlns:a16="http://schemas.microsoft.com/office/drawing/2014/main" id="{3ADC298C-4537-741A-5D34-605FC35E63E7}"/>
                </a:ext>
              </a:extLst>
            </p:cNvPr>
            <p:cNvSpPr>
              <a:spLocks noChangeArrowheads="1"/>
            </p:cNvSpPr>
            <p:nvPr/>
          </p:nvSpPr>
          <p:spPr bwMode="auto">
            <a:xfrm>
              <a:off x="1711307" y="2614610"/>
              <a:ext cx="360363"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1800">
                  <a:solidFill>
                    <a:srgbClr val="0000FF"/>
                  </a:solidFill>
                  <a:latin typeface="Consolas" pitchFamily="49" charset="0"/>
                  <a:cs typeface="Consolas" pitchFamily="49" charset="0"/>
                </a:rPr>
                <a:t>1</a:t>
              </a:r>
            </a:p>
          </p:txBody>
        </p:sp>
        <p:sp>
          <p:nvSpPr>
            <p:cNvPr id="42" name="Oval 33">
              <a:extLst>
                <a:ext uri="{FF2B5EF4-FFF2-40B4-BE49-F238E27FC236}">
                  <a16:creationId xmlns:a16="http://schemas.microsoft.com/office/drawing/2014/main" id="{C3A7BEF3-9DF7-818C-C533-526646B476C7}"/>
                </a:ext>
              </a:extLst>
            </p:cNvPr>
            <p:cNvSpPr>
              <a:spLocks noChangeArrowheads="1"/>
            </p:cNvSpPr>
            <p:nvPr/>
          </p:nvSpPr>
          <p:spPr bwMode="auto">
            <a:xfrm>
              <a:off x="571472" y="2651114"/>
              <a:ext cx="360363"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1800">
                  <a:solidFill>
                    <a:srgbClr val="0000FF"/>
                  </a:solidFill>
                  <a:latin typeface="Consolas" pitchFamily="49" charset="0"/>
                  <a:cs typeface="Consolas" pitchFamily="49" charset="0"/>
                </a:rPr>
                <a:t>2</a:t>
              </a:r>
            </a:p>
          </p:txBody>
        </p:sp>
        <p:sp>
          <p:nvSpPr>
            <p:cNvPr id="43" name="Oval 34">
              <a:extLst>
                <a:ext uri="{FF2B5EF4-FFF2-40B4-BE49-F238E27FC236}">
                  <a16:creationId xmlns:a16="http://schemas.microsoft.com/office/drawing/2014/main" id="{69377485-BEB8-52BC-6F93-86ABDC89CB22}"/>
                </a:ext>
              </a:extLst>
            </p:cNvPr>
            <p:cNvSpPr>
              <a:spLocks noChangeArrowheads="1"/>
            </p:cNvSpPr>
            <p:nvPr/>
          </p:nvSpPr>
          <p:spPr bwMode="auto">
            <a:xfrm>
              <a:off x="1220760" y="3370251"/>
              <a:ext cx="360363"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1800">
                  <a:solidFill>
                    <a:srgbClr val="0000FF"/>
                  </a:solidFill>
                  <a:latin typeface="Consolas" pitchFamily="49" charset="0"/>
                  <a:cs typeface="Consolas" pitchFamily="49" charset="0"/>
                </a:rPr>
                <a:t>3</a:t>
              </a:r>
            </a:p>
          </p:txBody>
        </p:sp>
        <p:sp>
          <p:nvSpPr>
            <p:cNvPr id="44" name="Oval 35">
              <a:extLst>
                <a:ext uri="{FF2B5EF4-FFF2-40B4-BE49-F238E27FC236}">
                  <a16:creationId xmlns:a16="http://schemas.microsoft.com/office/drawing/2014/main" id="{4D6D807E-092B-5070-3B9D-5FEBDA3464F7}"/>
                </a:ext>
              </a:extLst>
            </p:cNvPr>
            <p:cNvSpPr>
              <a:spLocks noChangeArrowheads="1"/>
            </p:cNvSpPr>
            <p:nvPr/>
          </p:nvSpPr>
          <p:spPr bwMode="auto">
            <a:xfrm>
              <a:off x="2155797" y="3367090"/>
              <a:ext cx="360363"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1800">
                  <a:solidFill>
                    <a:srgbClr val="0000FF"/>
                  </a:solidFill>
                  <a:latin typeface="Consolas" pitchFamily="49" charset="0"/>
                  <a:cs typeface="Consolas" pitchFamily="49" charset="0"/>
                </a:rPr>
                <a:t>4</a:t>
              </a:r>
            </a:p>
          </p:txBody>
        </p:sp>
        <p:sp>
          <p:nvSpPr>
            <p:cNvPr id="45" name="Oval 37">
              <a:extLst>
                <a:ext uri="{FF2B5EF4-FFF2-40B4-BE49-F238E27FC236}">
                  <a16:creationId xmlns:a16="http://schemas.microsoft.com/office/drawing/2014/main" id="{D92BBFFB-1F02-2B24-10BC-82E0DD3BC3DE}"/>
                </a:ext>
              </a:extLst>
            </p:cNvPr>
            <p:cNvSpPr>
              <a:spLocks noChangeArrowheads="1"/>
            </p:cNvSpPr>
            <p:nvPr/>
          </p:nvSpPr>
          <p:spPr bwMode="auto">
            <a:xfrm>
              <a:off x="2587597" y="2578089"/>
              <a:ext cx="360363"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1800">
                  <a:solidFill>
                    <a:srgbClr val="0000FF"/>
                  </a:solidFill>
                  <a:latin typeface="Consolas" pitchFamily="49" charset="0"/>
                  <a:cs typeface="Consolas" pitchFamily="49" charset="0"/>
                </a:rPr>
                <a:t>5</a:t>
              </a:r>
            </a:p>
          </p:txBody>
        </p:sp>
        <p:sp>
          <p:nvSpPr>
            <p:cNvPr id="46" name="Freeform 13">
              <a:extLst>
                <a:ext uri="{FF2B5EF4-FFF2-40B4-BE49-F238E27FC236}">
                  <a16:creationId xmlns:a16="http://schemas.microsoft.com/office/drawing/2014/main" id="{3345AA6C-F24D-88A6-D64E-EDE811D7570C}"/>
                </a:ext>
              </a:extLst>
            </p:cNvPr>
            <p:cNvSpPr>
              <a:spLocks/>
            </p:cNvSpPr>
            <p:nvPr/>
          </p:nvSpPr>
          <p:spPr bwMode="auto">
            <a:xfrm>
              <a:off x="807948" y="2143116"/>
              <a:ext cx="395288" cy="528638"/>
            </a:xfrm>
            <a:custGeom>
              <a:avLst/>
              <a:gdLst/>
              <a:ahLst/>
              <a:cxnLst>
                <a:cxn ang="0">
                  <a:pos x="249" y="0"/>
                </a:cxn>
                <a:cxn ang="0">
                  <a:pos x="0" y="333"/>
                </a:cxn>
              </a:cxnLst>
              <a:rect l="0" t="0" r="r" b="b"/>
              <a:pathLst>
                <a:path w="249" h="333">
                  <a:moveTo>
                    <a:pt x="249" y="0"/>
                  </a:moveTo>
                  <a:lnTo>
                    <a:pt x="0" y="333"/>
                  </a:lnTo>
                </a:path>
              </a:pathLst>
            </a:custGeom>
            <a:ln>
              <a:headEnd type="none" w="med" len="med"/>
              <a:tailEnd type="none" w="med" len="lg"/>
            </a:ln>
          </p:spPr>
          <p:style>
            <a:lnRef idx="2">
              <a:schemeClr val="accent5"/>
            </a:lnRef>
            <a:fillRef idx="0">
              <a:schemeClr val="accent5"/>
            </a:fillRef>
            <a:effectRef idx="1">
              <a:schemeClr val="accent5"/>
            </a:effectRef>
            <a:fontRef idx="minor">
              <a:schemeClr val="tx1"/>
            </a:fontRef>
          </p:style>
          <p:txBody>
            <a:bodyPr wrap="none"/>
            <a:lstStyle/>
            <a:p>
              <a:endParaRPr lang="zh-CN" altLang="en-US" sz="1800"/>
            </a:p>
          </p:txBody>
        </p:sp>
        <p:cxnSp>
          <p:nvCxnSpPr>
            <p:cNvPr id="47" name="直接连接符 46">
              <a:extLst>
                <a:ext uri="{FF2B5EF4-FFF2-40B4-BE49-F238E27FC236}">
                  <a16:creationId xmlns:a16="http://schemas.microsoft.com/office/drawing/2014/main" id="{3B3A0607-3F6A-9965-2CCC-FEA2DFB71F17}"/>
                </a:ext>
              </a:extLst>
            </p:cNvPr>
            <p:cNvCxnSpPr>
              <a:stCxn id="10" idx="5"/>
              <a:endCxn id="41" idx="1"/>
            </p:cNvCxnSpPr>
            <p:nvPr/>
          </p:nvCxnSpPr>
          <p:spPr>
            <a:xfrm rot="16200000" flipH="1">
              <a:off x="1348024" y="2261789"/>
              <a:ext cx="523356" cy="308757"/>
            </a:xfrm>
            <a:prstGeom prst="line">
              <a:avLst/>
            </a:prstGeom>
            <a:ln/>
          </p:spPr>
          <p:style>
            <a:lnRef idx="2">
              <a:schemeClr val="accent5"/>
            </a:lnRef>
            <a:fillRef idx="0">
              <a:schemeClr val="accent5"/>
            </a:fillRef>
            <a:effectRef idx="1">
              <a:schemeClr val="accent5"/>
            </a:effectRef>
            <a:fontRef idx="minor">
              <a:schemeClr val="tx1"/>
            </a:fontRef>
          </p:style>
        </p:cxnSp>
        <p:cxnSp>
          <p:nvCxnSpPr>
            <p:cNvPr id="48" name="直接连接符 47">
              <a:extLst>
                <a:ext uri="{FF2B5EF4-FFF2-40B4-BE49-F238E27FC236}">
                  <a16:creationId xmlns:a16="http://schemas.microsoft.com/office/drawing/2014/main" id="{4E8E885F-FC56-AB25-1941-4269F3670664}"/>
                </a:ext>
              </a:extLst>
            </p:cNvPr>
            <p:cNvCxnSpPr>
              <a:stCxn id="41" idx="5"/>
              <a:endCxn id="44" idx="1"/>
            </p:cNvCxnSpPr>
            <p:nvPr/>
          </p:nvCxnSpPr>
          <p:spPr>
            <a:xfrm rot="16200000" flipH="1">
              <a:off x="1890157" y="3111912"/>
              <a:ext cx="447152" cy="189675"/>
            </a:xfrm>
            <a:prstGeom prst="line">
              <a:avLst/>
            </a:prstGeom>
            <a:ln/>
          </p:spPr>
          <p:style>
            <a:lnRef idx="2">
              <a:schemeClr val="accent5"/>
            </a:lnRef>
            <a:fillRef idx="0">
              <a:schemeClr val="accent5"/>
            </a:fillRef>
            <a:effectRef idx="1">
              <a:schemeClr val="accent5"/>
            </a:effectRef>
            <a:fontRef idx="minor">
              <a:schemeClr val="tx1"/>
            </a:fontRef>
          </p:style>
        </p:cxnSp>
        <p:cxnSp>
          <p:nvCxnSpPr>
            <p:cNvPr id="49" name="直接连接符 48">
              <a:extLst>
                <a:ext uri="{FF2B5EF4-FFF2-40B4-BE49-F238E27FC236}">
                  <a16:creationId xmlns:a16="http://schemas.microsoft.com/office/drawing/2014/main" id="{F8CC0C33-FA2C-29F1-213F-05FF882E696B}"/>
                </a:ext>
              </a:extLst>
            </p:cNvPr>
            <p:cNvCxnSpPr>
              <a:stCxn id="43" idx="6"/>
              <a:endCxn id="44" idx="2"/>
            </p:cNvCxnSpPr>
            <p:nvPr/>
          </p:nvCxnSpPr>
          <p:spPr>
            <a:xfrm flipV="1">
              <a:off x="1581123" y="3582990"/>
              <a:ext cx="574674" cy="3161"/>
            </a:xfrm>
            <a:prstGeom prst="line">
              <a:avLst/>
            </a:prstGeom>
            <a:ln/>
          </p:spPr>
          <p:style>
            <a:lnRef idx="2">
              <a:schemeClr val="accent5"/>
            </a:lnRef>
            <a:fillRef idx="0">
              <a:schemeClr val="accent5"/>
            </a:fillRef>
            <a:effectRef idx="1">
              <a:schemeClr val="accent5"/>
            </a:effectRef>
            <a:fontRef idx="minor">
              <a:schemeClr val="tx1"/>
            </a:fontRef>
          </p:style>
        </p:cxnSp>
        <p:cxnSp>
          <p:nvCxnSpPr>
            <p:cNvPr id="50" name="直接连接符 49">
              <a:extLst>
                <a:ext uri="{FF2B5EF4-FFF2-40B4-BE49-F238E27FC236}">
                  <a16:creationId xmlns:a16="http://schemas.microsoft.com/office/drawing/2014/main" id="{B9BCA07D-755C-EB66-F098-5F5354645082}"/>
                </a:ext>
              </a:extLst>
            </p:cNvPr>
            <p:cNvCxnSpPr>
              <a:stCxn id="10" idx="6"/>
              <a:endCxn id="45" idx="1"/>
            </p:cNvCxnSpPr>
            <p:nvPr/>
          </p:nvCxnSpPr>
          <p:spPr>
            <a:xfrm>
              <a:off x="1508098" y="2001826"/>
              <a:ext cx="1132273" cy="639499"/>
            </a:xfrm>
            <a:prstGeom prst="line">
              <a:avLst/>
            </a:prstGeom>
            <a:ln/>
          </p:spPr>
          <p:style>
            <a:lnRef idx="2">
              <a:schemeClr val="accent5"/>
            </a:lnRef>
            <a:fillRef idx="0">
              <a:schemeClr val="accent5"/>
            </a:fillRef>
            <a:effectRef idx="1">
              <a:schemeClr val="accent5"/>
            </a:effectRef>
            <a:fontRef idx="minor">
              <a:schemeClr val="tx1"/>
            </a:fontRef>
          </p:style>
        </p:cxnSp>
        <p:cxnSp>
          <p:nvCxnSpPr>
            <p:cNvPr id="51" name="直接连接符 50">
              <a:extLst>
                <a:ext uri="{FF2B5EF4-FFF2-40B4-BE49-F238E27FC236}">
                  <a16:creationId xmlns:a16="http://schemas.microsoft.com/office/drawing/2014/main" id="{EC261596-4CC8-F328-7E01-C18AD4CB6A0E}"/>
                </a:ext>
              </a:extLst>
            </p:cNvPr>
            <p:cNvCxnSpPr>
              <a:stCxn id="41" idx="3"/>
              <a:endCxn id="43" idx="7"/>
            </p:cNvCxnSpPr>
            <p:nvPr/>
          </p:nvCxnSpPr>
          <p:spPr>
            <a:xfrm rot="5400000">
              <a:off x="1421059" y="3090464"/>
              <a:ext cx="450313" cy="235732"/>
            </a:xfrm>
            <a:prstGeom prst="line">
              <a:avLst/>
            </a:prstGeom>
            <a:ln>
              <a:tailEnd type="none"/>
            </a:ln>
          </p:spPr>
          <p:style>
            <a:lnRef idx="2">
              <a:schemeClr val="accent5"/>
            </a:lnRef>
            <a:fillRef idx="0">
              <a:schemeClr val="accent5"/>
            </a:fillRef>
            <a:effectRef idx="1">
              <a:schemeClr val="accent5"/>
            </a:effectRef>
            <a:fontRef idx="minor">
              <a:schemeClr val="tx1"/>
            </a:fontRef>
          </p:style>
        </p:cxnSp>
      </p:grpSp>
      <p:grpSp>
        <p:nvGrpSpPr>
          <p:cNvPr id="52" name="组合 51">
            <a:extLst>
              <a:ext uri="{FF2B5EF4-FFF2-40B4-BE49-F238E27FC236}">
                <a16:creationId xmlns:a16="http://schemas.microsoft.com/office/drawing/2014/main" id="{91903FA8-CF8F-FB41-1C4F-1313DD52BBCE}"/>
              </a:ext>
            </a:extLst>
          </p:cNvPr>
          <p:cNvGrpSpPr/>
          <p:nvPr/>
        </p:nvGrpSpPr>
        <p:grpSpPr>
          <a:xfrm>
            <a:off x="8824806" y="3786851"/>
            <a:ext cx="1143008" cy="419774"/>
            <a:chOff x="857224" y="4214818"/>
            <a:chExt cx="1143008" cy="419774"/>
          </a:xfrm>
        </p:grpSpPr>
        <p:sp>
          <p:nvSpPr>
            <p:cNvPr id="53" name="TextBox 38">
              <a:extLst>
                <a:ext uri="{FF2B5EF4-FFF2-40B4-BE49-F238E27FC236}">
                  <a16:creationId xmlns:a16="http://schemas.microsoft.com/office/drawing/2014/main" id="{7099C80A-71FE-5539-8896-61A48CC3170E}"/>
                </a:ext>
              </a:extLst>
            </p:cNvPr>
            <p:cNvSpPr txBox="1"/>
            <p:nvPr/>
          </p:nvSpPr>
          <p:spPr>
            <a:xfrm>
              <a:off x="857224" y="4234482"/>
              <a:ext cx="357190" cy="400110"/>
            </a:xfrm>
            <a:prstGeom prst="rect">
              <a:avLst/>
            </a:prstGeom>
            <a:noFill/>
          </p:spPr>
          <p:txBody>
            <a:bodyPr wrap="square" rtlCol="0">
              <a:spAutoFit/>
            </a:bodyPr>
            <a:lstStyle/>
            <a:p>
              <a:pPr algn="l"/>
              <a:r>
                <a:rPr lang="en-US" altLang="zh-CN" sz="2000">
                  <a:solidFill>
                    <a:srgbClr val="0000FF"/>
                  </a:solidFill>
                  <a:latin typeface="Consolas" pitchFamily="49" charset="0"/>
                  <a:cs typeface="Consolas" pitchFamily="49" charset="0"/>
                </a:rPr>
                <a:t>0</a:t>
              </a:r>
              <a:r>
                <a:rPr lang="en-US" altLang="zh-CN" sz="2000">
                  <a:solidFill>
                    <a:srgbClr val="0000FF"/>
                  </a:solidFill>
                  <a:latin typeface="Consolas" pitchFamily="49" charset="0"/>
                  <a:cs typeface="Consolas" pitchFamily="49" charset="0"/>
                  <a:sym typeface="Wingdings"/>
                </a:rPr>
                <a:t>   </a:t>
              </a:r>
              <a:endParaRPr lang="zh-CN" altLang="en-US" sz="2000">
                <a:solidFill>
                  <a:srgbClr val="0000FF"/>
                </a:solidFill>
                <a:latin typeface="Consolas" pitchFamily="49" charset="0"/>
                <a:cs typeface="Consolas" pitchFamily="49" charset="0"/>
              </a:endParaRPr>
            </a:p>
          </p:txBody>
        </p:sp>
        <p:sp>
          <p:nvSpPr>
            <p:cNvPr id="54" name="TextBox 41">
              <a:extLst>
                <a:ext uri="{FF2B5EF4-FFF2-40B4-BE49-F238E27FC236}">
                  <a16:creationId xmlns:a16="http://schemas.microsoft.com/office/drawing/2014/main" id="{62DD3B41-AC5A-8647-CB80-4687A5B00B1F}"/>
                </a:ext>
              </a:extLst>
            </p:cNvPr>
            <p:cNvSpPr txBox="1"/>
            <p:nvPr/>
          </p:nvSpPr>
          <p:spPr>
            <a:xfrm>
              <a:off x="1643042" y="4214818"/>
              <a:ext cx="357190" cy="400110"/>
            </a:xfrm>
            <a:prstGeom prst="rect">
              <a:avLst/>
            </a:prstGeom>
            <a:noFill/>
          </p:spPr>
          <p:txBody>
            <a:bodyPr wrap="square" rtlCol="0">
              <a:spAutoFit/>
            </a:bodyPr>
            <a:lstStyle/>
            <a:p>
              <a:pPr algn="l"/>
              <a:r>
                <a:rPr lang="en-US" altLang="zh-CN" sz="2000">
                  <a:solidFill>
                    <a:srgbClr val="0000FF"/>
                  </a:solidFill>
                  <a:latin typeface="Consolas" pitchFamily="49" charset="0"/>
                  <a:cs typeface="Consolas" pitchFamily="49" charset="0"/>
                </a:rPr>
                <a:t>2</a:t>
              </a:r>
              <a:r>
                <a:rPr lang="en-US" altLang="zh-CN" sz="2000">
                  <a:solidFill>
                    <a:srgbClr val="0000FF"/>
                  </a:solidFill>
                  <a:latin typeface="Consolas" pitchFamily="49" charset="0"/>
                  <a:cs typeface="Consolas" pitchFamily="49" charset="0"/>
                  <a:sym typeface="Wingdings"/>
                </a:rPr>
                <a:t>   </a:t>
              </a:r>
              <a:endParaRPr lang="zh-CN" altLang="en-US" sz="2000">
                <a:solidFill>
                  <a:srgbClr val="0000FF"/>
                </a:solidFill>
                <a:latin typeface="Consolas" pitchFamily="49" charset="0"/>
                <a:cs typeface="Consolas" pitchFamily="49" charset="0"/>
              </a:endParaRPr>
            </a:p>
          </p:txBody>
        </p:sp>
        <p:cxnSp>
          <p:nvCxnSpPr>
            <p:cNvPr id="55" name="直接箭头连接符 54">
              <a:extLst>
                <a:ext uri="{FF2B5EF4-FFF2-40B4-BE49-F238E27FC236}">
                  <a16:creationId xmlns:a16="http://schemas.microsoft.com/office/drawing/2014/main" id="{EBF82547-FEE5-9B09-90EC-7D9E04AAB99C}"/>
                </a:ext>
              </a:extLst>
            </p:cNvPr>
            <p:cNvCxnSpPr/>
            <p:nvPr/>
          </p:nvCxnSpPr>
          <p:spPr>
            <a:xfrm>
              <a:off x="1214414" y="4414873"/>
              <a:ext cx="396000" cy="1588"/>
            </a:xfrm>
            <a:prstGeom prst="straightConnector1">
              <a:avLst/>
            </a:prstGeom>
            <a:ln>
              <a:tailEnd type="arrow"/>
            </a:ln>
          </p:spPr>
          <p:style>
            <a:lnRef idx="2">
              <a:schemeClr val="accent5"/>
            </a:lnRef>
            <a:fillRef idx="0">
              <a:schemeClr val="accent5"/>
            </a:fillRef>
            <a:effectRef idx="1">
              <a:schemeClr val="accent5"/>
            </a:effectRef>
            <a:fontRef idx="minor">
              <a:schemeClr val="tx1"/>
            </a:fontRef>
          </p:style>
        </p:cxnSp>
      </p:grpSp>
      <p:grpSp>
        <p:nvGrpSpPr>
          <p:cNvPr id="56" name="组合 55">
            <a:extLst>
              <a:ext uri="{FF2B5EF4-FFF2-40B4-BE49-F238E27FC236}">
                <a16:creationId xmlns:a16="http://schemas.microsoft.com/office/drawing/2014/main" id="{D99BA1CD-1FAE-4020-EB90-B387DF980BD4}"/>
              </a:ext>
            </a:extLst>
          </p:cNvPr>
          <p:cNvGrpSpPr/>
          <p:nvPr/>
        </p:nvGrpSpPr>
        <p:grpSpPr>
          <a:xfrm>
            <a:off x="9967814" y="4315435"/>
            <a:ext cx="714380" cy="400110"/>
            <a:chOff x="2000232" y="4743402"/>
            <a:chExt cx="714380" cy="400110"/>
          </a:xfrm>
        </p:grpSpPr>
        <p:sp>
          <p:nvSpPr>
            <p:cNvPr id="57" name="TextBox 45">
              <a:extLst>
                <a:ext uri="{FF2B5EF4-FFF2-40B4-BE49-F238E27FC236}">
                  <a16:creationId xmlns:a16="http://schemas.microsoft.com/office/drawing/2014/main" id="{CC828242-98D2-5716-74E8-D70D65F669EB}"/>
                </a:ext>
              </a:extLst>
            </p:cNvPr>
            <p:cNvSpPr txBox="1"/>
            <p:nvPr/>
          </p:nvSpPr>
          <p:spPr>
            <a:xfrm>
              <a:off x="2357422" y="4743402"/>
              <a:ext cx="357190" cy="400110"/>
            </a:xfrm>
            <a:prstGeom prst="rect">
              <a:avLst/>
            </a:prstGeom>
            <a:noFill/>
          </p:spPr>
          <p:txBody>
            <a:bodyPr wrap="square" rtlCol="0">
              <a:spAutoFit/>
            </a:bodyPr>
            <a:lstStyle/>
            <a:p>
              <a:pPr algn="l"/>
              <a:r>
                <a:rPr lang="en-US" altLang="zh-CN" sz="2000">
                  <a:solidFill>
                    <a:srgbClr val="0000FF"/>
                  </a:solidFill>
                  <a:latin typeface="Consolas" pitchFamily="49" charset="0"/>
                  <a:cs typeface="Consolas" pitchFamily="49" charset="0"/>
                  <a:sym typeface="Wingdings"/>
                </a:rPr>
                <a:t>3   </a:t>
              </a:r>
              <a:endParaRPr lang="zh-CN" altLang="en-US" sz="2000">
                <a:solidFill>
                  <a:srgbClr val="0000FF"/>
                </a:solidFill>
                <a:latin typeface="Consolas" pitchFamily="49" charset="0"/>
                <a:cs typeface="Consolas" pitchFamily="49" charset="0"/>
              </a:endParaRPr>
            </a:p>
          </p:txBody>
        </p:sp>
        <p:cxnSp>
          <p:nvCxnSpPr>
            <p:cNvPr id="58" name="直接箭头连接符 57">
              <a:extLst>
                <a:ext uri="{FF2B5EF4-FFF2-40B4-BE49-F238E27FC236}">
                  <a16:creationId xmlns:a16="http://schemas.microsoft.com/office/drawing/2014/main" id="{15B2E803-1068-F584-403E-0770DD4D446F}"/>
                </a:ext>
              </a:extLst>
            </p:cNvPr>
            <p:cNvCxnSpPr/>
            <p:nvPr/>
          </p:nvCxnSpPr>
          <p:spPr>
            <a:xfrm>
              <a:off x="2000232" y="4929198"/>
              <a:ext cx="324000" cy="1588"/>
            </a:xfrm>
            <a:prstGeom prst="straightConnector1">
              <a:avLst/>
            </a:prstGeom>
            <a:ln>
              <a:tailEnd type="arrow"/>
            </a:ln>
          </p:spPr>
          <p:style>
            <a:lnRef idx="2">
              <a:schemeClr val="accent5"/>
            </a:lnRef>
            <a:fillRef idx="0">
              <a:schemeClr val="accent5"/>
            </a:fillRef>
            <a:effectRef idx="1">
              <a:schemeClr val="accent5"/>
            </a:effectRef>
            <a:fontRef idx="minor">
              <a:schemeClr val="tx1"/>
            </a:fontRef>
          </p:style>
        </p:cxnSp>
      </p:grpSp>
      <p:grpSp>
        <p:nvGrpSpPr>
          <p:cNvPr id="59" name="组合 58">
            <a:extLst>
              <a:ext uri="{FF2B5EF4-FFF2-40B4-BE49-F238E27FC236}">
                <a16:creationId xmlns:a16="http://schemas.microsoft.com/office/drawing/2014/main" id="{7095F598-1A06-7355-803F-6F6FF1570B37}"/>
              </a:ext>
            </a:extLst>
          </p:cNvPr>
          <p:cNvGrpSpPr/>
          <p:nvPr/>
        </p:nvGrpSpPr>
        <p:grpSpPr>
          <a:xfrm>
            <a:off x="10656392" y="4315435"/>
            <a:ext cx="668744" cy="400110"/>
            <a:chOff x="2688810" y="4743402"/>
            <a:chExt cx="668744" cy="400110"/>
          </a:xfrm>
        </p:grpSpPr>
        <p:sp>
          <p:nvSpPr>
            <p:cNvPr id="60" name="TextBox 46">
              <a:extLst>
                <a:ext uri="{FF2B5EF4-FFF2-40B4-BE49-F238E27FC236}">
                  <a16:creationId xmlns:a16="http://schemas.microsoft.com/office/drawing/2014/main" id="{6CE64808-1E4F-5F72-32B2-F86B93B14252}"/>
                </a:ext>
              </a:extLst>
            </p:cNvPr>
            <p:cNvSpPr txBox="1"/>
            <p:nvPr/>
          </p:nvSpPr>
          <p:spPr>
            <a:xfrm>
              <a:off x="3000364" y="4743402"/>
              <a:ext cx="357190" cy="400110"/>
            </a:xfrm>
            <a:prstGeom prst="rect">
              <a:avLst/>
            </a:prstGeom>
            <a:noFill/>
          </p:spPr>
          <p:txBody>
            <a:bodyPr wrap="square" rtlCol="0">
              <a:spAutoFit/>
            </a:bodyPr>
            <a:lstStyle/>
            <a:p>
              <a:pPr algn="l"/>
              <a:r>
                <a:rPr lang="en-US" altLang="zh-CN" sz="2000">
                  <a:solidFill>
                    <a:srgbClr val="0000FF"/>
                  </a:solidFill>
                  <a:latin typeface="Consolas" pitchFamily="49" charset="0"/>
                  <a:cs typeface="Consolas" pitchFamily="49" charset="0"/>
                  <a:sym typeface="Wingdings"/>
                </a:rPr>
                <a:t>4   </a:t>
              </a:r>
              <a:endParaRPr lang="zh-CN" altLang="en-US" sz="2000">
                <a:solidFill>
                  <a:srgbClr val="0000FF"/>
                </a:solidFill>
                <a:latin typeface="Consolas" pitchFamily="49" charset="0"/>
                <a:cs typeface="Consolas" pitchFamily="49" charset="0"/>
              </a:endParaRPr>
            </a:p>
          </p:txBody>
        </p:sp>
        <p:cxnSp>
          <p:nvCxnSpPr>
            <p:cNvPr id="61" name="直接箭头连接符 60">
              <a:extLst>
                <a:ext uri="{FF2B5EF4-FFF2-40B4-BE49-F238E27FC236}">
                  <a16:creationId xmlns:a16="http://schemas.microsoft.com/office/drawing/2014/main" id="{B70F8543-7DF8-7816-ECC2-D0155CC7CCF6}"/>
                </a:ext>
              </a:extLst>
            </p:cNvPr>
            <p:cNvCxnSpPr/>
            <p:nvPr/>
          </p:nvCxnSpPr>
          <p:spPr>
            <a:xfrm>
              <a:off x="2688810" y="4937442"/>
              <a:ext cx="324000" cy="1588"/>
            </a:xfrm>
            <a:prstGeom prst="straightConnector1">
              <a:avLst/>
            </a:prstGeom>
            <a:ln>
              <a:tailEnd type="arrow"/>
            </a:ln>
          </p:spPr>
          <p:style>
            <a:lnRef idx="2">
              <a:schemeClr val="accent5"/>
            </a:lnRef>
            <a:fillRef idx="0">
              <a:schemeClr val="accent5"/>
            </a:fillRef>
            <a:effectRef idx="1">
              <a:schemeClr val="accent5"/>
            </a:effectRef>
            <a:fontRef idx="minor">
              <a:schemeClr val="tx1"/>
            </a:fontRef>
          </p:style>
        </p:cxnSp>
      </p:grpSp>
      <p:grpSp>
        <p:nvGrpSpPr>
          <p:cNvPr id="62" name="组合 61">
            <a:extLst>
              <a:ext uri="{FF2B5EF4-FFF2-40B4-BE49-F238E27FC236}">
                <a16:creationId xmlns:a16="http://schemas.microsoft.com/office/drawing/2014/main" id="{F390F574-8F38-538B-3885-E22C0132C5A0}"/>
              </a:ext>
            </a:extLst>
          </p:cNvPr>
          <p:cNvGrpSpPr/>
          <p:nvPr/>
        </p:nvGrpSpPr>
        <p:grpSpPr>
          <a:xfrm>
            <a:off x="9204274" y="4096650"/>
            <a:ext cx="763540" cy="618895"/>
            <a:chOff x="1236692" y="4524617"/>
            <a:chExt cx="763540" cy="618895"/>
          </a:xfrm>
        </p:grpSpPr>
        <p:sp>
          <p:nvSpPr>
            <p:cNvPr id="63" name="TextBox 44">
              <a:extLst>
                <a:ext uri="{FF2B5EF4-FFF2-40B4-BE49-F238E27FC236}">
                  <a16:creationId xmlns:a16="http://schemas.microsoft.com/office/drawing/2014/main" id="{331D17D7-DCB8-CB40-9263-E2F108DB1FE8}"/>
                </a:ext>
              </a:extLst>
            </p:cNvPr>
            <p:cNvSpPr txBox="1"/>
            <p:nvPr/>
          </p:nvSpPr>
          <p:spPr>
            <a:xfrm>
              <a:off x="1643042" y="4743402"/>
              <a:ext cx="357190" cy="400110"/>
            </a:xfrm>
            <a:prstGeom prst="rect">
              <a:avLst/>
            </a:prstGeom>
            <a:noFill/>
          </p:spPr>
          <p:txBody>
            <a:bodyPr wrap="square" rtlCol="0">
              <a:spAutoFit/>
            </a:bodyPr>
            <a:lstStyle/>
            <a:p>
              <a:pPr algn="l"/>
              <a:r>
                <a:rPr lang="en-US" altLang="zh-CN" sz="2000">
                  <a:solidFill>
                    <a:srgbClr val="0000FF"/>
                  </a:solidFill>
                  <a:latin typeface="Consolas" pitchFamily="49" charset="0"/>
                  <a:cs typeface="Consolas" pitchFamily="49" charset="0"/>
                  <a:sym typeface="Wingdings"/>
                </a:rPr>
                <a:t>1   </a:t>
              </a:r>
              <a:endParaRPr lang="zh-CN" altLang="en-US" sz="2000">
                <a:solidFill>
                  <a:srgbClr val="0000FF"/>
                </a:solidFill>
                <a:latin typeface="Consolas" pitchFamily="49" charset="0"/>
                <a:cs typeface="Consolas" pitchFamily="49" charset="0"/>
              </a:endParaRPr>
            </a:p>
          </p:txBody>
        </p:sp>
        <p:cxnSp>
          <p:nvCxnSpPr>
            <p:cNvPr id="64" name="直接箭头连接符 63">
              <a:extLst>
                <a:ext uri="{FF2B5EF4-FFF2-40B4-BE49-F238E27FC236}">
                  <a16:creationId xmlns:a16="http://schemas.microsoft.com/office/drawing/2014/main" id="{EBCB84C8-925F-3AD7-AF30-9177BAB92D8F}"/>
                </a:ext>
              </a:extLst>
            </p:cNvPr>
            <p:cNvCxnSpPr>
              <a:endCxn id="63" idx="1"/>
            </p:cNvCxnSpPr>
            <p:nvPr/>
          </p:nvCxnSpPr>
          <p:spPr>
            <a:xfrm rot="16200000" flipH="1">
              <a:off x="1230447" y="4530862"/>
              <a:ext cx="418840" cy="406350"/>
            </a:xfrm>
            <a:prstGeom prst="straightConnector1">
              <a:avLst/>
            </a:prstGeom>
            <a:ln>
              <a:tailEnd type="arrow"/>
            </a:ln>
          </p:spPr>
          <p:style>
            <a:lnRef idx="2">
              <a:schemeClr val="accent5"/>
            </a:lnRef>
            <a:fillRef idx="0">
              <a:schemeClr val="accent5"/>
            </a:fillRef>
            <a:effectRef idx="1">
              <a:schemeClr val="accent5"/>
            </a:effectRef>
            <a:fontRef idx="minor">
              <a:schemeClr val="tx1"/>
            </a:fontRef>
          </p:style>
        </p:cxnSp>
      </p:grpSp>
      <p:grpSp>
        <p:nvGrpSpPr>
          <p:cNvPr id="65" name="组合 64">
            <a:extLst>
              <a:ext uri="{FF2B5EF4-FFF2-40B4-BE49-F238E27FC236}">
                <a16:creationId xmlns:a16="http://schemas.microsoft.com/office/drawing/2014/main" id="{F7659F41-B135-4FCA-027D-491D02A29C2C}"/>
              </a:ext>
            </a:extLst>
          </p:cNvPr>
          <p:cNvGrpSpPr/>
          <p:nvPr/>
        </p:nvGrpSpPr>
        <p:grpSpPr>
          <a:xfrm>
            <a:off x="9181997" y="4215478"/>
            <a:ext cx="785817" cy="1071571"/>
            <a:chOff x="1214415" y="4643445"/>
            <a:chExt cx="785817" cy="1071571"/>
          </a:xfrm>
        </p:grpSpPr>
        <p:sp>
          <p:nvSpPr>
            <p:cNvPr id="66" name="TextBox 50">
              <a:extLst>
                <a:ext uri="{FF2B5EF4-FFF2-40B4-BE49-F238E27FC236}">
                  <a16:creationId xmlns:a16="http://schemas.microsoft.com/office/drawing/2014/main" id="{255EC8CD-63D4-E80D-E7D6-CD290DC72B7A}"/>
                </a:ext>
              </a:extLst>
            </p:cNvPr>
            <p:cNvSpPr txBox="1"/>
            <p:nvPr/>
          </p:nvSpPr>
          <p:spPr>
            <a:xfrm>
              <a:off x="1643042" y="5314906"/>
              <a:ext cx="357190" cy="400110"/>
            </a:xfrm>
            <a:prstGeom prst="rect">
              <a:avLst/>
            </a:prstGeom>
            <a:noFill/>
          </p:spPr>
          <p:txBody>
            <a:bodyPr wrap="square" rtlCol="0">
              <a:spAutoFit/>
            </a:bodyPr>
            <a:lstStyle/>
            <a:p>
              <a:pPr algn="l"/>
              <a:r>
                <a:rPr lang="en-US" altLang="zh-CN" sz="2000">
                  <a:solidFill>
                    <a:srgbClr val="0000FF"/>
                  </a:solidFill>
                  <a:latin typeface="Consolas" pitchFamily="49" charset="0"/>
                  <a:cs typeface="Consolas" pitchFamily="49" charset="0"/>
                  <a:sym typeface="Wingdings"/>
                </a:rPr>
                <a:t>5   </a:t>
              </a:r>
              <a:endParaRPr lang="zh-CN" altLang="en-US" sz="2000">
                <a:solidFill>
                  <a:srgbClr val="0000FF"/>
                </a:solidFill>
                <a:latin typeface="Consolas" pitchFamily="49" charset="0"/>
                <a:cs typeface="Consolas" pitchFamily="49" charset="0"/>
              </a:endParaRPr>
            </a:p>
          </p:txBody>
        </p:sp>
        <p:cxnSp>
          <p:nvCxnSpPr>
            <p:cNvPr id="67" name="直接箭头连接符 66">
              <a:extLst>
                <a:ext uri="{FF2B5EF4-FFF2-40B4-BE49-F238E27FC236}">
                  <a16:creationId xmlns:a16="http://schemas.microsoft.com/office/drawing/2014/main" id="{027E8434-338E-D60D-3EEA-AC74091076A8}"/>
                </a:ext>
              </a:extLst>
            </p:cNvPr>
            <p:cNvCxnSpPr>
              <a:endCxn id="66" idx="1"/>
            </p:cNvCxnSpPr>
            <p:nvPr/>
          </p:nvCxnSpPr>
          <p:spPr>
            <a:xfrm rot="16200000" flipH="1">
              <a:off x="992971" y="4864889"/>
              <a:ext cx="871515" cy="428628"/>
            </a:xfrm>
            <a:prstGeom prst="straightConnector1">
              <a:avLst/>
            </a:prstGeom>
            <a:ln>
              <a:tailEnd type="arrow"/>
            </a:ln>
          </p:spPr>
          <p:style>
            <a:lnRef idx="2">
              <a:schemeClr val="accent5"/>
            </a:lnRef>
            <a:fillRef idx="0">
              <a:schemeClr val="accent5"/>
            </a:fillRef>
            <a:effectRef idx="1">
              <a:schemeClr val="accent5"/>
            </a:effectRef>
            <a:fontRef idx="minor">
              <a:schemeClr val="tx1"/>
            </a:fontRef>
          </p:style>
        </p:cxnSp>
      </p:grpSp>
      <p:grpSp>
        <p:nvGrpSpPr>
          <p:cNvPr id="68" name="组合 67">
            <a:extLst>
              <a:ext uri="{FF2B5EF4-FFF2-40B4-BE49-F238E27FC236}">
                <a16:creationId xmlns:a16="http://schemas.microsoft.com/office/drawing/2014/main" id="{5C74C7DF-3485-88B2-6769-866C41BE581B}"/>
              </a:ext>
            </a:extLst>
          </p:cNvPr>
          <p:cNvGrpSpPr/>
          <p:nvPr/>
        </p:nvGrpSpPr>
        <p:grpSpPr>
          <a:xfrm>
            <a:off x="3747413" y="3284984"/>
            <a:ext cx="4214842" cy="2016125"/>
            <a:chOff x="3286116" y="1785926"/>
            <a:chExt cx="4214842" cy="2016125"/>
          </a:xfrm>
        </p:grpSpPr>
        <p:sp>
          <p:nvSpPr>
            <p:cNvPr id="69" name="Oval 31">
              <a:extLst>
                <a:ext uri="{FF2B5EF4-FFF2-40B4-BE49-F238E27FC236}">
                  <a16:creationId xmlns:a16="http://schemas.microsoft.com/office/drawing/2014/main" id="{59A3C77E-738C-FBDD-8477-C4CFB5DE895E}"/>
                </a:ext>
              </a:extLst>
            </p:cNvPr>
            <p:cNvSpPr>
              <a:spLocks noChangeArrowheads="1"/>
            </p:cNvSpPr>
            <p:nvPr/>
          </p:nvSpPr>
          <p:spPr bwMode="auto">
            <a:xfrm>
              <a:off x="5700733" y="1785926"/>
              <a:ext cx="360363" cy="431800"/>
            </a:xfrm>
            <a:prstGeom prst="ellipse">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anchor="ctr"/>
            <a:lstStyle/>
            <a:p>
              <a:r>
                <a:rPr lang="en-US" altLang="zh-CN" sz="1800" dirty="0">
                  <a:solidFill>
                    <a:srgbClr val="0000FF"/>
                  </a:solidFill>
                  <a:latin typeface="Consolas" pitchFamily="49" charset="0"/>
                  <a:cs typeface="Consolas" pitchFamily="49" charset="0"/>
                </a:rPr>
                <a:t>0</a:t>
              </a:r>
            </a:p>
          </p:txBody>
        </p:sp>
        <p:sp>
          <p:nvSpPr>
            <p:cNvPr id="70" name="Oval 32">
              <a:extLst>
                <a:ext uri="{FF2B5EF4-FFF2-40B4-BE49-F238E27FC236}">
                  <a16:creationId xmlns:a16="http://schemas.microsoft.com/office/drawing/2014/main" id="{6C5FAFF3-2AE6-E3AA-2B7E-8C6BFFC64392}"/>
                </a:ext>
              </a:extLst>
            </p:cNvPr>
            <p:cNvSpPr>
              <a:spLocks noChangeArrowheads="1"/>
            </p:cNvSpPr>
            <p:nvPr/>
          </p:nvSpPr>
          <p:spPr bwMode="auto">
            <a:xfrm>
              <a:off x="6264305" y="2614610"/>
              <a:ext cx="360363"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1800">
                  <a:solidFill>
                    <a:srgbClr val="0000FF"/>
                  </a:solidFill>
                  <a:latin typeface="Consolas" pitchFamily="49" charset="0"/>
                  <a:cs typeface="Consolas" pitchFamily="49" charset="0"/>
                </a:rPr>
                <a:t>1</a:t>
              </a:r>
            </a:p>
          </p:txBody>
        </p:sp>
        <p:sp>
          <p:nvSpPr>
            <p:cNvPr id="71" name="Oval 33">
              <a:extLst>
                <a:ext uri="{FF2B5EF4-FFF2-40B4-BE49-F238E27FC236}">
                  <a16:creationId xmlns:a16="http://schemas.microsoft.com/office/drawing/2014/main" id="{CCA1D04E-F4D6-D3A2-EF1B-7C8D9AC6A7EE}"/>
                </a:ext>
              </a:extLst>
            </p:cNvPr>
            <p:cNvSpPr>
              <a:spLocks noChangeArrowheads="1"/>
            </p:cNvSpPr>
            <p:nvPr/>
          </p:nvSpPr>
          <p:spPr bwMode="auto">
            <a:xfrm>
              <a:off x="5124470" y="2651114"/>
              <a:ext cx="360363"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1800">
                  <a:solidFill>
                    <a:srgbClr val="0000FF"/>
                  </a:solidFill>
                  <a:latin typeface="Consolas" pitchFamily="49" charset="0"/>
                  <a:cs typeface="Consolas" pitchFamily="49" charset="0"/>
                </a:rPr>
                <a:t>2</a:t>
              </a:r>
            </a:p>
          </p:txBody>
        </p:sp>
        <p:sp>
          <p:nvSpPr>
            <p:cNvPr id="72" name="Oval 34">
              <a:extLst>
                <a:ext uri="{FF2B5EF4-FFF2-40B4-BE49-F238E27FC236}">
                  <a16:creationId xmlns:a16="http://schemas.microsoft.com/office/drawing/2014/main" id="{105B89DF-12F7-C5DA-A910-66E26F43A8E0}"/>
                </a:ext>
              </a:extLst>
            </p:cNvPr>
            <p:cNvSpPr>
              <a:spLocks noChangeArrowheads="1"/>
            </p:cNvSpPr>
            <p:nvPr/>
          </p:nvSpPr>
          <p:spPr bwMode="auto">
            <a:xfrm>
              <a:off x="5773758" y="3370251"/>
              <a:ext cx="360363"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1800">
                  <a:solidFill>
                    <a:srgbClr val="0000FF"/>
                  </a:solidFill>
                  <a:latin typeface="Consolas" pitchFamily="49" charset="0"/>
                  <a:cs typeface="Consolas" pitchFamily="49" charset="0"/>
                </a:rPr>
                <a:t>3</a:t>
              </a:r>
            </a:p>
          </p:txBody>
        </p:sp>
        <p:sp>
          <p:nvSpPr>
            <p:cNvPr id="73" name="Oval 35">
              <a:extLst>
                <a:ext uri="{FF2B5EF4-FFF2-40B4-BE49-F238E27FC236}">
                  <a16:creationId xmlns:a16="http://schemas.microsoft.com/office/drawing/2014/main" id="{76F92905-0042-73EB-5A6F-90C535F3BC19}"/>
                </a:ext>
              </a:extLst>
            </p:cNvPr>
            <p:cNvSpPr>
              <a:spLocks noChangeArrowheads="1"/>
            </p:cNvSpPr>
            <p:nvPr/>
          </p:nvSpPr>
          <p:spPr bwMode="auto">
            <a:xfrm>
              <a:off x="6708795" y="3367090"/>
              <a:ext cx="360363"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1800">
                  <a:solidFill>
                    <a:srgbClr val="0000FF"/>
                  </a:solidFill>
                  <a:latin typeface="Consolas" pitchFamily="49" charset="0"/>
                  <a:cs typeface="Consolas" pitchFamily="49" charset="0"/>
                </a:rPr>
                <a:t>4</a:t>
              </a:r>
            </a:p>
          </p:txBody>
        </p:sp>
        <p:sp>
          <p:nvSpPr>
            <p:cNvPr id="74" name="Oval 37">
              <a:extLst>
                <a:ext uri="{FF2B5EF4-FFF2-40B4-BE49-F238E27FC236}">
                  <a16:creationId xmlns:a16="http://schemas.microsoft.com/office/drawing/2014/main" id="{6D79F420-5020-8AFE-059E-FF75DDCE3A62}"/>
                </a:ext>
              </a:extLst>
            </p:cNvPr>
            <p:cNvSpPr>
              <a:spLocks noChangeArrowheads="1"/>
            </p:cNvSpPr>
            <p:nvPr/>
          </p:nvSpPr>
          <p:spPr bwMode="auto">
            <a:xfrm>
              <a:off x="7140595" y="2578089"/>
              <a:ext cx="360363"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1800">
                  <a:solidFill>
                    <a:srgbClr val="0000FF"/>
                  </a:solidFill>
                  <a:latin typeface="Consolas" pitchFamily="49" charset="0"/>
                  <a:cs typeface="Consolas" pitchFamily="49" charset="0"/>
                </a:rPr>
                <a:t>5</a:t>
              </a:r>
            </a:p>
          </p:txBody>
        </p:sp>
        <p:sp>
          <p:nvSpPr>
            <p:cNvPr id="75" name="Freeform 13">
              <a:extLst>
                <a:ext uri="{FF2B5EF4-FFF2-40B4-BE49-F238E27FC236}">
                  <a16:creationId xmlns:a16="http://schemas.microsoft.com/office/drawing/2014/main" id="{0A15F2FA-BC12-8E58-151C-E7D895CB54CA}"/>
                </a:ext>
              </a:extLst>
            </p:cNvPr>
            <p:cNvSpPr>
              <a:spLocks/>
            </p:cNvSpPr>
            <p:nvPr/>
          </p:nvSpPr>
          <p:spPr bwMode="auto">
            <a:xfrm>
              <a:off x="5360946" y="2143116"/>
              <a:ext cx="395288" cy="528638"/>
            </a:xfrm>
            <a:custGeom>
              <a:avLst/>
              <a:gdLst/>
              <a:ahLst/>
              <a:cxnLst>
                <a:cxn ang="0">
                  <a:pos x="249" y="0"/>
                </a:cxn>
                <a:cxn ang="0">
                  <a:pos x="0" y="333"/>
                </a:cxn>
              </a:cxnLst>
              <a:rect l="0" t="0" r="r" b="b"/>
              <a:pathLst>
                <a:path w="249" h="333">
                  <a:moveTo>
                    <a:pt x="249" y="0"/>
                  </a:moveTo>
                  <a:lnTo>
                    <a:pt x="0" y="333"/>
                  </a:lnTo>
                </a:path>
              </a:pathLst>
            </a:custGeom>
            <a:ln>
              <a:headEnd type="none" w="med" len="med"/>
              <a:tailEnd type="none" w="med" len="lg"/>
            </a:ln>
          </p:spPr>
          <p:style>
            <a:lnRef idx="2">
              <a:schemeClr val="accent5"/>
            </a:lnRef>
            <a:fillRef idx="0">
              <a:schemeClr val="accent5"/>
            </a:fillRef>
            <a:effectRef idx="1">
              <a:schemeClr val="accent5"/>
            </a:effectRef>
            <a:fontRef idx="minor">
              <a:schemeClr val="tx1"/>
            </a:fontRef>
          </p:style>
          <p:txBody>
            <a:bodyPr wrap="none"/>
            <a:lstStyle/>
            <a:p>
              <a:endParaRPr lang="zh-CN" altLang="en-US" sz="1800">
                <a:latin typeface="Consolas" pitchFamily="49" charset="0"/>
                <a:cs typeface="Consolas" pitchFamily="49" charset="0"/>
              </a:endParaRPr>
            </a:p>
          </p:txBody>
        </p:sp>
        <p:cxnSp>
          <p:nvCxnSpPr>
            <p:cNvPr id="76" name="直接连接符 75">
              <a:extLst>
                <a:ext uri="{FF2B5EF4-FFF2-40B4-BE49-F238E27FC236}">
                  <a16:creationId xmlns:a16="http://schemas.microsoft.com/office/drawing/2014/main" id="{18A33B9F-8B2E-0A3D-B366-056D0B747C25}"/>
                </a:ext>
              </a:extLst>
            </p:cNvPr>
            <p:cNvCxnSpPr>
              <a:stCxn id="72" idx="6"/>
              <a:endCxn id="73" idx="2"/>
            </p:cNvCxnSpPr>
            <p:nvPr/>
          </p:nvCxnSpPr>
          <p:spPr>
            <a:xfrm flipV="1">
              <a:off x="6134121" y="3582990"/>
              <a:ext cx="574674" cy="3161"/>
            </a:xfrm>
            <a:prstGeom prst="line">
              <a:avLst/>
            </a:prstGeom>
            <a:ln/>
          </p:spPr>
          <p:style>
            <a:lnRef idx="2">
              <a:schemeClr val="accent5"/>
            </a:lnRef>
            <a:fillRef idx="0">
              <a:schemeClr val="accent5"/>
            </a:fillRef>
            <a:effectRef idx="1">
              <a:schemeClr val="accent5"/>
            </a:effectRef>
            <a:fontRef idx="minor">
              <a:schemeClr val="tx1"/>
            </a:fontRef>
          </p:style>
        </p:cxnSp>
        <p:grpSp>
          <p:nvGrpSpPr>
            <p:cNvPr id="77" name="组合 76">
              <a:extLst>
                <a:ext uri="{FF2B5EF4-FFF2-40B4-BE49-F238E27FC236}">
                  <a16:creationId xmlns:a16="http://schemas.microsoft.com/office/drawing/2014/main" id="{6D7A3A7A-979B-66EF-C49E-B45D6E6D610C}"/>
                </a:ext>
              </a:extLst>
            </p:cNvPr>
            <p:cNvGrpSpPr/>
            <p:nvPr/>
          </p:nvGrpSpPr>
          <p:grpSpPr>
            <a:xfrm>
              <a:off x="3286116" y="2301853"/>
              <a:ext cx="1643074" cy="642942"/>
              <a:chOff x="3643306" y="3000372"/>
              <a:chExt cx="1643074" cy="642942"/>
            </a:xfrm>
          </p:grpSpPr>
          <p:sp>
            <p:nvSpPr>
              <p:cNvPr id="81" name="右箭头 35">
                <a:extLst>
                  <a:ext uri="{FF2B5EF4-FFF2-40B4-BE49-F238E27FC236}">
                    <a16:creationId xmlns:a16="http://schemas.microsoft.com/office/drawing/2014/main" id="{3228699A-A983-B39B-7DFF-2149F1FCBBF3}"/>
                  </a:ext>
                </a:extLst>
              </p:cNvPr>
              <p:cNvSpPr/>
              <p:nvPr/>
            </p:nvSpPr>
            <p:spPr bwMode="auto">
              <a:xfrm>
                <a:off x="3786182" y="3429000"/>
                <a:ext cx="1428760" cy="214314"/>
              </a:xfrm>
              <a:prstGeom prst="rightArrow">
                <a:avLst/>
              </a:prstGeom>
              <a:ln>
                <a:headEnd type="none" w="med" len="med"/>
                <a:tailEnd type="none" w="med" len="lg"/>
              </a:ln>
            </p:spPr>
            <p:style>
              <a:lnRef idx="1">
                <a:schemeClr val="accent5"/>
              </a:lnRef>
              <a:fillRef idx="3">
                <a:schemeClr val="accent5"/>
              </a:fillRef>
              <a:effectRef idx="2">
                <a:schemeClr val="accent5"/>
              </a:effectRef>
              <a:fontRef idx="minor">
                <a:schemeClr val="lt1"/>
              </a:fontRef>
            </p:style>
            <p:txBody>
              <a:bodyPr wrap="none" rtlCol="0" anchor="ctr"/>
              <a:lstStyle/>
              <a:p>
                <a:pPr algn="ctr"/>
                <a:endParaRPr lang="zh-CN" altLang="en-US"/>
              </a:p>
            </p:txBody>
          </p:sp>
          <p:sp>
            <p:nvSpPr>
              <p:cNvPr id="82" name="TextBox 36">
                <a:extLst>
                  <a:ext uri="{FF2B5EF4-FFF2-40B4-BE49-F238E27FC236}">
                    <a16:creationId xmlns:a16="http://schemas.microsoft.com/office/drawing/2014/main" id="{0C526996-FC7E-716D-0529-CF97B65ED3CF}"/>
                  </a:ext>
                </a:extLst>
              </p:cNvPr>
              <p:cNvSpPr txBox="1"/>
              <p:nvPr/>
            </p:nvSpPr>
            <p:spPr>
              <a:xfrm>
                <a:off x="3643306" y="3000372"/>
                <a:ext cx="1643074" cy="369332"/>
              </a:xfrm>
              <a:prstGeom prst="rect">
                <a:avLst/>
              </a:prstGeom>
              <a:noFill/>
            </p:spPr>
            <p:txBody>
              <a:bodyPr wrap="square" rtlCol="0">
                <a:spAutoFit/>
              </a:bodyPr>
              <a:lstStyle/>
              <a:p>
                <a:r>
                  <a:rPr kumimoji="1" lang="en-US" altLang="zh-CN" sz="1800">
                    <a:solidFill>
                      <a:srgbClr val="0000FF"/>
                    </a:solidFill>
                    <a:latin typeface="Consolas" pitchFamily="49" charset="0"/>
                    <a:ea typeface="仿宋" pitchFamily="49" charset="-122"/>
                    <a:cs typeface="Consolas" pitchFamily="49" charset="0"/>
                  </a:rPr>
                  <a:t>DFS</a:t>
                </a:r>
                <a:r>
                  <a:rPr kumimoji="1" lang="zh-CN" altLang="en-US" sz="1800">
                    <a:solidFill>
                      <a:srgbClr val="0000FF"/>
                    </a:solidFill>
                    <a:latin typeface="Consolas" pitchFamily="49" charset="0"/>
                    <a:ea typeface="仿宋" pitchFamily="49" charset="-122"/>
                    <a:cs typeface="Consolas" pitchFamily="49" charset="0"/>
                  </a:rPr>
                  <a:t>生成树</a:t>
                </a:r>
                <a:endParaRPr lang="zh-CN" altLang="en-US" sz="1800">
                  <a:solidFill>
                    <a:srgbClr val="0000FF"/>
                  </a:solidFill>
                  <a:latin typeface="Consolas" pitchFamily="49" charset="0"/>
                  <a:ea typeface="仿宋" pitchFamily="49" charset="-122"/>
                  <a:cs typeface="Consolas" pitchFamily="49" charset="0"/>
                </a:endParaRPr>
              </a:p>
            </p:txBody>
          </p:sp>
        </p:grpSp>
        <p:cxnSp>
          <p:nvCxnSpPr>
            <p:cNvPr id="78" name="直接连接符 77">
              <a:extLst>
                <a:ext uri="{FF2B5EF4-FFF2-40B4-BE49-F238E27FC236}">
                  <a16:creationId xmlns:a16="http://schemas.microsoft.com/office/drawing/2014/main" id="{03F7F8E0-F5B3-EE2C-A617-63DFC2E5BED4}"/>
                </a:ext>
              </a:extLst>
            </p:cNvPr>
            <p:cNvCxnSpPr>
              <a:stCxn id="69" idx="5"/>
              <a:endCxn id="70" idx="1"/>
            </p:cNvCxnSpPr>
            <p:nvPr/>
          </p:nvCxnSpPr>
          <p:spPr>
            <a:xfrm rot="16200000" flipH="1">
              <a:off x="5901022" y="2261789"/>
              <a:ext cx="523356" cy="308757"/>
            </a:xfrm>
            <a:prstGeom prst="line">
              <a:avLst/>
            </a:prstGeom>
            <a:ln>
              <a:tailEnd type="none"/>
            </a:ln>
          </p:spPr>
          <p:style>
            <a:lnRef idx="2">
              <a:schemeClr val="accent5"/>
            </a:lnRef>
            <a:fillRef idx="0">
              <a:schemeClr val="accent5"/>
            </a:fillRef>
            <a:effectRef idx="1">
              <a:schemeClr val="accent5"/>
            </a:effectRef>
            <a:fontRef idx="minor">
              <a:schemeClr val="tx1"/>
            </a:fontRef>
          </p:style>
        </p:cxnSp>
        <p:cxnSp>
          <p:nvCxnSpPr>
            <p:cNvPr id="79" name="直接连接符 78">
              <a:extLst>
                <a:ext uri="{FF2B5EF4-FFF2-40B4-BE49-F238E27FC236}">
                  <a16:creationId xmlns:a16="http://schemas.microsoft.com/office/drawing/2014/main" id="{68574149-F143-503F-0C88-3E8C912F1189}"/>
                </a:ext>
              </a:extLst>
            </p:cNvPr>
            <p:cNvCxnSpPr>
              <a:stCxn id="70" idx="3"/>
              <a:endCxn id="72" idx="7"/>
            </p:cNvCxnSpPr>
            <p:nvPr/>
          </p:nvCxnSpPr>
          <p:spPr>
            <a:xfrm rot="5400000">
              <a:off x="5974057" y="3090464"/>
              <a:ext cx="450313" cy="235732"/>
            </a:xfrm>
            <a:prstGeom prst="line">
              <a:avLst/>
            </a:prstGeom>
            <a:ln>
              <a:tailEnd type="none"/>
            </a:ln>
          </p:spPr>
          <p:style>
            <a:lnRef idx="2">
              <a:schemeClr val="accent5"/>
            </a:lnRef>
            <a:fillRef idx="0">
              <a:schemeClr val="accent5"/>
            </a:fillRef>
            <a:effectRef idx="1">
              <a:schemeClr val="accent5"/>
            </a:effectRef>
            <a:fontRef idx="minor">
              <a:schemeClr val="tx1"/>
            </a:fontRef>
          </p:style>
        </p:cxnSp>
        <p:cxnSp>
          <p:nvCxnSpPr>
            <p:cNvPr id="80" name="直接连接符 79">
              <a:extLst>
                <a:ext uri="{FF2B5EF4-FFF2-40B4-BE49-F238E27FC236}">
                  <a16:creationId xmlns:a16="http://schemas.microsoft.com/office/drawing/2014/main" id="{21ED3DA5-3896-BD7C-EBC2-E02F66F85242}"/>
                </a:ext>
              </a:extLst>
            </p:cNvPr>
            <p:cNvCxnSpPr>
              <a:stCxn id="69" idx="6"/>
              <a:endCxn id="74" idx="1"/>
            </p:cNvCxnSpPr>
            <p:nvPr/>
          </p:nvCxnSpPr>
          <p:spPr>
            <a:xfrm>
              <a:off x="6061096" y="2001826"/>
              <a:ext cx="1132273" cy="639499"/>
            </a:xfrm>
            <a:prstGeom prst="line">
              <a:avLst/>
            </a:prstGeom>
            <a:ln>
              <a:tailEnd type="none"/>
            </a:ln>
          </p:spPr>
          <p:style>
            <a:lnRef idx="2">
              <a:schemeClr val="accent5"/>
            </a:lnRef>
            <a:fillRef idx="0">
              <a:schemeClr val="accent5"/>
            </a:fillRef>
            <a:effectRef idx="1">
              <a:schemeClr val="accent5"/>
            </a:effectRef>
            <a:fontRef idx="minor">
              <a:schemeClr val="tx1"/>
            </a:fontRef>
          </p:style>
        </p:cxnSp>
      </p:grpSp>
      <p:sp>
        <p:nvSpPr>
          <p:cNvPr id="83" name="矩形 82">
            <a:extLst>
              <a:ext uri="{FF2B5EF4-FFF2-40B4-BE49-F238E27FC236}">
                <a16:creationId xmlns:a16="http://schemas.microsoft.com/office/drawing/2014/main" id="{94B67CFC-A519-AA54-3F3A-1193D9FC350B}"/>
              </a:ext>
            </a:extLst>
          </p:cNvPr>
          <p:cNvSpPr/>
          <p:nvPr/>
        </p:nvSpPr>
        <p:spPr>
          <a:xfrm>
            <a:off x="3394075" y="399838"/>
            <a:ext cx="4617860"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8.4 </a:t>
            </a:r>
            <a:r>
              <a:rPr lang="zh-CN" altLang="en-US" sz="3000" b="1" dirty="0">
                <a:latin typeface="黑体" pitchFamily="49" charset="-122"/>
                <a:ea typeface="黑体" pitchFamily="49" charset="-122"/>
                <a:cs typeface="经典粗黑简" pitchFamily="49" charset="-122"/>
              </a:rPr>
              <a:t>生成树和最小生成树</a:t>
            </a:r>
          </a:p>
        </p:txBody>
      </p:sp>
    </p:spTree>
    <p:extLst>
      <p:ext uri="{BB962C8B-B14F-4D97-AF65-F5344CB8AC3E}">
        <p14:creationId xmlns:p14="http://schemas.microsoft.com/office/powerpoint/2010/main" val="3331963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FA16EF-7A49-F425-1FB6-AEEDF69504DE}"/>
            </a:ext>
          </a:extLst>
        </p:cNvPr>
        <p:cNvGrpSpPr/>
        <p:nvPr/>
      </p:nvGrpSpPr>
      <p:grpSpPr>
        <a:xfrm>
          <a:off x="0" y="0"/>
          <a:ext cx="0" cy="0"/>
          <a:chOff x="0" y="0"/>
          <a:chExt cx="0" cy="0"/>
        </a:xfrm>
      </p:grpSpPr>
      <p:sp>
        <p:nvSpPr>
          <p:cNvPr id="2" name="Rectangle 2">
            <a:extLst>
              <a:ext uri="{FF2B5EF4-FFF2-40B4-BE49-F238E27FC236}">
                <a16:creationId xmlns:a16="http://schemas.microsoft.com/office/drawing/2014/main" id="{DB79334C-4EEE-1917-67B1-4A1DDB7CD7C2}"/>
              </a:ext>
            </a:extLst>
          </p:cNvPr>
          <p:cNvSpPr txBox="1">
            <a:spLocks noChangeArrowheads="1"/>
          </p:cNvSpPr>
          <p:nvPr/>
        </p:nvSpPr>
        <p:spPr>
          <a:xfrm>
            <a:off x="474772" y="1230902"/>
            <a:ext cx="3905680"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8.4.1 </a:t>
            </a:r>
            <a:r>
              <a:rPr kumimoji="1" lang="zh-CN" altLang="en-US" dirty="0">
                <a:latin typeface="微软雅黑" pitchFamily="34" charset="-122"/>
                <a:ea typeface="微软雅黑" pitchFamily="34" charset="-122"/>
              </a:rPr>
              <a:t>生成树的概念</a:t>
            </a:r>
            <a:endParaRPr lang="zh-CN" altLang="en-US" dirty="0"/>
          </a:p>
        </p:txBody>
      </p:sp>
      <p:cxnSp>
        <p:nvCxnSpPr>
          <p:cNvPr id="4" name="直接连接符 3">
            <a:extLst>
              <a:ext uri="{FF2B5EF4-FFF2-40B4-BE49-F238E27FC236}">
                <a16:creationId xmlns:a16="http://schemas.microsoft.com/office/drawing/2014/main" id="{B5EB7D4A-7723-A148-5BF7-A37756F34E78}"/>
              </a:ext>
            </a:extLst>
          </p:cNvPr>
          <p:cNvCxnSpPr>
            <a:cxnSpLocks/>
          </p:cNvCxnSpPr>
          <p:nvPr/>
        </p:nvCxnSpPr>
        <p:spPr>
          <a:xfrm>
            <a:off x="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6" name="TextBox 2">
            <a:extLst>
              <a:ext uri="{FF2B5EF4-FFF2-40B4-BE49-F238E27FC236}">
                <a16:creationId xmlns:a16="http://schemas.microsoft.com/office/drawing/2014/main" id="{72D84FD5-CF57-015B-F42C-729F92510CB2}"/>
              </a:ext>
            </a:extLst>
          </p:cNvPr>
          <p:cNvSpPr txBox="1"/>
          <p:nvPr/>
        </p:nvSpPr>
        <p:spPr>
          <a:xfrm>
            <a:off x="1415480" y="1932287"/>
            <a:ext cx="4071966" cy="400110"/>
          </a:xfrm>
          <a:prstGeom prst="rect">
            <a:avLst/>
          </a:prstGeom>
          <a:noFill/>
        </p:spPr>
        <p:txBody>
          <a:bodyPr wrap="square" rtlCol="0">
            <a:spAutoFit/>
          </a:bodyPr>
          <a:lstStyle/>
          <a:p>
            <a:pPr algn="l"/>
            <a:r>
              <a:rPr lang="zh-CN" altLang="en-US" sz="2000" dirty="0">
                <a:ea typeface="楷体" pitchFamily="49" charset="-122"/>
                <a:cs typeface="Times New Roman" pitchFamily="18" charset="0"/>
              </a:rPr>
              <a:t>可以通过</a:t>
            </a:r>
            <a:r>
              <a:rPr kumimoji="1" lang="zh-CN" altLang="en-US" sz="2000" dirty="0">
                <a:ea typeface="楷体" pitchFamily="49" charset="-122"/>
                <a:cs typeface="Times New Roman" pitchFamily="18" charset="0"/>
              </a:rPr>
              <a:t>遍历方法产生</a:t>
            </a:r>
            <a:r>
              <a:rPr kumimoji="1" lang="zh-CN" altLang="en-US" sz="2000">
                <a:ea typeface="楷体" pitchFamily="49" charset="-122"/>
                <a:cs typeface="Times New Roman" pitchFamily="18" charset="0"/>
              </a:rPr>
              <a:t>生成树：</a:t>
            </a:r>
            <a:endParaRPr lang="zh-CN" altLang="en-US" sz="2000" dirty="0">
              <a:ea typeface="楷体" pitchFamily="49" charset="-122"/>
              <a:cs typeface="Times New Roman" pitchFamily="18" charset="0"/>
            </a:endParaRPr>
          </a:p>
        </p:txBody>
      </p:sp>
      <p:sp>
        <p:nvSpPr>
          <p:cNvPr id="7" name="Text Box 2">
            <a:extLst>
              <a:ext uri="{FF2B5EF4-FFF2-40B4-BE49-F238E27FC236}">
                <a16:creationId xmlns:a16="http://schemas.microsoft.com/office/drawing/2014/main" id="{31605A09-B14E-A493-04B2-C7FD407DB6BA}"/>
              </a:ext>
            </a:extLst>
          </p:cNvPr>
          <p:cNvSpPr txBox="1">
            <a:spLocks noChangeArrowheads="1"/>
          </p:cNvSpPr>
          <p:nvPr/>
        </p:nvSpPr>
        <p:spPr bwMode="auto">
          <a:xfrm>
            <a:off x="1415480" y="2373291"/>
            <a:ext cx="6143668" cy="515526"/>
          </a:xfrm>
          <a:prstGeom prst="rect">
            <a:avLst/>
          </a:prstGeom>
          <a:ln>
            <a:noFill/>
            <a:headEnd/>
            <a:tailEnd/>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a:spAutoFit/>
          </a:bodyPr>
          <a:lstStyle/>
          <a:p>
            <a:pPr algn="just">
              <a:lnSpc>
                <a:spcPct val="150000"/>
              </a:lnSpc>
              <a:spcBef>
                <a:spcPts val="0"/>
              </a:spcBef>
            </a:pPr>
            <a:r>
              <a:rPr kumimoji="1" lang="zh-CN" altLang="en-US" sz="2000" dirty="0">
                <a:latin typeface="仿宋" pitchFamily="49" charset="-122"/>
                <a:ea typeface="仿宋" pitchFamily="49" charset="-122"/>
                <a:cs typeface="Times New Roman" pitchFamily="18" charset="0"/>
              </a:rPr>
              <a:t>由广度优先遍历得到的生成树称为</a:t>
            </a:r>
            <a:r>
              <a:rPr kumimoji="1" lang="zh-CN" altLang="en-US" sz="2000" dirty="0">
                <a:solidFill>
                  <a:srgbClr val="FF0000"/>
                </a:solidFill>
                <a:latin typeface="方正启体简体" pitchFamily="65" charset="-122"/>
                <a:ea typeface="方正启体简体" pitchFamily="65" charset="-122"/>
                <a:cs typeface="Times New Roman" pitchFamily="18" charset="0"/>
              </a:rPr>
              <a:t>广度优先生成树</a:t>
            </a:r>
            <a:r>
              <a:rPr kumimoji="1" lang="zh-CN" altLang="en-US" sz="2000" dirty="0">
                <a:latin typeface="仿宋" pitchFamily="49" charset="-122"/>
                <a:ea typeface="仿宋" pitchFamily="49" charset="-122"/>
                <a:cs typeface="Times New Roman" pitchFamily="18" charset="0"/>
              </a:rPr>
              <a:t>。</a:t>
            </a:r>
          </a:p>
        </p:txBody>
      </p:sp>
      <p:grpSp>
        <p:nvGrpSpPr>
          <p:cNvPr id="8" name="组合 7">
            <a:extLst>
              <a:ext uri="{FF2B5EF4-FFF2-40B4-BE49-F238E27FC236}">
                <a16:creationId xmlns:a16="http://schemas.microsoft.com/office/drawing/2014/main" id="{6D86F805-C7A6-1CE0-0B69-6B35B469457D}"/>
              </a:ext>
            </a:extLst>
          </p:cNvPr>
          <p:cNvGrpSpPr/>
          <p:nvPr/>
        </p:nvGrpSpPr>
        <p:grpSpPr>
          <a:xfrm>
            <a:off x="870178" y="3369296"/>
            <a:ext cx="2376488" cy="2016125"/>
            <a:chOff x="571472" y="1484313"/>
            <a:chExt cx="2376488" cy="2016125"/>
          </a:xfrm>
        </p:grpSpPr>
        <p:sp>
          <p:nvSpPr>
            <p:cNvPr id="11" name="Oval 31">
              <a:extLst>
                <a:ext uri="{FF2B5EF4-FFF2-40B4-BE49-F238E27FC236}">
                  <a16:creationId xmlns:a16="http://schemas.microsoft.com/office/drawing/2014/main" id="{EB442D4D-CE40-7C85-19E0-4C9028986399}"/>
                </a:ext>
              </a:extLst>
            </p:cNvPr>
            <p:cNvSpPr>
              <a:spLocks noChangeArrowheads="1"/>
            </p:cNvSpPr>
            <p:nvPr/>
          </p:nvSpPr>
          <p:spPr bwMode="auto">
            <a:xfrm>
              <a:off x="1147735" y="1484313"/>
              <a:ext cx="360363" cy="431800"/>
            </a:xfrm>
            <a:prstGeom prst="ellipse">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anchor="ctr"/>
            <a:lstStyle/>
            <a:p>
              <a:r>
                <a:rPr lang="en-US" altLang="zh-CN" sz="1800" dirty="0">
                  <a:solidFill>
                    <a:srgbClr val="0000FF"/>
                  </a:solidFill>
                  <a:latin typeface="Consolas" pitchFamily="49" charset="0"/>
                  <a:cs typeface="Consolas" pitchFamily="49" charset="0"/>
                </a:rPr>
                <a:t>0</a:t>
              </a:r>
            </a:p>
          </p:txBody>
        </p:sp>
        <p:sp>
          <p:nvSpPr>
            <p:cNvPr id="12" name="Oval 32">
              <a:extLst>
                <a:ext uri="{FF2B5EF4-FFF2-40B4-BE49-F238E27FC236}">
                  <a16:creationId xmlns:a16="http://schemas.microsoft.com/office/drawing/2014/main" id="{EF5ADE74-9DCD-BF45-B585-11148814C32E}"/>
                </a:ext>
              </a:extLst>
            </p:cNvPr>
            <p:cNvSpPr>
              <a:spLocks noChangeArrowheads="1"/>
            </p:cNvSpPr>
            <p:nvPr/>
          </p:nvSpPr>
          <p:spPr bwMode="auto">
            <a:xfrm>
              <a:off x="1711307" y="2312997"/>
              <a:ext cx="360363"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1800">
                  <a:solidFill>
                    <a:srgbClr val="0000FF"/>
                  </a:solidFill>
                  <a:latin typeface="Consolas" pitchFamily="49" charset="0"/>
                  <a:cs typeface="Consolas" pitchFamily="49" charset="0"/>
                </a:rPr>
                <a:t>1</a:t>
              </a:r>
            </a:p>
          </p:txBody>
        </p:sp>
        <p:sp>
          <p:nvSpPr>
            <p:cNvPr id="13" name="Oval 33">
              <a:extLst>
                <a:ext uri="{FF2B5EF4-FFF2-40B4-BE49-F238E27FC236}">
                  <a16:creationId xmlns:a16="http://schemas.microsoft.com/office/drawing/2014/main" id="{7B57CA00-07A1-CE24-F215-1528DD48A9FE}"/>
                </a:ext>
              </a:extLst>
            </p:cNvPr>
            <p:cNvSpPr>
              <a:spLocks noChangeArrowheads="1"/>
            </p:cNvSpPr>
            <p:nvPr/>
          </p:nvSpPr>
          <p:spPr bwMode="auto">
            <a:xfrm>
              <a:off x="571472" y="2349501"/>
              <a:ext cx="360363"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1800">
                  <a:solidFill>
                    <a:srgbClr val="0000FF"/>
                  </a:solidFill>
                  <a:latin typeface="Consolas" pitchFamily="49" charset="0"/>
                  <a:cs typeface="Consolas" pitchFamily="49" charset="0"/>
                </a:rPr>
                <a:t>2</a:t>
              </a:r>
            </a:p>
          </p:txBody>
        </p:sp>
        <p:sp>
          <p:nvSpPr>
            <p:cNvPr id="14" name="Oval 34">
              <a:extLst>
                <a:ext uri="{FF2B5EF4-FFF2-40B4-BE49-F238E27FC236}">
                  <a16:creationId xmlns:a16="http://schemas.microsoft.com/office/drawing/2014/main" id="{6FE8F822-E140-8B90-2726-D20BBD3B098D}"/>
                </a:ext>
              </a:extLst>
            </p:cNvPr>
            <p:cNvSpPr>
              <a:spLocks noChangeArrowheads="1"/>
            </p:cNvSpPr>
            <p:nvPr/>
          </p:nvSpPr>
          <p:spPr bwMode="auto">
            <a:xfrm>
              <a:off x="1220760" y="3068638"/>
              <a:ext cx="360363"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1800">
                  <a:solidFill>
                    <a:srgbClr val="0000FF"/>
                  </a:solidFill>
                  <a:latin typeface="Consolas" pitchFamily="49" charset="0"/>
                  <a:cs typeface="Consolas" pitchFamily="49" charset="0"/>
                </a:rPr>
                <a:t>3</a:t>
              </a:r>
            </a:p>
          </p:txBody>
        </p:sp>
        <p:sp>
          <p:nvSpPr>
            <p:cNvPr id="15" name="Oval 35">
              <a:extLst>
                <a:ext uri="{FF2B5EF4-FFF2-40B4-BE49-F238E27FC236}">
                  <a16:creationId xmlns:a16="http://schemas.microsoft.com/office/drawing/2014/main" id="{E04305F0-0963-DA2D-F304-B0A74F7AF147}"/>
                </a:ext>
              </a:extLst>
            </p:cNvPr>
            <p:cNvSpPr>
              <a:spLocks noChangeArrowheads="1"/>
            </p:cNvSpPr>
            <p:nvPr/>
          </p:nvSpPr>
          <p:spPr bwMode="auto">
            <a:xfrm>
              <a:off x="2155797" y="3065477"/>
              <a:ext cx="360363"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1800">
                  <a:solidFill>
                    <a:srgbClr val="0000FF"/>
                  </a:solidFill>
                  <a:latin typeface="Consolas" pitchFamily="49" charset="0"/>
                  <a:cs typeface="Consolas" pitchFamily="49" charset="0"/>
                </a:rPr>
                <a:t>4</a:t>
              </a:r>
            </a:p>
          </p:txBody>
        </p:sp>
        <p:sp>
          <p:nvSpPr>
            <p:cNvPr id="16" name="Oval 37">
              <a:extLst>
                <a:ext uri="{FF2B5EF4-FFF2-40B4-BE49-F238E27FC236}">
                  <a16:creationId xmlns:a16="http://schemas.microsoft.com/office/drawing/2014/main" id="{36EED941-0F3B-8374-4E04-D7A01423E5CE}"/>
                </a:ext>
              </a:extLst>
            </p:cNvPr>
            <p:cNvSpPr>
              <a:spLocks noChangeArrowheads="1"/>
            </p:cNvSpPr>
            <p:nvPr/>
          </p:nvSpPr>
          <p:spPr bwMode="auto">
            <a:xfrm>
              <a:off x="2587597" y="2276476"/>
              <a:ext cx="360363"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1800">
                  <a:solidFill>
                    <a:srgbClr val="0000FF"/>
                  </a:solidFill>
                  <a:latin typeface="Consolas" pitchFamily="49" charset="0"/>
                  <a:cs typeface="Consolas" pitchFamily="49" charset="0"/>
                </a:rPr>
                <a:t>5</a:t>
              </a:r>
            </a:p>
          </p:txBody>
        </p:sp>
        <p:sp>
          <p:nvSpPr>
            <p:cNvPr id="17" name="Freeform 13">
              <a:extLst>
                <a:ext uri="{FF2B5EF4-FFF2-40B4-BE49-F238E27FC236}">
                  <a16:creationId xmlns:a16="http://schemas.microsoft.com/office/drawing/2014/main" id="{68D7F391-D669-E4CC-CE9D-5FB2B1C580AF}"/>
                </a:ext>
              </a:extLst>
            </p:cNvPr>
            <p:cNvSpPr>
              <a:spLocks/>
            </p:cNvSpPr>
            <p:nvPr/>
          </p:nvSpPr>
          <p:spPr bwMode="auto">
            <a:xfrm>
              <a:off x="807948" y="1841503"/>
              <a:ext cx="395288" cy="528638"/>
            </a:xfrm>
            <a:custGeom>
              <a:avLst/>
              <a:gdLst/>
              <a:ahLst/>
              <a:cxnLst>
                <a:cxn ang="0">
                  <a:pos x="249" y="0"/>
                </a:cxn>
                <a:cxn ang="0">
                  <a:pos x="0" y="333"/>
                </a:cxn>
              </a:cxnLst>
              <a:rect l="0" t="0" r="r" b="b"/>
              <a:pathLst>
                <a:path w="249" h="333">
                  <a:moveTo>
                    <a:pt x="249" y="0"/>
                  </a:moveTo>
                  <a:lnTo>
                    <a:pt x="0" y="333"/>
                  </a:lnTo>
                </a:path>
              </a:pathLst>
            </a:custGeom>
            <a:ln>
              <a:headEnd type="none" w="med" len="med"/>
              <a:tailEnd type="none" w="med" len="lg"/>
            </a:ln>
          </p:spPr>
          <p:style>
            <a:lnRef idx="2">
              <a:schemeClr val="accent5"/>
            </a:lnRef>
            <a:fillRef idx="0">
              <a:schemeClr val="accent5"/>
            </a:fillRef>
            <a:effectRef idx="1">
              <a:schemeClr val="accent5"/>
            </a:effectRef>
            <a:fontRef idx="minor">
              <a:schemeClr val="tx1"/>
            </a:fontRef>
          </p:style>
          <p:txBody>
            <a:bodyPr wrap="none"/>
            <a:lstStyle/>
            <a:p>
              <a:endParaRPr lang="zh-CN" altLang="en-US" sz="1800"/>
            </a:p>
          </p:txBody>
        </p:sp>
        <p:cxnSp>
          <p:nvCxnSpPr>
            <p:cNvPr id="18" name="直接连接符 17">
              <a:extLst>
                <a:ext uri="{FF2B5EF4-FFF2-40B4-BE49-F238E27FC236}">
                  <a16:creationId xmlns:a16="http://schemas.microsoft.com/office/drawing/2014/main" id="{48147C12-5346-E9B5-FDEE-5F52F0C432EF}"/>
                </a:ext>
              </a:extLst>
            </p:cNvPr>
            <p:cNvCxnSpPr>
              <a:stCxn id="13" idx="5"/>
              <a:endCxn id="14" idx="1"/>
            </p:cNvCxnSpPr>
            <p:nvPr/>
          </p:nvCxnSpPr>
          <p:spPr>
            <a:xfrm rot="16200000" flipH="1">
              <a:off x="869393" y="2727732"/>
              <a:ext cx="413809" cy="394473"/>
            </a:xfrm>
            <a:prstGeom prst="line">
              <a:avLst/>
            </a:prstGeom>
            <a:ln/>
          </p:spPr>
          <p:style>
            <a:lnRef idx="2">
              <a:schemeClr val="accent5"/>
            </a:lnRef>
            <a:fillRef idx="0">
              <a:schemeClr val="accent5"/>
            </a:fillRef>
            <a:effectRef idx="1">
              <a:schemeClr val="accent5"/>
            </a:effectRef>
            <a:fontRef idx="minor">
              <a:schemeClr val="tx1"/>
            </a:fontRef>
          </p:style>
        </p:cxnSp>
        <p:cxnSp>
          <p:nvCxnSpPr>
            <p:cNvPr id="19" name="直接连接符 18">
              <a:extLst>
                <a:ext uri="{FF2B5EF4-FFF2-40B4-BE49-F238E27FC236}">
                  <a16:creationId xmlns:a16="http://schemas.microsoft.com/office/drawing/2014/main" id="{637B2371-FF75-EE5B-C157-865D2F00091C}"/>
                </a:ext>
              </a:extLst>
            </p:cNvPr>
            <p:cNvCxnSpPr>
              <a:stCxn id="11" idx="5"/>
              <a:endCxn id="12" idx="1"/>
            </p:cNvCxnSpPr>
            <p:nvPr/>
          </p:nvCxnSpPr>
          <p:spPr>
            <a:xfrm rot="16200000" flipH="1">
              <a:off x="1348024" y="1960176"/>
              <a:ext cx="523356" cy="308757"/>
            </a:xfrm>
            <a:prstGeom prst="line">
              <a:avLst/>
            </a:prstGeom>
            <a:ln/>
          </p:spPr>
          <p:style>
            <a:lnRef idx="2">
              <a:schemeClr val="accent5"/>
            </a:lnRef>
            <a:fillRef idx="0">
              <a:schemeClr val="accent5"/>
            </a:fillRef>
            <a:effectRef idx="1">
              <a:schemeClr val="accent5"/>
            </a:effectRef>
            <a:fontRef idx="minor">
              <a:schemeClr val="tx1"/>
            </a:fontRef>
          </p:style>
        </p:cxnSp>
        <p:cxnSp>
          <p:nvCxnSpPr>
            <p:cNvPr id="20" name="直接连接符 19">
              <a:extLst>
                <a:ext uri="{FF2B5EF4-FFF2-40B4-BE49-F238E27FC236}">
                  <a16:creationId xmlns:a16="http://schemas.microsoft.com/office/drawing/2014/main" id="{75CD9820-22CF-BBF4-3AEC-E6787B551ED0}"/>
                </a:ext>
              </a:extLst>
            </p:cNvPr>
            <p:cNvCxnSpPr>
              <a:stCxn id="13" idx="6"/>
              <a:endCxn id="12" idx="2"/>
            </p:cNvCxnSpPr>
            <p:nvPr/>
          </p:nvCxnSpPr>
          <p:spPr>
            <a:xfrm flipV="1">
              <a:off x="931835" y="2528897"/>
              <a:ext cx="779472" cy="36504"/>
            </a:xfrm>
            <a:prstGeom prst="line">
              <a:avLst/>
            </a:prstGeom>
            <a:ln/>
          </p:spPr>
          <p:style>
            <a:lnRef idx="2">
              <a:schemeClr val="accent5"/>
            </a:lnRef>
            <a:fillRef idx="0">
              <a:schemeClr val="accent5"/>
            </a:fillRef>
            <a:effectRef idx="1">
              <a:schemeClr val="accent5"/>
            </a:effectRef>
            <a:fontRef idx="minor">
              <a:schemeClr val="tx1"/>
            </a:fontRef>
          </p:style>
        </p:cxnSp>
        <p:cxnSp>
          <p:nvCxnSpPr>
            <p:cNvPr id="21" name="直接连接符 20">
              <a:extLst>
                <a:ext uri="{FF2B5EF4-FFF2-40B4-BE49-F238E27FC236}">
                  <a16:creationId xmlns:a16="http://schemas.microsoft.com/office/drawing/2014/main" id="{EF534C5B-1D13-1DAF-5FCF-B10AD054ABF8}"/>
                </a:ext>
              </a:extLst>
            </p:cNvPr>
            <p:cNvCxnSpPr>
              <a:stCxn id="12" idx="6"/>
              <a:endCxn id="16" idx="2"/>
            </p:cNvCxnSpPr>
            <p:nvPr/>
          </p:nvCxnSpPr>
          <p:spPr>
            <a:xfrm flipV="1">
              <a:off x="2071670" y="2492376"/>
              <a:ext cx="515927" cy="36521"/>
            </a:xfrm>
            <a:prstGeom prst="line">
              <a:avLst/>
            </a:prstGeom>
            <a:ln/>
          </p:spPr>
          <p:style>
            <a:lnRef idx="2">
              <a:schemeClr val="accent5"/>
            </a:lnRef>
            <a:fillRef idx="0">
              <a:schemeClr val="accent5"/>
            </a:fillRef>
            <a:effectRef idx="1">
              <a:schemeClr val="accent5"/>
            </a:effectRef>
            <a:fontRef idx="minor">
              <a:schemeClr val="tx1"/>
            </a:fontRef>
          </p:style>
        </p:cxnSp>
        <p:cxnSp>
          <p:nvCxnSpPr>
            <p:cNvPr id="22" name="直接连接符 21">
              <a:extLst>
                <a:ext uri="{FF2B5EF4-FFF2-40B4-BE49-F238E27FC236}">
                  <a16:creationId xmlns:a16="http://schemas.microsoft.com/office/drawing/2014/main" id="{9A36E32C-FF71-3107-08C4-F44E9B8F5E46}"/>
                </a:ext>
              </a:extLst>
            </p:cNvPr>
            <p:cNvCxnSpPr>
              <a:stCxn id="12" idx="5"/>
              <a:endCxn id="15" idx="1"/>
            </p:cNvCxnSpPr>
            <p:nvPr/>
          </p:nvCxnSpPr>
          <p:spPr>
            <a:xfrm rot="16200000" flipH="1">
              <a:off x="1890157" y="2810299"/>
              <a:ext cx="447152" cy="189675"/>
            </a:xfrm>
            <a:prstGeom prst="line">
              <a:avLst/>
            </a:prstGeom>
            <a:ln/>
          </p:spPr>
          <p:style>
            <a:lnRef idx="2">
              <a:schemeClr val="accent5"/>
            </a:lnRef>
            <a:fillRef idx="0">
              <a:schemeClr val="accent5"/>
            </a:fillRef>
            <a:effectRef idx="1">
              <a:schemeClr val="accent5"/>
            </a:effectRef>
            <a:fontRef idx="minor">
              <a:schemeClr val="tx1"/>
            </a:fontRef>
          </p:style>
        </p:cxnSp>
        <p:cxnSp>
          <p:nvCxnSpPr>
            <p:cNvPr id="23" name="直接连接符 22">
              <a:extLst>
                <a:ext uri="{FF2B5EF4-FFF2-40B4-BE49-F238E27FC236}">
                  <a16:creationId xmlns:a16="http://schemas.microsoft.com/office/drawing/2014/main" id="{42589447-C09C-01F4-B644-42FEAB880A3C}"/>
                </a:ext>
              </a:extLst>
            </p:cNvPr>
            <p:cNvCxnSpPr>
              <a:stCxn id="14" idx="6"/>
              <a:endCxn id="15" idx="2"/>
            </p:cNvCxnSpPr>
            <p:nvPr/>
          </p:nvCxnSpPr>
          <p:spPr>
            <a:xfrm flipV="1">
              <a:off x="1581123" y="3281377"/>
              <a:ext cx="574674" cy="3161"/>
            </a:xfrm>
            <a:prstGeom prst="line">
              <a:avLst/>
            </a:prstGeom>
            <a:ln/>
          </p:spPr>
          <p:style>
            <a:lnRef idx="2">
              <a:schemeClr val="accent5"/>
            </a:lnRef>
            <a:fillRef idx="0">
              <a:schemeClr val="accent5"/>
            </a:fillRef>
            <a:effectRef idx="1">
              <a:schemeClr val="accent5"/>
            </a:effectRef>
            <a:fontRef idx="minor">
              <a:schemeClr val="tx1"/>
            </a:fontRef>
          </p:style>
        </p:cxnSp>
        <p:cxnSp>
          <p:nvCxnSpPr>
            <p:cNvPr id="24" name="直接连接符 23">
              <a:extLst>
                <a:ext uri="{FF2B5EF4-FFF2-40B4-BE49-F238E27FC236}">
                  <a16:creationId xmlns:a16="http://schemas.microsoft.com/office/drawing/2014/main" id="{79B0064C-F457-98D1-1F97-535F1D098E6A}"/>
                </a:ext>
              </a:extLst>
            </p:cNvPr>
            <p:cNvCxnSpPr>
              <a:stCxn id="11" idx="6"/>
              <a:endCxn id="16" idx="1"/>
            </p:cNvCxnSpPr>
            <p:nvPr/>
          </p:nvCxnSpPr>
          <p:spPr>
            <a:xfrm>
              <a:off x="1508098" y="1700213"/>
              <a:ext cx="1132273" cy="639499"/>
            </a:xfrm>
            <a:prstGeom prst="line">
              <a:avLst/>
            </a:prstGeom>
            <a:ln/>
          </p:spPr>
          <p:style>
            <a:lnRef idx="2">
              <a:schemeClr val="accent5"/>
            </a:lnRef>
            <a:fillRef idx="0">
              <a:schemeClr val="accent5"/>
            </a:fillRef>
            <a:effectRef idx="1">
              <a:schemeClr val="accent5"/>
            </a:effectRef>
            <a:fontRef idx="minor">
              <a:schemeClr val="tx1"/>
            </a:fontRef>
          </p:style>
        </p:cxnSp>
      </p:grpSp>
      <p:grpSp>
        <p:nvGrpSpPr>
          <p:cNvPr id="25" name="组合 34">
            <a:extLst>
              <a:ext uri="{FF2B5EF4-FFF2-40B4-BE49-F238E27FC236}">
                <a16:creationId xmlns:a16="http://schemas.microsoft.com/office/drawing/2014/main" id="{11B88DDB-04BF-5CC1-E1AB-B59ED75315BF}"/>
              </a:ext>
            </a:extLst>
          </p:cNvPr>
          <p:cNvGrpSpPr/>
          <p:nvPr/>
        </p:nvGrpSpPr>
        <p:grpSpPr>
          <a:xfrm>
            <a:off x="3656260" y="3885223"/>
            <a:ext cx="1643074" cy="642942"/>
            <a:chOff x="3643306" y="3000372"/>
            <a:chExt cx="1643074" cy="642942"/>
          </a:xfrm>
        </p:grpSpPr>
        <p:sp>
          <p:nvSpPr>
            <p:cNvPr id="26" name="右箭头 35">
              <a:extLst>
                <a:ext uri="{FF2B5EF4-FFF2-40B4-BE49-F238E27FC236}">
                  <a16:creationId xmlns:a16="http://schemas.microsoft.com/office/drawing/2014/main" id="{414C817D-38F5-5CA7-5D36-288725C7BC07}"/>
                </a:ext>
              </a:extLst>
            </p:cNvPr>
            <p:cNvSpPr/>
            <p:nvPr/>
          </p:nvSpPr>
          <p:spPr bwMode="auto">
            <a:xfrm>
              <a:off x="3786182" y="3429000"/>
              <a:ext cx="1428760" cy="214314"/>
            </a:xfrm>
            <a:prstGeom prst="rightArrow">
              <a:avLst/>
            </a:prstGeom>
            <a:ln>
              <a:headEnd type="none" w="med" len="med"/>
              <a:tailEnd type="none" w="med" len="lg"/>
            </a:ln>
          </p:spPr>
          <p:style>
            <a:lnRef idx="1">
              <a:schemeClr val="accent2"/>
            </a:lnRef>
            <a:fillRef idx="3">
              <a:schemeClr val="accent2"/>
            </a:fillRef>
            <a:effectRef idx="2">
              <a:schemeClr val="accent2"/>
            </a:effectRef>
            <a:fontRef idx="minor">
              <a:schemeClr val="lt1"/>
            </a:fontRef>
          </p:style>
          <p:txBody>
            <a:bodyPr wrap="none" rtlCol="0" anchor="ctr"/>
            <a:lstStyle/>
            <a:p>
              <a:pPr algn="ctr"/>
              <a:endParaRPr lang="zh-CN" altLang="en-US"/>
            </a:p>
          </p:txBody>
        </p:sp>
        <p:sp>
          <p:nvSpPr>
            <p:cNvPr id="27" name="TextBox 36">
              <a:extLst>
                <a:ext uri="{FF2B5EF4-FFF2-40B4-BE49-F238E27FC236}">
                  <a16:creationId xmlns:a16="http://schemas.microsoft.com/office/drawing/2014/main" id="{7CE81599-937E-5C1A-3496-2D960F56A3F5}"/>
                </a:ext>
              </a:extLst>
            </p:cNvPr>
            <p:cNvSpPr txBox="1"/>
            <p:nvPr/>
          </p:nvSpPr>
          <p:spPr>
            <a:xfrm>
              <a:off x="3643306" y="3000372"/>
              <a:ext cx="1643074" cy="369332"/>
            </a:xfrm>
            <a:prstGeom prst="rect">
              <a:avLst/>
            </a:prstGeom>
            <a:noFill/>
          </p:spPr>
          <p:txBody>
            <a:bodyPr wrap="square" rtlCol="0">
              <a:spAutoFit/>
            </a:bodyPr>
            <a:lstStyle/>
            <a:p>
              <a:r>
                <a:rPr kumimoji="1" lang="en-US" altLang="zh-CN" sz="1800">
                  <a:solidFill>
                    <a:srgbClr val="0000FF"/>
                  </a:solidFill>
                  <a:latin typeface="Consolas" pitchFamily="49" charset="0"/>
                  <a:ea typeface="仿宋" pitchFamily="49" charset="-122"/>
                  <a:cs typeface="Consolas" pitchFamily="49" charset="0"/>
                </a:rPr>
                <a:t>BFS</a:t>
              </a:r>
              <a:r>
                <a:rPr kumimoji="1" lang="zh-CN" altLang="en-US" sz="1800">
                  <a:solidFill>
                    <a:srgbClr val="0000FF"/>
                  </a:solidFill>
                  <a:latin typeface="Consolas" pitchFamily="49" charset="0"/>
                  <a:ea typeface="仿宋" pitchFamily="49" charset="-122"/>
                  <a:cs typeface="Consolas" pitchFamily="49" charset="0"/>
                </a:rPr>
                <a:t>生成树</a:t>
              </a:r>
              <a:endParaRPr lang="zh-CN" altLang="en-US" sz="1800">
                <a:solidFill>
                  <a:srgbClr val="0000FF"/>
                </a:solidFill>
                <a:latin typeface="Consolas" pitchFamily="49" charset="0"/>
                <a:ea typeface="仿宋" pitchFamily="49" charset="-122"/>
                <a:cs typeface="Consolas" pitchFamily="49" charset="0"/>
              </a:endParaRPr>
            </a:p>
          </p:txBody>
        </p:sp>
      </p:grpSp>
      <p:grpSp>
        <p:nvGrpSpPr>
          <p:cNvPr id="28" name="组合 68">
            <a:extLst>
              <a:ext uri="{FF2B5EF4-FFF2-40B4-BE49-F238E27FC236}">
                <a16:creationId xmlns:a16="http://schemas.microsoft.com/office/drawing/2014/main" id="{04480410-1283-8CE2-B28D-87AC1D6ED129}"/>
              </a:ext>
            </a:extLst>
          </p:cNvPr>
          <p:cNvGrpSpPr/>
          <p:nvPr/>
        </p:nvGrpSpPr>
        <p:grpSpPr>
          <a:xfrm>
            <a:off x="5513648" y="3369296"/>
            <a:ext cx="2376488" cy="2016125"/>
            <a:chOff x="3124206" y="4127519"/>
            <a:chExt cx="2376488" cy="2016125"/>
          </a:xfrm>
        </p:grpSpPr>
        <p:sp>
          <p:nvSpPr>
            <p:cNvPr id="29" name="Oval 31">
              <a:extLst>
                <a:ext uri="{FF2B5EF4-FFF2-40B4-BE49-F238E27FC236}">
                  <a16:creationId xmlns:a16="http://schemas.microsoft.com/office/drawing/2014/main" id="{B03333DB-F091-E085-FB31-E18A129DA706}"/>
                </a:ext>
              </a:extLst>
            </p:cNvPr>
            <p:cNvSpPr>
              <a:spLocks noChangeArrowheads="1"/>
            </p:cNvSpPr>
            <p:nvPr/>
          </p:nvSpPr>
          <p:spPr bwMode="auto">
            <a:xfrm>
              <a:off x="3700469" y="4127519"/>
              <a:ext cx="360363"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1800" dirty="0">
                  <a:solidFill>
                    <a:srgbClr val="0000FF"/>
                  </a:solidFill>
                  <a:latin typeface="Consolas" pitchFamily="49" charset="0"/>
                  <a:cs typeface="Consolas" pitchFamily="49" charset="0"/>
                </a:rPr>
                <a:t>0</a:t>
              </a:r>
            </a:p>
          </p:txBody>
        </p:sp>
        <p:sp>
          <p:nvSpPr>
            <p:cNvPr id="30" name="Oval 32">
              <a:extLst>
                <a:ext uri="{FF2B5EF4-FFF2-40B4-BE49-F238E27FC236}">
                  <a16:creationId xmlns:a16="http://schemas.microsoft.com/office/drawing/2014/main" id="{99FA1B60-A492-14DD-434E-7D434550E735}"/>
                </a:ext>
              </a:extLst>
            </p:cNvPr>
            <p:cNvSpPr>
              <a:spLocks noChangeArrowheads="1"/>
            </p:cNvSpPr>
            <p:nvPr/>
          </p:nvSpPr>
          <p:spPr bwMode="auto">
            <a:xfrm>
              <a:off x="4264041" y="4956203"/>
              <a:ext cx="360363"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1800">
                  <a:solidFill>
                    <a:srgbClr val="0000FF"/>
                  </a:solidFill>
                  <a:latin typeface="Consolas" pitchFamily="49" charset="0"/>
                  <a:cs typeface="Consolas" pitchFamily="49" charset="0"/>
                </a:rPr>
                <a:t>1</a:t>
              </a:r>
            </a:p>
          </p:txBody>
        </p:sp>
        <p:sp>
          <p:nvSpPr>
            <p:cNvPr id="31" name="Oval 33">
              <a:extLst>
                <a:ext uri="{FF2B5EF4-FFF2-40B4-BE49-F238E27FC236}">
                  <a16:creationId xmlns:a16="http://schemas.microsoft.com/office/drawing/2014/main" id="{55A54300-38E8-1FEB-AC8A-19F41AC0B96B}"/>
                </a:ext>
              </a:extLst>
            </p:cNvPr>
            <p:cNvSpPr>
              <a:spLocks noChangeArrowheads="1"/>
            </p:cNvSpPr>
            <p:nvPr/>
          </p:nvSpPr>
          <p:spPr bwMode="auto">
            <a:xfrm>
              <a:off x="3124206" y="4992707"/>
              <a:ext cx="360363"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1800">
                  <a:solidFill>
                    <a:srgbClr val="0000FF"/>
                  </a:solidFill>
                  <a:latin typeface="Consolas" pitchFamily="49" charset="0"/>
                  <a:cs typeface="Consolas" pitchFamily="49" charset="0"/>
                </a:rPr>
                <a:t>2</a:t>
              </a:r>
            </a:p>
          </p:txBody>
        </p:sp>
        <p:sp>
          <p:nvSpPr>
            <p:cNvPr id="32" name="Oval 34">
              <a:extLst>
                <a:ext uri="{FF2B5EF4-FFF2-40B4-BE49-F238E27FC236}">
                  <a16:creationId xmlns:a16="http://schemas.microsoft.com/office/drawing/2014/main" id="{3B44DC70-C792-5D46-BB32-F0576E4BD506}"/>
                </a:ext>
              </a:extLst>
            </p:cNvPr>
            <p:cNvSpPr>
              <a:spLocks noChangeArrowheads="1"/>
            </p:cNvSpPr>
            <p:nvPr/>
          </p:nvSpPr>
          <p:spPr bwMode="auto">
            <a:xfrm>
              <a:off x="3773494" y="5711844"/>
              <a:ext cx="360363"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1800">
                  <a:solidFill>
                    <a:srgbClr val="0000FF"/>
                  </a:solidFill>
                  <a:latin typeface="Consolas" pitchFamily="49" charset="0"/>
                  <a:cs typeface="Consolas" pitchFamily="49" charset="0"/>
                </a:rPr>
                <a:t>3</a:t>
              </a:r>
            </a:p>
          </p:txBody>
        </p:sp>
        <p:sp>
          <p:nvSpPr>
            <p:cNvPr id="33" name="Oval 35">
              <a:extLst>
                <a:ext uri="{FF2B5EF4-FFF2-40B4-BE49-F238E27FC236}">
                  <a16:creationId xmlns:a16="http://schemas.microsoft.com/office/drawing/2014/main" id="{C212317F-5165-6B52-F20E-03F8A8E1F016}"/>
                </a:ext>
              </a:extLst>
            </p:cNvPr>
            <p:cNvSpPr>
              <a:spLocks noChangeArrowheads="1"/>
            </p:cNvSpPr>
            <p:nvPr/>
          </p:nvSpPr>
          <p:spPr bwMode="auto">
            <a:xfrm>
              <a:off x="4708531" y="5708683"/>
              <a:ext cx="360363"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1800">
                  <a:solidFill>
                    <a:srgbClr val="0000FF"/>
                  </a:solidFill>
                  <a:latin typeface="Consolas" pitchFamily="49" charset="0"/>
                  <a:cs typeface="Consolas" pitchFamily="49" charset="0"/>
                </a:rPr>
                <a:t>4</a:t>
              </a:r>
            </a:p>
          </p:txBody>
        </p:sp>
        <p:sp>
          <p:nvSpPr>
            <p:cNvPr id="34" name="Oval 37">
              <a:extLst>
                <a:ext uri="{FF2B5EF4-FFF2-40B4-BE49-F238E27FC236}">
                  <a16:creationId xmlns:a16="http://schemas.microsoft.com/office/drawing/2014/main" id="{EFE7B3AC-D4C7-CB25-93F4-F035ED894BDB}"/>
                </a:ext>
              </a:extLst>
            </p:cNvPr>
            <p:cNvSpPr>
              <a:spLocks noChangeArrowheads="1"/>
            </p:cNvSpPr>
            <p:nvPr/>
          </p:nvSpPr>
          <p:spPr bwMode="auto">
            <a:xfrm>
              <a:off x="5140331" y="4919682"/>
              <a:ext cx="360363"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1800">
                  <a:solidFill>
                    <a:srgbClr val="0000FF"/>
                  </a:solidFill>
                  <a:latin typeface="Consolas" pitchFamily="49" charset="0"/>
                  <a:cs typeface="Consolas" pitchFamily="49" charset="0"/>
                </a:rPr>
                <a:t>5</a:t>
              </a:r>
            </a:p>
          </p:txBody>
        </p:sp>
        <p:sp>
          <p:nvSpPr>
            <p:cNvPr id="35" name="Freeform 13">
              <a:extLst>
                <a:ext uri="{FF2B5EF4-FFF2-40B4-BE49-F238E27FC236}">
                  <a16:creationId xmlns:a16="http://schemas.microsoft.com/office/drawing/2014/main" id="{E91DD2CB-155C-92FF-0144-19A2A6A4639A}"/>
                </a:ext>
              </a:extLst>
            </p:cNvPr>
            <p:cNvSpPr>
              <a:spLocks/>
            </p:cNvSpPr>
            <p:nvPr/>
          </p:nvSpPr>
          <p:spPr bwMode="auto">
            <a:xfrm>
              <a:off x="3360682" y="4484709"/>
              <a:ext cx="395288" cy="528638"/>
            </a:xfrm>
            <a:custGeom>
              <a:avLst/>
              <a:gdLst/>
              <a:ahLst/>
              <a:cxnLst>
                <a:cxn ang="0">
                  <a:pos x="249" y="0"/>
                </a:cxn>
                <a:cxn ang="0">
                  <a:pos x="0" y="333"/>
                </a:cxn>
              </a:cxnLst>
              <a:rect l="0" t="0" r="r" b="b"/>
              <a:pathLst>
                <a:path w="249" h="333">
                  <a:moveTo>
                    <a:pt x="249" y="0"/>
                  </a:moveTo>
                  <a:lnTo>
                    <a:pt x="0" y="333"/>
                  </a:lnTo>
                </a:path>
              </a:pathLst>
            </a:custGeom>
            <a:ln>
              <a:headEnd type="none" w="med" len="med"/>
              <a:tailEnd type="none" w="med" len="lg"/>
            </a:ln>
          </p:spPr>
          <p:style>
            <a:lnRef idx="2">
              <a:schemeClr val="accent5"/>
            </a:lnRef>
            <a:fillRef idx="0">
              <a:schemeClr val="accent5"/>
            </a:fillRef>
            <a:effectRef idx="1">
              <a:schemeClr val="accent5"/>
            </a:effectRef>
            <a:fontRef idx="minor">
              <a:schemeClr val="tx1"/>
            </a:fontRef>
          </p:style>
          <p:txBody>
            <a:bodyPr wrap="none"/>
            <a:lstStyle/>
            <a:p>
              <a:endParaRPr lang="zh-CN" altLang="en-US" sz="1800">
                <a:latin typeface="Consolas" pitchFamily="49" charset="0"/>
                <a:cs typeface="Consolas" pitchFamily="49" charset="0"/>
              </a:endParaRPr>
            </a:p>
          </p:txBody>
        </p:sp>
        <p:cxnSp>
          <p:nvCxnSpPr>
            <p:cNvPr id="36" name="直接连接符 35">
              <a:extLst>
                <a:ext uri="{FF2B5EF4-FFF2-40B4-BE49-F238E27FC236}">
                  <a16:creationId xmlns:a16="http://schemas.microsoft.com/office/drawing/2014/main" id="{5CF4F985-1291-E3F0-54F0-0777841F13C6}"/>
                </a:ext>
              </a:extLst>
            </p:cNvPr>
            <p:cNvCxnSpPr>
              <a:stCxn id="31" idx="5"/>
              <a:endCxn id="32" idx="1"/>
            </p:cNvCxnSpPr>
            <p:nvPr/>
          </p:nvCxnSpPr>
          <p:spPr>
            <a:xfrm rot="16200000" flipH="1">
              <a:off x="3422127" y="5370938"/>
              <a:ext cx="413809" cy="394473"/>
            </a:xfrm>
            <a:prstGeom prst="line">
              <a:avLst/>
            </a:prstGeom>
            <a:ln/>
          </p:spPr>
          <p:style>
            <a:lnRef idx="2">
              <a:schemeClr val="accent5"/>
            </a:lnRef>
            <a:fillRef idx="0">
              <a:schemeClr val="accent5"/>
            </a:fillRef>
            <a:effectRef idx="1">
              <a:schemeClr val="accent5"/>
            </a:effectRef>
            <a:fontRef idx="minor">
              <a:schemeClr val="tx1"/>
            </a:fontRef>
          </p:style>
        </p:cxnSp>
        <p:cxnSp>
          <p:nvCxnSpPr>
            <p:cNvPr id="37" name="直接连接符 36">
              <a:extLst>
                <a:ext uri="{FF2B5EF4-FFF2-40B4-BE49-F238E27FC236}">
                  <a16:creationId xmlns:a16="http://schemas.microsoft.com/office/drawing/2014/main" id="{4C527288-6558-6423-71F0-E08921F77F6A}"/>
                </a:ext>
              </a:extLst>
            </p:cNvPr>
            <p:cNvCxnSpPr>
              <a:stCxn id="29" idx="5"/>
              <a:endCxn id="30" idx="1"/>
            </p:cNvCxnSpPr>
            <p:nvPr/>
          </p:nvCxnSpPr>
          <p:spPr>
            <a:xfrm rot="16200000" flipH="1">
              <a:off x="3900758" y="4603382"/>
              <a:ext cx="523356" cy="308757"/>
            </a:xfrm>
            <a:prstGeom prst="line">
              <a:avLst/>
            </a:prstGeom>
            <a:ln/>
          </p:spPr>
          <p:style>
            <a:lnRef idx="2">
              <a:schemeClr val="accent5"/>
            </a:lnRef>
            <a:fillRef idx="0">
              <a:schemeClr val="accent5"/>
            </a:fillRef>
            <a:effectRef idx="1">
              <a:schemeClr val="accent5"/>
            </a:effectRef>
            <a:fontRef idx="minor">
              <a:schemeClr val="tx1"/>
            </a:fontRef>
          </p:style>
        </p:cxnSp>
        <p:cxnSp>
          <p:nvCxnSpPr>
            <p:cNvPr id="38" name="直接连接符 37">
              <a:extLst>
                <a:ext uri="{FF2B5EF4-FFF2-40B4-BE49-F238E27FC236}">
                  <a16:creationId xmlns:a16="http://schemas.microsoft.com/office/drawing/2014/main" id="{BD430442-82A5-A655-12CE-AF7EF22020B2}"/>
                </a:ext>
              </a:extLst>
            </p:cNvPr>
            <p:cNvCxnSpPr>
              <a:stCxn id="30" idx="5"/>
              <a:endCxn id="33" idx="1"/>
            </p:cNvCxnSpPr>
            <p:nvPr/>
          </p:nvCxnSpPr>
          <p:spPr>
            <a:xfrm rot="16200000" flipH="1">
              <a:off x="4442891" y="5453505"/>
              <a:ext cx="447152" cy="189675"/>
            </a:xfrm>
            <a:prstGeom prst="line">
              <a:avLst/>
            </a:prstGeom>
            <a:ln/>
          </p:spPr>
          <p:style>
            <a:lnRef idx="2">
              <a:schemeClr val="accent5"/>
            </a:lnRef>
            <a:fillRef idx="0">
              <a:schemeClr val="accent5"/>
            </a:fillRef>
            <a:effectRef idx="1">
              <a:schemeClr val="accent5"/>
            </a:effectRef>
            <a:fontRef idx="minor">
              <a:schemeClr val="tx1"/>
            </a:fontRef>
          </p:style>
        </p:cxnSp>
        <p:cxnSp>
          <p:nvCxnSpPr>
            <p:cNvPr id="39" name="直接连接符 38">
              <a:extLst>
                <a:ext uri="{FF2B5EF4-FFF2-40B4-BE49-F238E27FC236}">
                  <a16:creationId xmlns:a16="http://schemas.microsoft.com/office/drawing/2014/main" id="{7DECBECB-FD99-DEFA-46C6-C8AFC6A0CEEF}"/>
                </a:ext>
              </a:extLst>
            </p:cNvPr>
            <p:cNvCxnSpPr>
              <a:stCxn id="29" idx="6"/>
              <a:endCxn id="34" idx="1"/>
            </p:cNvCxnSpPr>
            <p:nvPr/>
          </p:nvCxnSpPr>
          <p:spPr>
            <a:xfrm>
              <a:off x="4060832" y="4343419"/>
              <a:ext cx="1132273" cy="639499"/>
            </a:xfrm>
            <a:prstGeom prst="line">
              <a:avLst/>
            </a:prstGeom>
            <a:ln/>
          </p:spPr>
          <p:style>
            <a:lnRef idx="2">
              <a:schemeClr val="accent5"/>
            </a:lnRef>
            <a:fillRef idx="0">
              <a:schemeClr val="accent5"/>
            </a:fillRef>
            <a:effectRef idx="1">
              <a:schemeClr val="accent5"/>
            </a:effectRef>
            <a:fontRef idx="minor">
              <a:schemeClr val="tx1"/>
            </a:fontRef>
          </p:style>
        </p:cxnSp>
      </p:grpSp>
      <p:sp>
        <p:nvSpPr>
          <p:cNvPr id="40" name="TextBox 69">
            <a:extLst>
              <a:ext uri="{FF2B5EF4-FFF2-40B4-BE49-F238E27FC236}">
                <a16:creationId xmlns:a16="http://schemas.microsoft.com/office/drawing/2014/main" id="{B58BF263-6844-18D9-616D-4F6D486272D9}"/>
              </a:ext>
            </a:extLst>
          </p:cNvPr>
          <p:cNvSpPr txBox="1"/>
          <p:nvPr/>
        </p:nvSpPr>
        <p:spPr>
          <a:xfrm>
            <a:off x="3200907" y="6015165"/>
            <a:ext cx="5786478" cy="461665"/>
          </a:xfrm>
          <a:prstGeom prst="rect">
            <a:avLst/>
          </a:prstGeom>
          <a:noFill/>
          <a:ln>
            <a:noFill/>
          </a:ln>
          <a:effectLst/>
          <a:scene3d>
            <a:camera prst="orthographicFront">
              <a:rot lat="0" lon="0" rev="0"/>
            </a:camera>
            <a:lightRig rig="balanced" dir="t">
              <a:rot lat="0" lon="0" rev="8700000"/>
            </a:lightRig>
          </a:scene3d>
          <a:sp3d>
            <a:bevelT w="190500" h="38100"/>
          </a:sp3d>
        </p:spPr>
        <p:txBody>
          <a:bodyPr wrap="square" rtlCol="0">
            <a:spAutoFit/>
          </a:bodyPr>
          <a:lstStyle/>
          <a:p>
            <a:pPr algn="l"/>
            <a:r>
              <a:rPr kumimoji="1" lang="zh-CN" altLang="en-US" sz="2400" dirty="0">
                <a:latin typeface="微软雅黑" pitchFamily="34" charset="-122"/>
                <a:ea typeface="微软雅黑" pitchFamily="34" charset="-122"/>
                <a:cs typeface="经典粗黑简" pitchFamily="49" charset="-122"/>
              </a:rPr>
              <a:t>一个连通图的生成树不一定是唯一的！</a:t>
            </a:r>
          </a:p>
        </p:txBody>
      </p:sp>
      <p:grpSp>
        <p:nvGrpSpPr>
          <p:cNvPr id="83" name="组合 82">
            <a:extLst>
              <a:ext uri="{FF2B5EF4-FFF2-40B4-BE49-F238E27FC236}">
                <a16:creationId xmlns:a16="http://schemas.microsoft.com/office/drawing/2014/main" id="{80A13BA0-F4D5-769A-6876-192886FD0681}"/>
              </a:ext>
            </a:extLst>
          </p:cNvPr>
          <p:cNvGrpSpPr/>
          <p:nvPr/>
        </p:nvGrpSpPr>
        <p:grpSpPr>
          <a:xfrm>
            <a:off x="9050789" y="3663781"/>
            <a:ext cx="1143008" cy="1500198"/>
            <a:chOff x="857224" y="4000504"/>
            <a:chExt cx="1143008" cy="1500198"/>
          </a:xfrm>
        </p:grpSpPr>
        <p:sp>
          <p:nvSpPr>
            <p:cNvPr id="84" name="TextBox 34">
              <a:extLst>
                <a:ext uri="{FF2B5EF4-FFF2-40B4-BE49-F238E27FC236}">
                  <a16:creationId xmlns:a16="http://schemas.microsoft.com/office/drawing/2014/main" id="{136E7204-A2FF-0496-4497-C3D78352A9AD}"/>
                </a:ext>
              </a:extLst>
            </p:cNvPr>
            <p:cNvSpPr txBox="1"/>
            <p:nvPr/>
          </p:nvSpPr>
          <p:spPr>
            <a:xfrm>
              <a:off x="857224" y="4591672"/>
              <a:ext cx="357190" cy="400110"/>
            </a:xfrm>
            <a:prstGeom prst="rect">
              <a:avLst/>
            </a:prstGeom>
            <a:noFill/>
          </p:spPr>
          <p:txBody>
            <a:bodyPr wrap="square" rtlCol="0">
              <a:spAutoFit/>
            </a:bodyPr>
            <a:lstStyle/>
            <a:p>
              <a:pPr algn="l"/>
              <a:r>
                <a:rPr lang="en-US" altLang="zh-CN" sz="2000">
                  <a:solidFill>
                    <a:srgbClr val="0000FF"/>
                  </a:solidFill>
                  <a:latin typeface="Consolas" pitchFamily="49" charset="0"/>
                  <a:cs typeface="Consolas" pitchFamily="49" charset="0"/>
                </a:rPr>
                <a:t>0</a:t>
              </a:r>
              <a:r>
                <a:rPr lang="en-US" altLang="zh-CN" sz="2000">
                  <a:solidFill>
                    <a:srgbClr val="0000FF"/>
                  </a:solidFill>
                  <a:latin typeface="Consolas" pitchFamily="49" charset="0"/>
                  <a:cs typeface="Consolas" pitchFamily="49" charset="0"/>
                  <a:sym typeface="Wingdings"/>
                </a:rPr>
                <a:t>   </a:t>
              </a:r>
              <a:endParaRPr lang="zh-CN" altLang="en-US" sz="2000">
                <a:solidFill>
                  <a:srgbClr val="0000FF"/>
                </a:solidFill>
                <a:latin typeface="Consolas" pitchFamily="49" charset="0"/>
                <a:cs typeface="Consolas" pitchFamily="49" charset="0"/>
              </a:endParaRPr>
            </a:p>
          </p:txBody>
        </p:sp>
        <p:sp>
          <p:nvSpPr>
            <p:cNvPr id="85" name="TextBox 37">
              <a:extLst>
                <a:ext uri="{FF2B5EF4-FFF2-40B4-BE49-F238E27FC236}">
                  <a16:creationId xmlns:a16="http://schemas.microsoft.com/office/drawing/2014/main" id="{521D64CF-8425-C7FF-AF4B-6EF1AB3936B2}"/>
                </a:ext>
              </a:extLst>
            </p:cNvPr>
            <p:cNvSpPr txBox="1"/>
            <p:nvPr/>
          </p:nvSpPr>
          <p:spPr>
            <a:xfrm>
              <a:off x="1643042" y="4572008"/>
              <a:ext cx="357190" cy="400110"/>
            </a:xfrm>
            <a:prstGeom prst="rect">
              <a:avLst/>
            </a:prstGeom>
            <a:noFill/>
          </p:spPr>
          <p:txBody>
            <a:bodyPr wrap="square" rtlCol="0">
              <a:spAutoFit/>
            </a:bodyPr>
            <a:lstStyle/>
            <a:p>
              <a:pPr algn="l"/>
              <a:r>
                <a:rPr lang="en-US" altLang="zh-CN" sz="2000">
                  <a:solidFill>
                    <a:srgbClr val="0000FF"/>
                  </a:solidFill>
                  <a:latin typeface="Consolas" pitchFamily="49" charset="0"/>
                  <a:cs typeface="Consolas" pitchFamily="49" charset="0"/>
                  <a:sym typeface="Wingdings"/>
                </a:rPr>
                <a:t>1   </a:t>
              </a:r>
              <a:endParaRPr lang="zh-CN" altLang="en-US" sz="2000">
                <a:solidFill>
                  <a:srgbClr val="0000FF"/>
                </a:solidFill>
                <a:latin typeface="Consolas" pitchFamily="49" charset="0"/>
                <a:cs typeface="Consolas" pitchFamily="49" charset="0"/>
              </a:endParaRPr>
            </a:p>
          </p:txBody>
        </p:sp>
        <p:cxnSp>
          <p:nvCxnSpPr>
            <p:cNvPr id="86" name="直接箭头连接符 85">
              <a:extLst>
                <a:ext uri="{FF2B5EF4-FFF2-40B4-BE49-F238E27FC236}">
                  <a16:creationId xmlns:a16="http://schemas.microsoft.com/office/drawing/2014/main" id="{2D89A794-D919-9764-A34F-223859DAE29B}"/>
                </a:ext>
              </a:extLst>
            </p:cNvPr>
            <p:cNvCxnSpPr/>
            <p:nvPr/>
          </p:nvCxnSpPr>
          <p:spPr>
            <a:xfrm>
              <a:off x="1184918" y="4781895"/>
              <a:ext cx="468000" cy="1588"/>
            </a:xfrm>
            <a:prstGeom prst="straightConnector1">
              <a:avLst/>
            </a:prstGeom>
            <a:ln>
              <a:tailEnd type="arrow"/>
            </a:ln>
          </p:spPr>
          <p:style>
            <a:lnRef idx="2">
              <a:schemeClr val="accent5"/>
            </a:lnRef>
            <a:fillRef idx="0">
              <a:schemeClr val="accent5"/>
            </a:fillRef>
            <a:effectRef idx="1">
              <a:schemeClr val="accent5"/>
            </a:effectRef>
            <a:fontRef idx="minor">
              <a:schemeClr val="tx1"/>
            </a:fontRef>
          </p:style>
        </p:cxnSp>
        <p:sp>
          <p:nvSpPr>
            <p:cNvPr id="87" name="TextBox 39">
              <a:extLst>
                <a:ext uri="{FF2B5EF4-FFF2-40B4-BE49-F238E27FC236}">
                  <a16:creationId xmlns:a16="http://schemas.microsoft.com/office/drawing/2014/main" id="{54475EA9-3E47-09EF-F834-9F9A265ED64E}"/>
                </a:ext>
              </a:extLst>
            </p:cNvPr>
            <p:cNvSpPr txBox="1"/>
            <p:nvPr/>
          </p:nvSpPr>
          <p:spPr>
            <a:xfrm>
              <a:off x="1643042" y="5100592"/>
              <a:ext cx="357190" cy="400110"/>
            </a:xfrm>
            <a:prstGeom prst="rect">
              <a:avLst/>
            </a:prstGeom>
            <a:noFill/>
          </p:spPr>
          <p:txBody>
            <a:bodyPr wrap="square" rtlCol="0">
              <a:spAutoFit/>
            </a:bodyPr>
            <a:lstStyle/>
            <a:p>
              <a:pPr algn="l"/>
              <a:r>
                <a:rPr lang="en-US" altLang="zh-CN" sz="2000">
                  <a:solidFill>
                    <a:srgbClr val="0000FF"/>
                  </a:solidFill>
                  <a:latin typeface="Consolas" pitchFamily="49" charset="0"/>
                  <a:cs typeface="Consolas" pitchFamily="49" charset="0"/>
                  <a:sym typeface="Wingdings"/>
                </a:rPr>
                <a:t>5   </a:t>
              </a:r>
              <a:endParaRPr lang="zh-CN" altLang="en-US" sz="2000">
                <a:solidFill>
                  <a:srgbClr val="0000FF"/>
                </a:solidFill>
                <a:latin typeface="Consolas" pitchFamily="49" charset="0"/>
                <a:cs typeface="Consolas" pitchFamily="49" charset="0"/>
              </a:endParaRPr>
            </a:p>
          </p:txBody>
        </p:sp>
        <p:sp>
          <p:nvSpPr>
            <p:cNvPr id="88" name="TextBox 40">
              <a:extLst>
                <a:ext uri="{FF2B5EF4-FFF2-40B4-BE49-F238E27FC236}">
                  <a16:creationId xmlns:a16="http://schemas.microsoft.com/office/drawing/2014/main" id="{5C0E8786-10F3-B245-A51E-A3E8C8CE3868}"/>
                </a:ext>
              </a:extLst>
            </p:cNvPr>
            <p:cNvSpPr txBox="1"/>
            <p:nvPr/>
          </p:nvSpPr>
          <p:spPr>
            <a:xfrm>
              <a:off x="1643042" y="4000504"/>
              <a:ext cx="357190" cy="400110"/>
            </a:xfrm>
            <a:prstGeom prst="rect">
              <a:avLst/>
            </a:prstGeom>
            <a:noFill/>
          </p:spPr>
          <p:txBody>
            <a:bodyPr wrap="square" rtlCol="0">
              <a:spAutoFit/>
            </a:bodyPr>
            <a:lstStyle/>
            <a:p>
              <a:pPr algn="l"/>
              <a:r>
                <a:rPr lang="en-US" altLang="zh-CN" sz="2000">
                  <a:solidFill>
                    <a:srgbClr val="0000FF"/>
                  </a:solidFill>
                  <a:latin typeface="Consolas" pitchFamily="49" charset="0"/>
                  <a:cs typeface="Consolas" pitchFamily="49" charset="0"/>
                </a:rPr>
                <a:t>2</a:t>
              </a:r>
              <a:r>
                <a:rPr lang="en-US" altLang="zh-CN" sz="2000">
                  <a:solidFill>
                    <a:srgbClr val="0000FF"/>
                  </a:solidFill>
                  <a:latin typeface="Consolas" pitchFamily="49" charset="0"/>
                  <a:cs typeface="Consolas" pitchFamily="49" charset="0"/>
                  <a:sym typeface="Wingdings"/>
                </a:rPr>
                <a:t>   </a:t>
              </a:r>
              <a:endParaRPr lang="zh-CN" altLang="en-US" sz="2000">
                <a:solidFill>
                  <a:srgbClr val="0000FF"/>
                </a:solidFill>
                <a:latin typeface="Consolas" pitchFamily="49" charset="0"/>
                <a:cs typeface="Consolas" pitchFamily="49" charset="0"/>
              </a:endParaRPr>
            </a:p>
          </p:txBody>
        </p:sp>
        <p:cxnSp>
          <p:nvCxnSpPr>
            <p:cNvPr id="89" name="直接箭头连接符 88">
              <a:extLst>
                <a:ext uri="{FF2B5EF4-FFF2-40B4-BE49-F238E27FC236}">
                  <a16:creationId xmlns:a16="http://schemas.microsoft.com/office/drawing/2014/main" id="{B5920F00-3784-F761-1A73-0066E165F8B9}"/>
                </a:ext>
              </a:extLst>
            </p:cNvPr>
            <p:cNvCxnSpPr>
              <a:endCxn id="88" idx="1"/>
            </p:cNvCxnSpPr>
            <p:nvPr/>
          </p:nvCxnSpPr>
          <p:spPr>
            <a:xfrm flipV="1">
              <a:off x="1142976" y="4200559"/>
              <a:ext cx="500066" cy="442887"/>
            </a:xfrm>
            <a:prstGeom prst="straightConnector1">
              <a:avLst/>
            </a:prstGeom>
            <a:ln>
              <a:tailEnd type="arrow"/>
            </a:ln>
          </p:spPr>
          <p:style>
            <a:lnRef idx="2">
              <a:schemeClr val="accent5"/>
            </a:lnRef>
            <a:fillRef idx="0">
              <a:schemeClr val="accent5"/>
            </a:fillRef>
            <a:effectRef idx="1">
              <a:schemeClr val="accent5"/>
            </a:effectRef>
            <a:fontRef idx="minor">
              <a:schemeClr val="tx1"/>
            </a:fontRef>
          </p:style>
        </p:cxnSp>
        <p:cxnSp>
          <p:nvCxnSpPr>
            <p:cNvPr id="90" name="直接箭头连接符 89">
              <a:extLst>
                <a:ext uri="{FF2B5EF4-FFF2-40B4-BE49-F238E27FC236}">
                  <a16:creationId xmlns:a16="http://schemas.microsoft.com/office/drawing/2014/main" id="{DCB321F0-DD0E-075C-4FFE-28A4239E9FF3}"/>
                </a:ext>
              </a:extLst>
            </p:cNvPr>
            <p:cNvCxnSpPr>
              <a:endCxn id="87" idx="1"/>
            </p:cNvCxnSpPr>
            <p:nvPr/>
          </p:nvCxnSpPr>
          <p:spPr>
            <a:xfrm>
              <a:off x="1142976" y="4929198"/>
              <a:ext cx="500066" cy="371449"/>
            </a:xfrm>
            <a:prstGeom prst="straightConnector1">
              <a:avLst/>
            </a:prstGeom>
            <a:ln>
              <a:tailEnd type="arrow"/>
            </a:ln>
          </p:spPr>
          <p:style>
            <a:lnRef idx="2">
              <a:schemeClr val="accent5"/>
            </a:lnRef>
            <a:fillRef idx="0">
              <a:schemeClr val="accent5"/>
            </a:fillRef>
            <a:effectRef idx="1">
              <a:schemeClr val="accent5"/>
            </a:effectRef>
            <a:fontRef idx="minor">
              <a:schemeClr val="tx1"/>
            </a:fontRef>
          </p:style>
        </p:cxnSp>
      </p:grpSp>
      <p:grpSp>
        <p:nvGrpSpPr>
          <p:cNvPr id="91" name="组合 90">
            <a:extLst>
              <a:ext uri="{FF2B5EF4-FFF2-40B4-BE49-F238E27FC236}">
                <a16:creationId xmlns:a16="http://schemas.microsoft.com/office/drawing/2014/main" id="{19AE879C-13EC-3F1D-0D52-CF9FA874A85E}"/>
              </a:ext>
            </a:extLst>
          </p:cNvPr>
          <p:cNvGrpSpPr/>
          <p:nvPr/>
        </p:nvGrpSpPr>
        <p:grpSpPr>
          <a:xfrm>
            <a:off x="10154425" y="3663781"/>
            <a:ext cx="825190" cy="400110"/>
            <a:chOff x="1960860" y="4000504"/>
            <a:chExt cx="825190" cy="400110"/>
          </a:xfrm>
        </p:grpSpPr>
        <p:sp>
          <p:nvSpPr>
            <p:cNvPr id="92" name="TextBox 41">
              <a:extLst>
                <a:ext uri="{FF2B5EF4-FFF2-40B4-BE49-F238E27FC236}">
                  <a16:creationId xmlns:a16="http://schemas.microsoft.com/office/drawing/2014/main" id="{2DE6EE51-63A9-7BAA-24DE-6C41F3F8B0E0}"/>
                </a:ext>
              </a:extLst>
            </p:cNvPr>
            <p:cNvSpPr txBox="1"/>
            <p:nvPr/>
          </p:nvSpPr>
          <p:spPr>
            <a:xfrm>
              <a:off x="2428860" y="4000504"/>
              <a:ext cx="357190" cy="400110"/>
            </a:xfrm>
            <a:prstGeom prst="rect">
              <a:avLst/>
            </a:prstGeom>
            <a:noFill/>
          </p:spPr>
          <p:txBody>
            <a:bodyPr wrap="square" rtlCol="0">
              <a:spAutoFit/>
            </a:bodyPr>
            <a:lstStyle/>
            <a:p>
              <a:pPr algn="l"/>
              <a:r>
                <a:rPr lang="en-US" altLang="zh-CN" sz="2000">
                  <a:solidFill>
                    <a:srgbClr val="0000FF"/>
                  </a:solidFill>
                  <a:latin typeface="Consolas" pitchFamily="49" charset="0"/>
                  <a:cs typeface="Consolas" pitchFamily="49" charset="0"/>
                  <a:sym typeface="Wingdings"/>
                </a:rPr>
                <a:t>3   </a:t>
              </a:r>
              <a:endParaRPr lang="zh-CN" altLang="en-US" sz="2000">
                <a:solidFill>
                  <a:srgbClr val="0000FF"/>
                </a:solidFill>
                <a:latin typeface="Consolas" pitchFamily="49" charset="0"/>
                <a:cs typeface="Consolas" pitchFamily="49" charset="0"/>
              </a:endParaRPr>
            </a:p>
          </p:txBody>
        </p:sp>
        <p:cxnSp>
          <p:nvCxnSpPr>
            <p:cNvPr id="93" name="直接箭头连接符 92">
              <a:extLst>
                <a:ext uri="{FF2B5EF4-FFF2-40B4-BE49-F238E27FC236}">
                  <a16:creationId xmlns:a16="http://schemas.microsoft.com/office/drawing/2014/main" id="{BAB9F787-71A0-2E4E-9B64-599B2D4051DE}"/>
                </a:ext>
              </a:extLst>
            </p:cNvPr>
            <p:cNvCxnSpPr/>
            <p:nvPr/>
          </p:nvCxnSpPr>
          <p:spPr>
            <a:xfrm>
              <a:off x="1960860" y="4185322"/>
              <a:ext cx="468000" cy="1588"/>
            </a:xfrm>
            <a:prstGeom prst="straightConnector1">
              <a:avLst/>
            </a:prstGeom>
            <a:ln>
              <a:tailEnd type="arrow"/>
            </a:ln>
          </p:spPr>
          <p:style>
            <a:lnRef idx="2">
              <a:schemeClr val="accent5"/>
            </a:lnRef>
            <a:fillRef idx="0">
              <a:schemeClr val="accent5"/>
            </a:fillRef>
            <a:effectRef idx="1">
              <a:schemeClr val="accent5"/>
            </a:effectRef>
            <a:fontRef idx="minor">
              <a:schemeClr val="tx1"/>
            </a:fontRef>
          </p:style>
        </p:cxnSp>
      </p:grpSp>
      <p:grpSp>
        <p:nvGrpSpPr>
          <p:cNvPr id="94" name="组合 93">
            <a:extLst>
              <a:ext uri="{FF2B5EF4-FFF2-40B4-BE49-F238E27FC236}">
                <a16:creationId xmlns:a16="http://schemas.microsoft.com/office/drawing/2014/main" id="{30DBEC2B-05EA-045D-CD5E-252C5B5393AC}"/>
              </a:ext>
            </a:extLst>
          </p:cNvPr>
          <p:cNvGrpSpPr/>
          <p:nvPr/>
        </p:nvGrpSpPr>
        <p:grpSpPr>
          <a:xfrm>
            <a:off x="10164257" y="4235285"/>
            <a:ext cx="815358" cy="400110"/>
            <a:chOff x="1970692" y="4572008"/>
            <a:chExt cx="815358" cy="400110"/>
          </a:xfrm>
        </p:grpSpPr>
        <p:sp>
          <p:nvSpPr>
            <p:cNvPr id="95" name="TextBox 42">
              <a:extLst>
                <a:ext uri="{FF2B5EF4-FFF2-40B4-BE49-F238E27FC236}">
                  <a16:creationId xmlns:a16="http://schemas.microsoft.com/office/drawing/2014/main" id="{6B136D99-7F9A-D15D-57EB-C27407E673D6}"/>
                </a:ext>
              </a:extLst>
            </p:cNvPr>
            <p:cNvSpPr txBox="1"/>
            <p:nvPr/>
          </p:nvSpPr>
          <p:spPr>
            <a:xfrm>
              <a:off x="2428860" y="4572008"/>
              <a:ext cx="357190" cy="400110"/>
            </a:xfrm>
            <a:prstGeom prst="rect">
              <a:avLst/>
            </a:prstGeom>
            <a:noFill/>
          </p:spPr>
          <p:txBody>
            <a:bodyPr wrap="square" rtlCol="0">
              <a:spAutoFit/>
            </a:bodyPr>
            <a:lstStyle/>
            <a:p>
              <a:pPr algn="l"/>
              <a:r>
                <a:rPr lang="en-US" altLang="zh-CN" sz="2000">
                  <a:solidFill>
                    <a:srgbClr val="0000FF"/>
                  </a:solidFill>
                  <a:latin typeface="Consolas" pitchFamily="49" charset="0"/>
                  <a:cs typeface="Consolas" pitchFamily="49" charset="0"/>
                  <a:sym typeface="Wingdings"/>
                </a:rPr>
                <a:t>4   </a:t>
              </a:r>
              <a:endParaRPr lang="zh-CN" altLang="en-US" sz="2000">
                <a:solidFill>
                  <a:srgbClr val="0000FF"/>
                </a:solidFill>
                <a:latin typeface="Consolas" pitchFamily="49" charset="0"/>
                <a:cs typeface="Consolas" pitchFamily="49" charset="0"/>
              </a:endParaRPr>
            </a:p>
          </p:txBody>
        </p:sp>
        <p:cxnSp>
          <p:nvCxnSpPr>
            <p:cNvPr id="96" name="直接箭头连接符 95">
              <a:extLst>
                <a:ext uri="{FF2B5EF4-FFF2-40B4-BE49-F238E27FC236}">
                  <a16:creationId xmlns:a16="http://schemas.microsoft.com/office/drawing/2014/main" id="{121FDD61-D6E9-29B0-C412-5681CC138E5C}"/>
                </a:ext>
              </a:extLst>
            </p:cNvPr>
            <p:cNvCxnSpPr/>
            <p:nvPr/>
          </p:nvCxnSpPr>
          <p:spPr>
            <a:xfrm>
              <a:off x="1970692" y="4745406"/>
              <a:ext cx="468000" cy="1588"/>
            </a:xfrm>
            <a:prstGeom prst="straightConnector1">
              <a:avLst/>
            </a:prstGeom>
            <a:ln>
              <a:tailEnd type="arrow"/>
            </a:ln>
          </p:spPr>
          <p:style>
            <a:lnRef idx="2">
              <a:schemeClr val="accent5"/>
            </a:lnRef>
            <a:fillRef idx="0">
              <a:schemeClr val="accent5"/>
            </a:fillRef>
            <a:effectRef idx="1">
              <a:schemeClr val="accent5"/>
            </a:effectRef>
            <a:fontRef idx="minor">
              <a:schemeClr val="tx1"/>
            </a:fontRef>
          </p:style>
        </p:cxnSp>
      </p:grpSp>
      <p:sp>
        <p:nvSpPr>
          <p:cNvPr id="97" name="矩形 96">
            <a:extLst>
              <a:ext uri="{FF2B5EF4-FFF2-40B4-BE49-F238E27FC236}">
                <a16:creationId xmlns:a16="http://schemas.microsoft.com/office/drawing/2014/main" id="{B502CB59-40E9-B9B3-91A7-C4B93830F38D}"/>
              </a:ext>
            </a:extLst>
          </p:cNvPr>
          <p:cNvSpPr/>
          <p:nvPr/>
        </p:nvSpPr>
        <p:spPr>
          <a:xfrm>
            <a:off x="3394075" y="399838"/>
            <a:ext cx="4617860"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8.4 </a:t>
            </a:r>
            <a:r>
              <a:rPr lang="zh-CN" altLang="en-US" sz="3000" b="1" dirty="0">
                <a:latin typeface="黑体" pitchFamily="49" charset="-122"/>
                <a:ea typeface="黑体" pitchFamily="49" charset="-122"/>
                <a:cs typeface="经典粗黑简" pitchFamily="49" charset="-122"/>
              </a:rPr>
              <a:t>生成树和最小生成树</a:t>
            </a:r>
          </a:p>
        </p:txBody>
      </p:sp>
    </p:spTree>
    <p:extLst>
      <p:ext uri="{BB962C8B-B14F-4D97-AF65-F5344CB8AC3E}">
        <p14:creationId xmlns:p14="http://schemas.microsoft.com/office/powerpoint/2010/main" val="38918618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5"/>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A9D40B-59D2-18FD-451F-92F4619D9B98}"/>
            </a:ext>
          </a:extLst>
        </p:cNvPr>
        <p:cNvGrpSpPr/>
        <p:nvPr/>
      </p:nvGrpSpPr>
      <p:grpSpPr>
        <a:xfrm>
          <a:off x="0" y="0"/>
          <a:ext cx="0" cy="0"/>
          <a:chOff x="0" y="0"/>
          <a:chExt cx="0" cy="0"/>
        </a:xfrm>
      </p:grpSpPr>
      <p:sp>
        <p:nvSpPr>
          <p:cNvPr id="2" name="Rectangle 2">
            <a:extLst>
              <a:ext uri="{FF2B5EF4-FFF2-40B4-BE49-F238E27FC236}">
                <a16:creationId xmlns:a16="http://schemas.microsoft.com/office/drawing/2014/main" id="{2466FE85-7E3D-145B-274D-A3AF0121DC7D}"/>
              </a:ext>
            </a:extLst>
          </p:cNvPr>
          <p:cNvSpPr txBox="1">
            <a:spLocks noChangeArrowheads="1"/>
          </p:cNvSpPr>
          <p:nvPr/>
        </p:nvSpPr>
        <p:spPr>
          <a:xfrm>
            <a:off x="474772" y="1230902"/>
            <a:ext cx="3905680"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8.4.1 </a:t>
            </a:r>
            <a:r>
              <a:rPr kumimoji="1" lang="zh-CN" altLang="en-US" dirty="0">
                <a:latin typeface="微软雅黑" pitchFamily="34" charset="-122"/>
                <a:ea typeface="微软雅黑" pitchFamily="34" charset="-122"/>
              </a:rPr>
              <a:t>生成树的概念</a:t>
            </a:r>
            <a:endParaRPr lang="zh-CN" altLang="en-US" dirty="0"/>
          </a:p>
        </p:txBody>
      </p:sp>
      <p:cxnSp>
        <p:nvCxnSpPr>
          <p:cNvPr id="4" name="直接连接符 3">
            <a:extLst>
              <a:ext uri="{FF2B5EF4-FFF2-40B4-BE49-F238E27FC236}">
                <a16:creationId xmlns:a16="http://schemas.microsoft.com/office/drawing/2014/main" id="{F804D906-1A1E-96B8-4DE8-0FD3DF45E824}"/>
              </a:ext>
            </a:extLst>
          </p:cNvPr>
          <p:cNvCxnSpPr>
            <a:cxnSpLocks/>
          </p:cNvCxnSpPr>
          <p:nvPr/>
        </p:nvCxnSpPr>
        <p:spPr>
          <a:xfrm>
            <a:off x="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5" name="Text Box 2">
            <a:extLst>
              <a:ext uri="{FF2B5EF4-FFF2-40B4-BE49-F238E27FC236}">
                <a16:creationId xmlns:a16="http://schemas.microsoft.com/office/drawing/2014/main" id="{69CD0317-BA99-5DD6-1287-67143EECBD6B}"/>
              </a:ext>
            </a:extLst>
          </p:cNvPr>
          <p:cNvSpPr txBox="1">
            <a:spLocks noChangeArrowheads="1"/>
          </p:cNvSpPr>
          <p:nvPr/>
        </p:nvSpPr>
        <p:spPr bwMode="auto">
          <a:xfrm>
            <a:off x="1487488" y="2852936"/>
            <a:ext cx="8201052" cy="1856891"/>
          </a:xfrm>
          <a:prstGeom prst="rect">
            <a:avLst/>
          </a:prstGeom>
          <a:ln>
            <a:noFill/>
            <a:headEnd/>
            <a:tailEnd/>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44000" tIns="108000" bIns="108000">
            <a:spAutoFit/>
          </a:bodyPr>
          <a:lstStyle/>
          <a:p>
            <a:pPr marL="457200" indent="-457200" algn="just">
              <a:lnSpc>
                <a:spcPct val="110000"/>
              </a:lnSpc>
              <a:spcBef>
                <a:spcPct val="50000"/>
              </a:spcBef>
              <a:buBlip>
                <a:blip r:embed="rId2"/>
              </a:buBlip>
            </a:pPr>
            <a:r>
              <a:rPr kumimoji="1" lang="zh-CN" altLang="en-US" sz="2000">
                <a:solidFill>
                  <a:srgbClr val="0000FF"/>
                </a:solidFill>
                <a:latin typeface="Consolas" pitchFamily="49" charset="0"/>
                <a:ea typeface="仿宋" pitchFamily="49" charset="-122"/>
                <a:cs typeface="Consolas" pitchFamily="49" charset="0"/>
              </a:rPr>
              <a:t>对于带权连通图</a:t>
            </a:r>
            <a:r>
              <a:rPr kumimoji="1" lang="en-US" altLang="zh-CN" sz="2000">
                <a:solidFill>
                  <a:srgbClr val="0000FF"/>
                </a:solidFill>
                <a:latin typeface="Consolas" pitchFamily="49" charset="0"/>
                <a:ea typeface="仿宋" pitchFamily="49" charset="-122"/>
                <a:cs typeface="Consolas" pitchFamily="49" charset="0"/>
              </a:rPr>
              <a:t>G </a:t>
            </a:r>
            <a:r>
              <a:rPr kumimoji="1" lang="zh-CN" altLang="en-US" sz="2000">
                <a:solidFill>
                  <a:srgbClr val="0000FF"/>
                </a:solidFill>
                <a:latin typeface="Consolas" pitchFamily="49" charset="0"/>
                <a:ea typeface="仿宋" pitchFamily="49" charset="-122"/>
                <a:cs typeface="Consolas" pitchFamily="49" charset="0"/>
              </a:rPr>
              <a:t>（</a:t>
            </a:r>
            <a:r>
              <a:rPr kumimoji="1" lang="zh-CN" altLang="en-US" sz="2000" dirty="0">
                <a:solidFill>
                  <a:srgbClr val="0000FF"/>
                </a:solidFill>
                <a:latin typeface="Consolas" pitchFamily="49" charset="0"/>
                <a:ea typeface="仿宋" pitchFamily="49" charset="-122"/>
                <a:cs typeface="Consolas" pitchFamily="49" charset="0"/>
              </a:rPr>
              <a:t>每条边上的权均为大于零的</a:t>
            </a:r>
            <a:r>
              <a:rPr kumimoji="1" lang="zh-CN" altLang="en-US" sz="2000">
                <a:solidFill>
                  <a:srgbClr val="0000FF"/>
                </a:solidFill>
                <a:latin typeface="Consolas" pitchFamily="49" charset="0"/>
                <a:ea typeface="仿宋" pitchFamily="49" charset="-122"/>
                <a:cs typeface="Consolas" pitchFamily="49" charset="0"/>
              </a:rPr>
              <a:t>实数），可能</a:t>
            </a:r>
            <a:r>
              <a:rPr kumimoji="1" lang="zh-CN" altLang="en-US" sz="2000" dirty="0">
                <a:solidFill>
                  <a:srgbClr val="0000FF"/>
                </a:solidFill>
                <a:latin typeface="Consolas" pitchFamily="49" charset="0"/>
                <a:ea typeface="仿宋" pitchFamily="49" charset="-122"/>
                <a:cs typeface="Consolas" pitchFamily="49" charset="0"/>
              </a:rPr>
              <a:t>有多棵不同生成树。</a:t>
            </a:r>
            <a:endParaRPr kumimoji="1" lang="en-US" altLang="zh-CN" sz="2000" dirty="0">
              <a:solidFill>
                <a:srgbClr val="0000FF"/>
              </a:solidFill>
              <a:latin typeface="Consolas" pitchFamily="49" charset="0"/>
              <a:ea typeface="仿宋" pitchFamily="49" charset="-122"/>
              <a:cs typeface="Consolas" pitchFamily="49" charset="0"/>
            </a:endParaRPr>
          </a:p>
          <a:p>
            <a:pPr marL="457200" indent="-457200" algn="just">
              <a:lnSpc>
                <a:spcPct val="110000"/>
              </a:lnSpc>
              <a:spcBef>
                <a:spcPct val="50000"/>
              </a:spcBef>
              <a:buBlip>
                <a:blip r:embed="rId2"/>
              </a:buBlip>
            </a:pPr>
            <a:r>
              <a:rPr kumimoji="1" lang="zh-CN" altLang="en-US" sz="2000" dirty="0">
                <a:solidFill>
                  <a:srgbClr val="0000FF"/>
                </a:solidFill>
                <a:latin typeface="Consolas" pitchFamily="49" charset="0"/>
                <a:ea typeface="仿宋" pitchFamily="49" charset="-122"/>
                <a:cs typeface="Consolas" pitchFamily="49" charset="0"/>
              </a:rPr>
              <a:t>每棵生成树的所有边的权值之和可能不同。</a:t>
            </a:r>
            <a:endParaRPr kumimoji="1" lang="en-US" altLang="zh-CN" sz="2000" dirty="0">
              <a:solidFill>
                <a:srgbClr val="0000FF"/>
              </a:solidFill>
              <a:latin typeface="Consolas" pitchFamily="49" charset="0"/>
              <a:ea typeface="仿宋" pitchFamily="49" charset="-122"/>
              <a:cs typeface="Consolas" pitchFamily="49" charset="0"/>
            </a:endParaRPr>
          </a:p>
          <a:p>
            <a:pPr marL="457200" indent="-457200" algn="just">
              <a:lnSpc>
                <a:spcPct val="110000"/>
              </a:lnSpc>
              <a:spcBef>
                <a:spcPct val="50000"/>
              </a:spcBef>
              <a:buBlip>
                <a:blip r:embed="rId2"/>
              </a:buBlip>
            </a:pPr>
            <a:r>
              <a:rPr kumimoji="1" lang="zh-CN" altLang="en-US" sz="2000" dirty="0">
                <a:solidFill>
                  <a:srgbClr val="0000FF"/>
                </a:solidFill>
                <a:latin typeface="Consolas" pitchFamily="49" charset="0"/>
                <a:ea typeface="仿宋" pitchFamily="49" charset="-122"/>
                <a:cs typeface="Consolas" pitchFamily="49" charset="0"/>
              </a:rPr>
              <a:t>其中权值之和最小的生成树称为图的</a:t>
            </a:r>
            <a:r>
              <a:rPr kumimoji="1" lang="zh-CN" altLang="en-US" sz="2000" dirty="0">
                <a:solidFill>
                  <a:srgbClr val="FF0000"/>
                </a:solidFill>
                <a:latin typeface="Consolas" pitchFamily="49" charset="0"/>
                <a:ea typeface="仿宋" pitchFamily="49" charset="-122"/>
                <a:cs typeface="Consolas" pitchFamily="49" charset="0"/>
              </a:rPr>
              <a:t>最小生成树</a:t>
            </a:r>
            <a:r>
              <a:rPr kumimoji="1" lang="zh-CN" altLang="en-US" sz="2000" dirty="0">
                <a:solidFill>
                  <a:srgbClr val="0000FF"/>
                </a:solidFill>
                <a:latin typeface="Consolas" pitchFamily="49" charset="0"/>
                <a:ea typeface="仿宋" pitchFamily="49" charset="-122"/>
                <a:cs typeface="Consolas" pitchFamily="49" charset="0"/>
              </a:rPr>
              <a:t>。</a:t>
            </a:r>
          </a:p>
        </p:txBody>
      </p:sp>
      <p:sp>
        <p:nvSpPr>
          <p:cNvPr id="43" name="文本框 42">
            <a:extLst>
              <a:ext uri="{FF2B5EF4-FFF2-40B4-BE49-F238E27FC236}">
                <a16:creationId xmlns:a16="http://schemas.microsoft.com/office/drawing/2014/main" id="{29846A71-17F0-582B-A6C2-B39AA0790D19}"/>
              </a:ext>
            </a:extLst>
          </p:cNvPr>
          <p:cNvSpPr txBox="1"/>
          <p:nvPr/>
        </p:nvSpPr>
        <p:spPr>
          <a:xfrm>
            <a:off x="1420399" y="1994566"/>
            <a:ext cx="2964972" cy="461665"/>
          </a:xfrm>
          <a:prstGeom prst="rect">
            <a:avLst/>
          </a:prstGeom>
          <a:noFill/>
        </p:spPr>
        <p:txBody>
          <a:bodyPr wrap="square">
            <a:spAutoFit/>
          </a:bodyPr>
          <a:lstStyle/>
          <a:p>
            <a:r>
              <a:rPr kumimoji="1" lang="zh-CN" altLang="en-US" sz="2400" dirty="0">
                <a:latin typeface="微软雅黑" pitchFamily="34" charset="-122"/>
                <a:ea typeface="微软雅黑" pitchFamily="34" charset="-122"/>
                <a:cs typeface="经典粗黑简" pitchFamily="49" charset="-122"/>
              </a:rPr>
              <a:t>最小生成树的概念</a:t>
            </a:r>
          </a:p>
        </p:txBody>
      </p:sp>
      <p:sp>
        <p:nvSpPr>
          <p:cNvPr id="44" name="矩形 43">
            <a:extLst>
              <a:ext uri="{FF2B5EF4-FFF2-40B4-BE49-F238E27FC236}">
                <a16:creationId xmlns:a16="http://schemas.microsoft.com/office/drawing/2014/main" id="{6FBBEE23-D0C5-ABFD-C0CA-0BDD610810D3}"/>
              </a:ext>
            </a:extLst>
          </p:cNvPr>
          <p:cNvSpPr/>
          <p:nvPr/>
        </p:nvSpPr>
        <p:spPr>
          <a:xfrm>
            <a:off x="3394075" y="399838"/>
            <a:ext cx="4617860"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8.4 </a:t>
            </a:r>
            <a:r>
              <a:rPr lang="zh-CN" altLang="en-US" sz="3000" b="1" dirty="0">
                <a:latin typeface="黑体" pitchFamily="49" charset="-122"/>
                <a:ea typeface="黑体" pitchFamily="49" charset="-122"/>
                <a:cs typeface="经典粗黑简" pitchFamily="49" charset="-122"/>
              </a:rPr>
              <a:t>生成树和最小生成树</a:t>
            </a:r>
          </a:p>
        </p:txBody>
      </p:sp>
    </p:spTree>
    <p:extLst>
      <p:ext uri="{BB962C8B-B14F-4D97-AF65-F5344CB8AC3E}">
        <p14:creationId xmlns:p14="http://schemas.microsoft.com/office/powerpoint/2010/main" val="210032584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3D2E1E-5A7B-AF92-2C36-63671D598303}"/>
            </a:ext>
          </a:extLst>
        </p:cNvPr>
        <p:cNvGrpSpPr/>
        <p:nvPr/>
      </p:nvGrpSpPr>
      <p:grpSpPr>
        <a:xfrm>
          <a:off x="0" y="0"/>
          <a:ext cx="0" cy="0"/>
          <a:chOff x="0" y="0"/>
          <a:chExt cx="0" cy="0"/>
        </a:xfrm>
      </p:grpSpPr>
      <p:sp>
        <p:nvSpPr>
          <p:cNvPr id="2" name="Rectangle 2">
            <a:extLst>
              <a:ext uri="{FF2B5EF4-FFF2-40B4-BE49-F238E27FC236}">
                <a16:creationId xmlns:a16="http://schemas.microsoft.com/office/drawing/2014/main" id="{48B06A3F-A511-447B-CB05-C529D107FC69}"/>
              </a:ext>
            </a:extLst>
          </p:cNvPr>
          <p:cNvSpPr txBox="1">
            <a:spLocks noChangeArrowheads="1"/>
          </p:cNvSpPr>
          <p:nvPr/>
        </p:nvSpPr>
        <p:spPr>
          <a:xfrm>
            <a:off x="474772" y="1230902"/>
            <a:ext cx="3905680"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8.4.1 </a:t>
            </a:r>
            <a:r>
              <a:rPr kumimoji="1" lang="zh-CN" altLang="en-US" dirty="0">
                <a:latin typeface="微软雅黑" pitchFamily="34" charset="-122"/>
                <a:ea typeface="微软雅黑" pitchFamily="34" charset="-122"/>
              </a:rPr>
              <a:t>生成树的概念</a:t>
            </a:r>
            <a:endParaRPr lang="zh-CN" altLang="en-US" dirty="0"/>
          </a:p>
        </p:txBody>
      </p:sp>
      <p:cxnSp>
        <p:nvCxnSpPr>
          <p:cNvPr id="4" name="直接连接符 3">
            <a:extLst>
              <a:ext uri="{FF2B5EF4-FFF2-40B4-BE49-F238E27FC236}">
                <a16:creationId xmlns:a16="http://schemas.microsoft.com/office/drawing/2014/main" id="{27E60A3D-08C9-87EA-100B-37DFDF2D337E}"/>
              </a:ext>
            </a:extLst>
          </p:cNvPr>
          <p:cNvCxnSpPr>
            <a:cxnSpLocks/>
          </p:cNvCxnSpPr>
          <p:nvPr/>
        </p:nvCxnSpPr>
        <p:spPr>
          <a:xfrm>
            <a:off x="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43" name="文本框 42">
            <a:extLst>
              <a:ext uri="{FF2B5EF4-FFF2-40B4-BE49-F238E27FC236}">
                <a16:creationId xmlns:a16="http://schemas.microsoft.com/office/drawing/2014/main" id="{4331FDE2-A7BF-28AB-6322-DB1BC46329C6}"/>
              </a:ext>
            </a:extLst>
          </p:cNvPr>
          <p:cNvSpPr txBox="1"/>
          <p:nvPr/>
        </p:nvSpPr>
        <p:spPr>
          <a:xfrm>
            <a:off x="1420399" y="1994566"/>
            <a:ext cx="2964972" cy="461665"/>
          </a:xfrm>
          <a:prstGeom prst="rect">
            <a:avLst/>
          </a:prstGeom>
          <a:noFill/>
        </p:spPr>
        <p:txBody>
          <a:bodyPr wrap="square">
            <a:spAutoFit/>
          </a:bodyPr>
          <a:lstStyle/>
          <a:p>
            <a:r>
              <a:rPr kumimoji="1" lang="zh-CN" altLang="en-US" sz="2400" dirty="0">
                <a:latin typeface="微软雅黑" pitchFamily="34" charset="-122"/>
                <a:ea typeface="微软雅黑" pitchFamily="34" charset="-122"/>
                <a:cs typeface="经典粗黑简" pitchFamily="49" charset="-122"/>
              </a:rPr>
              <a:t>最小生成树的概念</a:t>
            </a:r>
          </a:p>
        </p:txBody>
      </p:sp>
      <p:grpSp>
        <p:nvGrpSpPr>
          <p:cNvPr id="6" name="组合 5">
            <a:extLst>
              <a:ext uri="{FF2B5EF4-FFF2-40B4-BE49-F238E27FC236}">
                <a16:creationId xmlns:a16="http://schemas.microsoft.com/office/drawing/2014/main" id="{997ED4C3-86F4-7C81-EAE7-DFC418901EEC}"/>
              </a:ext>
            </a:extLst>
          </p:cNvPr>
          <p:cNvGrpSpPr/>
          <p:nvPr/>
        </p:nvGrpSpPr>
        <p:grpSpPr>
          <a:xfrm>
            <a:off x="2783632" y="2636912"/>
            <a:ext cx="1500198" cy="2016125"/>
            <a:chOff x="571472" y="1484313"/>
            <a:chExt cx="1500198" cy="2016125"/>
          </a:xfrm>
        </p:grpSpPr>
        <p:sp>
          <p:nvSpPr>
            <p:cNvPr id="7" name="Oval 31">
              <a:extLst>
                <a:ext uri="{FF2B5EF4-FFF2-40B4-BE49-F238E27FC236}">
                  <a16:creationId xmlns:a16="http://schemas.microsoft.com/office/drawing/2014/main" id="{C7721005-4F02-0C0B-31BB-6B43960B43E7}"/>
                </a:ext>
              </a:extLst>
            </p:cNvPr>
            <p:cNvSpPr>
              <a:spLocks noChangeArrowheads="1"/>
            </p:cNvSpPr>
            <p:nvPr/>
          </p:nvSpPr>
          <p:spPr bwMode="auto">
            <a:xfrm>
              <a:off x="1147735" y="1484313"/>
              <a:ext cx="360363"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1800" dirty="0">
                  <a:solidFill>
                    <a:srgbClr val="0000FF"/>
                  </a:solidFill>
                  <a:latin typeface="Consolas" pitchFamily="49" charset="0"/>
                  <a:cs typeface="Consolas" pitchFamily="49" charset="0"/>
                </a:rPr>
                <a:t>0</a:t>
              </a:r>
            </a:p>
          </p:txBody>
        </p:sp>
        <p:sp>
          <p:nvSpPr>
            <p:cNvPr id="8" name="Oval 32">
              <a:extLst>
                <a:ext uri="{FF2B5EF4-FFF2-40B4-BE49-F238E27FC236}">
                  <a16:creationId xmlns:a16="http://schemas.microsoft.com/office/drawing/2014/main" id="{804AF834-0481-3979-CAF8-0C47DC377944}"/>
                </a:ext>
              </a:extLst>
            </p:cNvPr>
            <p:cNvSpPr>
              <a:spLocks noChangeArrowheads="1"/>
            </p:cNvSpPr>
            <p:nvPr/>
          </p:nvSpPr>
          <p:spPr bwMode="auto">
            <a:xfrm>
              <a:off x="1711307" y="2312997"/>
              <a:ext cx="360363"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1800">
                  <a:solidFill>
                    <a:srgbClr val="0000FF"/>
                  </a:solidFill>
                  <a:latin typeface="Consolas" pitchFamily="49" charset="0"/>
                  <a:cs typeface="Consolas" pitchFamily="49" charset="0"/>
                </a:rPr>
                <a:t>2</a:t>
              </a:r>
            </a:p>
          </p:txBody>
        </p:sp>
        <p:sp>
          <p:nvSpPr>
            <p:cNvPr id="9" name="Oval 33">
              <a:extLst>
                <a:ext uri="{FF2B5EF4-FFF2-40B4-BE49-F238E27FC236}">
                  <a16:creationId xmlns:a16="http://schemas.microsoft.com/office/drawing/2014/main" id="{B4942D13-D7CB-4975-5B3C-9E1CA61744C8}"/>
                </a:ext>
              </a:extLst>
            </p:cNvPr>
            <p:cNvSpPr>
              <a:spLocks noChangeArrowheads="1"/>
            </p:cNvSpPr>
            <p:nvPr/>
          </p:nvSpPr>
          <p:spPr bwMode="auto">
            <a:xfrm>
              <a:off x="571472" y="2312997"/>
              <a:ext cx="360363"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1800">
                  <a:solidFill>
                    <a:srgbClr val="0000FF"/>
                  </a:solidFill>
                  <a:latin typeface="Consolas" pitchFamily="49" charset="0"/>
                  <a:cs typeface="Consolas" pitchFamily="49" charset="0"/>
                </a:rPr>
                <a:t>1</a:t>
              </a:r>
            </a:p>
          </p:txBody>
        </p:sp>
        <p:sp>
          <p:nvSpPr>
            <p:cNvPr id="10" name="Oval 35">
              <a:extLst>
                <a:ext uri="{FF2B5EF4-FFF2-40B4-BE49-F238E27FC236}">
                  <a16:creationId xmlns:a16="http://schemas.microsoft.com/office/drawing/2014/main" id="{8CD85771-8568-F6B7-E04D-DFC639990BF7}"/>
                </a:ext>
              </a:extLst>
            </p:cNvPr>
            <p:cNvSpPr>
              <a:spLocks noChangeArrowheads="1"/>
            </p:cNvSpPr>
            <p:nvPr/>
          </p:nvSpPr>
          <p:spPr bwMode="auto">
            <a:xfrm>
              <a:off x="1142976" y="3068638"/>
              <a:ext cx="360363"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1800">
                  <a:solidFill>
                    <a:srgbClr val="0000FF"/>
                  </a:solidFill>
                  <a:latin typeface="Consolas" pitchFamily="49" charset="0"/>
                  <a:cs typeface="Consolas" pitchFamily="49" charset="0"/>
                </a:rPr>
                <a:t>3</a:t>
              </a:r>
            </a:p>
          </p:txBody>
        </p:sp>
        <p:sp>
          <p:nvSpPr>
            <p:cNvPr id="11" name="TextBox 17">
              <a:extLst>
                <a:ext uri="{FF2B5EF4-FFF2-40B4-BE49-F238E27FC236}">
                  <a16:creationId xmlns:a16="http://schemas.microsoft.com/office/drawing/2014/main" id="{930C18FC-52D8-3607-88AA-5E92EF2C4883}"/>
                </a:ext>
              </a:extLst>
            </p:cNvPr>
            <p:cNvSpPr txBox="1"/>
            <p:nvPr/>
          </p:nvSpPr>
          <p:spPr>
            <a:xfrm>
              <a:off x="785786" y="1804562"/>
              <a:ext cx="285752" cy="338554"/>
            </a:xfrm>
            <a:prstGeom prst="rect">
              <a:avLst/>
            </a:prstGeom>
            <a:noFill/>
          </p:spPr>
          <p:txBody>
            <a:bodyPr wrap="square" rtlCol="0">
              <a:spAutoFit/>
            </a:bodyPr>
            <a:lstStyle/>
            <a:p>
              <a:r>
                <a:rPr lang="en-US" altLang="zh-CN" sz="1600">
                  <a:solidFill>
                    <a:srgbClr val="00B0F0"/>
                  </a:solidFill>
                  <a:latin typeface="Consolas" pitchFamily="49" charset="0"/>
                  <a:ea typeface="华文中宋" pitchFamily="2" charset="-122"/>
                  <a:cs typeface="Consolas" pitchFamily="49" charset="0"/>
                </a:rPr>
                <a:t>1</a:t>
              </a:r>
              <a:endParaRPr lang="zh-CN" altLang="en-US" sz="1600">
                <a:solidFill>
                  <a:srgbClr val="00B0F0"/>
                </a:solidFill>
                <a:latin typeface="Consolas" pitchFamily="49" charset="0"/>
                <a:ea typeface="华文中宋" pitchFamily="2" charset="-122"/>
                <a:cs typeface="Consolas" pitchFamily="49" charset="0"/>
              </a:endParaRPr>
            </a:p>
          </p:txBody>
        </p:sp>
        <p:sp>
          <p:nvSpPr>
            <p:cNvPr id="12" name="TextBox 18">
              <a:extLst>
                <a:ext uri="{FF2B5EF4-FFF2-40B4-BE49-F238E27FC236}">
                  <a16:creationId xmlns:a16="http://schemas.microsoft.com/office/drawing/2014/main" id="{83DA82D5-DFA6-0EE1-D704-533F7531ED82}"/>
                </a:ext>
              </a:extLst>
            </p:cNvPr>
            <p:cNvSpPr txBox="1"/>
            <p:nvPr/>
          </p:nvSpPr>
          <p:spPr>
            <a:xfrm>
              <a:off x="785786" y="2857496"/>
              <a:ext cx="285752" cy="338554"/>
            </a:xfrm>
            <a:prstGeom prst="rect">
              <a:avLst/>
            </a:prstGeom>
            <a:noFill/>
          </p:spPr>
          <p:txBody>
            <a:bodyPr wrap="square" rtlCol="0">
              <a:spAutoFit/>
            </a:bodyPr>
            <a:lstStyle/>
            <a:p>
              <a:r>
                <a:rPr lang="en-US" altLang="zh-CN" sz="1600">
                  <a:solidFill>
                    <a:srgbClr val="00B0F0"/>
                  </a:solidFill>
                  <a:latin typeface="Consolas" pitchFamily="49" charset="0"/>
                  <a:ea typeface="华文中宋" pitchFamily="2" charset="-122"/>
                  <a:cs typeface="Consolas" pitchFamily="49" charset="0"/>
                </a:rPr>
                <a:t>1</a:t>
              </a:r>
              <a:endParaRPr lang="zh-CN" altLang="en-US" sz="1600">
                <a:solidFill>
                  <a:srgbClr val="00B0F0"/>
                </a:solidFill>
                <a:latin typeface="Consolas" pitchFamily="49" charset="0"/>
                <a:ea typeface="华文中宋" pitchFamily="2" charset="-122"/>
                <a:cs typeface="Consolas" pitchFamily="49" charset="0"/>
              </a:endParaRPr>
            </a:p>
          </p:txBody>
        </p:sp>
        <p:cxnSp>
          <p:nvCxnSpPr>
            <p:cNvPr id="13" name="直接连接符 12">
              <a:extLst>
                <a:ext uri="{FF2B5EF4-FFF2-40B4-BE49-F238E27FC236}">
                  <a16:creationId xmlns:a16="http://schemas.microsoft.com/office/drawing/2014/main" id="{B4FDE7D6-4FB4-3848-68D8-CAAD064B8F8B}"/>
                </a:ext>
              </a:extLst>
            </p:cNvPr>
            <p:cNvCxnSpPr>
              <a:stCxn id="7" idx="5"/>
              <a:endCxn id="8" idx="1"/>
            </p:cNvCxnSpPr>
            <p:nvPr/>
          </p:nvCxnSpPr>
          <p:spPr>
            <a:xfrm rot="16200000" flipH="1">
              <a:off x="1348024" y="1960176"/>
              <a:ext cx="523356" cy="308757"/>
            </a:xfrm>
            <a:prstGeom prst="line">
              <a:avLst/>
            </a:prstGeom>
            <a:ln>
              <a:tailEnd type="none"/>
            </a:ln>
          </p:spPr>
          <p:style>
            <a:lnRef idx="2">
              <a:schemeClr val="accent5"/>
            </a:lnRef>
            <a:fillRef idx="0">
              <a:schemeClr val="accent5"/>
            </a:fillRef>
            <a:effectRef idx="1">
              <a:schemeClr val="accent5"/>
            </a:effectRef>
            <a:fontRef idx="minor">
              <a:schemeClr val="tx1"/>
            </a:fontRef>
          </p:style>
        </p:cxnSp>
        <p:cxnSp>
          <p:nvCxnSpPr>
            <p:cNvPr id="14" name="直接连接符 13">
              <a:extLst>
                <a:ext uri="{FF2B5EF4-FFF2-40B4-BE49-F238E27FC236}">
                  <a16:creationId xmlns:a16="http://schemas.microsoft.com/office/drawing/2014/main" id="{527F2140-BE0A-487D-0CFD-D265C42A2486}"/>
                </a:ext>
              </a:extLst>
            </p:cNvPr>
            <p:cNvCxnSpPr>
              <a:stCxn id="9" idx="5"/>
              <a:endCxn id="10" idx="1"/>
            </p:cNvCxnSpPr>
            <p:nvPr/>
          </p:nvCxnSpPr>
          <p:spPr>
            <a:xfrm rot="16200000" flipH="1">
              <a:off x="812249" y="2748372"/>
              <a:ext cx="450313" cy="316689"/>
            </a:xfrm>
            <a:prstGeom prst="line">
              <a:avLst/>
            </a:prstGeom>
            <a:ln>
              <a:tailEnd type="none"/>
            </a:ln>
          </p:spPr>
          <p:style>
            <a:lnRef idx="2">
              <a:schemeClr val="accent5"/>
            </a:lnRef>
            <a:fillRef idx="0">
              <a:schemeClr val="accent5"/>
            </a:fillRef>
            <a:effectRef idx="1">
              <a:schemeClr val="accent5"/>
            </a:effectRef>
            <a:fontRef idx="minor">
              <a:schemeClr val="tx1"/>
            </a:fontRef>
          </p:style>
        </p:cxnSp>
        <p:cxnSp>
          <p:nvCxnSpPr>
            <p:cNvPr id="15" name="直接连接符 14">
              <a:extLst>
                <a:ext uri="{FF2B5EF4-FFF2-40B4-BE49-F238E27FC236}">
                  <a16:creationId xmlns:a16="http://schemas.microsoft.com/office/drawing/2014/main" id="{DAD01CEE-AFF0-85C3-375F-9C70D18FE794}"/>
                </a:ext>
              </a:extLst>
            </p:cNvPr>
            <p:cNvCxnSpPr>
              <a:stCxn id="9" idx="6"/>
              <a:endCxn id="8" idx="2"/>
            </p:cNvCxnSpPr>
            <p:nvPr/>
          </p:nvCxnSpPr>
          <p:spPr>
            <a:xfrm>
              <a:off x="931835" y="2528897"/>
              <a:ext cx="779472" cy="0"/>
            </a:xfrm>
            <a:prstGeom prst="line">
              <a:avLst/>
            </a:prstGeom>
            <a:ln>
              <a:tailEnd type="none"/>
            </a:ln>
          </p:spPr>
          <p:style>
            <a:lnRef idx="2">
              <a:schemeClr val="accent5"/>
            </a:lnRef>
            <a:fillRef idx="0">
              <a:schemeClr val="accent5"/>
            </a:fillRef>
            <a:effectRef idx="1">
              <a:schemeClr val="accent5"/>
            </a:effectRef>
            <a:fontRef idx="minor">
              <a:schemeClr val="tx1"/>
            </a:fontRef>
          </p:style>
        </p:cxnSp>
        <p:cxnSp>
          <p:nvCxnSpPr>
            <p:cNvPr id="16" name="直接连接符 15">
              <a:extLst>
                <a:ext uri="{FF2B5EF4-FFF2-40B4-BE49-F238E27FC236}">
                  <a16:creationId xmlns:a16="http://schemas.microsoft.com/office/drawing/2014/main" id="{62B40D21-3604-6FC2-403F-83AE8FA1681F}"/>
                </a:ext>
              </a:extLst>
            </p:cNvPr>
            <p:cNvCxnSpPr>
              <a:stCxn id="7" idx="3"/>
              <a:endCxn id="9" idx="7"/>
            </p:cNvCxnSpPr>
            <p:nvPr/>
          </p:nvCxnSpPr>
          <p:spPr>
            <a:xfrm rot="5400000">
              <a:off x="778107" y="1953831"/>
              <a:ext cx="523356" cy="321448"/>
            </a:xfrm>
            <a:prstGeom prst="line">
              <a:avLst/>
            </a:prstGeom>
            <a:ln>
              <a:tailEnd type="none"/>
            </a:ln>
          </p:spPr>
          <p:style>
            <a:lnRef idx="2">
              <a:schemeClr val="accent5"/>
            </a:lnRef>
            <a:fillRef idx="0">
              <a:schemeClr val="accent5"/>
            </a:fillRef>
            <a:effectRef idx="1">
              <a:schemeClr val="accent5"/>
            </a:effectRef>
            <a:fontRef idx="minor">
              <a:schemeClr val="tx1"/>
            </a:fontRef>
          </p:style>
        </p:cxnSp>
        <p:sp>
          <p:nvSpPr>
            <p:cNvPr id="17" name="TextBox 29">
              <a:extLst>
                <a:ext uri="{FF2B5EF4-FFF2-40B4-BE49-F238E27FC236}">
                  <a16:creationId xmlns:a16="http://schemas.microsoft.com/office/drawing/2014/main" id="{ECE2C940-115B-63B9-AB31-512813A71F13}"/>
                </a:ext>
              </a:extLst>
            </p:cNvPr>
            <p:cNvSpPr txBox="1"/>
            <p:nvPr/>
          </p:nvSpPr>
          <p:spPr>
            <a:xfrm>
              <a:off x="1204582" y="2172612"/>
              <a:ext cx="285752" cy="338554"/>
            </a:xfrm>
            <a:prstGeom prst="rect">
              <a:avLst/>
            </a:prstGeom>
            <a:noFill/>
          </p:spPr>
          <p:txBody>
            <a:bodyPr wrap="square" rtlCol="0">
              <a:spAutoFit/>
            </a:bodyPr>
            <a:lstStyle/>
            <a:p>
              <a:r>
                <a:rPr lang="en-US" altLang="zh-CN" sz="1600">
                  <a:solidFill>
                    <a:srgbClr val="00B0F0"/>
                  </a:solidFill>
                  <a:latin typeface="Consolas" pitchFamily="49" charset="0"/>
                  <a:ea typeface="华文中宋" pitchFamily="2" charset="-122"/>
                  <a:cs typeface="Consolas" pitchFamily="49" charset="0"/>
                </a:rPr>
                <a:t>1</a:t>
              </a:r>
              <a:endParaRPr lang="zh-CN" altLang="en-US" sz="1600">
                <a:solidFill>
                  <a:srgbClr val="00B0F0"/>
                </a:solidFill>
                <a:latin typeface="Consolas" pitchFamily="49" charset="0"/>
                <a:ea typeface="华文中宋" pitchFamily="2" charset="-122"/>
                <a:cs typeface="Consolas" pitchFamily="49" charset="0"/>
              </a:endParaRPr>
            </a:p>
          </p:txBody>
        </p:sp>
        <p:cxnSp>
          <p:nvCxnSpPr>
            <p:cNvPr id="18" name="直接连接符 17">
              <a:extLst>
                <a:ext uri="{FF2B5EF4-FFF2-40B4-BE49-F238E27FC236}">
                  <a16:creationId xmlns:a16="http://schemas.microsoft.com/office/drawing/2014/main" id="{859EEBAD-B475-5234-21C3-286FC5CD9EEF}"/>
                </a:ext>
              </a:extLst>
            </p:cNvPr>
            <p:cNvCxnSpPr>
              <a:stCxn id="8" idx="3"/>
              <a:endCxn id="10" idx="7"/>
            </p:cNvCxnSpPr>
            <p:nvPr/>
          </p:nvCxnSpPr>
          <p:spPr>
            <a:xfrm rot="5400000">
              <a:off x="1382167" y="2749959"/>
              <a:ext cx="450313" cy="313516"/>
            </a:xfrm>
            <a:prstGeom prst="line">
              <a:avLst/>
            </a:prstGeom>
            <a:ln>
              <a:tailEnd type="none"/>
            </a:ln>
          </p:spPr>
          <p:style>
            <a:lnRef idx="2">
              <a:schemeClr val="accent5"/>
            </a:lnRef>
            <a:fillRef idx="0">
              <a:schemeClr val="accent5"/>
            </a:fillRef>
            <a:effectRef idx="1">
              <a:schemeClr val="accent5"/>
            </a:effectRef>
            <a:fontRef idx="minor">
              <a:schemeClr val="tx1"/>
            </a:fontRef>
          </p:style>
        </p:cxnSp>
        <p:sp>
          <p:nvSpPr>
            <p:cNvPr id="19" name="TextBox 32">
              <a:extLst>
                <a:ext uri="{FF2B5EF4-FFF2-40B4-BE49-F238E27FC236}">
                  <a16:creationId xmlns:a16="http://schemas.microsoft.com/office/drawing/2014/main" id="{E3C092E5-B84F-9B89-832B-553BF67D78DD}"/>
                </a:ext>
              </a:extLst>
            </p:cNvPr>
            <p:cNvSpPr txBox="1"/>
            <p:nvPr/>
          </p:nvSpPr>
          <p:spPr>
            <a:xfrm>
              <a:off x="1643042" y="1867196"/>
              <a:ext cx="285752" cy="338554"/>
            </a:xfrm>
            <a:prstGeom prst="rect">
              <a:avLst/>
            </a:prstGeom>
            <a:noFill/>
          </p:spPr>
          <p:txBody>
            <a:bodyPr wrap="square" rtlCol="0">
              <a:spAutoFit/>
            </a:bodyPr>
            <a:lstStyle/>
            <a:p>
              <a:r>
                <a:rPr lang="en-US" altLang="zh-CN" sz="1600">
                  <a:solidFill>
                    <a:srgbClr val="00B0F0"/>
                  </a:solidFill>
                  <a:latin typeface="Consolas" pitchFamily="49" charset="0"/>
                  <a:ea typeface="华文中宋" pitchFamily="2" charset="-122"/>
                  <a:cs typeface="Consolas" pitchFamily="49" charset="0"/>
                </a:rPr>
                <a:t>1</a:t>
              </a:r>
              <a:endParaRPr lang="zh-CN" altLang="en-US" sz="1600">
                <a:solidFill>
                  <a:srgbClr val="00B0F0"/>
                </a:solidFill>
                <a:latin typeface="Consolas" pitchFamily="49" charset="0"/>
                <a:ea typeface="华文中宋" pitchFamily="2" charset="-122"/>
                <a:cs typeface="Consolas" pitchFamily="49" charset="0"/>
              </a:endParaRPr>
            </a:p>
          </p:txBody>
        </p:sp>
        <p:sp>
          <p:nvSpPr>
            <p:cNvPr id="20" name="TextBox 33">
              <a:extLst>
                <a:ext uri="{FF2B5EF4-FFF2-40B4-BE49-F238E27FC236}">
                  <a16:creationId xmlns:a16="http://schemas.microsoft.com/office/drawing/2014/main" id="{3663880B-95B8-76F3-6D06-A74121B8BF4C}"/>
                </a:ext>
              </a:extLst>
            </p:cNvPr>
            <p:cNvSpPr txBox="1"/>
            <p:nvPr/>
          </p:nvSpPr>
          <p:spPr>
            <a:xfrm>
              <a:off x="1571604" y="2876132"/>
              <a:ext cx="285752" cy="338554"/>
            </a:xfrm>
            <a:prstGeom prst="rect">
              <a:avLst/>
            </a:prstGeom>
            <a:noFill/>
          </p:spPr>
          <p:txBody>
            <a:bodyPr wrap="square" rtlCol="0">
              <a:spAutoFit/>
            </a:bodyPr>
            <a:lstStyle/>
            <a:p>
              <a:r>
                <a:rPr lang="en-US" altLang="zh-CN" sz="1600">
                  <a:solidFill>
                    <a:srgbClr val="00B0F0"/>
                  </a:solidFill>
                  <a:latin typeface="Consolas" pitchFamily="49" charset="0"/>
                  <a:ea typeface="华文中宋" pitchFamily="2" charset="-122"/>
                  <a:cs typeface="Consolas" pitchFamily="49" charset="0"/>
                </a:rPr>
                <a:t>3</a:t>
              </a:r>
              <a:endParaRPr lang="zh-CN" altLang="en-US" sz="1600">
                <a:solidFill>
                  <a:srgbClr val="00B0F0"/>
                </a:solidFill>
                <a:latin typeface="Consolas" pitchFamily="49" charset="0"/>
                <a:ea typeface="华文中宋" pitchFamily="2" charset="-122"/>
                <a:cs typeface="Consolas" pitchFamily="49" charset="0"/>
              </a:endParaRPr>
            </a:p>
          </p:txBody>
        </p:sp>
      </p:grpSp>
      <p:grpSp>
        <p:nvGrpSpPr>
          <p:cNvPr id="21" name="组合 20">
            <a:extLst>
              <a:ext uri="{FF2B5EF4-FFF2-40B4-BE49-F238E27FC236}">
                <a16:creationId xmlns:a16="http://schemas.microsoft.com/office/drawing/2014/main" id="{802248E3-F3A9-4047-52C5-4D78FEA08186}"/>
              </a:ext>
            </a:extLst>
          </p:cNvPr>
          <p:cNvGrpSpPr/>
          <p:nvPr/>
        </p:nvGrpSpPr>
        <p:grpSpPr>
          <a:xfrm>
            <a:off x="5355400" y="1509765"/>
            <a:ext cx="1500198" cy="2016125"/>
            <a:chOff x="3143240" y="357166"/>
            <a:chExt cx="1500198" cy="2016125"/>
          </a:xfrm>
        </p:grpSpPr>
        <p:sp>
          <p:nvSpPr>
            <p:cNvPr id="22" name="Oval 31">
              <a:extLst>
                <a:ext uri="{FF2B5EF4-FFF2-40B4-BE49-F238E27FC236}">
                  <a16:creationId xmlns:a16="http://schemas.microsoft.com/office/drawing/2014/main" id="{65B52765-4B54-6220-D99E-9071B2C4EB67}"/>
                </a:ext>
              </a:extLst>
            </p:cNvPr>
            <p:cNvSpPr>
              <a:spLocks noChangeArrowheads="1"/>
            </p:cNvSpPr>
            <p:nvPr/>
          </p:nvSpPr>
          <p:spPr bwMode="auto">
            <a:xfrm>
              <a:off x="3719503" y="357166"/>
              <a:ext cx="360363"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1800" dirty="0">
                  <a:solidFill>
                    <a:srgbClr val="0000FF"/>
                  </a:solidFill>
                  <a:latin typeface="Consolas" pitchFamily="49" charset="0"/>
                  <a:cs typeface="Consolas" pitchFamily="49" charset="0"/>
                </a:rPr>
                <a:t>0</a:t>
              </a:r>
            </a:p>
          </p:txBody>
        </p:sp>
        <p:sp>
          <p:nvSpPr>
            <p:cNvPr id="23" name="Oval 32">
              <a:extLst>
                <a:ext uri="{FF2B5EF4-FFF2-40B4-BE49-F238E27FC236}">
                  <a16:creationId xmlns:a16="http://schemas.microsoft.com/office/drawing/2014/main" id="{827AF1AF-DE63-D9C6-CC12-E47A83CF232B}"/>
                </a:ext>
              </a:extLst>
            </p:cNvPr>
            <p:cNvSpPr>
              <a:spLocks noChangeArrowheads="1"/>
            </p:cNvSpPr>
            <p:nvPr/>
          </p:nvSpPr>
          <p:spPr bwMode="auto">
            <a:xfrm>
              <a:off x="4283075" y="1185850"/>
              <a:ext cx="360363"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1800">
                  <a:solidFill>
                    <a:srgbClr val="0000FF"/>
                  </a:solidFill>
                  <a:latin typeface="Consolas" pitchFamily="49" charset="0"/>
                  <a:cs typeface="Consolas" pitchFamily="49" charset="0"/>
                </a:rPr>
                <a:t>2</a:t>
              </a:r>
            </a:p>
          </p:txBody>
        </p:sp>
        <p:sp>
          <p:nvSpPr>
            <p:cNvPr id="24" name="Oval 33">
              <a:extLst>
                <a:ext uri="{FF2B5EF4-FFF2-40B4-BE49-F238E27FC236}">
                  <a16:creationId xmlns:a16="http://schemas.microsoft.com/office/drawing/2014/main" id="{D25BDD35-1F72-3C74-E404-FC53C502AD7A}"/>
                </a:ext>
              </a:extLst>
            </p:cNvPr>
            <p:cNvSpPr>
              <a:spLocks noChangeArrowheads="1"/>
            </p:cNvSpPr>
            <p:nvPr/>
          </p:nvSpPr>
          <p:spPr bwMode="auto">
            <a:xfrm>
              <a:off x="3143240" y="1185850"/>
              <a:ext cx="360363"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1800">
                  <a:solidFill>
                    <a:srgbClr val="0000FF"/>
                  </a:solidFill>
                  <a:latin typeface="Consolas" pitchFamily="49" charset="0"/>
                  <a:cs typeface="Consolas" pitchFamily="49" charset="0"/>
                </a:rPr>
                <a:t>1</a:t>
              </a:r>
            </a:p>
          </p:txBody>
        </p:sp>
        <p:sp>
          <p:nvSpPr>
            <p:cNvPr id="25" name="Oval 35">
              <a:extLst>
                <a:ext uri="{FF2B5EF4-FFF2-40B4-BE49-F238E27FC236}">
                  <a16:creationId xmlns:a16="http://schemas.microsoft.com/office/drawing/2014/main" id="{9DACD606-D1A0-93B4-30C4-088D517EEC43}"/>
                </a:ext>
              </a:extLst>
            </p:cNvPr>
            <p:cNvSpPr>
              <a:spLocks noChangeArrowheads="1"/>
            </p:cNvSpPr>
            <p:nvPr/>
          </p:nvSpPr>
          <p:spPr bwMode="auto">
            <a:xfrm>
              <a:off x="3714744" y="1941491"/>
              <a:ext cx="360363"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1800">
                  <a:solidFill>
                    <a:srgbClr val="0000FF"/>
                  </a:solidFill>
                  <a:latin typeface="Consolas" pitchFamily="49" charset="0"/>
                  <a:cs typeface="Consolas" pitchFamily="49" charset="0"/>
                </a:rPr>
                <a:t>3</a:t>
              </a:r>
            </a:p>
          </p:txBody>
        </p:sp>
        <p:sp>
          <p:nvSpPr>
            <p:cNvPr id="26" name="TextBox 38">
              <a:extLst>
                <a:ext uri="{FF2B5EF4-FFF2-40B4-BE49-F238E27FC236}">
                  <a16:creationId xmlns:a16="http://schemas.microsoft.com/office/drawing/2014/main" id="{2AA0873C-291B-EB76-3C0C-A2974C1914C0}"/>
                </a:ext>
              </a:extLst>
            </p:cNvPr>
            <p:cNvSpPr txBox="1"/>
            <p:nvPr/>
          </p:nvSpPr>
          <p:spPr>
            <a:xfrm>
              <a:off x="3357554" y="677415"/>
              <a:ext cx="285752" cy="338554"/>
            </a:xfrm>
            <a:prstGeom prst="rect">
              <a:avLst/>
            </a:prstGeom>
            <a:noFill/>
          </p:spPr>
          <p:txBody>
            <a:bodyPr wrap="square" rtlCol="0">
              <a:spAutoFit/>
            </a:bodyPr>
            <a:lstStyle/>
            <a:p>
              <a:r>
                <a:rPr lang="en-US" altLang="zh-CN" sz="1600">
                  <a:solidFill>
                    <a:srgbClr val="00B0F0"/>
                  </a:solidFill>
                  <a:latin typeface="Consolas" pitchFamily="49" charset="0"/>
                  <a:ea typeface="华文中宋" pitchFamily="2" charset="-122"/>
                  <a:cs typeface="Consolas" pitchFamily="49" charset="0"/>
                </a:rPr>
                <a:t>1</a:t>
              </a:r>
              <a:endParaRPr lang="zh-CN" altLang="en-US" sz="1600">
                <a:solidFill>
                  <a:srgbClr val="00B0F0"/>
                </a:solidFill>
                <a:latin typeface="Consolas" pitchFamily="49" charset="0"/>
                <a:ea typeface="华文中宋" pitchFamily="2" charset="-122"/>
                <a:cs typeface="Consolas" pitchFamily="49" charset="0"/>
              </a:endParaRPr>
            </a:p>
          </p:txBody>
        </p:sp>
        <p:sp>
          <p:nvSpPr>
            <p:cNvPr id="27" name="TextBox 39">
              <a:extLst>
                <a:ext uri="{FF2B5EF4-FFF2-40B4-BE49-F238E27FC236}">
                  <a16:creationId xmlns:a16="http://schemas.microsoft.com/office/drawing/2014/main" id="{FE03F431-1CFE-520E-B162-B49A14E01596}"/>
                </a:ext>
              </a:extLst>
            </p:cNvPr>
            <p:cNvSpPr txBox="1"/>
            <p:nvPr/>
          </p:nvSpPr>
          <p:spPr>
            <a:xfrm>
              <a:off x="3357554" y="1730349"/>
              <a:ext cx="285752" cy="338554"/>
            </a:xfrm>
            <a:prstGeom prst="rect">
              <a:avLst/>
            </a:prstGeom>
            <a:noFill/>
          </p:spPr>
          <p:txBody>
            <a:bodyPr wrap="square" rtlCol="0">
              <a:spAutoFit/>
            </a:bodyPr>
            <a:lstStyle/>
            <a:p>
              <a:r>
                <a:rPr lang="en-US" altLang="zh-CN" sz="1600">
                  <a:solidFill>
                    <a:srgbClr val="00B0F0"/>
                  </a:solidFill>
                  <a:latin typeface="Consolas" pitchFamily="49" charset="0"/>
                  <a:ea typeface="华文中宋" pitchFamily="2" charset="-122"/>
                  <a:cs typeface="Consolas" pitchFamily="49" charset="0"/>
                </a:rPr>
                <a:t>1</a:t>
              </a:r>
              <a:endParaRPr lang="zh-CN" altLang="en-US" sz="1600">
                <a:solidFill>
                  <a:srgbClr val="00B0F0"/>
                </a:solidFill>
                <a:latin typeface="Consolas" pitchFamily="49" charset="0"/>
                <a:ea typeface="华文中宋" pitchFamily="2" charset="-122"/>
                <a:cs typeface="Consolas" pitchFamily="49" charset="0"/>
              </a:endParaRPr>
            </a:p>
          </p:txBody>
        </p:sp>
        <p:cxnSp>
          <p:nvCxnSpPr>
            <p:cNvPr id="28" name="直接连接符 27">
              <a:extLst>
                <a:ext uri="{FF2B5EF4-FFF2-40B4-BE49-F238E27FC236}">
                  <a16:creationId xmlns:a16="http://schemas.microsoft.com/office/drawing/2014/main" id="{F8E35D4A-0114-C538-AEFD-7ACD23D812FA}"/>
                </a:ext>
              </a:extLst>
            </p:cNvPr>
            <p:cNvCxnSpPr>
              <a:stCxn id="22" idx="5"/>
              <a:endCxn id="23" idx="1"/>
            </p:cNvCxnSpPr>
            <p:nvPr/>
          </p:nvCxnSpPr>
          <p:spPr>
            <a:xfrm rot="16200000" flipH="1">
              <a:off x="3919792" y="833029"/>
              <a:ext cx="523356" cy="308757"/>
            </a:xfrm>
            <a:prstGeom prst="line">
              <a:avLst/>
            </a:prstGeom>
            <a:ln>
              <a:tailEnd type="none"/>
            </a:ln>
          </p:spPr>
          <p:style>
            <a:lnRef idx="2">
              <a:schemeClr val="accent5"/>
            </a:lnRef>
            <a:fillRef idx="0">
              <a:schemeClr val="accent5"/>
            </a:fillRef>
            <a:effectRef idx="1">
              <a:schemeClr val="accent5"/>
            </a:effectRef>
            <a:fontRef idx="minor">
              <a:schemeClr val="tx1"/>
            </a:fontRef>
          </p:style>
        </p:cxnSp>
        <p:cxnSp>
          <p:nvCxnSpPr>
            <p:cNvPr id="29" name="直接连接符 28">
              <a:extLst>
                <a:ext uri="{FF2B5EF4-FFF2-40B4-BE49-F238E27FC236}">
                  <a16:creationId xmlns:a16="http://schemas.microsoft.com/office/drawing/2014/main" id="{577A3796-E649-6BD0-16E8-249E39701373}"/>
                </a:ext>
              </a:extLst>
            </p:cNvPr>
            <p:cNvCxnSpPr>
              <a:stCxn id="24" idx="5"/>
              <a:endCxn id="25" idx="1"/>
            </p:cNvCxnSpPr>
            <p:nvPr/>
          </p:nvCxnSpPr>
          <p:spPr>
            <a:xfrm rot="16200000" flipH="1">
              <a:off x="3384017" y="1621225"/>
              <a:ext cx="450313" cy="316689"/>
            </a:xfrm>
            <a:prstGeom prst="line">
              <a:avLst/>
            </a:prstGeom>
            <a:ln>
              <a:tailEnd type="none"/>
            </a:ln>
          </p:spPr>
          <p:style>
            <a:lnRef idx="2">
              <a:schemeClr val="accent5"/>
            </a:lnRef>
            <a:fillRef idx="0">
              <a:schemeClr val="accent5"/>
            </a:fillRef>
            <a:effectRef idx="1">
              <a:schemeClr val="accent5"/>
            </a:effectRef>
            <a:fontRef idx="minor">
              <a:schemeClr val="tx1"/>
            </a:fontRef>
          </p:style>
        </p:cxnSp>
        <p:cxnSp>
          <p:nvCxnSpPr>
            <p:cNvPr id="30" name="直接连接符 29">
              <a:extLst>
                <a:ext uri="{FF2B5EF4-FFF2-40B4-BE49-F238E27FC236}">
                  <a16:creationId xmlns:a16="http://schemas.microsoft.com/office/drawing/2014/main" id="{9364A8F9-576C-CD0C-8D5B-5E96EA362BF3}"/>
                </a:ext>
              </a:extLst>
            </p:cNvPr>
            <p:cNvCxnSpPr>
              <a:stCxn id="22" idx="3"/>
              <a:endCxn id="24" idx="7"/>
            </p:cNvCxnSpPr>
            <p:nvPr/>
          </p:nvCxnSpPr>
          <p:spPr>
            <a:xfrm rot="5400000">
              <a:off x="3349875" y="826684"/>
              <a:ext cx="523356" cy="321448"/>
            </a:xfrm>
            <a:prstGeom prst="line">
              <a:avLst/>
            </a:prstGeom>
            <a:ln>
              <a:tailEnd type="none"/>
            </a:ln>
          </p:spPr>
          <p:style>
            <a:lnRef idx="2">
              <a:schemeClr val="accent5"/>
            </a:lnRef>
            <a:fillRef idx="0">
              <a:schemeClr val="accent5"/>
            </a:fillRef>
            <a:effectRef idx="1">
              <a:schemeClr val="accent5"/>
            </a:effectRef>
            <a:fontRef idx="minor">
              <a:schemeClr val="tx1"/>
            </a:fontRef>
          </p:style>
        </p:cxnSp>
        <p:sp>
          <p:nvSpPr>
            <p:cNvPr id="31" name="TextBox 46">
              <a:extLst>
                <a:ext uri="{FF2B5EF4-FFF2-40B4-BE49-F238E27FC236}">
                  <a16:creationId xmlns:a16="http://schemas.microsoft.com/office/drawing/2014/main" id="{34EBE929-DFBD-E743-1F31-E6A8FAA9C8C7}"/>
                </a:ext>
              </a:extLst>
            </p:cNvPr>
            <p:cNvSpPr txBox="1"/>
            <p:nvPr/>
          </p:nvSpPr>
          <p:spPr>
            <a:xfrm>
              <a:off x="4214810" y="740049"/>
              <a:ext cx="285752" cy="338554"/>
            </a:xfrm>
            <a:prstGeom prst="rect">
              <a:avLst/>
            </a:prstGeom>
            <a:noFill/>
          </p:spPr>
          <p:txBody>
            <a:bodyPr wrap="square" rtlCol="0">
              <a:spAutoFit/>
            </a:bodyPr>
            <a:lstStyle/>
            <a:p>
              <a:r>
                <a:rPr lang="en-US" altLang="zh-CN" sz="1600">
                  <a:solidFill>
                    <a:srgbClr val="00B0F0"/>
                  </a:solidFill>
                  <a:latin typeface="Consolas" pitchFamily="49" charset="0"/>
                  <a:ea typeface="华文中宋" pitchFamily="2" charset="-122"/>
                  <a:cs typeface="Consolas" pitchFamily="49" charset="0"/>
                </a:rPr>
                <a:t>1</a:t>
              </a:r>
              <a:endParaRPr lang="zh-CN" altLang="en-US" sz="1600">
                <a:solidFill>
                  <a:srgbClr val="00B0F0"/>
                </a:solidFill>
                <a:latin typeface="Consolas" pitchFamily="49" charset="0"/>
                <a:ea typeface="华文中宋" pitchFamily="2" charset="-122"/>
                <a:cs typeface="Consolas" pitchFamily="49" charset="0"/>
              </a:endParaRPr>
            </a:p>
          </p:txBody>
        </p:sp>
      </p:grpSp>
      <p:grpSp>
        <p:nvGrpSpPr>
          <p:cNvPr id="32" name="组合 31">
            <a:extLst>
              <a:ext uri="{FF2B5EF4-FFF2-40B4-BE49-F238E27FC236}">
                <a16:creationId xmlns:a16="http://schemas.microsoft.com/office/drawing/2014/main" id="{183D17C2-3336-D668-776C-162C6E4ED803}"/>
              </a:ext>
            </a:extLst>
          </p:cNvPr>
          <p:cNvGrpSpPr/>
          <p:nvPr/>
        </p:nvGrpSpPr>
        <p:grpSpPr>
          <a:xfrm>
            <a:off x="5426838" y="3922796"/>
            <a:ext cx="1500198" cy="2016125"/>
            <a:chOff x="3214678" y="2770197"/>
            <a:chExt cx="1500198" cy="2016125"/>
          </a:xfrm>
        </p:grpSpPr>
        <p:sp>
          <p:nvSpPr>
            <p:cNvPr id="33" name="Oval 31">
              <a:extLst>
                <a:ext uri="{FF2B5EF4-FFF2-40B4-BE49-F238E27FC236}">
                  <a16:creationId xmlns:a16="http://schemas.microsoft.com/office/drawing/2014/main" id="{B87044E6-51E7-7763-87CE-A6C2569818EE}"/>
                </a:ext>
              </a:extLst>
            </p:cNvPr>
            <p:cNvSpPr>
              <a:spLocks noChangeArrowheads="1"/>
            </p:cNvSpPr>
            <p:nvPr/>
          </p:nvSpPr>
          <p:spPr bwMode="auto">
            <a:xfrm>
              <a:off x="3790941" y="2770197"/>
              <a:ext cx="360363"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1800" dirty="0">
                  <a:solidFill>
                    <a:srgbClr val="0000FF"/>
                  </a:solidFill>
                  <a:latin typeface="Consolas" pitchFamily="49" charset="0"/>
                  <a:cs typeface="Consolas" pitchFamily="49" charset="0"/>
                </a:rPr>
                <a:t>0</a:t>
              </a:r>
            </a:p>
          </p:txBody>
        </p:sp>
        <p:sp>
          <p:nvSpPr>
            <p:cNvPr id="34" name="Oval 32">
              <a:extLst>
                <a:ext uri="{FF2B5EF4-FFF2-40B4-BE49-F238E27FC236}">
                  <a16:creationId xmlns:a16="http://schemas.microsoft.com/office/drawing/2014/main" id="{78019784-A6A1-A7F7-C00A-201E8FBB6852}"/>
                </a:ext>
              </a:extLst>
            </p:cNvPr>
            <p:cNvSpPr>
              <a:spLocks noChangeArrowheads="1"/>
            </p:cNvSpPr>
            <p:nvPr/>
          </p:nvSpPr>
          <p:spPr bwMode="auto">
            <a:xfrm>
              <a:off x="4354513" y="3598881"/>
              <a:ext cx="360363"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1800">
                  <a:solidFill>
                    <a:srgbClr val="0000FF"/>
                  </a:solidFill>
                  <a:latin typeface="Consolas" pitchFamily="49" charset="0"/>
                  <a:cs typeface="Consolas" pitchFamily="49" charset="0"/>
                </a:rPr>
                <a:t>2</a:t>
              </a:r>
            </a:p>
          </p:txBody>
        </p:sp>
        <p:sp>
          <p:nvSpPr>
            <p:cNvPr id="35" name="Oval 33">
              <a:extLst>
                <a:ext uri="{FF2B5EF4-FFF2-40B4-BE49-F238E27FC236}">
                  <a16:creationId xmlns:a16="http://schemas.microsoft.com/office/drawing/2014/main" id="{922C7FB7-214D-15D9-B847-DDCDCC7D2F50}"/>
                </a:ext>
              </a:extLst>
            </p:cNvPr>
            <p:cNvSpPr>
              <a:spLocks noChangeArrowheads="1"/>
            </p:cNvSpPr>
            <p:nvPr/>
          </p:nvSpPr>
          <p:spPr bwMode="auto">
            <a:xfrm>
              <a:off x="3214678" y="3598881"/>
              <a:ext cx="360363"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1800">
                  <a:solidFill>
                    <a:srgbClr val="0000FF"/>
                  </a:solidFill>
                  <a:latin typeface="Consolas" pitchFamily="49" charset="0"/>
                  <a:cs typeface="Consolas" pitchFamily="49" charset="0"/>
                </a:rPr>
                <a:t>1</a:t>
              </a:r>
            </a:p>
          </p:txBody>
        </p:sp>
        <p:sp>
          <p:nvSpPr>
            <p:cNvPr id="36" name="Oval 35">
              <a:extLst>
                <a:ext uri="{FF2B5EF4-FFF2-40B4-BE49-F238E27FC236}">
                  <a16:creationId xmlns:a16="http://schemas.microsoft.com/office/drawing/2014/main" id="{23E1EBE9-CE3F-02CE-35A0-D99918065F6F}"/>
                </a:ext>
              </a:extLst>
            </p:cNvPr>
            <p:cNvSpPr>
              <a:spLocks noChangeArrowheads="1"/>
            </p:cNvSpPr>
            <p:nvPr/>
          </p:nvSpPr>
          <p:spPr bwMode="auto">
            <a:xfrm>
              <a:off x="3786182" y="4354522"/>
              <a:ext cx="360363"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1800">
                  <a:solidFill>
                    <a:srgbClr val="0000FF"/>
                  </a:solidFill>
                  <a:latin typeface="Consolas" pitchFamily="49" charset="0"/>
                  <a:cs typeface="Consolas" pitchFamily="49" charset="0"/>
                </a:rPr>
                <a:t>3</a:t>
              </a:r>
            </a:p>
          </p:txBody>
        </p:sp>
        <p:sp>
          <p:nvSpPr>
            <p:cNvPr id="37" name="TextBox 52">
              <a:extLst>
                <a:ext uri="{FF2B5EF4-FFF2-40B4-BE49-F238E27FC236}">
                  <a16:creationId xmlns:a16="http://schemas.microsoft.com/office/drawing/2014/main" id="{861CBCF4-40FD-BF0F-5A4B-40CC8EF8B9DC}"/>
                </a:ext>
              </a:extLst>
            </p:cNvPr>
            <p:cNvSpPr txBox="1"/>
            <p:nvPr/>
          </p:nvSpPr>
          <p:spPr>
            <a:xfrm>
              <a:off x="3428992" y="3090446"/>
              <a:ext cx="285752" cy="338554"/>
            </a:xfrm>
            <a:prstGeom prst="rect">
              <a:avLst/>
            </a:prstGeom>
            <a:noFill/>
          </p:spPr>
          <p:txBody>
            <a:bodyPr wrap="square" rtlCol="0">
              <a:spAutoFit/>
            </a:bodyPr>
            <a:lstStyle/>
            <a:p>
              <a:r>
                <a:rPr lang="en-US" altLang="zh-CN" sz="1600">
                  <a:solidFill>
                    <a:srgbClr val="00B0F0"/>
                  </a:solidFill>
                  <a:latin typeface="Consolas" pitchFamily="49" charset="0"/>
                  <a:ea typeface="华文中宋" pitchFamily="2" charset="-122"/>
                  <a:cs typeface="Consolas" pitchFamily="49" charset="0"/>
                </a:rPr>
                <a:t>1</a:t>
              </a:r>
              <a:endParaRPr lang="zh-CN" altLang="en-US" sz="1600">
                <a:solidFill>
                  <a:srgbClr val="00B0F0"/>
                </a:solidFill>
                <a:latin typeface="Consolas" pitchFamily="49" charset="0"/>
                <a:ea typeface="华文中宋" pitchFamily="2" charset="-122"/>
                <a:cs typeface="Consolas" pitchFamily="49" charset="0"/>
              </a:endParaRPr>
            </a:p>
          </p:txBody>
        </p:sp>
        <p:sp>
          <p:nvSpPr>
            <p:cNvPr id="38" name="TextBox 53">
              <a:extLst>
                <a:ext uri="{FF2B5EF4-FFF2-40B4-BE49-F238E27FC236}">
                  <a16:creationId xmlns:a16="http://schemas.microsoft.com/office/drawing/2014/main" id="{30DDFA9C-8163-05E0-E637-0F43EF7DDDA1}"/>
                </a:ext>
              </a:extLst>
            </p:cNvPr>
            <p:cNvSpPr txBox="1"/>
            <p:nvPr/>
          </p:nvSpPr>
          <p:spPr>
            <a:xfrm>
              <a:off x="3428992" y="4143380"/>
              <a:ext cx="285752" cy="338554"/>
            </a:xfrm>
            <a:prstGeom prst="rect">
              <a:avLst/>
            </a:prstGeom>
            <a:noFill/>
          </p:spPr>
          <p:txBody>
            <a:bodyPr wrap="square" rtlCol="0">
              <a:spAutoFit/>
            </a:bodyPr>
            <a:lstStyle/>
            <a:p>
              <a:r>
                <a:rPr lang="en-US" altLang="zh-CN" sz="1600">
                  <a:solidFill>
                    <a:srgbClr val="00B0F0"/>
                  </a:solidFill>
                  <a:latin typeface="Consolas" pitchFamily="49" charset="0"/>
                  <a:ea typeface="华文中宋" pitchFamily="2" charset="-122"/>
                  <a:cs typeface="Consolas" pitchFamily="49" charset="0"/>
                </a:rPr>
                <a:t>1</a:t>
              </a:r>
              <a:endParaRPr lang="zh-CN" altLang="en-US" sz="1600">
                <a:solidFill>
                  <a:srgbClr val="00B0F0"/>
                </a:solidFill>
                <a:latin typeface="Consolas" pitchFamily="49" charset="0"/>
                <a:ea typeface="华文中宋" pitchFamily="2" charset="-122"/>
                <a:cs typeface="Consolas" pitchFamily="49" charset="0"/>
              </a:endParaRPr>
            </a:p>
          </p:txBody>
        </p:sp>
        <p:cxnSp>
          <p:nvCxnSpPr>
            <p:cNvPr id="39" name="直接连接符 38">
              <a:extLst>
                <a:ext uri="{FF2B5EF4-FFF2-40B4-BE49-F238E27FC236}">
                  <a16:creationId xmlns:a16="http://schemas.microsoft.com/office/drawing/2014/main" id="{2D09300D-795D-0743-4DA1-6890984FEE0A}"/>
                </a:ext>
              </a:extLst>
            </p:cNvPr>
            <p:cNvCxnSpPr>
              <a:stCxn id="35" idx="5"/>
              <a:endCxn id="36" idx="1"/>
            </p:cNvCxnSpPr>
            <p:nvPr/>
          </p:nvCxnSpPr>
          <p:spPr>
            <a:xfrm rot="16200000" flipH="1">
              <a:off x="3455455" y="4034256"/>
              <a:ext cx="450313" cy="316689"/>
            </a:xfrm>
            <a:prstGeom prst="line">
              <a:avLst/>
            </a:prstGeom>
            <a:ln>
              <a:tailEnd type="none"/>
            </a:ln>
          </p:spPr>
          <p:style>
            <a:lnRef idx="2">
              <a:schemeClr val="accent5"/>
            </a:lnRef>
            <a:fillRef idx="0">
              <a:schemeClr val="accent5"/>
            </a:fillRef>
            <a:effectRef idx="1">
              <a:schemeClr val="accent5"/>
            </a:effectRef>
            <a:fontRef idx="minor">
              <a:schemeClr val="tx1"/>
            </a:fontRef>
          </p:style>
        </p:cxnSp>
        <p:cxnSp>
          <p:nvCxnSpPr>
            <p:cNvPr id="40" name="直接连接符 39">
              <a:extLst>
                <a:ext uri="{FF2B5EF4-FFF2-40B4-BE49-F238E27FC236}">
                  <a16:creationId xmlns:a16="http://schemas.microsoft.com/office/drawing/2014/main" id="{7C2BA8FC-4181-F015-7492-D57AA5524609}"/>
                </a:ext>
              </a:extLst>
            </p:cNvPr>
            <p:cNvCxnSpPr>
              <a:stCxn id="35" idx="6"/>
              <a:endCxn id="34" idx="2"/>
            </p:cNvCxnSpPr>
            <p:nvPr/>
          </p:nvCxnSpPr>
          <p:spPr>
            <a:xfrm>
              <a:off x="3575041" y="3814781"/>
              <a:ext cx="779472" cy="0"/>
            </a:xfrm>
            <a:prstGeom prst="line">
              <a:avLst/>
            </a:prstGeom>
            <a:ln>
              <a:tailEnd type="none"/>
            </a:ln>
          </p:spPr>
          <p:style>
            <a:lnRef idx="2">
              <a:schemeClr val="accent5"/>
            </a:lnRef>
            <a:fillRef idx="0">
              <a:schemeClr val="accent5"/>
            </a:fillRef>
            <a:effectRef idx="1">
              <a:schemeClr val="accent5"/>
            </a:effectRef>
            <a:fontRef idx="minor">
              <a:schemeClr val="tx1"/>
            </a:fontRef>
          </p:style>
        </p:cxnSp>
        <p:cxnSp>
          <p:nvCxnSpPr>
            <p:cNvPr id="41" name="直接连接符 40">
              <a:extLst>
                <a:ext uri="{FF2B5EF4-FFF2-40B4-BE49-F238E27FC236}">
                  <a16:creationId xmlns:a16="http://schemas.microsoft.com/office/drawing/2014/main" id="{53AFC426-D73E-6C61-5B33-5A2CEA6AF4F9}"/>
                </a:ext>
              </a:extLst>
            </p:cNvPr>
            <p:cNvCxnSpPr>
              <a:stCxn id="33" idx="3"/>
              <a:endCxn id="35" idx="7"/>
            </p:cNvCxnSpPr>
            <p:nvPr/>
          </p:nvCxnSpPr>
          <p:spPr>
            <a:xfrm rot="5400000">
              <a:off x="3421313" y="3239715"/>
              <a:ext cx="523356" cy="321448"/>
            </a:xfrm>
            <a:prstGeom prst="line">
              <a:avLst/>
            </a:prstGeom>
            <a:ln>
              <a:tailEnd type="none"/>
            </a:ln>
          </p:spPr>
          <p:style>
            <a:lnRef idx="2">
              <a:schemeClr val="accent5"/>
            </a:lnRef>
            <a:fillRef idx="0">
              <a:schemeClr val="accent5"/>
            </a:fillRef>
            <a:effectRef idx="1">
              <a:schemeClr val="accent5"/>
            </a:effectRef>
            <a:fontRef idx="minor">
              <a:schemeClr val="tx1"/>
            </a:fontRef>
          </p:style>
        </p:cxnSp>
        <p:sp>
          <p:nvSpPr>
            <p:cNvPr id="42" name="TextBox 58">
              <a:extLst>
                <a:ext uri="{FF2B5EF4-FFF2-40B4-BE49-F238E27FC236}">
                  <a16:creationId xmlns:a16="http://schemas.microsoft.com/office/drawing/2014/main" id="{19B409B6-26CF-D164-E232-BEFFC10AD937}"/>
                </a:ext>
              </a:extLst>
            </p:cNvPr>
            <p:cNvSpPr txBox="1"/>
            <p:nvPr/>
          </p:nvSpPr>
          <p:spPr>
            <a:xfrm>
              <a:off x="3847788" y="3458496"/>
              <a:ext cx="285752" cy="338554"/>
            </a:xfrm>
            <a:prstGeom prst="rect">
              <a:avLst/>
            </a:prstGeom>
            <a:noFill/>
          </p:spPr>
          <p:txBody>
            <a:bodyPr wrap="square" rtlCol="0">
              <a:spAutoFit/>
            </a:bodyPr>
            <a:lstStyle/>
            <a:p>
              <a:r>
                <a:rPr lang="en-US" altLang="zh-CN" sz="1600">
                  <a:solidFill>
                    <a:srgbClr val="00B0F0"/>
                  </a:solidFill>
                  <a:latin typeface="Consolas" pitchFamily="49" charset="0"/>
                  <a:ea typeface="华文中宋" pitchFamily="2" charset="-122"/>
                  <a:cs typeface="Consolas" pitchFamily="49" charset="0"/>
                </a:rPr>
                <a:t>1</a:t>
              </a:r>
              <a:endParaRPr lang="zh-CN" altLang="en-US" sz="1600">
                <a:solidFill>
                  <a:srgbClr val="00B0F0"/>
                </a:solidFill>
                <a:latin typeface="Consolas" pitchFamily="49" charset="0"/>
                <a:ea typeface="华文中宋" pitchFamily="2" charset="-122"/>
                <a:cs typeface="Consolas" pitchFamily="49" charset="0"/>
              </a:endParaRPr>
            </a:p>
          </p:txBody>
        </p:sp>
      </p:grpSp>
      <p:grpSp>
        <p:nvGrpSpPr>
          <p:cNvPr id="44" name="组合 43">
            <a:extLst>
              <a:ext uri="{FF2B5EF4-FFF2-40B4-BE49-F238E27FC236}">
                <a16:creationId xmlns:a16="http://schemas.microsoft.com/office/drawing/2014/main" id="{B0E8BF15-4AA7-8FDB-7AD8-F2713F47E157}"/>
              </a:ext>
            </a:extLst>
          </p:cNvPr>
          <p:cNvGrpSpPr/>
          <p:nvPr/>
        </p:nvGrpSpPr>
        <p:grpSpPr>
          <a:xfrm>
            <a:off x="8355796" y="2708350"/>
            <a:ext cx="1500198" cy="2016125"/>
            <a:chOff x="5929322" y="1555751"/>
            <a:chExt cx="1500198" cy="2016125"/>
          </a:xfrm>
        </p:grpSpPr>
        <p:sp>
          <p:nvSpPr>
            <p:cNvPr id="45" name="Oval 31">
              <a:extLst>
                <a:ext uri="{FF2B5EF4-FFF2-40B4-BE49-F238E27FC236}">
                  <a16:creationId xmlns:a16="http://schemas.microsoft.com/office/drawing/2014/main" id="{14B69919-A87E-A120-1860-942A851E8CF3}"/>
                </a:ext>
              </a:extLst>
            </p:cNvPr>
            <p:cNvSpPr>
              <a:spLocks noChangeArrowheads="1"/>
            </p:cNvSpPr>
            <p:nvPr/>
          </p:nvSpPr>
          <p:spPr bwMode="auto">
            <a:xfrm>
              <a:off x="6505585" y="1555751"/>
              <a:ext cx="360363"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1800" dirty="0">
                  <a:solidFill>
                    <a:srgbClr val="0000FF"/>
                  </a:solidFill>
                  <a:latin typeface="Consolas" pitchFamily="49" charset="0"/>
                  <a:cs typeface="Consolas" pitchFamily="49" charset="0"/>
                </a:rPr>
                <a:t>0</a:t>
              </a:r>
            </a:p>
          </p:txBody>
        </p:sp>
        <p:sp>
          <p:nvSpPr>
            <p:cNvPr id="46" name="Oval 32">
              <a:extLst>
                <a:ext uri="{FF2B5EF4-FFF2-40B4-BE49-F238E27FC236}">
                  <a16:creationId xmlns:a16="http://schemas.microsoft.com/office/drawing/2014/main" id="{A707DA8F-8CA5-0C0A-915B-4254BFD54057}"/>
                </a:ext>
              </a:extLst>
            </p:cNvPr>
            <p:cNvSpPr>
              <a:spLocks noChangeArrowheads="1"/>
            </p:cNvSpPr>
            <p:nvPr/>
          </p:nvSpPr>
          <p:spPr bwMode="auto">
            <a:xfrm>
              <a:off x="7069157" y="2384435"/>
              <a:ext cx="360363"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1800">
                  <a:solidFill>
                    <a:srgbClr val="0000FF"/>
                  </a:solidFill>
                  <a:latin typeface="Consolas" pitchFamily="49" charset="0"/>
                  <a:cs typeface="Consolas" pitchFamily="49" charset="0"/>
                </a:rPr>
                <a:t>2</a:t>
              </a:r>
            </a:p>
          </p:txBody>
        </p:sp>
        <p:sp>
          <p:nvSpPr>
            <p:cNvPr id="47" name="Oval 33">
              <a:extLst>
                <a:ext uri="{FF2B5EF4-FFF2-40B4-BE49-F238E27FC236}">
                  <a16:creationId xmlns:a16="http://schemas.microsoft.com/office/drawing/2014/main" id="{ED669D8A-86A9-FDD2-1601-2FC7A6716019}"/>
                </a:ext>
              </a:extLst>
            </p:cNvPr>
            <p:cNvSpPr>
              <a:spLocks noChangeArrowheads="1"/>
            </p:cNvSpPr>
            <p:nvPr/>
          </p:nvSpPr>
          <p:spPr bwMode="auto">
            <a:xfrm>
              <a:off x="5929322" y="2384435"/>
              <a:ext cx="360363"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1800">
                  <a:solidFill>
                    <a:srgbClr val="0000FF"/>
                  </a:solidFill>
                  <a:latin typeface="Consolas" pitchFamily="49" charset="0"/>
                  <a:cs typeface="Consolas" pitchFamily="49" charset="0"/>
                </a:rPr>
                <a:t>1</a:t>
              </a:r>
            </a:p>
          </p:txBody>
        </p:sp>
        <p:sp>
          <p:nvSpPr>
            <p:cNvPr id="48" name="Oval 35">
              <a:extLst>
                <a:ext uri="{FF2B5EF4-FFF2-40B4-BE49-F238E27FC236}">
                  <a16:creationId xmlns:a16="http://schemas.microsoft.com/office/drawing/2014/main" id="{07F41881-A725-36A2-E409-4550773A3225}"/>
                </a:ext>
              </a:extLst>
            </p:cNvPr>
            <p:cNvSpPr>
              <a:spLocks noChangeArrowheads="1"/>
            </p:cNvSpPr>
            <p:nvPr/>
          </p:nvSpPr>
          <p:spPr bwMode="auto">
            <a:xfrm>
              <a:off x="6500826" y="3140076"/>
              <a:ext cx="360363"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1800">
                  <a:solidFill>
                    <a:srgbClr val="0000FF"/>
                  </a:solidFill>
                  <a:latin typeface="Consolas" pitchFamily="49" charset="0"/>
                  <a:cs typeface="Consolas" pitchFamily="49" charset="0"/>
                </a:rPr>
                <a:t>3</a:t>
              </a:r>
            </a:p>
          </p:txBody>
        </p:sp>
        <p:sp>
          <p:nvSpPr>
            <p:cNvPr id="49" name="TextBox 66">
              <a:extLst>
                <a:ext uri="{FF2B5EF4-FFF2-40B4-BE49-F238E27FC236}">
                  <a16:creationId xmlns:a16="http://schemas.microsoft.com/office/drawing/2014/main" id="{589A99AD-47FE-D03A-88D5-1F67369E3960}"/>
                </a:ext>
              </a:extLst>
            </p:cNvPr>
            <p:cNvSpPr txBox="1"/>
            <p:nvPr/>
          </p:nvSpPr>
          <p:spPr>
            <a:xfrm>
              <a:off x="6143636" y="1876000"/>
              <a:ext cx="285752" cy="338554"/>
            </a:xfrm>
            <a:prstGeom prst="rect">
              <a:avLst/>
            </a:prstGeom>
            <a:noFill/>
          </p:spPr>
          <p:txBody>
            <a:bodyPr wrap="square" rtlCol="0">
              <a:spAutoFit/>
            </a:bodyPr>
            <a:lstStyle/>
            <a:p>
              <a:r>
                <a:rPr lang="en-US" altLang="zh-CN" sz="1600">
                  <a:solidFill>
                    <a:srgbClr val="00B0F0"/>
                  </a:solidFill>
                  <a:latin typeface="Consolas" pitchFamily="49" charset="0"/>
                  <a:ea typeface="华文中宋" pitchFamily="2" charset="-122"/>
                  <a:cs typeface="Consolas" pitchFamily="49" charset="0"/>
                </a:rPr>
                <a:t>1</a:t>
              </a:r>
              <a:endParaRPr lang="zh-CN" altLang="en-US" sz="1600">
                <a:solidFill>
                  <a:srgbClr val="00B0F0"/>
                </a:solidFill>
                <a:latin typeface="Consolas" pitchFamily="49" charset="0"/>
                <a:ea typeface="华文中宋" pitchFamily="2" charset="-122"/>
                <a:cs typeface="Consolas" pitchFamily="49" charset="0"/>
              </a:endParaRPr>
            </a:p>
          </p:txBody>
        </p:sp>
        <p:cxnSp>
          <p:nvCxnSpPr>
            <p:cNvPr id="50" name="直接连接符 49">
              <a:extLst>
                <a:ext uri="{FF2B5EF4-FFF2-40B4-BE49-F238E27FC236}">
                  <a16:creationId xmlns:a16="http://schemas.microsoft.com/office/drawing/2014/main" id="{F2C324B0-233C-668D-750C-E99CF11095CD}"/>
                </a:ext>
              </a:extLst>
            </p:cNvPr>
            <p:cNvCxnSpPr>
              <a:stCxn id="45" idx="5"/>
              <a:endCxn id="46" idx="1"/>
            </p:cNvCxnSpPr>
            <p:nvPr/>
          </p:nvCxnSpPr>
          <p:spPr>
            <a:xfrm rot="16200000" flipH="1">
              <a:off x="6705874" y="2031614"/>
              <a:ext cx="523356" cy="308757"/>
            </a:xfrm>
            <a:prstGeom prst="line">
              <a:avLst/>
            </a:prstGeom>
            <a:ln>
              <a:tailEnd type="none"/>
            </a:ln>
          </p:spPr>
          <p:style>
            <a:lnRef idx="2">
              <a:schemeClr val="accent5"/>
            </a:lnRef>
            <a:fillRef idx="0">
              <a:schemeClr val="accent5"/>
            </a:fillRef>
            <a:effectRef idx="1">
              <a:schemeClr val="accent5"/>
            </a:effectRef>
            <a:fontRef idx="minor">
              <a:schemeClr val="tx1"/>
            </a:fontRef>
          </p:style>
        </p:cxnSp>
        <p:cxnSp>
          <p:nvCxnSpPr>
            <p:cNvPr id="51" name="直接连接符 50">
              <a:extLst>
                <a:ext uri="{FF2B5EF4-FFF2-40B4-BE49-F238E27FC236}">
                  <a16:creationId xmlns:a16="http://schemas.microsoft.com/office/drawing/2014/main" id="{31F54A0B-DC88-A554-7BAD-FBDE0676C51D}"/>
                </a:ext>
              </a:extLst>
            </p:cNvPr>
            <p:cNvCxnSpPr>
              <a:stCxn id="45" idx="3"/>
              <a:endCxn id="47" idx="7"/>
            </p:cNvCxnSpPr>
            <p:nvPr/>
          </p:nvCxnSpPr>
          <p:spPr>
            <a:xfrm rot="5400000">
              <a:off x="6135957" y="2025269"/>
              <a:ext cx="523356" cy="321448"/>
            </a:xfrm>
            <a:prstGeom prst="line">
              <a:avLst/>
            </a:prstGeom>
            <a:ln>
              <a:tailEnd type="none"/>
            </a:ln>
          </p:spPr>
          <p:style>
            <a:lnRef idx="2">
              <a:schemeClr val="accent5"/>
            </a:lnRef>
            <a:fillRef idx="0">
              <a:schemeClr val="accent5"/>
            </a:fillRef>
            <a:effectRef idx="1">
              <a:schemeClr val="accent5"/>
            </a:effectRef>
            <a:fontRef idx="minor">
              <a:schemeClr val="tx1"/>
            </a:fontRef>
          </p:style>
        </p:cxnSp>
        <p:cxnSp>
          <p:nvCxnSpPr>
            <p:cNvPr id="52" name="直接连接符 51">
              <a:extLst>
                <a:ext uri="{FF2B5EF4-FFF2-40B4-BE49-F238E27FC236}">
                  <a16:creationId xmlns:a16="http://schemas.microsoft.com/office/drawing/2014/main" id="{7E4FAE2E-E042-309B-785E-1ACB02E9EC7D}"/>
                </a:ext>
              </a:extLst>
            </p:cNvPr>
            <p:cNvCxnSpPr>
              <a:stCxn id="46" idx="3"/>
              <a:endCxn id="48" idx="7"/>
            </p:cNvCxnSpPr>
            <p:nvPr/>
          </p:nvCxnSpPr>
          <p:spPr>
            <a:xfrm rot="5400000">
              <a:off x="6740017" y="2821397"/>
              <a:ext cx="450313" cy="313516"/>
            </a:xfrm>
            <a:prstGeom prst="line">
              <a:avLst/>
            </a:prstGeom>
            <a:ln>
              <a:tailEnd type="none"/>
            </a:ln>
          </p:spPr>
          <p:style>
            <a:lnRef idx="2">
              <a:schemeClr val="accent5"/>
            </a:lnRef>
            <a:fillRef idx="0">
              <a:schemeClr val="accent5"/>
            </a:fillRef>
            <a:effectRef idx="1">
              <a:schemeClr val="accent5"/>
            </a:effectRef>
            <a:fontRef idx="minor">
              <a:schemeClr val="tx1"/>
            </a:fontRef>
          </p:style>
        </p:cxnSp>
        <p:sp>
          <p:nvSpPr>
            <p:cNvPr id="53" name="TextBox 74">
              <a:extLst>
                <a:ext uri="{FF2B5EF4-FFF2-40B4-BE49-F238E27FC236}">
                  <a16:creationId xmlns:a16="http://schemas.microsoft.com/office/drawing/2014/main" id="{CF868DAA-6208-D334-0652-F2F36BA57036}"/>
                </a:ext>
              </a:extLst>
            </p:cNvPr>
            <p:cNvSpPr txBox="1"/>
            <p:nvPr/>
          </p:nvSpPr>
          <p:spPr>
            <a:xfrm>
              <a:off x="7000892" y="1938634"/>
              <a:ext cx="285752" cy="338554"/>
            </a:xfrm>
            <a:prstGeom prst="rect">
              <a:avLst/>
            </a:prstGeom>
            <a:noFill/>
          </p:spPr>
          <p:txBody>
            <a:bodyPr wrap="square" rtlCol="0">
              <a:spAutoFit/>
            </a:bodyPr>
            <a:lstStyle/>
            <a:p>
              <a:r>
                <a:rPr lang="en-US" altLang="zh-CN" sz="1600">
                  <a:solidFill>
                    <a:srgbClr val="00B0F0"/>
                  </a:solidFill>
                  <a:latin typeface="Consolas" pitchFamily="49" charset="0"/>
                  <a:ea typeface="华文中宋" pitchFamily="2" charset="-122"/>
                  <a:cs typeface="Consolas" pitchFamily="49" charset="0"/>
                </a:rPr>
                <a:t>1</a:t>
              </a:r>
              <a:endParaRPr lang="zh-CN" altLang="en-US" sz="1600">
                <a:solidFill>
                  <a:srgbClr val="00B0F0"/>
                </a:solidFill>
                <a:latin typeface="Consolas" pitchFamily="49" charset="0"/>
                <a:ea typeface="华文中宋" pitchFamily="2" charset="-122"/>
                <a:cs typeface="Consolas" pitchFamily="49" charset="0"/>
              </a:endParaRPr>
            </a:p>
          </p:txBody>
        </p:sp>
        <p:sp>
          <p:nvSpPr>
            <p:cNvPr id="54" name="TextBox 75">
              <a:extLst>
                <a:ext uri="{FF2B5EF4-FFF2-40B4-BE49-F238E27FC236}">
                  <a16:creationId xmlns:a16="http://schemas.microsoft.com/office/drawing/2014/main" id="{714310A5-39DD-32E9-6770-A4CB7F8A53B1}"/>
                </a:ext>
              </a:extLst>
            </p:cNvPr>
            <p:cNvSpPr txBox="1"/>
            <p:nvPr/>
          </p:nvSpPr>
          <p:spPr>
            <a:xfrm>
              <a:off x="6929454" y="2947570"/>
              <a:ext cx="285752" cy="338554"/>
            </a:xfrm>
            <a:prstGeom prst="rect">
              <a:avLst/>
            </a:prstGeom>
            <a:noFill/>
          </p:spPr>
          <p:txBody>
            <a:bodyPr wrap="square" rtlCol="0">
              <a:spAutoFit/>
            </a:bodyPr>
            <a:lstStyle/>
            <a:p>
              <a:r>
                <a:rPr lang="en-US" altLang="zh-CN" sz="1600">
                  <a:solidFill>
                    <a:srgbClr val="00B0F0"/>
                  </a:solidFill>
                  <a:latin typeface="Consolas" pitchFamily="49" charset="0"/>
                  <a:ea typeface="华文中宋" pitchFamily="2" charset="-122"/>
                  <a:cs typeface="Consolas" pitchFamily="49" charset="0"/>
                </a:rPr>
                <a:t>3</a:t>
              </a:r>
              <a:endParaRPr lang="zh-CN" altLang="en-US" sz="1600">
                <a:solidFill>
                  <a:srgbClr val="00B0F0"/>
                </a:solidFill>
                <a:latin typeface="Consolas" pitchFamily="49" charset="0"/>
                <a:ea typeface="华文中宋" pitchFamily="2" charset="-122"/>
                <a:cs typeface="Consolas" pitchFamily="49" charset="0"/>
              </a:endParaRPr>
            </a:p>
          </p:txBody>
        </p:sp>
      </p:grpSp>
      <p:sp>
        <p:nvSpPr>
          <p:cNvPr id="55" name="TextBox 80">
            <a:extLst>
              <a:ext uri="{FF2B5EF4-FFF2-40B4-BE49-F238E27FC236}">
                <a16:creationId xmlns:a16="http://schemas.microsoft.com/office/drawing/2014/main" id="{5CB13C68-F722-A28A-DC34-D176BC4D89ED}"/>
              </a:ext>
            </a:extLst>
          </p:cNvPr>
          <p:cNvSpPr txBox="1"/>
          <p:nvPr/>
        </p:nvSpPr>
        <p:spPr>
          <a:xfrm>
            <a:off x="3140822" y="4938789"/>
            <a:ext cx="785818" cy="369332"/>
          </a:xfrm>
          <a:prstGeom prst="rect">
            <a:avLst/>
          </a:prstGeom>
          <a:noFill/>
        </p:spPr>
        <p:txBody>
          <a:bodyPr wrap="square" rtlCol="0">
            <a:spAutoFit/>
          </a:bodyPr>
          <a:lstStyle/>
          <a:p>
            <a:r>
              <a:rPr lang="zh-CN" altLang="en-US" sz="1800">
                <a:latin typeface="Consolas" pitchFamily="49" charset="0"/>
                <a:ea typeface="仿宋" pitchFamily="49" charset="-122"/>
                <a:cs typeface="Consolas" pitchFamily="49" charset="0"/>
              </a:rPr>
              <a:t>图</a:t>
            </a:r>
            <a:r>
              <a:rPr lang="en-US" altLang="zh-CN" sz="1800">
                <a:latin typeface="Consolas" pitchFamily="49" charset="0"/>
                <a:ea typeface="仿宋" pitchFamily="49" charset="-122"/>
                <a:cs typeface="Consolas" pitchFamily="49" charset="0"/>
              </a:rPr>
              <a:t>G</a:t>
            </a:r>
            <a:endParaRPr lang="zh-CN" altLang="en-US" sz="1800">
              <a:latin typeface="Consolas" pitchFamily="49" charset="0"/>
              <a:ea typeface="仿宋" pitchFamily="49" charset="-122"/>
              <a:cs typeface="Consolas" pitchFamily="49" charset="0"/>
            </a:endParaRPr>
          </a:p>
        </p:txBody>
      </p:sp>
      <p:sp>
        <p:nvSpPr>
          <p:cNvPr id="56" name="TextBox 81">
            <a:extLst>
              <a:ext uri="{FF2B5EF4-FFF2-40B4-BE49-F238E27FC236}">
                <a16:creationId xmlns:a16="http://schemas.microsoft.com/office/drawing/2014/main" id="{4523DE1D-6130-6217-4895-7FC3B766282D}"/>
              </a:ext>
            </a:extLst>
          </p:cNvPr>
          <p:cNvSpPr txBox="1"/>
          <p:nvPr/>
        </p:nvSpPr>
        <p:spPr>
          <a:xfrm>
            <a:off x="4926772" y="6258797"/>
            <a:ext cx="3000396" cy="400110"/>
          </a:xfrm>
          <a:prstGeom prst="rect">
            <a:avLst/>
          </a:prstGeom>
          <a:noFill/>
        </p:spPr>
        <p:txBody>
          <a:bodyPr wrap="square" rtlCol="0">
            <a:spAutoFit/>
          </a:bodyPr>
          <a:lstStyle/>
          <a:p>
            <a:pPr algn="l"/>
            <a:r>
              <a:rPr lang="zh-CN" altLang="en-US" sz="2000" dirty="0">
                <a:latin typeface="Consolas" pitchFamily="49" charset="0"/>
                <a:ea typeface="仿宋" pitchFamily="49" charset="-122"/>
                <a:cs typeface="Consolas" pitchFamily="49" charset="0"/>
              </a:rPr>
              <a:t>都是图</a:t>
            </a:r>
            <a:r>
              <a:rPr lang="en-US" altLang="zh-CN" sz="2000" dirty="0">
                <a:latin typeface="Consolas" pitchFamily="49" charset="0"/>
                <a:ea typeface="仿宋" pitchFamily="49" charset="-122"/>
                <a:cs typeface="Consolas" pitchFamily="49" charset="0"/>
              </a:rPr>
              <a:t>G</a:t>
            </a:r>
            <a:r>
              <a:rPr lang="zh-CN" altLang="en-US" sz="2000" dirty="0">
                <a:latin typeface="Consolas" pitchFamily="49" charset="0"/>
                <a:ea typeface="仿宋" pitchFamily="49" charset="-122"/>
                <a:cs typeface="Consolas" pitchFamily="49" charset="0"/>
              </a:rPr>
              <a:t>的</a:t>
            </a:r>
            <a:r>
              <a:rPr lang="zh-CN" altLang="en-US" sz="2000" dirty="0">
                <a:solidFill>
                  <a:srgbClr val="FF0000"/>
                </a:solidFill>
                <a:latin typeface="方正启体简体" pitchFamily="65" charset="-122"/>
                <a:ea typeface="方正启体简体" pitchFamily="65" charset="-122"/>
                <a:cs typeface="Consolas" pitchFamily="49" charset="0"/>
              </a:rPr>
              <a:t>最小生成树</a:t>
            </a:r>
          </a:p>
        </p:txBody>
      </p:sp>
      <p:sp>
        <p:nvSpPr>
          <p:cNvPr id="57" name="TextBox 82">
            <a:extLst>
              <a:ext uri="{FF2B5EF4-FFF2-40B4-BE49-F238E27FC236}">
                <a16:creationId xmlns:a16="http://schemas.microsoft.com/office/drawing/2014/main" id="{0D61B06C-7763-B245-6943-6FA64B977C41}"/>
              </a:ext>
            </a:extLst>
          </p:cNvPr>
          <p:cNvSpPr txBox="1"/>
          <p:nvPr/>
        </p:nvSpPr>
        <p:spPr>
          <a:xfrm>
            <a:off x="8070044" y="5295979"/>
            <a:ext cx="2643206" cy="400110"/>
          </a:xfrm>
          <a:prstGeom prst="rect">
            <a:avLst/>
          </a:prstGeom>
          <a:noFill/>
        </p:spPr>
        <p:txBody>
          <a:bodyPr wrap="square" rtlCol="0">
            <a:spAutoFit/>
          </a:bodyPr>
          <a:lstStyle/>
          <a:p>
            <a:pPr algn="l"/>
            <a:r>
              <a:rPr lang="zh-CN" altLang="en-US" sz="2000">
                <a:latin typeface="Consolas" pitchFamily="49" charset="0"/>
                <a:ea typeface="仿宋" pitchFamily="49" charset="-122"/>
                <a:cs typeface="Consolas" pitchFamily="49" charset="0"/>
              </a:rPr>
              <a:t>不是图</a:t>
            </a:r>
            <a:r>
              <a:rPr lang="en-US" altLang="zh-CN" sz="2000">
                <a:latin typeface="Consolas" pitchFamily="49" charset="0"/>
                <a:ea typeface="仿宋" pitchFamily="49" charset="-122"/>
                <a:cs typeface="Consolas" pitchFamily="49" charset="0"/>
              </a:rPr>
              <a:t>G</a:t>
            </a:r>
            <a:r>
              <a:rPr lang="zh-CN" altLang="en-US" sz="2000">
                <a:latin typeface="Consolas" pitchFamily="49" charset="0"/>
                <a:ea typeface="仿宋" pitchFamily="49" charset="-122"/>
                <a:cs typeface="Consolas" pitchFamily="49" charset="0"/>
              </a:rPr>
              <a:t>的最小生成树</a:t>
            </a:r>
          </a:p>
        </p:txBody>
      </p:sp>
      <p:sp>
        <p:nvSpPr>
          <p:cNvPr id="58" name="矩形 57">
            <a:extLst>
              <a:ext uri="{FF2B5EF4-FFF2-40B4-BE49-F238E27FC236}">
                <a16:creationId xmlns:a16="http://schemas.microsoft.com/office/drawing/2014/main" id="{4AE0EC5B-5E0A-B7EB-5AAD-9714C140C813}"/>
              </a:ext>
            </a:extLst>
          </p:cNvPr>
          <p:cNvSpPr/>
          <p:nvPr/>
        </p:nvSpPr>
        <p:spPr>
          <a:xfrm>
            <a:off x="3394075" y="399838"/>
            <a:ext cx="4617860"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8.4 </a:t>
            </a:r>
            <a:r>
              <a:rPr lang="zh-CN" altLang="en-US" sz="3000" b="1" dirty="0">
                <a:latin typeface="黑体" pitchFamily="49" charset="-122"/>
                <a:ea typeface="黑体" pitchFamily="49" charset="-122"/>
                <a:cs typeface="经典粗黑简" pitchFamily="49" charset="-122"/>
              </a:rPr>
              <a:t>生成树和最小生成树</a:t>
            </a:r>
          </a:p>
        </p:txBody>
      </p:sp>
    </p:spTree>
    <p:extLst>
      <p:ext uri="{BB962C8B-B14F-4D97-AF65-F5344CB8AC3E}">
        <p14:creationId xmlns:p14="http://schemas.microsoft.com/office/powerpoint/2010/main" val="36302829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 grpId="0"/>
      <p:bldP spid="57"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45B2C2-FCEB-1C6A-5F45-EE4A2B447F6A}"/>
            </a:ext>
          </a:extLst>
        </p:cNvPr>
        <p:cNvGrpSpPr/>
        <p:nvPr/>
      </p:nvGrpSpPr>
      <p:grpSpPr>
        <a:xfrm>
          <a:off x="0" y="0"/>
          <a:ext cx="0" cy="0"/>
          <a:chOff x="0" y="0"/>
          <a:chExt cx="0" cy="0"/>
        </a:xfrm>
      </p:grpSpPr>
      <p:sp>
        <p:nvSpPr>
          <p:cNvPr id="2" name="Rectangle 2">
            <a:extLst>
              <a:ext uri="{FF2B5EF4-FFF2-40B4-BE49-F238E27FC236}">
                <a16:creationId xmlns:a16="http://schemas.microsoft.com/office/drawing/2014/main" id="{6AE5FC16-FF44-6F94-AFE3-B3B3BEAD4199}"/>
              </a:ext>
            </a:extLst>
          </p:cNvPr>
          <p:cNvSpPr txBox="1">
            <a:spLocks noChangeArrowheads="1"/>
          </p:cNvSpPr>
          <p:nvPr/>
        </p:nvSpPr>
        <p:spPr>
          <a:xfrm>
            <a:off x="474772" y="1230902"/>
            <a:ext cx="4469100"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8.4.2 </a:t>
            </a:r>
            <a:r>
              <a:rPr kumimoji="1" lang="zh-CN" altLang="en-US" dirty="0">
                <a:latin typeface="微软雅黑" pitchFamily="34" charset="-122"/>
                <a:ea typeface="微软雅黑" pitchFamily="34" charset="-122"/>
              </a:rPr>
              <a:t>非连通图和生成树</a:t>
            </a:r>
          </a:p>
        </p:txBody>
      </p:sp>
      <p:cxnSp>
        <p:nvCxnSpPr>
          <p:cNvPr id="4" name="直接连接符 3">
            <a:extLst>
              <a:ext uri="{FF2B5EF4-FFF2-40B4-BE49-F238E27FC236}">
                <a16:creationId xmlns:a16="http://schemas.microsoft.com/office/drawing/2014/main" id="{5FE1547A-C049-9585-09F9-86C9603C6B9E}"/>
              </a:ext>
            </a:extLst>
          </p:cNvPr>
          <p:cNvCxnSpPr>
            <a:cxnSpLocks/>
          </p:cNvCxnSpPr>
          <p:nvPr/>
        </p:nvCxnSpPr>
        <p:spPr>
          <a:xfrm>
            <a:off x="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5" name="Text Box 2">
            <a:extLst>
              <a:ext uri="{FF2B5EF4-FFF2-40B4-BE49-F238E27FC236}">
                <a16:creationId xmlns:a16="http://schemas.microsoft.com/office/drawing/2014/main" id="{3295C91B-7E92-05B3-CAB8-EA0155D3E4B4}"/>
              </a:ext>
            </a:extLst>
          </p:cNvPr>
          <p:cNvSpPr txBox="1">
            <a:spLocks noChangeArrowheads="1"/>
          </p:cNvSpPr>
          <p:nvPr/>
        </p:nvSpPr>
        <p:spPr bwMode="auto">
          <a:xfrm>
            <a:off x="2063552" y="2199084"/>
            <a:ext cx="8358246" cy="827021"/>
          </a:xfrm>
          <a:prstGeom prst="rect">
            <a:avLst/>
          </a:prstGeom>
          <a:noFill/>
          <a:ln w="9525">
            <a:noFill/>
            <a:miter lim="800000"/>
            <a:headEnd/>
            <a:tailEnd/>
          </a:ln>
          <a:effectLst/>
        </p:spPr>
        <p:txBody>
          <a:bodyPr wrap="square">
            <a:spAutoFit/>
          </a:bodyPr>
          <a:lstStyle/>
          <a:p>
            <a:pPr algn="l">
              <a:lnSpc>
                <a:spcPts val="3000"/>
              </a:lnSpc>
              <a:spcBef>
                <a:spcPts val="0"/>
              </a:spcBef>
            </a:pPr>
            <a:r>
              <a:rPr kumimoji="1" lang="zh-CN" altLang="en-US" sz="2000" dirty="0">
                <a:latin typeface="Consolas" pitchFamily="49" charset="0"/>
                <a:ea typeface="楷体" pitchFamily="49" charset="-122"/>
                <a:cs typeface="Consolas" pitchFamily="49" charset="0"/>
              </a:rPr>
              <a:t>　</a:t>
            </a:r>
            <a:r>
              <a:rPr kumimoji="1" lang="zh-CN" altLang="en-US" sz="2000">
                <a:latin typeface="Consolas" pitchFamily="49" charset="0"/>
                <a:ea typeface="楷体" pitchFamily="49" charset="-122"/>
                <a:cs typeface="Consolas" pitchFamily="49" charset="0"/>
              </a:rPr>
              <a:t>　</a:t>
            </a:r>
            <a:r>
              <a:rPr kumimoji="1" lang="zh-CN" altLang="en-US" sz="2000">
                <a:solidFill>
                  <a:srgbClr val="FF0000"/>
                </a:solidFill>
                <a:latin typeface="Consolas" pitchFamily="49" charset="0"/>
                <a:ea typeface="楷体" pitchFamily="49" charset="-122"/>
                <a:cs typeface="Consolas" pitchFamily="49" charset="0"/>
              </a:rPr>
              <a:t>对于连通图</a:t>
            </a:r>
            <a:r>
              <a:rPr kumimoji="1" lang="zh-CN" altLang="en-US" sz="2000">
                <a:latin typeface="Consolas" pitchFamily="49" charset="0"/>
                <a:ea typeface="楷体" pitchFamily="49" charset="-122"/>
                <a:cs typeface="Consolas" pitchFamily="49" charset="0"/>
              </a:rPr>
              <a:t>：仅</a:t>
            </a:r>
            <a:r>
              <a:rPr kumimoji="1" lang="zh-CN" altLang="en-US" sz="2000" dirty="0">
                <a:latin typeface="Consolas" pitchFamily="49" charset="0"/>
                <a:ea typeface="楷体" pitchFamily="49" charset="-122"/>
                <a:cs typeface="Consolas" pitchFamily="49" charset="0"/>
              </a:rPr>
              <a:t>需调用遍历过程（</a:t>
            </a:r>
            <a:r>
              <a:rPr kumimoji="1" lang="en-US" altLang="zh-CN" sz="2000" dirty="0" err="1">
                <a:latin typeface="Consolas" pitchFamily="49" charset="0"/>
                <a:ea typeface="楷体" pitchFamily="49" charset="-122"/>
                <a:cs typeface="Consolas" pitchFamily="49" charset="0"/>
              </a:rPr>
              <a:t>DFS</a:t>
            </a:r>
            <a:r>
              <a:rPr kumimoji="1" lang="zh-CN" altLang="en-US" sz="2000" dirty="0">
                <a:latin typeface="Consolas" pitchFamily="49" charset="0"/>
                <a:ea typeface="楷体" pitchFamily="49" charset="-122"/>
                <a:cs typeface="Consolas" pitchFamily="49" charset="0"/>
              </a:rPr>
              <a:t>或</a:t>
            </a:r>
            <a:r>
              <a:rPr kumimoji="1" lang="en-US" altLang="zh-CN" sz="2000" dirty="0" err="1">
                <a:latin typeface="Consolas" pitchFamily="49" charset="0"/>
                <a:ea typeface="楷体" pitchFamily="49" charset="-122"/>
                <a:cs typeface="Consolas" pitchFamily="49" charset="0"/>
              </a:rPr>
              <a:t>BFS</a:t>
            </a:r>
            <a:r>
              <a:rPr kumimoji="1" lang="zh-CN" altLang="en-US" sz="2000" dirty="0">
                <a:latin typeface="Consolas" pitchFamily="49" charset="0"/>
                <a:ea typeface="楷体" pitchFamily="49" charset="-122"/>
                <a:cs typeface="Consolas" pitchFamily="49" charset="0"/>
              </a:rPr>
              <a:t>）</a:t>
            </a:r>
            <a:r>
              <a:rPr kumimoji="1" lang="zh-CN" altLang="en-US" sz="2000">
                <a:latin typeface="Consolas" pitchFamily="49" charset="0"/>
                <a:ea typeface="楷体" pitchFamily="49" charset="-122"/>
                <a:cs typeface="Consolas" pitchFamily="49" charset="0"/>
              </a:rPr>
              <a:t>一次，从</a:t>
            </a:r>
            <a:r>
              <a:rPr kumimoji="1" lang="zh-CN" altLang="en-US" sz="2000" dirty="0">
                <a:latin typeface="Consolas" pitchFamily="49" charset="0"/>
                <a:ea typeface="楷体" pitchFamily="49" charset="-122"/>
                <a:cs typeface="Consolas" pitchFamily="49" charset="0"/>
              </a:rPr>
              <a:t>图中任一</a:t>
            </a:r>
            <a:r>
              <a:rPr kumimoji="1" lang="zh-CN" altLang="en-US" sz="2000">
                <a:latin typeface="Consolas" pitchFamily="49" charset="0"/>
                <a:ea typeface="楷体" pitchFamily="49" charset="-122"/>
                <a:cs typeface="Consolas" pitchFamily="49" charset="0"/>
              </a:rPr>
              <a:t>顶点出发，便</a:t>
            </a:r>
            <a:r>
              <a:rPr kumimoji="1" lang="zh-CN" altLang="en-US" sz="2000" dirty="0">
                <a:latin typeface="Consolas" pitchFamily="49" charset="0"/>
                <a:ea typeface="楷体" pitchFamily="49" charset="-122"/>
                <a:cs typeface="Consolas" pitchFamily="49" charset="0"/>
              </a:rPr>
              <a:t>可以遍历图中的</a:t>
            </a:r>
            <a:r>
              <a:rPr kumimoji="1" lang="zh-CN" altLang="en-US" sz="2000">
                <a:latin typeface="Consolas" pitchFamily="49" charset="0"/>
                <a:ea typeface="楷体" pitchFamily="49" charset="-122"/>
                <a:cs typeface="Consolas" pitchFamily="49" charset="0"/>
              </a:rPr>
              <a:t>各个顶点，产生相应的生成树。</a:t>
            </a:r>
            <a:r>
              <a:rPr kumimoji="1" lang="zh-CN" altLang="en-US" sz="2000" dirty="0">
                <a:latin typeface="Consolas" pitchFamily="49" charset="0"/>
                <a:ea typeface="楷体" pitchFamily="49" charset="-122"/>
                <a:cs typeface="Consolas" pitchFamily="49" charset="0"/>
              </a:rPr>
              <a:t>　</a:t>
            </a:r>
          </a:p>
        </p:txBody>
      </p:sp>
      <p:sp>
        <p:nvSpPr>
          <p:cNvPr id="58" name="Oval 31">
            <a:extLst>
              <a:ext uri="{FF2B5EF4-FFF2-40B4-BE49-F238E27FC236}">
                <a16:creationId xmlns:a16="http://schemas.microsoft.com/office/drawing/2014/main" id="{C9FF927A-0650-F630-BA8C-76B0CA5DC24A}"/>
              </a:ext>
            </a:extLst>
          </p:cNvPr>
          <p:cNvSpPr>
            <a:spLocks noChangeArrowheads="1"/>
          </p:cNvSpPr>
          <p:nvPr/>
        </p:nvSpPr>
        <p:spPr bwMode="auto">
          <a:xfrm>
            <a:off x="2925567" y="3754859"/>
            <a:ext cx="360363" cy="431800"/>
          </a:xfrm>
          <a:prstGeom prst="ellipse">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anchor="ctr"/>
          <a:lstStyle/>
          <a:p>
            <a:r>
              <a:rPr lang="en-US" altLang="zh-CN" sz="1800" dirty="0">
                <a:solidFill>
                  <a:srgbClr val="0000FF"/>
                </a:solidFill>
                <a:latin typeface="Consolas" pitchFamily="49" charset="0"/>
                <a:cs typeface="Consolas" pitchFamily="49" charset="0"/>
              </a:rPr>
              <a:t>0</a:t>
            </a:r>
          </a:p>
        </p:txBody>
      </p:sp>
      <p:sp>
        <p:nvSpPr>
          <p:cNvPr id="59" name="Oval 32">
            <a:extLst>
              <a:ext uri="{FF2B5EF4-FFF2-40B4-BE49-F238E27FC236}">
                <a16:creationId xmlns:a16="http://schemas.microsoft.com/office/drawing/2014/main" id="{9F369CC5-DC8B-79B4-236D-C18BCF534A9D}"/>
              </a:ext>
            </a:extLst>
          </p:cNvPr>
          <p:cNvSpPr>
            <a:spLocks noChangeArrowheads="1"/>
          </p:cNvSpPr>
          <p:nvPr/>
        </p:nvSpPr>
        <p:spPr bwMode="auto">
          <a:xfrm>
            <a:off x="3489139" y="4583543"/>
            <a:ext cx="360363"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1800">
                <a:solidFill>
                  <a:srgbClr val="0000FF"/>
                </a:solidFill>
                <a:latin typeface="Consolas" pitchFamily="49" charset="0"/>
                <a:cs typeface="Consolas" pitchFamily="49" charset="0"/>
              </a:rPr>
              <a:t>1</a:t>
            </a:r>
          </a:p>
        </p:txBody>
      </p:sp>
      <p:sp>
        <p:nvSpPr>
          <p:cNvPr id="60" name="Oval 33">
            <a:extLst>
              <a:ext uri="{FF2B5EF4-FFF2-40B4-BE49-F238E27FC236}">
                <a16:creationId xmlns:a16="http://schemas.microsoft.com/office/drawing/2014/main" id="{7710563B-A91E-6B0E-0A4E-FC8AB8FCC664}"/>
              </a:ext>
            </a:extLst>
          </p:cNvPr>
          <p:cNvSpPr>
            <a:spLocks noChangeArrowheads="1"/>
          </p:cNvSpPr>
          <p:nvPr/>
        </p:nvSpPr>
        <p:spPr bwMode="auto">
          <a:xfrm>
            <a:off x="2349304" y="4620047"/>
            <a:ext cx="360363"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1800">
                <a:solidFill>
                  <a:srgbClr val="0000FF"/>
                </a:solidFill>
                <a:latin typeface="Consolas" pitchFamily="49" charset="0"/>
                <a:cs typeface="Consolas" pitchFamily="49" charset="0"/>
              </a:rPr>
              <a:t>2</a:t>
            </a:r>
          </a:p>
        </p:txBody>
      </p:sp>
      <p:sp>
        <p:nvSpPr>
          <p:cNvPr id="61" name="Oval 34">
            <a:extLst>
              <a:ext uri="{FF2B5EF4-FFF2-40B4-BE49-F238E27FC236}">
                <a16:creationId xmlns:a16="http://schemas.microsoft.com/office/drawing/2014/main" id="{D127F22E-E434-4968-8534-6D7852FE34B8}"/>
              </a:ext>
            </a:extLst>
          </p:cNvPr>
          <p:cNvSpPr>
            <a:spLocks noChangeArrowheads="1"/>
          </p:cNvSpPr>
          <p:nvPr/>
        </p:nvSpPr>
        <p:spPr bwMode="auto">
          <a:xfrm>
            <a:off x="2998592" y="5339184"/>
            <a:ext cx="360363"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1800">
                <a:solidFill>
                  <a:srgbClr val="0000FF"/>
                </a:solidFill>
                <a:latin typeface="Consolas" pitchFamily="49" charset="0"/>
                <a:cs typeface="Consolas" pitchFamily="49" charset="0"/>
              </a:rPr>
              <a:t>3</a:t>
            </a:r>
          </a:p>
        </p:txBody>
      </p:sp>
      <p:sp>
        <p:nvSpPr>
          <p:cNvPr id="62" name="Oval 35">
            <a:extLst>
              <a:ext uri="{FF2B5EF4-FFF2-40B4-BE49-F238E27FC236}">
                <a16:creationId xmlns:a16="http://schemas.microsoft.com/office/drawing/2014/main" id="{5E198BDA-CA90-D449-56A2-797E78EBEC55}"/>
              </a:ext>
            </a:extLst>
          </p:cNvPr>
          <p:cNvSpPr>
            <a:spLocks noChangeArrowheads="1"/>
          </p:cNvSpPr>
          <p:nvPr/>
        </p:nvSpPr>
        <p:spPr bwMode="auto">
          <a:xfrm>
            <a:off x="3933629" y="5336023"/>
            <a:ext cx="360363"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1800">
                <a:solidFill>
                  <a:srgbClr val="0000FF"/>
                </a:solidFill>
                <a:latin typeface="Consolas" pitchFamily="49" charset="0"/>
                <a:cs typeface="Consolas" pitchFamily="49" charset="0"/>
              </a:rPr>
              <a:t>4</a:t>
            </a:r>
          </a:p>
        </p:txBody>
      </p:sp>
      <p:sp>
        <p:nvSpPr>
          <p:cNvPr id="63" name="Oval 37">
            <a:extLst>
              <a:ext uri="{FF2B5EF4-FFF2-40B4-BE49-F238E27FC236}">
                <a16:creationId xmlns:a16="http://schemas.microsoft.com/office/drawing/2014/main" id="{AE4A3110-B5D3-D90C-2978-2AD18206C0F2}"/>
              </a:ext>
            </a:extLst>
          </p:cNvPr>
          <p:cNvSpPr>
            <a:spLocks noChangeArrowheads="1"/>
          </p:cNvSpPr>
          <p:nvPr/>
        </p:nvSpPr>
        <p:spPr bwMode="auto">
          <a:xfrm>
            <a:off x="4365429" y="4547022"/>
            <a:ext cx="360363"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1800">
                <a:solidFill>
                  <a:srgbClr val="0000FF"/>
                </a:solidFill>
                <a:latin typeface="Consolas" pitchFamily="49" charset="0"/>
                <a:cs typeface="Consolas" pitchFamily="49" charset="0"/>
              </a:rPr>
              <a:t>5</a:t>
            </a:r>
          </a:p>
        </p:txBody>
      </p:sp>
      <p:sp>
        <p:nvSpPr>
          <p:cNvPr id="64" name="Freeform 13">
            <a:extLst>
              <a:ext uri="{FF2B5EF4-FFF2-40B4-BE49-F238E27FC236}">
                <a16:creationId xmlns:a16="http://schemas.microsoft.com/office/drawing/2014/main" id="{EE38F11F-6F1F-11B0-8CC2-AE64D3400109}"/>
              </a:ext>
            </a:extLst>
          </p:cNvPr>
          <p:cNvSpPr>
            <a:spLocks/>
          </p:cNvSpPr>
          <p:nvPr/>
        </p:nvSpPr>
        <p:spPr bwMode="auto">
          <a:xfrm>
            <a:off x="2585780" y="4112049"/>
            <a:ext cx="395288" cy="528638"/>
          </a:xfrm>
          <a:custGeom>
            <a:avLst/>
            <a:gdLst/>
            <a:ahLst/>
            <a:cxnLst>
              <a:cxn ang="0">
                <a:pos x="249" y="0"/>
              </a:cxn>
              <a:cxn ang="0">
                <a:pos x="0" y="333"/>
              </a:cxn>
            </a:cxnLst>
            <a:rect l="0" t="0" r="r" b="b"/>
            <a:pathLst>
              <a:path w="249" h="333">
                <a:moveTo>
                  <a:pt x="249" y="0"/>
                </a:moveTo>
                <a:lnTo>
                  <a:pt x="0" y="333"/>
                </a:lnTo>
              </a:path>
            </a:pathLst>
          </a:custGeom>
          <a:ln>
            <a:headEnd type="none" w="med" len="med"/>
            <a:tailEnd type="none" w="med" len="lg"/>
          </a:ln>
        </p:spPr>
        <p:style>
          <a:lnRef idx="2">
            <a:schemeClr val="accent5"/>
          </a:lnRef>
          <a:fillRef idx="0">
            <a:schemeClr val="accent5"/>
          </a:fillRef>
          <a:effectRef idx="1">
            <a:schemeClr val="accent5"/>
          </a:effectRef>
          <a:fontRef idx="minor">
            <a:schemeClr val="tx1"/>
          </a:fontRef>
        </p:style>
        <p:txBody>
          <a:bodyPr wrap="none"/>
          <a:lstStyle/>
          <a:p>
            <a:endParaRPr lang="zh-CN" altLang="en-US" sz="1800"/>
          </a:p>
        </p:txBody>
      </p:sp>
      <p:cxnSp>
        <p:nvCxnSpPr>
          <p:cNvPr id="65" name="直接连接符 64">
            <a:extLst>
              <a:ext uri="{FF2B5EF4-FFF2-40B4-BE49-F238E27FC236}">
                <a16:creationId xmlns:a16="http://schemas.microsoft.com/office/drawing/2014/main" id="{82D0602C-8A4D-786F-B184-88EB3CCA7D60}"/>
              </a:ext>
            </a:extLst>
          </p:cNvPr>
          <p:cNvCxnSpPr>
            <a:stCxn id="60" idx="5"/>
            <a:endCxn id="61" idx="1"/>
          </p:cNvCxnSpPr>
          <p:nvPr/>
        </p:nvCxnSpPr>
        <p:spPr>
          <a:xfrm rot="16200000" flipH="1">
            <a:off x="2647225" y="4998278"/>
            <a:ext cx="413809" cy="394473"/>
          </a:xfrm>
          <a:prstGeom prst="line">
            <a:avLst/>
          </a:prstGeom>
          <a:ln/>
        </p:spPr>
        <p:style>
          <a:lnRef idx="2">
            <a:schemeClr val="accent5"/>
          </a:lnRef>
          <a:fillRef idx="0">
            <a:schemeClr val="accent5"/>
          </a:fillRef>
          <a:effectRef idx="1">
            <a:schemeClr val="accent5"/>
          </a:effectRef>
          <a:fontRef idx="minor">
            <a:schemeClr val="tx1"/>
          </a:fontRef>
        </p:style>
      </p:cxnSp>
      <p:cxnSp>
        <p:nvCxnSpPr>
          <p:cNvPr id="66" name="直接连接符 65">
            <a:extLst>
              <a:ext uri="{FF2B5EF4-FFF2-40B4-BE49-F238E27FC236}">
                <a16:creationId xmlns:a16="http://schemas.microsoft.com/office/drawing/2014/main" id="{EA1F20DE-9CB5-D29B-AEB9-8047C65567BA}"/>
              </a:ext>
            </a:extLst>
          </p:cNvPr>
          <p:cNvCxnSpPr>
            <a:stCxn id="58" idx="5"/>
            <a:endCxn id="59" idx="1"/>
          </p:cNvCxnSpPr>
          <p:nvPr/>
        </p:nvCxnSpPr>
        <p:spPr>
          <a:xfrm rot="16200000" flipH="1">
            <a:off x="3125856" y="4230722"/>
            <a:ext cx="523356" cy="308757"/>
          </a:xfrm>
          <a:prstGeom prst="line">
            <a:avLst/>
          </a:prstGeom>
          <a:ln/>
        </p:spPr>
        <p:style>
          <a:lnRef idx="2">
            <a:schemeClr val="accent5"/>
          </a:lnRef>
          <a:fillRef idx="0">
            <a:schemeClr val="accent5"/>
          </a:fillRef>
          <a:effectRef idx="1">
            <a:schemeClr val="accent5"/>
          </a:effectRef>
          <a:fontRef idx="minor">
            <a:schemeClr val="tx1"/>
          </a:fontRef>
        </p:style>
      </p:cxnSp>
      <p:cxnSp>
        <p:nvCxnSpPr>
          <p:cNvPr id="67" name="直接连接符 66">
            <a:extLst>
              <a:ext uri="{FF2B5EF4-FFF2-40B4-BE49-F238E27FC236}">
                <a16:creationId xmlns:a16="http://schemas.microsoft.com/office/drawing/2014/main" id="{EB59208D-60A6-1C95-D5A5-8179929AEFFB}"/>
              </a:ext>
            </a:extLst>
          </p:cNvPr>
          <p:cNvCxnSpPr>
            <a:stCxn id="60" idx="6"/>
            <a:endCxn id="59" idx="2"/>
          </p:cNvCxnSpPr>
          <p:nvPr/>
        </p:nvCxnSpPr>
        <p:spPr>
          <a:xfrm flipV="1">
            <a:off x="2709667" y="4799443"/>
            <a:ext cx="779472" cy="36504"/>
          </a:xfrm>
          <a:prstGeom prst="line">
            <a:avLst/>
          </a:prstGeom>
          <a:ln/>
        </p:spPr>
        <p:style>
          <a:lnRef idx="2">
            <a:schemeClr val="accent5"/>
          </a:lnRef>
          <a:fillRef idx="0">
            <a:schemeClr val="accent5"/>
          </a:fillRef>
          <a:effectRef idx="1">
            <a:schemeClr val="accent5"/>
          </a:effectRef>
          <a:fontRef idx="minor">
            <a:schemeClr val="tx1"/>
          </a:fontRef>
        </p:style>
      </p:cxnSp>
      <p:cxnSp>
        <p:nvCxnSpPr>
          <p:cNvPr id="68" name="直接连接符 67">
            <a:extLst>
              <a:ext uri="{FF2B5EF4-FFF2-40B4-BE49-F238E27FC236}">
                <a16:creationId xmlns:a16="http://schemas.microsoft.com/office/drawing/2014/main" id="{F2867D08-8CA8-8EC7-159A-4FA4E7EDD4E4}"/>
              </a:ext>
            </a:extLst>
          </p:cNvPr>
          <p:cNvCxnSpPr>
            <a:stCxn id="59" idx="6"/>
            <a:endCxn id="63" idx="2"/>
          </p:cNvCxnSpPr>
          <p:nvPr/>
        </p:nvCxnSpPr>
        <p:spPr>
          <a:xfrm flipV="1">
            <a:off x="3849502" y="4762922"/>
            <a:ext cx="515927" cy="36521"/>
          </a:xfrm>
          <a:prstGeom prst="line">
            <a:avLst/>
          </a:prstGeom>
          <a:ln/>
        </p:spPr>
        <p:style>
          <a:lnRef idx="2">
            <a:schemeClr val="accent5"/>
          </a:lnRef>
          <a:fillRef idx="0">
            <a:schemeClr val="accent5"/>
          </a:fillRef>
          <a:effectRef idx="1">
            <a:schemeClr val="accent5"/>
          </a:effectRef>
          <a:fontRef idx="minor">
            <a:schemeClr val="tx1"/>
          </a:fontRef>
        </p:style>
      </p:cxnSp>
      <p:cxnSp>
        <p:nvCxnSpPr>
          <p:cNvPr id="69" name="直接连接符 68">
            <a:extLst>
              <a:ext uri="{FF2B5EF4-FFF2-40B4-BE49-F238E27FC236}">
                <a16:creationId xmlns:a16="http://schemas.microsoft.com/office/drawing/2014/main" id="{18536974-02D8-F864-B456-7226FD183931}"/>
              </a:ext>
            </a:extLst>
          </p:cNvPr>
          <p:cNvCxnSpPr>
            <a:stCxn id="59" idx="5"/>
            <a:endCxn id="62" idx="1"/>
          </p:cNvCxnSpPr>
          <p:nvPr/>
        </p:nvCxnSpPr>
        <p:spPr>
          <a:xfrm rot="16200000" flipH="1">
            <a:off x="3667989" y="5080845"/>
            <a:ext cx="447152" cy="189675"/>
          </a:xfrm>
          <a:prstGeom prst="line">
            <a:avLst/>
          </a:prstGeom>
          <a:ln/>
        </p:spPr>
        <p:style>
          <a:lnRef idx="2">
            <a:schemeClr val="accent5"/>
          </a:lnRef>
          <a:fillRef idx="0">
            <a:schemeClr val="accent5"/>
          </a:fillRef>
          <a:effectRef idx="1">
            <a:schemeClr val="accent5"/>
          </a:effectRef>
          <a:fontRef idx="minor">
            <a:schemeClr val="tx1"/>
          </a:fontRef>
        </p:style>
      </p:cxnSp>
      <p:cxnSp>
        <p:nvCxnSpPr>
          <p:cNvPr id="70" name="直接连接符 69">
            <a:extLst>
              <a:ext uri="{FF2B5EF4-FFF2-40B4-BE49-F238E27FC236}">
                <a16:creationId xmlns:a16="http://schemas.microsoft.com/office/drawing/2014/main" id="{98862F16-5F0B-72F0-E564-3E2DEA684010}"/>
              </a:ext>
            </a:extLst>
          </p:cNvPr>
          <p:cNvCxnSpPr>
            <a:stCxn id="61" idx="6"/>
            <a:endCxn id="62" idx="2"/>
          </p:cNvCxnSpPr>
          <p:nvPr/>
        </p:nvCxnSpPr>
        <p:spPr>
          <a:xfrm flipV="1">
            <a:off x="3358955" y="5551923"/>
            <a:ext cx="574674" cy="3161"/>
          </a:xfrm>
          <a:prstGeom prst="line">
            <a:avLst/>
          </a:prstGeom>
          <a:ln/>
        </p:spPr>
        <p:style>
          <a:lnRef idx="2">
            <a:schemeClr val="accent5"/>
          </a:lnRef>
          <a:fillRef idx="0">
            <a:schemeClr val="accent5"/>
          </a:fillRef>
          <a:effectRef idx="1">
            <a:schemeClr val="accent5"/>
          </a:effectRef>
          <a:fontRef idx="minor">
            <a:schemeClr val="tx1"/>
          </a:fontRef>
        </p:style>
      </p:cxnSp>
      <p:cxnSp>
        <p:nvCxnSpPr>
          <p:cNvPr id="71" name="直接连接符 70">
            <a:extLst>
              <a:ext uri="{FF2B5EF4-FFF2-40B4-BE49-F238E27FC236}">
                <a16:creationId xmlns:a16="http://schemas.microsoft.com/office/drawing/2014/main" id="{61798105-650D-F2F0-36B7-8FCB1661140A}"/>
              </a:ext>
            </a:extLst>
          </p:cNvPr>
          <p:cNvCxnSpPr>
            <a:stCxn id="58" idx="6"/>
            <a:endCxn id="63" idx="1"/>
          </p:cNvCxnSpPr>
          <p:nvPr/>
        </p:nvCxnSpPr>
        <p:spPr>
          <a:xfrm>
            <a:off x="3285930" y="3970759"/>
            <a:ext cx="1132273" cy="639499"/>
          </a:xfrm>
          <a:prstGeom prst="line">
            <a:avLst/>
          </a:prstGeom>
          <a:ln/>
        </p:spPr>
        <p:style>
          <a:lnRef idx="2">
            <a:schemeClr val="accent5"/>
          </a:lnRef>
          <a:fillRef idx="0">
            <a:schemeClr val="accent5"/>
          </a:fillRef>
          <a:effectRef idx="1">
            <a:schemeClr val="accent5"/>
          </a:effectRef>
          <a:fontRef idx="minor">
            <a:schemeClr val="tx1"/>
          </a:fontRef>
        </p:style>
      </p:cxnSp>
      <p:grpSp>
        <p:nvGrpSpPr>
          <p:cNvPr id="72" name="组合 34">
            <a:extLst>
              <a:ext uri="{FF2B5EF4-FFF2-40B4-BE49-F238E27FC236}">
                <a16:creationId xmlns:a16="http://schemas.microsoft.com/office/drawing/2014/main" id="{EADCA2BA-1C15-B058-493A-3CD9F6B36366}"/>
              </a:ext>
            </a:extLst>
          </p:cNvPr>
          <p:cNvGrpSpPr/>
          <p:nvPr/>
        </p:nvGrpSpPr>
        <p:grpSpPr>
          <a:xfrm>
            <a:off x="4921072" y="4270786"/>
            <a:ext cx="1643074" cy="642942"/>
            <a:chOff x="3643306" y="3000372"/>
            <a:chExt cx="1643074" cy="642942"/>
          </a:xfrm>
        </p:grpSpPr>
        <p:sp>
          <p:nvSpPr>
            <p:cNvPr id="73" name="右箭头 23">
              <a:extLst>
                <a:ext uri="{FF2B5EF4-FFF2-40B4-BE49-F238E27FC236}">
                  <a16:creationId xmlns:a16="http://schemas.microsoft.com/office/drawing/2014/main" id="{6E05DE89-A07C-0765-D76F-5C86EDCC67BE}"/>
                </a:ext>
              </a:extLst>
            </p:cNvPr>
            <p:cNvSpPr/>
            <p:nvPr/>
          </p:nvSpPr>
          <p:spPr bwMode="auto">
            <a:xfrm>
              <a:off x="3786182" y="3429000"/>
              <a:ext cx="1428760" cy="214314"/>
            </a:xfrm>
            <a:prstGeom prst="rightArrow">
              <a:avLst/>
            </a:prstGeom>
            <a:ln>
              <a:headEnd type="none" w="med" len="med"/>
              <a:tailEnd type="none" w="med" len="lg"/>
            </a:ln>
          </p:spPr>
          <p:style>
            <a:lnRef idx="1">
              <a:schemeClr val="accent2"/>
            </a:lnRef>
            <a:fillRef idx="3">
              <a:schemeClr val="accent2"/>
            </a:fillRef>
            <a:effectRef idx="2">
              <a:schemeClr val="accent2"/>
            </a:effectRef>
            <a:fontRef idx="minor">
              <a:schemeClr val="lt1"/>
            </a:fontRef>
          </p:style>
          <p:txBody>
            <a:bodyPr wrap="none" rtlCol="0" anchor="ctr"/>
            <a:lstStyle/>
            <a:p>
              <a:pPr algn="ctr"/>
              <a:endParaRPr lang="zh-CN" altLang="en-US"/>
            </a:p>
          </p:txBody>
        </p:sp>
        <p:sp>
          <p:nvSpPr>
            <p:cNvPr id="74" name="TextBox 24">
              <a:extLst>
                <a:ext uri="{FF2B5EF4-FFF2-40B4-BE49-F238E27FC236}">
                  <a16:creationId xmlns:a16="http://schemas.microsoft.com/office/drawing/2014/main" id="{7B533818-CE4C-F6BD-DF16-0D4E361DFF55}"/>
                </a:ext>
              </a:extLst>
            </p:cNvPr>
            <p:cNvSpPr txBox="1"/>
            <p:nvPr/>
          </p:nvSpPr>
          <p:spPr>
            <a:xfrm>
              <a:off x="3643306" y="3000372"/>
              <a:ext cx="1643074" cy="369332"/>
            </a:xfrm>
            <a:prstGeom prst="rect">
              <a:avLst/>
            </a:prstGeom>
            <a:noFill/>
          </p:spPr>
          <p:txBody>
            <a:bodyPr wrap="square" rtlCol="0">
              <a:spAutoFit/>
            </a:bodyPr>
            <a:lstStyle/>
            <a:p>
              <a:r>
                <a:rPr kumimoji="1" lang="zh-CN" altLang="en-US" sz="1800">
                  <a:solidFill>
                    <a:srgbClr val="0000FF"/>
                  </a:solidFill>
                  <a:latin typeface="仿宋" pitchFamily="49" charset="-122"/>
                  <a:ea typeface="仿宋" pitchFamily="49" charset="-122"/>
                  <a:cs typeface="Consolas" pitchFamily="49" charset="0"/>
                </a:rPr>
                <a:t>一棵生成树</a:t>
              </a:r>
              <a:endParaRPr lang="zh-CN" altLang="en-US" sz="1800">
                <a:solidFill>
                  <a:srgbClr val="0000FF"/>
                </a:solidFill>
                <a:latin typeface="仿宋" pitchFamily="49" charset="-122"/>
                <a:ea typeface="仿宋" pitchFamily="49" charset="-122"/>
                <a:cs typeface="Consolas" pitchFamily="49" charset="0"/>
              </a:endParaRPr>
            </a:p>
          </p:txBody>
        </p:sp>
      </p:grpSp>
      <p:grpSp>
        <p:nvGrpSpPr>
          <p:cNvPr id="75" name="组合 68">
            <a:extLst>
              <a:ext uri="{FF2B5EF4-FFF2-40B4-BE49-F238E27FC236}">
                <a16:creationId xmlns:a16="http://schemas.microsoft.com/office/drawing/2014/main" id="{BFB83471-0999-78F2-EC05-6E2A8ECD1464}"/>
              </a:ext>
            </a:extLst>
          </p:cNvPr>
          <p:cNvGrpSpPr/>
          <p:nvPr/>
        </p:nvGrpSpPr>
        <p:grpSpPr>
          <a:xfrm>
            <a:off x="6992774" y="3754859"/>
            <a:ext cx="2376488" cy="2016125"/>
            <a:chOff x="3124206" y="4127519"/>
            <a:chExt cx="2376488" cy="2016125"/>
          </a:xfrm>
        </p:grpSpPr>
        <p:sp>
          <p:nvSpPr>
            <p:cNvPr id="76" name="Oval 31">
              <a:extLst>
                <a:ext uri="{FF2B5EF4-FFF2-40B4-BE49-F238E27FC236}">
                  <a16:creationId xmlns:a16="http://schemas.microsoft.com/office/drawing/2014/main" id="{5D307209-9985-6E34-8159-EC63CE35A071}"/>
                </a:ext>
              </a:extLst>
            </p:cNvPr>
            <p:cNvSpPr>
              <a:spLocks noChangeArrowheads="1"/>
            </p:cNvSpPr>
            <p:nvPr/>
          </p:nvSpPr>
          <p:spPr bwMode="auto">
            <a:xfrm>
              <a:off x="3700469" y="4127519"/>
              <a:ext cx="360363"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1800" dirty="0">
                  <a:solidFill>
                    <a:srgbClr val="0000FF"/>
                  </a:solidFill>
                  <a:latin typeface="Consolas" pitchFamily="49" charset="0"/>
                  <a:cs typeface="Consolas" pitchFamily="49" charset="0"/>
                </a:rPr>
                <a:t>0</a:t>
              </a:r>
            </a:p>
          </p:txBody>
        </p:sp>
        <p:sp>
          <p:nvSpPr>
            <p:cNvPr id="77" name="Oval 32">
              <a:extLst>
                <a:ext uri="{FF2B5EF4-FFF2-40B4-BE49-F238E27FC236}">
                  <a16:creationId xmlns:a16="http://schemas.microsoft.com/office/drawing/2014/main" id="{DCC010C4-8CE1-2E82-0468-DE0FD64142E3}"/>
                </a:ext>
              </a:extLst>
            </p:cNvPr>
            <p:cNvSpPr>
              <a:spLocks noChangeArrowheads="1"/>
            </p:cNvSpPr>
            <p:nvPr/>
          </p:nvSpPr>
          <p:spPr bwMode="auto">
            <a:xfrm>
              <a:off x="4264041" y="4956203"/>
              <a:ext cx="360363"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1800">
                  <a:solidFill>
                    <a:srgbClr val="0000FF"/>
                  </a:solidFill>
                  <a:latin typeface="Consolas" pitchFamily="49" charset="0"/>
                  <a:cs typeface="Consolas" pitchFamily="49" charset="0"/>
                </a:rPr>
                <a:t>1</a:t>
              </a:r>
            </a:p>
          </p:txBody>
        </p:sp>
        <p:sp>
          <p:nvSpPr>
            <p:cNvPr id="78" name="Oval 33">
              <a:extLst>
                <a:ext uri="{FF2B5EF4-FFF2-40B4-BE49-F238E27FC236}">
                  <a16:creationId xmlns:a16="http://schemas.microsoft.com/office/drawing/2014/main" id="{3DD88F94-DB91-D779-6213-54DBE83CA225}"/>
                </a:ext>
              </a:extLst>
            </p:cNvPr>
            <p:cNvSpPr>
              <a:spLocks noChangeArrowheads="1"/>
            </p:cNvSpPr>
            <p:nvPr/>
          </p:nvSpPr>
          <p:spPr bwMode="auto">
            <a:xfrm>
              <a:off x="3124206" y="4992707"/>
              <a:ext cx="360363"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1800">
                  <a:solidFill>
                    <a:srgbClr val="0000FF"/>
                  </a:solidFill>
                  <a:latin typeface="Consolas" pitchFamily="49" charset="0"/>
                  <a:cs typeface="Consolas" pitchFamily="49" charset="0"/>
                </a:rPr>
                <a:t>2</a:t>
              </a:r>
            </a:p>
          </p:txBody>
        </p:sp>
        <p:sp>
          <p:nvSpPr>
            <p:cNvPr id="79" name="Oval 34">
              <a:extLst>
                <a:ext uri="{FF2B5EF4-FFF2-40B4-BE49-F238E27FC236}">
                  <a16:creationId xmlns:a16="http://schemas.microsoft.com/office/drawing/2014/main" id="{06DE9088-2B99-88BC-245A-713CA1551F9B}"/>
                </a:ext>
              </a:extLst>
            </p:cNvPr>
            <p:cNvSpPr>
              <a:spLocks noChangeArrowheads="1"/>
            </p:cNvSpPr>
            <p:nvPr/>
          </p:nvSpPr>
          <p:spPr bwMode="auto">
            <a:xfrm>
              <a:off x="3773494" y="5711844"/>
              <a:ext cx="360363"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1800">
                  <a:solidFill>
                    <a:srgbClr val="0000FF"/>
                  </a:solidFill>
                  <a:latin typeface="Consolas" pitchFamily="49" charset="0"/>
                  <a:cs typeface="Consolas" pitchFamily="49" charset="0"/>
                </a:rPr>
                <a:t>3</a:t>
              </a:r>
            </a:p>
          </p:txBody>
        </p:sp>
        <p:sp>
          <p:nvSpPr>
            <p:cNvPr id="80" name="Oval 35">
              <a:extLst>
                <a:ext uri="{FF2B5EF4-FFF2-40B4-BE49-F238E27FC236}">
                  <a16:creationId xmlns:a16="http://schemas.microsoft.com/office/drawing/2014/main" id="{486DF9CD-300E-B3C2-AF66-24DB18C65E7C}"/>
                </a:ext>
              </a:extLst>
            </p:cNvPr>
            <p:cNvSpPr>
              <a:spLocks noChangeArrowheads="1"/>
            </p:cNvSpPr>
            <p:nvPr/>
          </p:nvSpPr>
          <p:spPr bwMode="auto">
            <a:xfrm>
              <a:off x="4708531" y="5708683"/>
              <a:ext cx="360363"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1800">
                  <a:solidFill>
                    <a:srgbClr val="0000FF"/>
                  </a:solidFill>
                  <a:latin typeface="Consolas" pitchFamily="49" charset="0"/>
                  <a:cs typeface="Consolas" pitchFamily="49" charset="0"/>
                </a:rPr>
                <a:t>4</a:t>
              </a:r>
            </a:p>
          </p:txBody>
        </p:sp>
        <p:sp>
          <p:nvSpPr>
            <p:cNvPr id="81" name="Oval 37">
              <a:extLst>
                <a:ext uri="{FF2B5EF4-FFF2-40B4-BE49-F238E27FC236}">
                  <a16:creationId xmlns:a16="http://schemas.microsoft.com/office/drawing/2014/main" id="{61169978-A9CA-77E0-EAB6-D31E7270E9B0}"/>
                </a:ext>
              </a:extLst>
            </p:cNvPr>
            <p:cNvSpPr>
              <a:spLocks noChangeArrowheads="1"/>
            </p:cNvSpPr>
            <p:nvPr/>
          </p:nvSpPr>
          <p:spPr bwMode="auto">
            <a:xfrm>
              <a:off x="5140331" y="4919682"/>
              <a:ext cx="360363"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1800">
                  <a:solidFill>
                    <a:srgbClr val="0000FF"/>
                  </a:solidFill>
                  <a:latin typeface="Consolas" pitchFamily="49" charset="0"/>
                  <a:cs typeface="Consolas" pitchFamily="49" charset="0"/>
                </a:rPr>
                <a:t>5</a:t>
              </a:r>
            </a:p>
          </p:txBody>
        </p:sp>
        <p:sp>
          <p:nvSpPr>
            <p:cNvPr id="82" name="Freeform 13">
              <a:extLst>
                <a:ext uri="{FF2B5EF4-FFF2-40B4-BE49-F238E27FC236}">
                  <a16:creationId xmlns:a16="http://schemas.microsoft.com/office/drawing/2014/main" id="{39B9EB2C-6713-EFDB-1DFE-680D552BB72F}"/>
                </a:ext>
              </a:extLst>
            </p:cNvPr>
            <p:cNvSpPr>
              <a:spLocks/>
            </p:cNvSpPr>
            <p:nvPr/>
          </p:nvSpPr>
          <p:spPr bwMode="auto">
            <a:xfrm>
              <a:off x="3360682" y="4484709"/>
              <a:ext cx="395288" cy="528638"/>
            </a:xfrm>
            <a:custGeom>
              <a:avLst/>
              <a:gdLst/>
              <a:ahLst/>
              <a:cxnLst>
                <a:cxn ang="0">
                  <a:pos x="249" y="0"/>
                </a:cxn>
                <a:cxn ang="0">
                  <a:pos x="0" y="333"/>
                </a:cxn>
              </a:cxnLst>
              <a:rect l="0" t="0" r="r" b="b"/>
              <a:pathLst>
                <a:path w="249" h="333">
                  <a:moveTo>
                    <a:pt x="249" y="0"/>
                  </a:moveTo>
                  <a:lnTo>
                    <a:pt x="0" y="333"/>
                  </a:lnTo>
                </a:path>
              </a:pathLst>
            </a:custGeom>
            <a:ln>
              <a:headEnd type="none" w="med" len="med"/>
              <a:tailEnd type="none" w="med" len="lg"/>
            </a:ln>
          </p:spPr>
          <p:style>
            <a:lnRef idx="2">
              <a:schemeClr val="accent5"/>
            </a:lnRef>
            <a:fillRef idx="0">
              <a:schemeClr val="accent5"/>
            </a:fillRef>
            <a:effectRef idx="1">
              <a:schemeClr val="accent5"/>
            </a:effectRef>
            <a:fontRef idx="minor">
              <a:schemeClr val="tx1"/>
            </a:fontRef>
          </p:style>
          <p:txBody>
            <a:bodyPr wrap="none"/>
            <a:lstStyle/>
            <a:p>
              <a:endParaRPr lang="zh-CN" altLang="en-US" sz="1800">
                <a:latin typeface="Consolas" pitchFamily="49" charset="0"/>
                <a:cs typeface="Consolas" pitchFamily="49" charset="0"/>
              </a:endParaRPr>
            </a:p>
          </p:txBody>
        </p:sp>
        <p:cxnSp>
          <p:nvCxnSpPr>
            <p:cNvPr id="83" name="直接连接符 82">
              <a:extLst>
                <a:ext uri="{FF2B5EF4-FFF2-40B4-BE49-F238E27FC236}">
                  <a16:creationId xmlns:a16="http://schemas.microsoft.com/office/drawing/2014/main" id="{5A742707-72B4-D0B4-3DC7-3E0A9B8117A1}"/>
                </a:ext>
              </a:extLst>
            </p:cNvPr>
            <p:cNvCxnSpPr>
              <a:stCxn id="78" idx="5"/>
              <a:endCxn id="79" idx="1"/>
            </p:cNvCxnSpPr>
            <p:nvPr/>
          </p:nvCxnSpPr>
          <p:spPr>
            <a:xfrm rot="16200000" flipH="1">
              <a:off x="3422127" y="5370938"/>
              <a:ext cx="413809" cy="394473"/>
            </a:xfrm>
            <a:prstGeom prst="line">
              <a:avLst/>
            </a:prstGeom>
            <a:ln/>
          </p:spPr>
          <p:style>
            <a:lnRef idx="2">
              <a:schemeClr val="accent5"/>
            </a:lnRef>
            <a:fillRef idx="0">
              <a:schemeClr val="accent5"/>
            </a:fillRef>
            <a:effectRef idx="1">
              <a:schemeClr val="accent5"/>
            </a:effectRef>
            <a:fontRef idx="minor">
              <a:schemeClr val="tx1"/>
            </a:fontRef>
          </p:style>
        </p:cxnSp>
        <p:cxnSp>
          <p:nvCxnSpPr>
            <p:cNvPr id="84" name="直接连接符 83">
              <a:extLst>
                <a:ext uri="{FF2B5EF4-FFF2-40B4-BE49-F238E27FC236}">
                  <a16:creationId xmlns:a16="http://schemas.microsoft.com/office/drawing/2014/main" id="{241AEFC7-2826-8D5C-A06F-3CB9708877D7}"/>
                </a:ext>
              </a:extLst>
            </p:cNvPr>
            <p:cNvCxnSpPr>
              <a:stCxn id="76" idx="5"/>
              <a:endCxn id="77" idx="1"/>
            </p:cNvCxnSpPr>
            <p:nvPr/>
          </p:nvCxnSpPr>
          <p:spPr>
            <a:xfrm rot="16200000" flipH="1">
              <a:off x="3900758" y="4603382"/>
              <a:ext cx="523356" cy="308757"/>
            </a:xfrm>
            <a:prstGeom prst="line">
              <a:avLst/>
            </a:prstGeom>
            <a:ln/>
          </p:spPr>
          <p:style>
            <a:lnRef idx="2">
              <a:schemeClr val="accent5"/>
            </a:lnRef>
            <a:fillRef idx="0">
              <a:schemeClr val="accent5"/>
            </a:fillRef>
            <a:effectRef idx="1">
              <a:schemeClr val="accent5"/>
            </a:effectRef>
            <a:fontRef idx="minor">
              <a:schemeClr val="tx1"/>
            </a:fontRef>
          </p:style>
        </p:cxnSp>
        <p:cxnSp>
          <p:nvCxnSpPr>
            <p:cNvPr id="85" name="直接连接符 84">
              <a:extLst>
                <a:ext uri="{FF2B5EF4-FFF2-40B4-BE49-F238E27FC236}">
                  <a16:creationId xmlns:a16="http://schemas.microsoft.com/office/drawing/2014/main" id="{000446F3-384C-FFDF-31E0-8D2BCA1A7013}"/>
                </a:ext>
              </a:extLst>
            </p:cNvPr>
            <p:cNvCxnSpPr>
              <a:stCxn id="77" idx="5"/>
              <a:endCxn id="80" idx="1"/>
            </p:cNvCxnSpPr>
            <p:nvPr/>
          </p:nvCxnSpPr>
          <p:spPr>
            <a:xfrm rot="16200000" flipH="1">
              <a:off x="4442891" y="5453505"/>
              <a:ext cx="447152" cy="189675"/>
            </a:xfrm>
            <a:prstGeom prst="line">
              <a:avLst/>
            </a:prstGeom>
            <a:ln/>
          </p:spPr>
          <p:style>
            <a:lnRef idx="2">
              <a:schemeClr val="accent5"/>
            </a:lnRef>
            <a:fillRef idx="0">
              <a:schemeClr val="accent5"/>
            </a:fillRef>
            <a:effectRef idx="1">
              <a:schemeClr val="accent5"/>
            </a:effectRef>
            <a:fontRef idx="minor">
              <a:schemeClr val="tx1"/>
            </a:fontRef>
          </p:style>
        </p:cxnSp>
        <p:cxnSp>
          <p:nvCxnSpPr>
            <p:cNvPr id="86" name="直接连接符 85">
              <a:extLst>
                <a:ext uri="{FF2B5EF4-FFF2-40B4-BE49-F238E27FC236}">
                  <a16:creationId xmlns:a16="http://schemas.microsoft.com/office/drawing/2014/main" id="{B1A08215-0858-8AAC-0E81-8576FF02B851}"/>
                </a:ext>
              </a:extLst>
            </p:cNvPr>
            <p:cNvCxnSpPr>
              <a:stCxn id="76" idx="6"/>
              <a:endCxn id="81" idx="1"/>
            </p:cNvCxnSpPr>
            <p:nvPr/>
          </p:nvCxnSpPr>
          <p:spPr>
            <a:xfrm>
              <a:off x="4060832" y="4343419"/>
              <a:ext cx="1132273" cy="639499"/>
            </a:xfrm>
            <a:prstGeom prst="line">
              <a:avLst/>
            </a:prstGeom>
            <a:ln/>
          </p:spPr>
          <p:style>
            <a:lnRef idx="2">
              <a:schemeClr val="accent5"/>
            </a:lnRef>
            <a:fillRef idx="0">
              <a:schemeClr val="accent5"/>
            </a:fillRef>
            <a:effectRef idx="1">
              <a:schemeClr val="accent5"/>
            </a:effectRef>
            <a:fontRef idx="minor">
              <a:schemeClr val="tx1"/>
            </a:fontRef>
          </p:style>
        </p:cxnSp>
      </p:grpSp>
      <p:sp>
        <p:nvSpPr>
          <p:cNvPr id="87" name="矩形 86">
            <a:extLst>
              <a:ext uri="{FF2B5EF4-FFF2-40B4-BE49-F238E27FC236}">
                <a16:creationId xmlns:a16="http://schemas.microsoft.com/office/drawing/2014/main" id="{AFC09139-2C3B-8D50-8174-CBF5618BA585}"/>
              </a:ext>
            </a:extLst>
          </p:cNvPr>
          <p:cNvSpPr/>
          <p:nvPr/>
        </p:nvSpPr>
        <p:spPr>
          <a:xfrm>
            <a:off x="3394075" y="399838"/>
            <a:ext cx="4617860"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8.4 </a:t>
            </a:r>
            <a:r>
              <a:rPr lang="zh-CN" altLang="en-US" sz="3000" b="1" dirty="0">
                <a:latin typeface="黑体" pitchFamily="49" charset="-122"/>
                <a:ea typeface="黑体" pitchFamily="49" charset="-122"/>
                <a:cs typeface="经典粗黑简" pitchFamily="49" charset="-122"/>
              </a:rPr>
              <a:t>生成树和最小生成树</a:t>
            </a:r>
          </a:p>
        </p:txBody>
      </p:sp>
    </p:spTree>
    <p:extLst>
      <p:ext uri="{BB962C8B-B14F-4D97-AF65-F5344CB8AC3E}">
        <p14:creationId xmlns:p14="http://schemas.microsoft.com/office/powerpoint/2010/main" val="22061933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nvGrpSpPr>
        <p:grpSpPr>
          <a:xfrm>
            <a:off x="4806042" y="2444587"/>
            <a:ext cx="2428107" cy="2759340"/>
            <a:chOff x="303272" y="3573931"/>
            <a:chExt cx="2428107" cy="2267810"/>
          </a:xfrm>
        </p:grpSpPr>
        <p:sp>
          <p:nvSpPr>
            <p:cNvPr id="8" name="Oval 5"/>
            <p:cNvSpPr>
              <a:spLocks noChangeArrowheads="1"/>
            </p:cNvSpPr>
            <p:nvPr/>
          </p:nvSpPr>
          <p:spPr bwMode="auto">
            <a:xfrm>
              <a:off x="303272" y="3573931"/>
              <a:ext cx="269318" cy="255653"/>
            </a:xfrm>
            <a:prstGeom prst="ellipse">
              <a:avLst/>
            </a:prstGeom>
            <a:solidFill>
              <a:schemeClr val="bg1"/>
            </a:solidFill>
            <a:ln w="28575" cap="sq">
              <a:solidFill>
                <a:srgbClr val="0033CC"/>
              </a:solidFill>
              <a:miter lim="800000"/>
              <a:headEnd type="none" w="sm" len="sm"/>
              <a:tailEnd type="none" w="sm" len="sm"/>
            </a:ln>
          </p:spPr>
          <p:txBody>
            <a:bodyPr wrap="none" tIns="0" anchorCtr="1"/>
            <a:lstStyle/>
            <a:p>
              <a:r>
                <a:rPr lang="en-US" altLang="zh-CN"/>
                <a:t>A</a:t>
              </a:r>
              <a:endParaRPr lang="en-US" altLang="zh-CN" baseline="-25000"/>
            </a:p>
          </p:txBody>
        </p:sp>
        <p:sp>
          <p:nvSpPr>
            <p:cNvPr id="9" name="Oval 6"/>
            <p:cNvSpPr>
              <a:spLocks noChangeArrowheads="1"/>
            </p:cNvSpPr>
            <p:nvPr/>
          </p:nvSpPr>
          <p:spPr bwMode="auto">
            <a:xfrm>
              <a:off x="2422981" y="3573931"/>
              <a:ext cx="269318" cy="255653"/>
            </a:xfrm>
            <a:prstGeom prst="ellipse">
              <a:avLst/>
            </a:prstGeom>
            <a:solidFill>
              <a:schemeClr val="bg1"/>
            </a:solidFill>
            <a:ln w="28575" cap="sq">
              <a:solidFill>
                <a:srgbClr val="0033CC"/>
              </a:solidFill>
              <a:miter lim="800000"/>
              <a:headEnd type="none" w="sm" len="sm"/>
              <a:tailEnd type="none" w="sm" len="sm"/>
            </a:ln>
          </p:spPr>
          <p:txBody>
            <a:bodyPr wrap="none" tIns="0" anchorCtr="1"/>
            <a:lstStyle/>
            <a:p>
              <a:r>
                <a:rPr lang="en-US" altLang="zh-CN"/>
                <a:t>B</a:t>
              </a:r>
              <a:endParaRPr lang="en-US" altLang="zh-CN" baseline="-25000"/>
            </a:p>
          </p:txBody>
        </p:sp>
        <p:sp>
          <p:nvSpPr>
            <p:cNvPr id="11" name="Oval 7"/>
            <p:cNvSpPr>
              <a:spLocks noChangeArrowheads="1"/>
            </p:cNvSpPr>
            <p:nvPr/>
          </p:nvSpPr>
          <p:spPr bwMode="auto">
            <a:xfrm>
              <a:off x="303272" y="5549797"/>
              <a:ext cx="269318" cy="255653"/>
            </a:xfrm>
            <a:prstGeom prst="ellipse">
              <a:avLst/>
            </a:prstGeom>
            <a:solidFill>
              <a:schemeClr val="bg1"/>
            </a:solidFill>
            <a:ln w="28575" cap="sq">
              <a:solidFill>
                <a:srgbClr val="0033CC"/>
              </a:solidFill>
              <a:miter lim="800000"/>
              <a:headEnd type="none" w="sm" len="sm"/>
              <a:tailEnd type="none" w="sm" len="sm"/>
            </a:ln>
          </p:spPr>
          <p:txBody>
            <a:bodyPr wrap="none" tIns="0" anchorCtr="1"/>
            <a:lstStyle/>
            <a:p>
              <a:r>
                <a:rPr lang="en-US" altLang="zh-CN"/>
                <a:t>L</a:t>
              </a:r>
              <a:endParaRPr lang="en-US" altLang="zh-CN" baseline="-25000"/>
            </a:p>
          </p:txBody>
        </p:sp>
        <p:sp>
          <p:nvSpPr>
            <p:cNvPr id="12" name="Oval 8"/>
            <p:cNvSpPr>
              <a:spLocks noChangeArrowheads="1"/>
            </p:cNvSpPr>
            <p:nvPr/>
          </p:nvSpPr>
          <p:spPr bwMode="auto">
            <a:xfrm>
              <a:off x="2462061" y="5586088"/>
              <a:ext cx="269318" cy="255653"/>
            </a:xfrm>
            <a:prstGeom prst="ellipse">
              <a:avLst/>
            </a:prstGeom>
            <a:solidFill>
              <a:schemeClr val="bg1"/>
            </a:solidFill>
            <a:ln w="28575" cap="sq">
              <a:solidFill>
                <a:srgbClr val="0033CC"/>
              </a:solidFill>
              <a:miter lim="800000"/>
              <a:headEnd type="none" w="sm" len="sm"/>
              <a:tailEnd type="none" w="sm" len="sm"/>
            </a:ln>
          </p:spPr>
          <p:txBody>
            <a:bodyPr wrap="none" tIns="0" anchorCtr="1"/>
            <a:lstStyle/>
            <a:p>
              <a:r>
                <a:rPr lang="en-US" altLang="zh-CN" dirty="0"/>
                <a:t>M</a:t>
              </a:r>
              <a:endParaRPr lang="en-US" altLang="zh-CN" baseline="-25000" dirty="0"/>
            </a:p>
          </p:txBody>
        </p:sp>
        <p:sp>
          <p:nvSpPr>
            <p:cNvPr id="13" name="Oval 9"/>
            <p:cNvSpPr>
              <a:spLocks noChangeArrowheads="1"/>
            </p:cNvSpPr>
            <p:nvPr/>
          </p:nvSpPr>
          <p:spPr bwMode="auto">
            <a:xfrm>
              <a:off x="1344011" y="5220755"/>
              <a:ext cx="269318" cy="255653"/>
            </a:xfrm>
            <a:prstGeom prst="ellipse">
              <a:avLst/>
            </a:prstGeom>
            <a:solidFill>
              <a:schemeClr val="bg1"/>
            </a:solidFill>
            <a:ln w="28575" cap="sq">
              <a:solidFill>
                <a:srgbClr val="0033CC"/>
              </a:solidFill>
              <a:miter lim="800000"/>
              <a:headEnd type="none" w="sm" len="sm"/>
              <a:tailEnd type="none" w="sm" len="sm"/>
            </a:ln>
          </p:spPr>
          <p:txBody>
            <a:bodyPr wrap="none" tIns="0" anchorCtr="1"/>
            <a:lstStyle/>
            <a:p>
              <a:r>
                <a:rPr lang="en-US" altLang="zh-CN"/>
                <a:t>J</a:t>
              </a:r>
              <a:endParaRPr lang="en-US" altLang="zh-CN" baseline="-25000"/>
            </a:p>
          </p:txBody>
        </p:sp>
        <p:sp>
          <p:nvSpPr>
            <p:cNvPr id="14" name="Oval 10"/>
            <p:cNvSpPr>
              <a:spLocks noChangeArrowheads="1"/>
            </p:cNvSpPr>
            <p:nvPr/>
          </p:nvSpPr>
          <p:spPr bwMode="auto">
            <a:xfrm>
              <a:off x="1189387" y="3940071"/>
              <a:ext cx="269318" cy="255653"/>
            </a:xfrm>
            <a:prstGeom prst="ellipse">
              <a:avLst/>
            </a:prstGeom>
            <a:solidFill>
              <a:schemeClr val="bg1"/>
            </a:solidFill>
            <a:ln w="28575" cap="sq">
              <a:solidFill>
                <a:srgbClr val="0033CC"/>
              </a:solidFill>
              <a:miter lim="800000"/>
              <a:headEnd type="none" w="sm" len="sm"/>
              <a:tailEnd type="none" w="sm" len="sm"/>
            </a:ln>
          </p:spPr>
          <p:txBody>
            <a:bodyPr wrap="none" tIns="0" anchorCtr="1"/>
            <a:lstStyle/>
            <a:p>
              <a:r>
                <a:rPr lang="en-US" altLang="zh-CN"/>
                <a:t>D</a:t>
              </a:r>
              <a:endParaRPr lang="en-US" altLang="zh-CN" baseline="-25000"/>
            </a:p>
          </p:txBody>
        </p:sp>
        <p:sp>
          <p:nvSpPr>
            <p:cNvPr id="15" name="Oval 11"/>
            <p:cNvSpPr>
              <a:spLocks noChangeArrowheads="1"/>
            </p:cNvSpPr>
            <p:nvPr/>
          </p:nvSpPr>
          <p:spPr bwMode="auto">
            <a:xfrm>
              <a:off x="1806184" y="3940071"/>
              <a:ext cx="269318" cy="255653"/>
            </a:xfrm>
            <a:prstGeom prst="ellipse">
              <a:avLst/>
            </a:prstGeom>
            <a:solidFill>
              <a:schemeClr val="bg1"/>
            </a:solidFill>
            <a:ln w="28575" cap="sq">
              <a:solidFill>
                <a:srgbClr val="0033CC"/>
              </a:solidFill>
              <a:miter lim="800000"/>
              <a:headEnd type="none" w="sm" len="sm"/>
              <a:tailEnd type="none" w="sm" len="sm"/>
            </a:ln>
          </p:spPr>
          <p:txBody>
            <a:bodyPr wrap="none" tIns="0" anchorCtr="1"/>
            <a:lstStyle/>
            <a:p>
              <a:r>
                <a:rPr lang="en-US" altLang="zh-CN"/>
                <a:t>E</a:t>
              </a:r>
              <a:endParaRPr lang="en-US" altLang="zh-CN" baseline="-25000"/>
            </a:p>
          </p:txBody>
        </p:sp>
        <p:sp>
          <p:nvSpPr>
            <p:cNvPr id="16" name="Oval 12"/>
            <p:cNvSpPr>
              <a:spLocks noChangeArrowheads="1"/>
            </p:cNvSpPr>
            <p:nvPr/>
          </p:nvSpPr>
          <p:spPr bwMode="auto">
            <a:xfrm>
              <a:off x="1189387" y="4342502"/>
              <a:ext cx="269318" cy="255653"/>
            </a:xfrm>
            <a:prstGeom prst="ellipse">
              <a:avLst/>
            </a:prstGeom>
            <a:solidFill>
              <a:schemeClr val="bg1"/>
            </a:solidFill>
            <a:ln w="28575" cap="sq">
              <a:solidFill>
                <a:srgbClr val="0033CC"/>
              </a:solidFill>
              <a:miter lim="800000"/>
              <a:headEnd type="none" w="sm" len="sm"/>
              <a:tailEnd type="none" w="sm" len="sm"/>
            </a:ln>
          </p:spPr>
          <p:txBody>
            <a:bodyPr wrap="none" tIns="0" anchorCtr="1"/>
            <a:lstStyle/>
            <a:p>
              <a:r>
                <a:rPr lang="en-US" altLang="zh-CN"/>
                <a:t>G</a:t>
              </a:r>
              <a:endParaRPr lang="en-US" altLang="zh-CN" baseline="-25000"/>
            </a:p>
          </p:txBody>
        </p:sp>
        <p:sp>
          <p:nvSpPr>
            <p:cNvPr id="17" name="Oval 13"/>
            <p:cNvSpPr>
              <a:spLocks noChangeArrowheads="1"/>
            </p:cNvSpPr>
            <p:nvPr/>
          </p:nvSpPr>
          <p:spPr bwMode="auto">
            <a:xfrm>
              <a:off x="1844415" y="4342502"/>
              <a:ext cx="269318" cy="255653"/>
            </a:xfrm>
            <a:prstGeom prst="ellipse">
              <a:avLst/>
            </a:prstGeom>
            <a:solidFill>
              <a:schemeClr val="bg1"/>
            </a:solidFill>
            <a:ln w="28575" cap="sq">
              <a:solidFill>
                <a:srgbClr val="0033CC"/>
              </a:solidFill>
              <a:miter lim="800000"/>
              <a:headEnd type="none" w="sm" len="sm"/>
              <a:tailEnd type="none" w="sm" len="sm"/>
            </a:ln>
          </p:spPr>
          <p:txBody>
            <a:bodyPr wrap="none" tIns="0" anchorCtr="1"/>
            <a:lstStyle/>
            <a:p>
              <a:r>
                <a:rPr lang="en-US" altLang="zh-CN"/>
                <a:t>H</a:t>
              </a:r>
              <a:endParaRPr lang="en-US" altLang="zh-CN" baseline="-25000"/>
            </a:p>
          </p:txBody>
        </p:sp>
        <p:sp>
          <p:nvSpPr>
            <p:cNvPr id="18" name="Oval 14"/>
            <p:cNvSpPr>
              <a:spLocks noChangeArrowheads="1"/>
            </p:cNvSpPr>
            <p:nvPr/>
          </p:nvSpPr>
          <p:spPr bwMode="auto">
            <a:xfrm>
              <a:off x="649902" y="4927197"/>
              <a:ext cx="269318" cy="255653"/>
            </a:xfrm>
            <a:prstGeom prst="ellipse">
              <a:avLst/>
            </a:prstGeom>
            <a:solidFill>
              <a:schemeClr val="bg1"/>
            </a:solidFill>
            <a:ln w="28575" cap="sq">
              <a:solidFill>
                <a:srgbClr val="0033CC"/>
              </a:solidFill>
              <a:miter lim="800000"/>
              <a:headEnd type="none" w="sm" len="sm"/>
              <a:tailEnd type="none" w="sm" len="sm"/>
            </a:ln>
          </p:spPr>
          <p:txBody>
            <a:bodyPr wrap="none" tIns="0" anchorCtr="1"/>
            <a:lstStyle/>
            <a:p>
              <a:r>
                <a:rPr lang="en-US" altLang="zh-CN"/>
                <a:t>I</a:t>
              </a:r>
              <a:endParaRPr lang="en-US" altLang="zh-CN" baseline="-25000"/>
            </a:p>
          </p:txBody>
        </p:sp>
        <p:sp>
          <p:nvSpPr>
            <p:cNvPr id="19" name="Oval 15"/>
            <p:cNvSpPr>
              <a:spLocks noChangeArrowheads="1"/>
            </p:cNvSpPr>
            <p:nvPr/>
          </p:nvSpPr>
          <p:spPr bwMode="auto">
            <a:xfrm>
              <a:off x="688982" y="4342502"/>
              <a:ext cx="269318" cy="255653"/>
            </a:xfrm>
            <a:prstGeom prst="ellipse">
              <a:avLst/>
            </a:prstGeom>
            <a:solidFill>
              <a:schemeClr val="bg1"/>
            </a:solidFill>
            <a:ln w="28575" cap="sq">
              <a:solidFill>
                <a:srgbClr val="0033CC"/>
              </a:solidFill>
              <a:miter lim="800000"/>
              <a:headEnd type="none" w="sm" len="sm"/>
              <a:tailEnd type="none" w="sm" len="sm"/>
            </a:ln>
          </p:spPr>
          <p:txBody>
            <a:bodyPr wrap="none" tIns="0" anchorCtr="1"/>
            <a:lstStyle/>
            <a:p>
              <a:r>
                <a:rPr lang="en-US" altLang="zh-CN"/>
                <a:t>F</a:t>
              </a:r>
              <a:endParaRPr lang="en-US" altLang="zh-CN" baseline="-25000"/>
            </a:p>
          </p:txBody>
        </p:sp>
        <p:sp>
          <p:nvSpPr>
            <p:cNvPr id="20" name="Oval 16"/>
            <p:cNvSpPr>
              <a:spLocks noChangeArrowheads="1"/>
            </p:cNvSpPr>
            <p:nvPr/>
          </p:nvSpPr>
          <p:spPr bwMode="auto">
            <a:xfrm>
              <a:off x="688982" y="3940071"/>
              <a:ext cx="269318" cy="255653"/>
            </a:xfrm>
            <a:prstGeom prst="ellipse">
              <a:avLst/>
            </a:prstGeom>
            <a:solidFill>
              <a:schemeClr val="bg1"/>
            </a:solidFill>
            <a:ln w="28575" cap="sq">
              <a:solidFill>
                <a:srgbClr val="0033CC"/>
              </a:solidFill>
              <a:miter lim="800000"/>
              <a:headEnd type="none" w="sm" len="sm"/>
              <a:tailEnd type="none" w="sm" len="sm"/>
            </a:ln>
          </p:spPr>
          <p:txBody>
            <a:bodyPr wrap="none" tIns="0" anchorCtr="1"/>
            <a:lstStyle/>
            <a:p>
              <a:r>
                <a:rPr lang="en-US" altLang="zh-CN"/>
                <a:t>C</a:t>
              </a:r>
              <a:endParaRPr lang="en-US" altLang="zh-CN" baseline="-25000"/>
            </a:p>
          </p:txBody>
        </p:sp>
        <p:sp>
          <p:nvSpPr>
            <p:cNvPr id="21" name="Oval 17"/>
            <p:cNvSpPr>
              <a:spLocks noChangeArrowheads="1"/>
            </p:cNvSpPr>
            <p:nvPr/>
          </p:nvSpPr>
          <p:spPr bwMode="auto">
            <a:xfrm>
              <a:off x="1883496" y="4854615"/>
              <a:ext cx="269318" cy="255653"/>
            </a:xfrm>
            <a:prstGeom prst="ellipse">
              <a:avLst/>
            </a:prstGeom>
            <a:solidFill>
              <a:schemeClr val="bg1"/>
            </a:solidFill>
            <a:ln w="28575" cap="sq">
              <a:solidFill>
                <a:srgbClr val="0033CC"/>
              </a:solidFill>
              <a:miter lim="800000"/>
              <a:headEnd type="none" w="sm" len="sm"/>
              <a:tailEnd type="none" w="sm" len="sm"/>
            </a:ln>
          </p:spPr>
          <p:txBody>
            <a:bodyPr wrap="none" tIns="0" anchorCtr="1"/>
            <a:lstStyle/>
            <a:p>
              <a:r>
                <a:rPr lang="en-US" altLang="zh-CN"/>
                <a:t>K</a:t>
              </a:r>
              <a:endParaRPr lang="en-US" altLang="zh-CN" baseline="-25000"/>
            </a:p>
          </p:txBody>
        </p:sp>
        <p:sp>
          <p:nvSpPr>
            <p:cNvPr id="22" name="Line 18"/>
            <p:cNvSpPr>
              <a:spLocks noChangeShapeType="1"/>
            </p:cNvSpPr>
            <p:nvPr/>
          </p:nvSpPr>
          <p:spPr bwMode="auto">
            <a:xfrm>
              <a:off x="573439" y="3683612"/>
              <a:ext cx="1849541" cy="0"/>
            </a:xfrm>
            <a:prstGeom prst="line">
              <a:avLst/>
            </a:prstGeom>
            <a:noFill/>
            <a:ln w="28575" cap="sq">
              <a:solidFill>
                <a:srgbClr val="0033CC"/>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23" name="Line 19"/>
            <p:cNvSpPr>
              <a:spLocks noChangeShapeType="1"/>
            </p:cNvSpPr>
            <p:nvPr/>
          </p:nvSpPr>
          <p:spPr bwMode="auto">
            <a:xfrm>
              <a:off x="418815" y="3830390"/>
              <a:ext cx="0" cy="1718600"/>
            </a:xfrm>
            <a:prstGeom prst="line">
              <a:avLst/>
            </a:prstGeom>
            <a:noFill/>
            <a:ln w="28575" cap="sq">
              <a:solidFill>
                <a:srgbClr val="0033CC"/>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24" name="Line 20"/>
            <p:cNvSpPr>
              <a:spLocks noChangeShapeType="1"/>
            </p:cNvSpPr>
            <p:nvPr/>
          </p:nvSpPr>
          <p:spPr bwMode="auto">
            <a:xfrm>
              <a:off x="2593747" y="3830390"/>
              <a:ext cx="0" cy="1754891"/>
            </a:xfrm>
            <a:prstGeom prst="line">
              <a:avLst/>
            </a:prstGeom>
            <a:noFill/>
            <a:ln w="28575" cap="sq">
              <a:solidFill>
                <a:srgbClr val="0033CC"/>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25" name="Line 21"/>
            <p:cNvSpPr>
              <a:spLocks noChangeShapeType="1"/>
            </p:cNvSpPr>
            <p:nvPr/>
          </p:nvSpPr>
          <p:spPr bwMode="auto">
            <a:xfrm>
              <a:off x="573439" y="5695769"/>
              <a:ext cx="1887772" cy="0"/>
            </a:xfrm>
            <a:prstGeom prst="line">
              <a:avLst/>
            </a:prstGeom>
            <a:noFill/>
            <a:ln w="28575" cap="sq">
              <a:solidFill>
                <a:srgbClr val="0033CC"/>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26" name="Line 22"/>
            <p:cNvSpPr>
              <a:spLocks noChangeShapeType="1"/>
            </p:cNvSpPr>
            <p:nvPr/>
          </p:nvSpPr>
          <p:spPr bwMode="auto">
            <a:xfrm>
              <a:off x="561545" y="3782808"/>
              <a:ext cx="192855" cy="183070"/>
            </a:xfrm>
            <a:prstGeom prst="line">
              <a:avLst/>
            </a:prstGeom>
            <a:noFill/>
            <a:ln w="28575" cap="sq">
              <a:solidFill>
                <a:srgbClr val="0033CC"/>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27" name="Line 23"/>
            <p:cNvSpPr>
              <a:spLocks noChangeShapeType="1"/>
            </p:cNvSpPr>
            <p:nvPr/>
          </p:nvSpPr>
          <p:spPr bwMode="auto">
            <a:xfrm>
              <a:off x="496127" y="3830390"/>
              <a:ext cx="231086" cy="548404"/>
            </a:xfrm>
            <a:prstGeom prst="line">
              <a:avLst/>
            </a:prstGeom>
            <a:noFill/>
            <a:ln w="28575" cap="sq">
              <a:solidFill>
                <a:srgbClr val="0033CC"/>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28" name="Line 24"/>
            <p:cNvSpPr>
              <a:spLocks noChangeShapeType="1"/>
            </p:cNvSpPr>
            <p:nvPr/>
          </p:nvSpPr>
          <p:spPr bwMode="auto">
            <a:xfrm>
              <a:off x="1459554" y="4049752"/>
              <a:ext cx="346630" cy="0"/>
            </a:xfrm>
            <a:prstGeom prst="line">
              <a:avLst/>
            </a:prstGeom>
            <a:noFill/>
            <a:ln w="28575" cap="sq">
              <a:solidFill>
                <a:srgbClr val="0033CC"/>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29" name="Line 25"/>
            <p:cNvSpPr>
              <a:spLocks noChangeShapeType="1"/>
            </p:cNvSpPr>
            <p:nvPr/>
          </p:nvSpPr>
          <p:spPr bwMode="auto">
            <a:xfrm>
              <a:off x="1459554" y="4488475"/>
              <a:ext cx="384861" cy="0"/>
            </a:xfrm>
            <a:prstGeom prst="line">
              <a:avLst/>
            </a:prstGeom>
            <a:noFill/>
            <a:ln w="28575" cap="sq">
              <a:solidFill>
                <a:srgbClr val="0033CC"/>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30" name="Line 26"/>
            <p:cNvSpPr>
              <a:spLocks noChangeShapeType="1"/>
            </p:cNvSpPr>
            <p:nvPr/>
          </p:nvSpPr>
          <p:spPr bwMode="auto">
            <a:xfrm>
              <a:off x="1999039" y="4598155"/>
              <a:ext cx="0" cy="256459"/>
            </a:xfrm>
            <a:prstGeom prst="line">
              <a:avLst/>
            </a:prstGeom>
            <a:noFill/>
            <a:ln w="28575" cap="sq">
              <a:solidFill>
                <a:srgbClr val="0033CC"/>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31" name="Line 27"/>
            <p:cNvSpPr>
              <a:spLocks noChangeShapeType="1"/>
            </p:cNvSpPr>
            <p:nvPr/>
          </p:nvSpPr>
          <p:spPr bwMode="auto">
            <a:xfrm>
              <a:off x="1420473" y="4566703"/>
              <a:ext cx="501254" cy="329042"/>
            </a:xfrm>
            <a:prstGeom prst="line">
              <a:avLst/>
            </a:prstGeom>
            <a:noFill/>
            <a:ln w="28575" cap="sq">
              <a:solidFill>
                <a:srgbClr val="0033CC"/>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32" name="Line 28"/>
            <p:cNvSpPr>
              <a:spLocks noChangeShapeType="1"/>
            </p:cNvSpPr>
            <p:nvPr/>
          </p:nvSpPr>
          <p:spPr bwMode="auto">
            <a:xfrm flipH="1">
              <a:off x="842757" y="4561864"/>
              <a:ext cx="385710" cy="365334"/>
            </a:xfrm>
            <a:prstGeom prst="line">
              <a:avLst/>
            </a:prstGeom>
            <a:noFill/>
            <a:ln w="28575" cap="sq">
              <a:solidFill>
                <a:srgbClr val="0033CC"/>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33" name="Line 29"/>
            <p:cNvSpPr>
              <a:spLocks noChangeShapeType="1"/>
            </p:cNvSpPr>
            <p:nvPr/>
          </p:nvSpPr>
          <p:spPr bwMode="auto">
            <a:xfrm flipH="1">
              <a:off x="534358" y="5366727"/>
              <a:ext cx="809652" cy="219361"/>
            </a:xfrm>
            <a:prstGeom prst="line">
              <a:avLst/>
            </a:prstGeom>
            <a:noFill/>
            <a:ln w="28575" cap="sq">
              <a:solidFill>
                <a:srgbClr val="0033CC"/>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34" name="Line 30"/>
            <p:cNvSpPr>
              <a:spLocks noChangeShapeType="1"/>
            </p:cNvSpPr>
            <p:nvPr/>
          </p:nvSpPr>
          <p:spPr bwMode="auto">
            <a:xfrm>
              <a:off x="1613328" y="5329629"/>
              <a:ext cx="886964" cy="291944"/>
            </a:xfrm>
            <a:prstGeom prst="line">
              <a:avLst/>
            </a:prstGeom>
            <a:noFill/>
            <a:ln w="28575" cap="sq">
              <a:solidFill>
                <a:srgbClr val="0033CC"/>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35" name="组合 34"/>
          <p:cNvGrpSpPr/>
          <p:nvPr/>
        </p:nvGrpSpPr>
        <p:grpSpPr>
          <a:xfrm>
            <a:off x="940867" y="2444587"/>
            <a:ext cx="2588410" cy="2630769"/>
            <a:chOff x="1476472" y="3461076"/>
            <a:chExt cx="3136351" cy="2929298"/>
          </a:xfrm>
        </p:grpSpPr>
        <p:sp>
          <p:nvSpPr>
            <p:cNvPr id="36" name="Oval 5"/>
            <p:cNvSpPr>
              <a:spLocks noChangeArrowheads="1"/>
            </p:cNvSpPr>
            <p:nvPr/>
          </p:nvSpPr>
          <p:spPr bwMode="auto">
            <a:xfrm>
              <a:off x="1476472" y="3461076"/>
              <a:ext cx="347874" cy="330223"/>
            </a:xfrm>
            <a:prstGeom prst="ellipse">
              <a:avLst/>
            </a:prstGeom>
            <a:solidFill>
              <a:schemeClr val="bg1"/>
            </a:solidFill>
            <a:ln w="28575" cap="sq">
              <a:solidFill>
                <a:srgbClr val="0033CC"/>
              </a:solidFill>
              <a:miter lim="800000"/>
              <a:headEnd type="none" w="sm" len="sm"/>
              <a:tailEnd type="none" w="sm" len="sm"/>
            </a:ln>
          </p:spPr>
          <p:txBody>
            <a:bodyPr wrap="none" tIns="0" anchorCtr="1"/>
            <a:lstStyle/>
            <a:p>
              <a:r>
                <a:rPr lang="en-US" altLang="zh-CN"/>
                <a:t>A</a:t>
              </a:r>
              <a:endParaRPr lang="en-US" altLang="zh-CN" baseline="-25000"/>
            </a:p>
          </p:txBody>
        </p:sp>
        <p:sp>
          <p:nvSpPr>
            <p:cNvPr id="37" name="Oval 6"/>
            <p:cNvSpPr>
              <a:spLocks noChangeArrowheads="1"/>
            </p:cNvSpPr>
            <p:nvPr/>
          </p:nvSpPr>
          <p:spPr bwMode="auto">
            <a:xfrm>
              <a:off x="4214469" y="3461076"/>
              <a:ext cx="347874" cy="330223"/>
            </a:xfrm>
            <a:prstGeom prst="ellipse">
              <a:avLst/>
            </a:prstGeom>
            <a:solidFill>
              <a:schemeClr val="bg1"/>
            </a:solidFill>
            <a:ln w="28575" cap="sq">
              <a:solidFill>
                <a:srgbClr val="0033CC"/>
              </a:solidFill>
              <a:miter lim="800000"/>
              <a:headEnd type="none" w="sm" len="sm"/>
              <a:tailEnd type="none" w="sm" len="sm"/>
            </a:ln>
          </p:spPr>
          <p:txBody>
            <a:bodyPr wrap="none" tIns="0" anchorCtr="1"/>
            <a:lstStyle/>
            <a:p>
              <a:r>
                <a:rPr lang="en-US" altLang="zh-CN"/>
                <a:t>B</a:t>
              </a:r>
              <a:endParaRPr lang="en-US" altLang="zh-CN" baseline="-25000"/>
            </a:p>
          </p:txBody>
        </p:sp>
        <p:sp>
          <p:nvSpPr>
            <p:cNvPr id="38" name="Oval 7"/>
            <p:cNvSpPr>
              <a:spLocks noChangeArrowheads="1"/>
            </p:cNvSpPr>
            <p:nvPr/>
          </p:nvSpPr>
          <p:spPr bwMode="auto">
            <a:xfrm>
              <a:off x="1476472" y="6013274"/>
              <a:ext cx="347874" cy="330223"/>
            </a:xfrm>
            <a:prstGeom prst="ellipse">
              <a:avLst/>
            </a:prstGeom>
            <a:solidFill>
              <a:schemeClr val="bg1"/>
            </a:solidFill>
            <a:ln w="28575" cap="sq">
              <a:solidFill>
                <a:srgbClr val="0033CC"/>
              </a:solidFill>
              <a:miter lim="800000"/>
              <a:headEnd type="none" w="sm" len="sm"/>
              <a:tailEnd type="none" w="sm" len="sm"/>
            </a:ln>
          </p:spPr>
          <p:txBody>
            <a:bodyPr wrap="none" tIns="0" anchorCtr="1"/>
            <a:lstStyle/>
            <a:p>
              <a:r>
                <a:rPr lang="en-US" altLang="zh-CN"/>
                <a:t>L</a:t>
              </a:r>
              <a:endParaRPr lang="en-US" altLang="zh-CN" baseline="-25000"/>
            </a:p>
          </p:txBody>
        </p:sp>
        <p:sp>
          <p:nvSpPr>
            <p:cNvPr id="39" name="Oval 8"/>
            <p:cNvSpPr>
              <a:spLocks noChangeArrowheads="1"/>
            </p:cNvSpPr>
            <p:nvPr/>
          </p:nvSpPr>
          <p:spPr bwMode="auto">
            <a:xfrm>
              <a:off x="4264949" y="6060151"/>
              <a:ext cx="347874" cy="330223"/>
            </a:xfrm>
            <a:prstGeom prst="ellipse">
              <a:avLst/>
            </a:prstGeom>
            <a:solidFill>
              <a:schemeClr val="bg1"/>
            </a:solidFill>
            <a:ln w="28575" cap="sq">
              <a:solidFill>
                <a:srgbClr val="0033CC"/>
              </a:solidFill>
              <a:miter lim="800000"/>
              <a:headEnd type="none" w="sm" len="sm"/>
              <a:tailEnd type="none" w="sm" len="sm"/>
            </a:ln>
          </p:spPr>
          <p:txBody>
            <a:bodyPr wrap="none" tIns="0" anchorCtr="1"/>
            <a:lstStyle/>
            <a:p>
              <a:r>
                <a:rPr lang="en-US" altLang="zh-CN"/>
                <a:t>M</a:t>
              </a:r>
              <a:endParaRPr lang="en-US" altLang="zh-CN" baseline="-25000"/>
            </a:p>
          </p:txBody>
        </p:sp>
        <p:sp>
          <p:nvSpPr>
            <p:cNvPr id="40" name="Oval 9"/>
            <p:cNvSpPr>
              <a:spLocks noChangeArrowheads="1"/>
            </p:cNvSpPr>
            <p:nvPr/>
          </p:nvSpPr>
          <p:spPr bwMode="auto">
            <a:xfrm>
              <a:off x="2820779" y="5588255"/>
              <a:ext cx="347874" cy="330223"/>
            </a:xfrm>
            <a:prstGeom prst="ellipse">
              <a:avLst/>
            </a:prstGeom>
            <a:solidFill>
              <a:schemeClr val="bg1"/>
            </a:solidFill>
            <a:ln w="28575" cap="sq">
              <a:solidFill>
                <a:srgbClr val="0033CC"/>
              </a:solidFill>
              <a:miter lim="800000"/>
              <a:headEnd type="none" w="sm" len="sm"/>
              <a:tailEnd type="none" w="sm" len="sm"/>
            </a:ln>
          </p:spPr>
          <p:txBody>
            <a:bodyPr wrap="none" tIns="0" anchorCtr="1"/>
            <a:lstStyle/>
            <a:p>
              <a:r>
                <a:rPr lang="en-US" altLang="zh-CN"/>
                <a:t>J</a:t>
              </a:r>
              <a:endParaRPr lang="en-US" altLang="zh-CN" baseline="-25000"/>
            </a:p>
          </p:txBody>
        </p:sp>
        <p:sp>
          <p:nvSpPr>
            <p:cNvPr id="41" name="Oval 15"/>
            <p:cNvSpPr>
              <a:spLocks noChangeArrowheads="1"/>
            </p:cNvSpPr>
            <p:nvPr/>
          </p:nvSpPr>
          <p:spPr bwMode="auto">
            <a:xfrm>
              <a:off x="1974689" y="4453829"/>
              <a:ext cx="347874" cy="330223"/>
            </a:xfrm>
            <a:prstGeom prst="ellipse">
              <a:avLst/>
            </a:prstGeom>
            <a:solidFill>
              <a:schemeClr val="bg1"/>
            </a:solidFill>
            <a:ln w="28575" cap="sq">
              <a:solidFill>
                <a:srgbClr val="0033CC"/>
              </a:solidFill>
              <a:miter lim="800000"/>
              <a:headEnd type="none" w="sm" len="sm"/>
              <a:tailEnd type="none" w="sm" len="sm"/>
            </a:ln>
          </p:spPr>
          <p:txBody>
            <a:bodyPr wrap="none" tIns="0" anchorCtr="1"/>
            <a:lstStyle/>
            <a:p>
              <a:r>
                <a:rPr lang="en-US" altLang="zh-CN"/>
                <a:t>F</a:t>
              </a:r>
              <a:endParaRPr lang="en-US" altLang="zh-CN" baseline="-25000"/>
            </a:p>
          </p:txBody>
        </p:sp>
        <p:sp>
          <p:nvSpPr>
            <p:cNvPr id="42" name="Oval 16"/>
            <p:cNvSpPr>
              <a:spLocks noChangeArrowheads="1"/>
            </p:cNvSpPr>
            <p:nvPr/>
          </p:nvSpPr>
          <p:spPr bwMode="auto">
            <a:xfrm>
              <a:off x="1974689" y="3934014"/>
              <a:ext cx="347874" cy="330223"/>
            </a:xfrm>
            <a:prstGeom prst="ellipse">
              <a:avLst/>
            </a:prstGeom>
            <a:solidFill>
              <a:schemeClr val="bg1"/>
            </a:solidFill>
            <a:ln w="28575" cap="sq">
              <a:solidFill>
                <a:srgbClr val="0033CC"/>
              </a:solidFill>
              <a:miter lim="800000"/>
              <a:headEnd type="none" w="sm" len="sm"/>
              <a:tailEnd type="none" w="sm" len="sm"/>
            </a:ln>
          </p:spPr>
          <p:txBody>
            <a:bodyPr wrap="none" tIns="0" anchorCtr="1"/>
            <a:lstStyle/>
            <a:p>
              <a:r>
                <a:rPr lang="en-US" altLang="zh-CN"/>
                <a:t>C</a:t>
              </a:r>
              <a:endParaRPr lang="en-US" altLang="zh-CN" baseline="-25000"/>
            </a:p>
          </p:txBody>
        </p:sp>
        <p:sp>
          <p:nvSpPr>
            <p:cNvPr id="43" name="Line 18"/>
            <p:cNvSpPr>
              <a:spLocks noChangeShapeType="1"/>
            </p:cNvSpPr>
            <p:nvPr/>
          </p:nvSpPr>
          <p:spPr bwMode="auto">
            <a:xfrm>
              <a:off x="1825443" y="3602749"/>
              <a:ext cx="2389026" cy="0"/>
            </a:xfrm>
            <a:prstGeom prst="line">
              <a:avLst/>
            </a:prstGeom>
            <a:noFill/>
            <a:ln w="28575" cap="sq">
              <a:solidFill>
                <a:srgbClr val="0033CC"/>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44" name="Line 19"/>
            <p:cNvSpPr>
              <a:spLocks noChangeShapeType="1"/>
            </p:cNvSpPr>
            <p:nvPr/>
          </p:nvSpPr>
          <p:spPr bwMode="auto">
            <a:xfrm>
              <a:off x="1625718" y="3792341"/>
              <a:ext cx="0" cy="2219891"/>
            </a:xfrm>
            <a:prstGeom prst="line">
              <a:avLst/>
            </a:prstGeom>
            <a:noFill/>
            <a:ln w="28575" cap="sq">
              <a:solidFill>
                <a:srgbClr val="0033CC"/>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45" name="Line 20"/>
            <p:cNvSpPr>
              <a:spLocks noChangeShapeType="1"/>
            </p:cNvSpPr>
            <p:nvPr/>
          </p:nvSpPr>
          <p:spPr bwMode="auto">
            <a:xfrm>
              <a:off x="4435045" y="3792341"/>
              <a:ext cx="0" cy="2266768"/>
            </a:xfrm>
            <a:prstGeom prst="line">
              <a:avLst/>
            </a:prstGeom>
            <a:noFill/>
            <a:ln w="28575" cap="sq">
              <a:solidFill>
                <a:srgbClr val="0033CC"/>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46" name="Line 21"/>
            <p:cNvSpPr>
              <a:spLocks noChangeShapeType="1"/>
            </p:cNvSpPr>
            <p:nvPr/>
          </p:nvSpPr>
          <p:spPr bwMode="auto">
            <a:xfrm>
              <a:off x="1825443" y="6201824"/>
              <a:ext cx="2438409" cy="0"/>
            </a:xfrm>
            <a:prstGeom prst="line">
              <a:avLst/>
            </a:prstGeom>
            <a:noFill/>
            <a:ln w="28575" cap="sq">
              <a:solidFill>
                <a:srgbClr val="0033CC"/>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47" name="Line 22"/>
            <p:cNvSpPr>
              <a:spLocks noChangeShapeType="1"/>
            </p:cNvSpPr>
            <p:nvPr/>
          </p:nvSpPr>
          <p:spPr bwMode="auto">
            <a:xfrm>
              <a:off x="1810080" y="3730880"/>
              <a:ext cx="249108" cy="236469"/>
            </a:xfrm>
            <a:prstGeom prst="line">
              <a:avLst/>
            </a:prstGeom>
            <a:noFill/>
            <a:ln w="28575" cap="sq">
              <a:solidFill>
                <a:srgbClr val="0033CC"/>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48" name="Line 23"/>
            <p:cNvSpPr>
              <a:spLocks noChangeShapeType="1"/>
            </p:cNvSpPr>
            <p:nvPr/>
          </p:nvSpPr>
          <p:spPr bwMode="auto">
            <a:xfrm>
              <a:off x="1725580" y="3792341"/>
              <a:ext cx="298491" cy="708365"/>
            </a:xfrm>
            <a:prstGeom prst="line">
              <a:avLst/>
            </a:prstGeom>
            <a:noFill/>
            <a:ln w="28575" cap="sq">
              <a:solidFill>
                <a:srgbClr val="0033CC"/>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49" name="Line 29"/>
            <p:cNvSpPr>
              <a:spLocks noChangeShapeType="1"/>
            </p:cNvSpPr>
            <p:nvPr/>
          </p:nvSpPr>
          <p:spPr bwMode="auto">
            <a:xfrm flipH="1">
              <a:off x="1774963" y="5776805"/>
              <a:ext cx="1045816" cy="283346"/>
            </a:xfrm>
            <a:prstGeom prst="line">
              <a:avLst/>
            </a:prstGeom>
            <a:noFill/>
            <a:ln w="28575" cap="sq">
              <a:solidFill>
                <a:srgbClr val="0033CC"/>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50" name="Line 30"/>
            <p:cNvSpPr>
              <a:spLocks noChangeShapeType="1"/>
            </p:cNvSpPr>
            <p:nvPr/>
          </p:nvSpPr>
          <p:spPr bwMode="auto">
            <a:xfrm>
              <a:off x="3168653" y="5728886"/>
              <a:ext cx="1145679" cy="377100"/>
            </a:xfrm>
            <a:prstGeom prst="line">
              <a:avLst/>
            </a:prstGeom>
            <a:noFill/>
            <a:ln w="28575" cap="sq">
              <a:solidFill>
                <a:srgbClr val="0033CC"/>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grpSp>
      <p:sp>
        <p:nvSpPr>
          <p:cNvPr id="2" name="Rectangle 2">
            <a:extLst>
              <a:ext uri="{FF2B5EF4-FFF2-40B4-BE49-F238E27FC236}">
                <a16:creationId xmlns:a16="http://schemas.microsoft.com/office/drawing/2014/main" id="{2BE93515-AF23-77CD-5C77-6B6B5875614B}"/>
              </a:ext>
            </a:extLst>
          </p:cNvPr>
          <p:cNvSpPr txBox="1">
            <a:spLocks noChangeArrowheads="1"/>
          </p:cNvSpPr>
          <p:nvPr/>
        </p:nvSpPr>
        <p:spPr>
          <a:xfrm>
            <a:off x="474772" y="1230902"/>
            <a:ext cx="4469100"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8.4.2 </a:t>
            </a:r>
            <a:r>
              <a:rPr kumimoji="1" lang="zh-CN" altLang="en-US" dirty="0">
                <a:latin typeface="微软雅黑" pitchFamily="34" charset="-122"/>
                <a:ea typeface="微软雅黑" pitchFamily="34" charset="-122"/>
              </a:rPr>
              <a:t>非连通图和生成树</a:t>
            </a:r>
          </a:p>
        </p:txBody>
      </p:sp>
      <p:sp>
        <p:nvSpPr>
          <p:cNvPr id="3" name="矩形 2">
            <a:extLst>
              <a:ext uri="{FF2B5EF4-FFF2-40B4-BE49-F238E27FC236}">
                <a16:creationId xmlns:a16="http://schemas.microsoft.com/office/drawing/2014/main" id="{60FD6926-8F63-56B1-EC46-89681F55665B}"/>
              </a:ext>
            </a:extLst>
          </p:cNvPr>
          <p:cNvSpPr/>
          <p:nvPr/>
        </p:nvSpPr>
        <p:spPr>
          <a:xfrm>
            <a:off x="3394075" y="399838"/>
            <a:ext cx="4617860"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8.4 </a:t>
            </a:r>
            <a:r>
              <a:rPr lang="zh-CN" altLang="en-US" sz="3000" b="1" dirty="0">
                <a:latin typeface="黑体" pitchFamily="49" charset="-122"/>
                <a:ea typeface="黑体" pitchFamily="49" charset="-122"/>
                <a:cs typeface="经典粗黑简" pitchFamily="49" charset="-122"/>
              </a:rPr>
              <a:t>生成树和最小生成树</a:t>
            </a:r>
          </a:p>
        </p:txBody>
      </p:sp>
      <p:cxnSp>
        <p:nvCxnSpPr>
          <p:cNvPr id="4" name="直接连接符 3">
            <a:extLst>
              <a:ext uri="{FF2B5EF4-FFF2-40B4-BE49-F238E27FC236}">
                <a16:creationId xmlns:a16="http://schemas.microsoft.com/office/drawing/2014/main" id="{A5FD0385-B1A8-BF4B-7633-A9877D7E8177}"/>
              </a:ext>
            </a:extLst>
          </p:cNvPr>
          <p:cNvCxnSpPr>
            <a:cxnSpLocks/>
          </p:cNvCxnSpPr>
          <p:nvPr/>
        </p:nvCxnSpPr>
        <p:spPr>
          <a:xfrm>
            <a:off x="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grpSp>
        <p:nvGrpSpPr>
          <p:cNvPr id="5" name="组合 4"/>
          <p:cNvGrpSpPr/>
          <p:nvPr/>
        </p:nvGrpSpPr>
        <p:grpSpPr>
          <a:xfrm>
            <a:off x="8101955" y="2395615"/>
            <a:ext cx="3024335" cy="2808312"/>
            <a:chOff x="303272" y="3573931"/>
            <a:chExt cx="2428107" cy="2267810"/>
          </a:xfrm>
        </p:grpSpPr>
        <p:sp>
          <p:nvSpPr>
            <p:cNvPr id="6" name="Oval 5"/>
            <p:cNvSpPr>
              <a:spLocks noChangeArrowheads="1"/>
            </p:cNvSpPr>
            <p:nvPr/>
          </p:nvSpPr>
          <p:spPr bwMode="auto">
            <a:xfrm>
              <a:off x="303272" y="3573931"/>
              <a:ext cx="269318" cy="255653"/>
            </a:xfrm>
            <a:prstGeom prst="ellipse">
              <a:avLst/>
            </a:prstGeom>
            <a:solidFill>
              <a:schemeClr val="bg1"/>
            </a:solidFill>
            <a:ln w="28575" cap="sq">
              <a:solidFill>
                <a:srgbClr val="FF0000"/>
              </a:solidFill>
              <a:miter lim="800000"/>
              <a:headEnd type="none" w="sm" len="sm"/>
              <a:tailEnd type="none" w="sm" len="sm"/>
            </a:ln>
          </p:spPr>
          <p:txBody>
            <a:bodyPr wrap="none" tIns="0" anchorCtr="1"/>
            <a:lstStyle/>
            <a:p>
              <a:r>
                <a:rPr lang="en-US" altLang="zh-CN" dirty="0"/>
                <a:t>A</a:t>
              </a:r>
              <a:endParaRPr lang="en-US" altLang="zh-CN" baseline="-25000" dirty="0"/>
            </a:p>
          </p:txBody>
        </p:sp>
        <p:sp>
          <p:nvSpPr>
            <p:cNvPr id="10" name="Oval 6"/>
            <p:cNvSpPr>
              <a:spLocks noChangeArrowheads="1"/>
            </p:cNvSpPr>
            <p:nvPr/>
          </p:nvSpPr>
          <p:spPr bwMode="auto">
            <a:xfrm>
              <a:off x="2422981" y="3573931"/>
              <a:ext cx="269318" cy="255653"/>
            </a:xfrm>
            <a:prstGeom prst="ellipse">
              <a:avLst/>
            </a:prstGeom>
            <a:solidFill>
              <a:schemeClr val="bg1"/>
            </a:solidFill>
            <a:ln w="28575" cap="sq">
              <a:solidFill>
                <a:srgbClr val="FF0000"/>
              </a:solidFill>
              <a:miter lim="800000"/>
              <a:headEnd type="none" w="sm" len="sm"/>
              <a:tailEnd type="none" w="sm" len="sm"/>
            </a:ln>
          </p:spPr>
          <p:txBody>
            <a:bodyPr wrap="none" tIns="0" anchorCtr="1"/>
            <a:lstStyle/>
            <a:p>
              <a:r>
                <a:rPr lang="en-US" altLang="zh-CN"/>
                <a:t>B</a:t>
              </a:r>
              <a:endParaRPr lang="en-US" altLang="zh-CN" baseline="-25000"/>
            </a:p>
          </p:txBody>
        </p:sp>
        <p:sp>
          <p:nvSpPr>
            <p:cNvPr id="51" name="Oval 7"/>
            <p:cNvSpPr>
              <a:spLocks noChangeArrowheads="1"/>
            </p:cNvSpPr>
            <p:nvPr/>
          </p:nvSpPr>
          <p:spPr bwMode="auto">
            <a:xfrm>
              <a:off x="303272" y="5549797"/>
              <a:ext cx="269318" cy="255653"/>
            </a:xfrm>
            <a:prstGeom prst="ellipse">
              <a:avLst/>
            </a:prstGeom>
            <a:solidFill>
              <a:schemeClr val="bg1"/>
            </a:solidFill>
            <a:ln w="28575" cap="sq">
              <a:solidFill>
                <a:srgbClr val="FF0000"/>
              </a:solidFill>
              <a:miter lim="800000"/>
              <a:headEnd type="none" w="sm" len="sm"/>
              <a:tailEnd type="none" w="sm" len="sm"/>
            </a:ln>
          </p:spPr>
          <p:txBody>
            <a:bodyPr wrap="none" tIns="0" anchorCtr="1"/>
            <a:lstStyle/>
            <a:p>
              <a:r>
                <a:rPr lang="en-US" altLang="zh-CN"/>
                <a:t>L</a:t>
              </a:r>
              <a:endParaRPr lang="en-US" altLang="zh-CN" baseline="-25000"/>
            </a:p>
          </p:txBody>
        </p:sp>
        <p:sp>
          <p:nvSpPr>
            <p:cNvPr id="56" name="Oval 8"/>
            <p:cNvSpPr>
              <a:spLocks noChangeArrowheads="1"/>
            </p:cNvSpPr>
            <p:nvPr/>
          </p:nvSpPr>
          <p:spPr bwMode="auto">
            <a:xfrm>
              <a:off x="2462061" y="5586088"/>
              <a:ext cx="269318" cy="255653"/>
            </a:xfrm>
            <a:prstGeom prst="ellipse">
              <a:avLst/>
            </a:prstGeom>
            <a:solidFill>
              <a:schemeClr val="bg1"/>
            </a:solidFill>
            <a:ln w="28575" cap="sq">
              <a:solidFill>
                <a:srgbClr val="FF0000"/>
              </a:solidFill>
              <a:miter lim="800000"/>
              <a:headEnd type="none" w="sm" len="sm"/>
              <a:tailEnd type="none" w="sm" len="sm"/>
            </a:ln>
          </p:spPr>
          <p:txBody>
            <a:bodyPr wrap="none" tIns="0" anchorCtr="1"/>
            <a:lstStyle/>
            <a:p>
              <a:r>
                <a:rPr lang="en-US" altLang="zh-CN" dirty="0"/>
                <a:t>M</a:t>
              </a:r>
              <a:endParaRPr lang="en-US" altLang="zh-CN" baseline="-25000" dirty="0"/>
            </a:p>
          </p:txBody>
        </p:sp>
        <p:sp>
          <p:nvSpPr>
            <p:cNvPr id="57" name="Oval 9"/>
            <p:cNvSpPr>
              <a:spLocks noChangeArrowheads="1"/>
            </p:cNvSpPr>
            <p:nvPr/>
          </p:nvSpPr>
          <p:spPr bwMode="auto">
            <a:xfrm>
              <a:off x="1344011" y="5220755"/>
              <a:ext cx="269318" cy="255653"/>
            </a:xfrm>
            <a:prstGeom prst="ellipse">
              <a:avLst/>
            </a:prstGeom>
            <a:solidFill>
              <a:schemeClr val="bg1"/>
            </a:solidFill>
            <a:ln w="28575" cap="sq">
              <a:solidFill>
                <a:srgbClr val="FF0000"/>
              </a:solidFill>
              <a:miter lim="800000"/>
              <a:headEnd type="none" w="sm" len="sm"/>
              <a:tailEnd type="none" w="sm" len="sm"/>
            </a:ln>
          </p:spPr>
          <p:txBody>
            <a:bodyPr wrap="none" tIns="0" anchorCtr="1"/>
            <a:lstStyle/>
            <a:p>
              <a:r>
                <a:rPr lang="en-US" altLang="zh-CN"/>
                <a:t>J</a:t>
              </a:r>
              <a:endParaRPr lang="en-US" altLang="zh-CN" baseline="-25000"/>
            </a:p>
          </p:txBody>
        </p:sp>
        <p:sp>
          <p:nvSpPr>
            <p:cNvPr id="58" name="Oval 10"/>
            <p:cNvSpPr>
              <a:spLocks noChangeArrowheads="1"/>
            </p:cNvSpPr>
            <p:nvPr/>
          </p:nvSpPr>
          <p:spPr bwMode="auto">
            <a:xfrm>
              <a:off x="1189387" y="3940071"/>
              <a:ext cx="269318" cy="255653"/>
            </a:xfrm>
            <a:prstGeom prst="ellipse">
              <a:avLst/>
            </a:prstGeom>
            <a:solidFill>
              <a:schemeClr val="bg1"/>
            </a:solidFill>
            <a:ln w="28575" cap="sq">
              <a:solidFill>
                <a:srgbClr val="FF0000"/>
              </a:solidFill>
              <a:miter lim="800000"/>
              <a:headEnd type="none" w="sm" len="sm"/>
              <a:tailEnd type="none" w="sm" len="sm"/>
            </a:ln>
          </p:spPr>
          <p:txBody>
            <a:bodyPr wrap="none" tIns="0" anchorCtr="1"/>
            <a:lstStyle/>
            <a:p>
              <a:r>
                <a:rPr lang="en-US" altLang="zh-CN"/>
                <a:t>D</a:t>
              </a:r>
              <a:endParaRPr lang="en-US" altLang="zh-CN" baseline="-25000"/>
            </a:p>
          </p:txBody>
        </p:sp>
        <p:sp>
          <p:nvSpPr>
            <p:cNvPr id="59" name="Oval 11"/>
            <p:cNvSpPr>
              <a:spLocks noChangeArrowheads="1"/>
            </p:cNvSpPr>
            <p:nvPr/>
          </p:nvSpPr>
          <p:spPr bwMode="auto">
            <a:xfrm>
              <a:off x="1806184" y="3940071"/>
              <a:ext cx="269318" cy="255653"/>
            </a:xfrm>
            <a:prstGeom prst="ellipse">
              <a:avLst/>
            </a:prstGeom>
            <a:solidFill>
              <a:schemeClr val="bg1"/>
            </a:solidFill>
            <a:ln w="28575" cap="sq">
              <a:solidFill>
                <a:srgbClr val="FF0000"/>
              </a:solidFill>
              <a:miter lim="800000"/>
              <a:headEnd type="none" w="sm" len="sm"/>
              <a:tailEnd type="none" w="sm" len="sm"/>
            </a:ln>
          </p:spPr>
          <p:txBody>
            <a:bodyPr wrap="none" tIns="0" anchorCtr="1"/>
            <a:lstStyle/>
            <a:p>
              <a:r>
                <a:rPr lang="en-US" altLang="zh-CN"/>
                <a:t>E</a:t>
              </a:r>
              <a:endParaRPr lang="en-US" altLang="zh-CN" baseline="-25000"/>
            </a:p>
          </p:txBody>
        </p:sp>
        <p:sp>
          <p:nvSpPr>
            <p:cNvPr id="60" name="Oval 12"/>
            <p:cNvSpPr>
              <a:spLocks noChangeArrowheads="1"/>
            </p:cNvSpPr>
            <p:nvPr/>
          </p:nvSpPr>
          <p:spPr bwMode="auto">
            <a:xfrm>
              <a:off x="1189387" y="4342502"/>
              <a:ext cx="269318" cy="255653"/>
            </a:xfrm>
            <a:prstGeom prst="ellipse">
              <a:avLst/>
            </a:prstGeom>
            <a:solidFill>
              <a:schemeClr val="bg1"/>
            </a:solidFill>
            <a:ln w="28575" cap="sq">
              <a:solidFill>
                <a:srgbClr val="FF0000"/>
              </a:solidFill>
              <a:miter lim="800000"/>
              <a:headEnd type="none" w="sm" len="sm"/>
              <a:tailEnd type="none" w="sm" len="sm"/>
            </a:ln>
          </p:spPr>
          <p:txBody>
            <a:bodyPr wrap="none" tIns="0" anchorCtr="1"/>
            <a:lstStyle/>
            <a:p>
              <a:r>
                <a:rPr lang="en-US" altLang="zh-CN"/>
                <a:t>G</a:t>
              </a:r>
              <a:endParaRPr lang="en-US" altLang="zh-CN" baseline="-25000"/>
            </a:p>
          </p:txBody>
        </p:sp>
        <p:sp>
          <p:nvSpPr>
            <p:cNvPr id="61" name="Oval 13"/>
            <p:cNvSpPr>
              <a:spLocks noChangeArrowheads="1"/>
            </p:cNvSpPr>
            <p:nvPr/>
          </p:nvSpPr>
          <p:spPr bwMode="auto">
            <a:xfrm>
              <a:off x="1844415" y="4342502"/>
              <a:ext cx="269318" cy="255653"/>
            </a:xfrm>
            <a:prstGeom prst="ellipse">
              <a:avLst/>
            </a:prstGeom>
            <a:solidFill>
              <a:schemeClr val="bg1"/>
            </a:solidFill>
            <a:ln w="28575" cap="sq">
              <a:solidFill>
                <a:srgbClr val="FF0000"/>
              </a:solidFill>
              <a:miter lim="800000"/>
              <a:headEnd type="none" w="sm" len="sm"/>
              <a:tailEnd type="none" w="sm" len="sm"/>
            </a:ln>
          </p:spPr>
          <p:txBody>
            <a:bodyPr wrap="none" tIns="0" anchorCtr="1"/>
            <a:lstStyle/>
            <a:p>
              <a:r>
                <a:rPr lang="en-US" altLang="zh-CN"/>
                <a:t>H</a:t>
              </a:r>
              <a:endParaRPr lang="en-US" altLang="zh-CN" baseline="-25000"/>
            </a:p>
          </p:txBody>
        </p:sp>
        <p:sp>
          <p:nvSpPr>
            <p:cNvPr id="62" name="Oval 14"/>
            <p:cNvSpPr>
              <a:spLocks noChangeArrowheads="1"/>
            </p:cNvSpPr>
            <p:nvPr/>
          </p:nvSpPr>
          <p:spPr bwMode="auto">
            <a:xfrm>
              <a:off x="649902" y="4927197"/>
              <a:ext cx="269318" cy="255653"/>
            </a:xfrm>
            <a:prstGeom prst="ellipse">
              <a:avLst/>
            </a:prstGeom>
            <a:solidFill>
              <a:schemeClr val="bg1"/>
            </a:solidFill>
            <a:ln w="28575" cap="sq">
              <a:solidFill>
                <a:srgbClr val="FF0000"/>
              </a:solidFill>
              <a:miter lim="800000"/>
              <a:headEnd type="none" w="sm" len="sm"/>
              <a:tailEnd type="none" w="sm" len="sm"/>
            </a:ln>
          </p:spPr>
          <p:txBody>
            <a:bodyPr wrap="none" tIns="0" anchorCtr="1"/>
            <a:lstStyle/>
            <a:p>
              <a:r>
                <a:rPr lang="en-US" altLang="zh-CN"/>
                <a:t>I</a:t>
              </a:r>
              <a:endParaRPr lang="en-US" altLang="zh-CN" baseline="-25000"/>
            </a:p>
          </p:txBody>
        </p:sp>
        <p:sp>
          <p:nvSpPr>
            <p:cNvPr id="63" name="Oval 15"/>
            <p:cNvSpPr>
              <a:spLocks noChangeArrowheads="1"/>
            </p:cNvSpPr>
            <p:nvPr/>
          </p:nvSpPr>
          <p:spPr bwMode="auto">
            <a:xfrm>
              <a:off x="688982" y="4342502"/>
              <a:ext cx="269318" cy="255653"/>
            </a:xfrm>
            <a:prstGeom prst="ellipse">
              <a:avLst/>
            </a:prstGeom>
            <a:solidFill>
              <a:schemeClr val="bg1"/>
            </a:solidFill>
            <a:ln w="28575" cap="sq">
              <a:solidFill>
                <a:srgbClr val="FF0000"/>
              </a:solidFill>
              <a:miter lim="800000"/>
              <a:headEnd type="none" w="sm" len="sm"/>
              <a:tailEnd type="none" w="sm" len="sm"/>
            </a:ln>
          </p:spPr>
          <p:txBody>
            <a:bodyPr wrap="none" tIns="0" anchorCtr="1"/>
            <a:lstStyle/>
            <a:p>
              <a:r>
                <a:rPr lang="en-US" altLang="zh-CN"/>
                <a:t>F</a:t>
              </a:r>
              <a:endParaRPr lang="en-US" altLang="zh-CN" baseline="-25000"/>
            </a:p>
          </p:txBody>
        </p:sp>
        <p:sp>
          <p:nvSpPr>
            <p:cNvPr id="64" name="Oval 16"/>
            <p:cNvSpPr>
              <a:spLocks noChangeArrowheads="1"/>
            </p:cNvSpPr>
            <p:nvPr/>
          </p:nvSpPr>
          <p:spPr bwMode="auto">
            <a:xfrm>
              <a:off x="688982" y="3940071"/>
              <a:ext cx="269318" cy="255653"/>
            </a:xfrm>
            <a:prstGeom prst="ellipse">
              <a:avLst/>
            </a:prstGeom>
            <a:solidFill>
              <a:schemeClr val="bg1"/>
            </a:solidFill>
            <a:ln w="28575" cap="sq">
              <a:solidFill>
                <a:srgbClr val="FF0000"/>
              </a:solidFill>
              <a:miter lim="800000"/>
              <a:headEnd type="none" w="sm" len="sm"/>
              <a:tailEnd type="none" w="sm" len="sm"/>
            </a:ln>
          </p:spPr>
          <p:txBody>
            <a:bodyPr wrap="none" tIns="0" anchorCtr="1"/>
            <a:lstStyle/>
            <a:p>
              <a:r>
                <a:rPr lang="en-US" altLang="zh-CN"/>
                <a:t>C</a:t>
              </a:r>
              <a:endParaRPr lang="en-US" altLang="zh-CN" baseline="-25000"/>
            </a:p>
          </p:txBody>
        </p:sp>
        <p:sp>
          <p:nvSpPr>
            <p:cNvPr id="65" name="Oval 17"/>
            <p:cNvSpPr>
              <a:spLocks noChangeArrowheads="1"/>
            </p:cNvSpPr>
            <p:nvPr/>
          </p:nvSpPr>
          <p:spPr bwMode="auto">
            <a:xfrm>
              <a:off x="1883496" y="4854615"/>
              <a:ext cx="269318" cy="255653"/>
            </a:xfrm>
            <a:prstGeom prst="ellipse">
              <a:avLst/>
            </a:prstGeom>
            <a:solidFill>
              <a:schemeClr val="bg1"/>
            </a:solidFill>
            <a:ln w="28575" cap="sq">
              <a:solidFill>
                <a:srgbClr val="FF0000"/>
              </a:solidFill>
              <a:miter lim="800000"/>
              <a:headEnd type="none" w="sm" len="sm"/>
              <a:tailEnd type="none" w="sm" len="sm"/>
            </a:ln>
          </p:spPr>
          <p:txBody>
            <a:bodyPr wrap="none" tIns="0" anchorCtr="1"/>
            <a:lstStyle/>
            <a:p>
              <a:r>
                <a:rPr lang="en-US" altLang="zh-CN"/>
                <a:t>K</a:t>
              </a:r>
              <a:endParaRPr lang="en-US" altLang="zh-CN" baseline="-25000"/>
            </a:p>
          </p:txBody>
        </p:sp>
        <p:sp>
          <p:nvSpPr>
            <p:cNvPr id="66" name="Line 18"/>
            <p:cNvSpPr>
              <a:spLocks noChangeShapeType="1"/>
            </p:cNvSpPr>
            <p:nvPr/>
          </p:nvSpPr>
          <p:spPr bwMode="auto">
            <a:xfrm>
              <a:off x="573439" y="3683612"/>
              <a:ext cx="1849541" cy="0"/>
            </a:xfrm>
            <a:prstGeom prst="line">
              <a:avLst/>
            </a:prstGeom>
            <a:noFill/>
            <a:ln w="28575" cap="sq">
              <a:solidFill>
                <a:srgbClr val="FF0000"/>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67" name="Line 19"/>
            <p:cNvSpPr>
              <a:spLocks noChangeShapeType="1"/>
            </p:cNvSpPr>
            <p:nvPr/>
          </p:nvSpPr>
          <p:spPr bwMode="auto">
            <a:xfrm>
              <a:off x="418815" y="3830390"/>
              <a:ext cx="0" cy="1718600"/>
            </a:xfrm>
            <a:prstGeom prst="line">
              <a:avLst/>
            </a:prstGeom>
            <a:noFill/>
            <a:ln w="28575" cap="sq">
              <a:solidFill>
                <a:srgbClr val="FF0000"/>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68" name="Line 20"/>
            <p:cNvSpPr>
              <a:spLocks noChangeShapeType="1"/>
            </p:cNvSpPr>
            <p:nvPr/>
          </p:nvSpPr>
          <p:spPr bwMode="auto">
            <a:xfrm>
              <a:off x="2593747" y="3830390"/>
              <a:ext cx="0" cy="1754891"/>
            </a:xfrm>
            <a:prstGeom prst="line">
              <a:avLst/>
            </a:prstGeom>
            <a:noFill/>
            <a:ln w="28575" cap="sq">
              <a:solidFill>
                <a:srgbClr val="00B0F0"/>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69" name="Line 21"/>
            <p:cNvSpPr>
              <a:spLocks noChangeShapeType="1"/>
            </p:cNvSpPr>
            <p:nvPr/>
          </p:nvSpPr>
          <p:spPr bwMode="auto">
            <a:xfrm>
              <a:off x="573439" y="5695769"/>
              <a:ext cx="1887772" cy="0"/>
            </a:xfrm>
            <a:prstGeom prst="line">
              <a:avLst/>
            </a:prstGeom>
            <a:noFill/>
            <a:ln w="28575" cap="sq">
              <a:solidFill>
                <a:srgbClr val="FF0000"/>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70" name="Line 22"/>
            <p:cNvSpPr>
              <a:spLocks noChangeShapeType="1"/>
            </p:cNvSpPr>
            <p:nvPr/>
          </p:nvSpPr>
          <p:spPr bwMode="auto">
            <a:xfrm>
              <a:off x="561545" y="3782808"/>
              <a:ext cx="192855" cy="183070"/>
            </a:xfrm>
            <a:prstGeom prst="line">
              <a:avLst/>
            </a:prstGeom>
            <a:noFill/>
            <a:ln w="28575" cap="sq">
              <a:solidFill>
                <a:srgbClr val="FF0000"/>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71" name="Line 23"/>
            <p:cNvSpPr>
              <a:spLocks noChangeShapeType="1"/>
            </p:cNvSpPr>
            <p:nvPr/>
          </p:nvSpPr>
          <p:spPr bwMode="auto">
            <a:xfrm>
              <a:off x="496127" y="3830390"/>
              <a:ext cx="231086" cy="548404"/>
            </a:xfrm>
            <a:prstGeom prst="line">
              <a:avLst/>
            </a:prstGeom>
            <a:noFill/>
            <a:ln w="28575" cap="sq">
              <a:solidFill>
                <a:srgbClr val="FF0000"/>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72" name="Line 24"/>
            <p:cNvSpPr>
              <a:spLocks noChangeShapeType="1"/>
            </p:cNvSpPr>
            <p:nvPr/>
          </p:nvSpPr>
          <p:spPr bwMode="auto">
            <a:xfrm>
              <a:off x="1459554" y="4049752"/>
              <a:ext cx="346630" cy="0"/>
            </a:xfrm>
            <a:prstGeom prst="line">
              <a:avLst/>
            </a:prstGeom>
            <a:noFill/>
            <a:ln w="28575" cap="sq">
              <a:solidFill>
                <a:srgbClr val="FF0000"/>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73" name="Line 25"/>
            <p:cNvSpPr>
              <a:spLocks noChangeShapeType="1"/>
            </p:cNvSpPr>
            <p:nvPr/>
          </p:nvSpPr>
          <p:spPr bwMode="auto">
            <a:xfrm>
              <a:off x="1459554" y="4488475"/>
              <a:ext cx="384861" cy="0"/>
            </a:xfrm>
            <a:prstGeom prst="line">
              <a:avLst/>
            </a:prstGeom>
            <a:noFill/>
            <a:ln w="28575" cap="sq">
              <a:solidFill>
                <a:srgbClr val="FF0000"/>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74" name="Line 26"/>
            <p:cNvSpPr>
              <a:spLocks noChangeShapeType="1"/>
            </p:cNvSpPr>
            <p:nvPr/>
          </p:nvSpPr>
          <p:spPr bwMode="auto">
            <a:xfrm>
              <a:off x="1999039" y="4598155"/>
              <a:ext cx="0" cy="256459"/>
            </a:xfrm>
            <a:prstGeom prst="line">
              <a:avLst/>
            </a:prstGeom>
            <a:noFill/>
            <a:ln w="28575" cap="sq">
              <a:solidFill>
                <a:srgbClr val="00B0F0"/>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75" name="Line 27"/>
            <p:cNvSpPr>
              <a:spLocks noChangeShapeType="1"/>
            </p:cNvSpPr>
            <p:nvPr/>
          </p:nvSpPr>
          <p:spPr bwMode="auto">
            <a:xfrm>
              <a:off x="1420473" y="4566703"/>
              <a:ext cx="501254" cy="329042"/>
            </a:xfrm>
            <a:prstGeom prst="line">
              <a:avLst/>
            </a:prstGeom>
            <a:noFill/>
            <a:ln w="28575" cap="sq">
              <a:solidFill>
                <a:srgbClr val="FF0000"/>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76" name="Line 28"/>
            <p:cNvSpPr>
              <a:spLocks noChangeShapeType="1"/>
            </p:cNvSpPr>
            <p:nvPr/>
          </p:nvSpPr>
          <p:spPr bwMode="auto">
            <a:xfrm flipH="1">
              <a:off x="842757" y="4561864"/>
              <a:ext cx="385710" cy="365334"/>
            </a:xfrm>
            <a:prstGeom prst="line">
              <a:avLst/>
            </a:prstGeom>
            <a:noFill/>
            <a:ln w="28575" cap="sq">
              <a:solidFill>
                <a:srgbClr val="FF0000"/>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77" name="Line 29"/>
            <p:cNvSpPr>
              <a:spLocks noChangeShapeType="1"/>
            </p:cNvSpPr>
            <p:nvPr/>
          </p:nvSpPr>
          <p:spPr bwMode="auto">
            <a:xfrm flipH="1">
              <a:off x="534358" y="5366727"/>
              <a:ext cx="809652" cy="219361"/>
            </a:xfrm>
            <a:prstGeom prst="line">
              <a:avLst/>
            </a:prstGeom>
            <a:noFill/>
            <a:ln w="28575" cap="sq">
              <a:solidFill>
                <a:srgbClr val="FF0000"/>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78" name="Line 30"/>
            <p:cNvSpPr>
              <a:spLocks noChangeShapeType="1"/>
            </p:cNvSpPr>
            <p:nvPr/>
          </p:nvSpPr>
          <p:spPr bwMode="auto">
            <a:xfrm>
              <a:off x="1613328" y="5329629"/>
              <a:ext cx="886964" cy="291944"/>
            </a:xfrm>
            <a:prstGeom prst="line">
              <a:avLst/>
            </a:prstGeom>
            <a:noFill/>
            <a:ln w="28575" cap="sq">
              <a:solidFill>
                <a:srgbClr val="00B0F0"/>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grpSp>
    </p:spTree>
    <p:extLst>
      <p:ext uri="{BB962C8B-B14F-4D97-AF65-F5344CB8AC3E}">
        <p14:creationId xmlns:p14="http://schemas.microsoft.com/office/powerpoint/2010/main" val="262005052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AFA3A6-A578-0DDB-1CFF-78B1E1C369BD}"/>
            </a:ext>
          </a:extLst>
        </p:cNvPr>
        <p:cNvGrpSpPr/>
        <p:nvPr/>
      </p:nvGrpSpPr>
      <p:grpSpPr>
        <a:xfrm>
          <a:off x="0" y="0"/>
          <a:ext cx="0" cy="0"/>
          <a:chOff x="0" y="0"/>
          <a:chExt cx="0" cy="0"/>
        </a:xfrm>
      </p:grpSpPr>
      <p:sp>
        <p:nvSpPr>
          <p:cNvPr id="2" name="Rectangle 2">
            <a:extLst>
              <a:ext uri="{FF2B5EF4-FFF2-40B4-BE49-F238E27FC236}">
                <a16:creationId xmlns:a16="http://schemas.microsoft.com/office/drawing/2014/main" id="{38DC6BDC-3326-E373-C23E-155EEDD227EF}"/>
              </a:ext>
            </a:extLst>
          </p:cNvPr>
          <p:cNvSpPr txBox="1">
            <a:spLocks noChangeArrowheads="1"/>
          </p:cNvSpPr>
          <p:nvPr/>
        </p:nvSpPr>
        <p:spPr>
          <a:xfrm>
            <a:off x="474772" y="1230902"/>
            <a:ext cx="4469100"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8.4.2 </a:t>
            </a:r>
            <a:r>
              <a:rPr kumimoji="1" lang="zh-CN" altLang="en-US" dirty="0">
                <a:latin typeface="微软雅黑" pitchFamily="34" charset="-122"/>
                <a:ea typeface="微软雅黑" pitchFamily="34" charset="-122"/>
              </a:rPr>
              <a:t>非连通图和生成树</a:t>
            </a:r>
          </a:p>
        </p:txBody>
      </p:sp>
      <p:cxnSp>
        <p:nvCxnSpPr>
          <p:cNvPr id="4" name="直接连接符 3">
            <a:extLst>
              <a:ext uri="{FF2B5EF4-FFF2-40B4-BE49-F238E27FC236}">
                <a16:creationId xmlns:a16="http://schemas.microsoft.com/office/drawing/2014/main" id="{81A59516-8F8E-EBC1-F086-DDA1F7CB5550}"/>
              </a:ext>
            </a:extLst>
          </p:cNvPr>
          <p:cNvCxnSpPr>
            <a:cxnSpLocks/>
          </p:cNvCxnSpPr>
          <p:nvPr/>
        </p:nvCxnSpPr>
        <p:spPr>
          <a:xfrm>
            <a:off x="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6" name="TextBox 2">
            <a:extLst>
              <a:ext uri="{FF2B5EF4-FFF2-40B4-BE49-F238E27FC236}">
                <a16:creationId xmlns:a16="http://schemas.microsoft.com/office/drawing/2014/main" id="{CAF9A2F0-7C2A-AEF3-6F2A-C7F44EE32F0A}"/>
              </a:ext>
            </a:extLst>
          </p:cNvPr>
          <p:cNvSpPr txBox="1"/>
          <p:nvPr/>
        </p:nvSpPr>
        <p:spPr>
          <a:xfrm>
            <a:off x="1487488" y="1932287"/>
            <a:ext cx="8568952" cy="1211742"/>
          </a:xfrm>
          <a:prstGeom prst="rect">
            <a:avLst/>
          </a:prstGeom>
          <a:noFill/>
        </p:spPr>
        <p:txBody>
          <a:bodyPr wrap="square" rtlCol="0">
            <a:spAutoFit/>
          </a:bodyPr>
          <a:lstStyle/>
          <a:p>
            <a:pPr algn="l">
              <a:lnSpc>
                <a:spcPts val="3000"/>
              </a:lnSpc>
            </a:pPr>
            <a:r>
              <a:rPr kumimoji="1" lang="zh-CN" altLang="en-US" sz="2000" dirty="0">
                <a:latin typeface="Consolas" pitchFamily="49" charset="0"/>
                <a:ea typeface="楷体" pitchFamily="49" charset="-122"/>
                <a:cs typeface="Consolas" pitchFamily="49" charset="0"/>
              </a:rPr>
              <a:t>　  </a:t>
            </a:r>
            <a:r>
              <a:rPr kumimoji="1" lang="zh-CN" altLang="en-US" sz="2000" dirty="0">
                <a:solidFill>
                  <a:srgbClr val="FF0000"/>
                </a:solidFill>
                <a:latin typeface="Consolas" pitchFamily="49" charset="0"/>
                <a:ea typeface="楷体" pitchFamily="49" charset="-122"/>
                <a:cs typeface="Consolas" pitchFamily="49" charset="0"/>
              </a:rPr>
              <a:t>对于非连通图</a:t>
            </a:r>
            <a:r>
              <a:rPr kumimoji="1" lang="zh-CN" altLang="en-US" sz="2000" dirty="0">
                <a:latin typeface="Consolas" pitchFamily="49" charset="0"/>
                <a:ea typeface="楷体" pitchFamily="49" charset="-122"/>
                <a:cs typeface="Consolas" pitchFamily="49" charset="0"/>
              </a:rPr>
              <a:t>：需多次调用遍历过程。每个连通分量中的顶点集和遍历时走过的边一起构成一棵生成树。所有连通分量的生成树组成非连通图的</a:t>
            </a:r>
            <a:r>
              <a:rPr kumimoji="1" lang="zh-CN" altLang="en-US" sz="2000" dirty="0">
                <a:solidFill>
                  <a:srgbClr val="FF00FF"/>
                </a:solidFill>
                <a:latin typeface="Consolas" pitchFamily="49" charset="0"/>
                <a:ea typeface="楷体" pitchFamily="49" charset="-122"/>
                <a:cs typeface="Consolas" pitchFamily="49" charset="0"/>
              </a:rPr>
              <a:t>生成森林</a:t>
            </a:r>
            <a:r>
              <a:rPr kumimoji="1" lang="zh-CN" altLang="en-US" sz="2000" dirty="0">
                <a:latin typeface="Consolas" pitchFamily="49" charset="0"/>
                <a:ea typeface="楷体" pitchFamily="49" charset="-122"/>
                <a:cs typeface="Consolas" pitchFamily="49" charset="0"/>
              </a:rPr>
              <a:t>。</a:t>
            </a:r>
            <a:endParaRPr lang="zh-CN" altLang="en-US" sz="2000" dirty="0">
              <a:latin typeface="Consolas" pitchFamily="49" charset="0"/>
              <a:ea typeface="楷体" pitchFamily="49" charset="-122"/>
              <a:cs typeface="Consolas" pitchFamily="49" charset="0"/>
            </a:endParaRPr>
          </a:p>
        </p:txBody>
      </p:sp>
      <p:sp>
        <p:nvSpPr>
          <p:cNvPr id="7" name="TextBox 3">
            <a:extLst>
              <a:ext uri="{FF2B5EF4-FFF2-40B4-BE49-F238E27FC236}">
                <a16:creationId xmlns:a16="http://schemas.microsoft.com/office/drawing/2014/main" id="{EAC31980-474F-0360-6AFF-86D0661900E8}"/>
              </a:ext>
            </a:extLst>
          </p:cNvPr>
          <p:cNvSpPr txBox="1"/>
          <p:nvPr/>
        </p:nvSpPr>
        <p:spPr>
          <a:xfrm>
            <a:off x="3625565" y="5814396"/>
            <a:ext cx="5286412" cy="400110"/>
          </a:xfrm>
          <a:prstGeom prst="rect">
            <a:avLst/>
          </a:prstGeom>
          <a:noFill/>
        </p:spPr>
        <p:txBody>
          <a:bodyPr wrap="square" rtlCol="0">
            <a:spAutoFit/>
          </a:bodyPr>
          <a:lstStyle/>
          <a:p>
            <a:pPr algn="l"/>
            <a:r>
              <a:rPr lang="zh-CN" altLang="en-US" sz="2000" dirty="0">
                <a:solidFill>
                  <a:srgbClr val="FF0000"/>
                </a:solidFill>
                <a:latin typeface="Consolas" pitchFamily="49" charset="0"/>
                <a:ea typeface="方正启体简体" pitchFamily="65" charset="-122"/>
                <a:cs typeface="Consolas" pitchFamily="49" charset="0"/>
              </a:rPr>
              <a:t>重点：</a:t>
            </a:r>
            <a:r>
              <a:rPr kumimoji="1" lang="zh-CN" altLang="en-US" sz="2000" dirty="0">
                <a:solidFill>
                  <a:srgbClr val="0000FF"/>
                </a:solidFill>
                <a:latin typeface="Consolas" pitchFamily="49" charset="0"/>
                <a:ea typeface="方正启体简体" pitchFamily="65" charset="-122"/>
                <a:cs typeface="Consolas" pitchFamily="49" charset="0"/>
              </a:rPr>
              <a:t>求带权连通图的最小生成树</a:t>
            </a:r>
            <a:endParaRPr lang="zh-CN" altLang="en-US" sz="2000" dirty="0">
              <a:solidFill>
                <a:srgbClr val="0000FF"/>
              </a:solidFill>
              <a:latin typeface="Consolas" pitchFamily="49" charset="0"/>
              <a:ea typeface="方正启体简体" pitchFamily="65" charset="-122"/>
              <a:cs typeface="Consolas" pitchFamily="49" charset="0"/>
            </a:endParaRPr>
          </a:p>
        </p:txBody>
      </p:sp>
      <p:grpSp>
        <p:nvGrpSpPr>
          <p:cNvPr id="8" name="组合 43">
            <a:extLst>
              <a:ext uri="{FF2B5EF4-FFF2-40B4-BE49-F238E27FC236}">
                <a16:creationId xmlns:a16="http://schemas.microsoft.com/office/drawing/2014/main" id="{16FEB14F-42EF-6848-6776-A54C0BC43933}"/>
              </a:ext>
            </a:extLst>
          </p:cNvPr>
          <p:cNvGrpSpPr/>
          <p:nvPr/>
        </p:nvGrpSpPr>
        <p:grpSpPr>
          <a:xfrm>
            <a:off x="2302376" y="3281242"/>
            <a:ext cx="2643206" cy="1792294"/>
            <a:chOff x="571472" y="2282820"/>
            <a:chExt cx="2643206" cy="1792294"/>
          </a:xfrm>
        </p:grpSpPr>
        <p:sp>
          <p:nvSpPr>
            <p:cNvPr id="9" name="Oval 31">
              <a:extLst>
                <a:ext uri="{FF2B5EF4-FFF2-40B4-BE49-F238E27FC236}">
                  <a16:creationId xmlns:a16="http://schemas.microsoft.com/office/drawing/2014/main" id="{C329CC39-18CE-2C14-CB31-433DDD54F48A}"/>
                </a:ext>
              </a:extLst>
            </p:cNvPr>
            <p:cNvSpPr>
              <a:spLocks noChangeArrowheads="1"/>
            </p:cNvSpPr>
            <p:nvPr/>
          </p:nvSpPr>
          <p:spPr bwMode="auto">
            <a:xfrm>
              <a:off x="996927" y="2282820"/>
              <a:ext cx="360363"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1800" dirty="0">
                  <a:solidFill>
                    <a:srgbClr val="0000FF"/>
                  </a:solidFill>
                  <a:latin typeface="Consolas" pitchFamily="49" charset="0"/>
                  <a:cs typeface="Consolas" pitchFamily="49" charset="0"/>
                </a:rPr>
                <a:t>0</a:t>
              </a:r>
            </a:p>
          </p:txBody>
        </p:sp>
        <p:sp>
          <p:nvSpPr>
            <p:cNvPr id="10" name="Oval 32">
              <a:extLst>
                <a:ext uri="{FF2B5EF4-FFF2-40B4-BE49-F238E27FC236}">
                  <a16:creationId xmlns:a16="http://schemas.microsoft.com/office/drawing/2014/main" id="{0B5127DD-720E-EF7F-78CF-919B5ABFE93A}"/>
                </a:ext>
              </a:extLst>
            </p:cNvPr>
            <p:cNvSpPr>
              <a:spLocks noChangeArrowheads="1"/>
            </p:cNvSpPr>
            <p:nvPr/>
          </p:nvSpPr>
          <p:spPr bwMode="auto">
            <a:xfrm>
              <a:off x="1428728" y="2971800"/>
              <a:ext cx="360363"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1800">
                  <a:solidFill>
                    <a:srgbClr val="0000FF"/>
                  </a:solidFill>
                  <a:latin typeface="Consolas" pitchFamily="49" charset="0"/>
                  <a:cs typeface="Consolas" pitchFamily="49" charset="0"/>
                </a:rPr>
                <a:t>1</a:t>
              </a:r>
            </a:p>
          </p:txBody>
        </p:sp>
        <p:sp>
          <p:nvSpPr>
            <p:cNvPr id="11" name="Oval 33">
              <a:extLst>
                <a:ext uri="{FF2B5EF4-FFF2-40B4-BE49-F238E27FC236}">
                  <a16:creationId xmlns:a16="http://schemas.microsoft.com/office/drawing/2014/main" id="{67F5958C-53D3-DFE1-563F-DEC87003B54B}"/>
                </a:ext>
              </a:extLst>
            </p:cNvPr>
            <p:cNvSpPr>
              <a:spLocks noChangeArrowheads="1"/>
            </p:cNvSpPr>
            <p:nvPr/>
          </p:nvSpPr>
          <p:spPr bwMode="auto">
            <a:xfrm>
              <a:off x="571472" y="2971800"/>
              <a:ext cx="360363"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1800">
                  <a:solidFill>
                    <a:srgbClr val="0000FF"/>
                  </a:solidFill>
                  <a:latin typeface="Consolas" pitchFamily="49" charset="0"/>
                  <a:cs typeface="Consolas" pitchFamily="49" charset="0"/>
                </a:rPr>
                <a:t>2</a:t>
              </a:r>
            </a:p>
          </p:txBody>
        </p:sp>
        <p:sp>
          <p:nvSpPr>
            <p:cNvPr id="12" name="Oval 34">
              <a:extLst>
                <a:ext uri="{FF2B5EF4-FFF2-40B4-BE49-F238E27FC236}">
                  <a16:creationId xmlns:a16="http://schemas.microsoft.com/office/drawing/2014/main" id="{3730A369-5419-6CBC-C91F-A6062CAA7104}"/>
                </a:ext>
              </a:extLst>
            </p:cNvPr>
            <p:cNvSpPr>
              <a:spLocks noChangeArrowheads="1"/>
            </p:cNvSpPr>
            <p:nvPr/>
          </p:nvSpPr>
          <p:spPr bwMode="auto">
            <a:xfrm>
              <a:off x="1068365" y="3643314"/>
              <a:ext cx="360363"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1800">
                  <a:solidFill>
                    <a:srgbClr val="0000FF"/>
                  </a:solidFill>
                  <a:latin typeface="Consolas" pitchFamily="49" charset="0"/>
                  <a:cs typeface="Consolas" pitchFamily="49" charset="0"/>
                </a:rPr>
                <a:t>3</a:t>
              </a:r>
            </a:p>
          </p:txBody>
        </p:sp>
        <p:sp>
          <p:nvSpPr>
            <p:cNvPr id="13" name="Oval 35">
              <a:extLst>
                <a:ext uri="{FF2B5EF4-FFF2-40B4-BE49-F238E27FC236}">
                  <a16:creationId xmlns:a16="http://schemas.microsoft.com/office/drawing/2014/main" id="{F28BF316-31DC-0FA9-80F8-DC361CF10CFE}"/>
                </a:ext>
              </a:extLst>
            </p:cNvPr>
            <p:cNvSpPr>
              <a:spLocks noChangeArrowheads="1"/>
            </p:cNvSpPr>
            <p:nvPr/>
          </p:nvSpPr>
          <p:spPr bwMode="auto">
            <a:xfrm>
              <a:off x="2214546" y="2568572"/>
              <a:ext cx="360363"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1800">
                  <a:solidFill>
                    <a:srgbClr val="0000FF"/>
                  </a:solidFill>
                  <a:latin typeface="Consolas" pitchFamily="49" charset="0"/>
                  <a:cs typeface="Consolas" pitchFamily="49" charset="0"/>
                </a:rPr>
                <a:t>4</a:t>
              </a:r>
            </a:p>
          </p:txBody>
        </p:sp>
        <p:sp>
          <p:nvSpPr>
            <p:cNvPr id="14" name="Oval 37">
              <a:extLst>
                <a:ext uri="{FF2B5EF4-FFF2-40B4-BE49-F238E27FC236}">
                  <a16:creationId xmlns:a16="http://schemas.microsoft.com/office/drawing/2014/main" id="{91D8563F-93CF-7A16-E456-469BF9547318}"/>
                </a:ext>
              </a:extLst>
            </p:cNvPr>
            <p:cNvSpPr>
              <a:spLocks noChangeArrowheads="1"/>
            </p:cNvSpPr>
            <p:nvPr/>
          </p:nvSpPr>
          <p:spPr bwMode="auto">
            <a:xfrm>
              <a:off x="2214546" y="3425828"/>
              <a:ext cx="360363"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1800">
                  <a:solidFill>
                    <a:srgbClr val="0000FF"/>
                  </a:solidFill>
                  <a:latin typeface="Consolas" pitchFamily="49" charset="0"/>
                  <a:cs typeface="Consolas" pitchFamily="49" charset="0"/>
                </a:rPr>
                <a:t>5</a:t>
              </a:r>
            </a:p>
          </p:txBody>
        </p:sp>
        <p:sp>
          <p:nvSpPr>
            <p:cNvPr id="15" name="Oval 37">
              <a:extLst>
                <a:ext uri="{FF2B5EF4-FFF2-40B4-BE49-F238E27FC236}">
                  <a16:creationId xmlns:a16="http://schemas.microsoft.com/office/drawing/2014/main" id="{CC1C4640-A0FF-F592-DDEE-E0CB7B081DB1}"/>
                </a:ext>
              </a:extLst>
            </p:cNvPr>
            <p:cNvSpPr>
              <a:spLocks noChangeArrowheads="1"/>
            </p:cNvSpPr>
            <p:nvPr/>
          </p:nvSpPr>
          <p:spPr bwMode="auto">
            <a:xfrm>
              <a:off x="2854315" y="2997200"/>
              <a:ext cx="360363"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1800">
                  <a:solidFill>
                    <a:srgbClr val="0000FF"/>
                  </a:solidFill>
                  <a:latin typeface="Consolas" pitchFamily="49" charset="0"/>
                  <a:cs typeface="Consolas" pitchFamily="49" charset="0"/>
                </a:rPr>
                <a:t>6</a:t>
              </a:r>
            </a:p>
          </p:txBody>
        </p:sp>
        <p:cxnSp>
          <p:nvCxnSpPr>
            <p:cNvPr id="16" name="直接连接符 15">
              <a:extLst>
                <a:ext uri="{FF2B5EF4-FFF2-40B4-BE49-F238E27FC236}">
                  <a16:creationId xmlns:a16="http://schemas.microsoft.com/office/drawing/2014/main" id="{8B44F24A-ACF5-2A16-4774-02118876A86D}"/>
                </a:ext>
              </a:extLst>
            </p:cNvPr>
            <p:cNvCxnSpPr>
              <a:stCxn id="9" idx="3"/>
              <a:endCxn id="11" idx="7"/>
            </p:cNvCxnSpPr>
            <p:nvPr/>
          </p:nvCxnSpPr>
          <p:spPr>
            <a:xfrm rot="5400000">
              <a:off x="772555" y="2757890"/>
              <a:ext cx="383652" cy="170640"/>
            </a:xfrm>
            <a:prstGeom prst="line">
              <a:avLst/>
            </a:prstGeom>
            <a:ln>
              <a:tailEnd type="none"/>
            </a:ln>
          </p:spPr>
          <p:style>
            <a:lnRef idx="2">
              <a:schemeClr val="accent5"/>
            </a:lnRef>
            <a:fillRef idx="0">
              <a:schemeClr val="accent5"/>
            </a:fillRef>
            <a:effectRef idx="1">
              <a:schemeClr val="accent5"/>
            </a:effectRef>
            <a:fontRef idx="minor">
              <a:schemeClr val="tx1"/>
            </a:fontRef>
          </p:style>
        </p:cxnSp>
        <p:cxnSp>
          <p:nvCxnSpPr>
            <p:cNvPr id="17" name="直接连接符 16">
              <a:extLst>
                <a:ext uri="{FF2B5EF4-FFF2-40B4-BE49-F238E27FC236}">
                  <a16:creationId xmlns:a16="http://schemas.microsoft.com/office/drawing/2014/main" id="{4A60415E-EB1B-C72F-3914-255C5DAB198B}"/>
                </a:ext>
              </a:extLst>
            </p:cNvPr>
            <p:cNvCxnSpPr>
              <a:stCxn id="11" idx="5"/>
              <a:endCxn id="12" idx="1"/>
            </p:cNvCxnSpPr>
            <p:nvPr/>
          </p:nvCxnSpPr>
          <p:spPr>
            <a:xfrm rot="16200000" flipH="1">
              <a:off x="817007" y="3402418"/>
              <a:ext cx="366186" cy="242078"/>
            </a:xfrm>
            <a:prstGeom prst="line">
              <a:avLst/>
            </a:prstGeom>
            <a:ln>
              <a:tailEnd type="none"/>
            </a:ln>
          </p:spPr>
          <p:style>
            <a:lnRef idx="2">
              <a:schemeClr val="accent5"/>
            </a:lnRef>
            <a:fillRef idx="0">
              <a:schemeClr val="accent5"/>
            </a:fillRef>
            <a:effectRef idx="1">
              <a:schemeClr val="accent5"/>
            </a:effectRef>
            <a:fontRef idx="minor">
              <a:schemeClr val="tx1"/>
            </a:fontRef>
          </p:style>
        </p:cxnSp>
        <p:cxnSp>
          <p:nvCxnSpPr>
            <p:cNvPr id="18" name="直接连接符 17">
              <a:extLst>
                <a:ext uri="{FF2B5EF4-FFF2-40B4-BE49-F238E27FC236}">
                  <a16:creationId xmlns:a16="http://schemas.microsoft.com/office/drawing/2014/main" id="{DC7DD657-9B4C-AE96-E5C8-F2217EC1C5C0}"/>
                </a:ext>
              </a:extLst>
            </p:cNvPr>
            <p:cNvCxnSpPr>
              <a:stCxn id="11" idx="6"/>
              <a:endCxn id="10" idx="2"/>
            </p:cNvCxnSpPr>
            <p:nvPr/>
          </p:nvCxnSpPr>
          <p:spPr>
            <a:xfrm>
              <a:off x="931835" y="3187700"/>
              <a:ext cx="496893" cy="0"/>
            </a:xfrm>
            <a:prstGeom prst="line">
              <a:avLst/>
            </a:prstGeom>
            <a:ln>
              <a:tailEnd type="none"/>
            </a:ln>
          </p:spPr>
          <p:style>
            <a:lnRef idx="2">
              <a:schemeClr val="accent5"/>
            </a:lnRef>
            <a:fillRef idx="0">
              <a:schemeClr val="accent5"/>
            </a:fillRef>
            <a:effectRef idx="1">
              <a:schemeClr val="accent5"/>
            </a:effectRef>
            <a:fontRef idx="minor">
              <a:schemeClr val="tx1"/>
            </a:fontRef>
          </p:style>
        </p:cxnSp>
        <p:cxnSp>
          <p:nvCxnSpPr>
            <p:cNvPr id="19" name="直接连接符 18">
              <a:extLst>
                <a:ext uri="{FF2B5EF4-FFF2-40B4-BE49-F238E27FC236}">
                  <a16:creationId xmlns:a16="http://schemas.microsoft.com/office/drawing/2014/main" id="{91B11752-1937-7303-03C4-FEF6EE5C793E}"/>
                </a:ext>
              </a:extLst>
            </p:cNvPr>
            <p:cNvCxnSpPr>
              <a:stCxn id="9" idx="5"/>
              <a:endCxn id="10" idx="1"/>
            </p:cNvCxnSpPr>
            <p:nvPr/>
          </p:nvCxnSpPr>
          <p:spPr>
            <a:xfrm rot="16200000" flipH="1">
              <a:off x="1201183" y="2754717"/>
              <a:ext cx="383652" cy="176986"/>
            </a:xfrm>
            <a:prstGeom prst="line">
              <a:avLst/>
            </a:prstGeom>
            <a:ln>
              <a:tailEnd type="none"/>
            </a:ln>
          </p:spPr>
          <p:style>
            <a:lnRef idx="2">
              <a:schemeClr val="accent5"/>
            </a:lnRef>
            <a:fillRef idx="0">
              <a:schemeClr val="accent5"/>
            </a:fillRef>
            <a:effectRef idx="1">
              <a:schemeClr val="accent5"/>
            </a:effectRef>
            <a:fontRef idx="minor">
              <a:schemeClr val="tx1"/>
            </a:fontRef>
          </p:style>
        </p:cxnSp>
        <p:cxnSp>
          <p:nvCxnSpPr>
            <p:cNvPr id="20" name="直接连接符 19">
              <a:extLst>
                <a:ext uri="{FF2B5EF4-FFF2-40B4-BE49-F238E27FC236}">
                  <a16:creationId xmlns:a16="http://schemas.microsoft.com/office/drawing/2014/main" id="{EDE86460-FF07-FD81-D664-EA819BF4ACD2}"/>
                </a:ext>
              </a:extLst>
            </p:cNvPr>
            <p:cNvCxnSpPr>
              <a:stCxn id="13" idx="4"/>
              <a:endCxn id="14" idx="0"/>
            </p:cNvCxnSpPr>
            <p:nvPr/>
          </p:nvCxnSpPr>
          <p:spPr>
            <a:xfrm rot="5400000">
              <a:off x="2182000" y="3213100"/>
              <a:ext cx="425456" cy="0"/>
            </a:xfrm>
            <a:prstGeom prst="line">
              <a:avLst/>
            </a:prstGeom>
            <a:ln>
              <a:tailEnd type="none"/>
            </a:ln>
          </p:spPr>
          <p:style>
            <a:lnRef idx="2">
              <a:schemeClr val="accent5"/>
            </a:lnRef>
            <a:fillRef idx="0">
              <a:schemeClr val="accent5"/>
            </a:fillRef>
            <a:effectRef idx="1">
              <a:schemeClr val="accent5"/>
            </a:effectRef>
            <a:fontRef idx="minor">
              <a:schemeClr val="tx1"/>
            </a:fontRef>
          </p:style>
        </p:cxnSp>
        <p:cxnSp>
          <p:nvCxnSpPr>
            <p:cNvPr id="21" name="直接连接符 20">
              <a:extLst>
                <a:ext uri="{FF2B5EF4-FFF2-40B4-BE49-F238E27FC236}">
                  <a16:creationId xmlns:a16="http://schemas.microsoft.com/office/drawing/2014/main" id="{633D7075-6559-33F4-B707-C931EE5A58BC}"/>
                </a:ext>
              </a:extLst>
            </p:cNvPr>
            <p:cNvCxnSpPr>
              <a:stCxn id="13" idx="6"/>
              <a:endCxn id="15" idx="1"/>
            </p:cNvCxnSpPr>
            <p:nvPr/>
          </p:nvCxnSpPr>
          <p:spPr>
            <a:xfrm>
              <a:off x="2574909" y="2784472"/>
              <a:ext cx="332180" cy="275964"/>
            </a:xfrm>
            <a:prstGeom prst="line">
              <a:avLst/>
            </a:prstGeom>
            <a:ln>
              <a:tailEnd type="none"/>
            </a:ln>
          </p:spPr>
          <p:style>
            <a:lnRef idx="2">
              <a:schemeClr val="accent5"/>
            </a:lnRef>
            <a:fillRef idx="0">
              <a:schemeClr val="accent5"/>
            </a:fillRef>
            <a:effectRef idx="1">
              <a:schemeClr val="accent5"/>
            </a:effectRef>
            <a:fontRef idx="minor">
              <a:schemeClr val="tx1"/>
            </a:fontRef>
          </p:style>
        </p:cxnSp>
        <p:cxnSp>
          <p:nvCxnSpPr>
            <p:cNvPr id="22" name="直接连接符 21">
              <a:extLst>
                <a:ext uri="{FF2B5EF4-FFF2-40B4-BE49-F238E27FC236}">
                  <a16:creationId xmlns:a16="http://schemas.microsoft.com/office/drawing/2014/main" id="{AF7DB3CF-C146-C4F6-573C-076218B10EDB}"/>
                </a:ext>
              </a:extLst>
            </p:cNvPr>
            <p:cNvCxnSpPr>
              <a:stCxn id="15" idx="3"/>
              <a:endCxn id="14" idx="6"/>
            </p:cNvCxnSpPr>
            <p:nvPr/>
          </p:nvCxnSpPr>
          <p:spPr>
            <a:xfrm rot="5400000">
              <a:off x="2603017" y="3337656"/>
              <a:ext cx="275964" cy="332180"/>
            </a:xfrm>
            <a:prstGeom prst="line">
              <a:avLst/>
            </a:prstGeom>
            <a:ln>
              <a:tailEnd type="none"/>
            </a:ln>
          </p:spPr>
          <p:style>
            <a:lnRef idx="2">
              <a:schemeClr val="accent5"/>
            </a:lnRef>
            <a:fillRef idx="0">
              <a:schemeClr val="accent5"/>
            </a:fillRef>
            <a:effectRef idx="1">
              <a:schemeClr val="accent5"/>
            </a:effectRef>
            <a:fontRef idx="minor">
              <a:schemeClr val="tx1"/>
            </a:fontRef>
          </p:style>
        </p:cxnSp>
      </p:grpSp>
      <p:grpSp>
        <p:nvGrpSpPr>
          <p:cNvPr id="23" name="组合 44">
            <a:extLst>
              <a:ext uri="{FF2B5EF4-FFF2-40B4-BE49-F238E27FC236}">
                <a16:creationId xmlns:a16="http://schemas.microsoft.com/office/drawing/2014/main" id="{60CD0884-0F93-EE7B-BB24-C2A9872D8C4C}"/>
              </a:ext>
            </a:extLst>
          </p:cNvPr>
          <p:cNvGrpSpPr/>
          <p:nvPr/>
        </p:nvGrpSpPr>
        <p:grpSpPr>
          <a:xfrm>
            <a:off x="5159896" y="3212976"/>
            <a:ext cx="4572032" cy="1792294"/>
            <a:chOff x="3428992" y="2214554"/>
            <a:chExt cx="4572032" cy="1792294"/>
          </a:xfrm>
        </p:grpSpPr>
        <p:sp>
          <p:nvSpPr>
            <p:cNvPr id="24" name="Oval 31">
              <a:extLst>
                <a:ext uri="{FF2B5EF4-FFF2-40B4-BE49-F238E27FC236}">
                  <a16:creationId xmlns:a16="http://schemas.microsoft.com/office/drawing/2014/main" id="{3A192775-A177-126D-423C-F23F7FF5078F}"/>
                </a:ext>
              </a:extLst>
            </p:cNvPr>
            <p:cNvSpPr>
              <a:spLocks noChangeArrowheads="1"/>
            </p:cNvSpPr>
            <p:nvPr/>
          </p:nvSpPr>
          <p:spPr bwMode="auto">
            <a:xfrm>
              <a:off x="5783273" y="2214554"/>
              <a:ext cx="360363"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1800" dirty="0">
                  <a:solidFill>
                    <a:srgbClr val="0000FF"/>
                  </a:solidFill>
                  <a:latin typeface="Consolas" pitchFamily="49" charset="0"/>
                  <a:cs typeface="Consolas" pitchFamily="49" charset="0"/>
                </a:rPr>
                <a:t>0</a:t>
              </a:r>
            </a:p>
          </p:txBody>
        </p:sp>
        <p:sp>
          <p:nvSpPr>
            <p:cNvPr id="25" name="Oval 32">
              <a:extLst>
                <a:ext uri="{FF2B5EF4-FFF2-40B4-BE49-F238E27FC236}">
                  <a16:creationId xmlns:a16="http://schemas.microsoft.com/office/drawing/2014/main" id="{E57F8E93-2C45-3821-8198-6BE613BC2D45}"/>
                </a:ext>
              </a:extLst>
            </p:cNvPr>
            <p:cNvSpPr>
              <a:spLocks noChangeArrowheads="1"/>
            </p:cNvSpPr>
            <p:nvPr/>
          </p:nvSpPr>
          <p:spPr bwMode="auto">
            <a:xfrm>
              <a:off x="6215074" y="2903534"/>
              <a:ext cx="360363"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1800">
                  <a:solidFill>
                    <a:srgbClr val="0000FF"/>
                  </a:solidFill>
                  <a:latin typeface="Consolas" pitchFamily="49" charset="0"/>
                  <a:cs typeface="Consolas" pitchFamily="49" charset="0"/>
                </a:rPr>
                <a:t>1</a:t>
              </a:r>
            </a:p>
          </p:txBody>
        </p:sp>
        <p:sp>
          <p:nvSpPr>
            <p:cNvPr id="26" name="Oval 33">
              <a:extLst>
                <a:ext uri="{FF2B5EF4-FFF2-40B4-BE49-F238E27FC236}">
                  <a16:creationId xmlns:a16="http://schemas.microsoft.com/office/drawing/2014/main" id="{B02626A0-6426-EB1A-28DA-701B0B65294D}"/>
                </a:ext>
              </a:extLst>
            </p:cNvPr>
            <p:cNvSpPr>
              <a:spLocks noChangeArrowheads="1"/>
            </p:cNvSpPr>
            <p:nvPr/>
          </p:nvSpPr>
          <p:spPr bwMode="auto">
            <a:xfrm>
              <a:off x="5357818" y="2903534"/>
              <a:ext cx="360363"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1800">
                  <a:solidFill>
                    <a:srgbClr val="0000FF"/>
                  </a:solidFill>
                  <a:latin typeface="Consolas" pitchFamily="49" charset="0"/>
                  <a:cs typeface="Consolas" pitchFamily="49" charset="0"/>
                </a:rPr>
                <a:t>2</a:t>
              </a:r>
            </a:p>
          </p:txBody>
        </p:sp>
        <p:sp>
          <p:nvSpPr>
            <p:cNvPr id="27" name="Oval 34">
              <a:extLst>
                <a:ext uri="{FF2B5EF4-FFF2-40B4-BE49-F238E27FC236}">
                  <a16:creationId xmlns:a16="http://schemas.microsoft.com/office/drawing/2014/main" id="{28A437B1-F14F-20D3-DC72-837A6E2D9F44}"/>
                </a:ext>
              </a:extLst>
            </p:cNvPr>
            <p:cNvSpPr>
              <a:spLocks noChangeArrowheads="1"/>
            </p:cNvSpPr>
            <p:nvPr/>
          </p:nvSpPr>
          <p:spPr bwMode="auto">
            <a:xfrm>
              <a:off x="5854711" y="3575048"/>
              <a:ext cx="360363"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1800">
                  <a:solidFill>
                    <a:srgbClr val="0000FF"/>
                  </a:solidFill>
                  <a:latin typeface="Consolas" pitchFamily="49" charset="0"/>
                  <a:cs typeface="Consolas" pitchFamily="49" charset="0"/>
                </a:rPr>
                <a:t>3</a:t>
              </a:r>
            </a:p>
          </p:txBody>
        </p:sp>
        <p:sp>
          <p:nvSpPr>
            <p:cNvPr id="28" name="Oval 35">
              <a:extLst>
                <a:ext uri="{FF2B5EF4-FFF2-40B4-BE49-F238E27FC236}">
                  <a16:creationId xmlns:a16="http://schemas.microsoft.com/office/drawing/2014/main" id="{FCFBB284-48EB-D822-9EAA-7994C78EBF84}"/>
                </a:ext>
              </a:extLst>
            </p:cNvPr>
            <p:cNvSpPr>
              <a:spLocks noChangeArrowheads="1"/>
            </p:cNvSpPr>
            <p:nvPr/>
          </p:nvSpPr>
          <p:spPr bwMode="auto">
            <a:xfrm>
              <a:off x="7000892" y="2500306"/>
              <a:ext cx="360363"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1800">
                  <a:solidFill>
                    <a:srgbClr val="0000FF"/>
                  </a:solidFill>
                  <a:latin typeface="Consolas" pitchFamily="49" charset="0"/>
                  <a:cs typeface="Consolas" pitchFamily="49" charset="0"/>
                </a:rPr>
                <a:t>4</a:t>
              </a:r>
            </a:p>
          </p:txBody>
        </p:sp>
        <p:sp>
          <p:nvSpPr>
            <p:cNvPr id="29" name="Oval 37">
              <a:extLst>
                <a:ext uri="{FF2B5EF4-FFF2-40B4-BE49-F238E27FC236}">
                  <a16:creationId xmlns:a16="http://schemas.microsoft.com/office/drawing/2014/main" id="{94FD42CC-5704-C344-C0BA-238EC6EDCB40}"/>
                </a:ext>
              </a:extLst>
            </p:cNvPr>
            <p:cNvSpPr>
              <a:spLocks noChangeArrowheads="1"/>
            </p:cNvSpPr>
            <p:nvPr/>
          </p:nvSpPr>
          <p:spPr bwMode="auto">
            <a:xfrm>
              <a:off x="7000892" y="3357562"/>
              <a:ext cx="360363"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1800">
                  <a:solidFill>
                    <a:srgbClr val="0000FF"/>
                  </a:solidFill>
                  <a:latin typeface="Consolas" pitchFamily="49" charset="0"/>
                  <a:cs typeface="Consolas" pitchFamily="49" charset="0"/>
                </a:rPr>
                <a:t>5</a:t>
              </a:r>
            </a:p>
          </p:txBody>
        </p:sp>
        <p:sp>
          <p:nvSpPr>
            <p:cNvPr id="30" name="Oval 37">
              <a:extLst>
                <a:ext uri="{FF2B5EF4-FFF2-40B4-BE49-F238E27FC236}">
                  <a16:creationId xmlns:a16="http://schemas.microsoft.com/office/drawing/2014/main" id="{D1A3EC0A-8DAF-599F-F990-86CB571F0280}"/>
                </a:ext>
              </a:extLst>
            </p:cNvPr>
            <p:cNvSpPr>
              <a:spLocks noChangeArrowheads="1"/>
            </p:cNvSpPr>
            <p:nvPr/>
          </p:nvSpPr>
          <p:spPr bwMode="auto">
            <a:xfrm>
              <a:off x="7640661" y="2928934"/>
              <a:ext cx="360363"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1800">
                  <a:solidFill>
                    <a:srgbClr val="0000FF"/>
                  </a:solidFill>
                  <a:latin typeface="Consolas" pitchFamily="49" charset="0"/>
                  <a:cs typeface="Consolas" pitchFamily="49" charset="0"/>
                </a:rPr>
                <a:t>6</a:t>
              </a:r>
            </a:p>
          </p:txBody>
        </p:sp>
        <p:cxnSp>
          <p:nvCxnSpPr>
            <p:cNvPr id="31" name="直接连接符 30">
              <a:extLst>
                <a:ext uri="{FF2B5EF4-FFF2-40B4-BE49-F238E27FC236}">
                  <a16:creationId xmlns:a16="http://schemas.microsoft.com/office/drawing/2014/main" id="{897268F3-143B-2889-F297-BB91CF4F6D14}"/>
                </a:ext>
              </a:extLst>
            </p:cNvPr>
            <p:cNvCxnSpPr>
              <a:stCxn id="24" idx="3"/>
              <a:endCxn id="26" idx="7"/>
            </p:cNvCxnSpPr>
            <p:nvPr/>
          </p:nvCxnSpPr>
          <p:spPr>
            <a:xfrm rot="5400000">
              <a:off x="5558901" y="2689624"/>
              <a:ext cx="383652" cy="170640"/>
            </a:xfrm>
            <a:prstGeom prst="line">
              <a:avLst/>
            </a:prstGeom>
            <a:ln>
              <a:tailEnd type="none"/>
            </a:ln>
          </p:spPr>
          <p:style>
            <a:lnRef idx="2">
              <a:schemeClr val="accent5"/>
            </a:lnRef>
            <a:fillRef idx="0">
              <a:schemeClr val="accent5"/>
            </a:fillRef>
            <a:effectRef idx="1">
              <a:schemeClr val="accent5"/>
            </a:effectRef>
            <a:fontRef idx="minor">
              <a:schemeClr val="tx1"/>
            </a:fontRef>
          </p:style>
        </p:cxnSp>
        <p:cxnSp>
          <p:nvCxnSpPr>
            <p:cNvPr id="32" name="直接连接符 31">
              <a:extLst>
                <a:ext uri="{FF2B5EF4-FFF2-40B4-BE49-F238E27FC236}">
                  <a16:creationId xmlns:a16="http://schemas.microsoft.com/office/drawing/2014/main" id="{2985CA1F-5BE9-1702-F4CF-A68B74DD8429}"/>
                </a:ext>
              </a:extLst>
            </p:cNvPr>
            <p:cNvCxnSpPr>
              <a:stCxn id="26" idx="5"/>
              <a:endCxn id="27" idx="1"/>
            </p:cNvCxnSpPr>
            <p:nvPr/>
          </p:nvCxnSpPr>
          <p:spPr>
            <a:xfrm rot="16200000" flipH="1">
              <a:off x="5603353" y="3334152"/>
              <a:ext cx="366186" cy="242078"/>
            </a:xfrm>
            <a:prstGeom prst="line">
              <a:avLst/>
            </a:prstGeom>
            <a:ln>
              <a:tailEnd type="none"/>
            </a:ln>
          </p:spPr>
          <p:style>
            <a:lnRef idx="2">
              <a:schemeClr val="accent5"/>
            </a:lnRef>
            <a:fillRef idx="0">
              <a:schemeClr val="accent5"/>
            </a:fillRef>
            <a:effectRef idx="1">
              <a:schemeClr val="accent5"/>
            </a:effectRef>
            <a:fontRef idx="minor">
              <a:schemeClr val="tx1"/>
            </a:fontRef>
          </p:style>
        </p:cxnSp>
        <p:cxnSp>
          <p:nvCxnSpPr>
            <p:cNvPr id="33" name="直接连接符 32">
              <a:extLst>
                <a:ext uri="{FF2B5EF4-FFF2-40B4-BE49-F238E27FC236}">
                  <a16:creationId xmlns:a16="http://schemas.microsoft.com/office/drawing/2014/main" id="{7FC559FB-9B42-216C-17D2-C4B6E40D713C}"/>
                </a:ext>
              </a:extLst>
            </p:cNvPr>
            <p:cNvCxnSpPr>
              <a:stCxn id="24" idx="5"/>
              <a:endCxn id="25" idx="1"/>
            </p:cNvCxnSpPr>
            <p:nvPr/>
          </p:nvCxnSpPr>
          <p:spPr>
            <a:xfrm rot="16200000" flipH="1">
              <a:off x="5987529" y="2686451"/>
              <a:ext cx="383652" cy="176986"/>
            </a:xfrm>
            <a:prstGeom prst="line">
              <a:avLst/>
            </a:prstGeom>
            <a:ln>
              <a:tailEnd type="none"/>
            </a:ln>
          </p:spPr>
          <p:style>
            <a:lnRef idx="2">
              <a:schemeClr val="accent5"/>
            </a:lnRef>
            <a:fillRef idx="0">
              <a:schemeClr val="accent5"/>
            </a:fillRef>
            <a:effectRef idx="1">
              <a:schemeClr val="accent5"/>
            </a:effectRef>
            <a:fontRef idx="minor">
              <a:schemeClr val="tx1"/>
            </a:fontRef>
          </p:style>
        </p:cxnSp>
        <p:cxnSp>
          <p:nvCxnSpPr>
            <p:cNvPr id="34" name="直接连接符 33">
              <a:extLst>
                <a:ext uri="{FF2B5EF4-FFF2-40B4-BE49-F238E27FC236}">
                  <a16:creationId xmlns:a16="http://schemas.microsoft.com/office/drawing/2014/main" id="{8A66623B-04C2-6C33-6840-29C33D81718F}"/>
                </a:ext>
              </a:extLst>
            </p:cNvPr>
            <p:cNvCxnSpPr>
              <a:stCxn id="28" idx="4"/>
              <a:endCxn id="29" idx="0"/>
            </p:cNvCxnSpPr>
            <p:nvPr/>
          </p:nvCxnSpPr>
          <p:spPr>
            <a:xfrm rot="5400000">
              <a:off x="6968346" y="3144834"/>
              <a:ext cx="425456" cy="0"/>
            </a:xfrm>
            <a:prstGeom prst="line">
              <a:avLst/>
            </a:prstGeom>
            <a:ln>
              <a:tailEnd type="none"/>
            </a:ln>
          </p:spPr>
          <p:style>
            <a:lnRef idx="2">
              <a:schemeClr val="accent5"/>
            </a:lnRef>
            <a:fillRef idx="0">
              <a:schemeClr val="accent5"/>
            </a:fillRef>
            <a:effectRef idx="1">
              <a:schemeClr val="accent5"/>
            </a:effectRef>
            <a:fontRef idx="minor">
              <a:schemeClr val="tx1"/>
            </a:fontRef>
          </p:style>
        </p:cxnSp>
        <p:cxnSp>
          <p:nvCxnSpPr>
            <p:cNvPr id="35" name="直接连接符 34">
              <a:extLst>
                <a:ext uri="{FF2B5EF4-FFF2-40B4-BE49-F238E27FC236}">
                  <a16:creationId xmlns:a16="http://schemas.microsoft.com/office/drawing/2014/main" id="{6FAC6358-D601-D42B-383A-381607924FC9}"/>
                </a:ext>
              </a:extLst>
            </p:cNvPr>
            <p:cNvCxnSpPr>
              <a:stCxn id="28" idx="6"/>
              <a:endCxn id="30" idx="1"/>
            </p:cNvCxnSpPr>
            <p:nvPr/>
          </p:nvCxnSpPr>
          <p:spPr>
            <a:xfrm>
              <a:off x="7361255" y="2716206"/>
              <a:ext cx="332180" cy="275964"/>
            </a:xfrm>
            <a:prstGeom prst="line">
              <a:avLst/>
            </a:prstGeom>
            <a:ln>
              <a:tailEnd type="none"/>
            </a:ln>
          </p:spPr>
          <p:style>
            <a:lnRef idx="2">
              <a:schemeClr val="accent5"/>
            </a:lnRef>
            <a:fillRef idx="0">
              <a:schemeClr val="accent5"/>
            </a:fillRef>
            <a:effectRef idx="1">
              <a:schemeClr val="accent5"/>
            </a:effectRef>
            <a:fontRef idx="minor">
              <a:schemeClr val="tx1"/>
            </a:fontRef>
          </p:style>
        </p:cxnSp>
        <p:grpSp>
          <p:nvGrpSpPr>
            <p:cNvPr id="36" name="组合 40">
              <a:extLst>
                <a:ext uri="{FF2B5EF4-FFF2-40B4-BE49-F238E27FC236}">
                  <a16:creationId xmlns:a16="http://schemas.microsoft.com/office/drawing/2014/main" id="{4BF7AA3C-2C2C-9ED9-17BB-7F113657C12E}"/>
                </a:ext>
              </a:extLst>
            </p:cNvPr>
            <p:cNvGrpSpPr/>
            <p:nvPr/>
          </p:nvGrpSpPr>
          <p:grpSpPr>
            <a:xfrm>
              <a:off x="3428992" y="2714620"/>
              <a:ext cx="1643074" cy="642942"/>
              <a:chOff x="3643306" y="3000372"/>
              <a:chExt cx="1643074" cy="642942"/>
            </a:xfrm>
          </p:grpSpPr>
          <p:sp>
            <p:nvSpPr>
              <p:cNvPr id="37" name="右箭头 41">
                <a:extLst>
                  <a:ext uri="{FF2B5EF4-FFF2-40B4-BE49-F238E27FC236}">
                    <a16:creationId xmlns:a16="http://schemas.microsoft.com/office/drawing/2014/main" id="{A942F74D-B99C-6E7A-B0CA-EBC755F201F7}"/>
                  </a:ext>
                </a:extLst>
              </p:cNvPr>
              <p:cNvSpPr/>
              <p:nvPr/>
            </p:nvSpPr>
            <p:spPr bwMode="auto">
              <a:xfrm>
                <a:off x="3786182" y="3429000"/>
                <a:ext cx="1428760" cy="214314"/>
              </a:xfrm>
              <a:prstGeom prst="rightArrow">
                <a:avLst/>
              </a:prstGeom>
              <a:ln>
                <a:headEnd type="none" w="med" len="med"/>
                <a:tailEnd type="none" w="med" len="lg"/>
              </a:ln>
            </p:spPr>
            <p:style>
              <a:lnRef idx="1">
                <a:schemeClr val="accent5"/>
              </a:lnRef>
              <a:fillRef idx="3">
                <a:schemeClr val="accent5"/>
              </a:fillRef>
              <a:effectRef idx="2">
                <a:schemeClr val="accent5"/>
              </a:effectRef>
              <a:fontRef idx="minor">
                <a:schemeClr val="lt1"/>
              </a:fontRef>
            </p:style>
            <p:txBody>
              <a:bodyPr wrap="none" rtlCol="0" anchor="ctr"/>
              <a:lstStyle/>
              <a:p>
                <a:pPr algn="ctr"/>
                <a:endParaRPr lang="zh-CN" altLang="en-US"/>
              </a:p>
            </p:txBody>
          </p:sp>
          <p:sp>
            <p:nvSpPr>
              <p:cNvPr id="38" name="TextBox 42">
                <a:extLst>
                  <a:ext uri="{FF2B5EF4-FFF2-40B4-BE49-F238E27FC236}">
                    <a16:creationId xmlns:a16="http://schemas.microsoft.com/office/drawing/2014/main" id="{343495D0-9491-C65F-EECB-15E1D77DD0DC}"/>
                  </a:ext>
                </a:extLst>
              </p:cNvPr>
              <p:cNvSpPr txBox="1"/>
              <p:nvPr/>
            </p:nvSpPr>
            <p:spPr>
              <a:xfrm>
                <a:off x="3643306" y="3000372"/>
                <a:ext cx="1643074" cy="369332"/>
              </a:xfrm>
              <a:prstGeom prst="rect">
                <a:avLst/>
              </a:prstGeom>
              <a:noFill/>
            </p:spPr>
            <p:txBody>
              <a:bodyPr wrap="square" rtlCol="0">
                <a:spAutoFit/>
              </a:bodyPr>
              <a:lstStyle/>
              <a:p>
                <a:r>
                  <a:rPr kumimoji="1" lang="zh-CN" altLang="en-US" sz="1800">
                    <a:solidFill>
                      <a:srgbClr val="FF00FF"/>
                    </a:solidFill>
                    <a:latin typeface="Consolas" pitchFamily="49" charset="0"/>
                    <a:ea typeface="仿宋" pitchFamily="49" charset="-122"/>
                    <a:cs typeface="Consolas" pitchFamily="49" charset="0"/>
                  </a:rPr>
                  <a:t>生成</a:t>
                </a:r>
                <a:r>
                  <a:rPr kumimoji="1" lang="zh-CN" altLang="en-US" sz="1800">
                    <a:solidFill>
                      <a:srgbClr val="FF00FF"/>
                    </a:solidFill>
                    <a:latin typeface="Consolas" pitchFamily="49" charset="0"/>
                    <a:ea typeface="楷体" pitchFamily="49" charset="-122"/>
                    <a:cs typeface="Consolas" pitchFamily="49" charset="0"/>
                  </a:rPr>
                  <a:t>森林</a:t>
                </a:r>
                <a:endParaRPr lang="zh-CN" altLang="en-US" sz="1800">
                  <a:solidFill>
                    <a:srgbClr val="FF00FF"/>
                  </a:solidFill>
                  <a:latin typeface="Consolas" pitchFamily="49" charset="0"/>
                  <a:ea typeface="仿宋" pitchFamily="49" charset="-122"/>
                  <a:cs typeface="Consolas" pitchFamily="49" charset="0"/>
                </a:endParaRPr>
              </a:p>
            </p:txBody>
          </p:sp>
        </p:grpSp>
      </p:grpSp>
      <p:sp>
        <p:nvSpPr>
          <p:cNvPr id="39" name="矩形 38">
            <a:extLst>
              <a:ext uri="{FF2B5EF4-FFF2-40B4-BE49-F238E27FC236}">
                <a16:creationId xmlns:a16="http://schemas.microsoft.com/office/drawing/2014/main" id="{CCBB58FE-291D-6DC3-156F-1074A7B4B42A}"/>
              </a:ext>
            </a:extLst>
          </p:cNvPr>
          <p:cNvSpPr/>
          <p:nvPr/>
        </p:nvSpPr>
        <p:spPr>
          <a:xfrm>
            <a:off x="3394075" y="399838"/>
            <a:ext cx="4617860"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8.4 </a:t>
            </a:r>
            <a:r>
              <a:rPr lang="zh-CN" altLang="en-US" sz="3000" b="1" dirty="0">
                <a:latin typeface="黑体" pitchFamily="49" charset="-122"/>
                <a:ea typeface="黑体" pitchFamily="49" charset="-122"/>
                <a:cs typeface="经典粗黑简" pitchFamily="49" charset="-122"/>
              </a:rPr>
              <a:t>生成树和最小生成树</a:t>
            </a:r>
          </a:p>
        </p:txBody>
      </p:sp>
    </p:spTree>
    <p:extLst>
      <p:ext uri="{BB962C8B-B14F-4D97-AF65-F5344CB8AC3E}">
        <p14:creationId xmlns:p14="http://schemas.microsoft.com/office/powerpoint/2010/main" val="27253584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486694" y="2420888"/>
            <a:ext cx="7218611" cy="707886"/>
          </a:xfrm>
          <a:prstGeom prst="rect">
            <a:avLst/>
          </a:prstGeom>
        </p:spPr>
        <p:txBody>
          <a:bodyPr wrap="square">
            <a:spAutoFit/>
          </a:bodyPr>
          <a:lstStyle/>
          <a:p>
            <a:r>
              <a:rPr kumimoji="1" lang="zh-CN" altLang="en-US" sz="2000" dirty="0">
                <a:latin typeface="微软雅黑" pitchFamily="34" charset="-122"/>
                <a:ea typeface="微软雅黑" pitchFamily="34" charset="-122"/>
                <a:cs typeface="经典粗黑简" pitchFamily="49" charset="-122"/>
              </a:rPr>
              <a:t>一个具有</a:t>
            </a:r>
            <a:r>
              <a:rPr kumimoji="1" lang="en-US" altLang="zh-CN" sz="2000" dirty="0">
                <a:latin typeface="微软雅黑" pitchFamily="34" charset="-122"/>
                <a:ea typeface="微软雅黑" pitchFamily="34" charset="-122"/>
                <a:cs typeface="经典粗黑简" pitchFamily="49" charset="-122"/>
              </a:rPr>
              <a:t>n</a:t>
            </a:r>
            <a:r>
              <a:rPr kumimoji="1" lang="zh-CN" altLang="en-US" sz="2000" dirty="0">
                <a:latin typeface="微软雅黑" pitchFamily="34" charset="-122"/>
                <a:ea typeface="微软雅黑" pitchFamily="34" charset="-122"/>
                <a:cs typeface="经典粗黑简" pitchFamily="49" charset="-122"/>
              </a:rPr>
              <a:t>个顶点的连通图的生成树是原图的一个极小连通子图，它含有原图中的所有</a:t>
            </a:r>
            <a:r>
              <a:rPr kumimoji="1" lang="en-US" altLang="zh-CN" sz="2000" dirty="0">
                <a:latin typeface="微软雅黑" pitchFamily="34" charset="-122"/>
                <a:ea typeface="微软雅黑" pitchFamily="34" charset="-122"/>
                <a:cs typeface="经典粗黑简" pitchFamily="49" charset="-122"/>
              </a:rPr>
              <a:t>n</a:t>
            </a:r>
            <a:r>
              <a:rPr kumimoji="1" lang="zh-CN" altLang="en-US" sz="2000" dirty="0">
                <a:latin typeface="微软雅黑" pitchFamily="34" charset="-122"/>
                <a:ea typeface="微软雅黑" pitchFamily="34" charset="-122"/>
                <a:cs typeface="经典粗黑简" pitchFamily="49" charset="-122"/>
              </a:rPr>
              <a:t>个顶点，并且具有保持连通图的最少的边。</a:t>
            </a:r>
          </a:p>
        </p:txBody>
      </p:sp>
      <p:sp>
        <p:nvSpPr>
          <p:cNvPr id="5" name="矩形 4"/>
          <p:cNvSpPr/>
          <p:nvPr/>
        </p:nvSpPr>
        <p:spPr>
          <a:xfrm>
            <a:off x="2486693" y="3212977"/>
            <a:ext cx="7353723" cy="1015663"/>
          </a:xfrm>
          <a:prstGeom prst="rect">
            <a:avLst/>
          </a:prstGeom>
        </p:spPr>
        <p:txBody>
          <a:bodyPr wrap="square">
            <a:spAutoFit/>
          </a:bodyPr>
          <a:lstStyle/>
          <a:p>
            <a:r>
              <a:rPr kumimoji="1" lang="zh-CN" altLang="en-US" sz="2000" dirty="0">
                <a:latin typeface="微软雅黑" pitchFamily="34" charset="-122"/>
                <a:ea typeface="微软雅黑" pitchFamily="34" charset="-122"/>
                <a:cs typeface="经典粗黑简" pitchFamily="49" charset="-122"/>
              </a:rPr>
              <a:t>问题提出    </a:t>
            </a:r>
          </a:p>
          <a:p>
            <a:r>
              <a:rPr kumimoji="1" lang="zh-CN" altLang="en-US" sz="2000" dirty="0">
                <a:latin typeface="微软雅黑" pitchFamily="34" charset="-122"/>
                <a:ea typeface="微软雅黑" pitchFamily="34" charset="-122"/>
                <a:cs typeface="经典粗黑简" pitchFamily="49" charset="-122"/>
              </a:rPr>
              <a:t>        假设要在</a:t>
            </a:r>
            <a:r>
              <a:rPr kumimoji="1" lang="en-US" altLang="zh-CN" sz="2000" dirty="0">
                <a:latin typeface="微软雅黑" pitchFamily="34" charset="-122"/>
                <a:ea typeface="微软雅黑" pitchFamily="34" charset="-122"/>
                <a:cs typeface="经典粗黑简" pitchFamily="49" charset="-122"/>
              </a:rPr>
              <a:t>n</a:t>
            </a:r>
            <a:r>
              <a:rPr kumimoji="1" lang="zh-CN" altLang="en-US" sz="2000" dirty="0">
                <a:latin typeface="微软雅黑" pitchFamily="34" charset="-122"/>
                <a:ea typeface="微软雅黑" pitchFamily="34" charset="-122"/>
                <a:cs typeface="经典粗黑简" pitchFamily="49" charset="-122"/>
              </a:rPr>
              <a:t>个城市之间建立通信联络网，如何在最节省经费的前提下建立这个通信网呢？</a:t>
            </a:r>
          </a:p>
        </p:txBody>
      </p:sp>
      <p:sp>
        <p:nvSpPr>
          <p:cNvPr id="20" name="WordArt 3"/>
          <p:cNvSpPr>
            <a:spLocks noChangeArrowheads="1" noChangeShapeType="1" noTextEdit="1"/>
          </p:cNvSpPr>
          <p:nvPr/>
        </p:nvSpPr>
        <p:spPr bwMode="auto">
          <a:xfrm rot="5400000">
            <a:off x="4957762" y="3775126"/>
            <a:ext cx="1843088" cy="3167063"/>
          </a:xfrm>
          <a:prstGeom prst="rect">
            <a:avLst/>
          </a:prstGeom>
          <a:extLs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vert="eaVert" wrap="none" fromWordArt="1">
            <a:prstTxWarp prst="textWave4">
              <a:avLst>
                <a:gd name="adj1" fmla="val 13005"/>
                <a:gd name="adj2" fmla="val 0"/>
              </a:avLst>
            </a:prstTxWarp>
          </a:bodyPr>
          <a:lstStyle/>
          <a:p>
            <a:pPr fontAlgn="auto"/>
            <a:r>
              <a:rPr lang="zh-CN" altLang="en-US" sz="3600" kern="10" dirty="0">
                <a:gradFill rotWithShape="1">
                  <a:gsLst>
                    <a:gs pos="0">
                      <a:srgbClr val="00FF00"/>
                    </a:gs>
                    <a:gs pos="100000">
                      <a:srgbClr val="00CCFF"/>
                    </a:gs>
                  </a:gsLst>
                  <a:lin ang="0" scaled="1"/>
                </a:gradFill>
                <a:effectLst>
                  <a:outerShdw dist="99190" dir="7788334" algn="ctr" rotWithShape="0">
                    <a:srgbClr val="000080">
                      <a:alpha val="79999"/>
                    </a:srgbClr>
                  </a:outerShdw>
                </a:effectLst>
                <a:latin typeface="宋体"/>
                <a:ea typeface="宋体"/>
              </a:rPr>
              <a:t>？</a:t>
            </a:r>
          </a:p>
        </p:txBody>
      </p:sp>
      <p:sp>
        <p:nvSpPr>
          <p:cNvPr id="3" name="Rectangle 2">
            <a:extLst>
              <a:ext uri="{FF2B5EF4-FFF2-40B4-BE49-F238E27FC236}">
                <a16:creationId xmlns:a16="http://schemas.microsoft.com/office/drawing/2014/main" id="{BB18734F-9565-F8E8-05D9-1143DFB9B12F}"/>
              </a:ext>
            </a:extLst>
          </p:cNvPr>
          <p:cNvSpPr txBox="1">
            <a:spLocks noChangeArrowheads="1"/>
          </p:cNvSpPr>
          <p:nvPr/>
        </p:nvSpPr>
        <p:spPr>
          <a:xfrm>
            <a:off x="474772" y="1230902"/>
            <a:ext cx="4469100"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8.4.2 </a:t>
            </a:r>
            <a:r>
              <a:rPr kumimoji="1" lang="zh-CN" altLang="en-US" dirty="0">
                <a:latin typeface="微软雅黑" pitchFamily="34" charset="-122"/>
                <a:ea typeface="微软雅黑" pitchFamily="34" charset="-122"/>
              </a:rPr>
              <a:t>非连通图和生成树</a:t>
            </a:r>
          </a:p>
        </p:txBody>
      </p:sp>
      <p:cxnSp>
        <p:nvCxnSpPr>
          <p:cNvPr id="4" name="直接连接符 3">
            <a:extLst>
              <a:ext uri="{FF2B5EF4-FFF2-40B4-BE49-F238E27FC236}">
                <a16:creationId xmlns:a16="http://schemas.microsoft.com/office/drawing/2014/main" id="{115576D4-0782-F03F-2476-4CE054DEC424}"/>
              </a:ext>
            </a:extLst>
          </p:cNvPr>
          <p:cNvCxnSpPr>
            <a:cxnSpLocks/>
          </p:cNvCxnSpPr>
          <p:nvPr/>
        </p:nvCxnSpPr>
        <p:spPr>
          <a:xfrm>
            <a:off x="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6" name="矩形 5">
            <a:extLst>
              <a:ext uri="{FF2B5EF4-FFF2-40B4-BE49-F238E27FC236}">
                <a16:creationId xmlns:a16="http://schemas.microsoft.com/office/drawing/2014/main" id="{F68605B3-DBE9-1CEE-46A6-7DEF9E3EB70F}"/>
              </a:ext>
            </a:extLst>
          </p:cNvPr>
          <p:cNvSpPr/>
          <p:nvPr/>
        </p:nvSpPr>
        <p:spPr>
          <a:xfrm>
            <a:off x="3394075" y="399838"/>
            <a:ext cx="4617860"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8.4 </a:t>
            </a:r>
            <a:r>
              <a:rPr lang="zh-CN" altLang="en-US" sz="3000" b="1" dirty="0">
                <a:latin typeface="黑体" pitchFamily="49" charset="-122"/>
                <a:ea typeface="黑体" pitchFamily="49" charset="-122"/>
                <a:cs typeface="经典粗黑简" pitchFamily="49" charset="-122"/>
              </a:rPr>
              <a:t>生成树和最小生成树</a:t>
            </a:r>
          </a:p>
        </p:txBody>
      </p:sp>
    </p:spTree>
    <p:extLst>
      <p:ext uri="{BB962C8B-B14F-4D97-AF65-F5344CB8AC3E}">
        <p14:creationId xmlns:p14="http://schemas.microsoft.com/office/powerpoint/2010/main" val="41643806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ntr" presetSubtype="0" fill="hold" grpId="0"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8" presetClass="emph" presetSubtype="0" fill="hold" grpId="1" nodeType="clickEffect">
                                  <p:stCondLst>
                                    <p:cond delay="0"/>
                                  </p:stCondLst>
                                  <p:childTnLst>
                                    <p:animRot by="21600000">
                                      <p:cBhvr>
                                        <p:cTn id="14" dur="2000" fill="hold"/>
                                        <p:tgtEl>
                                          <p:spTgt spid="20"/>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20" grpId="0" animBg="1"/>
      <p:bldP spid="20" grpId="1" animBg="1"/>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2"/>
          <p:cNvGrpSpPr>
            <a:grpSpLocks/>
          </p:cNvGrpSpPr>
          <p:nvPr/>
        </p:nvGrpSpPr>
        <p:grpSpPr bwMode="auto">
          <a:xfrm>
            <a:off x="4583833" y="1916833"/>
            <a:ext cx="4897437" cy="3455987"/>
            <a:chOff x="1383" y="709"/>
            <a:chExt cx="3085" cy="2177"/>
          </a:xfrm>
        </p:grpSpPr>
        <p:grpSp>
          <p:nvGrpSpPr>
            <p:cNvPr id="9" name="Group 3"/>
            <p:cNvGrpSpPr>
              <a:grpSpLocks/>
            </p:cNvGrpSpPr>
            <p:nvPr/>
          </p:nvGrpSpPr>
          <p:grpSpPr bwMode="auto">
            <a:xfrm>
              <a:off x="1383" y="754"/>
              <a:ext cx="3085" cy="2041"/>
              <a:chOff x="1383" y="210"/>
              <a:chExt cx="3085" cy="2041"/>
            </a:xfrm>
          </p:grpSpPr>
          <p:sp>
            <p:nvSpPr>
              <p:cNvPr id="22" name="Oval 4"/>
              <p:cNvSpPr>
                <a:spLocks noChangeArrowheads="1"/>
              </p:cNvSpPr>
              <p:nvPr/>
            </p:nvSpPr>
            <p:spPr bwMode="auto">
              <a:xfrm>
                <a:off x="4105" y="935"/>
                <a:ext cx="363" cy="363"/>
              </a:xfrm>
              <a:prstGeom prst="ellipse">
                <a:avLst/>
              </a:prstGeom>
              <a:solidFill>
                <a:schemeClr val="bg1"/>
              </a:solidFill>
              <a:ln w="28575" cap="sq">
                <a:solidFill>
                  <a:srgbClr val="0033CC"/>
                </a:solidFill>
                <a:miter lim="800000"/>
                <a:headEnd type="none" w="sm" len="sm"/>
                <a:tailEnd type="none" w="sm" len="sm"/>
              </a:ln>
            </p:spPr>
            <p:txBody>
              <a:bodyPr wrap="none" anchor="ctr"/>
              <a:lstStyle/>
              <a:p>
                <a:r>
                  <a:rPr lang="en-US" altLang="zh-CN" sz="2400"/>
                  <a:t>v</a:t>
                </a:r>
                <a:r>
                  <a:rPr lang="en-US" altLang="zh-CN" sz="2400" baseline="-25000"/>
                  <a:t>7</a:t>
                </a:r>
              </a:p>
            </p:txBody>
          </p:sp>
          <p:sp>
            <p:nvSpPr>
              <p:cNvPr id="23" name="Oval 5"/>
              <p:cNvSpPr>
                <a:spLocks noChangeArrowheads="1"/>
              </p:cNvSpPr>
              <p:nvPr/>
            </p:nvSpPr>
            <p:spPr bwMode="auto">
              <a:xfrm>
                <a:off x="2064" y="1888"/>
                <a:ext cx="363" cy="363"/>
              </a:xfrm>
              <a:prstGeom prst="ellipse">
                <a:avLst/>
              </a:prstGeom>
              <a:solidFill>
                <a:schemeClr val="bg1"/>
              </a:solidFill>
              <a:ln w="28575" cap="sq">
                <a:solidFill>
                  <a:srgbClr val="0033CC"/>
                </a:solidFill>
                <a:miter lim="800000"/>
                <a:headEnd type="none" w="sm" len="sm"/>
                <a:tailEnd type="none" w="sm" len="sm"/>
              </a:ln>
            </p:spPr>
            <p:txBody>
              <a:bodyPr wrap="none" anchor="ctr"/>
              <a:lstStyle/>
              <a:p>
                <a:r>
                  <a:rPr lang="en-US" altLang="zh-CN" sz="2400"/>
                  <a:t>v</a:t>
                </a:r>
                <a:r>
                  <a:rPr lang="en-US" altLang="zh-CN" sz="2400" baseline="-25000"/>
                  <a:t>5</a:t>
                </a:r>
              </a:p>
            </p:txBody>
          </p:sp>
          <p:sp>
            <p:nvSpPr>
              <p:cNvPr id="24" name="Oval 6"/>
              <p:cNvSpPr>
                <a:spLocks noChangeArrowheads="1"/>
              </p:cNvSpPr>
              <p:nvPr/>
            </p:nvSpPr>
            <p:spPr bwMode="auto">
              <a:xfrm>
                <a:off x="3424" y="1888"/>
                <a:ext cx="363" cy="363"/>
              </a:xfrm>
              <a:prstGeom prst="ellipse">
                <a:avLst/>
              </a:prstGeom>
              <a:solidFill>
                <a:schemeClr val="bg1"/>
              </a:solidFill>
              <a:ln w="28575" cap="sq">
                <a:solidFill>
                  <a:srgbClr val="0033CC"/>
                </a:solidFill>
                <a:miter lim="800000"/>
                <a:headEnd type="none" w="sm" len="sm"/>
                <a:tailEnd type="none" w="sm" len="sm"/>
              </a:ln>
            </p:spPr>
            <p:txBody>
              <a:bodyPr wrap="none" anchor="ctr"/>
              <a:lstStyle/>
              <a:p>
                <a:r>
                  <a:rPr lang="en-US" altLang="zh-CN" sz="2400"/>
                  <a:t>v</a:t>
                </a:r>
                <a:r>
                  <a:rPr lang="en-US" altLang="zh-CN" sz="2400" baseline="-25000"/>
                  <a:t>6</a:t>
                </a:r>
              </a:p>
            </p:txBody>
          </p:sp>
          <p:sp>
            <p:nvSpPr>
              <p:cNvPr id="25" name="Oval 7"/>
              <p:cNvSpPr>
                <a:spLocks noChangeArrowheads="1"/>
              </p:cNvSpPr>
              <p:nvPr/>
            </p:nvSpPr>
            <p:spPr bwMode="auto">
              <a:xfrm>
                <a:off x="1383" y="935"/>
                <a:ext cx="363" cy="363"/>
              </a:xfrm>
              <a:prstGeom prst="ellipse">
                <a:avLst/>
              </a:prstGeom>
              <a:solidFill>
                <a:schemeClr val="bg1"/>
              </a:solidFill>
              <a:ln w="28575" cap="sq">
                <a:solidFill>
                  <a:srgbClr val="0033CC"/>
                </a:solidFill>
                <a:miter lim="800000"/>
                <a:headEnd type="none" w="sm" len="sm"/>
                <a:tailEnd type="none" w="sm" len="sm"/>
              </a:ln>
            </p:spPr>
            <p:txBody>
              <a:bodyPr wrap="none" anchor="ctr"/>
              <a:lstStyle/>
              <a:p>
                <a:r>
                  <a:rPr lang="en-US" altLang="zh-CN" sz="2400"/>
                  <a:t>v</a:t>
                </a:r>
                <a:r>
                  <a:rPr lang="en-US" altLang="zh-CN" sz="2400" baseline="-25000"/>
                  <a:t>2</a:t>
                </a:r>
              </a:p>
            </p:txBody>
          </p:sp>
          <p:sp>
            <p:nvSpPr>
              <p:cNvPr id="26" name="Oval 8"/>
              <p:cNvSpPr>
                <a:spLocks noChangeArrowheads="1"/>
              </p:cNvSpPr>
              <p:nvPr/>
            </p:nvSpPr>
            <p:spPr bwMode="auto">
              <a:xfrm>
                <a:off x="3424" y="210"/>
                <a:ext cx="363" cy="363"/>
              </a:xfrm>
              <a:prstGeom prst="ellipse">
                <a:avLst/>
              </a:prstGeom>
              <a:solidFill>
                <a:schemeClr val="bg1"/>
              </a:solidFill>
              <a:ln w="28575" cap="sq">
                <a:solidFill>
                  <a:srgbClr val="0033CC"/>
                </a:solidFill>
                <a:miter lim="800000"/>
                <a:headEnd type="none" w="sm" len="sm"/>
                <a:tailEnd type="none" w="sm" len="sm"/>
              </a:ln>
            </p:spPr>
            <p:txBody>
              <a:bodyPr wrap="none" anchor="ctr"/>
              <a:lstStyle/>
              <a:p>
                <a:r>
                  <a:rPr lang="en-US" altLang="zh-CN" sz="2400"/>
                  <a:t>v</a:t>
                </a:r>
                <a:r>
                  <a:rPr lang="en-US" altLang="zh-CN" sz="2400" baseline="-25000"/>
                  <a:t>3</a:t>
                </a:r>
              </a:p>
            </p:txBody>
          </p:sp>
          <p:sp>
            <p:nvSpPr>
              <p:cNvPr id="27" name="Oval 9"/>
              <p:cNvSpPr>
                <a:spLocks noChangeArrowheads="1"/>
              </p:cNvSpPr>
              <p:nvPr/>
            </p:nvSpPr>
            <p:spPr bwMode="auto">
              <a:xfrm>
                <a:off x="2064" y="210"/>
                <a:ext cx="363" cy="363"/>
              </a:xfrm>
              <a:prstGeom prst="ellipse">
                <a:avLst/>
              </a:prstGeom>
              <a:solidFill>
                <a:schemeClr val="bg1"/>
              </a:solidFill>
              <a:ln w="28575" cap="sq">
                <a:solidFill>
                  <a:srgbClr val="0033CC"/>
                </a:solidFill>
                <a:miter lim="800000"/>
                <a:headEnd type="none" w="sm" len="sm"/>
                <a:tailEnd type="none" w="sm" len="sm"/>
              </a:ln>
            </p:spPr>
            <p:txBody>
              <a:bodyPr wrap="none" anchor="ctr"/>
              <a:lstStyle/>
              <a:p>
                <a:r>
                  <a:rPr lang="en-US" altLang="zh-CN" sz="2400"/>
                  <a:t>v</a:t>
                </a:r>
                <a:r>
                  <a:rPr lang="en-US" altLang="zh-CN" sz="2400" baseline="-25000"/>
                  <a:t>1</a:t>
                </a:r>
              </a:p>
            </p:txBody>
          </p:sp>
          <p:sp>
            <p:nvSpPr>
              <p:cNvPr id="28" name="Oval 10"/>
              <p:cNvSpPr>
                <a:spLocks noChangeArrowheads="1"/>
              </p:cNvSpPr>
              <p:nvPr/>
            </p:nvSpPr>
            <p:spPr bwMode="auto">
              <a:xfrm>
                <a:off x="2698" y="935"/>
                <a:ext cx="363" cy="363"/>
              </a:xfrm>
              <a:prstGeom prst="ellipse">
                <a:avLst/>
              </a:prstGeom>
              <a:solidFill>
                <a:schemeClr val="bg1"/>
              </a:solidFill>
              <a:ln w="28575" cap="sq">
                <a:solidFill>
                  <a:srgbClr val="0033CC"/>
                </a:solidFill>
                <a:miter lim="800000"/>
                <a:headEnd type="none" w="sm" len="sm"/>
                <a:tailEnd type="none" w="sm" len="sm"/>
              </a:ln>
            </p:spPr>
            <p:txBody>
              <a:bodyPr wrap="none" anchor="ctr"/>
              <a:lstStyle/>
              <a:p>
                <a:r>
                  <a:rPr lang="en-US" altLang="zh-CN" sz="2400"/>
                  <a:t>v</a:t>
                </a:r>
                <a:r>
                  <a:rPr lang="en-US" altLang="zh-CN" sz="2400" baseline="-25000"/>
                  <a:t>4</a:t>
                </a:r>
              </a:p>
            </p:txBody>
          </p:sp>
          <p:sp>
            <p:nvSpPr>
              <p:cNvPr id="29" name="Line 11"/>
              <p:cNvSpPr>
                <a:spLocks noChangeShapeType="1"/>
              </p:cNvSpPr>
              <p:nvPr/>
            </p:nvSpPr>
            <p:spPr bwMode="auto">
              <a:xfrm>
                <a:off x="2426" y="436"/>
                <a:ext cx="998" cy="0"/>
              </a:xfrm>
              <a:prstGeom prst="line">
                <a:avLst/>
              </a:prstGeom>
              <a:noFill/>
              <a:ln w="28575" cap="sq">
                <a:solidFill>
                  <a:srgbClr val="0033CC"/>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30" name="Line 12"/>
              <p:cNvSpPr>
                <a:spLocks noChangeShapeType="1"/>
              </p:cNvSpPr>
              <p:nvPr/>
            </p:nvSpPr>
            <p:spPr bwMode="auto">
              <a:xfrm flipH="1">
                <a:off x="1701" y="527"/>
                <a:ext cx="408" cy="454"/>
              </a:xfrm>
              <a:prstGeom prst="line">
                <a:avLst/>
              </a:prstGeom>
              <a:noFill/>
              <a:ln w="28575" cap="sq">
                <a:solidFill>
                  <a:srgbClr val="0033CC"/>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31" name="Line 13"/>
              <p:cNvSpPr>
                <a:spLocks noChangeShapeType="1"/>
              </p:cNvSpPr>
              <p:nvPr/>
            </p:nvSpPr>
            <p:spPr bwMode="auto">
              <a:xfrm>
                <a:off x="3787" y="482"/>
                <a:ext cx="454" cy="453"/>
              </a:xfrm>
              <a:prstGeom prst="line">
                <a:avLst/>
              </a:prstGeom>
              <a:noFill/>
              <a:ln w="28575" cap="sq">
                <a:solidFill>
                  <a:srgbClr val="0033CC"/>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32" name="Line 14"/>
              <p:cNvSpPr>
                <a:spLocks noChangeShapeType="1"/>
              </p:cNvSpPr>
              <p:nvPr/>
            </p:nvSpPr>
            <p:spPr bwMode="auto">
              <a:xfrm>
                <a:off x="1746" y="1162"/>
                <a:ext cx="953" cy="0"/>
              </a:xfrm>
              <a:prstGeom prst="line">
                <a:avLst/>
              </a:prstGeom>
              <a:noFill/>
              <a:ln w="28575" cap="sq">
                <a:solidFill>
                  <a:srgbClr val="0033CC"/>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33" name="Line 15"/>
              <p:cNvSpPr>
                <a:spLocks noChangeShapeType="1"/>
              </p:cNvSpPr>
              <p:nvPr/>
            </p:nvSpPr>
            <p:spPr bwMode="auto">
              <a:xfrm>
                <a:off x="3061" y="1162"/>
                <a:ext cx="1044" cy="0"/>
              </a:xfrm>
              <a:prstGeom prst="line">
                <a:avLst/>
              </a:prstGeom>
              <a:noFill/>
              <a:ln w="28575" cap="sq">
                <a:solidFill>
                  <a:srgbClr val="0033CC"/>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34" name="Line 16"/>
              <p:cNvSpPr>
                <a:spLocks noChangeShapeType="1"/>
              </p:cNvSpPr>
              <p:nvPr/>
            </p:nvSpPr>
            <p:spPr bwMode="auto">
              <a:xfrm flipH="1">
                <a:off x="3016" y="527"/>
                <a:ext cx="454" cy="454"/>
              </a:xfrm>
              <a:prstGeom prst="line">
                <a:avLst/>
              </a:prstGeom>
              <a:noFill/>
              <a:ln w="28575" cap="sq">
                <a:solidFill>
                  <a:srgbClr val="0033CC"/>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35" name="Line 17"/>
              <p:cNvSpPr>
                <a:spLocks noChangeShapeType="1"/>
              </p:cNvSpPr>
              <p:nvPr/>
            </p:nvSpPr>
            <p:spPr bwMode="auto">
              <a:xfrm>
                <a:off x="2426" y="2069"/>
                <a:ext cx="998" cy="0"/>
              </a:xfrm>
              <a:prstGeom prst="line">
                <a:avLst/>
              </a:prstGeom>
              <a:noFill/>
              <a:ln w="28575" cap="sq">
                <a:solidFill>
                  <a:srgbClr val="0033CC"/>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36" name="Line 18"/>
              <p:cNvSpPr>
                <a:spLocks noChangeShapeType="1"/>
              </p:cNvSpPr>
              <p:nvPr/>
            </p:nvSpPr>
            <p:spPr bwMode="auto">
              <a:xfrm flipH="1">
                <a:off x="2349" y="1285"/>
                <a:ext cx="453" cy="635"/>
              </a:xfrm>
              <a:prstGeom prst="line">
                <a:avLst/>
              </a:prstGeom>
              <a:noFill/>
              <a:ln w="28575" cap="sq">
                <a:solidFill>
                  <a:srgbClr val="0033CC"/>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37" name="Line 19"/>
              <p:cNvSpPr>
                <a:spLocks noChangeShapeType="1"/>
              </p:cNvSpPr>
              <p:nvPr/>
            </p:nvSpPr>
            <p:spPr bwMode="auto">
              <a:xfrm>
                <a:off x="3016" y="1253"/>
                <a:ext cx="544" cy="635"/>
              </a:xfrm>
              <a:prstGeom prst="line">
                <a:avLst/>
              </a:prstGeom>
              <a:noFill/>
              <a:ln w="28575" cap="sq">
                <a:solidFill>
                  <a:srgbClr val="0033CC"/>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38" name="Line 20"/>
              <p:cNvSpPr>
                <a:spLocks noChangeShapeType="1"/>
              </p:cNvSpPr>
              <p:nvPr/>
            </p:nvSpPr>
            <p:spPr bwMode="auto">
              <a:xfrm>
                <a:off x="1655" y="1298"/>
                <a:ext cx="454" cy="635"/>
              </a:xfrm>
              <a:prstGeom prst="line">
                <a:avLst/>
              </a:prstGeom>
              <a:noFill/>
              <a:ln w="28575" cap="sq">
                <a:solidFill>
                  <a:srgbClr val="0033CC"/>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grpSp>
        <p:sp>
          <p:nvSpPr>
            <p:cNvPr id="11" name="Text Box 21"/>
            <p:cNvSpPr txBox="1">
              <a:spLocks noChangeArrowheads="1"/>
            </p:cNvSpPr>
            <p:nvPr/>
          </p:nvSpPr>
          <p:spPr bwMode="auto">
            <a:xfrm>
              <a:off x="2699" y="709"/>
              <a:ext cx="40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rgbClr val="000000"/>
                  </a:solidFill>
                  <a:miter lim="800000"/>
                  <a:headEnd type="none" w="sm" len="sm"/>
                  <a:tailEnd type="none" w="sm" len="sm"/>
                </a14:hiddenLine>
              </a:ext>
            </a:extLst>
          </p:spPr>
          <p:txBody>
            <a:bodyPr>
              <a:spAutoFit/>
            </a:bodyPr>
            <a:lstStyle>
              <a:lvl1pPr eaLnBrk="0" hangingPunct="0">
                <a:defRPr kumimoji="1" sz="2800">
                  <a:solidFill>
                    <a:schemeClr val="tx1"/>
                  </a:solidFill>
                  <a:latin typeface="Comic Sans MS" pitchFamily="66" charset="0"/>
                  <a:ea typeface="宋体" pitchFamily="2" charset="-122"/>
                </a:defRPr>
              </a:lvl1pPr>
              <a:lvl2pPr marL="742950" indent="-285750" eaLnBrk="0" hangingPunct="0">
                <a:defRPr kumimoji="1" sz="2800">
                  <a:solidFill>
                    <a:schemeClr val="tx1"/>
                  </a:solidFill>
                  <a:latin typeface="Comic Sans MS" pitchFamily="66" charset="0"/>
                  <a:ea typeface="宋体" pitchFamily="2" charset="-122"/>
                </a:defRPr>
              </a:lvl2pPr>
              <a:lvl3pPr marL="1143000" indent="-228600" eaLnBrk="0" hangingPunct="0">
                <a:defRPr kumimoji="1" sz="2800">
                  <a:solidFill>
                    <a:schemeClr val="tx1"/>
                  </a:solidFill>
                  <a:latin typeface="Comic Sans MS" pitchFamily="66" charset="0"/>
                  <a:ea typeface="宋体" pitchFamily="2" charset="-122"/>
                </a:defRPr>
              </a:lvl3pPr>
              <a:lvl4pPr marL="1600200" indent="-228600" eaLnBrk="0" hangingPunct="0">
                <a:defRPr kumimoji="1" sz="2800">
                  <a:solidFill>
                    <a:schemeClr val="tx1"/>
                  </a:solidFill>
                  <a:latin typeface="Comic Sans MS" pitchFamily="66" charset="0"/>
                  <a:ea typeface="宋体" pitchFamily="2" charset="-122"/>
                </a:defRPr>
              </a:lvl4pPr>
              <a:lvl5pPr marL="2057400" indent="-228600" eaLnBrk="0" hangingPunct="0">
                <a:defRPr kumimoji="1" sz="2800">
                  <a:solidFill>
                    <a:schemeClr val="tx1"/>
                  </a:solidFill>
                  <a:latin typeface="Comic Sans MS" pitchFamily="66" charset="0"/>
                  <a:ea typeface="宋体" pitchFamily="2" charset="-122"/>
                </a:defRPr>
              </a:lvl5pPr>
              <a:lvl6pPr marL="25146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6pPr>
              <a:lvl7pPr marL="29718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7pPr>
              <a:lvl8pPr marL="34290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8pPr>
              <a:lvl9pPr marL="38862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9pPr>
            </a:lstStyle>
            <a:p>
              <a:pPr eaLnBrk="1" hangingPunct="1">
                <a:spcBef>
                  <a:spcPct val="50000"/>
                </a:spcBef>
              </a:pPr>
              <a:r>
                <a:rPr lang="en-US" altLang="zh-CN" sz="2400" b="1">
                  <a:solidFill>
                    <a:srgbClr val="DE580E"/>
                  </a:solidFill>
                </a:rPr>
                <a:t>60</a:t>
              </a:r>
            </a:p>
          </p:txBody>
        </p:sp>
        <p:sp>
          <p:nvSpPr>
            <p:cNvPr id="12" name="Text Box 22"/>
            <p:cNvSpPr txBox="1">
              <a:spLocks noChangeArrowheads="1"/>
            </p:cNvSpPr>
            <p:nvPr/>
          </p:nvSpPr>
          <p:spPr bwMode="auto">
            <a:xfrm>
              <a:off x="3878" y="1010"/>
              <a:ext cx="40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rgbClr val="000000"/>
                  </a:solidFill>
                  <a:miter lim="800000"/>
                  <a:headEnd type="none" w="sm" len="sm"/>
                  <a:tailEnd type="none" w="sm" len="sm"/>
                </a14:hiddenLine>
              </a:ext>
            </a:extLst>
          </p:spPr>
          <p:txBody>
            <a:bodyPr>
              <a:spAutoFit/>
            </a:bodyPr>
            <a:lstStyle>
              <a:lvl1pPr eaLnBrk="0" hangingPunct="0">
                <a:defRPr kumimoji="1" sz="2800">
                  <a:solidFill>
                    <a:schemeClr val="tx1"/>
                  </a:solidFill>
                  <a:latin typeface="Comic Sans MS" pitchFamily="66" charset="0"/>
                  <a:ea typeface="宋体" pitchFamily="2" charset="-122"/>
                </a:defRPr>
              </a:lvl1pPr>
              <a:lvl2pPr marL="742950" indent="-285750" eaLnBrk="0" hangingPunct="0">
                <a:defRPr kumimoji="1" sz="2800">
                  <a:solidFill>
                    <a:schemeClr val="tx1"/>
                  </a:solidFill>
                  <a:latin typeface="Comic Sans MS" pitchFamily="66" charset="0"/>
                  <a:ea typeface="宋体" pitchFamily="2" charset="-122"/>
                </a:defRPr>
              </a:lvl2pPr>
              <a:lvl3pPr marL="1143000" indent="-228600" eaLnBrk="0" hangingPunct="0">
                <a:defRPr kumimoji="1" sz="2800">
                  <a:solidFill>
                    <a:schemeClr val="tx1"/>
                  </a:solidFill>
                  <a:latin typeface="Comic Sans MS" pitchFamily="66" charset="0"/>
                  <a:ea typeface="宋体" pitchFamily="2" charset="-122"/>
                </a:defRPr>
              </a:lvl3pPr>
              <a:lvl4pPr marL="1600200" indent="-228600" eaLnBrk="0" hangingPunct="0">
                <a:defRPr kumimoji="1" sz="2800">
                  <a:solidFill>
                    <a:schemeClr val="tx1"/>
                  </a:solidFill>
                  <a:latin typeface="Comic Sans MS" pitchFamily="66" charset="0"/>
                  <a:ea typeface="宋体" pitchFamily="2" charset="-122"/>
                </a:defRPr>
              </a:lvl4pPr>
              <a:lvl5pPr marL="2057400" indent="-228600" eaLnBrk="0" hangingPunct="0">
                <a:defRPr kumimoji="1" sz="2800">
                  <a:solidFill>
                    <a:schemeClr val="tx1"/>
                  </a:solidFill>
                  <a:latin typeface="Comic Sans MS" pitchFamily="66" charset="0"/>
                  <a:ea typeface="宋体" pitchFamily="2" charset="-122"/>
                </a:defRPr>
              </a:lvl5pPr>
              <a:lvl6pPr marL="25146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6pPr>
              <a:lvl7pPr marL="29718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7pPr>
              <a:lvl8pPr marL="34290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8pPr>
              <a:lvl9pPr marL="38862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9pPr>
            </a:lstStyle>
            <a:p>
              <a:pPr eaLnBrk="1" hangingPunct="1">
                <a:spcBef>
                  <a:spcPct val="50000"/>
                </a:spcBef>
              </a:pPr>
              <a:r>
                <a:rPr lang="en-US" altLang="zh-CN" sz="2400" b="1">
                  <a:solidFill>
                    <a:srgbClr val="DE580E"/>
                  </a:solidFill>
                </a:rPr>
                <a:t>45</a:t>
              </a:r>
            </a:p>
          </p:txBody>
        </p:sp>
        <p:sp>
          <p:nvSpPr>
            <p:cNvPr id="13" name="Text Box 23"/>
            <p:cNvSpPr txBox="1">
              <a:spLocks noChangeArrowheads="1"/>
            </p:cNvSpPr>
            <p:nvPr/>
          </p:nvSpPr>
          <p:spPr bwMode="auto">
            <a:xfrm>
              <a:off x="1610" y="1056"/>
              <a:ext cx="40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rgbClr val="000000"/>
                  </a:solidFill>
                  <a:miter lim="800000"/>
                  <a:headEnd type="none" w="sm" len="sm"/>
                  <a:tailEnd type="none" w="sm" len="sm"/>
                </a14:hiddenLine>
              </a:ext>
            </a:extLst>
          </p:spPr>
          <p:txBody>
            <a:bodyPr>
              <a:spAutoFit/>
            </a:bodyPr>
            <a:lstStyle>
              <a:lvl1pPr eaLnBrk="0" hangingPunct="0">
                <a:defRPr kumimoji="1" sz="2800">
                  <a:solidFill>
                    <a:schemeClr val="tx1"/>
                  </a:solidFill>
                  <a:latin typeface="Comic Sans MS" pitchFamily="66" charset="0"/>
                  <a:ea typeface="宋体" pitchFamily="2" charset="-122"/>
                </a:defRPr>
              </a:lvl1pPr>
              <a:lvl2pPr marL="742950" indent="-285750" eaLnBrk="0" hangingPunct="0">
                <a:defRPr kumimoji="1" sz="2800">
                  <a:solidFill>
                    <a:schemeClr val="tx1"/>
                  </a:solidFill>
                  <a:latin typeface="Comic Sans MS" pitchFamily="66" charset="0"/>
                  <a:ea typeface="宋体" pitchFamily="2" charset="-122"/>
                </a:defRPr>
              </a:lvl2pPr>
              <a:lvl3pPr marL="1143000" indent="-228600" eaLnBrk="0" hangingPunct="0">
                <a:defRPr kumimoji="1" sz="2800">
                  <a:solidFill>
                    <a:schemeClr val="tx1"/>
                  </a:solidFill>
                  <a:latin typeface="Comic Sans MS" pitchFamily="66" charset="0"/>
                  <a:ea typeface="宋体" pitchFamily="2" charset="-122"/>
                </a:defRPr>
              </a:lvl3pPr>
              <a:lvl4pPr marL="1600200" indent="-228600" eaLnBrk="0" hangingPunct="0">
                <a:defRPr kumimoji="1" sz="2800">
                  <a:solidFill>
                    <a:schemeClr val="tx1"/>
                  </a:solidFill>
                  <a:latin typeface="Comic Sans MS" pitchFamily="66" charset="0"/>
                  <a:ea typeface="宋体" pitchFamily="2" charset="-122"/>
                </a:defRPr>
              </a:lvl4pPr>
              <a:lvl5pPr marL="2057400" indent="-228600" eaLnBrk="0" hangingPunct="0">
                <a:defRPr kumimoji="1" sz="2800">
                  <a:solidFill>
                    <a:schemeClr val="tx1"/>
                  </a:solidFill>
                  <a:latin typeface="Comic Sans MS" pitchFamily="66" charset="0"/>
                  <a:ea typeface="宋体" pitchFamily="2" charset="-122"/>
                </a:defRPr>
              </a:lvl5pPr>
              <a:lvl6pPr marL="25146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6pPr>
              <a:lvl7pPr marL="29718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7pPr>
              <a:lvl8pPr marL="34290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8pPr>
              <a:lvl9pPr marL="38862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9pPr>
            </a:lstStyle>
            <a:p>
              <a:pPr eaLnBrk="1" hangingPunct="1">
                <a:spcBef>
                  <a:spcPct val="50000"/>
                </a:spcBef>
              </a:pPr>
              <a:r>
                <a:rPr lang="en-US" altLang="zh-CN" sz="2400" b="1">
                  <a:solidFill>
                    <a:srgbClr val="DE580E"/>
                  </a:solidFill>
                </a:rPr>
                <a:t>50</a:t>
              </a:r>
            </a:p>
          </p:txBody>
        </p:sp>
        <p:sp>
          <p:nvSpPr>
            <p:cNvPr id="14" name="Text Box 24"/>
            <p:cNvSpPr txBox="1">
              <a:spLocks noChangeArrowheads="1"/>
            </p:cNvSpPr>
            <p:nvPr/>
          </p:nvSpPr>
          <p:spPr bwMode="auto">
            <a:xfrm>
              <a:off x="2926" y="1071"/>
              <a:ext cx="40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rgbClr val="000000"/>
                  </a:solidFill>
                  <a:miter lim="800000"/>
                  <a:headEnd type="none" w="sm" len="sm"/>
                  <a:tailEnd type="none" w="sm" len="sm"/>
                </a14:hiddenLine>
              </a:ext>
            </a:extLst>
          </p:spPr>
          <p:txBody>
            <a:bodyPr>
              <a:spAutoFit/>
            </a:bodyPr>
            <a:lstStyle>
              <a:lvl1pPr eaLnBrk="0" hangingPunct="0">
                <a:defRPr kumimoji="1" sz="2800">
                  <a:solidFill>
                    <a:schemeClr val="tx1"/>
                  </a:solidFill>
                  <a:latin typeface="Comic Sans MS" pitchFamily="66" charset="0"/>
                  <a:ea typeface="宋体" pitchFamily="2" charset="-122"/>
                </a:defRPr>
              </a:lvl1pPr>
              <a:lvl2pPr marL="742950" indent="-285750" eaLnBrk="0" hangingPunct="0">
                <a:defRPr kumimoji="1" sz="2800">
                  <a:solidFill>
                    <a:schemeClr val="tx1"/>
                  </a:solidFill>
                  <a:latin typeface="Comic Sans MS" pitchFamily="66" charset="0"/>
                  <a:ea typeface="宋体" pitchFamily="2" charset="-122"/>
                </a:defRPr>
              </a:lvl2pPr>
              <a:lvl3pPr marL="1143000" indent="-228600" eaLnBrk="0" hangingPunct="0">
                <a:defRPr kumimoji="1" sz="2800">
                  <a:solidFill>
                    <a:schemeClr val="tx1"/>
                  </a:solidFill>
                  <a:latin typeface="Comic Sans MS" pitchFamily="66" charset="0"/>
                  <a:ea typeface="宋体" pitchFamily="2" charset="-122"/>
                </a:defRPr>
              </a:lvl3pPr>
              <a:lvl4pPr marL="1600200" indent="-228600" eaLnBrk="0" hangingPunct="0">
                <a:defRPr kumimoji="1" sz="2800">
                  <a:solidFill>
                    <a:schemeClr val="tx1"/>
                  </a:solidFill>
                  <a:latin typeface="Comic Sans MS" pitchFamily="66" charset="0"/>
                  <a:ea typeface="宋体" pitchFamily="2" charset="-122"/>
                </a:defRPr>
              </a:lvl4pPr>
              <a:lvl5pPr marL="2057400" indent="-228600" eaLnBrk="0" hangingPunct="0">
                <a:defRPr kumimoji="1" sz="2800">
                  <a:solidFill>
                    <a:schemeClr val="tx1"/>
                  </a:solidFill>
                  <a:latin typeface="Comic Sans MS" pitchFamily="66" charset="0"/>
                  <a:ea typeface="宋体" pitchFamily="2" charset="-122"/>
                </a:defRPr>
              </a:lvl5pPr>
              <a:lvl6pPr marL="25146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6pPr>
              <a:lvl7pPr marL="29718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7pPr>
              <a:lvl8pPr marL="34290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8pPr>
              <a:lvl9pPr marL="38862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9pPr>
            </a:lstStyle>
            <a:p>
              <a:pPr eaLnBrk="1" hangingPunct="1">
                <a:spcBef>
                  <a:spcPct val="50000"/>
                </a:spcBef>
              </a:pPr>
              <a:r>
                <a:rPr lang="en-US" altLang="zh-CN" sz="2400" b="1">
                  <a:solidFill>
                    <a:srgbClr val="DE580E"/>
                  </a:solidFill>
                </a:rPr>
                <a:t>50</a:t>
              </a:r>
            </a:p>
          </p:txBody>
        </p:sp>
        <p:sp>
          <p:nvSpPr>
            <p:cNvPr id="15" name="Text Box 25"/>
            <p:cNvSpPr txBox="1">
              <a:spLocks noChangeArrowheads="1"/>
            </p:cNvSpPr>
            <p:nvPr/>
          </p:nvSpPr>
          <p:spPr bwMode="auto">
            <a:xfrm>
              <a:off x="2064" y="1464"/>
              <a:ext cx="40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rgbClr val="000000"/>
                  </a:solidFill>
                  <a:miter lim="800000"/>
                  <a:headEnd type="none" w="sm" len="sm"/>
                  <a:tailEnd type="none" w="sm" len="sm"/>
                </a14:hiddenLine>
              </a:ext>
            </a:extLst>
          </p:spPr>
          <p:txBody>
            <a:bodyPr>
              <a:spAutoFit/>
            </a:bodyPr>
            <a:lstStyle>
              <a:lvl1pPr eaLnBrk="0" hangingPunct="0">
                <a:defRPr kumimoji="1" sz="2800">
                  <a:solidFill>
                    <a:schemeClr val="tx1"/>
                  </a:solidFill>
                  <a:latin typeface="Comic Sans MS" pitchFamily="66" charset="0"/>
                  <a:ea typeface="宋体" pitchFamily="2" charset="-122"/>
                </a:defRPr>
              </a:lvl1pPr>
              <a:lvl2pPr marL="742950" indent="-285750" eaLnBrk="0" hangingPunct="0">
                <a:defRPr kumimoji="1" sz="2800">
                  <a:solidFill>
                    <a:schemeClr val="tx1"/>
                  </a:solidFill>
                  <a:latin typeface="Comic Sans MS" pitchFamily="66" charset="0"/>
                  <a:ea typeface="宋体" pitchFamily="2" charset="-122"/>
                </a:defRPr>
              </a:lvl2pPr>
              <a:lvl3pPr marL="1143000" indent="-228600" eaLnBrk="0" hangingPunct="0">
                <a:defRPr kumimoji="1" sz="2800">
                  <a:solidFill>
                    <a:schemeClr val="tx1"/>
                  </a:solidFill>
                  <a:latin typeface="Comic Sans MS" pitchFamily="66" charset="0"/>
                  <a:ea typeface="宋体" pitchFamily="2" charset="-122"/>
                </a:defRPr>
              </a:lvl3pPr>
              <a:lvl4pPr marL="1600200" indent="-228600" eaLnBrk="0" hangingPunct="0">
                <a:defRPr kumimoji="1" sz="2800">
                  <a:solidFill>
                    <a:schemeClr val="tx1"/>
                  </a:solidFill>
                  <a:latin typeface="Comic Sans MS" pitchFamily="66" charset="0"/>
                  <a:ea typeface="宋体" pitchFamily="2" charset="-122"/>
                </a:defRPr>
              </a:lvl4pPr>
              <a:lvl5pPr marL="2057400" indent="-228600" eaLnBrk="0" hangingPunct="0">
                <a:defRPr kumimoji="1" sz="2800">
                  <a:solidFill>
                    <a:schemeClr val="tx1"/>
                  </a:solidFill>
                  <a:latin typeface="Comic Sans MS" pitchFamily="66" charset="0"/>
                  <a:ea typeface="宋体" pitchFamily="2" charset="-122"/>
                </a:defRPr>
              </a:lvl5pPr>
              <a:lvl6pPr marL="25146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6pPr>
              <a:lvl7pPr marL="29718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7pPr>
              <a:lvl8pPr marL="34290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8pPr>
              <a:lvl9pPr marL="38862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9pPr>
            </a:lstStyle>
            <a:p>
              <a:pPr eaLnBrk="1" hangingPunct="1">
                <a:spcBef>
                  <a:spcPct val="50000"/>
                </a:spcBef>
              </a:pPr>
              <a:r>
                <a:rPr lang="en-US" altLang="zh-CN" sz="2400" b="1">
                  <a:solidFill>
                    <a:srgbClr val="DE580E"/>
                  </a:solidFill>
                </a:rPr>
                <a:t>65</a:t>
              </a:r>
            </a:p>
          </p:txBody>
        </p:sp>
        <p:sp>
          <p:nvSpPr>
            <p:cNvPr id="16" name="Text Box 26"/>
            <p:cNvSpPr txBox="1">
              <a:spLocks noChangeArrowheads="1"/>
            </p:cNvSpPr>
            <p:nvPr/>
          </p:nvSpPr>
          <p:spPr bwMode="auto">
            <a:xfrm>
              <a:off x="3425" y="1464"/>
              <a:ext cx="40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rgbClr val="000000"/>
                  </a:solidFill>
                  <a:miter lim="800000"/>
                  <a:headEnd type="none" w="sm" len="sm"/>
                  <a:tailEnd type="none" w="sm" len="sm"/>
                </a14:hiddenLine>
              </a:ext>
            </a:extLst>
          </p:spPr>
          <p:txBody>
            <a:bodyPr>
              <a:spAutoFit/>
            </a:bodyPr>
            <a:lstStyle>
              <a:lvl1pPr eaLnBrk="0" hangingPunct="0">
                <a:defRPr kumimoji="1" sz="2800">
                  <a:solidFill>
                    <a:schemeClr val="tx1"/>
                  </a:solidFill>
                  <a:latin typeface="Comic Sans MS" pitchFamily="66" charset="0"/>
                  <a:ea typeface="宋体" pitchFamily="2" charset="-122"/>
                </a:defRPr>
              </a:lvl1pPr>
              <a:lvl2pPr marL="742950" indent="-285750" eaLnBrk="0" hangingPunct="0">
                <a:defRPr kumimoji="1" sz="2800">
                  <a:solidFill>
                    <a:schemeClr val="tx1"/>
                  </a:solidFill>
                  <a:latin typeface="Comic Sans MS" pitchFamily="66" charset="0"/>
                  <a:ea typeface="宋体" pitchFamily="2" charset="-122"/>
                </a:defRPr>
              </a:lvl2pPr>
              <a:lvl3pPr marL="1143000" indent="-228600" eaLnBrk="0" hangingPunct="0">
                <a:defRPr kumimoji="1" sz="2800">
                  <a:solidFill>
                    <a:schemeClr val="tx1"/>
                  </a:solidFill>
                  <a:latin typeface="Comic Sans MS" pitchFamily="66" charset="0"/>
                  <a:ea typeface="宋体" pitchFamily="2" charset="-122"/>
                </a:defRPr>
              </a:lvl3pPr>
              <a:lvl4pPr marL="1600200" indent="-228600" eaLnBrk="0" hangingPunct="0">
                <a:defRPr kumimoji="1" sz="2800">
                  <a:solidFill>
                    <a:schemeClr val="tx1"/>
                  </a:solidFill>
                  <a:latin typeface="Comic Sans MS" pitchFamily="66" charset="0"/>
                  <a:ea typeface="宋体" pitchFamily="2" charset="-122"/>
                </a:defRPr>
              </a:lvl4pPr>
              <a:lvl5pPr marL="2057400" indent="-228600" eaLnBrk="0" hangingPunct="0">
                <a:defRPr kumimoji="1" sz="2800">
                  <a:solidFill>
                    <a:schemeClr val="tx1"/>
                  </a:solidFill>
                  <a:latin typeface="Comic Sans MS" pitchFamily="66" charset="0"/>
                  <a:ea typeface="宋体" pitchFamily="2" charset="-122"/>
                </a:defRPr>
              </a:lvl5pPr>
              <a:lvl6pPr marL="25146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6pPr>
              <a:lvl7pPr marL="29718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7pPr>
              <a:lvl8pPr marL="34290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8pPr>
              <a:lvl9pPr marL="38862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9pPr>
            </a:lstStyle>
            <a:p>
              <a:pPr eaLnBrk="1" hangingPunct="1">
                <a:spcBef>
                  <a:spcPct val="50000"/>
                </a:spcBef>
              </a:pPr>
              <a:r>
                <a:rPr lang="en-US" altLang="zh-CN" sz="2400" b="1">
                  <a:solidFill>
                    <a:srgbClr val="DE580E"/>
                  </a:solidFill>
                </a:rPr>
                <a:t>42</a:t>
              </a:r>
            </a:p>
          </p:txBody>
        </p:sp>
        <p:sp>
          <p:nvSpPr>
            <p:cNvPr id="17" name="Text Box 27"/>
            <p:cNvSpPr txBox="1">
              <a:spLocks noChangeArrowheads="1"/>
            </p:cNvSpPr>
            <p:nvPr/>
          </p:nvSpPr>
          <p:spPr bwMode="auto">
            <a:xfrm>
              <a:off x="1519" y="1979"/>
              <a:ext cx="40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rgbClr val="000000"/>
                  </a:solidFill>
                  <a:miter lim="800000"/>
                  <a:headEnd type="none" w="sm" len="sm"/>
                  <a:tailEnd type="none" w="sm" len="sm"/>
                </a14:hiddenLine>
              </a:ext>
            </a:extLst>
          </p:spPr>
          <p:txBody>
            <a:bodyPr>
              <a:spAutoFit/>
            </a:bodyPr>
            <a:lstStyle>
              <a:lvl1pPr eaLnBrk="0" hangingPunct="0">
                <a:defRPr kumimoji="1" sz="2800">
                  <a:solidFill>
                    <a:schemeClr val="tx1"/>
                  </a:solidFill>
                  <a:latin typeface="Comic Sans MS" pitchFamily="66" charset="0"/>
                  <a:ea typeface="宋体" pitchFamily="2" charset="-122"/>
                </a:defRPr>
              </a:lvl1pPr>
              <a:lvl2pPr marL="742950" indent="-285750" eaLnBrk="0" hangingPunct="0">
                <a:defRPr kumimoji="1" sz="2800">
                  <a:solidFill>
                    <a:schemeClr val="tx1"/>
                  </a:solidFill>
                  <a:latin typeface="Comic Sans MS" pitchFamily="66" charset="0"/>
                  <a:ea typeface="宋体" pitchFamily="2" charset="-122"/>
                </a:defRPr>
              </a:lvl2pPr>
              <a:lvl3pPr marL="1143000" indent="-228600" eaLnBrk="0" hangingPunct="0">
                <a:defRPr kumimoji="1" sz="2800">
                  <a:solidFill>
                    <a:schemeClr val="tx1"/>
                  </a:solidFill>
                  <a:latin typeface="Comic Sans MS" pitchFamily="66" charset="0"/>
                  <a:ea typeface="宋体" pitchFamily="2" charset="-122"/>
                </a:defRPr>
              </a:lvl3pPr>
              <a:lvl4pPr marL="1600200" indent="-228600" eaLnBrk="0" hangingPunct="0">
                <a:defRPr kumimoji="1" sz="2800">
                  <a:solidFill>
                    <a:schemeClr val="tx1"/>
                  </a:solidFill>
                  <a:latin typeface="Comic Sans MS" pitchFamily="66" charset="0"/>
                  <a:ea typeface="宋体" pitchFamily="2" charset="-122"/>
                </a:defRPr>
              </a:lvl4pPr>
              <a:lvl5pPr marL="2057400" indent="-228600" eaLnBrk="0" hangingPunct="0">
                <a:defRPr kumimoji="1" sz="2800">
                  <a:solidFill>
                    <a:schemeClr val="tx1"/>
                  </a:solidFill>
                  <a:latin typeface="Comic Sans MS" pitchFamily="66" charset="0"/>
                  <a:ea typeface="宋体" pitchFamily="2" charset="-122"/>
                </a:defRPr>
              </a:lvl5pPr>
              <a:lvl6pPr marL="25146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6pPr>
              <a:lvl7pPr marL="29718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7pPr>
              <a:lvl8pPr marL="34290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8pPr>
              <a:lvl9pPr marL="38862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9pPr>
            </a:lstStyle>
            <a:p>
              <a:pPr eaLnBrk="1" hangingPunct="1">
                <a:spcBef>
                  <a:spcPct val="50000"/>
                </a:spcBef>
              </a:pPr>
              <a:r>
                <a:rPr lang="en-US" altLang="zh-CN" sz="2400" b="1">
                  <a:solidFill>
                    <a:srgbClr val="DE580E"/>
                  </a:solidFill>
                </a:rPr>
                <a:t>40</a:t>
              </a:r>
            </a:p>
          </p:txBody>
        </p:sp>
        <p:sp>
          <p:nvSpPr>
            <p:cNvPr id="18" name="Text Box 28"/>
            <p:cNvSpPr txBox="1">
              <a:spLocks noChangeArrowheads="1"/>
            </p:cNvSpPr>
            <p:nvPr/>
          </p:nvSpPr>
          <p:spPr bwMode="auto">
            <a:xfrm>
              <a:off x="2245" y="1979"/>
              <a:ext cx="40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rgbClr val="000000"/>
                  </a:solidFill>
                  <a:miter lim="800000"/>
                  <a:headEnd type="none" w="sm" len="sm"/>
                  <a:tailEnd type="none" w="sm" len="sm"/>
                </a14:hiddenLine>
              </a:ext>
            </a:extLst>
          </p:spPr>
          <p:txBody>
            <a:bodyPr>
              <a:spAutoFit/>
            </a:bodyPr>
            <a:lstStyle>
              <a:lvl1pPr eaLnBrk="0" hangingPunct="0">
                <a:defRPr kumimoji="1" sz="2800">
                  <a:solidFill>
                    <a:schemeClr val="tx1"/>
                  </a:solidFill>
                  <a:latin typeface="Comic Sans MS" pitchFamily="66" charset="0"/>
                  <a:ea typeface="宋体" pitchFamily="2" charset="-122"/>
                </a:defRPr>
              </a:lvl1pPr>
              <a:lvl2pPr marL="742950" indent="-285750" eaLnBrk="0" hangingPunct="0">
                <a:defRPr kumimoji="1" sz="2800">
                  <a:solidFill>
                    <a:schemeClr val="tx1"/>
                  </a:solidFill>
                  <a:latin typeface="Comic Sans MS" pitchFamily="66" charset="0"/>
                  <a:ea typeface="宋体" pitchFamily="2" charset="-122"/>
                </a:defRPr>
              </a:lvl2pPr>
              <a:lvl3pPr marL="1143000" indent="-228600" eaLnBrk="0" hangingPunct="0">
                <a:defRPr kumimoji="1" sz="2800">
                  <a:solidFill>
                    <a:schemeClr val="tx1"/>
                  </a:solidFill>
                  <a:latin typeface="Comic Sans MS" pitchFamily="66" charset="0"/>
                  <a:ea typeface="宋体" pitchFamily="2" charset="-122"/>
                </a:defRPr>
              </a:lvl3pPr>
              <a:lvl4pPr marL="1600200" indent="-228600" eaLnBrk="0" hangingPunct="0">
                <a:defRPr kumimoji="1" sz="2800">
                  <a:solidFill>
                    <a:schemeClr val="tx1"/>
                  </a:solidFill>
                  <a:latin typeface="Comic Sans MS" pitchFamily="66" charset="0"/>
                  <a:ea typeface="宋体" pitchFamily="2" charset="-122"/>
                </a:defRPr>
              </a:lvl4pPr>
              <a:lvl5pPr marL="2057400" indent="-228600" eaLnBrk="0" hangingPunct="0">
                <a:defRPr kumimoji="1" sz="2800">
                  <a:solidFill>
                    <a:schemeClr val="tx1"/>
                  </a:solidFill>
                  <a:latin typeface="Comic Sans MS" pitchFamily="66" charset="0"/>
                  <a:ea typeface="宋体" pitchFamily="2" charset="-122"/>
                </a:defRPr>
              </a:lvl5pPr>
              <a:lvl6pPr marL="25146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6pPr>
              <a:lvl7pPr marL="29718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7pPr>
              <a:lvl8pPr marL="34290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8pPr>
              <a:lvl9pPr marL="38862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9pPr>
            </a:lstStyle>
            <a:p>
              <a:pPr eaLnBrk="1" hangingPunct="1">
                <a:spcBef>
                  <a:spcPct val="50000"/>
                </a:spcBef>
              </a:pPr>
              <a:r>
                <a:rPr lang="en-US" altLang="zh-CN" sz="2400" b="1">
                  <a:solidFill>
                    <a:srgbClr val="DE580E"/>
                  </a:solidFill>
                </a:rPr>
                <a:t>50</a:t>
              </a:r>
            </a:p>
          </p:txBody>
        </p:sp>
        <p:sp>
          <p:nvSpPr>
            <p:cNvPr id="19" name="Text Box 29"/>
            <p:cNvSpPr txBox="1">
              <a:spLocks noChangeArrowheads="1"/>
            </p:cNvSpPr>
            <p:nvPr/>
          </p:nvSpPr>
          <p:spPr bwMode="auto">
            <a:xfrm>
              <a:off x="3243" y="1933"/>
              <a:ext cx="40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rgbClr val="000000"/>
                  </a:solidFill>
                  <a:miter lim="800000"/>
                  <a:headEnd type="none" w="sm" len="sm"/>
                  <a:tailEnd type="none" w="sm" len="sm"/>
                </a14:hiddenLine>
              </a:ext>
            </a:extLst>
          </p:spPr>
          <p:txBody>
            <a:bodyPr>
              <a:spAutoFit/>
            </a:bodyPr>
            <a:lstStyle>
              <a:lvl1pPr eaLnBrk="0" hangingPunct="0">
                <a:defRPr kumimoji="1" sz="2800">
                  <a:solidFill>
                    <a:schemeClr val="tx1"/>
                  </a:solidFill>
                  <a:latin typeface="Comic Sans MS" pitchFamily="66" charset="0"/>
                  <a:ea typeface="宋体" pitchFamily="2" charset="-122"/>
                </a:defRPr>
              </a:lvl1pPr>
              <a:lvl2pPr marL="742950" indent="-285750" eaLnBrk="0" hangingPunct="0">
                <a:defRPr kumimoji="1" sz="2800">
                  <a:solidFill>
                    <a:schemeClr val="tx1"/>
                  </a:solidFill>
                  <a:latin typeface="Comic Sans MS" pitchFamily="66" charset="0"/>
                  <a:ea typeface="宋体" pitchFamily="2" charset="-122"/>
                </a:defRPr>
              </a:lvl2pPr>
              <a:lvl3pPr marL="1143000" indent="-228600" eaLnBrk="0" hangingPunct="0">
                <a:defRPr kumimoji="1" sz="2800">
                  <a:solidFill>
                    <a:schemeClr val="tx1"/>
                  </a:solidFill>
                  <a:latin typeface="Comic Sans MS" pitchFamily="66" charset="0"/>
                  <a:ea typeface="宋体" pitchFamily="2" charset="-122"/>
                </a:defRPr>
              </a:lvl3pPr>
              <a:lvl4pPr marL="1600200" indent="-228600" eaLnBrk="0" hangingPunct="0">
                <a:defRPr kumimoji="1" sz="2800">
                  <a:solidFill>
                    <a:schemeClr val="tx1"/>
                  </a:solidFill>
                  <a:latin typeface="Comic Sans MS" pitchFamily="66" charset="0"/>
                  <a:ea typeface="宋体" pitchFamily="2" charset="-122"/>
                </a:defRPr>
              </a:lvl4pPr>
              <a:lvl5pPr marL="2057400" indent="-228600" eaLnBrk="0" hangingPunct="0">
                <a:defRPr kumimoji="1" sz="2800">
                  <a:solidFill>
                    <a:schemeClr val="tx1"/>
                  </a:solidFill>
                  <a:latin typeface="Comic Sans MS" pitchFamily="66" charset="0"/>
                  <a:ea typeface="宋体" pitchFamily="2" charset="-122"/>
                </a:defRPr>
              </a:lvl5pPr>
              <a:lvl6pPr marL="25146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6pPr>
              <a:lvl7pPr marL="29718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7pPr>
              <a:lvl8pPr marL="34290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8pPr>
              <a:lvl9pPr marL="38862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9pPr>
            </a:lstStyle>
            <a:p>
              <a:pPr eaLnBrk="1" hangingPunct="1">
                <a:spcBef>
                  <a:spcPct val="50000"/>
                </a:spcBef>
              </a:pPr>
              <a:r>
                <a:rPr lang="en-US" altLang="zh-CN" sz="2400" b="1">
                  <a:solidFill>
                    <a:srgbClr val="DE580E"/>
                  </a:solidFill>
                </a:rPr>
                <a:t>30</a:t>
              </a:r>
            </a:p>
          </p:txBody>
        </p:sp>
        <p:sp>
          <p:nvSpPr>
            <p:cNvPr id="21" name="Text Box 30"/>
            <p:cNvSpPr txBox="1">
              <a:spLocks noChangeArrowheads="1"/>
            </p:cNvSpPr>
            <p:nvPr/>
          </p:nvSpPr>
          <p:spPr bwMode="auto">
            <a:xfrm>
              <a:off x="2744" y="2598"/>
              <a:ext cx="40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rgbClr val="000000"/>
                  </a:solidFill>
                  <a:miter lim="800000"/>
                  <a:headEnd type="none" w="sm" len="sm"/>
                  <a:tailEnd type="none" w="sm" len="sm"/>
                </a14:hiddenLine>
              </a:ext>
            </a:extLst>
          </p:spPr>
          <p:txBody>
            <a:bodyPr>
              <a:spAutoFit/>
            </a:bodyPr>
            <a:lstStyle>
              <a:lvl1pPr eaLnBrk="0" hangingPunct="0">
                <a:defRPr kumimoji="1" sz="2800">
                  <a:solidFill>
                    <a:schemeClr val="tx1"/>
                  </a:solidFill>
                  <a:latin typeface="Comic Sans MS" pitchFamily="66" charset="0"/>
                  <a:ea typeface="宋体" pitchFamily="2" charset="-122"/>
                </a:defRPr>
              </a:lvl1pPr>
              <a:lvl2pPr marL="742950" indent="-285750" eaLnBrk="0" hangingPunct="0">
                <a:defRPr kumimoji="1" sz="2800">
                  <a:solidFill>
                    <a:schemeClr val="tx1"/>
                  </a:solidFill>
                  <a:latin typeface="Comic Sans MS" pitchFamily="66" charset="0"/>
                  <a:ea typeface="宋体" pitchFamily="2" charset="-122"/>
                </a:defRPr>
              </a:lvl2pPr>
              <a:lvl3pPr marL="1143000" indent="-228600" eaLnBrk="0" hangingPunct="0">
                <a:defRPr kumimoji="1" sz="2800">
                  <a:solidFill>
                    <a:schemeClr val="tx1"/>
                  </a:solidFill>
                  <a:latin typeface="Comic Sans MS" pitchFamily="66" charset="0"/>
                  <a:ea typeface="宋体" pitchFamily="2" charset="-122"/>
                </a:defRPr>
              </a:lvl3pPr>
              <a:lvl4pPr marL="1600200" indent="-228600" eaLnBrk="0" hangingPunct="0">
                <a:defRPr kumimoji="1" sz="2800">
                  <a:solidFill>
                    <a:schemeClr val="tx1"/>
                  </a:solidFill>
                  <a:latin typeface="Comic Sans MS" pitchFamily="66" charset="0"/>
                  <a:ea typeface="宋体" pitchFamily="2" charset="-122"/>
                </a:defRPr>
              </a:lvl4pPr>
              <a:lvl5pPr marL="2057400" indent="-228600" eaLnBrk="0" hangingPunct="0">
                <a:defRPr kumimoji="1" sz="2800">
                  <a:solidFill>
                    <a:schemeClr val="tx1"/>
                  </a:solidFill>
                  <a:latin typeface="Comic Sans MS" pitchFamily="66" charset="0"/>
                  <a:ea typeface="宋体" pitchFamily="2" charset="-122"/>
                </a:defRPr>
              </a:lvl5pPr>
              <a:lvl6pPr marL="25146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6pPr>
              <a:lvl7pPr marL="29718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7pPr>
              <a:lvl8pPr marL="34290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8pPr>
              <a:lvl9pPr marL="38862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9pPr>
            </a:lstStyle>
            <a:p>
              <a:pPr eaLnBrk="1" hangingPunct="1">
                <a:spcBef>
                  <a:spcPct val="50000"/>
                </a:spcBef>
              </a:pPr>
              <a:r>
                <a:rPr lang="en-US" altLang="zh-CN" sz="2400" b="1">
                  <a:solidFill>
                    <a:srgbClr val="DE580E"/>
                  </a:solidFill>
                </a:rPr>
                <a:t>70</a:t>
              </a:r>
            </a:p>
          </p:txBody>
        </p:sp>
      </p:grpSp>
      <p:sp>
        <p:nvSpPr>
          <p:cNvPr id="39" name="Text Box 31"/>
          <p:cNvSpPr txBox="1">
            <a:spLocks noChangeArrowheads="1"/>
          </p:cNvSpPr>
          <p:nvPr/>
        </p:nvSpPr>
        <p:spPr bwMode="auto">
          <a:xfrm>
            <a:off x="2298700" y="5398198"/>
            <a:ext cx="784860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kumimoji="1" sz="2800">
                <a:solidFill>
                  <a:schemeClr val="tx1"/>
                </a:solidFill>
                <a:latin typeface="Comic Sans MS" pitchFamily="66" charset="0"/>
                <a:ea typeface="宋体" pitchFamily="2" charset="-122"/>
              </a:defRPr>
            </a:lvl1pPr>
            <a:lvl2pPr marL="742950" indent="-285750" eaLnBrk="0" hangingPunct="0">
              <a:defRPr kumimoji="1" sz="2800">
                <a:solidFill>
                  <a:schemeClr val="tx1"/>
                </a:solidFill>
                <a:latin typeface="Comic Sans MS" pitchFamily="66" charset="0"/>
                <a:ea typeface="宋体" pitchFamily="2" charset="-122"/>
              </a:defRPr>
            </a:lvl2pPr>
            <a:lvl3pPr marL="1143000" indent="-228600" eaLnBrk="0" hangingPunct="0">
              <a:defRPr kumimoji="1" sz="2800">
                <a:solidFill>
                  <a:schemeClr val="tx1"/>
                </a:solidFill>
                <a:latin typeface="Comic Sans MS" pitchFamily="66" charset="0"/>
                <a:ea typeface="宋体" pitchFamily="2" charset="-122"/>
              </a:defRPr>
            </a:lvl3pPr>
            <a:lvl4pPr marL="1600200" indent="-228600" eaLnBrk="0" hangingPunct="0">
              <a:defRPr kumimoji="1" sz="2800">
                <a:solidFill>
                  <a:schemeClr val="tx1"/>
                </a:solidFill>
                <a:latin typeface="Comic Sans MS" pitchFamily="66" charset="0"/>
                <a:ea typeface="宋体" pitchFamily="2" charset="-122"/>
              </a:defRPr>
            </a:lvl4pPr>
            <a:lvl5pPr marL="2057400" indent="-228600" eaLnBrk="0" hangingPunct="0">
              <a:defRPr kumimoji="1" sz="2800">
                <a:solidFill>
                  <a:schemeClr val="tx1"/>
                </a:solidFill>
                <a:latin typeface="Comic Sans MS" pitchFamily="66" charset="0"/>
                <a:ea typeface="宋体" pitchFamily="2" charset="-122"/>
              </a:defRPr>
            </a:lvl5pPr>
            <a:lvl6pPr marL="25146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6pPr>
            <a:lvl7pPr marL="29718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7pPr>
            <a:lvl8pPr marL="34290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8pPr>
            <a:lvl9pPr marL="38862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9pPr>
          </a:lstStyle>
          <a:p>
            <a:pPr algn="l" eaLnBrk="1" hangingPunct="1">
              <a:spcBef>
                <a:spcPct val="50000"/>
              </a:spcBef>
            </a:pPr>
            <a:r>
              <a:rPr lang="zh-CN" altLang="en-US" sz="2000" dirty="0">
                <a:latin typeface="微软雅黑" pitchFamily="34" charset="-122"/>
                <a:ea typeface="微软雅黑" pitchFamily="34" charset="-122"/>
                <a:cs typeface="经典粗黑简" pitchFamily="49" charset="-122"/>
              </a:rPr>
              <a:t>网中的顶点表示城市，边表示两城市之间的线路，边上的权值表示相应的代价。</a:t>
            </a:r>
          </a:p>
        </p:txBody>
      </p:sp>
      <p:sp>
        <p:nvSpPr>
          <p:cNvPr id="2" name="Rectangle 2">
            <a:extLst>
              <a:ext uri="{FF2B5EF4-FFF2-40B4-BE49-F238E27FC236}">
                <a16:creationId xmlns:a16="http://schemas.microsoft.com/office/drawing/2014/main" id="{FAE34DAD-ECD9-48CE-35A9-40E31D0C4040}"/>
              </a:ext>
            </a:extLst>
          </p:cNvPr>
          <p:cNvSpPr txBox="1">
            <a:spLocks noChangeArrowheads="1"/>
          </p:cNvSpPr>
          <p:nvPr/>
        </p:nvSpPr>
        <p:spPr>
          <a:xfrm>
            <a:off x="474772" y="1230902"/>
            <a:ext cx="4469100"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8.4.2 </a:t>
            </a:r>
            <a:r>
              <a:rPr kumimoji="1" lang="zh-CN" altLang="en-US" dirty="0">
                <a:latin typeface="微软雅黑" pitchFamily="34" charset="-122"/>
                <a:ea typeface="微软雅黑" pitchFamily="34" charset="-122"/>
              </a:rPr>
              <a:t>非连通图和生成树</a:t>
            </a:r>
          </a:p>
        </p:txBody>
      </p:sp>
      <p:cxnSp>
        <p:nvCxnSpPr>
          <p:cNvPr id="3" name="直接连接符 2">
            <a:extLst>
              <a:ext uri="{FF2B5EF4-FFF2-40B4-BE49-F238E27FC236}">
                <a16:creationId xmlns:a16="http://schemas.microsoft.com/office/drawing/2014/main" id="{142D785D-71F9-FA96-83F3-5B46D5FA3932}"/>
              </a:ext>
            </a:extLst>
          </p:cNvPr>
          <p:cNvCxnSpPr>
            <a:cxnSpLocks/>
          </p:cNvCxnSpPr>
          <p:nvPr/>
        </p:nvCxnSpPr>
        <p:spPr>
          <a:xfrm>
            <a:off x="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4" name="矩形 3">
            <a:extLst>
              <a:ext uri="{FF2B5EF4-FFF2-40B4-BE49-F238E27FC236}">
                <a16:creationId xmlns:a16="http://schemas.microsoft.com/office/drawing/2014/main" id="{B830383C-BFFC-1D1B-9A12-9FBA3E7991E4}"/>
              </a:ext>
            </a:extLst>
          </p:cNvPr>
          <p:cNvSpPr/>
          <p:nvPr/>
        </p:nvSpPr>
        <p:spPr>
          <a:xfrm>
            <a:off x="3394075" y="399838"/>
            <a:ext cx="4617860"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8.4 </a:t>
            </a:r>
            <a:r>
              <a:rPr lang="zh-CN" altLang="en-US" sz="3000" b="1" dirty="0">
                <a:latin typeface="黑体" pitchFamily="49" charset="-122"/>
                <a:ea typeface="黑体" pitchFamily="49" charset="-122"/>
                <a:cs typeface="经典粗黑简" pitchFamily="49" charset="-122"/>
              </a:rPr>
              <a:t>生成树和最小生成树</a:t>
            </a:r>
          </a:p>
        </p:txBody>
      </p:sp>
    </p:spTree>
    <p:extLst>
      <p:ext uri="{BB962C8B-B14F-4D97-AF65-F5344CB8AC3E}">
        <p14:creationId xmlns:p14="http://schemas.microsoft.com/office/powerpoint/2010/main" val="4266438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Rectangle 4"/>
          <p:cNvSpPr>
            <a:spLocks noChangeArrowheads="1"/>
          </p:cNvSpPr>
          <p:nvPr/>
        </p:nvSpPr>
        <p:spPr bwMode="auto">
          <a:xfrm>
            <a:off x="6384032" y="4567734"/>
            <a:ext cx="7620000" cy="2016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lvl="1" indent="-228600">
              <a:spcBef>
                <a:spcPts val="600"/>
              </a:spcBef>
              <a:buClr>
                <a:srgbClr val="B870B8"/>
              </a:buClr>
              <a:buSzPct val="75000"/>
              <a:buFont typeface="Wingdings" pitchFamily="2" charset="2"/>
              <a:buChar char="n"/>
            </a:pPr>
            <a:endParaRPr kumimoji="1" lang="zh-CN" altLang="en-US" sz="2400" dirty="0">
              <a:latin typeface="微软雅黑" pitchFamily="34" charset="-122"/>
              <a:ea typeface="微软雅黑" pitchFamily="34" charset="-122"/>
              <a:cs typeface="经典粗黑简" pitchFamily="49" charset="-122"/>
            </a:endParaRPr>
          </a:p>
        </p:txBody>
      </p:sp>
      <p:sp>
        <p:nvSpPr>
          <p:cNvPr id="2" name="矩形 1"/>
          <p:cNvSpPr/>
          <p:nvPr/>
        </p:nvSpPr>
        <p:spPr>
          <a:xfrm>
            <a:off x="2423592" y="2492897"/>
            <a:ext cx="7704856" cy="1015663"/>
          </a:xfrm>
          <a:prstGeom prst="rect">
            <a:avLst/>
          </a:prstGeom>
        </p:spPr>
        <p:txBody>
          <a:bodyPr wrap="square">
            <a:spAutoFit/>
          </a:bodyPr>
          <a:lstStyle/>
          <a:p>
            <a:r>
              <a:rPr kumimoji="1" lang="zh-CN" altLang="en-US" sz="2000" dirty="0">
                <a:latin typeface="微软雅黑" pitchFamily="34" charset="-122"/>
                <a:ea typeface="微软雅黑" pitchFamily="34" charset="-122"/>
                <a:cs typeface="经典粗黑简" pitchFamily="49" charset="-122"/>
              </a:rPr>
              <a:t>连通</a:t>
            </a:r>
            <a:r>
              <a:rPr kumimoji="1" lang="en-US" altLang="zh-CN" sz="2000" dirty="0">
                <a:latin typeface="微软雅黑" pitchFamily="34" charset="-122"/>
                <a:ea typeface="微软雅黑" pitchFamily="34" charset="-122"/>
                <a:cs typeface="经典粗黑简" pitchFamily="49" charset="-122"/>
              </a:rPr>
              <a:t>n</a:t>
            </a:r>
            <a:r>
              <a:rPr kumimoji="1" lang="zh-CN" altLang="en-US" sz="2000" dirty="0">
                <a:latin typeface="微软雅黑" pitchFamily="34" charset="-122"/>
                <a:ea typeface="微软雅黑" pitchFamily="34" charset="-122"/>
                <a:cs typeface="经典粗黑简" pitchFamily="49" charset="-122"/>
              </a:rPr>
              <a:t>个城市只需要</a:t>
            </a:r>
            <a:r>
              <a:rPr kumimoji="1" lang="en-US" altLang="zh-CN" sz="2000" dirty="0">
                <a:latin typeface="微软雅黑" pitchFamily="34" charset="-122"/>
                <a:ea typeface="微软雅黑" pitchFamily="34" charset="-122"/>
                <a:cs typeface="经典粗黑简" pitchFamily="49" charset="-122"/>
              </a:rPr>
              <a:t>n-1</a:t>
            </a:r>
            <a:r>
              <a:rPr kumimoji="1" lang="zh-CN" altLang="en-US" sz="2000" dirty="0">
                <a:latin typeface="微软雅黑" pitchFamily="34" charset="-122"/>
                <a:ea typeface="微软雅黑" pitchFamily="34" charset="-122"/>
                <a:cs typeface="经典粗黑简" pitchFamily="49" charset="-122"/>
              </a:rPr>
              <a:t>条线路。该问题就是构造连通网的最小代价生成树（简称最小生成树）的问题。一棵生成树的代价就是树上各边的代价之和。</a:t>
            </a:r>
          </a:p>
        </p:txBody>
      </p:sp>
      <p:sp>
        <p:nvSpPr>
          <p:cNvPr id="4" name="矩形 3"/>
          <p:cNvSpPr/>
          <p:nvPr/>
        </p:nvSpPr>
        <p:spPr>
          <a:xfrm>
            <a:off x="2423593" y="3540497"/>
            <a:ext cx="2749471" cy="400110"/>
          </a:xfrm>
          <a:prstGeom prst="rect">
            <a:avLst/>
          </a:prstGeom>
        </p:spPr>
        <p:txBody>
          <a:bodyPr wrap="none">
            <a:spAutoFit/>
          </a:bodyPr>
          <a:lstStyle/>
          <a:p>
            <a:r>
              <a:rPr kumimoji="1" lang="zh-CN" altLang="en-US" sz="2000" dirty="0">
                <a:latin typeface="微软雅黑" pitchFamily="34" charset="-122"/>
                <a:ea typeface="微软雅黑" pitchFamily="34" charset="-122"/>
                <a:cs typeface="经典粗黑简" pitchFamily="49" charset="-122"/>
              </a:rPr>
              <a:t>如何构造最小生成树？</a:t>
            </a:r>
          </a:p>
        </p:txBody>
      </p:sp>
      <p:sp>
        <p:nvSpPr>
          <p:cNvPr id="5" name="矩形 4"/>
          <p:cNvSpPr/>
          <p:nvPr/>
        </p:nvSpPr>
        <p:spPr>
          <a:xfrm>
            <a:off x="2423593" y="4012615"/>
            <a:ext cx="4031873" cy="400110"/>
          </a:xfrm>
          <a:prstGeom prst="rect">
            <a:avLst/>
          </a:prstGeom>
        </p:spPr>
        <p:txBody>
          <a:bodyPr wrap="none">
            <a:spAutoFit/>
          </a:bodyPr>
          <a:lstStyle/>
          <a:p>
            <a:pPr>
              <a:spcBef>
                <a:spcPts val="2000"/>
              </a:spcBef>
              <a:buClr>
                <a:schemeClr val="accent1"/>
              </a:buClr>
              <a:buSzPct val="75000"/>
            </a:pPr>
            <a:r>
              <a:rPr kumimoji="1" lang="zh-CN" altLang="en-US" sz="2000" dirty="0">
                <a:latin typeface="微软雅黑" pitchFamily="34" charset="-122"/>
                <a:ea typeface="微软雅黑" pitchFamily="34" charset="-122"/>
                <a:cs typeface="经典粗黑简" pitchFamily="49" charset="-122"/>
              </a:rPr>
              <a:t>构造最小生成树有两种典型方法：</a:t>
            </a:r>
          </a:p>
        </p:txBody>
      </p:sp>
      <p:sp>
        <p:nvSpPr>
          <p:cNvPr id="6" name="矩形 5"/>
          <p:cNvSpPr/>
          <p:nvPr/>
        </p:nvSpPr>
        <p:spPr>
          <a:xfrm>
            <a:off x="2773556" y="4444663"/>
            <a:ext cx="2775119" cy="400110"/>
          </a:xfrm>
          <a:prstGeom prst="rect">
            <a:avLst/>
          </a:prstGeom>
        </p:spPr>
        <p:txBody>
          <a:bodyPr wrap="none">
            <a:spAutoFit/>
          </a:bodyPr>
          <a:lstStyle/>
          <a:p>
            <a:pPr marL="228600" lvl="1" indent="-228600">
              <a:spcBef>
                <a:spcPts val="2000"/>
              </a:spcBef>
              <a:buClr>
                <a:schemeClr val="accent1"/>
              </a:buClr>
              <a:buSzPct val="75000"/>
              <a:buFont typeface="Wingdings" pitchFamily="2" charset="2"/>
              <a:buChar char="n"/>
            </a:pPr>
            <a:r>
              <a:rPr kumimoji="1" lang="zh-CN" altLang="en-US" sz="2000" dirty="0">
                <a:latin typeface="微软雅黑" pitchFamily="34" charset="-122"/>
                <a:ea typeface="微软雅黑" pitchFamily="34" charset="-122"/>
                <a:cs typeface="经典粗黑简" pitchFamily="49" charset="-122"/>
              </a:rPr>
              <a:t>普里姆（</a:t>
            </a:r>
            <a:r>
              <a:rPr kumimoji="1" lang="en-US" altLang="zh-CN" sz="2000" dirty="0">
                <a:latin typeface="微软雅黑" pitchFamily="34" charset="-122"/>
                <a:ea typeface="微软雅黑" pitchFamily="34" charset="-122"/>
                <a:cs typeface="经典粗黑简" pitchFamily="49" charset="-122"/>
              </a:rPr>
              <a:t>Prim</a:t>
            </a:r>
            <a:r>
              <a:rPr kumimoji="1" lang="zh-CN" altLang="en-US" sz="2000" dirty="0">
                <a:latin typeface="微软雅黑" pitchFamily="34" charset="-122"/>
                <a:ea typeface="微软雅黑" pitchFamily="34" charset="-122"/>
                <a:cs typeface="经典粗黑简" pitchFamily="49" charset="-122"/>
              </a:rPr>
              <a:t>）算法</a:t>
            </a:r>
          </a:p>
        </p:txBody>
      </p:sp>
      <p:sp>
        <p:nvSpPr>
          <p:cNvPr id="7" name="矩形 6"/>
          <p:cNvSpPr/>
          <p:nvPr/>
        </p:nvSpPr>
        <p:spPr>
          <a:xfrm>
            <a:off x="2548210" y="4935324"/>
            <a:ext cx="3842719" cy="400110"/>
          </a:xfrm>
          <a:prstGeom prst="rect">
            <a:avLst/>
          </a:prstGeom>
        </p:spPr>
        <p:txBody>
          <a:bodyPr wrap="none">
            <a:spAutoFit/>
          </a:bodyPr>
          <a:lstStyle/>
          <a:p>
            <a:pPr lvl="1" indent="-228600">
              <a:spcBef>
                <a:spcPts val="600"/>
              </a:spcBef>
              <a:buClr>
                <a:srgbClr val="B870B8"/>
              </a:buClr>
              <a:buSzPct val="75000"/>
              <a:buFont typeface="Wingdings" pitchFamily="2" charset="2"/>
              <a:buChar char="n"/>
            </a:pPr>
            <a:r>
              <a:rPr kumimoji="1" lang="zh-CN" altLang="en-US" sz="2000" dirty="0">
                <a:latin typeface="微软雅黑" pitchFamily="34" charset="-122"/>
                <a:ea typeface="微软雅黑" pitchFamily="34" charset="-122"/>
                <a:cs typeface="经典粗黑简" pitchFamily="49" charset="-122"/>
              </a:rPr>
              <a:t>克鲁斯卡尔（</a:t>
            </a:r>
            <a:r>
              <a:rPr kumimoji="1" lang="en-US" altLang="zh-CN" sz="2000" dirty="0" err="1">
                <a:latin typeface="微软雅黑" pitchFamily="34" charset="-122"/>
                <a:ea typeface="微软雅黑" pitchFamily="34" charset="-122"/>
                <a:cs typeface="经典粗黑简" pitchFamily="49" charset="-122"/>
              </a:rPr>
              <a:t>Kruskal</a:t>
            </a:r>
            <a:r>
              <a:rPr kumimoji="1" lang="zh-CN" altLang="en-US" sz="2000" dirty="0">
                <a:latin typeface="微软雅黑" pitchFamily="34" charset="-122"/>
                <a:ea typeface="微软雅黑" pitchFamily="34" charset="-122"/>
                <a:cs typeface="经典粗黑简" pitchFamily="49" charset="-122"/>
              </a:rPr>
              <a:t>）算法</a:t>
            </a:r>
          </a:p>
        </p:txBody>
      </p:sp>
      <p:sp>
        <p:nvSpPr>
          <p:cNvPr id="3" name="Rectangle 2">
            <a:extLst>
              <a:ext uri="{FF2B5EF4-FFF2-40B4-BE49-F238E27FC236}">
                <a16:creationId xmlns:a16="http://schemas.microsoft.com/office/drawing/2014/main" id="{8C90FBCB-F114-A8AD-47C7-5B297F75E1C3}"/>
              </a:ext>
            </a:extLst>
          </p:cNvPr>
          <p:cNvSpPr txBox="1">
            <a:spLocks noChangeArrowheads="1"/>
          </p:cNvSpPr>
          <p:nvPr/>
        </p:nvSpPr>
        <p:spPr>
          <a:xfrm>
            <a:off x="474772" y="1230902"/>
            <a:ext cx="4469100"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8.4.2 </a:t>
            </a:r>
            <a:r>
              <a:rPr kumimoji="1" lang="zh-CN" altLang="en-US" dirty="0">
                <a:latin typeface="微软雅黑" pitchFamily="34" charset="-122"/>
                <a:ea typeface="微软雅黑" pitchFamily="34" charset="-122"/>
              </a:rPr>
              <a:t>非连通图和生成树</a:t>
            </a:r>
          </a:p>
        </p:txBody>
      </p:sp>
      <p:cxnSp>
        <p:nvCxnSpPr>
          <p:cNvPr id="8" name="直接连接符 7">
            <a:extLst>
              <a:ext uri="{FF2B5EF4-FFF2-40B4-BE49-F238E27FC236}">
                <a16:creationId xmlns:a16="http://schemas.microsoft.com/office/drawing/2014/main" id="{ED313B7C-F974-85AB-CA5F-E80568FEA306}"/>
              </a:ext>
            </a:extLst>
          </p:cNvPr>
          <p:cNvCxnSpPr>
            <a:cxnSpLocks/>
          </p:cNvCxnSpPr>
          <p:nvPr/>
        </p:nvCxnSpPr>
        <p:spPr>
          <a:xfrm>
            <a:off x="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9" name="矩形 8">
            <a:extLst>
              <a:ext uri="{FF2B5EF4-FFF2-40B4-BE49-F238E27FC236}">
                <a16:creationId xmlns:a16="http://schemas.microsoft.com/office/drawing/2014/main" id="{0B1B9D2C-E1A3-FB1D-8F4C-500D95EB06D3}"/>
              </a:ext>
            </a:extLst>
          </p:cNvPr>
          <p:cNvSpPr/>
          <p:nvPr/>
        </p:nvSpPr>
        <p:spPr>
          <a:xfrm>
            <a:off x="3394075" y="399838"/>
            <a:ext cx="4617860"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8.4 </a:t>
            </a:r>
            <a:r>
              <a:rPr lang="zh-CN" altLang="en-US" sz="3000" b="1" dirty="0">
                <a:latin typeface="黑体" pitchFamily="49" charset="-122"/>
                <a:ea typeface="黑体" pitchFamily="49" charset="-122"/>
                <a:cs typeface="经典粗黑简" pitchFamily="49" charset="-122"/>
              </a:rPr>
              <a:t>生成树和最小生成树</a:t>
            </a:r>
          </a:p>
        </p:txBody>
      </p:sp>
    </p:spTree>
    <p:extLst>
      <p:ext uri="{BB962C8B-B14F-4D97-AF65-F5344CB8AC3E}">
        <p14:creationId xmlns:p14="http://schemas.microsoft.com/office/powerpoint/2010/main" val="7661156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Rectangle 4"/>
          <p:cNvSpPr>
            <a:spLocks noChangeArrowheads="1"/>
          </p:cNvSpPr>
          <p:nvPr/>
        </p:nvSpPr>
        <p:spPr bwMode="auto">
          <a:xfrm>
            <a:off x="6384032" y="4567734"/>
            <a:ext cx="7620000" cy="2016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lvl="1" indent="-228600">
              <a:spcBef>
                <a:spcPts val="600"/>
              </a:spcBef>
              <a:buClr>
                <a:srgbClr val="B870B8"/>
              </a:buClr>
              <a:buSzPct val="75000"/>
              <a:buFont typeface="Wingdings" pitchFamily="2" charset="2"/>
              <a:buChar char="n"/>
            </a:pPr>
            <a:endParaRPr kumimoji="1" lang="zh-CN" altLang="en-US" sz="2400" dirty="0">
              <a:latin typeface="微软雅黑" pitchFamily="34" charset="-122"/>
              <a:ea typeface="微软雅黑" pitchFamily="34" charset="-122"/>
              <a:cs typeface="经典粗黑简" pitchFamily="49" charset="-122"/>
            </a:endParaRPr>
          </a:p>
        </p:txBody>
      </p:sp>
      <p:sp>
        <p:nvSpPr>
          <p:cNvPr id="2" name="Rectangle 2">
            <a:extLst>
              <a:ext uri="{FF2B5EF4-FFF2-40B4-BE49-F238E27FC236}">
                <a16:creationId xmlns:a16="http://schemas.microsoft.com/office/drawing/2014/main" id="{6DA2D2BB-6BAD-6000-1788-F137E80F67F0}"/>
              </a:ext>
            </a:extLst>
          </p:cNvPr>
          <p:cNvSpPr txBox="1">
            <a:spLocks noChangeArrowheads="1"/>
          </p:cNvSpPr>
          <p:nvPr/>
        </p:nvSpPr>
        <p:spPr>
          <a:xfrm>
            <a:off x="474772" y="1230902"/>
            <a:ext cx="4469100"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8.4.3 </a:t>
            </a:r>
            <a:r>
              <a:rPr kumimoji="1" lang="zh-CN" altLang="en-US" dirty="0">
                <a:latin typeface="微软雅黑" pitchFamily="34" charset="-122"/>
                <a:ea typeface="微软雅黑" pitchFamily="34" charset="-122"/>
              </a:rPr>
              <a:t>普里姆</a:t>
            </a:r>
            <a:r>
              <a:rPr kumimoji="1" lang="en-US" altLang="zh-CN" dirty="0">
                <a:latin typeface="微软雅黑" pitchFamily="34" charset="-122"/>
                <a:ea typeface="微软雅黑" pitchFamily="34" charset="-122"/>
              </a:rPr>
              <a:t>(Prim)</a:t>
            </a:r>
            <a:r>
              <a:rPr kumimoji="1" lang="zh-CN" altLang="en-US" dirty="0">
                <a:latin typeface="微软雅黑" pitchFamily="34" charset="-122"/>
                <a:ea typeface="微软雅黑" pitchFamily="34" charset="-122"/>
              </a:rPr>
              <a:t>算法</a:t>
            </a:r>
          </a:p>
        </p:txBody>
      </p:sp>
      <p:cxnSp>
        <p:nvCxnSpPr>
          <p:cNvPr id="3" name="直接连接符 2">
            <a:extLst>
              <a:ext uri="{FF2B5EF4-FFF2-40B4-BE49-F238E27FC236}">
                <a16:creationId xmlns:a16="http://schemas.microsoft.com/office/drawing/2014/main" id="{03E82050-EB23-021F-9594-9249CDA580E4}"/>
              </a:ext>
            </a:extLst>
          </p:cNvPr>
          <p:cNvCxnSpPr>
            <a:cxnSpLocks/>
          </p:cNvCxnSpPr>
          <p:nvPr/>
        </p:nvCxnSpPr>
        <p:spPr>
          <a:xfrm>
            <a:off x="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4" name="矩形 3">
            <a:extLst>
              <a:ext uri="{FF2B5EF4-FFF2-40B4-BE49-F238E27FC236}">
                <a16:creationId xmlns:a16="http://schemas.microsoft.com/office/drawing/2014/main" id="{0B1E19E6-1401-F17F-9981-6E81A9A5BEC4}"/>
              </a:ext>
            </a:extLst>
          </p:cNvPr>
          <p:cNvSpPr/>
          <p:nvPr/>
        </p:nvSpPr>
        <p:spPr>
          <a:xfrm>
            <a:off x="3394075" y="399838"/>
            <a:ext cx="4617860"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8.4 </a:t>
            </a:r>
            <a:r>
              <a:rPr lang="zh-CN" altLang="en-US" sz="3000" b="1" dirty="0">
                <a:latin typeface="黑体" pitchFamily="49" charset="-122"/>
                <a:ea typeface="黑体" pitchFamily="49" charset="-122"/>
                <a:cs typeface="经典粗黑简" pitchFamily="49" charset="-122"/>
              </a:rPr>
              <a:t>生成树和最小生成树</a:t>
            </a:r>
          </a:p>
        </p:txBody>
      </p:sp>
      <p:pic>
        <p:nvPicPr>
          <p:cNvPr id="5" name="Picture 4" descr="2">
            <a:extLst>
              <a:ext uri="{FF2B5EF4-FFF2-40B4-BE49-F238E27FC236}">
                <a16:creationId xmlns:a16="http://schemas.microsoft.com/office/drawing/2014/main" id="{2A058F8C-DAD7-DDAB-AD87-773886844822}"/>
              </a:ext>
            </a:extLst>
          </p:cNvPr>
          <p:cNvPicPr>
            <a:picLocks noChangeAspect="1" noChangeArrowheads="1"/>
          </p:cNvPicPr>
          <p:nvPr/>
        </p:nvPicPr>
        <p:blipFill>
          <a:blip r:embed="rId2" cstate="print"/>
          <a:srcRect/>
          <a:stretch>
            <a:fillRect/>
          </a:stretch>
        </p:blipFill>
        <p:spPr bwMode="auto">
          <a:xfrm>
            <a:off x="1276150" y="4769842"/>
            <a:ext cx="1428760" cy="1714512"/>
          </a:xfrm>
          <a:prstGeom prst="rect">
            <a:avLst/>
          </a:prstGeom>
          <a:noFill/>
          <a:ln w="9525">
            <a:noFill/>
            <a:miter lim="800000"/>
            <a:headEnd/>
            <a:tailEnd/>
          </a:ln>
        </p:spPr>
      </p:pic>
      <p:sp>
        <p:nvSpPr>
          <p:cNvPr id="6" name="TextBox 4">
            <a:extLst>
              <a:ext uri="{FF2B5EF4-FFF2-40B4-BE49-F238E27FC236}">
                <a16:creationId xmlns:a16="http://schemas.microsoft.com/office/drawing/2014/main" id="{351D4C1F-F8AF-4CCE-92FD-2C40A96C3DE8}"/>
              </a:ext>
            </a:extLst>
          </p:cNvPr>
          <p:cNvSpPr txBox="1"/>
          <p:nvPr/>
        </p:nvSpPr>
        <p:spPr>
          <a:xfrm>
            <a:off x="1127448" y="1873583"/>
            <a:ext cx="8928992" cy="400110"/>
          </a:xfrm>
          <a:prstGeom prst="rect">
            <a:avLst/>
          </a:prstGeom>
          <a:noFill/>
        </p:spPr>
        <p:txBody>
          <a:bodyPr wrap="square" rtlCol="0">
            <a:spAutoFit/>
          </a:bodyPr>
          <a:lstStyle/>
          <a:p>
            <a:pPr algn="l"/>
            <a:r>
              <a:rPr kumimoji="1" lang="zh-CN" altLang="en-US" sz="2000" dirty="0">
                <a:latin typeface="Consolas" pitchFamily="49" charset="0"/>
                <a:ea typeface="楷体" pitchFamily="49" charset="-122"/>
                <a:cs typeface="Consolas" pitchFamily="49" charset="0"/>
              </a:rPr>
              <a:t>  普里姆（</a:t>
            </a:r>
            <a:r>
              <a:rPr kumimoji="1" lang="en-US" altLang="zh-CN" sz="2000" dirty="0">
                <a:latin typeface="Consolas" pitchFamily="49" charset="0"/>
                <a:ea typeface="楷体" pitchFamily="49" charset="-122"/>
                <a:cs typeface="Consolas" pitchFamily="49" charset="0"/>
              </a:rPr>
              <a:t>Prim</a:t>
            </a:r>
            <a:r>
              <a:rPr kumimoji="1" lang="zh-CN" altLang="en-US" sz="2000" dirty="0">
                <a:latin typeface="Consolas" pitchFamily="49" charset="0"/>
                <a:ea typeface="楷体" pitchFamily="49" charset="-122"/>
                <a:cs typeface="Consolas" pitchFamily="49" charset="0"/>
              </a:rPr>
              <a:t>）算法是一种构造性算法，用于构造最小生成树。过程如下：</a:t>
            </a:r>
            <a:endParaRPr lang="zh-CN" altLang="en-US" sz="2000" dirty="0">
              <a:latin typeface="Consolas" pitchFamily="49" charset="0"/>
              <a:ea typeface="楷体" pitchFamily="49" charset="-122"/>
              <a:cs typeface="Consolas" pitchFamily="49" charset="0"/>
            </a:endParaRPr>
          </a:p>
        </p:txBody>
      </p:sp>
      <p:sp>
        <p:nvSpPr>
          <p:cNvPr id="7" name="Text Box 4" descr="羊皮纸">
            <a:extLst>
              <a:ext uri="{FF2B5EF4-FFF2-40B4-BE49-F238E27FC236}">
                <a16:creationId xmlns:a16="http://schemas.microsoft.com/office/drawing/2014/main" id="{13052449-BDBB-1D64-A1B6-06652EA4EE1F}"/>
              </a:ext>
            </a:extLst>
          </p:cNvPr>
          <p:cNvSpPr txBox="1">
            <a:spLocks noChangeArrowheads="1"/>
          </p:cNvSpPr>
          <p:nvPr/>
        </p:nvSpPr>
        <p:spPr bwMode="auto">
          <a:xfrm>
            <a:off x="1066665" y="2276872"/>
            <a:ext cx="10153128" cy="2337792"/>
          </a:xfrm>
          <a:prstGeom prst="rect">
            <a:avLst/>
          </a:prstGeom>
          <a:solidFill>
            <a:schemeClr val="bg1"/>
          </a:solidFill>
          <a:ln>
            <a:headEnd/>
            <a:tailEnd/>
          </a:ln>
        </p:spPr>
        <p:style>
          <a:lnRef idx="1">
            <a:schemeClr val="accent3"/>
          </a:lnRef>
          <a:fillRef idx="2">
            <a:schemeClr val="accent3"/>
          </a:fillRef>
          <a:effectRef idx="1">
            <a:schemeClr val="accent3"/>
          </a:effectRef>
          <a:fontRef idx="minor">
            <a:schemeClr val="dk1"/>
          </a:fontRef>
        </p:style>
        <p:txBody>
          <a:bodyPr wrap="square" tIns="108000" bIns="108000">
            <a:spAutoFit/>
          </a:bodyPr>
          <a:lstStyle/>
          <a:p>
            <a:pPr algn="l">
              <a:lnSpc>
                <a:spcPts val="3000"/>
              </a:lnSpc>
              <a:spcBef>
                <a:spcPts val="600"/>
              </a:spcBef>
            </a:pPr>
            <a:r>
              <a:rPr kumimoji="1" lang="en-US" altLang="zh-CN" sz="2000" dirty="0">
                <a:solidFill>
                  <a:srgbClr val="0000FF"/>
                </a:solidFill>
                <a:latin typeface="Consolas" pitchFamily="49" charset="0"/>
                <a:ea typeface="仿宋" pitchFamily="49" charset="-122"/>
                <a:cs typeface="Consolas" pitchFamily="49" charset="0"/>
              </a:rPr>
              <a:t>  </a:t>
            </a:r>
            <a:r>
              <a:rPr kumimoji="1" lang="zh-CN" altLang="en-US" sz="2000" dirty="0">
                <a:solidFill>
                  <a:srgbClr val="0000FF"/>
                </a:solidFill>
                <a:latin typeface="Consolas" pitchFamily="49" charset="0"/>
                <a:ea typeface="仿宋" pitchFamily="49" charset="-122"/>
                <a:cs typeface="Consolas" pitchFamily="49" charset="0"/>
              </a:rPr>
              <a:t>（</a:t>
            </a:r>
            <a:r>
              <a:rPr kumimoji="1" lang="en-US" altLang="zh-CN" sz="2000" dirty="0">
                <a:solidFill>
                  <a:srgbClr val="0000FF"/>
                </a:solidFill>
                <a:latin typeface="Consolas" pitchFamily="49" charset="0"/>
                <a:ea typeface="仿宋" pitchFamily="49" charset="-122"/>
                <a:cs typeface="Consolas" pitchFamily="49" charset="0"/>
              </a:rPr>
              <a:t>1</a:t>
            </a:r>
            <a:r>
              <a:rPr kumimoji="1" lang="zh-CN" altLang="en-US" sz="2000" dirty="0">
                <a:solidFill>
                  <a:srgbClr val="0000FF"/>
                </a:solidFill>
                <a:latin typeface="Consolas" pitchFamily="49" charset="0"/>
                <a:ea typeface="仿宋" pitchFamily="49" charset="-122"/>
                <a:cs typeface="Consolas" pitchFamily="49" charset="0"/>
              </a:rPr>
              <a:t>）初始化</a:t>
            </a:r>
            <a:r>
              <a:rPr kumimoji="1" lang="en-US" altLang="zh-CN" sz="2000" dirty="0">
                <a:solidFill>
                  <a:srgbClr val="0000FF"/>
                </a:solidFill>
                <a:latin typeface="Consolas" pitchFamily="49" charset="0"/>
                <a:ea typeface="仿宋" pitchFamily="49" charset="-122"/>
                <a:cs typeface="Consolas" pitchFamily="49" charset="0"/>
              </a:rPr>
              <a:t>U={</a:t>
            </a:r>
            <a:r>
              <a:rPr kumimoji="1" lang="en-US" altLang="zh-CN" sz="2000" i="1" dirty="0">
                <a:solidFill>
                  <a:srgbClr val="0000FF"/>
                </a:solidFill>
                <a:latin typeface="Consolas" pitchFamily="49" charset="0"/>
                <a:ea typeface="仿宋" pitchFamily="49" charset="-122"/>
                <a:cs typeface="Consolas" pitchFamily="49" charset="0"/>
              </a:rPr>
              <a:t>v</a:t>
            </a:r>
            <a:r>
              <a:rPr kumimoji="1" lang="en-US" altLang="zh-CN" sz="2000" dirty="0">
                <a:solidFill>
                  <a:srgbClr val="0000FF"/>
                </a:solidFill>
                <a:latin typeface="Consolas" pitchFamily="49" charset="0"/>
                <a:ea typeface="仿宋" pitchFamily="49" charset="-122"/>
                <a:cs typeface="Consolas" pitchFamily="49" charset="0"/>
              </a:rPr>
              <a:t>}</a:t>
            </a:r>
            <a:r>
              <a:rPr kumimoji="1" lang="zh-CN" altLang="en-US" sz="2000" dirty="0">
                <a:solidFill>
                  <a:srgbClr val="0000FF"/>
                </a:solidFill>
                <a:latin typeface="Consolas" pitchFamily="49" charset="0"/>
                <a:ea typeface="仿宋" pitchFamily="49" charset="-122"/>
                <a:cs typeface="Consolas" pitchFamily="49" charset="0"/>
              </a:rPr>
              <a:t>。</a:t>
            </a:r>
            <a:r>
              <a:rPr kumimoji="1" lang="en-US" altLang="zh-CN" sz="2000" i="1" dirty="0">
                <a:solidFill>
                  <a:srgbClr val="0000FF"/>
                </a:solidFill>
                <a:latin typeface="Consolas" pitchFamily="49" charset="0"/>
                <a:ea typeface="仿宋" pitchFamily="49" charset="-122"/>
                <a:cs typeface="Consolas" pitchFamily="49" charset="0"/>
              </a:rPr>
              <a:t>v</a:t>
            </a:r>
            <a:r>
              <a:rPr kumimoji="1" lang="zh-CN" altLang="en-US" sz="2000" dirty="0">
                <a:solidFill>
                  <a:srgbClr val="0000FF"/>
                </a:solidFill>
                <a:latin typeface="Consolas" pitchFamily="49" charset="0"/>
                <a:ea typeface="仿宋" pitchFamily="49" charset="-122"/>
                <a:cs typeface="Consolas" pitchFamily="49" charset="0"/>
              </a:rPr>
              <a:t>到其他顶点的所有边为候选边；</a:t>
            </a:r>
          </a:p>
          <a:p>
            <a:pPr algn="l">
              <a:lnSpc>
                <a:spcPts val="3000"/>
              </a:lnSpc>
              <a:spcBef>
                <a:spcPts val="600"/>
              </a:spcBef>
            </a:pPr>
            <a:r>
              <a:rPr kumimoji="1" lang="zh-CN" altLang="en-US" sz="2000" dirty="0">
                <a:solidFill>
                  <a:srgbClr val="0000FF"/>
                </a:solidFill>
                <a:latin typeface="Consolas" pitchFamily="49" charset="0"/>
                <a:ea typeface="仿宋" pitchFamily="49" charset="-122"/>
                <a:cs typeface="Consolas" pitchFamily="49" charset="0"/>
              </a:rPr>
              <a:t>  （</a:t>
            </a:r>
            <a:r>
              <a:rPr kumimoji="1" lang="en-US" altLang="zh-CN" sz="2000" dirty="0">
                <a:solidFill>
                  <a:srgbClr val="0000FF"/>
                </a:solidFill>
                <a:latin typeface="Consolas" pitchFamily="49" charset="0"/>
                <a:ea typeface="仿宋" pitchFamily="49" charset="-122"/>
                <a:cs typeface="Consolas" pitchFamily="49" charset="0"/>
              </a:rPr>
              <a:t>2</a:t>
            </a:r>
            <a:r>
              <a:rPr kumimoji="1" lang="zh-CN" altLang="en-US" sz="2000" dirty="0">
                <a:solidFill>
                  <a:srgbClr val="0000FF"/>
                </a:solidFill>
                <a:latin typeface="Consolas" pitchFamily="49" charset="0"/>
                <a:ea typeface="仿宋" pitchFamily="49" charset="-122"/>
                <a:cs typeface="Consolas" pitchFamily="49" charset="0"/>
              </a:rPr>
              <a:t>）重复以下步骤</a:t>
            </a:r>
            <a:r>
              <a:rPr kumimoji="1" lang="en-US" altLang="zh-CN" sz="2000" i="1" dirty="0">
                <a:solidFill>
                  <a:srgbClr val="0000FF"/>
                </a:solidFill>
                <a:latin typeface="Consolas" pitchFamily="49" charset="0"/>
                <a:ea typeface="仿宋" pitchFamily="49" charset="-122"/>
                <a:cs typeface="Consolas" pitchFamily="49" charset="0"/>
              </a:rPr>
              <a:t>n</a:t>
            </a:r>
            <a:r>
              <a:rPr kumimoji="1" lang="en-US" altLang="zh-CN" sz="2000" dirty="0">
                <a:solidFill>
                  <a:srgbClr val="0000FF"/>
                </a:solidFill>
                <a:latin typeface="Consolas" pitchFamily="49" charset="0"/>
                <a:ea typeface="仿宋" pitchFamily="49" charset="-122"/>
                <a:cs typeface="Consolas" pitchFamily="49" charset="0"/>
              </a:rPr>
              <a:t>-1</a:t>
            </a:r>
            <a:r>
              <a:rPr kumimoji="1" lang="zh-CN" altLang="en-US" sz="2000" dirty="0">
                <a:solidFill>
                  <a:srgbClr val="0000FF"/>
                </a:solidFill>
                <a:latin typeface="Consolas" pitchFamily="49" charset="0"/>
                <a:ea typeface="仿宋" pitchFamily="49" charset="-122"/>
                <a:cs typeface="Consolas" pitchFamily="49" charset="0"/>
              </a:rPr>
              <a:t>次，使得其他</a:t>
            </a:r>
            <a:r>
              <a:rPr kumimoji="1" lang="en-US" altLang="zh-CN" sz="2000" i="1" dirty="0">
                <a:solidFill>
                  <a:srgbClr val="0000FF"/>
                </a:solidFill>
                <a:latin typeface="Consolas" pitchFamily="49" charset="0"/>
                <a:ea typeface="仿宋" pitchFamily="49" charset="-122"/>
                <a:cs typeface="Consolas" pitchFamily="49" charset="0"/>
              </a:rPr>
              <a:t>n</a:t>
            </a:r>
            <a:r>
              <a:rPr kumimoji="1" lang="en-US" altLang="zh-CN" sz="2000" dirty="0">
                <a:solidFill>
                  <a:srgbClr val="0000FF"/>
                </a:solidFill>
                <a:latin typeface="Consolas" pitchFamily="49" charset="0"/>
                <a:ea typeface="仿宋" pitchFamily="49" charset="-122"/>
                <a:cs typeface="Consolas" pitchFamily="49" charset="0"/>
              </a:rPr>
              <a:t>-1</a:t>
            </a:r>
            <a:r>
              <a:rPr kumimoji="1" lang="zh-CN" altLang="en-US" sz="2000" dirty="0">
                <a:solidFill>
                  <a:srgbClr val="0000FF"/>
                </a:solidFill>
                <a:latin typeface="Consolas" pitchFamily="49" charset="0"/>
                <a:ea typeface="仿宋" pitchFamily="49" charset="-122"/>
                <a:cs typeface="Consolas" pitchFamily="49" charset="0"/>
              </a:rPr>
              <a:t>个顶点被加入到</a:t>
            </a:r>
            <a:r>
              <a:rPr kumimoji="1" lang="en-US" altLang="zh-CN" sz="2000" dirty="0">
                <a:solidFill>
                  <a:srgbClr val="0000FF"/>
                </a:solidFill>
                <a:latin typeface="Consolas" pitchFamily="49" charset="0"/>
                <a:ea typeface="仿宋" pitchFamily="49" charset="-122"/>
                <a:cs typeface="Consolas" pitchFamily="49" charset="0"/>
              </a:rPr>
              <a:t>U</a:t>
            </a:r>
            <a:r>
              <a:rPr kumimoji="1" lang="zh-CN" altLang="en-US" sz="2000" dirty="0">
                <a:solidFill>
                  <a:srgbClr val="0000FF"/>
                </a:solidFill>
                <a:latin typeface="Consolas" pitchFamily="49" charset="0"/>
                <a:ea typeface="仿宋" pitchFamily="49" charset="-122"/>
                <a:cs typeface="Consolas" pitchFamily="49" charset="0"/>
              </a:rPr>
              <a:t>中：</a:t>
            </a:r>
          </a:p>
          <a:p>
            <a:pPr algn="l">
              <a:lnSpc>
                <a:spcPts val="3000"/>
              </a:lnSpc>
              <a:spcBef>
                <a:spcPts val="600"/>
              </a:spcBef>
            </a:pPr>
            <a:r>
              <a:rPr kumimoji="1" lang="zh-CN" altLang="en-US" sz="2000" dirty="0">
                <a:solidFill>
                  <a:srgbClr val="0000FF"/>
                </a:solidFill>
                <a:latin typeface="Consolas" pitchFamily="49" charset="0"/>
                <a:ea typeface="仿宋" pitchFamily="49" charset="-122"/>
                <a:cs typeface="Consolas" pitchFamily="49" charset="0"/>
              </a:rPr>
              <a:t>    </a:t>
            </a:r>
            <a:r>
              <a:rPr kumimoji="1" lang="zh-CN" altLang="en-US" sz="2000" dirty="0">
                <a:solidFill>
                  <a:srgbClr val="0000FF"/>
                </a:solidFill>
                <a:latin typeface="Consolas" pitchFamily="49" charset="0"/>
                <a:ea typeface="仿宋" pitchFamily="49" charset="-122"/>
                <a:cs typeface="Consolas" pitchFamily="49" charset="0"/>
                <a:sym typeface="Wingdings"/>
              </a:rPr>
              <a:t></a:t>
            </a:r>
            <a:r>
              <a:rPr kumimoji="1" lang="zh-CN" altLang="en-US" sz="2000" dirty="0">
                <a:solidFill>
                  <a:srgbClr val="0000FF"/>
                </a:solidFill>
                <a:latin typeface="Consolas" pitchFamily="49" charset="0"/>
                <a:ea typeface="仿宋" pitchFamily="49" charset="-122"/>
                <a:cs typeface="Consolas" pitchFamily="49" charset="0"/>
              </a:rPr>
              <a:t> 从候选边中挑选权值最小的边输出，设该边在</a:t>
            </a:r>
            <a:r>
              <a:rPr kumimoji="1" lang="en-US" altLang="zh-CN" sz="2000" dirty="0">
                <a:solidFill>
                  <a:srgbClr val="0000FF"/>
                </a:solidFill>
                <a:latin typeface="Consolas" pitchFamily="49" charset="0"/>
                <a:ea typeface="仿宋" pitchFamily="49" charset="-122"/>
                <a:cs typeface="Consolas" pitchFamily="49" charset="0"/>
              </a:rPr>
              <a:t>V-U</a:t>
            </a:r>
            <a:r>
              <a:rPr kumimoji="1" lang="zh-CN" altLang="en-US" sz="2000" dirty="0">
                <a:solidFill>
                  <a:srgbClr val="0000FF"/>
                </a:solidFill>
                <a:latin typeface="Consolas" pitchFamily="49" charset="0"/>
                <a:ea typeface="仿宋" pitchFamily="49" charset="-122"/>
                <a:cs typeface="Consolas" pitchFamily="49" charset="0"/>
              </a:rPr>
              <a:t>中的顶点是</a:t>
            </a:r>
            <a:r>
              <a:rPr kumimoji="1" lang="en-US" altLang="zh-CN" sz="2000" i="1" dirty="0">
                <a:solidFill>
                  <a:srgbClr val="0000FF"/>
                </a:solidFill>
                <a:latin typeface="Consolas" pitchFamily="49" charset="0"/>
                <a:ea typeface="仿宋" pitchFamily="49" charset="-122"/>
                <a:cs typeface="Consolas" pitchFamily="49" charset="0"/>
              </a:rPr>
              <a:t>k</a:t>
            </a:r>
            <a:r>
              <a:rPr kumimoji="1" lang="zh-CN" altLang="en-US" sz="2000" dirty="0">
                <a:solidFill>
                  <a:srgbClr val="0000FF"/>
                </a:solidFill>
                <a:latin typeface="Consolas" pitchFamily="49" charset="0"/>
                <a:ea typeface="仿宋" pitchFamily="49" charset="-122"/>
                <a:cs typeface="Consolas" pitchFamily="49" charset="0"/>
              </a:rPr>
              <a:t>，将</a:t>
            </a:r>
            <a:r>
              <a:rPr kumimoji="1" lang="en-US" altLang="zh-CN" sz="2000" i="1" dirty="0">
                <a:solidFill>
                  <a:srgbClr val="0000FF"/>
                </a:solidFill>
                <a:latin typeface="Consolas" pitchFamily="49" charset="0"/>
                <a:ea typeface="仿宋" pitchFamily="49" charset="-122"/>
                <a:cs typeface="Consolas" pitchFamily="49" charset="0"/>
              </a:rPr>
              <a:t>k</a:t>
            </a:r>
            <a:r>
              <a:rPr kumimoji="1" lang="zh-CN" altLang="en-US" sz="2000" dirty="0">
                <a:solidFill>
                  <a:srgbClr val="0000FF"/>
                </a:solidFill>
                <a:latin typeface="Consolas" pitchFamily="49" charset="0"/>
                <a:ea typeface="仿宋" pitchFamily="49" charset="-122"/>
                <a:cs typeface="Consolas" pitchFamily="49" charset="0"/>
              </a:rPr>
              <a:t>加入</a:t>
            </a:r>
            <a:r>
              <a:rPr kumimoji="1" lang="en-US" altLang="zh-CN" sz="2000" dirty="0">
                <a:solidFill>
                  <a:srgbClr val="0000FF"/>
                </a:solidFill>
                <a:latin typeface="Consolas" pitchFamily="49" charset="0"/>
                <a:ea typeface="仿宋" pitchFamily="49" charset="-122"/>
                <a:cs typeface="Consolas" pitchFamily="49" charset="0"/>
              </a:rPr>
              <a:t>U</a:t>
            </a:r>
            <a:r>
              <a:rPr kumimoji="1" lang="zh-CN" altLang="en-US" sz="2000" dirty="0">
                <a:solidFill>
                  <a:srgbClr val="0000FF"/>
                </a:solidFill>
                <a:latin typeface="Consolas" pitchFamily="49" charset="0"/>
                <a:ea typeface="仿宋" pitchFamily="49" charset="-122"/>
                <a:cs typeface="Consolas" pitchFamily="49" charset="0"/>
              </a:rPr>
              <a:t>中；</a:t>
            </a:r>
          </a:p>
          <a:p>
            <a:pPr algn="l">
              <a:lnSpc>
                <a:spcPts val="3000"/>
              </a:lnSpc>
              <a:spcBef>
                <a:spcPts val="600"/>
              </a:spcBef>
            </a:pPr>
            <a:r>
              <a:rPr kumimoji="1" lang="zh-CN" altLang="en-US" sz="2000" dirty="0">
                <a:solidFill>
                  <a:srgbClr val="0000FF"/>
                </a:solidFill>
                <a:latin typeface="Consolas" pitchFamily="49" charset="0"/>
                <a:ea typeface="仿宋" pitchFamily="49" charset="-122"/>
                <a:cs typeface="Consolas" pitchFamily="49" charset="0"/>
              </a:rPr>
              <a:t>    </a:t>
            </a:r>
            <a:r>
              <a:rPr kumimoji="1" lang="zh-CN" altLang="en-US" sz="2000" dirty="0">
                <a:solidFill>
                  <a:srgbClr val="0000FF"/>
                </a:solidFill>
                <a:latin typeface="Consolas" pitchFamily="49" charset="0"/>
                <a:ea typeface="仿宋" pitchFamily="49" charset="-122"/>
                <a:cs typeface="Consolas" pitchFamily="49" charset="0"/>
                <a:sym typeface="Wingdings"/>
              </a:rPr>
              <a:t></a:t>
            </a:r>
            <a:r>
              <a:rPr kumimoji="1" lang="zh-CN" altLang="en-US" sz="2000" dirty="0">
                <a:solidFill>
                  <a:srgbClr val="0000FF"/>
                </a:solidFill>
                <a:latin typeface="Consolas" pitchFamily="49" charset="0"/>
                <a:ea typeface="仿宋" pitchFamily="49" charset="-122"/>
                <a:cs typeface="Consolas" pitchFamily="49" charset="0"/>
              </a:rPr>
              <a:t> 考察当前</a:t>
            </a:r>
            <a:r>
              <a:rPr kumimoji="1" lang="en-US" altLang="zh-CN" sz="2000" dirty="0">
                <a:solidFill>
                  <a:srgbClr val="0000FF"/>
                </a:solidFill>
                <a:latin typeface="Consolas" pitchFamily="49" charset="0"/>
                <a:ea typeface="仿宋" pitchFamily="49" charset="-122"/>
                <a:cs typeface="Consolas" pitchFamily="49" charset="0"/>
              </a:rPr>
              <a:t>V-U</a:t>
            </a:r>
            <a:r>
              <a:rPr kumimoji="1" lang="zh-CN" altLang="en-US" sz="2000" dirty="0">
                <a:solidFill>
                  <a:srgbClr val="0000FF"/>
                </a:solidFill>
                <a:latin typeface="Consolas" pitchFamily="49" charset="0"/>
                <a:ea typeface="仿宋" pitchFamily="49" charset="-122"/>
                <a:cs typeface="Consolas" pitchFamily="49" charset="0"/>
              </a:rPr>
              <a:t>中的所有顶点</a:t>
            </a:r>
            <a:r>
              <a:rPr kumimoji="1" lang="en-US" altLang="zh-CN" sz="2000" i="1" dirty="0">
                <a:solidFill>
                  <a:srgbClr val="0000FF"/>
                </a:solidFill>
                <a:latin typeface="Consolas" pitchFamily="49" charset="0"/>
                <a:ea typeface="仿宋" pitchFamily="49" charset="-122"/>
                <a:cs typeface="Consolas" pitchFamily="49" charset="0"/>
              </a:rPr>
              <a:t>j</a:t>
            </a:r>
            <a:r>
              <a:rPr kumimoji="1" lang="zh-CN" altLang="en-US" sz="2000" dirty="0">
                <a:solidFill>
                  <a:srgbClr val="0000FF"/>
                </a:solidFill>
                <a:latin typeface="Consolas" pitchFamily="49" charset="0"/>
                <a:ea typeface="仿宋" pitchFamily="49" charset="-122"/>
                <a:cs typeface="Consolas" pitchFamily="49" charset="0"/>
              </a:rPr>
              <a:t>，修改候选边：</a:t>
            </a:r>
            <a:r>
              <a:rPr kumimoji="1" lang="zh-CN" altLang="en-US" sz="2000" dirty="0">
                <a:solidFill>
                  <a:srgbClr val="FF00FF"/>
                </a:solidFill>
                <a:latin typeface="Consolas" pitchFamily="49" charset="0"/>
                <a:ea typeface="仿宋" pitchFamily="49" charset="-122"/>
                <a:cs typeface="Consolas" pitchFamily="49" charset="0"/>
              </a:rPr>
              <a:t>若</a:t>
            </a:r>
            <a:r>
              <a:rPr kumimoji="1" lang="en-US" altLang="zh-CN" sz="2000" dirty="0">
                <a:solidFill>
                  <a:srgbClr val="FF00FF"/>
                </a:solidFill>
                <a:latin typeface="Consolas" pitchFamily="49" charset="0"/>
                <a:ea typeface="仿宋" pitchFamily="49" charset="-122"/>
                <a:cs typeface="Consolas" pitchFamily="49" charset="0"/>
              </a:rPr>
              <a:t>(</a:t>
            </a:r>
            <a:r>
              <a:rPr kumimoji="1" lang="en-US" altLang="zh-CN" sz="2000" i="1" dirty="0">
                <a:solidFill>
                  <a:srgbClr val="FF00FF"/>
                </a:solidFill>
                <a:latin typeface="Consolas" pitchFamily="49" charset="0"/>
                <a:ea typeface="仿宋" pitchFamily="49" charset="-122"/>
                <a:cs typeface="Consolas" pitchFamily="49" charset="0"/>
              </a:rPr>
              <a:t>j</a:t>
            </a:r>
            <a:r>
              <a:rPr kumimoji="1" lang="zh-CN" altLang="en-US" sz="2000" dirty="0">
                <a:solidFill>
                  <a:srgbClr val="FF00FF"/>
                </a:solidFill>
                <a:latin typeface="Consolas" pitchFamily="49" charset="0"/>
                <a:ea typeface="仿宋" pitchFamily="49" charset="-122"/>
                <a:cs typeface="Consolas" pitchFamily="49" charset="0"/>
              </a:rPr>
              <a:t>，</a:t>
            </a:r>
            <a:r>
              <a:rPr kumimoji="1" lang="en-US" altLang="zh-CN" sz="2000" i="1" dirty="0">
                <a:solidFill>
                  <a:srgbClr val="FF00FF"/>
                </a:solidFill>
                <a:latin typeface="Consolas" pitchFamily="49" charset="0"/>
                <a:ea typeface="仿宋" pitchFamily="49" charset="-122"/>
                <a:cs typeface="Consolas" pitchFamily="49" charset="0"/>
              </a:rPr>
              <a:t>k</a:t>
            </a:r>
            <a:r>
              <a:rPr kumimoji="1" lang="en-US" altLang="zh-CN" sz="2000" dirty="0">
                <a:solidFill>
                  <a:srgbClr val="FF00FF"/>
                </a:solidFill>
                <a:latin typeface="Consolas" pitchFamily="49" charset="0"/>
                <a:ea typeface="仿宋" pitchFamily="49" charset="-122"/>
                <a:cs typeface="Consolas" pitchFamily="49" charset="0"/>
              </a:rPr>
              <a:t>)</a:t>
            </a:r>
            <a:r>
              <a:rPr kumimoji="1" lang="zh-CN" altLang="en-US" sz="2000" dirty="0">
                <a:solidFill>
                  <a:srgbClr val="FF00FF"/>
                </a:solidFill>
                <a:latin typeface="Consolas" pitchFamily="49" charset="0"/>
                <a:ea typeface="仿宋" pitchFamily="49" charset="-122"/>
                <a:cs typeface="Consolas" pitchFamily="49" charset="0"/>
              </a:rPr>
              <a:t>的权值小于原来和顶点</a:t>
            </a:r>
            <a:r>
              <a:rPr kumimoji="1" lang="en-US" altLang="zh-CN" sz="2000" i="1" dirty="0">
                <a:solidFill>
                  <a:srgbClr val="FF00FF"/>
                </a:solidFill>
                <a:latin typeface="Consolas" pitchFamily="49" charset="0"/>
                <a:ea typeface="仿宋" pitchFamily="49" charset="-122"/>
                <a:cs typeface="Consolas" pitchFamily="49" charset="0"/>
              </a:rPr>
              <a:t>k</a:t>
            </a:r>
            <a:r>
              <a:rPr kumimoji="1" lang="zh-CN" altLang="en-US" sz="2000" dirty="0">
                <a:solidFill>
                  <a:srgbClr val="FF00FF"/>
                </a:solidFill>
                <a:latin typeface="Consolas" pitchFamily="49" charset="0"/>
                <a:ea typeface="仿宋" pitchFamily="49" charset="-122"/>
                <a:cs typeface="Consolas" pitchFamily="49" charset="0"/>
              </a:rPr>
              <a:t>关联的候选边，则用</a:t>
            </a:r>
            <a:r>
              <a:rPr kumimoji="1" lang="en-US" altLang="zh-CN" sz="2000" dirty="0">
                <a:solidFill>
                  <a:srgbClr val="FF00FF"/>
                </a:solidFill>
                <a:latin typeface="Consolas" pitchFamily="49" charset="0"/>
                <a:ea typeface="仿宋" pitchFamily="49" charset="-122"/>
                <a:cs typeface="Consolas" pitchFamily="49" charset="0"/>
              </a:rPr>
              <a:t>(</a:t>
            </a:r>
            <a:r>
              <a:rPr kumimoji="1" lang="en-US" altLang="zh-CN" sz="2000" i="1" dirty="0">
                <a:solidFill>
                  <a:srgbClr val="FF00FF"/>
                </a:solidFill>
                <a:latin typeface="Consolas" pitchFamily="49" charset="0"/>
                <a:ea typeface="仿宋" pitchFamily="49" charset="-122"/>
                <a:cs typeface="Consolas" pitchFamily="49" charset="0"/>
              </a:rPr>
              <a:t>k</a:t>
            </a:r>
            <a:r>
              <a:rPr kumimoji="1" lang="zh-CN" altLang="en-US" sz="2000" dirty="0">
                <a:solidFill>
                  <a:srgbClr val="FF00FF"/>
                </a:solidFill>
                <a:latin typeface="Consolas" pitchFamily="49" charset="0"/>
                <a:ea typeface="仿宋" pitchFamily="49" charset="-122"/>
                <a:cs typeface="Consolas" pitchFamily="49" charset="0"/>
              </a:rPr>
              <a:t>，</a:t>
            </a:r>
            <a:r>
              <a:rPr kumimoji="1" lang="en-US" altLang="zh-CN" sz="2000" i="1" dirty="0">
                <a:solidFill>
                  <a:srgbClr val="FF00FF"/>
                </a:solidFill>
                <a:latin typeface="Consolas" pitchFamily="49" charset="0"/>
                <a:ea typeface="仿宋" pitchFamily="49" charset="-122"/>
                <a:cs typeface="Consolas" pitchFamily="49" charset="0"/>
              </a:rPr>
              <a:t>j</a:t>
            </a:r>
            <a:r>
              <a:rPr kumimoji="1" lang="en-US" altLang="zh-CN" sz="2000" dirty="0">
                <a:solidFill>
                  <a:srgbClr val="FF00FF"/>
                </a:solidFill>
                <a:latin typeface="Consolas" pitchFamily="49" charset="0"/>
                <a:ea typeface="仿宋" pitchFamily="49" charset="-122"/>
                <a:cs typeface="Consolas" pitchFamily="49" charset="0"/>
              </a:rPr>
              <a:t>)</a:t>
            </a:r>
            <a:r>
              <a:rPr kumimoji="1" lang="zh-CN" altLang="en-US" sz="2000" dirty="0">
                <a:solidFill>
                  <a:srgbClr val="FF00FF"/>
                </a:solidFill>
                <a:latin typeface="Consolas" pitchFamily="49" charset="0"/>
                <a:ea typeface="仿宋" pitchFamily="49" charset="-122"/>
                <a:cs typeface="Consolas" pitchFamily="49" charset="0"/>
              </a:rPr>
              <a:t>取代后者作为候选边</a:t>
            </a:r>
            <a:r>
              <a:rPr kumimoji="1" lang="zh-CN" altLang="en-US" sz="2000" dirty="0">
                <a:solidFill>
                  <a:srgbClr val="0000FF"/>
                </a:solidFill>
                <a:latin typeface="Consolas" pitchFamily="49" charset="0"/>
                <a:ea typeface="仿宋" pitchFamily="49" charset="-122"/>
                <a:cs typeface="Consolas" pitchFamily="49" charset="0"/>
              </a:rPr>
              <a:t>。</a:t>
            </a:r>
            <a:endParaRPr kumimoji="1" lang="zh-CN" altLang="en-US" sz="2000" b="0" dirty="0">
              <a:solidFill>
                <a:srgbClr val="0000FF"/>
              </a:solidFill>
              <a:latin typeface="Consolas" pitchFamily="49" charset="0"/>
              <a:ea typeface="仿宋" pitchFamily="49" charset="-122"/>
              <a:cs typeface="Consolas" pitchFamily="49" charset="0"/>
            </a:endParaRPr>
          </a:p>
        </p:txBody>
      </p:sp>
      <p:sp>
        <p:nvSpPr>
          <p:cNvPr id="13" name="Oval 16">
            <a:extLst>
              <a:ext uri="{FF2B5EF4-FFF2-40B4-BE49-F238E27FC236}">
                <a16:creationId xmlns:a16="http://schemas.microsoft.com/office/drawing/2014/main" id="{7166C687-2C90-315A-353F-4E1C6A78D919}"/>
              </a:ext>
            </a:extLst>
          </p:cNvPr>
          <p:cNvSpPr>
            <a:spLocks noChangeArrowheads="1"/>
          </p:cNvSpPr>
          <p:nvPr/>
        </p:nvSpPr>
        <p:spPr bwMode="auto">
          <a:xfrm>
            <a:off x="8759899" y="4982878"/>
            <a:ext cx="1152525" cy="1368425"/>
          </a:xfrm>
          <a:prstGeom prst="ellipse">
            <a:avLst/>
          </a:prstGeom>
          <a:solidFill>
            <a:schemeClr val="accent3">
              <a:lumMod val="60000"/>
              <a:lumOff val="40000"/>
              <a:alpha val="66000"/>
            </a:schemeClr>
          </a:solidFill>
          <a:ln w="19050" algn="ctr">
            <a:solidFill>
              <a:srgbClr val="3333FF"/>
            </a:solidFill>
            <a:round/>
            <a:headEnd/>
            <a:tailEnd type="none" w="med" len="lg"/>
          </a:ln>
          <a:effectLst/>
        </p:spPr>
        <p:txBody>
          <a:bodyPr wrap="none" anchor="ctr"/>
          <a:lstStyle/>
          <a:p>
            <a:endParaRPr lang="zh-CN" altLang="en-US"/>
          </a:p>
        </p:txBody>
      </p:sp>
      <p:sp>
        <p:nvSpPr>
          <p:cNvPr id="14" name="Oval 15">
            <a:extLst>
              <a:ext uri="{FF2B5EF4-FFF2-40B4-BE49-F238E27FC236}">
                <a16:creationId xmlns:a16="http://schemas.microsoft.com/office/drawing/2014/main" id="{9E2FF56D-EB2D-B211-56A6-0C07298503BB}"/>
              </a:ext>
            </a:extLst>
          </p:cNvPr>
          <p:cNvSpPr>
            <a:spLocks noChangeArrowheads="1"/>
          </p:cNvSpPr>
          <p:nvPr/>
        </p:nvSpPr>
        <p:spPr bwMode="auto">
          <a:xfrm>
            <a:off x="7104137" y="5055903"/>
            <a:ext cx="1008062" cy="1368425"/>
          </a:xfrm>
          <a:prstGeom prst="ellipse">
            <a:avLst/>
          </a:prstGeom>
          <a:solidFill>
            <a:srgbClr val="FFFFFF">
              <a:alpha val="0"/>
            </a:srgbClr>
          </a:solidFill>
          <a:ln w="19050" algn="ctr">
            <a:solidFill>
              <a:srgbClr val="3333FF"/>
            </a:solidFill>
            <a:round/>
            <a:headEnd/>
            <a:tailEnd type="none" w="med" len="lg"/>
          </a:ln>
          <a:effectLst/>
        </p:spPr>
        <p:txBody>
          <a:bodyPr wrap="none" anchor="ctr"/>
          <a:lstStyle/>
          <a:p>
            <a:endParaRPr lang="zh-CN" altLang="en-US"/>
          </a:p>
        </p:txBody>
      </p:sp>
      <p:sp>
        <p:nvSpPr>
          <p:cNvPr id="15" name="Oval 8">
            <a:extLst>
              <a:ext uri="{FF2B5EF4-FFF2-40B4-BE49-F238E27FC236}">
                <a16:creationId xmlns:a16="http://schemas.microsoft.com/office/drawing/2014/main" id="{ACF33593-BB6D-AEEA-5830-56F569CD719B}"/>
              </a:ext>
            </a:extLst>
          </p:cNvPr>
          <p:cNvSpPr>
            <a:spLocks noChangeArrowheads="1"/>
          </p:cNvSpPr>
          <p:nvPr/>
        </p:nvSpPr>
        <p:spPr bwMode="auto">
          <a:xfrm>
            <a:off x="3144912" y="5200366"/>
            <a:ext cx="1008062" cy="1152525"/>
          </a:xfrm>
          <a:prstGeom prst="ellipse">
            <a:avLst/>
          </a:prstGeom>
          <a:solidFill>
            <a:srgbClr val="FFFFFF">
              <a:alpha val="0"/>
            </a:srgbClr>
          </a:solidFill>
          <a:ln w="19050" algn="ctr">
            <a:solidFill>
              <a:srgbClr val="3333FF"/>
            </a:solidFill>
            <a:round/>
            <a:headEnd/>
            <a:tailEnd type="none" w="med" len="lg"/>
          </a:ln>
          <a:effectLst/>
        </p:spPr>
        <p:txBody>
          <a:bodyPr wrap="none" anchor="ctr"/>
          <a:lstStyle/>
          <a:p>
            <a:endParaRPr lang="zh-CN" altLang="en-US"/>
          </a:p>
        </p:txBody>
      </p:sp>
      <p:sp>
        <p:nvSpPr>
          <p:cNvPr id="16" name="Oval 9">
            <a:extLst>
              <a:ext uri="{FF2B5EF4-FFF2-40B4-BE49-F238E27FC236}">
                <a16:creationId xmlns:a16="http://schemas.microsoft.com/office/drawing/2014/main" id="{E3ACCDAA-5514-B2A8-4A95-8D37EDA1EFB9}"/>
              </a:ext>
            </a:extLst>
          </p:cNvPr>
          <p:cNvSpPr>
            <a:spLocks noChangeArrowheads="1"/>
          </p:cNvSpPr>
          <p:nvPr/>
        </p:nvSpPr>
        <p:spPr bwMode="auto">
          <a:xfrm>
            <a:off x="4727649" y="5055903"/>
            <a:ext cx="1152525" cy="1368425"/>
          </a:xfrm>
          <a:prstGeom prst="ellipse">
            <a:avLst/>
          </a:prstGeom>
          <a:solidFill>
            <a:schemeClr val="accent3">
              <a:lumMod val="60000"/>
              <a:lumOff val="40000"/>
              <a:alpha val="65000"/>
            </a:schemeClr>
          </a:solidFill>
          <a:ln w="19050" algn="ctr">
            <a:solidFill>
              <a:srgbClr val="3333FF"/>
            </a:solidFill>
            <a:round/>
            <a:headEnd/>
            <a:tailEnd type="none" w="med" len="lg"/>
          </a:ln>
          <a:effectLst/>
        </p:spPr>
        <p:txBody>
          <a:bodyPr wrap="none" anchor="ctr"/>
          <a:lstStyle/>
          <a:p>
            <a:endParaRPr lang="zh-CN" altLang="en-US"/>
          </a:p>
        </p:txBody>
      </p:sp>
      <p:sp>
        <p:nvSpPr>
          <p:cNvPr id="17" name="Oval 6">
            <a:extLst>
              <a:ext uri="{FF2B5EF4-FFF2-40B4-BE49-F238E27FC236}">
                <a16:creationId xmlns:a16="http://schemas.microsoft.com/office/drawing/2014/main" id="{E542FDAD-7121-8384-762E-3FE603465CA4}"/>
              </a:ext>
            </a:extLst>
          </p:cNvPr>
          <p:cNvSpPr>
            <a:spLocks noChangeArrowheads="1"/>
          </p:cNvSpPr>
          <p:nvPr/>
        </p:nvSpPr>
        <p:spPr bwMode="auto">
          <a:xfrm>
            <a:off x="3432249" y="5487703"/>
            <a:ext cx="431800" cy="431800"/>
          </a:xfrm>
          <a:prstGeom prst="ellipse">
            <a:avLst/>
          </a:prstGeom>
          <a:solidFill>
            <a:srgbClr val="FFC000"/>
          </a:solidFill>
          <a:ln w="19050" algn="ctr">
            <a:solidFill>
              <a:srgbClr val="3333FF"/>
            </a:solidFill>
            <a:round/>
            <a:headEnd/>
            <a:tailEnd type="none" w="med" len="lg"/>
          </a:ln>
          <a:effectLst/>
        </p:spPr>
        <p:txBody>
          <a:bodyPr wrap="none" anchor="ctr"/>
          <a:lstStyle/>
          <a:p>
            <a:r>
              <a:rPr lang="en-US" altLang="zh-CN" sz="1800" i="1">
                <a:solidFill>
                  <a:srgbClr val="0000FF"/>
                </a:solidFill>
                <a:latin typeface="Consolas" pitchFamily="49" charset="0"/>
                <a:ea typeface="宋体" pitchFamily="2" charset="-122"/>
                <a:cs typeface="Consolas" pitchFamily="49" charset="0"/>
              </a:rPr>
              <a:t>v</a:t>
            </a:r>
          </a:p>
        </p:txBody>
      </p:sp>
      <p:sp>
        <p:nvSpPr>
          <p:cNvPr id="18" name="Oval 7">
            <a:extLst>
              <a:ext uri="{FF2B5EF4-FFF2-40B4-BE49-F238E27FC236}">
                <a16:creationId xmlns:a16="http://schemas.microsoft.com/office/drawing/2014/main" id="{B5504687-855D-7E32-40E5-2F69F324386A}"/>
              </a:ext>
            </a:extLst>
          </p:cNvPr>
          <p:cNvSpPr>
            <a:spLocks noChangeArrowheads="1"/>
          </p:cNvSpPr>
          <p:nvPr/>
        </p:nvSpPr>
        <p:spPr bwMode="auto">
          <a:xfrm>
            <a:off x="5161037" y="5487703"/>
            <a:ext cx="431800" cy="431800"/>
          </a:xfrm>
          <a:prstGeom prst="ellipse">
            <a:avLst/>
          </a:prstGeom>
          <a:solidFill>
            <a:srgbClr val="FFC000"/>
          </a:solidFill>
          <a:ln w="19050" algn="ctr">
            <a:solidFill>
              <a:srgbClr val="3333FF"/>
            </a:solidFill>
            <a:round/>
            <a:headEnd/>
            <a:tailEnd type="none" w="med" len="lg"/>
          </a:ln>
          <a:effectLst/>
        </p:spPr>
        <p:txBody>
          <a:bodyPr wrap="none" anchor="ctr"/>
          <a:lstStyle/>
          <a:p>
            <a:r>
              <a:rPr lang="en-US" altLang="zh-CN" sz="1800" i="1" dirty="0">
                <a:solidFill>
                  <a:srgbClr val="0000FF"/>
                </a:solidFill>
                <a:latin typeface="Consolas" pitchFamily="49" charset="0"/>
                <a:ea typeface="宋体" pitchFamily="2" charset="-122"/>
                <a:cs typeface="Consolas" pitchFamily="49" charset="0"/>
              </a:rPr>
              <a:t>k</a:t>
            </a:r>
          </a:p>
        </p:txBody>
      </p:sp>
      <p:sp>
        <p:nvSpPr>
          <p:cNvPr id="19" name="Text Box 10">
            <a:extLst>
              <a:ext uri="{FF2B5EF4-FFF2-40B4-BE49-F238E27FC236}">
                <a16:creationId xmlns:a16="http://schemas.microsoft.com/office/drawing/2014/main" id="{0C96FE74-F2DA-083E-FFC5-58F79E54A138}"/>
              </a:ext>
            </a:extLst>
          </p:cNvPr>
          <p:cNvSpPr txBox="1">
            <a:spLocks noChangeArrowheads="1"/>
          </p:cNvSpPr>
          <p:nvPr/>
        </p:nvSpPr>
        <p:spPr bwMode="auto">
          <a:xfrm>
            <a:off x="3360812" y="4624103"/>
            <a:ext cx="503237" cy="366713"/>
          </a:xfrm>
          <a:prstGeom prst="rect">
            <a:avLst/>
          </a:prstGeom>
          <a:noFill/>
          <a:ln w="19050" algn="ctr">
            <a:noFill/>
            <a:miter lim="800000"/>
            <a:headEnd/>
            <a:tailEnd type="none" w="med" len="lg"/>
          </a:ln>
          <a:effectLst/>
        </p:spPr>
        <p:txBody>
          <a:bodyPr>
            <a:spAutoFit/>
          </a:bodyPr>
          <a:lstStyle/>
          <a:p>
            <a:pPr>
              <a:spcBef>
                <a:spcPct val="50000"/>
              </a:spcBef>
            </a:pPr>
            <a:r>
              <a:rPr lang="en-US" altLang="zh-CN" sz="1800" dirty="0">
                <a:solidFill>
                  <a:srgbClr val="0000FF"/>
                </a:solidFill>
                <a:latin typeface="Consolas" pitchFamily="49" charset="0"/>
                <a:ea typeface="宋体" pitchFamily="2" charset="-122"/>
                <a:cs typeface="Consolas" pitchFamily="49" charset="0"/>
              </a:rPr>
              <a:t>U</a:t>
            </a:r>
          </a:p>
        </p:txBody>
      </p:sp>
      <p:sp>
        <p:nvSpPr>
          <p:cNvPr id="20" name="Text Box 11">
            <a:extLst>
              <a:ext uri="{FF2B5EF4-FFF2-40B4-BE49-F238E27FC236}">
                <a16:creationId xmlns:a16="http://schemas.microsoft.com/office/drawing/2014/main" id="{8D7BE234-E52A-A944-17FA-DA7D5A7B2AC2}"/>
              </a:ext>
            </a:extLst>
          </p:cNvPr>
          <p:cNvSpPr txBox="1">
            <a:spLocks noChangeArrowheads="1"/>
          </p:cNvSpPr>
          <p:nvPr/>
        </p:nvSpPr>
        <p:spPr bwMode="auto">
          <a:xfrm>
            <a:off x="4705424" y="4624103"/>
            <a:ext cx="1079500" cy="366713"/>
          </a:xfrm>
          <a:prstGeom prst="rect">
            <a:avLst/>
          </a:prstGeom>
          <a:noFill/>
          <a:ln w="19050" algn="ctr">
            <a:noFill/>
            <a:miter lim="800000"/>
            <a:headEnd/>
            <a:tailEnd type="none" w="med" len="lg"/>
          </a:ln>
          <a:effectLst/>
        </p:spPr>
        <p:txBody>
          <a:bodyPr>
            <a:spAutoFit/>
          </a:bodyPr>
          <a:lstStyle/>
          <a:p>
            <a:pPr>
              <a:spcBef>
                <a:spcPct val="50000"/>
              </a:spcBef>
            </a:pPr>
            <a:r>
              <a:rPr lang="en-US" altLang="zh-CN" sz="1800">
                <a:solidFill>
                  <a:srgbClr val="0000FF"/>
                </a:solidFill>
                <a:latin typeface="Consolas" pitchFamily="49" charset="0"/>
                <a:ea typeface="宋体" pitchFamily="2" charset="-122"/>
                <a:cs typeface="Consolas" pitchFamily="49" charset="0"/>
              </a:rPr>
              <a:t>V</a:t>
            </a:r>
            <a:r>
              <a:rPr lang="zh-CN" altLang="en-US" sz="1800">
                <a:solidFill>
                  <a:srgbClr val="0000FF"/>
                </a:solidFill>
                <a:latin typeface="Consolas" pitchFamily="49" charset="0"/>
                <a:ea typeface="宋体" pitchFamily="2" charset="-122"/>
                <a:cs typeface="Consolas" pitchFamily="49" charset="0"/>
              </a:rPr>
              <a:t>－</a:t>
            </a:r>
            <a:r>
              <a:rPr lang="en-US" altLang="zh-CN" sz="1800">
                <a:solidFill>
                  <a:srgbClr val="0000FF"/>
                </a:solidFill>
                <a:latin typeface="Consolas" pitchFamily="49" charset="0"/>
                <a:ea typeface="宋体" pitchFamily="2" charset="-122"/>
                <a:cs typeface="Consolas" pitchFamily="49" charset="0"/>
              </a:rPr>
              <a:t>U</a:t>
            </a:r>
          </a:p>
        </p:txBody>
      </p:sp>
      <p:sp>
        <p:nvSpPr>
          <p:cNvPr id="21" name="Line 12">
            <a:extLst>
              <a:ext uri="{FF2B5EF4-FFF2-40B4-BE49-F238E27FC236}">
                <a16:creationId xmlns:a16="http://schemas.microsoft.com/office/drawing/2014/main" id="{718B482C-AAA6-5958-521C-6700EC7021D5}"/>
              </a:ext>
            </a:extLst>
          </p:cNvPr>
          <p:cNvSpPr>
            <a:spLocks noChangeShapeType="1"/>
          </p:cNvSpPr>
          <p:nvPr/>
        </p:nvSpPr>
        <p:spPr bwMode="auto">
          <a:xfrm>
            <a:off x="3864049" y="5703603"/>
            <a:ext cx="1296987" cy="0"/>
          </a:xfrm>
          <a:prstGeom prst="line">
            <a:avLst/>
          </a:prstGeom>
          <a:ln>
            <a:headEnd/>
            <a:tailEnd type="none" w="med" len="lg"/>
          </a:ln>
        </p:spPr>
        <p:style>
          <a:lnRef idx="2">
            <a:schemeClr val="accent2"/>
          </a:lnRef>
          <a:fillRef idx="0">
            <a:schemeClr val="accent2"/>
          </a:fillRef>
          <a:effectRef idx="1">
            <a:schemeClr val="accent2"/>
          </a:effectRef>
          <a:fontRef idx="minor">
            <a:schemeClr val="tx1"/>
          </a:fontRef>
        </p:style>
        <p:txBody>
          <a:bodyPr wrap="none"/>
          <a:lstStyle/>
          <a:p>
            <a:endParaRPr lang="zh-CN" altLang="en-US"/>
          </a:p>
        </p:txBody>
      </p:sp>
      <p:sp>
        <p:nvSpPr>
          <p:cNvPr id="22" name="AutoShape 20">
            <a:extLst>
              <a:ext uri="{FF2B5EF4-FFF2-40B4-BE49-F238E27FC236}">
                <a16:creationId xmlns:a16="http://schemas.microsoft.com/office/drawing/2014/main" id="{C0CBFB00-FAB2-17B4-E56F-8B4D1A184A19}"/>
              </a:ext>
            </a:extLst>
          </p:cNvPr>
          <p:cNvSpPr>
            <a:spLocks noChangeArrowheads="1"/>
          </p:cNvSpPr>
          <p:nvPr/>
        </p:nvSpPr>
        <p:spPr bwMode="auto">
          <a:xfrm>
            <a:off x="6167512" y="5487703"/>
            <a:ext cx="647700" cy="431800"/>
          </a:xfrm>
          <a:prstGeom prst="rightArrow">
            <a:avLst>
              <a:gd name="adj1" fmla="val 50000"/>
              <a:gd name="adj2" fmla="val 37500"/>
            </a:avLst>
          </a:prstGeom>
          <a:ln>
            <a:headEnd/>
            <a:tailEnd type="none" w="med" len="lg"/>
          </a:ln>
        </p:spPr>
        <p:style>
          <a:lnRef idx="1">
            <a:schemeClr val="accent2"/>
          </a:lnRef>
          <a:fillRef idx="3">
            <a:schemeClr val="accent2"/>
          </a:fillRef>
          <a:effectRef idx="2">
            <a:schemeClr val="accent2"/>
          </a:effectRef>
          <a:fontRef idx="minor">
            <a:schemeClr val="lt1"/>
          </a:fontRef>
        </p:style>
        <p:txBody>
          <a:bodyPr wrap="none" anchor="ctr"/>
          <a:lstStyle/>
          <a:p>
            <a:endParaRPr lang="zh-CN" altLang="en-US"/>
          </a:p>
        </p:txBody>
      </p:sp>
      <p:sp>
        <p:nvSpPr>
          <p:cNvPr id="23" name="Oval 13">
            <a:extLst>
              <a:ext uri="{FF2B5EF4-FFF2-40B4-BE49-F238E27FC236}">
                <a16:creationId xmlns:a16="http://schemas.microsoft.com/office/drawing/2014/main" id="{F70A0EE3-80F0-1F7C-2660-62305D46E929}"/>
              </a:ext>
            </a:extLst>
          </p:cNvPr>
          <p:cNvSpPr>
            <a:spLocks noChangeArrowheads="1"/>
          </p:cNvSpPr>
          <p:nvPr/>
        </p:nvSpPr>
        <p:spPr bwMode="auto">
          <a:xfrm>
            <a:off x="7393062" y="5775041"/>
            <a:ext cx="431800" cy="431800"/>
          </a:xfrm>
          <a:prstGeom prst="ellipse">
            <a:avLst/>
          </a:prstGeom>
          <a:solidFill>
            <a:srgbClr val="FFC000"/>
          </a:solidFill>
          <a:ln w="19050" algn="ctr">
            <a:solidFill>
              <a:srgbClr val="3333FF"/>
            </a:solidFill>
            <a:round/>
            <a:headEnd/>
            <a:tailEnd type="none" w="med" len="lg"/>
          </a:ln>
          <a:effectLst/>
        </p:spPr>
        <p:txBody>
          <a:bodyPr wrap="none" anchor="ctr"/>
          <a:lstStyle/>
          <a:p>
            <a:r>
              <a:rPr lang="en-US" altLang="zh-CN" sz="1800" i="1">
                <a:solidFill>
                  <a:srgbClr val="0000FF"/>
                </a:solidFill>
                <a:latin typeface="Consolas" pitchFamily="49" charset="0"/>
                <a:ea typeface="宋体" pitchFamily="2" charset="-122"/>
                <a:cs typeface="Consolas" pitchFamily="49" charset="0"/>
              </a:rPr>
              <a:t>k</a:t>
            </a:r>
          </a:p>
        </p:txBody>
      </p:sp>
      <p:sp>
        <p:nvSpPr>
          <p:cNvPr id="24" name="Oval 14">
            <a:extLst>
              <a:ext uri="{FF2B5EF4-FFF2-40B4-BE49-F238E27FC236}">
                <a16:creationId xmlns:a16="http://schemas.microsoft.com/office/drawing/2014/main" id="{BF5BD936-CED9-5F4D-7E1E-ADAA18ED2C78}"/>
              </a:ext>
            </a:extLst>
          </p:cNvPr>
          <p:cNvSpPr>
            <a:spLocks noChangeArrowheads="1"/>
          </p:cNvSpPr>
          <p:nvPr/>
        </p:nvSpPr>
        <p:spPr bwMode="auto">
          <a:xfrm>
            <a:off x="9121849" y="5487703"/>
            <a:ext cx="431800" cy="431800"/>
          </a:xfrm>
          <a:prstGeom prst="ellipse">
            <a:avLst/>
          </a:prstGeom>
          <a:solidFill>
            <a:srgbClr val="FFC000"/>
          </a:solidFill>
          <a:ln w="19050" algn="ctr">
            <a:solidFill>
              <a:srgbClr val="3333FF"/>
            </a:solidFill>
            <a:round/>
            <a:headEnd/>
            <a:tailEnd type="none" w="med" len="lg"/>
          </a:ln>
          <a:effectLst/>
        </p:spPr>
        <p:txBody>
          <a:bodyPr wrap="none" anchor="ctr"/>
          <a:lstStyle/>
          <a:p>
            <a:r>
              <a:rPr lang="en-US" altLang="zh-CN" sz="1800" i="1" dirty="0">
                <a:solidFill>
                  <a:srgbClr val="0000FF"/>
                </a:solidFill>
                <a:latin typeface="Consolas" pitchFamily="49" charset="0"/>
                <a:ea typeface="宋体" pitchFamily="2" charset="-122"/>
                <a:cs typeface="Consolas" pitchFamily="49" charset="0"/>
              </a:rPr>
              <a:t>j</a:t>
            </a:r>
          </a:p>
        </p:txBody>
      </p:sp>
      <p:sp>
        <p:nvSpPr>
          <p:cNvPr id="25" name="Text Box 17">
            <a:extLst>
              <a:ext uri="{FF2B5EF4-FFF2-40B4-BE49-F238E27FC236}">
                <a16:creationId xmlns:a16="http://schemas.microsoft.com/office/drawing/2014/main" id="{DA1467E4-BC12-D360-E79E-D71EBE43D5AE}"/>
              </a:ext>
            </a:extLst>
          </p:cNvPr>
          <p:cNvSpPr txBox="1">
            <a:spLocks noChangeArrowheads="1"/>
          </p:cNvSpPr>
          <p:nvPr/>
        </p:nvSpPr>
        <p:spPr bwMode="auto">
          <a:xfrm>
            <a:off x="7321624" y="4624103"/>
            <a:ext cx="503237" cy="366713"/>
          </a:xfrm>
          <a:prstGeom prst="rect">
            <a:avLst/>
          </a:prstGeom>
          <a:noFill/>
          <a:ln w="19050" algn="ctr">
            <a:noFill/>
            <a:miter lim="800000"/>
            <a:headEnd/>
            <a:tailEnd type="none" w="med" len="lg"/>
          </a:ln>
          <a:effectLst/>
        </p:spPr>
        <p:txBody>
          <a:bodyPr>
            <a:spAutoFit/>
          </a:bodyPr>
          <a:lstStyle/>
          <a:p>
            <a:pPr>
              <a:spcBef>
                <a:spcPct val="50000"/>
              </a:spcBef>
            </a:pPr>
            <a:r>
              <a:rPr lang="en-US" altLang="zh-CN" sz="1800">
                <a:solidFill>
                  <a:srgbClr val="0000FF"/>
                </a:solidFill>
                <a:latin typeface="Consolas" pitchFamily="49" charset="0"/>
                <a:ea typeface="宋体" pitchFamily="2" charset="-122"/>
                <a:cs typeface="Consolas" pitchFamily="49" charset="0"/>
              </a:rPr>
              <a:t>U</a:t>
            </a:r>
          </a:p>
        </p:txBody>
      </p:sp>
      <p:sp>
        <p:nvSpPr>
          <p:cNvPr id="26" name="Text Box 18">
            <a:extLst>
              <a:ext uri="{FF2B5EF4-FFF2-40B4-BE49-F238E27FC236}">
                <a16:creationId xmlns:a16="http://schemas.microsoft.com/office/drawing/2014/main" id="{5DA8E499-9DBA-9DA8-291C-B5703EE91C7B}"/>
              </a:ext>
            </a:extLst>
          </p:cNvPr>
          <p:cNvSpPr txBox="1">
            <a:spLocks noChangeArrowheads="1"/>
          </p:cNvSpPr>
          <p:nvPr/>
        </p:nvSpPr>
        <p:spPr bwMode="auto">
          <a:xfrm>
            <a:off x="8951989" y="4566940"/>
            <a:ext cx="862033" cy="366713"/>
          </a:xfrm>
          <a:prstGeom prst="rect">
            <a:avLst/>
          </a:prstGeom>
          <a:noFill/>
          <a:ln w="19050" algn="ctr">
            <a:noFill/>
            <a:miter lim="800000"/>
            <a:headEnd/>
            <a:tailEnd type="none" w="med" len="lg"/>
          </a:ln>
          <a:effectLst/>
        </p:spPr>
        <p:txBody>
          <a:bodyPr wrap="square">
            <a:spAutoFit/>
          </a:bodyPr>
          <a:lstStyle/>
          <a:p>
            <a:pPr>
              <a:spcBef>
                <a:spcPct val="50000"/>
              </a:spcBef>
            </a:pPr>
            <a:r>
              <a:rPr lang="en-US" altLang="zh-CN" sz="1800">
                <a:solidFill>
                  <a:srgbClr val="0000FF"/>
                </a:solidFill>
                <a:latin typeface="Consolas" pitchFamily="49" charset="0"/>
                <a:ea typeface="宋体" pitchFamily="2" charset="-122"/>
                <a:cs typeface="Consolas" pitchFamily="49" charset="0"/>
              </a:rPr>
              <a:t>V</a:t>
            </a:r>
            <a:r>
              <a:rPr lang="zh-CN" altLang="en-US" sz="1800">
                <a:solidFill>
                  <a:srgbClr val="0000FF"/>
                </a:solidFill>
                <a:latin typeface="Consolas" pitchFamily="49" charset="0"/>
                <a:ea typeface="宋体" pitchFamily="2" charset="-122"/>
                <a:cs typeface="Consolas" pitchFamily="49" charset="0"/>
              </a:rPr>
              <a:t>－</a:t>
            </a:r>
            <a:r>
              <a:rPr lang="en-US" altLang="zh-CN" sz="1800">
                <a:solidFill>
                  <a:srgbClr val="0000FF"/>
                </a:solidFill>
                <a:latin typeface="Consolas" pitchFamily="49" charset="0"/>
                <a:ea typeface="宋体" pitchFamily="2" charset="-122"/>
                <a:cs typeface="Consolas" pitchFamily="49" charset="0"/>
              </a:rPr>
              <a:t>U</a:t>
            </a:r>
          </a:p>
        </p:txBody>
      </p:sp>
      <p:sp>
        <p:nvSpPr>
          <p:cNvPr id="27" name="Freeform 19">
            <a:extLst>
              <a:ext uri="{FF2B5EF4-FFF2-40B4-BE49-F238E27FC236}">
                <a16:creationId xmlns:a16="http://schemas.microsoft.com/office/drawing/2014/main" id="{CF0F1226-ECE2-059C-4B90-1FF5A4FA08EA}"/>
              </a:ext>
            </a:extLst>
          </p:cNvPr>
          <p:cNvSpPr>
            <a:spLocks/>
          </p:cNvSpPr>
          <p:nvPr/>
        </p:nvSpPr>
        <p:spPr bwMode="auto">
          <a:xfrm>
            <a:off x="7805812" y="5705191"/>
            <a:ext cx="1316037" cy="233363"/>
          </a:xfrm>
          <a:custGeom>
            <a:avLst/>
            <a:gdLst/>
            <a:ahLst/>
            <a:cxnLst>
              <a:cxn ang="0">
                <a:pos x="0" y="147"/>
              </a:cxn>
              <a:cxn ang="0">
                <a:pos x="829" y="0"/>
              </a:cxn>
            </a:cxnLst>
            <a:rect l="0" t="0" r="r" b="b"/>
            <a:pathLst>
              <a:path w="829" h="147">
                <a:moveTo>
                  <a:pt x="0" y="147"/>
                </a:moveTo>
                <a:lnTo>
                  <a:pt x="829" y="0"/>
                </a:lnTo>
              </a:path>
            </a:pathLst>
          </a:custGeom>
          <a:ln>
            <a:solidFill>
              <a:srgbClr val="FF00FF"/>
            </a:solidFill>
            <a:headEnd type="none" w="med" len="med"/>
            <a:tailEnd type="none" w="med" len="lg"/>
          </a:ln>
        </p:spPr>
        <p:style>
          <a:lnRef idx="2">
            <a:schemeClr val="accent4"/>
          </a:lnRef>
          <a:fillRef idx="0">
            <a:schemeClr val="accent4"/>
          </a:fillRef>
          <a:effectRef idx="1">
            <a:schemeClr val="accent4"/>
          </a:effectRef>
          <a:fontRef idx="minor">
            <a:schemeClr val="tx1"/>
          </a:fontRef>
        </p:style>
        <p:txBody>
          <a:bodyPr wrap="none"/>
          <a:lstStyle/>
          <a:p>
            <a:endParaRPr lang="zh-CN" altLang="en-US"/>
          </a:p>
        </p:txBody>
      </p:sp>
      <p:sp>
        <p:nvSpPr>
          <p:cNvPr id="28" name="Oval 22">
            <a:extLst>
              <a:ext uri="{FF2B5EF4-FFF2-40B4-BE49-F238E27FC236}">
                <a16:creationId xmlns:a16="http://schemas.microsoft.com/office/drawing/2014/main" id="{6F27BC7A-A26B-937D-0BBF-EF332D8E1E37}"/>
              </a:ext>
            </a:extLst>
          </p:cNvPr>
          <p:cNvSpPr>
            <a:spLocks noChangeArrowheads="1"/>
          </p:cNvSpPr>
          <p:nvPr/>
        </p:nvSpPr>
        <p:spPr bwMode="auto">
          <a:xfrm>
            <a:off x="7391474" y="5198778"/>
            <a:ext cx="431800" cy="431800"/>
          </a:xfrm>
          <a:prstGeom prst="ellipse">
            <a:avLst/>
          </a:prstGeom>
          <a:solidFill>
            <a:srgbClr val="FFC000"/>
          </a:solidFill>
          <a:ln w="19050" algn="ctr">
            <a:solidFill>
              <a:srgbClr val="3333FF"/>
            </a:solidFill>
            <a:round/>
            <a:headEnd/>
            <a:tailEnd type="none" w="med" len="lg"/>
          </a:ln>
          <a:effectLst/>
        </p:spPr>
        <p:txBody>
          <a:bodyPr wrap="none" anchor="ctr"/>
          <a:lstStyle/>
          <a:p>
            <a:r>
              <a:rPr lang="en-US" altLang="zh-CN" sz="1800" i="1" dirty="0">
                <a:solidFill>
                  <a:srgbClr val="0000FF"/>
                </a:solidFill>
                <a:latin typeface="Consolas" pitchFamily="49" charset="0"/>
                <a:ea typeface="宋体" pitchFamily="2" charset="-122"/>
                <a:cs typeface="Consolas" pitchFamily="49" charset="0"/>
              </a:rPr>
              <a:t>v</a:t>
            </a:r>
          </a:p>
        </p:txBody>
      </p:sp>
      <p:sp>
        <p:nvSpPr>
          <p:cNvPr id="29" name="TextBox 23">
            <a:extLst>
              <a:ext uri="{FF2B5EF4-FFF2-40B4-BE49-F238E27FC236}">
                <a16:creationId xmlns:a16="http://schemas.microsoft.com/office/drawing/2014/main" id="{2AB7C929-6253-148A-6BFD-EACFEF16C196}"/>
              </a:ext>
            </a:extLst>
          </p:cNvPr>
          <p:cNvSpPr txBox="1"/>
          <p:nvPr/>
        </p:nvSpPr>
        <p:spPr>
          <a:xfrm>
            <a:off x="4208821" y="5781386"/>
            <a:ext cx="461665" cy="785818"/>
          </a:xfrm>
          <a:prstGeom prst="rect">
            <a:avLst/>
          </a:prstGeom>
          <a:noFill/>
        </p:spPr>
        <p:txBody>
          <a:bodyPr vert="eaVert" wrap="square" rtlCol="0">
            <a:spAutoFit/>
          </a:bodyPr>
          <a:lstStyle/>
          <a:p>
            <a:r>
              <a:rPr lang="zh-CN" altLang="en-US" sz="1800" dirty="0">
                <a:latin typeface="仿宋" pitchFamily="49" charset="-122"/>
                <a:ea typeface="仿宋" pitchFamily="49" charset="-122"/>
              </a:rPr>
              <a:t>最小边</a:t>
            </a:r>
          </a:p>
        </p:txBody>
      </p:sp>
      <p:cxnSp>
        <p:nvCxnSpPr>
          <p:cNvPr id="30" name="直接连接符 29">
            <a:extLst>
              <a:ext uri="{FF2B5EF4-FFF2-40B4-BE49-F238E27FC236}">
                <a16:creationId xmlns:a16="http://schemas.microsoft.com/office/drawing/2014/main" id="{C31D05F3-5118-6669-8A1C-ACDC44447574}"/>
              </a:ext>
            </a:extLst>
          </p:cNvPr>
          <p:cNvCxnSpPr>
            <a:endCxn id="24" idx="1"/>
          </p:cNvCxnSpPr>
          <p:nvPr/>
        </p:nvCxnSpPr>
        <p:spPr>
          <a:xfrm>
            <a:off x="8028072" y="5424196"/>
            <a:ext cx="1157013" cy="126743"/>
          </a:xfrm>
          <a:prstGeom prst="line">
            <a:avLst/>
          </a:prstGeom>
          <a:ln/>
        </p:spPr>
        <p:style>
          <a:lnRef idx="2">
            <a:schemeClr val="accent2"/>
          </a:lnRef>
          <a:fillRef idx="0">
            <a:schemeClr val="accent2"/>
          </a:fillRef>
          <a:effectRef idx="1">
            <a:schemeClr val="accent2"/>
          </a:effectRef>
          <a:fontRef idx="minor">
            <a:schemeClr val="tx1"/>
          </a:fontRef>
        </p:style>
      </p:cxnSp>
      <p:grpSp>
        <p:nvGrpSpPr>
          <p:cNvPr id="31" name="组合 30">
            <a:extLst>
              <a:ext uri="{FF2B5EF4-FFF2-40B4-BE49-F238E27FC236}">
                <a16:creationId xmlns:a16="http://schemas.microsoft.com/office/drawing/2014/main" id="{BD3B692B-B1D1-0E57-BC87-904AA4255FE1}"/>
              </a:ext>
            </a:extLst>
          </p:cNvPr>
          <p:cNvGrpSpPr/>
          <p:nvPr/>
        </p:nvGrpSpPr>
        <p:grpSpPr>
          <a:xfrm>
            <a:off x="7611752" y="5495635"/>
            <a:ext cx="2031219" cy="1255369"/>
            <a:chOff x="5655878" y="5357827"/>
            <a:chExt cx="2031219" cy="1255369"/>
          </a:xfrm>
        </p:grpSpPr>
        <p:cxnSp>
          <p:nvCxnSpPr>
            <p:cNvPr id="32" name="直接连接符 31">
              <a:extLst>
                <a:ext uri="{FF2B5EF4-FFF2-40B4-BE49-F238E27FC236}">
                  <a16:creationId xmlns:a16="http://schemas.microsoft.com/office/drawing/2014/main" id="{D2E12E0F-EE0A-25A2-824E-B0B208C61A0C}"/>
                </a:ext>
              </a:extLst>
            </p:cNvPr>
            <p:cNvCxnSpPr/>
            <p:nvPr/>
          </p:nvCxnSpPr>
          <p:spPr>
            <a:xfrm rot="16200000" flipH="1">
              <a:off x="5965041" y="5607860"/>
              <a:ext cx="785818" cy="285752"/>
            </a:xfrm>
            <a:prstGeom prst="line">
              <a:avLst/>
            </a:prstGeom>
            <a:ln/>
          </p:spPr>
          <p:style>
            <a:lnRef idx="2">
              <a:schemeClr val="accent5"/>
            </a:lnRef>
            <a:fillRef idx="0">
              <a:schemeClr val="accent5"/>
            </a:fillRef>
            <a:effectRef idx="1">
              <a:schemeClr val="accent5"/>
            </a:effectRef>
            <a:fontRef idx="minor">
              <a:schemeClr val="tx1"/>
            </a:fontRef>
          </p:style>
        </p:cxnSp>
        <p:cxnSp>
          <p:nvCxnSpPr>
            <p:cNvPr id="33" name="直接连接符 32">
              <a:extLst>
                <a:ext uri="{FF2B5EF4-FFF2-40B4-BE49-F238E27FC236}">
                  <a16:creationId xmlns:a16="http://schemas.microsoft.com/office/drawing/2014/main" id="{812EA988-C16C-7BB5-6DD0-F789E69B0754}"/>
                </a:ext>
              </a:extLst>
            </p:cNvPr>
            <p:cNvCxnSpPr/>
            <p:nvPr/>
          </p:nvCxnSpPr>
          <p:spPr>
            <a:xfrm rot="5400000">
              <a:off x="6357950" y="5929330"/>
              <a:ext cx="428628" cy="1588"/>
            </a:xfrm>
            <a:prstGeom prst="line">
              <a:avLst/>
            </a:prstGeom>
            <a:ln/>
          </p:spPr>
          <p:style>
            <a:lnRef idx="2">
              <a:schemeClr val="accent5"/>
            </a:lnRef>
            <a:fillRef idx="0">
              <a:schemeClr val="accent5"/>
            </a:fillRef>
            <a:effectRef idx="1">
              <a:schemeClr val="accent5"/>
            </a:effectRef>
            <a:fontRef idx="minor">
              <a:schemeClr val="tx1"/>
            </a:fontRef>
          </p:style>
        </p:cxnSp>
        <p:sp>
          <p:nvSpPr>
            <p:cNvPr id="34" name="TextBox 29">
              <a:extLst>
                <a:ext uri="{FF2B5EF4-FFF2-40B4-BE49-F238E27FC236}">
                  <a16:creationId xmlns:a16="http://schemas.microsoft.com/office/drawing/2014/main" id="{DA0A979B-CDC8-9992-B695-D208A3EE0CBE}"/>
                </a:ext>
              </a:extLst>
            </p:cNvPr>
            <p:cNvSpPr txBox="1"/>
            <p:nvPr/>
          </p:nvSpPr>
          <p:spPr>
            <a:xfrm>
              <a:off x="5655878" y="6243864"/>
              <a:ext cx="2031219" cy="369332"/>
            </a:xfrm>
            <a:prstGeom prst="rect">
              <a:avLst/>
            </a:prstGeom>
            <a:noFill/>
          </p:spPr>
          <p:txBody>
            <a:bodyPr wrap="square" rtlCol="0">
              <a:spAutoFit/>
            </a:bodyPr>
            <a:lstStyle/>
            <a:p>
              <a:r>
                <a:rPr lang="zh-CN" altLang="en-US" sz="1800" dirty="0">
                  <a:latin typeface="仿宋" pitchFamily="49" charset="-122"/>
                  <a:ea typeface="仿宋" pitchFamily="49" charset="-122"/>
                </a:rPr>
                <a:t>小的边</a:t>
              </a:r>
              <a:r>
                <a:rPr kumimoji="1" lang="zh-CN" altLang="en-US" sz="1800" dirty="0">
                  <a:latin typeface="仿宋" pitchFamily="49" charset="-122"/>
                  <a:ea typeface="仿宋" pitchFamily="49" charset="-122"/>
                  <a:cs typeface="Times New Roman" pitchFamily="18" charset="0"/>
                </a:rPr>
                <a:t>作为候选边</a:t>
              </a:r>
              <a:endParaRPr lang="zh-CN" altLang="en-US" sz="1800" dirty="0">
                <a:latin typeface="仿宋" pitchFamily="49" charset="-122"/>
                <a:ea typeface="仿宋" pitchFamily="49" charset="-122"/>
              </a:endParaRPr>
            </a:p>
          </p:txBody>
        </p:sp>
      </p:grpSp>
    </p:spTree>
    <p:extLst>
      <p:ext uri="{BB962C8B-B14F-4D97-AF65-F5344CB8AC3E}">
        <p14:creationId xmlns:p14="http://schemas.microsoft.com/office/powerpoint/2010/main" val="3454298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nodePh="1">
                                  <p:stCondLst>
                                    <p:cond delay="0"/>
                                  </p:stCondLst>
                                  <p:endCondLst>
                                    <p:cond evt="begin" delay="0">
                                      <p:tn val="5"/>
                                    </p:cond>
                                  </p:endCondLst>
                                  <p:childTnLst>
                                    <p:set>
                                      <p:cBhvr>
                                        <p:cTn id="6" dur="1" fill="hold">
                                          <p:stCondLst>
                                            <p:cond delay="0"/>
                                          </p:stCondLst>
                                        </p:cTn>
                                        <p:tgtEl>
                                          <p:spTgt spid="42">
                                            <p:txEl>
                                              <p:pRg st="0" end="0"/>
                                            </p:txEl>
                                          </p:spTgt>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17"/>
                                        </p:tgtEl>
                                        <p:attrNameLst>
                                          <p:attrName>style.visibility</p:attrName>
                                        </p:attrNameLst>
                                      </p:cBhvr>
                                      <p:to>
                                        <p:strVal val="visible"/>
                                      </p:to>
                                    </p:set>
                                  </p:childTnLst>
                                </p:cTn>
                              </p:par>
                              <p:par>
                                <p:cTn id="10" presetID="1" presetClass="entr" presetSubtype="0" fill="hold" grpId="0" nodeType="withEffect">
                                  <p:stCondLst>
                                    <p:cond delay="0"/>
                                  </p:stCondLst>
                                  <p:childTnLst>
                                    <p:set>
                                      <p:cBhvr>
                                        <p:cTn id="11" dur="1" fill="hold">
                                          <p:stCondLst>
                                            <p:cond delay="0"/>
                                          </p:stCondLst>
                                        </p:cTn>
                                        <p:tgtEl>
                                          <p:spTgt spid="15"/>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3" dur="1" fill="hold">
                                          <p:stCondLst>
                                            <p:cond delay="0"/>
                                          </p:stCondLst>
                                        </p:cTn>
                                        <p:tgtEl>
                                          <p:spTgt spid="19"/>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5" dur="1" fill="hold">
                                          <p:stCondLst>
                                            <p:cond delay="0"/>
                                          </p:stCondLst>
                                        </p:cTn>
                                        <p:tgtEl>
                                          <p:spTgt spid="20"/>
                                        </p:tgtEl>
                                        <p:attrNameLst>
                                          <p:attrName>style.visibility</p:attrName>
                                        </p:attrNameLst>
                                      </p:cBhvr>
                                      <p:to>
                                        <p:strVal val="visible"/>
                                      </p:to>
                                    </p:set>
                                  </p:childTnLst>
                                </p:cTn>
                              </p:par>
                              <p:par>
                                <p:cTn id="16" presetID="1" presetClass="entr" presetSubtype="0" fill="hold" grpId="0" nodeType="withEffect">
                                  <p:stCondLst>
                                    <p:cond delay="0"/>
                                  </p:stCondLst>
                                  <p:childTnLst>
                                    <p:set>
                                      <p:cBhvr>
                                        <p:cTn id="17" dur="1" fill="hold">
                                          <p:stCondLst>
                                            <p:cond delay="0"/>
                                          </p:stCondLst>
                                        </p:cTn>
                                        <p:tgtEl>
                                          <p:spTgt spid="16"/>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7">
                                            <p:txEl>
                                              <p:pRg st="2" end="2"/>
                                            </p:txEl>
                                          </p:spTgt>
                                        </p:tgtEl>
                                        <p:attrNameLst>
                                          <p:attrName>style.visibility</p:attrName>
                                        </p:attrNameLst>
                                      </p:cBhvr>
                                      <p:to>
                                        <p:strVal val="visible"/>
                                      </p:to>
                                    </p:set>
                                  </p:childTnLst>
                                </p:cTn>
                              </p:par>
                            </p:childTnLst>
                          </p:cTn>
                        </p:par>
                        <p:par>
                          <p:cTn id="26" fill="hold">
                            <p:stCondLst>
                              <p:cond delay="0"/>
                            </p:stCondLst>
                            <p:childTnLst>
                              <p:par>
                                <p:cTn id="27" presetID="1" presetClass="entr" presetSubtype="0" fill="hold" grpId="0" nodeType="afterEffect">
                                  <p:stCondLst>
                                    <p:cond delay="0"/>
                                  </p:stCondLst>
                                  <p:childTnLst>
                                    <p:set>
                                      <p:cBhvr>
                                        <p:cTn id="28" dur="1" fill="hold">
                                          <p:stCondLst>
                                            <p:cond delay="0"/>
                                          </p:stCondLst>
                                        </p:cTn>
                                        <p:tgtEl>
                                          <p:spTgt spid="21"/>
                                        </p:tgtEl>
                                        <p:attrNameLst>
                                          <p:attrName>style.visibility</p:attrName>
                                        </p:attrNameLst>
                                      </p:cBhvr>
                                      <p:to>
                                        <p:strVal val="visible"/>
                                      </p:to>
                                    </p:set>
                                  </p:childTnLst>
                                </p:cTn>
                              </p:par>
                            </p:childTnLst>
                          </p:cTn>
                        </p:par>
                        <p:par>
                          <p:cTn id="29" fill="hold">
                            <p:stCondLst>
                              <p:cond delay="0"/>
                            </p:stCondLst>
                            <p:childTnLst>
                              <p:par>
                                <p:cTn id="30" presetID="1" presetClass="entr" presetSubtype="0" fill="hold" grpId="0" nodeType="afterEffect">
                                  <p:stCondLst>
                                    <p:cond delay="0"/>
                                  </p:stCondLst>
                                  <p:childTnLst>
                                    <p:set>
                                      <p:cBhvr>
                                        <p:cTn id="31" dur="1" fill="hold">
                                          <p:stCondLst>
                                            <p:cond delay="0"/>
                                          </p:stCondLst>
                                        </p:cTn>
                                        <p:tgtEl>
                                          <p:spTgt spid="29"/>
                                        </p:tgtEl>
                                        <p:attrNameLst>
                                          <p:attrName>style.visibility</p:attrName>
                                        </p:attrNameLst>
                                      </p:cBhvr>
                                      <p:to>
                                        <p:strVal val="visible"/>
                                      </p:to>
                                    </p:set>
                                  </p:childTnLst>
                                </p:cTn>
                              </p:par>
                            </p:childTnLst>
                          </p:cTn>
                        </p:par>
                        <p:par>
                          <p:cTn id="32" fill="hold">
                            <p:stCondLst>
                              <p:cond delay="0"/>
                            </p:stCondLst>
                            <p:childTnLst>
                              <p:par>
                                <p:cTn id="33" presetID="1" presetClass="entr" presetSubtype="0" fill="hold" grpId="0" nodeType="afterEffect">
                                  <p:stCondLst>
                                    <p:cond delay="0"/>
                                  </p:stCondLst>
                                  <p:childTnLst>
                                    <p:set>
                                      <p:cBhvr>
                                        <p:cTn id="34" dur="1" fill="hold">
                                          <p:stCondLst>
                                            <p:cond delay="0"/>
                                          </p:stCondLst>
                                        </p:cTn>
                                        <p:tgtEl>
                                          <p:spTgt spid="18"/>
                                        </p:tgtEl>
                                        <p:attrNameLst>
                                          <p:attrName>style.visibility</p:attrName>
                                        </p:attrNameLst>
                                      </p:cBhvr>
                                      <p:to>
                                        <p:strVal val="visible"/>
                                      </p:to>
                                    </p:set>
                                  </p:childTnLst>
                                </p:cTn>
                              </p:par>
                            </p:childTnLst>
                          </p:cTn>
                        </p:par>
                        <p:par>
                          <p:cTn id="35" fill="hold">
                            <p:stCondLst>
                              <p:cond delay="0"/>
                            </p:stCondLst>
                            <p:childTnLst>
                              <p:par>
                                <p:cTn id="36" presetID="1" presetClass="entr" presetSubtype="0" fill="hold" grpId="0" nodeType="afterEffect">
                                  <p:stCondLst>
                                    <p:cond delay="0"/>
                                  </p:stCondLst>
                                  <p:childTnLst>
                                    <p:set>
                                      <p:cBhvr>
                                        <p:cTn id="37" dur="1" fill="hold">
                                          <p:stCondLst>
                                            <p:cond delay="0"/>
                                          </p:stCondLst>
                                        </p:cTn>
                                        <p:tgtEl>
                                          <p:spTgt spid="13"/>
                                        </p:tgtEl>
                                        <p:attrNameLst>
                                          <p:attrName>style.visibility</p:attrName>
                                        </p:attrNameLst>
                                      </p:cBhvr>
                                      <p:to>
                                        <p:strVal val="visible"/>
                                      </p:to>
                                    </p:set>
                                  </p:childTnLst>
                                </p:cTn>
                              </p:par>
                            </p:childTnLst>
                          </p:cTn>
                        </p:par>
                        <p:par>
                          <p:cTn id="38" fill="hold">
                            <p:stCondLst>
                              <p:cond delay="0"/>
                            </p:stCondLst>
                            <p:childTnLst>
                              <p:par>
                                <p:cTn id="39" presetID="1" presetClass="entr" presetSubtype="0" fill="hold" grpId="0" nodeType="afterEffect">
                                  <p:stCondLst>
                                    <p:cond delay="0"/>
                                  </p:stCondLst>
                                  <p:childTnLst>
                                    <p:set>
                                      <p:cBhvr>
                                        <p:cTn id="40" dur="1" fill="hold">
                                          <p:stCondLst>
                                            <p:cond delay="0"/>
                                          </p:stCondLst>
                                        </p:cTn>
                                        <p:tgtEl>
                                          <p:spTgt spid="14"/>
                                        </p:tgtEl>
                                        <p:attrNameLst>
                                          <p:attrName>style.visibility</p:attrName>
                                        </p:attrNameLst>
                                      </p:cBhvr>
                                      <p:to>
                                        <p:strVal val="visible"/>
                                      </p:to>
                                    </p:set>
                                  </p:childTnLst>
                                </p:cTn>
                              </p:par>
                            </p:childTnLst>
                          </p:cTn>
                        </p:par>
                        <p:par>
                          <p:cTn id="41" fill="hold">
                            <p:stCondLst>
                              <p:cond delay="0"/>
                            </p:stCondLst>
                            <p:childTnLst>
                              <p:par>
                                <p:cTn id="42" presetID="1" presetClass="entr" presetSubtype="0" fill="hold" grpId="0" nodeType="afterEffect">
                                  <p:stCondLst>
                                    <p:cond delay="0"/>
                                  </p:stCondLst>
                                  <p:childTnLst>
                                    <p:set>
                                      <p:cBhvr>
                                        <p:cTn id="43" dur="1" fill="hold">
                                          <p:stCondLst>
                                            <p:cond delay="0"/>
                                          </p:stCondLst>
                                        </p:cTn>
                                        <p:tgtEl>
                                          <p:spTgt spid="22"/>
                                        </p:tgtEl>
                                        <p:attrNameLst>
                                          <p:attrName>style.visibility</p:attrName>
                                        </p:attrNameLst>
                                      </p:cBhvr>
                                      <p:to>
                                        <p:strVal val="visible"/>
                                      </p:to>
                                    </p:set>
                                  </p:childTnLst>
                                </p:cTn>
                              </p:par>
                            </p:childTnLst>
                          </p:cTn>
                        </p:par>
                        <p:par>
                          <p:cTn id="44" fill="hold">
                            <p:stCondLst>
                              <p:cond delay="0"/>
                            </p:stCondLst>
                            <p:childTnLst>
                              <p:par>
                                <p:cTn id="45" presetID="1" presetClass="entr" presetSubtype="0" fill="hold" grpId="0" nodeType="afterEffect">
                                  <p:stCondLst>
                                    <p:cond delay="0"/>
                                  </p:stCondLst>
                                  <p:childTnLst>
                                    <p:set>
                                      <p:cBhvr>
                                        <p:cTn id="46" dur="1" fill="hold">
                                          <p:stCondLst>
                                            <p:cond delay="0"/>
                                          </p:stCondLst>
                                        </p:cTn>
                                        <p:tgtEl>
                                          <p:spTgt spid="23"/>
                                        </p:tgtEl>
                                        <p:attrNameLst>
                                          <p:attrName>style.visibility</p:attrName>
                                        </p:attrNameLst>
                                      </p:cBhvr>
                                      <p:to>
                                        <p:strVal val="visible"/>
                                      </p:to>
                                    </p:set>
                                  </p:childTnLst>
                                </p:cTn>
                              </p:par>
                            </p:childTnLst>
                          </p:cTn>
                        </p:par>
                        <p:par>
                          <p:cTn id="47" fill="hold">
                            <p:stCondLst>
                              <p:cond delay="0"/>
                            </p:stCondLst>
                            <p:childTnLst>
                              <p:par>
                                <p:cTn id="48" presetID="1" presetClass="entr" presetSubtype="0" fill="hold" grpId="0" nodeType="afterEffect">
                                  <p:stCondLst>
                                    <p:cond delay="0"/>
                                  </p:stCondLst>
                                  <p:childTnLst>
                                    <p:set>
                                      <p:cBhvr>
                                        <p:cTn id="49" dur="1" fill="hold">
                                          <p:stCondLst>
                                            <p:cond delay="0"/>
                                          </p:stCondLst>
                                        </p:cTn>
                                        <p:tgtEl>
                                          <p:spTgt spid="24"/>
                                        </p:tgtEl>
                                        <p:attrNameLst>
                                          <p:attrName>style.visibility</p:attrName>
                                        </p:attrNameLst>
                                      </p:cBhvr>
                                      <p:to>
                                        <p:strVal val="visible"/>
                                      </p:to>
                                    </p:set>
                                  </p:childTnLst>
                                </p:cTn>
                              </p:par>
                            </p:childTnLst>
                          </p:cTn>
                        </p:par>
                        <p:par>
                          <p:cTn id="50" fill="hold">
                            <p:stCondLst>
                              <p:cond delay="0"/>
                            </p:stCondLst>
                            <p:childTnLst>
                              <p:par>
                                <p:cTn id="51" presetID="1" presetClass="entr" presetSubtype="0" fill="hold" grpId="0" nodeType="afterEffect">
                                  <p:stCondLst>
                                    <p:cond delay="0"/>
                                  </p:stCondLst>
                                  <p:childTnLst>
                                    <p:set>
                                      <p:cBhvr>
                                        <p:cTn id="52" dur="1" fill="hold">
                                          <p:stCondLst>
                                            <p:cond delay="0"/>
                                          </p:stCondLst>
                                        </p:cTn>
                                        <p:tgtEl>
                                          <p:spTgt spid="25"/>
                                        </p:tgtEl>
                                        <p:attrNameLst>
                                          <p:attrName>style.visibility</p:attrName>
                                        </p:attrNameLst>
                                      </p:cBhvr>
                                      <p:to>
                                        <p:strVal val="visible"/>
                                      </p:to>
                                    </p:set>
                                  </p:childTnLst>
                                </p:cTn>
                              </p:par>
                            </p:childTnLst>
                          </p:cTn>
                        </p:par>
                        <p:par>
                          <p:cTn id="53" fill="hold">
                            <p:stCondLst>
                              <p:cond delay="0"/>
                            </p:stCondLst>
                            <p:childTnLst>
                              <p:par>
                                <p:cTn id="54" presetID="1" presetClass="entr" presetSubtype="0" fill="hold" grpId="0" nodeType="afterEffect">
                                  <p:stCondLst>
                                    <p:cond delay="0"/>
                                  </p:stCondLst>
                                  <p:childTnLst>
                                    <p:set>
                                      <p:cBhvr>
                                        <p:cTn id="55" dur="1" fill="hold">
                                          <p:stCondLst>
                                            <p:cond delay="0"/>
                                          </p:stCondLst>
                                        </p:cTn>
                                        <p:tgtEl>
                                          <p:spTgt spid="26"/>
                                        </p:tgtEl>
                                        <p:attrNameLst>
                                          <p:attrName>style.visibility</p:attrName>
                                        </p:attrNameLst>
                                      </p:cBhvr>
                                      <p:to>
                                        <p:strVal val="visible"/>
                                      </p:to>
                                    </p:set>
                                  </p:childTnLst>
                                </p:cTn>
                              </p:par>
                            </p:childTnLst>
                          </p:cTn>
                        </p:par>
                        <p:par>
                          <p:cTn id="56" fill="hold">
                            <p:stCondLst>
                              <p:cond delay="0"/>
                            </p:stCondLst>
                            <p:childTnLst>
                              <p:par>
                                <p:cTn id="57" presetID="1" presetClass="entr" presetSubtype="0" fill="hold" grpId="0" nodeType="afterEffect">
                                  <p:stCondLst>
                                    <p:cond delay="0"/>
                                  </p:stCondLst>
                                  <p:childTnLst>
                                    <p:set>
                                      <p:cBhvr>
                                        <p:cTn id="58" dur="1" fill="hold">
                                          <p:stCondLst>
                                            <p:cond delay="0"/>
                                          </p:stCondLst>
                                        </p:cTn>
                                        <p:tgtEl>
                                          <p:spTgt spid="27"/>
                                        </p:tgtEl>
                                        <p:attrNameLst>
                                          <p:attrName>style.visibility</p:attrName>
                                        </p:attrNameLst>
                                      </p:cBhvr>
                                      <p:to>
                                        <p:strVal val="visible"/>
                                      </p:to>
                                    </p:set>
                                  </p:childTnLst>
                                </p:cTn>
                              </p:par>
                            </p:childTnLst>
                          </p:cTn>
                        </p:par>
                        <p:par>
                          <p:cTn id="59" fill="hold">
                            <p:stCondLst>
                              <p:cond delay="0"/>
                            </p:stCondLst>
                            <p:childTnLst>
                              <p:par>
                                <p:cTn id="60" presetID="1" presetClass="entr" presetSubtype="0" fill="hold" grpId="0" nodeType="afterEffect">
                                  <p:stCondLst>
                                    <p:cond delay="0"/>
                                  </p:stCondLst>
                                  <p:childTnLst>
                                    <p:set>
                                      <p:cBhvr>
                                        <p:cTn id="61" dur="1" fill="hold">
                                          <p:stCondLst>
                                            <p:cond delay="0"/>
                                          </p:stCondLst>
                                        </p:cTn>
                                        <p:tgtEl>
                                          <p:spTgt spid="28"/>
                                        </p:tgtEl>
                                        <p:attrNameLst>
                                          <p:attrName>style.visibility</p:attrName>
                                        </p:attrNameLst>
                                      </p:cBhvr>
                                      <p:to>
                                        <p:strVal val="visible"/>
                                      </p:to>
                                    </p:set>
                                  </p:childTnLst>
                                </p:cTn>
                              </p:par>
                            </p:childTnLst>
                          </p:cTn>
                        </p:par>
                      </p:childTnLst>
                    </p:cTn>
                  </p:par>
                  <p:par>
                    <p:cTn id="62" fill="hold">
                      <p:stCondLst>
                        <p:cond delay="indefinite"/>
                      </p:stCondLst>
                      <p:childTnLst>
                        <p:par>
                          <p:cTn id="63" fill="hold">
                            <p:stCondLst>
                              <p:cond delay="0"/>
                            </p:stCondLst>
                            <p:childTnLst>
                              <p:par>
                                <p:cTn id="64" presetID="1" presetClass="entr" presetSubtype="0" fill="hold" nodeType="clickEffect">
                                  <p:stCondLst>
                                    <p:cond delay="0"/>
                                  </p:stCondLst>
                                  <p:childTnLst>
                                    <p:set>
                                      <p:cBhvr>
                                        <p:cTn id="65" dur="1" fill="hold">
                                          <p:stCondLst>
                                            <p:cond delay="0"/>
                                          </p:stCondLst>
                                        </p:cTn>
                                        <p:tgtEl>
                                          <p:spTgt spid="7">
                                            <p:txEl>
                                              <p:pRg st="3" end="3"/>
                                            </p:txEl>
                                          </p:spTgt>
                                        </p:tgtEl>
                                        <p:attrNameLst>
                                          <p:attrName>style.visibility</p:attrName>
                                        </p:attrNameLst>
                                      </p:cBhvr>
                                      <p:to>
                                        <p:strVal val="visible"/>
                                      </p:to>
                                    </p:set>
                                  </p:childTnLst>
                                </p:cTn>
                              </p:par>
                            </p:childTnLst>
                          </p:cTn>
                        </p:par>
                        <p:par>
                          <p:cTn id="66" fill="hold">
                            <p:stCondLst>
                              <p:cond delay="0"/>
                            </p:stCondLst>
                            <p:childTnLst>
                              <p:par>
                                <p:cTn id="67" presetID="1" presetClass="entr" presetSubtype="0" fill="hold" nodeType="afterEffect">
                                  <p:stCondLst>
                                    <p:cond delay="0"/>
                                  </p:stCondLst>
                                  <p:childTnLst>
                                    <p:set>
                                      <p:cBhvr>
                                        <p:cTn id="68" dur="1" fill="hold">
                                          <p:stCondLst>
                                            <p:cond delay="0"/>
                                          </p:stCondLst>
                                        </p:cTn>
                                        <p:tgtEl>
                                          <p:spTgt spid="30"/>
                                        </p:tgtEl>
                                        <p:attrNameLst>
                                          <p:attrName>style.visibility</p:attrName>
                                        </p:attrNameLst>
                                      </p:cBhvr>
                                      <p:to>
                                        <p:strVal val="visible"/>
                                      </p:to>
                                    </p:set>
                                  </p:childTnLst>
                                </p:cTn>
                              </p:par>
                            </p:childTnLst>
                          </p:cTn>
                        </p:par>
                        <p:par>
                          <p:cTn id="69" fill="hold">
                            <p:stCondLst>
                              <p:cond delay="0"/>
                            </p:stCondLst>
                            <p:childTnLst>
                              <p:par>
                                <p:cTn id="70" presetID="26" presetClass="emph" presetSubtype="0" fill="hold" nodeType="afterEffect">
                                  <p:stCondLst>
                                    <p:cond delay="0"/>
                                  </p:stCondLst>
                                  <p:childTnLst>
                                    <p:animEffect transition="out" filter="fade">
                                      <p:cBhvr>
                                        <p:cTn id="71" dur="500" tmFilter="0, 0; .2, .5; .8, .5; 1, 0"/>
                                        <p:tgtEl>
                                          <p:spTgt spid="30"/>
                                        </p:tgtEl>
                                      </p:cBhvr>
                                    </p:animEffect>
                                    <p:animScale>
                                      <p:cBhvr>
                                        <p:cTn id="72" dur="250" autoRev="1" fill="hold"/>
                                        <p:tgtEl>
                                          <p:spTgt spid="30"/>
                                        </p:tgtEl>
                                      </p:cBhvr>
                                      <p:by x="105000" y="105000"/>
                                    </p:animScale>
                                  </p:childTnLst>
                                </p:cTn>
                              </p:par>
                            </p:childTnLst>
                          </p:cTn>
                        </p:par>
                        <p:par>
                          <p:cTn id="73" fill="hold">
                            <p:stCondLst>
                              <p:cond delay="500"/>
                            </p:stCondLst>
                            <p:childTnLst>
                              <p:par>
                                <p:cTn id="74" presetID="26" presetClass="emph" presetSubtype="0" fill="hold" grpId="1" nodeType="afterEffect">
                                  <p:stCondLst>
                                    <p:cond delay="0"/>
                                  </p:stCondLst>
                                  <p:childTnLst>
                                    <p:animEffect transition="out" filter="fade">
                                      <p:cBhvr>
                                        <p:cTn id="75" dur="500" tmFilter="0, 0; .2, .5; .8, .5; 1, 0"/>
                                        <p:tgtEl>
                                          <p:spTgt spid="27"/>
                                        </p:tgtEl>
                                      </p:cBhvr>
                                    </p:animEffect>
                                    <p:animScale>
                                      <p:cBhvr>
                                        <p:cTn id="76" dur="250" autoRev="1" fill="hold"/>
                                        <p:tgtEl>
                                          <p:spTgt spid="27"/>
                                        </p:tgtEl>
                                      </p:cBhvr>
                                      <p:by x="105000" y="105000"/>
                                    </p:animScale>
                                  </p:childTnLst>
                                </p:cTn>
                              </p:par>
                            </p:childTnLst>
                          </p:cTn>
                        </p:par>
                        <p:par>
                          <p:cTn id="77" fill="hold">
                            <p:stCondLst>
                              <p:cond delay="1000"/>
                            </p:stCondLst>
                            <p:childTnLst>
                              <p:par>
                                <p:cTn id="78" presetID="1" presetClass="entr" presetSubtype="0" fill="hold" nodeType="afterEffect">
                                  <p:stCondLst>
                                    <p:cond delay="0"/>
                                  </p:stCondLst>
                                  <p:childTnLst>
                                    <p:set>
                                      <p:cBhvr>
                                        <p:cTn id="79"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build="p"/>
      <p:bldP spid="13" grpId="0" animBg="1"/>
      <p:bldP spid="14" grpId="0" animBg="1"/>
      <p:bldP spid="15" grpId="0" animBg="1"/>
      <p:bldP spid="16" grpId="0" animBg="1"/>
      <p:bldP spid="17" grpId="0" animBg="1"/>
      <p:bldP spid="18" grpId="0" animBg="1"/>
      <p:bldP spid="19" grpId="0"/>
      <p:bldP spid="20" grpId="0"/>
      <p:bldP spid="21" grpId="0" animBg="1"/>
      <p:bldP spid="22" grpId="0" animBg="1"/>
      <p:bldP spid="23" grpId="0" animBg="1"/>
      <p:bldP spid="24" grpId="0" animBg="1"/>
      <p:bldP spid="25" grpId="0"/>
      <p:bldP spid="26" grpId="0"/>
      <p:bldP spid="27" grpId="0" animBg="1"/>
      <p:bldP spid="27" grpId="1" animBg="1"/>
      <p:bldP spid="28" grpId="0" animBg="1"/>
      <p:bldP spid="29" grpId="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4875AA-3AF9-649C-E37E-29A286C3A75B}"/>
            </a:ext>
          </a:extLst>
        </p:cNvPr>
        <p:cNvGrpSpPr/>
        <p:nvPr/>
      </p:nvGrpSpPr>
      <p:grpSpPr>
        <a:xfrm>
          <a:off x="0" y="0"/>
          <a:ext cx="0" cy="0"/>
          <a:chOff x="0" y="0"/>
          <a:chExt cx="0" cy="0"/>
        </a:xfrm>
      </p:grpSpPr>
      <p:sp>
        <p:nvSpPr>
          <p:cNvPr id="42" name="Rectangle 4">
            <a:extLst>
              <a:ext uri="{FF2B5EF4-FFF2-40B4-BE49-F238E27FC236}">
                <a16:creationId xmlns:a16="http://schemas.microsoft.com/office/drawing/2014/main" id="{FD61CD92-BE0E-3858-20C4-8DEF9DCACE3C}"/>
              </a:ext>
            </a:extLst>
          </p:cNvPr>
          <p:cNvSpPr>
            <a:spLocks noChangeArrowheads="1"/>
          </p:cNvSpPr>
          <p:nvPr/>
        </p:nvSpPr>
        <p:spPr bwMode="auto">
          <a:xfrm>
            <a:off x="6384032" y="4567734"/>
            <a:ext cx="7620000" cy="2016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lvl="1" indent="-228600">
              <a:spcBef>
                <a:spcPts val="600"/>
              </a:spcBef>
              <a:buClr>
                <a:srgbClr val="B870B8"/>
              </a:buClr>
              <a:buSzPct val="75000"/>
              <a:buFont typeface="Wingdings" pitchFamily="2" charset="2"/>
              <a:buChar char="n"/>
            </a:pPr>
            <a:endParaRPr kumimoji="1" lang="zh-CN" altLang="en-US" sz="2400" dirty="0">
              <a:latin typeface="微软雅黑" pitchFamily="34" charset="-122"/>
              <a:ea typeface="微软雅黑" pitchFamily="34" charset="-122"/>
              <a:cs typeface="经典粗黑简" pitchFamily="49" charset="-122"/>
            </a:endParaRPr>
          </a:p>
        </p:txBody>
      </p:sp>
      <p:sp>
        <p:nvSpPr>
          <p:cNvPr id="12" name="Rectangle 3">
            <a:extLst>
              <a:ext uri="{FF2B5EF4-FFF2-40B4-BE49-F238E27FC236}">
                <a16:creationId xmlns:a16="http://schemas.microsoft.com/office/drawing/2014/main" id="{5C9258A8-E04F-DC39-AC02-B4C03C559F14}"/>
              </a:ext>
            </a:extLst>
          </p:cNvPr>
          <p:cNvSpPr txBox="1">
            <a:spLocks noChangeArrowheads="1"/>
          </p:cNvSpPr>
          <p:nvPr/>
        </p:nvSpPr>
        <p:spPr>
          <a:xfrm>
            <a:off x="1775520" y="2492896"/>
            <a:ext cx="9361040" cy="3240360"/>
          </a:xfrm>
          <a:prstGeom prst="rect">
            <a:avLst/>
          </a:prstGeom>
          <a:noFill/>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SzPct val="80000"/>
              <a:buFont typeface="Wingdings" pitchFamily="2" charset="2"/>
              <a:buChar char="q"/>
            </a:pPr>
            <a:r>
              <a:rPr kumimoji="1" lang="zh-CN" altLang="en-US" sz="2000" dirty="0">
                <a:latin typeface="微软雅黑" pitchFamily="34" charset="-122"/>
                <a:ea typeface="微软雅黑" pitchFamily="34" charset="-122"/>
                <a:cs typeface="经典粗黑简" pitchFamily="49" charset="-122"/>
              </a:rPr>
              <a:t>假设</a:t>
            </a:r>
            <a:r>
              <a:rPr kumimoji="1" lang="en-US" altLang="zh-CN" sz="2000" dirty="0">
                <a:latin typeface="微软雅黑" pitchFamily="34" charset="-122"/>
                <a:ea typeface="微软雅黑" pitchFamily="34" charset="-122"/>
                <a:cs typeface="经典粗黑简" pitchFamily="49" charset="-122"/>
              </a:rPr>
              <a:t>N=(V</a:t>
            </a:r>
            <a:r>
              <a:rPr kumimoji="1" lang="zh-CN" altLang="en-US" sz="2000" dirty="0">
                <a:latin typeface="微软雅黑" pitchFamily="34" charset="-122"/>
                <a:ea typeface="微软雅黑" pitchFamily="34" charset="-122"/>
                <a:cs typeface="经典粗黑简" pitchFamily="49" charset="-122"/>
              </a:rPr>
              <a:t>，</a:t>
            </a:r>
            <a:r>
              <a:rPr kumimoji="1" lang="en-US" altLang="zh-CN" sz="2000" dirty="0">
                <a:latin typeface="微软雅黑" pitchFamily="34" charset="-122"/>
                <a:ea typeface="微软雅黑" pitchFamily="34" charset="-122"/>
                <a:cs typeface="经典粗黑简" pitchFamily="49" charset="-122"/>
              </a:rPr>
              <a:t>E)</a:t>
            </a:r>
            <a:r>
              <a:rPr kumimoji="1" lang="zh-CN" altLang="en-US" sz="2000" dirty="0">
                <a:latin typeface="微软雅黑" pitchFamily="34" charset="-122"/>
                <a:ea typeface="微软雅黑" pitchFamily="34" charset="-122"/>
                <a:cs typeface="经典粗黑简" pitchFamily="49" charset="-122"/>
              </a:rPr>
              <a:t>是连通网，</a:t>
            </a:r>
            <a:r>
              <a:rPr kumimoji="1" lang="en-US" altLang="zh-CN" sz="2000" dirty="0">
                <a:latin typeface="微软雅黑" pitchFamily="34" charset="-122"/>
                <a:ea typeface="微软雅黑" pitchFamily="34" charset="-122"/>
                <a:cs typeface="经典粗黑简" pitchFamily="49" charset="-122"/>
              </a:rPr>
              <a:t>TE</a:t>
            </a:r>
            <a:r>
              <a:rPr kumimoji="1" lang="zh-CN" altLang="en-US" sz="2000" dirty="0">
                <a:latin typeface="微软雅黑" pitchFamily="34" charset="-122"/>
                <a:ea typeface="微软雅黑" pitchFamily="34" charset="-122"/>
                <a:cs typeface="经典粗黑简" pitchFamily="49" charset="-122"/>
              </a:rPr>
              <a:t>是</a:t>
            </a:r>
            <a:r>
              <a:rPr kumimoji="1" lang="en-US" altLang="zh-CN" sz="2000" dirty="0">
                <a:latin typeface="微软雅黑" pitchFamily="34" charset="-122"/>
                <a:ea typeface="微软雅黑" pitchFamily="34" charset="-122"/>
                <a:cs typeface="经典粗黑简" pitchFamily="49" charset="-122"/>
              </a:rPr>
              <a:t>N</a:t>
            </a:r>
            <a:r>
              <a:rPr kumimoji="1" lang="zh-CN" altLang="en-US" sz="2000" dirty="0">
                <a:latin typeface="微软雅黑" pitchFamily="34" charset="-122"/>
                <a:ea typeface="微软雅黑" pitchFamily="34" charset="-122"/>
                <a:cs typeface="经典粗黑简" pitchFamily="49" charset="-122"/>
              </a:rPr>
              <a:t>上最小生成树中边的集合。</a:t>
            </a:r>
          </a:p>
          <a:p>
            <a:pPr>
              <a:buSzPct val="80000"/>
              <a:buFont typeface="Wingdings" pitchFamily="2" charset="2"/>
              <a:buChar char="q"/>
            </a:pPr>
            <a:r>
              <a:rPr kumimoji="1" lang="zh-CN" altLang="en-US" sz="2000" dirty="0">
                <a:latin typeface="微软雅黑" pitchFamily="34" charset="-122"/>
                <a:ea typeface="微软雅黑" pitchFamily="34" charset="-122"/>
                <a:cs typeface="经典粗黑简" pitchFamily="49" charset="-122"/>
              </a:rPr>
              <a:t>算法从</a:t>
            </a:r>
            <a:r>
              <a:rPr kumimoji="1" lang="en-US" altLang="zh-CN" sz="2000" dirty="0">
                <a:latin typeface="微软雅黑" pitchFamily="34" charset="-122"/>
                <a:ea typeface="微软雅黑" pitchFamily="34" charset="-122"/>
                <a:cs typeface="经典粗黑简" pitchFamily="49" charset="-122"/>
              </a:rPr>
              <a:t>U={u</a:t>
            </a:r>
            <a:r>
              <a:rPr kumimoji="1" lang="en-US" altLang="zh-CN" sz="2000" baseline="-25000" dirty="0">
                <a:latin typeface="微软雅黑" pitchFamily="34" charset="-122"/>
                <a:ea typeface="微软雅黑" pitchFamily="34" charset="-122"/>
                <a:cs typeface="经典粗黑简" pitchFamily="49" charset="-122"/>
              </a:rPr>
              <a:t>0</a:t>
            </a:r>
            <a:r>
              <a:rPr kumimoji="1" lang="en-US" altLang="zh-CN" sz="2000" dirty="0">
                <a:latin typeface="微软雅黑" pitchFamily="34" charset="-122"/>
                <a:ea typeface="微软雅黑" pitchFamily="34" charset="-122"/>
                <a:cs typeface="经典粗黑简" pitchFamily="49" charset="-122"/>
              </a:rPr>
              <a:t>}(u</a:t>
            </a:r>
            <a:r>
              <a:rPr kumimoji="1" lang="en-US" altLang="zh-CN" sz="2000" baseline="-25000" dirty="0">
                <a:latin typeface="微软雅黑" pitchFamily="34" charset="-122"/>
                <a:ea typeface="微软雅黑" pitchFamily="34" charset="-122"/>
                <a:cs typeface="经典粗黑简" pitchFamily="49" charset="-122"/>
              </a:rPr>
              <a:t>0</a:t>
            </a:r>
            <a:r>
              <a:rPr kumimoji="1" lang="en-US" altLang="zh-CN" sz="2000" dirty="0">
                <a:latin typeface="微软雅黑" pitchFamily="34" charset="-122"/>
                <a:ea typeface="微软雅黑" pitchFamily="34" charset="-122"/>
                <a:cs typeface="经典粗黑简" pitchFamily="49" charset="-122"/>
              </a:rPr>
              <a:t>∈V)</a:t>
            </a:r>
            <a:r>
              <a:rPr kumimoji="1" lang="zh-CN" altLang="en-US" sz="2000" dirty="0">
                <a:latin typeface="微软雅黑" pitchFamily="34" charset="-122"/>
                <a:ea typeface="微软雅黑" pitchFamily="34" charset="-122"/>
                <a:cs typeface="经典粗黑简" pitchFamily="49" charset="-122"/>
              </a:rPr>
              <a:t>，</a:t>
            </a:r>
            <a:r>
              <a:rPr kumimoji="1" lang="en-US" altLang="zh-CN" sz="2000" dirty="0">
                <a:latin typeface="微软雅黑" pitchFamily="34" charset="-122"/>
                <a:ea typeface="微软雅黑" pitchFamily="34" charset="-122"/>
                <a:cs typeface="经典粗黑简" pitchFamily="49" charset="-122"/>
              </a:rPr>
              <a:t>TE={}</a:t>
            </a:r>
            <a:r>
              <a:rPr kumimoji="1" lang="zh-CN" altLang="en-US" sz="2000" dirty="0">
                <a:latin typeface="微软雅黑" pitchFamily="34" charset="-122"/>
                <a:ea typeface="微软雅黑" pitchFamily="34" charset="-122"/>
                <a:cs typeface="经典粗黑简" pitchFamily="49" charset="-122"/>
              </a:rPr>
              <a:t>开始，重复执行下述操作：</a:t>
            </a:r>
          </a:p>
          <a:p>
            <a:pPr lvl="1">
              <a:buSzPct val="80000"/>
              <a:buFont typeface="Wingdings" pitchFamily="2" charset="2"/>
              <a:buChar char="F"/>
            </a:pPr>
            <a:r>
              <a:rPr kumimoji="1" lang="zh-CN" altLang="en-US" sz="2000" dirty="0">
                <a:latin typeface="微软雅黑" pitchFamily="34" charset="-122"/>
                <a:ea typeface="微软雅黑" pitchFamily="34" charset="-122"/>
                <a:cs typeface="经典粗黑简" pitchFamily="49" charset="-122"/>
              </a:rPr>
              <a:t>在所有</a:t>
            </a:r>
            <a:r>
              <a:rPr kumimoji="1" lang="en-US" altLang="zh-CN" sz="2000" dirty="0" err="1">
                <a:latin typeface="微软雅黑" pitchFamily="34" charset="-122"/>
                <a:ea typeface="微软雅黑" pitchFamily="34" charset="-122"/>
                <a:cs typeface="经典粗黑简" pitchFamily="49" charset="-122"/>
              </a:rPr>
              <a:t>u∈U</a:t>
            </a:r>
            <a:r>
              <a:rPr kumimoji="1" lang="zh-CN" altLang="en-US" sz="2000" dirty="0">
                <a:latin typeface="微软雅黑" pitchFamily="34" charset="-122"/>
                <a:ea typeface="微软雅黑" pitchFamily="34" charset="-122"/>
                <a:cs typeface="经典粗黑简" pitchFamily="49" charset="-122"/>
              </a:rPr>
              <a:t>，</a:t>
            </a:r>
            <a:r>
              <a:rPr kumimoji="1" lang="en-US" altLang="zh-CN" sz="2000" dirty="0" err="1">
                <a:latin typeface="微软雅黑" pitchFamily="34" charset="-122"/>
                <a:ea typeface="微软雅黑" pitchFamily="34" charset="-122"/>
                <a:cs typeface="经典粗黑简" pitchFamily="49" charset="-122"/>
              </a:rPr>
              <a:t>v∈V-U</a:t>
            </a:r>
            <a:r>
              <a:rPr kumimoji="1" lang="zh-CN" altLang="en-US" sz="2000" dirty="0">
                <a:latin typeface="微软雅黑" pitchFamily="34" charset="-122"/>
                <a:ea typeface="微软雅黑" pitchFamily="34" charset="-122"/>
                <a:cs typeface="经典粗黑简" pitchFamily="49" charset="-122"/>
              </a:rPr>
              <a:t>的边</a:t>
            </a:r>
            <a:r>
              <a:rPr kumimoji="1" lang="en-US" altLang="zh-CN" sz="2000" dirty="0">
                <a:latin typeface="微软雅黑" pitchFamily="34" charset="-122"/>
                <a:ea typeface="微软雅黑" pitchFamily="34" charset="-122"/>
                <a:cs typeface="经典粗黑简" pitchFamily="49" charset="-122"/>
              </a:rPr>
              <a:t>(u</a:t>
            </a:r>
            <a:r>
              <a:rPr kumimoji="1" lang="zh-CN" altLang="en-US" sz="2000" dirty="0">
                <a:latin typeface="微软雅黑" pitchFamily="34" charset="-122"/>
                <a:ea typeface="微软雅黑" pitchFamily="34" charset="-122"/>
                <a:cs typeface="经典粗黑简" pitchFamily="49" charset="-122"/>
              </a:rPr>
              <a:t>，</a:t>
            </a:r>
            <a:r>
              <a:rPr kumimoji="1" lang="en-US" altLang="zh-CN" sz="2000" dirty="0">
                <a:latin typeface="微软雅黑" pitchFamily="34" charset="-122"/>
                <a:ea typeface="微软雅黑" pitchFamily="34" charset="-122"/>
                <a:cs typeface="经典粗黑简" pitchFamily="49" charset="-122"/>
              </a:rPr>
              <a:t>v)</a:t>
            </a:r>
            <a:r>
              <a:rPr kumimoji="1" lang="zh-CN" altLang="en-US" sz="2000" dirty="0">
                <a:latin typeface="微软雅黑" pitchFamily="34" charset="-122"/>
                <a:ea typeface="微软雅黑" pitchFamily="34" charset="-122"/>
                <a:cs typeface="经典粗黑简" pitchFamily="49" charset="-122"/>
              </a:rPr>
              <a:t>中找一条代价最小的边</a:t>
            </a:r>
            <a:r>
              <a:rPr kumimoji="1" lang="en-US" altLang="zh-CN" sz="2000" dirty="0">
                <a:latin typeface="微软雅黑" pitchFamily="34" charset="-122"/>
                <a:ea typeface="微软雅黑" pitchFamily="34" charset="-122"/>
                <a:cs typeface="经典粗黑简" pitchFamily="49" charset="-122"/>
              </a:rPr>
              <a:t>(u</a:t>
            </a:r>
            <a:r>
              <a:rPr kumimoji="1" lang="en-US" altLang="zh-CN" sz="2000" baseline="-25000" dirty="0">
                <a:latin typeface="微软雅黑" pitchFamily="34" charset="-122"/>
                <a:ea typeface="微软雅黑" pitchFamily="34" charset="-122"/>
                <a:cs typeface="经典粗黑简" pitchFamily="49" charset="-122"/>
              </a:rPr>
              <a:t>0</a:t>
            </a:r>
            <a:r>
              <a:rPr kumimoji="1" lang="en-US" altLang="zh-CN" sz="2000" dirty="0">
                <a:latin typeface="微软雅黑" pitchFamily="34" charset="-122"/>
                <a:ea typeface="微软雅黑" pitchFamily="34" charset="-122"/>
                <a:cs typeface="经典粗黑简" pitchFamily="49" charset="-122"/>
              </a:rPr>
              <a:t> ,v</a:t>
            </a:r>
            <a:r>
              <a:rPr kumimoji="1" lang="en-US" altLang="zh-CN" sz="2000" baseline="-25000" dirty="0">
                <a:latin typeface="微软雅黑" pitchFamily="34" charset="-122"/>
                <a:ea typeface="微软雅黑" pitchFamily="34" charset="-122"/>
                <a:cs typeface="经典粗黑简" pitchFamily="49" charset="-122"/>
              </a:rPr>
              <a:t>0</a:t>
            </a:r>
            <a:r>
              <a:rPr kumimoji="1" lang="en-US" altLang="zh-CN" sz="2000" dirty="0">
                <a:latin typeface="微软雅黑" pitchFamily="34" charset="-122"/>
                <a:ea typeface="微软雅黑" pitchFamily="34" charset="-122"/>
                <a:cs typeface="经典粗黑简" pitchFamily="49" charset="-122"/>
              </a:rPr>
              <a:t>),</a:t>
            </a:r>
            <a:r>
              <a:rPr kumimoji="1" lang="zh-CN" altLang="en-US" sz="2000" dirty="0">
                <a:latin typeface="微软雅黑" pitchFamily="34" charset="-122"/>
                <a:ea typeface="微软雅黑" pitchFamily="34" charset="-122"/>
                <a:cs typeface="经典粗黑简" pitchFamily="49" charset="-122"/>
              </a:rPr>
              <a:t>将其并入集合</a:t>
            </a:r>
            <a:r>
              <a:rPr kumimoji="1" lang="en-US" altLang="zh-CN" sz="2000" dirty="0">
                <a:latin typeface="微软雅黑" pitchFamily="34" charset="-122"/>
                <a:ea typeface="微软雅黑" pitchFamily="34" charset="-122"/>
                <a:cs typeface="经典粗黑简" pitchFamily="49" charset="-122"/>
              </a:rPr>
              <a:t>TE</a:t>
            </a:r>
            <a:r>
              <a:rPr kumimoji="1" lang="zh-CN" altLang="en-US" sz="2000" dirty="0">
                <a:latin typeface="微软雅黑" pitchFamily="34" charset="-122"/>
                <a:ea typeface="微软雅黑" pitchFamily="34" charset="-122"/>
                <a:cs typeface="经典粗黑简" pitchFamily="49" charset="-122"/>
              </a:rPr>
              <a:t>，同时将</a:t>
            </a:r>
            <a:r>
              <a:rPr kumimoji="1" lang="en-US" altLang="zh-CN" sz="2000" dirty="0">
                <a:latin typeface="微软雅黑" pitchFamily="34" charset="-122"/>
                <a:ea typeface="微软雅黑" pitchFamily="34" charset="-122"/>
                <a:cs typeface="经典粗黑简" pitchFamily="49" charset="-122"/>
              </a:rPr>
              <a:t>v</a:t>
            </a:r>
            <a:r>
              <a:rPr kumimoji="1" lang="en-US" altLang="zh-CN" sz="2000" baseline="-25000" dirty="0">
                <a:latin typeface="微软雅黑" pitchFamily="34" charset="-122"/>
                <a:ea typeface="微软雅黑" pitchFamily="34" charset="-122"/>
                <a:cs typeface="经典粗黑简" pitchFamily="49" charset="-122"/>
              </a:rPr>
              <a:t>0</a:t>
            </a:r>
            <a:r>
              <a:rPr kumimoji="1" lang="zh-CN" altLang="en-US" sz="2000" dirty="0">
                <a:latin typeface="微软雅黑" pitchFamily="34" charset="-122"/>
                <a:ea typeface="微软雅黑" pitchFamily="34" charset="-122"/>
                <a:cs typeface="经典粗黑简" pitchFamily="49" charset="-122"/>
              </a:rPr>
              <a:t>并入</a:t>
            </a:r>
            <a:r>
              <a:rPr kumimoji="1" lang="en-US" altLang="zh-CN" sz="2000" dirty="0">
                <a:latin typeface="微软雅黑" pitchFamily="34" charset="-122"/>
                <a:ea typeface="微软雅黑" pitchFamily="34" charset="-122"/>
                <a:cs typeface="经典粗黑简" pitchFamily="49" charset="-122"/>
              </a:rPr>
              <a:t>U</a:t>
            </a:r>
            <a:r>
              <a:rPr kumimoji="1" lang="zh-CN" altLang="en-US" sz="2000" dirty="0">
                <a:latin typeface="微软雅黑" pitchFamily="34" charset="-122"/>
                <a:ea typeface="微软雅黑" pitchFamily="34" charset="-122"/>
                <a:cs typeface="经典粗黑简" pitchFamily="49" charset="-122"/>
              </a:rPr>
              <a:t>集合。</a:t>
            </a:r>
          </a:p>
          <a:p>
            <a:pPr lvl="1">
              <a:buSzPct val="80000"/>
              <a:buFont typeface="Wingdings" pitchFamily="2" charset="2"/>
              <a:buChar char="F"/>
            </a:pPr>
            <a:r>
              <a:rPr kumimoji="1" lang="zh-CN" altLang="en-US" sz="2000" dirty="0">
                <a:latin typeface="微软雅黑" pitchFamily="34" charset="-122"/>
                <a:ea typeface="微软雅黑" pitchFamily="34" charset="-122"/>
                <a:cs typeface="经典粗黑简" pitchFamily="49" charset="-122"/>
              </a:rPr>
              <a:t>当</a:t>
            </a:r>
            <a:r>
              <a:rPr kumimoji="1" lang="en-US" altLang="zh-CN" sz="2000" dirty="0">
                <a:latin typeface="微软雅黑" pitchFamily="34" charset="-122"/>
                <a:ea typeface="微软雅黑" pitchFamily="34" charset="-122"/>
                <a:cs typeface="经典粗黑简" pitchFamily="49" charset="-122"/>
              </a:rPr>
              <a:t>U=V</a:t>
            </a:r>
            <a:r>
              <a:rPr kumimoji="1" lang="zh-CN" altLang="en-US" sz="2000" dirty="0">
                <a:latin typeface="微软雅黑" pitchFamily="34" charset="-122"/>
                <a:ea typeface="微软雅黑" pitchFamily="34" charset="-122"/>
                <a:cs typeface="经典粗黑简" pitchFamily="49" charset="-122"/>
              </a:rPr>
              <a:t>则结束，此时</a:t>
            </a:r>
            <a:r>
              <a:rPr kumimoji="1" lang="en-US" altLang="zh-CN" sz="2000" dirty="0">
                <a:latin typeface="微软雅黑" pitchFamily="34" charset="-122"/>
                <a:ea typeface="微软雅黑" pitchFamily="34" charset="-122"/>
                <a:cs typeface="经典粗黑简" pitchFamily="49" charset="-122"/>
              </a:rPr>
              <a:t>TE</a:t>
            </a:r>
            <a:r>
              <a:rPr kumimoji="1" lang="zh-CN" altLang="en-US" sz="2000" dirty="0">
                <a:latin typeface="微软雅黑" pitchFamily="34" charset="-122"/>
                <a:ea typeface="微软雅黑" pitchFamily="34" charset="-122"/>
                <a:cs typeface="经典粗黑简" pitchFamily="49" charset="-122"/>
              </a:rPr>
              <a:t>中必有</a:t>
            </a:r>
            <a:r>
              <a:rPr kumimoji="1" lang="en-US" altLang="zh-CN" sz="2000" dirty="0">
                <a:latin typeface="微软雅黑" pitchFamily="34" charset="-122"/>
                <a:ea typeface="微软雅黑" pitchFamily="34" charset="-122"/>
                <a:cs typeface="经典粗黑简" pitchFamily="49" charset="-122"/>
              </a:rPr>
              <a:t>n-1</a:t>
            </a:r>
            <a:r>
              <a:rPr kumimoji="1" lang="zh-CN" altLang="en-US" sz="2000" dirty="0">
                <a:latin typeface="微软雅黑" pitchFamily="34" charset="-122"/>
                <a:ea typeface="微软雅黑" pitchFamily="34" charset="-122"/>
                <a:cs typeface="经典粗黑简" pitchFamily="49" charset="-122"/>
              </a:rPr>
              <a:t>条边，则</a:t>
            </a:r>
            <a:r>
              <a:rPr kumimoji="1" lang="en-US" altLang="zh-CN" sz="2000" dirty="0">
                <a:latin typeface="微软雅黑" pitchFamily="34" charset="-122"/>
                <a:ea typeface="微软雅黑" pitchFamily="34" charset="-122"/>
                <a:cs typeface="经典粗黑简" pitchFamily="49" charset="-122"/>
              </a:rPr>
              <a:t>T=(V</a:t>
            </a:r>
            <a:r>
              <a:rPr kumimoji="1" lang="zh-CN" altLang="en-US" sz="2000" dirty="0">
                <a:latin typeface="微软雅黑" pitchFamily="34" charset="-122"/>
                <a:ea typeface="微软雅黑" pitchFamily="34" charset="-122"/>
                <a:cs typeface="经典粗黑简" pitchFamily="49" charset="-122"/>
              </a:rPr>
              <a:t>，</a:t>
            </a:r>
            <a:r>
              <a:rPr kumimoji="1" lang="en-US" altLang="zh-CN" sz="2000" dirty="0">
                <a:latin typeface="微软雅黑" pitchFamily="34" charset="-122"/>
                <a:ea typeface="微软雅黑" pitchFamily="34" charset="-122"/>
                <a:cs typeface="经典粗黑简" pitchFamily="49" charset="-122"/>
              </a:rPr>
              <a:t>{TE})</a:t>
            </a:r>
            <a:r>
              <a:rPr kumimoji="1" lang="zh-CN" altLang="en-US" sz="2000" dirty="0">
                <a:latin typeface="微软雅黑" pitchFamily="34" charset="-122"/>
                <a:ea typeface="微软雅黑" pitchFamily="34" charset="-122"/>
                <a:cs typeface="经典粗黑简" pitchFamily="49" charset="-122"/>
              </a:rPr>
              <a:t>为</a:t>
            </a:r>
            <a:r>
              <a:rPr kumimoji="1" lang="en-US" altLang="zh-CN" sz="2000" dirty="0">
                <a:latin typeface="微软雅黑" pitchFamily="34" charset="-122"/>
                <a:ea typeface="微软雅黑" pitchFamily="34" charset="-122"/>
                <a:cs typeface="经典粗黑简" pitchFamily="49" charset="-122"/>
              </a:rPr>
              <a:t>N</a:t>
            </a:r>
            <a:r>
              <a:rPr kumimoji="1" lang="zh-CN" altLang="en-US" sz="2000" dirty="0">
                <a:latin typeface="微软雅黑" pitchFamily="34" charset="-122"/>
                <a:ea typeface="微软雅黑" pitchFamily="34" charset="-122"/>
                <a:cs typeface="经典粗黑简" pitchFamily="49" charset="-122"/>
              </a:rPr>
              <a:t>的最小生成树。</a:t>
            </a:r>
          </a:p>
          <a:p>
            <a:pPr>
              <a:buSzPct val="80000"/>
              <a:buFont typeface="Wingdings" pitchFamily="2" charset="2"/>
              <a:buChar char="q"/>
            </a:pPr>
            <a:r>
              <a:rPr kumimoji="1" lang="zh-CN" altLang="en-US" sz="2000" dirty="0">
                <a:latin typeface="微软雅黑" pitchFamily="34" charset="-122"/>
                <a:ea typeface="微软雅黑" pitchFamily="34" charset="-122"/>
                <a:cs typeface="经典粗黑简" pitchFamily="49" charset="-122"/>
              </a:rPr>
              <a:t>普里姆算法构造最小生成树的过程是从一个顶点</a:t>
            </a:r>
            <a:r>
              <a:rPr kumimoji="1" lang="en-US" altLang="zh-CN" sz="2000" dirty="0">
                <a:latin typeface="微软雅黑" pitchFamily="34" charset="-122"/>
                <a:ea typeface="微软雅黑" pitchFamily="34" charset="-122"/>
                <a:cs typeface="经典粗黑简" pitchFamily="49" charset="-122"/>
              </a:rPr>
              <a:t>U={u</a:t>
            </a:r>
            <a:r>
              <a:rPr kumimoji="1" lang="en-US" altLang="zh-CN" sz="2000" baseline="-25000" dirty="0">
                <a:latin typeface="微软雅黑" pitchFamily="34" charset="-122"/>
                <a:ea typeface="微软雅黑" pitchFamily="34" charset="-122"/>
                <a:cs typeface="经典粗黑简" pitchFamily="49" charset="-122"/>
              </a:rPr>
              <a:t>0</a:t>
            </a:r>
            <a:r>
              <a:rPr kumimoji="1" lang="en-US" altLang="zh-CN" sz="2000" dirty="0">
                <a:latin typeface="微软雅黑" pitchFamily="34" charset="-122"/>
                <a:ea typeface="微软雅黑" pitchFamily="34" charset="-122"/>
                <a:cs typeface="经典粗黑简" pitchFamily="49" charset="-122"/>
              </a:rPr>
              <a:t>}</a:t>
            </a:r>
            <a:r>
              <a:rPr kumimoji="1" lang="zh-CN" altLang="en-US" sz="2000" dirty="0">
                <a:latin typeface="微软雅黑" pitchFamily="34" charset="-122"/>
                <a:ea typeface="微软雅黑" pitchFamily="34" charset="-122"/>
                <a:cs typeface="经典粗黑简" pitchFamily="49" charset="-122"/>
              </a:rPr>
              <a:t>作初态，不断寻找与</a:t>
            </a:r>
            <a:r>
              <a:rPr kumimoji="1" lang="en-US" altLang="zh-CN" sz="2000" dirty="0">
                <a:latin typeface="微软雅黑" pitchFamily="34" charset="-122"/>
                <a:ea typeface="微软雅黑" pitchFamily="34" charset="-122"/>
                <a:cs typeface="经典粗黑简" pitchFamily="49" charset="-122"/>
              </a:rPr>
              <a:t>U</a:t>
            </a:r>
            <a:r>
              <a:rPr kumimoji="1" lang="zh-CN" altLang="en-US" sz="2000" dirty="0">
                <a:latin typeface="微软雅黑" pitchFamily="34" charset="-122"/>
                <a:ea typeface="微软雅黑" pitchFamily="34" charset="-122"/>
                <a:cs typeface="经典粗黑简" pitchFamily="49" charset="-122"/>
              </a:rPr>
              <a:t>中顶点相邻且代价最小的边的另一个顶点，扩充到</a:t>
            </a:r>
            <a:r>
              <a:rPr kumimoji="1" lang="en-US" altLang="zh-CN" sz="2000" dirty="0">
                <a:latin typeface="微软雅黑" pitchFamily="34" charset="-122"/>
                <a:ea typeface="微软雅黑" pitchFamily="34" charset="-122"/>
                <a:cs typeface="经典粗黑简" pitchFamily="49" charset="-122"/>
              </a:rPr>
              <a:t>U</a:t>
            </a:r>
            <a:r>
              <a:rPr kumimoji="1" lang="zh-CN" altLang="en-US" sz="2000" dirty="0">
                <a:latin typeface="微软雅黑" pitchFamily="34" charset="-122"/>
                <a:ea typeface="微软雅黑" pitchFamily="34" charset="-122"/>
                <a:cs typeface="经典粗黑简" pitchFamily="49" charset="-122"/>
              </a:rPr>
              <a:t>集合直至</a:t>
            </a:r>
            <a:r>
              <a:rPr kumimoji="1" lang="en-US" altLang="zh-CN" sz="2000" dirty="0">
                <a:latin typeface="微软雅黑" pitchFamily="34" charset="-122"/>
                <a:ea typeface="微软雅黑" pitchFamily="34" charset="-122"/>
                <a:cs typeface="经典粗黑简" pitchFamily="49" charset="-122"/>
              </a:rPr>
              <a:t>U=V</a:t>
            </a:r>
            <a:r>
              <a:rPr kumimoji="1" lang="zh-CN" altLang="en-US" sz="2000" dirty="0">
                <a:latin typeface="微软雅黑" pitchFamily="34" charset="-122"/>
                <a:ea typeface="微软雅黑" pitchFamily="34" charset="-122"/>
                <a:cs typeface="经典粗黑简" pitchFamily="49" charset="-122"/>
              </a:rPr>
              <a:t>为止。</a:t>
            </a:r>
          </a:p>
        </p:txBody>
      </p:sp>
      <p:sp>
        <p:nvSpPr>
          <p:cNvPr id="2" name="Rectangle 2">
            <a:extLst>
              <a:ext uri="{FF2B5EF4-FFF2-40B4-BE49-F238E27FC236}">
                <a16:creationId xmlns:a16="http://schemas.microsoft.com/office/drawing/2014/main" id="{80B31B52-57EA-6D6E-1C44-135BFF755699}"/>
              </a:ext>
            </a:extLst>
          </p:cNvPr>
          <p:cNvSpPr txBox="1">
            <a:spLocks noChangeArrowheads="1"/>
          </p:cNvSpPr>
          <p:nvPr/>
        </p:nvSpPr>
        <p:spPr>
          <a:xfrm>
            <a:off x="474772" y="1230902"/>
            <a:ext cx="4469100"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8.4.3 </a:t>
            </a:r>
            <a:r>
              <a:rPr kumimoji="1" lang="zh-CN" altLang="en-US" dirty="0">
                <a:latin typeface="微软雅黑" pitchFamily="34" charset="-122"/>
                <a:ea typeface="微软雅黑" pitchFamily="34" charset="-122"/>
              </a:rPr>
              <a:t>普里姆</a:t>
            </a:r>
            <a:r>
              <a:rPr kumimoji="1" lang="en-US" altLang="zh-CN" dirty="0">
                <a:latin typeface="微软雅黑" pitchFamily="34" charset="-122"/>
                <a:ea typeface="微软雅黑" pitchFamily="34" charset="-122"/>
              </a:rPr>
              <a:t>(Prim)</a:t>
            </a:r>
            <a:r>
              <a:rPr kumimoji="1" lang="zh-CN" altLang="en-US" dirty="0">
                <a:latin typeface="微软雅黑" pitchFamily="34" charset="-122"/>
                <a:ea typeface="微软雅黑" pitchFamily="34" charset="-122"/>
              </a:rPr>
              <a:t>算法</a:t>
            </a:r>
          </a:p>
        </p:txBody>
      </p:sp>
      <p:cxnSp>
        <p:nvCxnSpPr>
          <p:cNvPr id="3" name="直接连接符 2">
            <a:extLst>
              <a:ext uri="{FF2B5EF4-FFF2-40B4-BE49-F238E27FC236}">
                <a16:creationId xmlns:a16="http://schemas.microsoft.com/office/drawing/2014/main" id="{9E78AEDB-8CC4-207A-C349-090601049F9B}"/>
              </a:ext>
            </a:extLst>
          </p:cNvPr>
          <p:cNvCxnSpPr>
            <a:cxnSpLocks/>
          </p:cNvCxnSpPr>
          <p:nvPr/>
        </p:nvCxnSpPr>
        <p:spPr>
          <a:xfrm>
            <a:off x="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4" name="矩形 3">
            <a:extLst>
              <a:ext uri="{FF2B5EF4-FFF2-40B4-BE49-F238E27FC236}">
                <a16:creationId xmlns:a16="http://schemas.microsoft.com/office/drawing/2014/main" id="{21BBB928-4179-CBE4-238C-C8A14237CF14}"/>
              </a:ext>
            </a:extLst>
          </p:cNvPr>
          <p:cNvSpPr/>
          <p:nvPr/>
        </p:nvSpPr>
        <p:spPr>
          <a:xfrm>
            <a:off x="3394075" y="399838"/>
            <a:ext cx="4617860"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8.4 </a:t>
            </a:r>
            <a:r>
              <a:rPr lang="zh-CN" altLang="en-US" sz="3000" b="1" dirty="0">
                <a:latin typeface="黑体" pitchFamily="49" charset="-122"/>
                <a:ea typeface="黑体" pitchFamily="49" charset="-122"/>
                <a:cs typeface="经典粗黑简" pitchFamily="49" charset="-122"/>
              </a:rPr>
              <a:t>生成树和最小生成树</a:t>
            </a:r>
          </a:p>
        </p:txBody>
      </p:sp>
    </p:spTree>
    <p:extLst>
      <p:ext uri="{BB962C8B-B14F-4D97-AF65-F5344CB8AC3E}">
        <p14:creationId xmlns:p14="http://schemas.microsoft.com/office/powerpoint/2010/main" val="3766615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nodePh="1">
                                  <p:stCondLst>
                                    <p:cond delay="0"/>
                                  </p:stCondLst>
                                  <p:endCondLst>
                                    <p:cond evt="begin" delay="0">
                                      <p:tn val="5"/>
                                    </p:cond>
                                  </p:endCondLst>
                                  <p:childTnLst>
                                    <p:set>
                                      <p:cBhvr>
                                        <p:cTn id="6" dur="1" fill="hold">
                                          <p:stCondLst>
                                            <p:cond delay="0"/>
                                          </p:stCondLst>
                                        </p:cTn>
                                        <p:tgtEl>
                                          <p:spTgt spid="4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build="p"/>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4669F3-8FBB-961A-3820-FF3CBF4C7AFA}"/>
            </a:ext>
          </a:extLst>
        </p:cNvPr>
        <p:cNvGrpSpPr/>
        <p:nvPr/>
      </p:nvGrpSpPr>
      <p:grpSpPr>
        <a:xfrm>
          <a:off x="0" y="0"/>
          <a:ext cx="0" cy="0"/>
          <a:chOff x="0" y="0"/>
          <a:chExt cx="0" cy="0"/>
        </a:xfrm>
      </p:grpSpPr>
      <p:sp>
        <p:nvSpPr>
          <p:cNvPr id="42" name="Rectangle 4">
            <a:extLst>
              <a:ext uri="{FF2B5EF4-FFF2-40B4-BE49-F238E27FC236}">
                <a16:creationId xmlns:a16="http://schemas.microsoft.com/office/drawing/2014/main" id="{3DA5497A-C0A8-8663-83A6-9E8BAF6A84D5}"/>
              </a:ext>
            </a:extLst>
          </p:cNvPr>
          <p:cNvSpPr>
            <a:spLocks noChangeArrowheads="1"/>
          </p:cNvSpPr>
          <p:nvPr/>
        </p:nvSpPr>
        <p:spPr bwMode="auto">
          <a:xfrm>
            <a:off x="6384032" y="4567734"/>
            <a:ext cx="7620000" cy="2016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lvl="1" indent="-228600">
              <a:spcBef>
                <a:spcPts val="600"/>
              </a:spcBef>
              <a:buClr>
                <a:srgbClr val="B870B8"/>
              </a:buClr>
              <a:buSzPct val="75000"/>
              <a:buFont typeface="Wingdings" pitchFamily="2" charset="2"/>
              <a:buChar char="n"/>
            </a:pPr>
            <a:endParaRPr kumimoji="1" lang="zh-CN" altLang="en-US" sz="2400" dirty="0">
              <a:latin typeface="微软雅黑" pitchFamily="34" charset="-122"/>
              <a:ea typeface="微软雅黑" pitchFamily="34" charset="-122"/>
              <a:cs typeface="经典粗黑简" pitchFamily="49" charset="-122"/>
            </a:endParaRPr>
          </a:p>
        </p:txBody>
      </p:sp>
      <p:sp>
        <p:nvSpPr>
          <p:cNvPr id="2" name="Rectangle 2">
            <a:extLst>
              <a:ext uri="{FF2B5EF4-FFF2-40B4-BE49-F238E27FC236}">
                <a16:creationId xmlns:a16="http://schemas.microsoft.com/office/drawing/2014/main" id="{08E54EB2-23C7-EBF8-D72E-EA22EE17ADF8}"/>
              </a:ext>
            </a:extLst>
          </p:cNvPr>
          <p:cNvSpPr txBox="1">
            <a:spLocks noChangeArrowheads="1"/>
          </p:cNvSpPr>
          <p:nvPr/>
        </p:nvSpPr>
        <p:spPr>
          <a:xfrm>
            <a:off x="474772" y="1230902"/>
            <a:ext cx="4469100"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8.4.3 </a:t>
            </a:r>
            <a:r>
              <a:rPr kumimoji="1" lang="zh-CN" altLang="en-US" dirty="0">
                <a:latin typeface="微软雅黑" pitchFamily="34" charset="-122"/>
                <a:ea typeface="微软雅黑" pitchFamily="34" charset="-122"/>
              </a:rPr>
              <a:t>普里姆</a:t>
            </a:r>
            <a:r>
              <a:rPr kumimoji="1" lang="en-US" altLang="zh-CN" dirty="0">
                <a:latin typeface="微软雅黑" pitchFamily="34" charset="-122"/>
                <a:ea typeface="微软雅黑" pitchFamily="34" charset="-122"/>
              </a:rPr>
              <a:t>(Prim)</a:t>
            </a:r>
            <a:r>
              <a:rPr kumimoji="1" lang="zh-CN" altLang="en-US" dirty="0">
                <a:latin typeface="微软雅黑" pitchFamily="34" charset="-122"/>
                <a:ea typeface="微软雅黑" pitchFamily="34" charset="-122"/>
              </a:rPr>
              <a:t>算法</a:t>
            </a:r>
          </a:p>
        </p:txBody>
      </p:sp>
      <p:cxnSp>
        <p:nvCxnSpPr>
          <p:cNvPr id="3" name="直接连接符 2">
            <a:extLst>
              <a:ext uri="{FF2B5EF4-FFF2-40B4-BE49-F238E27FC236}">
                <a16:creationId xmlns:a16="http://schemas.microsoft.com/office/drawing/2014/main" id="{E755DA4F-96CF-FB00-FD30-AE8F7A141757}"/>
              </a:ext>
            </a:extLst>
          </p:cNvPr>
          <p:cNvCxnSpPr>
            <a:cxnSpLocks/>
          </p:cNvCxnSpPr>
          <p:nvPr/>
        </p:nvCxnSpPr>
        <p:spPr>
          <a:xfrm>
            <a:off x="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4" name="矩形 3">
            <a:extLst>
              <a:ext uri="{FF2B5EF4-FFF2-40B4-BE49-F238E27FC236}">
                <a16:creationId xmlns:a16="http://schemas.microsoft.com/office/drawing/2014/main" id="{490191AB-3684-F953-1046-BE0125720D56}"/>
              </a:ext>
            </a:extLst>
          </p:cNvPr>
          <p:cNvSpPr/>
          <p:nvPr/>
        </p:nvSpPr>
        <p:spPr>
          <a:xfrm>
            <a:off x="3394075" y="399838"/>
            <a:ext cx="4617860"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8.4 </a:t>
            </a:r>
            <a:r>
              <a:rPr lang="zh-CN" altLang="en-US" sz="3000" b="1" dirty="0">
                <a:latin typeface="黑体" pitchFamily="49" charset="-122"/>
                <a:ea typeface="黑体" pitchFamily="49" charset="-122"/>
                <a:cs typeface="经典粗黑简" pitchFamily="49" charset="-122"/>
              </a:rPr>
              <a:t>生成树和最小生成树</a:t>
            </a:r>
          </a:p>
        </p:txBody>
      </p:sp>
      <p:sp>
        <p:nvSpPr>
          <p:cNvPr id="5" name="Text Box 4">
            <a:extLst>
              <a:ext uri="{FF2B5EF4-FFF2-40B4-BE49-F238E27FC236}">
                <a16:creationId xmlns:a16="http://schemas.microsoft.com/office/drawing/2014/main" id="{2EC026A3-7F9C-2E2D-882E-6BB89D66DC18}"/>
              </a:ext>
            </a:extLst>
          </p:cNvPr>
          <p:cNvSpPr txBox="1">
            <a:spLocks noChangeArrowheads="1"/>
          </p:cNvSpPr>
          <p:nvPr/>
        </p:nvSpPr>
        <p:spPr bwMode="auto">
          <a:xfrm>
            <a:off x="3978057" y="6198533"/>
            <a:ext cx="4929222" cy="400110"/>
          </a:xfrm>
          <a:prstGeom prst="rect">
            <a:avLst/>
          </a:prstGeom>
          <a:noFill/>
          <a:ln w="9525">
            <a:noFill/>
            <a:miter lim="800000"/>
            <a:headEnd/>
            <a:tailEnd/>
          </a:ln>
          <a:effectLst/>
        </p:spPr>
        <p:txBody>
          <a:bodyPr wrap="square">
            <a:spAutoFit/>
          </a:bodyPr>
          <a:lstStyle/>
          <a:p>
            <a:pPr algn="l">
              <a:spcBef>
                <a:spcPct val="50000"/>
              </a:spcBef>
            </a:pPr>
            <a:r>
              <a:rPr kumimoji="1" lang="zh-CN" altLang="en-US" sz="2000" dirty="0">
                <a:ea typeface="楷体" pitchFamily="49" charset="-122"/>
                <a:cs typeface="Times New Roman" pitchFamily="18" charset="0"/>
              </a:rPr>
              <a:t>普里姆算法求解最小生成树的过程 </a:t>
            </a:r>
          </a:p>
        </p:txBody>
      </p:sp>
      <p:sp>
        <p:nvSpPr>
          <p:cNvPr id="6" name="Oval 5">
            <a:extLst>
              <a:ext uri="{FF2B5EF4-FFF2-40B4-BE49-F238E27FC236}">
                <a16:creationId xmlns:a16="http://schemas.microsoft.com/office/drawing/2014/main" id="{D39B5F05-2BD5-717D-21D1-7002322D1312}"/>
              </a:ext>
            </a:extLst>
          </p:cNvPr>
          <p:cNvSpPr>
            <a:spLocks noChangeArrowheads="1"/>
          </p:cNvSpPr>
          <p:nvPr/>
        </p:nvSpPr>
        <p:spPr bwMode="auto">
          <a:xfrm>
            <a:off x="3221614" y="3017562"/>
            <a:ext cx="360363"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2000">
                <a:solidFill>
                  <a:srgbClr val="0000FF"/>
                </a:solidFill>
                <a:latin typeface="Consolas" pitchFamily="49" charset="0"/>
                <a:cs typeface="Consolas" pitchFamily="49" charset="0"/>
              </a:rPr>
              <a:t>0</a:t>
            </a:r>
          </a:p>
        </p:txBody>
      </p:sp>
      <p:sp>
        <p:nvSpPr>
          <p:cNvPr id="7" name="Oval 6">
            <a:extLst>
              <a:ext uri="{FF2B5EF4-FFF2-40B4-BE49-F238E27FC236}">
                <a16:creationId xmlns:a16="http://schemas.microsoft.com/office/drawing/2014/main" id="{F780006D-BC48-26CB-AB92-16F349BA3AE2}"/>
              </a:ext>
            </a:extLst>
          </p:cNvPr>
          <p:cNvSpPr>
            <a:spLocks noChangeArrowheads="1"/>
          </p:cNvSpPr>
          <p:nvPr/>
        </p:nvSpPr>
        <p:spPr bwMode="auto">
          <a:xfrm>
            <a:off x="4302701" y="3017562"/>
            <a:ext cx="360363"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2000">
                <a:solidFill>
                  <a:srgbClr val="0000FF"/>
                </a:solidFill>
                <a:latin typeface="Consolas" pitchFamily="49" charset="0"/>
                <a:cs typeface="Consolas" pitchFamily="49" charset="0"/>
              </a:rPr>
              <a:t>1</a:t>
            </a:r>
          </a:p>
        </p:txBody>
      </p:sp>
      <p:sp>
        <p:nvSpPr>
          <p:cNvPr id="8" name="Oval 7">
            <a:extLst>
              <a:ext uri="{FF2B5EF4-FFF2-40B4-BE49-F238E27FC236}">
                <a16:creationId xmlns:a16="http://schemas.microsoft.com/office/drawing/2014/main" id="{7E5DFCE4-9486-E2A0-9CC9-72A0B46C0634}"/>
              </a:ext>
            </a:extLst>
          </p:cNvPr>
          <p:cNvSpPr>
            <a:spLocks noChangeArrowheads="1"/>
          </p:cNvSpPr>
          <p:nvPr/>
        </p:nvSpPr>
        <p:spPr bwMode="auto">
          <a:xfrm>
            <a:off x="2645351" y="3882750"/>
            <a:ext cx="360363"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2000" dirty="0">
                <a:solidFill>
                  <a:srgbClr val="0000FF"/>
                </a:solidFill>
                <a:latin typeface="Consolas" pitchFamily="49" charset="0"/>
                <a:cs typeface="Consolas" pitchFamily="49" charset="0"/>
              </a:rPr>
              <a:t>5</a:t>
            </a:r>
          </a:p>
        </p:txBody>
      </p:sp>
      <p:sp>
        <p:nvSpPr>
          <p:cNvPr id="9" name="Oval 8">
            <a:extLst>
              <a:ext uri="{FF2B5EF4-FFF2-40B4-BE49-F238E27FC236}">
                <a16:creationId xmlns:a16="http://schemas.microsoft.com/office/drawing/2014/main" id="{FEBEE3F0-82A9-3CBA-E698-B42CD8C5DA5D}"/>
              </a:ext>
            </a:extLst>
          </p:cNvPr>
          <p:cNvSpPr>
            <a:spLocks noChangeArrowheads="1"/>
          </p:cNvSpPr>
          <p:nvPr/>
        </p:nvSpPr>
        <p:spPr bwMode="auto">
          <a:xfrm>
            <a:off x="3294639" y="4601887"/>
            <a:ext cx="360363"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2000">
                <a:solidFill>
                  <a:srgbClr val="0000FF"/>
                </a:solidFill>
                <a:latin typeface="Consolas" pitchFamily="49" charset="0"/>
                <a:cs typeface="Consolas" pitchFamily="49" charset="0"/>
              </a:rPr>
              <a:t>4</a:t>
            </a:r>
          </a:p>
        </p:txBody>
      </p:sp>
      <p:sp>
        <p:nvSpPr>
          <p:cNvPr id="10" name="Oval 9">
            <a:extLst>
              <a:ext uri="{FF2B5EF4-FFF2-40B4-BE49-F238E27FC236}">
                <a16:creationId xmlns:a16="http://schemas.microsoft.com/office/drawing/2014/main" id="{97EBB585-5F95-2352-4E43-2A61A87891E0}"/>
              </a:ext>
            </a:extLst>
          </p:cNvPr>
          <p:cNvSpPr>
            <a:spLocks noChangeArrowheads="1"/>
          </p:cNvSpPr>
          <p:nvPr/>
        </p:nvSpPr>
        <p:spPr bwMode="auto">
          <a:xfrm>
            <a:off x="4229676" y="4601887"/>
            <a:ext cx="360363"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2000">
                <a:solidFill>
                  <a:srgbClr val="0000FF"/>
                </a:solidFill>
                <a:latin typeface="Consolas" pitchFamily="49" charset="0"/>
                <a:cs typeface="Consolas" pitchFamily="49" charset="0"/>
              </a:rPr>
              <a:t>3</a:t>
            </a:r>
          </a:p>
        </p:txBody>
      </p:sp>
      <p:sp>
        <p:nvSpPr>
          <p:cNvPr id="11" name="Oval 10">
            <a:extLst>
              <a:ext uri="{FF2B5EF4-FFF2-40B4-BE49-F238E27FC236}">
                <a16:creationId xmlns:a16="http://schemas.microsoft.com/office/drawing/2014/main" id="{9CAC2993-6C19-13C4-0A2F-303551E6EF2A}"/>
              </a:ext>
            </a:extLst>
          </p:cNvPr>
          <p:cNvSpPr>
            <a:spLocks noChangeArrowheads="1"/>
          </p:cNvSpPr>
          <p:nvPr/>
        </p:nvSpPr>
        <p:spPr bwMode="auto">
          <a:xfrm>
            <a:off x="3797876" y="3809725"/>
            <a:ext cx="360363"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2000">
                <a:solidFill>
                  <a:srgbClr val="0000FF"/>
                </a:solidFill>
                <a:latin typeface="Consolas" pitchFamily="49" charset="0"/>
                <a:cs typeface="Consolas" pitchFamily="49" charset="0"/>
              </a:rPr>
              <a:t>6</a:t>
            </a:r>
          </a:p>
        </p:txBody>
      </p:sp>
      <p:sp>
        <p:nvSpPr>
          <p:cNvPr id="13" name="Oval 11">
            <a:extLst>
              <a:ext uri="{FF2B5EF4-FFF2-40B4-BE49-F238E27FC236}">
                <a16:creationId xmlns:a16="http://schemas.microsoft.com/office/drawing/2014/main" id="{FC862E88-6E11-D27C-DD31-DE7AC90B284D}"/>
              </a:ext>
            </a:extLst>
          </p:cNvPr>
          <p:cNvSpPr>
            <a:spLocks noChangeArrowheads="1"/>
          </p:cNvSpPr>
          <p:nvPr/>
        </p:nvSpPr>
        <p:spPr bwMode="auto">
          <a:xfrm>
            <a:off x="4661476" y="3809725"/>
            <a:ext cx="360363"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2000">
                <a:solidFill>
                  <a:srgbClr val="0000FF"/>
                </a:solidFill>
                <a:latin typeface="Consolas" pitchFamily="49" charset="0"/>
                <a:cs typeface="Consolas" pitchFamily="49" charset="0"/>
              </a:rPr>
              <a:t>2</a:t>
            </a:r>
          </a:p>
        </p:txBody>
      </p:sp>
      <p:sp>
        <p:nvSpPr>
          <p:cNvPr id="14" name="Line 12">
            <a:extLst>
              <a:ext uri="{FF2B5EF4-FFF2-40B4-BE49-F238E27FC236}">
                <a16:creationId xmlns:a16="http://schemas.microsoft.com/office/drawing/2014/main" id="{6232C9A8-A88E-1095-2BC0-2B6B4AF31A7E}"/>
              </a:ext>
            </a:extLst>
          </p:cNvPr>
          <p:cNvSpPr>
            <a:spLocks noChangeShapeType="1"/>
          </p:cNvSpPr>
          <p:nvPr/>
        </p:nvSpPr>
        <p:spPr bwMode="auto">
          <a:xfrm>
            <a:off x="3581976" y="3263639"/>
            <a:ext cx="720725" cy="0"/>
          </a:xfrm>
          <a:prstGeom prst="line">
            <a:avLst/>
          </a:prstGeom>
          <a:noFill/>
          <a:ln w="19050">
            <a:solidFill>
              <a:srgbClr val="3333FF"/>
            </a:solidFill>
            <a:round/>
            <a:headEnd/>
            <a:tailEnd type="none" w="med" len="lg"/>
          </a:ln>
          <a:effectLst/>
        </p:spPr>
        <p:txBody>
          <a:bodyPr wrap="none"/>
          <a:lstStyle/>
          <a:p>
            <a:endParaRPr lang="zh-CN" altLang="en-US">
              <a:latin typeface="Consolas" pitchFamily="49" charset="0"/>
              <a:cs typeface="Consolas" pitchFamily="49" charset="0"/>
            </a:endParaRPr>
          </a:p>
        </p:txBody>
      </p:sp>
      <p:sp>
        <p:nvSpPr>
          <p:cNvPr id="15" name="Freeform 13">
            <a:extLst>
              <a:ext uri="{FF2B5EF4-FFF2-40B4-BE49-F238E27FC236}">
                <a16:creationId xmlns:a16="http://schemas.microsoft.com/office/drawing/2014/main" id="{2A5F83B3-2C2B-DA19-2848-E1460ED5D1E5}"/>
              </a:ext>
            </a:extLst>
          </p:cNvPr>
          <p:cNvSpPr>
            <a:spLocks/>
          </p:cNvSpPr>
          <p:nvPr/>
        </p:nvSpPr>
        <p:spPr bwMode="auto">
          <a:xfrm>
            <a:off x="2862839" y="3384289"/>
            <a:ext cx="395288" cy="528638"/>
          </a:xfrm>
          <a:custGeom>
            <a:avLst/>
            <a:gdLst/>
            <a:ahLst/>
            <a:cxnLst>
              <a:cxn ang="0">
                <a:pos x="249" y="0"/>
              </a:cxn>
              <a:cxn ang="0">
                <a:pos x="0" y="333"/>
              </a:cxn>
            </a:cxnLst>
            <a:rect l="0" t="0" r="r" b="b"/>
            <a:pathLst>
              <a:path w="249" h="333">
                <a:moveTo>
                  <a:pt x="249" y="0"/>
                </a:moveTo>
                <a:lnTo>
                  <a:pt x="0" y="333"/>
                </a:lnTo>
              </a:path>
            </a:pathLst>
          </a:custGeom>
          <a:noFill/>
          <a:ln w="38100" cap="flat" cmpd="sng">
            <a:solidFill>
              <a:srgbClr val="00B0F0"/>
            </a:solidFill>
            <a:prstDash val="solid"/>
            <a:round/>
            <a:headEnd type="none" w="med" len="med"/>
            <a:tailEnd type="none" w="med" len="lg"/>
          </a:ln>
          <a:effectLst/>
        </p:spPr>
        <p:txBody>
          <a:bodyPr wrap="none"/>
          <a:lstStyle/>
          <a:p>
            <a:endParaRPr lang="zh-CN" altLang="en-US">
              <a:latin typeface="Consolas" pitchFamily="49" charset="0"/>
              <a:cs typeface="Consolas" pitchFamily="49" charset="0"/>
            </a:endParaRPr>
          </a:p>
        </p:txBody>
      </p:sp>
      <p:sp>
        <p:nvSpPr>
          <p:cNvPr id="16" name="Freeform 14">
            <a:extLst>
              <a:ext uri="{FF2B5EF4-FFF2-40B4-BE49-F238E27FC236}">
                <a16:creationId xmlns:a16="http://schemas.microsoft.com/office/drawing/2014/main" id="{00081919-8E41-8A02-28EE-4B9FF6C67F5F}"/>
              </a:ext>
            </a:extLst>
          </p:cNvPr>
          <p:cNvSpPr>
            <a:spLocks/>
          </p:cNvSpPr>
          <p:nvPr/>
        </p:nvSpPr>
        <p:spPr bwMode="auto">
          <a:xfrm>
            <a:off x="2927926" y="4311389"/>
            <a:ext cx="392113" cy="419100"/>
          </a:xfrm>
          <a:custGeom>
            <a:avLst/>
            <a:gdLst/>
            <a:ahLst/>
            <a:cxnLst>
              <a:cxn ang="0">
                <a:pos x="0" y="0"/>
              </a:cxn>
              <a:cxn ang="0">
                <a:pos x="247" y="264"/>
              </a:cxn>
            </a:cxnLst>
            <a:rect l="0" t="0" r="r" b="b"/>
            <a:pathLst>
              <a:path w="247" h="264">
                <a:moveTo>
                  <a:pt x="0" y="0"/>
                </a:moveTo>
                <a:lnTo>
                  <a:pt x="247" y="264"/>
                </a:lnTo>
              </a:path>
            </a:pathLst>
          </a:custGeom>
          <a:noFill/>
          <a:ln w="19050" cap="flat" cmpd="sng">
            <a:solidFill>
              <a:srgbClr val="3333FF"/>
            </a:solidFill>
            <a:prstDash val="solid"/>
            <a:round/>
            <a:headEnd type="none" w="med" len="med"/>
            <a:tailEnd type="none" w="med" len="lg"/>
          </a:ln>
          <a:effectLst/>
        </p:spPr>
        <p:txBody>
          <a:bodyPr wrap="none"/>
          <a:lstStyle/>
          <a:p>
            <a:endParaRPr lang="zh-CN" altLang="en-US">
              <a:latin typeface="Consolas" pitchFamily="49" charset="0"/>
              <a:cs typeface="Consolas" pitchFamily="49" charset="0"/>
            </a:endParaRPr>
          </a:p>
        </p:txBody>
      </p:sp>
      <p:sp>
        <p:nvSpPr>
          <p:cNvPr id="17" name="Freeform 15">
            <a:extLst>
              <a:ext uri="{FF2B5EF4-FFF2-40B4-BE49-F238E27FC236}">
                <a16:creationId xmlns:a16="http://schemas.microsoft.com/office/drawing/2014/main" id="{8C58CBD3-7756-9B8A-3763-3A1B94851E9C}"/>
              </a:ext>
            </a:extLst>
          </p:cNvPr>
          <p:cNvSpPr>
            <a:spLocks/>
          </p:cNvSpPr>
          <p:nvPr/>
        </p:nvSpPr>
        <p:spPr bwMode="auto">
          <a:xfrm>
            <a:off x="3653414" y="4882889"/>
            <a:ext cx="582613" cy="1588"/>
          </a:xfrm>
          <a:custGeom>
            <a:avLst/>
            <a:gdLst/>
            <a:ahLst/>
            <a:cxnLst>
              <a:cxn ang="0">
                <a:pos x="0" y="0"/>
              </a:cxn>
              <a:cxn ang="0">
                <a:pos x="367" y="0"/>
              </a:cxn>
            </a:cxnLst>
            <a:rect l="0" t="0" r="r" b="b"/>
            <a:pathLst>
              <a:path w="367" h="1">
                <a:moveTo>
                  <a:pt x="0" y="0"/>
                </a:moveTo>
                <a:lnTo>
                  <a:pt x="367" y="0"/>
                </a:lnTo>
              </a:path>
            </a:pathLst>
          </a:custGeom>
          <a:noFill/>
          <a:ln w="19050" cap="flat" cmpd="sng">
            <a:solidFill>
              <a:srgbClr val="3333FF"/>
            </a:solidFill>
            <a:prstDash val="solid"/>
            <a:round/>
            <a:headEnd type="none" w="med" len="med"/>
            <a:tailEnd type="none" w="med" len="lg"/>
          </a:ln>
          <a:effectLst/>
        </p:spPr>
        <p:txBody>
          <a:bodyPr wrap="none"/>
          <a:lstStyle/>
          <a:p>
            <a:endParaRPr lang="zh-CN" altLang="en-US">
              <a:latin typeface="Consolas" pitchFamily="49" charset="0"/>
              <a:cs typeface="Consolas" pitchFamily="49" charset="0"/>
            </a:endParaRPr>
          </a:p>
        </p:txBody>
      </p:sp>
      <p:sp>
        <p:nvSpPr>
          <p:cNvPr id="18" name="Freeform 16">
            <a:extLst>
              <a:ext uri="{FF2B5EF4-FFF2-40B4-BE49-F238E27FC236}">
                <a16:creationId xmlns:a16="http://schemas.microsoft.com/office/drawing/2014/main" id="{AA0906EF-800E-2470-50FC-FB711C7893A6}"/>
              </a:ext>
            </a:extLst>
          </p:cNvPr>
          <p:cNvSpPr>
            <a:spLocks/>
          </p:cNvSpPr>
          <p:nvPr/>
        </p:nvSpPr>
        <p:spPr bwMode="auto">
          <a:xfrm>
            <a:off x="3510539" y="4209789"/>
            <a:ext cx="357188" cy="422275"/>
          </a:xfrm>
          <a:custGeom>
            <a:avLst/>
            <a:gdLst/>
            <a:ahLst/>
            <a:cxnLst>
              <a:cxn ang="0">
                <a:pos x="0" y="266"/>
              </a:cxn>
              <a:cxn ang="0">
                <a:pos x="225" y="0"/>
              </a:cxn>
            </a:cxnLst>
            <a:rect l="0" t="0" r="r" b="b"/>
            <a:pathLst>
              <a:path w="225" h="266">
                <a:moveTo>
                  <a:pt x="0" y="266"/>
                </a:moveTo>
                <a:lnTo>
                  <a:pt x="225" y="0"/>
                </a:lnTo>
              </a:path>
            </a:pathLst>
          </a:custGeom>
          <a:noFill/>
          <a:ln w="19050" cap="flat" cmpd="sng">
            <a:solidFill>
              <a:srgbClr val="3333FF"/>
            </a:solidFill>
            <a:prstDash val="solid"/>
            <a:round/>
            <a:headEnd type="none" w="med" len="med"/>
            <a:tailEnd type="none" w="med" len="lg"/>
          </a:ln>
          <a:effectLst/>
        </p:spPr>
        <p:txBody>
          <a:bodyPr wrap="none"/>
          <a:lstStyle/>
          <a:p>
            <a:endParaRPr lang="zh-CN" altLang="en-US">
              <a:latin typeface="Consolas" pitchFamily="49" charset="0"/>
              <a:cs typeface="Consolas" pitchFamily="49" charset="0"/>
            </a:endParaRPr>
          </a:p>
        </p:txBody>
      </p:sp>
      <p:sp>
        <p:nvSpPr>
          <p:cNvPr id="19" name="Line 17">
            <a:extLst>
              <a:ext uri="{FF2B5EF4-FFF2-40B4-BE49-F238E27FC236}">
                <a16:creationId xmlns:a16="http://schemas.microsoft.com/office/drawing/2014/main" id="{7175A54E-0D83-8F43-166A-A842A2BAF5C4}"/>
              </a:ext>
            </a:extLst>
          </p:cNvPr>
          <p:cNvSpPr>
            <a:spLocks noChangeShapeType="1"/>
          </p:cNvSpPr>
          <p:nvPr/>
        </p:nvSpPr>
        <p:spPr bwMode="auto">
          <a:xfrm>
            <a:off x="4066097" y="4232008"/>
            <a:ext cx="285752" cy="428628"/>
          </a:xfrm>
          <a:prstGeom prst="line">
            <a:avLst/>
          </a:prstGeom>
          <a:noFill/>
          <a:ln w="19050">
            <a:solidFill>
              <a:srgbClr val="3333FF"/>
            </a:solidFill>
            <a:round/>
            <a:headEnd/>
            <a:tailEnd type="none" w="med" len="lg"/>
          </a:ln>
          <a:effectLst/>
        </p:spPr>
        <p:txBody>
          <a:bodyPr wrap="none"/>
          <a:lstStyle/>
          <a:p>
            <a:endParaRPr lang="zh-CN" altLang="en-US">
              <a:latin typeface="Consolas" pitchFamily="49" charset="0"/>
              <a:cs typeface="Consolas" pitchFamily="49" charset="0"/>
            </a:endParaRPr>
          </a:p>
        </p:txBody>
      </p:sp>
      <p:sp>
        <p:nvSpPr>
          <p:cNvPr id="20" name="Line 18">
            <a:extLst>
              <a:ext uri="{FF2B5EF4-FFF2-40B4-BE49-F238E27FC236}">
                <a16:creationId xmlns:a16="http://schemas.microsoft.com/office/drawing/2014/main" id="{5614CF07-5B0F-1BBD-B1E9-C66834026A12}"/>
              </a:ext>
            </a:extLst>
          </p:cNvPr>
          <p:cNvSpPr>
            <a:spLocks noChangeShapeType="1"/>
          </p:cNvSpPr>
          <p:nvPr/>
        </p:nvSpPr>
        <p:spPr bwMode="auto">
          <a:xfrm flipH="1">
            <a:off x="4074101" y="3433502"/>
            <a:ext cx="287338" cy="431800"/>
          </a:xfrm>
          <a:prstGeom prst="line">
            <a:avLst/>
          </a:prstGeom>
          <a:noFill/>
          <a:ln w="19050">
            <a:solidFill>
              <a:srgbClr val="3333FF"/>
            </a:solidFill>
            <a:round/>
            <a:headEnd/>
            <a:tailEnd type="none" w="med" len="lg"/>
          </a:ln>
          <a:effectLst/>
        </p:spPr>
        <p:txBody>
          <a:bodyPr wrap="none"/>
          <a:lstStyle/>
          <a:p>
            <a:endParaRPr lang="zh-CN" altLang="en-US">
              <a:latin typeface="Consolas" pitchFamily="49" charset="0"/>
              <a:cs typeface="Consolas" pitchFamily="49" charset="0"/>
            </a:endParaRPr>
          </a:p>
        </p:txBody>
      </p:sp>
      <p:sp>
        <p:nvSpPr>
          <p:cNvPr id="21" name="Line 19">
            <a:extLst>
              <a:ext uri="{FF2B5EF4-FFF2-40B4-BE49-F238E27FC236}">
                <a16:creationId xmlns:a16="http://schemas.microsoft.com/office/drawing/2014/main" id="{5EF314BA-3F5A-912D-1A85-401F0E7F78E1}"/>
              </a:ext>
            </a:extLst>
          </p:cNvPr>
          <p:cNvSpPr>
            <a:spLocks noChangeShapeType="1"/>
          </p:cNvSpPr>
          <p:nvPr/>
        </p:nvSpPr>
        <p:spPr bwMode="auto">
          <a:xfrm>
            <a:off x="4612198" y="3446190"/>
            <a:ext cx="176400" cy="399600"/>
          </a:xfrm>
          <a:prstGeom prst="line">
            <a:avLst/>
          </a:prstGeom>
          <a:noFill/>
          <a:ln w="19050">
            <a:solidFill>
              <a:srgbClr val="3333FF"/>
            </a:solidFill>
            <a:round/>
            <a:headEnd/>
            <a:tailEnd type="none" w="med" len="lg"/>
          </a:ln>
          <a:effectLst/>
        </p:spPr>
        <p:txBody>
          <a:bodyPr wrap="none"/>
          <a:lstStyle/>
          <a:p>
            <a:endParaRPr lang="zh-CN" altLang="en-US">
              <a:latin typeface="Consolas" pitchFamily="49" charset="0"/>
              <a:cs typeface="Consolas" pitchFamily="49" charset="0"/>
            </a:endParaRPr>
          </a:p>
        </p:txBody>
      </p:sp>
      <p:sp>
        <p:nvSpPr>
          <p:cNvPr id="22" name="Line 20">
            <a:extLst>
              <a:ext uri="{FF2B5EF4-FFF2-40B4-BE49-F238E27FC236}">
                <a16:creationId xmlns:a16="http://schemas.microsoft.com/office/drawing/2014/main" id="{FA04D735-66ED-2FF0-9B0C-B20ACBCCEE20}"/>
              </a:ext>
            </a:extLst>
          </p:cNvPr>
          <p:cNvSpPr>
            <a:spLocks noChangeShapeType="1"/>
          </p:cNvSpPr>
          <p:nvPr/>
        </p:nvSpPr>
        <p:spPr bwMode="auto">
          <a:xfrm flipH="1">
            <a:off x="4531299" y="4265346"/>
            <a:ext cx="270000" cy="396000"/>
          </a:xfrm>
          <a:prstGeom prst="line">
            <a:avLst/>
          </a:prstGeom>
          <a:noFill/>
          <a:ln w="19050">
            <a:solidFill>
              <a:srgbClr val="3333FF"/>
            </a:solidFill>
            <a:round/>
            <a:headEnd/>
            <a:tailEnd type="none" w="med" len="lg"/>
          </a:ln>
          <a:effectLst/>
        </p:spPr>
        <p:txBody>
          <a:bodyPr wrap="none"/>
          <a:lstStyle/>
          <a:p>
            <a:endParaRPr lang="zh-CN" altLang="en-US">
              <a:latin typeface="Consolas" pitchFamily="49" charset="0"/>
              <a:cs typeface="Consolas" pitchFamily="49" charset="0"/>
            </a:endParaRPr>
          </a:p>
        </p:txBody>
      </p:sp>
      <p:sp>
        <p:nvSpPr>
          <p:cNvPr id="23" name="Text Box 21">
            <a:extLst>
              <a:ext uri="{FF2B5EF4-FFF2-40B4-BE49-F238E27FC236}">
                <a16:creationId xmlns:a16="http://schemas.microsoft.com/office/drawing/2014/main" id="{60AFE3E3-6AF5-44F0-B9EE-84D48D3ACAD2}"/>
              </a:ext>
            </a:extLst>
          </p:cNvPr>
          <p:cNvSpPr txBox="1">
            <a:spLocks noChangeArrowheads="1"/>
          </p:cNvSpPr>
          <p:nvPr/>
        </p:nvSpPr>
        <p:spPr bwMode="auto">
          <a:xfrm>
            <a:off x="3726439" y="2904864"/>
            <a:ext cx="503238" cy="338554"/>
          </a:xfrm>
          <a:prstGeom prst="rect">
            <a:avLst/>
          </a:prstGeom>
          <a:noFill/>
          <a:ln w="19050" algn="ctr">
            <a:noFill/>
            <a:miter lim="800000"/>
            <a:headEnd/>
            <a:tailEnd type="none" w="med" len="lg"/>
          </a:ln>
          <a:effectLst/>
        </p:spPr>
        <p:txBody>
          <a:bodyPr>
            <a:spAutoFit/>
          </a:bodyPr>
          <a:lstStyle/>
          <a:p>
            <a:pPr algn="l">
              <a:spcBef>
                <a:spcPct val="50000"/>
              </a:spcBef>
            </a:pPr>
            <a:r>
              <a:rPr lang="en-US" altLang="zh-CN" sz="1600">
                <a:latin typeface="Consolas" pitchFamily="49" charset="0"/>
                <a:cs typeface="Consolas" pitchFamily="49" charset="0"/>
              </a:rPr>
              <a:t>28</a:t>
            </a:r>
          </a:p>
        </p:txBody>
      </p:sp>
      <p:sp>
        <p:nvSpPr>
          <p:cNvPr id="24" name="Text Box 22">
            <a:extLst>
              <a:ext uri="{FF2B5EF4-FFF2-40B4-BE49-F238E27FC236}">
                <a16:creationId xmlns:a16="http://schemas.microsoft.com/office/drawing/2014/main" id="{16EA4ABB-2167-860A-2E5A-7B264B89B2CD}"/>
              </a:ext>
            </a:extLst>
          </p:cNvPr>
          <p:cNvSpPr txBox="1">
            <a:spLocks noChangeArrowheads="1"/>
          </p:cNvSpPr>
          <p:nvPr/>
        </p:nvSpPr>
        <p:spPr bwMode="auto">
          <a:xfrm>
            <a:off x="2646939" y="3419214"/>
            <a:ext cx="503238" cy="338554"/>
          </a:xfrm>
          <a:prstGeom prst="rect">
            <a:avLst/>
          </a:prstGeom>
          <a:noFill/>
          <a:ln w="19050" algn="ctr">
            <a:noFill/>
            <a:miter lim="800000"/>
            <a:headEnd/>
            <a:tailEnd type="none" w="med" len="lg"/>
          </a:ln>
          <a:effectLst/>
        </p:spPr>
        <p:txBody>
          <a:bodyPr>
            <a:spAutoFit/>
          </a:bodyPr>
          <a:lstStyle/>
          <a:p>
            <a:pPr algn="l">
              <a:spcBef>
                <a:spcPct val="50000"/>
              </a:spcBef>
            </a:pPr>
            <a:r>
              <a:rPr lang="en-US" altLang="zh-CN" sz="1600" dirty="0">
                <a:latin typeface="Consolas" pitchFamily="49" charset="0"/>
                <a:cs typeface="Consolas" pitchFamily="49" charset="0"/>
              </a:rPr>
              <a:t>10</a:t>
            </a:r>
          </a:p>
        </p:txBody>
      </p:sp>
      <p:sp>
        <p:nvSpPr>
          <p:cNvPr id="25" name="Text Box 23">
            <a:extLst>
              <a:ext uri="{FF2B5EF4-FFF2-40B4-BE49-F238E27FC236}">
                <a16:creationId xmlns:a16="http://schemas.microsoft.com/office/drawing/2014/main" id="{C0394AB8-8950-1554-2A0C-20C321652F30}"/>
              </a:ext>
            </a:extLst>
          </p:cNvPr>
          <p:cNvSpPr txBox="1">
            <a:spLocks noChangeArrowheads="1"/>
          </p:cNvSpPr>
          <p:nvPr/>
        </p:nvSpPr>
        <p:spPr bwMode="auto">
          <a:xfrm>
            <a:off x="4663064" y="3336664"/>
            <a:ext cx="503238" cy="338554"/>
          </a:xfrm>
          <a:prstGeom prst="rect">
            <a:avLst/>
          </a:prstGeom>
          <a:noFill/>
          <a:ln w="19050" algn="ctr">
            <a:noFill/>
            <a:miter lim="800000"/>
            <a:headEnd/>
            <a:tailEnd type="none" w="med" len="lg"/>
          </a:ln>
          <a:effectLst/>
        </p:spPr>
        <p:txBody>
          <a:bodyPr>
            <a:spAutoFit/>
          </a:bodyPr>
          <a:lstStyle/>
          <a:p>
            <a:pPr algn="l">
              <a:spcBef>
                <a:spcPct val="50000"/>
              </a:spcBef>
            </a:pPr>
            <a:r>
              <a:rPr lang="en-US" altLang="zh-CN" sz="1600">
                <a:latin typeface="Consolas" pitchFamily="49" charset="0"/>
                <a:cs typeface="Consolas" pitchFamily="49" charset="0"/>
              </a:rPr>
              <a:t>16</a:t>
            </a:r>
          </a:p>
        </p:txBody>
      </p:sp>
      <p:sp>
        <p:nvSpPr>
          <p:cNvPr id="26" name="Text Box 24">
            <a:extLst>
              <a:ext uri="{FF2B5EF4-FFF2-40B4-BE49-F238E27FC236}">
                <a16:creationId xmlns:a16="http://schemas.microsoft.com/office/drawing/2014/main" id="{B8F5B609-EEC6-2D4D-126D-EEA9DAC8A93B}"/>
              </a:ext>
            </a:extLst>
          </p:cNvPr>
          <p:cNvSpPr txBox="1">
            <a:spLocks noChangeArrowheads="1"/>
          </p:cNvSpPr>
          <p:nvPr/>
        </p:nvSpPr>
        <p:spPr bwMode="auto">
          <a:xfrm>
            <a:off x="3797876" y="3443027"/>
            <a:ext cx="503238" cy="338554"/>
          </a:xfrm>
          <a:prstGeom prst="rect">
            <a:avLst/>
          </a:prstGeom>
          <a:noFill/>
          <a:ln w="19050" algn="ctr">
            <a:noFill/>
            <a:miter lim="800000"/>
            <a:headEnd/>
            <a:tailEnd type="none" w="med" len="lg"/>
          </a:ln>
          <a:effectLst/>
        </p:spPr>
        <p:txBody>
          <a:bodyPr>
            <a:spAutoFit/>
          </a:bodyPr>
          <a:lstStyle/>
          <a:p>
            <a:pPr algn="l">
              <a:spcBef>
                <a:spcPct val="50000"/>
              </a:spcBef>
            </a:pPr>
            <a:r>
              <a:rPr lang="en-US" altLang="zh-CN" sz="1600">
                <a:latin typeface="Consolas" pitchFamily="49" charset="0"/>
                <a:cs typeface="Consolas" pitchFamily="49" charset="0"/>
              </a:rPr>
              <a:t>14</a:t>
            </a:r>
          </a:p>
        </p:txBody>
      </p:sp>
      <p:sp>
        <p:nvSpPr>
          <p:cNvPr id="27" name="Text Box 25">
            <a:extLst>
              <a:ext uri="{FF2B5EF4-FFF2-40B4-BE49-F238E27FC236}">
                <a16:creationId xmlns:a16="http://schemas.microsoft.com/office/drawing/2014/main" id="{D7F9FDF6-5690-6A3B-49F9-E8F14B82997D}"/>
              </a:ext>
            </a:extLst>
          </p:cNvPr>
          <p:cNvSpPr txBox="1">
            <a:spLocks noChangeArrowheads="1"/>
          </p:cNvSpPr>
          <p:nvPr/>
        </p:nvSpPr>
        <p:spPr bwMode="auto">
          <a:xfrm>
            <a:off x="2719964" y="4379652"/>
            <a:ext cx="503238" cy="338554"/>
          </a:xfrm>
          <a:prstGeom prst="rect">
            <a:avLst/>
          </a:prstGeom>
          <a:noFill/>
          <a:ln w="19050" algn="ctr">
            <a:noFill/>
            <a:miter lim="800000"/>
            <a:headEnd/>
            <a:tailEnd type="none" w="med" len="lg"/>
          </a:ln>
          <a:effectLst/>
        </p:spPr>
        <p:txBody>
          <a:bodyPr>
            <a:spAutoFit/>
          </a:bodyPr>
          <a:lstStyle/>
          <a:p>
            <a:pPr algn="l">
              <a:spcBef>
                <a:spcPct val="50000"/>
              </a:spcBef>
            </a:pPr>
            <a:r>
              <a:rPr lang="en-US" altLang="zh-CN" sz="1600">
                <a:latin typeface="Consolas" pitchFamily="49" charset="0"/>
                <a:cs typeface="Consolas" pitchFamily="49" charset="0"/>
              </a:rPr>
              <a:t>25</a:t>
            </a:r>
          </a:p>
        </p:txBody>
      </p:sp>
      <p:sp>
        <p:nvSpPr>
          <p:cNvPr id="28" name="Text Box 26">
            <a:extLst>
              <a:ext uri="{FF2B5EF4-FFF2-40B4-BE49-F238E27FC236}">
                <a16:creationId xmlns:a16="http://schemas.microsoft.com/office/drawing/2014/main" id="{9C1A8769-4CA0-6563-24E4-7BF4BF07B6C7}"/>
              </a:ext>
            </a:extLst>
          </p:cNvPr>
          <p:cNvSpPr txBox="1">
            <a:spLocks noChangeArrowheads="1"/>
          </p:cNvSpPr>
          <p:nvPr/>
        </p:nvSpPr>
        <p:spPr bwMode="auto">
          <a:xfrm>
            <a:off x="3294639" y="4163752"/>
            <a:ext cx="503238" cy="338554"/>
          </a:xfrm>
          <a:prstGeom prst="rect">
            <a:avLst/>
          </a:prstGeom>
          <a:noFill/>
          <a:ln w="19050" algn="ctr">
            <a:noFill/>
            <a:miter lim="800000"/>
            <a:headEnd/>
            <a:tailEnd type="none" w="med" len="lg"/>
          </a:ln>
          <a:effectLst/>
        </p:spPr>
        <p:txBody>
          <a:bodyPr>
            <a:spAutoFit/>
          </a:bodyPr>
          <a:lstStyle/>
          <a:p>
            <a:pPr algn="l">
              <a:spcBef>
                <a:spcPct val="50000"/>
              </a:spcBef>
            </a:pPr>
            <a:r>
              <a:rPr lang="en-US" altLang="zh-CN" sz="1600">
                <a:latin typeface="Consolas" pitchFamily="49" charset="0"/>
                <a:cs typeface="Consolas" pitchFamily="49" charset="0"/>
              </a:rPr>
              <a:t>24</a:t>
            </a:r>
          </a:p>
        </p:txBody>
      </p:sp>
      <p:sp>
        <p:nvSpPr>
          <p:cNvPr id="29" name="Text Box 27">
            <a:extLst>
              <a:ext uri="{FF2B5EF4-FFF2-40B4-BE49-F238E27FC236}">
                <a16:creationId xmlns:a16="http://schemas.microsoft.com/office/drawing/2014/main" id="{313604D7-C80F-71A4-DBEB-AA81230907C3}"/>
              </a:ext>
            </a:extLst>
          </p:cNvPr>
          <p:cNvSpPr txBox="1">
            <a:spLocks noChangeArrowheads="1"/>
          </p:cNvSpPr>
          <p:nvPr/>
        </p:nvSpPr>
        <p:spPr bwMode="auto">
          <a:xfrm>
            <a:off x="4158239" y="4090727"/>
            <a:ext cx="503238" cy="338554"/>
          </a:xfrm>
          <a:prstGeom prst="rect">
            <a:avLst/>
          </a:prstGeom>
          <a:noFill/>
          <a:ln w="19050" algn="ctr">
            <a:noFill/>
            <a:miter lim="800000"/>
            <a:headEnd/>
            <a:tailEnd type="none" w="med" len="lg"/>
          </a:ln>
          <a:effectLst/>
        </p:spPr>
        <p:txBody>
          <a:bodyPr>
            <a:spAutoFit/>
          </a:bodyPr>
          <a:lstStyle/>
          <a:p>
            <a:pPr algn="l">
              <a:spcBef>
                <a:spcPct val="50000"/>
              </a:spcBef>
            </a:pPr>
            <a:r>
              <a:rPr lang="en-US" altLang="zh-CN" sz="1600">
                <a:latin typeface="Consolas" pitchFamily="49" charset="0"/>
                <a:cs typeface="Consolas" pitchFamily="49" charset="0"/>
              </a:rPr>
              <a:t>18</a:t>
            </a:r>
          </a:p>
        </p:txBody>
      </p:sp>
      <p:sp>
        <p:nvSpPr>
          <p:cNvPr id="30" name="Text Box 28">
            <a:extLst>
              <a:ext uri="{FF2B5EF4-FFF2-40B4-BE49-F238E27FC236}">
                <a16:creationId xmlns:a16="http://schemas.microsoft.com/office/drawing/2014/main" id="{9DC4BE4E-CEEB-7E13-A559-9272054916C8}"/>
              </a:ext>
            </a:extLst>
          </p:cNvPr>
          <p:cNvSpPr txBox="1">
            <a:spLocks noChangeArrowheads="1"/>
          </p:cNvSpPr>
          <p:nvPr/>
        </p:nvSpPr>
        <p:spPr bwMode="auto">
          <a:xfrm>
            <a:off x="3726439" y="4847964"/>
            <a:ext cx="503238" cy="338554"/>
          </a:xfrm>
          <a:prstGeom prst="rect">
            <a:avLst/>
          </a:prstGeom>
          <a:noFill/>
          <a:ln w="19050" algn="ctr">
            <a:noFill/>
            <a:miter lim="800000"/>
            <a:headEnd/>
            <a:tailEnd type="none" w="med" len="lg"/>
          </a:ln>
          <a:effectLst/>
        </p:spPr>
        <p:txBody>
          <a:bodyPr>
            <a:spAutoFit/>
          </a:bodyPr>
          <a:lstStyle/>
          <a:p>
            <a:pPr algn="l">
              <a:spcBef>
                <a:spcPct val="50000"/>
              </a:spcBef>
            </a:pPr>
            <a:r>
              <a:rPr lang="en-US" altLang="zh-CN" sz="1600">
                <a:latin typeface="Consolas" pitchFamily="49" charset="0"/>
                <a:cs typeface="Consolas" pitchFamily="49" charset="0"/>
              </a:rPr>
              <a:t>22</a:t>
            </a:r>
          </a:p>
        </p:txBody>
      </p:sp>
      <p:sp>
        <p:nvSpPr>
          <p:cNvPr id="31" name="Text Box 29">
            <a:extLst>
              <a:ext uri="{FF2B5EF4-FFF2-40B4-BE49-F238E27FC236}">
                <a16:creationId xmlns:a16="http://schemas.microsoft.com/office/drawing/2014/main" id="{3EEB1144-9EA5-ADFB-E5B4-492A431B9822}"/>
              </a:ext>
            </a:extLst>
          </p:cNvPr>
          <p:cNvSpPr txBox="1">
            <a:spLocks noChangeArrowheads="1"/>
          </p:cNvSpPr>
          <p:nvPr/>
        </p:nvSpPr>
        <p:spPr bwMode="auto">
          <a:xfrm>
            <a:off x="4591626" y="4379652"/>
            <a:ext cx="503238" cy="338554"/>
          </a:xfrm>
          <a:prstGeom prst="rect">
            <a:avLst/>
          </a:prstGeom>
          <a:noFill/>
          <a:ln w="19050" algn="ctr">
            <a:noFill/>
            <a:miter lim="800000"/>
            <a:headEnd/>
            <a:tailEnd type="none" w="med" len="lg"/>
          </a:ln>
          <a:effectLst/>
        </p:spPr>
        <p:txBody>
          <a:bodyPr>
            <a:spAutoFit/>
          </a:bodyPr>
          <a:lstStyle/>
          <a:p>
            <a:pPr algn="l">
              <a:spcBef>
                <a:spcPct val="50000"/>
              </a:spcBef>
            </a:pPr>
            <a:r>
              <a:rPr lang="en-US" altLang="zh-CN" sz="1600">
                <a:latin typeface="Consolas" pitchFamily="49" charset="0"/>
                <a:cs typeface="Consolas" pitchFamily="49" charset="0"/>
              </a:rPr>
              <a:t>12</a:t>
            </a:r>
          </a:p>
        </p:txBody>
      </p:sp>
      <p:sp>
        <p:nvSpPr>
          <p:cNvPr id="32" name="Text Box 30">
            <a:extLst>
              <a:ext uri="{FF2B5EF4-FFF2-40B4-BE49-F238E27FC236}">
                <a16:creationId xmlns:a16="http://schemas.microsoft.com/office/drawing/2014/main" id="{175037F6-523C-1576-3635-823614258001}"/>
              </a:ext>
            </a:extLst>
          </p:cNvPr>
          <p:cNvSpPr txBox="1">
            <a:spLocks noChangeArrowheads="1"/>
          </p:cNvSpPr>
          <p:nvPr/>
        </p:nvSpPr>
        <p:spPr bwMode="auto">
          <a:xfrm>
            <a:off x="3510539" y="5495664"/>
            <a:ext cx="935038" cy="400110"/>
          </a:xfrm>
          <a:prstGeom prst="rect">
            <a:avLst/>
          </a:prstGeom>
          <a:noFill/>
          <a:ln w="19050" algn="ctr">
            <a:noFill/>
            <a:miter lim="800000"/>
            <a:headEnd/>
            <a:tailEnd type="none" w="med" len="lg"/>
          </a:ln>
          <a:effectLst/>
        </p:spPr>
        <p:txBody>
          <a:bodyPr>
            <a:spAutoFit/>
          </a:bodyPr>
          <a:lstStyle/>
          <a:p>
            <a:pPr algn="l">
              <a:spcBef>
                <a:spcPct val="50000"/>
              </a:spcBef>
            </a:pPr>
            <a:r>
              <a:rPr lang="zh-CN" altLang="en-US" sz="2000" dirty="0">
                <a:latin typeface="Consolas" pitchFamily="49" charset="0"/>
                <a:ea typeface="楷体" pitchFamily="49" charset="-122"/>
                <a:cs typeface="Consolas" pitchFamily="49" charset="0"/>
              </a:rPr>
              <a:t>图</a:t>
            </a:r>
            <a:r>
              <a:rPr lang="en-US" altLang="zh-CN" sz="2000" dirty="0">
                <a:latin typeface="Consolas" pitchFamily="49" charset="0"/>
                <a:ea typeface="楷体" pitchFamily="49" charset="-122"/>
                <a:cs typeface="Consolas" pitchFamily="49" charset="0"/>
              </a:rPr>
              <a:t>G</a:t>
            </a:r>
          </a:p>
        </p:txBody>
      </p:sp>
      <p:sp>
        <p:nvSpPr>
          <p:cNvPr id="33" name="Text Box 73">
            <a:extLst>
              <a:ext uri="{FF2B5EF4-FFF2-40B4-BE49-F238E27FC236}">
                <a16:creationId xmlns:a16="http://schemas.microsoft.com/office/drawing/2014/main" id="{F30CFD0C-3656-BB63-BC6C-A92253BC5946}"/>
              </a:ext>
            </a:extLst>
          </p:cNvPr>
          <p:cNvSpPr txBox="1">
            <a:spLocks noChangeArrowheads="1"/>
          </p:cNvSpPr>
          <p:nvPr/>
        </p:nvSpPr>
        <p:spPr bwMode="auto">
          <a:xfrm>
            <a:off x="1562346" y="1925044"/>
            <a:ext cx="3714776" cy="400110"/>
          </a:xfrm>
          <a:prstGeom prst="rect">
            <a:avLst/>
          </a:prstGeom>
          <a:solidFill>
            <a:srgbClr val="339933"/>
          </a:solidFill>
          <a:ln w="19050" algn="ctr">
            <a:noFill/>
            <a:miter lim="800000"/>
            <a:headEnd/>
            <a:tailEnd type="none" w="med" len="lg"/>
          </a:ln>
          <a:effectLst/>
        </p:spPr>
        <p:txBody>
          <a:bodyPr wrap="square">
            <a:spAutoFit/>
          </a:bodyPr>
          <a:lstStyle/>
          <a:p>
            <a:pPr>
              <a:spcBef>
                <a:spcPct val="50000"/>
              </a:spcBef>
            </a:pPr>
            <a:r>
              <a:rPr lang="en-US" altLang="zh-CN" sz="2000" dirty="0">
                <a:solidFill>
                  <a:schemeClr val="bg1"/>
                </a:solidFill>
                <a:latin typeface="Consolas" pitchFamily="49" charset="0"/>
                <a:ea typeface="华文中宋" pitchFamily="2" charset="-122"/>
                <a:cs typeface="Consolas" pitchFamily="49" charset="0"/>
              </a:rPr>
              <a:t>Prim</a:t>
            </a:r>
            <a:r>
              <a:rPr lang="zh-CN" altLang="en-US" sz="2000" dirty="0">
                <a:solidFill>
                  <a:schemeClr val="bg1"/>
                </a:solidFill>
                <a:latin typeface="Consolas" pitchFamily="49" charset="0"/>
                <a:ea typeface="华文中宋" pitchFamily="2" charset="-122"/>
                <a:cs typeface="Consolas" pitchFamily="49" charset="0"/>
              </a:rPr>
              <a:t>算法示例演示（起点</a:t>
            </a:r>
            <a:r>
              <a:rPr lang="en-US" altLang="zh-CN" sz="2000" dirty="0">
                <a:solidFill>
                  <a:schemeClr val="bg1"/>
                </a:solidFill>
                <a:latin typeface="Consolas" pitchFamily="49" charset="0"/>
                <a:ea typeface="华文中宋" pitchFamily="2" charset="-122"/>
                <a:cs typeface="Consolas" pitchFamily="49" charset="0"/>
              </a:rPr>
              <a:t>0</a:t>
            </a:r>
            <a:r>
              <a:rPr lang="zh-CN" altLang="en-US" sz="2000" dirty="0">
                <a:solidFill>
                  <a:schemeClr val="bg1"/>
                </a:solidFill>
                <a:latin typeface="Consolas" pitchFamily="49" charset="0"/>
                <a:ea typeface="华文中宋" pitchFamily="2" charset="-122"/>
                <a:cs typeface="Consolas" pitchFamily="49" charset="0"/>
              </a:rPr>
              <a:t>）</a:t>
            </a:r>
          </a:p>
        </p:txBody>
      </p:sp>
      <p:sp>
        <p:nvSpPr>
          <p:cNvPr id="34" name="椭圆 33">
            <a:extLst>
              <a:ext uri="{FF2B5EF4-FFF2-40B4-BE49-F238E27FC236}">
                <a16:creationId xmlns:a16="http://schemas.microsoft.com/office/drawing/2014/main" id="{ACF06993-016B-9CDB-0E2B-07D21DACDB09}"/>
              </a:ext>
            </a:extLst>
          </p:cNvPr>
          <p:cNvSpPr/>
          <p:nvPr/>
        </p:nvSpPr>
        <p:spPr bwMode="auto">
          <a:xfrm>
            <a:off x="2851650" y="2874686"/>
            <a:ext cx="1000132" cy="785818"/>
          </a:xfrm>
          <a:prstGeom prst="ellipse">
            <a:avLst/>
          </a:prstGeom>
          <a:solidFill>
            <a:schemeClr val="accent2">
              <a:lumMod val="40000"/>
              <a:lumOff val="60000"/>
              <a:alpha val="50000"/>
            </a:schemeClr>
          </a:solidFill>
          <a:ln w="28575" cap="flat" cmpd="sng">
            <a:solidFill>
              <a:srgbClr val="C00000"/>
            </a:solidFill>
            <a:prstDash val="dash"/>
            <a:round/>
            <a:headEnd type="none" w="med" len="med"/>
            <a:tailEnd type="none" w="med" len="lg"/>
          </a:ln>
          <a:effectLst/>
        </p:spPr>
        <p:txBody>
          <a:bodyPr wrap="none" rtlCol="0" anchor="ctr"/>
          <a:lstStyle/>
          <a:p>
            <a:pPr algn="ctr"/>
            <a:endParaRPr lang="zh-CN" altLang="en-US">
              <a:latin typeface="Consolas" pitchFamily="49" charset="0"/>
              <a:cs typeface="Consolas" pitchFamily="49" charset="0"/>
            </a:endParaRPr>
          </a:p>
        </p:txBody>
      </p:sp>
      <p:sp>
        <p:nvSpPr>
          <p:cNvPr id="35" name="任意多边形 54">
            <a:extLst>
              <a:ext uri="{FF2B5EF4-FFF2-40B4-BE49-F238E27FC236}">
                <a16:creationId xmlns:a16="http://schemas.microsoft.com/office/drawing/2014/main" id="{0F04AF8C-6215-DEF8-EE73-B1160DE45934}"/>
              </a:ext>
            </a:extLst>
          </p:cNvPr>
          <p:cNvSpPr/>
          <p:nvPr/>
        </p:nvSpPr>
        <p:spPr>
          <a:xfrm>
            <a:off x="2351584" y="2612766"/>
            <a:ext cx="3155950" cy="2762250"/>
          </a:xfrm>
          <a:custGeom>
            <a:avLst/>
            <a:gdLst>
              <a:gd name="connsiteX0" fmla="*/ 241300 w 3155950"/>
              <a:gd name="connsiteY0" fmla="*/ 1100667 h 2762250"/>
              <a:gd name="connsiteX1" fmla="*/ 1295400 w 3155950"/>
              <a:gd name="connsiteY1" fmla="*/ 1240367 h 2762250"/>
              <a:gd name="connsiteX2" fmla="*/ 1905000 w 3155950"/>
              <a:gd name="connsiteY2" fmla="*/ 211667 h 2762250"/>
              <a:gd name="connsiteX3" fmla="*/ 2374900 w 3155950"/>
              <a:gd name="connsiteY3" fmla="*/ 110067 h 2762250"/>
              <a:gd name="connsiteX4" fmla="*/ 2832100 w 3155950"/>
              <a:gd name="connsiteY4" fmla="*/ 872067 h 2762250"/>
              <a:gd name="connsiteX5" fmla="*/ 2997200 w 3155950"/>
              <a:gd name="connsiteY5" fmla="*/ 1735667 h 2762250"/>
              <a:gd name="connsiteX6" fmla="*/ 1879600 w 3155950"/>
              <a:gd name="connsiteY6" fmla="*/ 2637367 h 2762250"/>
              <a:gd name="connsiteX7" fmla="*/ 571500 w 3155950"/>
              <a:gd name="connsiteY7" fmla="*/ 2484967 h 2762250"/>
              <a:gd name="connsiteX8" fmla="*/ 63500 w 3155950"/>
              <a:gd name="connsiteY8" fmla="*/ 1735667 h 2762250"/>
              <a:gd name="connsiteX9" fmla="*/ 190500 w 3155950"/>
              <a:gd name="connsiteY9" fmla="*/ 1087967 h 2762250"/>
              <a:gd name="connsiteX0" fmla="*/ 241300 w 3155950"/>
              <a:gd name="connsiteY0" fmla="*/ 1100667 h 2762250"/>
              <a:gd name="connsiteX1" fmla="*/ 1295400 w 3155950"/>
              <a:gd name="connsiteY1" fmla="*/ 1240367 h 2762250"/>
              <a:gd name="connsiteX2" fmla="*/ 1905000 w 3155950"/>
              <a:gd name="connsiteY2" fmla="*/ 211667 h 2762250"/>
              <a:gd name="connsiteX3" fmla="*/ 2374900 w 3155950"/>
              <a:gd name="connsiteY3" fmla="*/ 110067 h 2762250"/>
              <a:gd name="connsiteX4" fmla="*/ 2832100 w 3155950"/>
              <a:gd name="connsiteY4" fmla="*/ 872067 h 2762250"/>
              <a:gd name="connsiteX5" fmla="*/ 2997200 w 3155950"/>
              <a:gd name="connsiteY5" fmla="*/ 1735667 h 2762250"/>
              <a:gd name="connsiteX6" fmla="*/ 1879600 w 3155950"/>
              <a:gd name="connsiteY6" fmla="*/ 2637367 h 2762250"/>
              <a:gd name="connsiteX7" fmla="*/ 571500 w 3155950"/>
              <a:gd name="connsiteY7" fmla="*/ 2484967 h 2762250"/>
              <a:gd name="connsiteX8" fmla="*/ 63500 w 3155950"/>
              <a:gd name="connsiteY8" fmla="*/ 1735667 h 2762250"/>
              <a:gd name="connsiteX9" fmla="*/ 190500 w 3155950"/>
              <a:gd name="connsiteY9" fmla="*/ 1087967 h 2762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155950" h="2762250">
                <a:moveTo>
                  <a:pt x="241300" y="1100667"/>
                </a:moveTo>
                <a:cubicBezTo>
                  <a:pt x="629708" y="1244600"/>
                  <a:pt x="1018117" y="1388534"/>
                  <a:pt x="1295400" y="1240367"/>
                </a:cubicBezTo>
                <a:cubicBezTo>
                  <a:pt x="1572683" y="1092200"/>
                  <a:pt x="1725083" y="400050"/>
                  <a:pt x="1905000" y="211667"/>
                </a:cubicBezTo>
                <a:cubicBezTo>
                  <a:pt x="2084917" y="23284"/>
                  <a:pt x="2220384" y="0"/>
                  <a:pt x="2374900" y="110067"/>
                </a:cubicBezTo>
                <a:cubicBezTo>
                  <a:pt x="2529416" y="220134"/>
                  <a:pt x="2728383" y="601134"/>
                  <a:pt x="2832100" y="872067"/>
                </a:cubicBezTo>
                <a:cubicBezTo>
                  <a:pt x="2935817" y="1143000"/>
                  <a:pt x="3155950" y="1441450"/>
                  <a:pt x="2997200" y="1735667"/>
                </a:cubicBezTo>
                <a:cubicBezTo>
                  <a:pt x="2838450" y="2029884"/>
                  <a:pt x="2283883" y="2512484"/>
                  <a:pt x="1879600" y="2637367"/>
                </a:cubicBezTo>
                <a:cubicBezTo>
                  <a:pt x="1475317" y="2762250"/>
                  <a:pt x="874183" y="2635250"/>
                  <a:pt x="571500" y="2484967"/>
                </a:cubicBezTo>
                <a:cubicBezTo>
                  <a:pt x="268817" y="2334684"/>
                  <a:pt x="127000" y="1968500"/>
                  <a:pt x="63500" y="1735667"/>
                </a:cubicBezTo>
                <a:cubicBezTo>
                  <a:pt x="0" y="1502834"/>
                  <a:pt x="95250" y="1295400"/>
                  <a:pt x="190500" y="1087967"/>
                </a:cubicBezTo>
              </a:path>
            </a:pathLst>
          </a:custGeom>
          <a:solidFill>
            <a:schemeClr val="accent1">
              <a:lumMod val="20000"/>
              <a:lumOff val="80000"/>
              <a:alpha val="50000"/>
            </a:schemeClr>
          </a:solidFill>
          <a:ln w="28575">
            <a:solidFill>
              <a:srgbClr val="C00000"/>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Consolas" pitchFamily="49" charset="0"/>
              <a:cs typeface="Consolas" pitchFamily="49" charset="0"/>
            </a:endParaRPr>
          </a:p>
        </p:txBody>
      </p:sp>
      <p:grpSp>
        <p:nvGrpSpPr>
          <p:cNvPr id="36" name="组合 86">
            <a:extLst>
              <a:ext uri="{FF2B5EF4-FFF2-40B4-BE49-F238E27FC236}">
                <a16:creationId xmlns:a16="http://schemas.microsoft.com/office/drawing/2014/main" id="{71D8C8E1-A1A0-06AD-56C8-3049110A34D4}"/>
              </a:ext>
            </a:extLst>
          </p:cNvPr>
          <p:cNvGrpSpPr/>
          <p:nvPr/>
        </p:nvGrpSpPr>
        <p:grpSpPr>
          <a:xfrm>
            <a:off x="6661740" y="2915947"/>
            <a:ext cx="2376488" cy="2016125"/>
            <a:chOff x="5167380" y="1285860"/>
            <a:chExt cx="2376488" cy="2016125"/>
          </a:xfrm>
        </p:grpSpPr>
        <p:sp>
          <p:nvSpPr>
            <p:cNvPr id="37" name="Oval 31">
              <a:extLst>
                <a:ext uri="{FF2B5EF4-FFF2-40B4-BE49-F238E27FC236}">
                  <a16:creationId xmlns:a16="http://schemas.microsoft.com/office/drawing/2014/main" id="{F9A2374A-349B-E918-C1EA-E6C0DC7AEFDE}"/>
                </a:ext>
              </a:extLst>
            </p:cNvPr>
            <p:cNvSpPr>
              <a:spLocks noChangeArrowheads="1"/>
            </p:cNvSpPr>
            <p:nvPr/>
          </p:nvSpPr>
          <p:spPr bwMode="auto">
            <a:xfrm>
              <a:off x="5743643" y="1285860"/>
              <a:ext cx="360363"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2000" dirty="0">
                  <a:solidFill>
                    <a:srgbClr val="0000FF"/>
                  </a:solidFill>
                  <a:latin typeface="Consolas" pitchFamily="49" charset="0"/>
                  <a:cs typeface="Consolas" pitchFamily="49" charset="0"/>
                </a:rPr>
                <a:t>0</a:t>
              </a:r>
            </a:p>
          </p:txBody>
        </p:sp>
        <p:sp>
          <p:nvSpPr>
            <p:cNvPr id="38" name="Oval 32">
              <a:extLst>
                <a:ext uri="{FF2B5EF4-FFF2-40B4-BE49-F238E27FC236}">
                  <a16:creationId xmlns:a16="http://schemas.microsoft.com/office/drawing/2014/main" id="{B441736E-7FD7-00A8-1F56-A0BB73988DB9}"/>
                </a:ext>
              </a:extLst>
            </p:cNvPr>
            <p:cNvSpPr>
              <a:spLocks noChangeArrowheads="1"/>
            </p:cNvSpPr>
            <p:nvPr/>
          </p:nvSpPr>
          <p:spPr bwMode="auto">
            <a:xfrm>
              <a:off x="6824730" y="1285860"/>
              <a:ext cx="360363"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2000">
                  <a:solidFill>
                    <a:srgbClr val="0000FF"/>
                  </a:solidFill>
                  <a:latin typeface="Consolas" pitchFamily="49" charset="0"/>
                  <a:cs typeface="Consolas" pitchFamily="49" charset="0"/>
                </a:rPr>
                <a:t>1</a:t>
              </a:r>
            </a:p>
          </p:txBody>
        </p:sp>
        <p:sp>
          <p:nvSpPr>
            <p:cNvPr id="39" name="Oval 33">
              <a:extLst>
                <a:ext uri="{FF2B5EF4-FFF2-40B4-BE49-F238E27FC236}">
                  <a16:creationId xmlns:a16="http://schemas.microsoft.com/office/drawing/2014/main" id="{23943AD7-3BA8-9445-27C7-A249DBA4AB50}"/>
                </a:ext>
              </a:extLst>
            </p:cNvPr>
            <p:cNvSpPr>
              <a:spLocks noChangeArrowheads="1"/>
            </p:cNvSpPr>
            <p:nvPr/>
          </p:nvSpPr>
          <p:spPr bwMode="auto">
            <a:xfrm>
              <a:off x="5167380" y="2151048"/>
              <a:ext cx="360363"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2000">
                  <a:solidFill>
                    <a:srgbClr val="0000FF"/>
                  </a:solidFill>
                  <a:latin typeface="Consolas" pitchFamily="49" charset="0"/>
                  <a:cs typeface="Consolas" pitchFamily="49" charset="0"/>
                </a:rPr>
                <a:t>5</a:t>
              </a:r>
            </a:p>
          </p:txBody>
        </p:sp>
        <p:sp>
          <p:nvSpPr>
            <p:cNvPr id="40" name="Oval 34">
              <a:extLst>
                <a:ext uri="{FF2B5EF4-FFF2-40B4-BE49-F238E27FC236}">
                  <a16:creationId xmlns:a16="http://schemas.microsoft.com/office/drawing/2014/main" id="{A35C6BEE-E04B-D5A2-72C9-3FBDE4C5BA2A}"/>
                </a:ext>
              </a:extLst>
            </p:cNvPr>
            <p:cNvSpPr>
              <a:spLocks noChangeArrowheads="1"/>
            </p:cNvSpPr>
            <p:nvPr/>
          </p:nvSpPr>
          <p:spPr bwMode="auto">
            <a:xfrm>
              <a:off x="5816668" y="2870185"/>
              <a:ext cx="360363"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2000">
                  <a:solidFill>
                    <a:srgbClr val="0000FF"/>
                  </a:solidFill>
                  <a:latin typeface="Consolas" pitchFamily="49" charset="0"/>
                  <a:cs typeface="Consolas" pitchFamily="49" charset="0"/>
                </a:rPr>
                <a:t>4</a:t>
              </a:r>
            </a:p>
          </p:txBody>
        </p:sp>
        <p:sp>
          <p:nvSpPr>
            <p:cNvPr id="41" name="Oval 35">
              <a:extLst>
                <a:ext uri="{FF2B5EF4-FFF2-40B4-BE49-F238E27FC236}">
                  <a16:creationId xmlns:a16="http://schemas.microsoft.com/office/drawing/2014/main" id="{4CCE36C6-9089-E9D0-68EB-B8442B3AD233}"/>
                </a:ext>
              </a:extLst>
            </p:cNvPr>
            <p:cNvSpPr>
              <a:spLocks noChangeArrowheads="1"/>
            </p:cNvSpPr>
            <p:nvPr/>
          </p:nvSpPr>
          <p:spPr bwMode="auto">
            <a:xfrm>
              <a:off x="6751705" y="2870185"/>
              <a:ext cx="360363"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2000">
                  <a:solidFill>
                    <a:srgbClr val="0000FF"/>
                  </a:solidFill>
                  <a:latin typeface="Consolas" pitchFamily="49" charset="0"/>
                  <a:cs typeface="Consolas" pitchFamily="49" charset="0"/>
                </a:rPr>
                <a:t>3</a:t>
              </a:r>
            </a:p>
          </p:txBody>
        </p:sp>
        <p:sp>
          <p:nvSpPr>
            <p:cNvPr id="43" name="Oval 36">
              <a:extLst>
                <a:ext uri="{FF2B5EF4-FFF2-40B4-BE49-F238E27FC236}">
                  <a16:creationId xmlns:a16="http://schemas.microsoft.com/office/drawing/2014/main" id="{565B8DE2-00FD-AB0B-FD10-308F922ACB97}"/>
                </a:ext>
              </a:extLst>
            </p:cNvPr>
            <p:cNvSpPr>
              <a:spLocks noChangeArrowheads="1"/>
            </p:cNvSpPr>
            <p:nvPr/>
          </p:nvSpPr>
          <p:spPr bwMode="auto">
            <a:xfrm>
              <a:off x="6319905" y="2078023"/>
              <a:ext cx="360363"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2000">
                  <a:solidFill>
                    <a:srgbClr val="0000FF"/>
                  </a:solidFill>
                  <a:latin typeface="Consolas" pitchFamily="49" charset="0"/>
                  <a:cs typeface="Consolas" pitchFamily="49" charset="0"/>
                </a:rPr>
                <a:t>6</a:t>
              </a:r>
            </a:p>
          </p:txBody>
        </p:sp>
        <p:sp>
          <p:nvSpPr>
            <p:cNvPr id="44" name="Oval 37">
              <a:extLst>
                <a:ext uri="{FF2B5EF4-FFF2-40B4-BE49-F238E27FC236}">
                  <a16:creationId xmlns:a16="http://schemas.microsoft.com/office/drawing/2014/main" id="{F4869BB9-52F1-CF2F-BA4A-FF81A1DAE746}"/>
                </a:ext>
              </a:extLst>
            </p:cNvPr>
            <p:cNvSpPr>
              <a:spLocks noChangeArrowheads="1"/>
            </p:cNvSpPr>
            <p:nvPr/>
          </p:nvSpPr>
          <p:spPr bwMode="auto">
            <a:xfrm>
              <a:off x="7183505" y="2078023"/>
              <a:ext cx="360363"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2000">
                  <a:solidFill>
                    <a:srgbClr val="0000FF"/>
                  </a:solidFill>
                  <a:latin typeface="Consolas" pitchFamily="49" charset="0"/>
                  <a:cs typeface="Consolas" pitchFamily="49" charset="0"/>
                </a:rPr>
                <a:t>2</a:t>
              </a:r>
            </a:p>
          </p:txBody>
        </p:sp>
      </p:grpSp>
      <p:sp>
        <p:nvSpPr>
          <p:cNvPr id="45" name="Freeform 13">
            <a:extLst>
              <a:ext uri="{FF2B5EF4-FFF2-40B4-BE49-F238E27FC236}">
                <a16:creationId xmlns:a16="http://schemas.microsoft.com/office/drawing/2014/main" id="{69172412-267B-50E5-FFA7-B4B17A0079DA}"/>
              </a:ext>
            </a:extLst>
          </p:cNvPr>
          <p:cNvSpPr>
            <a:spLocks/>
          </p:cNvSpPr>
          <p:nvPr/>
        </p:nvSpPr>
        <p:spPr bwMode="auto">
          <a:xfrm>
            <a:off x="6898216" y="3303314"/>
            <a:ext cx="395288" cy="528638"/>
          </a:xfrm>
          <a:custGeom>
            <a:avLst/>
            <a:gdLst/>
            <a:ahLst/>
            <a:cxnLst>
              <a:cxn ang="0">
                <a:pos x="249" y="0"/>
              </a:cxn>
              <a:cxn ang="0">
                <a:pos x="0" y="333"/>
              </a:cxn>
            </a:cxnLst>
            <a:rect l="0" t="0" r="r" b="b"/>
            <a:pathLst>
              <a:path w="249" h="333">
                <a:moveTo>
                  <a:pt x="249" y="0"/>
                </a:moveTo>
                <a:lnTo>
                  <a:pt x="0" y="333"/>
                </a:lnTo>
              </a:path>
            </a:pathLst>
          </a:custGeom>
          <a:noFill/>
          <a:ln w="19050" cap="flat" cmpd="sng">
            <a:solidFill>
              <a:srgbClr val="3333FF"/>
            </a:solidFill>
            <a:prstDash val="solid"/>
            <a:round/>
            <a:headEnd type="none" w="med" len="med"/>
            <a:tailEnd type="none" w="med" len="lg"/>
          </a:ln>
          <a:effectLst/>
        </p:spPr>
        <p:txBody>
          <a:bodyPr wrap="none"/>
          <a:lstStyle/>
          <a:p>
            <a:endParaRPr lang="zh-CN" altLang="en-US">
              <a:latin typeface="Consolas" pitchFamily="49" charset="0"/>
              <a:cs typeface="Consolas" pitchFamily="49" charset="0"/>
            </a:endParaRPr>
          </a:p>
        </p:txBody>
      </p:sp>
      <p:grpSp>
        <p:nvGrpSpPr>
          <p:cNvPr id="46" name="组合 85">
            <a:extLst>
              <a:ext uri="{FF2B5EF4-FFF2-40B4-BE49-F238E27FC236}">
                <a16:creationId xmlns:a16="http://schemas.microsoft.com/office/drawing/2014/main" id="{72E0BDE5-B0EB-1A0F-A7E4-DFCDFFF68AAB}"/>
              </a:ext>
            </a:extLst>
          </p:cNvPr>
          <p:cNvGrpSpPr/>
          <p:nvPr/>
        </p:nvGrpSpPr>
        <p:grpSpPr>
          <a:xfrm>
            <a:off x="6352112" y="5310072"/>
            <a:ext cx="1000132" cy="338554"/>
            <a:chOff x="5072066" y="3845486"/>
            <a:chExt cx="1000132" cy="338554"/>
          </a:xfrm>
        </p:grpSpPr>
        <p:sp>
          <p:nvSpPr>
            <p:cNvPr id="47" name="Text Box 65">
              <a:extLst>
                <a:ext uri="{FF2B5EF4-FFF2-40B4-BE49-F238E27FC236}">
                  <a16:creationId xmlns:a16="http://schemas.microsoft.com/office/drawing/2014/main" id="{1F5FB67C-137C-5792-96EA-D5AC9386132A}"/>
                </a:ext>
              </a:extLst>
            </p:cNvPr>
            <p:cNvSpPr txBox="1">
              <a:spLocks noChangeArrowheads="1"/>
            </p:cNvSpPr>
            <p:nvPr/>
          </p:nvSpPr>
          <p:spPr bwMode="auto">
            <a:xfrm>
              <a:off x="5072066" y="3857628"/>
              <a:ext cx="1000132" cy="307777"/>
            </a:xfrm>
            <a:prstGeom prst="rect">
              <a:avLst/>
            </a:prstGeom>
            <a:noFill/>
            <a:ln w="19050" algn="ctr">
              <a:noFill/>
              <a:miter lim="800000"/>
              <a:headEnd/>
              <a:tailEnd type="none" w="med" len="lg"/>
            </a:ln>
            <a:effectLst/>
          </p:spPr>
          <p:txBody>
            <a:bodyPr wrap="square" lIns="0" tIns="0" rIns="0" bIns="0">
              <a:spAutoFit/>
            </a:bodyPr>
            <a:lstStyle/>
            <a:p>
              <a:pPr algn="l">
                <a:spcBef>
                  <a:spcPct val="50000"/>
                </a:spcBef>
              </a:pPr>
              <a:r>
                <a:rPr lang="en-US" altLang="zh-CN" sz="2000">
                  <a:solidFill>
                    <a:srgbClr val="CC00CC"/>
                  </a:solidFill>
                  <a:latin typeface="Consolas" pitchFamily="49" charset="0"/>
                  <a:cs typeface="Consolas" pitchFamily="49" charset="0"/>
                </a:rPr>
                <a:t>U={0</a:t>
              </a:r>
              <a:endParaRPr lang="en-US" altLang="zh-CN" sz="2000" dirty="0">
                <a:solidFill>
                  <a:srgbClr val="CC00CC"/>
                </a:solidFill>
                <a:latin typeface="Consolas" pitchFamily="49" charset="0"/>
                <a:cs typeface="Consolas" pitchFamily="49" charset="0"/>
              </a:endParaRPr>
            </a:p>
          </p:txBody>
        </p:sp>
        <p:sp>
          <p:nvSpPr>
            <p:cNvPr id="48" name="TextBox 56">
              <a:extLst>
                <a:ext uri="{FF2B5EF4-FFF2-40B4-BE49-F238E27FC236}">
                  <a16:creationId xmlns:a16="http://schemas.microsoft.com/office/drawing/2014/main" id="{B30780FE-6A9E-13E8-B970-E7070352C573}"/>
                </a:ext>
              </a:extLst>
            </p:cNvPr>
            <p:cNvSpPr txBox="1"/>
            <p:nvPr/>
          </p:nvSpPr>
          <p:spPr>
            <a:xfrm>
              <a:off x="5643570" y="3845486"/>
              <a:ext cx="428628" cy="338554"/>
            </a:xfrm>
            <a:prstGeom prst="rect">
              <a:avLst/>
            </a:prstGeom>
            <a:noFill/>
          </p:spPr>
          <p:txBody>
            <a:bodyPr wrap="square" lIns="0" tIns="0" rIns="0" bIns="0" rtlCol="0">
              <a:spAutoFit/>
            </a:bodyPr>
            <a:lstStyle/>
            <a:p>
              <a:r>
                <a:rPr lang="en-US" altLang="zh-CN" sz="2200" dirty="0">
                  <a:solidFill>
                    <a:srgbClr val="CC00CC"/>
                  </a:solidFill>
                  <a:latin typeface="Consolas" pitchFamily="49" charset="0"/>
                  <a:cs typeface="Consolas" pitchFamily="49" charset="0"/>
                </a:rPr>
                <a:t>}</a:t>
              </a:r>
              <a:endParaRPr lang="zh-CN" altLang="en-US" sz="2200" dirty="0">
                <a:latin typeface="Consolas" pitchFamily="49" charset="0"/>
                <a:cs typeface="Consolas" pitchFamily="49" charset="0"/>
              </a:endParaRPr>
            </a:p>
          </p:txBody>
        </p:sp>
      </p:grpSp>
      <p:sp>
        <p:nvSpPr>
          <p:cNvPr id="49" name="Oval 31">
            <a:extLst>
              <a:ext uri="{FF2B5EF4-FFF2-40B4-BE49-F238E27FC236}">
                <a16:creationId xmlns:a16="http://schemas.microsoft.com/office/drawing/2014/main" id="{ED4B0690-1BAF-88D8-C067-3FE2A3ACB14D}"/>
              </a:ext>
            </a:extLst>
          </p:cNvPr>
          <p:cNvSpPr>
            <a:spLocks noChangeArrowheads="1"/>
          </p:cNvSpPr>
          <p:nvPr/>
        </p:nvSpPr>
        <p:spPr bwMode="auto">
          <a:xfrm>
            <a:off x="7234768" y="2900075"/>
            <a:ext cx="360363" cy="431800"/>
          </a:xfrm>
          <a:prstGeom prst="ellipse">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anchor="ctr"/>
          <a:lstStyle/>
          <a:p>
            <a:r>
              <a:rPr lang="en-US" altLang="zh-CN" sz="2000" dirty="0">
                <a:solidFill>
                  <a:srgbClr val="FF00FF"/>
                </a:solidFill>
                <a:latin typeface="Consolas" pitchFamily="49" charset="0"/>
                <a:cs typeface="Consolas" pitchFamily="49" charset="0"/>
              </a:rPr>
              <a:t>0</a:t>
            </a:r>
          </a:p>
        </p:txBody>
      </p:sp>
    </p:spTree>
    <p:extLst>
      <p:ext uri="{BB962C8B-B14F-4D97-AF65-F5344CB8AC3E}">
        <p14:creationId xmlns:p14="http://schemas.microsoft.com/office/powerpoint/2010/main" val="7432483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nodePh="1">
                                  <p:stCondLst>
                                    <p:cond delay="0"/>
                                  </p:stCondLst>
                                  <p:endCondLst>
                                    <p:cond evt="begin" delay="0">
                                      <p:tn val="5"/>
                                    </p:cond>
                                  </p:endCondLst>
                                  <p:childTnLst>
                                    <p:set>
                                      <p:cBhvr>
                                        <p:cTn id="6" dur="1" fill="hold">
                                          <p:stCondLst>
                                            <p:cond delay="0"/>
                                          </p:stCondLst>
                                        </p:cTn>
                                        <p:tgtEl>
                                          <p:spTgt spid="4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26" presetClass="emph" presetSubtype="0" fill="hold" grpId="0" nodeType="clickEffect">
                                  <p:stCondLst>
                                    <p:cond delay="0"/>
                                  </p:stCondLst>
                                  <p:childTnLst>
                                    <p:animEffect transition="out" filter="fade">
                                      <p:cBhvr>
                                        <p:cTn id="26" dur="500" tmFilter="0, 0; .2, .5; .8, .5; 1, 0"/>
                                        <p:tgtEl>
                                          <p:spTgt spid="15"/>
                                        </p:tgtEl>
                                      </p:cBhvr>
                                    </p:animEffect>
                                    <p:animScale>
                                      <p:cBhvr>
                                        <p:cTn id="27" dur="250" autoRev="1" fill="hold"/>
                                        <p:tgtEl>
                                          <p:spTgt spid="15"/>
                                        </p:tgtEl>
                                      </p:cBhvr>
                                      <p:by x="105000" y="105000"/>
                                    </p:animScale>
                                  </p:childTnLst>
                                </p:cTn>
                              </p:par>
                            </p:childTnLst>
                          </p:cTn>
                        </p:par>
                        <p:par>
                          <p:cTn id="28" fill="hold">
                            <p:stCondLst>
                              <p:cond delay="500"/>
                            </p:stCondLst>
                            <p:childTnLst>
                              <p:par>
                                <p:cTn id="29" presetID="1" presetClass="entr" presetSubtype="0" fill="hold" grpId="0" nodeType="afterEffect">
                                  <p:stCondLst>
                                    <p:cond delay="0"/>
                                  </p:stCondLst>
                                  <p:childTnLst>
                                    <p:set>
                                      <p:cBhvr>
                                        <p:cTn id="30" dur="1" fill="hold">
                                          <p:stCondLst>
                                            <p:cond delay="0"/>
                                          </p:stCondLst>
                                        </p:cTn>
                                        <p:tgtEl>
                                          <p:spTgt spid="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build="p"/>
      <p:bldP spid="15" grpId="0" animBg="1"/>
      <p:bldP spid="34" grpId="0" animBg="1"/>
      <p:bldP spid="35" grpId="0" animBg="1"/>
      <p:bldP spid="45" grpId="0" animBg="1"/>
      <p:bldP spid="49" grpId="0" animBg="1"/>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151140-6B38-B8FD-2BC4-ECA37E193BBF}"/>
            </a:ext>
          </a:extLst>
        </p:cNvPr>
        <p:cNvGrpSpPr/>
        <p:nvPr/>
      </p:nvGrpSpPr>
      <p:grpSpPr>
        <a:xfrm>
          <a:off x="0" y="0"/>
          <a:ext cx="0" cy="0"/>
          <a:chOff x="0" y="0"/>
          <a:chExt cx="0" cy="0"/>
        </a:xfrm>
      </p:grpSpPr>
      <p:sp>
        <p:nvSpPr>
          <p:cNvPr id="42" name="Rectangle 4">
            <a:extLst>
              <a:ext uri="{FF2B5EF4-FFF2-40B4-BE49-F238E27FC236}">
                <a16:creationId xmlns:a16="http://schemas.microsoft.com/office/drawing/2014/main" id="{653BD9C2-B326-CFED-5C64-F6424A5C9C56}"/>
              </a:ext>
            </a:extLst>
          </p:cNvPr>
          <p:cNvSpPr>
            <a:spLocks noChangeArrowheads="1"/>
          </p:cNvSpPr>
          <p:nvPr/>
        </p:nvSpPr>
        <p:spPr bwMode="auto">
          <a:xfrm>
            <a:off x="6384032" y="4567734"/>
            <a:ext cx="7620000" cy="2016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lvl="1" indent="-228600">
              <a:spcBef>
                <a:spcPts val="600"/>
              </a:spcBef>
              <a:buClr>
                <a:srgbClr val="B870B8"/>
              </a:buClr>
              <a:buSzPct val="75000"/>
              <a:buFont typeface="Wingdings" pitchFamily="2" charset="2"/>
              <a:buChar char="n"/>
            </a:pPr>
            <a:endParaRPr kumimoji="1" lang="zh-CN" altLang="en-US" sz="2400" dirty="0">
              <a:latin typeface="微软雅黑" pitchFamily="34" charset="-122"/>
              <a:ea typeface="微软雅黑" pitchFamily="34" charset="-122"/>
              <a:cs typeface="经典粗黑简" pitchFamily="49" charset="-122"/>
            </a:endParaRPr>
          </a:p>
        </p:txBody>
      </p:sp>
      <p:sp>
        <p:nvSpPr>
          <p:cNvPr id="2" name="Rectangle 2">
            <a:extLst>
              <a:ext uri="{FF2B5EF4-FFF2-40B4-BE49-F238E27FC236}">
                <a16:creationId xmlns:a16="http://schemas.microsoft.com/office/drawing/2014/main" id="{F5815F38-0EF2-A25C-C5ED-01D1DB5186FE}"/>
              </a:ext>
            </a:extLst>
          </p:cNvPr>
          <p:cNvSpPr txBox="1">
            <a:spLocks noChangeArrowheads="1"/>
          </p:cNvSpPr>
          <p:nvPr/>
        </p:nvSpPr>
        <p:spPr>
          <a:xfrm>
            <a:off x="474772" y="1230902"/>
            <a:ext cx="4469100"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8.4.3 </a:t>
            </a:r>
            <a:r>
              <a:rPr kumimoji="1" lang="zh-CN" altLang="en-US" dirty="0">
                <a:latin typeface="微软雅黑" pitchFamily="34" charset="-122"/>
                <a:ea typeface="微软雅黑" pitchFamily="34" charset="-122"/>
              </a:rPr>
              <a:t>普里姆</a:t>
            </a:r>
            <a:r>
              <a:rPr kumimoji="1" lang="en-US" altLang="zh-CN" dirty="0">
                <a:latin typeface="微软雅黑" pitchFamily="34" charset="-122"/>
                <a:ea typeface="微软雅黑" pitchFamily="34" charset="-122"/>
              </a:rPr>
              <a:t>(Prim)</a:t>
            </a:r>
            <a:r>
              <a:rPr kumimoji="1" lang="zh-CN" altLang="en-US" dirty="0">
                <a:latin typeface="微软雅黑" pitchFamily="34" charset="-122"/>
                <a:ea typeface="微软雅黑" pitchFamily="34" charset="-122"/>
              </a:rPr>
              <a:t>算法</a:t>
            </a:r>
          </a:p>
        </p:txBody>
      </p:sp>
      <p:cxnSp>
        <p:nvCxnSpPr>
          <p:cNvPr id="3" name="直接连接符 2">
            <a:extLst>
              <a:ext uri="{FF2B5EF4-FFF2-40B4-BE49-F238E27FC236}">
                <a16:creationId xmlns:a16="http://schemas.microsoft.com/office/drawing/2014/main" id="{F9F01FC7-CA98-5500-2A51-31D639D67CC1}"/>
              </a:ext>
            </a:extLst>
          </p:cNvPr>
          <p:cNvCxnSpPr>
            <a:cxnSpLocks/>
          </p:cNvCxnSpPr>
          <p:nvPr/>
        </p:nvCxnSpPr>
        <p:spPr>
          <a:xfrm>
            <a:off x="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4" name="矩形 3">
            <a:extLst>
              <a:ext uri="{FF2B5EF4-FFF2-40B4-BE49-F238E27FC236}">
                <a16:creationId xmlns:a16="http://schemas.microsoft.com/office/drawing/2014/main" id="{AD3E04AF-7C1F-7D70-67B9-F93DC4F7B9B5}"/>
              </a:ext>
            </a:extLst>
          </p:cNvPr>
          <p:cNvSpPr/>
          <p:nvPr/>
        </p:nvSpPr>
        <p:spPr>
          <a:xfrm>
            <a:off x="3394075" y="399838"/>
            <a:ext cx="4617860"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8.4 </a:t>
            </a:r>
            <a:r>
              <a:rPr lang="zh-CN" altLang="en-US" sz="3000" b="1" dirty="0">
                <a:latin typeface="黑体" pitchFamily="49" charset="-122"/>
                <a:ea typeface="黑体" pitchFamily="49" charset="-122"/>
                <a:cs typeface="经典粗黑简" pitchFamily="49" charset="-122"/>
              </a:rPr>
              <a:t>生成树和最小生成树</a:t>
            </a:r>
          </a:p>
        </p:txBody>
      </p:sp>
      <p:sp>
        <p:nvSpPr>
          <p:cNvPr id="5" name="Text Box 4">
            <a:extLst>
              <a:ext uri="{FF2B5EF4-FFF2-40B4-BE49-F238E27FC236}">
                <a16:creationId xmlns:a16="http://schemas.microsoft.com/office/drawing/2014/main" id="{FE2007B3-B5C7-96D2-D3E9-5CA1EB48A202}"/>
              </a:ext>
            </a:extLst>
          </p:cNvPr>
          <p:cNvSpPr txBox="1">
            <a:spLocks noChangeArrowheads="1"/>
          </p:cNvSpPr>
          <p:nvPr/>
        </p:nvSpPr>
        <p:spPr bwMode="auto">
          <a:xfrm>
            <a:off x="3978057" y="6198533"/>
            <a:ext cx="4929222" cy="400110"/>
          </a:xfrm>
          <a:prstGeom prst="rect">
            <a:avLst/>
          </a:prstGeom>
          <a:noFill/>
          <a:ln w="9525">
            <a:noFill/>
            <a:miter lim="800000"/>
            <a:headEnd/>
            <a:tailEnd/>
          </a:ln>
          <a:effectLst/>
        </p:spPr>
        <p:txBody>
          <a:bodyPr wrap="square">
            <a:spAutoFit/>
          </a:bodyPr>
          <a:lstStyle/>
          <a:p>
            <a:pPr algn="l">
              <a:spcBef>
                <a:spcPct val="50000"/>
              </a:spcBef>
            </a:pPr>
            <a:r>
              <a:rPr kumimoji="1" lang="zh-CN" altLang="en-US" sz="2000" dirty="0">
                <a:ea typeface="楷体" pitchFamily="49" charset="-122"/>
                <a:cs typeface="Times New Roman" pitchFamily="18" charset="0"/>
              </a:rPr>
              <a:t>普里姆算法求解最小生成树的过程 </a:t>
            </a:r>
          </a:p>
        </p:txBody>
      </p:sp>
      <p:sp>
        <p:nvSpPr>
          <p:cNvPr id="33" name="Text Box 73">
            <a:extLst>
              <a:ext uri="{FF2B5EF4-FFF2-40B4-BE49-F238E27FC236}">
                <a16:creationId xmlns:a16="http://schemas.microsoft.com/office/drawing/2014/main" id="{9EE2827B-108C-B622-5D05-171E47EE8C95}"/>
              </a:ext>
            </a:extLst>
          </p:cNvPr>
          <p:cNvSpPr txBox="1">
            <a:spLocks noChangeArrowheads="1"/>
          </p:cNvSpPr>
          <p:nvPr/>
        </p:nvSpPr>
        <p:spPr bwMode="auto">
          <a:xfrm>
            <a:off x="1562346" y="1925044"/>
            <a:ext cx="3714776" cy="400110"/>
          </a:xfrm>
          <a:prstGeom prst="rect">
            <a:avLst/>
          </a:prstGeom>
          <a:solidFill>
            <a:srgbClr val="339933"/>
          </a:solidFill>
          <a:ln w="19050" algn="ctr">
            <a:noFill/>
            <a:miter lim="800000"/>
            <a:headEnd/>
            <a:tailEnd type="none" w="med" len="lg"/>
          </a:ln>
          <a:effectLst/>
        </p:spPr>
        <p:txBody>
          <a:bodyPr wrap="square">
            <a:spAutoFit/>
          </a:bodyPr>
          <a:lstStyle/>
          <a:p>
            <a:pPr>
              <a:spcBef>
                <a:spcPct val="50000"/>
              </a:spcBef>
            </a:pPr>
            <a:r>
              <a:rPr lang="en-US" altLang="zh-CN" sz="2000" dirty="0">
                <a:solidFill>
                  <a:schemeClr val="bg1"/>
                </a:solidFill>
                <a:latin typeface="Consolas" pitchFamily="49" charset="0"/>
                <a:ea typeface="华文中宋" pitchFamily="2" charset="-122"/>
                <a:cs typeface="Consolas" pitchFamily="49" charset="0"/>
              </a:rPr>
              <a:t>Prim</a:t>
            </a:r>
            <a:r>
              <a:rPr lang="zh-CN" altLang="en-US" sz="2000" dirty="0">
                <a:solidFill>
                  <a:schemeClr val="bg1"/>
                </a:solidFill>
                <a:latin typeface="Consolas" pitchFamily="49" charset="0"/>
                <a:ea typeface="华文中宋" pitchFamily="2" charset="-122"/>
                <a:cs typeface="Consolas" pitchFamily="49" charset="0"/>
              </a:rPr>
              <a:t>算法示例演示（起点</a:t>
            </a:r>
            <a:r>
              <a:rPr lang="en-US" altLang="zh-CN" sz="2000" dirty="0">
                <a:solidFill>
                  <a:schemeClr val="bg1"/>
                </a:solidFill>
                <a:latin typeface="Consolas" pitchFamily="49" charset="0"/>
                <a:ea typeface="华文中宋" pitchFamily="2" charset="-122"/>
                <a:cs typeface="Consolas" pitchFamily="49" charset="0"/>
              </a:rPr>
              <a:t>0</a:t>
            </a:r>
            <a:r>
              <a:rPr lang="zh-CN" altLang="en-US" sz="2000" dirty="0">
                <a:solidFill>
                  <a:schemeClr val="bg1"/>
                </a:solidFill>
                <a:latin typeface="Consolas" pitchFamily="49" charset="0"/>
                <a:ea typeface="华文中宋" pitchFamily="2" charset="-122"/>
                <a:cs typeface="Consolas" pitchFamily="49" charset="0"/>
              </a:rPr>
              <a:t>）</a:t>
            </a:r>
          </a:p>
        </p:txBody>
      </p:sp>
      <p:sp>
        <p:nvSpPr>
          <p:cNvPr id="12" name="Oval 5">
            <a:extLst>
              <a:ext uri="{FF2B5EF4-FFF2-40B4-BE49-F238E27FC236}">
                <a16:creationId xmlns:a16="http://schemas.microsoft.com/office/drawing/2014/main" id="{05A9660A-6A79-5CFB-11E9-DF588B601F31}"/>
              </a:ext>
            </a:extLst>
          </p:cNvPr>
          <p:cNvSpPr>
            <a:spLocks noChangeArrowheads="1"/>
          </p:cNvSpPr>
          <p:nvPr/>
        </p:nvSpPr>
        <p:spPr bwMode="auto">
          <a:xfrm>
            <a:off x="3584504" y="2859616"/>
            <a:ext cx="360363"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2000">
                <a:solidFill>
                  <a:srgbClr val="0000FF"/>
                </a:solidFill>
                <a:latin typeface="Consolas" pitchFamily="49" charset="0"/>
                <a:cs typeface="Consolas" pitchFamily="49" charset="0"/>
              </a:rPr>
              <a:t>0</a:t>
            </a:r>
          </a:p>
        </p:txBody>
      </p:sp>
      <p:sp>
        <p:nvSpPr>
          <p:cNvPr id="50" name="Oval 6">
            <a:extLst>
              <a:ext uri="{FF2B5EF4-FFF2-40B4-BE49-F238E27FC236}">
                <a16:creationId xmlns:a16="http://schemas.microsoft.com/office/drawing/2014/main" id="{9D6EEB7D-CE2A-2E4F-13B9-8F1403027DDF}"/>
              </a:ext>
            </a:extLst>
          </p:cNvPr>
          <p:cNvSpPr>
            <a:spLocks noChangeArrowheads="1"/>
          </p:cNvSpPr>
          <p:nvPr/>
        </p:nvSpPr>
        <p:spPr bwMode="auto">
          <a:xfrm>
            <a:off x="4665591" y="2859616"/>
            <a:ext cx="360363"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2000">
                <a:solidFill>
                  <a:srgbClr val="0000FF"/>
                </a:solidFill>
                <a:latin typeface="Consolas" pitchFamily="49" charset="0"/>
                <a:cs typeface="Consolas" pitchFamily="49" charset="0"/>
              </a:rPr>
              <a:t>1</a:t>
            </a:r>
          </a:p>
        </p:txBody>
      </p:sp>
      <p:sp>
        <p:nvSpPr>
          <p:cNvPr id="51" name="Oval 7">
            <a:extLst>
              <a:ext uri="{FF2B5EF4-FFF2-40B4-BE49-F238E27FC236}">
                <a16:creationId xmlns:a16="http://schemas.microsoft.com/office/drawing/2014/main" id="{A471FD4A-B8BA-DD05-790D-95BD06A21D2D}"/>
              </a:ext>
            </a:extLst>
          </p:cNvPr>
          <p:cNvSpPr>
            <a:spLocks noChangeArrowheads="1"/>
          </p:cNvSpPr>
          <p:nvPr/>
        </p:nvSpPr>
        <p:spPr bwMode="auto">
          <a:xfrm>
            <a:off x="3008241" y="3724804"/>
            <a:ext cx="360363"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2000" dirty="0">
                <a:solidFill>
                  <a:srgbClr val="0000FF"/>
                </a:solidFill>
                <a:latin typeface="Consolas" pitchFamily="49" charset="0"/>
                <a:cs typeface="Consolas" pitchFamily="49" charset="0"/>
              </a:rPr>
              <a:t>5</a:t>
            </a:r>
          </a:p>
        </p:txBody>
      </p:sp>
      <p:sp>
        <p:nvSpPr>
          <p:cNvPr id="52" name="Oval 8">
            <a:extLst>
              <a:ext uri="{FF2B5EF4-FFF2-40B4-BE49-F238E27FC236}">
                <a16:creationId xmlns:a16="http://schemas.microsoft.com/office/drawing/2014/main" id="{876E27FC-50FF-23AA-4892-8CDFB55E5CD0}"/>
              </a:ext>
            </a:extLst>
          </p:cNvPr>
          <p:cNvSpPr>
            <a:spLocks noChangeArrowheads="1"/>
          </p:cNvSpPr>
          <p:nvPr/>
        </p:nvSpPr>
        <p:spPr bwMode="auto">
          <a:xfrm>
            <a:off x="3657529" y="4443941"/>
            <a:ext cx="360363"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2000">
                <a:solidFill>
                  <a:srgbClr val="0000FF"/>
                </a:solidFill>
                <a:latin typeface="Consolas" pitchFamily="49" charset="0"/>
                <a:cs typeface="Consolas" pitchFamily="49" charset="0"/>
              </a:rPr>
              <a:t>4</a:t>
            </a:r>
          </a:p>
        </p:txBody>
      </p:sp>
      <p:sp>
        <p:nvSpPr>
          <p:cNvPr id="53" name="Oval 9">
            <a:extLst>
              <a:ext uri="{FF2B5EF4-FFF2-40B4-BE49-F238E27FC236}">
                <a16:creationId xmlns:a16="http://schemas.microsoft.com/office/drawing/2014/main" id="{7DB74906-4F5F-9A33-2198-84056ACDD90F}"/>
              </a:ext>
            </a:extLst>
          </p:cNvPr>
          <p:cNvSpPr>
            <a:spLocks noChangeArrowheads="1"/>
          </p:cNvSpPr>
          <p:nvPr/>
        </p:nvSpPr>
        <p:spPr bwMode="auto">
          <a:xfrm>
            <a:off x="4592566" y="4443941"/>
            <a:ext cx="360363"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2000">
                <a:solidFill>
                  <a:srgbClr val="0000FF"/>
                </a:solidFill>
                <a:latin typeface="Consolas" pitchFamily="49" charset="0"/>
                <a:cs typeface="Consolas" pitchFamily="49" charset="0"/>
              </a:rPr>
              <a:t>3</a:t>
            </a:r>
          </a:p>
        </p:txBody>
      </p:sp>
      <p:sp>
        <p:nvSpPr>
          <p:cNvPr id="54" name="Oval 10">
            <a:extLst>
              <a:ext uri="{FF2B5EF4-FFF2-40B4-BE49-F238E27FC236}">
                <a16:creationId xmlns:a16="http://schemas.microsoft.com/office/drawing/2014/main" id="{B401543C-AD8C-FF9B-D286-E3249ED8F68D}"/>
              </a:ext>
            </a:extLst>
          </p:cNvPr>
          <p:cNvSpPr>
            <a:spLocks noChangeArrowheads="1"/>
          </p:cNvSpPr>
          <p:nvPr/>
        </p:nvSpPr>
        <p:spPr bwMode="auto">
          <a:xfrm>
            <a:off x="4160766" y="3651779"/>
            <a:ext cx="360363"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2000">
                <a:solidFill>
                  <a:srgbClr val="0000FF"/>
                </a:solidFill>
                <a:latin typeface="Consolas" pitchFamily="49" charset="0"/>
                <a:cs typeface="Consolas" pitchFamily="49" charset="0"/>
              </a:rPr>
              <a:t>6</a:t>
            </a:r>
          </a:p>
        </p:txBody>
      </p:sp>
      <p:sp>
        <p:nvSpPr>
          <p:cNvPr id="55" name="Oval 11">
            <a:extLst>
              <a:ext uri="{FF2B5EF4-FFF2-40B4-BE49-F238E27FC236}">
                <a16:creationId xmlns:a16="http://schemas.microsoft.com/office/drawing/2014/main" id="{AE9398A9-66A9-28BB-ADE8-A5B7FB1FCEBB}"/>
              </a:ext>
            </a:extLst>
          </p:cNvPr>
          <p:cNvSpPr>
            <a:spLocks noChangeArrowheads="1"/>
          </p:cNvSpPr>
          <p:nvPr/>
        </p:nvSpPr>
        <p:spPr bwMode="auto">
          <a:xfrm>
            <a:off x="5024366" y="3651779"/>
            <a:ext cx="360363"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2000">
                <a:solidFill>
                  <a:srgbClr val="0000FF"/>
                </a:solidFill>
                <a:latin typeface="Consolas" pitchFamily="49" charset="0"/>
                <a:cs typeface="Consolas" pitchFamily="49" charset="0"/>
              </a:rPr>
              <a:t>2</a:t>
            </a:r>
          </a:p>
        </p:txBody>
      </p:sp>
      <p:sp>
        <p:nvSpPr>
          <p:cNvPr id="56" name="Line 12">
            <a:extLst>
              <a:ext uri="{FF2B5EF4-FFF2-40B4-BE49-F238E27FC236}">
                <a16:creationId xmlns:a16="http://schemas.microsoft.com/office/drawing/2014/main" id="{2E98BFC9-D031-CE1B-DAC7-E63FB2FD5227}"/>
              </a:ext>
            </a:extLst>
          </p:cNvPr>
          <p:cNvSpPr>
            <a:spLocks noChangeShapeType="1"/>
          </p:cNvSpPr>
          <p:nvPr/>
        </p:nvSpPr>
        <p:spPr bwMode="auto">
          <a:xfrm>
            <a:off x="3944866" y="3075516"/>
            <a:ext cx="720725" cy="0"/>
          </a:xfrm>
          <a:prstGeom prst="line">
            <a:avLst/>
          </a:prstGeom>
          <a:noFill/>
          <a:ln w="19050">
            <a:solidFill>
              <a:srgbClr val="3333FF"/>
            </a:solidFill>
            <a:round/>
            <a:headEnd/>
            <a:tailEnd type="none" w="med" len="lg"/>
          </a:ln>
          <a:effectLst/>
        </p:spPr>
        <p:txBody>
          <a:bodyPr wrap="none"/>
          <a:lstStyle/>
          <a:p>
            <a:endParaRPr lang="zh-CN" altLang="en-US">
              <a:latin typeface="Consolas" pitchFamily="49" charset="0"/>
              <a:cs typeface="Consolas" pitchFamily="49" charset="0"/>
            </a:endParaRPr>
          </a:p>
        </p:txBody>
      </p:sp>
      <p:sp>
        <p:nvSpPr>
          <p:cNvPr id="57" name="Freeform 13">
            <a:extLst>
              <a:ext uri="{FF2B5EF4-FFF2-40B4-BE49-F238E27FC236}">
                <a16:creationId xmlns:a16="http://schemas.microsoft.com/office/drawing/2014/main" id="{12006871-0E64-F4B4-9EF4-4D70ACF46D79}"/>
              </a:ext>
            </a:extLst>
          </p:cNvPr>
          <p:cNvSpPr>
            <a:spLocks/>
          </p:cNvSpPr>
          <p:nvPr/>
        </p:nvSpPr>
        <p:spPr bwMode="auto">
          <a:xfrm>
            <a:off x="3225729" y="3196166"/>
            <a:ext cx="395288" cy="528638"/>
          </a:xfrm>
          <a:custGeom>
            <a:avLst/>
            <a:gdLst/>
            <a:ahLst/>
            <a:cxnLst>
              <a:cxn ang="0">
                <a:pos x="249" y="0"/>
              </a:cxn>
              <a:cxn ang="0">
                <a:pos x="0" y="333"/>
              </a:cxn>
            </a:cxnLst>
            <a:rect l="0" t="0" r="r" b="b"/>
            <a:pathLst>
              <a:path w="249" h="333">
                <a:moveTo>
                  <a:pt x="249" y="0"/>
                </a:moveTo>
                <a:lnTo>
                  <a:pt x="0" y="333"/>
                </a:lnTo>
              </a:path>
            </a:pathLst>
          </a:custGeom>
          <a:noFill/>
          <a:ln w="19050" cap="flat" cmpd="sng">
            <a:solidFill>
              <a:srgbClr val="3333FF"/>
            </a:solidFill>
            <a:prstDash val="solid"/>
            <a:round/>
            <a:headEnd type="none" w="med" len="med"/>
            <a:tailEnd type="none" w="med" len="lg"/>
          </a:ln>
          <a:effectLst/>
        </p:spPr>
        <p:txBody>
          <a:bodyPr wrap="none"/>
          <a:lstStyle/>
          <a:p>
            <a:endParaRPr lang="zh-CN" altLang="en-US">
              <a:latin typeface="Consolas" pitchFamily="49" charset="0"/>
              <a:cs typeface="Consolas" pitchFamily="49" charset="0"/>
            </a:endParaRPr>
          </a:p>
        </p:txBody>
      </p:sp>
      <p:sp>
        <p:nvSpPr>
          <p:cNvPr id="58" name="Freeform 14">
            <a:extLst>
              <a:ext uri="{FF2B5EF4-FFF2-40B4-BE49-F238E27FC236}">
                <a16:creationId xmlns:a16="http://schemas.microsoft.com/office/drawing/2014/main" id="{55A3E8AE-4980-752A-78A3-B5B64EB8FC15}"/>
              </a:ext>
            </a:extLst>
          </p:cNvPr>
          <p:cNvSpPr>
            <a:spLocks/>
          </p:cNvSpPr>
          <p:nvPr/>
        </p:nvSpPr>
        <p:spPr bwMode="auto">
          <a:xfrm>
            <a:off x="3290816" y="4123266"/>
            <a:ext cx="392113" cy="419100"/>
          </a:xfrm>
          <a:custGeom>
            <a:avLst/>
            <a:gdLst/>
            <a:ahLst/>
            <a:cxnLst>
              <a:cxn ang="0">
                <a:pos x="0" y="0"/>
              </a:cxn>
              <a:cxn ang="0">
                <a:pos x="247" y="264"/>
              </a:cxn>
            </a:cxnLst>
            <a:rect l="0" t="0" r="r" b="b"/>
            <a:pathLst>
              <a:path w="247" h="264">
                <a:moveTo>
                  <a:pt x="0" y="0"/>
                </a:moveTo>
                <a:lnTo>
                  <a:pt x="247" y="264"/>
                </a:lnTo>
              </a:path>
            </a:pathLst>
          </a:custGeom>
          <a:noFill/>
          <a:ln w="38100" cap="flat" cmpd="sng">
            <a:solidFill>
              <a:srgbClr val="00B0F0"/>
            </a:solidFill>
            <a:prstDash val="solid"/>
            <a:round/>
            <a:headEnd type="none" w="med" len="med"/>
            <a:tailEnd type="none" w="med" len="lg"/>
          </a:ln>
          <a:effectLst/>
        </p:spPr>
        <p:txBody>
          <a:bodyPr wrap="none"/>
          <a:lstStyle/>
          <a:p>
            <a:endParaRPr lang="zh-CN" altLang="en-US">
              <a:latin typeface="Consolas" pitchFamily="49" charset="0"/>
              <a:cs typeface="Consolas" pitchFamily="49" charset="0"/>
            </a:endParaRPr>
          </a:p>
        </p:txBody>
      </p:sp>
      <p:sp>
        <p:nvSpPr>
          <p:cNvPr id="59" name="Freeform 15">
            <a:extLst>
              <a:ext uri="{FF2B5EF4-FFF2-40B4-BE49-F238E27FC236}">
                <a16:creationId xmlns:a16="http://schemas.microsoft.com/office/drawing/2014/main" id="{43C7D573-4FEA-E9C8-EF38-05471E5888ED}"/>
              </a:ext>
            </a:extLst>
          </p:cNvPr>
          <p:cNvSpPr>
            <a:spLocks/>
          </p:cNvSpPr>
          <p:nvPr/>
        </p:nvSpPr>
        <p:spPr bwMode="auto">
          <a:xfrm>
            <a:off x="4016304" y="4694766"/>
            <a:ext cx="582613" cy="1588"/>
          </a:xfrm>
          <a:custGeom>
            <a:avLst/>
            <a:gdLst/>
            <a:ahLst/>
            <a:cxnLst>
              <a:cxn ang="0">
                <a:pos x="0" y="0"/>
              </a:cxn>
              <a:cxn ang="0">
                <a:pos x="367" y="0"/>
              </a:cxn>
            </a:cxnLst>
            <a:rect l="0" t="0" r="r" b="b"/>
            <a:pathLst>
              <a:path w="367" h="1">
                <a:moveTo>
                  <a:pt x="0" y="0"/>
                </a:moveTo>
                <a:lnTo>
                  <a:pt x="367" y="0"/>
                </a:lnTo>
              </a:path>
            </a:pathLst>
          </a:custGeom>
          <a:noFill/>
          <a:ln w="19050" cap="flat" cmpd="sng">
            <a:solidFill>
              <a:srgbClr val="3333FF"/>
            </a:solidFill>
            <a:prstDash val="solid"/>
            <a:round/>
            <a:headEnd type="none" w="med" len="med"/>
            <a:tailEnd type="none" w="med" len="lg"/>
          </a:ln>
          <a:effectLst/>
        </p:spPr>
        <p:txBody>
          <a:bodyPr wrap="none"/>
          <a:lstStyle/>
          <a:p>
            <a:endParaRPr lang="zh-CN" altLang="en-US">
              <a:latin typeface="Consolas" pitchFamily="49" charset="0"/>
              <a:cs typeface="Consolas" pitchFamily="49" charset="0"/>
            </a:endParaRPr>
          </a:p>
        </p:txBody>
      </p:sp>
      <p:sp>
        <p:nvSpPr>
          <p:cNvPr id="60" name="Freeform 16">
            <a:extLst>
              <a:ext uri="{FF2B5EF4-FFF2-40B4-BE49-F238E27FC236}">
                <a16:creationId xmlns:a16="http://schemas.microsoft.com/office/drawing/2014/main" id="{CD2140E0-D36F-3E5F-0373-1DCF294D0EB8}"/>
              </a:ext>
            </a:extLst>
          </p:cNvPr>
          <p:cNvSpPr>
            <a:spLocks/>
          </p:cNvSpPr>
          <p:nvPr/>
        </p:nvSpPr>
        <p:spPr bwMode="auto">
          <a:xfrm>
            <a:off x="3873429" y="4021666"/>
            <a:ext cx="357188" cy="422275"/>
          </a:xfrm>
          <a:custGeom>
            <a:avLst/>
            <a:gdLst/>
            <a:ahLst/>
            <a:cxnLst>
              <a:cxn ang="0">
                <a:pos x="0" y="266"/>
              </a:cxn>
              <a:cxn ang="0">
                <a:pos x="225" y="0"/>
              </a:cxn>
            </a:cxnLst>
            <a:rect l="0" t="0" r="r" b="b"/>
            <a:pathLst>
              <a:path w="225" h="266">
                <a:moveTo>
                  <a:pt x="0" y="266"/>
                </a:moveTo>
                <a:lnTo>
                  <a:pt x="225" y="0"/>
                </a:lnTo>
              </a:path>
            </a:pathLst>
          </a:custGeom>
          <a:noFill/>
          <a:ln w="19050" cap="flat" cmpd="sng">
            <a:solidFill>
              <a:srgbClr val="3333FF"/>
            </a:solidFill>
            <a:prstDash val="solid"/>
            <a:round/>
            <a:headEnd type="none" w="med" len="med"/>
            <a:tailEnd type="none" w="med" len="lg"/>
          </a:ln>
          <a:effectLst/>
        </p:spPr>
        <p:txBody>
          <a:bodyPr wrap="none"/>
          <a:lstStyle/>
          <a:p>
            <a:endParaRPr lang="zh-CN" altLang="en-US">
              <a:latin typeface="Consolas" pitchFamily="49" charset="0"/>
              <a:cs typeface="Consolas" pitchFamily="49" charset="0"/>
            </a:endParaRPr>
          </a:p>
        </p:txBody>
      </p:sp>
      <p:sp>
        <p:nvSpPr>
          <p:cNvPr id="61" name="Line 17">
            <a:extLst>
              <a:ext uri="{FF2B5EF4-FFF2-40B4-BE49-F238E27FC236}">
                <a16:creationId xmlns:a16="http://schemas.microsoft.com/office/drawing/2014/main" id="{453768C0-EBD0-0E1D-F549-02B134D54786}"/>
              </a:ext>
            </a:extLst>
          </p:cNvPr>
          <p:cNvSpPr>
            <a:spLocks noChangeShapeType="1"/>
          </p:cNvSpPr>
          <p:nvPr/>
        </p:nvSpPr>
        <p:spPr bwMode="auto">
          <a:xfrm>
            <a:off x="4428987" y="4043885"/>
            <a:ext cx="285752" cy="428628"/>
          </a:xfrm>
          <a:prstGeom prst="line">
            <a:avLst/>
          </a:prstGeom>
          <a:noFill/>
          <a:ln w="19050">
            <a:solidFill>
              <a:srgbClr val="3333FF"/>
            </a:solidFill>
            <a:round/>
            <a:headEnd/>
            <a:tailEnd type="none" w="med" len="lg"/>
          </a:ln>
          <a:effectLst/>
        </p:spPr>
        <p:txBody>
          <a:bodyPr wrap="none"/>
          <a:lstStyle/>
          <a:p>
            <a:endParaRPr lang="zh-CN" altLang="en-US">
              <a:latin typeface="Consolas" pitchFamily="49" charset="0"/>
              <a:cs typeface="Consolas" pitchFamily="49" charset="0"/>
            </a:endParaRPr>
          </a:p>
        </p:txBody>
      </p:sp>
      <p:sp>
        <p:nvSpPr>
          <p:cNvPr id="62" name="Line 18">
            <a:extLst>
              <a:ext uri="{FF2B5EF4-FFF2-40B4-BE49-F238E27FC236}">
                <a16:creationId xmlns:a16="http://schemas.microsoft.com/office/drawing/2014/main" id="{63B9270A-151A-DA6D-DB46-91FCC91C6485}"/>
              </a:ext>
            </a:extLst>
          </p:cNvPr>
          <p:cNvSpPr>
            <a:spLocks noChangeShapeType="1"/>
          </p:cNvSpPr>
          <p:nvPr/>
        </p:nvSpPr>
        <p:spPr bwMode="auto">
          <a:xfrm flipH="1">
            <a:off x="4436991" y="3245379"/>
            <a:ext cx="287338" cy="431800"/>
          </a:xfrm>
          <a:prstGeom prst="line">
            <a:avLst/>
          </a:prstGeom>
          <a:noFill/>
          <a:ln w="19050">
            <a:solidFill>
              <a:srgbClr val="3333FF"/>
            </a:solidFill>
            <a:round/>
            <a:headEnd/>
            <a:tailEnd type="none" w="med" len="lg"/>
          </a:ln>
          <a:effectLst/>
        </p:spPr>
        <p:txBody>
          <a:bodyPr wrap="none"/>
          <a:lstStyle/>
          <a:p>
            <a:endParaRPr lang="zh-CN" altLang="en-US">
              <a:latin typeface="Consolas" pitchFamily="49" charset="0"/>
              <a:cs typeface="Consolas" pitchFamily="49" charset="0"/>
            </a:endParaRPr>
          </a:p>
        </p:txBody>
      </p:sp>
      <p:sp>
        <p:nvSpPr>
          <p:cNvPr id="63" name="Line 19">
            <a:extLst>
              <a:ext uri="{FF2B5EF4-FFF2-40B4-BE49-F238E27FC236}">
                <a16:creationId xmlns:a16="http://schemas.microsoft.com/office/drawing/2014/main" id="{5FBA5C68-668A-C3B7-36AB-8CE2AC1B29ED}"/>
              </a:ext>
            </a:extLst>
          </p:cNvPr>
          <p:cNvSpPr>
            <a:spLocks noChangeShapeType="1"/>
          </p:cNvSpPr>
          <p:nvPr/>
        </p:nvSpPr>
        <p:spPr bwMode="auto">
          <a:xfrm>
            <a:off x="4975088" y="3258067"/>
            <a:ext cx="176400" cy="399600"/>
          </a:xfrm>
          <a:prstGeom prst="line">
            <a:avLst/>
          </a:prstGeom>
          <a:noFill/>
          <a:ln w="19050">
            <a:solidFill>
              <a:srgbClr val="3333FF"/>
            </a:solidFill>
            <a:round/>
            <a:headEnd/>
            <a:tailEnd type="none" w="med" len="lg"/>
          </a:ln>
          <a:effectLst/>
        </p:spPr>
        <p:txBody>
          <a:bodyPr wrap="none"/>
          <a:lstStyle/>
          <a:p>
            <a:endParaRPr lang="zh-CN" altLang="en-US">
              <a:latin typeface="Consolas" pitchFamily="49" charset="0"/>
              <a:cs typeface="Consolas" pitchFamily="49" charset="0"/>
            </a:endParaRPr>
          </a:p>
        </p:txBody>
      </p:sp>
      <p:sp>
        <p:nvSpPr>
          <p:cNvPr id="64" name="Line 20">
            <a:extLst>
              <a:ext uri="{FF2B5EF4-FFF2-40B4-BE49-F238E27FC236}">
                <a16:creationId xmlns:a16="http://schemas.microsoft.com/office/drawing/2014/main" id="{0D4FAAA0-3631-CA26-A237-F1F6D51C5EF4}"/>
              </a:ext>
            </a:extLst>
          </p:cNvPr>
          <p:cNvSpPr>
            <a:spLocks noChangeShapeType="1"/>
          </p:cNvSpPr>
          <p:nvPr/>
        </p:nvSpPr>
        <p:spPr bwMode="auto">
          <a:xfrm flipH="1">
            <a:off x="4894189" y="4077223"/>
            <a:ext cx="270000" cy="396000"/>
          </a:xfrm>
          <a:prstGeom prst="line">
            <a:avLst/>
          </a:prstGeom>
          <a:noFill/>
          <a:ln w="19050">
            <a:solidFill>
              <a:srgbClr val="3333FF"/>
            </a:solidFill>
            <a:round/>
            <a:headEnd/>
            <a:tailEnd type="none" w="med" len="lg"/>
          </a:ln>
          <a:effectLst/>
        </p:spPr>
        <p:txBody>
          <a:bodyPr wrap="none"/>
          <a:lstStyle/>
          <a:p>
            <a:endParaRPr lang="zh-CN" altLang="en-US">
              <a:latin typeface="Consolas" pitchFamily="49" charset="0"/>
              <a:cs typeface="Consolas" pitchFamily="49" charset="0"/>
            </a:endParaRPr>
          </a:p>
        </p:txBody>
      </p:sp>
      <p:sp>
        <p:nvSpPr>
          <p:cNvPr id="65" name="Text Box 21">
            <a:extLst>
              <a:ext uri="{FF2B5EF4-FFF2-40B4-BE49-F238E27FC236}">
                <a16:creationId xmlns:a16="http://schemas.microsoft.com/office/drawing/2014/main" id="{4DBC960D-D222-CFBE-102E-E6E56088639C}"/>
              </a:ext>
            </a:extLst>
          </p:cNvPr>
          <p:cNvSpPr txBox="1">
            <a:spLocks noChangeArrowheads="1"/>
          </p:cNvSpPr>
          <p:nvPr/>
        </p:nvSpPr>
        <p:spPr bwMode="auto">
          <a:xfrm>
            <a:off x="4089329" y="2716741"/>
            <a:ext cx="503238" cy="338554"/>
          </a:xfrm>
          <a:prstGeom prst="rect">
            <a:avLst/>
          </a:prstGeom>
          <a:noFill/>
          <a:ln w="19050" algn="ctr">
            <a:noFill/>
            <a:miter lim="800000"/>
            <a:headEnd/>
            <a:tailEnd type="none" w="med" len="lg"/>
          </a:ln>
          <a:effectLst/>
        </p:spPr>
        <p:txBody>
          <a:bodyPr>
            <a:spAutoFit/>
          </a:bodyPr>
          <a:lstStyle/>
          <a:p>
            <a:pPr algn="l">
              <a:spcBef>
                <a:spcPct val="50000"/>
              </a:spcBef>
            </a:pPr>
            <a:r>
              <a:rPr lang="en-US" altLang="zh-CN" sz="1600">
                <a:latin typeface="Consolas" pitchFamily="49" charset="0"/>
                <a:cs typeface="Consolas" pitchFamily="49" charset="0"/>
              </a:rPr>
              <a:t>28</a:t>
            </a:r>
          </a:p>
        </p:txBody>
      </p:sp>
      <p:sp>
        <p:nvSpPr>
          <p:cNvPr id="66" name="Text Box 22">
            <a:extLst>
              <a:ext uri="{FF2B5EF4-FFF2-40B4-BE49-F238E27FC236}">
                <a16:creationId xmlns:a16="http://schemas.microsoft.com/office/drawing/2014/main" id="{4434EB93-8934-3D3F-24BD-28F23FEE59FB}"/>
              </a:ext>
            </a:extLst>
          </p:cNvPr>
          <p:cNvSpPr txBox="1">
            <a:spLocks noChangeArrowheads="1"/>
          </p:cNvSpPr>
          <p:nvPr/>
        </p:nvSpPr>
        <p:spPr bwMode="auto">
          <a:xfrm>
            <a:off x="3009829" y="3183466"/>
            <a:ext cx="503238" cy="338554"/>
          </a:xfrm>
          <a:prstGeom prst="rect">
            <a:avLst/>
          </a:prstGeom>
          <a:noFill/>
          <a:ln w="19050" algn="ctr">
            <a:noFill/>
            <a:miter lim="800000"/>
            <a:headEnd/>
            <a:tailEnd type="none" w="med" len="lg"/>
          </a:ln>
          <a:effectLst/>
        </p:spPr>
        <p:txBody>
          <a:bodyPr>
            <a:spAutoFit/>
          </a:bodyPr>
          <a:lstStyle/>
          <a:p>
            <a:pPr algn="l">
              <a:spcBef>
                <a:spcPct val="50000"/>
              </a:spcBef>
            </a:pPr>
            <a:r>
              <a:rPr lang="en-US" altLang="zh-CN" sz="1600" dirty="0">
                <a:latin typeface="Consolas" pitchFamily="49" charset="0"/>
                <a:cs typeface="Consolas" pitchFamily="49" charset="0"/>
              </a:rPr>
              <a:t>10</a:t>
            </a:r>
          </a:p>
        </p:txBody>
      </p:sp>
      <p:sp>
        <p:nvSpPr>
          <p:cNvPr id="67" name="Text Box 23">
            <a:extLst>
              <a:ext uri="{FF2B5EF4-FFF2-40B4-BE49-F238E27FC236}">
                <a16:creationId xmlns:a16="http://schemas.microsoft.com/office/drawing/2014/main" id="{146C7FBD-7A31-82FC-6515-962630E7F26F}"/>
              </a:ext>
            </a:extLst>
          </p:cNvPr>
          <p:cNvSpPr txBox="1">
            <a:spLocks noChangeArrowheads="1"/>
          </p:cNvSpPr>
          <p:nvPr/>
        </p:nvSpPr>
        <p:spPr bwMode="auto">
          <a:xfrm>
            <a:off x="5025954" y="3148541"/>
            <a:ext cx="503238" cy="338554"/>
          </a:xfrm>
          <a:prstGeom prst="rect">
            <a:avLst/>
          </a:prstGeom>
          <a:noFill/>
          <a:ln w="19050" algn="ctr">
            <a:noFill/>
            <a:miter lim="800000"/>
            <a:headEnd/>
            <a:tailEnd type="none" w="med" len="lg"/>
          </a:ln>
          <a:effectLst/>
        </p:spPr>
        <p:txBody>
          <a:bodyPr>
            <a:spAutoFit/>
          </a:bodyPr>
          <a:lstStyle/>
          <a:p>
            <a:pPr algn="l">
              <a:spcBef>
                <a:spcPct val="50000"/>
              </a:spcBef>
            </a:pPr>
            <a:r>
              <a:rPr lang="en-US" altLang="zh-CN" sz="1600">
                <a:latin typeface="Consolas" pitchFamily="49" charset="0"/>
                <a:cs typeface="Consolas" pitchFamily="49" charset="0"/>
              </a:rPr>
              <a:t>16</a:t>
            </a:r>
          </a:p>
        </p:txBody>
      </p:sp>
      <p:sp>
        <p:nvSpPr>
          <p:cNvPr id="68" name="Text Box 24">
            <a:extLst>
              <a:ext uri="{FF2B5EF4-FFF2-40B4-BE49-F238E27FC236}">
                <a16:creationId xmlns:a16="http://schemas.microsoft.com/office/drawing/2014/main" id="{3D4D0BA3-7C32-3AAF-0801-55CC403C830C}"/>
              </a:ext>
            </a:extLst>
          </p:cNvPr>
          <p:cNvSpPr txBox="1">
            <a:spLocks noChangeArrowheads="1"/>
          </p:cNvSpPr>
          <p:nvPr/>
        </p:nvSpPr>
        <p:spPr bwMode="auto">
          <a:xfrm>
            <a:off x="4160766" y="3254904"/>
            <a:ext cx="503238" cy="338554"/>
          </a:xfrm>
          <a:prstGeom prst="rect">
            <a:avLst/>
          </a:prstGeom>
          <a:noFill/>
          <a:ln w="19050" algn="ctr">
            <a:noFill/>
            <a:miter lim="800000"/>
            <a:headEnd/>
            <a:tailEnd type="none" w="med" len="lg"/>
          </a:ln>
          <a:effectLst/>
        </p:spPr>
        <p:txBody>
          <a:bodyPr>
            <a:spAutoFit/>
          </a:bodyPr>
          <a:lstStyle/>
          <a:p>
            <a:pPr algn="l">
              <a:spcBef>
                <a:spcPct val="50000"/>
              </a:spcBef>
            </a:pPr>
            <a:r>
              <a:rPr lang="en-US" altLang="zh-CN" sz="1600">
                <a:latin typeface="Consolas" pitchFamily="49" charset="0"/>
                <a:cs typeface="Consolas" pitchFamily="49" charset="0"/>
              </a:rPr>
              <a:t>14</a:t>
            </a:r>
          </a:p>
        </p:txBody>
      </p:sp>
      <p:sp>
        <p:nvSpPr>
          <p:cNvPr id="69" name="Text Box 25">
            <a:extLst>
              <a:ext uri="{FF2B5EF4-FFF2-40B4-BE49-F238E27FC236}">
                <a16:creationId xmlns:a16="http://schemas.microsoft.com/office/drawing/2014/main" id="{CA371EC3-D09E-AEAC-035A-1690969C55D0}"/>
              </a:ext>
            </a:extLst>
          </p:cNvPr>
          <p:cNvSpPr txBox="1">
            <a:spLocks noChangeArrowheads="1"/>
          </p:cNvSpPr>
          <p:nvPr/>
        </p:nvSpPr>
        <p:spPr bwMode="auto">
          <a:xfrm>
            <a:off x="3082854" y="4191529"/>
            <a:ext cx="503238" cy="338554"/>
          </a:xfrm>
          <a:prstGeom prst="rect">
            <a:avLst/>
          </a:prstGeom>
          <a:noFill/>
          <a:ln w="19050" algn="ctr">
            <a:noFill/>
            <a:miter lim="800000"/>
            <a:headEnd/>
            <a:tailEnd type="none" w="med" len="lg"/>
          </a:ln>
          <a:effectLst/>
        </p:spPr>
        <p:txBody>
          <a:bodyPr>
            <a:spAutoFit/>
          </a:bodyPr>
          <a:lstStyle/>
          <a:p>
            <a:pPr algn="l">
              <a:spcBef>
                <a:spcPct val="50000"/>
              </a:spcBef>
            </a:pPr>
            <a:r>
              <a:rPr lang="en-US" altLang="zh-CN" sz="1600">
                <a:latin typeface="Consolas" pitchFamily="49" charset="0"/>
                <a:cs typeface="Consolas" pitchFamily="49" charset="0"/>
              </a:rPr>
              <a:t>25</a:t>
            </a:r>
          </a:p>
        </p:txBody>
      </p:sp>
      <p:sp>
        <p:nvSpPr>
          <p:cNvPr id="70" name="Text Box 26">
            <a:extLst>
              <a:ext uri="{FF2B5EF4-FFF2-40B4-BE49-F238E27FC236}">
                <a16:creationId xmlns:a16="http://schemas.microsoft.com/office/drawing/2014/main" id="{1E449AC1-4A94-701E-A2AE-0B344771DE84}"/>
              </a:ext>
            </a:extLst>
          </p:cNvPr>
          <p:cNvSpPr txBox="1">
            <a:spLocks noChangeArrowheads="1"/>
          </p:cNvSpPr>
          <p:nvPr/>
        </p:nvSpPr>
        <p:spPr bwMode="auto">
          <a:xfrm>
            <a:off x="3657529" y="3975629"/>
            <a:ext cx="503238" cy="338554"/>
          </a:xfrm>
          <a:prstGeom prst="rect">
            <a:avLst/>
          </a:prstGeom>
          <a:noFill/>
          <a:ln w="19050" algn="ctr">
            <a:noFill/>
            <a:miter lim="800000"/>
            <a:headEnd/>
            <a:tailEnd type="none" w="med" len="lg"/>
          </a:ln>
          <a:effectLst/>
        </p:spPr>
        <p:txBody>
          <a:bodyPr>
            <a:spAutoFit/>
          </a:bodyPr>
          <a:lstStyle/>
          <a:p>
            <a:pPr algn="l">
              <a:spcBef>
                <a:spcPct val="50000"/>
              </a:spcBef>
            </a:pPr>
            <a:r>
              <a:rPr lang="en-US" altLang="zh-CN" sz="1600">
                <a:latin typeface="Consolas" pitchFamily="49" charset="0"/>
                <a:cs typeface="Consolas" pitchFamily="49" charset="0"/>
              </a:rPr>
              <a:t>24</a:t>
            </a:r>
          </a:p>
        </p:txBody>
      </p:sp>
      <p:sp>
        <p:nvSpPr>
          <p:cNvPr id="71" name="Text Box 27">
            <a:extLst>
              <a:ext uri="{FF2B5EF4-FFF2-40B4-BE49-F238E27FC236}">
                <a16:creationId xmlns:a16="http://schemas.microsoft.com/office/drawing/2014/main" id="{BF28F998-B118-F7EF-D78F-FE305B5DD04A}"/>
              </a:ext>
            </a:extLst>
          </p:cNvPr>
          <p:cNvSpPr txBox="1">
            <a:spLocks noChangeArrowheads="1"/>
          </p:cNvSpPr>
          <p:nvPr/>
        </p:nvSpPr>
        <p:spPr bwMode="auto">
          <a:xfrm>
            <a:off x="4521129" y="3902604"/>
            <a:ext cx="503238" cy="338554"/>
          </a:xfrm>
          <a:prstGeom prst="rect">
            <a:avLst/>
          </a:prstGeom>
          <a:noFill/>
          <a:ln w="19050" algn="ctr">
            <a:noFill/>
            <a:miter lim="800000"/>
            <a:headEnd/>
            <a:tailEnd type="none" w="med" len="lg"/>
          </a:ln>
          <a:effectLst/>
        </p:spPr>
        <p:txBody>
          <a:bodyPr>
            <a:spAutoFit/>
          </a:bodyPr>
          <a:lstStyle/>
          <a:p>
            <a:pPr algn="l">
              <a:spcBef>
                <a:spcPct val="50000"/>
              </a:spcBef>
            </a:pPr>
            <a:r>
              <a:rPr lang="en-US" altLang="zh-CN" sz="1600">
                <a:latin typeface="Consolas" pitchFamily="49" charset="0"/>
                <a:cs typeface="Consolas" pitchFamily="49" charset="0"/>
              </a:rPr>
              <a:t>18</a:t>
            </a:r>
          </a:p>
        </p:txBody>
      </p:sp>
      <p:sp>
        <p:nvSpPr>
          <p:cNvPr id="72" name="Text Box 28">
            <a:extLst>
              <a:ext uri="{FF2B5EF4-FFF2-40B4-BE49-F238E27FC236}">
                <a16:creationId xmlns:a16="http://schemas.microsoft.com/office/drawing/2014/main" id="{8022DFE2-D3AA-1FC7-7872-53B7CB42F2E5}"/>
              </a:ext>
            </a:extLst>
          </p:cNvPr>
          <p:cNvSpPr txBox="1">
            <a:spLocks noChangeArrowheads="1"/>
          </p:cNvSpPr>
          <p:nvPr/>
        </p:nvSpPr>
        <p:spPr bwMode="auto">
          <a:xfrm>
            <a:off x="4089329" y="4659841"/>
            <a:ext cx="503238" cy="338554"/>
          </a:xfrm>
          <a:prstGeom prst="rect">
            <a:avLst/>
          </a:prstGeom>
          <a:noFill/>
          <a:ln w="19050" algn="ctr">
            <a:noFill/>
            <a:miter lim="800000"/>
            <a:headEnd/>
            <a:tailEnd type="none" w="med" len="lg"/>
          </a:ln>
          <a:effectLst/>
        </p:spPr>
        <p:txBody>
          <a:bodyPr>
            <a:spAutoFit/>
          </a:bodyPr>
          <a:lstStyle/>
          <a:p>
            <a:pPr algn="l">
              <a:spcBef>
                <a:spcPct val="50000"/>
              </a:spcBef>
            </a:pPr>
            <a:r>
              <a:rPr lang="en-US" altLang="zh-CN" sz="1600">
                <a:latin typeface="Consolas" pitchFamily="49" charset="0"/>
                <a:cs typeface="Consolas" pitchFamily="49" charset="0"/>
              </a:rPr>
              <a:t>22</a:t>
            </a:r>
          </a:p>
        </p:txBody>
      </p:sp>
      <p:sp>
        <p:nvSpPr>
          <p:cNvPr id="73" name="Text Box 29">
            <a:extLst>
              <a:ext uri="{FF2B5EF4-FFF2-40B4-BE49-F238E27FC236}">
                <a16:creationId xmlns:a16="http://schemas.microsoft.com/office/drawing/2014/main" id="{A1C2251E-BA74-EAC8-8D54-247F9280B1D1}"/>
              </a:ext>
            </a:extLst>
          </p:cNvPr>
          <p:cNvSpPr txBox="1">
            <a:spLocks noChangeArrowheads="1"/>
          </p:cNvSpPr>
          <p:nvPr/>
        </p:nvSpPr>
        <p:spPr bwMode="auto">
          <a:xfrm>
            <a:off x="4954516" y="4191529"/>
            <a:ext cx="503238" cy="338554"/>
          </a:xfrm>
          <a:prstGeom prst="rect">
            <a:avLst/>
          </a:prstGeom>
          <a:noFill/>
          <a:ln w="19050" algn="ctr">
            <a:noFill/>
            <a:miter lim="800000"/>
            <a:headEnd/>
            <a:tailEnd type="none" w="med" len="lg"/>
          </a:ln>
          <a:effectLst/>
        </p:spPr>
        <p:txBody>
          <a:bodyPr>
            <a:spAutoFit/>
          </a:bodyPr>
          <a:lstStyle/>
          <a:p>
            <a:pPr algn="l">
              <a:spcBef>
                <a:spcPct val="50000"/>
              </a:spcBef>
            </a:pPr>
            <a:r>
              <a:rPr lang="en-US" altLang="zh-CN" sz="1600">
                <a:latin typeface="Consolas" pitchFamily="49" charset="0"/>
                <a:cs typeface="Consolas" pitchFamily="49" charset="0"/>
              </a:rPr>
              <a:t>12</a:t>
            </a:r>
          </a:p>
        </p:txBody>
      </p:sp>
      <p:sp>
        <p:nvSpPr>
          <p:cNvPr id="74" name="Text Box 30">
            <a:extLst>
              <a:ext uri="{FF2B5EF4-FFF2-40B4-BE49-F238E27FC236}">
                <a16:creationId xmlns:a16="http://schemas.microsoft.com/office/drawing/2014/main" id="{9CB771AA-8564-686A-C24B-244D79C16BF2}"/>
              </a:ext>
            </a:extLst>
          </p:cNvPr>
          <p:cNvSpPr txBox="1">
            <a:spLocks noChangeArrowheads="1"/>
          </p:cNvSpPr>
          <p:nvPr/>
        </p:nvSpPr>
        <p:spPr bwMode="auto">
          <a:xfrm>
            <a:off x="3873429" y="5429725"/>
            <a:ext cx="935038" cy="400110"/>
          </a:xfrm>
          <a:prstGeom prst="rect">
            <a:avLst/>
          </a:prstGeom>
          <a:noFill/>
          <a:ln w="19050" algn="ctr">
            <a:noFill/>
            <a:miter lim="800000"/>
            <a:headEnd/>
            <a:tailEnd type="none" w="med" len="lg"/>
          </a:ln>
          <a:effectLst/>
        </p:spPr>
        <p:txBody>
          <a:bodyPr>
            <a:spAutoFit/>
          </a:bodyPr>
          <a:lstStyle/>
          <a:p>
            <a:pPr algn="l">
              <a:spcBef>
                <a:spcPct val="50000"/>
              </a:spcBef>
            </a:pPr>
            <a:r>
              <a:rPr lang="zh-CN" altLang="en-US" sz="2000" dirty="0">
                <a:latin typeface="Consolas" pitchFamily="49" charset="0"/>
                <a:ea typeface="楷体" pitchFamily="49" charset="-122"/>
                <a:cs typeface="Consolas" pitchFamily="49" charset="0"/>
              </a:rPr>
              <a:t>图</a:t>
            </a:r>
            <a:r>
              <a:rPr lang="en-US" altLang="zh-CN" sz="2000" dirty="0">
                <a:latin typeface="Consolas" pitchFamily="49" charset="0"/>
                <a:ea typeface="楷体" pitchFamily="49" charset="-122"/>
                <a:cs typeface="Consolas" pitchFamily="49" charset="0"/>
              </a:rPr>
              <a:t>G</a:t>
            </a:r>
          </a:p>
        </p:txBody>
      </p:sp>
      <p:sp>
        <p:nvSpPr>
          <p:cNvPr id="75" name="任意多边形 54">
            <a:extLst>
              <a:ext uri="{FF2B5EF4-FFF2-40B4-BE49-F238E27FC236}">
                <a16:creationId xmlns:a16="http://schemas.microsoft.com/office/drawing/2014/main" id="{F13F76A3-E83B-3EFA-3FE4-4893CD9BFB1B}"/>
              </a:ext>
            </a:extLst>
          </p:cNvPr>
          <p:cNvSpPr/>
          <p:nvPr/>
        </p:nvSpPr>
        <p:spPr>
          <a:xfrm>
            <a:off x="3071664" y="2710395"/>
            <a:ext cx="2827607" cy="2762250"/>
          </a:xfrm>
          <a:custGeom>
            <a:avLst/>
            <a:gdLst>
              <a:gd name="connsiteX0" fmla="*/ 241300 w 3155950"/>
              <a:gd name="connsiteY0" fmla="*/ 1100667 h 2762250"/>
              <a:gd name="connsiteX1" fmla="*/ 1295400 w 3155950"/>
              <a:gd name="connsiteY1" fmla="*/ 1240367 h 2762250"/>
              <a:gd name="connsiteX2" fmla="*/ 1905000 w 3155950"/>
              <a:gd name="connsiteY2" fmla="*/ 211667 h 2762250"/>
              <a:gd name="connsiteX3" fmla="*/ 2374900 w 3155950"/>
              <a:gd name="connsiteY3" fmla="*/ 110067 h 2762250"/>
              <a:gd name="connsiteX4" fmla="*/ 2832100 w 3155950"/>
              <a:gd name="connsiteY4" fmla="*/ 872067 h 2762250"/>
              <a:gd name="connsiteX5" fmla="*/ 2997200 w 3155950"/>
              <a:gd name="connsiteY5" fmla="*/ 1735667 h 2762250"/>
              <a:gd name="connsiteX6" fmla="*/ 1879600 w 3155950"/>
              <a:gd name="connsiteY6" fmla="*/ 2637367 h 2762250"/>
              <a:gd name="connsiteX7" fmla="*/ 571500 w 3155950"/>
              <a:gd name="connsiteY7" fmla="*/ 2484967 h 2762250"/>
              <a:gd name="connsiteX8" fmla="*/ 63500 w 3155950"/>
              <a:gd name="connsiteY8" fmla="*/ 1735667 h 2762250"/>
              <a:gd name="connsiteX9" fmla="*/ 190500 w 3155950"/>
              <a:gd name="connsiteY9" fmla="*/ 1087967 h 2762250"/>
              <a:gd name="connsiteX0" fmla="*/ 241300 w 3155950"/>
              <a:gd name="connsiteY0" fmla="*/ 1100667 h 2762250"/>
              <a:gd name="connsiteX1" fmla="*/ 1295400 w 3155950"/>
              <a:gd name="connsiteY1" fmla="*/ 1240367 h 2762250"/>
              <a:gd name="connsiteX2" fmla="*/ 1905000 w 3155950"/>
              <a:gd name="connsiteY2" fmla="*/ 211667 h 2762250"/>
              <a:gd name="connsiteX3" fmla="*/ 2374900 w 3155950"/>
              <a:gd name="connsiteY3" fmla="*/ 110067 h 2762250"/>
              <a:gd name="connsiteX4" fmla="*/ 2832100 w 3155950"/>
              <a:gd name="connsiteY4" fmla="*/ 872067 h 2762250"/>
              <a:gd name="connsiteX5" fmla="*/ 2997200 w 3155950"/>
              <a:gd name="connsiteY5" fmla="*/ 1735667 h 2762250"/>
              <a:gd name="connsiteX6" fmla="*/ 1879600 w 3155950"/>
              <a:gd name="connsiteY6" fmla="*/ 2637367 h 2762250"/>
              <a:gd name="connsiteX7" fmla="*/ 571500 w 3155950"/>
              <a:gd name="connsiteY7" fmla="*/ 2484967 h 2762250"/>
              <a:gd name="connsiteX8" fmla="*/ 63500 w 3155950"/>
              <a:gd name="connsiteY8" fmla="*/ 1735667 h 2762250"/>
              <a:gd name="connsiteX9" fmla="*/ 190500 w 3155950"/>
              <a:gd name="connsiteY9" fmla="*/ 1087967 h 2762250"/>
              <a:gd name="connsiteX0" fmla="*/ 233358 w 3148008"/>
              <a:gd name="connsiteY0" fmla="*/ 1100667 h 2762250"/>
              <a:gd name="connsiteX1" fmla="*/ 1287458 w 3148008"/>
              <a:gd name="connsiteY1" fmla="*/ 1240367 h 2762250"/>
              <a:gd name="connsiteX2" fmla="*/ 1897058 w 3148008"/>
              <a:gd name="connsiteY2" fmla="*/ 211667 h 2762250"/>
              <a:gd name="connsiteX3" fmla="*/ 2366958 w 3148008"/>
              <a:gd name="connsiteY3" fmla="*/ 110067 h 2762250"/>
              <a:gd name="connsiteX4" fmla="*/ 2824158 w 3148008"/>
              <a:gd name="connsiteY4" fmla="*/ 872067 h 2762250"/>
              <a:gd name="connsiteX5" fmla="*/ 2989258 w 3148008"/>
              <a:gd name="connsiteY5" fmla="*/ 1735667 h 2762250"/>
              <a:gd name="connsiteX6" fmla="*/ 1871658 w 3148008"/>
              <a:gd name="connsiteY6" fmla="*/ 2637367 h 2762250"/>
              <a:gd name="connsiteX7" fmla="*/ 563558 w 3148008"/>
              <a:gd name="connsiteY7" fmla="*/ 2484967 h 2762250"/>
              <a:gd name="connsiteX8" fmla="*/ 55558 w 3148008"/>
              <a:gd name="connsiteY8" fmla="*/ 1735667 h 2762250"/>
              <a:gd name="connsiteX9" fmla="*/ 896906 w 3148008"/>
              <a:gd name="connsiteY9" fmla="*/ 1588009 h 2762250"/>
              <a:gd name="connsiteX0" fmla="*/ 0 w 2914650"/>
              <a:gd name="connsiteY0" fmla="*/ 1100667 h 2762250"/>
              <a:gd name="connsiteX1" fmla="*/ 1054100 w 2914650"/>
              <a:gd name="connsiteY1" fmla="*/ 1240367 h 2762250"/>
              <a:gd name="connsiteX2" fmla="*/ 1663700 w 2914650"/>
              <a:gd name="connsiteY2" fmla="*/ 211667 h 2762250"/>
              <a:gd name="connsiteX3" fmla="*/ 2133600 w 2914650"/>
              <a:gd name="connsiteY3" fmla="*/ 110067 h 2762250"/>
              <a:gd name="connsiteX4" fmla="*/ 2590800 w 2914650"/>
              <a:gd name="connsiteY4" fmla="*/ 872067 h 2762250"/>
              <a:gd name="connsiteX5" fmla="*/ 2755900 w 2914650"/>
              <a:gd name="connsiteY5" fmla="*/ 1735667 h 2762250"/>
              <a:gd name="connsiteX6" fmla="*/ 1638300 w 2914650"/>
              <a:gd name="connsiteY6" fmla="*/ 2637367 h 2762250"/>
              <a:gd name="connsiteX7" fmla="*/ 330200 w 2914650"/>
              <a:gd name="connsiteY7" fmla="*/ 2484967 h 2762250"/>
              <a:gd name="connsiteX8" fmla="*/ 179358 w 2914650"/>
              <a:gd name="connsiteY8" fmla="*/ 2092833 h 2762250"/>
              <a:gd name="connsiteX9" fmla="*/ 663548 w 2914650"/>
              <a:gd name="connsiteY9" fmla="*/ 1588009 h 2762250"/>
              <a:gd name="connsiteX0" fmla="*/ 484429 w 2827607"/>
              <a:gd name="connsiteY0" fmla="*/ 1100667 h 2762250"/>
              <a:gd name="connsiteX1" fmla="*/ 967057 w 2827607"/>
              <a:gd name="connsiteY1" fmla="*/ 1240367 h 2762250"/>
              <a:gd name="connsiteX2" fmla="*/ 1576657 w 2827607"/>
              <a:gd name="connsiteY2" fmla="*/ 211667 h 2762250"/>
              <a:gd name="connsiteX3" fmla="*/ 2046557 w 2827607"/>
              <a:gd name="connsiteY3" fmla="*/ 110067 h 2762250"/>
              <a:gd name="connsiteX4" fmla="*/ 2503757 w 2827607"/>
              <a:gd name="connsiteY4" fmla="*/ 872067 h 2762250"/>
              <a:gd name="connsiteX5" fmla="*/ 2668857 w 2827607"/>
              <a:gd name="connsiteY5" fmla="*/ 1735667 h 2762250"/>
              <a:gd name="connsiteX6" fmla="*/ 1551257 w 2827607"/>
              <a:gd name="connsiteY6" fmla="*/ 2637367 h 2762250"/>
              <a:gd name="connsiteX7" fmla="*/ 243157 w 2827607"/>
              <a:gd name="connsiteY7" fmla="*/ 2484967 h 2762250"/>
              <a:gd name="connsiteX8" fmla="*/ 92315 w 2827607"/>
              <a:gd name="connsiteY8" fmla="*/ 2092833 h 2762250"/>
              <a:gd name="connsiteX9" fmla="*/ 576505 w 2827607"/>
              <a:gd name="connsiteY9" fmla="*/ 1588009 h 2762250"/>
              <a:gd name="connsiteX0" fmla="*/ 484429 w 2827607"/>
              <a:gd name="connsiteY0" fmla="*/ 1100667 h 2762250"/>
              <a:gd name="connsiteX1" fmla="*/ 967057 w 2827607"/>
              <a:gd name="connsiteY1" fmla="*/ 883153 h 2762250"/>
              <a:gd name="connsiteX2" fmla="*/ 1576657 w 2827607"/>
              <a:gd name="connsiteY2" fmla="*/ 211667 h 2762250"/>
              <a:gd name="connsiteX3" fmla="*/ 2046557 w 2827607"/>
              <a:gd name="connsiteY3" fmla="*/ 110067 h 2762250"/>
              <a:gd name="connsiteX4" fmla="*/ 2503757 w 2827607"/>
              <a:gd name="connsiteY4" fmla="*/ 872067 h 2762250"/>
              <a:gd name="connsiteX5" fmla="*/ 2668857 w 2827607"/>
              <a:gd name="connsiteY5" fmla="*/ 1735667 h 2762250"/>
              <a:gd name="connsiteX6" fmla="*/ 1551257 w 2827607"/>
              <a:gd name="connsiteY6" fmla="*/ 2637367 h 2762250"/>
              <a:gd name="connsiteX7" fmla="*/ 243157 w 2827607"/>
              <a:gd name="connsiteY7" fmla="*/ 2484967 h 2762250"/>
              <a:gd name="connsiteX8" fmla="*/ 92315 w 2827607"/>
              <a:gd name="connsiteY8" fmla="*/ 2092833 h 2762250"/>
              <a:gd name="connsiteX9" fmla="*/ 576505 w 2827607"/>
              <a:gd name="connsiteY9" fmla="*/ 1588009 h 2762250"/>
              <a:gd name="connsiteX0" fmla="*/ 484429 w 2827607"/>
              <a:gd name="connsiteY0" fmla="*/ 1529271 h 2762250"/>
              <a:gd name="connsiteX1" fmla="*/ 967057 w 2827607"/>
              <a:gd name="connsiteY1" fmla="*/ 883153 h 2762250"/>
              <a:gd name="connsiteX2" fmla="*/ 1576657 w 2827607"/>
              <a:gd name="connsiteY2" fmla="*/ 211667 h 2762250"/>
              <a:gd name="connsiteX3" fmla="*/ 2046557 w 2827607"/>
              <a:gd name="connsiteY3" fmla="*/ 110067 h 2762250"/>
              <a:gd name="connsiteX4" fmla="*/ 2503757 w 2827607"/>
              <a:gd name="connsiteY4" fmla="*/ 872067 h 2762250"/>
              <a:gd name="connsiteX5" fmla="*/ 2668857 w 2827607"/>
              <a:gd name="connsiteY5" fmla="*/ 1735667 h 2762250"/>
              <a:gd name="connsiteX6" fmla="*/ 1551257 w 2827607"/>
              <a:gd name="connsiteY6" fmla="*/ 2637367 h 2762250"/>
              <a:gd name="connsiteX7" fmla="*/ 243157 w 2827607"/>
              <a:gd name="connsiteY7" fmla="*/ 2484967 h 2762250"/>
              <a:gd name="connsiteX8" fmla="*/ 92315 w 2827607"/>
              <a:gd name="connsiteY8" fmla="*/ 2092833 h 2762250"/>
              <a:gd name="connsiteX9" fmla="*/ 576505 w 2827607"/>
              <a:gd name="connsiteY9" fmla="*/ 1588009 h 2762250"/>
              <a:gd name="connsiteX0" fmla="*/ 484429 w 2827607"/>
              <a:gd name="connsiteY0" fmla="*/ 1529271 h 2762250"/>
              <a:gd name="connsiteX1" fmla="*/ 490833 w 2827607"/>
              <a:gd name="connsiteY1" fmla="*/ 1532467 h 2762250"/>
              <a:gd name="connsiteX2" fmla="*/ 967057 w 2827607"/>
              <a:gd name="connsiteY2" fmla="*/ 883153 h 2762250"/>
              <a:gd name="connsiteX3" fmla="*/ 1576657 w 2827607"/>
              <a:gd name="connsiteY3" fmla="*/ 211667 h 2762250"/>
              <a:gd name="connsiteX4" fmla="*/ 2046557 w 2827607"/>
              <a:gd name="connsiteY4" fmla="*/ 110067 h 2762250"/>
              <a:gd name="connsiteX5" fmla="*/ 2503757 w 2827607"/>
              <a:gd name="connsiteY5" fmla="*/ 872067 h 2762250"/>
              <a:gd name="connsiteX6" fmla="*/ 2668857 w 2827607"/>
              <a:gd name="connsiteY6" fmla="*/ 1735667 h 2762250"/>
              <a:gd name="connsiteX7" fmla="*/ 1551257 w 2827607"/>
              <a:gd name="connsiteY7" fmla="*/ 2637367 h 2762250"/>
              <a:gd name="connsiteX8" fmla="*/ 243157 w 2827607"/>
              <a:gd name="connsiteY8" fmla="*/ 2484967 h 2762250"/>
              <a:gd name="connsiteX9" fmla="*/ 92315 w 2827607"/>
              <a:gd name="connsiteY9" fmla="*/ 2092833 h 2762250"/>
              <a:gd name="connsiteX10" fmla="*/ 576505 w 2827607"/>
              <a:gd name="connsiteY10" fmla="*/ 1588009 h 2762250"/>
              <a:gd name="connsiteX0" fmla="*/ 484429 w 2827607"/>
              <a:gd name="connsiteY0" fmla="*/ 1529271 h 2762250"/>
              <a:gd name="connsiteX1" fmla="*/ 490833 w 2827607"/>
              <a:gd name="connsiteY1" fmla="*/ 1532467 h 2762250"/>
              <a:gd name="connsiteX2" fmla="*/ 967057 w 2827607"/>
              <a:gd name="connsiteY2" fmla="*/ 883153 h 2762250"/>
              <a:gd name="connsiteX3" fmla="*/ 1576657 w 2827607"/>
              <a:gd name="connsiteY3" fmla="*/ 211667 h 2762250"/>
              <a:gd name="connsiteX4" fmla="*/ 2046557 w 2827607"/>
              <a:gd name="connsiteY4" fmla="*/ 110067 h 2762250"/>
              <a:gd name="connsiteX5" fmla="*/ 2503757 w 2827607"/>
              <a:gd name="connsiteY5" fmla="*/ 872067 h 2762250"/>
              <a:gd name="connsiteX6" fmla="*/ 2668857 w 2827607"/>
              <a:gd name="connsiteY6" fmla="*/ 1735667 h 2762250"/>
              <a:gd name="connsiteX7" fmla="*/ 1551257 w 2827607"/>
              <a:gd name="connsiteY7" fmla="*/ 2637367 h 2762250"/>
              <a:gd name="connsiteX8" fmla="*/ 243157 w 2827607"/>
              <a:gd name="connsiteY8" fmla="*/ 2484967 h 2762250"/>
              <a:gd name="connsiteX9" fmla="*/ 92315 w 2827607"/>
              <a:gd name="connsiteY9" fmla="*/ 2092833 h 2762250"/>
              <a:gd name="connsiteX10" fmla="*/ 576505 w 2827607"/>
              <a:gd name="connsiteY10" fmla="*/ 1588009 h 2762250"/>
              <a:gd name="connsiteX0" fmla="*/ 484429 w 2827607"/>
              <a:gd name="connsiteY0" fmla="*/ 1529271 h 2762250"/>
              <a:gd name="connsiteX1" fmla="*/ 490833 w 2827607"/>
              <a:gd name="connsiteY1" fmla="*/ 1532467 h 2762250"/>
              <a:gd name="connsiteX2" fmla="*/ 967057 w 2827607"/>
              <a:gd name="connsiteY2" fmla="*/ 883153 h 2762250"/>
              <a:gd name="connsiteX3" fmla="*/ 1576657 w 2827607"/>
              <a:gd name="connsiteY3" fmla="*/ 211667 h 2762250"/>
              <a:gd name="connsiteX4" fmla="*/ 2046557 w 2827607"/>
              <a:gd name="connsiteY4" fmla="*/ 110067 h 2762250"/>
              <a:gd name="connsiteX5" fmla="*/ 2503757 w 2827607"/>
              <a:gd name="connsiteY5" fmla="*/ 872067 h 2762250"/>
              <a:gd name="connsiteX6" fmla="*/ 2668857 w 2827607"/>
              <a:gd name="connsiteY6" fmla="*/ 1735667 h 2762250"/>
              <a:gd name="connsiteX7" fmla="*/ 1551257 w 2827607"/>
              <a:gd name="connsiteY7" fmla="*/ 2637367 h 2762250"/>
              <a:gd name="connsiteX8" fmla="*/ 243157 w 2827607"/>
              <a:gd name="connsiteY8" fmla="*/ 2484967 h 2762250"/>
              <a:gd name="connsiteX9" fmla="*/ 92315 w 2827607"/>
              <a:gd name="connsiteY9" fmla="*/ 2092833 h 2762250"/>
              <a:gd name="connsiteX10" fmla="*/ 576505 w 2827607"/>
              <a:gd name="connsiteY10" fmla="*/ 1588009 h 2762250"/>
              <a:gd name="connsiteX0" fmla="*/ 484429 w 2827607"/>
              <a:gd name="connsiteY0" fmla="*/ 1529271 h 2762250"/>
              <a:gd name="connsiteX1" fmla="*/ 490833 w 2827607"/>
              <a:gd name="connsiteY1" fmla="*/ 1532467 h 2762250"/>
              <a:gd name="connsiteX2" fmla="*/ 967057 w 2827607"/>
              <a:gd name="connsiteY2" fmla="*/ 883153 h 2762250"/>
              <a:gd name="connsiteX3" fmla="*/ 1576657 w 2827607"/>
              <a:gd name="connsiteY3" fmla="*/ 211667 h 2762250"/>
              <a:gd name="connsiteX4" fmla="*/ 2046557 w 2827607"/>
              <a:gd name="connsiteY4" fmla="*/ 110067 h 2762250"/>
              <a:gd name="connsiteX5" fmla="*/ 2503757 w 2827607"/>
              <a:gd name="connsiteY5" fmla="*/ 872067 h 2762250"/>
              <a:gd name="connsiteX6" fmla="*/ 2668857 w 2827607"/>
              <a:gd name="connsiteY6" fmla="*/ 1735667 h 2762250"/>
              <a:gd name="connsiteX7" fmla="*/ 1551257 w 2827607"/>
              <a:gd name="connsiteY7" fmla="*/ 2637367 h 2762250"/>
              <a:gd name="connsiteX8" fmla="*/ 243157 w 2827607"/>
              <a:gd name="connsiteY8" fmla="*/ 2484967 h 2762250"/>
              <a:gd name="connsiteX9" fmla="*/ 92315 w 2827607"/>
              <a:gd name="connsiteY9" fmla="*/ 2092833 h 2762250"/>
              <a:gd name="connsiteX10" fmla="*/ 433597 w 2827607"/>
              <a:gd name="connsiteY10" fmla="*/ 1588009 h 2762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827607" h="2762250">
                <a:moveTo>
                  <a:pt x="484429" y="1529271"/>
                </a:moveTo>
                <a:cubicBezTo>
                  <a:pt x="485496" y="1529804"/>
                  <a:pt x="410395" y="1640153"/>
                  <a:pt x="490833" y="1532467"/>
                </a:cubicBezTo>
                <a:cubicBezTo>
                  <a:pt x="571271" y="1424781"/>
                  <a:pt x="786086" y="1103286"/>
                  <a:pt x="967057" y="883153"/>
                </a:cubicBezTo>
                <a:cubicBezTo>
                  <a:pt x="1148028" y="663020"/>
                  <a:pt x="1396740" y="340515"/>
                  <a:pt x="1576657" y="211667"/>
                </a:cubicBezTo>
                <a:cubicBezTo>
                  <a:pt x="1756574" y="82819"/>
                  <a:pt x="1892041" y="0"/>
                  <a:pt x="2046557" y="110067"/>
                </a:cubicBezTo>
                <a:cubicBezTo>
                  <a:pt x="2201073" y="220134"/>
                  <a:pt x="2400040" y="601134"/>
                  <a:pt x="2503757" y="872067"/>
                </a:cubicBezTo>
                <a:cubicBezTo>
                  <a:pt x="2607474" y="1143000"/>
                  <a:pt x="2827607" y="1441450"/>
                  <a:pt x="2668857" y="1735667"/>
                </a:cubicBezTo>
                <a:cubicBezTo>
                  <a:pt x="2510107" y="2029884"/>
                  <a:pt x="1955540" y="2512484"/>
                  <a:pt x="1551257" y="2637367"/>
                </a:cubicBezTo>
                <a:cubicBezTo>
                  <a:pt x="1146974" y="2762250"/>
                  <a:pt x="486314" y="2575723"/>
                  <a:pt x="243157" y="2484967"/>
                </a:cubicBezTo>
                <a:cubicBezTo>
                  <a:pt x="0" y="2394211"/>
                  <a:pt x="60575" y="2242326"/>
                  <a:pt x="92315" y="2092833"/>
                </a:cubicBezTo>
                <a:cubicBezTo>
                  <a:pt x="124055" y="1943340"/>
                  <a:pt x="338347" y="1795442"/>
                  <a:pt x="433597" y="1588009"/>
                </a:cubicBezTo>
              </a:path>
            </a:pathLst>
          </a:custGeom>
          <a:solidFill>
            <a:schemeClr val="accent5">
              <a:lumMod val="40000"/>
              <a:lumOff val="60000"/>
              <a:alpha val="48000"/>
            </a:schemeClr>
          </a:solidFill>
          <a:ln w="28575">
            <a:solidFill>
              <a:srgbClr val="C00000"/>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Consolas" pitchFamily="49" charset="0"/>
              <a:cs typeface="Consolas" pitchFamily="49" charset="0"/>
            </a:endParaRPr>
          </a:p>
        </p:txBody>
      </p:sp>
      <p:grpSp>
        <p:nvGrpSpPr>
          <p:cNvPr id="76" name="组合 86">
            <a:extLst>
              <a:ext uri="{FF2B5EF4-FFF2-40B4-BE49-F238E27FC236}">
                <a16:creationId xmlns:a16="http://schemas.microsoft.com/office/drawing/2014/main" id="{DFC2D131-9F13-1A48-8AC9-AAF43DB1672E}"/>
              </a:ext>
            </a:extLst>
          </p:cNvPr>
          <p:cNvGrpSpPr/>
          <p:nvPr/>
        </p:nvGrpSpPr>
        <p:grpSpPr>
          <a:xfrm>
            <a:off x="7024630" y="2758001"/>
            <a:ext cx="2376488" cy="2016125"/>
            <a:chOff x="5167380" y="1285860"/>
            <a:chExt cx="2376488" cy="2016125"/>
          </a:xfrm>
        </p:grpSpPr>
        <p:sp>
          <p:nvSpPr>
            <p:cNvPr id="77" name="Oval 31">
              <a:extLst>
                <a:ext uri="{FF2B5EF4-FFF2-40B4-BE49-F238E27FC236}">
                  <a16:creationId xmlns:a16="http://schemas.microsoft.com/office/drawing/2014/main" id="{6006C963-0775-8951-4DEC-4F1944B69920}"/>
                </a:ext>
              </a:extLst>
            </p:cNvPr>
            <p:cNvSpPr>
              <a:spLocks noChangeArrowheads="1"/>
            </p:cNvSpPr>
            <p:nvPr/>
          </p:nvSpPr>
          <p:spPr bwMode="auto">
            <a:xfrm>
              <a:off x="5743643" y="1285860"/>
              <a:ext cx="360363" cy="431800"/>
            </a:xfrm>
            <a:prstGeom prst="ellipse">
              <a:avLst/>
            </a:prstGeom>
            <a:solidFill>
              <a:schemeClr val="tx2">
                <a:lumMod val="60000"/>
                <a:lumOff val="40000"/>
              </a:schemeClr>
            </a:solidFill>
            <a:ln w="19050" algn="ctr">
              <a:solidFill>
                <a:srgbClr val="3333FF"/>
              </a:solidFill>
              <a:round/>
              <a:headEnd/>
              <a:tailEnd type="none" w="med" len="lg"/>
            </a:ln>
            <a:effectLst/>
          </p:spPr>
          <p:txBody>
            <a:bodyPr wrap="none" anchor="ctr"/>
            <a:lstStyle/>
            <a:p>
              <a:r>
                <a:rPr lang="en-US" altLang="zh-CN" sz="2000" dirty="0">
                  <a:latin typeface="Consolas" pitchFamily="49" charset="0"/>
                  <a:cs typeface="Consolas" pitchFamily="49" charset="0"/>
                </a:rPr>
                <a:t>0</a:t>
              </a:r>
            </a:p>
          </p:txBody>
        </p:sp>
        <p:sp>
          <p:nvSpPr>
            <p:cNvPr id="78" name="Oval 32">
              <a:extLst>
                <a:ext uri="{FF2B5EF4-FFF2-40B4-BE49-F238E27FC236}">
                  <a16:creationId xmlns:a16="http://schemas.microsoft.com/office/drawing/2014/main" id="{48CFA551-B519-37FE-F854-5F836F22B371}"/>
                </a:ext>
              </a:extLst>
            </p:cNvPr>
            <p:cNvSpPr>
              <a:spLocks noChangeArrowheads="1"/>
            </p:cNvSpPr>
            <p:nvPr/>
          </p:nvSpPr>
          <p:spPr bwMode="auto">
            <a:xfrm>
              <a:off x="6824730" y="1285860"/>
              <a:ext cx="360363"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2000">
                  <a:solidFill>
                    <a:srgbClr val="0000FF"/>
                  </a:solidFill>
                  <a:latin typeface="Consolas" pitchFamily="49" charset="0"/>
                  <a:cs typeface="Consolas" pitchFamily="49" charset="0"/>
                </a:rPr>
                <a:t>1</a:t>
              </a:r>
            </a:p>
          </p:txBody>
        </p:sp>
        <p:sp>
          <p:nvSpPr>
            <p:cNvPr id="79" name="Oval 33">
              <a:extLst>
                <a:ext uri="{FF2B5EF4-FFF2-40B4-BE49-F238E27FC236}">
                  <a16:creationId xmlns:a16="http://schemas.microsoft.com/office/drawing/2014/main" id="{1E90473C-B850-5165-92C7-BD3D48AFB730}"/>
                </a:ext>
              </a:extLst>
            </p:cNvPr>
            <p:cNvSpPr>
              <a:spLocks noChangeArrowheads="1"/>
            </p:cNvSpPr>
            <p:nvPr/>
          </p:nvSpPr>
          <p:spPr bwMode="auto">
            <a:xfrm>
              <a:off x="5167380" y="2151048"/>
              <a:ext cx="360363" cy="431800"/>
            </a:xfrm>
            <a:prstGeom prst="ellipse">
              <a:avLst/>
            </a:prstGeom>
            <a:solidFill>
              <a:schemeClr val="accent1"/>
            </a:solidFill>
            <a:ln w="19050" algn="ctr">
              <a:solidFill>
                <a:srgbClr val="3333FF"/>
              </a:solidFill>
              <a:round/>
              <a:headEnd/>
              <a:tailEnd type="none" w="med" len="lg"/>
            </a:ln>
            <a:effectLst/>
          </p:spPr>
          <p:txBody>
            <a:bodyPr wrap="none" anchor="ctr"/>
            <a:lstStyle/>
            <a:p>
              <a:r>
                <a:rPr lang="en-US" altLang="zh-CN" sz="2000" dirty="0">
                  <a:latin typeface="Consolas" pitchFamily="49" charset="0"/>
                  <a:cs typeface="Consolas" pitchFamily="49" charset="0"/>
                </a:rPr>
                <a:t>5</a:t>
              </a:r>
            </a:p>
          </p:txBody>
        </p:sp>
        <p:sp>
          <p:nvSpPr>
            <p:cNvPr id="80" name="Oval 34">
              <a:extLst>
                <a:ext uri="{FF2B5EF4-FFF2-40B4-BE49-F238E27FC236}">
                  <a16:creationId xmlns:a16="http://schemas.microsoft.com/office/drawing/2014/main" id="{798F0B73-8731-A4EE-FA13-74636EB17B49}"/>
                </a:ext>
              </a:extLst>
            </p:cNvPr>
            <p:cNvSpPr>
              <a:spLocks noChangeArrowheads="1"/>
            </p:cNvSpPr>
            <p:nvPr/>
          </p:nvSpPr>
          <p:spPr bwMode="auto">
            <a:xfrm>
              <a:off x="5816668" y="2870185"/>
              <a:ext cx="360363"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2000">
                  <a:solidFill>
                    <a:srgbClr val="0000FF"/>
                  </a:solidFill>
                  <a:latin typeface="Consolas" pitchFamily="49" charset="0"/>
                  <a:cs typeface="Consolas" pitchFamily="49" charset="0"/>
                </a:rPr>
                <a:t>4</a:t>
              </a:r>
            </a:p>
          </p:txBody>
        </p:sp>
        <p:sp>
          <p:nvSpPr>
            <p:cNvPr id="81" name="Oval 35">
              <a:extLst>
                <a:ext uri="{FF2B5EF4-FFF2-40B4-BE49-F238E27FC236}">
                  <a16:creationId xmlns:a16="http://schemas.microsoft.com/office/drawing/2014/main" id="{269AC6D5-F5FB-8447-9EBA-CB42631244A8}"/>
                </a:ext>
              </a:extLst>
            </p:cNvPr>
            <p:cNvSpPr>
              <a:spLocks noChangeArrowheads="1"/>
            </p:cNvSpPr>
            <p:nvPr/>
          </p:nvSpPr>
          <p:spPr bwMode="auto">
            <a:xfrm>
              <a:off x="6751705" y="2870185"/>
              <a:ext cx="360363"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2000">
                  <a:solidFill>
                    <a:srgbClr val="0000FF"/>
                  </a:solidFill>
                  <a:latin typeface="Consolas" pitchFamily="49" charset="0"/>
                  <a:cs typeface="Consolas" pitchFamily="49" charset="0"/>
                </a:rPr>
                <a:t>3</a:t>
              </a:r>
            </a:p>
          </p:txBody>
        </p:sp>
        <p:sp>
          <p:nvSpPr>
            <p:cNvPr id="82" name="Oval 36">
              <a:extLst>
                <a:ext uri="{FF2B5EF4-FFF2-40B4-BE49-F238E27FC236}">
                  <a16:creationId xmlns:a16="http://schemas.microsoft.com/office/drawing/2014/main" id="{9A7829EE-9CCA-6B1D-9D93-0D8D879244F0}"/>
                </a:ext>
              </a:extLst>
            </p:cNvPr>
            <p:cNvSpPr>
              <a:spLocks noChangeArrowheads="1"/>
            </p:cNvSpPr>
            <p:nvPr/>
          </p:nvSpPr>
          <p:spPr bwMode="auto">
            <a:xfrm>
              <a:off x="6319905" y="2078023"/>
              <a:ext cx="360363"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2000">
                  <a:solidFill>
                    <a:srgbClr val="0000FF"/>
                  </a:solidFill>
                  <a:latin typeface="Consolas" pitchFamily="49" charset="0"/>
                  <a:cs typeface="Consolas" pitchFamily="49" charset="0"/>
                </a:rPr>
                <a:t>6</a:t>
              </a:r>
            </a:p>
          </p:txBody>
        </p:sp>
        <p:sp>
          <p:nvSpPr>
            <p:cNvPr id="83" name="Oval 37">
              <a:extLst>
                <a:ext uri="{FF2B5EF4-FFF2-40B4-BE49-F238E27FC236}">
                  <a16:creationId xmlns:a16="http://schemas.microsoft.com/office/drawing/2014/main" id="{75C0EE5A-F77A-4B9E-BEF4-5A0C166A52E1}"/>
                </a:ext>
              </a:extLst>
            </p:cNvPr>
            <p:cNvSpPr>
              <a:spLocks noChangeArrowheads="1"/>
            </p:cNvSpPr>
            <p:nvPr/>
          </p:nvSpPr>
          <p:spPr bwMode="auto">
            <a:xfrm>
              <a:off x="7183505" y="2078023"/>
              <a:ext cx="360363"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2000">
                  <a:solidFill>
                    <a:srgbClr val="0000FF"/>
                  </a:solidFill>
                  <a:latin typeface="Consolas" pitchFamily="49" charset="0"/>
                  <a:cs typeface="Consolas" pitchFamily="49" charset="0"/>
                </a:rPr>
                <a:t>2</a:t>
              </a:r>
            </a:p>
          </p:txBody>
        </p:sp>
      </p:grpSp>
      <p:sp>
        <p:nvSpPr>
          <p:cNvPr id="84" name="Freeform 13">
            <a:extLst>
              <a:ext uri="{FF2B5EF4-FFF2-40B4-BE49-F238E27FC236}">
                <a16:creationId xmlns:a16="http://schemas.microsoft.com/office/drawing/2014/main" id="{DB0C2F22-7EA2-02B5-BDF4-EF7A7C511C88}"/>
              </a:ext>
            </a:extLst>
          </p:cNvPr>
          <p:cNvSpPr>
            <a:spLocks/>
          </p:cNvSpPr>
          <p:nvPr/>
        </p:nvSpPr>
        <p:spPr bwMode="auto">
          <a:xfrm>
            <a:off x="7261106" y="3115191"/>
            <a:ext cx="395288" cy="528638"/>
          </a:xfrm>
          <a:custGeom>
            <a:avLst/>
            <a:gdLst/>
            <a:ahLst/>
            <a:cxnLst>
              <a:cxn ang="0">
                <a:pos x="249" y="0"/>
              </a:cxn>
              <a:cxn ang="0">
                <a:pos x="0" y="333"/>
              </a:cxn>
            </a:cxnLst>
            <a:rect l="0" t="0" r="r" b="b"/>
            <a:pathLst>
              <a:path w="249" h="333">
                <a:moveTo>
                  <a:pt x="249" y="0"/>
                </a:moveTo>
                <a:lnTo>
                  <a:pt x="0" y="333"/>
                </a:lnTo>
              </a:path>
            </a:pathLst>
          </a:custGeom>
          <a:noFill/>
          <a:ln w="19050" cap="flat" cmpd="sng">
            <a:solidFill>
              <a:srgbClr val="3333FF"/>
            </a:solidFill>
            <a:prstDash val="solid"/>
            <a:round/>
            <a:headEnd type="none" w="med" len="med"/>
            <a:tailEnd type="none" w="med" len="lg"/>
          </a:ln>
          <a:effectLst/>
        </p:spPr>
        <p:txBody>
          <a:bodyPr wrap="none"/>
          <a:lstStyle/>
          <a:p>
            <a:endParaRPr lang="zh-CN" altLang="en-US">
              <a:latin typeface="Consolas" pitchFamily="49" charset="0"/>
              <a:cs typeface="Consolas" pitchFamily="49" charset="0"/>
            </a:endParaRPr>
          </a:p>
        </p:txBody>
      </p:sp>
      <p:sp>
        <p:nvSpPr>
          <p:cNvPr id="85" name="Text Box 65">
            <a:extLst>
              <a:ext uri="{FF2B5EF4-FFF2-40B4-BE49-F238E27FC236}">
                <a16:creationId xmlns:a16="http://schemas.microsoft.com/office/drawing/2014/main" id="{FBBCCA97-4F19-6483-1FED-A3EEB697A9F1}"/>
              </a:ext>
            </a:extLst>
          </p:cNvPr>
          <p:cNvSpPr txBox="1">
            <a:spLocks noChangeArrowheads="1"/>
          </p:cNvSpPr>
          <p:nvPr/>
        </p:nvSpPr>
        <p:spPr bwMode="auto">
          <a:xfrm>
            <a:off x="6715002" y="5329769"/>
            <a:ext cx="2928958" cy="307777"/>
          </a:xfrm>
          <a:prstGeom prst="rect">
            <a:avLst/>
          </a:prstGeom>
          <a:noFill/>
          <a:ln w="19050" algn="ctr">
            <a:noFill/>
            <a:miter lim="800000"/>
            <a:headEnd/>
            <a:tailEnd type="none" w="med" len="lg"/>
          </a:ln>
          <a:effectLst/>
        </p:spPr>
        <p:txBody>
          <a:bodyPr wrap="square" lIns="0" tIns="0" rIns="0" bIns="0">
            <a:spAutoFit/>
          </a:bodyPr>
          <a:lstStyle/>
          <a:p>
            <a:pPr algn="l">
              <a:spcBef>
                <a:spcPct val="50000"/>
              </a:spcBef>
            </a:pPr>
            <a:r>
              <a:rPr lang="en-US" altLang="zh-CN" sz="2000">
                <a:solidFill>
                  <a:srgbClr val="CC00CC"/>
                </a:solidFill>
                <a:latin typeface="Consolas" pitchFamily="49" charset="0"/>
                <a:cs typeface="Consolas" pitchFamily="49" charset="0"/>
              </a:rPr>
              <a:t>U={0</a:t>
            </a:r>
            <a:r>
              <a:rPr lang="zh-CN" altLang="en-US" sz="2000">
                <a:solidFill>
                  <a:srgbClr val="CC00CC"/>
                </a:solidFill>
                <a:latin typeface="Consolas" pitchFamily="49" charset="0"/>
                <a:cs typeface="Consolas" pitchFamily="49" charset="0"/>
              </a:rPr>
              <a:t>，</a:t>
            </a:r>
            <a:r>
              <a:rPr lang="en-US" altLang="zh-CN" sz="2000">
                <a:solidFill>
                  <a:srgbClr val="CC00CC"/>
                </a:solidFill>
                <a:latin typeface="Consolas" pitchFamily="49" charset="0"/>
                <a:cs typeface="Consolas" pitchFamily="49" charset="0"/>
              </a:rPr>
              <a:t>5}</a:t>
            </a:r>
            <a:endParaRPr lang="en-US" altLang="zh-CN" sz="2000" dirty="0">
              <a:solidFill>
                <a:srgbClr val="CC00CC"/>
              </a:solidFill>
              <a:latin typeface="Consolas" pitchFamily="49" charset="0"/>
              <a:cs typeface="Consolas" pitchFamily="49" charset="0"/>
            </a:endParaRPr>
          </a:p>
        </p:txBody>
      </p:sp>
      <p:sp>
        <p:nvSpPr>
          <p:cNvPr id="86" name="Oval 31">
            <a:extLst>
              <a:ext uri="{FF2B5EF4-FFF2-40B4-BE49-F238E27FC236}">
                <a16:creationId xmlns:a16="http://schemas.microsoft.com/office/drawing/2014/main" id="{56DC6FAE-5CC2-4817-1C50-4C1FB3C0D09B}"/>
              </a:ext>
            </a:extLst>
          </p:cNvPr>
          <p:cNvSpPr>
            <a:spLocks noChangeArrowheads="1"/>
          </p:cNvSpPr>
          <p:nvPr/>
        </p:nvSpPr>
        <p:spPr bwMode="auto">
          <a:xfrm>
            <a:off x="7597658" y="2742129"/>
            <a:ext cx="360363" cy="431800"/>
          </a:xfrm>
          <a:prstGeom prst="ellipse">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anchor="ctr"/>
          <a:lstStyle/>
          <a:p>
            <a:r>
              <a:rPr lang="en-US" altLang="zh-CN" sz="2000" dirty="0">
                <a:solidFill>
                  <a:srgbClr val="FF00FF"/>
                </a:solidFill>
                <a:latin typeface="Consolas" pitchFamily="49" charset="0"/>
                <a:cs typeface="Consolas" pitchFamily="49" charset="0"/>
              </a:rPr>
              <a:t>0</a:t>
            </a:r>
          </a:p>
        </p:txBody>
      </p:sp>
      <p:sp>
        <p:nvSpPr>
          <p:cNvPr id="87" name="Oval 33">
            <a:extLst>
              <a:ext uri="{FF2B5EF4-FFF2-40B4-BE49-F238E27FC236}">
                <a16:creationId xmlns:a16="http://schemas.microsoft.com/office/drawing/2014/main" id="{BD38344A-4DF6-7635-E723-6B4D27699E52}"/>
              </a:ext>
            </a:extLst>
          </p:cNvPr>
          <p:cNvSpPr>
            <a:spLocks noChangeArrowheads="1"/>
          </p:cNvSpPr>
          <p:nvPr/>
        </p:nvSpPr>
        <p:spPr bwMode="auto">
          <a:xfrm>
            <a:off x="7013454" y="3615257"/>
            <a:ext cx="360363" cy="431800"/>
          </a:xfrm>
          <a:prstGeom prst="ellipse">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anchor="ctr"/>
          <a:lstStyle/>
          <a:p>
            <a:r>
              <a:rPr lang="en-US" altLang="zh-CN" sz="2000" dirty="0">
                <a:solidFill>
                  <a:srgbClr val="FF00FF"/>
                </a:solidFill>
                <a:latin typeface="Consolas" pitchFamily="49" charset="0"/>
                <a:ea typeface="黑体" pitchFamily="49" charset="-122"/>
                <a:cs typeface="Consolas" pitchFamily="49" charset="0"/>
              </a:rPr>
              <a:t>5</a:t>
            </a:r>
          </a:p>
        </p:txBody>
      </p:sp>
      <p:sp>
        <p:nvSpPr>
          <p:cNvPr id="88" name="任意多边形 46">
            <a:extLst>
              <a:ext uri="{FF2B5EF4-FFF2-40B4-BE49-F238E27FC236}">
                <a16:creationId xmlns:a16="http://schemas.microsoft.com/office/drawing/2014/main" id="{46F5E9C8-F8B2-1AB6-8862-315D98D06A68}"/>
              </a:ext>
            </a:extLst>
          </p:cNvPr>
          <p:cNvSpPr/>
          <p:nvPr/>
        </p:nvSpPr>
        <p:spPr bwMode="auto">
          <a:xfrm>
            <a:off x="2714474" y="2702980"/>
            <a:ext cx="1426633" cy="1769533"/>
          </a:xfrm>
          <a:custGeom>
            <a:avLst/>
            <a:gdLst>
              <a:gd name="connsiteX0" fmla="*/ 791633 w 1426633"/>
              <a:gd name="connsiteY0" fmla="*/ 101600 h 1769533"/>
              <a:gd name="connsiteX1" fmla="*/ 461433 w 1426633"/>
              <a:gd name="connsiteY1" fmla="*/ 292100 h 1769533"/>
              <a:gd name="connsiteX2" fmla="*/ 80433 w 1426633"/>
              <a:gd name="connsiteY2" fmla="*/ 1054100 h 1769533"/>
              <a:gd name="connsiteX3" fmla="*/ 80433 w 1426633"/>
              <a:gd name="connsiteY3" fmla="*/ 1562100 h 1769533"/>
              <a:gd name="connsiteX4" fmla="*/ 563033 w 1426633"/>
              <a:gd name="connsiteY4" fmla="*/ 1549400 h 1769533"/>
              <a:gd name="connsiteX5" fmla="*/ 1388533 w 1426633"/>
              <a:gd name="connsiteY5" fmla="*/ 241300 h 1769533"/>
              <a:gd name="connsiteX6" fmla="*/ 791633 w 1426633"/>
              <a:gd name="connsiteY6" fmla="*/ 101600 h 1769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26633" h="1769533">
                <a:moveTo>
                  <a:pt x="791633" y="101600"/>
                </a:moveTo>
                <a:cubicBezTo>
                  <a:pt x="637116" y="110067"/>
                  <a:pt x="579966" y="133350"/>
                  <a:pt x="461433" y="292100"/>
                </a:cubicBezTo>
                <a:cubicBezTo>
                  <a:pt x="342900" y="450850"/>
                  <a:pt x="143933" y="842433"/>
                  <a:pt x="80433" y="1054100"/>
                </a:cubicBezTo>
                <a:cubicBezTo>
                  <a:pt x="16933" y="1265767"/>
                  <a:pt x="0" y="1479550"/>
                  <a:pt x="80433" y="1562100"/>
                </a:cubicBezTo>
                <a:cubicBezTo>
                  <a:pt x="160866" y="1644650"/>
                  <a:pt x="345016" y="1769533"/>
                  <a:pt x="563033" y="1549400"/>
                </a:cubicBezTo>
                <a:cubicBezTo>
                  <a:pt x="781050" y="1329267"/>
                  <a:pt x="1350433" y="482600"/>
                  <a:pt x="1388533" y="241300"/>
                </a:cubicBezTo>
                <a:cubicBezTo>
                  <a:pt x="1426633" y="0"/>
                  <a:pt x="946150" y="93133"/>
                  <a:pt x="791633" y="101600"/>
                </a:cubicBezTo>
                <a:close/>
              </a:path>
            </a:pathLst>
          </a:custGeom>
          <a:solidFill>
            <a:schemeClr val="accent2">
              <a:lumMod val="40000"/>
              <a:lumOff val="60000"/>
              <a:alpha val="48000"/>
            </a:schemeClr>
          </a:solidFill>
          <a:ln w="19050" cap="flat" cmpd="sng">
            <a:solidFill>
              <a:srgbClr val="C00000"/>
            </a:solidFill>
            <a:prstDash val="dash"/>
            <a:round/>
            <a:headEnd type="none" w="med" len="med"/>
            <a:tailEnd type="none" w="med" len="lg"/>
          </a:ln>
          <a:effectLst/>
        </p:spPr>
        <p:txBody>
          <a:bodyPr wrap="none" rtlCol="0" anchor="ctr"/>
          <a:lstStyle/>
          <a:p>
            <a:pPr algn="ctr"/>
            <a:endParaRPr lang="zh-CN" altLang="en-US">
              <a:latin typeface="Consolas" pitchFamily="49" charset="0"/>
              <a:cs typeface="Consolas" pitchFamily="49" charset="0"/>
            </a:endParaRPr>
          </a:p>
        </p:txBody>
      </p:sp>
      <p:sp>
        <p:nvSpPr>
          <p:cNvPr id="89" name="Freeform 14">
            <a:extLst>
              <a:ext uri="{FF2B5EF4-FFF2-40B4-BE49-F238E27FC236}">
                <a16:creationId xmlns:a16="http://schemas.microsoft.com/office/drawing/2014/main" id="{F34C2A85-04B4-3658-5864-3529BB00F413}"/>
              </a:ext>
            </a:extLst>
          </p:cNvPr>
          <p:cNvSpPr>
            <a:spLocks/>
          </p:cNvSpPr>
          <p:nvPr/>
        </p:nvSpPr>
        <p:spPr bwMode="auto">
          <a:xfrm>
            <a:off x="7319844" y="4002613"/>
            <a:ext cx="392113" cy="419100"/>
          </a:xfrm>
          <a:custGeom>
            <a:avLst/>
            <a:gdLst/>
            <a:ahLst/>
            <a:cxnLst>
              <a:cxn ang="0">
                <a:pos x="0" y="0"/>
              </a:cxn>
              <a:cxn ang="0">
                <a:pos x="247" y="264"/>
              </a:cxn>
            </a:cxnLst>
            <a:rect l="0" t="0" r="r" b="b"/>
            <a:pathLst>
              <a:path w="247" h="264">
                <a:moveTo>
                  <a:pt x="0" y="0"/>
                </a:moveTo>
                <a:lnTo>
                  <a:pt x="247" y="264"/>
                </a:lnTo>
              </a:path>
            </a:pathLst>
          </a:custGeom>
          <a:noFill/>
          <a:ln w="19050" cap="flat" cmpd="sng">
            <a:solidFill>
              <a:srgbClr val="3333FF"/>
            </a:solidFill>
            <a:prstDash val="solid"/>
            <a:round/>
            <a:headEnd type="none" w="med" len="med"/>
            <a:tailEnd type="none" w="med" len="lg"/>
          </a:ln>
          <a:effectLst/>
        </p:spPr>
        <p:txBody>
          <a:bodyPr wrap="none"/>
          <a:lstStyle/>
          <a:p>
            <a:endParaRPr lang="zh-CN" altLang="en-US">
              <a:latin typeface="Consolas" pitchFamily="49" charset="0"/>
              <a:cs typeface="Consolas" pitchFamily="49" charset="0"/>
            </a:endParaRPr>
          </a:p>
        </p:txBody>
      </p:sp>
    </p:spTree>
    <p:extLst>
      <p:ext uri="{BB962C8B-B14F-4D97-AF65-F5344CB8AC3E}">
        <p14:creationId xmlns:p14="http://schemas.microsoft.com/office/powerpoint/2010/main" val="39699760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nodePh="1">
                                  <p:stCondLst>
                                    <p:cond delay="0"/>
                                  </p:stCondLst>
                                  <p:endCondLst>
                                    <p:cond evt="begin" delay="0">
                                      <p:tn val="5"/>
                                    </p:cond>
                                  </p:endCondLst>
                                  <p:childTnLst>
                                    <p:set>
                                      <p:cBhvr>
                                        <p:cTn id="6" dur="1" fill="hold">
                                          <p:stCondLst>
                                            <p:cond delay="0"/>
                                          </p:stCondLst>
                                        </p:cTn>
                                        <p:tgtEl>
                                          <p:spTgt spid="42">
                                            <p:txEl>
                                              <p:pRg st="0" end="0"/>
                                            </p:txEl>
                                          </p:spTgt>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87"/>
                                        </p:tgtEl>
                                        <p:attrNameLst>
                                          <p:attrName>style.visibility</p:attrName>
                                        </p:attrNameLst>
                                      </p:cBhvr>
                                      <p:to>
                                        <p:strVal val="visible"/>
                                      </p:to>
                                    </p:set>
                                  </p:childTnLst>
                                </p:cTn>
                              </p:par>
                            </p:childTnLst>
                          </p:cTn>
                        </p:par>
                        <p:par>
                          <p:cTn id="10" fill="hold">
                            <p:stCondLst>
                              <p:cond delay="0"/>
                            </p:stCondLst>
                            <p:childTnLst>
                              <p:par>
                                <p:cTn id="11" presetID="1" presetClass="entr" presetSubtype="0" fill="hold" grpId="0" nodeType="afterEffect">
                                  <p:stCondLst>
                                    <p:cond delay="0"/>
                                  </p:stCondLst>
                                  <p:childTnLst>
                                    <p:set>
                                      <p:cBhvr>
                                        <p:cTn id="12" dur="1" fill="hold">
                                          <p:stCondLst>
                                            <p:cond delay="0"/>
                                          </p:stCondLst>
                                        </p:cTn>
                                        <p:tgtEl>
                                          <p:spTgt spid="8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8"/>
                                        </p:tgtEl>
                                        <p:attrNameLst>
                                          <p:attrName>style.visibility</p:attrName>
                                        </p:attrNameLst>
                                      </p:cBhvr>
                                      <p:to>
                                        <p:strVal val="visible"/>
                                      </p:to>
                                    </p:set>
                                  </p:childTnLst>
                                </p:cTn>
                              </p:par>
                            </p:childTnLst>
                          </p:cTn>
                        </p:par>
                        <p:par>
                          <p:cTn id="17" fill="hold">
                            <p:stCondLst>
                              <p:cond delay="0"/>
                            </p:stCondLst>
                            <p:childTnLst>
                              <p:par>
                                <p:cTn id="18" presetID="1" presetClass="entr" presetSubtype="0" fill="hold" grpId="0" nodeType="afterEffect">
                                  <p:stCondLst>
                                    <p:cond delay="0"/>
                                  </p:stCondLst>
                                  <p:childTnLst>
                                    <p:set>
                                      <p:cBhvr>
                                        <p:cTn id="19" dur="1" fill="hold">
                                          <p:stCondLst>
                                            <p:cond delay="0"/>
                                          </p:stCondLst>
                                        </p:cTn>
                                        <p:tgtEl>
                                          <p:spTgt spid="75"/>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26" presetClass="emph" presetSubtype="0" fill="hold" grpId="0" nodeType="clickEffect">
                                  <p:stCondLst>
                                    <p:cond delay="0"/>
                                  </p:stCondLst>
                                  <p:childTnLst>
                                    <p:animEffect transition="out" filter="fade">
                                      <p:cBhvr>
                                        <p:cTn id="23" dur="500" tmFilter="0, 0; .2, .5; .8, .5; 1, 0"/>
                                        <p:tgtEl>
                                          <p:spTgt spid="58"/>
                                        </p:tgtEl>
                                      </p:cBhvr>
                                    </p:animEffect>
                                    <p:animScale>
                                      <p:cBhvr>
                                        <p:cTn id="24" dur="250" autoRev="1" fill="hold"/>
                                        <p:tgtEl>
                                          <p:spTgt spid="58"/>
                                        </p:tgtEl>
                                      </p:cBhvr>
                                      <p:by x="105000" y="105000"/>
                                    </p:animScale>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8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build="p"/>
      <p:bldP spid="58" grpId="0" animBg="1"/>
      <p:bldP spid="75" grpId="0" animBg="1"/>
      <p:bldP spid="85" grpId="0"/>
      <p:bldP spid="87" grpId="0" animBg="1"/>
      <p:bldP spid="88" grpId="0" animBg="1"/>
      <p:bldP spid="89" grpId="0" animBg="1"/>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C4533A-DB86-84A1-74E5-028D3AB6DBE1}"/>
            </a:ext>
          </a:extLst>
        </p:cNvPr>
        <p:cNvGrpSpPr/>
        <p:nvPr/>
      </p:nvGrpSpPr>
      <p:grpSpPr>
        <a:xfrm>
          <a:off x="0" y="0"/>
          <a:ext cx="0" cy="0"/>
          <a:chOff x="0" y="0"/>
          <a:chExt cx="0" cy="0"/>
        </a:xfrm>
      </p:grpSpPr>
      <p:sp>
        <p:nvSpPr>
          <p:cNvPr id="42" name="Rectangle 4">
            <a:extLst>
              <a:ext uri="{FF2B5EF4-FFF2-40B4-BE49-F238E27FC236}">
                <a16:creationId xmlns:a16="http://schemas.microsoft.com/office/drawing/2014/main" id="{B7E1D07F-7500-501C-AC8F-1F88F0AD9B51}"/>
              </a:ext>
            </a:extLst>
          </p:cNvPr>
          <p:cNvSpPr>
            <a:spLocks noChangeArrowheads="1"/>
          </p:cNvSpPr>
          <p:nvPr/>
        </p:nvSpPr>
        <p:spPr bwMode="auto">
          <a:xfrm>
            <a:off x="6384032" y="4567734"/>
            <a:ext cx="7620000" cy="2016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lvl="1" indent="-228600">
              <a:spcBef>
                <a:spcPts val="600"/>
              </a:spcBef>
              <a:buClr>
                <a:srgbClr val="B870B8"/>
              </a:buClr>
              <a:buSzPct val="75000"/>
              <a:buFont typeface="Wingdings" pitchFamily="2" charset="2"/>
              <a:buChar char="n"/>
            </a:pPr>
            <a:endParaRPr kumimoji="1" lang="zh-CN" altLang="en-US" sz="2400" dirty="0">
              <a:latin typeface="微软雅黑" pitchFamily="34" charset="-122"/>
              <a:ea typeface="微软雅黑" pitchFamily="34" charset="-122"/>
              <a:cs typeface="经典粗黑简" pitchFamily="49" charset="-122"/>
            </a:endParaRPr>
          </a:p>
        </p:txBody>
      </p:sp>
      <p:sp>
        <p:nvSpPr>
          <p:cNvPr id="2" name="Rectangle 2">
            <a:extLst>
              <a:ext uri="{FF2B5EF4-FFF2-40B4-BE49-F238E27FC236}">
                <a16:creationId xmlns:a16="http://schemas.microsoft.com/office/drawing/2014/main" id="{F75E465C-328D-6DC1-4CA3-B3833831793A}"/>
              </a:ext>
            </a:extLst>
          </p:cNvPr>
          <p:cNvSpPr txBox="1">
            <a:spLocks noChangeArrowheads="1"/>
          </p:cNvSpPr>
          <p:nvPr/>
        </p:nvSpPr>
        <p:spPr>
          <a:xfrm>
            <a:off x="474772" y="1230902"/>
            <a:ext cx="4469100"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8.4.3 </a:t>
            </a:r>
            <a:r>
              <a:rPr kumimoji="1" lang="zh-CN" altLang="en-US" dirty="0">
                <a:latin typeface="微软雅黑" pitchFamily="34" charset="-122"/>
                <a:ea typeface="微软雅黑" pitchFamily="34" charset="-122"/>
              </a:rPr>
              <a:t>普里姆</a:t>
            </a:r>
            <a:r>
              <a:rPr kumimoji="1" lang="en-US" altLang="zh-CN" dirty="0">
                <a:latin typeface="微软雅黑" pitchFamily="34" charset="-122"/>
                <a:ea typeface="微软雅黑" pitchFamily="34" charset="-122"/>
              </a:rPr>
              <a:t>(Prim)</a:t>
            </a:r>
            <a:r>
              <a:rPr kumimoji="1" lang="zh-CN" altLang="en-US" dirty="0">
                <a:latin typeface="微软雅黑" pitchFamily="34" charset="-122"/>
                <a:ea typeface="微软雅黑" pitchFamily="34" charset="-122"/>
              </a:rPr>
              <a:t>算法</a:t>
            </a:r>
          </a:p>
        </p:txBody>
      </p:sp>
      <p:cxnSp>
        <p:nvCxnSpPr>
          <p:cNvPr id="3" name="直接连接符 2">
            <a:extLst>
              <a:ext uri="{FF2B5EF4-FFF2-40B4-BE49-F238E27FC236}">
                <a16:creationId xmlns:a16="http://schemas.microsoft.com/office/drawing/2014/main" id="{739610B5-00FE-6683-E057-95708B8D94F7}"/>
              </a:ext>
            </a:extLst>
          </p:cNvPr>
          <p:cNvCxnSpPr>
            <a:cxnSpLocks/>
          </p:cNvCxnSpPr>
          <p:nvPr/>
        </p:nvCxnSpPr>
        <p:spPr>
          <a:xfrm>
            <a:off x="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4" name="矩形 3">
            <a:extLst>
              <a:ext uri="{FF2B5EF4-FFF2-40B4-BE49-F238E27FC236}">
                <a16:creationId xmlns:a16="http://schemas.microsoft.com/office/drawing/2014/main" id="{050E02E2-D8E5-D558-918E-EC7F3F31DA0D}"/>
              </a:ext>
            </a:extLst>
          </p:cNvPr>
          <p:cNvSpPr/>
          <p:nvPr/>
        </p:nvSpPr>
        <p:spPr>
          <a:xfrm>
            <a:off x="3394075" y="399838"/>
            <a:ext cx="4617860"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8.4 </a:t>
            </a:r>
            <a:r>
              <a:rPr lang="zh-CN" altLang="en-US" sz="3000" b="1" dirty="0">
                <a:latin typeface="黑体" pitchFamily="49" charset="-122"/>
                <a:ea typeface="黑体" pitchFamily="49" charset="-122"/>
                <a:cs typeface="经典粗黑简" pitchFamily="49" charset="-122"/>
              </a:rPr>
              <a:t>生成树和最小生成树</a:t>
            </a:r>
          </a:p>
        </p:txBody>
      </p:sp>
      <p:sp>
        <p:nvSpPr>
          <p:cNvPr id="5" name="Text Box 4">
            <a:extLst>
              <a:ext uri="{FF2B5EF4-FFF2-40B4-BE49-F238E27FC236}">
                <a16:creationId xmlns:a16="http://schemas.microsoft.com/office/drawing/2014/main" id="{A1C99FCC-645B-0926-5403-D82DDA732E9E}"/>
              </a:ext>
            </a:extLst>
          </p:cNvPr>
          <p:cNvSpPr txBox="1">
            <a:spLocks noChangeArrowheads="1"/>
          </p:cNvSpPr>
          <p:nvPr/>
        </p:nvSpPr>
        <p:spPr bwMode="auto">
          <a:xfrm>
            <a:off x="3978057" y="6198533"/>
            <a:ext cx="4929222" cy="400110"/>
          </a:xfrm>
          <a:prstGeom prst="rect">
            <a:avLst/>
          </a:prstGeom>
          <a:noFill/>
          <a:ln w="9525">
            <a:noFill/>
            <a:miter lim="800000"/>
            <a:headEnd/>
            <a:tailEnd/>
          </a:ln>
          <a:effectLst/>
        </p:spPr>
        <p:txBody>
          <a:bodyPr wrap="square">
            <a:spAutoFit/>
          </a:bodyPr>
          <a:lstStyle/>
          <a:p>
            <a:pPr algn="l">
              <a:spcBef>
                <a:spcPct val="50000"/>
              </a:spcBef>
            </a:pPr>
            <a:r>
              <a:rPr kumimoji="1" lang="zh-CN" altLang="en-US" sz="2000" dirty="0">
                <a:ea typeface="楷体" pitchFamily="49" charset="-122"/>
                <a:cs typeface="Times New Roman" pitchFamily="18" charset="0"/>
              </a:rPr>
              <a:t>普里姆算法求解最小生成树的过程 </a:t>
            </a:r>
          </a:p>
        </p:txBody>
      </p:sp>
      <p:sp>
        <p:nvSpPr>
          <p:cNvPr id="33" name="Text Box 73">
            <a:extLst>
              <a:ext uri="{FF2B5EF4-FFF2-40B4-BE49-F238E27FC236}">
                <a16:creationId xmlns:a16="http://schemas.microsoft.com/office/drawing/2014/main" id="{E5904F7B-8F4C-2E7B-C88A-222C1E2AFB3C}"/>
              </a:ext>
            </a:extLst>
          </p:cNvPr>
          <p:cNvSpPr txBox="1">
            <a:spLocks noChangeArrowheads="1"/>
          </p:cNvSpPr>
          <p:nvPr/>
        </p:nvSpPr>
        <p:spPr bwMode="auto">
          <a:xfrm>
            <a:off x="1562346" y="1925044"/>
            <a:ext cx="3714776" cy="400110"/>
          </a:xfrm>
          <a:prstGeom prst="rect">
            <a:avLst/>
          </a:prstGeom>
          <a:solidFill>
            <a:srgbClr val="339933"/>
          </a:solidFill>
          <a:ln w="19050" algn="ctr">
            <a:noFill/>
            <a:miter lim="800000"/>
            <a:headEnd/>
            <a:tailEnd type="none" w="med" len="lg"/>
          </a:ln>
          <a:effectLst/>
        </p:spPr>
        <p:txBody>
          <a:bodyPr wrap="square">
            <a:spAutoFit/>
          </a:bodyPr>
          <a:lstStyle/>
          <a:p>
            <a:pPr>
              <a:spcBef>
                <a:spcPct val="50000"/>
              </a:spcBef>
            </a:pPr>
            <a:r>
              <a:rPr lang="en-US" altLang="zh-CN" sz="2000" dirty="0">
                <a:solidFill>
                  <a:schemeClr val="bg1"/>
                </a:solidFill>
                <a:latin typeface="Consolas" pitchFamily="49" charset="0"/>
                <a:ea typeface="华文中宋" pitchFamily="2" charset="-122"/>
                <a:cs typeface="Consolas" pitchFamily="49" charset="0"/>
              </a:rPr>
              <a:t>Prim</a:t>
            </a:r>
            <a:r>
              <a:rPr lang="zh-CN" altLang="en-US" sz="2000" dirty="0">
                <a:solidFill>
                  <a:schemeClr val="bg1"/>
                </a:solidFill>
                <a:latin typeface="Consolas" pitchFamily="49" charset="0"/>
                <a:ea typeface="华文中宋" pitchFamily="2" charset="-122"/>
                <a:cs typeface="Consolas" pitchFamily="49" charset="0"/>
              </a:rPr>
              <a:t>算法示例演示（起点</a:t>
            </a:r>
            <a:r>
              <a:rPr lang="en-US" altLang="zh-CN" sz="2000" dirty="0">
                <a:solidFill>
                  <a:schemeClr val="bg1"/>
                </a:solidFill>
                <a:latin typeface="Consolas" pitchFamily="49" charset="0"/>
                <a:ea typeface="华文中宋" pitchFamily="2" charset="-122"/>
                <a:cs typeface="Consolas" pitchFamily="49" charset="0"/>
              </a:rPr>
              <a:t>0</a:t>
            </a:r>
            <a:r>
              <a:rPr lang="zh-CN" altLang="en-US" sz="2000" dirty="0">
                <a:solidFill>
                  <a:schemeClr val="bg1"/>
                </a:solidFill>
                <a:latin typeface="Consolas" pitchFamily="49" charset="0"/>
                <a:ea typeface="华文中宋" pitchFamily="2" charset="-122"/>
                <a:cs typeface="Consolas" pitchFamily="49" charset="0"/>
              </a:rPr>
              <a:t>）</a:t>
            </a:r>
          </a:p>
        </p:txBody>
      </p:sp>
      <p:sp>
        <p:nvSpPr>
          <p:cNvPr id="6" name="Oval 5">
            <a:extLst>
              <a:ext uri="{FF2B5EF4-FFF2-40B4-BE49-F238E27FC236}">
                <a16:creationId xmlns:a16="http://schemas.microsoft.com/office/drawing/2014/main" id="{D144C0E0-03A7-E9ED-86E4-CD12E5ADFA6B}"/>
              </a:ext>
            </a:extLst>
          </p:cNvPr>
          <p:cNvSpPr>
            <a:spLocks noChangeArrowheads="1"/>
          </p:cNvSpPr>
          <p:nvPr/>
        </p:nvSpPr>
        <p:spPr bwMode="auto">
          <a:xfrm>
            <a:off x="3731994" y="2950843"/>
            <a:ext cx="360363"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2000">
                <a:solidFill>
                  <a:srgbClr val="0000FF"/>
                </a:solidFill>
                <a:latin typeface="Consolas" pitchFamily="49" charset="0"/>
                <a:cs typeface="Consolas" pitchFamily="49" charset="0"/>
              </a:rPr>
              <a:t>0</a:t>
            </a:r>
          </a:p>
        </p:txBody>
      </p:sp>
      <p:sp>
        <p:nvSpPr>
          <p:cNvPr id="7" name="Oval 6">
            <a:extLst>
              <a:ext uri="{FF2B5EF4-FFF2-40B4-BE49-F238E27FC236}">
                <a16:creationId xmlns:a16="http://schemas.microsoft.com/office/drawing/2014/main" id="{EB2571A2-A6C4-B695-9E81-B1FA8D82E2F6}"/>
              </a:ext>
            </a:extLst>
          </p:cNvPr>
          <p:cNvSpPr>
            <a:spLocks noChangeArrowheads="1"/>
          </p:cNvSpPr>
          <p:nvPr/>
        </p:nvSpPr>
        <p:spPr bwMode="auto">
          <a:xfrm>
            <a:off x="4813081" y="2950843"/>
            <a:ext cx="360363"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2000">
                <a:solidFill>
                  <a:srgbClr val="0000FF"/>
                </a:solidFill>
                <a:latin typeface="Consolas" pitchFamily="49" charset="0"/>
                <a:cs typeface="Consolas" pitchFamily="49" charset="0"/>
              </a:rPr>
              <a:t>1</a:t>
            </a:r>
          </a:p>
        </p:txBody>
      </p:sp>
      <p:sp>
        <p:nvSpPr>
          <p:cNvPr id="8" name="Oval 7">
            <a:extLst>
              <a:ext uri="{FF2B5EF4-FFF2-40B4-BE49-F238E27FC236}">
                <a16:creationId xmlns:a16="http://schemas.microsoft.com/office/drawing/2014/main" id="{D10ABD14-B3B1-0241-1CF1-15CBEECF36B4}"/>
              </a:ext>
            </a:extLst>
          </p:cNvPr>
          <p:cNvSpPr>
            <a:spLocks noChangeArrowheads="1"/>
          </p:cNvSpPr>
          <p:nvPr/>
        </p:nvSpPr>
        <p:spPr bwMode="auto">
          <a:xfrm>
            <a:off x="3155731" y="3816031"/>
            <a:ext cx="360363"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2000" dirty="0">
                <a:solidFill>
                  <a:srgbClr val="0000FF"/>
                </a:solidFill>
                <a:latin typeface="Consolas" pitchFamily="49" charset="0"/>
                <a:cs typeface="Consolas" pitchFamily="49" charset="0"/>
              </a:rPr>
              <a:t>5</a:t>
            </a:r>
          </a:p>
        </p:txBody>
      </p:sp>
      <p:sp>
        <p:nvSpPr>
          <p:cNvPr id="9" name="Oval 8">
            <a:extLst>
              <a:ext uri="{FF2B5EF4-FFF2-40B4-BE49-F238E27FC236}">
                <a16:creationId xmlns:a16="http://schemas.microsoft.com/office/drawing/2014/main" id="{6A97F1EB-6429-C86D-B4F0-95CDE74425D2}"/>
              </a:ext>
            </a:extLst>
          </p:cNvPr>
          <p:cNvSpPr>
            <a:spLocks noChangeArrowheads="1"/>
          </p:cNvSpPr>
          <p:nvPr/>
        </p:nvSpPr>
        <p:spPr bwMode="auto">
          <a:xfrm>
            <a:off x="3805019" y="4535168"/>
            <a:ext cx="360363"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2000">
                <a:solidFill>
                  <a:srgbClr val="0000FF"/>
                </a:solidFill>
                <a:latin typeface="Consolas" pitchFamily="49" charset="0"/>
                <a:cs typeface="Consolas" pitchFamily="49" charset="0"/>
              </a:rPr>
              <a:t>4</a:t>
            </a:r>
          </a:p>
        </p:txBody>
      </p:sp>
      <p:sp>
        <p:nvSpPr>
          <p:cNvPr id="10" name="Oval 9">
            <a:extLst>
              <a:ext uri="{FF2B5EF4-FFF2-40B4-BE49-F238E27FC236}">
                <a16:creationId xmlns:a16="http://schemas.microsoft.com/office/drawing/2014/main" id="{72D69A95-0E68-903B-E15C-6BFDBE7D115A}"/>
              </a:ext>
            </a:extLst>
          </p:cNvPr>
          <p:cNvSpPr>
            <a:spLocks noChangeArrowheads="1"/>
          </p:cNvSpPr>
          <p:nvPr/>
        </p:nvSpPr>
        <p:spPr bwMode="auto">
          <a:xfrm>
            <a:off x="4740056" y="4535168"/>
            <a:ext cx="360363"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2000">
                <a:solidFill>
                  <a:srgbClr val="0000FF"/>
                </a:solidFill>
                <a:latin typeface="Consolas" pitchFamily="49" charset="0"/>
                <a:cs typeface="Consolas" pitchFamily="49" charset="0"/>
              </a:rPr>
              <a:t>3</a:t>
            </a:r>
          </a:p>
        </p:txBody>
      </p:sp>
      <p:sp>
        <p:nvSpPr>
          <p:cNvPr id="11" name="Oval 10">
            <a:extLst>
              <a:ext uri="{FF2B5EF4-FFF2-40B4-BE49-F238E27FC236}">
                <a16:creationId xmlns:a16="http://schemas.microsoft.com/office/drawing/2014/main" id="{84CEC65F-31C3-CD2B-34B6-3B171AC80FA7}"/>
              </a:ext>
            </a:extLst>
          </p:cNvPr>
          <p:cNvSpPr>
            <a:spLocks noChangeArrowheads="1"/>
          </p:cNvSpPr>
          <p:nvPr/>
        </p:nvSpPr>
        <p:spPr bwMode="auto">
          <a:xfrm>
            <a:off x="4308256" y="3743006"/>
            <a:ext cx="360363"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2000">
                <a:solidFill>
                  <a:srgbClr val="0000FF"/>
                </a:solidFill>
                <a:latin typeface="Consolas" pitchFamily="49" charset="0"/>
                <a:cs typeface="Consolas" pitchFamily="49" charset="0"/>
              </a:rPr>
              <a:t>6</a:t>
            </a:r>
          </a:p>
        </p:txBody>
      </p:sp>
      <p:sp>
        <p:nvSpPr>
          <p:cNvPr id="13" name="Oval 11">
            <a:extLst>
              <a:ext uri="{FF2B5EF4-FFF2-40B4-BE49-F238E27FC236}">
                <a16:creationId xmlns:a16="http://schemas.microsoft.com/office/drawing/2014/main" id="{30CADAA3-F047-FDA9-D6E1-5C9D86C270EA}"/>
              </a:ext>
            </a:extLst>
          </p:cNvPr>
          <p:cNvSpPr>
            <a:spLocks noChangeArrowheads="1"/>
          </p:cNvSpPr>
          <p:nvPr/>
        </p:nvSpPr>
        <p:spPr bwMode="auto">
          <a:xfrm>
            <a:off x="5171856" y="3743006"/>
            <a:ext cx="360363"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2000">
                <a:solidFill>
                  <a:srgbClr val="0000FF"/>
                </a:solidFill>
                <a:latin typeface="Consolas" pitchFamily="49" charset="0"/>
                <a:cs typeface="Consolas" pitchFamily="49" charset="0"/>
              </a:rPr>
              <a:t>2</a:t>
            </a:r>
          </a:p>
        </p:txBody>
      </p:sp>
      <p:sp>
        <p:nvSpPr>
          <p:cNvPr id="14" name="Line 12">
            <a:extLst>
              <a:ext uri="{FF2B5EF4-FFF2-40B4-BE49-F238E27FC236}">
                <a16:creationId xmlns:a16="http://schemas.microsoft.com/office/drawing/2014/main" id="{3BECEE5E-A92C-39FA-4CF3-9C08DE106363}"/>
              </a:ext>
            </a:extLst>
          </p:cNvPr>
          <p:cNvSpPr>
            <a:spLocks noChangeShapeType="1"/>
          </p:cNvSpPr>
          <p:nvPr/>
        </p:nvSpPr>
        <p:spPr bwMode="auto">
          <a:xfrm>
            <a:off x="4092356" y="3166743"/>
            <a:ext cx="720725" cy="0"/>
          </a:xfrm>
          <a:prstGeom prst="line">
            <a:avLst/>
          </a:prstGeom>
          <a:noFill/>
          <a:ln w="19050">
            <a:solidFill>
              <a:srgbClr val="3333FF"/>
            </a:solidFill>
            <a:round/>
            <a:headEnd/>
            <a:tailEnd type="none" w="med" len="lg"/>
          </a:ln>
          <a:effectLst/>
        </p:spPr>
        <p:txBody>
          <a:bodyPr wrap="none"/>
          <a:lstStyle/>
          <a:p>
            <a:endParaRPr lang="zh-CN" altLang="en-US">
              <a:latin typeface="Consolas" pitchFamily="49" charset="0"/>
              <a:cs typeface="Consolas" pitchFamily="49" charset="0"/>
            </a:endParaRPr>
          </a:p>
        </p:txBody>
      </p:sp>
      <p:sp>
        <p:nvSpPr>
          <p:cNvPr id="15" name="Freeform 13">
            <a:extLst>
              <a:ext uri="{FF2B5EF4-FFF2-40B4-BE49-F238E27FC236}">
                <a16:creationId xmlns:a16="http://schemas.microsoft.com/office/drawing/2014/main" id="{ED4862B6-5794-245F-10ED-2D370369B7AB}"/>
              </a:ext>
            </a:extLst>
          </p:cNvPr>
          <p:cNvSpPr>
            <a:spLocks/>
          </p:cNvSpPr>
          <p:nvPr/>
        </p:nvSpPr>
        <p:spPr bwMode="auto">
          <a:xfrm>
            <a:off x="3373219" y="3287393"/>
            <a:ext cx="395288" cy="528638"/>
          </a:xfrm>
          <a:custGeom>
            <a:avLst/>
            <a:gdLst/>
            <a:ahLst/>
            <a:cxnLst>
              <a:cxn ang="0">
                <a:pos x="249" y="0"/>
              </a:cxn>
              <a:cxn ang="0">
                <a:pos x="0" y="333"/>
              </a:cxn>
            </a:cxnLst>
            <a:rect l="0" t="0" r="r" b="b"/>
            <a:pathLst>
              <a:path w="249" h="333">
                <a:moveTo>
                  <a:pt x="249" y="0"/>
                </a:moveTo>
                <a:lnTo>
                  <a:pt x="0" y="333"/>
                </a:lnTo>
              </a:path>
            </a:pathLst>
          </a:custGeom>
          <a:noFill/>
          <a:ln w="19050" cap="flat" cmpd="sng">
            <a:solidFill>
              <a:srgbClr val="3333FF"/>
            </a:solidFill>
            <a:prstDash val="solid"/>
            <a:round/>
            <a:headEnd type="none" w="med" len="med"/>
            <a:tailEnd type="none" w="med" len="lg"/>
          </a:ln>
          <a:effectLst/>
        </p:spPr>
        <p:txBody>
          <a:bodyPr wrap="none"/>
          <a:lstStyle/>
          <a:p>
            <a:endParaRPr lang="zh-CN" altLang="en-US">
              <a:latin typeface="Consolas" pitchFamily="49" charset="0"/>
              <a:cs typeface="Consolas" pitchFamily="49" charset="0"/>
            </a:endParaRPr>
          </a:p>
        </p:txBody>
      </p:sp>
      <p:sp>
        <p:nvSpPr>
          <p:cNvPr id="16" name="Freeform 14">
            <a:extLst>
              <a:ext uri="{FF2B5EF4-FFF2-40B4-BE49-F238E27FC236}">
                <a16:creationId xmlns:a16="http://schemas.microsoft.com/office/drawing/2014/main" id="{682E7B0F-0743-6DE3-C517-A3F1B2112A18}"/>
              </a:ext>
            </a:extLst>
          </p:cNvPr>
          <p:cNvSpPr>
            <a:spLocks/>
          </p:cNvSpPr>
          <p:nvPr/>
        </p:nvSpPr>
        <p:spPr bwMode="auto">
          <a:xfrm>
            <a:off x="3438306" y="4214493"/>
            <a:ext cx="392113" cy="419100"/>
          </a:xfrm>
          <a:custGeom>
            <a:avLst/>
            <a:gdLst/>
            <a:ahLst/>
            <a:cxnLst>
              <a:cxn ang="0">
                <a:pos x="0" y="0"/>
              </a:cxn>
              <a:cxn ang="0">
                <a:pos x="247" y="264"/>
              </a:cxn>
            </a:cxnLst>
            <a:rect l="0" t="0" r="r" b="b"/>
            <a:pathLst>
              <a:path w="247" h="264">
                <a:moveTo>
                  <a:pt x="0" y="0"/>
                </a:moveTo>
                <a:lnTo>
                  <a:pt x="247" y="264"/>
                </a:lnTo>
              </a:path>
            </a:pathLst>
          </a:custGeom>
          <a:noFill/>
          <a:ln w="19050" cap="flat" cmpd="sng">
            <a:solidFill>
              <a:srgbClr val="3333FF"/>
            </a:solidFill>
            <a:prstDash val="solid"/>
            <a:round/>
            <a:headEnd type="none" w="med" len="med"/>
            <a:tailEnd type="none" w="med" len="lg"/>
          </a:ln>
          <a:effectLst/>
        </p:spPr>
        <p:txBody>
          <a:bodyPr wrap="none"/>
          <a:lstStyle/>
          <a:p>
            <a:endParaRPr lang="zh-CN" altLang="en-US">
              <a:latin typeface="Consolas" pitchFamily="49" charset="0"/>
              <a:cs typeface="Consolas" pitchFamily="49" charset="0"/>
            </a:endParaRPr>
          </a:p>
        </p:txBody>
      </p:sp>
      <p:sp>
        <p:nvSpPr>
          <p:cNvPr id="17" name="Freeform 15">
            <a:extLst>
              <a:ext uri="{FF2B5EF4-FFF2-40B4-BE49-F238E27FC236}">
                <a16:creationId xmlns:a16="http://schemas.microsoft.com/office/drawing/2014/main" id="{7143CC99-0A1F-B533-449C-F6D3F3676044}"/>
              </a:ext>
            </a:extLst>
          </p:cNvPr>
          <p:cNvSpPr>
            <a:spLocks/>
          </p:cNvSpPr>
          <p:nvPr/>
        </p:nvSpPr>
        <p:spPr bwMode="auto">
          <a:xfrm>
            <a:off x="4163794" y="4785993"/>
            <a:ext cx="582613" cy="1588"/>
          </a:xfrm>
          <a:custGeom>
            <a:avLst/>
            <a:gdLst/>
            <a:ahLst/>
            <a:cxnLst>
              <a:cxn ang="0">
                <a:pos x="0" y="0"/>
              </a:cxn>
              <a:cxn ang="0">
                <a:pos x="367" y="0"/>
              </a:cxn>
            </a:cxnLst>
            <a:rect l="0" t="0" r="r" b="b"/>
            <a:pathLst>
              <a:path w="367" h="1">
                <a:moveTo>
                  <a:pt x="0" y="0"/>
                </a:moveTo>
                <a:lnTo>
                  <a:pt x="367" y="0"/>
                </a:lnTo>
              </a:path>
            </a:pathLst>
          </a:custGeom>
          <a:noFill/>
          <a:ln w="38100" cap="flat" cmpd="sng">
            <a:solidFill>
              <a:srgbClr val="00B0F0"/>
            </a:solidFill>
            <a:prstDash val="solid"/>
            <a:round/>
            <a:headEnd type="none" w="med" len="med"/>
            <a:tailEnd type="none" w="med" len="lg"/>
          </a:ln>
          <a:effectLst/>
        </p:spPr>
        <p:txBody>
          <a:bodyPr wrap="none"/>
          <a:lstStyle/>
          <a:p>
            <a:endParaRPr lang="zh-CN" altLang="en-US">
              <a:latin typeface="Consolas" pitchFamily="49" charset="0"/>
              <a:cs typeface="Consolas" pitchFamily="49" charset="0"/>
            </a:endParaRPr>
          </a:p>
        </p:txBody>
      </p:sp>
      <p:sp>
        <p:nvSpPr>
          <p:cNvPr id="18" name="Freeform 16">
            <a:extLst>
              <a:ext uri="{FF2B5EF4-FFF2-40B4-BE49-F238E27FC236}">
                <a16:creationId xmlns:a16="http://schemas.microsoft.com/office/drawing/2014/main" id="{36FBAAC6-29F7-8D38-8F5D-4A6AA8C1D1E0}"/>
              </a:ext>
            </a:extLst>
          </p:cNvPr>
          <p:cNvSpPr>
            <a:spLocks/>
          </p:cNvSpPr>
          <p:nvPr/>
        </p:nvSpPr>
        <p:spPr bwMode="auto">
          <a:xfrm>
            <a:off x="4020919" y="4112893"/>
            <a:ext cx="357188" cy="422275"/>
          </a:xfrm>
          <a:custGeom>
            <a:avLst/>
            <a:gdLst/>
            <a:ahLst/>
            <a:cxnLst>
              <a:cxn ang="0">
                <a:pos x="0" y="266"/>
              </a:cxn>
              <a:cxn ang="0">
                <a:pos x="225" y="0"/>
              </a:cxn>
            </a:cxnLst>
            <a:rect l="0" t="0" r="r" b="b"/>
            <a:pathLst>
              <a:path w="225" h="266">
                <a:moveTo>
                  <a:pt x="0" y="266"/>
                </a:moveTo>
                <a:lnTo>
                  <a:pt x="225" y="0"/>
                </a:lnTo>
              </a:path>
            </a:pathLst>
          </a:custGeom>
          <a:noFill/>
          <a:ln w="19050" cap="flat" cmpd="sng">
            <a:solidFill>
              <a:srgbClr val="3333FF"/>
            </a:solidFill>
            <a:prstDash val="solid"/>
            <a:round/>
            <a:headEnd type="none" w="med" len="med"/>
            <a:tailEnd type="none" w="med" len="lg"/>
          </a:ln>
          <a:effectLst/>
        </p:spPr>
        <p:txBody>
          <a:bodyPr wrap="none"/>
          <a:lstStyle/>
          <a:p>
            <a:endParaRPr lang="zh-CN" altLang="en-US">
              <a:latin typeface="Consolas" pitchFamily="49" charset="0"/>
              <a:cs typeface="Consolas" pitchFamily="49" charset="0"/>
            </a:endParaRPr>
          </a:p>
        </p:txBody>
      </p:sp>
      <p:sp>
        <p:nvSpPr>
          <p:cNvPr id="19" name="Line 17">
            <a:extLst>
              <a:ext uri="{FF2B5EF4-FFF2-40B4-BE49-F238E27FC236}">
                <a16:creationId xmlns:a16="http://schemas.microsoft.com/office/drawing/2014/main" id="{1409E6B5-424D-AFC3-B2A9-68B16FF1DB22}"/>
              </a:ext>
            </a:extLst>
          </p:cNvPr>
          <p:cNvSpPr>
            <a:spLocks noChangeShapeType="1"/>
          </p:cNvSpPr>
          <p:nvPr/>
        </p:nvSpPr>
        <p:spPr bwMode="auto">
          <a:xfrm>
            <a:off x="4576477" y="4135112"/>
            <a:ext cx="285752" cy="428628"/>
          </a:xfrm>
          <a:prstGeom prst="line">
            <a:avLst/>
          </a:prstGeom>
          <a:noFill/>
          <a:ln w="19050">
            <a:solidFill>
              <a:srgbClr val="3333FF"/>
            </a:solidFill>
            <a:round/>
            <a:headEnd/>
            <a:tailEnd type="none" w="med" len="lg"/>
          </a:ln>
          <a:effectLst/>
        </p:spPr>
        <p:txBody>
          <a:bodyPr wrap="none"/>
          <a:lstStyle/>
          <a:p>
            <a:endParaRPr lang="zh-CN" altLang="en-US">
              <a:latin typeface="Consolas" pitchFamily="49" charset="0"/>
              <a:cs typeface="Consolas" pitchFamily="49" charset="0"/>
            </a:endParaRPr>
          </a:p>
        </p:txBody>
      </p:sp>
      <p:sp>
        <p:nvSpPr>
          <p:cNvPr id="20" name="Line 18">
            <a:extLst>
              <a:ext uri="{FF2B5EF4-FFF2-40B4-BE49-F238E27FC236}">
                <a16:creationId xmlns:a16="http://schemas.microsoft.com/office/drawing/2014/main" id="{618CB4BE-7BBD-6753-A980-8B27E7E34B2C}"/>
              </a:ext>
            </a:extLst>
          </p:cNvPr>
          <p:cNvSpPr>
            <a:spLocks noChangeShapeType="1"/>
          </p:cNvSpPr>
          <p:nvPr/>
        </p:nvSpPr>
        <p:spPr bwMode="auto">
          <a:xfrm flipH="1">
            <a:off x="4584481" y="3336606"/>
            <a:ext cx="287338" cy="431800"/>
          </a:xfrm>
          <a:prstGeom prst="line">
            <a:avLst/>
          </a:prstGeom>
          <a:noFill/>
          <a:ln w="19050">
            <a:solidFill>
              <a:srgbClr val="3333FF"/>
            </a:solidFill>
            <a:round/>
            <a:headEnd/>
            <a:tailEnd type="none" w="med" len="lg"/>
          </a:ln>
          <a:effectLst/>
        </p:spPr>
        <p:txBody>
          <a:bodyPr wrap="none"/>
          <a:lstStyle/>
          <a:p>
            <a:endParaRPr lang="zh-CN" altLang="en-US">
              <a:latin typeface="Consolas" pitchFamily="49" charset="0"/>
              <a:cs typeface="Consolas" pitchFamily="49" charset="0"/>
            </a:endParaRPr>
          </a:p>
        </p:txBody>
      </p:sp>
      <p:sp>
        <p:nvSpPr>
          <p:cNvPr id="21" name="Line 19">
            <a:extLst>
              <a:ext uri="{FF2B5EF4-FFF2-40B4-BE49-F238E27FC236}">
                <a16:creationId xmlns:a16="http://schemas.microsoft.com/office/drawing/2014/main" id="{C9971552-F1D9-9C8F-4903-29482ABEC390}"/>
              </a:ext>
            </a:extLst>
          </p:cNvPr>
          <p:cNvSpPr>
            <a:spLocks noChangeShapeType="1"/>
          </p:cNvSpPr>
          <p:nvPr/>
        </p:nvSpPr>
        <p:spPr bwMode="auto">
          <a:xfrm>
            <a:off x="5122578" y="3349294"/>
            <a:ext cx="176400" cy="399600"/>
          </a:xfrm>
          <a:prstGeom prst="line">
            <a:avLst/>
          </a:prstGeom>
          <a:noFill/>
          <a:ln w="19050">
            <a:solidFill>
              <a:srgbClr val="3333FF"/>
            </a:solidFill>
            <a:round/>
            <a:headEnd/>
            <a:tailEnd type="none" w="med" len="lg"/>
          </a:ln>
          <a:effectLst/>
        </p:spPr>
        <p:txBody>
          <a:bodyPr wrap="none"/>
          <a:lstStyle/>
          <a:p>
            <a:endParaRPr lang="zh-CN" altLang="en-US">
              <a:latin typeface="Consolas" pitchFamily="49" charset="0"/>
              <a:cs typeface="Consolas" pitchFamily="49" charset="0"/>
            </a:endParaRPr>
          </a:p>
        </p:txBody>
      </p:sp>
      <p:sp>
        <p:nvSpPr>
          <p:cNvPr id="22" name="Line 20">
            <a:extLst>
              <a:ext uri="{FF2B5EF4-FFF2-40B4-BE49-F238E27FC236}">
                <a16:creationId xmlns:a16="http://schemas.microsoft.com/office/drawing/2014/main" id="{A430699A-2113-35A4-D82C-BF27BACC1AB4}"/>
              </a:ext>
            </a:extLst>
          </p:cNvPr>
          <p:cNvSpPr>
            <a:spLocks noChangeShapeType="1"/>
          </p:cNvSpPr>
          <p:nvPr/>
        </p:nvSpPr>
        <p:spPr bwMode="auto">
          <a:xfrm flipH="1">
            <a:off x="5041679" y="4168450"/>
            <a:ext cx="270000" cy="396000"/>
          </a:xfrm>
          <a:prstGeom prst="line">
            <a:avLst/>
          </a:prstGeom>
          <a:noFill/>
          <a:ln w="19050">
            <a:solidFill>
              <a:srgbClr val="3333FF"/>
            </a:solidFill>
            <a:round/>
            <a:headEnd/>
            <a:tailEnd type="none" w="med" len="lg"/>
          </a:ln>
          <a:effectLst/>
        </p:spPr>
        <p:txBody>
          <a:bodyPr wrap="none"/>
          <a:lstStyle/>
          <a:p>
            <a:endParaRPr lang="zh-CN" altLang="en-US">
              <a:latin typeface="Consolas" pitchFamily="49" charset="0"/>
              <a:cs typeface="Consolas" pitchFamily="49" charset="0"/>
            </a:endParaRPr>
          </a:p>
        </p:txBody>
      </p:sp>
      <p:sp>
        <p:nvSpPr>
          <p:cNvPr id="23" name="Text Box 21">
            <a:extLst>
              <a:ext uri="{FF2B5EF4-FFF2-40B4-BE49-F238E27FC236}">
                <a16:creationId xmlns:a16="http://schemas.microsoft.com/office/drawing/2014/main" id="{151215B9-9E06-A954-A07B-3ABFCE8DDCCB}"/>
              </a:ext>
            </a:extLst>
          </p:cNvPr>
          <p:cNvSpPr txBox="1">
            <a:spLocks noChangeArrowheads="1"/>
          </p:cNvSpPr>
          <p:nvPr/>
        </p:nvSpPr>
        <p:spPr bwMode="auto">
          <a:xfrm>
            <a:off x="4236819" y="2807968"/>
            <a:ext cx="503238" cy="338554"/>
          </a:xfrm>
          <a:prstGeom prst="rect">
            <a:avLst/>
          </a:prstGeom>
          <a:noFill/>
          <a:ln w="19050" algn="ctr">
            <a:noFill/>
            <a:miter lim="800000"/>
            <a:headEnd/>
            <a:tailEnd type="none" w="med" len="lg"/>
          </a:ln>
          <a:effectLst/>
        </p:spPr>
        <p:txBody>
          <a:bodyPr>
            <a:spAutoFit/>
          </a:bodyPr>
          <a:lstStyle/>
          <a:p>
            <a:pPr algn="l">
              <a:spcBef>
                <a:spcPct val="50000"/>
              </a:spcBef>
            </a:pPr>
            <a:r>
              <a:rPr lang="en-US" altLang="zh-CN" sz="1600">
                <a:latin typeface="Consolas" pitchFamily="49" charset="0"/>
                <a:cs typeface="Consolas" pitchFamily="49" charset="0"/>
              </a:rPr>
              <a:t>28</a:t>
            </a:r>
          </a:p>
        </p:txBody>
      </p:sp>
      <p:sp>
        <p:nvSpPr>
          <p:cNvPr id="24" name="Text Box 22">
            <a:extLst>
              <a:ext uri="{FF2B5EF4-FFF2-40B4-BE49-F238E27FC236}">
                <a16:creationId xmlns:a16="http://schemas.microsoft.com/office/drawing/2014/main" id="{4224A4B8-058E-3BF4-1F18-A8856D8F5407}"/>
              </a:ext>
            </a:extLst>
          </p:cNvPr>
          <p:cNvSpPr txBox="1">
            <a:spLocks noChangeArrowheads="1"/>
          </p:cNvSpPr>
          <p:nvPr/>
        </p:nvSpPr>
        <p:spPr bwMode="auto">
          <a:xfrm>
            <a:off x="3157319" y="3274693"/>
            <a:ext cx="503238" cy="338554"/>
          </a:xfrm>
          <a:prstGeom prst="rect">
            <a:avLst/>
          </a:prstGeom>
          <a:noFill/>
          <a:ln w="19050" algn="ctr">
            <a:noFill/>
            <a:miter lim="800000"/>
            <a:headEnd/>
            <a:tailEnd type="none" w="med" len="lg"/>
          </a:ln>
          <a:effectLst/>
        </p:spPr>
        <p:txBody>
          <a:bodyPr>
            <a:spAutoFit/>
          </a:bodyPr>
          <a:lstStyle/>
          <a:p>
            <a:pPr algn="l">
              <a:spcBef>
                <a:spcPct val="50000"/>
              </a:spcBef>
            </a:pPr>
            <a:r>
              <a:rPr lang="en-US" altLang="zh-CN" sz="1600" dirty="0">
                <a:latin typeface="Consolas" pitchFamily="49" charset="0"/>
                <a:cs typeface="Consolas" pitchFamily="49" charset="0"/>
              </a:rPr>
              <a:t>10</a:t>
            </a:r>
          </a:p>
        </p:txBody>
      </p:sp>
      <p:sp>
        <p:nvSpPr>
          <p:cNvPr id="25" name="Text Box 23">
            <a:extLst>
              <a:ext uri="{FF2B5EF4-FFF2-40B4-BE49-F238E27FC236}">
                <a16:creationId xmlns:a16="http://schemas.microsoft.com/office/drawing/2014/main" id="{191D0DEA-B32A-B720-EE00-504C03155FC3}"/>
              </a:ext>
            </a:extLst>
          </p:cNvPr>
          <p:cNvSpPr txBox="1">
            <a:spLocks noChangeArrowheads="1"/>
          </p:cNvSpPr>
          <p:nvPr/>
        </p:nvSpPr>
        <p:spPr bwMode="auto">
          <a:xfrm>
            <a:off x="5173444" y="3239768"/>
            <a:ext cx="503238" cy="338554"/>
          </a:xfrm>
          <a:prstGeom prst="rect">
            <a:avLst/>
          </a:prstGeom>
          <a:noFill/>
          <a:ln w="19050" algn="ctr">
            <a:noFill/>
            <a:miter lim="800000"/>
            <a:headEnd/>
            <a:tailEnd type="none" w="med" len="lg"/>
          </a:ln>
          <a:effectLst/>
        </p:spPr>
        <p:txBody>
          <a:bodyPr>
            <a:spAutoFit/>
          </a:bodyPr>
          <a:lstStyle/>
          <a:p>
            <a:pPr algn="l">
              <a:spcBef>
                <a:spcPct val="50000"/>
              </a:spcBef>
            </a:pPr>
            <a:r>
              <a:rPr lang="en-US" altLang="zh-CN" sz="1600">
                <a:latin typeface="Consolas" pitchFamily="49" charset="0"/>
                <a:cs typeface="Consolas" pitchFamily="49" charset="0"/>
              </a:rPr>
              <a:t>16</a:t>
            </a:r>
          </a:p>
        </p:txBody>
      </p:sp>
      <p:sp>
        <p:nvSpPr>
          <p:cNvPr id="26" name="Text Box 24">
            <a:extLst>
              <a:ext uri="{FF2B5EF4-FFF2-40B4-BE49-F238E27FC236}">
                <a16:creationId xmlns:a16="http://schemas.microsoft.com/office/drawing/2014/main" id="{834DB674-E6FD-2B87-E137-E850F47ADDA0}"/>
              </a:ext>
            </a:extLst>
          </p:cNvPr>
          <p:cNvSpPr txBox="1">
            <a:spLocks noChangeArrowheads="1"/>
          </p:cNvSpPr>
          <p:nvPr/>
        </p:nvSpPr>
        <p:spPr bwMode="auto">
          <a:xfrm>
            <a:off x="4308256" y="3346131"/>
            <a:ext cx="503238" cy="338554"/>
          </a:xfrm>
          <a:prstGeom prst="rect">
            <a:avLst/>
          </a:prstGeom>
          <a:noFill/>
          <a:ln w="19050" algn="ctr">
            <a:noFill/>
            <a:miter lim="800000"/>
            <a:headEnd/>
            <a:tailEnd type="none" w="med" len="lg"/>
          </a:ln>
          <a:effectLst/>
        </p:spPr>
        <p:txBody>
          <a:bodyPr>
            <a:spAutoFit/>
          </a:bodyPr>
          <a:lstStyle/>
          <a:p>
            <a:pPr algn="l">
              <a:spcBef>
                <a:spcPct val="50000"/>
              </a:spcBef>
            </a:pPr>
            <a:r>
              <a:rPr lang="en-US" altLang="zh-CN" sz="1600">
                <a:latin typeface="Consolas" pitchFamily="49" charset="0"/>
                <a:cs typeface="Consolas" pitchFamily="49" charset="0"/>
              </a:rPr>
              <a:t>14</a:t>
            </a:r>
          </a:p>
        </p:txBody>
      </p:sp>
      <p:sp>
        <p:nvSpPr>
          <p:cNvPr id="27" name="Text Box 25">
            <a:extLst>
              <a:ext uri="{FF2B5EF4-FFF2-40B4-BE49-F238E27FC236}">
                <a16:creationId xmlns:a16="http://schemas.microsoft.com/office/drawing/2014/main" id="{109B5146-A5A4-1B50-35EC-51F31D23D195}"/>
              </a:ext>
            </a:extLst>
          </p:cNvPr>
          <p:cNvSpPr txBox="1">
            <a:spLocks noChangeArrowheads="1"/>
          </p:cNvSpPr>
          <p:nvPr/>
        </p:nvSpPr>
        <p:spPr bwMode="auto">
          <a:xfrm>
            <a:off x="3230344" y="4282756"/>
            <a:ext cx="503238" cy="338554"/>
          </a:xfrm>
          <a:prstGeom prst="rect">
            <a:avLst/>
          </a:prstGeom>
          <a:noFill/>
          <a:ln w="19050" algn="ctr">
            <a:noFill/>
            <a:miter lim="800000"/>
            <a:headEnd/>
            <a:tailEnd type="none" w="med" len="lg"/>
          </a:ln>
          <a:effectLst/>
        </p:spPr>
        <p:txBody>
          <a:bodyPr>
            <a:spAutoFit/>
          </a:bodyPr>
          <a:lstStyle/>
          <a:p>
            <a:pPr algn="l">
              <a:spcBef>
                <a:spcPct val="50000"/>
              </a:spcBef>
            </a:pPr>
            <a:r>
              <a:rPr lang="en-US" altLang="zh-CN" sz="1600">
                <a:latin typeface="Consolas" pitchFamily="49" charset="0"/>
                <a:cs typeface="Consolas" pitchFamily="49" charset="0"/>
              </a:rPr>
              <a:t>25</a:t>
            </a:r>
          </a:p>
        </p:txBody>
      </p:sp>
      <p:sp>
        <p:nvSpPr>
          <p:cNvPr id="28" name="Text Box 26">
            <a:extLst>
              <a:ext uri="{FF2B5EF4-FFF2-40B4-BE49-F238E27FC236}">
                <a16:creationId xmlns:a16="http://schemas.microsoft.com/office/drawing/2014/main" id="{BB046A05-B634-E7C5-C6EA-737F92A1846C}"/>
              </a:ext>
            </a:extLst>
          </p:cNvPr>
          <p:cNvSpPr txBox="1">
            <a:spLocks noChangeArrowheads="1"/>
          </p:cNvSpPr>
          <p:nvPr/>
        </p:nvSpPr>
        <p:spPr bwMode="auto">
          <a:xfrm>
            <a:off x="3805019" y="4066856"/>
            <a:ext cx="503238" cy="338554"/>
          </a:xfrm>
          <a:prstGeom prst="rect">
            <a:avLst/>
          </a:prstGeom>
          <a:noFill/>
          <a:ln w="19050" algn="ctr">
            <a:noFill/>
            <a:miter lim="800000"/>
            <a:headEnd/>
            <a:tailEnd type="none" w="med" len="lg"/>
          </a:ln>
          <a:effectLst/>
        </p:spPr>
        <p:txBody>
          <a:bodyPr>
            <a:spAutoFit/>
          </a:bodyPr>
          <a:lstStyle/>
          <a:p>
            <a:pPr algn="l">
              <a:spcBef>
                <a:spcPct val="50000"/>
              </a:spcBef>
            </a:pPr>
            <a:r>
              <a:rPr lang="en-US" altLang="zh-CN" sz="1600">
                <a:latin typeface="Consolas" pitchFamily="49" charset="0"/>
                <a:cs typeface="Consolas" pitchFamily="49" charset="0"/>
              </a:rPr>
              <a:t>24</a:t>
            </a:r>
          </a:p>
        </p:txBody>
      </p:sp>
      <p:sp>
        <p:nvSpPr>
          <p:cNvPr id="29" name="Text Box 27">
            <a:extLst>
              <a:ext uri="{FF2B5EF4-FFF2-40B4-BE49-F238E27FC236}">
                <a16:creationId xmlns:a16="http://schemas.microsoft.com/office/drawing/2014/main" id="{A0105D87-7A51-53D6-E783-D68496B9BCEA}"/>
              </a:ext>
            </a:extLst>
          </p:cNvPr>
          <p:cNvSpPr txBox="1">
            <a:spLocks noChangeArrowheads="1"/>
          </p:cNvSpPr>
          <p:nvPr/>
        </p:nvSpPr>
        <p:spPr bwMode="auto">
          <a:xfrm>
            <a:off x="4668619" y="3993831"/>
            <a:ext cx="503238" cy="338554"/>
          </a:xfrm>
          <a:prstGeom prst="rect">
            <a:avLst/>
          </a:prstGeom>
          <a:noFill/>
          <a:ln w="19050" algn="ctr">
            <a:noFill/>
            <a:miter lim="800000"/>
            <a:headEnd/>
            <a:tailEnd type="none" w="med" len="lg"/>
          </a:ln>
          <a:effectLst/>
        </p:spPr>
        <p:txBody>
          <a:bodyPr>
            <a:spAutoFit/>
          </a:bodyPr>
          <a:lstStyle/>
          <a:p>
            <a:pPr algn="l">
              <a:spcBef>
                <a:spcPct val="50000"/>
              </a:spcBef>
            </a:pPr>
            <a:r>
              <a:rPr lang="en-US" altLang="zh-CN" sz="1600">
                <a:latin typeface="Consolas" pitchFamily="49" charset="0"/>
                <a:cs typeface="Consolas" pitchFamily="49" charset="0"/>
              </a:rPr>
              <a:t>18</a:t>
            </a:r>
          </a:p>
        </p:txBody>
      </p:sp>
      <p:sp>
        <p:nvSpPr>
          <p:cNvPr id="30" name="Text Box 28">
            <a:extLst>
              <a:ext uri="{FF2B5EF4-FFF2-40B4-BE49-F238E27FC236}">
                <a16:creationId xmlns:a16="http://schemas.microsoft.com/office/drawing/2014/main" id="{2613BE65-D5AA-A0E5-75E9-E70588566029}"/>
              </a:ext>
            </a:extLst>
          </p:cNvPr>
          <p:cNvSpPr txBox="1">
            <a:spLocks noChangeArrowheads="1"/>
          </p:cNvSpPr>
          <p:nvPr/>
        </p:nvSpPr>
        <p:spPr bwMode="auto">
          <a:xfrm>
            <a:off x="4236819" y="4804628"/>
            <a:ext cx="503238" cy="338554"/>
          </a:xfrm>
          <a:prstGeom prst="rect">
            <a:avLst/>
          </a:prstGeom>
          <a:noFill/>
          <a:ln w="19050" algn="ctr">
            <a:noFill/>
            <a:miter lim="800000"/>
            <a:headEnd/>
            <a:tailEnd type="none" w="med" len="lg"/>
          </a:ln>
          <a:effectLst/>
        </p:spPr>
        <p:txBody>
          <a:bodyPr>
            <a:spAutoFit/>
          </a:bodyPr>
          <a:lstStyle/>
          <a:p>
            <a:pPr algn="l">
              <a:spcBef>
                <a:spcPct val="50000"/>
              </a:spcBef>
            </a:pPr>
            <a:r>
              <a:rPr lang="en-US" altLang="zh-CN" sz="1600" dirty="0">
                <a:latin typeface="Consolas" pitchFamily="49" charset="0"/>
                <a:cs typeface="Consolas" pitchFamily="49" charset="0"/>
              </a:rPr>
              <a:t>22</a:t>
            </a:r>
          </a:p>
        </p:txBody>
      </p:sp>
      <p:sp>
        <p:nvSpPr>
          <p:cNvPr id="31" name="Text Box 29">
            <a:extLst>
              <a:ext uri="{FF2B5EF4-FFF2-40B4-BE49-F238E27FC236}">
                <a16:creationId xmlns:a16="http://schemas.microsoft.com/office/drawing/2014/main" id="{5E031C6E-152B-BA9B-A47F-2041ECE13D09}"/>
              </a:ext>
            </a:extLst>
          </p:cNvPr>
          <p:cNvSpPr txBox="1">
            <a:spLocks noChangeArrowheads="1"/>
          </p:cNvSpPr>
          <p:nvPr/>
        </p:nvSpPr>
        <p:spPr bwMode="auto">
          <a:xfrm>
            <a:off x="5102006" y="4282756"/>
            <a:ext cx="503238" cy="338554"/>
          </a:xfrm>
          <a:prstGeom prst="rect">
            <a:avLst/>
          </a:prstGeom>
          <a:noFill/>
          <a:ln w="19050" algn="ctr">
            <a:noFill/>
            <a:miter lim="800000"/>
            <a:headEnd/>
            <a:tailEnd type="none" w="med" len="lg"/>
          </a:ln>
          <a:effectLst/>
        </p:spPr>
        <p:txBody>
          <a:bodyPr>
            <a:spAutoFit/>
          </a:bodyPr>
          <a:lstStyle/>
          <a:p>
            <a:pPr algn="l">
              <a:spcBef>
                <a:spcPct val="50000"/>
              </a:spcBef>
            </a:pPr>
            <a:r>
              <a:rPr lang="en-US" altLang="zh-CN" sz="1600">
                <a:latin typeface="Consolas" pitchFamily="49" charset="0"/>
                <a:cs typeface="Consolas" pitchFamily="49" charset="0"/>
              </a:rPr>
              <a:t>12</a:t>
            </a:r>
          </a:p>
        </p:txBody>
      </p:sp>
      <p:sp>
        <p:nvSpPr>
          <p:cNvPr id="32" name="Text Box 30">
            <a:extLst>
              <a:ext uri="{FF2B5EF4-FFF2-40B4-BE49-F238E27FC236}">
                <a16:creationId xmlns:a16="http://schemas.microsoft.com/office/drawing/2014/main" id="{0DD5ECBF-6DD0-D7FC-DCD8-CE72B025CAE5}"/>
              </a:ext>
            </a:extLst>
          </p:cNvPr>
          <p:cNvSpPr txBox="1">
            <a:spLocks noChangeArrowheads="1"/>
          </p:cNvSpPr>
          <p:nvPr/>
        </p:nvSpPr>
        <p:spPr bwMode="auto">
          <a:xfrm>
            <a:off x="4020919" y="5398768"/>
            <a:ext cx="935038" cy="400110"/>
          </a:xfrm>
          <a:prstGeom prst="rect">
            <a:avLst/>
          </a:prstGeom>
          <a:noFill/>
          <a:ln w="19050" algn="ctr">
            <a:noFill/>
            <a:miter lim="800000"/>
            <a:headEnd/>
            <a:tailEnd type="none" w="med" len="lg"/>
          </a:ln>
          <a:effectLst/>
        </p:spPr>
        <p:txBody>
          <a:bodyPr>
            <a:spAutoFit/>
          </a:bodyPr>
          <a:lstStyle/>
          <a:p>
            <a:pPr algn="l">
              <a:spcBef>
                <a:spcPct val="50000"/>
              </a:spcBef>
            </a:pPr>
            <a:r>
              <a:rPr lang="zh-CN" altLang="en-US" sz="2000" dirty="0">
                <a:latin typeface="Consolas" pitchFamily="49" charset="0"/>
                <a:ea typeface="楷体" pitchFamily="49" charset="-122"/>
                <a:cs typeface="Consolas" pitchFamily="49" charset="0"/>
              </a:rPr>
              <a:t>图</a:t>
            </a:r>
            <a:r>
              <a:rPr lang="en-US" altLang="zh-CN" sz="2000" dirty="0">
                <a:latin typeface="Consolas" pitchFamily="49" charset="0"/>
                <a:ea typeface="楷体" pitchFamily="49" charset="-122"/>
                <a:cs typeface="Consolas" pitchFamily="49" charset="0"/>
              </a:rPr>
              <a:t>G</a:t>
            </a:r>
          </a:p>
        </p:txBody>
      </p:sp>
      <p:grpSp>
        <p:nvGrpSpPr>
          <p:cNvPr id="34" name="组合 86">
            <a:extLst>
              <a:ext uri="{FF2B5EF4-FFF2-40B4-BE49-F238E27FC236}">
                <a16:creationId xmlns:a16="http://schemas.microsoft.com/office/drawing/2014/main" id="{D87FDBCC-B9DF-C06C-6F05-0BB7D1883F67}"/>
              </a:ext>
            </a:extLst>
          </p:cNvPr>
          <p:cNvGrpSpPr/>
          <p:nvPr/>
        </p:nvGrpSpPr>
        <p:grpSpPr>
          <a:xfrm>
            <a:off x="7172120" y="2849228"/>
            <a:ext cx="2376488" cy="2016125"/>
            <a:chOff x="5167380" y="1285860"/>
            <a:chExt cx="2376488" cy="2016125"/>
          </a:xfrm>
        </p:grpSpPr>
        <p:sp>
          <p:nvSpPr>
            <p:cNvPr id="35" name="Oval 31">
              <a:extLst>
                <a:ext uri="{FF2B5EF4-FFF2-40B4-BE49-F238E27FC236}">
                  <a16:creationId xmlns:a16="http://schemas.microsoft.com/office/drawing/2014/main" id="{BA237AAE-7AAF-A029-488F-0AF1B01B5A89}"/>
                </a:ext>
              </a:extLst>
            </p:cNvPr>
            <p:cNvSpPr>
              <a:spLocks noChangeArrowheads="1"/>
            </p:cNvSpPr>
            <p:nvPr/>
          </p:nvSpPr>
          <p:spPr bwMode="auto">
            <a:xfrm>
              <a:off x="5743643" y="1285860"/>
              <a:ext cx="360363" cy="431800"/>
            </a:xfrm>
            <a:prstGeom prst="ellipse">
              <a:avLst/>
            </a:prstGeom>
            <a:solidFill>
              <a:schemeClr val="tx2">
                <a:lumMod val="60000"/>
                <a:lumOff val="40000"/>
              </a:schemeClr>
            </a:solidFill>
            <a:ln w="19050" algn="ctr">
              <a:solidFill>
                <a:srgbClr val="3333FF"/>
              </a:solidFill>
              <a:round/>
              <a:headEnd/>
              <a:tailEnd type="none" w="med" len="lg"/>
            </a:ln>
            <a:effectLst/>
          </p:spPr>
          <p:txBody>
            <a:bodyPr wrap="none" anchor="ctr"/>
            <a:lstStyle/>
            <a:p>
              <a:r>
                <a:rPr lang="en-US" altLang="zh-CN" sz="2000" dirty="0">
                  <a:latin typeface="Consolas" pitchFamily="49" charset="0"/>
                  <a:cs typeface="Consolas" pitchFamily="49" charset="0"/>
                </a:rPr>
                <a:t>0</a:t>
              </a:r>
            </a:p>
          </p:txBody>
        </p:sp>
        <p:sp>
          <p:nvSpPr>
            <p:cNvPr id="36" name="Oval 32">
              <a:extLst>
                <a:ext uri="{FF2B5EF4-FFF2-40B4-BE49-F238E27FC236}">
                  <a16:creationId xmlns:a16="http://schemas.microsoft.com/office/drawing/2014/main" id="{FCDD05A4-1573-F728-F0DF-ED9A883FF738}"/>
                </a:ext>
              </a:extLst>
            </p:cNvPr>
            <p:cNvSpPr>
              <a:spLocks noChangeArrowheads="1"/>
            </p:cNvSpPr>
            <p:nvPr/>
          </p:nvSpPr>
          <p:spPr bwMode="auto">
            <a:xfrm>
              <a:off x="6824730" y="1285860"/>
              <a:ext cx="360363"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2000">
                  <a:solidFill>
                    <a:srgbClr val="0000FF"/>
                  </a:solidFill>
                  <a:latin typeface="Consolas" pitchFamily="49" charset="0"/>
                  <a:cs typeface="Consolas" pitchFamily="49" charset="0"/>
                </a:rPr>
                <a:t>1</a:t>
              </a:r>
            </a:p>
          </p:txBody>
        </p:sp>
        <p:sp>
          <p:nvSpPr>
            <p:cNvPr id="37" name="Oval 33">
              <a:extLst>
                <a:ext uri="{FF2B5EF4-FFF2-40B4-BE49-F238E27FC236}">
                  <a16:creationId xmlns:a16="http://schemas.microsoft.com/office/drawing/2014/main" id="{B1D7D691-65FF-1C2B-54FE-CAA344913F3F}"/>
                </a:ext>
              </a:extLst>
            </p:cNvPr>
            <p:cNvSpPr>
              <a:spLocks noChangeArrowheads="1"/>
            </p:cNvSpPr>
            <p:nvPr/>
          </p:nvSpPr>
          <p:spPr bwMode="auto">
            <a:xfrm>
              <a:off x="5167380" y="2151048"/>
              <a:ext cx="360363" cy="431800"/>
            </a:xfrm>
            <a:prstGeom prst="ellipse">
              <a:avLst/>
            </a:prstGeom>
            <a:solidFill>
              <a:schemeClr val="accent1"/>
            </a:solidFill>
            <a:ln w="19050" algn="ctr">
              <a:solidFill>
                <a:srgbClr val="3333FF"/>
              </a:solidFill>
              <a:round/>
              <a:headEnd/>
              <a:tailEnd type="none" w="med" len="lg"/>
            </a:ln>
            <a:effectLst/>
          </p:spPr>
          <p:txBody>
            <a:bodyPr wrap="none" anchor="ctr"/>
            <a:lstStyle/>
            <a:p>
              <a:r>
                <a:rPr lang="en-US" altLang="zh-CN" sz="2000" dirty="0">
                  <a:latin typeface="Consolas" pitchFamily="49" charset="0"/>
                  <a:cs typeface="Consolas" pitchFamily="49" charset="0"/>
                </a:rPr>
                <a:t>5</a:t>
              </a:r>
            </a:p>
          </p:txBody>
        </p:sp>
        <p:sp>
          <p:nvSpPr>
            <p:cNvPr id="38" name="Oval 34">
              <a:extLst>
                <a:ext uri="{FF2B5EF4-FFF2-40B4-BE49-F238E27FC236}">
                  <a16:creationId xmlns:a16="http://schemas.microsoft.com/office/drawing/2014/main" id="{342E634E-02CB-CC21-410F-60EB8605E235}"/>
                </a:ext>
              </a:extLst>
            </p:cNvPr>
            <p:cNvSpPr>
              <a:spLocks noChangeArrowheads="1"/>
            </p:cNvSpPr>
            <p:nvPr/>
          </p:nvSpPr>
          <p:spPr bwMode="auto">
            <a:xfrm>
              <a:off x="5816668" y="2870185"/>
              <a:ext cx="360363" cy="431800"/>
            </a:xfrm>
            <a:prstGeom prst="ellipse">
              <a:avLst/>
            </a:prstGeom>
            <a:solidFill>
              <a:schemeClr val="accent1"/>
            </a:solidFill>
            <a:ln w="19050" algn="ctr">
              <a:solidFill>
                <a:srgbClr val="3333FF"/>
              </a:solidFill>
              <a:round/>
              <a:headEnd/>
              <a:tailEnd type="none" w="med" len="lg"/>
            </a:ln>
            <a:effectLst/>
          </p:spPr>
          <p:txBody>
            <a:bodyPr wrap="none" anchor="ctr"/>
            <a:lstStyle/>
            <a:p>
              <a:r>
                <a:rPr lang="en-US" altLang="zh-CN" sz="2000" dirty="0">
                  <a:latin typeface="Consolas" pitchFamily="49" charset="0"/>
                  <a:cs typeface="Consolas" pitchFamily="49" charset="0"/>
                </a:rPr>
                <a:t>4</a:t>
              </a:r>
            </a:p>
          </p:txBody>
        </p:sp>
        <p:sp>
          <p:nvSpPr>
            <p:cNvPr id="39" name="Oval 35">
              <a:extLst>
                <a:ext uri="{FF2B5EF4-FFF2-40B4-BE49-F238E27FC236}">
                  <a16:creationId xmlns:a16="http://schemas.microsoft.com/office/drawing/2014/main" id="{1BC829DC-8CB5-4B5A-DE96-7FE44DFEBA1B}"/>
                </a:ext>
              </a:extLst>
            </p:cNvPr>
            <p:cNvSpPr>
              <a:spLocks noChangeArrowheads="1"/>
            </p:cNvSpPr>
            <p:nvPr/>
          </p:nvSpPr>
          <p:spPr bwMode="auto">
            <a:xfrm>
              <a:off x="6751705" y="2870185"/>
              <a:ext cx="360363"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2000">
                  <a:solidFill>
                    <a:srgbClr val="0000FF"/>
                  </a:solidFill>
                  <a:latin typeface="Consolas" pitchFamily="49" charset="0"/>
                  <a:cs typeface="Consolas" pitchFamily="49" charset="0"/>
                </a:rPr>
                <a:t>3</a:t>
              </a:r>
            </a:p>
          </p:txBody>
        </p:sp>
        <p:sp>
          <p:nvSpPr>
            <p:cNvPr id="40" name="Oval 36">
              <a:extLst>
                <a:ext uri="{FF2B5EF4-FFF2-40B4-BE49-F238E27FC236}">
                  <a16:creationId xmlns:a16="http://schemas.microsoft.com/office/drawing/2014/main" id="{DC2D0E22-824B-B900-9686-AEC0E216784A}"/>
                </a:ext>
              </a:extLst>
            </p:cNvPr>
            <p:cNvSpPr>
              <a:spLocks noChangeArrowheads="1"/>
            </p:cNvSpPr>
            <p:nvPr/>
          </p:nvSpPr>
          <p:spPr bwMode="auto">
            <a:xfrm>
              <a:off x="6319905" y="2078023"/>
              <a:ext cx="360363"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2000">
                  <a:solidFill>
                    <a:srgbClr val="0000FF"/>
                  </a:solidFill>
                  <a:latin typeface="Consolas" pitchFamily="49" charset="0"/>
                  <a:cs typeface="Consolas" pitchFamily="49" charset="0"/>
                </a:rPr>
                <a:t>6</a:t>
              </a:r>
            </a:p>
          </p:txBody>
        </p:sp>
        <p:sp>
          <p:nvSpPr>
            <p:cNvPr id="41" name="Oval 37">
              <a:extLst>
                <a:ext uri="{FF2B5EF4-FFF2-40B4-BE49-F238E27FC236}">
                  <a16:creationId xmlns:a16="http://schemas.microsoft.com/office/drawing/2014/main" id="{E6E8AC31-22DD-3912-B113-5EE1D8F458D3}"/>
                </a:ext>
              </a:extLst>
            </p:cNvPr>
            <p:cNvSpPr>
              <a:spLocks noChangeArrowheads="1"/>
            </p:cNvSpPr>
            <p:nvPr/>
          </p:nvSpPr>
          <p:spPr bwMode="auto">
            <a:xfrm>
              <a:off x="7183505" y="2078023"/>
              <a:ext cx="360363"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2000">
                  <a:solidFill>
                    <a:srgbClr val="0000FF"/>
                  </a:solidFill>
                  <a:latin typeface="Consolas" pitchFamily="49" charset="0"/>
                  <a:cs typeface="Consolas" pitchFamily="49" charset="0"/>
                </a:rPr>
                <a:t>2</a:t>
              </a:r>
            </a:p>
          </p:txBody>
        </p:sp>
      </p:grpSp>
      <p:sp>
        <p:nvSpPr>
          <p:cNvPr id="43" name="Freeform 13">
            <a:extLst>
              <a:ext uri="{FF2B5EF4-FFF2-40B4-BE49-F238E27FC236}">
                <a16:creationId xmlns:a16="http://schemas.microsoft.com/office/drawing/2014/main" id="{8700E344-AF90-155D-23DC-5DBCDCFB4E22}"/>
              </a:ext>
            </a:extLst>
          </p:cNvPr>
          <p:cNvSpPr>
            <a:spLocks/>
          </p:cNvSpPr>
          <p:nvPr/>
        </p:nvSpPr>
        <p:spPr bwMode="auto">
          <a:xfrm>
            <a:off x="7408596" y="3206418"/>
            <a:ext cx="395288" cy="528638"/>
          </a:xfrm>
          <a:custGeom>
            <a:avLst/>
            <a:gdLst/>
            <a:ahLst/>
            <a:cxnLst>
              <a:cxn ang="0">
                <a:pos x="249" y="0"/>
              </a:cxn>
              <a:cxn ang="0">
                <a:pos x="0" y="333"/>
              </a:cxn>
            </a:cxnLst>
            <a:rect l="0" t="0" r="r" b="b"/>
            <a:pathLst>
              <a:path w="249" h="333">
                <a:moveTo>
                  <a:pt x="249" y="0"/>
                </a:moveTo>
                <a:lnTo>
                  <a:pt x="0" y="333"/>
                </a:lnTo>
              </a:path>
            </a:pathLst>
          </a:custGeom>
          <a:noFill/>
          <a:ln w="19050" cap="flat" cmpd="sng">
            <a:solidFill>
              <a:srgbClr val="3333FF"/>
            </a:solidFill>
            <a:prstDash val="solid"/>
            <a:round/>
            <a:headEnd type="none" w="med" len="med"/>
            <a:tailEnd type="none" w="med" len="lg"/>
          </a:ln>
          <a:effectLst/>
        </p:spPr>
        <p:txBody>
          <a:bodyPr wrap="none"/>
          <a:lstStyle/>
          <a:p>
            <a:endParaRPr lang="zh-CN" altLang="en-US">
              <a:latin typeface="Consolas" pitchFamily="49" charset="0"/>
              <a:cs typeface="Consolas" pitchFamily="49" charset="0"/>
            </a:endParaRPr>
          </a:p>
        </p:txBody>
      </p:sp>
      <p:sp>
        <p:nvSpPr>
          <p:cNvPr id="44" name="Text Box 65">
            <a:extLst>
              <a:ext uri="{FF2B5EF4-FFF2-40B4-BE49-F238E27FC236}">
                <a16:creationId xmlns:a16="http://schemas.microsoft.com/office/drawing/2014/main" id="{0B08E99D-9D06-50CC-33F6-7955BEB302CC}"/>
              </a:ext>
            </a:extLst>
          </p:cNvPr>
          <p:cNvSpPr txBox="1">
            <a:spLocks noChangeArrowheads="1"/>
          </p:cNvSpPr>
          <p:nvPr/>
        </p:nvSpPr>
        <p:spPr bwMode="auto">
          <a:xfrm>
            <a:off x="6862492" y="5420996"/>
            <a:ext cx="2928958" cy="307777"/>
          </a:xfrm>
          <a:prstGeom prst="rect">
            <a:avLst/>
          </a:prstGeom>
          <a:noFill/>
          <a:ln w="19050" algn="ctr">
            <a:noFill/>
            <a:miter lim="800000"/>
            <a:headEnd/>
            <a:tailEnd type="none" w="med" len="lg"/>
          </a:ln>
          <a:effectLst/>
        </p:spPr>
        <p:txBody>
          <a:bodyPr wrap="square" lIns="0" tIns="0" rIns="0" bIns="0">
            <a:spAutoFit/>
          </a:bodyPr>
          <a:lstStyle/>
          <a:p>
            <a:pPr algn="l">
              <a:spcBef>
                <a:spcPct val="50000"/>
              </a:spcBef>
            </a:pPr>
            <a:r>
              <a:rPr lang="en-US" altLang="zh-CN" sz="2000">
                <a:solidFill>
                  <a:srgbClr val="CC00CC"/>
                </a:solidFill>
                <a:latin typeface="Consolas" pitchFamily="49" charset="0"/>
                <a:cs typeface="Consolas" pitchFamily="49" charset="0"/>
              </a:rPr>
              <a:t>U={0</a:t>
            </a:r>
            <a:r>
              <a:rPr lang="zh-CN" altLang="en-US" sz="2000">
                <a:solidFill>
                  <a:srgbClr val="CC00CC"/>
                </a:solidFill>
                <a:latin typeface="Consolas" pitchFamily="49" charset="0"/>
                <a:cs typeface="Consolas" pitchFamily="49" charset="0"/>
              </a:rPr>
              <a:t>，</a:t>
            </a:r>
            <a:r>
              <a:rPr lang="en-US" altLang="zh-CN" sz="2000">
                <a:solidFill>
                  <a:srgbClr val="CC00CC"/>
                </a:solidFill>
                <a:latin typeface="Consolas" pitchFamily="49" charset="0"/>
                <a:cs typeface="Consolas" pitchFamily="49" charset="0"/>
              </a:rPr>
              <a:t>5</a:t>
            </a:r>
            <a:r>
              <a:rPr lang="zh-CN" altLang="en-US" sz="2000">
                <a:solidFill>
                  <a:srgbClr val="CC00CC"/>
                </a:solidFill>
                <a:latin typeface="Consolas" pitchFamily="49" charset="0"/>
                <a:cs typeface="Consolas" pitchFamily="49" charset="0"/>
              </a:rPr>
              <a:t>，</a:t>
            </a:r>
            <a:r>
              <a:rPr lang="en-US" altLang="zh-CN" sz="2000">
                <a:solidFill>
                  <a:srgbClr val="CC00CC"/>
                </a:solidFill>
                <a:latin typeface="Consolas" pitchFamily="49" charset="0"/>
                <a:cs typeface="Consolas" pitchFamily="49" charset="0"/>
              </a:rPr>
              <a:t>4}</a:t>
            </a:r>
            <a:endParaRPr lang="en-US" altLang="zh-CN" sz="2000" dirty="0">
              <a:solidFill>
                <a:srgbClr val="CC00CC"/>
              </a:solidFill>
              <a:latin typeface="Consolas" pitchFamily="49" charset="0"/>
              <a:cs typeface="Consolas" pitchFamily="49" charset="0"/>
            </a:endParaRPr>
          </a:p>
        </p:txBody>
      </p:sp>
      <p:sp>
        <p:nvSpPr>
          <p:cNvPr id="45" name="Oval 31">
            <a:extLst>
              <a:ext uri="{FF2B5EF4-FFF2-40B4-BE49-F238E27FC236}">
                <a16:creationId xmlns:a16="http://schemas.microsoft.com/office/drawing/2014/main" id="{6A03D6AC-516C-48B7-86D3-D97EEC034CDE}"/>
              </a:ext>
            </a:extLst>
          </p:cNvPr>
          <p:cNvSpPr>
            <a:spLocks noChangeArrowheads="1"/>
          </p:cNvSpPr>
          <p:nvPr/>
        </p:nvSpPr>
        <p:spPr bwMode="auto">
          <a:xfrm>
            <a:off x="7745148" y="2833356"/>
            <a:ext cx="360363" cy="431800"/>
          </a:xfrm>
          <a:prstGeom prst="ellipse">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anchor="ctr"/>
          <a:lstStyle/>
          <a:p>
            <a:r>
              <a:rPr lang="en-US" altLang="zh-CN" sz="2000" dirty="0">
                <a:solidFill>
                  <a:srgbClr val="FF00FF"/>
                </a:solidFill>
                <a:latin typeface="Consolas" pitchFamily="49" charset="0"/>
                <a:cs typeface="Consolas" pitchFamily="49" charset="0"/>
              </a:rPr>
              <a:t>0</a:t>
            </a:r>
          </a:p>
        </p:txBody>
      </p:sp>
      <p:sp>
        <p:nvSpPr>
          <p:cNvPr id="46" name="Oval 33">
            <a:extLst>
              <a:ext uri="{FF2B5EF4-FFF2-40B4-BE49-F238E27FC236}">
                <a16:creationId xmlns:a16="http://schemas.microsoft.com/office/drawing/2014/main" id="{3B13CC62-9015-1104-57AF-902738EB9E86}"/>
              </a:ext>
            </a:extLst>
          </p:cNvPr>
          <p:cNvSpPr>
            <a:spLocks noChangeArrowheads="1"/>
          </p:cNvSpPr>
          <p:nvPr/>
        </p:nvSpPr>
        <p:spPr bwMode="auto">
          <a:xfrm>
            <a:off x="7160944" y="3706484"/>
            <a:ext cx="360363" cy="431800"/>
          </a:xfrm>
          <a:prstGeom prst="ellipse">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anchor="ctr"/>
          <a:lstStyle/>
          <a:p>
            <a:r>
              <a:rPr lang="en-US" altLang="zh-CN" sz="2000" dirty="0">
                <a:solidFill>
                  <a:srgbClr val="FF00FF"/>
                </a:solidFill>
                <a:latin typeface="Consolas" pitchFamily="49" charset="0"/>
                <a:ea typeface="黑体" pitchFamily="49" charset="-122"/>
                <a:cs typeface="Consolas" pitchFamily="49" charset="0"/>
              </a:rPr>
              <a:t>5</a:t>
            </a:r>
          </a:p>
        </p:txBody>
      </p:sp>
      <p:sp>
        <p:nvSpPr>
          <p:cNvPr id="47" name="任意多边形 46">
            <a:extLst>
              <a:ext uri="{FF2B5EF4-FFF2-40B4-BE49-F238E27FC236}">
                <a16:creationId xmlns:a16="http://schemas.microsoft.com/office/drawing/2014/main" id="{1326F0A3-C0A7-575B-4703-992B1DA23932}"/>
              </a:ext>
            </a:extLst>
          </p:cNvPr>
          <p:cNvSpPr/>
          <p:nvPr/>
        </p:nvSpPr>
        <p:spPr bwMode="auto">
          <a:xfrm>
            <a:off x="2855640" y="2857200"/>
            <a:ext cx="1458113" cy="2206606"/>
          </a:xfrm>
          <a:custGeom>
            <a:avLst/>
            <a:gdLst>
              <a:gd name="connsiteX0" fmla="*/ 791633 w 1426633"/>
              <a:gd name="connsiteY0" fmla="*/ 101600 h 1769533"/>
              <a:gd name="connsiteX1" fmla="*/ 461433 w 1426633"/>
              <a:gd name="connsiteY1" fmla="*/ 292100 h 1769533"/>
              <a:gd name="connsiteX2" fmla="*/ 80433 w 1426633"/>
              <a:gd name="connsiteY2" fmla="*/ 1054100 h 1769533"/>
              <a:gd name="connsiteX3" fmla="*/ 80433 w 1426633"/>
              <a:gd name="connsiteY3" fmla="*/ 1562100 h 1769533"/>
              <a:gd name="connsiteX4" fmla="*/ 563033 w 1426633"/>
              <a:gd name="connsiteY4" fmla="*/ 1549400 h 1769533"/>
              <a:gd name="connsiteX5" fmla="*/ 1388533 w 1426633"/>
              <a:gd name="connsiteY5" fmla="*/ 241300 h 1769533"/>
              <a:gd name="connsiteX6" fmla="*/ 791633 w 1426633"/>
              <a:gd name="connsiteY6" fmla="*/ 101600 h 1769533"/>
              <a:gd name="connsiteX0" fmla="*/ 910691 w 1614456"/>
              <a:gd name="connsiteY0" fmla="*/ 220659 h 2602948"/>
              <a:gd name="connsiteX1" fmla="*/ 580491 w 1614456"/>
              <a:gd name="connsiteY1" fmla="*/ 411159 h 2602948"/>
              <a:gd name="connsiteX2" fmla="*/ 199491 w 1614456"/>
              <a:gd name="connsiteY2" fmla="*/ 1173159 h 2602948"/>
              <a:gd name="connsiteX3" fmla="*/ 199491 w 1614456"/>
              <a:gd name="connsiteY3" fmla="*/ 1681159 h 2602948"/>
              <a:gd name="connsiteX4" fmla="*/ 1396439 w 1614456"/>
              <a:gd name="connsiteY4" fmla="*/ 2382815 h 2602948"/>
              <a:gd name="connsiteX5" fmla="*/ 1507591 w 1614456"/>
              <a:gd name="connsiteY5" fmla="*/ 360359 h 2602948"/>
              <a:gd name="connsiteX6" fmla="*/ 910691 w 1614456"/>
              <a:gd name="connsiteY6" fmla="*/ 220659 h 2602948"/>
              <a:gd name="connsiteX0" fmla="*/ 910691 w 1563385"/>
              <a:gd name="connsiteY0" fmla="*/ 19050 h 2265873"/>
              <a:gd name="connsiteX1" fmla="*/ 580491 w 1563385"/>
              <a:gd name="connsiteY1" fmla="*/ 209550 h 2265873"/>
              <a:gd name="connsiteX2" fmla="*/ 199491 w 1563385"/>
              <a:gd name="connsiteY2" fmla="*/ 971550 h 2265873"/>
              <a:gd name="connsiteX3" fmla="*/ 199491 w 1563385"/>
              <a:gd name="connsiteY3" fmla="*/ 1479550 h 2265873"/>
              <a:gd name="connsiteX4" fmla="*/ 1396439 w 1563385"/>
              <a:gd name="connsiteY4" fmla="*/ 2181206 h 2265873"/>
              <a:gd name="connsiteX5" fmla="*/ 1201168 w 1563385"/>
              <a:gd name="connsiteY5" fmla="*/ 971550 h 2265873"/>
              <a:gd name="connsiteX6" fmla="*/ 1507591 w 1563385"/>
              <a:gd name="connsiteY6" fmla="*/ 158750 h 2265873"/>
              <a:gd name="connsiteX7" fmla="*/ 910691 w 1563385"/>
              <a:gd name="connsiteY7" fmla="*/ 19050 h 2265873"/>
              <a:gd name="connsiteX0" fmla="*/ 812800 w 1458113"/>
              <a:gd name="connsiteY0" fmla="*/ 19050 h 2346306"/>
              <a:gd name="connsiteX1" fmla="*/ 482600 w 1458113"/>
              <a:gd name="connsiteY1" fmla="*/ 209550 h 2346306"/>
              <a:gd name="connsiteX2" fmla="*/ 101600 w 1458113"/>
              <a:gd name="connsiteY2" fmla="*/ 971550 h 2346306"/>
              <a:gd name="connsiteX3" fmla="*/ 101600 w 1458113"/>
              <a:gd name="connsiteY3" fmla="*/ 1479550 h 2346306"/>
              <a:gd name="connsiteX4" fmla="*/ 711200 w 1458113"/>
              <a:gd name="connsiteY4" fmla="*/ 1962150 h 2346306"/>
              <a:gd name="connsiteX5" fmla="*/ 1298548 w 1458113"/>
              <a:gd name="connsiteY5" fmla="*/ 2181206 h 2346306"/>
              <a:gd name="connsiteX6" fmla="*/ 1103277 w 1458113"/>
              <a:gd name="connsiteY6" fmla="*/ 971550 h 2346306"/>
              <a:gd name="connsiteX7" fmla="*/ 1409700 w 1458113"/>
              <a:gd name="connsiteY7" fmla="*/ 158750 h 2346306"/>
              <a:gd name="connsiteX8" fmla="*/ 812800 w 1458113"/>
              <a:gd name="connsiteY8" fmla="*/ 19050 h 2346306"/>
              <a:gd name="connsiteX0" fmla="*/ 812800 w 1458113"/>
              <a:gd name="connsiteY0" fmla="*/ 19050 h 2206606"/>
              <a:gd name="connsiteX1" fmla="*/ 482600 w 1458113"/>
              <a:gd name="connsiteY1" fmla="*/ 209550 h 2206606"/>
              <a:gd name="connsiteX2" fmla="*/ 101600 w 1458113"/>
              <a:gd name="connsiteY2" fmla="*/ 971550 h 2206606"/>
              <a:gd name="connsiteX3" fmla="*/ 101600 w 1458113"/>
              <a:gd name="connsiteY3" fmla="*/ 1479550 h 2206606"/>
              <a:gd name="connsiteX4" fmla="*/ 711200 w 1458113"/>
              <a:gd name="connsiteY4" fmla="*/ 1962150 h 2206606"/>
              <a:gd name="connsiteX5" fmla="*/ 1298548 w 1458113"/>
              <a:gd name="connsiteY5" fmla="*/ 2181206 h 2206606"/>
              <a:gd name="connsiteX6" fmla="*/ 1387444 w 1458113"/>
              <a:gd name="connsiteY6" fmla="*/ 1809749 h 2206606"/>
              <a:gd name="connsiteX7" fmla="*/ 1103277 w 1458113"/>
              <a:gd name="connsiteY7" fmla="*/ 971550 h 2206606"/>
              <a:gd name="connsiteX8" fmla="*/ 1409700 w 1458113"/>
              <a:gd name="connsiteY8" fmla="*/ 158750 h 2206606"/>
              <a:gd name="connsiteX9" fmla="*/ 812800 w 1458113"/>
              <a:gd name="connsiteY9" fmla="*/ 19050 h 2206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58113" h="2206606">
                <a:moveTo>
                  <a:pt x="812800" y="19050"/>
                </a:moveTo>
                <a:cubicBezTo>
                  <a:pt x="658283" y="27517"/>
                  <a:pt x="601133" y="50800"/>
                  <a:pt x="482600" y="209550"/>
                </a:cubicBezTo>
                <a:cubicBezTo>
                  <a:pt x="364067" y="368300"/>
                  <a:pt x="165100" y="759883"/>
                  <a:pt x="101600" y="971550"/>
                </a:cubicBezTo>
                <a:cubicBezTo>
                  <a:pt x="38100" y="1183217"/>
                  <a:pt x="0" y="1314450"/>
                  <a:pt x="101600" y="1479550"/>
                </a:cubicBezTo>
                <a:cubicBezTo>
                  <a:pt x="203200" y="1644650"/>
                  <a:pt x="511709" y="1845207"/>
                  <a:pt x="711200" y="1962150"/>
                </a:cubicBezTo>
                <a:cubicBezTo>
                  <a:pt x="910691" y="2079093"/>
                  <a:pt x="1185841" y="2206606"/>
                  <a:pt x="1298548" y="2181206"/>
                </a:cubicBezTo>
                <a:cubicBezTo>
                  <a:pt x="1411255" y="2155806"/>
                  <a:pt x="1419989" y="2011358"/>
                  <a:pt x="1387444" y="1809749"/>
                </a:cubicBezTo>
                <a:cubicBezTo>
                  <a:pt x="1354899" y="1608140"/>
                  <a:pt x="1099568" y="1246716"/>
                  <a:pt x="1103277" y="971550"/>
                </a:cubicBezTo>
                <a:cubicBezTo>
                  <a:pt x="1106986" y="696384"/>
                  <a:pt x="1458113" y="317500"/>
                  <a:pt x="1409700" y="158750"/>
                </a:cubicBezTo>
                <a:cubicBezTo>
                  <a:pt x="1361287" y="0"/>
                  <a:pt x="967317" y="10583"/>
                  <a:pt x="812800" y="19050"/>
                </a:cubicBezTo>
                <a:close/>
              </a:path>
            </a:pathLst>
          </a:custGeom>
          <a:solidFill>
            <a:schemeClr val="accent3">
              <a:lumMod val="60000"/>
              <a:lumOff val="40000"/>
              <a:alpha val="51000"/>
            </a:schemeClr>
          </a:solidFill>
          <a:ln w="19050" cap="flat" cmpd="sng">
            <a:solidFill>
              <a:srgbClr val="C00000"/>
            </a:solidFill>
            <a:prstDash val="dash"/>
            <a:round/>
            <a:headEnd type="none" w="med" len="med"/>
            <a:tailEnd type="none" w="med" len="lg"/>
          </a:ln>
          <a:effectLst/>
        </p:spPr>
        <p:txBody>
          <a:bodyPr wrap="none" rtlCol="0" anchor="ctr"/>
          <a:lstStyle/>
          <a:p>
            <a:pPr algn="ctr"/>
            <a:endParaRPr lang="zh-CN" altLang="en-US">
              <a:latin typeface="Consolas" pitchFamily="49" charset="0"/>
              <a:cs typeface="Consolas" pitchFamily="49" charset="0"/>
            </a:endParaRPr>
          </a:p>
        </p:txBody>
      </p:sp>
      <p:sp>
        <p:nvSpPr>
          <p:cNvPr id="48" name="Freeform 14">
            <a:extLst>
              <a:ext uri="{FF2B5EF4-FFF2-40B4-BE49-F238E27FC236}">
                <a16:creationId xmlns:a16="http://schemas.microsoft.com/office/drawing/2014/main" id="{864B5954-0256-6215-9D45-ED498D972084}"/>
              </a:ext>
            </a:extLst>
          </p:cNvPr>
          <p:cNvSpPr>
            <a:spLocks/>
          </p:cNvSpPr>
          <p:nvPr/>
        </p:nvSpPr>
        <p:spPr bwMode="auto">
          <a:xfrm>
            <a:off x="7467334" y="4093840"/>
            <a:ext cx="392113" cy="419100"/>
          </a:xfrm>
          <a:custGeom>
            <a:avLst/>
            <a:gdLst/>
            <a:ahLst/>
            <a:cxnLst>
              <a:cxn ang="0">
                <a:pos x="0" y="0"/>
              </a:cxn>
              <a:cxn ang="0">
                <a:pos x="247" y="264"/>
              </a:cxn>
            </a:cxnLst>
            <a:rect l="0" t="0" r="r" b="b"/>
            <a:pathLst>
              <a:path w="247" h="264">
                <a:moveTo>
                  <a:pt x="0" y="0"/>
                </a:moveTo>
                <a:lnTo>
                  <a:pt x="247" y="264"/>
                </a:lnTo>
              </a:path>
            </a:pathLst>
          </a:custGeom>
          <a:noFill/>
          <a:ln w="19050" cap="flat" cmpd="sng">
            <a:solidFill>
              <a:srgbClr val="3333FF"/>
            </a:solidFill>
            <a:prstDash val="solid"/>
            <a:round/>
            <a:headEnd type="none" w="med" len="med"/>
            <a:tailEnd type="none" w="med" len="lg"/>
          </a:ln>
          <a:effectLst/>
        </p:spPr>
        <p:txBody>
          <a:bodyPr wrap="none"/>
          <a:lstStyle/>
          <a:p>
            <a:endParaRPr lang="zh-CN" altLang="en-US">
              <a:latin typeface="Consolas" pitchFamily="49" charset="0"/>
              <a:cs typeface="Consolas" pitchFamily="49" charset="0"/>
            </a:endParaRPr>
          </a:p>
        </p:txBody>
      </p:sp>
      <p:sp>
        <p:nvSpPr>
          <p:cNvPr id="49" name="Oval 34">
            <a:extLst>
              <a:ext uri="{FF2B5EF4-FFF2-40B4-BE49-F238E27FC236}">
                <a16:creationId xmlns:a16="http://schemas.microsoft.com/office/drawing/2014/main" id="{C91877EA-0CAA-B47A-C0D9-3850858AB2F8}"/>
              </a:ext>
            </a:extLst>
          </p:cNvPr>
          <p:cNvSpPr>
            <a:spLocks noChangeArrowheads="1"/>
          </p:cNvSpPr>
          <p:nvPr/>
        </p:nvSpPr>
        <p:spPr bwMode="auto">
          <a:xfrm>
            <a:off x="7816586" y="4420864"/>
            <a:ext cx="360363" cy="431800"/>
          </a:xfrm>
          <a:prstGeom prst="ellipse">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anchor="ctr"/>
          <a:lstStyle/>
          <a:p>
            <a:r>
              <a:rPr lang="en-US" altLang="zh-CN" sz="2000" dirty="0">
                <a:solidFill>
                  <a:srgbClr val="FF00FF"/>
                </a:solidFill>
                <a:latin typeface="Consolas" pitchFamily="49" charset="0"/>
                <a:cs typeface="Consolas" pitchFamily="49" charset="0"/>
              </a:rPr>
              <a:t>4</a:t>
            </a:r>
          </a:p>
        </p:txBody>
      </p:sp>
      <p:sp>
        <p:nvSpPr>
          <p:cNvPr id="90" name="任意多边形 49">
            <a:extLst>
              <a:ext uri="{FF2B5EF4-FFF2-40B4-BE49-F238E27FC236}">
                <a16:creationId xmlns:a16="http://schemas.microsoft.com/office/drawing/2014/main" id="{CD6131E8-E171-BA7F-5577-B4932F4630EA}"/>
              </a:ext>
            </a:extLst>
          </p:cNvPr>
          <p:cNvSpPr/>
          <p:nvPr/>
        </p:nvSpPr>
        <p:spPr bwMode="auto">
          <a:xfrm>
            <a:off x="4183843" y="2697375"/>
            <a:ext cx="1678517" cy="2652183"/>
          </a:xfrm>
          <a:custGeom>
            <a:avLst/>
            <a:gdLst>
              <a:gd name="connsiteX0" fmla="*/ 825500 w 1678517"/>
              <a:gd name="connsiteY0" fmla="*/ 48683 h 2652183"/>
              <a:gd name="connsiteX1" fmla="*/ 254000 w 1678517"/>
              <a:gd name="connsiteY1" fmla="*/ 658283 h 2652183"/>
              <a:gd name="connsiteX2" fmla="*/ 38100 w 1678517"/>
              <a:gd name="connsiteY2" fmla="*/ 1178983 h 2652183"/>
              <a:gd name="connsiteX3" fmla="*/ 482600 w 1678517"/>
              <a:gd name="connsiteY3" fmla="*/ 2207683 h 2652183"/>
              <a:gd name="connsiteX4" fmla="*/ 1016000 w 1678517"/>
              <a:gd name="connsiteY4" fmla="*/ 2499783 h 2652183"/>
              <a:gd name="connsiteX5" fmla="*/ 1600200 w 1678517"/>
              <a:gd name="connsiteY5" fmla="*/ 1293283 h 2652183"/>
              <a:gd name="connsiteX6" fmla="*/ 1485900 w 1678517"/>
              <a:gd name="connsiteY6" fmla="*/ 366183 h 2652183"/>
              <a:gd name="connsiteX7" fmla="*/ 825500 w 1678517"/>
              <a:gd name="connsiteY7" fmla="*/ 48683 h 26521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78517" h="2652183">
                <a:moveTo>
                  <a:pt x="825500" y="48683"/>
                </a:moveTo>
                <a:cubicBezTo>
                  <a:pt x="620183" y="97366"/>
                  <a:pt x="385233" y="469900"/>
                  <a:pt x="254000" y="658283"/>
                </a:cubicBezTo>
                <a:cubicBezTo>
                  <a:pt x="122767" y="846666"/>
                  <a:pt x="0" y="920750"/>
                  <a:pt x="38100" y="1178983"/>
                </a:cubicBezTo>
                <a:cubicBezTo>
                  <a:pt x="76200" y="1437216"/>
                  <a:pt x="319617" y="1987550"/>
                  <a:pt x="482600" y="2207683"/>
                </a:cubicBezTo>
                <a:cubicBezTo>
                  <a:pt x="645583" y="2427816"/>
                  <a:pt x="829733" y="2652183"/>
                  <a:pt x="1016000" y="2499783"/>
                </a:cubicBezTo>
                <a:cubicBezTo>
                  <a:pt x="1202267" y="2347383"/>
                  <a:pt x="1521883" y="1648883"/>
                  <a:pt x="1600200" y="1293283"/>
                </a:cubicBezTo>
                <a:cubicBezTo>
                  <a:pt x="1678517" y="937683"/>
                  <a:pt x="1615017" y="573616"/>
                  <a:pt x="1485900" y="366183"/>
                </a:cubicBezTo>
                <a:cubicBezTo>
                  <a:pt x="1356783" y="158750"/>
                  <a:pt x="1030817" y="0"/>
                  <a:pt x="825500" y="48683"/>
                </a:cubicBezTo>
                <a:close/>
              </a:path>
            </a:pathLst>
          </a:custGeom>
          <a:solidFill>
            <a:schemeClr val="accent6">
              <a:lumMod val="20000"/>
              <a:lumOff val="80000"/>
              <a:alpha val="49000"/>
            </a:schemeClr>
          </a:solidFill>
          <a:ln w="19050" cap="flat" cmpd="sng">
            <a:solidFill>
              <a:srgbClr val="C00000"/>
            </a:solidFill>
            <a:prstDash val="dash"/>
            <a:round/>
            <a:headEnd type="none" w="med" len="med"/>
            <a:tailEnd type="none" w="med" len="lg"/>
          </a:ln>
          <a:effectLst/>
        </p:spPr>
        <p:txBody>
          <a:bodyPr wrap="none" rtlCol="0" anchor="ctr"/>
          <a:lstStyle/>
          <a:p>
            <a:pPr algn="ctr"/>
            <a:endParaRPr lang="zh-CN" altLang="en-US">
              <a:latin typeface="Consolas" pitchFamily="49" charset="0"/>
              <a:cs typeface="Consolas" pitchFamily="49" charset="0"/>
            </a:endParaRPr>
          </a:p>
        </p:txBody>
      </p:sp>
      <p:sp>
        <p:nvSpPr>
          <p:cNvPr id="91" name="Freeform 15">
            <a:extLst>
              <a:ext uri="{FF2B5EF4-FFF2-40B4-BE49-F238E27FC236}">
                <a16:creationId xmlns:a16="http://schemas.microsoft.com/office/drawing/2014/main" id="{2E009B31-9ECF-0B8E-9F04-F63F44503FBC}"/>
              </a:ext>
            </a:extLst>
          </p:cNvPr>
          <p:cNvSpPr>
            <a:spLocks/>
          </p:cNvSpPr>
          <p:nvPr/>
        </p:nvSpPr>
        <p:spPr bwMode="auto">
          <a:xfrm>
            <a:off x="8183305" y="4647878"/>
            <a:ext cx="582613" cy="1588"/>
          </a:xfrm>
          <a:custGeom>
            <a:avLst/>
            <a:gdLst/>
            <a:ahLst/>
            <a:cxnLst>
              <a:cxn ang="0">
                <a:pos x="0" y="0"/>
              </a:cxn>
              <a:cxn ang="0">
                <a:pos x="367" y="0"/>
              </a:cxn>
            </a:cxnLst>
            <a:rect l="0" t="0" r="r" b="b"/>
            <a:pathLst>
              <a:path w="367" h="1">
                <a:moveTo>
                  <a:pt x="0" y="0"/>
                </a:moveTo>
                <a:lnTo>
                  <a:pt x="367" y="0"/>
                </a:lnTo>
              </a:path>
            </a:pathLst>
          </a:custGeom>
          <a:noFill/>
          <a:ln w="19050" cap="flat" cmpd="sng">
            <a:solidFill>
              <a:srgbClr val="3333FF"/>
            </a:solidFill>
            <a:prstDash val="solid"/>
            <a:round/>
            <a:headEnd type="none" w="med" len="med"/>
            <a:tailEnd type="none" w="med" len="lg"/>
          </a:ln>
          <a:effectLst/>
        </p:spPr>
        <p:txBody>
          <a:bodyPr wrap="none"/>
          <a:lstStyle/>
          <a:p>
            <a:endParaRPr lang="zh-CN" altLang="en-US">
              <a:latin typeface="Consolas" pitchFamily="49" charset="0"/>
              <a:cs typeface="Consolas" pitchFamily="49" charset="0"/>
            </a:endParaRPr>
          </a:p>
        </p:txBody>
      </p:sp>
    </p:spTree>
    <p:extLst>
      <p:ext uri="{BB962C8B-B14F-4D97-AF65-F5344CB8AC3E}">
        <p14:creationId xmlns:p14="http://schemas.microsoft.com/office/powerpoint/2010/main" val="33547014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nodePh="1">
                                  <p:stCondLst>
                                    <p:cond delay="0"/>
                                  </p:stCondLst>
                                  <p:endCondLst>
                                    <p:cond evt="begin" delay="0">
                                      <p:tn val="5"/>
                                    </p:cond>
                                  </p:endCondLst>
                                  <p:childTnLst>
                                    <p:set>
                                      <p:cBhvr>
                                        <p:cTn id="6" dur="1" fill="hold">
                                          <p:stCondLst>
                                            <p:cond delay="0"/>
                                          </p:stCondLst>
                                        </p:cTn>
                                        <p:tgtEl>
                                          <p:spTgt spid="42">
                                            <p:txEl>
                                              <p:pRg st="0" end="0"/>
                                            </p:txEl>
                                          </p:spTgt>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49"/>
                                        </p:tgtEl>
                                        <p:attrNameLst>
                                          <p:attrName>style.visibility</p:attrName>
                                        </p:attrNameLst>
                                      </p:cBhvr>
                                      <p:to>
                                        <p:strVal val="visible"/>
                                      </p:to>
                                    </p:set>
                                  </p:childTnLst>
                                </p:cTn>
                              </p:par>
                            </p:childTnLst>
                          </p:cTn>
                        </p:par>
                        <p:par>
                          <p:cTn id="10" fill="hold">
                            <p:stCondLst>
                              <p:cond delay="0"/>
                            </p:stCondLst>
                            <p:childTnLst>
                              <p:par>
                                <p:cTn id="11" presetID="1" presetClass="entr" presetSubtype="0" fill="hold" grpId="0" nodeType="afterEffect">
                                  <p:stCondLst>
                                    <p:cond delay="0"/>
                                  </p:stCondLst>
                                  <p:childTnLst>
                                    <p:set>
                                      <p:cBhvr>
                                        <p:cTn id="12" dur="1" fill="hold">
                                          <p:stCondLst>
                                            <p:cond delay="0"/>
                                          </p:stCondLst>
                                        </p:cTn>
                                        <p:tgtEl>
                                          <p:spTgt spid="4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26" presetClass="emph" presetSubtype="0" fill="hold" grpId="0" nodeType="clickEffect">
                                  <p:stCondLst>
                                    <p:cond delay="0"/>
                                  </p:stCondLst>
                                  <p:childTnLst>
                                    <p:animEffect transition="out" filter="fade">
                                      <p:cBhvr>
                                        <p:cTn id="22" dur="500" tmFilter="0, 0; .2, .5; .8, .5; 1, 0"/>
                                        <p:tgtEl>
                                          <p:spTgt spid="17"/>
                                        </p:tgtEl>
                                      </p:cBhvr>
                                    </p:animEffect>
                                    <p:animScale>
                                      <p:cBhvr>
                                        <p:cTn id="23" dur="250" autoRev="1" fill="hold"/>
                                        <p:tgtEl>
                                          <p:spTgt spid="17"/>
                                        </p:tgtEl>
                                      </p:cBhvr>
                                      <p:by x="105000" y="105000"/>
                                    </p:animScale>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9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build="p"/>
      <p:bldP spid="17" grpId="0" animBg="1"/>
      <p:bldP spid="44" grpId="0"/>
      <p:bldP spid="47" grpId="0" animBg="1"/>
      <p:bldP spid="49" grpId="0" animBg="1"/>
      <p:bldP spid="90" grpId="0" animBg="1"/>
      <p:bldP spid="91" grpId="0" animBg="1"/>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0A075E-E5EE-B35C-3233-9A2A2F621199}"/>
            </a:ext>
          </a:extLst>
        </p:cNvPr>
        <p:cNvGrpSpPr/>
        <p:nvPr/>
      </p:nvGrpSpPr>
      <p:grpSpPr>
        <a:xfrm>
          <a:off x="0" y="0"/>
          <a:ext cx="0" cy="0"/>
          <a:chOff x="0" y="0"/>
          <a:chExt cx="0" cy="0"/>
        </a:xfrm>
      </p:grpSpPr>
      <p:sp>
        <p:nvSpPr>
          <p:cNvPr id="42" name="Rectangle 4">
            <a:extLst>
              <a:ext uri="{FF2B5EF4-FFF2-40B4-BE49-F238E27FC236}">
                <a16:creationId xmlns:a16="http://schemas.microsoft.com/office/drawing/2014/main" id="{F4BE1029-110D-6820-BBC9-188D2DAB3196}"/>
              </a:ext>
            </a:extLst>
          </p:cNvPr>
          <p:cNvSpPr>
            <a:spLocks noChangeArrowheads="1"/>
          </p:cNvSpPr>
          <p:nvPr/>
        </p:nvSpPr>
        <p:spPr bwMode="auto">
          <a:xfrm>
            <a:off x="6384032" y="4567734"/>
            <a:ext cx="7620000" cy="2016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lvl="1" indent="-228600">
              <a:spcBef>
                <a:spcPts val="600"/>
              </a:spcBef>
              <a:buClr>
                <a:srgbClr val="B870B8"/>
              </a:buClr>
              <a:buSzPct val="75000"/>
              <a:buFont typeface="Wingdings" pitchFamily="2" charset="2"/>
              <a:buChar char="n"/>
            </a:pPr>
            <a:endParaRPr kumimoji="1" lang="zh-CN" altLang="en-US" sz="2400" dirty="0">
              <a:latin typeface="微软雅黑" pitchFamily="34" charset="-122"/>
              <a:ea typeface="微软雅黑" pitchFamily="34" charset="-122"/>
              <a:cs typeface="经典粗黑简" pitchFamily="49" charset="-122"/>
            </a:endParaRPr>
          </a:p>
        </p:txBody>
      </p:sp>
      <p:sp>
        <p:nvSpPr>
          <p:cNvPr id="2" name="Rectangle 2">
            <a:extLst>
              <a:ext uri="{FF2B5EF4-FFF2-40B4-BE49-F238E27FC236}">
                <a16:creationId xmlns:a16="http://schemas.microsoft.com/office/drawing/2014/main" id="{D9F16003-EA99-9F4B-2C26-3993E72E0042}"/>
              </a:ext>
            </a:extLst>
          </p:cNvPr>
          <p:cNvSpPr txBox="1">
            <a:spLocks noChangeArrowheads="1"/>
          </p:cNvSpPr>
          <p:nvPr/>
        </p:nvSpPr>
        <p:spPr>
          <a:xfrm>
            <a:off x="474772" y="1230902"/>
            <a:ext cx="4469100"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8.4.3 </a:t>
            </a:r>
            <a:r>
              <a:rPr kumimoji="1" lang="zh-CN" altLang="en-US" dirty="0">
                <a:latin typeface="微软雅黑" pitchFamily="34" charset="-122"/>
                <a:ea typeface="微软雅黑" pitchFamily="34" charset="-122"/>
              </a:rPr>
              <a:t>普里姆</a:t>
            </a:r>
            <a:r>
              <a:rPr kumimoji="1" lang="en-US" altLang="zh-CN" dirty="0">
                <a:latin typeface="微软雅黑" pitchFamily="34" charset="-122"/>
                <a:ea typeface="微软雅黑" pitchFamily="34" charset="-122"/>
              </a:rPr>
              <a:t>(Prim)</a:t>
            </a:r>
            <a:r>
              <a:rPr kumimoji="1" lang="zh-CN" altLang="en-US" dirty="0">
                <a:latin typeface="微软雅黑" pitchFamily="34" charset="-122"/>
                <a:ea typeface="微软雅黑" pitchFamily="34" charset="-122"/>
              </a:rPr>
              <a:t>算法</a:t>
            </a:r>
          </a:p>
        </p:txBody>
      </p:sp>
      <p:cxnSp>
        <p:nvCxnSpPr>
          <p:cNvPr id="3" name="直接连接符 2">
            <a:extLst>
              <a:ext uri="{FF2B5EF4-FFF2-40B4-BE49-F238E27FC236}">
                <a16:creationId xmlns:a16="http://schemas.microsoft.com/office/drawing/2014/main" id="{587A46BF-C158-4D4B-1F9A-8F061D4FB35C}"/>
              </a:ext>
            </a:extLst>
          </p:cNvPr>
          <p:cNvCxnSpPr>
            <a:cxnSpLocks/>
          </p:cNvCxnSpPr>
          <p:nvPr/>
        </p:nvCxnSpPr>
        <p:spPr>
          <a:xfrm>
            <a:off x="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4" name="矩形 3">
            <a:extLst>
              <a:ext uri="{FF2B5EF4-FFF2-40B4-BE49-F238E27FC236}">
                <a16:creationId xmlns:a16="http://schemas.microsoft.com/office/drawing/2014/main" id="{9A4F021D-0DDC-8202-3C02-4EB223E16E14}"/>
              </a:ext>
            </a:extLst>
          </p:cNvPr>
          <p:cNvSpPr/>
          <p:nvPr/>
        </p:nvSpPr>
        <p:spPr>
          <a:xfrm>
            <a:off x="3394075" y="399838"/>
            <a:ext cx="4617860"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8.4 </a:t>
            </a:r>
            <a:r>
              <a:rPr lang="zh-CN" altLang="en-US" sz="3000" b="1" dirty="0">
                <a:latin typeface="黑体" pitchFamily="49" charset="-122"/>
                <a:ea typeface="黑体" pitchFamily="49" charset="-122"/>
                <a:cs typeface="经典粗黑简" pitchFamily="49" charset="-122"/>
              </a:rPr>
              <a:t>生成树和最小生成树</a:t>
            </a:r>
          </a:p>
        </p:txBody>
      </p:sp>
      <p:sp>
        <p:nvSpPr>
          <p:cNvPr id="5" name="Text Box 4">
            <a:extLst>
              <a:ext uri="{FF2B5EF4-FFF2-40B4-BE49-F238E27FC236}">
                <a16:creationId xmlns:a16="http://schemas.microsoft.com/office/drawing/2014/main" id="{7E19EC8C-6DE7-19F2-82FF-87791DF19393}"/>
              </a:ext>
            </a:extLst>
          </p:cNvPr>
          <p:cNvSpPr txBox="1">
            <a:spLocks noChangeArrowheads="1"/>
          </p:cNvSpPr>
          <p:nvPr/>
        </p:nvSpPr>
        <p:spPr bwMode="auto">
          <a:xfrm>
            <a:off x="3978057" y="6198533"/>
            <a:ext cx="4929222" cy="400110"/>
          </a:xfrm>
          <a:prstGeom prst="rect">
            <a:avLst/>
          </a:prstGeom>
          <a:noFill/>
          <a:ln w="9525">
            <a:noFill/>
            <a:miter lim="800000"/>
            <a:headEnd/>
            <a:tailEnd/>
          </a:ln>
          <a:effectLst/>
        </p:spPr>
        <p:txBody>
          <a:bodyPr wrap="square">
            <a:spAutoFit/>
          </a:bodyPr>
          <a:lstStyle/>
          <a:p>
            <a:pPr algn="l">
              <a:spcBef>
                <a:spcPct val="50000"/>
              </a:spcBef>
            </a:pPr>
            <a:r>
              <a:rPr kumimoji="1" lang="zh-CN" altLang="en-US" sz="2000" dirty="0">
                <a:ea typeface="楷体" pitchFamily="49" charset="-122"/>
                <a:cs typeface="Times New Roman" pitchFamily="18" charset="0"/>
              </a:rPr>
              <a:t>普里姆算法求解最小生成树的过程 </a:t>
            </a:r>
          </a:p>
        </p:txBody>
      </p:sp>
      <p:sp>
        <p:nvSpPr>
          <p:cNvPr id="33" name="Text Box 73">
            <a:extLst>
              <a:ext uri="{FF2B5EF4-FFF2-40B4-BE49-F238E27FC236}">
                <a16:creationId xmlns:a16="http://schemas.microsoft.com/office/drawing/2014/main" id="{1B0F4A70-12D8-9FF9-838A-48209845BBF0}"/>
              </a:ext>
            </a:extLst>
          </p:cNvPr>
          <p:cNvSpPr txBox="1">
            <a:spLocks noChangeArrowheads="1"/>
          </p:cNvSpPr>
          <p:nvPr/>
        </p:nvSpPr>
        <p:spPr bwMode="auto">
          <a:xfrm>
            <a:off x="1562346" y="1925044"/>
            <a:ext cx="3714776" cy="400110"/>
          </a:xfrm>
          <a:prstGeom prst="rect">
            <a:avLst/>
          </a:prstGeom>
          <a:solidFill>
            <a:srgbClr val="339933"/>
          </a:solidFill>
          <a:ln w="19050" algn="ctr">
            <a:noFill/>
            <a:miter lim="800000"/>
            <a:headEnd/>
            <a:tailEnd type="none" w="med" len="lg"/>
          </a:ln>
          <a:effectLst/>
        </p:spPr>
        <p:txBody>
          <a:bodyPr wrap="square">
            <a:spAutoFit/>
          </a:bodyPr>
          <a:lstStyle/>
          <a:p>
            <a:pPr>
              <a:spcBef>
                <a:spcPct val="50000"/>
              </a:spcBef>
            </a:pPr>
            <a:r>
              <a:rPr lang="en-US" altLang="zh-CN" sz="2000" dirty="0">
                <a:solidFill>
                  <a:schemeClr val="bg1"/>
                </a:solidFill>
                <a:latin typeface="Consolas" pitchFamily="49" charset="0"/>
                <a:ea typeface="华文中宋" pitchFamily="2" charset="-122"/>
                <a:cs typeface="Consolas" pitchFamily="49" charset="0"/>
              </a:rPr>
              <a:t>Prim</a:t>
            </a:r>
            <a:r>
              <a:rPr lang="zh-CN" altLang="en-US" sz="2000" dirty="0">
                <a:solidFill>
                  <a:schemeClr val="bg1"/>
                </a:solidFill>
                <a:latin typeface="Consolas" pitchFamily="49" charset="0"/>
                <a:ea typeface="华文中宋" pitchFamily="2" charset="-122"/>
                <a:cs typeface="Consolas" pitchFamily="49" charset="0"/>
              </a:rPr>
              <a:t>算法示例演示（起点</a:t>
            </a:r>
            <a:r>
              <a:rPr lang="en-US" altLang="zh-CN" sz="2000" dirty="0">
                <a:solidFill>
                  <a:schemeClr val="bg1"/>
                </a:solidFill>
                <a:latin typeface="Consolas" pitchFamily="49" charset="0"/>
                <a:ea typeface="华文中宋" pitchFamily="2" charset="-122"/>
                <a:cs typeface="Consolas" pitchFamily="49" charset="0"/>
              </a:rPr>
              <a:t>0</a:t>
            </a:r>
            <a:r>
              <a:rPr lang="zh-CN" altLang="en-US" sz="2000" dirty="0">
                <a:solidFill>
                  <a:schemeClr val="bg1"/>
                </a:solidFill>
                <a:latin typeface="Consolas" pitchFamily="49" charset="0"/>
                <a:ea typeface="华文中宋" pitchFamily="2" charset="-122"/>
                <a:cs typeface="Consolas" pitchFamily="49" charset="0"/>
              </a:rPr>
              <a:t>）</a:t>
            </a:r>
          </a:p>
        </p:txBody>
      </p:sp>
      <p:sp>
        <p:nvSpPr>
          <p:cNvPr id="12" name="Text Box 29">
            <a:extLst>
              <a:ext uri="{FF2B5EF4-FFF2-40B4-BE49-F238E27FC236}">
                <a16:creationId xmlns:a16="http://schemas.microsoft.com/office/drawing/2014/main" id="{53BF3E31-0817-FB58-5067-4A3DFEF8D2DA}"/>
              </a:ext>
            </a:extLst>
          </p:cNvPr>
          <p:cNvSpPr txBox="1">
            <a:spLocks noChangeArrowheads="1"/>
          </p:cNvSpPr>
          <p:nvPr/>
        </p:nvSpPr>
        <p:spPr bwMode="auto">
          <a:xfrm>
            <a:off x="5037960" y="4208990"/>
            <a:ext cx="503238" cy="338554"/>
          </a:xfrm>
          <a:prstGeom prst="rect">
            <a:avLst/>
          </a:prstGeom>
          <a:noFill/>
          <a:ln w="19050" algn="ctr">
            <a:noFill/>
            <a:miter lim="800000"/>
            <a:headEnd/>
            <a:tailEnd type="none" w="med" len="lg"/>
          </a:ln>
          <a:effectLst/>
        </p:spPr>
        <p:txBody>
          <a:bodyPr>
            <a:spAutoFit/>
          </a:bodyPr>
          <a:lstStyle/>
          <a:p>
            <a:pPr algn="l">
              <a:spcBef>
                <a:spcPct val="50000"/>
              </a:spcBef>
            </a:pPr>
            <a:r>
              <a:rPr lang="en-US" altLang="zh-CN" sz="1600">
                <a:latin typeface="Consolas" pitchFamily="49" charset="0"/>
                <a:cs typeface="Consolas" pitchFamily="49" charset="0"/>
              </a:rPr>
              <a:t>12</a:t>
            </a:r>
          </a:p>
        </p:txBody>
      </p:sp>
      <p:sp>
        <p:nvSpPr>
          <p:cNvPr id="50" name="Oval 5">
            <a:extLst>
              <a:ext uri="{FF2B5EF4-FFF2-40B4-BE49-F238E27FC236}">
                <a16:creationId xmlns:a16="http://schemas.microsoft.com/office/drawing/2014/main" id="{1EEDD41E-7155-0E7B-B2CB-42B9BD9134E1}"/>
              </a:ext>
            </a:extLst>
          </p:cNvPr>
          <p:cNvSpPr>
            <a:spLocks noChangeArrowheads="1"/>
          </p:cNvSpPr>
          <p:nvPr/>
        </p:nvSpPr>
        <p:spPr bwMode="auto">
          <a:xfrm>
            <a:off x="3696584" y="2881845"/>
            <a:ext cx="360363"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2000">
                <a:solidFill>
                  <a:srgbClr val="0000FF"/>
                </a:solidFill>
                <a:latin typeface="Consolas" pitchFamily="49" charset="0"/>
                <a:cs typeface="Consolas" pitchFamily="49" charset="0"/>
              </a:rPr>
              <a:t>0</a:t>
            </a:r>
          </a:p>
        </p:txBody>
      </p:sp>
      <p:sp>
        <p:nvSpPr>
          <p:cNvPr id="51" name="Oval 6">
            <a:extLst>
              <a:ext uri="{FF2B5EF4-FFF2-40B4-BE49-F238E27FC236}">
                <a16:creationId xmlns:a16="http://schemas.microsoft.com/office/drawing/2014/main" id="{B6360164-FB61-4DB2-0CCA-0BCAB98014F9}"/>
              </a:ext>
            </a:extLst>
          </p:cNvPr>
          <p:cNvSpPr>
            <a:spLocks noChangeArrowheads="1"/>
          </p:cNvSpPr>
          <p:nvPr/>
        </p:nvSpPr>
        <p:spPr bwMode="auto">
          <a:xfrm>
            <a:off x="4777671" y="2881845"/>
            <a:ext cx="360363"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2000">
                <a:solidFill>
                  <a:srgbClr val="0000FF"/>
                </a:solidFill>
                <a:latin typeface="Consolas" pitchFamily="49" charset="0"/>
                <a:cs typeface="Consolas" pitchFamily="49" charset="0"/>
              </a:rPr>
              <a:t>1</a:t>
            </a:r>
          </a:p>
        </p:txBody>
      </p:sp>
      <p:sp>
        <p:nvSpPr>
          <p:cNvPr id="52" name="Oval 7">
            <a:extLst>
              <a:ext uri="{FF2B5EF4-FFF2-40B4-BE49-F238E27FC236}">
                <a16:creationId xmlns:a16="http://schemas.microsoft.com/office/drawing/2014/main" id="{E516AB69-AB90-C74D-3757-A8CC3CABD4B5}"/>
              </a:ext>
            </a:extLst>
          </p:cNvPr>
          <p:cNvSpPr>
            <a:spLocks noChangeArrowheads="1"/>
          </p:cNvSpPr>
          <p:nvPr/>
        </p:nvSpPr>
        <p:spPr bwMode="auto">
          <a:xfrm>
            <a:off x="3120321" y="3747033"/>
            <a:ext cx="360363"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2000" dirty="0">
                <a:solidFill>
                  <a:srgbClr val="0000FF"/>
                </a:solidFill>
                <a:latin typeface="Consolas" pitchFamily="49" charset="0"/>
                <a:cs typeface="Consolas" pitchFamily="49" charset="0"/>
              </a:rPr>
              <a:t>5</a:t>
            </a:r>
          </a:p>
        </p:txBody>
      </p:sp>
      <p:sp>
        <p:nvSpPr>
          <p:cNvPr id="53" name="Oval 8">
            <a:extLst>
              <a:ext uri="{FF2B5EF4-FFF2-40B4-BE49-F238E27FC236}">
                <a16:creationId xmlns:a16="http://schemas.microsoft.com/office/drawing/2014/main" id="{DF7893A7-945C-C51A-22C9-BADE0EAB05A9}"/>
              </a:ext>
            </a:extLst>
          </p:cNvPr>
          <p:cNvSpPr>
            <a:spLocks noChangeArrowheads="1"/>
          </p:cNvSpPr>
          <p:nvPr/>
        </p:nvSpPr>
        <p:spPr bwMode="auto">
          <a:xfrm>
            <a:off x="3769609" y="4466170"/>
            <a:ext cx="360363"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2000">
                <a:solidFill>
                  <a:srgbClr val="0000FF"/>
                </a:solidFill>
                <a:latin typeface="Consolas" pitchFamily="49" charset="0"/>
                <a:cs typeface="Consolas" pitchFamily="49" charset="0"/>
              </a:rPr>
              <a:t>4</a:t>
            </a:r>
          </a:p>
        </p:txBody>
      </p:sp>
      <p:sp>
        <p:nvSpPr>
          <p:cNvPr id="54" name="Oval 9">
            <a:extLst>
              <a:ext uri="{FF2B5EF4-FFF2-40B4-BE49-F238E27FC236}">
                <a16:creationId xmlns:a16="http://schemas.microsoft.com/office/drawing/2014/main" id="{EFA4B56D-E0E0-829A-4071-E930FC2B9BD4}"/>
              </a:ext>
            </a:extLst>
          </p:cNvPr>
          <p:cNvSpPr>
            <a:spLocks noChangeArrowheads="1"/>
          </p:cNvSpPr>
          <p:nvPr/>
        </p:nvSpPr>
        <p:spPr bwMode="auto">
          <a:xfrm>
            <a:off x="4704646" y="4466170"/>
            <a:ext cx="360363"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2000">
                <a:solidFill>
                  <a:srgbClr val="0000FF"/>
                </a:solidFill>
                <a:latin typeface="Consolas" pitchFamily="49" charset="0"/>
                <a:cs typeface="Consolas" pitchFamily="49" charset="0"/>
              </a:rPr>
              <a:t>3</a:t>
            </a:r>
          </a:p>
        </p:txBody>
      </p:sp>
      <p:sp>
        <p:nvSpPr>
          <p:cNvPr id="55" name="Oval 10">
            <a:extLst>
              <a:ext uri="{FF2B5EF4-FFF2-40B4-BE49-F238E27FC236}">
                <a16:creationId xmlns:a16="http://schemas.microsoft.com/office/drawing/2014/main" id="{291BCDC3-C783-1C96-5B85-2869A7C8CB8F}"/>
              </a:ext>
            </a:extLst>
          </p:cNvPr>
          <p:cNvSpPr>
            <a:spLocks noChangeArrowheads="1"/>
          </p:cNvSpPr>
          <p:nvPr/>
        </p:nvSpPr>
        <p:spPr bwMode="auto">
          <a:xfrm>
            <a:off x="4272846" y="3674008"/>
            <a:ext cx="360363"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2000">
                <a:solidFill>
                  <a:srgbClr val="0000FF"/>
                </a:solidFill>
                <a:latin typeface="Consolas" pitchFamily="49" charset="0"/>
                <a:cs typeface="Consolas" pitchFamily="49" charset="0"/>
              </a:rPr>
              <a:t>6</a:t>
            </a:r>
          </a:p>
        </p:txBody>
      </p:sp>
      <p:sp>
        <p:nvSpPr>
          <p:cNvPr id="56" name="Oval 11">
            <a:extLst>
              <a:ext uri="{FF2B5EF4-FFF2-40B4-BE49-F238E27FC236}">
                <a16:creationId xmlns:a16="http://schemas.microsoft.com/office/drawing/2014/main" id="{4F927EB3-645D-2A04-09D8-9CCA704F326E}"/>
              </a:ext>
            </a:extLst>
          </p:cNvPr>
          <p:cNvSpPr>
            <a:spLocks noChangeArrowheads="1"/>
          </p:cNvSpPr>
          <p:nvPr/>
        </p:nvSpPr>
        <p:spPr bwMode="auto">
          <a:xfrm>
            <a:off x="5136446" y="3674008"/>
            <a:ext cx="360363"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2000">
                <a:solidFill>
                  <a:srgbClr val="0000FF"/>
                </a:solidFill>
                <a:latin typeface="Consolas" pitchFamily="49" charset="0"/>
                <a:cs typeface="Consolas" pitchFamily="49" charset="0"/>
              </a:rPr>
              <a:t>2</a:t>
            </a:r>
          </a:p>
        </p:txBody>
      </p:sp>
      <p:sp>
        <p:nvSpPr>
          <p:cNvPr id="57" name="Line 12">
            <a:extLst>
              <a:ext uri="{FF2B5EF4-FFF2-40B4-BE49-F238E27FC236}">
                <a16:creationId xmlns:a16="http://schemas.microsoft.com/office/drawing/2014/main" id="{E4FEBEB2-E754-46B3-2C31-B64C40FC533C}"/>
              </a:ext>
            </a:extLst>
          </p:cNvPr>
          <p:cNvSpPr>
            <a:spLocks noChangeShapeType="1"/>
          </p:cNvSpPr>
          <p:nvPr/>
        </p:nvSpPr>
        <p:spPr bwMode="auto">
          <a:xfrm>
            <a:off x="4056946" y="3097745"/>
            <a:ext cx="720725" cy="0"/>
          </a:xfrm>
          <a:prstGeom prst="line">
            <a:avLst/>
          </a:prstGeom>
          <a:noFill/>
          <a:ln w="19050">
            <a:solidFill>
              <a:srgbClr val="3333FF"/>
            </a:solidFill>
            <a:round/>
            <a:headEnd/>
            <a:tailEnd type="none" w="med" len="lg"/>
          </a:ln>
          <a:effectLst/>
        </p:spPr>
        <p:txBody>
          <a:bodyPr wrap="none"/>
          <a:lstStyle/>
          <a:p>
            <a:endParaRPr lang="zh-CN" altLang="en-US">
              <a:latin typeface="Consolas" pitchFamily="49" charset="0"/>
              <a:cs typeface="Consolas" pitchFamily="49" charset="0"/>
            </a:endParaRPr>
          </a:p>
        </p:txBody>
      </p:sp>
      <p:sp>
        <p:nvSpPr>
          <p:cNvPr id="58" name="Freeform 13">
            <a:extLst>
              <a:ext uri="{FF2B5EF4-FFF2-40B4-BE49-F238E27FC236}">
                <a16:creationId xmlns:a16="http://schemas.microsoft.com/office/drawing/2014/main" id="{FC8CAE67-85DD-7A18-337E-97FFD51A603C}"/>
              </a:ext>
            </a:extLst>
          </p:cNvPr>
          <p:cNvSpPr>
            <a:spLocks/>
          </p:cNvSpPr>
          <p:nvPr/>
        </p:nvSpPr>
        <p:spPr bwMode="auto">
          <a:xfrm>
            <a:off x="3337809" y="3218395"/>
            <a:ext cx="395288" cy="528638"/>
          </a:xfrm>
          <a:custGeom>
            <a:avLst/>
            <a:gdLst/>
            <a:ahLst/>
            <a:cxnLst>
              <a:cxn ang="0">
                <a:pos x="249" y="0"/>
              </a:cxn>
              <a:cxn ang="0">
                <a:pos x="0" y="333"/>
              </a:cxn>
            </a:cxnLst>
            <a:rect l="0" t="0" r="r" b="b"/>
            <a:pathLst>
              <a:path w="249" h="333">
                <a:moveTo>
                  <a:pt x="249" y="0"/>
                </a:moveTo>
                <a:lnTo>
                  <a:pt x="0" y="333"/>
                </a:lnTo>
              </a:path>
            </a:pathLst>
          </a:custGeom>
          <a:noFill/>
          <a:ln w="19050" cap="flat" cmpd="sng">
            <a:solidFill>
              <a:srgbClr val="3333FF"/>
            </a:solidFill>
            <a:prstDash val="solid"/>
            <a:round/>
            <a:headEnd type="none" w="med" len="med"/>
            <a:tailEnd type="none" w="med" len="lg"/>
          </a:ln>
          <a:effectLst/>
        </p:spPr>
        <p:txBody>
          <a:bodyPr wrap="none"/>
          <a:lstStyle/>
          <a:p>
            <a:endParaRPr lang="zh-CN" altLang="en-US">
              <a:latin typeface="Consolas" pitchFamily="49" charset="0"/>
              <a:cs typeface="Consolas" pitchFamily="49" charset="0"/>
            </a:endParaRPr>
          </a:p>
        </p:txBody>
      </p:sp>
      <p:sp>
        <p:nvSpPr>
          <p:cNvPr id="59" name="Freeform 14">
            <a:extLst>
              <a:ext uri="{FF2B5EF4-FFF2-40B4-BE49-F238E27FC236}">
                <a16:creationId xmlns:a16="http://schemas.microsoft.com/office/drawing/2014/main" id="{0E3301A8-C305-D602-1CF6-754C16B56034}"/>
              </a:ext>
            </a:extLst>
          </p:cNvPr>
          <p:cNvSpPr>
            <a:spLocks/>
          </p:cNvSpPr>
          <p:nvPr/>
        </p:nvSpPr>
        <p:spPr bwMode="auto">
          <a:xfrm>
            <a:off x="3402896" y="4145495"/>
            <a:ext cx="392113" cy="419100"/>
          </a:xfrm>
          <a:custGeom>
            <a:avLst/>
            <a:gdLst/>
            <a:ahLst/>
            <a:cxnLst>
              <a:cxn ang="0">
                <a:pos x="0" y="0"/>
              </a:cxn>
              <a:cxn ang="0">
                <a:pos x="247" y="264"/>
              </a:cxn>
            </a:cxnLst>
            <a:rect l="0" t="0" r="r" b="b"/>
            <a:pathLst>
              <a:path w="247" h="264">
                <a:moveTo>
                  <a:pt x="0" y="0"/>
                </a:moveTo>
                <a:lnTo>
                  <a:pt x="247" y="264"/>
                </a:lnTo>
              </a:path>
            </a:pathLst>
          </a:custGeom>
          <a:noFill/>
          <a:ln w="19050" cap="flat" cmpd="sng">
            <a:solidFill>
              <a:srgbClr val="3333FF"/>
            </a:solidFill>
            <a:prstDash val="solid"/>
            <a:round/>
            <a:headEnd type="none" w="med" len="med"/>
            <a:tailEnd type="none" w="med" len="lg"/>
          </a:ln>
          <a:effectLst/>
        </p:spPr>
        <p:txBody>
          <a:bodyPr wrap="none"/>
          <a:lstStyle/>
          <a:p>
            <a:endParaRPr lang="zh-CN" altLang="en-US">
              <a:latin typeface="Consolas" pitchFamily="49" charset="0"/>
              <a:cs typeface="Consolas" pitchFamily="49" charset="0"/>
            </a:endParaRPr>
          </a:p>
        </p:txBody>
      </p:sp>
      <p:sp>
        <p:nvSpPr>
          <p:cNvPr id="60" name="Freeform 15">
            <a:extLst>
              <a:ext uri="{FF2B5EF4-FFF2-40B4-BE49-F238E27FC236}">
                <a16:creationId xmlns:a16="http://schemas.microsoft.com/office/drawing/2014/main" id="{CE7F9DA3-1520-34AA-022A-750E84D3EB73}"/>
              </a:ext>
            </a:extLst>
          </p:cNvPr>
          <p:cNvSpPr>
            <a:spLocks/>
          </p:cNvSpPr>
          <p:nvPr/>
        </p:nvSpPr>
        <p:spPr bwMode="auto">
          <a:xfrm>
            <a:off x="4128384" y="4716995"/>
            <a:ext cx="582613" cy="1588"/>
          </a:xfrm>
          <a:custGeom>
            <a:avLst/>
            <a:gdLst/>
            <a:ahLst/>
            <a:cxnLst>
              <a:cxn ang="0">
                <a:pos x="0" y="0"/>
              </a:cxn>
              <a:cxn ang="0">
                <a:pos x="367" y="0"/>
              </a:cxn>
            </a:cxnLst>
            <a:rect l="0" t="0" r="r" b="b"/>
            <a:pathLst>
              <a:path w="367" h="1">
                <a:moveTo>
                  <a:pt x="0" y="0"/>
                </a:moveTo>
                <a:lnTo>
                  <a:pt x="367" y="0"/>
                </a:lnTo>
              </a:path>
            </a:pathLst>
          </a:custGeom>
          <a:noFill/>
          <a:ln w="19050" cap="flat" cmpd="sng">
            <a:solidFill>
              <a:srgbClr val="3333FF"/>
            </a:solidFill>
            <a:prstDash val="solid"/>
            <a:round/>
            <a:headEnd type="none" w="med" len="med"/>
            <a:tailEnd type="none" w="med" len="lg"/>
          </a:ln>
          <a:effectLst/>
        </p:spPr>
        <p:txBody>
          <a:bodyPr wrap="none"/>
          <a:lstStyle/>
          <a:p>
            <a:endParaRPr lang="zh-CN" altLang="en-US">
              <a:latin typeface="Consolas" pitchFamily="49" charset="0"/>
              <a:cs typeface="Consolas" pitchFamily="49" charset="0"/>
            </a:endParaRPr>
          </a:p>
        </p:txBody>
      </p:sp>
      <p:sp>
        <p:nvSpPr>
          <p:cNvPr id="61" name="Freeform 16">
            <a:extLst>
              <a:ext uri="{FF2B5EF4-FFF2-40B4-BE49-F238E27FC236}">
                <a16:creationId xmlns:a16="http://schemas.microsoft.com/office/drawing/2014/main" id="{A64A9C9F-96DC-8812-898C-C4712A14FB7F}"/>
              </a:ext>
            </a:extLst>
          </p:cNvPr>
          <p:cNvSpPr>
            <a:spLocks/>
          </p:cNvSpPr>
          <p:nvPr/>
        </p:nvSpPr>
        <p:spPr bwMode="auto">
          <a:xfrm>
            <a:off x="3985509" y="4043895"/>
            <a:ext cx="357188" cy="422275"/>
          </a:xfrm>
          <a:custGeom>
            <a:avLst/>
            <a:gdLst/>
            <a:ahLst/>
            <a:cxnLst>
              <a:cxn ang="0">
                <a:pos x="0" y="266"/>
              </a:cxn>
              <a:cxn ang="0">
                <a:pos x="225" y="0"/>
              </a:cxn>
            </a:cxnLst>
            <a:rect l="0" t="0" r="r" b="b"/>
            <a:pathLst>
              <a:path w="225" h="266">
                <a:moveTo>
                  <a:pt x="0" y="266"/>
                </a:moveTo>
                <a:lnTo>
                  <a:pt x="225" y="0"/>
                </a:lnTo>
              </a:path>
            </a:pathLst>
          </a:custGeom>
          <a:noFill/>
          <a:ln w="19050" cap="flat" cmpd="sng">
            <a:solidFill>
              <a:srgbClr val="3333FF"/>
            </a:solidFill>
            <a:prstDash val="solid"/>
            <a:round/>
            <a:headEnd type="none" w="med" len="med"/>
            <a:tailEnd type="none" w="med" len="lg"/>
          </a:ln>
          <a:effectLst/>
        </p:spPr>
        <p:txBody>
          <a:bodyPr wrap="none"/>
          <a:lstStyle/>
          <a:p>
            <a:endParaRPr lang="zh-CN" altLang="en-US">
              <a:latin typeface="Consolas" pitchFamily="49" charset="0"/>
              <a:cs typeface="Consolas" pitchFamily="49" charset="0"/>
            </a:endParaRPr>
          </a:p>
        </p:txBody>
      </p:sp>
      <p:sp>
        <p:nvSpPr>
          <p:cNvPr id="62" name="Line 17">
            <a:extLst>
              <a:ext uri="{FF2B5EF4-FFF2-40B4-BE49-F238E27FC236}">
                <a16:creationId xmlns:a16="http://schemas.microsoft.com/office/drawing/2014/main" id="{1359AA25-C6A1-34A0-0B90-B7768FF2DF19}"/>
              </a:ext>
            </a:extLst>
          </p:cNvPr>
          <p:cNvSpPr>
            <a:spLocks noChangeShapeType="1"/>
          </p:cNvSpPr>
          <p:nvPr/>
        </p:nvSpPr>
        <p:spPr bwMode="auto">
          <a:xfrm>
            <a:off x="4541067" y="4066114"/>
            <a:ext cx="285752" cy="428628"/>
          </a:xfrm>
          <a:prstGeom prst="line">
            <a:avLst/>
          </a:prstGeom>
          <a:noFill/>
          <a:ln w="19050">
            <a:solidFill>
              <a:srgbClr val="3333FF"/>
            </a:solidFill>
            <a:round/>
            <a:headEnd/>
            <a:tailEnd type="none" w="med" len="lg"/>
          </a:ln>
          <a:effectLst/>
        </p:spPr>
        <p:txBody>
          <a:bodyPr wrap="none"/>
          <a:lstStyle/>
          <a:p>
            <a:endParaRPr lang="zh-CN" altLang="en-US">
              <a:latin typeface="Consolas" pitchFamily="49" charset="0"/>
              <a:cs typeface="Consolas" pitchFamily="49" charset="0"/>
            </a:endParaRPr>
          </a:p>
        </p:txBody>
      </p:sp>
      <p:sp>
        <p:nvSpPr>
          <p:cNvPr id="63" name="Line 18">
            <a:extLst>
              <a:ext uri="{FF2B5EF4-FFF2-40B4-BE49-F238E27FC236}">
                <a16:creationId xmlns:a16="http://schemas.microsoft.com/office/drawing/2014/main" id="{7B202FBA-EAB6-B492-A3DD-AE32DD39EC2A}"/>
              </a:ext>
            </a:extLst>
          </p:cNvPr>
          <p:cNvSpPr>
            <a:spLocks noChangeShapeType="1"/>
          </p:cNvSpPr>
          <p:nvPr/>
        </p:nvSpPr>
        <p:spPr bwMode="auto">
          <a:xfrm flipH="1">
            <a:off x="4549071" y="3267608"/>
            <a:ext cx="287338" cy="431800"/>
          </a:xfrm>
          <a:prstGeom prst="line">
            <a:avLst/>
          </a:prstGeom>
          <a:noFill/>
          <a:ln w="19050">
            <a:solidFill>
              <a:srgbClr val="3333FF"/>
            </a:solidFill>
            <a:round/>
            <a:headEnd/>
            <a:tailEnd type="none" w="med" len="lg"/>
          </a:ln>
          <a:effectLst/>
        </p:spPr>
        <p:txBody>
          <a:bodyPr wrap="none"/>
          <a:lstStyle/>
          <a:p>
            <a:endParaRPr lang="zh-CN" altLang="en-US">
              <a:latin typeface="Consolas" pitchFamily="49" charset="0"/>
              <a:cs typeface="Consolas" pitchFamily="49" charset="0"/>
            </a:endParaRPr>
          </a:p>
        </p:txBody>
      </p:sp>
      <p:sp>
        <p:nvSpPr>
          <p:cNvPr id="64" name="Line 19">
            <a:extLst>
              <a:ext uri="{FF2B5EF4-FFF2-40B4-BE49-F238E27FC236}">
                <a16:creationId xmlns:a16="http://schemas.microsoft.com/office/drawing/2014/main" id="{032BB1CB-51D8-B9A3-46E9-21BFD0854573}"/>
              </a:ext>
            </a:extLst>
          </p:cNvPr>
          <p:cNvSpPr>
            <a:spLocks noChangeShapeType="1"/>
          </p:cNvSpPr>
          <p:nvPr/>
        </p:nvSpPr>
        <p:spPr bwMode="auto">
          <a:xfrm>
            <a:off x="5087168" y="3280296"/>
            <a:ext cx="176400" cy="399600"/>
          </a:xfrm>
          <a:prstGeom prst="line">
            <a:avLst/>
          </a:prstGeom>
          <a:noFill/>
          <a:ln w="19050">
            <a:solidFill>
              <a:srgbClr val="3333FF"/>
            </a:solidFill>
            <a:round/>
            <a:headEnd/>
            <a:tailEnd type="none" w="med" len="lg"/>
          </a:ln>
          <a:effectLst/>
        </p:spPr>
        <p:txBody>
          <a:bodyPr wrap="none"/>
          <a:lstStyle/>
          <a:p>
            <a:endParaRPr lang="zh-CN" altLang="en-US">
              <a:latin typeface="Consolas" pitchFamily="49" charset="0"/>
              <a:cs typeface="Consolas" pitchFamily="49" charset="0"/>
            </a:endParaRPr>
          </a:p>
        </p:txBody>
      </p:sp>
      <p:sp>
        <p:nvSpPr>
          <p:cNvPr id="65" name="Line 20">
            <a:extLst>
              <a:ext uri="{FF2B5EF4-FFF2-40B4-BE49-F238E27FC236}">
                <a16:creationId xmlns:a16="http://schemas.microsoft.com/office/drawing/2014/main" id="{580C969D-BEBB-FB80-CD53-23DE7FC87A7F}"/>
              </a:ext>
            </a:extLst>
          </p:cNvPr>
          <p:cNvSpPr>
            <a:spLocks noChangeShapeType="1"/>
          </p:cNvSpPr>
          <p:nvPr/>
        </p:nvSpPr>
        <p:spPr bwMode="auto">
          <a:xfrm flipH="1">
            <a:off x="5006269" y="4099452"/>
            <a:ext cx="270000" cy="396000"/>
          </a:xfrm>
          <a:prstGeom prst="line">
            <a:avLst/>
          </a:prstGeom>
          <a:noFill/>
          <a:ln w="38100">
            <a:solidFill>
              <a:srgbClr val="00B0F0"/>
            </a:solidFill>
            <a:round/>
            <a:headEnd/>
            <a:tailEnd type="none" w="med" len="lg"/>
          </a:ln>
          <a:effectLst/>
        </p:spPr>
        <p:txBody>
          <a:bodyPr wrap="none"/>
          <a:lstStyle/>
          <a:p>
            <a:endParaRPr lang="zh-CN" altLang="en-US">
              <a:latin typeface="Consolas" pitchFamily="49" charset="0"/>
              <a:cs typeface="Consolas" pitchFamily="49" charset="0"/>
            </a:endParaRPr>
          </a:p>
        </p:txBody>
      </p:sp>
      <p:sp>
        <p:nvSpPr>
          <p:cNvPr id="66" name="Text Box 21">
            <a:extLst>
              <a:ext uri="{FF2B5EF4-FFF2-40B4-BE49-F238E27FC236}">
                <a16:creationId xmlns:a16="http://schemas.microsoft.com/office/drawing/2014/main" id="{4D3A25F2-66FE-A336-52EA-E0D76606D65F}"/>
              </a:ext>
            </a:extLst>
          </p:cNvPr>
          <p:cNvSpPr txBox="1">
            <a:spLocks noChangeArrowheads="1"/>
          </p:cNvSpPr>
          <p:nvPr/>
        </p:nvSpPr>
        <p:spPr bwMode="auto">
          <a:xfrm>
            <a:off x="4395018" y="2780230"/>
            <a:ext cx="503238" cy="338554"/>
          </a:xfrm>
          <a:prstGeom prst="rect">
            <a:avLst/>
          </a:prstGeom>
          <a:noFill/>
          <a:ln w="19050" algn="ctr">
            <a:noFill/>
            <a:miter lim="800000"/>
            <a:headEnd/>
            <a:tailEnd type="none" w="med" len="lg"/>
          </a:ln>
          <a:effectLst/>
        </p:spPr>
        <p:txBody>
          <a:bodyPr>
            <a:spAutoFit/>
          </a:bodyPr>
          <a:lstStyle/>
          <a:p>
            <a:pPr algn="l">
              <a:spcBef>
                <a:spcPct val="50000"/>
              </a:spcBef>
            </a:pPr>
            <a:r>
              <a:rPr lang="en-US" altLang="zh-CN" sz="1600">
                <a:latin typeface="Consolas" pitchFamily="49" charset="0"/>
                <a:cs typeface="Consolas" pitchFamily="49" charset="0"/>
              </a:rPr>
              <a:t>28</a:t>
            </a:r>
          </a:p>
        </p:txBody>
      </p:sp>
      <p:sp>
        <p:nvSpPr>
          <p:cNvPr id="67" name="Text Box 22">
            <a:extLst>
              <a:ext uri="{FF2B5EF4-FFF2-40B4-BE49-F238E27FC236}">
                <a16:creationId xmlns:a16="http://schemas.microsoft.com/office/drawing/2014/main" id="{BED006AE-AB82-E13F-A8A0-29FBBCDB7E0F}"/>
              </a:ext>
            </a:extLst>
          </p:cNvPr>
          <p:cNvSpPr txBox="1">
            <a:spLocks noChangeArrowheads="1"/>
          </p:cNvSpPr>
          <p:nvPr/>
        </p:nvSpPr>
        <p:spPr bwMode="auto">
          <a:xfrm>
            <a:off x="3121909" y="3205695"/>
            <a:ext cx="503238" cy="338554"/>
          </a:xfrm>
          <a:prstGeom prst="rect">
            <a:avLst/>
          </a:prstGeom>
          <a:noFill/>
          <a:ln w="19050" algn="ctr">
            <a:noFill/>
            <a:miter lim="800000"/>
            <a:headEnd/>
            <a:tailEnd type="none" w="med" len="lg"/>
          </a:ln>
          <a:effectLst/>
        </p:spPr>
        <p:txBody>
          <a:bodyPr>
            <a:spAutoFit/>
          </a:bodyPr>
          <a:lstStyle/>
          <a:p>
            <a:pPr algn="l">
              <a:spcBef>
                <a:spcPct val="50000"/>
              </a:spcBef>
            </a:pPr>
            <a:r>
              <a:rPr lang="en-US" altLang="zh-CN" sz="1600" dirty="0">
                <a:latin typeface="Consolas" pitchFamily="49" charset="0"/>
                <a:cs typeface="Consolas" pitchFamily="49" charset="0"/>
              </a:rPr>
              <a:t>10</a:t>
            </a:r>
          </a:p>
        </p:txBody>
      </p:sp>
      <p:sp>
        <p:nvSpPr>
          <p:cNvPr id="68" name="Text Box 23">
            <a:extLst>
              <a:ext uri="{FF2B5EF4-FFF2-40B4-BE49-F238E27FC236}">
                <a16:creationId xmlns:a16="http://schemas.microsoft.com/office/drawing/2014/main" id="{C5328000-B5CC-05AF-D6F0-43B234B0E506}"/>
              </a:ext>
            </a:extLst>
          </p:cNvPr>
          <p:cNvSpPr txBox="1">
            <a:spLocks noChangeArrowheads="1"/>
          </p:cNvSpPr>
          <p:nvPr/>
        </p:nvSpPr>
        <p:spPr bwMode="auto">
          <a:xfrm>
            <a:off x="5138034" y="3170770"/>
            <a:ext cx="503238" cy="338554"/>
          </a:xfrm>
          <a:prstGeom prst="rect">
            <a:avLst/>
          </a:prstGeom>
          <a:noFill/>
          <a:ln w="19050" algn="ctr">
            <a:noFill/>
            <a:miter lim="800000"/>
            <a:headEnd/>
            <a:tailEnd type="none" w="med" len="lg"/>
          </a:ln>
          <a:effectLst/>
        </p:spPr>
        <p:txBody>
          <a:bodyPr>
            <a:spAutoFit/>
          </a:bodyPr>
          <a:lstStyle/>
          <a:p>
            <a:pPr algn="l">
              <a:spcBef>
                <a:spcPct val="50000"/>
              </a:spcBef>
            </a:pPr>
            <a:r>
              <a:rPr lang="en-US" altLang="zh-CN" sz="1600">
                <a:latin typeface="Consolas" pitchFamily="49" charset="0"/>
                <a:cs typeface="Consolas" pitchFamily="49" charset="0"/>
              </a:rPr>
              <a:t>16</a:t>
            </a:r>
          </a:p>
        </p:txBody>
      </p:sp>
      <p:sp>
        <p:nvSpPr>
          <p:cNvPr id="69" name="Text Box 24">
            <a:extLst>
              <a:ext uri="{FF2B5EF4-FFF2-40B4-BE49-F238E27FC236}">
                <a16:creationId xmlns:a16="http://schemas.microsoft.com/office/drawing/2014/main" id="{53235374-771C-38DA-B184-D0737B37A3E5}"/>
              </a:ext>
            </a:extLst>
          </p:cNvPr>
          <p:cNvSpPr txBox="1">
            <a:spLocks noChangeArrowheads="1"/>
          </p:cNvSpPr>
          <p:nvPr/>
        </p:nvSpPr>
        <p:spPr bwMode="auto">
          <a:xfrm>
            <a:off x="4272846" y="3277133"/>
            <a:ext cx="503238" cy="338554"/>
          </a:xfrm>
          <a:prstGeom prst="rect">
            <a:avLst/>
          </a:prstGeom>
          <a:noFill/>
          <a:ln w="19050" algn="ctr">
            <a:noFill/>
            <a:miter lim="800000"/>
            <a:headEnd/>
            <a:tailEnd type="none" w="med" len="lg"/>
          </a:ln>
          <a:effectLst/>
        </p:spPr>
        <p:txBody>
          <a:bodyPr>
            <a:spAutoFit/>
          </a:bodyPr>
          <a:lstStyle/>
          <a:p>
            <a:pPr algn="l">
              <a:spcBef>
                <a:spcPct val="50000"/>
              </a:spcBef>
            </a:pPr>
            <a:r>
              <a:rPr lang="en-US" altLang="zh-CN" sz="1600">
                <a:latin typeface="Consolas" pitchFamily="49" charset="0"/>
                <a:cs typeface="Consolas" pitchFamily="49" charset="0"/>
              </a:rPr>
              <a:t>14</a:t>
            </a:r>
          </a:p>
        </p:txBody>
      </p:sp>
      <p:sp>
        <p:nvSpPr>
          <p:cNvPr id="70" name="Text Box 25">
            <a:extLst>
              <a:ext uri="{FF2B5EF4-FFF2-40B4-BE49-F238E27FC236}">
                <a16:creationId xmlns:a16="http://schemas.microsoft.com/office/drawing/2014/main" id="{3BA24665-C23D-16BF-1AF4-219C132E2554}"/>
              </a:ext>
            </a:extLst>
          </p:cNvPr>
          <p:cNvSpPr txBox="1">
            <a:spLocks noChangeArrowheads="1"/>
          </p:cNvSpPr>
          <p:nvPr/>
        </p:nvSpPr>
        <p:spPr bwMode="auto">
          <a:xfrm>
            <a:off x="3194934" y="4213758"/>
            <a:ext cx="503238" cy="338554"/>
          </a:xfrm>
          <a:prstGeom prst="rect">
            <a:avLst/>
          </a:prstGeom>
          <a:noFill/>
          <a:ln w="19050" algn="ctr">
            <a:noFill/>
            <a:miter lim="800000"/>
            <a:headEnd/>
            <a:tailEnd type="none" w="med" len="lg"/>
          </a:ln>
          <a:effectLst/>
        </p:spPr>
        <p:txBody>
          <a:bodyPr>
            <a:spAutoFit/>
          </a:bodyPr>
          <a:lstStyle/>
          <a:p>
            <a:pPr algn="l">
              <a:spcBef>
                <a:spcPct val="50000"/>
              </a:spcBef>
            </a:pPr>
            <a:r>
              <a:rPr lang="en-US" altLang="zh-CN" sz="1600">
                <a:latin typeface="Consolas" pitchFamily="49" charset="0"/>
                <a:cs typeface="Consolas" pitchFamily="49" charset="0"/>
              </a:rPr>
              <a:t>25</a:t>
            </a:r>
          </a:p>
        </p:txBody>
      </p:sp>
      <p:sp>
        <p:nvSpPr>
          <p:cNvPr id="71" name="Text Box 26">
            <a:extLst>
              <a:ext uri="{FF2B5EF4-FFF2-40B4-BE49-F238E27FC236}">
                <a16:creationId xmlns:a16="http://schemas.microsoft.com/office/drawing/2014/main" id="{625643F6-D928-16EF-8FA0-C1ECDE47A477}"/>
              </a:ext>
            </a:extLst>
          </p:cNvPr>
          <p:cNvSpPr txBox="1">
            <a:spLocks noChangeArrowheads="1"/>
          </p:cNvSpPr>
          <p:nvPr/>
        </p:nvSpPr>
        <p:spPr bwMode="auto">
          <a:xfrm>
            <a:off x="3769609" y="3997858"/>
            <a:ext cx="503238" cy="338554"/>
          </a:xfrm>
          <a:prstGeom prst="rect">
            <a:avLst/>
          </a:prstGeom>
          <a:noFill/>
          <a:ln w="19050" algn="ctr">
            <a:noFill/>
            <a:miter lim="800000"/>
            <a:headEnd/>
            <a:tailEnd type="none" w="med" len="lg"/>
          </a:ln>
          <a:effectLst/>
        </p:spPr>
        <p:txBody>
          <a:bodyPr>
            <a:spAutoFit/>
          </a:bodyPr>
          <a:lstStyle/>
          <a:p>
            <a:pPr algn="l">
              <a:spcBef>
                <a:spcPct val="50000"/>
              </a:spcBef>
            </a:pPr>
            <a:r>
              <a:rPr lang="en-US" altLang="zh-CN" sz="1600">
                <a:latin typeface="Consolas" pitchFamily="49" charset="0"/>
                <a:cs typeface="Consolas" pitchFamily="49" charset="0"/>
              </a:rPr>
              <a:t>24</a:t>
            </a:r>
          </a:p>
        </p:txBody>
      </p:sp>
      <p:sp>
        <p:nvSpPr>
          <p:cNvPr id="72" name="Text Box 27">
            <a:extLst>
              <a:ext uri="{FF2B5EF4-FFF2-40B4-BE49-F238E27FC236}">
                <a16:creationId xmlns:a16="http://schemas.microsoft.com/office/drawing/2014/main" id="{65630F19-46C2-9F7E-1249-AF9015DBCBAC}"/>
              </a:ext>
            </a:extLst>
          </p:cNvPr>
          <p:cNvSpPr txBox="1">
            <a:spLocks noChangeArrowheads="1"/>
          </p:cNvSpPr>
          <p:nvPr/>
        </p:nvSpPr>
        <p:spPr bwMode="auto">
          <a:xfrm>
            <a:off x="4633209" y="3924833"/>
            <a:ext cx="503238" cy="338554"/>
          </a:xfrm>
          <a:prstGeom prst="rect">
            <a:avLst/>
          </a:prstGeom>
          <a:noFill/>
          <a:ln w="19050" algn="ctr">
            <a:noFill/>
            <a:miter lim="800000"/>
            <a:headEnd/>
            <a:tailEnd type="none" w="med" len="lg"/>
          </a:ln>
          <a:effectLst/>
        </p:spPr>
        <p:txBody>
          <a:bodyPr>
            <a:spAutoFit/>
          </a:bodyPr>
          <a:lstStyle/>
          <a:p>
            <a:pPr algn="l">
              <a:spcBef>
                <a:spcPct val="50000"/>
              </a:spcBef>
            </a:pPr>
            <a:r>
              <a:rPr lang="en-US" altLang="zh-CN" sz="1600">
                <a:latin typeface="Consolas" pitchFamily="49" charset="0"/>
                <a:cs typeface="Consolas" pitchFamily="49" charset="0"/>
              </a:rPr>
              <a:t>18</a:t>
            </a:r>
          </a:p>
        </p:txBody>
      </p:sp>
      <p:sp>
        <p:nvSpPr>
          <p:cNvPr id="73" name="Text Box 28">
            <a:extLst>
              <a:ext uri="{FF2B5EF4-FFF2-40B4-BE49-F238E27FC236}">
                <a16:creationId xmlns:a16="http://schemas.microsoft.com/office/drawing/2014/main" id="{3B2F969D-D9AF-0D10-5EE1-0D3D0093FFFF}"/>
              </a:ext>
            </a:extLst>
          </p:cNvPr>
          <p:cNvSpPr txBox="1">
            <a:spLocks noChangeArrowheads="1"/>
          </p:cNvSpPr>
          <p:nvPr/>
        </p:nvSpPr>
        <p:spPr bwMode="auto">
          <a:xfrm>
            <a:off x="4201409" y="4735630"/>
            <a:ext cx="503238" cy="338554"/>
          </a:xfrm>
          <a:prstGeom prst="rect">
            <a:avLst/>
          </a:prstGeom>
          <a:noFill/>
          <a:ln w="19050" algn="ctr">
            <a:noFill/>
            <a:miter lim="800000"/>
            <a:headEnd/>
            <a:tailEnd type="none" w="med" len="lg"/>
          </a:ln>
          <a:effectLst/>
        </p:spPr>
        <p:txBody>
          <a:bodyPr>
            <a:spAutoFit/>
          </a:bodyPr>
          <a:lstStyle/>
          <a:p>
            <a:pPr algn="l">
              <a:spcBef>
                <a:spcPct val="50000"/>
              </a:spcBef>
            </a:pPr>
            <a:r>
              <a:rPr lang="en-US" altLang="zh-CN" sz="1600" dirty="0">
                <a:latin typeface="Consolas" pitchFamily="49" charset="0"/>
                <a:cs typeface="Consolas" pitchFamily="49" charset="0"/>
              </a:rPr>
              <a:t>22</a:t>
            </a:r>
          </a:p>
        </p:txBody>
      </p:sp>
      <p:sp>
        <p:nvSpPr>
          <p:cNvPr id="74" name="Text Box 30">
            <a:extLst>
              <a:ext uri="{FF2B5EF4-FFF2-40B4-BE49-F238E27FC236}">
                <a16:creationId xmlns:a16="http://schemas.microsoft.com/office/drawing/2014/main" id="{CCD0FF10-BEA1-C502-4C1A-062149728BB8}"/>
              </a:ext>
            </a:extLst>
          </p:cNvPr>
          <p:cNvSpPr txBox="1">
            <a:spLocks noChangeArrowheads="1"/>
          </p:cNvSpPr>
          <p:nvPr/>
        </p:nvSpPr>
        <p:spPr bwMode="auto">
          <a:xfrm>
            <a:off x="3985509" y="5329770"/>
            <a:ext cx="935038" cy="400110"/>
          </a:xfrm>
          <a:prstGeom prst="rect">
            <a:avLst/>
          </a:prstGeom>
          <a:noFill/>
          <a:ln w="19050" algn="ctr">
            <a:noFill/>
            <a:miter lim="800000"/>
            <a:headEnd/>
            <a:tailEnd type="none" w="med" len="lg"/>
          </a:ln>
          <a:effectLst/>
        </p:spPr>
        <p:txBody>
          <a:bodyPr>
            <a:spAutoFit/>
          </a:bodyPr>
          <a:lstStyle/>
          <a:p>
            <a:pPr algn="l">
              <a:spcBef>
                <a:spcPct val="50000"/>
              </a:spcBef>
            </a:pPr>
            <a:r>
              <a:rPr lang="zh-CN" altLang="en-US" sz="2000" dirty="0">
                <a:latin typeface="Consolas" pitchFamily="49" charset="0"/>
                <a:ea typeface="楷体" pitchFamily="49" charset="-122"/>
                <a:cs typeface="Consolas" pitchFamily="49" charset="0"/>
              </a:rPr>
              <a:t>图</a:t>
            </a:r>
            <a:r>
              <a:rPr lang="en-US" altLang="zh-CN" sz="2000" dirty="0">
                <a:latin typeface="Consolas" pitchFamily="49" charset="0"/>
                <a:ea typeface="楷体" pitchFamily="49" charset="-122"/>
                <a:cs typeface="Consolas" pitchFamily="49" charset="0"/>
              </a:rPr>
              <a:t>G</a:t>
            </a:r>
          </a:p>
        </p:txBody>
      </p:sp>
      <p:grpSp>
        <p:nvGrpSpPr>
          <p:cNvPr id="75" name="组合 86">
            <a:extLst>
              <a:ext uri="{FF2B5EF4-FFF2-40B4-BE49-F238E27FC236}">
                <a16:creationId xmlns:a16="http://schemas.microsoft.com/office/drawing/2014/main" id="{20EAF736-FEF1-59B2-F5E3-B1A8FAC1E299}"/>
              </a:ext>
            </a:extLst>
          </p:cNvPr>
          <p:cNvGrpSpPr/>
          <p:nvPr/>
        </p:nvGrpSpPr>
        <p:grpSpPr>
          <a:xfrm>
            <a:off x="7136710" y="2780230"/>
            <a:ext cx="2376488" cy="2016125"/>
            <a:chOff x="5167380" y="1285860"/>
            <a:chExt cx="2376488" cy="2016125"/>
          </a:xfrm>
        </p:grpSpPr>
        <p:sp>
          <p:nvSpPr>
            <p:cNvPr id="76" name="Oval 31">
              <a:extLst>
                <a:ext uri="{FF2B5EF4-FFF2-40B4-BE49-F238E27FC236}">
                  <a16:creationId xmlns:a16="http://schemas.microsoft.com/office/drawing/2014/main" id="{6FB2F99D-821C-CAF9-EDE0-858F856C1AFC}"/>
                </a:ext>
              </a:extLst>
            </p:cNvPr>
            <p:cNvSpPr>
              <a:spLocks noChangeArrowheads="1"/>
            </p:cNvSpPr>
            <p:nvPr/>
          </p:nvSpPr>
          <p:spPr bwMode="auto">
            <a:xfrm>
              <a:off x="5743643" y="1285860"/>
              <a:ext cx="360363" cy="431800"/>
            </a:xfrm>
            <a:prstGeom prst="ellipse">
              <a:avLst/>
            </a:prstGeom>
            <a:solidFill>
              <a:schemeClr val="tx2">
                <a:lumMod val="60000"/>
                <a:lumOff val="40000"/>
              </a:schemeClr>
            </a:solidFill>
            <a:ln w="19050" algn="ctr">
              <a:solidFill>
                <a:srgbClr val="3333FF"/>
              </a:solidFill>
              <a:round/>
              <a:headEnd/>
              <a:tailEnd type="none" w="med" len="lg"/>
            </a:ln>
            <a:effectLst/>
          </p:spPr>
          <p:txBody>
            <a:bodyPr wrap="none" anchor="ctr"/>
            <a:lstStyle/>
            <a:p>
              <a:r>
                <a:rPr lang="en-US" altLang="zh-CN" sz="2000" dirty="0">
                  <a:latin typeface="Consolas" pitchFamily="49" charset="0"/>
                  <a:cs typeface="Consolas" pitchFamily="49" charset="0"/>
                </a:rPr>
                <a:t>0</a:t>
              </a:r>
            </a:p>
          </p:txBody>
        </p:sp>
        <p:sp>
          <p:nvSpPr>
            <p:cNvPr id="77" name="Oval 32">
              <a:extLst>
                <a:ext uri="{FF2B5EF4-FFF2-40B4-BE49-F238E27FC236}">
                  <a16:creationId xmlns:a16="http://schemas.microsoft.com/office/drawing/2014/main" id="{039FAE7C-A2C7-3848-4156-425E489ADCD4}"/>
                </a:ext>
              </a:extLst>
            </p:cNvPr>
            <p:cNvSpPr>
              <a:spLocks noChangeArrowheads="1"/>
            </p:cNvSpPr>
            <p:nvPr/>
          </p:nvSpPr>
          <p:spPr bwMode="auto">
            <a:xfrm>
              <a:off x="6824730" y="1285860"/>
              <a:ext cx="360363"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2000">
                  <a:solidFill>
                    <a:srgbClr val="0000FF"/>
                  </a:solidFill>
                  <a:latin typeface="Consolas" pitchFamily="49" charset="0"/>
                  <a:cs typeface="Consolas" pitchFamily="49" charset="0"/>
                </a:rPr>
                <a:t>1</a:t>
              </a:r>
            </a:p>
          </p:txBody>
        </p:sp>
        <p:sp>
          <p:nvSpPr>
            <p:cNvPr id="78" name="Oval 33">
              <a:extLst>
                <a:ext uri="{FF2B5EF4-FFF2-40B4-BE49-F238E27FC236}">
                  <a16:creationId xmlns:a16="http://schemas.microsoft.com/office/drawing/2014/main" id="{A14F7998-5FE5-7557-5B49-316DEECB651B}"/>
                </a:ext>
              </a:extLst>
            </p:cNvPr>
            <p:cNvSpPr>
              <a:spLocks noChangeArrowheads="1"/>
            </p:cNvSpPr>
            <p:nvPr/>
          </p:nvSpPr>
          <p:spPr bwMode="auto">
            <a:xfrm>
              <a:off x="5167380" y="2151048"/>
              <a:ext cx="360363" cy="431800"/>
            </a:xfrm>
            <a:prstGeom prst="ellipse">
              <a:avLst/>
            </a:prstGeom>
            <a:solidFill>
              <a:schemeClr val="accent1"/>
            </a:solidFill>
            <a:ln w="19050" algn="ctr">
              <a:solidFill>
                <a:srgbClr val="3333FF"/>
              </a:solidFill>
              <a:round/>
              <a:headEnd/>
              <a:tailEnd type="none" w="med" len="lg"/>
            </a:ln>
            <a:effectLst/>
          </p:spPr>
          <p:txBody>
            <a:bodyPr wrap="none" anchor="ctr"/>
            <a:lstStyle/>
            <a:p>
              <a:r>
                <a:rPr lang="en-US" altLang="zh-CN" sz="2000" dirty="0">
                  <a:latin typeface="Consolas" pitchFamily="49" charset="0"/>
                  <a:cs typeface="Consolas" pitchFamily="49" charset="0"/>
                </a:rPr>
                <a:t>5</a:t>
              </a:r>
            </a:p>
          </p:txBody>
        </p:sp>
        <p:sp>
          <p:nvSpPr>
            <p:cNvPr id="79" name="Oval 34">
              <a:extLst>
                <a:ext uri="{FF2B5EF4-FFF2-40B4-BE49-F238E27FC236}">
                  <a16:creationId xmlns:a16="http://schemas.microsoft.com/office/drawing/2014/main" id="{FAC64C08-8215-59D9-7CDE-D327CED86536}"/>
                </a:ext>
              </a:extLst>
            </p:cNvPr>
            <p:cNvSpPr>
              <a:spLocks noChangeArrowheads="1"/>
            </p:cNvSpPr>
            <p:nvPr/>
          </p:nvSpPr>
          <p:spPr bwMode="auto">
            <a:xfrm>
              <a:off x="5816668" y="2870185"/>
              <a:ext cx="360363" cy="431800"/>
            </a:xfrm>
            <a:prstGeom prst="ellipse">
              <a:avLst/>
            </a:prstGeom>
            <a:solidFill>
              <a:schemeClr val="accent1"/>
            </a:solidFill>
            <a:ln w="19050" algn="ctr">
              <a:solidFill>
                <a:srgbClr val="3333FF"/>
              </a:solidFill>
              <a:round/>
              <a:headEnd/>
              <a:tailEnd type="none" w="med" len="lg"/>
            </a:ln>
            <a:effectLst/>
          </p:spPr>
          <p:txBody>
            <a:bodyPr wrap="none" anchor="ctr"/>
            <a:lstStyle/>
            <a:p>
              <a:r>
                <a:rPr lang="en-US" altLang="zh-CN" sz="2000" dirty="0">
                  <a:latin typeface="Consolas" pitchFamily="49" charset="0"/>
                  <a:cs typeface="Consolas" pitchFamily="49" charset="0"/>
                </a:rPr>
                <a:t>4</a:t>
              </a:r>
            </a:p>
          </p:txBody>
        </p:sp>
        <p:sp>
          <p:nvSpPr>
            <p:cNvPr id="80" name="Oval 35">
              <a:extLst>
                <a:ext uri="{FF2B5EF4-FFF2-40B4-BE49-F238E27FC236}">
                  <a16:creationId xmlns:a16="http://schemas.microsoft.com/office/drawing/2014/main" id="{3EECA56F-AFEA-BB82-A054-E2D74215E6FD}"/>
                </a:ext>
              </a:extLst>
            </p:cNvPr>
            <p:cNvSpPr>
              <a:spLocks noChangeArrowheads="1"/>
            </p:cNvSpPr>
            <p:nvPr/>
          </p:nvSpPr>
          <p:spPr bwMode="auto">
            <a:xfrm>
              <a:off x="6751705" y="2870185"/>
              <a:ext cx="360363" cy="431800"/>
            </a:xfrm>
            <a:prstGeom prst="ellipse">
              <a:avLst/>
            </a:prstGeom>
            <a:solidFill>
              <a:schemeClr val="accent1"/>
            </a:solidFill>
            <a:ln w="19050" algn="ctr">
              <a:solidFill>
                <a:srgbClr val="3333FF"/>
              </a:solidFill>
              <a:round/>
              <a:headEnd/>
              <a:tailEnd type="none" w="med" len="lg"/>
            </a:ln>
            <a:effectLst/>
          </p:spPr>
          <p:txBody>
            <a:bodyPr wrap="none" anchor="ctr"/>
            <a:lstStyle/>
            <a:p>
              <a:r>
                <a:rPr lang="en-US" altLang="zh-CN" sz="2000" dirty="0">
                  <a:latin typeface="Consolas" pitchFamily="49" charset="0"/>
                  <a:cs typeface="Consolas" pitchFamily="49" charset="0"/>
                </a:rPr>
                <a:t>3</a:t>
              </a:r>
            </a:p>
          </p:txBody>
        </p:sp>
        <p:sp>
          <p:nvSpPr>
            <p:cNvPr id="81" name="Oval 36">
              <a:extLst>
                <a:ext uri="{FF2B5EF4-FFF2-40B4-BE49-F238E27FC236}">
                  <a16:creationId xmlns:a16="http://schemas.microsoft.com/office/drawing/2014/main" id="{73A7080C-9469-773E-8140-C0FCD4D13DA4}"/>
                </a:ext>
              </a:extLst>
            </p:cNvPr>
            <p:cNvSpPr>
              <a:spLocks noChangeArrowheads="1"/>
            </p:cNvSpPr>
            <p:nvPr/>
          </p:nvSpPr>
          <p:spPr bwMode="auto">
            <a:xfrm>
              <a:off x="6319905" y="2078023"/>
              <a:ext cx="360363"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2000">
                  <a:solidFill>
                    <a:srgbClr val="0000FF"/>
                  </a:solidFill>
                  <a:latin typeface="Consolas" pitchFamily="49" charset="0"/>
                  <a:cs typeface="Consolas" pitchFamily="49" charset="0"/>
                </a:rPr>
                <a:t>6</a:t>
              </a:r>
            </a:p>
          </p:txBody>
        </p:sp>
        <p:sp>
          <p:nvSpPr>
            <p:cNvPr id="82" name="Oval 37">
              <a:extLst>
                <a:ext uri="{FF2B5EF4-FFF2-40B4-BE49-F238E27FC236}">
                  <a16:creationId xmlns:a16="http://schemas.microsoft.com/office/drawing/2014/main" id="{5CDAAD1A-3583-CAC3-6C8A-D66633A9F29A}"/>
                </a:ext>
              </a:extLst>
            </p:cNvPr>
            <p:cNvSpPr>
              <a:spLocks noChangeArrowheads="1"/>
            </p:cNvSpPr>
            <p:nvPr/>
          </p:nvSpPr>
          <p:spPr bwMode="auto">
            <a:xfrm>
              <a:off x="7183505" y="2078023"/>
              <a:ext cx="360363"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2000">
                  <a:solidFill>
                    <a:srgbClr val="0000FF"/>
                  </a:solidFill>
                  <a:latin typeface="Consolas" pitchFamily="49" charset="0"/>
                  <a:cs typeface="Consolas" pitchFamily="49" charset="0"/>
                </a:rPr>
                <a:t>2</a:t>
              </a:r>
            </a:p>
          </p:txBody>
        </p:sp>
      </p:grpSp>
      <p:sp>
        <p:nvSpPr>
          <p:cNvPr id="83" name="Freeform 13">
            <a:extLst>
              <a:ext uri="{FF2B5EF4-FFF2-40B4-BE49-F238E27FC236}">
                <a16:creationId xmlns:a16="http://schemas.microsoft.com/office/drawing/2014/main" id="{389A6A12-BDAF-EC5F-6200-E3F79D798A45}"/>
              </a:ext>
            </a:extLst>
          </p:cNvPr>
          <p:cNvSpPr>
            <a:spLocks/>
          </p:cNvSpPr>
          <p:nvPr/>
        </p:nvSpPr>
        <p:spPr bwMode="auto">
          <a:xfrm>
            <a:off x="7373186" y="3137420"/>
            <a:ext cx="395288" cy="528638"/>
          </a:xfrm>
          <a:custGeom>
            <a:avLst/>
            <a:gdLst/>
            <a:ahLst/>
            <a:cxnLst>
              <a:cxn ang="0">
                <a:pos x="249" y="0"/>
              </a:cxn>
              <a:cxn ang="0">
                <a:pos x="0" y="333"/>
              </a:cxn>
            </a:cxnLst>
            <a:rect l="0" t="0" r="r" b="b"/>
            <a:pathLst>
              <a:path w="249" h="333">
                <a:moveTo>
                  <a:pt x="249" y="0"/>
                </a:moveTo>
                <a:lnTo>
                  <a:pt x="0" y="333"/>
                </a:lnTo>
              </a:path>
            </a:pathLst>
          </a:custGeom>
          <a:noFill/>
          <a:ln w="19050" cap="flat" cmpd="sng">
            <a:solidFill>
              <a:srgbClr val="3333FF"/>
            </a:solidFill>
            <a:prstDash val="solid"/>
            <a:round/>
            <a:headEnd type="none" w="med" len="med"/>
            <a:tailEnd type="none" w="med" len="lg"/>
          </a:ln>
          <a:effectLst/>
        </p:spPr>
        <p:txBody>
          <a:bodyPr wrap="none"/>
          <a:lstStyle/>
          <a:p>
            <a:endParaRPr lang="zh-CN" altLang="en-US">
              <a:latin typeface="Consolas" pitchFamily="49" charset="0"/>
              <a:cs typeface="Consolas" pitchFamily="49" charset="0"/>
            </a:endParaRPr>
          </a:p>
        </p:txBody>
      </p:sp>
      <p:sp>
        <p:nvSpPr>
          <p:cNvPr id="84" name="Text Box 65">
            <a:extLst>
              <a:ext uri="{FF2B5EF4-FFF2-40B4-BE49-F238E27FC236}">
                <a16:creationId xmlns:a16="http://schemas.microsoft.com/office/drawing/2014/main" id="{D317B18F-B7FE-AD77-0A8B-8069160DAADC}"/>
              </a:ext>
            </a:extLst>
          </p:cNvPr>
          <p:cNvSpPr txBox="1">
            <a:spLocks noChangeArrowheads="1"/>
          </p:cNvSpPr>
          <p:nvPr/>
        </p:nvSpPr>
        <p:spPr bwMode="auto">
          <a:xfrm>
            <a:off x="6827082" y="5351998"/>
            <a:ext cx="2928958" cy="307777"/>
          </a:xfrm>
          <a:prstGeom prst="rect">
            <a:avLst/>
          </a:prstGeom>
          <a:noFill/>
          <a:ln w="19050" algn="ctr">
            <a:noFill/>
            <a:miter lim="800000"/>
            <a:headEnd/>
            <a:tailEnd type="none" w="med" len="lg"/>
          </a:ln>
          <a:effectLst/>
        </p:spPr>
        <p:txBody>
          <a:bodyPr wrap="square" lIns="0" tIns="0" rIns="0" bIns="0">
            <a:spAutoFit/>
          </a:bodyPr>
          <a:lstStyle/>
          <a:p>
            <a:pPr algn="l">
              <a:spcBef>
                <a:spcPct val="50000"/>
              </a:spcBef>
            </a:pPr>
            <a:r>
              <a:rPr lang="en-US" altLang="zh-CN" sz="2000">
                <a:solidFill>
                  <a:srgbClr val="CC00CC"/>
                </a:solidFill>
                <a:latin typeface="Consolas" pitchFamily="49" charset="0"/>
                <a:cs typeface="Consolas" pitchFamily="49" charset="0"/>
              </a:rPr>
              <a:t>U={0</a:t>
            </a:r>
            <a:r>
              <a:rPr lang="zh-CN" altLang="en-US" sz="2000">
                <a:solidFill>
                  <a:srgbClr val="CC00CC"/>
                </a:solidFill>
                <a:latin typeface="Consolas" pitchFamily="49" charset="0"/>
                <a:cs typeface="Consolas" pitchFamily="49" charset="0"/>
              </a:rPr>
              <a:t>，</a:t>
            </a:r>
            <a:r>
              <a:rPr lang="en-US" altLang="zh-CN" sz="2000">
                <a:solidFill>
                  <a:srgbClr val="CC00CC"/>
                </a:solidFill>
                <a:latin typeface="Consolas" pitchFamily="49" charset="0"/>
                <a:cs typeface="Consolas" pitchFamily="49" charset="0"/>
              </a:rPr>
              <a:t>5</a:t>
            </a:r>
            <a:r>
              <a:rPr lang="zh-CN" altLang="en-US" sz="2000">
                <a:solidFill>
                  <a:srgbClr val="CC00CC"/>
                </a:solidFill>
                <a:latin typeface="Consolas" pitchFamily="49" charset="0"/>
                <a:cs typeface="Consolas" pitchFamily="49" charset="0"/>
              </a:rPr>
              <a:t>，</a:t>
            </a:r>
            <a:r>
              <a:rPr lang="en-US" altLang="zh-CN" sz="2000">
                <a:solidFill>
                  <a:srgbClr val="CC00CC"/>
                </a:solidFill>
                <a:latin typeface="Consolas" pitchFamily="49" charset="0"/>
                <a:cs typeface="Consolas" pitchFamily="49" charset="0"/>
              </a:rPr>
              <a:t>4</a:t>
            </a:r>
            <a:r>
              <a:rPr lang="zh-CN" altLang="en-US" sz="2000">
                <a:solidFill>
                  <a:srgbClr val="CC00CC"/>
                </a:solidFill>
                <a:latin typeface="Consolas" pitchFamily="49" charset="0"/>
                <a:cs typeface="Consolas" pitchFamily="49" charset="0"/>
              </a:rPr>
              <a:t>，</a:t>
            </a:r>
            <a:r>
              <a:rPr lang="en-US" altLang="zh-CN" sz="2000">
                <a:solidFill>
                  <a:srgbClr val="CC00CC"/>
                </a:solidFill>
                <a:latin typeface="Consolas" pitchFamily="49" charset="0"/>
                <a:cs typeface="Consolas" pitchFamily="49" charset="0"/>
              </a:rPr>
              <a:t>3}</a:t>
            </a:r>
            <a:endParaRPr lang="en-US" altLang="zh-CN" sz="2000" dirty="0">
              <a:solidFill>
                <a:srgbClr val="CC00CC"/>
              </a:solidFill>
              <a:latin typeface="Consolas" pitchFamily="49" charset="0"/>
              <a:cs typeface="Consolas" pitchFamily="49" charset="0"/>
            </a:endParaRPr>
          </a:p>
        </p:txBody>
      </p:sp>
      <p:sp>
        <p:nvSpPr>
          <p:cNvPr id="85" name="Oval 31">
            <a:extLst>
              <a:ext uri="{FF2B5EF4-FFF2-40B4-BE49-F238E27FC236}">
                <a16:creationId xmlns:a16="http://schemas.microsoft.com/office/drawing/2014/main" id="{A0CDD515-DB85-8408-8A78-860A1CED7FC1}"/>
              </a:ext>
            </a:extLst>
          </p:cNvPr>
          <p:cNvSpPr>
            <a:spLocks noChangeArrowheads="1"/>
          </p:cNvSpPr>
          <p:nvPr/>
        </p:nvSpPr>
        <p:spPr bwMode="auto">
          <a:xfrm>
            <a:off x="7709738" y="2764358"/>
            <a:ext cx="360363" cy="431800"/>
          </a:xfrm>
          <a:prstGeom prst="ellipse">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anchor="ctr"/>
          <a:lstStyle/>
          <a:p>
            <a:r>
              <a:rPr lang="en-US" altLang="zh-CN" sz="2000" dirty="0">
                <a:solidFill>
                  <a:srgbClr val="FF00FF"/>
                </a:solidFill>
                <a:latin typeface="Consolas" pitchFamily="49" charset="0"/>
                <a:cs typeface="Consolas" pitchFamily="49" charset="0"/>
              </a:rPr>
              <a:t>0</a:t>
            </a:r>
          </a:p>
        </p:txBody>
      </p:sp>
      <p:sp>
        <p:nvSpPr>
          <p:cNvPr id="86" name="Oval 33">
            <a:extLst>
              <a:ext uri="{FF2B5EF4-FFF2-40B4-BE49-F238E27FC236}">
                <a16:creationId xmlns:a16="http://schemas.microsoft.com/office/drawing/2014/main" id="{1C8982A3-3859-A944-25FE-C1B04B92C863}"/>
              </a:ext>
            </a:extLst>
          </p:cNvPr>
          <p:cNvSpPr>
            <a:spLocks noChangeArrowheads="1"/>
          </p:cNvSpPr>
          <p:nvPr/>
        </p:nvSpPr>
        <p:spPr bwMode="auto">
          <a:xfrm>
            <a:off x="7125534" y="3637486"/>
            <a:ext cx="360363" cy="431800"/>
          </a:xfrm>
          <a:prstGeom prst="ellipse">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anchor="ctr"/>
          <a:lstStyle/>
          <a:p>
            <a:r>
              <a:rPr lang="en-US" altLang="zh-CN" sz="2000" dirty="0">
                <a:solidFill>
                  <a:srgbClr val="FF00FF"/>
                </a:solidFill>
                <a:latin typeface="Consolas" pitchFamily="49" charset="0"/>
                <a:ea typeface="黑体" pitchFamily="49" charset="-122"/>
                <a:cs typeface="Consolas" pitchFamily="49" charset="0"/>
              </a:rPr>
              <a:t>5</a:t>
            </a:r>
          </a:p>
        </p:txBody>
      </p:sp>
      <p:sp>
        <p:nvSpPr>
          <p:cNvPr id="87" name="任意多边形 46">
            <a:extLst>
              <a:ext uri="{FF2B5EF4-FFF2-40B4-BE49-F238E27FC236}">
                <a16:creationId xmlns:a16="http://schemas.microsoft.com/office/drawing/2014/main" id="{0437139B-2EBC-6E5B-0026-C76A0487133A}"/>
              </a:ext>
            </a:extLst>
          </p:cNvPr>
          <p:cNvSpPr/>
          <p:nvPr/>
        </p:nvSpPr>
        <p:spPr bwMode="auto">
          <a:xfrm>
            <a:off x="2820231" y="2840027"/>
            <a:ext cx="2456891" cy="2293383"/>
          </a:xfrm>
          <a:custGeom>
            <a:avLst/>
            <a:gdLst>
              <a:gd name="connsiteX0" fmla="*/ 791633 w 1426633"/>
              <a:gd name="connsiteY0" fmla="*/ 101600 h 1769533"/>
              <a:gd name="connsiteX1" fmla="*/ 461433 w 1426633"/>
              <a:gd name="connsiteY1" fmla="*/ 292100 h 1769533"/>
              <a:gd name="connsiteX2" fmla="*/ 80433 w 1426633"/>
              <a:gd name="connsiteY2" fmla="*/ 1054100 h 1769533"/>
              <a:gd name="connsiteX3" fmla="*/ 80433 w 1426633"/>
              <a:gd name="connsiteY3" fmla="*/ 1562100 h 1769533"/>
              <a:gd name="connsiteX4" fmla="*/ 563033 w 1426633"/>
              <a:gd name="connsiteY4" fmla="*/ 1549400 h 1769533"/>
              <a:gd name="connsiteX5" fmla="*/ 1388533 w 1426633"/>
              <a:gd name="connsiteY5" fmla="*/ 241300 h 1769533"/>
              <a:gd name="connsiteX6" fmla="*/ 791633 w 1426633"/>
              <a:gd name="connsiteY6" fmla="*/ 101600 h 1769533"/>
              <a:gd name="connsiteX0" fmla="*/ 910691 w 1614456"/>
              <a:gd name="connsiteY0" fmla="*/ 220659 h 2602948"/>
              <a:gd name="connsiteX1" fmla="*/ 580491 w 1614456"/>
              <a:gd name="connsiteY1" fmla="*/ 411159 h 2602948"/>
              <a:gd name="connsiteX2" fmla="*/ 199491 w 1614456"/>
              <a:gd name="connsiteY2" fmla="*/ 1173159 h 2602948"/>
              <a:gd name="connsiteX3" fmla="*/ 199491 w 1614456"/>
              <a:gd name="connsiteY3" fmla="*/ 1681159 h 2602948"/>
              <a:gd name="connsiteX4" fmla="*/ 1396439 w 1614456"/>
              <a:gd name="connsiteY4" fmla="*/ 2382815 h 2602948"/>
              <a:gd name="connsiteX5" fmla="*/ 1507591 w 1614456"/>
              <a:gd name="connsiteY5" fmla="*/ 360359 h 2602948"/>
              <a:gd name="connsiteX6" fmla="*/ 910691 w 1614456"/>
              <a:gd name="connsiteY6" fmla="*/ 220659 h 2602948"/>
              <a:gd name="connsiteX0" fmla="*/ 910691 w 1563385"/>
              <a:gd name="connsiteY0" fmla="*/ 19050 h 2265873"/>
              <a:gd name="connsiteX1" fmla="*/ 580491 w 1563385"/>
              <a:gd name="connsiteY1" fmla="*/ 209550 h 2265873"/>
              <a:gd name="connsiteX2" fmla="*/ 199491 w 1563385"/>
              <a:gd name="connsiteY2" fmla="*/ 971550 h 2265873"/>
              <a:gd name="connsiteX3" fmla="*/ 199491 w 1563385"/>
              <a:gd name="connsiteY3" fmla="*/ 1479550 h 2265873"/>
              <a:gd name="connsiteX4" fmla="*/ 1396439 w 1563385"/>
              <a:gd name="connsiteY4" fmla="*/ 2181206 h 2265873"/>
              <a:gd name="connsiteX5" fmla="*/ 1201168 w 1563385"/>
              <a:gd name="connsiteY5" fmla="*/ 971550 h 2265873"/>
              <a:gd name="connsiteX6" fmla="*/ 1507591 w 1563385"/>
              <a:gd name="connsiteY6" fmla="*/ 158750 h 2265873"/>
              <a:gd name="connsiteX7" fmla="*/ 910691 w 1563385"/>
              <a:gd name="connsiteY7" fmla="*/ 19050 h 2265873"/>
              <a:gd name="connsiteX0" fmla="*/ 812800 w 1458113"/>
              <a:gd name="connsiteY0" fmla="*/ 19050 h 2346306"/>
              <a:gd name="connsiteX1" fmla="*/ 482600 w 1458113"/>
              <a:gd name="connsiteY1" fmla="*/ 209550 h 2346306"/>
              <a:gd name="connsiteX2" fmla="*/ 101600 w 1458113"/>
              <a:gd name="connsiteY2" fmla="*/ 971550 h 2346306"/>
              <a:gd name="connsiteX3" fmla="*/ 101600 w 1458113"/>
              <a:gd name="connsiteY3" fmla="*/ 1479550 h 2346306"/>
              <a:gd name="connsiteX4" fmla="*/ 711200 w 1458113"/>
              <a:gd name="connsiteY4" fmla="*/ 1962150 h 2346306"/>
              <a:gd name="connsiteX5" fmla="*/ 1298548 w 1458113"/>
              <a:gd name="connsiteY5" fmla="*/ 2181206 h 2346306"/>
              <a:gd name="connsiteX6" fmla="*/ 1103277 w 1458113"/>
              <a:gd name="connsiteY6" fmla="*/ 971550 h 2346306"/>
              <a:gd name="connsiteX7" fmla="*/ 1409700 w 1458113"/>
              <a:gd name="connsiteY7" fmla="*/ 158750 h 2346306"/>
              <a:gd name="connsiteX8" fmla="*/ 812800 w 1458113"/>
              <a:gd name="connsiteY8" fmla="*/ 19050 h 2346306"/>
              <a:gd name="connsiteX0" fmla="*/ 812800 w 1458113"/>
              <a:gd name="connsiteY0" fmla="*/ 19050 h 2206606"/>
              <a:gd name="connsiteX1" fmla="*/ 482600 w 1458113"/>
              <a:gd name="connsiteY1" fmla="*/ 209550 h 2206606"/>
              <a:gd name="connsiteX2" fmla="*/ 101600 w 1458113"/>
              <a:gd name="connsiteY2" fmla="*/ 971550 h 2206606"/>
              <a:gd name="connsiteX3" fmla="*/ 101600 w 1458113"/>
              <a:gd name="connsiteY3" fmla="*/ 1479550 h 2206606"/>
              <a:gd name="connsiteX4" fmla="*/ 711200 w 1458113"/>
              <a:gd name="connsiteY4" fmla="*/ 1962150 h 2206606"/>
              <a:gd name="connsiteX5" fmla="*/ 1298548 w 1458113"/>
              <a:gd name="connsiteY5" fmla="*/ 2181206 h 2206606"/>
              <a:gd name="connsiteX6" fmla="*/ 1387444 w 1458113"/>
              <a:gd name="connsiteY6" fmla="*/ 1809749 h 2206606"/>
              <a:gd name="connsiteX7" fmla="*/ 1103277 w 1458113"/>
              <a:gd name="connsiteY7" fmla="*/ 971550 h 2206606"/>
              <a:gd name="connsiteX8" fmla="*/ 1409700 w 1458113"/>
              <a:gd name="connsiteY8" fmla="*/ 158750 h 2206606"/>
              <a:gd name="connsiteX9" fmla="*/ 812800 w 1458113"/>
              <a:gd name="connsiteY9" fmla="*/ 19050 h 2206606"/>
              <a:gd name="connsiteX0" fmla="*/ 812800 w 1705709"/>
              <a:gd name="connsiteY0" fmla="*/ 19050 h 2206606"/>
              <a:gd name="connsiteX1" fmla="*/ 482600 w 1705709"/>
              <a:gd name="connsiteY1" fmla="*/ 209550 h 2206606"/>
              <a:gd name="connsiteX2" fmla="*/ 101600 w 1705709"/>
              <a:gd name="connsiteY2" fmla="*/ 971550 h 2206606"/>
              <a:gd name="connsiteX3" fmla="*/ 101600 w 1705709"/>
              <a:gd name="connsiteY3" fmla="*/ 1479550 h 2206606"/>
              <a:gd name="connsiteX4" fmla="*/ 711200 w 1705709"/>
              <a:gd name="connsiteY4" fmla="*/ 1962150 h 2206606"/>
              <a:gd name="connsiteX5" fmla="*/ 1298548 w 1705709"/>
              <a:gd name="connsiteY5" fmla="*/ 2181206 h 2206606"/>
              <a:gd name="connsiteX6" fmla="*/ 1673164 w 1705709"/>
              <a:gd name="connsiteY6" fmla="*/ 1809749 h 2206606"/>
              <a:gd name="connsiteX7" fmla="*/ 1103277 w 1705709"/>
              <a:gd name="connsiteY7" fmla="*/ 971550 h 2206606"/>
              <a:gd name="connsiteX8" fmla="*/ 1409700 w 1705709"/>
              <a:gd name="connsiteY8" fmla="*/ 158750 h 2206606"/>
              <a:gd name="connsiteX9" fmla="*/ 812800 w 1705709"/>
              <a:gd name="connsiteY9" fmla="*/ 19050 h 2206606"/>
              <a:gd name="connsiteX0" fmla="*/ 812800 w 2370636"/>
              <a:gd name="connsiteY0" fmla="*/ 19050 h 2252659"/>
              <a:gd name="connsiteX1" fmla="*/ 482600 w 2370636"/>
              <a:gd name="connsiteY1" fmla="*/ 209550 h 2252659"/>
              <a:gd name="connsiteX2" fmla="*/ 101600 w 2370636"/>
              <a:gd name="connsiteY2" fmla="*/ 971550 h 2252659"/>
              <a:gd name="connsiteX3" fmla="*/ 101600 w 2370636"/>
              <a:gd name="connsiteY3" fmla="*/ 1479550 h 2252659"/>
              <a:gd name="connsiteX4" fmla="*/ 711200 w 2370636"/>
              <a:gd name="connsiteY4" fmla="*/ 1962150 h 2252659"/>
              <a:gd name="connsiteX5" fmla="*/ 1298548 w 2370636"/>
              <a:gd name="connsiteY5" fmla="*/ 2181206 h 2252659"/>
              <a:gd name="connsiteX6" fmla="*/ 2308200 w 2370636"/>
              <a:gd name="connsiteY6" fmla="*/ 2190749 h 2252659"/>
              <a:gd name="connsiteX7" fmla="*/ 1673164 w 2370636"/>
              <a:gd name="connsiteY7" fmla="*/ 1809749 h 2252659"/>
              <a:gd name="connsiteX8" fmla="*/ 1103277 w 2370636"/>
              <a:gd name="connsiteY8" fmla="*/ 971550 h 2252659"/>
              <a:gd name="connsiteX9" fmla="*/ 1409700 w 2370636"/>
              <a:gd name="connsiteY9" fmla="*/ 158750 h 2252659"/>
              <a:gd name="connsiteX10" fmla="*/ 812800 w 2370636"/>
              <a:gd name="connsiteY10" fmla="*/ 19050 h 2252659"/>
              <a:gd name="connsiteX0" fmla="*/ 812800 w 2460599"/>
              <a:gd name="connsiteY0" fmla="*/ 19050 h 2279650"/>
              <a:gd name="connsiteX1" fmla="*/ 482600 w 2460599"/>
              <a:gd name="connsiteY1" fmla="*/ 209550 h 2279650"/>
              <a:gd name="connsiteX2" fmla="*/ 101600 w 2460599"/>
              <a:gd name="connsiteY2" fmla="*/ 971550 h 2279650"/>
              <a:gd name="connsiteX3" fmla="*/ 101600 w 2460599"/>
              <a:gd name="connsiteY3" fmla="*/ 1479550 h 2279650"/>
              <a:gd name="connsiteX4" fmla="*/ 711200 w 2460599"/>
              <a:gd name="connsiteY4" fmla="*/ 1962150 h 2279650"/>
              <a:gd name="connsiteX5" fmla="*/ 1298548 w 2460599"/>
              <a:gd name="connsiteY5" fmla="*/ 2181206 h 2279650"/>
              <a:gd name="connsiteX6" fmla="*/ 2308200 w 2460599"/>
              <a:gd name="connsiteY6" fmla="*/ 2190749 h 2279650"/>
              <a:gd name="connsiteX7" fmla="*/ 2212943 w 2460599"/>
              <a:gd name="connsiteY7" fmla="*/ 1647797 h 2279650"/>
              <a:gd name="connsiteX8" fmla="*/ 1673164 w 2460599"/>
              <a:gd name="connsiteY8" fmla="*/ 1809749 h 2279650"/>
              <a:gd name="connsiteX9" fmla="*/ 1103277 w 2460599"/>
              <a:gd name="connsiteY9" fmla="*/ 971550 h 2279650"/>
              <a:gd name="connsiteX10" fmla="*/ 1409700 w 2460599"/>
              <a:gd name="connsiteY10" fmla="*/ 158750 h 2279650"/>
              <a:gd name="connsiteX11" fmla="*/ 812800 w 2460599"/>
              <a:gd name="connsiteY11" fmla="*/ 19050 h 2279650"/>
              <a:gd name="connsiteX0" fmla="*/ 812800 w 2460599"/>
              <a:gd name="connsiteY0" fmla="*/ 19050 h 2279650"/>
              <a:gd name="connsiteX1" fmla="*/ 482600 w 2460599"/>
              <a:gd name="connsiteY1" fmla="*/ 209550 h 2279650"/>
              <a:gd name="connsiteX2" fmla="*/ 101600 w 2460599"/>
              <a:gd name="connsiteY2" fmla="*/ 971550 h 2279650"/>
              <a:gd name="connsiteX3" fmla="*/ 101600 w 2460599"/>
              <a:gd name="connsiteY3" fmla="*/ 1479550 h 2279650"/>
              <a:gd name="connsiteX4" fmla="*/ 711200 w 2460599"/>
              <a:gd name="connsiteY4" fmla="*/ 1962150 h 2279650"/>
              <a:gd name="connsiteX5" fmla="*/ 1298548 w 2460599"/>
              <a:gd name="connsiteY5" fmla="*/ 2181206 h 2279650"/>
              <a:gd name="connsiteX6" fmla="*/ 2308200 w 2460599"/>
              <a:gd name="connsiteY6" fmla="*/ 2190749 h 2279650"/>
              <a:gd name="connsiteX7" fmla="*/ 2212943 w 2460599"/>
              <a:gd name="connsiteY7" fmla="*/ 1647797 h 2279650"/>
              <a:gd name="connsiteX8" fmla="*/ 1673164 w 2460599"/>
              <a:gd name="connsiteY8" fmla="*/ 1809749 h 2279650"/>
              <a:gd name="connsiteX9" fmla="*/ 1103277 w 2460599"/>
              <a:gd name="connsiteY9" fmla="*/ 971550 h 2279650"/>
              <a:gd name="connsiteX10" fmla="*/ 1409700 w 2460599"/>
              <a:gd name="connsiteY10" fmla="*/ 158750 h 2279650"/>
              <a:gd name="connsiteX11" fmla="*/ 812800 w 2460599"/>
              <a:gd name="connsiteY11" fmla="*/ 19050 h 2279650"/>
              <a:gd name="connsiteX0" fmla="*/ 812800 w 2460599"/>
              <a:gd name="connsiteY0" fmla="*/ 19050 h 2279650"/>
              <a:gd name="connsiteX1" fmla="*/ 482600 w 2460599"/>
              <a:gd name="connsiteY1" fmla="*/ 209550 h 2279650"/>
              <a:gd name="connsiteX2" fmla="*/ 101600 w 2460599"/>
              <a:gd name="connsiteY2" fmla="*/ 971550 h 2279650"/>
              <a:gd name="connsiteX3" fmla="*/ 101600 w 2460599"/>
              <a:gd name="connsiteY3" fmla="*/ 1479550 h 2279650"/>
              <a:gd name="connsiteX4" fmla="*/ 711200 w 2460599"/>
              <a:gd name="connsiteY4" fmla="*/ 1962150 h 2279650"/>
              <a:gd name="connsiteX5" fmla="*/ 1298548 w 2460599"/>
              <a:gd name="connsiteY5" fmla="*/ 2181206 h 2279650"/>
              <a:gd name="connsiteX6" fmla="*/ 2308200 w 2460599"/>
              <a:gd name="connsiteY6" fmla="*/ 2190749 h 2279650"/>
              <a:gd name="connsiteX7" fmla="*/ 2212943 w 2460599"/>
              <a:gd name="connsiteY7" fmla="*/ 1647797 h 2279650"/>
              <a:gd name="connsiteX8" fmla="*/ 1673164 w 2460599"/>
              <a:gd name="connsiteY8" fmla="*/ 1666849 h 2279650"/>
              <a:gd name="connsiteX9" fmla="*/ 1103277 w 2460599"/>
              <a:gd name="connsiteY9" fmla="*/ 971550 h 2279650"/>
              <a:gd name="connsiteX10" fmla="*/ 1409700 w 2460599"/>
              <a:gd name="connsiteY10" fmla="*/ 158750 h 2279650"/>
              <a:gd name="connsiteX11" fmla="*/ 812800 w 2460599"/>
              <a:gd name="connsiteY11" fmla="*/ 19050 h 2279650"/>
              <a:gd name="connsiteX0" fmla="*/ 812800 w 2460599"/>
              <a:gd name="connsiteY0" fmla="*/ 19050 h 2293383"/>
              <a:gd name="connsiteX1" fmla="*/ 482600 w 2460599"/>
              <a:gd name="connsiteY1" fmla="*/ 209550 h 2293383"/>
              <a:gd name="connsiteX2" fmla="*/ 101600 w 2460599"/>
              <a:gd name="connsiteY2" fmla="*/ 971550 h 2293383"/>
              <a:gd name="connsiteX3" fmla="*/ 101600 w 2460599"/>
              <a:gd name="connsiteY3" fmla="*/ 1479550 h 2293383"/>
              <a:gd name="connsiteX4" fmla="*/ 711200 w 2460599"/>
              <a:gd name="connsiteY4" fmla="*/ 2176440 h 2293383"/>
              <a:gd name="connsiteX5" fmla="*/ 1298548 w 2460599"/>
              <a:gd name="connsiteY5" fmla="*/ 2181206 h 2293383"/>
              <a:gd name="connsiteX6" fmla="*/ 2308200 w 2460599"/>
              <a:gd name="connsiteY6" fmla="*/ 2190749 h 2293383"/>
              <a:gd name="connsiteX7" fmla="*/ 2212943 w 2460599"/>
              <a:gd name="connsiteY7" fmla="*/ 1647797 h 2293383"/>
              <a:gd name="connsiteX8" fmla="*/ 1673164 w 2460599"/>
              <a:gd name="connsiteY8" fmla="*/ 1666849 h 2293383"/>
              <a:gd name="connsiteX9" fmla="*/ 1103277 w 2460599"/>
              <a:gd name="connsiteY9" fmla="*/ 971550 h 2293383"/>
              <a:gd name="connsiteX10" fmla="*/ 1409700 w 2460599"/>
              <a:gd name="connsiteY10" fmla="*/ 158750 h 2293383"/>
              <a:gd name="connsiteX11" fmla="*/ 812800 w 2460599"/>
              <a:gd name="connsiteY11" fmla="*/ 19050 h 2293383"/>
              <a:gd name="connsiteX0" fmla="*/ 812800 w 2460599"/>
              <a:gd name="connsiteY0" fmla="*/ 19050 h 2293383"/>
              <a:gd name="connsiteX1" fmla="*/ 482600 w 2460599"/>
              <a:gd name="connsiteY1" fmla="*/ 209550 h 2293383"/>
              <a:gd name="connsiteX2" fmla="*/ 101600 w 2460599"/>
              <a:gd name="connsiteY2" fmla="*/ 971550 h 2293383"/>
              <a:gd name="connsiteX3" fmla="*/ 101600 w 2460599"/>
              <a:gd name="connsiteY3" fmla="*/ 1479550 h 2293383"/>
              <a:gd name="connsiteX4" fmla="*/ 711200 w 2460599"/>
              <a:gd name="connsiteY4" fmla="*/ 2176440 h 2293383"/>
              <a:gd name="connsiteX5" fmla="*/ 1298548 w 2460599"/>
              <a:gd name="connsiteY5" fmla="*/ 2181206 h 2293383"/>
              <a:gd name="connsiteX6" fmla="*/ 2308200 w 2460599"/>
              <a:gd name="connsiteY6" fmla="*/ 2190749 h 2293383"/>
              <a:gd name="connsiteX7" fmla="*/ 2212943 w 2460599"/>
              <a:gd name="connsiteY7" fmla="*/ 1647797 h 2293383"/>
              <a:gd name="connsiteX8" fmla="*/ 1673164 w 2460599"/>
              <a:gd name="connsiteY8" fmla="*/ 1666849 h 2293383"/>
              <a:gd name="connsiteX9" fmla="*/ 1103277 w 2460599"/>
              <a:gd name="connsiteY9" fmla="*/ 971550 h 2293383"/>
              <a:gd name="connsiteX10" fmla="*/ 1409700 w 2460599"/>
              <a:gd name="connsiteY10" fmla="*/ 158750 h 2293383"/>
              <a:gd name="connsiteX11" fmla="*/ 812800 w 2460599"/>
              <a:gd name="connsiteY11" fmla="*/ 19050 h 2293383"/>
              <a:gd name="connsiteX0" fmla="*/ 812800 w 2456891"/>
              <a:gd name="connsiteY0" fmla="*/ 19050 h 2293383"/>
              <a:gd name="connsiteX1" fmla="*/ 482600 w 2456891"/>
              <a:gd name="connsiteY1" fmla="*/ 209550 h 2293383"/>
              <a:gd name="connsiteX2" fmla="*/ 101600 w 2456891"/>
              <a:gd name="connsiteY2" fmla="*/ 971550 h 2293383"/>
              <a:gd name="connsiteX3" fmla="*/ 101600 w 2456891"/>
              <a:gd name="connsiteY3" fmla="*/ 1479550 h 2293383"/>
              <a:gd name="connsiteX4" fmla="*/ 711200 w 2456891"/>
              <a:gd name="connsiteY4" fmla="*/ 2176440 h 2293383"/>
              <a:gd name="connsiteX5" fmla="*/ 1298548 w 2456891"/>
              <a:gd name="connsiteY5" fmla="*/ 2181206 h 2293383"/>
              <a:gd name="connsiteX6" fmla="*/ 1320799 w 2456891"/>
              <a:gd name="connsiteY6" fmla="*/ 2190748 h 2293383"/>
              <a:gd name="connsiteX7" fmla="*/ 2308200 w 2456891"/>
              <a:gd name="connsiteY7" fmla="*/ 2190749 h 2293383"/>
              <a:gd name="connsiteX8" fmla="*/ 2212943 w 2456891"/>
              <a:gd name="connsiteY8" fmla="*/ 1647797 h 2293383"/>
              <a:gd name="connsiteX9" fmla="*/ 1673164 w 2456891"/>
              <a:gd name="connsiteY9" fmla="*/ 1666849 h 2293383"/>
              <a:gd name="connsiteX10" fmla="*/ 1103277 w 2456891"/>
              <a:gd name="connsiteY10" fmla="*/ 971550 h 2293383"/>
              <a:gd name="connsiteX11" fmla="*/ 1409700 w 2456891"/>
              <a:gd name="connsiteY11" fmla="*/ 158750 h 2293383"/>
              <a:gd name="connsiteX12" fmla="*/ 812800 w 2456891"/>
              <a:gd name="connsiteY12" fmla="*/ 19050 h 2293383"/>
              <a:gd name="connsiteX0" fmla="*/ 812800 w 2456891"/>
              <a:gd name="connsiteY0" fmla="*/ 19050 h 2293383"/>
              <a:gd name="connsiteX1" fmla="*/ 482600 w 2456891"/>
              <a:gd name="connsiteY1" fmla="*/ 209550 h 2293383"/>
              <a:gd name="connsiteX2" fmla="*/ 101600 w 2456891"/>
              <a:gd name="connsiteY2" fmla="*/ 971550 h 2293383"/>
              <a:gd name="connsiteX3" fmla="*/ 101600 w 2456891"/>
              <a:gd name="connsiteY3" fmla="*/ 1479550 h 2293383"/>
              <a:gd name="connsiteX4" fmla="*/ 711200 w 2456891"/>
              <a:gd name="connsiteY4" fmla="*/ 2176440 h 2293383"/>
              <a:gd name="connsiteX5" fmla="*/ 1298548 w 2456891"/>
              <a:gd name="connsiteY5" fmla="*/ 2181206 h 2293383"/>
              <a:gd name="connsiteX6" fmla="*/ 1320799 w 2456891"/>
              <a:gd name="connsiteY6" fmla="*/ 2190748 h 2293383"/>
              <a:gd name="connsiteX7" fmla="*/ 2308200 w 2456891"/>
              <a:gd name="connsiteY7" fmla="*/ 2190749 h 2293383"/>
              <a:gd name="connsiteX8" fmla="*/ 2212943 w 2456891"/>
              <a:gd name="connsiteY8" fmla="*/ 1647797 h 2293383"/>
              <a:gd name="connsiteX9" fmla="*/ 1673164 w 2456891"/>
              <a:gd name="connsiteY9" fmla="*/ 1666849 h 2293383"/>
              <a:gd name="connsiteX10" fmla="*/ 1103277 w 2456891"/>
              <a:gd name="connsiteY10" fmla="*/ 971550 h 2293383"/>
              <a:gd name="connsiteX11" fmla="*/ 1409700 w 2456891"/>
              <a:gd name="connsiteY11" fmla="*/ 158750 h 2293383"/>
              <a:gd name="connsiteX12" fmla="*/ 812800 w 2456891"/>
              <a:gd name="connsiteY12" fmla="*/ 19050 h 2293383"/>
              <a:gd name="connsiteX0" fmla="*/ 812800 w 2456891"/>
              <a:gd name="connsiteY0" fmla="*/ 19050 h 2293383"/>
              <a:gd name="connsiteX1" fmla="*/ 482600 w 2456891"/>
              <a:gd name="connsiteY1" fmla="*/ 209550 h 2293383"/>
              <a:gd name="connsiteX2" fmla="*/ 101600 w 2456891"/>
              <a:gd name="connsiteY2" fmla="*/ 971550 h 2293383"/>
              <a:gd name="connsiteX3" fmla="*/ 101600 w 2456891"/>
              <a:gd name="connsiteY3" fmla="*/ 1479550 h 2293383"/>
              <a:gd name="connsiteX4" fmla="*/ 711200 w 2456891"/>
              <a:gd name="connsiteY4" fmla="*/ 2176440 h 2293383"/>
              <a:gd name="connsiteX5" fmla="*/ 1298548 w 2456891"/>
              <a:gd name="connsiteY5" fmla="*/ 2181206 h 2293383"/>
              <a:gd name="connsiteX6" fmla="*/ 1320799 w 2456891"/>
              <a:gd name="connsiteY6" fmla="*/ 2190748 h 2293383"/>
              <a:gd name="connsiteX7" fmla="*/ 2308200 w 2456891"/>
              <a:gd name="connsiteY7" fmla="*/ 2190749 h 2293383"/>
              <a:gd name="connsiteX8" fmla="*/ 2212943 w 2456891"/>
              <a:gd name="connsiteY8" fmla="*/ 1647797 h 2293383"/>
              <a:gd name="connsiteX9" fmla="*/ 1673164 w 2456891"/>
              <a:gd name="connsiteY9" fmla="*/ 1666849 h 2293383"/>
              <a:gd name="connsiteX10" fmla="*/ 1103277 w 2456891"/>
              <a:gd name="connsiteY10" fmla="*/ 971550 h 2293383"/>
              <a:gd name="connsiteX11" fmla="*/ 1409700 w 2456891"/>
              <a:gd name="connsiteY11" fmla="*/ 158750 h 2293383"/>
              <a:gd name="connsiteX12" fmla="*/ 812800 w 2456891"/>
              <a:gd name="connsiteY12" fmla="*/ 19050 h 22933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456891" h="2293383">
                <a:moveTo>
                  <a:pt x="812800" y="19050"/>
                </a:moveTo>
                <a:cubicBezTo>
                  <a:pt x="658283" y="27517"/>
                  <a:pt x="601133" y="50800"/>
                  <a:pt x="482600" y="209550"/>
                </a:cubicBezTo>
                <a:cubicBezTo>
                  <a:pt x="364067" y="368300"/>
                  <a:pt x="165100" y="759883"/>
                  <a:pt x="101600" y="971550"/>
                </a:cubicBezTo>
                <a:cubicBezTo>
                  <a:pt x="38100" y="1183217"/>
                  <a:pt x="0" y="1278735"/>
                  <a:pt x="101600" y="1479550"/>
                </a:cubicBezTo>
                <a:cubicBezTo>
                  <a:pt x="203200" y="1680365"/>
                  <a:pt x="511709" y="2059497"/>
                  <a:pt x="711200" y="2176440"/>
                </a:cubicBezTo>
                <a:cubicBezTo>
                  <a:pt x="910691" y="2293383"/>
                  <a:pt x="1196948" y="2178821"/>
                  <a:pt x="1298548" y="2181206"/>
                </a:cubicBezTo>
                <a:cubicBezTo>
                  <a:pt x="1400148" y="2183591"/>
                  <a:pt x="1152524" y="2189158"/>
                  <a:pt x="1320799" y="2190748"/>
                </a:cubicBezTo>
                <a:cubicBezTo>
                  <a:pt x="1489074" y="2192338"/>
                  <a:pt x="2159509" y="2281241"/>
                  <a:pt x="2308200" y="2190749"/>
                </a:cubicBezTo>
                <a:cubicBezTo>
                  <a:pt x="2456891" y="2100257"/>
                  <a:pt x="2318782" y="1735114"/>
                  <a:pt x="2212943" y="1647797"/>
                </a:cubicBezTo>
                <a:cubicBezTo>
                  <a:pt x="2107104" y="1560480"/>
                  <a:pt x="1858108" y="1779557"/>
                  <a:pt x="1673164" y="1666849"/>
                </a:cubicBezTo>
                <a:cubicBezTo>
                  <a:pt x="1488220" y="1554141"/>
                  <a:pt x="1147188" y="1222900"/>
                  <a:pt x="1103277" y="971550"/>
                </a:cubicBezTo>
                <a:cubicBezTo>
                  <a:pt x="1059366" y="720200"/>
                  <a:pt x="1458113" y="317500"/>
                  <a:pt x="1409700" y="158750"/>
                </a:cubicBezTo>
                <a:cubicBezTo>
                  <a:pt x="1361287" y="0"/>
                  <a:pt x="967317" y="10583"/>
                  <a:pt x="812800" y="19050"/>
                </a:cubicBezTo>
                <a:close/>
              </a:path>
            </a:pathLst>
          </a:custGeom>
          <a:solidFill>
            <a:schemeClr val="accent6">
              <a:lumMod val="40000"/>
              <a:lumOff val="60000"/>
              <a:alpha val="49000"/>
            </a:schemeClr>
          </a:solidFill>
          <a:ln w="19050" cap="flat" cmpd="sng">
            <a:solidFill>
              <a:srgbClr val="C00000"/>
            </a:solidFill>
            <a:prstDash val="dash"/>
            <a:round/>
            <a:headEnd type="none" w="med" len="med"/>
            <a:tailEnd type="none" w="med" len="lg"/>
          </a:ln>
          <a:effectLst/>
        </p:spPr>
        <p:txBody>
          <a:bodyPr wrap="none" rtlCol="0" anchor="ctr"/>
          <a:lstStyle/>
          <a:p>
            <a:pPr algn="ctr"/>
            <a:endParaRPr lang="zh-CN" altLang="en-US">
              <a:latin typeface="Consolas" pitchFamily="49" charset="0"/>
              <a:cs typeface="Consolas" pitchFamily="49" charset="0"/>
            </a:endParaRPr>
          </a:p>
        </p:txBody>
      </p:sp>
      <p:sp>
        <p:nvSpPr>
          <p:cNvPr id="88" name="Freeform 14">
            <a:extLst>
              <a:ext uri="{FF2B5EF4-FFF2-40B4-BE49-F238E27FC236}">
                <a16:creationId xmlns:a16="http://schemas.microsoft.com/office/drawing/2014/main" id="{1B8B39D4-CE3F-92A1-30B5-138F0E35C935}"/>
              </a:ext>
            </a:extLst>
          </p:cNvPr>
          <p:cNvSpPr>
            <a:spLocks/>
          </p:cNvSpPr>
          <p:nvPr/>
        </p:nvSpPr>
        <p:spPr bwMode="auto">
          <a:xfrm>
            <a:off x="7431924" y="4024842"/>
            <a:ext cx="392113" cy="419100"/>
          </a:xfrm>
          <a:custGeom>
            <a:avLst/>
            <a:gdLst/>
            <a:ahLst/>
            <a:cxnLst>
              <a:cxn ang="0">
                <a:pos x="0" y="0"/>
              </a:cxn>
              <a:cxn ang="0">
                <a:pos x="247" y="264"/>
              </a:cxn>
            </a:cxnLst>
            <a:rect l="0" t="0" r="r" b="b"/>
            <a:pathLst>
              <a:path w="247" h="264">
                <a:moveTo>
                  <a:pt x="0" y="0"/>
                </a:moveTo>
                <a:lnTo>
                  <a:pt x="247" y="264"/>
                </a:lnTo>
              </a:path>
            </a:pathLst>
          </a:custGeom>
          <a:noFill/>
          <a:ln w="19050" cap="flat" cmpd="sng">
            <a:solidFill>
              <a:srgbClr val="3333FF"/>
            </a:solidFill>
            <a:prstDash val="solid"/>
            <a:round/>
            <a:headEnd type="none" w="med" len="med"/>
            <a:tailEnd type="none" w="med" len="lg"/>
          </a:ln>
          <a:effectLst/>
        </p:spPr>
        <p:txBody>
          <a:bodyPr wrap="none"/>
          <a:lstStyle/>
          <a:p>
            <a:endParaRPr lang="zh-CN" altLang="en-US">
              <a:latin typeface="Consolas" pitchFamily="49" charset="0"/>
              <a:cs typeface="Consolas" pitchFamily="49" charset="0"/>
            </a:endParaRPr>
          </a:p>
        </p:txBody>
      </p:sp>
      <p:sp>
        <p:nvSpPr>
          <p:cNvPr id="89" name="Oval 34">
            <a:extLst>
              <a:ext uri="{FF2B5EF4-FFF2-40B4-BE49-F238E27FC236}">
                <a16:creationId xmlns:a16="http://schemas.microsoft.com/office/drawing/2014/main" id="{DBB5669C-A168-96E2-641C-493A07E7493A}"/>
              </a:ext>
            </a:extLst>
          </p:cNvPr>
          <p:cNvSpPr>
            <a:spLocks noChangeArrowheads="1"/>
          </p:cNvSpPr>
          <p:nvPr/>
        </p:nvSpPr>
        <p:spPr bwMode="auto">
          <a:xfrm>
            <a:off x="7781176" y="4351866"/>
            <a:ext cx="360363" cy="431800"/>
          </a:xfrm>
          <a:prstGeom prst="ellipse">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anchor="ctr"/>
          <a:lstStyle/>
          <a:p>
            <a:r>
              <a:rPr lang="en-US" altLang="zh-CN" sz="2000" dirty="0">
                <a:solidFill>
                  <a:srgbClr val="FF00FF"/>
                </a:solidFill>
                <a:latin typeface="Consolas" pitchFamily="49" charset="0"/>
                <a:cs typeface="Consolas" pitchFamily="49" charset="0"/>
              </a:rPr>
              <a:t>4</a:t>
            </a:r>
          </a:p>
        </p:txBody>
      </p:sp>
      <p:sp>
        <p:nvSpPr>
          <p:cNvPr id="92" name="任意多边形 49">
            <a:extLst>
              <a:ext uri="{FF2B5EF4-FFF2-40B4-BE49-F238E27FC236}">
                <a16:creationId xmlns:a16="http://schemas.microsoft.com/office/drawing/2014/main" id="{C1B82926-E56B-3A39-AC96-26176BD9BC6F}"/>
              </a:ext>
            </a:extLst>
          </p:cNvPr>
          <p:cNvSpPr/>
          <p:nvPr/>
        </p:nvSpPr>
        <p:spPr bwMode="auto">
          <a:xfrm>
            <a:off x="4069025" y="2604328"/>
            <a:ext cx="1472173" cy="1818976"/>
          </a:xfrm>
          <a:custGeom>
            <a:avLst/>
            <a:gdLst>
              <a:gd name="connsiteX0" fmla="*/ 825500 w 1678517"/>
              <a:gd name="connsiteY0" fmla="*/ 48683 h 2652183"/>
              <a:gd name="connsiteX1" fmla="*/ 254000 w 1678517"/>
              <a:gd name="connsiteY1" fmla="*/ 658283 h 2652183"/>
              <a:gd name="connsiteX2" fmla="*/ 38100 w 1678517"/>
              <a:gd name="connsiteY2" fmla="*/ 1178983 h 2652183"/>
              <a:gd name="connsiteX3" fmla="*/ 482600 w 1678517"/>
              <a:gd name="connsiteY3" fmla="*/ 2207683 h 2652183"/>
              <a:gd name="connsiteX4" fmla="*/ 1016000 w 1678517"/>
              <a:gd name="connsiteY4" fmla="*/ 2499783 h 2652183"/>
              <a:gd name="connsiteX5" fmla="*/ 1600200 w 1678517"/>
              <a:gd name="connsiteY5" fmla="*/ 1293283 h 2652183"/>
              <a:gd name="connsiteX6" fmla="*/ 1485900 w 1678517"/>
              <a:gd name="connsiteY6" fmla="*/ 366183 h 2652183"/>
              <a:gd name="connsiteX7" fmla="*/ 825500 w 1678517"/>
              <a:gd name="connsiteY7" fmla="*/ 48683 h 2652183"/>
              <a:gd name="connsiteX0" fmla="*/ 825500 w 1615017"/>
              <a:gd name="connsiteY0" fmla="*/ 48683 h 2572284"/>
              <a:gd name="connsiteX1" fmla="*/ 254000 w 1615017"/>
              <a:gd name="connsiteY1" fmla="*/ 658283 h 2572284"/>
              <a:gd name="connsiteX2" fmla="*/ 38100 w 1615017"/>
              <a:gd name="connsiteY2" fmla="*/ 1178983 h 2572284"/>
              <a:gd name="connsiteX3" fmla="*/ 482600 w 1615017"/>
              <a:gd name="connsiteY3" fmla="*/ 2207683 h 2572284"/>
              <a:gd name="connsiteX4" fmla="*/ 1016000 w 1615017"/>
              <a:gd name="connsiteY4" fmla="*/ 2499783 h 2572284"/>
              <a:gd name="connsiteX5" fmla="*/ 1411258 w 1615017"/>
              <a:gd name="connsiteY5" fmla="*/ 1772679 h 2572284"/>
              <a:gd name="connsiteX6" fmla="*/ 1600200 w 1615017"/>
              <a:gd name="connsiteY6" fmla="*/ 1293283 h 2572284"/>
              <a:gd name="connsiteX7" fmla="*/ 1485900 w 1615017"/>
              <a:gd name="connsiteY7" fmla="*/ 366183 h 2572284"/>
              <a:gd name="connsiteX8" fmla="*/ 825500 w 1615017"/>
              <a:gd name="connsiteY8" fmla="*/ 48683 h 2572284"/>
              <a:gd name="connsiteX0" fmla="*/ 825500 w 1615017"/>
              <a:gd name="connsiteY0" fmla="*/ 48683 h 2273030"/>
              <a:gd name="connsiteX1" fmla="*/ 254000 w 1615017"/>
              <a:gd name="connsiteY1" fmla="*/ 658283 h 2273030"/>
              <a:gd name="connsiteX2" fmla="*/ 38100 w 1615017"/>
              <a:gd name="connsiteY2" fmla="*/ 1178983 h 2273030"/>
              <a:gd name="connsiteX3" fmla="*/ 482600 w 1615017"/>
              <a:gd name="connsiteY3" fmla="*/ 2207683 h 2273030"/>
              <a:gd name="connsiteX4" fmla="*/ 801654 w 1615017"/>
              <a:gd name="connsiteY4" fmla="*/ 1571065 h 2273030"/>
              <a:gd name="connsiteX5" fmla="*/ 1411258 w 1615017"/>
              <a:gd name="connsiteY5" fmla="*/ 1772679 h 2273030"/>
              <a:gd name="connsiteX6" fmla="*/ 1600200 w 1615017"/>
              <a:gd name="connsiteY6" fmla="*/ 1293283 h 2273030"/>
              <a:gd name="connsiteX7" fmla="*/ 1485900 w 1615017"/>
              <a:gd name="connsiteY7" fmla="*/ 366183 h 2273030"/>
              <a:gd name="connsiteX8" fmla="*/ 825500 w 1615017"/>
              <a:gd name="connsiteY8" fmla="*/ 48683 h 2273030"/>
              <a:gd name="connsiteX0" fmla="*/ 825500 w 1615017"/>
              <a:gd name="connsiteY0" fmla="*/ 48683 h 1915816"/>
              <a:gd name="connsiteX1" fmla="*/ 254000 w 1615017"/>
              <a:gd name="connsiteY1" fmla="*/ 658283 h 1915816"/>
              <a:gd name="connsiteX2" fmla="*/ 38100 w 1615017"/>
              <a:gd name="connsiteY2" fmla="*/ 1178983 h 1915816"/>
              <a:gd name="connsiteX3" fmla="*/ 482600 w 1615017"/>
              <a:gd name="connsiteY3" fmla="*/ 1850469 h 1915816"/>
              <a:gd name="connsiteX4" fmla="*/ 801654 w 1615017"/>
              <a:gd name="connsiteY4" fmla="*/ 1571065 h 1915816"/>
              <a:gd name="connsiteX5" fmla="*/ 1411258 w 1615017"/>
              <a:gd name="connsiteY5" fmla="*/ 1772679 h 1915816"/>
              <a:gd name="connsiteX6" fmla="*/ 1600200 w 1615017"/>
              <a:gd name="connsiteY6" fmla="*/ 1293283 h 1915816"/>
              <a:gd name="connsiteX7" fmla="*/ 1485900 w 1615017"/>
              <a:gd name="connsiteY7" fmla="*/ 366183 h 1915816"/>
              <a:gd name="connsiteX8" fmla="*/ 825500 w 1615017"/>
              <a:gd name="connsiteY8" fmla="*/ 48683 h 1915816"/>
              <a:gd name="connsiteX0" fmla="*/ 825500 w 1615017"/>
              <a:gd name="connsiteY0" fmla="*/ 48683 h 1818976"/>
              <a:gd name="connsiteX1" fmla="*/ 254000 w 1615017"/>
              <a:gd name="connsiteY1" fmla="*/ 658283 h 1818976"/>
              <a:gd name="connsiteX2" fmla="*/ 38100 w 1615017"/>
              <a:gd name="connsiteY2" fmla="*/ 1178983 h 1818976"/>
              <a:gd name="connsiteX3" fmla="*/ 482600 w 1615017"/>
              <a:gd name="connsiteY3" fmla="*/ 1636131 h 1818976"/>
              <a:gd name="connsiteX4" fmla="*/ 801654 w 1615017"/>
              <a:gd name="connsiteY4" fmla="*/ 1571065 h 1818976"/>
              <a:gd name="connsiteX5" fmla="*/ 1411258 w 1615017"/>
              <a:gd name="connsiteY5" fmla="*/ 1772679 h 1818976"/>
              <a:gd name="connsiteX6" fmla="*/ 1600200 w 1615017"/>
              <a:gd name="connsiteY6" fmla="*/ 1293283 h 1818976"/>
              <a:gd name="connsiteX7" fmla="*/ 1485900 w 1615017"/>
              <a:gd name="connsiteY7" fmla="*/ 366183 h 1818976"/>
              <a:gd name="connsiteX8" fmla="*/ 825500 w 1615017"/>
              <a:gd name="connsiteY8" fmla="*/ 48683 h 1818976"/>
              <a:gd name="connsiteX0" fmla="*/ 682656 w 1472173"/>
              <a:gd name="connsiteY0" fmla="*/ 48683 h 1818976"/>
              <a:gd name="connsiteX1" fmla="*/ 111156 w 1472173"/>
              <a:gd name="connsiteY1" fmla="*/ 658283 h 1818976"/>
              <a:gd name="connsiteX2" fmla="*/ 38100 w 1472173"/>
              <a:gd name="connsiteY2" fmla="*/ 1178983 h 1818976"/>
              <a:gd name="connsiteX3" fmla="*/ 339756 w 1472173"/>
              <a:gd name="connsiteY3" fmla="*/ 1636131 h 1818976"/>
              <a:gd name="connsiteX4" fmla="*/ 658810 w 1472173"/>
              <a:gd name="connsiteY4" fmla="*/ 1571065 h 1818976"/>
              <a:gd name="connsiteX5" fmla="*/ 1268414 w 1472173"/>
              <a:gd name="connsiteY5" fmla="*/ 1772679 h 1818976"/>
              <a:gd name="connsiteX6" fmla="*/ 1457356 w 1472173"/>
              <a:gd name="connsiteY6" fmla="*/ 1293283 h 1818976"/>
              <a:gd name="connsiteX7" fmla="*/ 1343056 w 1472173"/>
              <a:gd name="connsiteY7" fmla="*/ 366183 h 1818976"/>
              <a:gd name="connsiteX8" fmla="*/ 682656 w 1472173"/>
              <a:gd name="connsiteY8" fmla="*/ 48683 h 18189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72173" h="1818976">
                <a:moveTo>
                  <a:pt x="682656" y="48683"/>
                </a:moveTo>
                <a:cubicBezTo>
                  <a:pt x="477339" y="97366"/>
                  <a:pt x="218582" y="469900"/>
                  <a:pt x="111156" y="658283"/>
                </a:cubicBezTo>
                <a:cubicBezTo>
                  <a:pt x="3730" y="846666"/>
                  <a:pt x="0" y="1016008"/>
                  <a:pt x="38100" y="1178983"/>
                </a:cubicBezTo>
                <a:cubicBezTo>
                  <a:pt x="76200" y="1341958"/>
                  <a:pt x="236304" y="1570784"/>
                  <a:pt x="339756" y="1636131"/>
                </a:cubicBezTo>
                <a:cubicBezTo>
                  <a:pt x="443208" y="1701478"/>
                  <a:pt x="504034" y="1548307"/>
                  <a:pt x="658810" y="1571065"/>
                </a:cubicBezTo>
                <a:cubicBezTo>
                  <a:pt x="813586" y="1593823"/>
                  <a:pt x="1135323" y="1818976"/>
                  <a:pt x="1268414" y="1772679"/>
                </a:cubicBezTo>
                <a:cubicBezTo>
                  <a:pt x="1401505" y="1726382"/>
                  <a:pt x="1444916" y="1527699"/>
                  <a:pt x="1457356" y="1293283"/>
                </a:cubicBezTo>
                <a:cubicBezTo>
                  <a:pt x="1469796" y="1058867"/>
                  <a:pt x="1472173" y="573616"/>
                  <a:pt x="1343056" y="366183"/>
                </a:cubicBezTo>
                <a:cubicBezTo>
                  <a:pt x="1213939" y="158750"/>
                  <a:pt x="887973" y="0"/>
                  <a:pt x="682656" y="48683"/>
                </a:cubicBezTo>
                <a:close/>
              </a:path>
            </a:pathLst>
          </a:custGeom>
          <a:solidFill>
            <a:schemeClr val="accent3">
              <a:lumMod val="60000"/>
              <a:lumOff val="40000"/>
              <a:alpha val="48000"/>
            </a:schemeClr>
          </a:solidFill>
          <a:ln w="19050" cap="flat" cmpd="sng">
            <a:solidFill>
              <a:srgbClr val="C00000"/>
            </a:solidFill>
            <a:prstDash val="dash"/>
            <a:round/>
            <a:headEnd type="none" w="med" len="med"/>
            <a:tailEnd type="none" w="med" len="lg"/>
          </a:ln>
          <a:effectLst/>
        </p:spPr>
        <p:txBody>
          <a:bodyPr wrap="none" rtlCol="0" anchor="ctr"/>
          <a:lstStyle/>
          <a:p>
            <a:pPr algn="ctr"/>
            <a:endParaRPr lang="zh-CN" altLang="en-US">
              <a:latin typeface="Consolas" pitchFamily="49" charset="0"/>
              <a:cs typeface="Consolas" pitchFamily="49" charset="0"/>
            </a:endParaRPr>
          </a:p>
        </p:txBody>
      </p:sp>
      <p:sp>
        <p:nvSpPr>
          <p:cNvPr id="93" name="Freeform 15">
            <a:extLst>
              <a:ext uri="{FF2B5EF4-FFF2-40B4-BE49-F238E27FC236}">
                <a16:creationId xmlns:a16="http://schemas.microsoft.com/office/drawing/2014/main" id="{071A125B-319F-EBF4-FA58-45C2F8397615}"/>
              </a:ext>
            </a:extLst>
          </p:cNvPr>
          <p:cNvSpPr>
            <a:spLocks/>
          </p:cNvSpPr>
          <p:nvPr/>
        </p:nvSpPr>
        <p:spPr bwMode="auto">
          <a:xfrm>
            <a:off x="8147895" y="4578880"/>
            <a:ext cx="582613" cy="1588"/>
          </a:xfrm>
          <a:custGeom>
            <a:avLst/>
            <a:gdLst/>
            <a:ahLst/>
            <a:cxnLst>
              <a:cxn ang="0">
                <a:pos x="0" y="0"/>
              </a:cxn>
              <a:cxn ang="0">
                <a:pos x="367" y="0"/>
              </a:cxn>
            </a:cxnLst>
            <a:rect l="0" t="0" r="r" b="b"/>
            <a:pathLst>
              <a:path w="367" h="1">
                <a:moveTo>
                  <a:pt x="0" y="0"/>
                </a:moveTo>
                <a:lnTo>
                  <a:pt x="367" y="0"/>
                </a:lnTo>
              </a:path>
            </a:pathLst>
          </a:custGeom>
          <a:noFill/>
          <a:ln w="19050" cap="flat" cmpd="sng">
            <a:solidFill>
              <a:srgbClr val="3333FF"/>
            </a:solidFill>
            <a:prstDash val="solid"/>
            <a:round/>
            <a:headEnd type="none" w="med" len="med"/>
            <a:tailEnd type="none" w="med" len="lg"/>
          </a:ln>
          <a:effectLst/>
        </p:spPr>
        <p:txBody>
          <a:bodyPr wrap="none"/>
          <a:lstStyle/>
          <a:p>
            <a:endParaRPr lang="zh-CN" altLang="en-US">
              <a:latin typeface="Consolas" pitchFamily="49" charset="0"/>
              <a:cs typeface="Consolas" pitchFamily="49" charset="0"/>
            </a:endParaRPr>
          </a:p>
        </p:txBody>
      </p:sp>
      <p:sp>
        <p:nvSpPr>
          <p:cNvPr id="94" name="Oval 35">
            <a:extLst>
              <a:ext uri="{FF2B5EF4-FFF2-40B4-BE49-F238E27FC236}">
                <a16:creationId xmlns:a16="http://schemas.microsoft.com/office/drawing/2014/main" id="{09E6891E-34A4-C0F7-E775-8AC86F9D3E61}"/>
              </a:ext>
            </a:extLst>
          </p:cNvPr>
          <p:cNvSpPr>
            <a:spLocks noChangeArrowheads="1"/>
          </p:cNvSpPr>
          <p:nvPr/>
        </p:nvSpPr>
        <p:spPr bwMode="auto">
          <a:xfrm>
            <a:off x="8714635" y="4364566"/>
            <a:ext cx="360363" cy="431800"/>
          </a:xfrm>
          <a:prstGeom prst="ellipse">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anchor="ctr"/>
          <a:lstStyle/>
          <a:p>
            <a:r>
              <a:rPr lang="en-US" altLang="zh-CN" sz="2000" dirty="0">
                <a:solidFill>
                  <a:srgbClr val="FF00FF"/>
                </a:solidFill>
                <a:latin typeface="Consolas" pitchFamily="49" charset="0"/>
                <a:cs typeface="Consolas" pitchFamily="49" charset="0"/>
              </a:rPr>
              <a:t>3</a:t>
            </a:r>
          </a:p>
        </p:txBody>
      </p:sp>
      <p:sp>
        <p:nvSpPr>
          <p:cNvPr id="95" name="Line 20">
            <a:extLst>
              <a:ext uri="{FF2B5EF4-FFF2-40B4-BE49-F238E27FC236}">
                <a16:creationId xmlns:a16="http://schemas.microsoft.com/office/drawing/2014/main" id="{4CD0E7E1-CD14-F5B2-5EEC-8CB675364A08}"/>
              </a:ext>
            </a:extLst>
          </p:cNvPr>
          <p:cNvSpPr>
            <a:spLocks noChangeShapeType="1"/>
          </p:cNvSpPr>
          <p:nvPr/>
        </p:nvSpPr>
        <p:spPr bwMode="auto">
          <a:xfrm flipH="1">
            <a:off x="9028960" y="4007376"/>
            <a:ext cx="270000" cy="396000"/>
          </a:xfrm>
          <a:prstGeom prst="line">
            <a:avLst/>
          </a:prstGeom>
          <a:noFill/>
          <a:ln w="19050">
            <a:solidFill>
              <a:srgbClr val="3333FF"/>
            </a:solidFill>
            <a:round/>
            <a:headEnd/>
            <a:tailEnd type="none" w="med" len="lg"/>
          </a:ln>
          <a:effectLst/>
        </p:spPr>
        <p:txBody>
          <a:bodyPr wrap="none"/>
          <a:lstStyle/>
          <a:p>
            <a:endParaRPr lang="zh-CN" altLang="en-US">
              <a:latin typeface="Consolas" pitchFamily="49" charset="0"/>
              <a:cs typeface="Consolas" pitchFamily="49" charset="0"/>
            </a:endParaRPr>
          </a:p>
        </p:txBody>
      </p:sp>
    </p:spTree>
    <p:extLst>
      <p:ext uri="{BB962C8B-B14F-4D97-AF65-F5344CB8AC3E}">
        <p14:creationId xmlns:p14="http://schemas.microsoft.com/office/powerpoint/2010/main" val="14243206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nodePh="1">
                                  <p:stCondLst>
                                    <p:cond delay="0"/>
                                  </p:stCondLst>
                                  <p:endCondLst>
                                    <p:cond evt="begin" delay="0">
                                      <p:tn val="5"/>
                                    </p:cond>
                                  </p:endCondLst>
                                  <p:childTnLst>
                                    <p:set>
                                      <p:cBhvr>
                                        <p:cTn id="6" dur="1" fill="hold">
                                          <p:stCondLst>
                                            <p:cond delay="0"/>
                                          </p:stCondLst>
                                        </p:cTn>
                                        <p:tgtEl>
                                          <p:spTgt spid="42">
                                            <p:txEl>
                                              <p:pRg st="0" end="0"/>
                                            </p:txEl>
                                          </p:spTgt>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94"/>
                                        </p:tgtEl>
                                        <p:attrNameLst>
                                          <p:attrName>style.visibility</p:attrName>
                                        </p:attrNameLst>
                                      </p:cBhvr>
                                      <p:to>
                                        <p:strVal val="visible"/>
                                      </p:to>
                                    </p:set>
                                  </p:childTnLst>
                                </p:cTn>
                              </p:par>
                            </p:childTnLst>
                          </p:cTn>
                        </p:par>
                        <p:par>
                          <p:cTn id="10" fill="hold">
                            <p:stCondLst>
                              <p:cond delay="0"/>
                            </p:stCondLst>
                            <p:childTnLst>
                              <p:par>
                                <p:cTn id="11" presetID="1" presetClass="entr" presetSubtype="0" fill="hold" grpId="0" nodeType="afterEffect">
                                  <p:stCondLst>
                                    <p:cond delay="0"/>
                                  </p:stCondLst>
                                  <p:childTnLst>
                                    <p:set>
                                      <p:cBhvr>
                                        <p:cTn id="12" dur="1" fill="hold">
                                          <p:stCondLst>
                                            <p:cond delay="0"/>
                                          </p:stCondLst>
                                        </p:cTn>
                                        <p:tgtEl>
                                          <p:spTgt spid="8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26" presetClass="emph" presetSubtype="0" fill="hold" grpId="0" nodeType="clickEffect">
                                  <p:stCondLst>
                                    <p:cond delay="0"/>
                                  </p:stCondLst>
                                  <p:childTnLst>
                                    <p:animEffect transition="out" filter="fade">
                                      <p:cBhvr>
                                        <p:cTn id="22" dur="500" tmFilter="0, 0; .2, .5; .8, .5; 1, 0"/>
                                        <p:tgtEl>
                                          <p:spTgt spid="65"/>
                                        </p:tgtEl>
                                      </p:cBhvr>
                                    </p:animEffect>
                                    <p:animScale>
                                      <p:cBhvr>
                                        <p:cTn id="23" dur="250" autoRev="1" fill="hold"/>
                                        <p:tgtEl>
                                          <p:spTgt spid="65"/>
                                        </p:tgtEl>
                                      </p:cBhvr>
                                      <p:by x="105000" y="105000"/>
                                    </p:animScale>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9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build="p"/>
      <p:bldP spid="65" grpId="0" animBg="1"/>
      <p:bldP spid="84" grpId="0"/>
      <p:bldP spid="87" grpId="0" animBg="1"/>
      <p:bldP spid="92" grpId="0" animBg="1"/>
      <p:bldP spid="94" grpId="0" animBg="1"/>
      <p:bldP spid="95" grpId="0" animBg="1"/>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2C6665-15B3-C1E4-A91B-DC82E7D14936}"/>
            </a:ext>
          </a:extLst>
        </p:cNvPr>
        <p:cNvGrpSpPr/>
        <p:nvPr/>
      </p:nvGrpSpPr>
      <p:grpSpPr>
        <a:xfrm>
          <a:off x="0" y="0"/>
          <a:ext cx="0" cy="0"/>
          <a:chOff x="0" y="0"/>
          <a:chExt cx="0" cy="0"/>
        </a:xfrm>
      </p:grpSpPr>
      <p:sp>
        <p:nvSpPr>
          <p:cNvPr id="42" name="Rectangle 4">
            <a:extLst>
              <a:ext uri="{FF2B5EF4-FFF2-40B4-BE49-F238E27FC236}">
                <a16:creationId xmlns:a16="http://schemas.microsoft.com/office/drawing/2014/main" id="{CC79E45C-405F-0680-6A53-885539ADB5E0}"/>
              </a:ext>
            </a:extLst>
          </p:cNvPr>
          <p:cNvSpPr>
            <a:spLocks noChangeArrowheads="1"/>
          </p:cNvSpPr>
          <p:nvPr/>
        </p:nvSpPr>
        <p:spPr bwMode="auto">
          <a:xfrm>
            <a:off x="6384032" y="4567734"/>
            <a:ext cx="7620000" cy="2016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lvl="1" indent="-228600">
              <a:spcBef>
                <a:spcPts val="600"/>
              </a:spcBef>
              <a:buClr>
                <a:srgbClr val="B870B8"/>
              </a:buClr>
              <a:buSzPct val="75000"/>
              <a:buFont typeface="Wingdings" pitchFamily="2" charset="2"/>
              <a:buChar char="n"/>
            </a:pPr>
            <a:endParaRPr kumimoji="1" lang="zh-CN" altLang="en-US" sz="2400" dirty="0">
              <a:latin typeface="微软雅黑" pitchFamily="34" charset="-122"/>
              <a:ea typeface="微软雅黑" pitchFamily="34" charset="-122"/>
              <a:cs typeface="经典粗黑简" pitchFamily="49" charset="-122"/>
            </a:endParaRPr>
          </a:p>
        </p:txBody>
      </p:sp>
      <p:sp>
        <p:nvSpPr>
          <p:cNvPr id="2" name="Rectangle 2">
            <a:extLst>
              <a:ext uri="{FF2B5EF4-FFF2-40B4-BE49-F238E27FC236}">
                <a16:creationId xmlns:a16="http://schemas.microsoft.com/office/drawing/2014/main" id="{5A398D38-BB09-D8AE-9BC2-081166181AD1}"/>
              </a:ext>
            </a:extLst>
          </p:cNvPr>
          <p:cNvSpPr txBox="1">
            <a:spLocks noChangeArrowheads="1"/>
          </p:cNvSpPr>
          <p:nvPr/>
        </p:nvSpPr>
        <p:spPr>
          <a:xfrm>
            <a:off x="474772" y="1230902"/>
            <a:ext cx="4469100"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8.4.3 </a:t>
            </a:r>
            <a:r>
              <a:rPr kumimoji="1" lang="zh-CN" altLang="en-US" dirty="0">
                <a:latin typeface="微软雅黑" pitchFamily="34" charset="-122"/>
                <a:ea typeface="微软雅黑" pitchFamily="34" charset="-122"/>
              </a:rPr>
              <a:t>普里姆</a:t>
            </a:r>
            <a:r>
              <a:rPr kumimoji="1" lang="en-US" altLang="zh-CN" dirty="0">
                <a:latin typeface="微软雅黑" pitchFamily="34" charset="-122"/>
                <a:ea typeface="微软雅黑" pitchFamily="34" charset="-122"/>
              </a:rPr>
              <a:t>(Prim)</a:t>
            </a:r>
            <a:r>
              <a:rPr kumimoji="1" lang="zh-CN" altLang="en-US" dirty="0">
                <a:latin typeface="微软雅黑" pitchFamily="34" charset="-122"/>
                <a:ea typeface="微软雅黑" pitchFamily="34" charset="-122"/>
              </a:rPr>
              <a:t>算法</a:t>
            </a:r>
          </a:p>
        </p:txBody>
      </p:sp>
      <p:cxnSp>
        <p:nvCxnSpPr>
          <p:cNvPr id="3" name="直接连接符 2">
            <a:extLst>
              <a:ext uri="{FF2B5EF4-FFF2-40B4-BE49-F238E27FC236}">
                <a16:creationId xmlns:a16="http://schemas.microsoft.com/office/drawing/2014/main" id="{17D8667F-667C-B3FA-91BD-A7F12373488D}"/>
              </a:ext>
            </a:extLst>
          </p:cNvPr>
          <p:cNvCxnSpPr>
            <a:cxnSpLocks/>
          </p:cNvCxnSpPr>
          <p:nvPr/>
        </p:nvCxnSpPr>
        <p:spPr>
          <a:xfrm>
            <a:off x="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4" name="矩形 3">
            <a:extLst>
              <a:ext uri="{FF2B5EF4-FFF2-40B4-BE49-F238E27FC236}">
                <a16:creationId xmlns:a16="http://schemas.microsoft.com/office/drawing/2014/main" id="{DC1A4BDD-49E4-DD4F-CB54-42296DE0B7A2}"/>
              </a:ext>
            </a:extLst>
          </p:cNvPr>
          <p:cNvSpPr/>
          <p:nvPr/>
        </p:nvSpPr>
        <p:spPr>
          <a:xfrm>
            <a:off x="3394075" y="399838"/>
            <a:ext cx="4617860"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8.4 </a:t>
            </a:r>
            <a:r>
              <a:rPr lang="zh-CN" altLang="en-US" sz="3000" b="1" dirty="0">
                <a:latin typeface="黑体" pitchFamily="49" charset="-122"/>
                <a:ea typeface="黑体" pitchFamily="49" charset="-122"/>
                <a:cs typeface="经典粗黑简" pitchFamily="49" charset="-122"/>
              </a:rPr>
              <a:t>生成树和最小生成树</a:t>
            </a:r>
          </a:p>
        </p:txBody>
      </p:sp>
      <p:sp>
        <p:nvSpPr>
          <p:cNvPr id="5" name="Text Box 4">
            <a:extLst>
              <a:ext uri="{FF2B5EF4-FFF2-40B4-BE49-F238E27FC236}">
                <a16:creationId xmlns:a16="http://schemas.microsoft.com/office/drawing/2014/main" id="{8F509045-BDCE-3FBD-69E6-6CAB641DE3A0}"/>
              </a:ext>
            </a:extLst>
          </p:cNvPr>
          <p:cNvSpPr txBox="1">
            <a:spLocks noChangeArrowheads="1"/>
          </p:cNvSpPr>
          <p:nvPr/>
        </p:nvSpPr>
        <p:spPr bwMode="auto">
          <a:xfrm>
            <a:off x="3978057" y="6198533"/>
            <a:ext cx="4929222" cy="400110"/>
          </a:xfrm>
          <a:prstGeom prst="rect">
            <a:avLst/>
          </a:prstGeom>
          <a:noFill/>
          <a:ln w="9525">
            <a:noFill/>
            <a:miter lim="800000"/>
            <a:headEnd/>
            <a:tailEnd/>
          </a:ln>
          <a:effectLst/>
        </p:spPr>
        <p:txBody>
          <a:bodyPr wrap="square">
            <a:spAutoFit/>
          </a:bodyPr>
          <a:lstStyle/>
          <a:p>
            <a:pPr algn="l">
              <a:spcBef>
                <a:spcPct val="50000"/>
              </a:spcBef>
            </a:pPr>
            <a:r>
              <a:rPr kumimoji="1" lang="zh-CN" altLang="en-US" sz="2000" dirty="0">
                <a:ea typeface="楷体" pitchFamily="49" charset="-122"/>
                <a:cs typeface="Times New Roman" pitchFamily="18" charset="0"/>
              </a:rPr>
              <a:t>普里姆算法求解最小生成树的过程 </a:t>
            </a:r>
          </a:p>
        </p:txBody>
      </p:sp>
      <p:sp>
        <p:nvSpPr>
          <p:cNvPr id="33" name="Text Box 73">
            <a:extLst>
              <a:ext uri="{FF2B5EF4-FFF2-40B4-BE49-F238E27FC236}">
                <a16:creationId xmlns:a16="http://schemas.microsoft.com/office/drawing/2014/main" id="{E0F068AC-C1EC-592B-94E8-110DDD88F17E}"/>
              </a:ext>
            </a:extLst>
          </p:cNvPr>
          <p:cNvSpPr txBox="1">
            <a:spLocks noChangeArrowheads="1"/>
          </p:cNvSpPr>
          <p:nvPr/>
        </p:nvSpPr>
        <p:spPr bwMode="auto">
          <a:xfrm>
            <a:off x="1562346" y="1925044"/>
            <a:ext cx="3714776" cy="400110"/>
          </a:xfrm>
          <a:prstGeom prst="rect">
            <a:avLst/>
          </a:prstGeom>
          <a:solidFill>
            <a:srgbClr val="339933"/>
          </a:solidFill>
          <a:ln w="19050" algn="ctr">
            <a:noFill/>
            <a:miter lim="800000"/>
            <a:headEnd/>
            <a:tailEnd type="none" w="med" len="lg"/>
          </a:ln>
          <a:effectLst/>
        </p:spPr>
        <p:txBody>
          <a:bodyPr wrap="square">
            <a:spAutoFit/>
          </a:bodyPr>
          <a:lstStyle/>
          <a:p>
            <a:pPr>
              <a:spcBef>
                <a:spcPct val="50000"/>
              </a:spcBef>
            </a:pPr>
            <a:r>
              <a:rPr lang="en-US" altLang="zh-CN" sz="2000" dirty="0">
                <a:solidFill>
                  <a:schemeClr val="bg1"/>
                </a:solidFill>
                <a:latin typeface="Consolas" pitchFamily="49" charset="0"/>
                <a:ea typeface="华文中宋" pitchFamily="2" charset="-122"/>
                <a:cs typeface="Consolas" pitchFamily="49" charset="0"/>
              </a:rPr>
              <a:t>Prim</a:t>
            </a:r>
            <a:r>
              <a:rPr lang="zh-CN" altLang="en-US" sz="2000" dirty="0">
                <a:solidFill>
                  <a:schemeClr val="bg1"/>
                </a:solidFill>
                <a:latin typeface="Consolas" pitchFamily="49" charset="0"/>
                <a:ea typeface="华文中宋" pitchFamily="2" charset="-122"/>
                <a:cs typeface="Consolas" pitchFamily="49" charset="0"/>
              </a:rPr>
              <a:t>算法示例演示（起点</a:t>
            </a:r>
            <a:r>
              <a:rPr lang="en-US" altLang="zh-CN" sz="2000" dirty="0">
                <a:solidFill>
                  <a:schemeClr val="bg1"/>
                </a:solidFill>
                <a:latin typeface="Consolas" pitchFamily="49" charset="0"/>
                <a:ea typeface="华文中宋" pitchFamily="2" charset="-122"/>
                <a:cs typeface="Consolas" pitchFamily="49" charset="0"/>
              </a:rPr>
              <a:t>0</a:t>
            </a:r>
            <a:r>
              <a:rPr lang="zh-CN" altLang="en-US" sz="2000" dirty="0">
                <a:solidFill>
                  <a:schemeClr val="bg1"/>
                </a:solidFill>
                <a:latin typeface="Consolas" pitchFamily="49" charset="0"/>
                <a:ea typeface="华文中宋" pitchFamily="2" charset="-122"/>
                <a:cs typeface="Consolas" pitchFamily="49" charset="0"/>
              </a:rPr>
              <a:t>）</a:t>
            </a:r>
          </a:p>
        </p:txBody>
      </p:sp>
      <p:sp>
        <p:nvSpPr>
          <p:cNvPr id="6" name="Oval 5">
            <a:extLst>
              <a:ext uri="{FF2B5EF4-FFF2-40B4-BE49-F238E27FC236}">
                <a16:creationId xmlns:a16="http://schemas.microsoft.com/office/drawing/2014/main" id="{F45615D8-9E20-1EB9-6AC2-15D4F21B8A2B}"/>
              </a:ext>
            </a:extLst>
          </p:cNvPr>
          <p:cNvSpPr>
            <a:spLocks noChangeArrowheads="1"/>
          </p:cNvSpPr>
          <p:nvPr/>
        </p:nvSpPr>
        <p:spPr bwMode="auto">
          <a:xfrm>
            <a:off x="3662144" y="2847197"/>
            <a:ext cx="360363"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2000">
                <a:solidFill>
                  <a:srgbClr val="0000FF"/>
                </a:solidFill>
                <a:latin typeface="Consolas" pitchFamily="49" charset="0"/>
                <a:cs typeface="Consolas" pitchFamily="49" charset="0"/>
              </a:rPr>
              <a:t>0</a:t>
            </a:r>
          </a:p>
        </p:txBody>
      </p:sp>
      <p:sp>
        <p:nvSpPr>
          <p:cNvPr id="7" name="Oval 6">
            <a:extLst>
              <a:ext uri="{FF2B5EF4-FFF2-40B4-BE49-F238E27FC236}">
                <a16:creationId xmlns:a16="http://schemas.microsoft.com/office/drawing/2014/main" id="{A665B5AC-240B-435D-AFFF-B00D8C183665}"/>
              </a:ext>
            </a:extLst>
          </p:cNvPr>
          <p:cNvSpPr>
            <a:spLocks noChangeArrowheads="1"/>
          </p:cNvSpPr>
          <p:nvPr/>
        </p:nvSpPr>
        <p:spPr bwMode="auto">
          <a:xfrm>
            <a:off x="4743231" y="2847197"/>
            <a:ext cx="360363"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2000">
                <a:solidFill>
                  <a:srgbClr val="0000FF"/>
                </a:solidFill>
                <a:latin typeface="Consolas" pitchFamily="49" charset="0"/>
                <a:cs typeface="Consolas" pitchFamily="49" charset="0"/>
              </a:rPr>
              <a:t>1</a:t>
            </a:r>
          </a:p>
        </p:txBody>
      </p:sp>
      <p:sp>
        <p:nvSpPr>
          <p:cNvPr id="8" name="Oval 7">
            <a:extLst>
              <a:ext uri="{FF2B5EF4-FFF2-40B4-BE49-F238E27FC236}">
                <a16:creationId xmlns:a16="http://schemas.microsoft.com/office/drawing/2014/main" id="{D7810733-4704-D9D2-8AA8-FEAC798B8651}"/>
              </a:ext>
            </a:extLst>
          </p:cNvPr>
          <p:cNvSpPr>
            <a:spLocks noChangeArrowheads="1"/>
          </p:cNvSpPr>
          <p:nvPr/>
        </p:nvSpPr>
        <p:spPr bwMode="auto">
          <a:xfrm>
            <a:off x="3085881" y="3712385"/>
            <a:ext cx="360363"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2000" dirty="0">
                <a:solidFill>
                  <a:srgbClr val="0000FF"/>
                </a:solidFill>
                <a:latin typeface="Consolas" pitchFamily="49" charset="0"/>
                <a:cs typeface="Consolas" pitchFamily="49" charset="0"/>
              </a:rPr>
              <a:t>5</a:t>
            </a:r>
          </a:p>
        </p:txBody>
      </p:sp>
      <p:sp>
        <p:nvSpPr>
          <p:cNvPr id="9" name="Oval 8">
            <a:extLst>
              <a:ext uri="{FF2B5EF4-FFF2-40B4-BE49-F238E27FC236}">
                <a16:creationId xmlns:a16="http://schemas.microsoft.com/office/drawing/2014/main" id="{92488FC1-64C9-1F0C-00D4-07CB49741644}"/>
              </a:ext>
            </a:extLst>
          </p:cNvPr>
          <p:cNvSpPr>
            <a:spLocks noChangeArrowheads="1"/>
          </p:cNvSpPr>
          <p:nvPr/>
        </p:nvSpPr>
        <p:spPr bwMode="auto">
          <a:xfrm>
            <a:off x="3735169" y="4431522"/>
            <a:ext cx="360363"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2000">
                <a:solidFill>
                  <a:srgbClr val="0000FF"/>
                </a:solidFill>
                <a:latin typeface="Consolas" pitchFamily="49" charset="0"/>
                <a:cs typeface="Consolas" pitchFamily="49" charset="0"/>
              </a:rPr>
              <a:t>4</a:t>
            </a:r>
          </a:p>
        </p:txBody>
      </p:sp>
      <p:sp>
        <p:nvSpPr>
          <p:cNvPr id="10" name="Oval 9">
            <a:extLst>
              <a:ext uri="{FF2B5EF4-FFF2-40B4-BE49-F238E27FC236}">
                <a16:creationId xmlns:a16="http://schemas.microsoft.com/office/drawing/2014/main" id="{2348689C-6FA0-E834-7411-0EEA1D35A6EF}"/>
              </a:ext>
            </a:extLst>
          </p:cNvPr>
          <p:cNvSpPr>
            <a:spLocks noChangeArrowheads="1"/>
          </p:cNvSpPr>
          <p:nvPr/>
        </p:nvSpPr>
        <p:spPr bwMode="auto">
          <a:xfrm>
            <a:off x="4670206" y="4431522"/>
            <a:ext cx="360363"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2000">
                <a:solidFill>
                  <a:srgbClr val="0000FF"/>
                </a:solidFill>
                <a:latin typeface="Consolas" pitchFamily="49" charset="0"/>
                <a:cs typeface="Consolas" pitchFamily="49" charset="0"/>
              </a:rPr>
              <a:t>3</a:t>
            </a:r>
          </a:p>
        </p:txBody>
      </p:sp>
      <p:sp>
        <p:nvSpPr>
          <p:cNvPr id="11" name="Oval 10">
            <a:extLst>
              <a:ext uri="{FF2B5EF4-FFF2-40B4-BE49-F238E27FC236}">
                <a16:creationId xmlns:a16="http://schemas.microsoft.com/office/drawing/2014/main" id="{ED0796C5-C19F-022C-5DA9-B3D7DBC34559}"/>
              </a:ext>
            </a:extLst>
          </p:cNvPr>
          <p:cNvSpPr>
            <a:spLocks noChangeArrowheads="1"/>
          </p:cNvSpPr>
          <p:nvPr/>
        </p:nvSpPr>
        <p:spPr bwMode="auto">
          <a:xfrm>
            <a:off x="4238406" y="3639360"/>
            <a:ext cx="360363"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2000">
                <a:solidFill>
                  <a:srgbClr val="0000FF"/>
                </a:solidFill>
                <a:latin typeface="Consolas" pitchFamily="49" charset="0"/>
                <a:cs typeface="Consolas" pitchFamily="49" charset="0"/>
              </a:rPr>
              <a:t>6</a:t>
            </a:r>
          </a:p>
        </p:txBody>
      </p:sp>
      <p:sp>
        <p:nvSpPr>
          <p:cNvPr id="13" name="Oval 11">
            <a:extLst>
              <a:ext uri="{FF2B5EF4-FFF2-40B4-BE49-F238E27FC236}">
                <a16:creationId xmlns:a16="http://schemas.microsoft.com/office/drawing/2014/main" id="{153B3DAA-7118-7A3C-5040-1C367BC033A5}"/>
              </a:ext>
            </a:extLst>
          </p:cNvPr>
          <p:cNvSpPr>
            <a:spLocks noChangeArrowheads="1"/>
          </p:cNvSpPr>
          <p:nvPr/>
        </p:nvSpPr>
        <p:spPr bwMode="auto">
          <a:xfrm>
            <a:off x="5102006" y="3639360"/>
            <a:ext cx="360363"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2000">
                <a:solidFill>
                  <a:srgbClr val="0000FF"/>
                </a:solidFill>
                <a:latin typeface="Consolas" pitchFamily="49" charset="0"/>
                <a:cs typeface="Consolas" pitchFamily="49" charset="0"/>
              </a:rPr>
              <a:t>2</a:t>
            </a:r>
          </a:p>
        </p:txBody>
      </p:sp>
      <p:sp>
        <p:nvSpPr>
          <p:cNvPr id="14" name="Line 12">
            <a:extLst>
              <a:ext uri="{FF2B5EF4-FFF2-40B4-BE49-F238E27FC236}">
                <a16:creationId xmlns:a16="http://schemas.microsoft.com/office/drawing/2014/main" id="{8B0CF14B-4517-DFD9-8363-538629ECAB30}"/>
              </a:ext>
            </a:extLst>
          </p:cNvPr>
          <p:cNvSpPr>
            <a:spLocks noChangeShapeType="1"/>
          </p:cNvSpPr>
          <p:nvPr/>
        </p:nvSpPr>
        <p:spPr bwMode="auto">
          <a:xfrm>
            <a:off x="4022506" y="3063097"/>
            <a:ext cx="720725" cy="0"/>
          </a:xfrm>
          <a:prstGeom prst="line">
            <a:avLst/>
          </a:prstGeom>
          <a:noFill/>
          <a:ln w="19050">
            <a:solidFill>
              <a:srgbClr val="3333FF"/>
            </a:solidFill>
            <a:round/>
            <a:headEnd/>
            <a:tailEnd type="none" w="med" len="lg"/>
          </a:ln>
          <a:effectLst/>
        </p:spPr>
        <p:txBody>
          <a:bodyPr wrap="none"/>
          <a:lstStyle/>
          <a:p>
            <a:endParaRPr lang="zh-CN" altLang="en-US">
              <a:latin typeface="Consolas" pitchFamily="49" charset="0"/>
              <a:cs typeface="Consolas" pitchFamily="49" charset="0"/>
            </a:endParaRPr>
          </a:p>
        </p:txBody>
      </p:sp>
      <p:sp>
        <p:nvSpPr>
          <p:cNvPr id="15" name="Freeform 13">
            <a:extLst>
              <a:ext uri="{FF2B5EF4-FFF2-40B4-BE49-F238E27FC236}">
                <a16:creationId xmlns:a16="http://schemas.microsoft.com/office/drawing/2014/main" id="{9F52AE92-A293-27A0-B5E1-205B85B66B82}"/>
              </a:ext>
            </a:extLst>
          </p:cNvPr>
          <p:cNvSpPr>
            <a:spLocks/>
          </p:cNvSpPr>
          <p:nvPr/>
        </p:nvSpPr>
        <p:spPr bwMode="auto">
          <a:xfrm>
            <a:off x="3303369" y="3183747"/>
            <a:ext cx="395288" cy="528638"/>
          </a:xfrm>
          <a:custGeom>
            <a:avLst/>
            <a:gdLst/>
            <a:ahLst/>
            <a:cxnLst>
              <a:cxn ang="0">
                <a:pos x="249" y="0"/>
              </a:cxn>
              <a:cxn ang="0">
                <a:pos x="0" y="333"/>
              </a:cxn>
            </a:cxnLst>
            <a:rect l="0" t="0" r="r" b="b"/>
            <a:pathLst>
              <a:path w="249" h="333">
                <a:moveTo>
                  <a:pt x="249" y="0"/>
                </a:moveTo>
                <a:lnTo>
                  <a:pt x="0" y="333"/>
                </a:lnTo>
              </a:path>
            </a:pathLst>
          </a:custGeom>
          <a:noFill/>
          <a:ln w="19050" cap="flat" cmpd="sng">
            <a:solidFill>
              <a:srgbClr val="3333FF"/>
            </a:solidFill>
            <a:prstDash val="solid"/>
            <a:round/>
            <a:headEnd type="none" w="med" len="med"/>
            <a:tailEnd type="none" w="med" len="lg"/>
          </a:ln>
          <a:effectLst/>
        </p:spPr>
        <p:txBody>
          <a:bodyPr wrap="none"/>
          <a:lstStyle/>
          <a:p>
            <a:endParaRPr lang="zh-CN" altLang="en-US">
              <a:latin typeface="Consolas" pitchFamily="49" charset="0"/>
              <a:cs typeface="Consolas" pitchFamily="49" charset="0"/>
            </a:endParaRPr>
          </a:p>
        </p:txBody>
      </p:sp>
      <p:sp>
        <p:nvSpPr>
          <p:cNvPr id="16" name="Freeform 14">
            <a:extLst>
              <a:ext uri="{FF2B5EF4-FFF2-40B4-BE49-F238E27FC236}">
                <a16:creationId xmlns:a16="http://schemas.microsoft.com/office/drawing/2014/main" id="{3FEECFFB-070D-3B72-85D5-C09B689FA647}"/>
              </a:ext>
            </a:extLst>
          </p:cNvPr>
          <p:cNvSpPr>
            <a:spLocks/>
          </p:cNvSpPr>
          <p:nvPr/>
        </p:nvSpPr>
        <p:spPr bwMode="auto">
          <a:xfrm>
            <a:off x="3368456" y="4110847"/>
            <a:ext cx="392113" cy="419100"/>
          </a:xfrm>
          <a:custGeom>
            <a:avLst/>
            <a:gdLst/>
            <a:ahLst/>
            <a:cxnLst>
              <a:cxn ang="0">
                <a:pos x="0" y="0"/>
              </a:cxn>
              <a:cxn ang="0">
                <a:pos x="247" y="264"/>
              </a:cxn>
            </a:cxnLst>
            <a:rect l="0" t="0" r="r" b="b"/>
            <a:pathLst>
              <a:path w="247" h="264">
                <a:moveTo>
                  <a:pt x="0" y="0"/>
                </a:moveTo>
                <a:lnTo>
                  <a:pt x="247" y="264"/>
                </a:lnTo>
              </a:path>
            </a:pathLst>
          </a:custGeom>
          <a:noFill/>
          <a:ln w="19050" cap="flat" cmpd="sng">
            <a:solidFill>
              <a:srgbClr val="3333FF"/>
            </a:solidFill>
            <a:prstDash val="solid"/>
            <a:round/>
            <a:headEnd type="none" w="med" len="med"/>
            <a:tailEnd type="none" w="med" len="lg"/>
          </a:ln>
          <a:effectLst/>
        </p:spPr>
        <p:txBody>
          <a:bodyPr wrap="none"/>
          <a:lstStyle/>
          <a:p>
            <a:endParaRPr lang="zh-CN" altLang="en-US">
              <a:latin typeface="Consolas" pitchFamily="49" charset="0"/>
              <a:cs typeface="Consolas" pitchFamily="49" charset="0"/>
            </a:endParaRPr>
          </a:p>
        </p:txBody>
      </p:sp>
      <p:sp>
        <p:nvSpPr>
          <p:cNvPr id="17" name="Freeform 15">
            <a:extLst>
              <a:ext uri="{FF2B5EF4-FFF2-40B4-BE49-F238E27FC236}">
                <a16:creationId xmlns:a16="http://schemas.microsoft.com/office/drawing/2014/main" id="{944CB485-BBAE-B5D8-2CE3-76C54881090D}"/>
              </a:ext>
            </a:extLst>
          </p:cNvPr>
          <p:cNvSpPr>
            <a:spLocks/>
          </p:cNvSpPr>
          <p:nvPr/>
        </p:nvSpPr>
        <p:spPr bwMode="auto">
          <a:xfrm>
            <a:off x="4093944" y="4682347"/>
            <a:ext cx="582613" cy="1588"/>
          </a:xfrm>
          <a:custGeom>
            <a:avLst/>
            <a:gdLst/>
            <a:ahLst/>
            <a:cxnLst>
              <a:cxn ang="0">
                <a:pos x="0" y="0"/>
              </a:cxn>
              <a:cxn ang="0">
                <a:pos x="367" y="0"/>
              </a:cxn>
            </a:cxnLst>
            <a:rect l="0" t="0" r="r" b="b"/>
            <a:pathLst>
              <a:path w="367" h="1">
                <a:moveTo>
                  <a:pt x="0" y="0"/>
                </a:moveTo>
                <a:lnTo>
                  <a:pt x="367" y="0"/>
                </a:lnTo>
              </a:path>
            </a:pathLst>
          </a:custGeom>
          <a:noFill/>
          <a:ln w="19050" cap="flat" cmpd="sng">
            <a:solidFill>
              <a:srgbClr val="3333FF"/>
            </a:solidFill>
            <a:prstDash val="solid"/>
            <a:round/>
            <a:headEnd type="none" w="med" len="med"/>
            <a:tailEnd type="none" w="med" len="lg"/>
          </a:ln>
          <a:effectLst/>
        </p:spPr>
        <p:txBody>
          <a:bodyPr wrap="none"/>
          <a:lstStyle/>
          <a:p>
            <a:endParaRPr lang="zh-CN" altLang="en-US">
              <a:latin typeface="Consolas" pitchFamily="49" charset="0"/>
              <a:cs typeface="Consolas" pitchFamily="49" charset="0"/>
            </a:endParaRPr>
          </a:p>
        </p:txBody>
      </p:sp>
      <p:sp>
        <p:nvSpPr>
          <p:cNvPr id="18" name="Freeform 16">
            <a:extLst>
              <a:ext uri="{FF2B5EF4-FFF2-40B4-BE49-F238E27FC236}">
                <a16:creationId xmlns:a16="http://schemas.microsoft.com/office/drawing/2014/main" id="{D8A40599-3614-3660-895F-C3FF66B5EA41}"/>
              </a:ext>
            </a:extLst>
          </p:cNvPr>
          <p:cNvSpPr>
            <a:spLocks/>
          </p:cNvSpPr>
          <p:nvPr/>
        </p:nvSpPr>
        <p:spPr bwMode="auto">
          <a:xfrm>
            <a:off x="3951069" y="4009247"/>
            <a:ext cx="357188" cy="422275"/>
          </a:xfrm>
          <a:custGeom>
            <a:avLst/>
            <a:gdLst/>
            <a:ahLst/>
            <a:cxnLst>
              <a:cxn ang="0">
                <a:pos x="0" y="266"/>
              </a:cxn>
              <a:cxn ang="0">
                <a:pos x="225" y="0"/>
              </a:cxn>
            </a:cxnLst>
            <a:rect l="0" t="0" r="r" b="b"/>
            <a:pathLst>
              <a:path w="225" h="266">
                <a:moveTo>
                  <a:pt x="0" y="266"/>
                </a:moveTo>
                <a:lnTo>
                  <a:pt x="225" y="0"/>
                </a:lnTo>
              </a:path>
            </a:pathLst>
          </a:custGeom>
          <a:noFill/>
          <a:ln w="19050" cap="flat" cmpd="sng">
            <a:solidFill>
              <a:srgbClr val="3333FF"/>
            </a:solidFill>
            <a:prstDash val="solid"/>
            <a:round/>
            <a:headEnd type="none" w="med" len="med"/>
            <a:tailEnd type="none" w="med" len="lg"/>
          </a:ln>
          <a:effectLst/>
        </p:spPr>
        <p:txBody>
          <a:bodyPr wrap="none"/>
          <a:lstStyle/>
          <a:p>
            <a:endParaRPr lang="zh-CN" altLang="en-US">
              <a:latin typeface="Consolas" pitchFamily="49" charset="0"/>
              <a:cs typeface="Consolas" pitchFamily="49" charset="0"/>
            </a:endParaRPr>
          </a:p>
        </p:txBody>
      </p:sp>
      <p:sp>
        <p:nvSpPr>
          <p:cNvPr id="19" name="Line 17">
            <a:extLst>
              <a:ext uri="{FF2B5EF4-FFF2-40B4-BE49-F238E27FC236}">
                <a16:creationId xmlns:a16="http://schemas.microsoft.com/office/drawing/2014/main" id="{91CEEBC1-7CAB-21B2-E54A-FE6A689C1DA3}"/>
              </a:ext>
            </a:extLst>
          </p:cNvPr>
          <p:cNvSpPr>
            <a:spLocks noChangeShapeType="1"/>
          </p:cNvSpPr>
          <p:nvPr/>
        </p:nvSpPr>
        <p:spPr bwMode="auto">
          <a:xfrm>
            <a:off x="4506627" y="4031466"/>
            <a:ext cx="285752" cy="428628"/>
          </a:xfrm>
          <a:prstGeom prst="line">
            <a:avLst/>
          </a:prstGeom>
          <a:noFill/>
          <a:ln w="19050">
            <a:solidFill>
              <a:srgbClr val="3333FF"/>
            </a:solidFill>
            <a:round/>
            <a:headEnd/>
            <a:tailEnd type="none" w="med" len="lg"/>
          </a:ln>
          <a:effectLst/>
        </p:spPr>
        <p:txBody>
          <a:bodyPr wrap="none"/>
          <a:lstStyle/>
          <a:p>
            <a:endParaRPr lang="zh-CN" altLang="en-US">
              <a:latin typeface="Consolas" pitchFamily="49" charset="0"/>
              <a:cs typeface="Consolas" pitchFamily="49" charset="0"/>
            </a:endParaRPr>
          </a:p>
        </p:txBody>
      </p:sp>
      <p:sp>
        <p:nvSpPr>
          <p:cNvPr id="20" name="Line 18">
            <a:extLst>
              <a:ext uri="{FF2B5EF4-FFF2-40B4-BE49-F238E27FC236}">
                <a16:creationId xmlns:a16="http://schemas.microsoft.com/office/drawing/2014/main" id="{B9B9C87B-4BFF-AA46-18F3-930E5E18ECA2}"/>
              </a:ext>
            </a:extLst>
          </p:cNvPr>
          <p:cNvSpPr>
            <a:spLocks noChangeShapeType="1"/>
          </p:cNvSpPr>
          <p:nvPr/>
        </p:nvSpPr>
        <p:spPr bwMode="auto">
          <a:xfrm flipH="1">
            <a:off x="4514631" y="3232960"/>
            <a:ext cx="287338" cy="431800"/>
          </a:xfrm>
          <a:prstGeom prst="line">
            <a:avLst/>
          </a:prstGeom>
          <a:noFill/>
          <a:ln w="19050">
            <a:solidFill>
              <a:srgbClr val="3333FF"/>
            </a:solidFill>
            <a:round/>
            <a:headEnd/>
            <a:tailEnd type="none" w="med" len="lg"/>
          </a:ln>
          <a:effectLst/>
        </p:spPr>
        <p:txBody>
          <a:bodyPr wrap="none"/>
          <a:lstStyle/>
          <a:p>
            <a:endParaRPr lang="zh-CN" altLang="en-US">
              <a:latin typeface="Consolas" pitchFamily="49" charset="0"/>
              <a:cs typeface="Consolas" pitchFamily="49" charset="0"/>
            </a:endParaRPr>
          </a:p>
        </p:txBody>
      </p:sp>
      <p:sp>
        <p:nvSpPr>
          <p:cNvPr id="21" name="Line 19">
            <a:extLst>
              <a:ext uri="{FF2B5EF4-FFF2-40B4-BE49-F238E27FC236}">
                <a16:creationId xmlns:a16="http://schemas.microsoft.com/office/drawing/2014/main" id="{C32EC046-FB28-A9E1-3EEE-10F5BC92A1CC}"/>
              </a:ext>
            </a:extLst>
          </p:cNvPr>
          <p:cNvSpPr>
            <a:spLocks noChangeShapeType="1"/>
          </p:cNvSpPr>
          <p:nvPr/>
        </p:nvSpPr>
        <p:spPr bwMode="auto">
          <a:xfrm>
            <a:off x="5052728" y="3245648"/>
            <a:ext cx="176400" cy="399600"/>
          </a:xfrm>
          <a:prstGeom prst="line">
            <a:avLst/>
          </a:prstGeom>
          <a:noFill/>
          <a:ln w="38100">
            <a:solidFill>
              <a:srgbClr val="00B0F0"/>
            </a:solidFill>
            <a:round/>
            <a:headEnd/>
            <a:tailEnd type="none" w="med" len="lg"/>
          </a:ln>
          <a:effectLst/>
        </p:spPr>
        <p:txBody>
          <a:bodyPr wrap="none"/>
          <a:lstStyle/>
          <a:p>
            <a:endParaRPr lang="zh-CN" altLang="en-US">
              <a:latin typeface="Consolas" pitchFamily="49" charset="0"/>
              <a:cs typeface="Consolas" pitchFamily="49" charset="0"/>
            </a:endParaRPr>
          </a:p>
        </p:txBody>
      </p:sp>
      <p:sp>
        <p:nvSpPr>
          <p:cNvPr id="22" name="Line 20">
            <a:extLst>
              <a:ext uri="{FF2B5EF4-FFF2-40B4-BE49-F238E27FC236}">
                <a16:creationId xmlns:a16="http://schemas.microsoft.com/office/drawing/2014/main" id="{23FD7350-4638-084A-F11F-457D706E585F}"/>
              </a:ext>
            </a:extLst>
          </p:cNvPr>
          <p:cNvSpPr>
            <a:spLocks noChangeShapeType="1"/>
          </p:cNvSpPr>
          <p:nvPr/>
        </p:nvSpPr>
        <p:spPr bwMode="auto">
          <a:xfrm flipH="1">
            <a:off x="4971829" y="4064804"/>
            <a:ext cx="270000" cy="396000"/>
          </a:xfrm>
          <a:prstGeom prst="line">
            <a:avLst/>
          </a:prstGeom>
          <a:noFill/>
          <a:ln w="19050">
            <a:solidFill>
              <a:srgbClr val="3333FF"/>
            </a:solidFill>
            <a:round/>
            <a:headEnd/>
            <a:tailEnd type="none" w="med" len="lg"/>
          </a:ln>
          <a:effectLst/>
        </p:spPr>
        <p:txBody>
          <a:bodyPr wrap="none"/>
          <a:lstStyle/>
          <a:p>
            <a:endParaRPr lang="zh-CN" altLang="en-US">
              <a:latin typeface="Consolas" pitchFamily="49" charset="0"/>
              <a:cs typeface="Consolas" pitchFamily="49" charset="0"/>
            </a:endParaRPr>
          </a:p>
        </p:txBody>
      </p:sp>
      <p:sp>
        <p:nvSpPr>
          <p:cNvPr id="23" name="Text Box 21">
            <a:extLst>
              <a:ext uri="{FF2B5EF4-FFF2-40B4-BE49-F238E27FC236}">
                <a16:creationId xmlns:a16="http://schemas.microsoft.com/office/drawing/2014/main" id="{EAA92D43-9C5C-8F22-4D45-574BDC8F2178}"/>
              </a:ext>
            </a:extLst>
          </p:cNvPr>
          <p:cNvSpPr txBox="1">
            <a:spLocks noChangeArrowheads="1"/>
          </p:cNvSpPr>
          <p:nvPr/>
        </p:nvSpPr>
        <p:spPr bwMode="auto">
          <a:xfrm>
            <a:off x="4166969" y="2704322"/>
            <a:ext cx="503238" cy="338554"/>
          </a:xfrm>
          <a:prstGeom prst="rect">
            <a:avLst/>
          </a:prstGeom>
          <a:noFill/>
          <a:ln w="19050" algn="ctr">
            <a:noFill/>
            <a:miter lim="800000"/>
            <a:headEnd/>
            <a:tailEnd type="none" w="med" len="lg"/>
          </a:ln>
          <a:effectLst/>
        </p:spPr>
        <p:txBody>
          <a:bodyPr>
            <a:spAutoFit/>
          </a:bodyPr>
          <a:lstStyle/>
          <a:p>
            <a:pPr algn="l">
              <a:spcBef>
                <a:spcPct val="50000"/>
              </a:spcBef>
            </a:pPr>
            <a:r>
              <a:rPr lang="en-US" altLang="zh-CN" sz="1600">
                <a:latin typeface="Consolas" pitchFamily="49" charset="0"/>
                <a:cs typeface="Consolas" pitchFamily="49" charset="0"/>
              </a:rPr>
              <a:t>28</a:t>
            </a:r>
          </a:p>
        </p:txBody>
      </p:sp>
      <p:sp>
        <p:nvSpPr>
          <p:cNvPr id="24" name="Text Box 22">
            <a:extLst>
              <a:ext uri="{FF2B5EF4-FFF2-40B4-BE49-F238E27FC236}">
                <a16:creationId xmlns:a16="http://schemas.microsoft.com/office/drawing/2014/main" id="{082CADBD-B8A4-3085-FEC8-892236CDF844}"/>
              </a:ext>
            </a:extLst>
          </p:cNvPr>
          <p:cNvSpPr txBox="1">
            <a:spLocks noChangeArrowheads="1"/>
          </p:cNvSpPr>
          <p:nvPr/>
        </p:nvSpPr>
        <p:spPr bwMode="auto">
          <a:xfrm>
            <a:off x="3087469" y="3171047"/>
            <a:ext cx="503238" cy="338554"/>
          </a:xfrm>
          <a:prstGeom prst="rect">
            <a:avLst/>
          </a:prstGeom>
          <a:noFill/>
          <a:ln w="19050" algn="ctr">
            <a:noFill/>
            <a:miter lim="800000"/>
            <a:headEnd/>
            <a:tailEnd type="none" w="med" len="lg"/>
          </a:ln>
          <a:effectLst/>
        </p:spPr>
        <p:txBody>
          <a:bodyPr>
            <a:spAutoFit/>
          </a:bodyPr>
          <a:lstStyle/>
          <a:p>
            <a:pPr algn="l">
              <a:spcBef>
                <a:spcPct val="50000"/>
              </a:spcBef>
            </a:pPr>
            <a:r>
              <a:rPr lang="en-US" altLang="zh-CN" sz="1600" dirty="0">
                <a:latin typeface="Consolas" pitchFamily="49" charset="0"/>
                <a:cs typeface="Consolas" pitchFamily="49" charset="0"/>
              </a:rPr>
              <a:t>10</a:t>
            </a:r>
          </a:p>
        </p:txBody>
      </p:sp>
      <p:sp>
        <p:nvSpPr>
          <p:cNvPr id="25" name="Text Box 23">
            <a:extLst>
              <a:ext uri="{FF2B5EF4-FFF2-40B4-BE49-F238E27FC236}">
                <a16:creationId xmlns:a16="http://schemas.microsoft.com/office/drawing/2014/main" id="{F4722FCE-2925-FEEA-F220-F6DF9A8FABE1}"/>
              </a:ext>
            </a:extLst>
          </p:cNvPr>
          <p:cNvSpPr txBox="1">
            <a:spLocks noChangeArrowheads="1"/>
          </p:cNvSpPr>
          <p:nvPr/>
        </p:nvSpPr>
        <p:spPr bwMode="auto">
          <a:xfrm>
            <a:off x="5103594" y="3136122"/>
            <a:ext cx="503238" cy="338554"/>
          </a:xfrm>
          <a:prstGeom prst="rect">
            <a:avLst/>
          </a:prstGeom>
          <a:noFill/>
          <a:ln w="19050" algn="ctr">
            <a:noFill/>
            <a:miter lim="800000"/>
            <a:headEnd/>
            <a:tailEnd type="none" w="med" len="lg"/>
          </a:ln>
          <a:effectLst/>
        </p:spPr>
        <p:txBody>
          <a:bodyPr>
            <a:spAutoFit/>
          </a:bodyPr>
          <a:lstStyle/>
          <a:p>
            <a:pPr algn="l">
              <a:spcBef>
                <a:spcPct val="50000"/>
              </a:spcBef>
            </a:pPr>
            <a:r>
              <a:rPr lang="en-US" altLang="zh-CN" sz="1600">
                <a:latin typeface="Consolas" pitchFamily="49" charset="0"/>
                <a:cs typeface="Consolas" pitchFamily="49" charset="0"/>
              </a:rPr>
              <a:t>16</a:t>
            </a:r>
          </a:p>
        </p:txBody>
      </p:sp>
      <p:sp>
        <p:nvSpPr>
          <p:cNvPr id="26" name="Text Box 24">
            <a:extLst>
              <a:ext uri="{FF2B5EF4-FFF2-40B4-BE49-F238E27FC236}">
                <a16:creationId xmlns:a16="http://schemas.microsoft.com/office/drawing/2014/main" id="{2D970D87-F523-FB9B-6CAC-160C299C3E3D}"/>
              </a:ext>
            </a:extLst>
          </p:cNvPr>
          <p:cNvSpPr txBox="1">
            <a:spLocks noChangeArrowheads="1"/>
          </p:cNvSpPr>
          <p:nvPr/>
        </p:nvSpPr>
        <p:spPr bwMode="auto">
          <a:xfrm>
            <a:off x="4238406" y="3242485"/>
            <a:ext cx="503238" cy="338554"/>
          </a:xfrm>
          <a:prstGeom prst="rect">
            <a:avLst/>
          </a:prstGeom>
          <a:noFill/>
          <a:ln w="19050" algn="ctr">
            <a:noFill/>
            <a:miter lim="800000"/>
            <a:headEnd/>
            <a:tailEnd type="none" w="med" len="lg"/>
          </a:ln>
          <a:effectLst/>
        </p:spPr>
        <p:txBody>
          <a:bodyPr>
            <a:spAutoFit/>
          </a:bodyPr>
          <a:lstStyle/>
          <a:p>
            <a:pPr algn="l">
              <a:spcBef>
                <a:spcPct val="50000"/>
              </a:spcBef>
            </a:pPr>
            <a:r>
              <a:rPr lang="en-US" altLang="zh-CN" sz="1600">
                <a:latin typeface="Consolas" pitchFamily="49" charset="0"/>
                <a:cs typeface="Consolas" pitchFamily="49" charset="0"/>
              </a:rPr>
              <a:t>14</a:t>
            </a:r>
          </a:p>
        </p:txBody>
      </p:sp>
      <p:sp>
        <p:nvSpPr>
          <p:cNvPr id="27" name="Text Box 25">
            <a:extLst>
              <a:ext uri="{FF2B5EF4-FFF2-40B4-BE49-F238E27FC236}">
                <a16:creationId xmlns:a16="http://schemas.microsoft.com/office/drawing/2014/main" id="{8ABE0914-19F5-2371-496E-0FCDBD730B00}"/>
              </a:ext>
            </a:extLst>
          </p:cNvPr>
          <p:cNvSpPr txBox="1">
            <a:spLocks noChangeArrowheads="1"/>
          </p:cNvSpPr>
          <p:nvPr/>
        </p:nvSpPr>
        <p:spPr bwMode="auto">
          <a:xfrm>
            <a:off x="3160494" y="4179110"/>
            <a:ext cx="503238" cy="338554"/>
          </a:xfrm>
          <a:prstGeom prst="rect">
            <a:avLst/>
          </a:prstGeom>
          <a:noFill/>
          <a:ln w="19050" algn="ctr">
            <a:noFill/>
            <a:miter lim="800000"/>
            <a:headEnd/>
            <a:tailEnd type="none" w="med" len="lg"/>
          </a:ln>
          <a:effectLst/>
        </p:spPr>
        <p:txBody>
          <a:bodyPr>
            <a:spAutoFit/>
          </a:bodyPr>
          <a:lstStyle/>
          <a:p>
            <a:pPr algn="l">
              <a:spcBef>
                <a:spcPct val="50000"/>
              </a:spcBef>
            </a:pPr>
            <a:r>
              <a:rPr lang="en-US" altLang="zh-CN" sz="1600">
                <a:latin typeface="Consolas" pitchFamily="49" charset="0"/>
                <a:cs typeface="Consolas" pitchFamily="49" charset="0"/>
              </a:rPr>
              <a:t>25</a:t>
            </a:r>
          </a:p>
        </p:txBody>
      </p:sp>
      <p:sp>
        <p:nvSpPr>
          <p:cNvPr id="28" name="Text Box 26">
            <a:extLst>
              <a:ext uri="{FF2B5EF4-FFF2-40B4-BE49-F238E27FC236}">
                <a16:creationId xmlns:a16="http://schemas.microsoft.com/office/drawing/2014/main" id="{DE7E98C9-1681-7FBA-2FFF-B3274635886F}"/>
              </a:ext>
            </a:extLst>
          </p:cNvPr>
          <p:cNvSpPr txBox="1">
            <a:spLocks noChangeArrowheads="1"/>
          </p:cNvSpPr>
          <p:nvPr/>
        </p:nvSpPr>
        <p:spPr bwMode="auto">
          <a:xfrm>
            <a:off x="3735169" y="3963210"/>
            <a:ext cx="503238" cy="338554"/>
          </a:xfrm>
          <a:prstGeom prst="rect">
            <a:avLst/>
          </a:prstGeom>
          <a:noFill/>
          <a:ln w="19050" algn="ctr">
            <a:noFill/>
            <a:miter lim="800000"/>
            <a:headEnd/>
            <a:tailEnd type="none" w="med" len="lg"/>
          </a:ln>
          <a:effectLst/>
        </p:spPr>
        <p:txBody>
          <a:bodyPr>
            <a:spAutoFit/>
          </a:bodyPr>
          <a:lstStyle/>
          <a:p>
            <a:pPr algn="l">
              <a:spcBef>
                <a:spcPct val="50000"/>
              </a:spcBef>
            </a:pPr>
            <a:r>
              <a:rPr lang="en-US" altLang="zh-CN" sz="1600">
                <a:latin typeface="Consolas" pitchFamily="49" charset="0"/>
                <a:cs typeface="Consolas" pitchFamily="49" charset="0"/>
              </a:rPr>
              <a:t>24</a:t>
            </a:r>
          </a:p>
        </p:txBody>
      </p:sp>
      <p:sp>
        <p:nvSpPr>
          <p:cNvPr id="29" name="Text Box 27">
            <a:extLst>
              <a:ext uri="{FF2B5EF4-FFF2-40B4-BE49-F238E27FC236}">
                <a16:creationId xmlns:a16="http://schemas.microsoft.com/office/drawing/2014/main" id="{346B0050-2877-E97E-3696-D274248C1204}"/>
              </a:ext>
            </a:extLst>
          </p:cNvPr>
          <p:cNvSpPr txBox="1">
            <a:spLocks noChangeArrowheads="1"/>
          </p:cNvSpPr>
          <p:nvPr/>
        </p:nvSpPr>
        <p:spPr bwMode="auto">
          <a:xfrm>
            <a:off x="4598769" y="3890185"/>
            <a:ext cx="503238" cy="338554"/>
          </a:xfrm>
          <a:prstGeom prst="rect">
            <a:avLst/>
          </a:prstGeom>
          <a:noFill/>
          <a:ln w="19050" algn="ctr">
            <a:noFill/>
            <a:miter lim="800000"/>
            <a:headEnd/>
            <a:tailEnd type="none" w="med" len="lg"/>
          </a:ln>
          <a:effectLst/>
        </p:spPr>
        <p:txBody>
          <a:bodyPr>
            <a:spAutoFit/>
          </a:bodyPr>
          <a:lstStyle/>
          <a:p>
            <a:pPr algn="l">
              <a:spcBef>
                <a:spcPct val="50000"/>
              </a:spcBef>
            </a:pPr>
            <a:r>
              <a:rPr lang="en-US" altLang="zh-CN" sz="1600">
                <a:latin typeface="Consolas" pitchFamily="49" charset="0"/>
                <a:cs typeface="Consolas" pitchFamily="49" charset="0"/>
              </a:rPr>
              <a:t>18</a:t>
            </a:r>
          </a:p>
        </p:txBody>
      </p:sp>
      <p:sp>
        <p:nvSpPr>
          <p:cNvPr id="30" name="Text Box 28">
            <a:extLst>
              <a:ext uri="{FF2B5EF4-FFF2-40B4-BE49-F238E27FC236}">
                <a16:creationId xmlns:a16="http://schemas.microsoft.com/office/drawing/2014/main" id="{B0E755DA-DC8F-D0B7-7BB5-22F95AA17533}"/>
              </a:ext>
            </a:extLst>
          </p:cNvPr>
          <p:cNvSpPr txBox="1">
            <a:spLocks noChangeArrowheads="1"/>
          </p:cNvSpPr>
          <p:nvPr/>
        </p:nvSpPr>
        <p:spPr bwMode="auto">
          <a:xfrm>
            <a:off x="4166969" y="4700982"/>
            <a:ext cx="503238" cy="338554"/>
          </a:xfrm>
          <a:prstGeom prst="rect">
            <a:avLst/>
          </a:prstGeom>
          <a:noFill/>
          <a:ln w="19050" algn="ctr">
            <a:noFill/>
            <a:miter lim="800000"/>
            <a:headEnd/>
            <a:tailEnd type="none" w="med" len="lg"/>
          </a:ln>
          <a:effectLst/>
        </p:spPr>
        <p:txBody>
          <a:bodyPr>
            <a:spAutoFit/>
          </a:bodyPr>
          <a:lstStyle/>
          <a:p>
            <a:pPr algn="l">
              <a:spcBef>
                <a:spcPct val="50000"/>
              </a:spcBef>
            </a:pPr>
            <a:r>
              <a:rPr lang="en-US" altLang="zh-CN" sz="1600" dirty="0">
                <a:latin typeface="Consolas" pitchFamily="49" charset="0"/>
                <a:cs typeface="Consolas" pitchFamily="49" charset="0"/>
              </a:rPr>
              <a:t>22</a:t>
            </a:r>
          </a:p>
        </p:txBody>
      </p:sp>
      <p:sp>
        <p:nvSpPr>
          <p:cNvPr id="31" name="Text Box 29">
            <a:extLst>
              <a:ext uri="{FF2B5EF4-FFF2-40B4-BE49-F238E27FC236}">
                <a16:creationId xmlns:a16="http://schemas.microsoft.com/office/drawing/2014/main" id="{DA414272-0EEA-3146-F874-0051B0A97C30}"/>
              </a:ext>
            </a:extLst>
          </p:cNvPr>
          <p:cNvSpPr txBox="1">
            <a:spLocks noChangeArrowheads="1"/>
          </p:cNvSpPr>
          <p:nvPr/>
        </p:nvSpPr>
        <p:spPr bwMode="auto">
          <a:xfrm>
            <a:off x="5032156" y="4179110"/>
            <a:ext cx="503238" cy="338554"/>
          </a:xfrm>
          <a:prstGeom prst="rect">
            <a:avLst/>
          </a:prstGeom>
          <a:noFill/>
          <a:ln w="19050" algn="ctr">
            <a:noFill/>
            <a:miter lim="800000"/>
            <a:headEnd/>
            <a:tailEnd type="none" w="med" len="lg"/>
          </a:ln>
          <a:effectLst/>
        </p:spPr>
        <p:txBody>
          <a:bodyPr>
            <a:spAutoFit/>
          </a:bodyPr>
          <a:lstStyle/>
          <a:p>
            <a:pPr algn="l">
              <a:spcBef>
                <a:spcPct val="50000"/>
              </a:spcBef>
            </a:pPr>
            <a:r>
              <a:rPr lang="en-US" altLang="zh-CN" sz="1600">
                <a:latin typeface="Consolas" pitchFamily="49" charset="0"/>
                <a:cs typeface="Consolas" pitchFamily="49" charset="0"/>
              </a:rPr>
              <a:t>12</a:t>
            </a:r>
          </a:p>
        </p:txBody>
      </p:sp>
      <p:sp>
        <p:nvSpPr>
          <p:cNvPr id="32" name="Text Box 30">
            <a:extLst>
              <a:ext uri="{FF2B5EF4-FFF2-40B4-BE49-F238E27FC236}">
                <a16:creationId xmlns:a16="http://schemas.microsoft.com/office/drawing/2014/main" id="{37184E07-FD9B-137E-E7ED-1286754FBDEB}"/>
              </a:ext>
            </a:extLst>
          </p:cNvPr>
          <p:cNvSpPr txBox="1">
            <a:spLocks noChangeArrowheads="1"/>
          </p:cNvSpPr>
          <p:nvPr/>
        </p:nvSpPr>
        <p:spPr bwMode="auto">
          <a:xfrm>
            <a:off x="3951069" y="5295122"/>
            <a:ext cx="935038" cy="400110"/>
          </a:xfrm>
          <a:prstGeom prst="rect">
            <a:avLst/>
          </a:prstGeom>
          <a:noFill/>
          <a:ln w="19050" algn="ctr">
            <a:noFill/>
            <a:miter lim="800000"/>
            <a:headEnd/>
            <a:tailEnd type="none" w="med" len="lg"/>
          </a:ln>
          <a:effectLst/>
        </p:spPr>
        <p:txBody>
          <a:bodyPr>
            <a:spAutoFit/>
          </a:bodyPr>
          <a:lstStyle/>
          <a:p>
            <a:pPr algn="l">
              <a:spcBef>
                <a:spcPct val="50000"/>
              </a:spcBef>
            </a:pPr>
            <a:r>
              <a:rPr lang="zh-CN" altLang="en-US" sz="2000" dirty="0">
                <a:latin typeface="Consolas" pitchFamily="49" charset="0"/>
                <a:ea typeface="楷体" pitchFamily="49" charset="-122"/>
                <a:cs typeface="Consolas" pitchFamily="49" charset="0"/>
              </a:rPr>
              <a:t>图</a:t>
            </a:r>
            <a:r>
              <a:rPr lang="en-US" altLang="zh-CN" sz="2000" dirty="0">
                <a:latin typeface="Consolas" pitchFamily="49" charset="0"/>
                <a:ea typeface="楷体" pitchFamily="49" charset="-122"/>
                <a:cs typeface="Consolas" pitchFamily="49" charset="0"/>
              </a:rPr>
              <a:t>G</a:t>
            </a:r>
          </a:p>
        </p:txBody>
      </p:sp>
      <p:grpSp>
        <p:nvGrpSpPr>
          <p:cNvPr id="34" name="组合 86">
            <a:extLst>
              <a:ext uri="{FF2B5EF4-FFF2-40B4-BE49-F238E27FC236}">
                <a16:creationId xmlns:a16="http://schemas.microsoft.com/office/drawing/2014/main" id="{00F85E81-FFB2-77A0-2691-7F21F23E5B0B}"/>
              </a:ext>
            </a:extLst>
          </p:cNvPr>
          <p:cNvGrpSpPr/>
          <p:nvPr/>
        </p:nvGrpSpPr>
        <p:grpSpPr>
          <a:xfrm>
            <a:off x="7102270" y="2745582"/>
            <a:ext cx="2376488" cy="2016125"/>
            <a:chOff x="5167380" y="1285860"/>
            <a:chExt cx="2376488" cy="2016125"/>
          </a:xfrm>
        </p:grpSpPr>
        <p:sp>
          <p:nvSpPr>
            <p:cNvPr id="35" name="Oval 31">
              <a:extLst>
                <a:ext uri="{FF2B5EF4-FFF2-40B4-BE49-F238E27FC236}">
                  <a16:creationId xmlns:a16="http://schemas.microsoft.com/office/drawing/2014/main" id="{4CF917C6-CDAF-AB9C-4DD5-BAD40F149E70}"/>
                </a:ext>
              </a:extLst>
            </p:cNvPr>
            <p:cNvSpPr>
              <a:spLocks noChangeArrowheads="1"/>
            </p:cNvSpPr>
            <p:nvPr/>
          </p:nvSpPr>
          <p:spPr bwMode="auto">
            <a:xfrm>
              <a:off x="5743643" y="1285860"/>
              <a:ext cx="360363" cy="431800"/>
            </a:xfrm>
            <a:prstGeom prst="ellipse">
              <a:avLst/>
            </a:prstGeom>
            <a:solidFill>
              <a:schemeClr val="tx2">
                <a:lumMod val="60000"/>
                <a:lumOff val="40000"/>
              </a:schemeClr>
            </a:solidFill>
            <a:ln w="19050" algn="ctr">
              <a:solidFill>
                <a:srgbClr val="3333FF"/>
              </a:solidFill>
              <a:round/>
              <a:headEnd/>
              <a:tailEnd type="none" w="med" len="lg"/>
            </a:ln>
            <a:effectLst/>
          </p:spPr>
          <p:txBody>
            <a:bodyPr wrap="none" anchor="ctr"/>
            <a:lstStyle/>
            <a:p>
              <a:r>
                <a:rPr lang="en-US" altLang="zh-CN" sz="2000" dirty="0">
                  <a:latin typeface="Consolas" pitchFamily="49" charset="0"/>
                  <a:cs typeface="Consolas" pitchFamily="49" charset="0"/>
                </a:rPr>
                <a:t>0</a:t>
              </a:r>
            </a:p>
          </p:txBody>
        </p:sp>
        <p:sp>
          <p:nvSpPr>
            <p:cNvPr id="36" name="Oval 32">
              <a:extLst>
                <a:ext uri="{FF2B5EF4-FFF2-40B4-BE49-F238E27FC236}">
                  <a16:creationId xmlns:a16="http://schemas.microsoft.com/office/drawing/2014/main" id="{6FDD4403-88CB-9935-E07E-1CA30E1A0853}"/>
                </a:ext>
              </a:extLst>
            </p:cNvPr>
            <p:cNvSpPr>
              <a:spLocks noChangeArrowheads="1"/>
            </p:cNvSpPr>
            <p:nvPr/>
          </p:nvSpPr>
          <p:spPr bwMode="auto">
            <a:xfrm>
              <a:off x="6824730" y="1285860"/>
              <a:ext cx="360363"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2000">
                  <a:solidFill>
                    <a:srgbClr val="0000FF"/>
                  </a:solidFill>
                  <a:latin typeface="Consolas" pitchFamily="49" charset="0"/>
                  <a:cs typeface="Consolas" pitchFamily="49" charset="0"/>
                </a:rPr>
                <a:t>1</a:t>
              </a:r>
            </a:p>
          </p:txBody>
        </p:sp>
        <p:sp>
          <p:nvSpPr>
            <p:cNvPr id="37" name="Oval 33">
              <a:extLst>
                <a:ext uri="{FF2B5EF4-FFF2-40B4-BE49-F238E27FC236}">
                  <a16:creationId xmlns:a16="http://schemas.microsoft.com/office/drawing/2014/main" id="{A429F862-6320-C0C4-B027-87B75503610B}"/>
                </a:ext>
              </a:extLst>
            </p:cNvPr>
            <p:cNvSpPr>
              <a:spLocks noChangeArrowheads="1"/>
            </p:cNvSpPr>
            <p:nvPr/>
          </p:nvSpPr>
          <p:spPr bwMode="auto">
            <a:xfrm>
              <a:off x="5167380" y="2151048"/>
              <a:ext cx="360363" cy="431800"/>
            </a:xfrm>
            <a:prstGeom prst="ellipse">
              <a:avLst/>
            </a:prstGeom>
            <a:solidFill>
              <a:schemeClr val="accent1"/>
            </a:solidFill>
            <a:ln w="19050" algn="ctr">
              <a:solidFill>
                <a:srgbClr val="3333FF"/>
              </a:solidFill>
              <a:round/>
              <a:headEnd/>
              <a:tailEnd type="none" w="med" len="lg"/>
            </a:ln>
            <a:effectLst/>
          </p:spPr>
          <p:txBody>
            <a:bodyPr wrap="none" anchor="ctr"/>
            <a:lstStyle/>
            <a:p>
              <a:r>
                <a:rPr lang="en-US" altLang="zh-CN" sz="2000" dirty="0">
                  <a:latin typeface="Consolas" pitchFamily="49" charset="0"/>
                  <a:cs typeface="Consolas" pitchFamily="49" charset="0"/>
                </a:rPr>
                <a:t>5</a:t>
              </a:r>
            </a:p>
          </p:txBody>
        </p:sp>
        <p:sp>
          <p:nvSpPr>
            <p:cNvPr id="38" name="Oval 34">
              <a:extLst>
                <a:ext uri="{FF2B5EF4-FFF2-40B4-BE49-F238E27FC236}">
                  <a16:creationId xmlns:a16="http://schemas.microsoft.com/office/drawing/2014/main" id="{17CE0C9C-9F08-F1F6-730E-DA8E6DE311A5}"/>
                </a:ext>
              </a:extLst>
            </p:cNvPr>
            <p:cNvSpPr>
              <a:spLocks noChangeArrowheads="1"/>
            </p:cNvSpPr>
            <p:nvPr/>
          </p:nvSpPr>
          <p:spPr bwMode="auto">
            <a:xfrm>
              <a:off x="5816668" y="2870185"/>
              <a:ext cx="360363" cy="431800"/>
            </a:xfrm>
            <a:prstGeom prst="ellipse">
              <a:avLst/>
            </a:prstGeom>
            <a:solidFill>
              <a:schemeClr val="accent1"/>
            </a:solidFill>
            <a:ln w="19050" algn="ctr">
              <a:solidFill>
                <a:srgbClr val="3333FF"/>
              </a:solidFill>
              <a:round/>
              <a:headEnd/>
              <a:tailEnd type="none" w="med" len="lg"/>
            </a:ln>
            <a:effectLst/>
          </p:spPr>
          <p:txBody>
            <a:bodyPr wrap="none" anchor="ctr"/>
            <a:lstStyle/>
            <a:p>
              <a:r>
                <a:rPr lang="en-US" altLang="zh-CN" sz="2000" dirty="0">
                  <a:latin typeface="Consolas" pitchFamily="49" charset="0"/>
                  <a:cs typeface="Consolas" pitchFamily="49" charset="0"/>
                </a:rPr>
                <a:t>4</a:t>
              </a:r>
            </a:p>
          </p:txBody>
        </p:sp>
        <p:sp>
          <p:nvSpPr>
            <p:cNvPr id="39" name="Oval 35">
              <a:extLst>
                <a:ext uri="{FF2B5EF4-FFF2-40B4-BE49-F238E27FC236}">
                  <a16:creationId xmlns:a16="http://schemas.microsoft.com/office/drawing/2014/main" id="{A0D98A7E-244D-1262-4DAF-E72D0D6029A4}"/>
                </a:ext>
              </a:extLst>
            </p:cNvPr>
            <p:cNvSpPr>
              <a:spLocks noChangeArrowheads="1"/>
            </p:cNvSpPr>
            <p:nvPr/>
          </p:nvSpPr>
          <p:spPr bwMode="auto">
            <a:xfrm>
              <a:off x="6751705" y="2870185"/>
              <a:ext cx="360363" cy="431800"/>
            </a:xfrm>
            <a:prstGeom prst="ellipse">
              <a:avLst/>
            </a:prstGeom>
            <a:solidFill>
              <a:schemeClr val="accent1"/>
            </a:solidFill>
            <a:ln w="19050" algn="ctr">
              <a:solidFill>
                <a:srgbClr val="3333FF"/>
              </a:solidFill>
              <a:round/>
              <a:headEnd/>
              <a:tailEnd type="none" w="med" len="lg"/>
            </a:ln>
            <a:effectLst/>
          </p:spPr>
          <p:txBody>
            <a:bodyPr wrap="none" anchor="ctr"/>
            <a:lstStyle/>
            <a:p>
              <a:r>
                <a:rPr lang="en-US" altLang="zh-CN" sz="2000" dirty="0">
                  <a:latin typeface="Consolas" pitchFamily="49" charset="0"/>
                  <a:cs typeface="Consolas" pitchFamily="49" charset="0"/>
                </a:rPr>
                <a:t>3</a:t>
              </a:r>
            </a:p>
          </p:txBody>
        </p:sp>
        <p:sp>
          <p:nvSpPr>
            <p:cNvPr id="40" name="Oval 36">
              <a:extLst>
                <a:ext uri="{FF2B5EF4-FFF2-40B4-BE49-F238E27FC236}">
                  <a16:creationId xmlns:a16="http://schemas.microsoft.com/office/drawing/2014/main" id="{FE7D087D-666E-1E70-0F14-21FDDF4969A2}"/>
                </a:ext>
              </a:extLst>
            </p:cNvPr>
            <p:cNvSpPr>
              <a:spLocks noChangeArrowheads="1"/>
            </p:cNvSpPr>
            <p:nvPr/>
          </p:nvSpPr>
          <p:spPr bwMode="auto">
            <a:xfrm>
              <a:off x="6319905" y="2078023"/>
              <a:ext cx="360363"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2000">
                  <a:solidFill>
                    <a:srgbClr val="0000FF"/>
                  </a:solidFill>
                  <a:latin typeface="Consolas" pitchFamily="49" charset="0"/>
                  <a:cs typeface="Consolas" pitchFamily="49" charset="0"/>
                </a:rPr>
                <a:t>6</a:t>
              </a:r>
            </a:p>
          </p:txBody>
        </p:sp>
        <p:sp>
          <p:nvSpPr>
            <p:cNvPr id="41" name="Oval 37">
              <a:extLst>
                <a:ext uri="{FF2B5EF4-FFF2-40B4-BE49-F238E27FC236}">
                  <a16:creationId xmlns:a16="http://schemas.microsoft.com/office/drawing/2014/main" id="{45787392-33DB-78E1-C03E-81887E4568AE}"/>
                </a:ext>
              </a:extLst>
            </p:cNvPr>
            <p:cNvSpPr>
              <a:spLocks noChangeArrowheads="1"/>
            </p:cNvSpPr>
            <p:nvPr/>
          </p:nvSpPr>
          <p:spPr bwMode="auto">
            <a:xfrm>
              <a:off x="7183505" y="2078023"/>
              <a:ext cx="360363" cy="431800"/>
            </a:xfrm>
            <a:prstGeom prst="ellipse">
              <a:avLst/>
            </a:prstGeom>
            <a:solidFill>
              <a:schemeClr val="accent1"/>
            </a:solidFill>
            <a:ln w="19050" algn="ctr">
              <a:solidFill>
                <a:srgbClr val="3333FF"/>
              </a:solidFill>
              <a:round/>
              <a:headEnd/>
              <a:tailEnd type="none" w="med" len="lg"/>
            </a:ln>
            <a:effectLst/>
          </p:spPr>
          <p:txBody>
            <a:bodyPr wrap="none" anchor="ctr"/>
            <a:lstStyle/>
            <a:p>
              <a:r>
                <a:rPr lang="en-US" altLang="zh-CN" sz="2000">
                  <a:latin typeface="Consolas" pitchFamily="49" charset="0"/>
                  <a:cs typeface="Consolas" pitchFamily="49" charset="0"/>
                </a:rPr>
                <a:t>2</a:t>
              </a:r>
            </a:p>
          </p:txBody>
        </p:sp>
      </p:grpSp>
      <p:sp>
        <p:nvSpPr>
          <p:cNvPr id="43" name="Freeform 13">
            <a:extLst>
              <a:ext uri="{FF2B5EF4-FFF2-40B4-BE49-F238E27FC236}">
                <a16:creationId xmlns:a16="http://schemas.microsoft.com/office/drawing/2014/main" id="{82ADD233-CF2C-1EE6-7712-3A7020D93862}"/>
              </a:ext>
            </a:extLst>
          </p:cNvPr>
          <p:cNvSpPr>
            <a:spLocks/>
          </p:cNvSpPr>
          <p:nvPr/>
        </p:nvSpPr>
        <p:spPr bwMode="auto">
          <a:xfrm>
            <a:off x="7338746" y="3102772"/>
            <a:ext cx="395288" cy="528638"/>
          </a:xfrm>
          <a:custGeom>
            <a:avLst/>
            <a:gdLst/>
            <a:ahLst/>
            <a:cxnLst>
              <a:cxn ang="0">
                <a:pos x="249" y="0"/>
              </a:cxn>
              <a:cxn ang="0">
                <a:pos x="0" y="333"/>
              </a:cxn>
            </a:cxnLst>
            <a:rect l="0" t="0" r="r" b="b"/>
            <a:pathLst>
              <a:path w="249" h="333">
                <a:moveTo>
                  <a:pt x="249" y="0"/>
                </a:moveTo>
                <a:lnTo>
                  <a:pt x="0" y="333"/>
                </a:lnTo>
              </a:path>
            </a:pathLst>
          </a:custGeom>
          <a:noFill/>
          <a:ln w="19050" cap="flat" cmpd="sng">
            <a:solidFill>
              <a:srgbClr val="3333FF"/>
            </a:solidFill>
            <a:prstDash val="solid"/>
            <a:round/>
            <a:headEnd type="none" w="med" len="med"/>
            <a:tailEnd type="none" w="med" len="lg"/>
          </a:ln>
          <a:effectLst/>
        </p:spPr>
        <p:txBody>
          <a:bodyPr wrap="none"/>
          <a:lstStyle/>
          <a:p>
            <a:endParaRPr lang="zh-CN" altLang="en-US">
              <a:latin typeface="Consolas" pitchFamily="49" charset="0"/>
              <a:cs typeface="Consolas" pitchFamily="49" charset="0"/>
            </a:endParaRPr>
          </a:p>
        </p:txBody>
      </p:sp>
      <p:sp>
        <p:nvSpPr>
          <p:cNvPr id="44" name="Text Box 65">
            <a:extLst>
              <a:ext uri="{FF2B5EF4-FFF2-40B4-BE49-F238E27FC236}">
                <a16:creationId xmlns:a16="http://schemas.microsoft.com/office/drawing/2014/main" id="{55CEEAAE-667E-1DC6-9ED8-38C1D75D840A}"/>
              </a:ext>
            </a:extLst>
          </p:cNvPr>
          <p:cNvSpPr txBox="1">
            <a:spLocks noChangeArrowheads="1"/>
          </p:cNvSpPr>
          <p:nvPr/>
        </p:nvSpPr>
        <p:spPr bwMode="auto">
          <a:xfrm>
            <a:off x="6792642" y="5317350"/>
            <a:ext cx="3357586" cy="307777"/>
          </a:xfrm>
          <a:prstGeom prst="rect">
            <a:avLst/>
          </a:prstGeom>
          <a:noFill/>
          <a:ln w="19050" algn="ctr">
            <a:noFill/>
            <a:miter lim="800000"/>
            <a:headEnd/>
            <a:tailEnd type="none" w="med" len="lg"/>
          </a:ln>
          <a:effectLst/>
        </p:spPr>
        <p:txBody>
          <a:bodyPr wrap="square" lIns="0" tIns="0" rIns="0" bIns="0">
            <a:spAutoFit/>
          </a:bodyPr>
          <a:lstStyle/>
          <a:p>
            <a:pPr algn="l">
              <a:spcBef>
                <a:spcPct val="50000"/>
              </a:spcBef>
            </a:pPr>
            <a:r>
              <a:rPr lang="en-US" altLang="zh-CN" sz="2000">
                <a:solidFill>
                  <a:srgbClr val="CC00CC"/>
                </a:solidFill>
                <a:latin typeface="Consolas" pitchFamily="49" charset="0"/>
                <a:cs typeface="Consolas" pitchFamily="49" charset="0"/>
              </a:rPr>
              <a:t>U={0</a:t>
            </a:r>
            <a:r>
              <a:rPr lang="zh-CN" altLang="en-US" sz="2000">
                <a:solidFill>
                  <a:srgbClr val="CC00CC"/>
                </a:solidFill>
                <a:latin typeface="Consolas" pitchFamily="49" charset="0"/>
                <a:cs typeface="Consolas" pitchFamily="49" charset="0"/>
              </a:rPr>
              <a:t>，</a:t>
            </a:r>
            <a:r>
              <a:rPr lang="en-US" altLang="zh-CN" sz="2000">
                <a:solidFill>
                  <a:srgbClr val="CC00CC"/>
                </a:solidFill>
                <a:latin typeface="Consolas" pitchFamily="49" charset="0"/>
                <a:cs typeface="Consolas" pitchFamily="49" charset="0"/>
              </a:rPr>
              <a:t>5</a:t>
            </a:r>
            <a:r>
              <a:rPr lang="zh-CN" altLang="en-US" sz="2000">
                <a:solidFill>
                  <a:srgbClr val="CC00CC"/>
                </a:solidFill>
                <a:latin typeface="Consolas" pitchFamily="49" charset="0"/>
                <a:cs typeface="Consolas" pitchFamily="49" charset="0"/>
              </a:rPr>
              <a:t>，</a:t>
            </a:r>
            <a:r>
              <a:rPr lang="en-US" altLang="zh-CN" sz="2000">
                <a:solidFill>
                  <a:srgbClr val="CC00CC"/>
                </a:solidFill>
                <a:latin typeface="Consolas" pitchFamily="49" charset="0"/>
                <a:cs typeface="Consolas" pitchFamily="49" charset="0"/>
              </a:rPr>
              <a:t>4</a:t>
            </a:r>
            <a:r>
              <a:rPr lang="zh-CN" altLang="en-US" sz="2000">
                <a:solidFill>
                  <a:srgbClr val="CC00CC"/>
                </a:solidFill>
                <a:latin typeface="Consolas" pitchFamily="49" charset="0"/>
                <a:cs typeface="Consolas" pitchFamily="49" charset="0"/>
              </a:rPr>
              <a:t>，</a:t>
            </a:r>
            <a:r>
              <a:rPr lang="en-US" altLang="zh-CN" sz="2000">
                <a:solidFill>
                  <a:srgbClr val="CC00CC"/>
                </a:solidFill>
                <a:latin typeface="Consolas" pitchFamily="49" charset="0"/>
                <a:cs typeface="Consolas" pitchFamily="49" charset="0"/>
              </a:rPr>
              <a:t>3</a:t>
            </a:r>
            <a:r>
              <a:rPr lang="zh-CN" altLang="en-US" sz="2000">
                <a:solidFill>
                  <a:srgbClr val="CC00CC"/>
                </a:solidFill>
                <a:latin typeface="Consolas" pitchFamily="49" charset="0"/>
                <a:cs typeface="Consolas" pitchFamily="49" charset="0"/>
              </a:rPr>
              <a:t>，</a:t>
            </a:r>
            <a:r>
              <a:rPr lang="en-US" altLang="zh-CN" sz="2000">
                <a:solidFill>
                  <a:srgbClr val="CC00CC"/>
                </a:solidFill>
                <a:latin typeface="Consolas" pitchFamily="49" charset="0"/>
                <a:cs typeface="Consolas" pitchFamily="49" charset="0"/>
              </a:rPr>
              <a:t>2}</a:t>
            </a:r>
            <a:endParaRPr lang="en-US" altLang="zh-CN" sz="2000" dirty="0">
              <a:solidFill>
                <a:srgbClr val="CC00CC"/>
              </a:solidFill>
              <a:latin typeface="Consolas" pitchFamily="49" charset="0"/>
              <a:cs typeface="Consolas" pitchFamily="49" charset="0"/>
            </a:endParaRPr>
          </a:p>
        </p:txBody>
      </p:sp>
      <p:sp>
        <p:nvSpPr>
          <p:cNvPr id="45" name="Oval 31">
            <a:extLst>
              <a:ext uri="{FF2B5EF4-FFF2-40B4-BE49-F238E27FC236}">
                <a16:creationId xmlns:a16="http://schemas.microsoft.com/office/drawing/2014/main" id="{949D0F29-9297-2A17-BA3A-E665BF8E9072}"/>
              </a:ext>
            </a:extLst>
          </p:cNvPr>
          <p:cNvSpPr>
            <a:spLocks noChangeArrowheads="1"/>
          </p:cNvSpPr>
          <p:nvPr/>
        </p:nvSpPr>
        <p:spPr bwMode="auto">
          <a:xfrm>
            <a:off x="7675298" y="2729710"/>
            <a:ext cx="360363" cy="431800"/>
          </a:xfrm>
          <a:prstGeom prst="ellipse">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anchor="ctr"/>
          <a:lstStyle/>
          <a:p>
            <a:r>
              <a:rPr lang="en-US" altLang="zh-CN" sz="2000" dirty="0">
                <a:solidFill>
                  <a:srgbClr val="FF00FF"/>
                </a:solidFill>
                <a:latin typeface="Consolas" pitchFamily="49" charset="0"/>
                <a:cs typeface="Consolas" pitchFamily="49" charset="0"/>
              </a:rPr>
              <a:t>0</a:t>
            </a:r>
          </a:p>
        </p:txBody>
      </p:sp>
      <p:sp>
        <p:nvSpPr>
          <p:cNvPr id="46" name="Oval 33">
            <a:extLst>
              <a:ext uri="{FF2B5EF4-FFF2-40B4-BE49-F238E27FC236}">
                <a16:creationId xmlns:a16="http://schemas.microsoft.com/office/drawing/2014/main" id="{C84CE583-C750-E033-DE4A-62967582D343}"/>
              </a:ext>
            </a:extLst>
          </p:cNvPr>
          <p:cNvSpPr>
            <a:spLocks noChangeArrowheads="1"/>
          </p:cNvSpPr>
          <p:nvPr/>
        </p:nvSpPr>
        <p:spPr bwMode="auto">
          <a:xfrm>
            <a:off x="7091094" y="3602838"/>
            <a:ext cx="360363" cy="431800"/>
          </a:xfrm>
          <a:prstGeom prst="ellipse">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anchor="ctr"/>
          <a:lstStyle/>
          <a:p>
            <a:r>
              <a:rPr lang="en-US" altLang="zh-CN" sz="2000" dirty="0">
                <a:solidFill>
                  <a:srgbClr val="FF00FF"/>
                </a:solidFill>
                <a:latin typeface="Consolas" pitchFamily="49" charset="0"/>
                <a:ea typeface="黑体" pitchFamily="49" charset="-122"/>
                <a:cs typeface="Consolas" pitchFamily="49" charset="0"/>
              </a:rPr>
              <a:t>5</a:t>
            </a:r>
          </a:p>
        </p:txBody>
      </p:sp>
      <p:sp>
        <p:nvSpPr>
          <p:cNvPr id="47" name="Freeform 14">
            <a:extLst>
              <a:ext uri="{FF2B5EF4-FFF2-40B4-BE49-F238E27FC236}">
                <a16:creationId xmlns:a16="http://schemas.microsoft.com/office/drawing/2014/main" id="{FC9CF963-3606-D4E8-31F0-0A43608373B0}"/>
              </a:ext>
            </a:extLst>
          </p:cNvPr>
          <p:cNvSpPr>
            <a:spLocks/>
          </p:cNvSpPr>
          <p:nvPr/>
        </p:nvSpPr>
        <p:spPr bwMode="auto">
          <a:xfrm>
            <a:off x="7397484" y="3990194"/>
            <a:ext cx="392113" cy="419100"/>
          </a:xfrm>
          <a:custGeom>
            <a:avLst/>
            <a:gdLst/>
            <a:ahLst/>
            <a:cxnLst>
              <a:cxn ang="0">
                <a:pos x="0" y="0"/>
              </a:cxn>
              <a:cxn ang="0">
                <a:pos x="247" y="264"/>
              </a:cxn>
            </a:cxnLst>
            <a:rect l="0" t="0" r="r" b="b"/>
            <a:pathLst>
              <a:path w="247" h="264">
                <a:moveTo>
                  <a:pt x="0" y="0"/>
                </a:moveTo>
                <a:lnTo>
                  <a:pt x="247" y="264"/>
                </a:lnTo>
              </a:path>
            </a:pathLst>
          </a:custGeom>
          <a:noFill/>
          <a:ln w="19050" cap="flat" cmpd="sng">
            <a:solidFill>
              <a:srgbClr val="3333FF"/>
            </a:solidFill>
            <a:prstDash val="solid"/>
            <a:round/>
            <a:headEnd type="none" w="med" len="med"/>
            <a:tailEnd type="none" w="med" len="lg"/>
          </a:ln>
          <a:effectLst/>
        </p:spPr>
        <p:txBody>
          <a:bodyPr wrap="none"/>
          <a:lstStyle/>
          <a:p>
            <a:endParaRPr lang="zh-CN" altLang="en-US">
              <a:latin typeface="Consolas" pitchFamily="49" charset="0"/>
              <a:cs typeface="Consolas" pitchFamily="49" charset="0"/>
            </a:endParaRPr>
          </a:p>
        </p:txBody>
      </p:sp>
      <p:sp>
        <p:nvSpPr>
          <p:cNvPr id="48" name="Oval 34">
            <a:extLst>
              <a:ext uri="{FF2B5EF4-FFF2-40B4-BE49-F238E27FC236}">
                <a16:creationId xmlns:a16="http://schemas.microsoft.com/office/drawing/2014/main" id="{6A0B20D9-3225-EEE5-3DC4-3FAD8F0A35EE}"/>
              </a:ext>
            </a:extLst>
          </p:cNvPr>
          <p:cNvSpPr>
            <a:spLocks noChangeArrowheads="1"/>
          </p:cNvSpPr>
          <p:nvPr/>
        </p:nvSpPr>
        <p:spPr bwMode="auto">
          <a:xfrm>
            <a:off x="7746736" y="4317218"/>
            <a:ext cx="360363" cy="431800"/>
          </a:xfrm>
          <a:prstGeom prst="ellipse">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anchor="ctr"/>
          <a:lstStyle/>
          <a:p>
            <a:r>
              <a:rPr lang="en-US" altLang="zh-CN" sz="2000" dirty="0">
                <a:solidFill>
                  <a:srgbClr val="FF00FF"/>
                </a:solidFill>
                <a:latin typeface="Consolas" pitchFamily="49" charset="0"/>
                <a:cs typeface="Consolas" pitchFamily="49" charset="0"/>
              </a:rPr>
              <a:t>4</a:t>
            </a:r>
          </a:p>
        </p:txBody>
      </p:sp>
      <p:sp>
        <p:nvSpPr>
          <p:cNvPr id="49" name="任意多边形 49">
            <a:extLst>
              <a:ext uri="{FF2B5EF4-FFF2-40B4-BE49-F238E27FC236}">
                <a16:creationId xmlns:a16="http://schemas.microsoft.com/office/drawing/2014/main" id="{067A8C7B-43EA-0549-6380-D96924FDB264}"/>
              </a:ext>
            </a:extLst>
          </p:cNvPr>
          <p:cNvSpPr/>
          <p:nvPr/>
        </p:nvSpPr>
        <p:spPr bwMode="auto">
          <a:xfrm>
            <a:off x="4084334" y="2675446"/>
            <a:ext cx="1146798" cy="1739882"/>
          </a:xfrm>
          <a:custGeom>
            <a:avLst/>
            <a:gdLst>
              <a:gd name="connsiteX0" fmla="*/ 825500 w 1678517"/>
              <a:gd name="connsiteY0" fmla="*/ 48683 h 2652183"/>
              <a:gd name="connsiteX1" fmla="*/ 254000 w 1678517"/>
              <a:gd name="connsiteY1" fmla="*/ 658283 h 2652183"/>
              <a:gd name="connsiteX2" fmla="*/ 38100 w 1678517"/>
              <a:gd name="connsiteY2" fmla="*/ 1178983 h 2652183"/>
              <a:gd name="connsiteX3" fmla="*/ 482600 w 1678517"/>
              <a:gd name="connsiteY3" fmla="*/ 2207683 h 2652183"/>
              <a:gd name="connsiteX4" fmla="*/ 1016000 w 1678517"/>
              <a:gd name="connsiteY4" fmla="*/ 2499783 h 2652183"/>
              <a:gd name="connsiteX5" fmla="*/ 1600200 w 1678517"/>
              <a:gd name="connsiteY5" fmla="*/ 1293283 h 2652183"/>
              <a:gd name="connsiteX6" fmla="*/ 1485900 w 1678517"/>
              <a:gd name="connsiteY6" fmla="*/ 366183 h 2652183"/>
              <a:gd name="connsiteX7" fmla="*/ 825500 w 1678517"/>
              <a:gd name="connsiteY7" fmla="*/ 48683 h 2652183"/>
              <a:gd name="connsiteX0" fmla="*/ 825500 w 1615017"/>
              <a:gd name="connsiteY0" fmla="*/ 48683 h 2572284"/>
              <a:gd name="connsiteX1" fmla="*/ 254000 w 1615017"/>
              <a:gd name="connsiteY1" fmla="*/ 658283 h 2572284"/>
              <a:gd name="connsiteX2" fmla="*/ 38100 w 1615017"/>
              <a:gd name="connsiteY2" fmla="*/ 1178983 h 2572284"/>
              <a:gd name="connsiteX3" fmla="*/ 482600 w 1615017"/>
              <a:gd name="connsiteY3" fmla="*/ 2207683 h 2572284"/>
              <a:gd name="connsiteX4" fmla="*/ 1016000 w 1615017"/>
              <a:gd name="connsiteY4" fmla="*/ 2499783 h 2572284"/>
              <a:gd name="connsiteX5" fmla="*/ 1411258 w 1615017"/>
              <a:gd name="connsiteY5" fmla="*/ 1772679 h 2572284"/>
              <a:gd name="connsiteX6" fmla="*/ 1600200 w 1615017"/>
              <a:gd name="connsiteY6" fmla="*/ 1293283 h 2572284"/>
              <a:gd name="connsiteX7" fmla="*/ 1485900 w 1615017"/>
              <a:gd name="connsiteY7" fmla="*/ 366183 h 2572284"/>
              <a:gd name="connsiteX8" fmla="*/ 825500 w 1615017"/>
              <a:gd name="connsiteY8" fmla="*/ 48683 h 2572284"/>
              <a:gd name="connsiteX0" fmla="*/ 825500 w 1615017"/>
              <a:gd name="connsiteY0" fmla="*/ 48683 h 2273030"/>
              <a:gd name="connsiteX1" fmla="*/ 254000 w 1615017"/>
              <a:gd name="connsiteY1" fmla="*/ 658283 h 2273030"/>
              <a:gd name="connsiteX2" fmla="*/ 38100 w 1615017"/>
              <a:gd name="connsiteY2" fmla="*/ 1178983 h 2273030"/>
              <a:gd name="connsiteX3" fmla="*/ 482600 w 1615017"/>
              <a:gd name="connsiteY3" fmla="*/ 2207683 h 2273030"/>
              <a:gd name="connsiteX4" fmla="*/ 801654 w 1615017"/>
              <a:gd name="connsiteY4" fmla="*/ 1571065 h 2273030"/>
              <a:gd name="connsiteX5" fmla="*/ 1411258 w 1615017"/>
              <a:gd name="connsiteY5" fmla="*/ 1772679 h 2273030"/>
              <a:gd name="connsiteX6" fmla="*/ 1600200 w 1615017"/>
              <a:gd name="connsiteY6" fmla="*/ 1293283 h 2273030"/>
              <a:gd name="connsiteX7" fmla="*/ 1485900 w 1615017"/>
              <a:gd name="connsiteY7" fmla="*/ 366183 h 2273030"/>
              <a:gd name="connsiteX8" fmla="*/ 825500 w 1615017"/>
              <a:gd name="connsiteY8" fmla="*/ 48683 h 2273030"/>
              <a:gd name="connsiteX0" fmla="*/ 825500 w 1615017"/>
              <a:gd name="connsiteY0" fmla="*/ 48683 h 1915816"/>
              <a:gd name="connsiteX1" fmla="*/ 254000 w 1615017"/>
              <a:gd name="connsiteY1" fmla="*/ 658283 h 1915816"/>
              <a:gd name="connsiteX2" fmla="*/ 38100 w 1615017"/>
              <a:gd name="connsiteY2" fmla="*/ 1178983 h 1915816"/>
              <a:gd name="connsiteX3" fmla="*/ 482600 w 1615017"/>
              <a:gd name="connsiteY3" fmla="*/ 1850469 h 1915816"/>
              <a:gd name="connsiteX4" fmla="*/ 801654 w 1615017"/>
              <a:gd name="connsiteY4" fmla="*/ 1571065 h 1915816"/>
              <a:gd name="connsiteX5" fmla="*/ 1411258 w 1615017"/>
              <a:gd name="connsiteY5" fmla="*/ 1772679 h 1915816"/>
              <a:gd name="connsiteX6" fmla="*/ 1600200 w 1615017"/>
              <a:gd name="connsiteY6" fmla="*/ 1293283 h 1915816"/>
              <a:gd name="connsiteX7" fmla="*/ 1485900 w 1615017"/>
              <a:gd name="connsiteY7" fmla="*/ 366183 h 1915816"/>
              <a:gd name="connsiteX8" fmla="*/ 825500 w 1615017"/>
              <a:gd name="connsiteY8" fmla="*/ 48683 h 1915816"/>
              <a:gd name="connsiteX0" fmla="*/ 825500 w 1615017"/>
              <a:gd name="connsiteY0" fmla="*/ 48683 h 1818976"/>
              <a:gd name="connsiteX1" fmla="*/ 254000 w 1615017"/>
              <a:gd name="connsiteY1" fmla="*/ 658283 h 1818976"/>
              <a:gd name="connsiteX2" fmla="*/ 38100 w 1615017"/>
              <a:gd name="connsiteY2" fmla="*/ 1178983 h 1818976"/>
              <a:gd name="connsiteX3" fmla="*/ 482600 w 1615017"/>
              <a:gd name="connsiteY3" fmla="*/ 1636131 h 1818976"/>
              <a:gd name="connsiteX4" fmla="*/ 801654 w 1615017"/>
              <a:gd name="connsiteY4" fmla="*/ 1571065 h 1818976"/>
              <a:gd name="connsiteX5" fmla="*/ 1411258 w 1615017"/>
              <a:gd name="connsiteY5" fmla="*/ 1772679 h 1818976"/>
              <a:gd name="connsiteX6" fmla="*/ 1600200 w 1615017"/>
              <a:gd name="connsiteY6" fmla="*/ 1293283 h 1818976"/>
              <a:gd name="connsiteX7" fmla="*/ 1485900 w 1615017"/>
              <a:gd name="connsiteY7" fmla="*/ 366183 h 1818976"/>
              <a:gd name="connsiteX8" fmla="*/ 825500 w 1615017"/>
              <a:gd name="connsiteY8" fmla="*/ 48683 h 1818976"/>
              <a:gd name="connsiteX0" fmla="*/ 682656 w 1472173"/>
              <a:gd name="connsiteY0" fmla="*/ 48683 h 1818976"/>
              <a:gd name="connsiteX1" fmla="*/ 111156 w 1472173"/>
              <a:gd name="connsiteY1" fmla="*/ 658283 h 1818976"/>
              <a:gd name="connsiteX2" fmla="*/ 38100 w 1472173"/>
              <a:gd name="connsiteY2" fmla="*/ 1178983 h 1818976"/>
              <a:gd name="connsiteX3" fmla="*/ 339756 w 1472173"/>
              <a:gd name="connsiteY3" fmla="*/ 1636131 h 1818976"/>
              <a:gd name="connsiteX4" fmla="*/ 658810 w 1472173"/>
              <a:gd name="connsiteY4" fmla="*/ 1571065 h 1818976"/>
              <a:gd name="connsiteX5" fmla="*/ 1268414 w 1472173"/>
              <a:gd name="connsiteY5" fmla="*/ 1772679 h 1818976"/>
              <a:gd name="connsiteX6" fmla="*/ 1457356 w 1472173"/>
              <a:gd name="connsiteY6" fmla="*/ 1293283 h 1818976"/>
              <a:gd name="connsiteX7" fmla="*/ 1343056 w 1472173"/>
              <a:gd name="connsiteY7" fmla="*/ 366183 h 1818976"/>
              <a:gd name="connsiteX8" fmla="*/ 682656 w 1472173"/>
              <a:gd name="connsiteY8" fmla="*/ 48683 h 1818976"/>
              <a:gd name="connsiteX0" fmla="*/ 682656 w 1388823"/>
              <a:gd name="connsiteY0" fmla="*/ 48683 h 1890418"/>
              <a:gd name="connsiteX1" fmla="*/ 111156 w 1388823"/>
              <a:gd name="connsiteY1" fmla="*/ 658283 h 1890418"/>
              <a:gd name="connsiteX2" fmla="*/ 38100 w 1388823"/>
              <a:gd name="connsiteY2" fmla="*/ 1178983 h 1890418"/>
              <a:gd name="connsiteX3" fmla="*/ 339756 w 1388823"/>
              <a:gd name="connsiteY3" fmla="*/ 1636131 h 1890418"/>
              <a:gd name="connsiteX4" fmla="*/ 658810 w 1388823"/>
              <a:gd name="connsiteY4" fmla="*/ 1571065 h 1890418"/>
              <a:gd name="connsiteX5" fmla="*/ 1268414 w 1388823"/>
              <a:gd name="connsiteY5" fmla="*/ 1772679 h 1890418"/>
              <a:gd name="connsiteX6" fmla="*/ 957258 w 1388823"/>
              <a:gd name="connsiteY6" fmla="*/ 864631 h 1890418"/>
              <a:gd name="connsiteX7" fmla="*/ 1343056 w 1388823"/>
              <a:gd name="connsiteY7" fmla="*/ 366183 h 1890418"/>
              <a:gd name="connsiteX8" fmla="*/ 682656 w 1388823"/>
              <a:gd name="connsiteY8" fmla="*/ 48683 h 1890418"/>
              <a:gd name="connsiteX0" fmla="*/ 682656 w 1388823"/>
              <a:gd name="connsiteY0" fmla="*/ 48683 h 1701478"/>
              <a:gd name="connsiteX1" fmla="*/ 111156 w 1388823"/>
              <a:gd name="connsiteY1" fmla="*/ 658283 h 1701478"/>
              <a:gd name="connsiteX2" fmla="*/ 38100 w 1388823"/>
              <a:gd name="connsiteY2" fmla="*/ 1178983 h 1701478"/>
              <a:gd name="connsiteX3" fmla="*/ 339756 w 1388823"/>
              <a:gd name="connsiteY3" fmla="*/ 1636131 h 1701478"/>
              <a:gd name="connsiteX4" fmla="*/ 658810 w 1388823"/>
              <a:gd name="connsiteY4" fmla="*/ 1571065 h 1701478"/>
              <a:gd name="connsiteX5" fmla="*/ 625440 w 1388823"/>
              <a:gd name="connsiteY5" fmla="*/ 1272589 h 1701478"/>
              <a:gd name="connsiteX6" fmla="*/ 957258 w 1388823"/>
              <a:gd name="connsiteY6" fmla="*/ 864631 h 1701478"/>
              <a:gd name="connsiteX7" fmla="*/ 1343056 w 1388823"/>
              <a:gd name="connsiteY7" fmla="*/ 366183 h 1701478"/>
              <a:gd name="connsiteX8" fmla="*/ 682656 w 1388823"/>
              <a:gd name="connsiteY8" fmla="*/ 48683 h 1701478"/>
              <a:gd name="connsiteX0" fmla="*/ 682656 w 1174477"/>
              <a:gd name="connsiteY0" fmla="*/ 48683 h 1701478"/>
              <a:gd name="connsiteX1" fmla="*/ 111156 w 1174477"/>
              <a:gd name="connsiteY1" fmla="*/ 658283 h 1701478"/>
              <a:gd name="connsiteX2" fmla="*/ 38100 w 1174477"/>
              <a:gd name="connsiteY2" fmla="*/ 1178983 h 1701478"/>
              <a:gd name="connsiteX3" fmla="*/ 339756 w 1174477"/>
              <a:gd name="connsiteY3" fmla="*/ 1636131 h 1701478"/>
              <a:gd name="connsiteX4" fmla="*/ 658810 w 1174477"/>
              <a:gd name="connsiteY4" fmla="*/ 1571065 h 1701478"/>
              <a:gd name="connsiteX5" fmla="*/ 625440 w 1174477"/>
              <a:gd name="connsiteY5" fmla="*/ 1272589 h 1701478"/>
              <a:gd name="connsiteX6" fmla="*/ 957258 w 1174477"/>
              <a:gd name="connsiteY6" fmla="*/ 864631 h 1701478"/>
              <a:gd name="connsiteX7" fmla="*/ 1128710 w 1174477"/>
              <a:gd name="connsiteY7" fmla="*/ 366183 h 1701478"/>
              <a:gd name="connsiteX8" fmla="*/ 682656 w 1174477"/>
              <a:gd name="connsiteY8" fmla="*/ 48683 h 1701478"/>
              <a:gd name="connsiteX0" fmla="*/ 682656 w 1174477"/>
              <a:gd name="connsiteY0" fmla="*/ 48683 h 1701478"/>
              <a:gd name="connsiteX1" fmla="*/ 111156 w 1174477"/>
              <a:gd name="connsiteY1" fmla="*/ 658283 h 1701478"/>
              <a:gd name="connsiteX2" fmla="*/ 38100 w 1174477"/>
              <a:gd name="connsiteY2" fmla="*/ 1178983 h 1701478"/>
              <a:gd name="connsiteX3" fmla="*/ 339756 w 1174477"/>
              <a:gd name="connsiteY3" fmla="*/ 1636131 h 1701478"/>
              <a:gd name="connsiteX4" fmla="*/ 444464 w 1174477"/>
              <a:gd name="connsiteY4" fmla="*/ 1571065 h 1701478"/>
              <a:gd name="connsiteX5" fmla="*/ 625440 w 1174477"/>
              <a:gd name="connsiteY5" fmla="*/ 1272589 h 1701478"/>
              <a:gd name="connsiteX6" fmla="*/ 957258 w 1174477"/>
              <a:gd name="connsiteY6" fmla="*/ 864631 h 1701478"/>
              <a:gd name="connsiteX7" fmla="*/ 1128710 w 1174477"/>
              <a:gd name="connsiteY7" fmla="*/ 366183 h 1701478"/>
              <a:gd name="connsiteX8" fmla="*/ 682656 w 1174477"/>
              <a:gd name="connsiteY8" fmla="*/ 48683 h 1701478"/>
              <a:gd name="connsiteX0" fmla="*/ 682656 w 1146798"/>
              <a:gd name="connsiteY0" fmla="*/ 87087 h 1739882"/>
              <a:gd name="connsiteX1" fmla="*/ 111156 w 1146798"/>
              <a:gd name="connsiteY1" fmla="*/ 696687 h 1739882"/>
              <a:gd name="connsiteX2" fmla="*/ 38100 w 1146798"/>
              <a:gd name="connsiteY2" fmla="*/ 1217387 h 1739882"/>
              <a:gd name="connsiteX3" fmla="*/ 339756 w 1146798"/>
              <a:gd name="connsiteY3" fmla="*/ 1674535 h 1739882"/>
              <a:gd name="connsiteX4" fmla="*/ 444464 w 1146798"/>
              <a:gd name="connsiteY4" fmla="*/ 1609469 h 1739882"/>
              <a:gd name="connsiteX5" fmla="*/ 625440 w 1146798"/>
              <a:gd name="connsiteY5" fmla="*/ 1310993 h 1739882"/>
              <a:gd name="connsiteX6" fmla="*/ 957258 w 1146798"/>
              <a:gd name="connsiteY6" fmla="*/ 903035 h 1739882"/>
              <a:gd name="connsiteX7" fmla="*/ 1128710 w 1146798"/>
              <a:gd name="connsiteY7" fmla="*/ 404587 h 1739882"/>
              <a:gd name="connsiteX8" fmla="*/ 1065784 w 1146798"/>
              <a:gd name="connsiteY8" fmla="*/ 174164 h 1739882"/>
              <a:gd name="connsiteX9" fmla="*/ 682656 w 1146798"/>
              <a:gd name="connsiteY9" fmla="*/ 87087 h 17398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46798" h="1739882">
                <a:moveTo>
                  <a:pt x="682656" y="87087"/>
                </a:moveTo>
                <a:cubicBezTo>
                  <a:pt x="513064" y="135770"/>
                  <a:pt x="218582" y="508304"/>
                  <a:pt x="111156" y="696687"/>
                </a:cubicBezTo>
                <a:cubicBezTo>
                  <a:pt x="3730" y="885070"/>
                  <a:pt x="0" y="1054412"/>
                  <a:pt x="38100" y="1217387"/>
                </a:cubicBezTo>
                <a:cubicBezTo>
                  <a:pt x="76200" y="1380362"/>
                  <a:pt x="272029" y="1609188"/>
                  <a:pt x="339756" y="1674535"/>
                </a:cubicBezTo>
                <a:cubicBezTo>
                  <a:pt x="407483" y="1739882"/>
                  <a:pt x="396850" y="1670059"/>
                  <a:pt x="444464" y="1609469"/>
                </a:cubicBezTo>
                <a:cubicBezTo>
                  <a:pt x="492078" y="1548879"/>
                  <a:pt x="539974" y="1428732"/>
                  <a:pt x="625440" y="1310993"/>
                </a:cubicBezTo>
                <a:cubicBezTo>
                  <a:pt x="710906" y="1193254"/>
                  <a:pt x="873380" y="1054103"/>
                  <a:pt x="957258" y="903035"/>
                </a:cubicBezTo>
                <a:cubicBezTo>
                  <a:pt x="1041136" y="751967"/>
                  <a:pt x="1110622" y="526066"/>
                  <a:pt x="1128710" y="404587"/>
                </a:cubicBezTo>
                <a:cubicBezTo>
                  <a:pt x="1146798" y="283109"/>
                  <a:pt x="1140126" y="227081"/>
                  <a:pt x="1065784" y="174164"/>
                </a:cubicBezTo>
                <a:cubicBezTo>
                  <a:pt x="991442" y="121247"/>
                  <a:pt x="817953" y="0"/>
                  <a:pt x="682656" y="87087"/>
                </a:cubicBezTo>
                <a:close/>
              </a:path>
            </a:pathLst>
          </a:custGeom>
          <a:solidFill>
            <a:schemeClr val="accent3">
              <a:lumMod val="60000"/>
              <a:lumOff val="40000"/>
              <a:alpha val="49000"/>
            </a:schemeClr>
          </a:solidFill>
          <a:ln w="19050" cap="flat" cmpd="sng">
            <a:solidFill>
              <a:srgbClr val="C00000"/>
            </a:solidFill>
            <a:prstDash val="dash"/>
            <a:round/>
            <a:headEnd type="none" w="med" len="med"/>
            <a:tailEnd type="none" w="med" len="lg"/>
          </a:ln>
          <a:effectLst/>
        </p:spPr>
        <p:txBody>
          <a:bodyPr wrap="none" rtlCol="0" anchor="ctr"/>
          <a:lstStyle/>
          <a:p>
            <a:pPr algn="ctr"/>
            <a:endParaRPr lang="zh-CN" altLang="en-US">
              <a:latin typeface="Consolas" pitchFamily="49" charset="0"/>
              <a:cs typeface="Consolas" pitchFamily="49" charset="0"/>
            </a:endParaRPr>
          </a:p>
        </p:txBody>
      </p:sp>
      <p:sp>
        <p:nvSpPr>
          <p:cNvPr id="90" name="Freeform 15">
            <a:extLst>
              <a:ext uri="{FF2B5EF4-FFF2-40B4-BE49-F238E27FC236}">
                <a16:creationId xmlns:a16="http://schemas.microsoft.com/office/drawing/2014/main" id="{2020963E-DBA8-D068-E28D-B56E7CEFC835}"/>
              </a:ext>
            </a:extLst>
          </p:cNvPr>
          <p:cNvSpPr>
            <a:spLocks/>
          </p:cNvSpPr>
          <p:nvPr/>
        </p:nvSpPr>
        <p:spPr bwMode="auto">
          <a:xfrm>
            <a:off x="8113455" y="4544232"/>
            <a:ext cx="582613" cy="1588"/>
          </a:xfrm>
          <a:custGeom>
            <a:avLst/>
            <a:gdLst/>
            <a:ahLst/>
            <a:cxnLst>
              <a:cxn ang="0">
                <a:pos x="0" y="0"/>
              </a:cxn>
              <a:cxn ang="0">
                <a:pos x="367" y="0"/>
              </a:cxn>
            </a:cxnLst>
            <a:rect l="0" t="0" r="r" b="b"/>
            <a:pathLst>
              <a:path w="367" h="1">
                <a:moveTo>
                  <a:pt x="0" y="0"/>
                </a:moveTo>
                <a:lnTo>
                  <a:pt x="367" y="0"/>
                </a:lnTo>
              </a:path>
            </a:pathLst>
          </a:custGeom>
          <a:noFill/>
          <a:ln w="19050" cap="flat" cmpd="sng">
            <a:solidFill>
              <a:srgbClr val="3333FF"/>
            </a:solidFill>
            <a:prstDash val="solid"/>
            <a:round/>
            <a:headEnd type="none" w="med" len="med"/>
            <a:tailEnd type="none" w="med" len="lg"/>
          </a:ln>
          <a:effectLst/>
        </p:spPr>
        <p:txBody>
          <a:bodyPr wrap="none"/>
          <a:lstStyle/>
          <a:p>
            <a:endParaRPr lang="zh-CN" altLang="en-US">
              <a:latin typeface="Consolas" pitchFamily="49" charset="0"/>
              <a:cs typeface="Consolas" pitchFamily="49" charset="0"/>
            </a:endParaRPr>
          </a:p>
        </p:txBody>
      </p:sp>
      <p:sp>
        <p:nvSpPr>
          <p:cNvPr id="91" name="Oval 35">
            <a:extLst>
              <a:ext uri="{FF2B5EF4-FFF2-40B4-BE49-F238E27FC236}">
                <a16:creationId xmlns:a16="http://schemas.microsoft.com/office/drawing/2014/main" id="{C06DC93D-EC9F-5C3E-6A1D-FEA14ACE3753}"/>
              </a:ext>
            </a:extLst>
          </p:cNvPr>
          <p:cNvSpPr>
            <a:spLocks noChangeArrowheads="1"/>
          </p:cNvSpPr>
          <p:nvPr/>
        </p:nvSpPr>
        <p:spPr bwMode="auto">
          <a:xfrm>
            <a:off x="8680195" y="4329918"/>
            <a:ext cx="360363" cy="431800"/>
          </a:xfrm>
          <a:prstGeom prst="ellipse">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anchor="ctr"/>
          <a:lstStyle/>
          <a:p>
            <a:r>
              <a:rPr lang="en-US" altLang="zh-CN" sz="2000" dirty="0">
                <a:solidFill>
                  <a:srgbClr val="FF00FF"/>
                </a:solidFill>
                <a:latin typeface="Consolas" pitchFamily="49" charset="0"/>
                <a:cs typeface="Consolas" pitchFamily="49" charset="0"/>
              </a:rPr>
              <a:t>3</a:t>
            </a:r>
          </a:p>
        </p:txBody>
      </p:sp>
      <p:sp>
        <p:nvSpPr>
          <p:cNvPr id="96" name="Line 20">
            <a:extLst>
              <a:ext uri="{FF2B5EF4-FFF2-40B4-BE49-F238E27FC236}">
                <a16:creationId xmlns:a16="http://schemas.microsoft.com/office/drawing/2014/main" id="{2B68A0A4-8561-ED07-ED9E-214FCD14EABA}"/>
              </a:ext>
            </a:extLst>
          </p:cNvPr>
          <p:cNvSpPr>
            <a:spLocks noChangeShapeType="1"/>
          </p:cNvSpPr>
          <p:nvPr/>
        </p:nvSpPr>
        <p:spPr bwMode="auto">
          <a:xfrm flipH="1">
            <a:off x="8994520" y="3972728"/>
            <a:ext cx="270000" cy="396000"/>
          </a:xfrm>
          <a:prstGeom prst="line">
            <a:avLst/>
          </a:prstGeom>
          <a:noFill/>
          <a:ln w="19050">
            <a:solidFill>
              <a:srgbClr val="3333FF"/>
            </a:solidFill>
            <a:round/>
            <a:headEnd/>
            <a:tailEnd type="none" w="med" len="lg"/>
          </a:ln>
          <a:effectLst/>
        </p:spPr>
        <p:txBody>
          <a:bodyPr wrap="none"/>
          <a:lstStyle/>
          <a:p>
            <a:endParaRPr lang="zh-CN" altLang="en-US">
              <a:latin typeface="Consolas" pitchFamily="49" charset="0"/>
              <a:cs typeface="Consolas" pitchFamily="49" charset="0"/>
            </a:endParaRPr>
          </a:p>
        </p:txBody>
      </p:sp>
      <p:sp>
        <p:nvSpPr>
          <p:cNvPr id="97" name="Oval 37">
            <a:extLst>
              <a:ext uri="{FF2B5EF4-FFF2-40B4-BE49-F238E27FC236}">
                <a16:creationId xmlns:a16="http://schemas.microsoft.com/office/drawing/2014/main" id="{429FEDF6-3AF4-240D-3E68-DEC2C83A7CB4}"/>
              </a:ext>
            </a:extLst>
          </p:cNvPr>
          <p:cNvSpPr>
            <a:spLocks noChangeArrowheads="1"/>
          </p:cNvSpPr>
          <p:nvPr/>
        </p:nvSpPr>
        <p:spPr bwMode="auto">
          <a:xfrm>
            <a:off x="9116758" y="3531400"/>
            <a:ext cx="360363" cy="431800"/>
          </a:xfrm>
          <a:prstGeom prst="ellipse">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anchor="ctr"/>
          <a:lstStyle/>
          <a:p>
            <a:r>
              <a:rPr lang="en-US" altLang="zh-CN" sz="2000">
                <a:solidFill>
                  <a:srgbClr val="FF00FF"/>
                </a:solidFill>
                <a:latin typeface="Consolas" pitchFamily="49" charset="0"/>
                <a:cs typeface="Consolas" pitchFamily="49" charset="0"/>
              </a:rPr>
              <a:t>2</a:t>
            </a:r>
          </a:p>
        </p:txBody>
      </p:sp>
      <p:sp>
        <p:nvSpPr>
          <p:cNvPr id="98" name="任意多边形 54">
            <a:extLst>
              <a:ext uri="{FF2B5EF4-FFF2-40B4-BE49-F238E27FC236}">
                <a16:creationId xmlns:a16="http://schemas.microsoft.com/office/drawing/2014/main" id="{E83176DE-0D38-4F03-FAFA-0D2D53A164E7}"/>
              </a:ext>
            </a:extLst>
          </p:cNvPr>
          <p:cNvSpPr/>
          <p:nvPr/>
        </p:nvSpPr>
        <p:spPr bwMode="auto">
          <a:xfrm>
            <a:off x="2855640" y="2751950"/>
            <a:ext cx="2836333" cy="2565400"/>
          </a:xfrm>
          <a:custGeom>
            <a:avLst/>
            <a:gdLst>
              <a:gd name="connsiteX0" fmla="*/ 704850 w 2836333"/>
              <a:gd name="connsiteY0" fmla="*/ 124883 h 2565400"/>
              <a:gd name="connsiteX1" fmla="*/ 184150 w 2836333"/>
              <a:gd name="connsiteY1" fmla="*/ 759883 h 2565400"/>
              <a:gd name="connsiteX2" fmla="*/ 120650 w 2836333"/>
              <a:gd name="connsiteY2" fmla="*/ 1534583 h 2565400"/>
              <a:gd name="connsiteX3" fmla="*/ 908050 w 2836333"/>
              <a:gd name="connsiteY3" fmla="*/ 2360083 h 2565400"/>
              <a:gd name="connsiteX4" fmla="*/ 2101850 w 2836333"/>
              <a:gd name="connsiteY4" fmla="*/ 2398183 h 2565400"/>
              <a:gd name="connsiteX5" fmla="*/ 2749550 w 2836333"/>
              <a:gd name="connsiteY5" fmla="*/ 1356783 h 2565400"/>
              <a:gd name="connsiteX6" fmla="*/ 2622550 w 2836333"/>
              <a:gd name="connsiteY6" fmla="*/ 886883 h 2565400"/>
              <a:gd name="connsiteX7" fmla="*/ 2216150 w 2836333"/>
              <a:gd name="connsiteY7" fmla="*/ 950383 h 2565400"/>
              <a:gd name="connsiteX8" fmla="*/ 2165350 w 2836333"/>
              <a:gd name="connsiteY8" fmla="*/ 1432983 h 2565400"/>
              <a:gd name="connsiteX9" fmla="*/ 1746250 w 2836333"/>
              <a:gd name="connsiteY9" fmla="*/ 1788583 h 2565400"/>
              <a:gd name="connsiteX10" fmla="*/ 908050 w 2836333"/>
              <a:gd name="connsiteY10" fmla="*/ 1559983 h 2565400"/>
              <a:gd name="connsiteX11" fmla="*/ 781050 w 2836333"/>
              <a:gd name="connsiteY11" fmla="*/ 1166283 h 2565400"/>
              <a:gd name="connsiteX12" fmla="*/ 1022350 w 2836333"/>
              <a:gd name="connsiteY12" fmla="*/ 772583 h 2565400"/>
              <a:gd name="connsiteX13" fmla="*/ 1339850 w 2836333"/>
              <a:gd name="connsiteY13" fmla="*/ 315383 h 2565400"/>
              <a:gd name="connsiteX14" fmla="*/ 1238250 w 2836333"/>
              <a:gd name="connsiteY14" fmla="*/ 35983 h 2565400"/>
              <a:gd name="connsiteX15" fmla="*/ 704850 w 2836333"/>
              <a:gd name="connsiteY15" fmla="*/ 124883 h 256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836333" h="2565400">
                <a:moveTo>
                  <a:pt x="704850" y="124883"/>
                </a:moveTo>
                <a:cubicBezTo>
                  <a:pt x="529167" y="245533"/>
                  <a:pt x="281517" y="524933"/>
                  <a:pt x="184150" y="759883"/>
                </a:cubicBezTo>
                <a:cubicBezTo>
                  <a:pt x="86783" y="994833"/>
                  <a:pt x="0" y="1267883"/>
                  <a:pt x="120650" y="1534583"/>
                </a:cubicBezTo>
                <a:cubicBezTo>
                  <a:pt x="241300" y="1801283"/>
                  <a:pt x="577850" y="2216150"/>
                  <a:pt x="908050" y="2360083"/>
                </a:cubicBezTo>
                <a:cubicBezTo>
                  <a:pt x="1238250" y="2504016"/>
                  <a:pt x="1794933" y="2565400"/>
                  <a:pt x="2101850" y="2398183"/>
                </a:cubicBezTo>
                <a:cubicBezTo>
                  <a:pt x="2408767" y="2230966"/>
                  <a:pt x="2662767" y="1608666"/>
                  <a:pt x="2749550" y="1356783"/>
                </a:cubicBezTo>
                <a:cubicBezTo>
                  <a:pt x="2836333" y="1104900"/>
                  <a:pt x="2711450" y="954616"/>
                  <a:pt x="2622550" y="886883"/>
                </a:cubicBezTo>
                <a:cubicBezTo>
                  <a:pt x="2533650" y="819150"/>
                  <a:pt x="2292350" y="859366"/>
                  <a:pt x="2216150" y="950383"/>
                </a:cubicBezTo>
                <a:cubicBezTo>
                  <a:pt x="2139950" y="1041400"/>
                  <a:pt x="2243667" y="1293283"/>
                  <a:pt x="2165350" y="1432983"/>
                </a:cubicBezTo>
                <a:cubicBezTo>
                  <a:pt x="2087033" y="1572683"/>
                  <a:pt x="1955800" y="1767416"/>
                  <a:pt x="1746250" y="1788583"/>
                </a:cubicBezTo>
                <a:cubicBezTo>
                  <a:pt x="1536700" y="1809750"/>
                  <a:pt x="1068917" y="1663700"/>
                  <a:pt x="908050" y="1559983"/>
                </a:cubicBezTo>
                <a:cubicBezTo>
                  <a:pt x="747183" y="1456266"/>
                  <a:pt x="762000" y="1297516"/>
                  <a:pt x="781050" y="1166283"/>
                </a:cubicBezTo>
                <a:cubicBezTo>
                  <a:pt x="800100" y="1035050"/>
                  <a:pt x="929217" y="914400"/>
                  <a:pt x="1022350" y="772583"/>
                </a:cubicBezTo>
                <a:cubicBezTo>
                  <a:pt x="1115483" y="630766"/>
                  <a:pt x="1303867" y="438150"/>
                  <a:pt x="1339850" y="315383"/>
                </a:cubicBezTo>
                <a:cubicBezTo>
                  <a:pt x="1375833" y="192616"/>
                  <a:pt x="1344083" y="71966"/>
                  <a:pt x="1238250" y="35983"/>
                </a:cubicBezTo>
                <a:cubicBezTo>
                  <a:pt x="1132417" y="0"/>
                  <a:pt x="880533" y="4233"/>
                  <a:pt x="704850" y="124883"/>
                </a:cubicBezTo>
                <a:close/>
              </a:path>
            </a:pathLst>
          </a:custGeom>
          <a:solidFill>
            <a:schemeClr val="accent6">
              <a:lumMod val="40000"/>
              <a:lumOff val="60000"/>
              <a:alpha val="47000"/>
            </a:schemeClr>
          </a:solidFill>
          <a:ln w="28575" cap="flat" cmpd="sng">
            <a:solidFill>
              <a:srgbClr val="C00000"/>
            </a:solidFill>
            <a:prstDash val="dash"/>
            <a:round/>
            <a:headEnd type="none" w="med" len="med"/>
            <a:tailEnd type="none" w="med" len="lg"/>
          </a:ln>
          <a:effectLst/>
        </p:spPr>
        <p:txBody>
          <a:bodyPr wrap="none" rtlCol="0" anchor="ctr"/>
          <a:lstStyle/>
          <a:p>
            <a:pPr algn="ctr"/>
            <a:endParaRPr lang="zh-CN" altLang="en-US">
              <a:latin typeface="Consolas" pitchFamily="49" charset="0"/>
              <a:cs typeface="Consolas" pitchFamily="49" charset="0"/>
            </a:endParaRPr>
          </a:p>
        </p:txBody>
      </p:sp>
      <p:sp>
        <p:nvSpPr>
          <p:cNvPr id="99" name="Line 19">
            <a:extLst>
              <a:ext uri="{FF2B5EF4-FFF2-40B4-BE49-F238E27FC236}">
                <a16:creationId xmlns:a16="http://schemas.microsoft.com/office/drawing/2014/main" id="{6D2F2FA8-87CD-A66B-DE6E-48AA1A050128}"/>
              </a:ext>
            </a:extLst>
          </p:cNvPr>
          <p:cNvSpPr>
            <a:spLocks noChangeShapeType="1"/>
          </p:cNvSpPr>
          <p:nvPr/>
        </p:nvSpPr>
        <p:spPr bwMode="auto">
          <a:xfrm>
            <a:off x="9027858" y="3161510"/>
            <a:ext cx="176400" cy="399600"/>
          </a:xfrm>
          <a:prstGeom prst="line">
            <a:avLst/>
          </a:prstGeom>
          <a:noFill/>
          <a:ln w="19050">
            <a:solidFill>
              <a:srgbClr val="3333FF"/>
            </a:solidFill>
            <a:round/>
            <a:headEnd/>
            <a:tailEnd type="none" w="med" len="lg"/>
          </a:ln>
          <a:effectLst/>
        </p:spPr>
        <p:txBody>
          <a:bodyPr wrap="none"/>
          <a:lstStyle/>
          <a:p>
            <a:endParaRPr lang="zh-CN" altLang="en-US">
              <a:latin typeface="Consolas" pitchFamily="49" charset="0"/>
              <a:cs typeface="Consolas" pitchFamily="49" charset="0"/>
            </a:endParaRPr>
          </a:p>
        </p:txBody>
      </p:sp>
    </p:spTree>
    <p:extLst>
      <p:ext uri="{BB962C8B-B14F-4D97-AF65-F5344CB8AC3E}">
        <p14:creationId xmlns:p14="http://schemas.microsoft.com/office/powerpoint/2010/main" val="12235855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nodePh="1">
                                  <p:stCondLst>
                                    <p:cond delay="0"/>
                                  </p:stCondLst>
                                  <p:endCondLst>
                                    <p:cond evt="begin" delay="0">
                                      <p:tn val="5"/>
                                    </p:cond>
                                  </p:endCondLst>
                                  <p:childTnLst>
                                    <p:set>
                                      <p:cBhvr>
                                        <p:cTn id="6" dur="1" fill="hold">
                                          <p:stCondLst>
                                            <p:cond delay="0"/>
                                          </p:stCondLst>
                                        </p:cTn>
                                        <p:tgtEl>
                                          <p:spTgt spid="42">
                                            <p:txEl>
                                              <p:pRg st="0" end="0"/>
                                            </p:txEl>
                                          </p:spTgt>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97"/>
                                        </p:tgtEl>
                                        <p:attrNameLst>
                                          <p:attrName>style.visibility</p:attrName>
                                        </p:attrNameLst>
                                      </p:cBhvr>
                                      <p:to>
                                        <p:strVal val="visible"/>
                                      </p:to>
                                    </p:set>
                                  </p:childTnLst>
                                </p:cTn>
                              </p:par>
                            </p:childTnLst>
                          </p:cTn>
                        </p:par>
                        <p:par>
                          <p:cTn id="10" fill="hold">
                            <p:stCondLst>
                              <p:cond delay="0"/>
                            </p:stCondLst>
                            <p:childTnLst>
                              <p:par>
                                <p:cTn id="11" presetID="1" presetClass="entr" presetSubtype="0" fill="hold" grpId="0" nodeType="afterEffect">
                                  <p:stCondLst>
                                    <p:cond delay="0"/>
                                  </p:stCondLst>
                                  <p:childTnLst>
                                    <p:set>
                                      <p:cBhvr>
                                        <p:cTn id="12" dur="1" fill="hold">
                                          <p:stCondLst>
                                            <p:cond delay="0"/>
                                          </p:stCondLst>
                                        </p:cTn>
                                        <p:tgtEl>
                                          <p:spTgt spid="4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26" presetClass="emph" presetSubtype="0" fill="hold" grpId="0" nodeType="clickEffect">
                                  <p:stCondLst>
                                    <p:cond delay="0"/>
                                  </p:stCondLst>
                                  <p:childTnLst>
                                    <p:animEffect transition="out" filter="fade">
                                      <p:cBhvr>
                                        <p:cTn id="22" dur="500" tmFilter="0, 0; .2, .5; .8, .5; 1, 0"/>
                                        <p:tgtEl>
                                          <p:spTgt spid="21"/>
                                        </p:tgtEl>
                                      </p:cBhvr>
                                    </p:animEffect>
                                    <p:animScale>
                                      <p:cBhvr>
                                        <p:cTn id="23" dur="250" autoRev="1" fill="hold"/>
                                        <p:tgtEl>
                                          <p:spTgt spid="21"/>
                                        </p:tgtEl>
                                      </p:cBhvr>
                                      <p:by x="105000" y="105000"/>
                                    </p:animScale>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9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build="p"/>
      <p:bldP spid="21" grpId="0" animBg="1"/>
      <p:bldP spid="44" grpId="0"/>
      <p:bldP spid="49" grpId="0" animBg="1"/>
      <p:bldP spid="97" grpId="0" animBg="1"/>
      <p:bldP spid="98" grpId="0" animBg="1"/>
      <p:bldP spid="99" grpId="0" animBg="1"/>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9B6C9C-D0F3-C643-F12F-FEDF90B672A2}"/>
            </a:ext>
          </a:extLst>
        </p:cNvPr>
        <p:cNvGrpSpPr/>
        <p:nvPr/>
      </p:nvGrpSpPr>
      <p:grpSpPr>
        <a:xfrm>
          <a:off x="0" y="0"/>
          <a:ext cx="0" cy="0"/>
          <a:chOff x="0" y="0"/>
          <a:chExt cx="0" cy="0"/>
        </a:xfrm>
      </p:grpSpPr>
      <p:sp>
        <p:nvSpPr>
          <p:cNvPr id="42" name="Rectangle 4">
            <a:extLst>
              <a:ext uri="{FF2B5EF4-FFF2-40B4-BE49-F238E27FC236}">
                <a16:creationId xmlns:a16="http://schemas.microsoft.com/office/drawing/2014/main" id="{92E3507A-A582-D429-06E7-1DB789E88F10}"/>
              </a:ext>
            </a:extLst>
          </p:cNvPr>
          <p:cNvSpPr>
            <a:spLocks noChangeArrowheads="1"/>
          </p:cNvSpPr>
          <p:nvPr/>
        </p:nvSpPr>
        <p:spPr bwMode="auto">
          <a:xfrm>
            <a:off x="6384032" y="4567734"/>
            <a:ext cx="7620000" cy="2016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lvl="1" indent="-228600">
              <a:spcBef>
                <a:spcPts val="600"/>
              </a:spcBef>
              <a:buClr>
                <a:srgbClr val="B870B8"/>
              </a:buClr>
              <a:buSzPct val="75000"/>
              <a:buFont typeface="Wingdings" pitchFamily="2" charset="2"/>
              <a:buChar char="n"/>
            </a:pPr>
            <a:endParaRPr kumimoji="1" lang="zh-CN" altLang="en-US" sz="2400" dirty="0">
              <a:latin typeface="微软雅黑" pitchFamily="34" charset="-122"/>
              <a:ea typeface="微软雅黑" pitchFamily="34" charset="-122"/>
              <a:cs typeface="经典粗黑简" pitchFamily="49" charset="-122"/>
            </a:endParaRPr>
          </a:p>
        </p:txBody>
      </p:sp>
      <p:sp>
        <p:nvSpPr>
          <p:cNvPr id="2" name="Rectangle 2">
            <a:extLst>
              <a:ext uri="{FF2B5EF4-FFF2-40B4-BE49-F238E27FC236}">
                <a16:creationId xmlns:a16="http://schemas.microsoft.com/office/drawing/2014/main" id="{BBE5DABA-FBD8-6FEB-7506-F0C2EB38D7DD}"/>
              </a:ext>
            </a:extLst>
          </p:cNvPr>
          <p:cNvSpPr txBox="1">
            <a:spLocks noChangeArrowheads="1"/>
          </p:cNvSpPr>
          <p:nvPr/>
        </p:nvSpPr>
        <p:spPr>
          <a:xfrm>
            <a:off x="474772" y="1230902"/>
            <a:ext cx="4469100"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8.4.3 </a:t>
            </a:r>
            <a:r>
              <a:rPr kumimoji="1" lang="zh-CN" altLang="en-US" dirty="0">
                <a:latin typeface="微软雅黑" pitchFamily="34" charset="-122"/>
                <a:ea typeface="微软雅黑" pitchFamily="34" charset="-122"/>
              </a:rPr>
              <a:t>普里姆</a:t>
            </a:r>
            <a:r>
              <a:rPr kumimoji="1" lang="en-US" altLang="zh-CN" dirty="0">
                <a:latin typeface="微软雅黑" pitchFamily="34" charset="-122"/>
                <a:ea typeface="微软雅黑" pitchFamily="34" charset="-122"/>
              </a:rPr>
              <a:t>(Prim)</a:t>
            </a:r>
            <a:r>
              <a:rPr kumimoji="1" lang="zh-CN" altLang="en-US" dirty="0">
                <a:latin typeface="微软雅黑" pitchFamily="34" charset="-122"/>
                <a:ea typeface="微软雅黑" pitchFamily="34" charset="-122"/>
              </a:rPr>
              <a:t>算法</a:t>
            </a:r>
          </a:p>
        </p:txBody>
      </p:sp>
      <p:cxnSp>
        <p:nvCxnSpPr>
          <p:cNvPr id="3" name="直接连接符 2">
            <a:extLst>
              <a:ext uri="{FF2B5EF4-FFF2-40B4-BE49-F238E27FC236}">
                <a16:creationId xmlns:a16="http://schemas.microsoft.com/office/drawing/2014/main" id="{FFBF0798-98AF-751F-60E4-BA430E585554}"/>
              </a:ext>
            </a:extLst>
          </p:cNvPr>
          <p:cNvCxnSpPr>
            <a:cxnSpLocks/>
          </p:cNvCxnSpPr>
          <p:nvPr/>
        </p:nvCxnSpPr>
        <p:spPr>
          <a:xfrm>
            <a:off x="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4" name="矩形 3">
            <a:extLst>
              <a:ext uri="{FF2B5EF4-FFF2-40B4-BE49-F238E27FC236}">
                <a16:creationId xmlns:a16="http://schemas.microsoft.com/office/drawing/2014/main" id="{EC26F854-DBD5-0171-3E7B-A394815548FD}"/>
              </a:ext>
            </a:extLst>
          </p:cNvPr>
          <p:cNvSpPr/>
          <p:nvPr/>
        </p:nvSpPr>
        <p:spPr>
          <a:xfrm>
            <a:off x="3394075" y="399838"/>
            <a:ext cx="4617860"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8.4 </a:t>
            </a:r>
            <a:r>
              <a:rPr lang="zh-CN" altLang="en-US" sz="3000" b="1" dirty="0">
                <a:latin typeface="黑体" pitchFamily="49" charset="-122"/>
                <a:ea typeface="黑体" pitchFamily="49" charset="-122"/>
                <a:cs typeface="经典粗黑简" pitchFamily="49" charset="-122"/>
              </a:rPr>
              <a:t>生成树和最小生成树</a:t>
            </a:r>
          </a:p>
        </p:txBody>
      </p:sp>
      <p:sp>
        <p:nvSpPr>
          <p:cNvPr id="5" name="Text Box 4">
            <a:extLst>
              <a:ext uri="{FF2B5EF4-FFF2-40B4-BE49-F238E27FC236}">
                <a16:creationId xmlns:a16="http://schemas.microsoft.com/office/drawing/2014/main" id="{CBDF42A3-8F51-25C8-92A8-669B4B4E5FF4}"/>
              </a:ext>
            </a:extLst>
          </p:cNvPr>
          <p:cNvSpPr txBox="1">
            <a:spLocks noChangeArrowheads="1"/>
          </p:cNvSpPr>
          <p:nvPr/>
        </p:nvSpPr>
        <p:spPr bwMode="auto">
          <a:xfrm>
            <a:off x="3978057" y="6198533"/>
            <a:ext cx="4929222" cy="400110"/>
          </a:xfrm>
          <a:prstGeom prst="rect">
            <a:avLst/>
          </a:prstGeom>
          <a:noFill/>
          <a:ln w="9525">
            <a:noFill/>
            <a:miter lim="800000"/>
            <a:headEnd/>
            <a:tailEnd/>
          </a:ln>
          <a:effectLst/>
        </p:spPr>
        <p:txBody>
          <a:bodyPr wrap="square">
            <a:spAutoFit/>
          </a:bodyPr>
          <a:lstStyle/>
          <a:p>
            <a:pPr algn="l">
              <a:spcBef>
                <a:spcPct val="50000"/>
              </a:spcBef>
            </a:pPr>
            <a:r>
              <a:rPr kumimoji="1" lang="zh-CN" altLang="en-US" sz="2000" dirty="0">
                <a:ea typeface="楷体" pitchFamily="49" charset="-122"/>
                <a:cs typeface="Times New Roman" pitchFamily="18" charset="0"/>
              </a:rPr>
              <a:t>普里姆算法求解最小生成树的过程 </a:t>
            </a:r>
          </a:p>
        </p:txBody>
      </p:sp>
      <p:sp>
        <p:nvSpPr>
          <p:cNvPr id="33" name="Text Box 73">
            <a:extLst>
              <a:ext uri="{FF2B5EF4-FFF2-40B4-BE49-F238E27FC236}">
                <a16:creationId xmlns:a16="http://schemas.microsoft.com/office/drawing/2014/main" id="{48D6480C-E610-F2AB-9C22-1FD2E2D744EC}"/>
              </a:ext>
            </a:extLst>
          </p:cNvPr>
          <p:cNvSpPr txBox="1">
            <a:spLocks noChangeArrowheads="1"/>
          </p:cNvSpPr>
          <p:nvPr/>
        </p:nvSpPr>
        <p:spPr bwMode="auto">
          <a:xfrm>
            <a:off x="1562346" y="1925044"/>
            <a:ext cx="3714776" cy="400110"/>
          </a:xfrm>
          <a:prstGeom prst="rect">
            <a:avLst/>
          </a:prstGeom>
          <a:solidFill>
            <a:srgbClr val="339933"/>
          </a:solidFill>
          <a:ln w="19050" algn="ctr">
            <a:noFill/>
            <a:miter lim="800000"/>
            <a:headEnd/>
            <a:tailEnd type="none" w="med" len="lg"/>
          </a:ln>
          <a:effectLst/>
        </p:spPr>
        <p:txBody>
          <a:bodyPr wrap="square">
            <a:spAutoFit/>
          </a:bodyPr>
          <a:lstStyle/>
          <a:p>
            <a:pPr>
              <a:spcBef>
                <a:spcPct val="50000"/>
              </a:spcBef>
            </a:pPr>
            <a:r>
              <a:rPr lang="en-US" altLang="zh-CN" sz="2000" dirty="0">
                <a:solidFill>
                  <a:schemeClr val="bg1"/>
                </a:solidFill>
                <a:latin typeface="Consolas" pitchFamily="49" charset="0"/>
                <a:ea typeface="华文中宋" pitchFamily="2" charset="-122"/>
                <a:cs typeface="Consolas" pitchFamily="49" charset="0"/>
              </a:rPr>
              <a:t>Prim</a:t>
            </a:r>
            <a:r>
              <a:rPr lang="zh-CN" altLang="en-US" sz="2000" dirty="0">
                <a:solidFill>
                  <a:schemeClr val="bg1"/>
                </a:solidFill>
                <a:latin typeface="Consolas" pitchFamily="49" charset="0"/>
                <a:ea typeface="华文中宋" pitchFamily="2" charset="-122"/>
                <a:cs typeface="Consolas" pitchFamily="49" charset="0"/>
              </a:rPr>
              <a:t>算法示例演示（起点</a:t>
            </a:r>
            <a:r>
              <a:rPr lang="en-US" altLang="zh-CN" sz="2000" dirty="0">
                <a:solidFill>
                  <a:schemeClr val="bg1"/>
                </a:solidFill>
                <a:latin typeface="Consolas" pitchFamily="49" charset="0"/>
                <a:ea typeface="华文中宋" pitchFamily="2" charset="-122"/>
                <a:cs typeface="Consolas" pitchFamily="49" charset="0"/>
              </a:rPr>
              <a:t>0</a:t>
            </a:r>
            <a:r>
              <a:rPr lang="zh-CN" altLang="en-US" sz="2000" dirty="0">
                <a:solidFill>
                  <a:schemeClr val="bg1"/>
                </a:solidFill>
                <a:latin typeface="Consolas" pitchFamily="49" charset="0"/>
                <a:ea typeface="华文中宋" pitchFamily="2" charset="-122"/>
                <a:cs typeface="Consolas" pitchFamily="49" charset="0"/>
              </a:rPr>
              <a:t>）</a:t>
            </a:r>
          </a:p>
        </p:txBody>
      </p:sp>
      <p:sp>
        <p:nvSpPr>
          <p:cNvPr id="12" name="Oval 5">
            <a:extLst>
              <a:ext uri="{FF2B5EF4-FFF2-40B4-BE49-F238E27FC236}">
                <a16:creationId xmlns:a16="http://schemas.microsoft.com/office/drawing/2014/main" id="{B40EB955-B090-523D-1E55-276BF54640C0}"/>
              </a:ext>
            </a:extLst>
          </p:cNvPr>
          <p:cNvSpPr>
            <a:spLocks noChangeArrowheads="1"/>
          </p:cNvSpPr>
          <p:nvPr/>
        </p:nvSpPr>
        <p:spPr bwMode="auto">
          <a:xfrm>
            <a:off x="3718967" y="2973430"/>
            <a:ext cx="360363"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2000">
                <a:solidFill>
                  <a:srgbClr val="0000FF"/>
                </a:solidFill>
                <a:latin typeface="Consolas" pitchFamily="49" charset="0"/>
                <a:cs typeface="Consolas" pitchFamily="49" charset="0"/>
              </a:rPr>
              <a:t>0</a:t>
            </a:r>
          </a:p>
        </p:txBody>
      </p:sp>
      <p:sp>
        <p:nvSpPr>
          <p:cNvPr id="50" name="Oval 6">
            <a:extLst>
              <a:ext uri="{FF2B5EF4-FFF2-40B4-BE49-F238E27FC236}">
                <a16:creationId xmlns:a16="http://schemas.microsoft.com/office/drawing/2014/main" id="{386E183B-7B8B-108F-52C5-73A9BEA98C5C}"/>
              </a:ext>
            </a:extLst>
          </p:cNvPr>
          <p:cNvSpPr>
            <a:spLocks noChangeArrowheads="1"/>
          </p:cNvSpPr>
          <p:nvPr/>
        </p:nvSpPr>
        <p:spPr bwMode="auto">
          <a:xfrm>
            <a:off x="4800054" y="2973430"/>
            <a:ext cx="360363"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2000">
                <a:solidFill>
                  <a:srgbClr val="0000FF"/>
                </a:solidFill>
                <a:latin typeface="Consolas" pitchFamily="49" charset="0"/>
                <a:cs typeface="Consolas" pitchFamily="49" charset="0"/>
              </a:rPr>
              <a:t>1</a:t>
            </a:r>
          </a:p>
        </p:txBody>
      </p:sp>
      <p:sp>
        <p:nvSpPr>
          <p:cNvPr id="51" name="Oval 7">
            <a:extLst>
              <a:ext uri="{FF2B5EF4-FFF2-40B4-BE49-F238E27FC236}">
                <a16:creationId xmlns:a16="http://schemas.microsoft.com/office/drawing/2014/main" id="{3864B872-B13F-D104-2D56-9C1D590ADF72}"/>
              </a:ext>
            </a:extLst>
          </p:cNvPr>
          <p:cNvSpPr>
            <a:spLocks noChangeArrowheads="1"/>
          </p:cNvSpPr>
          <p:nvPr/>
        </p:nvSpPr>
        <p:spPr bwMode="auto">
          <a:xfrm>
            <a:off x="3142704" y="3838618"/>
            <a:ext cx="360363"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2000" dirty="0">
                <a:solidFill>
                  <a:srgbClr val="0000FF"/>
                </a:solidFill>
                <a:latin typeface="Consolas" pitchFamily="49" charset="0"/>
                <a:cs typeface="Consolas" pitchFamily="49" charset="0"/>
              </a:rPr>
              <a:t>5</a:t>
            </a:r>
          </a:p>
        </p:txBody>
      </p:sp>
      <p:sp>
        <p:nvSpPr>
          <p:cNvPr id="52" name="Oval 8">
            <a:extLst>
              <a:ext uri="{FF2B5EF4-FFF2-40B4-BE49-F238E27FC236}">
                <a16:creationId xmlns:a16="http://schemas.microsoft.com/office/drawing/2014/main" id="{03335A1D-F4C8-0DEB-0C23-8380049930D1}"/>
              </a:ext>
            </a:extLst>
          </p:cNvPr>
          <p:cNvSpPr>
            <a:spLocks noChangeArrowheads="1"/>
          </p:cNvSpPr>
          <p:nvPr/>
        </p:nvSpPr>
        <p:spPr bwMode="auto">
          <a:xfrm>
            <a:off x="3791992" y="4557755"/>
            <a:ext cx="360363"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2000">
                <a:solidFill>
                  <a:srgbClr val="0000FF"/>
                </a:solidFill>
                <a:latin typeface="Consolas" pitchFamily="49" charset="0"/>
                <a:cs typeface="Consolas" pitchFamily="49" charset="0"/>
              </a:rPr>
              <a:t>4</a:t>
            </a:r>
          </a:p>
        </p:txBody>
      </p:sp>
      <p:sp>
        <p:nvSpPr>
          <p:cNvPr id="53" name="Oval 9">
            <a:extLst>
              <a:ext uri="{FF2B5EF4-FFF2-40B4-BE49-F238E27FC236}">
                <a16:creationId xmlns:a16="http://schemas.microsoft.com/office/drawing/2014/main" id="{95D327B9-59FB-9115-0C46-277DC720D4E2}"/>
              </a:ext>
            </a:extLst>
          </p:cNvPr>
          <p:cNvSpPr>
            <a:spLocks noChangeArrowheads="1"/>
          </p:cNvSpPr>
          <p:nvPr/>
        </p:nvSpPr>
        <p:spPr bwMode="auto">
          <a:xfrm>
            <a:off x="4727029" y="4557755"/>
            <a:ext cx="360363"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2000">
                <a:solidFill>
                  <a:srgbClr val="0000FF"/>
                </a:solidFill>
                <a:latin typeface="Consolas" pitchFamily="49" charset="0"/>
                <a:cs typeface="Consolas" pitchFamily="49" charset="0"/>
              </a:rPr>
              <a:t>3</a:t>
            </a:r>
          </a:p>
        </p:txBody>
      </p:sp>
      <p:sp>
        <p:nvSpPr>
          <p:cNvPr id="54" name="Oval 10">
            <a:extLst>
              <a:ext uri="{FF2B5EF4-FFF2-40B4-BE49-F238E27FC236}">
                <a16:creationId xmlns:a16="http://schemas.microsoft.com/office/drawing/2014/main" id="{14CEE703-4F0B-F05E-93F3-8B17756987F2}"/>
              </a:ext>
            </a:extLst>
          </p:cNvPr>
          <p:cNvSpPr>
            <a:spLocks noChangeArrowheads="1"/>
          </p:cNvSpPr>
          <p:nvPr/>
        </p:nvSpPr>
        <p:spPr bwMode="auto">
          <a:xfrm>
            <a:off x="4295229" y="3765593"/>
            <a:ext cx="360363"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2000">
                <a:solidFill>
                  <a:srgbClr val="0000FF"/>
                </a:solidFill>
                <a:latin typeface="Consolas" pitchFamily="49" charset="0"/>
                <a:cs typeface="Consolas" pitchFamily="49" charset="0"/>
              </a:rPr>
              <a:t>6</a:t>
            </a:r>
          </a:p>
        </p:txBody>
      </p:sp>
      <p:sp>
        <p:nvSpPr>
          <p:cNvPr id="55" name="Oval 11">
            <a:extLst>
              <a:ext uri="{FF2B5EF4-FFF2-40B4-BE49-F238E27FC236}">
                <a16:creationId xmlns:a16="http://schemas.microsoft.com/office/drawing/2014/main" id="{2C6F7178-E5EC-4181-3821-E0979577B22B}"/>
              </a:ext>
            </a:extLst>
          </p:cNvPr>
          <p:cNvSpPr>
            <a:spLocks noChangeArrowheads="1"/>
          </p:cNvSpPr>
          <p:nvPr/>
        </p:nvSpPr>
        <p:spPr bwMode="auto">
          <a:xfrm>
            <a:off x="5158829" y="3765593"/>
            <a:ext cx="360363"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2000">
                <a:solidFill>
                  <a:srgbClr val="0000FF"/>
                </a:solidFill>
                <a:latin typeface="Consolas" pitchFamily="49" charset="0"/>
                <a:cs typeface="Consolas" pitchFamily="49" charset="0"/>
              </a:rPr>
              <a:t>2</a:t>
            </a:r>
          </a:p>
        </p:txBody>
      </p:sp>
      <p:sp>
        <p:nvSpPr>
          <p:cNvPr id="56" name="Line 12">
            <a:extLst>
              <a:ext uri="{FF2B5EF4-FFF2-40B4-BE49-F238E27FC236}">
                <a16:creationId xmlns:a16="http://schemas.microsoft.com/office/drawing/2014/main" id="{B285B888-94B5-687F-A4ED-47D30B88E5CC}"/>
              </a:ext>
            </a:extLst>
          </p:cNvPr>
          <p:cNvSpPr>
            <a:spLocks noChangeShapeType="1"/>
          </p:cNvSpPr>
          <p:nvPr/>
        </p:nvSpPr>
        <p:spPr bwMode="auto">
          <a:xfrm>
            <a:off x="4079329" y="3189330"/>
            <a:ext cx="720725" cy="0"/>
          </a:xfrm>
          <a:prstGeom prst="line">
            <a:avLst/>
          </a:prstGeom>
          <a:noFill/>
          <a:ln w="19050">
            <a:solidFill>
              <a:srgbClr val="3333FF"/>
            </a:solidFill>
            <a:round/>
            <a:headEnd/>
            <a:tailEnd type="none" w="med" len="lg"/>
          </a:ln>
          <a:effectLst/>
        </p:spPr>
        <p:txBody>
          <a:bodyPr wrap="none"/>
          <a:lstStyle/>
          <a:p>
            <a:endParaRPr lang="zh-CN" altLang="en-US">
              <a:latin typeface="Consolas" pitchFamily="49" charset="0"/>
              <a:cs typeface="Consolas" pitchFamily="49" charset="0"/>
            </a:endParaRPr>
          </a:p>
        </p:txBody>
      </p:sp>
      <p:sp>
        <p:nvSpPr>
          <p:cNvPr id="57" name="Freeform 13">
            <a:extLst>
              <a:ext uri="{FF2B5EF4-FFF2-40B4-BE49-F238E27FC236}">
                <a16:creationId xmlns:a16="http://schemas.microsoft.com/office/drawing/2014/main" id="{B4F06011-F83D-C298-5AC4-B2A0D6ABD1E5}"/>
              </a:ext>
            </a:extLst>
          </p:cNvPr>
          <p:cNvSpPr>
            <a:spLocks/>
          </p:cNvSpPr>
          <p:nvPr/>
        </p:nvSpPr>
        <p:spPr bwMode="auto">
          <a:xfrm>
            <a:off x="3360192" y="3309980"/>
            <a:ext cx="395288" cy="528638"/>
          </a:xfrm>
          <a:custGeom>
            <a:avLst/>
            <a:gdLst/>
            <a:ahLst/>
            <a:cxnLst>
              <a:cxn ang="0">
                <a:pos x="249" y="0"/>
              </a:cxn>
              <a:cxn ang="0">
                <a:pos x="0" y="333"/>
              </a:cxn>
            </a:cxnLst>
            <a:rect l="0" t="0" r="r" b="b"/>
            <a:pathLst>
              <a:path w="249" h="333">
                <a:moveTo>
                  <a:pt x="249" y="0"/>
                </a:moveTo>
                <a:lnTo>
                  <a:pt x="0" y="333"/>
                </a:lnTo>
              </a:path>
            </a:pathLst>
          </a:custGeom>
          <a:noFill/>
          <a:ln w="19050" cap="flat" cmpd="sng">
            <a:solidFill>
              <a:srgbClr val="3333FF"/>
            </a:solidFill>
            <a:prstDash val="solid"/>
            <a:round/>
            <a:headEnd type="none" w="med" len="med"/>
            <a:tailEnd type="none" w="med" len="lg"/>
          </a:ln>
          <a:effectLst/>
        </p:spPr>
        <p:txBody>
          <a:bodyPr wrap="none"/>
          <a:lstStyle/>
          <a:p>
            <a:endParaRPr lang="zh-CN" altLang="en-US">
              <a:latin typeface="Consolas" pitchFamily="49" charset="0"/>
              <a:cs typeface="Consolas" pitchFamily="49" charset="0"/>
            </a:endParaRPr>
          </a:p>
        </p:txBody>
      </p:sp>
      <p:sp>
        <p:nvSpPr>
          <p:cNvPr id="58" name="Freeform 14">
            <a:extLst>
              <a:ext uri="{FF2B5EF4-FFF2-40B4-BE49-F238E27FC236}">
                <a16:creationId xmlns:a16="http://schemas.microsoft.com/office/drawing/2014/main" id="{799EF0BF-B51A-EA0A-4258-6301B8A4E96F}"/>
              </a:ext>
            </a:extLst>
          </p:cNvPr>
          <p:cNvSpPr>
            <a:spLocks/>
          </p:cNvSpPr>
          <p:nvPr/>
        </p:nvSpPr>
        <p:spPr bwMode="auto">
          <a:xfrm>
            <a:off x="3425279" y="4237080"/>
            <a:ext cx="392113" cy="419100"/>
          </a:xfrm>
          <a:custGeom>
            <a:avLst/>
            <a:gdLst/>
            <a:ahLst/>
            <a:cxnLst>
              <a:cxn ang="0">
                <a:pos x="0" y="0"/>
              </a:cxn>
              <a:cxn ang="0">
                <a:pos x="247" y="264"/>
              </a:cxn>
            </a:cxnLst>
            <a:rect l="0" t="0" r="r" b="b"/>
            <a:pathLst>
              <a:path w="247" h="264">
                <a:moveTo>
                  <a:pt x="0" y="0"/>
                </a:moveTo>
                <a:lnTo>
                  <a:pt x="247" y="264"/>
                </a:lnTo>
              </a:path>
            </a:pathLst>
          </a:custGeom>
          <a:noFill/>
          <a:ln w="19050" cap="flat" cmpd="sng">
            <a:solidFill>
              <a:srgbClr val="3333FF"/>
            </a:solidFill>
            <a:prstDash val="solid"/>
            <a:round/>
            <a:headEnd type="none" w="med" len="med"/>
            <a:tailEnd type="none" w="med" len="lg"/>
          </a:ln>
          <a:effectLst/>
        </p:spPr>
        <p:txBody>
          <a:bodyPr wrap="none"/>
          <a:lstStyle/>
          <a:p>
            <a:endParaRPr lang="zh-CN" altLang="en-US">
              <a:latin typeface="Consolas" pitchFamily="49" charset="0"/>
              <a:cs typeface="Consolas" pitchFamily="49" charset="0"/>
            </a:endParaRPr>
          </a:p>
        </p:txBody>
      </p:sp>
      <p:sp>
        <p:nvSpPr>
          <p:cNvPr id="59" name="Freeform 15">
            <a:extLst>
              <a:ext uri="{FF2B5EF4-FFF2-40B4-BE49-F238E27FC236}">
                <a16:creationId xmlns:a16="http://schemas.microsoft.com/office/drawing/2014/main" id="{C26B7AFA-B553-800A-85E5-2B6362B79B2C}"/>
              </a:ext>
            </a:extLst>
          </p:cNvPr>
          <p:cNvSpPr>
            <a:spLocks/>
          </p:cNvSpPr>
          <p:nvPr/>
        </p:nvSpPr>
        <p:spPr bwMode="auto">
          <a:xfrm>
            <a:off x="4150767" y="4808580"/>
            <a:ext cx="582613" cy="1588"/>
          </a:xfrm>
          <a:custGeom>
            <a:avLst/>
            <a:gdLst/>
            <a:ahLst/>
            <a:cxnLst>
              <a:cxn ang="0">
                <a:pos x="0" y="0"/>
              </a:cxn>
              <a:cxn ang="0">
                <a:pos x="367" y="0"/>
              </a:cxn>
            </a:cxnLst>
            <a:rect l="0" t="0" r="r" b="b"/>
            <a:pathLst>
              <a:path w="367" h="1">
                <a:moveTo>
                  <a:pt x="0" y="0"/>
                </a:moveTo>
                <a:lnTo>
                  <a:pt x="367" y="0"/>
                </a:lnTo>
              </a:path>
            </a:pathLst>
          </a:custGeom>
          <a:noFill/>
          <a:ln w="19050" cap="flat" cmpd="sng">
            <a:solidFill>
              <a:srgbClr val="3333FF"/>
            </a:solidFill>
            <a:prstDash val="solid"/>
            <a:round/>
            <a:headEnd type="none" w="med" len="med"/>
            <a:tailEnd type="none" w="med" len="lg"/>
          </a:ln>
          <a:effectLst/>
        </p:spPr>
        <p:txBody>
          <a:bodyPr wrap="none"/>
          <a:lstStyle/>
          <a:p>
            <a:endParaRPr lang="zh-CN" altLang="en-US">
              <a:latin typeface="Consolas" pitchFamily="49" charset="0"/>
              <a:cs typeface="Consolas" pitchFamily="49" charset="0"/>
            </a:endParaRPr>
          </a:p>
        </p:txBody>
      </p:sp>
      <p:sp>
        <p:nvSpPr>
          <p:cNvPr id="60" name="Freeform 16">
            <a:extLst>
              <a:ext uri="{FF2B5EF4-FFF2-40B4-BE49-F238E27FC236}">
                <a16:creationId xmlns:a16="http://schemas.microsoft.com/office/drawing/2014/main" id="{E5DB1070-C5DA-5FE3-7929-FBA0DF796BDF}"/>
              </a:ext>
            </a:extLst>
          </p:cNvPr>
          <p:cNvSpPr>
            <a:spLocks/>
          </p:cNvSpPr>
          <p:nvPr/>
        </p:nvSpPr>
        <p:spPr bwMode="auto">
          <a:xfrm>
            <a:off x="4007892" y="4135480"/>
            <a:ext cx="357188" cy="422275"/>
          </a:xfrm>
          <a:custGeom>
            <a:avLst/>
            <a:gdLst/>
            <a:ahLst/>
            <a:cxnLst>
              <a:cxn ang="0">
                <a:pos x="0" y="266"/>
              </a:cxn>
              <a:cxn ang="0">
                <a:pos x="225" y="0"/>
              </a:cxn>
            </a:cxnLst>
            <a:rect l="0" t="0" r="r" b="b"/>
            <a:pathLst>
              <a:path w="225" h="266">
                <a:moveTo>
                  <a:pt x="0" y="266"/>
                </a:moveTo>
                <a:lnTo>
                  <a:pt x="225" y="0"/>
                </a:lnTo>
              </a:path>
            </a:pathLst>
          </a:custGeom>
          <a:noFill/>
          <a:ln w="19050" cap="flat" cmpd="sng">
            <a:solidFill>
              <a:srgbClr val="3333FF"/>
            </a:solidFill>
            <a:prstDash val="solid"/>
            <a:round/>
            <a:headEnd type="none" w="med" len="med"/>
            <a:tailEnd type="none" w="med" len="lg"/>
          </a:ln>
          <a:effectLst/>
        </p:spPr>
        <p:txBody>
          <a:bodyPr wrap="none"/>
          <a:lstStyle/>
          <a:p>
            <a:endParaRPr lang="zh-CN" altLang="en-US">
              <a:latin typeface="Consolas" pitchFamily="49" charset="0"/>
              <a:cs typeface="Consolas" pitchFamily="49" charset="0"/>
            </a:endParaRPr>
          </a:p>
        </p:txBody>
      </p:sp>
      <p:sp>
        <p:nvSpPr>
          <p:cNvPr id="61" name="Line 17">
            <a:extLst>
              <a:ext uri="{FF2B5EF4-FFF2-40B4-BE49-F238E27FC236}">
                <a16:creationId xmlns:a16="http://schemas.microsoft.com/office/drawing/2014/main" id="{3B10FC40-D177-6BF3-B343-C9E2DDF8C1D2}"/>
              </a:ext>
            </a:extLst>
          </p:cNvPr>
          <p:cNvSpPr>
            <a:spLocks noChangeShapeType="1"/>
          </p:cNvSpPr>
          <p:nvPr/>
        </p:nvSpPr>
        <p:spPr bwMode="auto">
          <a:xfrm>
            <a:off x="4563450" y="4157699"/>
            <a:ext cx="285752" cy="428628"/>
          </a:xfrm>
          <a:prstGeom prst="line">
            <a:avLst/>
          </a:prstGeom>
          <a:noFill/>
          <a:ln w="19050">
            <a:solidFill>
              <a:srgbClr val="3333FF"/>
            </a:solidFill>
            <a:round/>
            <a:headEnd/>
            <a:tailEnd type="none" w="med" len="lg"/>
          </a:ln>
          <a:effectLst/>
        </p:spPr>
        <p:txBody>
          <a:bodyPr wrap="none"/>
          <a:lstStyle/>
          <a:p>
            <a:endParaRPr lang="zh-CN" altLang="en-US">
              <a:latin typeface="Consolas" pitchFamily="49" charset="0"/>
              <a:cs typeface="Consolas" pitchFamily="49" charset="0"/>
            </a:endParaRPr>
          </a:p>
        </p:txBody>
      </p:sp>
      <p:sp>
        <p:nvSpPr>
          <p:cNvPr id="62" name="Line 18">
            <a:extLst>
              <a:ext uri="{FF2B5EF4-FFF2-40B4-BE49-F238E27FC236}">
                <a16:creationId xmlns:a16="http://schemas.microsoft.com/office/drawing/2014/main" id="{1F7DD609-E12F-2C5B-EFF2-D64EB647646A}"/>
              </a:ext>
            </a:extLst>
          </p:cNvPr>
          <p:cNvSpPr>
            <a:spLocks noChangeShapeType="1"/>
          </p:cNvSpPr>
          <p:nvPr/>
        </p:nvSpPr>
        <p:spPr bwMode="auto">
          <a:xfrm flipH="1">
            <a:off x="4571454" y="3359193"/>
            <a:ext cx="287338" cy="431800"/>
          </a:xfrm>
          <a:prstGeom prst="line">
            <a:avLst/>
          </a:prstGeom>
          <a:noFill/>
          <a:ln w="38100">
            <a:solidFill>
              <a:srgbClr val="00B0F0"/>
            </a:solidFill>
            <a:round/>
            <a:headEnd/>
            <a:tailEnd type="none" w="med" len="lg"/>
          </a:ln>
          <a:effectLst/>
        </p:spPr>
        <p:txBody>
          <a:bodyPr wrap="none"/>
          <a:lstStyle/>
          <a:p>
            <a:endParaRPr lang="zh-CN" altLang="en-US">
              <a:latin typeface="Consolas" pitchFamily="49" charset="0"/>
              <a:cs typeface="Consolas" pitchFamily="49" charset="0"/>
            </a:endParaRPr>
          </a:p>
        </p:txBody>
      </p:sp>
      <p:sp>
        <p:nvSpPr>
          <p:cNvPr id="63" name="Line 19">
            <a:extLst>
              <a:ext uri="{FF2B5EF4-FFF2-40B4-BE49-F238E27FC236}">
                <a16:creationId xmlns:a16="http://schemas.microsoft.com/office/drawing/2014/main" id="{2AA4ACE6-8A17-4920-D0B2-6D27F396D5DA}"/>
              </a:ext>
            </a:extLst>
          </p:cNvPr>
          <p:cNvSpPr>
            <a:spLocks noChangeShapeType="1"/>
          </p:cNvSpPr>
          <p:nvPr/>
        </p:nvSpPr>
        <p:spPr bwMode="auto">
          <a:xfrm>
            <a:off x="5109551" y="3371881"/>
            <a:ext cx="176400" cy="399600"/>
          </a:xfrm>
          <a:prstGeom prst="line">
            <a:avLst/>
          </a:prstGeom>
          <a:noFill/>
          <a:ln w="19050">
            <a:solidFill>
              <a:srgbClr val="3333FF"/>
            </a:solidFill>
            <a:round/>
            <a:headEnd/>
            <a:tailEnd type="none" w="med" len="lg"/>
          </a:ln>
          <a:effectLst/>
        </p:spPr>
        <p:txBody>
          <a:bodyPr wrap="none"/>
          <a:lstStyle/>
          <a:p>
            <a:endParaRPr lang="zh-CN" altLang="en-US">
              <a:latin typeface="Consolas" pitchFamily="49" charset="0"/>
              <a:cs typeface="Consolas" pitchFamily="49" charset="0"/>
            </a:endParaRPr>
          </a:p>
        </p:txBody>
      </p:sp>
      <p:sp>
        <p:nvSpPr>
          <p:cNvPr id="64" name="Line 20">
            <a:extLst>
              <a:ext uri="{FF2B5EF4-FFF2-40B4-BE49-F238E27FC236}">
                <a16:creationId xmlns:a16="http://schemas.microsoft.com/office/drawing/2014/main" id="{F7564B67-A78A-17F7-6654-0EB13CD42713}"/>
              </a:ext>
            </a:extLst>
          </p:cNvPr>
          <p:cNvSpPr>
            <a:spLocks noChangeShapeType="1"/>
          </p:cNvSpPr>
          <p:nvPr/>
        </p:nvSpPr>
        <p:spPr bwMode="auto">
          <a:xfrm flipH="1">
            <a:off x="5028652" y="4191037"/>
            <a:ext cx="270000" cy="396000"/>
          </a:xfrm>
          <a:prstGeom prst="line">
            <a:avLst/>
          </a:prstGeom>
          <a:noFill/>
          <a:ln w="19050">
            <a:solidFill>
              <a:srgbClr val="3333FF"/>
            </a:solidFill>
            <a:round/>
            <a:headEnd/>
            <a:tailEnd type="none" w="med" len="lg"/>
          </a:ln>
          <a:effectLst/>
        </p:spPr>
        <p:txBody>
          <a:bodyPr wrap="none"/>
          <a:lstStyle/>
          <a:p>
            <a:endParaRPr lang="zh-CN" altLang="en-US">
              <a:latin typeface="Consolas" pitchFamily="49" charset="0"/>
              <a:cs typeface="Consolas" pitchFamily="49" charset="0"/>
            </a:endParaRPr>
          </a:p>
        </p:txBody>
      </p:sp>
      <p:sp>
        <p:nvSpPr>
          <p:cNvPr id="65" name="Text Box 21">
            <a:extLst>
              <a:ext uri="{FF2B5EF4-FFF2-40B4-BE49-F238E27FC236}">
                <a16:creationId xmlns:a16="http://schemas.microsoft.com/office/drawing/2014/main" id="{45C47D60-FDE6-C309-E796-F4328D0BD959}"/>
              </a:ext>
            </a:extLst>
          </p:cNvPr>
          <p:cNvSpPr txBox="1">
            <a:spLocks noChangeArrowheads="1"/>
          </p:cNvSpPr>
          <p:nvPr/>
        </p:nvSpPr>
        <p:spPr bwMode="auto">
          <a:xfrm>
            <a:off x="4223792" y="2830555"/>
            <a:ext cx="503238" cy="338554"/>
          </a:xfrm>
          <a:prstGeom prst="rect">
            <a:avLst/>
          </a:prstGeom>
          <a:noFill/>
          <a:ln w="19050" algn="ctr">
            <a:noFill/>
            <a:miter lim="800000"/>
            <a:headEnd/>
            <a:tailEnd type="none" w="med" len="lg"/>
          </a:ln>
          <a:effectLst/>
        </p:spPr>
        <p:txBody>
          <a:bodyPr>
            <a:spAutoFit/>
          </a:bodyPr>
          <a:lstStyle/>
          <a:p>
            <a:pPr algn="l">
              <a:spcBef>
                <a:spcPct val="50000"/>
              </a:spcBef>
            </a:pPr>
            <a:r>
              <a:rPr lang="en-US" altLang="zh-CN" sz="1600">
                <a:latin typeface="Consolas" pitchFamily="49" charset="0"/>
                <a:cs typeface="Consolas" pitchFamily="49" charset="0"/>
              </a:rPr>
              <a:t>28</a:t>
            </a:r>
          </a:p>
        </p:txBody>
      </p:sp>
      <p:sp>
        <p:nvSpPr>
          <p:cNvPr id="66" name="Text Box 22">
            <a:extLst>
              <a:ext uri="{FF2B5EF4-FFF2-40B4-BE49-F238E27FC236}">
                <a16:creationId xmlns:a16="http://schemas.microsoft.com/office/drawing/2014/main" id="{96C0D19B-2754-96CA-A9B8-C523C4B9515F}"/>
              </a:ext>
            </a:extLst>
          </p:cNvPr>
          <p:cNvSpPr txBox="1">
            <a:spLocks noChangeArrowheads="1"/>
          </p:cNvSpPr>
          <p:nvPr/>
        </p:nvSpPr>
        <p:spPr bwMode="auto">
          <a:xfrm>
            <a:off x="3144292" y="3297280"/>
            <a:ext cx="503238" cy="338554"/>
          </a:xfrm>
          <a:prstGeom prst="rect">
            <a:avLst/>
          </a:prstGeom>
          <a:noFill/>
          <a:ln w="19050" algn="ctr">
            <a:noFill/>
            <a:miter lim="800000"/>
            <a:headEnd/>
            <a:tailEnd type="none" w="med" len="lg"/>
          </a:ln>
          <a:effectLst/>
        </p:spPr>
        <p:txBody>
          <a:bodyPr>
            <a:spAutoFit/>
          </a:bodyPr>
          <a:lstStyle/>
          <a:p>
            <a:pPr algn="l">
              <a:spcBef>
                <a:spcPct val="50000"/>
              </a:spcBef>
            </a:pPr>
            <a:r>
              <a:rPr lang="en-US" altLang="zh-CN" sz="1600" dirty="0">
                <a:latin typeface="Consolas" pitchFamily="49" charset="0"/>
                <a:cs typeface="Consolas" pitchFamily="49" charset="0"/>
              </a:rPr>
              <a:t>10</a:t>
            </a:r>
          </a:p>
        </p:txBody>
      </p:sp>
      <p:sp>
        <p:nvSpPr>
          <p:cNvPr id="67" name="Text Box 23">
            <a:extLst>
              <a:ext uri="{FF2B5EF4-FFF2-40B4-BE49-F238E27FC236}">
                <a16:creationId xmlns:a16="http://schemas.microsoft.com/office/drawing/2014/main" id="{C6803110-84C8-F827-6AFD-9F0123B1C315}"/>
              </a:ext>
            </a:extLst>
          </p:cNvPr>
          <p:cNvSpPr txBox="1">
            <a:spLocks noChangeArrowheads="1"/>
          </p:cNvSpPr>
          <p:nvPr/>
        </p:nvSpPr>
        <p:spPr bwMode="auto">
          <a:xfrm>
            <a:off x="5160417" y="3262355"/>
            <a:ext cx="503238" cy="338554"/>
          </a:xfrm>
          <a:prstGeom prst="rect">
            <a:avLst/>
          </a:prstGeom>
          <a:noFill/>
          <a:ln w="19050" algn="ctr">
            <a:noFill/>
            <a:miter lim="800000"/>
            <a:headEnd/>
            <a:tailEnd type="none" w="med" len="lg"/>
          </a:ln>
          <a:effectLst/>
        </p:spPr>
        <p:txBody>
          <a:bodyPr>
            <a:spAutoFit/>
          </a:bodyPr>
          <a:lstStyle/>
          <a:p>
            <a:pPr algn="l">
              <a:spcBef>
                <a:spcPct val="50000"/>
              </a:spcBef>
            </a:pPr>
            <a:r>
              <a:rPr lang="en-US" altLang="zh-CN" sz="1600">
                <a:latin typeface="Consolas" pitchFamily="49" charset="0"/>
                <a:cs typeface="Consolas" pitchFamily="49" charset="0"/>
              </a:rPr>
              <a:t>16</a:t>
            </a:r>
          </a:p>
        </p:txBody>
      </p:sp>
      <p:sp>
        <p:nvSpPr>
          <p:cNvPr id="68" name="Text Box 24">
            <a:extLst>
              <a:ext uri="{FF2B5EF4-FFF2-40B4-BE49-F238E27FC236}">
                <a16:creationId xmlns:a16="http://schemas.microsoft.com/office/drawing/2014/main" id="{F30A4B2C-EBA6-C11F-D7F5-1C5DA0431230}"/>
              </a:ext>
            </a:extLst>
          </p:cNvPr>
          <p:cNvSpPr txBox="1">
            <a:spLocks noChangeArrowheads="1"/>
          </p:cNvSpPr>
          <p:nvPr/>
        </p:nvSpPr>
        <p:spPr bwMode="auto">
          <a:xfrm>
            <a:off x="4333329" y="3292518"/>
            <a:ext cx="411096" cy="338554"/>
          </a:xfrm>
          <a:prstGeom prst="rect">
            <a:avLst/>
          </a:prstGeom>
          <a:noFill/>
          <a:ln w="19050" algn="ctr">
            <a:noFill/>
            <a:miter lim="800000"/>
            <a:headEnd/>
            <a:tailEnd type="none" w="med" len="lg"/>
          </a:ln>
          <a:effectLst/>
        </p:spPr>
        <p:txBody>
          <a:bodyPr wrap="square">
            <a:spAutoFit/>
          </a:bodyPr>
          <a:lstStyle/>
          <a:p>
            <a:pPr algn="l">
              <a:spcBef>
                <a:spcPct val="50000"/>
              </a:spcBef>
            </a:pPr>
            <a:r>
              <a:rPr lang="en-US" altLang="zh-CN" sz="1600" dirty="0">
                <a:latin typeface="Consolas" pitchFamily="49" charset="0"/>
                <a:cs typeface="Consolas" pitchFamily="49" charset="0"/>
              </a:rPr>
              <a:t>14</a:t>
            </a:r>
          </a:p>
        </p:txBody>
      </p:sp>
      <p:sp>
        <p:nvSpPr>
          <p:cNvPr id="69" name="Text Box 25">
            <a:extLst>
              <a:ext uri="{FF2B5EF4-FFF2-40B4-BE49-F238E27FC236}">
                <a16:creationId xmlns:a16="http://schemas.microsoft.com/office/drawing/2014/main" id="{9480C8F7-13F3-5C0D-7EBD-4E44820E0005}"/>
              </a:ext>
            </a:extLst>
          </p:cNvPr>
          <p:cNvSpPr txBox="1">
            <a:spLocks noChangeArrowheads="1"/>
          </p:cNvSpPr>
          <p:nvPr/>
        </p:nvSpPr>
        <p:spPr bwMode="auto">
          <a:xfrm>
            <a:off x="3217317" y="4305343"/>
            <a:ext cx="503238" cy="338554"/>
          </a:xfrm>
          <a:prstGeom prst="rect">
            <a:avLst/>
          </a:prstGeom>
          <a:noFill/>
          <a:ln w="19050" algn="ctr">
            <a:noFill/>
            <a:miter lim="800000"/>
            <a:headEnd/>
            <a:tailEnd type="none" w="med" len="lg"/>
          </a:ln>
          <a:effectLst/>
        </p:spPr>
        <p:txBody>
          <a:bodyPr>
            <a:spAutoFit/>
          </a:bodyPr>
          <a:lstStyle/>
          <a:p>
            <a:pPr algn="l">
              <a:spcBef>
                <a:spcPct val="50000"/>
              </a:spcBef>
            </a:pPr>
            <a:r>
              <a:rPr lang="en-US" altLang="zh-CN" sz="1600">
                <a:latin typeface="Consolas" pitchFamily="49" charset="0"/>
                <a:cs typeface="Consolas" pitchFamily="49" charset="0"/>
              </a:rPr>
              <a:t>25</a:t>
            </a:r>
          </a:p>
        </p:txBody>
      </p:sp>
      <p:sp>
        <p:nvSpPr>
          <p:cNvPr id="70" name="Text Box 26">
            <a:extLst>
              <a:ext uri="{FF2B5EF4-FFF2-40B4-BE49-F238E27FC236}">
                <a16:creationId xmlns:a16="http://schemas.microsoft.com/office/drawing/2014/main" id="{8E29986A-4458-8A54-F353-BECA6B58C006}"/>
              </a:ext>
            </a:extLst>
          </p:cNvPr>
          <p:cNvSpPr txBox="1">
            <a:spLocks noChangeArrowheads="1"/>
          </p:cNvSpPr>
          <p:nvPr/>
        </p:nvSpPr>
        <p:spPr bwMode="auto">
          <a:xfrm>
            <a:off x="3791992" y="4089443"/>
            <a:ext cx="503238" cy="338554"/>
          </a:xfrm>
          <a:prstGeom prst="rect">
            <a:avLst/>
          </a:prstGeom>
          <a:noFill/>
          <a:ln w="19050" algn="ctr">
            <a:noFill/>
            <a:miter lim="800000"/>
            <a:headEnd/>
            <a:tailEnd type="none" w="med" len="lg"/>
          </a:ln>
          <a:effectLst/>
        </p:spPr>
        <p:txBody>
          <a:bodyPr>
            <a:spAutoFit/>
          </a:bodyPr>
          <a:lstStyle/>
          <a:p>
            <a:pPr algn="l">
              <a:spcBef>
                <a:spcPct val="50000"/>
              </a:spcBef>
            </a:pPr>
            <a:r>
              <a:rPr lang="en-US" altLang="zh-CN" sz="1600">
                <a:latin typeface="Consolas" pitchFamily="49" charset="0"/>
                <a:cs typeface="Consolas" pitchFamily="49" charset="0"/>
              </a:rPr>
              <a:t>24</a:t>
            </a:r>
          </a:p>
        </p:txBody>
      </p:sp>
      <p:sp>
        <p:nvSpPr>
          <p:cNvPr id="71" name="Text Box 27">
            <a:extLst>
              <a:ext uri="{FF2B5EF4-FFF2-40B4-BE49-F238E27FC236}">
                <a16:creationId xmlns:a16="http://schemas.microsoft.com/office/drawing/2014/main" id="{410715FD-902A-3D23-591F-79B7083D1316}"/>
              </a:ext>
            </a:extLst>
          </p:cNvPr>
          <p:cNvSpPr txBox="1">
            <a:spLocks noChangeArrowheads="1"/>
          </p:cNvSpPr>
          <p:nvPr/>
        </p:nvSpPr>
        <p:spPr bwMode="auto">
          <a:xfrm>
            <a:off x="4655592" y="4016418"/>
            <a:ext cx="503238" cy="338554"/>
          </a:xfrm>
          <a:prstGeom prst="rect">
            <a:avLst/>
          </a:prstGeom>
          <a:noFill/>
          <a:ln w="19050" algn="ctr">
            <a:noFill/>
            <a:miter lim="800000"/>
            <a:headEnd/>
            <a:tailEnd type="none" w="med" len="lg"/>
          </a:ln>
          <a:effectLst/>
        </p:spPr>
        <p:txBody>
          <a:bodyPr>
            <a:spAutoFit/>
          </a:bodyPr>
          <a:lstStyle/>
          <a:p>
            <a:pPr algn="l">
              <a:spcBef>
                <a:spcPct val="50000"/>
              </a:spcBef>
            </a:pPr>
            <a:r>
              <a:rPr lang="en-US" altLang="zh-CN" sz="1600">
                <a:latin typeface="Consolas" pitchFamily="49" charset="0"/>
                <a:cs typeface="Consolas" pitchFamily="49" charset="0"/>
              </a:rPr>
              <a:t>18</a:t>
            </a:r>
          </a:p>
        </p:txBody>
      </p:sp>
      <p:sp>
        <p:nvSpPr>
          <p:cNvPr id="72" name="Text Box 28">
            <a:extLst>
              <a:ext uri="{FF2B5EF4-FFF2-40B4-BE49-F238E27FC236}">
                <a16:creationId xmlns:a16="http://schemas.microsoft.com/office/drawing/2014/main" id="{315735F1-3013-CE77-D31F-CF6034A4905F}"/>
              </a:ext>
            </a:extLst>
          </p:cNvPr>
          <p:cNvSpPr txBox="1">
            <a:spLocks noChangeArrowheads="1"/>
          </p:cNvSpPr>
          <p:nvPr/>
        </p:nvSpPr>
        <p:spPr bwMode="auto">
          <a:xfrm>
            <a:off x="4223792" y="4827215"/>
            <a:ext cx="503238" cy="338554"/>
          </a:xfrm>
          <a:prstGeom prst="rect">
            <a:avLst/>
          </a:prstGeom>
          <a:noFill/>
          <a:ln w="19050" algn="ctr">
            <a:noFill/>
            <a:miter lim="800000"/>
            <a:headEnd/>
            <a:tailEnd type="none" w="med" len="lg"/>
          </a:ln>
          <a:effectLst/>
        </p:spPr>
        <p:txBody>
          <a:bodyPr>
            <a:spAutoFit/>
          </a:bodyPr>
          <a:lstStyle/>
          <a:p>
            <a:pPr algn="l">
              <a:spcBef>
                <a:spcPct val="50000"/>
              </a:spcBef>
            </a:pPr>
            <a:r>
              <a:rPr lang="en-US" altLang="zh-CN" sz="1600" dirty="0">
                <a:latin typeface="Consolas" pitchFamily="49" charset="0"/>
                <a:cs typeface="Consolas" pitchFamily="49" charset="0"/>
              </a:rPr>
              <a:t>22</a:t>
            </a:r>
          </a:p>
        </p:txBody>
      </p:sp>
      <p:sp>
        <p:nvSpPr>
          <p:cNvPr id="73" name="Text Box 29">
            <a:extLst>
              <a:ext uri="{FF2B5EF4-FFF2-40B4-BE49-F238E27FC236}">
                <a16:creationId xmlns:a16="http://schemas.microsoft.com/office/drawing/2014/main" id="{CED89739-1DF4-2EFD-D00B-35DCEAD5BCAF}"/>
              </a:ext>
            </a:extLst>
          </p:cNvPr>
          <p:cNvSpPr txBox="1">
            <a:spLocks noChangeArrowheads="1"/>
          </p:cNvSpPr>
          <p:nvPr/>
        </p:nvSpPr>
        <p:spPr bwMode="auto">
          <a:xfrm>
            <a:off x="5088979" y="4305343"/>
            <a:ext cx="503238" cy="338554"/>
          </a:xfrm>
          <a:prstGeom prst="rect">
            <a:avLst/>
          </a:prstGeom>
          <a:noFill/>
          <a:ln w="19050" algn="ctr">
            <a:noFill/>
            <a:miter lim="800000"/>
            <a:headEnd/>
            <a:tailEnd type="none" w="med" len="lg"/>
          </a:ln>
          <a:effectLst/>
        </p:spPr>
        <p:txBody>
          <a:bodyPr>
            <a:spAutoFit/>
          </a:bodyPr>
          <a:lstStyle/>
          <a:p>
            <a:pPr algn="l">
              <a:spcBef>
                <a:spcPct val="50000"/>
              </a:spcBef>
            </a:pPr>
            <a:r>
              <a:rPr lang="en-US" altLang="zh-CN" sz="1600">
                <a:latin typeface="Consolas" pitchFamily="49" charset="0"/>
                <a:cs typeface="Consolas" pitchFamily="49" charset="0"/>
              </a:rPr>
              <a:t>12</a:t>
            </a:r>
          </a:p>
        </p:txBody>
      </p:sp>
      <p:sp>
        <p:nvSpPr>
          <p:cNvPr id="74" name="Text Box 30">
            <a:extLst>
              <a:ext uri="{FF2B5EF4-FFF2-40B4-BE49-F238E27FC236}">
                <a16:creationId xmlns:a16="http://schemas.microsoft.com/office/drawing/2014/main" id="{5C35EC51-FB28-D6CB-BC3A-5043EBA0DAA9}"/>
              </a:ext>
            </a:extLst>
          </p:cNvPr>
          <p:cNvSpPr txBox="1">
            <a:spLocks noChangeArrowheads="1"/>
          </p:cNvSpPr>
          <p:nvPr/>
        </p:nvSpPr>
        <p:spPr bwMode="auto">
          <a:xfrm>
            <a:off x="4007892" y="5421355"/>
            <a:ext cx="935038" cy="400110"/>
          </a:xfrm>
          <a:prstGeom prst="rect">
            <a:avLst/>
          </a:prstGeom>
          <a:noFill/>
          <a:ln w="19050" algn="ctr">
            <a:noFill/>
            <a:miter lim="800000"/>
            <a:headEnd/>
            <a:tailEnd type="none" w="med" len="lg"/>
          </a:ln>
          <a:effectLst/>
        </p:spPr>
        <p:txBody>
          <a:bodyPr>
            <a:spAutoFit/>
          </a:bodyPr>
          <a:lstStyle/>
          <a:p>
            <a:pPr algn="l">
              <a:spcBef>
                <a:spcPct val="50000"/>
              </a:spcBef>
            </a:pPr>
            <a:r>
              <a:rPr lang="zh-CN" altLang="en-US" sz="2000" dirty="0">
                <a:latin typeface="Consolas" pitchFamily="49" charset="0"/>
                <a:ea typeface="楷体" pitchFamily="49" charset="-122"/>
                <a:cs typeface="Consolas" pitchFamily="49" charset="0"/>
              </a:rPr>
              <a:t>图</a:t>
            </a:r>
            <a:r>
              <a:rPr lang="en-US" altLang="zh-CN" sz="2000" dirty="0">
                <a:latin typeface="Consolas" pitchFamily="49" charset="0"/>
                <a:ea typeface="楷体" pitchFamily="49" charset="-122"/>
                <a:cs typeface="Consolas" pitchFamily="49" charset="0"/>
              </a:rPr>
              <a:t>G</a:t>
            </a:r>
          </a:p>
        </p:txBody>
      </p:sp>
      <p:grpSp>
        <p:nvGrpSpPr>
          <p:cNvPr id="75" name="组合 86">
            <a:extLst>
              <a:ext uri="{FF2B5EF4-FFF2-40B4-BE49-F238E27FC236}">
                <a16:creationId xmlns:a16="http://schemas.microsoft.com/office/drawing/2014/main" id="{754DEAB1-6CAE-F775-F6E3-831EE2F01E28}"/>
              </a:ext>
            </a:extLst>
          </p:cNvPr>
          <p:cNvGrpSpPr/>
          <p:nvPr/>
        </p:nvGrpSpPr>
        <p:grpSpPr>
          <a:xfrm>
            <a:off x="7159093" y="2871815"/>
            <a:ext cx="2376488" cy="2016125"/>
            <a:chOff x="5167380" y="1285860"/>
            <a:chExt cx="2376488" cy="2016125"/>
          </a:xfrm>
        </p:grpSpPr>
        <p:sp>
          <p:nvSpPr>
            <p:cNvPr id="76" name="Oval 31">
              <a:extLst>
                <a:ext uri="{FF2B5EF4-FFF2-40B4-BE49-F238E27FC236}">
                  <a16:creationId xmlns:a16="http://schemas.microsoft.com/office/drawing/2014/main" id="{A516174F-DA55-E33F-AADA-3D75295DCAE3}"/>
                </a:ext>
              </a:extLst>
            </p:cNvPr>
            <p:cNvSpPr>
              <a:spLocks noChangeArrowheads="1"/>
            </p:cNvSpPr>
            <p:nvPr/>
          </p:nvSpPr>
          <p:spPr bwMode="auto">
            <a:xfrm>
              <a:off x="5743643" y="1285860"/>
              <a:ext cx="360363" cy="431800"/>
            </a:xfrm>
            <a:prstGeom prst="ellipse">
              <a:avLst/>
            </a:prstGeom>
            <a:solidFill>
              <a:schemeClr val="tx2">
                <a:lumMod val="60000"/>
                <a:lumOff val="40000"/>
              </a:schemeClr>
            </a:solidFill>
            <a:ln w="19050" algn="ctr">
              <a:solidFill>
                <a:srgbClr val="3333FF"/>
              </a:solidFill>
              <a:round/>
              <a:headEnd/>
              <a:tailEnd type="none" w="med" len="lg"/>
            </a:ln>
            <a:effectLst/>
          </p:spPr>
          <p:txBody>
            <a:bodyPr wrap="none" anchor="ctr"/>
            <a:lstStyle/>
            <a:p>
              <a:r>
                <a:rPr lang="en-US" altLang="zh-CN" sz="2000" dirty="0">
                  <a:latin typeface="Consolas" pitchFamily="49" charset="0"/>
                  <a:cs typeface="Consolas" pitchFamily="49" charset="0"/>
                </a:rPr>
                <a:t>0</a:t>
              </a:r>
            </a:p>
          </p:txBody>
        </p:sp>
        <p:sp>
          <p:nvSpPr>
            <p:cNvPr id="77" name="Oval 32">
              <a:extLst>
                <a:ext uri="{FF2B5EF4-FFF2-40B4-BE49-F238E27FC236}">
                  <a16:creationId xmlns:a16="http://schemas.microsoft.com/office/drawing/2014/main" id="{DB34EB25-6FF2-A824-063E-D0B9C308377D}"/>
                </a:ext>
              </a:extLst>
            </p:cNvPr>
            <p:cNvSpPr>
              <a:spLocks noChangeArrowheads="1"/>
            </p:cNvSpPr>
            <p:nvPr/>
          </p:nvSpPr>
          <p:spPr bwMode="auto">
            <a:xfrm>
              <a:off x="6824730" y="1285860"/>
              <a:ext cx="360363" cy="431800"/>
            </a:xfrm>
            <a:prstGeom prst="ellipse">
              <a:avLst/>
            </a:prstGeom>
            <a:solidFill>
              <a:schemeClr val="accent1"/>
            </a:solidFill>
            <a:ln w="19050" algn="ctr">
              <a:solidFill>
                <a:srgbClr val="3333FF"/>
              </a:solidFill>
              <a:round/>
              <a:headEnd/>
              <a:tailEnd type="none" w="med" len="lg"/>
            </a:ln>
            <a:effectLst/>
          </p:spPr>
          <p:txBody>
            <a:bodyPr wrap="none" anchor="ctr"/>
            <a:lstStyle/>
            <a:p>
              <a:r>
                <a:rPr lang="en-US" altLang="zh-CN" sz="2000">
                  <a:latin typeface="Consolas" pitchFamily="49" charset="0"/>
                  <a:cs typeface="Consolas" pitchFamily="49" charset="0"/>
                </a:rPr>
                <a:t>1</a:t>
              </a:r>
            </a:p>
          </p:txBody>
        </p:sp>
        <p:sp>
          <p:nvSpPr>
            <p:cNvPr id="78" name="Oval 33">
              <a:extLst>
                <a:ext uri="{FF2B5EF4-FFF2-40B4-BE49-F238E27FC236}">
                  <a16:creationId xmlns:a16="http://schemas.microsoft.com/office/drawing/2014/main" id="{DE9F9FDE-B623-C943-74A6-F69D70AACD31}"/>
                </a:ext>
              </a:extLst>
            </p:cNvPr>
            <p:cNvSpPr>
              <a:spLocks noChangeArrowheads="1"/>
            </p:cNvSpPr>
            <p:nvPr/>
          </p:nvSpPr>
          <p:spPr bwMode="auto">
            <a:xfrm>
              <a:off x="5167380" y="2151048"/>
              <a:ext cx="360363" cy="431800"/>
            </a:xfrm>
            <a:prstGeom prst="ellipse">
              <a:avLst/>
            </a:prstGeom>
            <a:solidFill>
              <a:schemeClr val="accent1"/>
            </a:solidFill>
            <a:ln w="19050" algn="ctr">
              <a:solidFill>
                <a:srgbClr val="3333FF"/>
              </a:solidFill>
              <a:round/>
              <a:headEnd/>
              <a:tailEnd type="none" w="med" len="lg"/>
            </a:ln>
            <a:effectLst/>
          </p:spPr>
          <p:txBody>
            <a:bodyPr wrap="none" anchor="ctr"/>
            <a:lstStyle/>
            <a:p>
              <a:r>
                <a:rPr lang="en-US" altLang="zh-CN" sz="2000" dirty="0">
                  <a:latin typeface="Consolas" pitchFamily="49" charset="0"/>
                  <a:cs typeface="Consolas" pitchFamily="49" charset="0"/>
                </a:rPr>
                <a:t>5</a:t>
              </a:r>
            </a:p>
          </p:txBody>
        </p:sp>
        <p:sp>
          <p:nvSpPr>
            <p:cNvPr id="79" name="Oval 34">
              <a:extLst>
                <a:ext uri="{FF2B5EF4-FFF2-40B4-BE49-F238E27FC236}">
                  <a16:creationId xmlns:a16="http://schemas.microsoft.com/office/drawing/2014/main" id="{D4E43F98-6FEE-0382-3DE9-C9D5B6CC1D65}"/>
                </a:ext>
              </a:extLst>
            </p:cNvPr>
            <p:cNvSpPr>
              <a:spLocks noChangeArrowheads="1"/>
            </p:cNvSpPr>
            <p:nvPr/>
          </p:nvSpPr>
          <p:spPr bwMode="auto">
            <a:xfrm>
              <a:off x="5816668" y="2870185"/>
              <a:ext cx="360363" cy="431800"/>
            </a:xfrm>
            <a:prstGeom prst="ellipse">
              <a:avLst/>
            </a:prstGeom>
            <a:solidFill>
              <a:schemeClr val="accent1"/>
            </a:solidFill>
            <a:ln w="19050" algn="ctr">
              <a:solidFill>
                <a:srgbClr val="3333FF"/>
              </a:solidFill>
              <a:round/>
              <a:headEnd/>
              <a:tailEnd type="none" w="med" len="lg"/>
            </a:ln>
            <a:effectLst/>
          </p:spPr>
          <p:txBody>
            <a:bodyPr wrap="none" anchor="ctr"/>
            <a:lstStyle/>
            <a:p>
              <a:r>
                <a:rPr lang="en-US" altLang="zh-CN" sz="2000" dirty="0">
                  <a:latin typeface="Consolas" pitchFamily="49" charset="0"/>
                  <a:cs typeface="Consolas" pitchFamily="49" charset="0"/>
                </a:rPr>
                <a:t>4</a:t>
              </a:r>
            </a:p>
          </p:txBody>
        </p:sp>
        <p:sp>
          <p:nvSpPr>
            <p:cNvPr id="80" name="Oval 35">
              <a:extLst>
                <a:ext uri="{FF2B5EF4-FFF2-40B4-BE49-F238E27FC236}">
                  <a16:creationId xmlns:a16="http://schemas.microsoft.com/office/drawing/2014/main" id="{153CBAE6-E391-8B2C-F719-9A1687A528A2}"/>
                </a:ext>
              </a:extLst>
            </p:cNvPr>
            <p:cNvSpPr>
              <a:spLocks noChangeArrowheads="1"/>
            </p:cNvSpPr>
            <p:nvPr/>
          </p:nvSpPr>
          <p:spPr bwMode="auto">
            <a:xfrm>
              <a:off x="6751705" y="2870185"/>
              <a:ext cx="360363" cy="431800"/>
            </a:xfrm>
            <a:prstGeom prst="ellipse">
              <a:avLst/>
            </a:prstGeom>
            <a:solidFill>
              <a:schemeClr val="accent1"/>
            </a:solidFill>
            <a:ln w="19050" algn="ctr">
              <a:solidFill>
                <a:srgbClr val="3333FF"/>
              </a:solidFill>
              <a:round/>
              <a:headEnd/>
              <a:tailEnd type="none" w="med" len="lg"/>
            </a:ln>
            <a:effectLst/>
          </p:spPr>
          <p:txBody>
            <a:bodyPr wrap="none" anchor="ctr"/>
            <a:lstStyle/>
            <a:p>
              <a:r>
                <a:rPr lang="en-US" altLang="zh-CN" sz="2000" dirty="0">
                  <a:latin typeface="Consolas" pitchFamily="49" charset="0"/>
                  <a:cs typeface="Consolas" pitchFamily="49" charset="0"/>
                </a:rPr>
                <a:t>3</a:t>
              </a:r>
            </a:p>
          </p:txBody>
        </p:sp>
        <p:sp>
          <p:nvSpPr>
            <p:cNvPr id="81" name="Oval 36">
              <a:extLst>
                <a:ext uri="{FF2B5EF4-FFF2-40B4-BE49-F238E27FC236}">
                  <a16:creationId xmlns:a16="http://schemas.microsoft.com/office/drawing/2014/main" id="{8D638592-9FC9-8F66-6ABD-D61701ADFB65}"/>
                </a:ext>
              </a:extLst>
            </p:cNvPr>
            <p:cNvSpPr>
              <a:spLocks noChangeArrowheads="1"/>
            </p:cNvSpPr>
            <p:nvPr/>
          </p:nvSpPr>
          <p:spPr bwMode="auto">
            <a:xfrm>
              <a:off x="6319905" y="2078023"/>
              <a:ext cx="360363"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2000">
                  <a:solidFill>
                    <a:srgbClr val="0000FF"/>
                  </a:solidFill>
                  <a:latin typeface="Consolas" pitchFamily="49" charset="0"/>
                  <a:cs typeface="Consolas" pitchFamily="49" charset="0"/>
                </a:rPr>
                <a:t>6</a:t>
              </a:r>
            </a:p>
          </p:txBody>
        </p:sp>
        <p:sp>
          <p:nvSpPr>
            <p:cNvPr id="82" name="Oval 37">
              <a:extLst>
                <a:ext uri="{FF2B5EF4-FFF2-40B4-BE49-F238E27FC236}">
                  <a16:creationId xmlns:a16="http://schemas.microsoft.com/office/drawing/2014/main" id="{140C9AC8-A836-817E-EE75-70846CCC408C}"/>
                </a:ext>
              </a:extLst>
            </p:cNvPr>
            <p:cNvSpPr>
              <a:spLocks noChangeArrowheads="1"/>
            </p:cNvSpPr>
            <p:nvPr/>
          </p:nvSpPr>
          <p:spPr bwMode="auto">
            <a:xfrm>
              <a:off x="7183505" y="2078023"/>
              <a:ext cx="360363" cy="431800"/>
            </a:xfrm>
            <a:prstGeom prst="ellipse">
              <a:avLst/>
            </a:prstGeom>
            <a:solidFill>
              <a:schemeClr val="accent1"/>
            </a:solidFill>
            <a:ln w="19050" algn="ctr">
              <a:solidFill>
                <a:srgbClr val="3333FF"/>
              </a:solidFill>
              <a:round/>
              <a:headEnd/>
              <a:tailEnd type="none" w="med" len="lg"/>
            </a:ln>
            <a:effectLst/>
          </p:spPr>
          <p:txBody>
            <a:bodyPr wrap="none" anchor="ctr"/>
            <a:lstStyle/>
            <a:p>
              <a:r>
                <a:rPr lang="en-US" altLang="zh-CN" sz="2000">
                  <a:latin typeface="Consolas" pitchFamily="49" charset="0"/>
                  <a:cs typeface="Consolas" pitchFamily="49" charset="0"/>
                </a:rPr>
                <a:t>2</a:t>
              </a:r>
            </a:p>
          </p:txBody>
        </p:sp>
      </p:grpSp>
      <p:sp>
        <p:nvSpPr>
          <p:cNvPr id="83" name="Freeform 13">
            <a:extLst>
              <a:ext uri="{FF2B5EF4-FFF2-40B4-BE49-F238E27FC236}">
                <a16:creationId xmlns:a16="http://schemas.microsoft.com/office/drawing/2014/main" id="{0B369D47-AD5C-F31E-2969-27365A72F727}"/>
              </a:ext>
            </a:extLst>
          </p:cNvPr>
          <p:cNvSpPr>
            <a:spLocks/>
          </p:cNvSpPr>
          <p:nvPr/>
        </p:nvSpPr>
        <p:spPr bwMode="auto">
          <a:xfrm>
            <a:off x="7395569" y="3229005"/>
            <a:ext cx="395288" cy="528638"/>
          </a:xfrm>
          <a:custGeom>
            <a:avLst/>
            <a:gdLst/>
            <a:ahLst/>
            <a:cxnLst>
              <a:cxn ang="0">
                <a:pos x="249" y="0"/>
              </a:cxn>
              <a:cxn ang="0">
                <a:pos x="0" y="333"/>
              </a:cxn>
            </a:cxnLst>
            <a:rect l="0" t="0" r="r" b="b"/>
            <a:pathLst>
              <a:path w="249" h="333">
                <a:moveTo>
                  <a:pt x="249" y="0"/>
                </a:moveTo>
                <a:lnTo>
                  <a:pt x="0" y="333"/>
                </a:lnTo>
              </a:path>
            </a:pathLst>
          </a:custGeom>
          <a:noFill/>
          <a:ln w="19050" cap="flat" cmpd="sng">
            <a:solidFill>
              <a:srgbClr val="3333FF"/>
            </a:solidFill>
            <a:prstDash val="solid"/>
            <a:round/>
            <a:headEnd type="none" w="med" len="med"/>
            <a:tailEnd type="none" w="med" len="lg"/>
          </a:ln>
          <a:effectLst/>
        </p:spPr>
        <p:txBody>
          <a:bodyPr wrap="none"/>
          <a:lstStyle/>
          <a:p>
            <a:endParaRPr lang="zh-CN" altLang="en-US">
              <a:latin typeface="Consolas" pitchFamily="49" charset="0"/>
              <a:cs typeface="Consolas" pitchFamily="49" charset="0"/>
            </a:endParaRPr>
          </a:p>
        </p:txBody>
      </p:sp>
      <p:sp>
        <p:nvSpPr>
          <p:cNvPr id="84" name="Text Box 65">
            <a:extLst>
              <a:ext uri="{FF2B5EF4-FFF2-40B4-BE49-F238E27FC236}">
                <a16:creationId xmlns:a16="http://schemas.microsoft.com/office/drawing/2014/main" id="{F25CE908-376A-A8EA-1220-58CA9DE21108}"/>
              </a:ext>
            </a:extLst>
          </p:cNvPr>
          <p:cNvSpPr txBox="1">
            <a:spLocks noChangeArrowheads="1"/>
          </p:cNvSpPr>
          <p:nvPr/>
        </p:nvSpPr>
        <p:spPr bwMode="auto">
          <a:xfrm>
            <a:off x="6849465" y="5443583"/>
            <a:ext cx="4071934" cy="338554"/>
          </a:xfrm>
          <a:prstGeom prst="rect">
            <a:avLst/>
          </a:prstGeom>
          <a:noFill/>
          <a:ln w="19050" algn="ctr">
            <a:noFill/>
            <a:miter lim="800000"/>
            <a:headEnd/>
            <a:tailEnd type="none" w="med" len="lg"/>
          </a:ln>
          <a:effectLst/>
        </p:spPr>
        <p:txBody>
          <a:bodyPr wrap="square" lIns="0" tIns="0" rIns="0" bIns="0">
            <a:spAutoFit/>
          </a:bodyPr>
          <a:lstStyle/>
          <a:p>
            <a:pPr algn="l">
              <a:spcBef>
                <a:spcPct val="50000"/>
              </a:spcBef>
            </a:pPr>
            <a:r>
              <a:rPr lang="en-US" altLang="zh-CN" sz="2200">
                <a:solidFill>
                  <a:srgbClr val="CC00CC"/>
                </a:solidFill>
                <a:latin typeface="Consolas" pitchFamily="49" charset="0"/>
                <a:cs typeface="Consolas" pitchFamily="49" charset="0"/>
              </a:rPr>
              <a:t>U={0</a:t>
            </a:r>
            <a:r>
              <a:rPr lang="zh-CN" altLang="en-US" sz="2200">
                <a:solidFill>
                  <a:srgbClr val="CC00CC"/>
                </a:solidFill>
                <a:latin typeface="Consolas" pitchFamily="49" charset="0"/>
                <a:cs typeface="Consolas" pitchFamily="49" charset="0"/>
              </a:rPr>
              <a:t>，</a:t>
            </a:r>
            <a:r>
              <a:rPr lang="en-US" altLang="zh-CN" sz="2200">
                <a:solidFill>
                  <a:srgbClr val="CC00CC"/>
                </a:solidFill>
                <a:latin typeface="Consolas" pitchFamily="49" charset="0"/>
                <a:cs typeface="Consolas" pitchFamily="49" charset="0"/>
              </a:rPr>
              <a:t>5</a:t>
            </a:r>
            <a:r>
              <a:rPr lang="zh-CN" altLang="en-US" sz="2200">
                <a:solidFill>
                  <a:srgbClr val="CC00CC"/>
                </a:solidFill>
                <a:latin typeface="Consolas" pitchFamily="49" charset="0"/>
                <a:cs typeface="Consolas" pitchFamily="49" charset="0"/>
              </a:rPr>
              <a:t>，</a:t>
            </a:r>
            <a:r>
              <a:rPr lang="en-US" altLang="zh-CN" sz="2200">
                <a:solidFill>
                  <a:srgbClr val="CC00CC"/>
                </a:solidFill>
                <a:latin typeface="Consolas" pitchFamily="49" charset="0"/>
                <a:cs typeface="Consolas" pitchFamily="49" charset="0"/>
              </a:rPr>
              <a:t>4</a:t>
            </a:r>
            <a:r>
              <a:rPr lang="zh-CN" altLang="en-US" sz="2200">
                <a:solidFill>
                  <a:srgbClr val="CC00CC"/>
                </a:solidFill>
                <a:latin typeface="Consolas" pitchFamily="49" charset="0"/>
                <a:cs typeface="Consolas" pitchFamily="49" charset="0"/>
              </a:rPr>
              <a:t>，</a:t>
            </a:r>
            <a:r>
              <a:rPr lang="en-US" altLang="zh-CN" sz="2200">
                <a:solidFill>
                  <a:srgbClr val="CC00CC"/>
                </a:solidFill>
                <a:latin typeface="Consolas" pitchFamily="49" charset="0"/>
                <a:cs typeface="Consolas" pitchFamily="49" charset="0"/>
              </a:rPr>
              <a:t>3</a:t>
            </a:r>
            <a:r>
              <a:rPr lang="zh-CN" altLang="en-US" sz="2200">
                <a:solidFill>
                  <a:srgbClr val="CC00CC"/>
                </a:solidFill>
                <a:latin typeface="Consolas" pitchFamily="49" charset="0"/>
                <a:cs typeface="Consolas" pitchFamily="49" charset="0"/>
              </a:rPr>
              <a:t>，</a:t>
            </a:r>
            <a:r>
              <a:rPr lang="en-US" altLang="zh-CN" sz="2200">
                <a:solidFill>
                  <a:srgbClr val="CC00CC"/>
                </a:solidFill>
                <a:latin typeface="Consolas" pitchFamily="49" charset="0"/>
                <a:cs typeface="Consolas" pitchFamily="49" charset="0"/>
              </a:rPr>
              <a:t>2</a:t>
            </a:r>
            <a:r>
              <a:rPr lang="zh-CN" altLang="en-US" sz="2200">
                <a:solidFill>
                  <a:srgbClr val="CC00CC"/>
                </a:solidFill>
                <a:latin typeface="Consolas" pitchFamily="49" charset="0"/>
                <a:cs typeface="Consolas" pitchFamily="49" charset="0"/>
              </a:rPr>
              <a:t>，</a:t>
            </a:r>
            <a:r>
              <a:rPr lang="en-US" altLang="zh-CN" sz="2200">
                <a:solidFill>
                  <a:srgbClr val="CC00CC"/>
                </a:solidFill>
                <a:latin typeface="Consolas" pitchFamily="49" charset="0"/>
                <a:cs typeface="Consolas" pitchFamily="49" charset="0"/>
              </a:rPr>
              <a:t>1}</a:t>
            </a:r>
            <a:endParaRPr lang="en-US" altLang="zh-CN" sz="2200" dirty="0">
              <a:solidFill>
                <a:srgbClr val="CC00CC"/>
              </a:solidFill>
              <a:latin typeface="Consolas" pitchFamily="49" charset="0"/>
              <a:cs typeface="Consolas" pitchFamily="49" charset="0"/>
            </a:endParaRPr>
          </a:p>
        </p:txBody>
      </p:sp>
      <p:sp>
        <p:nvSpPr>
          <p:cNvPr id="85" name="Oval 31">
            <a:extLst>
              <a:ext uri="{FF2B5EF4-FFF2-40B4-BE49-F238E27FC236}">
                <a16:creationId xmlns:a16="http://schemas.microsoft.com/office/drawing/2014/main" id="{D5B9A8E5-E3B5-3F37-5B9E-63C642592F2A}"/>
              </a:ext>
            </a:extLst>
          </p:cNvPr>
          <p:cNvSpPr>
            <a:spLocks noChangeArrowheads="1"/>
          </p:cNvSpPr>
          <p:nvPr/>
        </p:nvSpPr>
        <p:spPr bwMode="auto">
          <a:xfrm>
            <a:off x="7732121" y="2855943"/>
            <a:ext cx="360363" cy="431800"/>
          </a:xfrm>
          <a:prstGeom prst="ellipse">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anchor="ctr"/>
          <a:lstStyle/>
          <a:p>
            <a:r>
              <a:rPr lang="en-US" altLang="zh-CN" sz="2000" dirty="0">
                <a:solidFill>
                  <a:srgbClr val="FF00FF"/>
                </a:solidFill>
                <a:latin typeface="Consolas" pitchFamily="49" charset="0"/>
                <a:cs typeface="Consolas" pitchFamily="49" charset="0"/>
              </a:rPr>
              <a:t>0</a:t>
            </a:r>
          </a:p>
        </p:txBody>
      </p:sp>
      <p:sp>
        <p:nvSpPr>
          <p:cNvPr id="86" name="Oval 33">
            <a:extLst>
              <a:ext uri="{FF2B5EF4-FFF2-40B4-BE49-F238E27FC236}">
                <a16:creationId xmlns:a16="http://schemas.microsoft.com/office/drawing/2014/main" id="{77DE8AC4-E201-4386-D092-DABE13D359CD}"/>
              </a:ext>
            </a:extLst>
          </p:cNvPr>
          <p:cNvSpPr>
            <a:spLocks noChangeArrowheads="1"/>
          </p:cNvSpPr>
          <p:nvPr/>
        </p:nvSpPr>
        <p:spPr bwMode="auto">
          <a:xfrm>
            <a:off x="7147917" y="3729071"/>
            <a:ext cx="360363" cy="431800"/>
          </a:xfrm>
          <a:prstGeom prst="ellipse">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anchor="ctr"/>
          <a:lstStyle/>
          <a:p>
            <a:r>
              <a:rPr lang="en-US" altLang="zh-CN" sz="2000" dirty="0">
                <a:solidFill>
                  <a:srgbClr val="FF00FF"/>
                </a:solidFill>
                <a:latin typeface="Consolas" pitchFamily="49" charset="0"/>
                <a:ea typeface="黑体" pitchFamily="49" charset="-122"/>
                <a:cs typeface="Consolas" pitchFamily="49" charset="0"/>
              </a:rPr>
              <a:t>5</a:t>
            </a:r>
          </a:p>
        </p:txBody>
      </p:sp>
      <p:sp>
        <p:nvSpPr>
          <p:cNvPr id="87" name="Freeform 14">
            <a:extLst>
              <a:ext uri="{FF2B5EF4-FFF2-40B4-BE49-F238E27FC236}">
                <a16:creationId xmlns:a16="http://schemas.microsoft.com/office/drawing/2014/main" id="{38DE5228-ACFA-A2AE-D1B1-ADAF0BA80CC8}"/>
              </a:ext>
            </a:extLst>
          </p:cNvPr>
          <p:cNvSpPr>
            <a:spLocks/>
          </p:cNvSpPr>
          <p:nvPr/>
        </p:nvSpPr>
        <p:spPr bwMode="auto">
          <a:xfrm>
            <a:off x="7454307" y="4116427"/>
            <a:ext cx="392113" cy="419100"/>
          </a:xfrm>
          <a:custGeom>
            <a:avLst/>
            <a:gdLst/>
            <a:ahLst/>
            <a:cxnLst>
              <a:cxn ang="0">
                <a:pos x="0" y="0"/>
              </a:cxn>
              <a:cxn ang="0">
                <a:pos x="247" y="264"/>
              </a:cxn>
            </a:cxnLst>
            <a:rect l="0" t="0" r="r" b="b"/>
            <a:pathLst>
              <a:path w="247" h="264">
                <a:moveTo>
                  <a:pt x="0" y="0"/>
                </a:moveTo>
                <a:lnTo>
                  <a:pt x="247" y="264"/>
                </a:lnTo>
              </a:path>
            </a:pathLst>
          </a:custGeom>
          <a:noFill/>
          <a:ln w="19050" cap="flat" cmpd="sng">
            <a:solidFill>
              <a:srgbClr val="3333FF"/>
            </a:solidFill>
            <a:prstDash val="solid"/>
            <a:round/>
            <a:headEnd type="none" w="med" len="med"/>
            <a:tailEnd type="none" w="med" len="lg"/>
          </a:ln>
          <a:effectLst/>
        </p:spPr>
        <p:txBody>
          <a:bodyPr wrap="none"/>
          <a:lstStyle/>
          <a:p>
            <a:endParaRPr lang="zh-CN" altLang="en-US">
              <a:latin typeface="Consolas" pitchFamily="49" charset="0"/>
              <a:cs typeface="Consolas" pitchFamily="49" charset="0"/>
            </a:endParaRPr>
          </a:p>
        </p:txBody>
      </p:sp>
      <p:sp>
        <p:nvSpPr>
          <p:cNvPr id="88" name="Oval 34">
            <a:extLst>
              <a:ext uri="{FF2B5EF4-FFF2-40B4-BE49-F238E27FC236}">
                <a16:creationId xmlns:a16="http://schemas.microsoft.com/office/drawing/2014/main" id="{D89C0846-04FC-1945-DFE9-EF9173813CB4}"/>
              </a:ext>
            </a:extLst>
          </p:cNvPr>
          <p:cNvSpPr>
            <a:spLocks noChangeArrowheads="1"/>
          </p:cNvSpPr>
          <p:nvPr/>
        </p:nvSpPr>
        <p:spPr bwMode="auto">
          <a:xfrm>
            <a:off x="7803559" y="4443451"/>
            <a:ext cx="360363" cy="431800"/>
          </a:xfrm>
          <a:prstGeom prst="ellipse">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anchor="ctr"/>
          <a:lstStyle/>
          <a:p>
            <a:r>
              <a:rPr lang="en-US" altLang="zh-CN" sz="2000" dirty="0">
                <a:solidFill>
                  <a:srgbClr val="FF00FF"/>
                </a:solidFill>
                <a:latin typeface="Consolas" pitchFamily="49" charset="0"/>
                <a:cs typeface="Consolas" pitchFamily="49" charset="0"/>
              </a:rPr>
              <a:t>4</a:t>
            </a:r>
          </a:p>
        </p:txBody>
      </p:sp>
      <p:sp>
        <p:nvSpPr>
          <p:cNvPr id="89" name="Freeform 15">
            <a:extLst>
              <a:ext uri="{FF2B5EF4-FFF2-40B4-BE49-F238E27FC236}">
                <a16:creationId xmlns:a16="http://schemas.microsoft.com/office/drawing/2014/main" id="{540393F2-F017-5C50-56DD-AD42967BDF12}"/>
              </a:ext>
            </a:extLst>
          </p:cNvPr>
          <p:cNvSpPr>
            <a:spLocks/>
          </p:cNvSpPr>
          <p:nvPr/>
        </p:nvSpPr>
        <p:spPr bwMode="auto">
          <a:xfrm>
            <a:off x="8170278" y="4670465"/>
            <a:ext cx="582613" cy="1588"/>
          </a:xfrm>
          <a:custGeom>
            <a:avLst/>
            <a:gdLst/>
            <a:ahLst/>
            <a:cxnLst>
              <a:cxn ang="0">
                <a:pos x="0" y="0"/>
              </a:cxn>
              <a:cxn ang="0">
                <a:pos x="367" y="0"/>
              </a:cxn>
            </a:cxnLst>
            <a:rect l="0" t="0" r="r" b="b"/>
            <a:pathLst>
              <a:path w="367" h="1">
                <a:moveTo>
                  <a:pt x="0" y="0"/>
                </a:moveTo>
                <a:lnTo>
                  <a:pt x="367" y="0"/>
                </a:lnTo>
              </a:path>
            </a:pathLst>
          </a:custGeom>
          <a:noFill/>
          <a:ln w="19050" cap="flat" cmpd="sng">
            <a:solidFill>
              <a:srgbClr val="3333FF"/>
            </a:solidFill>
            <a:prstDash val="solid"/>
            <a:round/>
            <a:headEnd type="none" w="med" len="med"/>
            <a:tailEnd type="none" w="med" len="lg"/>
          </a:ln>
          <a:effectLst/>
        </p:spPr>
        <p:txBody>
          <a:bodyPr wrap="none"/>
          <a:lstStyle/>
          <a:p>
            <a:endParaRPr lang="zh-CN" altLang="en-US">
              <a:latin typeface="Consolas" pitchFamily="49" charset="0"/>
              <a:cs typeface="Consolas" pitchFamily="49" charset="0"/>
            </a:endParaRPr>
          </a:p>
        </p:txBody>
      </p:sp>
      <p:sp>
        <p:nvSpPr>
          <p:cNvPr id="92" name="Oval 35">
            <a:extLst>
              <a:ext uri="{FF2B5EF4-FFF2-40B4-BE49-F238E27FC236}">
                <a16:creationId xmlns:a16="http://schemas.microsoft.com/office/drawing/2014/main" id="{F6A3D23A-347D-D58B-E860-CB3AEAA33646}"/>
              </a:ext>
            </a:extLst>
          </p:cNvPr>
          <p:cNvSpPr>
            <a:spLocks noChangeArrowheads="1"/>
          </p:cNvSpPr>
          <p:nvPr/>
        </p:nvSpPr>
        <p:spPr bwMode="auto">
          <a:xfrm>
            <a:off x="8737018" y="4456151"/>
            <a:ext cx="360363" cy="431800"/>
          </a:xfrm>
          <a:prstGeom prst="ellipse">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anchor="ctr"/>
          <a:lstStyle/>
          <a:p>
            <a:r>
              <a:rPr lang="en-US" altLang="zh-CN" sz="2000" dirty="0">
                <a:solidFill>
                  <a:srgbClr val="FF00FF"/>
                </a:solidFill>
                <a:latin typeface="Consolas" pitchFamily="49" charset="0"/>
                <a:cs typeface="Consolas" pitchFamily="49" charset="0"/>
              </a:rPr>
              <a:t>3</a:t>
            </a:r>
          </a:p>
        </p:txBody>
      </p:sp>
      <p:sp>
        <p:nvSpPr>
          <p:cNvPr id="93" name="Line 20">
            <a:extLst>
              <a:ext uri="{FF2B5EF4-FFF2-40B4-BE49-F238E27FC236}">
                <a16:creationId xmlns:a16="http://schemas.microsoft.com/office/drawing/2014/main" id="{5E22A39F-42AF-4D24-6FAC-0CD21D9771A9}"/>
              </a:ext>
            </a:extLst>
          </p:cNvPr>
          <p:cNvSpPr>
            <a:spLocks noChangeShapeType="1"/>
          </p:cNvSpPr>
          <p:nvPr/>
        </p:nvSpPr>
        <p:spPr bwMode="auto">
          <a:xfrm flipH="1">
            <a:off x="9051343" y="4098961"/>
            <a:ext cx="270000" cy="396000"/>
          </a:xfrm>
          <a:prstGeom prst="line">
            <a:avLst/>
          </a:prstGeom>
          <a:noFill/>
          <a:ln w="19050">
            <a:solidFill>
              <a:srgbClr val="3333FF"/>
            </a:solidFill>
            <a:round/>
            <a:headEnd/>
            <a:tailEnd type="none" w="med" len="lg"/>
          </a:ln>
          <a:effectLst/>
        </p:spPr>
        <p:txBody>
          <a:bodyPr wrap="none"/>
          <a:lstStyle/>
          <a:p>
            <a:endParaRPr lang="zh-CN" altLang="en-US">
              <a:latin typeface="Consolas" pitchFamily="49" charset="0"/>
              <a:cs typeface="Consolas" pitchFamily="49" charset="0"/>
            </a:endParaRPr>
          </a:p>
        </p:txBody>
      </p:sp>
      <p:sp>
        <p:nvSpPr>
          <p:cNvPr id="94" name="Oval 37">
            <a:extLst>
              <a:ext uri="{FF2B5EF4-FFF2-40B4-BE49-F238E27FC236}">
                <a16:creationId xmlns:a16="http://schemas.microsoft.com/office/drawing/2014/main" id="{F01CC839-5177-151A-F39C-4074A3A49339}"/>
              </a:ext>
            </a:extLst>
          </p:cNvPr>
          <p:cNvSpPr>
            <a:spLocks noChangeArrowheads="1"/>
          </p:cNvSpPr>
          <p:nvPr/>
        </p:nvSpPr>
        <p:spPr bwMode="auto">
          <a:xfrm>
            <a:off x="9173581" y="3657633"/>
            <a:ext cx="360363" cy="431800"/>
          </a:xfrm>
          <a:prstGeom prst="ellipse">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anchor="ctr"/>
          <a:lstStyle/>
          <a:p>
            <a:r>
              <a:rPr lang="en-US" altLang="zh-CN" sz="2000">
                <a:solidFill>
                  <a:srgbClr val="FF00FF"/>
                </a:solidFill>
                <a:latin typeface="Consolas" pitchFamily="49" charset="0"/>
                <a:cs typeface="Consolas" pitchFamily="49" charset="0"/>
              </a:rPr>
              <a:t>2</a:t>
            </a:r>
          </a:p>
        </p:txBody>
      </p:sp>
      <p:sp>
        <p:nvSpPr>
          <p:cNvPr id="95" name="Line 19">
            <a:extLst>
              <a:ext uri="{FF2B5EF4-FFF2-40B4-BE49-F238E27FC236}">
                <a16:creationId xmlns:a16="http://schemas.microsoft.com/office/drawing/2014/main" id="{BE1283BC-2E55-087E-BCE3-575FA44FF42A}"/>
              </a:ext>
            </a:extLst>
          </p:cNvPr>
          <p:cNvSpPr>
            <a:spLocks noChangeShapeType="1"/>
          </p:cNvSpPr>
          <p:nvPr/>
        </p:nvSpPr>
        <p:spPr bwMode="auto">
          <a:xfrm>
            <a:off x="9084681" y="3287743"/>
            <a:ext cx="176400" cy="399600"/>
          </a:xfrm>
          <a:prstGeom prst="line">
            <a:avLst/>
          </a:prstGeom>
          <a:noFill/>
          <a:ln w="19050">
            <a:solidFill>
              <a:srgbClr val="3333FF"/>
            </a:solidFill>
            <a:round/>
            <a:headEnd/>
            <a:tailEnd type="none" w="med" len="lg"/>
          </a:ln>
          <a:effectLst/>
        </p:spPr>
        <p:txBody>
          <a:bodyPr wrap="none"/>
          <a:lstStyle/>
          <a:p>
            <a:endParaRPr lang="zh-CN" altLang="en-US">
              <a:latin typeface="Consolas" pitchFamily="49" charset="0"/>
              <a:cs typeface="Consolas" pitchFamily="49" charset="0"/>
            </a:endParaRPr>
          </a:p>
        </p:txBody>
      </p:sp>
      <p:sp>
        <p:nvSpPr>
          <p:cNvPr id="100" name="Oval 32">
            <a:extLst>
              <a:ext uri="{FF2B5EF4-FFF2-40B4-BE49-F238E27FC236}">
                <a16:creationId xmlns:a16="http://schemas.microsoft.com/office/drawing/2014/main" id="{FF293321-DC8E-5900-2559-8977C42FD2DA}"/>
              </a:ext>
            </a:extLst>
          </p:cNvPr>
          <p:cNvSpPr>
            <a:spLocks noChangeArrowheads="1"/>
          </p:cNvSpPr>
          <p:nvPr/>
        </p:nvSpPr>
        <p:spPr bwMode="auto">
          <a:xfrm>
            <a:off x="8811629" y="2855943"/>
            <a:ext cx="360363" cy="431800"/>
          </a:xfrm>
          <a:prstGeom prst="ellipse">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anchor="ctr"/>
          <a:lstStyle/>
          <a:p>
            <a:r>
              <a:rPr lang="en-US" altLang="zh-CN" sz="2000">
                <a:solidFill>
                  <a:srgbClr val="FF00FF"/>
                </a:solidFill>
                <a:latin typeface="Consolas" pitchFamily="49" charset="0"/>
                <a:cs typeface="Consolas" pitchFamily="49" charset="0"/>
              </a:rPr>
              <a:t>1</a:t>
            </a:r>
          </a:p>
        </p:txBody>
      </p:sp>
      <p:sp>
        <p:nvSpPr>
          <p:cNvPr id="101" name="椭圆 100">
            <a:extLst>
              <a:ext uri="{FF2B5EF4-FFF2-40B4-BE49-F238E27FC236}">
                <a16:creationId xmlns:a16="http://schemas.microsoft.com/office/drawing/2014/main" id="{E7693C15-E80D-82F2-4BC8-02BE9303AB23}"/>
              </a:ext>
            </a:extLst>
          </p:cNvPr>
          <p:cNvSpPr/>
          <p:nvPr/>
        </p:nvSpPr>
        <p:spPr bwMode="auto">
          <a:xfrm>
            <a:off x="3991945" y="3586195"/>
            <a:ext cx="1000132" cy="857256"/>
          </a:xfrm>
          <a:prstGeom prst="ellipse">
            <a:avLst/>
          </a:prstGeom>
          <a:solidFill>
            <a:schemeClr val="accent6">
              <a:lumMod val="60000"/>
              <a:lumOff val="40000"/>
              <a:alpha val="50000"/>
            </a:schemeClr>
          </a:solidFill>
          <a:ln w="28575" cap="flat" cmpd="sng">
            <a:solidFill>
              <a:srgbClr val="C00000"/>
            </a:solidFill>
            <a:prstDash val="dash"/>
            <a:round/>
            <a:headEnd type="none" w="med" len="med"/>
            <a:tailEnd type="none" w="med" len="lg"/>
          </a:ln>
          <a:effectLst/>
        </p:spPr>
        <p:txBody>
          <a:bodyPr wrap="none" rtlCol="0" anchor="ctr"/>
          <a:lstStyle/>
          <a:p>
            <a:pPr algn="ctr"/>
            <a:endParaRPr lang="zh-CN" altLang="en-US">
              <a:latin typeface="Consolas" pitchFamily="49" charset="0"/>
              <a:cs typeface="Consolas" pitchFamily="49" charset="0"/>
            </a:endParaRPr>
          </a:p>
        </p:txBody>
      </p:sp>
      <p:sp>
        <p:nvSpPr>
          <p:cNvPr id="102" name="Line 18">
            <a:extLst>
              <a:ext uri="{FF2B5EF4-FFF2-40B4-BE49-F238E27FC236}">
                <a16:creationId xmlns:a16="http://schemas.microsoft.com/office/drawing/2014/main" id="{A467981E-E812-58AE-9CF1-D964020998AF}"/>
              </a:ext>
            </a:extLst>
          </p:cNvPr>
          <p:cNvSpPr>
            <a:spLocks noChangeShapeType="1"/>
          </p:cNvSpPr>
          <p:nvPr/>
        </p:nvSpPr>
        <p:spPr bwMode="auto">
          <a:xfrm flipH="1">
            <a:off x="8576677" y="3254405"/>
            <a:ext cx="287338" cy="431800"/>
          </a:xfrm>
          <a:prstGeom prst="line">
            <a:avLst/>
          </a:prstGeom>
          <a:noFill/>
          <a:ln w="19050">
            <a:solidFill>
              <a:srgbClr val="3333FF"/>
            </a:solidFill>
            <a:round/>
            <a:headEnd/>
            <a:tailEnd type="none" w="med" len="lg"/>
          </a:ln>
          <a:effectLst/>
        </p:spPr>
        <p:txBody>
          <a:bodyPr wrap="none"/>
          <a:lstStyle/>
          <a:p>
            <a:endParaRPr lang="zh-CN" altLang="en-US">
              <a:latin typeface="Consolas" pitchFamily="49" charset="0"/>
              <a:cs typeface="Consolas" pitchFamily="49" charset="0"/>
            </a:endParaRPr>
          </a:p>
        </p:txBody>
      </p:sp>
      <p:grpSp>
        <p:nvGrpSpPr>
          <p:cNvPr id="103" name="组合 63">
            <a:extLst>
              <a:ext uri="{FF2B5EF4-FFF2-40B4-BE49-F238E27FC236}">
                <a16:creationId xmlns:a16="http://schemas.microsoft.com/office/drawing/2014/main" id="{8D09D133-742E-5094-7A35-0582FD87B0FD}"/>
              </a:ext>
            </a:extLst>
          </p:cNvPr>
          <p:cNvGrpSpPr/>
          <p:nvPr/>
        </p:nvGrpSpPr>
        <p:grpSpPr>
          <a:xfrm>
            <a:off x="9706985" y="3086129"/>
            <a:ext cx="857256" cy="1554400"/>
            <a:chOff x="7715272" y="1500174"/>
            <a:chExt cx="857256" cy="1554400"/>
          </a:xfrm>
        </p:grpSpPr>
        <p:sp>
          <p:nvSpPr>
            <p:cNvPr id="104" name="Text Box 99">
              <a:extLst>
                <a:ext uri="{FF2B5EF4-FFF2-40B4-BE49-F238E27FC236}">
                  <a16:creationId xmlns:a16="http://schemas.microsoft.com/office/drawing/2014/main" id="{3C993713-E3B9-A7EE-3267-E664603F834D}"/>
                </a:ext>
              </a:extLst>
            </p:cNvPr>
            <p:cNvSpPr txBox="1">
              <a:spLocks noChangeArrowheads="1"/>
            </p:cNvSpPr>
            <p:nvPr/>
          </p:nvSpPr>
          <p:spPr bwMode="auto">
            <a:xfrm>
              <a:off x="8124835" y="1500174"/>
              <a:ext cx="447693" cy="1554400"/>
            </a:xfrm>
            <a:prstGeom prst="rect">
              <a:avLst/>
            </a:prstGeom>
            <a:noFill/>
            <a:ln w="19050" algn="ctr">
              <a:noFill/>
              <a:miter lim="800000"/>
              <a:headEnd/>
              <a:tailEnd type="none" w="med" len="lg"/>
            </a:ln>
            <a:effectLst/>
          </p:spPr>
          <p:txBody>
            <a:bodyPr wrap="square">
              <a:spAutoFit/>
            </a:bodyPr>
            <a:lstStyle/>
            <a:p>
              <a:pPr>
                <a:lnSpc>
                  <a:spcPts val="1400"/>
                </a:lnSpc>
                <a:spcBef>
                  <a:spcPct val="50000"/>
                </a:spcBef>
              </a:pPr>
              <a:r>
                <a:rPr lang="zh-CN" altLang="en-US" sz="1800" dirty="0">
                  <a:solidFill>
                    <a:srgbClr val="0000FF"/>
                  </a:solidFill>
                  <a:latin typeface="Consolas" pitchFamily="49" charset="0"/>
                  <a:ea typeface="仿宋" pitchFamily="49" charset="-122"/>
                  <a:cs typeface="Consolas" pitchFamily="49" charset="0"/>
                </a:rPr>
                <a:t>最</a:t>
              </a:r>
              <a:endParaRPr lang="en-US" altLang="zh-CN" sz="1800" dirty="0">
                <a:solidFill>
                  <a:srgbClr val="0000FF"/>
                </a:solidFill>
                <a:latin typeface="Consolas" pitchFamily="49" charset="0"/>
                <a:ea typeface="仿宋" pitchFamily="49" charset="-122"/>
                <a:cs typeface="Consolas" pitchFamily="49" charset="0"/>
              </a:endParaRPr>
            </a:p>
            <a:p>
              <a:pPr>
                <a:lnSpc>
                  <a:spcPts val="1400"/>
                </a:lnSpc>
                <a:spcBef>
                  <a:spcPct val="50000"/>
                </a:spcBef>
              </a:pPr>
              <a:r>
                <a:rPr lang="zh-CN" altLang="en-US" sz="1800" dirty="0">
                  <a:solidFill>
                    <a:srgbClr val="0000FF"/>
                  </a:solidFill>
                  <a:latin typeface="Consolas" pitchFamily="49" charset="0"/>
                  <a:ea typeface="仿宋" pitchFamily="49" charset="-122"/>
                  <a:cs typeface="Consolas" pitchFamily="49" charset="0"/>
                </a:rPr>
                <a:t>小</a:t>
              </a:r>
              <a:endParaRPr lang="en-US" altLang="zh-CN" sz="1800" dirty="0">
                <a:solidFill>
                  <a:srgbClr val="0000FF"/>
                </a:solidFill>
                <a:latin typeface="Consolas" pitchFamily="49" charset="0"/>
                <a:ea typeface="仿宋" pitchFamily="49" charset="-122"/>
                <a:cs typeface="Consolas" pitchFamily="49" charset="0"/>
              </a:endParaRPr>
            </a:p>
            <a:p>
              <a:pPr>
                <a:lnSpc>
                  <a:spcPts val="1400"/>
                </a:lnSpc>
                <a:spcBef>
                  <a:spcPct val="50000"/>
                </a:spcBef>
              </a:pPr>
              <a:r>
                <a:rPr lang="zh-CN" altLang="en-US" sz="1800" dirty="0">
                  <a:solidFill>
                    <a:srgbClr val="0000FF"/>
                  </a:solidFill>
                  <a:latin typeface="Consolas" pitchFamily="49" charset="0"/>
                  <a:ea typeface="仿宋" pitchFamily="49" charset="-122"/>
                  <a:cs typeface="Consolas" pitchFamily="49" charset="0"/>
                </a:rPr>
                <a:t>生</a:t>
              </a:r>
              <a:endParaRPr lang="en-US" altLang="zh-CN" sz="1800" dirty="0">
                <a:solidFill>
                  <a:srgbClr val="0000FF"/>
                </a:solidFill>
                <a:latin typeface="Consolas" pitchFamily="49" charset="0"/>
                <a:ea typeface="仿宋" pitchFamily="49" charset="-122"/>
                <a:cs typeface="Consolas" pitchFamily="49" charset="0"/>
              </a:endParaRPr>
            </a:p>
            <a:p>
              <a:pPr>
                <a:lnSpc>
                  <a:spcPts val="1400"/>
                </a:lnSpc>
                <a:spcBef>
                  <a:spcPct val="50000"/>
                </a:spcBef>
              </a:pPr>
              <a:r>
                <a:rPr lang="zh-CN" altLang="en-US" sz="1800" dirty="0">
                  <a:solidFill>
                    <a:srgbClr val="0000FF"/>
                  </a:solidFill>
                  <a:latin typeface="Consolas" pitchFamily="49" charset="0"/>
                  <a:ea typeface="仿宋" pitchFamily="49" charset="-122"/>
                  <a:cs typeface="Consolas" pitchFamily="49" charset="0"/>
                </a:rPr>
                <a:t>成</a:t>
              </a:r>
              <a:endParaRPr lang="en-US" altLang="zh-CN" sz="1800" dirty="0">
                <a:solidFill>
                  <a:srgbClr val="0000FF"/>
                </a:solidFill>
                <a:latin typeface="Consolas" pitchFamily="49" charset="0"/>
                <a:ea typeface="仿宋" pitchFamily="49" charset="-122"/>
                <a:cs typeface="Consolas" pitchFamily="49" charset="0"/>
              </a:endParaRPr>
            </a:p>
            <a:p>
              <a:pPr>
                <a:lnSpc>
                  <a:spcPts val="1400"/>
                </a:lnSpc>
                <a:spcBef>
                  <a:spcPct val="50000"/>
                </a:spcBef>
              </a:pPr>
              <a:r>
                <a:rPr lang="zh-CN" altLang="en-US" sz="1800" dirty="0">
                  <a:solidFill>
                    <a:srgbClr val="0000FF"/>
                  </a:solidFill>
                  <a:latin typeface="Consolas" pitchFamily="49" charset="0"/>
                  <a:ea typeface="仿宋" pitchFamily="49" charset="-122"/>
                  <a:cs typeface="Consolas" pitchFamily="49" charset="0"/>
                </a:rPr>
                <a:t>树</a:t>
              </a:r>
            </a:p>
          </p:txBody>
        </p:sp>
        <p:sp>
          <p:nvSpPr>
            <p:cNvPr id="105" name="左箭头 62">
              <a:extLst>
                <a:ext uri="{FF2B5EF4-FFF2-40B4-BE49-F238E27FC236}">
                  <a16:creationId xmlns:a16="http://schemas.microsoft.com/office/drawing/2014/main" id="{4BC0C1DA-E401-2A10-4ECF-F5ECB4AAE495}"/>
                </a:ext>
              </a:extLst>
            </p:cNvPr>
            <p:cNvSpPr/>
            <p:nvPr/>
          </p:nvSpPr>
          <p:spPr bwMode="auto">
            <a:xfrm>
              <a:off x="7715272" y="2214554"/>
              <a:ext cx="428628" cy="214314"/>
            </a:xfrm>
            <a:prstGeom prst="leftArrow">
              <a:avLst/>
            </a:prstGeom>
            <a:ln>
              <a:headEnd type="none" w="med" len="med"/>
              <a:tailEnd type="none" w="med" len="lg"/>
            </a:ln>
          </p:spPr>
          <p:style>
            <a:lnRef idx="1">
              <a:schemeClr val="accent5"/>
            </a:lnRef>
            <a:fillRef idx="3">
              <a:schemeClr val="accent5"/>
            </a:fillRef>
            <a:effectRef idx="2">
              <a:schemeClr val="accent5"/>
            </a:effectRef>
            <a:fontRef idx="minor">
              <a:schemeClr val="lt1"/>
            </a:fontRef>
          </p:style>
          <p:txBody>
            <a:bodyPr wrap="none" rtlCol="0" anchor="ctr"/>
            <a:lstStyle/>
            <a:p>
              <a:pPr algn="ctr"/>
              <a:endParaRPr lang="zh-CN" altLang="en-US">
                <a:latin typeface="Consolas" pitchFamily="49" charset="0"/>
                <a:cs typeface="Consolas" pitchFamily="49" charset="0"/>
              </a:endParaRPr>
            </a:p>
          </p:txBody>
        </p:sp>
      </p:grpSp>
      <p:sp>
        <p:nvSpPr>
          <p:cNvPr id="106" name="Text Box 65">
            <a:extLst>
              <a:ext uri="{FF2B5EF4-FFF2-40B4-BE49-F238E27FC236}">
                <a16:creationId xmlns:a16="http://schemas.microsoft.com/office/drawing/2014/main" id="{5DE81CBD-2D19-9899-064C-88398124D742}"/>
              </a:ext>
            </a:extLst>
          </p:cNvPr>
          <p:cNvSpPr txBox="1">
            <a:spLocks noChangeArrowheads="1"/>
          </p:cNvSpPr>
          <p:nvPr/>
        </p:nvSpPr>
        <p:spPr bwMode="auto">
          <a:xfrm>
            <a:off x="6849465" y="5462219"/>
            <a:ext cx="4071934" cy="307777"/>
          </a:xfrm>
          <a:prstGeom prst="rect">
            <a:avLst/>
          </a:prstGeom>
          <a:solidFill>
            <a:schemeClr val="bg1"/>
          </a:solidFill>
          <a:ln w="19050" algn="ctr">
            <a:noFill/>
            <a:miter lim="800000"/>
            <a:headEnd/>
            <a:tailEnd type="none" w="med" len="lg"/>
          </a:ln>
          <a:effectLst/>
        </p:spPr>
        <p:txBody>
          <a:bodyPr wrap="square" lIns="0" tIns="0" rIns="0" bIns="0">
            <a:spAutoFit/>
          </a:bodyPr>
          <a:lstStyle/>
          <a:p>
            <a:pPr algn="l">
              <a:spcBef>
                <a:spcPct val="50000"/>
              </a:spcBef>
            </a:pPr>
            <a:r>
              <a:rPr lang="en-US" altLang="zh-CN" sz="2000">
                <a:solidFill>
                  <a:srgbClr val="CC00CC"/>
                </a:solidFill>
                <a:latin typeface="Consolas" pitchFamily="49" charset="0"/>
                <a:cs typeface="Consolas" pitchFamily="49" charset="0"/>
              </a:rPr>
              <a:t>U={0</a:t>
            </a:r>
            <a:r>
              <a:rPr lang="zh-CN" altLang="en-US" sz="2000">
                <a:solidFill>
                  <a:srgbClr val="CC00CC"/>
                </a:solidFill>
                <a:latin typeface="Consolas" pitchFamily="49" charset="0"/>
                <a:cs typeface="Consolas" pitchFamily="49" charset="0"/>
              </a:rPr>
              <a:t>，</a:t>
            </a:r>
            <a:r>
              <a:rPr lang="en-US" altLang="zh-CN" sz="2000">
                <a:solidFill>
                  <a:srgbClr val="CC00CC"/>
                </a:solidFill>
                <a:latin typeface="Consolas" pitchFamily="49" charset="0"/>
                <a:cs typeface="Consolas" pitchFamily="49" charset="0"/>
              </a:rPr>
              <a:t>5</a:t>
            </a:r>
            <a:r>
              <a:rPr lang="zh-CN" altLang="en-US" sz="2000">
                <a:solidFill>
                  <a:srgbClr val="CC00CC"/>
                </a:solidFill>
                <a:latin typeface="Consolas" pitchFamily="49" charset="0"/>
                <a:cs typeface="Consolas" pitchFamily="49" charset="0"/>
              </a:rPr>
              <a:t>，</a:t>
            </a:r>
            <a:r>
              <a:rPr lang="en-US" altLang="zh-CN" sz="2000">
                <a:solidFill>
                  <a:srgbClr val="CC00CC"/>
                </a:solidFill>
                <a:latin typeface="Consolas" pitchFamily="49" charset="0"/>
                <a:cs typeface="Consolas" pitchFamily="49" charset="0"/>
              </a:rPr>
              <a:t>4</a:t>
            </a:r>
            <a:r>
              <a:rPr lang="zh-CN" altLang="en-US" sz="2000">
                <a:solidFill>
                  <a:srgbClr val="CC00CC"/>
                </a:solidFill>
                <a:latin typeface="Consolas" pitchFamily="49" charset="0"/>
                <a:cs typeface="Consolas" pitchFamily="49" charset="0"/>
              </a:rPr>
              <a:t>，</a:t>
            </a:r>
            <a:r>
              <a:rPr lang="en-US" altLang="zh-CN" sz="2000">
                <a:solidFill>
                  <a:srgbClr val="CC00CC"/>
                </a:solidFill>
                <a:latin typeface="Consolas" pitchFamily="49" charset="0"/>
                <a:cs typeface="Consolas" pitchFamily="49" charset="0"/>
              </a:rPr>
              <a:t>3</a:t>
            </a:r>
            <a:r>
              <a:rPr lang="zh-CN" altLang="en-US" sz="2000">
                <a:solidFill>
                  <a:srgbClr val="CC00CC"/>
                </a:solidFill>
                <a:latin typeface="Consolas" pitchFamily="49" charset="0"/>
                <a:cs typeface="Consolas" pitchFamily="49" charset="0"/>
              </a:rPr>
              <a:t>，</a:t>
            </a:r>
            <a:r>
              <a:rPr lang="en-US" altLang="zh-CN" sz="2000">
                <a:solidFill>
                  <a:srgbClr val="CC00CC"/>
                </a:solidFill>
                <a:latin typeface="Consolas" pitchFamily="49" charset="0"/>
                <a:cs typeface="Consolas" pitchFamily="49" charset="0"/>
              </a:rPr>
              <a:t>2</a:t>
            </a:r>
            <a:r>
              <a:rPr lang="zh-CN" altLang="en-US" sz="2000">
                <a:solidFill>
                  <a:srgbClr val="CC00CC"/>
                </a:solidFill>
                <a:latin typeface="Consolas" pitchFamily="49" charset="0"/>
                <a:cs typeface="Consolas" pitchFamily="49" charset="0"/>
              </a:rPr>
              <a:t>，</a:t>
            </a:r>
            <a:r>
              <a:rPr lang="en-US" altLang="zh-CN" sz="2000">
                <a:solidFill>
                  <a:srgbClr val="CC00CC"/>
                </a:solidFill>
                <a:latin typeface="Consolas" pitchFamily="49" charset="0"/>
                <a:cs typeface="Consolas" pitchFamily="49" charset="0"/>
              </a:rPr>
              <a:t>1</a:t>
            </a:r>
            <a:r>
              <a:rPr lang="zh-CN" altLang="en-US" sz="2000">
                <a:solidFill>
                  <a:srgbClr val="CC00CC"/>
                </a:solidFill>
                <a:latin typeface="Consolas" pitchFamily="49" charset="0"/>
                <a:cs typeface="Consolas" pitchFamily="49" charset="0"/>
              </a:rPr>
              <a:t>，</a:t>
            </a:r>
            <a:r>
              <a:rPr lang="en-US" altLang="zh-CN" sz="2000">
                <a:solidFill>
                  <a:srgbClr val="CC00CC"/>
                </a:solidFill>
                <a:latin typeface="Consolas" pitchFamily="49" charset="0"/>
                <a:cs typeface="Consolas" pitchFamily="49" charset="0"/>
              </a:rPr>
              <a:t>6}</a:t>
            </a:r>
            <a:endParaRPr lang="en-US" altLang="zh-CN" sz="2000" dirty="0">
              <a:solidFill>
                <a:srgbClr val="CC00CC"/>
              </a:solidFill>
              <a:latin typeface="Consolas" pitchFamily="49" charset="0"/>
              <a:cs typeface="Consolas" pitchFamily="49" charset="0"/>
            </a:endParaRPr>
          </a:p>
        </p:txBody>
      </p:sp>
    </p:spTree>
    <p:extLst>
      <p:ext uri="{BB962C8B-B14F-4D97-AF65-F5344CB8AC3E}">
        <p14:creationId xmlns:p14="http://schemas.microsoft.com/office/powerpoint/2010/main" val="27759989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nodePh="1">
                                  <p:stCondLst>
                                    <p:cond delay="0"/>
                                  </p:stCondLst>
                                  <p:endCondLst>
                                    <p:cond evt="begin" delay="0">
                                      <p:tn val="5"/>
                                    </p:cond>
                                  </p:endCondLst>
                                  <p:childTnLst>
                                    <p:set>
                                      <p:cBhvr>
                                        <p:cTn id="6" dur="1" fill="hold">
                                          <p:stCondLst>
                                            <p:cond delay="0"/>
                                          </p:stCondLst>
                                        </p:cTn>
                                        <p:tgtEl>
                                          <p:spTgt spid="4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6" presetClass="emph" presetSubtype="0" fill="hold" grpId="0" nodeType="clickEffect">
                                  <p:stCondLst>
                                    <p:cond delay="0"/>
                                  </p:stCondLst>
                                  <p:childTnLst>
                                    <p:animEffect transition="out" filter="fade">
                                      <p:cBhvr>
                                        <p:cTn id="14" dur="500" tmFilter="0, 0; .2, .5; .8, .5; 1, 0"/>
                                        <p:tgtEl>
                                          <p:spTgt spid="62"/>
                                        </p:tgtEl>
                                      </p:cBhvr>
                                    </p:animEffect>
                                    <p:animScale>
                                      <p:cBhvr>
                                        <p:cTn id="15" dur="250" autoRev="1" fill="hold"/>
                                        <p:tgtEl>
                                          <p:spTgt spid="62"/>
                                        </p:tgtEl>
                                      </p:cBhvr>
                                      <p:by x="105000" y="105000"/>
                                    </p:animScale>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102"/>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106"/>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10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build="p"/>
      <p:bldP spid="62" grpId="0" animBg="1"/>
      <p:bldP spid="101" grpId="0" animBg="1"/>
      <p:bldP spid="102" grpId="0" animBg="1"/>
      <p:bldP spid="106" grpId="0" animBg="1"/>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8B580A-1590-9871-D4C0-7A7A6BD8AE1A}"/>
            </a:ext>
          </a:extLst>
        </p:cNvPr>
        <p:cNvGrpSpPr/>
        <p:nvPr/>
      </p:nvGrpSpPr>
      <p:grpSpPr>
        <a:xfrm>
          <a:off x="0" y="0"/>
          <a:ext cx="0" cy="0"/>
          <a:chOff x="0" y="0"/>
          <a:chExt cx="0" cy="0"/>
        </a:xfrm>
      </p:grpSpPr>
      <p:sp>
        <p:nvSpPr>
          <p:cNvPr id="42" name="Rectangle 4">
            <a:extLst>
              <a:ext uri="{FF2B5EF4-FFF2-40B4-BE49-F238E27FC236}">
                <a16:creationId xmlns:a16="http://schemas.microsoft.com/office/drawing/2014/main" id="{B066847C-4F9E-63DC-3820-3612466C0725}"/>
              </a:ext>
            </a:extLst>
          </p:cNvPr>
          <p:cNvSpPr>
            <a:spLocks noChangeArrowheads="1"/>
          </p:cNvSpPr>
          <p:nvPr/>
        </p:nvSpPr>
        <p:spPr bwMode="auto">
          <a:xfrm>
            <a:off x="6384032" y="4567734"/>
            <a:ext cx="7620000" cy="2016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lvl="1" indent="-228600">
              <a:spcBef>
                <a:spcPts val="600"/>
              </a:spcBef>
              <a:buClr>
                <a:srgbClr val="B870B8"/>
              </a:buClr>
              <a:buSzPct val="75000"/>
              <a:buFont typeface="Wingdings" pitchFamily="2" charset="2"/>
              <a:buChar char="n"/>
            </a:pPr>
            <a:endParaRPr kumimoji="1" lang="zh-CN" altLang="en-US" sz="2400" dirty="0">
              <a:latin typeface="微软雅黑" pitchFamily="34" charset="-122"/>
              <a:ea typeface="微软雅黑" pitchFamily="34" charset="-122"/>
              <a:cs typeface="经典粗黑简" pitchFamily="49" charset="-122"/>
            </a:endParaRPr>
          </a:p>
        </p:txBody>
      </p:sp>
      <p:sp>
        <p:nvSpPr>
          <p:cNvPr id="2" name="Rectangle 2">
            <a:extLst>
              <a:ext uri="{FF2B5EF4-FFF2-40B4-BE49-F238E27FC236}">
                <a16:creationId xmlns:a16="http://schemas.microsoft.com/office/drawing/2014/main" id="{5BFEA7FF-8A5B-6B12-8B32-B952871DC7FE}"/>
              </a:ext>
            </a:extLst>
          </p:cNvPr>
          <p:cNvSpPr txBox="1">
            <a:spLocks noChangeArrowheads="1"/>
          </p:cNvSpPr>
          <p:nvPr/>
        </p:nvSpPr>
        <p:spPr>
          <a:xfrm>
            <a:off x="474772" y="1230902"/>
            <a:ext cx="4469100"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8.4.3 </a:t>
            </a:r>
            <a:r>
              <a:rPr kumimoji="1" lang="zh-CN" altLang="en-US" dirty="0">
                <a:latin typeface="微软雅黑" pitchFamily="34" charset="-122"/>
                <a:ea typeface="微软雅黑" pitchFamily="34" charset="-122"/>
              </a:rPr>
              <a:t>普里姆</a:t>
            </a:r>
            <a:r>
              <a:rPr kumimoji="1" lang="en-US" altLang="zh-CN" dirty="0">
                <a:latin typeface="微软雅黑" pitchFamily="34" charset="-122"/>
                <a:ea typeface="微软雅黑" pitchFamily="34" charset="-122"/>
              </a:rPr>
              <a:t>(Prim)</a:t>
            </a:r>
            <a:r>
              <a:rPr kumimoji="1" lang="zh-CN" altLang="en-US" dirty="0">
                <a:latin typeface="微软雅黑" pitchFamily="34" charset="-122"/>
                <a:ea typeface="微软雅黑" pitchFamily="34" charset="-122"/>
              </a:rPr>
              <a:t>算法</a:t>
            </a:r>
          </a:p>
        </p:txBody>
      </p:sp>
      <p:cxnSp>
        <p:nvCxnSpPr>
          <p:cNvPr id="3" name="直接连接符 2">
            <a:extLst>
              <a:ext uri="{FF2B5EF4-FFF2-40B4-BE49-F238E27FC236}">
                <a16:creationId xmlns:a16="http://schemas.microsoft.com/office/drawing/2014/main" id="{BC49B4B6-3E1D-EBBF-DEDB-79D969CB3946}"/>
              </a:ext>
            </a:extLst>
          </p:cNvPr>
          <p:cNvCxnSpPr>
            <a:cxnSpLocks/>
          </p:cNvCxnSpPr>
          <p:nvPr/>
        </p:nvCxnSpPr>
        <p:spPr>
          <a:xfrm>
            <a:off x="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4" name="矩形 3">
            <a:extLst>
              <a:ext uri="{FF2B5EF4-FFF2-40B4-BE49-F238E27FC236}">
                <a16:creationId xmlns:a16="http://schemas.microsoft.com/office/drawing/2014/main" id="{D803191C-3051-43D7-F739-17C4D6C8D034}"/>
              </a:ext>
            </a:extLst>
          </p:cNvPr>
          <p:cNvSpPr/>
          <p:nvPr/>
        </p:nvSpPr>
        <p:spPr>
          <a:xfrm>
            <a:off x="3394075" y="399838"/>
            <a:ext cx="4617860"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8.4 </a:t>
            </a:r>
            <a:r>
              <a:rPr lang="zh-CN" altLang="en-US" sz="3000" b="1" dirty="0">
                <a:latin typeface="黑体" pitchFamily="49" charset="-122"/>
                <a:ea typeface="黑体" pitchFamily="49" charset="-122"/>
                <a:cs typeface="经典粗黑简" pitchFamily="49" charset="-122"/>
              </a:rPr>
              <a:t>生成树和最小生成树</a:t>
            </a:r>
          </a:p>
        </p:txBody>
      </p:sp>
      <p:sp>
        <p:nvSpPr>
          <p:cNvPr id="6" name="Oval 1031">
            <a:extLst>
              <a:ext uri="{FF2B5EF4-FFF2-40B4-BE49-F238E27FC236}">
                <a16:creationId xmlns:a16="http://schemas.microsoft.com/office/drawing/2014/main" id="{E7CC1CBD-9ACC-31DB-8837-B0D81FDB4C69}"/>
              </a:ext>
            </a:extLst>
          </p:cNvPr>
          <p:cNvSpPr>
            <a:spLocks noChangeArrowheads="1"/>
          </p:cNvSpPr>
          <p:nvPr/>
        </p:nvSpPr>
        <p:spPr bwMode="auto">
          <a:xfrm>
            <a:off x="3859014" y="4291385"/>
            <a:ext cx="1152525" cy="1368425"/>
          </a:xfrm>
          <a:prstGeom prst="ellipse">
            <a:avLst/>
          </a:prstGeom>
          <a:solidFill>
            <a:schemeClr val="accent3">
              <a:lumMod val="60000"/>
              <a:lumOff val="40000"/>
              <a:alpha val="65000"/>
            </a:schemeClr>
          </a:solidFill>
          <a:ln w="19050" algn="ctr">
            <a:solidFill>
              <a:srgbClr val="3333FF"/>
            </a:solidFill>
            <a:round/>
            <a:headEnd/>
            <a:tailEnd type="none" w="med" len="lg"/>
          </a:ln>
          <a:effectLst/>
        </p:spPr>
        <p:txBody>
          <a:bodyPr wrap="none" anchor="ctr"/>
          <a:lstStyle/>
          <a:p>
            <a:endParaRPr lang="zh-CN" altLang="en-US"/>
          </a:p>
        </p:txBody>
      </p:sp>
      <p:sp>
        <p:nvSpPr>
          <p:cNvPr id="7" name="Oval 1029">
            <a:extLst>
              <a:ext uri="{FF2B5EF4-FFF2-40B4-BE49-F238E27FC236}">
                <a16:creationId xmlns:a16="http://schemas.microsoft.com/office/drawing/2014/main" id="{8320D360-13E8-2CE0-0F59-9B5787BA8E43}"/>
              </a:ext>
            </a:extLst>
          </p:cNvPr>
          <p:cNvSpPr>
            <a:spLocks noChangeArrowheads="1"/>
          </p:cNvSpPr>
          <p:nvPr/>
        </p:nvSpPr>
        <p:spPr bwMode="auto">
          <a:xfrm>
            <a:off x="4220964" y="4797795"/>
            <a:ext cx="431800" cy="431800"/>
          </a:xfrm>
          <a:prstGeom prst="ellipse">
            <a:avLst/>
          </a:prstGeom>
          <a:solidFill>
            <a:srgbClr val="FFC000"/>
          </a:solidFill>
          <a:ln w="19050" algn="ctr">
            <a:solidFill>
              <a:srgbClr val="3333FF"/>
            </a:solidFill>
            <a:round/>
            <a:headEnd/>
            <a:tailEnd type="none" w="med" len="lg"/>
          </a:ln>
          <a:effectLst/>
        </p:spPr>
        <p:txBody>
          <a:bodyPr wrap="none" anchor="ctr"/>
          <a:lstStyle/>
          <a:p>
            <a:r>
              <a:rPr lang="en-US" altLang="zh-CN" sz="1800" i="1" dirty="0">
                <a:solidFill>
                  <a:srgbClr val="0000FF"/>
                </a:solidFill>
                <a:latin typeface="Consolas" pitchFamily="49" charset="0"/>
                <a:ea typeface="宋体" pitchFamily="2" charset="-122"/>
                <a:cs typeface="Consolas" pitchFamily="49" charset="0"/>
              </a:rPr>
              <a:t>j</a:t>
            </a:r>
          </a:p>
        </p:txBody>
      </p:sp>
      <p:sp>
        <p:nvSpPr>
          <p:cNvPr id="8" name="Oval 1030">
            <a:extLst>
              <a:ext uri="{FF2B5EF4-FFF2-40B4-BE49-F238E27FC236}">
                <a16:creationId xmlns:a16="http://schemas.microsoft.com/office/drawing/2014/main" id="{45577E99-DF19-A6F6-8316-4BF8D7AAD26A}"/>
              </a:ext>
            </a:extLst>
          </p:cNvPr>
          <p:cNvSpPr>
            <a:spLocks noChangeArrowheads="1"/>
          </p:cNvSpPr>
          <p:nvPr/>
        </p:nvSpPr>
        <p:spPr bwMode="auto">
          <a:xfrm>
            <a:off x="582383" y="4250113"/>
            <a:ext cx="1008063" cy="1657349"/>
          </a:xfrm>
          <a:prstGeom prst="ellipse">
            <a:avLst/>
          </a:prstGeom>
          <a:solidFill>
            <a:srgbClr val="FFFFFF">
              <a:alpha val="0"/>
            </a:srgbClr>
          </a:solidFill>
          <a:ln w="19050" algn="ctr">
            <a:solidFill>
              <a:srgbClr val="3333FF"/>
            </a:solidFill>
            <a:round/>
            <a:headEnd/>
            <a:tailEnd type="none" w="med" len="lg"/>
          </a:ln>
          <a:effectLst/>
        </p:spPr>
        <p:txBody>
          <a:bodyPr wrap="none" anchor="ctr"/>
          <a:lstStyle/>
          <a:p>
            <a:endParaRPr lang="zh-CN" altLang="en-US"/>
          </a:p>
        </p:txBody>
      </p:sp>
      <p:sp>
        <p:nvSpPr>
          <p:cNvPr id="9" name="Text Box 1032">
            <a:extLst>
              <a:ext uri="{FF2B5EF4-FFF2-40B4-BE49-F238E27FC236}">
                <a16:creationId xmlns:a16="http://schemas.microsoft.com/office/drawing/2014/main" id="{BA21DC5A-43FC-7CD4-4D24-0B625CA648F8}"/>
              </a:ext>
            </a:extLst>
          </p:cNvPr>
          <p:cNvSpPr txBox="1">
            <a:spLocks noChangeArrowheads="1"/>
          </p:cNvSpPr>
          <p:nvPr/>
        </p:nvSpPr>
        <p:spPr bwMode="auto">
          <a:xfrm>
            <a:off x="796697" y="3821485"/>
            <a:ext cx="503237" cy="366713"/>
          </a:xfrm>
          <a:prstGeom prst="rect">
            <a:avLst/>
          </a:prstGeom>
          <a:noFill/>
          <a:ln w="19050" algn="ctr">
            <a:noFill/>
            <a:miter lim="800000"/>
            <a:headEnd/>
            <a:tailEnd type="none" w="med" len="lg"/>
          </a:ln>
          <a:effectLst/>
        </p:spPr>
        <p:txBody>
          <a:bodyPr>
            <a:spAutoFit/>
          </a:bodyPr>
          <a:lstStyle/>
          <a:p>
            <a:pPr>
              <a:spcBef>
                <a:spcPct val="50000"/>
              </a:spcBef>
            </a:pPr>
            <a:r>
              <a:rPr lang="en-US" altLang="zh-CN" sz="1800" dirty="0">
                <a:solidFill>
                  <a:srgbClr val="0000FF"/>
                </a:solidFill>
                <a:latin typeface="Consolas" pitchFamily="49" charset="0"/>
                <a:ea typeface="宋体" pitchFamily="2" charset="-122"/>
                <a:cs typeface="Consolas" pitchFamily="49" charset="0"/>
              </a:rPr>
              <a:t>U</a:t>
            </a:r>
          </a:p>
        </p:txBody>
      </p:sp>
      <p:sp>
        <p:nvSpPr>
          <p:cNvPr id="10" name="Text Box 1033">
            <a:extLst>
              <a:ext uri="{FF2B5EF4-FFF2-40B4-BE49-F238E27FC236}">
                <a16:creationId xmlns:a16="http://schemas.microsoft.com/office/drawing/2014/main" id="{44F03ECC-C7D9-B4E2-4C36-12E4831AB26A}"/>
              </a:ext>
            </a:extLst>
          </p:cNvPr>
          <p:cNvSpPr txBox="1">
            <a:spLocks noChangeArrowheads="1"/>
          </p:cNvSpPr>
          <p:nvPr/>
        </p:nvSpPr>
        <p:spPr bwMode="auto">
          <a:xfrm>
            <a:off x="3860601" y="3897734"/>
            <a:ext cx="1079500" cy="366713"/>
          </a:xfrm>
          <a:prstGeom prst="rect">
            <a:avLst/>
          </a:prstGeom>
          <a:noFill/>
          <a:ln w="19050" algn="ctr">
            <a:noFill/>
            <a:miter lim="800000"/>
            <a:headEnd/>
            <a:tailEnd type="none" w="med" len="lg"/>
          </a:ln>
          <a:effectLst/>
        </p:spPr>
        <p:txBody>
          <a:bodyPr>
            <a:spAutoFit/>
          </a:bodyPr>
          <a:lstStyle/>
          <a:p>
            <a:pPr>
              <a:spcBef>
                <a:spcPct val="50000"/>
              </a:spcBef>
            </a:pPr>
            <a:r>
              <a:rPr lang="en-US" altLang="zh-CN" sz="1800" dirty="0">
                <a:solidFill>
                  <a:srgbClr val="0000FF"/>
                </a:solidFill>
                <a:latin typeface="Consolas" pitchFamily="49" charset="0"/>
                <a:ea typeface="宋体" pitchFamily="2" charset="-122"/>
                <a:cs typeface="Consolas" pitchFamily="49" charset="0"/>
              </a:rPr>
              <a:t>V</a:t>
            </a:r>
            <a:r>
              <a:rPr lang="zh-CN" altLang="en-US" sz="1800" dirty="0">
                <a:solidFill>
                  <a:srgbClr val="0000FF"/>
                </a:solidFill>
                <a:latin typeface="Consolas" pitchFamily="49" charset="0"/>
                <a:ea typeface="宋体" pitchFamily="2" charset="-122"/>
                <a:cs typeface="Consolas" pitchFamily="49" charset="0"/>
              </a:rPr>
              <a:t>－</a:t>
            </a:r>
            <a:r>
              <a:rPr lang="en-US" altLang="zh-CN" sz="1800" dirty="0">
                <a:solidFill>
                  <a:srgbClr val="0000FF"/>
                </a:solidFill>
                <a:latin typeface="Consolas" pitchFamily="49" charset="0"/>
                <a:ea typeface="宋体" pitchFamily="2" charset="-122"/>
                <a:cs typeface="Consolas" pitchFamily="49" charset="0"/>
              </a:rPr>
              <a:t>U</a:t>
            </a:r>
          </a:p>
        </p:txBody>
      </p:sp>
      <p:sp>
        <p:nvSpPr>
          <p:cNvPr id="11" name="Freeform 1034">
            <a:extLst>
              <a:ext uri="{FF2B5EF4-FFF2-40B4-BE49-F238E27FC236}">
                <a16:creationId xmlns:a16="http://schemas.microsoft.com/office/drawing/2014/main" id="{8ADF416A-D1AF-D8BA-270C-BDED69148EF8}"/>
              </a:ext>
            </a:extLst>
          </p:cNvPr>
          <p:cNvSpPr>
            <a:spLocks/>
          </p:cNvSpPr>
          <p:nvPr/>
        </p:nvSpPr>
        <p:spPr bwMode="auto">
          <a:xfrm>
            <a:off x="1296764" y="5016868"/>
            <a:ext cx="2928958" cy="319149"/>
          </a:xfrm>
          <a:custGeom>
            <a:avLst/>
            <a:gdLst/>
            <a:ahLst/>
            <a:cxnLst>
              <a:cxn ang="0">
                <a:pos x="0" y="95"/>
              </a:cxn>
              <a:cxn ang="0">
                <a:pos x="1119" y="0"/>
              </a:cxn>
            </a:cxnLst>
            <a:rect l="0" t="0" r="r" b="b"/>
            <a:pathLst>
              <a:path w="1119" h="95">
                <a:moveTo>
                  <a:pt x="0" y="95"/>
                </a:moveTo>
                <a:lnTo>
                  <a:pt x="1119" y="0"/>
                </a:lnTo>
              </a:path>
            </a:pathLst>
          </a:custGeom>
          <a:ln>
            <a:solidFill>
              <a:srgbClr val="FF00FF"/>
            </a:solidFill>
            <a:headEnd type="none" w="med" len="med"/>
            <a:tailEnd type="none" w="med" len="lg"/>
          </a:ln>
        </p:spPr>
        <p:style>
          <a:lnRef idx="2">
            <a:schemeClr val="accent5"/>
          </a:lnRef>
          <a:fillRef idx="0">
            <a:schemeClr val="accent5"/>
          </a:fillRef>
          <a:effectRef idx="1">
            <a:schemeClr val="accent5"/>
          </a:effectRef>
          <a:fontRef idx="minor">
            <a:schemeClr val="tx1"/>
          </a:fontRef>
        </p:style>
        <p:txBody>
          <a:bodyPr wrap="none"/>
          <a:lstStyle/>
          <a:p>
            <a:endParaRPr lang="zh-CN" altLang="en-US"/>
          </a:p>
        </p:txBody>
      </p:sp>
      <p:sp>
        <p:nvSpPr>
          <p:cNvPr id="13" name="Oval 1035">
            <a:extLst>
              <a:ext uri="{FF2B5EF4-FFF2-40B4-BE49-F238E27FC236}">
                <a16:creationId xmlns:a16="http://schemas.microsoft.com/office/drawing/2014/main" id="{B4BD53AB-C13A-4829-1FDC-F506820126D1}"/>
              </a:ext>
            </a:extLst>
          </p:cNvPr>
          <p:cNvSpPr>
            <a:spLocks noChangeArrowheads="1"/>
          </p:cNvSpPr>
          <p:nvPr/>
        </p:nvSpPr>
        <p:spPr bwMode="auto">
          <a:xfrm>
            <a:off x="871308" y="5115300"/>
            <a:ext cx="431800" cy="431800"/>
          </a:xfrm>
          <a:prstGeom prst="ellipse">
            <a:avLst/>
          </a:prstGeom>
          <a:solidFill>
            <a:srgbClr val="FFC000"/>
          </a:solidFill>
          <a:ln w="19050" algn="ctr">
            <a:solidFill>
              <a:srgbClr val="3333FF"/>
            </a:solidFill>
            <a:round/>
            <a:headEnd/>
            <a:tailEnd type="none" w="med" len="lg"/>
          </a:ln>
          <a:effectLst/>
        </p:spPr>
        <p:txBody>
          <a:bodyPr wrap="none" anchor="ctr"/>
          <a:lstStyle/>
          <a:p>
            <a:r>
              <a:rPr lang="en-US" altLang="zh-CN" sz="1800" i="1" dirty="0">
                <a:solidFill>
                  <a:srgbClr val="0000FF"/>
                </a:solidFill>
                <a:latin typeface="Consolas" pitchFamily="49" charset="0"/>
                <a:ea typeface="宋体" pitchFamily="2" charset="-122"/>
                <a:cs typeface="Consolas" pitchFamily="49" charset="0"/>
              </a:rPr>
              <a:t>v</a:t>
            </a:r>
          </a:p>
        </p:txBody>
      </p:sp>
      <p:sp>
        <p:nvSpPr>
          <p:cNvPr id="14" name="Text Box 1036">
            <a:extLst>
              <a:ext uri="{FF2B5EF4-FFF2-40B4-BE49-F238E27FC236}">
                <a16:creationId xmlns:a16="http://schemas.microsoft.com/office/drawing/2014/main" id="{C869C97B-C2AE-8A45-A14E-4E5B3A04DD37}"/>
              </a:ext>
            </a:extLst>
          </p:cNvPr>
          <p:cNvSpPr txBox="1">
            <a:spLocks noChangeArrowheads="1"/>
          </p:cNvSpPr>
          <p:nvPr/>
        </p:nvSpPr>
        <p:spPr bwMode="auto">
          <a:xfrm rot="21319428">
            <a:off x="1590000" y="4897791"/>
            <a:ext cx="1491986" cy="338554"/>
          </a:xfrm>
          <a:prstGeom prst="rect">
            <a:avLst/>
          </a:prstGeom>
          <a:noFill/>
          <a:ln w="19050" algn="ctr">
            <a:noFill/>
            <a:miter lim="800000"/>
            <a:headEnd/>
            <a:tailEnd type="none" w="med" len="lg"/>
          </a:ln>
          <a:effectLst/>
        </p:spPr>
        <p:txBody>
          <a:bodyPr wrap="square">
            <a:spAutoFit/>
          </a:bodyPr>
          <a:lstStyle/>
          <a:p>
            <a:pPr>
              <a:spcBef>
                <a:spcPct val="50000"/>
              </a:spcBef>
            </a:pPr>
            <a:r>
              <a:rPr lang="en-US" altLang="zh-CN" sz="1600" dirty="0" err="1">
                <a:latin typeface="Consolas" pitchFamily="49" charset="0"/>
                <a:cs typeface="Consolas" pitchFamily="49" charset="0"/>
              </a:rPr>
              <a:t>lowcost</a:t>
            </a:r>
            <a:r>
              <a:rPr lang="en-US" altLang="zh-CN" sz="1600" dirty="0">
                <a:latin typeface="Consolas" pitchFamily="49" charset="0"/>
                <a:cs typeface="Consolas" pitchFamily="49" charset="0"/>
              </a:rPr>
              <a:t>[</a:t>
            </a:r>
            <a:r>
              <a:rPr lang="en-US" altLang="zh-CN" sz="1600" i="1" dirty="0">
                <a:latin typeface="Consolas" pitchFamily="49" charset="0"/>
                <a:cs typeface="Consolas" pitchFamily="49" charset="0"/>
              </a:rPr>
              <a:t>j</a:t>
            </a:r>
            <a:r>
              <a:rPr lang="en-US" altLang="zh-CN" sz="1600" dirty="0">
                <a:latin typeface="Consolas" pitchFamily="49" charset="0"/>
                <a:cs typeface="Consolas" pitchFamily="49" charset="0"/>
              </a:rPr>
              <a:t>]</a:t>
            </a:r>
          </a:p>
        </p:txBody>
      </p:sp>
      <p:grpSp>
        <p:nvGrpSpPr>
          <p:cNvPr id="15" name="组合 23">
            <a:extLst>
              <a:ext uri="{FF2B5EF4-FFF2-40B4-BE49-F238E27FC236}">
                <a16:creationId xmlns:a16="http://schemas.microsoft.com/office/drawing/2014/main" id="{2CADB8F2-72B8-C400-A70D-6106E69190A6}"/>
              </a:ext>
            </a:extLst>
          </p:cNvPr>
          <p:cNvGrpSpPr/>
          <p:nvPr/>
        </p:nvGrpSpPr>
        <p:grpSpPr>
          <a:xfrm>
            <a:off x="1231671" y="5475662"/>
            <a:ext cx="1798637" cy="483017"/>
            <a:chOff x="2149454" y="3459166"/>
            <a:chExt cx="1798637" cy="483017"/>
          </a:xfrm>
        </p:grpSpPr>
        <p:sp>
          <p:nvSpPr>
            <p:cNvPr id="16" name="Freeform 1038">
              <a:extLst>
                <a:ext uri="{FF2B5EF4-FFF2-40B4-BE49-F238E27FC236}">
                  <a16:creationId xmlns:a16="http://schemas.microsoft.com/office/drawing/2014/main" id="{99568416-DEDE-065A-71BB-5DA429B67DAD}"/>
                </a:ext>
              </a:extLst>
            </p:cNvPr>
            <p:cNvSpPr>
              <a:spLocks/>
            </p:cNvSpPr>
            <p:nvPr/>
          </p:nvSpPr>
          <p:spPr bwMode="auto">
            <a:xfrm>
              <a:off x="2149454" y="3459166"/>
              <a:ext cx="347662" cy="320675"/>
            </a:xfrm>
            <a:custGeom>
              <a:avLst/>
              <a:gdLst/>
              <a:ahLst/>
              <a:cxnLst>
                <a:cxn ang="0">
                  <a:pos x="219" y="202"/>
                </a:cxn>
                <a:cxn ang="0">
                  <a:pos x="0" y="0"/>
                </a:cxn>
              </a:cxnLst>
              <a:rect l="0" t="0" r="r" b="b"/>
              <a:pathLst>
                <a:path w="219" h="202">
                  <a:moveTo>
                    <a:pt x="219" y="202"/>
                  </a:moveTo>
                  <a:lnTo>
                    <a:pt x="0" y="0"/>
                  </a:lnTo>
                </a:path>
              </a:pathLst>
            </a:custGeom>
            <a:noFill/>
            <a:ln w="19050">
              <a:solidFill>
                <a:srgbClr val="FF9900"/>
              </a:solidFill>
              <a:round/>
              <a:headEnd/>
              <a:tailEnd type="stealth" w="med" len="lg"/>
            </a:ln>
            <a:effectLst/>
          </p:spPr>
          <p:txBody>
            <a:bodyPr wrap="none"/>
            <a:lstStyle/>
            <a:p>
              <a:endParaRPr lang="zh-CN" altLang="en-US">
                <a:latin typeface="Consolas" pitchFamily="49" charset="0"/>
                <a:cs typeface="Consolas" pitchFamily="49" charset="0"/>
              </a:endParaRPr>
            </a:p>
          </p:txBody>
        </p:sp>
        <p:sp>
          <p:nvSpPr>
            <p:cNvPr id="17" name="Text Box 1039">
              <a:extLst>
                <a:ext uri="{FF2B5EF4-FFF2-40B4-BE49-F238E27FC236}">
                  <a16:creationId xmlns:a16="http://schemas.microsoft.com/office/drawing/2014/main" id="{841785F2-0B6A-768F-6505-CE296C316DF0}"/>
                </a:ext>
              </a:extLst>
            </p:cNvPr>
            <p:cNvSpPr txBox="1">
              <a:spLocks noChangeArrowheads="1"/>
            </p:cNvSpPr>
            <p:nvPr/>
          </p:nvSpPr>
          <p:spPr bwMode="auto">
            <a:xfrm>
              <a:off x="2436791" y="3603629"/>
              <a:ext cx="1511300" cy="338554"/>
            </a:xfrm>
            <a:prstGeom prst="rect">
              <a:avLst/>
            </a:prstGeom>
            <a:noFill/>
            <a:ln w="19050" algn="ctr">
              <a:noFill/>
              <a:miter lim="800000"/>
              <a:headEnd/>
              <a:tailEnd type="none" w="med" len="lg"/>
            </a:ln>
            <a:effectLst/>
          </p:spPr>
          <p:txBody>
            <a:bodyPr>
              <a:spAutoFit/>
            </a:bodyPr>
            <a:lstStyle/>
            <a:p>
              <a:pPr algn="l">
                <a:spcBef>
                  <a:spcPct val="50000"/>
                </a:spcBef>
              </a:pPr>
              <a:r>
                <a:rPr lang="en-US" altLang="zh-CN" sz="1600" dirty="0">
                  <a:latin typeface="Consolas" pitchFamily="49" charset="0"/>
                  <a:cs typeface="Consolas" pitchFamily="49" charset="0"/>
                </a:rPr>
                <a:t>closest[</a:t>
              </a:r>
              <a:r>
                <a:rPr lang="en-US" altLang="zh-CN" sz="1600" i="1" dirty="0">
                  <a:latin typeface="Consolas" pitchFamily="49" charset="0"/>
                  <a:cs typeface="Consolas" pitchFamily="49" charset="0"/>
                </a:rPr>
                <a:t>j</a:t>
              </a:r>
              <a:r>
                <a:rPr lang="en-US" altLang="zh-CN" sz="1600" dirty="0">
                  <a:latin typeface="Consolas" pitchFamily="49" charset="0"/>
                  <a:cs typeface="Consolas" pitchFamily="49" charset="0"/>
                </a:rPr>
                <a:t>]</a:t>
              </a:r>
            </a:p>
          </p:txBody>
        </p:sp>
      </p:grpSp>
      <p:sp>
        <p:nvSpPr>
          <p:cNvPr id="18" name="Text Box 1040">
            <a:extLst>
              <a:ext uri="{FF2B5EF4-FFF2-40B4-BE49-F238E27FC236}">
                <a16:creationId xmlns:a16="http://schemas.microsoft.com/office/drawing/2014/main" id="{FB8365D2-E99C-2AB8-54E3-940A7884201D}"/>
              </a:ext>
            </a:extLst>
          </p:cNvPr>
          <p:cNvSpPr txBox="1">
            <a:spLocks noChangeArrowheads="1"/>
          </p:cNvSpPr>
          <p:nvPr/>
        </p:nvSpPr>
        <p:spPr bwMode="auto">
          <a:xfrm>
            <a:off x="5225853" y="4588240"/>
            <a:ext cx="3429024" cy="646331"/>
          </a:xfrm>
          <a:prstGeom prst="rect">
            <a:avLst/>
          </a:prstGeom>
          <a:noFill/>
          <a:ln w="19050" algn="ctr">
            <a:noFill/>
            <a:miter lim="800000"/>
            <a:headEnd/>
            <a:tailEnd type="none" w="med" len="lg"/>
          </a:ln>
          <a:effectLst/>
        </p:spPr>
        <p:txBody>
          <a:bodyPr wrap="square">
            <a:spAutoFit/>
          </a:bodyPr>
          <a:lstStyle/>
          <a:p>
            <a:pPr>
              <a:spcBef>
                <a:spcPct val="50000"/>
              </a:spcBef>
            </a:pPr>
            <a:r>
              <a:rPr lang="en-US" altLang="zh-CN" sz="1800">
                <a:solidFill>
                  <a:srgbClr val="FF00FF"/>
                </a:solidFill>
                <a:latin typeface="Consolas" pitchFamily="49" charset="0"/>
                <a:ea typeface="仿宋" pitchFamily="49" charset="-122"/>
                <a:cs typeface="Consolas" pitchFamily="49" charset="0"/>
              </a:rPr>
              <a:t>(</a:t>
            </a:r>
            <a:r>
              <a:rPr lang="en-US" altLang="zh-CN" sz="1800" i="1">
                <a:solidFill>
                  <a:srgbClr val="FF00FF"/>
                </a:solidFill>
                <a:latin typeface="Consolas" pitchFamily="49" charset="0"/>
                <a:ea typeface="仿宋" pitchFamily="49" charset="-122"/>
                <a:cs typeface="Consolas" pitchFamily="49" charset="0"/>
              </a:rPr>
              <a:t>j</a:t>
            </a:r>
            <a:r>
              <a:rPr lang="zh-CN" altLang="en-US" sz="1800">
                <a:solidFill>
                  <a:srgbClr val="FF00FF"/>
                </a:solidFill>
                <a:latin typeface="Consolas" pitchFamily="49" charset="0"/>
                <a:ea typeface="仿宋" pitchFamily="49" charset="-122"/>
                <a:cs typeface="Consolas" pitchFamily="49" charset="0"/>
              </a:rPr>
              <a:t>，</a:t>
            </a:r>
            <a:r>
              <a:rPr lang="en-US" altLang="zh-CN" sz="1800">
                <a:solidFill>
                  <a:srgbClr val="FF00FF"/>
                </a:solidFill>
                <a:latin typeface="Consolas" pitchFamily="49" charset="0"/>
                <a:ea typeface="仿宋" pitchFamily="49" charset="-122"/>
                <a:cs typeface="Consolas" pitchFamily="49" charset="0"/>
              </a:rPr>
              <a:t>closest[</a:t>
            </a:r>
            <a:r>
              <a:rPr lang="en-US" altLang="zh-CN" sz="1800" i="1">
                <a:solidFill>
                  <a:srgbClr val="FF00FF"/>
                </a:solidFill>
                <a:latin typeface="Consolas" pitchFamily="49" charset="0"/>
                <a:ea typeface="仿宋" pitchFamily="49" charset="-122"/>
                <a:cs typeface="Consolas" pitchFamily="49" charset="0"/>
              </a:rPr>
              <a:t>j</a:t>
            </a:r>
            <a:r>
              <a:rPr lang="en-US" altLang="zh-CN" sz="1800" dirty="0">
                <a:solidFill>
                  <a:srgbClr val="FF00FF"/>
                </a:solidFill>
                <a:latin typeface="Consolas" pitchFamily="49" charset="0"/>
                <a:ea typeface="仿宋" pitchFamily="49" charset="-122"/>
                <a:cs typeface="Consolas" pitchFamily="49" charset="0"/>
              </a:rPr>
              <a:t>])</a:t>
            </a:r>
            <a:r>
              <a:rPr lang="zh-CN" altLang="en-US" sz="1800" dirty="0">
                <a:solidFill>
                  <a:srgbClr val="0000FF"/>
                </a:solidFill>
                <a:latin typeface="Consolas" pitchFamily="49" charset="0"/>
                <a:ea typeface="仿宋" pitchFamily="49" charset="-122"/>
                <a:cs typeface="Consolas" pitchFamily="49" charset="0"/>
              </a:rPr>
              <a:t>是顶点</a:t>
            </a:r>
            <a:r>
              <a:rPr lang="en-US" altLang="zh-CN" sz="1800" i="1" dirty="0">
                <a:solidFill>
                  <a:srgbClr val="0000FF"/>
                </a:solidFill>
                <a:latin typeface="Consolas" pitchFamily="49" charset="0"/>
                <a:ea typeface="仿宋" pitchFamily="49" charset="-122"/>
                <a:cs typeface="Consolas" pitchFamily="49" charset="0"/>
              </a:rPr>
              <a:t>j</a:t>
            </a:r>
            <a:r>
              <a:rPr lang="zh-CN" altLang="en-US" sz="1800" dirty="0">
                <a:solidFill>
                  <a:srgbClr val="0000FF"/>
                </a:solidFill>
                <a:latin typeface="Consolas" pitchFamily="49" charset="0"/>
                <a:ea typeface="仿宋" pitchFamily="49" charset="-122"/>
                <a:cs typeface="Consolas" pitchFamily="49" charset="0"/>
              </a:rPr>
              <a:t>的</a:t>
            </a:r>
            <a:r>
              <a:rPr lang="zh-CN" altLang="en-US" sz="1800">
                <a:solidFill>
                  <a:srgbClr val="0000FF"/>
                </a:solidFill>
                <a:latin typeface="Consolas" pitchFamily="49" charset="0"/>
                <a:ea typeface="仿宋" pitchFamily="49" charset="-122"/>
                <a:cs typeface="Consolas" pitchFamily="49" charset="0"/>
              </a:rPr>
              <a:t>最小边，权</a:t>
            </a:r>
            <a:r>
              <a:rPr lang="zh-CN" altLang="en-US" sz="1800" dirty="0">
                <a:solidFill>
                  <a:srgbClr val="0000FF"/>
                </a:solidFill>
                <a:latin typeface="Consolas" pitchFamily="49" charset="0"/>
                <a:ea typeface="仿宋" pitchFamily="49" charset="-122"/>
                <a:cs typeface="Consolas" pitchFamily="49" charset="0"/>
              </a:rPr>
              <a:t>值为</a:t>
            </a:r>
            <a:r>
              <a:rPr lang="en-US" altLang="zh-CN" sz="1800" dirty="0" err="1">
                <a:solidFill>
                  <a:srgbClr val="0000FF"/>
                </a:solidFill>
                <a:latin typeface="Consolas" pitchFamily="49" charset="0"/>
                <a:ea typeface="仿宋" pitchFamily="49" charset="-122"/>
                <a:cs typeface="Consolas" pitchFamily="49" charset="0"/>
              </a:rPr>
              <a:t>lowcost</a:t>
            </a:r>
            <a:r>
              <a:rPr lang="en-US" altLang="zh-CN" sz="1800" dirty="0">
                <a:solidFill>
                  <a:srgbClr val="0000FF"/>
                </a:solidFill>
                <a:latin typeface="Consolas" pitchFamily="49" charset="0"/>
                <a:ea typeface="仿宋" pitchFamily="49" charset="-122"/>
                <a:cs typeface="Consolas" pitchFamily="49" charset="0"/>
              </a:rPr>
              <a:t>[</a:t>
            </a:r>
            <a:r>
              <a:rPr lang="en-US" altLang="zh-CN" sz="1800" i="1" dirty="0">
                <a:solidFill>
                  <a:srgbClr val="0000FF"/>
                </a:solidFill>
                <a:latin typeface="Consolas" pitchFamily="49" charset="0"/>
                <a:ea typeface="仿宋" pitchFamily="49" charset="-122"/>
                <a:cs typeface="Consolas" pitchFamily="49" charset="0"/>
              </a:rPr>
              <a:t>j</a:t>
            </a:r>
            <a:r>
              <a:rPr lang="en-US" altLang="zh-CN" sz="1800" dirty="0">
                <a:solidFill>
                  <a:srgbClr val="0000FF"/>
                </a:solidFill>
                <a:latin typeface="Consolas" pitchFamily="49" charset="0"/>
                <a:ea typeface="仿宋" pitchFamily="49" charset="-122"/>
                <a:cs typeface="Consolas" pitchFamily="49" charset="0"/>
              </a:rPr>
              <a:t>]</a:t>
            </a:r>
            <a:endParaRPr lang="zh-CN" altLang="en-US" sz="1800" dirty="0">
              <a:solidFill>
                <a:srgbClr val="0000FF"/>
              </a:solidFill>
              <a:latin typeface="Consolas" pitchFamily="49" charset="0"/>
              <a:ea typeface="仿宋" pitchFamily="49" charset="-122"/>
              <a:cs typeface="Consolas" pitchFamily="49" charset="0"/>
            </a:endParaRPr>
          </a:p>
        </p:txBody>
      </p:sp>
      <p:sp>
        <p:nvSpPr>
          <p:cNvPr id="19" name="Text Box 1047">
            <a:extLst>
              <a:ext uri="{FF2B5EF4-FFF2-40B4-BE49-F238E27FC236}">
                <a16:creationId xmlns:a16="http://schemas.microsoft.com/office/drawing/2014/main" id="{F8EFA051-DD16-83E5-1542-361457B084E1}"/>
              </a:ext>
            </a:extLst>
          </p:cNvPr>
          <p:cNvSpPr txBox="1">
            <a:spLocks noChangeArrowheads="1"/>
          </p:cNvSpPr>
          <p:nvPr/>
        </p:nvSpPr>
        <p:spPr bwMode="auto">
          <a:xfrm>
            <a:off x="1368201" y="1857364"/>
            <a:ext cx="3643338" cy="400110"/>
          </a:xfrm>
          <a:prstGeom prst="rect">
            <a:avLst/>
          </a:prstGeom>
          <a:noFill/>
          <a:ln w="19050" algn="ctr">
            <a:noFill/>
            <a:miter lim="800000"/>
            <a:headEnd/>
            <a:tailEnd type="none" w="med" len="lg"/>
          </a:ln>
          <a:effectLst/>
        </p:spPr>
        <p:txBody>
          <a:bodyPr wrap="square">
            <a:spAutoFit/>
          </a:bodyPr>
          <a:lstStyle/>
          <a:p>
            <a:pPr algn="l">
              <a:spcBef>
                <a:spcPct val="50000"/>
              </a:spcBef>
            </a:pPr>
            <a:r>
              <a:rPr kumimoji="1" lang="zh-CN" altLang="en-US" sz="2000" dirty="0">
                <a:solidFill>
                  <a:srgbClr val="FF0000"/>
                </a:solidFill>
                <a:latin typeface="Consolas" pitchFamily="49" charset="0"/>
                <a:ea typeface="微软雅黑" pitchFamily="34" charset="-122"/>
                <a:cs typeface="Consolas" pitchFamily="49" charset="0"/>
              </a:rPr>
              <a:t>算法设计</a:t>
            </a:r>
            <a:r>
              <a:rPr kumimoji="1" lang="zh-CN" altLang="en-US" sz="2000">
                <a:solidFill>
                  <a:srgbClr val="FF0000"/>
                </a:solidFill>
                <a:latin typeface="Consolas" pitchFamily="49" charset="0"/>
                <a:ea typeface="微软雅黑" pitchFamily="34" charset="-122"/>
                <a:cs typeface="Consolas" pitchFamily="49" charset="0"/>
              </a:rPr>
              <a:t>（解决</a:t>
            </a:r>
            <a:r>
              <a:rPr kumimoji="1" lang="en-US" altLang="zh-CN" sz="2000">
                <a:solidFill>
                  <a:srgbClr val="FF0000"/>
                </a:solidFill>
                <a:latin typeface="Consolas" pitchFamily="49" charset="0"/>
                <a:ea typeface="微软雅黑" pitchFamily="34" charset="-122"/>
                <a:cs typeface="Consolas" pitchFamily="49" charset="0"/>
              </a:rPr>
              <a:t>4</a:t>
            </a:r>
            <a:r>
              <a:rPr kumimoji="1" lang="zh-CN" altLang="en-US" sz="2000">
                <a:solidFill>
                  <a:srgbClr val="FF0000"/>
                </a:solidFill>
                <a:latin typeface="Consolas" pitchFamily="49" charset="0"/>
                <a:ea typeface="微软雅黑" pitchFamily="34" charset="-122"/>
                <a:cs typeface="Consolas" pitchFamily="49" charset="0"/>
              </a:rPr>
              <a:t>个</a:t>
            </a:r>
            <a:r>
              <a:rPr kumimoji="1" lang="zh-CN" altLang="en-US" sz="2000" dirty="0">
                <a:solidFill>
                  <a:srgbClr val="FF0000"/>
                </a:solidFill>
                <a:latin typeface="Consolas" pitchFamily="49" charset="0"/>
                <a:ea typeface="微软雅黑" pitchFamily="34" charset="-122"/>
                <a:cs typeface="Consolas" pitchFamily="49" charset="0"/>
              </a:rPr>
              <a:t>问题）：</a:t>
            </a:r>
            <a:endParaRPr lang="zh-CN" altLang="en-US" sz="2000" dirty="0">
              <a:solidFill>
                <a:srgbClr val="FF0000"/>
              </a:solidFill>
              <a:latin typeface="Consolas" pitchFamily="49" charset="0"/>
              <a:ea typeface="微软雅黑" pitchFamily="34" charset="-122"/>
              <a:cs typeface="Consolas" pitchFamily="49" charset="0"/>
            </a:endParaRPr>
          </a:p>
        </p:txBody>
      </p:sp>
      <p:sp>
        <p:nvSpPr>
          <p:cNvPr id="20" name="Oval 1035">
            <a:extLst>
              <a:ext uri="{FF2B5EF4-FFF2-40B4-BE49-F238E27FC236}">
                <a16:creationId xmlns:a16="http://schemas.microsoft.com/office/drawing/2014/main" id="{B2236B55-E574-3558-7BF3-89C36F657366}"/>
              </a:ext>
            </a:extLst>
          </p:cNvPr>
          <p:cNvSpPr>
            <a:spLocks noChangeArrowheads="1"/>
          </p:cNvSpPr>
          <p:nvPr/>
        </p:nvSpPr>
        <p:spPr bwMode="auto">
          <a:xfrm>
            <a:off x="823662" y="4461255"/>
            <a:ext cx="431800" cy="431800"/>
          </a:xfrm>
          <a:prstGeom prst="ellipse">
            <a:avLst/>
          </a:prstGeom>
          <a:solidFill>
            <a:srgbClr val="FFC000"/>
          </a:solidFill>
          <a:ln w="19050" algn="ctr">
            <a:solidFill>
              <a:srgbClr val="3333FF"/>
            </a:solidFill>
            <a:round/>
            <a:headEnd/>
            <a:tailEnd type="none" w="med" len="lg"/>
          </a:ln>
          <a:effectLst/>
        </p:spPr>
        <p:txBody>
          <a:bodyPr wrap="none" anchor="ctr"/>
          <a:lstStyle/>
          <a:p>
            <a:r>
              <a:rPr lang="en-US" altLang="zh-CN" sz="1800" i="1" dirty="0">
                <a:solidFill>
                  <a:srgbClr val="0000FF"/>
                </a:solidFill>
                <a:latin typeface="Consolas" pitchFamily="49" charset="0"/>
                <a:ea typeface="宋体" pitchFamily="2" charset="-122"/>
                <a:cs typeface="Consolas" pitchFamily="49" charset="0"/>
              </a:rPr>
              <a:t>k</a:t>
            </a:r>
          </a:p>
        </p:txBody>
      </p:sp>
      <p:cxnSp>
        <p:nvCxnSpPr>
          <p:cNvPr id="21" name="直接连接符 20">
            <a:extLst>
              <a:ext uri="{FF2B5EF4-FFF2-40B4-BE49-F238E27FC236}">
                <a16:creationId xmlns:a16="http://schemas.microsoft.com/office/drawing/2014/main" id="{7AB47B9D-7CD9-F199-BF26-92118042F842}"/>
              </a:ext>
            </a:extLst>
          </p:cNvPr>
          <p:cNvCxnSpPr/>
          <p:nvPr/>
        </p:nvCxnSpPr>
        <p:spPr>
          <a:xfrm>
            <a:off x="1558702" y="4793088"/>
            <a:ext cx="2736000" cy="72000"/>
          </a:xfrm>
          <a:prstGeom prst="line">
            <a:avLst/>
          </a:prstGeom>
          <a:ln/>
        </p:spPr>
        <p:style>
          <a:lnRef idx="2">
            <a:schemeClr val="dk1"/>
          </a:lnRef>
          <a:fillRef idx="0">
            <a:schemeClr val="dk1"/>
          </a:fillRef>
          <a:effectRef idx="1">
            <a:schemeClr val="dk1"/>
          </a:effectRef>
          <a:fontRef idx="minor">
            <a:schemeClr val="tx1"/>
          </a:fontRef>
        </p:style>
      </p:cxnSp>
      <p:sp>
        <p:nvSpPr>
          <p:cNvPr id="22" name="TextBox 18">
            <a:extLst>
              <a:ext uri="{FF2B5EF4-FFF2-40B4-BE49-F238E27FC236}">
                <a16:creationId xmlns:a16="http://schemas.microsoft.com/office/drawing/2014/main" id="{26CC48E2-4E2F-7C3C-9452-BE923B507B73}"/>
              </a:ext>
            </a:extLst>
          </p:cNvPr>
          <p:cNvSpPr txBox="1"/>
          <p:nvPr/>
        </p:nvSpPr>
        <p:spPr>
          <a:xfrm>
            <a:off x="368069" y="3335753"/>
            <a:ext cx="6429420" cy="453183"/>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tIns="72000" bIns="72000" rtlCol="0">
            <a:spAutoFit/>
          </a:bodyPr>
          <a:lstStyle/>
          <a:p>
            <a:pPr marL="457200" indent="-457200" algn="l">
              <a:buBlip>
                <a:blip r:embed="rId3"/>
              </a:buBlip>
            </a:pPr>
            <a:r>
              <a:rPr lang="zh-CN" altLang="en-US" sz="2000">
                <a:latin typeface="Consolas" pitchFamily="49" charset="0"/>
                <a:ea typeface="楷体" pitchFamily="49" charset="-122"/>
                <a:cs typeface="Consolas" pitchFamily="49" charset="0"/>
              </a:rPr>
              <a:t>如何存储顶点</a:t>
            </a:r>
            <a:r>
              <a:rPr lang="en-US" altLang="zh-CN" sz="2000" i="1">
                <a:latin typeface="Consolas" pitchFamily="49" charset="0"/>
                <a:ea typeface="楷体" pitchFamily="49" charset="-122"/>
                <a:cs typeface="Consolas" pitchFamily="49" charset="0"/>
              </a:rPr>
              <a:t>j</a:t>
            </a:r>
            <a:r>
              <a:rPr lang="zh-CN" altLang="en-US" sz="2000">
                <a:latin typeface="Consolas" pitchFamily="49" charset="0"/>
                <a:ea typeface="楷体" pitchFamily="49" charset="-122"/>
                <a:cs typeface="Consolas" pitchFamily="49" charset="0"/>
              </a:rPr>
              <a:t>到</a:t>
            </a:r>
            <a:r>
              <a:rPr lang="en-US" altLang="zh-CN" sz="2000">
                <a:latin typeface="Consolas" pitchFamily="49" charset="0"/>
                <a:ea typeface="楷体" pitchFamily="49" charset="-122"/>
                <a:cs typeface="Consolas" pitchFamily="49" charset="0"/>
              </a:rPr>
              <a:t>U</a:t>
            </a:r>
            <a:r>
              <a:rPr lang="zh-CN" altLang="en-US" sz="2000">
                <a:latin typeface="Consolas" pitchFamily="49" charset="0"/>
                <a:ea typeface="楷体" pitchFamily="49" charset="-122"/>
                <a:cs typeface="Consolas" pitchFamily="49" charset="0"/>
              </a:rPr>
              <a:t>顶点集的</a:t>
            </a:r>
            <a:r>
              <a:rPr lang="zh-CN" altLang="en-US" sz="2000" dirty="0">
                <a:latin typeface="Consolas" pitchFamily="49" charset="0"/>
                <a:ea typeface="楷体" pitchFamily="49" charset="-122"/>
                <a:cs typeface="Consolas" pitchFamily="49" charset="0"/>
              </a:rPr>
              <a:t>最小边？</a:t>
            </a:r>
          </a:p>
        </p:txBody>
      </p:sp>
      <p:grpSp>
        <p:nvGrpSpPr>
          <p:cNvPr id="23" name="组合 22">
            <a:extLst>
              <a:ext uri="{FF2B5EF4-FFF2-40B4-BE49-F238E27FC236}">
                <a16:creationId xmlns:a16="http://schemas.microsoft.com/office/drawing/2014/main" id="{15CE0916-D650-07C6-874B-7F228B77FBB7}"/>
              </a:ext>
            </a:extLst>
          </p:cNvPr>
          <p:cNvGrpSpPr/>
          <p:nvPr/>
        </p:nvGrpSpPr>
        <p:grpSpPr>
          <a:xfrm>
            <a:off x="2725523" y="5280955"/>
            <a:ext cx="2143140" cy="726522"/>
            <a:chOff x="3857620" y="3214686"/>
            <a:chExt cx="2143140" cy="726522"/>
          </a:xfrm>
        </p:grpSpPr>
        <p:cxnSp>
          <p:nvCxnSpPr>
            <p:cNvPr id="24" name="直接箭头连接符 23">
              <a:extLst>
                <a:ext uri="{FF2B5EF4-FFF2-40B4-BE49-F238E27FC236}">
                  <a16:creationId xmlns:a16="http://schemas.microsoft.com/office/drawing/2014/main" id="{5D727373-5D6B-7E7F-A09B-08CD8B0D5C46}"/>
                </a:ext>
              </a:extLst>
            </p:cNvPr>
            <p:cNvCxnSpPr/>
            <p:nvPr/>
          </p:nvCxnSpPr>
          <p:spPr>
            <a:xfrm rot="16200000" flipV="1">
              <a:off x="3929058" y="3286124"/>
              <a:ext cx="357190" cy="214314"/>
            </a:xfrm>
            <a:prstGeom prst="straightConnector1">
              <a:avLst/>
            </a:prstGeom>
            <a:ln w="28575">
              <a:tailEnd type="arrow"/>
            </a:ln>
          </p:spPr>
          <p:style>
            <a:lnRef idx="1">
              <a:schemeClr val="accent6"/>
            </a:lnRef>
            <a:fillRef idx="0">
              <a:schemeClr val="accent6"/>
            </a:fillRef>
            <a:effectRef idx="0">
              <a:schemeClr val="accent6"/>
            </a:effectRef>
            <a:fontRef idx="minor">
              <a:schemeClr val="tx1"/>
            </a:fontRef>
          </p:style>
        </p:cxnSp>
        <p:sp>
          <p:nvSpPr>
            <p:cNvPr id="25" name="TextBox 21">
              <a:extLst>
                <a:ext uri="{FF2B5EF4-FFF2-40B4-BE49-F238E27FC236}">
                  <a16:creationId xmlns:a16="http://schemas.microsoft.com/office/drawing/2014/main" id="{AF487B98-C1CB-3564-3891-866E9640A14F}"/>
                </a:ext>
              </a:extLst>
            </p:cNvPr>
            <p:cNvSpPr txBox="1"/>
            <p:nvPr/>
          </p:nvSpPr>
          <p:spPr>
            <a:xfrm>
              <a:off x="3857620" y="3571876"/>
              <a:ext cx="2143140" cy="369332"/>
            </a:xfrm>
            <a:prstGeom prst="rect">
              <a:avLst/>
            </a:prstGeom>
            <a:noFill/>
          </p:spPr>
          <p:txBody>
            <a:bodyPr wrap="square" rtlCol="0">
              <a:spAutoFit/>
            </a:bodyPr>
            <a:lstStyle/>
            <a:p>
              <a:r>
                <a:rPr lang="zh-CN" altLang="en-US" sz="1800" dirty="0">
                  <a:latin typeface="Consolas" pitchFamily="49" charset="0"/>
                  <a:ea typeface="仿宋" pitchFamily="49" charset="-122"/>
                  <a:cs typeface="Consolas" pitchFamily="49" charset="0"/>
                </a:rPr>
                <a:t>顶点</a:t>
              </a:r>
              <a:r>
                <a:rPr lang="en-US" altLang="zh-CN" sz="1800" i="1" dirty="0">
                  <a:latin typeface="Consolas" pitchFamily="49" charset="0"/>
                  <a:ea typeface="仿宋" pitchFamily="49" charset="-122"/>
                  <a:cs typeface="Consolas" pitchFamily="49" charset="0"/>
                </a:rPr>
                <a:t>j</a:t>
              </a:r>
              <a:r>
                <a:rPr lang="zh-CN" altLang="en-US" sz="1800" dirty="0">
                  <a:latin typeface="Consolas" pitchFamily="49" charset="0"/>
                  <a:ea typeface="仿宋" pitchFamily="49" charset="-122"/>
                  <a:cs typeface="Consolas" pitchFamily="49" charset="0"/>
                </a:rPr>
                <a:t>到</a:t>
              </a:r>
              <a:r>
                <a:rPr lang="en-US" altLang="zh-CN" sz="1800" dirty="0">
                  <a:latin typeface="Consolas" pitchFamily="49" charset="0"/>
                  <a:ea typeface="仿宋" pitchFamily="49" charset="-122"/>
                  <a:cs typeface="Consolas" pitchFamily="49" charset="0"/>
                </a:rPr>
                <a:t>U</a:t>
              </a:r>
              <a:r>
                <a:rPr lang="zh-CN" altLang="en-US" sz="1800" dirty="0">
                  <a:latin typeface="Consolas" pitchFamily="49" charset="0"/>
                  <a:ea typeface="仿宋" pitchFamily="49" charset="-122"/>
                  <a:cs typeface="Consolas" pitchFamily="49" charset="0"/>
                </a:rPr>
                <a:t>的最小边</a:t>
              </a:r>
            </a:p>
          </p:txBody>
        </p:sp>
      </p:grpSp>
      <p:sp>
        <p:nvSpPr>
          <p:cNvPr id="26" name="TextBox 24">
            <a:extLst>
              <a:ext uri="{FF2B5EF4-FFF2-40B4-BE49-F238E27FC236}">
                <a16:creationId xmlns:a16="http://schemas.microsoft.com/office/drawing/2014/main" id="{F5473EEC-8CB9-A1BD-DD87-BD36B0B70783}"/>
              </a:ext>
            </a:extLst>
          </p:cNvPr>
          <p:cNvSpPr txBox="1"/>
          <p:nvPr/>
        </p:nvSpPr>
        <p:spPr>
          <a:xfrm>
            <a:off x="7896200" y="3394106"/>
            <a:ext cx="4143404" cy="453183"/>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tIns="72000" bIns="72000" rtlCol="0">
            <a:spAutoFit/>
          </a:bodyPr>
          <a:lstStyle/>
          <a:p>
            <a:pPr marL="457200" indent="-457200" algn="l">
              <a:buBlip>
                <a:blip r:embed="rId3"/>
              </a:buBlip>
            </a:pPr>
            <a:r>
              <a:rPr lang="zh-CN" altLang="en-US" sz="2000" dirty="0">
                <a:latin typeface="Consolas" pitchFamily="49" charset="0"/>
                <a:ea typeface="楷体" pitchFamily="49" charset="-122"/>
                <a:cs typeface="Consolas" pitchFamily="49" charset="0"/>
              </a:rPr>
              <a:t>一</a:t>
            </a:r>
            <a:r>
              <a:rPr lang="zh-CN" altLang="en-US" sz="2000">
                <a:latin typeface="Consolas" pitchFamily="49" charset="0"/>
                <a:ea typeface="楷体" pitchFamily="49" charset="-122"/>
                <a:cs typeface="Consolas" pitchFamily="49" charset="0"/>
              </a:rPr>
              <a:t>个顶点属于</a:t>
            </a:r>
            <a:r>
              <a:rPr lang="zh-CN" altLang="en-US" sz="2000" dirty="0">
                <a:latin typeface="Consolas" pitchFamily="49" charset="0"/>
                <a:ea typeface="楷体" pitchFamily="49" charset="-122"/>
                <a:cs typeface="Consolas" pitchFamily="49" charset="0"/>
              </a:rPr>
              <a:t>哪个集合？</a:t>
            </a:r>
          </a:p>
        </p:txBody>
      </p:sp>
      <p:grpSp>
        <p:nvGrpSpPr>
          <p:cNvPr id="27" name="组合 28">
            <a:extLst>
              <a:ext uri="{FF2B5EF4-FFF2-40B4-BE49-F238E27FC236}">
                <a16:creationId xmlns:a16="http://schemas.microsoft.com/office/drawing/2014/main" id="{C33E0BE1-F782-AA4B-0140-E0126E09D6A1}"/>
              </a:ext>
            </a:extLst>
          </p:cNvPr>
          <p:cNvGrpSpPr/>
          <p:nvPr/>
        </p:nvGrpSpPr>
        <p:grpSpPr>
          <a:xfrm>
            <a:off x="381439" y="5996350"/>
            <a:ext cx="1928826" cy="562610"/>
            <a:chOff x="500034" y="4164416"/>
            <a:chExt cx="1928826" cy="562610"/>
          </a:xfrm>
        </p:grpSpPr>
        <p:sp>
          <p:nvSpPr>
            <p:cNvPr id="28" name="Text Box 1037">
              <a:extLst>
                <a:ext uri="{FF2B5EF4-FFF2-40B4-BE49-F238E27FC236}">
                  <a16:creationId xmlns:a16="http://schemas.microsoft.com/office/drawing/2014/main" id="{9E18B3AA-0D70-9046-78EE-BECFCBEA7AB6}"/>
                </a:ext>
              </a:extLst>
            </p:cNvPr>
            <p:cNvSpPr txBox="1">
              <a:spLocks noChangeArrowheads="1"/>
            </p:cNvSpPr>
            <p:nvPr/>
          </p:nvSpPr>
          <p:spPr bwMode="auto">
            <a:xfrm>
              <a:off x="500034" y="4357694"/>
              <a:ext cx="1928826" cy="369332"/>
            </a:xfrm>
            <a:prstGeom prst="rect">
              <a:avLst/>
            </a:prstGeom>
            <a:noFill/>
            <a:ln w="19050" algn="ctr">
              <a:noFill/>
              <a:miter lim="800000"/>
              <a:headEnd/>
              <a:tailEnd type="none" w="med" len="lg"/>
            </a:ln>
            <a:effectLst/>
          </p:spPr>
          <p:txBody>
            <a:bodyPr wrap="square">
              <a:spAutoFit/>
            </a:bodyPr>
            <a:lstStyle/>
            <a:p>
              <a:pPr algn="l">
                <a:spcBef>
                  <a:spcPct val="50000"/>
                </a:spcBef>
              </a:pPr>
              <a:r>
                <a:rPr lang="en-US" altLang="zh-CN" sz="1800">
                  <a:latin typeface="Consolas" pitchFamily="49" charset="0"/>
                  <a:ea typeface="楷体" pitchFamily="49" charset="-122"/>
                  <a:cs typeface="Consolas" pitchFamily="49" charset="0"/>
                </a:rPr>
                <a:t>lowcost[</a:t>
              </a:r>
              <a:r>
                <a:rPr lang="en-US" altLang="zh-CN" sz="1800" i="1" dirty="0">
                  <a:latin typeface="Consolas" pitchFamily="49" charset="0"/>
                  <a:ea typeface="楷体" pitchFamily="49" charset="-122"/>
                  <a:cs typeface="Consolas" pitchFamily="49" charset="0"/>
                </a:rPr>
                <a:t>k</a:t>
              </a:r>
              <a:r>
                <a:rPr lang="en-US" altLang="zh-CN" sz="1800">
                  <a:latin typeface="Consolas" pitchFamily="49" charset="0"/>
                  <a:ea typeface="楷体" pitchFamily="49" charset="-122"/>
                  <a:cs typeface="Consolas" pitchFamily="49" charset="0"/>
                </a:rPr>
                <a:t>]=</a:t>
              </a:r>
              <a:r>
                <a:rPr lang="en-US" altLang="zh-CN" sz="1800" dirty="0">
                  <a:latin typeface="Consolas" pitchFamily="49" charset="0"/>
                  <a:ea typeface="楷体" pitchFamily="49" charset="-122"/>
                  <a:cs typeface="Consolas" pitchFamily="49" charset="0"/>
                </a:rPr>
                <a:t>0</a:t>
              </a:r>
              <a:endParaRPr lang="zh-CN" altLang="en-US" sz="1800" dirty="0">
                <a:latin typeface="Consolas" pitchFamily="49" charset="0"/>
                <a:ea typeface="楷体" pitchFamily="49" charset="-122"/>
                <a:cs typeface="Consolas" pitchFamily="49" charset="0"/>
              </a:endParaRPr>
            </a:p>
          </p:txBody>
        </p:sp>
        <p:sp>
          <p:nvSpPr>
            <p:cNvPr id="29" name="上箭头 25">
              <a:extLst>
                <a:ext uri="{FF2B5EF4-FFF2-40B4-BE49-F238E27FC236}">
                  <a16:creationId xmlns:a16="http://schemas.microsoft.com/office/drawing/2014/main" id="{43E43E43-8950-0662-8E3B-55117CB59946}"/>
                </a:ext>
              </a:extLst>
            </p:cNvPr>
            <p:cNvSpPr/>
            <p:nvPr/>
          </p:nvSpPr>
          <p:spPr bwMode="auto">
            <a:xfrm>
              <a:off x="1071538" y="4164416"/>
              <a:ext cx="214314" cy="268087"/>
            </a:xfrm>
            <a:prstGeom prst="upArrow">
              <a:avLst/>
            </a:prstGeom>
            <a:ln>
              <a:headEnd type="none" w="med" len="med"/>
              <a:tailEnd type="none" w="med" len="lg"/>
            </a:ln>
          </p:spPr>
          <p:style>
            <a:lnRef idx="1">
              <a:schemeClr val="accent5"/>
            </a:lnRef>
            <a:fillRef idx="3">
              <a:schemeClr val="accent5"/>
            </a:fillRef>
            <a:effectRef idx="2">
              <a:schemeClr val="accent5"/>
            </a:effectRef>
            <a:fontRef idx="minor">
              <a:schemeClr val="lt1"/>
            </a:fontRef>
          </p:style>
          <p:txBody>
            <a:bodyPr wrap="none" rtlCol="0" anchor="ctr"/>
            <a:lstStyle/>
            <a:p>
              <a:pPr algn="ctr"/>
              <a:endParaRPr lang="zh-CN" altLang="en-US">
                <a:latin typeface="Consolas" pitchFamily="49" charset="0"/>
                <a:cs typeface="Consolas" pitchFamily="49" charset="0"/>
              </a:endParaRPr>
            </a:p>
          </p:txBody>
        </p:sp>
      </p:grpSp>
      <p:grpSp>
        <p:nvGrpSpPr>
          <p:cNvPr id="30" name="组合 29">
            <a:extLst>
              <a:ext uri="{FF2B5EF4-FFF2-40B4-BE49-F238E27FC236}">
                <a16:creationId xmlns:a16="http://schemas.microsoft.com/office/drawing/2014/main" id="{FE7FF506-265A-11EC-6556-228853C5F7A6}"/>
              </a:ext>
            </a:extLst>
          </p:cNvPr>
          <p:cNvGrpSpPr/>
          <p:nvPr/>
        </p:nvGrpSpPr>
        <p:grpSpPr>
          <a:xfrm>
            <a:off x="3810463" y="5995896"/>
            <a:ext cx="2000264" cy="634502"/>
            <a:chOff x="3929058" y="4163962"/>
            <a:chExt cx="2000264" cy="634502"/>
          </a:xfrm>
        </p:grpSpPr>
        <p:sp>
          <p:nvSpPr>
            <p:cNvPr id="31" name="Text Box 1037">
              <a:extLst>
                <a:ext uri="{FF2B5EF4-FFF2-40B4-BE49-F238E27FC236}">
                  <a16:creationId xmlns:a16="http://schemas.microsoft.com/office/drawing/2014/main" id="{60D4C555-242B-0B0D-1F34-12D4202501C6}"/>
                </a:ext>
              </a:extLst>
            </p:cNvPr>
            <p:cNvSpPr txBox="1">
              <a:spLocks noChangeArrowheads="1"/>
            </p:cNvSpPr>
            <p:nvPr/>
          </p:nvSpPr>
          <p:spPr bwMode="auto">
            <a:xfrm>
              <a:off x="3929058" y="4429132"/>
              <a:ext cx="2000264" cy="369332"/>
            </a:xfrm>
            <a:prstGeom prst="rect">
              <a:avLst/>
            </a:prstGeom>
            <a:noFill/>
            <a:ln w="19050" algn="ctr">
              <a:noFill/>
              <a:miter lim="800000"/>
              <a:headEnd/>
              <a:tailEnd type="none" w="med" len="lg"/>
            </a:ln>
            <a:effectLst/>
          </p:spPr>
          <p:txBody>
            <a:bodyPr wrap="square">
              <a:spAutoFit/>
            </a:bodyPr>
            <a:lstStyle/>
            <a:p>
              <a:pPr algn="l">
                <a:spcBef>
                  <a:spcPct val="50000"/>
                </a:spcBef>
              </a:pPr>
              <a:r>
                <a:rPr lang="en-US" altLang="zh-CN" sz="1800" dirty="0" err="1">
                  <a:latin typeface="Consolas" pitchFamily="49" charset="0"/>
                  <a:ea typeface="楷体" pitchFamily="49" charset="-122"/>
                  <a:cs typeface="Consolas" pitchFamily="49" charset="0"/>
                </a:rPr>
                <a:t>lowcost</a:t>
              </a:r>
              <a:r>
                <a:rPr lang="en-US" altLang="zh-CN" sz="1800" dirty="0">
                  <a:latin typeface="Consolas" pitchFamily="49" charset="0"/>
                  <a:ea typeface="楷体" pitchFamily="49" charset="-122"/>
                  <a:cs typeface="Consolas" pitchFamily="49" charset="0"/>
                </a:rPr>
                <a:t>[</a:t>
              </a:r>
              <a:r>
                <a:rPr lang="en-US" altLang="zh-CN" sz="1800" i="1" dirty="0">
                  <a:latin typeface="Consolas" pitchFamily="49" charset="0"/>
                  <a:ea typeface="楷体" pitchFamily="49" charset="-122"/>
                  <a:cs typeface="Consolas" pitchFamily="49" charset="0"/>
                </a:rPr>
                <a:t>j</a:t>
              </a:r>
              <a:r>
                <a:rPr lang="en-US" altLang="zh-CN" sz="1800" dirty="0">
                  <a:latin typeface="Consolas" pitchFamily="49" charset="0"/>
                  <a:ea typeface="楷体" pitchFamily="49" charset="-122"/>
                  <a:cs typeface="Consolas" pitchFamily="49" charset="0"/>
                </a:rPr>
                <a:t>]!=0</a:t>
              </a:r>
              <a:endParaRPr lang="zh-CN" altLang="en-US" sz="1800" dirty="0">
                <a:latin typeface="Consolas" pitchFamily="49" charset="0"/>
                <a:ea typeface="楷体" pitchFamily="49" charset="-122"/>
                <a:cs typeface="Consolas" pitchFamily="49" charset="0"/>
              </a:endParaRPr>
            </a:p>
          </p:txBody>
        </p:sp>
        <p:sp>
          <p:nvSpPr>
            <p:cNvPr id="32" name="上箭头 27">
              <a:extLst>
                <a:ext uri="{FF2B5EF4-FFF2-40B4-BE49-F238E27FC236}">
                  <a16:creationId xmlns:a16="http://schemas.microsoft.com/office/drawing/2014/main" id="{202BCCD5-B6D2-EC7A-CA1A-5FEA3666D1C2}"/>
                </a:ext>
              </a:extLst>
            </p:cNvPr>
            <p:cNvSpPr/>
            <p:nvPr/>
          </p:nvSpPr>
          <p:spPr bwMode="auto">
            <a:xfrm>
              <a:off x="4572000" y="4163962"/>
              <a:ext cx="212729" cy="268542"/>
            </a:xfrm>
            <a:prstGeom prst="upArrow">
              <a:avLst/>
            </a:prstGeom>
            <a:ln>
              <a:headEnd type="none" w="med" len="med"/>
              <a:tailEnd type="none" w="med" len="lg"/>
            </a:ln>
          </p:spPr>
          <p:style>
            <a:lnRef idx="1">
              <a:schemeClr val="accent5"/>
            </a:lnRef>
            <a:fillRef idx="3">
              <a:schemeClr val="accent5"/>
            </a:fillRef>
            <a:effectRef idx="2">
              <a:schemeClr val="accent5"/>
            </a:effectRef>
            <a:fontRef idx="minor">
              <a:schemeClr val="lt1"/>
            </a:fontRef>
          </p:style>
          <p:txBody>
            <a:bodyPr wrap="none" rtlCol="0" anchor="ctr"/>
            <a:lstStyle/>
            <a:p>
              <a:pPr algn="ctr"/>
              <a:endParaRPr lang="zh-CN" altLang="en-US">
                <a:latin typeface="Consolas" pitchFamily="49" charset="0"/>
                <a:cs typeface="Consolas" pitchFamily="49" charset="0"/>
              </a:endParaRPr>
            </a:p>
          </p:txBody>
        </p:sp>
      </p:grpSp>
      <p:sp>
        <p:nvSpPr>
          <p:cNvPr id="34" name="TextBox 30">
            <a:extLst>
              <a:ext uri="{FF2B5EF4-FFF2-40B4-BE49-F238E27FC236}">
                <a16:creationId xmlns:a16="http://schemas.microsoft.com/office/drawing/2014/main" id="{AB479E2D-397B-8042-0FAF-7A5233601ED5}"/>
              </a:ext>
            </a:extLst>
          </p:cNvPr>
          <p:cNvSpPr txBox="1"/>
          <p:nvPr/>
        </p:nvSpPr>
        <p:spPr>
          <a:xfrm>
            <a:off x="7896200" y="3965610"/>
            <a:ext cx="4143404" cy="453183"/>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tIns="72000" bIns="72000" rtlCol="0">
            <a:spAutoFit/>
          </a:bodyPr>
          <a:lstStyle/>
          <a:p>
            <a:pPr marL="457200" indent="-457200" algn="l">
              <a:buBlip>
                <a:blip r:embed="rId3"/>
              </a:buBlip>
            </a:pPr>
            <a:r>
              <a:rPr lang="zh-CN" altLang="en-US" sz="2000" dirty="0">
                <a:latin typeface="Consolas" pitchFamily="49" charset="0"/>
                <a:ea typeface="楷体" pitchFamily="49" charset="-122"/>
                <a:cs typeface="Consolas" pitchFamily="49" charset="0"/>
              </a:rPr>
              <a:t>图采用哪种存储结构更合适？</a:t>
            </a:r>
          </a:p>
        </p:txBody>
      </p:sp>
      <p:sp>
        <p:nvSpPr>
          <p:cNvPr id="35" name="TextBox 31">
            <a:extLst>
              <a:ext uri="{FF2B5EF4-FFF2-40B4-BE49-F238E27FC236}">
                <a16:creationId xmlns:a16="http://schemas.microsoft.com/office/drawing/2014/main" id="{FDEFD382-B284-A835-E8C8-D5D95001785F}"/>
              </a:ext>
            </a:extLst>
          </p:cNvPr>
          <p:cNvSpPr txBox="1"/>
          <p:nvPr/>
        </p:nvSpPr>
        <p:spPr>
          <a:xfrm>
            <a:off x="9796702" y="4577093"/>
            <a:ext cx="1571636" cy="400110"/>
          </a:xfrm>
          <a:prstGeom prst="rect">
            <a:avLst/>
          </a:prstGeom>
          <a:noFill/>
        </p:spPr>
        <p:txBody>
          <a:bodyPr wrap="square" rtlCol="0">
            <a:spAutoFit/>
          </a:bodyPr>
          <a:lstStyle/>
          <a:p>
            <a:r>
              <a:rPr kumimoji="1" lang="zh-CN" altLang="en-US" sz="2000" dirty="0">
                <a:solidFill>
                  <a:srgbClr val="FF0000"/>
                </a:solidFill>
                <a:latin typeface="微软雅黑" pitchFamily="34" charset="-122"/>
                <a:ea typeface="微软雅黑" pitchFamily="34" charset="-122"/>
                <a:cs typeface="经典粗黑简" pitchFamily="49" charset="-122"/>
              </a:rPr>
              <a:t>邻接矩阵</a:t>
            </a:r>
          </a:p>
        </p:txBody>
      </p:sp>
      <p:sp>
        <p:nvSpPr>
          <p:cNvPr id="36" name="TextBox 32">
            <a:extLst>
              <a:ext uri="{FF2B5EF4-FFF2-40B4-BE49-F238E27FC236}">
                <a16:creationId xmlns:a16="http://schemas.microsoft.com/office/drawing/2014/main" id="{59444625-FC44-1861-27DF-EF4D54F20EBA}"/>
              </a:ext>
            </a:extLst>
          </p:cNvPr>
          <p:cNvSpPr txBox="1"/>
          <p:nvPr/>
        </p:nvSpPr>
        <p:spPr>
          <a:xfrm>
            <a:off x="368069" y="2364139"/>
            <a:ext cx="7286676" cy="453183"/>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tIns="72000" bIns="72000" rtlCol="0">
            <a:spAutoFit/>
          </a:bodyPr>
          <a:lstStyle/>
          <a:p>
            <a:pPr marL="457200" indent="-457200" algn="l">
              <a:buBlip>
                <a:blip r:embed="rId3"/>
              </a:buBlip>
            </a:pPr>
            <a:r>
              <a:rPr lang="zh-CN" altLang="en-US" sz="2000">
                <a:latin typeface="Consolas" pitchFamily="49" charset="0"/>
                <a:ea typeface="楷体" pitchFamily="49" charset="-122"/>
                <a:cs typeface="Consolas" pitchFamily="49" charset="0"/>
              </a:rPr>
              <a:t>如何求</a:t>
            </a:r>
            <a:r>
              <a:rPr lang="en-US" altLang="zh-CN" sz="2000">
                <a:latin typeface="Consolas" pitchFamily="49" charset="0"/>
                <a:ea typeface="楷体" pitchFamily="49" charset="-122"/>
                <a:cs typeface="Consolas" pitchFamily="49" charset="0"/>
              </a:rPr>
              <a:t>U</a:t>
            </a:r>
            <a:r>
              <a:rPr lang="zh-CN" altLang="en-US" sz="2000">
                <a:latin typeface="Consolas" pitchFamily="49" charset="0"/>
                <a:ea typeface="楷体" pitchFamily="49" charset="-122"/>
                <a:cs typeface="Consolas" pitchFamily="49" charset="0"/>
              </a:rPr>
              <a:t>、</a:t>
            </a:r>
            <a:r>
              <a:rPr lang="en-US" altLang="zh-CN" sz="2000">
                <a:latin typeface="Consolas" pitchFamily="49" charset="0"/>
                <a:ea typeface="楷体" pitchFamily="49" charset="-122"/>
                <a:cs typeface="Consolas" pitchFamily="49" charset="0"/>
              </a:rPr>
              <a:t>V</a:t>
            </a:r>
            <a:r>
              <a:rPr lang="en-US" altLang="zh-CN" sz="2000">
                <a:latin typeface="Consolas" pitchFamily="49" charset="0"/>
                <a:ea typeface="+mj-ea"/>
                <a:cs typeface="Consolas" pitchFamily="49" charset="0"/>
              </a:rPr>
              <a:t>-</a:t>
            </a:r>
            <a:r>
              <a:rPr lang="en-US" altLang="zh-CN" sz="2000">
                <a:latin typeface="Consolas" pitchFamily="49" charset="0"/>
                <a:ea typeface="楷体" pitchFamily="49" charset="-122"/>
                <a:cs typeface="Consolas" pitchFamily="49" charset="0"/>
              </a:rPr>
              <a:t>U</a:t>
            </a:r>
            <a:r>
              <a:rPr lang="zh-CN" altLang="en-US" sz="2000">
                <a:latin typeface="Consolas" pitchFamily="49" charset="0"/>
                <a:ea typeface="楷体" pitchFamily="49" charset="-122"/>
                <a:cs typeface="Consolas" pitchFamily="49" charset="0"/>
              </a:rPr>
              <a:t>两个顶点集之间的</a:t>
            </a:r>
            <a:r>
              <a:rPr lang="zh-CN" altLang="en-US" sz="2000" dirty="0">
                <a:latin typeface="Consolas" pitchFamily="49" charset="0"/>
                <a:ea typeface="楷体" pitchFamily="49" charset="-122"/>
                <a:cs typeface="Consolas" pitchFamily="49" charset="0"/>
              </a:rPr>
              <a:t>最小</a:t>
            </a:r>
            <a:r>
              <a:rPr lang="zh-CN" altLang="en-US" sz="2000">
                <a:latin typeface="Consolas" pitchFamily="49" charset="0"/>
                <a:ea typeface="楷体" pitchFamily="49" charset="-122"/>
                <a:cs typeface="Consolas" pitchFamily="49" charset="0"/>
              </a:rPr>
              <a:t>边？（只求一条）</a:t>
            </a:r>
            <a:endParaRPr lang="zh-CN" altLang="en-US" sz="2000" dirty="0">
              <a:latin typeface="Consolas" pitchFamily="49" charset="0"/>
              <a:ea typeface="楷体" pitchFamily="49" charset="-122"/>
              <a:cs typeface="Consolas" pitchFamily="49" charset="0"/>
            </a:endParaRPr>
          </a:p>
        </p:txBody>
      </p:sp>
      <p:sp>
        <p:nvSpPr>
          <p:cNvPr id="37" name="TextBox 34">
            <a:extLst>
              <a:ext uri="{FF2B5EF4-FFF2-40B4-BE49-F238E27FC236}">
                <a16:creationId xmlns:a16="http://schemas.microsoft.com/office/drawing/2014/main" id="{3FAB52C2-BFE7-D397-E748-9FF9D35F909B}"/>
              </a:ext>
            </a:extLst>
          </p:cNvPr>
          <p:cNvSpPr txBox="1"/>
          <p:nvPr/>
        </p:nvSpPr>
        <p:spPr>
          <a:xfrm>
            <a:off x="939573" y="2864205"/>
            <a:ext cx="7858180" cy="400110"/>
          </a:xfrm>
          <a:prstGeom prst="rect">
            <a:avLst/>
          </a:prstGeom>
          <a:noFill/>
        </p:spPr>
        <p:txBody>
          <a:bodyPr wrap="square" rtlCol="0">
            <a:spAutoFit/>
          </a:bodyPr>
          <a:lstStyle/>
          <a:p>
            <a:pPr algn="l"/>
            <a:r>
              <a:rPr lang="zh-CN" altLang="en-US" sz="2000">
                <a:solidFill>
                  <a:srgbClr val="339933"/>
                </a:solidFill>
                <a:latin typeface="Consolas" pitchFamily="49" charset="0"/>
                <a:ea typeface="仿宋" pitchFamily="49" charset="-122"/>
                <a:cs typeface="Consolas" pitchFamily="49" charset="0"/>
              </a:rPr>
              <a:t>只考虑</a:t>
            </a:r>
            <a:r>
              <a:rPr lang="en-US" altLang="zh-CN" sz="2000">
                <a:solidFill>
                  <a:srgbClr val="339933"/>
                </a:solidFill>
                <a:latin typeface="Consolas" pitchFamily="49" charset="0"/>
                <a:ea typeface="仿宋" pitchFamily="49" charset="-122"/>
                <a:cs typeface="Consolas" pitchFamily="49" charset="0"/>
              </a:rPr>
              <a:t>V-U</a:t>
            </a:r>
            <a:r>
              <a:rPr lang="zh-CN" altLang="en-US" sz="2000">
                <a:solidFill>
                  <a:srgbClr val="339933"/>
                </a:solidFill>
                <a:latin typeface="Consolas" pitchFamily="49" charset="0"/>
                <a:ea typeface="仿宋" pitchFamily="49" charset="-122"/>
                <a:cs typeface="Consolas" pitchFamily="49" charset="0"/>
              </a:rPr>
              <a:t>中顶点</a:t>
            </a:r>
            <a:r>
              <a:rPr lang="en-US" altLang="zh-CN" sz="2000" i="1">
                <a:solidFill>
                  <a:srgbClr val="339933"/>
                </a:solidFill>
                <a:latin typeface="Consolas" pitchFamily="49" charset="0"/>
                <a:ea typeface="仿宋" pitchFamily="49" charset="-122"/>
                <a:cs typeface="Consolas" pitchFamily="49" charset="0"/>
              </a:rPr>
              <a:t>j</a:t>
            </a:r>
            <a:r>
              <a:rPr lang="zh-CN" altLang="en-US" sz="2000">
                <a:solidFill>
                  <a:srgbClr val="339933"/>
                </a:solidFill>
                <a:latin typeface="Consolas" pitchFamily="49" charset="0"/>
                <a:ea typeface="仿宋" pitchFamily="49" charset="-122"/>
                <a:cs typeface="Consolas" pitchFamily="49" charset="0"/>
              </a:rPr>
              <a:t>到</a:t>
            </a:r>
            <a:r>
              <a:rPr lang="en-US" altLang="zh-CN" sz="2000">
                <a:solidFill>
                  <a:srgbClr val="339933"/>
                </a:solidFill>
                <a:latin typeface="Consolas" pitchFamily="49" charset="0"/>
                <a:ea typeface="仿宋" pitchFamily="49" charset="-122"/>
                <a:cs typeface="Consolas" pitchFamily="49" charset="0"/>
              </a:rPr>
              <a:t>U</a:t>
            </a:r>
            <a:r>
              <a:rPr lang="zh-CN" altLang="en-US" sz="2000">
                <a:solidFill>
                  <a:srgbClr val="339933"/>
                </a:solidFill>
                <a:latin typeface="Consolas" pitchFamily="49" charset="0"/>
                <a:ea typeface="仿宋" pitchFamily="49" charset="-122"/>
                <a:cs typeface="Consolas" pitchFamily="49" charset="0"/>
              </a:rPr>
              <a:t>顶点集的最小边（无向图），比较来找最小边</a:t>
            </a:r>
          </a:p>
        </p:txBody>
      </p:sp>
    </p:spTree>
    <p:extLst>
      <p:ext uri="{BB962C8B-B14F-4D97-AF65-F5344CB8AC3E}">
        <p14:creationId xmlns:p14="http://schemas.microsoft.com/office/powerpoint/2010/main" val="14951411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nodePh="1">
                                  <p:stCondLst>
                                    <p:cond delay="0"/>
                                  </p:stCondLst>
                                  <p:endCondLst>
                                    <p:cond evt="begin" delay="0">
                                      <p:tn val="5"/>
                                    </p:cond>
                                  </p:endCondLst>
                                  <p:childTnLst>
                                    <p:set>
                                      <p:cBhvr>
                                        <p:cTn id="6" dur="1" fill="hold">
                                          <p:stCondLst>
                                            <p:cond delay="0"/>
                                          </p:stCondLst>
                                        </p:cTn>
                                        <p:tgtEl>
                                          <p:spTgt spid="4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par>
                          <p:cTn id="23" fill="hold">
                            <p:stCondLst>
                              <p:cond delay="0"/>
                            </p:stCondLst>
                            <p:childTnLst>
                              <p:par>
                                <p:cTn id="24" presetID="1" presetClass="entr" presetSubtype="0" fill="hold" nodeType="afterEffect">
                                  <p:stCondLst>
                                    <p:cond delay="0"/>
                                  </p:stCondLst>
                                  <p:childTnLst>
                                    <p:set>
                                      <p:cBhvr>
                                        <p:cTn id="25" dur="1" fill="hold">
                                          <p:stCondLst>
                                            <p:cond delay="0"/>
                                          </p:stCondLst>
                                        </p:cTn>
                                        <p:tgtEl>
                                          <p:spTgt spid="15"/>
                                        </p:tgtEl>
                                        <p:attrNameLst>
                                          <p:attrName>style.visibility</p:attrName>
                                        </p:attrNameLst>
                                      </p:cBhvr>
                                      <p:to>
                                        <p:strVal val="visible"/>
                                      </p:to>
                                    </p:set>
                                  </p:childTnLst>
                                </p:cTn>
                              </p:par>
                            </p:childTnLst>
                          </p:cTn>
                        </p:par>
                        <p:par>
                          <p:cTn id="26" fill="hold">
                            <p:stCondLst>
                              <p:cond delay="0"/>
                            </p:stCondLst>
                            <p:childTnLst>
                              <p:par>
                                <p:cTn id="27" presetID="1" presetClass="entr" presetSubtype="0" fill="hold" grpId="0" nodeType="afterEffect">
                                  <p:stCondLst>
                                    <p:cond delay="0"/>
                                  </p:stCondLst>
                                  <p:childTnLst>
                                    <p:set>
                                      <p:cBhvr>
                                        <p:cTn id="28" dur="1" fill="hold">
                                          <p:stCondLst>
                                            <p:cond delay="0"/>
                                          </p:stCondLst>
                                        </p:cTn>
                                        <p:tgtEl>
                                          <p:spTgt spid="1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6"/>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27"/>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30"/>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4"/>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build="p"/>
      <p:bldP spid="14" grpId="0"/>
      <p:bldP spid="18" grpId="0"/>
      <p:bldP spid="22" grpId="0" animBg="1"/>
      <p:bldP spid="26" grpId="0" animBg="1"/>
      <p:bldP spid="34" grpId="0" animBg="1"/>
      <p:bldP spid="35" grpId="0"/>
      <p:bldP spid="37" grpId="0"/>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4F2AE0-9908-EC47-2CFE-A193687B1AB3}"/>
            </a:ext>
          </a:extLst>
        </p:cNvPr>
        <p:cNvGrpSpPr/>
        <p:nvPr/>
      </p:nvGrpSpPr>
      <p:grpSpPr>
        <a:xfrm>
          <a:off x="0" y="0"/>
          <a:ext cx="0" cy="0"/>
          <a:chOff x="0" y="0"/>
          <a:chExt cx="0" cy="0"/>
        </a:xfrm>
      </p:grpSpPr>
      <p:sp>
        <p:nvSpPr>
          <p:cNvPr id="42" name="Rectangle 4">
            <a:extLst>
              <a:ext uri="{FF2B5EF4-FFF2-40B4-BE49-F238E27FC236}">
                <a16:creationId xmlns:a16="http://schemas.microsoft.com/office/drawing/2014/main" id="{5E901102-433D-5D9F-4A56-A0C09917FEE9}"/>
              </a:ext>
            </a:extLst>
          </p:cNvPr>
          <p:cNvSpPr>
            <a:spLocks noChangeArrowheads="1"/>
          </p:cNvSpPr>
          <p:nvPr/>
        </p:nvSpPr>
        <p:spPr bwMode="auto">
          <a:xfrm>
            <a:off x="6384032" y="4567734"/>
            <a:ext cx="7620000" cy="2016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lvl="1" indent="-228600">
              <a:spcBef>
                <a:spcPts val="600"/>
              </a:spcBef>
              <a:buClr>
                <a:srgbClr val="B870B8"/>
              </a:buClr>
              <a:buSzPct val="75000"/>
              <a:buFont typeface="Wingdings" pitchFamily="2" charset="2"/>
              <a:buChar char="n"/>
            </a:pPr>
            <a:endParaRPr kumimoji="1" lang="zh-CN" altLang="en-US" sz="2400" dirty="0">
              <a:latin typeface="微软雅黑" pitchFamily="34" charset="-122"/>
              <a:ea typeface="微软雅黑" pitchFamily="34" charset="-122"/>
              <a:cs typeface="经典粗黑简" pitchFamily="49" charset="-122"/>
            </a:endParaRPr>
          </a:p>
        </p:txBody>
      </p:sp>
      <p:sp>
        <p:nvSpPr>
          <p:cNvPr id="2" name="Rectangle 2">
            <a:extLst>
              <a:ext uri="{FF2B5EF4-FFF2-40B4-BE49-F238E27FC236}">
                <a16:creationId xmlns:a16="http://schemas.microsoft.com/office/drawing/2014/main" id="{C8213A2F-DB7E-DABB-EEB0-8ED699068DF1}"/>
              </a:ext>
            </a:extLst>
          </p:cNvPr>
          <p:cNvSpPr txBox="1">
            <a:spLocks noChangeArrowheads="1"/>
          </p:cNvSpPr>
          <p:nvPr/>
        </p:nvSpPr>
        <p:spPr>
          <a:xfrm>
            <a:off x="474772" y="1230902"/>
            <a:ext cx="4469100"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8.4.3 </a:t>
            </a:r>
            <a:r>
              <a:rPr kumimoji="1" lang="zh-CN" altLang="en-US" dirty="0">
                <a:latin typeface="微软雅黑" pitchFamily="34" charset="-122"/>
                <a:ea typeface="微软雅黑" pitchFamily="34" charset="-122"/>
              </a:rPr>
              <a:t>普里姆</a:t>
            </a:r>
            <a:r>
              <a:rPr kumimoji="1" lang="en-US" altLang="zh-CN" dirty="0">
                <a:latin typeface="微软雅黑" pitchFamily="34" charset="-122"/>
                <a:ea typeface="微软雅黑" pitchFamily="34" charset="-122"/>
              </a:rPr>
              <a:t>(Prim)</a:t>
            </a:r>
            <a:r>
              <a:rPr kumimoji="1" lang="zh-CN" altLang="en-US" dirty="0">
                <a:latin typeface="微软雅黑" pitchFamily="34" charset="-122"/>
                <a:ea typeface="微软雅黑" pitchFamily="34" charset="-122"/>
              </a:rPr>
              <a:t>算法</a:t>
            </a:r>
          </a:p>
        </p:txBody>
      </p:sp>
      <p:cxnSp>
        <p:nvCxnSpPr>
          <p:cNvPr id="3" name="直接连接符 2">
            <a:extLst>
              <a:ext uri="{FF2B5EF4-FFF2-40B4-BE49-F238E27FC236}">
                <a16:creationId xmlns:a16="http://schemas.microsoft.com/office/drawing/2014/main" id="{FF99A3F3-C604-0B9A-55A3-2E6F1482B828}"/>
              </a:ext>
            </a:extLst>
          </p:cNvPr>
          <p:cNvCxnSpPr>
            <a:cxnSpLocks/>
          </p:cNvCxnSpPr>
          <p:nvPr/>
        </p:nvCxnSpPr>
        <p:spPr>
          <a:xfrm>
            <a:off x="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4" name="矩形 3">
            <a:extLst>
              <a:ext uri="{FF2B5EF4-FFF2-40B4-BE49-F238E27FC236}">
                <a16:creationId xmlns:a16="http://schemas.microsoft.com/office/drawing/2014/main" id="{693EBCE8-68F8-75FC-FC5F-2954C3964530}"/>
              </a:ext>
            </a:extLst>
          </p:cNvPr>
          <p:cNvSpPr/>
          <p:nvPr/>
        </p:nvSpPr>
        <p:spPr>
          <a:xfrm>
            <a:off x="3394075" y="399838"/>
            <a:ext cx="4617860"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8.4 </a:t>
            </a:r>
            <a:r>
              <a:rPr lang="zh-CN" altLang="en-US" sz="3000" b="1" dirty="0">
                <a:latin typeface="黑体" pitchFamily="49" charset="-122"/>
                <a:ea typeface="黑体" pitchFamily="49" charset="-122"/>
                <a:cs typeface="经典粗黑简" pitchFamily="49" charset="-122"/>
              </a:rPr>
              <a:t>生成树和最小生成树</a:t>
            </a:r>
          </a:p>
        </p:txBody>
      </p:sp>
      <p:sp>
        <p:nvSpPr>
          <p:cNvPr id="5" name="Text Box 1026">
            <a:extLst>
              <a:ext uri="{FF2B5EF4-FFF2-40B4-BE49-F238E27FC236}">
                <a16:creationId xmlns:a16="http://schemas.microsoft.com/office/drawing/2014/main" id="{C1E7D5CE-6CCF-D44B-0D5F-EA258DB802B2}"/>
              </a:ext>
            </a:extLst>
          </p:cNvPr>
          <p:cNvSpPr txBox="1">
            <a:spLocks noChangeArrowheads="1"/>
          </p:cNvSpPr>
          <p:nvPr/>
        </p:nvSpPr>
        <p:spPr bwMode="auto">
          <a:xfrm>
            <a:off x="206350" y="2428562"/>
            <a:ext cx="7620000" cy="3228146"/>
          </a:xfrm>
          <a:prstGeom prst="rect">
            <a:avLst/>
          </a:prstGeom>
          <a:solidFill>
            <a:schemeClr val="bg1">
              <a:lumMod val="95000"/>
            </a:schemeClr>
          </a:solidFill>
          <a:ln>
            <a:noFill/>
            <a:headEnd/>
            <a:tailEnd/>
          </a:ln>
          <a:effectLst/>
          <a:scene3d>
            <a:camera prst="orthographicFront">
              <a:rot lat="0" lon="0" rev="0"/>
            </a:camera>
            <a:lightRig rig="chilly" dir="t">
              <a:rot lat="0" lon="0" rev="18480000"/>
            </a:lightRig>
          </a:scene3d>
          <a:sp3d prstMaterial="clear">
            <a:bevelT h="63500"/>
          </a:sp3d>
        </p:spPr>
        <p:style>
          <a:lnRef idx="1">
            <a:schemeClr val="accent3"/>
          </a:lnRef>
          <a:fillRef idx="2">
            <a:schemeClr val="accent3"/>
          </a:fillRef>
          <a:effectRef idx="1">
            <a:schemeClr val="accent3"/>
          </a:effectRef>
          <a:fontRef idx="minor">
            <a:schemeClr val="dk1"/>
          </a:fontRef>
        </p:style>
        <p:txBody>
          <a:bodyPr wrap="square" lIns="216000" tIns="180000" bIns="180000">
            <a:spAutoFit/>
          </a:bodyPr>
          <a:lstStyle/>
          <a:p>
            <a:pPr algn="l">
              <a:lnSpc>
                <a:spcPts val="2500"/>
              </a:lnSpc>
            </a:pPr>
            <a:r>
              <a:rPr kumimoji="1" lang="en-US" altLang="zh-CN" sz="1800" dirty="0">
                <a:solidFill>
                  <a:srgbClr val="0000FF"/>
                </a:solidFill>
                <a:latin typeface="Consolas" pitchFamily="49" charset="0"/>
                <a:ea typeface="仿宋" pitchFamily="49" charset="-122"/>
                <a:cs typeface="Consolas" pitchFamily="49" charset="0"/>
              </a:rPr>
              <a:t>#define INF 32767		</a:t>
            </a:r>
            <a:r>
              <a:rPr kumimoji="1" lang="en-US" altLang="zh-CN" sz="1800" dirty="0">
                <a:solidFill>
                  <a:srgbClr val="00B0F0"/>
                </a:solidFill>
                <a:latin typeface="Consolas" pitchFamily="49" charset="0"/>
                <a:ea typeface="仿宋" pitchFamily="49" charset="-122"/>
                <a:cs typeface="Consolas" pitchFamily="49" charset="0"/>
              </a:rPr>
              <a:t>//INF</a:t>
            </a:r>
            <a:r>
              <a:rPr kumimoji="1" lang="zh-CN" altLang="en-US" sz="1800" dirty="0">
                <a:solidFill>
                  <a:srgbClr val="00B0F0"/>
                </a:solidFill>
                <a:latin typeface="Consolas" pitchFamily="49" charset="0"/>
                <a:ea typeface="仿宋" pitchFamily="49" charset="-122"/>
                <a:cs typeface="Consolas" pitchFamily="49" charset="0"/>
              </a:rPr>
              <a:t>表示∞</a:t>
            </a:r>
          </a:p>
          <a:p>
            <a:pPr algn="l">
              <a:lnSpc>
                <a:spcPts val="2500"/>
              </a:lnSpc>
            </a:pPr>
            <a:r>
              <a:rPr kumimoji="1" lang="en-US" altLang="zh-CN" sz="1800">
                <a:solidFill>
                  <a:srgbClr val="0000FF"/>
                </a:solidFill>
                <a:latin typeface="Consolas" pitchFamily="49" charset="0"/>
                <a:ea typeface="仿宋" pitchFamily="49" charset="-122"/>
                <a:cs typeface="Consolas" pitchFamily="49" charset="0"/>
              </a:rPr>
              <a:t>void  </a:t>
            </a:r>
            <a:r>
              <a:rPr kumimoji="1" lang="en-US" altLang="zh-CN" sz="1800">
                <a:solidFill>
                  <a:srgbClr val="FF0000"/>
                </a:solidFill>
                <a:latin typeface="Consolas" pitchFamily="49" charset="0"/>
                <a:ea typeface="仿宋" pitchFamily="49" charset="-122"/>
                <a:cs typeface="Consolas" pitchFamily="49" charset="0"/>
              </a:rPr>
              <a:t>Prim</a:t>
            </a:r>
            <a:r>
              <a:rPr kumimoji="1" lang="en-US" altLang="zh-CN" sz="1800">
                <a:solidFill>
                  <a:srgbClr val="0000FF"/>
                </a:solidFill>
                <a:latin typeface="Consolas" pitchFamily="49" charset="0"/>
                <a:ea typeface="仿宋" pitchFamily="49" charset="-122"/>
                <a:cs typeface="Consolas" pitchFamily="49" charset="0"/>
              </a:rPr>
              <a:t>(MatGraph g</a:t>
            </a:r>
            <a:r>
              <a:rPr kumimoji="1" lang="zh-CN" altLang="en-US" sz="1800">
                <a:solidFill>
                  <a:srgbClr val="0000FF"/>
                </a:solidFill>
                <a:latin typeface="Consolas" pitchFamily="49" charset="0"/>
                <a:ea typeface="仿宋" pitchFamily="49" charset="-122"/>
                <a:cs typeface="Consolas" pitchFamily="49" charset="0"/>
              </a:rPr>
              <a:t>，</a:t>
            </a:r>
            <a:r>
              <a:rPr kumimoji="1" lang="en-US" altLang="zh-CN" sz="1800">
                <a:solidFill>
                  <a:srgbClr val="0000FF"/>
                </a:solidFill>
                <a:latin typeface="Consolas" pitchFamily="49" charset="0"/>
                <a:ea typeface="仿宋" pitchFamily="49" charset="-122"/>
                <a:cs typeface="Consolas" pitchFamily="49" charset="0"/>
              </a:rPr>
              <a:t>int </a:t>
            </a:r>
            <a:r>
              <a:rPr kumimoji="1" lang="en-US" altLang="zh-CN" sz="1800" dirty="0">
                <a:solidFill>
                  <a:srgbClr val="0000FF"/>
                </a:solidFill>
                <a:latin typeface="Consolas" pitchFamily="49" charset="0"/>
                <a:ea typeface="仿宋" pitchFamily="49" charset="-122"/>
                <a:cs typeface="Consolas" pitchFamily="49" charset="0"/>
              </a:rPr>
              <a:t>v)</a:t>
            </a:r>
          </a:p>
          <a:p>
            <a:pPr algn="l">
              <a:lnSpc>
                <a:spcPts val="2500"/>
              </a:lnSpc>
            </a:pPr>
            <a:r>
              <a:rPr kumimoji="1" lang="en-US" altLang="zh-CN" sz="1800">
                <a:solidFill>
                  <a:srgbClr val="0000FF"/>
                </a:solidFill>
                <a:latin typeface="Consolas" pitchFamily="49" charset="0"/>
                <a:ea typeface="仿宋" pitchFamily="49" charset="-122"/>
                <a:cs typeface="Consolas" pitchFamily="49" charset="0"/>
              </a:rPr>
              <a:t>{  int </a:t>
            </a:r>
            <a:r>
              <a:rPr kumimoji="1" lang="en-US" altLang="zh-CN" sz="1800" dirty="0" err="1">
                <a:solidFill>
                  <a:srgbClr val="FF00FF"/>
                </a:solidFill>
                <a:latin typeface="Consolas" pitchFamily="49" charset="0"/>
                <a:ea typeface="仿宋" pitchFamily="49" charset="-122"/>
                <a:cs typeface="Consolas" pitchFamily="49" charset="0"/>
              </a:rPr>
              <a:t>lowcost</a:t>
            </a:r>
            <a:r>
              <a:rPr kumimoji="1" lang="en-US" altLang="zh-CN" sz="1800" dirty="0">
                <a:solidFill>
                  <a:srgbClr val="FF00FF"/>
                </a:solidFill>
                <a:latin typeface="Consolas" pitchFamily="49" charset="0"/>
                <a:ea typeface="仿宋" pitchFamily="49" charset="-122"/>
                <a:cs typeface="Consolas" pitchFamily="49" charset="0"/>
              </a:rPr>
              <a:t>[</a:t>
            </a:r>
            <a:r>
              <a:rPr kumimoji="1" lang="en-US" altLang="zh-CN" sz="1800" dirty="0" err="1">
                <a:solidFill>
                  <a:srgbClr val="FF00FF"/>
                </a:solidFill>
                <a:latin typeface="Consolas" pitchFamily="49" charset="0"/>
                <a:ea typeface="仿宋" pitchFamily="49" charset="-122"/>
                <a:cs typeface="Consolas" pitchFamily="49" charset="0"/>
              </a:rPr>
              <a:t>MAXV</a:t>
            </a:r>
            <a:r>
              <a:rPr kumimoji="1" lang="en-US" altLang="zh-CN" sz="1800" dirty="0">
                <a:solidFill>
                  <a:srgbClr val="FF00FF"/>
                </a:solidFill>
                <a:latin typeface="Consolas" pitchFamily="49" charset="0"/>
                <a:ea typeface="仿宋" pitchFamily="49" charset="-122"/>
                <a:cs typeface="Consolas" pitchFamily="49" charset="0"/>
              </a:rPr>
              <a:t>]</a:t>
            </a:r>
            <a:r>
              <a:rPr kumimoji="1" lang="en-US" altLang="zh-CN" sz="1800" dirty="0">
                <a:solidFill>
                  <a:srgbClr val="0000FF"/>
                </a:solidFill>
                <a:latin typeface="Consolas" pitchFamily="49" charset="0"/>
                <a:ea typeface="仿宋" pitchFamily="49" charset="-122"/>
                <a:cs typeface="Consolas" pitchFamily="49" charset="0"/>
              </a:rPr>
              <a:t>;</a:t>
            </a:r>
          </a:p>
          <a:p>
            <a:pPr algn="l">
              <a:lnSpc>
                <a:spcPts val="2500"/>
              </a:lnSpc>
            </a:pPr>
            <a:r>
              <a:rPr kumimoji="1" lang="en-US" altLang="zh-CN" sz="1800">
                <a:solidFill>
                  <a:srgbClr val="0000FF"/>
                </a:solidFill>
                <a:latin typeface="Consolas" pitchFamily="49" charset="0"/>
                <a:ea typeface="仿宋" pitchFamily="49" charset="-122"/>
                <a:cs typeface="Consolas" pitchFamily="49" charset="0"/>
              </a:rPr>
              <a:t>   int </a:t>
            </a:r>
            <a:r>
              <a:rPr kumimoji="1" lang="en-US" altLang="zh-CN" sz="1800" dirty="0">
                <a:solidFill>
                  <a:srgbClr val="0000FF"/>
                </a:solidFill>
                <a:latin typeface="Consolas" pitchFamily="49" charset="0"/>
                <a:ea typeface="仿宋" pitchFamily="49" charset="-122"/>
                <a:cs typeface="Consolas" pitchFamily="49" charset="0"/>
              </a:rPr>
              <a:t>min;</a:t>
            </a:r>
          </a:p>
          <a:p>
            <a:pPr algn="l">
              <a:lnSpc>
                <a:spcPts val="2500"/>
              </a:lnSpc>
            </a:pPr>
            <a:r>
              <a:rPr kumimoji="1" lang="en-US" altLang="zh-CN" sz="1800">
                <a:solidFill>
                  <a:srgbClr val="0000FF"/>
                </a:solidFill>
                <a:latin typeface="Consolas" pitchFamily="49" charset="0"/>
                <a:ea typeface="仿宋" pitchFamily="49" charset="-122"/>
                <a:cs typeface="Consolas" pitchFamily="49" charset="0"/>
              </a:rPr>
              <a:t>   int </a:t>
            </a:r>
            <a:r>
              <a:rPr kumimoji="1" lang="en-US" altLang="zh-CN" sz="1800">
                <a:solidFill>
                  <a:srgbClr val="FF00FF"/>
                </a:solidFill>
                <a:latin typeface="Consolas" pitchFamily="49" charset="0"/>
                <a:ea typeface="仿宋" pitchFamily="49" charset="-122"/>
                <a:cs typeface="Consolas" pitchFamily="49" charset="0"/>
              </a:rPr>
              <a:t>closest[</a:t>
            </a:r>
            <a:r>
              <a:rPr kumimoji="1" lang="en-US" altLang="zh-CN" sz="1800" err="1">
                <a:solidFill>
                  <a:srgbClr val="FF00FF"/>
                </a:solidFill>
                <a:latin typeface="Consolas" pitchFamily="49" charset="0"/>
                <a:ea typeface="仿宋" pitchFamily="49" charset="-122"/>
                <a:cs typeface="Consolas" pitchFamily="49" charset="0"/>
              </a:rPr>
              <a:t>MAXV</a:t>
            </a:r>
            <a:r>
              <a:rPr kumimoji="1" lang="en-US" altLang="zh-CN" sz="1800">
                <a:solidFill>
                  <a:srgbClr val="FF00FF"/>
                </a:solidFill>
                <a:latin typeface="Consolas" pitchFamily="49" charset="0"/>
                <a:ea typeface="仿宋" pitchFamily="49" charset="-122"/>
                <a:cs typeface="Consolas" pitchFamily="49" charset="0"/>
              </a:rPr>
              <a:t>]</a:t>
            </a:r>
            <a:r>
              <a:rPr kumimoji="1" lang="zh-CN" altLang="en-US" sz="1800">
                <a:solidFill>
                  <a:srgbClr val="0000FF"/>
                </a:solidFill>
                <a:latin typeface="Consolas" pitchFamily="49" charset="0"/>
                <a:ea typeface="仿宋" pitchFamily="49" charset="-122"/>
                <a:cs typeface="Consolas" pitchFamily="49" charset="0"/>
              </a:rPr>
              <a:t>，</a:t>
            </a:r>
            <a:r>
              <a:rPr kumimoji="1" lang="en-US" altLang="zh-CN" sz="1800">
                <a:solidFill>
                  <a:srgbClr val="0000FF"/>
                </a:solidFill>
                <a:latin typeface="Consolas" pitchFamily="49" charset="0"/>
                <a:ea typeface="仿宋" pitchFamily="49" charset="-122"/>
                <a:cs typeface="Consolas" pitchFamily="49" charset="0"/>
              </a:rPr>
              <a:t>i</a:t>
            </a:r>
            <a:r>
              <a:rPr kumimoji="1" lang="zh-CN" altLang="en-US" sz="1800">
                <a:solidFill>
                  <a:srgbClr val="0000FF"/>
                </a:solidFill>
                <a:latin typeface="Consolas" pitchFamily="49" charset="0"/>
                <a:ea typeface="仿宋" pitchFamily="49" charset="-122"/>
                <a:cs typeface="Consolas" pitchFamily="49" charset="0"/>
              </a:rPr>
              <a:t>，</a:t>
            </a:r>
            <a:r>
              <a:rPr kumimoji="1" lang="en-US" altLang="zh-CN" sz="1800">
                <a:solidFill>
                  <a:srgbClr val="0000FF"/>
                </a:solidFill>
                <a:latin typeface="Consolas" pitchFamily="49" charset="0"/>
                <a:ea typeface="仿宋" pitchFamily="49" charset="-122"/>
                <a:cs typeface="Consolas" pitchFamily="49" charset="0"/>
              </a:rPr>
              <a:t>j</a:t>
            </a:r>
            <a:r>
              <a:rPr kumimoji="1" lang="zh-CN" altLang="en-US" sz="1800">
                <a:solidFill>
                  <a:srgbClr val="0000FF"/>
                </a:solidFill>
                <a:latin typeface="Consolas" pitchFamily="49" charset="0"/>
                <a:ea typeface="仿宋" pitchFamily="49" charset="-122"/>
                <a:cs typeface="Consolas" pitchFamily="49" charset="0"/>
              </a:rPr>
              <a:t>，</a:t>
            </a:r>
            <a:r>
              <a:rPr kumimoji="1" lang="en-US" altLang="zh-CN" sz="1800">
                <a:solidFill>
                  <a:srgbClr val="0000FF"/>
                </a:solidFill>
                <a:latin typeface="Consolas" pitchFamily="49" charset="0"/>
                <a:ea typeface="仿宋" pitchFamily="49" charset="-122"/>
                <a:cs typeface="Consolas" pitchFamily="49" charset="0"/>
              </a:rPr>
              <a:t>k</a:t>
            </a:r>
            <a:r>
              <a:rPr kumimoji="1" lang="en-US" altLang="zh-CN" sz="1800" dirty="0">
                <a:solidFill>
                  <a:srgbClr val="0000FF"/>
                </a:solidFill>
                <a:latin typeface="Consolas" pitchFamily="49" charset="0"/>
                <a:ea typeface="仿宋" pitchFamily="49" charset="-122"/>
                <a:cs typeface="Consolas" pitchFamily="49" charset="0"/>
              </a:rPr>
              <a:t>;</a:t>
            </a:r>
          </a:p>
          <a:p>
            <a:pPr algn="l">
              <a:lnSpc>
                <a:spcPts val="2500"/>
              </a:lnSpc>
            </a:pPr>
            <a:r>
              <a:rPr kumimoji="1" lang="en-US" altLang="zh-CN" sz="1800">
                <a:solidFill>
                  <a:srgbClr val="0000FF"/>
                </a:solidFill>
                <a:latin typeface="Consolas" pitchFamily="49" charset="0"/>
                <a:ea typeface="仿宋" pitchFamily="49" charset="-122"/>
                <a:cs typeface="Consolas" pitchFamily="49" charset="0"/>
              </a:rPr>
              <a:t>   for </a:t>
            </a:r>
            <a:r>
              <a:rPr kumimoji="1" lang="en-US" altLang="zh-CN" sz="1800" dirty="0">
                <a:solidFill>
                  <a:srgbClr val="0000FF"/>
                </a:solidFill>
                <a:latin typeface="Consolas" pitchFamily="49" charset="0"/>
                <a:ea typeface="仿宋" pitchFamily="49" charset="-122"/>
                <a:cs typeface="Consolas" pitchFamily="49" charset="0"/>
              </a:rPr>
              <a:t>(</a:t>
            </a:r>
            <a:r>
              <a:rPr kumimoji="1" lang="en-US" altLang="zh-CN" sz="1800" dirty="0" err="1">
                <a:solidFill>
                  <a:srgbClr val="0000FF"/>
                </a:solidFill>
                <a:latin typeface="Consolas" pitchFamily="49" charset="0"/>
                <a:ea typeface="仿宋" pitchFamily="49" charset="-122"/>
                <a:cs typeface="Consolas" pitchFamily="49" charset="0"/>
              </a:rPr>
              <a:t>i</a:t>
            </a:r>
            <a:r>
              <a:rPr kumimoji="1" lang="en-US" altLang="zh-CN" sz="1800" dirty="0">
                <a:solidFill>
                  <a:srgbClr val="0000FF"/>
                </a:solidFill>
                <a:latin typeface="Consolas" pitchFamily="49" charset="0"/>
                <a:ea typeface="仿宋" pitchFamily="49" charset="-122"/>
                <a:cs typeface="Consolas" pitchFamily="49" charset="0"/>
              </a:rPr>
              <a:t>=</a:t>
            </a:r>
            <a:r>
              <a:rPr kumimoji="1" lang="en-US" altLang="zh-CN" sz="1800" dirty="0" err="1">
                <a:solidFill>
                  <a:srgbClr val="0000FF"/>
                </a:solidFill>
                <a:latin typeface="Consolas" pitchFamily="49" charset="0"/>
                <a:ea typeface="仿宋" pitchFamily="49" charset="-122"/>
                <a:cs typeface="Consolas" pitchFamily="49" charset="0"/>
              </a:rPr>
              <a:t>0;i</a:t>
            </a:r>
            <a:r>
              <a:rPr kumimoji="1" lang="en-US" altLang="zh-CN" sz="1800" dirty="0">
                <a:solidFill>
                  <a:srgbClr val="0000FF"/>
                </a:solidFill>
                <a:latin typeface="Consolas" pitchFamily="49" charset="0"/>
                <a:ea typeface="仿宋" pitchFamily="49" charset="-122"/>
                <a:cs typeface="Consolas" pitchFamily="49" charset="0"/>
              </a:rPr>
              <a:t>&lt;</a:t>
            </a:r>
            <a:r>
              <a:rPr kumimoji="1" lang="en-US" altLang="zh-CN" sz="1800" dirty="0" err="1">
                <a:solidFill>
                  <a:srgbClr val="0000FF"/>
                </a:solidFill>
                <a:latin typeface="Consolas" pitchFamily="49" charset="0"/>
                <a:ea typeface="仿宋" pitchFamily="49" charset="-122"/>
                <a:cs typeface="Consolas" pitchFamily="49" charset="0"/>
              </a:rPr>
              <a:t>g.n;i</a:t>
            </a:r>
            <a:r>
              <a:rPr kumimoji="1" lang="en-US" altLang="zh-CN" sz="1800" dirty="0">
                <a:solidFill>
                  <a:srgbClr val="0000FF"/>
                </a:solidFill>
                <a:latin typeface="Consolas" pitchFamily="49" charset="0"/>
                <a:ea typeface="仿宋" pitchFamily="49" charset="-122"/>
                <a:cs typeface="Consolas" pitchFamily="49" charset="0"/>
              </a:rPr>
              <a:t>++)</a:t>
            </a:r>
            <a:r>
              <a:rPr kumimoji="1" lang="en-US" altLang="zh-CN" sz="1800">
                <a:solidFill>
                  <a:srgbClr val="0000FF"/>
                </a:solidFill>
                <a:latin typeface="Consolas" pitchFamily="49" charset="0"/>
                <a:ea typeface="仿宋" pitchFamily="49" charset="-122"/>
                <a:cs typeface="Consolas" pitchFamily="49" charset="0"/>
              </a:rPr>
              <a:t>	</a:t>
            </a:r>
            <a:r>
              <a:rPr kumimoji="1" lang="en-US" altLang="zh-CN" sz="1800">
                <a:solidFill>
                  <a:srgbClr val="00B0F0"/>
                </a:solidFill>
                <a:latin typeface="Consolas" pitchFamily="49" charset="0"/>
                <a:ea typeface="仿宋" pitchFamily="49" charset="-122"/>
                <a:cs typeface="Consolas" pitchFamily="49" charset="0"/>
              </a:rPr>
              <a:t>//</a:t>
            </a:r>
            <a:r>
              <a:rPr kumimoji="1" lang="zh-CN" altLang="en-US" sz="1800" dirty="0">
                <a:solidFill>
                  <a:srgbClr val="00B0F0"/>
                </a:solidFill>
                <a:latin typeface="Consolas" pitchFamily="49" charset="0"/>
                <a:ea typeface="仿宋" pitchFamily="49" charset="-122"/>
                <a:cs typeface="Consolas" pitchFamily="49" charset="0"/>
              </a:rPr>
              <a:t>给</a:t>
            </a:r>
            <a:r>
              <a:rPr kumimoji="1" lang="en-US" altLang="zh-CN" sz="1800" dirty="0" err="1">
                <a:solidFill>
                  <a:srgbClr val="00B0F0"/>
                </a:solidFill>
                <a:latin typeface="Consolas" pitchFamily="49" charset="0"/>
                <a:ea typeface="仿宋" pitchFamily="49" charset="-122"/>
                <a:cs typeface="Consolas" pitchFamily="49" charset="0"/>
              </a:rPr>
              <a:t>lowcost</a:t>
            </a:r>
            <a:r>
              <a:rPr kumimoji="1" lang="en-US" altLang="zh-CN" sz="1800" dirty="0">
                <a:solidFill>
                  <a:srgbClr val="00B0F0"/>
                </a:solidFill>
                <a:latin typeface="Consolas" pitchFamily="49" charset="0"/>
                <a:ea typeface="仿宋" pitchFamily="49" charset="-122"/>
                <a:cs typeface="Consolas" pitchFamily="49" charset="0"/>
              </a:rPr>
              <a:t>[]</a:t>
            </a:r>
            <a:r>
              <a:rPr kumimoji="1" lang="zh-CN" altLang="en-US" sz="1800" dirty="0">
                <a:solidFill>
                  <a:srgbClr val="00B0F0"/>
                </a:solidFill>
                <a:latin typeface="Consolas" pitchFamily="49" charset="0"/>
                <a:ea typeface="仿宋" pitchFamily="49" charset="-122"/>
                <a:cs typeface="Consolas" pitchFamily="49" charset="0"/>
              </a:rPr>
              <a:t>和</a:t>
            </a:r>
            <a:r>
              <a:rPr kumimoji="1" lang="en-US" altLang="zh-CN" sz="1800" dirty="0">
                <a:solidFill>
                  <a:srgbClr val="00B0F0"/>
                </a:solidFill>
                <a:latin typeface="Consolas" pitchFamily="49" charset="0"/>
                <a:ea typeface="仿宋" pitchFamily="49" charset="-122"/>
                <a:cs typeface="Consolas" pitchFamily="49" charset="0"/>
              </a:rPr>
              <a:t>closest[]</a:t>
            </a:r>
            <a:r>
              <a:rPr kumimoji="1" lang="zh-CN" altLang="en-US" sz="1800" dirty="0">
                <a:solidFill>
                  <a:srgbClr val="00B0F0"/>
                </a:solidFill>
                <a:latin typeface="Consolas" pitchFamily="49" charset="0"/>
                <a:ea typeface="仿宋" pitchFamily="49" charset="-122"/>
                <a:cs typeface="Consolas" pitchFamily="49" charset="0"/>
              </a:rPr>
              <a:t>置初值</a:t>
            </a:r>
          </a:p>
          <a:p>
            <a:pPr algn="l">
              <a:lnSpc>
                <a:spcPts val="2500"/>
              </a:lnSpc>
            </a:pPr>
            <a:r>
              <a:rPr kumimoji="1" lang="zh-CN" altLang="en-US" sz="1800">
                <a:solidFill>
                  <a:srgbClr val="0000FF"/>
                </a:solidFill>
                <a:latin typeface="Consolas" pitchFamily="49" charset="0"/>
                <a:ea typeface="仿宋" pitchFamily="49" charset="-122"/>
                <a:cs typeface="Consolas" pitchFamily="49" charset="0"/>
              </a:rPr>
              <a:t>   </a:t>
            </a:r>
            <a:r>
              <a:rPr kumimoji="1" lang="en-US" altLang="zh-CN" sz="1800">
                <a:solidFill>
                  <a:srgbClr val="0000FF"/>
                </a:solidFill>
                <a:latin typeface="Consolas" pitchFamily="49" charset="0"/>
                <a:ea typeface="仿宋" pitchFamily="49" charset="-122"/>
                <a:cs typeface="Consolas" pitchFamily="49" charset="0"/>
              </a:rPr>
              <a:t>{</a:t>
            </a:r>
            <a:r>
              <a:rPr kumimoji="1" lang="en-US" altLang="zh-CN" sz="1800" dirty="0">
                <a:solidFill>
                  <a:srgbClr val="0000FF"/>
                </a:solidFill>
                <a:latin typeface="Consolas" pitchFamily="49" charset="0"/>
                <a:ea typeface="仿宋" pitchFamily="49" charset="-122"/>
                <a:cs typeface="Consolas" pitchFamily="49" charset="0"/>
              </a:rPr>
              <a:t>	</a:t>
            </a:r>
            <a:r>
              <a:rPr kumimoji="1" lang="en-US" altLang="zh-CN" sz="1800" dirty="0" err="1">
                <a:solidFill>
                  <a:srgbClr val="0000FF"/>
                </a:solidFill>
                <a:latin typeface="Consolas" pitchFamily="49" charset="0"/>
                <a:ea typeface="仿宋" pitchFamily="49" charset="-122"/>
                <a:cs typeface="Consolas" pitchFamily="49" charset="0"/>
              </a:rPr>
              <a:t>lowcost</a:t>
            </a:r>
            <a:r>
              <a:rPr kumimoji="1" lang="en-US" altLang="zh-CN" sz="1800" dirty="0">
                <a:solidFill>
                  <a:srgbClr val="0000FF"/>
                </a:solidFill>
                <a:latin typeface="Consolas" pitchFamily="49" charset="0"/>
                <a:ea typeface="仿宋" pitchFamily="49" charset="-122"/>
                <a:cs typeface="Consolas" pitchFamily="49" charset="0"/>
              </a:rPr>
              <a:t>[</a:t>
            </a:r>
            <a:r>
              <a:rPr kumimoji="1" lang="en-US" altLang="zh-CN" sz="1800" dirty="0" err="1">
                <a:solidFill>
                  <a:srgbClr val="0000FF"/>
                </a:solidFill>
                <a:latin typeface="Consolas" pitchFamily="49" charset="0"/>
                <a:ea typeface="仿宋" pitchFamily="49" charset="-122"/>
                <a:cs typeface="Consolas" pitchFamily="49" charset="0"/>
              </a:rPr>
              <a:t>i</a:t>
            </a:r>
            <a:r>
              <a:rPr kumimoji="1" lang="en-US" altLang="zh-CN" sz="1800" dirty="0">
                <a:solidFill>
                  <a:srgbClr val="0000FF"/>
                </a:solidFill>
                <a:latin typeface="Consolas" pitchFamily="49" charset="0"/>
                <a:ea typeface="仿宋" pitchFamily="49" charset="-122"/>
                <a:cs typeface="Consolas" pitchFamily="49" charset="0"/>
              </a:rPr>
              <a:t>]=</a:t>
            </a:r>
            <a:r>
              <a:rPr kumimoji="1" lang="en-US" altLang="zh-CN" sz="1800" dirty="0" err="1">
                <a:solidFill>
                  <a:srgbClr val="0000FF"/>
                </a:solidFill>
                <a:latin typeface="Consolas" pitchFamily="49" charset="0"/>
                <a:ea typeface="仿宋" pitchFamily="49" charset="-122"/>
                <a:cs typeface="Consolas" pitchFamily="49" charset="0"/>
              </a:rPr>
              <a:t>g.edges</a:t>
            </a:r>
            <a:r>
              <a:rPr kumimoji="1" lang="en-US" altLang="zh-CN" sz="1800" dirty="0">
                <a:solidFill>
                  <a:srgbClr val="0000FF"/>
                </a:solidFill>
                <a:latin typeface="Consolas" pitchFamily="49" charset="0"/>
                <a:ea typeface="仿宋" pitchFamily="49" charset="-122"/>
                <a:cs typeface="Consolas" pitchFamily="49" charset="0"/>
              </a:rPr>
              <a:t>[v][</a:t>
            </a:r>
            <a:r>
              <a:rPr kumimoji="1" lang="en-US" altLang="zh-CN" sz="1800" dirty="0" err="1">
                <a:solidFill>
                  <a:srgbClr val="0000FF"/>
                </a:solidFill>
                <a:latin typeface="Consolas" pitchFamily="49" charset="0"/>
                <a:ea typeface="仿宋" pitchFamily="49" charset="-122"/>
                <a:cs typeface="Consolas" pitchFamily="49" charset="0"/>
              </a:rPr>
              <a:t>i</a:t>
            </a:r>
            <a:r>
              <a:rPr kumimoji="1" lang="en-US" altLang="zh-CN" sz="1800" dirty="0">
                <a:solidFill>
                  <a:srgbClr val="0000FF"/>
                </a:solidFill>
                <a:latin typeface="Consolas" pitchFamily="49" charset="0"/>
                <a:ea typeface="仿宋" pitchFamily="49" charset="-122"/>
                <a:cs typeface="Consolas" pitchFamily="49" charset="0"/>
              </a:rPr>
              <a:t>];</a:t>
            </a:r>
          </a:p>
          <a:p>
            <a:pPr algn="l">
              <a:lnSpc>
                <a:spcPts val="2500"/>
              </a:lnSpc>
            </a:pPr>
            <a:r>
              <a:rPr kumimoji="1" lang="en-US" altLang="zh-CN" sz="1800" dirty="0">
                <a:solidFill>
                  <a:srgbClr val="0000FF"/>
                </a:solidFill>
                <a:latin typeface="Consolas" pitchFamily="49" charset="0"/>
                <a:ea typeface="仿宋" pitchFamily="49" charset="-122"/>
                <a:cs typeface="Consolas" pitchFamily="49" charset="0"/>
              </a:rPr>
              <a:t>	closest[</a:t>
            </a:r>
            <a:r>
              <a:rPr kumimoji="1" lang="en-US" altLang="zh-CN" sz="1800" dirty="0" err="1">
                <a:solidFill>
                  <a:srgbClr val="0000FF"/>
                </a:solidFill>
                <a:latin typeface="Consolas" pitchFamily="49" charset="0"/>
                <a:ea typeface="仿宋" pitchFamily="49" charset="-122"/>
                <a:cs typeface="Consolas" pitchFamily="49" charset="0"/>
              </a:rPr>
              <a:t>i</a:t>
            </a:r>
            <a:r>
              <a:rPr kumimoji="1" lang="en-US" altLang="zh-CN" sz="1800" dirty="0">
                <a:solidFill>
                  <a:srgbClr val="0000FF"/>
                </a:solidFill>
                <a:latin typeface="Consolas" pitchFamily="49" charset="0"/>
                <a:ea typeface="仿宋" pitchFamily="49" charset="-122"/>
                <a:cs typeface="Consolas" pitchFamily="49" charset="0"/>
              </a:rPr>
              <a:t>]=v;</a:t>
            </a:r>
          </a:p>
          <a:p>
            <a:pPr algn="l">
              <a:lnSpc>
                <a:spcPts val="2500"/>
              </a:lnSpc>
            </a:pPr>
            <a:r>
              <a:rPr kumimoji="1" lang="en-US" altLang="zh-CN" sz="1800">
                <a:solidFill>
                  <a:srgbClr val="0000FF"/>
                </a:solidFill>
                <a:latin typeface="Consolas" pitchFamily="49" charset="0"/>
                <a:ea typeface="仿宋" pitchFamily="49" charset="-122"/>
                <a:cs typeface="Consolas" pitchFamily="49" charset="0"/>
              </a:rPr>
              <a:t>   }</a:t>
            </a:r>
            <a:endParaRPr kumimoji="1" lang="en-US" altLang="zh-CN" sz="1800" dirty="0">
              <a:solidFill>
                <a:srgbClr val="0000FF"/>
              </a:solidFill>
              <a:latin typeface="Consolas" pitchFamily="49" charset="0"/>
              <a:ea typeface="仿宋" pitchFamily="49" charset="-122"/>
              <a:cs typeface="Consolas" pitchFamily="49" charset="0"/>
            </a:endParaRPr>
          </a:p>
        </p:txBody>
      </p:sp>
      <p:sp>
        <p:nvSpPr>
          <p:cNvPr id="12" name="Text Box 1047">
            <a:extLst>
              <a:ext uri="{FF2B5EF4-FFF2-40B4-BE49-F238E27FC236}">
                <a16:creationId xmlns:a16="http://schemas.microsoft.com/office/drawing/2014/main" id="{B2547E9C-43EB-236D-6A42-2D367A7833EC}"/>
              </a:ext>
            </a:extLst>
          </p:cNvPr>
          <p:cNvSpPr txBox="1">
            <a:spLocks noChangeArrowheads="1"/>
          </p:cNvSpPr>
          <p:nvPr/>
        </p:nvSpPr>
        <p:spPr bwMode="auto">
          <a:xfrm>
            <a:off x="1375193" y="1869402"/>
            <a:ext cx="4824412" cy="400110"/>
          </a:xfrm>
          <a:prstGeom prst="rect">
            <a:avLst/>
          </a:prstGeom>
          <a:noFill/>
          <a:ln w="19050" algn="ctr">
            <a:noFill/>
            <a:miter lim="800000"/>
            <a:headEnd/>
            <a:tailEnd type="none" w="med" len="lg"/>
          </a:ln>
          <a:effectLst/>
        </p:spPr>
        <p:txBody>
          <a:bodyPr>
            <a:spAutoFit/>
          </a:bodyPr>
          <a:lstStyle/>
          <a:p>
            <a:pPr algn="l">
              <a:spcBef>
                <a:spcPct val="50000"/>
              </a:spcBef>
            </a:pPr>
            <a:r>
              <a:rPr kumimoji="1" lang="zh-CN" altLang="en-US" sz="2000" dirty="0">
                <a:latin typeface="Consolas" pitchFamily="49" charset="0"/>
                <a:ea typeface="楷体" pitchFamily="49" charset="-122"/>
                <a:cs typeface="Consolas" pitchFamily="49" charset="0"/>
              </a:rPr>
              <a:t>普里姆（</a:t>
            </a:r>
            <a:r>
              <a:rPr kumimoji="1" lang="en-US" altLang="zh-CN" sz="2000" dirty="0">
                <a:latin typeface="Consolas" pitchFamily="49" charset="0"/>
                <a:ea typeface="楷体" pitchFamily="49" charset="-122"/>
                <a:cs typeface="Consolas" pitchFamily="49" charset="0"/>
              </a:rPr>
              <a:t>Prim</a:t>
            </a:r>
            <a:r>
              <a:rPr kumimoji="1" lang="zh-CN" altLang="en-US" sz="2000" dirty="0">
                <a:latin typeface="Consolas" pitchFamily="49" charset="0"/>
                <a:ea typeface="楷体" pitchFamily="49" charset="-122"/>
                <a:cs typeface="Consolas" pitchFamily="49" charset="0"/>
              </a:rPr>
              <a:t>）算法如下：</a:t>
            </a:r>
            <a:endParaRPr lang="zh-CN" altLang="en-US" sz="2000" dirty="0">
              <a:latin typeface="Consolas" pitchFamily="49" charset="0"/>
              <a:ea typeface="楷体" pitchFamily="49" charset="-122"/>
              <a:cs typeface="Consolas" pitchFamily="49" charset="0"/>
            </a:endParaRPr>
          </a:p>
        </p:txBody>
      </p:sp>
      <p:grpSp>
        <p:nvGrpSpPr>
          <p:cNvPr id="33" name="组合 20">
            <a:extLst>
              <a:ext uri="{FF2B5EF4-FFF2-40B4-BE49-F238E27FC236}">
                <a16:creationId xmlns:a16="http://schemas.microsoft.com/office/drawing/2014/main" id="{8AF7E607-F0CA-876C-D045-D5337B1B1432}"/>
              </a:ext>
            </a:extLst>
          </p:cNvPr>
          <p:cNvGrpSpPr/>
          <p:nvPr/>
        </p:nvGrpSpPr>
        <p:grpSpPr>
          <a:xfrm>
            <a:off x="8428537" y="2303958"/>
            <a:ext cx="3313113" cy="1851442"/>
            <a:chOff x="2116143" y="3733815"/>
            <a:chExt cx="3313113" cy="1851442"/>
          </a:xfrm>
        </p:grpSpPr>
        <p:sp>
          <p:nvSpPr>
            <p:cNvPr id="38" name="Oval 1031">
              <a:extLst>
                <a:ext uri="{FF2B5EF4-FFF2-40B4-BE49-F238E27FC236}">
                  <a16:creationId xmlns:a16="http://schemas.microsoft.com/office/drawing/2014/main" id="{5E050F36-303A-84EA-D896-94ACE1E7F2C2}"/>
                </a:ext>
              </a:extLst>
            </p:cNvPr>
            <p:cNvSpPr>
              <a:spLocks noChangeArrowheads="1"/>
            </p:cNvSpPr>
            <p:nvPr/>
          </p:nvSpPr>
          <p:spPr bwMode="auto">
            <a:xfrm>
              <a:off x="4276731" y="4092590"/>
              <a:ext cx="1152525" cy="1368425"/>
            </a:xfrm>
            <a:prstGeom prst="ellipse">
              <a:avLst/>
            </a:prstGeom>
            <a:solidFill>
              <a:schemeClr val="accent3">
                <a:lumMod val="60000"/>
                <a:lumOff val="40000"/>
                <a:alpha val="63000"/>
              </a:schemeClr>
            </a:solidFill>
            <a:ln w="19050" algn="ctr">
              <a:solidFill>
                <a:srgbClr val="3333FF"/>
              </a:solidFill>
              <a:round/>
              <a:headEnd/>
              <a:tailEnd type="none" w="med" len="lg"/>
            </a:ln>
            <a:effectLst/>
          </p:spPr>
          <p:txBody>
            <a:bodyPr wrap="none" anchor="ctr"/>
            <a:lstStyle/>
            <a:p>
              <a:endParaRPr lang="zh-CN" altLang="en-US" sz="1800">
                <a:latin typeface="Consolas" pitchFamily="49" charset="0"/>
                <a:cs typeface="Consolas" pitchFamily="49" charset="0"/>
              </a:endParaRPr>
            </a:p>
          </p:txBody>
        </p:sp>
        <p:sp>
          <p:nvSpPr>
            <p:cNvPr id="39" name="Oval 1029">
              <a:extLst>
                <a:ext uri="{FF2B5EF4-FFF2-40B4-BE49-F238E27FC236}">
                  <a16:creationId xmlns:a16="http://schemas.microsoft.com/office/drawing/2014/main" id="{7D1BF660-1B77-38CE-DCAF-1F7065A023BE}"/>
                </a:ext>
              </a:extLst>
            </p:cNvPr>
            <p:cNvSpPr>
              <a:spLocks noChangeArrowheads="1"/>
            </p:cNvSpPr>
            <p:nvPr/>
          </p:nvSpPr>
          <p:spPr bwMode="auto">
            <a:xfrm>
              <a:off x="4638681" y="4597415"/>
              <a:ext cx="431800" cy="431800"/>
            </a:xfrm>
            <a:prstGeom prst="ellipse">
              <a:avLst/>
            </a:prstGeom>
            <a:solidFill>
              <a:srgbClr val="FFC000"/>
            </a:solidFill>
            <a:ln w="19050" algn="ctr">
              <a:solidFill>
                <a:srgbClr val="3333FF"/>
              </a:solidFill>
              <a:round/>
              <a:headEnd/>
              <a:tailEnd type="none" w="med" len="lg"/>
            </a:ln>
            <a:effectLst/>
          </p:spPr>
          <p:txBody>
            <a:bodyPr wrap="none" anchor="ctr"/>
            <a:lstStyle/>
            <a:p>
              <a:r>
                <a:rPr lang="en-US" altLang="zh-CN" sz="1800" i="1">
                  <a:solidFill>
                    <a:srgbClr val="0000FF"/>
                  </a:solidFill>
                  <a:latin typeface="Consolas" pitchFamily="49" charset="0"/>
                  <a:ea typeface="宋体" pitchFamily="2" charset="-122"/>
                  <a:cs typeface="Consolas" pitchFamily="49" charset="0"/>
                </a:rPr>
                <a:t>i</a:t>
              </a:r>
              <a:endParaRPr lang="en-US" altLang="zh-CN" sz="1800" i="1" baseline="-25000">
                <a:solidFill>
                  <a:srgbClr val="0000FF"/>
                </a:solidFill>
                <a:latin typeface="Consolas" pitchFamily="49" charset="0"/>
                <a:ea typeface="宋体" pitchFamily="2" charset="-122"/>
                <a:cs typeface="Consolas" pitchFamily="49" charset="0"/>
              </a:endParaRPr>
            </a:p>
          </p:txBody>
        </p:sp>
        <p:sp>
          <p:nvSpPr>
            <p:cNvPr id="40" name="Oval 1030">
              <a:extLst>
                <a:ext uri="{FF2B5EF4-FFF2-40B4-BE49-F238E27FC236}">
                  <a16:creationId xmlns:a16="http://schemas.microsoft.com/office/drawing/2014/main" id="{A18A2F8D-2DB9-0C79-B3C9-4C2752ADBF56}"/>
                </a:ext>
              </a:extLst>
            </p:cNvPr>
            <p:cNvSpPr>
              <a:spLocks noChangeArrowheads="1"/>
            </p:cNvSpPr>
            <p:nvPr/>
          </p:nvSpPr>
          <p:spPr bwMode="auto">
            <a:xfrm>
              <a:off x="2116143" y="4165615"/>
              <a:ext cx="1008063" cy="1368425"/>
            </a:xfrm>
            <a:prstGeom prst="ellipse">
              <a:avLst/>
            </a:prstGeom>
            <a:solidFill>
              <a:srgbClr val="FFFFFF">
                <a:alpha val="0"/>
              </a:srgbClr>
            </a:solidFill>
            <a:ln w="19050" algn="ctr">
              <a:solidFill>
                <a:srgbClr val="3333FF"/>
              </a:solidFill>
              <a:round/>
              <a:headEnd/>
              <a:tailEnd type="none" w="med" len="lg"/>
            </a:ln>
            <a:effectLst/>
          </p:spPr>
          <p:txBody>
            <a:bodyPr wrap="none" anchor="ctr"/>
            <a:lstStyle/>
            <a:p>
              <a:endParaRPr lang="zh-CN" altLang="en-US" sz="1800">
                <a:latin typeface="Consolas" pitchFamily="49" charset="0"/>
                <a:cs typeface="Consolas" pitchFamily="49" charset="0"/>
              </a:endParaRPr>
            </a:p>
          </p:txBody>
        </p:sp>
        <p:sp>
          <p:nvSpPr>
            <p:cNvPr id="41" name="Text Box 1032">
              <a:extLst>
                <a:ext uri="{FF2B5EF4-FFF2-40B4-BE49-F238E27FC236}">
                  <a16:creationId xmlns:a16="http://schemas.microsoft.com/office/drawing/2014/main" id="{D40DD82C-DBFC-E82F-5A69-B93784DCA348}"/>
                </a:ext>
              </a:extLst>
            </p:cNvPr>
            <p:cNvSpPr txBox="1">
              <a:spLocks noChangeArrowheads="1"/>
            </p:cNvSpPr>
            <p:nvPr/>
          </p:nvSpPr>
          <p:spPr bwMode="auto">
            <a:xfrm>
              <a:off x="2260606" y="3733815"/>
              <a:ext cx="503237" cy="366713"/>
            </a:xfrm>
            <a:prstGeom prst="rect">
              <a:avLst/>
            </a:prstGeom>
            <a:noFill/>
            <a:ln w="19050" algn="ctr">
              <a:noFill/>
              <a:miter lim="800000"/>
              <a:headEnd/>
              <a:tailEnd type="none" w="med" len="lg"/>
            </a:ln>
            <a:effectLst/>
          </p:spPr>
          <p:txBody>
            <a:bodyPr>
              <a:spAutoFit/>
            </a:bodyPr>
            <a:lstStyle/>
            <a:p>
              <a:pPr>
                <a:spcBef>
                  <a:spcPct val="50000"/>
                </a:spcBef>
              </a:pPr>
              <a:r>
                <a:rPr lang="en-US" altLang="zh-CN" sz="1800" dirty="0">
                  <a:solidFill>
                    <a:srgbClr val="0000FF"/>
                  </a:solidFill>
                  <a:latin typeface="Consolas" pitchFamily="49" charset="0"/>
                  <a:ea typeface="宋体" pitchFamily="2" charset="-122"/>
                  <a:cs typeface="Consolas" pitchFamily="49" charset="0"/>
                </a:rPr>
                <a:t>U</a:t>
              </a:r>
            </a:p>
          </p:txBody>
        </p:sp>
        <p:sp>
          <p:nvSpPr>
            <p:cNvPr id="43" name="Text Box 1033">
              <a:extLst>
                <a:ext uri="{FF2B5EF4-FFF2-40B4-BE49-F238E27FC236}">
                  <a16:creationId xmlns:a16="http://schemas.microsoft.com/office/drawing/2014/main" id="{2BE776EF-0480-39F4-33EC-095F7B48A4C3}"/>
                </a:ext>
              </a:extLst>
            </p:cNvPr>
            <p:cNvSpPr txBox="1">
              <a:spLocks noChangeArrowheads="1"/>
            </p:cNvSpPr>
            <p:nvPr/>
          </p:nvSpPr>
          <p:spPr bwMode="auto">
            <a:xfrm>
              <a:off x="4276731" y="3733815"/>
              <a:ext cx="1079500" cy="366713"/>
            </a:xfrm>
            <a:prstGeom prst="rect">
              <a:avLst/>
            </a:prstGeom>
            <a:noFill/>
            <a:ln w="19050" algn="ctr">
              <a:noFill/>
              <a:miter lim="800000"/>
              <a:headEnd/>
              <a:tailEnd type="none" w="med" len="lg"/>
            </a:ln>
            <a:effectLst/>
          </p:spPr>
          <p:txBody>
            <a:bodyPr>
              <a:spAutoFit/>
            </a:bodyPr>
            <a:lstStyle/>
            <a:p>
              <a:pPr>
                <a:spcBef>
                  <a:spcPct val="50000"/>
                </a:spcBef>
              </a:pPr>
              <a:r>
                <a:rPr lang="en-US" altLang="zh-CN" sz="1800" dirty="0">
                  <a:solidFill>
                    <a:srgbClr val="0000FF"/>
                  </a:solidFill>
                  <a:latin typeface="Consolas" pitchFamily="49" charset="0"/>
                  <a:ea typeface="宋体" pitchFamily="2" charset="-122"/>
                  <a:cs typeface="Consolas" pitchFamily="49" charset="0"/>
                </a:rPr>
                <a:t>V</a:t>
              </a:r>
              <a:r>
                <a:rPr lang="zh-CN" altLang="en-US" sz="1800" dirty="0">
                  <a:solidFill>
                    <a:srgbClr val="0000FF"/>
                  </a:solidFill>
                  <a:latin typeface="Consolas" pitchFamily="49" charset="0"/>
                  <a:ea typeface="宋体" pitchFamily="2" charset="-122"/>
                  <a:cs typeface="Consolas" pitchFamily="49" charset="0"/>
                </a:rPr>
                <a:t>－</a:t>
              </a:r>
              <a:r>
                <a:rPr lang="en-US" altLang="zh-CN" sz="1800" dirty="0">
                  <a:solidFill>
                    <a:srgbClr val="0000FF"/>
                  </a:solidFill>
                  <a:latin typeface="Consolas" pitchFamily="49" charset="0"/>
                  <a:ea typeface="宋体" pitchFamily="2" charset="-122"/>
                  <a:cs typeface="Consolas" pitchFamily="49" charset="0"/>
                </a:rPr>
                <a:t>U</a:t>
              </a:r>
            </a:p>
          </p:txBody>
        </p:sp>
        <p:sp>
          <p:nvSpPr>
            <p:cNvPr id="44" name="Freeform 1034">
              <a:extLst>
                <a:ext uri="{FF2B5EF4-FFF2-40B4-BE49-F238E27FC236}">
                  <a16:creationId xmlns:a16="http://schemas.microsoft.com/office/drawing/2014/main" id="{C7EE40D4-502F-CABA-74AF-192F17C59CFC}"/>
                </a:ext>
              </a:extLst>
            </p:cNvPr>
            <p:cNvSpPr>
              <a:spLocks/>
            </p:cNvSpPr>
            <p:nvPr/>
          </p:nvSpPr>
          <p:spPr bwMode="auto">
            <a:xfrm>
              <a:off x="2837884" y="4814903"/>
              <a:ext cx="1776413" cy="150812"/>
            </a:xfrm>
            <a:custGeom>
              <a:avLst/>
              <a:gdLst/>
              <a:ahLst/>
              <a:cxnLst>
                <a:cxn ang="0">
                  <a:pos x="0" y="95"/>
                </a:cxn>
                <a:cxn ang="0">
                  <a:pos x="1119" y="0"/>
                </a:cxn>
              </a:cxnLst>
              <a:rect l="0" t="0" r="r" b="b"/>
              <a:pathLst>
                <a:path w="1119" h="95">
                  <a:moveTo>
                    <a:pt x="0" y="95"/>
                  </a:moveTo>
                  <a:lnTo>
                    <a:pt x="1119" y="0"/>
                  </a:lnTo>
                </a:path>
              </a:pathLst>
            </a:custGeom>
            <a:noFill/>
            <a:ln w="38100" cap="flat" cmpd="sng">
              <a:solidFill>
                <a:srgbClr val="FF00FF"/>
              </a:solidFill>
              <a:prstDash val="solid"/>
              <a:round/>
              <a:headEnd type="none" w="med" len="med"/>
              <a:tailEnd type="none" w="med" len="lg"/>
            </a:ln>
            <a:effectLst/>
          </p:spPr>
          <p:txBody>
            <a:bodyPr wrap="none"/>
            <a:lstStyle/>
            <a:p>
              <a:endParaRPr lang="zh-CN" altLang="en-US" sz="1800">
                <a:latin typeface="Consolas" pitchFamily="49" charset="0"/>
                <a:cs typeface="Consolas" pitchFamily="49" charset="0"/>
              </a:endParaRPr>
            </a:p>
          </p:txBody>
        </p:sp>
        <p:sp>
          <p:nvSpPr>
            <p:cNvPr id="45" name="Oval 1035">
              <a:extLst>
                <a:ext uri="{FF2B5EF4-FFF2-40B4-BE49-F238E27FC236}">
                  <a16:creationId xmlns:a16="http://schemas.microsoft.com/office/drawing/2014/main" id="{2239788F-D0A3-4FDD-86FA-2D124606A94B}"/>
                </a:ext>
              </a:extLst>
            </p:cNvPr>
            <p:cNvSpPr>
              <a:spLocks noChangeArrowheads="1"/>
            </p:cNvSpPr>
            <p:nvPr/>
          </p:nvSpPr>
          <p:spPr bwMode="auto">
            <a:xfrm>
              <a:off x="2405068" y="4741878"/>
              <a:ext cx="431800" cy="431800"/>
            </a:xfrm>
            <a:prstGeom prst="ellipse">
              <a:avLst/>
            </a:prstGeom>
            <a:solidFill>
              <a:srgbClr val="FFC000"/>
            </a:solidFill>
            <a:ln w="19050" algn="ctr">
              <a:solidFill>
                <a:srgbClr val="3333FF"/>
              </a:solidFill>
              <a:round/>
              <a:headEnd/>
              <a:tailEnd type="none" w="med" len="lg"/>
            </a:ln>
            <a:effectLst/>
          </p:spPr>
          <p:txBody>
            <a:bodyPr wrap="none" anchor="ctr"/>
            <a:lstStyle/>
            <a:p>
              <a:r>
                <a:rPr lang="en-US" altLang="zh-CN" sz="1800" i="1" dirty="0">
                  <a:solidFill>
                    <a:srgbClr val="0000FF"/>
                  </a:solidFill>
                  <a:latin typeface="Consolas" pitchFamily="49" charset="0"/>
                  <a:ea typeface="宋体" pitchFamily="2" charset="-122"/>
                  <a:cs typeface="Consolas" pitchFamily="49" charset="0"/>
                </a:rPr>
                <a:t>v</a:t>
              </a:r>
            </a:p>
          </p:txBody>
        </p:sp>
        <p:sp>
          <p:nvSpPr>
            <p:cNvPr id="46" name="Text Box 1036">
              <a:extLst>
                <a:ext uri="{FF2B5EF4-FFF2-40B4-BE49-F238E27FC236}">
                  <a16:creationId xmlns:a16="http://schemas.microsoft.com/office/drawing/2014/main" id="{EE3EA224-8A94-4FB1-B809-FE9FB6BC4793}"/>
                </a:ext>
              </a:extLst>
            </p:cNvPr>
            <p:cNvSpPr txBox="1">
              <a:spLocks noChangeArrowheads="1"/>
            </p:cNvSpPr>
            <p:nvPr/>
          </p:nvSpPr>
          <p:spPr bwMode="auto">
            <a:xfrm rot="21293543">
              <a:off x="3012704" y="4461884"/>
              <a:ext cx="1375279" cy="338554"/>
            </a:xfrm>
            <a:prstGeom prst="rect">
              <a:avLst/>
            </a:prstGeom>
            <a:noFill/>
            <a:ln w="19050" algn="ctr">
              <a:noFill/>
              <a:miter lim="800000"/>
              <a:headEnd/>
              <a:tailEnd type="none" w="med" len="lg"/>
            </a:ln>
            <a:effectLst/>
          </p:spPr>
          <p:txBody>
            <a:bodyPr wrap="square">
              <a:spAutoFit/>
            </a:bodyPr>
            <a:lstStyle/>
            <a:p>
              <a:pPr>
                <a:spcBef>
                  <a:spcPct val="50000"/>
                </a:spcBef>
              </a:pPr>
              <a:r>
                <a:rPr lang="en-US" altLang="zh-CN" sz="1600" dirty="0" err="1">
                  <a:latin typeface="Consolas" pitchFamily="49" charset="0"/>
                  <a:cs typeface="Consolas" pitchFamily="49" charset="0"/>
                </a:rPr>
                <a:t>lowcost</a:t>
              </a:r>
              <a:r>
                <a:rPr lang="en-US" altLang="zh-CN" sz="1600" dirty="0">
                  <a:latin typeface="Consolas" pitchFamily="49" charset="0"/>
                  <a:cs typeface="Consolas" pitchFamily="49" charset="0"/>
                </a:rPr>
                <a:t>[</a:t>
              </a:r>
              <a:r>
                <a:rPr lang="en-US" altLang="zh-CN" sz="1600" i="1" dirty="0" err="1">
                  <a:latin typeface="Consolas" pitchFamily="49" charset="0"/>
                  <a:cs typeface="Consolas" pitchFamily="49" charset="0"/>
                </a:rPr>
                <a:t>i</a:t>
              </a:r>
              <a:r>
                <a:rPr lang="en-US" altLang="zh-CN" sz="1600" dirty="0">
                  <a:latin typeface="Consolas" pitchFamily="49" charset="0"/>
                  <a:cs typeface="Consolas" pitchFamily="49" charset="0"/>
                </a:rPr>
                <a:t>]</a:t>
              </a:r>
            </a:p>
          </p:txBody>
        </p:sp>
        <p:sp>
          <p:nvSpPr>
            <p:cNvPr id="47" name="Freeform 1038">
              <a:extLst>
                <a:ext uri="{FF2B5EF4-FFF2-40B4-BE49-F238E27FC236}">
                  <a16:creationId xmlns:a16="http://schemas.microsoft.com/office/drawing/2014/main" id="{5C4A3FF9-318F-6F5F-9EB2-1776DF33C66E}"/>
                </a:ext>
              </a:extLst>
            </p:cNvPr>
            <p:cNvSpPr>
              <a:spLocks/>
            </p:cNvSpPr>
            <p:nvPr/>
          </p:nvSpPr>
          <p:spPr bwMode="auto">
            <a:xfrm>
              <a:off x="2765431" y="5102240"/>
              <a:ext cx="347662" cy="320675"/>
            </a:xfrm>
            <a:custGeom>
              <a:avLst/>
              <a:gdLst/>
              <a:ahLst/>
              <a:cxnLst>
                <a:cxn ang="0">
                  <a:pos x="219" y="202"/>
                </a:cxn>
                <a:cxn ang="0">
                  <a:pos x="0" y="0"/>
                </a:cxn>
              </a:cxnLst>
              <a:rect l="0" t="0" r="r" b="b"/>
              <a:pathLst>
                <a:path w="219" h="202">
                  <a:moveTo>
                    <a:pt x="219" y="202"/>
                  </a:moveTo>
                  <a:lnTo>
                    <a:pt x="0" y="0"/>
                  </a:lnTo>
                </a:path>
              </a:pathLst>
            </a:custGeom>
            <a:noFill/>
            <a:ln w="19050">
              <a:solidFill>
                <a:srgbClr val="FF9900"/>
              </a:solidFill>
              <a:round/>
              <a:headEnd/>
              <a:tailEnd type="stealth" w="med" len="lg"/>
            </a:ln>
            <a:effectLst/>
          </p:spPr>
          <p:txBody>
            <a:bodyPr wrap="none"/>
            <a:lstStyle/>
            <a:p>
              <a:endParaRPr lang="zh-CN" altLang="en-US" sz="1800">
                <a:latin typeface="Consolas" pitchFamily="49" charset="0"/>
                <a:cs typeface="Consolas" pitchFamily="49" charset="0"/>
              </a:endParaRPr>
            </a:p>
          </p:txBody>
        </p:sp>
        <p:sp>
          <p:nvSpPr>
            <p:cNvPr id="48" name="Text Box 1039">
              <a:extLst>
                <a:ext uri="{FF2B5EF4-FFF2-40B4-BE49-F238E27FC236}">
                  <a16:creationId xmlns:a16="http://schemas.microsoft.com/office/drawing/2014/main" id="{07E8ABC1-7DAD-71D4-AD30-3E37D83277FE}"/>
                </a:ext>
              </a:extLst>
            </p:cNvPr>
            <p:cNvSpPr txBox="1">
              <a:spLocks noChangeArrowheads="1"/>
            </p:cNvSpPr>
            <p:nvPr/>
          </p:nvSpPr>
          <p:spPr bwMode="auto">
            <a:xfrm>
              <a:off x="3052768" y="5246703"/>
              <a:ext cx="1511300" cy="338554"/>
            </a:xfrm>
            <a:prstGeom prst="rect">
              <a:avLst/>
            </a:prstGeom>
            <a:noFill/>
            <a:ln w="19050" algn="ctr">
              <a:noFill/>
              <a:miter lim="800000"/>
              <a:headEnd/>
              <a:tailEnd type="none" w="med" len="lg"/>
            </a:ln>
            <a:effectLst/>
          </p:spPr>
          <p:txBody>
            <a:bodyPr>
              <a:spAutoFit/>
            </a:bodyPr>
            <a:lstStyle/>
            <a:p>
              <a:pPr algn="l">
                <a:spcBef>
                  <a:spcPct val="50000"/>
                </a:spcBef>
              </a:pPr>
              <a:r>
                <a:rPr lang="en-US" altLang="zh-CN" sz="1600" dirty="0">
                  <a:latin typeface="Consolas" pitchFamily="49" charset="0"/>
                  <a:cs typeface="Consolas" pitchFamily="49" charset="0"/>
                </a:rPr>
                <a:t>closest[</a:t>
              </a:r>
              <a:r>
                <a:rPr lang="en-US" altLang="zh-CN" sz="1600" i="1" dirty="0" err="1">
                  <a:latin typeface="Consolas" pitchFamily="49" charset="0"/>
                  <a:cs typeface="Consolas" pitchFamily="49" charset="0"/>
                </a:rPr>
                <a:t>i</a:t>
              </a:r>
              <a:r>
                <a:rPr lang="en-US" altLang="zh-CN" sz="1600" dirty="0">
                  <a:latin typeface="Consolas" pitchFamily="49" charset="0"/>
                  <a:cs typeface="Consolas" pitchFamily="49" charset="0"/>
                </a:rPr>
                <a:t>]</a:t>
              </a:r>
            </a:p>
          </p:txBody>
        </p:sp>
      </p:grpSp>
      <p:grpSp>
        <p:nvGrpSpPr>
          <p:cNvPr id="50" name="组合 21">
            <a:extLst>
              <a:ext uri="{FF2B5EF4-FFF2-40B4-BE49-F238E27FC236}">
                <a16:creationId xmlns:a16="http://schemas.microsoft.com/office/drawing/2014/main" id="{19E5174C-BEA8-7121-84AC-2D341372B5A7}"/>
              </a:ext>
            </a:extLst>
          </p:cNvPr>
          <p:cNvGrpSpPr/>
          <p:nvPr/>
        </p:nvGrpSpPr>
        <p:grpSpPr>
          <a:xfrm>
            <a:off x="8184232" y="4436388"/>
            <a:ext cx="3357586" cy="1388984"/>
            <a:chOff x="1765176" y="4812891"/>
            <a:chExt cx="3357586" cy="1388984"/>
          </a:xfrm>
        </p:grpSpPr>
        <p:sp>
          <p:nvSpPr>
            <p:cNvPr id="51" name="TextBox 17">
              <a:extLst>
                <a:ext uri="{FF2B5EF4-FFF2-40B4-BE49-F238E27FC236}">
                  <a16:creationId xmlns:a16="http://schemas.microsoft.com/office/drawing/2014/main" id="{120C8EA7-478B-917C-E8D3-BDFC67BD6D67}"/>
                </a:ext>
              </a:extLst>
            </p:cNvPr>
            <p:cNvSpPr txBox="1"/>
            <p:nvPr/>
          </p:nvSpPr>
          <p:spPr>
            <a:xfrm>
              <a:off x="2349652" y="5801765"/>
              <a:ext cx="2428892" cy="400110"/>
            </a:xfrm>
            <a:prstGeom prst="rect">
              <a:avLst/>
            </a:prstGeom>
            <a:noFill/>
          </p:spPr>
          <p:txBody>
            <a:bodyPr wrap="square" rtlCol="0">
              <a:spAutoFit/>
            </a:bodyPr>
            <a:lstStyle/>
            <a:p>
              <a:r>
                <a:rPr lang="en-US" altLang="zh-CN" sz="2000" dirty="0">
                  <a:latin typeface="Consolas" pitchFamily="49" charset="0"/>
                  <a:ea typeface="仿宋" pitchFamily="49" charset="-122"/>
                  <a:cs typeface="Consolas" pitchFamily="49" charset="0"/>
                </a:rPr>
                <a:t>U</a:t>
              </a:r>
              <a:r>
                <a:rPr lang="zh-CN" altLang="en-US" sz="2000" dirty="0">
                  <a:latin typeface="Consolas" pitchFamily="49" charset="0"/>
                  <a:ea typeface="仿宋" pitchFamily="49" charset="-122"/>
                  <a:cs typeface="Consolas" pitchFamily="49" charset="0"/>
                </a:rPr>
                <a:t>中只有一个顶点</a:t>
              </a:r>
              <a:r>
                <a:rPr lang="en-US" altLang="zh-CN" sz="2000" i="1" dirty="0">
                  <a:latin typeface="Consolas" pitchFamily="49" charset="0"/>
                  <a:ea typeface="仿宋" pitchFamily="49" charset="-122"/>
                  <a:cs typeface="Consolas" pitchFamily="49" charset="0"/>
                </a:rPr>
                <a:t>v</a:t>
              </a:r>
              <a:endParaRPr lang="zh-CN" altLang="en-US" sz="2000" i="1" dirty="0">
                <a:latin typeface="Consolas" pitchFamily="49" charset="0"/>
                <a:ea typeface="仿宋" pitchFamily="49" charset="-122"/>
                <a:cs typeface="Consolas" pitchFamily="49" charset="0"/>
              </a:endParaRPr>
            </a:p>
          </p:txBody>
        </p:sp>
        <p:sp>
          <p:nvSpPr>
            <p:cNvPr id="52" name="TextBox 18">
              <a:extLst>
                <a:ext uri="{FF2B5EF4-FFF2-40B4-BE49-F238E27FC236}">
                  <a16:creationId xmlns:a16="http://schemas.microsoft.com/office/drawing/2014/main" id="{8FA3A6E3-6F64-799C-922A-43DCF4E314AF}"/>
                </a:ext>
              </a:extLst>
            </p:cNvPr>
            <p:cNvSpPr txBox="1"/>
            <p:nvPr/>
          </p:nvSpPr>
          <p:spPr>
            <a:xfrm>
              <a:off x="1765176" y="4812891"/>
              <a:ext cx="3357586" cy="707886"/>
            </a:xfrm>
            <a:prstGeom prst="rect">
              <a:avLst/>
            </a:prstGeom>
            <a:noFill/>
          </p:spPr>
          <p:txBody>
            <a:bodyPr wrap="square" rtlCol="0">
              <a:spAutoFit/>
            </a:bodyPr>
            <a:lstStyle/>
            <a:p>
              <a:pPr algn="l"/>
              <a:r>
                <a:rPr lang="zh-CN" altLang="en-US" sz="2000" dirty="0">
                  <a:latin typeface="Consolas" pitchFamily="49" charset="0"/>
                  <a:ea typeface="仿宋" pitchFamily="49" charset="-122"/>
                  <a:cs typeface="Consolas" pitchFamily="49" charset="0"/>
                </a:rPr>
                <a:t>顶点</a:t>
              </a:r>
              <a:r>
                <a:rPr lang="en-US" altLang="zh-CN" sz="2000" i="1" dirty="0" err="1">
                  <a:latin typeface="Consolas" pitchFamily="49" charset="0"/>
                  <a:ea typeface="仿宋" pitchFamily="49" charset="-122"/>
                  <a:cs typeface="Consolas" pitchFamily="49" charset="0"/>
                </a:rPr>
                <a:t>i</a:t>
              </a:r>
              <a:r>
                <a:rPr lang="zh-CN" altLang="en-US" sz="2000" dirty="0">
                  <a:latin typeface="Consolas" pitchFamily="49" charset="0"/>
                  <a:ea typeface="仿宋" pitchFamily="49" charset="-122"/>
                  <a:cs typeface="Consolas" pitchFamily="49" charset="0"/>
                </a:rPr>
                <a:t>到</a:t>
              </a:r>
              <a:r>
                <a:rPr lang="en-US" altLang="zh-CN" sz="2000" dirty="0">
                  <a:latin typeface="Consolas" pitchFamily="49" charset="0"/>
                  <a:ea typeface="仿宋" pitchFamily="49" charset="-122"/>
                  <a:cs typeface="Consolas" pitchFamily="49" charset="0"/>
                </a:rPr>
                <a:t>U</a:t>
              </a:r>
              <a:r>
                <a:rPr lang="zh-CN" altLang="en-US" sz="2000" dirty="0">
                  <a:latin typeface="Consolas" pitchFamily="49" charset="0"/>
                  <a:ea typeface="仿宋" pitchFamily="49" charset="-122"/>
                  <a:cs typeface="Consolas" pitchFamily="49" charset="0"/>
                </a:rPr>
                <a:t>的最小边：</a:t>
              </a:r>
              <a:endParaRPr lang="en-US" altLang="zh-CN" sz="2000" dirty="0">
                <a:latin typeface="Consolas" pitchFamily="49" charset="0"/>
                <a:ea typeface="仿宋" pitchFamily="49" charset="-122"/>
                <a:cs typeface="Consolas" pitchFamily="49" charset="0"/>
              </a:endParaRPr>
            </a:p>
            <a:p>
              <a:pPr algn="l"/>
              <a:r>
                <a:rPr lang="en-US" altLang="zh-CN" sz="2000" dirty="0">
                  <a:latin typeface="Consolas" pitchFamily="49" charset="0"/>
                  <a:ea typeface="仿宋" pitchFamily="49" charset="-122"/>
                  <a:cs typeface="Consolas" pitchFamily="49" charset="0"/>
                </a:rPr>
                <a:t>    </a:t>
              </a:r>
              <a:r>
                <a:rPr lang="en-US" altLang="zh-CN" sz="2000" dirty="0">
                  <a:solidFill>
                    <a:srgbClr val="FF0000"/>
                  </a:solidFill>
                  <a:latin typeface="Consolas" pitchFamily="49" charset="0"/>
                  <a:ea typeface="仿宋" pitchFamily="49" charset="-122"/>
                  <a:cs typeface="Consolas" pitchFamily="49" charset="0"/>
                </a:rPr>
                <a:t>(</a:t>
              </a:r>
              <a:r>
                <a:rPr lang="en-US" altLang="zh-CN" sz="2000" i="1" dirty="0">
                  <a:solidFill>
                    <a:srgbClr val="FF0000"/>
                  </a:solidFill>
                  <a:latin typeface="Consolas" pitchFamily="49" charset="0"/>
                  <a:ea typeface="仿宋" pitchFamily="49" charset="-122"/>
                  <a:cs typeface="Consolas" pitchFamily="49" charset="0"/>
                </a:rPr>
                <a:t>v</a:t>
              </a:r>
              <a:r>
                <a:rPr lang="zh-CN" altLang="en-US" sz="2000" dirty="0">
                  <a:solidFill>
                    <a:srgbClr val="FF0000"/>
                  </a:solidFill>
                  <a:latin typeface="Consolas" pitchFamily="49" charset="0"/>
                  <a:ea typeface="仿宋" pitchFamily="49" charset="-122"/>
                  <a:cs typeface="Consolas" pitchFamily="49" charset="0"/>
                </a:rPr>
                <a:t>，</a:t>
              </a:r>
              <a:r>
                <a:rPr lang="en-US" altLang="zh-CN" sz="2000" dirty="0" err="1">
                  <a:solidFill>
                    <a:srgbClr val="FF0000"/>
                  </a:solidFill>
                  <a:latin typeface="Consolas" pitchFamily="49" charset="0"/>
                  <a:ea typeface="仿宋" pitchFamily="49" charset="-122"/>
                  <a:cs typeface="Consolas" pitchFamily="49" charset="0"/>
                </a:rPr>
                <a:t>g.edges</a:t>
              </a:r>
              <a:r>
                <a:rPr lang="en-US" altLang="zh-CN" sz="2000" dirty="0">
                  <a:solidFill>
                    <a:srgbClr val="FF0000"/>
                  </a:solidFill>
                  <a:latin typeface="Consolas" pitchFamily="49" charset="0"/>
                  <a:ea typeface="仿宋" pitchFamily="49" charset="-122"/>
                  <a:cs typeface="Consolas" pitchFamily="49" charset="0"/>
                </a:rPr>
                <a:t>[</a:t>
              </a:r>
              <a:r>
                <a:rPr lang="en-US" altLang="zh-CN" sz="2000" i="1" dirty="0">
                  <a:solidFill>
                    <a:srgbClr val="FF0000"/>
                  </a:solidFill>
                  <a:latin typeface="Consolas" pitchFamily="49" charset="0"/>
                  <a:ea typeface="仿宋" pitchFamily="49" charset="-122"/>
                  <a:cs typeface="Consolas" pitchFamily="49" charset="0"/>
                </a:rPr>
                <a:t>v</a:t>
              </a:r>
              <a:r>
                <a:rPr lang="en-US" altLang="zh-CN" sz="2000" dirty="0">
                  <a:solidFill>
                    <a:srgbClr val="FF0000"/>
                  </a:solidFill>
                  <a:latin typeface="Consolas" pitchFamily="49" charset="0"/>
                  <a:ea typeface="仿宋" pitchFamily="49" charset="-122"/>
                  <a:cs typeface="Consolas" pitchFamily="49" charset="0"/>
                </a:rPr>
                <a:t>][</a:t>
              </a:r>
              <a:r>
                <a:rPr lang="en-US" altLang="zh-CN" sz="2000" i="1" dirty="0" err="1">
                  <a:solidFill>
                    <a:srgbClr val="FF0000"/>
                  </a:solidFill>
                  <a:latin typeface="Consolas" pitchFamily="49" charset="0"/>
                  <a:ea typeface="仿宋" pitchFamily="49" charset="-122"/>
                  <a:cs typeface="Consolas" pitchFamily="49" charset="0"/>
                </a:rPr>
                <a:t>i</a:t>
              </a:r>
              <a:r>
                <a:rPr lang="en-US" altLang="zh-CN" sz="2000" dirty="0">
                  <a:solidFill>
                    <a:srgbClr val="FF0000"/>
                  </a:solidFill>
                  <a:latin typeface="Consolas" pitchFamily="49" charset="0"/>
                  <a:ea typeface="仿宋" pitchFamily="49" charset="-122"/>
                  <a:cs typeface="Consolas" pitchFamily="49" charset="0"/>
                </a:rPr>
                <a:t>])</a:t>
              </a:r>
              <a:endParaRPr lang="zh-CN" altLang="en-US" sz="2000" dirty="0">
                <a:solidFill>
                  <a:srgbClr val="FF0000"/>
                </a:solidFill>
                <a:latin typeface="Consolas" pitchFamily="49" charset="0"/>
                <a:ea typeface="仿宋" pitchFamily="49" charset="-122"/>
                <a:cs typeface="Consolas" pitchFamily="49" charset="0"/>
              </a:endParaRPr>
            </a:p>
          </p:txBody>
        </p:sp>
      </p:grpSp>
    </p:spTree>
    <p:extLst>
      <p:ext uri="{BB962C8B-B14F-4D97-AF65-F5344CB8AC3E}">
        <p14:creationId xmlns:p14="http://schemas.microsoft.com/office/powerpoint/2010/main" val="2812237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nodePh="1">
                                  <p:stCondLst>
                                    <p:cond delay="0"/>
                                  </p:stCondLst>
                                  <p:endCondLst>
                                    <p:cond evt="begin" delay="0">
                                      <p:tn val="5"/>
                                    </p:cond>
                                  </p:endCondLst>
                                  <p:childTnLst>
                                    <p:set>
                                      <p:cBhvr>
                                        <p:cTn id="6" dur="1" fill="hold">
                                          <p:stCondLst>
                                            <p:cond delay="0"/>
                                          </p:stCondLst>
                                        </p:cTn>
                                        <p:tgtEl>
                                          <p:spTgt spid="4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xEl>
                                              <p:pRg st="8" end="8"/>
                                            </p:txEl>
                                          </p:spTgt>
                                        </p:tgtEl>
                                        <p:attrNameLst>
                                          <p:attrName>style.visibility</p:attrName>
                                        </p:attrNameLst>
                                      </p:cBhvr>
                                      <p:to>
                                        <p:strVal val="visible"/>
                                      </p:to>
                                    </p:set>
                                  </p:childTnLst>
                                </p:cTn>
                              </p:par>
                            </p:childTnLst>
                          </p:cTn>
                        </p:par>
                        <p:par>
                          <p:cTn id="17" fill="hold">
                            <p:stCondLst>
                              <p:cond delay="0"/>
                            </p:stCondLst>
                            <p:childTnLst>
                              <p:par>
                                <p:cTn id="18" presetID="1" presetClass="entr" presetSubtype="0" fill="hold" nodeType="afterEffect">
                                  <p:stCondLst>
                                    <p:cond delay="0"/>
                                  </p:stCondLst>
                                  <p:childTnLst>
                                    <p:set>
                                      <p:cBhvr>
                                        <p:cTn id="19" dur="1" fill="hold">
                                          <p:stCondLst>
                                            <p:cond delay="0"/>
                                          </p:stCondLst>
                                        </p:cTn>
                                        <p:tgtEl>
                                          <p:spTgt spid="33"/>
                                        </p:tgtEl>
                                        <p:attrNameLst>
                                          <p:attrName>style.visibility</p:attrName>
                                        </p:attrNameLst>
                                      </p:cBhvr>
                                      <p:to>
                                        <p:strVal val="visible"/>
                                      </p:to>
                                    </p:set>
                                  </p:childTnLst>
                                </p:cTn>
                              </p:par>
                            </p:childTnLst>
                          </p:cTn>
                        </p:par>
                        <p:par>
                          <p:cTn id="20" fill="hold">
                            <p:stCondLst>
                              <p:cond delay="0"/>
                            </p:stCondLst>
                            <p:childTnLst>
                              <p:par>
                                <p:cTn id="21" presetID="1" presetClass="entr" presetSubtype="0" fill="hold" nodeType="afterEffect">
                                  <p:stCondLst>
                                    <p:cond delay="0"/>
                                  </p:stCondLst>
                                  <p:childTnLst>
                                    <p:set>
                                      <p:cBhvr>
                                        <p:cTn id="22" dur="1" fill="hold">
                                          <p:stCondLst>
                                            <p:cond delay="0"/>
                                          </p:stCondLst>
                                        </p:cTn>
                                        <p:tgtEl>
                                          <p:spTgt spid="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build="p"/>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3B534-8BEE-2299-5579-9C1A80D44875}"/>
            </a:ext>
          </a:extLst>
        </p:cNvPr>
        <p:cNvGrpSpPr/>
        <p:nvPr/>
      </p:nvGrpSpPr>
      <p:grpSpPr>
        <a:xfrm>
          <a:off x="0" y="0"/>
          <a:ext cx="0" cy="0"/>
          <a:chOff x="0" y="0"/>
          <a:chExt cx="0" cy="0"/>
        </a:xfrm>
      </p:grpSpPr>
      <p:sp>
        <p:nvSpPr>
          <p:cNvPr id="2" name="Rectangle 2">
            <a:extLst>
              <a:ext uri="{FF2B5EF4-FFF2-40B4-BE49-F238E27FC236}">
                <a16:creationId xmlns:a16="http://schemas.microsoft.com/office/drawing/2014/main" id="{23B9AC6C-F82C-B4AA-AB78-4234ED11DA59}"/>
              </a:ext>
            </a:extLst>
          </p:cNvPr>
          <p:cNvSpPr txBox="1">
            <a:spLocks noChangeArrowheads="1"/>
          </p:cNvSpPr>
          <p:nvPr/>
        </p:nvSpPr>
        <p:spPr>
          <a:xfrm>
            <a:off x="474772" y="1230902"/>
            <a:ext cx="4469100"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8.4.3 </a:t>
            </a:r>
            <a:r>
              <a:rPr kumimoji="1" lang="zh-CN" altLang="en-US" dirty="0">
                <a:latin typeface="微软雅黑" pitchFamily="34" charset="-122"/>
                <a:ea typeface="微软雅黑" pitchFamily="34" charset="-122"/>
              </a:rPr>
              <a:t>普里姆</a:t>
            </a:r>
            <a:r>
              <a:rPr kumimoji="1" lang="en-US" altLang="zh-CN" dirty="0">
                <a:latin typeface="微软雅黑" pitchFamily="34" charset="-122"/>
                <a:ea typeface="微软雅黑" pitchFamily="34" charset="-122"/>
              </a:rPr>
              <a:t>(Prim)</a:t>
            </a:r>
            <a:r>
              <a:rPr kumimoji="1" lang="zh-CN" altLang="en-US" dirty="0">
                <a:latin typeface="微软雅黑" pitchFamily="34" charset="-122"/>
                <a:ea typeface="微软雅黑" pitchFamily="34" charset="-122"/>
              </a:rPr>
              <a:t>算法</a:t>
            </a:r>
          </a:p>
        </p:txBody>
      </p:sp>
      <p:cxnSp>
        <p:nvCxnSpPr>
          <p:cNvPr id="3" name="直接连接符 2">
            <a:extLst>
              <a:ext uri="{FF2B5EF4-FFF2-40B4-BE49-F238E27FC236}">
                <a16:creationId xmlns:a16="http://schemas.microsoft.com/office/drawing/2014/main" id="{70C19BF5-703A-33D9-F316-40441E6F90BE}"/>
              </a:ext>
            </a:extLst>
          </p:cNvPr>
          <p:cNvCxnSpPr>
            <a:cxnSpLocks/>
          </p:cNvCxnSpPr>
          <p:nvPr/>
        </p:nvCxnSpPr>
        <p:spPr>
          <a:xfrm>
            <a:off x="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4" name="矩形 3">
            <a:extLst>
              <a:ext uri="{FF2B5EF4-FFF2-40B4-BE49-F238E27FC236}">
                <a16:creationId xmlns:a16="http://schemas.microsoft.com/office/drawing/2014/main" id="{CEB02EA5-A47A-6117-BA26-19F17C8D24AB}"/>
              </a:ext>
            </a:extLst>
          </p:cNvPr>
          <p:cNvSpPr/>
          <p:nvPr/>
        </p:nvSpPr>
        <p:spPr>
          <a:xfrm>
            <a:off x="3394075" y="399838"/>
            <a:ext cx="4617860"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8.4 </a:t>
            </a:r>
            <a:r>
              <a:rPr lang="zh-CN" altLang="en-US" sz="3000" b="1" dirty="0">
                <a:latin typeface="黑体" pitchFamily="49" charset="-122"/>
                <a:ea typeface="黑体" pitchFamily="49" charset="-122"/>
                <a:cs typeface="经典粗黑简" pitchFamily="49" charset="-122"/>
              </a:rPr>
              <a:t>生成树和最小生成树</a:t>
            </a:r>
          </a:p>
        </p:txBody>
      </p:sp>
      <p:sp>
        <p:nvSpPr>
          <p:cNvPr id="12" name="Text Box 1047">
            <a:extLst>
              <a:ext uri="{FF2B5EF4-FFF2-40B4-BE49-F238E27FC236}">
                <a16:creationId xmlns:a16="http://schemas.microsoft.com/office/drawing/2014/main" id="{598289E9-4773-EBA7-F7D4-84F842AD0FA1}"/>
              </a:ext>
            </a:extLst>
          </p:cNvPr>
          <p:cNvSpPr txBox="1">
            <a:spLocks noChangeArrowheads="1"/>
          </p:cNvSpPr>
          <p:nvPr/>
        </p:nvSpPr>
        <p:spPr bwMode="auto">
          <a:xfrm>
            <a:off x="1375193" y="1869402"/>
            <a:ext cx="4824412" cy="400110"/>
          </a:xfrm>
          <a:prstGeom prst="rect">
            <a:avLst/>
          </a:prstGeom>
          <a:noFill/>
          <a:ln w="19050" algn="ctr">
            <a:noFill/>
            <a:miter lim="800000"/>
            <a:headEnd/>
            <a:tailEnd type="none" w="med" len="lg"/>
          </a:ln>
          <a:effectLst/>
        </p:spPr>
        <p:txBody>
          <a:bodyPr>
            <a:spAutoFit/>
          </a:bodyPr>
          <a:lstStyle/>
          <a:p>
            <a:pPr algn="l">
              <a:spcBef>
                <a:spcPct val="50000"/>
              </a:spcBef>
            </a:pPr>
            <a:r>
              <a:rPr kumimoji="1" lang="zh-CN" altLang="en-US" sz="2000" dirty="0">
                <a:latin typeface="Consolas" pitchFamily="49" charset="0"/>
                <a:ea typeface="楷体" pitchFamily="49" charset="-122"/>
                <a:cs typeface="Consolas" pitchFamily="49" charset="0"/>
              </a:rPr>
              <a:t>普里姆（</a:t>
            </a:r>
            <a:r>
              <a:rPr kumimoji="1" lang="en-US" altLang="zh-CN" sz="2000" dirty="0">
                <a:latin typeface="Consolas" pitchFamily="49" charset="0"/>
                <a:ea typeface="楷体" pitchFamily="49" charset="-122"/>
                <a:cs typeface="Consolas" pitchFamily="49" charset="0"/>
              </a:rPr>
              <a:t>Prim</a:t>
            </a:r>
            <a:r>
              <a:rPr kumimoji="1" lang="zh-CN" altLang="en-US" sz="2000" dirty="0">
                <a:latin typeface="Consolas" pitchFamily="49" charset="0"/>
                <a:ea typeface="楷体" pitchFamily="49" charset="-122"/>
                <a:cs typeface="Consolas" pitchFamily="49" charset="0"/>
              </a:rPr>
              <a:t>）算法如下：</a:t>
            </a:r>
            <a:endParaRPr lang="zh-CN" altLang="en-US" sz="2000" dirty="0">
              <a:latin typeface="Consolas" pitchFamily="49" charset="0"/>
              <a:ea typeface="楷体" pitchFamily="49" charset="-122"/>
              <a:cs typeface="Consolas" pitchFamily="49" charset="0"/>
            </a:endParaRPr>
          </a:p>
        </p:txBody>
      </p:sp>
      <p:sp>
        <p:nvSpPr>
          <p:cNvPr id="6" name="Text Box 1026">
            <a:extLst>
              <a:ext uri="{FF2B5EF4-FFF2-40B4-BE49-F238E27FC236}">
                <a16:creationId xmlns:a16="http://schemas.microsoft.com/office/drawing/2014/main" id="{98C304CE-83DC-5ABB-D26E-5B2EA0739361}"/>
              </a:ext>
            </a:extLst>
          </p:cNvPr>
          <p:cNvSpPr txBox="1">
            <a:spLocks noChangeArrowheads="1"/>
          </p:cNvSpPr>
          <p:nvPr/>
        </p:nvSpPr>
        <p:spPr bwMode="auto">
          <a:xfrm>
            <a:off x="191344" y="2570787"/>
            <a:ext cx="7344816" cy="3111832"/>
          </a:xfrm>
          <a:prstGeom prst="rect">
            <a:avLst/>
          </a:prstGeom>
          <a:solidFill>
            <a:schemeClr val="bg1">
              <a:lumMod val="95000"/>
            </a:schemeClr>
          </a:solidFill>
          <a:ln>
            <a:noFill/>
            <a:headEnd/>
            <a:tailEnd/>
          </a:ln>
          <a:effectLst/>
          <a:scene3d>
            <a:camera prst="orthographicFront">
              <a:rot lat="0" lon="0" rev="0"/>
            </a:camera>
            <a:lightRig rig="chilly" dir="t">
              <a:rot lat="0" lon="0" rev="18480000"/>
            </a:lightRig>
          </a:scene3d>
          <a:sp3d prstMaterial="clear">
            <a:bevelT h="63500"/>
          </a:sp3d>
        </p:spPr>
        <p:style>
          <a:lnRef idx="1">
            <a:schemeClr val="accent3"/>
          </a:lnRef>
          <a:fillRef idx="2">
            <a:schemeClr val="accent3"/>
          </a:fillRef>
          <a:effectRef idx="1">
            <a:schemeClr val="accent3"/>
          </a:effectRef>
          <a:fontRef idx="minor">
            <a:schemeClr val="dk1"/>
          </a:fontRef>
        </p:style>
        <p:txBody>
          <a:bodyPr wrap="square" lIns="180000" tIns="180000" bIns="180000">
            <a:spAutoFit/>
          </a:bodyPr>
          <a:lstStyle/>
          <a:p>
            <a:pPr algn="l">
              <a:lnSpc>
                <a:spcPts val="2400"/>
              </a:lnSpc>
            </a:pPr>
            <a:r>
              <a:rPr kumimoji="1" lang="en-US" altLang="zh-CN" sz="1800">
                <a:solidFill>
                  <a:srgbClr val="0000FF"/>
                </a:solidFill>
                <a:latin typeface="Consolas" pitchFamily="49" charset="0"/>
                <a:ea typeface="仿宋" pitchFamily="49" charset="-122"/>
                <a:cs typeface="Consolas" pitchFamily="49" charset="0"/>
              </a:rPr>
              <a:t>  for </a:t>
            </a:r>
            <a:r>
              <a:rPr kumimoji="1" lang="en-US" altLang="zh-CN" sz="1800" dirty="0">
                <a:solidFill>
                  <a:srgbClr val="0000FF"/>
                </a:solidFill>
                <a:latin typeface="Consolas" pitchFamily="49" charset="0"/>
                <a:ea typeface="仿宋" pitchFamily="49" charset="-122"/>
                <a:cs typeface="Consolas" pitchFamily="49" charset="0"/>
              </a:rPr>
              <a:t>(</a:t>
            </a:r>
            <a:r>
              <a:rPr kumimoji="1" lang="en-US" altLang="zh-CN" sz="1800" dirty="0" err="1">
                <a:solidFill>
                  <a:srgbClr val="0000FF"/>
                </a:solidFill>
                <a:latin typeface="Consolas" pitchFamily="49" charset="0"/>
                <a:ea typeface="仿宋" pitchFamily="49" charset="-122"/>
                <a:cs typeface="Consolas" pitchFamily="49" charset="0"/>
              </a:rPr>
              <a:t>i</a:t>
            </a:r>
            <a:r>
              <a:rPr kumimoji="1" lang="en-US" altLang="zh-CN" sz="1800" dirty="0">
                <a:solidFill>
                  <a:srgbClr val="0000FF"/>
                </a:solidFill>
                <a:latin typeface="Consolas" pitchFamily="49" charset="0"/>
                <a:ea typeface="仿宋" pitchFamily="49" charset="-122"/>
                <a:cs typeface="Consolas" pitchFamily="49" charset="0"/>
              </a:rPr>
              <a:t>=</a:t>
            </a:r>
            <a:r>
              <a:rPr kumimoji="1" lang="en-US" altLang="zh-CN" sz="1800" dirty="0" err="1">
                <a:solidFill>
                  <a:srgbClr val="0000FF"/>
                </a:solidFill>
                <a:latin typeface="Consolas" pitchFamily="49" charset="0"/>
                <a:ea typeface="仿宋" pitchFamily="49" charset="-122"/>
                <a:cs typeface="Consolas" pitchFamily="49" charset="0"/>
              </a:rPr>
              <a:t>1;i</a:t>
            </a:r>
            <a:r>
              <a:rPr kumimoji="1" lang="en-US" altLang="zh-CN" sz="1800" dirty="0">
                <a:solidFill>
                  <a:srgbClr val="0000FF"/>
                </a:solidFill>
                <a:latin typeface="Consolas" pitchFamily="49" charset="0"/>
                <a:ea typeface="仿宋" pitchFamily="49" charset="-122"/>
                <a:cs typeface="Consolas" pitchFamily="49" charset="0"/>
              </a:rPr>
              <a:t>&lt;</a:t>
            </a:r>
            <a:r>
              <a:rPr kumimoji="1" lang="en-US" altLang="zh-CN" sz="1800" dirty="0" err="1">
                <a:solidFill>
                  <a:srgbClr val="0000FF"/>
                </a:solidFill>
                <a:latin typeface="Consolas" pitchFamily="49" charset="0"/>
                <a:ea typeface="仿宋" pitchFamily="49" charset="-122"/>
                <a:cs typeface="Consolas" pitchFamily="49" charset="0"/>
              </a:rPr>
              <a:t>g.n;i</a:t>
            </a:r>
            <a:r>
              <a:rPr kumimoji="1" lang="en-US" altLang="zh-CN" sz="1800" dirty="0">
                <a:solidFill>
                  <a:srgbClr val="0000FF"/>
                </a:solidFill>
                <a:latin typeface="Consolas" pitchFamily="49" charset="0"/>
                <a:ea typeface="仿宋" pitchFamily="49" charset="-122"/>
                <a:cs typeface="Consolas" pitchFamily="49" charset="0"/>
              </a:rPr>
              <a:t>++)	  </a:t>
            </a:r>
            <a:r>
              <a:rPr kumimoji="1" lang="en-US" altLang="zh-CN" sz="1800">
                <a:solidFill>
                  <a:srgbClr val="0000FF"/>
                </a:solidFill>
                <a:latin typeface="Consolas" pitchFamily="49" charset="0"/>
                <a:ea typeface="仿宋" pitchFamily="49" charset="-122"/>
                <a:cs typeface="Consolas" pitchFamily="49" charset="0"/>
              </a:rPr>
              <a:t>	</a:t>
            </a:r>
            <a:r>
              <a:rPr kumimoji="1" lang="en-US" altLang="zh-CN" sz="1800">
                <a:solidFill>
                  <a:srgbClr val="00B0F0"/>
                </a:solidFill>
                <a:latin typeface="Consolas" pitchFamily="49" charset="0"/>
                <a:ea typeface="仿宋" pitchFamily="49" charset="-122"/>
                <a:cs typeface="Consolas" pitchFamily="49" charset="0"/>
              </a:rPr>
              <a:t>//</a:t>
            </a:r>
            <a:r>
              <a:rPr kumimoji="1" lang="zh-CN" altLang="en-US" sz="1800">
                <a:solidFill>
                  <a:srgbClr val="00B0F0"/>
                </a:solidFill>
                <a:latin typeface="Consolas" pitchFamily="49" charset="0"/>
                <a:ea typeface="仿宋" pitchFamily="49" charset="-122"/>
                <a:cs typeface="Consolas" pitchFamily="49" charset="0"/>
              </a:rPr>
              <a:t>输出</a:t>
            </a:r>
            <a:r>
              <a:rPr kumimoji="1" lang="en-US" altLang="zh-CN" sz="1800">
                <a:solidFill>
                  <a:srgbClr val="00B0F0"/>
                </a:solidFill>
                <a:latin typeface="Consolas" pitchFamily="49" charset="0"/>
                <a:ea typeface="仿宋" pitchFamily="49" charset="-122"/>
                <a:cs typeface="Consolas" pitchFamily="49" charset="0"/>
              </a:rPr>
              <a:t>(n-1)</a:t>
            </a:r>
            <a:r>
              <a:rPr kumimoji="1" lang="zh-CN" altLang="en-US" sz="1800">
                <a:solidFill>
                  <a:srgbClr val="00B0F0"/>
                </a:solidFill>
                <a:latin typeface="Consolas" pitchFamily="49" charset="0"/>
                <a:ea typeface="仿宋" pitchFamily="49" charset="-122"/>
                <a:cs typeface="Consolas" pitchFamily="49" charset="0"/>
              </a:rPr>
              <a:t>条边</a:t>
            </a:r>
            <a:endParaRPr kumimoji="1" lang="zh-CN" altLang="en-US" sz="1800" dirty="0">
              <a:solidFill>
                <a:srgbClr val="00B0F0"/>
              </a:solidFill>
              <a:latin typeface="Consolas" pitchFamily="49" charset="0"/>
              <a:ea typeface="仿宋" pitchFamily="49" charset="-122"/>
              <a:cs typeface="Consolas" pitchFamily="49" charset="0"/>
            </a:endParaRPr>
          </a:p>
          <a:p>
            <a:pPr algn="l">
              <a:lnSpc>
                <a:spcPts val="2400"/>
              </a:lnSpc>
            </a:pPr>
            <a:r>
              <a:rPr kumimoji="1" lang="zh-CN" altLang="en-US" sz="1800">
                <a:solidFill>
                  <a:srgbClr val="0000FF"/>
                </a:solidFill>
                <a:latin typeface="Consolas" pitchFamily="49" charset="0"/>
                <a:ea typeface="仿宋" pitchFamily="49" charset="-122"/>
                <a:cs typeface="Consolas" pitchFamily="49" charset="0"/>
              </a:rPr>
              <a:t>  </a:t>
            </a:r>
            <a:r>
              <a:rPr kumimoji="1" lang="en-US" altLang="zh-CN" sz="1800">
                <a:solidFill>
                  <a:srgbClr val="0000FF"/>
                </a:solidFill>
                <a:latin typeface="Consolas" pitchFamily="49" charset="0"/>
                <a:ea typeface="仿宋" pitchFamily="49" charset="-122"/>
                <a:cs typeface="Consolas" pitchFamily="49" charset="0"/>
              </a:rPr>
              <a:t>{  min=INF</a:t>
            </a:r>
            <a:r>
              <a:rPr kumimoji="1" lang="en-US" altLang="zh-CN" sz="1800" dirty="0">
                <a:solidFill>
                  <a:srgbClr val="0000FF"/>
                </a:solidFill>
                <a:latin typeface="Consolas" pitchFamily="49" charset="0"/>
                <a:ea typeface="仿宋" pitchFamily="49" charset="-122"/>
                <a:cs typeface="Consolas" pitchFamily="49" charset="0"/>
              </a:rPr>
              <a:t>;</a:t>
            </a:r>
          </a:p>
          <a:p>
            <a:pPr algn="l">
              <a:lnSpc>
                <a:spcPts val="2400"/>
              </a:lnSpc>
            </a:pPr>
            <a:r>
              <a:rPr kumimoji="1" lang="en-US" altLang="zh-CN" sz="1800">
                <a:solidFill>
                  <a:srgbClr val="0000FF"/>
                </a:solidFill>
                <a:latin typeface="Consolas" pitchFamily="49" charset="0"/>
                <a:ea typeface="仿宋" pitchFamily="49" charset="-122"/>
                <a:cs typeface="Consolas" pitchFamily="49" charset="0"/>
              </a:rPr>
              <a:t>     for </a:t>
            </a:r>
            <a:r>
              <a:rPr kumimoji="1" lang="en-US" altLang="zh-CN" sz="1800" dirty="0">
                <a:solidFill>
                  <a:srgbClr val="0000FF"/>
                </a:solidFill>
                <a:latin typeface="Consolas" pitchFamily="49" charset="0"/>
                <a:ea typeface="仿宋" pitchFamily="49" charset="-122"/>
                <a:cs typeface="Consolas" pitchFamily="49" charset="0"/>
              </a:rPr>
              <a:t>(j=</a:t>
            </a:r>
            <a:r>
              <a:rPr kumimoji="1" lang="en-US" altLang="zh-CN" sz="1800" dirty="0" err="1">
                <a:solidFill>
                  <a:srgbClr val="0000FF"/>
                </a:solidFill>
                <a:latin typeface="Consolas" pitchFamily="49" charset="0"/>
                <a:ea typeface="仿宋" pitchFamily="49" charset="-122"/>
                <a:cs typeface="Consolas" pitchFamily="49" charset="0"/>
              </a:rPr>
              <a:t>0;j</a:t>
            </a:r>
            <a:r>
              <a:rPr kumimoji="1" lang="en-US" altLang="zh-CN" sz="1800" dirty="0">
                <a:solidFill>
                  <a:srgbClr val="0000FF"/>
                </a:solidFill>
                <a:latin typeface="Consolas" pitchFamily="49" charset="0"/>
                <a:ea typeface="仿宋" pitchFamily="49" charset="-122"/>
                <a:cs typeface="Consolas" pitchFamily="49" charset="0"/>
              </a:rPr>
              <a:t>&lt;</a:t>
            </a:r>
            <a:r>
              <a:rPr kumimoji="1" lang="en-US" altLang="zh-CN" sz="1800" dirty="0" err="1">
                <a:solidFill>
                  <a:srgbClr val="0000FF"/>
                </a:solidFill>
                <a:latin typeface="Consolas" pitchFamily="49" charset="0"/>
                <a:ea typeface="仿宋" pitchFamily="49" charset="-122"/>
                <a:cs typeface="Consolas" pitchFamily="49" charset="0"/>
              </a:rPr>
              <a:t>g.n;j</a:t>
            </a:r>
            <a:r>
              <a:rPr kumimoji="1" lang="en-US" altLang="zh-CN" sz="1800" dirty="0">
                <a:solidFill>
                  <a:srgbClr val="0000FF"/>
                </a:solidFill>
                <a:latin typeface="Consolas" pitchFamily="49" charset="0"/>
                <a:ea typeface="仿宋" pitchFamily="49" charset="-122"/>
                <a:cs typeface="Consolas" pitchFamily="49" charset="0"/>
              </a:rPr>
              <a:t>++) 	</a:t>
            </a:r>
            <a:r>
              <a:rPr kumimoji="1" lang="en-US" altLang="zh-CN" sz="1800" dirty="0">
                <a:solidFill>
                  <a:srgbClr val="00B0F0"/>
                </a:solidFill>
                <a:latin typeface="Consolas" pitchFamily="49" charset="0"/>
                <a:ea typeface="仿宋" pitchFamily="49" charset="-122"/>
                <a:cs typeface="Consolas" pitchFamily="49" charset="0"/>
              </a:rPr>
              <a:t>//</a:t>
            </a:r>
            <a:r>
              <a:rPr kumimoji="1" lang="zh-CN" altLang="en-US" sz="1800" dirty="0">
                <a:solidFill>
                  <a:srgbClr val="00B0F0"/>
                </a:solidFill>
                <a:latin typeface="Consolas" pitchFamily="49" charset="0"/>
                <a:ea typeface="仿宋" pitchFamily="49" charset="-122"/>
                <a:cs typeface="Consolas" pitchFamily="49" charset="0"/>
              </a:rPr>
              <a:t>在</a:t>
            </a:r>
            <a:r>
              <a:rPr kumimoji="1" lang="en-US" altLang="zh-CN" sz="1800" dirty="0">
                <a:solidFill>
                  <a:srgbClr val="00B0F0"/>
                </a:solidFill>
                <a:latin typeface="Consolas" pitchFamily="49" charset="0"/>
                <a:ea typeface="仿宋" pitchFamily="49" charset="-122"/>
                <a:cs typeface="Consolas" pitchFamily="49" charset="0"/>
              </a:rPr>
              <a:t>(V-U)</a:t>
            </a:r>
            <a:r>
              <a:rPr kumimoji="1" lang="zh-CN" altLang="en-US" sz="1800" dirty="0">
                <a:solidFill>
                  <a:srgbClr val="00B0F0"/>
                </a:solidFill>
                <a:latin typeface="Consolas" pitchFamily="49" charset="0"/>
                <a:ea typeface="仿宋" pitchFamily="49" charset="-122"/>
                <a:cs typeface="Consolas" pitchFamily="49" charset="0"/>
              </a:rPr>
              <a:t>中找出离</a:t>
            </a:r>
            <a:r>
              <a:rPr kumimoji="1" lang="en-US" altLang="zh-CN" sz="1800" dirty="0">
                <a:solidFill>
                  <a:srgbClr val="00B0F0"/>
                </a:solidFill>
                <a:latin typeface="Consolas" pitchFamily="49" charset="0"/>
                <a:ea typeface="仿宋" pitchFamily="49" charset="-122"/>
                <a:cs typeface="Consolas" pitchFamily="49" charset="0"/>
              </a:rPr>
              <a:t>U</a:t>
            </a:r>
            <a:r>
              <a:rPr kumimoji="1" lang="zh-CN" altLang="en-US" sz="1800" dirty="0">
                <a:solidFill>
                  <a:srgbClr val="00B0F0"/>
                </a:solidFill>
                <a:latin typeface="Consolas" pitchFamily="49" charset="0"/>
                <a:ea typeface="仿宋" pitchFamily="49" charset="-122"/>
                <a:cs typeface="Consolas" pitchFamily="49" charset="0"/>
              </a:rPr>
              <a:t>最近的顶点</a:t>
            </a:r>
            <a:r>
              <a:rPr kumimoji="1" lang="en-US" altLang="zh-CN" sz="1800" dirty="0">
                <a:solidFill>
                  <a:srgbClr val="00B0F0"/>
                </a:solidFill>
                <a:latin typeface="Consolas" pitchFamily="49" charset="0"/>
                <a:ea typeface="仿宋" pitchFamily="49" charset="-122"/>
                <a:cs typeface="Consolas" pitchFamily="49" charset="0"/>
              </a:rPr>
              <a:t>k</a:t>
            </a:r>
          </a:p>
          <a:p>
            <a:pPr algn="l">
              <a:lnSpc>
                <a:spcPts val="2400"/>
              </a:lnSpc>
            </a:pPr>
            <a:r>
              <a:rPr kumimoji="1" lang="en-US" altLang="zh-CN" sz="1800">
                <a:solidFill>
                  <a:srgbClr val="0000FF"/>
                </a:solidFill>
                <a:latin typeface="Consolas" pitchFamily="49" charset="0"/>
                <a:ea typeface="仿宋" pitchFamily="49" charset="-122"/>
                <a:cs typeface="Consolas" pitchFamily="49" charset="0"/>
              </a:rPr>
              <a:t>	if </a:t>
            </a:r>
            <a:r>
              <a:rPr kumimoji="1" lang="en-US" altLang="zh-CN" sz="1800" dirty="0">
                <a:solidFill>
                  <a:srgbClr val="0000FF"/>
                </a:solidFill>
                <a:latin typeface="Consolas" pitchFamily="49" charset="0"/>
                <a:ea typeface="仿宋" pitchFamily="49" charset="-122"/>
                <a:cs typeface="Consolas" pitchFamily="49" charset="0"/>
              </a:rPr>
              <a:t>(</a:t>
            </a:r>
            <a:r>
              <a:rPr kumimoji="1" lang="en-US" altLang="zh-CN" sz="1800" dirty="0" err="1">
                <a:solidFill>
                  <a:srgbClr val="0000FF"/>
                </a:solidFill>
                <a:latin typeface="Consolas" pitchFamily="49" charset="0"/>
                <a:ea typeface="仿宋" pitchFamily="49" charset="-122"/>
                <a:cs typeface="Consolas" pitchFamily="49" charset="0"/>
              </a:rPr>
              <a:t>lowcost</a:t>
            </a:r>
            <a:r>
              <a:rPr kumimoji="1" lang="en-US" altLang="zh-CN" sz="1800" dirty="0">
                <a:solidFill>
                  <a:srgbClr val="0000FF"/>
                </a:solidFill>
                <a:latin typeface="Consolas" pitchFamily="49" charset="0"/>
                <a:ea typeface="仿宋" pitchFamily="49" charset="-122"/>
                <a:cs typeface="Consolas" pitchFamily="49" charset="0"/>
              </a:rPr>
              <a:t>[j]!=0 &amp;&amp; </a:t>
            </a:r>
            <a:r>
              <a:rPr kumimoji="1" lang="en-US" altLang="zh-CN" sz="1800" dirty="0" err="1">
                <a:solidFill>
                  <a:srgbClr val="0000FF"/>
                </a:solidFill>
                <a:latin typeface="Consolas" pitchFamily="49" charset="0"/>
                <a:ea typeface="仿宋" pitchFamily="49" charset="-122"/>
                <a:cs typeface="Consolas" pitchFamily="49" charset="0"/>
              </a:rPr>
              <a:t>lowcost</a:t>
            </a:r>
            <a:r>
              <a:rPr kumimoji="1" lang="en-US" altLang="zh-CN" sz="1800" dirty="0">
                <a:solidFill>
                  <a:srgbClr val="0000FF"/>
                </a:solidFill>
                <a:latin typeface="Consolas" pitchFamily="49" charset="0"/>
                <a:ea typeface="仿宋" pitchFamily="49" charset="-122"/>
                <a:cs typeface="Consolas" pitchFamily="49" charset="0"/>
              </a:rPr>
              <a:t>[j]&lt;min)</a:t>
            </a:r>
          </a:p>
          <a:p>
            <a:pPr algn="l">
              <a:lnSpc>
                <a:spcPts val="2400"/>
              </a:lnSpc>
            </a:pPr>
            <a:r>
              <a:rPr kumimoji="1" lang="en-US" altLang="zh-CN" sz="1800">
                <a:solidFill>
                  <a:srgbClr val="0000FF"/>
                </a:solidFill>
                <a:latin typeface="Consolas" pitchFamily="49" charset="0"/>
                <a:ea typeface="仿宋" pitchFamily="49" charset="-122"/>
                <a:cs typeface="Consolas" pitchFamily="49" charset="0"/>
              </a:rPr>
              <a:t>	{  min=lowcost[j</a:t>
            </a:r>
            <a:r>
              <a:rPr kumimoji="1" lang="en-US" altLang="zh-CN" sz="1800" dirty="0">
                <a:solidFill>
                  <a:srgbClr val="0000FF"/>
                </a:solidFill>
                <a:latin typeface="Consolas" pitchFamily="49" charset="0"/>
                <a:ea typeface="仿宋" pitchFamily="49" charset="-122"/>
                <a:cs typeface="Consolas" pitchFamily="49" charset="0"/>
              </a:rPr>
              <a:t>];</a:t>
            </a:r>
          </a:p>
          <a:p>
            <a:pPr algn="l">
              <a:lnSpc>
                <a:spcPts val="2400"/>
              </a:lnSpc>
            </a:pPr>
            <a:r>
              <a:rPr kumimoji="1" lang="en-US" altLang="zh-CN" sz="1800">
                <a:solidFill>
                  <a:srgbClr val="0000FF"/>
                </a:solidFill>
                <a:latin typeface="Consolas" pitchFamily="49" charset="0"/>
                <a:ea typeface="仿宋" pitchFamily="49" charset="-122"/>
                <a:cs typeface="Consolas" pitchFamily="49" charset="0"/>
              </a:rPr>
              <a:t>	   </a:t>
            </a:r>
            <a:r>
              <a:rPr kumimoji="1" lang="en-US" altLang="zh-CN" sz="1800">
                <a:solidFill>
                  <a:srgbClr val="C00000"/>
                </a:solidFill>
                <a:latin typeface="Consolas" pitchFamily="49" charset="0"/>
                <a:ea typeface="仿宋" pitchFamily="49" charset="-122"/>
                <a:cs typeface="Consolas" pitchFamily="49" charset="0"/>
              </a:rPr>
              <a:t>k=j</a:t>
            </a:r>
            <a:r>
              <a:rPr kumimoji="1" lang="en-US" altLang="zh-CN" sz="1800" dirty="0">
                <a:solidFill>
                  <a:srgbClr val="C00000"/>
                </a:solidFill>
                <a:latin typeface="Consolas" pitchFamily="49" charset="0"/>
                <a:ea typeface="仿宋" pitchFamily="49" charset="-122"/>
                <a:cs typeface="Consolas" pitchFamily="49" charset="0"/>
              </a:rPr>
              <a:t>;</a:t>
            </a:r>
            <a:r>
              <a:rPr kumimoji="1" lang="en-US" altLang="zh-CN" sz="1800" dirty="0">
                <a:solidFill>
                  <a:srgbClr val="0000FF"/>
                </a:solidFill>
                <a:latin typeface="Consolas" pitchFamily="49" charset="0"/>
                <a:ea typeface="仿宋" pitchFamily="49" charset="-122"/>
                <a:cs typeface="Consolas" pitchFamily="49" charset="0"/>
              </a:rPr>
              <a:t>	</a:t>
            </a:r>
            <a:r>
              <a:rPr kumimoji="1" lang="en-US" altLang="zh-CN" sz="1800">
                <a:solidFill>
                  <a:srgbClr val="0000FF"/>
                </a:solidFill>
                <a:latin typeface="Consolas" pitchFamily="49" charset="0"/>
                <a:ea typeface="仿宋" pitchFamily="49" charset="-122"/>
                <a:cs typeface="Consolas" pitchFamily="49" charset="0"/>
              </a:rPr>
              <a:t>		</a:t>
            </a:r>
            <a:r>
              <a:rPr kumimoji="1" lang="en-US" altLang="zh-CN" sz="1800">
                <a:solidFill>
                  <a:srgbClr val="00B0F0"/>
                </a:solidFill>
                <a:latin typeface="Consolas" pitchFamily="49" charset="0"/>
                <a:ea typeface="仿宋" pitchFamily="49" charset="-122"/>
                <a:cs typeface="Consolas" pitchFamily="49" charset="0"/>
              </a:rPr>
              <a:t>//</a:t>
            </a:r>
            <a:r>
              <a:rPr kumimoji="1" lang="en-US" altLang="zh-CN" sz="1800" dirty="0">
                <a:solidFill>
                  <a:srgbClr val="00B0F0"/>
                </a:solidFill>
                <a:latin typeface="Consolas" pitchFamily="49" charset="0"/>
                <a:ea typeface="仿宋" pitchFamily="49" charset="-122"/>
                <a:cs typeface="Consolas" pitchFamily="49" charset="0"/>
              </a:rPr>
              <a:t>k</a:t>
            </a:r>
            <a:r>
              <a:rPr kumimoji="1" lang="zh-CN" altLang="en-US" sz="1800" dirty="0">
                <a:solidFill>
                  <a:srgbClr val="00B0F0"/>
                </a:solidFill>
                <a:latin typeface="Consolas" pitchFamily="49" charset="0"/>
                <a:ea typeface="仿宋" pitchFamily="49" charset="-122"/>
                <a:cs typeface="Consolas" pitchFamily="49" charset="0"/>
              </a:rPr>
              <a:t>记录</a:t>
            </a:r>
            <a:r>
              <a:rPr kumimoji="1" lang="zh-CN" altLang="en-US" sz="1800">
                <a:solidFill>
                  <a:srgbClr val="00B0F0"/>
                </a:solidFill>
                <a:latin typeface="Consolas" pitchFamily="49" charset="0"/>
                <a:ea typeface="仿宋" pitchFamily="49" charset="-122"/>
                <a:cs typeface="Consolas" pitchFamily="49" charset="0"/>
              </a:rPr>
              <a:t>最近顶点编号</a:t>
            </a:r>
            <a:endParaRPr kumimoji="1" lang="zh-CN" altLang="en-US" sz="1800" dirty="0">
              <a:solidFill>
                <a:srgbClr val="00B0F0"/>
              </a:solidFill>
              <a:latin typeface="Consolas" pitchFamily="49" charset="0"/>
              <a:ea typeface="仿宋" pitchFamily="49" charset="-122"/>
              <a:cs typeface="Consolas" pitchFamily="49" charset="0"/>
            </a:endParaRPr>
          </a:p>
          <a:p>
            <a:pPr algn="l">
              <a:lnSpc>
                <a:spcPts val="2400"/>
              </a:lnSpc>
            </a:pPr>
            <a:r>
              <a:rPr kumimoji="1" lang="zh-CN" altLang="en-US" sz="1800">
                <a:solidFill>
                  <a:srgbClr val="0000FF"/>
                </a:solidFill>
                <a:latin typeface="Consolas" pitchFamily="49" charset="0"/>
                <a:ea typeface="仿宋" pitchFamily="49" charset="-122"/>
                <a:cs typeface="Consolas" pitchFamily="49" charset="0"/>
              </a:rPr>
              <a:t>	</a:t>
            </a:r>
            <a:r>
              <a:rPr kumimoji="1" lang="en-US" altLang="zh-CN" sz="1800">
                <a:solidFill>
                  <a:srgbClr val="0000FF"/>
                </a:solidFill>
                <a:latin typeface="Consolas" pitchFamily="49" charset="0"/>
                <a:ea typeface="仿宋" pitchFamily="49" charset="-122"/>
                <a:cs typeface="Consolas" pitchFamily="49" charset="0"/>
              </a:rPr>
              <a:t>}</a:t>
            </a:r>
            <a:endParaRPr kumimoji="1" lang="en-US" altLang="zh-CN" sz="1800" dirty="0">
              <a:solidFill>
                <a:srgbClr val="0000FF"/>
              </a:solidFill>
              <a:latin typeface="Consolas" pitchFamily="49" charset="0"/>
              <a:ea typeface="仿宋" pitchFamily="49" charset="-122"/>
              <a:cs typeface="Consolas" pitchFamily="49" charset="0"/>
            </a:endParaRPr>
          </a:p>
          <a:p>
            <a:pPr algn="l">
              <a:lnSpc>
                <a:spcPts val="2400"/>
              </a:lnSpc>
            </a:pPr>
            <a:r>
              <a:rPr kumimoji="1" lang="en-US" altLang="zh-CN" sz="1800">
                <a:solidFill>
                  <a:srgbClr val="0000FF"/>
                </a:solidFill>
                <a:latin typeface="Consolas" pitchFamily="49" charset="0"/>
                <a:ea typeface="仿宋" pitchFamily="49" charset="-122"/>
                <a:cs typeface="Consolas" pitchFamily="49" charset="0"/>
              </a:rPr>
              <a:t>     printf</a:t>
            </a:r>
            <a:r>
              <a:rPr kumimoji="1" lang="en-US" altLang="zh-CN" sz="1800" dirty="0">
                <a:solidFill>
                  <a:srgbClr val="0000FF"/>
                </a:solidFill>
                <a:latin typeface="Consolas" pitchFamily="49" charset="0"/>
                <a:ea typeface="仿宋" pitchFamily="49" charset="-122"/>
                <a:cs typeface="Consolas" pitchFamily="49" charset="0"/>
              </a:rPr>
              <a:t>(" </a:t>
            </a:r>
            <a:r>
              <a:rPr kumimoji="1" lang="zh-CN" altLang="en-US" sz="1800" dirty="0">
                <a:solidFill>
                  <a:srgbClr val="0000FF"/>
                </a:solidFill>
                <a:latin typeface="Consolas" pitchFamily="49" charset="0"/>
                <a:ea typeface="仿宋" pitchFamily="49" charset="-122"/>
                <a:cs typeface="Consolas" pitchFamily="49" charset="0"/>
              </a:rPr>
              <a:t>边</a:t>
            </a:r>
            <a:r>
              <a:rPr kumimoji="1" lang="en-US" altLang="zh-CN" sz="1800">
                <a:solidFill>
                  <a:srgbClr val="0000FF"/>
                </a:solidFill>
                <a:latin typeface="Consolas" pitchFamily="49" charset="0"/>
                <a:ea typeface="仿宋" pitchFamily="49" charset="-122"/>
                <a:cs typeface="Consolas" pitchFamily="49" charset="0"/>
              </a:rPr>
              <a:t>(%d</a:t>
            </a:r>
            <a:r>
              <a:rPr kumimoji="1" lang="zh-CN" altLang="en-US" sz="1800">
                <a:solidFill>
                  <a:srgbClr val="0000FF"/>
                </a:solidFill>
                <a:latin typeface="Consolas" pitchFamily="49" charset="0"/>
                <a:ea typeface="仿宋" pitchFamily="49" charset="-122"/>
                <a:cs typeface="Consolas" pitchFamily="49" charset="0"/>
              </a:rPr>
              <a:t>，</a:t>
            </a:r>
            <a:r>
              <a:rPr kumimoji="1" lang="en-US" altLang="zh-CN" sz="1800">
                <a:solidFill>
                  <a:srgbClr val="0000FF"/>
                </a:solidFill>
                <a:latin typeface="Consolas" pitchFamily="49" charset="0"/>
                <a:ea typeface="仿宋" pitchFamily="49" charset="-122"/>
                <a:cs typeface="Consolas" pitchFamily="49" charset="0"/>
              </a:rPr>
              <a:t>%</a:t>
            </a:r>
            <a:r>
              <a:rPr kumimoji="1" lang="en-US" altLang="zh-CN" sz="1800" dirty="0" err="1">
                <a:solidFill>
                  <a:srgbClr val="0000FF"/>
                </a:solidFill>
                <a:latin typeface="Consolas" pitchFamily="49" charset="0"/>
                <a:ea typeface="仿宋" pitchFamily="49" charset="-122"/>
                <a:cs typeface="Consolas" pitchFamily="49" charset="0"/>
              </a:rPr>
              <a:t>d</a:t>
            </a:r>
            <a:r>
              <a:rPr kumimoji="1" lang="en-US" altLang="zh-CN" sz="1800" dirty="0">
                <a:solidFill>
                  <a:srgbClr val="0000FF"/>
                </a:solidFill>
                <a:latin typeface="Consolas" pitchFamily="49" charset="0"/>
                <a:ea typeface="仿宋" pitchFamily="49" charset="-122"/>
                <a:cs typeface="Consolas" pitchFamily="49" charset="0"/>
              </a:rPr>
              <a:t>)</a:t>
            </a:r>
            <a:r>
              <a:rPr kumimoji="1" lang="zh-CN" altLang="en-US" sz="1800" dirty="0">
                <a:solidFill>
                  <a:srgbClr val="0000FF"/>
                </a:solidFill>
                <a:latin typeface="Consolas" pitchFamily="49" charset="0"/>
                <a:ea typeface="仿宋" pitchFamily="49" charset="-122"/>
                <a:cs typeface="Consolas" pitchFamily="49" charset="0"/>
              </a:rPr>
              <a:t>权为</a:t>
            </a:r>
            <a:r>
              <a:rPr kumimoji="1" lang="en-US" altLang="zh-CN" sz="1800" dirty="0">
                <a:solidFill>
                  <a:srgbClr val="0000FF"/>
                </a:solidFill>
                <a:latin typeface="Consolas" pitchFamily="49" charset="0"/>
                <a:ea typeface="仿宋" pitchFamily="49" charset="-122"/>
                <a:cs typeface="Consolas" pitchFamily="49" charset="0"/>
              </a:rPr>
              <a:t>:%</a:t>
            </a:r>
            <a:r>
              <a:rPr kumimoji="1" lang="en-US" altLang="zh-CN" sz="1800">
                <a:solidFill>
                  <a:srgbClr val="0000FF"/>
                </a:solidFill>
                <a:latin typeface="Consolas" pitchFamily="49" charset="0"/>
                <a:ea typeface="仿宋" pitchFamily="49" charset="-122"/>
                <a:cs typeface="Consolas" pitchFamily="49" charset="0"/>
              </a:rPr>
              <a:t>d\</a:t>
            </a:r>
            <a:r>
              <a:rPr kumimoji="1" lang="en-US" altLang="zh-CN" sz="1800" err="1">
                <a:solidFill>
                  <a:srgbClr val="0000FF"/>
                </a:solidFill>
                <a:latin typeface="Consolas" pitchFamily="49" charset="0"/>
                <a:ea typeface="仿宋" pitchFamily="49" charset="-122"/>
                <a:cs typeface="Consolas" pitchFamily="49" charset="0"/>
              </a:rPr>
              <a:t>n</a:t>
            </a:r>
            <a:r>
              <a:rPr kumimoji="1" lang="en-US" altLang="zh-CN" sz="1800">
                <a:solidFill>
                  <a:srgbClr val="0000FF"/>
                </a:solidFill>
                <a:latin typeface="Consolas" pitchFamily="49" charset="0"/>
                <a:ea typeface="仿宋" pitchFamily="49" charset="-122"/>
                <a:cs typeface="Consolas" pitchFamily="49" charset="0"/>
              </a:rPr>
              <a:t>"</a:t>
            </a:r>
            <a:r>
              <a:rPr kumimoji="1" lang="zh-CN" altLang="en-US" sz="1800">
                <a:solidFill>
                  <a:srgbClr val="0000FF"/>
                </a:solidFill>
                <a:latin typeface="Consolas" pitchFamily="49" charset="0"/>
                <a:ea typeface="仿宋" pitchFamily="49" charset="-122"/>
                <a:cs typeface="Consolas" pitchFamily="49" charset="0"/>
              </a:rPr>
              <a:t>，</a:t>
            </a:r>
            <a:r>
              <a:rPr kumimoji="1" lang="en-US" altLang="zh-CN" sz="1800">
                <a:solidFill>
                  <a:srgbClr val="0000FF"/>
                </a:solidFill>
                <a:latin typeface="Consolas" pitchFamily="49" charset="0"/>
                <a:ea typeface="仿宋" pitchFamily="49" charset="-122"/>
                <a:cs typeface="Consolas" pitchFamily="49" charset="0"/>
              </a:rPr>
              <a:t>closest[k]</a:t>
            </a:r>
            <a:r>
              <a:rPr kumimoji="1" lang="zh-CN" altLang="en-US" sz="1800">
                <a:solidFill>
                  <a:srgbClr val="0000FF"/>
                </a:solidFill>
                <a:latin typeface="Consolas" pitchFamily="49" charset="0"/>
                <a:ea typeface="仿宋" pitchFamily="49" charset="-122"/>
                <a:cs typeface="Consolas" pitchFamily="49" charset="0"/>
              </a:rPr>
              <a:t>，</a:t>
            </a:r>
            <a:r>
              <a:rPr kumimoji="1" lang="en-US" altLang="zh-CN" sz="1800">
                <a:solidFill>
                  <a:srgbClr val="0000FF"/>
                </a:solidFill>
                <a:latin typeface="Consolas" pitchFamily="49" charset="0"/>
                <a:ea typeface="仿宋" pitchFamily="49" charset="-122"/>
                <a:cs typeface="Consolas" pitchFamily="49" charset="0"/>
              </a:rPr>
              <a:t>k</a:t>
            </a:r>
            <a:r>
              <a:rPr kumimoji="1" lang="zh-CN" altLang="en-US" sz="1800">
                <a:solidFill>
                  <a:srgbClr val="0000FF"/>
                </a:solidFill>
                <a:latin typeface="Consolas" pitchFamily="49" charset="0"/>
                <a:ea typeface="仿宋" pitchFamily="49" charset="-122"/>
                <a:cs typeface="Consolas" pitchFamily="49" charset="0"/>
              </a:rPr>
              <a:t>，</a:t>
            </a:r>
            <a:r>
              <a:rPr kumimoji="1" lang="en-US" altLang="zh-CN" sz="1800">
                <a:solidFill>
                  <a:srgbClr val="0000FF"/>
                </a:solidFill>
                <a:latin typeface="Consolas" pitchFamily="49" charset="0"/>
                <a:ea typeface="仿宋" pitchFamily="49" charset="-122"/>
                <a:cs typeface="Consolas" pitchFamily="49" charset="0"/>
              </a:rPr>
              <a:t>min</a:t>
            </a:r>
            <a:r>
              <a:rPr kumimoji="1" lang="en-US" altLang="zh-CN" sz="1800" dirty="0">
                <a:solidFill>
                  <a:srgbClr val="0000FF"/>
                </a:solidFill>
                <a:latin typeface="Consolas" pitchFamily="49" charset="0"/>
                <a:ea typeface="仿宋" pitchFamily="49" charset="-122"/>
                <a:cs typeface="Consolas" pitchFamily="49" charset="0"/>
              </a:rPr>
              <a:t>);</a:t>
            </a:r>
          </a:p>
          <a:p>
            <a:pPr algn="l">
              <a:lnSpc>
                <a:spcPts val="2400"/>
              </a:lnSpc>
            </a:pPr>
            <a:r>
              <a:rPr kumimoji="1" lang="en-US" altLang="zh-CN" sz="1800">
                <a:solidFill>
                  <a:srgbClr val="0000FF"/>
                </a:solidFill>
                <a:latin typeface="Consolas" pitchFamily="49" charset="0"/>
                <a:ea typeface="仿宋" pitchFamily="49" charset="-122"/>
                <a:cs typeface="Consolas" pitchFamily="49" charset="0"/>
              </a:rPr>
              <a:t>     lowcost[k</a:t>
            </a:r>
            <a:r>
              <a:rPr kumimoji="1" lang="en-US" altLang="zh-CN" sz="1800" dirty="0">
                <a:solidFill>
                  <a:srgbClr val="0000FF"/>
                </a:solidFill>
                <a:latin typeface="Consolas" pitchFamily="49" charset="0"/>
                <a:ea typeface="仿宋" pitchFamily="49" charset="-122"/>
                <a:cs typeface="Consolas" pitchFamily="49" charset="0"/>
              </a:rPr>
              <a:t>]=0;		</a:t>
            </a:r>
            <a:r>
              <a:rPr kumimoji="1" lang="en-US" altLang="zh-CN" sz="1800" dirty="0">
                <a:solidFill>
                  <a:srgbClr val="00B0F0"/>
                </a:solidFill>
                <a:latin typeface="Consolas" pitchFamily="49" charset="0"/>
                <a:ea typeface="仿宋" pitchFamily="49" charset="-122"/>
                <a:cs typeface="Consolas" pitchFamily="49" charset="0"/>
              </a:rPr>
              <a:t>//</a:t>
            </a:r>
            <a:r>
              <a:rPr kumimoji="1" lang="zh-CN" altLang="en-US" sz="1800" dirty="0">
                <a:solidFill>
                  <a:srgbClr val="00B0F0"/>
                </a:solidFill>
                <a:latin typeface="Consolas" pitchFamily="49" charset="0"/>
                <a:ea typeface="仿宋" pitchFamily="49" charset="-122"/>
                <a:cs typeface="Consolas" pitchFamily="49" charset="0"/>
              </a:rPr>
              <a:t>标记</a:t>
            </a:r>
            <a:r>
              <a:rPr kumimoji="1" lang="en-US" altLang="zh-CN" sz="1800" dirty="0">
                <a:solidFill>
                  <a:srgbClr val="00B0F0"/>
                </a:solidFill>
                <a:latin typeface="Consolas" pitchFamily="49" charset="0"/>
                <a:ea typeface="仿宋" pitchFamily="49" charset="-122"/>
                <a:cs typeface="Consolas" pitchFamily="49" charset="0"/>
              </a:rPr>
              <a:t>k</a:t>
            </a:r>
            <a:r>
              <a:rPr kumimoji="1" lang="zh-CN" altLang="en-US" sz="1800" dirty="0">
                <a:solidFill>
                  <a:srgbClr val="00B0F0"/>
                </a:solidFill>
                <a:latin typeface="Consolas" pitchFamily="49" charset="0"/>
                <a:ea typeface="仿宋" pitchFamily="49" charset="-122"/>
                <a:cs typeface="Consolas" pitchFamily="49" charset="0"/>
              </a:rPr>
              <a:t>已经加入</a:t>
            </a:r>
            <a:r>
              <a:rPr kumimoji="1" lang="en-US" altLang="zh-CN" sz="1800" dirty="0">
                <a:solidFill>
                  <a:srgbClr val="00B0F0"/>
                </a:solidFill>
                <a:latin typeface="Consolas" pitchFamily="49" charset="0"/>
                <a:ea typeface="仿宋" pitchFamily="49" charset="-122"/>
                <a:cs typeface="Consolas" pitchFamily="49" charset="0"/>
              </a:rPr>
              <a:t>U</a:t>
            </a:r>
          </a:p>
        </p:txBody>
      </p:sp>
      <p:grpSp>
        <p:nvGrpSpPr>
          <p:cNvPr id="7" name="组合 14">
            <a:extLst>
              <a:ext uri="{FF2B5EF4-FFF2-40B4-BE49-F238E27FC236}">
                <a16:creationId xmlns:a16="http://schemas.microsoft.com/office/drawing/2014/main" id="{009C2111-8681-0753-F2AD-BF32786B78B6}"/>
              </a:ext>
            </a:extLst>
          </p:cNvPr>
          <p:cNvGrpSpPr/>
          <p:nvPr/>
        </p:nvGrpSpPr>
        <p:grpSpPr>
          <a:xfrm>
            <a:off x="8184232" y="1230902"/>
            <a:ext cx="3313113" cy="1927649"/>
            <a:chOff x="473069" y="3643314"/>
            <a:chExt cx="3313113" cy="1927649"/>
          </a:xfrm>
        </p:grpSpPr>
        <p:sp>
          <p:nvSpPr>
            <p:cNvPr id="8" name="Oval 1037">
              <a:extLst>
                <a:ext uri="{FF2B5EF4-FFF2-40B4-BE49-F238E27FC236}">
                  <a16:creationId xmlns:a16="http://schemas.microsoft.com/office/drawing/2014/main" id="{3758E8B2-D4D7-1BFD-2075-FB1C10B3FB27}"/>
                </a:ext>
              </a:extLst>
            </p:cNvPr>
            <p:cNvSpPr>
              <a:spLocks noChangeArrowheads="1"/>
            </p:cNvSpPr>
            <p:nvPr/>
          </p:nvSpPr>
          <p:spPr bwMode="auto">
            <a:xfrm>
              <a:off x="2633657" y="4002089"/>
              <a:ext cx="1152525" cy="1368425"/>
            </a:xfrm>
            <a:prstGeom prst="ellipse">
              <a:avLst/>
            </a:prstGeom>
            <a:solidFill>
              <a:schemeClr val="accent3">
                <a:lumMod val="60000"/>
                <a:lumOff val="40000"/>
                <a:alpha val="60000"/>
              </a:schemeClr>
            </a:solidFill>
            <a:ln w="19050" algn="ctr">
              <a:solidFill>
                <a:srgbClr val="3333FF"/>
              </a:solidFill>
              <a:round/>
              <a:headEnd/>
              <a:tailEnd type="none" w="med" len="lg"/>
            </a:ln>
            <a:effectLst/>
          </p:spPr>
          <p:txBody>
            <a:bodyPr wrap="none" anchor="ctr"/>
            <a:lstStyle/>
            <a:p>
              <a:endParaRPr lang="zh-CN" altLang="en-US"/>
            </a:p>
          </p:txBody>
        </p:sp>
        <p:sp>
          <p:nvSpPr>
            <p:cNvPr id="9" name="Oval 1035">
              <a:extLst>
                <a:ext uri="{FF2B5EF4-FFF2-40B4-BE49-F238E27FC236}">
                  <a16:creationId xmlns:a16="http://schemas.microsoft.com/office/drawing/2014/main" id="{3A26521C-14CA-CBD3-76AC-E320F8C69F0A}"/>
                </a:ext>
              </a:extLst>
            </p:cNvPr>
            <p:cNvSpPr>
              <a:spLocks noChangeArrowheads="1"/>
            </p:cNvSpPr>
            <p:nvPr/>
          </p:nvSpPr>
          <p:spPr bwMode="auto">
            <a:xfrm>
              <a:off x="2995607" y="4506914"/>
              <a:ext cx="431800" cy="431800"/>
            </a:xfrm>
            <a:prstGeom prst="ellipse">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anchor="ctr"/>
            <a:lstStyle/>
            <a:p>
              <a:r>
                <a:rPr lang="en-US" altLang="zh-CN" sz="1800" i="1" dirty="0">
                  <a:solidFill>
                    <a:srgbClr val="0000FF"/>
                  </a:solidFill>
                  <a:latin typeface="Consolas" pitchFamily="49" charset="0"/>
                  <a:ea typeface="宋体" pitchFamily="2" charset="-122"/>
                  <a:cs typeface="Consolas" pitchFamily="49" charset="0"/>
                </a:rPr>
                <a:t>k</a:t>
              </a:r>
              <a:endParaRPr lang="en-US" altLang="zh-CN" sz="1800" i="1" baseline="-25000" dirty="0">
                <a:solidFill>
                  <a:srgbClr val="0000FF"/>
                </a:solidFill>
                <a:latin typeface="Consolas" pitchFamily="49" charset="0"/>
                <a:ea typeface="宋体" pitchFamily="2" charset="-122"/>
                <a:cs typeface="Consolas" pitchFamily="49" charset="0"/>
              </a:endParaRPr>
            </a:p>
          </p:txBody>
        </p:sp>
        <p:sp>
          <p:nvSpPr>
            <p:cNvPr id="10" name="Oval 1036">
              <a:extLst>
                <a:ext uri="{FF2B5EF4-FFF2-40B4-BE49-F238E27FC236}">
                  <a16:creationId xmlns:a16="http://schemas.microsoft.com/office/drawing/2014/main" id="{4730FA9A-FA27-274E-D8FB-ED28F7EB8870}"/>
                </a:ext>
              </a:extLst>
            </p:cNvPr>
            <p:cNvSpPr>
              <a:spLocks noChangeArrowheads="1"/>
            </p:cNvSpPr>
            <p:nvPr/>
          </p:nvSpPr>
          <p:spPr bwMode="auto">
            <a:xfrm>
              <a:off x="473069" y="4075114"/>
              <a:ext cx="1008063" cy="1368425"/>
            </a:xfrm>
            <a:prstGeom prst="ellipse">
              <a:avLst/>
            </a:prstGeom>
            <a:solidFill>
              <a:srgbClr val="FFFFFF">
                <a:alpha val="0"/>
              </a:srgbClr>
            </a:solidFill>
            <a:ln w="19050" algn="ctr">
              <a:solidFill>
                <a:srgbClr val="3333FF"/>
              </a:solidFill>
              <a:round/>
              <a:headEnd/>
              <a:tailEnd type="none" w="med" len="lg"/>
            </a:ln>
            <a:effectLst/>
          </p:spPr>
          <p:txBody>
            <a:bodyPr wrap="none" anchor="ctr"/>
            <a:lstStyle/>
            <a:p>
              <a:endParaRPr lang="zh-CN" altLang="en-US"/>
            </a:p>
          </p:txBody>
        </p:sp>
        <p:sp>
          <p:nvSpPr>
            <p:cNvPr id="11" name="Text Box 1038">
              <a:extLst>
                <a:ext uri="{FF2B5EF4-FFF2-40B4-BE49-F238E27FC236}">
                  <a16:creationId xmlns:a16="http://schemas.microsoft.com/office/drawing/2014/main" id="{CB2D455B-B9C6-82B6-E621-F7EFA1146ACC}"/>
                </a:ext>
              </a:extLst>
            </p:cNvPr>
            <p:cNvSpPr txBox="1">
              <a:spLocks noChangeArrowheads="1"/>
            </p:cNvSpPr>
            <p:nvPr/>
          </p:nvSpPr>
          <p:spPr bwMode="auto">
            <a:xfrm>
              <a:off x="714348" y="3643314"/>
              <a:ext cx="503237" cy="366713"/>
            </a:xfrm>
            <a:prstGeom prst="rect">
              <a:avLst/>
            </a:prstGeom>
            <a:noFill/>
            <a:ln w="19050" algn="ctr">
              <a:noFill/>
              <a:miter lim="800000"/>
              <a:headEnd/>
              <a:tailEnd type="none" w="med" len="lg"/>
            </a:ln>
            <a:effectLst/>
          </p:spPr>
          <p:txBody>
            <a:bodyPr>
              <a:spAutoFit/>
            </a:bodyPr>
            <a:lstStyle/>
            <a:p>
              <a:pPr>
                <a:spcBef>
                  <a:spcPct val="50000"/>
                </a:spcBef>
              </a:pPr>
              <a:r>
                <a:rPr lang="en-US" altLang="zh-CN" sz="1800" dirty="0">
                  <a:solidFill>
                    <a:srgbClr val="0000FF"/>
                  </a:solidFill>
                  <a:latin typeface="Consolas" pitchFamily="49" charset="0"/>
                  <a:ea typeface="宋体" pitchFamily="2" charset="-122"/>
                  <a:cs typeface="Consolas" pitchFamily="49" charset="0"/>
                </a:rPr>
                <a:t>U</a:t>
              </a:r>
            </a:p>
          </p:txBody>
        </p:sp>
        <p:sp>
          <p:nvSpPr>
            <p:cNvPr id="13" name="Text Box 1039">
              <a:extLst>
                <a:ext uri="{FF2B5EF4-FFF2-40B4-BE49-F238E27FC236}">
                  <a16:creationId xmlns:a16="http://schemas.microsoft.com/office/drawing/2014/main" id="{BA028627-4DB6-0777-1EEC-E080EFD39B74}"/>
                </a:ext>
              </a:extLst>
            </p:cNvPr>
            <p:cNvSpPr txBox="1">
              <a:spLocks noChangeArrowheads="1"/>
            </p:cNvSpPr>
            <p:nvPr/>
          </p:nvSpPr>
          <p:spPr bwMode="auto">
            <a:xfrm>
              <a:off x="2706682" y="3643314"/>
              <a:ext cx="1079500" cy="366713"/>
            </a:xfrm>
            <a:prstGeom prst="rect">
              <a:avLst/>
            </a:prstGeom>
            <a:noFill/>
            <a:ln w="19050" algn="ctr">
              <a:noFill/>
              <a:miter lim="800000"/>
              <a:headEnd/>
              <a:tailEnd type="none" w="med" len="lg"/>
            </a:ln>
            <a:effectLst/>
          </p:spPr>
          <p:txBody>
            <a:bodyPr>
              <a:spAutoFit/>
            </a:bodyPr>
            <a:lstStyle/>
            <a:p>
              <a:pPr>
                <a:spcBef>
                  <a:spcPct val="50000"/>
                </a:spcBef>
              </a:pPr>
              <a:r>
                <a:rPr lang="en-US" altLang="zh-CN" sz="1800" dirty="0">
                  <a:solidFill>
                    <a:srgbClr val="0000FF"/>
                  </a:solidFill>
                  <a:latin typeface="Consolas" pitchFamily="49" charset="0"/>
                  <a:ea typeface="宋体" pitchFamily="2" charset="-122"/>
                  <a:cs typeface="Consolas" pitchFamily="49" charset="0"/>
                </a:rPr>
                <a:t>V</a:t>
              </a:r>
              <a:r>
                <a:rPr lang="zh-CN" altLang="en-US" sz="1800" dirty="0">
                  <a:solidFill>
                    <a:srgbClr val="0000FF"/>
                  </a:solidFill>
                  <a:latin typeface="Consolas" pitchFamily="49" charset="0"/>
                  <a:ea typeface="宋体" pitchFamily="2" charset="-122"/>
                  <a:cs typeface="Consolas" pitchFamily="49" charset="0"/>
                </a:rPr>
                <a:t>－</a:t>
              </a:r>
              <a:r>
                <a:rPr lang="en-US" altLang="zh-CN" sz="1800" dirty="0">
                  <a:solidFill>
                    <a:srgbClr val="0000FF"/>
                  </a:solidFill>
                  <a:latin typeface="Consolas" pitchFamily="49" charset="0"/>
                  <a:ea typeface="宋体" pitchFamily="2" charset="-122"/>
                  <a:cs typeface="Consolas" pitchFamily="49" charset="0"/>
                </a:rPr>
                <a:t>U</a:t>
              </a:r>
            </a:p>
          </p:txBody>
        </p:sp>
        <p:sp>
          <p:nvSpPr>
            <p:cNvPr id="14" name="Oval 1041">
              <a:extLst>
                <a:ext uri="{FF2B5EF4-FFF2-40B4-BE49-F238E27FC236}">
                  <a16:creationId xmlns:a16="http://schemas.microsoft.com/office/drawing/2014/main" id="{3E79935B-60D1-EB45-A50B-C061DD8A3D32}"/>
                </a:ext>
              </a:extLst>
            </p:cNvPr>
            <p:cNvSpPr>
              <a:spLocks noChangeArrowheads="1"/>
            </p:cNvSpPr>
            <p:nvPr/>
          </p:nvSpPr>
          <p:spPr bwMode="auto">
            <a:xfrm>
              <a:off x="761994" y="4357694"/>
              <a:ext cx="431800" cy="431800"/>
            </a:xfrm>
            <a:prstGeom prst="ellipse">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anchor="ctr"/>
            <a:lstStyle/>
            <a:p>
              <a:r>
                <a:rPr lang="en-US" altLang="zh-CN" sz="1800" i="1" dirty="0">
                  <a:solidFill>
                    <a:srgbClr val="0000FF"/>
                  </a:solidFill>
                  <a:latin typeface="Consolas" pitchFamily="49" charset="0"/>
                  <a:ea typeface="宋体" pitchFamily="2" charset="-122"/>
                  <a:cs typeface="Consolas" pitchFamily="49" charset="0"/>
                </a:rPr>
                <a:t>x</a:t>
              </a:r>
            </a:p>
          </p:txBody>
        </p:sp>
        <p:sp>
          <p:nvSpPr>
            <p:cNvPr id="15" name="Text Box 1042">
              <a:extLst>
                <a:ext uri="{FF2B5EF4-FFF2-40B4-BE49-F238E27FC236}">
                  <a16:creationId xmlns:a16="http://schemas.microsoft.com/office/drawing/2014/main" id="{EA9D96C4-61CF-4CA8-345A-0C2A0AA7294E}"/>
                </a:ext>
              </a:extLst>
            </p:cNvPr>
            <p:cNvSpPr txBox="1">
              <a:spLocks noChangeArrowheads="1"/>
            </p:cNvSpPr>
            <p:nvPr/>
          </p:nvSpPr>
          <p:spPr bwMode="auto">
            <a:xfrm rot="367631">
              <a:off x="1468432" y="4300539"/>
              <a:ext cx="1223962" cy="338554"/>
            </a:xfrm>
            <a:prstGeom prst="rect">
              <a:avLst/>
            </a:prstGeom>
            <a:noFill/>
            <a:ln w="19050" algn="ctr">
              <a:noFill/>
              <a:miter lim="800000"/>
              <a:headEnd/>
              <a:tailEnd type="none" w="med" len="lg"/>
            </a:ln>
            <a:effectLst/>
          </p:spPr>
          <p:txBody>
            <a:bodyPr>
              <a:spAutoFit/>
            </a:bodyPr>
            <a:lstStyle/>
            <a:p>
              <a:pPr>
                <a:spcBef>
                  <a:spcPct val="50000"/>
                </a:spcBef>
              </a:pPr>
              <a:r>
                <a:rPr lang="en-US" altLang="zh-CN" sz="1600" dirty="0" err="1">
                  <a:latin typeface="Consolas" pitchFamily="49" charset="0"/>
                  <a:cs typeface="Consolas" pitchFamily="49" charset="0"/>
                </a:rPr>
                <a:t>lowcost</a:t>
              </a:r>
              <a:r>
                <a:rPr lang="en-US" altLang="zh-CN" sz="1600" dirty="0">
                  <a:latin typeface="Consolas" pitchFamily="49" charset="0"/>
                  <a:cs typeface="Consolas" pitchFamily="49" charset="0"/>
                </a:rPr>
                <a:t>[k]</a:t>
              </a:r>
            </a:p>
          </p:txBody>
        </p:sp>
        <p:sp>
          <p:nvSpPr>
            <p:cNvPr id="16" name="Line 1043">
              <a:extLst>
                <a:ext uri="{FF2B5EF4-FFF2-40B4-BE49-F238E27FC236}">
                  <a16:creationId xmlns:a16="http://schemas.microsoft.com/office/drawing/2014/main" id="{AD5A2B34-8D93-E177-8050-52D7241C248F}"/>
                </a:ext>
              </a:extLst>
            </p:cNvPr>
            <p:cNvSpPr>
              <a:spLocks noChangeShapeType="1"/>
            </p:cNvSpPr>
            <p:nvPr/>
          </p:nvSpPr>
          <p:spPr bwMode="auto">
            <a:xfrm flipH="1" flipV="1">
              <a:off x="1142976" y="4799022"/>
              <a:ext cx="360363" cy="576262"/>
            </a:xfrm>
            <a:prstGeom prst="line">
              <a:avLst/>
            </a:prstGeom>
            <a:noFill/>
            <a:ln w="19050">
              <a:solidFill>
                <a:srgbClr val="FF9900"/>
              </a:solidFill>
              <a:round/>
              <a:headEnd/>
              <a:tailEnd type="stealth" w="med" len="lg"/>
            </a:ln>
            <a:effectLst/>
          </p:spPr>
          <p:txBody>
            <a:bodyPr wrap="none"/>
            <a:lstStyle/>
            <a:p>
              <a:endParaRPr lang="zh-CN" altLang="en-US"/>
            </a:p>
          </p:txBody>
        </p:sp>
        <p:sp>
          <p:nvSpPr>
            <p:cNvPr id="17" name="Text Box 1044">
              <a:extLst>
                <a:ext uri="{FF2B5EF4-FFF2-40B4-BE49-F238E27FC236}">
                  <a16:creationId xmlns:a16="http://schemas.microsoft.com/office/drawing/2014/main" id="{D55DEC09-20C0-BC0F-78C0-0C3F7483CB9C}"/>
                </a:ext>
              </a:extLst>
            </p:cNvPr>
            <p:cNvSpPr txBox="1">
              <a:spLocks noChangeArrowheads="1"/>
            </p:cNvSpPr>
            <p:nvPr/>
          </p:nvSpPr>
          <p:spPr bwMode="auto">
            <a:xfrm>
              <a:off x="1428728" y="5232409"/>
              <a:ext cx="1639901" cy="338554"/>
            </a:xfrm>
            <a:prstGeom prst="rect">
              <a:avLst/>
            </a:prstGeom>
            <a:noFill/>
            <a:ln w="19050" algn="ctr">
              <a:noFill/>
              <a:miter lim="800000"/>
              <a:headEnd/>
              <a:tailEnd type="none" w="med" len="lg"/>
            </a:ln>
            <a:effectLst/>
          </p:spPr>
          <p:txBody>
            <a:bodyPr wrap="square">
              <a:spAutoFit/>
            </a:bodyPr>
            <a:lstStyle/>
            <a:p>
              <a:pPr algn="l">
                <a:spcBef>
                  <a:spcPct val="50000"/>
                </a:spcBef>
              </a:pPr>
              <a:r>
                <a:rPr lang="en-US" altLang="zh-CN" sz="1600" dirty="0">
                  <a:latin typeface="Consolas" pitchFamily="49" charset="0"/>
                  <a:cs typeface="Consolas" pitchFamily="49" charset="0"/>
                </a:rPr>
                <a:t>closest[</a:t>
              </a:r>
              <a:r>
                <a:rPr lang="en-US" altLang="zh-CN" sz="1600" i="1" dirty="0">
                  <a:latin typeface="Consolas" pitchFamily="49" charset="0"/>
                  <a:cs typeface="Consolas" pitchFamily="49" charset="0"/>
                </a:rPr>
                <a:t>k</a:t>
              </a:r>
              <a:r>
                <a:rPr lang="en-US" altLang="zh-CN" sz="1600" dirty="0">
                  <a:latin typeface="Consolas" pitchFamily="49" charset="0"/>
                  <a:cs typeface="Consolas" pitchFamily="49" charset="0"/>
                </a:rPr>
                <a:t>]=</a:t>
              </a:r>
              <a:r>
                <a:rPr lang="en-US" altLang="zh-CN" sz="1600" i="1" dirty="0">
                  <a:latin typeface="Consolas" pitchFamily="49" charset="0"/>
                  <a:cs typeface="Consolas" pitchFamily="49" charset="0"/>
                </a:rPr>
                <a:t>x</a:t>
              </a:r>
            </a:p>
          </p:txBody>
        </p:sp>
      </p:grpSp>
      <p:sp>
        <p:nvSpPr>
          <p:cNvPr id="18" name="Freeform 1040">
            <a:extLst>
              <a:ext uri="{FF2B5EF4-FFF2-40B4-BE49-F238E27FC236}">
                <a16:creationId xmlns:a16="http://schemas.microsoft.com/office/drawing/2014/main" id="{AB4C8ADB-EBF6-4114-E60B-ABD421B10B42}"/>
              </a:ext>
            </a:extLst>
          </p:cNvPr>
          <p:cNvSpPr>
            <a:spLocks/>
          </p:cNvSpPr>
          <p:nvPr/>
        </p:nvSpPr>
        <p:spPr bwMode="auto">
          <a:xfrm flipV="1">
            <a:off x="8925577" y="2159596"/>
            <a:ext cx="1776413" cy="147640"/>
          </a:xfrm>
          <a:custGeom>
            <a:avLst/>
            <a:gdLst/>
            <a:ahLst/>
            <a:cxnLst>
              <a:cxn ang="0">
                <a:pos x="0" y="95"/>
              </a:cxn>
              <a:cxn ang="0">
                <a:pos x="1119" y="0"/>
              </a:cxn>
            </a:cxnLst>
            <a:rect l="0" t="0" r="r" b="b"/>
            <a:pathLst>
              <a:path w="1119" h="95">
                <a:moveTo>
                  <a:pt x="0" y="95"/>
                </a:moveTo>
                <a:lnTo>
                  <a:pt x="1119" y="0"/>
                </a:lnTo>
              </a:path>
            </a:pathLst>
          </a:custGeom>
          <a:noFill/>
          <a:ln w="38100" cap="flat" cmpd="sng">
            <a:solidFill>
              <a:srgbClr val="FF00FF"/>
            </a:solidFill>
            <a:prstDash val="solid"/>
            <a:round/>
            <a:headEnd type="none" w="med" len="med"/>
            <a:tailEnd type="none" w="med" len="lg"/>
          </a:ln>
          <a:effectLst/>
        </p:spPr>
        <p:txBody>
          <a:bodyPr wrap="none"/>
          <a:lstStyle/>
          <a:p>
            <a:endParaRPr lang="zh-CN" altLang="en-US"/>
          </a:p>
        </p:txBody>
      </p:sp>
      <p:sp>
        <p:nvSpPr>
          <p:cNvPr id="19" name="右箭头 16">
            <a:extLst>
              <a:ext uri="{FF2B5EF4-FFF2-40B4-BE49-F238E27FC236}">
                <a16:creationId xmlns:a16="http://schemas.microsoft.com/office/drawing/2014/main" id="{8B81321A-3D47-4BFA-DCA2-059524872657}"/>
              </a:ext>
            </a:extLst>
          </p:cNvPr>
          <p:cNvSpPr/>
          <p:nvPr/>
        </p:nvSpPr>
        <p:spPr bwMode="auto">
          <a:xfrm rot="5400000">
            <a:off x="9588241" y="3413343"/>
            <a:ext cx="642942" cy="357190"/>
          </a:xfrm>
          <a:prstGeom prst="rightArrow">
            <a:avLst/>
          </a:prstGeom>
          <a:ln>
            <a:headEnd type="none" w="med" len="med"/>
            <a:tailEnd type="none" w="med" len="lg"/>
          </a:ln>
        </p:spPr>
        <p:style>
          <a:lnRef idx="1">
            <a:schemeClr val="accent4"/>
          </a:lnRef>
          <a:fillRef idx="3">
            <a:schemeClr val="accent4"/>
          </a:fillRef>
          <a:effectRef idx="2">
            <a:schemeClr val="accent4"/>
          </a:effectRef>
          <a:fontRef idx="minor">
            <a:schemeClr val="lt1"/>
          </a:fontRef>
        </p:style>
        <p:txBody>
          <a:bodyPr wrap="none" rtlCol="0" anchor="ctr"/>
          <a:lstStyle/>
          <a:p>
            <a:pPr algn="ctr"/>
            <a:endParaRPr lang="zh-CN" altLang="en-US"/>
          </a:p>
        </p:txBody>
      </p:sp>
      <p:sp>
        <p:nvSpPr>
          <p:cNvPr id="20" name="Oval 1037">
            <a:extLst>
              <a:ext uri="{FF2B5EF4-FFF2-40B4-BE49-F238E27FC236}">
                <a16:creationId xmlns:a16="http://schemas.microsoft.com/office/drawing/2014/main" id="{689C89B3-13B0-54F7-7ABC-09E6F030BD35}"/>
              </a:ext>
            </a:extLst>
          </p:cNvPr>
          <p:cNvSpPr>
            <a:spLocks noChangeArrowheads="1"/>
          </p:cNvSpPr>
          <p:nvPr/>
        </p:nvSpPr>
        <p:spPr bwMode="auto">
          <a:xfrm>
            <a:off x="10367027" y="4127871"/>
            <a:ext cx="1152525" cy="1368425"/>
          </a:xfrm>
          <a:prstGeom prst="ellipse">
            <a:avLst/>
          </a:prstGeom>
          <a:solidFill>
            <a:schemeClr val="accent3">
              <a:lumMod val="60000"/>
              <a:lumOff val="40000"/>
              <a:alpha val="64000"/>
            </a:schemeClr>
          </a:solidFill>
          <a:ln w="19050" algn="ctr">
            <a:solidFill>
              <a:srgbClr val="3333FF"/>
            </a:solidFill>
            <a:round/>
            <a:headEnd/>
            <a:tailEnd type="none" w="med" len="lg"/>
          </a:ln>
          <a:effectLst/>
        </p:spPr>
        <p:txBody>
          <a:bodyPr wrap="none" anchor="ctr"/>
          <a:lstStyle/>
          <a:p>
            <a:endParaRPr lang="zh-CN" altLang="en-US"/>
          </a:p>
        </p:txBody>
      </p:sp>
      <p:sp>
        <p:nvSpPr>
          <p:cNvPr id="21" name="Oval 1035">
            <a:extLst>
              <a:ext uri="{FF2B5EF4-FFF2-40B4-BE49-F238E27FC236}">
                <a16:creationId xmlns:a16="http://schemas.microsoft.com/office/drawing/2014/main" id="{8492DF0F-8C97-CFCD-55AC-8D1A2E8D7616}"/>
              </a:ext>
            </a:extLst>
          </p:cNvPr>
          <p:cNvSpPr>
            <a:spLocks noChangeArrowheads="1"/>
          </p:cNvSpPr>
          <p:nvPr/>
        </p:nvSpPr>
        <p:spPr bwMode="auto">
          <a:xfrm>
            <a:off x="10728977" y="4632696"/>
            <a:ext cx="431800" cy="431800"/>
          </a:xfrm>
          <a:prstGeom prst="ellipse">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anchor="ctr"/>
          <a:lstStyle/>
          <a:p>
            <a:r>
              <a:rPr lang="en-US" altLang="zh-CN" sz="1800" i="1" dirty="0">
                <a:solidFill>
                  <a:srgbClr val="0000FF"/>
                </a:solidFill>
                <a:latin typeface="Consolas" pitchFamily="49" charset="0"/>
                <a:ea typeface="宋体" pitchFamily="2" charset="-122"/>
                <a:cs typeface="Consolas" pitchFamily="49" charset="0"/>
              </a:rPr>
              <a:t>k</a:t>
            </a:r>
            <a:endParaRPr lang="en-US" altLang="zh-CN" sz="1800" i="1" baseline="-25000" dirty="0">
              <a:solidFill>
                <a:srgbClr val="0000FF"/>
              </a:solidFill>
              <a:latin typeface="Consolas" pitchFamily="49" charset="0"/>
              <a:ea typeface="宋体" pitchFamily="2" charset="-122"/>
              <a:cs typeface="Consolas" pitchFamily="49" charset="0"/>
            </a:endParaRPr>
          </a:p>
        </p:txBody>
      </p:sp>
      <p:sp>
        <p:nvSpPr>
          <p:cNvPr id="22" name="Oval 1036">
            <a:extLst>
              <a:ext uri="{FF2B5EF4-FFF2-40B4-BE49-F238E27FC236}">
                <a16:creationId xmlns:a16="http://schemas.microsoft.com/office/drawing/2014/main" id="{2B063FC8-115C-ABD0-F3E6-214DC58E319E}"/>
              </a:ext>
            </a:extLst>
          </p:cNvPr>
          <p:cNvSpPr>
            <a:spLocks noChangeArrowheads="1"/>
          </p:cNvSpPr>
          <p:nvPr/>
        </p:nvSpPr>
        <p:spPr bwMode="auto">
          <a:xfrm>
            <a:off x="8206439" y="4200896"/>
            <a:ext cx="1008063" cy="1368425"/>
          </a:xfrm>
          <a:prstGeom prst="ellipse">
            <a:avLst/>
          </a:prstGeom>
          <a:solidFill>
            <a:srgbClr val="FFFFFF">
              <a:alpha val="0"/>
            </a:srgbClr>
          </a:solidFill>
          <a:ln w="19050" algn="ctr">
            <a:solidFill>
              <a:srgbClr val="3333FF"/>
            </a:solidFill>
            <a:round/>
            <a:headEnd/>
            <a:tailEnd type="none" w="med" len="lg"/>
          </a:ln>
          <a:effectLst/>
        </p:spPr>
        <p:txBody>
          <a:bodyPr wrap="none" anchor="ctr"/>
          <a:lstStyle/>
          <a:p>
            <a:endParaRPr lang="zh-CN" altLang="en-US"/>
          </a:p>
        </p:txBody>
      </p:sp>
      <p:sp>
        <p:nvSpPr>
          <p:cNvPr id="23" name="Text Box 1038">
            <a:extLst>
              <a:ext uri="{FF2B5EF4-FFF2-40B4-BE49-F238E27FC236}">
                <a16:creationId xmlns:a16="http://schemas.microsoft.com/office/drawing/2014/main" id="{B480C2A6-BCEF-9B1A-8728-6896BAA34D05}"/>
              </a:ext>
            </a:extLst>
          </p:cNvPr>
          <p:cNvSpPr txBox="1">
            <a:spLocks noChangeArrowheads="1"/>
          </p:cNvSpPr>
          <p:nvPr/>
        </p:nvSpPr>
        <p:spPr bwMode="auto">
          <a:xfrm>
            <a:off x="8444547" y="3769096"/>
            <a:ext cx="503237" cy="366713"/>
          </a:xfrm>
          <a:prstGeom prst="rect">
            <a:avLst/>
          </a:prstGeom>
          <a:noFill/>
          <a:ln w="19050" algn="ctr">
            <a:noFill/>
            <a:miter lim="800000"/>
            <a:headEnd/>
            <a:tailEnd type="none" w="med" len="lg"/>
          </a:ln>
          <a:effectLst/>
        </p:spPr>
        <p:txBody>
          <a:bodyPr>
            <a:spAutoFit/>
          </a:bodyPr>
          <a:lstStyle/>
          <a:p>
            <a:pPr>
              <a:spcBef>
                <a:spcPct val="50000"/>
              </a:spcBef>
            </a:pPr>
            <a:r>
              <a:rPr lang="en-US" altLang="zh-CN" sz="1800" dirty="0">
                <a:solidFill>
                  <a:srgbClr val="0000FF"/>
                </a:solidFill>
                <a:latin typeface="Consolas" pitchFamily="49" charset="0"/>
                <a:ea typeface="宋体" pitchFamily="2" charset="-122"/>
                <a:cs typeface="Consolas" pitchFamily="49" charset="0"/>
              </a:rPr>
              <a:t>U</a:t>
            </a:r>
          </a:p>
        </p:txBody>
      </p:sp>
      <p:sp>
        <p:nvSpPr>
          <p:cNvPr id="24" name="Text Box 1039">
            <a:extLst>
              <a:ext uri="{FF2B5EF4-FFF2-40B4-BE49-F238E27FC236}">
                <a16:creationId xmlns:a16="http://schemas.microsoft.com/office/drawing/2014/main" id="{F4C6BB4D-08A3-2BCA-8F94-3DDD99D97F2E}"/>
              </a:ext>
            </a:extLst>
          </p:cNvPr>
          <p:cNvSpPr txBox="1">
            <a:spLocks noChangeArrowheads="1"/>
          </p:cNvSpPr>
          <p:nvPr/>
        </p:nvSpPr>
        <p:spPr bwMode="auto">
          <a:xfrm>
            <a:off x="10440052" y="3759573"/>
            <a:ext cx="1079500" cy="366713"/>
          </a:xfrm>
          <a:prstGeom prst="rect">
            <a:avLst/>
          </a:prstGeom>
          <a:noFill/>
          <a:ln w="19050" algn="ctr">
            <a:noFill/>
            <a:miter lim="800000"/>
            <a:headEnd/>
            <a:tailEnd type="none" w="med" len="lg"/>
          </a:ln>
          <a:effectLst/>
        </p:spPr>
        <p:txBody>
          <a:bodyPr>
            <a:spAutoFit/>
          </a:bodyPr>
          <a:lstStyle/>
          <a:p>
            <a:pPr>
              <a:spcBef>
                <a:spcPct val="50000"/>
              </a:spcBef>
            </a:pPr>
            <a:r>
              <a:rPr lang="en-US" altLang="zh-CN" sz="1800" dirty="0">
                <a:solidFill>
                  <a:srgbClr val="0000FF"/>
                </a:solidFill>
                <a:latin typeface="Consolas" pitchFamily="49" charset="0"/>
                <a:ea typeface="宋体" pitchFamily="2" charset="-122"/>
                <a:cs typeface="Consolas" pitchFamily="49" charset="0"/>
              </a:rPr>
              <a:t>V</a:t>
            </a:r>
            <a:r>
              <a:rPr lang="zh-CN" altLang="en-US" sz="1800" dirty="0">
                <a:solidFill>
                  <a:srgbClr val="0000FF"/>
                </a:solidFill>
                <a:latin typeface="Consolas" pitchFamily="49" charset="0"/>
                <a:ea typeface="宋体" pitchFamily="2" charset="-122"/>
                <a:cs typeface="Consolas" pitchFamily="49" charset="0"/>
              </a:rPr>
              <a:t>－</a:t>
            </a:r>
            <a:r>
              <a:rPr lang="en-US" altLang="zh-CN" sz="1800" dirty="0">
                <a:solidFill>
                  <a:srgbClr val="0000FF"/>
                </a:solidFill>
                <a:latin typeface="Consolas" pitchFamily="49" charset="0"/>
                <a:ea typeface="宋体" pitchFamily="2" charset="-122"/>
                <a:cs typeface="Consolas" pitchFamily="49" charset="0"/>
              </a:rPr>
              <a:t>U</a:t>
            </a:r>
          </a:p>
        </p:txBody>
      </p:sp>
      <p:sp>
        <p:nvSpPr>
          <p:cNvPr id="25" name="Oval 1041">
            <a:extLst>
              <a:ext uri="{FF2B5EF4-FFF2-40B4-BE49-F238E27FC236}">
                <a16:creationId xmlns:a16="http://schemas.microsoft.com/office/drawing/2014/main" id="{E1821417-4CD8-8ED4-B1C6-B02BF7A0753C}"/>
              </a:ext>
            </a:extLst>
          </p:cNvPr>
          <p:cNvSpPr>
            <a:spLocks noChangeArrowheads="1"/>
          </p:cNvSpPr>
          <p:nvPr/>
        </p:nvSpPr>
        <p:spPr bwMode="auto">
          <a:xfrm>
            <a:off x="8495364" y="4408866"/>
            <a:ext cx="431800" cy="431800"/>
          </a:xfrm>
          <a:prstGeom prst="ellipse">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anchor="ctr"/>
          <a:lstStyle/>
          <a:p>
            <a:r>
              <a:rPr lang="en-US" altLang="zh-CN" sz="1800" i="1" dirty="0">
                <a:solidFill>
                  <a:srgbClr val="0000FF"/>
                </a:solidFill>
                <a:latin typeface="Consolas" pitchFamily="49" charset="0"/>
                <a:ea typeface="宋体" pitchFamily="2" charset="-122"/>
                <a:cs typeface="Consolas" pitchFamily="49" charset="0"/>
              </a:rPr>
              <a:t>x</a:t>
            </a:r>
          </a:p>
        </p:txBody>
      </p:sp>
      <p:sp>
        <p:nvSpPr>
          <p:cNvPr id="26" name="TextBox 23">
            <a:extLst>
              <a:ext uri="{FF2B5EF4-FFF2-40B4-BE49-F238E27FC236}">
                <a16:creationId xmlns:a16="http://schemas.microsoft.com/office/drawing/2014/main" id="{BE8CD7A7-CE59-9EAC-D52B-DF1A55A39800}"/>
              </a:ext>
            </a:extLst>
          </p:cNvPr>
          <p:cNvSpPr txBox="1"/>
          <p:nvPr/>
        </p:nvSpPr>
        <p:spPr>
          <a:xfrm>
            <a:off x="8516721" y="5840635"/>
            <a:ext cx="3214710" cy="400110"/>
          </a:xfrm>
          <a:prstGeom prst="rect">
            <a:avLst/>
          </a:prstGeom>
          <a:noFill/>
        </p:spPr>
        <p:txBody>
          <a:bodyPr wrap="square" rtlCol="0">
            <a:spAutoFit/>
          </a:bodyPr>
          <a:lstStyle/>
          <a:p>
            <a:pPr algn="l"/>
            <a:r>
              <a:rPr lang="zh-CN" altLang="en-US" sz="2000">
                <a:latin typeface="Consolas" pitchFamily="49" charset="0"/>
                <a:ea typeface="仿宋" pitchFamily="49" charset="-122"/>
                <a:cs typeface="Consolas" pitchFamily="49" charset="0"/>
              </a:rPr>
              <a:t>输出：</a:t>
            </a:r>
            <a:r>
              <a:rPr lang="en-US" altLang="zh-CN" sz="2000">
                <a:solidFill>
                  <a:srgbClr val="FF0000"/>
                </a:solidFill>
                <a:latin typeface="Consolas" pitchFamily="49" charset="0"/>
                <a:ea typeface="仿宋" pitchFamily="49" charset="-122"/>
                <a:cs typeface="Consolas" pitchFamily="49" charset="0"/>
              </a:rPr>
              <a:t>(</a:t>
            </a:r>
            <a:r>
              <a:rPr kumimoji="1" lang="en-US" altLang="zh-CN" sz="2000">
                <a:solidFill>
                  <a:srgbClr val="FF0000"/>
                </a:solidFill>
                <a:latin typeface="Consolas" pitchFamily="49" charset="0"/>
                <a:ea typeface="仿宋" pitchFamily="49" charset="-122"/>
                <a:cs typeface="Consolas" pitchFamily="49" charset="0"/>
              </a:rPr>
              <a:t>closest[k]</a:t>
            </a:r>
            <a:r>
              <a:rPr kumimoji="1" lang="zh-CN" altLang="en-US" sz="2000">
                <a:solidFill>
                  <a:srgbClr val="FF0000"/>
                </a:solidFill>
                <a:latin typeface="Consolas" pitchFamily="49" charset="0"/>
                <a:ea typeface="仿宋" pitchFamily="49" charset="-122"/>
                <a:cs typeface="Consolas" pitchFamily="49" charset="0"/>
              </a:rPr>
              <a:t>，</a:t>
            </a:r>
            <a:r>
              <a:rPr kumimoji="1" lang="en-US" altLang="zh-CN" sz="2000">
                <a:solidFill>
                  <a:srgbClr val="FF0000"/>
                </a:solidFill>
                <a:latin typeface="Consolas" pitchFamily="49" charset="0"/>
                <a:ea typeface="仿宋" pitchFamily="49" charset="-122"/>
                <a:cs typeface="Consolas" pitchFamily="49" charset="0"/>
              </a:rPr>
              <a:t> k</a:t>
            </a:r>
            <a:r>
              <a:rPr lang="en-US" altLang="zh-CN" sz="2000">
                <a:solidFill>
                  <a:srgbClr val="FF0000"/>
                </a:solidFill>
                <a:latin typeface="Consolas" pitchFamily="49" charset="0"/>
                <a:ea typeface="仿宋" pitchFamily="49" charset="-122"/>
                <a:cs typeface="Consolas" pitchFamily="49" charset="0"/>
              </a:rPr>
              <a:t>)</a:t>
            </a:r>
            <a:endParaRPr lang="zh-CN" altLang="en-US" sz="2000">
              <a:solidFill>
                <a:srgbClr val="FF0000"/>
              </a:solidFill>
              <a:latin typeface="Consolas" pitchFamily="49" charset="0"/>
              <a:ea typeface="仿宋" pitchFamily="49" charset="-122"/>
              <a:cs typeface="Consolas" pitchFamily="49" charset="0"/>
            </a:endParaRPr>
          </a:p>
        </p:txBody>
      </p:sp>
    </p:spTree>
    <p:extLst>
      <p:ext uri="{BB962C8B-B14F-4D97-AF65-F5344CB8AC3E}">
        <p14:creationId xmlns:p14="http://schemas.microsoft.com/office/powerpoint/2010/main" val="5631412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xEl>
                                              <p:pRg st="6" end="6"/>
                                            </p:txEl>
                                          </p:spTgt>
                                        </p:tgtEl>
                                        <p:attrNameLst>
                                          <p:attrName>style.visibility</p:attrName>
                                        </p:attrNameLst>
                                      </p:cBhvr>
                                      <p:to>
                                        <p:strVal val="visible"/>
                                      </p:to>
                                    </p:set>
                                  </p:childTnLst>
                                </p:cTn>
                              </p:par>
                            </p:childTnLst>
                          </p:cTn>
                        </p:par>
                        <p:par>
                          <p:cTn id="17" fill="hold">
                            <p:stCondLst>
                              <p:cond delay="0"/>
                            </p:stCondLst>
                            <p:childTnLst>
                              <p:par>
                                <p:cTn id="18" presetID="1" presetClass="entr" presetSubtype="0" fill="hold" nodeType="afterEffect">
                                  <p:stCondLst>
                                    <p:cond delay="0"/>
                                  </p:stCondLst>
                                  <p:childTnLst>
                                    <p:set>
                                      <p:cBhvr>
                                        <p:cTn id="19" dur="1" fill="hold">
                                          <p:stCondLst>
                                            <p:cond delay="0"/>
                                          </p:stCondLst>
                                        </p:cTn>
                                        <p:tgtEl>
                                          <p:spTgt spid="7"/>
                                        </p:tgtEl>
                                        <p:attrNameLst>
                                          <p:attrName>style.visibility</p:attrName>
                                        </p:attrNameLst>
                                      </p:cBhvr>
                                      <p:to>
                                        <p:strVal val="visible"/>
                                      </p:to>
                                    </p:set>
                                  </p:childTnLst>
                                </p:cTn>
                              </p:par>
                            </p:childTnLst>
                          </p:cTn>
                        </p:par>
                        <p:par>
                          <p:cTn id="20" fill="hold">
                            <p:stCondLst>
                              <p:cond delay="0"/>
                            </p:stCondLst>
                            <p:childTnLst>
                              <p:par>
                                <p:cTn id="21" presetID="1" presetClass="entr" presetSubtype="0" fill="hold" grpId="0" nodeType="after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xEl>
                                              <p:pRg st="7" end="7"/>
                                            </p:txEl>
                                          </p:spTgt>
                                        </p:tgtEl>
                                        <p:attrNameLst>
                                          <p:attrName>style.visibility</p:attrName>
                                        </p:attrNameLst>
                                      </p:cBhvr>
                                      <p:to>
                                        <p:strVal val="visible"/>
                                      </p:to>
                                    </p:set>
                                  </p:childTnLst>
                                </p:cTn>
                              </p:par>
                            </p:childTnLst>
                          </p:cTn>
                        </p:par>
                        <p:par>
                          <p:cTn id="27" fill="hold">
                            <p:stCondLst>
                              <p:cond delay="0"/>
                            </p:stCondLst>
                            <p:childTnLst>
                              <p:par>
                                <p:cTn id="28" presetID="1" presetClass="entr" presetSubtype="0" fill="hold" grpId="0" nodeType="after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clickEffect">
                                  <p:stCondLst>
                                    <p:cond delay="0"/>
                                  </p:stCondLst>
                                  <p:childTnLst>
                                    <p:set>
                                      <p:cBhvr>
                                        <p:cTn id="33"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19"/>
                                        </p:tgtEl>
                                        <p:attrNameLst>
                                          <p:attrName>style.visibility</p:attrName>
                                        </p:attrNameLst>
                                      </p:cBhvr>
                                      <p:to>
                                        <p:strVal val="visible"/>
                                      </p:to>
                                    </p:set>
                                  </p:childTnLst>
                                </p:cTn>
                              </p:par>
                            </p:childTnLst>
                          </p:cTn>
                        </p:par>
                        <p:par>
                          <p:cTn id="38" fill="hold">
                            <p:stCondLst>
                              <p:cond delay="0"/>
                            </p:stCondLst>
                            <p:childTnLst>
                              <p:par>
                                <p:cTn id="39" presetID="1" presetClass="entr" presetSubtype="0" fill="hold" grpId="0" nodeType="afterEffect">
                                  <p:stCondLst>
                                    <p:cond delay="0"/>
                                  </p:stCondLst>
                                  <p:childTnLst>
                                    <p:set>
                                      <p:cBhvr>
                                        <p:cTn id="40" dur="1" fill="hold">
                                          <p:stCondLst>
                                            <p:cond delay="0"/>
                                          </p:stCondLst>
                                        </p:cTn>
                                        <p:tgtEl>
                                          <p:spTgt spid="20"/>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1"/>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2"/>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3"/>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4"/>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5"/>
                                        </p:tgtEl>
                                        <p:attrNameLst>
                                          <p:attrName>style.visibility</p:attrName>
                                        </p:attrNameLst>
                                      </p:cBhvr>
                                      <p:to>
                                        <p:strVal val="visible"/>
                                      </p:to>
                                    </p:set>
                                  </p:childTnLst>
                                </p:cTn>
                              </p:par>
                            </p:childTnLst>
                          </p:cTn>
                        </p:par>
                        <p:par>
                          <p:cTn id="51" fill="hold">
                            <p:stCondLst>
                              <p:cond delay="0"/>
                            </p:stCondLst>
                            <p:childTnLst>
                              <p:par>
                                <p:cTn id="52" presetID="0" presetClass="path" presetSubtype="0" accel="50000" decel="50000" fill="hold" grpId="1" nodeType="afterEffect">
                                  <p:stCondLst>
                                    <p:cond delay="0"/>
                                  </p:stCondLst>
                                  <p:childTnLst>
                                    <p:animMotion origin="layout" path="M 2.22222E-6 2.59259E-6 C -0.01007 0.0074 -0.02327 -0.00093 -0.06268 0.00625 C -0.10209 0.01342 -0.2 0.03518 -0.23611 0.04282 " pathEditMode="relative" rAng="0" ptsTypes="aaa">
                                      <p:cBhvr>
                                        <p:cTn id="53" dur="2000" fill="hold"/>
                                        <p:tgtEl>
                                          <p:spTgt spid="21"/>
                                        </p:tgtEl>
                                        <p:attrNameLst>
                                          <p:attrName>ppt_x</p:attrName>
                                          <p:attrName>ppt_y</p:attrName>
                                        </p:attrNameLst>
                                      </p:cBhvr>
                                      <p:rCtr x="-11800" y="210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animBg="1"/>
      <p:bldP spid="20" grpId="0" animBg="1"/>
      <p:bldP spid="21" grpId="0" animBg="1"/>
      <p:bldP spid="21" grpId="1" animBg="1"/>
      <p:bldP spid="22" grpId="0" animBg="1"/>
      <p:bldP spid="23" grpId="0"/>
      <p:bldP spid="24" grpId="0"/>
      <p:bldP spid="25" grpId="0" animBg="1"/>
      <p:bldP spid="26" grpId="0"/>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2DAF36-9429-6DAC-EFA5-B30D1803F29F}"/>
            </a:ext>
          </a:extLst>
        </p:cNvPr>
        <p:cNvGrpSpPr/>
        <p:nvPr/>
      </p:nvGrpSpPr>
      <p:grpSpPr>
        <a:xfrm>
          <a:off x="0" y="0"/>
          <a:ext cx="0" cy="0"/>
          <a:chOff x="0" y="0"/>
          <a:chExt cx="0" cy="0"/>
        </a:xfrm>
      </p:grpSpPr>
      <p:sp>
        <p:nvSpPr>
          <p:cNvPr id="2" name="Rectangle 2">
            <a:extLst>
              <a:ext uri="{FF2B5EF4-FFF2-40B4-BE49-F238E27FC236}">
                <a16:creationId xmlns:a16="http://schemas.microsoft.com/office/drawing/2014/main" id="{35695D07-ED8C-0B6F-DB34-F1B1A22B6172}"/>
              </a:ext>
            </a:extLst>
          </p:cNvPr>
          <p:cNvSpPr txBox="1">
            <a:spLocks noChangeArrowheads="1"/>
          </p:cNvSpPr>
          <p:nvPr/>
        </p:nvSpPr>
        <p:spPr>
          <a:xfrm>
            <a:off x="474772" y="1230902"/>
            <a:ext cx="4469100"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8.4.3 </a:t>
            </a:r>
            <a:r>
              <a:rPr kumimoji="1" lang="zh-CN" altLang="en-US" dirty="0">
                <a:latin typeface="微软雅黑" pitchFamily="34" charset="-122"/>
                <a:ea typeface="微软雅黑" pitchFamily="34" charset="-122"/>
              </a:rPr>
              <a:t>普里姆</a:t>
            </a:r>
            <a:r>
              <a:rPr kumimoji="1" lang="en-US" altLang="zh-CN" dirty="0">
                <a:latin typeface="微软雅黑" pitchFamily="34" charset="-122"/>
                <a:ea typeface="微软雅黑" pitchFamily="34" charset="-122"/>
              </a:rPr>
              <a:t>(Prim)</a:t>
            </a:r>
            <a:r>
              <a:rPr kumimoji="1" lang="zh-CN" altLang="en-US" dirty="0">
                <a:latin typeface="微软雅黑" pitchFamily="34" charset="-122"/>
                <a:ea typeface="微软雅黑" pitchFamily="34" charset="-122"/>
              </a:rPr>
              <a:t>算法</a:t>
            </a:r>
          </a:p>
        </p:txBody>
      </p:sp>
      <p:cxnSp>
        <p:nvCxnSpPr>
          <p:cNvPr id="3" name="直接连接符 2">
            <a:extLst>
              <a:ext uri="{FF2B5EF4-FFF2-40B4-BE49-F238E27FC236}">
                <a16:creationId xmlns:a16="http://schemas.microsoft.com/office/drawing/2014/main" id="{B43E6E37-E9A6-FF11-0DD9-604F5ADF34B5}"/>
              </a:ext>
            </a:extLst>
          </p:cNvPr>
          <p:cNvCxnSpPr>
            <a:cxnSpLocks/>
          </p:cNvCxnSpPr>
          <p:nvPr/>
        </p:nvCxnSpPr>
        <p:spPr>
          <a:xfrm>
            <a:off x="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4" name="矩形 3">
            <a:extLst>
              <a:ext uri="{FF2B5EF4-FFF2-40B4-BE49-F238E27FC236}">
                <a16:creationId xmlns:a16="http://schemas.microsoft.com/office/drawing/2014/main" id="{0139BBBB-73BB-40F9-AECA-DF9EFD491278}"/>
              </a:ext>
            </a:extLst>
          </p:cNvPr>
          <p:cNvSpPr/>
          <p:nvPr/>
        </p:nvSpPr>
        <p:spPr>
          <a:xfrm>
            <a:off x="3394075" y="399838"/>
            <a:ext cx="4617860"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8.4 </a:t>
            </a:r>
            <a:r>
              <a:rPr lang="zh-CN" altLang="en-US" sz="3000" b="1" dirty="0">
                <a:latin typeface="黑体" pitchFamily="49" charset="-122"/>
                <a:ea typeface="黑体" pitchFamily="49" charset="-122"/>
                <a:cs typeface="经典粗黑简" pitchFamily="49" charset="-122"/>
              </a:rPr>
              <a:t>生成树和最小生成树</a:t>
            </a:r>
          </a:p>
        </p:txBody>
      </p:sp>
      <p:sp>
        <p:nvSpPr>
          <p:cNvPr id="12" name="Text Box 1047">
            <a:extLst>
              <a:ext uri="{FF2B5EF4-FFF2-40B4-BE49-F238E27FC236}">
                <a16:creationId xmlns:a16="http://schemas.microsoft.com/office/drawing/2014/main" id="{C451345C-D934-EE39-FFFE-A35EB18BBF6F}"/>
              </a:ext>
            </a:extLst>
          </p:cNvPr>
          <p:cNvSpPr txBox="1">
            <a:spLocks noChangeArrowheads="1"/>
          </p:cNvSpPr>
          <p:nvPr/>
        </p:nvSpPr>
        <p:spPr bwMode="auto">
          <a:xfrm>
            <a:off x="1375193" y="1869402"/>
            <a:ext cx="4824412" cy="400110"/>
          </a:xfrm>
          <a:prstGeom prst="rect">
            <a:avLst/>
          </a:prstGeom>
          <a:noFill/>
          <a:ln w="19050" algn="ctr">
            <a:noFill/>
            <a:miter lim="800000"/>
            <a:headEnd/>
            <a:tailEnd type="none" w="med" len="lg"/>
          </a:ln>
          <a:effectLst/>
        </p:spPr>
        <p:txBody>
          <a:bodyPr>
            <a:spAutoFit/>
          </a:bodyPr>
          <a:lstStyle/>
          <a:p>
            <a:pPr algn="l">
              <a:spcBef>
                <a:spcPct val="50000"/>
              </a:spcBef>
            </a:pPr>
            <a:r>
              <a:rPr kumimoji="1" lang="zh-CN" altLang="en-US" sz="2000" dirty="0">
                <a:latin typeface="Consolas" pitchFamily="49" charset="0"/>
                <a:ea typeface="楷体" pitchFamily="49" charset="-122"/>
                <a:cs typeface="Consolas" pitchFamily="49" charset="0"/>
              </a:rPr>
              <a:t>普里姆（</a:t>
            </a:r>
            <a:r>
              <a:rPr kumimoji="1" lang="en-US" altLang="zh-CN" sz="2000" dirty="0">
                <a:latin typeface="Consolas" pitchFamily="49" charset="0"/>
                <a:ea typeface="楷体" pitchFamily="49" charset="-122"/>
                <a:cs typeface="Consolas" pitchFamily="49" charset="0"/>
              </a:rPr>
              <a:t>Prim</a:t>
            </a:r>
            <a:r>
              <a:rPr kumimoji="1" lang="zh-CN" altLang="en-US" sz="2000" dirty="0">
                <a:latin typeface="Consolas" pitchFamily="49" charset="0"/>
                <a:ea typeface="楷体" pitchFamily="49" charset="-122"/>
                <a:cs typeface="Consolas" pitchFamily="49" charset="0"/>
              </a:rPr>
              <a:t>）算法如下：</a:t>
            </a:r>
            <a:endParaRPr lang="zh-CN" altLang="en-US" sz="2000" dirty="0">
              <a:latin typeface="Consolas" pitchFamily="49" charset="0"/>
              <a:ea typeface="楷体" pitchFamily="49" charset="-122"/>
              <a:cs typeface="Consolas" pitchFamily="49" charset="0"/>
            </a:endParaRPr>
          </a:p>
        </p:txBody>
      </p:sp>
      <p:sp>
        <p:nvSpPr>
          <p:cNvPr id="5" name="Oval 1036">
            <a:extLst>
              <a:ext uri="{FF2B5EF4-FFF2-40B4-BE49-F238E27FC236}">
                <a16:creationId xmlns:a16="http://schemas.microsoft.com/office/drawing/2014/main" id="{B54ACAFC-511E-8A21-08C1-2A02B10132E9}"/>
              </a:ext>
            </a:extLst>
          </p:cNvPr>
          <p:cNvSpPr>
            <a:spLocks noChangeArrowheads="1"/>
          </p:cNvSpPr>
          <p:nvPr/>
        </p:nvSpPr>
        <p:spPr bwMode="auto">
          <a:xfrm>
            <a:off x="4454939" y="2685568"/>
            <a:ext cx="1416060" cy="1773255"/>
          </a:xfrm>
          <a:prstGeom prst="ellipse">
            <a:avLst/>
          </a:prstGeom>
          <a:solidFill>
            <a:srgbClr val="FFFFFF">
              <a:alpha val="0"/>
            </a:srgbClr>
          </a:solidFill>
          <a:ln w="19050" algn="ctr">
            <a:solidFill>
              <a:srgbClr val="3333FF"/>
            </a:solidFill>
            <a:round/>
            <a:headEnd/>
            <a:tailEnd type="none" w="med" len="lg"/>
          </a:ln>
          <a:effectLst/>
        </p:spPr>
        <p:txBody>
          <a:bodyPr wrap="none" anchor="ctr"/>
          <a:lstStyle/>
          <a:p>
            <a:endParaRPr lang="zh-CN" altLang="en-US"/>
          </a:p>
        </p:txBody>
      </p:sp>
      <p:sp>
        <p:nvSpPr>
          <p:cNvPr id="27" name="Text Box 2">
            <a:extLst>
              <a:ext uri="{FF2B5EF4-FFF2-40B4-BE49-F238E27FC236}">
                <a16:creationId xmlns:a16="http://schemas.microsoft.com/office/drawing/2014/main" id="{52FD2F24-7653-0FF1-7790-6919C7EB446D}"/>
              </a:ext>
            </a:extLst>
          </p:cNvPr>
          <p:cNvSpPr txBox="1">
            <a:spLocks noChangeArrowheads="1"/>
          </p:cNvSpPr>
          <p:nvPr/>
        </p:nvSpPr>
        <p:spPr bwMode="auto">
          <a:xfrm>
            <a:off x="1524081" y="4605303"/>
            <a:ext cx="6768752" cy="2056076"/>
          </a:xfrm>
          <a:prstGeom prst="rect">
            <a:avLst/>
          </a:prstGeom>
          <a:solidFill>
            <a:schemeClr val="bg1"/>
          </a:solidFill>
          <a:ln>
            <a:noFill/>
            <a:headEnd/>
            <a:tailEnd/>
          </a:ln>
          <a:effectLst/>
          <a:scene3d>
            <a:camera prst="orthographicFront">
              <a:rot lat="0" lon="0" rev="0"/>
            </a:camera>
            <a:lightRig rig="chilly" dir="t">
              <a:rot lat="0" lon="0" rev="18480000"/>
            </a:lightRig>
          </a:scene3d>
          <a:sp3d prstMaterial="clear">
            <a:bevelT h="63500"/>
          </a:sp3d>
        </p:spPr>
        <p:style>
          <a:lnRef idx="1">
            <a:schemeClr val="accent3"/>
          </a:lnRef>
          <a:fillRef idx="2">
            <a:schemeClr val="accent3"/>
          </a:fillRef>
          <a:effectRef idx="1">
            <a:schemeClr val="accent3"/>
          </a:effectRef>
          <a:fontRef idx="minor">
            <a:schemeClr val="dk1"/>
          </a:fontRef>
        </p:style>
        <p:txBody>
          <a:bodyPr wrap="square">
            <a:spAutoFit/>
          </a:bodyPr>
          <a:lstStyle/>
          <a:p>
            <a:pPr algn="l">
              <a:lnSpc>
                <a:spcPts val="2200"/>
              </a:lnSpc>
            </a:pPr>
            <a:r>
              <a:rPr kumimoji="1" lang="en-US" altLang="zh-CN" dirty="0">
                <a:solidFill>
                  <a:srgbClr val="0000FF"/>
                </a:solidFill>
                <a:latin typeface="Consolas" pitchFamily="49" charset="0"/>
                <a:ea typeface="仿宋" pitchFamily="49" charset="-122"/>
                <a:cs typeface="Consolas" pitchFamily="49" charset="0"/>
              </a:rPr>
              <a:t>   </a:t>
            </a:r>
            <a:r>
              <a:rPr kumimoji="1" lang="en-US" altLang="zh-CN" sz="1800" dirty="0">
                <a:solidFill>
                  <a:srgbClr val="0000FF"/>
                </a:solidFill>
                <a:latin typeface="Consolas" pitchFamily="49" charset="0"/>
                <a:ea typeface="仿宋" pitchFamily="49" charset="-122"/>
                <a:cs typeface="Consolas" pitchFamily="49" charset="0"/>
              </a:rPr>
              <a:t>for (j=0;j&lt;</a:t>
            </a:r>
            <a:r>
              <a:rPr kumimoji="1" lang="en-US" altLang="zh-CN" sz="1800" dirty="0" err="1">
                <a:solidFill>
                  <a:srgbClr val="0000FF"/>
                </a:solidFill>
                <a:latin typeface="Consolas" pitchFamily="49" charset="0"/>
                <a:ea typeface="仿宋" pitchFamily="49" charset="-122"/>
                <a:cs typeface="Consolas" pitchFamily="49" charset="0"/>
              </a:rPr>
              <a:t>g.n;j</a:t>
            </a:r>
            <a:r>
              <a:rPr kumimoji="1" lang="en-US" altLang="zh-CN" sz="1800" dirty="0">
                <a:solidFill>
                  <a:srgbClr val="0000FF"/>
                </a:solidFill>
                <a:latin typeface="Consolas" pitchFamily="49" charset="0"/>
                <a:ea typeface="仿宋" pitchFamily="49" charset="-122"/>
                <a:cs typeface="Consolas" pitchFamily="49" charset="0"/>
              </a:rPr>
              <a:t>++)  </a:t>
            </a:r>
            <a:r>
              <a:rPr kumimoji="1" lang="en-US" altLang="zh-CN" sz="1800" dirty="0">
                <a:solidFill>
                  <a:srgbClr val="00B0F0"/>
                </a:solidFill>
                <a:latin typeface="Consolas" pitchFamily="49" charset="0"/>
                <a:ea typeface="仿宋" pitchFamily="49" charset="-122"/>
                <a:cs typeface="Consolas" pitchFamily="49" charset="0"/>
              </a:rPr>
              <a:t>//</a:t>
            </a:r>
            <a:r>
              <a:rPr kumimoji="1" lang="zh-CN" altLang="en-US" sz="1800" dirty="0">
                <a:solidFill>
                  <a:srgbClr val="00B0F0"/>
                </a:solidFill>
                <a:latin typeface="Consolas" pitchFamily="49" charset="0"/>
                <a:ea typeface="仿宋" pitchFamily="49" charset="-122"/>
                <a:cs typeface="Consolas" pitchFamily="49" charset="0"/>
              </a:rPr>
              <a:t>修改数组</a:t>
            </a:r>
            <a:r>
              <a:rPr kumimoji="1" lang="en-US" altLang="zh-CN" sz="1800" dirty="0" err="1">
                <a:solidFill>
                  <a:srgbClr val="00B0F0"/>
                </a:solidFill>
                <a:latin typeface="Consolas" pitchFamily="49" charset="0"/>
                <a:ea typeface="仿宋" pitchFamily="49" charset="-122"/>
                <a:cs typeface="Consolas" pitchFamily="49" charset="0"/>
              </a:rPr>
              <a:t>lowcost</a:t>
            </a:r>
            <a:r>
              <a:rPr kumimoji="1" lang="zh-CN" altLang="en-US" sz="1800" dirty="0">
                <a:solidFill>
                  <a:srgbClr val="00B0F0"/>
                </a:solidFill>
                <a:latin typeface="Consolas" pitchFamily="49" charset="0"/>
                <a:ea typeface="仿宋" pitchFamily="49" charset="-122"/>
                <a:cs typeface="Consolas" pitchFamily="49" charset="0"/>
              </a:rPr>
              <a:t>和</a:t>
            </a:r>
            <a:r>
              <a:rPr kumimoji="1" lang="en-US" altLang="zh-CN" sz="1800" dirty="0">
                <a:solidFill>
                  <a:srgbClr val="00B0F0"/>
                </a:solidFill>
                <a:latin typeface="Consolas" pitchFamily="49" charset="0"/>
                <a:ea typeface="仿宋" pitchFamily="49" charset="-122"/>
                <a:cs typeface="Consolas" pitchFamily="49" charset="0"/>
              </a:rPr>
              <a:t>closest</a:t>
            </a:r>
          </a:p>
          <a:p>
            <a:pPr algn="l">
              <a:lnSpc>
                <a:spcPts val="2200"/>
              </a:lnSpc>
            </a:pPr>
            <a:r>
              <a:rPr kumimoji="1" lang="en-US" altLang="zh-CN" sz="1800" dirty="0">
                <a:solidFill>
                  <a:srgbClr val="0000FF"/>
                </a:solidFill>
                <a:latin typeface="Consolas" pitchFamily="49" charset="0"/>
                <a:ea typeface="仿宋" pitchFamily="49" charset="-122"/>
                <a:cs typeface="Consolas" pitchFamily="49" charset="0"/>
              </a:rPr>
              <a:t>     if (</a:t>
            </a:r>
            <a:r>
              <a:rPr kumimoji="1" lang="en-US" altLang="zh-CN" sz="1800" dirty="0" err="1">
                <a:solidFill>
                  <a:srgbClr val="FF00FF"/>
                </a:solidFill>
                <a:latin typeface="Consolas" pitchFamily="49" charset="0"/>
                <a:ea typeface="仿宋" pitchFamily="49" charset="-122"/>
                <a:cs typeface="Consolas" pitchFamily="49" charset="0"/>
              </a:rPr>
              <a:t>lowcost</a:t>
            </a:r>
            <a:r>
              <a:rPr kumimoji="1" lang="en-US" altLang="zh-CN" sz="1800" dirty="0">
                <a:solidFill>
                  <a:srgbClr val="FF00FF"/>
                </a:solidFill>
                <a:latin typeface="Consolas" pitchFamily="49" charset="0"/>
                <a:ea typeface="仿宋" pitchFamily="49" charset="-122"/>
                <a:cs typeface="Consolas" pitchFamily="49" charset="0"/>
              </a:rPr>
              <a:t>[j]!=0</a:t>
            </a:r>
            <a:r>
              <a:rPr kumimoji="1" lang="en-US" altLang="zh-CN" sz="1800" dirty="0">
                <a:solidFill>
                  <a:srgbClr val="0000FF"/>
                </a:solidFill>
                <a:latin typeface="Consolas" pitchFamily="49" charset="0"/>
                <a:ea typeface="仿宋" pitchFamily="49" charset="-122"/>
                <a:cs typeface="Consolas" pitchFamily="49" charset="0"/>
              </a:rPr>
              <a:t> &amp;&amp; </a:t>
            </a:r>
            <a:r>
              <a:rPr kumimoji="1" lang="en-US" altLang="zh-CN" sz="1800" dirty="0" err="1">
                <a:solidFill>
                  <a:srgbClr val="0000FF"/>
                </a:solidFill>
                <a:latin typeface="Consolas" pitchFamily="49" charset="0"/>
                <a:ea typeface="仿宋" pitchFamily="49" charset="-122"/>
                <a:cs typeface="Consolas" pitchFamily="49" charset="0"/>
              </a:rPr>
              <a:t>g.edges</a:t>
            </a:r>
            <a:r>
              <a:rPr kumimoji="1" lang="en-US" altLang="zh-CN" sz="1800" dirty="0">
                <a:solidFill>
                  <a:srgbClr val="0000FF"/>
                </a:solidFill>
                <a:latin typeface="Consolas" pitchFamily="49" charset="0"/>
                <a:ea typeface="仿宋" pitchFamily="49" charset="-122"/>
                <a:cs typeface="Consolas" pitchFamily="49" charset="0"/>
              </a:rPr>
              <a:t>[k][j]&lt;</a:t>
            </a:r>
            <a:r>
              <a:rPr kumimoji="1" lang="en-US" altLang="zh-CN" sz="1800" dirty="0" err="1">
                <a:solidFill>
                  <a:srgbClr val="0000FF"/>
                </a:solidFill>
                <a:latin typeface="Consolas" pitchFamily="49" charset="0"/>
                <a:ea typeface="仿宋" pitchFamily="49" charset="-122"/>
                <a:cs typeface="Consolas" pitchFamily="49" charset="0"/>
              </a:rPr>
              <a:t>lowcost</a:t>
            </a:r>
            <a:r>
              <a:rPr kumimoji="1" lang="en-US" altLang="zh-CN" sz="1800" dirty="0">
                <a:solidFill>
                  <a:srgbClr val="0000FF"/>
                </a:solidFill>
                <a:latin typeface="Consolas" pitchFamily="49" charset="0"/>
                <a:ea typeface="仿宋" pitchFamily="49" charset="-122"/>
                <a:cs typeface="Consolas" pitchFamily="49" charset="0"/>
              </a:rPr>
              <a:t>[j])</a:t>
            </a:r>
          </a:p>
          <a:p>
            <a:pPr algn="l">
              <a:lnSpc>
                <a:spcPts val="2200"/>
              </a:lnSpc>
            </a:pPr>
            <a:r>
              <a:rPr kumimoji="1" lang="en-US" altLang="zh-CN" sz="1800" dirty="0">
                <a:solidFill>
                  <a:srgbClr val="0000FF"/>
                </a:solidFill>
                <a:latin typeface="Consolas" pitchFamily="49" charset="0"/>
                <a:ea typeface="仿宋" pitchFamily="49" charset="-122"/>
                <a:cs typeface="Consolas" pitchFamily="49" charset="0"/>
              </a:rPr>
              <a:t>     {  </a:t>
            </a:r>
            <a:r>
              <a:rPr kumimoji="1" lang="en-US" altLang="zh-CN" sz="1800" dirty="0" err="1">
                <a:solidFill>
                  <a:srgbClr val="0000FF"/>
                </a:solidFill>
                <a:latin typeface="Consolas" pitchFamily="49" charset="0"/>
                <a:ea typeface="仿宋" pitchFamily="49" charset="-122"/>
                <a:cs typeface="Consolas" pitchFamily="49" charset="0"/>
              </a:rPr>
              <a:t>lowcost</a:t>
            </a:r>
            <a:r>
              <a:rPr kumimoji="1" lang="en-US" altLang="zh-CN" sz="1800" dirty="0">
                <a:solidFill>
                  <a:srgbClr val="0000FF"/>
                </a:solidFill>
                <a:latin typeface="Consolas" pitchFamily="49" charset="0"/>
                <a:ea typeface="仿宋" pitchFamily="49" charset="-122"/>
                <a:cs typeface="Consolas" pitchFamily="49" charset="0"/>
              </a:rPr>
              <a:t>[j]=</a:t>
            </a:r>
            <a:r>
              <a:rPr kumimoji="1" lang="en-US" altLang="zh-CN" sz="1800" dirty="0" err="1">
                <a:solidFill>
                  <a:srgbClr val="0000FF"/>
                </a:solidFill>
                <a:latin typeface="Consolas" pitchFamily="49" charset="0"/>
                <a:ea typeface="仿宋" pitchFamily="49" charset="-122"/>
                <a:cs typeface="Consolas" pitchFamily="49" charset="0"/>
              </a:rPr>
              <a:t>g.edges</a:t>
            </a:r>
            <a:r>
              <a:rPr kumimoji="1" lang="en-US" altLang="zh-CN" sz="1800" dirty="0">
                <a:solidFill>
                  <a:srgbClr val="0000FF"/>
                </a:solidFill>
                <a:latin typeface="Consolas" pitchFamily="49" charset="0"/>
                <a:ea typeface="仿宋" pitchFamily="49" charset="-122"/>
                <a:cs typeface="Consolas" pitchFamily="49" charset="0"/>
              </a:rPr>
              <a:t>[k][j];</a:t>
            </a:r>
          </a:p>
          <a:p>
            <a:pPr algn="l">
              <a:lnSpc>
                <a:spcPts val="2200"/>
              </a:lnSpc>
            </a:pPr>
            <a:r>
              <a:rPr kumimoji="1" lang="en-US" altLang="zh-CN" sz="1800" dirty="0">
                <a:solidFill>
                  <a:srgbClr val="0000FF"/>
                </a:solidFill>
                <a:latin typeface="Consolas" pitchFamily="49" charset="0"/>
                <a:ea typeface="仿宋" pitchFamily="49" charset="-122"/>
                <a:cs typeface="Consolas" pitchFamily="49" charset="0"/>
              </a:rPr>
              <a:t>        closest[j]=</a:t>
            </a:r>
            <a:r>
              <a:rPr kumimoji="1" lang="en-US" altLang="zh-CN" sz="1800" i="1" dirty="0">
                <a:solidFill>
                  <a:srgbClr val="FF0000"/>
                </a:solidFill>
                <a:latin typeface="Consolas" pitchFamily="49" charset="0"/>
                <a:ea typeface="仿宋" pitchFamily="49" charset="-122"/>
                <a:cs typeface="Consolas" pitchFamily="49" charset="0"/>
              </a:rPr>
              <a:t>k</a:t>
            </a:r>
            <a:r>
              <a:rPr kumimoji="1" lang="en-US" altLang="zh-CN" sz="1800" dirty="0">
                <a:solidFill>
                  <a:srgbClr val="0000FF"/>
                </a:solidFill>
                <a:latin typeface="Consolas" pitchFamily="49" charset="0"/>
                <a:ea typeface="仿宋" pitchFamily="49" charset="-122"/>
                <a:cs typeface="Consolas" pitchFamily="49" charset="0"/>
              </a:rPr>
              <a:t>;</a:t>
            </a:r>
          </a:p>
          <a:p>
            <a:pPr algn="l">
              <a:lnSpc>
                <a:spcPts val="2200"/>
              </a:lnSpc>
            </a:pPr>
            <a:r>
              <a:rPr kumimoji="1" lang="en-US" altLang="zh-CN" sz="1800" dirty="0">
                <a:solidFill>
                  <a:srgbClr val="0000FF"/>
                </a:solidFill>
                <a:latin typeface="Consolas" pitchFamily="49" charset="0"/>
                <a:ea typeface="仿宋" pitchFamily="49" charset="-122"/>
                <a:cs typeface="Consolas" pitchFamily="49" charset="0"/>
              </a:rPr>
              <a:t>     }</a:t>
            </a:r>
          </a:p>
          <a:p>
            <a:pPr algn="l">
              <a:lnSpc>
                <a:spcPts val="2200"/>
              </a:lnSpc>
            </a:pPr>
            <a:r>
              <a:rPr kumimoji="1" lang="en-US" altLang="zh-CN" sz="1800" dirty="0">
                <a:solidFill>
                  <a:srgbClr val="0000FF"/>
                </a:solidFill>
                <a:latin typeface="Consolas" pitchFamily="49" charset="0"/>
                <a:ea typeface="仿宋" pitchFamily="49" charset="-122"/>
                <a:cs typeface="Consolas" pitchFamily="49" charset="0"/>
              </a:rPr>
              <a:t>   }</a:t>
            </a:r>
          </a:p>
          <a:p>
            <a:pPr algn="l">
              <a:lnSpc>
                <a:spcPts val="2200"/>
              </a:lnSpc>
            </a:pPr>
            <a:r>
              <a:rPr kumimoji="1" lang="en-US" altLang="zh-CN" sz="1800" dirty="0">
                <a:solidFill>
                  <a:srgbClr val="0000FF"/>
                </a:solidFill>
                <a:latin typeface="Consolas" pitchFamily="49" charset="0"/>
                <a:ea typeface="仿宋" pitchFamily="49" charset="-122"/>
                <a:cs typeface="Consolas" pitchFamily="49" charset="0"/>
              </a:rPr>
              <a:t>}</a:t>
            </a:r>
          </a:p>
        </p:txBody>
      </p:sp>
      <p:sp>
        <p:nvSpPr>
          <p:cNvPr id="28" name="Text Box 4">
            <a:extLst>
              <a:ext uri="{FF2B5EF4-FFF2-40B4-BE49-F238E27FC236}">
                <a16:creationId xmlns:a16="http://schemas.microsoft.com/office/drawing/2014/main" id="{61623FB6-AF0E-41DD-8B5F-BD0CB09F83B2}"/>
              </a:ext>
            </a:extLst>
          </p:cNvPr>
          <p:cNvSpPr txBox="1">
            <a:spLocks noChangeArrowheads="1"/>
          </p:cNvSpPr>
          <p:nvPr/>
        </p:nvSpPr>
        <p:spPr bwMode="auto">
          <a:xfrm>
            <a:off x="8690766" y="4902989"/>
            <a:ext cx="2734749" cy="646331"/>
          </a:xfrm>
          <a:prstGeom prst="rect">
            <a:avLst/>
          </a:prstGeom>
          <a:noFill/>
          <a:ln w="19050" algn="ctr">
            <a:noFill/>
            <a:miter lim="800000"/>
            <a:headEnd/>
            <a:tailEnd type="none" w="med" len="lg"/>
          </a:ln>
          <a:effectLst/>
        </p:spPr>
        <p:txBody>
          <a:bodyPr wrap="square">
            <a:spAutoFit/>
          </a:bodyPr>
          <a:lstStyle/>
          <a:p>
            <a:pPr algn="l">
              <a:spcBef>
                <a:spcPct val="50000"/>
              </a:spcBef>
            </a:pPr>
            <a:r>
              <a:rPr lang="zh-CN" altLang="en-US" sz="1800" dirty="0">
                <a:latin typeface="Consolas" pitchFamily="49" charset="0"/>
                <a:ea typeface="仿宋" pitchFamily="49" charset="-122"/>
                <a:cs typeface="Consolas" pitchFamily="49" charset="0"/>
              </a:rPr>
              <a:t>修改</a:t>
            </a:r>
            <a:r>
              <a:rPr lang="en-US" altLang="zh-CN" sz="1800" dirty="0">
                <a:latin typeface="Consolas" pitchFamily="49" charset="0"/>
                <a:ea typeface="仿宋" pitchFamily="49" charset="-122"/>
                <a:cs typeface="Consolas" pitchFamily="49" charset="0"/>
              </a:rPr>
              <a:t>U</a:t>
            </a:r>
            <a:r>
              <a:rPr lang="zh-CN" altLang="en-US" sz="1800" dirty="0">
                <a:latin typeface="Consolas" pitchFamily="49" charset="0"/>
                <a:ea typeface="仿宋" pitchFamily="49" charset="-122"/>
                <a:cs typeface="Consolas" pitchFamily="49" charset="0"/>
              </a:rPr>
              <a:t>和</a:t>
            </a:r>
            <a:r>
              <a:rPr lang="en-US" altLang="zh-CN" sz="1800" dirty="0">
                <a:latin typeface="Consolas" pitchFamily="49" charset="0"/>
                <a:ea typeface="仿宋" pitchFamily="49" charset="-122"/>
                <a:cs typeface="Consolas" pitchFamily="49" charset="0"/>
              </a:rPr>
              <a:t>V-U</a:t>
            </a:r>
            <a:r>
              <a:rPr lang="zh-CN" altLang="en-US" sz="1800" dirty="0">
                <a:latin typeface="Consolas" pitchFamily="49" charset="0"/>
                <a:ea typeface="仿宋" pitchFamily="49" charset="-122"/>
                <a:cs typeface="Consolas" pitchFamily="49" charset="0"/>
              </a:rPr>
              <a:t>之间的候选边，即调整</a:t>
            </a:r>
          </a:p>
        </p:txBody>
      </p:sp>
      <p:grpSp>
        <p:nvGrpSpPr>
          <p:cNvPr id="29" name="组合 19">
            <a:extLst>
              <a:ext uri="{FF2B5EF4-FFF2-40B4-BE49-F238E27FC236}">
                <a16:creationId xmlns:a16="http://schemas.microsoft.com/office/drawing/2014/main" id="{0D704F26-5610-FDE2-43CE-5D3C7ABC7E75}"/>
              </a:ext>
            </a:extLst>
          </p:cNvPr>
          <p:cNvGrpSpPr/>
          <p:nvPr/>
        </p:nvGrpSpPr>
        <p:grpSpPr>
          <a:xfrm>
            <a:off x="2062586" y="5157192"/>
            <a:ext cx="3100383" cy="1557663"/>
            <a:chOff x="115888" y="2205729"/>
            <a:chExt cx="3100383" cy="1557663"/>
          </a:xfrm>
        </p:grpSpPr>
        <p:sp>
          <p:nvSpPr>
            <p:cNvPr id="30" name="Freeform 7">
              <a:extLst>
                <a:ext uri="{FF2B5EF4-FFF2-40B4-BE49-F238E27FC236}">
                  <a16:creationId xmlns:a16="http://schemas.microsoft.com/office/drawing/2014/main" id="{739967FB-9D02-1CC6-747E-E4907D714528}"/>
                </a:ext>
              </a:extLst>
            </p:cNvPr>
            <p:cNvSpPr>
              <a:spLocks/>
            </p:cNvSpPr>
            <p:nvPr/>
          </p:nvSpPr>
          <p:spPr bwMode="auto">
            <a:xfrm>
              <a:off x="1342692" y="2205729"/>
              <a:ext cx="78822" cy="1249542"/>
            </a:xfrm>
            <a:custGeom>
              <a:avLst/>
              <a:gdLst/>
              <a:ahLst/>
              <a:cxnLst>
                <a:cxn ang="0">
                  <a:pos x="0" y="1216"/>
                </a:cxn>
                <a:cxn ang="0">
                  <a:pos x="488" y="0"/>
                </a:cxn>
              </a:cxnLst>
              <a:rect l="0" t="0" r="r" b="b"/>
              <a:pathLst>
                <a:path w="488" h="1216">
                  <a:moveTo>
                    <a:pt x="0" y="1216"/>
                  </a:moveTo>
                  <a:lnTo>
                    <a:pt x="488" y="0"/>
                  </a:lnTo>
                </a:path>
              </a:pathLst>
            </a:custGeom>
            <a:noFill/>
            <a:ln w="19050" cap="flat" cmpd="sng">
              <a:solidFill>
                <a:srgbClr val="DB0303"/>
              </a:solidFill>
              <a:prstDash val="solid"/>
              <a:round/>
              <a:headEnd type="none" w="med" len="med"/>
              <a:tailEnd type="stealth" w="med" len="lg"/>
            </a:ln>
            <a:effectLst/>
          </p:spPr>
          <p:txBody>
            <a:bodyPr wrap="none"/>
            <a:lstStyle/>
            <a:p>
              <a:endParaRPr lang="zh-CN" altLang="en-US"/>
            </a:p>
          </p:txBody>
        </p:sp>
        <p:sp>
          <p:nvSpPr>
            <p:cNvPr id="31" name="Text Box 8">
              <a:extLst>
                <a:ext uri="{FF2B5EF4-FFF2-40B4-BE49-F238E27FC236}">
                  <a16:creationId xmlns:a16="http://schemas.microsoft.com/office/drawing/2014/main" id="{4F0368DD-74C3-F990-44D3-4B3542915ECA}"/>
                </a:ext>
              </a:extLst>
            </p:cNvPr>
            <p:cNvSpPr txBox="1">
              <a:spLocks noChangeArrowheads="1"/>
            </p:cNvSpPr>
            <p:nvPr/>
          </p:nvSpPr>
          <p:spPr bwMode="auto">
            <a:xfrm>
              <a:off x="115888" y="3394060"/>
              <a:ext cx="3100383" cy="369332"/>
            </a:xfrm>
            <a:prstGeom prst="rect">
              <a:avLst/>
            </a:prstGeom>
            <a:noFill/>
            <a:ln w="19050" algn="ctr">
              <a:noFill/>
              <a:miter lim="800000"/>
              <a:headEnd/>
              <a:tailEnd type="none" w="med" len="lg"/>
            </a:ln>
            <a:effectLst/>
          </p:spPr>
          <p:txBody>
            <a:bodyPr wrap="square">
              <a:spAutoFit/>
            </a:bodyPr>
            <a:lstStyle/>
            <a:p>
              <a:pPr>
                <a:spcBef>
                  <a:spcPct val="50000"/>
                </a:spcBef>
              </a:pPr>
              <a:r>
                <a:rPr lang="zh-CN" altLang="en-US" sz="1800" dirty="0">
                  <a:solidFill>
                    <a:srgbClr val="DB0303"/>
                  </a:solidFill>
                  <a:latin typeface="Consolas" pitchFamily="49" charset="0"/>
                  <a:ea typeface="仿宋" pitchFamily="49" charset="-122"/>
                  <a:cs typeface="Consolas" pitchFamily="49" charset="0"/>
                </a:rPr>
                <a:t>仅仅考虑</a:t>
              </a:r>
              <a:r>
                <a:rPr lang="en-US" altLang="zh-CN" sz="1800" dirty="0">
                  <a:solidFill>
                    <a:srgbClr val="DB0303"/>
                  </a:solidFill>
                  <a:latin typeface="Consolas" pitchFamily="49" charset="0"/>
                  <a:ea typeface="仿宋" pitchFamily="49" charset="-122"/>
                  <a:cs typeface="Consolas" pitchFamily="49" charset="0"/>
                </a:rPr>
                <a:t>V-U</a:t>
              </a:r>
              <a:r>
                <a:rPr lang="zh-CN" altLang="en-US" sz="1800" dirty="0">
                  <a:solidFill>
                    <a:srgbClr val="DB0303"/>
                  </a:solidFill>
                  <a:latin typeface="Consolas" pitchFamily="49" charset="0"/>
                  <a:ea typeface="仿宋" pitchFamily="49" charset="-122"/>
                  <a:cs typeface="Consolas" pitchFamily="49" charset="0"/>
                </a:rPr>
                <a:t>中的顶点</a:t>
              </a:r>
            </a:p>
          </p:txBody>
        </p:sp>
      </p:grpSp>
      <p:sp>
        <p:nvSpPr>
          <p:cNvPr id="32" name="右大括号 31">
            <a:extLst>
              <a:ext uri="{FF2B5EF4-FFF2-40B4-BE49-F238E27FC236}">
                <a16:creationId xmlns:a16="http://schemas.microsoft.com/office/drawing/2014/main" id="{76807D4A-304E-94AB-0734-D10C64060F45}"/>
              </a:ext>
            </a:extLst>
          </p:cNvPr>
          <p:cNvSpPr/>
          <p:nvPr/>
        </p:nvSpPr>
        <p:spPr>
          <a:xfrm>
            <a:off x="8385553" y="4906378"/>
            <a:ext cx="144000" cy="642942"/>
          </a:xfrm>
          <a:prstGeom prst="rightBrace">
            <a:avLst/>
          </a:prstGeom>
          <a:ln/>
        </p:spPr>
        <p:style>
          <a:lnRef idx="2">
            <a:schemeClr val="accent5"/>
          </a:lnRef>
          <a:fillRef idx="0">
            <a:schemeClr val="accent5"/>
          </a:fillRef>
          <a:effectRef idx="1">
            <a:schemeClr val="accent5"/>
          </a:effectRef>
          <a:fontRef idx="minor">
            <a:schemeClr val="tx1"/>
          </a:fontRef>
        </p:style>
        <p:txBody>
          <a:bodyPr rtlCol="0" anchor="ctr"/>
          <a:lstStyle/>
          <a:p>
            <a:pPr algn="ctr"/>
            <a:endParaRPr lang="zh-CN" altLang="en-US"/>
          </a:p>
        </p:txBody>
      </p:sp>
      <p:sp>
        <p:nvSpPr>
          <p:cNvPr id="33" name="Oval 1037">
            <a:extLst>
              <a:ext uri="{FF2B5EF4-FFF2-40B4-BE49-F238E27FC236}">
                <a16:creationId xmlns:a16="http://schemas.microsoft.com/office/drawing/2014/main" id="{B74B536F-A821-29E9-7211-212B8FFBE4EE}"/>
              </a:ext>
            </a:extLst>
          </p:cNvPr>
          <p:cNvSpPr>
            <a:spLocks noChangeArrowheads="1"/>
          </p:cNvSpPr>
          <p:nvPr/>
        </p:nvSpPr>
        <p:spPr bwMode="auto">
          <a:xfrm>
            <a:off x="7302942" y="2844319"/>
            <a:ext cx="1152525" cy="1368425"/>
          </a:xfrm>
          <a:prstGeom prst="ellipse">
            <a:avLst/>
          </a:prstGeom>
          <a:solidFill>
            <a:schemeClr val="accent3">
              <a:lumMod val="60000"/>
              <a:lumOff val="40000"/>
              <a:alpha val="64000"/>
            </a:schemeClr>
          </a:solidFill>
          <a:ln w="19050" algn="ctr">
            <a:solidFill>
              <a:srgbClr val="3333FF"/>
            </a:solidFill>
            <a:round/>
            <a:headEnd/>
            <a:tailEnd type="none" w="med" len="lg"/>
          </a:ln>
          <a:effectLst/>
        </p:spPr>
        <p:txBody>
          <a:bodyPr wrap="none" anchor="ctr"/>
          <a:lstStyle/>
          <a:p>
            <a:endParaRPr lang="zh-CN" altLang="en-US"/>
          </a:p>
        </p:txBody>
      </p:sp>
      <p:sp>
        <p:nvSpPr>
          <p:cNvPr id="34" name="Oval 1035">
            <a:extLst>
              <a:ext uri="{FF2B5EF4-FFF2-40B4-BE49-F238E27FC236}">
                <a16:creationId xmlns:a16="http://schemas.microsoft.com/office/drawing/2014/main" id="{99675582-71D1-F1F1-045A-CE8932E934DC}"/>
              </a:ext>
            </a:extLst>
          </p:cNvPr>
          <p:cNvSpPr>
            <a:spLocks noChangeArrowheads="1"/>
          </p:cNvSpPr>
          <p:nvPr/>
        </p:nvSpPr>
        <p:spPr bwMode="auto">
          <a:xfrm>
            <a:off x="5016944" y="2984025"/>
            <a:ext cx="431800" cy="431800"/>
          </a:xfrm>
          <a:prstGeom prst="ellipse">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anchor="ctr"/>
          <a:lstStyle/>
          <a:p>
            <a:r>
              <a:rPr lang="en-US" altLang="zh-CN" sz="1800" i="1">
                <a:solidFill>
                  <a:srgbClr val="0000FF"/>
                </a:solidFill>
                <a:latin typeface="Consolas" pitchFamily="49" charset="0"/>
                <a:ea typeface="宋体" pitchFamily="2" charset="-122"/>
                <a:cs typeface="Consolas" pitchFamily="49" charset="0"/>
              </a:rPr>
              <a:t>x</a:t>
            </a:r>
            <a:endParaRPr lang="en-US" altLang="zh-CN" sz="1800" i="1" baseline="-25000" dirty="0">
              <a:solidFill>
                <a:srgbClr val="0000FF"/>
              </a:solidFill>
              <a:latin typeface="Consolas" pitchFamily="49" charset="0"/>
              <a:ea typeface="宋体" pitchFamily="2" charset="-122"/>
              <a:cs typeface="Consolas" pitchFamily="49" charset="0"/>
            </a:endParaRPr>
          </a:p>
        </p:txBody>
      </p:sp>
      <p:sp>
        <p:nvSpPr>
          <p:cNvPr id="35" name="Text Box 1038">
            <a:extLst>
              <a:ext uri="{FF2B5EF4-FFF2-40B4-BE49-F238E27FC236}">
                <a16:creationId xmlns:a16="http://schemas.microsoft.com/office/drawing/2014/main" id="{6737C4DF-4416-E4AB-A077-BE82942D76B9}"/>
              </a:ext>
            </a:extLst>
          </p:cNvPr>
          <p:cNvSpPr txBox="1">
            <a:spLocks noChangeArrowheads="1"/>
          </p:cNvSpPr>
          <p:nvPr/>
        </p:nvSpPr>
        <p:spPr bwMode="auto">
          <a:xfrm>
            <a:off x="4901034" y="2279168"/>
            <a:ext cx="503237" cy="366713"/>
          </a:xfrm>
          <a:prstGeom prst="rect">
            <a:avLst/>
          </a:prstGeom>
          <a:noFill/>
          <a:ln w="19050" algn="ctr">
            <a:noFill/>
            <a:miter lim="800000"/>
            <a:headEnd/>
            <a:tailEnd type="none" w="med" len="lg"/>
          </a:ln>
          <a:effectLst/>
        </p:spPr>
        <p:txBody>
          <a:bodyPr>
            <a:spAutoFit/>
          </a:bodyPr>
          <a:lstStyle/>
          <a:p>
            <a:pPr>
              <a:spcBef>
                <a:spcPct val="50000"/>
              </a:spcBef>
            </a:pPr>
            <a:r>
              <a:rPr lang="en-US" altLang="zh-CN" sz="1800" dirty="0">
                <a:solidFill>
                  <a:srgbClr val="0000FF"/>
                </a:solidFill>
                <a:latin typeface="Consolas" pitchFamily="49" charset="0"/>
                <a:ea typeface="宋体" pitchFamily="2" charset="-122"/>
                <a:cs typeface="Consolas" pitchFamily="49" charset="0"/>
              </a:rPr>
              <a:t>U</a:t>
            </a:r>
          </a:p>
        </p:txBody>
      </p:sp>
      <p:sp>
        <p:nvSpPr>
          <p:cNvPr id="36" name="Text Box 1039">
            <a:extLst>
              <a:ext uri="{FF2B5EF4-FFF2-40B4-BE49-F238E27FC236}">
                <a16:creationId xmlns:a16="http://schemas.microsoft.com/office/drawing/2014/main" id="{79F74648-77CE-EAC0-7E6C-CE8F42894D61}"/>
              </a:ext>
            </a:extLst>
          </p:cNvPr>
          <p:cNvSpPr txBox="1">
            <a:spLocks noChangeArrowheads="1"/>
          </p:cNvSpPr>
          <p:nvPr/>
        </p:nvSpPr>
        <p:spPr bwMode="auto">
          <a:xfrm>
            <a:off x="7325167" y="2412521"/>
            <a:ext cx="1079500" cy="366713"/>
          </a:xfrm>
          <a:prstGeom prst="rect">
            <a:avLst/>
          </a:prstGeom>
          <a:noFill/>
          <a:ln w="19050" algn="ctr">
            <a:noFill/>
            <a:miter lim="800000"/>
            <a:headEnd/>
            <a:tailEnd type="none" w="med" len="lg"/>
          </a:ln>
          <a:effectLst/>
        </p:spPr>
        <p:txBody>
          <a:bodyPr>
            <a:spAutoFit/>
          </a:bodyPr>
          <a:lstStyle/>
          <a:p>
            <a:pPr>
              <a:spcBef>
                <a:spcPct val="50000"/>
              </a:spcBef>
            </a:pPr>
            <a:r>
              <a:rPr lang="en-US" altLang="zh-CN" sz="1800" dirty="0">
                <a:solidFill>
                  <a:srgbClr val="0000FF"/>
                </a:solidFill>
                <a:latin typeface="Consolas" pitchFamily="49" charset="0"/>
                <a:ea typeface="宋体" pitchFamily="2" charset="-122"/>
                <a:cs typeface="Consolas" pitchFamily="49" charset="0"/>
              </a:rPr>
              <a:t>V</a:t>
            </a:r>
            <a:r>
              <a:rPr lang="zh-CN" altLang="en-US" sz="1800" dirty="0">
                <a:solidFill>
                  <a:srgbClr val="0000FF"/>
                </a:solidFill>
                <a:latin typeface="Consolas" pitchFamily="49" charset="0"/>
                <a:ea typeface="宋体" pitchFamily="2" charset="-122"/>
                <a:cs typeface="Consolas" pitchFamily="49" charset="0"/>
              </a:rPr>
              <a:t>－</a:t>
            </a:r>
            <a:r>
              <a:rPr lang="en-US" altLang="zh-CN" sz="1800" dirty="0">
                <a:solidFill>
                  <a:srgbClr val="0000FF"/>
                </a:solidFill>
                <a:latin typeface="Consolas" pitchFamily="49" charset="0"/>
                <a:ea typeface="宋体" pitchFamily="2" charset="-122"/>
                <a:cs typeface="Consolas" pitchFamily="49" charset="0"/>
              </a:rPr>
              <a:t>U</a:t>
            </a:r>
          </a:p>
        </p:txBody>
      </p:sp>
      <p:sp>
        <p:nvSpPr>
          <p:cNvPr id="37" name="Oval 1041">
            <a:extLst>
              <a:ext uri="{FF2B5EF4-FFF2-40B4-BE49-F238E27FC236}">
                <a16:creationId xmlns:a16="http://schemas.microsoft.com/office/drawing/2014/main" id="{8E4DDB7F-079C-899C-7E1F-57A90064B629}"/>
              </a:ext>
            </a:extLst>
          </p:cNvPr>
          <p:cNvSpPr>
            <a:spLocks noChangeArrowheads="1"/>
          </p:cNvSpPr>
          <p:nvPr/>
        </p:nvSpPr>
        <p:spPr bwMode="auto">
          <a:xfrm>
            <a:off x="5023289" y="3838109"/>
            <a:ext cx="431800" cy="431800"/>
          </a:xfrm>
          <a:prstGeom prst="ellipse">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anchor="ctr"/>
          <a:lstStyle/>
          <a:p>
            <a:r>
              <a:rPr lang="en-US" altLang="zh-CN" sz="1800" i="1" dirty="0">
                <a:solidFill>
                  <a:srgbClr val="FF0000"/>
                </a:solidFill>
                <a:latin typeface="Consolas" pitchFamily="49" charset="0"/>
                <a:ea typeface="宋体" pitchFamily="2" charset="-122"/>
                <a:cs typeface="Consolas" pitchFamily="49" charset="0"/>
              </a:rPr>
              <a:t>k</a:t>
            </a:r>
          </a:p>
        </p:txBody>
      </p:sp>
      <p:sp>
        <p:nvSpPr>
          <p:cNvPr id="38" name="Oval 1041">
            <a:extLst>
              <a:ext uri="{FF2B5EF4-FFF2-40B4-BE49-F238E27FC236}">
                <a16:creationId xmlns:a16="http://schemas.microsoft.com/office/drawing/2014/main" id="{4B3E7B1B-13D4-D0F1-6BBC-C6181E977FEB}"/>
              </a:ext>
            </a:extLst>
          </p:cNvPr>
          <p:cNvSpPr>
            <a:spLocks noChangeArrowheads="1"/>
          </p:cNvSpPr>
          <p:nvPr/>
        </p:nvSpPr>
        <p:spPr bwMode="auto">
          <a:xfrm>
            <a:off x="7591884" y="3266605"/>
            <a:ext cx="431800" cy="431800"/>
          </a:xfrm>
          <a:prstGeom prst="ellipse">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anchor="ctr"/>
          <a:lstStyle/>
          <a:p>
            <a:r>
              <a:rPr lang="en-US" altLang="zh-CN" sz="1800" i="1" dirty="0">
                <a:solidFill>
                  <a:srgbClr val="0000FF"/>
                </a:solidFill>
                <a:latin typeface="Consolas" pitchFamily="49" charset="0"/>
                <a:ea typeface="宋体" pitchFamily="2" charset="-122"/>
                <a:cs typeface="Consolas" pitchFamily="49" charset="0"/>
              </a:rPr>
              <a:t>j</a:t>
            </a:r>
          </a:p>
        </p:txBody>
      </p:sp>
      <p:sp>
        <p:nvSpPr>
          <p:cNvPr id="39" name="Oval 1036">
            <a:extLst>
              <a:ext uri="{FF2B5EF4-FFF2-40B4-BE49-F238E27FC236}">
                <a16:creationId xmlns:a16="http://schemas.microsoft.com/office/drawing/2014/main" id="{397C4ACC-C7C5-BDFD-616E-24D9174A7DD8}"/>
              </a:ext>
            </a:extLst>
          </p:cNvPr>
          <p:cNvSpPr>
            <a:spLocks noChangeArrowheads="1"/>
          </p:cNvSpPr>
          <p:nvPr/>
        </p:nvSpPr>
        <p:spPr bwMode="auto">
          <a:xfrm>
            <a:off x="4698858" y="2826088"/>
            <a:ext cx="1000132" cy="844561"/>
          </a:xfrm>
          <a:prstGeom prst="ellipse">
            <a:avLst/>
          </a:prstGeom>
          <a:solidFill>
            <a:schemeClr val="accent5">
              <a:lumMod val="40000"/>
              <a:lumOff val="60000"/>
              <a:alpha val="70000"/>
            </a:schemeClr>
          </a:solidFill>
          <a:ln w="19050" algn="ctr">
            <a:solidFill>
              <a:srgbClr val="FF0000"/>
            </a:solidFill>
            <a:prstDash val="sysDash"/>
            <a:round/>
            <a:headEnd/>
            <a:tailEnd type="none" w="med" len="lg"/>
          </a:ln>
          <a:effectLst/>
        </p:spPr>
        <p:txBody>
          <a:bodyPr wrap="none" anchor="ctr"/>
          <a:lstStyle/>
          <a:p>
            <a:endParaRPr lang="zh-CN" altLang="en-US">
              <a:latin typeface="Consolas" pitchFamily="49" charset="0"/>
              <a:cs typeface="Consolas" pitchFamily="49" charset="0"/>
            </a:endParaRPr>
          </a:p>
        </p:txBody>
      </p:sp>
      <p:cxnSp>
        <p:nvCxnSpPr>
          <p:cNvPr id="40" name="直接连接符 39">
            <a:extLst>
              <a:ext uri="{FF2B5EF4-FFF2-40B4-BE49-F238E27FC236}">
                <a16:creationId xmlns:a16="http://schemas.microsoft.com/office/drawing/2014/main" id="{D51321AC-7922-38F9-6856-D698B3913D11}"/>
              </a:ext>
            </a:extLst>
          </p:cNvPr>
          <p:cNvCxnSpPr/>
          <p:nvPr/>
        </p:nvCxnSpPr>
        <p:spPr>
          <a:xfrm>
            <a:off x="5864648" y="3412653"/>
            <a:ext cx="1728000" cy="69852"/>
          </a:xfrm>
          <a:prstGeom prst="line">
            <a:avLst/>
          </a:prstGeom>
          <a:ln/>
        </p:spPr>
        <p:style>
          <a:lnRef idx="2">
            <a:schemeClr val="accent2"/>
          </a:lnRef>
          <a:fillRef idx="0">
            <a:schemeClr val="accent2"/>
          </a:fillRef>
          <a:effectRef idx="1">
            <a:schemeClr val="accent2"/>
          </a:effectRef>
          <a:fontRef idx="minor">
            <a:schemeClr val="tx1"/>
          </a:fontRef>
        </p:style>
      </p:cxnSp>
      <p:sp>
        <p:nvSpPr>
          <p:cNvPr id="41" name="TextBox 26">
            <a:extLst>
              <a:ext uri="{FF2B5EF4-FFF2-40B4-BE49-F238E27FC236}">
                <a16:creationId xmlns:a16="http://schemas.microsoft.com/office/drawing/2014/main" id="{6DC0767B-3881-1EA4-AFEB-9515C3115E2D}"/>
              </a:ext>
            </a:extLst>
          </p:cNvPr>
          <p:cNvSpPr txBox="1"/>
          <p:nvPr/>
        </p:nvSpPr>
        <p:spPr>
          <a:xfrm rot="474129">
            <a:off x="6031822" y="3014803"/>
            <a:ext cx="1214446" cy="246221"/>
          </a:xfrm>
          <a:prstGeom prst="rect">
            <a:avLst/>
          </a:prstGeom>
          <a:noFill/>
        </p:spPr>
        <p:txBody>
          <a:bodyPr wrap="square" lIns="0" tIns="0" rIns="0" bIns="0" rtlCol="0">
            <a:spAutoFit/>
          </a:bodyPr>
          <a:lstStyle/>
          <a:p>
            <a:pPr algn="l"/>
            <a:r>
              <a:rPr lang="en-US" altLang="zh-CN" sz="1600">
                <a:latin typeface="Consolas" pitchFamily="49" charset="0"/>
                <a:cs typeface="Consolas" pitchFamily="49" charset="0"/>
              </a:rPr>
              <a:t>lowcost[j]</a:t>
            </a:r>
            <a:endParaRPr lang="zh-CN" altLang="en-US" sz="1600">
              <a:latin typeface="Consolas" pitchFamily="49" charset="0"/>
              <a:cs typeface="Consolas" pitchFamily="49" charset="0"/>
            </a:endParaRPr>
          </a:p>
        </p:txBody>
      </p:sp>
      <p:cxnSp>
        <p:nvCxnSpPr>
          <p:cNvPr id="42" name="直接连接符 41">
            <a:extLst>
              <a:ext uri="{FF2B5EF4-FFF2-40B4-BE49-F238E27FC236}">
                <a16:creationId xmlns:a16="http://schemas.microsoft.com/office/drawing/2014/main" id="{121F1BD6-B4D3-134A-2C15-5FE652548610}"/>
              </a:ext>
            </a:extLst>
          </p:cNvPr>
          <p:cNvCxnSpPr>
            <a:stCxn id="37" idx="6"/>
            <a:endCxn id="38" idx="3"/>
          </p:cNvCxnSpPr>
          <p:nvPr/>
        </p:nvCxnSpPr>
        <p:spPr>
          <a:xfrm flipV="1">
            <a:off x="5455089" y="3635169"/>
            <a:ext cx="2200031" cy="418840"/>
          </a:xfrm>
          <a:prstGeom prst="line">
            <a:avLst/>
          </a:prstGeom>
          <a:ln>
            <a:solidFill>
              <a:srgbClr val="FF00FF"/>
            </a:solidFill>
          </a:ln>
        </p:spPr>
        <p:style>
          <a:lnRef idx="2">
            <a:schemeClr val="accent5"/>
          </a:lnRef>
          <a:fillRef idx="0">
            <a:schemeClr val="accent5"/>
          </a:fillRef>
          <a:effectRef idx="1">
            <a:schemeClr val="accent5"/>
          </a:effectRef>
          <a:fontRef idx="minor">
            <a:schemeClr val="tx1"/>
          </a:fontRef>
        </p:style>
      </p:cxnSp>
      <p:sp>
        <p:nvSpPr>
          <p:cNvPr id="43" name="TextBox 29">
            <a:extLst>
              <a:ext uri="{FF2B5EF4-FFF2-40B4-BE49-F238E27FC236}">
                <a16:creationId xmlns:a16="http://schemas.microsoft.com/office/drawing/2014/main" id="{8AE5CE26-A6B7-5BDF-C538-33B7E51CF38F}"/>
              </a:ext>
            </a:extLst>
          </p:cNvPr>
          <p:cNvSpPr txBox="1"/>
          <p:nvPr/>
        </p:nvSpPr>
        <p:spPr>
          <a:xfrm rot="21035007">
            <a:off x="5929862" y="3881984"/>
            <a:ext cx="1381328" cy="246221"/>
          </a:xfrm>
          <a:prstGeom prst="rect">
            <a:avLst/>
          </a:prstGeom>
          <a:noFill/>
        </p:spPr>
        <p:txBody>
          <a:bodyPr wrap="square" lIns="0" tIns="0" rIns="0" bIns="0" rtlCol="0">
            <a:spAutoFit/>
          </a:bodyPr>
          <a:lstStyle/>
          <a:p>
            <a:pPr algn="l"/>
            <a:r>
              <a:rPr lang="en-US" altLang="zh-CN" sz="1600">
                <a:latin typeface="Consolas" pitchFamily="49" charset="0"/>
                <a:cs typeface="Consolas" pitchFamily="49" charset="0"/>
              </a:rPr>
              <a:t>g.edges[k][j]</a:t>
            </a:r>
            <a:endParaRPr lang="zh-CN" altLang="en-US" sz="1600">
              <a:latin typeface="Consolas" pitchFamily="49" charset="0"/>
              <a:cs typeface="Consolas" pitchFamily="49" charset="0"/>
            </a:endParaRPr>
          </a:p>
        </p:txBody>
      </p:sp>
      <p:sp>
        <p:nvSpPr>
          <p:cNvPr id="44" name="TextBox 24">
            <a:extLst>
              <a:ext uri="{FF2B5EF4-FFF2-40B4-BE49-F238E27FC236}">
                <a16:creationId xmlns:a16="http://schemas.microsoft.com/office/drawing/2014/main" id="{32FEAB14-5BA5-AC4F-8522-7A2F06031782}"/>
              </a:ext>
            </a:extLst>
          </p:cNvPr>
          <p:cNvSpPr txBox="1"/>
          <p:nvPr/>
        </p:nvSpPr>
        <p:spPr>
          <a:xfrm>
            <a:off x="1811442" y="2810236"/>
            <a:ext cx="2521538" cy="369332"/>
          </a:xfrm>
          <a:prstGeom prst="rect">
            <a:avLst/>
          </a:prstGeom>
          <a:noFill/>
        </p:spPr>
        <p:txBody>
          <a:bodyPr wrap="square" rtlCol="0">
            <a:spAutoFit/>
          </a:bodyPr>
          <a:lstStyle/>
          <a:p>
            <a:r>
              <a:rPr lang="en-US" altLang="zh-CN" sz="1800" i="1" dirty="0">
                <a:latin typeface="Consolas" pitchFamily="49" charset="0"/>
                <a:ea typeface="仿宋" pitchFamily="49" charset="-122"/>
                <a:cs typeface="Consolas" pitchFamily="49" charset="0"/>
              </a:rPr>
              <a:t>U</a:t>
            </a:r>
            <a:r>
              <a:rPr lang="zh-CN" altLang="en-US" sz="1800" dirty="0">
                <a:latin typeface="Consolas" pitchFamily="49" charset="0"/>
                <a:ea typeface="仿宋" pitchFamily="49" charset="-122"/>
                <a:cs typeface="Consolas" pitchFamily="49" charset="0"/>
              </a:rPr>
              <a:t>中除了</a:t>
            </a:r>
            <a:r>
              <a:rPr lang="en-US" altLang="zh-CN" sz="1800" i="1" dirty="0">
                <a:latin typeface="Consolas" pitchFamily="49" charset="0"/>
                <a:ea typeface="仿宋" pitchFamily="49" charset="-122"/>
                <a:cs typeface="Consolas" pitchFamily="49" charset="0"/>
              </a:rPr>
              <a:t>k</a:t>
            </a:r>
            <a:r>
              <a:rPr lang="zh-CN" altLang="en-US" sz="1800" dirty="0">
                <a:latin typeface="Consolas" pitchFamily="49" charset="0"/>
                <a:ea typeface="仿宋" pitchFamily="49" charset="-122"/>
                <a:cs typeface="Consolas" pitchFamily="49" charset="0"/>
              </a:rPr>
              <a:t>外的全部顶点</a:t>
            </a:r>
          </a:p>
        </p:txBody>
      </p:sp>
      <p:sp>
        <p:nvSpPr>
          <p:cNvPr id="45" name="TextBox 27">
            <a:extLst>
              <a:ext uri="{FF2B5EF4-FFF2-40B4-BE49-F238E27FC236}">
                <a16:creationId xmlns:a16="http://schemas.microsoft.com/office/drawing/2014/main" id="{F7292995-A711-98B2-2166-28FEF4D484FE}"/>
              </a:ext>
            </a:extLst>
          </p:cNvPr>
          <p:cNvSpPr txBox="1"/>
          <p:nvPr/>
        </p:nvSpPr>
        <p:spPr>
          <a:xfrm>
            <a:off x="2525658" y="3918364"/>
            <a:ext cx="1735150" cy="369332"/>
          </a:xfrm>
          <a:prstGeom prst="rect">
            <a:avLst/>
          </a:prstGeom>
          <a:noFill/>
        </p:spPr>
        <p:txBody>
          <a:bodyPr wrap="square" rtlCol="0">
            <a:spAutoFit/>
          </a:bodyPr>
          <a:lstStyle/>
          <a:p>
            <a:r>
              <a:rPr lang="zh-CN" altLang="en-US" sz="1800" dirty="0">
                <a:latin typeface="Consolas" pitchFamily="49" charset="0"/>
                <a:ea typeface="仿宋" pitchFamily="49" charset="-122"/>
                <a:cs typeface="Consolas" pitchFamily="49" charset="0"/>
              </a:rPr>
              <a:t>本次加入顶点</a:t>
            </a:r>
            <a:r>
              <a:rPr lang="en-US" altLang="zh-CN" sz="1800" i="1" dirty="0">
                <a:latin typeface="Consolas" pitchFamily="49" charset="0"/>
                <a:ea typeface="仿宋" pitchFamily="49" charset="-122"/>
                <a:cs typeface="Consolas" pitchFamily="49" charset="0"/>
              </a:rPr>
              <a:t>k</a:t>
            </a:r>
            <a:endParaRPr lang="zh-CN" altLang="en-US" sz="1800" dirty="0">
              <a:latin typeface="Consolas" pitchFamily="49" charset="0"/>
              <a:ea typeface="仿宋" pitchFamily="49" charset="-122"/>
              <a:cs typeface="Consolas" pitchFamily="49" charset="0"/>
            </a:endParaRPr>
          </a:p>
        </p:txBody>
      </p:sp>
      <p:cxnSp>
        <p:nvCxnSpPr>
          <p:cNvPr id="46" name="直接箭头连接符 45">
            <a:extLst>
              <a:ext uri="{FF2B5EF4-FFF2-40B4-BE49-F238E27FC236}">
                <a16:creationId xmlns:a16="http://schemas.microsoft.com/office/drawing/2014/main" id="{5D9FBA57-E1E3-9498-AB77-7B8F23DE6811}"/>
              </a:ext>
            </a:extLst>
          </p:cNvPr>
          <p:cNvCxnSpPr/>
          <p:nvPr/>
        </p:nvCxnSpPr>
        <p:spPr>
          <a:xfrm>
            <a:off x="4240625" y="2984025"/>
            <a:ext cx="500066" cy="214314"/>
          </a:xfrm>
          <a:prstGeom prst="straightConnector1">
            <a:avLst/>
          </a:prstGeom>
          <a:ln w="28575">
            <a:solidFill>
              <a:schemeClr val="accent6">
                <a:lumMod val="7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47" name="直接箭头连接符 46">
            <a:extLst>
              <a:ext uri="{FF2B5EF4-FFF2-40B4-BE49-F238E27FC236}">
                <a16:creationId xmlns:a16="http://schemas.microsoft.com/office/drawing/2014/main" id="{DAC20B1D-9964-1E3E-EA4C-F11055C10026}"/>
              </a:ext>
            </a:extLst>
          </p:cNvPr>
          <p:cNvCxnSpPr>
            <a:endCxn id="37" idx="2"/>
          </p:cNvCxnSpPr>
          <p:nvPr/>
        </p:nvCxnSpPr>
        <p:spPr>
          <a:xfrm flipV="1">
            <a:off x="4169187" y="4054009"/>
            <a:ext cx="854102" cy="73024"/>
          </a:xfrm>
          <a:prstGeom prst="straightConnector1">
            <a:avLst/>
          </a:prstGeom>
          <a:ln w="28575">
            <a:solidFill>
              <a:schemeClr val="accent6">
                <a:lumMod val="75000"/>
              </a:schemeClr>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27867805"/>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37780F-54CE-0F8E-FBBD-C48FE5DAA8EB}"/>
            </a:ext>
          </a:extLst>
        </p:cNvPr>
        <p:cNvGrpSpPr/>
        <p:nvPr/>
      </p:nvGrpSpPr>
      <p:grpSpPr>
        <a:xfrm>
          <a:off x="0" y="0"/>
          <a:ext cx="0" cy="0"/>
          <a:chOff x="0" y="0"/>
          <a:chExt cx="0" cy="0"/>
        </a:xfrm>
      </p:grpSpPr>
      <p:sp>
        <p:nvSpPr>
          <p:cNvPr id="2" name="Rectangle 2">
            <a:extLst>
              <a:ext uri="{FF2B5EF4-FFF2-40B4-BE49-F238E27FC236}">
                <a16:creationId xmlns:a16="http://schemas.microsoft.com/office/drawing/2014/main" id="{493FBC26-8376-35AB-5D72-D3AF6786B60F}"/>
              </a:ext>
            </a:extLst>
          </p:cNvPr>
          <p:cNvSpPr txBox="1">
            <a:spLocks noChangeArrowheads="1"/>
          </p:cNvSpPr>
          <p:nvPr/>
        </p:nvSpPr>
        <p:spPr>
          <a:xfrm>
            <a:off x="474772" y="1230902"/>
            <a:ext cx="4469100"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8.4.3 </a:t>
            </a:r>
            <a:r>
              <a:rPr kumimoji="1" lang="zh-CN" altLang="en-US" dirty="0">
                <a:latin typeface="微软雅黑" pitchFamily="34" charset="-122"/>
                <a:ea typeface="微软雅黑" pitchFamily="34" charset="-122"/>
              </a:rPr>
              <a:t>普里姆</a:t>
            </a:r>
            <a:r>
              <a:rPr kumimoji="1" lang="en-US" altLang="zh-CN" dirty="0">
                <a:latin typeface="微软雅黑" pitchFamily="34" charset="-122"/>
                <a:ea typeface="微软雅黑" pitchFamily="34" charset="-122"/>
              </a:rPr>
              <a:t>(Prim)</a:t>
            </a:r>
            <a:r>
              <a:rPr kumimoji="1" lang="zh-CN" altLang="en-US" dirty="0">
                <a:latin typeface="微软雅黑" pitchFamily="34" charset="-122"/>
                <a:ea typeface="微软雅黑" pitchFamily="34" charset="-122"/>
              </a:rPr>
              <a:t>算法</a:t>
            </a:r>
          </a:p>
        </p:txBody>
      </p:sp>
      <p:cxnSp>
        <p:nvCxnSpPr>
          <p:cNvPr id="3" name="直接连接符 2">
            <a:extLst>
              <a:ext uri="{FF2B5EF4-FFF2-40B4-BE49-F238E27FC236}">
                <a16:creationId xmlns:a16="http://schemas.microsoft.com/office/drawing/2014/main" id="{C4C79A92-941B-2017-2129-DD35D45B97F1}"/>
              </a:ext>
            </a:extLst>
          </p:cNvPr>
          <p:cNvCxnSpPr>
            <a:cxnSpLocks/>
          </p:cNvCxnSpPr>
          <p:nvPr/>
        </p:nvCxnSpPr>
        <p:spPr>
          <a:xfrm>
            <a:off x="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4" name="矩形 3">
            <a:extLst>
              <a:ext uri="{FF2B5EF4-FFF2-40B4-BE49-F238E27FC236}">
                <a16:creationId xmlns:a16="http://schemas.microsoft.com/office/drawing/2014/main" id="{54B67629-9B7C-2349-9123-2EBA71F242FE}"/>
              </a:ext>
            </a:extLst>
          </p:cNvPr>
          <p:cNvSpPr/>
          <p:nvPr/>
        </p:nvSpPr>
        <p:spPr>
          <a:xfrm>
            <a:off x="3394075" y="399838"/>
            <a:ext cx="4617860"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8.4 </a:t>
            </a:r>
            <a:r>
              <a:rPr lang="zh-CN" altLang="en-US" sz="3000" b="1" dirty="0">
                <a:latin typeface="黑体" pitchFamily="49" charset="-122"/>
                <a:ea typeface="黑体" pitchFamily="49" charset="-122"/>
                <a:cs typeface="经典粗黑简" pitchFamily="49" charset="-122"/>
              </a:rPr>
              <a:t>生成树和最小生成树</a:t>
            </a:r>
          </a:p>
        </p:txBody>
      </p:sp>
      <p:sp>
        <p:nvSpPr>
          <p:cNvPr id="6" name="Text Box 10">
            <a:extLst>
              <a:ext uri="{FF2B5EF4-FFF2-40B4-BE49-F238E27FC236}">
                <a16:creationId xmlns:a16="http://schemas.microsoft.com/office/drawing/2014/main" id="{7DC27954-7338-8F09-EDE7-99C4FB7D6BB7}"/>
              </a:ext>
            </a:extLst>
          </p:cNvPr>
          <p:cNvSpPr txBox="1">
            <a:spLocks noChangeArrowheads="1"/>
          </p:cNvSpPr>
          <p:nvPr/>
        </p:nvSpPr>
        <p:spPr bwMode="auto">
          <a:xfrm>
            <a:off x="1594454" y="2868326"/>
            <a:ext cx="4679950" cy="400110"/>
          </a:xfrm>
          <a:prstGeom prst="rect">
            <a:avLst/>
          </a:prstGeom>
          <a:noFill/>
          <a:ln w="19050" algn="ctr">
            <a:noFill/>
            <a:miter lim="800000"/>
            <a:headEnd/>
            <a:tailEnd type="none" w="med" len="lg"/>
          </a:ln>
          <a:effectLst/>
        </p:spPr>
        <p:txBody>
          <a:bodyPr>
            <a:spAutoFit/>
          </a:bodyPr>
          <a:lstStyle/>
          <a:p>
            <a:pPr algn="l">
              <a:spcBef>
                <a:spcPct val="50000"/>
              </a:spcBef>
            </a:pPr>
            <a:r>
              <a:rPr lang="zh-CN" altLang="en-US" sz="2000" dirty="0">
                <a:solidFill>
                  <a:srgbClr val="DB0303"/>
                </a:solidFill>
                <a:latin typeface="Consolas" pitchFamily="49" charset="0"/>
                <a:ea typeface="方正启体简体" pitchFamily="65" charset="-122"/>
                <a:cs typeface="Consolas" pitchFamily="49" charset="0"/>
              </a:rPr>
              <a:t>局部最优  </a:t>
            </a:r>
            <a:r>
              <a:rPr lang="en-US" altLang="zh-CN" sz="2000">
                <a:solidFill>
                  <a:srgbClr val="DB0303"/>
                </a:solidFill>
                <a:latin typeface="Consolas" pitchFamily="49" charset="0"/>
                <a:ea typeface="方正启体简体" pitchFamily="65" charset="-122"/>
                <a:cs typeface="Consolas" pitchFamily="49" charset="0"/>
              </a:rPr>
              <a:t>+  </a:t>
            </a:r>
            <a:r>
              <a:rPr lang="zh-CN" altLang="en-US" sz="2000">
                <a:solidFill>
                  <a:srgbClr val="DB0303"/>
                </a:solidFill>
                <a:latin typeface="Consolas" pitchFamily="49" charset="0"/>
                <a:ea typeface="方正启体简体" pitchFamily="65" charset="-122"/>
                <a:cs typeface="Consolas" pitchFamily="49" charset="0"/>
              </a:rPr>
              <a:t>调整  </a:t>
            </a:r>
            <a:r>
              <a:rPr lang="zh-CN" altLang="en-US" sz="2000">
                <a:solidFill>
                  <a:srgbClr val="DB0303"/>
                </a:solidFill>
                <a:latin typeface="+mj-ea"/>
                <a:ea typeface="+mj-ea"/>
                <a:cs typeface="Consolas" pitchFamily="49" charset="0"/>
              </a:rPr>
              <a:t>＝</a:t>
            </a:r>
            <a:r>
              <a:rPr lang="zh-CN" altLang="en-US" sz="2000">
                <a:solidFill>
                  <a:srgbClr val="DB0303"/>
                </a:solidFill>
                <a:latin typeface="Consolas" pitchFamily="49" charset="0"/>
                <a:ea typeface="方正启体简体" pitchFamily="65" charset="-122"/>
                <a:cs typeface="Consolas" pitchFamily="49" charset="0"/>
              </a:rPr>
              <a:t>  全局最优</a:t>
            </a:r>
            <a:endParaRPr lang="zh-CN" altLang="en-US" sz="2000" dirty="0">
              <a:solidFill>
                <a:srgbClr val="DB0303"/>
              </a:solidFill>
              <a:latin typeface="Consolas" pitchFamily="49" charset="0"/>
              <a:ea typeface="方正启体简体" pitchFamily="65" charset="-122"/>
              <a:cs typeface="Consolas" pitchFamily="49" charset="0"/>
            </a:endParaRPr>
          </a:p>
        </p:txBody>
      </p:sp>
      <p:sp>
        <p:nvSpPr>
          <p:cNvPr id="7" name="Line 11">
            <a:extLst>
              <a:ext uri="{FF2B5EF4-FFF2-40B4-BE49-F238E27FC236}">
                <a16:creationId xmlns:a16="http://schemas.microsoft.com/office/drawing/2014/main" id="{A8090A58-B55E-5D25-B288-1D2FBB6172E9}"/>
              </a:ext>
            </a:extLst>
          </p:cNvPr>
          <p:cNvSpPr>
            <a:spLocks noChangeShapeType="1"/>
          </p:cNvSpPr>
          <p:nvPr/>
        </p:nvSpPr>
        <p:spPr bwMode="auto">
          <a:xfrm flipV="1">
            <a:off x="2337383" y="3350934"/>
            <a:ext cx="0" cy="287338"/>
          </a:xfrm>
          <a:prstGeom prst="line">
            <a:avLst/>
          </a:prstGeom>
          <a:ln>
            <a:headEnd/>
            <a:tailEnd type="stealth" w="med" len="lg"/>
          </a:ln>
        </p:spPr>
        <p:style>
          <a:lnRef idx="2">
            <a:schemeClr val="accent4"/>
          </a:lnRef>
          <a:fillRef idx="0">
            <a:schemeClr val="accent4"/>
          </a:fillRef>
          <a:effectRef idx="1">
            <a:schemeClr val="accent4"/>
          </a:effectRef>
          <a:fontRef idx="minor">
            <a:schemeClr val="tx1"/>
          </a:fontRef>
        </p:style>
        <p:txBody>
          <a:bodyPr wrap="none"/>
          <a:lstStyle/>
          <a:p>
            <a:endParaRPr lang="zh-CN" altLang="en-US"/>
          </a:p>
        </p:txBody>
      </p:sp>
      <p:sp>
        <p:nvSpPr>
          <p:cNvPr id="8" name="Text Box 12">
            <a:extLst>
              <a:ext uri="{FF2B5EF4-FFF2-40B4-BE49-F238E27FC236}">
                <a16:creationId xmlns:a16="http://schemas.microsoft.com/office/drawing/2014/main" id="{0E250D7F-681A-8F37-D067-57EEA137308F}"/>
              </a:ext>
            </a:extLst>
          </p:cNvPr>
          <p:cNvSpPr txBox="1">
            <a:spLocks noChangeArrowheads="1"/>
          </p:cNvSpPr>
          <p:nvPr/>
        </p:nvSpPr>
        <p:spPr bwMode="auto">
          <a:xfrm>
            <a:off x="1545221" y="3614459"/>
            <a:ext cx="1728787" cy="400110"/>
          </a:xfrm>
          <a:prstGeom prst="rect">
            <a:avLst/>
          </a:prstGeom>
          <a:noFill/>
          <a:ln w="19050" algn="ctr">
            <a:noFill/>
            <a:miter lim="800000"/>
            <a:headEnd/>
            <a:tailEnd type="none" w="med" len="lg"/>
          </a:ln>
          <a:effectLst/>
        </p:spPr>
        <p:txBody>
          <a:bodyPr>
            <a:spAutoFit/>
          </a:bodyPr>
          <a:lstStyle/>
          <a:p>
            <a:pPr algn="l">
              <a:spcBef>
                <a:spcPct val="50000"/>
              </a:spcBef>
            </a:pPr>
            <a:r>
              <a:rPr lang="zh-CN" altLang="en-US" sz="2000" dirty="0">
                <a:latin typeface="仿宋" pitchFamily="49" charset="-122"/>
                <a:ea typeface="仿宋" pitchFamily="49" charset="-122"/>
                <a:cs typeface="Consolas" pitchFamily="49" charset="0"/>
              </a:rPr>
              <a:t>贪心算法思想</a:t>
            </a:r>
          </a:p>
        </p:txBody>
      </p:sp>
      <p:sp>
        <p:nvSpPr>
          <p:cNvPr id="9" name="Line 13">
            <a:extLst>
              <a:ext uri="{FF2B5EF4-FFF2-40B4-BE49-F238E27FC236}">
                <a16:creationId xmlns:a16="http://schemas.microsoft.com/office/drawing/2014/main" id="{24955830-BC85-CA3A-0DE3-96635A0A3FE6}"/>
              </a:ext>
            </a:extLst>
          </p:cNvPr>
          <p:cNvSpPr>
            <a:spLocks noChangeShapeType="1"/>
          </p:cNvSpPr>
          <p:nvPr/>
        </p:nvSpPr>
        <p:spPr bwMode="auto">
          <a:xfrm flipV="1">
            <a:off x="4896440" y="3338234"/>
            <a:ext cx="0" cy="287338"/>
          </a:xfrm>
          <a:prstGeom prst="line">
            <a:avLst/>
          </a:prstGeom>
          <a:ln>
            <a:headEnd/>
            <a:tailEnd type="stealth" w="med" len="lg"/>
          </a:ln>
        </p:spPr>
        <p:style>
          <a:lnRef idx="2">
            <a:schemeClr val="accent4"/>
          </a:lnRef>
          <a:fillRef idx="0">
            <a:schemeClr val="accent4"/>
          </a:fillRef>
          <a:effectRef idx="1">
            <a:schemeClr val="accent4"/>
          </a:effectRef>
          <a:fontRef idx="minor">
            <a:schemeClr val="tx1"/>
          </a:fontRef>
        </p:style>
        <p:txBody>
          <a:bodyPr wrap="none"/>
          <a:lstStyle/>
          <a:p>
            <a:endParaRPr lang="zh-CN" altLang="en-US"/>
          </a:p>
        </p:txBody>
      </p:sp>
      <p:sp>
        <p:nvSpPr>
          <p:cNvPr id="10" name="Text Box 14">
            <a:extLst>
              <a:ext uri="{FF2B5EF4-FFF2-40B4-BE49-F238E27FC236}">
                <a16:creationId xmlns:a16="http://schemas.microsoft.com/office/drawing/2014/main" id="{60A13458-9A38-D803-0C4B-A58B5E618073}"/>
              </a:ext>
            </a:extLst>
          </p:cNvPr>
          <p:cNvSpPr txBox="1">
            <a:spLocks noChangeArrowheads="1"/>
          </p:cNvSpPr>
          <p:nvPr/>
        </p:nvSpPr>
        <p:spPr bwMode="auto">
          <a:xfrm>
            <a:off x="4274140" y="3614459"/>
            <a:ext cx="1223962" cy="400110"/>
          </a:xfrm>
          <a:prstGeom prst="rect">
            <a:avLst/>
          </a:prstGeom>
          <a:noFill/>
          <a:ln w="19050" algn="ctr">
            <a:noFill/>
            <a:miter lim="800000"/>
            <a:headEnd/>
            <a:tailEnd type="none" w="med" len="lg"/>
          </a:ln>
          <a:effectLst/>
        </p:spPr>
        <p:txBody>
          <a:bodyPr>
            <a:spAutoFit/>
          </a:bodyPr>
          <a:lstStyle/>
          <a:p>
            <a:pPr algn="l">
              <a:spcBef>
                <a:spcPct val="50000"/>
              </a:spcBef>
            </a:pPr>
            <a:r>
              <a:rPr lang="zh-CN" altLang="en-US" sz="2000" dirty="0">
                <a:latin typeface="仿宋" pitchFamily="49" charset="-122"/>
                <a:ea typeface="仿宋" pitchFamily="49" charset="-122"/>
                <a:cs typeface="Consolas" pitchFamily="49" charset="0"/>
              </a:rPr>
              <a:t>最优结果</a:t>
            </a:r>
          </a:p>
        </p:txBody>
      </p:sp>
      <p:sp>
        <p:nvSpPr>
          <p:cNvPr id="11" name="TextBox 14">
            <a:extLst>
              <a:ext uri="{FF2B5EF4-FFF2-40B4-BE49-F238E27FC236}">
                <a16:creationId xmlns:a16="http://schemas.microsoft.com/office/drawing/2014/main" id="{A72BFF3E-EF3F-A2A2-2266-08EA7A543150}"/>
              </a:ext>
            </a:extLst>
          </p:cNvPr>
          <p:cNvSpPr txBox="1"/>
          <p:nvPr/>
        </p:nvSpPr>
        <p:spPr>
          <a:xfrm>
            <a:off x="1488058" y="2082508"/>
            <a:ext cx="2928958" cy="430887"/>
          </a:xfrm>
          <a:prstGeom prst="rect">
            <a:avLst/>
          </a:prstGeom>
        </p:spPr>
        <p:style>
          <a:lnRef idx="1">
            <a:schemeClr val="accent4"/>
          </a:lnRef>
          <a:fillRef idx="3">
            <a:schemeClr val="accent4"/>
          </a:fillRef>
          <a:effectRef idx="2">
            <a:schemeClr val="accent4"/>
          </a:effectRef>
          <a:fontRef idx="minor">
            <a:schemeClr val="lt1"/>
          </a:fontRef>
        </p:style>
        <p:txBody>
          <a:bodyPr wrap="square" rtlCol="0">
            <a:spAutoFit/>
          </a:bodyPr>
          <a:lstStyle/>
          <a:p>
            <a:r>
              <a:rPr kumimoji="1" lang="zh-CN" altLang="en-US" sz="2200">
                <a:solidFill>
                  <a:schemeClr val="bg1"/>
                </a:solidFill>
                <a:latin typeface="华文中宋" pitchFamily="2" charset="-122"/>
                <a:ea typeface="华文中宋" pitchFamily="2" charset="-122"/>
                <a:cs typeface="Times New Roman" pitchFamily="18" charset="0"/>
              </a:rPr>
              <a:t>普里姆算法思路</a:t>
            </a:r>
            <a:endParaRPr lang="zh-CN" altLang="en-US" sz="2200" dirty="0">
              <a:solidFill>
                <a:schemeClr val="bg1"/>
              </a:solidFill>
              <a:latin typeface="华文中宋" pitchFamily="2" charset="-122"/>
              <a:ea typeface="华文中宋" pitchFamily="2" charset="-122"/>
            </a:endParaRPr>
          </a:p>
        </p:txBody>
      </p:sp>
      <p:sp>
        <p:nvSpPr>
          <p:cNvPr id="13" name="Text Box 15">
            <a:extLst>
              <a:ext uri="{FF2B5EF4-FFF2-40B4-BE49-F238E27FC236}">
                <a16:creationId xmlns:a16="http://schemas.microsoft.com/office/drawing/2014/main" id="{9DD110E0-659F-224F-C26C-4B41C896CFCF}"/>
              </a:ext>
            </a:extLst>
          </p:cNvPr>
          <p:cNvSpPr txBox="1">
            <a:spLocks noChangeArrowheads="1"/>
          </p:cNvSpPr>
          <p:nvPr/>
        </p:nvSpPr>
        <p:spPr bwMode="auto">
          <a:xfrm>
            <a:off x="1845248" y="5511532"/>
            <a:ext cx="6786610" cy="430887"/>
          </a:xfrm>
          <a:prstGeom prst="rect">
            <a:avLst/>
          </a:prstGeom>
          <a:noFill/>
          <a:ln w="9525">
            <a:noFill/>
            <a:miter lim="800000"/>
            <a:headEnd/>
            <a:tailEnd/>
          </a:ln>
          <a:effectLst/>
        </p:spPr>
        <p:txBody>
          <a:bodyPr wrap="square">
            <a:spAutoFit/>
          </a:bodyPr>
          <a:lstStyle/>
          <a:p>
            <a:pPr algn="l">
              <a:lnSpc>
                <a:spcPct val="110000"/>
              </a:lnSpc>
              <a:spcBef>
                <a:spcPct val="50000"/>
              </a:spcBef>
            </a:pPr>
            <a:r>
              <a:rPr kumimoji="1" lang="en-US" altLang="zh-CN" sz="2000">
                <a:latin typeface="Consolas" pitchFamily="49" charset="0"/>
                <a:ea typeface="仿宋" pitchFamily="49" charset="-122"/>
                <a:cs typeface="Consolas" pitchFamily="49" charset="0"/>
              </a:rPr>
              <a:t>Prim</a:t>
            </a:r>
            <a:r>
              <a:rPr kumimoji="1" lang="en-US" altLang="zh-CN" sz="2000" dirty="0">
                <a:latin typeface="Consolas" pitchFamily="49" charset="0"/>
                <a:ea typeface="仿宋" pitchFamily="49" charset="-122"/>
                <a:cs typeface="Consolas" pitchFamily="49" charset="0"/>
              </a:rPr>
              <a:t>()</a:t>
            </a:r>
            <a:r>
              <a:rPr kumimoji="1" lang="zh-CN" altLang="en-US" sz="2000" dirty="0">
                <a:latin typeface="Consolas" pitchFamily="49" charset="0"/>
                <a:ea typeface="仿宋" pitchFamily="49" charset="-122"/>
                <a:cs typeface="Consolas" pitchFamily="49" charset="0"/>
              </a:rPr>
              <a:t>算法中有两重</a:t>
            </a:r>
            <a:r>
              <a:rPr kumimoji="1" lang="en-US" altLang="zh-CN" sz="2000">
                <a:latin typeface="Consolas" pitchFamily="49" charset="0"/>
                <a:ea typeface="仿宋" pitchFamily="49" charset="-122"/>
                <a:cs typeface="Consolas" pitchFamily="49" charset="0"/>
              </a:rPr>
              <a:t>for</a:t>
            </a:r>
            <a:r>
              <a:rPr kumimoji="1" lang="zh-CN" altLang="en-US" sz="2000">
                <a:latin typeface="Consolas" pitchFamily="49" charset="0"/>
                <a:ea typeface="仿宋" pitchFamily="49" charset="-122"/>
                <a:cs typeface="Consolas" pitchFamily="49" charset="0"/>
              </a:rPr>
              <a:t>循环，所以</a:t>
            </a:r>
            <a:r>
              <a:rPr kumimoji="1" lang="zh-CN" altLang="en-US" sz="2000" dirty="0">
                <a:latin typeface="Consolas" pitchFamily="49" charset="0"/>
                <a:ea typeface="仿宋" pitchFamily="49" charset="-122"/>
                <a:cs typeface="Consolas" pitchFamily="49" charset="0"/>
              </a:rPr>
              <a:t>时间复杂度为</a:t>
            </a:r>
            <a:r>
              <a:rPr kumimoji="1" lang="en-US" altLang="zh-CN" sz="2000" dirty="0">
                <a:latin typeface="Consolas" pitchFamily="49" charset="0"/>
                <a:ea typeface="仿宋" pitchFamily="49" charset="-122"/>
                <a:cs typeface="Consolas" pitchFamily="49" charset="0"/>
              </a:rPr>
              <a:t>O(</a:t>
            </a:r>
            <a:r>
              <a:rPr kumimoji="1" lang="en-US" altLang="zh-CN" sz="2000" i="1" dirty="0" err="1">
                <a:latin typeface="Consolas" pitchFamily="49" charset="0"/>
                <a:ea typeface="仿宋" pitchFamily="49" charset="-122"/>
                <a:cs typeface="Consolas" pitchFamily="49" charset="0"/>
              </a:rPr>
              <a:t>n</a:t>
            </a:r>
            <a:r>
              <a:rPr kumimoji="1" lang="en-US" altLang="zh-CN" sz="2000" baseline="30000" dirty="0" err="1">
                <a:latin typeface="Consolas" pitchFamily="49" charset="0"/>
                <a:ea typeface="仿宋" pitchFamily="49" charset="-122"/>
                <a:cs typeface="Consolas" pitchFamily="49" charset="0"/>
              </a:rPr>
              <a:t>2</a:t>
            </a:r>
            <a:r>
              <a:rPr kumimoji="1" lang="en-US" altLang="zh-CN" sz="2000" dirty="0">
                <a:latin typeface="Consolas" pitchFamily="49" charset="0"/>
                <a:ea typeface="仿宋" pitchFamily="49" charset="-122"/>
                <a:cs typeface="Consolas" pitchFamily="49" charset="0"/>
              </a:rPr>
              <a:t>)</a:t>
            </a:r>
            <a:r>
              <a:rPr kumimoji="1" lang="zh-CN" altLang="en-US" sz="2000" dirty="0">
                <a:latin typeface="Consolas" pitchFamily="49" charset="0"/>
                <a:ea typeface="仿宋" pitchFamily="49" charset="-122"/>
                <a:cs typeface="Consolas" pitchFamily="49" charset="0"/>
              </a:rPr>
              <a:t>。 </a:t>
            </a:r>
          </a:p>
        </p:txBody>
      </p:sp>
      <p:sp>
        <p:nvSpPr>
          <p:cNvPr id="14" name="TextBox 10">
            <a:extLst>
              <a:ext uri="{FF2B5EF4-FFF2-40B4-BE49-F238E27FC236}">
                <a16:creationId xmlns:a16="http://schemas.microsoft.com/office/drawing/2014/main" id="{3C12F1BD-1F2F-D8B7-C353-6A305CB69FE3}"/>
              </a:ext>
            </a:extLst>
          </p:cNvPr>
          <p:cNvSpPr txBox="1"/>
          <p:nvPr/>
        </p:nvSpPr>
        <p:spPr>
          <a:xfrm>
            <a:off x="1559496" y="4797152"/>
            <a:ext cx="2928958" cy="430887"/>
          </a:xfrm>
          <a:prstGeom prst="rect">
            <a:avLst/>
          </a:prstGeom>
        </p:spPr>
        <p:style>
          <a:lnRef idx="1">
            <a:schemeClr val="accent4"/>
          </a:lnRef>
          <a:fillRef idx="3">
            <a:schemeClr val="accent4"/>
          </a:fillRef>
          <a:effectRef idx="2">
            <a:schemeClr val="accent4"/>
          </a:effectRef>
          <a:fontRef idx="minor">
            <a:schemeClr val="lt1"/>
          </a:fontRef>
        </p:style>
        <p:txBody>
          <a:bodyPr wrap="square" rtlCol="0">
            <a:spAutoFit/>
          </a:bodyPr>
          <a:lstStyle/>
          <a:p>
            <a:r>
              <a:rPr kumimoji="1" lang="zh-CN" altLang="en-US" sz="2200">
                <a:solidFill>
                  <a:schemeClr val="bg1"/>
                </a:solidFill>
                <a:latin typeface="华文中宋" pitchFamily="2" charset="-122"/>
                <a:ea typeface="华文中宋" pitchFamily="2" charset="-122"/>
                <a:cs typeface="Times New Roman" pitchFamily="18" charset="0"/>
              </a:rPr>
              <a:t>普里姆算法分析</a:t>
            </a:r>
            <a:endParaRPr lang="zh-CN" altLang="en-US" sz="2200" dirty="0">
              <a:solidFill>
                <a:schemeClr val="bg1"/>
              </a:solidFill>
              <a:latin typeface="华文中宋" pitchFamily="2" charset="-122"/>
              <a:ea typeface="华文中宋" pitchFamily="2" charset="-122"/>
            </a:endParaRPr>
          </a:p>
        </p:txBody>
      </p:sp>
    </p:spTree>
    <p:extLst>
      <p:ext uri="{BB962C8B-B14F-4D97-AF65-F5344CB8AC3E}">
        <p14:creationId xmlns:p14="http://schemas.microsoft.com/office/powerpoint/2010/main" val="3470904130"/>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455CEB-C450-CF28-0885-1AD163D6278C}"/>
            </a:ext>
          </a:extLst>
        </p:cNvPr>
        <p:cNvGrpSpPr/>
        <p:nvPr/>
      </p:nvGrpSpPr>
      <p:grpSpPr>
        <a:xfrm>
          <a:off x="0" y="0"/>
          <a:ext cx="0" cy="0"/>
          <a:chOff x="0" y="0"/>
          <a:chExt cx="0" cy="0"/>
        </a:xfrm>
      </p:grpSpPr>
      <p:sp>
        <p:nvSpPr>
          <p:cNvPr id="2" name="Rectangle 2">
            <a:extLst>
              <a:ext uri="{FF2B5EF4-FFF2-40B4-BE49-F238E27FC236}">
                <a16:creationId xmlns:a16="http://schemas.microsoft.com/office/drawing/2014/main" id="{4E4D6823-BFDB-188A-D34A-97A8B278B8DB}"/>
              </a:ext>
            </a:extLst>
          </p:cNvPr>
          <p:cNvSpPr txBox="1">
            <a:spLocks noChangeArrowheads="1"/>
          </p:cNvSpPr>
          <p:nvPr/>
        </p:nvSpPr>
        <p:spPr>
          <a:xfrm>
            <a:off x="474772" y="1230902"/>
            <a:ext cx="6485324"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8.4.4 </a:t>
            </a:r>
            <a:r>
              <a:rPr kumimoji="1" lang="zh-CN" altLang="en-US" dirty="0">
                <a:latin typeface="微软雅黑" pitchFamily="34" charset="-122"/>
                <a:ea typeface="微软雅黑" pitchFamily="34" charset="-122"/>
              </a:rPr>
              <a:t>克鲁斯卡尔算法 </a:t>
            </a:r>
            <a:r>
              <a:rPr kumimoji="1" lang="en-US" altLang="zh-CN" dirty="0">
                <a:latin typeface="微软雅黑" pitchFamily="34" charset="-122"/>
                <a:ea typeface="微软雅黑" pitchFamily="34" charset="-122"/>
              </a:rPr>
              <a:t>(Kruskal)</a:t>
            </a:r>
            <a:r>
              <a:rPr kumimoji="1" lang="zh-CN" altLang="en-US" dirty="0">
                <a:latin typeface="微软雅黑" pitchFamily="34" charset="-122"/>
                <a:ea typeface="微软雅黑" pitchFamily="34" charset="-122"/>
              </a:rPr>
              <a:t>算法</a:t>
            </a:r>
          </a:p>
        </p:txBody>
      </p:sp>
      <p:cxnSp>
        <p:nvCxnSpPr>
          <p:cNvPr id="3" name="直接连接符 2">
            <a:extLst>
              <a:ext uri="{FF2B5EF4-FFF2-40B4-BE49-F238E27FC236}">
                <a16:creationId xmlns:a16="http://schemas.microsoft.com/office/drawing/2014/main" id="{13FA4D75-9E62-8273-0A28-C2498DC2FB78}"/>
              </a:ext>
            </a:extLst>
          </p:cNvPr>
          <p:cNvCxnSpPr>
            <a:cxnSpLocks/>
          </p:cNvCxnSpPr>
          <p:nvPr/>
        </p:nvCxnSpPr>
        <p:spPr>
          <a:xfrm>
            <a:off x="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4" name="矩形 3">
            <a:extLst>
              <a:ext uri="{FF2B5EF4-FFF2-40B4-BE49-F238E27FC236}">
                <a16:creationId xmlns:a16="http://schemas.microsoft.com/office/drawing/2014/main" id="{781210C5-5A78-AEF5-C81F-DAA76F6D486A}"/>
              </a:ext>
            </a:extLst>
          </p:cNvPr>
          <p:cNvSpPr/>
          <p:nvPr/>
        </p:nvSpPr>
        <p:spPr>
          <a:xfrm>
            <a:off x="3394075" y="399838"/>
            <a:ext cx="4617860"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8.4 </a:t>
            </a:r>
            <a:r>
              <a:rPr lang="zh-CN" altLang="en-US" sz="3000" b="1" dirty="0">
                <a:latin typeface="黑体" pitchFamily="49" charset="-122"/>
                <a:ea typeface="黑体" pitchFamily="49" charset="-122"/>
                <a:cs typeface="经典粗黑简" pitchFamily="49" charset="-122"/>
              </a:rPr>
              <a:t>生成树和最小生成树</a:t>
            </a:r>
          </a:p>
        </p:txBody>
      </p:sp>
      <p:sp>
        <p:nvSpPr>
          <p:cNvPr id="17" name="矩形 16"/>
          <p:cNvSpPr/>
          <p:nvPr/>
        </p:nvSpPr>
        <p:spPr>
          <a:xfrm>
            <a:off x="1631504" y="2204864"/>
            <a:ext cx="8928992" cy="2677656"/>
          </a:xfrm>
          <a:prstGeom prst="rect">
            <a:avLst/>
          </a:prstGeom>
        </p:spPr>
        <p:txBody>
          <a:bodyPr wrap="square">
            <a:spAutoFit/>
          </a:bodyPr>
          <a:lstStyle/>
          <a:p>
            <a:r>
              <a:rPr lang="zh-CN" altLang="en-US" sz="2400" dirty="0">
                <a:latin typeface="黑体" pitchFamily="49" charset="-122"/>
                <a:ea typeface="黑体" pitchFamily="49" charset="-122"/>
                <a:cs typeface="经典粗黑简" pitchFamily="49" charset="-122"/>
              </a:rPr>
              <a:t>基本思想：</a:t>
            </a:r>
          </a:p>
          <a:p>
            <a:r>
              <a:rPr lang="zh-CN" altLang="en-US" sz="2400" dirty="0">
                <a:latin typeface="黑体" pitchFamily="49" charset="-122"/>
                <a:ea typeface="黑体" pitchFamily="49" charset="-122"/>
                <a:cs typeface="经典粗黑简" pitchFamily="49" charset="-122"/>
              </a:rPr>
              <a:t>    假设</a:t>
            </a:r>
            <a:r>
              <a:rPr lang="en-US" altLang="zh-CN" sz="2400" dirty="0">
                <a:latin typeface="黑体" pitchFamily="49" charset="-122"/>
                <a:ea typeface="黑体" pitchFamily="49" charset="-122"/>
                <a:cs typeface="经典粗黑简" pitchFamily="49" charset="-122"/>
              </a:rPr>
              <a:t>N=(V,E)</a:t>
            </a:r>
            <a:r>
              <a:rPr lang="zh-CN" altLang="en-US" sz="2400" dirty="0">
                <a:latin typeface="黑体" pitchFamily="49" charset="-122"/>
                <a:ea typeface="黑体" pitchFamily="49" charset="-122"/>
                <a:cs typeface="经典粗黑简" pitchFamily="49" charset="-122"/>
              </a:rPr>
              <a:t>是一个具有</a:t>
            </a:r>
            <a:r>
              <a:rPr lang="en-US" altLang="zh-CN" sz="2400" dirty="0">
                <a:latin typeface="黑体" pitchFamily="49" charset="-122"/>
                <a:ea typeface="黑体" pitchFamily="49" charset="-122"/>
                <a:cs typeface="经典粗黑简" pitchFamily="49" charset="-122"/>
              </a:rPr>
              <a:t>n</a:t>
            </a:r>
            <a:r>
              <a:rPr lang="zh-CN" altLang="en-US" sz="2400" dirty="0">
                <a:latin typeface="黑体" pitchFamily="49" charset="-122"/>
                <a:ea typeface="黑体" pitchFamily="49" charset="-122"/>
                <a:cs typeface="经典粗黑简" pitchFamily="49" charset="-122"/>
              </a:rPr>
              <a:t>个顶点的连通网，首先令最小生成树的初始状态为只有</a:t>
            </a:r>
            <a:r>
              <a:rPr lang="en-US" altLang="zh-CN" sz="2400" dirty="0">
                <a:latin typeface="黑体" pitchFamily="49" charset="-122"/>
                <a:ea typeface="黑体" pitchFamily="49" charset="-122"/>
                <a:cs typeface="经典粗黑简" pitchFamily="49" charset="-122"/>
              </a:rPr>
              <a:t>n</a:t>
            </a:r>
            <a:r>
              <a:rPr lang="zh-CN" altLang="en-US" sz="2400" dirty="0">
                <a:latin typeface="黑体" pitchFamily="49" charset="-122"/>
                <a:ea typeface="黑体" pitchFamily="49" charset="-122"/>
                <a:cs typeface="经典粗黑简" pitchFamily="49" charset="-122"/>
              </a:rPr>
              <a:t>个顶点而无边的非连通图</a:t>
            </a:r>
            <a:r>
              <a:rPr lang="en-US" altLang="zh-CN" sz="2400" dirty="0">
                <a:latin typeface="黑体" pitchFamily="49" charset="-122"/>
                <a:ea typeface="黑体" pitchFamily="49" charset="-122"/>
                <a:cs typeface="经典粗黑简" pitchFamily="49" charset="-122"/>
              </a:rPr>
              <a:t>T=(V,{})</a:t>
            </a:r>
            <a:r>
              <a:rPr lang="zh-CN" altLang="en-US" sz="2400" dirty="0">
                <a:latin typeface="黑体" pitchFamily="49" charset="-122"/>
                <a:ea typeface="黑体" pitchFamily="49" charset="-122"/>
                <a:cs typeface="经典粗黑简" pitchFamily="49" charset="-122"/>
              </a:rPr>
              <a:t>图中每个顶点自成一个连通分量。然后在</a:t>
            </a:r>
            <a:r>
              <a:rPr lang="en-US" altLang="zh-CN" sz="2400" dirty="0">
                <a:latin typeface="黑体" pitchFamily="49" charset="-122"/>
                <a:ea typeface="黑体" pitchFamily="49" charset="-122"/>
                <a:cs typeface="经典粗黑简" pitchFamily="49" charset="-122"/>
              </a:rPr>
              <a:t>E</a:t>
            </a:r>
            <a:r>
              <a:rPr lang="zh-CN" altLang="en-US" sz="2400" dirty="0">
                <a:latin typeface="黑体" pitchFamily="49" charset="-122"/>
                <a:ea typeface="黑体" pitchFamily="49" charset="-122"/>
                <a:cs typeface="经典粗黑简" pitchFamily="49" charset="-122"/>
              </a:rPr>
              <a:t>中选择代价最小的边，若该边依附的两个顶点落在</a:t>
            </a:r>
            <a:r>
              <a:rPr lang="en-US" altLang="zh-CN" sz="2400" dirty="0">
                <a:latin typeface="黑体" pitchFamily="49" charset="-122"/>
                <a:ea typeface="黑体" pitchFamily="49" charset="-122"/>
                <a:cs typeface="经典粗黑简" pitchFamily="49" charset="-122"/>
              </a:rPr>
              <a:t>T</a:t>
            </a:r>
            <a:r>
              <a:rPr lang="zh-CN" altLang="en-US" sz="2400" dirty="0">
                <a:latin typeface="黑体" pitchFamily="49" charset="-122"/>
                <a:ea typeface="黑体" pitchFamily="49" charset="-122"/>
                <a:cs typeface="经典粗黑简" pitchFamily="49" charset="-122"/>
              </a:rPr>
              <a:t>中不同的连通分量上，则将此边加入到</a:t>
            </a:r>
            <a:r>
              <a:rPr lang="en-US" altLang="zh-CN" sz="2400" dirty="0">
                <a:latin typeface="黑体" pitchFamily="49" charset="-122"/>
                <a:ea typeface="黑体" pitchFamily="49" charset="-122"/>
                <a:cs typeface="经典粗黑简" pitchFamily="49" charset="-122"/>
              </a:rPr>
              <a:t>T</a:t>
            </a:r>
            <a:r>
              <a:rPr lang="zh-CN" altLang="en-US" sz="2400" dirty="0">
                <a:latin typeface="黑体" pitchFamily="49" charset="-122"/>
                <a:ea typeface="黑体" pitchFamily="49" charset="-122"/>
                <a:cs typeface="经典粗黑简" pitchFamily="49" charset="-122"/>
              </a:rPr>
              <a:t>中，否则舍去此边而选择下一条代价最小的边。依此类推，直到</a:t>
            </a:r>
            <a:r>
              <a:rPr lang="en-US" altLang="zh-CN" sz="2400" dirty="0">
                <a:latin typeface="黑体" pitchFamily="49" charset="-122"/>
                <a:ea typeface="黑体" pitchFamily="49" charset="-122"/>
                <a:cs typeface="经典粗黑简" pitchFamily="49" charset="-122"/>
              </a:rPr>
              <a:t>T</a:t>
            </a:r>
            <a:r>
              <a:rPr lang="zh-CN" altLang="en-US" sz="2400" dirty="0">
                <a:latin typeface="黑体" pitchFamily="49" charset="-122"/>
                <a:ea typeface="黑体" pitchFamily="49" charset="-122"/>
                <a:cs typeface="经典粗黑简" pitchFamily="49" charset="-122"/>
              </a:rPr>
              <a:t>中所有顶点都在同一连通分量上为止。</a:t>
            </a:r>
          </a:p>
        </p:txBody>
      </p:sp>
    </p:spTree>
    <p:extLst>
      <p:ext uri="{BB962C8B-B14F-4D97-AF65-F5344CB8AC3E}">
        <p14:creationId xmlns:p14="http://schemas.microsoft.com/office/powerpoint/2010/main" val="40475200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B51F88-234C-91C6-7757-607077C6166E}"/>
            </a:ext>
          </a:extLst>
        </p:cNvPr>
        <p:cNvGrpSpPr/>
        <p:nvPr/>
      </p:nvGrpSpPr>
      <p:grpSpPr>
        <a:xfrm>
          <a:off x="0" y="0"/>
          <a:ext cx="0" cy="0"/>
          <a:chOff x="0" y="0"/>
          <a:chExt cx="0" cy="0"/>
        </a:xfrm>
      </p:grpSpPr>
      <p:sp>
        <p:nvSpPr>
          <p:cNvPr id="2" name="Rectangle 2">
            <a:extLst>
              <a:ext uri="{FF2B5EF4-FFF2-40B4-BE49-F238E27FC236}">
                <a16:creationId xmlns:a16="http://schemas.microsoft.com/office/drawing/2014/main" id="{4DF1F1C6-D8D4-405F-283E-FF2F36062821}"/>
              </a:ext>
            </a:extLst>
          </p:cNvPr>
          <p:cNvSpPr txBox="1">
            <a:spLocks noChangeArrowheads="1"/>
          </p:cNvSpPr>
          <p:nvPr/>
        </p:nvSpPr>
        <p:spPr>
          <a:xfrm>
            <a:off x="474772" y="1230902"/>
            <a:ext cx="6485324"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8.4.4 </a:t>
            </a:r>
            <a:r>
              <a:rPr kumimoji="1" lang="zh-CN" altLang="en-US" dirty="0">
                <a:latin typeface="微软雅黑" pitchFamily="34" charset="-122"/>
                <a:ea typeface="微软雅黑" pitchFamily="34" charset="-122"/>
              </a:rPr>
              <a:t>克鲁斯卡尔算法 </a:t>
            </a:r>
            <a:r>
              <a:rPr kumimoji="1" lang="en-US" altLang="zh-CN" dirty="0">
                <a:latin typeface="微软雅黑" pitchFamily="34" charset="-122"/>
                <a:ea typeface="微软雅黑" pitchFamily="34" charset="-122"/>
              </a:rPr>
              <a:t>(Kruskal)</a:t>
            </a:r>
            <a:r>
              <a:rPr kumimoji="1" lang="zh-CN" altLang="en-US" dirty="0">
                <a:latin typeface="微软雅黑" pitchFamily="34" charset="-122"/>
                <a:ea typeface="微软雅黑" pitchFamily="34" charset="-122"/>
              </a:rPr>
              <a:t>算法</a:t>
            </a:r>
          </a:p>
        </p:txBody>
      </p:sp>
      <p:cxnSp>
        <p:nvCxnSpPr>
          <p:cNvPr id="3" name="直接连接符 2">
            <a:extLst>
              <a:ext uri="{FF2B5EF4-FFF2-40B4-BE49-F238E27FC236}">
                <a16:creationId xmlns:a16="http://schemas.microsoft.com/office/drawing/2014/main" id="{FAA79F6C-E118-978C-CA6E-A6914BD294B1}"/>
              </a:ext>
            </a:extLst>
          </p:cNvPr>
          <p:cNvCxnSpPr>
            <a:cxnSpLocks/>
          </p:cNvCxnSpPr>
          <p:nvPr/>
        </p:nvCxnSpPr>
        <p:spPr>
          <a:xfrm>
            <a:off x="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4" name="矩形 3">
            <a:extLst>
              <a:ext uri="{FF2B5EF4-FFF2-40B4-BE49-F238E27FC236}">
                <a16:creationId xmlns:a16="http://schemas.microsoft.com/office/drawing/2014/main" id="{808A7AAA-018E-3859-6476-54E67790B9C7}"/>
              </a:ext>
            </a:extLst>
          </p:cNvPr>
          <p:cNvSpPr/>
          <p:nvPr/>
        </p:nvSpPr>
        <p:spPr>
          <a:xfrm>
            <a:off x="3394075" y="399838"/>
            <a:ext cx="4617860"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8.4 </a:t>
            </a:r>
            <a:r>
              <a:rPr lang="zh-CN" altLang="en-US" sz="3000" b="1" dirty="0">
                <a:latin typeface="黑体" pitchFamily="49" charset="-122"/>
                <a:ea typeface="黑体" pitchFamily="49" charset="-122"/>
                <a:cs typeface="经典粗黑简" pitchFamily="49" charset="-122"/>
              </a:rPr>
              <a:t>生成树和最小生成树</a:t>
            </a:r>
          </a:p>
        </p:txBody>
      </p:sp>
      <p:grpSp>
        <p:nvGrpSpPr>
          <p:cNvPr id="109571" name="Group 3"/>
          <p:cNvGrpSpPr>
            <a:grpSpLocks/>
          </p:cNvGrpSpPr>
          <p:nvPr/>
        </p:nvGrpSpPr>
        <p:grpSpPr bwMode="auto">
          <a:xfrm>
            <a:off x="3647281" y="2853332"/>
            <a:ext cx="4897438" cy="3455988"/>
            <a:chOff x="1383" y="709"/>
            <a:chExt cx="3085" cy="2177"/>
          </a:xfrm>
        </p:grpSpPr>
        <p:grpSp>
          <p:nvGrpSpPr>
            <p:cNvPr id="109572" name="Group 4"/>
            <p:cNvGrpSpPr>
              <a:grpSpLocks/>
            </p:cNvGrpSpPr>
            <p:nvPr/>
          </p:nvGrpSpPr>
          <p:grpSpPr bwMode="auto">
            <a:xfrm>
              <a:off x="1383" y="754"/>
              <a:ext cx="3085" cy="2041"/>
              <a:chOff x="1383" y="210"/>
              <a:chExt cx="3085" cy="2041"/>
            </a:xfrm>
          </p:grpSpPr>
          <p:sp>
            <p:nvSpPr>
              <p:cNvPr id="109583" name="Oval 5"/>
              <p:cNvSpPr>
                <a:spLocks noChangeArrowheads="1"/>
              </p:cNvSpPr>
              <p:nvPr/>
            </p:nvSpPr>
            <p:spPr bwMode="auto">
              <a:xfrm>
                <a:off x="4105" y="935"/>
                <a:ext cx="363" cy="363"/>
              </a:xfrm>
              <a:prstGeom prst="ellipse">
                <a:avLst/>
              </a:prstGeom>
              <a:solidFill>
                <a:schemeClr val="bg1"/>
              </a:solidFill>
              <a:ln w="28575" cap="sq">
                <a:solidFill>
                  <a:srgbClr val="0033CC"/>
                </a:solidFill>
                <a:miter lim="800000"/>
                <a:headEnd type="none" w="sm" len="sm"/>
                <a:tailEnd type="none" w="sm" len="sm"/>
              </a:ln>
            </p:spPr>
            <p:txBody>
              <a:bodyPr wrap="none" anchor="ctr"/>
              <a:lstStyle/>
              <a:p>
                <a:r>
                  <a:rPr lang="en-US" altLang="zh-CN" sz="2400"/>
                  <a:t>v</a:t>
                </a:r>
                <a:r>
                  <a:rPr lang="en-US" altLang="zh-CN" sz="2400" baseline="-25000"/>
                  <a:t>7</a:t>
                </a:r>
              </a:p>
            </p:txBody>
          </p:sp>
          <p:sp>
            <p:nvSpPr>
              <p:cNvPr id="109584" name="Oval 6"/>
              <p:cNvSpPr>
                <a:spLocks noChangeArrowheads="1"/>
              </p:cNvSpPr>
              <p:nvPr/>
            </p:nvSpPr>
            <p:spPr bwMode="auto">
              <a:xfrm>
                <a:off x="2064" y="1888"/>
                <a:ext cx="363" cy="363"/>
              </a:xfrm>
              <a:prstGeom prst="ellipse">
                <a:avLst/>
              </a:prstGeom>
              <a:solidFill>
                <a:schemeClr val="bg1"/>
              </a:solidFill>
              <a:ln w="28575" cap="sq">
                <a:solidFill>
                  <a:srgbClr val="0033CC"/>
                </a:solidFill>
                <a:miter lim="800000"/>
                <a:headEnd type="none" w="sm" len="sm"/>
                <a:tailEnd type="none" w="sm" len="sm"/>
              </a:ln>
            </p:spPr>
            <p:txBody>
              <a:bodyPr wrap="none" anchor="ctr"/>
              <a:lstStyle/>
              <a:p>
                <a:r>
                  <a:rPr lang="en-US" altLang="zh-CN" sz="2400"/>
                  <a:t>v</a:t>
                </a:r>
                <a:r>
                  <a:rPr lang="en-US" altLang="zh-CN" sz="2400" baseline="-25000"/>
                  <a:t>5</a:t>
                </a:r>
              </a:p>
            </p:txBody>
          </p:sp>
          <p:sp>
            <p:nvSpPr>
              <p:cNvPr id="109585" name="Oval 7"/>
              <p:cNvSpPr>
                <a:spLocks noChangeArrowheads="1"/>
              </p:cNvSpPr>
              <p:nvPr/>
            </p:nvSpPr>
            <p:spPr bwMode="auto">
              <a:xfrm>
                <a:off x="3424" y="1888"/>
                <a:ext cx="363" cy="363"/>
              </a:xfrm>
              <a:prstGeom prst="ellipse">
                <a:avLst/>
              </a:prstGeom>
              <a:solidFill>
                <a:schemeClr val="bg1"/>
              </a:solidFill>
              <a:ln w="28575" cap="sq">
                <a:solidFill>
                  <a:srgbClr val="0033CC"/>
                </a:solidFill>
                <a:miter lim="800000"/>
                <a:headEnd type="none" w="sm" len="sm"/>
                <a:tailEnd type="none" w="sm" len="sm"/>
              </a:ln>
            </p:spPr>
            <p:txBody>
              <a:bodyPr wrap="none" anchor="ctr"/>
              <a:lstStyle/>
              <a:p>
                <a:r>
                  <a:rPr lang="en-US" altLang="zh-CN" sz="2400"/>
                  <a:t>v</a:t>
                </a:r>
                <a:r>
                  <a:rPr lang="en-US" altLang="zh-CN" sz="2400" baseline="-25000"/>
                  <a:t>6</a:t>
                </a:r>
              </a:p>
            </p:txBody>
          </p:sp>
          <p:sp>
            <p:nvSpPr>
              <p:cNvPr id="109586" name="Oval 8"/>
              <p:cNvSpPr>
                <a:spLocks noChangeArrowheads="1"/>
              </p:cNvSpPr>
              <p:nvPr/>
            </p:nvSpPr>
            <p:spPr bwMode="auto">
              <a:xfrm>
                <a:off x="1383" y="935"/>
                <a:ext cx="363" cy="363"/>
              </a:xfrm>
              <a:prstGeom prst="ellipse">
                <a:avLst/>
              </a:prstGeom>
              <a:solidFill>
                <a:schemeClr val="bg1"/>
              </a:solidFill>
              <a:ln w="28575" cap="sq">
                <a:solidFill>
                  <a:srgbClr val="0033CC"/>
                </a:solidFill>
                <a:miter lim="800000"/>
                <a:headEnd type="none" w="sm" len="sm"/>
                <a:tailEnd type="none" w="sm" len="sm"/>
              </a:ln>
            </p:spPr>
            <p:txBody>
              <a:bodyPr wrap="none" anchor="ctr"/>
              <a:lstStyle/>
              <a:p>
                <a:r>
                  <a:rPr lang="en-US" altLang="zh-CN" sz="2400"/>
                  <a:t>v</a:t>
                </a:r>
                <a:r>
                  <a:rPr lang="en-US" altLang="zh-CN" sz="2400" baseline="-25000"/>
                  <a:t>2</a:t>
                </a:r>
              </a:p>
            </p:txBody>
          </p:sp>
          <p:sp>
            <p:nvSpPr>
              <p:cNvPr id="109587" name="Oval 9"/>
              <p:cNvSpPr>
                <a:spLocks noChangeArrowheads="1"/>
              </p:cNvSpPr>
              <p:nvPr/>
            </p:nvSpPr>
            <p:spPr bwMode="auto">
              <a:xfrm>
                <a:off x="3424" y="210"/>
                <a:ext cx="363" cy="363"/>
              </a:xfrm>
              <a:prstGeom prst="ellipse">
                <a:avLst/>
              </a:prstGeom>
              <a:solidFill>
                <a:schemeClr val="bg1"/>
              </a:solidFill>
              <a:ln w="28575" cap="sq">
                <a:solidFill>
                  <a:srgbClr val="0033CC"/>
                </a:solidFill>
                <a:miter lim="800000"/>
                <a:headEnd type="none" w="sm" len="sm"/>
                <a:tailEnd type="none" w="sm" len="sm"/>
              </a:ln>
            </p:spPr>
            <p:txBody>
              <a:bodyPr wrap="none" anchor="ctr"/>
              <a:lstStyle/>
              <a:p>
                <a:r>
                  <a:rPr lang="en-US" altLang="zh-CN" sz="2400"/>
                  <a:t>v</a:t>
                </a:r>
                <a:r>
                  <a:rPr lang="en-US" altLang="zh-CN" sz="2400" baseline="-25000"/>
                  <a:t>3</a:t>
                </a:r>
              </a:p>
            </p:txBody>
          </p:sp>
          <p:sp>
            <p:nvSpPr>
              <p:cNvPr id="109588" name="Oval 10"/>
              <p:cNvSpPr>
                <a:spLocks noChangeArrowheads="1"/>
              </p:cNvSpPr>
              <p:nvPr/>
            </p:nvSpPr>
            <p:spPr bwMode="auto">
              <a:xfrm>
                <a:off x="2064" y="210"/>
                <a:ext cx="363" cy="363"/>
              </a:xfrm>
              <a:prstGeom prst="ellipse">
                <a:avLst/>
              </a:prstGeom>
              <a:solidFill>
                <a:schemeClr val="bg1"/>
              </a:solidFill>
              <a:ln w="28575" cap="sq">
                <a:solidFill>
                  <a:srgbClr val="0033CC"/>
                </a:solidFill>
                <a:miter lim="800000"/>
                <a:headEnd type="none" w="sm" len="sm"/>
                <a:tailEnd type="none" w="sm" len="sm"/>
              </a:ln>
            </p:spPr>
            <p:txBody>
              <a:bodyPr wrap="none" anchor="ctr"/>
              <a:lstStyle/>
              <a:p>
                <a:r>
                  <a:rPr lang="en-US" altLang="zh-CN" sz="2400"/>
                  <a:t>v</a:t>
                </a:r>
                <a:r>
                  <a:rPr lang="en-US" altLang="zh-CN" sz="2400" baseline="-25000"/>
                  <a:t>1</a:t>
                </a:r>
              </a:p>
            </p:txBody>
          </p:sp>
          <p:sp>
            <p:nvSpPr>
              <p:cNvPr id="109589" name="Oval 11"/>
              <p:cNvSpPr>
                <a:spLocks noChangeArrowheads="1"/>
              </p:cNvSpPr>
              <p:nvPr/>
            </p:nvSpPr>
            <p:spPr bwMode="auto">
              <a:xfrm>
                <a:off x="2698" y="935"/>
                <a:ext cx="363" cy="363"/>
              </a:xfrm>
              <a:prstGeom prst="ellipse">
                <a:avLst/>
              </a:prstGeom>
              <a:solidFill>
                <a:schemeClr val="bg1"/>
              </a:solidFill>
              <a:ln w="28575" cap="sq">
                <a:solidFill>
                  <a:srgbClr val="0033CC"/>
                </a:solidFill>
                <a:miter lim="800000"/>
                <a:headEnd type="none" w="sm" len="sm"/>
                <a:tailEnd type="none" w="sm" len="sm"/>
              </a:ln>
            </p:spPr>
            <p:txBody>
              <a:bodyPr wrap="none" anchor="ctr"/>
              <a:lstStyle/>
              <a:p>
                <a:r>
                  <a:rPr lang="en-US" altLang="zh-CN" sz="2400"/>
                  <a:t>v</a:t>
                </a:r>
                <a:r>
                  <a:rPr lang="en-US" altLang="zh-CN" sz="2400" baseline="-25000"/>
                  <a:t>4</a:t>
                </a:r>
              </a:p>
            </p:txBody>
          </p:sp>
          <p:sp>
            <p:nvSpPr>
              <p:cNvPr id="109590" name="Line 12"/>
              <p:cNvSpPr>
                <a:spLocks noChangeShapeType="1"/>
              </p:cNvSpPr>
              <p:nvPr/>
            </p:nvSpPr>
            <p:spPr bwMode="auto">
              <a:xfrm>
                <a:off x="2426" y="436"/>
                <a:ext cx="998" cy="0"/>
              </a:xfrm>
              <a:prstGeom prst="line">
                <a:avLst/>
              </a:prstGeom>
              <a:noFill/>
              <a:ln w="28575" cap="sq">
                <a:solidFill>
                  <a:srgbClr val="0033CC"/>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09591" name="Line 13"/>
              <p:cNvSpPr>
                <a:spLocks noChangeShapeType="1"/>
              </p:cNvSpPr>
              <p:nvPr/>
            </p:nvSpPr>
            <p:spPr bwMode="auto">
              <a:xfrm flipH="1">
                <a:off x="1701" y="527"/>
                <a:ext cx="408" cy="454"/>
              </a:xfrm>
              <a:prstGeom prst="line">
                <a:avLst/>
              </a:prstGeom>
              <a:noFill/>
              <a:ln w="28575" cap="sq">
                <a:solidFill>
                  <a:srgbClr val="0033CC"/>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09592" name="Line 14"/>
              <p:cNvSpPr>
                <a:spLocks noChangeShapeType="1"/>
              </p:cNvSpPr>
              <p:nvPr/>
            </p:nvSpPr>
            <p:spPr bwMode="auto">
              <a:xfrm>
                <a:off x="3787" y="482"/>
                <a:ext cx="454" cy="453"/>
              </a:xfrm>
              <a:prstGeom prst="line">
                <a:avLst/>
              </a:prstGeom>
              <a:noFill/>
              <a:ln w="28575" cap="sq">
                <a:solidFill>
                  <a:srgbClr val="0033CC"/>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09593" name="Line 15"/>
              <p:cNvSpPr>
                <a:spLocks noChangeShapeType="1"/>
              </p:cNvSpPr>
              <p:nvPr/>
            </p:nvSpPr>
            <p:spPr bwMode="auto">
              <a:xfrm>
                <a:off x="1746" y="1162"/>
                <a:ext cx="953" cy="0"/>
              </a:xfrm>
              <a:prstGeom prst="line">
                <a:avLst/>
              </a:prstGeom>
              <a:noFill/>
              <a:ln w="28575" cap="sq">
                <a:solidFill>
                  <a:srgbClr val="0033CC"/>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09594" name="Line 16"/>
              <p:cNvSpPr>
                <a:spLocks noChangeShapeType="1"/>
              </p:cNvSpPr>
              <p:nvPr/>
            </p:nvSpPr>
            <p:spPr bwMode="auto">
              <a:xfrm>
                <a:off x="3061" y="1162"/>
                <a:ext cx="1044" cy="0"/>
              </a:xfrm>
              <a:prstGeom prst="line">
                <a:avLst/>
              </a:prstGeom>
              <a:noFill/>
              <a:ln w="28575" cap="sq">
                <a:solidFill>
                  <a:srgbClr val="0033CC"/>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09595" name="Line 17"/>
              <p:cNvSpPr>
                <a:spLocks noChangeShapeType="1"/>
              </p:cNvSpPr>
              <p:nvPr/>
            </p:nvSpPr>
            <p:spPr bwMode="auto">
              <a:xfrm flipH="1">
                <a:off x="3016" y="527"/>
                <a:ext cx="454" cy="454"/>
              </a:xfrm>
              <a:prstGeom prst="line">
                <a:avLst/>
              </a:prstGeom>
              <a:noFill/>
              <a:ln w="28575" cap="sq">
                <a:solidFill>
                  <a:srgbClr val="0033CC"/>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09596" name="Line 18"/>
              <p:cNvSpPr>
                <a:spLocks noChangeShapeType="1"/>
              </p:cNvSpPr>
              <p:nvPr/>
            </p:nvSpPr>
            <p:spPr bwMode="auto">
              <a:xfrm>
                <a:off x="2426" y="2069"/>
                <a:ext cx="998" cy="0"/>
              </a:xfrm>
              <a:prstGeom prst="line">
                <a:avLst/>
              </a:prstGeom>
              <a:noFill/>
              <a:ln w="28575" cap="sq">
                <a:solidFill>
                  <a:srgbClr val="0033CC"/>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09597" name="Line 19"/>
              <p:cNvSpPr>
                <a:spLocks noChangeShapeType="1"/>
              </p:cNvSpPr>
              <p:nvPr/>
            </p:nvSpPr>
            <p:spPr bwMode="auto">
              <a:xfrm flipH="1">
                <a:off x="2349" y="1285"/>
                <a:ext cx="453" cy="635"/>
              </a:xfrm>
              <a:prstGeom prst="line">
                <a:avLst/>
              </a:prstGeom>
              <a:noFill/>
              <a:ln w="28575" cap="sq">
                <a:solidFill>
                  <a:srgbClr val="0033CC"/>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09598" name="Line 20"/>
              <p:cNvSpPr>
                <a:spLocks noChangeShapeType="1"/>
              </p:cNvSpPr>
              <p:nvPr/>
            </p:nvSpPr>
            <p:spPr bwMode="auto">
              <a:xfrm>
                <a:off x="3016" y="1253"/>
                <a:ext cx="544" cy="635"/>
              </a:xfrm>
              <a:prstGeom prst="line">
                <a:avLst/>
              </a:prstGeom>
              <a:noFill/>
              <a:ln w="28575" cap="sq">
                <a:solidFill>
                  <a:srgbClr val="0033CC"/>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09599" name="Line 21"/>
              <p:cNvSpPr>
                <a:spLocks noChangeShapeType="1"/>
              </p:cNvSpPr>
              <p:nvPr/>
            </p:nvSpPr>
            <p:spPr bwMode="auto">
              <a:xfrm>
                <a:off x="1655" y="1298"/>
                <a:ext cx="454" cy="635"/>
              </a:xfrm>
              <a:prstGeom prst="line">
                <a:avLst/>
              </a:prstGeom>
              <a:noFill/>
              <a:ln w="28575" cap="sq">
                <a:solidFill>
                  <a:srgbClr val="0033CC"/>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grpSp>
        <p:sp>
          <p:nvSpPr>
            <p:cNvPr id="109573" name="Text Box 22"/>
            <p:cNvSpPr txBox="1">
              <a:spLocks noChangeArrowheads="1"/>
            </p:cNvSpPr>
            <p:nvPr/>
          </p:nvSpPr>
          <p:spPr bwMode="auto">
            <a:xfrm>
              <a:off x="2699" y="709"/>
              <a:ext cx="40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rgbClr val="000000"/>
                  </a:solidFill>
                  <a:miter lim="800000"/>
                  <a:headEnd type="none" w="sm" len="sm"/>
                  <a:tailEnd type="none" w="sm" len="sm"/>
                </a14:hiddenLine>
              </a:ext>
            </a:extLst>
          </p:spPr>
          <p:txBody>
            <a:bodyPr>
              <a:spAutoFit/>
            </a:bodyPr>
            <a:lstStyle>
              <a:lvl1pPr eaLnBrk="0" hangingPunct="0">
                <a:defRPr kumimoji="1" sz="2800">
                  <a:solidFill>
                    <a:schemeClr val="tx1"/>
                  </a:solidFill>
                  <a:latin typeface="Comic Sans MS" pitchFamily="66" charset="0"/>
                  <a:ea typeface="宋体" pitchFamily="2" charset="-122"/>
                </a:defRPr>
              </a:lvl1pPr>
              <a:lvl2pPr marL="742950" indent="-285750" eaLnBrk="0" hangingPunct="0">
                <a:defRPr kumimoji="1" sz="2800">
                  <a:solidFill>
                    <a:schemeClr val="tx1"/>
                  </a:solidFill>
                  <a:latin typeface="Comic Sans MS" pitchFamily="66" charset="0"/>
                  <a:ea typeface="宋体" pitchFamily="2" charset="-122"/>
                </a:defRPr>
              </a:lvl2pPr>
              <a:lvl3pPr marL="1143000" indent="-228600" eaLnBrk="0" hangingPunct="0">
                <a:defRPr kumimoji="1" sz="2800">
                  <a:solidFill>
                    <a:schemeClr val="tx1"/>
                  </a:solidFill>
                  <a:latin typeface="Comic Sans MS" pitchFamily="66" charset="0"/>
                  <a:ea typeface="宋体" pitchFamily="2" charset="-122"/>
                </a:defRPr>
              </a:lvl3pPr>
              <a:lvl4pPr marL="1600200" indent="-228600" eaLnBrk="0" hangingPunct="0">
                <a:defRPr kumimoji="1" sz="2800">
                  <a:solidFill>
                    <a:schemeClr val="tx1"/>
                  </a:solidFill>
                  <a:latin typeface="Comic Sans MS" pitchFamily="66" charset="0"/>
                  <a:ea typeface="宋体" pitchFamily="2" charset="-122"/>
                </a:defRPr>
              </a:lvl4pPr>
              <a:lvl5pPr marL="2057400" indent="-228600" eaLnBrk="0" hangingPunct="0">
                <a:defRPr kumimoji="1" sz="2800">
                  <a:solidFill>
                    <a:schemeClr val="tx1"/>
                  </a:solidFill>
                  <a:latin typeface="Comic Sans MS" pitchFamily="66" charset="0"/>
                  <a:ea typeface="宋体" pitchFamily="2" charset="-122"/>
                </a:defRPr>
              </a:lvl5pPr>
              <a:lvl6pPr marL="25146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6pPr>
              <a:lvl7pPr marL="29718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7pPr>
              <a:lvl8pPr marL="34290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8pPr>
              <a:lvl9pPr marL="38862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9pPr>
            </a:lstStyle>
            <a:p>
              <a:pPr eaLnBrk="1" hangingPunct="1">
                <a:spcBef>
                  <a:spcPct val="50000"/>
                </a:spcBef>
              </a:pPr>
              <a:r>
                <a:rPr lang="en-US" altLang="zh-CN" sz="2400" b="1">
                  <a:solidFill>
                    <a:srgbClr val="DE580E"/>
                  </a:solidFill>
                </a:rPr>
                <a:t>60</a:t>
              </a:r>
            </a:p>
          </p:txBody>
        </p:sp>
        <p:sp>
          <p:nvSpPr>
            <p:cNvPr id="109574" name="Text Box 23"/>
            <p:cNvSpPr txBox="1">
              <a:spLocks noChangeArrowheads="1"/>
            </p:cNvSpPr>
            <p:nvPr/>
          </p:nvSpPr>
          <p:spPr bwMode="auto">
            <a:xfrm>
              <a:off x="3878" y="1010"/>
              <a:ext cx="40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rgbClr val="000000"/>
                  </a:solidFill>
                  <a:miter lim="800000"/>
                  <a:headEnd type="none" w="sm" len="sm"/>
                  <a:tailEnd type="none" w="sm" len="sm"/>
                </a14:hiddenLine>
              </a:ext>
            </a:extLst>
          </p:spPr>
          <p:txBody>
            <a:bodyPr>
              <a:spAutoFit/>
            </a:bodyPr>
            <a:lstStyle>
              <a:lvl1pPr eaLnBrk="0" hangingPunct="0">
                <a:defRPr kumimoji="1" sz="2800">
                  <a:solidFill>
                    <a:schemeClr val="tx1"/>
                  </a:solidFill>
                  <a:latin typeface="Comic Sans MS" pitchFamily="66" charset="0"/>
                  <a:ea typeface="宋体" pitchFamily="2" charset="-122"/>
                </a:defRPr>
              </a:lvl1pPr>
              <a:lvl2pPr marL="742950" indent="-285750" eaLnBrk="0" hangingPunct="0">
                <a:defRPr kumimoji="1" sz="2800">
                  <a:solidFill>
                    <a:schemeClr val="tx1"/>
                  </a:solidFill>
                  <a:latin typeface="Comic Sans MS" pitchFamily="66" charset="0"/>
                  <a:ea typeface="宋体" pitchFamily="2" charset="-122"/>
                </a:defRPr>
              </a:lvl2pPr>
              <a:lvl3pPr marL="1143000" indent="-228600" eaLnBrk="0" hangingPunct="0">
                <a:defRPr kumimoji="1" sz="2800">
                  <a:solidFill>
                    <a:schemeClr val="tx1"/>
                  </a:solidFill>
                  <a:latin typeface="Comic Sans MS" pitchFamily="66" charset="0"/>
                  <a:ea typeface="宋体" pitchFamily="2" charset="-122"/>
                </a:defRPr>
              </a:lvl3pPr>
              <a:lvl4pPr marL="1600200" indent="-228600" eaLnBrk="0" hangingPunct="0">
                <a:defRPr kumimoji="1" sz="2800">
                  <a:solidFill>
                    <a:schemeClr val="tx1"/>
                  </a:solidFill>
                  <a:latin typeface="Comic Sans MS" pitchFamily="66" charset="0"/>
                  <a:ea typeface="宋体" pitchFamily="2" charset="-122"/>
                </a:defRPr>
              </a:lvl4pPr>
              <a:lvl5pPr marL="2057400" indent="-228600" eaLnBrk="0" hangingPunct="0">
                <a:defRPr kumimoji="1" sz="2800">
                  <a:solidFill>
                    <a:schemeClr val="tx1"/>
                  </a:solidFill>
                  <a:latin typeface="Comic Sans MS" pitchFamily="66" charset="0"/>
                  <a:ea typeface="宋体" pitchFamily="2" charset="-122"/>
                </a:defRPr>
              </a:lvl5pPr>
              <a:lvl6pPr marL="25146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6pPr>
              <a:lvl7pPr marL="29718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7pPr>
              <a:lvl8pPr marL="34290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8pPr>
              <a:lvl9pPr marL="38862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9pPr>
            </a:lstStyle>
            <a:p>
              <a:pPr eaLnBrk="1" hangingPunct="1">
                <a:spcBef>
                  <a:spcPct val="50000"/>
                </a:spcBef>
              </a:pPr>
              <a:r>
                <a:rPr lang="en-US" altLang="zh-CN" sz="2400" b="1">
                  <a:solidFill>
                    <a:srgbClr val="DE580E"/>
                  </a:solidFill>
                </a:rPr>
                <a:t>45</a:t>
              </a:r>
            </a:p>
          </p:txBody>
        </p:sp>
        <p:sp>
          <p:nvSpPr>
            <p:cNvPr id="109575" name="Text Box 24"/>
            <p:cNvSpPr txBox="1">
              <a:spLocks noChangeArrowheads="1"/>
            </p:cNvSpPr>
            <p:nvPr/>
          </p:nvSpPr>
          <p:spPr bwMode="auto">
            <a:xfrm>
              <a:off x="1610" y="1056"/>
              <a:ext cx="40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rgbClr val="000000"/>
                  </a:solidFill>
                  <a:miter lim="800000"/>
                  <a:headEnd type="none" w="sm" len="sm"/>
                  <a:tailEnd type="none" w="sm" len="sm"/>
                </a14:hiddenLine>
              </a:ext>
            </a:extLst>
          </p:spPr>
          <p:txBody>
            <a:bodyPr>
              <a:spAutoFit/>
            </a:bodyPr>
            <a:lstStyle>
              <a:lvl1pPr eaLnBrk="0" hangingPunct="0">
                <a:defRPr kumimoji="1" sz="2800">
                  <a:solidFill>
                    <a:schemeClr val="tx1"/>
                  </a:solidFill>
                  <a:latin typeface="Comic Sans MS" pitchFamily="66" charset="0"/>
                  <a:ea typeface="宋体" pitchFamily="2" charset="-122"/>
                </a:defRPr>
              </a:lvl1pPr>
              <a:lvl2pPr marL="742950" indent="-285750" eaLnBrk="0" hangingPunct="0">
                <a:defRPr kumimoji="1" sz="2800">
                  <a:solidFill>
                    <a:schemeClr val="tx1"/>
                  </a:solidFill>
                  <a:latin typeface="Comic Sans MS" pitchFamily="66" charset="0"/>
                  <a:ea typeface="宋体" pitchFamily="2" charset="-122"/>
                </a:defRPr>
              </a:lvl2pPr>
              <a:lvl3pPr marL="1143000" indent="-228600" eaLnBrk="0" hangingPunct="0">
                <a:defRPr kumimoji="1" sz="2800">
                  <a:solidFill>
                    <a:schemeClr val="tx1"/>
                  </a:solidFill>
                  <a:latin typeface="Comic Sans MS" pitchFamily="66" charset="0"/>
                  <a:ea typeface="宋体" pitchFamily="2" charset="-122"/>
                </a:defRPr>
              </a:lvl3pPr>
              <a:lvl4pPr marL="1600200" indent="-228600" eaLnBrk="0" hangingPunct="0">
                <a:defRPr kumimoji="1" sz="2800">
                  <a:solidFill>
                    <a:schemeClr val="tx1"/>
                  </a:solidFill>
                  <a:latin typeface="Comic Sans MS" pitchFamily="66" charset="0"/>
                  <a:ea typeface="宋体" pitchFamily="2" charset="-122"/>
                </a:defRPr>
              </a:lvl4pPr>
              <a:lvl5pPr marL="2057400" indent="-228600" eaLnBrk="0" hangingPunct="0">
                <a:defRPr kumimoji="1" sz="2800">
                  <a:solidFill>
                    <a:schemeClr val="tx1"/>
                  </a:solidFill>
                  <a:latin typeface="Comic Sans MS" pitchFamily="66" charset="0"/>
                  <a:ea typeface="宋体" pitchFamily="2" charset="-122"/>
                </a:defRPr>
              </a:lvl5pPr>
              <a:lvl6pPr marL="25146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6pPr>
              <a:lvl7pPr marL="29718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7pPr>
              <a:lvl8pPr marL="34290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8pPr>
              <a:lvl9pPr marL="38862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9pPr>
            </a:lstStyle>
            <a:p>
              <a:pPr eaLnBrk="1" hangingPunct="1">
                <a:spcBef>
                  <a:spcPct val="50000"/>
                </a:spcBef>
              </a:pPr>
              <a:r>
                <a:rPr lang="en-US" altLang="zh-CN" sz="2400" b="1">
                  <a:solidFill>
                    <a:srgbClr val="DE580E"/>
                  </a:solidFill>
                </a:rPr>
                <a:t>50</a:t>
              </a:r>
            </a:p>
          </p:txBody>
        </p:sp>
        <p:sp>
          <p:nvSpPr>
            <p:cNvPr id="109576" name="Text Box 25"/>
            <p:cNvSpPr txBox="1">
              <a:spLocks noChangeArrowheads="1"/>
            </p:cNvSpPr>
            <p:nvPr/>
          </p:nvSpPr>
          <p:spPr bwMode="auto">
            <a:xfrm>
              <a:off x="2926" y="1071"/>
              <a:ext cx="40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rgbClr val="000000"/>
                  </a:solidFill>
                  <a:miter lim="800000"/>
                  <a:headEnd type="none" w="sm" len="sm"/>
                  <a:tailEnd type="none" w="sm" len="sm"/>
                </a14:hiddenLine>
              </a:ext>
            </a:extLst>
          </p:spPr>
          <p:txBody>
            <a:bodyPr>
              <a:spAutoFit/>
            </a:bodyPr>
            <a:lstStyle>
              <a:lvl1pPr eaLnBrk="0" hangingPunct="0">
                <a:defRPr kumimoji="1" sz="2800">
                  <a:solidFill>
                    <a:schemeClr val="tx1"/>
                  </a:solidFill>
                  <a:latin typeface="Comic Sans MS" pitchFamily="66" charset="0"/>
                  <a:ea typeface="宋体" pitchFamily="2" charset="-122"/>
                </a:defRPr>
              </a:lvl1pPr>
              <a:lvl2pPr marL="742950" indent="-285750" eaLnBrk="0" hangingPunct="0">
                <a:defRPr kumimoji="1" sz="2800">
                  <a:solidFill>
                    <a:schemeClr val="tx1"/>
                  </a:solidFill>
                  <a:latin typeface="Comic Sans MS" pitchFamily="66" charset="0"/>
                  <a:ea typeface="宋体" pitchFamily="2" charset="-122"/>
                </a:defRPr>
              </a:lvl2pPr>
              <a:lvl3pPr marL="1143000" indent="-228600" eaLnBrk="0" hangingPunct="0">
                <a:defRPr kumimoji="1" sz="2800">
                  <a:solidFill>
                    <a:schemeClr val="tx1"/>
                  </a:solidFill>
                  <a:latin typeface="Comic Sans MS" pitchFamily="66" charset="0"/>
                  <a:ea typeface="宋体" pitchFamily="2" charset="-122"/>
                </a:defRPr>
              </a:lvl3pPr>
              <a:lvl4pPr marL="1600200" indent="-228600" eaLnBrk="0" hangingPunct="0">
                <a:defRPr kumimoji="1" sz="2800">
                  <a:solidFill>
                    <a:schemeClr val="tx1"/>
                  </a:solidFill>
                  <a:latin typeface="Comic Sans MS" pitchFamily="66" charset="0"/>
                  <a:ea typeface="宋体" pitchFamily="2" charset="-122"/>
                </a:defRPr>
              </a:lvl4pPr>
              <a:lvl5pPr marL="2057400" indent="-228600" eaLnBrk="0" hangingPunct="0">
                <a:defRPr kumimoji="1" sz="2800">
                  <a:solidFill>
                    <a:schemeClr val="tx1"/>
                  </a:solidFill>
                  <a:latin typeface="Comic Sans MS" pitchFamily="66" charset="0"/>
                  <a:ea typeface="宋体" pitchFamily="2" charset="-122"/>
                </a:defRPr>
              </a:lvl5pPr>
              <a:lvl6pPr marL="25146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6pPr>
              <a:lvl7pPr marL="29718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7pPr>
              <a:lvl8pPr marL="34290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8pPr>
              <a:lvl9pPr marL="38862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9pPr>
            </a:lstStyle>
            <a:p>
              <a:pPr eaLnBrk="1" hangingPunct="1">
                <a:spcBef>
                  <a:spcPct val="50000"/>
                </a:spcBef>
              </a:pPr>
              <a:r>
                <a:rPr lang="en-US" altLang="zh-CN" sz="2400" b="1">
                  <a:solidFill>
                    <a:srgbClr val="DE580E"/>
                  </a:solidFill>
                </a:rPr>
                <a:t>50</a:t>
              </a:r>
            </a:p>
          </p:txBody>
        </p:sp>
        <p:sp>
          <p:nvSpPr>
            <p:cNvPr id="109577" name="Text Box 26"/>
            <p:cNvSpPr txBox="1">
              <a:spLocks noChangeArrowheads="1"/>
            </p:cNvSpPr>
            <p:nvPr/>
          </p:nvSpPr>
          <p:spPr bwMode="auto">
            <a:xfrm>
              <a:off x="2064" y="1464"/>
              <a:ext cx="40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rgbClr val="000000"/>
                  </a:solidFill>
                  <a:miter lim="800000"/>
                  <a:headEnd type="none" w="sm" len="sm"/>
                  <a:tailEnd type="none" w="sm" len="sm"/>
                </a14:hiddenLine>
              </a:ext>
            </a:extLst>
          </p:spPr>
          <p:txBody>
            <a:bodyPr>
              <a:spAutoFit/>
            </a:bodyPr>
            <a:lstStyle>
              <a:lvl1pPr eaLnBrk="0" hangingPunct="0">
                <a:defRPr kumimoji="1" sz="2800">
                  <a:solidFill>
                    <a:schemeClr val="tx1"/>
                  </a:solidFill>
                  <a:latin typeface="Comic Sans MS" pitchFamily="66" charset="0"/>
                  <a:ea typeface="宋体" pitchFamily="2" charset="-122"/>
                </a:defRPr>
              </a:lvl1pPr>
              <a:lvl2pPr marL="742950" indent="-285750" eaLnBrk="0" hangingPunct="0">
                <a:defRPr kumimoji="1" sz="2800">
                  <a:solidFill>
                    <a:schemeClr val="tx1"/>
                  </a:solidFill>
                  <a:latin typeface="Comic Sans MS" pitchFamily="66" charset="0"/>
                  <a:ea typeface="宋体" pitchFamily="2" charset="-122"/>
                </a:defRPr>
              </a:lvl2pPr>
              <a:lvl3pPr marL="1143000" indent="-228600" eaLnBrk="0" hangingPunct="0">
                <a:defRPr kumimoji="1" sz="2800">
                  <a:solidFill>
                    <a:schemeClr val="tx1"/>
                  </a:solidFill>
                  <a:latin typeface="Comic Sans MS" pitchFamily="66" charset="0"/>
                  <a:ea typeface="宋体" pitchFamily="2" charset="-122"/>
                </a:defRPr>
              </a:lvl3pPr>
              <a:lvl4pPr marL="1600200" indent="-228600" eaLnBrk="0" hangingPunct="0">
                <a:defRPr kumimoji="1" sz="2800">
                  <a:solidFill>
                    <a:schemeClr val="tx1"/>
                  </a:solidFill>
                  <a:latin typeface="Comic Sans MS" pitchFamily="66" charset="0"/>
                  <a:ea typeface="宋体" pitchFamily="2" charset="-122"/>
                </a:defRPr>
              </a:lvl4pPr>
              <a:lvl5pPr marL="2057400" indent="-228600" eaLnBrk="0" hangingPunct="0">
                <a:defRPr kumimoji="1" sz="2800">
                  <a:solidFill>
                    <a:schemeClr val="tx1"/>
                  </a:solidFill>
                  <a:latin typeface="Comic Sans MS" pitchFamily="66" charset="0"/>
                  <a:ea typeface="宋体" pitchFamily="2" charset="-122"/>
                </a:defRPr>
              </a:lvl5pPr>
              <a:lvl6pPr marL="25146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6pPr>
              <a:lvl7pPr marL="29718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7pPr>
              <a:lvl8pPr marL="34290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8pPr>
              <a:lvl9pPr marL="38862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9pPr>
            </a:lstStyle>
            <a:p>
              <a:pPr eaLnBrk="1" hangingPunct="1">
                <a:spcBef>
                  <a:spcPct val="50000"/>
                </a:spcBef>
              </a:pPr>
              <a:r>
                <a:rPr lang="en-US" altLang="zh-CN" sz="2400" b="1">
                  <a:solidFill>
                    <a:srgbClr val="DE580E"/>
                  </a:solidFill>
                </a:rPr>
                <a:t>65</a:t>
              </a:r>
            </a:p>
          </p:txBody>
        </p:sp>
        <p:sp>
          <p:nvSpPr>
            <p:cNvPr id="109578" name="Text Box 27"/>
            <p:cNvSpPr txBox="1">
              <a:spLocks noChangeArrowheads="1"/>
            </p:cNvSpPr>
            <p:nvPr/>
          </p:nvSpPr>
          <p:spPr bwMode="auto">
            <a:xfrm>
              <a:off x="3425" y="1464"/>
              <a:ext cx="40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rgbClr val="000000"/>
                  </a:solidFill>
                  <a:miter lim="800000"/>
                  <a:headEnd type="none" w="sm" len="sm"/>
                  <a:tailEnd type="none" w="sm" len="sm"/>
                </a14:hiddenLine>
              </a:ext>
            </a:extLst>
          </p:spPr>
          <p:txBody>
            <a:bodyPr>
              <a:spAutoFit/>
            </a:bodyPr>
            <a:lstStyle>
              <a:lvl1pPr eaLnBrk="0" hangingPunct="0">
                <a:defRPr kumimoji="1" sz="2800">
                  <a:solidFill>
                    <a:schemeClr val="tx1"/>
                  </a:solidFill>
                  <a:latin typeface="Comic Sans MS" pitchFamily="66" charset="0"/>
                  <a:ea typeface="宋体" pitchFamily="2" charset="-122"/>
                </a:defRPr>
              </a:lvl1pPr>
              <a:lvl2pPr marL="742950" indent="-285750" eaLnBrk="0" hangingPunct="0">
                <a:defRPr kumimoji="1" sz="2800">
                  <a:solidFill>
                    <a:schemeClr val="tx1"/>
                  </a:solidFill>
                  <a:latin typeface="Comic Sans MS" pitchFamily="66" charset="0"/>
                  <a:ea typeface="宋体" pitchFamily="2" charset="-122"/>
                </a:defRPr>
              </a:lvl2pPr>
              <a:lvl3pPr marL="1143000" indent="-228600" eaLnBrk="0" hangingPunct="0">
                <a:defRPr kumimoji="1" sz="2800">
                  <a:solidFill>
                    <a:schemeClr val="tx1"/>
                  </a:solidFill>
                  <a:latin typeface="Comic Sans MS" pitchFamily="66" charset="0"/>
                  <a:ea typeface="宋体" pitchFamily="2" charset="-122"/>
                </a:defRPr>
              </a:lvl3pPr>
              <a:lvl4pPr marL="1600200" indent="-228600" eaLnBrk="0" hangingPunct="0">
                <a:defRPr kumimoji="1" sz="2800">
                  <a:solidFill>
                    <a:schemeClr val="tx1"/>
                  </a:solidFill>
                  <a:latin typeface="Comic Sans MS" pitchFamily="66" charset="0"/>
                  <a:ea typeface="宋体" pitchFamily="2" charset="-122"/>
                </a:defRPr>
              </a:lvl4pPr>
              <a:lvl5pPr marL="2057400" indent="-228600" eaLnBrk="0" hangingPunct="0">
                <a:defRPr kumimoji="1" sz="2800">
                  <a:solidFill>
                    <a:schemeClr val="tx1"/>
                  </a:solidFill>
                  <a:latin typeface="Comic Sans MS" pitchFamily="66" charset="0"/>
                  <a:ea typeface="宋体" pitchFamily="2" charset="-122"/>
                </a:defRPr>
              </a:lvl5pPr>
              <a:lvl6pPr marL="25146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6pPr>
              <a:lvl7pPr marL="29718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7pPr>
              <a:lvl8pPr marL="34290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8pPr>
              <a:lvl9pPr marL="38862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9pPr>
            </a:lstStyle>
            <a:p>
              <a:pPr eaLnBrk="1" hangingPunct="1">
                <a:spcBef>
                  <a:spcPct val="50000"/>
                </a:spcBef>
              </a:pPr>
              <a:r>
                <a:rPr lang="en-US" altLang="zh-CN" sz="2400" b="1">
                  <a:solidFill>
                    <a:srgbClr val="DE580E"/>
                  </a:solidFill>
                </a:rPr>
                <a:t>42</a:t>
              </a:r>
            </a:p>
          </p:txBody>
        </p:sp>
        <p:sp>
          <p:nvSpPr>
            <p:cNvPr id="109579" name="Text Box 28"/>
            <p:cNvSpPr txBox="1">
              <a:spLocks noChangeArrowheads="1"/>
            </p:cNvSpPr>
            <p:nvPr/>
          </p:nvSpPr>
          <p:spPr bwMode="auto">
            <a:xfrm>
              <a:off x="1519" y="1979"/>
              <a:ext cx="40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rgbClr val="000000"/>
                  </a:solidFill>
                  <a:miter lim="800000"/>
                  <a:headEnd type="none" w="sm" len="sm"/>
                  <a:tailEnd type="none" w="sm" len="sm"/>
                </a14:hiddenLine>
              </a:ext>
            </a:extLst>
          </p:spPr>
          <p:txBody>
            <a:bodyPr>
              <a:spAutoFit/>
            </a:bodyPr>
            <a:lstStyle>
              <a:lvl1pPr eaLnBrk="0" hangingPunct="0">
                <a:defRPr kumimoji="1" sz="2800">
                  <a:solidFill>
                    <a:schemeClr val="tx1"/>
                  </a:solidFill>
                  <a:latin typeface="Comic Sans MS" pitchFamily="66" charset="0"/>
                  <a:ea typeface="宋体" pitchFamily="2" charset="-122"/>
                </a:defRPr>
              </a:lvl1pPr>
              <a:lvl2pPr marL="742950" indent="-285750" eaLnBrk="0" hangingPunct="0">
                <a:defRPr kumimoji="1" sz="2800">
                  <a:solidFill>
                    <a:schemeClr val="tx1"/>
                  </a:solidFill>
                  <a:latin typeface="Comic Sans MS" pitchFamily="66" charset="0"/>
                  <a:ea typeface="宋体" pitchFamily="2" charset="-122"/>
                </a:defRPr>
              </a:lvl2pPr>
              <a:lvl3pPr marL="1143000" indent="-228600" eaLnBrk="0" hangingPunct="0">
                <a:defRPr kumimoji="1" sz="2800">
                  <a:solidFill>
                    <a:schemeClr val="tx1"/>
                  </a:solidFill>
                  <a:latin typeface="Comic Sans MS" pitchFamily="66" charset="0"/>
                  <a:ea typeface="宋体" pitchFamily="2" charset="-122"/>
                </a:defRPr>
              </a:lvl3pPr>
              <a:lvl4pPr marL="1600200" indent="-228600" eaLnBrk="0" hangingPunct="0">
                <a:defRPr kumimoji="1" sz="2800">
                  <a:solidFill>
                    <a:schemeClr val="tx1"/>
                  </a:solidFill>
                  <a:latin typeface="Comic Sans MS" pitchFamily="66" charset="0"/>
                  <a:ea typeface="宋体" pitchFamily="2" charset="-122"/>
                </a:defRPr>
              </a:lvl4pPr>
              <a:lvl5pPr marL="2057400" indent="-228600" eaLnBrk="0" hangingPunct="0">
                <a:defRPr kumimoji="1" sz="2800">
                  <a:solidFill>
                    <a:schemeClr val="tx1"/>
                  </a:solidFill>
                  <a:latin typeface="Comic Sans MS" pitchFamily="66" charset="0"/>
                  <a:ea typeface="宋体" pitchFamily="2" charset="-122"/>
                </a:defRPr>
              </a:lvl5pPr>
              <a:lvl6pPr marL="25146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6pPr>
              <a:lvl7pPr marL="29718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7pPr>
              <a:lvl8pPr marL="34290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8pPr>
              <a:lvl9pPr marL="38862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9pPr>
            </a:lstStyle>
            <a:p>
              <a:pPr eaLnBrk="1" hangingPunct="1">
                <a:spcBef>
                  <a:spcPct val="50000"/>
                </a:spcBef>
              </a:pPr>
              <a:r>
                <a:rPr lang="en-US" altLang="zh-CN" sz="2400" b="1">
                  <a:solidFill>
                    <a:srgbClr val="DE580E"/>
                  </a:solidFill>
                </a:rPr>
                <a:t>40</a:t>
              </a:r>
            </a:p>
          </p:txBody>
        </p:sp>
        <p:sp>
          <p:nvSpPr>
            <p:cNvPr id="109580" name="Text Box 29"/>
            <p:cNvSpPr txBox="1">
              <a:spLocks noChangeArrowheads="1"/>
            </p:cNvSpPr>
            <p:nvPr/>
          </p:nvSpPr>
          <p:spPr bwMode="auto">
            <a:xfrm>
              <a:off x="2245" y="1979"/>
              <a:ext cx="40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rgbClr val="000000"/>
                  </a:solidFill>
                  <a:miter lim="800000"/>
                  <a:headEnd type="none" w="sm" len="sm"/>
                  <a:tailEnd type="none" w="sm" len="sm"/>
                </a14:hiddenLine>
              </a:ext>
            </a:extLst>
          </p:spPr>
          <p:txBody>
            <a:bodyPr>
              <a:spAutoFit/>
            </a:bodyPr>
            <a:lstStyle>
              <a:lvl1pPr eaLnBrk="0" hangingPunct="0">
                <a:defRPr kumimoji="1" sz="2800">
                  <a:solidFill>
                    <a:schemeClr val="tx1"/>
                  </a:solidFill>
                  <a:latin typeface="Comic Sans MS" pitchFamily="66" charset="0"/>
                  <a:ea typeface="宋体" pitchFamily="2" charset="-122"/>
                </a:defRPr>
              </a:lvl1pPr>
              <a:lvl2pPr marL="742950" indent="-285750" eaLnBrk="0" hangingPunct="0">
                <a:defRPr kumimoji="1" sz="2800">
                  <a:solidFill>
                    <a:schemeClr val="tx1"/>
                  </a:solidFill>
                  <a:latin typeface="Comic Sans MS" pitchFamily="66" charset="0"/>
                  <a:ea typeface="宋体" pitchFamily="2" charset="-122"/>
                </a:defRPr>
              </a:lvl2pPr>
              <a:lvl3pPr marL="1143000" indent="-228600" eaLnBrk="0" hangingPunct="0">
                <a:defRPr kumimoji="1" sz="2800">
                  <a:solidFill>
                    <a:schemeClr val="tx1"/>
                  </a:solidFill>
                  <a:latin typeface="Comic Sans MS" pitchFamily="66" charset="0"/>
                  <a:ea typeface="宋体" pitchFamily="2" charset="-122"/>
                </a:defRPr>
              </a:lvl3pPr>
              <a:lvl4pPr marL="1600200" indent="-228600" eaLnBrk="0" hangingPunct="0">
                <a:defRPr kumimoji="1" sz="2800">
                  <a:solidFill>
                    <a:schemeClr val="tx1"/>
                  </a:solidFill>
                  <a:latin typeface="Comic Sans MS" pitchFamily="66" charset="0"/>
                  <a:ea typeface="宋体" pitchFamily="2" charset="-122"/>
                </a:defRPr>
              </a:lvl4pPr>
              <a:lvl5pPr marL="2057400" indent="-228600" eaLnBrk="0" hangingPunct="0">
                <a:defRPr kumimoji="1" sz="2800">
                  <a:solidFill>
                    <a:schemeClr val="tx1"/>
                  </a:solidFill>
                  <a:latin typeface="Comic Sans MS" pitchFamily="66" charset="0"/>
                  <a:ea typeface="宋体" pitchFamily="2" charset="-122"/>
                </a:defRPr>
              </a:lvl5pPr>
              <a:lvl6pPr marL="25146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6pPr>
              <a:lvl7pPr marL="29718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7pPr>
              <a:lvl8pPr marL="34290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8pPr>
              <a:lvl9pPr marL="38862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9pPr>
            </a:lstStyle>
            <a:p>
              <a:pPr eaLnBrk="1" hangingPunct="1">
                <a:spcBef>
                  <a:spcPct val="50000"/>
                </a:spcBef>
              </a:pPr>
              <a:r>
                <a:rPr lang="en-US" altLang="zh-CN" sz="2400" b="1">
                  <a:solidFill>
                    <a:srgbClr val="DE580E"/>
                  </a:solidFill>
                </a:rPr>
                <a:t>50</a:t>
              </a:r>
            </a:p>
          </p:txBody>
        </p:sp>
        <p:sp>
          <p:nvSpPr>
            <p:cNvPr id="109581" name="Text Box 30"/>
            <p:cNvSpPr txBox="1">
              <a:spLocks noChangeArrowheads="1"/>
            </p:cNvSpPr>
            <p:nvPr/>
          </p:nvSpPr>
          <p:spPr bwMode="auto">
            <a:xfrm>
              <a:off x="3243" y="1933"/>
              <a:ext cx="40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rgbClr val="000000"/>
                  </a:solidFill>
                  <a:miter lim="800000"/>
                  <a:headEnd type="none" w="sm" len="sm"/>
                  <a:tailEnd type="none" w="sm" len="sm"/>
                </a14:hiddenLine>
              </a:ext>
            </a:extLst>
          </p:spPr>
          <p:txBody>
            <a:bodyPr>
              <a:spAutoFit/>
            </a:bodyPr>
            <a:lstStyle>
              <a:lvl1pPr eaLnBrk="0" hangingPunct="0">
                <a:defRPr kumimoji="1" sz="2800">
                  <a:solidFill>
                    <a:schemeClr val="tx1"/>
                  </a:solidFill>
                  <a:latin typeface="Comic Sans MS" pitchFamily="66" charset="0"/>
                  <a:ea typeface="宋体" pitchFamily="2" charset="-122"/>
                </a:defRPr>
              </a:lvl1pPr>
              <a:lvl2pPr marL="742950" indent="-285750" eaLnBrk="0" hangingPunct="0">
                <a:defRPr kumimoji="1" sz="2800">
                  <a:solidFill>
                    <a:schemeClr val="tx1"/>
                  </a:solidFill>
                  <a:latin typeface="Comic Sans MS" pitchFamily="66" charset="0"/>
                  <a:ea typeface="宋体" pitchFamily="2" charset="-122"/>
                </a:defRPr>
              </a:lvl2pPr>
              <a:lvl3pPr marL="1143000" indent="-228600" eaLnBrk="0" hangingPunct="0">
                <a:defRPr kumimoji="1" sz="2800">
                  <a:solidFill>
                    <a:schemeClr val="tx1"/>
                  </a:solidFill>
                  <a:latin typeface="Comic Sans MS" pitchFamily="66" charset="0"/>
                  <a:ea typeface="宋体" pitchFamily="2" charset="-122"/>
                </a:defRPr>
              </a:lvl3pPr>
              <a:lvl4pPr marL="1600200" indent="-228600" eaLnBrk="0" hangingPunct="0">
                <a:defRPr kumimoji="1" sz="2800">
                  <a:solidFill>
                    <a:schemeClr val="tx1"/>
                  </a:solidFill>
                  <a:latin typeface="Comic Sans MS" pitchFamily="66" charset="0"/>
                  <a:ea typeface="宋体" pitchFamily="2" charset="-122"/>
                </a:defRPr>
              </a:lvl4pPr>
              <a:lvl5pPr marL="2057400" indent="-228600" eaLnBrk="0" hangingPunct="0">
                <a:defRPr kumimoji="1" sz="2800">
                  <a:solidFill>
                    <a:schemeClr val="tx1"/>
                  </a:solidFill>
                  <a:latin typeface="Comic Sans MS" pitchFamily="66" charset="0"/>
                  <a:ea typeface="宋体" pitchFamily="2" charset="-122"/>
                </a:defRPr>
              </a:lvl5pPr>
              <a:lvl6pPr marL="25146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6pPr>
              <a:lvl7pPr marL="29718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7pPr>
              <a:lvl8pPr marL="34290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8pPr>
              <a:lvl9pPr marL="38862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9pPr>
            </a:lstStyle>
            <a:p>
              <a:pPr eaLnBrk="1" hangingPunct="1">
                <a:spcBef>
                  <a:spcPct val="50000"/>
                </a:spcBef>
              </a:pPr>
              <a:r>
                <a:rPr lang="en-US" altLang="zh-CN" sz="2400" b="1">
                  <a:solidFill>
                    <a:srgbClr val="DE580E"/>
                  </a:solidFill>
                </a:rPr>
                <a:t>30</a:t>
              </a:r>
            </a:p>
          </p:txBody>
        </p:sp>
        <p:sp>
          <p:nvSpPr>
            <p:cNvPr id="109582" name="Text Box 31"/>
            <p:cNvSpPr txBox="1">
              <a:spLocks noChangeArrowheads="1"/>
            </p:cNvSpPr>
            <p:nvPr/>
          </p:nvSpPr>
          <p:spPr bwMode="auto">
            <a:xfrm>
              <a:off x="2744" y="2598"/>
              <a:ext cx="40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rgbClr val="000000"/>
                  </a:solidFill>
                  <a:miter lim="800000"/>
                  <a:headEnd type="none" w="sm" len="sm"/>
                  <a:tailEnd type="none" w="sm" len="sm"/>
                </a14:hiddenLine>
              </a:ext>
            </a:extLst>
          </p:spPr>
          <p:txBody>
            <a:bodyPr>
              <a:spAutoFit/>
            </a:bodyPr>
            <a:lstStyle>
              <a:lvl1pPr eaLnBrk="0" hangingPunct="0">
                <a:defRPr kumimoji="1" sz="2800">
                  <a:solidFill>
                    <a:schemeClr val="tx1"/>
                  </a:solidFill>
                  <a:latin typeface="Comic Sans MS" pitchFamily="66" charset="0"/>
                  <a:ea typeface="宋体" pitchFamily="2" charset="-122"/>
                </a:defRPr>
              </a:lvl1pPr>
              <a:lvl2pPr marL="742950" indent="-285750" eaLnBrk="0" hangingPunct="0">
                <a:defRPr kumimoji="1" sz="2800">
                  <a:solidFill>
                    <a:schemeClr val="tx1"/>
                  </a:solidFill>
                  <a:latin typeface="Comic Sans MS" pitchFamily="66" charset="0"/>
                  <a:ea typeface="宋体" pitchFamily="2" charset="-122"/>
                </a:defRPr>
              </a:lvl2pPr>
              <a:lvl3pPr marL="1143000" indent="-228600" eaLnBrk="0" hangingPunct="0">
                <a:defRPr kumimoji="1" sz="2800">
                  <a:solidFill>
                    <a:schemeClr val="tx1"/>
                  </a:solidFill>
                  <a:latin typeface="Comic Sans MS" pitchFamily="66" charset="0"/>
                  <a:ea typeface="宋体" pitchFamily="2" charset="-122"/>
                </a:defRPr>
              </a:lvl3pPr>
              <a:lvl4pPr marL="1600200" indent="-228600" eaLnBrk="0" hangingPunct="0">
                <a:defRPr kumimoji="1" sz="2800">
                  <a:solidFill>
                    <a:schemeClr val="tx1"/>
                  </a:solidFill>
                  <a:latin typeface="Comic Sans MS" pitchFamily="66" charset="0"/>
                  <a:ea typeface="宋体" pitchFamily="2" charset="-122"/>
                </a:defRPr>
              </a:lvl4pPr>
              <a:lvl5pPr marL="2057400" indent="-228600" eaLnBrk="0" hangingPunct="0">
                <a:defRPr kumimoji="1" sz="2800">
                  <a:solidFill>
                    <a:schemeClr val="tx1"/>
                  </a:solidFill>
                  <a:latin typeface="Comic Sans MS" pitchFamily="66" charset="0"/>
                  <a:ea typeface="宋体" pitchFamily="2" charset="-122"/>
                </a:defRPr>
              </a:lvl5pPr>
              <a:lvl6pPr marL="25146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6pPr>
              <a:lvl7pPr marL="29718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7pPr>
              <a:lvl8pPr marL="34290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8pPr>
              <a:lvl9pPr marL="38862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9pPr>
            </a:lstStyle>
            <a:p>
              <a:pPr eaLnBrk="1" hangingPunct="1">
                <a:spcBef>
                  <a:spcPct val="50000"/>
                </a:spcBef>
              </a:pPr>
              <a:r>
                <a:rPr lang="en-US" altLang="zh-CN" sz="2400" b="1">
                  <a:solidFill>
                    <a:srgbClr val="DE580E"/>
                  </a:solidFill>
                </a:rPr>
                <a:t>70</a:t>
              </a:r>
            </a:p>
          </p:txBody>
        </p:sp>
      </p:grpSp>
      <p:sp>
        <p:nvSpPr>
          <p:cNvPr id="5" name="矩形 4"/>
          <p:cNvSpPr/>
          <p:nvPr/>
        </p:nvSpPr>
        <p:spPr>
          <a:xfrm>
            <a:off x="2711625" y="2380818"/>
            <a:ext cx="7830541" cy="400110"/>
          </a:xfrm>
          <a:prstGeom prst="rect">
            <a:avLst/>
          </a:prstGeom>
        </p:spPr>
        <p:txBody>
          <a:bodyPr wrap="square">
            <a:spAutoFit/>
          </a:bodyPr>
          <a:lstStyle/>
          <a:p>
            <a:r>
              <a:rPr lang="zh-CN" altLang="en-US" sz="2000" dirty="0">
                <a:latin typeface="黑体" pitchFamily="49" charset="-122"/>
                <a:ea typeface="黑体" pitchFamily="49" charset="-122"/>
                <a:cs typeface="经典粗黑简" pitchFamily="49" charset="-122"/>
              </a:rPr>
              <a:t>例</a:t>
            </a:r>
            <a:r>
              <a:rPr lang="en-US" altLang="zh-CN" sz="2000" dirty="0">
                <a:latin typeface="黑体" pitchFamily="49" charset="-122"/>
                <a:ea typeface="黑体" pitchFamily="49" charset="-122"/>
                <a:cs typeface="经典粗黑简" pitchFamily="49" charset="-122"/>
              </a:rPr>
              <a:t>:</a:t>
            </a:r>
            <a:r>
              <a:rPr lang="zh-CN" altLang="en-US" sz="2000" dirty="0">
                <a:latin typeface="黑体" pitchFamily="49" charset="-122"/>
                <a:ea typeface="黑体" pitchFamily="49" charset="-122"/>
                <a:cs typeface="经典粗黑简" pitchFamily="49" charset="-122"/>
              </a:rPr>
              <a:t>从顶点</a:t>
            </a:r>
            <a:r>
              <a:rPr lang="en-US" altLang="zh-CN" sz="2000" dirty="0">
                <a:latin typeface="黑体" pitchFamily="49" charset="-122"/>
                <a:ea typeface="黑体" pitchFamily="49" charset="-122"/>
                <a:cs typeface="经典粗黑简" pitchFamily="49" charset="-122"/>
              </a:rPr>
              <a:t>v1</a:t>
            </a:r>
            <a:r>
              <a:rPr lang="zh-CN" altLang="en-US" sz="2000" dirty="0">
                <a:latin typeface="黑体" pitchFamily="49" charset="-122"/>
                <a:ea typeface="黑体" pitchFamily="49" charset="-122"/>
                <a:cs typeface="经典粗黑简" pitchFamily="49" charset="-122"/>
              </a:rPr>
              <a:t>出发，利用</a:t>
            </a:r>
            <a:r>
              <a:rPr lang="en-US" altLang="zh-CN" sz="2000" dirty="0" err="1">
                <a:latin typeface="Times New Roman" pitchFamily="18" charset="0"/>
                <a:ea typeface="经典粗黑简" pitchFamily="49" charset="-122"/>
                <a:cs typeface="Times New Roman" pitchFamily="18" charset="0"/>
              </a:rPr>
              <a:t>Kruskal</a:t>
            </a:r>
            <a:r>
              <a:rPr lang="zh-CN" altLang="en-US" sz="2000" dirty="0">
                <a:latin typeface="黑体" pitchFamily="49" charset="-122"/>
                <a:ea typeface="黑体" pitchFamily="49" charset="-122"/>
                <a:cs typeface="经典粗黑简" pitchFamily="49" charset="-122"/>
              </a:rPr>
              <a:t>算法构造下面连通网的最小生成树。</a:t>
            </a:r>
          </a:p>
        </p:txBody>
      </p:sp>
    </p:spTree>
    <p:extLst>
      <p:ext uri="{BB962C8B-B14F-4D97-AF65-F5344CB8AC3E}">
        <p14:creationId xmlns:p14="http://schemas.microsoft.com/office/powerpoint/2010/main" val="313361013"/>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0594" name="Group 2"/>
          <p:cNvGrpSpPr>
            <a:grpSpLocks/>
          </p:cNvGrpSpPr>
          <p:nvPr/>
        </p:nvGrpSpPr>
        <p:grpSpPr bwMode="auto">
          <a:xfrm>
            <a:off x="1697308" y="2439642"/>
            <a:ext cx="3889375" cy="3141253"/>
            <a:chOff x="1383" y="709"/>
            <a:chExt cx="3085" cy="2165"/>
          </a:xfrm>
        </p:grpSpPr>
        <p:grpSp>
          <p:nvGrpSpPr>
            <p:cNvPr id="110627" name="Group 3"/>
            <p:cNvGrpSpPr>
              <a:grpSpLocks/>
            </p:cNvGrpSpPr>
            <p:nvPr/>
          </p:nvGrpSpPr>
          <p:grpSpPr bwMode="auto">
            <a:xfrm>
              <a:off x="1383" y="754"/>
              <a:ext cx="3085" cy="2041"/>
              <a:chOff x="1383" y="210"/>
              <a:chExt cx="3085" cy="2041"/>
            </a:xfrm>
          </p:grpSpPr>
          <p:sp>
            <p:nvSpPr>
              <p:cNvPr id="110638" name="Oval 4"/>
              <p:cNvSpPr>
                <a:spLocks noChangeArrowheads="1"/>
              </p:cNvSpPr>
              <p:nvPr/>
            </p:nvSpPr>
            <p:spPr bwMode="auto">
              <a:xfrm>
                <a:off x="4105" y="935"/>
                <a:ext cx="363" cy="363"/>
              </a:xfrm>
              <a:prstGeom prst="ellipse">
                <a:avLst/>
              </a:prstGeom>
              <a:solidFill>
                <a:schemeClr val="bg1"/>
              </a:solidFill>
              <a:ln w="28575" cap="sq">
                <a:solidFill>
                  <a:srgbClr val="0033CC"/>
                </a:solidFill>
                <a:miter lim="800000"/>
                <a:headEnd type="none" w="sm" len="sm"/>
                <a:tailEnd type="none" w="sm" len="sm"/>
              </a:ln>
            </p:spPr>
            <p:txBody>
              <a:bodyPr wrap="none" anchor="ctr"/>
              <a:lstStyle/>
              <a:p>
                <a:r>
                  <a:rPr lang="en-US" altLang="zh-CN" sz="2400"/>
                  <a:t>v</a:t>
                </a:r>
                <a:r>
                  <a:rPr lang="en-US" altLang="zh-CN" sz="2400" baseline="-25000"/>
                  <a:t>7</a:t>
                </a:r>
              </a:p>
            </p:txBody>
          </p:sp>
          <p:sp>
            <p:nvSpPr>
              <p:cNvPr id="110639" name="Oval 5"/>
              <p:cNvSpPr>
                <a:spLocks noChangeArrowheads="1"/>
              </p:cNvSpPr>
              <p:nvPr/>
            </p:nvSpPr>
            <p:spPr bwMode="auto">
              <a:xfrm>
                <a:off x="2064" y="1888"/>
                <a:ext cx="363" cy="363"/>
              </a:xfrm>
              <a:prstGeom prst="ellipse">
                <a:avLst/>
              </a:prstGeom>
              <a:solidFill>
                <a:schemeClr val="bg1"/>
              </a:solidFill>
              <a:ln w="28575" cap="sq">
                <a:solidFill>
                  <a:srgbClr val="0033CC"/>
                </a:solidFill>
                <a:miter lim="800000"/>
                <a:headEnd type="none" w="sm" len="sm"/>
                <a:tailEnd type="none" w="sm" len="sm"/>
              </a:ln>
            </p:spPr>
            <p:txBody>
              <a:bodyPr wrap="none" anchor="ctr"/>
              <a:lstStyle/>
              <a:p>
                <a:r>
                  <a:rPr lang="en-US" altLang="zh-CN" sz="2400"/>
                  <a:t>v</a:t>
                </a:r>
                <a:r>
                  <a:rPr lang="en-US" altLang="zh-CN" sz="2400" baseline="-25000"/>
                  <a:t>5</a:t>
                </a:r>
              </a:p>
            </p:txBody>
          </p:sp>
          <p:sp>
            <p:nvSpPr>
              <p:cNvPr id="110640" name="Oval 6"/>
              <p:cNvSpPr>
                <a:spLocks noChangeArrowheads="1"/>
              </p:cNvSpPr>
              <p:nvPr/>
            </p:nvSpPr>
            <p:spPr bwMode="auto">
              <a:xfrm>
                <a:off x="3424" y="1888"/>
                <a:ext cx="363" cy="363"/>
              </a:xfrm>
              <a:prstGeom prst="ellipse">
                <a:avLst/>
              </a:prstGeom>
              <a:solidFill>
                <a:schemeClr val="bg1"/>
              </a:solidFill>
              <a:ln w="28575" cap="sq">
                <a:solidFill>
                  <a:srgbClr val="0033CC"/>
                </a:solidFill>
                <a:miter lim="800000"/>
                <a:headEnd type="none" w="sm" len="sm"/>
                <a:tailEnd type="none" w="sm" len="sm"/>
              </a:ln>
            </p:spPr>
            <p:txBody>
              <a:bodyPr wrap="none" anchor="ctr"/>
              <a:lstStyle/>
              <a:p>
                <a:r>
                  <a:rPr lang="en-US" altLang="zh-CN" sz="2400"/>
                  <a:t>v</a:t>
                </a:r>
                <a:r>
                  <a:rPr lang="en-US" altLang="zh-CN" sz="2400" baseline="-25000"/>
                  <a:t>6</a:t>
                </a:r>
              </a:p>
            </p:txBody>
          </p:sp>
          <p:sp>
            <p:nvSpPr>
              <p:cNvPr id="110641" name="Oval 7"/>
              <p:cNvSpPr>
                <a:spLocks noChangeArrowheads="1"/>
              </p:cNvSpPr>
              <p:nvPr/>
            </p:nvSpPr>
            <p:spPr bwMode="auto">
              <a:xfrm>
                <a:off x="1383" y="935"/>
                <a:ext cx="363" cy="363"/>
              </a:xfrm>
              <a:prstGeom prst="ellipse">
                <a:avLst/>
              </a:prstGeom>
              <a:solidFill>
                <a:schemeClr val="bg1"/>
              </a:solidFill>
              <a:ln w="28575" cap="sq">
                <a:solidFill>
                  <a:srgbClr val="0033CC"/>
                </a:solidFill>
                <a:miter lim="800000"/>
                <a:headEnd type="none" w="sm" len="sm"/>
                <a:tailEnd type="none" w="sm" len="sm"/>
              </a:ln>
            </p:spPr>
            <p:txBody>
              <a:bodyPr wrap="none" anchor="ctr"/>
              <a:lstStyle/>
              <a:p>
                <a:r>
                  <a:rPr lang="en-US" altLang="zh-CN" sz="2400"/>
                  <a:t>v</a:t>
                </a:r>
                <a:r>
                  <a:rPr lang="en-US" altLang="zh-CN" sz="2400" baseline="-25000"/>
                  <a:t>2</a:t>
                </a:r>
              </a:p>
            </p:txBody>
          </p:sp>
          <p:sp>
            <p:nvSpPr>
              <p:cNvPr id="110642" name="Oval 8"/>
              <p:cNvSpPr>
                <a:spLocks noChangeArrowheads="1"/>
              </p:cNvSpPr>
              <p:nvPr/>
            </p:nvSpPr>
            <p:spPr bwMode="auto">
              <a:xfrm>
                <a:off x="3424" y="210"/>
                <a:ext cx="363" cy="363"/>
              </a:xfrm>
              <a:prstGeom prst="ellipse">
                <a:avLst/>
              </a:prstGeom>
              <a:solidFill>
                <a:schemeClr val="bg1"/>
              </a:solidFill>
              <a:ln w="28575" cap="sq">
                <a:solidFill>
                  <a:srgbClr val="0033CC"/>
                </a:solidFill>
                <a:miter lim="800000"/>
                <a:headEnd type="none" w="sm" len="sm"/>
                <a:tailEnd type="none" w="sm" len="sm"/>
              </a:ln>
            </p:spPr>
            <p:txBody>
              <a:bodyPr wrap="none" anchor="ctr"/>
              <a:lstStyle/>
              <a:p>
                <a:r>
                  <a:rPr lang="en-US" altLang="zh-CN" sz="2400"/>
                  <a:t>v</a:t>
                </a:r>
                <a:r>
                  <a:rPr lang="en-US" altLang="zh-CN" sz="2400" baseline="-25000"/>
                  <a:t>3</a:t>
                </a:r>
              </a:p>
            </p:txBody>
          </p:sp>
          <p:sp>
            <p:nvSpPr>
              <p:cNvPr id="110643" name="Oval 9"/>
              <p:cNvSpPr>
                <a:spLocks noChangeArrowheads="1"/>
              </p:cNvSpPr>
              <p:nvPr/>
            </p:nvSpPr>
            <p:spPr bwMode="auto">
              <a:xfrm>
                <a:off x="2064" y="210"/>
                <a:ext cx="363" cy="363"/>
              </a:xfrm>
              <a:prstGeom prst="ellipse">
                <a:avLst/>
              </a:prstGeom>
              <a:solidFill>
                <a:schemeClr val="bg1"/>
              </a:solidFill>
              <a:ln w="28575" cap="sq">
                <a:solidFill>
                  <a:srgbClr val="0033CC"/>
                </a:solidFill>
                <a:miter lim="800000"/>
                <a:headEnd type="none" w="sm" len="sm"/>
                <a:tailEnd type="none" w="sm" len="sm"/>
              </a:ln>
            </p:spPr>
            <p:txBody>
              <a:bodyPr wrap="none" anchor="ctr"/>
              <a:lstStyle/>
              <a:p>
                <a:r>
                  <a:rPr lang="en-US" altLang="zh-CN" sz="2400"/>
                  <a:t>v</a:t>
                </a:r>
                <a:r>
                  <a:rPr lang="en-US" altLang="zh-CN" sz="2400" baseline="-25000"/>
                  <a:t>1</a:t>
                </a:r>
              </a:p>
            </p:txBody>
          </p:sp>
          <p:sp>
            <p:nvSpPr>
              <p:cNvPr id="110644" name="Oval 10"/>
              <p:cNvSpPr>
                <a:spLocks noChangeArrowheads="1"/>
              </p:cNvSpPr>
              <p:nvPr/>
            </p:nvSpPr>
            <p:spPr bwMode="auto">
              <a:xfrm>
                <a:off x="2698" y="935"/>
                <a:ext cx="363" cy="363"/>
              </a:xfrm>
              <a:prstGeom prst="ellipse">
                <a:avLst/>
              </a:prstGeom>
              <a:solidFill>
                <a:schemeClr val="bg1"/>
              </a:solidFill>
              <a:ln w="28575" cap="sq">
                <a:solidFill>
                  <a:srgbClr val="0033CC"/>
                </a:solidFill>
                <a:miter lim="800000"/>
                <a:headEnd type="none" w="sm" len="sm"/>
                <a:tailEnd type="none" w="sm" len="sm"/>
              </a:ln>
            </p:spPr>
            <p:txBody>
              <a:bodyPr wrap="none" anchor="ctr"/>
              <a:lstStyle/>
              <a:p>
                <a:r>
                  <a:rPr lang="en-US" altLang="zh-CN" sz="2400"/>
                  <a:t>v</a:t>
                </a:r>
                <a:r>
                  <a:rPr lang="en-US" altLang="zh-CN" sz="2400" baseline="-25000"/>
                  <a:t>4</a:t>
                </a:r>
              </a:p>
            </p:txBody>
          </p:sp>
          <p:sp>
            <p:nvSpPr>
              <p:cNvPr id="110645" name="Line 11"/>
              <p:cNvSpPr>
                <a:spLocks noChangeShapeType="1"/>
              </p:cNvSpPr>
              <p:nvPr/>
            </p:nvSpPr>
            <p:spPr bwMode="auto">
              <a:xfrm>
                <a:off x="2426" y="436"/>
                <a:ext cx="998" cy="0"/>
              </a:xfrm>
              <a:prstGeom prst="line">
                <a:avLst/>
              </a:prstGeom>
              <a:noFill/>
              <a:ln w="28575" cap="sq">
                <a:solidFill>
                  <a:srgbClr val="0033CC"/>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10646" name="Line 12"/>
              <p:cNvSpPr>
                <a:spLocks noChangeShapeType="1"/>
              </p:cNvSpPr>
              <p:nvPr/>
            </p:nvSpPr>
            <p:spPr bwMode="auto">
              <a:xfrm flipH="1">
                <a:off x="1701" y="527"/>
                <a:ext cx="408" cy="454"/>
              </a:xfrm>
              <a:prstGeom prst="line">
                <a:avLst/>
              </a:prstGeom>
              <a:noFill/>
              <a:ln w="28575" cap="sq">
                <a:solidFill>
                  <a:srgbClr val="0033CC"/>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10647" name="Line 13"/>
              <p:cNvSpPr>
                <a:spLocks noChangeShapeType="1"/>
              </p:cNvSpPr>
              <p:nvPr/>
            </p:nvSpPr>
            <p:spPr bwMode="auto">
              <a:xfrm>
                <a:off x="3787" y="482"/>
                <a:ext cx="454" cy="453"/>
              </a:xfrm>
              <a:prstGeom prst="line">
                <a:avLst/>
              </a:prstGeom>
              <a:noFill/>
              <a:ln w="28575" cap="sq">
                <a:solidFill>
                  <a:srgbClr val="0033CC"/>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10648" name="Line 14"/>
              <p:cNvSpPr>
                <a:spLocks noChangeShapeType="1"/>
              </p:cNvSpPr>
              <p:nvPr/>
            </p:nvSpPr>
            <p:spPr bwMode="auto">
              <a:xfrm>
                <a:off x="1746" y="1162"/>
                <a:ext cx="953" cy="0"/>
              </a:xfrm>
              <a:prstGeom prst="line">
                <a:avLst/>
              </a:prstGeom>
              <a:noFill/>
              <a:ln w="28575" cap="sq">
                <a:solidFill>
                  <a:srgbClr val="0033CC"/>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10649" name="Line 15"/>
              <p:cNvSpPr>
                <a:spLocks noChangeShapeType="1"/>
              </p:cNvSpPr>
              <p:nvPr/>
            </p:nvSpPr>
            <p:spPr bwMode="auto">
              <a:xfrm>
                <a:off x="3061" y="1162"/>
                <a:ext cx="1044" cy="0"/>
              </a:xfrm>
              <a:prstGeom prst="line">
                <a:avLst/>
              </a:prstGeom>
              <a:noFill/>
              <a:ln w="28575" cap="sq">
                <a:solidFill>
                  <a:srgbClr val="0033CC"/>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10650" name="Line 16"/>
              <p:cNvSpPr>
                <a:spLocks noChangeShapeType="1"/>
              </p:cNvSpPr>
              <p:nvPr/>
            </p:nvSpPr>
            <p:spPr bwMode="auto">
              <a:xfrm flipH="1">
                <a:off x="3016" y="527"/>
                <a:ext cx="454" cy="454"/>
              </a:xfrm>
              <a:prstGeom prst="line">
                <a:avLst/>
              </a:prstGeom>
              <a:noFill/>
              <a:ln w="28575" cap="sq">
                <a:solidFill>
                  <a:srgbClr val="0033CC"/>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10651" name="Line 17"/>
              <p:cNvSpPr>
                <a:spLocks noChangeShapeType="1"/>
              </p:cNvSpPr>
              <p:nvPr/>
            </p:nvSpPr>
            <p:spPr bwMode="auto">
              <a:xfrm>
                <a:off x="2426" y="2069"/>
                <a:ext cx="998" cy="0"/>
              </a:xfrm>
              <a:prstGeom prst="line">
                <a:avLst/>
              </a:prstGeom>
              <a:noFill/>
              <a:ln w="28575" cap="sq">
                <a:solidFill>
                  <a:srgbClr val="0033CC"/>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10652" name="Line 18"/>
              <p:cNvSpPr>
                <a:spLocks noChangeShapeType="1"/>
              </p:cNvSpPr>
              <p:nvPr/>
            </p:nvSpPr>
            <p:spPr bwMode="auto">
              <a:xfrm flipH="1">
                <a:off x="2349" y="1285"/>
                <a:ext cx="453" cy="635"/>
              </a:xfrm>
              <a:prstGeom prst="line">
                <a:avLst/>
              </a:prstGeom>
              <a:noFill/>
              <a:ln w="28575" cap="sq">
                <a:solidFill>
                  <a:srgbClr val="0033CC"/>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10653" name="Line 19"/>
              <p:cNvSpPr>
                <a:spLocks noChangeShapeType="1"/>
              </p:cNvSpPr>
              <p:nvPr/>
            </p:nvSpPr>
            <p:spPr bwMode="auto">
              <a:xfrm>
                <a:off x="3016" y="1253"/>
                <a:ext cx="544" cy="635"/>
              </a:xfrm>
              <a:prstGeom prst="line">
                <a:avLst/>
              </a:prstGeom>
              <a:noFill/>
              <a:ln w="28575" cap="sq">
                <a:solidFill>
                  <a:srgbClr val="0033CC"/>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10654" name="Line 20"/>
              <p:cNvSpPr>
                <a:spLocks noChangeShapeType="1"/>
              </p:cNvSpPr>
              <p:nvPr/>
            </p:nvSpPr>
            <p:spPr bwMode="auto">
              <a:xfrm>
                <a:off x="1655" y="1298"/>
                <a:ext cx="454" cy="635"/>
              </a:xfrm>
              <a:prstGeom prst="line">
                <a:avLst/>
              </a:prstGeom>
              <a:noFill/>
              <a:ln w="28575" cap="sq">
                <a:solidFill>
                  <a:srgbClr val="0033CC"/>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grpSp>
        <p:sp>
          <p:nvSpPr>
            <p:cNvPr id="110628" name="Text Box 21"/>
            <p:cNvSpPr txBox="1">
              <a:spLocks noChangeArrowheads="1"/>
            </p:cNvSpPr>
            <p:nvPr/>
          </p:nvSpPr>
          <p:spPr bwMode="auto">
            <a:xfrm>
              <a:off x="2699" y="709"/>
              <a:ext cx="409" cy="2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rgbClr val="000000"/>
                  </a:solidFill>
                  <a:miter lim="800000"/>
                  <a:headEnd type="none" w="sm" len="sm"/>
                  <a:tailEnd type="none" w="sm" len="sm"/>
                </a14:hiddenLine>
              </a:ext>
            </a:extLst>
          </p:spPr>
          <p:txBody>
            <a:bodyPr>
              <a:spAutoFit/>
            </a:bodyPr>
            <a:lstStyle>
              <a:lvl1pPr eaLnBrk="0" hangingPunct="0">
                <a:defRPr kumimoji="1" sz="2800">
                  <a:solidFill>
                    <a:schemeClr val="tx1"/>
                  </a:solidFill>
                  <a:latin typeface="Comic Sans MS" pitchFamily="66" charset="0"/>
                  <a:ea typeface="宋体" pitchFamily="2" charset="-122"/>
                </a:defRPr>
              </a:lvl1pPr>
              <a:lvl2pPr marL="742950" indent="-285750" eaLnBrk="0" hangingPunct="0">
                <a:defRPr kumimoji="1" sz="2800">
                  <a:solidFill>
                    <a:schemeClr val="tx1"/>
                  </a:solidFill>
                  <a:latin typeface="Comic Sans MS" pitchFamily="66" charset="0"/>
                  <a:ea typeface="宋体" pitchFamily="2" charset="-122"/>
                </a:defRPr>
              </a:lvl2pPr>
              <a:lvl3pPr marL="1143000" indent="-228600" eaLnBrk="0" hangingPunct="0">
                <a:defRPr kumimoji="1" sz="2800">
                  <a:solidFill>
                    <a:schemeClr val="tx1"/>
                  </a:solidFill>
                  <a:latin typeface="Comic Sans MS" pitchFamily="66" charset="0"/>
                  <a:ea typeface="宋体" pitchFamily="2" charset="-122"/>
                </a:defRPr>
              </a:lvl3pPr>
              <a:lvl4pPr marL="1600200" indent="-228600" eaLnBrk="0" hangingPunct="0">
                <a:defRPr kumimoji="1" sz="2800">
                  <a:solidFill>
                    <a:schemeClr val="tx1"/>
                  </a:solidFill>
                  <a:latin typeface="Comic Sans MS" pitchFamily="66" charset="0"/>
                  <a:ea typeface="宋体" pitchFamily="2" charset="-122"/>
                </a:defRPr>
              </a:lvl4pPr>
              <a:lvl5pPr marL="2057400" indent="-228600" eaLnBrk="0" hangingPunct="0">
                <a:defRPr kumimoji="1" sz="2800">
                  <a:solidFill>
                    <a:schemeClr val="tx1"/>
                  </a:solidFill>
                  <a:latin typeface="Comic Sans MS" pitchFamily="66" charset="0"/>
                  <a:ea typeface="宋体" pitchFamily="2" charset="-122"/>
                </a:defRPr>
              </a:lvl5pPr>
              <a:lvl6pPr marL="25146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6pPr>
              <a:lvl7pPr marL="29718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7pPr>
              <a:lvl8pPr marL="34290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8pPr>
              <a:lvl9pPr marL="38862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9pPr>
            </a:lstStyle>
            <a:p>
              <a:pPr eaLnBrk="1" hangingPunct="1">
                <a:spcBef>
                  <a:spcPct val="50000"/>
                </a:spcBef>
              </a:pPr>
              <a:r>
                <a:rPr lang="en-US" altLang="zh-CN" sz="2000" b="1">
                  <a:solidFill>
                    <a:srgbClr val="DE580E"/>
                  </a:solidFill>
                </a:rPr>
                <a:t>60</a:t>
              </a:r>
            </a:p>
          </p:txBody>
        </p:sp>
        <p:sp>
          <p:nvSpPr>
            <p:cNvPr id="110629" name="Text Box 22"/>
            <p:cNvSpPr txBox="1">
              <a:spLocks noChangeArrowheads="1"/>
            </p:cNvSpPr>
            <p:nvPr/>
          </p:nvSpPr>
          <p:spPr bwMode="auto">
            <a:xfrm>
              <a:off x="3877" y="1010"/>
              <a:ext cx="410" cy="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rgbClr val="000000"/>
                  </a:solidFill>
                  <a:miter lim="800000"/>
                  <a:headEnd type="none" w="sm" len="sm"/>
                  <a:tailEnd type="none" w="sm" len="sm"/>
                </a14:hiddenLine>
              </a:ext>
            </a:extLst>
          </p:spPr>
          <p:txBody>
            <a:bodyPr>
              <a:spAutoFit/>
            </a:bodyPr>
            <a:lstStyle>
              <a:lvl1pPr eaLnBrk="0" hangingPunct="0">
                <a:defRPr kumimoji="1" sz="2800">
                  <a:solidFill>
                    <a:schemeClr val="tx1"/>
                  </a:solidFill>
                  <a:latin typeface="Comic Sans MS" pitchFamily="66" charset="0"/>
                  <a:ea typeface="宋体" pitchFamily="2" charset="-122"/>
                </a:defRPr>
              </a:lvl1pPr>
              <a:lvl2pPr marL="742950" indent="-285750" eaLnBrk="0" hangingPunct="0">
                <a:defRPr kumimoji="1" sz="2800">
                  <a:solidFill>
                    <a:schemeClr val="tx1"/>
                  </a:solidFill>
                  <a:latin typeface="Comic Sans MS" pitchFamily="66" charset="0"/>
                  <a:ea typeface="宋体" pitchFamily="2" charset="-122"/>
                </a:defRPr>
              </a:lvl2pPr>
              <a:lvl3pPr marL="1143000" indent="-228600" eaLnBrk="0" hangingPunct="0">
                <a:defRPr kumimoji="1" sz="2800">
                  <a:solidFill>
                    <a:schemeClr val="tx1"/>
                  </a:solidFill>
                  <a:latin typeface="Comic Sans MS" pitchFamily="66" charset="0"/>
                  <a:ea typeface="宋体" pitchFamily="2" charset="-122"/>
                </a:defRPr>
              </a:lvl3pPr>
              <a:lvl4pPr marL="1600200" indent="-228600" eaLnBrk="0" hangingPunct="0">
                <a:defRPr kumimoji="1" sz="2800">
                  <a:solidFill>
                    <a:schemeClr val="tx1"/>
                  </a:solidFill>
                  <a:latin typeface="Comic Sans MS" pitchFamily="66" charset="0"/>
                  <a:ea typeface="宋体" pitchFamily="2" charset="-122"/>
                </a:defRPr>
              </a:lvl4pPr>
              <a:lvl5pPr marL="2057400" indent="-228600" eaLnBrk="0" hangingPunct="0">
                <a:defRPr kumimoji="1" sz="2800">
                  <a:solidFill>
                    <a:schemeClr val="tx1"/>
                  </a:solidFill>
                  <a:latin typeface="Comic Sans MS" pitchFamily="66" charset="0"/>
                  <a:ea typeface="宋体" pitchFamily="2" charset="-122"/>
                </a:defRPr>
              </a:lvl5pPr>
              <a:lvl6pPr marL="25146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6pPr>
              <a:lvl7pPr marL="29718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7pPr>
              <a:lvl8pPr marL="34290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8pPr>
              <a:lvl9pPr marL="38862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9pPr>
            </a:lstStyle>
            <a:p>
              <a:pPr eaLnBrk="1" hangingPunct="1">
                <a:spcBef>
                  <a:spcPct val="50000"/>
                </a:spcBef>
              </a:pPr>
              <a:r>
                <a:rPr lang="en-US" altLang="zh-CN" sz="2000" b="1">
                  <a:solidFill>
                    <a:srgbClr val="DE580E"/>
                  </a:solidFill>
                </a:rPr>
                <a:t>45</a:t>
              </a:r>
            </a:p>
          </p:txBody>
        </p:sp>
        <p:sp>
          <p:nvSpPr>
            <p:cNvPr id="110630" name="Text Box 23"/>
            <p:cNvSpPr txBox="1">
              <a:spLocks noChangeArrowheads="1"/>
            </p:cNvSpPr>
            <p:nvPr/>
          </p:nvSpPr>
          <p:spPr bwMode="auto">
            <a:xfrm>
              <a:off x="1610" y="1056"/>
              <a:ext cx="408" cy="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rgbClr val="000000"/>
                  </a:solidFill>
                  <a:miter lim="800000"/>
                  <a:headEnd type="none" w="sm" len="sm"/>
                  <a:tailEnd type="none" w="sm" len="sm"/>
                </a14:hiddenLine>
              </a:ext>
            </a:extLst>
          </p:spPr>
          <p:txBody>
            <a:bodyPr>
              <a:spAutoFit/>
            </a:bodyPr>
            <a:lstStyle>
              <a:lvl1pPr eaLnBrk="0" hangingPunct="0">
                <a:defRPr kumimoji="1" sz="2800">
                  <a:solidFill>
                    <a:schemeClr val="tx1"/>
                  </a:solidFill>
                  <a:latin typeface="Comic Sans MS" pitchFamily="66" charset="0"/>
                  <a:ea typeface="宋体" pitchFamily="2" charset="-122"/>
                </a:defRPr>
              </a:lvl1pPr>
              <a:lvl2pPr marL="742950" indent="-285750" eaLnBrk="0" hangingPunct="0">
                <a:defRPr kumimoji="1" sz="2800">
                  <a:solidFill>
                    <a:schemeClr val="tx1"/>
                  </a:solidFill>
                  <a:latin typeface="Comic Sans MS" pitchFamily="66" charset="0"/>
                  <a:ea typeface="宋体" pitchFamily="2" charset="-122"/>
                </a:defRPr>
              </a:lvl2pPr>
              <a:lvl3pPr marL="1143000" indent="-228600" eaLnBrk="0" hangingPunct="0">
                <a:defRPr kumimoji="1" sz="2800">
                  <a:solidFill>
                    <a:schemeClr val="tx1"/>
                  </a:solidFill>
                  <a:latin typeface="Comic Sans MS" pitchFamily="66" charset="0"/>
                  <a:ea typeface="宋体" pitchFamily="2" charset="-122"/>
                </a:defRPr>
              </a:lvl3pPr>
              <a:lvl4pPr marL="1600200" indent="-228600" eaLnBrk="0" hangingPunct="0">
                <a:defRPr kumimoji="1" sz="2800">
                  <a:solidFill>
                    <a:schemeClr val="tx1"/>
                  </a:solidFill>
                  <a:latin typeface="Comic Sans MS" pitchFamily="66" charset="0"/>
                  <a:ea typeface="宋体" pitchFamily="2" charset="-122"/>
                </a:defRPr>
              </a:lvl4pPr>
              <a:lvl5pPr marL="2057400" indent="-228600" eaLnBrk="0" hangingPunct="0">
                <a:defRPr kumimoji="1" sz="2800">
                  <a:solidFill>
                    <a:schemeClr val="tx1"/>
                  </a:solidFill>
                  <a:latin typeface="Comic Sans MS" pitchFamily="66" charset="0"/>
                  <a:ea typeface="宋体" pitchFamily="2" charset="-122"/>
                </a:defRPr>
              </a:lvl5pPr>
              <a:lvl6pPr marL="25146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6pPr>
              <a:lvl7pPr marL="29718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7pPr>
              <a:lvl8pPr marL="34290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8pPr>
              <a:lvl9pPr marL="38862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9pPr>
            </a:lstStyle>
            <a:p>
              <a:pPr eaLnBrk="1" hangingPunct="1">
                <a:spcBef>
                  <a:spcPct val="50000"/>
                </a:spcBef>
              </a:pPr>
              <a:r>
                <a:rPr lang="en-US" altLang="zh-CN" sz="2000" b="1">
                  <a:solidFill>
                    <a:srgbClr val="DE580E"/>
                  </a:solidFill>
                </a:rPr>
                <a:t>50</a:t>
              </a:r>
            </a:p>
          </p:txBody>
        </p:sp>
        <p:sp>
          <p:nvSpPr>
            <p:cNvPr id="110631" name="Text Box 24"/>
            <p:cNvSpPr txBox="1">
              <a:spLocks noChangeArrowheads="1"/>
            </p:cNvSpPr>
            <p:nvPr/>
          </p:nvSpPr>
          <p:spPr bwMode="auto">
            <a:xfrm>
              <a:off x="2926" y="1071"/>
              <a:ext cx="407" cy="2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rgbClr val="000000"/>
                  </a:solidFill>
                  <a:miter lim="800000"/>
                  <a:headEnd type="none" w="sm" len="sm"/>
                  <a:tailEnd type="none" w="sm" len="sm"/>
                </a14:hiddenLine>
              </a:ext>
            </a:extLst>
          </p:spPr>
          <p:txBody>
            <a:bodyPr>
              <a:spAutoFit/>
            </a:bodyPr>
            <a:lstStyle>
              <a:lvl1pPr eaLnBrk="0" hangingPunct="0">
                <a:defRPr kumimoji="1" sz="2800">
                  <a:solidFill>
                    <a:schemeClr val="tx1"/>
                  </a:solidFill>
                  <a:latin typeface="Comic Sans MS" pitchFamily="66" charset="0"/>
                  <a:ea typeface="宋体" pitchFamily="2" charset="-122"/>
                </a:defRPr>
              </a:lvl1pPr>
              <a:lvl2pPr marL="742950" indent="-285750" eaLnBrk="0" hangingPunct="0">
                <a:defRPr kumimoji="1" sz="2800">
                  <a:solidFill>
                    <a:schemeClr val="tx1"/>
                  </a:solidFill>
                  <a:latin typeface="Comic Sans MS" pitchFamily="66" charset="0"/>
                  <a:ea typeface="宋体" pitchFamily="2" charset="-122"/>
                </a:defRPr>
              </a:lvl2pPr>
              <a:lvl3pPr marL="1143000" indent="-228600" eaLnBrk="0" hangingPunct="0">
                <a:defRPr kumimoji="1" sz="2800">
                  <a:solidFill>
                    <a:schemeClr val="tx1"/>
                  </a:solidFill>
                  <a:latin typeface="Comic Sans MS" pitchFamily="66" charset="0"/>
                  <a:ea typeface="宋体" pitchFamily="2" charset="-122"/>
                </a:defRPr>
              </a:lvl3pPr>
              <a:lvl4pPr marL="1600200" indent="-228600" eaLnBrk="0" hangingPunct="0">
                <a:defRPr kumimoji="1" sz="2800">
                  <a:solidFill>
                    <a:schemeClr val="tx1"/>
                  </a:solidFill>
                  <a:latin typeface="Comic Sans MS" pitchFamily="66" charset="0"/>
                  <a:ea typeface="宋体" pitchFamily="2" charset="-122"/>
                </a:defRPr>
              </a:lvl4pPr>
              <a:lvl5pPr marL="2057400" indent="-228600" eaLnBrk="0" hangingPunct="0">
                <a:defRPr kumimoji="1" sz="2800">
                  <a:solidFill>
                    <a:schemeClr val="tx1"/>
                  </a:solidFill>
                  <a:latin typeface="Comic Sans MS" pitchFamily="66" charset="0"/>
                  <a:ea typeface="宋体" pitchFamily="2" charset="-122"/>
                </a:defRPr>
              </a:lvl5pPr>
              <a:lvl6pPr marL="25146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6pPr>
              <a:lvl7pPr marL="29718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7pPr>
              <a:lvl8pPr marL="34290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8pPr>
              <a:lvl9pPr marL="38862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9pPr>
            </a:lstStyle>
            <a:p>
              <a:pPr eaLnBrk="1" hangingPunct="1">
                <a:spcBef>
                  <a:spcPct val="50000"/>
                </a:spcBef>
              </a:pPr>
              <a:r>
                <a:rPr lang="en-US" altLang="zh-CN" sz="2000" b="1">
                  <a:solidFill>
                    <a:srgbClr val="DE580E"/>
                  </a:solidFill>
                </a:rPr>
                <a:t>50</a:t>
              </a:r>
            </a:p>
          </p:txBody>
        </p:sp>
        <p:sp>
          <p:nvSpPr>
            <p:cNvPr id="110632" name="Text Box 25"/>
            <p:cNvSpPr txBox="1">
              <a:spLocks noChangeArrowheads="1"/>
            </p:cNvSpPr>
            <p:nvPr/>
          </p:nvSpPr>
          <p:spPr bwMode="auto">
            <a:xfrm>
              <a:off x="2065" y="1464"/>
              <a:ext cx="406" cy="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rgbClr val="000000"/>
                  </a:solidFill>
                  <a:miter lim="800000"/>
                  <a:headEnd type="none" w="sm" len="sm"/>
                  <a:tailEnd type="none" w="sm" len="sm"/>
                </a14:hiddenLine>
              </a:ext>
            </a:extLst>
          </p:spPr>
          <p:txBody>
            <a:bodyPr>
              <a:spAutoFit/>
            </a:bodyPr>
            <a:lstStyle>
              <a:lvl1pPr eaLnBrk="0" hangingPunct="0">
                <a:defRPr kumimoji="1" sz="2800">
                  <a:solidFill>
                    <a:schemeClr val="tx1"/>
                  </a:solidFill>
                  <a:latin typeface="Comic Sans MS" pitchFamily="66" charset="0"/>
                  <a:ea typeface="宋体" pitchFamily="2" charset="-122"/>
                </a:defRPr>
              </a:lvl1pPr>
              <a:lvl2pPr marL="742950" indent="-285750" eaLnBrk="0" hangingPunct="0">
                <a:defRPr kumimoji="1" sz="2800">
                  <a:solidFill>
                    <a:schemeClr val="tx1"/>
                  </a:solidFill>
                  <a:latin typeface="Comic Sans MS" pitchFamily="66" charset="0"/>
                  <a:ea typeface="宋体" pitchFamily="2" charset="-122"/>
                </a:defRPr>
              </a:lvl2pPr>
              <a:lvl3pPr marL="1143000" indent="-228600" eaLnBrk="0" hangingPunct="0">
                <a:defRPr kumimoji="1" sz="2800">
                  <a:solidFill>
                    <a:schemeClr val="tx1"/>
                  </a:solidFill>
                  <a:latin typeface="Comic Sans MS" pitchFamily="66" charset="0"/>
                  <a:ea typeface="宋体" pitchFamily="2" charset="-122"/>
                </a:defRPr>
              </a:lvl3pPr>
              <a:lvl4pPr marL="1600200" indent="-228600" eaLnBrk="0" hangingPunct="0">
                <a:defRPr kumimoji="1" sz="2800">
                  <a:solidFill>
                    <a:schemeClr val="tx1"/>
                  </a:solidFill>
                  <a:latin typeface="Comic Sans MS" pitchFamily="66" charset="0"/>
                  <a:ea typeface="宋体" pitchFamily="2" charset="-122"/>
                </a:defRPr>
              </a:lvl4pPr>
              <a:lvl5pPr marL="2057400" indent="-228600" eaLnBrk="0" hangingPunct="0">
                <a:defRPr kumimoji="1" sz="2800">
                  <a:solidFill>
                    <a:schemeClr val="tx1"/>
                  </a:solidFill>
                  <a:latin typeface="Comic Sans MS" pitchFamily="66" charset="0"/>
                  <a:ea typeface="宋体" pitchFamily="2" charset="-122"/>
                </a:defRPr>
              </a:lvl5pPr>
              <a:lvl6pPr marL="25146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6pPr>
              <a:lvl7pPr marL="29718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7pPr>
              <a:lvl8pPr marL="34290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8pPr>
              <a:lvl9pPr marL="38862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9pPr>
            </a:lstStyle>
            <a:p>
              <a:pPr eaLnBrk="1" hangingPunct="1">
                <a:spcBef>
                  <a:spcPct val="50000"/>
                </a:spcBef>
              </a:pPr>
              <a:r>
                <a:rPr lang="en-US" altLang="zh-CN" sz="2000" b="1">
                  <a:solidFill>
                    <a:srgbClr val="DE580E"/>
                  </a:solidFill>
                </a:rPr>
                <a:t>65</a:t>
              </a:r>
            </a:p>
          </p:txBody>
        </p:sp>
        <p:sp>
          <p:nvSpPr>
            <p:cNvPr id="110633" name="Text Box 26"/>
            <p:cNvSpPr txBox="1">
              <a:spLocks noChangeArrowheads="1"/>
            </p:cNvSpPr>
            <p:nvPr/>
          </p:nvSpPr>
          <p:spPr bwMode="auto">
            <a:xfrm>
              <a:off x="3425" y="1464"/>
              <a:ext cx="408" cy="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rgbClr val="000000"/>
                  </a:solidFill>
                  <a:miter lim="800000"/>
                  <a:headEnd type="none" w="sm" len="sm"/>
                  <a:tailEnd type="none" w="sm" len="sm"/>
                </a14:hiddenLine>
              </a:ext>
            </a:extLst>
          </p:spPr>
          <p:txBody>
            <a:bodyPr>
              <a:spAutoFit/>
            </a:bodyPr>
            <a:lstStyle>
              <a:lvl1pPr eaLnBrk="0" hangingPunct="0">
                <a:defRPr kumimoji="1" sz="2800">
                  <a:solidFill>
                    <a:schemeClr val="tx1"/>
                  </a:solidFill>
                  <a:latin typeface="Comic Sans MS" pitchFamily="66" charset="0"/>
                  <a:ea typeface="宋体" pitchFamily="2" charset="-122"/>
                </a:defRPr>
              </a:lvl1pPr>
              <a:lvl2pPr marL="742950" indent="-285750" eaLnBrk="0" hangingPunct="0">
                <a:defRPr kumimoji="1" sz="2800">
                  <a:solidFill>
                    <a:schemeClr val="tx1"/>
                  </a:solidFill>
                  <a:latin typeface="Comic Sans MS" pitchFamily="66" charset="0"/>
                  <a:ea typeface="宋体" pitchFamily="2" charset="-122"/>
                </a:defRPr>
              </a:lvl2pPr>
              <a:lvl3pPr marL="1143000" indent="-228600" eaLnBrk="0" hangingPunct="0">
                <a:defRPr kumimoji="1" sz="2800">
                  <a:solidFill>
                    <a:schemeClr val="tx1"/>
                  </a:solidFill>
                  <a:latin typeface="Comic Sans MS" pitchFamily="66" charset="0"/>
                  <a:ea typeface="宋体" pitchFamily="2" charset="-122"/>
                </a:defRPr>
              </a:lvl3pPr>
              <a:lvl4pPr marL="1600200" indent="-228600" eaLnBrk="0" hangingPunct="0">
                <a:defRPr kumimoji="1" sz="2800">
                  <a:solidFill>
                    <a:schemeClr val="tx1"/>
                  </a:solidFill>
                  <a:latin typeface="Comic Sans MS" pitchFamily="66" charset="0"/>
                  <a:ea typeface="宋体" pitchFamily="2" charset="-122"/>
                </a:defRPr>
              </a:lvl4pPr>
              <a:lvl5pPr marL="2057400" indent="-228600" eaLnBrk="0" hangingPunct="0">
                <a:defRPr kumimoji="1" sz="2800">
                  <a:solidFill>
                    <a:schemeClr val="tx1"/>
                  </a:solidFill>
                  <a:latin typeface="Comic Sans MS" pitchFamily="66" charset="0"/>
                  <a:ea typeface="宋体" pitchFamily="2" charset="-122"/>
                </a:defRPr>
              </a:lvl5pPr>
              <a:lvl6pPr marL="25146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6pPr>
              <a:lvl7pPr marL="29718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7pPr>
              <a:lvl8pPr marL="34290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8pPr>
              <a:lvl9pPr marL="38862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9pPr>
            </a:lstStyle>
            <a:p>
              <a:pPr eaLnBrk="1" hangingPunct="1">
                <a:spcBef>
                  <a:spcPct val="50000"/>
                </a:spcBef>
              </a:pPr>
              <a:r>
                <a:rPr lang="en-US" altLang="zh-CN" sz="2000" b="1">
                  <a:solidFill>
                    <a:srgbClr val="DE580E"/>
                  </a:solidFill>
                </a:rPr>
                <a:t>42</a:t>
              </a:r>
            </a:p>
          </p:txBody>
        </p:sp>
        <p:sp>
          <p:nvSpPr>
            <p:cNvPr id="110634" name="Text Box 27"/>
            <p:cNvSpPr txBox="1">
              <a:spLocks noChangeArrowheads="1"/>
            </p:cNvSpPr>
            <p:nvPr/>
          </p:nvSpPr>
          <p:spPr bwMode="auto">
            <a:xfrm>
              <a:off x="1519" y="1979"/>
              <a:ext cx="408" cy="2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rgbClr val="000000"/>
                  </a:solidFill>
                  <a:miter lim="800000"/>
                  <a:headEnd type="none" w="sm" len="sm"/>
                  <a:tailEnd type="none" w="sm" len="sm"/>
                </a14:hiddenLine>
              </a:ext>
            </a:extLst>
          </p:spPr>
          <p:txBody>
            <a:bodyPr>
              <a:spAutoFit/>
            </a:bodyPr>
            <a:lstStyle>
              <a:lvl1pPr eaLnBrk="0" hangingPunct="0">
                <a:defRPr kumimoji="1" sz="2800">
                  <a:solidFill>
                    <a:schemeClr val="tx1"/>
                  </a:solidFill>
                  <a:latin typeface="Comic Sans MS" pitchFamily="66" charset="0"/>
                  <a:ea typeface="宋体" pitchFamily="2" charset="-122"/>
                </a:defRPr>
              </a:lvl1pPr>
              <a:lvl2pPr marL="742950" indent="-285750" eaLnBrk="0" hangingPunct="0">
                <a:defRPr kumimoji="1" sz="2800">
                  <a:solidFill>
                    <a:schemeClr val="tx1"/>
                  </a:solidFill>
                  <a:latin typeface="Comic Sans MS" pitchFamily="66" charset="0"/>
                  <a:ea typeface="宋体" pitchFamily="2" charset="-122"/>
                </a:defRPr>
              </a:lvl2pPr>
              <a:lvl3pPr marL="1143000" indent="-228600" eaLnBrk="0" hangingPunct="0">
                <a:defRPr kumimoji="1" sz="2800">
                  <a:solidFill>
                    <a:schemeClr val="tx1"/>
                  </a:solidFill>
                  <a:latin typeface="Comic Sans MS" pitchFamily="66" charset="0"/>
                  <a:ea typeface="宋体" pitchFamily="2" charset="-122"/>
                </a:defRPr>
              </a:lvl3pPr>
              <a:lvl4pPr marL="1600200" indent="-228600" eaLnBrk="0" hangingPunct="0">
                <a:defRPr kumimoji="1" sz="2800">
                  <a:solidFill>
                    <a:schemeClr val="tx1"/>
                  </a:solidFill>
                  <a:latin typeface="Comic Sans MS" pitchFamily="66" charset="0"/>
                  <a:ea typeface="宋体" pitchFamily="2" charset="-122"/>
                </a:defRPr>
              </a:lvl4pPr>
              <a:lvl5pPr marL="2057400" indent="-228600" eaLnBrk="0" hangingPunct="0">
                <a:defRPr kumimoji="1" sz="2800">
                  <a:solidFill>
                    <a:schemeClr val="tx1"/>
                  </a:solidFill>
                  <a:latin typeface="Comic Sans MS" pitchFamily="66" charset="0"/>
                  <a:ea typeface="宋体" pitchFamily="2" charset="-122"/>
                </a:defRPr>
              </a:lvl5pPr>
              <a:lvl6pPr marL="25146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6pPr>
              <a:lvl7pPr marL="29718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7pPr>
              <a:lvl8pPr marL="34290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8pPr>
              <a:lvl9pPr marL="38862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9pPr>
            </a:lstStyle>
            <a:p>
              <a:pPr eaLnBrk="1" hangingPunct="1">
                <a:spcBef>
                  <a:spcPct val="50000"/>
                </a:spcBef>
              </a:pPr>
              <a:r>
                <a:rPr lang="en-US" altLang="zh-CN" sz="2000" b="1">
                  <a:solidFill>
                    <a:srgbClr val="DE580E"/>
                  </a:solidFill>
                </a:rPr>
                <a:t>40</a:t>
              </a:r>
            </a:p>
          </p:txBody>
        </p:sp>
        <p:sp>
          <p:nvSpPr>
            <p:cNvPr id="110635" name="Text Box 28"/>
            <p:cNvSpPr txBox="1">
              <a:spLocks noChangeArrowheads="1"/>
            </p:cNvSpPr>
            <p:nvPr/>
          </p:nvSpPr>
          <p:spPr bwMode="auto">
            <a:xfrm>
              <a:off x="2246" y="1979"/>
              <a:ext cx="408" cy="2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rgbClr val="000000"/>
                  </a:solidFill>
                  <a:miter lim="800000"/>
                  <a:headEnd type="none" w="sm" len="sm"/>
                  <a:tailEnd type="none" w="sm" len="sm"/>
                </a14:hiddenLine>
              </a:ext>
            </a:extLst>
          </p:spPr>
          <p:txBody>
            <a:bodyPr>
              <a:spAutoFit/>
            </a:bodyPr>
            <a:lstStyle>
              <a:lvl1pPr eaLnBrk="0" hangingPunct="0">
                <a:defRPr kumimoji="1" sz="2800">
                  <a:solidFill>
                    <a:schemeClr val="tx1"/>
                  </a:solidFill>
                  <a:latin typeface="Comic Sans MS" pitchFamily="66" charset="0"/>
                  <a:ea typeface="宋体" pitchFamily="2" charset="-122"/>
                </a:defRPr>
              </a:lvl1pPr>
              <a:lvl2pPr marL="742950" indent="-285750" eaLnBrk="0" hangingPunct="0">
                <a:defRPr kumimoji="1" sz="2800">
                  <a:solidFill>
                    <a:schemeClr val="tx1"/>
                  </a:solidFill>
                  <a:latin typeface="Comic Sans MS" pitchFamily="66" charset="0"/>
                  <a:ea typeface="宋体" pitchFamily="2" charset="-122"/>
                </a:defRPr>
              </a:lvl2pPr>
              <a:lvl3pPr marL="1143000" indent="-228600" eaLnBrk="0" hangingPunct="0">
                <a:defRPr kumimoji="1" sz="2800">
                  <a:solidFill>
                    <a:schemeClr val="tx1"/>
                  </a:solidFill>
                  <a:latin typeface="Comic Sans MS" pitchFamily="66" charset="0"/>
                  <a:ea typeface="宋体" pitchFamily="2" charset="-122"/>
                </a:defRPr>
              </a:lvl3pPr>
              <a:lvl4pPr marL="1600200" indent="-228600" eaLnBrk="0" hangingPunct="0">
                <a:defRPr kumimoji="1" sz="2800">
                  <a:solidFill>
                    <a:schemeClr val="tx1"/>
                  </a:solidFill>
                  <a:latin typeface="Comic Sans MS" pitchFamily="66" charset="0"/>
                  <a:ea typeface="宋体" pitchFamily="2" charset="-122"/>
                </a:defRPr>
              </a:lvl4pPr>
              <a:lvl5pPr marL="2057400" indent="-228600" eaLnBrk="0" hangingPunct="0">
                <a:defRPr kumimoji="1" sz="2800">
                  <a:solidFill>
                    <a:schemeClr val="tx1"/>
                  </a:solidFill>
                  <a:latin typeface="Comic Sans MS" pitchFamily="66" charset="0"/>
                  <a:ea typeface="宋体" pitchFamily="2" charset="-122"/>
                </a:defRPr>
              </a:lvl5pPr>
              <a:lvl6pPr marL="25146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6pPr>
              <a:lvl7pPr marL="29718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7pPr>
              <a:lvl8pPr marL="34290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8pPr>
              <a:lvl9pPr marL="38862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9pPr>
            </a:lstStyle>
            <a:p>
              <a:pPr eaLnBrk="1" hangingPunct="1">
                <a:spcBef>
                  <a:spcPct val="50000"/>
                </a:spcBef>
              </a:pPr>
              <a:r>
                <a:rPr lang="en-US" altLang="zh-CN" sz="2000" b="1">
                  <a:solidFill>
                    <a:srgbClr val="DE580E"/>
                  </a:solidFill>
                </a:rPr>
                <a:t>50</a:t>
              </a:r>
            </a:p>
          </p:txBody>
        </p:sp>
        <p:sp>
          <p:nvSpPr>
            <p:cNvPr id="110636" name="Text Box 29"/>
            <p:cNvSpPr txBox="1">
              <a:spLocks noChangeArrowheads="1"/>
            </p:cNvSpPr>
            <p:nvPr/>
          </p:nvSpPr>
          <p:spPr bwMode="auto">
            <a:xfrm>
              <a:off x="3244" y="1932"/>
              <a:ext cx="406" cy="2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rgbClr val="000000"/>
                  </a:solidFill>
                  <a:miter lim="800000"/>
                  <a:headEnd type="none" w="sm" len="sm"/>
                  <a:tailEnd type="none" w="sm" len="sm"/>
                </a14:hiddenLine>
              </a:ext>
            </a:extLst>
          </p:spPr>
          <p:txBody>
            <a:bodyPr>
              <a:spAutoFit/>
            </a:bodyPr>
            <a:lstStyle>
              <a:lvl1pPr eaLnBrk="0" hangingPunct="0">
                <a:defRPr kumimoji="1" sz="2800">
                  <a:solidFill>
                    <a:schemeClr val="tx1"/>
                  </a:solidFill>
                  <a:latin typeface="Comic Sans MS" pitchFamily="66" charset="0"/>
                  <a:ea typeface="宋体" pitchFamily="2" charset="-122"/>
                </a:defRPr>
              </a:lvl1pPr>
              <a:lvl2pPr marL="742950" indent="-285750" eaLnBrk="0" hangingPunct="0">
                <a:defRPr kumimoji="1" sz="2800">
                  <a:solidFill>
                    <a:schemeClr val="tx1"/>
                  </a:solidFill>
                  <a:latin typeface="Comic Sans MS" pitchFamily="66" charset="0"/>
                  <a:ea typeface="宋体" pitchFamily="2" charset="-122"/>
                </a:defRPr>
              </a:lvl2pPr>
              <a:lvl3pPr marL="1143000" indent="-228600" eaLnBrk="0" hangingPunct="0">
                <a:defRPr kumimoji="1" sz="2800">
                  <a:solidFill>
                    <a:schemeClr val="tx1"/>
                  </a:solidFill>
                  <a:latin typeface="Comic Sans MS" pitchFamily="66" charset="0"/>
                  <a:ea typeface="宋体" pitchFamily="2" charset="-122"/>
                </a:defRPr>
              </a:lvl3pPr>
              <a:lvl4pPr marL="1600200" indent="-228600" eaLnBrk="0" hangingPunct="0">
                <a:defRPr kumimoji="1" sz="2800">
                  <a:solidFill>
                    <a:schemeClr val="tx1"/>
                  </a:solidFill>
                  <a:latin typeface="Comic Sans MS" pitchFamily="66" charset="0"/>
                  <a:ea typeface="宋体" pitchFamily="2" charset="-122"/>
                </a:defRPr>
              </a:lvl4pPr>
              <a:lvl5pPr marL="2057400" indent="-228600" eaLnBrk="0" hangingPunct="0">
                <a:defRPr kumimoji="1" sz="2800">
                  <a:solidFill>
                    <a:schemeClr val="tx1"/>
                  </a:solidFill>
                  <a:latin typeface="Comic Sans MS" pitchFamily="66" charset="0"/>
                  <a:ea typeface="宋体" pitchFamily="2" charset="-122"/>
                </a:defRPr>
              </a:lvl5pPr>
              <a:lvl6pPr marL="25146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6pPr>
              <a:lvl7pPr marL="29718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7pPr>
              <a:lvl8pPr marL="34290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8pPr>
              <a:lvl9pPr marL="38862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9pPr>
            </a:lstStyle>
            <a:p>
              <a:pPr eaLnBrk="1" hangingPunct="1">
                <a:spcBef>
                  <a:spcPct val="50000"/>
                </a:spcBef>
              </a:pPr>
              <a:r>
                <a:rPr lang="en-US" altLang="zh-CN" sz="2000" b="1">
                  <a:solidFill>
                    <a:srgbClr val="DE580E"/>
                  </a:solidFill>
                </a:rPr>
                <a:t>30</a:t>
              </a:r>
            </a:p>
          </p:txBody>
        </p:sp>
        <p:sp>
          <p:nvSpPr>
            <p:cNvPr id="110637" name="Text Box 30"/>
            <p:cNvSpPr txBox="1">
              <a:spLocks noChangeArrowheads="1"/>
            </p:cNvSpPr>
            <p:nvPr/>
          </p:nvSpPr>
          <p:spPr bwMode="auto">
            <a:xfrm>
              <a:off x="2743" y="2598"/>
              <a:ext cx="409" cy="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rgbClr val="000000"/>
                  </a:solidFill>
                  <a:miter lim="800000"/>
                  <a:headEnd type="none" w="sm" len="sm"/>
                  <a:tailEnd type="none" w="sm" len="sm"/>
                </a14:hiddenLine>
              </a:ext>
            </a:extLst>
          </p:spPr>
          <p:txBody>
            <a:bodyPr>
              <a:spAutoFit/>
            </a:bodyPr>
            <a:lstStyle>
              <a:lvl1pPr eaLnBrk="0" hangingPunct="0">
                <a:defRPr kumimoji="1" sz="2800">
                  <a:solidFill>
                    <a:schemeClr val="tx1"/>
                  </a:solidFill>
                  <a:latin typeface="Comic Sans MS" pitchFamily="66" charset="0"/>
                  <a:ea typeface="宋体" pitchFamily="2" charset="-122"/>
                </a:defRPr>
              </a:lvl1pPr>
              <a:lvl2pPr marL="742950" indent="-285750" eaLnBrk="0" hangingPunct="0">
                <a:defRPr kumimoji="1" sz="2800">
                  <a:solidFill>
                    <a:schemeClr val="tx1"/>
                  </a:solidFill>
                  <a:latin typeface="Comic Sans MS" pitchFamily="66" charset="0"/>
                  <a:ea typeface="宋体" pitchFamily="2" charset="-122"/>
                </a:defRPr>
              </a:lvl2pPr>
              <a:lvl3pPr marL="1143000" indent="-228600" eaLnBrk="0" hangingPunct="0">
                <a:defRPr kumimoji="1" sz="2800">
                  <a:solidFill>
                    <a:schemeClr val="tx1"/>
                  </a:solidFill>
                  <a:latin typeface="Comic Sans MS" pitchFamily="66" charset="0"/>
                  <a:ea typeface="宋体" pitchFamily="2" charset="-122"/>
                </a:defRPr>
              </a:lvl3pPr>
              <a:lvl4pPr marL="1600200" indent="-228600" eaLnBrk="0" hangingPunct="0">
                <a:defRPr kumimoji="1" sz="2800">
                  <a:solidFill>
                    <a:schemeClr val="tx1"/>
                  </a:solidFill>
                  <a:latin typeface="Comic Sans MS" pitchFamily="66" charset="0"/>
                  <a:ea typeface="宋体" pitchFamily="2" charset="-122"/>
                </a:defRPr>
              </a:lvl4pPr>
              <a:lvl5pPr marL="2057400" indent="-228600" eaLnBrk="0" hangingPunct="0">
                <a:defRPr kumimoji="1" sz="2800">
                  <a:solidFill>
                    <a:schemeClr val="tx1"/>
                  </a:solidFill>
                  <a:latin typeface="Comic Sans MS" pitchFamily="66" charset="0"/>
                  <a:ea typeface="宋体" pitchFamily="2" charset="-122"/>
                </a:defRPr>
              </a:lvl5pPr>
              <a:lvl6pPr marL="25146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6pPr>
              <a:lvl7pPr marL="29718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7pPr>
              <a:lvl8pPr marL="34290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8pPr>
              <a:lvl9pPr marL="38862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9pPr>
            </a:lstStyle>
            <a:p>
              <a:pPr eaLnBrk="1" hangingPunct="1">
                <a:spcBef>
                  <a:spcPct val="50000"/>
                </a:spcBef>
              </a:pPr>
              <a:r>
                <a:rPr lang="en-US" altLang="zh-CN" sz="2000" b="1">
                  <a:solidFill>
                    <a:srgbClr val="DE580E"/>
                  </a:solidFill>
                </a:rPr>
                <a:t>70</a:t>
              </a:r>
            </a:p>
          </p:txBody>
        </p:sp>
      </p:grpSp>
      <p:sp>
        <p:nvSpPr>
          <p:cNvPr id="168991" name="Oval 31"/>
          <p:cNvSpPr>
            <a:spLocks noChangeArrowheads="1"/>
          </p:cNvSpPr>
          <p:nvPr/>
        </p:nvSpPr>
        <p:spPr bwMode="auto">
          <a:xfrm>
            <a:off x="9698786" y="3679478"/>
            <a:ext cx="457200" cy="527050"/>
          </a:xfrm>
          <a:prstGeom prst="ellipse">
            <a:avLst/>
          </a:prstGeom>
          <a:solidFill>
            <a:schemeClr val="bg1"/>
          </a:solidFill>
          <a:ln w="28575" cap="sq">
            <a:solidFill>
              <a:srgbClr val="0033CC"/>
            </a:solidFill>
            <a:miter lim="800000"/>
            <a:headEnd type="none" w="sm" len="sm"/>
            <a:tailEnd type="none" w="sm" len="sm"/>
          </a:ln>
        </p:spPr>
        <p:txBody>
          <a:bodyPr wrap="none" anchor="ctr"/>
          <a:lstStyle/>
          <a:p>
            <a:r>
              <a:rPr lang="en-US" altLang="zh-CN" sz="2400"/>
              <a:t>v</a:t>
            </a:r>
            <a:r>
              <a:rPr lang="en-US" altLang="zh-CN" sz="2400" baseline="-25000"/>
              <a:t>7</a:t>
            </a:r>
          </a:p>
        </p:txBody>
      </p:sp>
      <p:sp>
        <p:nvSpPr>
          <p:cNvPr id="168992" name="Oval 32"/>
          <p:cNvSpPr>
            <a:spLocks noChangeArrowheads="1"/>
          </p:cNvSpPr>
          <p:nvPr/>
        </p:nvSpPr>
        <p:spPr bwMode="auto">
          <a:xfrm>
            <a:off x="7125449" y="5062190"/>
            <a:ext cx="457200" cy="527050"/>
          </a:xfrm>
          <a:prstGeom prst="ellipse">
            <a:avLst/>
          </a:prstGeom>
          <a:solidFill>
            <a:schemeClr val="bg1"/>
          </a:solidFill>
          <a:ln w="28575" cap="sq">
            <a:solidFill>
              <a:srgbClr val="0033CC"/>
            </a:solidFill>
            <a:miter lim="800000"/>
            <a:headEnd type="none" w="sm" len="sm"/>
            <a:tailEnd type="none" w="sm" len="sm"/>
          </a:ln>
        </p:spPr>
        <p:txBody>
          <a:bodyPr wrap="none" anchor="ctr"/>
          <a:lstStyle/>
          <a:p>
            <a:r>
              <a:rPr lang="en-US" altLang="zh-CN" sz="2400"/>
              <a:t>v</a:t>
            </a:r>
            <a:r>
              <a:rPr lang="en-US" altLang="zh-CN" sz="2400" baseline="-25000"/>
              <a:t>5</a:t>
            </a:r>
          </a:p>
        </p:txBody>
      </p:sp>
      <p:sp>
        <p:nvSpPr>
          <p:cNvPr id="168993" name="Oval 33"/>
          <p:cNvSpPr>
            <a:spLocks noChangeArrowheads="1"/>
          </p:cNvSpPr>
          <p:nvPr/>
        </p:nvSpPr>
        <p:spPr bwMode="auto">
          <a:xfrm>
            <a:off x="8839949" y="5062190"/>
            <a:ext cx="457200" cy="527050"/>
          </a:xfrm>
          <a:prstGeom prst="ellipse">
            <a:avLst/>
          </a:prstGeom>
          <a:solidFill>
            <a:schemeClr val="bg1"/>
          </a:solidFill>
          <a:ln w="28575" cap="sq">
            <a:solidFill>
              <a:srgbClr val="0033CC"/>
            </a:solidFill>
            <a:miter lim="800000"/>
            <a:headEnd type="none" w="sm" len="sm"/>
            <a:tailEnd type="none" w="sm" len="sm"/>
          </a:ln>
        </p:spPr>
        <p:txBody>
          <a:bodyPr wrap="none" anchor="ctr"/>
          <a:lstStyle/>
          <a:p>
            <a:r>
              <a:rPr lang="en-US" altLang="zh-CN" sz="2400"/>
              <a:t>v</a:t>
            </a:r>
            <a:r>
              <a:rPr lang="en-US" altLang="zh-CN" sz="2400" baseline="-25000"/>
              <a:t>6</a:t>
            </a:r>
          </a:p>
        </p:txBody>
      </p:sp>
      <p:sp>
        <p:nvSpPr>
          <p:cNvPr id="168994" name="Oval 34"/>
          <p:cNvSpPr>
            <a:spLocks noChangeArrowheads="1"/>
          </p:cNvSpPr>
          <p:nvPr/>
        </p:nvSpPr>
        <p:spPr bwMode="auto">
          <a:xfrm>
            <a:off x="6266611" y="3679478"/>
            <a:ext cx="457200" cy="527050"/>
          </a:xfrm>
          <a:prstGeom prst="ellipse">
            <a:avLst/>
          </a:prstGeom>
          <a:solidFill>
            <a:schemeClr val="bg1"/>
          </a:solidFill>
          <a:ln w="28575" cap="sq">
            <a:solidFill>
              <a:srgbClr val="0033CC"/>
            </a:solidFill>
            <a:miter lim="800000"/>
            <a:headEnd type="none" w="sm" len="sm"/>
            <a:tailEnd type="none" w="sm" len="sm"/>
          </a:ln>
        </p:spPr>
        <p:txBody>
          <a:bodyPr wrap="none" anchor="ctr"/>
          <a:lstStyle/>
          <a:p>
            <a:r>
              <a:rPr lang="en-US" altLang="zh-CN" sz="2400"/>
              <a:t>v</a:t>
            </a:r>
            <a:r>
              <a:rPr lang="en-US" altLang="zh-CN" sz="2400" baseline="-25000"/>
              <a:t>2</a:t>
            </a:r>
          </a:p>
        </p:txBody>
      </p:sp>
      <p:sp>
        <p:nvSpPr>
          <p:cNvPr id="168995" name="Oval 35"/>
          <p:cNvSpPr>
            <a:spLocks noChangeArrowheads="1"/>
          </p:cNvSpPr>
          <p:nvPr/>
        </p:nvSpPr>
        <p:spPr bwMode="auto">
          <a:xfrm>
            <a:off x="8839949" y="2626965"/>
            <a:ext cx="457200" cy="527050"/>
          </a:xfrm>
          <a:prstGeom prst="ellipse">
            <a:avLst/>
          </a:prstGeom>
          <a:solidFill>
            <a:schemeClr val="bg1"/>
          </a:solidFill>
          <a:ln w="28575" cap="sq">
            <a:solidFill>
              <a:srgbClr val="0033CC"/>
            </a:solidFill>
            <a:miter lim="800000"/>
            <a:headEnd type="none" w="sm" len="sm"/>
            <a:tailEnd type="none" w="sm" len="sm"/>
          </a:ln>
        </p:spPr>
        <p:txBody>
          <a:bodyPr wrap="none" anchor="ctr"/>
          <a:lstStyle/>
          <a:p>
            <a:r>
              <a:rPr lang="en-US" altLang="zh-CN" sz="2400"/>
              <a:t>v</a:t>
            </a:r>
            <a:r>
              <a:rPr lang="en-US" altLang="zh-CN" sz="2400" baseline="-25000"/>
              <a:t>3</a:t>
            </a:r>
          </a:p>
        </p:txBody>
      </p:sp>
      <p:sp>
        <p:nvSpPr>
          <p:cNvPr id="168996" name="Oval 36"/>
          <p:cNvSpPr>
            <a:spLocks noChangeArrowheads="1"/>
          </p:cNvSpPr>
          <p:nvPr/>
        </p:nvSpPr>
        <p:spPr bwMode="auto">
          <a:xfrm>
            <a:off x="7125449" y="2626965"/>
            <a:ext cx="457200" cy="527050"/>
          </a:xfrm>
          <a:prstGeom prst="ellipse">
            <a:avLst/>
          </a:prstGeom>
          <a:solidFill>
            <a:schemeClr val="bg1"/>
          </a:solidFill>
          <a:ln w="28575" cap="sq">
            <a:solidFill>
              <a:srgbClr val="0033CC"/>
            </a:solidFill>
            <a:miter lim="800000"/>
            <a:headEnd type="none" w="sm" len="sm"/>
            <a:tailEnd type="none" w="sm" len="sm"/>
          </a:ln>
        </p:spPr>
        <p:txBody>
          <a:bodyPr wrap="none" anchor="ctr"/>
          <a:lstStyle/>
          <a:p>
            <a:r>
              <a:rPr lang="en-US" altLang="zh-CN" sz="2400"/>
              <a:t>v</a:t>
            </a:r>
            <a:r>
              <a:rPr lang="en-US" altLang="zh-CN" sz="2400" baseline="-25000"/>
              <a:t>1</a:t>
            </a:r>
          </a:p>
        </p:txBody>
      </p:sp>
      <p:sp>
        <p:nvSpPr>
          <p:cNvPr id="168997" name="Oval 37"/>
          <p:cNvSpPr>
            <a:spLocks noChangeArrowheads="1"/>
          </p:cNvSpPr>
          <p:nvPr/>
        </p:nvSpPr>
        <p:spPr bwMode="auto">
          <a:xfrm>
            <a:off x="7923961" y="3679478"/>
            <a:ext cx="458788" cy="527050"/>
          </a:xfrm>
          <a:prstGeom prst="ellipse">
            <a:avLst/>
          </a:prstGeom>
          <a:solidFill>
            <a:schemeClr val="bg1"/>
          </a:solidFill>
          <a:ln w="28575" cap="sq">
            <a:solidFill>
              <a:srgbClr val="0033CC"/>
            </a:solidFill>
            <a:miter lim="800000"/>
            <a:headEnd type="none" w="sm" len="sm"/>
            <a:tailEnd type="none" w="sm" len="sm"/>
          </a:ln>
        </p:spPr>
        <p:txBody>
          <a:bodyPr wrap="none" anchor="ctr"/>
          <a:lstStyle/>
          <a:p>
            <a:r>
              <a:rPr lang="en-US" altLang="zh-CN" sz="2400"/>
              <a:t>v</a:t>
            </a:r>
            <a:r>
              <a:rPr lang="en-US" altLang="zh-CN" sz="2400" baseline="-25000"/>
              <a:t>4</a:t>
            </a:r>
          </a:p>
        </p:txBody>
      </p:sp>
      <p:grpSp>
        <p:nvGrpSpPr>
          <p:cNvPr id="4" name="Group 38"/>
          <p:cNvGrpSpPr>
            <a:grpSpLocks/>
          </p:cNvGrpSpPr>
          <p:nvPr/>
        </p:nvGrpSpPr>
        <p:grpSpPr bwMode="auto">
          <a:xfrm>
            <a:off x="9297150" y="2998440"/>
            <a:ext cx="630237" cy="681038"/>
            <a:chOff x="4879" y="2008"/>
            <a:chExt cx="397" cy="429"/>
          </a:xfrm>
        </p:grpSpPr>
        <p:sp>
          <p:nvSpPr>
            <p:cNvPr id="110625" name="Line 39"/>
            <p:cNvSpPr>
              <a:spLocks noChangeShapeType="1"/>
            </p:cNvSpPr>
            <p:nvPr/>
          </p:nvSpPr>
          <p:spPr bwMode="auto">
            <a:xfrm>
              <a:off x="4879" y="2023"/>
              <a:ext cx="361" cy="414"/>
            </a:xfrm>
            <a:prstGeom prst="line">
              <a:avLst/>
            </a:prstGeom>
            <a:noFill/>
            <a:ln w="28575" cap="sq">
              <a:solidFill>
                <a:srgbClr val="0033CC"/>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10626" name="Text Box 40"/>
            <p:cNvSpPr txBox="1">
              <a:spLocks noChangeArrowheads="1"/>
            </p:cNvSpPr>
            <p:nvPr/>
          </p:nvSpPr>
          <p:spPr bwMode="auto">
            <a:xfrm>
              <a:off x="4951" y="2008"/>
              <a:ext cx="32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rgbClr val="000000"/>
                  </a:solidFill>
                  <a:miter lim="800000"/>
                  <a:headEnd type="none" w="sm" len="sm"/>
                  <a:tailEnd type="none" w="sm" len="sm"/>
                </a14:hiddenLine>
              </a:ext>
            </a:extLst>
          </p:spPr>
          <p:txBody>
            <a:bodyPr>
              <a:spAutoFit/>
            </a:bodyPr>
            <a:lstStyle>
              <a:lvl1pPr eaLnBrk="0" hangingPunct="0">
                <a:defRPr kumimoji="1" sz="2800">
                  <a:solidFill>
                    <a:schemeClr val="tx1"/>
                  </a:solidFill>
                  <a:latin typeface="Comic Sans MS" pitchFamily="66" charset="0"/>
                  <a:ea typeface="宋体" pitchFamily="2" charset="-122"/>
                </a:defRPr>
              </a:lvl1pPr>
              <a:lvl2pPr marL="742950" indent="-285750" eaLnBrk="0" hangingPunct="0">
                <a:defRPr kumimoji="1" sz="2800">
                  <a:solidFill>
                    <a:schemeClr val="tx1"/>
                  </a:solidFill>
                  <a:latin typeface="Comic Sans MS" pitchFamily="66" charset="0"/>
                  <a:ea typeface="宋体" pitchFamily="2" charset="-122"/>
                </a:defRPr>
              </a:lvl2pPr>
              <a:lvl3pPr marL="1143000" indent="-228600" eaLnBrk="0" hangingPunct="0">
                <a:defRPr kumimoji="1" sz="2800">
                  <a:solidFill>
                    <a:schemeClr val="tx1"/>
                  </a:solidFill>
                  <a:latin typeface="Comic Sans MS" pitchFamily="66" charset="0"/>
                  <a:ea typeface="宋体" pitchFamily="2" charset="-122"/>
                </a:defRPr>
              </a:lvl3pPr>
              <a:lvl4pPr marL="1600200" indent="-228600" eaLnBrk="0" hangingPunct="0">
                <a:defRPr kumimoji="1" sz="2800">
                  <a:solidFill>
                    <a:schemeClr val="tx1"/>
                  </a:solidFill>
                  <a:latin typeface="Comic Sans MS" pitchFamily="66" charset="0"/>
                  <a:ea typeface="宋体" pitchFamily="2" charset="-122"/>
                </a:defRPr>
              </a:lvl4pPr>
              <a:lvl5pPr marL="2057400" indent="-228600" eaLnBrk="0" hangingPunct="0">
                <a:defRPr kumimoji="1" sz="2800">
                  <a:solidFill>
                    <a:schemeClr val="tx1"/>
                  </a:solidFill>
                  <a:latin typeface="Comic Sans MS" pitchFamily="66" charset="0"/>
                  <a:ea typeface="宋体" pitchFamily="2" charset="-122"/>
                </a:defRPr>
              </a:lvl5pPr>
              <a:lvl6pPr marL="25146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6pPr>
              <a:lvl7pPr marL="29718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7pPr>
              <a:lvl8pPr marL="34290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8pPr>
              <a:lvl9pPr marL="38862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9pPr>
            </a:lstStyle>
            <a:p>
              <a:pPr eaLnBrk="1" hangingPunct="1">
                <a:spcBef>
                  <a:spcPct val="50000"/>
                </a:spcBef>
              </a:pPr>
              <a:r>
                <a:rPr lang="en-US" altLang="zh-CN" sz="2000" b="1">
                  <a:solidFill>
                    <a:srgbClr val="DE580E"/>
                  </a:solidFill>
                </a:rPr>
                <a:t>45</a:t>
              </a:r>
            </a:p>
          </p:txBody>
        </p:sp>
      </p:grpSp>
      <p:grpSp>
        <p:nvGrpSpPr>
          <p:cNvPr id="5" name="Group 41"/>
          <p:cNvGrpSpPr>
            <a:grpSpLocks/>
          </p:cNvGrpSpPr>
          <p:nvPr/>
        </p:nvGrpSpPr>
        <p:grpSpPr bwMode="auto">
          <a:xfrm>
            <a:off x="6552361" y="3065115"/>
            <a:ext cx="630238" cy="681038"/>
            <a:chOff x="3150" y="2050"/>
            <a:chExt cx="397" cy="429"/>
          </a:xfrm>
        </p:grpSpPr>
        <p:sp>
          <p:nvSpPr>
            <p:cNvPr id="110623" name="Line 42"/>
            <p:cNvSpPr>
              <a:spLocks noChangeShapeType="1"/>
            </p:cNvSpPr>
            <p:nvPr/>
          </p:nvSpPr>
          <p:spPr bwMode="auto">
            <a:xfrm flipH="1">
              <a:off x="3223" y="2064"/>
              <a:ext cx="324" cy="415"/>
            </a:xfrm>
            <a:prstGeom prst="line">
              <a:avLst/>
            </a:prstGeom>
            <a:noFill/>
            <a:ln w="28575" cap="sq">
              <a:solidFill>
                <a:srgbClr val="0033CC"/>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10624" name="Text Box 43"/>
            <p:cNvSpPr txBox="1">
              <a:spLocks noChangeArrowheads="1"/>
            </p:cNvSpPr>
            <p:nvPr/>
          </p:nvSpPr>
          <p:spPr bwMode="auto">
            <a:xfrm>
              <a:off x="3150" y="2050"/>
              <a:ext cx="32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rgbClr val="000000"/>
                  </a:solidFill>
                  <a:miter lim="800000"/>
                  <a:headEnd type="none" w="sm" len="sm"/>
                  <a:tailEnd type="none" w="sm" len="sm"/>
                </a14:hiddenLine>
              </a:ext>
            </a:extLst>
          </p:spPr>
          <p:txBody>
            <a:bodyPr>
              <a:spAutoFit/>
            </a:bodyPr>
            <a:lstStyle>
              <a:lvl1pPr eaLnBrk="0" hangingPunct="0">
                <a:defRPr kumimoji="1" sz="2800">
                  <a:solidFill>
                    <a:schemeClr val="tx1"/>
                  </a:solidFill>
                  <a:latin typeface="Comic Sans MS" pitchFamily="66" charset="0"/>
                  <a:ea typeface="宋体" pitchFamily="2" charset="-122"/>
                </a:defRPr>
              </a:lvl1pPr>
              <a:lvl2pPr marL="742950" indent="-285750" eaLnBrk="0" hangingPunct="0">
                <a:defRPr kumimoji="1" sz="2800">
                  <a:solidFill>
                    <a:schemeClr val="tx1"/>
                  </a:solidFill>
                  <a:latin typeface="Comic Sans MS" pitchFamily="66" charset="0"/>
                  <a:ea typeface="宋体" pitchFamily="2" charset="-122"/>
                </a:defRPr>
              </a:lvl2pPr>
              <a:lvl3pPr marL="1143000" indent="-228600" eaLnBrk="0" hangingPunct="0">
                <a:defRPr kumimoji="1" sz="2800">
                  <a:solidFill>
                    <a:schemeClr val="tx1"/>
                  </a:solidFill>
                  <a:latin typeface="Comic Sans MS" pitchFamily="66" charset="0"/>
                  <a:ea typeface="宋体" pitchFamily="2" charset="-122"/>
                </a:defRPr>
              </a:lvl3pPr>
              <a:lvl4pPr marL="1600200" indent="-228600" eaLnBrk="0" hangingPunct="0">
                <a:defRPr kumimoji="1" sz="2800">
                  <a:solidFill>
                    <a:schemeClr val="tx1"/>
                  </a:solidFill>
                  <a:latin typeface="Comic Sans MS" pitchFamily="66" charset="0"/>
                  <a:ea typeface="宋体" pitchFamily="2" charset="-122"/>
                </a:defRPr>
              </a:lvl4pPr>
              <a:lvl5pPr marL="2057400" indent="-228600" eaLnBrk="0" hangingPunct="0">
                <a:defRPr kumimoji="1" sz="2800">
                  <a:solidFill>
                    <a:schemeClr val="tx1"/>
                  </a:solidFill>
                  <a:latin typeface="Comic Sans MS" pitchFamily="66" charset="0"/>
                  <a:ea typeface="宋体" pitchFamily="2" charset="-122"/>
                </a:defRPr>
              </a:lvl5pPr>
              <a:lvl6pPr marL="25146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6pPr>
              <a:lvl7pPr marL="29718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7pPr>
              <a:lvl8pPr marL="34290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8pPr>
              <a:lvl9pPr marL="38862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9pPr>
            </a:lstStyle>
            <a:p>
              <a:pPr eaLnBrk="1" hangingPunct="1">
                <a:spcBef>
                  <a:spcPct val="50000"/>
                </a:spcBef>
              </a:pPr>
              <a:r>
                <a:rPr lang="en-US" altLang="zh-CN" sz="2000" b="1">
                  <a:solidFill>
                    <a:srgbClr val="DE580E"/>
                  </a:solidFill>
                </a:rPr>
                <a:t>50</a:t>
              </a:r>
            </a:p>
          </p:txBody>
        </p:sp>
      </p:grpSp>
      <p:grpSp>
        <p:nvGrpSpPr>
          <p:cNvPr id="6" name="Group 44"/>
          <p:cNvGrpSpPr>
            <a:grpSpLocks/>
          </p:cNvGrpSpPr>
          <p:nvPr/>
        </p:nvGrpSpPr>
        <p:grpSpPr bwMode="auto">
          <a:xfrm>
            <a:off x="8382750" y="3657254"/>
            <a:ext cx="1316037" cy="396875"/>
            <a:chOff x="4303" y="2423"/>
            <a:chExt cx="829" cy="250"/>
          </a:xfrm>
        </p:grpSpPr>
        <p:sp>
          <p:nvSpPr>
            <p:cNvPr id="110621" name="Line 45"/>
            <p:cNvSpPr>
              <a:spLocks noChangeShapeType="1"/>
            </p:cNvSpPr>
            <p:nvPr/>
          </p:nvSpPr>
          <p:spPr bwMode="auto">
            <a:xfrm>
              <a:off x="4303" y="2644"/>
              <a:ext cx="829" cy="0"/>
            </a:xfrm>
            <a:prstGeom prst="line">
              <a:avLst/>
            </a:prstGeom>
            <a:noFill/>
            <a:ln w="28575" cap="sq">
              <a:solidFill>
                <a:srgbClr val="0033CC"/>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10622" name="Text Box 46"/>
            <p:cNvSpPr txBox="1">
              <a:spLocks noChangeArrowheads="1"/>
            </p:cNvSpPr>
            <p:nvPr/>
          </p:nvSpPr>
          <p:spPr bwMode="auto">
            <a:xfrm>
              <a:off x="4592" y="2423"/>
              <a:ext cx="32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rgbClr val="000000"/>
                  </a:solidFill>
                  <a:miter lim="800000"/>
                  <a:headEnd type="none" w="sm" len="sm"/>
                  <a:tailEnd type="none" w="sm" len="sm"/>
                </a14:hiddenLine>
              </a:ext>
            </a:extLst>
          </p:spPr>
          <p:txBody>
            <a:bodyPr>
              <a:spAutoFit/>
            </a:bodyPr>
            <a:lstStyle>
              <a:lvl1pPr eaLnBrk="0" hangingPunct="0">
                <a:defRPr kumimoji="1" sz="2800">
                  <a:solidFill>
                    <a:schemeClr val="tx1"/>
                  </a:solidFill>
                  <a:latin typeface="Comic Sans MS" pitchFamily="66" charset="0"/>
                  <a:ea typeface="宋体" pitchFamily="2" charset="-122"/>
                </a:defRPr>
              </a:lvl1pPr>
              <a:lvl2pPr marL="742950" indent="-285750" eaLnBrk="0" hangingPunct="0">
                <a:defRPr kumimoji="1" sz="2800">
                  <a:solidFill>
                    <a:schemeClr val="tx1"/>
                  </a:solidFill>
                  <a:latin typeface="Comic Sans MS" pitchFamily="66" charset="0"/>
                  <a:ea typeface="宋体" pitchFamily="2" charset="-122"/>
                </a:defRPr>
              </a:lvl2pPr>
              <a:lvl3pPr marL="1143000" indent="-228600" eaLnBrk="0" hangingPunct="0">
                <a:defRPr kumimoji="1" sz="2800">
                  <a:solidFill>
                    <a:schemeClr val="tx1"/>
                  </a:solidFill>
                  <a:latin typeface="Comic Sans MS" pitchFamily="66" charset="0"/>
                  <a:ea typeface="宋体" pitchFamily="2" charset="-122"/>
                </a:defRPr>
              </a:lvl3pPr>
              <a:lvl4pPr marL="1600200" indent="-228600" eaLnBrk="0" hangingPunct="0">
                <a:defRPr kumimoji="1" sz="2800">
                  <a:solidFill>
                    <a:schemeClr val="tx1"/>
                  </a:solidFill>
                  <a:latin typeface="Comic Sans MS" pitchFamily="66" charset="0"/>
                  <a:ea typeface="宋体" pitchFamily="2" charset="-122"/>
                </a:defRPr>
              </a:lvl4pPr>
              <a:lvl5pPr marL="2057400" indent="-228600" eaLnBrk="0" hangingPunct="0">
                <a:defRPr kumimoji="1" sz="2800">
                  <a:solidFill>
                    <a:schemeClr val="tx1"/>
                  </a:solidFill>
                  <a:latin typeface="Comic Sans MS" pitchFamily="66" charset="0"/>
                  <a:ea typeface="宋体" pitchFamily="2" charset="-122"/>
                </a:defRPr>
              </a:lvl5pPr>
              <a:lvl6pPr marL="25146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6pPr>
              <a:lvl7pPr marL="29718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7pPr>
              <a:lvl8pPr marL="34290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8pPr>
              <a:lvl9pPr marL="38862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9pPr>
            </a:lstStyle>
            <a:p>
              <a:pPr eaLnBrk="1" hangingPunct="1">
                <a:spcBef>
                  <a:spcPct val="50000"/>
                </a:spcBef>
              </a:pPr>
              <a:r>
                <a:rPr lang="en-US" altLang="zh-CN" sz="2000" b="1">
                  <a:solidFill>
                    <a:srgbClr val="DE580E"/>
                  </a:solidFill>
                </a:rPr>
                <a:t>42</a:t>
              </a:r>
            </a:p>
          </p:txBody>
        </p:sp>
      </p:grpSp>
      <p:grpSp>
        <p:nvGrpSpPr>
          <p:cNvPr id="7" name="Group 47"/>
          <p:cNvGrpSpPr>
            <a:grpSpLocks/>
          </p:cNvGrpSpPr>
          <p:nvPr/>
        </p:nvGrpSpPr>
        <p:grpSpPr bwMode="auto">
          <a:xfrm>
            <a:off x="6438061" y="4206528"/>
            <a:ext cx="744538" cy="920750"/>
            <a:chOff x="3078" y="2769"/>
            <a:chExt cx="469" cy="580"/>
          </a:xfrm>
        </p:grpSpPr>
        <p:sp>
          <p:nvSpPr>
            <p:cNvPr id="110619" name="Line 48"/>
            <p:cNvSpPr>
              <a:spLocks noChangeShapeType="1"/>
            </p:cNvSpPr>
            <p:nvPr/>
          </p:nvSpPr>
          <p:spPr bwMode="auto">
            <a:xfrm>
              <a:off x="3186" y="2769"/>
              <a:ext cx="361" cy="580"/>
            </a:xfrm>
            <a:prstGeom prst="line">
              <a:avLst/>
            </a:prstGeom>
            <a:noFill/>
            <a:ln w="28575" cap="sq">
              <a:solidFill>
                <a:srgbClr val="0033CC"/>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10620" name="Text Box 49"/>
            <p:cNvSpPr txBox="1">
              <a:spLocks noChangeArrowheads="1"/>
            </p:cNvSpPr>
            <p:nvPr/>
          </p:nvSpPr>
          <p:spPr bwMode="auto">
            <a:xfrm>
              <a:off x="3078" y="2894"/>
              <a:ext cx="32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rgbClr val="000000"/>
                  </a:solidFill>
                  <a:miter lim="800000"/>
                  <a:headEnd type="none" w="sm" len="sm"/>
                  <a:tailEnd type="none" w="sm" len="sm"/>
                </a14:hiddenLine>
              </a:ext>
            </a:extLst>
          </p:spPr>
          <p:txBody>
            <a:bodyPr>
              <a:spAutoFit/>
            </a:bodyPr>
            <a:lstStyle>
              <a:lvl1pPr eaLnBrk="0" hangingPunct="0">
                <a:defRPr kumimoji="1" sz="2800">
                  <a:solidFill>
                    <a:schemeClr val="tx1"/>
                  </a:solidFill>
                  <a:latin typeface="Comic Sans MS" pitchFamily="66" charset="0"/>
                  <a:ea typeface="宋体" pitchFamily="2" charset="-122"/>
                </a:defRPr>
              </a:lvl1pPr>
              <a:lvl2pPr marL="742950" indent="-285750" eaLnBrk="0" hangingPunct="0">
                <a:defRPr kumimoji="1" sz="2800">
                  <a:solidFill>
                    <a:schemeClr val="tx1"/>
                  </a:solidFill>
                  <a:latin typeface="Comic Sans MS" pitchFamily="66" charset="0"/>
                  <a:ea typeface="宋体" pitchFamily="2" charset="-122"/>
                </a:defRPr>
              </a:lvl2pPr>
              <a:lvl3pPr marL="1143000" indent="-228600" eaLnBrk="0" hangingPunct="0">
                <a:defRPr kumimoji="1" sz="2800">
                  <a:solidFill>
                    <a:schemeClr val="tx1"/>
                  </a:solidFill>
                  <a:latin typeface="Comic Sans MS" pitchFamily="66" charset="0"/>
                  <a:ea typeface="宋体" pitchFamily="2" charset="-122"/>
                </a:defRPr>
              </a:lvl3pPr>
              <a:lvl4pPr marL="1600200" indent="-228600" eaLnBrk="0" hangingPunct="0">
                <a:defRPr kumimoji="1" sz="2800">
                  <a:solidFill>
                    <a:schemeClr val="tx1"/>
                  </a:solidFill>
                  <a:latin typeface="Comic Sans MS" pitchFamily="66" charset="0"/>
                  <a:ea typeface="宋体" pitchFamily="2" charset="-122"/>
                </a:defRPr>
              </a:lvl4pPr>
              <a:lvl5pPr marL="2057400" indent="-228600" eaLnBrk="0" hangingPunct="0">
                <a:defRPr kumimoji="1" sz="2800">
                  <a:solidFill>
                    <a:schemeClr val="tx1"/>
                  </a:solidFill>
                  <a:latin typeface="Comic Sans MS" pitchFamily="66" charset="0"/>
                  <a:ea typeface="宋体" pitchFamily="2" charset="-122"/>
                </a:defRPr>
              </a:lvl5pPr>
              <a:lvl6pPr marL="25146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6pPr>
              <a:lvl7pPr marL="29718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7pPr>
              <a:lvl8pPr marL="34290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8pPr>
              <a:lvl9pPr marL="38862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9pPr>
            </a:lstStyle>
            <a:p>
              <a:pPr eaLnBrk="1" hangingPunct="1">
                <a:spcBef>
                  <a:spcPct val="50000"/>
                </a:spcBef>
              </a:pPr>
              <a:r>
                <a:rPr lang="en-US" altLang="zh-CN" sz="2000" b="1">
                  <a:solidFill>
                    <a:srgbClr val="DE580E"/>
                  </a:solidFill>
                </a:rPr>
                <a:t>40</a:t>
              </a:r>
            </a:p>
          </p:txBody>
        </p:sp>
      </p:grpSp>
      <p:grpSp>
        <p:nvGrpSpPr>
          <p:cNvPr id="8" name="Group 50"/>
          <p:cNvGrpSpPr>
            <a:grpSpLocks/>
          </p:cNvGrpSpPr>
          <p:nvPr/>
        </p:nvGrpSpPr>
        <p:grpSpPr bwMode="auto">
          <a:xfrm>
            <a:off x="7354050" y="4187478"/>
            <a:ext cx="701675" cy="920750"/>
            <a:chOff x="3655" y="2757"/>
            <a:chExt cx="442" cy="580"/>
          </a:xfrm>
        </p:grpSpPr>
        <p:sp>
          <p:nvSpPr>
            <p:cNvPr id="110617" name="Line 51"/>
            <p:cNvSpPr>
              <a:spLocks noChangeShapeType="1"/>
            </p:cNvSpPr>
            <p:nvPr/>
          </p:nvSpPr>
          <p:spPr bwMode="auto">
            <a:xfrm flipH="1">
              <a:off x="3737" y="2757"/>
              <a:ext cx="360" cy="580"/>
            </a:xfrm>
            <a:prstGeom prst="line">
              <a:avLst/>
            </a:prstGeom>
            <a:noFill/>
            <a:ln w="28575" cap="sq">
              <a:solidFill>
                <a:srgbClr val="0033CC"/>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10618" name="Text Box 52"/>
            <p:cNvSpPr txBox="1">
              <a:spLocks noChangeArrowheads="1"/>
            </p:cNvSpPr>
            <p:nvPr/>
          </p:nvSpPr>
          <p:spPr bwMode="auto">
            <a:xfrm>
              <a:off x="3655" y="2894"/>
              <a:ext cx="32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rgbClr val="000000"/>
                  </a:solidFill>
                  <a:miter lim="800000"/>
                  <a:headEnd type="none" w="sm" len="sm"/>
                  <a:tailEnd type="none" w="sm" len="sm"/>
                </a14:hiddenLine>
              </a:ext>
            </a:extLst>
          </p:spPr>
          <p:txBody>
            <a:bodyPr>
              <a:spAutoFit/>
            </a:bodyPr>
            <a:lstStyle>
              <a:lvl1pPr eaLnBrk="0" hangingPunct="0">
                <a:defRPr kumimoji="1" sz="2800">
                  <a:solidFill>
                    <a:schemeClr val="tx1"/>
                  </a:solidFill>
                  <a:latin typeface="Comic Sans MS" pitchFamily="66" charset="0"/>
                  <a:ea typeface="宋体" pitchFamily="2" charset="-122"/>
                </a:defRPr>
              </a:lvl1pPr>
              <a:lvl2pPr marL="742950" indent="-285750" eaLnBrk="0" hangingPunct="0">
                <a:defRPr kumimoji="1" sz="2800">
                  <a:solidFill>
                    <a:schemeClr val="tx1"/>
                  </a:solidFill>
                  <a:latin typeface="Comic Sans MS" pitchFamily="66" charset="0"/>
                  <a:ea typeface="宋体" pitchFamily="2" charset="-122"/>
                </a:defRPr>
              </a:lvl2pPr>
              <a:lvl3pPr marL="1143000" indent="-228600" eaLnBrk="0" hangingPunct="0">
                <a:defRPr kumimoji="1" sz="2800">
                  <a:solidFill>
                    <a:schemeClr val="tx1"/>
                  </a:solidFill>
                  <a:latin typeface="Comic Sans MS" pitchFamily="66" charset="0"/>
                  <a:ea typeface="宋体" pitchFamily="2" charset="-122"/>
                </a:defRPr>
              </a:lvl3pPr>
              <a:lvl4pPr marL="1600200" indent="-228600" eaLnBrk="0" hangingPunct="0">
                <a:defRPr kumimoji="1" sz="2800">
                  <a:solidFill>
                    <a:schemeClr val="tx1"/>
                  </a:solidFill>
                  <a:latin typeface="Comic Sans MS" pitchFamily="66" charset="0"/>
                  <a:ea typeface="宋体" pitchFamily="2" charset="-122"/>
                </a:defRPr>
              </a:lvl4pPr>
              <a:lvl5pPr marL="2057400" indent="-228600" eaLnBrk="0" hangingPunct="0">
                <a:defRPr kumimoji="1" sz="2800">
                  <a:solidFill>
                    <a:schemeClr val="tx1"/>
                  </a:solidFill>
                  <a:latin typeface="Comic Sans MS" pitchFamily="66" charset="0"/>
                  <a:ea typeface="宋体" pitchFamily="2" charset="-122"/>
                </a:defRPr>
              </a:lvl5pPr>
              <a:lvl6pPr marL="25146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6pPr>
              <a:lvl7pPr marL="29718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7pPr>
              <a:lvl8pPr marL="34290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8pPr>
              <a:lvl9pPr marL="38862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9pPr>
            </a:lstStyle>
            <a:p>
              <a:pPr eaLnBrk="1" hangingPunct="1">
                <a:spcBef>
                  <a:spcPct val="50000"/>
                </a:spcBef>
              </a:pPr>
              <a:r>
                <a:rPr lang="en-US" altLang="zh-CN" sz="2000" b="1">
                  <a:solidFill>
                    <a:srgbClr val="DE580E"/>
                  </a:solidFill>
                </a:rPr>
                <a:t>50</a:t>
              </a:r>
            </a:p>
          </p:txBody>
        </p:sp>
      </p:grpSp>
      <p:grpSp>
        <p:nvGrpSpPr>
          <p:cNvPr id="9" name="Group 53"/>
          <p:cNvGrpSpPr>
            <a:grpSpLocks/>
          </p:cNvGrpSpPr>
          <p:nvPr/>
        </p:nvGrpSpPr>
        <p:grpSpPr bwMode="auto">
          <a:xfrm>
            <a:off x="8325599" y="4141440"/>
            <a:ext cx="798512" cy="920750"/>
            <a:chOff x="4267" y="2728"/>
            <a:chExt cx="503" cy="580"/>
          </a:xfrm>
        </p:grpSpPr>
        <p:sp>
          <p:nvSpPr>
            <p:cNvPr id="110615" name="Line 54"/>
            <p:cNvSpPr>
              <a:spLocks noChangeShapeType="1"/>
            </p:cNvSpPr>
            <p:nvPr/>
          </p:nvSpPr>
          <p:spPr bwMode="auto">
            <a:xfrm>
              <a:off x="4267" y="2728"/>
              <a:ext cx="432" cy="580"/>
            </a:xfrm>
            <a:prstGeom prst="line">
              <a:avLst/>
            </a:prstGeom>
            <a:noFill/>
            <a:ln w="28575" cap="sq">
              <a:solidFill>
                <a:srgbClr val="0033CC"/>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10616" name="Text Box 55"/>
            <p:cNvSpPr txBox="1">
              <a:spLocks noChangeArrowheads="1"/>
            </p:cNvSpPr>
            <p:nvPr/>
          </p:nvSpPr>
          <p:spPr bwMode="auto">
            <a:xfrm>
              <a:off x="4448" y="2851"/>
              <a:ext cx="32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rgbClr val="000000"/>
                  </a:solidFill>
                  <a:miter lim="800000"/>
                  <a:headEnd type="none" w="sm" len="sm"/>
                  <a:tailEnd type="none" w="sm" len="sm"/>
                </a14:hiddenLine>
              </a:ext>
            </a:extLst>
          </p:spPr>
          <p:txBody>
            <a:bodyPr>
              <a:spAutoFit/>
            </a:bodyPr>
            <a:lstStyle>
              <a:lvl1pPr eaLnBrk="0" hangingPunct="0">
                <a:defRPr kumimoji="1" sz="2800">
                  <a:solidFill>
                    <a:schemeClr val="tx1"/>
                  </a:solidFill>
                  <a:latin typeface="Comic Sans MS" pitchFamily="66" charset="0"/>
                  <a:ea typeface="宋体" pitchFamily="2" charset="-122"/>
                </a:defRPr>
              </a:lvl1pPr>
              <a:lvl2pPr marL="742950" indent="-285750" eaLnBrk="0" hangingPunct="0">
                <a:defRPr kumimoji="1" sz="2800">
                  <a:solidFill>
                    <a:schemeClr val="tx1"/>
                  </a:solidFill>
                  <a:latin typeface="Comic Sans MS" pitchFamily="66" charset="0"/>
                  <a:ea typeface="宋体" pitchFamily="2" charset="-122"/>
                </a:defRPr>
              </a:lvl2pPr>
              <a:lvl3pPr marL="1143000" indent="-228600" eaLnBrk="0" hangingPunct="0">
                <a:defRPr kumimoji="1" sz="2800">
                  <a:solidFill>
                    <a:schemeClr val="tx1"/>
                  </a:solidFill>
                  <a:latin typeface="Comic Sans MS" pitchFamily="66" charset="0"/>
                  <a:ea typeface="宋体" pitchFamily="2" charset="-122"/>
                </a:defRPr>
              </a:lvl3pPr>
              <a:lvl4pPr marL="1600200" indent="-228600" eaLnBrk="0" hangingPunct="0">
                <a:defRPr kumimoji="1" sz="2800">
                  <a:solidFill>
                    <a:schemeClr val="tx1"/>
                  </a:solidFill>
                  <a:latin typeface="Comic Sans MS" pitchFamily="66" charset="0"/>
                  <a:ea typeface="宋体" pitchFamily="2" charset="-122"/>
                </a:defRPr>
              </a:lvl4pPr>
              <a:lvl5pPr marL="2057400" indent="-228600" eaLnBrk="0" hangingPunct="0">
                <a:defRPr kumimoji="1" sz="2800">
                  <a:solidFill>
                    <a:schemeClr val="tx1"/>
                  </a:solidFill>
                  <a:latin typeface="Comic Sans MS" pitchFamily="66" charset="0"/>
                  <a:ea typeface="宋体" pitchFamily="2" charset="-122"/>
                </a:defRPr>
              </a:lvl5pPr>
              <a:lvl6pPr marL="25146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6pPr>
              <a:lvl7pPr marL="29718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7pPr>
              <a:lvl8pPr marL="34290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8pPr>
              <a:lvl9pPr marL="38862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9pPr>
            </a:lstStyle>
            <a:p>
              <a:pPr eaLnBrk="1" hangingPunct="1">
                <a:spcBef>
                  <a:spcPct val="50000"/>
                </a:spcBef>
              </a:pPr>
              <a:r>
                <a:rPr lang="en-US" altLang="zh-CN" sz="2000" b="1">
                  <a:solidFill>
                    <a:srgbClr val="DE580E"/>
                  </a:solidFill>
                </a:rPr>
                <a:t>30</a:t>
              </a:r>
            </a:p>
          </p:txBody>
        </p:sp>
      </p:grpSp>
      <p:sp>
        <p:nvSpPr>
          <p:cNvPr id="169016" name="Line 56"/>
          <p:cNvSpPr>
            <a:spLocks noChangeShapeType="1"/>
          </p:cNvSpPr>
          <p:nvPr/>
        </p:nvSpPr>
        <p:spPr bwMode="auto">
          <a:xfrm>
            <a:off x="3754707" y="4023966"/>
            <a:ext cx="685800" cy="920750"/>
          </a:xfrm>
          <a:prstGeom prst="line">
            <a:avLst/>
          </a:prstGeom>
          <a:noFill/>
          <a:ln w="38100" cap="sq">
            <a:solidFill>
              <a:srgbClr val="FF00FF"/>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69017" name="Line 57"/>
          <p:cNvSpPr>
            <a:spLocks noChangeShapeType="1"/>
          </p:cNvSpPr>
          <p:nvPr/>
        </p:nvSpPr>
        <p:spPr bwMode="auto">
          <a:xfrm>
            <a:off x="2037033" y="4085878"/>
            <a:ext cx="573087" cy="920750"/>
          </a:xfrm>
          <a:prstGeom prst="line">
            <a:avLst/>
          </a:prstGeom>
          <a:noFill/>
          <a:ln w="38100" cap="sq">
            <a:solidFill>
              <a:srgbClr val="FF00FF"/>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69018" name="Line 58"/>
          <p:cNvSpPr>
            <a:spLocks noChangeShapeType="1"/>
          </p:cNvSpPr>
          <p:nvPr/>
        </p:nvSpPr>
        <p:spPr bwMode="auto">
          <a:xfrm>
            <a:off x="3816619" y="3900141"/>
            <a:ext cx="1316038" cy="0"/>
          </a:xfrm>
          <a:prstGeom prst="line">
            <a:avLst/>
          </a:prstGeom>
          <a:noFill/>
          <a:ln w="38100" cap="sq">
            <a:solidFill>
              <a:srgbClr val="FF00FF"/>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69019" name="Line 59"/>
          <p:cNvSpPr>
            <a:spLocks noChangeShapeType="1"/>
          </p:cNvSpPr>
          <p:nvPr/>
        </p:nvSpPr>
        <p:spPr bwMode="auto">
          <a:xfrm>
            <a:off x="4711969" y="2892079"/>
            <a:ext cx="573088" cy="657225"/>
          </a:xfrm>
          <a:prstGeom prst="line">
            <a:avLst/>
          </a:prstGeom>
          <a:noFill/>
          <a:ln w="38100" cap="sq">
            <a:solidFill>
              <a:srgbClr val="FF00FF"/>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69020" name="Line 60"/>
          <p:cNvSpPr>
            <a:spLocks noChangeShapeType="1"/>
          </p:cNvSpPr>
          <p:nvPr/>
        </p:nvSpPr>
        <p:spPr bwMode="auto">
          <a:xfrm flipH="1">
            <a:off x="2110057" y="2963516"/>
            <a:ext cx="514350" cy="658812"/>
          </a:xfrm>
          <a:prstGeom prst="line">
            <a:avLst/>
          </a:prstGeom>
          <a:noFill/>
          <a:ln w="38100" cap="sq">
            <a:solidFill>
              <a:srgbClr val="FF00FF"/>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69021" name="Line 61"/>
          <p:cNvSpPr>
            <a:spLocks noChangeShapeType="1"/>
          </p:cNvSpPr>
          <p:nvPr/>
        </p:nvSpPr>
        <p:spPr bwMode="auto">
          <a:xfrm flipH="1">
            <a:off x="2922857" y="4054128"/>
            <a:ext cx="571500" cy="920750"/>
          </a:xfrm>
          <a:prstGeom prst="line">
            <a:avLst/>
          </a:prstGeom>
          <a:noFill/>
          <a:ln w="38100" cap="sq">
            <a:solidFill>
              <a:srgbClr val="FF00FF"/>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69022" name="Line 62"/>
          <p:cNvSpPr>
            <a:spLocks noChangeShapeType="1"/>
          </p:cNvSpPr>
          <p:nvPr/>
        </p:nvSpPr>
        <p:spPr bwMode="auto">
          <a:xfrm flipH="1">
            <a:off x="3734069" y="2974629"/>
            <a:ext cx="571500" cy="658813"/>
          </a:xfrm>
          <a:prstGeom prst="line">
            <a:avLst/>
          </a:prstGeom>
          <a:noFill/>
          <a:ln w="38100" cap="sq">
            <a:solidFill>
              <a:srgbClr val="FF00FF"/>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2" name="Rectangle 2">
            <a:extLst>
              <a:ext uri="{FF2B5EF4-FFF2-40B4-BE49-F238E27FC236}">
                <a16:creationId xmlns:a16="http://schemas.microsoft.com/office/drawing/2014/main" id="{86DB34E4-AC8B-D94E-CBDD-B9CC522B346F}"/>
              </a:ext>
            </a:extLst>
          </p:cNvPr>
          <p:cNvSpPr txBox="1">
            <a:spLocks noChangeArrowheads="1"/>
          </p:cNvSpPr>
          <p:nvPr/>
        </p:nvSpPr>
        <p:spPr>
          <a:xfrm>
            <a:off x="474772" y="1230902"/>
            <a:ext cx="6485324"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8.4.4 </a:t>
            </a:r>
            <a:r>
              <a:rPr kumimoji="1" lang="zh-CN" altLang="en-US" dirty="0">
                <a:latin typeface="微软雅黑" pitchFamily="34" charset="-122"/>
                <a:ea typeface="微软雅黑" pitchFamily="34" charset="-122"/>
              </a:rPr>
              <a:t>克鲁斯卡尔算法 </a:t>
            </a:r>
            <a:r>
              <a:rPr kumimoji="1" lang="en-US" altLang="zh-CN" dirty="0">
                <a:latin typeface="微软雅黑" pitchFamily="34" charset="-122"/>
                <a:ea typeface="微软雅黑" pitchFamily="34" charset="-122"/>
              </a:rPr>
              <a:t>(Kruskal)</a:t>
            </a:r>
            <a:r>
              <a:rPr kumimoji="1" lang="zh-CN" altLang="en-US" dirty="0">
                <a:latin typeface="微软雅黑" pitchFamily="34" charset="-122"/>
                <a:ea typeface="微软雅黑" pitchFamily="34" charset="-122"/>
              </a:rPr>
              <a:t>算法</a:t>
            </a:r>
          </a:p>
        </p:txBody>
      </p:sp>
      <p:cxnSp>
        <p:nvCxnSpPr>
          <p:cNvPr id="3" name="直接连接符 2">
            <a:extLst>
              <a:ext uri="{FF2B5EF4-FFF2-40B4-BE49-F238E27FC236}">
                <a16:creationId xmlns:a16="http://schemas.microsoft.com/office/drawing/2014/main" id="{F6C6E9F0-3CAB-CCC8-813F-14C199CBD64E}"/>
              </a:ext>
            </a:extLst>
          </p:cNvPr>
          <p:cNvCxnSpPr>
            <a:cxnSpLocks/>
          </p:cNvCxnSpPr>
          <p:nvPr/>
        </p:nvCxnSpPr>
        <p:spPr>
          <a:xfrm>
            <a:off x="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10" name="矩形 9">
            <a:extLst>
              <a:ext uri="{FF2B5EF4-FFF2-40B4-BE49-F238E27FC236}">
                <a16:creationId xmlns:a16="http://schemas.microsoft.com/office/drawing/2014/main" id="{A97C3338-AF18-0C71-6D65-EAD7DB97A932}"/>
              </a:ext>
            </a:extLst>
          </p:cNvPr>
          <p:cNvSpPr/>
          <p:nvPr/>
        </p:nvSpPr>
        <p:spPr>
          <a:xfrm>
            <a:off x="3394075" y="399838"/>
            <a:ext cx="4617860"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8.4 </a:t>
            </a:r>
            <a:r>
              <a:rPr lang="zh-CN" altLang="en-US" sz="3000" b="1" dirty="0">
                <a:latin typeface="黑体" pitchFamily="49" charset="-122"/>
                <a:ea typeface="黑体" pitchFamily="49" charset="-122"/>
                <a:cs typeface="经典粗黑简" pitchFamily="49" charset="-122"/>
              </a:rPr>
              <a:t>生成树和最小生成树</a:t>
            </a:r>
          </a:p>
        </p:txBody>
      </p:sp>
    </p:spTree>
    <p:extLst>
      <p:ext uri="{BB962C8B-B14F-4D97-AF65-F5344CB8AC3E}">
        <p14:creationId xmlns:p14="http://schemas.microsoft.com/office/powerpoint/2010/main" val="79298370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899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6899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6899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6899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6899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6899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68994"/>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69016"/>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xit" presetSubtype="0" fill="hold" grpId="1" nodeType="clickEffect">
                                  <p:stCondLst>
                                    <p:cond delay="0"/>
                                  </p:stCondLst>
                                  <p:childTnLst>
                                    <p:set>
                                      <p:cBhvr>
                                        <p:cTn id="30" dur="1" fill="hold">
                                          <p:stCondLst>
                                            <p:cond delay="0"/>
                                          </p:stCondLst>
                                        </p:cTn>
                                        <p:tgtEl>
                                          <p:spTgt spid="169016"/>
                                        </p:tgtEl>
                                        <p:attrNameLst>
                                          <p:attrName>style.visibility</p:attrName>
                                        </p:attrNameLst>
                                      </p:cBhvr>
                                      <p:to>
                                        <p:strVal val="hidden"/>
                                      </p:to>
                                    </p:set>
                                  </p:childTnLst>
                                </p:cTn>
                              </p:par>
                              <p:par>
                                <p:cTn id="31" presetID="1" presetClass="entr" presetSubtype="0" fill="hold" grpId="0" nodeType="withEffect">
                                  <p:stCondLst>
                                    <p:cond delay="0"/>
                                  </p:stCondLst>
                                  <p:childTnLst>
                                    <p:set>
                                      <p:cBhvr>
                                        <p:cTn id="32" dur="1" fill="hold">
                                          <p:stCondLst>
                                            <p:cond delay="0"/>
                                          </p:stCondLst>
                                        </p:cTn>
                                        <p:tgtEl>
                                          <p:spTgt spid="169017"/>
                                        </p:tgtEl>
                                        <p:attrNameLst>
                                          <p:attrName>style.visibility</p:attrName>
                                        </p:attrNameLst>
                                      </p:cBhvr>
                                      <p:to>
                                        <p:strVal val="visible"/>
                                      </p:to>
                                    </p:set>
                                  </p:childTnLst>
                                </p:cTn>
                              </p:par>
                            </p:childTnLst>
                          </p:cTn>
                        </p:par>
                      </p:childTnLst>
                    </p:cTn>
                  </p:par>
                  <p:par>
                    <p:cTn id="33" fill="hold" nodeType="clickPar">
                      <p:stCondLst>
                        <p:cond delay="indefinite"/>
                      </p:stCondLst>
                      <p:childTnLst>
                        <p:par>
                          <p:cTn id="34" fill="hold" nodeType="withGroup">
                            <p:stCondLst>
                              <p:cond delay="0"/>
                            </p:stCondLst>
                            <p:childTnLst>
                              <p:par>
                                <p:cTn id="35" presetID="1" presetClass="entr" presetSubtype="0" fill="hold" nodeType="clickEffect">
                                  <p:stCondLst>
                                    <p:cond delay="0"/>
                                  </p:stCondLst>
                                  <p:childTnLst>
                                    <p:set>
                                      <p:cBhvr>
                                        <p:cTn id="36" dur="1" fill="hold">
                                          <p:stCondLst>
                                            <p:cond delay="0"/>
                                          </p:stCondLst>
                                        </p:cTn>
                                        <p:tgtEl>
                                          <p:spTgt spid="7"/>
                                        </p:tgtEl>
                                        <p:attrNameLst>
                                          <p:attrName>style.visibility</p:attrName>
                                        </p:attrNameLst>
                                      </p:cBhvr>
                                      <p:to>
                                        <p:strVal val="visible"/>
                                      </p:to>
                                    </p:set>
                                  </p:childTnLst>
                                </p:cTn>
                              </p:par>
                            </p:childTnLst>
                          </p:cTn>
                        </p:par>
                      </p:childTnLst>
                    </p:cTn>
                  </p:par>
                  <p:par>
                    <p:cTn id="37" fill="hold" nodeType="clickPar">
                      <p:stCondLst>
                        <p:cond delay="indefinite"/>
                      </p:stCondLst>
                      <p:childTnLst>
                        <p:par>
                          <p:cTn id="38" fill="hold" nodeType="withGroup">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69018"/>
                                        </p:tgtEl>
                                        <p:attrNameLst>
                                          <p:attrName>style.visibility</p:attrName>
                                        </p:attrNameLst>
                                      </p:cBhvr>
                                      <p:to>
                                        <p:strVal val="visible"/>
                                      </p:to>
                                    </p:set>
                                  </p:childTnLst>
                                </p:cTn>
                              </p:par>
                              <p:par>
                                <p:cTn id="41" presetID="1" presetClass="exit" presetSubtype="0" fill="hold" grpId="1" nodeType="withEffect">
                                  <p:stCondLst>
                                    <p:cond delay="0"/>
                                  </p:stCondLst>
                                  <p:childTnLst>
                                    <p:set>
                                      <p:cBhvr>
                                        <p:cTn id="42" dur="1" fill="hold">
                                          <p:stCondLst>
                                            <p:cond delay="0"/>
                                          </p:stCondLst>
                                        </p:cTn>
                                        <p:tgtEl>
                                          <p:spTgt spid="169017"/>
                                        </p:tgtEl>
                                        <p:attrNameLst>
                                          <p:attrName>style.visibility</p:attrName>
                                        </p:attrNameLst>
                                      </p:cBhvr>
                                      <p:to>
                                        <p:strVal val="hidden"/>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ntr" presetSubtype="0" fill="hold" nodeType="clickEffect">
                                  <p:stCondLst>
                                    <p:cond delay="0"/>
                                  </p:stCondLst>
                                  <p:childTnLst>
                                    <p:set>
                                      <p:cBhvr>
                                        <p:cTn id="46" dur="1" fill="hold">
                                          <p:stCondLst>
                                            <p:cond delay="0"/>
                                          </p:stCondLst>
                                        </p:cTn>
                                        <p:tgtEl>
                                          <p:spTgt spid="6"/>
                                        </p:tgtEl>
                                        <p:attrNameLst>
                                          <p:attrName>style.visibility</p:attrName>
                                        </p:attrNameLst>
                                      </p:cBhvr>
                                      <p:to>
                                        <p:strVal val="visible"/>
                                      </p:to>
                                    </p:set>
                                  </p:childTnLst>
                                </p:cTn>
                              </p:par>
                            </p:childTnLst>
                          </p:cTn>
                        </p:par>
                      </p:childTnLst>
                    </p:cTn>
                  </p:par>
                  <p:par>
                    <p:cTn id="47" fill="hold" nodeType="clickPar">
                      <p:stCondLst>
                        <p:cond delay="indefinite"/>
                      </p:stCondLst>
                      <p:childTnLst>
                        <p:par>
                          <p:cTn id="48" fill="hold" nodeType="withGroup">
                            <p:stCondLst>
                              <p:cond delay="0"/>
                            </p:stCondLst>
                            <p:childTnLst>
                              <p:par>
                                <p:cTn id="49" presetID="1" presetClass="exit" presetSubtype="0" fill="hold" grpId="1" nodeType="clickEffect">
                                  <p:stCondLst>
                                    <p:cond delay="0"/>
                                  </p:stCondLst>
                                  <p:childTnLst>
                                    <p:set>
                                      <p:cBhvr>
                                        <p:cTn id="50" dur="1" fill="hold">
                                          <p:stCondLst>
                                            <p:cond delay="0"/>
                                          </p:stCondLst>
                                        </p:cTn>
                                        <p:tgtEl>
                                          <p:spTgt spid="169018"/>
                                        </p:tgtEl>
                                        <p:attrNameLst>
                                          <p:attrName>style.visibility</p:attrName>
                                        </p:attrNameLst>
                                      </p:cBhvr>
                                      <p:to>
                                        <p:strVal val="hidden"/>
                                      </p:to>
                                    </p:set>
                                  </p:childTnLst>
                                </p:cTn>
                              </p:par>
                              <p:par>
                                <p:cTn id="51" presetID="1" presetClass="entr" presetSubtype="0" fill="hold" grpId="0" nodeType="withEffect">
                                  <p:stCondLst>
                                    <p:cond delay="0"/>
                                  </p:stCondLst>
                                  <p:childTnLst>
                                    <p:set>
                                      <p:cBhvr>
                                        <p:cTn id="52" dur="1" fill="hold">
                                          <p:stCondLst>
                                            <p:cond delay="0"/>
                                          </p:stCondLst>
                                        </p:cTn>
                                        <p:tgtEl>
                                          <p:spTgt spid="169019"/>
                                        </p:tgtEl>
                                        <p:attrNameLst>
                                          <p:attrName>style.visibility</p:attrName>
                                        </p:attrNameLst>
                                      </p:cBhvr>
                                      <p:to>
                                        <p:strVal val="visible"/>
                                      </p:to>
                                    </p:set>
                                  </p:childTnLst>
                                </p:cTn>
                              </p:par>
                            </p:childTnLst>
                          </p:cTn>
                        </p:par>
                      </p:childTnLst>
                    </p:cTn>
                  </p:par>
                  <p:par>
                    <p:cTn id="53" fill="hold" nodeType="clickPar">
                      <p:stCondLst>
                        <p:cond delay="indefinite"/>
                      </p:stCondLst>
                      <p:childTnLst>
                        <p:par>
                          <p:cTn id="54" fill="hold" nodeType="withGroup">
                            <p:stCondLst>
                              <p:cond delay="0"/>
                            </p:stCondLst>
                            <p:childTnLst>
                              <p:par>
                                <p:cTn id="55" presetID="1" presetClass="entr" presetSubtype="0" fill="hold" nodeType="clickEffect">
                                  <p:stCondLst>
                                    <p:cond delay="0"/>
                                  </p:stCondLst>
                                  <p:childTnLst>
                                    <p:set>
                                      <p:cBhvr>
                                        <p:cTn id="56" dur="1" fill="hold">
                                          <p:stCondLst>
                                            <p:cond delay="0"/>
                                          </p:stCondLst>
                                        </p:cTn>
                                        <p:tgtEl>
                                          <p:spTgt spid="4"/>
                                        </p:tgtEl>
                                        <p:attrNameLst>
                                          <p:attrName>style.visibility</p:attrName>
                                        </p:attrNameLst>
                                      </p:cBhvr>
                                      <p:to>
                                        <p:strVal val="visible"/>
                                      </p:to>
                                    </p:set>
                                  </p:childTnLst>
                                </p:cTn>
                              </p:par>
                            </p:childTnLst>
                          </p:cTn>
                        </p:par>
                      </p:childTnLst>
                    </p:cTn>
                  </p:par>
                  <p:par>
                    <p:cTn id="57" fill="hold" nodeType="clickPar">
                      <p:stCondLst>
                        <p:cond delay="indefinite"/>
                      </p:stCondLst>
                      <p:childTnLst>
                        <p:par>
                          <p:cTn id="58" fill="hold" nodeType="withGroup">
                            <p:stCondLst>
                              <p:cond delay="0"/>
                            </p:stCondLst>
                            <p:childTnLst>
                              <p:par>
                                <p:cTn id="59" presetID="1" presetClass="exit" presetSubtype="0" fill="hold" grpId="1" nodeType="clickEffect">
                                  <p:stCondLst>
                                    <p:cond delay="0"/>
                                  </p:stCondLst>
                                  <p:childTnLst>
                                    <p:set>
                                      <p:cBhvr>
                                        <p:cTn id="60" dur="1" fill="hold">
                                          <p:stCondLst>
                                            <p:cond delay="0"/>
                                          </p:stCondLst>
                                        </p:cTn>
                                        <p:tgtEl>
                                          <p:spTgt spid="169019"/>
                                        </p:tgtEl>
                                        <p:attrNameLst>
                                          <p:attrName>style.visibility</p:attrName>
                                        </p:attrNameLst>
                                      </p:cBhvr>
                                      <p:to>
                                        <p:strVal val="hidden"/>
                                      </p:to>
                                    </p:set>
                                  </p:childTnLst>
                                </p:cTn>
                              </p:par>
                              <p:par>
                                <p:cTn id="61" presetID="1" presetClass="entr" presetSubtype="0" fill="hold" grpId="0" nodeType="withEffect">
                                  <p:stCondLst>
                                    <p:cond delay="0"/>
                                  </p:stCondLst>
                                  <p:childTnLst>
                                    <p:set>
                                      <p:cBhvr>
                                        <p:cTn id="62" dur="1" fill="hold">
                                          <p:stCondLst>
                                            <p:cond delay="0"/>
                                          </p:stCondLst>
                                        </p:cTn>
                                        <p:tgtEl>
                                          <p:spTgt spid="169020"/>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169021"/>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169022"/>
                                        </p:tgtEl>
                                        <p:attrNameLst>
                                          <p:attrName>style.visibility</p:attrName>
                                        </p:attrNameLst>
                                      </p:cBhvr>
                                      <p:to>
                                        <p:strVal val="visible"/>
                                      </p:to>
                                    </p:set>
                                  </p:childTnLst>
                                </p:cTn>
                              </p:par>
                            </p:childTnLst>
                          </p:cTn>
                        </p:par>
                      </p:childTnLst>
                    </p:cTn>
                  </p:par>
                  <p:par>
                    <p:cTn id="67" fill="hold" nodeType="clickPar">
                      <p:stCondLst>
                        <p:cond delay="indefinite"/>
                      </p:stCondLst>
                      <p:childTnLst>
                        <p:par>
                          <p:cTn id="68" fill="hold" nodeType="withGroup">
                            <p:stCondLst>
                              <p:cond delay="0"/>
                            </p:stCondLst>
                            <p:childTnLst>
                              <p:par>
                                <p:cTn id="69" presetID="1" presetClass="entr" presetSubtype="0" fill="hold" nodeType="clickEffect">
                                  <p:stCondLst>
                                    <p:cond delay="0"/>
                                  </p:stCondLst>
                                  <p:childTnLst>
                                    <p:set>
                                      <p:cBhvr>
                                        <p:cTn id="70" dur="1" fill="hold">
                                          <p:stCondLst>
                                            <p:cond delay="0"/>
                                          </p:stCondLst>
                                        </p:cTn>
                                        <p:tgtEl>
                                          <p:spTgt spid="5"/>
                                        </p:tgtEl>
                                        <p:attrNameLst>
                                          <p:attrName>style.visibility</p:attrName>
                                        </p:attrNameLst>
                                      </p:cBhvr>
                                      <p:to>
                                        <p:strVal val="visible"/>
                                      </p:to>
                                    </p:set>
                                  </p:childTnLst>
                                </p:cTn>
                              </p:par>
                            </p:childTnLst>
                          </p:cTn>
                        </p:par>
                      </p:childTnLst>
                    </p:cTn>
                  </p:par>
                  <p:par>
                    <p:cTn id="71" fill="hold" nodeType="clickPar">
                      <p:stCondLst>
                        <p:cond delay="indefinite"/>
                      </p:stCondLst>
                      <p:childTnLst>
                        <p:par>
                          <p:cTn id="72" fill="hold" nodeType="withGroup">
                            <p:stCondLst>
                              <p:cond delay="0"/>
                            </p:stCondLst>
                            <p:childTnLst>
                              <p:par>
                                <p:cTn id="73" presetID="1" presetClass="exit" presetSubtype="0" fill="hold" grpId="1" nodeType="clickEffect">
                                  <p:stCondLst>
                                    <p:cond delay="0"/>
                                  </p:stCondLst>
                                  <p:childTnLst>
                                    <p:set>
                                      <p:cBhvr>
                                        <p:cTn id="74" dur="1" fill="hold">
                                          <p:stCondLst>
                                            <p:cond delay="0"/>
                                          </p:stCondLst>
                                        </p:cTn>
                                        <p:tgtEl>
                                          <p:spTgt spid="169020"/>
                                        </p:tgtEl>
                                        <p:attrNameLst>
                                          <p:attrName>style.visibility</p:attrName>
                                        </p:attrNameLst>
                                      </p:cBhvr>
                                      <p:to>
                                        <p:strVal val="hidden"/>
                                      </p:to>
                                    </p:set>
                                  </p:childTnLst>
                                </p:cTn>
                              </p:par>
                            </p:childTnLst>
                          </p:cTn>
                        </p:par>
                      </p:childTnLst>
                    </p:cTn>
                  </p:par>
                  <p:par>
                    <p:cTn id="75" fill="hold" nodeType="clickPar">
                      <p:stCondLst>
                        <p:cond delay="indefinite"/>
                      </p:stCondLst>
                      <p:childTnLst>
                        <p:par>
                          <p:cTn id="76" fill="hold" nodeType="withGroup">
                            <p:stCondLst>
                              <p:cond delay="0"/>
                            </p:stCondLst>
                            <p:childTnLst>
                              <p:par>
                                <p:cTn id="77" presetID="1" presetClass="entr" presetSubtype="0" fill="hold" nodeType="clickEffect">
                                  <p:stCondLst>
                                    <p:cond delay="0"/>
                                  </p:stCondLst>
                                  <p:childTnLst>
                                    <p:set>
                                      <p:cBhvr>
                                        <p:cTn id="7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8991" grpId="0" animBg="1"/>
      <p:bldP spid="168992" grpId="0" animBg="1"/>
      <p:bldP spid="168993" grpId="0" animBg="1"/>
      <p:bldP spid="168994" grpId="0" animBg="1"/>
      <p:bldP spid="168995" grpId="0" animBg="1"/>
      <p:bldP spid="168996" grpId="0" animBg="1"/>
      <p:bldP spid="168997" grpId="0" animBg="1"/>
      <p:bldP spid="169016" grpId="0" animBg="1"/>
      <p:bldP spid="169016" grpId="1" animBg="1"/>
      <p:bldP spid="169017" grpId="0" animBg="1"/>
      <p:bldP spid="169017" grpId="1" animBg="1"/>
      <p:bldP spid="169018" grpId="0" animBg="1"/>
      <p:bldP spid="169018" grpId="1" animBg="1"/>
      <p:bldP spid="169019" grpId="0" animBg="1"/>
      <p:bldP spid="169019" grpId="1" animBg="1"/>
      <p:bldP spid="169020" grpId="0" animBg="1"/>
      <p:bldP spid="169020" grpId="1" animBg="1"/>
      <p:bldP spid="169021" grpId="0" animBg="1"/>
      <p:bldP spid="169022" grpId="0" animBg="1"/>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93617D-A530-63AA-CC46-CE4A7FD06F32}"/>
            </a:ext>
          </a:extLst>
        </p:cNvPr>
        <p:cNvGrpSpPr/>
        <p:nvPr/>
      </p:nvGrpSpPr>
      <p:grpSpPr>
        <a:xfrm>
          <a:off x="0" y="0"/>
          <a:ext cx="0" cy="0"/>
          <a:chOff x="0" y="0"/>
          <a:chExt cx="0" cy="0"/>
        </a:xfrm>
      </p:grpSpPr>
      <p:sp>
        <p:nvSpPr>
          <p:cNvPr id="2" name="Rectangle 2">
            <a:extLst>
              <a:ext uri="{FF2B5EF4-FFF2-40B4-BE49-F238E27FC236}">
                <a16:creationId xmlns:a16="http://schemas.microsoft.com/office/drawing/2014/main" id="{DD0E7175-045D-A842-F77E-C5B337E15EA0}"/>
              </a:ext>
            </a:extLst>
          </p:cNvPr>
          <p:cNvSpPr txBox="1">
            <a:spLocks noChangeArrowheads="1"/>
          </p:cNvSpPr>
          <p:nvPr/>
        </p:nvSpPr>
        <p:spPr>
          <a:xfrm>
            <a:off x="474772" y="1230902"/>
            <a:ext cx="6485324"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8.4.4 </a:t>
            </a:r>
            <a:r>
              <a:rPr kumimoji="1" lang="zh-CN" altLang="en-US" dirty="0">
                <a:latin typeface="微软雅黑" pitchFamily="34" charset="-122"/>
                <a:ea typeface="微软雅黑" pitchFamily="34" charset="-122"/>
              </a:rPr>
              <a:t>克鲁斯卡尔算法 </a:t>
            </a:r>
            <a:r>
              <a:rPr kumimoji="1" lang="en-US" altLang="zh-CN" dirty="0">
                <a:latin typeface="微软雅黑" pitchFamily="34" charset="-122"/>
                <a:ea typeface="微软雅黑" pitchFamily="34" charset="-122"/>
              </a:rPr>
              <a:t>(Kruskal)</a:t>
            </a:r>
            <a:r>
              <a:rPr kumimoji="1" lang="zh-CN" altLang="en-US" dirty="0">
                <a:latin typeface="微软雅黑" pitchFamily="34" charset="-122"/>
                <a:ea typeface="微软雅黑" pitchFamily="34" charset="-122"/>
              </a:rPr>
              <a:t>算法</a:t>
            </a:r>
          </a:p>
        </p:txBody>
      </p:sp>
      <p:cxnSp>
        <p:nvCxnSpPr>
          <p:cNvPr id="3" name="直接连接符 2">
            <a:extLst>
              <a:ext uri="{FF2B5EF4-FFF2-40B4-BE49-F238E27FC236}">
                <a16:creationId xmlns:a16="http://schemas.microsoft.com/office/drawing/2014/main" id="{F1F5288B-5C6E-2ACE-6B10-5C4F927568F4}"/>
              </a:ext>
            </a:extLst>
          </p:cNvPr>
          <p:cNvCxnSpPr>
            <a:cxnSpLocks/>
          </p:cNvCxnSpPr>
          <p:nvPr/>
        </p:nvCxnSpPr>
        <p:spPr>
          <a:xfrm>
            <a:off x="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4" name="矩形 3">
            <a:extLst>
              <a:ext uri="{FF2B5EF4-FFF2-40B4-BE49-F238E27FC236}">
                <a16:creationId xmlns:a16="http://schemas.microsoft.com/office/drawing/2014/main" id="{12AC5042-4884-968C-E87B-4F4C849B40DE}"/>
              </a:ext>
            </a:extLst>
          </p:cNvPr>
          <p:cNvSpPr/>
          <p:nvPr/>
        </p:nvSpPr>
        <p:spPr>
          <a:xfrm>
            <a:off x="3394075" y="399838"/>
            <a:ext cx="4617860"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8.4 </a:t>
            </a:r>
            <a:r>
              <a:rPr lang="zh-CN" altLang="en-US" sz="3000" b="1" dirty="0">
                <a:latin typeface="黑体" pitchFamily="49" charset="-122"/>
                <a:ea typeface="黑体" pitchFamily="49" charset="-122"/>
                <a:cs typeface="经典粗黑简" pitchFamily="49" charset="-122"/>
              </a:rPr>
              <a:t>生成树和最小生成树</a:t>
            </a:r>
          </a:p>
        </p:txBody>
      </p:sp>
      <p:sp>
        <p:nvSpPr>
          <p:cNvPr id="5" name="Text Box 2">
            <a:extLst>
              <a:ext uri="{FF2B5EF4-FFF2-40B4-BE49-F238E27FC236}">
                <a16:creationId xmlns:a16="http://schemas.microsoft.com/office/drawing/2014/main" id="{4457F3C8-AF29-2D1F-29DA-398934F9C981}"/>
              </a:ext>
            </a:extLst>
          </p:cNvPr>
          <p:cNvSpPr txBox="1">
            <a:spLocks noChangeArrowheads="1"/>
          </p:cNvSpPr>
          <p:nvPr/>
        </p:nvSpPr>
        <p:spPr bwMode="auto">
          <a:xfrm>
            <a:off x="1343472" y="2492896"/>
            <a:ext cx="7643866" cy="430759"/>
          </a:xfrm>
          <a:prstGeom prst="rect">
            <a:avLst/>
          </a:prstGeom>
          <a:noFill/>
          <a:ln w="9525">
            <a:noFill/>
            <a:miter lim="800000"/>
            <a:headEnd/>
            <a:tailEnd/>
          </a:ln>
          <a:effectLst/>
        </p:spPr>
        <p:txBody>
          <a:bodyPr wrap="square">
            <a:spAutoFit/>
          </a:bodyPr>
          <a:lstStyle/>
          <a:p>
            <a:pPr algn="l">
              <a:lnSpc>
                <a:spcPct val="120000"/>
              </a:lnSpc>
              <a:spcBef>
                <a:spcPct val="50000"/>
              </a:spcBef>
            </a:pPr>
            <a:r>
              <a:rPr kumimoji="1" lang="zh-CN" altLang="en-US" sz="2000" dirty="0">
                <a:latin typeface="Consolas" pitchFamily="49" charset="0"/>
                <a:ea typeface="楷体" pitchFamily="49" charset="-122"/>
                <a:cs typeface="Consolas" pitchFamily="49" charset="0"/>
              </a:rPr>
              <a:t>按</a:t>
            </a:r>
            <a:r>
              <a:rPr kumimoji="1" lang="zh-CN" altLang="en-US" sz="2000" dirty="0">
                <a:solidFill>
                  <a:srgbClr val="CC00CC"/>
                </a:solidFill>
                <a:latin typeface="Consolas" pitchFamily="49" charset="0"/>
                <a:ea typeface="楷体" pitchFamily="49" charset="-122"/>
                <a:cs typeface="Consolas" pitchFamily="49" charset="0"/>
              </a:rPr>
              <a:t>权值的递增</a:t>
            </a:r>
            <a:r>
              <a:rPr kumimoji="1" lang="zh-CN" altLang="en-US" sz="2000" dirty="0">
                <a:latin typeface="Consolas" pitchFamily="49" charset="0"/>
                <a:ea typeface="楷体" pitchFamily="49" charset="-122"/>
                <a:cs typeface="Consolas" pitchFamily="49" charset="0"/>
              </a:rPr>
              <a:t>次序选择合适的边来构造最小生成树的方法。</a:t>
            </a:r>
          </a:p>
        </p:txBody>
      </p:sp>
      <p:sp>
        <p:nvSpPr>
          <p:cNvPr id="12" name="TextBox 4">
            <a:extLst>
              <a:ext uri="{FF2B5EF4-FFF2-40B4-BE49-F238E27FC236}">
                <a16:creationId xmlns:a16="http://schemas.microsoft.com/office/drawing/2014/main" id="{EAC088AF-EBB0-A29B-B7AD-9817FCDA30CD}"/>
              </a:ext>
            </a:extLst>
          </p:cNvPr>
          <p:cNvSpPr txBox="1"/>
          <p:nvPr/>
        </p:nvSpPr>
        <p:spPr>
          <a:xfrm>
            <a:off x="911424" y="1932287"/>
            <a:ext cx="9721080" cy="461537"/>
          </a:xfrm>
          <a:prstGeom prst="rect">
            <a:avLst/>
          </a:prstGeom>
          <a:noFill/>
        </p:spPr>
        <p:txBody>
          <a:bodyPr wrap="square" rtlCol="0">
            <a:spAutoFit/>
          </a:bodyPr>
          <a:lstStyle/>
          <a:p>
            <a:pPr algn="l">
              <a:lnSpc>
                <a:spcPts val="3200"/>
              </a:lnSpc>
            </a:pPr>
            <a:r>
              <a:rPr kumimoji="1" lang="zh-CN" altLang="en-US" sz="2000" dirty="0">
                <a:latin typeface="Consolas" pitchFamily="49" charset="0"/>
                <a:ea typeface="楷体" pitchFamily="49" charset="-122"/>
                <a:cs typeface="Consolas" pitchFamily="49" charset="0"/>
              </a:rPr>
              <a:t>   克鲁斯卡尔（</a:t>
            </a:r>
            <a:r>
              <a:rPr kumimoji="1" lang="en-US" altLang="zh-CN" sz="2000" dirty="0" err="1">
                <a:latin typeface="Consolas" pitchFamily="49" charset="0"/>
                <a:ea typeface="楷体" pitchFamily="49" charset="-122"/>
                <a:cs typeface="Consolas" pitchFamily="49" charset="0"/>
              </a:rPr>
              <a:t>Kruskal</a:t>
            </a:r>
            <a:r>
              <a:rPr kumimoji="1" lang="zh-CN" altLang="en-US" sz="2000" dirty="0">
                <a:latin typeface="Consolas" pitchFamily="49" charset="0"/>
                <a:ea typeface="楷体" pitchFamily="49" charset="-122"/>
                <a:cs typeface="Consolas" pitchFamily="49" charset="0"/>
              </a:rPr>
              <a:t>）算法也是一种求带权无向图的最小生成树的构造性算法。</a:t>
            </a:r>
            <a:endParaRPr lang="zh-CN" altLang="en-US" sz="2000" dirty="0">
              <a:latin typeface="Consolas" pitchFamily="49" charset="0"/>
              <a:ea typeface="楷体" pitchFamily="49" charset="-122"/>
              <a:cs typeface="Consolas" pitchFamily="49" charset="0"/>
            </a:endParaRPr>
          </a:p>
        </p:txBody>
      </p:sp>
      <p:sp>
        <p:nvSpPr>
          <p:cNvPr id="15" name="Text Box 2">
            <a:extLst>
              <a:ext uri="{FF2B5EF4-FFF2-40B4-BE49-F238E27FC236}">
                <a16:creationId xmlns:a16="http://schemas.microsoft.com/office/drawing/2014/main" id="{EF3C2022-FA86-C62F-F934-A6D380F95845}"/>
              </a:ext>
            </a:extLst>
          </p:cNvPr>
          <p:cNvSpPr txBox="1">
            <a:spLocks noChangeArrowheads="1"/>
          </p:cNvSpPr>
          <p:nvPr/>
        </p:nvSpPr>
        <p:spPr bwMode="auto">
          <a:xfrm>
            <a:off x="2351014" y="3216083"/>
            <a:ext cx="7553348" cy="400110"/>
          </a:xfrm>
          <a:prstGeom prst="rect">
            <a:avLst/>
          </a:prstGeom>
          <a:noFill/>
          <a:ln w="9525">
            <a:noFill/>
            <a:miter lim="800000"/>
            <a:headEnd/>
            <a:tailEnd/>
          </a:ln>
          <a:effectLst/>
        </p:spPr>
        <p:txBody>
          <a:bodyPr wrap="square">
            <a:spAutoFit/>
          </a:bodyPr>
          <a:lstStyle/>
          <a:p>
            <a:pPr algn="l">
              <a:spcBef>
                <a:spcPct val="50000"/>
              </a:spcBef>
            </a:pPr>
            <a:r>
              <a:rPr kumimoji="1" lang="zh-CN" altLang="en-US" sz="2000" dirty="0">
                <a:latin typeface="Consolas" pitchFamily="49" charset="0"/>
                <a:ea typeface="楷体" pitchFamily="49" charset="-122"/>
                <a:cs typeface="Consolas" pitchFamily="49" charset="0"/>
              </a:rPr>
              <a:t>克鲁斯卡尔（</a:t>
            </a:r>
            <a:r>
              <a:rPr kumimoji="1" lang="en-US" altLang="zh-CN" sz="2000" dirty="0" err="1">
                <a:latin typeface="Consolas" pitchFamily="49" charset="0"/>
                <a:ea typeface="楷体" pitchFamily="49" charset="-122"/>
                <a:cs typeface="Consolas" pitchFamily="49" charset="0"/>
              </a:rPr>
              <a:t>Kruskal</a:t>
            </a:r>
            <a:r>
              <a:rPr kumimoji="1" lang="zh-CN" altLang="en-US" sz="2000" dirty="0">
                <a:latin typeface="Consolas" pitchFamily="49" charset="0"/>
                <a:ea typeface="楷体" pitchFamily="49" charset="-122"/>
                <a:cs typeface="Consolas" pitchFamily="49" charset="0"/>
              </a:rPr>
              <a:t>）算法过程：构造最小生成树（</a:t>
            </a:r>
            <a:r>
              <a:rPr kumimoji="1" lang="en-US" altLang="zh-CN" sz="2000" dirty="0">
                <a:latin typeface="Consolas" pitchFamily="49" charset="0"/>
                <a:ea typeface="楷体" pitchFamily="49" charset="-122"/>
                <a:cs typeface="Consolas" pitchFamily="49" charset="0"/>
              </a:rPr>
              <a:t>U,TE</a:t>
            </a:r>
            <a:r>
              <a:rPr kumimoji="1" lang="zh-CN" altLang="en-US" sz="2000" dirty="0">
                <a:latin typeface="Consolas" pitchFamily="49" charset="0"/>
                <a:ea typeface="楷体" pitchFamily="49" charset="-122"/>
                <a:cs typeface="Consolas" pitchFamily="49" charset="0"/>
              </a:rPr>
              <a:t>）</a:t>
            </a:r>
          </a:p>
        </p:txBody>
      </p:sp>
      <p:sp>
        <p:nvSpPr>
          <p:cNvPr id="16" name="Text Box 3" descr="羊皮纸">
            <a:extLst>
              <a:ext uri="{FF2B5EF4-FFF2-40B4-BE49-F238E27FC236}">
                <a16:creationId xmlns:a16="http://schemas.microsoft.com/office/drawing/2014/main" id="{0E6D8155-0639-886D-4A4B-CAF4D43A2775}"/>
              </a:ext>
            </a:extLst>
          </p:cNvPr>
          <p:cNvSpPr txBox="1">
            <a:spLocks noChangeArrowheads="1"/>
          </p:cNvSpPr>
          <p:nvPr/>
        </p:nvSpPr>
        <p:spPr bwMode="auto">
          <a:xfrm>
            <a:off x="2279576" y="3859025"/>
            <a:ext cx="8137525" cy="2599137"/>
          </a:xfrm>
          <a:prstGeom prst="rect">
            <a:avLst/>
          </a:prstGeom>
          <a:solidFill>
            <a:schemeClr val="bg1">
              <a:lumMod val="95000"/>
            </a:schemeClr>
          </a:solidFill>
          <a:ln>
            <a:headEnd/>
            <a:tailEnd type="none" w="med" len="lg"/>
          </a:ln>
        </p:spPr>
        <p:style>
          <a:lnRef idx="1">
            <a:schemeClr val="accent5"/>
          </a:lnRef>
          <a:fillRef idx="2">
            <a:schemeClr val="accent5"/>
          </a:fillRef>
          <a:effectRef idx="1">
            <a:schemeClr val="accent5"/>
          </a:effectRef>
          <a:fontRef idx="minor">
            <a:schemeClr val="dk1"/>
          </a:fontRef>
        </p:style>
        <p:txBody>
          <a:bodyPr lIns="144000" tIns="144000" rIns="144000" bIns="144000">
            <a:spAutoFit/>
          </a:bodyPr>
          <a:lstStyle/>
          <a:p>
            <a:pPr algn="l">
              <a:lnSpc>
                <a:spcPct val="150000"/>
              </a:lnSpc>
            </a:pPr>
            <a:r>
              <a:rPr kumimoji="1" lang="en-US" altLang="zh-CN" sz="2000" dirty="0">
                <a:solidFill>
                  <a:srgbClr val="0000FF"/>
                </a:solidFill>
                <a:latin typeface="Consolas" pitchFamily="49" charset="0"/>
                <a:ea typeface="仿宋" pitchFamily="49" charset="-122"/>
                <a:cs typeface="Consolas" pitchFamily="49" charset="0"/>
              </a:rPr>
              <a:t>  </a:t>
            </a:r>
            <a:r>
              <a:rPr kumimoji="1" lang="zh-CN" altLang="en-US" sz="2000" dirty="0">
                <a:solidFill>
                  <a:srgbClr val="0000FF"/>
                </a:solidFill>
                <a:latin typeface="Consolas" pitchFamily="49" charset="0"/>
                <a:ea typeface="仿宋" pitchFamily="49" charset="-122"/>
                <a:cs typeface="Consolas" pitchFamily="49" charset="0"/>
              </a:rPr>
              <a:t>（</a:t>
            </a:r>
            <a:r>
              <a:rPr kumimoji="1" lang="en-US" altLang="zh-CN" sz="2000" dirty="0">
                <a:solidFill>
                  <a:srgbClr val="0000FF"/>
                </a:solidFill>
                <a:latin typeface="Consolas" pitchFamily="49" charset="0"/>
                <a:ea typeface="仿宋" pitchFamily="49" charset="-122"/>
                <a:cs typeface="Consolas" pitchFamily="49" charset="0"/>
              </a:rPr>
              <a:t>1</a:t>
            </a:r>
            <a:r>
              <a:rPr kumimoji="1" lang="zh-CN" altLang="en-US" sz="2000" dirty="0">
                <a:solidFill>
                  <a:srgbClr val="0000FF"/>
                </a:solidFill>
                <a:latin typeface="Consolas" pitchFamily="49" charset="0"/>
                <a:ea typeface="仿宋" pitchFamily="49" charset="-122"/>
                <a:cs typeface="Consolas" pitchFamily="49" charset="0"/>
              </a:rPr>
              <a:t>）置</a:t>
            </a:r>
            <a:r>
              <a:rPr kumimoji="1" lang="en-US" altLang="zh-CN" sz="2000" dirty="0">
                <a:solidFill>
                  <a:srgbClr val="0000FF"/>
                </a:solidFill>
                <a:latin typeface="Consolas" pitchFamily="49" charset="0"/>
                <a:ea typeface="仿宋" pitchFamily="49" charset="-122"/>
                <a:cs typeface="Consolas" pitchFamily="49" charset="0"/>
              </a:rPr>
              <a:t>U</a:t>
            </a:r>
            <a:r>
              <a:rPr kumimoji="1" lang="zh-CN" altLang="en-US" sz="2000" dirty="0">
                <a:solidFill>
                  <a:srgbClr val="0000FF"/>
                </a:solidFill>
                <a:latin typeface="Consolas" pitchFamily="49" charset="0"/>
                <a:ea typeface="仿宋" pitchFamily="49" charset="-122"/>
                <a:cs typeface="Consolas" pitchFamily="49" charset="0"/>
              </a:rPr>
              <a:t>的初值等于</a:t>
            </a:r>
            <a:r>
              <a:rPr kumimoji="1" lang="en-US" altLang="zh-CN" sz="2000" dirty="0">
                <a:solidFill>
                  <a:srgbClr val="0000FF"/>
                </a:solidFill>
                <a:latin typeface="Consolas" pitchFamily="49" charset="0"/>
                <a:ea typeface="仿宋" pitchFamily="49" charset="-122"/>
                <a:cs typeface="Consolas" pitchFamily="49" charset="0"/>
              </a:rPr>
              <a:t>V</a:t>
            </a:r>
            <a:r>
              <a:rPr kumimoji="1" lang="zh-CN" altLang="en-US" sz="2000" dirty="0">
                <a:solidFill>
                  <a:srgbClr val="0000FF"/>
                </a:solidFill>
                <a:latin typeface="Consolas" pitchFamily="49" charset="0"/>
                <a:ea typeface="仿宋" pitchFamily="49" charset="-122"/>
                <a:cs typeface="Consolas" pitchFamily="49" charset="0"/>
              </a:rPr>
              <a:t>（即包含有</a:t>
            </a:r>
            <a:r>
              <a:rPr kumimoji="1" lang="en-US" altLang="zh-CN" sz="2000" dirty="0">
                <a:solidFill>
                  <a:srgbClr val="0000FF"/>
                </a:solidFill>
                <a:latin typeface="Consolas" pitchFamily="49" charset="0"/>
                <a:ea typeface="仿宋" pitchFamily="49" charset="-122"/>
                <a:cs typeface="Consolas" pitchFamily="49" charset="0"/>
              </a:rPr>
              <a:t>G</a:t>
            </a:r>
            <a:r>
              <a:rPr kumimoji="1" lang="zh-CN" altLang="en-US" sz="2000" dirty="0">
                <a:solidFill>
                  <a:srgbClr val="0000FF"/>
                </a:solidFill>
                <a:latin typeface="Consolas" pitchFamily="49" charset="0"/>
                <a:ea typeface="仿宋" pitchFamily="49" charset="-122"/>
                <a:cs typeface="Consolas" pitchFamily="49" charset="0"/>
              </a:rPr>
              <a:t>中的全部顶点），</a:t>
            </a:r>
            <a:r>
              <a:rPr kumimoji="1" lang="en-US" altLang="zh-CN" sz="2000" dirty="0">
                <a:solidFill>
                  <a:srgbClr val="FF0000"/>
                </a:solidFill>
                <a:latin typeface="Consolas" pitchFamily="49" charset="0"/>
                <a:ea typeface="仿宋" pitchFamily="49" charset="-122"/>
                <a:cs typeface="Consolas" pitchFamily="49" charset="0"/>
              </a:rPr>
              <a:t>TE</a:t>
            </a:r>
            <a:r>
              <a:rPr kumimoji="1" lang="zh-CN" altLang="en-US" sz="2000" dirty="0">
                <a:solidFill>
                  <a:srgbClr val="0000FF"/>
                </a:solidFill>
                <a:latin typeface="Consolas" pitchFamily="49" charset="0"/>
                <a:ea typeface="仿宋" pitchFamily="49" charset="-122"/>
                <a:cs typeface="Consolas" pitchFamily="49" charset="0"/>
              </a:rPr>
              <a:t>的初值为空集（即图</a:t>
            </a:r>
            <a:r>
              <a:rPr kumimoji="1" lang="en-US" altLang="zh-CN" sz="2000" dirty="0">
                <a:solidFill>
                  <a:srgbClr val="0000FF"/>
                </a:solidFill>
                <a:latin typeface="Consolas" pitchFamily="49" charset="0"/>
                <a:ea typeface="仿宋" pitchFamily="49" charset="-122"/>
                <a:cs typeface="Consolas" pitchFamily="49" charset="0"/>
              </a:rPr>
              <a:t>T</a:t>
            </a:r>
            <a:r>
              <a:rPr kumimoji="1" lang="zh-CN" altLang="en-US" sz="2000" dirty="0">
                <a:solidFill>
                  <a:srgbClr val="0000FF"/>
                </a:solidFill>
                <a:latin typeface="Consolas" pitchFamily="49" charset="0"/>
                <a:ea typeface="仿宋" pitchFamily="49" charset="-122"/>
                <a:cs typeface="Consolas" pitchFamily="49" charset="0"/>
              </a:rPr>
              <a:t>中每一个顶点都构成一个连通分量）。</a:t>
            </a:r>
          </a:p>
          <a:p>
            <a:pPr algn="l">
              <a:lnSpc>
                <a:spcPct val="150000"/>
              </a:lnSpc>
            </a:pPr>
            <a:r>
              <a:rPr kumimoji="1" lang="zh-CN" altLang="en-US" sz="2000" dirty="0">
                <a:solidFill>
                  <a:srgbClr val="0000FF"/>
                </a:solidFill>
                <a:latin typeface="Consolas" pitchFamily="49" charset="0"/>
                <a:ea typeface="仿宋" pitchFamily="49" charset="-122"/>
                <a:cs typeface="Consolas" pitchFamily="49" charset="0"/>
              </a:rPr>
              <a:t>  （</a:t>
            </a:r>
            <a:r>
              <a:rPr kumimoji="1" lang="en-US" altLang="zh-CN" sz="2000" dirty="0">
                <a:solidFill>
                  <a:srgbClr val="0000FF"/>
                </a:solidFill>
                <a:latin typeface="Consolas" pitchFamily="49" charset="0"/>
                <a:ea typeface="仿宋" pitchFamily="49" charset="-122"/>
                <a:cs typeface="Consolas" pitchFamily="49" charset="0"/>
              </a:rPr>
              <a:t>2</a:t>
            </a:r>
            <a:r>
              <a:rPr kumimoji="1" lang="zh-CN" altLang="en-US" sz="2000" dirty="0">
                <a:solidFill>
                  <a:srgbClr val="0000FF"/>
                </a:solidFill>
                <a:latin typeface="Consolas" pitchFamily="49" charset="0"/>
                <a:ea typeface="仿宋" pitchFamily="49" charset="-122"/>
                <a:cs typeface="Consolas" pitchFamily="49" charset="0"/>
              </a:rPr>
              <a:t>）将图</a:t>
            </a:r>
            <a:r>
              <a:rPr kumimoji="1" lang="en-US" altLang="zh-CN" sz="2000" dirty="0">
                <a:solidFill>
                  <a:srgbClr val="0000FF"/>
                </a:solidFill>
                <a:latin typeface="Consolas" pitchFamily="49" charset="0"/>
                <a:ea typeface="仿宋" pitchFamily="49" charset="-122"/>
                <a:cs typeface="Consolas" pitchFamily="49" charset="0"/>
              </a:rPr>
              <a:t>G</a:t>
            </a:r>
            <a:r>
              <a:rPr kumimoji="1" lang="zh-CN" altLang="en-US" sz="2000" dirty="0">
                <a:solidFill>
                  <a:srgbClr val="0000FF"/>
                </a:solidFill>
                <a:latin typeface="Consolas" pitchFamily="49" charset="0"/>
                <a:ea typeface="仿宋" pitchFamily="49" charset="-122"/>
                <a:cs typeface="Consolas" pitchFamily="49" charset="0"/>
              </a:rPr>
              <a:t>中的边按权值</a:t>
            </a:r>
            <a:r>
              <a:rPr kumimoji="1" lang="zh-CN" altLang="en-US" sz="2000" dirty="0">
                <a:solidFill>
                  <a:srgbClr val="C00000"/>
                </a:solidFill>
                <a:latin typeface="Consolas" pitchFamily="49" charset="0"/>
                <a:ea typeface="仿宋" pitchFamily="49" charset="-122"/>
                <a:cs typeface="Consolas" pitchFamily="49" charset="0"/>
              </a:rPr>
              <a:t>从小到大</a:t>
            </a:r>
            <a:r>
              <a:rPr kumimoji="1" lang="zh-CN" altLang="en-US" sz="2000" dirty="0">
                <a:solidFill>
                  <a:srgbClr val="0000FF"/>
                </a:solidFill>
                <a:latin typeface="Consolas" pitchFamily="49" charset="0"/>
                <a:ea typeface="仿宋" pitchFamily="49" charset="-122"/>
                <a:cs typeface="Consolas" pitchFamily="49" charset="0"/>
              </a:rPr>
              <a:t>的顺序依次选取：</a:t>
            </a:r>
            <a:endParaRPr kumimoji="1" lang="en-US" altLang="zh-CN" sz="2000" dirty="0">
              <a:solidFill>
                <a:srgbClr val="0000FF"/>
              </a:solidFill>
              <a:latin typeface="Consolas" pitchFamily="49" charset="0"/>
              <a:ea typeface="仿宋" pitchFamily="49" charset="-122"/>
              <a:cs typeface="Consolas" pitchFamily="49" charset="0"/>
            </a:endParaRPr>
          </a:p>
          <a:p>
            <a:pPr algn="l">
              <a:lnSpc>
                <a:spcPct val="150000"/>
              </a:lnSpc>
            </a:pPr>
            <a:r>
              <a:rPr kumimoji="1" lang="en-US" altLang="zh-CN" sz="2000" dirty="0">
                <a:solidFill>
                  <a:srgbClr val="0000FF"/>
                </a:solidFill>
                <a:latin typeface="Consolas" pitchFamily="49" charset="0"/>
                <a:ea typeface="仿宋" pitchFamily="49" charset="-122"/>
                <a:cs typeface="Consolas" pitchFamily="49" charset="0"/>
              </a:rPr>
              <a:t>     </a:t>
            </a:r>
            <a:r>
              <a:rPr kumimoji="1" lang="en-US" altLang="zh-CN" sz="2000" dirty="0">
                <a:solidFill>
                  <a:srgbClr val="0000FF"/>
                </a:solidFill>
                <a:latin typeface="Consolas" pitchFamily="49" charset="0"/>
                <a:ea typeface="仿宋" pitchFamily="49" charset="-122"/>
                <a:cs typeface="Consolas" pitchFamily="49" charset="0"/>
                <a:sym typeface="Wingdings"/>
              </a:rPr>
              <a:t></a:t>
            </a:r>
            <a:r>
              <a:rPr kumimoji="1" lang="en-US" altLang="zh-CN" sz="2000" dirty="0">
                <a:solidFill>
                  <a:srgbClr val="0000FF"/>
                </a:solidFill>
                <a:latin typeface="Consolas" pitchFamily="49" charset="0"/>
                <a:ea typeface="仿宋" pitchFamily="49" charset="-122"/>
                <a:cs typeface="Consolas" pitchFamily="49" charset="0"/>
              </a:rPr>
              <a:t> </a:t>
            </a:r>
            <a:r>
              <a:rPr kumimoji="1" lang="zh-CN" altLang="en-US" sz="2000" dirty="0">
                <a:solidFill>
                  <a:srgbClr val="0000FF"/>
                </a:solidFill>
                <a:latin typeface="Consolas" pitchFamily="49" charset="0"/>
                <a:ea typeface="仿宋" pitchFamily="49" charset="-122"/>
                <a:cs typeface="Consolas" pitchFamily="49" charset="0"/>
              </a:rPr>
              <a:t>若选取的边未使生成树</a:t>
            </a:r>
            <a:r>
              <a:rPr kumimoji="1" lang="en-US" altLang="zh-CN" sz="2000" dirty="0">
                <a:solidFill>
                  <a:srgbClr val="0000FF"/>
                </a:solidFill>
                <a:latin typeface="Consolas" pitchFamily="49" charset="0"/>
                <a:ea typeface="仿宋" pitchFamily="49" charset="-122"/>
                <a:cs typeface="Consolas" pitchFamily="49" charset="0"/>
              </a:rPr>
              <a:t>T</a:t>
            </a:r>
            <a:r>
              <a:rPr kumimoji="1" lang="zh-CN" altLang="en-US" sz="2000" dirty="0">
                <a:solidFill>
                  <a:srgbClr val="0000FF"/>
                </a:solidFill>
                <a:latin typeface="Consolas" pitchFamily="49" charset="0"/>
                <a:ea typeface="仿宋" pitchFamily="49" charset="-122"/>
                <a:cs typeface="Consolas" pitchFamily="49" charset="0"/>
              </a:rPr>
              <a:t>形成回路，则加入</a:t>
            </a:r>
            <a:r>
              <a:rPr kumimoji="1" lang="en-US" altLang="zh-CN" sz="2000" dirty="0">
                <a:solidFill>
                  <a:srgbClr val="0000FF"/>
                </a:solidFill>
                <a:latin typeface="Consolas" pitchFamily="49" charset="0"/>
                <a:ea typeface="仿宋" pitchFamily="49" charset="-122"/>
                <a:cs typeface="Consolas" pitchFamily="49" charset="0"/>
              </a:rPr>
              <a:t>TE</a:t>
            </a:r>
            <a:r>
              <a:rPr kumimoji="1" lang="zh-CN" altLang="en-US" sz="2000" dirty="0">
                <a:solidFill>
                  <a:srgbClr val="0000FF"/>
                </a:solidFill>
                <a:latin typeface="Consolas" pitchFamily="49" charset="0"/>
                <a:ea typeface="仿宋" pitchFamily="49" charset="-122"/>
                <a:cs typeface="Consolas" pitchFamily="49" charset="0"/>
              </a:rPr>
              <a:t>；</a:t>
            </a:r>
            <a:endParaRPr kumimoji="1" lang="en-US" altLang="zh-CN" sz="2000" dirty="0">
              <a:solidFill>
                <a:srgbClr val="0000FF"/>
              </a:solidFill>
              <a:latin typeface="Consolas" pitchFamily="49" charset="0"/>
              <a:ea typeface="仿宋" pitchFamily="49" charset="-122"/>
              <a:cs typeface="Consolas" pitchFamily="49" charset="0"/>
            </a:endParaRPr>
          </a:p>
          <a:p>
            <a:pPr algn="l">
              <a:lnSpc>
                <a:spcPct val="150000"/>
              </a:lnSpc>
            </a:pPr>
            <a:r>
              <a:rPr kumimoji="1" lang="en-US" altLang="zh-CN" sz="2000" dirty="0">
                <a:solidFill>
                  <a:srgbClr val="0000FF"/>
                </a:solidFill>
                <a:latin typeface="Consolas" pitchFamily="49" charset="0"/>
                <a:ea typeface="仿宋" pitchFamily="49" charset="-122"/>
                <a:cs typeface="Consolas" pitchFamily="49" charset="0"/>
              </a:rPr>
              <a:t>     </a:t>
            </a:r>
            <a:r>
              <a:rPr kumimoji="1" lang="en-US" altLang="zh-CN" sz="2000" dirty="0">
                <a:solidFill>
                  <a:srgbClr val="0000FF"/>
                </a:solidFill>
                <a:latin typeface="Consolas" pitchFamily="49" charset="0"/>
                <a:ea typeface="仿宋" pitchFamily="49" charset="-122"/>
                <a:cs typeface="Consolas" pitchFamily="49" charset="0"/>
                <a:sym typeface="Wingdings"/>
              </a:rPr>
              <a:t></a:t>
            </a:r>
            <a:r>
              <a:rPr kumimoji="1" lang="en-US" altLang="zh-CN" sz="2000" dirty="0">
                <a:solidFill>
                  <a:srgbClr val="0000FF"/>
                </a:solidFill>
                <a:latin typeface="Consolas" pitchFamily="49" charset="0"/>
                <a:ea typeface="仿宋" pitchFamily="49" charset="-122"/>
                <a:cs typeface="Consolas" pitchFamily="49" charset="0"/>
              </a:rPr>
              <a:t> </a:t>
            </a:r>
            <a:r>
              <a:rPr kumimoji="1" lang="zh-CN" altLang="en-US" sz="2000" dirty="0">
                <a:solidFill>
                  <a:srgbClr val="0000FF"/>
                </a:solidFill>
                <a:latin typeface="Consolas" pitchFamily="49" charset="0"/>
                <a:ea typeface="仿宋" pitchFamily="49" charset="-122"/>
                <a:cs typeface="Consolas" pitchFamily="49" charset="0"/>
              </a:rPr>
              <a:t>否则舍弃，直到</a:t>
            </a:r>
            <a:r>
              <a:rPr kumimoji="1" lang="en-US" altLang="zh-CN" sz="2000" dirty="0">
                <a:solidFill>
                  <a:srgbClr val="0000FF"/>
                </a:solidFill>
                <a:latin typeface="Consolas" pitchFamily="49" charset="0"/>
                <a:ea typeface="仿宋" pitchFamily="49" charset="-122"/>
                <a:cs typeface="Consolas" pitchFamily="49" charset="0"/>
              </a:rPr>
              <a:t>TE</a:t>
            </a:r>
            <a:r>
              <a:rPr kumimoji="1" lang="zh-CN" altLang="en-US" sz="2000" dirty="0">
                <a:solidFill>
                  <a:srgbClr val="0000FF"/>
                </a:solidFill>
                <a:latin typeface="Consolas" pitchFamily="49" charset="0"/>
                <a:ea typeface="仿宋" pitchFamily="49" charset="-122"/>
                <a:cs typeface="Consolas" pitchFamily="49" charset="0"/>
              </a:rPr>
              <a:t>中包含</a:t>
            </a:r>
            <a:r>
              <a:rPr kumimoji="1" lang="en-US" altLang="zh-CN" sz="2000" dirty="0">
                <a:solidFill>
                  <a:srgbClr val="0000FF"/>
                </a:solidFill>
                <a:latin typeface="Consolas" pitchFamily="49" charset="0"/>
                <a:ea typeface="仿宋" pitchFamily="49" charset="-122"/>
                <a:cs typeface="Consolas" pitchFamily="49" charset="0"/>
              </a:rPr>
              <a:t>(</a:t>
            </a:r>
            <a:r>
              <a:rPr kumimoji="1" lang="en-US" altLang="zh-CN" sz="2000" i="1" dirty="0">
                <a:solidFill>
                  <a:srgbClr val="0000FF"/>
                </a:solidFill>
                <a:latin typeface="Consolas" pitchFamily="49" charset="0"/>
                <a:ea typeface="仿宋" pitchFamily="49" charset="-122"/>
                <a:cs typeface="Consolas" pitchFamily="49" charset="0"/>
              </a:rPr>
              <a:t>n</a:t>
            </a:r>
            <a:r>
              <a:rPr kumimoji="1" lang="en-US" altLang="zh-CN" sz="2000" dirty="0">
                <a:solidFill>
                  <a:srgbClr val="0000FF"/>
                </a:solidFill>
                <a:latin typeface="Consolas" pitchFamily="49" charset="0"/>
                <a:ea typeface="仿宋" pitchFamily="49" charset="-122"/>
                <a:cs typeface="Consolas" pitchFamily="49" charset="0"/>
              </a:rPr>
              <a:t>-1)</a:t>
            </a:r>
            <a:r>
              <a:rPr kumimoji="1" lang="zh-CN" altLang="en-US" sz="2000" dirty="0">
                <a:solidFill>
                  <a:srgbClr val="0000FF"/>
                </a:solidFill>
                <a:latin typeface="Consolas" pitchFamily="49" charset="0"/>
                <a:ea typeface="仿宋" pitchFamily="49" charset="-122"/>
                <a:cs typeface="Consolas" pitchFamily="49" charset="0"/>
              </a:rPr>
              <a:t>条边为止。</a:t>
            </a:r>
            <a:endParaRPr lang="zh-CN" altLang="en-US" sz="2000" b="0" dirty="0">
              <a:solidFill>
                <a:srgbClr val="0000FF"/>
              </a:solidFill>
              <a:latin typeface="Consolas" pitchFamily="49" charset="0"/>
              <a:ea typeface="仿宋" pitchFamily="49" charset="-122"/>
              <a:cs typeface="Consolas" pitchFamily="49" charset="0"/>
            </a:endParaRPr>
          </a:p>
        </p:txBody>
      </p:sp>
    </p:spTree>
    <p:extLst>
      <p:ext uri="{BB962C8B-B14F-4D97-AF65-F5344CB8AC3E}">
        <p14:creationId xmlns:p14="http://schemas.microsoft.com/office/powerpoint/2010/main" val="28081902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
                                            <p:txEl>
                                              <p:pRg st="1" end="1"/>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6">
                                            <p:txEl>
                                              <p:pRg st="2" end="2"/>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033824-43AD-E3CE-CF49-57D20D16D2E1}"/>
            </a:ext>
          </a:extLst>
        </p:cNvPr>
        <p:cNvGrpSpPr/>
        <p:nvPr/>
      </p:nvGrpSpPr>
      <p:grpSpPr>
        <a:xfrm>
          <a:off x="0" y="0"/>
          <a:ext cx="0" cy="0"/>
          <a:chOff x="0" y="0"/>
          <a:chExt cx="0" cy="0"/>
        </a:xfrm>
      </p:grpSpPr>
      <p:sp>
        <p:nvSpPr>
          <p:cNvPr id="2" name="Rectangle 2">
            <a:extLst>
              <a:ext uri="{FF2B5EF4-FFF2-40B4-BE49-F238E27FC236}">
                <a16:creationId xmlns:a16="http://schemas.microsoft.com/office/drawing/2014/main" id="{CFEFBAE6-DBED-FC94-E883-67EE3FCF772D}"/>
              </a:ext>
            </a:extLst>
          </p:cNvPr>
          <p:cNvSpPr txBox="1">
            <a:spLocks noChangeArrowheads="1"/>
          </p:cNvSpPr>
          <p:nvPr/>
        </p:nvSpPr>
        <p:spPr>
          <a:xfrm>
            <a:off x="474772" y="1230902"/>
            <a:ext cx="6485324"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8.4.4 </a:t>
            </a:r>
            <a:r>
              <a:rPr kumimoji="1" lang="zh-CN" altLang="en-US" dirty="0">
                <a:latin typeface="微软雅黑" pitchFamily="34" charset="-122"/>
                <a:ea typeface="微软雅黑" pitchFamily="34" charset="-122"/>
              </a:rPr>
              <a:t>克鲁斯卡尔算法 </a:t>
            </a:r>
            <a:r>
              <a:rPr kumimoji="1" lang="en-US" altLang="zh-CN" dirty="0">
                <a:latin typeface="微软雅黑" pitchFamily="34" charset="-122"/>
                <a:ea typeface="微软雅黑" pitchFamily="34" charset="-122"/>
              </a:rPr>
              <a:t>(Kruskal)</a:t>
            </a:r>
            <a:r>
              <a:rPr kumimoji="1" lang="zh-CN" altLang="en-US" dirty="0">
                <a:latin typeface="微软雅黑" pitchFamily="34" charset="-122"/>
                <a:ea typeface="微软雅黑" pitchFamily="34" charset="-122"/>
              </a:rPr>
              <a:t>算法</a:t>
            </a:r>
          </a:p>
        </p:txBody>
      </p:sp>
      <p:cxnSp>
        <p:nvCxnSpPr>
          <p:cNvPr id="3" name="直接连接符 2">
            <a:extLst>
              <a:ext uri="{FF2B5EF4-FFF2-40B4-BE49-F238E27FC236}">
                <a16:creationId xmlns:a16="http://schemas.microsoft.com/office/drawing/2014/main" id="{131321E3-C196-2AF6-5336-6AE86811E8E3}"/>
              </a:ext>
            </a:extLst>
          </p:cNvPr>
          <p:cNvCxnSpPr>
            <a:cxnSpLocks/>
          </p:cNvCxnSpPr>
          <p:nvPr/>
        </p:nvCxnSpPr>
        <p:spPr>
          <a:xfrm>
            <a:off x="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4" name="矩形 3">
            <a:extLst>
              <a:ext uri="{FF2B5EF4-FFF2-40B4-BE49-F238E27FC236}">
                <a16:creationId xmlns:a16="http://schemas.microsoft.com/office/drawing/2014/main" id="{3B35BCF7-A41B-39BF-FE61-53D53A6A679B}"/>
              </a:ext>
            </a:extLst>
          </p:cNvPr>
          <p:cNvSpPr/>
          <p:nvPr/>
        </p:nvSpPr>
        <p:spPr>
          <a:xfrm>
            <a:off x="3394075" y="399838"/>
            <a:ext cx="4617860"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8.4 </a:t>
            </a:r>
            <a:r>
              <a:rPr lang="zh-CN" altLang="en-US" sz="3000" b="1" dirty="0">
                <a:latin typeface="黑体" pitchFamily="49" charset="-122"/>
                <a:ea typeface="黑体" pitchFamily="49" charset="-122"/>
                <a:cs typeface="经典粗黑简" pitchFamily="49" charset="-122"/>
              </a:rPr>
              <a:t>生成树和最小生成树</a:t>
            </a:r>
          </a:p>
        </p:txBody>
      </p:sp>
      <p:sp>
        <p:nvSpPr>
          <p:cNvPr id="6" name="Text Box 2">
            <a:extLst>
              <a:ext uri="{FF2B5EF4-FFF2-40B4-BE49-F238E27FC236}">
                <a16:creationId xmlns:a16="http://schemas.microsoft.com/office/drawing/2014/main" id="{8F16058F-50E0-06FF-92EE-941E837BABAE}"/>
              </a:ext>
            </a:extLst>
          </p:cNvPr>
          <p:cNvSpPr txBox="1">
            <a:spLocks noChangeArrowheads="1"/>
          </p:cNvSpPr>
          <p:nvPr/>
        </p:nvSpPr>
        <p:spPr bwMode="auto">
          <a:xfrm>
            <a:off x="1414910" y="1861800"/>
            <a:ext cx="7553348" cy="400110"/>
          </a:xfrm>
          <a:prstGeom prst="rect">
            <a:avLst/>
          </a:prstGeom>
          <a:noFill/>
          <a:ln w="9525">
            <a:noFill/>
            <a:miter lim="800000"/>
            <a:headEnd/>
            <a:tailEnd/>
          </a:ln>
          <a:effectLst/>
        </p:spPr>
        <p:txBody>
          <a:bodyPr wrap="square">
            <a:spAutoFit/>
          </a:bodyPr>
          <a:lstStyle/>
          <a:p>
            <a:pPr algn="l">
              <a:spcBef>
                <a:spcPct val="50000"/>
              </a:spcBef>
            </a:pPr>
            <a:r>
              <a:rPr kumimoji="1" lang="zh-CN" altLang="en-US" sz="2000" dirty="0">
                <a:latin typeface="Consolas" pitchFamily="49" charset="0"/>
                <a:ea typeface="楷体" pitchFamily="49" charset="-122"/>
                <a:cs typeface="Consolas" pitchFamily="49" charset="0"/>
              </a:rPr>
              <a:t>克鲁斯卡尔（</a:t>
            </a:r>
            <a:r>
              <a:rPr kumimoji="1" lang="en-US" altLang="zh-CN" sz="2000" dirty="0" err="1">
                <a:latin typeface="Consolas" pitchFamily="49" charset="0"/>
                <a:ea typeface="楷体" pitchFamily="49" charset="-122"/>
                <a:cs typeface="Consolas" pitchFamily="49" charset="0"/>
              </a:rPr>
              <a:t>Kruskal</a:t>
            </a:r>
            <a:r>
              <a:rPr kumimoji="1" lang="zh-CN" altLang="en-US" sz="2000" dirty="0">
                <a:latin typeface="Consolas" pitchFamily="49" charset="0"/>
                <a:ea typeface="楷体" pitchFamily="49" charset="-122"/>
                <a:cs typeface="Consolas" pitchFamily="49" charset="0"/>
              </a:rPr>
              <a:t>）算法过</a:t>
            </a:r>
            <a:r>
              <a:rPr kumimoji="1" lang="zh-CN" altLang="en-US" sz="2000">
                <a:latin typeface="Consolas" pitchFamily="49" charset="0"/>
                <a:ea typeface="楷体" pitchFamily="49" charset="-122"/>
                <a:cs typeface="Consolas" pitchFamily="49" charset="0"/>
              </a:rPr>
              <a:t>程：构造最小生成树（</a:t>
            </a:r>
            <a:r>
              <a:rPr kumimoji="1" lang="en-US" altLang="zh-CN" sz="2000">
                <a:latin typeface="Consolas" pitchFamily="49" charset="0"/>
                <a:ea typeface="楷体" pitchFamily="49" charset="-122"/>
                <a:cs typeface="Consolas" pitchFamily="49" charset="0"/>
              </a:rPr>
              <a:t>U,TE</a:t>
            </a:r>
            <a:r>
              <a:rPr kumimoji="1" lang="zh-CN" altLang="en-US" sz="2000">
                <a:latin typeface="Consolas" pitchFamily="49" charset="0"/>
                <a:ea typeface="楷体" pitchFamily="49" charset="-122"/>
                <a:cs typeface="Consolas" pitchFamily="49" charset="0"/>
              </a:rPr>
              <a:t>）</a:t>
            </a:r>
            <a:endParaRPr kumimoji="1" lang="zh-CN" altLang="en-US" sz="2000" dirty="0">
              <a:latin typeface="Consolas" pitchFamily="49" charset="0"/>
              <a:ea typeface="楷体" pitchFamily="49" charset="-122"/>
              <a:cs typeface="Consolas" pitchFamily="49" charset="0"/>
            </a:endParaRPr>
          </a:p>
        </p:txBody>
      </p:sp>
      <p:sp>
        <p:nvSpPr>
          <p:cNvPr id="7" name="Text Box 3" descr="羊皮纸">
            <a:extLst>
              <a:ext uri="{FF2B5EF4-FFF2-40B4-BE49-F238E27FC236}">
                <a16:creationId xmlns:a16="http://schemas.microsoft.com/office/drawing/2014/main" id="{16D85A98-1033-0312-805A-A341DFE3502F}"/>
              </a:ext>
            </a:extLst>
          </p:cNvPr>
          <p:cNvSpPr txBox="1">
            <a:spLocks noChangeArrowheads="1"/>
          </p:cNvSpPr>
          <p:nvPr/>
        </p:nvSpPr>
        <p:spPr bwMode="auto">
          <a:xfrm>
            <a:off x="1271464" y="2274774"/>
            <a:ext cx="8137525" cy="1996921"/>
          </a:xfrm>
          <a:prstGeom prst="rect">
            <a:avLst/>
          </a:prstGeom>
          <a:solidFill>
            <a:schemeClr val="bg1">
              <a:lumMod val="95000"/>
            </a:schemeClr>
          </a:solidFill>
          <a:ln>
            <a:headEnd/>
            <a:tailEnd type="none" w="med" len="lg"/>
          </a:ln>
        </p:spPr>
        <p:style>
          <a:lnRef idx="1">
            <a:schemeClr val="accent5"/>
          </a:lnRef>
          <a:fillRef idx="2">
            <a:schemeClr val="accent5"/>
          </a:fillRef>
          <a:effectRef idx="1">
            <a:schemeClr val="accent5"/>
          </a:effectRef>
          <a:fontRef idx="minor">
            <a:schemeClr val="dk1"/>
          </a:fontRef>
        </p:style>
        <p:txBody>
          <a:bodyPr lIns="144000" tIns="144000" rIns="144000" bIns="144000">
            <a:spAutoFit/>
          </a:bodyPr>
          <a:lstStyle/>
          <a:p>
            <a:pPr algn="l">
              <a:lnSpc>
                <a:spcPts val="2700"/>
              </a:lnSpc>
            </a:pPr>
            <a:r>
              <a:rPr kumimoji="1" lang="en-US" altLang="zh-CN" sz="2000" dirty="0">
                <a:solidFill>
                  <a:srgbClr val="0000FF"/>
                </a:solidFill>
                <a:latin typeface="Consolas" pitchFamily="49" charset="0"/>
                <a:ea typeface="仿宋" pitchFamily="49" charset="-122"/>
                <a:cs typeface="Consolas" pitchFamily="49" charset="0"/>
              </a:rPr>
              <a:t>  </a:t>
            </a:r>
            <a:r>
              <a:rPr kumimoji="1" lang="zh-CN" altLang="en-US" sz="2000" dirty="0">
                <a:solidFill>
                  <a:srgbClr val="0000FF"/>
                </a:solidFill>
                <a:latin typeface="Consolas" pitchFamily="49" charset="0"/>
                <a:ea typeface="仿宋" pitchFamily="49" charset="-122"/>
                <a:cs typeface="Consolas" pitchFamily="49" charset="0"/>
              </a:rPr>
              <a:t>（</a:t>
            </a:r>
            <a:r>
              <a:rPr kumimoji="1" lang="en-US" altLang="zh-CN" sz="2000" dirty="0">
                <a:solidFill>
                  <a:srgbClr val="0000FF"/>
                </a:solidFill>
                <a:latin typeface="Consolas" pitchFamily="49" charset="0"/>
                <a:ea typeface="仿宋" pitchFamily="49" charset="-122"/>
                <a:cs typeface="Consolas" pitchFamily="49" charset="0"/>
              </a:rPr>
              <a:t>1</a:t>
            </a:r>
            <a:r>
              <a:rPr kumimoji="1" lang="zh-CN" altLang="en-US" sz="2000" dirty="0">
                <a:solidFill>
                  <a:srgbClr val="0000FF"/>
                </a:solidFill>
                <a:latin typeface="Consolas" pitchFamily="49" charset="0"/>
                <a:ea typeface="仿宋" pitchFamily="49" charset="-122"/>
                <a:cs typeface="Consolas" pitchFamily="49" charset="0"/>
              </a:rPr>
              <a:t>）置</a:t>
            </a:r>
            <a:r>
              <a:rPr kumimoji="1" lang="en-US" altLang="zh-CN" sz="2000" dirty="0">
                <a:solidFill>
                  <a:srgbClr val="0000FF"/>
                </a:solidFill>
                <a:latin typeface="Consolas" pitchFamily="49" charset="0"/>
                <a:ea typeface="仿宋" pitchFamily="49" charset="-122"/>
                <a:cs typeface="Consolas" pitchFamily="49" charset="0"/>
              </a:rPr>
              <a:t>U</a:t>
            </a:r>
            <a:r>
              <a:rPr kumimoji="1" lang="zh-CN" altLang="en-US" sz="2000" dirty="0">
                <a:solidFill>
                  <a:srgbClr val="0000FF"/>
                </a:solidFill>
                <a:latin typeface="Consolas" pitchFamily="49" charset="0"/>
                <a:ea typeface="仿宋" pitchFamily="49" charset="-122"/>
                <a:cs typeface="Consolas" pitchFamily="49" charset="0"/>
              </a:rPr>
              <a:t>的初值等于</a:t>
            </a:r>
            <a:r>
              <a:rPr kumimoji="1" lang="en-US" altLang="zh-CN" sz="2000" dirty="0">
                <a:solidFill>
                  <a:srgbClr val="0000FF"/>
                </a:solidFill>
                <a:latin typeface="Consolas" pitchFamily="49" charset="0"/>
                <a:ea typeface="仿宋" pitchFamily="49" charset="-122"/>
                <a:cs typeface="Consolas" pitchFamily="49" charset="0"/>
              </a:rPr>
              <a:t>V</a:t>
            </a:r>
            <a:r>
              <a:rPr kumimoji="1" lang="zh-CN" altLang="en-US" sz="2000" dirty="0">
                <a:solidFill>
                  <a:srgbClr val="0000FF"/>
                </a:solidFill>
                <a:latin typeface="Consolas" pitchFamily="49" charset="0"/>
                <a:ea typeface="仿宋" pitchFamily="49" charset="-122"/>
                <a:cs typeface="Consolas" pitchFamily="49" charset="0"/>
              </a:rPr>
              <a:t>（即包含有</a:t>
            </a:r>
            <a:r>
              <a:rPr kumimoji="1" lang="en-US" altLang="zh-CN" sz="2000" dirty="0">
                <a:solidFill>
                  <a:srgbClr val="0000FF"/>
                </a:solidFill>
                <a:latin typeface="Consolas" pitchFamily="49" charset="0"/>
                <a:ea typeface="仿宋" pitchFamily="49" charset="-122"/>
                <a:cs typeface="Consolas" pitchFamily="49" charset="0"/>
              </a:rPr>
              <a:t>G</a:t>
            </a:r>
            <a:r>
              <a:rPr kumimoji="1" lang="zh-CN" altLang="en-US" sz="2000" dirty="0">
                <a:solidFill>
                  <a:srgbClr val="0000FF"/>
                </a:solidFill>
                <a:latin typeface="Consolas" pitchFamily="49" charset="0"/>
                <a:ea typeface="仿宋" pitchFamily="49" charset="-122"/>
                <a:cs typeface="Consolas" pitchFamily="49" charset="0"/>
              </a:rPr>
              <a:t>中的全部顶点），</a:t>
            </a:r>
            <a:r>
              <a:rPr kumimoji="1" lang="en-US" altLang="zh-CN" sz="2000" dirty="0">
                <a:solidFill>
                  <a:srgbClr val="FF0000"/>
                </a:solidFill>
                <a:latin typeface="Consolas" pitchFamily="49" charset="0"/>
                <a:ea typeface="仿宋" pitchFamily="49" charset="-122"/>
                <a:cs typeface="Consolas" pitchFamily="49" charset="0"/>
              </a:rPr>
              <a:t>TE</a:t>
            </a:r>
            <a:r>
              <a:rPr kumimoji="1" lang="zh-CN" altLang="en-US" sz="2000" dirty="0">
                <a:solidFill>
                  <a:srgbClr val="0000FF"/>
                </a:solidFill>
                <a:latin typeface="Consolas" pitchFamily="49" charset="0"/>
                <a:ea typeface="仿宋" pitchFamily="49" charset="-122"/>
                <a:cs typeface="Consolas" pitchFamily="49" charset="0"/>
              </a:rPr>
              <a:t>的初值为空集（即图</a:t>
            </a:r>
            <a:r>
              <a:rPr kumimoji="1" lang="en-US" altLang="zh-CN" sz="2000" dirty="0">
                <a:solidFill>
                  <a:srgbClr val="0000FF"/>
                </a:solidFill>
                <a:latin typeface="Consolas" pitchFamily="49" charset="0"/>
                <a:ea typeface="仿宋" pitchFamily="49" charset="-122"/>
                <a:cs typeface="Consolas" pitchFamily="49" charset="0"/>
              </a:rPr>
              <a:t>T</a:t>
            </a:r>
            <a:r>
              <a:rPr kumimoji="1" lang="zh-CN" altLang="en-US" sz="2000" dirty="0">
                <a:solidFill>
                  <a:srgbClr val="0000FF"/>
                </a:solidFill>
                <a:latin typeface="Consolas" pitchFamily="49" charset="0"/>
                <a:ea typeface="仿宋" pitchFamily="49" charset="-122"/>
                <a:cs typeface="Consolas" pitchFamily="49" charset="0"/>
              </a:rPr>
              <a:t>中每一个顶点都构成一个连通分量）。</a:t>
            </a:r>
          </a:p>
          <a:p>
            <a:pPr algn="l">
              <a:lnSpc>
                <a:spcPts val="2700"/>
              </a:lnSpc>
            </a:pPr>
            <a:r>
              <a:rPr kumimoji="1" lang="zh-CN" altLang="en-US" sz="2000" dirty="0">
                <a:solidFill>
                  <a:srgbClr val="0000FF"/>
                </a:solidFill>
                <a:latin typeface="Consolas" pitchFamily="49" charset="0"/>
                <a:ea typeface="仿宋" pitchFamily="49" charset="-122"/>
                <a:cs typeface="Consolas" pitchFamily="49" charset="0"/>
              </a:rPr>
              <a:t>  （</a:t>
            </a:r>
            <a:r>
              <a:rPr kumimoji="1" lang="en-US" altLang="zh-CN" sz="2000" dirty="0">
                <a:solidFill>
                  <a:srgbClr val="0000FF"/>
                </a:solidFill>
                <a:latin typeface="Consolas" pitchFamily="49" charset="0"/>
                <a:ea typeface="仿宋" pitchFamily="49" charset="-122"/>
                <a:cs typeface="Consolas" pitchFamily="49" charset="0"/>
              </a:rPr>
              <a:t>2</a:t>
            </a:r>
            <a:r>
              <a:rPr kumimoji="1" lang="zh-CN" altLang="en-US" sz="2000" dirty="0">
                <a:solidFill>
                  <a:srgbClr val="0000FF"/>
                </a:solidFill>
                <a:latin typeface="Consolas" pitchFamily="49" charset="0"/>
                <a:ea typeface="仿宋" pitchFamily="49" charset="-122"/>
                <a:cs typeface="Consolas" pitchFamily="49" charset="0"/>
              </a:rPr>
              <a:t>）将图</a:t>
            </a:r>
            <a:r>
              <a:rPr kumimoji="1" lang="en-US" altLang="zh-CN" sz="2000" dirty="0">
                <a:solidFill>
                  <a:srgbClr val="0000FF"/>
                </a:solidFill>
                <a:latin typeface="Consolas" pitchFamily="49" charset="0"/>
                <a:ea typeface="仿宋" pitchFamily="49" charset="-122"/>
                <a:cs typeface="Consolas" pitchFamily="49" charset="0"/>
              </a:rPr>
              <a:t>G</a:t>
            </a:r>
            <a:r>
              <a:rPr kumimoji="1" lang="zh-CN" altLang="en-US" sz="2000" dirty="0">
                <a:solidFill>
                  <a:srgbClr val="0000FF"/>
                </a:solidFill>
                <a:latin typeface="Consolas" pitchFamily="49" charset="0"/>
                <a:ea typeface="仿宋" pitchFamily="49" charset="-122"/>
                <a:cs typeface="Consolas" pitchFamily="49" charset="0"/>
              </a:rPr>
              <a:t>中的边按权值</a:t>
            </a:r>
            <a:r>
              <a:rPr kumimoji="1" lang="zh-CN" altLang="en-US" sz="2000" dirty="0">
                <a:solidFill>
                  <a:srgbClr val="C00000"/>
                </a:solidFill>
                <a:latin typeface="Consolas" pitchFamily="49" charset="0"/>
                <a:ea typeface="仿宋" pitchFamily="49" charset="-122"/>
                <a:cs typeface="Consolas" pitchFamily="49" charset="0"/>
              </a:rPr>
              <a:t>从小到大</a:t>
            </a:r>
            <a:r>
              <a:rPr kumimoji="1" lang="zh-CN" altLang="en-US" sz="2000" dirty="0">
                <a:solidFill>
                  <a:srgbClr val="0000FF"/>
                </a:solidFill>
                <a:latin typeface="Consolas" pitchFamily="49" charset="0"/>
                <a:ea typeface="仿宋" pitchFamily="49" charset="-122"/>
                <a:cs typeface="Consolas" pitchFamily="49" charset="0"/>
              </a:rPr>
              <a:t>的顺序依次选取：</a:t>
            </a:r>
            <a:endParaRPr kumimoji="1" lang="en-US" altLang="zh-CN" sz="2000" dirty="0">
              <a:solidFill>
                <a:srgbClr val="0000FF"/>
              </a:solidFill>
              <a:latin typeface="Consolas" pitchFamily="49" charset="0"/>
              <a:ea typeface="仿宋" pitchFamily="49" charset="-122"/>
              <a:cs typeface="Consolas" pitchFamily="49" charset="0"/>
            </a:endParaRPr>
          </a:p>
          <a:p>
            <a:pPr algn="l">
              <a:lnSpc>
                <a:spcPts val="2700"/>
              </a:lnSpc>
            </a:pPr>
            <a:r>
              <a:rPr kumimoji="1" lang="en-US" altLang="zh-CN" sz="2000" dirty="0">
                <a:solidFill>
                  <a:srgbClr val="0000FF"/>
                </a:solidFill>
                <a:latin typeface="Consolas" pitchFamily="49" charset="0"/>
                <a:ea typeface="仿宋" pitchFamily="49" charset="-122"/>
                <a:cs typeface="Consolas" pitchFamily="49" charset="0"/>
              </a:rPr>
              <a:t>     </a:t>
            </a:r>
            <a:r>
              <a:rPr kumimoji="1" lang="en-US" altLang="zh-CN" sz="2000" dirty="0">
                <a:solidFill>
                  <a:srgbClr val="0000FF"/>
                </a:solidFill>
                <a:latin typeface="Consolas" pitchFamily="49" charset="0"/>
                <a:ea typeface="仿宋" pitchFamily="49" charset="-122"/>
                <a:cs typeface="Consolas" pitchFamily="49" charset="0"/>
                <a:sym typeface="Wingdings"/>
              </a:rPr>
              <a:t></a:t>
            </a:r>
            <a:r>
              <a:rPr kumimoji="1" lang="en-US" altLang="zh-CN" sz="2000" dirty="0">
                <a:solidFill>
                  <a:srgbClr val="0000FF"/>
                </a:solidFill>
                <a:latin typeface="Consolas" pitchFamily="49" charset="0"/>
                <a:ea typeface="仿宋" pitchFamily="49" charset="-122"/>
                <a:cs typeface="Consolas" pitchFamily="49" charset="0"/>
              </a:rPr>
              <a:t> </a:t>
            </a:r>
            <a:r>
              <a:rPr kumimoji="1" lang="zh-CN" altLang="en-US" sz="2000" dirty="0">
                <a:solidFill>
                  <a:srgbClr val="0000FF"/>
                </a:solidFill>
                <a:latin typeface="Consolas" pitchFamily="49" charset="0"/>
                <a:ea typeface="仿宋" pitchFamily="49" charset="-122"/>
                <a:cs typeface="Consolas" pitchFamily="49" charset="0"/>
              </a:rPr>
              <a:t>若选取的边未使生成树</a:t>
            </a:r>
            <a:r>
              <a:rPr kumimoji="1" lang="en-US" altLang="zh-CN" sz="2000" dirty="0">
                <a:solidFill>
                  <a:srgbClr val="0000FF"/>
                </a:solidFill>
                <a:latin typeface="Consolas" pitchFamily="49" charset="0"/>
                <a:ea typeface="仿宋" pitchFamily="49" charset="-122"/>
                <a:cs typeface="Consolas" pitchFamily="49" charset="0"/>
              </a:rPr>
              <a:t>T</a:t>
            </a:r>
            <a:r>
              <a:rPr kumimoji="1" lang="zh-CN" altLang="en-US" sz="2000" dirty="0">
                <a:solidFill>
                  <a:srgbClr val="0000FF"/>
                </a:solidFill>
                <a:latin typeface="Consolas" pitchFamily="49" charset="0"/>
                <a:ea typeface="仿宋" pitchFamily="49" charset="-122"/>
                <a:cs typeface="Consolas" pitchFamily="49" charset="0"/>
              </a:rPr>
              <a:t>形成回路，则加入</a:t>
            </a:r>
            <a:r>
              <a:rPr kumimoji="1" lang="en-US" altLang="zh-CN" sz="2000" dirty="0">
                <a:solidFill>
                  <a:srgbClr val="0000FF"/>
                </a:solidFill>
                <a:latin typeface="Consolas" pitchFamily="49" charset="0"/>
                <a:ea typeface="仿宋" pitchFamily="49" charset="-122"/>
                <a:cs typeface="Consolas" pitchFamily="49" charset="0"/>
              </a:rPr>
              <a:t>TE</a:t>
            </a:r>
            <a:r>
              <a:rPr kumimoji="1" lang="zh-CN" altLang="en-US" sz="2000" dirty="0">
                <a:solidFill>
                  <a:srgbClr val="0000FF"/>
                </a:solidFill>
                <a:latin typeface="Consolas" pitchFamily="49" charset="0"/>
                <a:ea typeface="仿宋" pitchFamily="49" charset="-122"/>
                <a:cs typeface="Consolas" pitchFamily="49" charset="0"/>
              </a:rPr>
              <a:t>；</a:t>
            </a:r>
            <a:endParaRPr kumimoji="1" lang="en-US" altLang="zh-CN" sz="2000" dirty="0">
              <a:solidFill>
                <a:srgbClr val="0000FF"/>
              </a:solidFill>
              <a:latin typeface="Consolas" pitchFamily="49" charset="0"/>
              <a:ea typeface="仿宋" pitchFamily="49" charset="-122"/>
              <a:cs typeface="Consolas" pitchFamily="49" charset="0"/>
            </a:endParaRPr>
          </a:p>
          <a:p>
            <a:pPr algn="l">
              <a:lnSpc>
                <a:spcPts val="2700"/>
              </a:lnSpc>
            </a:pPr>
            <a:r>
              <a:rPr kumimoji="1" lang="en-US" altLang="zh-CN" sz="2000" dirty="0">
                <a:solidFill>
                  <a:srgbClr val="0000FF"/>
                </a:solidFill>
                <a:latin typeface="Consolas" pitchFamily="49" charset="0"/>
                <a:ea typeface="仿宋" pitchFamily="49" charset="-122"/>
                <a:cs typeface="Consolas" pitchFamily="49" charset="0"/>
              </a:rPr>
              <a:t>     </a:t>
            </a:r>
            <a:r>
              <a:rPr kumimoji="1" lang="en-US" altLang="zh-CN" sz="2000" dirty="0">
                <a:solidFill>
                  <a:srgbClr val="0000FF"/>
                </a:solidFill>
                <a:latin typeface="Consolas" pitchFamily="49" charset="0"/>
                <a:ea typeface="仿宋" pitchFamily="49" charset="-122"/>
                <a:cs typeface="Consolas" pitchFamily="49" charset="0"/>
                <a:sym typeface="Wingdings"/>
              </a:rPr>
              <a:t></a:t>
            </a:r>
            <a:r>
              <a:rPr kumimoji="1" lang="en-US" altLang="zh-CN" sz="2000" dirty="0">
                <a:solidFill>
                  <a:srgbClr val="0000FF"/>
                </a:solidFill>
                <a:latin typeface="Consolas" pitchFamily="49" charset="0"/>
                <a:ea typeface="仿宋" pitchFamily="49" charset="-122"/>
                <a:cs typeface="Consolas" pitchFamily="49" charset="0"/>
              </a:rPr>
              <a:t> </a:t>
            </a:r>
            <a:r>
              <a:rPr kumimoji="1" lang="zh-CN" altLang="en-US" sz="2000" dirty="0">
                <a:solidFill>
                  <a:srgbClr val="0000FF"/>
                </a:solidFill>
                <a:latin typeface="Consolas" pitchFamily="49" charset="0"/>
                <a:ea typeface="仿宋" pitchFamily="49" charset="-122"/>
                <a:cs typeface="Consolas" pitchFamily="49" charset="0"/>
              </a:rPr>
              <a:t>否则舍弃，直到</a:t>
            </a:r>
            <a:r>
              <a:rPr kumimoji="1" lang="en-US" altLang="zh-CN" sz="2000" dirty="0">
                <a:solidFill>
                  <a:srgbClr val="0000FF"/>
                </a:solidFill>
                <a:latin typeface="Consolas" pitchFamily="49" charset="0"/>
                <a:ea typeface="仿宋" pitchFamily="49" charset="-122"/>
                <a:cs typeface="Consolas" pitchFamily="49" charset="0"/>
              </a:rPr>
              <a:t>TE</a:t>
            </a:r>
            <a:r>
              <a:rPr kumimoji="1" lang="zh-CN" altLang="en-US" sz="2000" dirty="0">
                <a:solidFill>
                  <a:srgbClr val="0000FF"/>
                </a:solidFill>
                <a:latin typeface="Consolas" pitchFamily="49" charset="0"/>
                <a:ea typeface="仿宋" pitchFamily="49" charset="-122"/>
                <a:cs typeface="Consolas" pitchFamily="49" charset="0"/>
              </a:rPr>
              <a:t>中包含</a:t>
            </a:r>
            <a:r>
              <a:rPr kumimoji="1" lang="en-US" altLang="zh-CN" sz="2000" dirty="0">
                <a:solidFill>
                  <a:srgbClr val="0000FF"/>
                </a:solidFill>
                <a:latin typeface="Consolas" pitchFamily="49" charset="0"/>
                <a:ea typeface="仿宋" pitchFamily="49" charset="-122"/>
                <a:cs typeface="Consolas" pitchFamily="49" charset="0"/>
              </a:rPr>
              <a:t>(</a:t>
            </a:r>
            <a:r>
              <a:rPr kumimoji="1" lang="en-US" altLang="zh-CN" sz="2000" i="1" dirty="0">
                <a:solidFill>
                  <a:srgbClr val="0000FF"/>
                </a:solidFill>
                <a:latin typeface="Consolas" pitchFamily="49" charset="0"/>
                <a:ea typeface="仿宋" pitchFamily="49" charset="-122"/>
                <a:cs typeface="Consolas" pitchFamily="49" charset="0"/>
              </a:rPr>
              <a:t>n</a:t>
            </a:r>
            <a:r>
              <a:rPr kumimoji="1" lang="en-US" altLang="zh-CN" sz="2000" dirty="0">
                <a:solidFill>
                  <a:srgbClr val="0000FF"/>
                </a:solidFill>
                <a:latin typeface="Consolas" pitchFamily="49" charset="0"/>
                <a:ea typeface="仿宋" pitchFamily="49" charset="-122"/>
                <a:cs typeface="Consolas" pitchFamily="49" charset="0"/>
              </a:rPr>
              <a:t>-1)</a:t>
            </a:r>
            <a:r>
              <a:rPr kumimoji="1" lang="zh-CN" altLang="en-US" sz="2000" dirty="0">
                <a:solidFill>
                  <a:srgbClr val="0000FF"/>
                </a:solidFill>
                <a:latin typeface="Consolas" pitchFamily="49" charset="0"/>
                <a:ea typeface="仿宋" pitchFamily="49" charset="-122"/>
                <a:cs typeface="Consolas" pitchFamily="49" charset="0"/>
              </a:rPr>
              <a:t>条边为止。</a:t>
            </a:r>
            <a:endParaRPr lang="zh-CN" altLang="en-US" sz="2000" b="0" dirty="0">
              <a:solidFill>
                <a:srgbClr val="0000FF"/>
              </a:solidFill>
              <a:latin typeface="Consolas" pitchFamily="49" charset="0"/>
              <a:ea typeface="仿宋" pitchFamily="49" charset="-122"/>
              <a:cs typeface="Consolas" pitchFamily="49" charset="0"/>
            </a:endParaRPr>
          </a:p>
        </p:txBody>
      </p:sp>
      <p:grpSp>
        <p:nvGrpSpPr>
          <p:cNvPr id="8" name="组合 43">
            <a:extLst>
              <a:ext uri="{FF2B5EF4-FFF2-40B4-BE49-F238E27FC236}">
                <a16:creationId xmlns:a16="http://schemas.microsoft.com/office/drawing/2014/main" id="{D0195B15-AAD1-703C-E2A9-2373421B0979}"/>
              </a:ext>
            </a:extLst>
          </p:cNvPr>
          <p:cNvGrpSpPr/>
          <p:nvPr/>
        </p:nvGrpSpPr>
        <p:grpSpPr>
          <a:xfrm>
            <a:off x="1994741" y="4392031"/>
            <a:ext cx="2376487" cy="2312432"/>
            <a:chOff x="695315" y="3929066"/>
            <a:chExt cx="2376487" cy="2312432"/>
          </a:xfrm>
        </p:grpSpPr>
        <p:sp>
          <p:nvSpPr>
            <p:cNvPr id="9" name="Oval 6">
              <a:extLst>
                <a:ext uri="{FF2B5EF4-FFF2-40B4-BE49-F238E27FC236}">
                  <a16:creationId xmlns:a16="http://schemas.microsoft.com/office/drawing/2014/main" id="{089881B0-D7B8-06FE-C401-716DC6EEADC1}"/>
                </a:ext>
              </a:extLst>
            </p:cNvPr>
            <p:cNvSpPr>
              <a:spLocks noChangeArrowheads="1"/>
            </p:cNvSpPr>
            <p:nvPr/>
          </p:nvSpPr>
          <p:spPr bwMode="auto">
            <a:xfrm>
              <a:off x="1271577" y="4071941"/>
              <a:ext cx="360363" cy="431800"/>
            </a:xfrm>
            <a:prstGeom prst="ellipse">
              <a:avLst/>
            </a:prstGeom>
            <a:ln>
              <a:headEnd/>
              <a:tailEnd type="none" w="med" len="lg"/>
            </a:ln>
          </p:spPr>
          <p:style>
            <a:lnRef idx="1">
              <a:schemeClr val="accent2"/>
            </a:lnRef>
            <a:fillRef idx="2">
              <a:schemeClr val="accent2"/>
            </a:fillRef>
            <a:effectRef idx="1">
              <a:schemeClr val="accent2"/>
            </a:effectRef>
            <a:fontRef idx="minor">
              <a:schemeClr val="dk1"/>
            </a:fontRef>
          </p:style>
          <p:txBody>
            <a:bodyPr wrap="none" anchor="ctr"/>
            <a:lstStyle/>
            <a:p>
              <a:r>
                <a:rPr lang="en-US" altLang="zh-CN" sz="2000" dirty="0">
                  <a:solidFill>
                    <a:srgbClr val="0000FF"/>
                  </a:solidFill>
                  <a:latin typeface="Consolas" pitchFamily="49" charset="0"/>
                  <a:cs typeface="Consolas" pitchFamily="49" charset="0"/>
                </a:rPr>
                <a:t>0</a:t>
              </a:r>
            </a:p>
          </p:txBody>
        </p:sp>
        <p:sp>
          <p:nvSpPr>
            <p:cNvPr id="10" name="Oval 7">
              <a:extLst>
                <a:ext uri="{FF2B5EF4-FFF2-40B4-BE49-F238E27FC236}">
                  <a16:creationId xmlns:a16="http://schemas.microsoft.com/office/drawing/2014/main" id="{4439DF00-F1CD-B8F3-E6B0-972A4D6639E1}"/>
                </a:ext>
              </a:extLst>
            </p:cNvPr>
            <p:cNvSpPr>
              <a:spLocks noChangeArrowheads="1"/>
            </p:cNvSpPr>
            <p:nvPr/>
          </p:nvSpPr>
          <p:spPr bwMode="auto">
            <a:xfrm>
              <a:off x="2352665" y="4071941"/>
              <a:ext cx="360362" cy="431800"/>
            </a:xfrm>
            <a:prstGeom prst="ellipse">
              <a:avLst/>
            </a:prstGeom>
            <a:ln>
              <a:headEnd/>
              <a:tailEnd type="none" w="med" len="lg"/>
            </a:ln>
          </p:spPr>
          <p:style>
            <a:lnRef idx="1">
              <a:schemeClr val="accent2"/>
            </a:lnRef>
            <a:fillRef idx="2">
              <a:schemeClr val="accent2"/>
            </a:fillRef>
            <a:effectRef idx="1">
              <a:schemeClr val="accent2"/>
            </a:effectRef>
            <a:fontRef idx="minor">
              <a:schemeClr val="dk1"/>
            </a:fontRef>
          </p:style>
          <p:txBody>
            <a:bodyPr wrap="none" anchor="ctr"/>
            <a:lstStyle/>
            <a:p>
              <a:r>
                <a:rPr lang="en-US" altLang="zh-CN" sz="2000">
                  <a:solidFill>
                    <a:srgbClr val="0000FF"/>
                  </a:solidFill>
                  <a:latin typeface="Consolas" pitchFamily="49" charset="0"/>
                  <a:cs typeface="Consolas" pitchFamily="49" charset="0"/>
                </a:rPr>
                <a:t>1</a:t>
              </a:r>
            </a:p>
          </p:txBody>
        </p:sp>
        <p:sp>
          <p:nvSpPr>
            <p:cNvPr id="11" name="Oval 8">
              <a:extLst>
                <a:ext uri="{FF2B5EF4-FFF2-40B4-BE49-F238E27FC236}">
                  <a16:creationId xmlns:a16="http://schemas.microsoft.com/office/drawing/2014/main" id="{F541C3AE-3979-117F-0A3C-584D823A5690}"/>
                </a:ext>
              </a:extLst>
            </p:cNvPr>
            <p:cNvSpPr>
              <a:spLocks noChangeArrowheads="1"/>
            </p:cNvSpPr>
            <p:nvPr/>
          </p:nvSpPr>
          <p:spPr bwMode="auto">
            <a:xfrm>
              <a:off x="695315" y="4937129"/>
              <a:ext cx="360362" cy="431800"/>
            </a:xfrm>
            <a:prstGeom prst="ellipse">
              <a:avLst/>
            </a:prstGeom>
            <a:ln>
              <a:headEnd/>
              <a:tailEnd type="none" w="med" len="lg"/>
            </a:ln>
          </p:spPr>
          <p:style>
            <a:lnRef idx="1">
              <a:schemeClr val="accent2"/>
            </a:lnRef>
            <a:fillRef idx="2">
              <a:schemeClr val="accent2"/>
            </a:fillRef>
            <a:effectRef idx="1">
              <a:schemeClr val="accent2"/>
            </a:effectRef>
            <a:fontRef idx="minor">
              <a:schemeClr val="dk1"/>
            </a:fontRef>
          </p:style>
          <p:txBody>
            <a:bodyPr wrap="none" anchor="ctr"/>
            <a:lstStyle/>
            <a:p>
              <a:r>
                <a:rPr lang="en-US" altLang="zh-CN" sz="2000">
                  <a:solidFill>
                    <a:srgbClr val="0000FF"/>
                  </a:solidFill>
                  <a:latin typeface="Consolas" pitchFamily="49" charset="0"/>
                  <a:cs typeface="Consolas" pitchFamily="49" charset="0"/>
                </a:rPr>
                <a:t>5</a:t>
              </a:r>
            </a:p>
          </p:txBody>
        </p:sp>
        <p:sp>
          <p:nvSpPr>
            <p:cNvPr id="13" name="Oval 9">
              <a:extLst>
                <a:ext uri="{FF2B5EF4-FFF2-40B4-BE49-F238E27FC236}">
                  <a16:creationId xmlns:a16="http://schemas.microsoft.com/office/drawing/2014/main" id="{41082C09-1BD7-8657-7F81-5B16138DBDB7}"/>
                </a:ext>
              </a:extLst>
            </p:cNvPr>
            <p:cNvSpPr>
              <a:spLocks noChangeArrowheads="1"/>
            </p:cNvSpPr>
            <p:nvPr/>
          </p:nvSpPr>
          <p:spPr bwMode="auto">
            <a:xfrm>
              <a:off x="1344602" y="5656266"/>
              <a:ext cx="360363" cy="431800"/>
            </a:xfrm>
            <a:prstGeom prst="ellipse">
              <a:avLst/>
            </a:prstGeom>
            <a:ln>
              <a:headEnd/>
              <a:tailEnd type="none" w="med" len="lg"/>
            </a:ln>
          </p:spPr>
          <p:style>
            <a:lnRef idx="1">
              <a:schemeClr val="accent2"/>
            </a:lnRef>
            <a:fillRef idx="2">
              <a:schemeClr val="accent2"/>
            </a:fillRef>
            <a:effectRef idx="1">
              <a:schemeClr val="accent2"/>
            </a:effectRef>
            <a:fontRef idx="minor">
              <a:schemeClr val="dk1"/>
            </a:fontRef>
          </p:style>
          <p:txBody>
            <a:bodyPr wrap="none" anchor="ctr"/>
            <a:lstStyle/>
            <a:p>
              <a:r>
                <a:rPr lang="en-US" altLang="zh-CN" sz="2000">
                  <a:solidFill>
                    <a:srgbClr val="0000FF"/>
                  </a:solidFill>
                  <a:latin typeface="Consolas" pitchFamily="49" charset="0"/>
                  <a:cs typeface="Consolas" pitchFamily="49" charset="0"/>
                </a:rPr>
                <a:t>4</a:t>
              </a:r>
            </a:p>
          </p:txBody>
        </p:sp>
        <p:sp>
          <p:nvSpPr>
            <p:cNvPr id="14" name="Oval 10">
              <a:extLst>
                <a:ext uri="{FF2B5EF4-FFF2-40B4-BE49-F238E27FC236}">
                  <a16:creationId xmlns:a16="http://schemas.microsoft.com/office/drawing/2014/main" id="{819AD6A6-EA62-A0D2-4CD5-62A3C75D3C46}"/>
                </a:ext>
              </a:extLst>
            </p:cNvPr>
            <p:cNvSpPr>
              <a:spLocks noChangeArrowheads="1"/>
            </p:cNvSpPr>
            <p:nvPr/>
          </p:nvSpPr>
          <p:spPr bwMode="auto">
            <a:xfrm>
              <a:off x="2279640" y="5656266"/>
              <a:ext cx="360362" cy="431800"/>
            </a:xfrm>
            <a:prstGeom prst="ellipse">
              <a:avLst/>
            </a:prstGeom>
            <a:ln>
              <a:headEnd/>
              <a:tailEnd type="none" w="med" len="lg"/>
            </a:ln>
          </p:spPr>
          <p:style>
            <a:lnRef idx="1">
              <a:schemeClr val="accent2"/>
            </a:lnRef>
            <a:fillRef idx="2">
              <a:schemeClr val="accent2"/>
            </a:fillRef>
            <a:effectRef idx="1">
              <a:schemeClr val="accent2"/>
            </a:effectRef>
            <a:fontRef idx="minor">
              <a:schemeClr val="dk1"/>
            </a:fontRef>
          </p:style>
          <p:txBody>
            <a:bodyPr wrap="none" anchor="ctr"/>
            <a:lstStyle/>
            <a:p>
              <a:r>
                <a:rPr lang="en-US" altLang="zh-CN" sz="2000">
                  <a:solidFill>
                    <a:srgbClr val="0000FF"/>
                  </a:solidFill>
                  <a:latin typeface="Consolas" pitchFamily="49" charset="0"/>
                  <a:cs typeface="Consolas" pitchFamily="49" charset="0"/>
                </a:rPr>
                <a:t>3</a:t>
              </a:r>
            </a:p>
          </p:txBody>
        </p:sp>
        <p:sp>
          <p:nvSpPr>
            <p:cNvPr id="17" name="Oval 11">
              <a:extLst>
                <a:ext uri="{FF2B5EF4-FFF2-40B4-BE49-F238E27FC236}">
                  <a16:creationId xmlns:a16="http://schemas.microsoft.com/office/drawing/2014/main" id="{494ECE67-7D97-90E6-CFC4-F5D99B23FF82}"/>
                </a:ext>
              </a:extLst>
            </p:cNvPr>
            <p:cNvSpPr>
              <a:spLocks noChangeArrowheads="1"/>
            </p:cNvSpPr>
            <p:nvPr/>
          </p:nvSpPr>
          <p:spPr bwMode="auto">
            <a:xfrm>
              <a:off x="1847840" y="4864104"/>
              <a:ext cx="360362" cy="431800"/>
            </a:xfrm>
            <a:prstGeom prst="ellipse">
              <a:avLst/>
            </a:prstGeom>
            <a:ln>
              <a:headEnd/>
              <a:tailEnd type="none" w="med" len="lg"/>
            </a:ln>
          </p:spPr>
          <p:style>
            <a:lnRef idx="1">
              <a:schemeClr val="accent2"/>
            </a:lnRef>
            <a:fillRef idx="2">
              <a:schemeClr val="accent2"/>
            </a:fillRef>
            <a:effectRef idx="1">
              <a:schemeClr val="accent2"/>
            </a:effectRef>
            <a:fontRef idx="minor">
              <a:schemeClr val="dk1"/>
            </a:fontRef>
          </p:style>
          <p:txBody>
            <a:bodyPr wrap="none" anchor="ctr"/>
            <a:lstStyle/>
            <a:p>
              <a:r>
                <a:rPr lang="en-US" altLang="zh-CN" sz="2000">
                  <a:solidFill>
                    <a:srgbClr val="0000FF"/>
                  </a:solidFill>
                  <a:latin typeface="Consolas" pitchFamily="49" charset="0"/>
                  <a:cs typeface="Consolas" pitchFamily="49" charset="0"/>
                </a:rPr>
                <a:t>6</a:t>
              </a:r>
            </a:p>
          </p:txBody>
        </p:sp>
        <p:sp>
          <p:nvSpPr>
            <p:cNvPr id="18" name="Oval 12">
              <a:extLst>
                <a:ext uri="{FF2B5EF4-FFF2-40B4-BE49-F238E27FC236}">
                  <a16:creationId xmlns:a16="http://schemas.microsoft.com/office/drawing/2014/main" id="{AD86B019-4A65-DF01-120D-4816DEED7D9D}"/>
                </a:ext>
              </a:extLst>
            </p:cNvPr>
            <p:cNvSpPr>
              <a:spLocks noChangeArrowheads="1"/>
            </p:cNvSpPr>
            <p:nvPr/>
          </p:nvSpPr>
          <p:spPr bwMode="auto">
            <a:xfrm>
              <a:off x="2711440" y="4864104"/>
              <a:ext cx="360362" cy="431800"/>
            </a:xfrm>
            <a:prstGeom prst="ellipse">
              <a:avLst/>
            </a:prstGeom>
            <a:ln>
              <a:headEnd/>
              <a:tailEnd type="none" w="med" len="lg"/>
            </a:ln>
          </p:spPr>
          <p:style>
            <a:lnRef idx="1">
              <a:schemeClr val="accent2"/>
            </a:lnRef>
            <a:fillRef idx="2">
              <a:schemeClr val="accent2"/>
            </a:fillRef>
            <a:effectRef idx="1">
              <a:schemeClr val="accent2"/>
            </a:effectRef>
            <a:fontRef idx="minor">
              <a:schemeClr val="dk1"/>
            </a:fontRef>
          </p:style>
          <p:txBody>
            <a:bodyPr wrap="none" anchor="ctr"/>
            <a:lstStyle/>
            <a:p>
              <a:r>
                <a:rPr lang="en-US" altLang="zh-CN" sz="2000">
                  <a:solidFill>
                    <a:srgbClr val="0000FF"/>
                  </a:solidFill>
                  <a:latin typeface="Consolas" pitchFamily="49" charset="0"/>
                  <a:cs typeface="Consolas" pitchFamily="49" charset="0"/>
                </a:rPr>
                <a:t>2</a:t>
              </a:r>
            </a:p>
          </p:txBody>
        </p:sp>
        <p:sp>
          <p:nvSpPr>
            <p:cNvPr id="19" name="Line 13">
              <a:extLst>
                <a:ext uri="{FF2B5EF4-FFF2-40B4-BE49-F238E27FC236}">
                  <a16:creationId xmlns:a16="http://schemas.microsoft.com/office/drawing/2014/main" id="{51EB2F40-3861-F7D6-F7BD-CFA80F71F691}"/>
                </a:ext>
              </a:extLst>
            </p:cNvPr>
            <p:cNvSpPr>
              <a:spLocks noChangeShapeType="1"/>
            </p:cNvSpPr>
            <p:nvPr/>
          </p:nvSpPr>
          <p:spPr bwMode="auto">
            <a:xfrm>
              <a:off x="1631940" y="4287841"/>
              <a:ext cx="720725" cy="0"/>
            </a:xfrm>
            <a:prstGeom prst="line">
              <a:avLst/>
            </a:prstGeom>
            <a:noFill/>
            <a:ln w="19050">
              <a:solidFill>
                <a:srgbClr val="3333FF"/>
              </a:solidFill>
              <a:round/>
              <a:headEnd/>
              <a:tailEnd type="none" w="med" len="lg"/>
            </a:ln>
            <a:effectLst/>
          </p:spPr>
          <p:txBody>
            <a:bodyPr wrap="none"/>
            <a:lstStyle/>
            <a:p>
              <a:endParaRPr lang="zh-CN" altLang="en-US">
                <a:latin typeface="Consolas" pitchFamily="49" charset="0"/>
                <a:cs typeface="Consolas" pitchFamily="49" charset="0"/>
              </a:endParaRPr>
            </a:p>
          </p:txBody>
        </p:sp>
        <p:sp>
          <p:nvSpPr>
            <p:cNvPr id="20" name="Freeform 14">
              <a:extLst>
                <a:ext uri="{FF2B5EF4-FFF2-40B4-BE49-F238E27FC236}">
                  <a16:creationId xmlns:a16="http://schemas.microsoft.com/office/drawing/2014/main" id="{A6958BBA-276D-2EC8-391F-AF2099B5FC26}"/>
                </a:ext>
              </a:extLst>
            </p:cNvPr>
            <p:cNvSpPr>
              <a:spLocks/>
            </p:cNvSpPr>
            <p:nvPr/>
          </p:nvSpPr>
          <p:spPr bwMode="auto">
            <a:xfrm>
              <a:off x="912802" y="4408491"/>
              <a:ext cx="395288" cy="528638"/>
            </a:xfrm>
            <a:custGeom>
              <a:avLst/>
              <a:gdLst/>
              <a:ahLst/>
              <a:cxnLst>
                <a:cxn ang="0">
                  <a:pos x="249" y="0"/>
                </a:cxn>
                <a:cxn ang="0">
                  <a:pos x="0" y="333"/>
                </a:cxn>
              </a:cxnLst>
              <a:rect l="0" t="0" r="r" b="b"/>
              <a:pathLst>
                <a:path w="249" h="333">
                  <a:moveTo>
                    <a:pt x="249" y="0"/>
                  </a:moveTo>
                  <a:lnTo>
                    <a:pt x="0" y="333"/>
                  </a:lnTo>
                </a:path>
              </a:pathLst>
            </a:custGeom>
            <a:noFill/>
            <a:ln w="19050" cap="flat" cmpd="sng">
              <a:solidFill>
                <a:srgbClr val="3333FF"/>
              </a:solidFill>
              <a:prstDash val="solid"/>
              <a:round/>
              <a:headEnd type="none" w="med" len="med"/>
              <a:tailEnd type="none" w="med" len="lg"/>
            </a:ln>
            <a:effectLst/>
          </p:spPr>
          <p:txBody>
            <a:bodyPr wrap="none"/>
            <a:lstStyle/>
            <a:p>
              <a:endParaRPr lang="zh-CN" altLang="en-US">
                <a:latin typeface="Consolas" pitchFamily="49" charset="0"/>
                <a:cs typeface="Consolas" pitchFamily="49" charset="0"/>
              </a:endParaRPr>
            </a:p>
          </p:txBody>
        </p:sp>
        <p:sp>
          <p:nvSpPr>
            <p:cNvPr id="21" name="Freeform 15">
              <a:extLst>
                <a:ext uri="{FF2B5EF4-FFF2-40B4-BE49-F238E27FC236}">
                  <a16:creationId xmlns:a16="http://schemas.microsoft.com/office/drawing/2014/main" id="{B797519A-89E4-AA11-59E6-B37F260B375A}"/>
                </a:ext>
              </a:extLst>
            </p:cNvPr>
            <p:cNvSpPr>
              <a:spLocks/>
            </p:cNvSpPr>
            <p:nvPr/>
          </p:nvSpPr>
          <p:spPr bwMode="auto">
            <a:xfrm>
              <a:off x="977890" y="5335591"/>
              <a:ext cx="392112" cy="419100"/>
            </a:xfrm>
            <a:custGeom>
              <a:avLst/>
              <a:gdLst/>
              <a:ahLst/>
              <a:cxnLst>
                <a:cxn ang="0">
                  <a:pos x="0" y="0"/>
                </a:cxn>
                <a:cxn ang="0">
                  <a:pos x="247" y="264"/>
                </a:cxn>
              </a:cxnLst>
              <a:rect l="0" t="0" r="r" b="b"/>
              <a:pathLst>
                <a:path w="247" h="264">
                  <a:moveTo>
                    <a:pt x="0" y="0"/>
                  </a:moveTo>
                  <a:lnTo>
                    <a:pt x="247" y="264"/>
                  </a:lnTo>
                </a:path>
              </a:pathLst>
            </a:custGeom>
            <a:noFill/>
            <a:ln w="19050" cap="flat" cmpd="sng">
              <a:solidFill>
                <a:srgbClr val="3333FF"/>
              </a:solidFill>
              <a:prstDash val="solid"/>
              <a:round/>
              <a:headEnd type="none" w="med" len="med"/>
              <a:tailEnd type="none" w="med" len="lg"/>
            </a:ln>
            <a:effectLst/>
          </p:spPr>
          <p:txBody>
            <a:bodyPr wrap="none"/>
            <a:lstStyle/>
            <a:p>
              <a:endParaRPr lang="zh-CN" altLang="en-US">
                <a:latin typeface="Consolas" pitchFamily="49" charset="0"/>
                <a:cs typeface="Consolas" pitchFamily="49" charset="0"/>
              </a:endParaRPr>
            </a:p>
          </p:txBody>
        </p:sp>
        <p:sp>
          <p:nvSpPr>
            <p:cNvPr id="22" name="Freeform 16">
              <a:extLst>
                <a:ext uri="{FF2B5EF4-FFF2-40B4-BE49-F238E27FC236}">
                  <a16:creationId xmlns:a16="http://schemas.microsoft.com/office/drawing/2014/main" id="{FBDA672B-7984-93E6-F0D4-3D380C61BC44}"/>
                </a:ext>
              </a:extLst>
            </p:cNvPr>
            <p:cNvSpPr>
              <a:spLocks/>
            </p:cNvSpPr>
            <p:nvPr/>
          </p:nvSpPr>
          <p:spPr bwMode="auto">
            <a:xfrm>
              <a:off x="1703377" y="5907091"/>
              <a:ext cx="582613" cy="1588"/>
            </a:xfrm>
            <a:custGeom>
              <a:avLst/>
              <a:gdLst/>
              <a:ahLst/>
              <a:cxnLst>
                <a:cxn ang="0">
                  <a:pos x="0" y="0"/>
                </a:cxn>
                <a:cxn ang="0">
                  <a:pos x="367" y="0"/>
                </a:cxn>
              </a:cxnLst>
              <a:rect l="0" t="0" r="r" b="b"/>
              <a:pathLst>
                <a:path w="367" h="1">
                  <a:moveTo>
                    <a:pt x="0" y="0"/>
                  </a:moveTo>
                  <a:lnTo>
                    <a:pt x="367" y="0"/>
                  </a:lnTo>
                </a:path>
              </a:pathLst>
            </a:custGeom>
            <a:noFill/>
            <a:ln w="19050" cap="flat" cmpd="sng">
              <a:solidFill>
                <a:srgbClr val="3333FF"/>
              </a:solidFill>
              <a:prstDash val="solid"/>
              <a:round/>
              <a:headEnd type="none" w="med" len="med"/>
              <a:tailEnd type="none" w="med" len="lg"/>
            </a:ln>
            <a:effectLst/>
          </p:spPr>
          <p:txBody>
            <a:bodyPr wrap="none"/>
            <a:lstStyle/>
            <a:p>
              <a:endParaRPr lang="zh-CN" altLang="en-US">
                <a:latin typeface="Consolas" pitchFamily="49" charset="0"/>
                <a:cs typeface="Consolas" pitchFamily="49" charset="0"/>
              </a:endParaRPr>
            </a:p>
          </p:txBody>
        </p:sp>
        <p:sp>
          <p:nvSpPr>
            <p:cNvPr id="23" name="Freeform 17">
              <a:extLst>
                <a:ext uri="{FF2B5EF4-FFF2-40B4-BE49-F238E27FC236}">
                  <a16:creationId xmlns:a16="http://schemas.microsoft.com/office/drawing/2014/main" id="{3A4732BF-C635-7ED9-20A2-C248B96CADC4}"/>
                </a:ext>
              </a:extLst>
            </p:cNvPr>
            <p:cNvSpPr>
              <a:spLocks/>
            </p:cNvSpPr>
            <p:nvPr/>
          </p:nvSpPr>
          <p:spPr bwMode="auto">
            <a:xfrm>
              <a:off x="1560502" y="5233991"/>
              <a:ext cx="357188" cy="422275"/>
            </a:xfrm>
            <a:custGeom>
              <a:avLst/>
              <a:gdLst/>
              <a:ahLst/>
              <a:cxnLst>
                <a:cxn ang="0">
                  <a:pos x="0" y="266"/>
                </a:cxn>
                <a:cxn ang="0">
                  <a:pos x="225" y="0"/>
                </a:cxn>
              </a:cxnLst>
              <a:rect l="0" t="0" r="r" b="b"/>
              <a:pathLst>
                <a:path w="225" h="266">
                  <a:moveTo>
                    <a:pt x="0" y="266"/>
                  </a:moveTo>
                  <a:lnTo>
                    <a:pt x="225" y="0"/>
                  </a:lnTo>
                </a:path>
              </a:pathLst>
            </a:custGeom>
            <a:noFill/>
            <a:ln w="19050" cap="flat" cmpd="sng">
              <a:solidFill>
                <a:srgbClr val="3333FF"/>
              </a:solidFill>
              <a:prstDash val="solid"/>
              <a:round/>
              <a:headEnd type="none" w="med" len="med"/>
              <a:tailEnd type="none" w="med" len="lg"/>
            </a:ln>
            <a:effectLst/>
          </p:spPr>
          <p:txBody>
            <a:bodyPr wrap="none"/>
            <a:lstStyle/>
            <a:p>
              <a:endParaRPr lang="zh-CN" altLang="en-US">
                <a:latin typeface="Consolas" pitchFamily="49" charset="0"/>
                <a:cs typeface="Consolas" pitchFamily="49" charset="0"/>
              </a:endParaRPr>
            </a:p>
          </p:txBody>
        </p:sp>
        <p:sp>
          <p:nvSpPr>
            <p:cNvPr id="24" name="Line 18">
              <a:extLst>
                <a:ext uri="{FF2B5EF4-FFF2-40B4-BE49-F238E27FC236}">
                  <a16:creationId xmlns:a16="http://schemas.microsoft.com/office/drawing/2014/main" id="{EA78BD88-21F5-B570-D939-12BE247A62E7}"/>
                </a:ext>
              </a:extLst>
            </p:cNvPr>
            <p:cNvSpPr>
              <a:spLocks noChangeShapeType="1"/>
            </p:cNvSpPr>
            <p:nvPr/>
          </p:nvSpPr>
          <p:spPr bwMode="auto">
            <a:xfrm>
              <a:off x="2143108" y="5286388"/>
              <a:ext cx="214314" cy="428628"/>
            </a:xfrm>
            <a:prstGeom prst="line">
              <a:avLst/>
            </a:prstGeom>
            <a:noFill/>
            <a:ln w="19050">
              <a:solidFill>
                <a:srgbClr val="3333FF"/>
              </a:solidFill>
              <a:round/>
              <a:headEnd/>
              <a:tailEnd type="none" w="med" len="lg"/>
            </a:ln>
            <a:effectLst/>
          </p:spPr>
          <p:txBody>
            <a:bodyPr wrap="none"/>
            <a:lstStyle/>
            <a:p>
              <a:endParaRPr lang="zh-CN" altLang="en-US">
                <a:latin typeface="Consolas" pitchFamily="49" charset="0"/>
                <a:cs typeface="Consolas" pitchFamily="49" charset="0"/>
              </a:endParaRPr>
            </a:p>
          </p:txBody>
        </p:sp>
        <p:sp>
          <p:nvSpPr>
            <p:cNvPr id="25" name="Line 19">
              <a:extLst>
                <a:ext uri="{FF2B5EF4-FFF2-40B4-BE49-F238E27FC236}">
                  <a16:creationId xmlns:a16="http://schemas.microsoft.com/office/drawing/2014/main" id="{1492B3BF-F281-0DD5-BD7F-DDD966F98924}"/>
                </a:ext>
              </a:extLst>
            </p:cNvPr>
            <p:cNvSpPr>
              <a:spLocks noChangeShapeType="1"/>
            </p:cNvSpPr>
            <p:nvPr/>
          </p:nvSpPr>
          <p:spPr bwMode="auto">
            <a:xfrm flipH="1">
              <a:off x="2124065" y="4457704"/>
              <a:ext cx="287337" cy="431800"/>
            </a:xfrm>
            <a:prstGeom prst="line">
              <a:avLst/>
            </a:prstGeom>
            <a:noFill/>
            <a:ln w="19050">
              <a:solidFill>
                <a:srgbClr val="3333FF"/>
              </a:solidFill>
              <a:round/>
              <a:headEnd/>
              <a:tailEnd type="none" w="med" len="lg"/>
            </a:ln>
            <a:effectLst/>
          </p:spPr>
          <p:txBody>
            <a:bodyPr wrap="none"/>
            <a:lstStyle/>
            <a:p>
              <a:endParaRPr lang="zh-CN" altLang="en-US">
                <a:latin typeface="Consolas" pitchFamily="49" charset="0"/>
                <a:cs typeface="Consolas" pitchFamily="49" charset="0"/>
              </a:endParaRPr>
            </a:p>
          </p:txBody>
        </p:sp>
        <p:sp>
          <p:nvSpPr>
            <p:cNvPr id="26" name="Line 20">
              <a:extLst>
                <a:ext uri="{FF2B5EF4-FFF2-40B4-BE49-F238E27FC236}">
                  <a16:creationId xmlns:a16="http://schemas.microsoft.com/office/drawing/2014/main" id="{E58EBBCE-52E0-725B-F858-AB2E94A5ACCD}"/>
                </a:ext>
              </a:extLst>
            </p:cNvPr>
            <p:cNvSpPr>
              <a:spLocks noChangeShapeType="1"/>
            </p:cNvSpPr>
            <p:nvPr/>
          </p:nvSpPr>
          <p:spPr bwMode="auto">
            <a:xfrm>
              <a:off x="2640002" y="4432304"/>
              <a:ext cx="215900" cy="431800"/>
            </a:xfrm>
            <a:prstGeom prst="line">
              <a:avLst/>
            </a:prstGeom>
            <a:noFill/>
            <a:ln w="19050">
              <a:solidFill>
                <a:srgbClr val="3333FF"/>
              </a:solidFill>
              <a:round/>
              <a:headEnd/>
              <a:tailEnd type="none" w="med" len="lg"/>
            </a:ln>
            <a:effectLst/>
          </p:spPr>
          <p:txBody>
            <a:bodyPr wrap="none"/>
            <a:lstStyle/>
            <a:p>
              <a:endParaRPr lang="zh-CN" altLang="en-US">
                <a:latin typeface="Consolas" pitchFamily="49" charset="0"/>
                <a:cs typeface="Consolas" pitchFamily="49" charset="0"/>
              </a:endParaRPr>
            </a:p>
          </p:txBody>
        </p:sp>
        <p:sp>
          <p:nvSpPr>
            <p:cNvPr id="27" name="Freeform 21">
              <a:extLst>
                <a:ext uri="{FF2B5EF4-FFF2-40B4-BE49-F238E27FC236}">
                  <a16:creationId xmlns:a16="http://schemas.microsoft.com/office/drawing/2014/main" id="{E59360EC-19B7-7E5B-6A96-82F1477E9192}"/>
                </a:ext>
              </a:extLst>
            </p:cNvPr>
            <p:cNvSpPr>
              <a:spLocks/>
            </p:cNvSpPr>
            <p:nvPr/>
          </p:nvSpPr>
          <p:spPr bwMode="auto">
            <a:xfrm>
              <a:off x="2582852" y="5292729"/>
              <a:ext cx="266700" cy="411162"/>
            </a:xfrm>
            <a:custGeom>
              <a:avLst/>
              <a:gdLst/>
              <a:ahLst/>
              <a:cxnLst>
                <a:cxn ang="0">
                  <a:pos x="168" y="0"/>
                </a:cxn>
                <a:cxn ang="0">
                  <a:pos x="0" y="259"/>
                </a:cxn>
              </a:cxnLst>
              <a:rect l="0" t="0" r="r" b="b"/>
              <a:pathLst>
                <a:path w="168" h="259">
                  <a:moveTo>
                    <a:pt x="168" y="0"/>
                  </a:moveTo>
                  <a:lnTo>
                    <a:pt x="0" y="259"/>
                  </a:lnTo>
                </a:path>
              </a:pathLst>
            </a:custGeom>
            <a:noFill/>
            <a:ln w="19050">
              <a:solidFill>
                <a:srgbClr val="3333FF"/>
              </a:solidFill>
              <a:round/>
              <a:headEnd/>
              <a:tailEnd type="none" w="med" len="lg"/>
            </a:ln>
            <a:effectLst/>
          </p:spPr>
          <p:txBody>
            <a:bodyPr wrap="none"/>
            <a:lstStyle/>
            <a:p>
              <a:endParaRPr lang="zh-CN" altLang="en-US">
                <a:latin typeface="Consolas" pitchFamily="49" charset="0"/>
                <a:cs typeface="Consolas" pitchFamily="49" charset="0"/>
              </a:endParaRPr>
            </a:p>
          </p:txBody>
        </p:sp>
        <p:sp>
          <p:nvSpPr>
            <p:cNvPr id="28" name="Text Box 22">
              <a:extLst>
                <a:ext uri="{FF2B5EF4-FFF2-40B4-BE49-F238E27FC236}">
                  <a16:creationId xmlns:a16="http://schemas.microsoft.com/office/drawing/2014/main" id="{955F4B17-AF86-5A33-4E33-F74F1049319D}"/>
                </a:ext>
              </a:extLst>
            </p:cNvPr>
            <p:cNvSpPr txBox="1">
              <a:spLocks noChangeArrowheads="1"/>
            </p:cNvSpPr>
            <p:nvPr/>
          </p:nvSpPr>
          <p:spPr bwMode="auto">
            <a:xfrm>
              <a:off x="1776402" y="3929066"/>
              <a:ext cx="503238" cy="369332"/>
            </a:xfrm>
            <a:prstGeom prst="rect">
              <a:avLst/>
            </a:prstGeom>
            <a:noFill/>
            <a:ln w="19050" algn="ctr">
              <a:noFill/>
              <a:miter lim="800000"/>
              <a:headEnd/>
              <a:tailEnd type="none" w="med" len="lg"/>
            </a:ln>
            <a:effectLst/>
          </p:spPr>
          <p:txBody>
            <a:bodyPr>
              <a:spAutoFit/>
            </a:bodyPr>
            <a:lstStyle/>
            <a:p>
              <a:pPr algn="l">
                <a:spcBef>
                  <a:spcPct val="50000"/>
                </a:spcBef>
              </a:pPr>
              <a:r>
                <a:rPr lang="en-US" altLang="zh-CN" sz="1800">
                  <a:latin typeface="Consolas" pitchFamily="49" charset="0"/>
                  <a:cs typeface="Consolas" pitchFamily="49" charset="0"/>
                </a:rPr>
                <a:t>28</a:t>
              </a:r>
            </a:p>
          </p:txBody>
        </p:sp>
        <p:sp>
          <p:nvSpPr>
            <p:cNvPr id="29" name="Text Box 23">
              <a:extLst>
                <a:ext uri="{FF2B5EF4-FFF2-40B4-BE49-F238E27FC236}">
                  <a16:creationId xmlns:a16="http://schemas.microsoft.com/office/drawing/2014/main" id="{03750577-B64A-2467-F2B1-2271A6360792}"/>
                </a:ext>
              </a:extLst>
            </p:cNvPr>
            <p:cNvSpPr txBox="1">
              <a:spLocks noChangeArrowheads="1"/>
            </p:cNvSpPr>
            <p:nvPr/>
          </p:nvSpPr>
          <p:spPr bwMode="auto">
            <a:xfrm>
              <a:off x="696902" y="4395791"/>
              <a:ext cx="503238" cy="369332"/>
            </a:xfrm>
            <a:prstGeom prst="rect">
              <a:avLst/>
            </a:prstGeom>
            <a:noFill/>
            <a:ln w="19050" algn="ctr">
              <a:noFill/>
              <a:miter lim="800000"/>
              <a:headEnd/>
              <a:tailEnd type="none" w="med" len="lg"/>
            </a:ln>
            <a:effectLst/>
          </p:spPr>
          <p:txBody>
            <a:bodyPr>
              <a:spAutoFit/>
            </a:bodyPr>
            <a:lstStyle/>
            <a:p>
              <a:pPr algn="l">
                <a:spcBef>
                  <a:spcPct val="50000"/>
                </a:spcBef>
              </a:pPr>
              <a:r>
                <a:rPr lang="en-US" altLang="zh-CN" sz="1800">
                  <a:latin typeface="Consolas" pitchFamily="49" charset="0"/>
                  <a:cs typeface="Consolas" pitchFamily="49" charset="0"/>
                </a:rPr>
                <a:t>10</a:t>
              </a:r>
            </a:p>
          </p:txBody>
        </p:sp>
        <p:sp>
          <p:nvSpPr>
            <p:cNvPr id="30" name="Text Box 25">
              <a:extLst>
                <a:ext uri="{FF2B5EF4-FFF2-40B4-BE49-F238E27FC236}">
                  <a16:creationId xmlns:a16="http://schemas.microsoft.com/office/drawing/2014/main" id="{CFAF6850-F133-A0C8-EA9E-238062901B2E}"/>
                </a:ext>
              </a:extLst>
            </p:cNvPr>
            <p:cNvSpPr txBox="1">
              <a:spLocks noChangeArrowheads="1"/>
            </p:cNvSpPr>
            <p:nvPr/>
          </p:nvSpPr>
          <p:spPr bwMode="auto">
            <a:xfrm>
              <a:off x="1847840" y="4467229"/>
              <a:ext cx="503237" cy="369332"/>
            </a:xfrm>
            <a:prstGeom prst="rect">
              <a:avLst/>
            </a:prstGeom>
            <a:noFill/>
            <a:ln w="19050" algn="ctr">
              <a:noFill/>
              <a:miter lim="800000"/>
              <a:headEnd/>
              <a:tailEnd type="none" w="med" len="lg"/>
            </a:ln>
            <a:effectLst/>
          </p:spPr>
          <p:txBody>
            <a:bodyPr>
              <a:spAutoFit/>
            </a:bodyPr>
            <a:lstStyle/>
            <a:p>
              <a:pPr algn="l">
                <a:spcBef>
                  <a:spcPct val="50000"/>
                </a:spcBef>
              </a:pPr>
              <a:r>
                <a:rPr lang="en-US" altLang="zh-CN" sz="1800">
                  <a:latin typeface="Consolas" pitchFamily="49" charset="0"/>
                  <a:cs typeface="Consolas" pitchFamily="49" charset="0"/>
                </a:rPr>
                <a:t>14</a:t>
              </a:r>
            </a:p>
          </p:txBody>
        </p:sp>
        <p:sp>
          <p:nvSpPr>
            <p:cNvPr id="31" name="Text Box 26">
              <a:extLst>
                <a:ext uri="{FF2B5EF4-FFF2-40B4-BE49-F238E27FC236}">
                  <a16:creationId xmlns:a16="http://schemas.microsoft.com/office/drawing/2014/main" id="{D2693A59-8FC6-452E-F635-1AE566671878}"/>
                </a:ext>
              </a:extLst>
            </p:cNvPr>
            <p:cNvSpPr txBox="1">
              <a:spLocks noChangeArrowheads="1"/>
            </p:cNvSpPr>
            <p:nvPr/>
          </p:nvSpPr>
          <p:spPr bwMode="auto">
            <a:xfrm>
              <a:off x="769927" y="5403854"/>
              <a:ext cx="503238" cy="369332"/>
            </a:xfrm>
            <a:prstGeom prst="rect">
              <a:avLst/>
            </a:prstGeom>
            <a:noFill/>
            <a:ln w="19050" algn="ctr">
              <a:noFill/>
              <a:miter lim="800000"/>
              <a:headEnd/>
              <a:tailEnd type="none" w="med" len="lg"/>
            </a:ln>
            <a:effectLst/>
          </p:spPr>
          <p:txBody>
            <a:bodyPr>
              <a:spAutoFit/>
            </a:bodyPr>
            <a:lstStyle/>
            <a:p>
              <a:pPr algn="l">
                <a:spcBef>
                  <a:spcPct val="50000"/>
                </a:spcBef>
              </a:pPr>
              <a:r>
                <a:rPr lang="en-US" altLang="zh-CN" sz="1800">
                  <a:latin typeface="Consolas" pitchFamily="49" charset="0"/>
                  <a:cs typeface="Consolas" pitchFamily="49" charset="0"/>
                </a:rPr>
                <a:t>25</a:t>
              </a:r>
            </a:p>
          </p:txBody>
        </p:sp>
        <p:sp>
          <p:nvSpPr>
            <p:cNvPr id="32" name="Text Box 28">
              <a:extLst>
                <a:ext uri="{FF2B5EF4-FFF2-40B4-BE49-F238E27FC236}">
                  <a16:creationId xmlns:a16="http://schemas.microsoft.com/office/drawing/2014/main" id="{4B4A3E5F-AFFB-2E62-D547-48A6BDE4DAFA}"/>
                </a:ext>
              </a:extLst>
            </p:cNvPr>
            <p:cNvSpPr txBox="1">
              <a:spLocks noChangeArrowheads="1"/>
            </p:cNvSpPr>
            <p:nvPr/>
          </p:nvSpPr>
          <p:spPr bwMode="auto">
            <a:xfrm>
              <a:off x="2167172" y="5226872"/>
              <a:ext cx="503238" cy="369332"/>
            </a:xfrm>
            <a:prstGeom prst="rect">
              <a:avLst/>
            </a:prstGeom>
            <a:noFill/>
            <a:ln w="19050" algn="ctr">
              <a:noFill/>
              <a:miter lim="800000"/>
              <a:headEnd/>
              <a:tailEnd type="none" w="med" len="lg"/>
            </a:ln>
            <a:effectLst/>
          </p:spPr>
          <p:txBody>
            <a:bodyPr>
              <a:spAutoFit/>
            </a:bodyPr>
            <a:lstStyle/>
            <a:p>
              <a:pPr algn="l">
                <a:spcBef>
                  <a:spcPct val="50000"/>
                </a:spcBef>
              </a:pPr>
              <a:r>
                <a:rPr lang="en-US" altLang="zh-CN" sz="1800">
                  <a:latin typeface="Consolas" pitchFamily="49" charset="0"/>
                  <a:cs typeface="Consolas" pitchFamily="49" charset="0"/>
                </a:rPr>
                <a:t>18</a:t>
              </a:r>
            </a:p>
          </p:txBody>
        </p:sp>
        <p:sp>
          <p:nvSpPr>
            <p:cNvPr id="33" name="Text Box 29">
              <a:extLst>
                <a:ext uri="{FF2B5EF4-FFF2-40B4-BE49-F238E27FC236}">
                  <a16:creationId xmlns:a16="http://schemas.microsoft.com/office/drawing/2014/main" id="{D3BCB081-8A8F-A085-2597-A0A66A246744}"/>
                </a:ext>
              </a:extLst>
            </p:cNvPr>
            <p:cNvSpPr txBox="1">
              <a:spLocks noChangeArrowheads="1"/>
            </p:cNvSpPr>
            <p:nvPr/>
          </p:nvSpPr>
          <p:spPr bwMode="auto">
            <a:xfrm>
              <a:off x="1776402" y="5872166"/>
              <a:ext cx="503238" cy="369332"/>
            </a:xfrm>
            <a:prstGeom prst="rect">
              <a:avLst/>
            </a:prstGeom>
            <a:noFill/>
            <a:ln w="19050" algn="ctr">
              <a:noFill/>
              <a:miter lim="800000"/>
              <a:headEnd/>
              <a:tailEnd type="none" w="med" len="lg"/>
            </a:ln>
            <a:effectLst/>
          </p:spPr>
          <p:txBody>
            <a:bodyPr>
              <a:spAutoFit/>
            </a:bodyPr>
            <a:lstStyle/>
            <a:p>
              <a:pPr algn="l">
                <a:spcBef>
                  <a:spcPct val="50000"/>
                </a:spcBef>
              </a:pPr>
              <a:r>
                <a:rPr lang="en-US" altLang="zh-CN" sz="1800">
                  <a:latin typeface="Consolas" pitchFamily="49" charset="0"/>
                  <a:cs typeface="Consolas" pitchFamily="49" charset="0"/>
                </a:rPr>
                <a:t>22</a:t>
              </a:r>
            </a:p>
          </p:txBody>
        </p:sp>
      </p:grpSp>
      <p:grpSp>
        <p:nvGrpSpPr>
          <p:cNvPr id="34" name="组合 31">
            <a:extLst>
              <a:ext uri="{FF2B5EF4-FFF2-40B4-BE49-F238E27FC236}">
                <a16:creationId xmlns:a16="http://schemas.microsoft.com/office/drawing/2014/main" id="{7F67E083-7BF5-DF69-627E-AF1288D8521C}"/>
              </a:ext>
            </a:extLst>
          </p:cNvPr>
          <p:cNvGrpSpPr/>
          <p:nvPr/>
        </p:nvGrpSpPr>
        <p:grpSpPr>
          <a:xfrm>
            <a:off x="6566773" y="4573006"/>
            <a:ext cx="2376487" cy="2016125"/>
            <a:chOff x="322263" y="1651000"/>
            <a:chExt cx="2376487" cy="2016125"/>
          </a:xfrm>
        </p:grpSpPr>
        <p:sp>
          <p:nvSpPr>
            <p:cNvPr id="35" name="Oval 6">
              <a:extLst>
                <a:ext uri="{FF2B5EF4-FFF2-40B4-BE49-F238E27FC236}">
                  <a16:creationId xmlns:a16="http://schemas.microsoft.com/office/drawing/2014/main" id="{0E0F1ECF-0D07-C891-6480-E48E8939FA7C}"/>
                </a:ext>
              </a:extLst>
            </p:cNvPr>
            <p:cNvSpPr>
              <a:spLocks noChangeArrowheads="1"/>
            </p:cNvSpPr>
            <p:nvPr/>
          </p:nvSpPr>
          <p:spPr bwMode="auto">
            <a:xfrm>
              <a:off x="898525" y="1651000"/>
              <a:ext cx="360363" cy="431800"/>
            </a:xfrm>
            <a:prstGeom prst="ellipse">
              <a:avLst/>
            </a:prstGeom>
            <a:ln>
              <a:headEnd/>
              <a:tailEnd type="none" w="med" len="lg"/>
            </a:ln>
          </p:spPr>
          <p:style>
            <a:lnRef idx="1">
              <a:schemeClr val="accent2"/>
            </a:lnRef>
            <a:fillRef idx="2">
              <a:schemeClr val="accent2"/>
            </a:fillRef>
            <a:effectRef idx="1">
              <a:schemeClr val="accent2"/>
            </a:effectRef>
            <a:fontRef idx="minor">
              <a:schemeClr val="dk1"/>
            </a:fontRef>
          </p:style>
          <p:txBody>
            <a:bodyPr wrap="none" anchor="ctr"/>
            <a:lstStyle/>
            <a:p>
              <a:r>
                <a:rPr lang="en-US" altLang="zh-CN" sz="2000" dirty="0">
                  <a:solidFill>
                    <a:srgbClr val="0000FF"/>
                  </a:solidFill>
                  <a:latin typeface="Consolas" pitchFamily="49" charset="0"/>
                  <a:cs typeface="Consolas" pitchFamily="49" charset="0"/>
                </a:rPr>
                <a:t>0</a:t>
              </a:r>
            </a:p>
          </p:txBody>
        </p:sp>
        <p:sp>
          <p:nvSpPr>
            <p:cNvPr id="36" name="Oval 7">
              <a:extLst>
                <a:ext uri="{FF2B5EF4-FFF2-40B4-BE49-F238E27FC236}">
                  <a16:creationId xmlns:a16="http://schemas.microsoft.com/office/drawing/2014/main" id="{414BF647-115C-B27C-00DC-B33B0C13C087}"/>
                </a:ext>
              </a:extLst>
            </p:cNvPr>
            <p:cNvSpPr>
              <a:spLocks noChangeArrowheads="1"/>
            </p:cNvSpPr>
            <p:nvPr/>
          </p:nvSpPr>
          <p:spPr bwMode="auto">
            <a:xfrm>
              <a:off x="1979613" y="1651000"/>
              <a:ext cx="360362" cy="431800"/>
            </a:xfrm>
            <a:prstGeom prst="ellipse">
              <a:avLst/>
            </a:prstGeom>
            <a:ln>
              <a:headEnd/>
              <a:tailEnd type="none" w="med" len="lg"/>
            </a:ln>
          </p:spPr>
          <p:style>
            <a:lnRef idx="1">
              <a:schemeClr val="accent2"/>
            </a:lnRef>
            <a:fillRef idx="2">
              <a:schemeClr val="accent2"/>
            </a:fillRef>
            <a:effectRef idx="1">
              <a:schemeClr val="accent2"/>
            </a:effectRef>
            <a:fontRef idx="minor">
              <a:schemeClr val="dk1"/>
            </a:fontRef>
          </p:style>
          <p:txBody>
            <a:bodyPr wrap="none" anchor="ctr"/>
            <a:lstStyle/>
            <a:p>
              <a:r>
                <a:rPr lang="en-US" altLang="zh-CN" sz="2000">
                  <a:solidFill>
                    <a:srgbClr val="0000FF"/>
                  </a:solidFill>
                  <a:latin typeface="Consolas" pitchFamily="49" charset="0"/>
                  <a:cs typeface="Consolas" pitchFamily="49" charset="0"/>
                </a:rPr>
                <a:t>1</a:t>
              </a:r>
            </a:p>
          </p:txBody>
        </p:sp>
        <p:sp>
          <p:nvSpPr>
            <p:cNvPr id="37" name="Oval 8">
              <a:extLst>
                <a:ext uri="{FF2B5EF4-FFF2-40B4-BE49-F238E27FC236}">
                  <a16:creationId xmlns:a16="http://schemas.microsoft.com/office/drawing/2014/main" id="{C2AD8B46-0028-DA27-5CED-AD67F467C11C}"/>
                </a:ext>
              </a:extLst>
            </p:cNvPr>
            <p:cNvSpPr>
              <a:spLocks noChangeArrowheads="1"/>
            </p:cNvSpPr>
            <p:nvPr/>
          </p:nvSpPr>
          <p:spPr bwMode="auto">
            <a:xfrm>
              <a:off x="322263" y="2516188"/>
              <a:ext cx="360362" cy="431800"/>
            </a:xfrm>
            <a:prstGeom prst="ellipse">
              <a:avLst/>
            </a:prstGeom>
            <a:ln>
              <a:headEnd/>
              <a:tailEnd type="none" w="med" len="lg"/>
            </a:ln>
          </p:spPr>
          <p:style>
            <a:lnRef idx="1">
              <a:schemeClr val="accent2"/>
            </a:lnRef>
            <a:fillRef idx="2">
              <a:schemeClr val="accent2"/>
            </a:fillRef>
            <a:effectRef idx="1">
              <a:schemeClr val="accent2"/>
            </a:effectRef>
            <a:fontRef idx="minor">
              <a:schemeClr val="dk1"/>
            </a:fontRef>
          </p:style>
          <p:txBody>
            <a:bodyPr wrap="none" anchor="ctr"/>
            <a:lstStyle/>
            <a:p>
              <a:r>
                <a:rPr lang="en-US" altLang="zh-CN" sz="2000">
                  <a:solidFill>
                    <a:srgbClr val="0000FF"/>
                  </a:solidFill>
                  <a:latin typeface="Consolas" pitchFamily="49" charset="0"/>
                  <a:cs typeface="Consolas" pitchFamily="49" charset="0"/>
                </a:rPr>
                <a:t>5</a:t>
              </a:r>
            </a:p>
          </p:txBody>
        </p:sp>
        <p:sp>
          <p:nvSpPr>
            <p:cNvPr id="38" name="Oval 9">
              <a:extLst>
                <a:ext uri="{FF2B5EF4-FFF2-40B4-BE49-F238E27FC236}">
                  <a16:creationId xmlns:a16="http://schemas.microsoft.com/office/drawing/2014/main" id="{036DD0EC-5189-8765-1FC4-E5DE16CC9E92}"/>
                </a:ext>
              </a:extLst>
            </p:cNvPr>
            <p:cNvSpPr>
              <a:spLocks noChangeArrowheads="1"/>
            </p:cNvSpPr>
            <p:nvPr/>
          </p:nvSpPr>
          <p:spPr bwMode="auto">
            <a:xfrm>
              <a:off x="971550" y="3235325"/>
              <a:ext cx="360363" cy="431800"/>
            </a:xfrm>
            <a:prstGeom prst="ellipse">
              <a:avLst/>
            </a:prstGeom>
            <a:ln>
              <a:headEnd/>
              <a:tailEnd type="none" w="med" len="lg"/>
            </a:ln>
          </p:spPr>
          <p:style>
            <a:lnRef idx="1">
              <a:schemeClr val="accent2"/>
            </a:lnRef>
            <a:fillRef idx="2">
              <a:schemeClr val="accent2"/>
            </a:fillRef>
            <a:effectRef idx="1">
              <a:schemeClr val="accent2"/>
            </a:effectRef>
            <a:fontRef idx="minor">
              <a:schemeClr val="dk1"/>
            </a:fontRef>
          </p:style>
          <p:txBody>
            <a:bodyPr wrap="none" anchor="ctr"/>
            <a:lstStyle/>
            <a:p>
              <a:r>
                <a:rPr lang="en-US" altLang="zh-CN" sz="2000">
                  <a:solidFill>
                    <a:srgbClr val="0000FF"/>
                  </a:solidFill>
                  <a:latin typeface="Consolas" pitchFamily="49" charset="0"/>
                  <a:cs typeface="Consolas" pitchFamily="49" charset="0"/>
                </a:rPr>
                <a:t>4</a:t>
              </a:r>
            </a:p>
          </p:txBody>
        </p:sp>
        <p:sp>
          <p:nvSpPr>
            <p:cNvPr id="39" name="Oval 10">
              <a:extLst>
                <a:ext uri="{FF2B5EF4-FFF2-40B4-BE49-F238E27FC236}">
                  <a16:creationId xmlns:a16="http://schemas.microsoft.com/office/drawing/2014/main" id="{47D97BAB-C9B7-6C8B-847F-13D825AD2B62}"/>
                </a:ext>
              </a:extLst>
            </p:cNvPr>
            <p:cNvSpPr>
              <a:spLocks noChangeArrowheads="1"/>
            </p:cNvSpPr>
            <p:nvPr/>
          </p:nvSpPr>
          <p:spPr bwMode="auto">
            <a:xfrm>
              <a:off x="1906588" y="3235325"/>
              <a:ext cx="360362" cy="431800"/>
            </a:xfrm>
            <a:prstGeom prst="ellipse">
              <a:avLst/>
            </a:prstGeom>
            <a:ln>
              <a:headEnd/>
              <a:tailEnd type="none" w="med" len="lg"/>
            </a:ln>
          </p:spPr>
          <p:style>
            <a:lnRef idx="1">
              <a:schemeClr val="accent2"/>
            </a:lnRef>
            <a:fillRef idx="2">
              <a:schemeClr val="accent2"/>
            </a:fillRef>
            <a:effectRef idx="1">
              <a:schemeClr val="accent2"/>
            </a:effectRef>
            <a:fontRef idx="minor">
              <a:schemeClr val="dk1"/>
            </a:fontRef>
          </p:style>
          <p:txBody>
            <a:bodyPr wrap="none" anchor="ctr"/>
            <a:lstStyle/>
            <a:p>
              <a:r>
                <a:rPr lang="en-US" altLang="zh-CN" sz="2000">
                  <a:solidFill>
                    <a:srgbClr val="0000FF"/>
                  </a:solidFill>
                  <a:latin typeface="Consolas" pitchFamily="49" charset="0"/>
                  <a:cs typeface="Consolas" pitchFamily="49" charset="0"/>
                </a:rPr>
                <a:t>3</a:t>
              </a:r>
            </a:p>
          </p:txBody>
        </p:sp>
        <p:sp>
          <p:nvSpPr>
            <p:cNvPr id="40" name="Oval 11">
              <a:extLst>
                <a:ext uri="{FF2B5EF4-FFF2-40B4-BE49-F238E27FC236}">
                  <a16:creationId xmlns:a16="http://schemas.microsoft.com/office/drawing/2014/main" id="{D4A2AD78-B242-072B-68EA-420AA40CD82F}"/>
                </a:ext>
              </a:extLst>
            </p:cNvPr>
            <p:cNvSpPr>
              <a:spLocks noChangeArrowheads="1"/>
            </p:cNvSpPr>
            <p:nvPr/>
          </p:nvSpPr>
          <p:spPr bwMode="auto">
            <a:xfrm>
              <a:off x="1474788" y="2443163"/>
              <a:ext cx="360362" cy="431800"/>
            </a:xfrm>
            <a:prstGeom prst="ellipse">
              <a:avLst/>
            </a:prstGeom>
            <a:ln>
              <a:headEnd/>
              <a:tailEnd type="none" w="med" len="lg"/>
            </a:ln>
          </p:spPr>
          <p:style>
            <a:lnRef idx="1">
              <a:schemeClr val="accent2"/>
            </a:lnRef>
            <a:fillRef idx="2">
              <a:schemeClr val="accent2"/>
            </a:fillRef>
            <a:effectRef idx="1">
              <a:schemeClr val="accent2"/>
            </a:effectRef>
            <a:fontRef idx="minor">
              <a:schemeClr val="dk1"/>
            </a:fontRef>
          </p:style>
          <p:txBody>
            <a:bodyPr wrap="none" anchor="ctr"/>
            <a:lstStyle/>
            <a:p>
              <a:r>
                <a:rPr lang="en-US" altLang="zh-CN" sz="2000">
                  <a:solidFill>
                    <a:srgbClr val="0000FF"/>
                  </a:solidFill>
                  <a:latin typeface="Consolas" pitchFamily="49" charset="0"/>
                  <a:cs typeface="Consolas" pitchFamily="49" charset="0"/>
                </a:rPr>
                <a:t>6</a:t>
              </a:r>
            </a:p>
          </p:txBody>
        </p:sp>
        <p:sp>
          <p:nvSpPr>
            <p:cNvPr id="41" name="Oval 12">
              <a:extLst>
                <a:ext uri="{FF2B5EF4-FFF2-40B4-BE49-F238E27FC236}">
                  <a16:creationId xmlns:a16="http://schemas.microsoft.com/office/drawing/2014/main" id="{914F3DA2-0B32-9167-BACC-2B8B8EB6D2A0}"/>
                </a:ext>
              </a:extLst>
            </p:cNvPr>
            <p:cNvSpPr>
              <a:spLocks noChangeArrowheads="1"/>
            </p:cNvSpPr>
            <p:nvPr/>
          </p:nvSpPr>
          <p:spPr bwMode="auto">
            <a:xfrm>
              <a:off x="2338388" y="2443163"/>
              <a:ext cx="360362" cy="431800"/>
            </a:xfrm>
            <a:prstGeom prst="ellipse">
              <a:avLst/>
            </a:prstGeom>
            <a:ln>
              <a:headEnd/>
              <a:tailEnd type="none" w="med" len="lg"/>
            </a:ln>
          </p:spPr>
          <p:style>
            <a:lnRef idx="1">
              <a:schemeClr val="accent2"/>
            </a:lnRef>
            <a:fillRef idx="2">
              <a:schemeClr val="accent2"/>
            </a:fillRef>
            <a:effectRef idx="1">
              <a:schemeClr val="accent2"/>
            </a:effectRef>
            <a:fontRef idx="minor">
              <a:schemeClr val="dk1"/>
            </a:fontRef>
          </p:style>
          <p:txBody>
            <a:bodyPr wrap="none" anchor="ctr"/>
            <a:lstStyle/>
            <a:p>
              <a:r>
                <a:rPr lang="en-US" altLang="zh-CN" sz="2000">
                  <a:solidFill>
                    <a:srgbClr val="0000FF"/>
                  </a:solidFill>
                  <a:latin typeface="Consolas" pitchFamily="49" charset="0"/>
                  <a:cs typeface="Consolas" pitchFamily="49" charset="0"/>
                </a:rPr>
                <a:t>2</a:t>
              </a:r>
            </a:p>
          </p:txBody>
        </p:sp>
      </p:grpSp>
      <p:grpSp>
        <p:nvGrpSpPr>
          <p:cNvPr id="42" name="组合 56">
            <a:extLst>
              <a:ext uri="{FF2B5EF4-FFF2-40B4-BE49-F238E27FC236}">
                <a16:creationId xmlns:a16="http://schemas.microsoft.com/office/drawing/2014/main" id="{02604048-308F-5B62-31A0-5343C1900E28}"/>
              </a:ext>
            </a:extLst>
          </p:cNvPr>
          <p:cNvGrpSpPr/>
          <p:nvPr/>
        </p:nvGrpSpPr>
        <p:grpSpPr>
          <a:xfrm>
            <a:off x="4799856" y="4626966"/>
            <a:ext cx="1571636" cy="1000132"/>
            <a:chOff x="3500430" y="4429132"/>
            <a:chExt cx="1571636" cy="1000132"/>
          </a:xfrm>
        </p:grpSpPr>
        <p:sp>
          <p:nvSpPr>
            <p:cNvPr id="43" name="右箭头 54">
              <a:extLst>
                <a:ext uri="{FF2B5EF4-FFF2-40B4-BE49-F238E27FC236}">
                  <a16:creationId xmlns:a16="http://schemas.microsoft.com/office/drawing/2014/main" id="{CC23A8D8-4D07-6EDE-C321-9482013F3B02}"/>
                </a:ext>
              </a:extLst>
            </p:cNvPr>
            <p:cNvSpPr/>
            <p:nvPr/>
          </p:nvSpPr>
          <p:spPr bwMode="auto">
            <a:xfrm>
              <a:off x="3643306" y="5214950"/>
              <a:ext cx="1428760" cy="214314"/>
            </a:xfrm>
            <a:prstGeom prst="rightArrow">
              <a:avLst/>
            </a:prstGeom>
            <a:ln>
              <a:headEnd type="none" w="med" len="med"/>
              <a:tailEnd type="none" w="med" len="lg"/>
            </a:ln>
          </p:spPr>
          <p:style>
            <a:lnRef idx="1">
              <a:schemeClr val="accent4"/>
            </a:lnRef>
            <a:fillRef idx="3">
              <a:schemeClr val="accent4"/>
            </a:fillRef>
            <a:effectRef idx="2">
              <a:schemeClr val="accent4"/>
            </a:effectRef>
            <a:fontRef idx="minor">
              <a:schemeClr val="lt1"/>
            </a:fontRef>
          </p:style>
          <p:txBody>
            <a:bodyPr wrap="none" rtlCol="0" anchor="ctr"/>
            <a:lstStyle/>
            <a:p>
              <a:pPr algn="ctr"/>
              <a:endParaRPr lang="zh-CN" altLang="en-US"/>
            </a:p>
          </p:txBody>
        </p:sp>
        <p:sp>
          <p:nvSpPr>
            <p:cNvPr id="44" name="TextBox 55">
              <a:extLst>
                <a:ext uri="{FF2B5EF4-FFF2-40B4-BE49-F238E27FC236}">
                  <a16:creationId xmlns:a16="http://schemas.microsoft.com/office/drawing/2014/main" id="{7CAAE5A2-0F9F-D052-D1C9-CB0B2CD8667C}"/>
                </a:ext>
              </a:extLst>
            </p:cNvPr>
            <p:cNvSpPr txBox="1"/>
            <p:nvPr/>
          </p:nvSpPr>
          <p:spPr>
            <a:xfrm>
              <a:off x="3500430" y="4429132"/>
              <a:ext cx="1571636" cy="646331"/>
            </a:xfrm>
            <a:prstGeom prst="rect">
              <a:avLst/>
            </a:prstGeom>
            <a:noFill/>
          </p:spPr>
          <p:txBody>
            <a:bodyPr wrap="square" rtlCol="0">
              <a:spAutoFit/>
            </a:bodyPr>
            <a:lstStyle/>
            <a:p>
              <a:r>
                <a:rPr lang="zh-CN" altLang="en-US" sz="1800">
                  <a:latin typeface="Consolas" pitchFamily="49" charset="0"/>
                  <a:ea typeface="仿宋" pitchFamily="49" charset="-122"/>
                  <a:cs typeface="Consolas" pitchFamily="49" charset="0"/>
                </a:rPr>
                <a:t>有</a:t>
              </a:r>
              <a:r>
                <a:rPr lang="zh-CN" altLang="en-US" sz="1800">
                  <a:solidFill>
                    <a:srgbClr val="FF0000"/>
                  </a:solidFill>
                  <a:latin typeface="Consolas" pitchFamily="49" charset="0"/>
                  <a:ea typeface="仿宋" pitchFamily="49" charset="-122"/>
                  <a:cs typeface="Consolas" pitchFamily="49" charset="0"/>
                </a:rPr>
                <a:t>条件</a:t>
              </a:r>
              <a:r>
                <a:rPr lang="zh-CN" altLang="en-US" sz="1800">
                  <a:latin typeface="Consolas" pitchFamily="49" charset="0"/>
                  <a:ea typeface="仿宋" pitchFamily="49" charset="-122"/>
                  <a:cs typeface="Consolas" pitchFamily="49" charset="0"/>
                </a:rPr>
                <a:t>地加入</a:t>
              </a:r>
              <a:r>
                <a:rPr kumimoji="1" lang="en-US" altLang="zh-CN" sz="1800">
                  <a:solidFill>
                    <a:srgbClr val="0000FF"/>
                  </a:solidFill>
                  <a:latin typeface="Consolas" pitchFamily="49" charset="0"/>
                  <a:ea typeface="仿宋" pitchFamily="49" charset="-122"/>
                  <a:cs typeface="Consolas" pitchFamily="49" charset="0"/>
                </a:rPr>
                <a:t>(</a:t>
              </a:r>
              <a:r>
                <a:rPr kumimoji="1" lang="en-US" altLang="zh-CN" sz="1800" i="1">
                  <a:solidFill>
                    <a:srgbClr val="0000FF"/>
                  </a:solidFill>
                  <a:latin typeface="Consolas" pitchFamily="49" charset="0"/>
                  <a:ea typeface="仿宋" pitchFamily="49" charset="-122"/>
                  <a:cs typeface="Consolas" pitchFamily="49" charset="0"/>
                </a:rPr>
                <a:t>n</a:t>
              </a:r>
              <a:r>
                <a:rPr kumimoji="1" lang="en-US" altLang="zh-CN" sz="1800">
                  <a:solidFill>
                    <a:srgbClr val="0000FF"/>
                  </a:solidFill>
                  <a:latin typeface="Consolas" pitchFamily="49" charset="0"/>
                  <a:ea typeface="仿宋" pitchFamily="49" charset="-122"/>
                  <a:cs typeface="Consolas" pitchFamily="49" charset="0"/>
                </a:rPr>
                <a:t>-1)</a:t>
              </a:r>
              <a:r>
                <a:rPr kumimoji="1" lang="zh-CN" altLang="en-US" sz="1800">
                  <a:solidFill>
                    <a:srgbClr val="0000FF"/>
                  </a:solidFill>
                  <a:latin typeface="Consolas" pitchFamily="49" charset="0"/>
                  <a:ea typeface="仿宋" pitchFamily="49" charset="-122"/>
                  <a:cs typeface="Consolas" pitchFamily="49" charset="0"/>
                </a:rPr>
                <a:t>条边</a:t>
              </a:r>
              <a:endParaRPr lang="zh-CN" altLang="en-US" sz="1800">
                <a:latin typeface="Consolas" pitchFamily="49" charset="0"/>
                <a:ea typeface="仿宋" pitchFamily="49" charset="-122"/>
                <a:cs typeface="Consolas" pitchFamily="49" charset="0"/>
              </a:endParaRPr>
            </a:p>
          </p:txBody>
        </p:sp>
      </p:grpSp>
      <p:sp>
        <p:nvSpPr>
          <p:cNvPr id="45" name="TextBox 40">
            <a:extLst>
              <a:ext uri="{FF2B5EF4-FFF2-40B4-BE49-F238E27FC236}">
                <a16:creationId xmlns:a16="http://schemas.microsoft.com/office/drawing/2014/main" id="{752008D3-BF98-239A-9D65-EBF3F8CB3B39}"/>
              </a:ext>
            </a:extLst>
          </p:cNvPr>
          <p:cNvSpPr txBox="1"/>
          <p:nvPr/>
        </p:nvSpPr>
        <p:spPr>
          <a:xfrm>
            <a:off x="9912424" y="5180959"/>
            <a:ext cx="1214446" cy="400110"/>
          </a:xfrm>
          <a:prstGeom prst="rect">
            <a:avLst/>
          </a:prstGeom>
          <a:noFill/>
        </p:spPr>
        <p:txBody>
          <a:bodyPr wrap="square" rtlCol="0">
            <a:spAutoFit/>
          </a:bodyPr>
          <a:lstStyle/>
          <a:p>
            <a:r>
              <a:rPr lang="en-US" altLang="zh-CN" sz="2000">
                <a:latin typeface="Consolas" pitchFamily="49" charset="0"/>
                <a:cs typeface="Consolas" pitchFamily="49" charset="0"/>
              </a:rPr>
              <a:t>TE={}</a:t>
            </a:r>
            <a:endParaRPr lang="zh-CN" altLang="en-US" sz="2000" dirty="0">
              <a:latin typeface="Consolas" pitchFamily="49" charset="0"/>
              <a:cs typeface="Consolas" pitchFamily="49" charset="0"/>
            </a:endParaRPr>
          </a:p>
        </p:txBody>
      </p:sp>
      <p:sp>
        <p:nvSpPr>
          <p:cNvPr id="46" name="Text Box 25">
            <a:extLst>
              <a:ext uri="{FF2B5EF4-FFF2-40B4-BE49-F238E27FC236}">
                <a16:creationId xmlns:a16="http://schemas.microsoft.com/office/drawing/2014/main" id="{54BF9705-30F9-2A05-570C-71A7488CC42E}"/>
              </a:ext>
            </a:extLst>
          </p:cNvPr>
          <p:cNvSpPr txBox="1">
            <a:spLocks noChangeArrowheads="1"/>
          </p:cNvSpPr>
          <p:nvPr/>
        </p:nvSpPr>
        <p:spPr bwMode="auto">
          <a:xfrm>
            <a:off x="4010867" y="4892097"/>
            <a:ext cx="503237" cy="369332"/>
          </a:xfrm>
          <a:prstGeom prst="rect">
            <a:avLst/>
          </a:prstGeom>
          <a:noFill/>
          <a:ln w="19050" algn="ctr">
            <a:noFill/>
            <a:miter lim="800000"/>
            <a:headEnd/>
            <a:tailEnd type="none" w="med" len="lg"/>
          </a:ln>
          <a:effectLst/>
        </p:spPr>
        <p:txBody>
          <a:bodyPr>
            <a:spAutoFit/>
          </a:bodyPr>
          <a:lstStyle/>
          <a:p>
            <a:pPr algn="l">
              <a:spcBef>
                <a:spcPct val="50000"/>
              </a:spcBef>
            </a:pPr>
            <a:r>
              <a:rPr lang="en-US" altLang="zh-CN" sz="1800">
                <a:latin typeface="Consolas" pitchFamily="49" charset="0"/>
                <a:cs typeface="Consolas" pitchFamily="49" charset="0"/>
              </a:rPr>
              <a:t>16</a:t>
            </a:r>
          </a:p>
        </p:txBody>
      </p:sp>
      <p:sp>
        <p:nvSpPr>
          <p:cNvPr id="47" name="Text Box 25">
            <a:extLst>
              <a:ext uri="{FF2B5EF4-FFF2-40B4-BE49-F238E27FC236}">
                <a16:creationId xmlns:a16="http://schemas.microsoft.com/office/drawing/2014/main" id="{20D8207A-4C73-640A-2041-C56548177236}"/>
              </a:ext>
            </a:extLst>
          </p:cNvPr>
          <p:cNvSpPr txBox="1">
            <a:spLocks noChangeArrowheads="1"/>
          </p:cNvSpPr>
          <p:nvPr/>
        </p:nvSpPr>
        <p:spPr bwMode="auto">
          <a:xfrm>
            <a:off x="3942600" y="5880087"/>
            <a:ext cx="503237" cy="369332"/>
          </a:xfrm>
          <a:prstGeom prst="rect">
            <a:avLst/>
          </a:prstGeom>
          <a:noFill/>
          <a:ln w="19050" algn="ctr">
            <a:noFill/>
            <a:miter lim="800000"/>
            <a:headEnd/>
            <a:tailEnd type="none" w="med" len="lg"/>
          </a:ln>
          <a:effectLst/>
        </p:spPr>
        <p:txBody>
          <a:bodyPr>
            <a:spAutoFit/>
          </a:bodyPr>
          <a:lstStyle/>
          <a:p>
            <a:pPr algn="l">
              <a:spcBef>
                <a:spcPct val="50000"/>
              </a:spcBef>
            </a:pPr>
            <a:r>
              <a:rPr lang="en-US" altLang="zh-CN" sz="1800">
                <a:latin typeface="Consolas" pitchFamily="49" charset="0"/>
                <a:cs typeface="Consolas" pitchFamily="49" charset="0"/>
              </a:rPr>
              <a:t>12</a:t>
            </a:r>
          </a:p>
        </p:txBody>
      </p:sp>
    </p:spTree>
    <p:extLst>
      <p:ext uri="{BB962C8B-B14F-4D97-AF65-F5344CB8AC3E}">
        <p14:creationId xmlns:p14="http://schemas.microsoft.com/office/powerpoint/2010/main" val="14605536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xEl>
                                              <p:pRg st="3" end="3"/>
                                            </p:txEl>
                                          </p:spTgt>
                                        </p:tgtEl>
                                        <p:attrNameLst>
                                          <p:attrName>style.visibility</p:attrName>
                                        </p:attrNameLst>
                                      </p:cBhvr>
                                      <p:to>
                                        <p:strVal val="visible"/>
                                      </p:to>
                                    </p:set>
                                  </p:childTnLst>
                                </p:cTn>
                              </p:par>
                            </p:childTnLst>
                          </p:cTn>
                        </p:par>
                        <p:par>
                          <p:cTn id="11" fill="hold">
                            <p:stCondLst>
                              <p:cond delay="0"/>
                            </p:stCondLst>
                            <p:childTnLst>
                              <p:par>
                                <p:cTn id="12" presetID="1" presetClass="entr" presetSubtype="0" fill="hold" nodeType="afterEffect">
                                  <p:stCondLst>
                                    <p:cond delay="0"/>
                                  </p:stCondLst>
                                  <p:childTnLst>
                                    <p:set>
                                      <p:cBhvr>
                                        <p:cTn id="13" dur="1" fill="hold">
                                          <p:stCondLst>
                                            <p:cond delay="0"/>
                                          </p:stCondLst>
                                        </p:cTn>
                                        <p:tgtEl>
                                          <p:spTgt spid="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5AD8CD-C787-5C12-0915-1558EB20FD76}"/>
            </a:ext>
          </a:extLst>
        </p:cNvPr>
        <p:cNvGrpSpPr/>
        <p:nvPr/>
      </p:nvGrpSpPr>
      <p:grpSpPr>
        <a:xfrm>
          <a:off x="0" y="0"/>
          <a:ext cx="0" cy="0"/>
          <a:chOff x="0" y="0"/>
          <a:chExt cx="0" cy="0"/>
        </a:xfrm>
      </p:grpSpPr>
      <p:sp>
        <p:nvSpPr>
          <p:cNvPr id="2" name="Rectangle 2">
            <a:extLst>
              <a:ext uri="{FF2B5EF4-FFF2-40B4-BE49-F238E27FC236}">
                <a16:creationId xmlns:a16="http://schemas.microsoft.com/office/drawing/2014/main" id="{BB0E2016-D2BD-12EE-A98A-FA8C00C412E7}"/>
              </a:ext>
            </a:extLst>
          </p:cNvPr>
          <p:cNvSpPr txBox="1">
            <a:spLocks noChangeArrowheads="1"/>
          </p:cNvSpPr>
          <p:nvPr/>
        </p:nvSpPr>
        <p:spPr>
          <a:xfrm>
            <a:off x="474772" y="1230902"/>
            <a:ext cx="6485324"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8.4.4 </a:t>
            </a:r>
            <a:r>
              <a:rPr kumimoji="1" lang="zh-CN" altLang="en-US" dirty="0">
                <a:latin typeface="微软雅黑" pitchFamily="34" charset="-122"/>
                <a:ea typeface="微软雅黑" pitchFamily="34" charset="-122"/>
              </a:rPr>
              <a:t>克鲁斯卡尔算法 </a:t>
            </a:r>
            <a:r>
              <a:rPr kumimoji="1" lang="en-US" altLang="zh-CN" dirty="0">
                <a:latin typeface="微软雅黑" pitchFamily="34" charset="-122"/>
                <a:ea typeface="微软雅黑" pitchFamily="34" charset="-122"/>
              </a:rPr>
              <a:t>(Kruskal)</a:t>
            </a:r>
            <a:r>
              <a:rPr kumimoji="1" lang="zh-CN" altLang="en-US" dirty="0">
                <a:latin typeface="微软雅黑" pitchFamily="34" charset="-122"/>
                <a:ea typeface="微软雅黑" pitchFamily="34" charset="-122"/>
              </a:rPr>
              <a:t>算法</a:t>
            </a:r>
          </a:p>
        </p:txBody>
      </p:sp>
      <p:cxnSp>
        <p:nvCxnSpPr>
          <p:cNvPr id="3" name="直接连接符 2">
            <a:extLst>
              <a:ext uri="{FF2B5EF4-FFF2-40B4-BE49-F238E27FC236}">
                <a16:creationId xmlns:a16="http://schemas.microsoft.com/office/drawing/2014/main" id="{0F5CDDDB-5B8B-F59B-A6CF-7E957A31A14C}"/>
              </a:ext>
            </a:extLst>
          </p:cNvPr>
          <p:cNvCxnSpPr>
            <a:cxnSpLocks/>
          </p:cNvCxnSpPr>
          <p:nvPr/>
        </p:nvCxnSpPr>
        <p:spPr>
          <a:xfrm>
            <a:off x="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4" name="矩形 3">
            <a:extLst>
              <a:ext uri="{FF2B5EF4-FFF2-40B4-BE49-F238E27FC236}">
                <a16:creationId xmlns:a16="http://schemas.microsoft.com/office/drawing/2014/main" id="{575013CE-EE7D-17C0-1790-917C40D0F86A}"/>
              </a:ext>
            </a:extLst>
          </p:cNvPr>
          <p:cNvSpPr/>
          <p:nvPr/>
        </p:nvSpPr>
        <p:spPr>
          <a:xfrm>
            <a:off x="3394075" y="399838"/>
            <a:ext cx="4617860"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8.4 </a:t>
            </a:r>
            <a:r>
              <a:rPr lang="zh-CN" altLang="en-US" sz="3000" b="1" dirty="0">
                <a:latin typeface="黑体" pitchFamily="49" charset="-122"/>
                <a:ea typeface="黑体" pitchFamily="49" charset="-122"/>
                <a:cs typeface="经典粗黑简" pitchFamily="49" charset="-122"/>
              </a:rPr>
              <a:t>生成树和最小生成树</a:t>
            </a:r>
          </a:p>
        </p:txBody>
      </p:sp>
      <p:sp>
        <p:nvSpPr>
          <p:cNvPr id="5" name="Text Box 4">
            <a:extLst>
              <a:ext uri="{FF2B5EF4-FFF2-40B4-BE49-F238E27FC236}">
                <a16:creationId xmlns:a16="http://schemas.microsoft.com/office/drawing/2014/main" id="{D9F419D5-142D-CEFA-FD65-42DA884243A6}"/>
              </a:ext>
            </a:extLst>
          </p:cNvPr>
          <p:cNvSpPr txBox="1">
            <a:spLocks noChangeArrowheads="1"/>
          </p:cNvSpPr>
          <p:nvPr/>
        </p:nvSpPr>
        <p:spPr bwMode="auto">
          <a:xfrm>
            <a:off x="2915678" y="5962953"/>
            <a:ext cx="5548330" cy="400110"/>
          </a:xfrm>
          <a:prstGeom prst="rect">
            <a:avLst/>
          </a:prstGeom>
          <a:noFill/>
          <a:ln w="9525">
            <a:noFill/>
            <a:miter lim="800000"/>
            <a:headEnd/>
            <a:tailEnd/>
          </a:ln>
          <a:effectLst/>
        </p:spPr>
        <p:txBody>
          <a:bodyPr wrap="square">
            <a:spAutoFit/>
          </a:bodyPr>
          <a:lstStyle/>
          <a:p>
            <a:pPr algn="l">
              <a:spcBef>
                <a:spcPct val="50000"/>
              </a:spcBef>
            </a:pPr>
            <a:r>
              <a:rPr kumimoji="1" lang="zh-CN" altLang="en-US" sz="2000" dirty="0">
                <a:ea typeface="楷体" pitchFamily="49" charset="-122"/>
                <a:cs typeface="Times New Roman" pitchFamily="18" charset="0"/>
              </a:rPr>
              <a:t>克鲁斯卡尔算法求解最小生成树的过程 </a:t>
            </a:r>
          </a:p>
        </p:txBody>
      </p:sp>
      <p:sp>
        <p:nvSpPr>
          <p:cNvPr id="12" name="Text Box 85">
            <a:extLst>
              <a:ext uri="{FF2B5EF4-FFF2-40B4-BE49-F238E27FC236}">
                <a16:creationId xmlns:a16="http://schemas.microsoft.com/office/drawing/2014/main" id="{CDC96B3E-3AD4-A021-196F-E82C4B30BD41}"/>
              </a:ext>
            </a:extLst>
          </p:cNvPr>
          <p:cNvSpPr txBox="1">
            <a:spLocks noChangeArrowheads="1"/>
          </p:cNvSpPr>
          <p:nvPr/>
        </p:nvSpPr>
        <p:spPr bwMode="auto">
          <a:xfrm>
            <a:off x="1415480" y="1962425"/>
            <a:ext cx="3500462" cy="400110"/>
          </a:xfrm>
          <a:prstGeom prst="rect">
            <a:avLst/>
          </a:prstGeom>
          <a:solidFill>
            <a:srgbClr val="339933"/>
          </a:solidFill>
          <a:ln w="19050" algn="ctr">
            <a:noFill/>
            <a:miter lim="800000"/>
            <a:headEnd/>
            <a:tailEnd type="none" w="med" len="lg"/>
          </a:ln>
          <a:effectLst/>
        </p:spPr>
        <p:txBody>
          <a:bodyPr wrap="square">
            <a:spAutoFit/>
          </a:bodyPr>
          <a:lstStyle/>
          <a:p>
            <a:pPr>
              <a:spcBef>
                <a:spcPct val="50000"/>
              </a:spcBef>
            </a:pPr>
            <a:r>
              <a:rPr kumimoji="1" lang="en-US" altLang="zh-CN" sz="2000" dirty="0" err="1">
                <a:solidFill>
                  <a:schemeClr val="bg1"/>
                </a:solidFill>
                <a:latin typeface="Consolas" pitchFamily="49" charset="0"/>
                <a:ea typeface="华文中宋" pitchFamily="2" charset="-122"/>
                <a:cs typeface="Consolas" pitchFamily="49" charset="0"/>
              </a:rPr>
              <a:t>Kruskal</a:t>
            </a:r>
            <a:r>
              <a:rPr lang="zh-CN" altLang="en-US" sz="2000" dirty="0">
                <a:solidFill>
                  <a:schemeClr val="bg1"/>
                </a:solidFill>
                <a:latin typeface="Consolas" pitchFamily="49" charset="0"/>
                <a:ea typeface="华文中宋" pitchFamily="2" charset="-122"/>
                <a:cs typeface="Consolas" pitchFamily="49" charset="0"/>
              </a:rPr>
              <a:t>算法示例的演示</a:t>
            </a:r>
          </a:p>
        </p:txBody>
      </p:sp>
      <p:grpSp>
        <p:nvGrpSpPr>
          <p:cNvPr id="15" name="组合 99">
            <a:extLst>
              <a:ext uri="{FF2B5EF4-FFF2-40B4-BE49-F238E27FC236}">
                <a16:creationId xmlns:a16="http://schemas.microsoft.com/office/drawing/2014/main" id="{AC8BB3D2-1B28-82FE-A8CA-01ED1F01B778}"/>
              </a:ext>
            </a:extLst>
          </p:cNvPr>
          <p:cNvGrpSpPr/>
          <p:nvPr/>
        </p:nvGrpSpPr>
        <p:grpSpPr>
          <a:xfrm>
            <a:off x="6897173" y="2878977"/>
            <a:ext cx="2376487" cy="2310300"/>
            <a:chOff x="5981727" y="1488032"/>
            <a:chExt cx="2376487" cy="2310300"/>
          </a:xfrm>
        </p:grpSpPr>
        <p:sp>
          <p:nvSpPr>
            <p:cNvPr id="16" name="Oval 6">
              <a:extLst>
                <a:ext uri="{FF2B5EF4-FFF2-40B4-BE49-F238E27FC236}">
                  <a16:creationId xmlns:a16="http://schemas.microsoft.com/office/drawing/2014/main" id="{25A21F4F-8F61-EF86-9AFC-A50E7684AC24}"/>
                </a:ext>
              </a:extLst>
            </p:cNvPr>
            <p:cNvSpPr>
              <a:spLocks noChangeArrowheads="1"/>
            </p:cNvSpPr>
            <p:nvPr/>
          </p:nvSpPr>
          <p:spPr bwMode="auto">
            <a:xfrm>
              <a:off x="6557989" y="1619235"/>
              <a:ext cx="360363" cy="431800"/>
            </a:xfrm>
            <a:prstGeom prst="ellipse">
              <a:avLst/>
            </a:prstGeom>
            <a:ln>
              <a:headEnd/>
              <a:tailEnd type="none" w="med" len="lg"/>
            </a:ln>
          </p:spPr>
          <p:style>
            <a:lnRef idx="1">
              <a:schemeClr val="accent2"/>
            </a:lnRef>
            <a:fillRef idx="2">
              <a:schemeClr val="accent2"/>
            </a:fillRef>
            <a:effectRef idx="1">
              <a:schemeClr val="accent2"/>
            </a:effectRef>
            <a:fontRef idx="minor">
              <a:schemeClr val="dk1"/>
            </a:fontRef>
          </p:style>
          <p:txBody>
            <a:bodyPr wrap="none" anchor="ctr"/>
            <a:lstStyle/>
            <a:p>
              <a:r>
                <a:rPr lang="en-US" altLang="zh-CN" sz="2000" dirty="0">
                  <a:solidFill>
                    <a:srgbClr val="0000FF"/>
                  </a:solidFill>
                  <a:latin typeface="Consolas" pitchFamily="49" charset="0"/>
                  <a:cs typeface="Consolas" pitchFamily="49" charset="0"/>
                </a:rPr>
                <a:t>0</a:t>
              </a:r>
            </a:p>
          </p:txBody>
        </p:sp>
        <p:sp>
          <p:nvSpPr>
            <p:cNvPr id="48" name="Oval 7">
              <a:extLst>
                <a:ext uri="{FF2B5EF4-FFF2-40B4-BE49-F238E27FC236}">
                  <a16:creationId xmlns:a16="http://schemas.microsoft.com/office/drawing/2014/main" id="{EF026FF3-F099-CB3E-5E65-ACBB7FAFDA7B}"/>
                </a:ext>
              </a:extLst>
            </p:cNvPr>
            <p:cNvSpPr>
              <a:spLocks noChangeArrowheads="1"/>
            </p:cNvSpPr>
            <p:nvPr/>
          </p:nvSpPr>
          <p:spPr bwMode="auto">
            <a:xfrm>
              <a:off x="7639077" y="1619235"/>
              <a:ext cx="360362" cy="431800"/>
            </a:xfrm>
            <a:prstGeom prst="ellipse">
              <a:avLst/>
            </a:prstGeom>
            <a:ln>
              <a:headEnd/>
              <a:tailEnd type="none" w="med" len="lg"/>
            </a:ln>
          </p:spPr>
          <p:style>
            <a:lnRef idx="1">
              <a:schemeClr val="accent2"/>
            </a:lnRef>
            <a:fillRef idx="2">
              <a:schemeClr val="accent2"/>
            </a:fillRef>
            <a:effectRef idx="1">
              <a:schemeClr val="accent2"/>
            </a:effectRef>
            <a:fontRef idx="minor">
              <a:schemeClr val="dk1"/>
            </a:fontRef>
          </p:style>
          <p:txBody>
            <a:bodyPr wrap="none" anchor="ctr"/>
            <a:lstStyle/>
            <a:p>
              <a:r>
                <a:rPr lang="en-US" altLang="zh-CN" sz="2000">
                  <a:solidFill>
                    <a:srgbClr val="0000FF"/>
                  </a:solidFill>
                  <a:latin typeface="Consolas" pitchFamily="49" charset="0"/>
                  <a:cs typeface="Consolas" pitchFamily="49" charset="0"/>
                </a:rPr>
                <a:t>1</a:t>
              </a:r>
            </a:p>
          </p:txBody>
        </p:sp>
        <p:sp>
          <p:nvSpPr>
            <p:cNvPr id="49" name="Oval 8">
              <a:extLst>
                <a:ext uri="{FF2B5EF4-FFF2-40B4-BE49-F238E27FC236}">
                  <a16:creationId xmlns:a16="http://schemas.microsoft.com/office/drawing/2014/main" id="{FE344957-D5BA-A722-0DFF-3338664A5DF1}"/>
                </a:ext>
              </a:extLst>
            </p:cNvPr>
            <p:cNvSpPr>
              <a:spLocks noChangeArrowheads="1"/>
            </p:cNvSpPr>
            <p:nvPr/>
          </p:nvSpPr>
          <p:spPr bwMode="auto">
            <a:xfrm>
              <a:off x="5981727" y="2484423"/>
              <a:ext cx="360362" cy="431800"/>
            </a:xfrm>
            <a:prstGeom prst="ellipse">
              <a:avLst/>
            </a:prstGeom>
            <a:ln>
              <a:headEnd/>
              <a:tailEnd type="none" w="med" len="lg"/>
            </a:ln>
          </p:spPr>
          <p:style>
            <a:lnRef idx="1">
              <a:schemeClr val="accent2"/>
            </a:lnRef>
            <a:fillRef idx="2">
              <a:schemeClr val="accent2"/>
            </a:fillRef>
            <a:effectRef idx="1">
              <a:schemeClr val="accent2"/>
            </a:effectRef>
            <a:fontRef idx="minor">
              <a:schemeClr val="dk1"/>
            </a:fontRef>
          </p:style>
          <p:txBody>
            <a:bodyPr wrap="none" anchor="ctr"/>
            <a:lstStyle/>
            <a:p>
              <a:r>
                <a:rPr lang="en-US" altLang="zh-CN" sz="2000">
                  <a:solidFill>
                    <a:srgbClr val="0000FF"/>
                  </a:solidFill>
                  <a:latin typeface="Consolas" pitchFamily="49" charset="0"/>
                  <a:cs typeface="Consolas" pitchFamily="49" charset="0"/>
                </a:rPr>
                <a:t>5</a:t>
              </a:r>
            </a:p>
          </p:txBody>
        </p:sp>
        <p:sp>
          <p:nvSpPr>
            <p:cNvPr id="50" name="Oval 9">
              <a:extLst>
                <a:ext uri="{FF2B5EF4-FFF2-40B4-BE49-F238E27FC236}">
                  <a16:creationId xmlns:a16="http://schemas.microsoft.com/office/drawing/2014/main" id="{62F5D4A4-94DE-8EF3-AE74-04B26E478068}"/>
                </a:ext>
              </a:extLst>
            </p:cNvPr>
            <p:cNvSpPr>
              <a:spLocks noChangeArrowheads="1"/>
            </p:cNvSpPr>
            <p:nvPr/>
          </p:nvSpPr>
          <p:spPr bwMode="auto">
            <a:xfrm>
              <a:off x="6631014" y="3203560"/>
              <a:ext cx="360363" cy="431800"/>
            </a:xfrm>
            <a:prstGeom prst="ellipse">
              <a:avLst/>
            </a:prstGeom>
            <a:ln>
              <a:headEnd/>
              <a:tailEnd type="none" w="med" len="lg"/>
            </a:ln>
          </p:spPr>
          <p:style>
            <a:lnRef idx="1">
              <a:schemeClr val="accent2"/>
            </a:lnRef>
            <a:fillRef idx="2">
              <a:schemeClr val="accent2"/>
            </a:fillRef>
            <a:effectRef idx="1">
              <a:schemeClr val="accent2"/>
            </a:effectRef>
            <a:fontRef idx="minor">
              <a:schemeClr val="dk1"/>
            </a:fontRef>
          </p:style>
          <p:txBody>
            <a:bodyPr wrap="none" anchor="ctr"/>
            <a:lstStyle/>
            <a:p>
              <a:r>
                <a:rPr lang="en-US" altLang="zh-CN" sz="2000">
                  <a:solidFill>
                    <a:srgbClr val="0000FF"/>
                  </a:solidFill>
                  <a:latin typeface="Consolas" pitchFamily="49" charset="0"/>
                  <a:cs typeface="Consolas" pitchFamily="49" charset="0"/>
                </a:rPr>
                <a:t>4</a:t>
              </a:r>
            </a:p>
          </p:txBody>
        </p:sp>
        <p:sp>
          <p:nvSpPr>
            <p:cNvPr id="51" name="Oval 10">
              <a:extLst>
                <a:ext uri="{FF2B5EF4-FFF2-40B4-BE49-F238E27FC236}">
                  <a16:creationId xmlns:a16="http://schemas.microsoft.com/office/drawing/2014/main" id="{C2B0ECAC-F071-CD7C-ACED-616E63E6F00B}"/>
                </a:ext>
              </a:extLst>
            </p:cNvPr>
            <p:cNvSpPr>
              <a:spLocks noChangeArrowheads="1"/>
            </p:cNvSpPr>
            <p:nvPr/>
          </p:nvSpPr>
          <p:spPr bwMode="auto">
            <a:xfrm>
              <a:off x="7566052" y="3203560"/>
              <a:ext cx="360362" cy="431800"/>
            </a:xfrm>
            <a:prstGeom prst="ellipse">
              <a:avLst/>
            </a:prstGeom>
            <a:ln>
              <a:headEnd/>
              <a:tailEnd type="none" w="med" len="lg"/>
            </a:ln>
          </p:spPr>
          <p:style>
            <a:lnRef idx="1">
              <a:schemeClr val="accent2"/>
            </a:lnRef>
            <a:fillRef idx="2">
              <a:schemeClr val="accent2"/>
            </a:fillRef>
            <a:effectRef idx="1">
              <a:schemeClr val="accent2"/>
            </a:effectRef>
            <a:fontRef idx="minor">
              <a:schemeClr val="dk1"/>
            </a:fontRef>
          </p:style>
          <p:txBody>
            <a:bodyPr wrap="none" anchor="ctr"/>
            <a:lstStyle/>
            <a:p>
              <a:r>
                <a:rPr lang="en-US" altLang="zh-CN" sz="2000">
                  <a:solidFill>
                    <a:srgbClr val="0000FF"/>
                  </a:solidFill>
                  <a:latin typeface="Consolas" pitchFamily="49" charset="0"/>
                  <a:cs typeface="Consolas" pitchFamily="49" charset="0"/>
                </a:rPr>
                <a:t>3</a:t>
              </a:r>
            </a:p>
          </p:txBody>
        </p:sp>
        <p:sp>
          <p:nvSpPr>
            <p:cNvPr id="52" name="Oval 11">
              <a:extLst>
                <a:ext uri="{FF2B5EF4-FFF2-40B4-BE49-F238E27FC236}">
                  <a16:creationId xmlns:a16="http://schemas.microsoft.com/office/drawing/2014/main" id="{28CEE8B0-4552-7BB8-61E7-AEE38297E805}"/>
                </a:ext>
              </a:extLst>
            </p:cNvPr>
            <p:cNvSpPr>
              <a:spLocks noChangeArrowheads="1"/>
            </p:cNvSpPr>
            <p:nvPr/>
          </p:nvSpPr>
          <p:spPr bwMode="auto">
            <a:xfrm>
              <a:off x="7134252" y="2411398"/>
              <a:ext cx="360362" cy="431800"/>
            </a:xfrm>
            <a:prstGeom prst="ellipse">
              <a:avLst/>
            </a:prstGeom>
            <a:ln>
              <a:headEnd/>
              <a:tailEnd type="none" w="med" len="lg"/>
            </a:ln>
          </p:spPr>
          <p:style>
            <a:lnRef idx="1">
              <a:schemeClr val="accent2"/>
            </a:lnRef>
            <a:fillRef idx="2">
              <a:schemeClr val="accent2"/>
            </a:fillRef>
            <a:effectRef idx="1">
              <a:schemeClr val="accent2"/>
            </a:effectRef>
            <a:fontRef idx="minor">
              <a:schemeClr val="dk1"/>
            </a:fontRef>
          </p:style>
          <p:txBody>
            <a:bodyPr wrap="none" anchor="ctr"/>
            <a:lstStyle/>
            <a:p>
              <a:r>
                <a:rPr lang="en-US" altLang="zh-CN" sz="2000">
                  <a:solidFill>
                    <a:srgbClr val="0000FF"/>
                  </a:solidFill>
                  <a:latin typeface="Consolas" pitchFamily="49" charset="0"/>
                  <a:cs typeface="Consolas" pitchFamily="49" charset="0"/>
                </a:rPr>
                <a:t>6</a:t>
              </a:r>
            </a:p>
          </p:txBody>
        </p:sp>
        <p:sp>
          <p:nvSpPr>
            <p:cNvPr id="53" name="Oval 12">
              <a:extLst>
                <a:ext uri="{FF2B5EF4-FFF2-40B4-BE49-F238E27FC236}">
                  <a16:creationId xmlns:a16="http://schemas.microsoft.com/office/drawing/2014/main" id="{601F1AD2-0625-AACE-6CC0-8C82940B06C4}"/>
                </a:ext>
              </a:extLst>
            </p:cNvPr>
            <p:cNvSpPr>
              <a:spLocks noChangeArrowheads="1"/>
            </p:cNvSpPr>
            <p:nvPr/>
          </p:nvSpPr>
          <p:spPr bwMode="auto">
            <a:xfrm>
              <a:off x="7997852" y="2411398"/>
              <a:ext cx="360362" cy="431800"/>
            </a:xfrm>
            <a:prstGeom prst="ellipse">
              <a:avLst/>
            </a:prstGeom>
            <a:ln>
              <a:headEnd/>
              <a:tailEnd type="none" w="med" len="lg"/>
            </a:ln>
          </p:spPr>
          <p:style>
            <a:lnRef idx="1">
              <a:schemeClr val="accent2"/>
            </a:lnRef>
            <a:fillRef idx="2">
              <a:schemeClr val="accent2"/>
            </a:fillRef>
            <a:effectRef idx="1">
              <a:schemeClr val="accent2"/>
            </a:effectRef>
            <a:fontRef idx="minor">
              <a:schemeClr val="dk1"/>
            </a:fontRef>
          </p:style>
          <p:txBody>
            <a:bodyPr wrap="none" anchor="ctr"/>
            <a:lstStyle/>
            <a:p>
              <a:r>
                <a:rPr lang="en-US" altLang="zh-CN" sz="2000">
                  <a:solidFill>
                    <a:srgbClr val="0000FF"/>
                  </a:solidFill>
                  <a:latin typeface="Consolas" pitchFamily="49" charset="0"/>
                  <a:cs typeface="Consolas" pitchFamily="49" charset="0"/>
                </a:rPr>
                <a:t>2</a:t>
              </a:r>
            </a:p>
          </p:txBody>
        </p:sp>
        <p:sp>
          <p:nvSpPr>
            <p:cNvPr id="54" name="Line 13">
              <a:extLst>
                <a:ext uri="{FF2B5EF4-FFF2-40B4-BE49-F238E27FC236}">
                  <a16:creationId xmlns:a16="http://schemas.microsoft.com/office/drawing/2014/main" id="{29A3B6E3-A4D0-7CF4-3CE1-8D0F4F6CF3A3}"/>
                </a:ext>
              </a:extLst>
            </p:cNvPr>
            <p:cNvSpPr>
              <a:spLocks noChangeShapeType="1"/>
            </p:cNvSpPr>
            <p:nvPr/>
          </p:nvSpPr>
          <p:spPr bwMode="auto">
            <a:xfrm>
              <a:off x="6918352" y="1835135"/>
              <a:ext cx="720725" cy="0"/>
            </a:xfrm>
            <a:prstGeom prst="line">
              <a:avLst/>
            </a:prstGeom>
            <a:noFill/>
            <a:ln w="19050">
              <a:solidFill>
                <a:srgbClr val="3333FF"/>
              </a:solidFill>
              <a:round/>
              <a:headEnd/>
              <a:tailEnd type="none" w="med" len="lg"/>
            </a:ln>
            <a:effectLst/>
          </p:spPr>
          <p:txBody>
            <a:bodyPr wrap="none"/>
            <a:lstStyle/>
            <a:p>
              <a:endParaRPr lang="zh-CN" altLang="en-US"/>
            </a:p>
          </p:txBody>
        </p:sp>
        <p:sp>
          <p:nvSpPr>
            <p:cNvPr id="55" name="Freeform 14">
              <a:extLst>
                <a:ext uri="{FF2B5EF4-FFF2-40B4-BE49-F238E27FC236}">
                  <a16:creationId xmlns:a16="http://schemas.microsoft.com/office/drawing/2014/main" id="{A913A9FE-15F2-507C-C716-1EDF514B7DED}"/>
                </a:ext>
              </a:extLst>
            </p:cNvPr>
            <p:cNvSpPr>
              <a:spLocks/>
            </p:cNvSpPr>
            <p:nvPr/>
          </p:nvSpPr>
          <p:spPr bwMode="auto">
            <a:xfrm>
              <a:off x="6199214" y="1955785"/>
              <a:ext cx="395288" cy="528638"/>
            </a:xfrm>
            <a:custGeom>
              <a:avLst/>
              <a:gdLst/>
              <a:ahLst/>
              <a:cxnLst>
                <a:cxn ang="0">
                  <a:pos x="249" y="0"/>
                </a:cxn>
                <a:cxn ang="0">
                  <a:pos x="0" y="333"/>
                </a:cxn>
              </a:cxnLst>
              <a:rect l="0" t="0" r="r" b="b"/>
              <a:pathLst>
                <a:path w="249" h="333">
                  <a:moveTo>
                    <a:pt x="249" y="0"/>
                  </a:moveTo>
                  <a:lnTo>
                    <a:pt x="0" y="333"/>
                  </a:lnTo>
                </a:path>
              </a:pathLst>
            </a:custGeom>
            <a:noFill/>
            <a:ln w="19050" cap="flat" cmpd="sng">
              <a:solidFill>
                <a:srgbClr val="3333FF"/>
              </a:solidFill>
              <a:prstDash val="solid"/>
              <a:round/>
              <a:headEnd type="none" w="med" len="med"/>
              <a:tailEnd type="none" w="med" len="lg"/>
            </a:ln>
            <a:effectLst/>
          </p:spPr>
          <p:txBody>
            <a:bodyPr wrap="none"/>
            <a:lstStyle/>
            <a:p>
              <a:endParaRPr lang="zh-CN" altLang="en-US"/>
            </a:p>
          </p:txBody>
        </p:sp>
        <p:sp>
          <p:nvSpPr>
            <p:cNvPr id="56" name="Freeform 15">
              <a:extLst>
                <a:ext uri="{FF2B5EF4-FFF2-40B4-BE49-F238E27FC236}">
                  <a16:creationId xmlns:a16="http://schemas.microsoft.com/office/drawing/2014/main" id="{6D4D4EA7-927F-1BB9-1082-73155585EDFE}"/>
                </a:ext>
              </a:extLst>
            </p:cNvPr>
            <p:cNvSpPr>
              <a:spLocks/>
            </p:cNvSpPr>
            <p:nvPr/>
          </p:nvSpPr>
          <p:spPr bwMode="auto">
            <a:xfrm>
              <a:off x="6264302" y="2882885"/>
              <a:ext cx="392112" cy="419100"/>
            </a:xfrm>
            <a:custGeom>
              <a:avLst/>
              <a:gdLst/>
              <a:ahLst/>
              <a:cxnLst>
                <a:cxn ang="0">
                  <a:pos x="0" y="0"/>
                </a:cxn>
                <a:cxn ang="0">
                  <a:pos x="247" y="264"/>
                </a:cxn>
              </a:cxnLst>
              <a:rect l="0" t="0" r="r" b="b"/>
              <a:pathLst>
                <a:path w="247" h="264">
                  <a:moveTo>
                    <a:pt x="0" y="0"/>
                  </a:moveTo>
                  <a:lnTo>
                    <a:pt x="247" y="264"/>
                  </a:lnTo>
                </a:path>
              </a:pathLst>
            </a:custGeom>
            <a:noFill/>
            <a:ln w="19050" cap="flat" cmpd="sng">
              <a:solidFill>
                <a:srgbClr val="3333FF"/>
              </a:solidFill>
              <a:prstDash val="solid"/>
              <a:round/>
              <a:headEnd type="none" w="med" len="med"/>
              <a:tailEnd type="none" w="med" len="lg"/>
            </a:ln>
            <a:effectLst/>
          </p:spPr>
          <p:txBody>
            <a:bodyPr wrap="none"/>
            <a:lstStyle/>
            <a:p>
              <a:endParaRPr lang="zh-CN" altLang="en-US"/>
            </a:p>
          </p:txBody>
        </p:sp>
        <p:sp>
          <p:nvSpPr>
            <p:cNvPr id="57" name="Freeform 16">
              <a:extLst>
                <a:ext uri="{FF2B5EF4-FFF2-40B4-BE49-F238E27FC236}">
                  <a16:creationId xmlns:a16="http://schemas.microsoft.com/office/drawing/2014/main" id="{CFA9A926-0A18-0692-F5E2-0F11B51D11E1}"/>
                </a:ext>
              </a:extLst>
            </p:cNvPr>
            <p:cNvSpPr>
              <a:spLocks/>
            </p:cNvSpPr>
            <p:nvPr/>
          </p:nvSpPr>
          <p:spPr bwMode="auto">
            <a:xfrm>
              <a:off x="6989789" y="3454385"/>
              <a:ext cx="582613" cy="1588"/>
            </a:xfrm>
            <a:custGeom>
              <a:avLst/>
              <a:gdLst/>
              <a:ahLst/>
              <a:cxnLst>
                <a:cxn ang="0">
                  <a:pos x="0" y="0"/>
                </a:cxn>
                <a:cxn ang="0">
                  <a:pos x="367" y="0"/>
                </a:cxn>
              </a:cxnLst>
              <a:rect l="0" t="0" r="r" b="b"/>
              <a:pathLst>
                <a:path w="367" h="1">
                  <a:moveTo>
                    <a:pt x="0" y="0"/>
                  </a:moveTo>
                  <a:lnTo>
                    <a:pt x="367" y="0"/>
                  </a:lnTo>
                </a:path>
              </a:pathLst>
            </a:custGeom>
            <a:noFill/>
            <a:ln w="19050" cap="flat" cmpd="sng">
              <a:solidFill>
                <a:srgbClr val="3333FF"/>
              </a:solidFill>
              <a:prstDash val="solid"/>
              <a:round/>
              <a:headEnd type="none" w="med" len="med"/>
              <a:tailEnd type="none" w="med" len="lg"/>
            </a:ln>
            <a:effectLst/>
          </p:spPr>
          <p:txBody>
            <a:bodyPr wrap="none"/>
            <a:lstStyle/>
            <a:p>
              <a:endParaRPr lang="zh-CN" altLang="en-US"/>
            </a:p>
          </p:txBody>
        </p:sp>
        <p:sp>
          <p:nvSpPr>
            <p:cNvPr id="58" name="Freeform 17">
              <a:extLst>
                <a:ext uri="{FF2B5EF4-FFF2-40B4-BE49-F238E27FC236}">
                  <a16:creationId xmlns:a16="http://schemas.microsoft.com/office/drawing/2014/main" id="{99051C69-9D80-49CE-4E38-0F3D81D90CF3}"/>
                </a:ext>
              </a:extLst>
            </p:cNvPr>
            <p:cNvSpPr>
              <a:spLocks/>
            </p:cNvSpPr>
            <p:nvPr/>
          </p:nvSpPr>
          <p:spPr bwMode="auto">
            <a:xfrm>
              <a:off x="6846914" y="2781285"/>
              <a:ext cx="357188" cy="422275"/>
            </a:xfrm>
            <a:custGeom>
              <a:avLst/>
              <a:gdLst/>
              <a:ahLst/>
              <a:cxnLst>
                <a:cxn ang="0">
                  <a:pos x="0" y="266"/>
                </a:cxn>
                <a:cxn ang="0">
                  <a:pos x="225" y="0"/>
                </a:cxn>
              </a:cxnLst>
              <a:rect l="0" t="0" r="r" b="b"/>
              <a:pathLst>
                <a:path w="225" h="266">
                  <a:moveTo>
                    <a:pt x="0" y="266"/>
                  </a:moveTo>
                  <a:lnTo>
                    <a:pt x="225" y="0"/>
                  </a:lnTo>
                </a:path>
              </a:pathLst>
            </a:custGeom>
            <a:noFill/>
            <a:ln w="19050" cap="flat" cmpd="sng">
              <a:solidFill>
                <a:srgbClr val="3333FF"/>
              </a:solidFill>
              <a:prstDash val="solid"/>
              <a:round/>
              <a:headEnd type="none" w="med" len="med"/>
              <a:tailEnd type="none" w="med" len="lg"/>
            </a:ln>
            <a:effectLst/>
          </p:spPr>
          <p:txBody>
            <a:bodyPr wrap="none"/>
            <a:lstStyle/>
            <a:p>
              <a:endParaRPr lang="zh-CN" altLang="en-US"/>
            </a:p>
          </p:txBody>
        </p:sp>
        <p:sp>
          <p:nvSpPr>
            <p:cNvPr id="59" name="Line 18">
              <a:extLst>
                <a:ext uri="{FF2B5EF4-FFF2-40B4-BE49-F238E27FC236}">
                  <a16:creationId xmlns:a16="http://schemas.microsoft.com/office/drawing/2014/main" id="{0A7F2B59-0437-C255-3606-64ADE2180FBD}"/>
                </a:ext>
              </a:extLst>
            </p:cNvPr>
            <p:cNvSpPr>
              <a:spLocks noChangeShapeType="1"/>
            </p:cNvSpPr>
            <p:nvPr/>
          </p:nvSpPr>
          <p:spPr bwMode="auto">
            <a:xfrm>
              <a:off x="7423177" y="2771760"/>
              <a:ext cx="287337" cy="431800"/>
            </a:xfrm>
            <a:prstGeom prst="line">
              <a:avLst/>
            </a:prstGeom>
            <a:noFill/>
            <a:ln w="19050">
              <a:solidFill>
                <a:srgbClr val="3333FF"/>
              </a:solidFill>
              <a:round/>
              <a:headEnd/>
              <a:tailEnd type="none" w="med" len="lg"/>
            </a:ln>
            <a:effectLst/>
          </p:spPr>
          <p:txBody>
            <a:bodyPr wrap="none"/>
            <a:lstStyle/>
            <a:p>
              <a:endParaRPr lang="zh-CN" altLang="en-US"/>
            </a:p>
          </p:txBody>
        </p:sp>
        <p:sp>
          <p:nvSpPr>
            <p:cNvPr id="60" name="Line 19">
              <a:extLst>
                <a:ext uri="{FF2B5EF4-FFF2-40B4-BE49-F238E27FC236}">
                  <a16:creationId xmlns:a16="http://schemas.microsoft.com/office/drawing/2014/main" id="{51701E0A-5438-6B23-486E-FE7FAD58C950}"/>
                </a:ext>
              </a:extLst>
            </p:cNvPr>
            <p:cNvSpPr>
              <a:spLocks noChangeShapeType="1"/>
            </p:cNvSpPr>
            <p:nvPr/>
          </p:nvSpPr>
          <p:spPr bwMode="auto">
            <a:xfrm flipH="1">
              <a:off x="7410477" y="2004998"/>
              <a:ext cx="287337" cy="431800"/>
            </a:xfrm>
            <a:prstGeom prst="line">
              <a:avLst/>
            </a:prstGeom>
            <a:noFill/>
            <a:ln w="19050">
              <a:solidFill>
                <a:srgbClr val="3333FF"/>
              </a:solidFill>
              <a:round/>
              <a:headEnd/>
              <a:tailEnd type="none" w="med" len="lg"/>
            </a:ln>
            <a:effectLst/>
          </p:spPr>
          <p:txBody>
            <a:bodyPr wrap="none"/>
            <a:lstStyle/>
            <a:p>
              <a:endParaRPr lang="zh-CN" altLang="en-US"/>
            </a:p>
          </p:txBody>
        </p:sp>
        <p:sp>
          <p:nvSpPr>
            <p:cNvPr id="61" name="Line 20">
              <a:extLst>
                <a:ext uri="{FF2B5EF4-FFF2-40B4-BE49-F238E27FC236}">
                  <a16:creationId xmlns:a16="http://schemas.microsoft.com/office/drawing/2014/main" id="{58335D3C-F838-CCE0-33B2-2084842111BB}"/>
                </a:ext>
              </a:extLst>
            </p:cNvPr>
            <p:cNvSpPr>
              <a:spLocks noChangeShapeType="1"/>
            </p:cNvSpPr>
            <p:nvPr/>
          </p:nvSpPr>
          <p:spPr bwMode="auto">
            <a:xfrm>
              <a:off x="7926414" y="1979598"/>
              <a:ext cx="215900" cy="431800"/>
            </a:xfrm>
            <a:prstGeom prst="line">
              <a:avLst/>
            </a:prstGeom>
            <a:noFill/>
            <a:ln w="19050">
              <a:solidFill>
                <a:srgbClr val="3333FF"/>
              </a:solidFill>
              <a:round/>
              <a:headEnd/>
              <a:tailEnd type="none" w="med" len="lg"/>
            </a:ln>
            <a:effectLst/>
          </p:spPr>
          <p:txBody>
            <a:bodyPr wrap="none"/>
            <a:lstStyle/>
            <a:p>
              <a:endParaRPr lang="zh-CN" altLang="en-US"/>
            </a:p>
          </p:txBody>
        </p:sp>
        <p:sp>
          <p:nvSpPr>
            <p:cNvPr id="62" name="Freeform 21">
              <a:extLst>
                <a:ext uri="{FF2B5EF4-FFF2-40B4-BE49-F238E27FC236}">
                  <a16:creationId xmlns:a16="http://schemas.microsoft.com/office/drawing/2014/main" id="{EEA20C8D-21F8-D3C0-AE03-149A7FBAC233}"/>
                </a:ext>
              </a:extLst>
            </p:cNvPr>
            <p:cNvSpPr>
              <a:spLocks/>
            </p:cNvSpPr>
            <p:nvPr/>
          </p:nvSpPr>
          <p:spPr bwMode="auto">
            <a:xfrm>
              <a:off x="7869264" y="2840023"/>
              <a:ext cx="266700" cy="411162"/>
            </a:xfrm>
            <a:custGeom>
              <a:avLst/>
              <a:gdLst/>
              <a:ahLst/>
              <a:cxnLst>
                <a:cxn ang="0">
                  <a:pos x="168" y="0"/>
                </a:cxn>
                <a:cxn ang="0">
                  <a:pos x="0" y="259"/>
                </a:cxn>
              </a:cxnLst>
              <a:rect l="0" t="0" r="r" b="b"/>
              <a:pathLst>
                <a:path w="168" h="259">
                  <a:moveTo>
                    <a:pt x="168" y="0"/>
                  </a:moveTo>
                  <a:lnTo>
                    <a:pt x="0" y="259"/>
                  </a:lnTo>
                </a:path>
              </a:pathLst>
            </a:custGeom>
            <a:noFill/>
            <a:ln w="19050">
              <a:solidFill>
                <a:srgbClr val="3333FF"/>
              </a:solidFill>
              <a:round/>
              <a:headEnd/>
              <a:tailEnd type="none" w="med" len="lg"/>
            </a:ln>
            <a:effectLst/>
          </p:spPr>
          <p:txBody>
            <a:bodyPr wrap="none"/>
            <a:lstStyle/>
            <a:p>
              <a:endParaRPr lang="zh-CN" altLang="en-US"/>
            </a:p>
          </p:txBody>
        </p:sp>
        <p:sp>
          <p:nvSpPr>
            <p:cNvPr id="63" name="Text Box 71">
              <a:extLst>
                <a:ext uri="{FF2B5EF4-FFF2-40B4-BE49-F238E27FC236}">
                  <a16:creationId xmlns:a16="http://schemas.microsoft.com/office/drawing/2014/main" id="{555DA7B5-DBF6-C951-5541-7AAD15C0E885}"/>
                </a:ext>
              </a:extLst>
            </p:cNvPr>
            <p:cNvSpPr txBox="1">
              <a:spLocks noChangeArrowheads="1"/>
            </p:cNvSpPr>
            <p:nvPr/>
          </p:nvSpPr>
          <p:spPr bwMode="auto">
            <a:xfrm>
              <a:off x="6061103" y="1928802"/>
              <a:ext cx="287338" cy="369332"/>
            </a:xfrm>
            <a:prstGeom prst="rect">
              <a:avLst/>
            </a:prstGeom>
            <a:noFill/>
            <a:ln w="19050" algn="ctr">
              <a:noFill/>
              <a:miter lim="800000"/>
              <a:headEnd/>
              <a:tailEnd type="none" w="med" len="lg"/>
            </a:ln>
            <a:effectLst/>
          </p:spPr>
          <p:txBody>
            <a:bodyPr>
              <a:spAutoFit/>
            </a:bodyPr>
            <a:lstStyle/>
            <a:p>
              <a:pPr>
                <a:spcBef>
                  <a:spcPct val="50000"/>
                </a:spcBef>
              </a:pPr>
              <a:r>
                <a:rPr lang="en-US" altLang="zh-CN" sz="1800" dirty="0">
                  <a:solidFill>
                    <a:srgbClr val="FF3300"/>
                  </a:solidFill>
                  <a:latin typeface="Consolas" pitchFamily="49" charset="0"/>
                  <a:cs typeface="Consolas" pitchFamily="49" charset="0"/>
                </a:rPr>
                <a:t>1</a:t>
              </a:r>
            </a:p>
          </p:txBody>
        </p:sp>
        <p:sp>
          <p:nvSpPr>
            <p:cNvPr id="64" name="Text Box 72">
              <a:extLst>
                <a:ext uri="{FF2B5EF4-FFF2-40B4-BE49-F238E27FC236}">
                  <a16:creationId xmlns:a16="http://schemas.microsoft.com/office/drawing/2014/main" id="{23C2F0C3-6D15-4747-16C4-6AA59B1A4943}"/>
                </a:ext>
              </a:extLst>
            </p:cNvPr>
            <p:cNvSpPr txBox="1">
              <a:spLocks noChangeArrowheads="1"/>
            </p:cNvSpPr>
            <p:nvPr/>
          </p:nvSpPr>
          <p:spPr bwMode="auto">
            <a:xfrm>
              <a:off x="7989929" y="2954323"/>
              <a:ext cx="287338" cy="369332"/>
            </a:xfrm>
            <a:prstGeom prst="rect">
              <a:avLst/>
            </a:prstGeom>
            <a:noFill/>
            <a:ln w="19050" algn="ctr">
              <a:noFill/>
              <a:miter lim="800000"/>
              <a:headEnd/>
              <a:tailEnd type="none" w="med" len="lg"/>
            </a:ln>
            <a:effectLst/>
          </p:spPr>
          <p:txBody>
            <a:bodyPr>
              <a:spAutoFit/>
            </a:bodyPr>
            <a:lstStyle/>
            <a:p>
              <a:pPr>
                <a:spcBef>
                  <a:spcPct val="50000"/>
                </a:spcBef>
              </a:pPr>
              <a:r>
                <a:rPr lang="en-US" altLang="zh-CN" sz="1800">
                  <a:solidFill>
                    <a:srgbClr val="FF3300"/>
                  </a:solidFill>
                  <a:latin typeface="Consolas" pitchFamily="49" charset="0"/>
                  <a:cs typeface="Consolas" pitchFamily="49" charset="0"/>
                </a:rPr>
                <a:t>2</a:t>
              </a:r>
            </a:p>
          </p:txBody>
        </p:sp>
        <p:sp>
          <p:nvSpPr>
            <p:cNvPr id="65" name="Text Box 73">
              <a:extLst>
                <a:ext uri="{FF2B5EF4-FFF2-40B4-BE49-F238E27FC236}">
                  <a16:creationId xmlns:a16="http://schemas.microsoft.com/office/drawing/2014/main" id="{893299DB-9FAC-A956-C474-701D9039ED32}"/>
                </a:ext>
              </a:extLst>
            </p:cNvPr>
            <p:cNvSpPr txBox="1">
              <a:spLocks noChangeArrowheads="1"/>
            </p:cNvSpPr>
            <p:nvPr/>
          </p:nvSpPr>
          <p:spPr bwMode="auto">
            <a:xfrm>
              <a:off x="7273964" y="1944673"/>
              <a:ext cx="287337" cy="369332"/>
            </a:xfrm>
            <a:prstGeom prst="rect">
              <a:avLst/>
            </a:prstGeom>
            <a:noFill/>
            <a:ln w="19050" algn="ctr">
              <a:noFill/>
              <a:miter lim="800000"/>
              <a:headEnd/>
              <a:tailEnd type="none" w="med" len="lg"/>
            </a:ln>
            <a:effectLst/>
          </p:spPr>
          <p:txBody>
            <a:bodyPr>
              <a:spAutoFit/>
            </a:bodyPr>
            <a:lstStyle/>
            <a:p>
              <a:pPr>
                <a:spcBef>
                  <a:spcPct val="50000"/>
                </a:spcBef>
              </a:pPr>
              <a:r>
                <a:rPr lang="en-US" altLang="zh-CN" sz="1800" dirty="0">
                  <a:solidFill>
                    <a:srgbClr val="FF3300"/>
                  </a:solidFill>
                  <a:latin typeface="Consolas" pitchFamily="49" charset="0"/>
                  <a:cs typeface="Consolas" pitchFamily="49" charset="0"/>
                </a:rPr>
                <a:t>3</a:t>
              </a:r>
            </a:p>
          </p:txBody>
        </p:sp>
        <p:sp>
          <p:nvSpPr>
            <p:cNvPr id="66" name="Text Box 75">
              <a:extLst>
                <a:ext uri="{FF2B5EF4-FFF2-40B4-BE49-F238E27FC236}">
                  <a16:creationId xmlns:a16="http://schemas.microsoft.com/office/drawing/2014/main" id="{DEA24805-329D-8A53-5E86-CEA98ECCBD91}"/>
                </a:ext>
              </a:extLst>
            </p:cNvPr>
            <p:cNvSpPr txBox="1">
              <a:spLocks noChangeArrowheads="1"/>
            </p:cNvSpPr>
            <p:nvPr/>
          </p:nvSpPr>
          <p:spPr bwMode="auto">
            <a:xfrm>
              <a:off x="6127777" y="3000372"/>
              <a:ext cx="287337" cy="369332"/>
            </a:xfrm>
            <a:prstGeom prst="rect">
              <a:avLst/>
            </a:prstGeom>
            <a:noFill/>
            <a:ln w="19050" algn="ctr">
              <a:noFill/>
              <a:miter lim="800000"/>
              <a:headEnd/>
              <a:tailEnd type="none" w="med" len="lg"/>
            </a:ln>
            <a:effectLst/>
          </p:spPr>
          <p:txBody>
            <a:bodyPr>
              <a:spAutoFit/>
            </a:bodyPr>
            <a:lstStyle/>
            <a:p>
              <a:pPr>
                <a:spcBef>
                  <a:spcPct val="50000"/>
                </a:spcBef>
              </a:pPr>
              <a:r>
                <a:rPr lang="en-US" altLang="zh-CN" sz="1800" dirty="0">
                  <a:solidFill>
                    <a:srgbClr val="FF3300"/>
                  </a:solidFill>
                  <a:latin typeface="Consolas" pitchFamily="49" charset="0"/>
                  <a:cs typeface="Consolas" pitchFamily="49" charset="0"/>
                </a:rPr>
                <a:t>8</a:t>
              </a:r>
            </a:p>
          </p:txBody>
        </p:sp>
        <p:sp>
          <p:nvSpPr>
            <p:cNvPr id="67" name="Text Box 76">
              <a:extLst>
                <a:ext uri="{FF2B5EF4-FFF2-40B4-BE49-F238E27FC236}">
                  <a16:creationId xmlns:a16="http://schemas.microsoft.com/office/drawing/2014/main" id="{1551EEF8-E6E7-9CA3-8807-AE84684E415D}"/>
                </a:ext>
              </a:extLst>
            </p:cNvPr>
            <p:cNvSpPr txBox="1">
              <a:spLocks noChangeArrowheads="1"/>
            </p:cNvSpPr>
            <p:nvPr/>
          </p:nvSpPr>
          <p:spPr bwMode="auto">
            <a:xfrm>
              <a:off x="7132673" y="3429000"/>
              <a:ext cx="287338" cy="369332"/>
            </a:xfrm>
            <a:prstGeom prst="rect">
              <a:avLst/>
            </a:prstGeom>
            <a:noFill/>
            <a:ln w="19050" algn="ctr">
              <a:noFill/>
              <a:miter lim="800000"/>
              <a:headEnd/>
              <a:tailEnd type="none" w="med" len="lg"/>
            </a:ln>
            <a:effectLst/>
          </p:spPr>
          <p:txBody>
            <a:bodyPr>
              <a:spAutoFit/>
            </a:bodyPr>
            <a:lstStyle/>
            <a:p>
              <a:pPr>
                <a:spcBef>
                  <a:spcPct val="50000"/>
                </a:spcBef>
              </a:pPr>
              <a:r>
                <a:rPr lang="en-US" altLang="zh-CN" sz="1800" dirty="0">
                  <a:solidFill>
                    <a:srgbClr val="FF3300"/>
                  </a:solidFill>
                  <a:latin typeface="Consolas" pitchFamily="49" charset="0"/>
                  <a:cs typeface="Consolas" pitchFamily="49" charset="0"/>
                </a:rPr>
                <a:t>6</a:t>
              </a:r>
            </a:p>
          </p:txBody>
        </p:sp>
        <p:sp>
          <p:nvSpPr>
            <p:cNvPr id="68" name="Text Box 77">
              <a:extLst>
                <a:ext uri="{FF2B5EF4-FFF2-40B4-BE49-F238E27FC236}">
                  <a16:creationId xmlns:a16="http://schemas.microsoft.com/office/drawing/2014/main" id="{87A69710-88F3-C3DC-6245-58685B16F758}"/>
                </a:ext>
              </a:extLst>
            </p:cNvPr>
            <p:cNvSpPr txBox="1">
              <a:spLocks noChangeArrowheads="1"/>
            </p:cNvSpPr>
            <p:nvPr/>
          </p:nvSpPr>
          <p:spPr bwMode="auto">
            <a:xfrm>
              <a:off x="6773897" y="2702478"/>
              <a:ext cx="287338" cy="369332"/>
            </a:xfrm>
            <a:prstGeom prst="rect">
              <a:avLst/>
            </a:prstGeom>
            <a:noFill/>
            <a:ln w="19050" algn="ctr">
              <a:noFill/>
              <a:miter lim="800000"/>
              <a:headEnd/>
              <a:tailEnd type="none" w="med" len="lg"/>
            </a:ln>
            <a:effectLst/>
          </p:spPr>
          <p:txBody>
            <a:bodyPr>
              <a:spAutoFit/>
            </a:bodyPr>
            <a:lstStyle/>
            <a:p>
              <a:pPr>
                <a:spcBef>
                  <a:spcPct val="50000"/>
                </a:spcBef>
              </a:pPr>
              <a:r>
                <a:rPr lang="en-US" altLang="zh-CN" sz="1800" dirty="0">
                  <a:solidFill>
                    <a:srgbClr val="FF3300"/>
                  </a:solidFill>
                  <a:latin typeface="Consolas" pitchFamily="49" charset="0"/>
                  <a:cs typeface="Consolas" pitchFamily="49" charset="0"/>
                </a:rPr>
                <a:t>7</a:t>
              </a:r>
            </a:p>
          </p:txBody>
        </p:sp>
        <p:sp>
          <p:nvSpPr>
            <p:cNvPr id="69" name="Text Box 78">
              <a:extLst>
                <a:ext uri="{FF2B5EF4-FFF2-40B4-BE49-F238E27FC236}">
                  <a16:creationId xmlns:a16="http://schemas.microsoft.com/office/drawing/2014/main" id="{6C4E3596-FEA2-126A-B375-F31F331BCA84}"/>
                </a:ext>
              </a:extLst>
            </p:cNvPr>
            <p:cNvSpPr txBox="1">
              <a:spLocks noChangeArrowheads="1"/>
            </p:cNvSpPr>
            <p:nvPr/>
          </p:nvSpPr>
          <p:spPr bwMode="auto">
            <a:xfrm>
              <a:off x="7131088" y="1488032"/>
              <a:ext cx="287337" cy="369332"/>
            </a:xfrm>
            <a:prstGeom prst="rect">
              <a:avLst/>
            </a:prstGeom>
            <a:noFill/>
            <a:ln w="19050" algn="ctr">
              <a:noFill/>
              <a:miter lim="800000"/>
              <a:headEnd/>
              <a:tailEnd type="none" w="med" len="lg"/>
            </a:ln>
            <a:effectLst/>
          </p:spPr>
          <p:txBody>
            <a:bodyPr>
              <a:spAutoFit/>
            </a:bodyPr>
            <a:lstStyle/>
            <a:p>
              <a:pPr>
                <a:spcBef>
                  <a:spcPct val="50000"/>
                </a:spcBef>
              </a:pPr>
              <a:r>
                <a:rPr lang="en-US" altLang="zh-CN" sz="1800" dirty="0">
                  <a:solidFill>
                    <a:srgbClr val="FF3300"/>
                  </a:solidFill>
                  <a:latin typeface="Consolas" pitchFamily="49" charset="0"/>
                  <a:cs typeface="Consolas" pitchFamily="49" charset="0"/>
                </a:rPr>
                <a:t>9</a:t>
              </a:r>
            </a:p>
          </p:txBody>
        </p:sp>
        <p:sp>
          <p:nvSpPr>
            <p:cNvPr id="70" name="Text Box 79">
              <a:extLst>
                <a:ext uri="{FF2B5EF4-FFF2-40B4-BE49-F238E27FC236}">
                  <a16:creationId xmlns:a16="http://schemas.microsoft.com/office/drawing/2014/main" id="{2BD9FE20-F4A6-2E49-129D-542B61184D88}"/>
                </a:ext>
              </a:extLst>
            </p:cNvPr>
            <p:cNvSpPr txBox="1">
              <a:spLocks noChangeArrowheads="1"/>
            </p:cNvSpPr>
            <p:nvPr/>
          </p:nvSpPr>
          <p:spPr bwMode="auto">
            <a:xfrm>
              <a:off x="7567639" y="2773916"/>
              <a:ext cx="287338" cy="369332"/>
            </a:xfrm>
            <a:prstGeom prst="rect">
              <a:avLst/>
            </a:prstGeom>
            <a:noFill/>
            <a:ln w="19050" algn="ctr">
              <a:noFill/>
              <a:miter lim="800000"/>
              <a:headEnd/>
              <a:tailEnd type="none" w="med" len="lg"/>
            </a:ln>
            <a:effectLst/>
          </p:spPr>
          <p:txBody>
            <a:bodyPr>
              <a:spAutoFit/>
            </a:bodyPr>
            <a:lstStyle/>
            <a:p>
              <a:pPr>
                <a:spcBef>
                  <a:spcPct val="50000"/>
                </a:spcBef>
              </a:pPr>
              <a:r>
                <a:rPr lang="en-US" altLang="zh-CN" sz="1800" dirty="0">
                  <a:solidFill>
                    <a:srgbClr val="FF3300"/>
                  </a:solidFill>
                  <a:latin typeface="Consolas" pitchFamily="49" charset="0"/>
                  <a:cs typeface="Consolas" pitchFamily="49" charset="0"/>
                </a:rPr>
                <a:t>5</a:t>
              </a:r>
            </a:p>
          </p:txBody>
        </p:sp>
        <p:sp>
          <p:nvSpPr>
            <p:cNvPr id="71" name="Text Box 80">
              <a:extLst>
                <a:ext uri="{FF2B5EF4-FFF2-40B4-BE49-F238E27FC236}">
                  <a16:creationId xmlns:a16="http://schemas.microsoft.com/office/drawing/2014/main" id="{4465BE99-F451-FF30-BCA2-B7E218362837}"/>
                </a:ext>
              </a:extLst>
            </p:cNvPr>
            <p:cNvSpPr txBox="1">
              <a:spLocks noChangeArrowheads="1"/>
            </p:cNvSpPr>
            <p:nvPr/>
          </p:nvSpPr>
          <p:spPr bwMode="auto">
            <a:xfrm>
              <a:off x="8061367" y="1946260"/>
              <a:ext cx="287338" cy="369332"/>
            </a:xfrm>
            <a:prstGeom prst="rect">
              <a:avLst/>
            </a:prstGeom>
            <a:noFill/>
            <a:ln w="19050" algn="ctr">
              <a:noFill/>
              <a:miter lim="800000"/>
              <a:headEnd/>
              <a:tailEnd type="none" w="med" len="lg"/>
            </a:ln>
            <a:effectLst/>
          </p:spPr>
          <p:txBody>
            <a:bodyPr>
              <a:spAutoFit/>
            </a:bodyPr>
            <a:lstStyle/>
            <a:p>
              <a:pPr>
                <a:spcBef>
                  <a:spcPct val="50000"/>
                </a:spcBef>
              </a:pPr>
              <a:r>
                <a:rPr lang="en-US" altLang="zh-CN" sz="1800" dirty="0">
                  <a:solidFill>
                    <a:srgbClr val="FF3300"/>
                  </a:solidFill>
                  <a:latin typeface="Consolas" pitchFamily="49" charset="0"/>
                  <a:cs typeface="Consolas" pitchFamily="49" charset="0"/>
                </a:rPr>
                <a:t>4</a:t>
              </a:r>
            </a:p>
          </p:txBody>
        </p:sp>
      </p:grpSp>
      <p:grpSp>
        <p:nvGrpSpPr>
          <p:cNvPr id="72" name="组合 98">
            <a:extLst>
              <a:ext uri="{FF2B5EF4-FFF2-40B4-BE49-F238E27FC236}">
                <a16:creationId xmlns:a16="http://schemas.microsoft.com/office/drawing/2014/main" id="{E88D28EB-2F49-232D-CAF1-EE0D938B4735}"/>
              </a:ext>
            </a:extLst>
          </p:cNvPr>
          <p:cNvGrpSpPr/>
          <p:nvPr/>
        </p:nvGrpSpPr>
        <p:grpSpPr>
          <a:xfrm>
            <a:off x="4058686" y="3819813"/>
            <a:ext cx="2663826" cy="714380"/>
            <a:chOff x="3143240" y="2428868"/>
            <a:chExt cx="2663826" cy="714380"/>
          </a:xfrm>
        </p:grpSpPr>
        <p:sp>
          <p:nvSpPr>
            <p:cNvPr id="73" name="Text Box 84">
              <a:extLst>
                <a:ext uri="{FF2B5EF4-FFF2-40B4-BE49-F238E27FC236}">
                  <a16:creationId xmlns:a16="http://schemas.microsoft.com/office/drawing/2014/main" id="{6B9A1D25-6927-0E84-BCD3-440DC7D37B5D}"/>
                </a:ext>
              </a:extLst>
            </p:cNvPr>
            <p:cNvSpPr txBox="1">
              <a:spLocks noChangeArrowheads="1"/>
            </p:cNvSpPr>
            <p:nvPr/>
          </p:nvSpPr>
          <p:spPr bwMode="auto">
            <a:xfrm>
              <a:off x="3286116" y="2428868"/>
              <a:ext cx="2520950" cy="369332"/>
            </a:xfrm>
            <a:prstGeom prst="rect">
              <a:avLst/>
            </a:prstGeom>
            <a:noFill/>
            <a:ln w="19050" algn="ctr">
              <a:noFill/>
              <a:miter lim="800000"/>
              <a:headEnd/>
              <a:tailEnd type="none" w="med" len="lg"/>
            </a:ln>
            <a:effectLst/>
          </p:spPr>
          <p:txBody>
            <a:bodyPr>
              <a:spAutoFit/>
            </a:bodyPr>
            <a:lstStyle/>
            <a:p>
              <a:pPr algn="l">
                <a:spcBef>
                  <a:spcPct val="50000"/>
                </a:spcBef>
              </a:pPr>
              <a:r>
                <a:rPr lang="zh-CN" altLang="en-US" sz="1800" dirty="0">
                  <a:solidFill>
                    <a:srgbClr val="DB0303"/>
                  </a:solidFill>
                  <a:latin typeface="仿宋" pitchFamily="49" charset="-122"/>
                  <a:ea typeface="仿宋" pitchFamily="49" charset="-122"/>
                  <a:cs typeface="Times New Roman" pitchFamily="18" charset="0"/>
                </a:rPr>
                <a:t>按边</a:t>
              </a:r>
              <a:r>
                <a:rPr lang="zh-CN" altLang="en-US" sz="1800">
                  <a:solidFill>
                    <a:srgbClr val="DB0303"/>
                  </a:solidFill>
                  <a:latin typeface="仿宋" pitchFamily="49" charset="-122"/>
                  <a:ea typeface="仿宋" pitchFamily="49" charset="-122"/>
                  <a:cs typeface="Times New Roman" pitchFamily="18" charset="0"/>
                </a:rPr>
                <a:t>大小递增排序</a:t>
              </a:r>
              <a:endParaRPr lang="zh-CN" altLang="en-US" sz="1800" dirty="0">
                <a:solidFill>
                  <a:srgbClr val="DB0303"/>
                </a:solidFill>
                <a:latin typeface="仿宋" pitchFamily="49" charset="-122"/>
                <a:ea typeface="仿宋" pitchFamily="49" charset="-122"/>
                <a:cs typeface="Times New Roman" pitchFamily="18" charset="0"/>
              </a:endParaRPr>
            </a:p>
          </p:txBody>
        </p:sp>
        <p:sp>
          <p:nvSpPr>
            <p:cNvPr id="74" name="右箭头 96">
              <a:extLst>
                <a:ext uri="{FF2B5EF4-FFF2-40B4-BE49-F238E27FC236}">
                  <a16:creationId xmlns:a16="http://schemas.microsoft.com/office/drawing/2014/main" id="{01E063E8-320E-8CF2-BCF8-FCF185DE2CB8}"/>
                </a:ext>
              </a:extLst>
            </p:cNvPr>
            <p:cNvSpPr/>
            <p:nvPr/>
          </p:nvSpPr>
          <p:spPr bwMode="auto">
            <a:xfrm>
              <a:off x="3143240" y="2928934"/>
              <a:ext cx="2643206" cy="214314"/>
            </a:xfrm>
            <a:prstGeom prst="rightArrow">
              <a:avLst/>
            </a:prstGeom>
            <a:ln>
              <a:headEnd type="none" w="med" len="med"/>
              <a:tailEnd type="none" w="med" len="lg"/>
            </a:ln>
          </p:spPr>
          <p:style>
            <a:lnRef idx="0">
              <a:schemeClr val="accent4"/>
            </a:lnRef>
            <a:fillRef idx="3">
              <a:schemeClr val="accent4"/>
            </a:fillRef>
            <a:effectRef idx="3">
              <a:schemeClr val="accent4"/>
            </a:effectRef>
            <a:fontRef idx="minor">
              <a:schemeClr val="lt1"/>
            </a:fontRef>
          </p:style>
          <p:txBody>
            <a:bodyPr wrap="none" rtlCol="0" anchor="ctr"/>
            <a:lstStyle/>
            <a:p>
              <a:pPr algn="ctr"/>
              <a:endParaRPr lang="zh-CN" altLang="en-US"/>
            </a:p>
          </p:txBody>
        </p:sp>
      </p:grpSp>
      <p:grpSp>
        <p:nvGrpSpPr>
          <p:cNvPr id="75" name="组合 58">
            <a:extLst>
              <a:ext uri="{FF2B5EF4-FFF2-40B4-BE49-F238E27FC236}">
                <a16:creationId xmlns:a16="http://schemas.microsoft.com/office/drawing/2014/main" id="{D92A817E-2F8B-690E-E7E8-BC62333156FE}"/>
              </a:ext>
            </a:extLst>
          </p:cNvPr>
          <p:cNvGrpSpPr/>
          <p:nvPr/>
        </p:nvGrpSpPr>
        <p:grpSpPr>
          <a:xfrm>
            <a:off x="1486918" y="3150455"/>
            <a:ext cx="2376487" cy="2312432"/>
            <a:chOff x="695315" y="3929066"/>
            <a:chExt cx="2376487" cy="2312432"/>
          </a:xfrm>
        </p:grpSpPr>
        <p:sp>
          <p:nvSpPr>
            <p:cNvPr id="76" name="Oval 6">
              <a:extLst>
                <a:ext uri="{FF2B5EF4-FFF2-40B4-BE49-F238E27FC236}">
                  <a16:creationId xmlns:a16="http://schemas.microsoft.com/office/drawing/2014/main" id="{513D3A68-29E7-0E39-572D-01ADCB6F8B3A}"/>
                </a:ext>
              </a:extLst>
            </p:cNvPr>
            <p:cNvSpPr>
              <a:spLocks noChangeArrowheads="1"/>
            </p:cNvSpPr>
            <p:nvPr/>
          </p:nvSpPr>
          <p:spPr bwMode="auto">
            <a:xfrm>
              <a:off x="1271577" y="4071941"/>
              <a:ext cx="360363" cy="431800"/>
            </a:xfrm>
            <a:prstGeom prst="ellipse">
              <a:avLst/>
            </a:prstGeom>
            <a:ln>
              <a:headEnd/>
              <a:tailEnd type="none" w="med" len="lg"/>
            </a:ln>
          </p:spPr>
          <p:style>
            <a:lnRef idx="1">
              <a:schemeClr val="accent2"/>
            </a:lnRef>
            <a:fillRef idx="2">
              <a:schemeClr val="accent2"/>
            </a:fillRef>
            <a:effectRef idx="1">
              <a:schemeClr val="accent2"/>
            </a:effectRef>
            <a:fontRef idx="minor">
              <a:schemeClr val="dk1"/>
            </a:fontRef>
          </p:style>
          <p:txBody>
            <a:bodyPr wrap="none" anchor="ctr"/>
            <a:lstStyle/>
            <a:p>
              <a:r>
                <a:rPr lang="en-US" altLang="zh-CN" sz="2000" dirty="0">
                  <a:solidFill>
                    <a:srgbClr val="0000FF"/>
                  </a:solidFill>
                  <a:latin typeface="Consolas" pitchFamily="49" charset="0"/>
                  <a:cs typeface="Consolas" pitchFamily="49" charset="0"/>
                </a:rPr>
                <a:t>0</a:t>
              </a:r>
            </a:p>
          </p:txBody>
        </p:sp>
        <p:sp>
          <p:nvSpPr>
            <p:cNvPr id="77" name="Oval 7">
              <a:extLst>
                <a:ext uri="{FF2B5EF4-FFF2-40B4-BE49-F238E27FC236}">
                  <a16:creationId xmlns:a16="http://schemas.microsoft.com/office/drawing/2014/main" id="{4DE38876-ADB7-A781-8800-4C4469602842}"/>
                </a:ext>
              </a:extLst>
            </p:cNvPr>
            <p:cNvSpPr>
              <a:spLocks noChangeArrowheads="1"/>
            </p:cNvSpPr>
            <p:nvPr/>
          </p:nvSpPr>
          <p:spPr bwMode="auto">
            <a:xfrm>
              <a:off x="2352665" y="4071941"/>
              <a:ext cx="360362" cy="431800"/>
            </a:xfrm>
            <a:prstGeom prst="ellipse">
              <a:avLst/>
            </a:prstGeom>
            <a:ln>
              <a:headEnd/>
              <a:tailEnd type="none" w="med" len="lg"/>
            </a:ln>
          </p:spPr>
          <p:style>
            <a:lnRef idx="1">
              <a:schemeClr val="accent2"/>
            </a:lnRef>
            <a:fillRef idx="2">
              <a:schemeClr val="accent2"/>
            </a:fillRef>
            <a:effectRef idx="1">
              <a:schemeClr val="accent2"/>
            </a:effectRef>
            <a:fontRef idx="minor">
              <a:schemeClr val="dk1"/>
            </a:fontRef>
          </p:style>
          <p:txBody>
            <a:bodyPr wrap="none" anchor="ctr"/>
            <a:lstStyle/>
            <a:p>
              <a:r>
                <a:rPr lang="en-US" altLang="zh-CN" sz="2000">
                  <a:solidFill>
                    <a:srgbClr val="0000FF"/>
                  </a:solidFill>
                  <a:latin typeface="Consolas" pitchFamily="49" charset="0"/>
                  <a:cs typeface="Consolas" pitchFamily="49" charset="0"/>
                </a:rPr>
                <a:t>1</a:t>
              </a:r>
            </a:p>
          </p:txBody>
        </p:sp>
        <p:sp>
          <p:nvSpPr>
            <p:cNvPr id="78" name="Oval 8">
              <a:extLst>
                <a:ext uri="{FF2B5EF4-FFF2-40B4-BE49-F238E27FC236}">
                  <a16:creationId xmlns:a16="http://schemas.microsoft.com/office/drawing/2014/main" id="{C955652E-90BC-48DF-A51C-42D4E2064542}"/>
                </a:ext>
              </a:extLst>
            </p:cNvPr>
            <p:cNvSpPr>
              <a:spLocks noChangeArrowheads="1"/>
            </p:cNvSpPr>
            <p:nvPr/>
          </p:nvSpPr>
          <p:spPr bwMode="auto">
            <a:xfrm>
              <a:off x="695315" y="4937129"/>
              <a:ext cx="360362" cy="431800"/>
            </a:xfrm>
            <a:prstGeom prst="ellipse">
              <a:avLst/>
            </a:prstGeom>
            <a:ln>
              <a:headEnd/>
              <a:tailEnd type="none" w="med" len="lg"/>
            </a:ln>
          </p:spPr>
          <p:style>
            <a:lnRef idx="1">
              <a:schemeClr val="accent2"/>
            </a:lnRef>
            <a:fillRef idx="2">
              <a:schemeClr val="accent2"/>
            </a:fillRef>
            <a:effectRef idx="1">
              <a:schemeClr val="accent2"/>
            </a:effectRef>
            <a:fontRef idx="minor">
              <a:schemeClr val="dk1"/>
            </a:fontRef>
          </p:style>
          <p:txBody>
            <a:bodyPr wrap="none" anchor="ctr"/>
            <a:lstStyle/>
            <a:p>
              <a:r>
                <a:rPr lang="en-US" altLang="zh-CN" sz="2000">
                  <a:solidFill>
                    <a:srgbClr val="0000FF"/>
                  </a:solidFill>
                  <a:latin typeface="Consolas" pitchFamily="49" charset="0"/>
                  <a:cs typeface="Consolas" pitchFamily="49" charset="0"/>
                </a:rPr>
                <a:t>5</a:t>
              </a:r>
            </a:p>
          </p:txBody>
        </p:sp>
        <p:sp>
          <p:nvSpPr>
            <p:cNvPr id="79" name="Oval 9">
              <a:extLst>
                <a:ext uri="{FF2B5EF4-FFF2-40B4-BE49-F238E27FC236}">
                  <a16:creationId xmlns:a16="http://schemas.microsoft.com/office/drawing/2014/main" id="{DB8838F9-F472-59C6-C3D6-93D336EB3868}"/>
                </a:ext>
              </a:extLst>
            </p:cNvPr>
            <p:cNvSpPr>
              <a:spLocks noChangeArrowheads="1"/>
            </p:cNvSpPr>
            <p:nvPr/>
          </p:nvSpPr>
          <p:spPr bwMode="auto">
            <a:xfrm>
              <a:off x="1344602" y="5656266"/>
              <a:ext cx="360363" cy="431800"/>
            </a:xfrm>
            <a:prstGeom prst="ellipse">
              <a:avLst/>
            </a:prstGeom>
            <a:ln>
              <a:headEnd/>
              <a:tailEnd type="none" w="med" len="lg"/>
            </a:ln>
          </p:spPr>
          <p:style>
            <a:lnRef idx="1">
              <a:schemeClr val="accent2"/>
            </a:lnRef>
            <a:fillRef idx="2">
              <a:schemeClr val="accent2"/>
            </a:fillRef>
            <a:effectRef idx="1">
              <a:schemeClr val="accent2"/>
            </a:effectRef>
            <a:fontRef idx="minor">
              <a:schemeClr val="dk1"/>
            </a:fontRef>
          </p:style>
          <p:txBody>
            <a:bodyPr wrap="none" anchor="ctr"/>
            <a:lstStyle/>
            <a:p>
              <a:r>
                <a:rPr lang="en-US" altLang="zh-CN" sz="2000">
                  <a:solidFill>
                    <a:srgbClr val="0000FF"/>
                  </a:solidFill>
                  <a:latin typeface="Consolas" pitchFamily="49" charset="0"/>
                  <a:cs typeface="Consolas" pitchFamily="49" charset="0"/>
                </a:rPr>
                <a:t>4</a:t>
              </a:r>
            </a:p>
          </p:txBody>
        </p:sp>
        <p:sp>
          <p:nvSpPr>
            <p:cNvPr id="80" name="Oval 10">
              <a:extLst>
                <a:ext uri="{FF2B5EF4-FFF2-40B4-BE49-F238E27FC236}">
                  <a16:creationId xmlns:a16="http://schemas.microsoft.com/office/drawing/2014/main" id="{059F322C-5EE3-4323-F5A6-1F824BAE3862}"/>
                </a:ext>
              </a:extLst>
            </p:cNvPr>
            <p:cNvSpPr>
              <a:spLocks noChangeArrowheads="1"/>
            </p:cNvSpPr>
            <p:nvPr/>
          </p:nvSpPr>
          <p:spPr bwMode="auto">
            <a:xfrm>
              <a:off x="2279640" y="5656266"/>
              <a:ext cx="360362" cy="431800"/>
            </a:xfrm>
            <a:prstGeom prst="ellipse">
              <a:avLst/>
            </a:prstGeom>
            <a:ln>
              <a:headEnd/>
              <a:tailEnd type="none" w="med" len="lg"/>
            </a:ln>
          </p:spPr>
          <p:style>
            <a:lnRef idx="1">
              <a:schemeClr val="accent2"/>
            </a:lnRef>
            <a:fillRef idx="2">
              <a:schemeClr val="accent2"/>
            </a:fillRef>
            <a:effectRef idx="1">
              <a:schemeClr val="accent2"/>
            </a:effectRef>
            <a:fontRef idx="minor">
              <a:schemeClr val="dk1"/>
            </a:fontRef>
          </p:style>
          <p:txBody>
            <a:bodyPr wrap="none" anchor="ctr"/>
            <a:lstStyle/>
            <a:p>
              <a:r>
                <a:rPr lang="en-US" altLang="zh-CN" sz="2000">
                  <a:solidFill>
                    <a:srgbClr val="0000FF"/>
                  </a:solidFill>
                  <a:latin typeface="Consolas" pitchFamily="49" charset="0"/>
                  <a:cs typeface="Consolas" pitchFamily="49" charset="0"/>
                </a:rPr>
                <a:t>3</a:t>
              </a:r>
            </a:p>
          </p:txBody>
        </p:sp>
        <p:sp>
          <p:nvSpPr>
            <p:cNvPr id="81" name="Oval 11">
              <a:extLst>
                <a:ext uri="{FF2B5EF4-FFF2-40B4-BE49-F238E27FC236}">
                  <a16:creationId xmlns:a16="http://schemas.microsoft.com/office/drawing/2014/main" id="{94E9EA9A-AF40-86D5-25F1-F43BAAC1393F}"/>
                </a:ext>
              </a:extLst>
            </p:cNvPr>
            <p:cNvSpPr>
              <a:spLocks noChangeArrowheads="1"/>
            </p:cNvSpPr>
            <p:nvPr/>
          </p:nvSpPr>
          <p:spPr bwMode="auto">
            <a:xfrm>
              <a:off x="1847840" y="4864104"/>
              <a:ext cx="360362" cy="431800"/>
            </a:xfrm>
            <a:prstGeom prst="ellipse">
              <a:avLst/>
            </a:prstGeom>
            <a:ln>
              <a:headEnd/>
              <a:tailEnd type="none" w="med" len="lg"/>
            </a:ln>
          </p:spPr>
          <p:style>
            <a:lnRef idx="1">
              <a:schemeClr val="accent2"/>
            </a:lnRef>
            <a:fillRef idx="2">
              <a:schemeClr val="accent2"/>
            </a:fillRef>
            <a:effectRef idx="1">
              <a:schemeClr val="accent2"/>
            </a:effectRef>
            <a:fontRef idx="minor">
              <a:schemeClr val="dk1"/>
            </a:fontRef>
          </p:style>
          <p:txBody>
            <a:bodyPr wrap="none" anchor="ctr"/>
            <a:lstStyle/>
            <a:p>
              <a:r>
                <a:rPr lang="en-US" altLang="zh-CN" sz="2000">
                  <a:solidFill>
                    <a:srgbClr val="0000FF"/>
                  </a:solidFill>
                  <a:latin typeface="Consolas" pitchFamily="49" charset="0"/>
                  <a:cs typeface="Consolas" pitchFamily="49" charset="0"/>
                </a:rPr>
                <a:t>6</a:t>
              </a:r>
            </a:p>
          </p:txBody>
        </p:sp>
        <p:sp>
          <p:nvSpPr>
            <p:cNvPr id="82" name="Oval 12">
              <a:extLst>
                <a:ext uri="{FF2B5EF4-FFF2-40B4-BE49-F238E27FC236}">
                  <a16:creationId xmlns:a16="http://schemas.microsoft.com/office/drawing/2014/main" id="{D1B3E9CC-95B2-BFD4-F430-915043D56CCB}"/>
                </a:ext>
              </a:extLst>
            </p:cNvPr>
            <p:cNvSpPr>
              <a:spLocks noChangeArrowheads="1"/>
            </p:cNvSpPr>
            <p:nvPr/>
          </p:nvSpPr>
          <p:spPr bwMode="auto">
            <a:xfrm>
              <a:off x="2711440" y="4864104"/>
              <a:ext cx="360362" cy="431800"/>
            </a:xfrm>
            <a:prstGeom prst="ellipse">
              <a:avLst/>
            </a:prstGeom>
            <a:ln>
              <a:headEnd/>
              <a:tailEnd type="none" w="med" len="lg"/>
            </a:ln>
          </p:spPr>
          <p:style>
            <a:lnRef idx="1">
              <a:schemeClr val="accent2"/>
            </a:lnRef>
            <a:fillRef idx="2">
              <a:schemeClr val="accent2"/>
            </a:fillRef>
            <a:effectRef idx="1">
              <a:schemeClr val="accent2"/>
            </a:effectRef>
            <a:fontRef idx="minor">
              <a:schemeClr val="dk1"/>
            </a:fontRef>
          </p:style>
          <p:txBody>
            <a:bodyPr wrap="none" anchor="ctr"/>
            <a:lstStyle/>
            <a:p>
              <a:r>
                <a:rPr lang="en-US" altLang="zh-CN" sz="2000">
                  <a:solidFill>
                    <a:srgbClr val="0000FF"/>
                  </a:solidFill>
                  <a:latin typeface="Consolas" pitchFamily="49" charset="0"/>
                  <a:cs typeface="Consolas" pitchFamily="49" charset="0"/>
                </a:rPr>
                <a:t>2</a:t>
              </a:r>
            </a:p>
          </p:txBody>
        </p:sp>
        <p:sp>
          <p:nvSpPr>
            <p:cNvPr id="83" name="Line 13">
              <a:extLst>
                <a:ext uri="{FF2B5EF4-FFF2-40B4-BE49-F238E27FC236}">
                  <a16:creationId xmlns:a16="http://schemas.microsoft.com/office/drawing/2014/main" id="{01AC1E4E-E45F-AE60-9AA0-8713DB9A894A}"/>
                </a:ext>
              </a:extLst>
            </p:cNvPr>
            <p:cNvSpPr>
              <a:spLocks noChangeShapeType="1"/>
            </p:cNvSpPr>
            <p:nvPr/>
          </p:nvSpPr>
          <p:spPr bwMode="auto">
            <a:xfrm>
              <a:off x="1631940" y="4287841"/>
              <a:ext cx="720725" cy="0"/>
            </a:xfrm>
            <a:prstGeom prst="line">
              <a:avLst/>
            </a:prstGeom>
            <a:noFill/>
            <a:ln w="19050">
              <a:solidFill>
                <a:srgbClr val="3333FF"/>
              </a:solidFill>
              <a:round/>
              <a:headEnd/>
              <a:tailEnd type="none" w="med" len="lg"/>
            </a:ln>
            <a:effectLst/>
          </p:spPr>
          <p:txBody>
            <a:bodyPr wrap="none"/>
            <a:lstStyle/>
            <a:p>
              <a:endParaRPr lang="zh-CN" altLang="en-US">
                <a:latin typeface="Consolas" pitchFamily="49" charset="0"/>
                <a:cs typeface="Consolas" pitchFamily="49" charset="0"/>
              </a:endParaRPr>
            </a:p>
          </p:txBody>
        </p:sp>
        <p:sp>
          <p:nvSpPr>
            <p:cNvPr id="84" name="Freeform 14">
              <a:extLst>
                <a:ext uri="{FF2B5EF4-FFF2-40B4-BE49-F238E27FC236}">
                  <a16:creationId xmlns:a16="http://schemas.microsoft.com/office/drawing/2014/main" id="{C7933BAD-03E2-92FB-64AD-833C002B545F}"/>
                </a:ext>
              </a:extLst>
            </p:cNvPr>
            <p:cNvSpPr>
              <a:spLocks/>
            </p:cNvSpPr>
            <p:nvPr/>
          </p:nvSpPr>
          <p:spPr bwMode="auto">
            <a:xfrm>
              <a:off x="912802" y="4408491"/>
              <a:ext cx="395288" cy="528638"/>
            </a:xfrm>
            <a:custGeom>
              <a:avLst/>
              <a:gdLst/>
              <a:ahLst/>
              <a:cxnLst>
                <a:cxn ang="0">
                  <a:pos x="249" y="0"/>
                </a:cxn>
                <a:cxn ang="0">
                  <a:pos x="0" y="333"/>
                </a:cxn>
              </a:cxnLst>
              <a:rect l="0" t="0" r="r" b="b"/>
              <a:pathLst>
                <a:path w="249" h="333">
                  <a:moveTo>
                    <a:pt x="249" y="0"/>
                  </a:moveTo>
                  <a:lnTo>
                    <a:pt x="0" y="333"/>
                  </a:lnTo>
                </a:path>
              </a:pathLst>
            </a:custGeom>
            <a:noFill/>
            <a:ln w="19050" cap="flat" cmpd="sng">
              <a:solidFill>
                <a:srgbClr val="3333FF"/>
              </a:solidFill>
              <a:prstDash val="solid"/>
              <a:round/>
              <a:headEnd type="none" w="med" len="med"/>
              <a:tailEnd type="none" w="med" len="lg"/>
            </a:ln>
            <a:effectLst/>
          </p:spPr>
          <p:txBody>
            <a:bodyPr wrap="none"/>
            <a:lstStyle/>
            <a:p>
              <a:endParaRPr lang="zh-CN" altLang="en-US">
                <a:latin typeface="Consolas" pitchFamily="49" charset="0"/>
                <a:cs typeface="Consolas" pitchFamily="49" charset="0"/>
              </a:endParaRPr>
            </a:p>
          </p:txBody>
        </p:sp>
        <p:sp>
          <p:nvSpPr>
            <p:cNvPr id="85" name="Freeform 15">
              <a:extLst>
                <a:ext uri="{FF2B5EF4-FFF2-40B4-BE49-F238E27FC236}">
                  <a16:creationId xmlns:a16="http://schemas.microsoft.com/office/drawing/2014/main" id="{D8194DF2-3B13-C011-B353-8CC958D50CE9}"/>
                </a:ext>
              </a:extLst>
            </p:cNvPr>
            <p:cNvSpPr>
              <a:spLocks/>
            </p:cNvSpPr>
            <p:nvPr/>
          </p:nvSpPr>
          <p:spPr bwMode="auto">
            <a:xfrm>
              <a:off x="977890" y="5335591"/>
              <a:ext cx="392112" cy="419100"/>
            </a:xfrm>
            <a:custGeom>
              <a:avLst/>
              <a:gdLst/>
              <a:ahLst/>
              <a:cxnLst>
                <a:cxn ang="0">
                  <a:pos x="0" y="0"/>
                </a:cxn>
                <a:cxn ang="0">
                  <a:pos x="247" y="264"/>
                </a:cxn>
              </a:cxnLst>
              <a:rect l="0" t="0" r="r" b="b"/>
              <a:pathLst>
                <a:path w="247" h="264">
                  <a:moveTo>
                    <a:pt x="0" y="0"/>
                  </a:moveTo>
                  <a:lnTo>
                    <a:pt x="247" y="264"/>
                  </a:lnTo>
                </a:path>
              </a:pathLst>
            </a:custGeom>
            <a:noFill/>
            <a:ln w="19050" cap="flat" cmpd="sng">
              <a:solidFill>
                <a:srgbClr val="3333FF"/>
              </a:solidFill>
              <a:prstDash val="solid"/>
              <a:round/>
              <a:headEnd type="none" w="med" len="med"/>
              <a:tailEnd type="none" w="med" len="lg"/>
            </a:ln>
            <a:effectLst/>
          </p:spPr>
          <p:txBody>
            <a:bodyPr wrap="none"/>
            <a:lstStyle/>
            <a:p>
              <a:endParaRPr lang="zh-CN" altLang="en-US">
                <a:latin typeface="Consolas" pitchFamily="49" charset="0"/>
                <a:cs typeface="Consolas" pitchFamily="49" charset="0"/>
              </a:endParaRPr>
            </a:p>
          </p:txBody>
        </p:sp>
        <p:sp>
          <p:nvSpPr>
            <p:cNvPr id="86" name="Freeform 16">
              <a:extLst>
                <a:ext uri="{FF2B5EF4-FFF2-40B4-BE49-F238E27FC236}">
                  <a16:creationId xmlns:a16="http://schemas.microsoft.com/office/drawing/2014/main" id="{96E4FC8F-FB06-AE33-3425-8357AA8C1140}"/>
                </a:ext>
              </a:extLst>
            </p:cNvPr>
            <p:cNvSpPr>
              <a:spLocks/>
            </p:cNvSpPr>
            <p:nvPr/>
          </p:nvSpPr>
          <p:spPr bwMode="auto">
            <a:xfrm>
              <a:off x="1703377" y="5907091"/>
              <a:ext cx="582613" cy="1588"/>
            </a:xfrm>
            <a:custGeom>
              <a:avLst/>
              <a:gdLst/>
              <a:ahLst/>
              <a:cxnLst>
                <a:cxn ang="0">
                  <a:pos x="0" y="0"/>
                </a:cxn>
                <a:cxn ang="0">
                  <a:pos x="367" y="0"/>
                </a:cxn>
              </a:cxnLst>
              <a:rect l="0" t="0" r="r" b="b"/>
              <a:pathLst>
                <a:path w="367" h="1">
                  <a:moveTo>
                    <a:pt x="0" y="0"/>
                  </a:moveTo>
                  <a:lnTo>
                    <a:pt x="367" y="0"/>
                  </a:lnTo>
                </a:path>
              </a:pathLst>
            </a:custGeom>
            <a:noFill/>
            <a:ln w="19050" cap="flat" cmpd="sng">
              <a:solidFill>
                <a:srgbClr val="3333FF"/>
              </a:solidFill>
              <a:prstDash val="solid"/>
              <a:round/>
              <a:headEnd type="none" w="med" len="med"/>
              <a:tailEnd type="none" w="med" len="lg"/>
            </a:ln>
            <a:effectLst/>
          </p:spPr>
          <p:txBody>
            <a:bodyPr wrap="none"/>
            <a:lstStyle/>
            <a:p>
              <a:endParaRPr lang="zh-CN" altLang="en-US">
                <a:latin typeface="Consolas" pitchFamily="49" charset="0"/>
                <a:cs typeface="Consolas" pitchFamily="49" charset="0"/>
              </a:endParaRPr>
            </a:p>
          </p:txBody>
        </p:sp>
        <p:sp>
          <p:nvSpPr>
            <p:cNvPr id="87" name="Freeform 17">
              <a:extLst>
                <a:ext uri="{FF2B5EF4-FFF2-40B4-BE49-F238E27FC236}">
                  <a16:creationId xmlns:a16="http://schemas.microsoft.com/office/drawing/2014/main" id="{1588D3AC-D062-C16E-1B5D-FA490E636595}"/>
                </a:ext>
              </a:extLst>
            </p:cNvPr>
            <p:cNvSpPr>
              <a:spLocks/>
            </p:cNvSpPr>
            <p:nvPr/>
          </p:nvSpPr>
          <p:spPr bwMode="auto">
            <a:xfrm>
              <a:off x="1560502" y="5233991"/>
              <a:ext cx="357188" cy="422275"/>
            </a:xfrm>
            <a:custGeom>
              <a:avLst/>
              <a:gdLst/>
              <a:ahLst/>
              <a:cxnLst>
                <a:cxn ang="0">
                  <a:pos x="0" y="266"/>
                </a:cxn>
                <a:cxn ang="0">
                  <a:pos x="225" y="0"/>
                </a:cxn>
              </a:cxnLst>
              <a:rect l="0" t="0" r="r" b="b"/>
              <a:pathLst>
                <a:path w="225" h="266">
                  <a:moveTo>
                    <a:pt x="0" y="266"/>
                  </a:moveTo>
                  <a:lnTo>
                    <a:pt x="225" y="0"/>
                  </a:lnTo>
                </a:path>
              </a:pathLst>
            </a:custGeom>
            <a:noFill/>
            <a:ln w="19050" cap="flat" cmpd="sng">
              <a:solidFill>
                <a:srgbClr val="3333FF"/>
              </a:solidFill>
              <a:prstDash val="solid"/>
              <a:round/>
              <a:headEnd type="none" w="med" len="med"/>
              <a:tailEnd type="none" w="med" len="lg"/>
            </a:ln>
            <a:effectLst/>
          </p:spPr>
          <p:txBody>
            <a:bodyPr wrap="none"/>
            <a:lstStyle/>
            <a:p>
              <a:endParaRPr lang="zh-CN" altLang="en-US">
                <a:latin typeface="Consolas" pitchFamily="49" charset="0"/>
                <a:cs typeface="Consolas" pitchFamily="49" charset="0"/>
              </a:endParaRPr>
            </a:p>
          </p:txBody>
        </p:sp>
        <p:sp>
          <p:nvSpPr>
            <p:cNvPr id="88" name="Line 18">
              <a:extLst>
                <a:ext uri="{FF2B5EF4-FFF2-40B4-BE49-F238E27FC236}">
                  <a16:creationId xmlns:a16="http://schemas.microsoft.com/office/drawing/2014/main" id="{90AA6223-C8AB-00AF-6799-49C4EB7424A5}"/>
                </a:ext>
              </a:extLst>
            </p:cNvPr>
            <p:cNvSpPr>
              <a:spLocks noChangeShapeType="1"/>
            </p:cNvSpPr>
            <p:nvPr/>
          </p:nvSpPr>
          <p:spPr bwMode="auto">
            <a:xfrm>
              <a:off x="2143108" y="5286388"/>
              <a:ext cx="214314" cy="428628"/>
            </a:xfrm>
            <a:prstGeom prst="line">
              <a:avLst/>
            </a:prstGeom>
            <a:noFill/>
            <a:ln w="19050">
              <a:solidFill>
                <a:srgbClr val="3333FF"/>
              </a:solidFill>
              <a:round/>
              <a:headEnd/>
              <a:tailEnd type="none" w="med" len="lg"/>
            </a:ln>
            <a:effectLst/>
          </p:spPr>
          <p:txBody>
            <a:bodyPr wrap="none"/>
            <a:lstStyle/>
            <a:p>
              <a:endParaRPr lang="zh-CN" altLang="en-US">
                <a:latin typeface="Consolas" pitchFamily="49" charset="0"/>
                <a:cs typeface="Consolas" pitchFamily="49" charset="0"/>
              </a:endParaRPr>
            </a:p>
          </p:txBody>
        </p:sp>
        <p:sp>
          <p:nvSpPr>
            <p:cNvPr id="89" name="Line 19">
              <a:extLst>
                <a:ext uri="{FF2B5EF4-FFF2-40B4-BE49-F238E27FC236}">
                  <a16:creationId xmlns:a16="http://schemas.microsoft.com/office/drawing/2014/main" id="{59946F38-F6E0-42D5-3B13-9842C0FCBC3D}"/>
                </a:ext>
              </a:extLst>
            </p:cNvPr>
            <p:cNvSpPr>
              <a:spLocks noChangeShapeType="1"/>
            </p:cNvSpPr>
            <p:nvPr/>
          </p:nvSpPr>
          <p:spPr bwMode="auto">
            <a:xfrm flipH="1">
              <a:off x="2124065" y="4457704"/>
              <a:ext cx="287337" cy="431800"/>
            </a:xfrm>
            <a:prstGeom prst="line">
              <a:avLst/>
            </a:prstGeom>
            <a:noFill/>
            <a:ln w="19050">
              <a:solidFill>
                <a:srgbClr val="3333FF"/>
              </a:solidFill>
              <a:round/>
              <a:headEnd/>
              <a:tailEnd type="none" w="med" len="lg"/>
            </a:ln>
            <a:effectLst/>
          </p:spPr>
          <p:txBody>
            <a:bodyPr wrap="none"/>
            <a:lstStyle/>
            <a:p>
              <a:endParaRPr lang="zh-CN" altLang="en-US">
                <a:latin typeface="Consolas" pitchFamily="49" charset="0"/>
                <a:cs typeface="Consolas" pitchFamily="49" charset="0"/>
              </a:endParaRPr>
            </a:p>
          </p:txBody>
        </p:sp>
        <p:sp>
          <p:nvSpPr>
            <p:cNvPr id="90" name="Line 20">
              <a:extLst>
                <a:ext uri="{FF2B5EF4-FFF2-40B4-BE49-F238E27FC236}">
                  <a16:creationId xmlns:a16="http://schemas.microsoft.com/office/drawing/2014/main" id="{FB27AC25-FAD4-2377-093A-3367B9758083}"/>
                </a:ext>
              </a:extLst>
            </p:cNvPr>
            <p:cNvSpPr>
              <a:spLocks noChangeShapeType="1"/>
            </p:cNvSpPr>
            <p:nvPr/>
          </p:nvSpPr>
          <p:spPr bwMode="auto">
            <a:xfrm>
              <a:off x="2640002" y="4432304"/>
              <a:ext cx="215900" cy="431800"/>
            </a:xfrm>
            <a:prstGeom prst="line">
              <a:avLst/>
            </a:prstGeom>
            <a:noFill/>
            <a:ln w="19050">
              <a:solidFill>
                <a:srgbClr val="3333FF"/>
              </a:solidFill>
              <a:round/>
              <a:headEnd/>
              <a:tailEnd type="none" w="med" len="lg"/>
            </a:ln>
            <a:effectLst/>
          </p:spPr>
          <p:txBody>
            <a:bodyPr wrap="none"/>
            <a:lstStyle/>
            <a:p>
              <a:endParaRPr lang="zh-CN" altLang="en-US">
                <a:latin typeface="Consolas" pitchFamily="49" charset="0"/>
                <a:cs typeface="Consolas" pitchFamily="49" charset="0"/>
              </a:endParaRPr>
            </a:p>
          </p:txBody>
        </p:sp>
        <p:sp>
          <p:nvSpPr>
            <p:cNvPr id="91" name="Freeform 21">
              <a:extLst>
                <a:ext uri="{FF2B5EF4-FFF2-40B4-BE49-F238E27FC236}">
                  <a16:creationId xmlns:a16="http://schemas.microsoft.com/office/drawing/2014/main" id="{35A9E510-C86D-9982-622D-3FD72F0898C3}"/>
                </a:ext>
              </a:extLst>
            </p:cNvPr>
            <p:cNvSpPr>
              <a:spLocks/>
            </p:cNvSpPr>
            <p:nvPr/>
          </p:nvSpPr>
          <p:spPr bwMode="auto">
            <a:xfrm>
              <a:off x="2582852" y="5292729"/>
              <a:ext cx="266700" cy="411162"/>
            </a:xfrm>
            <a:custGeom>
              <a:avLst/>
              <a:gdLst/>
              <a:ahLst/>
              <a:cxnLst>
                <a:cxn ang="0">
                  <a:pos x="168" y="0"/>
                </a:cxn>
                <a:cxn ang="0">
                  <a:pos x="0" y="259"/>
                </a:cxn>
              </a:cxnLst>
              <a:rect l="0" t="0" r="r" b="b"/>
              <a:pathLst>
                <a:path w="168" h="259">
                  <a:moveTo>
                    <a:pt x="168" y="0"/>
                  </a:moveTo>
                  <a:lnTo>
                    <a:pt x="0" y="259"/>
                  </a:lnTo>
                </a:path>
              </a:pathLst>
            </a:custGeom>
            <a:noFill/>
            <a:ln w="19050">
              <a:solidFill>
                <a:srgbClr val="3333FF"/>
              </a:solidFill>
              <a:round/>
              <a:headEnd/>
              <a:tailEnd type="none" w="med" len="lg"/>
            </a:ln>
            <a:effectLst/>
          </p:spPr>
          <p:txBody>
            <a:bodyPr wrap="none"/>
            <a:lstStyle/>
            <a:p>
              <a:endParaRPr lang="zh-CN" altLang="en-US">
                <a:latin typeface="Consolas" pitchFamily="49" charset="0"/>
                <a:cs typeface="Consolas" pitchFamily="49" charset="0"/>
              </a:endParaRPr>
            </a:p>
          </p:txBody>
        </p:sp>
        <p:sp>
          <p:nvSpPr>
            <p:cNvPr id="92" name="Text Box 22">
              <a:extLst>
                <a:ext uri="{FF2B5EF4-FFF2-40B4-BE49-F238E27FC236}">
                  <a16:creationId xmlns:a16="http://schemas.microsoft.com/office/drawing/2014/main" id="{B1AEA447-2B12-ADB8-D6C3-34A8F12F223D}"/>
                </a:ext>
              </a:extLst>
            </p:cNvPr>
            <p:cNvSpPr txBox="1">
              <a:spLocks noChangeArrowheads="1"/>
            </p:cNvSpPr>
            <p:nvPr/>
          </p:nvSpPr>
          <p:spPr bwMode="auto">
            <a:xfrm>
              <a:off x="1776402" y="3929066"/>
              <a:ext cx="503238" cy="369332"/>
            </a:xfrm>
            <a:prstGeom prst="rect">
              <a:avLst/>
            </a:prstGeom>
            <a:noFill/>
            <a:ln w="19050" algn="ctr">
              <a:noFill/>
              <a:miter lim="800000"/>
              <a:headEnd/>
              <a:tailEnd type="none" w="med" len="lg"/>
            </a:ln>
            <a:effectLst/>
          </p:spPr>
          <p:txBody>
            <a:bodyPr>
              <a:spAutoFit/>
            </a:bodyPr>
            <a:lstStyle/>
            <a:p>
              <a:pPr algn="l">
                <a:spcBef>
                  <a:spcPct val="50000"/>
                </a:spcBef>
              </a:pPr>
              <a:r>
                <a:rPr lang="en-US" altLang="zh-CN" sz="1800">
                  <a:latin typeface="Consolas" pitchFamily="49" charset="0"/>
                  <a:cs typeface="Consolas" pitchFamily="49" charset="0"/>
                </a:rPr>
                <a:t>28</a:t>
              </a:r>
            </a:p>
          </p:txBody>
        </p:sp>
        <p:sp>
          <p:nvSpPr>
            <p:cNvPr id="93" name="Text Box 23">
              <a:extLst>
                <a:ext uri="{FF2B5EF4-FFF2-40B4-BE49-F238E27FC236}">
                  <a16:creationId xmlns:a16="http://schemas.microsoft.com/office/drawing/2014/main" id="{064F55B6-58F4-C6D0-C4DF-DBFDD297C1FE}"/>
                </a:ext>
              </a:extLst>
            </p:cNvPr>
            <p:cNvSpPr txBox="1">
              <a:spLocks noChangeArrowheads="1"/>
            </p:cNvSpPr>
            <p:nvPr/>
          </p:nvSpPr>
          <p:spPr bwMode="auto">
            <a:xfrm>
              <a:off x="696902" y="4395791"/>
              <a:ext cx="503238" cy="369332"/>
            </a:xfrm>
            <a:prstGeom prst="rect">
              <a:avLst/>
            </a:prstGeom>
            <a:noFill/>
            <a:ln w="19050" algn="ctr">
              <a:noFill/>
              <a:miter lim="800000"/>
              <a:headEnd/>
              <a:tailEnd type="none" w="med" len="lg"/>
            </a:ln>
            <a:effectLst/>
          </p:spPr>
          <p:txBody>
            <a:bodyPr>
              <a:spAutoFit/>
            </a:bodyPr>
            <a:lstStyle/>
            <a:p>
              <a:pPr algn="l">
                <a:spcBef>
                  <a:spcPct val="50000"/>
                </a:spcBef>
              </a:pPr>
              <a:r>
                <a:rPr lang="en-US" altLang="zh-CN" sz="1800">
                  <a:latin typeface="Consolas" pitchFamily="49" charset="0"/>
                  <a:cs typeface="Consolas" pitchFamily="49" charset="0"/>
                </a:rPr>
                <a:t>10</a:t>
              </a:r>
            </a:p>
          </p:txBody>
        </p:sp>
        <p:sp>
          <p:nvSpPr>
            <p:cNvPr id="94" name="Text Box 25">
              <a:extLst>
                <a:ext uri="{FF2B5EF4-FFF2-40B4-BE49-F238E27FC236}">
                  <a16:creationId xmlns:a16="http://schemas.microsoft.com/office/drawing/2014/main" id="{7715DA0B-A537-589A-D35A-329AF6E8464C}"/>
                </a:ext>
              </a:extLst>
            </p:cNvPr>
            <p:cNvSpPr txBox="1">
              <a:spLocks noChangeArrowheads="1"/>
            </p:cNvSpPr>
            <p:nvPr/>
          </p:nvSpPr>
          <p:spPr bwMode="auto">
            <a:xfrm>
              <a:off x="1847840" y="4467229"/>
              <a:ext cx="503237" cy="369332"/>
            </a:xfrm>
            <a:prstGeom prst="rect">
              <a:avLst/>
            </a:prstGeom>
            <a:noFill/>
            <a:ln w="19050" algn="ctr">
              <a:noFill/>
              <a:miter lim="800000"/>
              <a:headEnd/>
              <a:tailEnd type="none" w="med" len="lg"/>
            </a:ln>
            <a:effectLst/>
          </p:spPr>
          <p:txBody>
            <a:bodyPr>
              <a:spAutoFit/>
            </a:bodyPr>
            <a:lstStyle/>
            <a:p>
              <a:pPr algn="l">
                <a:spcBef>
                  <a:spcPct val="50000"/>
                </a:spcBef>
              </a:pPr>
              <a:r>
                <a:rPr lang="en-US" altLang="zh-CN" sz="1800">
                  <a:latin typeface="Consolas" pitchFamily="49" charset="0"/>
                  <a:cs typeface="Consolas" pitchFamily="49" charset="0"/>
                </a:rPr>
                <a:t>14</a:t>
              </a:r>
            </a:p>
          </p:txBody>
        </p:sp>
        <p:sp>
          <p:nvSpPr>
            <p:cNvPr id="95" name="Text Box 26">
              <a:extLst>
                <a:ext uri="{FF2B5EF4-FFF2-40B4-BE49-F238E27FC236}">
                  <a16:creationId xmlns:a16="http://schemas.microsoft.com/office/drawing/2014/main" id="{07908379-4379-C987-F0BA-3B5137964794}"/>
                </a:ext>
              </a:extLst>
            </p:cNvPr>
            <p:cNvSpPr txBox="1">
              <a:spLocks noChangeArrowheads="1"/>
            </p:cNvSpPr>
            <p:nvPr/>
          </p:nvSpPr>
          <p:spPr bwMode="auto">
            <a:xfrm>
              <a:off x="769927" y="5403854"/>
              <a:ext cx="503238" cy="369332"/>
            </a:xfrm>
            <a:prstGeom prst="rect">
              <a:avLst/>
            </a:prstGeom>
            <a:noFill/>
            <a:ln w="19050" algn="ctr">
              <a:noFill/>
              <a:miter lim="800000"/>
              <a:headEnd/>
              <a:tailEnd type="none" w="med" len="lg"/>
            </a:ln>
            <a:effectLst/>
          </p:spPr>
          <p:txBody>
            <a:bodyPr>
              <a:spAutoFit/>
            </a:bodyPr>
            <a:lstStyle/>
            <a:p>
              <a:pPr algn="l">
                <a:spcBef>
                  <a:spcPct val="50000"/>
                </a:spcBef>
              </a:pPr>
              <a:r>
                <a:rPr lang="en-US" altLang="zh-CN" sz="1800">
                  <a:latin typeface="Consolas" pitchFamily="49" charset="0"/>
                  <a:cs typeface="Consolas" pitchFamily="49" charset="0"/>
                </a:rPr>
                <a:t>25</a:t>
              </a:r>
            </a:p>
          </p:txBody>
        </p:sp>
        <p:sp>
          <p:nvSpPr>
            <p:cNvPr id="96" name="Text Box 28">
              <a:extLst>
                <a:ext uri="{FF2B5EF4-FFF2-40B4-BE49-F238E27FC236}">
                  <a16:creationId xmlns:a16="http://schemas.microsoft.com/office/drawing/2014/main" id="{BCC2EA02-B271-B7B3-9810-28EBCA35EE5D}"/>
                </a:ext>
              </a:extLst>
            </p:cNvPr>
            <p:cNvSpPr txBox="1">
              <a:spLocks noChangeArrowheads="1"/>
            </p:cNvSpPr>
            <p:nvPr/>
          </p:nvSpPr>
          <p:spPr bwMode="auto">
            <a:xfrm>
              <a:off x="2167172" y="5226872"/>
              <a:ext cx="503238" cy="369332"/>
            </a:xfrm>
            <a:prstGeom prst="rect">
              <a:avLst/>
            </a:prstGeom>
            <a:noFill/>
            <a:ln w="19050" algn="ctr">
              <a:noFill/>
              <a:miter lim="800000"/>
              <a:headEnd/>
              <a:tailEnd type="none" w="med" len="lg"/>
            </a:ln>
            <a:effectLst/>
          </p:spPr>
          <p:txBody>
            <a:bodyPr>
              <a:spAutoFit/>
            </a:bodyPr>
            <a:lstStyle/>
            <a:p>
              <a:pPr algn="l">
                <a:spcBef>
                  <a:spcPct val="50000"/>
                </a:spcBef>
              </a:pPr>
              <a:r>
                <a:rPr lang="en-US" altLang="zh-CN" sz="1800">
                  <a:latin typeface="Consolas" pitchFamily="49" charset="0"/>
                  <a:cs typeface="Consolas" pitchFamily="49" charset="0"/>
                </a:rPr>
                <a:t>18</a:t>
              </a:r>
            </a:p>
          </p:txBody>
        </p:sp>
        <p:sp>
          <p:nvSpPr>
            <p:cNvPr id="97" name="Text Box 29">
              <a:extLst>
                <a:ext uri="{FF2B5EF4-FFF2-40B4-BE49-F238E27FC236}">
                  <a16:creationId xmlns:a16="http://schemas.microsoft.com/office/drawing/2014/main" id="{B6D0FD57-E18B-425B-ED81-2CE41FDBAD48}"/>
                </a:ext>
              </a:extLst>
            </p:cNvPr>
            <p:cNvSpPr txBox="1">
              <a:spLocks noChangeArrowheads="1"/>
            </p:cNvSpPr>
            <p:nvPr/>
          </p:nvSpPr>
          <p:spPr bwMode="auto">
            <a:xfrm>
              <a:off x="1776402" y="5872166"/>
              <a:ext cx="503238" cy="369332"/>
            </a:xfrm>
            <a:prstGeom prst="rect">
              <a:avLst/>
            </a:prstGeom>
            <a:noFill/>
            <a:ln w="19050" algn="ctr">
              <a:noFill/>
              <a:miter lim="800000"/>
              <a:headEnd/>
              <a:tailEnd type="none" w="med" len="lg"/>
            </a:ln>
            <a:effectLst/>
          </p:spPr>
          <p:txBody>
            <a:bodyPr>
              <a:spAutoFit/>
            </a:bodyPr>
            <a:lstStyle/>
            <a:p>
              <a:pPr algn="l">
                <a:spcBef>
                  <a:spcPct val="50000"/>
                </a:spcBef>
              </a:pPr>
              <a:r>
                <a:rPr lang="en-US" altLang="zh-CN" sz="1800">
                  <a:latin typeface="Consolas" pitchFamily="49" charset="0"/>
                  <a:cs typeface="Consolas" pitchFamily="49" charset="0"/>
                </a:rPr>
                <a:t>22</a:t>
              </a:r>
            </a:p>
          </p:txBody>
        </p:sp>
      </p:grpSp>
    </p:spTree>
    <p:extLst>
      <p:ext uri="{BB962C8B-B14F-4D97-AF65-F5344CB8AC3E}">
        <p14:creationId xmlns:p14="http://schemas.microsoft.com/office/powerpoint/2010/main" val="25194407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nodeType="clickEffect">
                                  <p:stCondLst>
                                    <p:cond delay="0"/>
                                  </p:stCondLst>
                                  <p:childTnLst>
                                    <p:set>
                                      <p:cBhvr>
                                        <p:cTn id="6" dur="1" fill="hold">
                                          <p:stCondLst>
                                            <p:cond delay="0"/>
                                          </p:stCondLst>
                                        </p:cTn>
                                        <p:tgtEl>
                                          <p:spTgt spid="72"/>
                                        </p:tgtEl>
                                        <p:attrNameLst>
                                          <p:attrName>style.visibility</p:attrName>
                                        </p:attrNameLst>
                                      </p:cBhvr>
                                      <p:to>
                                        <p:strVal val="visible"/>
                                      </p:to>
                                    </p:set>
                                    <p:animEffect transition="in" filter="strips(downRight)">
                                      <p:cBhvr>
                                        <p:cTn id="7" dur="1000"/>
                                        <p:tgtEl>
                                          <p:spTgt spid="72"/>
                                        </p:tgtEl>
                                      </p:cBhvr>
                                    </p:animEffect>
                                  </p:childTnLst>
                                </p:cTn>
                              </p:par>
                            </p:childTnLst>
                          </p:cTn>
                        </p:par>
                        <p:par>
                          <p:cTn id="8" fill="hold">
                            <p:stCondLst>
                              <p:cond delay="1000"/>
                            </p:stCondLst>
                            <p:childTnLst>
                              <p:par>
                                <p:cTn id="9" presetID="1" presetClass="entr" presetSubtype="0" fill="hold" nodeType="after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A6EB2C-42C6-A9ED-914C-12CF29B59B31}"/>
            </a:ext>
          </a:extLst>
        </p:cNvPr>
        <p:cNvGrpSpPr/>
        <p:nvPr/>
      </p:nvGrpSpPr>
      <p:grpSpPr>
        <a:xfrm>
          <a:off x="0" y="0"/>
          <a:ext cx="0" cy="0"/>
          <a:chOff x="0" y="0"/>
          <a:chExt cx="0" cy="0"/>
        </a:xfrm>
      </p:grpSpPr>
      <p:sp>
        <p:nvSpPr>
          <p:cNvPr id="2" name="Rectangle 2">
            <a:extLst>
              <a:ext uri="{FF2B5EF4-FFF2-40B4-BE49-F238E27FC236}">
                <a16:creationId xmlns:a16="http://schemas.microsoft.com/office/drawing/2014/main" id="{4B5B9FE2-9944-5EF2-4A31-C6ACAC9158CB}"/>
              </a:ext>
            </a:extLst>
          </p:cNvPr>
          <p:cNvSpPr txBox="1">
            <a:spLocks noChangeArrowheads="1"/>
          </p:cNvSpPr>
          <p:nvPr/>
        </p:nvSpPr>
        <p:spPr>
          <a:xfrm>
            <a:off x="474772" y="1230902"/>
            <a:ext cx="6485324"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8.4.4 </a:t>
            </a:r>
            <a:r>
              <a:rPr kumimoji="1" lang="zh-CN" altLang="en-US" dirty="0">
                <a:latin typeface="微软雅黑" pitchFamily="34" charset="-122"/>
                <a:ea typeface="微软雅黑" pitchFamily="34" charset="-122"/>
              </a:rPr>
              <a:t>克鲁斯卡尔算法 </a:t>
            </a:r>
            <a:r>
              <a:rPr kumimoji="1" lang="en-US" altLang="zh-CN" dirty="0">
                <a:latin typeface="微软雅黑" pitchFamily="34" charset="-122"/>
                <a:ea typeface="微软雅黑" pitchFamily="34" charset="-122"/>
              </a:rPr>
              <a:t>(Kruskal)</a:t>
            </a:r>
            <a:r>
              <a:rPr kumimoji="1" lang="zh-CN" altLang="en-US" dirty="0">
                <a:latin typeface="微软雅黑" pitchFamily="34" charset="-122"/>
                <a:ea typeface="微软雅黑" pitchFamily="34" charset="-122"/>
              </a:rPr>
              <a:t>算法</a:t>
            </a:r>
          </a:p>
        </p:txBody>
      </p:sp>
      <p:cxnSp>
        <p:nvCxnSpPr>
          <p:cNvPr id="3" name="直接连接符 2">
            <a:extLst>
              <a:ext uri="{FF2B5EF4-FFF2-40B4-BE49-F238E27FC236}">
                <a16:creationId xmlns:a16="http://schemas.microsoft.com/office/drawing/2014/main" id="{F8F81805-EABD-8464-645B-C79F1A44196E}"/>
              </a:ext>
            </a:extLst>
          </p:cNvPr>
          <p:cNvCxnSpPr>
            <a:cxnSpLocks/>
          </p:cNvCxnSpPr>
          <p:nvPr/>
        </p:nvCxnSpPr>
        <p:spPr>
          <a:xfrm>
            <a:off x="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4" name="矩形 3">
            <a:extLst>
              <a:ext uri="{FF2B5EF4-FFF2-40B4-BE49-F238E27FC236}">
                <a16:creationId xmlns:a16="http://schemas.microsoft.com/office/drawing/2014/main" id="{4E2D3ED4-3F9A-6829-F77E-DB0A69A5D5B8}"/>
              </a:ext>
            </a:extLst>
          </p:cNvPr>
          <p:cNvSpPr/>
          <p:nvPr/>
        </p:nvSpPr>
        <p:spPr>
          <a:xfrm>
            <a:off x="3394075" y="399838"/>
            <a:ext cx="4617860"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8.4 </a:t>
            </a:r>
            <a:r>
              <a:rPr lang="zh-CN" altLang="en-US" sz="3000" b="1" dirty="0">
                <a:latin typeface="黑体" pitchFamily="49" charset="-122"/>
                <a:ea typeface="黑体" pitchFamily="49" charset="-122"/>
                <a:cs typeface="经典粗黑简" pitchFamily="49" charset="-122"/>
              </a:rPr>
              <a:t>生成树和最小生成树</a:t>
            </a:r>
          </a:p>
        </p:txBody>
      </p:sp>
      <p:sp>
        <p:nvSpPr>
          <p:cNvPr id="12" name="Text Box 85">
            <a:extLst>
              <a:ext uri="{FF2B5EF4-FFF2-40B4-BE49-F238E27FC236}">
                <a16:creationId xmlns:a16="http://schemas.microsoft.com/office/drawing/2014/main" id="{48D8329A-2951-5192-F357-B557326E54D3}"/>
              </a:ext>
            </a:extLst>
          </p:cNvPr>
          <p:cNvSpPr txBox="1">
            <a:spLocks noChangeArrowheads="1"/>
          </p:cNvSpPr>
          <p:nvPr/>
        </p:nvSpPr>
        <p:spPr bwMode="auto">
          <a:xfrm>
            <a:off x="1415480" y="1962425"/>
            <a:ext cx="3500462" cy="400110"/>
          </a:xfrm>
          <a:prstGeom prst="rect">
            <a:avLst/>
          </a:prstGeom>
          <a:solidFill>
            <a:srgbClr val="339933"/>
          </a:solidFill>
          <a:ln w="19050" algn="ctr">
            <a:noFill/>
            <a:miter lim="800000"/>
            <a:headEnd/>
            <a:tailEnd type="none" w="med" len="lg"/>
          </a:ln>
          <a:effectLst/>
        </p:spPr>
        <p:txBody>
          <a:bodyPr wrap="square">
            <a:spAutoFit/>
          </a:bodyPr>
          <a:lstStyle/>
          <a:p>
            <a:pPr>
              <a:spcBef>
                <a:spcPct val="50000"/>
              </a:spcBef>
            </a:pPr>
            <a:r>
              <a:rPr kumimoji="1" lang="en-US" altLang="zh-CN" sz="2000" dirty="0" err="1">
                <a:solidFill>
                  <a:schemeClr val="bg1"/>
                </a:solidFill>
                <a:latin typeface="Consolas" pitchFamily="49" charset="0"/>
                <a:ea typeface="华文中宋" pitchFamily="2" charset="-122"/>
                <a:cs typeface="Consolas" pitchFamily="49" charset="0"/>
              </a:rPr>
              <a:t>Kruskal</a:t>
            </a:r>
            <a:r>
              <a:rPr lang="zh-CN" altLang="en-US" sz="2000" dirty="0">
                <a:solidFill>
                  <a:schemeClr val="bg1"/>
                </a:solidFill>
                <a:latin typeface="Consolas" pitchFamily="49" charset="0"/>
                <a:ea typeface="华文中宋" pitchFamily="2" charset="-122"/>
                <a:cs typeface="Consolas" pitchFamily="49" charset="0"/>
              </a:rPr>
              <a:t>算法示例的演示</a:t>
            </a:r>
          </a:p>
        </p:txBody>
      </p:sp>
      <p:sp>
        <p:nvSpPr>
          <p:cNvPr id="6" name="Text Box 81">
            <a:extLst>
              <a:ext uri="{FF2B5EF4-FFF2-40B4-BE49-F238E27FC236}">
                <a16:creationId xmlns:a16="http://schemas.microsoft.com/office/drawing/2014/main" id="{5B79313A-253E-62A1-45AD-410BF6D7674F}"/>
              </a:ext>
            </a:extLst>
          </p:cNvPr>
          <p:cNvSpPr txBox="1">
            <a:spLocks noChangeArrowheads="1"/>
          </p:cNvSpPr>
          <p:nvPr/>
        </p:nvSpPr>
        <p:spPr bwMode="auto">
          <a:xfrm>
            <a:off x="4822632" y="3738441"/>
            <a:ext cx="1368425" cy="396875"/>
          </a:xfrm>
          <a:prstGeom prst="rect">
            <a:avLst/>
          </a:prstGeom>
          <a:noFill/>
          <a:ln w="19050" algn="ctr">
            <a:noFill/>
            <a:miter lim="800000"/>
            <a:headEnd/>
            <a:tailEnd type="none" w="med" len="lg"/>
          </a:ln>
          <a:effectLst/>
        </p:spPr>
        <p:txBody>
          <a:bodyPr>
            <a:spAutoFit/>
          </a:bodyPr>
          <a:lstStyle/>
          <a:p>
            <a:pPr>
              <a:spcBef>
                <a:spcPct val="50000"/>
              </a:spcBef>
            </a:pPr>
            <a:r>
              <a:rPr lang="zh-CN" altLang="en-US" sz="2000" dirty="0">
                <a:latin typeface="Consolas" pitchFamily="49" charset="0"/>
                <a:ea typeface="楷体" pitchFamily="49" charset="-122"/>
                <a:cs typeface="Consolas" pitchFamily="49" charset="0"/>
              </a:rPr>
              <a:t>取</a:t>
            </a:r>
            <a:r>
              <a:rPr lang="en-US" altLang="zh-CN" sz="2000" dirty="0">
                <a:solidFill>
                  <a:srgbClr val="FF00FF"/>
                </a:solidFill>
                <a:latin typeface="Consolas" pitchFamily="49" charset="0"/>
                <a:ea typeface="楷体" pitchFamily="49" charset="-122"/>
                <a:cs typeface="Consolas" pitchFamily="49" charset="0"/>
              </a:rPr>
              <a:t>1</a:t>
            </a:r>
            <a:r>
              <a:rPr lang="zh-CN" altLang="en-US" sz="2000" dirty="0">
                <a:latin typeface="Consolas" pitchFamily="49" charset="0"/>
                <a:ea typeface="楷体" pitchFamily="49" charset="-122"/>
                <a:cs typeface="Consolas" pitchFamily="49" charset="0"/>
              </a:rPr>
              <a:t>号边</a:t>
            </a:r>
          </a:p>
        </p:txBody>
      </p:sp>
      <p:sp>
        <p:nvSpPr>
          <p:cNvPr id="7" name="Oval 6">
            <a:extLst>
              <a:ext uri="{FF2B5EF4-FFF2-40B4-BE49-F238E27FC236}">
                <a16:creationId xmlns:a16="http://schemas.microsoft.com/office/drawing/2014/main" id="{EBE3B559-6818-86A7-0090-3382C50AB7B1}"/>
              </a:ext>
            </a:extLst>
          </p:cNvPr>
          <p:cNvSpPr>
            <a:spLocks noChangeArrowheads="1"/>
          </p:cNvSpPr>
          <p:nvPr/>
        </p:nvSpPr>
        <p:spPr bwMode="auto">
          <a:xfrm>
            <a:off x="2552477" y="2813475"/>
            <a:ext cx="360363" cy="431800"/>
          </a:xfrm>
          <a:prstGeom prst="ellipse">
            <a:avLst/>
          </a:prstGeom>
          <a:ln>
            <a:headEnd/>
            <a:tailEnd type="none" w="med" len="lg"/>
          </a:ln>
        </p:spPr>
        <p:style>
          <a:lnRef idx="1">
            <a:schemeClr val="accent2"/>
          </a:lnRef>
          <a:fillRef idx="2">
            <a:schemeClr val="accent2"/>
          </a:fillRef>
          <a:effectRef idx="1">
            <a:schemeClr val="accent2"/>
          </a:effectRef>
          <a:fontRef idx="minor">
            <a:schemeClr val="dk1"/>
          </a:fontRef>
        </p:style>
        <p:txBody>
          <a:bodyPr wrap="none" anchor="ctr"/>
          <a:lstStyle/>
          <a:p>
            <a:r>
              <a:rPr lang="en-US" altLang="zh-CN" sz="2000" dirty="0">
                <a:solidFill>
                  <a:srgbClr val="0000FF"/>
                </a:solidFill>
                <a:latin typeface="Consolas" pitchFamily="49" charset="0"/>
                <a:cs typeface="Consolas" pitchFamily="49" charset="0"/>
              </a:rPr>
              <a:t>0</a:t>
            </a:r>
          </a:p>
        </p:txBody>
      </p:sp>
      <p:sp>
        <p:nvSpPr>
          <p:cNvPr id="8" name="Oval 7">
            <a:extLst>
              <a:ext uri="{FF2B5EF4-FFF2-40B4-BE49-F238E27FC236}">
                <a16:creationId xmlns:a16="http://schemas.microsoft.com/office/drawing/2014/main" id="{AD2B9C8F-33EE-8423-0B29-65DA9E35D8FD}"/>
              </a:ext>
            </a:extLst>
          </p:cNvPr>
          <p:cNvSpPr>
            <a:spLocks noChangeArrowheads="1"/>
          </p:cNvSpPr>
          <p:nvPr/>
        </p:nvSpPr>
        <p:spPr bwMode="auto">
          <a:xfrm>
            <a:off x="3633565" y="2813475"/>
            <a:ext cx="360362" cy="431800"/>
          </a:xfrm>
          <a:prstGeom prst="ellipse">
            <a:avLst/>
          </a:prstGeom>
          <a:ln>
            <a:headEnd/>
            <a:tailEnd type="none" w="med" len="lg"/>
          </a:ln>
        </p:spPr>
        <p:style>
          <a:lnRef idx="1">
            <a:schemeClr val="accent2"/>
          </a:lnRef>
          <a:fillRef idx="2">
            <a:schemeClr val="accent2"/>
          </a:fillRef>
          <a:effectRef idx="1">
            <a:schemeClr val="accent2"/>
          </a:effectRef>
          <a:fontRef idx="minor">
            <a:schemeClr val="dk1"/>
          </a:fontRef>
        </p:style>
        <p:txBody>
          <a:bodyPr wrap="none" anchor="ctr"/>
          <a:lstStyle/>
          <a:p>
            <a:r>
              <a:rPr lang="en-US" altLang="zh-CN" sz="2000">
                <a:solidFill>
                  <a:srgbClr val="0000FF"/>
                </a:solidFill>
                <a:latin typeface="Consolas" pitchFamily="49" charset="0"/>
                <a:cs typeface="Consolas" pitchFamily="49" charset="0"/>
              </a:rPr>
              <a:t>1</a:t>
            </a:r>
          </a:p>
        </p:txBody>
      </p:sp>
      <p:sp>
        <p:nvSpPr>
          <p:cNvPr id="9" name="Oval 8">
            <a:extLst>
              <a:ext uri="{FF2B5EF4-FFF2-40B4-BE49-F238E27FC236}">
                <a16:creationId xmlns:a16="http://schemas.microsoft.com/office/drawing/2014/main" id="{86D02CE7-E43C-8EC0-462F-2935FB37CC48}"/>
              </a:ext>
            </a:extLst>
          </p:cNvPr>
          <p:cNvSpPr>
            <a:spLocks noChangeArrowheads="1"/>
          </p:cNvSpPr>
          <p:nvPr/>
        </p:nvSpPr>
        <p:spPr bwMode="auto">
          <a:xfrm>
            <a:off x="1976215" y="3678663"/>
            <a:ext cx="360362" cy="431800"/>
          </a:xfrm>
          <a:prstGeom prst="ellipse">
            <a:avLst/>
          </a:prstGeom>
          <a:ln>
            <a:headEnd/>
            <a:tailEnd type="none" w="med" len="lg"/>
          </a:ln>
        </p:spPr>
        <p:style>
          <a:lnRef idx="1">
            <a:schemeClr val="accent2"/>
          </a:lnRef>
          <a:fillRef idx="2">
            <a:schemeClr val="accent2"/>
          </a:fillRef>
          <a:effectRef idx="1">
            <a:schemeClr val="accent2"/>
          </a:effectRef>
          <a:fontRef idx="minor">
            <a:schemeClr val="dk1"/>
          </a:fontRef>
        </p:style>
        <p:txBody>
          <a:bodyPr wrap="none" anchor="ctr"/>
          <a:lstStyle/>
          <a:p>
            <a:r>
              <a:rPr lang="en-US" altLang="zh-CN" sz="2000">
                <a:solidFill>
                  <a:srgbClr val="0000FF"/>
                </a:solidFill>
                <a:latin typeface="Consolas" pitchFamily="49" charset="0"/>
                <a:cs typeface="Consolas" pitchFamily="49" charset="0"/>
              </a:rPr>
              <a:t>5</a:t>
            </a:r>
          </a:p>
        </p:txBody>
      </p:sp>
      <p:sp>
        <p:nvSpPr>
          <p:cNvPr id="10" name="Oval 9">
            <a:extLst>
              <a:ext uri="{FF2B5EF4-FFF2-40B4-BE49-F238E27FC236}">
                <a16:creationId xmlns:a16="http://schemas.microsoft.com/office/drawing/2014/main" id="{1BE1A982-B887-EE11-D1E7-D3FC393F40D7}"/>
              </a:ext>
            </a:extLst>
          </p:cNvPr>
          <p:cNvSpPr>
            <a:spLocks noChangeArrowheads="1"/>
          </p:cNvSpPr>
          <p:nvPr/>
        </p:nvSpPr>
        <p:spPr bwMode="auto">
          <a:xfrm>
            <a:off x="2625502" y="4397800"/>
            <a:ext cx="360363" cy="431800"/>
          </a:xfrm>
          <a:prstGeom prst="ellipse">
            <a:avLst/>
          </a:prstGeom>
          <a:ln>
            <a:headEnd/>
            <a:tailEnd type="none" w="med" len="lg"/>
          </a:ln>
        </p:spPr>
        <p:style>
          <a:lnRef idx="1">
            <a:schemeClr val="accent2"/>
          </a:lnRef>
          <a:fillRef idx="2">
            <a:schemeClr val="accent2"/>
          </a:fillRef>
          <a:effectRef idx="1">
            <a:schemeClr val="accent2"/>
          </a:effectRef>
          <a:fontRef idx="minor">
            <a:schemeClr val="dk1"/>
          </a:fontRef>
        </p:style>
        <p:txBody>
          <a:bodyPr wrap="none" anchor="ctr"/>
          <a:lstStyle/>
          <a:p>
            <a:r>
              <a:rPr lang="en-US" altLang="zh-CN" sz="2000">
                <a:solidFill>
                  <a:srgbClr val="0000FF"/>
                </a:solidFill>
                <a:latin typeface="Consolas" pitchFamily="49" charset="0"/>
                <a:cs typeface="Consolas" pitchFamily="49" charset="0"/>
              </a:rPr>
              <a:t>4</a:t>
            </a:r>
          </a:p>
        </p:txBody>
      </p:sp>
      <p:sp>
        <p:nvSpPr>
          <p:cNvPr id="11" name="Oval 10">
            <a:extLst>
              <a:ext uri="{FF2B5EF4-FFF2-40B4-BE49-F238E27FC236}">
                <a16:creationId xmlns:a16="http://schemas.microsoft.com/office/drawing/2014/main" id="{CFD0FE6F-6521-AAA9-9925-A7703BE06B33}"/>
              </a:ext>
            </a:extLst>
          </p:cNvPr>
          <p:cNvSpPr>
            <a:spLocks noChangeArrowheads="1"/>
          </p:cNvSpPr>
          <p:nvPr/>
        </p:nvSpPr>
        <p:spPr bwMode="auto">
          <a:xfrm>
            <a:off x="3560540" y="4397800"/>
            <a:ext cx="360362" cy="431800"/>
          </a:xfrm>
          <a:prstGeom prst="ellipse">
            <a:avLst/>
          </a:prstGeom>
          <a:ln>
            <a:headEnd/>
            <a:tailEnd type="none" w="med" len="lg"/>
          </a:ln>
        </p:spPr>
        <p:style>
          <a:lnRef idx="1">
            <a:schemeClr val="accent2"/>
          </a:lnRef>
          <a:fillRef idx="2">
            <a:schemeClr val="accent2"/>
          </a:fillRef>
          <a:effectRef idx="1">
            <a:schemeClr val="accent2"/>
          </a:effectRef>
          <a:fontRef idx="minor">
            <a:schemeClr val="dk1"/>
          </a:fontRef>
        </p:style>
        <p:txBody>
          <a:bodyPr wrap="none" anchor="ctr"/>
          <a:lstStyle/>
          <a:p>
            <a:r>
              <a:rPr lang="en-US" altLang="zh-CN" sz="2000" dirty="0">
                <a:solidFill>
                  <a:srgbClr val="0000FF"/>
                </a:solidFill>
                <a:latin typeface="Consolas" pitchFamily="49" charset="0"/>
                <a:cs typeface="Consolas" pitchFamily="49" charset="0"/>
              </a:rPr>
              <a:t>3</a:t>
            </a:r>
          </a:p>
        </p:txBody>
      </p:sp>
      <p:sp>
        <p:nvSpPr>
          <p:cNvPr id="13" name="Oval 11">
            <a:extLst>
              <a:ext uri="{FF2B5EF4-FFF2-40B4-BE49-F238E27FC236}">
                <a16:creationId xmlns:a16="http://schemas.microsoft.com/office/drawing/2014/main" id="{E7B0480E-9053-2036-3740-7F155B6E018D}"/>
              </a:ext>
            </a:extLst>
          </p:cNvPr>
          <p:cNvSpPr>
            <a:spLocks noChangeArrowheads="1"/>
          </p:cNvSpPr>
          <p:nvPr/>
        </p:nvSpPr>
        <p:spPr bwMode="auto">
          <a:xfrm>
            <a:off x="3128740" y="3605638"/>
            <a:ext cx="360362" cy="431800"/>
          </a:xfrm>
          <a:prstGeom prst="ellipse">
            <a:avLst/>
          </a:prstGeom>
          <a:ln>
            <a:headEnd/>
            <a:tailEnd type="none" w="med" len="lg"/>
          </a:ln>
        </p:spPr>
        <p:style>
          <a:lnRef idx="1">
            <a:schemeClr val="accent2"/>
          </a:lnRef>
          <a:fillRef idx="2">
            <a:schemeClr val="accent2"/>
          </a:fillRef>
          <a:effectRef idx="1">
            <a:schemeClr val="accent2"/>
          </a:effectRef>
          <a:fontRef idx="minor">
            <a:schemeClr val="dk1"/>
          </a:fontRef>
        </p:style>
        <p:txBody>
          <a:bodyPr wrap="none" anchor="ctr"/>
          <a:lstStyle/>
          <a:p>
            <a:r>
              <a:rPr lang="en-US" altLang="zh-CN" sz="2000">
                <a:solidFill>
                  <a:srgbClr val="0000FF"/>
                </a:solidFill>
                <a:latin typeface="Consolas" pitchFamily="49" charset="0"/>
                <a:cs typeface="Consolas" pitchFamily="49" charset="0"/>
              </a:rPr>
              <a:t>6</a:t>
            </a:r>
          </a:p>
        </p:txBody>
      </p:sp>
      <p:sp>
        <p:nvSpPr>
          <p:cNvPr id="14" name="Oval 12">
            <a:extLst>
              <a:ext uri="{FF2B5EF4-FFF2-40B4-BE49-F238E27FC236}">
                <a16:creationId xmlns:a16="http://schemas.microsoft.com/office/drawing/2014/main" id="{632F293B-6F91-3CE6-0E24-EA8F9130249F}"/>
              </a:ext>
            </a:extLst>
          </p:cNvPr>
          <p:cNvSpPr>
            <a:spLocks noChangeArrowheads="1"/>
          </p:cNvSpPr>
          <p:nvPr/>
        </p:nvSpPr>
        <p:spPr bwMode="auto">
          <a:xfrm>
            <a:off x="3992340" y="3605638"/>
            <a:ext cx="360362" cy="431800"/>
          </a:xfrm>
          <a:prstGeom prst="ellipse">
            <a:avLst/>
          </a:prstGeom>
          <a:ln>
            <a:headEnd/>
            <a:tailEnd type="none" w="med" len="lg"/>
          </a:ln>
        </p:spPr>
        <p:style>
          <a:lnRef idx="1">
            <a:schemeClr val="accent2"/>
          </a:lnRef>
          <a:fillRef idx="2">
            <a:schemeClr val="accent2"/>
          </a:fillRef>
          <a:effectRef idx="1">
            <a:schemeClr val="accent2"/>
          </a:effectRef>
          <a:fontRef idx="minor">
            <a:schemeClr val="dk1"/>
          </a:fontRef>
        </p:style>
        <p:txBody>
          <a:bodyPr wrap="none" anchor="ctr"/>
          <a:lstStyle/>
          <a:p>
            <a:r>
              <a:rPr lang="en-US" altLang="zh-CN" sz="2000">
                <a:solidFill>
                  <a:srgbClr val="0000FF"/>
                </a:solidFill>
                <a:latin typeface="Consolas" pitchFamily="49" charset="0"/>
                <a:cs typeface="Consolas" pitchFamily="49" charset="0"/>
              </a:rPr>
              <a:t>2</a:t>
            </a:r>
          </a:p>
        </p:txBody>
      </p:sp>
      <p:sp>
        <p:nvSpPr>
          <p:cNvPr id="17" name="Line 13">
            <a:extLst>
              <a:ext uri="{FF2B5EF4-FFF2-40B4-BE49-F238E27FC236}">
                <a16:creationId xmlns:a16="http://schemas.microsoft.com/office/drawing/2014/main" id="{0D2AE880-04E1-9B44-159A-640BFAA4DD9A}"/>
              </a:ext>
            </a:extLst>
          </p:cNvPr>
          <p:cNvSpPr>
            <a:spLocks noChangeShapeType="1"/>
          </p:cNvSpPr>
          <p:nvPr/>
        </p:nvSpPr>
        <p:spPr bwMode="auto">
          <a:xfrm>
            <a:off x="2912840" y="3029375"/>
            <a:ext cx="720725" cy="0"/>
          </a:xfrm>
          <a:prstGeom prst="line">
            <a:avLst/>
          </a:prstGeom>
          <a:noFill/>
          <a:ln w="19050">
            <a:solidFill>
              <a:srgbClr val="3333FF"/>
            </a:solidFill>
            <a:round/>
            <a:headEnd/>
            <a:tailEnd type="none" w="med" len="lg"/>
          </a:ln>
          <a:effectLst/>
        </p:spPr>
        <p:txBody>
          <a:bodyPr wrap="none"/>
          <a:lstStyle/>
          <a:p>
            <a:endParaRPr lang="zh-CN" altLang="en-US">
              <a:latin typeface="Consolas" pitchFamily="49" charset="0"/>
              <a:cs typeface="Consolas" pitchFamily="49" charset="0"/>
            </a:endParaRPr>
          </a:p>
        </p:txBody>
      </p:sp>
      <p:sp>
        <p:nvSpPr>
          <p:cNvPr id="18" name="Freeform 14">
            <a:extLst>
              <a:ext uri="{FF2B5EF4-FFF2-40B4-BE49-F238E27FC236}">
                <a16:creationId xmlns:a16="http://schemas.microsoft.com/office/drawing/2014/main" id="{86277BFE-ABCE-099F-3FB2-F96436644D73}"/>
              </a:ext>
            </a:extLst>
          </p:cNvPr>
          <p:cNvSpPr>
            <a:spLocks/>
          </p:cNvSpPr>
          <p:nvPr/>
        </p:nvSpPr>
        <p:spPr bwMode="auto">
          <a:xfrm>
            <a:off x="2193702" y="3150025"/>
            <a:ext cx="395288" cy="528638"/>
          </a:xfrm>
          <a:custGeom>
            <a:avLst/>
            <a:gdLst/>
            <a:ahLst/>
            <a:cxnLst>
              <a:cxn ang="0">
                <a:pos x="249" y="0"/>
              </a:cxn>
              <a:cxn ang="0">
                <a:pos x="0" y="333"/>
              </a:cxn>
            </a:cxnLst>
            <a:rect l="0" t="0" r="r" b="b"/>
            <a:pathLst>
              <a:path w="249" h="333">
                <a:moveTo>
                  <a:pt x="249" y="0"/>
                </a:moveTo>
                <a:lnTo>
                  <a:pt x="0" y="333"/>
                </a:lnTo>
              </a:path>
            </a:pathLst>
          </a:custGeom>
          <a:noFill/>
          <a:ln w="19050" cap="flat" cmpd="sng">
            <a:solidFill>
              <a:srgbClr val="3333FF"/>
            </a:solidFill>
            <a:prstDash val="solid"/>
            <a:round/>
            <a:headEnd type="none" w="med" len="med"/>
            <a:tailEnd type="none" w="med" len="lg"/>
          </a:ln>
          <a:effectLst/>
        </p:spPr>
        <p:txBody>
          <a:bodyPr wrap="none"/>
          <a:lstStyle/>
          <a:p>
            <a:endParaRPr lang="zh-CN" altLang="en-US">
              <a:latin typeface="Consolas" pitchFamily="49" charset="0"/>
              <a:cs typeface="Consolas" pitchFamily="49" charset="0"/>
            </a:endParaRPr>
          </a:p>
        </p:txBody>
      </p:sp>
      <p:sp>
        <p:nvSpPr>
          <p:cNvPr id="19" name="Freeform 15">
            <a:extLst>
              <a:ext uri="{FF2B5EF4-FFF2-40B4-BE49-F238E27FC236}">
                <a16:creationId xmlns:a16="http://schemas.microsoft.com/office/drawing/2014/main" id="{118A4655-82C5-D07E-AC22-687EDC50CA44}"/>
              </a:ext>
            </a:extLst>
          </p:cNvPr>
          <p:cNvSpPr>
            <a:spLocks/>
          </p:cNvSpPr>
          <p:nvPr/>
        </p:nvSpPr>
        <p:spPr bwMode="auto">
          <a:xfrm>
            <a:off x="2258790" y="4077125"/>
            <a:ext cx="392112" cy="419100"/>
          </a:xfrm>
          <a:custGeom>
            <a:avLst/>
            <a:gdLst/>
            <a:ahLst/>
            <a:cxnLst>
              <a:cxn ang="0">
                <a:pos x="0" y="0"/>
              </a:cxn>
              <a:cxn ang="0">
                <a:pos x="247" y="264"/>
              </a:cxn>
            </a:cxnLst>
            <a:rect l="0" t="0" r="r" b="b"/>
            <a:pathLst>
              <a:path w="247" h="264">
                <a:moveTo>
                  <a:pt x="0" y="0"/>
                </a:moveTo>
                <a:lnTo>
                  <a:pt x="247" y="264"/>
                </a:lnTo>
              </a:path>
            </a:pathLst>
          </a:custGeom>
          <a:noFill/>
          <a:ln w="19050" cap="flat" cmpd="sng">
            <a:solidFill>
              <a:srgbClr val="3333FF"/>
            </a:solidFill>
            <a:prstDash val="solid"/>
            <a:round/>
            <a:headEnd type="none" w="med" len="med"/>
            <a:tailEnd type="none" w="med" len="lg"/>
          </a:ln>
          <a:effectLst/>
        </p:spPr>
        <p:txBody>
          <a:bodyPr wrap="none"/>
          <a:lstStyle/>
          <a:p>
            <a:endParaRPr lang="zh-CN" altLang="en-US">
              <a:latin typeface="Consolas" pitchFamily="49" charset="0"/>
              <a:cs typeface="Consolas" pitchFamily="49" charset="0"/>
            </a:endParaRPr>
          </a:p>
        </p:txBody>
      </p:sp>
      <p:sp>
        <p:nvSpPr>
          <p:cNvPr id="20" name="Freeform 16">
            <a:extLst>
              <a:ext uri="{FF2B5EF4-FFF2-40B4-BE49-F238E27FC236}">
                <a16:creationId xmlns:a16="http://schemas.microsoft.com/office/drawing/2014/main" id="{337B0ADE-5950-4900-A89D-16715D07C56E}"/>
              </a:ext>
            </a:extLst>
          </p:cNvPr>
          <p:cNvSpPr>
            <a:spLocks/>
          </p:cNvSpPr>
          <p:nvPr/>
        </p:nvSpPr>
        <p:spPr bwMode="auto">
          <a:xfrm>
            <a:off x="2984277" y="4648625"/>
            <a:ext cx="582613" cy="1588"/>
          </a:xfrm>
          <a:custGeom>
            <a:avLst/>
            <a:gdLst/>
            <a:ahLst/>
            <a:cxnLst>
              <a:cxn ang="0">
                <a:pos x="0" y="0"/>
              </a:cxn>
              <a:cxn ang="0">
                <a:pos x="367" y="0"/>
              </a:cxn>
            </a:cxnLst>
            <a:rect l="0" t="0" r="r" b="b"/>
            <a:pathLst>
              <a:path w="367" h="1">
                <a:moveTo>
                  <a:pt x="0" y="0"/>
                </a:moveTo>
                <a:lnTo>
                  <a:pt x="367" y="0"/>
                </a:lnTo>
              </a:path>
            </a:pathLst>
          </a:custGeom>
          <a:noFill/>
          <a:ln w="19050" cap="flat" cmpd="sng">
            <a:solidFill>
              <a:srgbClr val="3333FF"/>
            </a:solidFill>
            <a:prstDash val="solid"/>
            <a:round/>
            <a:headEnd type="none" w="med" len="med"/>
            <a:tailEnd type="none" w="med" len="lg"/>
          </a:ln>
          <a:effectLst/>
        </p:spPr>
        <p:txBody>
          <a:bodyPr wrap="none"/>
          <a:lstStyle/>
          <a:p>
            <a:endParaRPr lang="zh-CN" altLang="en-US">
              <a:latin typeface="Consolas" pitchFamily="49" charset="0"/>
              <a:cs typeface="Consolas" pitchFamily="49" charset="0"/>
            </a:endParaRPr>
          </a:p>
        </p:txBody>
      </p:sp>
      <p:sp>
        <p:nvSpPr>
          <p:cNvPr id="21" name="Freeform 17">
            <a:extLst>
              <a:ext uri="{FF2B5EF4-FFF2-40B4-BE49-F238E27FC236}">
                <a16:creationId xmlns:a16="http://schemas.microsoft.com/office/drawing/2014/main" id="{A62A9CC0-8044-97D7-C968-4F8BEBFDE6AB}"/>
              </a:ext>
            </a:extLst>
          </p:cNvPr>
          <p:cNvSpPr>
            <a:spLocks/>
          </p:cNvSpPr>
          <p:nvPr/>
        </p:nvSpPr>
        <p:spPr bwMode="auto">
          <a:xfrm>
            <a:off x="2841402" y="3975525"/>
            <a:ext cx="357188" cy="422275"/>
          </a:xfrm>
          <a:custGeom>
            <a:avLst/>
            <a:gdLst/>
            <a:ahLst/>
            <a:cxnLst>
              <a:cxn ang="0">
                <a:pos x="0" y="266"/>
              </a:cxn>
              <a:cxn ang="0">
                <a:pos x="225" y="0"/>
              </a:cxn>
            </a:cxnLst>
            <a:rect l="0" t="0" r="r" b="b"/>
            <a:pathLst>
              <a:path w="225" h="266">
                <a:moveTo>
                  <a:pt x="0" y="266"/>
                </a:moveTo>
                <a:lnTo>
                  <a:pt x="225" y="0"/>
                </a:lnTo>
              </a:path>
            </a:pathLst>
          </a:custGeom>
          <a:noFill/>
          <a:ln w="19050" cap="flat" cmpd="sng">
            <a:solidFill>
              <a:srgbClr val="3333FF"/>
            </a:solidFill>
            <a:prstDash val="solid"/>
            <a:round/>
            <a:headEnd type="none" w="med" len="med"/>
            <a:tailEnd type="none" w="med" len="lg"/>
          </a:ln>
          <a:effectLst/>
        </p:spPr>
        <p:txBody>
          <a:bodyPr wrap="none"/>
          <a:lstStyle/>
          <a:p>
            <a:endParaRPr lang="zh-CN" altLang="en-US">
              <a:latin typeface="Consolas" pitchFamily="49" charset="0"/>
              <a:cs typeface="Consolas" pitchFamily="49" charset="0"/>
            </a:endParaRPr>
          </a:p>
        </p:txBody>
      </p:sp>
      <p:sp>
        <p:nvSpPr>
          <p:cNvPr id="22" name="Line 18">
            <a:extLst>
              <a:ext uri="{FF2B5EF4-FFF2-40B4-BE49-F238E27FC236}">
                <a16:creationId xmlns:a16="http://schemas.microsoft.com/office/drawing/2014/main" id="{99CA7A5F-9CAD-B65E-9993-F657D75E7320}"/>
              </a:ext>
            </a:extLst>
          </p:cNvPr>
          <p:cNvSpPr>
            <a:spLocks noChangeShapeType="1"/>
          </p:cNvSpPr>
          <p:nvPr/>
        </p:nvSpPr>
        <p:spPr bwMode="auto">
          <a:xfrm>
            <a:off x="3404965" y="4004100"/>
            <a:ext cx="266400" cy="410400"/>
          </a:xfrm>
          <a:prstGeom prst="line">
            <a:avLst/>
          </a:prstGeom>
          <a:noFill/>
          <a:ln w="19050">
            <a:solidFill>
              <a:srgbClr val="3333FF"/>
            </a:solidFill>
            <a:round/>
            <a:headEnd/>
            <a:tailEnd type="none" w="med" len="lg"/>
          </a:ln>
          <a:effectLst/>
        </p:spPr>
        <p:txBody>
          <a:bodyPr wrap="none"/>
          <a:lstStyle/>
          <a:p>
            <a:endParaRPr lang="zh-CN" altLang="en-US">
              <a:latin typeface="Consolas" pitchFamily="49" charset="0"/>
              <a:cs typeface="Consolas" pitchFamily="49" charset="0"/>
            </a:endParaRPr>
          </a:p>
        </p:txBody>
      </p:sp>
      <p:sp>
        <p:nvSpPr>
          <p:cNvPr id="23" name="Line 19">
            <a:extLst>
              <a:ext uri="{FF2B5EF4-FFF2-40B4-BE49-F238E27FC236}">
                <a16:creationId xmlns:a16="http://schemas.microsoft.com/office/drawing/2014/main" id="{E361ED8C-5C17-BE4F-097F-35566B59ACDD}"/>
              </a:ext>
            </a:extLst>
          </p:cNvPr>
          <p:cNvSpPr>
            <a:spLocks noChangeShapeType="1"/>
          </p:cNvSpPr>
          <p:nvPr/>
        </p:nvSpPr>
        <p:spPr bwMode="auto">
          <a:xfrm flipH="1">
            <a:off x="3404965" y="3199238"/>
            <a:ext cx="287337" cy="431800"/>
          </a:xfrm>
          <a:prstGeom prst="line">
            <a:avLst/>
          </a:prstGeom>
          <a:noFill/>
          <a:ln w="19050">
            <a:solidFill>
              <a:srgbClr val="3333FF"/>
            </a:solidFill>
            <a:round/>
            <a:headEnd/>
            <a:tailEnd type="none" w="med" len="lg"/>
          </a:ln>
          <a:effectLst/>
        </p:spPr>
        <p:txBody>
          <a:bodyPr wrap="none"/>
          <a:lstStyle/>
          <a:p>
            <a:endParaRPr lang="zh-CN" altLang="en-US">
              <a:latin typeface="Consolas" pitchFamily="49" charset="0"/>
              <a:cs typeface="Consolas" pitchFamily="49" charset="0"/>
            </a:endParaRPr>
          </a:p>
        </p:txBody>
      </p:sp>
      <p:sp>
        <p:nvSpPr>
          <p:cNvPr id="24" name="Line 20">
            <a:extLst>
              <a:ext uri="{FF2B5EF4-FFF2-40B4-BE49-F238E27FC236}">
                <a16:creationId xmlns:a16="http://schemas.microsoft.com/office/drawing/2014/main" id="{805DBD91-EAC0-E7EF-68E1-EBA8F20F50CD}"/>
              </a:ext>
            </a:extLst>
          </p:cNvPr>
          <p:cNvSpPr>
            <a:spLocks noChangeShapeType="1"/>
          </p:cNvSpPr>
          <p:nvPr/>
        </p:nvSpPr>
        <p:spPr bwMode="auto">
          <a:xfrm>
            <a:off x="3920902" y="3173838"/>
            <a:ext cx="215900" cy="431800"/>
          </a:xfrm>
          <a:prstGeom prst="line">
            <a:avLst/>
          </a:prstGeom>
          <a:noFill/>
          <a:ln w="19050">
            <a:solidFill>
              <a:srgbClr val="3333FF"/>
            </a:solidFill>
            <a:round/>
            <a:headEnd/>
            <a:tailEnd type="none" w="med" len="lg"/>
          </a:ln>
          <a:effectLst/>
        </p:spPr>
        <p:txBody>
          <a:bodyPr wrap="none"/>
          <a:lstStyle/>
          <a:p>
            <a:endParaRPr lang="zh-CN" altLang="en-US">
              <a:latin typeface="Consolas" pitchFamily="49" charset="0"/>
              <a:cs typeface="Consolas" pitchFamily="49" charset="0"/>
            </a:endParaRPr>
          </a:p>
        </p:txBody>
      </p:sp>
      <p:sp>
        <p:nvSpPr>
          <p:cNvPr id="25" name="Freeform 21">
            <a:extLst>
              <a:ext uri="{FF2B5EF4-FFF2-40B4-BE49-F238E27FC236}">
                <a16:creationId xmlns:a16="http://schemas.microsoft.com/office/drawing/2014/main" id="{EE30E3B5-B377-ACA4-9A31-5D351BB4BD2A}"/>
              </a:ext>
            </a:extLst>
          </p:cNvPr>
          <p:cNvSpPr>
            <a:spLocks/>
          </p:cNvSpPr>
          <p:nvPr/>
        </p:nvSpPr>
        <p:spPr bwMode="auto">
          <a:xfrm>
            <a:off x="3863752" y="4034263"/>
            <a:ext cx="266700" cy="411162"/>
          </a:xfrm>
          <a:custGeom>
            <a:avLst/>
            <a:gdLst/>
            <a:ahLst/>
            <a:cxnLst>
              <a:cxn ang="0">
                <a:pos x="168" y="0"/>
              </a:cxn>
              <a:cxn ang="0">
                <a:pos x="0" y="259"/>
              </a:cxn>
            </a:cxnLst>
            <a:rect l="0" t="0" r="r" b="b"/>
            <a:pathLst>
              <a:path w="168" h="259">
                <a:moveTo>
                  <a:pt x="168" y="0"/>
                </a:moveTo>
                <a:lnTo>
                  <a:pt x="0" y="259"/>
                </a:lnTo>
              </a:path>
            </a:pathLst>
          </a:custGeom>
          <a:noFill/>
          <a:ln w="19050">
            <a:solidFill>
              <a:srgbClr val="3333FF"/>
            </a:solidFill>
            <a:round/>
            <a:headEnd/>
            <a:tailEnd type="none" w="med" len="lg"/>
          </a:ln>
          <a:effectLst/>
        </p:spPr>
        <p:txBody>
          <a:bodyPr wrap="none"/>
          <a:lstStyle/>
          <a:p>
            <a:endParaRPr lang="zh-CN" altLang="en-US">
              <a:latin typeface="Consolas" pitchFamily="49" charset="0"/>
              <a:cs typeface="Consolas" pitchFamily="49" charset="0"/>
            </a:endParaRPr>
          </a:p>
        </p:txBody>
      </p:sp>
      <p:sp>
        <p:nvSpPr>
          <p:cNvPr id="26" name="Text Box 71">
            <a:extLst>
              <a:ext uri="{FF2B5EF4-FFF2-40B4-BE49-F238E27FC236}">
                <a16:creationId xmlns:a16="http://schemas.microsoft.com/office/drawing/2014/main" id="{E424F290-35DC-4204-B214-8F2AA08A2CAE}"/>
              </a:ext>
            </a:extLst>
          </p:cNvPr>
          <p:cNvSpPr txBox="1">
            <a:spLocks noChangeArrowheads="1"/>
          </p:cNvSpPr>
          <p:nvPr/>
        </p:nvSpPr>
        <p:spPr bwMode="auto">
          <a:xfrm>
            <a:off x="2055591" y="3123042"/>
            <a:ext cx="287338" cy="369332"/>
          </a:xfrm>
          <a:prstGeom prst="rect">
            <a:avLst/>
          </a:prstGeom>
          <a:noFill/>
          <a:ln w="19050" algn="ctr">
            <a:noFill/>
            <a:miter lim="800000"/>
            <a:headEnd/>
            <a:tailEnd type="none" w="med" len="lg"/>
          </a:ln>
          <a:effectLst/>
        </p:spPr>
        <p:txBody>
          <a:bodyPr>
            <a:spAutoFit/>
          </a:bodyPr>
          <a:lstStyle/>
          <a:p>
            <a:pPr>
              <a:spcBef>
                <a:spcPct val="50000"/>
              </a:spcBef>
            </a:pPr>
            <a:r>
              <a:rPr lang="en-US" altLang="zh-CN" sz="1800" dirty="0">
                <a:solidFill>
                  <a:srgbClr val="FF3300"/>
                </a:solidFill>
                <a:latin typeface="Consolas" pitchFamily="49" charset="0"/>
                <a:cs typeface="Consolas" pitchFamily="49" charset="0"/>
              </a:rPr>
              <a:t>1</a:t>
            </a:r>
          </a:p>
        </p:txBody>
      </p:sp>
      <p:sp>
        <p:nvSpPr>
          <p:cNvPr id="27" name="Text Box 72">
            <a:extLst>
              <a:ext uri="{FF2B5EF4-FFF2-40B4-BE49-F238E27FC236}">
                <a16:creationId xmlns:a16="http://schemas.microsoft.com/office/drawing/2014/main" id="{536436A9-589F-AEA2-D544-336776034524}"/>
              </a:ext>
            </a:extLst>
          </p:cNvPr>
          <p:cNvSpPr txBox="1">
            <a:spLocks noChangeArrowheads="1"/>
          </p:cNvSpPr>
          <p:nvPr/>
        </p:nvSpPr>
        <p:spPr bwMode="auto">
          <a:xfrm>
            <a:off x="3984417" y="4148563"/>
            <a:ext cx="287338" cy="369332"/>
          </a:xfrm>
          <a:prstGeom prst="rect">
            <a:avLst/>
          </a:prstGeom>
          <a:noFill/>
          <a:ln w="19050" algn="ctr">
            <a:noFill/>
            <a:miter lim="800000"/>
            <a:headEnd/>
            <a:tailEnd type="none" w="med" len="lg"/>
          </a:ln>
          <a:effectLst/>
        </p:spPr>
        <p:txBody>
          <a:bodyPr>
            <a:spAutoFit/>
          </a:bodyPr>
          <a:lstStyle/>
          <a:p>
            <a:pPr>
              <a:spcBef>
                <a:spcPct val="50000"/>
              </a:spcBef>
            </a:pPr>
            <a:r>
              <a:rPr lang="en-US" altLang="zh-CN" sz="1800">
                <a:solidFill>
                  <a:srgbClr val="FF3300"/>
                </a:solidFill>
                <a:latin typeface="Consolas" pitchFamily="49" charset="0"/>
                <a:cs typeface="Consolas" pitchFamily="49" charset="0"/>
              </a:rPr>
              <a:t>2</a:t>
            </a:r>
          </a:p>
        </p:txBody>
      </p:sp>
      <p:sp>
        <p:nvSpPr>
          <p:cNvPr id="28" name="Text Box 73">
            <a:extLst>
              <a:ext uri="{FF2B5EF4-FFF2-40B4-BE49-F238E27FC236}">
                <a16:creationId xmlns:a16="http://schemas.microsoft.com/office/drawing/2014/main" id="{055ECFBD-80DB-86B2-5B26-D09529C2348F}"/>
              </a:ext>
            </a:extLst>
          </p:cNvPr>
          <p:cNvSpPr txBox="1">
            <a:spLocks noChangeArrowheads="1"/>
          </p:cNvSpPr>
          <p:nvPr/>
        </p:nvSpPr>
        <p:spPr bwMode="auto">
          <a:xfrm>
            <a:off x="3268452" y="3138913"/>
            <a:ext cx="287337" cy="369332"/>
          </a:xfrm>
          <a:prstGeom prst="rect">
            <a:avLst/>
          </a:prstGeom>
          <a:noFill/>
          <a:ln w="19050" algn="ctr">
            <a:noFill/>
            <a:miter lim="800000"/>
            <a:headEnd/>
            <a:tailEnd type="none" w="med" len="lg"/>
          </a:ln>
          <a:effectLst/>
        </p:spPr>
        <p:txBody>
          <a:bodyPr>
            <a:spAutoFit/>
          </a:bodyPr>
          <a:lstStyle/>
          <a:p>
            <a:pPr>
              <a:spcBef>
                <a:spcPct val="50000"/>
              </a:spcBef>
            </a:pPr>
            <a:r>
              <a:rPr lang="en-US" altLang="zh-CN" sz="1800" dirty="0">
                <a:solidFill>
                  <a:srgbClr val="FF3300"/>
                </a:solidFill>
                <a:latin typeface="Consolas" pitchFamily="49" charset="0"/>
                <a:cs typeface="Consolas" pitchFamily="49" charset="0"/>
              </a:rPr>
              <a:t>3</a:t>
            </a:r>
          </a:p>
        </p:txBody>
      </p:sp>
      <p:sp>
        <p:nvSpPr>
          <p:cNvPr id="29" name="Text Box 75">
            <a:extLst>
              <a:ext uri="{FF2B5EF4-FFF2-40B4-BE49-F238E27FC236}">
                <a16:creationId xmlns:a16="http://schemas.microsoft.com/office/drawing/2014/main" id="{9BEDACF1-86D8-CCB6-4B64-0B6097E4A1BE}"/>
              </a:ext>
            </a:extLst>
          </p:cNvPr>
          <p:cNvSpPr txBox="1">
            <a:spLocks noChangeArrowheads="1"/>
          </p:cNvSpPr>
          <p:nvPr/>
        </p:nvSpPr>
        <p:spPr bwMode="auto">
          <a:xfrm>
            <a:off x="2122265" y="4194612"/>
            <a:ext cx="287337" cy="369332"/>
          </a:xfrm>
          <a:prstGeom prst="rect">
            <a:avLst/>
          </a:prstGeom>
          <a:noFill/>
          <a:ln w="19050" algn="ctr">
            <a:noFill/>
            <a:miter lim="800000"/>
            <a:headEnd/>
            <a:tailEnd type="none" w="med" len="lg"/>
          </a:ln>
          <a:effectLst/>
        </p:spPr>
        <p:txBody>
          <a:bodyPr>
            <a:spAutoFit/>
          </a:bodyPr>
          <a:lstStyle/>
          <a:p>
            <a:pPr>
              <a:spcBef>
                <a:spcPct val="50000"/>
              </a:spcBef>
            </a:pPr>
            <a:r>
              <a:rPr lang="en-US" altLang="zh-CN" sz="1800" dirty="0">
                <a:solidFill>
                  <a:srgbClr val="FF3300"/>
                </a:solidFill>
                <a:latin typeface="Consolas" pitchFamily="49" charset="0"/>
                <a:cs typeface="Consolas" pitchFamily="49" charset="0"/>
              </a:rPr>
              <a:t>8</a:t>
            </a:r>
          </a:p>
        </p:txBody>
      </p:sp>
      <p:sp>
        <p:nvSpPr>
          <p:cNvPr id="30" name="Text Box 76">
            <a:extLst>
              <a:ext uri="{FF2B5EF4-FFF2-40B4-BE49-F238E27FC236}">
                <a16:creationId xmlns:a16="http://schemas.microsoft.com/office/drawing/2014/main" id="{E1D22D02-C870-33EC-3252-42D0C9210FCC}"/>
              </a:ext>
            </a:extLst>
          </p:cNvPr>
          <p:cNvSpPr txBox="1">
            <a:spLocks noChangeArrowheads="1"/>
          </p:cNvSpPr>
          <p:nvPr/>
        </p:nvSpPr>
        <p:spPr bwMode="auto">
          <a:xfrm>
            <a:off x="3127161" y="4623240"/>
            <a:ext cx="287338" cy="369332"/>
          </a:xfrm>
          <a:prstGeom prst="rect">
            <a:avLst/>
          </a:prstGeom>
          <a:noFill/>
          <a:ln w="19050" algn="ctr">
            <a:noFill/>
            <a:miter lim="800000"/>
            <a:headEnd/>
            <a:tailEnd type="none" w="med" len="lg"/>
          </a:ln>
          <a:effectLst/>
        </p:spPr>
        <p:txBody>
          <a:bodyPr>
            <a:spAutoFit/>
          </a:bodyPr>
          <a:lstStyle/>
          <a:p>
            <a:pPr>
              <a:spcBef>
                <a:spcPct val="50000"/>
              </a:spcBef>
            </a:pPr>
            <a:r>
              <a:rPr lang="en-US" altLang="zh-CN" sz="1800" dirty="0">
                <a:solidFill>
                  <a:srgbClr val="FF3300"/>
                </a:solidFill>
                <a:latin typeface="Consolas" pitchFamily="49" charset="0"/>
                <a:cs typeface="Consolas" pitchFamily="49" charset="0"/>
              </a:rPr>
              <a:t>6</a:t>
            </a:r>
          </a:p>
        </p:txBody>
      </p:sp>
      <p:sp>
        <p:nvSpPr>
          <p:cNvPr id="31" name="Text Box 77">
            <a:extLst>
              <a:ext uri="{FF2B5EF4-FFF2-40B4-BE49-F238E27FC236}">
                <a16:creationId xmlns:a16="http://schemas.microsoft.com/office/drawing/2014/main" id="{AFC840E1-1F61-EC81-F7F9-1D4C7780996A}"/>
              </a:ext>
            </a:extLst>
          </p:cNvPr>
          <p:cNvSpPr txBox="1">
            <a:spLocks noChangeArrowheads="1"/>
          </p:cNvSpPr>
          <p:nvPr/>
        </p:nvSpPr>
        <p:spPr bwMode="auto">
          <a:xfrm>
            <a:off x="2768385" y="3896718"/>
            <a:ext cx="287338" cy="369332"/>
          </a:xfrm>
          <a:prstGeom prst="rect">
            <a:avLst/>
          </a:prstGeom>
          <a:noFill/>
          <a:ln w="19050" algn="ctr">
            <a:noFill/>
            <a:miter lim="800000"/>
            <a:headEnd/>
            <a:tailEnd type="none" w="med" len="lg"/>
          </a:ln>
          <a:effectLst/>
        </p:spPr>
        <p:txBody>
          <a:bodyPr>
            <a:spAutoFit/>
          </a:bodyPr>
          <a:lstStyle/>
          <a:p>
            <a:pPr>
              <a:spcBef>
                <a:spcPct val="50000"/>
              </a:spcBef>
            </a:pPr>
            <a:r>
              <a:rPr lang="en-US" altLang="zh-CN" sz="1800" dirty="0">
                <a:solidFill>
                  <a:srgbClr val="FF3300"/>
                </a:solidFill>
                <a:latin typeface="Consolas" pitchFamily="49" charset="0"/>
                <a:cs typeface="Consolas" pitchFamily="49" charset="0"/>
              </a:rPr>
              <a:t>7</a:t>
            </a:r>
          </a:p>
        </p:txBody>
      </p:sp>
      <p:sp>
        <p:nvSpPr>
          <p:cNvPr id="32" name="Text Box 78">
            <a:extLst>
              <a:ext uri="{FF2B5EF4-FFF2-40B4-BE49-F238E27FC236}">
                <a16:creationId xmlns:a16="http://schemas.microsoft.com/office/drawing/2014/main" id="{B28AB3FB-4282-5C1C-4653-6EDF73FB91EC}"/>
              </a:ext>
            </a:extLst>
          </p:cNvPr>
          <p:cNvSpPr txBox="1">
            <a:spLocks noChangeArrowheads="1"/>
          </p:cNvSpPr>
          <p:nvPr/>
        </p:nvSpPr>
        <p:spPr bwMode="auto">
          <a:xfrm>
            <a:off x="3125576" y="2682272"/>
            <a:ext cx="287337" cy="369332"/>
          </a:xfrm>
          <a:prstGeom prst="rect">
            <a:avLst/>
          </a:prstGeom>
          <a:noFill/>
          <a:ln w="19050" algn="ctr">
            <a:noFill/>
            <a:miter lim="800000"/>
            <a:headEnd/>
            <a:tailEnd type="none" w="med" len="lg"/>
          </a:ln>
          <a:effectLst/>
        </p:spPr>
        <p:txBody>
          <a:bodyPr>
            <a:spAutoFit/>
          </a:bodyPr>
          <a:lstStyle/>
          <a:p>
            <a:pPr>
              <a:spcBef>
                <a:spcPct val="50000"/>
              </a:spcBef>
            </a:pPr>
            <a:r>
              <a:rPr lang="en-US" altLang="zh-CN" sz="1800" dirty="0">
                <a:solidFill>
                  <a:srgbClr val="FF3300"/>
                </a:solidFill>
                <a:latin typeface="Consolas" pitchFamily="49" charset="0"/>
                <a:cs typeface="Consolas" pitchFamily="49" charset="0"/>
              </a:rPr>
              <a:t>9</a:t>
            </a:r>
          </a:p>
        </p:txBody>
      </p:sp>
      <p:sp>
        <p:nvSpPr>
          <p:cNvPr id="33" name="Text Box 79">
            <a:extLst>
              <a:ext uri="{FF2B5EF4-FFF2-40B4-BE49-F238E27FC236}">
                <a16:creationId xmlns:a16="http://schemas.microsoft.com/office/drawing/2014/main" id="{4477D2DA-34B1-F9AF-9C26-3094A621FD33}"/>
              </a:ext>
            </a:extLst>
          </p:cNvPr>
          <p:cNvSpPr txBox="1">
            <a:spLocks noChangeArrowheads="1"/>
          </p:cNvSpPr>
          <p:nvPr/>
        </p:nvSpPr>
        <p:spPr bwMode="auto">
          <a:xfrm>
            <a:off x="3260513" y="4051736"/>
            <a:ext cx="287338" cy="369332"/>
          </a:xfrm>
          <a:prstGeom prst="rect">
            <a:avLst/>
          </a:prstGeom>
          <a:noFill/>
          <a:ln w="19050" algn="ctr">
            <a:noFill/>
            <a:miter lim="800000"/>
            <a:headEnd/>
            <a:tailEnd type="none" w="med" len="lg"/>
          </a:ln>
          <a:effectLst/>
        </p:spPr>
        <p:txBody>
          <a:bodyPr>
            <a:spAutoFit/>
          </a:bodyPr>
          <a:lstStyle/>
          <a:p>
            <a:pPr>
              <a:spcBef>
                <a:spcPct val="50000"/>
              </a:spcBef>
            </a:pPr>
            <a:r>
              <a:rPr lang="en-US" altLang="zh-CN" sz="1800" dirty="0">
                <a:solidFill>
                  <a:srgbClr val="FF3300"/>
                </a:solidFill>
                <a:latin typeface="Consolas" pitchFamily="49" charset="0"/>
                <a:cs typeface="Consolas" pitchFamily="49" charset="0"/>
              </a:rPr>
              <a:t>5</a:t>
            </a:r>
          </a:p>
        </p:txBody>
      </p:sp>
      <p:sp>
        <p:nvSpPr>
          <p:cNvPr id="34" name="Text Box 80">
            <a:extLst>
              <a:ext uri="{FF2B5EF4-FFF2-40B4-BE49-F238E27FC236}">
                <a16:creationId xmlns:a16="http://schemas.microsoft.com/office/drawing/2014/main" id="{344B8DB0-0217-E666-8BF7-A0EE262FD640}"/>
              </a:ext>
            </a:extLst>
          </p:cNvPr>
          <p:cNvSpPr txBox="1">
            <a:spLocks noChangeArrowheads="1"/>
          </p:cNvSpPr>
          <p:nvPr/>
        </p:nvSpPr>
        <p:spPr bwMode="auto">
          <a:xfrm>
            <a:off x="4055855" y="3140500"/>
            <a:ext cx="287338" cy="369332"/>
          </a:xfrm>
          <a:prstGeom prst="rect">
            <a:avLst/>
          </a:prstGeom>
          <a:noFill/>
          <a:ln w="19050" algn="ctr">
            <a:noFill/>
            <a:miter lim="800000"/>
            <a:headEnd/>
            <a:tailEnd type="none" w="med" len="lg"/>
          </a:ln>
          <a:effectLst/>
        </p:spPr>
        <p:txBody>
          <a:bodyPr>
            <a:spAutoFit/>
          </a:bodyPr>
          <a:lstStyle/>
          <a:p>
            <a:pPr>
              <a:spcBef>
                <a:spcPct val="50000"/>
              </a:spcBef>
            </a:pPr>
            <a:r>
              <a:rPr lang="en-US" altLang="zh-CN" sz="1800" dirty="0">
                <a:solidFill>
                  <a:srgbClr val="FF3300"/>
                </a:solidFill>
                <a:latin typeface="Consolas" pitchFamily="49" charset="0"/>
                <a:cs typeface="Consolas" pitchFamily="49" charset="0"/>
              </a:rPr>
              <a:t>4</a:t>
            </a:r>
          </a:p>
        </p:txBody>
      </p:sp>
      <p:sp>
        <p:nvSpPr>
          <p:cNvPr id="35" name="Oval 6">
            <a:extLst>
              <a:ext uri="{FF2B5EF4-FFF2-40B4-BE49-F238E27FC236}">
                <a16:creationId xmlns:a16="http://schemas.microsoft.com/office/drawing/2014/main" id="{6E1827B9-FE0C-15D8-FBF3-5736E853FE83}"/>
              </a:ext>
            </a:extLst>
          </p:cNvPr>
          <p:cNvSpPr>
            <a:spLocks noChangeArrowheads="1"/>
          </p:cNvSpPr>
          <p:nvPr/>
        </p:nvSpPr>
        <p:spPr bwMode="auto">
          <a:xfrm>
            <a:off x="7176914" y="2742037"/>
            <a:ext cx="360363" cy="431800"/>
          </a:xfrm>
          <a:prstGeom prst="ellipse">
            <a:avLst/>
          </a:prstGeom>
          <a:ln>
            <a:headEnd/>
            <a:tailEnd type="none" w="med" len="lg"/>
          </a:ln>
        </p:spPr>
        <p:style>
          <a:lnRef idx="1">
            <a:schemeClr val="accent2"/>
          </a:lnRef>
          <a:fillRef idx="2">
            <a:schemeClr val="accent2"/>
          </a:fillRef>
          <a:effectRef idx="1">
            <a:schemeClr val="accent2"/>
          </a:effectRef>
          <a:fontRef idx="minor">
            <a:schemeClr val="dk1"/>
          </a:fontRef>
        </p:style>
        <p:txBody>
          <a:bodyPr wrap="none" anchor="ctr"/>
          <a:lstStyle/>
          <a:p>
            <a:r>
              <a:rPr lang="en-US" altLang="zh-CN" sz="2000" dirty="0">
                <a:solidFill>
                  <a:srgbClr val="0000FF"/>
                </a:solidFill>
                <a:latin typeface="Consolas" pitchFamily="49" charset="0"/>
                <a:cs typeface="Consolas" pitchFamily="49" charset="0"/>
              </a:rPr>
              <a:t>0</a:t>
            </a:r>
          </a:p>
        </p:txBody>
      </p:sp>
      <p:sp>
        <p:nvSpPr>
          <p:cNvPr id="36" name="Oval 7">
            <a:extLst>
              <a:ext uri="{FF2B5EF4-FFF2-40B4-BE49-F238E27FC236}">
                <a16:creationId xmlns:a16="http://schemas.microsoft.com/office/drawing/2014/main" id="{D14E8F62-FEFA-344E-11C1-8F05622CDE2A}"/>
              </a:ext>
            </a:extLst>
          </p:cNvPr>
          <p:cNvSpPr>
            <a:spLocks noChangeArrowheads="1"/>
          </p:cNvSpPr>
          <p:nvPr/>
        </p:nvSpPr>
        <p:spPr bwMode="auto">
          <a:xfrm>
            <a:off x="8258002" y="2742037"/>
            <a:ext cx="360362" cy="431800"/>
          </a:xfrm>
          <a:prstGeom prst="ellipse">
            <a:avLst/>
          </a:prstGeom>
          <a:ln>
            <a:headEnd/>
            <a:tailEnd type="none" w="med" len="lg"/>
          </a:ln>
        </p:spPr>
        <p:style>
          <a:lnRef idx="1">
            <a:schemeClr val="accent2"/>
          </a:lnRef>
          <a:fillRef idx="2">
            <a:schemeClr val="accent2"/>
          </a:fillRef>
          <a:effectRef idx="1">
            <a:schemeClr val="accent2"/>
          </a:effectRef>
          <a:fontRef idx="minor">
            <a:schemeClr val="dk1"/>
          </a:fontRef>
        </p:style>
        <p:txBody>
          <a:bodyPr wrap="none" anchor="ctr"/>
          <a:lstStyle/>
          <a:p>
            <a:r>
              <a:rPr lang="en-US" altLang="zh-CN" sz="2000">
                <a:solidFill>
                  <a:srgbClr val="0000FF"/>
                </a:solidFill>
                <a:latin typeface="Consolas" pitchFamily="49" charset="0"/>
                <a:cs typeface="Consolas" pitchFamily="49" charset="0"/>
              </a:rPr>
              <a:t>1</a:t>
            </a:r>
          </a:p>
        </p:txBody>
      </p:sp>
      <p:sp>
        <p:nvSpPr>
          <p:cNvPr id="37" name="Oval 8">
            <a:extLst>
              <a:ext uri="{FF2B5EF4-FFF2-40B4-BE49-F238E27FC236}">
                <a16:creationId xmlns:a16="http://schemas.microsoft.com/office/drawing/2014/main" id="{4817F372-30C6-C08C-0A76-F5DCC140F5CD}"/>
              </a:ext>
            </a:extLst>
          </p:cNvPr>
          <p:cNvSpPr>
            <a:spLocks noChangeArrowheads="1"/>
          </p:cNvSpPr>
          <p:nvPr/>
        </p:nvSpPr>
        <p:spPr bwMode="auto">
          <a:xfrm>
            <a:off x="6600652" y="3607225"/>
            <a:ext cx="360362" cy="431800"/>
          </a:xfrm>
          <a:prstGeom prst="ellipse">
            <a:avLst/>
          </a:prstGeom>
          <a:ln>
            <a:headEnd/>
            <a:tailEnd type="none" w="med" len="lg"/>
          </a:ln>
        </p:spPr>
        <p:style>
          <a:lnRef idx="1">
            <a:schemeClr val="accent2"/>
          </a:lnRef>
          <a:fillRef idx="2">
            <a:schemeClr val="accent2"/>
          </a:fillRef>
          <a:effectRef idx="1">
            <a:schemeClr val="accent2"/>
          </a:effectRef>
          <a:fontRef idx="minor">
            <a:schemeClr val="dk1"/>
          </a:fontRef>
        </p:style>
        <p:txBody>
          <a:bodyPr wrap="none" anchor="ctr"/>
          <a:lstStyle/>
          <a:p>
            <a:r>
              <a:rPr lang="en-US" altLang="zh-CN" sz="2000">
                <a:solidFill>
                  <a:srgbClr val="0000FF"/>
                </a:solidFill>
                <a:latin typeface="Consolas" pitchFamily="49" charset="0"/>
                <a:cs typeface="Consolas" pitchFamily="49" charset="0"/>
              </a:rPr>
              <a:t>5</a:t>
            </a:r>
          </a:p>
        </p:txBody>
      </p:sp>
      <p:sp>
        <p:nvSpPr>
          <p:cNvPr id="38" name="Oval 9">
            <a:extLst>
              <a:ext uri="{FF2B5EF4-FFF2-40B4-BE49-F238E27FC236}">
                <a16:creationId xmlns:a16="http://schemas.microsoft.com/office/drawing/2014/main" id="{355005DB-27EF-0446-1645-D0191796E327}"/>
              </a:ext>
            </a:extLst>
          </p:cNvPr>
          <p:cNvSpPr>
            <a:spLocks noChangeArrowheads="1"/>
          </p:cNvSpPr>
          <p:nvPr/>
        </p:nvSpPr>
        <p:spPr bwMode="auto">
          <a:xfrm>
            <a:off x="7249939" y="4326362"/>
            <a:ext cx="360363" cy="431800"/>
          </a:xfrm>
          <a:prstGeom prst="ellipse">
            <a:avLst/>
          </a:prstGeom>
          <a:ln>
            <a:headEnd/>
            <a:tailEnd type="none" w="med" len="lg"/>
          </a:ln>
        </p:spPr>
        <p:style>
          <a:lnRef idx="1">
            <a:schemeClr val="accent2"/>
          </a:lnRef>
          <a:fillRef idx="2">
            <a:schemeClr val="accent2"/>
          </a:fillRef>
          <a:effectRef idx="1">
            <a:schemeClr val="accent2"/>
          </a:effectRef>
          <a:fontRef idx="minor">
            <a:schemeClr val="dk1"/>
          </a:fontRef>
        </p:style>
        <p:txBody>
          <a:bodyPr wrap="none" anchor="ctr"/>
          <a:lstStyle/>
          <a:p>
            <a:r>
              <a:rPr lang="en-US" altLang="zh-CN" sz="2000">
                <a:solidFill>
                  <a:srgbClr val="0000FF"/>
                </a:solidFill>
                <a:latin typeface="Consolas" pitchFamily="49" charset="0"/>
                <a:cs typeface="Consolas" pitchFamily="49" charset="0"/>
              </a:rPr>
              <a:t>4</a:t>
            </a:r>
          </a:p>
        </p:txBody>
      </p:sp>
      <p:sp>
        <p:nvSpPr>
          <p:cNvPr id="39" name="Oval 10">
            <a:extLst>
              <a:ext uri="{FF2B5EF4-FFF2-40B4-BE49-F238E27FC236}">
                <a16:creationId xmlns:a16="http://schemas.microsoft.com/office/drawing/2014/main" id="{5F6FDB39-C987-824F-3053-8E015BB356A4}"/>
              </a:ext>
            </a:extLst>
          </p:cNvPr>
          <p:cNvSpPr>
            <a:spLocks noChangeArrowheads="1"/>
          </p:cNvSpPr>
          <p:nvPr/>
        </p:nvSpPr>
        <p:spPr bwMode="auto">
          <a:xfrm>
            <a:off x="8184977" y="4326362"/>
            <a:ext cx="360362" cy="431800"/>
          </a:xfrm>
          <a:prstGeom prst="ellipse">
            <a:avLst/>
          </a:prstGeom>
          <a:ln>
            <a:headEnd/>
            <a:tailEnd type="none" w="med" len="lg"/>
          </a:ln>
        </p:spPr>
        <p:style>
          <a:lnRef idx="1">
            <a:schemeClr val="accent2"/>
          </a:lnRef>
          <a:fillRef idx="2">
            <a:schemeClr val="accent2"/>
          </a:fillRef>
          <a:effectRef idx="1">
            <a:schemeClr val="accent2"/>
          </a:effectRef>
          <a:fontRef idx="minor">
            <a:schemeClr val="dk1"/>
          </a:fontRef>
        </p:style>
        <p:txBody>
          <a:bodyPr wrap="none" anchor="ctr"/>
          <a:lstStyle/>
          <a:p>
            <a:r>
              <a:rPr lang="en-US" altLang="zh-CN" sz="2000">
                <a:solidFill>
                  <a:srgbClr val="0000FF"/>
                </a:solidFill>
                <a:latin typeface="Consolas" pitchFamily="49" charset="0"/>
                <a:cs typeface="Consolas" pitchFamily="49" charset="0"/>
              </a:rPr>
              <a:t>3</a:t>
            </a:r>
          </a:p>
        </p:txBody>
      </p:sp>
      <p:sp>
        <p:nvSpPr>
          <p:cNvPr id="40" name="Oval 11">
            <a:extLst>
              <a:ext uri="{FF2B5EF4-FFF2-40B4-BE49-F238E27FC236}">
                <a16:creationId xmlns:a16="http://schemas.microsoft.com/office/drawing/2014/main" id="{34EC68C0-1B87-3537-E8AF-D0BB55D44FAB}"/>
              </a:ext>
            </a:extLst>
          </p:cNvPr>
          <p:cNvSpPr>
            <a:spLocks noChangeArrowheads="1"/>
          </p:cNvSpPr>
          <p:nvPr/>
        </p:nvSpPr>
        <p:spPr bwMode="auto">
          <a:xfrm>
            <a:off x="7753177" y="3534200"/>
            <a:ext cx="360362" cy="431800"/>
          </a:xfrm>
          <a:prstGeom prst="ellipse">
            <a:avLst/>
          </a:prstGeom>
          <a:ln>
            <a:headEnd/>
            <a:tailEnd type="none" w="med" len="lg"/>
          </a:ln>
        </p:spPr>
        <p:style>
          <a:lnRef idx="1">
            <a:schemeClr val="accent2"/>
          </a:lnRef>
          <a:fillRef idx="2">
            <a:schemeClr val="accent2"/>
          </a:fillRef>
          <a:effectRef idx="1">
            <a:schemeClr val="accent2"/>
          </a:effectRef>
          <a:fontRef idx="minor">
            <a:schemeClr val="dk1"/>
          </a:fontRef>
        </p:style>
        <p:txBody>
          <a:bodyPr wrap="none" anchor="ctr"/>
          <a:lstStyle/>
          <a:p>
            <a:r>
              <a:rPr lang="en-US" altLang="zh-CN" sz="2000">
                <a:solidFill>
                  <a:srgbClr val="0000FF"/>
                </a:solidFill>
                <a:latin typeface="Consolas" pitchFamily="49" charset="0"/>
                <a:cs typeface="Consolas" pitchFamily="49" charset="0"/>
              </a:rPr>
              <a:t>6</a:t>
            </a:r>
          </a:p>
        </p:txBody>
      </p:sp>
      <p:sp>
        <p:nvSpPr>
          <p:cNvPr id="41" name="Oval 12">
            <a:extLst>
              <a:ext uri="{FF2B5EF4-FFF2-40B4-BE49-F238E27FC236}">
                <a16:creationId xmlns:a16="http://schemas.microsoft.com/office/drawing/2014/main" id="{A4DBB7AE-15AE-4B69-8E27-E173A3D8E26A}"/>
              </a:ext>
            </a:extLst>
          </p:cNvPr>
          <p:cNvSpPr>
            <a:spLocks noChangeArrowheads="1"/>
          </p:cNvSpPr>
          <p:nvPr/>
        </p:nvSpPr>
        <p:spPr bwMode="auto">
          <a:xfrm>
            <a:off x="8616777" y="3534200"/>
            <a:ext cx="360362" cy="431800"/>
          </a:xfrm>
          <a:prstGeom prst="ellipse">
            <a:avLst/>
          </a:prstGeom>
          <a:ln>
            <a:headEnd/>
            <a:tailEnd type="none" w="med" len="lg"/>
          </a:ln>
        </p:spPr>
        <p:style>
          <a:lnRef idx="1">
            <a:schemeClr val="accent2"/>
          </a:lnRef>
          <a:fillRef idx="2">
            <a:schemeClr val="accent2"/>
          </a:fillRef>
          <a:effectRef idx="1">
            <a:schemeClr val="accent2"/>
          </a:effectRef>
          <a:fontRef idx="minor">
            <a:schemeClr val="dk1"/>
          </a:fontRef>
        </p:style>
        <p:txBody>
          <a:bodyPr wrap="none" anchor="ctr"/>
          <a:lstStyle/>
          <a:p>
            <a:r>
              <a:rPr lang="en-US" altLang="zh-CN" sz="2000">
                <a:solidFill>
                  <a:srgbClr val="0000FF"/>
                </a:solidFill>
                <a:latin typeface="Consolas" pitchFamily="49" charset="0"/>
                <a:cs typeface="Consolas" pitchFamily="49" charset="0"/>
              </a:rPr>
              <a:t>2</a:t>
            </a:r>
          </a:p>
        </p:txBody>
      </p:sp>
      <p:sp>
        <p:nvSpPr>
          <p:cNvPr id="42" name="Freeform 14">
            <a:extLst>
              <a:ext uri="{FF2B5EF4-FFF2-40B4-BE49-F238E27FC236}">
                <a16:creationId xmlns:a16="http://schemas.microsoft.com/office/drawing/2014/main" id="{3E449714-0068-6AFF-761A-5B97658AE54B}"/>
              </a:ext>
            </a:extLst>
          </p:cNvPr>
          <p:cNvSpPr>
            <a:spLocks/>
          </p:cNvSpPr>
          <p:nvPr/>
        </p:nvSpPr>
        <p:spPr bwMode="auto">
          <a:xfrm>
            <a:off x="6818139" y="3078587"/>
            <a:ext cx="395288" cy="528638"/>
          </a:xfrm>
          <a:custGeom>
            <a:avLst/>
            <a:gdLst/>
            <a:ahLst/>
            <a:cxnLst>
              <a:cxn ang="0">
                <a:pos x="249" y="0"/>
              </a:cxn>
              <a:cxn ang="0">
                <a:pos x="0" y="333"/>
              </a:cxn>
            </a:cxnLst>
            <a:rect l="0" t="0" r="r" b="b"/>
            <a:pathLst>
              <a:path w="249" h="333">
                <a:moveTo>
                  <a:pt x="249" y="0"/>
                </a:moveTo>
                <a:lnTo>
                  <a:pt x="0" y="333"/>
                </a:lnTo>
              </a:path>
            </a:pathLst>
          </a:custGeom>
          <a:noFill/>
          <a:ln w="19050" cap="flat" cmpd="sng">
            <a:solidFill>
              <a:srgbClr val="3333FF"/>
            </a:solidFill>
            <a:prstDash val="solid"/>
            <a:round/>
            <a:headEnd type="none" w="med" len="med"/>
            <a:tailEnd type="none" w="med" len="lg"/>
          </a:ln>
          <a:effectLst/>
        </p:spPr>
        <p:txBody>
          <a:bodyPr wrap="none"/>
          <a:lstStyle/>
          <a:p>
            <a:endParaRPr lang="zh-CN" altLang="en-US">
              <a:latin typeface="Consolas" pitchFamily="49" charset="0"/>
              <a:cs typeface="Consolas" pitchFamily="49" charset="0"/>
            </a:endParaRPr>
          </a:p>
        </p:txBody>
      </p:sp>
      <p:sp>
        <p:nvSpPr>
          <p:cNvPr id="43" name="Freeform 15">
            <a:extLst>
              <a:ext uri="{FF2B5EF4-FFF2-40B4-BE49-F238E27FC236}">
                <a16:creationId xmlns:a16="http://schemas.microsoft.com/office/drawing/2014/main" id="{26CBCFDF-26BA-3B3C-5E58-0B60A12F1A9E}"/>
              </a:ext>
            </a:extLst>
          </p:cNvPr>
          <p:cNvSpPr>
            <a:spLocks/>
          </p:cNvSpPr>
          <p:nvPr/>
        </p:nvSpPr>
        <p:spPr bwMode="auto">
          <a:xfrm>
            <a:off x="6883227" y="4005687"/>
            <a:ext cx="392112" cy="419100"/>
          </a:xfrm>
          <a:custGeom>
            <a:avLst/>
            <a:gdLst/>
            <a:ahLst/>
            <a:cxnLst>
              <a:cxn ang="0">
                <a:pos x="0" y="0"/>
              </a:cxn>
              <a:cxn ang="0">
                <a:pos x="247" y="264"/>
              </a:cxn>
            </a:cxnLst>
            <a:rect l="0" t="0" r="r" b="b"/>
            <a:pathLst>
              <a:path w="247" h="264">
                <a:moveTo>
                  <a:pt x="0" y="0"/>
                </a:moveTo>
                <a:lnTo>
                  <a:pt x="247" y="264"/>
                </a:lnTo>
              </a:path>
            </a:pathLst>
          </a:custGeom>
          <a:noFill/>
          <a:ln w="19050" cap="flat" cmpd="sng">
            <a:solidFill>
              <a:srgbClr val="3333FF"/>
            </a:solidFill>
            <a:prstDash val="solid"/>
            <a:round/>
            <a:headEnd type="none" w="med" len="med"/>
            <a:tailEnd type="none" w="med" len="lg"/>
          </a:ln>
          <a:effectLst/>
        </p:spPr>
        <p:txBody>
          <a:bodyPr wrap="none"/>
          <a:lstStyle/>
          <a:p>
            <a:endParaRPr lang="zh-CN" altLang="en-US">
              <a:latin typeface="Consolas" pitchFamily="49" charset="0"/>
              <a:cs typeface="Consolas" pitchFamily="49" charset="0"/>
            </a:endParaRPr>
          </a:p>
        </p:txBody>
      </p:sp>
      <p:sp>
        <p:nvSpPr>
          <p:cNvPr id="44" name="Freeform 16">
            <a:extLst>
              <a:ext uri="{FF2B5EF4-FFF2-40B4-BE49-F238E27FC236}">
                <a16:creationId xmlns:a16="http://schemas.microsoft.com/office/drawing/2014/main" id="{0CF80307-140B-C202-57F0-86085C4500D5}"/>
              </a:ext>
            </a:extLst>
          </p:cNvPr>
          <p:cNvSpPr>
            <a:spLocks/>
          </p:cNvSpPr>
          <p:nvPr/>
        </p:nvSpPr>
        <p:spPr bwMode="auto">
          <a:xfrm>
            <a:off x="7608714" y="4577187"/>
            <a:ext cx="582613" cy="1588"/>
          </a:xfrm>
          <a:custGeom>
            <a:avLst/>
            <a:gdLst/>
            <a:ahLst/>
            <a:cxnLst>
              <a:cxn ang="0">
                <a:pos x="0" y="0"/>
              </a:cxn>
              <a:cxn ang="0">
                <a:pos x="367" y="0"/>
              </a:cxn>
            </a:cxnLst>
            <a:rect l="0" t="0" r="r" b="b"/>
            <a:pathLst>
              <a:path w="367" h="1">
                <a:moveTo>
                  <a:pt x="0" y="0"/>
                </a:moveTo>
                <a:lnTo>
                  <a:pt x="367" y="0"/>
                </a:lnTo>
              </a:path>
            </a:pathLst>
          </a:custGeom>
          <a:noFill/>
          <a:ln w="19050" cap="flat" cmpd="sng">
            <a:solidFill>
              <a:srgbClr val="3333FF"/>
            </a:solidFill>
            <a:prstDash val="solid"/>
            <a:round/>
            <a:headEnd type="none" w="med" len="med"/>
            <a:tailEnd type="none" w="med" len="lg"/>
          </a:ln>
          <a:effectLst/>
        </p:spPr>
        <p:txBody>
          <a:bodyPr wrap="none"/>
          <a:lstStyle/>
          <a:p>
            <a:endParaRPr lang="zh-CN" altLang="en-US">
              <a:latin typeface="Consolas" pitchFamily="49" charset="0"/>
              <a:cs typeface="Consolas" pitchFamily="49" charset="0"/>
            </a:endParaRPr>
          </a:p>
        </p:txBody>
      </p:sp>
      <p:sp>
        <p:nvSpPr>
          <p:cNvPr id="45" name="Freeform 17">
            <a:extLst>
              <a:ext uri="{FF2B5EF4-FFF2-40B4-BE49-F238E27FC236}">
                <a16:creationId xmlns:a16="http://schemas.microsoft.com/office/drawing/2014/main" id="{B3AEA8F4-3757-D1C4-2CF2-5CC0342F6E7C}"/>
              </a:ext>
            </a:extLst>
          </p:cNvPr>
          <p:cNvSpPr>
            <a:spLocks/>
          </p:cNvSpPr>
          <p:nvPr/>
        </p:nvSpPr>
        <p:spPr bwMode="auto">
          <a:xfrm>
            <a:off x="7465839" y="3904087"/>
            <a:ext cx="357188" cy="422275"/>
          </a:xfrm>
          <a:custGeom>
            <a:avLst/>
            <a:gdLst/>
            <a:ahLst/>
            <a:cxnLst>
              <a:cxn ang="0">
                <a:pos x="0" y="266"/>
              </a:cxn>
              <a:cxn ang="0">
                <a:pos x="225" y="0"/>
              </a:cxn>
            </a:cxnLst>
            <a:rect l="0" t="0" r="r" b="b"/>
            <a:pathLst>
              <a:path w="225" h="266">
                <a:moveTo>
                  <a:pt x="0" y="266"/>
                </a:moveTo>
                <a:lnTo>
                  <a:pt x="225" y="0"/>
                </a:lnTo>
              </a:path>
            </a:pathLst>
          </a:custGeom>
          <a:noFill/>
          <a:ln w="19050" cap="flat" cmpd="sng">
            <a:solidFill>
              <a:srgbClr val="3333FF"/>
            </a:solidFill>
            <a:prstDash val="solid"/>
            <a:round/>
            <a:headEnd type="none" w="med" len="med"/>
            <a:tailEnd type="none" w="med" len="lg"/>
          </a:ln>
          <a:effectLst/>
        </p:spPr>
        <p:txBody>
          <a:bodyPr wrap="none"/>
          <a:lstStyle/>
          <a:p>
            <a:endParaRPr lang="zh-CN" altLang="en-US">
              <a:latin typeface="Consolas" pitchFamily="49" charset="0"/>
              <a:cs typeface="Consolas" pitchFamily="49" charset="0"/>
            </a:endParaRPr>
          </a:p>
        </p:txBody>
      </p:sp>
      <p:sp>
        <p:nvSpPr>
          <p:cNvPr id="46" name="Line 19">
            <a:extLst>
              <a:ext uri="{FF2B5EF4-FFF2-40B4-BE49-F238E27FC236}">
                <a16:creationId xmlns:a16="http://schemas.microsoft.com/office/drawing/2014/main" id="{5ECCB602-08D1-DD77-8924-16FBC50F8B13}"/>
              </a:ext>
            </a:extLst>
          </p:cNvPr>
          <p:cNvSpPr>
            <a:spLocks noChangeShapeType="1"/>
          </p:cNvSpPr>
          <p:nvPr/>
        </p:nvSpPr>
        <p:spPr bwMode="auto">
          <a:xfrm flipH="1">
            <a:off x="8029402" y="3127800"/>
            <a:ext cx="287337" cy="431800"/>
          </a:xfrm>
          <a:prstGeom prst="line">
            <a:avLst/>
          </a:prstGeom>
          <a:noFill/>
          <a:ln w="19050">
            <a:solidFill>
              <a:srgbClr val="3333FF"/>
            </a:solidFill>
            <a:round/>
            <a:headEnd/>
            <a:tailEnd type="none" w="med" len="lg"/>
          </a:ln>
          <a:effectLst/>
        </p:spPr>
        <p:txBody>
          <a:bodyPr wrap="none"/>
          <a:lstStyle/>
          <a:p>
            <a:endParaRPr lang="zh-CN" altLang="en-US">
              <a:latin typeface="Consolas" pitchFamily="49" charset="0"/>
              <a:cs typeface="Consolas" pitchFamily="49" charset="0"/>
            </a:endParaRPr>
          </a:p>
        </p:txBody>
      </p:sp>
      <p:sp>
        <p:nvSpPr>
          <p:cNvPr id="47" name="Line 20">
            <a:extLst>
              <a:ext uri="{FF2B5EF4-FFF2-40B4-BE49-F238E27FC236}">
                <a16:creationId xmlns:a16="http://schemas.microsoft.com/office/drawing/2014/main" id="{46565ADA-D1D6-3715-B25B-33DC87BB5472}"/>
              </a:ext>
            </a:extLst>
          </p:cNvPr>
          <p:cNvSpPr>
            <a:spLocks noChangeShapeType="1"/>
          </p:cNvSpPr>
          <p:nvPr/>
        </p:nvSpPr>
        <p:spPr bwMode="auto">
          <a:xfrm>
            <a:off x="8545339" y="3102400"/>
            <a:ext cx="215900" cy="431800"/>
          </a:xfrm>
          <a:prstGeom prst="line">
            <a:avLst/>
          </a:prstGeom>
          <a:noFill/>
          <a:ln w="19050">
            <a:solidFill>
              <a:srgbClr val="3333FF"/>
            </a:solidFill>
            <a:round/>
            <a:headEnd/>
            <a:tailEnd type="none" w="med" len="lg"/>
          </a:ln>
          <a:effectLst/>
        </p:spPr>
        <p:txBody>
          <a:bodyPr wrap="none"/>
          <a:lstStyle/>
          <a:p>
            <a:endParaRPr lang="zh-CN" altLang="en-US">
              <a:latin typeface="Consolas" pitchFamily="49" charset="0"/>
              <a:cs typeface="Consolas" pitchFamily="49" charset="0"/>
            </a:endParaRPr>
          </a:p>
        </p:txBody>
      </p:sp>
      <p:sp>
        <p:nvSpPr>
          <p:cNvPr id="98" name="Freeform 21">
            <a:extLst>
              <a:ext uri="{FF2B5EF4-FFF2-40B4-BE49-F238E27FC236}">
                <a16:creationId xmlns:a16="http://schemas.microsoft.com/office/drawing/2014/main" id="{E0834321-4912-20A8-559D-E034B4D54201}"/>
              </a:ext>
            </a:extLst>
          </p:cNvPr>
          <p:cNvSpPr>
            <a:spLocks/>
          </p:cNvSpPr>
          <p:nvPr/>
        </p:nvSpPr>
        <p:spPr bwMode="auto">
          <a:xfrm>
            <a:off x="8488189" y="3962825"/>
            <a:ext cx="266700" cy="411162"/>
          </a:xfrm>
          <a:custGeom>
            <a:avLst/>
            <a:gdLst/>
            <a:ahLst/>
            <a:cxnLst>
              <a:cxn ang="0">
                <a:pos x="168" y="0"/>
              </a:cxn>
              <a:cxn ang="0">
                <a:pos x="0" y="259"/>
              </a:cxn>
            </a:cxnLst>
            <a:rect l="0" t="0" r="r" b="b"/>
            <a:pathLst>
              <a:path w="168" h="259">
                <a:moveTo>
                  <a:pt x="168" y="0"/>
                </a:moveTo>
                <a:lnTo>
                  <a:pt x="0" y="259"/>
                </a:lnTo>
              </a:path>
            </a:pathLst>
          </a:custGeom>
          <a:noFill/>
          <a:ln w="19050">
            <a:solidFill>
              <a:srgbClr val="3333FF"/>
            </a:solidFill>
            <a:round/>
            <a:headEnd/>
            <a:tailEnd type="none" w="med" len="lg"/>
          </a:ln>
          <a:effectLst/>
        </p:spPr>
        <p:txBody>
          <a:bodyPr wrap="none"/>
          <a:lstStyle/>
          <a:p>
            <a:endParaRPr lang="zh-CN" altLang="en-US">
              <a:latin typeface="Consolas" pitchFamily="49" charset="0"/>
              <a:cs typeface="Consolas" pitchFamily="49" charset="0"/>
            </a:endParaRPr>
          </a:p>
        </p:txBody>
      </p:sp>
      <p:sp>
        <p:nvSpPr>
          <p:cNvPr id="99" name="Text Box 81">
            <a:extLst>
              <a:ext uri="{FF2B5EF4-FFF2-40B4-BE49-F238E27FC236}">
                <a16:creationId xmlns:a16="http://schemas.microsoft.com/office/drawing/2014/main" id="{F5EA2BE9-1737-182D-69EB-DCC5989B9424}"/>
              </a:ext>
            </a:extLst>
          </p:cNvPr>
          <p:cNvSpPr txBox="1">
            <a:spLocks noChangeArrowheads="1"/>
          </p:cNvSpPr>
          <p:nvPr/>
        </p:nvSpPr>
        <p:spPr bwMode="auto">
          <a:xfrm>
            <a:off x="4822632" y="3738441"/>
            <a:ext cx="1368425" cy="396875"/>
          </a:xfrm>
          <a:prstGeom prst="rect">
            <a:avLst/>
          </a:prstGeom>
          <a:solidFill>
            <a:schemeClr val="bg1"/>
          </a:solidFill>
          <a:ln w="19050" algn="ctr">
            <a:noFill/>
            <a:miter lim="800000"/>
            <a:headEnd/>
            <a:tailEnd type="none" w="med" len="lg"/>
          </a:ln>
          <a:effectLst/>
        </p:spPr>
        <p:txBody>
          <a:bodyPr>
            <a:spAutoFit/>
          </a:bodyPr>
          <a:lstStyle/>
          <a:p>
            <a:pPr>
              <a:spcBef>
                <a:spcPct val="50000"/>
              </a:spcBef>
            </a:pPr>
            <a:r>
              <a:rPr lang="zh-CN" altLang="en-US" sz="2000" dirty="0">
                <a:latin typeface="Consolas" pitchFamily="49" charset="0"/>
                <a:ea typeface="楷体" pitchFamily="49" charset="-122"/>
                <a:cs typeface="Consolas" pitchFamily="49" charset="0"/>
              </a:rPr>
              <a:t>取</a:t>
            </a:r>
            <a:r>
              <a:rPr lang="en-US" altLang="zh-CN" sz="2000" dirty="0">
                <a:solidFill>
                  <a:srgbClr val="FF00FF"/>
                </a:solidFill>
                <a:latin typeface="Consolas" pitchFamily="49" charset="0"/>
                <a:ea typeface="楷体" pitchFamily="49" charset="-122"/>
                <a:cs typeface="Consolas" pitchFamily="49" charset="0"/>
              </a:rPr>
              <a:t>2</a:t>
            </a:r>
            <a:r>
              <a:rPr lang="zh-CN" altLang="en-US" sz="2000" dirty="0">
                <a:latin typeface="Consolas" pitchFamily="49" charset="0"/>
                <a:ea typeface="楷体" pitchFamily="49" charset="-122"/>
                <a:cs typeface="Consolas" pitchFamily="49" charset="0"/>
              </a:rPr>
              <a:t>号边</a:t>
            </a:r>
          </a:p>
        </p:txBody>
      </p:sp>
      <p:sp>
        <p:nvSpPr>
          <p:cNvPr id="100" name="Line 18">
            <a:extLst>
              <a:ext uri="{FF2B5EF4-FFF2-40B4-BE49-F238E27FC236}">
                <a16:creationId xmlns:a16="http://schemas.microsoft.com/office/drawing/2014/main" id="{A806C569-33B1-07B1-1DB9-EE08905C5D41}"/>
              </a:ext>
            </a:extLst>
          </p:cNvPr>
          <p:cNvSpPr>
            <a:spLocks noChangeShapeType="1"/>
          </p:cNvSpPr>
          <p:nvPr/>
        </p:nvSpPr>
        <p:spPr bwMode="auto">
          <a:xfrm>
            <a:off x="8048764" y="3941640"/>
            <a:ext cx="266400" cy="410400"/>
          </a:xfrm>
          <a:prstGeom prst="line">
            <a:avLst/>
          </a:prstGeom>
          <a:noFill/>
          <a:ln w="19050">
            <a:solidFill>
              <a:srgbClr val="3333FF"/>
            </a:solidFill>
            <a:round/>
            <a:headEnd/>
            <a:tailEnd type="none" w="med" len="lg"/>
          </a:ln>
          <a:effectLst/>
        </p:spPr>
        <p:txBody>
          <a:bodyPr wrap="none"/>
          <a:lstStyle/>
          <a:p>
            <a:endParaRPr lang="zh-CN" altLang="en-US">
              <a:latin typeface="Consolas" pitchFamily="49" charset="0"/>
              <a:cs typeface="Consolas" pitchFamily="49" charset="0"/>
            </a:endParaRPr>
          </a:p>
        </p:txBody>
      </p:sp>
      <p:sp>
        <p:nvSpPr>
          <p:cNvPr id="101" name="Text Box 81">
            <a:extLst>
              <a:ext uri="{FF2B5EF4-FFF2-40B4-BE49-F238E27FC236}">
                <a16:creationId xmlns:a16="http://schemas.microsoft.com/office/drawing/2014/main" id="{3C6E8391-4995-945A-2757-40EDBF1C6823}"/>
              </a:ext>
            </a:extLst>
          </p:cNvPr>
          <p:cNvSpPr txBox="1">
            <a:spLocks noChangeArrowheads="1"/>
          </p:cNvSpPr>
          <p:nvPr/>
        </p:nvSpPr>
        <p:spPr bwMode="auto">
          <a:xfrm>
            <a:off x="4822632" y="3738441"/>
            <a:ext cx="1368425" cy="396875"/>
          </a:xfrm>
          <a:prstGeom prst="rect">
            <a:avLst/>
          </a:prstGeom>
          <a:solidFill>
            <a:schemeClr val="bg1"/>
          </a:solidFill>
          <a:ln w="19050" algn="ctr">
            <a:noFill/>
            <a:miter lim="800000"/>
            <a:headEnd/>
            <a:tailEnd type="none" w="med" len="lg"/>
          </a:ln>
          <a:effectLst/>
        </p:spPr>
        <p:txBody>
          <a:bodyPr>
            <a:spAutoFit/>
          </a:bodyPr>
          <a:lstStyle/>
          <a:p>
            <a:pPr>
              <a:spcBef>
                <a:spcPct val="50000"/>
              </a:spcBef>
            </a:pPr>
            <a:r>
              <a:rPr lang="zh-CN" altLang="en-US" sz="2000" dirty="0">
                <a:latin typeface="Consolas" pitchFamily="49" charset="0"/>
                <a:ea typeface="楷体" pitchFamily="49" charset="-122"/>
                <a:cs typeface="Consolas" pitchFamily="49" charset="0"/>
              </a:rPr>
              <a:t>取</a:t>
            </a:r>
            <a:r>
              <a:rPr lang="en-US" altLang="zh-CN" sz="2000" dirty="0">
                <a:solidFill>
                  <a:srgbClr val="FF00FF"/>
                </a:solidFill>
                <a:latin typeface="Consolas" pitchFamily="49" charset="0"/>
                <a:ea typeface="楷体" pitchFamily="49" charset="-122"/>
                <a:cs typeface="Consolas" pitchFamily="49" charset="0"/>
              </a:rPr>
              <a:t>3</a:t>
            </a:r>
            <a:r>
              <a:rPr lang="zh-CN" altLang="en-US" sz="2000" dirty="0">
                <a:latin typeface="Consolas" pitchFamily="49" charset="0"/>
                <a:ea typeface="楷体" pitchFamily="49" charset="-122"/>
                <a:cs typeface="Consolas" pitchFamily="49" charset="0"/>
              </a:rPr>
              <a:t>号边</a:t>
            </a:r>
          </a:p>
        </p:txBody>
      </p:sp>
      <p:sp>
        <p:nvSpPr>
          <p:cNvPr id="102" name="Text Box 81">
            <a:extLst>
              <a:ext uri="{FF2B5EF4-FFF2-40B4-BE49-F238E27FC236}">
                <a16:creationId xmlns:a16="http://schemas.microsoft.com/office/drawing/2014/main" id="{80D67B87-9313-781E-682E-DFE55B800A49}"/>
              </a:ext>
            </a:extLst>
          </p:cNvPr>
          <p:cNvSpPr txBox="1">
            <a:spLocks noChangeArrowheads="1"/>
          </p:cNvSpPr>
          <p:nvPr/>
        </p:nvSpPr>
        <p:spPr bwMode="auto">
          <a:xfrm>
            <a:off x="4822632" y="3738441"/>
            <a:ext cx="1368425" cy="396875"/>
          </a:xfrm>
          <a:prstGeom prst="rect">
            <a:avLst/>
          </a:prstGeom>
          <a:solidFill>
            <a:schemeClr val="bg1"/>
          </a:solidFill>
          <a:ln w="19050" algn="ctr">
            <a:noFill/>
            <a:miter lim="800000"/>
            <a:headEnd/>
            <a:tailEnd type="none" w="med" len="lg"/>
          </a:ln>
          <a:effectLst/>
        </p:spPr>
        <p:txBody>
          <a:bodyPr>
            <a:spAutoFit/>
          </a:bodyPr>
          <a:lstStyle/>
          <a:p>
            <a:pPr>
              <a:spcBef>
                <a:spcPct val="50000"/>
              </a:spcBef>
            </a:pPr>
            <a:r>
              <a:rPr lang="zh-CN" altLang="en-US" sz="2000" dirty="0">
                <a:latin typeface="Consolas" pitchFamily="49" charset="0"/>
                <a:ea typeface="楷体" pitchFamily="49" charset="-122"/>
                <a:cs typeface="Consolas" pitchFamily="49" charset="0"/>
              </a:rPr>
              <a:t>取</a:t>
            </a:r>
            <a:r>
              <a:rPr lang="en-US" altLang="zh-CN" sz="2000" dirty="0">
                <a:solidFill>
                  <a:srgbClr val="FF00FF"/>
                </a:solidFill>
                <a:latin typeface="Consolas" pitchFamily="49" charset="0"/>
                <a:ea typeface="楷体" pitchFamily="49" charset="-122"/>
                <a:cs typeface="Consolas" pitchFamily="49" charset="0"/>
              </a:rPr>
              <a:t>4</a:t>
            </a:r>
            <a:r>
              <a:rPr lang="zh-CN" altLang="en-US" sz="2000" dirty="0">
                <a:latin typeface="Consolas" pitchFamily="49" charset="0"/>
                <a:ea typeface="楷体" pitchFamily="49" charset="-122"/>
                <a:cs typeface="Consolas" pitchFamily="49" charset="0"/>
              </a:rPr>
              <a:t>号边</a:t>
            </a:r>
          </a:p>
        </p:txBody>
      </p:sp>
      <p:sp>
        <p:nvSpPr>
          <p:cNvPr id="103" name="Text Box 81">
            <a:extLst>
              <a:ext uri="{FF2B5EF4-FFF2-40B4-BE49-F238E27FC236}">
                <a16:creationId xmlns:a16="http://schemas.microsoft.com/office/drawing/2014/main" id="{CE3D3420-5A06-6F24-DEF4-B92B78968C08}"/>
              </a:ext>
            </a:extLst>
          </p:cNvPr>
          <p:cNvSpPr txBox="1">
            <a:spLocks noChangeArrowheads="1"/>
          </p:cNvSpPr>
          <p:nvPr/>
        </p:nvSpPr>
        <p:spPr bwMode="auto">
          <a:xfrm>
            <a:off x="4822632" y="3738441"/>
            <a:ext cx="1368425" cy="396875"/>
          </a:xfrm>
          <a:prstGeom prst="rect">
            <a:avLst/>
          </a:prstGeom>
          <a:solidFill>
            <a:schemeClr val="bg1"/>
          </a:solidFill>
          <a:ln w="19050" algn="ctr">
            <a:noFill/>
            <a:miter lim="800000"/>
            <a:headEnd/>
            <a:tailEnd type="none" w="med" len="lg"/>
          </a:ln>
          <a:effectLst/>
        </p:spPr>
        <p:txBody>
          <a:bodyPr>
            <a:spAutoFit/>
          </a:bodyPr>
          <a:lstStyle/>
          <a:p>
            <a:pPr>
              <a:spcBef>
                <a:spcPct val="50000"/>
              </a:spcBef>
            </a:pPr>
            <a:r>
              <a:rPr lang="zh-CN" altLang="en-US" sz="2000" dirty="0">
                <a:latin typeface="Consolas" pitchFamily="49" charset="0"/>
                <a:ea typeface="楷体" pitchFamily="49" charset="-122"/>
                <a:cs typeface="Consolas" pitchFamily="49" charset="0"/>
              </a:rPr>
              <a:t>取</a:t>
            </a:r>
            <a:r>
              <a:rPr lang="en-US" altLang="zh-CN" sz="2000" dirty="0">
                <a:solidFill>
                  <a:srgbClr val="FF00FF"/>
                </a:solidFill>
                <a:latin typeface="Consolas" pitchFamily="49" charset="0"/>
                <a:ea typeface="楷体" pitchFamily="49" charset="-122"/>
                <a:cs typeface="Consolas" pitchFamily="49" charset="0"/>
              </a:rPr>
              <a:t>5</a:t>
            </a:r>
            <a:r>
              <a:rPr lang="zh-CN" altLang="en-US" sz="2000" dirty="0">
                <a:latin typeface="Consolas" pitchFamily="49" charset="0"/>
                <a:ea typeface="楷体" pitchFamily="49" charset="-122"/>
                <a:cs typeface="Consolas" pitchFamily="49" charset="0"/>
              </a:rPr>
              <a:t>号边</a:t>
            </a:r>
          </a:p>
        </p:txBody>
      </p:sp>
      <p:sp>
        <p:nvSpPr>
          <p:cNvPr id="104" name="Text Box 81">
            <a:extLst>
              <a:ext uri="{FF2B5EF4-FFF2-40B4-BE49-F238E27FC236}">
                <a16:creationId xmlns:a16="http://schemas.microsoft.com/office/drawing/2014/main" id="{AEFAA2E6-317C-0F63-A9A2-480ED7A34AAA}"/>
              </a:ext>
            </a:extLst>
          </p:cNvPr>
          <p:cNvSpPr txBox="1">
            <a:spLocks noChangeArrowheads="1"/>
          </p:cNvSpPr>
          <p:nvPr/>
        </p:nvSpPr>
        <p:spPr bwMode="auto">
          <a:xfrm>
            <a:off x="4822632" y="3738441"/>
            <a:ext cx="1368425" cy="396875"/>
          </a:xfrm>
          <a:prstGeom prst="rect">
            <a:avLst/>
          </a:prstGeom>
          <a:solidFill>
            <a:schemeClr val="bg1"/>
          </a:solidFill>
          <a:ln w="19050" algn="ctr">
            <a:noFill/>
            <a:miter lim="800000"/>
            <a:headEnd/>
            <a:tailEnd type="none" w="med" len="lg"/>
          </a:ln>
          <a:effectLst/>
        </p:spPr>
        <p:txBody>
          <a:bodyPr>
            <a:spAutoFit/>
          </a:bodyPr>
          <a:lstStyle/>
          <a:p>
            <a:pPr>
              <a:spcBef>
                <a:spcPct val="50000"/>
              </a:spcBef>
            </a:pPr>
            <a:r>
              <a:rPr lang="zh-CN" altLang="en-US" sz="2000" dirty="0">
                <a:latin typeface="Consolas" pitchFamily="49" charset="0"/>
                <a:ea typeface="楷体" pitchFamily="49" charset="-122"/>
                <a:cs typeface="Consolas" pitchFamily="49" charset="0"/>
              </a:rPr>
              <a:t>取</a:t>
            </a:r>
            <a:r>
              <a:rPr lang="en-US" altLang="zh-CN" sz="2000" dirty="0">
                <a:solidFill>
                  <a:srgbClr val="FF00FF"/>
                </a:solidFill>
                <a:latin typeface="Consolas" pitchFamily="49" charset="0"/>
                <a:ea typeface="楷体" pitchFamily="49" charset="-122"/>
                <a:cs typeface="Consolas" pitchFamily="49" charset="0"/>
              </a:rPr>
              <a:t>6</a:t>
            </a:r>
            <a:r>
              <a:rPr lang="zh-CN" altLang="en-US" sz="2000" dirty="0">
                <a:latin typeface="Consolas" pitchFamily="49" charset="0"/>
                <a:ea typeface="楷体" pitchFamily="49" charset="-122"/>
                <a:cs typeface="Consolas" pitchFamily="49" charset="0"/>
              </a:rPr>
              <a:t>号边</a:t>
            </a:r>
          </a:p>
        </p:txBody>
      </p:sp>
      <p:sp>
        <p:nvSpPr>
          <p:cNvPr id="105" name="Text Box 81">
            <a:extLst>
              <a:ext uri="{FF2B5EF4-FFF2-40B4-BE49-F238E27FC236}">
                <a16:creationId xmlns:a16="http://schemas.microsoft.com/office/drawing/2014/main" id="{604EF46D-2A5B-7E27-3DA0-6D76FEB6B721}"/>
              </a:ext>
            </a:extLst>
          </p:cNvPr>
          <p:cNvSpPr txBox="1">
            <a:spLocks noChangeArrowheads="1"/>
          </p:cNvSpPr>
          <p:nvPr/>
        </p:nvSpPr>
        <p:spPr bwMode="auto">
          <a:xfrm>
            <a:off x="4822632" y="3738441"/>
            <a:ext cx="1368425" cy="396875"/>
          </a:xfrm>
          <a:prstGeom prst="rect">
            <a:avLst/>
          </a:prstGeom>
          <a:solidFill>
            <a:schemeClr val="bg1"/>
          </a:solidFill>
          <a:ln w="19050" algn="ctr">
            <a:noFill/>
            <a:miter lim="800000"/>
            <a:headEnd/>
            <a:tailEnd type="none" w="med" len="lg"/>
          </a:ln>
          <a:effectLst/>
        </p:spPr>
        <p:txBody>
          <a:bodyPr>
            <a:spAutoFit/>
          </a:bodyPr>
          <a:lstStyle/>
          <a:p>
            <a:pPr>
              <a:spcBef>
                <a:spcPct val="50000"/>
              </a:spcBef>
            </a:pPr>
            <a:r>
              <a:rPr lang="zh-CN" altLang="en-US" sz="2000" dirty="0">
                <a:latin typeface="Consolas" pitchFamily="49" charset="0"/>
                <a:ea typeface="楷体" pitchFamily="49" charset="-122"/>
                <a:cs typeface="Consolas" pitchFamily="49" charset="0"/>
              </a:rPr>
              <a:t>取</a:t>
            </a:r>
            <a:r>
              <a:rPr lang="en-US" altLang="zh-CN" sz="2000" dirty="0">
                <a:solidFill>
                  <a:srgbClr val="FF00FF"/>
                </a:solidFill>
                <a:latin typeface="Consolas" pitchFamily="49" charset="0"/>
                <a:ea typeface="楷体" pitchFamily="49" charset="-122"/>
                <a:cs typeface="Consolas" pitchFamily="49" charset="0"/>
              </a:rPr>
              <a:t>7</a:t>
            </a:r>
            <a:r>
              <a:rPr lang="zh-CN" altLang="en-US" sz="2000" dirty="0">
                <a:latin typeface="Consolas" pitchFamily="49" charset="0"/>
                <a:ea typeface="楷体" pitchFamily="49" charset="-122"/>
                <a:cs typeface="Consolas" pitchFamily="49" charset="0"/>
              </a:rPr>
              <a:t>号边</a:t>
            </a:r>
          </a:p>
        </p:txBody>
      </p:sp>
      <p:sp>
        <p:nvSpPr>
          <p:cNvPr id="106" name="Text Box 81">
            <a:extLst>
              <a:ext uri="{FF2B5EF4-FFF2-40B4-BE49-F238E27FC236}">
                <a16:creationId xmlns:a16="http://schemas.microsoft.com/office/drawing/2014/main" id="{C3BD9255-86B2-6B92-4A19-8E871E508413}"/>
              </a:ext>
            </a:extLst>
          </p:cNvPr>
          <p:cNvSpPr txBox="1">
            <a:spLocks noChangeArrowheads="1"/>
          </p:cNvSpPr>
          <p:nvPr/>
        </p:nvSpPr>
        <p:spPr bwMode="auto">
          <a:xfrm>
            <a:off x="4822632" y="3738441"/>
            <a:ext cx="1368425" cy="396875"/>
          </a:xfrm>
          <a:prstGeom prst="rect">
            <a:avLst/>
          </a:prstGeom>
          <a:solidFill>
            <a:schemeClr val="bg1"/>
          </a:solidFill>
          <a:ln w="19050" algn="ctr">
            <a:noFill/>
            <a:miter lim="800000"/>
            <a:headEnd/>
            <a:tailEnd type="none" w="med" len="lg"/>
          </a:ln>
          <a:effectLst/>
        </p:spPr>
        <p:txBody>
          <a:bodyPr>
            <a:spAutoFit/>
          </a:bodyPr>
          <a:lstStyle/>
          <a:p>
            <a:pPr>
              <a:spcBef>
                <a:spcPct val="50000"/>
              </a:spcBef>
            </a:pPr>
            <a:r>
              <a:rPr lang="zh-CN" altLang="en-US" sz="2000" dirty="0">
                <a:latin typeface="Consolas" pitchFamily="49" charset="0"/>
                <a:ea typeface="楷体" pitchFamily="49" charset="-122"/>
                <a:cs typeface="Consolas" pitchFamily="49" charset="0"/>
              </a:rPr>
              <a:t>取</a:t>
            </a:r>
            <a:r>
              <a:rPr lang="en-US" altLang="zh-CN" sz="2000" dirty="0">
                <a:solidFill>
                  <a:srgbClr val="FF00FF"/>
                </a:solidFill>
                <a:latin typeface="Consolas" pitchFamily="49" charset="0"/>
                <a:ea typeface="楷体" pitchFamily="49" charset="-122"/>
                <a:cs typeface="Consolas" pitchFamily="49" charset="0"/>
              </a:rPr>
              <a:t>8</a:t>
            </a:r>
            <a:r>
              <a:rPr lang="zh-CN" altLang="en-US" sz="2000" dirty="0">
                <a:latin typeface="Consolas" pitchFamily="49" charset="0"/>
                <a:ea typeface="楷体" pitchFamily="49" charset="-122"/>
                <a:cs typeface="Consolas" pitchFamily="49" charset="0"/>
              </a:rPr>
              <a:t>号边</a:t>
            </a:r>
          </a:p>
        </p:txBody>
      </p:sp>
      <p:sp>
        <p:nvSpPr>
          <p:cNvPr id="107" name="TextBox 149">
            <a:extLst>
              <a:ext uri="{FF2B5EF4-FFF2-40B4-BE49-F238E27FC236}">
                <a16:creationId xmlns:a16="http://schemas.microsoft.com/office/drawing/2014/main" id="{18BF97A3-8474-D04F-2DF8-44B384043422}"/>
              </a:ext>
            </a:extLst>
          </p:cNvPr>
          <p:cNvSpPr txBox="1"/>
          <p:nvPr/>
        </p:nvSpPr>
        <p:spPr>
          <a:xfrm>
            <a:off x="4976611" y="3235140"/>
            <a:ext cx="857256" cy="400110"/>
          </a:xfrm>
          <a:prstGeom prst="rect">
            <a:avLst/>
          </a:prstGeom>
          <a:noFill/>
        </p:spPr>
        <p:txBody>
          <a:bodyPr wrap="square" rtlCol="0">
            <a:spAutoFit/>
          </a:bodyPr>
          <a:lstStyle/>
          <a:p>
            <a:r>
              <a:rPr lang="zh-CN" altLang="en-US" sz="2000" dirty="0">
                <a:latin typeface="Consolas" pitchFamily="49" charset="0"/>
                <a:ea typeface="楷体" pitchFamily="49" charset="-122"/>
                <a:cs typeface="Consolas" pitchFamily="49" charset="0"/>
              </a:rPr>
              <a:t>操作</a:t>
            </a:r>
          </a:p>
        </p:txBody>
      </p:sp>
      <p:sp>
        <p:nvSpPr>
          <p:cNvPr id="108" name="TextBox 150">
            <a:extLst>
              <a:ext uri="{FF2B5EF4-FFF2-40B4-BE49-F238E27FC236}">
                <a16:creationId xmlns:a16="http://schemas.microsoft.com/office/drawing/2014/main" id="{E03F32EC-39A0-EDD6-043A-084B64A61824}"/>
              </a:ext>
            </a:extLst>
          </p:cNvPr>
          <p:cNvSpPr txBox="1"/>
          <p:nvPr/>
        </p:nvSpPr>
        <p:spPr>
          <a:xfrm>
            <a:off x="4476545" y="4706820"/>
            <a:ext cx="2071702" cy="400110"/>
          </a:xfrm>
          <a:prstGeom prst="rect">
            <a:avLst/>
          </a:prstGeom>
          <a:noFill/>
        </p:spPr>
        <p:txBody>
          <a:bodyPr wrap="square" rtlCol="0">
            <a:spAutoFit/>
          </a:bodyPr>
          <a:lstStyle/>
          <a:p>
            <a:r>
              <a:rPr lang="zh-CN" altLang="en-US" sz="2000" dirty="0">
                <a:solidFill>
                  <a:srgbClr val="FF0000"/>
                </a:solidFill>
                <a:latin typeface="Consolas" pitchFamily="49" charset="0"/>
                <a:ea typeface="仿宋" pitchFamily="49" charset="-122"/>
                <a:cs typeface="Consolas" pitchFamily="49" charset="0"/>
              </a:rPr>
              <a:t>选取了</a:t>
            </a:r>
            <a:r>
              <a:rPr lang="en-US" altLang="zh-CN" sz="2000" i="1" dirty="0">
                <a:solidFill>
                  <a:srgbClr val="FF0000"/>
                </a:solidFill>
                <a:latin typeface="Consolas" pitchFamily="49" charset="0"/>
                <a:ea typeface="仿宋" pitchFamily="49" charset="-122"/>
                <a:cs typeface="Consolas" pitchFamily="49" charset="0"/>
              </a:rPr>
              <a:t>n</a:t>
            </a:r>
            <a:r>
              <a:rPr lang="en-US" altLang="zh-CN" sz="2000" dirty="0">
                <a:solidFill>
                  <a:srgbClr val="FF0000"/>
                </a:solidFill>
                <a:latin typeface="Consolas" pitchFamily="49" charset="0"/>
                <a:ea typeface="仿宋" pitchFamily="49" charset="-122"/>
                <a:cs typeface="Consolas" pitchFamily="49" charset="0"/>
              </a:rPr>
              <a:t>-1</a:t>
            </a:r>
            <a:r>
              <a:rPr lang="zh-CN" altLang="en-US" sz="2000" dirty="0">
                <a:solidFill>
                  <a:srgbClr val="FF0000"/>
                </a:solidFill>
                <a:latin typeface="Consolas" pitchFamily="49" charset="0"/>
                <a:ea typeface="仿宋" pitchFamily="49" charset="-122"/>
                <a:cs typeface="Consolas" pitchFamily="49" charset="0"/>
              </a:rPr>
              <a:t>条边</a:t>
            </a:r>
          </a:p>
        </p:txBody>
      </p:sp>
      <p:grpSp>
        <p:nvGrpSpPr>
          <p:cNvPr id="109" name="组合 151">
            <a:extLst>
              <a:ext uri="{FF2B5EF4-FFF2-40B4-BE49-F238E27FC236}">
                <a16:creationId xmlns:a16="http://schemas.microsoft.com/office/drawing/2014/main" id="{8A29B81D-C4BB-6E5E-4E0D-2B514DE33059}"/>
              </a:ext>
            </a:extLst>
          </p:cNvPr>
          <p:cNvGrpSpPr/>
          <p:nvPr/>
        </p:nvGrpSpPr>
        <p:grpSpPr>
          <a:xfrm>
            <a:off x="9120015" y="2844772"/>
            <a:ext cx="928694" cy="1862048"/>
            <a:chOff x="7715272" y="1424076"/>
            <a:chExt cx="928694" cy="1862048"/>
          </a:xfrm>
        </p:grpSpPr>
        <p:sp>
          <p:nvSpPr>
            <p:cNvPr id="110" name="Text Box 99">
              <a:extLst>
                <a:ext uri="{FF2B5EF4-FFF2-40B4-BE49-F238E27FC236}">
                  <a16:creationId xmlns:a16="http://schemas.microsoft.com/office/drawing/2014/main" id="{C7208640-BAAD-6263-7F6D-FE0671F28BB5}"/>
                </a:ext>
              </a:extLst>
            </p:cNvPr>
            <p:cNvSpPr txBox="1">
              <a:spLocks noChangeArrowheads="1"/>
            </p:cNvSpPr>
            <p:nvPr/>
          </p:nvSpPr>
          <p:spPr bwMode="auto">
            <a:xfrm>
              <a:off x="8196273" y="1424076"/>
              <a:ext cx="447693" cy="1862048"/>
            </a:xfrm>
            <a:prstGeom prst="rect">
              <a:avLst/>
            </a:prstGeom>
            <a:noFill/>
            <a:ln w="19050" algn="ctr">
              <a:noFill/>
              <a:miter lim="800000"/>
              <a:headEnd/>
              <a:tailEnd type="none" w="med" len="lg"/>
            </a:ln>
            <a:effectLst/>
          </p:spPr>
          <p:txBody>
            <a:bodyPr wrap="square">
              <a:spAutoFit/>
            </a:bodyPr>
            <a:lstStyle/>
            <a:p>
              <a:pPr>
                <a:lnSpc>
                  <a:spcPts val="1800"/>
                </a:lnSpc>
                <a:spcBef>
                  <a:spcPct val="50000"/>
                </a:spcBef>
              </a:pPr>
              <a:r>
                <a:rPr lang="zh-CN" altLang="en-US" sz="1800" dirty="0">
                  <a:solidFill>
                    <a:srgbClr val="0000FF"/>
                  </a:solidFill>
                  <a:latin typeface="Consolas" pitchFamily="49" charset="0"/>
                  <a:ea typeface="仿宋" pitchFamily="49" charset="-122"/>
                  <a:cs typeface="Consolas" pitchFamily="49" charset="0"/>
                </a:rPr>
                <a:t>最</a:t>
              </a:r>
              <a:endParaRPr lang="en-US" altLang="zh-CN" sz="1800" dirty="0">
                <a:solidFill>
                  <a:srgbClr val="0000FF"/>
                </a:solidFill>
                <a:latin typeface="Consolas" pitchFamily="49" charset="0"/>
                <a:ea typeface="仿宋" pitchFamily="49" charset="-122"/>
                <a:cs typeface="Consolas" pitchFamily="49" charset="0"/>
              </a:endParaRPr>
            </a:p>
            <a:p>
              <a:pPr>
                <a:lnSpc>
                  <a:spcPts val="1800"/>
                </a:lnSpc>
                <a:spcBef>
                  <a:spcPct val="50000"/>
                </a:spcBef>
              </a:pPr>
              <a:r>
                <a:rPr lang="zh-CN" altLang="en-US" sz="1800" dirty="0">
                  <a:solidFill>
                    <a:srgbClr val="0000FF"/>
                  </a:solidFill>
                  <a:latin typeface="Consolas" pitchFamily="49" charset="0"/>
                  <a:ea typeface="仿宋" pitchFamily="49" charset="-122"/>
                  <a:cs typeface="Consolas" pitchFamily="49" charset="0"/>
                </a:rPr>
                <a:t>小</a:t>
              </a:r>
              <a:endParaRPr lang="en-US" altLang="zh-CN" sz="1800" dirty="0">
                <a:solidFill>
                  <a:srgbClr val="0000FF"/>
                </a:solidFill>
                <a:latin typeface="Consolas" pitchFamily="49" charset="0"/>
                <a:ea typeface="仿宋" pitchFamily="49" charset="-122"/>
                <a:cs typeface="Consolas" pitchFamily="49" charset="0"/>
              </a:endParaRPr>
            </a:p>
            <a:p>
              <a:pPr>
                <a:lnSpc>
                  <a:spcPts val="1800"/>
                </a:lnSpc>
                <a:spcBef>
                  <a:spcPct val="50000"/>
                </a:spcBef>
              </a:pPr>
              <a:r>
                <a:rPr lang="zh-CN" altLang="en-US" sz="1800" dirty="0">
                  <a:solidFill>
                    <a:srgbClr val="0000FF"/>
                  </a:solidFill>
                  <a:latin typeface="Consolas" pitchFamily="49" charset="0"/>
                  <a:ea typeface="仿宋" pitchFamily="49" charset="-122"/>
                  <a:cs typeface="Consolas" pitchFamily="49" charset="0"/>
                </a:rPr>
                <a:t>生</a:t>
              </a:r>
              <a:endParaRPr lang="en-US" altLang="zh-CN" sz="1800" dirty="0">
                <a:solidFill>
                  <a:srgbClr val="0000FF"/>
                </a:solidFill>
                <a:latin typeface="Consolas" pitchFamily="49" charset="0"/>
                <a:ea typeface="仿宋" pitchFamily="49" charset="-122"/>
                <a:cs typeface="Consolas" pitchFamily="49" charset="0"/>
              </a:endParaRPr>
            </a:p>
            <a:p>
              <a:pPr>
                <a:lnSpc>
                  <a:spcPts val="1800"/>
                </a:lnSpc>
                <a:spcBef>
                  <a:spcPct val="50000"/>
                </a:spcBef>
              </a:pPr>
              <a:r>
                <a:rPr lang="zh-CN" altLang="en-US" sz="1800" dirty="0">
                  <a:solidFill>
                    <a:srgbClr val="0000FF"/>
                  </a:solidFill>
                  <a:latin typeface="Consolas" pitchFamily="49" charset="0"/>
                  <a:ea typeface="仿宋" pitchFamily="49" charset="-122"/>
                  <a:cs typeface="Consolas" pitchFamily="49" charset="0"/>
                </a:rPr>
                <a:t>成</a:t>
              </a:r>
              <a:endParaRPr lang="en-US" altLang="zh-CN" sz="1800" dirty="0">
                <a:solidFill>
                  <a:srgbClr val="0000FF"/>
                </a:solidFill>
                <a:latin typeface="Consolas" pitchFamily="49" charset="0"/>
                <a:ea typeface="仿宋" pitchFamily="49" charset="-122"/>
                <a:cs typeface="Consolas" pitchFamily="49" charset="0"/>
              </a:endParaRPr>
            </a:p>
            <a:p>
              <a:pPr>
                <a:lnSpc>
                  <a:spcPts val="1800"/>
                </a:lnSpc>
                <a:spcBef>
                  <a:spcPct val="50000"/>
                </a:spcBef>
              </a:pPr>
              <a:r>
                <a:rPr lang="zh-CN" altLang="en-US" sz="1800" dirty="0">
                  <a:solidFill>
                    <a:srgbClr val="0000FF"/>
                  </a:solidFill>
                  <a:latin typeface="Consolas" pitchFamily="49" charset="0"/>
                  <a:ea typeface="仿宋" pitchFamily="49" charset="-122"/>
                  <a:cs typeface="Consolas" pitchFamily="49" charset="0"/>
                </a:rPr>
                <a:t>树</a:t>
              </a:r>
            </a:p>
          </p:txBody>
        </p:sp>
        <p:sp>
          <p:nvSpPr>
            <p:cNvPr id="111" name="左箭头 153">
              <a:extLst>
                <a:ext uri="{FF2B5EF4-FFF2-40B4-BE49-F238E27FC236}">
                  <a16:creationId xmlns:a16="http://schemas.microsoft.com/office/drawing/2014/main" id="{81EAFF83-DCCB-19BD-5029-6EA757CF97D9}"/>
                </a:ext>
              </a:extLst>
            </p:cNvPr>
            <p:cNvSpPr/>
            <p:nvPr/>
          </p:nvSpPr>
          <p:spPr bwMode="auto">
            <a:xfrm>
              <a:off x="7715272" y="2214554"/>
              <a:ext cx="428628" cy="214314"/>
            </a:xfrm>
            <a:prstGeom prst="leftArrow">
              <a:avLst/>
            </a:prstGeom>
            <a:ln>
              <a:headEnd type="none" w="med" len="med"/>
              <a:tailEnd type="none" w="med" len="lg"/>
            </a:ln>
          </p:spPr>
          <p:style>
            <a:lnRef idx="1">
              <a:schemeClr val="accent2"/>
            </a:lnRef>
            <a:fillRef idx="3">
              <a:schemeClr val="accent2"/>
            </a:fillRef>
            <a:effectRef idx="2">
              <a:schemeClr val="accent2"/>
            </a:effectRef>
            <a:fontRef idx="minor">
              <a:schemeClr val="lt1"/>
            </a:fontRef>
          </p:style>
          <p:txBody>
            <a:bodyPr wrap="none" rtlCol="0" anchor="ctr"/>
            <a:lstStyle/>
            <a:p>
              <a:pPr algn="ctr"/>
              <a:endParaRPr lang="zh-CN" altLang="en-US">
                <a:latin typeface="Consolas" pitchFamily="49" charset="0"/>
                <a:cs typeface="Consolas" pitchFamily="49" charset="0"/>
              </a:endParaRPr>
            </a:p>
          </p:txBody>
        </p:sp>
      </p:grpSp>
    </p:spTree>
    <p:extLst>
      <p:ext uri="{BB962C8B-B14F-4D97-AF65-F5344CB8AC3E}">
        <p14:creationId xmlns:p14="http://schemas.microsoft.com/office/powerpoint/2010/main" val="28994792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par>
                          <p:cTn id="7" fill="hold">
                            <p:stCondLst>
                              <p:cond delay="0"/>
                            </p:stCondLst>
                            <p:childTnLst>
                              <p:par>
                                <p:cTn id="8" presetID="26" presetClass="emph" presetSubtype="0" fill="hold" grpId="0" nodeType="afterEffect">
                                  <p:stCondLst>
                                    <p:cond delay="0"/>
                                  </p:stCondLst>
                                  <p:childTnLst>
                                    <p:animEffect transition="out" filter="fade">
                                      <p:cBhvr>
                                        <p:cTn id="9" dur="500" tmFilter="0, 0; .2, .5; .8, .5; 1, 0"/>
                                        <p:tgtEl>
                                          <p:spTgt spid="18"/>
                                        </p:tgtEl>
                                      </p:cBhvr>
                                    </p:animEffect>
                                    <p:animScale>
                                      <p:cBhvr>
                                        <p:cTn id="10" dur="250" autoRev="1" fill="hold"/>
                                        <p:tgtEl>
                                          <p:spTgt spid="18"/>
                                        </p:tgtEl>
                                      </p:cBhvr>
                                      <p:by x="105000" y="105000"/>
                                    </p:animScale>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9"/>
                                        </p:tgtEl>
                                        <p:attrNameLst>
                                          <p:attrName>style.visibility</p:attrName>
                                        </p:attrNameLst>
                                      </p:cBhvr>
                                      <p:to>
                                        <p:strVal val="visible"/>
                                      </p:to>
                                    </p:set>
                                  </p:childTnLst>
                                </p:cTn>
                              </p:par>
                            </p:childTnLst>
                          </p:cTn>
                        </p:par>
                        <p:par>
                          <p:cTn id="19" fill="hold">
                            <p:stCondLst>
                              <p:cond delay="0"/>
                            </p:stCondLst>
                            <p:childTnLst>
                              <p:par>
                                <p:cTn id="20" presetID="26" presetClass="emph" presetSubtype="0" fill="hold" grpId="0" nodeType="afterEffect">
                                  <p:stCondLst>
                                    <p:cond delay="0"/>
                                  </p:stCondLst>
                                  <p:childTnLst>
                                    <p:animEffect transition="out" filter="fade">
                                      <p:cBhvr>
                                        <p:cTn id="21" dur="500" tmFilter="0, 0; .2, .5; .8, .5; 1, 0"/>
                                        <p:tgtEl>
                                          <p:spTgt spid="25"/>
                                        </p:tgtEl>
                                      </p:cBhvr>
                                    </p:animEffect>
                                    <p:animScale>
                                      <p:cBhvr>
                                        <p:cTn id="22" dur="250" autoRev="1" fill="hold"/>
                                        <p:tgtEl>
                                          <p:spTgt spid="25"/>
                                        </p:tgtEl>
                                      </p:cBhvr>
                                      <p:by x="105000" y="105000"/>
                                    </p:animScale>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01"/>
                                        </p:tgtEl>
                                        <p:attrNameLst>
                                          <p:attrName>style.visibility</p:attrName>
                                        </p:attrNameLst>
                                      </p:cBhvr>
                                      <p:to>
                                        <p:strVal val="visible"/>
                                      </p:to>
                                    </p:set>
                                  </p:childTnLst>
                                </p:cTn>
                              </p:par>
                            </p:childTnLst>
                          </p:cTn>
                        </p:par>
                        <p:par>
                          <p:cTn id="31" fill="hold">
                            <p:stCondLst>
                              <p:cond delay="0"/>
                            </p:stCondLst>
                            <p:childTnLst>
                              <p:par>
                                <p:cTn id="32" presetID="26" presetClass="emph" presetSubtype="0" fill="hold" grpId="0" nodeType="afterEffect">
                                  <p:stCondLst>
                                    <p:cond delay="0"/>
                                  </p:stCondLst>
                                  <p:childTnLst>
                                    <p:animEffect transition="out" filter="fade">
                                      <p:cBhvr>
                                        <p:cTn id="33" dur="500" tmFilter="0, 0; .2, .5; .8, .5; 1, 0"/>
                                        <p:tgtEl>
                                          <p:spTgt spid="23"/>
                                        </p:tgtEl>
                                      </p:cBhvr>
                                    </p:animEffect>
                                    <p:animScale>
                                      <p:cBhvr>
                                        <p:cTn id="34" dur="250" autoRev="1" fill="hold"/>
                                        <p:tgtEl>
                                          <p:spTgt spid="23"/>
                                        </p:tgtEl>
                                      </p:cBhvr>
                                      <p:by x="105000" y="105000"/>
                                    </p:animScale>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02"/>
                                        </p:tgtEl>
                                        <p:attrNameLst>
                                          <p:attrName>style.visibility</p:attrName>
                                        </p:attrNameLst>
                                      </p:cBhvr>
                                      <p:to>
                                        <p:strVal val="visible"/>
                                      </p:to>
                                    </p:set>
                                  </p:childTnLst>
                                </p:cTn>
                              </p:par>
                            </p:childTnLst>
                          </p:cTn>
                        </p:par>
                        <p:par>
                          <p:cTn id="43" fill="hold">
                            <p:stCondLst>
                              <p:cond delay="0"/>
                            </p:stCondLst>
                            <p:childTnLst>
                              <p:par>
                                <p:cTn id="44" presetID="26" presetClass="emph" presetSubtype="0" fill="hold" grpId="0" nodeType="afterEffect">
                                  <p:stCondLst>
                                    <p:cond delay="0"/>
                                  </p:stCondLst>
                                  <p:childTnLst>
                                    <p:animEffect transition="out" filter="fade">
                                      <p:cBhvr>
                                        <p:cTn id="45" dur="500" tmFilter="0, 0; .2, .5; .8, .5; 1, 0"/>
                                        <p:tgtEl>
                                          <p:spTgt spid="24"/>
                                        </p:tgtEl>
                                      </p:cBhvr>
                                    </p:animEffect>
                                    <p:animScale>
                                      <p:cBhvr>
                                        <p:cTn id="46" dur="250" autoRev="1" fill="hold"/>
                                        <p:tgtEl>
                                          <p:spTgt spid="24"/>
                                        </p:tgtEl>
                                      </p:cBhvr>
                                      <p:by x="105000" y="105000"/>
                                    </p:animScale>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47"/>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03"/>
                                        </p:tgtEl>
                                        <p:attrNameLst>
                                          <p:attrName>style.visibility</p:attrName>
                                        </p:attrNameLst>
                                      </p:cBhvr>
                                      <p:to>
                                        <p:strVal val="visible"/>
                                      </p:to>
                                    </p:set>
                                  </p:childTnLst>
                                </p:cTn>
                              </p:par>
                            </p:childTnLst>
                          </p:cTn>
                        </p:par>
                        <p:par>
                          <p:cTn id="55" fill="hold">
                            <p:stCondLst>
                              <p:cond delay="0"/>
                            </p:stCondLst>
                            <p:childTnLst>
                              <p:par>
                                <p:cTn id="56" presetID="26" presetClass="emph" presetSubtype="0" fill="hold" grpId="0" nodeType="afterEffect">
                                  <p:stCondLst>
                                    <p:cond delay="0"/>
                                  </p:stCondLst>
                                  <p:childTnLst>
                                    <p:animEffect transition="out" filter="fade">
                                      <p:cBhvr>
                                        <p:cTn id="57" dur="500" tmFilter="0, 0; .2, .5; .8, .5; 1, 0"/>
                                        <p:tgtEl>
                                          <p:spTgt spid="22"/>
                                        </p:tgtEl>
                                      </p:cBhvr>
                                    </p:animEffect>
                                    <p:animScale>
                                      <p:cBhvr>
                                        <p:cTn id="58" dur="250" autoRev="1" fill="hold"/>
                                        <p:tgtEl>
                                          <p:spTgt spid="22"/>
                                        </p:tgtEl>
                                      </p:cBhvr>
                                      <p:by x="105000" y="105000"/>
                                    </p:animScale>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100"/>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22" presetClass="exit" presetSubtype="4" fill="hold" grpId="1" nodeType="clickEffect">
                                  <p:stCondLst>
                                    <p:cond delay="0"/>
                                  </p:stCondLst>
                                  <p:childTnLst>
                                    <p:animEffect transition="out" filter="wipe(down)">
                                      <p:cBhvr>
                                        <p:cTn id="66" dur="500"/>
                                        <p:tgtEl>
                                          <p:spTgt spid="100"/>
                                        </p:tgtEl>
                                      </p:cBhvr>
                                    </p:animEffect>
                                    <p:set>
                                      <p:cBhvr>
                                        <p:cTn id="67" dur="1" fill="hold">
                                          <p:stCondLst>
                                            <p:cond delay="499"/>
                                          </p:stCondLst>
                                        </p:cTn>
                                        <p:tgtEl>
                                          <p:spTgt spid="100"/>
                                        </p:tgtEl>
                                        <p:attrNameLst>
                                          <p:attrName>style.visibility</p:attrName>
                                        </p:attrNameLst>
                                      </p:cBhvr>
                                      <p:to>
                                        <p:strVal val="hidden"/>
                                      </p:to>
                                    </p:set>
                                  </p:childTnLst>
                                </p:cTn>
                              </p:par>
                            </p:childTnLst>
                          </p:cTn>
                        </p:par>
                      </p:childTnLst>
                    </p:cTn>
                  </p:par>
                  <p:par>
                    <p:cTn id="68" fill="hold">
                      <p:stCondLst>
                        <p:cond delay="indefinite"/>
                      </p:stCondLst>
                      <p:childTnLst>
                        <p:par>
                          <p:cTn id="69" fill="hold">
                            <p:stCondLst>
                              <p:cond delay="0"/>
                            </p:stCondLst>
                            <p:childTnLst>
                              <p:par>
                                <p:cTn id="70" presetID="1" presetClass="entr" presetSubtype="0" fill="hold" grpId="0" nodeType="clickEffect">
                                  <p:stCondLst>
                                    <p:cond delay="0"/>
                                  </p:stCondLst>
                                  <p:childTnLst>
                                    <p:set>
                                      <p:cBhvr>
                                        <p:cTn id="71" dur="1" fill="hold">
                                          <p:stCondLst>
                                            <p:cond delay="0"/>
                                          </p:stCondLst>
                                        </p:cTn>
                                        <p:tgtEl>
                                          <p:spTgt spid="104"/>
                                        </p:tgtEl>
                                        <p:attrNameLst>
                                          <p:attrName>style.visibility</p:attrName>
                                        </p:attrNameLst>
                                      </p:cBhvr>
                                      <p:to>
                                        <p:strVal val="visible"/>
                                      </p:to>
                                    </p:set>
                                  </p:childTnLst>
                                </p:cTn>
                              </p:par>
                            </p:childTnLst>
                          </p:cTn>
                        </p:par>
                        <p:par>
                          <p:cTn id="72" fill="hold">
                            <p:stCondLst>
                              <p:cond delay="0"/>
                            </p:stCondLst>
                            <p:childTnLst>
                              <p:par>
                                <p:cTn id="73" presetID="26" presetClass="emph" presetSubtype="0" fill="hold" grpId="0" nodeType="afterEffect">
                                  <p:stCondLst>
                                    <p:cond delay="0"/>
                                  </p:stCondLst>
                                  <p:childTnLst>
                                    <p:animEffect transition="out" filter="fade">
                                      <p:cBhvr>
                                        <p:cTn id="74" dur="500" tmFilter="0, 0; .2, .5; .8, .5; 1, 0"/>
                                        <p:tgtEl>
                                          <p:spTgt spid="20"/>
                                        </p:tgtEl>
                                      </p:cBhvr>
                                    </p:animEffect>
                                    <p:animScale>
                                      <p:cBhvr>
                                        <p:cTn id="75" dur="250" autoRev="1" fill="hold"/>
                                        <p:tgtEl>
                                          <p:spTgt spid="20"/>
                                        </p:tgtEl>
                                      </p:cBhvr>
                                      <p:by x="105000" y="105000"/>
                                    </p:animScale>
                                  </p:childTnLst>
                                </p:cTn>
                              </p:par>
                            </p:childTnLst>
                          </p:cTn>
                        </p:par>
                      </p:childTnLst>
                    </p:cTn>
                  </p:par>
                  <p:par>
                    <p:cTn id="76" fill="hold">
                      <p:stCondLst>
                        <p:cond delay="indefinite"/>
                      </p:stCondLst>
                      <p:childTnLst>
                        <p:par>
                          <p:cTn id="77" fill="hold">
                            <p:stCondLst>
                              <p:cond delay="0"/>
                            </p:stCondLst>
                            <p:childTnLst>
                              <p:par>
                                <p:cTn id="78" presetID="1" presetClass="entr" presetSubtype="0" fill="hold" grpId="0" nodeType="clickEffect">
                                  <p:stCondLst>
                                    <p:cond delay="0"/>
                                  </p:stCondLst>
                                  <p:childTnLst>
                                    <p:set>
                                      <p:cBhvr>
                                        <p:cTn id="79" dur="1" fill="hold">
                                          <p:stCondLst>
                                            <p:cond delay="0"/>
                                          </p:stCondLst>
                                        </p:cTn>
                                        <p:tgtEl>
                                          <p:spTgt spid="44"/>
                                        </p:tgtEl>
                                        <p:attrNameLst>
                                          <p:attrName>style.visibility</p:attrName>
                                        </p:attrNameLst>
                                      </p:cBhvr>
                                      <p:to>
                                        <p:strVal val="visible"/>
                                      </p:to>
                                    </p:se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grpId="0" nodeType="clickEffect">
                                  <p:stCondLst>
                                    <p:cond delay="0"/>
                                  </p:stCondLst>
                                  <p:childTnLst>
                                    <p:set>
                                      <p:cBhvr>
                                        <p:cTn id="83" dur="1" fill="hold">
                                          <p:stCondLst>
                                            <p:cond delay="0"/>
                                          </p:stCondLst>
                                        </p:cTn>
                                        <p:tgtEl>
                                          <p:spTgt spid="105"/>
                                        </p:tgtEl>
                                        <p:attrNameLst>
                                          <p:attrName>style.visibility</p:attrName>
                                        </p:attrNameLst>
                                      </p:cBhvr>
                                      <p:to>
                                        <p:strVal val="visible"/>
                                      </p:to>
                                    </p:set>
                                  </p:childTnLst>
                                </p:cTn>
                              </p:par>
                            </p:childTnLst>
                          </p:cTn>
                        </p:par>
                        <p:par>
                          <p:cTn id="84" fill="hold">
                            <p:stCondLst>
                              <p:cond delay="0"/>
                            </p:stCondLst>
                            <p:childTnLst>
                              <p:par>
                                <p:cTn id="85" presetID="26" presetClass="emph" presetSubtype="0" fill="hold" grpId="0" nodeType="afterEffect">
                                  <p:stCondLst>
                                    <p:cond delay="0"/>
                                  </p:stCondLst>
                                  <p:childTnLst>
                                    <p:animEffect transition="out" filter="fade">
                                      <p:cBhvr>
                                        <p:cTn id="86" dur="500" tmFilter="0, 0; .2, .5; .8, .5; 1, 0"/>
                                        <p:tgtEl>
                                          <p:spTgt spid="21"/>
                                        </p:tgtEl>
                                      </p:cBhvr>
                                    </p:animEffect>
                                    <p:animScale>
                                      <p:cBhvr>
                                        <p:cTn id="87" dur="250" autoRev="1" fill="hold"/>
                                        <p:tgtEl>
                                          <p:spTgt spid="21"/>
                                        </p:tgtEl>
                                      </p:cBhvr>
                                      <p:by x="105000" y="105000"/>
                                    </p:animScale>
                                  </p:childTnLst>
                                </p:cTn>
                              </p:par>
                            </p:childTnLst>
                          </p:cTn>
                        </p:par>
                      </p:childTnLst>
                    </p:cTn>
                  </p:par>
                  <p:par>
                    <p:cTn id="88" fill="hold">
                      <p:stCondLst>
                        <p:cond delay="indefinite"/>
                      </p:stCondLst>
                      <p:childTnLst>
                        <p:par>
                          <p:cTn id="89" fill="hold">
                            <p:stCondLst>
                              <p:cond delay="0"/>
                            </p:stCondLst>
                            <p:childTnLst>
                              <p:par>
                                <p:cTn id="90" presetID="1" presetClass="entr" presetSubtype="0" fill="hold" grpId="0" nodeType="clickEffect">
                                  <p:stCondLst>
                                    <p:cond delay="0"/>
                                  </p:stCondLst>
                                  <p:childTnLst>
                                    <p:set>
                                      <p:cBhvr>
                                        <p:cTn id="91" dur="1" fill="hold">
                                          <p:stCondLst>
                                            <p:cond delay="0"/>
                                          </p:stCondLst>
                                        </p:cTn>
                                        <p:tgtEl>
                                          <p:spTgt spid="45"/>
                                        </p:tgtEl>
                                        <p:attrNameLst>
                                          <p:attrName>style.visibility</p:attrName>
                                        </p:attrNameLst>
                                      </p:cBhvr>
                                      <p:to>
                                        <p:strVal val="visible"/>
                                      </p:to>
                                    </p:set>
                                  </p:childTnLst>
                                </p:cTn>
                              </p:par>
                            </p:childTnLst>
                          </p:cTn>
                        </p:par>
                      </p:childTnLst>
                    </p:cTn>
                  </p:par>
                  <p:par>
                    <p:cTn id="92" fill="hold">
                      <p:stCondLst>
                        <p:cond delay="indefinite"/>
                      </p:stCondLst>
                      <p:childTnLst>
                        <p:par>
                          <p:cTn id="93" fill="hold">
                            <p:stCondLst>
                              <p:cond delay="0"/>
                            </p:stCondLst>
                            <p:childTnLst>
                              <p:par>
                                <p:cTn id="94" presetID="22" presetClass="exit" presetSubtype="4" fill="hold" grpId="1" nodeType="clickEffect">
                                  <p:stCondLst>
                                    <p:cond delay="0"/>
                                  </p:stCondLst>
                                  <p:childTnLst>
                                    <p:animEffect transition="out" filter="wipe(down)">
                                      <p:cBhvr>
                                        <p:cTn id="95" dur="500"/>
                                        <p:tgtEl>
                                          <p:spTgt spid="45"/>
                                        </p:tgtEl>
                                      </p:cBhvr>
                                    </p:animEffect>
                                    <p:set>
                                      <p:cBhvr>
                                        <p:cTn id="96" dur="1" fill="hold">
                                          <p:stCondLst>
                                            <p:cond delay="499"/>
                                          </p:stCondLst>
                                        </p:cTn>
                                        <p:tgtEl>
                                          <p:spTgt spid="45"/>
                                        </p:tgtEl>
                                        <p:attrNameLst>
                                          <p:attrName>style.visibility</p:attrName>
                                        </p:attrNameLst>
                                      </p:cBhvr>
                                      <p:to>
                                        <p:strVal val="hidden"/>
                                      </p:to>
                                    </p:set>
                                  </p:childTnLst>
                                </p:cTn>
                              </p:par>
                            </p:childTnLst>
                          </p:cTn>
                        </p:par>
                      </p:childTnLst>
                    </p:cTn>
                  </p:par>
                  <p:par>
                    <p:cTn id="97" fill="hold">
                      <p:stCondLst>
                        <p:cond delay="indefinite"/>
                      </p:stCondLst>
                      <p:childTnLst>
                        <p:par>
                          <p:cTn id="98" fill="hold">
                            <p:stCondLst>
                              <p:cond delay="0"/>
                            </p:stCondLst>
                            <p:childTnLst>
                              <p:par>
                                <p:cTn id="99" presetID="1" presetClass="entr" presetSubtype="0" fill="hold" grpId="0" nodeType="clickEffect">
                                  <p:stCondLst>
                                    <p:cond delay="0"/>
                                  </p:stCondLst>
                                  <p:childTnLst>
                                    <p:set>
                                      <p:cBhvr>
                                        <p:cTn id="100" dur="1" fill="hold">
                                          <p:stCondLst>
                                            <p:cond delay="0"/>
                                          </p:stCondLst>
                                        </p:cTn>
                                        <p:tgtEl>
                                          <p:spTgt spid="106"/>
                                        </p:tgtEl>
                                        <p:attrNameLst>
                                          <p:attrName>style.visibility</p:attrName>
                                        </p:attrNameLst>
                                      </p:cBhvr>
                                      <p:to>
                                        <p:strVal val="visible"/>
                                      </p:to>
                                    </p:set>
                                  </p:childTnLst>
                                </p:cTn>
                              </p:par>
                            </p:childTnLst>
                          </p:cTn>
                        </p:par>
                        <p:par>
                          <p:cTn id="101" fill="hold">
                            <p:stCondLst>
                              <p:cond delay="0"/>
                            </p:stCondLst>
                            <p:childTnLst>
                              <p:par>
                                <p:cTn id="102" presetID="26" presetClass="emph" presetSubtype="0" fill="hold" grpId="0" nodeType="afterEffect">
                                  <p:stCondLst>
                                    <p:cond delay="0"/>
                                  </p:stCondLst>
                                  <p:childTnLst>
                                    <p:animEffect transition="out" filter="fade">
                                      <p:cBhvr>
                                        <p:cTn id="103" dur="500" tmFilter="0, 0; .2, .5; .8, .5; 1, 0"/>
                                        <p:tgtEl>
                                          <p:spTgt spid="19"/>
                                        </p:tgtEl>
                                      </p:cBhvr>
                                    </p:animEffect>
                                    <p:animScale>
                                      <p:cBhvr>
                                        <p:cTn id="104" dur="250" autoRev="1" fill="hold"/>
                                        <p:tgtEl>
                                          <p:spTgt spid="19"/>
                                        </p:tgtEl>
                                      </p:cBhvr>
                                      <p:by x="105000" y="105000"/>
                                    </p:animScale>
                                  </p:childTnLst>
                                </p:cTn>
                              </p:par>
                            </p:childTnLst>
                          </p:cTn>
                        </p:par>
                      </p:childTnLst>
                    </p:cTn>
                  </p:par>
                  <p:par>
                    <p:cTn id="105" fill="hold">
                      <p:stCondLst>
                        <p:cond delay="indefinite"/>
                      </p:stCondLst>
                      <p:childTnLst>
                        <p:par>
                          <p:cTn id="106" fill="hold">
                            <p:stCondLst>
                              <p:cond delay="0"/>
                            </p:stCondLst>
                            <p:childTnLst>
                              <p:par>
                                <p:cTn id="107" presetID="1" presetClass="entr" presetSubtype="0" fill="hold" grpId="0" nodeType="clickEffect">
                                  <p:stCondLst>
                                    <p:cond delay="0"/>
                                  </p:stCondLst>
                                  <p:childTnLst>
                                    <p:set>
                                      <p:cBhvr>
                                        <p:cTn id="108" dur="1" fill="hold">
                                          <p:stCondLst>
                                            <p:cond delay="0"/>
                                          </p:stCondLst>
                                        </p:cTn>
                                        <p:tgtEl>
                                          <p:spTgt spid="43"/>
                                        </p:tgtEl>
                                        <p:attrNameLst>
                                          <p:attrName>style.visibility</p:attrName>
                                        </p:attrNameLst>
                                      </p:cBhvr>
                                      <p:to>
                                        <p:strVal val="visible"/>
                                      </p:to>
                                    </p:set>
                                  </p:childTnLst>
                                </p:cTn>
                              </p:par>
                            </p:childTnLst>
                          </p:cTn>
                        </p:par>
                      </p:childTnLst>
                    </p:cTn>
                  </p:par>
                  <p:par>
                    <p:cTn id="109" fill="hold">
                      <p:stCondLst>
                        <p:cond delay="indefinite"/>
                      </p:stCondLst>
                      <p:childTnLst>
                        <p:par>
                          <p:cTn id="110" fill="hold">
                            <p:stCondLst>
                              <p:cond delay="0"/>
                            </p:stCondLst>
                            <p:childTnLst>
                              <p:par>
                                <p:cTn id="111" presetID="1" presetClass="entr" presetSubtype="0" fill="hold" grpId="0" nodeType="clickEffect">
                                  <p:stCondLst>
                                    <p:cond delay="0"/>
                                  </p:stCondLst>
                                  <p:childTnLst>
                                    <p:set>
                                      <p:cBhvr>
                                        <p:cTn id="112" dur="1" fill="hold">
                                          <p:stCondLst>
                                            <p:cond delay="0"/>
                                          </p:stCondLst>
                                        </p:cTn>
                                        <p:tgtEl>
                                          <p:spTgt spid="108"/>
                                        </p:tgtEl>
                                        <p:attrNameLst>
                                          <p:attrName>style.visibility</p:attrName>
                                        </p:attrNameLst>
                                      </p:cBhvr>
                                      <p:to>
                                        <p:strVal val="visible"/>
                                      </p:to>
                                    </p:set>
                                  </p:childTnLst>
                                </p:cTn>
                              </p:par>
                            </p:childTnLst>
                          </p:cTn>
                        </p:par>
                        <p:par>
                          <p:cTn id="113" fill="hold">
                            <p:stCondLst>
                              <p:cond delay="0"/>
                            </p:stCondLst>
                            <p:childTnLst>
                              <p:par>
                                <p:cTn id="114" presetID="1" presetClass="entr" presetSubtype="0" fill="hold" nodeType="afterEffect">
                                  <p:stCondLst>
                                    <p:cond delay="0"/>
                                  </p:stCondLst>
                                  <p:childTnLst>
                                    <p:set>
                                      <p:cBhvr>
                                        <p:cTn id="115" dur="1" fill="hold">
                                          <p:stCondLst>
                                            <p:cond delay="0"/>
                                          </p:stCondLst>
                                        </p:cTn>
                                        <p:tgtEl>
                                          <p:spTgt spid="10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8" grpId="0" animBg="1"/>
      <p:bldP spid="19" grpId="0" animBg="1"/>
      <p:bldP spid="20" grpId="0" animBg="1"/>
      <p:bldP spid="21" grpId="0" animBg="1"/>
      <p:bldP spid="22" grpId="0" animBg="1"/>
      <p:bldP spid="23" grpId="0" animBg="1"/>
      <p:bldP spid="24" grpId="0" animBg="1"/>
      <p:bldP spid="25" grpId="0" animBg="1"/>
      <p:bldP spid="42" grpId="0" animBg="1"/>
      <p:bldP spid="43" grpId="0" animBg="1"/>
      <p:bldP spid="44" grpId="0" animBg="1"/>
      <p:bldP spid="45" grpId="0" animBg="1"/>
      <p:bldP spid="45" grpId="1" animBg="1"/>
      <p:bldP spid="46" grpId="0" animBg="1"/>
      <p:bldP spid="47" grpId="0" animBg="1"/>
      <p:bldP spid="98" grpId="0" animBg="1"/>
      <p:bldP spid="99" grpId="0" animBg="1"/>
      <p:bldP spid="100" grpId="0" animBg="1"/>
      <p:bldP spid="100" grpId="1" animBg="1"/>
      <p:bldP spid="101" grpId="0" animBg="1"/>
      <p:bldP spid="102" grpId="0" animBg="1"/>
      <p:bldP spid="103" grpId="0" animBg="1"/>
      <p:bldP spid="104" grpId="0" animBg="1"/>
      <p:bldP spid="105" grpId="0" animBg="1"/>
      <p:bldP spid="106" grpId="0" animBg="1"/>
      <p:bldP spid="108" grpId="0"/>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67F559-9E01-09F5-868A-871F89E8E161}"/>
            </a:ext>
          </a:extLst>
        </p:cNvPr>
        <p:cNvGrpSpPr/>
        <p:nvPr/>
      </p:nvGrpSpPr>
      <p:grpSpPr>
        <a:xfrm>
          <a:off x="0" y="0"/>
          <a:ext cx="0" cy="0"/>
          <a:chOff x="0" y="0"/>
          <a:chExt cx="0" cy="0"/>
        </a:xfrm>
      </p:grpSpPr>
      <p:sp>
        <p:nvSpPr>
          <p:cNvPr id="2" name="Rectangle 2">
            <a:extLst>
              <a:ext uri="{FF2B5EF4-FFF2-40B4-BE49-F238E27FC236}">
                <a16:creationId xmlns:a16="http://schemas.microsoft.com/office/drawing/2014/main" id="{41F291FD-069D-4BAC-6F1C-22569E1A597D}"/>
              </a:ext>
            </a:extLst>
          </p:cNvPr>
          <p:cNvSpPr txBox="1">
            <a:spLocks noChangeArrowheads="1"/>
          </p:cNvSpPr>
          <p:nvPr/>
        </p:nvSpPr>
        <p:spPr>
          <a:xfrm>
            <a:off x="474772" y="1230902"/>
            <a:ext cx="6485324"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8.4.4 </a:t>
            </a:r>
            <a:r>
              <a:rPr kumimoji="1" lang="zh-CN" altLang="en-US" dirty="0">
                <a:latin typeface="微软雅黑" pitchFamily="34" charset="-122"/>
                <a:ea typeface="微软雅黑" pitchFamily="34" charset="-122"/>
              </a:rPr>
              <a:t>克鲁斯卡尔算法 </a:t>
            </a:r>
            <a:r>
              <a:rPr kumimoji="1" lang="en-US" altLang="zh-CN" dirty="0">
                <a:latin typeface="微软雅黑" pitchFamily="34" charset="-122"/>
                <a:ea typeface="微软雅黑" pitchFamily="34" charset="-122"/>
              </a:rPr>
              <a:t>(Kruskal)</a:t>
            </a:r>
            <a:r>
              <a:rPr kumimoji="1" lang="zh-CN" altLang="en-US" dirty="0">
                <a:latin typeface="微软雅黑" pitchFamily="34" charset="-122"/>
                <a:ea typeface="微软雅黑" pitchFamily="34" charset="-122"/>
              </a:rPr>
              <a:t>算法</a:t>
            </a:r>
          </a:p>
        </p:txBody>
      </p:sp>
      <p:cxnSp>
        <p:nvCxnSpPr>
          <p:cNvPr id="3" name="直接连接符 2">
            <a:extLst>
              <a:ext uri="{FF2B5EF4-FFF2-40B4-BE49-F238E27FC236}">
                <a16:creationId xmlns:a16="http://schemas.microsoft.com/office/drawing/2014/main" id="{AC35F847-2677-A3B8-7454-4C92536E295B}"/>
              </a:ext>
            </a:extLst>
          </p:cNvPr>
          <p:cNvCxnSpPr>
            <a:cxnSpLocks/>
          </p:cNvCxnSpPr>
          <p:nvPr/>
        </p:nvCxnSpPr>
        <p:spPr>
          <a:xfrm>
            <a:off x="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4" name="矩形 3">
            <a:extLst>
              <a:ext uri="{FF2B5EF4-FFF2-40B4-BE49-F238E27FC236}">
                <a16:creationId xmlns:a16="http://schemas.microsoft.com/office/drawing/2014/main" id="{BA16B133-6157-1E30-CD4E-32F7D20914B8}"/>
              </a:ext>
            </a:extLst>
          </p:cNvPr>
          <p:cNvSpPr/>
          <p:nvPr/>
        </p:nvSpPr>
        <p:spPr>
          <a:xfrm>
            <a:off x="3394075" y="399838"/>
            <a:ext cx="4617860"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8.4 </a:t>
            </a:r>
            <a:r>
              <a:rPr lang="zh-CN" altLang="en-US" sz="3000" b="1" dirty="0">
                <a:latin typeface="黑体" pitchFamily="49" charset="-122"/>
                <a:ea typeface="黑体" pitchFamily="49" charset="-122"/>
                <a:cs typeface="经典粗黑简" pitchFamily="49" charset="-122"/>
              </a:rPr>
              <a:t>生成树和最小生成树</a:t>
            </a:r>
          </a:p>
        </p:txBody>
      </p:sp>
      <p:sp>
        <p:nvSpPr>
          <p:cNvPr id="5" name="Text Box 1047">
            <a:extLst>
              <a:ext uri="{FF2B5EF4-FFF2-40B4-BE49-F238E27FC236}">
                <a16:creationId xmlns:a16="http://schemas.microsoft.com/office/drawing/2014/main" id="{23850461-0E00-6E05-A872-19265CA9319E}"/>
              </a:ext>
            </a:extLst>
          </p:cNvPr>
          <p:cNvSpPr txBox="1">
            <a:spLocks noChangeArrowheads="1"/>
          </p:cNvSpPr>
          <p:nvPr/>
        </p:nvSpPr>
        <p:spPr bwMode="auto">
          <a:xfrm>
            <a:off x="1416050" y="2077378"/>
            <a:ext cx="4143404" cy="400110"/>
          </a:xfrm>
          <a:prstGeom prst="rect">
            <a:avLst/>
          </a:prstGeom>
          <a:noFill/>
          <a:ln w="19050" algn="ctr">
            <a:noFill/>
            <a:miter lim="800000"/>
            <a:headEnd/>
            <a:tailEnd type="none" w="med" len="lg"/>
          </a:ln>
          <a:effectLst/>
        </p:spPr>
        <p:txBody>
          <a:bodyPr wrap="square">
            <a:spAutoFit/>
          </a:bodyPr>
          <a:lstStyle/>
          <a:p>
            <a:pPr algn="l">
              <a:spcBef>
                <a:spcPct val="50000"/>
              </a:spcBef>
            </a:pPr>
            <a:r>
              <a:rPr kumimoji="1" lang="zh-CN" altLang="en-US" sz="2000" dirty="0">
                <a:solidFill>
                  <a:srgbClr val="FF0000"/>
                </a:solidFill>
                <a:latin typeface="Consolas" pitchFamily="49" charset="0"/>
                <a:ea typeface="微软雅黑" pitchFamily="34" charset="-122"/>
                <a:cs typeface="Consolas" pitchFamily="49" charset="0"/>
              </a:rPr>
              <a:t>算法设计（解决</a:t>
            </a:r>
            <a:r>
              <a:rPr kumimoji="1" lang="en-US" altLang="zh-CN" sz="2000" dirty="0">
                <a:solidFill>
                  <a:srgbClr val="FF0000"/>
                </a:solidFill>
                <a:latin typeface="Consolas" pitchFamily="49" charset="0"/>
                <a:ea typeface="微软雅黑" pitchFamily="34" charset="-122"/>
                <a:cs typeface="Consolas" pitchFamily="49" charset="0"/>
              </a:rPr>
              <a:t>3</a:t>
            </a:r>
            <a:r>
              <a:rPr kumimoji="1" lang="zh-CN" altLang="en-US" sz="2000" dirty="0">
                <a:solidFill>
                  <a:srgbClr val="FF0000"/>
                </a:solidFill>
                <a:latin typeface="Consolas" pitchFamily="49" charset="0"/>
                <a:ea typeface="微软雅黑" pitchFamily="34" charset="-122"/>
                <a:cs typeface="Consolas" pitchFamily="49" charset="0"/>
              </a:rPr>
              <a:t>个问题）：</a:t>
            </a:r>
            <a:endParaRPr lang="zh-CN" altLang="en-US" sz="2000" dirty="0">
              <a:solidFill>
                <a:srgbClr val="FF0000"/>
              </a:solidFill>
              <a:latin typeface="Consolas" pitchFamily="49" charset="0"/>
              <a:ea typeface="微软雅黑" pitchFamily="34" charset="-122"/>
              <a:cs typeface="Consolas" pitchFamily="49" charset="0"/>
            </a:endParaRPr>
          </a:p>
        </p:txBody>
      </p:sp>
      <p:sp>
        <p:nvSpPr>
          <p:cNvPr id="15" name="TextBox 3">
            <a:extLst>
              <a:ext uri="{FF2B5EF4-FFF2-40B4-BE49-F238E27FC236}">
                <a16:creationId xmlns:a16="http://schemas.microsoft.com/office/drawing/2014/main" id="{E97D01E5-3DBC-6AF0-22D1-7820D9519C76}"/>
              </a:ext>
            </a:extLst>
          </p:cNvPr>
          <p:cNvSpPr txBox="1"/>
          <p:nvPr/>
        </p:nvSpPr>
        <p:spPr>
          <a:xfrm>
            <a:off x="1487488" y="4149080"/>
            <a:ext cx="5214974" cy="400110"/>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buBlip>
                <a:blip r:embed="rId3"/>
              </a:buBlip>
            </a:pPr>
            <a:r>
              <a:rPr lang="zh-CN" altLang="en-US" sz="2000" dirty="0">
                <a:solidFill>
                  <a:srgbClr val="0000FF"/>
                </a:solidFill>
                <a:latin typeface="楷体" pitchFamily="49" charset="-122"/>
                <a:ea typeface="楷体" pitchFamily="49" charset="-122"/>
              </a:rPr>
              <a:t>如何解决加入一条边后是否出现回路？</a:t>
            </a:r>
            <a:endParaRPr lang="zh-CN" altLang="en-US" sz="2000" dirty="0">
              <a:solidFill>
                <a:srgbClr val="0000FF"/>
              </a:solidFill>
              <a:latin typeface="楷体" pitchFamily="49" charset="-122"/>
              <a:ea typeface="楷体" pitchFamily="49" charset="-122"/>
              <a:cs typeface="Times New Roman" pitchFamily="18" charset="0"/>
            </a:endParaRPr>
          </a:p>
        </p:txBody>
      </p:sp>
      <p:sp>
        <p:nvSpPr>
          <p:cNvPr id="16" name="TextBox 4">
            <a:extLst>
              <a:ext uri="{FF2B5EF4-FFF2-40B4-BE49-F238E27FC236}">
                <a16:creationId xmlns:a16="http://schemas.microsoft.com/office/drawing/2014/main" id="{579DF04E-4E31-6863-453E-A2F38B9B3951}"/>
              </a:ext>
            </a:extLst>
          </p:cNvPr>
          <p:cNvSpPr txBox="1"/>
          <p:nvPr/>
        </p:nvSpPr>
        <p:spPr>
          <a:xfrm>
            <a:off x="1487488" y="2863196"/>
            <a:ext cx="4143404" cy="400110"/>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buBlip>
                <a:blip r:embed="rId3"/>
              </a:buBlip>
            </a:pPr>
            <a:r>
              <a:rPr lang="zh-CN" altLang="en-US" sz="2000" dirty="0">
                <a:solidFill>
                  <a:srgbClr val="0000FF"/>
                </a:solidFill>
                <a:ea typeface="楷体" pitchFamily="49" charset="-122"/>
                <a:cs typeface="Times New Roman" pitchFamily="18" charset="0"/>
              </a:rPr>
              <a:t>图采用哪种存储结构更合适？</a:t>
            </a:r>
          </a:p>
        </p:txBody>
      </p:sp>
      <p:sp>
        <p:nvSpPr>
          <p:cNvPr id="48" name="TextBox 5">
            <a:extLst>
              <a:ext uri="{FF2B5EF4-FFF2-40B4-BE49-F238E27FC236}">
                <a16:creationId xmlns:a16="http://schemas.microsoft.com/office/drawing/2014/main" id="{0BBE62F3-8AD3-63C0-B636-ED8FB74C3376}"/>
              </a:ext>
            </a:extLst>
          </p:cNvPr>
          <p:cNvSpPr txBox="1"/>
          <p:nvPr/>
        </p:nvSpPr>
        <p:spPr>
          <a:xfrm>
            <a:off x="1487488" y="3495725"/>
            <a:ext cx="2500330" cy="400110"/>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buBlip>
                <a:blip r:embed="rId3"/>
              </a:buBlip>
            </a:pPr>
            <a:r>
              <a:rPr lang="zh-CN" altLang="en-US" sz="2000" dirty="0">
                <a:solidFill>
                  <a:srgbClr val="0000FF"/>
                </a:solidFill>
                <a:ea typeface="楷体" pitchFamily="49" charset="-122"/>
                <a:cs typeface="Times New Roman" pitchFamily="18" charset="0"/>
              </a:rPr>
              <a:t>边的排序问题？</a:t>
            </a:r>
          </a:p>
        </p:txBody>
      </p:sp>
      <p:sp>
        <p:nvSpPr>
          <p:cNvPr id="49" name="TextBox 6">
            <a:extLst>
              <a:ext uri="{FF2B5EF4-FFF2-40B4-BE49-F238E27FC236}">
                <a16:creationId xmlns:a16="http://schemas.microsoft.com/office/drawing/2014/main" id="{E8453DA6-56DE-E41A-0DEB-4085AEA65404}"/>
              </a:ext>
            </a:extLst>
          </p:cNvPr>
          <p:cNvSpPr txBox="1"/>
          <p:nvPr/>
        </p:nvSpPr>
        <p:spPr>
          <a:xfrm>
            <a:off x="6059520" y="2850496"/>
            <a:ext cx="1571636" cy="400110"/>
          </a:xfrm>
          <a:prstGeom prst="rect">
            <a:avLst/>
          </a:prstGeom>
          <a:noFill/>
        </p:spPr>
        <p:txBody>
          <a:bodyPr wrap="square" rtlCol="0">
            <a:spAutoFit/>
          </a:bodyPr>
          <a:lstStyle/>
          <a:p>
            <a:r>
              <a:rPr lang="zh-CN" altLang="en-US" sz="2000">
                <a:solidFill>
                  <a:srgbClr val="FF00FF"/>
                </a:solidFill>
                <a:latin typeface="Consolas" pitchFamily="49" charset="0"/>
                <a:ea typeface="仿宋" pitchFamily="49" charset="-122"/>
                <a:cs typeface="Consolas" pitchFamily="49" charset="0"/>
              </a:rPr>
              <a:t>邻接矩阵</a:t>
            </a:r>
          </a:p>
        </p:txBody>
      </p:sp>
      <p:sp>
        <p:nvSpPr>
          <p:cNvPr id="50" name="TextBox 7">
            <a:extLst>
              <a:ext uri="{FF2B5EF4-FFF2-40B4-BE49-F238E27FC236}">
                <a16:creationId xmlns:a16="http://schemas.microsoft.com/office/drawing/2014/main" id="{7E7EB937-A48A-38FE-6398-82C9DBEFE0F0}"/>
              </a:ext>
            </a:extLst>
          </p:cNvPr>
          <p:cNvSpPr txBox="1"/>
          <p:nvPr/>
        </p:nvSpPr>
        <p:spPr>
          <a:xfrm>
            <a:off x="4345008" y="3495725"/>
            <a:ext cx="5351392" cy="400110"/>
          </a:xfrm>
          <a:prstGeom prst="rect">
            <a:avLst/>
          </a:prstGeom>
          <a:noFill/>
        </p:spPr>
        <p:txBody>
          <a:bodyPr wrap="square" rtlCol="0">
            <a:spAutoFit/>
          </a:bodyPr>
          <a:lstStyle/>
          <a:p>
            <a:r>
              <a:rPr lang="zh-CN" altLang="en-US" sz="2000" dirty="0">
                <a:solidFill>
                  <a:srgbClr val="FF00FF"/>
                </a:solidFill>
                <a:latin typeface="Consolas" pitchFamily="49" charset="0"/>
                <a:ea typeface="仿宋" pitchFamily="49" charset="-122"/>
                <a:cs typeface="Consolas" pitchFamily="49" charset="0"/>
              </a:rPr>
              <a:t>这里采用直接插入排序算法或者其他排序方法</a:t>
            </a:r>
          </a:p>
        </p:txBody>
      </p:sp>
      <p:sp>
        <p:nvSpPr>
          <p:cNvPr id="51" name="TextBox 8">
            <a:extLst>
              <a:ext uri="{FF2B5EF4-FFF2-40B4-BE49-F238E27FC236}">
                <a16:creationId xmlns:a16="http://schemas.microsoft.com/office/drawing/2014/main" id="{DCFCFCE7-1708-2D35-FE1A-21756AFDF9A7}"/>
              </a:ext>
            </a:extLst>
          </p:cNvPr>
          <p:cNvSpPr txBox="1"/>
          <p:nvPr/>
        </p:nvSpPr>
        <p:spPr>
          <a:xfrm>
            <a:off x="4273570" y="4820540"/>
            <a:ext cx="4286280" cy="400110"/>
          </a:xfrm>
          <a:prstGeom prst="rect">
            <a:avLst/>
          </a:prstGeom>
          <a:noFill/>
        </p:spPr>
        <p:txBody>
          <a:bodyPr wrap="square" rtlCol="0">
            <a:spAutoFit/>
          </a:bodyPr>
          <a:lstStyle/>
          <a:p>
            <a:pPr algn="l"/>
            <a:r>
              <a:rPr lang="zh-CN" altLang="en-US" sz="2000" dirty="0">
                <a:solidFill>
                  <a:srgbClr val="FF00FF"/>
                </a:solidFill>
                <a:latin typeface="Consolas" pitchFamily="49" charset="0"/>
                <a:ea typeface="仿宋" pitchFamily="49" charset="-122"/>
                <a:cs typeface="Consolas" pitchFamily="49" charset="0"/>
              </a:rPr>
              <a:t>采用连通分量编号或顶点集合编号</a:t>
            </a:r>
          </a:p>
        </p:txBody>
      </p:sp>
    </p:spTree>
    <p:extLst>
      <p:ext uri="{BB962C8B-B14F-4D97-AF65-F5344CB8AC3E}">
        <p14:creationId xmlns:p14="http://schemas.microsoft.com/office/powerpoint/2010/main" val="2847612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48" grpId="0" animBg="1"/>
      <p:bldP spid="49" grpId="0"/>
      <p:bldP spid="50" grpId="0"/>
      <p:bldP spid="51" grpId="0"/>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8DCA0D-100E-4B30-570D-8A13FA55DFD8}"/>
            </a:ext>
          </a:extLst>
        </p:cNvPr>
        <p:cNvGrpSpPr/>
        <p:nvPr/>
      </p:nvGrpSpPr>
      <p:grpSpPr>
        <a:xfrm>
          <a:off x="0" y="0"/>
          <a:ext cx="0" cy="0"/>
          <a:chOff x="0" y="0"/>
          <a:chExt cx="0" cy="0"/>
        </a:xfrm>
      </p:grpSpPr>
      <p:sp>
        <p:nvSpPr>
          <p:cNvPr id="2" name="Rectangle 2">
            <a:extLst>
              <a:ext uri="{FF2B5EF4-FFF2-40B4-BE49-F238E27FC236}">
                <a16:creationId xmlns:a16="http://schemas.microsoft.com/office/drawing/2014/main" id="{BCE82E18-5707-EEF1-F642-B66ED0C29003}"/>
              </a:ext>
            </a:extLst>
          </p:cNvPr>
          <p:cNvSpPr txBox="1">
            <a:spLocks noChangeArrowheads="1"/>
          </p:cNvSpPr>
          <p:nvPr/>
        </p:nvSpPr>
        <p:spPr>
          <a:xfrm>
            <a:off x="474772" y="1230902"/>
            <a:ext cx="6485324"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8.4.4 </a:t>
            </a:r>
            <a:r>
              <a:rPr kumimoji="1" lang="zh-CN" altLang="en-US" dirty="0">
                <a:latin typeface="微软雅黑" pitchFamily="34" charset="-122"/>
                <a:ea typeface="微软雅黑" pitchFamily="34" charset="-122"/>
              </a:rPr>
              <a:t>克鲁斯卡尔算法 </a:t>
            </a:r>
            <a:r>
              <a:rPr kumimoji="1" lang="en-US" altLang="zh-CN" dirty="0">
                <a:latin typeface="微软雅黑" pitchFamily="34" charset="-122"/>
                <a:ea typeface="微软雅黑" pitchFamily="34" charset="-122"/>
              </a:rPr>
              <a:t>(Kruskal)</a:t>
            </a:r>
            <a:r>
              <a:rPr kumimoji="1" lang="zh-CN" altLang="en-US" dirty="0">
                <a:latin typeface="微软雅黑" pitchFamily="34" charset="-122"/>
                <a:ea typeface="微软雅黑" pitchFamily="34" charset="-122"/>
              </a:rPr>
              <a:t>算法</a:t>
            </a:r>
          </a:p>
        </p:txBody>
      </p:sp>
      <p:cxnSp>
        <p:nvCxnSpPr>
          <p:cNvPr id="3" name="直接连接符 2">
            <a:extLst>
              <a:ext uri="{FF2B5EF4-FFF2-40B4-BE49-F238E27FC236}">
                <a16:creationId xmlns:a16="http://schemas.microsoft.com/office/drawing/2014/main" id="{7D050690-4404-D402-C89F-C604508CAC02}"/>
              </a:ext>
            </a:extLst>
          </p:cNvPr>
          <p:cNvCxnSpPr>
            <a:cxnSpLocks/>
          </p:cNvCxnSpPr>
          <p:nvPr/>
        </p:nvCxnSpPr>
        <p:spPr>
          <a:xfrm>
            <a:off x="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4" name="矩形 3">
            <a:extLst>
              <a:ext uri="{FF2B5EF4-FFF2-40B4-BE49-F238E27FC236}">
                <a16:creationId xmlns:a16="http://schemas.microsoft.com/office/drawing/2014/main" id="{277A6F96-3BDB-6E93-C92F-54EE4CFB7B46}"/>
              </a:ext>
            </a:extLst>
          </p:cNvPr>
          <p:cNvSpPr/>
          <p:nvPr/>
        </p:nvSpPr>
        <p:spPr>
          <a:xfrm>
            <a:off x="3394075" y="399838"/>
            <a:ext cx="4617860"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8.4 </a:t>
            </a:r>
            <a:r>
              <a:rPr lang="zh-CN" altLang="en-US" sz="3000" b="1" dirty="0">
                <a:latin typeface="黑体" pitchFamily="49" charset="-122"/>
                <a:ea typeface="黑体" pitchFamily="49" charset="-122"/>
                <a:cs typeface="经典粗黑简" pitchFamily="49" charset="-122"/>
              </a:rPr>
              <a:t>生成树和最小生成树</a:t>
            </a:r>
          </a:p>
        </p:txBody>
      </p:sp>
      <p:sp>
        <p:nvSpPr>
          <p:cNvPr id="6" name="Text Box 4">
            <a:extLst>
              <a:ext uri="{FF2B5EF4-FFF2-40B4-BE49-F238E27FC236}">
                <a16:creationId xmlns:a16="http://schemas.microsoft.com/office/drawing/2014/main" id="{50F52EB5-5559-CEAD-0828-0EDE06EB456E}"/>
              </a:ext>
            </a:extLst>
          </p:cNvPr>
          <p:cNvSpPr txBox="1">
            <a:spLocks noChangeArrowheads="1"/>
          </p:cNvSpPr>
          <p:nvPr/>
        </p:nvSpPr>
        <p:spPr bwMode="auto">
          <a:xfrm>
            <a:off x="1415480" y="1988840"/>
            <a:ext cx="5462596" cy="400110"/>
          </a:xfrm>
          <a:prstGeom prst="rect">
            <a:avLst/>
          </a:prstGeom>
          <a:solidFill>
            <a:srgbClr val="339933"/>
          </a:solidFill>
          <a:ln w="19050" algn="ctr">
            <a:noFill/>
            <a:miter lim="800000"/>
            <a:headEnd/>
            <a:tailEnd type="none" w="med" len="lg"/>
          </a:ln>
          <a:effectLst/>
        </p:spPr>
        <p:txBody>
          <a:bodyPr wrap="square">
            <a:spAutoFit/>
          </a:bodyPr>
          <a:lstStyle/>
          <a:p>
            <a:pPr>
              <a:spcBef>
                <a:spcPct val="50000"/>
              </a:spcBef>
            </a:pPr>
            <a:r>
              <a:rPr lang="en-US" altLang="zh-CN" sz="2000" dirty="0" err="1">
                <a:solidFill>
                  <a:schemeClr val="bg1"/>
                </a:solidFill>
                <a:latin typeface="Consolas" pitchFamily="49" charset="0"/>
                <a:ea typeface="华文中宋" pitchFamily="2" charset="-122"/>
                <a:cs typeface="Consolas" pitchFamily="49" charset="0"/>
              </a:rPr>
              <a:t>Kruskal</a:t>
            </a:r>
            <a:r>
              <a:rPr lang="zh-CN" altLang="en-US" sz="2000" dirty="0">
                <a:solidFill>
                  <a:schemeClr val="bg1"/>
                </a:solidFill>
                <a:latin typeface="Consolas" pitchFamily="49" charset="0"/>
                <a:ea typeface="华文中宋" pitchFamily="2" charset="-122"/>
                <a:cs typeface="Consolas" pitchFamily="49" charset="0"/>
              </a:rPr>
              <a:t>算法如何解决出现回路的问题演示</a:t>
            </a:r>
          </a:p>
        </p:txBody>
      </p:sp>
      <p:sp>
        <p:nvSpPr>
          <p:cNvPr id="7" name="Text Box 81">
            <a:extLst>
              <a:ext uri="{FF2B5EF4-FFF2-40B4-BE49-F238E27FC236}">
                <a16:creationId xmlns:a16="http://schemas.microsoft.com/office/drawing/2014/main" id="{5138A299-4C93-A7DD-6087-AF3EA98A5003}"/>
              </a:ext>
            </a:extLst>
          </p:cNvPr>
          <p:cNvSpPr txBox="1">
            <a:spLocks noChangeArrowheads="1"/>
          </p:cNvSpPr>
          <p:nvPr/>
        </p:nvSpPr>
        <p:spPr bwMode="auto">
          <a:xfrm>
            <a:off x="4487314" y="4092295"/>
            <a:ext cx="1368425" cy="400110"/>
          </a:xfrm>
          <a:prstGeom prst="rect">
            <a:avLst/>
          </a:prstGeom>
          <a:noFill/>
          <a:ln w="19050" algn="ctr">
            <a:noFill/>
            <a:miter lim="800000"/>
            <a:headEnd/>
            <a:tailEnd type="none" w="med" len="lg"/>
          </a:ln>
          <a:effectLst/>
        </p:spPr>
        <p:txBody>
          <a:bodyPr>
            <a:spAutoFit/>
          </a:bodyPr>
          <a:lstStyle/>
          <a:p>
            <a:pPr>
              <a:spcBef>
                <a:spcPct val="50000"/>
              </a:spcBef>
            </a:pPr>
            <a:r>
              <a:rPr lang="zh-CN" altLang="en-US" sz="2000" dirty="0">
                <a:latin typeface="Consolas" pitchFamily="49" charset="0"/>
                <a:ea typeface="楷体" pitchFamily="49" charset="-122"/>
                <a:cs typeface="Consolas" pitchFamily="49" charset="0"/>
              </a:rPr>
              <a:t>取</a:t>
            </a:r>
            <a:r>
              <a:rPr lang="en-US" altLang="zh-CN" sz="2000" dirty="0">
                <a:solidFill>
                  <a:srgbClr val="FF00FF"/>
                </a:solidFill>
                <a:latin typeface="Consolas" pitchFamily="49" charset="0"/>
                <a:ea typeface="楷体" pitchFamily="49" charset="-122"/>
                <a:cs typeface="Consolas" pitchFamily="49" charset="0"/>
              </a:rPr>
              <a:t>1</a:t>
            </a:r>
            <a:r>
              <a:rPr lang="zh-CN" altLang="en-US" sz="2000" dirty="0">
                <a:latin typeface="Consolas" pitchFamily="49" charset="0"/>
                <a:ea typeface="楷体" pitchFamily="49" charset="-122"/>
                <a:cs typeface="Consolas" pitchFamily="49" charset="0"/>
              </a:rPr>
              <a:t>号边</a:t>
            </a:r>
          </a:p>
        </p:txBody>
      </p:sp>
      <p:sp>
        <p:nvSpPr>
          <p:cNvPr id="8" name="Oval 6">
            <a:extLst>
              <a:ext uri="{FF2B5EF4-FFF2-40B4-BE49-F238E27FC236}">
                <a16:creationId xmlns:a16="http://schemas.microsoft.com/office/drawing/2014/main" id="{20895AC5-FAE8-AD2A-C1E6-6832E8FFC106}"/>
              </a:ext>
            </a:extLst>
          </p:cNvPr>
          <p:cNvSpPr>
            <a:spLocks noChangeArrowheads="1"/>
          </p:cNvSpPr>
          <p:nvPr/>
        </p:nvSpPr>
        <p:spPr bwMode="auto">
          <a:xfrm>
            <a:off x="2555315" y="3167329"/>
            <a:ext cx="360363" cy="431800"/>
          </a:xfrm>
          <a:prstGeom prst="ellipse">
            <a:avLst/>
          </a:prstGeom>
          <a:ln>
            <a:headEnd/>
            <a:tailEnd type="none" w="med" len="lg"/>
          </a:ln>
        </p:spPr>
        <p:style>
          <a:lnRef idx="1">
            <a:schemeClr val="accent2"/>
          </a:lnRef>
          <a:fillRef idx="2">
            <a:schemeClr val="accent2"/>
          </a:fillRef>
          <a:effectRef idx="1">
            <a:schemeClr val="accent2"/>
          </a:effectRef>
          <a:fontRef idx="minor">
            <a:schemeClr val="dk1"/>
          </a:fontRef>
        </p:style>
        <p:txBody>
          <a:bodyPr wrap="none" anchor="ctr"/>
          <a:lstStyle/>
          <a:p>
            <a:r>
              <a:rPr lang="en-US" altLang="zh-CN" sz="2000" dirty="0">
                <a:solidFill>
                  <a:srgbClr val="0000FF"/>
                </a:solidFill>
                <a:latin typeface="Consolas" pitchFamily="49" charset="0"/>
                <a:cs typeface="Consolas" pitchFamily="49" charset="0"/>
              </a:rPr>
              <a:t>0</a:t>
            </a:r>
          </a:p>
        </p:txBody>
      </p:sp>
      <p:sp>
        <p:nvSpPr>
          <p:cNvPr id="9" name="Oval 8">
            <a:extLst>
              <a:ext uri="{FF2B5EF4-FFF2-40B4-BE49-F238E27FC236}">
                <a16:creationId xmlns:a16="http://schemas.microsoft.com/office/drawing/2014/main" id="{0DB3AD7D-E56F-5B86-E64C-8A2AE1182672}"/>
              </a:ext>
            </a:extLst>
          </p:cNvPr>
          <p:cNvSpPr>
            <a:spLocks noChangeArrowheads="1"/>
          </p:cNvSpPr>
          <p:nvPr/>
        </p:nvSpPr>
        <p:spPr bwMode="auto">
          <a:xfrm>
            <a:off x="1701232" y="3985932"/>
            <a:ext cx="360362" cy="431800"/>
          </a:xfrm>
          <a:prstGeom prst="ellipse">
            <a:avLst/>
          </a:prstGeom>
          <a:ln>
            <a:headEnd/>
            <a:tailEnd type="none" w="med" len="lg"/>
          </a:ln>
        </p:spPr>
        <p:style>
          <a:lnRef idx="1">
            <a:schemeClr val="accent2"/>
          </a:lnRef>
          <a:fillRef idx="2">
            <a:schemeClr val="accent2"/>
          </a:fillRef>
          <a:effectRef idx="1">
            <a:schemeClr val="accent2"/>
          </a:effectRef>
          <a:fontRef idx="minor">
            <a:schemeClr val="dk1"/>
          </a:fontRef>
        </p:style>
        <p:txBody>
          <a:bodyPr wrap="none" anchor="ctr"/>
          <a:lstStyle/>
          <a:p>
            <a:r>
              <a:rPr lang="en-US" altLang="zh-CN" sz="2000" dirty="0">
                <a:solidFill>
                  <a:srgbClr val="0000FF"/>
                </a:solidFill>
                <a:latin typeface="Consolas" pitchFamily="49" charset="0"/>
                <a:cs typeface="Consolas" pitchFamily="49" charset="0"/>
              </a:rPr>
              <a:t>1</a:t>
            </a:r>
          </a:p>
        </p:txBody>
      </p:sp>
      <p:sp>
        <p:nvSpPr>
          <p:cNvPr id="10" name="Oval 9">
            <a:extLst>
              <a:ext uri="{FF2B5EF4-FFF2-40B4-BE49-F238E27FC236}">
                <a16:creationId xmlns:a16="http://schemas.microsoft.com/office/drawing/2014/main" id="{1B39C4D6-06C5-24E6-DA2F-9CA2C293CFB7}"/>
              </a:ext>
            </a:extLst>
          </p:cNvPr>
          <p:cNvSpPr>
            <a:spLocks noChangeArrowheads="1"/>
          </p:cNvSpPr>
          <p:nvPr/>
        </p:nvSpPr>
        <p:spPr bwMode="auto">
          <a:xfrm>
            <a:off x="2555315" y="4751654"/>
            <a:ext cx="360363" cy="431800"/>
          </a:xfrm>
          <a:prstGeom prst="ellipse">
            <a:avLst/>
          </a:prstGeom>
          <a:ln>
            <a:headEnd/>
            <a:tailEnd type="none" w="med" len="lg"/>
          </a:ln>
        </p:spPr>
        <p:style>
          <a:lnRef idx="1">
            <a:schemeClr val="accent2"/>
          </a:lnRef>
          <a:fillRef idx="2">
            <a:schemeClr val="accent2"/>
          </a:fillRef>
          <a:effectRef idx="1">
            <a:schemeClr val="accent2"/>
          </a:effectRef>
          <a:fontRef idx="minor">
            <a:schemeClr val="dk1"/>
          </a:fontRef>
        </p:style>
        <p:txBody>
          <a:bodyPr wrap="none" anchor="ctr"/>
          <a:lstStyle/>
          <a:p>
            <a:r>
              <a:rPr lang="en-US" altLang="zh-CN" sz="2000" dirty="0">
                <a:solidFill>
                  <a:srgbClr val="0000FF"/>
                </a:solidFill>
                <a:latin typeface="Consolas" pitchFamily="49" charset="0"/>
                <a:cs typeface="Consolas" pitchFamily="49" charset="0"/>
              </a:rPr>
              <a:t>2</a:t>
            </a:r>
          </a:p>
        </p:txBody>
      </p:sp>
      <p:sp>
        <p:nvSpPr>
          <p:cNvPr id="11" name="Oval 11">
            <a:extLst>
              <a:ext uri="{FF2B5EF4-FFF2-40B4-BE49-F238E27FC236}">
                <a16:creationId xmlns:a16="http://schemas.microsoft.com/office/drawing/2014/main" id="{8871348F-66F6-56F6-E07B-277679C36292}"/>
              </a:ext>
            </a:extLst>
          </p:cNvPr>
          <p:cNvSpPr>
            <a:spLocks noChangeArrowheads="1"/>
          </p:cNvSpPr>
          <p:nvPr/>
        </p:nvSpPr>
        <p:spPr bwMode="auto">
          <a:xfrm>
            <a:off x="3412572" y="3985932"/>
            <a:ext cx="360362" cy="431800"/>
          </a:xfrm>
          <a:prstGeom prst="ellipse">
            <a:avLst/>
          </a:prstGeom>
          <a:ln>
            <a:headEnd/>
            <a:tailEnd type="none" w="med" len="lg"/>
          </a:ln>
        </p:spPr>
        <p:style>
          <a:lnRef idx="1">
            <a:schemeClr val="accent2"/>
          </a:lnRef>
          <a:fillRef idx="2">
            <a:schemeClr val="accent2"/>
          </a:fillRef>
          <a:effectRef idx="1">
            <a:schemeClr val="accent2"/>
          </a:effectRef>
          <a:fontRef idx="minor">
            <a:schemeClr val="dk1"/>
          </a:fontRef>
        </p:style>
        <p:txBody>
          <a:bodyPr wrap="none" anchor="ctr"/>
          <a:lstStyle/>
          <a:p>
            <a:r>
              <a:rPr lang="en-US" altLang="zh-CN" sz="2000" dirty="0">
                <a:solidFill>
                  <a:srgbClr val="0000FF"/>
                </a:solidFill>
                <a:latin typeface="Consolas" pitchFamily="49" charset="0"/>
                <a:cs typeface="Consolas" pitchFamily="49" charset="0"/>
              </a:rPr>
              <a:t>3</a:t>
            </a:r>
          </a:p>
        </p:txBody>
      </p:sp>
      <p:sp>
        <p:nvSpPr>
          <p:cNvPr id="12" name="Freeform 14">
            <a:extLst>
              <a:ext uri="{FF2B5EF4-FFF2-40B4-BE49-F238E27FC236}">
                <a16:creationId xmlns:a16="http://schemas.microsoft.com/office/drawing/2014/main" id="{D46FD6E0-6EF0-CBB7-B6A1-6303C3761EAE}"/>
              </a:ext>
            </a:extLst>
          </p:cNvPr>
          <p:cNvSpPr>
            <a:spLocks/>
          </p:cNvSpPr>
          <p:nvPr/>
        </p:nvSpPr>
        <p:spPr bwMode="auto">
          <a:xfrm>
            <a:off x="1982218" y="3476338"/>
            <a:ext cx="588969" cy="543479"/>
          </a:xfrm>
          <a:custGeom>
            <a:avLst/>
            <a:gdLst/>
            <a:ahLst/>
            <a:cxnLst>
              <a:cxn ang="0">
                <a:pos x="249" y="0"/>
              </a:cxn>
              <a:cxn ang="0">
                <a:pos x="0" y="333"/>
              </a:cxn>
            </a:cxnLst>
            <a:rect l="0" t="0" r="r" b="b"/>
            <a:pathLst>
              <a:path w="249" h="333">
                <a:moveTo>
                  <a:pt x="249" y="0"/>
                </a:moveTo>
                <a:lnTo>
                  <a:pt x="0" y="333"/>
                </a:lnTo>
              </a:path>
            </a:pathLst>
          </a:custGeom>
          <a:noFill/>
          <a:ln w="19050" cap="flat" cmpd="sng">
            <a:solidFill>
              <a:srgbClr val="3333FF"/>
            </a:solidFill>
            <a:prstDash val="solid"/>
            <a:round/>
            <a:headEnd type="none" w="med" len="med"/>
            <a:tailEnd type="none" w="med" len="lg"/>
          </a:ln>
          <a:effectLst/>
        </p:spPr>
        <p:txBody>
          <a:bodyPr wrap="none"/>
          <a:lstStyle/>
          <a:p>
            <a:endParaRPr lang="zh-CN" altLang="en-US">
              <a:latin typeface="Consolas" pitchFamily="49" charset="0"/>
              <a:cs typeface="Consolas" pitchFamily="49" charset="0"/>
            </a:endParaRPr>
          </a:p>
        </p:txBody>
      </p:sp>
      <p:sp>
        <p:nvSpPr>
          <p:cNvPr id="13" name="Freeform 15">
            <a:extLst>
              <a:ext uri="{FF2B5EF4-FFF2-40B4-BE49-F238E27FC236}">
                <a16:creationId xmlns:a16="http://schemas.microsoft.com/office/drawing/2014/main" id="{8289AC6E-8F20-898E-B071-F3922F7305A1}"/>
              </a:ext>
            </a:extLst>
          </p:cNvPr>
          <p:cNvSpPr>
            <a:spLocks/>
          </p:cNvSpPr>
          <p:nvPr/>
        </p:nvSpPr>
        <p:spPr bwMode="auto">
          <a:xfrm>
            <a:off x="1996506" y="4405578"/>
            <a:ext cx="574681" cy="486819"/>
          </a:xfrm>
          <a:custGeom>
            <a:avLst/>
            <a:gdLst/>
            <a:ahLst/>
            <a:cxnLst>
              <a:cxn ang="0">
                <a:pos x="0" y="0"/>
              </a:cxn>
              <a:cxn ang="0">
                <a:pos x="247" y="264"/>
              </a:cxn>
            </a:cxnLst>
            <a:rect l="0" t="0" r="r" b="b"/>
            <a:pathLst>
              <a:path w="247" h="264">
                <a:moveTo>
                  <a:pt x="0" y="0"/>
                </a:moveTo>
                <a:lnTo>
                  <a:pt x="247" y="264"/>
                </a:lnTo>
              </a:path>
            </a:pathLst>
          </a:custGeom>
          <a:noFill/>
          <a:ln w="19050" cap="flat" cmpd="sng">
            <a:solidFill>
              <a:srgbClr val="3333FF"/>
            </a:solidFill>
            <a:prstDash val="solid"/>
            <a:round/>
            <a:headEnd type="none" w="med" len="med"/>
            <a:tailEnd type="none" w="med" len="lg"/>
          </a:ln>
          <a:effectLst/>
        </p:spPr>
        <p:txBody>
          <a:bodyPr wrap="none"/>
          <a:lstStyle/>
          <a:p>
            <a:endParaRPr lang="zh-CN" altLang="en-US">
              <a:latin typeface="Consolas" pitchFamily="49" charset="0"/>
              <a:cs typeface="Consolas" pitchFamily="49" charset="0"/>
            </a:endParaRPr>
          </a:p>
        </p:txBody>
      </p:sp>
      <p:sp>
        <p:nvSpPr>
          <p:cNvPr id="14" name="Freeform 17">
            <a:extLst>
              <a:ext uri="{FF2B5EF4-FFF2-40B4-BE49-F238E27FC236}">
                <a16:creationId xmlns:a16="http://schemas.microsoft.com/office/drawing/2014/main" id="{0A3A67A7-6072-9E53-0339-71E54666D2BB}"/>
              </a:ext>
            </a:extLst>
          </p:cNvPr>
          <p:cNvSpPr>
            <a:spLocks/>
          </p:cNvSpPr>
          <p:nvPr/>
        </p:nvSpPr>
        <p:spPr bwMode="auto">
          <a:xfrm>
            <a:off x="2890278" y="4346294"/>
            <a:ext cx="571504" cy="519113"/>
          </a:xfrm>
          <a:custGeom>
            <a:avLst/>
            <a:gdLst/>
            <a:ahLst/>
            <a:cxnLst>
              <a:cxn ang="0">
                <a:pos x="0" y="266"/>
              </a:cxn>
              <a:cxn ang="0">
                <a:pos x="225" y="0"/>
              </a:cxn>
            </a:cxnLst>
            <a:rect l="0" t="0" r="r" b="b"/>
            <a:pathLst>
              <a:path w="225" h="266">
                <a:moveTo>
                  <a:pt x="0" y="266"/>
                </a:moveTo>
                <a:lnTo>
                  <a:pt x="225" y="0"/>
                </a:lnTo>
              </a:path>
            </a:pathLst>
          </a:custGeom>
          <a:noFill/>
          <a:ln w="19050" cap="flat" cmpd="sng">
            <a:solidFill>
              <a:srgbClr val="3333FF"/>
            </a:solidFill>
            <a:prstDash val="solid"/>
            <a:round/>
            <a:headEnd type="none" w="med" len="med"/>
            <a:tailEnd type="none" w="med" len="lg"/>
          </a:ln>
          <a:effectLst/>
        </p:spPr>
        <p:txBody>
          <a:bodyPr wrap="none"/>
          <a:lstStyle/>
          <a:p>
            <a:endParaRPr lang="zh-CN" altLang="en-US">
              <a:latin typeface="Consolas" pitchFamily="49" charset="0"/>
              <a:cs typeface="Consolas" pitchFamily="49" charset="0"/>
            </a:endParaRPr>
          </a:p>
        </p:txBody>
      </p:sp>
      <p:sp>
        <p:nvSpPr>
          <p:cNvPr id="17" name="Text Box 71">
            <a:extLst>
              <a:ext uri="{FF2B5EF4-FFF2-40B4-BE49-F238E27FC236}">
                <a16:creationId xmlns:a16="http://schemas.microsoft.com/office/drawing/2014/main" id="{8B7D9E87-C66D-DC86-F550-CDEE767B2665}"/>
              </a:ext>
            </a:extLst>
          </p:cNvPr>
          <p:cNvSpPr txBox="1">
            <a:spLocks noChangeArrowheads="1"/>
          </p:cNvSpPr>
          <p:nvPr/>
        </p:nvSpPr>
        <p:spPr bwMode="auto">
          <a:xfrm>
            <a:off x="1985398" y="3417600"/>
            <a:ext cx="287338" cy="369332"/>
          </a:xfrm>
          <a:prstGeom prst="rect">
            <a:avLst/>
          </a:prstGeom>
          <a:noFill/>
          <a:ln w="19050" algn="ctr">
            <a:noFill/>
            <a:miter lim="800000"/>
            <a:headEnd/>
            <a:tailEnd type="none" w="med" len="lg"/>
          </a:ln>
          <a:effectLst/>
        </p:spPr>
        <p:txBody>
          <a:bodyPr>
            <a:spAutoFit/>
          </a:bodyPr>
          <a:lstStyle/>
          <a:p>
            <a:pPr>
              <a:spcBef>
                <a:spcPct val="50000"/>
              </a:spcBef>
            </a:pPr>
            <a:r>
              <a:rPr lang="en-US" altLang="zh-CN" sz="1800" dirty="0">
                <a:solidFill>
                  <a:srgbClr val="FF3300"/>
                </a:solidFill>
                <a:latin typeface="Consolas" pitchFamily="49" charset="0"/>
                <a:cs typeface="Consolas" pitchFamily="49" charset="0"/>
              </a:rPr>
              <a:t>1</a:t>
            </a:r>
          </a:p>
        </p:txBody>
      </p:sp>
      <p:sp>
        <p:nvSpPr>
          <p:cNvPr id="18" name="Text Box 75">
            <a:extLst>
              <a:ext uri="{FF2B5EF4-FFF2-40B4-BE49-F238E27FC236}">
                <a16:creationId xmlns:a16="http://schemas.microsoft.com/office/drawing/2014/main" id="{5A44E230-C411-901D-9A1A-445C87C21AA6}"/>
              </a:ext>
            </a:extLst>
          </p:cNvPr>
          <p:cNvSpPr txBox="1">
            <a:spLocks noChangeArrowheads="1"/>
          </p:cNvSpPr>
          <p:nvPr/>
        </p:nvSpPr>
        <p:spPr bwMode="auto">
          <a:xfrm>
            <a:off x="1847282" y="4548466"/>
            <a:ext cx="287337" cy="369332"/>
          </a:xfrm>
          <a:prstGeom prst="rect">
            <a:avLst/>
          </a:prstGeom>
          <a:noFill/>
          <a:ln w="19050" algn="ctr">
            <a:noFill/>
            <a:miter lim="800000"/>
            <a:headEnd/>
            <a:tailEnd type="none" w="med" len="lg"/>
          </a:ln>
          <a:effectLst/>
        </p:spPr>
        <p:txBody>
          <a:bodyPr>
            <a:spAutoFit/>
          </a:bodyPr>
          <a:lstStyle/>
          <a:p>
            <a:pPr>
              <a:spcBef>
                <a:spcPct val="50000"/>
              </a:spcBef>
            </a:pPr>
            <a:r>
              <a:rPr lang="en-US" altLang="zh-CN" sz="1800" dirty="0">
                <a:solidFill>
                  <a:srgbClr val="FF3300"/>
                </a:solidFill>
                <a:latin typeface="Consolas" pitchFamily="49" charset="0"/>
                <a:cs typeface="Consolas" pitchFamily="49" charset="0"/>
              </a:rPr>
              <a:t>2</a:t>
            </a:r>
          </a:p>
        </p:txBody>
      </p:sp>
      <p:sp>
        <p:nvSpPr>
          <p:cNvPr id="19" name="Text Box 77">
            <a:extLst>
              <a:ext uri="{FF2B5EF4-FFF2-40B4-BE49-F238E27FC236}">
                <a16:creationId xmlns:a16="http://schemas.microsoft.com/office/drawing/2014/main" id="{E0D80552-1B19-1133-5B17-9A1B5681E8E7}"/>
              </a:ext>
            </a:extLst>
          </p:cNvPr>
          <p:cNvSpPr txBox="1">
            <a:spLocks noChangeArrowheads="1"/>
          </p:cNvSpPr>
          <p:nvPr/>
        </p:nvSpPr>
        <p:spPr bwMode="auto">
          <a:xfrm>
            <a:off x="2415612" y="3989104"/>
            <a:ext cx="287338" cy="369332"/>
          </a:xfrm>
          <a:prstGeom prst="rect">
            <a:avLst/>
          </a:prstGeom>
          <a:noFill/>
          <a:ln w="19050" algn="ctr">
            <a:noFill/>
            <a:miter lim="800000"/>
            <a:headEnd/>
            <a:tailEnd type="none" w="med" len="lg"/>
          </a:ln>
          <a:effectLst/>
        </p:spPr>
        <p:txBody>
          <a:bodyPr>
            <a:spAutoFit/>
          </a:bodyPr>
          <a:lstStyle/>
          <a:p>
            <a:pPr>
              <a:spcBef>
                <a:spcPct val="50000"/>
              </a:spcBef>
            </a:pPr>
            <a:r>
              <a:rPr lang="en-US" altLang="zh-CN" sz="1800" dirty="0">
                <a:solidFill>
                  <a:srgbClr val="FF3300"/>
                </a:solidFill>
                <a:latin typeface="Consolas" pitchFamily="49" charset="0"/>
                <a:cs typeface="Consolas" pitchFamily="49" charset="0"/>
              </a:rPr>
              <a:t>3</a:t>
            </a:r>
          </a:p>
        </p:txBody>
      </p:sp>
      <p:sp>
        <p:nvSpPr>
          <p:cNvPr id="20" name="Text Box 79">
            <a:extLst>
              <a:ext uri="{FF2B5EF4-FFF2-40B4-BE49-F238E27FC236}">
                <a16:creationId xmlns:a16="http://schemas.microsoft.com/office/drawing/2014/main" id="{4F0D4511-2967-E723-8979-952906530F9E}"/>
              </a:ext>
            </a:extLst>
          </p:cNvPr>
          <p:cNvSpPr txBox="1">
            <a:spLocks noChangeArrowheads="1"/>
          </p:cNvSpPr>
          <p:nvPr/>
        </p:nvSpPr>
        <p:spPr bwMode="auto">
          <a:xfrm>
            <a:off x="2972830" y="4262714"/>
            <a:ext cx="287338" cy="369332"/>
          </a:xfrm>
          <a:prstGeom prst="rect">
            <a:avLst/>
          </a:prstGeom>
          <a:noFill/>
          <a:ln w="19050" algn="ctr">
            <a:noFill/>
            <a:miter lim="800000"/>
            <a:headEnd/>
            <a:tailEnd type="none" w="med" len="lg"/>
          </a:ln>
          <a:effectLst/>
        </p:spPr>
        <p:txBody>
          <a:bodyPr>
            <a:spAutoFit/>
          </a:bodyPr>
          <a:lstStyle/>
          <a:p>
            <a:pPr>
              <a:spcBef>
                <a:spcPct val="50000"/>
              </a:spcBef>
            </a:pPr>
            <a:r>
              <a:rPr lang="en-US" altLang="zh-CN" sz="1800" dirty="0">
                <a:solidFill>
                  <a:srgbClr val="FF3300"/>
                </a:solidFill>
                <a:latin typeface="Consolas" pitchFamily="49" charset="0"/>
                <a:cs typeface="Consolas" pitchFamily="49" charset="0"/>
              </a:rPr>
              <a:t>5</a:t>
            </a:r>
          </a:p>
        </p:txBody>
      </p:sp>
      <p:sp>
        <p:nvSpPr>
          <p:cNvPr id="21" name="Text Box 81">
            <a:extLst>
              <a:ext uri="{FF2B5EF4-FFF2-40B4-BE49-F238E27FC236}">
                <a16:creationId xmlns:a16="http://schemas.microsoft.com/office/drawing/2014/main" id="{78A4CDEB-58F9-A762-863C-52AA67D07C4B}"/>
              </a:ext>
            </a:extLst>
          </p:cNvPr>
          <p:cNvSpPr txBox="1">
            <a:spLocks noChangeArrowheads="1"/>
          </p:cNvSpPr>
          <p:nvPr/>
        </p:nvSpPr>
        <p:spPr bwMode="auto">
          <a:xfrm>
            <a:off x="4487314" y="4092295"/>
            <a:ext cx="1368425" cy="400110"/>
          </a:xfrm>
          <a:prstGeom prst="rect">
            <a:avLst/>
          </a:prstGeom>
          <a:solidFill>
            <a:schemeClr val="bg1"/>
          </a:solidFill>
          <a:ln w="19050" algn="ctr">
            <a:noFill/>
            <a:miter lim="800000"/>
            <a:headEnd/>
            <a:tailEnd type="none" w="med" len="lg"/>
          </a:ln>
          <a:effectLst/>
        </p:spPr>
        <p:txBody>
          <a:bodyPr>
            <a:spAutoFit/>
          </a:bodyPr>
          <a:lstStyle/>
          <a:p>
            <a:pPr>
              <a:spcBef>
                <a:spcPct val="50000"/>
              </a:spcBef>
            </a:pPr>
            <a:r>
              <a:rPr lang="zh-CN" altLang="en-US" sz="2000" dirty="0">
                <a:latin typeface="Consolas" pitchFamily="49" charset="0"/>
                <a:ea typeface="楷体" pitchFamily="49" charset="-122"/>
                <a:cs typeface="Consolas" pitchFamily="49" charset="0"/>
              </a:rPr>
              <a:t>取</a:t>
            </a:r>
            <a:r>
              <a:rPr lang="en-US" altLang="zh-CN" sz="2000" dirty="0">
                <a:solidFill>
                  <a:srgbClr val="FF00FF"/>
                </a:solidFill>
                <a:latin typeface="Consolas" pitchFamily="49" charset="0"/>
                <a:ea typeface="楷体" pitchFamily="49" charset="-122"/>
                <a:cs typeface="Consolas" pitchFamily="49" charset="0"/>
              </a:rPr>
              <a:t>2</a:t>
            </a:r>
            <a:r>
              <a:rPr lang="zh-CN" altLang="en-US" sz="2000" dirty="0">
                <a:latin typeface="Consolas" pitchFamily="49" charset="0"/>
                <a:ea typeface="楷体" pitchFamily="49" charset="-122"/>
                <a:cs typeface="Consolas" pitchFamily="49" charset="0"/>
              </a:rPr>
              <a:t>号边</a:t>
            </a:r>
          </a:p>
        </p:txBody>
      </p:sp>
      <p:sp>
        <p:nvSpPr>
          <p:cNvPr id="22" name="TextBox 103">
            <a:extLst>
              <a:ext uri="{FF2B5EF4-FFF2-40B4-BE49-F238E27FC236}">
                <a16:creationId xmlns:a16="http://schemas.microsoft.com/office/drawing/2014/main" id="{6012DBA4-27F0-E62E-14B0-B86BE08C9AC9}"/>
              </a:ext>
            </a:extLst>
          </p:cNvPr>
          <p:cNvSpPr txBox="1"/>
          <p:nvPr/>
        </p:nvSpPr>
        <p:spPr>
          <a:xfrm>
            <a:off x="4701628" y="3588994"/>
            <a:ext cx="857256" cy="400110"/>
          </a:xfrm>
          <a:prstGeom prst="rect">
            <a:avLst/>
          </a:prstGeom>
          <a:noFill/>
        </p:spPr>
        <p:txBody>
          <a:bodyPr wrap="square" rtlCol="0">
            <a:spAutoFit/>
          </a:bodyPr>
          <a:lstStyle/>
          <a:p>
            <a:r>
              <a:rPr lang="zh-CN" altLang="en-US" sz="2000" dirty="0">
                <a:latin typeface="Consolas" pitchFamily="49" charset="0"/>
                <a:ea typeface="楷体" pitchFamily="49" charset="-122"/>
                <a:cs typeface="Consolas" pitchFamily="49" charset="0"/>
              </a:rPr>
              <a:t>操作</a:t>
            </a:r>
          </a:p>
        </p:txBody>
      </p:sp>
      <p:sp>
        <p:nvSpPr>
          <p:cNvPr id="23" name="TextBox 111">
            <a:extLst>
              <a:ext uri="{FF2B5EF4-FFF2-40B4-BE49-F238E27FC236}">
                <a16:creationId xmlns:a16="http://schemas.microsoft.com/office/drawing/2014/main" id="{A161CBA0-883E-BFCA-3505-7A67DB4406BA}"/>
              </a:ext>
            </a:extLst>
          </p:cNvPr>
          <p:cNvSpPr txBox="1"/>
          <p:nvPr/>
        </p:nvSpPr>
        <p:spPr>
          <a:xfrm>
            <a:off x="6344702" y="4140733"/>
            <a:ext cx="357190" cy="307777"/>
          </a:xfrm>
          <a:prstGeom prst="rect">
            <a:avLst/>
          </a:prstGeom>
          <a:solidFill>
            <a:schemeClr val="bg1"/>
          </a:solidFill>
        </p:spPr>
        <p:txBody>
          <a:bodyPr wrap="square" lIns="0" tIns="0" rIns="0" bIns="0" rtlCol="0">
            <a:spAutoFit/>
          </a:bodyPr>
          <a:lstStyle/>
          <a:p>
            <a:r>
              <a:rPr lang="en-US" altLang="zh-CN" sz="2000" dirty="0">
                <a:solidFill>
                  <a:srgbClr val="C00000"/>
                </a:solidFill>
                <a:latin typeface="Consolas" pitchFamily="49" charset="0"/>
                <a:cs typeface="Consolas" pitchFamily="49" charset="0"/>
              </a:rPr>
              <a:t>1</a:t>
            </a:r>
            <a:endParaRPr lang="zh-CN" altLang="en-US" sz="2000" dirty="0">
              <a:solidFill>
                <a:srgbClr val="C00000"/>
              </a:solidFill>
              <a:latin typeface="Consolas" pitchFamily="49" charset="0"/>
              <a:cs typeface="Consolas" pitchFamily="49" charset="0"/>
            </a:endParaRPr>
          </a:p>
        </p:txBody>
      </p:sp>
      <p:sp>
        <p:nvSpPr>
          <p:cNvPr id="24" name="TextBox 113">
            <a:extLst>
              <a:ext uri="{FF2B5EF4-FFF2-40B4-BE49-F238E27FC236}">
                <a16:creationId xmlns:a16="http://schemas.microsoft.com/office/drawing/2014/main" id="{9552D02F-2D9E-04ED-C828-F7368086BACF}"/>
              </a:ext>
            </a:extLst>
          </p:cNvPr>
          <p:cNvSpPr txBox="1"/>
          <p:nvPr/>
        </p:nvSpPr>
        <p:spPr>
          <a:xfrm>
            <a:off x="8773594" y="4060542"/>
            <a:ext cx="357190" cy="276999"/>
          </a:xfrm>
          <a:prstGeom prst="rect">
            <a:avLst/>
          </a:prstGeom>
          <a:solidFill>
            <a:schemeClr val="bg1"/>
          </a:solidFill>
        </p:spPr>
        <p:txBody>
          <a:bodyPr wrap="square" lIns="0" tIns="0" rIns="0" bIns="0" rtlCol="0">
            <a:spAutoFit/>
          </a:bodyPr>
          <a:lstStyle/>
          <a:p>
            <a:r>
              <a:rPr lang="en-US" altLang="zh-CN" sz="1800" dirty="0">
                <a:solidFill>
                  <a:srgbClr val="C00000"/>
                </a:solidFill>
                <a:latin typeface="Consolas" pitchFamily="49" charset="0"/>
                <a:cs typeface="Consolas" pitchFamily="49" charset="0"/>
              </a:rPr>
              <a:t>3</a:t>
            </a:r>
            <a:endParaRPr lang="zh-CN" altLang="en-US" sz="1800" dirty="0">
              <a:solidFill>
                <a:srgbClr val="C00000"/>
              </a:solidFill>
              <a:latin typeface="Consolas" pitchFamily="49" charset="0"/>
              <a:cs typeface="Consolas" pitchFamily="49" charset="0"/>
            </a:endParaRPr>
          </a:p>
        </p:txBody>
      </p:sp>
      <p:sp>
        <p:nvSpPr>
          <p:cNvPr id="25" name="TextBox 116">
            <a:extLst>
              <a:ext uri="{FF2B5EF4-FFF2-40B4-BE49-F238E27FC236}">
                <a16:creationId xmlns:a16="http://schemas.microsoft.com/office/drawing/2014/main" id="{2641404A-415B-4E64-33EC-0B8AC287D435}"/>
              </a:ext>
            </a:extLst>
          </p:cNvPr>
          <p:cNvSpPr txBox="1"/>
          <p:nvPr/>
        </p:nvSpPr>
        <p:spPr>
          <a:xfrm>
            <a:off x="7546448" y="2904834"/>
            <a:ext cx="357190" cy="276999"/>
          </a:xfrm>
          <a:prstGeom prst="rect">
            <a:avLst/>
          </a:prstGeom>
          <a:solidFill>
            <a:schemeClr val="bg1"/>
          </a:solidFill>
        </p:spPr>
        <p:txBody>
          <a:bodyPr wrap="square" lIns="0" tIns="0" rIns="0" bIns="0" rtlCol="0">
            <a:spAutoFit/>
          </a:bodyPr>
          <a:lstStyle/>
          <a:p>
            <a:r>
              <a:rPr lang="en-US" altLang="zh-CN" sz="1800" dirty="0">
                <a:solidFill>
                  <a:srgbClr val="C00000"/>
                </a:solidFill>
                <a:latin typeface="Consolas" pitchFamily="49" charset="0"/>
                <a:cs typeface="Consolas" pitchFamily="49" charset="0"/>
              </a:rPr>
              <a:t>0</a:t>
            </a:r>
            <a:endParaRPr lang="zh-CN" altLang="en-US" sz="1800" dirty="0">
              <a:solidFill>
                <a:srgbClr val="C00000"/>
              </a:solidFill>
              <a:latin typeface="Consolas" pitchFamily="49" charset="0"/>
              <a:cs typeface="Consolas" pitchFamily="49" charset="0"/>
            </a:endParaRPr>
          </a:p>
        </p:txBody>
      </p:sp>
      <p:cxnSp>
        <p:nvCxnSpPr>
          <p:cNvPr id="26" name="直接连接符 25">
            <a:extLst>
              <a:ext uri="{FF2B5EF4-FFF2-40B4-BE49-F238E27FC236}">
                <a16:creationId xmlns:a16="http://schemas.microsoft.com/office/drawing/2014/main" id="{1ECABB69-F2B6-8FFB-CEE7-CF948112E4B2}"/>
              </a:ext>
            </a:extLst>
          </p:cNvPr>
          <p:cNvCxnSpPr>
            <a:stCxn id="8" idx="4"/>
            <a:endCxn id="10" idx="0"/>
          </p:cNvCxnSpPr>
          <p:nvPr/>
        </p:nvCxnSpPr>
        <p:spPr>
          <a:xfrm rot="5400000">
            <a:off x="2159235" y="4175391"/>
            <a:ext cx="1152525" cy="1588"/>
          </a:xfrm>
          <a:prstGeom prst="line">
            <a:avLst/>
          </a:prstGeom>
          <a:ln w="28575">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27" name="直接连接符 26">
            <a:extLst>
              <a:ext uri="{FF2B5EF4-FFF2-40B4-BE49-F238E27FC236}">
                <a16:creationId xmlns:a16="http://schemas.microsoft.com/office/drawing/2014/main" id="{10EC9255-5A5F-AE0C-D753-F8B4729637F5}"/>
              </a:ext>
            </a:extLst>
          </p:cNvPr>
          <p:cNvCxnSpPr>
            <a:endCxn id="11" idx="1"/>
          </p:cNvCxnSpPr>
          <p:nvPr/>
        </p:nvCxnSpPr>
        <p:spPr>
          <a:xfrm rot="16200000" flipH="1">
            <a:off x="2895643" y="3479464"/>
            <a:ext cx="602439" cy="536968"/>
          </a:xfrm>
          <a:prstGeom prst="line">
            <a:avLst/>
          </a:prstGeom>
          <a:ln w="28575">
            <a:solidFill>
              <a:srgbClr val="0000FF"/>
            </a:solidFill>
          </a:ln>
        </p:spPr>
        <p:style>
          <a:lnRef idx="1">
            <a:schemeClr val="accent1"/>
          </a:lnRef>
          <a:fillRef idx="0">
            <a:schemeClr val="accent1"/>
          </a:fillRef>
          <a:effectRef idx="0">
            <a:schemeClr val="accent1"/>
          </a:effectRef>
          <a:fontRef idx="minor">
            <a:schemeClr val="tx1"/>
          </a:fontRef>
        </p:style>
      </p:cxnSp>
      <p:sp>
        <p:nvSpPr>
          <p:cNvPr id="28" name="Text Box 79">
            <a:extLst>
              <a:ext uri="{FF2B5EF4-FFF2-40B4-BE49-F238E27FC236}">
                <a16:creationId xmlns:a16="http://schemas.microsoft.com/office/drawing/2014/main" id="{E90D67F3-15D4-2636-55CD-2440E641A308}"/>
              </a:ext>
            </a:extLst>
          </p:cNvPr>
          <p:cNvSpPr txBox="1">
            <a:spLocks noChangeArrowheads="1"/>
          </p:cNvSpPr>
          <p:nvPr/>
        </p:nvSpPr>
        <p:spPr bwMode="auto">
          <a:xfrm>
            <a:off x="3199844" y="3417600"/>
            <a:ext cx="287338" cy="369332"/>
          </a:xfrm>
          <a:prstGeom prst="rect">
            <a:avLst/>
          </a:prstGeom>
          <a:noFill/>
          <a:ln w="19050" algn="ctr">
            <a:noFill/>
            <a:miter lim="800000"/>
            <a:headEnd/>
            <a:tailEnd type="none" w="med" len="lg"/>
          </a:ln>
          <a:effectLst/>
        </p:spPr>
        <p:txBody>
          <a:bodyPr>
            <a:spAutoFit/>
          </a:bodyPr>
          <a:lstStyle/>
          <a:p>
            <a:pPr>
              <a:spcBef>
                <a:spcPct val="50000"/>
              </a:spcBef>
            </a:pPr>
            <a:r>
              <a:rPr lang="en-US" altLang="zh-CN" sz="1800" dirty="0">
                <a:solidFill>
                  <a:srgbClr val="FF3300"/>
                </a:solidFill>
                <a:latin typeface="Consolas" pitchFamily="49" charset="0"/>
                <a:cs typeface="Consolas" pitchFamily="49" charset="0"/>
              </a:rPr>
              <a:t>4</a:t>
            </a:r>
          </a:p>
        </p:txBody>
      </p:sp>
      <p:sp>
        <p:nvSpPr>
          <p:cNvPr id="29" name="Oval 6">
            <a:extLst>
              <a:ext uri="{FF2B5EF4-FFF2-40B4-BE49-F238E27FC236}">
                <a16:creationId xmlns:a16="http://schemas.microsoft.com/office/drawing/2014/main" id="{428117E6-DE0C-9731-032E-5B1C8E125A62}"/>
              </a:ext>
            </a:extLst>
          </p:cNvPr>
          <p:cNvSpPr>
            <a:spLocks noChangeArrowheads="1"/>
          </p:cNvSpPr>
          <p:nvPr/>
        </p:nvSpPr>
        <p:spPr bwMode="auto">
          <a:xfrm>
            <a:off x="7555975" y="3203286"/>
            <a:ext cx="360363" cy="431800"/>
          </a:xfrm>
          <a:prstGeom prst="ellipse">
            <a:avLst/>
          </a:prstGeom>
          <a:ln>
            <a:headEnd/>
            <a:tailEnd type="none" w="med" len="lg"/>
          </a:ln>
        </p:spPr>
        <p:style>
          <a:lnRef idx="1">
            <a:schemeClr val="accent2"/>
          </a:lnRef>
          <a:fillRef idx="2">
            <a:schemeClr val="accent2"/>
          </a:fillRef>
          <a:effectRef idx="1">
            <a:schemeClr val="accent2"/>
          </a:effectRef>
          <a:fontRef idx="minor">
            <a:schemeClr val="dk1"/>
          </a:fontRef>
        </p:style>
        <p:txBody>
          <a:bodyPr wrap="none" anchor="ctr"/>
          <a:lstStyle/>
          <a:p>
            <a:r>
              <a:rPr lang="en-US" altLang="zh-CN" sz="2000" dirty="0">
                <a:solidFill>
                  <a:srgbClr val="0000FF"/>
                </a:solidFill>
                <a:latin typeface="Consolas" pitchFamily="49" charset="0"/>
                <a:cs typeface="Consolas" pitchFamily="49" charset="0"/>
              </a:rPr>
              <a:t>0</a:t>
            </a:r>
          </a:p>
        </p:txBody>
      </p:sp>
      <p:sp>
        <p:nvSpPr>
          <p:cNvPr id="30" name="Oval 8">
            <a:extLst>
              <a:ext uri="{FF2B5EF4-FFF2-40B4-BE49-F238E27FC236}">
                <a16:creationId xmlns:a16="http://schemas.microsoft.com/office/drawing/2014/main" id="{A3829EF6-4B50-7750-FFE5-8E776EAF88C8}"/>
              </a:ext>
            </a:extLst>
          </p:cNvPr>
          <p:cNvSpPr>
            <a:spLocks noChangeArrowheads="1"/>
          </p:cNvSpPr>
          <p:nvPr/>
        </p:nvSpPr>
        <p:spPr bwMode="auto">
          <a:xfrm>
            <a:off x="6701892" y="4021889"/>
            <a:ext cx="360362" cy="431800"/>
          </a:xfrm>
          <a:prstGeom prst="ellipse">
            <a:avLst/>
          </a:prstGeom>
          <a:ln>
            <a:headEnd/>
            <a:tailEnd type="none" w="med" len="lg"/>
          </a:ln>
        </p:spPr>
        <p:style>
          <a:lnRef idx="1">
            <a:schemeClr val="accent2"/>
          </a:lnRef>
          <a:fillRef idx="2">
            <a:schemeClr val="accent2"/>
          </a:fillRef>
          <a:effectRef idx="1">
            <a:schemeClr val="accent2"/>
          </a:effectRef>
          <a:fontRef idx="minor">
            <a:schemeClr val="dk1"/>
          </a:fontRef>
        </p:style>
        <p:txBody>
          <a:bodyPr wrap="none" anchor="ctr"/>
          <a:lstStyle/>
          <a:p>
            <a:r>
              <a:rPr lang="en-US" altLang="zh-CN" sz="2000" dirty="0">
                <a:solidFill>
                  <a:srgbClr val="0000FF"/>
                </a:solidFill>
                <a:latin typeface="Consolas" pitchFamily="49" charset="0"/>
                <a:cs typeface="Consolas" pitchFamily="49" charset="0"/>
              </a:rPr>
              <a:t>1</a:t>
            </a:r>
          </a:p>
        </p:txBody>
      </p:sp>
      <p:sp>
        <p:nvSpPr>
          <p:cNvPr id="31" name="Oval 9">
            <a:extLst>
              <a:ext uri="{FF2B5EF4-FFF2-40B4-BE49-F238E27FC236}">
                <a16:creationId xmlns:a16="http://schemas.microsoft.com/office/drawing/2014/main" id="{FB17DDDE-D28B-D7D5-F002-487F2E97CFEA}"/>
              </a:ext>
            </a:extLst>
          </p:cNvPr>
          <p:cNvSpPr>
            <a:spLocks noChangeArrowheads="1"/>
          </p:cNvSpPr>
          <p:nvPr/>
        </p:nvSpPr>
        <p:spPr bwMode="auto">
          <a:xfrm>
            <a:off x="7555975" y="4787611"/>
            <a:ext cx="360363" cy="431800"/>
          </a:xfrm>
          <a:prstGeom prst="ellipse">
            <a:avLst/>
          </a:prstGeom>
          <a:ln>
            <a:headEnd/>
            <a:tailEnd type="none" w="med" len="lg"/>
          </a:ln>
        </p:spPr>
        <p:style>
          <a:lnRef idx="1">
            <a:schemeClr val="accent2"/>
          </a:lnRef>
          <a:fillRef idx="2">
            <a:schemeClr val="accent2"/>
          </a:fillRef>
          <a:effectRef idx="1">
            <a:schemeClr val="accent2"/>
          </a:effectRef>
          <a:fontRef idx="minor">
            <a:schemeClr val="dk1"/>
          </a:fontRef>
        </p:style>
        <p:txBody>
          <a:bodyPr wrap="none" anchor="ctr"/>
          <a:lstStyle/>
          <a:p>
            <a:r>
              <a:rPr lang="en-US" altLang="zh-CN" sz="2000" dirty="0">
                <a:solidFill>
                  <a:srgbClr val="0000FF"/>
                </a:solidFill>
                <a:latin typeface="Consolas" pitchFamily="49" charset="0"/>
                <a:cs typeface="Consolas" pitchFamily="49" charset="0"/>
              </a:rPr>
              <a:t>2</a:t>
            </a:r>
          </a:p>
        </p:txBody>
      </p:sp>
      <p:sp>
        <p:nvSpPr>
          <p:cNvPr id="32" name="Oval 11">
            <a:extLst>
              <a:ext uri="{FF2B5EF4-FFF2-40B4-BE49-F238E27FC236}">
                <a16:creationId xmlns:a16="http://schemas.microsoft.com/office/drawing/2014/main" id="{113E8C5A-E695-EDC6-E2CA-FE1AC9A91338}"/>
              </a:ext>
            </a:extLst>
          </p:cNvPr>
          <p:cNvSpPr>
            <a:spLocks noChangeArrowheads="1"/>
          </p:cNvSpPr>
          <p:nvPr/>
        </p:nvSpPr>
        <p:spPr bwMode="auto">
          <a:xfrm>
            <a:off x="8413232" y="4021889"/>
            <a:ext cx="360362" cy="431800"/>
          </a:xfrm>
          <a:prstGeom prst="ellipse">
            <a:avLst/>
          </a:prstGeom>
          <a:ln>
            <a:headEnd/>
            <a:tailEnd type="none" w="med" len="lg"/>
          </a:ln>
        </p:spPr>
        <p:style>
          <a:lnRef idx="1">
            <a:schemeClr val="accent2"/>
          </a:lnRef>
          <a:fillRef idx="2">
            <a:schemeClr val="accent2"/>
          </a:fillRef>
          <a:effectRef idx="1">
            <a:schemeClr val="accent2"/>
          </a:effectRef>
          <a:fontRef idx="minor">
            <a:schemeClr val="dk1"/>
          </a:fontRef>
        </p:style>
        <p:txBody>
          <a:bodyPr wrap="none" anchor="ctr"/>
          <a:lstStyle/>
          <a:p>
            <a:r>
              <a:rPr lang="en-US" altLang="zh-CN" sz="2000" dirty="0">
                <a:solidFill>
                  <a:srgbClr val="0000FF"/>
                </a:solidFill>
                <a:latin typeface="Consolas" pitchFamily="49" charset="0"/>
                <a:cs typeface="Consolas" pitchFamily="49" charset="0"/>
              </a:rPr>
              <a:t>3</a:t>
            </a:r>
          </a:p>
        </p:txBody>
      </p:sp>
      <p:sp>
        <p:nvSpPr>
          <p:cNvPr id="33" name="Freeform 14">
            <a:extLst>
              <a:ext uri="{FF2B5EF4-FFF2-40B4-BE49-F238E27FC236}">
                <a16:creationId xmlns:a16="http://schemas.microsoft.com/office/drawing/2014/main" id="{D2409557-634A-B600-4A22-F588FC7937C0}"/>
              </a:ext>
            </a:extLst>
          </p:cNvPr>
          <p:cNvSpPr>
            <a:spLocks/>
          </p:cNvSpPr>
          <p:nvPr/>
        </p:nvSpPr>
        <p:spPr bwMode="auto">
          <a:xfrm>
            <a:off x="6982878" y="3512295"/>
            <a:ext cx="588969" cy="543479"/>
          </a:xfrm>
          <a:custGeom>
            <a:avLst/>
            <a:gdLst/>
            <a:ahLst/>
            <a:cxnLst>
              <a:cxn ang="0">
                <a:pos x="249" y="0"/>
              </a:cxn>
              <a:cxn ang="0">
                <a:pos x="0" y="333"/>
              </a:cxn>
            </a:cxnLst>
            <a:rect l="0" t="0" r="r" b="b"/>
            <a:pathLst>
              <a:path w="249" h="333">
                <a:moveTo>
                  <a:pt x="249" y="0"/>
                </a:moveTo>
                <a:lnTo>
                  <a:pt x="0" y="333"/>
                </a:lnTo>
              </a:path>
            </a:pathLst>
          </a:custGeom>
          <a:noFill/>
          <a:ln w="19050" cap="flat" cmpd="sng">
            <a:solidFill>
              <a:srgbClr val="3333FF"/>
            </a:solidFill>
            <a:prstDash val="solid"/>
            <a:round/>
            <a:headEnd type="none" w="med" len="med"/>
            <a:tailEnd type="none" w="med" len="lg"/>
          </a:ln>
          <a:effectLst/>
        </p:spPr>
        <p:txBody>
          <a:bodyPr wrap="none"/>
          <a:lstStyle/>
          <a:p>
            <a:endParaRPr lang="zh-CN" altLang="en-US">
              <a:latin typeface="Consolas" pitchFamily="49" charset="0"/>
              <a:cs typeface="Consolas" pitchFamily="49" charset="0"/>
            </a:endParaRPr>
          </a:p>
        </p:txBody>
      </p:sp>
      <p:sp>
        <p:nvSpPr>
          <p:cNvPr id="34" name="Freeform 15">
            <a:extLst>
              <a:ext uri="{FF2B5EF4-FFF2-40B4-BE49-F238E27FC236}">
                <a16:creationId xmlns:a16="http://schemas.microsoft.com/office/drawing/2014/main" id="{990BF61F-4198-3A6B-E3EE-9B9603E96A24}"/>
              </a:ext>
            </a:extLst>
          </p:cNvPr>
          <p:cNvSpPr>
            <a:spLocks/>
          </p:cNvSpPr>
          <p:nvPr/>
        </p:nvSpPr>
        <p:spPr bwMode="auto">
          <a:xfrm>
            <a:off x="6997166" y="4441535"/>
            <a:ext cx="574681" cy="486819"/>
          </a:xfrm>
          <a:custGeom>
            <a:avLst/>
            <a:gdLst/>
            <a:ahLst/>
            <a:cxnLst>
              <a:cxn ang="0">
                <a:pos x="0" y="0"/>
              </a:cxn>
              <a:cxn ang="0">
                <a:pos x="247" y="264"/>
              </a:cxn>
            </a:cxnLst>
            <a:rect l="0" t="0" r="r" b="b"/>
            <a:pathLst>
              <a:path w="247" h="264">
                <a:moveTo>
                  <a:pt x="0" y="0"/>
                </a:moveTo>
                <a:lnTo>
                  <a:pt x="247" y="264"/>
                </a:lnTo>
              </a:path>
            </a:pathLst>
          </a:custGeom>
          <a:noFill/>
          <a:ln w="19050" cap="flat" cmpd="sng">
            <a:solidFill>
              <a:srgbClr val="3333FF"/>
            </a:solidFill>
            <a:prstDash val="solid"/>
            <a:round/>
            <a:headEnd type="none" w="med" len="med"/>
            <a:tailEnd type="none" w="med" len="lg"/>
          </a:ln>
          <a:effectLst/>
        </p:spPr>
        <p:txBody>
          <a:bodyPr wrap="none"/>
          <a:lstStyle/>
          <a:p>
            <a:endParaRPr lang="zh-CN" altLang="en-US">
              <a:latin typeface="Consolas" pitchFamily="49" charset="0"/>
              <a:cs typeface="Consolas" pitchFamily="49" charset="0"/>
            </a:endParaRPr>
          </a:p>
        </p:txBody>
      </p:sp>
      <p:sp>
        <p:nvSpPr>
          <p:cNvPr id="35" name="TextBox 140">
            <a:extLst>
              <a:ext uri="{FF2B5EF4-FFF2-40B4-BE49-F238E27FC236}">
                <a16:creationId xmlns:a16="http://schemas.microsoft.com/office/drawing/2014/main" id="{B2E53237-129D-EC15-94C3-84DAE29C4C7A}"/>
              </a:ext>
            </a:extLst>
          </p:cNvPr>
          <p:cNvSpPr txBox="1"/>
          <p:nvPr/>
        </p:nvSpPr>
        <p:spPr>
          <a:xfrm>
            <a:off x="7559148" y="5263103"/>
            <a:ext cx="357190" cy="276999"/>
          </a:xfrm>
          <a:prstGeom prst="rect">
            <a:avLst/>
          </a:prstGeom>
          <a:solidFill>
            <a:schemeClr val="bg1"/>
          </a:solidFill>
        </p:spPr>
        <p:txBody>
          <a:bodyPr wrap="square" lIns="0" tIns="0" rIns="0" bIns="0" rtlCol="0">
            <a:spAutoFit/>
          </a:bodyPr>
          <a:lstStyle/>
          <a:p>
            <a:r>
              <a:rPr lang="en-US" altLang="zh-CN" sz="1800" dirty="0">
                <a:solidFill>
                  <a:srgbClr val="C00000"/>
                </a:solidFill>
                <a:latin typeface="Consolas" pitchFamily="49" charset="0"/>
                <a:cs typeface="Consolas" pitchFamily="49" charset="0"/>
              </a:rPr>
              <a:t>2</a:t>
            </a:r>
            <a:endParaRPr lang="zh-CN" altLang="en-US" sz="1800" dirty="0">
              <a:solidFill>
                <a:srgbClr val="C00000"/>
              </a:solidFill>
              <a:latin typeface="Consolas" pitchFamily="49" charset="0"/>
              <a:cs typeface="Consolas" pitchFamily="49" charset="0"/>
            </a:endParaRPr>
          </a:p>
        </p:txBody>
      </p:sp>
      <p:sp>
        <p:nvSpPr>
          <p:cNvPr id="36" name="TextBox 141">
            <a:extLst>
              <a:ext uri="{FF2B5EF4-FFF2-40B4-BE49-F238E27FC236}">
                <a16:creationId xmlns:a16="http://schemas.microsoft.com/office/drawing/2014/main" id="{4AF976D0-CDAD-82B8-E45E-CBCBC6899375}"/>
              </a:ext>
            </a:extLst>
          </p:cNvPr>
          <p:cNvSpPr txBox="1"/>
          <p:nvPr/>
        </p:nvSpPr>
        <p:spPr>
          <a:xfrm>
            <a:off x="6344702" y="4140733"/>
            <a:ext cx="357190" cy="307777"/>
          </a:xfrm>
          <a:prstGeom prst="rect">
            <a:avLst/>
          </a:prstGeom>
          <a:solidFill>
            <a:schemeClr val="bg1"/>
          </a:solidFill>
        </p:spPr>
        <p:txBody>
          <a:bodyPr wrap="square" lIns="0" tIns="0" rIns="0" bIns="0" rtlCol="0">
            <a:spAutoFit/>
          </a:bodyPr>
          <a:lstStyle/>
          <a:p>
            <a:r>
              <a:rPr lang="en-US" altLang="zh-CN" sz="2000" dirty="0">
                <a:solidFill>
                  <a:srgbClr val="C00000"/>
                </a:solidFill>
                <a:latin typeface="Consolas" pitchFamily="49" charset="0"/>
                <a:cs typeface="Consolas" pitchFamily="49" charset="0"/>
              </a:rPr>
              <a:t>0</a:t>
            </a:r>
            <a:endParaRPr lang="zh-CN" altLang="en-US" sz="2000" dirty="0">
              <a:solidFill>
                <a:srgbClr val="C00000"/>
              </a:solidFill>
              <a:latin typeface="Consolas" pitchFamily="49" charset="0"/>
              <a:cs typeface="Consolas" pitchFamily="49" charset="0"/>
            </a:endParaRPr>
          </a:p>
        </p:txBody>
      </p:sp>
      <p:sp>
        <p:nvSpPr>
          <p:cNvPr id="37" name="TextBox 142">
            <a:extLst>
              <a:ext uri="{FF2B5EF4-FFF2-40B4-BE49-F238E27FC236}">
                <a16:creationId xmlns:a16="http://schemas.microsoft.com/office/drawing/2014/main" id="{0AD8FA4D-73A7-DF9F-10D3-BFDE49D8251D}"/>
              </a:ext>
            </a:extLst>
          </p:cNvPr>
          <p:cNvSpPr txBox="1"/>
          <p:nvPr/>
        </p:nvSpPr>
        <p:spPr>
          <a:xfrm>
            <a:off x="7559148" y="5263103"/>
            <a:ext cx="357190" cy="276999"/>
          </a:xfrm>
          <a:prstGeom prst="rect">
            <a:avLst/>
          </a:prstGeom>
          <a:solidFill>
            <a:schemeClr val="bg1"/>
          </a:solidFill>
        </p:spPr>
        <p:txBody>
          <a:bodyPr wrap="square" lIns="0" tIns="0" rIns="0" bIns="0" rtlCol="0">
            <a:spAutoFit/>
          </a:bodyPr>
          <a:lstStyle/>
          <a:p>
            <a:r>
              <a:rPr lang="en-US" altLang="zh-CN" sz="1800" dirty="0">
                <a:solidFill>
                  <a:srgbClr val="C00000"/>
                </a:solidFill>
                <a:latin typeface="Consolas" pitchFamily="49" charset="0"/>
                <a:cs typeface="Consolas" pitchFamily="49" charset="0"/>
              </a:rPr>
              <a:t>0</a:t>
            </a:r>
            <a:endParaRPr lang="zh-CN" altLang="en-US" sz="1800" dirty="0">
              <a:solidFill>
                <a:srgbClr val="C00000"/>
              </a:solidFill>
              <a:latin typeface="Consolas" pitchFamily="49" charset="0"/>
              <a:cs typeface="Consolas" pitchFamily="49" charset="0"/>
            </a:endParaRPr>
          </a:p>
        </p:txBody>
      </p:sp>
      <p:sp>
        <p:nvSpPr>
          <p:cNvPr id="38" name="Text Box 81">
            <a:extLst>
              <a:ext uri="{FF2B5EF4-FFF2-40B4-BE49-F238E27FC236}">
                <a16:creationId xmlns:a16="http://schemas.microsoft.com/office/drawing/2014/main" id="{2974696E-F373-B7EC-7134-AE46F4B45539}"/>
              </a:ext>
            </a:extLst>
          </p:cNvPr>
          <p:cNvSpPr txBox="1">
            <a:spLocks noChangeArrowheads="1"/>
          </p:cNvSpPr>
          <p:nvPr/>
        </p:nvSpPr>
        <p:spPr bwMode="auto">
          <a:xfrm>
            <a:off x="4487314" y="4092295"/>
            <a:ext cx="1368425" cy="400110"/>
          </a:xfrm>
          <a:prstGeom prst="rect">
            <a:avLst/>
          </a:prstGeom>
          <a:solidFill>
            <a:schemeClr val="bg1"/>
          </a:solidFill>
          <a:ln w="19050" algn="ctr">
            <a:noFill/>
            <a:miter lim="800000"/>
            <a:headEnd/>
            <a:tailEnd type="none" w="med" len="lg"/>
          </a:ln>
          <a:effectLst/>
        </p:spPr>
        <p:txBody>
          <a:bodyPr>
            <a:spAutoFit/>
          </a:bodyPr>
          <a:lstStyle/>
          <a:p>
            <a:pPr>
              <a:spcBef>
                <a:spcPct val="50000"/>
              </a:spcBef>
            </a:pPr>
            <a:r>
              <a:rPr lang="zh-CN" altLang="en-US" sz="2000" dirty="0">
                <a:latin typeface="Consolas" pitchFamily="49" charset="0"/>
                <a:ea typeface="楷体" pitchFamily="49" charset="-122"/>
                <a:cs typeface="Consolas" pitchFamily="49" charset="0"/>
              </a:rPr>
              <a:t>取</a:t>
            </a:r>
            <a:r>
              <a:rPr lang="en-US" altLang="zh-CN" sz="2000" dirty="0">
                <a:solidFill>
                  <a:srgbClr val="FF00FF"/>
                </a:solidFill>
                <a:latin typeface="Consolas" pitchFamily="49" charset="0"/>
                <a:ea typeface="楷体" pitchFamily="49" charset="-122"/>
                <a:cs typeface="Consolas" pitchFamily="49" charset="0"/>
              </a:rPr>
              <a:t>3</a:t>
            </a:r>
            <a:r>
              <a:rPr lang="zh-CN" altLang="en-US" sz="2000" dirty="0">
                <a:latin typeface="Consolas" pitchFamily="49" charset="0"/>
                <a:ea typeface="楷体" pitchFamily="49" charset="-122"/>
                <a:cs typeface="Consolas" pitchFamily="49" charset="0"/>
              </a:rPr>
              <a:t>号边</a:t>
            </a:r>
          </a:p>
        </p:txBody>
      </p:sp>
      <p:sp>
        <p:nvSpPr>
          <p:cNvPr id="39" name="TextBox 144">
            <a:extLst>
              <a:ext uri="{FF2B5EF4-FFF2-40B4-BE49-F238E27FC236}">
                <a16:creationId xmlns:a16="http://schemas.microsoft.com/office/drawing/2014/main" id="{431C17B2-72EA-EDA7-9227-D67498D986EC}"/>
              </a:ext>
            </a:extLst>
          </p:cNvPr>
          <p:cNvSpPr txBox="1"/>
          <p:nvPr/>
        </p:nvSpPr>
        <p:spPr>
          <a:xfrm>
            <a:off x="3772934" y="5417864"/>
            <a:ext cx="3071834" cy="707886"/>
          </a:xfrm>
          <a:prstGeom prst="rect">
            <a:avLst/>
          </a:prstGeom>
          <a:noFill/>
        </p:spPr>
        <p:txBody>
          <a:bodyPr wrap="square" rtlCol="0">
            <a:spAutoFit/>
          </a:bodyPr>
          <a:lstStyle/>
          <a:p>
            <a:r>
              <a:rPr lang="en-US" altLang="zh-CN" sz="2000" dirty="0">
                <a:latin typeface="Consolas" pitchFamily="49" charset="0"/>
                <a:ea typeface="仿宋" pitchFamily="49" charset="-122"/>
                <a:cs typeface="Consolas" pitchFamily="49" charset="0"/>
              </a:rPr>
              <a:t>3</a:t>
            </a:r>
            <a:r>
              <a:rPr lang="zh-CN" altLang="en-US" sz="2000" dirty="0">
                <a:latin typeface="Consolas" pitchFamily="49" charset="0"/>
                <a:ea typeface="仿宋" pitchFamily="49" charset="-122"/>
                <a:cs typeface="Consolas" pitchFamily="49" charset="0"/>
              </a:rPr>
              <a:t>号边的两个顶点的</a:t>
            </a:r>
            <a:r>
              <a:rPr lang="en-US" altLang="zh-CN" sz="2000" dirty="0" err="1">
                <a:latin typeface="Consolas" pitchFamily="49" charset="0"/>
                <a:ea typeface="仿宋" pitchFamily="49" charset="-122"/>
                <a:cs typeface="Consolas" pitchFamily="49" charset="0"/>
              </a:rPr>
              <a:t>vset</a:t>
            </a:r>
            <a:r>
              <a:rPr lang="zh-CN" altLang="en-US" sz="2000">
                <a:latin typeface="Consolas" pitchFamily="49" charset="0"/>
                <a:ea typeface="仿宋" pitchFamily="49" charset="-122"/>
                <a:cs typeface="Consolas" pitchFamily="49" charset="0"/>
              </a:rPr>
              <a:t>值相同，不能</a:t>
            </a:r>
            <a:r>
              <a:rPr lang="zh-CN" altLang="en-US" sz="2000" dirty="0">
                <a:latin typeface="Consolas" pitchFamily="49" charset="0"/>
                <a:ea typeface="仿宋" pitchFamily="49" charset="-122"/>
                <a:cs typeface="Consolas" pitchFamily="49" charset="0"/>
              </a:rPr>
              <a:t>添加！</a:t>
            </a:r>
          </a:p>
        </p:txBody>
      </p:sp>
      <p:sp>
        <p:nvSpPr>
          <p:cNvPr id="40" name="TextBox 145">
            <a:extLst>
              <a:ext uri="{FF2B5EF4-FFF2-40B4-BE49-F238E27FC236}">
                <a16:creationId xmlns:a16="http://schemas.microsoft.com/office/drawing/2014/main" id="{FF542F7F-2105-A0B5-83EE-0B4E1A4ED453}"/>
              </a:ext>
            </a:extLst>
          </p:cNvPr>
          <p:cNvSpPr txBox="1"/>
          <p:nvPr/>
        </p:nvSpPr>
        <p:spPr>
          <a:xfrm>
            <a:off x="7130520" y="2346030"/>
            <a:ext cx="3071834" cy="400110"/>
          </a:xfrm>
          <a:prstGeom prst="rect">
            <a:avLst/>
          </a:prstGeom>
          <a:noFill/>
        </p:spPr>
        <p:txBody>
          <a:bodyPr wrap="square" rtlCol="0">
            <a:spAutoFit/>
          </a:bodyPr>
          <a:lstStyle/>
          <a:p>
            <a:r>
              <a:rPr lang="en-US" altLang="zh-CN" sz="2000" err="1">
                <a:latin typeface="Consolas" pitchFamily="49" charset="0"/>
                <a:ea typeface="仿宋" pitchFamily="49" charset="-122"/>
                <a:cs typeface="Consolas" pitchFamily="49" charset="0"/>
              </a:rPr>
              <a:t>vset</a:t>
            </a:r>
            <a:r>
              <a:rPr lang="en-US" altLang="zh-CN" sz="2000">
                <a:latin typeface="Consolas" pitchFamily="49" charset="0"/>
                <a:ea typeface="仿宋" pitchFamily="49" charset="-122"/>
                <a:cs typeface="Consolas" pitchFamily="49" charset="0"/>
              </a:rPr>
              <a:t>[0]</a:t>
            </a:r>
            <a:r>
              <a:rPr lang="zh-CN" altLang="en-US" sz="2000">
                <a:latin typeface="Consolas" pitchFamily="49" charset="0"/>
                <a:ea typeface="仿宋" pitchFamily="49" charset="-122"/>
                <a:cs typeface="Consolas" pitchFamily="49" charset="0"/>
              </a:rPr>
              <a:t>：连通分量编号</a:t>
            </a:r>
            <a:endParaRPr lang="zh-CN" altLang="en-US" sz="2000" dirty="0">
              <a:latin typeface="Consolas" pitchFamily="49" charset="0"/>
              <a:ea typeface="仿宋" pitchFamily="49" charset="-122"/>
              <a:cs typeface="Consolas" pitchFamily="49" charset="0"/>
            </a:endParaRPr>
          </a:p>
        </p:txBody>
      </p:sp>
      <p:cxnSp>
        <p:nvCxnSpPr>
          <p:cNvPr id="41" name="直接箭头连接符 40">
            <a:extLst>
              <a:ext uri="{FF2B5EF4-FFF2-40B4-BE49-F238E27FC236}">
                <a16:creationId xmlns:a16="http://schemas.microsoft.com/office/drawing/2014/main" id="{5FC4FFB5-EA72-1619-F3EF-6AFA5C02060B}"/>
              </a:ext>
            </a:extLst>
          </p:cNvPr>
          <p:cNvCxnSpPr>
            <a:stCxn id="40" idx="2"/>
          </p:cNvCxnSpPr>
          <p:nvPr/>
        </p:nvCxnSpPr>
        <p:spPr>
          <a:xfrm rot="5400000">
            <a:off x="8169970" y="2421081"/>
            <a:ext cx="171408" cy="821526"/>
          </a:xfrm>
          <a:prstGeom prst="straightConnector1">
            <a:avLst/>
          </a:prstGeom>
          <a:ln w="28575">
            <a:solidFill>
              <a:srgbClr val="339933"/>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224008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par>
                          <p:cTn id="7" fill="hold">
                            <p:stCondLst>
                              <p:cond delay="0"/>
                            </p:stCondLst>
                            <p:childTnLst>
                              <p:par>
                                <p:cTn id="8" presetID="26" presetClass="emph" presetSubtype="0" fill="hold" grpId="0" nodeType="afterEffect">
                                  <p:stCondLst>
                                    <p:cond delay="0"/>
                                  </p:stCondLst>
                                  <p:childTnLst>
                                    <p:animEffect transition="out" filter="fade">
                                      <p:cBhvr>
                                        <p:cTn id="9" dur="1000" tmFilter="0, 0; .2, .5; .8, .5; 1, 0"/>
                                        <p:tgtEl>
                                          <p:spTgt spid="12"/>
                                        </p:tgtEl>
                                      </p:cBhvr>
                                    </p:animEffect>
                                    <p:animScale>
                                      <p:cBhvr>
                                        <p:cTn id="10" dur="500" autoRev="1" fill="hold"/>
                                        <p:tgtEl>
                                          <p:spTgt spid="12"/>
                                        </p:tgtEl>
                                      </p:cBhvr>
                                      <p:by x="105000" y="105000"/>
                                    </p:animScale>
                                  </p:childTnLst>
                                </p:cTn>
                              </p:par>
                            </p:childTnLst>
                          </p:cTn>
                        </p:par>
                      </p:childTnLst>
                    </p:cTn>
                  </p:par>
                  <p:par>
                    <p:cTn id="11" fill="hold">
                      <p:stCondLst>
                        <p:cond delay="indefinite"/>
                      </p:stCondLst>
                      <p:childTnLst>
                        <p:par>
                          <p:cTn id="12" fill="hold">
                            <p:stCondLst>
                              <p:cond delay="0"/>
                            </p:stCondLst>
                            <p:childTnLst>
                              <p:par>
                                <p:cTn id="13" presetID="26" presetClass="emph" presetSubtype="0" fill="hold" grpId="0" nodeType="clickEffect">
                                  <p:stCondLst>
                                    <p:cond delay="0"/>
                                  </p:stCondLst>
                                  <p:childTnLst>
                                    <p:animEffect transition="out" filter="fade">
                                      <p:cBhvr>
                                        <p:cTn id="14" dur="500" tmFilter="0, 0; .2, .5; .8, .5; 1, 0"/>
                                        <p:tgtEl>
                                          <p:spTgt spid="23"/>
                                        </p:tgtEl>
                                      </p:cBhvr>
                                    </p:animEffect>
                                    <p:animScale>
                                      <p:cBhvr>
                                        <p:cTn id="15" dur="250" autoRev="1" fill="hold"/>
                                        <p:tgtEl>
                                          <p:spTgt spid="23"/>
                                        </p:tgtEl>
                                      </p:cBhvr>
                                      <p:by x="105000" y="105000"/>
                                    </p:animScale>
                                  </p:childTnLst>
                                </p:cTn>
                              </p:par>
                              <p:par>
                                <p:cTn id="16" presetID="26" presetClass="emph" presetSubtype="0" fill="hold" grpId="0" nodeType="withEffect">
                                  <p:stCondLst>
                                    <p:cond delay="0"/>
                                  </p:stCondLst>
                                  <p:childTnLst>
                                    <p:animEffect transition="out" filter="fade">
                                      <p:cBhvr>
                                        <p:cTn id="17" dur="500" tmFilter="0, 0; .2, .5; .8, .5; 1, 0"/>
                                        <p:tgtEl>
                                          <p:spTgt spid="30"/>
                                        </p:tgtEl>
                                      </p:cBhvr>
                                    </p:animEffect>
                                    <p:animScale>
                                      <p:cBhvr>
                                        <p:cTn id="18" dur="250" autoRev="1" fill="hold"/>
                                        <p:tgtEl>
                                          <p:spTgt spid="30"/>
                                        </p:tgtEl>
                                      </p:cBhvr>
                                      <p:by x="105000" y="105000"/>
                                    </p:animScale>
                                  </p:childTnLst>
                                </p:cTn>
                              </p:par>
                              <p:par>
                                <p:cTn id="19" presetID="26" presetClass="emph" presetSubtype="0" fill="hold" grpId="0" nodeType="withEffect">
                                  <p:stCondLst>
                                    <p:cond delay="0"/>
                                  </p:stCondLst>
                                  <p:childTnLst>
                                    <p:animEffect transition="out" filter="fade">
                                      <p:cBhvr>
                                        <p:cTn id="20" dur="500" tmFilter="0, 0; .2, .5; .8, .5; 1, 0"/>
                                        <p:tgtEl>
                                          <p:spTgt spid="29"/>
                                        </p:tgtEl>
                                      </p:cBhvr>
                                    </p:animEffect>
                                    <p:animScale>
                                      <p:cBhvr>
                                        <p:cTn id="21" dur="250" autoRev="1" fill="hold"/>
                                        <p:tgtEl>
                                          <p:spTgt spid="29"/>
                                        </p:tgtEl>
                                      </p:cBhvr>
                                      <p:by x="105000" y="105000"/>
                                    </p:animScale>
                                  </p:childTnLst>
                                </p:cTn>
                              </p:par>
                              <p:par>
                                <p:cTn id="22" presetID="26" presetClass="emph" presetSubtype="0" fill="hold" grpId="0" nodeType="withEffect">
                                  <p:stCondLst>
                                    <p:cond delay="0"/>
                                  </p:stCondLst>
                                  <p:childTnLst>
                                    <p:animEffect transition="out" filter="fade">
                                      <p:cBhvr>
                                        <p:cTn id="23" dur="500" tmFilter="0, 0; .2, .5; .8, .5; 1, 0"/>
                                        <p:tgtEl>
                                          <p:spTgt spid="25"/>
                                        </p:tgtEl>
                                      </p:cBhvr>
                                    </p:animEffect>
                                    <p:animScale>
                                      <p:cBhvr>
                                        <p:cTn id="24" dur="250" autoRev="1" fill="hold"/>
                                        <p:tgtEl>
                                          <p:spTgt spid="25"/>
                                        </p:tgtEl>
                                      </p:cBhvr>
                                      <p:by x="105000" y="105000"/>
                                    </p:animScale>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3"/>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6"/>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1"/>
                                        </p:tgtEl>
                                        <p:attrNameLst>
                                          <p:attrName>style.visibility</p:attrName>
                                        </p:attrNameLst>
                                      </p:cBhvr>
                                      <p:to>
                                        <p:strVal val="visible"/>
                                      </p:to>
                                    </p:set>
                                  </p:childTnLst>
                                </p:cTn>
                              </p:par>
                            </p:childTnLst>
                          </p:cTn>
                        </p:par>
                        <p:par>
                          <p:cTn id="37" fill="hold">
                            <p:stCondLst>
                              <p:cond delay="0"/>
                            </p:stCondLst>
                            <p:childTnLst>
                              <p:par>
                                <p:cTn id="38" presetID="26" presetClass="emph" presetSubtype="0" fill="hold" grpId="0" nodeType="afterEffect">
                                  <p:stCondLst>
                                    <p:cond delay="0"/>
                                  </p:stCondLst>
                                  <p:childTnLst>
                                    <p:animEffect transition="out" filter="fade">
                                      <p:cBhvr>
                                        <p:cTn id="39" dur="1000" tmFilter="0, 0; .2, .5; .8, .5; 1, 0"/>
                                        <p:tgtEl>
                                          <p:spTgt spid="13"/>
                                        </p:tgtEl>
                                      </p:cBhvr>
                                    </p:animEffect>
                                    <p:animScale>
                                      <p:cBhvr>
                                        <p:cTn id="40" dur="500" autoRev="1" fill="hold"/>
                                        <p:tgtEl>
                                          <p:spTgt spid="13"/>
                                        </p:tgtEl>
                                      </p:cBhvr>
                                      <p:by x="105000" y="105000"/>
                                    </p:animScale>
                                  </p:childTnLst>
                                </p:cTn>
                              </p:par>
                            </p:childTnLst>
                          </p:cTn>
                        </p:par>
                      </p:childTnLst>
                    </p:cTn>
                  </p:par>
                  <p:par>
                    <p:cTn id="41" fill="hold">
                      <p:stCondLst>
                        <p:cond delay="indefinite"/>
                      </p:stCondLst>
                      <p:childTnLst>
                        <p:par>
                          <p:cTn id="42" fill="hold">
                            <p:stCondLst>
                              <p:cond delay="0"/>
                            </p:stCondLst>
                            <p:childTnLst>
                              <p:par>
                                <p:cTn id="43" presetID="26" presetClass="emph" presetSubtype="0" fill="hold" grpId="1" nodeType="clickEffect">
                                  <p:stCondLst>
                                    <p:cond delay="0"/>
                                  </p:stCondLst>
                                  <p:childTnLst>
                                    <p:animEffect transition="out" filter="fade">
                                      <p:cBhvr>
                                        <p:cTn id="44" dur="500" tmFilter="0, 0; .2, .5; .8, .5; 1, 0"/>
                                        <p:tgtEl>
                                          <p:spTgt spid="36"/>
                                        </p:tgtEl>
                                      </p:cBhvr>
                                    </p:animEffect>
                                    <p:animScale>
                                      <p:cBhvr>
                                        <p:cTn id="45" dur="250" autoRev="1" fill="hold"/>
                                        <p:tgtEl>
                                          <p:spTgt spid="36"/>
                                        </p:tgtEl>
                                      </p:cBhvr>
                                      <p:by x="105000" y="105000"/>
                                    </p:animScale>
                                  </p:childTnLst>
                                </p:cTn>
                              </p:par>
                              <p:par>
                                <p:cTn id="46" presetID="26" presetClass="emph" presetSubtype="0" fill="hold" grpId="1" nodeType="withEffect">
                                  <p:stCondLst>
                                    <p:cond delay="0"/>
                                  </p:stCondLst>
                                  <p:childTnLst>
                                    <p:animEffect transition="out" filter="fade">
                                      <p:cBhvr>
                                        <p:cTn id="47" dur="500" tmFilter="0, 0; .2, .5; .8, .5; 1, 0"/>
                                        <p:tgtEl>
                                          <p:spTgt spid="30"/>
                                        </p:tgtEl>
                                      </p:cBhvr>
                                    </p:animEffect>
                                    <p:animScale>
                                      <p:cBhvr>
                                        <p:cTn id="48" dur="250" autoRev="1" fill="hold"/>
                                        <p:tgtEl>
                                          <p:spTgt spid="30"/>
                                        </p:tgtEl>
                                      </p:cBhvr>
                                      <p:by x="105000" y="105000"/>
                                    </p:animScale>
                                  </p:childTnLst>
                                </p:cTn>
                              </p:par>
                              <p:par>
                                <p:cTn id="49" presetID="26" presetClass="emph" presetSubtype="0" fill="hold" grpId="0" nodeType="withEffect">
                                  <p:stCondLst>
                                    <p:cond delay="0"/>
                                  </p:stCondLst>
                                  <p:childTnLst>
                                    <p:animEffect transition="out" filter="fade">
                                      <p:cBhvr>
                                        <p:cTn id="50" dur="500" tmFilter="0, 0; .2, .5; .8, .5; 1, 0"/>
                                        <p:tgtEl>
                                          <p:spTgt spid="35"/>
                                        </p:tgtEl>
                                      </p:cBhvr>
                                    </p:animEffect>
                                    <p:animScale>
                                      <p:cBhvr>
                                        <p:cTn id="51" dur="250" autoRev="1" fill="hold"/>
                                        <p:tgtEl>
                                          <p:spTgt spid="35"/>
                                        </p:tgtEl>
                                      </p:cBhvr>
                                      <p:by x="105000" y="105000"/>
                                    </p:animScale>
                                  </p:childTnLst>
                                </p:cTn>
                              </p:par>
                              <p:par>
                                <p:cTn id="52" presetID="26" presetClass="emph" presetSubtype="0" fill="hold" grpId="0" nodeType="withEffect">
                                  <p:stCondLst>
                                    <p:cond delay="0"/>
                                  </p:stCondLst>
                                  <p:childTnLst>
                                    <p:animEffect transition="out" filter="fade">
                                      <p:cBhvr>
                                        <p:cTn id="53" dur="500" tmFilter="0, 0; .2, .5; .8, .5; 1, 0"/>
                                        <p:tgtEl>
                                          <p:spTgt spid="31"/>
                                        </p:tgtEl>
                                      </p:cBhvr>
                                    </p:animEffect>
                                    <p:animScale>
                                      <p:cBhvr>
                                        <p:cTn id="54" dur="250" autoRev="1" fill="hold"/>
                                        <p:tgtEl>
                                          <p:spTgt spid="31"/>
                                        </p:tgtEl>
                                      </p:cBhvr>
                                      <p:by x="105000" y="105000"/>
                                    </p:animScale>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34"/>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37"/>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38"/>
                                        </p:tgtEl>
                                        <p:attrNameLst>
                                          <p:attrName>style.visibility</p:attrName>
                                        </p:attrNameLst>
                                      </p:cBhvr>
                                      <p:to>
                                        <p:strVal val="visible"/>
                                      </p:to>
                                    </p:set>
                                  </p:childTnLst>
                                </p:cTn>
                              </p:par>
                            </p:childTnLst>
                          </p:cTn>
                        </p:par>
                        <p:par>
                          <p:cTn id="67" fill="hold">
                            <p:stCondLst>
                              <p:cond delay="0"/>
                            </p:stCondLst>
                            <p:childTnLst>
                              <p:par>
                                <p:cTn id="68" presetID="26" presetClass="emph" presetSubtype="0" fill="hold" nodeType="afterEffect">
                                  <p:stCondLst>
                                    <p:cond delay="0"/>
                                  </p:stCondLst>
                                  <p:childTnLst>
                                    <p:animEffect transition="out" filter="fade">
                                      <p:cBhvr>
                                        <p:cTn id="69" dur="1000" tmFilter="0, 0; .2, .5; .8, .5; 1, 0"/>
                                        <p:tgtEl>
                                          <p:spTgt spid="26"/>
                                        </p:tgtEl>
                                      </p:cBhvr>
                                    </p:animEffect>
                                    <p:animScale>
                                      <p:cBhvr>
                                        <p:cTn id="70" dur="500" autoRev="1" fill="hold"/>
                                        <p:tgtEl>
                                          <p:spTgt spid="26"/>
                                        </p:tgtEl>
                                      </p:cBhvr>
                                      <p:by x="105000" y="105000"/>
                                    </p:animScale>
                                  </p:childTnLst>
                                </p:cTn>
                              </p:par>
                            </p:childTnLst>
                          </p:cTn>
                        </p:par>
                      </p:childTnLst>
                    </p:cTn>
                  </p:par>
                  <p:par>
                    <p:cTn id="71" fill="hold">
                      <p:stCondLst>
                        <p:cond delay="indefinite"/>
                      </p:stCondLst>
                      <p:childTnLst>
                        <p:par>
                          <p:cTn id="72" fill="hold">
                            <p:stCondLst>
                              <p:cond delay="0"/>
                            </p:stCondLst>
                            <p:childTnLst>
                              <p:par>
                                <p:cTn id="73" presetID="26" presetClass="emph" presetSubtype="0" fill="hold" grpId="1" nodeType="clickEffect">
                                  <p:stCondLst>
                                    <p:cond delay="0"/>
                                  </p:stCondLst>
                                  <p:childTnLst>
                                    <p:animEffect transition="out" filter="fade">
                                      <p:cBhvr>
                                        <p:cTn id="74" dur="500" tmFilter="0, 0; .2, .5; .8, .5; 1, 0"/>
                                        <p:tgtEl>
                                          <p:spTgt spid="37"/>
                                        </p:tgtEl>
                                      </p:cBhvr>
                                    </p:animEffect>
                                    <p:animScale>
                                      <p:cBhvr>
                                        <p:cTn id="75" dur="250" autoRev="1" fill="hold"/>
                                        <p:tgtEl>
                                          <p:spTgt spid="37"/>
                                        </p:tgtEl>
                                      </p:cBhvr>
                                      <p:by x="105000" y="105000"/>
                                    </p:animScale>
                                  </p:childTnLst>
                                </p:cTn>
                              </p:par>
                              <p:par>
                                <p:cTn id="76" presetID="26" presetClass="emph" presetSubtype="0" fill="hold" grpId="1" nodeType="withEffect">
                                  <p:stCondLst>
                                    <p:cond delay="0"/>
                                  </p:stCondLst>
                                  <p:childTnLst>
                                    <p:animEffect transition="out" filter="fade">
                                      <p:cBhvr>
                                        <p:cTn id="77" dur="500" tmFilter="0, 0; .2, .5; .8, .5; 1, 0"/>
                                        <p:tgtEl>
                                          <p:spTgt spid="31"/>
                                        </p:tgtEl>
                                      </p:cBhvr>
                                    </p:animEffect>
                                    <p:animScale>
                                      <p:cBhvr>
                                        <p:cTn id="78" dur="250" autoRev="1" fill="hold"/>
                                        <p:tgtEl>
                                          <p:spTgt spid="31"/>
                                        </p:tgtEl>
                                      </p:cBhvr>
                                      <p:by x="105000" y="105000"/>
                                    </p:animScale>
                                  </p:childTnLst>
                                </p:cTn>
                              </p:par>
                              <p:par>
                                <p:cTn id="79" presetID="26" presetClass="emph" presetSubtype="0" fill="hold" grpId="1" nodeType="withEffect">
                                  <p:stCondLst>
                                    <p:cond delay="0"/>
                                  </p:stCondLst>
                                  <p:childTnLst>
                                    <p:animEffect transition="out" filter="fade">
                                      <p:cBhvr>
                                        <p:cTn id="80" dur="500" tmFilter="0, 0; .2, .5; .8, .5; 1, 0"/>
                                        <p:tgtEl>
                                          <p:spTgt spid="25"/>
                                        </p:tgtEl>
                                      </p:cBhvr>
                                    </p:animEffect>
                                    <p:animScale>
                                      <p:cBhvr>
                                        <p:cTn id="81" dur="250" autoRev="1" fill="hold"/>
                                        <p:tgtEl>
                                          <p:spTgt spid="25"/>
                                        </p:tgtEl>
                                      </p:cBhvr>
                                      <p:by x="105000" y="105000"/>
                                    </p:animScale>
                                  </p:childTnLst>
                                </p:cTn>
                              </p:par>
                              <p:par>
                                <p:cTn id="82" presetID="26" presetClass="emph" presetSubtype="0" fill="hold" grpId="1" nodeType="withEffect">
                                  <p:stCondLst>
                                    <p:cond delay="0"/>
                                  </p:stCondLst>
                                  <p:childTnLst>
                                    <p:animEffect transition="out" filter="fade">
                                      <p:cBhvr>
                                        <p:cTn id="83" dur="500" tmFilter="0, 0; .2, .5; .8, .5; 1, 0"/>
                                        <p:tgtEl>
                                          <p:spTgt spid="29"/>
                                        </p:tgtEl>
                                      </p:cBhvr>
                                    </p:animEffect>
                                    <p:animScale>
                                      <p:cBhvr>
                                        <p:cTn id="84" dur="250" autoRev="1" fill="hold"/>
                                        <p:tgtEl>
                                          <p:spTgt spid="29"/>
                                        </p:tgtEl>
                                      </p:cBhvr>
                                      <p:by x="105000" y="105000"/>
                                    </p:animScale>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nodeType="clickEffect">
                                  <p:stCondLst>
                                    <p:cond delay="0"/>
                                  </p:stCondLst>
                                  <p:childTnLst>
                                    <p:set>
                                      <p:cBhvr>
                                        <p:cTn id="88" dur="1" fill="hold">
                                          <p:stCondLst>
                                            <p:cond delay="0"/>
                                          </p:stCondLst>
                                        </p:cTn>
                                        <p:tgtEl>
                                          <p:spTgt spid="39">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2" grpId="0" animBg="1"/>
      <p:bldP spid="13" grpId="0" animBg="1"/>
      <p:bldP spid="21" grpId="0" animBg="1"/>
      <p:bldP spid="23" grpId="0" animBg="1"/>
      <p:bldP spid="25" grpId="0" animBg="1"/>
      <p:bldP spid="25" grpId="1" animBg="1"/>
      <p:bldP spid="29" grpId="0" animBg="1"/>
      <p:bldP spid="29" grpId="1" animBg="1"/>
      <p:bldP spid="30" grpId="0" animBg="1"/>
      <p:bldP spid="30" grpId="1" animBg="1"/>
      <p:bldP spid="31" grpId="0" animBg="1"/>
      <p:bldP spid="31" grpId="1" animBg="1"/>
      <p:bldP spid="33" grpId="0" animBg="1"/>
      <p:bldP spid="34" grpId="0" animBg="1"/>
      <p:bldP spid="35" grpId="0" animBg="1"/>
      <p:bldP spid="36" grpId="0" animBg="1"/>
      <p:bldP spid="36" grpId="1" animBg="1"/>
      <p:bldP spid="37" grpId="0" animBg="1"/>
      <p:bldP spid="37" grpId="1" animBg="1"/>
      <p:bldP spid="38" grpId="0" animBg="1"/>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6B3646-A569-DF1F-3C30-73FE9B1511DD}"/>
            </a:ext>
          </a:extLst>
        </p:cNvPr>
        <p:cNvGrpSpPr/>
        <p:nvPr/>
      </p:nvGrpSpPr>
      <p:grpSpPr>
        <a:xfrm>
          <a:off x="0" y="0"/>
          <a:ext cx="0" cy="0"/>
          <a:chOff x="0" y="0"/>
          <a:chExt cx="0" cy="0"/>
        </a:xfrm>
      </p:grpSpPr>
      <p:sp>
        <p:nvSpPr>
          <p:cNvPr id="2" name="Rectangle 2">
            <a:extLst>
              <a:ext uri="{FF2B5EF4-FFF2-40B4-BE49-F238E27FC236}">
                <a16:creationId xmlns:a16="http://schemas.microsoft.com/office/drawing/2014/main" id="{C28730C9-5B16-685D-AC19-65099C68F25C}"/>
              </a:ext>
            </a:extLst>
          </p:cNvPr>
          <p:cNvSpPr txBox="1">
            <a:spLocks noChangeArrowheads="1"/>
          </p:cNvSpPr>
          <p:nvPr/>
        </p:nvSpPr>
        <p:spPr>
          <a:xfrm>
            <a:off x="474772" y="1230902"/>
            <a:ext cx="6485324"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8.4.4 </a:t>
            </a:r>
            <a:r>
              <a:rPr kumimoji="1" lang="zh-CN" altLang="en-US" dirty="0">
                <a:latin typeface="微软雅黑" pitchFamily="34" charset="-122"/>
                <a:ea typeface="微软雅黑" pitchFamily="34" charset="-122"/>
              </a:rPr>
              <a:t>克鲁斯卡尔算法 </a:t>
            </a:r>
            <a:r>
              <a:rPr kumimoji="1" lang="en-US" altLang="zh-CN" dirty="0">
                <a:latin typeface="微软雅黑" pitchFamily="34" charset="-122"/>
                <a:ea typeface="微软雅黑" pitchFamily="34" charset="-122"/>
              </a:rPr>
              <a:t>(Kruskal)</a:t>
            </a:r>
            <a:r>
              <a:rPr kumimoji="1" lang="zh-CN" altLang="en-US" dirty="0">
                <a:latin typeface="微软雅黑" pitchFamily="34" charset="-122"/>
                <a:ea typeface="微软雅黑" pitchFamily="34" charset="-122"/>
              </a:rPr>
              <a:t>算法</a:t>
            </a:r>
          </a:p>
        </p:txBody>
      </p:sp>
      <p:cxnSp>
        <p:nvCxnSpPr>
          <p:cNvPr id="3" name="直接连接符 2">
            <a:extLst>
              <a:ext uri="{FF2B5EF4-FFF2-40B4-BE49-F238E27FC236}">
                <a16:creationId xmlns:a16="http://schemas.microsoft.com/office/drawing/2014/main" id="{AA419885-CA87-FEF6-012C-3A237EB31329}"/>
              </a:ext>
            </a:extLst>
          </p:cNvPr>
          <p:cNvCxnSpPr>
            <a:cxnSpLocks/>
          </p:cNvCxnSpPr>
          <p:nvPr/>
        </p:nvCxnSpPr>
        <p:spPr>
          <a:xfrm>
            <a:off x="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4" name="矩形 3">
            <a:extLst>
              <a:ext uri="{FF2B5EF4-FFF2-40B4-BE49-F238E27FC236}">
                <a16:creationId xmlns:a16="http://schemas.microsoft.com/office/drawing/2014/main" id="{F5AEB76E-2E47-C936-30CE-7BFB3735DE1C}"/>
              </a:ext>
            </a:extLst>
          </p:cNvPr>
          <p:cNvSpPr/>
          <p:nvPr/>
        </p:nvSpPr>
        <p:spPr>
          <a:xfrm>
            <a:off x="3394075" y="399838"/>
            <a:ext cx="4617860"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8.4 </a:t>
            </a:r>
            <a:r>
              <a:rPr lang="zh-CN" altLang="en-US" sz="3000" b="1" dirty="0">
                <a:latin typeface="黑体" pitchFamily="49" charset="-122"/>
                <a:ea typeface="黑体" pitchFamily="49" charset="-122"/>
                <a:cs typeface="经典粗黑简" pitchFamily="49" charset="-122"/>
              </a:rPr>
              <a:t>生成树和最小生成树</a:t>
            </a:r>
          </a:p>
        </p:txBody>
      </p:sp>
      <p:sp>
        <p:nvSpPr>
          <p:cNvPr id="5" name="Text Box 2">
            <a:extLst>
              <a:ext uri="{FF2B5EF4-FFF2-40B4-BE49-F238E27FC236}">
                <a16:creationId xmlns:a16="http://schemas.microsoft.com/office/drawing/2014/main" id="{78F37877-8F9A-89E6-5747-EA66DBFE58B1}"/>
              </a:ext>
            </a:extLst>
          </p:cNvPr>
          <p:cNvSpPr txBox="1">
            <a:spLocks noChangeArrowheads="1"/>
          </p:cNvSpPr>
          <p:nvPr/>
        </p:nvSpPr>
        <p:spPr bwMode="auto">
          <a:xfrm>
            <a:off x="1641194" y="2139658"/>
            <a:ext cx="8534400" cy="830997"/>
          </a:xfrm>
          <a:prstGeom prst="rect">
            <a:avLst/>
          </a:prstGeom>
          <a:noFill/>
          <a:ln w="9525">
            <a:noFill/>
            <a:miter lim="800000"/>
            <a:headEnd/>
            <a:tailEnd/>
          </a:ln>
          <a:effectLst/>
        </p:spPr>
        <p:txBody>
          <a:bodyPr>
            <a:spAutoFit/>
          </a:bodyPr>
          <a:lstStyle/>
          <a:p>
            <a:pPr algn="just">
              <a:lnSpc>
                <a:spcPct val="120000"/>
              </a:lnSpc>
              <a:spcBef>
                <a:spcPct val="50000"/>
              </a:spcBef>
            </a:pPr>
            <a:r>
              <a:rPr kumimoji="1" lang="zh-CN" altLang="en-US" sz="2000">
                <a:latin typeface="Consolas" pitchFamily="49" charset="0"/>
                <a:ea typeface="楷体" pitchFamily="49" charset="-122"/>
                <a:cs typeface="Consolas" pitchFamily="49" charset="0"/>
              </a:rPr>
              <a:t>     在</a:t>
            </a:r>
            <a:r>
              <a:rPr kumimoji="1" lang="zh-CN" altLang="en-US" sz="2000" dirty="0">
                <a:latin typeface="Consolas" pitchFamily="49" charset="0"/>
                <a:ea typeface="楷体" pitchFamily="49" charset="-122"/>
                <a:cs typeface="Consolas" pitchFamily="49" charset="0"/>
              </a:rPr>
              <a:t>实现克鲁斯卡尔算法</a:t>
            </a:r>
            <a:r>
              <a:rPr kumimoji="1" lang="en-US" altLang="zh-CN" sz="2000" dirty="0" err="1">
                <a:latin typeface="Consolas" pitchFamily="49" charset="0"/>
                <a:ea typeface="楷体" pitchFamily="49" charset="-122"/>
                <a:cs typeface="Consolas" pitchFamily="49" charset="0"/>
              </a:rPr>
              <a:t>Kruskal</a:t>
            </a:r>
            <a:r>
              <a:rPr kumimoji="1" lang="en-US" altLang="zh-CN" sz="2000">
                <a:latin typeface="Consolas" pitchFamily="49" charset="0"/>
                <a:ea typeface="楷体" pitchFamily="49" charset="-122"/>
                <a:cs typeface="Consolas" pitchFamily="49" charset="0"/>
              </a:rPr>
              <a:t>()</a:t>
            </a:r>
            <a:r>
              <a:rPr kumimoji="1" lang="zh-CN" altLang="en-US" sz="2000">
                <a:latin typeface="Consolas" pitchFamily="49" charset="0"/>
                <a:ea typeface="楷体" pitchFamily="49" charset="-122"/>
                <a:cs typeface="Consolas" pitchFamily="49" charset="0"/>
              </a:rPr>
              <a:t>时，用</a:t>
            </a:r>
            <a:r>
              <a:rPr kumimoji="1" lang="zh-CN" altLang="en-US" sz="2000" dirty="0">
                <a:latin typeface="Consolas" pitchFamily="49" charset="0"/>
                <a:ea typeface="楷体" pitchFamily="49" charset="-122"/>
                <a:cs typeface="Consolas" pitchFamily="49" charset="0"/>
              </a:rPr>
              <a:t>数组</a:t>
            </a:r>
            <a:r>
              <a:rPr kumimoji="1" lang="en-US" altLang="zh-CN" sz="2000" dirty="0">
                <a:latin typeface="Consolas" pitchFamily="49" charset="0"/>
                <a:ea typeface="楷体" pitchFamily="49" charset="-122"/>
                <a:cs typeface="Consolas" pitchFamily="49" charset="0"/>
              </a:rPr>
              <a:t>E</a:t>
            </a:r>
            <a:r>
              <a:rPr kumimoji="1" lang="zh-CN" altLang="en-US" sz="2000" dirty="0">
                <a:latin typeface="Consolas" pitchFamily="49" charset="0"/>
                <a:ea typeface="楷体" pitchFamily="49" charset="-122"/>
                <a:cs typeface="Consolas" pitchFamily="49" charset="0"/>
              </a:rPr>
              <a:t>存放图</a:t>
            </a:r>
            <a:r>
              <a:rPr kumimoji="1" lang="en-US" altLang="zh-CN" sz="2000" dirty="0">
                <a:latin typeface="Consolas" pitchFamily="49" charset="0"/>
                <a:ea typeface="楷体" pitchFamily="49" charset="-122"/>
                <a:cs typeface="Consolas" pitchFamily="49" charset="0"/>
              </a:rPr>
              <a:t>G</a:t>
            </a:r>
            <a:r>
              <a:rPr kumimoji="1" lang="zh-CN" altLang="en-US" sz="2000" dirty="0">
                <a:latin typeface="Consolas" pitchFamily="49" charset="0"/>
                <a:ea typeface="楷体" pitchFamily="49" charset="-122"/>
                <a:cs typeface="Consolas" pitchFamily="49" charset="0"/>
              </a:rPr>
              <a:t>中的</a:t>
            </a:r>
            <a:r>
              <a:rPr kumimoji="1" lang="zh-CN" altLang="en-US" sz="2000">
                <a:latin typeface="Consolas" pitchFamily="49" charset="0"/>
                <a:ea typeface="楷体" pitchFamily="49" charset="-122"/>
                <a:cs typeface="Consolas" pitchFamily="49" charset="0"/>
              </a:rPr>
              <a:t>所有边，其</a:t>
            </a:r>
            <a:r>
              <a:rPr kumimoji="1" lang="zh-CN" altLang="en-US" sz="2000" dirty="0">
                <a:latin typeface="Consolas" pitchFamily="49" charset="0"/>
                <a:ea typeface="楷体" pitchFamily="49" charset="-122"/>
                <a:cs typeface="Consolas" pitchFamily="49" charset="0"/>
              </a:rPr>
              <a:t>类型如下：</a:t>
            </a:r>
            <a:endParaRPr kumimoji="1" lang="zh-CN" altLang="en-US" sz="2000" dirty="0">
              <a:solidFill>
                <a:srgbClr val="996600"/>
              </a:solidFill>
              <a:latin typeface="Consolas" pitchFamily="49" charset="0"/>
              <a:ea typeface="楷体" pitchFamily="49" charset="-122"/>
              <a:cs typeface="Consolas" pitchFamily="49" charset="0"/>
            </a:endParaRPr>
          </a:p>
        </p:txBody>
      </p:sp>
      <p:sp>
        <p:nvSpPr>
          <p:cNvPr id="15" name="Text Box 1027">
            <a:extLst>
              <a:ext uri="{FF2B5EF4-FFF2-40B4-BE49-F238E27FC236}">
                <a16:creationId xmlns:a16="http://schemas.microsoft.com/office/drawing/2014/main" id="{8EC3E5F6-E808-8FDA-5451-3BB6E9EA2807}"/>
              </a:ext>
            </a:extLst>
          </p:cNvPr>
          <p:cNvSpPr txBox="1">
            <a:spLocks noChangeArrowheads="1"/>
          </p:cNvSpPr>
          <p:nvPr/>
        </p:nvSpPr>
        <p:spPr bwMode="auto">
          <a:xfrm>
            <a:off x="2855640" y="3282666"/>
            <a:ext cx="4786345" cy="1821213"/>
          </a:xfrm>
          <a:prstGeom prst="rect">
            <a:avLst/>
          </a:prstGeom>
          <a:solidFill>
            <a:schemeClr val="bg1">
              <a:lumMod val="95000"/>
            </a:schemeClr>
          </a:solidFill>
          <a:ln>
            <a:noFill/>
            <a:headEnd/>
            <a:tailEnd type="none" w="med" len="lg"/>
          </a:ln>
          <a:effectLst/>
          <a:scene3d>
            <a:camera prst="orthographicFront">
              <a:rot lat="0" lon="0" rev="0"/>
            </a:camera>
            <a:lightRig rig="chilly" dir="t">
              <a:rot lat="0" lon="0" rev="18480000"/>
            </a:lightRig>
          </a:scene3d>
          <a:sp3d prstMaterial="clear">
            <a:bevelT h="63500"/>
          </a:sp3d>
        </p:spPr>
        <p:style>
          <a:lnRef idx="1">
            <a:schemeClr val="accent3"/>
          </a:lnRef>
          <a:fillRef idx="2">
            <a:schemeClr val="accent3"/>
          </a:fillRef>
          <a:effectRef idx="1">
            <a:schemeClr val="accent3"/>
          </a:effectRef>
          <a:fontRef idx="minor">
            <a:schemeClr val="dk1"/>
          </a:fontRef>
        </p:style>
        <p:txBody>
          <a:bodyPr wrap="square" lIns="324000" tIns="252000" rIns="252000" bIns="180000">
            <a:spAutoFit/>
          </a:bodyPr>
          <a:lstStyle/>
          <a:p>
            <a:pPr algn="l"/>
            <a:r>
              <a:rPr kumimoji="1" lang="en-US" altLang="zh-CN" sz="1800" dirty="0" err="1">
                <a:solidFill>
                  <a:srgbClr val="0000FF"/>
                </a:solidFill>
                <a:latin typeface="Consolas" pitchFamily="49" charset="0"/>
                <a:ea typeface="仿宋" pitchFamily="49" charset="-122"/>
                <a:cs typeface="Consolas" pitchFamily="49" charset="0"/>
              </a:rPr>
              <a:t>typedef</a:t>
            </a:r>
            <a:r>
              <a:rPr kumimoji="1" lang="en-US" altLang="zh-CN" sz="1800" dirty="0">
                <a:solidFill>
                  <a:srgbClr val="0000FF"/>
                </a:solidFill>
                <a:latin typeface="Consolas" pitchFamily="49" charset="0"/>
                <a:ea typeface="仿宋" pitchFamily="49" charset="-122"/>
                <a:cs typeface="Consolas" pitchFamily="49" charset="0"/>
              </a:rPr>
              <a:t> </a:t>
            </a:r>
            <a:r>
              <a:rPr kumimoji="1" lang="en-US" altLang="zh-CN" sz="1800" dirty="0" err="1">
                <a:solidFill>
                  <a:srgbClr val="0000FF"/>
                </a:solidFill>
                <a:latin typeface="Consolas" pitchFamily="49" charset="0"/>
                <a:ea typeface="仿宋" pitchFamily="49" charset="-122"/>
                <a:cs typeface="Consolas" pitchFamily="49" charset="0"/>
              </a:rPr>
              <a:t>struct</a:t>
            </a:r>
            <a:r>
              <a:rPr kumimoji="1" lang="en-US" altLang="zh-CN" sz="1800" dirty="0">
                <a:solidFill>
                  <a:srgbClr val="0000FF"/>
                </a:solidFill>
                <a:latin typeface="Consolas" pitchFamily="49" charset="0"/>
                <a:ea typeface="仿宋" pitchFamily="49" charset="-122"/>
                <a:cs typeface="Consolas" pitchFamily="49" charset="0"/>
              </a:rPr>
              <a:t> </a:t>
            </a:r>
          </a:p>
          <a:p>
            <a:pPr algn="l"/>
            <a:r>
              <a:rPr kumimoji="1" lang="en-US" altLang="zh-CN" sz="1800">
                <a:solidFill>
                  <a:srgbClr val="0000FF"/>
                </a:solidFill>
                <a:latin typeface="Consolas" pitchFamily="49" charset="0"/>
                <a:ea typeface="仿宋" pitchFamily="49" charset="-122"/>
                <a:cs typeface="Consolas" pitchFamily="49" charset="0"/>
              </a:rPr>
              <a:t>{  </a:t>
            </a:r>
            <a:r>
              <a:rPr kumimoji="1" lang="en-US" altLang="zh-CN" sz="1800" dirty="0" err="1">
                <a:solidFill>
                  <a:srgbClr val="0000FF"/>
                </a:solidFill>
                <a:latin typeface="Consolas" pitchFamily="49" charset="0"/>
                <a:ea typeface="仿宋" pitchFamily="49" charset="-122"/>
                <a:cs typeface="Consolas" pitchFamily="49" charset="0"/>
              </a:rPr>
              <a:t>int</a:t>
            </a:r>
            <a:r>
              <a:rPr kumimoji="1" lang="en-US" altLang="zh-CN" sz="1800" dirty="0">
                <a:solidFill>
                  <a:srgbClr val="0000FF"/>
                </a:solidFill>
                <a:latin typeface="Consolas" pitchFamily="49" charset="0"/>
                <a:ea typeface="仿宋" pitchFamily="49" charset="-122"/>
                <a:cs typeface="Consolas" pitchFamily="49" charset="0"/>
              </a:rPr>
              <a:t> u</a:t>
            </a:r>
            <a:r>
              <a:rPr kumimoji="1" lang="en-US" altLang="zh-CN" sz="1800">
                <a:solidFill>
                  <a:srgbClr val="0000FF"/>
                </a:solidFill>
                <a:latin typeface="Consolas" pitchFamily="49" charset="0"/>
                <a:ea typeface="仿宋" pitchFamily="49" charset="-122"/>
                <a:cs typeface="Consolas" pitchFamily="49" charset="0"/>
              </a:rPr>
              <a:t>;     	</a:t>
            </a:r>
            <a:r>
              <a:rPr kumimoji="1" lang="en-US" altLang="zh-CN" sz="1800">
                <a:solidFill>
                  <a:srgbClr val="00B0F0"/>
                </a:solidFill>
                <a:latin typeface="Consolas" pitchFamily="49" charset="0"/>
                <a:ea typeface="仿宋" pitchFamily="49" charset="-122"/>
                <a:cs typeface="Consolas" pitchFamily="49" charset="0"/>
              </a:rPr>
              <a:t>//</a:t>
            </a:r>
            <a:r>
              <a:rPr kumimoji="1" lang="zh-CN" altLang="en-US" sz="1800" dirty="0">
                <a:solidFill>
                  <a:srgbClr val="00B0F0"/>
                </a:solidFill>
                <a:latin typeface="Consolas" pitchFamily="49" charset="0"/>
                <a:ea typeface="仿宋" pitchFamily="49" charset="-122"/>
                <a:cs typeface="Consolas" pitchFamily="49" charset="0"/>
              </a:rPr>
              <a:t>边的起始顶点</a:t>
            </a:r>
          </a:p>
          <a:p>
            <a:pPr algn="l"/>
            <a:r>
              <a:rPr kumimoji="1" lang="zh-CN" altLang="en-US" sz="1800">
                <a:solidFill>
                  <a:srgbClr val="0000FF"/>
                </a:solidFill>
                <a:latin typeface="Consolas" pitchFamily="49" charset="0"/>
                <a:ea typeface="仿宋" pitchFamily="49" charset="-122"/>
                <a:cs typeface="Consolas" pitchFamily="49" charset="0"/>
              </a:rPr>
              <a:t>   </a:t>
            </a:r>
            <a:r>
              <a:rPr kumimoji="1" lang="en-US" altLang="zh-CN" sz="1800" dirty="0" err="1">
                <a:solidFill>
                  <a:srgbClr val="0000FF"/>
                </a:solidFill>
                <a:latin typeface="Consolas" pitchFamily="49" charset="0"/>
                <a:ea typeface="仿宋" pitchFamily="49" charset="-122"/>
                <a:cs typeface="Consolas" pitchFamily="49" charset="0"/>
              </a:rPr>
              <a:t>int</a:t>
            </a:r>
            <a:r>
              <a:rPr kumimoji="1" lang="en-US" altLang="zh-CN" sz="1800" dirty="0">
                <a:solidFill>
                  <a:srgbClr val="0000FF"/>
                </a:solidFill>
                <a:latin typeface="Consolas" pitchFamily="49" charset="0"/>
                <a:ea typeface="仿宋" pitchFamily="49" charset="-122"/>
                <a:cs typeface="Consolas" pitchFamily="49" charset="0"/>
              </a:rPr>
              <a:t> v</a:t>
            </a:r>
            <a:r>
              <a:rPr kumimoji="1" lang="en-US" altLang="zh-CN" sz="1800">
                <a:solidFill>
                  <a:srgbClr val="0000FF"/>
                </a:solidFill>
                <a:latin typeface="Consolas" pitchFamily="49" charset="0"/>
                <a:ea typeface="仿宋" pitchFamily="49" charset="-122"/>
                <a:cs typeface="Consolas" pitchFamily="49" charset="0"/>
              </a:rPr>
              <a:t>;     </a:t>
            </a:r>
            <a:r>
              <a:rPr kumimoji="1" lang="en-US" altLang="zh-CN" sz="1800">
                <a:solidFill>
                  <a:srgbClr val="00B0F0"/>
                </a:solidFill>
                <a:latin typeface="Consolas" pitchFamily="49" charset="0"/>
                <a:ea typeface="仿宋" pitchFamily="49" charset="-122"/>
                <a:cs typeface="Consolas" pitchFamily="49" charset="0"/>
              </a:rPr>
              <a:t>	//</a:t>
            </a:r>
            <a:r>
              <a:rPr kumimoji="1" lang="zh-CN" altLang="en-US" sz="1800" dirty="0">
                <a:solidFill>
                  <a:srgbClr val="00B0F0"/>
                </a:solidFill>
                <a:latin typeface="Consolas" pitchFamily="49" charset="0"/>
                <a:ea typeface="仿宋" pitchFamily="49" charset="-122"/>
                <a:cs typeface="Consolas" pitchFamily="49" charset="0"/>
              </a:rPr>
              <a:t>边的终止顶点</a:t>
            </a:r>
          </a:p>
          <a:p>
            <a:pPr algn="l"/>
            <a:r>
              <a:rPr kumimoji="1" lang="zh-CN" altLang="en-US" sz="1800">
                <a:solidFill>
                  <a:srgbClr val="0000FF"/>
                </a:solidFill>
                <a:latin typeface="Consolas" pitchFamily="49" charset="0"/>
                <a:ea typeface="仿宋" pitchFamily="49" charset="-122"/>
                <a:cs typeface="Consolas" pitchFamily="49" charset="0"/>
              </a:rPr>
              <a:t>   </a:t>
            </a:r>
            <a:r>
              <a:rPr kumimoji="1" lang="en-US" altLang="zh-CN" sz="1800">
                <a:solidFill>
                  <a:srgbClr val="0000FF"/>
                </a:solidFill>
                <a:latin typeface="Consolas" pitchFamily="49" charset="0"/>
                <a:ea typeface="仿宋" pitchFamily="49" charset="-122"/>
                <a:cs typeface="Consolas" pitchFamily="49" charset="0"/>
              </a:rPr>
              <a:t>int </a:t>
            </a:r>
            <a:r>
              <a:rPr kumimoji="1" lang="en-US" altLang="zh-CN" sz="1800" dirty="0">
                <a:solidFill>
                  <a:srgbClr val="0000FF"/>
                </a:solidFill>
                <a:latin typeface="Consolas" pitchFamily="49" charset="0"/>
                <a:ea typeface="仿宋" pitchFamily="49" charset="-122"/>
                <a:cs typeface="Consolas" pitchFamily="49" charset="0"/>
              </a:rPr>
              <a:t>w</a:t>
            </a:r>
            <a:r>
              <a:rPr kumimoji="1" lang="en-US" altLang="zh-CN" sz="1800">
                <a:solidFill>
                  <a:srgbClr val="0000FF"/>
                </a:solidFill>
                <a:latin typeface="Consolas" pitchFamily="49" charset="0"/>
                <a:ea typeface="仿宋" pitchFamily="49" charset="-122"/>
                <a:cs typeface="Consolas" pitchFamily="49" charset="0"/>
              </a:rPr>
              <a:t>;   	</a:t>
            </a:r>
            <a:r>
              <a:rPr kumimoji="1" lang="en-US" altLang="zh-CN" sz="1800">
                <a:solidFill>
                  <a:srgbClr val="00B0F0"/>
                </a:solidFill>
                <a:latin typeface="Consolas" pitchFamily="49" charset="0"/>
                <a:ea typeface="仿宋" pitchFamily="49" charset="-122"/>
                <a:cs typeface="Consolas" pitchFamily="49" charset="0"/>
              </a:rPr>
              <a:t>//</a:t>
            </a:r>
            <a:r>
              <a:rPr kumimoji="1" lang="zh-CN" altLang="en-US" sz="1800" dirty="0">
                <a:solidFill>
                  <a:srgbClr val="00B0F0"/>
                </a:solidFill>
                <a:latin typeface="Consolas" pitchFamily="49" charset="0"/>
                <a:ea typeface="仿宋" pitchFamily="49" charset="-122"/>
                <a:cs typeface="Consolas" pitchFamily="49" charset="0"/>
              </a:rPr>
              <a:t>边的权值</a:t>
            </a:r>
          </a:p>
          <a:p>
            <a:pPr algn="l"/>
            <a:r>
              <a:rPr kumimoji="1" lang="en-US" altLang="zh-CN" sz="1800" dirty="0">
                <a:solidFill>
                  <a:srgbClr val="0000FF"/>
                </a:solidFill>
                <a:latin typeface="Consolas" pitchFamily="49" charset="0"/>
                <a:ea typeface="仿宋" pitchFamily="49" charset="-122"/>
                <a:cs typeface="Consolas" pitchFamily="49" charset="0"/>
              </a:rPr>
              <a:t>} </a:t>
            </a:r>
            <a:r>
              <a:rPr kumimoji="1" lang="en-US" altLang="zh-CN" sz="1800" dirty="0">
                <a:solidFill>
                  <a:srgbClr val="FF0000"/>
                </a:solidFill>
                <a:latin typeface="Consolas" pitchFamily="49" charset="0"/>
                <a:ea typeface="仿宋" pitchFamily="49" charset="-122"/>
                <a:cs typeface="Consolas" pitchFamily="49" charset="0"/>
              </a:rPr>
              <a:t>Edge</a:t>
            </a:r>
            <a:r>
              <a:rPr kumimoji="1" lang="en-US" altLang="zh-CN" sz="1800" dirty="0">
                <a:solidFill>
                  <a:srgbClr val="0000FF"/>
                </a:solidFill>
                <a:latin typeface="Consolas" pitchFamily="49" charset="0"/>
                <a:ea typeface="仿宋" pitchFamily="49" charset="-122"/>
                <a:cs typeface="Consolas" pitchFamily="49" charset="0"/>
              </a:rPr>
              <a:t>; </a:t>
            </a:r>
            <a:endParaRPr lang="en-US" altLang="zh-CN" sz="1800" dirty="0">
              <a:solidFill>
                <a:srgbClr val="0000FF"/>
              </a:solidFill>
              <a:latin typeface="Consolas" pitchFamily="49" charset="0"/>
              <a:ea typeface="仿宋" pitchFamily="49" charset="-122"/>
              <a:cs typeface="Consolas" pitchFamily="49" charset="0"/>
            </a:endParaRPr>
          </a:p>
        </p:txBody>
      </p:sp>
      <p:sp>
        <p:nvSpPr>
          <p:cNvPr id="16" name="TextBox 4">
            <a:extLst>
              <a:ext uri="{FF2B5EF4-FFF2-40B4-BE49-F238E27FC236}">
                <a16:creationId xmlns:a16="http://schemas.microsoft.com/office/drawing/2014/main" id="{80F3EF78-3EB6-89B5-B368-E41EDA7E38D1}"/>
              </a:ext>
            </a:extLst>
          </p:cNvPr>
          <p:cNvSpPr txBox="1"/>
          <p:nvPr/>
        </p:nvSpPr>
        <p:spPr>
          <a:xfrm>
            <a:off x="3284268" y="5640120"/>
            <a:ext cx="2857520" cy="400110"/>
          </a:xfrm>
          <a:prstGeom prst="rect">
            <a:avLst/>
          </a:prstGeom>
          <a:noFill/>
        </p:spPr>
        <p:txBody>
          <a:bodyPr wrap="square" rtlCol="0">
            <a:spAutoFit/>
          </a:bodyPr>
          <a:lstStyle/>
          <a:p>
            <a:pPr algn="l"/>
            <a:r>
              <a:rPr lang="en-US" altLang="zh-CN" sz="2000">
                <a:latin typeface="Consolas" pitchFamily="49" charset="0"/>
                <a:cs typeface="Consolas" pitchFamily="49" charset="0"/>
              </a:rPr>
              <a:t>Edge E[MAXV];</a:t>
            </a:r>
            <a:endParaRPr lang="zh-CN" altLang="en-US" sz="2000">
              <a:latin typeface="Consolas" pitchFamily="49" charset="0"/>
              <a:cs typeface="Consolas" pitchFamily="49" charset="0"/>
            </a:endParaRPr>
          </a:p>
        </p:txBody>
      </p:sp>
    </p:spTree>
    <p:extLst>
      <p:ext uri="{BB962C8B-B14F-4D97-AF65-F5344CB8AC3E}">
        <p14:creationId xmlns:p14="http://schemas.microsoft.com/office/powerpoint/2010/main" val="2129802073"/>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C1C15A-EAB8-AD2F-DE7B-9B7540C07DFA}"/>
            </a:ext>
          </a:extLst>
        </p:cNvPr>
        <p:cNvGrpSpPr/>
        <p:nvPr/>
      </p:nvGrpSpPr>
      <p:grpSpPr>
        <a:xfrm>
          <a:off x="0" y="0"/>
          <a:ext cx="0" cy="0"/>
          <a:chOff x="0" y="0"/>
          <a:chExt cx="0" cy="0"/>
        </a:xfrm>
      </p:grpSpPr>
      <p:sp>
        <p:nvSpPr>
          <p:cNvPr id="2" name="Rectangle 2">
            <a:extLst>
              <a:ext uri="{FF2B5EF4-FFF2-40B4-BE49-F238E27FC236}">
                <a16:creationId xmlns:a16="http://schemas.microsoft.com/office/drawing/2014/main" id="{EAB32275-6EF7-3AFF-FD66-15C93F1F2C7D}"/>
              </a:ext>
            </a:extLst>
          </p:cNvPr>
          <p:cNvSpPr txBox="1">
            <a:spLocks noChangeArrowheads="1"/>
          </p:cNvSpPr>
          <p:nvPr/>
        </p:nvSpPr>
        <p:spPr>
          <a:xfrm>
            <a:off x="474772" y="1230902"/>
            <a:ext cx="6485324"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8.4.4 </a:t>
            </a:r>
            <a:r>
              <a:rPr kumimoji="1" lang="zh-CN" altLang="en-US" dirty="0">
                <a:latin typeface="微软雅黑" pitchFamily="34" charset="-122"/>
                <a:ea typeface="微软雅黑" pitchFamily="34" charset="-122"/>
              </a:rPr>
              <a:t>克鲁斯卡尔算法 </a:t>
            </a:r>
            <a:r>
              <a:rPr kumimoji="1" lang="en-US" altLang="zh-CN" dirty="0">
                <a:latin typeface="微软雅黑" pitchFamily="34" charset="-122"/>
                <a:ea typeface="微软雅黑" pitchFamily="34" charset="-122"/>
              </a:rPr>
              <a:t>(Kruskal)</a:t>
            </a:r>
            <a:r>
              <a:rPr kumimoji="1" lang="zh-CN" altLang="en-US" dirty="0">
                <a:latin typeface="微软雅黑" pitchFamily="34" charset="-122"/>
                <a:ea typeface="微软雅黑" pitchFamily="34" charset="-122"/>
              </a:rPr>
              <a:t>算法</a:t>
            </a:r>
          </a:p>
        </p:txBody>
      </p:sp>
      <p:cxnSp>
        <p:nvCxnSpPr>
          <p:cNvPr id="3" name="直接连接符 2">
            <a:extLst>
              <a:ext uri="{FF2B5EF4-FFF2-40B4-BE49-F238E27FC236}">
                <a16:creationId xmlns:a16="http://schemas.microsoft.com/office/drawing/2014/main" id="{03074DB2-7454-FD36-D4EF-C5451F84B4D2}"/>
              </a:ext>
            </a:extLst>
          </p:cNvPr>
          <p:cNvCxnSpPr>
            <a:cxnSpLocks/>
          </p:cNvCxnSpPr>
          <p:nvPr/>
        </p:nvCxnSpPr>
        <p:spPr>
          <a:xfrm>
            <a:off x="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4" name="矩形 3">
            <a:extLst>
              <a:ext uri="{FF2B5EF4-FFF2-40B4-BE49-F238E27FC236}">
                <a16:creationId xmlns:a16="http://schemas.microsoft.com/office/drawing/2014/main" id="{0E3B0FCA-05F7-4747-2848-74E5D6235CA5}"/>
              </a:ext>
            </a:extLst>
          </p:cNvPr>
          <p:cNvSpPr/>
          <p:nvPr/>
        </p:nvSpPr>
        <p:spPr>
          <a:xfrm>
            <a:off x="3394075" y="399838"/>
            <a:ext cx="4617860"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8.4 </a:t>
            </a:r>
            <a:r>
              <a:rPr lang="zh-CN" altLang="en-US" sz="3000" b="1" dirty="0">
                <a:latin typeface="黑体" pitchFamily="49" charset="-122"/>
                <a:ea typeface="黑体" pitchFamily="49" charset="-122"/>
                <a:cs typeface="经典粗黑简" pitchFamily="49" charset="-122"/>
              </a:rPr>
              <a:t>生成树和最小生成树</a:t>
            </a:r>
          </a:p>
        </p:txBody>
      </p:sp>
      <p:sp>
        <p:nvSpPr>
          <p:cNvPr id="6" name="Text Box 2">
            <a:extLst>
              <a:ext uri="{FF2B5EF4-FFF2-40B4-BE49-F238E27FC236}">
                <a16:creationId xmlns:a16="http://schemas.microsoft.com/office/drawing/2014/main" id="{CADBBA7B-601C-397B-B1C7-06E6E95D7BF0}"/>
              </a:ext>
            </a:extLst>
          </p:cNvPr>
          <p:cNvSpPr txBox="1">
            <a:spLocks noChangeArrowheads="1"/>
          </p:cNvSpPr>
          <p:nvPr/>
        </p:nvSpPr>
        <p:spPr bwMode="auto">
          <a:xfrm>
            <a:off x="1488163" y="2248222"/>
            <a:ext cx="8429684" cy="4374861"/>
          </a:xfrm>
          <a:prstGeom prst="rect">
            <a:avLst/>
          </a:prstGeom>
          <a:solidFill>
            <a:schemeClr val="bg1">
              <a:lumMod val="95000"/>
            </a:schemeClr>
          </a:solidFill>
          <a:ln>
            <a:noFill/>
            <a:headEnd/>
            <a:tailEnd/>
          </a:ln>
          <a:effectLst/>
          <a:scene3d>
            <a:camera prst="orthographicFront">
              <a:rot lat="0" lon="0" rev="0"/>
            </a:camera>
            <a:lightRig rig="chilly" dir="t">
              <a:rot lat="0" lon="0" rev="18480000"/>
            </a:lightRig>
          </a:scene3d>
          <a:sp3d prstMaterial="clear">
            <a:bevelT h="63500"/>
          </a:sp3d>
        </p:spPr>
        <p:style>
          <a:lnRef idx="1">
            <a:schemeClr val="accent3"/>
          </a:lnRef>
          <a:fillRef idx="2">
            <a:schemeClr val="accent3"/>
          </a:fillRef>
          <a:effectRef idx="1">
            <a:schemeClr val="accent3"/>
          </a:effectRef>
          <a:fontRef idx="minor">
            <a:schemeClr val="dk1"/>
          </a:fontRef>
        </p:style>
        <p:txBody>
          <a:bodyPr wrap="square" lIns="144000" tIns="288000" bIns="144000">
            <a:spAutoFit/>
          </a:bodyPr>
          <a:lstStyle/>
          <a:p>
            <a:pPr algn="l">
              <a:lnSpc>
                <a:spcPts val="2200"/>
              </a:lnSpc>
            </a:pPr>
            <a:r>
              <a:rPr kumimoji="1" lang="en-US" altLang="zh-CN" sz="1800" dirty="0">
                <a:solidFill>
                  <a:srgbClr val="0000FF"/>
                </a:solidFill>
                <a:latin typeface="Consolas" pitchFamily="49" charset="0"/>
                <a:ea typeface="仿宋" pitchFamily="49" charset="-122"/>
                <a:cs typeface="Consolas" pitchFamily="49" charset="0"/>
              </a:rPr>
              <a:t>void </a:t>
            </a:r>
            <a:r>
              <a:rPr kumimoji="1" lang="en-US" altLang="zh-CN" sz="1800" dirty="0">
                <a:solidFill>
                  <a:srgbClr val="FF0000"/>
                </a:solidFill>
                <a:latin typeface="Consolas" pitchFamily="49" charset="0"/>
                <a:ea typeface="仿宋" pitchFamily="49" charset="-122"/>
                <a:cs typeface="Consolas" pitchFamily="49" charset="0"/>
              </a:rPr>
              <a:t>Kruskal</a:t>
            </a:r>
            <a:r>
              <a:rPr kumimoji="1" lang="en-US" altLang="zh-CN" sz="1800" dirty="0">
                <a:solidFill>
                  <a:srgbClr val="0000FF"/>
                </a:solidFill>
                <a:latin typeface="Consolas" pitchFamily="49" charset="0"/>
                <a:ea typeface="仿宋" pitchFamily="49" charset="-122"/>
                <a:cs typeface="Consolas" pitchFamily="49" charset="0"/>
              </a:rPr>
              <a:t>(</a:t>
            </a:r>
            <a:r>
              <a:rPr kumimoji="1" lang="en-US" altLang="zh-CN" sz="1800" dirty="0" err="1">
                <a:solidFill>
                  <a:srgbClr val="0000FF"/>
                </a:solidFill>
                <a:latin typeface="Consolas" pitchFamily="49" charset="0"/>
                <a:ea typeface="仿宋" pitchFamily="49" charset="-122"/>
                <a:cs typeface="Consolas" pitchFamily="49" charset="0"/>
              </a:rPr>
              <a:t>MatGraph</a:t>
            </a:r>
            <a:r>
              <a:rPr kumimoji="1" lang="en-US" altLang="zh-CN" sz="1800" dirty="0">
                <a:solidFill>
                  <a:srgbClr val="0000FF"/>
                </a:solidFill>
                <a:latin typeface="Consolas" pitchFamily="49" charset="0"/>
                <a:ea typeface="仿宋" pitchFamily="49" charset="-122"/>
                <a:cs typeface="Consolas" pitchFamily="49" charset="0"/>
              </a:rPr>
              <a:t> g)</a:t>
            </a:r>
          </a:p>
          <a:p>
            <a:pPr algn="l">
              <a:lnSpc>
                <a:spcPts val="2200"/>
              </a:lnSpc>
            </a:pPr>
            <a:r>
              <a:rPr kumimoji="1" lang="en-US" altLang="zh-CN" sz="1800" dirty="0">
                <a:solidFill>
                  <a:srgbClr val="0000FF"/>
                </a:solidFill>
                <a:latin typeface="Consolas" pitchFamily="49" charset="0"/>
                <a:ea typeface="仿宋" pitchFamily="49" charset="-122"/>
                <a:cs typeface="Consolas" pitchFamily="49" charset="0"/>
              </a:rPr>
              <a:t>{  int </a:t>
            </a:r>
            <a:r>
              <a:rPr kumimoji="1" lang="en-US" altLang="zh-CN" sz="1800" dirty="0" err="1">
                <a:solidFill>
                  <a:srgbClr val="0000FF"/>
                </a:solidFill>
                <a:latin typeface="Consolas" pitchFamily="49" charset="0"/>
                <a:ea typeface="仿宋" pitchFamily="49" charset="-122"/>
                <a:cs typeface="Consolas" pitchFamily="49" charset="0"/>
              </a:rPr>
              <a:t>i</a:t>
            </a:r>
            <a:r>
              <a:rPr kumimoji="1" lang="zh-CN" altLang="en-US" sz="1800" dirty="0">
                <a:solidFill>
                  <a:srgbClr val="0000FF"/>
                </a:solidFill>
                <a:latin typeface="Consolas" pitchFamily="49" charset="0"/>
                <a:ea typeface="仿宋" pitchFamily="49" charset="-122"/>
                <a:cs typeface="Consolas" pitchFamily="49" charset="0"/>
              </a:rPr>
              <a:t>，</a:t>
            </a:r>
            <a:r>
              <a:rPr kumimoji="1" lang="en-US" altLang="zh-CN" sz="1800" dirty="0">
                <a:solidFill>
                  <a:srgbClr val="0000FF"/>
                </a:solidFill>
                <a:latin typeface="Consolas" pitchFamily="49" charset="0"/>
                <a:ea typeface="仿宋" pitchFamily="49" charset="-122"/>
                <a:cs typeface="Consolas" pitchFamily="49" charset="0"/>
              </a:rPr>
              <a:t>j</a:t>
            </a:r>
            <a:r>
              <a:rPr kumimoji="1" lang="zh-CN" altLang="en-US" sz="1800" dirty="0">
                <a:solidFill>
                  <a:srgbClr val="0000FF"/>
                </a:solidFill>
                <a:latin typeface="Consolas" pitchFamily="49" charset="0"/>
                <a:ea typeface="仿宋" pitchFamily="49" charset="-122"/>
                <a:cs typeface="Consolas" pitchFamily="49" charset="0"/>
              </a:rPr>
              <a:t>，</a:t>
            </a:r>
            <a:r>
              <a:rPr kumimoji="1" lang="en-US" altLang="zh-CN" sz="1800" dirty="0">
                <a:solidFill>
                  <a:srgbClr val="0000FF"/>
                </a:solidFill>
                <a:latin typeface="Consolas" pitchFamily="49" charset="0"/>
                <a:ea typeface="仿宋" pitchFamily="49" charset="-122"/>
                <a:cs typeface="Consolas" pitchFamily="49" charset="0"/>
              </a:rPr>
              <a:t>u1</a:t>
            </a:r>
            <a:r>
              <a:rPr kumimoji="1" lang="zh-CN" altLang="en-US" sz="1800" dirty="0">
                <a:solidFill>
                  <a:srgbClr val="0000FF"/>
                </a:solidFill>
                <a:latin typeface="Consolas" pitchFamily="49" charset="0"/>
                <a:ea typeface="仿宋" pitchFamily="49" charset="-122"/>
                <a:cs typeface="Consolas" pitchFamily="49" charset="0"/>
              </a:rPr>
              <a:t>，</a:t>
            </a:r>
            <a:r>
              <a:rPr kumimoji="1" lang="en-US" altLang="zh-CN" sz="1800" dirty="0">
                <a:solidFill>
                  <a:srgbClr val="0000FF"/>
                </a:solidFill>
                <a:latin typeface="Consolas" pitchFamily="49" charset="0"/>
                <a:ea typeface="仿宋" pitchFamily="49" charset="-122"/>
                <a:cs typeface="Consolas" pitchFamily="49" charset="0"/>
              </a:rPr>
              <a:t>v1</a:t>
            </a:r>
            <a:r>
              <a:rPr kumimoji="1" lang="zh-CN" altLang="en-US" sz="1800" dirty="0">
                <a:solidFill>
                  <a:srgbClr val="0000FF"/>
                </a:solidFill>
                <a:latin typeface="Consolas" pitchFamily="49" charset="0"/>
                <a:ea typeface="仿宋" pitchFamily="49" charset="-122"/>
                <a:cs typeface="Consolas" pitchFamily="49" charset="0"/>
              </a:rPr>
              <a:t>，</a:t>
            </a:r>
            <a:r>
              <a:rPr kumimoji="1" lang="en-US" altLang="zh-CN" sz="1800" dirty="0">
                <a:solidFill>
                  <a:srgbClr val="0000FF"/>
                </a:solidFill>
                <a:latin typeface="Consolas" pitchFamily="49" charset="0"/>
                <a:ea typeface="仿宋" pitchFamily="49" charset="-122"/>
                <a:cs typeface="Consolas" pitchFamily="49" charset="0"/>
              </a:rPr>
              <a:t>sn1</a:t>
            </a:r>
            <a:r>
              <a:rPr kumimoji="1" lang="zh-CN" altLang="en-US" sz="1800" dirty="0">
                <a:solidFill>
                  <a:srgbClr val="0000FF"/>
                </a:solidFill>
                <a:latin typeface="Consolas" pitchFamily="49" charset="0"/>
                <a:ea typeface="仿宋" pitchFamily="49" charset="-122"/>
                <a:cs typeface="Consolas" pitchFamily="49" charset="0"/>
              </a:rPr>
              <a:t>，</a:t>
            </a:r>
            <a:r>
              <a:rPr kumimoji="1" lang="en-US" altLang="zh-CN" sz="1800" dirty="0">
                <a:solidFill>
                  <a:srgbClr val="0000FF"/>
                </a:solidFill>
                <a:latin typeface="Consolas" pitchFamily="49" charset="0"/>
                <a:ea typeface="仿宋" pitchFamily="49" charset="-122"/>
                <a:cs typeface="Consolas" pitchFamily="49" charset="0"/>
              </a:rPr>
              <a:t>sn2</a:t>
            </a:r>
            <a:r>
              <a:rPr kumimoji="1" lang="zh-CN" altLang="en-US" sz="1800" dirty="0">
                <a:solidFill>
                  <a:srgbClr val="0000FF"/>
                </a:solidFill>
                <a:latin typeface="Consolas" pitchFamily="49" charset="0"/>
                <a:ea typeface="仿宋" pitchFamily="49" charset="-122"/>
                <a:cs typeface="Consolas" pitchFamily="49" charset="0"/>
              </a:rPr>
              <a:t>，</a:t>
            </a:r>
            <a:r>
              <a:rPr kumimoji="1" lang="en-US" altLang="zh-CN" sz="1800" dirty="0">
                <a:solidFill>
                  <a:srgbClr val="0000FF"/>
                </a:solidFill>
                <a:latin typeface="Consolas" pitchFamily="49" charset="0"/>
                <a:ea typeface="仿宋" pitchFamily="49" charset="-122"/>
                <a:cs typeface="Consolas" pitchFamily="49" charset="0"/>
              </a:rPr>
              <a:t>k;</a:t>
            </a:r>
          </a:p>
          <a:p>
            <a:pPr algn="l">
              <a:lnSpc>
                <a:spcPts val="2200"/>
              </a:lnSpc>
            </a:pPr>
            <a:r>
              <a:rPr kumimoji="1" lang="en-US" altLang="zh-CN" sz="1800" dirty="0">
                <a:solidFill>
                  <a:srgbClr val="0000FF"/>
                </a:solidFill>
                <a:latin typeface="Consolas" pitchFamily="49" charset="0"/>
                <a:ea typeface="仿宋" pitchFamily="49" charset="-122"/>
                <a:cs typeface="Consolas" pitchFamily="49" charset="0"/>
              </a:rPr>
              <a:t>   int </a:t>
            </a:r>
            <a:r>
              <a:rPr kumimoji="1" lang="en-US" altLang="zh-CN" sz="1800" dirty="0" err="1">
                <a:solidFill>
                  <a:srgbClr val="C00000"/>
                </a:solidFill>
                <a:latin typeface="Consolas" pitchFamily="49" charset="0"/>
                <a:ea typeface="仿宋" pitchFamily="49" charset="-122"/>
                <a:cs typeface="Consolas" pitchFamily="49" charset="0"/>
              </a:rPr>
              <a:t>vset</a:t>
            </a:r>
            <a:r>
              <a:rPr kumimoji="1" lang="en-US" altLang="zh-CN" sz="1800" dirty="0">
                <a:solidFill>
                  <a:srgbClr val="C00000"/>
                </a:solidFill>
                <a:latin typeface="Consolas" pitchFamily="49" charset="0"/>
                <a:ea typeface="仿宋" pitchFamily="49" charset="-122"/>
                <a:cs typeface="Consolas" pitchFamily="49" charset="0"/>
              </a:rPr>
              <a:t>[MAXV]</a:t>
            </a:r>
            <a:r>
              <a:rPr kumimoji="1" lang="en-US" altLang="zh-CN" sz="1800" dirty="0">
                <a:solidFill>
                  <a:srgbClr val="0000FF"/>
                </a:solidFill>
                <a:latin typeface="Consolas" pitchFamily="49" charset="0"/>
                <a:ea typeface="仿宋" pitchFamily="49" charset="-122"/>
                <a:cs typeface="Consolas" pitchFamily="49" charset="0"/>
              </a:rPr>
              <a:t>;</a:t>
            </a:r>
          </a:p>
          <a:p>
            <a:pPr algn="l">
              <a:lnSpc>
                <a:spcPts val="2200"/>
              </a:lnSpc>
            </a:pPr>
            <a:r>
              <a:rPr kumimoji="1" lang="en-US" altLang="zh-CN" sz="1800" dirty="0">
                <a:solidFill>
                  <a:srgbClr val="0000FF"/>
                </a:solidFill>
                <a:latin typeface="Consolas" pitchFamily="49" charset="0"/>
                <a:ea typeface="仿宋" pitchFamily="49" charset="-122"/>
                <a:cs typeface="Consolas" pitchFamily="49" charset="0"/>
              </a:rPr>
              <a:t>   Edge E[</a:t>
            </a:r>
            <a:r>
              <a:rPr kumimoji="1" lang="en-US" altLang="zh-CN" sz="1800" dirty="0" err="1">
                <a:solidFill>
                  <a:srgbClr val="0000FF"/>
                </a:solidFill>
                <a:latin typeface="Consolas" pitchFamily="49" charset="0"/>
                <a:ea typeface="仿宋" pitchFamily="49" charset="-122"/>
                <a:cs typeface="Consolas" pitchFamily="49" charset="0"/>
              </a:rPr>
              <a:t>MaxSize</a:t>
            </a:r>
            <a:r>
              <a:rPr kumimoji="1" lang="en-US" altLang="zh-CN" sz="1800" dirty="0">
                <a:solidFill>
                  <a:srgbClr val="0000FF"/>
                </a:solidFill>
                <a:latin typeface="Consolas" pitchFamily="49" charset="0"/>
                <a:ea typeface="仿宋" pitchFamily="49" charset="-122"/>
                <a:cs typeface="Consolas" pitchFamily="49" charset="0"/>
              </a:rPr>
              <a:t>];		</a:t>
            </a:r>
            <a:r>
              <a:rPr kumimoji="1" lang="en-US" altLang="zh-CN" sz="1800" dirty="0">
                <a:solidFill>
                  <a:srgbClr val="00B0F0"/>
                </a:solidFill>
                <a:latin typeface="Consolas" pitchFamily="49" charset="0"/>
                <a:ea typeface="仿宋" pitchFamily="49" charset="-122"/>
                <a:cs typeface="Consolas" pitchFamily="49" charset="0"/>
              </a:rPr>
              <a:t>//</a:t>
            </a:r>
            <a:r>
              <a:rPr kumimoji="1" lang="zh-CN" altLang="en-US" sz="1800" dirty="0">
                <a:solidFill>
                  <a:srgbClr val="00B0F0"/>
                </a:solidFill>
                <a:latin typeface="Consolas" pitchFamily="49" charset="0"/>
                <a:ea typeface="仿宋" pitchFamily="49" charset="-122"/>
                <a:cs typeface="Consolas" pitchFamily="49" charset="0"/>
              </a:rPr>
              <a:t>存放所有边</a:t>
            </a:r>
          </a:p>
          <a:p>
            <a:pPr algn="l">
              <a:lnSpc>
                <a:spcPts val="2200"/>
              </a:lnSpc>
            </a:pPr>
            <a:r>
              <a:rPr kumimoji="1" lang="zh-CN" altLang="en-US" sz="1800" dirty="0">
                <a:solidFill>
                  <a:srgbClr val="0000FF"/>
                </a:solidFill>
                <a:latin typeface="Consolas" pitchFamily="49" charset="0"/>
                <a:ea typeface="仿宋" pitchFamily="49" charset="-122"/>
                <a:cs typeface="Consolas" pitchFamily="49" charset="0"/>
              </a:rPr>
              <a:t>   </a:t>
            </a:r>
            <a:r>
              <a:rPr kumimoji="1" lang="en-US" altLang="zh-CN" sz="1800" dirty="0">
                <a:solidFill>
                  <a:srgbClr val="0000FF"/>
                </a:solidFill>
                <a:latin typeface="Consolas" pitchFamily="49" charset="0"/>
                <a:ea typeface="仿宋" pitchFamily="49" charset="-122"/>
                <a:cs typeface="Consolas" pitchFamily="49" charset="0"/>
              </a:rPr>
              <a:t>k=0;				</a:t>
            </a:r>
            <a:r>
              <a:rPr kumimoji="1" lang="en-US" altLang="zh-CN" sz="1800" dirty="0">
                <a:solidFill>
                  <a:srgbClr val="00B0F0"/>
                </a:solidFill>
                <a:latin typeface="Consolas" pitchFamily="49" charset="0"/>
                <a:ea typeface="仿宋" pitchFamily="49" charset="-122"/>
                <a:cs typeface="Consolas" pitchFamily="49" charset="0"/>
              </a:rPr>
              <a:t>//E</a:t>
            </a:r>
            <a:r>
              <a:rPr kumimoji="1" lang="zh-CN" altLang="en-US" sz="1800" dirty="0">
                <a:solidFill>
                  <a:srgbClr val="00B0F0"/>
                </a:solidFill>
                <a:latin typeface="Consolas" pitchFamily="49" charset="0"/>
                <a:ea typeface="仿宋" pitchFamily="49" charset="-122"/>
                <a:cs typeface="Consolas" pitchFamily="49" charset="0"/>
              </a:rPr>
              <a:t>数组的下标从</a:t>
            </a:r>
            <a:r>
              <a:rPr kumimoji="1" lang="en-US" altLang="zh-CN" sz="1800" dirty="0">
                <a:solidFill>
                  <a:srgbClr val="00B0F0"/>
                </a:solidFill>
                <a:latin typeface="Consolas" pitchFamily="49" charset="0"/>
                <a:ea typeface="仿宋" pitchFamily="49" charset="-122"/>
                <a:cs typeface="Consolas" pitchFamily="49" charset="0"/>
              </a:rPr>
              <a:t>0</a:t>
            </a:r>
            <a:r>
              <a:rPr kumimoji="1" lang="zh-CN" altLang="en-US" sz="1800" dirty="0">
                <a:solidFill>
                  <a:srgbClr val="00B0F0"/>
                </a:solidFill>
                <a:latin typeface="Consolas" pitchFamily="49" charset="0"/>
                <a:ea typeface="仿宋" pitchFamily="49" charset="-122"/>
                <a:cs typeface="Consolas" pitchFamily="49" charset="0"/>
              </a:rPr>
              <a:t>开始计</a:t>
            </a:r>
          </a:p>
          <a:p>
            <a:pPr algn="l">
              <a:lnSpc>
                <a:spcPts val="2200"/>
              </a:lnSpc>
            </a:pPr>
            <a:r>
              <a:rPr kumimoji="1" lang="zh-CN" altLang="en-US" sz="1800" dirty="0">
                <a:solidFill>
                  <a:srgbClr val="0000FF"/>
                </a:solidFill>
                <a:latin typeface="Consolas" pitchFamily="49" charset="0"/>
                <a:ea typeface="仿宋" pitchFamily="49" charset="-122"/>
                <a:cs typeface="Consolas" pitchFamily="49" charset="0"/>
              </a:rPr>
              <a:t>   </a:t>
            </a:r>
            <a:r>
              <a:rPr kumimoji="1" lang="en-US" altLang="zh-CN" sz="1800" dirty="0">
                <a:solidFill>
                  <a:srgbClr val="0000FF"/>
                </a:solidFill>
                <a:latin typeface="Consolas" pitchFamily="49" charset="0"/>
                <a:ea typeface="仿宋" pitchFamily="49" charset="-122"/>
                <a:cs typeface="Consolas" pitchFamily="49" charset="0"/>
              </a:rPr>
              <a:t>for (</a:t>
            </a:r>
            <a:r>
              <a:rPr kumimoji="1" lang="en-US" altLang="zh-CN" sz="1800" dirty="0" err="1">
                <a:solidFill>
                  <a:srgbClr val="0000FF"/>
                </a:solidFill>
                <a:latin typeface="Consolas" pitchFamily="49" charset="0"/>
                <a:ea typeface="仿宋" pitchFamily="49" charset="-122"/>
                <a:cs typeface="Consolas" pitchFamily="49" charset="0"/>
              </a:rPr>
              <a:t>i</a:t>
            </a:r>
            <a:r>
              <a:rPr kumimoji="1" lang="en-US" altLang="zh-CN" sz="1800" dirty="0">
                <a:solidFill>
                  <a:srgbClr val="0000FF"/>
                </a:solidFill>
                <a:latin typeface="Consolas" pitchFamily="49" charset="0"/>
                <a:ea typeface="仿宋" pitchFamily="49" charset="-122"/>
                <a:cs typeface="Consolas" pitchFamily="49" charset="0"/>
              </a:rPr>
              <a:t>=0;i&lt;</a:t>
            </a:r>
            <a:r>
              <a:rPr kumimoji="1" lang="en-US" altLang="zh-CN" sz="1800" dirty="0" err="1">
                <a:solidFill>
                  <a:srgbClr val="0000FF"/>
                </a:solidFill>
                <a:latin typeface="Consolas" pitchFamily="49" charset="0"/>
                <a:ea typeface="仿宋" pitchFamily="49" charset="-122"/>
                <a:cs typeface="Consolas" pitchFamily="49" charset="0"/>
              </a:rPr>
              <a:t>g.n;i</a:t>
            </a:r>
            <a:r>
              <a:rPr kumimoji="1" lang="en-US" altLang="zh-CN" sz="1800" dirty="0">
                <a:solidFill>
                  <a:srgbClr val="0000FF"/>
                </a:solidFill>
                <a:latin typeface="Consolas" pitchFamily="49" charset="0"/>
                <a:ea typeface="仿宋" pitchFamily="49" charset="-122"/>
                <a:cs typeface="Consolas" pitchFamily="49" charset="0"/>
              </a:rPr>
              <a:t>++)	</a:t>
            </a:r>
            <a:r>
              <a:rPr kumimoji="1" lang="en-US" altLang="zh-CN" sz="1800" dirty="0">
                <a:solidFill>
                  <a:srgbClr val="00B0F0"/>
                </a:solidFill>
                <a:latin typeface="Consolas" pitchFamily="49" charset="0"/>
                <a:ea typeface="仿宋" pitchFamily="49" charset="-122"/>
                <a:cs typeface="Consolas" pitchFamily="49" charset="0"/>
              </a:rPr>
              <a:t>//</a:t>
            </a:r>
            <a:r>
              <a:rPr kumimoji="1" lang="zh-CN" altLang="en-US" sz="1800" dirty="0">
                <a:solidFill>
                  <a:srgbClr val="00B0F0"/>
                </a:solidFill>
                <a:latin typeface="Consolas" pitchFamily="49" charset="0"/>
                <a:ea typeface="仿宋" pitchFamily="49" charset="-122"/>
                <a:cs typeface="Consolas" pitchFamily="49" charset="0"/>
              </a:rPr>
              <a:t>由</a:t>
            </a:r>
            <a:r>
              <a:rPr kumimoji="1" lang="en-US" altLang="zh-CN" sz="1800" dirty="0">
                <a:solidFill>
                  <a:srgbClr val="00B0F0"/>
                </a:solidFill>
                <a:latin typeface="Consolas" pitchFamily="49" charset="0"/>
                <a:ea typeface="仿宋" pitchFamily="49" charset="-122"/>
                <a:cs typeface="Consolas" pitchFamily="49" charset="0"/>
              </a:rPr>
              <a:t>g</a:t>
            </a:r>
            <a:r>
              <a:rPr kumimoji="1" lang="zh-CN" altLang="en-US" sz="1800" dirty="0">
                <a:solidFill>
                  <a:srgbClr val="00B0F0"/>
                </a:solidFill>
                <a:latin typeface="Consolas" pitchFamily="49" charset="0"/>
                <a:ea typeface="仿宋" pitchFamily="49" charset="-122"/>
                <a:cs typeface="Consolas" pitchFamily="49" charset="0"/>
              </a:rPr>
              <a:t>产生的边集</a:t>
            </a:r>
            <a:r>
              <a:rPr kumimoji="1" lang="en-US" altLang="zh-CN" sz="1800" dirty="0">
                <a:solidFill>
                  <a:srgbClr val="00B0F0"/>
                </a:solidFill>
                <a:latin typeface="Consolas" pitchFamily="49" charset="0"/>
                <a:ea typeface="仿宋" pitchFamily="49" charset="-122"/>
                <a:cs typeface="Consolas" pitchFamily="49" charset="0"/>
              </a:rPr>
              <a:t>E</a:t>
            </a:r>
          </a:p>
          <a:p>
            <a:pPr algn="l">
              <a:lnSpc>
                <a:spcPts val="2200"/>
              </a:lnSpc>
            </a:pPr>
            <a:r>
              <a:rPr kumimoji="1" lang="en-US" altLang="zh-CN" sz="1800" dirty="0">
                <a:solidFill>
                  <a:srgbClr val="0000FF"/>
                </a:solidFill>
                <a:latin typeface="Consolas" pitchFamily="49" charset="0"/>
                <a:ea typeface="仿宋" pitchFamily="49" charset="-122"/>
                <a:cs typeface="Consolas" pitchFamily="49" charset="0"/>
              </a:rPr>
              <a:t>     for (j=0;j&lt;</a:t>
            </a:r>
            <a:r>
              <a:rPr kumimoji="1" lang="en-US" altLang="zh-CN" sz="1800" dirty="0" err="1">
                <a:solidFill>
                  <a:srgbClr val="0000FF"/>
                </a:solidFill>
                <a:latin typeface="Consolas" pitchFamily="49" charset="0"/>
                <a:ea typeface="仿宋" pitchFamily="49" charset="-122"/>
                <a:cs typeface="Consolas" pitchFamily="49" charset="0"/>
              </a:rPr>
              <a:t>g.n;j</a:t>
            </a:r>
            <a:r>
              <a:rPr kumimoji="1" lang="en-US" altLang="zh-CN" sz="1800" dirty="0">
                <a:solidFill>
                  <a:srgbClr val="0000FF"/>
                </a:solidFill>
                <a:latin typeface="Consolas" pitchFamily="49" charset="0"/>
                <a:ea typeface="仿宋" pitchFamily="49" charset="-122"/>
                <a:cs typeface="Consolas" pitchFamily="49" charset="0"/>
              </a:rPr>
              <a:t>++)</a:t>
            </a:r>
          </a:p>
          <a:p>
            <a:pPr algn="l">
              <a:lnSpc>
                <a:spcPts val="2200"/>
              </a:lnSpc>
            </a:pPr>
            <a:r>
              <a:rPr kumimoji="1" lang="en-US" altLang="zh-CN" sz="1800" dirty="0">
                <a:solidFill>
                  <a:srgbClr val="0000FF"/>
                </a:solidFill>
                <a:latin typeface="Consolas" pitchFamily="49" charset="0"/>
                <a:ea typeface="仿宋" pitchFamily="49" charset="-122"/>
                <a:cs typeface="Consolas" pitchFamily="49" charset="0"/>
              </a:rPr>
              <a:t>        if (</a:t>
            </a:r>
            <a:r>
              <a:rPr kumimoji="1" lang="en-US" altLang="zh-CN" sz="1800" dirty="0" err="1">
                <a:solidFill>
                  <a:srgbClr val="0000FF"/>
                </a:solidFill>
                <a:latin typeface="Consolas" pitchFamily="49" charset="0"/>
                <a:ea typeface="仿宋" pitchFamily="49" charset="-122"/>
                <a:cs typeface="Consolas" pitchFamily="49" charset="0"/>
              </a:rPr>
              <a:t>g.edges</a:t>
            </a:r>
            <a:r>
              <a:rPr kumimoji="1" lang="en-US" altLang="zh-CN" sz="1800" dirty="0">
                <a:solidFill>
                  <a:srgbClr val="0000FF"/>
                </a:solidFill>
                <a:latin typeface="Consolas" pitchFamily="49" charset="0"/>
                <a:ea typeface="仿宋" pitchFamily="49" charset="-122"/>
                <a:cs typeface="Consolas" pitchFamily="49" charset="0"/>
              </a:rPr>
              <a:t>[</a:t>
            </a:r>
            <a:r>
              <a:rPr kumimoji="1" lang="en-US" altLang="zh-CN" sz="1800" dirty="0" err="1">
                <a:solidFill>
                  <a:srgbClr val="0000FF"/>
                </a:solidFill>
                <a:latin typeface="Consolas" pitchFamily="49" charset="0"/>
                <a:ea typeface="仿宋" pitchFamily="49" charset="-122"/>
                <a:cs typeface="Consolas" pitchFamily="49" charset="0"/>
              </a:rPr>
              <a:t>i</a:t>
            </a:r>
            <a:r>
              <a:rPr kumimoji="1" lang="en-US" altLang="zh-CN" sz="1800" dirty="0">
                <a:solidFill>
                  <a:srgbClr val="0000FF"/>
                </a:solidFill>
                <a:latin typeface="Consolas" pitchFamily="49" charset="0"/>
                <a:ea typeface="仿宋" pitchFamily="49" charset="-122"/>
                <a:cs typeface="Consolas" pitchFamily="49" charset="0"/>
              </a:rPr>
              <a:t>][j]!=0 &amp;&amp; </a:t>
            </a:r>
            <a:r>
              <a:rPr kumimoji="1" lang="en-US" altLang="zh-CN" sz="1800" dirty="0" err="1">
                <a:solidFill>
                  <a:srgbClr val="0000FF"/>
                </a:solidFill>
                <a:latin typeface="Consolas" pitchFamily="49" charset="0"/>
                <a:ea typeface="仿宋" pitchFamily="49" charset="-122"/>
                <a:cs typeface="Consolas" pitchFamily="49" charset="0"/>
              </a:rPr>
              <a:t>g.edges</a:t>
            </a:r>
            <a:r>
              <a:rPr kumimoji="1" lang="en-US" altLang="zh-CN" sz="1800" dirty="0">
                <a:solidFill>
                  <a:srgbClr val="0000FF"/>
                </a:solidFill>
                <a:latin typeface="Consolas" pitchFamily="49" charset="0"/>
                <a:ea typeface="仿宋" pitchFamily="49" charset="-122"/>
                <a:cs typeface="Consolas" pitchFamily="49" charset="0"/>
              </a:rPr>
              <a:t>[</a:t>
            </a:r>
            <a:r>
              <a:rPr kumimoji="1" lang="en-US" altLang="zh-CN" sz="1800" dirty="0" err="1">
                <a:solidFill>
                  <a:srgbClr val="0000FF"/>
                </a:solidFill>
                <a:latin typeface="Consolas" pitchFamily="49" charset="0"/>
                <a:ea typeface="仿宋" pitchFamily="49" charset="-122"/>
                <a:cs typeface="Consolas" pitchFamily="49" charset="0"/>
              </a:rPr>
              <a:t>i</a:t>
            </a:r>
            <a:r>
              <a:rPr kumimoji="1" lang="en-US" altLang="zh-CN" sz="1800" dirty="0">
                <a:solidFill>
                  <a:srgbClr val="0000FF"/>
                </a:solidFill>
                <a:latin typeface="Consolas" pitchFamily="49" charset="0"/>
                <a:ea typeface="仿宋" pitchFamily="49" charset="-122"/>
                <a:cs typeface="Consolas" pitchFamily="49" charset="0"/>
              </a:rPr>
              <a:t>][j]!=INF)</a:t>
            </a:r>
          </a:p>
          <a:p>
            <a:pPr algn="l">
              <a:lnSpc>
                <a:spcPts val="2200"/>
              </a:lnSpc>
            </a:pPr>
            <a:r>
              <a:rPr kumimoji="1" lang="en-US" altLang="zh-CN" sz="1800" dirty="0">
                <a:solidFill>
                  <a:srgbClr val="0000FF"/>
                </a:solidFill>
                <a:latin typeface="Consolas" pitchFamily="49" charset="0"/>
                <a:ea typeface="仿宋" pitchFamily="49" charset="-122"/>
                <a:cs typeface="Consolas" pitchFamily="49" charset="0"/>
              </a:rPr>
              <a:t>	 {  E[k].u=</a:t>
            </a:r>
            <a:r>
              <a:rPr kumimoji="1" lang="en-US" altLang="zh-CN" sz="1800" dirty="0" err="1">
                <a:solidFill>
                  <a:srgbClr val="0000FF"/>
                </a:solidFill>
                <a:latin typeface="Consolas" pitchFamily="49" charset="0"/>
                <a:ea typeface="仿宋" pitchFamily="49" charset="-122"/>
                <a:cs typeface="Consolas" pitchFamily="49" charset="0"/>
              </a:rPr>
              <a:t>i</a:t>
            </a:r>
            <a:r>
              <a:rPr kumimoji="1" lang="en-US" altLang="zh-CN" sz="1800" dirty="0">
                <a:solidFill>
                  <a:srgbClr val="0000FF"/>
                </a:solidFill>
                <a:latin typeface="Consolas" pitchFamily="49" charset="0"/>
                <a:ea typeface="仿宋" pitchFamily="49" charset="-122"/>
                <a:cs typeface="Consolas" pitchFamily="49" charset="0"/>
              </a:rPr>
              <a:t>;  E[k].v=j;  E[k].w=</a:t>
            </a:r>
            <a:r>
              <a:rPr kumimoji="1" lang="en-US" altLang="zh-CN" sz="1800" dirty="0" err="1">
                <a:solidFill>
                  <a:srgbClr val="0000FF"/>
                </a:solidFill>
                <a:latin typeface="Consolas" pitchFamily="49" charset="0"/>
                <a:ea typeface="仿宋" pitchFamily="49" charset="-122"/>
                <a:cs typeface="Consolas" pitchFamily="49" charset="0"/>
              </a:rPr>
              <a:t>g.edges</a:t>
            </a:r>
            <a:r>
              <a:rPr kumimoji="1" lang="en-US" altLang="zh-CN" sz="1800" dirty="0">
                <a:solidFill>
                  <a:srgbClr val="0000FF"/>
                </a:solidFill>
                <a:latin typeface="Consolas" pitchFamily="49" charset="0"/>
                <a:ea typeface="仿宋" pitchFamily="49" charset="-122"/>
                <a:cs typeface="Consolas" pitchFamily="49" charset="0"/>
              </a:rPr>
              <a:t>[</a:t>
            </a:r>
            <a:r>
              <a:rPr kumimoji="1" lang="en-US" altLang="zh-CN" sz="1800" dirty="0" err="1">
                <a:solidFill>
                  <a:srgbClr val="0000FF"/>
                </a:solidFill>
                <a:latin typeface="Consolas" pitchFamily="49" charset="0"/>
                <a:ea typeface="仿宋" pitchFamily="49" charset="-122"/>
                <a:cs typeface="Consolas" pitchFamily="49" charset="0"/>
              </a:rPr>
              <a:t>i</a:t>
            </a:r>
            <a:r>
              <a:rPr kumimoji="1" lang="en-US" altLang="zh-CN" sz="1800" dirty="0">
                <a:solidFill>
                  <a:srgbClr val="0000FF"/>
                </a:solidFill>
                <a:latin typeface="Consolas" pitchFamily="49" charset="0"/>
                <a:ea typeface="仿宋" pitchFamily="49" charset="-122"/>
                <a:cs typeface="Consolas" pitchFamily="49" charset="0"/>
              </a:rPr>
              <a:t>][j];</a:t>
            </a:r>
          </a:p>
          <a:p>
            <a:pPr algn="l">
              <a:lnSpc>
                <a:spcPts val="2200"/>
              </a:lnSpc>
            </a:pPr>
            <a:r>
              <a:rPr kumimoji="1" lang="en-US" altLang="zh-CN" sz="1800" dirty="0">
                <a:solidFill>
                  <a:srgbClr val="0000FF"/>
                </a:solidFill>
                <a:latin typeface="Consolas" pitchFamily="49" charset="0"/>
                <a:ea typeface="仿宋" pitchFamily="49" charset="-122"/>
                <a:cs typeface="Consolas" pitchFamily="49" charset="0"/>
              </a:rPr>
              <a:t>	    k++;</a:t>
            </a:r>
          </a:p>
          <a:p>
            <a:pPr algn="l">
              <a:lnSpc>
                <a:spcPts val="2200"/>
              </a:lnSpc>
            </a:pPr>
            <a:r>
              <a:rPr kumimoji="1" lang="en-US" altLang="zh-CN" sz="1800" dirty="0">
                <a:solidFill>
                  <a:srgbClr val="0000FF"/>
                </a:solidFill>
                <a:latin typeface="Consolas" pitchFamily="49" charset="0"/>
                <a:ea typeface="仿宋" pitchFamily="49" charset="-122"/>
                <a:cs typeface="Consolas" pitchFamily="49" charset="0"/>
              </a:rPr>
              <a:t>	 }</a:t>
            </a:r>
          </a:p>
          <a:p>
            <a:pPr algn="l">
              <a:lnSpc>
                <a:spcPts val="2200"/>
              </a:lnSpc>
            </a:pPr>
            <a:r>
              <a:rPr kumimoji="1" lang="en-US" altLang="zh-CN" sz="1800" dirty="0">
                <a:solidFill>
                  <a:srgbClr val="0000FF"/>
                </a:solidFill>
                <a:latin typeface="Consolas" pitchFamily="49" charset="0"/>
                <a:ea typeface="仿宋" pitchFamily="49" charset="-122"/>
                <a:cs typeface="Consolas" pitchFamily="49" charset="0"/>
              </a:rPr>
              <a:t>   </a:t>
            </a:r>
            <a:r>
              <a:rPr kumimoji="1" lang="en-US" altLang="zh-CN" sz="1800" dirty="0" err="1">
                <a:solidFill>
                  <a:srgbClr val="FF00FF"/>
                </a:solidFill>
                <a:latin typeface="Consolas" pitchFamily="49" charset="0"/>
                <a:ea typeface="仿宋" pitchFamily="49" charset="-122"/>
                <a:cs typeface="Consolas" pitchFamily="49" charset="0"/>
              </a:rPr>
              <a:t>InsertSort</a:t>
            </a:r>
            <a:r>
              <a:rPr kumimoji="1" lang="en-US" altLang="zh-CN" sz="1800" dirty="0">
                <a:solidFill>
                  <a:srgbClr val="FF00FF"/>
                </a:solidFill>
                <a:latin typeface="Consolas" pitchFamily="49" charset="0"/>
                <a:ea typeface="仿宋" pitchFamily="49" charset="-122"/>
                <a:cs typeface="Consolas" pitchFamily="49" charset="0"/>
              </a:rPr>
              <a:t>(E</a:t>
            </a:r>
            <a:r>
              <a:rPr kumimoji="1" lang="zh-CN" altLang="en-US" sz="1800" dirty="0">
                <a:solidFill>
                  <a:srgbClr val="FF00FF"/>
                </a:solidFill>
                <a:latin typeface="Consolas" pitchFamily="49" charset="0"/>
                <a:ea typeface="仿宋" pitchFamily="49" charset="-122"/>
                <a:cs typeface="Consolas" pitchFamily="49" charset="0"/>
              </a:rPr>
              <a:t>，</a:t>
            </a:r>
            <a:r>
              <a:rPr kumimoji="1" lang="en-US" altLang="zh-CN" sz="1800" dirty="0" err="1">
                <a:solidFill>
                  <a:srgbClr val="FF00FF"/>
                </a:solidFill>
                <a:latin typeface="Consolas" pitchFamily="49" charset="0"/>
                <a:ea typeface="仿宋" pitchFamily="49" charset="-122"/>
                <a:cs typeface="Consolas" pitchFamily="49" charset="0"/>
              </a:rPr>
              <a:t>g.e</a:t>
            </a:r>
            <a:r>
              <a:rPr kumimoji="1" lang="en-US" altLang="zh-CN" sz="1800" dirty="0">
                <a:solidFill>
                  <a:srgbClr val="FF00FF"/>
                </a:solidFill>
                <a:latin typeface="Consolas" pitchFamily="49" charset="0"/>
                <a:ea typeface="仿宋" pitchFamily="49" charset="-122"/>
                <a:cs typeface="Consolas" pitchFamily="49" charset="0"/>
              </a:rPr>
              <a:t>);		</a:t>
            </a:r>
            <a:r>
              <a:rPr kumimoji="1" lang="en-US" altLang="zh-CN" sz="1800" dirty="0">
                <a:solidFill>
                  <a:srgbClr val="00B0F0"/>
                </a:solidFill>
                <a:latin typeface="Consolas" pitchFamily="49" charset="0"/>
                <a:ea typeface="仿宋" pitchFamily="49" charset="-122"/>
                <a:cs typeface="Consolas" pitchFamily="49" charset="0"/>
              </a:rPr>
              <a:t>//</a:t>
            </a:r>
            <a:r>
              <a:rPr kumimoji="1" lang="zh-CN" altLang="en-US" sz="1800" dirty="0">
                <a:solidFill>
                  <a:srgbClr val="00B0F0"/>
                </a:solidFill>
                <a:latin typeface="Consolas" pitchFamily="49" charset="0"/>
                <a:ea typeface="仿宋" pitchFamily="49" charset="-122"/>
                <a:cs typeface="Consolas" pitchFamily="49" charset="0"/>
              </a:rPr>
              <a:t>用直接插入排序对</a:t>
            </a:r>
            <a:r>
              <a:rPr kumimoji="1" lang="en-US" altLang="zh-CN" sz="1800" dirty="0">
                <a:solidFill>
                  <a:srgbClr val="00B0F0"/>
                </a:solidFill>
                <a:latin typeface="Consolas" pitchFamily="49" charset="0"/>
                <a:ea typeface="仿宋" pitchFamily="49" charset="-122"/>
                <a:cs typeface="Consolas" pitchFamily="49" charset="0"/>
              </a:rPr>
              <a:t>E</a:t>
            </a:r>
            <a:r>
              <a:rPr kumimoji="1" lang="zh-CN" altLang="en-US" sz="1800" dirty="0">
                <a:solidFill>
                  <a:srgbClr val="00B0F0"/>
                </a:solidFill>
                <a:latin typeface="Consolas" pitchFamily="49" charset="0"/>
                <a:ea typeface="仿宋" pitchFamily="49" charset="-122"/>
                <a:cs typeface="Consolas" pitchFamily="49" charset="0"/>
              </a:rPr>
              <a:t>数组按权值递增排序</a:t>
            </a:r>
          </a:p>
          <a:p>
            <a:pPr algn="l">
              <a:lnSpc>
                <a:spcPts val="2200"/>
              </a:lnSpc>
            </a:pPr>
            <a:r>
              <a:rPr kumimoji="1" lang="zh-CN" altLang="en-US" sz="1800" dirty="0">
                <a:solidFill>
                  <a:srgbClr val="0000FF"/>
                </a:solidFill>
                <a:latin typeface="Consolas" pitchFamily="49" charset="0"/>
                <a:ea typeface="仿宋" pitchFamily="49" charset="-122"/>
                <a:cs typeface="Consolas" pitchFamily="49" charset="0"/>
              </a:rPr>
              <a:t>   </a:t>
            </a:r>
            <a:r>
              <a:rPr kumimoji="1" lang="en-US" altLang="zh-CN" sz="1800" dirty="0">
                <a:solidFill>
                  <a:srgbClr val="0000FF"/>
                </a:solidFill>
                <a:latin typeface="Consolas" pitchFamily="49" charset="0"/>
                <a:ea typeface="仿宋" pitchFamily="49" charset="-122"/>
                <a:cs typeface="Consolas" pitchFamily="49" charset="0"/>
              </a:rPr>
              <a:t>for (</a:t>
            </a:r>
            <a:r>
              <a:rPr kumimoji="1" lang="en-US" altLang="zh-CN" sz="1800" dirty="0" err="1">
                <a:solidFill>
                  <a:srgbClr val="0000FF"/>
                </a:solidFill>
                <a:latin typeface="Consolas" pitchFamily="49" charset="0"/>
                <a:ea typeface="仿宋" pitchFamily="49" charset="-122"/>
                <a:cs typeface="Consolas" pitchFamily="49" charset="0"/>
              </a:rPr>
              <a:t>i</a:t>
            </a:r>
            <a:r>
              <a:rPr kumimoji="1" lang="en-US" altLang="zh-CN" sz="1800" dirty="0">
                <a:solidFill>
                  <a:srgbClr val="0000FF"/>
                </a:solidFill>
                <a:latin typeface="Consolas" pitchFamily="49" charset="0"/>
                <a:ea typeface="仿宋" pitchFamily="49" charset="-122"/>
                <a:cs typeface="Consolas" pitchFamily="49" charset="0"/>
              </a:rPr>
              <a:t>=0;i&lt;</a:t>
            </a:r>
            <a:r>
              <a:rPr kumimoji="1" lang="en-US" altLang="zh-CN" sz="1800" dirty="0" err="1">
                <a:solidFill>
                  <a:srgbClr val="0000FF"/>
                </a:solidFill>
                <a:latin typeface="Consolas" pitchFamily="49" charset="0"/>
                <a:ea typeface="仿宋" pitchFamily="49" charset="-122"/>
                <a:cs typeface="Consolas" pitchFamily="49" charset="0"/>
              </a:rPr>
              <a:t>g.n;i</a:t>
            </a:r>
            <a:r>
              <a:rPr kumimoji="1" lang="en-US" altLang="zh-CN" sz="1800" dirty="0">
                <a:solidFill>
                  <a:srgbClr val="0000FF"/>
                </a:solidFill>
                <a:latin typeface="Consolas" pitchFamily="49" charset="0"/>
                <a:ea typeface="仿宋" pitchFamily="49" charset="-122"/>
                <a:cs typeface="Consolas" pitchFamily="49" charset="0"/>
              </a:rPr>
              <a:t>++) 	</a:t>
            </a:r>
            <a:r>
              <a:rPr kumimoji="1" lang="en-US" altLang="zh-CN" sz="1800" dirty="0">
                <a:solidFill>
                  <a:srgbClr val="00B0F0"/>
                </a:solidFill>
                <a:latin typeface="Consolas" pitchFamily="49" charset="0"/>
                <a:ea typeface="仿宋" pitchFamily="49" charset="-122"/>
                <a:cs typeface="Consolas" pitchFamily="49" charset="0"/>
              </a:rPr>
              <a:t>//</a:t>
            </a:r>
            <a:r>
              <a:rPr kumimoji="1" lang="zh-CN" altLang="en-US" sz="1800" dirty="0">
                <a:solidFill>
                  <a:srgbClr val="00B0F0"/>
                </a:solidFill>
                <a:latin typeface="Consolas" pitchFamily="49" charset="0"/>
                <a:ea typeface="仿宋" pitchFamily="49" charset="-122"/>
                <a:cs typeface="Consolas" pitchFamily="49" charset="0"/>
              </a:rPr>
              <a:t>初始化辅助数组</a:t>
            </a:r>
          </a:p>
          <a:p>
            <a:pPr algn="l">
              <a:lnSpc>
                <a:spcPts val="2200"/>
              </a:lnSpc>
            </a:pPr>
            <a:r>
              <a:rPr kumimoji="1" lang="zh-CN" altLang="en-US" sz="1800" dirty="0">
                <a:solidFill>
                  <a:srgbClr val="0000FF"/>
                </a:solidFill>
                <a:latin typeface="Consolas" pitchFamily="49" charset="0"/>
                <a:ea typeface="仿宋" pitchFamily="49" charset="-122"/>
                <a:cs typeface="Consolas" pitchFamily="49" charset="0"/>
              </a:rPr>
              <a:t>	</a:t>
            </a:r>
            <a:r>
              <a:rPr kumimoji="1" lang="en-US" altLang="zh-CN" sz="1800" dirty="0" err="1">
                <a:solidFill>
                  <a:srgbClr val="C00000"/>
                </a:solidFill>
                <a:latin typeface="Consolas" pitchFamily="49" charset="0"/>
                <a:ea typeface="仿宋" pitchFamily="49" charset="-122"/>
                <a:cs typeface="Consolas" pitchFamily="49" charset="0"/>
              </a:rPr>
              <a:t>vset</a:t>
            </a:r>
            <a:r>
              <a:rPr kumimoji="1" lang="en-US" altLang="zh-CN" sz="1800" dirty="0">
                <a:solidFill>
                  <a:srgbClr val="C00000"/>
                </a:solidFill>
                <a:latin typeface="Consolas" pitchFamily="49" charset="0"/>
                <a:ea typeface="仿宋" pitchFamily="49" charset="-122"/>
                <a:cs typeface="Consolas" pitchFamily="49" charset="0"/>
              </a:rPr>
              <a:t>[</a:t>
            </a:r>
            <a:r>
              <a:rPr kumimoji="1" lang="en-US" altLang="zh-CN" sz="1800" dirty="0" err="1">
                <a:solidFill>
                  <a:srgbClr val="C00000"/>
                </a:solidFill>
                <a:latin typeface="Consolas" pitchFamily="49" charset="0"/>
                <a:ea typeface="仿宋" pitchFamily="49" charset="-122"/>
                <a:cs typeface="Consolas" pitchFamily="49" charset="0"/>
              </a:rPr>
              <a:t>i</a:t>
            </a:r>
            <a:r>
              <a:rPr kumimoji="1" lang="en-US" altLang="zh-CN" sz="1800" dirty="0">
                <a:solidFill>
                  <a:srgbClr val="C00000"/>
                </a:solidFill>
                <a:latin typeface="Consolas" pitchFamily="49" charset="0"/>
                <a:ea typeface="仿宋" pitchFamily="49" charset="-122"/>
                <a:cs typeface="Consolas" pitchFamily="49" charset="0"/>
              </a:rPr>
              <a:t>]=</a:t>
            </a:r>
            <a:r>
              <a:rPr kumimoji="1" lang="en-US" altLang="zh-CN" sz="1800" dirty="0" err="1">
                <a:solidFill>
                  <a:srgbClr val="C00000"/>
                </a:solidFill>
                <a:latin typeface="Consolas" pitchFamily="49" charset="0"/>
                <a:ea typeface="仿宋" pitchFamily="49" charset="-122"/>
                <a:cs typeface="Consolas" pitchFamily="49" charset="0"/>
              </a:rPr>
              <a:t>i</a:t>
            </a:r>
            <a:r>
              <a:rPr kumimoji="1" lang="en-US" altLang="zh-CN" sz="1800" dirty="0">
                <a:solidFill>
                  <a:srgbClr val="C00000"/>
                </a:solidFill>
                <a:latin typeface="Consolas" pitchFamily="49" charset="0"/>
                <a:ea typeface="仿宋" pitchFamily="49" charset="-122"/>
                <a:cs typeface="Consolas" pitchFamily="49" charset="0"/>
              </a:rPr>
              <a:t>;</a:t>
            </a:r>
            <a:endParaRPr kumimoji="1" lang="en-US" altLang="zh-CN" sz="1800" dirty="0">
              <a:solidFill>
                <a:srgbClr val="0000FF"/>
              </a:solidFill>
              <a:latin typeface="Consolas" pitchFamily="49" charset="0"/>
              <a:ea typeface="仿宋" pitchFamily="49" charset="-122"/>
              <a:cs typeface="Consolas" pitchFamily="49" charset="0"/>
            </a:endParaRPr>
          </a:p>
        </p:txBody>
      </p:sp>
      <p:sp>
        <p:nvSpPr>
          <p:cNvPr id="7" name="Text Box 1047">
            <a:extLst>
              <a:ext uri="{FF2B5EF4-FFF2-40B4-BE49-F238E27FC236}">
                <a16:creationId xmlns:a16="http://schemas.microsoft.com/office/drawing/2014/main" id="{C2ADD46A-9B1B-7273-F3CF-DEF348A552F3}"/>
              </a:ext>
            </a:extLst>
          </p:cNvPr>
          <p:cNvSpPr txBox="1">
            <a:spLocks noChangeArrowheads="1"/>
          </p:cNvSpPr>
          <p:nvPr/>
        </p:nvSpPr>
        <p:spPr bwMode="auto">
          <a:xfrm>
            <a:off x="1343472" y="1848112"/>
            <a:ext cx="4824412" cy="400110"/>
          </a:xfrm>
          <a:prstGeom prst="rect">
            <a:avLst/>
          </a:prstGeom>
          <a:noFill/>
          <a:ln w="19050" algn="ctr">
            <a:noFill/>
            <a:miter lim="800000"/>
            <a:headEnd/>
            <a:tailEnd type="none" w="med" len="lg"/>
          </a:ln>
          <a:effectLst/>
          <a:scene3d>
            <a:camera prst="perspectiveRight"/>
            <a:lightRig rig="threePt" dir="t"/>
          </a:scene3d>
        </p:spPr>
        <p:txBody>
          <a:bodyPr>
            <a:spAutoFit/>
          </a:bodyPr>
          <a:lstStyle/>
          <a:p>
            <a:pPr algn="l">
              <a:spcBef>
                <a:spcPct val="50000"/>
              </a:spcBef>
            </a:pPr>
            <a:r>
              <a:rPr kumimoji="1" lang="zh-CN" altLang="en-US" sz="2000" dirty="0">
                <a:latin typeface="Consolas" pitchFamily="49" charset="0"/>
                <a:ea typeface="楷体" pitchFamily="49" charset="-122"/>
                <a:cs typeface="Consolas" pitchFamily="49" charset="0"/>
              </a:rPr>
              <a:t>克鲁斯卡尔（</a:t>
            </a:r>
            <a:r>
              <a:rPr kumimoji="1" lang="en-US" altLang="zh-CN" sz="2000" dirty="0" err="1">
                <a:latin typeface="Consolas" pitchFamily="49" charset="0"/>
                <a:ea typeface="楷体" pitchFamily="49" charset="-122"/>
                <a:cs typeface="Consolas" pitchFamily="49" charset="0"/>
              </a:rPr>
              <a:t>Kruskal</a:t>
            </a:r>
            <a:r>
              <a:rPr kumimoji="1" lang="zh-CN" altLang="en-US" sz="2000" dirty="0">
                <a:latin typeface="Consolas" pitchFamily="49" charset="0"/>
                <a:ea typeface="楷体" pitchFamily="49" charset="-122"/>
                <a:cs typeface="Consolas" pitchFamily="49" charset="0"/>
              </a:rPr>
              <a:t>）算法如下：</a:t>
            </a:r>
            <a:endParaRPr lang="zh-CN" altLang="en-US" sz="2000" dirty="0">
              <a:latin typeface="Consolas" pitchFamily="49" charset="0"/>
              <a:ea typeface="楷体" pitchFamily="49" charset="-122"/>
              <a:cs typeface="Consolas" pitchFamily="49" charset="0"/>
            </a:endParaRPr>
          </a:p>
        </p:txBody>
      </p:sp>
    </p:spTree>
    <p:extLst>
      <p:ext uri="{BB962C8B-B14F-4D97-AF65-F5344CB8AC3E}">
        <p14:creationId xmlns:p14="http://schemas.microsoft.com/office/powerpoint/2010/main" val="18387215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xEl>
                                              <p:pRg st="7" end="7"/>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xEl>
                                              <p:pRg st="8" end="8"/>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xEl>
                                              <p:pRg st="9" end="9"/>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xEl>
                                              <p:pRg st="10" end="1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6">
                                            <p:txEl>
                                              <p:pRg st="11" end="11"/>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6">
                                            <p:txEl>
                                              <p:pRg st="12" end="12"/>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6">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5D70D3-AB70-0D41-A595-13D3BC19291B}"/>
            </a:ext>
          </a:extLst>
        </p:cNvPr>
        <p:cNvGrpSpPr/>
        <p:nvPr/>
      </p:nvGrpSpPr>
      <p:grpSpPr>
        <a:xfrm>
          <a:off x="0" y="0"/>
          <a:ext cx="0" cy="0"/>
          <a:chOff x="0" y="0"/>
          <a:chExt cx="0" cy="0"/>
        </a:xfrm>
      </p:grpSpPr>
      <p:sp>
        <p:nvSpPr>
          <p:cNvPr id="2" name="Rectangle 2">
            <a:extLst>
              <a:ext uri="{FF2B5EF4-FFF2-40B4-BE49-F238E27FC236}">
                <a16:creationId xmlns:a16="http://schemas.microsoft.com/office/drawing/2014/main" id="{C1B394A3-FA50-71DB-AED4-A7D12CBD9544}"/>
              </a:ext>
            </a:extLst>
          </p:cNvPr>
          <p:cNvSpPr txBox="1">
            <a:spLocks noChangeArrowheads="1"/>
          </p:cNvSpPr>
          <p:nvPr/>
        </p:nvSpPr>
        <p:spPr>
          <a:xfrm>
            <a:off x="474772" y="1230902"/>
            <a:ext cx="6485324"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8.4.4 </a:t>
            </a:r>
            <a:r>
              <a:rPr kumimoji="1" lang="zh-CN" altLang="en-US" dirty="0">
                <a:latin typeface="微软雅黑" pitchFamily="34" charset="-122"/>
                <a:ea typeface="微软雅黑" pitchFamily="34" charset="-122"/>
              </a:rPr>
              <a:t>克鲁斯卡尔算法 </a:t>
            </a:r>
            <a:r>
              <a:rPr kumimoji="1" lang="en-US" altLang="zh-CN" dirty="0">
                <a:latin typeface="微软雅黑" pitchFamily="34" charset="-122"/>
                <a:ea typeface="微软雅黑" pitchFamily="34" charset="-122"/>
              </a:rPr>
              <a:t>(Kruskal)</a:t>
            </a:r>
            <a:r>
              <a:rPr kumimoji="1" lang="zh-CN" altLang="en-US" dirty="0">
                <a:latin typeface="微软雅黑" pitchFamily="34" charset="-122"/>
                <a:ea typeface="微软雅黑" pitchFamily="34" charset="-122"/>
              </a:rPr>
              <a:t>算法</a:t>
            </a:r>
          </a:p>
        </p:txBody>
      </p:sp>
      <p:cxnSp>
        <p:nvCxnSpPr>
          <p:cNvPr id="3" name="直接连接符 2">
            <a:extLst>
              <a:ext uri="{FF2B5EF4-FFF2-40B4-BE49-F238E27FC236}">
                <a16:creationId xmlns:a16="http://schemas.microsoft.com/office/drawing/2014/main" id="{8735DB68-6A0C-76EC-C785-ABA70955F724}"/>
              </a:ext>
            </a:extLst>
          </p:cNvPr>
          <p:cNvCxnSpPr>
            <a:cxnSpLocks/>
          </p:cNvCxnSpPr>
          <p:nvPr/>
        </p:nvCxnSpPr>
        <p:spPr>
          <a:xfrm>
            <a:off x="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4" name="矩形 3">
            <a:extLst>
              <a:ext uri="{FF2B5EF4-FFF2-40B4-BE49-F238E27FC236}">
                <a16:creationId xmlns:a16="http://schemas.microsoft.com/office/drawing/2014/main" id="{74A7DC99-2C81-5D0A-8711-A228D6528ACB}"/>
              </a:ext>
            </a:extLst>
          </p:cNvPr>
          <p:cNvSpPr/>
          <p:nvPr/>
        </p:nvSpPr>
        <p:spPr>
          <a:xfrm>
            <a:off x="3394075" y="399838"/>
            <a:ext cx="4617860"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8.4 </a:t>
            </a:r>
            <a:r>
              <a:rPr lang="zh-CN" altLang="en-US" sz="3000" b="1" dirty="0">
                <a:latin typeface="黑体" pitchFamily="49" charset="-122"/>
                <a:ea typeface="黑体" pitchFamily="49" charset="-122"/>
                <a:cs typeface="经典粗黑简" pitchFamily="49" charset="-122"/>
              </a:rPr>
              <a:t>生成树和最小生成树</a:t>
            </a:r>
          </a:p>
        </p:txBody>
      </p:sp>
      <p:sp>
        <p:nvSpPr>
          <p:cNvPr id="7" name="Text Box 1047">
            <a:extLst>
              <a:ext uri="{FF2B5EF4-FFF2-40B4-BE49-F238E27FC236}">
                <a16:creationId xmlns:a16="http://schemas.microsoft.com/office/drawing/2014/main" id="{B6725893-53E0-F0BA-ADE9-36EDB33CCA02}"/>
              </a:ext>
            </a:extLst>
          </p:cNvPr>
          <p:cNvSpPr txBox="1">
            <a:spLocks noChangeArrowheads="1"/>
          </p:cNvSpPr>
          <p:nvPr/>
        </p:nvSpPr>
        <p:spPr bwMode="auto">
          <a:xfrm>
            <a:off x="1343472" y="1848112"/>
            <a:ext cx="4824412" cy="400110"/>
          </a:xfrm>
          <a:prstGeom prst="rect">
            <a:avLst/>
          </a:prstGeom>
          <a:noFill/>
          <a:ln w="19050" algn="ctr">
            <a:noFill/>
            <a:miter lim="800000"/>
            <a:headEnd/>
            <a:tailEnd type="none" w="med" len="lg"/>
          </a:ln>
          <a:effectLst/>
          <a:scene3d>
            <a:camera prst="perspectiveRight"/>
            <a:lightRig rig="threePt" dir="t"/>
          </a:scene3d>
        </p:spPr>
        <p:txBody>
          <a:bodyPr>
            <a:spAutoFit/>
          </a:bodyPr>
          <a:lstStyle/>
          <a:p>
            <a:pPr algn="l">
              <a:spcBef>
                <a:spcPct val="50000"/>
              </a:spcBef>
            </a:pPr>
            <a:r>
              <a:rPr kumimoji="1" lang="zh-CN" altLang="en-US" sz="2000" dirty="0">
                <a:latin typeface="Consolas" pitchFamily="49" charset="0"/>
                <a:ea typeface="楷体" pitchFamily="49" charset="-122"/>
                <a:cs typeface="Consolas" pitchFamily="49" charset="0"/>
              </a:rPr>
              <a:t>克鲁斯卡尔（</a:t>
            </a:r>
            <a:r>
              <a:rPr kumimoji="1" lang="en-US" altLang="zh-CN" sz="2000" dirty="0" err="1">
                <a:latin typeface="Consolas" pitchFamily="49" charset="0"/>
                <a:ea typeface="楷体" pitchFamily="49" charset="-122"/>
                <a:cs typeface="Consolas" pitchFamily="49" charset="0"/>
              </a:rPr>
              <a:t>Kruskal</a:t>
            </a:r>
            <a:r>
              <a:rPr kumimoji="1" lang="zh-CN" altLang="en-US" sz="2000" dirty="0">
                <a:latin typeface="Consolas" pitchFamily="49" charset="0"/>
                <a:ea typeface="楷体" pitchFamily="49" charset="-122"/>
                <a:cs typeface="Consolas" pitchFamily="49" charset="0"/>
              </a:rPr>
              <a:t>）算法如下：</a:t>
            </a:r>
            <a:endParaRPr lang="zh-CN" altLang="en-US" sz="2000" dirty="0">
              <a:latin typeface="Consolas" pitchFamily="49" charset="0"/>
              <a:ea typeface="楷体" pitchFamily="49" charset="-122"/>
              <a:cs typeface="Consolas" pitchFamily="49" charset="0"/>
            </a:endParaRPr>
          </a:p>
        </p:txBody>
      </p:sp>
      <p:sp>
        <p:nvSpPr>
          <p:cNvPr id="5" name="Text Box 2">
            <a:extLst>
              <a:ext uri="{FF2B5EF4-FFF2-40B4-BE49-F238E27FC236}">
                <a16:creationId xmlns:a16="http://schemas.microsoft.com/office/drawing/2014/main" id="{89EF7DED-E92E-7922-90AD-0FDFBD5C32C8}"/>
              </a:ext>
            </a:extLst>
          </p:cNvPr>
          <p:cNvSpPr txBox="1">
            <a:spLocks noChangeArrowheads="1"/>
          </p:cNvSpPr>
          <p:nvPr/>
        </p:nvSpPr>
        <p:spPr bwMode="auto">
          <a:xfrm>
            <a:off x="1487488" y="2219622"/>
            <a:ext cx="8143900" cy="4542027"/>
          </a:xfrm>
          <a:prstGeom prst="rect">
            <a:avLst/>
          </a:prstGeom>
          <a:solidFill>
            <a:schemeClr val="bg1">
              <a:lumMod val="95000"/>
            </a:schemeClr>
          </a:solidFill>
          <a:ln>
            <a:noFill/>
            <a:headEnd/>
            <a:tailEnd/>
          </a:ln>
          <a:effectLst/>
          <a:scene3d>
            <a:camera prst="orthographicFront">
              <a:rot lat="0" lon="0" rev="0"/>
            </a:camera>
            <a:lightRig rig="chilly" dir="t">
              <a:rot lat="0" lon="0" rev="18480000"/>
            </a:lightRig>
          </a:scene3d>
          <a:sp3d prstMaterial="clear">
            <a:bevelT h="63500"/>
          </a:sp3d>
        </p:spPr>
        <p:style>
          <a:lnRef idx="1">
            <a:schemeClr val="accent3"/>
          </a:lnRef>
          <a:fillRef idx="2">
            <a:schemeClr val="accent3"/>
          </a:fillRef>
          <a:effectRef idx="1">
            <a:schemeClr val="accent3"/>
          </a:effectRef>
          <a:fontRef idx="minor">
            <a:schemeClr val="dk1"/>
          </a:fontRef>
        </p:style>
        <p:txBody>
          <a:bodyPr wrap="square" lIns="180000" tIns="216000" bIns="180000">
            <a:spAutoFit/>
          </a:bodyPr>
          <a:lstStyle/>
          <a:p>
            <a:pPr algn="l">
              <a:lnSpc>
                <a:spcPts val="1900"/>
              </a:lnSpc>
            </a:pPr>
            <a:r>
              <a:rPr kumimoji="1" lang="en-US" altLang="zh-CN" sz="1800" dirty="0">
                <a:solidFill>
                  <a:srgbClr val="0000FF"/>
                </a:solidFill>
                <a:latin typeface="Consolas" pitchFamily="49" charset="0"/>
                <a:ea typeface="仿宋" pitchFamily="49" charset="-122"/>
                <a:cs typeface="Consolas" pitchFamily="49" charset="0"/>
              </a:rPr>
              <a:t>  k=1;				</a:t>
            </a:r>
            <a:r>
              <a:rPr kumimoji="1" lang="en-US" altLang="zh-CN" sz="1800" dirty="0">
                <a:solidFill>
                  <a:srgbClr val="00B0F0"/>
                </a:solidFill>
                <a:latin typeface="Consolas" pitchFamily="49" charset="0"/>
                <a:ea typeface="仿宋" pitchFamily="49" charset="-122"/>
                <a:cs typeface="Consolas" pitchFamily="49" charset="0"/>
              </a:rPr>
              <a:t>//k</a:t>
            </a:r>
            <a:r>
              <a:rPr kumimoji="1" lang="zh-CN" altLang="en-US" sz="1800" dirty="0">
                <a:solidFill>
                  <a:srgbClr val="00B0F0"/>
                </a:solidFill>
                <a:latin typeface="Consolas" pitchFamily="49" charset="0"/>
                <a:ea typeface="仿宋" pitchFamily="49" charset="-122"/>
                <a:cs typeface="Consolas" pitchFamily="49" charset="0"/>
              </a:rPr>
              <a:t>表示当前构造生成树的第几条边</a:t>
            </a:r>
            <a:endParaRPr kumimoji="1" lang="en-US" altLang="zh-CN" sz="1800" dirty="0">
              <a:solidFill>
                <a:srgbClr val="00B0F0"/>
              </a:solidFill>
              <a:latin typeface="Consolas" pitchFamily="49" charset="0"/>
              <a:ea typeface="仿宋" pitchFamily="49" charset="-122"/>
              <a:cs typeface="Consolas" pitchFamily="49" charset="0"/>
            </a:endParaRPr>
          </a:p>
          <a:p>
            <a:pPr algn="l">
              <a:lnSpc>
                <a:spcPts val="1900"/>
              </a:lnSpc>
            </a:pPr>
            <a:r>
              <a:rPr kumimoji="1" lang="en-US" altLang="zh-CN" sz="1800" dirty="0">
                <a:solidFill>
                  <a:srgbClr val="0000FF"/>
                </a:solidFill>
                <a:latin typeface="Consolas" pitchFamily="49" charset="0"/>
                <a:ea typeface="仿宋" pitchFamily="49" charset="-122"/>
                <a:cs typeface="Consolas" pitchFamily="49" charset="0"/>
              </a:rPr>
              <a:t>  j=0;				</a:t>
            </a:r>
            <a:r>
              <a:rPr kumimoji="1" lang="en-US" altLang="zh-CN" sz="1800" dirty="0">
                <a:solidFill>
                  <a:srgbClr val="00B0F0"/>
                </a:solidFill>
                <a:latin typeface="Consolas" pitchFamily="49" charset="0"/>
                <a:ea typeface="仿宋" pitchFamily="49" charset="-122"/>
                <a:cs typeface="Consolas" pitchFamily="49" charset="0"/>
              </a:rPr>
              <a:t>//E</a:t>
            </a:r>
            <a:r>
              <a:rPr kumimoji="1" lang="zh-CN" altLang="en-US" sz="1800" dirty="0">
                <a:solidFill>
                  <a:srgbClr val="00B0F0"/>
                </a:solidFill>
                <a:latin typeface="Consolas" pitchFamily="49" charset="0"/>
                <a:ea typeface="仿宋" pitchFamily="49" charset="-122"/>
                <a:cs typeface="Consolas" pitchFamily="49" charset="0"/>
              </a:rPr>
              <a:t>中边的下标，初值为</a:t>
            </a:r>
            <a:r>
              <a:rPr kumimoji="1" lang="en-US" altLang="zh-CN" sz="1800" dirty="0">
                <a:solidFill>
                  <a:srgbClr val="00B0F0"/>
                </a:solidFill>
                <a:latin typeface="Consolas" pitchFamily="49" charset="0"/>
                <a:ea typeface="仿宋" pitchFamily="49" charset="-122"/>
                <a:cs typeface="Consolas" pitchFamily="49" charset="0"/>
              </a:rPr>
              <a:t>0</a:t>
            </a:r>
          </a:p>
          <a:p>
            <a:pPr algn="l">
              <a:lnSpc>
                <a:spcPts val="1900"/>
              </a:lnSpc>
            </a:pPr>
            <a:r>
              <a:rPr kumimoji="1" lang="en-US" altLang="zh-CN" sz="1800" dirty="0">
                <a:solidFill>
                  <a:srgbClr val="0000FF"/>
                </a:solidFill>
                <a:latin typeface="Consolas" pitchFamily="49" charset="0"/>
                <a:ea typeface="仿宋" pitchFamily="49" charset="-122"/>
                <a:cs typeface="Consolas" pitchFamily="49" charset="0"/>
              </a:rPr>
              <a:t>  while (k&lt;</a:t>
            </a:r>
            <a:r>
              <a:rPr kumimoji="1" lang="en-US" altLang="zh-CN" sz="1800" dirty="0" err="1">
                <a:solidFill>
                  <a:srgbClr val="0000FF"/>
                </a:solidFill>
                <a:latin typeface="Consolas" pitchFamily="49" charset="0"/>
                <a:ea typeface="仿宋" pitchFamily="49" charset="-122"/>
                <a:cs typeface="Consolas" pitchFamily="49" charset="0"/>
              </a:rPr>
              <a:t>g.n</a:t>
            </a:r>
            <a:r>
              <a:rPr kumimoji="1" lang="en-US" altLang="zh-CN" sz="1800" dirty="0">
                <a:solidFill>
                  <a:srgbClr val="0000FF"/>
                </a:solidFill>
                <a:latin typeface="Consolas" pitchFamily="49" charset="0"/>
                <a:ea typeface="仿宋" pitchFamily="49" charset="-122"/>
                <a:cs typeface="Consolas" pitchFamily="49" charset="0"/>
              </a:rPr>
              <a:t>)		</a:t>
            </a:r>
            <a:r>
              <a:rPr kumimoji="1" lang="en-US" altLang="zh-CN" sz="1800" dirty="0">
                <a:solidFill>
                  <a:srgbClr val="00B0F0"/>
                </a:solidFill>
                <a:latin typeface="Consolas" pitchFamily="49" charset="0"/>
                <a:ea typeface="仿宋" pitchFamily="49" charset="-122"/>
                <a:cs typeface="Consolas" pitchFamily="49" charset="0"/>
              </a:rPr>
              <a:t>//</a:t>
            </a:r>
            <a:r>
              <a:rPr kumimoji="1" lang="zh-CN" altLang="en-US" sz="1800" dirty="0">
                <a:solidFill>
                  <a:srgbClr val="00B0F0"/>
                </a:solidFill>
                <a:latin typeface="Consolas" pitchFamily="49" charset="0"/>
                <a:ea typeface="仿宋" pitchFamily="49" charset="-122"/>
                <a:cs typeface="Consolas" pitchFamily="49" charset="0"/>
              </a:rPr>
              <a:t>生成的边数小于</a:t>
            </a:r>
            <a:r>
              <a:rPr kumimoji="1" lang="en-US" altLang="zh-CN" sz="1800" dirty="0">
                <a:solidFill>
                  <a:srgbClr val="00B0F0"/>
                </a:solidFill>
                <a:latin typeface="Consolas" pitchFamily="49" charset="0"/>
                <a:ea typeface="仿宋" pitchFamily="49" charset="-122"/>
                <a:cs typeface="Consolas" pitchFamily="49" charset="0"/>
              </a:rPr>
              <a:t>n</a:t>
            </a:r>
            <a:r>
              <a:rPr kumimoji="1" lang="zh-CN" altLang="en-US" sz="1800" dirty="0">
                <a:solidFill>
                  <a:srgbClr val="00B0F0"/>
                </a:solidFill>
                <a:latin typeface="Consolas" pitchFamily="49" charset="0"/>
                <a:ea typeface="仿宋" pitchFamily="49" charset="-122"/>
                <a:cs typeface="Consolas" pitchFamily="49" charset="0"/>
              </a:rPr>
              <a:t>时循环</a:t>
            </a:r>
          </a:p>
          <a:p>
            <a:pPr algn="l">
              <a:lnSpc>
                <a:spcPts val="1900"/>
              </a:lnSpc>
            </a:pPr>
            <a:r>
              <a:rPr kumimoji="1" lang="en-US" altLang="zh-CN" sz="1800" dirty="0">
                <a:solidFill>
                  <a:srgbClr val="0000FF"/>
                </a:solidFill>
                <a:latin typeface="Consolas" pitchFamily="49" charset="0"/>
                <a:ea typeface="仿宋" pitchFamily="49" charset="-122"/>
                <a:cs typeface="Consolas" pitchFamily="49" charset="0"/>
              </a:rPr>
              <a:t>  { </a:t>
            </a:r>
          </a:p>
          <a:p>
            <a:pPr algn="l">
              <a:lnSpc>
                <a:spcPts val="1900"/>
              </a:lnSpc>
            </a:pPr>
            <a:r>
              <a:rPr kumimoji="1" lang="en-US" altLang="zh-CN" sz="1800" dirty="0">
                <a:solidFill>
                  <a:srgbClr val="0000FF"/>
                </a:solidFill>
                <a:latin typeface="Consolas" pitchFamily="49" charset="0"/>
                <a:ea typeface="仿宋" pitchFamily="49" charset="-122"/>
                <a:cs typeface="Consolas" pitchFamily="49" charset="0"/>
              </a:rPr>
              <a:t>     u1=E[j].u;v1=E[j].v;	</a:t>
            </a:r>
            <a:r>
              <a:rPr kumimoji="1" lang="en-US" altLang="zh-CN" sz="1800" dirty="0">
                <a:solidFill>
                  <a:srgbClr val="00B0F0"/>
                </a:solidFill>
                <a:latin typeface="Consolas" pitchFamily="49" charset="0"/>
                <a:ea typeface="仿宋" pitchFamily="49" charset="-122"/>
                <a:cs typeface="Consolas" pitchFamily="49" charset="0"/>
              </a:rPr>
              <a:t>//</a:t>
            </a:r>
            <a:r>
              <a:rPr kumimoji="1" lang="zh-CN" altLang="en-US" sz="1800" dirty="0">
                <a:solidFill>
                  <a:srgbClr val="00B0F0"/>
                </a:solidFill>
                <a:latin typeface="Consolas" pitchFamily="49" charset="0"/>
                <a:ea typeface="仿宋" pitchFamily="49" charset="-122"/>
                <a:cs typeface="Consolas" pitchFamily="49" charset="0"/>
              </a:rPr>
              <a:t>取一条边的头尾顶点</a:t>
            </a:r>
            <a:endParaRPr kumimoji="1" lang="en-US" altLang="zh-CN" sz="1800" dirty="0">
              <a:solidFill>
                <a:srgbClr val="00B0F0"/>
              </a:solidFill>
              <a:latin typeface="Consolas" pitchFamily="49" charset="0"/>
              <a:ea typeface="仿宋" pitchFamily="49" charset="-122"/>
              <a:cs typeface="Consolas" pitchFamily="49" charset="0"/>
            </a:endParaRPr>
          </a:p>
          <a:p>
            <a:pPr algn="l">
              <a:lnSpc>
                <a:spcPts val="1900"/>
              </a:lnSpc>
            </a:pPr>
            <a:r>
              <a:rPr kumimoji="1" lang="en-US" altLang="zh-CN" sz="1800" dirty="0">
                <a:solidFill>
                  <a:srgbClr val="00B0F0"/>
                </a:solidFill>
                <a:latin typeface="Consolas" pitchFamily="49" charset="0"/>
                <a:ea typeface="仿宋" pitchFamily="49" charset="-122"/>
                <a:cs typeface="Consolas" pitchFamily="49" charset="0"/>
              </a:rPr>
              <a:t>     </a:t>
            </a:r>
            <a:r>
              <a:rPr kumimoji="1" lang="en-US" altLang="zh-CN" sz="1800" dirty="0">
                <a:solidFill>
                  <a:srgbClr val="0000FF"/>
                </a:solidFill>
                <a:latin typeface="Consolas" pitchFamily="49" charset="0"/>
                <a:ea typeface="仿宋" pitchFamily="49" charset="-122"/>
                <a:cs typeface="Consolas" pitchFamily="49" charset="0"/>
              </a:rPr>
              <a:t>sn1=</a:t>
            </a:r>
            <a:r>
              <a:rPr kumimoji="1" lang="en-US" altLang="zh-CN" sz="1800" dirty="0" err="1">
                <a:solidFill>
                  <a:srgbClr val="C00000"/>
                </a:solidFill>
                <a:latin typeface="Consolas" pitchFamily="49" charset="0"/>
                <a:ea typeface="仿宋" pitchFamily="49" charset="-122"/>
                <a:cs typeface="Consolas" pitchFamily="49" charset="0"/>
              </a:rPr>
              <a:t>vset</a:t>
            </a:r>
            <a:r>
              <a:rPr kumimoji="1" lang="en-US" altLang="zh-CN" sz="1800" dirty="0">
                <a:solidFill>
                  <a:srgbClr val="C00000"/>
                </a:solidFill>
                <a:latin typeface="Consolas" pitchFamily="49" charset="0"/>
                <a:ea typeface="仿宋" pitchFamily="49" charset="-122"/>
                <a:cs typeface="Consolas" pitchFamily="49" charset="0"/>
              </a:rPr>
              <a:t>[u1]</a:t>
            </a:r>
            <a:r>
              <a:rPr kumimoji="1" lang="en-US" altLang="zh-CN" sz="1800" dirty="0">
                <a:solidFill>
                  <a:srgbClr val="0000FF"/>
                </a:solidFill>
                <a:latin typeface="Consolas" pitchFamily="49" charset="0"/>
                <a:ea typeface="仿宋" pitchFamily="49" charset="-122"/>
                <a:cs typeface="Consolas" pitchFamily="49" charset="0"/>
              </a:rPr>
              <a:t>;</a:t>
            </a:r>
          </a:p>
          <a:p>
            <a:pPr algn="l">
              <a:lnSpc>
                <a:spcPts val="1900"/>
              </a:lnSpc>
            </a:pPr>
            <a:r>
              <a:rPr kumimoji="1" lang="en-US" altLang="zh-CN" sz="1800" dirty="0">
                <a:solidFill>
                  <a:srgbClr val="0000FF"/>
                </a:solidFill>
                <a:latin typeface="Consolas" pitchFamily="49" charset="0"/>
                <a:ea typeface="仿宋" pitchFamily="49" charset="-122"/>
                <a:cs typeface="Consolas" pitchFamily="49" charset="0"/>
              </a:rPr>
              <a:t>     sn2=</a:t>
            </a:r>
            <a:r>
              <a:rPr kumimoji="1" lang="en-US" altLang="zh-CN" sz="1800" dirty="0" err="1">
                <a:solidFill>
                  <a:srgbClr val="C00000"/>
                </a:solidFill>
                <a:latin typeface="Consolas" pitchFamily="49" charset="0"/>
                <a:ea typeface="仿宋" pitchFamily="49" charset="-122"/>
                <a:cs typeface="Consolas" pitchFamily="49" charset="0"/>
              </a:rPr>
              <a:t>vset</a:t>
            </a:r>
            <a:r>
              <a:rPr kumimoji="1" lang="en-US" altLang="zh-CN" sz="1800" dirty="0">
                <a:solidFill>
                  <a:srgbClr val="C00000"/>
                </a:solidFill>
                <a:latin typeface="Consolas" pitchFamily="49" charset="0"/>
                <a:ea typeface="仿宋" pitchFamily="49" charset="-122"/>
                <a:cs typeface="Consolas" pitchFamily="49" charset="0"/>
              </a:rPr>
              <a:t>[v1]</a:t>
            </a:r>
            <a:r>
              <a:rPr kumimoji="1" lang="en-US" altLang="zh-CN" sz="1800" dirty="0">
                <a:solidFill>
                  <a:srgbClr val="0000FF"/>
                </a:solidFill>
                <a:latin typeface="Consolas" pitchFamily="49" charset="0"/>
                <a:ea typeface="仿宋" pitchFamily="49" charset="-122"/>
                <a:cs typeface="Consolas" pitchFamily="49" charset="0"/>
              </a:rPr>
              <a:t>;		</a:t>
            </a:r>
            <a:r>
              <a:rPr kumimoji="1" lang="en-US" altLang="zh-CN" sz="1800" dirty="0">
                <a:solidFill>
                  <a:srgbClr val="00B0F0"/>
                </a:solidFill>
                <a:latin typeface="Consolas" pitchFamily="49" charset="0"/>
                <a:ea typeface="仿宋" pitchFamily="49" charset="-122"/>
                <a:cs typeface="Consolas" pitchFamily="49" charset="0"/>
              </a:rPr>
              <a:t>//</a:t>
            </a:r>
            <a:r>
              <a:rPr kumimoji="1" lang="zh-CN" altLang="en-US" sz="1800" dirty="0">
                <a:solidFill>
                  <a:srgbClr val="00B0F0"/>
                </a:solidFill>
                <a:latin typeface="Consolas" pitchFamily="49" charset="0"/>
                <a:ea typeface="仿宋" pitchFamily="49" charset="-122"/>
                <a:cs typeface="Consolas" pitchFamily="49" charset="0"/>
              </a:rPr>
              <a:t>分别得到两个顶点所属的集合编号</a:t>
            </a:r>
          </a:p>
          <a:p>
            <a:pPr algn="l">
              <a:lnSpc>
                <a:spcPts val="1900"/>
              </a:lnSpc>
            </a:pPr>
            <a:r>
              <a:rPr kumimoji="1" lang="zh-CN" altLang="en-US" sz="1800" dirty="0">
                <a:solidFill>
                  <a:srgbClr val="0000FF"/>
                </a:solidFill>
                <a:latin typeface="Consolas" pitchFamily="49" charset="0"/>
                <a:ea typeface="仿宋" pitchFamily="49" charset="-122"/>
                <a:cs typeface="Consolas" pitchFamily="49" charset="0"/>
              </a:rPr>
              <a:t>     </a:t>
            </a:r>
            <a:r>
              <a:rPr kumimoji="1" lang="en-US" altLang="zh-CN" sz="1800" dirty="0">
                <a:solidFill>
                  <a:srgbClr val="0000FF"/>
                </a:solidFill>
                <a:latin typeface="Consolas" pitchFamily="49" charset="0"/>
                <a:ea typeface="仿宋" pitchFamily="49" charset="-122"/>
                <a:cs typeface="Consolas" pitchFamily="49" charset="0"/>
              </a:rPr>
              <a:t>if (sn1!=sn2)  		</a:t>
            </a:r>
            <a:r>
              <a:rPr kumimoji="1" lang="en-US" altLang="zh-CN" sz="1800" dirty="0">
                <a:solidFill>
                  <a:srgbClr val="00B0F0"/>
                </a:solidFill>
                <a:latin typeface="Consolas" pitchFamily="49" charset="0"/>
                <a:ea typeface="仿宋" pitchFamily="49" charset="-122"/>
                <a:cs typeface="Consolas" pitchFamily="49" charset="0"/>
              </a:rPr>
              <a:t>//</a:t>
            </a:r>
            <a:r>
              <a:rPr kumimoji="1" lang="zh-CN" altLang="en-US" sz="1800" dirty="0">
                <a:solidFill>
                  <a:srgbClr val="00B0F0"/>
                </a:solidFill>
                <a:latin typeface="Consolas" pitchFamily="49" charset="0"/>
                <a:ea typeface="仿宋" pitchFamily="49" charset="-122"/>
                <a:cs typeface="Consolas" pitchFamily="49" charset="0"/>
              </a:rPr>
              <a:t>两顶点属于不同的集合</a:t>
            </a:r>
          </a:p>
          <a:p>
            <a:pPr algn="l">
              <a:lnSpc>
                <a:spcPts val="1900"/>
              </a:lnSpc>
            </a:pPr>
            <a:r>
              <a:rPr kumimoji="1" lang="zh-CN" altLang="en-US" sz="1800" dirty="0">
                <a:solidFill>
                  <a:srgbClr val="0000FF"/>
                </a:solidFill>
                <a:latin typeface="Consolas" pitchFamily="49" charset="0"/>
                <a:ea typeface="仿宋" pitchFamily="49" charset="-122"/>
                <a:cs typeface="Consolas" pitchFamily="49" charset="0"/>
              </a:rPr>
              <a:t>     </a:t>
            </a:r>
            <a:r>
              <a:rPr kumimoji="1" lang="en-US" altLang="zh-CN" sz="1800" dirty="0">
                <a:solidFill>
                  <a:srgbClr val="0000FF"/>
                </a:solidFill>
                <a:latin typeface="Consolas" pitchFamily="49" charset="0"/>
                <a:ea typeface="仿宋" pitchFamily="49" charset="-122"/>
                <a:cs typeface="Consolas" pitchFamily="49" charset="0"/>
              </a:rPr>
              <a:t>{  </a:t>
            </a:r>
            <a:r>
              <a:rPr kumimoji="1" lang="en-US" altLang="zh-CN" sz="1800" dirty="0" err="1">
                <a:solidFill>
                  <a:srgbClr val="0000FF"/>
                </a:solidFill>
                <a:latin typeface="Consolas" pitchFamily="49" charset="0"/>
                <a:ea typeface="仿宋" pitchFamily="49" charset="-122"/>
                <a:cs typeface="Consolas" pitchFamily="49" charset="0"/>
              </a:rPr>
              <a:t>printf</a:t>
            </a:r>
            <a:r>
              <a:rPr kumimoji="1" lang="en-US" altLang="zh-CN" sz="1800" dirty="0">
                <a:solidFill>
                  <a:srgbClr val="0000FF"/>
                </a:solidFill>
                <a:latin typeface="Consolas" pitchFamily="49" charset="0"/>
                <a:ea typeface="仿宋" pitchFamily="49" charset="-122"/>
                <a:cs typeface="Consolas" pitchFamily="49" charset="0"/>
              </a:rPr>
              <a:t>("  (%d</a:t>
            </a:r>
            <a:r>
              <a:rPr kumimoji="1" lang="zh-CN" altLang="en-US" sz="1800" dirty="0">
                <a:solidFill>
                  <a:srgbClr val="0000FF"/>
                </a:solidFill>
                <a:latin typeface="Consolas" pitchFamily="49" charset="0"/>
                <a:ea typeface="仿宋" pitchFamily="49" charset="-122"/>
                <a:cs typeface="Consolas" pitchFamily="49" charset="0"/>
              </a:rPr>
              <a:t>，</a:t>
            </a:r>
            <a:r>
              <a:rPr kumimoji="1" lang="en-US" altLang="zh-CN" sz="1800" dirty="0">
                <a:solidFill>
                  <a:srgbClr val="0000FF"/>
                </a:solidFill>
                <a:latin typeface="Consolas" pitchFamily="49" charset="0"/>
                <a:ea typeface="仿宋" pitchFamily="49" charset="-122"/>
                <a:cs typeface="Consolas" pitchFamily="49" charset="0"/>
              </a:rPr>
              <a:t>%d):%d\n"</a:t>
            </a:r>
            <a:r>
              <a:rPr kumimoji="1" lang="zh-CN" altLang="en-US" sz="1800" dirty="0">
                <a:solidFill>
                  <a:srgbClr val="0000FF"/>
                </a:solidFill>
                <a:latin typeface="Consolas" pitchFamily="49" charset="0"/>
                <a:ea typeface="仿宋" pitchFamily="49" charset="-122"/>
                <a:cs typeface="Consolas" pitchFamily="49" charset="0"/>
              </a:rPr>
              <a:t>，</a:t>
            </a:r>
            <a:r>
              <a:rPr kumimoji="1" lang="en-US" altLang="zh-CN" sz="1800" dirty="0">
                <a:solidFill>
                  <a:srgbClr val="0000FF"/>
                </a:solidFill>
                <a:latin typeface="Consolas" pitchFamily="49" charset="0"/>
                <a:ea typeface="仿宋" pitchFamily="49" charset="-122"/>
                <a:cs typeface="Consolas" pitchFamily="49" charset="0"/>
              </a:rPr>
              <a:t>u1</a:t>
            </a:r>
            <a:r>
              <a:rPr kumimoji="1" lang="zh-CN" altLang="en-US" sz="1800" dirty="0">
                <a:solidFill>
                  <a:srgbClr val="0000FF"/>
                </a:solidFill>
                <a:latin typeface="Consolas" pitchFamily="49" charset="0"/>
                <a:ea typeface="仿宋" pitchFamily="49" charset="-122"/>
                <a:cs typeface="Consolas" pitchFamily="49" charset="0"/>
              </a:rPr>
              <a:t>，</a:t>
            </a:r>
            <a:r>
              <a:rPr kumimoji="1" lang="en-US" altLang="zh-CN" sz="1800" dirty="0">
                <a:solidFill>
                  <a:srgbClr val="0000FF"/>
                </a:solidFill>
                <a:latin typeface="Consolas" pitchFamily="49" charset="0"/>
                <a:ea typeface="仿宋" pitchFamily="49" charset="-122"/>
                <a:cs typeface="Consolas" pitchFamily="49" charset="0"/>
              </a:rPr>
              <a:t>v1</a:t>
            </a:r>
            <a:r>
              <a:rPr kumimoji="1" lang="zh-CN" altLang="en-US" sz="1800" dirty="0">
                <a:solidFill>
                  <a:srgbClr val="0000FF"/>
                </a:solidFill>
                <a:latin typeface="Consolas" pitchFamily="49" charset="0"/>
                <a:ea typeface="仿宋" pitchFamily="49" charset="-122"/>
                <a:cs typeface="Consolas" pitchFamily="49" charset="0"/>
              </a:rPr>
              <a:t>，</a:t>
            </a:r>
            <a:r>
              <a:rPr kumimoji="1" lang="en-US" altLang="zh-CN" sz="1800" dirty="0">
                <a:solidFill>
                  <a:srgbClr val="0000FF"/>
                </a:solidFill>
                <a:latin typeface="Consolas" pitchFamily="49" charset="0"/>
                <a:ea typeface="仿宋" pitchFamily="49" charset="-122"/>
                <a:cs typeface="Consolas" pitchFamily="49" charset="0"/>
              </a:rPr>
              <a:t>E[j].w);</a:t>
            </a:r>
          </a:p>
          <a:p>
            <a:pPr algn="l">
              <a:lnSpc>
                <a:spcPts val="1900"/>
              </a:lnSpc>
            </a:pPr>
            <a:r>
              <a:rPr kumimoji="1" lang="en-US" altLang="zh-CN" sz="1800" dirty="0">
                <a:solidFill>
                  <a:srgbClr val="0000FF"/>
                </a:solidFill>
                <a:latin typeface="Consolas" pitchFamily="49" charset="0"/>
                <a:ea typeface="仿宋" pitchFamily="49" charset="-122"/>
                <a:cs typeface="Consolas" pitchFamily="49" charset="0"/>
              </a:rPr>
              <a:t>        k++;		   	</a:t>
            </a:r>
            <a:r>
              <a:rPr kumimoji="1" lang="en-US" altLang="zh-CN" sz="1800" dirty="0">
                <a:solidFill>
                  <a:srgbClr val="00B0F0"/>
                </a:solidFill>
                <a:latin typeface="Consolas" pitchFamily="49" charset="0"/>
                <a:ea typeface="仿宋" pitchFamily="49" charset="-122"/>
                <a:cs typeface="Consolas" pitchFamily="49" charset="0"/>
              </a:rPr>
              <a:t>//</a:t>
            </a:r>
            <a:r>
              <a:rPr kumimoji="1" lang="zh-CN" altLang="en-US" sz="1800" dirty="0">
                <a:solidFill>
                  <a:srgbClr val="00B0F0"/>
                </a:solidFill>
                <a:latin typeface="Consolas" pitchFamily="49" charset="0"/>
                <a:ea typeface="仿宋" pitchFamily="49" charset="-122"/>
                <a:cs typeface="Consolas" pitchFamily="49" charset="0"/>
              </a:rPr>
              <a:t>生成边数增</a:t>
            </a:r>
            <a:r>
              <a:rPr kumimoji="1" lang="en-US" altLang="zh-CN" sz="1800" dirty="0">
                <a:solidFill>
                  <a:srgbClr val="00B0F0"/>
                </a:solidFill>
                <a:latin typeface="Consolas" pitchFamily="49" charset="0"/>
                <a:ea typeface="仿宋" pitchFamily="49" charset="-122"/>
                <a:cs typeface="Consolas" pitchFamily="49" charset="0"/>
              </a:rPr>
              <a:t>1</a:t>
            </a:r>
          </a:p>
          <a:p>
            <a:pPr algn="l">
              <a:lnSpc>
                <a:spcPts val="1900"/>
              </a:lnSpc>
            </a:pPr>
            <a:r>
              <a:rPr kumimoji="1" lang="en-US" altLang="zh-CN" sz="1800" dirty="0">
                <a:solidFill>
                  <a:srgbClr val="0000FF"/>
                </a:solidFill>
                <a:latin typeface="Consolas" pitchFamily="49" charset="0"/>
                <a:ea typeface="仿宋" pitchFamily="49" charset="-122"/>
                <a:cs typeface="Consolas" pitchFamily="49" charset="0"/>
              </a:rPr>
              <a:t>        for (</a:t>
            </a:r>
            <a:r>
              <a:rPr kumimoji="1" lang="en-US" altLang="zh-CN" sz="1800" dirty="0" err="1">
                <a:solidFill>
                  <a:srgbClr val="0000FF"/>
                </a:solidFill>
                <a:latin typeface="Consolas" pitchFamily="49" charset="0"/>
                <a:ea typeface="仿宋" pitchFamily="49" charset="-122"/>
                <a:cs typeface="Consolas" pitchFamily="49" charset="0"/>
              </a:rPr>
              <a:t>i</a:t>
            </a:r>
            <a:r>
              <a:rPr kumimoji="1" lang="en-US" altLang="zh-CN" sz="1800" dirty="0">
                <a:solidFill>
                  <a:srgbClr val="0000FF"/>
                </a:solidFill>
                <a:latin typeface="Consolas" pitchFamily="49" charset="0"/>
                <a:ea typeface="仿宋" pitchFamily="49" charset="-122"/>
                <a:cs typeface="Consolas" pitchFamily="49" charset="0"/>
              </a:rPr>
              <a:t>=0;i&lt;</a:t>
            </a:r>
            <a:r>
              <a:rPr kumimoji="1" lang="en-US" altLang="zh-CN" sz="1800" dirty="0" err="1">
                <a:solidFill>
                  <a:srgbClr val="0000FF"/>
                </a:solidFill>
                <a:latin typeface="Consolas" pitchFamily="49" charset="0"/>
                <a:ea typeface="仿宋" pitchFamily="49" charset="-122"/>
                <a:cs typeface="Consolas" pitchFamily="49" charset="0"/>
              </a:rPr>
              <a:t>g.n;i</a:t>
            </a:r>
            <a:r>
              <a:rPr kumimoji="1" lang="en-US" altLang="zh-CN" sz="1800" dirty="0">
                <a:solidFill>
                  <a:srgbClr val="0000FF"/>
                </a:solidFill>
                <a:latin typeface="Consolas" pitchFamily="49" charset="0"/>
                <a:ea typeface="仿宋" pitchFamily="49" charset="-122"/>
                <a:cs typeface="Consolas" pitchFamily="49" charset="0"/>
              </a:rPr>
              <a:t>++)  	</a:t>
            </a:r>
            <a:r>
              <a:rPr kumimoji="1" lang="en-US" altLang="zh-CN" sz="1800" dirty="0">
                <a:solidFill>
                  <a:srgbClr val="00B0F0"/>
                </a:solidFill>
                <a:latin typeface="Consolas" pitchFamily="49" charset="0"/>
                <a:ea typeface="仿宋" pitchFamily="49" charset="-122"/>
                <a:cs typeface="Consolas" pitchFamily="49" charset="0"/>
              </a:rPr>
              <a:t>//</a:t>
            </a:r>
            <a:r>
              <a:rPr kumimoji="1" lang="zh-CN" altLang="en-US" sz="1800" dirty="0">
                <a:solidFill>
                  <a:srgbClr val="00B0F0"/>
                </a:solidFill>
                <a:latin typeface="Consolas" pitchFamily="49" charset="0"/>
                <a:ea typeface="仿宋" pitchFamily="49" charset="-122"/>
                <a:cs typeface="Consolas" pitchFamily="49" charset="0"/>
              </a:rPr>
              <a:t>两个集合统一编号</a:t>
            </a:r>
          </a:p>
          <a:p>
            <a:pPr algn="l">
              <a:lnSpc>
                <a:spcPts val="1900"/>
              </a:lnSpc>
            </a:pPr>
            <a:r>
              <a:rPr kumimoji="1" lang="zh-CN" altLang="en-US" sz="1800" dirty="0">
                <a:solidFill>
                  <a:srgbClr val="0000FF"/>
                </a:solidFill>
                <a:latin typeface="Consolas" pitchFamily="49" charset="0"/>
                <a:ea typeface="仿宋" pitchFamily="49" charset="-122"/>
                <a:cs typeface="Consolas" pitchFamily="49" charset="0"/>
              </a:rPr>
              <a:t>           </a:t>
            </a:r>
            <a:r>
              <a:rPr kumimoji="1" lang="en-US" altLang="zh-CN" sz="1800" dirty="0">
                <a:solidFill>
                  <a:srgbClr val="0000FF"/>
                </a:solidFill>
                <a:latin typeface="Consolas" pitchFamily="49" charset="0"/>
                <a:ea typeface="仿宋" pitchFamily="49" charset="-122"/>
                <a:cs typeface="Consolas" pitchFamily="49" charset="0"/>
              </a:rPr>
              <a:t>if (</a:t>
            </a:r>
            <a:r>
              <a:rPr kumimoji="1" lang="en-US" altLang="zh-CN" sz="1800" dirty="0" err="1">
                <a:solidFill>
                  <a:srgbClr val="C00000"/>
                </a:solidFill>
                <a:latin typeface="Consolas" pitchFamily="49" charset="0"/>
                <a:ea typeface="仿宋" pitchFamily="49" charset="-122"/>
                <a:cs typeface="Consolas" pitchFamily="49" charset="0"/>
              </a:rPr>
              <a:t>vset</a:t>
            </a:r>
            <a:r>
              <a:rPr kumimoji="1" lang="en-US" altLang="zh-CN" sz="1800" dirty="0">
                <a:solidFill>
                  <a:srgbClr val="C00000"/>
                </a:solidFill>
                <a:latin typeface="Consolas" pitchFamily="49" charset="0"/>
                <a:ea typeface="仿宋" pitchFamily="49" charset="-122"/>
                <a:cs typeface="Consolas" pitchFamily="49" charset="0"/>
              </a:rPr>
              <a:t>[</a:t>
            </a:r>
            <a:r>
              <a:rPr kumimoji="1" lang="en-US" altLang="zh-CN" sz="1800" dirty="0" err="1">
                <a:solidFill>
                  <a:srgbClr val="C00000"/>
                </a:solidFill>
                <a:latin typeface="Consolas" pitchFamily="49" charset="0"/>
                <a:ea typeface="仿宋" pitchFamily="49" charset="-122"/>
                <a:cs typeface="Consolas" pitchFamily="49" charset="0"/>
              </a:rPr>
              <a:t>i</a:t>
            </a:r>
            <a:r>
              <a:rPr kumimoji="1" lang="en-US" altLang="zh-CN" sz="1800" dirty="0">
                <a:solidFill>
                  <a:srgbClr val="C00000"/>
                </a:solidFill>
                <a:latin typeface="Consolas" pitchFamily="49" charset="0"/>
                <a:ea typeface="仿宋" pitchFamily="49" charset="-122"/>
                <a:cs typeface="Consolas" pitchFamily="49" charset="0"/>
              </a:rPr>
              <a:t>]==sn2</a:t>
            </a:r>
            <a:r>
              <a:rPr kumimoji="1" lang="en-US" altLang="zh-CN" sz="1800" dirty="0">
                <a:solidFill>
                  <a:srgbClr val="0000FF"/>
                </a:solidFill>
                <a:latin typeface="Consolas" pitchFamily="49" charset="0"/>
                <a:ea typeface="仿宋" pitchFamily="49" charset="-122"/>
                <a:cs typeface="Consolas" pitchFamily="49" charset="0"/>
              </a:rPr>
              <a:t>) 	</a:t>
            </a:r>
            <a:r>
              <a:rPr kumimoji="1" lang="en-US" altLang="zh-CN" sz="1800" dirty="0">
                <a:solidFill>
                  <a:srgbClr val="00B0F0"/>
                </a:solidFill>
                <a:latin typeface="Consolas" pitchFamily="49" charset="0"/>
                <a:ea typeface="仿宋" pitchFamily="49" charset="-122"/>
                <a:cs typeface="Consolas" pitchFamily="49" charset="0"/>
              </a:rPr>
              <a:t>//</a:t>
            </a:r>
            <a:r>
              <a:rPr kumimoji="1" lang="zh-CN" altLang="en-US" sz="1800" dirty="0">
                <a:solidFill>
                  <a:srgbClr val="00B0F0"/>
                </a:solidFill>
                <a:latin typeface="Consolas" pitchFamily="49" charset="0"/>
                <a:ea typeface="仿宋" pitchFamily="49" charset="-122"/>
                <a:cs typeface="Consolas" pitchFamily="49" charset="0"/>
              </a:rPr>
              <a:t>集合编号为</a:t>
            </a:r>
            <a:r>
              <a:rPr kumimoji="1" lang="en-US" altLang="zh-CN" sz="1800" dirty="0" err="1">
                <a:solidFill>
                  <a:srgbClr val="00B0F0"/>
                </a:solidFill>
                <a:latin typeface="Consolas" pitchFamily="49" charset="0"/>
                <a:ea typeface="仿宋" pitchFamily="49" charset="-122"/>
                <a:cs typeface="Consolas" pitchFamily="49" charset="0"/>
              </a:rPr>
              <a:t>sn2</a:t>
            </a:r>
            <a:r>
              <a:rPr kumimoji="1" lang="zh-CN" altLang="en-US" sz="1800" dirty="0">
                <a:solidFill>
                  <a:srgbClr val="00B0F0"/>
                </a:solidFill>
                <a:latin typeface="Consolas" pitchFamily="49" charset="0"/>
                <a:ea typeface="仿宋" pitchFamily="49" charset="-122"/>
                <a:cs typeface="Consolas" pitchFamily="49" charset="0"/>
              </a:rPr>
              <a:t>的改为</a:t>
            </a:r>
            <a:r>
              <a:rPr kumimoji="1" lang="en-US" altLang="zh-CN" sz="1800" dirty="0" err="1">
                <a:solidFill>
                  <a:srgbClr val="00B0F0"/>
                </a:solidFill>
                <a:latin typeface="Consolas" pitchFamily="49" charset="0"/>
                <a:ea typeface="仿宋" pitchFamily="49" charset="-122"/>
                <a:cs typeface="Consolas" pitchFamily="49" charset="0"/>
              </a:rPr>
              <a:t>sn1</a:t>
            </a:r>
            <a:endParaRPr kumimoji="1" lang="en-US" altLang="zh-CN" sz="1800" dirty="0">
              <a:solidFill>
                <a:srgbClr val="00B0F0"/>
              </a:solidFill>
              <a:latin typeface="Consolas" pitchFamily="49" charset="0"/>
              <a:ea typeface="仿宋" pitchFamily="49" charset="-122"/>
              <a:cs typeface="Consolas" pitchFamily="49" charset="0"/>
            </a:endParaRPr>
          </a:p>
          <a:p>
            <a:pPr algn="l">
              <a:lnSpc>
                <a:spcPts val="1900"/>
              </a:lnSpc>
            </a:pPr>
            <a:r>
              <a:rPr kumimoji="1" lang="en-US" altLang="zh-CN" sz="1800" dirty="0">
                <a:solidFill>
                  <a:srgbClr val="0000FF"/>
                </a:solidFill>
                <a:latin typeface="Consolas" pitchFamily="49" charset="0"/>
                <a:ea typeface="仿宋" pitchFamily="49" charset="-122"/>
                <a:cs typeface="Consolas" pitchFamily="49" charset="0"/>
              </a:rPr>
              <a:t>		</a:t>
            </a:r>
            <a:r>
              <a:rPr kumimoji="1" lang="en-US" altLang="zh-CN" sz="1800" dirty="0" err="1">
                <a:solidFill>
                  <a:srgbClr val="C00000"/>
                </a:solidFill>
                <a:latin typeface="Consolas" pitchFamily="49" charset="0"/>
                <a:ea typeface="仿宋" pitchFamily="49" charset="-122"/>
                <a:cs typeface="Consolas" pitchFamily="49" charset="0"/>
              </a:rPr>
              <a:t>vset</a:t>
            </a:r>
            <a:r>
              <a:rPr kumimoji="1" lang="en-US" altLang="zh-CN" sz="1800" dirty="0">
                <a:solidFill>
                  <a:srgbClr val="C00000"/>
                </a:solidFill>
                <a:latin typeface="Consolas" pitchFamily="49" charset="0"/>
                <a:ea typeface="仿宋" pitchFamily="49" charset="-122"/>
                <a:cs typeface="Consolas" pitchFamily="49" charset="0"/>
              </a:rPr>
              <a:t>[</a:t>
            </a:r>
            <a:r>
              <a:rPr kumimoji="1" lang="en-US" altLang="zh-CN" sz="1800" dirty="0" err="1">
                <a:solidFill>
                  <a:srgbClr val="C00000"/>
                </a:solidFill>
                <a:latin typeface="Consolas" pitchFamily="49" charset="0"/>
                <a:ea typeface="仿宋" pitchFamily="49" charset="-122"/>
                <a:cs typeface="Consolas" pitchFamily="49" charset="0"/>
              </a:rPr>
              <a:t>i</a:t>
            </a:r>
            <a:r>
              <a:rPr kumimoji="1" lang="en-US" altLang="zh-CN" sz="1800" dirty="0">
                <a:solidFill>
                  <a:srgbClr val="C00000"/>
                </a:solidFill>
                <a:latin typeface="Consolas" pitchFamily="49" charset="0"/>
                <a:ea typeface="仿宋" pitchFamily="49" charset="-122"/>
                <a:cs typeface="Consolas" pitchFamily="49" charset="0"/>
              </a:rPr>
              <a:t>]=sn1</a:t>
            </a:r>
            <a:endParaRPr kumimoji="1" lang="en-US" altLang="zh-CN" sz="1800" dirty="0">
              <a:solidFill>
                <a:srgbClr val="0000FF"/>
              </a:solidFill>
              <a:latin typeface="Consolas" pitchFamily="49" charset="0"/>
              <a:ea typeface="仿宋" pitchFamily="49" charset="-122"/>
              <a:cs typeface="Consolas" pitchFamily="49" charset="0"/>
            </a:endParaRPr>
          </a:p>
          <a:p>
            <a:pPr algn="l">
              <a:lnSpc>
                <a:spcPts val="1900"/>
              </a:lnSpc>
            </a:pPr>
            <a:r>
              <a:rPr kumimoji="1" lang="en-US" altLang="zh-CN" sz="1800" dirty="0">
                <a:solidFill>
                  <a:srgbClr val="0000FF"/>
                </a:solidFill>
                <a:latin typeface="Consolas" pitchFamily="49" charset="0"/>
                <a:ea typeface="仿宋" pitchFamily="49" charset="-122"/>
                <a:cs typeface="Consolas" pitchFamily="49" charset="0"/>
              </a:rPr>
              <a:t>     }</a:t>
            </a:r>
          </a:p>
          <a:p>
            <a:pPr algn="l">
              <a:lnSpc>
                <a:spcPts val="1900"/>
              </a:lnSpc>
            </a:pPr>
            <a:r>
              <a:rPr kumimoji="1" lang="en-US" altLang="zh-CN" sz="1800" dirty="0">
                <a:solidFill>
                  <a:srgbClr val="0000FF"/>
                </a:solidFill>
                <a:latin typeface="Consolas" pitchFamily="49" charset="0"/>
                <a:ea typeface="仿宋" pitchFamily="49" charset="-122"/>
                <a:cs typeface="Consolas" pitchFamily="49" charset="0"/>
              </a:rPr>
              <a:t>     </a:t>
            </a:r>
            <a:r>
              <a:rPr kumimoji="1" lang="en-US" altLang="zh-CN" sz="1800" dirty="0" err="1">
                <a:solidFill>
                  <a:srgbClr val="0000FF"/>
                </a:solidFill>
                <a:latin typeface="Consolas" pitchFamily="49" charset="0"/>
                <a:ea typeface="仿宋" pitchFamily="49" charset="-122"/>
                <a:cs typeface="Consolas" pitchFamily="49" charset="0"/>
              </a:rPr>
              <a:t>j++</a:t>
            </a:r>
            <a:r>
              <a:rPr kumimoji="1" lang="en-US" altLang="zh-CN" sz="1800" dirty="0">
                <a:solidFill>
                  <a:srgbClr val="0000FF"/>
                </a:solidFill>
                <a:latin typeface="Consolas" pitchFamily="49" charset="0"/>
                <a:ea typeface="仿宋" pitchFamily="49" charset="-122"/>
                <a:cs typeface="Consolas" pitchFamily="49" charset="0"/>
              </a:rPr>
              <a:t>;			</a:t>
            </a:r>
            <a:r>
              <a:rPr kumimoji="1" lang="en-US" altLang="zh-CN" sz="1800" dirty="0">
                <a:solidFill>
                  <a:srgbClr val="00B0F0"/>
                </a:solidFill>
                <a:latin typeface="Consolas" pitchFamily="49" charset="0"/>
                <a:ea typeface="仿宋" pitchFamily="49" charset="-122"/>
                <a:cs typeface="Consolas" pitchFamily="49" charset="0"/>
              </a:rPr>
              <a:t>//</a:t>
            </a:r>
            <a:r>
              <a:rPr kumimoji="1" lang="zh-CN" altLang="en-US" sz="1800" dirty="0">
                <a:solidFill>
                  <a:srgbClr val="00B0F0"/>
                </a:solidFill>
                <a:latin typeface="Consolas" pitchFamily="49" charset="0"/>
                <a:ea typeface="仿宋" pitchFamily="49" charset="-122"/>
                <a:cs typeface="Consolas" pitchFamily="49" charset="0"/>
              </a:rPr>
              <a:t>扫描下一条边</a:t>
            </a:r>
          </a:p>
          <a:p>
            <a:pPr algn="l">
              <a:lnSpc>
                <a:spcPts val="1900"/>
              </a:lnSpc>
            </a:pPr>
            <a:r>
              <a:rPr kumimoji="1" lang="zh-CN" altLang="en-US" sz="1800" dirty="0">
                <a:solidFill>
                  <a:srgbClr val="0000FF"/>
                </a:solidFill>
                <a:latin typeface="Consolas" pitchFamily="49" charset="0"/>
                <a:ea typeface="仿宋" pitchFamily="49" charset="-122"/>
                <a:cs typeface="Consolas" pitchFamily="49" charset="0"/>
              </a:rPr>
              <a:t>  </a:t>
            </a:r>
            <a:r>
              <a:rPr kumimoji="1" lang="en-US" altLang="zh-CN" sz="1800" dirty="0">
                <a:solidFill>
                  <a:srgbClr val="0000FF"/>
                </a:solidFill>
                <a:latin typeface="Consolas" pitchFamily="49" charset="0"/>
                <a:ea typeface="仿宋" pitchFamily="49" charset="-122"/>
                <a:cs typeface="Consolas" pitchFamily="49" charset="0"/>
              </a:rPr>
              <a:t>}</a:t>
            </a:r>
          </a:p>
          <a:p>
            <a:pPr algn="l">
              <a:lnSpc>
                <a:spcPts val="1900"/>
              </a:lnSpc>
            </a:pPr>
            <a:r>
              <a:rPr kumimoji="1" lang="en-US" altLang="zh-CN" sz="1800" dirty="0">
                <a:solidFill>
                  <a:srgbClr val="0000FF"/>
                </a:solidFill>
                <a:latin typeface="Consolas" pitchFamily="49" charset="0"/>
                <a:ea typeface="仿宋" pitchFamily="49" charset="-122"/>
                <a:cs typeface="Consolas" pitchFamily="49" charset="0"/>
              </a:rPr>
              <a:t>}</a:t>
            </a:r>
          </a:p>
        </p:txBody>
      </p:sp>
    </p:spTree>
    <p:extLst>
      <p:ext uri="{BB962C8B-B14F-4D97-AF65-F5344CB8AC3E}">
        <p14:creationId xmlns:p14="http://schemas.microsoft.com/office/powerpoint/2010/main" val="21999904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7" end="7"/>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5">
                                            <p:txEl>
                                              <p:pRg st="8" end="8"/>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xEl>
                                              <p:pRg st="10" end="10"/>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5">
                                            <p:txEl>
                                              <p:pRg st="11" end="11"/>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5">
                                            <p:txEl>
                                              <p:pRg st="12" end="12"/>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5">
                                            <p:txEl>
                                              <p:pRg st="13" end="13"/>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5">
                                            <p:txEl>
                                              <p:pRg st="14" end="14"/>
                                            </p:txEl>
                                          </p:spTgt>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5">
                                            <p:txEl>
                                              <p:pRg st="15" end="1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88BD51-52F0-FF97-CB79-A94C8D733417}"/>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5B84058A-28CE-75FB-B6B0-2C8C43D69957}"/>
              </a:ext>
            </a:extLst>
          </p:cNvPr>
          <p:cNvSpPr/>
          <p:nvPr/>
        </p:nvSpPr>
        <p:spPr>
          <a:xfrm>
            <a:off x="1487488" y="1865846"/>
            <a:ext cx="8856984" cy="461665"/>
          </a:xfrm>
          <a:prstGeom prst="rect">
            <a:avLst/>
          </a:prstGeom>
        </p:spPr>
        <p:txBody>
          <a:bodyPr wrap="square">
            <a:spAutoFit/>
          </a:bodyPr>
          <a:lstStyle/>
          <a:p>
            <a:pPr>
              <a:defRPr/>
            </a:pPr>
            <a:r>
              <a:rPr lang="zh-CN" altLang="en-US" sz="2400" b="1" dirty="0">
                <a:latin typeface="黑体" pitchFamily="49" charset="-122"/>
                <a:ea typeface="黑体" pitchFamily="49" charset="-122"/>
                <a:cs typeface="经典粗黑简" pitchFamily="49" charset="-122"/>
              </a:rPr>
              <a:t>在非网图中，</a:t>
            </a:r>
            <a:r>
              <a:rPr lang="zh-CN" altLang="en-US" sz="2400" b="1" dirty="0">
                <a:solidFill>
                  <a:srgbClr val="FF0000"/>
                </a:solidFill>
                <a:latin typeface="黑体" pitchFamily="49" charset="-122"/>
                <a:ea typeface="黑体" pitchFamily="49" charset="-122"/>
                <a:cs typeface="经典粗黑简" pitchFamily="49" charset="-122"/>
              </a:rPr>
              <a:t>最短路径</a:t>
            </a:r>
            <a:r>
              <a:rPr lang="zh-CN" altLang="en-US" sz="2400" b="1" dirty="0">
                <a:latin typeface="黑体" pitchFamily="49" charset="-122"/>
                <a:ea typeface="黑体" pitchFamily="49" charset="-122"/>
                <a:cs typeface="经典粗黑简" pitchFamily="49" charset="-122"/>
              </a:rPr>
              <a:t>是指两顶点之间经历的边数最少的路径。</a:t>
            </a:r>
            <a:endParaRPr lang="en-US" altLang="zh-CN" sz="2400" b="1" dirty="0">
              <a:latin typeface="黑体" pitchFamily="49" charset="-122"/>
              <a:ea typeface="黑体" pitchFamily="49" charset="-122"/>
              <a:cs typeface="经典粗黑简" pitchFamily="49" charset="-122"/>
            </a:endParaRPr>
          </a:p>
        </p:txBody>
      </p:sp>
      <p:sp>
        <p:nvSpPr>
          <p:cNvPr id="3" name="矩形 2">
            <a:extLst>
              <a:ext uri="{FF2B5EF4-FFF2-40B4-BE49-F238E27FC236}">
                <a16:creationId xmlns:a16="http://schemas.microsoft.com/office/drawing/2014/main" id="{D409498C-54A7-2DC4-3218-BDA89404B353}"/>
              </a:ext>
            </a:extLst>
          </p:cNvPr>
          <p:cNvSpPr/>
          <p:nvPr/>
        </p:nvSpPr>
        <p:spPr>
          <a:xfrm>
            <a:off x="1487488" y="2636913"/>
            <a:ext cx="8568952" cy="830997"/>
          </a:xfrm>
          <a:prstGeom prst="rect">
            <a:avLst/>
          </a:prstGeom>
        </p:spPr>
        <p:txBody>
          <a:bodyPr wrap="square">
            <a:spAutoFit/>
          </a:bodyPr>
          <a:lstStyle/>
          <a:p>
            <a:pPr>
              <a:defRPr/>
            </a:pPr>
            <a:r>
              <a:rPr lang="zh-CN" altLang="en-US" sz="2400" b="1" dirty="0">
                <a:latin typeface="黑体" pitchFamily="49" charset="-122"/>
                <a:ea typeface="黑体" pitchFamily="49" charset="-122"/>
                <a:cs typeface="经典粗黑简" pitchFamily="49" charset="-122"/>
              </a:rPr>
              <a:t>在网图中，</a:t>
            </a:r>
            <a:r>
              <a:rPr lang="zh-CN" altLang="en-US" sz="2400" b="1" dirty="0">
                <a:solidFill>
                  <a:srgbClr val="FF0000"/>
                </a:solidFill>
                <a:latin typeface="黑体" pitchFamily="49" charset="-122"/>
                <a:ea typeface="黑体" pitchFamily="49" charset="-122"/>
                <a:cs typeface="经典粗黑简" pitchFamily="49" charset="-122"/>
              </a:rPr>
              <a:t>最短路径</a:t>
            </a:r>
            <a:r>
              <a:rPr lang="zh-CN" altLang="en-US" sz="2400" b="1" dirty="0">
                <a:latin typeface="黑体" pitchFamily="49" charset="-122"/>
                <a:ea typeface="黑体" pitchFamily="49" charset="-122"/>
                <a:cs typeface="经典粗黑简" pitchFamily="49" charset="-122"/>
              </a:rPr>
              <a:t>是指两顶点之间经历的边上权值之和最短的路径。</a:t>
            </a:r>
          </a:p>
        </p:txBody>
      </p:sp>
      <p:sp>
        <p:nvSpPr>
          <p:cNvPr id="7" name="Rectangle 2">
            <a:extLst>
              <a:ext uri="{FF2B5EF4-FFF2-40B4-BE49-F238E27FC236}">
                <a16:creationId xmlns:a16="http://schemas.microsoft.com/office/drawing/2014/main" id="{6534DF67-CF7E-2FA5-7329-96C28D317F8E}"/>
              </a:ext>
            </a:extLst>
          </p:cNvPr>
          <p:cNvSpPr txBox="1">
            <a:spLocks noChangeArrowheads="1"/>
          </p:cNvSpPr>
          <p:nvPr/>
        </p:nvSpPr>
        <p:spPr>
          <a:xfrm>
            <a:off x="474772" y="1230902"/>
            <a:ext cx="3821028"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8.5.1 </a:t>
            </a:r>
            <a:r>
              <a:rPr lang="zh-CN" altLang="en-US" dirty="0"/>
              <a:t>最短路径的概念</a:t>
            </a:r>
            <a:endParaRPr kumimoji="1" lang="zh-CN" altLang="en-US" dirty="0">
              <a:latin typeface="微软雅黑" pitchFamily="34" charset="-122"/>
              <a:ea typeface="微软雅黑" pitchFamily="34" charset="-122"/>
            </a:endParaRPr>
          </a:p>
        </p:txBody>
      </p:sp>
      <p:cxnSp>
        <p:nvCxnSpPr>
          <p:cNvPr id="8" name="直接连接符 7">
            <a:extLst>
              <a:ext uri="{FF2B5EF4-FFF2-40B4-BE49-F238E27FC236}">
                <a16:creationId xmlns:a16="http://schemas.microsoft.com/office/drawing/2014/main" id="{A6EE9734-B199-4247-B730-DAC3812F0ECE}"/>
              </a:ext>
            </a:extLst>
          </p:cNvPr>
          <p:cNvCxnSpPr>
            <a:cxnSpLocks/>
          </p:cNvCxnSpPr>
          <p:nvPr/>
        </p:nvCxnSpPr>
        <p:spPr>
          <a:xfrm>
            <a:off x="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9" name="矩形 8">
            <a:extLst>
              <a:ext uri="{FF2B5EF4-FFF2-40B4-BE49-F238E27FC236}">
                <a16:creationId xmlns:a16="http://schemas.microsoft.com/office/drawing/2014/main" id="{00517E7C-8872-ABD1-9B5F-7935357554B3}"/>
              </a:ext>
            </a:extLst>
          </p:cNvPr>
          <p:cNvSpPr/>
          <p:nvPr/>
        </p:nvSpPr>
        <p:spPr>
          <a:xfrm>
            <a:off x="3394075" y="399838"/>
            <a:ext cx="4617860"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8.5 </a:t>
            </a:r>
            <a:r>
              <a:rPr lang="zh-CN" altLang="en-US" sz="3000" b="1" dirty="0">
                <a:latin typeface="黑体" pitchFamily="49" charset="-122"/>
                <a:ea typeface="黑体" pitchFamily="49" charset="-122"/>
                <a:cs typeface="经典粗黑简" pitchFamily="49" charset="-122"/>
              </a:rPr>
              <a:t>最短路径</a:t>
            </a:r>
          </a:p>
        </p:txBody>
      </p:sp>
      <p:sp>
        <p:nvSpPr>
          <p:cNvPr id="4" name="Text Box 2">
            <a:extLst>
              <a:ext uri="{FF2B5EF4-FFF2-40B4-BE49-F238E27FC236}">
                <a16:creationId xmlns:a16="http://schemas.microsoft.com/office/drawing/2014/main" id="{E5A4EDCC-B96F-918A-4898-1D8205A4D99A}"/>
              </a:ext>
            </a:extLst>
          </p:cNvPr>
          <p:cNvSpPr txBox="1">
            <a:spLocks noChangeArrowheads="1"/>
          </p:cNvSpPr>
          <p:nvPr/>
        </p:nvSpPr>
        <p:spPr bwMode="auto">
          <a:xfrm>
            <a:off x="1674440" y="3429000"/>
            <a:ext cx="8382000" cy="861774"/>
          </a:xfrm>
          <a:prstGeom prst="rect">
            <a:avLst/>
          </a:prstGeom>
          <a:noFill/>
          <a:ln w="9525">
            <a:noFill/>
            <a:miter lim="800000"/>
            <a:headEnd/>
            <a:tailEnd/>
          </a:ln>
          <a:effectLst/>
        </p:spPr>
        <p:txBody>
          <a:bodyPr>
            <a:spAutoFit/>
          </a:bodyPr>
          <a:lstStyle/>
          <a:p>
            <a:pPr algn="just">
              <a:lnSpc>
                <a:spcPts val="3000"/>
              </a:lnSpc>
              <a:spcBef>
                <a:spcPts val="0"/>
              </a:spcBef>
            </a:pPr>
            <a:r>
              <a:rPr kumimoji="1" lang="en-US" altLang="zh-CN" sz="2000" dirty="0">
                <a:solidFill>
                  <a:srgbClr val="FF3300"/>
                </a:solidFill>
                <a:latin typeface="Consolas" pitchFamily="49" charset="0"/>
                <a:ea typeface="楷体" pitchFamily="49" charset="-122"/>
                <a:cs typeface="Consolas" pitchFamily="49" charset="0"/>
              </a:rPr>
              <a:t>    </a:t>
            </a:r>
            <a:r>
              <a:rPr kumimoji="1" lang="zh-CN" altLang="en-US" sz="2000" dirty="0">
                <a:latin typeface="Consolas" pitchFamily="49" charset="0"/>
                <a:ea typeface="楷体" pitchFamily="49" charset="-122"/>
                <a:cs typeface="Consolas" pitchFamily="49" charset="0"/>
              </a:rPr>
              <a:t>考虑</a:t>
            </a:r>
            <a:r>
              <a:rPr kumimoji="1" lang="zh-CN" altLang="en-US" sz="2000" dirty="0">
                <a:solidFill>
                  <a:srgbClr val="FF00FF"/>
                </a:solidFill>
                <a:latin typeface="Consolas" pitchFamily="49" charset="0"/>
                <a:ea typeface="楷体" pitchFamily="49" charset="-122"/>
                <a:cs typeface="Consolas" pitchFamily="49" charset="0"/>
              </a:rPr>
              <a:t>带权有向图</a:t>
            </a:r>
            <a:r>
              <a:rPr kumimoji="1" lang="zh-CN" altLang="en-US" sz="2000" dirty="0">
                <a:latin typeface="Consolas" pitchFamily="49" charset="0"/>
                <a:ea typeface="楷体" pitchFamily="49" charset="-122"/>
                <a:cs typeface="Consolas" pitchFamily="49" charset="0"/>
              </a:rPr>
              <a:t>，把一条路径（仅仅考虑</a:t>
            </a:r>
            <a:r>
              <a:rPr kumimoji="1" lang="zh-CN" altLang="en-US" sz="2000" dirty="0">
                <a:solidFill>
                  <a:srgbClr val="C00000"/>
                </a:solidFill>
                <a:latin typeface="Consolas" pitchFamily="49" charset="0"/>
                <a:ea typeface="楷体" pitchFamily="49" charset="-122"/>
                <a:cs typeface="Consolas" pitchFamily="49" charset="0"/>
              </a:rPr>
              <a:t>简单路径</a:t>
            </a:r>
            <a:r>
              <a:rPr kumimoji="1" lang="zh-CN" altLang="en-US" sz="2000" dirty="0">
                <a:latin typeface="Consolas" pitchFamily="49" charset="0"/>
                <a:ea typeface="楷体" pitchFamily="49" charset="-122"/>
                <a:cs typeface="Consolas" pitchFamily="49" charset="0"/>
              </a:rPr>
              <a:t>）上所经边的权值之和定义为该路径的</a:t>
            </a:r>
            <a:r>
              <a:rPr kumimoji="1" lang="zh-CN" altLang="en-US" sz="2000" dirty="0">
                <a:solidFill>
                  <a:srgbClr val="FF0000"/>
                </a:solidFill>
                <a:latin typeface="方正启体简体" pitchFamily="65" charset="-122"/>
                <a:ea typeface="方正启体简体" pitchFamily="65" charset="-122"/>
                <a:cs typeface="Consolas" pitchFamily="49" charset="0"/>
              </a:rPr>
              <a:t>路径长度</a:t>
            </a:r>
            <a:r>
              <a:rPr kumimoji="1" lang="zh-CN" altLang="en-US" sz="2000" dirty="0">
                <a:latin typeface="Consolas" pitchFamily="49" charset="0"/>
                <a:ea typeface="楷体" pitchFamily="49" charset="-122"/>
                <a:cs typeface="Consolas" pitchFamily="49" charset="0"/>
              </a:rPr>
              <a:t>或称</a:t>
            </a:r>
            <a:r>
              <a:rPr kumimoji="1" lang="zh-CN" altLang="en-US" sz="2000" dirty="0">
                <a:solidFill>
                  <a:srgbClr val="FF0000"/>
                </a:solidFill>
                <a:latin typeface="方正启体简体" pitchFamily="65" charset="-122"/>
                <a:ea typeface="方正启体简体" pitchFamily="65" charset="-122"/>
                <a:cs typeface="Consolas" pitchFamily="49" charset="0"/>
              </a:rPr>
              <a:t>带权路径长度</a:t>
            </a:r>
            <a:r>
              <a:rPr kumimoji="1" lang="zh-CN" altLang="en-US" sz="2000" dirty="0">
                <a:latin typeface="Consolas" pitchFamily="49" charset="0"/>
                <a:ea typeface="楷体" pitchFamily="49" charset="-122"/>
                <a:cs typeface="Consolas" pitchFamily="49" charset="0"/>
              </a:rPr>
              <a:t>。</a:t>
            </a:r>
          </a:p>
        </p:txBody>
      </p:sp>
      <p:sp>
        <p:nvSpPr>
          <p:cNvPr id="5" name="TextBox 3">
            <a:extLst>
              <a:ext uri="{FF2B5EF4-FFF2-40B4-BE49-F238E27FC236}">
                <a16:creationId xmlns:a16="http://schemas.microsoft.com/office/drawing/2014/main" id="{ACBF2766-ABB1-AE05-A797-A2525F164BC3}"/>
              </a:ext>
            </a:extLst>
          </p:cNvPr>
          <p:cNvSpPr txBox="1"/>
          <p:nvPr/>
        </p:nvSpPr>
        <p:spPr>
          <a:xfrm>
            <a:off x="1556417" y="6246574"/>
            <a:ext cx="8643998" cy="477054"/>
          </a:xfrm>
          <a:prstGeom prst="rect">
            <a:avLst/>
          </a:prstGeom>
          <a:noFill/>
        </p:spPr>
        <p:txBody>
          <a:bodyPr wrap="square" rtlCol="0">
            <a:spAutoFit/>
          </a:bodyPr>
          <a:lstStyle/>
          <a:p>
            <a:pPr>
              <a:lnSpc>
                <a:spcPts val="3000"/>
              </a:lnSpc>
              <a:spcBef>
                <a:spcPts val="0"/>
              </a:spcBef>
            </a:pPr>
            <a:r>
              <a:rPr kumimoji="1" lang="zh-CN" altLang="en-US" sz="2000" dirty="0">
                <a:latin typeface="Consolas" pitchFamily="49" charset="0"/>
                <a:ea typeface="楷体" pitchFamily="49" charset="-122"/>
                <a:cs typeface="Consolas" pitchFamily="49" charset="0"/>
              </a:rPr>
              <a:t>从源点到终点可能不止一条路径，把路径长度最短的那条路径称为</a:t>
            </a:r>
            <a:r>
              <a:rPr kumimoji="1" lang="zh-CN" altLang="en-US" sz="2000" dirty="0">
                <a:solidFill>
                  <a:srgbClr val="FF0000"/>
                </a:solidFill>
                <a:latin typeface="Consolas" pitchFamily="49" charset="0"/>
                <a:ea typeface="楷体" pitchFamily="49" charset="-122"/>
                <a:cs typeface="Consolas" pitchFamily="49" charset="0"/>
              </a:rPr>
              <a:t>最短路径</a:t>
            </a:r>
            <a:r>
              <a:rPr kumimoji="1" lang="zh-CN" altLang="en-US" sz="2000" dirty="0">
                <a:latin typeface="Consolas" pitchFamily="49" charset="0"/>
                <a:ea typeface="楷体" pitchFamily="49" charset="-122"/>
                <a:cs typeface="Consolas" pitchFamily="49" charset="0"/>
              </a:rPr>
              <a:t>。</a:t>
            </a:r>
            <a:endParaRPr lang="zh-CN" altLang="en-US" sz="2000" dirty="0">
              <a:latin typeface="Consolas" pitchFamily="49" charset="0"/>
              <a:ea typeface="楷体" pitchFamily="49" charset="-122"/>
              <a:cs typeface="Consolas" pitchFamily="49" charset="0"/>
            </a:endParaRPr>
          </a:p>
        </p:txBody>
      </p:sp>
      <p:grpSp>
        <p:nvGrpSpPr>
          <p:cNvPr id="6" name="组合 5">
            <a:extLst>
              <a:ext uri="{FF2B5EF4-FFF2-40B4-BE49-F238E27FC236}">
                <a16:creationId xmlns:a16="http://schemas.microsoft.com/office/drawing/2014/main" id="{2870DFA4-59B3-A0DD-A225-B13AC6F8BD74}"/>
              </a:ext>
            </a:extLst>
          </p:cNvPr>
          <p:cNvGrpSpPr/>
          <p:nvPr/>
        </p:nvGrpSpPr>
        <p:grpSpPr>
          <a:xfrm>
            <a:off x="2460258" y="4528100"/>
            <a:ext cx="5897850" cy="682876"/>
            <a:chOff x="1285852" y="3429000"/>
            <a:chExt cx="5897850" cy="682876"/>
          </a:xfrm>
        </p:grpSpPr>
        <p:sp>
          <p:nvSpPr>
            <p:cNvPr id="14" name="椭圆 13">
              <a:extLst>
                <a:ext uri="{FF2B5EF4-FFF2-40B4-BE49-F238E27FC236}">
                  <a16:creationId xmlns:a16="http://schemas.microsoft.com/office/drawing/2014/main" id="{83E03774-C6D4-47F4-1EDD-6F7E11D4993E}"/>
                </a:ext>
              </a:extLst>
            </p:cNvPr>
            <p:cNvSpPr/>
            <p:nvPr/>
          </p:nvSpPr>
          <p:spPr>
            <a:xfrm>
              <a:off x="1285852" y="3571876"/>
              <a:ext cx="540000" cy="540000"/>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600" i="1" dirty="0">
                  <a:solidFill>
                    <a:srgbClr val="3333FF"/>
                  </a:solidFill>
                  <a:latin typeface="Consolas" pitchFamily="49" charset="0"/>
                  <a:cs typeface="Consolas" pitchFamily="49" charset="0"/>
                </a:rPr>
                <a:t>v</a:t>
              </a:r>
              <a:endParaRPr lang="zh-CN" altLang="en-US" sz="1600" i="1" dirty="0">
                <a:solidFill>
                  <a:srgbClr val="3333FF"/>
                </a:solidFill>
                <a:latin typeface="Consolas" pitchFamily="49" charset="0"/>
                <a:cs typeface="Consolas" pitchFamily="49" charset="0"/>
              </a:endParaRPr>
            </a:p>
          </p:txBody>
        </p:sp>
        <p:sp>
          <p:nvSpPr>
            <p:cNvPr id="15" name="椭圆 14">
              <a:extLst>
                <a:ext uri="{FF2B5EF4-FFF2-40B4-BE49-F238E27FC236}">
                  <a16:creationId xmlns:a16="http://schemas.microsoft.com/office/drawing/2014/main" id="{D2AC0CC0-C3C1-1DBE-0B42-EA699226CF0F}"/>
                </a:ext>
              </a:extLst>
            </p:cNvPr>
            <p:cNvSpPr/>
            <p:nvPr/>
          </p:nvSpPr>
          <p:spPr>
            <a:xfrm>
              <a:off x="2603240" y="3571876"/>
              <a:ext cx="540000" cy="540000"/>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600" i="1" dirty="0" err="1">
                  <a:solidFill>
                    <a:srgbClr val="3333FF"/>
                  </a:solidFill>
                  <a:latin typeface="Consolas" pitchFamily="49" charset="0"/>
                  <a:cs typeface="Consolas" pitchFamily="49" charset="0"/>
                </a:rPr>
                <a:t>v</a:t>
              </a:r>
              <a:r>
                <a:rPr lang="en-US" altLang="zh-CN" sz="1600" baseline="-25000" dirty="0" err="1">
                  <a:solidFill>
                    <a:srgbClr val="3333FF"/>
                  </a:solidFill>
                  <a:latin typeface="Consolas" pitchFamily="49" charset="0"/>
                  <a:cs typeface="Consolas" pitchFamily="49" charset="0"/>
                </a:rPr>
                <a:t>1</a:t>
              </a:r>
              <a:endParaRPr lang="zh-CN" altLang="en-US" sz="1600" baseline="-25000" dirty="0">
                <a:solidFill>
                  <a:srgbClr val="3333FF"/>
                </a:solidFill>
                <a:latin typeface="Consolas" pitchFamily="49" charset="0"/>
                <a:cs typeface="Consolas" pitchFamily="49" charset="0"/>
              </a:endParaRPr>
            </a:p>
          </p:txBody>
        </p:sp>
        <p:sp>
          <p:nvSpPr>
            <p:cNvPr id="16" name="椭圆 15">
              <a:extLst>
                <a:ext uri="{FF2B5EF4-FFF2-40B4-BE49-F238E27FC236}">
                  <a16:creationId xmlns:a16="http://schemas.microsoft.com/office/drawing/2014/main" id="{F55C5EB7-568B-7B91-96D1-0F1390B99BF7}"/>
                </a:ext>
              </a:extLst>
            </p:cNvPr>
            <p:cNvSpPr/>
            <p:nvPr/>
          </p:nvSpPr>
          <p:spPr>
            <a:xfrm>
              <a:off x="3914524" y="3571876"/>
              <a:ext cx="540000" cy="540000"/>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600" i="1" dirty="0" err="1">
                  <a:solidFill>
                    <a:srgbClr val="3333FF"/>
                  </a:solidFill>
                  <a:latin typeface="Consolas" pitchFamily="49" charset="0"/>
                  <a:cs typeface="Consolas" pitchFamily="49" charset="0"/>
                </a:rPr>
                <a:t>v</a:t>
              </a:r>
              <a:r>
                <a:rPr lang="en-US" altLang="zh-CN" sz="1600" i="1" baseline="-25000" dirty="0" err="1">
                  <a:solidFill>
                    <a:srgbClr val="3333FF"/>
                  </a:solidFill>
                  <a:latin typeface="Consolas" pitchFamily="49" charset="0"/>
                  <a:cs typeface="Consolas" pitchFamily="49" charset="0"/>
                </a:rPr>
                <a:t>2</a:t>
              </a:r>
              <a:endParaRPr lang="zh-CN" altLang="en-US" sz="1600" baseline="-25000" dirty="0">
                <a:solidFill>
                  <a:srgbClr val="3333FF"/>
                </a:solidFill>
                <a:latin typeface="Consolas" pitchFamily="49" charset="0"/>
                <a:cs typeface="Consolas" pitchFamily="49" charset="0"/>
              </a:endParaRPr>
            </a:p>
          </p:txBody>
        </p:sp>
        <p:sp>
          <p:nvSpPr>
            <p:cNvPr id="17" name="椭圆 16">
              <a:extLst>
                <a:ext uri="{FF2B5EF4-FFF2-40B4-BE49-F238E27FC236}">
                  <a16:creationId xmlns:a16="http://schemas.microsoft.com/office/drawing/2014/main" id="{674EABAD-BD85-AF48-0BC2-7A4DDC913139}"/>
                </a:ext>
              </a:extLst>
            </p:cNvPr>
            <p:cNvSpPr/>
            <p:nvPr/>
          </p:nvSpPr>
          <p:spPr>
            <a:xfrm>
              <a:off x="6643702" y="3571876"/>
              <a:ext cx="540000" cy="540000"/>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600" i="1" dirty="0">
                  <a:solidFill>
                    <a:srgbClr val="3333FF"/>
                  </a:solidFill>
                  <a:latin typeface="Consolas" pitchFamily="49" charset="0"/>
                  <a:cs typeface="Consolas" pitchFamily="49" charset="0"/>
                </a:rPr>
                <a:t>u</a:t>
              </a:r>
              <a:endParaRPr lang="zh-CN" altLang="en-US" sz="1600" dirty="0">
                <a:solidFill>
                  <a:srgbClr val="3333FF"/>
                </a:solidFill>
                <a:latin typeface="Consolas" pitchFamily="49" charset="0"/>
                <a:cs typeface="Consolas" pitchFamily="49" charset="0"/>
              </a:endParaRPr>
            </a:p>
          </p:txBody>
        </p:sp>
        <p:cxnSp>
          <p:nvCxnSpPr>
            <p:cNvPr id="18" name="直接箭头连接符 17">
              <a:extLst>
                <a:ext uri="{FF2B5EF4-FFF2-40B4-BE49-F238E27FC236}">
                  <a16:creationId xmlns:a16="http://schemas.microsoft.com/office/drawing/2014/main" id="{60194ECF-2570-D004-17A2-FAB5F3E6DF66}"/>
                </a:ext>
              </a:extLst>
            </p:cNvPr>
            <p:cNvCxnSpPr>
              <a:stCxn id="14" idx="6"/>
              <a:endCxn id="15" idx="2"/>
            </p:cNvCxnSpPr>
            <p:nvPr/>
          </p:nvCxnSpPr>
          <p:spPr>
            <a:xfrm>
              <a:off x="1825852" y="3841876"/>
              <a:ext cx="777388" cy="1588"/>
            </a:xfrm>
            <a:prstGeom prst="straightConnector1">
              <a:avLst/>
            </a:prstGeom>
            <a:ln w="28575">
              <a:solidFill>
                <a:srgbClr val="339933"/>
              </a:solidFill>
              <a:tailEnd type="arrow"/>
            </a:ln>
          </p:spPr>
          <p:style>
            <a:lnRef idx="1">
              <a:schemeClr val="accent1"/>
            </a:lnRef>
            <a:fillRef idx="0">
              <a:schemeClr val="accent1"/>
            </a:fillRef>
            <a:effectRef idx="0">
              <a:schemeClr val="accent1"/>
            </a:effectRef>
            <a:fontRef idx="minor">
              <a:schemeClr val="tx1"/>
            </a:fontRef>
          </p:style>
        </p:cxnSp>
        <p:sp>
          <p:nvSpPr>
            <p:cNvPr id="19" name="TextBox 11">
              <a:extLst>
                <a:ext uri="{FF2B5EF4-FFF2-40B4-BE49-F238E27FC236}">
                  <a16:creationId xmlns:a16="http://schemas.microsoft.com/office/drawing/2014/main" id="{F63E2617-479D-5301-C835-0593FB077D2B}"/>
                </a:ext>
              </a:extLst>
            </p:cNvPr>
            <p:cNvSpPr txBox="1"/>
            <p:nvPr/>
          </p:nvSpPr>
          <p:spPr>
            <a:xfrm>
              <a:off x="2071670" y="3429000"/>
              <a:ext cx="285752" cy="307777"/>
            </a:xfrm>
            <a:prstGeom prst="rect">
              <a:avLst/>
            </a:prstGeom>
            <a:noFill/>
          </p:spPr>
          <p:txBody>
            <a:bodyPr wrap="square" lIns="0" tIns="0" rIns="0" bIns="0" rtlCol="0">
              <a:spAutoFit/>
            </a:bodyPr>
            <a:lstStyle/>
            <a:p>
              <a:r>
                <a:rPr lang="en-US" altLang="zh-CN" sz="2000" i="1" dirty="0" err="1">
                  <a:latin typeface="Consolas" pitchFamily="49" charset="0"/>
                  <a:cs typeface="Consolas" pitchFamily="49" charset="0"/>
                </a:rPr>
                <a:t>c</a:t>
              </a:r>
              <a:r>
                <a:rPr lang="en-US" altLang="zh-CN" sz="2000" baseline="-25000" dirty="0" err="1">
                  <a:latin typeface="Consolas" pitchFamily="49" charset="0"/>
                  <a:cs typeface="Consolas" pitchFamily="49" charset="0"/>
                </a:rPr>
                <a:t>1</a:t>
              </a:r>
              <a:endParaRPr lang="zh-CN" altLang="en-US" sz="2000" baseline="-25000" dirty="0">
                <a:latin typeface="Consolas" pitchFamily="49" charset="0"/>
                <a:cs typeface="Consolas" pitchFamily="49" charset="0"/>
              </a:endParaRPr>
            </a:p>
          </p:txBody>
        </p:sp>
        <p:cxnSp>
          <p:nvCxnSpPr>
            <p:cNvPr id="20" name="直接箭头连接符 19">
              <a:extLst>
                <a:ext uri="{FF2B5EF4-FFF2-40B4-BE49-F238E27FC236}">
                  <a16:creationId xmlns:a16="http://schemas.microsoft.com/office/drawing/2014/main" id="{E1128B5D-9D21-A8C6-56FB-F2D1EFE8DF3B}"/>
                </a:ext>
              </a:extLst>
            </p:cNvPr>
            <p:cNvCxnSpPr/>
            <p:nvPr/>
          </p:nvCxnSpPr>
          <p:spPr>
            <a:xfrm>
              <a:off x="3151670" y="3841876"/>
              <a:ext cx="777388" cy="1588"/>
            </a:xfrm>
            <a:prstGeom prst="straightConnector1">
              <a:avLst/>
            </a:prstGeom>
            <a:ln w="28575">
              <a:solidFill>
                <a:srgbClr val="339933"/>
              </a:solidFill>
              <a:tailEnd type="arrow"/>
            </a:ln>
          </p:spPr>
          <p:style>
            <a:lnRef idx="1">
              <a:schemeClr val="accent1"/>
            </a:lnRef>
            <a:fillRef idx="0">
              <a:schemeClr val="accent1"/>
            </a:fillRef>
            <a:effectRef idx="0">
              <a:schemeClr val="accent1"/>
            </a:effectRef>
            <a:fontRef idx="minor">
              <a:schemeClr val="tx1"/>
            </a:fontRef>
          </p:style>
        </p:cxnSp>
        <p:sp>
          <p:nvSpPr>
            <p:cNvPr id="21" name="TextBox 13">
              <a:extLst>
                <a:ext uri="{FF2B5EF4-FFF2-40B4-BE49-F238E27FC236}">
                  <a16:creationId xmlns:a16="http://schemas.microsoft.com/office/drawing/2014/main" id="{6E77FDEA-B55C-C823-2976-9E2D2F7FF57A}"/>
                </a:ext>
              </a:extLst>
            </p:cNvPr>
            <p:cNvSpPr txBox="1"/>
            <p:nvPr/>
          </p:nvSpPr>
          <p:spPr>
            <a:xfrm>
              <a:off x="3397488" y="3429000"/>
              <a:ext cx="285752" cy="307777"/>
            </a:xfrm>
            <a:prstGeom prst="rect">
              <a:avLst/>
            </a:prstGeom>
            <a:noFill/>
          </p:spPr>
          <p:txBody>
            <a:bodyPr wrap="square" lIns="0" tIns="0" rIns="0" bIns="0" rtlCol="0">
              <a:spAutoFit/>
            </a:bodyPr>
            <a:lstStyle/>
            <a:p>
              <a:r>
                <a:rPr lang="en-US" altLang="zh-CN" sz="2000" i="1" dirty="0" err="1">
                  <a:latin typeface="Consolas" pitchFamily="49" charset="0"/>
                  <a:cs typeface="Consolas" pitchFamily="49" charset="0"/>
                </a:rPr>
                <a:t>c</a:t>
              </a:r>
              <a:r>
                <a:rPr lang="en-US" altLang="zh-CN" sz="2000" baseline="-25000" dirty="0" err="1">
                  <a:latin typeface="Consolas" pitchFamily="49" charset="0"/>
                  <a:cs typeface="Consolas" pitchFamily="49" charset="0"/>
                </a:rPr>
                <a:t>2</a:t>
              </a:r>
              <a:endParaRPr lang="zh-CN" altLang="en-US" sz="2000" baseline="-25000" dirty="0">
                <a:latin typeface="Consolas" pitchFamily="49" charset="0"/>
                <a:cs typeface="Consolas" pitchFamily="49" charset="0"/>
              </a:endParaRPr>
            </a:p>
          </p:txBody>
        </p:sp>
        <p:cxnSp>
          <p:nvCxnSpPr>
            <p:cNvPr id="22" name="直接箭头连接符 21">
              <a:extLst>
                <a:ext uri="{FF2B5EF4-FFF2-40B4-BE49-F238E27FC236}">
                  <a16:creationId xmlns:a16="http://schemas.microsoft.com/office/drawing/2014/main" id="{30CFFE66-C768-26C6-50EB-05F28B2E848E}"/>
                </a:ext>
              </a:extLst>
            </p:cNvPr>
            <p:cNvCxnSpPr/>
            <p:nvPr/>
          </p:nvCxnSpPr>
          <p:spPr>
            <a:xfrm>
              <a:off x="4458192" y="3841876"/>
              <a:ext cx="777388" cy="1588"/>
            </a:xfrm>
            <a:prstGeom prst="straightConnector1">
              <a:avLst/>
            </a:prstGeom>
            <a:ln w="28575">
              <a:solidFill>
                <a:srgbClr val="339933"/>
              </a:solidFill>
              <a:tailEnd type="arrow"/>
            </a:ln>
          </p:spPr>
          <p:style>
            <a:lnRef idx="1">
              <a:schemeClr val="accent1"/>
            </a:lnRef>
            <a:fillRef idx="0">
              <a:schemeClr val="accent1"/>
            </a:fillRef>
            <a:effectRef idx="0">
              <a:schemeClr val="accent1"/>
            </a:effectRef>
            <a:fontRef idx="minor">
              <a:schemeClr val="tx1"/>
            </a:fontRef>
          </p:style>
        </p:cxnSp>
        <p:sp>
          <p:nvSpPr>
            <p:cNvPr id="23" name="TextBox 15">
              <a:extLst>
                <a:ext uri="{FF2B5EF4-FFF2-40B4-BE49-F238E27FC236}">
                  <a16:creationId xmlns:a16="http://schemas.microsoft.com/office/drawing/2014/main" id="{23A7AF5D-F406-9638-32F6-9B368A37E4F1}"/>
                </a:ext>
              </a:extLst>
            </p:cNvPr>
            <p:cNvSpPr txBox="1"/>
            <p:nvPr/>
          </p:nvSpPr>
          <p:spPr>
            <a:xfrm>
              <a:off x="4704010" y="3429000"/>
              <a:ext cx="285752" cy="307777"/>
            </a:xfrm>
            <a:prstGeom prst="rect">
              <a:avLst/>
            </a:prstGeom>
            <a:noFill/>
          </p:spPr>
          <p:txBody>
            <a:bodyPr wrap="square" lIns="0" tIns="0" rIns="0" bIns="0" rtlCol="0">
              <a:spAutoFit/>
            </a:bodyPr>
            <a:lstStyle/>
            <a:p>
              <a:r>
                <a:rPr lang="en-US" altLang="zh-CN" sz="2000" i="1" dirty="0" err="1">
                  <a:latin typeface="Consolas" pitchFamily="49" charset="0"/>
                  <a:cs typeface="Consolas" pitchFamily="49" charset="0"/>
                </a:rPr>
                <a:t>c</a:t>
              </a:r>
              <a:r>
                <a:rPr lang="en-US" altLang="zh-CN" sz="2000" baseline="-25000" dirty="0" err="1">
                  <a:latin typeface="Consolas" pitchFamily="49" charset="0"/>
                  <a:cs typeface="Consolas" pitchFamily="49" charset="0"/>
                </a:rPr>
                <a:t>3</a:t>
              </a:r>
              <a:endParaRPr lang="zh-CN" altLang="en-US" sz="2000" baseline="-25000" dirty="0">
                <a:latin typeface="Consolas" pitchFamily="49" charset="0"/>
                <a:cs typeface="Consolas" pitchFamily="49" charset="0"/>
              </a:endParaRPr>
            </a:p>
          </p:txBody>
        </p:sp>
        <p:sp>
          <p:nvSpPr>
            <p:cNvPr id="24" name="TextBox 16">
              <a:extLst>
                <a:ext uri="{FF2B5EF4-FFF2-40B4-BE49-F238E27FC236}">
                  <a16:creationId xmlns:a16="http://schemas.microsoft.com/office/drawing/2014/main" id="{FFC00E87-3B2F-305D-60E9-17D0DAC2B867}"/>
                </a:ext>
              </a:extLst>
            </p:cNvPr>
            <p:cNvSpPr txBox="1"/>
            <p:nvPr/>
          </p:nvSpPr>
          <p:spPr>
            <a:xfrm>
              <a:off x="5299080" y="3581344"/>
              <a:ext cx="571504" cy="400110"/>
            </a:xfrm>
            <a:prstGeom prst="rect">
              <a:avLst/>
            </a:prstGeom>
            <a:noFill/>
          </p:spPr>
          <p:txBody>
            <a:bodyPr wrap="square" rtlCol="0">
              <a:spAutoFit/>
            </a:bodyPr>
            <a:lstStyle/>
            <a:p>
              <a:r>
                <a:rPr lang="zh-CN" altLang="en-US" sz="2000" dirty="0">
                  <a:latin typeface="+mn-ea"/>
                  <a:ea typeface="+mn-ea"/>
                  <a:cs typeface="Consolas" pitchFamily="49" charset="0"/>
                  <a:sym typeface="Symbol"/>
                </a:rPr>
                <a:t></a:t>
              </a:r>
              <a:endParaRPr lang="zh-CN" altLang="en-US" sz="2000" dirty="0">
                <a:latin typeface="+mn-ea"/>
                <a:ea typeface="+mn-ea"/>
                <a:cs typeface="Consolas" pitchFamily="49" charset="0"/>
              </a:endParaRPr>
            </a:p>
          </p:txBody>
        </p:sp>
        <p:cxnSp>
          <p:nvCxnSpPr>
            <p:cNvPr id="25" name="直接箭头连接符 24">
              <a:extLst>
                <a:ext uri="{FF2B5EF4-FFF2-40B4-BE49-F238E27FC236}">
                  <a16:creationId xmlns:a16="http://schemas.microsoft.com/office/drawing/2014/main" id="{F0BFB202-5D97-F68E-7EBC-9FC423676458}"/>
                </a:ext>
              </a:extLst>
            </p:cNvPr>
            <p:cNvCxnSpPr/>
            <p:nvPr/>
          </p:nvCxnSpPr>
          <p:spPr>
            <a:xfrm>
              <a:off x="5866314" y="3841876"/>
              <a:ext cx="777388" cy="1588"/>
            </a:xfrm>
            <a:prstGeom prst="straightConnector1">
              <a:avLst/>
            </a:prstGeom>
            <a:ln w="28575">
              <a:solidFill>
                <a:srgbClr val="339933"/>
              </a:solidFill>
              <a:tailEnd type="arrow"/>
            </a:ln>
          </p:spPr>
          <p:style>
            <a:lnRef idx="1">
              <a:schemeClr val="accent1"/>
            </a:lnRef>
            <a:fillRef idx="0">
              <a:schemeClr val="accent1"/>
            </a:fillRef>
            <a:effectRef idx="0">
              <a:schemeClr val="accent1"/>
            </a:effectRef>
            <a:fontRef idx="minor">
              <a:schemeClr val="tx1"/>
            </a:fontRef>
          </p:style>
        </p:cxnSp>
        <p:sp>
          <p:nvSpPr>
            <p:cNvPr id="26" name="TextBox 18">
              <a:extLst>
                <a:ext uri="{FF2B5EF4-FFF2-40B4-BE49-F238E27FC236}">
                  <a16:creationId xmlns:a16="http://schemas.microsoft.com/office/drawing/2014/main" id="{52181DEF-AE2B-B576-714F-B394C8D7BE25}"/>
                </a:ext>
              </a:extLst>
            </p:cNvPr>
            <p:cNvSpPr txBox="1"/>
            <p:nvPr/>
          </p:nvSpPr>
          <p:spPr>
            <a:xfrm>
              <a:off x="6112132" y="3429000"/>
              <a:ext cx="285752" cy="307777"/>
            </a:xfrm>
            <a:prstGeom prst="rect">
              <a:avLst/>
            </a:prstGeom>
            <a:noFill/>
          </p:spPr>
          <p:txBody>
            <a:bodyPr wrap="square" lIns="0" tIns="0" rIns="0" bIns="0" rtlCol="0">
              <a:spAutoFit/>
            </a:bodyPr>
            <a:lstStyle/>
            <a:p>
              <a:r>
                <a:rPr lang="en-US" altLang="zh-CN" sz="2000" i="1" dirty="0">
                  <a:latin typeface="Consolas" pitchFamily="49" charset="0"/>
                  <a:cs typeface="Consolas" pitchFamily="49" charset="0"/>
                </a:rPr>
                <a:t>c</a:t>
              </a:r>
              <a:r>
                <a:rPr lang="en-US" altLang="zh-CN" sz="2000" i="1" baseline="-25000" dirty="0">
                  <a:latin typeface="Consolas" pitchFamily="49" charset="0"/>
                  <a:cs typeface="Consolas" pitchFamily="49" charset="0"/>
                </a:rPr>
                <a:t>m</a:t>
              </a:r>
              <a:endParaRPr lang="zh-CN" altLang="en-US" sz="2000" i="1" baseline="-25000" dirty="0">
                <a:latin typeface="Consolas" pitchFamily="49" charset="0"/>
                <a:cs typeface="Consolas" pitchFamily="49" charset="0"/>
              </a:endParaRPr>
            </a:p>
          </p:txBody>
        </p:sp>
      </p:grpSp>
      <p:sp>
        <p:nvSpPr>
          <p:cNvPr id="27" name="TextBox 20">
            <a:extLst>
              <a:ext uri="{FF2B5EF4-FFF2-40B4-BE49-F238E27FC236}">
                <a16:creationId xmlns:a16="http://schemas.microsoft.com/office/drawing/2014/main" id="{4B325F24-03C7-CD82-6A63-4DD90E9C13AC}"/>
              </a:ext>
            </a:extLst>
          </p:cNvPr>
          <p:cNvSpPr txBox="1"/>
          <p:nvPr/>
        </p:nvSpPr>
        <p:spPr>
          <a:xfrm>
            <a:off x="2388820" y="5456794"/>
            <a:ext cx="4286280" cy="861774"/>
          </a:xfrm>
          <a:prstGeom prst="rect">
            <a:avLst/>
          </a:prstGeom>
          <a:noFill/>
        </p:spPr>
        <p:txBody>
          <a:bodyPr wrap="square" rtlCol="0">
            <a:spAutoFit/>
          </a:bodyPr>
          <a:lstStyle/>
          <a:p>
            <a:r>
              <a:rPr kumimoji="1" lang="zh-CN" altLang="en-US" sz="2000" dirty="0">
                <a:solidFill>
                  <a:srgbClr val="FF0000"/>
                </a:solidFill>
                <a:latin typeface="方正启体简体" pitchFamily="65" charset="-122"/>
                <a:ea typeface="方正启体简体" pitchFamily="65" charset="-122"/>
                <a:cs typeface="Consolas" pitchFamily="49" charset="0"/>
              </a:rPr>
              <a:t>路径长度</a:t>
            </a:r>
            <a:r>
              <a:rPr kumimoji="1" lang="en-US" altLang="zh-CN" sz="2000" dirty="0">
                <a:latin typeface="Consolas" pitchFamily="49" charset="0"/>
                <a:ea typeface="楷体" pitchFamily="49" charset="-122"/>
                <a:cs typeface="Consolas" pitchFamily="49" charset="0"/>
              </a:rPr>
              <a:t>=</a:t>
            </a:r>
            <a:r>
              <a:rPr kumimoji="1" lang="en-US" altLang="zh-CN" sz="2000" i="1" dirty="0">
                <a:latin typeface="Consolas" pitchFamily="49" charset="0"/>
                <a:ea typeface="楷体" pitchFamily="49" charset="-122"/>
                <a:cs typeface="Consolas" pitchFamily="49" charset="0"/>
              </a:rPr>
              <a:t>c</a:t>
            </a:r>
            <a:r>
              <a:rPr kumimoji="1" lang="en-US" altLang="zh-CN" sz="2000" baseline="-25000" dirty="0">
                <a:latin typeface="Consolas" pitchFamily="49" charset="0"/>
                <a:ea typeface="楷体" pitchFamily="49" charset="-122"/>
                <a:cs typeface="Consolas" pitchFamily="49" charset="0"/>
              </a:rPr>
              <a:t>1 </a:t>
            </a:r>
            <a:r>
              <a:rPr kumimoji="1" lang="en-US" altLang="zh-CN" sz="2000" dirty="0">
                <a:latin typeface="Consolas" pitchFamily="49" charset="0"/>
                <a:ea typeface="楷体" pitchFamily="49" charset="-122"/>
                <a:cs typeface="Consolas" pitchFamily="49" charset="0"/>
              </a:rPr>
              <a:t>+ </a:t>
            </a:r>
            <a:r>
              <a:rPr kumimoji="1" lang="en-US" altLang="zh-CN" sz="2000" i="1" dirty="0">
                <a:latin typeface="Consolas" pitchFamily="49" charset="0"/>
                <a:ea typeface="楷体" pitchFamily="49" charset="-122"/>
                <a:cs typeface="Consolas" pitchFamily="49" charset="0"/>
              </a:rPr>
              <a:t>c</a:t>
            </a:r>
            <a:r>
              <a:rPr kumimoji="1" lang="en-US" altLang="zh-CN" sz="2000" baseline="-25000" dirty="0">
                <a:latin typeface="Consolas" pitchFamily="49" charset="0"/>
                <a:ea typeface="楷体" pitchFamily="49" charset="-122"/>
                <a:cs typeface="Consolas" pitchFamily="49" charset="0"/>
              </a:rPr>
              <a:t>2 </a:t>
            </a:r>
            <a:r>
              <a:rPr kumimoji="1" lang="en-US" altLang="zh-CN" sz="2000" dirty="0">
                <a:latin typeface="Consolas" pitchFamily="49" charset="0"/>
                <a:ea typeface="楷体" pitchFamily="49" charset="-122"/>
                <a:cs typeface="Consolas" pitchFamily="49" charset="0"/>
              </a:rPr>
              <a:t>+ </a:t>
            </a:r>
            <a:r>
              <a:rPr kumimoji="1" lang="en-US" altLang="zh-CN" sz="2000" dirty="0">
                <a:latin typeface="宋体" pitchFamily="2" charset="-122"/>
                <a:ea typeface="宋体" pitchFamily="2" charset="-122"/>
                <a:cs typeface="Consolas" pitchFamily="49" charset="0"/>
              </a:rPr>
              <a:t>…</a:t>
            </a:r>
            <a:r>
              <a:rPr kumimoji="1" lang="en-US" altLang="zh-CN" sz="2000" dirty="0">
                <a:latin typeface="Consolas" pitchFamily="49" charset="0"/>
                <a:ea typeface="楷体" pitchFamily="49" charset="-122"/>
                <a:cs typeface="Consolas" pitchFamily="49" charset="0"/>
                <a:sym typeface="Symbol"/>
              </a:rPr>
              <a:t> + </a:t>
            </a:r>
            <a:r>
              <a:rPr kumimoji="1" lang="en-US" altLang="zh-CN" sz="2000" i="1" dirty="0">
                <a:latin typeface="Consolas" pitchFamily="49" charset="0"/>
                <a:ea typeface="楷体" pitchFamily="49" charset="-122"/>
                <a:cs typeface="Consolas" pitchFamily="49" charset="0"/>
                <a:sym typeface="Symbol"/>
              </a:rPr>
              <a:t>c</a:t>
            </a:r>
            <a:r>
              <a:rPr kumimoji="1" lang="en-US" altLang="zh-CN" sz="2000" i="1" baseline="-25000" dirty="0">
                <a:latin typeface="Consolas" pitchFamily="49" charset="0"/>
                <a:ea typeface="楷体" pitchFamily="49" charset="-122"/>
                <a:cs typeface="Consolas" pitchFamily="49" charset="0"/>
                <a:sym typeface="Symbol"/>
              </a:rPr>
              <a:t>m</a:t>
            </a:r>
            <a:endParaRPr lang="zh-CN" altLang="en-US" sz="2000" i="1" baseline="-25000" dirty="0">
              <a:latin typeface="Consolas" pitchFamily="49" charset="0"/>
              <a:ea typeface="楷体" pitchFamily="49" charset="-122"/>
              <a:cs typeface="Consolas" pitchFamily="49" charset="0"/>
            </a:endParaRPr>
          </a:p>
          <a:p>
            <a:r>
              <a:rPr kumimoji="1" lang="zh-CN" altLang="en-US" sz="2000" dirty="0">
                <a:solidFill>
                  <a:srgbClr val="FF0000"/>
                </a:solidFill>
                <a:latin typeface="方正启体简体" pitchFamily="65" charset="-122"/>
                <a:ea typeface="方正启体简体" pitchFamily="65" charset="-122"/>
                <a:cs typeface="Consolas" pitchFamily="49" charset="0"/>
              </a:rPr>
              <a:t>路径</a:t>
            </a:r>
            <a:r>
              <a:rPr kumimoji="1" lang="zh-CN" altLang="en-US" sz="2000" dirty="0">
                <a:latin typeface="Consolas" pitchFamily="49" charset="0"/>
                <a:ea typeface="楷体" pitchFamily="49" charset="-122"/>
                <a:cs typeface="Consolas" pitchFamily="49" charset="0"/>
              </a:rPr>
              <a:t>：（</a:t>
            </a:r>
            <a:r>
              <a:rPr kumimoji="1" lang="en-US" altLang="zh-CN" sz="2000" i="1" dirty="0">
                <a:latin typeface="Consolas" pitchFamily="49" charset="0"/>
                <a:ea typeface="楷体" pitchFamily="49" charset="-122"/>
                <a:cs typeface="Consolas" pitchFamily="49" charset="0"/>
              </a:rPr>
              <a:t>v</a:t>
            </a:r>
            <a:r>
              <a:rPr kumimoji="1" lang="zh-CN" altLang="en-US" sz="2000" dirty="0">
                <a:latin typeface="Consolas" pitchFamily="49" charset="0"/>
                <a:ea typeface="楷体" pitchFamily="49" charset="-122"/>
                <a:cs typeface="Consolas" pitchFamily="49" charset="0"/>
              </a:rPr>
              <a:t>，</a:t>
            </a:r>
            <a:r>
              <a:rPr kumimoji="1" lang="en-US" altLang="zh-CN" sz="2000" i="1" dirty="0" err="1">
                <a:latin typeface="Consolas" pitchFamily="49" charset="0"/>
                <a:ea typeface="楷体" pitchFamily="49" charset="-122"/>
                <a:cs typeface="Consolas" pitchFamily="49" charset="0"/>
              </a:rPr>
              <a:t>v</a:t>
            </a:r>
            <a:r>
              <a:rPr kumimoji="1" lang="en-US" altLang="zh-CN" sz="2000" baseline="-25000" dirty="0" err="1">
                <a:latin typeface="Consolas" pitchFamily="49" charset="0"/>
                <a:ea typeface="楷体" pitchFamily="49" charset="-122"/>
                <a:cs typeface="Consolas" pitchFamily="49" charset="0"/>
              </a:rPr>
              <a:t>1</a:t>
            </a:r>
            <a:r>
              <a:rPr kumimoji="1" lang="zh-CN" altLang="en-US" sz="2000" dirty="0">
                <a:latin typeface="Consolas" pitchFamily="49" charset="0"/>
                <a:ea typeface="楷体" pitchFamily="49" charset="-122"/>
                <a:cs typeface="Consolas" pitchFamily="49" charset="0"/>
              </a:rPr>
              <a:t>，</a:t>
            </a:r>
            <a:r>
              <a:rPr kumimoji="1" lang="en-US" altLang="zh-CN" sz="2000" i="1" dirty="0">
                <a:latin typeface="Consolas" pitchFamily="49" charset="0"/>
                <a:ea typeface="楷体" pitchFamily="49" charset="-122"/>
                <a:cs typeface="Consolas" pitchFamily="49" charset="0"/>
              </a:rPr>
              <a:t>v</a:t>
            </a:r>
            <a:r>
              <a:rPr kumimoji="1" lang="en-US" altLang="zh-CN" sz="2000" baseline="-25000" dirty="0">
                <a:latin typeface="Consolas" pitchFamily="49" charset="0"/>
                <a:ea typeface="楷体" pitchFamily="49" charset="-122"/>
                <a:cs typeface="Consolas" pitchFamily="49" charset="0"/>
              </a:rPr>
              <a:t>2</a:t>
            </a:r>
            <a:r>
              <a:rPr kumimoji="1" lang="zh-CN" altLang="en-US" sz="2000" dirty="0">
                <a:latin typeface="Consolas" pitchFamily="49" charset="0"/>
                <a:ea typeface="楷体" pitchFamily="49" charset="-122"/>
                <a:cs typeface="Consolas" pitchFamily="49" charset="0"/>
              </a:rPr>
              <a:t>，</a:t>
            </a:r>
            <a:r>
              <a:rPr kumimoji="1" lang="en-US" altLang="zh-CN" sz="2000" dirty="0">
                <a:latin typeface="宋体" pitchFamily="2" charset="-122"/>
                <a:ea typeface="宋体" pitchFamily="2" charset="-122"/>
                <a:cs typeface="Consolas" pitchFamily="49" charset="0"/>
              </a:rPr>
              <a:t>…</a:t>
            </a:r>
            <a:r>
              <a:rPr kumimoji="1" lang="en-US" altLang="zh-CN" sz="2000" dirty="0">
                <a:latin typeface="Consolas" pitchFamily="49" charset="0"/>
                <a:ea typeface="宋体"/>
                <a:cs typeface="Consolas" pitchFamily="49" charset="0"/>
              </a:rPr>
              <a:t> </a:t>
            </a:r>
            <a:r>
              <a:rPr kumimoji="1" lang="zh-CN" altLang="en-US" sz="2000" dirty="0">
                <a:latin typeface="Consolas" pitchFamily="49" charset="0"/>
                <a:ea typeface="楷体" pitchFamily="49" charset="-122"/>
                <a:cs typeface="Consolas" pitchFamily="49" charset="0"/>
                <a:sym typeface="Symbol"/>
              </a:rPr>
              <a:t>，</a:t>
            </a:r>
            <a:r>
              <a:rPr kumimoji="1" lang="en-US" altLang="zh-CN" sz="2000" i="1" dirty="0">
                <a:latin typeface="Consolas" pitchFamily="49" charset="0"/>
                <a:ea typeface="楷体" pitchFamily="49" charset="-122"/>
                <a:cs typeface="Consolas" pitchFamily="49" charset="0"/>
                <a:sym typeface="Symbol"/>
              </a:rPr>
              <a:t>u</a:t>
            </a:r>
            <a:r>
              <a:rPr kumimoji="1" lang="zh-CN" altLang="en-US" sz="2000" dirty="0">
                <a:latin typeface="Consolas" pitchFamily="49" charset="0"/>
                <a:ea typeface="楷体" pitchFamily="49" charset="-122"/>
                <a:cs typeface="Consolas" pitchFamily="49" charset="0"/>
                <a:sym typeface="Symbol"/>
              </a:rPr>
              <a:t>）</a:t>
            </a:r>
            <a:endParaRPr lang="zh-CN" altLang="en-US" sz="2000" i="1" baseline="-25000" dirty="0">
              <a:latin typeface="Consolas" pitchFamily="49" charset="0"/>
              <a:ea typeface="楷体" pitchFamily="49" charset="-122"/>
              <a:cs typeface="Consolas" pitchFamily="49" charset="0"/>
            </a:endParaRPr>
          </a:p>
        </p:txBody>
      </p:sp>
    </p:spTree>
    <p:extLst>
      <p:ext uri="{BB962C8B-B14F-4D97-AF65-F5344CB8AC3E}">
        <p14:creationId xmlns:p14="http://schemas.microsoft.com/office/powerpoint/2010/main" val="31215840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27" grpId="0"/>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1CCB97-0C6E-D20A-1C0F-4993C017ACC8}"/>
            </a:ext>
          </a:extLst>
        </p:cNvPr>
        <p:cNvGrpSpPr/>
        <p:nvPr/>
      </p:nvGrpSpPr>
      <p:grpSpPr>
        <a:xfrm>
          <a:off x="0" y="0"/>
          <a:ext cx="0" cy="0"/>
          <a:chOff x="0" y="0"/>
          <a:chExt cx="0" cy="0"/>
        </a:xfrm>
      </p:grpSpPr>
      <p:sp>
        <p:nvSpPr>
          <p:cNvPr id="7" name="Rectangle 2">
            <a:extLst>
              <a:ext uri="{FF2B5EF4-FFF2-40B4-BE49-F238E27FC236}">
                <a16:creationId xmlns:a16="http://schemas.microsoft.com/office/drawing/2014/main" id="{D5CF3501-37E2-52A5-44B0-9ABF6C7393E8}"/>
              </a:ext>
            </a:extLst>
          </p:cNvPr>
          <p:cNvSpPr txBox="1">
            <a:spLocks noChangeArrowheads="1"/>
          </p:cNvSpPr>
          <p:nvPr/>
        </p:nvSpPr>
        <p:spPr>
          <a:xfrm>
            <a:off x="474772" y="1230902"/>
            <a:ext cx="3821028"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8.5.1 </a:t>
            </a:r>
            <a:r>
              <a:rPr lang="zh-CN" altLang="en-US" dirty="0"/>
              <a:t>最短路径的概念</a:t>
            </a:r>
            <a:endParaRPr kumimoji="1" lang="zh-CN" altLang="en-US" dirty="0">
              <a:latin typeface="微软雅黑" pitchFamily="34" charset="-122"/>
              <a:ea typeface="微软雅黑" pitchFamily="34" charset="-122"/>
            </a:endParaRPr>
          </a:p>
        </p:txBody>
      </p:sp>
      <p:cxnSp>
        <p:nvCxnSpPr>
          <p:cNvPr id="8" name="直接连接符 7">
            <a:extLst>
              <a:ext uri="{FF2B5EF4-FFF2-40B4-BE49-F238E27FC236}">
                <a16:creationId xmlns:a16="http://schemas.microsoft.com/office/drawing/2014/main" id="{432894F7-1B76-1B3A-51DA-E56FA871C975}"/>
              </a:ext>
            </a:extLst>
          </p:cNvPr>
          <p:cNvCxnSpPr>
            <a:cxnSpLocks/>
          </p:cNvCxnSpPr>
          <p:nvPr/>
        </p:nvCxnSpPr>
        <p:spPr>
          <a:xfrm>
            <a:off x="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9" name="矩形 8">
            <a:extLst>
              <a:ext uri="{FF2B5EF4-FFF2-40B4-BE49-F238E27FC236}">
                <a16:creationId xmlns:a16="http://schemas.microsoft.com/office/drawing/2014/main" id="{53663352-0852-83B5-8E59-FEF6A817D476}"/>
              </a:ext>
            </a:extLst>
          </p:cNvPr>
          <p:cNvSpPr/>
          <p:nvPr/>
        </p:nvSpPr>
        <p:spPr>
          <a:xfrm>
            <a:off x="3394075" y="399838"/>
            <a:ext cx="4617860"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8.5 </a:t>
            </a:r>
            <a:r>
              <a:rPr lang="zh-CN" altLang="en-US" sz="3000" b="1" dirty="0">
                <a:latin typeface="黑体" pitchFamily="49" charset="-122"/>
                <a:ea typeface="黑体" pitchFamily="49" charset="-122"/>
                <a:cs typeface="经典粗黑简" pitchFamily="49" charset="-122"/>
              </a:rPr>
              <a:t>最短路径</a:t>
            </a:r>
          </a:p>
        </p:txBody>
      </p:sp>
      <p:sp>
        <p:nvSpPr>
          <p:cNvPr id="10" name="Oval 10">
            <a:extLst>
              <a:ext uri="{FF2B5EF4-FFF2-40B4-BE49-F238E27FC236}">
                <a16:creationId xmlns:a16="http://schemas.microsoft.com/office/drawing/2014/main" id="{5704FD9F-A7E4-1131-F8E4-202AC85E62C9}"/>
              </a:ext>
            </a:extLst>
          </p:cNvPr>
          <p:cNvSpPr>
            <a:spLocks noChangeArrowheads="1"/>
          </p:cNvSpPr>
          <p:nvPr/>
        </p:nvSpPr>
        <p:spPr bwMode="auto">
          <a:xfrm>
            <a:off x="1362852" y="3265193"/>
            <a:ext cx="360000" cy="432000"/>
          </a:xfrm>
          <a:prstGeom prst="ellipse">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anchor="ctr"/>
          <a:lstStyle/>
          <a:p>
            <a:pPr algn="ctr">
              <a:spcBef>
                <a:spcPct val="0"/>
              </a:spcBef>
            </a:pPr>
            <a:r>
              <a:rPr lang="en-US" altLang="zh-CN" sz="1800">
                <a:solidFill>
                  <a:srgbClr val="3333FF"/>
                </a:solidFill>
                <a:latin typeface="Consolas" pitchFamily="49" charset="0"/>
                <a:cs typeface="Consolas" pitchFamily="49" charset="0"/>
              </a:rPr>
              <a:t>0</a:t>
            </a:r>
            <a:endParaRPr lang="en-US" altLang="zh-CN" sz="1800" dirty="0">
              <a:solidFill>
                <a:srgbClr val="3333FF"/>
              </a:solidFill>
              <a:latin typeface="Consolas" pitchFamily="49" charset="0"/>
              <a:cs typeface="Consolas" pitchFamily="49" charset="0"/>
            </a:endParaRPr>
          </a:p>
        </p:txBody>
      </p:sp>
      <p:sp>
        <p:nvSpPr>
          <p:cNvPr id="11" name="TextBox 3">
            <a:extLst>
              <a:ext uri="{FF2B5EF4-FFF2-40B4-BE49-F238E27FC236}">
                <a16:creationId xmlns:a16="http://schemas.microsoft.com/office/drawing/2014/main" id="{B4BE59D6-97D8-5FB8-1D4A-D49C961A7811}"/>
              </a:ext>
            </a:extLst>
          </p:cNvPr>
          <p:cNvSpPr txBox="1"/>
          <p:nvPr/>
        </p:nvSpPr>
        <p:spPr>
          <a:xfrm>
            <a:off x="1432885" y="1892607"/>
            <a:ext cx="1785950" cy="461665"/>
          </a:xfrm>
          <a:prstGeom prst="rect">
            <a:avLst/>
          </a:prstGeom>
          <a:noFill/>
        </p:spPr>
        <p:txBody>
          <a:bodyPr wrap="square" rtlCol="0">
            <a:spAutoFit/>
          </a:bodyPr>
          <a:lstStyle/>
          <a:p>
            <a:r>
              <a:rPr lang="zh-CN" altLang="en-US" sz="2400" b="1" dirty="0">
                <a:latin typeface="黑体" pitchFamily="49" charset="-122"/>
                <a:ea typeface="黑体" pitchFamily="49" charset="-122"/>
                <a:cs typeface="经典粗黑简" pitchFamily="49" charset="-122"/>
              </a:rPr>
              <a:t>带权有向图</a:t>
            </a:r>
          </a:p>
        </p:txBody>
      </p:sp>
      <p:sp>
        <p:nvSpPr>
          <p:cNvPr id="12" name="Oval 10">
            <a:extLst>
              <a:ext uri="{FF2B5EF4-FFF2-40B4-BE49-F238E27FC236}">
                <a16:creationId xmlns:a16="http://schemas.microsoft.com/office/drawing/2014/main" id="{8A1FB76D-BFE4-E0B4-445F-ED787007B3C6}"/>
              </a:ext>
            </a:extLst>
          </p:cNvPr>
          <p:cNvSpPr>
            <a:spLocks noChangeArrowheads="1"/>
          </p:cNvSpPr>
          <p:nvPr/>
        </p:nvSpPr>
        <p:spPr bwMode="auto">
          <a:xfrm>
            <a:off x="2145860" y="2622251"/>
            <a:ext cx="360000" cy="432000"/>
          </a:xfrm>
          <a:prstGeom prst="ellipse">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anchor="ctr"/>
          <a:lstStyle/>
          <a:p>
            <a:pPr algn="ctr">
              <a:spcBef>
                <a:spcPct val="0"/>
              </a:spcBef>
            </a:pPr>
            <a:r>
              <a:rPr lang="en-US" altLang="zh-CN" sz="1800">
                <a:solidFill>
                  <a:srgbClr val="3333FF"/>
                </a:solidFill>
                <a:latin typeface="Consolas" pitchFamily="49" charset="0"/>
                <a:cs typeface="Consolas" pitchFamily="49" charset="0"/>
              </a:rPr>
              <a:t>1</a:t>
            </a:r>
            <a:endParaRPr lang="en-US" altLang="zh-CN" sz="1800" dirty="0">
              <a:solidFill>
                <a:srgbClr val="3333FF"/>
              </a:solidFill>
              <a:latin typeface="Consolas" pitchFamily="49" charset="0"/>
              <a:cs typeface="Consolas" pitchFamily="49" charset="0"/>
            </a:endParaRPr>
          </a:p>
        </p:txBody>
      </p:sp>
      <p:sp>
        <p:nvSpPr>
          <p:cNvPr id="13" name="Oval 10">
            <a:extLst>
              <a:ext uri="{FF2B5EF4-FFF2-40B4-BE49-F238E27FC236}">
                <a16:creationId xmlns:a16="http://schemas.microsoft.com/office/drawing/2014/main" id="{F7B0A176-1572-253A-CD0C-CE70048CAF85}"/>
              </a:ext>
            </a:extLst>
          </p:cNvPr>
          <p:cNvSpPr>
            <a:spLocks noChangeArrowheads="1"/>
          </p:cNvSpPr>
          <p:nvPr/>
        </p:nvSpPr>
        <p:spPr bwMode="auto">
          <a:xfrm>
            <a:off x="2148670" y="3904763"/>
            <a:ext cx="360000" cy="432000"/>
          </a:xfrm>
          <a:prstGeom prst="ellipse">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anchor="ctr"/>
          <a:lstStyle/>
          <a:p>
            <a:pPr algn="ctr">
              <a:spcBef>
                <a:spcPct val="0"/>
              </a:spcBef>
            </a:pPr>
            <a:r>
              <a:rPr lang="en-US" altLang="zh-CN" sz="1800">
                <a:solidFill>
                  <a:srgbClr val="3333FF"/>
                </a:solidFill>
                <a:latin typeface="Consolas" pitchFamily="49" charset="0"/>
                <a:cs typeface="Consolas" pitchFamily="49" charset="0"/>
              </a:rPr>
              <a:t>2</a:t>
            </a:r>
            <a:endParaRPr lang="en-US" altLang="zh-CN" sz="1800" dirty="0">
              <a:solidFill>
                <a:srgbClr val="3333FF"/>
              </a:solidFill>
              <a:latin typeface="Consolas" pitchFamily="49" charset="0"/>
              <a:cs typeface="Consolas" pitchFamily="49" charset="0"/>
            </a:endParaRPr>
          </a:p>
        </p:txBody>
      </p:sp>
      <p:sp>
        <p:nvSpPr>
          <p:cNvPr id="28" name="Oval 10">
            <a:extLst>
              <a:ext uri="{FF2B5EF4-FFF2-40B4-BE49-F238E27FC236}">
                <a16:creationId xmlns:a16="http://schemas.microsoft.com/office/drawing/2014/main" id="{65B01F4D-8205-0C89-3BA1-2F45440AC883}"/>
              </a:ext>
            </a:extLst>
          </p:cNvPr>
          <p:cNvSpPr>
            <a:spLocks noChangeArrowheads="1"/>
          </p:cNvSpPr>
          <p:nvPr/>
        </p:nvSpPr>
        <p:spPr bwMode="auto">
          <a:xfrm>
            <a:off x="3003116" y="3265193"/>
            <a:ext cx="360000" cy="432000"/>
          </a:xfrm>
          <a:prstGeom prst="ellipse">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anchor="ctr"/>
          <a:lstStyle/>
          <a:p>
            <a:pPr algn="ctr">
              <a:spcBef>
                <a:spcPct val="0"/>
              </a:spcBef>
            </a:pPr>
            <a:r>
              <a:rPr lang="en-US" altLang="zh-CN" sz="1800">
                <a:solidFill>
                  <a:srgbClr val="3333FF"/>
                </a:solidFill>
                <a:latin typeface="Consolas" pitchFamily="49" charset="0"/>
                <a:cs typeface="Consolas" pitchFamily="49" charset="0"/>
              </a:rPr>
              <a:t>3</a:t>
            </a:r>
            <a:endParaRPr lang="en-US" altLang="zh-CN" sz="1800" dirty="0">
              <a:solidFill>
                <a:srgbClr val="3333FF"/>
              </a:solidFill>
              <a:latin typeface="Consolas" pitchFamily="49" charset="0"/>
              <a:cs typeface="Consolas" pitchFamily="49" charset="0"/>
            </a:endParaRPr>
          </a:p>
        </p:txBody>
      </p:sp>
      <p:sp>
        <p:nvSpPr>
          <p:cNvPr id="29" name="TextBox 7">
            <a:extLst>
              <a:ext uri="{FF2B5EF4-FFF2-40B4-BE49-F238E27FC236}">
                <a16:creationId xmlns:a16="http://schemas.microsoft.com/office/drawing/2014/main" id="{FC1A59B8-BE91-1C69-B611-7CE26F3E9359}"/>
              </a:ext>
            </a:extLst>
          </p:cNvPr>
          <p:cNvSpPr txBox="1"/>
          <p:nvPr/>
        </p:nvSpPr>
        <p:spPr>
          <a:xfrm>
            <a:off x="1648604" y="2783763"/>
            <a:ext cx="357190" cy="338554"/>
          </a:xfrm>
          <a:prstGeom prst="rect">
            <a:avLst/>
          </a:prstGeom>
          <a:noFill/>
        </p:spPr>
        <p:txBody>
          <a:bodyPr wrap="square" rtlCol="0">
            <a:spAutoFit/>
          </a:bodyPr>
          <a:lstStyle/>
          <a:p>
            <a:r>
              <a:rPr lang="en-US" altLang="zh-CN" sz="1600">
                <a:latin typeface="Consolas" pitchFamily="49" charset="0"/>
                <a:cs typeface="Consolas" pitchFamily="49" charset="0"/>
              </a:rPr>
              <a:t>1</a:t>
            </a:r>
            <a:endParaRPr lang="zh-CN" altLang="en-US" sz="1600">
              <a:latin typeface="Consolas" pitchFamily="49" charset="0"/>
              <a:cs typeface="Consolas" pitchFamily="49" charset="0"/>
            </a:endParaRPr>
          </a:p>
        </p:txBody>
      </p:sp>
      <p:cxnSp>
        <p:nvCxnSpPr>
          <p:cNvPr id="30" name="直接箭头连接符 29">
            <a:extLst>
              <a:ext uri="{FF2B5EF4-FFF2-40B4-BE49-F238E27FC236}">
                <a16:creationId xmlns:a16="http://schemas.microsoft.com/office/drawing/2014/main" id="{D79811D4-14E0-4098-8EEB-ECA973A0956E}"/>
              </a:ext>
            </a:extLst>
          </p:cNvPr>
          <p:cNvCxnSpPr>
            <a:stCxn id="10" idx="7"/>
            <a:endCxn id="12" idx="2"/>
          </p:cNvCxnSpPr>
          <p:nvPr/>
        </p:nvCxnSpPr>
        <p:spPr>
          <a:xfrm rot="5400000" flipH="1" flipV="1">
            <a:off x="1662892" y="2845491"/>
            <a:ext cx="490207" cy="475729"/>
          </a:xfrm>
          <a:prstGeom prst="straightConnector1">
            <a:avLst/>
          </a:prstGeom>
          <a:ln w="28575">
            <a:solidFill>
              <a:srgbClr val="7030A0"/>
            </a:solidFill>
            <a:tailEnd type="arrow"/>
          </a:ln>
        </p:spPr>
        <p:style>
          <a:lnRef idx="1">
            <a:schemeClr val="accent1"/>
          </a:lnRef>
          <a:fillRef idx="0">
            <a:schemeClr val="accent1"/>
          </a:fillRef>
          <a:effectRef idx="0">
            <a:schemeClr val="accent1"/>
          </a:effectRef>
          <a:fontRef idx="minor">
            <a:schemeClr val="tx1"/>
          </a:fontRef>
        </p:style>
      </p:cxnSp>
      <p:cxnSp>
        <p:nvCxnSpPr>
          <p:cNvPr id="31" name="直接箭头连接符 30">
            <a:extLst>
              <a:ext uri="{FF2B5EF4-FFF2-40B4-BE49-F238E27FC236}">
                <a16:creationId xmlns:a16="http://schemas.microsoft.com/office/drawing/2014/main" id="{28B2F299-5782-3670-AC1E-BC04BAF70EC2}"/>
              </a:ext>
            </a:extLst>
          </p:cNvPr>
          <p:cNvCxnSpPr>
            <a:stCxn id="10" idx="5"/>
            <a:endCxn id="13" idx="2"/>
          </p:cNvCxnSpPr>
          <p:nvPr/>
        </p:nvCxnSpPr>
        <p:spPr>
          <a:xfrm rot="16200000" flipH="1">
            <a:off x="1665983" y="3638075"/>
            <a:ext cx="486835" cy="478539"/>
          </a:xfrm>
          <a:prstGeom prst="straightConnector1">
            <a:avLst/>
          </a:prstGeom>
          <a:ln w="28575">
            <a:solidFill>
              <a:srgbClr val="7030A0"/>
            </a:solidFill>
            <a:tailEnd type="arrow"/>
          </a:ln>
        </p:spPr>
        <p:style>
          <a:lnRef idx="1">
            <a:schemeClr val="accent1"/>
          </a:lnRef>
          <a:fillRef idx="0">
            <a:schemeClr val="accent1"/>
          </a:fillRef>
          <a:effectRef idx="0">
            <a:schemeClr val="accent1"/>
          </a:effectRef>
          <a:fontRef idx="minor">
            <a:schemeClr val="tx1"/>
          </a:fontRef>
        </p:style>
      </p:cxnSp>
      <p:cxnSp>
        <p:nvCxnSpPr>
          <p:cNvPr id="32" name="直接箭头连接符 31">
            <a:extLst>
              <a:ext uri="{FF2B5EF4-FFF2-40B4-BE49-F238E27FC236}">
                <a16:creationId xmlns:a16="http://schemas.microsoft.com/office/drawing/2014/main" id="{13EBFC6C-744A-EF66-93F7-50B95282B549}"/>
              </a:ext>
            </a:extLst>
          </p:cNvPr>
          <p:cNvCxnSpPr>
            <a:stCxn id="10" idx="6"/>
            <a:endCxn id="28" idx="2"/>
          </p:cNvCxnSpPr>
          <p:nvPr/>
        </p:nvCxnSpPr>
        <p:spPr>
          <a:xfrm>
            <a:off x="1722852" y="3481193"/>
            <a:ext cx="1280264" cy="1588"/>
          </a:xfrm>
          <a:prstGeom prst="straightConnector1">
            <a:avLst/>
          </a:prstGeom>
          <a:ln w="28575">
            <a:solidFill>
              <a:srgbClr val="7030A0"/>
            </a:solidFill>
            <a:tailEnd type="arrow"/>
          </a:ln>
        </p:spPr>
        <p:style>
          <a:lnRef idx="1">
            <a:schemeClr val="accent1"/>
          </a:lnRef>
          <a:fillRef idx="0">
            <a:schemeClr val="accent1"/>
          </a:fillRef>
          <a:effectRef idx="0">
            <a:schemeClr val="accent1"/>
          </a:effectRef>
          <a:fontRef idx="minor">
            <a:schemeClr val="tx1"/>
          </a:fontRef>
        </p:style>
      </p:cxnSp>
      <p:cxnSp>
        <p:nvCxnSpPr>
          <p:cNvPr id="33" name="直接箭头连接符 32">
            <a:extLst>
              <a:ext uri="{FF2B5EF4-FFF2-40B4-BE49-F238E27FC236}">
                <a16:creationId xmlns:a16="http://schemas.microsoft.com/office/drawing/2014/main" id="{DAE1DEF5-E710-208A-6FB8-4E8AE67BBC26}"/>
              </a:ext>
            </a:extLst>
          </p:cNvPr>
          <p:cNvCxnSpPr>
            <a:stCxn id="12" idx="6"/>
            <a:endCxn id="28" idx="1"/>
          </p:cNvCxnSpPr>
          <p:nvPr/>
        </p:nvCxnSpPr>
        <p:spPr>
          <a:xfrm>
            <a:off x="2505860" y="2838251"/>
            <a:ext cx="549977" cy="490207"/>
          </a:xfrm>
          <a:prstGeom prst="straightConnector1">
            <a:avLst/>
          </a:prstGeom>
          <a:ln w="28575">
            <a:solidFill>
              <a:srgbClr val="7030A0"/>
            </a:solidFill>
            <a:tailEnd type="arrow"/>
          </a:ln>
        </p:spPr>
        <p:style>
          <a:lnRef idx="1">
            <a:schemeClr val="accent1"/>
          </a:lnRef>
          <a:fillRef idx="0">
            <a:schemeClr val="accent1"/>
          </a:fillRef>
          <a:effectRef idx="0">
            <a:schemeClr val="accent1"/>
          </a:effectRef>
          <a:fontRef idx="minor">
            <a:schemeClr val="tx1"/>
          </a:fontRef>
        </p:style>
      </p:cxnSp>
      <p:cxnSp>
        <p:nvCxnSpPr>
          <p:cNvPr id="34" name="直接箭头连接符 33">
            <a:extLst>
              <a:ext uri="{FF2B5EF4-FFF2-40B4-BE49-F238E27FC236}">
                <a16:creationId xmlns:a16="http://schemas.microsoft.com/office/drawing/2014/main" id="{7CC06555-A165-A08A-D6D7-C21921E5D6BC}"/>
              </a:ext>
            </a:extLst>
          </p:cNvPr>
          <p:cNvCxnSpPr>
            <a:stCxn id="13" idx="6"/>
            <a:endCxn id="28" idx="3"/>
          </p:cNvCxnSpPr>
          <p:nvPr/>
        </p:nvCxnSpPr>
        <p:spPr>
          <a:xfrm flipV="1">
            <a:off x="2508670" y="3633928"/>
            <a:ext cx="547167" cy="486835"/>
          </a:xfrm>
          <a:prstGeom prst="straightConnector1">
            <a:avLst/>
          </a:prstGeom>
          <a:ln w="28575">
            <a:solidFill>
              <a:srgbClr val="7030A0"/>
            </a:solidFill>
            <a:tailEnd type="arrow"/>
          </a:ln>
        </p:spPr>
        <p:style>
          <a:lnRef idx="1">
            <a:schemeClr val="accent1"/>
          </a:lnRef>
          <a:fillRef idx="0">
            <a:schemeClr val="accent1"/>
          </a:fillRef>
          <a:effectRef idx="0">
            <a:schemeClr val="accent1"/>
          </a:effectRef>
          <a:fontRef idx="minor">
            <a:schemeClr val="tx1"/>
          </a:fontRef>
        </p:style>
      </p:cxnSp>
      <p:sp>
        <p:nvSpPr>
          <p:cNvPr id="35" name="TextBox 18">
            <a:extLst>
              <a:ext uri="{FF2B5EF4-FFF2-40B4-BE49-F238E27FC236}">
                <a16:creationId xmlns:a16="http://schemas.microsoft.com/office/drawing/2014/main" id="{3FC15FB6-7FFB-F6E0-1594-6FE21616D70C}"/>
              </a:ext>
            </a:extLst>
          </p:cNvPr>
          <p:cNvSpPr txBox="1"/>
          <p:nvPr/>
        </p:nvSpPr>
        <p:spPr>
          <a:xfrm>
            <a:off x="2148670" y="3183923"/>
            <a:ext cx="357190" cy="338554"/>
          </a:xfrm>
          <a:prstGeom prst="rect">
            <a:avLst/>
          </a:prstGeom>
          <a:noFill/>
        </p:spPr>
        <p:txBody>
          <a:bodyPr wrap="square" rtlCol="0">
            <a:spAutoFit/>
          </a:bodyPr>
          <a:lstStyle/>
          <a:p>
            <a:r>
              <a:rPr lang="en-US" altLang="zh-CN" sz="1600">
                <a:latin typeface="Consolas" pitchFamily="49" charset="0"/>
                <a:cs typeface="Consolas" pitchFamily="49" charset="0"/>
              </a:rPr>
              <a:t>5</a:t>
            </a:r>
            <a:endParaRPr lang="zh-CN" altLang="en-US" sz="1600">
              <a:latin typeface="Consolas" pitchFamily="49" charset="0"/>
              <a:cs typeface="Consolas" pitchFamily="49" charset="0"/>
            </a:endParaRPr>
          </a:p>
        </p:txBody>
      </p:sp>
      <p:sp>
        <p:nvSpPr>
          <p:cNvPr id="36" name="TextBox 19">
            <a:extLst>
              <a:ext uri="{FF2B5EF4-FFF2-40B4-BE49-F238E27FC236}">
                <a16:creationId xmlns:a16="http://schemas.microsoft.com/office/drawing/2014/main" id="{265C6C91-26BD-9044-31BF-DD1892FEF536}"/>
              </a:ext>
            </a:extLst>
          </p:cNvPr>
          <p:cNvSpPr txBox="1"/>
          <p:nvPr/>
        </p:nvSpPr>
        <p:spPr>
          <a:xfrm>
            <a:off x="2720174" y="2765127"/>
            <a:ext cx="357190" cy="338554"/>
          </a:xfrm>
          <a:prstGeom prst="rect">
            <a:avLst/>
          </a:prstGeom>
          <a:noFill/>
        </p:spPr>
        <p:txBody>
          <a:bodyPr wrap="square" rtlCol="0">
            <a:spAutoFit/>
          </a:bodyPr>
          <a:lstStyle/>
          <a:p>
            <a:r>
              <a:rPr lang="en-US" altLang="zh-CN" sz="1600">
                <a:latin typeface="Consolas" pitchFamily="49" charset="0"/>
                <a:cs typeface="Consolas" pitchFamily="49" charset="0"/>
              </a:rPr>
              <a:t>1</a:t>
            </a:r>
            <a:endParaRPr lang="zh-CN" altLang="en-US" sz="1600">
              <a:latin typeface="Consolas" pitchFamily="49" charset="0"/>
              <a:cs typeface="Consolas" pitchFamily="49" charset="0"/>
            </a:endParaRPr>
          </a:p>
        </p:txBody>
      </p:sp>
      <p:sp>
        <p:nvSpPr>
          <p:cNvPr id="37" name="TextBox 20">
            <a:extLst>
              <a:ext uri="{FF2B5EF4-FFF2-40B4-BE49-F238E27FC236}">
                <a16:creationId xmlns:a16="http://schemas.microsoft.com/office/drawing/2014/main" id="{68E098BA-A44F-77AF-D9C3-F15692769C17}"/>
              </a:ext>
            </a:extLst>
          </p:cNvPr>
          <p:cNvSpPr txBox="1"/>
          <p:nvPr/>
        </p:nvSpPr>
        <p:spPr>
          <a:xfrm>
            <a:off x="2720174" y="3836697"/>
            <a:ext cx="357190" cy="338554"/>
          </a:xfrm>
          <a:prstGeom prst="rect">
            <a:avLst/>
          </a:prstGeom>
          <a:noFill/>
        </p:spPr>
        <p:txBody>
          <a:bodyPr wrap="square" rtlCol="0">
            <a:spAutoFit/>
          </a:bodyPr>
          <a:lstStyle/>
          <a:p>
            <a:r>
              <a:rPr lang="en-US" altLang="zh-CN" sz="1600">
                <a:latin typeface="Consolas" pitchFamily="49" charset="0"/>
                <a:cs typeface="Consolas" pitchFamily="49" charset="0"/>
              </a:rPr>
              <a:t>2</a:t>
            </a:r>
            <a:endParaRPr lang="zh-CN" altLang="en-US" sz="1600">
              <a:latin typeface="Consolas" pitchFamily="49" charset="0"/>
              <a:cs typeface="Consolas" pitchFamily="49" charset="0"/>
            </a:endParaRPr>
          </a:p>
        </p:txBody>
      </p:sp>
      <p:sp>
        <p:nvSpPr>
          <p:cNvPr id="38" name="TextBox 21">
            <a:extLst>
              <a:ext uri="{FF2B5EF4-FFF2-40B4-BE49-F238E27FC236}">
                <a16:creationId xmlns:a16="http://schemas.microsoft.com/office/drawing/2014/main" id="{332BC380-8599-84A9-55C5-8135A885AB0D}"/>
              </a:ext>
            </a:extLst>
          </p:cNvPr>
          <p:cNvSpPr txBox="1"/>
          <p:nvPr/>
        </p:nvSpPr>
        <p:spPr>
          <a:xfrm>
            <a:off x="1648604" y="3836697"/>
            <a:ext cx="357190" cy="338554"/>
          </a:xfrm>
          <a:prstGeom prst="rect">
            <a:avLst/>
          </a:prstGeom>
          <a:noFill/>
        </p:spPr>
        <p:txBody>
          <a:bodyPr wrap="square" rtlCol="0">
            <a:spAutoFit/>
          </a:bodyPr>
          <a:lstStyle/>
          <a:p>
            <a:r>
              <a:rPr lang="en-US" altLang="zh-CN" sz="1600">
                <a:latin typeface="Consolas" pitchFamily="49" charset="0"/>
                <a:cs typeface="Consolas" pitchFamily="49" charset="0"/>
              </a:rPr>
              <a:t>3</a:t>
            </a:r>
            <a:endParaRPr lang="zh-CN" altLang="en-US" sz="1600">
              <a:latin typeface="Consolas" pitchFamily="49" charset="0"/>
              <a:cs typeface="Consolas" pitchFamily="49" charset="0"/>
            </a:endParaRPr>
          </a:p>
        </p:txBody>
      </p:sp>
      <p:sp>
        <p:nvSpPr>
          <p:cNvPr id="39" name="TextBox 22">
            <a:extLst>
              <a:ext uri="{FF2B5EF4-FFF2-40B4-BE49-F238E27FC236}">
                <a16:creationId xmlns:a16="http://schemas.microsoft.com/office/drawing/2014/main" id="{DB4F1389-3D7D-E0E0-EA62-4AF64E803BAE}"/>
              </a:ext>
            </a:extLst>
          </p:cNvPr>
          <p:cNvSpPr txBox="1"/>
          <p:nvPr/>
        </p:nvSpPr>
        <p:spPr>
          <a:xfrm>
            <a:off x="3791744" y="2908003"/>
            <a:ext cx="2714644" cy="1323439"/>
          </a:xfrm>
          <a:prstGeom prst="rect">
            <a:avLst/>
          </a:prstGeom>
          <a:noFill/>
        </p:spPr>
        <p:txBody>
          <a:bodyPr wrap="square" rtlCol="0">
            <a:spAutoFit/>
          </a:bodyPr>
          <a:lstStyle/>
          <a:p>
            <a:r>
              <a:rPr lang="zh-CN" altLang="en-US" sz="2000">
                <a:latin typeface="Consolas" pitchFamily="49" charset="0"/>
                <a:ea typeface="楷体" pitchFamily="49" charset="-122"/>
                <a:cs typeface="Consolas" pitchFamily="49" charset="0"/>
              </a:rPr>
              <a:t>顶点</a:t>
            </a:r>
            <a:r>
              <a:rPr lang="en-US" altLang="zh-CN" sz="2000">
                <a:latin typeface="Consolas" pitchFamily="49" charset="0"/>
                <a:ea typeface="楷体" pitchFamily="49" charset="-122"/>
                <a:cs typeface="Consolas" pitchFamily="49" charset="0"/>
              </a:rPr>
              <a:t>0</a:t>
            </a:r>
            <a:r>
              <a:rPr lang="zh-CN" altLang="en-US" sz="2000">
                <a:latin typeface="Consolas" pitchFamily="49" charset="0"/>
                <a:ea typeface="楷体" pitchFamily="49" charset="-122"/>
                <a:cs typeface="Consolas" pitchFamily="49" charset="0"/>
              </a:rPr>
              <a:t>到</a:t>
            </a:r>
            <a:r>
              <a:rPr lang="en-US" altLang="zh-CN" sz="2000">
                <a:latin typeface="Consolas" pitchFamily="49" charset="0"/>
                <a:ea typeface="楷体" pitchFamily="49" charset="-122"/>
                <a:cs typeface="Consolas" pitchFamily="49" charset="0"/>
              </a:rPr>
              <a:t>3</a:t>
            </a:r>
            <a:r>
              <a:rPr lang="zh-CN" altLang="en-US" sz="2000">
                <a:latin typeface="Consolas" pitchFamily="49" charset="0"/>
                <a:ea typeface="楷体" pitchFamily="49" charset="-122"/>
                <a:cs typeface="Consolas" pitchFamily="49" charset="0"/>
              </a:rPr>
              <a:t>：</a:t>
            </a:r>
            <a:endParaRPr lang="en-US" altLang="zh-CN" sz="2000">
              <a:latin typeface="Consolas" pitchFamily="49" charset="0"/>
              <a:ea typeface="楷体" pitchFamily="49" charset="-122"/>
              <a:cs typeface="Consolas" pitchFamily="49" charset="0"/>
            </a:endParaRPr>
          </a:p>
          <a:p>
            <a:pPr marL="342900" indent="-342900">
              <a:buBlip>
                <a:blip r:embed="rId2"/>
              </a:buBlip>
            </a:pPr>
            <a:r>
              <a:rPr lang="zh-CN" altLang="en-US" sz="2000">
                <a:latin typeface="Consolas" pitchFamily="49" charset="0"/>
                <a:ea typeface="仿宋" pitchFamily="49" charset="-122"/>
                <a:cs typeface="Consolas" pitchFamily="49" charset="0"/>
              </a:rPr>
              <a:t>最短路径：</a:t>
            </a:r>
            <a:r>
              <a:rPr lang="en-US" altLang="zh-CN" sz="2000">
                <a:latin typeface="Consolas" pitchFamily="49" charset="0"/>
                <a:ea typeface="仿宋" pitchFamily="49" charset="-122"/>
                <a:cs typeface="Consolas" pitchFamily="49" charset="0"/>
              </a:rPr>
              <a:t>0→1→3</a:t>
            </a:r>
          </a:p>
          <a:p>
            <a:pPr marL="342900" indent="-342900">
              <a:buBlip>
                <a:blip r:embed="rId2"/>
              </a:buBlip>
            </a:pPr>
            <a:r>
              <a:rPr lang="zh-CN" altLang="en-US" sz="2000">
                <a:latin typeface="Consolas" pitchFamily="49" charset="0"/>
                <a:ea typeface="仿宋" pitchFamily="49" charset="-122"/>
                <a:cs typeface="Consolas" pitchFamily="49" charset="0"/>
              </a:rPr>
              <a:t>最短路径长度：</a:t>
            </a:r>
            <a:r>
              <a:rPr lang="en-US" altLang="zh-CN" sz="2000">
                <a:latin typeface="Consolas" pitchFamily="49" charset="0"/>
                <a:ea typeface="仿宋" pitchFamily="49" charset="-122"/>
                <a:cs typeface="Consolas" pitchFamily="49" charset="0"/>
              </a:rPr>
              <a:t>2</a:t>
            </a:r>
            <a:endParaRPr lang="zh-CN" altLang="en-US" sz="2000">
              <a:latin typeface="Consolas" pitchFamily="49" charset="0"/>
              <a:ea typeface="仿宋" pitchFamily="49" charset="-122"/>
              <a:cs typeface="Consolas" pitchFamily="49" charset="0"/>
            </a:endParaRPr>
          </a:p>
        </p:txBody>
      </p:sp>
      <p:sp>
        <p:nvSpPr>
          <p:cNvPr id="40" name="TextBox 23">
            <a:extLst>
              <a:ext uri="{FF2B5EF4-FFF2-40B4-BE49-F238E27FC236}">
                <a16:creationId xmlns:a16="http://schemas.microsoft.com/office/drawing/2014/main" id="{E1B6A993-3906-B06A-981B-F783F669B748}"/>
              </a:ext>
            </a:extLst>
          </p:cNvPr>
          <p:cNvSpPr txBox="1"/>
          <p:nvPr/>
        </p:nvSpPr>
        <p:spPr>
          <a:xfrm>
            <a:off x="1353977" y="4569713"/>
            <a:ext cx="9482826" cy="990015"/>
          </a:xfrm>
          <a:prstGeom prst="rect">
            <a:avLst/>
          </a:prstGeom>
          <a:noFill/>
        </p:spPr>
        <p:txBody>
          <a:bodyPr wrap="square" rtlCol="0">
            <a:spAutoFit/>
          </a:bodyPr>
          <a:lstStyle/>
          <a:p>
            <a:pPr>
              <a:lnSpc>
                <a:spcPts val="3500"/>
              </a:lnSpc>
              <a:spcBef>
                <a:spcPts val="0"/>
              </a:spcBef>
            </a:pPr>
            <a:r>
              <a:rPr kumimoji="1" lang="zh-CN" altLang="en-US" sz="3200" dirty="0">
                <a:latin typeface="黑体" panose="02010609060101010101" pitchFamily="49" charset="-122"/>
                <a:ea typeface="黑体" panose="02010609060101010101" pitchFamily="49" charset="-122"/>
                <a:cs typeface="Consolas" pitchFamily="49" charset="0"/>
              </a:rPr>
              <a:t>很多情况下，两个顶点的</a:t>
            </a:r>
            <a:r>
              <a:rPr kumimoji="1" lang="zh-CN" altLang="en-US" sz="3200" dirty="0">
                <a:solidFill>
                  <a:srgbClr val="FF0000"/>
                </a:solidFill>
                <a:latin typeface="黑体" panose="02010609060101010101" pitchFamily="49" charset="-122"/>
                <a:ea typeface="黑体" panose="02010609060101010101" pitchFamily="49" charset="-122"/>
                <a:cs typeface="Consolas" pitchFamily="49" charset="0"/>
              </a:rPr>
              <a:t>最短路径不一定唯一，但最短路径长度一定是唯一的</a:t>
            </a:r>
            <a:r>
              <a:rPr kumimoji="1" lang="zh-CN" altLang="en-US" sz="3200" dirty="0">
                <a:latin typeface="黑体" panose="02010609060101010101" pitchFamily="49" charset="-122"/>
                <a:ea typeface="黑体" panose="02010609060101010101" pitchFamily="49" charset="-122"/>
                <a:cs typeface="Consolas" pitchFamily="49" charset="0"/>
              </a:rPr>
              <a:t>。</a:t>
            </a:r>
            <a:endParaRPr lang="zh-CN" altLang="en-US" sz="3200" dirty="0">
              <a:latin typeface="黑体" panose="02010609060101010101" pitchFamily="49" charset="-122"/>
              <a:ea typeface="黑体" panose="02010609060101010101" pitchFamily="49" charset="-122"/>
              <a:cs typeface="Consolas" pitchFamily="49" charset="0"/>
            </a:endParaRPr>
          </a:p>
        </p:txBody>
      </p:sp>
    </p:spTree>
    <p:extLst>
      <p:ext uri="{BB962C8B-B14F-4D97-AF65-F5344CB8AC3E}">
        <p14:creationId xmlns:p14="http://schemas.microsoft.com/office/powerpoint/2010/main" val="18791717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p:bldP spid="40" grpId="0"/>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1339518" y="2060580"/>
            <a:ext cx="9502007" cy="461665"/>
          </a:xfrm>
          <a:prstGeom prst="rect">
            <a:avLst/>
          </a:prstGeom>
        </p:spPr>
        <p:txBody>
          <a:bodyPr wrap="square">
            <a:spAutoFit/>
          </a:bodyPr>
          <a:lstStyle/>
          <a:p>
            <a:pPr>
              <a:defRPr/>
            </a:pPr>
            <a:r>
              <a:rPr lang="zh-CN" altLang="en-US" sz="2400" b="1" dirty="0">
                <a:latin typeface="黑体" pitchFamily="49" charset="-122"/>
                <a:ea typeface="黑体" pitchFamily="49" charset="-122"/>
                <a:cs typeface="经典粗黑简" pitchFamily="49" charset="-122"/>
              </a:rPr>
              <a:t>在网图中，</a:t>
            </a:r>
            <a:r>
              <a:rPr lang="zh-CN" altLang="en-US" sz="2400" b="1" dirty="0">
                <a:solidFill>
                  <a:srgbClr val="FF0000"/>
                </a:solidFill>
                <a:latin typeface="黑体" pitchFamily="49" charset="-122"/>
                <a:ea typeface="黑体" pitchFamily="49" charset="-122"/>
                <a:cs typeface="经典粗黑简" pitchFamily="49" charset="-122"/>
              </a:rPr>
              <a:t>最短路径</a:t>
            </a:r>
            <a:r>
              <a:rPr lang="zh-CN" altLang="en-US" sz="2400" b="1" dirty="0">
                <a:latin typeface="黑体" pitchFamily="49" charset="-122"/>
                <a:ea typeface="黑体" pitchFamily="49" charset="-122"/>
                <a:cs typeface="经典粗黑简" pitchFamily="49" charset="-122"/>
              </a:rPr>
              <a:t>是指两顶点之间经历的边上权值之和最短的路径。</a:t>
            </a:r>
          </a:p>
        </p:txBody>
      </p:sp>
      <p:sp>
        <p:nvSpPr>
          <p:cNvPr id="10" name="矩形 9"/>
          <p:cNvSpPr/>
          <p:nvPr/>
        </p:nvSpPr>
        <p:spPr>
          <a:xfrm>
            <a:off x="2770896" y="3246441"/>
            <a:ext cx="6552728" cy="707886"/>
          </a:xfrm>
          <a:prstGeom prst="rect">
            <a:avLst/>
          </a:prstGeom>
        </p:spPr>
        <p:txBody>
          <a:bodyPr wrap="square">
            <a:spAutoFit/>
          </a:bodyPr>
          <a:lstStyle/>
          <a:p>
            <a:pPr>
              <a:defRPr/>
            </a:pPr>
            <a:r>
              <a:rPr lang="zh-CN" altLang="en-US" sz="2000" b="1" dirty="0">
                <a:latin typeface="黑体" pitchFamily="49" charset="-122"/>
                <a:ea typeface="黑体" pitchFamily="49" charset="-122"/>
                <a:cs typeface="经典粗黑简" pitchFamily="49" charset="-122"/>
              </a:rPr>
              <a:t>问题描述：给定带权有向图</a:t>
            </a:r>
            <a:r>
              <a:rPr lang="en-US" altLang="zh-CN" sz="2000" b="1" dirty="0">
                <a:latin typeface="黑体" pitchFamily="49" charset="-122"/>
                <a:ea typeface="黑体" pitchFamily="49" charset="-122"/>
                <a:cs typeface="经典粗黑简" pitchFamily="49" charset="-122"/>
              </a:rPr>
              <a:t>G</a:t>
            </a:r>
            <a:r>
              <a:rPr lang="zh-CN" altLang="en-US" sz="2000" b="1" dirty="0">
                <a:latin typeface="黑体" pitchFamily="49" charset="-122"/>
                <a:ea typeface="黑体" pitchFamily="49" charset="-122"/>
                <a:cs typeface="经典粗黑简" pitchFamily="49" charset="-122"/>
              </a:rPr>
              <a:t>＝</a:t>
            </a:r>
            <a:r>
              <a:rPr lang="en-US" altLang="zh-CN" sz="2000" b="1" dirty="0">
                <a:latin typeface="黑体" pitchFamily="49" charset="-122"/>
                <a:ea typeface="黑体" pitchFamily="49" charset="-122"/>
                <a:cs typeface="经典粗黑简" pitchFamily="49" charset="-122"/>
              </a:rPr>
              <a:t>(V, E)</a:t>
            </a:r>
            <a:r>
              <a:rPr lang="zh-CN" altLang="en-US" sz="2000" b="1" dirty="0">
                <a:latin typeface="黑体" pitchFamily="49" charset="-122"/>
                <a:ea typeface="黑体" pitchFamily="49" charset="-122"/>
                <a:cs typeface="经典粗黑简" pitchFamily="49" charset="-122"/>
              </a:rPr>
              <a:t>和源点</a:t>
            </a:r>
            <a:r>
              <a:rPr lang="en-US" altLang="zh-CN" sz="2000" b="1" dirty="0" err="1">
                <a:latin typeface="黑体" pitchFamily="49" charset="-122"/>
                <a:ea typeface="黑体" pitchFamily="49" charset="-122"/>
                <a:cs typeface="经典粗黑简" pitchFamily="49" charset="-122"/>
              </a:rPr>
              <a:t>v∈V</a:t>
            </a:r>
            <a:r>
              <a:rPr lang="zh-CN" altLang="en-US" sz="2000" b="1" dirty="0">
                <a:latin typeface="黑体" pitchFamily="49" charset="-122"/>
                <a:ea typeface="黑体" pitchFamily="49" charset="-122"/>
                <a:cs typeface="经典粗黑简" pitchFamily="49" charset="-122"/>
              </a:rPr>
              <a:t>，求从</a:t>
            </a:r>
            <a:r>
              <a:rPr lang="en-US" altLang="zh-CN" sz="2000" b="1" dirty="0">
                <a:latin typeface="黑体" pitchFamily="49" charset="-122"/>
                <a:ea typeface="黑体" pitchFamily="49" charset="-122"/>
                <a:cs typeface="经典粗黑简" pitchFamily="49" charset="-122"/>
              </a:rPr>
              <a:t>v</a:t>
            </a:r>
            <a:r>
              <a:rPr lang="zh-CN" altLang="en-US" sz="2000" b="1" dirty="0">
                <a:latin typeface="黑体" pitchFamily="49" charset="-122"/>
                <a:ea typeface="黑体" pitchFamily="49" charset="-122"/>
                <a:cs typeface="经典粗黑简" pitchFamily="49" charset="-122"/>
              </a:rPr>
              <a:t>到</a:t>
            </a:r>
            <a:r>
              <a:rPr lang="en-US" altLang="zh-CN" sz="2000" b="1" dirty="0">
                <a:latin typeface="黑体" pitchFamily="49" charset="-122"/>
                <a:ea typeface="黑体" pitchFamily="49" charset="-122"/>
                <a:cs typeface="经典粗黑简" pitchFamily="49" charset="-122"/>
              </a:rPr>
              <a:t>G</a:t>
            </a:r>
            <a:r>
              <a:rPr lang="zh-CN" altLang="en-US" sz="2000" b="1" dirty="0">
                <a:latin typeface="黑体" pitchFamily="49" charset="-122"/>
                <a:ea typeface="黑体" pitchFamily="49" charset="-122"/>
                <a:cs typeface="经典粗黑简" pitchFamily="49" charset="-122"/>
              </a:rPr>
              <a:t>中其余各顶点的最短路径。</a:t>
            </a:r>
          </a:p>
        </p:txBody>
      </p:sp>
      <p:sp>
        <p:nvSpPr>
          <p:cNvPr id="11" name="矩形 10"/>
          <p:cNvSpPr/>
          <p:nvPr/>
        </p:nvSpPr>
        <p:spPr>
          <a:xfrm>
            <a:off x="2279576" y="2784776"/>
            <a:ext cx="3589444" cy="461665"/>
          </a:xfrm>
          <a:prstGeom prst="rect">
            <a:avLst/>
          </a:prstGeom>
        </p:spPr>
        <p:txBody>
          <a:bodyPr wrap="none">
            <a:spAutoFit/>
          </a:bodyPr>
          <a:lstStyle/>
          <a:p>
            <a:pPr>
              <a:defRPr/>
            </a:pPr>
            <a:r>
              <a:rPr lang="en-US" altLang="zh-CN" sz="2400" b="1" dirty="0">
                <a:latin typeface="黑体" pitchFamily="49" charset="-122"/>
                <a:ea typeface="黑体" pitchFamily="49" charset="-122"/>
                <a:cs typeface="经典粗黑简" pitchFamily="49" charset="-122"/>
              </a:rPr>
              <a:t>1</a:t>
            </a:r>
            <a:r>
              <a:rPr lang="zh-CN" altLang="en-US" sz="2400" b="1" dirty="0">
                <a:latin typeface="黑体" pitchFamily="49" charset="-122"/>
                <a:ea typeface="黑体" pitchFamily="49" charset="-122"/>
                <a:cs typeface="经典粗黑简" pitchFamily="49" charset="-122"/>
              </a:rPr>
              <a:t>、单源点最短路径问题 </a:t>
            </a:r>
          </a:p>
        </p:txBody>
      </p:sp>
      <p:sp>
        <p:nvSpPr>
          <p:cNvPr id="12" name="矩形 11"/>
          <p:cNvSpPr/>
          <p:nvPr/>
        </p:nvSpPr>
        <p:spPr>
          <a:xfrm>
            <a:off x="2267731" y="4171850"/>
            <a:ext cx="4517583" cy="461665"/>
          </a:xfrm>
          <a:prstGeom prst="rect">
            <a:avLst/>
          </a:prstGeom>
        </p:spPr>
        <p:txBody>
          <a:bodyPr wrap="none">
            <a:spAutoFit/>
          </a:bodyPr>
          <a:lstStyle/>
          <a:p>
            <a:pPr eaLnBrk="0" hangingPunct="0">
              <a:defRPr/>
            </a:pPr>
            <a:r>
              <a:rPr lang="en-US" altLang="zh-CN" sz="2400" b="1" dirty="0">
                <a:latin typeface="黑体" pitchFamily="49" charset="-122"/>
                <a:ea typeface="黑体" pitchFamily="49" charset="-122"/>
                <a:cs typeface="经典粗黑简" pitchFamily="49" charset="-122"/>
              </a:rPr>
              <a:t>2</a:t>
            </a:r>
            <a:r>
              <a:rPr lang="zh-CN" altLang="en-US" sz="2400" b="1" dirty="0">
                <a:latin typeface="黑体" pitchFamily="49" charset="-122"/>
                <a:ea typeface="黑体" pitchFamily="49" charset="-122"/>
                <a:cs typeface="经典粗黑简" pitchFamily="49" charset="-122"/>
              </a:rPr>
              <a:t>、每一对顶点之间的最短路径 </a:t>
            </a:r>
          </a:p>
        </p:txBody>
      </p:sp>
      <p:sp>
        <p:nvSpPr>
          <p:cNvPr id="13" name="矩形 12"/>
          <p:cNvSpPr/>
          <p:nvPr/>
        </p:nvSpPr>
        <p:spPr>
          <a:xfrm>
            <a:off x="2737366" y="4662930"/>
            <a:ext cx="7200800" cy="781945"/>
          </a:xfrm>
          <a:prstGeom prst="rect">
            <a:avLst/>
          </a:prstGeom>
        </p:spPr>
        <p:txBody>
          <a:bodyPr wrap="square">
            <a:spAutoFit/>
          </a:bodyPr>
          <a:lstStyle/>
          <a:p>
            <a:pPr eaLnBrk="0" hangingPunct="0">
              <a:lnSpc>
                <a:spcPct val="120000"/>
              </a:lnSpc>
              <a:defRPr/>
            </a:pPr>
            <a:r>
              <a:rPr lang="zh-CN" altLang="en-US" sz="2000" b="1" dirty="0">
                <a:latin typeface="黑体" pitchFamily="49" charset="-122"/>
                <a:ea typeface="黑体" pitchFamily="49" charset="-122"/>
                <a:cs typeface="经典粗黑简" pitchFamily="49" charset="-122"/>
              </a:rPr>
              <a:t>问题描述：给定带权有向图</a:t>
            </a:r>
            <a:r>
              <a:rPr lang="en-US" altLang="zh-CN" sz="2000" b="1" dirty="0">
                <a:latin typeface="黑体" pitchFamily="49" charset="-122"/>
                <a:ea typeface="黑体" pitchFamily="49" charset="-122"/>
                <a:cs typeface="经典粗黑简" pitchFamily="49" charset="-122"/>
              </a:rPr>
              <a:t>G</a:t>
            </a:r>
            <a:r>
              <a:rPr lang="zh-CN" altLang="en-US" sz="2000" b="1" dirty="0">
                <a:latin typeface="黑体" pitchFamily="49" charset="-122"/>
                <a:ea typeface="黑体" pitchFamily="49" charset="-122"/>
                <a:cs typeface="经典粗黑简" pitchFamily="49" charset="-122"/>
              </a:rPr>
              <a:t>＝</a:t>
            </a:r>
            <a:r>
              <a:rPr lang="en-US" altLang="zh-CN" sz="2000" b="1" dirty="0">
                <a:latin typeface="黑体" pitchFamily="49" charset="-122"/>
                <a:ea typeface="黑体" pitchFamily="49" charset="-122"/>
                <a:cs typeface="经典粗黑简" pitchFamily="49" charset="-122"/>
              </a:rPr>
              <a:t>(V, E)</a:t>
            </a:r>
            <a:r>
              <a:rPr lang="zh-CN" altLang="en-US" sz="2000" b="1" dirty="0">
                <a:latin typeface="黑体" pitchFamily="49" charset="-122"/>
                <a:ea typeface="黑体" pitchFamily="49" charset="-122"/>
                <a:cs typeface="经典粗黑简" pitchFamily="49" charset="-122"/>
              </a:rPr>
              <a:t>，对任意顶点</a:t>
            </a:r>
            <a:r>
              <a:rPr lang="en-US" altLang="zh-CN" sz="2000" b="1" dirty="0" err="1">
                <a:latin typeface="黑体" pitchFamily="49" charset="-122"/>
                <a:ea typeface="黑体" pitchFamily="49" charset="-122"/>
                <a:cs typeface="经典粗黑简" pitchFamily="49" charset="-122"/>
              </a:rPr>
              <a:t>vi,vj∈V</a:t>
            </a:r>
            <a:r>
              <a:rPr lang="zh-CN" altLang="en-US" sz="2000" b="1" dirty="0">
                <a:latin typeface="黑体" pitchFamily="49" charset="-122"/>
                <a:ea typeface="黑体" pitchFamily="49" charset="-122"/>
                <a:cs typeface="经典粗黑简" pitchFamily="49" charset="-122"/>
              </a:rPr>
              <a:t>（</a:t>
            </a:r>
            <a:r>
              <a:rPr lang="en-US" altLang="zh-CN" sz="2000" b="1" dirty="0" err="1">
                <a:latin typeface="黑体" pitchFamily="49" charset="-122"/>
                <a:ea typeface="黑体" pitchFamily="49" charset="-122"/>
                <a:cs typeface="经典粗黑简" pitchFamily="49" charset="-122"/>
              </a:rPr>
              <a:t>i≠j</a:t>
            </a:r>
            <a:r>
              <a:rPr lang="zh-CN" altLang="en-US" sz="2000" b="1" dirty="0">
                <a:latin typeface="黑体" pitchFamily="49" charset="-122"/>
                <a:ea typeface="黑体" pitchFamily="49" charset="-122"/>
                <a:cs typeface="经典粗黑简" pitchFamily="49" charset="-122"/>
              </a:rPr>
              <a:t>），求顶点</a:t>
            </a:r>
            <a:r>
              <a:rPr lang="en-US" altLang="zh-CN" sz="2000" b="1" dirty="0">
                <a:latin typeface="黑体" pitchFamily="49" charset="-122"/>
                <a:ea typeface="黑体" pitchFamily="49" charset="-122"/>
                <a:cs typeface="经典粗黑简" pitchFamily="49" charset="-122"/>
              </a:rPr>
              <a:t>vi</a:t>
            </a:r>
            <a:r>
              <a:rPr lang="zh-CN" altLang="en-US" sz="2000" b="1" dirty="0">
                <a:latin typeface="黑体" pitchFamily="49" charset="-122"/>
                <a:ea typeface="黑体" pitchFamily="49" charset="-122"/>
                <a:cs typeface="经典粗黑简" pitchFamily="49" charset="-122"/>
              </a:rPr>
              <a:t>到顶点</a:t>
            </a:r>
            <a:r>
              <a:rPr lang="en-US" altLang="zh-CN" sz="2000" b="1" dirty="0" err="1">
                <a:latin typeface="黑体" pitchFamily="49" charset="-122"/>
                <a:ea typeface="黑体" pitchFamily="49" charset="-122"/>
                <a:cs typeface="经典粗黑简" pitchFamily="49" charset="-122"/>
              </a:rPr>
              <a:t>vj</a:t>
            </a:r>
            <a:r>
              <a:rPr lang="zh-CN" altLang="en-US" sz="2000" b="1" dirty="0">
                <a:latin typeface="黑体" pitchFamily="49" charset="-122"/>
                <a:ea typeface="黑体" pitchFamily="49" charset="-122"/>
                <a:cs typeface="经典粗黑简" pitchFamily="49" charset="-122"/>
              </a:rPr>
              <a:t>的最短路径。 </a:t>
            </a:r>
          </a:p>
        </p:txBody>
      </p:sp>
      <p:sp>
        <p:nvSpPr>
          <p:cNvPr id="7" name="Rectangle 2">
            <a:extLst>
              <a:ext uri="{FF2B5EF4-FFF2-40B4-BE49-F238E27FC236}">
                <a16:creationId xmlns:a16="http://schemas.microsoft.com/office/drawing/2014/main" id="{D75F3CCE-C8FB-2219-5706-1F9E78339D5C}"/>
              </a:ext>
            </a:extLst>
          </p:cNvPr>
          <p:cNvSpPr txBox="1">
            <a:spLocks noChangeArrowheads="1"/>
          </p:cNvSpPr>
          <p:nvPr/>
        </p:nvSpPr>
        <p:spPr>
          <a:xfrm>
            <a:off x="474772" y="1230902"/>
            <a:ext cx="3821028"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8.5.1 </a:t>
            </a:r>
            <a:r>
              <a:rPr lang="zh-CN" altLang="en-US" dirty="0"/>
              <a:t>最短路径的概念</a:t>
            </a:r>
            <a:endParaRPr kumimoji="1" lang="zh-CN" altLang="en-US" dirty="0">
              <a:latin typeface="微软雅黑" pitchFamily="34" charset="-122"/>
              <a:ea typeface="微软雅黑" pitchFamily="34" charset="-122"/>
            </a:endParaRPr>
          </a:p>
        </p:txBody>
      </p:sp>
      <p:cxnSp>
        <p:nvCxnSpPr>
          <p:cNvPr id="8" name="直接连接符 7">
            <a:extLst>
              <a:ext uri="{FF2B5EF4-FFF2-40B4-BE49-F238E27FC236}">
                <a16:creationId xmlns:a16="http://schemas.microsoft.com/office/drawing/2014/main" id="{7228A613-58CE-2B5E-4641-4CCDE296128F}"/>
              </a:ext>
            </a:extLst>
          </p:cNvPr>
          <p:cNvCxnSpPr>
            <a:cxnSpLocks/>
          </p:cNvCxnSpPr>
          <p:nvPr/>
        </p:nvCxnSpPr>
        <p:spPr>
          <a:xfrm>
            <a:off x="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9" name="矩形 8">
            <a:extLst>
              <a:ext uri="{FF2B5EF4-FFF2-40B4-BE49-F238E27FC236}">
                <a16:creationId xmlns:a16="http://schemas.microsoft.com/office/drawing/2014/main" id="{D4BBD854-8E75-481B-2EFD-445B19142CDB}"/>
              </a:ext>
            </a:extLst>
          </p:cNvPr>
          <p:cNvSpPr/>
          <p:nvPr/>
        </p:nvSpPr>
        <p:spPr>
          <a:xfrm>
            <a:off x="3394075" y="399838"/>
            <a:ext cx="4617860"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8.5 </a:t>
            </a:r>
            <a:r>
              <a:rPr lang="zh-CN" altLang="en-US" sz="3000" b="1" dirty="0">
                <a:latin typeface="黑体" pitchFamily="49" charset="-122"/>
                <a:ea typeface="黑体" pitchFamily="49" charset="-122"/>
                <a:cs typeface="经典粗黑简" pitchFamily="49" charset="-122"/>
              </a:rPr>
              <a:t>最短路径</a:t>
            </a:r>
          </a:p>
        </p:txBody>
      </p:sp>
      <p:sp>
        <p:nvSpPr>
          <p:cNvPr id="15" name="TextBox 3">
            <a:extLst>
              <a:ext uri="{FF2B5EF4-FFF2-40B4-BE49-F238E27FC236}">
                <a16:creationId xmlns:a16="http://schemas.microsoft.com/office/drawing/2014/main" id="{60B91ADE-C919-27E4-02D1-160EA86DA983}"/>
              </a:ext>
            </a:extLst>
          </p:cNvPr>
          <p:cNvSpPr txBox="1"/>
          <p:nvPr/>
        </p:nvSpPr>
        <p:spPr>
          <a:xfrm>
            <a:off x="6600056" y="4163586"/>
            <a:ext cx="3000396" cy="525886"/>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216000" tIns="108000" bIns="108000" rtlCol="0">
            <a:spAutoFit/>
          </a:bodyPr>
          <a:lstStyle/>
          <a:p>
            <a:pPr marL="457200" indent="-457200">
              <a:buBlip>
                <a:blip r:embed="rId2"/>
              </a:buBlip>
            </a:pPr>
            <a:r>
              <a:rPr lang="en-US" altLang="zh-CN" sz="2000" dirty="0">
                <a:solidFill>
                  <a:srgbClr val="006600"/>
                </a:solidFill>
                <a:latin typeface="Consolas" pitchFamily="49" charset="0"/>
                <a:ea typeface="楷体" pitchFamily="49" charset="-122"/>
                <a:cs typeface="Consolas" pitchFamily="49" charset="0"/>
              </a:rPr>
              <a:t>Floyd</a:t>
            </a:r>
            <a:r>
              <a:rPr lang="zh-CN" altLang="en-US" sz="2000" dirty="0">
                <a:solidFill>
                  <a:srgbClr val="006600"/>
                </a:solidFill>
                <a:latin typeface="Consolas" pitchFamily="49" charset="0"/>
                <a:ea typeface="楷体" pitchFamily="49" charset="-122"/>
                <a:cs typeface="Consolas" pitchFamily="49" charset="0"/>
              </a:rPr>
              <a:t>算法</a:t>
            </a:r>
          </a:p>
        </p:txBody>
      </p:sp>
      <p:sp>
        <p:nvSpPr>
          <p:cNvPr id="4" name="文本框 3">
            <a:extLst>
              <a:ext uri="{FF2B5EF4-FFF2-40B4-BE49-F238E27FC236}">
                <a16:creationId xmlns:a16="http://schemas.microsoft.com/office/drawing/2014/main" id="{845B69AD-5A45-0101-F162-2619B7086AA3}"/>
              </a:ext>
            </a:extLst>
          </p:cNvPr>
          <p:cNvSpPr txBox="1"/>
          <p:nvPr/>
        </p:nvSpPr>
        <p:spPr>
          <a:xfrm>
            <a:off x="5703005" y="2844252"/>
            <a:ext cx="2553235" cy="369332"/>
          </a:xfrm>
          <a:prstGeom prst="rect">
            <a:avLst/>
          </a:prstGeom>
          <a:noFill/>
        </p:spPr>
        <p:txBody>
          <a:bodyPr wrap="square">
            <a:spAutoFit/>
          </a:bodyPr>
          <a:lstStyle/>
          <a:p>
            <a:pPr marL="457200" indent="-457200">
              <a:buBlip>
                <a:blip r:embed="rId2"/>
              </a:buBlip>
            </a:pPr>
            <a:r>
              <a:rPr lang="en-US" altLang="zh-CN" sz="1800" dirty="0">
                <a:solidFill>
                  <a:srgbClr val="006600"/>
                </a:solidFill>
                <a:latin typeface="Consolas" pitchFamily="49" charset="0"/>
                <a:ea typeface="楷体" pitchFamily="49" charset="-122"/>
                <a:cs typeface="Consolas" pitchFamily="49" charset="0"/>
              </a:rPr>
              <a:t>Dijkstra</a:t>
            </a:r>
            <a:r>
              <a:rPr lang="zh-CN" altLang="en-US" sz="1800" dirty="0">
                <a:solidFill>
                  <a:srgbClr val="006600"/>
                </a:solidFill>
                <a:latin typeface="Consolas" pitchFamily="49" charset="0"/>
                <a:ea typeface="楷体" pitchFamily="49" charset="-122"/>
                <a:cs typeface="Consolas" pitchFamily="49" charset="0"/>
              </a:rPr>
              <a:t>算法</a:t>
            </a:r>
            <a:endParaRPr lang="en-US" altLang="zh-CN" sz="1800" dirty="0">
              <a:solidFill>
                <a:srgbClr val="006600"/>
              </a:solidFill>
              <a:latin typeface="Consolas" pitchFamily="49" charset="0"/>
              <a:ea typeface="楷体" pitchFamily="49" charset="-122"/>
              <a:cs typeface="Consolas" pitchFamily="49" charset="0"/>
            </a:endParaRPr>
          </a:p>
        </p:txBody>
      </p:sp>
    </p:spTree>
    <p:extLst>
      <p:ext uri="{BB962C8B-B14F-4D97-AF65-F5344CB8AC3E}">
        <p14:creationId xmlns:p14="http://schemas.microsoft.com/office/powerpoint/2010/main" val="12456495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15" grpId="0" animBg="1"/>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9266" name="Group 3"/>
          <p:cNvGrpSpPr>
            <a:grpSpLocks/>
          </p:cNvGrpSpPr>
          <p:nvPr/>
        </p:nvGrpSpPr>
        <p:grpSpPr bwMode="auto">
          <a:xfrm>
            <a:off x="1981200" y="2605089"/>
            <a:ext cx="3429000" cy="2651125"/>
            <a:chOff x="288" y="1641"/>
            <a:chExt cx="2160" cy="1670"/>
          </a:xfrm>
        </p:grpSpPr>
        <p:sp>
          <p:nvSpPr>
            <p:cNvPr id="139279" name="Text Box 4"/>
            <p:cNvSpPr txBox="1">
              <a:spLocks noChangeArrowheads="1"/>
            </p:cNvSpPr>
            <p:nvPr/>
          </p:nvSpPr>
          <p:spPr bwMode="auto">
            <a:xfrm>
              <a:off x="2208" y="2448"/>
              <a:ext cx="240" cy="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spAutoFit/>
            </a:bodyPr>
            <a:lstStyle>
              <a:lvl1pPr eaLnBrk="0" hangingPunct="0">
                <a:defRPr kumimoji="1" sz="2800">
                  <a:solidFill>
                    <a:schemeClr val="tx1"/>
                  </a:solidFill>
                  <a:latin typeface="Comic Sans MS" pitchFamily="66" charset="0"/>
                  <a:ea typeface="宋体" pitchFamily="2" charset="-122"/>
                </a:defRPr>
              </a:lvl1pPr>
              <a:lvl2pPr marL="742950" indent="-285750" eaLnBrk="0" hangingPunct="0">
                <a:defRPr kumimoji="1" sz="2800">
                  <a:solidFill>
                    <a:schemeClr val="tx1"/>
                  </a:solidFill>
                  <a:latin typeface="Comic Sans MS" pitchFamily="66" charset="0"/>
                  <a:ea typeface="宋体" pitchFamily="2" charset="-122"/>
                </a:defRPr>
              </a:lvl2pPr>
              <a:lvl3pPr marL="1143000" indent="-228600" eaLnBrk="0" hangingPunct="0">
                <a:defRPr kumimoji="1" sz="2800">
                  <a:solidFill>
                    <a:schemeClr val="tx1"/>
                  </a:solidFill>
                  <a:latin typeface="Comic Sans MS" pitchFamily="66" charset="0"/>
                  <a:ea typeface="宋体" pitchFamily="2" charset="-122"/>
                </a:defRPr>
              </a:lvl3pPr>
              <a:lvl4pPr marL="1600200" indent="-228600" eaLnBrk="0" hangingPunct="0">
                <a:defRPr kumimoji="1" sz="2800">
                  <a:solidFill>
                    <a:schemeClr val="tx1"/>
                  </a:solidFill>
                  <a:latin typeface="Comic Sans MS" pitchFamily="66" charset="0"/>
                  <a:ea typeface="宋体" pitchFamily="2" charset="-122"/>
                </a:defRPr>
              </a:lvl4pPr>
              <a:lvl5pPr marL="2057400" indent="-228600" eaLnBrk="0" hangingPunct="0">
                <a:defRPr kumimoji="1" sz="2800">
                  <a:solidFill>
                    <a:schemeClr val="tx1"/>
                  </a:solidFill>
                  <a:latin typeface="Comic Sans MS" pitchFamily="66" charset="0"/>
                  <a:ea typeface="宋体" pitchFamily="2" charset="-122"/>
                </a:defRPr>
              </a:lvl5pPr>
              <a:lvl6pPr marL="25146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6pPr>
              <a:lvl7pPr marL="29718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7pPr>
              <a:lvl8pPr marL="34290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8pPr>
              <a:lvl9pPr marL="38862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9pPr>
            </a:lstStyle>
            <a:p>
              <a:pPr eaLnBrk="1" hangingPunct="1">
                <a:lnSpc>
                  <a:spcPct val="110000"/>
                </a:lnSpc>
                <a:spcBef>
                  <a:spcPct val="50000"/>
                </a:spcBef>
                <a:buClr>
                  <a:schemeClr val="accent1"/>
                </a:buClr>
                <a:buSzPct val="80000"/>
                <a:buFont typeface="Wingdings" pitchFamily="2" charset="2"/>
                <a:buNone/>
              </a:pPr>
              <a:r>
                <a:rPr lang="en-US" altLang="zh-CN" sz="2000" b="1">
                  <a:solidFill>
                    <a:schemeClr val="tx2"/>
                  </a:solidFill>
                  <a:latin typeface="宋体" pitchFamily="2" charset="-122"/>
                </a:rPr>
                <a:t>20</a:t>
              </a:r>
            </a:p>
          </p:txBody>
        </p:sp>
        <p:grpSp>
          <p:nvGrpSpPr>
            <p:cNvPr id="139280" name="Group 5"/>
            <p:cNvGrpSpPr>
              <a:grpSpLocks/>
            </p:cNvGrpSpPr>
            <p:nvPr/>
          </p:nvGrpSpPr>
          <p:grpSpPr bwMode="auto">
            <a:xfrm>
              <a:off x="288" y="1641"/>
              <a:ext cx="2064" cy="1670"/>
              <a:chOff x="672" y="1641"/>
              <a:chExt cx="2064" cy="1670"/>
            </a:xfrm>
          </p:grpSpPr>
          <p:sp>
            <p:nvSpPr>
              <p:cNvPr id="139281" name="Oval 6"/>
              <p:cNvSpPr>
                <a:spLocks noChangeArrowheads="1"/>
              </p:cNvSpPr>
              <p:nvPr/>
            </p:nvSpPr>
            <p:spPr bwMode="auto">
              <a:xfrm>
                <a:off x="2427" y="2160"/>
                <a:ext cx="309" cy="239"/>
              </a:xfrm>
              <a:prstGeom prst="ellipse">
                <a:avLst/>
              </a:prstGeom>
              <a:solidFill>
                <a:srgbClr val="FFCC99"/>
              </a:solidFill>
              <a:ln w="9525">
                <a:solidFill>
                  <a:srgbClr val="000000"/>
                </a:solidFill>
                <a:round/>
                <a:headEnd/>
                <a:tailEnd/>
              </a:ln>
            </p:spPr>
            <p:txBody>
              <a:bodyPr lIns="0" tIns="36000" rIns="0" bIns="0"/>
              <a:lstStyle/>
              <a:p>
                <a:pPr eaLnBrk="0" hangingPunct="0">
                  <a:lnSpc>
                    <a:spcPct val="72000"/>
                  </a:lnSpc>
                </a:pPr>
                <a:r>
                  <a:rPr lang="en-US" altLang="zh-CN" sz="2400" b="1">
                    <a:latin typeface="Times New Roman" pitchFamily="18" charset="0"/>
                  </a:rPr>
                  <a:t>V</a:t>
                </a:r>
                <a:r>
                  <a:rPr lang="en-US" altLang="zh-CN" sz="2400" b="1" baseline="-16000">
                    <a:latin typeface="Times New Roman" pitchFamily="18" charset="0"/>
                  </a:rPr>
                  <a:t>4</a:t>
                </a:r>
                <a:endParaRPr lang="en-US" altLang="zh-CN" sz="2400">
                  <a:latin typeface="Times New Roman" pitchFamily="18" charset="0"/>
                </a:endParaRPr>
              </a:p>
            </p:txBody>
          </p:sp>
          <p:sp>
            <p:nvSpPr>
              <p:cNvPr id="139282" name="Oval 7"/>
              <p:cNvSpPr>
                <a:spLocks noChangeArrowheads="1"/>
              </p:cNvSpPr>
              <p:nvPr/>
            </p:nvSpPr>
            <p:spPr bwMode="auto">
              <a:xfrm>
                <a:off x="1632" y="1641"/>
                <a:ext cx="309" cy="231"/>
              </a:xfrm>
              <a:prstGeom prst="ellipse">
                <a:avLst/>
              </a:prstGeom>
              <a:solidFill>
                <a:srgbClr val="FFCC99"/>
              </a:solidFill>
              <a:ln w="9525">
                <a:solidFill>
                  <a:srgbClr val="000000"/>
                </a:solidFill>
                <a:round/>
                <a:headEnd/>
                <a:tailEnd/>
              </a:ln>
            </p:spPr>
            <p:txBody>
              <a:bodyPr lIns="0" tIns="36000" rIns="0" bIns="0"/>
              <a:lstStyle/>
              <a:p>
                <a:pPr eaLnBrk="0" hangingPunct="0">
                  <a:lnSpc>
                    <a:spcPct val="72000"/>
                  </a:lnSpc>
                </a:pPr>
                <a:r>
                  <a:rPr lang="en-US" altLang="zh-CN" sz="2400" b="1">
                    <a:latin typeface="Times New Roman" pitchFamily="18" charset="0"/>
                  </a:rPr>
                  <a:t>V</a:t>
                </a:r>
                <a:r>
                  <a:rPr lang="en-US" altLang="zh-CN" sz="2400" b="1" baseline="-16000">
                    <a:latin typeface="Times New Roman" pitchFamily="18" charset="0"/>
                  </a:rPr>
                  <a:t>5</a:t>
                </a:r>
                <a:endParaRPr lang="en-US" altLang="zh-CN" sz="2400">
                  <a:latin typeface="Times New Roman" pitchFamily="18" charset="0"/>
                </a:endParaRPr>
              </a:p>
            </p:txBody>
          </p:sp>
          <p:sp>
            <p:nvSpPr>
              <p:cNvPr id="139283" name="Oval 8"/>
              <p:cNvSpPr>
                <a:spLocks noChangeArrowheads="1"/>
              </p:cNvSpPr>
              <p:nvPr/>
            </p:nvSpPr>
            <p:spPr bwMode="auto">
              <a:xfrm>
                <a:off x="912" y="2160"/>
                <a:ext cx="309" cy="249"/>
              </a:xfrm>
              <a:prstGeom prst="ellipse">
                <a:avLst/>
              </a:prstGeom>
              <a:solidFill>
                <a:srgbClr val="FFCC99"/>
              </a:solidFill>
              <a:ln w="9525">
                <a:solidFill>
                  <a:srgbClr val="000000"/>
                </a:solidFill>
                <a:round/>
                <a:headEnd/>
                <a:tailEnd/>
              </a:ln>
            </p:spPr>
            <p:txBody>
              <a:bodyPr lIns="0" tIns="36000" rIns="0" bIns="0"/>
              <a:lstStyle/>
              <a:p>
                <a:pPr eaLnBrk="0" hangingPunct="0">
                  <a:lnSpc>
                    <a:spcPct val="72000"/>
                  </a:lnSpc>
                </a:pPr>
                <a:r>
                  <a:rPr lang="en-US" altLang="zh-CN" sz="2400" b="1">
                    <a:latin typeface="Times New Roman" pitchFamily="18" charset="0"/>
                  </a:rPr>
                  <a:t>V</a:t>
                </a:r>
                <a:r>
                  <a:rPr lang="en-US" altLang="zh-CN" sz="2400" b="1" baseline="-16000">
                    <a:latin typeface="Times New Roman" pitchFamily="18" charset="0"/>
                  </a:rPr>
                  <a:t>0</a:t>
                </a:r>
                <a:endParaRPr lang="en-US" altLang="zh-CN" sz="2400">
                  <a:latin typeface="Times New Roman" pitchFamily="18" charset="0"/>
                </a:endParaRPr>
              </a:p>
            </p:txBody>
          </p:sp>
          <p:sp>
            <p:nvSpPr>
              <p:cNvPr id="139284" name="Oval 9"/>
              <p:cNvSpPr>
                <a:spLocks noChangeArrowheads="1"/>
              </p:cNvSpPr>
              <p:nvPr/>
            </p:nvSpPr>
            <p:spPr bwMode="auto">
              <a:xfrm>
                <a:off x="1632" y="3072"/>
                <a:ext cx="309" cy="239"/>
              </a:xfrm>
              <a:prstGeom prst="ellipse">
                <a:avLst/>
              </a:prstGeom>
              <a:solidFill>
                <a:srgbClr val="FFCC99"/>
              </a:solidFill>
              <a:ln w="9525">
                <a:solidFill>
                  <a:srgbClr val="000000"/>
                </a:solidFill>
                <a:round/>
                <a:headEnd/>
                <a:tailEnd/>
              </a:ln>
            </p:spPr>
            <p:txBody>
              <a:bodyPr lIns="0" tIns="36000" rIns="0" bIns="0"/>
              <a:lstStyle/>
              <a:p>
                <a:pPr eaLnBrk="0" hangingPunct="0">
                  <a:lnSpc>
                    <a:spcPct val="72000"/>
                  </a:lnSpc>
                </a:pPr>
                <a:r>
                  <a:rPr lang="en-US" altLang="zh-CN" sz="2400" b="1">
                    <a:latin typeface="Times New Roman" pitchFamily="18" charset="0"/>
                  </a:rPr>
                  <a:t>V</a:t>
                </a:r>
                <a:r>
                  <a:rPr lang="en-US" altLang="zh-CN" sz="2400" b="1" baseline="-16000">
                    <a:latin typeface="Times New Roman" pitchFamily="18" charset="0"/>
                  </a:rPr>
                  <a:t>2</a:t>
                </a:r>
                <a:endParaRPr lang="en-US" altLang="zh-CN" sz="2400">
                  <a:latin typeface="Times New Roman" pitchFamily="18" charset="0"/>
                </a:endParaRPr>
              </a:p>
            </p:txBody>
          </p:sp>
          <p:sp>
            <p:nvSpPr>
              <p:cNvPr id="139285" name="Line 10"/>
              <p:cNvSpPr>
                <a:spLocks noChangeShapeType="1"/>
              </p:cNvSpPr>
              <p:nvPr/>
            </p:nvSpPr>
            <p:spPr bwMode="auto">
              <a:xfrm flipV="1">
                <a:off x="1152" y="1833"/>
                <a:ext cx="528" cy="327"/>
              </a:xfrm>
              <a:prstGeom prst="line">
                <a:avLst/>
              </a:prstGeom>
              <a:noFill/>
              <a:ln w="12700">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39286" name="Line 11"/>
              <p:cNvSpPr>
                <a:spLocks noChangeShapeType="1"/>
              </p:cNvSpPr>
              <p:nvPr/>
            </p:nvSpPr>
            <p:spPr bwMode="auto">
              <a:xfrm>
                <a:off x="1200" y="2400"/>
                <a:ext cx="480" cy="672"/>
              </a:xfrm>
              <a:prstGeom prst="line">
                <a:avLst/>
              </a:prstGeom>
              <a:noFill/>
              <a:ln w="12700">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39287" name="Line 12"/>
              <p:cNvSpPr>
                <a:spLocks noChangeShapeType="1"/>
              </p:cNvSpPr>
              <p:nvPr/>
            </p:nvSpPr>
            <p:spPr bwMode="auto">
              <a:xfrm>
                <a:off x="1920" y="1833"/>
                <a:ext cx="528" cy="375"/>
              </a:xfrm>
              <a:prstGeom prst="line">
                <a:avLst/>
              </a:prstGeom>
              <a:noFill/>
              <a:ln w="12700">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39288" name="Line 13"/>
              <p:cNvSpPr>
                <a:spLocks noChangeShapeType="1"/>
              </p:cNvSpPr>
              <p:nvPr/>
            </p:nvSpPr>
            <p:spPr bwMode="auto">
              <a:xfrm flipV="1">
                <a:off x="1872" y="2928"/>
                <a:ext cx="528" cy="192"/>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39289" name="Oval 14"/>
              <p:cNvSpPr>
                <a:spLocks noChangeArrowheads="1"/>
              </p:cNvSpPr>
              <p:nvPr/>
            </p:nvSpPr>
            <p:spPr bwMode="auto">
              <a:xfrm>
                <a:off x="2400" y="2784"/>
                <a:ext cx="309" cy="239"/>
              </a:xfrm>
              <a:prstGeom prst="ellipse">
                <a:avLst/>
              </a:prstGeom>
              <a:solidFill>
                <a:srgbClr val="FFCC99"/>
              </a:solidFill>
              <a:ln w="9525">
                <a:solidFill>
                  <a:srgbClr val="000000"/>
                </a:solidFill>
                <a:round/>
                <a:headEnd/>
                <a:tailEnd/>
              </a:ln>
            </p:spPr>
            <p:txBody>
              <a:bodyPr lIns="0" tIns="36000" rIns="0" bIns="0"/>
              <a:lstStyle/>
              <a:p>
                <a:pPr eaLnBrk="0" hangingPunct="0">
                  <a:lnSpc>
                    <a:spcPct val="72000"/>
                  </a:lnSpc>
                </a:pPr>
                <a:r>
                  <a:rPr lang="en-US" altLang="zh-CN" sz="2400" b="1">
                    <a:latin typeface="Times New Roman" pitchFamily="18" charset="0"/>
                  </a:rPr>
                  <a:t>V</a:t>
                </a:r>
                <a:r>
                  <a:rPr lang="en-US" altLang="zh-CN" sz="2400" b="1" baseline="-16000">
                    <a:latin typeface="Times New Roman" pitchFamily="18" charset="0"/>
                  </a:rPr>
                  <a:t>3</a:t>
                </a:r>
                <a:endParaRPr lang="en-US" altLang="zh-CN" sz="2400">
                  <a:latin typeface="Times New Roman" pitchFamily="18" charset="0"/>
                </a:endParaRPr>
              </a:p>
            </p:txBody>
          </p:sp>
          <p:sp>
            <p:nvSpPr>
              <p:cNvPr id="139290" name="Line 15"/>
              <p:cNvSpPr>
                <a:spLocks noChangeShapeType="1"/>
              </p:cNvSpPr>
              <p:nvPr/>
            </p:nvSpPr>
            <p:spPr bwMode="auto">
              <a:xfrm>
                <a:off x="1008" y="2784"/>
                <a:ext cx="624" cy="384"/>
              </a:xfrm>
              <a:prstGeom prst="line">
                <a:avLst/>
              </a:prstGeom>
              <a:noFill/>
              <a:ln w="12700">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39291" name="Oval 16"/>
              <p:cNvSpPr>
                <a:spLocks noChangeArrowheads="1"/>
              </p:cNvSpPr>
              <p:nvPr/>
            </p:nvSpPr>
            <p:spPr bwMode="auto">
              <a:xfrm>
                <a:off x="672" y="2640"/>
                <a:ext cx="309" cy="239"/>
              </a:xfrm>
              <a:prstGeom prst="ellipse">
                <a:avLst/>
              </a:prstGeom>
              <a:solidFill>
                <a:srgbClr val="FFCC99"/>
              </a:solidFill>
              <a:ln w="9525">
                <a:solidFill>
                  <a:srgbClr val="000000"/>
                </a:solidFill>
                <a:round/>
                <a:headEnd/>
                <a:tailEnd/>
              </a:ln>
            </p:spPr>
            <p:txBody>
              <a:bodyPr lIns="0" tIns="36000" rIns="0" bIns="0"/>
              <a:lstStyle/>
              <a:p>
                <a:pPr eaLnBrk="0" hangingPunct="0">
                  <a:lnSpc>
                    <a:spcPct val="72000"/>
                  </a:lnSpc>
                </a:pPr>
                <a:r>
                  <a:rPr lang="en-US" altLang="zh-CN" sz="2400" b="1">
                    <a:latin typeface="Times New Roman" pitchFamily="18" charset="0"/>
                  </a:rPr>
                  <a:t>V</a:t>
                </a:r>
                <a:r>
                  <a:rPr lang="en-US" altLang="zh-CN" sz="2400" b="1" baseline="-16000">
                    <a:latin typeface="Times New Roman" pitchFamily="18" charset="0"/>
                  </a:rPr>
                  <a:t>1</a:t>
                </a:r>
                <a:endParaRPr lang="en-US" altLang="zh-CN" sz="2400">
                  <a:latin typeface="Times New Roman" pitchFamily="18" charset="0"/>
                </a:endParaRPr>
              </a:p>
            </p:txBody>
          </p:sp>
          <p:sp>
            <p:nvSpPr>
              <p:cNvPr id="139292" name="Text Box 17"/>
              <p:cNvSpPr txBox="1">
                <a:spLocks noChangeArrowheads="1"/>
              </p:cNvSpPr>
              <p:nvPr/>
            </p:nvSpPr>
            <p:spPr bwMode="auto">
              <a:xfrm>
                <a:off x="1056" y="1728"/>
                <a:ext cx="480" cy="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spAutoFit/>
              </a:bodyPr>
              <a:lstStyle>
                <a:lvl1pPr eaLnBrk="0" hangingPunct="0">
                  <a:defRPr kumimoji="1" sz="2800">
                    <a:solidFill>
                      <a:schemeClr val="tx1"/>
                    </a:solidFill>
                    <a:latin typeface="Comic Sans MS" pitchFamily="66" charset="0"/>
                    <a:ea typeface="宋体" pitchFamily="2" charset="-122"/>
                  </a:defRPr>
                </a:lvl1pPr>
                <a:lvl2pPr marL="742950" indent="-285750" eaLnBrk="0" hangingPunct="0">
                  <a:defRPr kumimoji="1" sz="2800">
                    <a:solidFill>
                      <a:schemeClr val="tx1"/>
                    </a:solidFill>
                    <a:latin typeface="Comic Sans MS" pitchFamily="66" charset="0"/>
                    <a:ea typeface="宋体" pitchFamily="2" charset="-122"/>
                  </a:defRPr>
                </a:lvl2pPr>
                <a:lvl3pPr marL="1143000" indent="-228600" eaLnBrk="0" hangingPunct="0">
                  <a:defRPr kumimoji="1" sz="2800">
                    <a:solidFill>
                      <a:schemeClr val="tx1"/>
                    </a:solidFill>
                    <a:latin typeface="Comic Sans MS" pitchFamily="66" charset="0"/>
                    <a:ea typeface="宋体" pitchFamily="2" charset="-122"/>
                  </a:defRPr>
                </a:lvl3pPr>
                <a:lvl4pPr marL="1600200" indent="-228600" eaLnBrk="0" hangingPunct="0">
                  <a:defRPr kumimoji="1" sz="2800">
                    <a:solidFill>
                      <a:schemeClr val="tx1"/>
                    </a:solidFill>
                    <a:latin typeface="Comic Sans MS" pitchFamily="66" charset="0"/>
                    <a:ea typeface="宋体" pitchFamily="2" charset="-122"/>
                  </a:defRPr>
                </a:lvl4pPr>
                <a:lvl5pPr marL="2057400" indent="-228600" eaLnBrk="0" hangingPunct="0">
                  <a:defRPr kumimoji="1" sz="2800">
                    <a:solidFill>
                      <a:schemeClr val="tx1"/>
                    </a:solidFill>
                    <a:latin typeface="Comic Sans MS" pitchFamily="66" charset="0"/>
                    <a:ea typeface="宋体" pitchFamily="2" charset="-122"/>
                  </a:defRPr>
                </a:lvl5pPr>
                <a:lvl6pPr marL="25146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6pPr>
                <a:lvl7pPr marL="29718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7pPr>
                <a:lvl8pPr marL="34290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8pPr>
                <a:lvl9pPr marL="38862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9pPr>
              </a:lstStyle>
              <a:p>
                <a:pPr eaLnBrk="1" hangingPunct="1">
                  <a:lnSpc>
                    <a:spcPct val="110000"/>
                  </a:lnSpc>
                  <a:spcBef>
                    <a:spcPct val="50000"/>
                  </a:spcBef>
                  <a:buClr>
                    <a:schemeClr val="accent1"/>
                  </a:buClr>
                  <a:buSzPct val="80000"/>
                  <a:buFont typeface="Wingdings" pitchFamily="2" charset="2"/>
                  <a:buNone/>
                </a:pPr>
                <a:r>
                  <a:rPr lang="en-US" altLang="zh-CN" sz="2000" b="1">
                    <a:solidFill>
                      <a:schemeClr val="tx2"/>
                    </a:solidFill>
                    <a:latin typeface="宋体" pitchFamily="2" charset="-122"/>
                  </a:rPr>
                  <a:t>100</a:t>
                </a:r>
              </a:p>
            </p:txBody>
          </p:sp>
          <p:sp>
            <p:nvSpPr>
              <p:cNvPr id="139293" name="Text Box 18"/>
              <p:cNvSpPr txBox="1">
                <a:spLocks noChangeArrowheads="1"/>
              </p:cNvSpPr>
              <p:nvPr/>
            </p:nvSpPr>
            <p:spPr bwMode="auto">
              <a:xfrm>
                <a:off x="1296" y="2496"/>
                <a:ext cx="480" cy="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spAutoFit/>
              </a:bodyPr>
              <a:lstStyle>
                <a:lvl1pPr eaLnBrk="0" hangingPunct="0">
                  <a:defRPr kumimoji="1" sz="2800">
                    <a:solidFill>
                      <a:schemeClr val="tx1"/>
                    </a:solidFill>
                    <a:latin typeface="Comic Sans MS" pitchFamily="66" charset="0"/>
                    <a:ea typeface="宋体" pitchFamily="2" charset="-122"/>
                  </a:defRPr>
                </a:lvl1pPr>
                <a:lvl2pPr marL="742950" indent="-285750" eaLnBrk="0" hangingPunct="0">
                  <a:defRPr kumimoji="1" sz="2800">
                    <a:solidFill>
                      <a:schemeClr val="tx1"/>
                    </a:solidFill>
                    <a:latin typeface="Comic Sans MS" pitchFamily="66" charset="0"/>
                    <a:ea typeface="宋体" pitchFamily="2" charset="-122"/>
                  </a:defRPr>
                </a:lvl2pPr>
                <a:lvl3pPr marL="1143000" indent="-228600" eaLnBrk="0" hangingPunct="0">
                  <a:defRPr kumimoji="1" sz="2800">
                    <a:solidFill>
                      <a:schemeClr val="tx1"/>
                    </a:solidFill>
                    <a:latin typeface="Comic Sans MS" pitchFamily="66" charset="0"/>
                    <a:ea typeface="宋体" pitchFamily="2" charset="-122"/>
                  </a:defRPr>
                </a:lvl3pPr>
                <a:lvl4pPr marL="1600200" indent="-228600" eaLnBrk="0" hangingPunct="0">
                  <a:defRPr kumimoji="1" sz="2800">
                    <a:solidFill>
                      <a:schemeClr val="tx1"/>
                    </a:solidFill>
                    <a:latin typeface="Comic Sans MS" pitchFamily="66" charset="0"/>
                    <a:ea typeface="宋体" pitchFamily="2" charset="-122"/>
                  </a:defRPr>
                </a:lvl4pPr>
                <a:lvl5pPr marL="2057400" indent="-228600" eaLnBrk="0" hangingPunct="0">
                  <a:defRPr kumimoji="1" sz="2800">
                    <a:solidFill>
                      <a:schemeClr val="tx1"/>
                    </a:solidFill>
                    <a:latin typeface="Comic Sans MS" pitchFamily="66" charset="0"/>
                    <a:ea typeface="宋体" pitchFamily="2" charset="-122"/>
                  </a:defRPr>
                </a:lvl5pPr>
                <a:lvl6pPr marL="25146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6pPr>
                <a:lvl7pPr marL="29718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7pPr>
                <a:lvl8pPr marL="34290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8pPr>
                <a:lvl9pPr marL="38862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9pPr>
              </a:lstStyle>
              <a:p>
                <a:pPr eaLnBrk="1" hangingPunct="1">
                  <a:lnSpc>
                    <a:spcPct val="110000"/>
                  </a:lnSpc>
                  <a:spcBef>
                    <a:spcPct val="50000"/>
                  </a:spcBef>
                  <a:buClr>
                    <a:schemeClr val="accent1"/>
                  </a:buClr>
                  <a:buSzPct val="80000"/>
                  <a:buFont typeface="Wingdings" pitchFamily="2" charset="2"/>
                  <a:buNone/>
                </a:pPr>
                <a:r>
                  <a:rPr lang="en-US" altLang="zh-CN" sz="2000" b="1">
                    <a:solidFill>
                      <a:schemeClr val="tx2"/>
                    </a:solidFill>
                    <a:latin typeface="宋体" pitchFamily="2" charset="-122"/>
                  </a:rPr>
                  <a:t>10</a:t>
                </a:r>
              </a:p>
            </p:txBody>
          </p:sp>
          <p:sp>
            <p:nvSpPr>
              <p:cNvPr id="139294" name="Text Box 19"/>
              <p:cNvSpPr txBox="1">
                <a:spLocks noChangeArrowheads="1"/>
              </p:cNvSpPr>
              <p:nvPr/>
            </p:nvSpPr>
            <p:spPr bwMode="auto">
              <a:xfrm>
                <a:off x="960" y="2717"/>
                <a:ext cx="480" cy="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spAutoFit/>
              </a:bodyPr>
              <a:lstStyle>
                <a:lvl1pPr eaLnBrk="0" hangingPunct="0">
                  <a:defRPr kumimoji="1" sz="2800">
                    <a:solidFill>
                      <a:schemeClr val="tx1"/>
                    </a:solidFill>
                    <a:latin typeface="Comic Sans MS" pitchFamily="66" charset="0"/>
                    <a:ea typeface="宋体" pitchFamily="2" charset="-122"/>
                  </a:defRPr>
                </a:lvl1pPr>
                <a:lvl2pPr marL="742950" indent="-285750" eaLnBrk="0" hangingPunct="0">
                  <a:defRPr kumimoji="1" sz="2800">
                    <a:solidFill>
                      <a:schemeClr val="tx1"/>
                    </a:solidFill>
                    <a:latin typeface="Comic Sans MS" pitchFamily="66" charset="0"/>
                    <a:ea typeface="宋体" pitchFamily="2" charset="-122"/>
                  </a:defRPr>
                </a:lvl2pPr>
                <a:lvl3pPr marL="1143000" indent="-228600" eaLnBrk="0" hangingPunct="0">
                  <a:defRPr kumimoji="1" sz="2800">
                    <a:solidFill>
                      <a:schemeClr val="tx1"/>
                    </a:solidFill>
                    <a:latin typeface="Comic Sans MS" pitchFamily="66" charset="0"/>
                    <a:ea typeface="宋体" pitchFamily="2" charset="-122"/>
                  </a:defRPr>
                </a:lvl3pPr>
                <a:lvl4pPr marL="1600200" indent="-228600" eaLnBrk="0" hangingPunct="0">
                  <a:defRPr kumimoji="1" sz="2800">
                    <a:solidFill>
                      <a:schemeClr val="tx1"/>
                    </a:solidFill>
                    <a:latin typeface="Comic Sans MS" pitchFamily="66" charset="0"/>
                    <a:ea typeface="宋体" pitchFamily="2" charset="-122"/>
                  </a:defRPr>
                </a:lvl4pPr>
                <a:lvl5pPr marL="2057400" indent="-228600" eaLnBrk="0" hangingPunct="0">
                  <a:defRPr kumimoji="1" sz="2800">
                    <a:solidFill>
                      <a:schemeClr val="tx1"/>
                    </a:solidFill>
                    <a:latin typeface="Comic Sans MS" pitchFamily="66" charset="0"/>
                    <a:ea typeface="宋体" pitchFamily="2" charset="-122"/>
                  </a:defRPr>
                </a:lvl5pPr>
                <a:lvl6pPr marL="25146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6pPr>
                <a:lvl7pPr marL="29718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7pPr>
                <a:lvl8pPr marL="34290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8pPr>
                <a:lvl9pPr marL="38862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9pPr>
              </a:lstStyle>
              <a:p>
                <a:pPr eaLnBrk="1" hangingPunct="1">
                  <a:lnSpc>
                    <a:spcPct val="110000"/>
                  </a:lnSpc>
                  <a:spcBef>
                    <a:spcPct val="50000"/>
                  </a:spcBef>
                  <a:buClr>
                    <a:schemeClr val="accent1"/>
                  </a:buClr>
                  <a:buSzPct val="80000"/>
                  <a:buFont typeface="Wingdings" pitchFamily="2" charset="2"/>
                  <a:buNone/>
                </a:pPr>
                <a:r>
                  <a:rPr lang="en-US" altLang="zh-CN" sz="2000" b="1">
                    <a:solidFill>
                      <a:schemeClr val="tx2"/>
                    </a:solidFill>
                    <a:latin typeface="宋体" pitchFamily="2" charset="-122"/>
                  </a:rPr>
                  <a:t>5</a:t>
                </a:r>
              </a:p>
            </p:txBody>
          </p:sp>
          <p:sp>
            <p:nvSpPr>
              <p:cNvPr id="139295" name="Text Box 20"/>
              <p:cNvSpPr txBox="1">
                <a:spLocks noChangeArrowheads="1"/>
              </p:cNvSpPr>
              <p:nvPr/>
            </p:nvSpPr>
            <p:spPr bwMode="auto">
              <a:xfrm>
                <a:off x="2016" y="1776"/>
                <a:ext cx="480" cy="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spAutoFit/>
              </a:bodyPr>
              <a:lstStyle>
                <a:lvl1pPr eaLnBrk="0" hangingPunct="0">
                  <a:defRPr kumimoji="1" sz="2800">
                    <a:solidFill>
                      <a:schemeClr val="tx1"/>
                    </a:solidFill>
                    <a:latin typeface="Comic Sans MS" pitchFamily="66" charset="0"/>
                    <a:ea typeface="宋体" pitchFamily="2" charset="-122"/>
                  </a:defRPr>
                </a:lvl1pPr>
                <a:lvl2pPr marL="742950" indent="-285750" eaLnBrk="0" hangingPunct="0">
                  <a:defRPr kumimoji="1" sz="2800">
                    <a:solidFill>
                      <a:schemeClr val="tx1"/>
                    </a:solidFill>
                    <a:latin typeface="Comic Sans MS" pitchFamily="66" charset="0"/>
                    <a:ea typeface="宋体" pitchFamily="2" charset="-122"/>
                  </a:defRPr>
                </a:lvl2pPr>
                <a:lvl3pPr marL="1143000" indent="-228600" eaLnBrk="0" hangingPunct="0">
                  <a:defRPr kumimoji="1" sz="2800">
                    <a:solidFill>
                      <a:schemeClr val="tx1"/>
                    </a:solidFill>
                    <a:latin typeface="Comic Sans MS" pitchFamily="66" charset="0"/>
                    <a:ea typeface="宋体" pitchFamily="2" charset="-122"/>
                  </a:defRPr>
                </a:lvl3pPr>
                <a:lvl4pPr marL="1600200" indent="-228600" eaLnBrk="0" hangingPunct="0">
                  <a:defRPr kumimoji="1" sz="2800">
                    <a:solidFill>
                      <a:schemeClr val="tx1"/>
                    </a:solidFill>
                    <a:latin typeface="Comic Sans MS" pitchFamily="66" charset="0"/>
                    <a:ea typeface="宋体" pitchFamily="2" charset="-122"/>
                  </a:defRPr>
                </a:lvl4pPr>
                <a:lvl5pPr marL="2057400" indent="-228600" eaLnBrk="0" hangingPunct="0">
                  <a:defRPr kumimoji="1" sz="2800">
                    <a:solidFill>
                      <a:schemeClr val="tx1"/>
                    </a:solidFill>
                    <a:latin typeface="Comic Sans MS" pitchFamily="66" charset="0"/>
                    <a:ea typeface="宋体" pitchFamily="2" charset="-122"/>
                  </a:defRPr>
                </a:lvl5pPr>
                <a:lvl6pPr marL="25146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6pPr>
                <a:lvl7pPr marL="29718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7pPr>
                <a:lvl8pPr marL="34290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8pPr>
                <a:lvl9pPr marL="38862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9pPr>
              </a:lstStyle>
              <a:p>
                <a:pPr eaLnBrk="1" hangingPunct="1">
                  <a:lnSpc>
                    <a:spcPct val="110000"/>
                  </a:lnSpc>
                  <a:spcBef>
                    <a:spcPct val="50000"/>
                  </a:spcBef>
                  <a:buClr>
                    <a:schemeClr val="accent1"/>
                  </a:buClr>
                  <a:buSzPct val="80000"/>
                  <a:buFont typeface="Wingdings" pitchFamily="2" charset="2"/>
                  <a:buNone/>
                </a:pPr>
                <a:r>
                  <a:rPr lang="en-US" altLang="zh-CN" sz="2000" b="1">
                    <a:solidFill>
                      <a:schemeClr val="tx2"/>
                    </a:solidFill>
                    <a:latin typeface="宋体" pitchFamily="2" charset="-122"/>
                  </a:rPr>
                  <a:t>60</a:t>
                </a:r>
              </a:p>
            </p:txBody>
          </p:sp>
          <p:sp>
            <p:nvSpPr>
              <p:cNvPr id="139296" name="Text Box 21"/>
              <p:cNvSpPr txBox="1">
                <a:spLocks noChangeArrowheads="1"/>
              </p:cNvSpPr>
              <p:nvPr/>
            </p:nvSpPr>
            <p:spPr bwMode="auto">
              <a:xfrm>
                <a:off x="1824" y="2304"/>
                <a:ext cx="480" cy="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spAutoFit/>
              </a:bodyPr>
              <a:lstStyle>
                <a:lvl1pPr eaLnBrk="0" hangingPunct="0">
                  <a:defRPr kumimoji="1" sz="2800">
                    <a:solidFill>
                      <a:schemeClr val="tx1"/>
                    </a:solidFill>
                    <a:latin typeface="Comic Sans MS" pitchFamily="66" charset="0"/>
                    <a:ea typeface="宋体" pitchFamily="2" charset="-122"/>
                  </a:defRPr>
                </a:lvl1pPr>
                <a:lvl2pPr marL="742950" indent="-285750" eaLnBrk="0" hangingPunct="0">
                  <a:defRPr kumimoji="1" sz="2800">
                    <a:solidFill>
                      <a:schemeClr val="tx1"/>
                    </a:solidFill>
                    <a:latin typeface="Comic Sans MS" pitchFamily="66" charset="0"/>
                    <a:ea typeface="宋体" pitchFamily="2" charset="-122"/>
                  </a:defRPr>
                </a:lvl2pPr>
                <a:lvl3pPr marL="1143000" indent="-228600" eaLnBrk="0" hangingPunct="0">
                  <a:defRPr kumimoji="1" sz="2800">
                    <a:solidFill>
                      <a:schemeClr val="tx1"/>
                    </a:solidFill>
                    <a:latin typeface="Comic Sans MS" pitchFamily="66" charset="0"/>
                    <a:ea typeface="宋体" pitchFamily="2" charset="-122"/>
                  </a:defRPr>
                </a:lvl3pPr>
                <a:lvl4pPr marL="1600200" indent="-228600" eaLnBrk="0" hangingPunct="0">
                  <a:defRPr kumimoji="1" sz="2800">
                    <a:solidFill>
                      <a:schemeClr val="tx1"/>
                    </a:solidFill>
                    <a:latin typeface="Comic Sans MS" pitchFamily="66" charset="0"/>
                    <a:ea typeface="宋体" pitchFamily="2" charset="-122"/>
                  </a:defRPr>
                </a:lvl4pPr>
                <a:lvl5pPr marL="2057400" indent="-228600" eaLnBrk="0" hangingPunct="0">
                  <a:defRPr kumimoji="1" sz="2800">
                    <a:solidFill>
                      <a:schemeClr val="tx1"/>
                    </a:solidFill>
                    <a:latin typeface="Comic Sans MS" pitchFamily="66" charset="0"/>
                    <a:ea typeface="宋体" pitchFamily="2" charset="-122"/>
                  </a:defRPr>
                </a:lvl5pPr>
                <a:lvl6pPr marL="25146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6pPr>
                <a:lvl7pPr marL="29718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7pPr>
                <a:lvl8pPr marL="34290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8pPr>
                <a:lvl9pPr marL="38862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9pPr>
              </a:lstStyle>
              <a:p>
                <a:pPr eaLnBrk="1" hangingPunct="1">
                  <a:lnSpc>
                    <a:spcPct val="110000"/>
                  </a:lnSpc>
                  <a:spcBef>
                    <a:spcPct val="50000"/>
                  </a:spcBef>
                  <a:buClr>
                    <a:schemeClr val="accent1"/>
                  </a:buClr>
                  <a:buSzPct val="80000"/>
                  <a:buFont typeface="Wingdings" pitchFamily="2" charset="2"/>
                  <a:buNone/>
                </a:pPr>
                <a:r>
                  <a:rPr lang="en-US" altLang="zh-CN" sz="2000" b="1">
                    <a:solidFill>
                      <a:schemeClr val="tx2"/>
                    </a:solidFill>
                    <a:latin typeface="宋体" pitchFamily="2" charset="-122"/>
                  </a:rPr>
                  <a:t>10</a:t>
                </a:r>
              </a:p>
            </p:txBody>
          </p:sp>
          <p:sp>
            <p:nvSpPr>
              <p:cNvPr id="139297" name="Text Box 22"/>
              <p:cNvSpPr txBox="1">
                <a:spLocks noChangeArrowheads="1"/>
              </p:cNvSpPr>
              <p:nvPr/>
            </p:nvSpPr>
            <p:spPr bwMode="auto">
              <a:xfrm>
                <a:off x="1872" y="2832"/>
                <a:ext cx="480" cy="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spAutoFit/>
              </a:bodyPr>
              <a:lstStyle>
                <a:lvl1pPr eaLnBrk="0" hangingPunct="0">
                  <a:defRPr kumimoji="1" sz="2800">
                    <a:solidFill>
                      <a:schemeClr val="tx1"/>
                    </a:solidFill>
                    <a:latin typeface="Comic Sans MS" pitchFamily="66" charset="0"/>
                    <a:ea typeface="宋体" pitchFamily="2" charset="-122"/>
                  </a:defRPr>
                </a:lvl1pPr>
                <a:lvl2pPr marL="742950" indent="-285750" eaLnBrk="0" hangingPunct="0">
                  <a:defRPr kumimoji="1" sz="2800">
                    <a:solidFill>
                      <a:schemeClr val="tx1"/>
                    </a:solidFill>
                    <a:latin typeface="Comic Sans MS" pitchFamily="66" charset="0"/>
                    <a:ea typeface="宋体" pitchFamily="2" charset="-122"/>
                  </a:defRPr>
                </a:lvl2pPr>
                <a:lvl3pPr marL="1143000" indent="-228600" eaLnBrk="0" hangingPunct="0">
                  <a:defRPr kumimoji="1" sz="2800">
                    <a:solidFill>
                      <a:schemeClr val="tx1"/>
                    </a:solidFill>
                    <a:latin typeface="Comic Sans MS" pitchFamily="66" charset="0"/>
                    <a:ea typeface="宋体" pitchFamily="2" charset="-122"/>
                  </a:defRPr>
                </a:lvl3pPr>
                <a:lvl4pPr marL="1600200" indent="-228600" eaLnBrk="0" hangingPunct="0">
                  <a:defRPr kumimoji="1" sz="2800">
                    <a:solidFill>
                      <a:schemeClr val="tx1"/>
                    </a:solidFill>
                    <a:latin typeface="Comic Sans MS" pitchFamily="66" charset="0"/>
                    <a:ea typeface="宋体" pitchFamily="2" charset="-122"/>
                  </a:defRPr>
                </a:lvl4pPr>
                <a:lvl5pPr marL="2057400" indent="-228600" eaLnBrk="0" hangingPunct="0">
                  <a:defRPr kumimoji="1" sz="2800">
                    <a:solidFill>
                      <a:schemeClr val="tx1"/>
                    </a:solidFill>
                    <a:latin typeface="Comic Sans MS" pitchFamily="66" charset="0"/>
                    <a:ea typeface="宋体" pitchFamily="2" charset="-122"/>
                  </a:defRPr>
                </a:lvl5pPr>
                <a:lvl6pPr marL="25146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6pPr>
                <a:lvl7pPr marL="29718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7pPr>
                <a:lvl8pPr marL="34290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8pPr>
                <a:lvl9pPr marL="38862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9pPr>
              </a:lstStyle>
              <a:p>
                <a:pPr eaLnBrk="1" hangingPunct="1">
                  <a:lnSpc>
                    <a:spcPct val="110000"/>
                  </a:lnSpc>
                  <a:spcBef>
                    <a:spcPct val="50000"/>
                  </a:spcBef>
                  <a:buClr>
                    <a:schemeClr val="accent1"/>
                  </a:buClr>
                  <a:buSzPct val="80000"/>
                  <a:buFont typeface="Wingdings" pitchFamily="2" charset="2"/>
                  <a:buNone/>
                </a:pPr>
                <a:r>
                  <a:rPr lang="en-US" altLang="zh-CN" sz="2000" b="1">
                    <a:solidFill>
                      <a:schemeClr val="tx2"/>
                    </a:solidFill>
                    <a:latin typeface="宋体" pitchFamily="2" charset="-122"/>
                  </a:rPr>
                  <a:t>50</a:t>
                </a:r>
              </a:p>
            </p:txBody>
          </p:sp>
          <p:sp>
            <p:nvSpPr>
              <p:cNvPr id="139298" name="Text Box 23"/>
              <p:cNvSpPr txBox="1">
                <a:spLocks noChangeArrowheads="1"/>
              </p:cNvSpPr>
              <p:nvPr/>
            </p:nvSpPr>
            <p:spPr bwMode="auto">
              <a:xfrm>
                <a:off x="1392" y="2112"/>
                <a:ext cx="480" cy="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spAutoFit/>
              </a:bodyPr>
              <a:lstStyle>
                <a:lvl1pPr eaLnBrk="0" hangingPunct="0">
                  <a:defRPr kumimoji="1" sz="2800">
                    <a:solidFill>
                      <a:schemeClr val="tx1"/>
                    </a:solidFill>
                    <a:latin typeface="Comic Sans MS" pitchFamily="66" charset="0"/>
                    <a:ea typeface="宋体" pitchFamily="2" charset="-122"/>
                  </a:defRPr>
                </a:lvl1pPr>
                <a:lvl2pPr marL="742950" indent="-285750" eaLnBrk="0" hangingPunct="0">
                  <a:defRPr kumimoji="1" sz="2800">
                    <a:solidFill>
                      <a:schemeClr val="tx1"/>
                    </a:solidFill>
                    <a:latin typeface="Comic Sans MS" pitchFamily="66" charset="0"/>
                    <a:ea typeface="宋体" pitchFamily="2" charset="-122"/>
                  </a:defRPr>
                </a:lvl2pPr>
                <a:lvl3pPr marL="1143000" indent="-228600" eaLnBrk="0" hangingPunct="0">
                  <a:defRPr kumimoji="1" sz="2800">
                    <a:solidFill>
                      <a:schemeClr val="tx1"/>
                    </a:solidFill>
                    <a:latin typeface="Comic Sans MS" pitchFamily="66" charset="0"/>
                    <a:ea typeface="宋体" pitchFamily="2" charset="-122"/>
                  </a:defRPr>
                </a:lvl3pPr>
                <a:lvl4pPr marL="1600200" indent="-228600" eaLnBrk="0" hangingPunct="0">
                  <a:defRPr kumimoji="1" sz="2800">
                    <a:solidFill>
                      <a:schemeClr val="tx1"/>
                    </a:solidFill>
                    <a:latin typeface="Comic Sans MS" pitchFamily="66" charset="0"/>
                    <a:ea typeface="宋体" pitchFamily="2" charset="-122"/>
                  </a:defRPr>
                </a:lvl4pPr>
                <a:lvl5pPr marL="2057400" indent="-228600" eaLnBrk="0" hangingPunct="0">
                  <a:defRPr kumimoji="1" sz="2800">
                    <a:solidFill>
                      <a:schemeClr val="tx1"/>
                    </a:solidFill>
                    <a:latin typeface="Comic Sans MS" pitchFamily="66" charset="0"/>
                    <a:ea typeface="宋体" pitchFamily="2" charset="-122"/>
                  </a:defRPr>
                </a:lvl5pPr>
                <a:lvl6pPr marL="25146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6pPr>
                <a:lvl7pPr marL="29718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7pPr>
                <a:lvl8pPr marL="34290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8pPr>
                <a:lvl9pPr marL="38862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9pPr>
              </a:lstStyle>
              <a:p>
                <a:pPr eaLnBrk="1" hangingPunct="1">
                  <a:lnSpc>
                    <a:spcPct val="110000"/>
                  </a:lnSpc>
                  <a:spcBef>
                    <a:spcPct val="50000"/>
                  </a:spcBef>
                  <a:buClr>
                    <a:schemeClr val="accent1"/>
                  </a:buClr>
                  <a:buSzPct val="80000"/>
                  <a:buFont typeface="Wingdings" pitchFamily="2" charset="2"/>
                  <a:buNone/>
                </a:pPr>
                <a:r>
                  <a:rPr lang="en-US" altLang="zh-CN" sz="2000" b="1">
                    <a:solidFill>
                      <a:schemeClr val="tx2"/>
                    </a:solidFill>
                    <a:latin typeface="宋体" pitchFamily="2" charset="-122"/>
                  </a:rPr>
                  <a:t>30</a:t>
                </a:r>
              </a:p>
            </p:txBody>
          </p:sp>
          <p:sp>
            <p:nvSpPr>
              <p:cNvPr id="139299" name="Line 24"/>
              <p:cNvSpPr>
                <a:spLocks noChangeShapeType="1"/>
              </p:cNvSpPr>
              <p:nvPr/>
            </p:nvSpPr>
            <p:spPr bwMode="auto">
              <a:xfrm>
                <a:off x="1248" y="2304"/>
                <a:ext cx="1152" cy="0"/>
              </a:xfrm>
              <a:prstGeom prst="line">
                <a:avLst/>
              </a:prstGeom>
              <a:noFill/>
              <a:ln w="12700" cap="sq">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39300" name="Line 25"/>
              <p:cNvSpPr>
                <a:spLocks noChangeShapeType="1"/>
              </p:cNvSpPr>
              <p:nvPr/>
            </p:nvSpPr>
            <p:spPr bwMode="auto">
              <a:xfrm>
                <a:off x="2592" y="2400"/>
                <a:ext cx="0" cy="384"/>
              </a:xfrm>
              <a:prstGeom prst="line">
                <a:avLst/>
              </a:prstGeom>
              <a:noFill/>
              <a:ln w="12700" cap="sq">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39301" name="Line 26"/>
              <p:cNvSpPr>
                <a:spLocks noChangeShapeType="1"/>
              </p:cNvSpPr>
              <p:nvPr/>
            </p:nvSpPr>
            <p:spPr bwMode="auto">
              <a:xfrm flipH="1" flipV="1">
                <a:off x="1872" y="1824"/>
                <a:ext cx="576" cy="960"/>
              </a:xfrm>
              <a:prstGeom prst="line">
                <a:avLst/>
              </a:prstGeom>
              <a:noFill/>
              <a:ln w="12700" cap="sq">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grpSp>
      </p:grpSp>
      <p:sp>
        <p:nvSpPr>
          <p:cNvPr id="139267" name="Text Box 27"/>
          <p:cNvSpPr txBox="1">
            <a:spLocks noChangeArrowheads="1"/>
          </p:cNvSpPr>
          <p:nvPr/>
        </p:nvSpPr>
        <p:spPr bwMode="auto">
          <a:xfrm>
            <a:off x="5486400" y="2363688"/>
            <a:ext cx="4724400" cy="3895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lIns="0" rIns="0">
            <a:spAutoFit/>
          </a:bodyPr>
          <a:lstStyle>
            <a:lvl1pPr eaLnBrk="0" hangingPunct="0">
              <a:defRPr kumimoji="1" sz="2800">
                <a:solidFill>
                  <a:schemeClr val="tx1"/>
                </a:solidFill>
                <a:latin typeface="Comic Sans MS" pitchFamily="66" charset="0"/>
                <a:ea typeface="宋体" pitchFamily="2" charset="-122"/>
              </a:defRPr>
            </a:lvl1pPr>
            <a:lvl2pPr marL="742950" indent="-285750" eaLnBrk="0" hangingPunct="0">
              <a:defRPr kumimoji="1" sz="2800">
                <a:solidFill>
                  <a:schemeClr val="tx1"/>
                </a:solidFill>
                <a:latin typeface="Comic Sans MS" pitchFamily="66" charset="0"/>
                <a:ea typeface="宋体" pitchFamily="2" charset="-122"/>
              </a:defRPr>
            </a:lvl2pPr>
            <a:lvl3pPr marL="1143000" indent="-228600" eaLnBrk="0" hangingPunct="0">
              <a:defRPr kumimoji="1" sz="2800">
                <a:solidFill>
                  <a:schemeClr val="tx1"/>
                </a:solidFill>
                <a:latin typeface="Comic Sans MS" pitchFamily="66" charset="0"/>
                <a:ea typeface="宋体" pitchFamily="2" charset="-122"/>
              </a:defRPr>
            </a:lvl3pPr>
            <a:lvl4pPr marL="1600200" indent="-228600" eaLnBrk="0" hangingPunct="0">
              <a:defRPr kumimoji="1" sz="2800">
                <a:solidFill>
                  <a:schemeClr val="tx1"/>
                </a:solidFill>
                <a:latin typeface="Comic Sans MS" pitchFamily="66" charset="0"/>
                <a:ea typeface="宋体" pitchFamily="2" charset="-122"/>
              </a:defRPr>
            </a:lvl4pPr>
            <a:lvl5pPr marL="2057400" indent="-228600" eaLnBrk="0" hangingPunct="0">
              <a:defRPr kumimoji="1" sz="2800">
                <a:solidFill>
                  <a:schemeClr val="tx1"/>
                </a:solidFill>
                <a:latin typeface="Comic Sans MS" pitchFamily="66" charset="0"/>
                <a:ea typeface="宋体" pitchFamily="2" charset="-122"/>
              </a:defRPr>
            </a:lvl5pPr>
            <a:lvl6pPr marL="25146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6pPr>
            <a:lvl7pPr marL="29718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7pPr>
            <a:lvl8pPr marL="34290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8pPr>
            <a:lvl9pPr marL="38862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9pPr>
          </a:lstStyle>
          <a:p>
            <a:pPr algn="l" eaLnBrk="1" hangingPunct="1">
              <a:lnSpc>
                <a:spcPct val="110000"/>
              </a:lnSpc>
              <a:spcBef>
                <a:spcPct val="50000"/>
              </a:spcBef>
              <a:buClr>
                <a:schemeClr val="accent1"/>
              </a:buClr>
              <a:buSzPct val="80000"/>
              <a:buFont typeface="Wingdings" pitchFamily="2" charset="2"/>
              <a:buNone/>
            </a:pPr>
            <a:r>
              <a:rPr lang="zh-CN" altLang="en-US" sz="2000" b="1" dirty="0">
                <a:solidFill>
                  <a:srgbClr val="663300"/>
                </a:solidFill>
                <a:latin typeface="宋体" pitchFamily="2" charset="-122"/>
              </a:rPr>
              <a:t>始点  终点    最短路径      路径长度</a:t>
            </a:r>
          </a:p>
        </p:txBody>
      </p:sp>
      <p:sp>
        <p:nvSpPr>
          <p:cNvPr id="139268" name="Text Box 28"/>
          <p:cNvSpPr txBox="1">
            <a:spLocks noChangeArrowheads="1"/>
          </p:cNvSpPr>
          <p:nvPr/>
        </p:nvSpPr>
        <p:spPr bwMode="auto">
          <a:xfrm>
            <a:off x="5562600" y="2952651"/>
            <a:ext cx="5105400" cy="3566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tIns="0" bIns="0">
            <a:spAutoFit/>
          </a:bodyPr>
          <a:lstStyle>
            <a:lvl1pPr eaLnBrk="0" hangingPunct="0">
              <a:defRPr kumimoji="1" sz="2800">
                <a:solidFill>
                  <a:schemeClr val="tx1"/>
                </a:solidFill>
                <a:latin typeface="Comic Sans MS" pitchFamily="66" charset="0"/>
                <a:ea typeface="宋体" pitchFamily="2" charset="-122"/>
              </a:defRPr>
            </a:lvl1pPr>
            <a:lvl2pPr marL="742950" indent="-285750" eaLnBrk="0" hangingPunct="0">
              <a:defRPr kumimoji="1" sz="2800">
                <a:solidFill>
                  <a:schemeClr val="tx1"/>
                </a:solidFill>
                <a:latin typeface="Comic Sans MS" pitchFamily="66" charset="0"/>
                <a:ea typeface="宋体" pitchFamily="2" charset="-122"/>
              </a:defRPr>
            </a:lvl2pPr>
            <a:lvl3pPr marL="1143000" indent="-228600" eaLnBrk="0" hangingPunct="0">
              <a:defRPr kumimoji="1" sz="2800">
                <a:solidFill>
                  <a:schemeClr val="tx1"/>
                </a:solidFill>
                <a:latin typeface="Comic Sans MS" pitchFamily="66" charset="0"/>
                <a:ea typeface="宋体" pitchFamily="2" charset="-122"/>
              </a:defRPr>
            </a:lvl3pPr>
            <a:lvl4pPr marL="1600200" indent="-228600" eaLnBrk="0" hangingPunct="0">
              <a:defRPr kumimoji="1" sz="2800">
                <a:solidFill>
                  <a:schemeClr val="tx1"/>
                </a:solidFill>
                <a:latin typeface="Comic Sans MS" pitchFamily="66" charset="0"/>
                <a:ea typeface="宋体" pitchFamily="2" charset="-122"/>
              </a:defRPr>
            </a:lvl4pPr>
            <a:lvl5pPr marL="2057400" indent="-228600" eaLnBrk="0" hangingPunct="0">
              <a:defRPr kumimoji="1" sz="2800">
                <a:solidFill>
                  <a:schemeClr val="tx1"/>
                </a:solidFill>
                <a:latin typeface="Comic Sans MS" pitchFamily="66" charset="0"/>
                <a:ea typeface="宋体" pitchFamily="2" charset="-122"/>
              </a:defRPr>
            </a:lvl5pPr>
            <a:lvl6pPr marL="25146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6pPr>
            <a:lvl7pPr marL="29718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7pPr>
            <a:lvl8pPr marL="34290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8pPr>
            <a:lvl9pPr marL="38862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9pPr>
          </a:lstStyle>
          <a:p>
            <a:pPr algn="l" eaLnBrk="1" hangingPunct="1">
              <a:lnSpc>
                <a:spcPct val="110000"/>
              </a:lnSpc>
              <a:spcBef>
                <a:spcPct val="50000"/>
              </a:spcBef>
              <a:buClr>
                <a:schemeClr val="accent1"/>
              </a:buClr>
              <a:buSzPct val="80000"/>
              <a:buFont typeface="Wingdings" pitchFamily="2" charset="2"/>
              <a:buNone/>
            </a:pPr>
            <a:r>
              <a:rPr lang="en-US" altLang="zh-CN" sz="2400" b="1">
                <a:latin typeface="宋体" pitchFamily="2" charset="-122"/>
              </a:rPr>
              <a:t>v</a:t>
            </a:r>
            <a:r>
              <a:rPr lang="en-US" altLang="zh-CN" sz="2400" b="1" baseline="-10000">
                <a:latin typeface="宋体" pitchFamily="2" charset="-122"/>
              </a:rPr>
              <a:t>0</a:t>
            </a:r>
            <a:r>
              <a:rPr lang="en-US" altLang="zh-CN" sz="2400" b="1" baseline="-25000">
                <a:latin typeface="宋体" pitchFamily="2" charset="-122"/>
              </a:rPr>
              <a:t>    </a:t>
            </a:r>
            <a:r>
              <a:rPr lang="en-US" altLang="zh-CN" sz="2400" b="1">
                <a:latin typeface="宋体" pitchFamily="2" charset="-122"/>
              </a:rPr>
              <a:t>v</a:t>
            </a:r>
            <a:r>
              <a:rPr lang="en-US" altLang="zh-CN" sz="2400" b="1" baseline="-10000">
                <a:latin typeface="宋体" pitchFamily="2" charset="-122"/>
              </a:rPr>
              <a:t>1 </a:t>
            </a:r>
            <a:r>
              <a:rPr lang="en-US" altLang="zh-CN" sz="2400" b="1" baseline="-25000">
                <a:latin typeface="宋体" pitchFamily="2" charset="-122"/>
              </a:rPr>
              <a:t>       </a:t>
            </a:r>
            <a:r>
              <a:rPr lang="zh-CN" altLang="en-US" sz="2400" b="1">
                <a:latin typeface="宋体" pitchFamily="2" charset="-122"/>
              </a:rPr>
              <a:t>无  </a:t>
            </a:r>
            <a:endParaRPr lang="zh-CN" altLang="en-US" sz="2400" b="1" baseline="-25000">
              <a:latin typeface="宋体" pitchFamily="2" charset="-122"/>
            </a:endParaRPr>
          </a:p>
        </p:txBody>
      </p:sp>
      <p:sp>
        <p:nvSpPr>
          <p:cNvPr id="139269" name="Text Box 29"/>
          <p:cNvSpPr txBox="1">
            <a:spLocks noChangeArrowheads="1"/>
          </p:cNvSpPr>
          <p:nvPr/>
        </p:nvSpPr>
        <p:spPr bwMode="auto">
          <a:xfrm>
            <a:off x="6248400" y="3562251"/>
            <a:ext cx="4419600" cy="3566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tIns="0" bIns="0">
            <a:spAutoFit/>
          </a:bodyPr>
          <a:lstStyle>
            <a:lvl1pPr eaLnBrk="0" hangingPunct="0">
              <a:defRPr kumimoji="1" sz="2800">
                <a:solidFill>
                  <a:schemeClr val="tx1"/>
                </a:solidFill>
                <a:latin typeface="Comic Sans MS" pitchFamily="66" charset="0"/>
                <a:ea typeface="宋体" pitchFamily="2" charset="-122"/>
              </a:defRPr>
            </a:lvl1pPr>
            <a:lvl2pPr marL="742950" indent="-285750" eaLnBrk="0" hangingPunct="0">
              <a:defRPr kumimoji="1" sz="2800">
                <a:solidFill>
                  <a:schemeClr val="tx1"/>
                </a:solidFill>
                <a:latin typeface="Comic Sans MS" pitchFamily="66" charset="0"/>
                <a:ea typeface="宋体" pitchFamily="2" charset="-122"/>
              </a:defRPr>
            </a:lvl2pPr>
            <a:lvl3pPr marL="1143000" indent="-228600" eaLnBrk="0" hangingPunct="0">
              <a:defRPr kumimoji="1" sz="2800">
                <a:solidFill>
                  <a:schemeClr val="tx1"/>
                </a:solidFill>
                <a:latin typeface="Comic Sans MS" pitchFamily="66" charset="0"/>
                <a:ea typeface="宋体" pitchFamily="2" charset="-122"/>
              </a:defRPr>
            </a:lvl3pPr>
            <a:lvl4pPr marL="1600200" indent="-228600" eaLnBrk="0" hangingPunct="0">
              <a:defRPr kumimoji="1" sz="2800">
                <a:solidFill>
                  <a:schemeClr val="tx1"/>
                </a:solidFill>
                <a:latin typeface="Comic Sans MS" pitchFamily="66" charset="0"/>
                <a:ea typeface="宋体" pitchFamily="2" charset="-122"/>
              </a:defRPr>
            </a:lvl4pPr>
            <a:lvl5pPr marL="2057400" indent="-228600" eaLnBrk="0" hangingPunct="0">
              <a:defRPr kumimoji="1" sz="2800">
                <a:solidFill>
                  <a:schemeClr val="tx1"/>
                </a:solidFill>
                <a:latin typeface="Comic Sans MS" pitchFamily="66" charset="0"/>
                <a:ea typeface="宋体" pitchFamily="2" charset="-122"/>
              </a:defRPr>
            </a:lvl5pPr>
            <a:lvl6pPr marL="25146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6pPr>
            <a:lvl7pPr marL="29718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7pPr>
            <a:lvl8pPr marL="34290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8pPr>
            <a:lvl9pPr marL="38862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9pPr>
          </a:lstStyle>
          <a:p>
            <a:pPr algn="l" eaLnBrk="1" hangingPunct="1">
              <a:lnSpc>
                <a:spcPct val="110000"/>
              </a:lnSpc>
              <a:spcBef>
                <a:spcPct val="50000"/>
              </a:spcBef>
              <a:buClr>
                <a:schemeClr val="accent1"/>
              </a:buClr>
              <a:buSzPct val="80000"/>
              <a:buFont typeface="Wingdings" pitchFamily="2" charset="2"/>
              <a:buNone/>
            </a:pPr>
            <a:r>
              <a:rPr lang="en-US" altLang="zh-CN" sz="2400" b="1">
                <a:latin typeface="宋体" pitchFamily="2" charset="-122"/>
              </a:rPr>
              <a:t>v</a:t>
            </a:r>
            <a:r>
              <a:rPr lang="en-US" altLang="zh-CN" sz="2400" b="1" baseline="-10000">
                <a:latin typeface="宋体" pitchFamily="2" charset="-122"/>
              </a:rPr>
              <a:t>2</a:t>
            </a:r>
            <a:r>
              <a:rPr lang="en-US" altLang="zh-CN" sz="2400" b="1" baseline="-25000">
                <a:latin typeface="宋体" pitchFamily="2" charset="-122"/>
              </a:rPr>
              <a:t>        </a:t>
            </a:r>
            <a:r>
              <a:rPr lang="en-US" altLang="zh-CN" sz="2400" b="1">
                <a:latin typeface="宋体" pitchFamily="2" charset="-122"/>
              </a:rPr>
              <a:t>(v</a:t>
            </a:r>
            <a:r>
              <a:rPr lang="en-US" altLang="zh-CN" sz="2400" b="1" baseline="-10000">
                <a:latin typeface="宋体" pitchFamily="2" charset="-122"/>
              </a:rPr>
              <a:t>0</a:t>
            </a:r>
            <a:r>
              <a:rPr lang="en-US" altLang="zh-CN" sz="2400" b="1">
                <a:latin typeface="宋体" pitchFamily="2" charset="-122"/>
              </a:rPr>
              <a:t>,v</a:t>
            </a:r>
            <a:r>
              <a:rPr lang="en-US" altLang="zh-CN" sz="2400" b="1" baseline="-10000">
                <a:latin typeface="宋体" pitchFamily="2" charset="-122"/>
              </a:rPr>
              <a:t>2</a:t>
            </a:r>
            <a:r>
              <a:rPr lang="en-US" altLang="zh-CN" sz="2400" b="1">
                <a:latin typeface="宋体" pitchFamily="2" charset="-122"/>
              </a:rPr>
              <a:t>)       10</a:t>
            </a:r>
          </a:p>
        </p:txBody>
      </p:sp>
      <p:sp>
        <p:nvSpPr>
          <p:cNvPr id="139270" name="Text Box 30"/>
          <p:cNvSpPr txBox="1">
            <a:spLocks noChangeArrowheads="1"/>
          </p:cNvSpPr>
          <p:nvPr/>
        </p:nvSpPr>
        <p:spPr bwMode="auto">
          <a:xfrm>
            <a:off x="6248400" y="4171851"/>
            <a:ext cx="4419600" cy="3566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tIns="0" bIns="0">
            <a:spAutoFit/>
          </a:bodyPr>
          <a:lstStyle>
            <a:lvl1pPr eaLnBrk="0" hangingPunct="0">
              <a:defRPr kumimoji="1" sz="2800">
                <a:solidFill>
                  <a:schemeClr val="tx1"/>
                </a:solidFill>
                <a:latin typeface="Comic Sans MS" pitchFamily="66" charset="0"/>
                <a:ea typeface="宋体" pitchFamily="2" charset="-122"/>
              </a:defRPr>
            </a:lvl1pPr>
            <a:lvl2pPr marL="742950" indent="-285750" eaLnBrk="0" hangingPunct="0">
              <a:defRPr kumimoji="1" sz="2800">
                <a:solidFill>
                  <a:schemeClr val="tx1"/>
                </a:solidFill>
                <a:latin typeface="Comic Sans MS" pitchFamily="66" charset="0"/>
                <a:ea typeface="宋体" pitchFamily="2" charset="-122"/>
              </a:defRPr>
            </a:lvl2pPr>
            <a:lvl3pPr marL="1143000" indent="-228600" eaLnBrk="0" hangingPunct="0">
              <a:defRPr kumimoji="1" sz="2800">
                <a:solidFill>
                  <a:schemeClr val="tx1"/>
                </a:solidFill>
                <a:latin typeface="Comic Sans MS" pitchFamily="66" charset="0"/>
                <a:ea typeface="宋体" pitchFamily="2" charset="-122"/>
              </a:defRPr>
            </a:lvl3pPr>
            <a:lvl4pPr marL="1600200" indent="-228600" eaLnBrk="0" hangingPunct="0">
              <a:defRPr kumimoji="1" sz="2800">
                <a:solidFill>
                  <a:schemeClr val="tx1"/>
                </a:solidFill>
                <a:latin typeface="Comic Sans MS" pitchFamily="66" charset="0"/>
                <a:ea typeface="宋体" pitchFamily="2" charset="-122"/>
              </a:defRPr>
            </a:lvl4pPr>
            <a:lvl5pPr marL="2057400" indent="-228600" eaLnBrk="0" hangingPunct="0">
              <a:defRPr kumimoji="1" sz="2800">
                <a:solidFill>
                  <a:schemeClr val="tx1"/>
                </a:solidFill>
                <a:latin typeface="Comic Sans MS" pitchFamily="66" charset="0"/>
                <a:ea typeface="宋体" pitchFamily="2" charset="-122"/>
              </a:defRPr>
            </a:lvl5pPr>
            <a:lvl6pPr marL="25146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6pPr>
            <a:lvl7pPr marL="29718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7pPr>
            <a:lvl8pPr marL="34290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8pPr>
            <a:lvl9pPr marL="38862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9pPr>
          </a:lstStyle>
          <a:p>
            <a:pPr algn="l" eaLnBrk="1" hangingPunct="1">
              <a:lnSpc>
                <a:spcPct val="110000"/>
              </a:lnSpc>
              <a:spcBef>
                <a:spcPct val="50000"/>
              </a:spcBef>
              <a:buClr>
                <a:schemeClr val="accent1"/>
              </a:buClr>
              <a:buSzPct val="80000"/>
              <a:buFont typeface="Wingdings" pitchFamily="2" charset="2"/>
              <a:buNone/>
            </a:pPr>
            <a:r>
              <a:rPr lang="en-US" altLang="zh-CN" sz="2400" b="1">
                <a:latin typeface="宋体" pitchFamily="2" charset="-122"/>
              </a:rPr>
              <a:t>v</a:t>
            </a:r>
            <a:r>
              <a:rPr lang="en-US" altLang="zh-CN" sz="2400" b="1" baseline="-10000">
                <a:latin typeface="宋体" pitchFamily="2" charset="-122"/>
              </a:rPr>
              <a:t>3</a:t>
            </a:r>
            <a:r>
              <a:rPr lang="en-US" altLang="zh-CN" sz="2400" b="1">
                <a:latin typeface="宋体" pitchFamily="2" charset="-122"/>
              </a:rPr>
              <a:t>     (v</a:t>
            </a:r>
            <a:r>
              <a:rPr lang="en-US" altLang="zh-CN" sz="2400" b="1" baseline="-10000">
                <a:latin typeface="宋体" pitchFamily="2" charset="-122"/>
              </a:rPr>
              <a:t>0</a:t>
            </a:r>
            <a:r>
              <a:rPr lang="en-US" altLang="zh-CN" sz="2400" b="1">
                <a:latin typeface="宋体" pitchFamily="2" charset="-122"/>
              </a:rPr>
              <a:t>,v</a:t>
            </a:r>
            <a:r>
              <a:rPr lang="en-US" altLang="zh-CN" sz="2400" b="1" baseline="-10000">
                <a:latin typeface="宋体" pitchFamily="2" charset="-122"/>
              </a:rPr>
              <a:t>4</a:t>
            </a:r>
            <a:r>
              <a:rPr lang="en-US" altLang="zh-CN" sz="2400" b="1">
                <a:latin typeface="宋体" pitchFamily="2" charset="-122"/>
              </a:rPr>
              <a:t>,v</a:t>
            </a:r>
            <a:r>
              <a:rPr lang="en-US" altLang="zh-CN" sz="2400" b="1" baseline="-10000">
                <a:latin typeface="宋体" pitchFamily="2" charset="-122"/>
              </a:rPr>
              <a:t>3</a:t>
            </a:r>
            <a:r>
              <a:rPr lang="en-US" altLang="zh-CN" sz="2400" b="1">
                <a:latin typeface="宋体" pitchFamily="2" charset="-122"/>
              </a:rPr>
              <a:t>)     50</a:t>
            </a:r>
          </a:p>
        </p:txBody>
      </p:sp>
      <p:sp>
        <p:nvSpPr>
          <p:cNvPr id="139271" name="Text Box 31"/>
          <p:cNvSpPr txBox="1">
            <a:spLocks noChangeArrowheads="1"/>
          </p:cNvSpPr>
          <p:nvPr/>
        </p:nvSpPr>
        <p:spPr bwMode="auto">
          <a:xfrm>
            <a:off x="6248400" y="4781451"/>
            <a:ext cx="4419600" cy="3566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tIns="0" bIns="0">
            <a:spAutoFit/>
          </a:bodyPr>
          <a:lstStyle>
            <a:lvl1pPr eaLnBrk="0" hangingPunct="0">
              <a:defRPr kumimoji="1" sz="2800">
                <a:solidFill>
                  <a:schemeClr val="tx1"/>
                </a:solidFill>
                <a:latin typeface="Comic Sans MS" pitchFamily="66" charset="0"/>
                <a:ea typeface="宋体" pitchFamily="2" charset="-122"/>
              </a:defRPr>
            </a:lvl1pPr>
            <a:lvl2pPr marL="742950" indent="-285750" eaLnBrk="0" hangingPunct="0">
              <a:defRPr kumimoji="1" sz="2800">
                <a:solidFill>
                  <a:schemeClr val="tx1"/>
                </a:solidFill>
                <a:latin typeface="Comic Sans MS" pitchFamily="66" charset="0"/>
                <a:ea typeface="宋体" pitchFamily="2" charset="-122"/>
              </a:defRPr>
            </a:lvl2pPr>
            <a:lvl3pPr marL="1143000" indent="-228600" eaLnBrk="0" hangingPunct="0">
              <a:defRPr kumimoji="1" sz="2800">
                <a:solidFill>
                  <a:schemeClr val="tx1"/>
                </a:solidFill>
                <a:latin typeface="Comic Sans MS" pitchFamily="66" charset="0"/>
                <a:ea typeface="宋体" pitchFamily="2" charset="-122"/>
              </a:defRPr>
            </a:lvl3pPr>
            <a:lvl4pPr marL="1600200" indent="-228600" eaLnBrk="0" hangingPunct="0">
              <a:defRPr kumimoji="1" sz="2800">
                <a:solidFill>
                  <a:schemeClr val="tx1"/>
                </a:solidFill>
                <a:latin typeface="Comic Sans MS" pitchFamily="66" charset="0"/>
                <a:ea typeface="宋体" pitchFamily="2" charset="-122"/>
              </a:defRPr>
            </a:lvl4pPr>
            <a:lvl5pPr marL="2057400" indent="-228600" eaLnBrk="0" hangingPunct="0">
              <a:defRPr kumimoji="1" sz="2800">
                <a:solidFill>
                  <a:schemeClr val="tx1"/>
                </a:solidFill>
                <a:latin typeface="Comic Sans MS" pitchFamily="66" charset="0"/>
                <a:ea typeface="宋体" pitchFamily="2" charset="-122"/>
              </a:defRPr>
            </a:lvl5pPr>
            <a:lvl6pPr marL="25146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6pPr>
            <a:lvl7pPr marL="29718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7pPr>
            <a:lvl8pPr marL="34290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8pPr>
            <a:lvl9pPr marL="38862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9pPr>
          </a:lstStyle>
          <a:p>
            <a:pPr algn="l" eaLnBrk="1" hangingPunct="1">
              <a:lnSpc>
                <a:spcPct val="110000"/>
              </a:lnSpc>
              <a:spcBef>
                <a:spcPct val="50000"/>
              </a:spcBef>
              <a:buClr>
                <a:schemeClr val="accent1"/>
              </a:buClr>
              <a:buSzPct val="80000"/>
              <a:buFont typeface="Wingdings" pitchFamily="2" charset="2"/>
              <a:buNone/>
            </a:pPr>
            <a:r>
              <a:rPr lang="en-US" altLang="zh-CN" sz="2400" b="1">
                <a:latin typeface="宋体" pitchFamily="2" charset="-122"/>
              </a:rPr>
              <a:t>v</a:t>
            </a:r>
            <a:r>
              <a:rPr lang="en-US" altLang="zh-CN" sz="2400" b="1" baseline="-10000">
                <a:latin typeface="宋体" pitchFamily="2" charset="-122"/>
              </a:rPr>
              <a:t>4</a:t>
            </a:r>
            <a:r>
              <a:rPr lang="en-US" altLang="zh-CN" sz="2400" b="1">
                <a:latin typeface="宋体" pitchFamily="2" charset="-122"/>
              </a:rPr>
              <a:t>     (v</a:t>
            </a:r>
            <a:r>
              <a:rPr lang="en-US" altLang="zh-CN" sz="2400" b="1" baseline="-10000">
                <a:latin typeface="宋体" pitchFamily="2" charset="-122"/>
              </a:rPr>
              <a:t>0</a:t>
            </a:r>
            <a:r>
              <a:rPr lang="en-US" altLang="zh-CN" sz="2400" b="1">
                <a:latin typeface="宋体" pitchFamily="2" charset="-122"/>
              </a:rPr>
              <a:t>,v</a:t>
            </a:r>
            <a:r>
              <a:rPr lang="en-US" altLang="zh-CN" sz="2400" b="1" baseline="-10000">
                <a:latin typeface="宋体" pitchFamily="2" charset="-122"/>
              </a:rPr>
              <a:t>4</a:t>
            </a:r>
            <a:r>
              <a:rPr lang="en-US" altLang="zh-CN" sz="2400" b="1">
                <a:latin typeface="宋体" pitchFamily="2" charset="-122"/>
              </a:rPr>
              <a:t>)        30</a:t>
            </a:r>
          </a:p>
        </p:txBody>
      </p:sp>
      <p:sp>
        <p:nvSpPr>
          <p:cNvPr id="139272" name="Text Box 32"/>
          <p:cNvSpPr txBox="1">
            <a:spLocks noChangeArrowheads="1"/>
          </p:cNvSpPr>
          <p:nvPr/>
        </p:nvSpPr>
        <p:spPr bwMode="auto">
          <a:xfrm>
            <a:off x="6248400" y="5411688"/>
            <a:ext cx="4419600" cy="3566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tIns="0" bIns="0">
            <a:spAutoFit/>
          </a:bodyPr>
          <a:lstStyle>
            <a:lvl1pPr eaLnBrk="0" hangingPunct="0">
              <a:defRPr kumimoji="1" sz="2800">
                <a:solidFill>
                  <a:schemeClr val="tx1"/>
                </a:solidFill>
                <a:latin typeface="Comic Sans MS" pitchFamily="66" charset="0"/>
                <a:ea typeface="宋体" pitchFamily="2" charset="-122"/>
              </a:defRPr>
            </a:lvl1pPr>
            <a:lvl2pPr marL="742950" indent="-285750" eaLnBrk="0" hangingPunct="0">
              <a:defRPr kumimoji="1" sz="2800">
                <a:solidFill>
                  <a:schemeClr val="tx1"/>
                </a:solidFill>
                <a:latin typeface="Comic Sans MS" pitchFamily="66" charset="0"/>
                <a:ea typeface="宋体" pitchFamily="2" charset="-122"/>
              </a:defRPr>
            </a:lvl2pPr>
            <a:lvl3pPr marL="1143000" indent="-228600" eaLnBrk="0" hangingPunct="0">
              <a:defRPr kumimoji="1" sz="2800">
                <a:solidFill>
                  <a:schemeClr val="tx1"/>
                </a:solidFill>
                <a:latin typeface="Comic Sans MS" pitchFamily="66" charset="0"/>
                <a:ea typeface="宋体" pitchFamily="2" charset="-122"/>
              </a:defRPr>
            </a:lvl3pPr>
            <a:lvl4pPr marL="1600200" indent="-228600" eaLnBrk="0" hangingPunct="0">
              <a:defRPr kumimoji="1" sz="2800">
                <a:solidFill>
                  <a:schemeClr val="tx1"/>
                </a:solidFill>
                <a:latin typeface="Comic Sans MS" pitchFamily="66" charset="0"/>
                <a:ea typeface="宋体" pitchFamily="2" charset="-122"/>
              </a:defRPr>
            </a:lvl4pPr>
            <a:lvl5pPr marL="2057400" indent="-228600" eaLnBrk="0" hangingPunct="0">
              <a:defRPr kumimoji="1" sz="2800">
                <a:solidFill>
                  <a:schemeClr val="tx1"/>
                </a:solidFill>
                <a:latin typeface="Comic Sans MS" pitchFamily="66" charset="0"/>
                <a:ea typeface="宋体" pitchFamily="2" charset="-122"/>
              </a:defRPr>
            </a:lvl5pPr>
            <a:lvl6pPr marL="25146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6pPr>
            <a:lvl7pPr marL="29718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7pPr>
            <a:lvl8pPr marL="34290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8pPr>
            <a:lvl9pPr marL="38862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9pPr>
          </a:lstStyle>
          <a:p>
            <a:pPr algn="l" eaLnBrk="1" hangingPunct="1">
              <a:lnSpc>
                <a:spcPct val="110000"/>
              </a:lnSpc>
              <a:spcBef>
                <a:spcPct val="50000"/>
              </a:spcBef>
              <a:buClr>
                <a:schemeClr val="accent1"/>
              </a:buClr>
              <a:buSzPct val="80000"/>
              <a:buFont typeface="Wingdings" pitchFamily="2" charset="2"/>
              <a:buNone/>
            </a:pPr>
            <a:r>
              <a:rPr lang="en-US" altLang="zh-CN" sz="2400" b="1">
                <a:latin typeface="宋体" pitchFamily="2" charset="-122"/>
              </a:rPr>
              <a:t>v</a:t>
            </a:r>
            <a:r>
              <a:rPr lang="en-US" altLang="zh-CN" sz="2400" b="1" baseline="-10000">
                <a:latin typeface="宋体" pitchFamily="2" charset="-122"/>
              </a:rPr>
              <a:t>5</a:t>
            </a:r>
            <a:r>
              <a:rPr lang="en-US" altLang="zh-CN" sz="2400" b="1">
                <a:latin typeface="宋体" pitchFamily="2" charset="-122"/>
              </a:rPr>
              <a:t>   (v</a:t>
            </a:r>
            <a:r>
              <a:rPr lang="en-US" altLang="zh-CN" sz="2400" b="1" baseline="-10000">
                <a:latin typeface="宋体" pitchFamily="2" charset="-122"/>
              </a:rPr>
              <a:t>0</a:t>
            </a:r>
            <a:r>
              <a:rPr lang="en-US" altLang="zh-CN" sz="2400" b="1">
                <a:latin typeface="宋体" pitchFamily="2" charset="-122"/>
              </a:rPr>
              <a:t>,v</a:t>
            </a:r>
            <a:r>
              <a:rPr lang="en-US" altLang="zh-CN" sz="2400" b="1" baseline="-10000">
                <a:latin typeface="宋体" pitchFamily="2" charset="-122"/>
              </a:rPr>
              <a:t>4</a:t>
            </a:r>
            <a:r>
              <a:rPr lang="en-US" altLang="zh-CN" sz="2400" b="1">
                <a:latin typeface="宋体" pitchFamily="2" charset="-122"/>
              </a:rPr>
              <a:t>,v</a:t>
            </a:r>
            <a:r>
              <a:rPr lang="en-US" altLang="zh-CN" sz="2400" b="1" baseline="-10000">
                <a:latin typeface="宋体" pitchFamily="2" charset="-122"/>
              </a:rPr>
              <a:t>3</a:t>
            </a:r>
            <a:r>
              <a:rPr lang="en-US" altLang="zh-CN" sz="2400" b="1">
                <a:latin typeface="宋体" pitchFamily="2" charset="-122"/>
              </a:rPr>
              <a:t>,v</a:t>
            </a:r>
            <a:r>
              <a:rPr lang="en-US" altLang="zh-CN" sz="2400" b="1" baseline="-10000">
                <a:latin typeface="宋体" pitchFamily="2" charset="-122"/>
              </a:rPr>
              <a:t>5</a:t>
            </a:r>
            <a:r>
              <a:rPr lang="en-US" altLang="zh-CN" sz="2400" b="1">
                <a:latin typeface="宋体" pitchFamily="2" charset="-122"/>
              </a:rPr>
              <a:t>)     60</a:t>
            </a:r>
          </a:p>
        </p:txBody>
      </p:sp>
      <p:sp>
        <p:nvSpPr>
          <p:cNvPr id="139273" name="Line 33"/>
          <p:cNvSpPr>
            <a:spLocks noChangeShapeType="1"/>
          </p:cNvSpPr>
          <p:nvPr/>
        </p:nvSpPr>
        <p:spPr bwMode="auto">
          <a:xfrm>
            <a:off x="5410200" y="2897088"/>
            <a:ext cx="5257800"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39274" name="Line 34"/>
          <p:cNvSpPr>
            <a:spLocks noChangeShapeType="1"/>
          </p:cNvSpPr>
          <p:nvPr/>
        </p:nvSpPr>
        <p:spPr bwMode="auto">
          <a:xfrm>
            <a:off x="6096000" y="2287488"/>
            <a:ext cx="0" cy="373380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39275" name="Line 35"/>
          <p:cNvSpPr>
            <a:spLocks noChangeShapeType="1"/>
          </p:cNvSpPr>
          <p:nvPr/>
        </p:nvSpPr>
        <p:spPr bwMode="auto">
          <a:xfrm>
            <a:off x="7010400" y="2287488"/>
            <a:ext cx="0" cy="373380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39276" name="Line 36"/>
          <p:cNvSpPr>
            <a:spLocks noChangeShapeType="1"/>
          </p:cNvSpPr>
          <p:nvPr/>
        </p:nvSpPr>
        <p:spPr bwMode="auto">
          <a:xfrm>
            <a:off x="8991600" y="2287488"/>
            <a:ext cx="0" cy="373380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39277" name="Line 37"/>
          <p:cNvSpPr>
            <a:spLocks noChangeShapeType="1"/>
          </p:cNvSpPr>
          <p:nvPr/>
        </p:nvSpPr>
        <p:spPr bwMode="auto">
          <a:xfrm>
            <a:off x="5562600" y="6021288"/>
            <a:ext cx="5105400"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2" name="Rectangle 2">
            <a:extLst>
              <a:ext uri="{FF2B5EF4-FFF2-40B4-BE49-F238E27FC236}">
                <a16:creationId xmlns:a16="http://schemas.microsoft.com/office/drawing/2014/main" id="{59791D32-C2BF-7420-19CD-D1F0664BE2A2}"/>
              </a:ext>
            </a:extLst>
          </p:cNvPr>
          <p:cNvSpPr txBox="1">
            <a:spLocks noChangeArrowheads="1"/>
          </p:cNvSpPr>
          <p:nvPr/>
        </p:nvSpPr>
        <p:spPr>
          <a:xfrm>
            <a:off x="474771" y="1230902"/>
            <a:ext cx="10949819"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8.5.2 </a:t>
            </a:r>
            <a:r>
              <a:rPr lang="zh-CN" altLang="en-US" dirty="0"/>
              <a:t>从一个顶点到其余各顶点的最短路径（单源点最短路径问题）</a:t>
            </a:r>
          </a:p>
        </p:txBody>
      </p:sp>
      <p:cxnSp>
        <p:nvCxnSpPr>
          <p:cNvPr id="3" name="直接连接符 2">
            <a:extLst>
              <a:ext uri="{FF2B5EF4-FFF2-40B4-BE49-F238E27FC236}">
                <a16:creationId xmlns:a16="http://schemas.microsoft.com/office/drawing/2014/main" id="{3BCA2106-B5D6-2126-AF7E-47B115E0C9E7}"/>
              </a:ext>
            </a:extLst>
          </p:cNvPr>
          <p:cNvCxnSpPr>
            <a:cxnSpLocks/>
          </p:cNvCxnSpPr>
          <p:nvPr/>
        </p:nvCxnSpPr>
        <p:spPr>
          <a:xfrm>
            <a:off x="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4" name="矩形 3">
            <a:extLst>
              <a:ext uri="{FF2B5EF4-FFF2-40B4-BE49-F238E27FC236}">
                <a16:creationId xmlns:a16="http://schemas.microsoft.com/office/drawing/2014/main" id="{438CDD09-5E0A-C881-474B-90697F7ED76C}"/>
              </a:ext>
            </a:extLst>
          </p:cNvPr>
          <p:cNvSpPr/>
          <p:nvPr/>
        </p:nvSpPr>
        <p:spPr>
          <a:xfrm>
            <a:off x="3394075" y="399838"/>
            <a:ext cx="4617860"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8.5 </a:t>
            </a:r>
            <a:r>
              <a:rPr lang="zh-CN" altLang="en-US" sz="3000" b="1" dirty="0">
                <a:latin typeface="黑体" pitchFamily="49" charset="-122"/>
                <a:ea typeface="黑体" pitchFamily="49" charset="-122"/>
                <a:cs typeface="经典粗黑简" pitchFamily="49" charset="-122"/>
              </a:rPr>
              <a:t>最短路径</a:t>
            </a:r>
          </a:p>
        </p:txBody>
      </p:sp>
      <p:sp>
        <p:nvSpPr>
          <p:cNvPr id="5" name="Text Box 4">
            <a:extLst>
              <a:ext uri="{FF2B5EF4-FFF2-40B4-BE49-F238E27FC236}">
                <a16:creationId xmlns:a16="http://schemas.microsoft.com/office/drawing/2014/main" id="{1402021A-6658-C80D-77BD-463B9359F2A1}"/>
              </a:ext>
            </a:extLst>
          </p:cNvPr>
          <p:cNvSpPr txBox="1">
            <a:spLocks noChangeArrowheads="1"/>
          </p:cNvSpPr>
          <p:nvPr/>
        </p:nvSpPr>
        <p:spPr bwMode="auto">
          <a:xfrm>
            <a:off x="1388265" y="1922692"/>
            <a:ext cx="5355805" cy="461665"/>
          </a:xfrm>
          <a:prstGeom prst="rect">
            <a:avLst/>
          </a:prstGeom>
          <a:noFill/>
          <a:ln w="38100" algn="ctr">
            <a:noFill/>
            <a:miter lim="800000"/>
            <a:headEnd/>
            <a:tailEnd type="none" w="med" len="lg"/>
          </a:ln>
          <a:effectLst/>
        </p:spPr>
        <p:txBody>
          <a:bodyPr wrap="square">
            <a:spAutoFit/>
          </a:bodyPr>
          <a:lstStyle/>
          <a:p>
            <a:r>
              <a:rPr lang="zh-CN" altLang="en-US" sz="2400" b="1" dirty="0">
                <a:latin typeface="黑体" pitchFamily="49" charset="-122"/>
                <a:ea typeface="黑体" pitchFamily="49" charset="-122"/>
                <a:cs typeface="经典粗黑简" pitchFamily="49" charset="-122"/>
              </a:rPr>
              <a:t>单源最短路径问题：</a:t>
            </a:r>
            <a:r>
              <a:rPr lang="en-US" altLang="zh-CN" sz="2400" b="1" dirty="0" err="1">
                <a:latin typeface="黑体" pitchFamily="49" charset="-122"/>
                <a:ea typeface="黑体" pitchFamily="49" charset="-122"/>
                <a:cs typeface="经典粗黑简" pitchFamily="49" charset="-122"/>
              </a:rPr>
              <a:t>Dijkstra</a:t>
            </a:r>
            <a:r>
              <a:rPr lang="zh-CN" altLang="en-US" sz="2400" b="1" dirty="0">
                <a:latin typeface="黑体" pitchFamily="49" charset="-122"/>
                <a:ea typeface="黑体" pitchFamily="49" charset="-122"/>
                <a:cs typeface="经典粗黑简" pitchFamily="49" charset="-122"/>
              </a:rPr>
              <a:t>算法</a:t>
            </a:r>
          </a:p>
        </p:txBody>
      </p:sp>
    </p:spTree>
    <p:extLst>
      <p:ext uri="{BB962C8B-B14F-4D97-AF65-F5344CB8AC3E}">
        <p14:creationId xmlns:p14="http://schemas.microsoft.com/office/powerpoint/2010/main" val="1911918548"/>
      </p:ext>
    </p:extLst>
  </p:cSld>
  <p:clrMapOvr>
    <a:masterClrMapping/>
  </p:clrMapOvr>
  <p:transition/>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Text Box 2"/>
          <p:cNvSpPr txBox="1">
            <a:spLocks noChangeArrowheads="1"/>
          </p:cNvSpPr>
          <p:nvPr/>
        </p:nvSpPr>
        <p:spPr bwMode="auto">
          <a:xfrm>
            <a:off x="1403176" y="2370048"/>
            <a:ext cx="6326088" cy="8371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rnd">
                <a:solidFill>
                  <a:srgbClr val="000000"/>
                </a:solidFill>
                <a:miter lim="800000"/>
                <a:headEnd/>
                <a:tailEnd/>
              </a14:hiddenLine>
            </a:ext>
          </a:extLst>
        </p:spPr>
        <p:txBody>
          <a:bodyPr wrap="square">
            <a:spAutoFit/>
          </a:bodyPr>
          <a:lstStyle>
            <a:lvl1pPr marL="457200" indent="-457200" eaLnBrk="0" hangingPunct="0">
              <a:defRPr kumimoji="1" sz="2800">
                <a:solidFill>
                  <a:schemeClr val="tx1"/>
                </a:solidFill>
                <a:latin typeface="Comic Sans MS" pitchFamily="66" charset="0"/>
                <a:ea typeface="宋体" pitchFamily="2" charset="-122"/>
              </a:defRPr>
            </a:lvl1pPr>
            <a:lvl2pPr marL="914400" indent="-457200" eaLnBrk="0" hangingPunct="0">
              <a:defRPr kumimoji="1" sz="2800">
                <a:solidFill>
                  <a:schemeClr val="tx1"/>
                </a:solidFill>
                <a:latin typeface="Comic Sans MS" pitchFamily="66" charset="0"/>
                <a:ea typeface="宋体" pitchFamily="2" charset="-122"/>
              </a:defRPr>
            </a:lvl2pPr>
            <a:lvl3pPr marL="1143000" indent="-228600" eaLnBrk="0" hangingPunct="0">
              <a:defRPr kumimoji="1" sz="2800">
                <a:solidFill>
                  <a:schemeClr val="tx1"/>
                </a:solidFill>
                <a:latin typeface="Comic Sans MS" pitchFamily="66" charset="0"/>
                <a:ea typeface="宋体" pitchFamily="2" charset="-122"/>
              </a:defRPr>
            </a:lvl3pPr>
            <a:lvl4pPr marL="1600200" indent="-228600" eaLnBrk="0" hangingPunct="0">
              <a:defRPr kumimoji="1" sz="2800">
                <a:solidFill>
                  <a:schemeClr val="tx1"/>
                </a:solidFill>
                <a:latin typeface="Comic Sans MS" pitchFamily="66" charset="0"/>
                <a:ea typeface="宋体" pitchFamily="2" charset="-122"/>
              </a:defRPr>
            </a:lvl4pPr>
            <a:lvl5pPr marL="2057400" indent="-228600" eaLnBrk="0" hangingPunct="0">
              <a:defRPr kumimoji="1" sz="2800">
                <a:solidFill>
                  <a:schemeClr val="tx1"/>
                </a:solidFill>
                <a:latin typeface="Comic Sans MS" pitchFamily="66" charset="0"/>
                <a:ea typeface="宋体" pitchFamily="2" charset="-122"/>
              </a:defRPr>
            </a:lvl5pPr>
            <a:lvl6pPr marL="2514600" indent="-228600" algn="ctr" eaLnBrk="0" fontAlgn="base" hangingPunct="0">
              <a:spcBef>
                <a:spcPct val="0"/>
              </a:spcBef>
              <a:spcAft>
                <a:spcPct val="0"/>
              </a:spcAft>
              <a:defRPr kumimoji="1" sz="2800">
                <a:solidFill>
                  <a:schemeClr val="tx1"/>
                </a:solidFill>
                <a:latin typeface="Comic Sans MS" pitchFamily="66" charset="0"/>
                <a:ea typeface="宋体" pitchFamily="2" charset="-122"/>
              </a:defRPr>
            </a:lvl6pPr>
            <a:lvl7pPr marL="2971800" indent="-228600" algn="ctr" eaLnBrk="0" fontAlgn="base" hangingPunct="0">
              <a:spcBef>
                <a:spcPct val="0"/>
              </a:spcBef>
              <a:spcAft>
                <a:spcPct val="0"/>
              </a:spcAft>
              <a:defRPr kumimoji="1" sz="2800">
                <a:solidFill>
                  <a:schemeClr val="tx1"/>
                </a:solidFill>
                <a:latin typeface="Comic Sans MS" pitchFamily="66" charset="0"/>
                <a:ea typeface="宋体" pitchFamily="2" charset="-122"/>
              </a:defRPr>
            </a:lvl7pPr>
            <a:lvl8pPr marL="3429000" indent="-228600" algn="ctr" eaLnBrk="0" fontAlgn="base" hangingPunct="0">
              <a:spcBef>
                <a:spcPct val="0"/>
              </a:spcBef>
              <a:spcAft>
                <a:spcPct val="0"/>
              </a:spcAft>
              <a:defRPr kumimoji="1" sz="2800">
                <a:solidFill>
                  <a:schemeClr val="tx1"/>
                </a:solidFill>
                <a:latin typeface="Comic Sans MS" pitchFamily="66" charset="0"/>
                <a:ea typeface="宋体" pitchFamily="2" charset="-122"/>
              </a:defRPr>
            </a:lvl8pPr>
            <a:lvl9pPr marL="3886200" indent="-228600" algn="ctr" eaLnBrk="0" fontAlgn="base" hangingPunct="0">
              <a:spcBef>
                <a:spcPct val="0"/>
              </a:spcBef>
              <a:spcAft>
                <a:spcPct val="0"/>
              </a:spcAft>
              <a:defRPr kumimoji="1" sz="2800">
                <a:solidFill>
                  <a:schemeClr val="tx1"/>
                </a:solidFill>
                <a:latin typeface="Comic Sans MS" pitchFamily="66" charset="0"/>
                <a:ea typeface="宋体" pitchFamily="2" charset="-122"/>
              </a:defRPr>
            </a:lvl9pPr>
          </a:lstStyle>
          <a:p>
            <a:pPr marL="0" indent="0" algn="just">
              <a:spcBef>
                <a:spcPct val="20000"/>
              </a:spcBef>
            </a:pPr>
            <a:r>
              <a:rPr lang="en-US" altLang="zh-CN" sz="2200" dirty="0" err="1">
                <a:latin typeface="Times New Roman" pitchFamily="18" charset="0"/>
                <a:ea typeface="黑体" pitchFamily="49" charset="-122"/>
                <a:cs typeface="Times New Roman" pitchFamily="18" charset="0"/>
              </a:rPr>
              <a:t>Dijkstra</a:t>
            </a:r>
            <a:r>
              <a:rPr lang="zh-CN" altLang="en-US" sz="2200" dirty="0">
                <a:latin typeface="黑体" pitchFamily="49" charset="-122"/>
                <a:ea typeface="黑体" pitchFamily="49" charset="-122"/>
                <a:cs typeface="经典粗黑简" pitchFamily="49" charset="-122"/>
              </a:rPr>
              <a:t>算法</a:t>
            </a:r>
            <a:r>
              <a:rPr lang="en-US" altLang="zh-CN" sz="2200" dirty="0">
                <a:latin typeface="黑体" pitchFamily="49" charset="-122"/>
                <a:ea typeface="黑体" pitchFamily="49" charset="-122"/>
                <a:cs typeface="经典粗黑简" pitchFamily="49" charset="-122"/>
              </a:rPr>
              <a:t>(</a:t>
            </a:r>
            <a:r>
              <a:rPr lang="en-US" altLang="zh-CN" sz="2200" dirty="0">
                <a:latin typeface="Times New Roman" pitchFamily="18" charset="0"/>
                <a:ea typeface="黑体" pitchFamily="49" charset="-122"/>
                <a:cs typeface="Times New Roman" pitchFamily="18" charset="0"/>
              </a:rPr>
              <a:t>1959</a:t>
            </a:r>
            <a:r>
              <a:rPr lang="en-US" altLang="zh-CN" sz="2200" dirty="0">
                <a:latin typeface="黑体" pitchFamily="49" charset="-122"/>
                <a:ea typeface="黑体" pitchFamily="49" charset="-122"/>
                <a:cs typeface="经典粗黑简" pitchFamily="49" charset="-122"/>
              </a:rPr>
              <a:t>)</a:t>
            </a:r>
            <a:r>
              <a:rPr lang="zh-CN" altLang="en-US" sz="2200" dirty="0">
                <a:latin typeface="黑体" pitchFamily="49" charset="-122"/>
                <a:ea typeface="黑体" pitchFamily="49" charset="-122"/>
                <a:cs typeface="经典粗黑简" pitchFamily="49" charset="-122"/>
              </a:rPr>
              <a:t>的基本思想</a:t>
            </a:r>
          </a:p>
          <a:p>
            <a:pPr lvl="1" algn="just">
              <a:spcBef>
                <a:spcPct val="20000"/>
              </a:spcBef>
              <a:buFont typeface="Wingdings" pitchFamily="2" charset="2"/>
              <a:buChar char="Ø"/>
            </a:pPr>
            <a:r>
              <a:rPr lang="zh-CN" altLang="en-US" sz="2200" dirty="0">
                <a:solidFill>
                  <a:srgbClr val="FF0000"/>
                </a:solidFill>
                <a:latin typeface="黑体" pitchFamily="49" charset="-122"/>
                <a:ea typeface="黑体" pitchFamily="49" charset="-122"/>
                <a:cs typeface="经典粗黑简" pitchFamily="49" charset="-122"/>
              </a:rPr>
              <a:t>按路径长度递增顺序</a:t>
            </a:r>
            <a:r>
              <a:rPr lang="zh-CN" altLang="en-US" sz="2200" dirty="0">
                <a:latin typeface="黑体" pitchFamily="49" charset="-122"/>
                <a:ea typeface="黑体" pitchFamily="49" charset="-122"/>
                <a:cs typeface="经典粗黑简" pitchFamily="49" charset="-122"/>
              </a:rPr>
              <a:t>求最短路径算法。</a:t>
            </a:r>
          </a:p>
        </p:txBody>
      </p:sp>
      <p:grpSp>
        <p:nvGrpSpPr>
          <p:cNvPr id="140293" name="Group 5"/>
          <p:cNvGrpSpPr>
            <a:grpSpLocks/>
          </p:cNvGrpSpPr>
          <p:nvPr/>
        </p:nvGrpSpPr>
        <p:grpSpPr bwMode="auto">
          <a:xfrm>
            <a:off x="2089720" y="3573017"/>
            <a:ext cx="3429000" cy="2651125"/>
            <a:chOff x="288" y="2122"/>
            <a:chExt cx="2160" cy="1670"/>
          </a:xfrm>
        </p:grpSpPr>
        <p:sp>
          <p:nvSpPr>
            <p:cNvPr id="140305" name="Text Box 6"/>
            <p:cNvSpPr txBox="1">
              <a:spLocks noChangeArrowheads="1"/>
            </p:cNvSpPr>
            <p:nvPr/>
          </p:nvSpPr>
          <p:spPr bwMode="auto">
            <a:xfrm>
              <a:off x="2208" y="2929"/>
              <a:ext cx="240" cy="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spAutoFit/>
            </a:bodyPr>
            <a:lstStyle>
              <a:lvl1pPr eaLnBrk="0" hangingPunct="0">
                <a:defRPr kumimoji="1" sz="2800">
                  <a:solidFill>
                    <a:schemeClr val="tx1"/>
                  </a:solidFill>
                  <a:latin typeface="Comic Sans MS" pitchFamily="66" charset="0"/>
                  <a:ea typeface="宋体" pitchFamily="2" charset="-122"/>
                </a:defRPr>
              </a:lvl1pPr>
              <a:lvl2pPr marL="742950" indent="-285750" eaLnBrk="0" hangingPunct="0">
                <a:defRPr kumimoji="1" sz="2800">
                  <a:solidFill>
                    <a:schemeClr val="tx1"/>
                  </a:solidFill>
                  <a:latin typeface="Comic Sans MS" pitchFamily="66" charset="0"/>
                  <a:ea typeface="宋体" pitchFamily="2" charset="-122"/>
                </a:defRPr>
              </a:lvl2pPr>
              <a:lvl3pPr marL="1143000" indent="-228600" eaLnBrk="0" hangingPunct="0">
                <a:defRPr kumimoji="1" sz="2800">
                  <a:solidFill>
                    <a:schemeClr val="tx1"/>
                  </a:solidFill>
                  <a:latin typeface="Comic Sans MS" pitchFamily="66" charset="0"/>
                  <a:ea typeface="宋体" pitchFamily="2" charset="-122"/>
                </a:defRPr>
              </a:lvl3pPr>
              <a:lvl4pPr marL="1600200" indent="-228600" eaLnBrk="0" hangingPunct="0">
                <a:defRPr kumimoji="1" sz="2800">
                  <a:solidFill>
                    <a:schemeClr val="tx1"/>
                  </a:solidFill>
                  <a:latin typeface="Comic Sans MS" pitchFamily="66" charset="0"/>
                  <a:ea typeface="宋体" pitchFamily="2" charset="-122"/>
                </a:defRPr>
              </a:lvl4pPr>
              <a:lvl5pPr marL="2057400" indent="-228600" eaLnBrk="0" hangingPunct="0">
                <a:defRPr kumimoji="1" sz="2800">
                  <a:solidFill>
                    <a:schemeClr val="tx1"/>
                  </a:solidFill>
                  <a:latin typeface="Comic Sans MS" pitchFamily="66" charset="0"/>
                  <a:ea typeface="宋体" pitchFamily="2" charset="-122"/>
                </a:defRPr>
              </a:lvl5pPr>
              <a:lvl6pPr marL="25146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6pPr>
              <a:lvl7pPr marL="29718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7pPr>
              <a:lvl8pPr marL="34290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8pPr>
              <a:lvl9pPr marL="38862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9pPr>
            </a:lstStyle>
            <a:p>
              <a:pPr eaLnBrk="1" hangingPunct="1">
                <a:lnSpc>
                  <a:spcPct val="110000"/>
                </a:lnSpc>
                <a:spcBef>
                  <a:spcPct val="50000"/>
                </a:spcBef>
                <a:buClr>
                  <a:schemeClr val="accent1"/>
                </a:buClr>
                <a:buSzPct val="80000"/>
                <a:buFont typeface="Wingdings" pitchFamily="2" charset="2"/>
                <a:buNone/>
              </a:pPr>
              <a:r>
                <a:rPr lang="en-US" altLang="zh-CN" sz="2000" b="1">
                  <a:solidFill>
                    <a:schemeClr val="tx2"/>
                  </a:solidFill>
                  <a:latin typeface="宋体" pitchFamily="2" charset="-122"/>
                </a:rPr>
                <a:t>20</a:t>
              </a:r>
            </a:p>
          </p:txBody>
        </p:sp>
        <p:sp>
          <p:nvSpPr>
            <p:cNvPr id="140306" name="Oval 7"/>
            <p:cNvSpPr>
              <a:spLocks noChangeArrowheads="1"/>
            </p:cNvSpPr>
            <p:nvPr/>
          </p:nvSpPr>
          <p:spPr bwMode="auto">
            <a:xfrm>
              <a:off x="2043" y="2641"/>
              <a:ext cx="309" cy="239"/>
            </a:xfrm>
            <a:prstGeom prst="ellipse">
              <a:avLst/>
            </a:prstGeom>
            <a:solidFill>
              <a:srgbClr val="FFCC99"/>
            </a:solidFill>
            <a:ln w="9525">
              <a:solidFill>
                <a:srgbClr val="000000"/>
              </a:solidFill>
              <a:round/>
              <a:headEnd/>
              <a:tailEnd/>
            </a:ln>
          </p:spPr>
          <p:txBody>
            <a:bodyPr lIns="0" tIns="36000" rIns="0" bIns="0"/>
            <a:lstStyle/>
            <a:p>
              <a:pPr eaLnBrk="0" hangingPunct="0">
                <a:lnSpc>
                  <a:spcPct val="72000"/>
                </a:lnSpc>
              </a:pPr>
              <a:r>
                <a:rPr lang="en-US" altLang="zh-CN" sz="2400" b="1">
                  <a:latin typeface="Times New Roman" pitchFamily="18" charset="0"/>
                </a:rPr>
                <a:t>V</a:t>
              </a:r>
              <a:r>
                <a:rPr lang="en-US" altLang="zh-CN" sz="2400" b="1" baseline="-16000">
                  <a:latin typeface="Times New Roman" pitchFamily="18" charset="0"/>
                </a:rPr>
                <a:t>4</a:t>
              </a:r>
              <a:endParaRPr lang="en-US" altLang="zh-CN" sz="2400">
                <a:latin typeface="Times New Roman" pitchFamily="18" charset="0"/>
              </a:endParaRPr>
            </a:p>
          </p:txBody>
        </p:sp>
        <p:sp>
          <p:nvSpPr>
            <p:cNvPr id="140307" name="Oval 8"/>
            <p:cNvSpPr>
              <a:spLocks noChangeArrowheads="1"/>
            </p:cNvSpPr>
            <p:nvPr/>
          </p:nvSpPr>
          <p:spPr bwMode="auto">
            <a:xfrm>
              <a:off x="1248" y="2122"/>
              <a:ext cx="309" cy="231"/>
            </a:xfrm>
            <a:prstGeom prst="ellipse">
              <a:avLst/>
            </a:prstGeom>
            <a:solidFill>
              <a:srgbClr val="FFCC99"/>
            </a:solidFill>
            <a:ln w="9525">
              <a:solidFill>
                <a:srgbClr val="000000"/>
              </a:solidFill>
              <a:round/>
              <a:headEnd/>
              <a:tailEnd/>
            </a:ln>
          </p:spPr>
          <p:txBody>
            <a:bodyPr lIns="0" tIns="36000" rIns="0" bIns="0"/>
            <a:lstStyle/>
            <a:p>
              <a:pPr eaLnBrk="0" hangingPunct="0">
                <a:lnSpc>
                  <a:spcPct val="72000"/>
                </a:lnSpc>
              </a:pPr>
              <a:r>
                <a:rPr lang="en-US" altLang="zh-CN" sz="2400" b="1">
                  <a:latin typeface="Times New Roman" pitchFamily="18" charset="0"/>
                </a:rPr>
                <a:t>V</a:t>
              </a:r>
              <a:r>
                <a:rPr lang="en-US" altLang="zh-CN" sz="2400" b="1" baseline="-16000">
                  <a:latin typeface="Times New Roman" pitchFamily="18" charset="0"/>
                </a:rPr>
                <a:t>5</a:t>
              </a:r>
              <a:endParaRPr lang="en-US" altLang="zh-CN" sz="2400">
                <a:latin typeface="Times New Roman" pitchFamily="18" charset="0"/>
              </a:endParaRPr>
            </a:p>
          </p:txBody>
        </p:sp>
        <p:sp>
          <p:nvSpPr>
            <p:cNvPr id="140308" name="Oval 9"/>
            <p:cNvSpPr>
              <a:spLocks noChangeArrowheads="1"/>
            </p:cNvSpPr>
            <p:nvPr/>
          </p:nvSpPr>
          <p:spPr bwMode="auto">
            <a:xfrm>
              <a:off x="528" y="2641"/>
              <a:ext cx="309" cy="249"/>
            </a:xfrm>
            <a:prstGeom prst="ellipse">
              <a:avLst/>
            </a:prstGeom>
            <a:solidFill>
              <a:srgbClr val="FFCC99"/>
            </a:solidFill>
            <a:ln w="9525">
              <a:solidFill>
                <a:srgbClr val="000000"/>
              </a:solidFill>
              <a:round/>
              <a:headEnd/>
              <a:tailEnd/>
            </a:ln>
          </p:spPr>
          <p:txBody>
            <a:bodyPr lIns="0" tIns="36000" rIns="0" bIns="0"/>
            <a:lstStyle/>
            <a:p>
              <a:pPr eaLnBrk="0" hangingPunct="0">
                <a:lnSpc>
                  <a:spcPct val="72000"/>
                </a:lnSpc>
              </a:pPr>
              <a:r>
                <a:rPr lang="en-US" altLang="zh-CN" sz="2400" b="1">
                  <a:latin typeface="Times New Roman" pitchFamily="18" charset="0"/>
                </a:rPr>
                <a:t>V</a:t>
              </a:r>
              <a:r>
                <a:rPr lang="en-US" altLang="zh-CN" sz="2400" b="1" baseline="-16000">
                  <a:latin typeface="Times New Roman" pitchFamily="18" charset="0"/>
                </a:rPr>
                <a:t>0</a:t>
              </a:r>
              <a:endParaRPr lang="en-US" altLang="zh-CN" sz="2400">
                <a:latin typeface="Times New Roman" pitchFamily="18" charset="0"/>
              </a:endParaRPr>
            </a:p>
          </p:txBody>
        </p:sp>
        <p:sp>
          <p:nvSpPr>
            <p:cNvPr id="140309" name="Oval 10"/>
            <p:cNvSpPr>
              <a:spLocks noChangeArrowheads="1"/>
            </p:cNvSpPr>
            <p:nvPr/>
          </p:nvSpPr>
          <p:spPr bwMode="auto">
            <a:xfrm>
              <a:off x="1248" y="3553"/>
              <a:ext cx="309" cy="239"/>
            </a:xfrm>
            <a:prstGeom prst="ellipse">
              <a:avLst/>
            </a:prstGeom>
            <a:solidFill>
              <a:srgbClr val="FFCC99"/>
            </a:solidFill>
            <a:ln w="9525">
              <a:solidFill>
                <a:srgbClr val="000000"/>
              </a:solidFill>
              <a:round/>
              <a:headEnd/>
              <a:tailEnd/>
            </a:ln>
          </p:spPr>
          <p:txBody>
            <a:bodyPr lIns="0" tIns="36000" rIns="0" bIns="0"/>
            <a:lstStyle/>
            <a:p>
              <a:pPr eaLnBrk="0" hangingPunct="0">
                <a:lnSpc>
                  <a:spcPct val="72000"/>
                </a:lnSpc>
              </a:pPr>
              <a:r>
                <a:rPr lang="en-US" altLang="zh-CN" sz="2400" b="1">
                  <a:latin typeface="Times New Roman" pitchFamily="18" charset="0"/>
                </a:rPr>
                <a:t>V</a:t>
              </a:r>
              <a:r>
                <a:rPr lang="en-US" altLang="zh-CN" sz="2400" b="1" baseline="-16000">
                  <a:latin typeface="Times New Roman" pitchFamily="18" charset="0"/>
                </a:rPr>
                <a:t>2</a:t>
              </a:r>
              <a:endParaRPr lang="en-US" altLang="zh-CN" sz="2400">
                <a:latin typeface="Times New Roman" pitchFamily="18" charset="0"/>
              </a:endParaRPr>
            </a:p>
          </p:txBody>
        </p:sp>
        <p:sp>
          <p:nvSpPr>
            <p:cNvPr id="140310" name="Line 11"/>
            <p:cNvSpPr>
              <a:spLocks noChangeShapeType="1"/>
            </p:cNvSpPr>
            <p:nvPr/>
          </p:nvSpPr>
          <p:spPr bwMode="auto">
            <a:xfrm flipV="1">
              <a:off x="768" y="2314"/>
              <a:ext cx="528" cy="327"/>
            </a:xfrm>
            <a:prstGeom prst="line">
              <a:avLst/>
            </a:prstGeom>
            <a:noFill/>
            <a:ln w="12700">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40311" name="Line 12"/>
            <p:cNvSpPr>
              <a:spLocks noChangeShapeType="1"/>
            </p:cNvSpPr>
            <p:nvPr/>
          </p:nvSpPr>
          <p:spPr bwMode="auto">
            <a:xfrm>
              <a:off x="816" y="2881"/>
              <a:ext cx="480" cy="672"/>
            </a:xfrm>
            <a:prstGeom prst="line">
              <a:avLst/>
            </a:prstGeom>
            <a:noFill/>
            <a:ln w="12700">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40312" name="Line 13"/>
            <p:cNvSpPr>
              <a:spLocks noChangeShapeType="1"/>
            </p:cNvSpPr>
            <p:nvPr/>
          </p:nvSpPr>
          <p:spPr bwMode="auto">
            <a:xfrm>
              <a:off x="1536" y="2314"/>
              <a:ext cx="528" cy="375"/>
            </a:xfrm>
            <a:prstGeom prst="line">
              <a:avLst/>
            </a:prstGeom>
            <a:noFill/>
            <a:ln w="12700">
              <a:solidFill>
                <a:schemeClr val="tx1"/>
              </a:solidFill>
              <a:miter lim="800000"/>
              <a:headEnd type="triangle" w="med" len="me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40313" name="Line 14"/>
            <p:cNvSpPr>
              <a:spLocks noChangeShapeType="1"/>
            </p:cNvSpPr>
            <p:nvPr/>
          </p:nvSpPr>
          <p:spPr bwMode="auto">
            <a:xfrm flipV="1">
              <a:off x="1488" y="3409"/>
              <a:ext cx="528" cy="192"/>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40314" name="Oval 15"/>
            <p:cNvSpPr>
              <a:spLocks noChangeArrowheads="1"/>
            </p:cNvSpPr>
            <p:nvPr/>
          </p:nvSpPr>
          <p:spPr bwMode="auto">
            <a:xfrm>
              <a:off x="2016" y="3265"/>
              <a:ext cx="309" cy="239"/>
            </a:xfrm>
            <a:prstGeom prst="ellipse">
              <a:avLst/>
            </a:prstGeom>
            <a:solidFill>
              <a:srgbClr val="FFCC99"/>
            </a:solidFill>
            <a:ln w="9525">
              <a:solidFill>
                <a:srgbClr val="000000"/>
              </a:solidFill>
              <a:round/>
              <a:headEnd/>
              <a:tailEnd/>
            </a:ln>
          </p:spPr>
          <p:txBody>
            <a:bodyPr lIns="0" tIns="36000" rIns="0" bIns="0"/>
            <a:lstStyle/>
            <a:p>
              <a:pPr eaLnBrk="0" hangingPunct="0">
                <a:lnSpc>
                  <a:spcPct val="72000"/>
                </a:lnSpc>
              </a:pPr>
              <a:r>
                <a:rPr lang="en-US" altLang="zh-CN" sz="2400" b="1">
                  <a:latin typeface="Times New Roman" pitchFamily="18" charset="0"/>
                </a:rPr>
                <a:t>V</a:t>
              </a:r>
              <a:r>
                <a:rPr lang="en-US" altLang="zh-CN" sz="2400" b="1" baseline="-16000">
                  <a:latin typeface="Times New Roman" pitchFamily="18" charset="0"/>
                </a:rPr>
                <a:t>3</a:t>
              </a:r>
              <a:endParaRPr lang="en-US" altLang="zh-CN" sz="2400">
                <a:latin typeface="Times New Roman" pitchFamily="18" charset="0"/>
              </a:endParaRPr>
            </a:p>
          </p:txBody>
        </p:sp>
        <p:sp>
          <p:nvSpPr>
            <p:cNvPr id="140315" name="Line 16"/>
            <p:cNvSpPr>
              <a:spLocks noChangeShapeType="1"/>
            </p:cNvSpPr>
            <p:nvPr/>
          </p:nvSpPr>
          <p:spPr bwMode="auto">
            <a:xfrm>
              <a:off x="624" y="3265"/>
              <a:ext cx="624" cy="384"/>
            </a:xfrm>
            <a:prstGeom prst="line">
              <a:avLst/>
            </a:prstGeom>
            <a:noFill/>
            <a:ln w="12700">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40316" name="Oval 17"/>
            <p:cNvSpPr>
              <a:spLocks noChangeArrowheads="1"/>
            </p:cNvSpPr>
            <p:nvPr/>
          </p:nvSpPr>
          <p:spPr bwMode="auto">
            <a:xfrm>
              <a:off x="288" y="3121"/>
              <a:ext cx="309" cy="239"/>
            </a:xfrm>
            <a:prstGeom prst="ellipse">
              <a:avLst/>
            </a:prstGeom>
            <a:solidFill>
              <a:srgbClr val="FFCC99"/>
            </a:solidFill>
            <a:ln w="9525">
              <a:solidFill>
                <a:srgbClr val="000000"/>
              </a:solidFill>
              <a:round/>
              <a:headEnd/>
              <a:tailEnd/>
            </a:ln>
          </p:spPr>
          <p:txBody>
            <a:bodyPr lIns="0" tIns="36000" rIns="0" bIns="0"/>
            <a:lstStyle/>
            <a:p>
              <a:pPr eaLnBrk="0" hangingPunct="0">
                <a:lnSpc>
                  <a:spcPct val="72000"/>
                </a:lnSpc>
              </a:pPr>
              <a:r>
                <a:rPr lang="en-US" altLang="zh-CN" sz="2400" b="1">
                  <a:latin typeface="Times New Roman" pitchFamily="18" charset="0"/>
                </a:rPr>
                <a:t>V</a:t>
              </a:r>
              <a:r>
                <a:rPr lang="en-US" altLang="zh-CN" sz="2400" b="1" baseline="-16000">
                  <a:latin typeface="Times New Roman" pitchFamily="18" charset="0"/>
                </a:rPr>
                <a:t>1</a:t>
              </a:r>
              <a:endParaRPr lang="en-US" altLang="zh-CN" sz="2400">
                <a:latin typeface="Times New Roman" pitchFamily="18" charset="0"/>
              </a:endParaRPr>
            </a:p>
          </p:txBody>
        </p:sp>
        <p:sp>
          <p:nvSpPr>
            <p:cNvPr id="140317" name="Text Box 18"/>
            <p:cNvSpPr txBox="1">
              <a:spLocks noChangeArrowheads="1"/>
            </p:cNvSpPr>
            <p:nvPr/>
          </p:nvSpPr>
          <p:spPr bwMode="auto">
            <a:xfrm>
              <a:off x="672" y="2209"/>
              <a:ext cx="480" cy="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spAutoFit/>
            </a:bodyPr>
            <a:lstStyle>
              <a:lvl1pPr eaLnBrk="0" hangingPunct="0">
                <a:defRPr kumimoji="1" sz="2800">
                  <a:solidFill>
                    <a:schemeClr val="tx1"/>
                  </a:solidFill>
                  <a:latin typeface="Comic Sans MS" pitchFamily="66" charset="0"/>
                  <a:ea typeface="宋体" pitchFamily="2" charset="-122"/>
                </a:defRPr>
              </a:lvl1pPr>
              <a:lvl2pPr marL="742950" indent="-285750" eaLnBrk="0" hangingPunct="0">
                <a:defRPr kumimoji="1" sz="2800">
                  <a:solidFill>
                    <a:schemeClr val="tx1"/>
                  </a:solidFill>
                  <a:latin typeface="Comic Sans MS" pitchFamily="66" charset="0"/>
                  <a:ea typeface="宋体" pitchFamily="2" charset="-122"/>
                </a:defRPr>
              </a:lvl2pPr>
              <a:lvl3pPr marL="1143000" indent="-228600" eaLnBrk="0" hangingPunct="0">
                <a:defRPr kumimoji="1" sz="2800">
                  <a:solidFill>
                    <a:schemeClr val="tx1"/>
                  </a:solidFill>
                  <a:latin typeface="Comic Sans MS" pitchFamily="66" charset="0"/>
                  <a:ea typeface="宋体" pitchFamily="2" charset="-122"/>
                </a:defRPr>
              </a:lvl3pPr>
              <a:lvl4pPr marL="1600200" indent="-228600" eaLnBrk="0" hangingPunct="0">
                <a:defRPr kumimoji="1" sz="2800">
                  <a:solidFill>
                    <a:schemeClr val="tx1"/>
                  </a:solidFill>
                  <a:latin typeface="Comic Sans MS" pitchFamily="66" charset="0"/>
                  <a:ea typeface="宋体" pitchFamily="2" charset="-122"/>
                </a:defRPr>
              </a:lvl4pPr>
              <a:lvl5pPr marL="2057400" indent="-228600" eaLnBrk="0" hangingPunct="0">
                <a:defRPr kumimoji="1" sz="2800">
                  <a:solidFill>
                    <a:schemeClr val="tx1"/>
                  </a:solidFill>
                  <a:latin typeface="Comic Sans MS" pitchFamily="66" charset="0"/>
                  <a:ea typeface="宋体" pitchFamily="2" charset="-122"/>
                </a:defRPr>
              </a:lvl5pPr>
              <a:lvl6pPr marL="25146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6pPr>
              <a:lvl7pPr marL="29718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7pPr>
              <a:lvl8pPr marL="34290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8pPr>
              <a:lvl9pPr marL="38862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9pPr>
            </a:lstStyle>
            <a:p>
              <a:pPr eaLnBrk="1" hangingPunct="1">
                <a:lnSpc>
                  <a:spcPct val="110000"/>
                </a:lnSpc>
                <a:spcBef>
                  <a:spcPct val="50000"/>
                </a:spcBef>
                <a:buClr>
                  <a:schemeClr val="accent1"/>
                </a:buClr>
                <a:buSzPct val="80000"/>
                <a:buFont typeface="Wingdings" pitchFamily="2" charset="2"/>
                <a:buNone/>
              </a:pPr>
              <a:r>
                <a:rPr lang="en-US" altLang="zh-CN" sz="2000" b="1" dirty="0">
                  <a:solidFill>
                    <a:schemeClr val="tx2"/>
                  </a:solidFill>
                  <a:latin typeface="宋体" pitchFamily="2" charset="-122"/>
                </a:rPr>
                <a:t>100</a:t>
              </a:r>
            </a:p>
          </p:txBody>
        </p:sp>
        <p:sp>
          <p:nvSpPr>
            <p:cNvPr id="140318" name="Text Box 19"/>
            <p:cNvSpPr txBox="1">
              <a:spLocks noChangeArrowheads="1"/>
            </p:cNvSpPr>
            <p:nvPr/>
          </p:nvSpPr>
          <p:spPr bwMode="auto">
            <a:xfrm>
              <a:off x="912" y="2977"/>
              <a:ext cx="480" cy="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spAutoFit/>
            </a:bodyPr>
            <a:lstStyle>
              <a:lvl1pPr eaLnBrk="0" hangingPunct="0">
                <a:defRPr kumimoji="1" sz="2800">
                  <a:solidFill>
                    <a:schemeClr val="tx1"/>
                  </a:solidFill>
                  <a:latin typeface="Comic Sans MS" pitchFamily="66" charset="0"/>
                  <a:ea typeface="宋体" pitchFamily="2" charset="-122"/>
                </a:defRPr>
              </a:lvl1pPr>
              <a:lvl2pPr marL="742950" indent="-285750" eaLnBrk="0" hangingPunct="0">
                <a:defRPr kumimoji="1" sz="2800">
                  <a:solidFill>
                    <a:schemeClr val="tx1"/>
                  </a:solidFill>
                  <a:latin typeface="Comic Sans MS" pitchFamily="66" charset="0"/>
                  <a:ea typeface="宋体" pitchFamily="2" charset="-122"/>
                </a:defRPr>
              </a:lvl2pPr>
              <a:lvl3pPr marL="1143000" indent="-228600" eaLnBrk="0" hangingPunct="0">
                <a:defRPr kumimoji="1" sz="2800">
                  <a:solidFill>
                    <a:schemeClr val="tx1"/>
                  </a:solidFill>
                  <a:latin typeface="Comic Sans MS" pitchFamily="66" charset="0"/>
                  <a:ea typeface="宋体" pitchFamily="2" charset="-122"/>
                </a:defRPr>
              </a:lvl3pPr>
              <a:lvl4pPr marL="1600200" indent="-228600" eaLnBrk="0" hangingPunct="0">
                <a:defRPr kumimoji="1" sz="2800">
                  <a:solidFill>
                    <a:schemeClr val="tx1"/>
                  </a:solidFill>
                  <a:latin typeface="Comic Sans MS" pitchFamily="66" charset="0"/>
                  <a:ea typeface="宋体" pitchFamily="2" charset="-122"/>
                </a:defRPr>
              </a:lvl4pPr>
              <a:lvl5pPr marL="2057400" indent="-228600" eaLnBrk="0" hangingPunct="0">
                <a:defRPr kumimoji="1" sz="2800">
                  <a:solidFill>
                    <a:schemeClr val="tx1"/>
                  </a:solidFill>
                  <a:latin typeface="Comic Sans MS" pitchFamily="66" charset="0"/>
                  <a:ea typeface="宋体" pitchFamily="2" charset="-122"/>
                </a:defRPr>
              </a:lvl5pPr>
              <a:lvl6pPr marL="25146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6pPr>
              <a:lvl7pPr marL="29718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7pPr>
              <a:lvl8pPr marL="34290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8pPr>
              <a:lvl9pPr marL="38862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9pPr>
            </a:lstStyle>
            <a:p>
              <a:pPr eaLnBrk="1" hangingPunct="1">
                <a:lnSpc>
                  <a:spcPct val="110000"/>
                </a:lnSpc>
                <a:spcBef>
                  <a:spcPct val="50000"/>
                </a:spcBef>
                <a:buClr>
                  <a:schemeClr val="accent1"/>
                </a:buClr>
                <a:buSzPct val="80000"/>
                <a:buFont typeface="Wingdings" pitchFamily="2" charset="2"/>
                <a:buNone/>
              </a:pPr>
              <a:r>
                <a:rPr lang="en-US" altLang="zh-CN" sz="2000" b="1">
                  <a:solidFill>
                    <a:schemeClr val="tx2"/>
                  </a:solidFill>
                  <a:latin typeface="宋体" pitchFamily="2" charset="-122"/>
                </a:rPr>
                <a:t>10</a:t>
              </a:r>
            </a:p>
          </p:txBody>
        </p:sp>
        <p:sp>
          <p:nvSpPr>
            <p:cNvPr id="140319" name="Text Box 20"/>
            <p:cNvSpPr txBox="1">
              <a:spLocks noChangeArrowheads="1"/>
            </p:cNvSpPr>
            <p:nvPr/>
          </p:nvSpPr>
          <p:spPr bwMode="auto">
            <a:xfrm>
              <a:off x="576" y="3198"/>
              <a:ext cx="480" cy="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spAutoFit/>
            </a:bodyPr>
            <a:lstStyle>
              <a:lvl1pPr eaLnBrk="0" hangingPunct="0">
                <a:defRPr kumimoji="1" sz="2800">
                  <a:solidFill>
                    <a:schemeClr val="tx1"/>
                  </a:solidFill>
                  <a:latin typeface="Comic Sans MS" pitchFamily="66" charset="0"/>
                  <a:ea typeface="宋体" pitchFamily="2" charset="-122"/>
                </a:defRPr>
              </a:lvl1pPr>
              <a:lvl2pPr marL="742950" indent="-285750" eaLnBrk="0" hangingPunct="0">
                <a:defRPr kumimoji="1" sz="2800">
                  <a:solidFill>
                    <a:schemeClr val="tx1"/>
                  </a:solidFill>
                  <a:latin typeface="Comic Sans MS" pitchFamily="66" charset="0"/>
                  <a:ea typeface="宋体" pitchFamily="2" charset="-122"/>
                </a:defRPr>
              </a:lvl2pPr>
              <a:lvl3pPr marL="1143000" indent="-228600" eaLnBrk="0" hangingPunct="0">
                <a:defRPr kumimoji="1" sz="2800">
                  <a:solidFill>
                    <a:schemeClr val="tx1"/>
                  </a:solidFill>
                  <a:latin typeface="Comic Sans MS" pitchFamily="66" charset="0"/>
                  <a:ea typeface="宋体" pitchFamily="2" charset="-122"/>
                </a:defRPr>
              </a:lvl3pPr>
              <a:lvl4pPr marL="1600200" indent="-228600" eaLnBrk="0" hangingPunct="0">
                <a:defRPr kumimoji="1" sz="2800">
                  <a:solidFill>
                    <a:schemeClr val="tx1"/>
                  </a:solidFill>
                  <a:latin typeface="Comic Sans MS" pitchFamily="66" charset="0"/>
                  <a:ea typeface="宋体" pitchFamily="2" charset="-122"/>
                </a:defRPr>
              </a:lvl4pPr>
              <a:lvl5pPr marL="2057400" indent="-228600" eaLnBrk="0" hangingPunct="0">
                <a:defRPr kumimoji="1" sz="2800">
                  <a:solidFill>
                    <a:schemeClr val="tx1"/>
                  </a:solidFill>
                  <a:latin typeface="Comic Sans MS" pitchFamily="66" charset="0"/>
                  <a:ea typeface="宋体" pitchFamily="2" charset="-122"/>
                </a:defRPr>
              </a:lvl5pPr>
              <a:lvl6pPr marL="25146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6pPr>
              <a:lvl7pPr marL="29718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7pPr>
              <a:lvl8pPr marL="34290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8pPr>
              <a:lvl9pPr marL="38862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9pPr>
            </a:lstStyle>
            <a:p>
              <a:pPr eaLnBrk="1" hangingPunct="1">
                <a:lnSpc>
                  <a:spcPct val="110000"/>
                </a:lnSpc>
                <a:spcBef>
                  <a:spcPct val="50000"/>
                </a:spcBef>
                <a:buClr>
                  <a:schemeClr val="accent1"/>
                </a:buClr>
                <a:buSzPct val="80000"/>
                <a:buFont typeface="Wingdings" pitchFamily="2" charset="2"/>
                <a:buNone/>
              </a:pPr>
              <a:r>
                <a:rPr lang="en-US" altLang="zh-CN" sz="2000" b="1">
                  <a:solidFill>
                    <a:schemeClr val="tx2"/>
                  </a:solidFill>
                  <a:latin typeface="宋体" pitchFamily="2" charset="-122"/>
                </a:rPr>
                <a:t>5</a:t>
              </a:r>
            </a:p>
          </p:txBody>
        </p:sp>
        <p:sp>
          <p:nvSpPr>
            <p:cNvPr id="140320" name="Text Box 21"/>
            <p:cNvSpPr txBox="1">
              <a:spLocks noChangeArrowheads="1"/>
            </p:cNvSpPr>
            <p:nvPr/>
          </p:nvSpPr>
          <p:spPr bwMode="auto">
            <a:xfrm>
              <a:off x="1680" y="2257"/>
              <a:ext cx="336" cy="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spAutoFit/>
            </a:bodyPr>
            <a:lstStyle>
              <a:lvl1pPr eaLnBrk="0" hangingPunct="0">
                <a:defRPr kumimoji="1" sz="2800">
                  <a:solidFill>
                    <a:schemeClr val="tx1"/>
                  </a:solidFill>
                  <a:latin typeface="Comic Sans MS" pitchFamily="66" charset="0"/>
                  <a:ea typeface="宋体" pitchFamily="2" charset="-122"/>
                </a:defRPr>
              </a:lvl1pPr>
              <a:lvl2pPr marL="742950" indent="-285750" eaLnBrk="0" hangingPunct="0">
                <a:defRPr kumimoji="1" sz="2800">
                  <a:solidFill>
                    <a:schemeClr val="tx1"/>
                  </a:solidFill>
                  <a:latin typeface="Comic Sans MS" pitchFamily="66" charset="0"/>
                  <a:ea typeface="宋体" pitchFamily="2" charset="-122"/>
                </a:defRPr>
              </a:lvl2pPr>
              <a:lvl3pPr marL="1143000" indent="-228600" eaLnBrk="0" hangingPunct="0">
                <a:defRPr kumimoji="1" sz="2800">
                  <a:solidFill>
                    <a:schemeClr val="tx1"/>
                  </a:solidFill>
                  <a:latin typeface="Comic Sans MS" pitchFamily="66" charset="0"/>
                  <a:ea typeface="宋体" pitchFamily="2" charset="-122"/>
                </a:defRPr>
              </a:lvl3pPr>
              <a:lvl4pPr marL="1600200" indent="-228600" eaLnBrk="0" hangingPunct="0">
                <a:defRPr kumimoji="1" sz="2800">
                  <a:solidFill>
                    <a:schemeClr val="tx1"/>
                  </a:solidFill>
                  <a:latin typeface="Comic Sans MS" pitchFamily="66" charset="0"/>
                  <a:ea typeface="宋体" pitchFamily="2" charset="-122"/>
                </a:defRPr>
              </a:lvl4pPr>
              <a:lvl5pPr marL="2057400" indent="-228600" eaLnBrk="0" hangingPunct="0">
                <a:defRPr kumimoji="1" sz="2800">
                  <a:solidFill>
                    <a:schemeClr val="tx1"/>
                  </a:solidFill>
                  <a:latin typeface="Comic Sans MS" pitchFamily="66" charset="0"/>
                  <a:ea typeface="宋体" pitchFamily="2" charset="-122"/>
                </a:defRPr>
              </a:lvl5pPr>
              <a:lvl6pPr marL="25146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6pPr>
              <a:lvl7pPr marL="29718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7pPr>
              <a:lvl8pPr marL="34290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8pPr>
              <a:lvl9pPr marL="38862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9pPr>
            </a:lstStyle>
            <a:p>
              <a:pPr eaLnBrk="1" hangingPunct="1">
                <a:lnSpc>
                  <a:spcPct val="110000"/>
                </a:lnSpc>
                <a:spcBef>
                  <a:spcPct val="50000"/>
                </a:spcBef>
                <a:buClr>
                  <a:schemeClr val="accent1"/>
                </a:buClr>
                <a:buSzPct val="80000"/>
                <a:buFont typeface="Wingdings" pitchFamily="2" charset="2"/>
                <a:buNone/>
              </a:pPr>
              <a:r>
                <a:rPr lang="en-US" altLang="zh-CN" sz="2000" b="1">
                  <a:solidFill>
                    <a:schemeClr val="tx2"/>
                  </a:solidFill>
                  <a:latin typeface="宋体" pitchFamily="2" charset="-122"/>
                </a:rPr>
                <a:t>60</a:t>
              </a:r>
            </a:p>
          </p:txBody>
        </p:sp>
        <p:sp>
          <p:nvSpPr>
            <p:cNvPr id="140321" name="Text Box 22"/>
            <p:cNvSpPr txBox="1">
              <a:spLocks noChangeArrowheads="1"/>
            </p:cNvSpPr>
            <p:nvPr/>
          </p:nvSpPr>
          <p:spPr bwMode="auto">
            <a:xfrm>
              <a:off x="1440" y="2785"/>
              <a:ext cx="480" cy="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spAutoFit/>
            </a:bodyPr>
            <a:lstStyle>
              <a:lvl1pPr eaLnBrk="0" hangingPunct="0">
                <a:defRPr kumimoji="1" sz="2800">
                  <a:solidFill>
                    <a:schemeClr val="tx1"/>
                  </a:solidFill>
                  <a:latin typeface="Comic Sans MS" pitchFamily="66" charset="0"/>
                  <a:ea typeface="宋体" pitchFamily="2" charset="-122"/>
                </a:defRPr>
              </a:lvl1pPr>
              <a:lvl2pPr marL="742950" indent="-285750" eaLnBrk="0" hangingPunct="0">
                <a:defRPr kumimoji="1" sz="2800">
                  <a:solidFill>
                    <a:schemeClr val="tx1"/>
                  </a:solidFill>
                  <a:latin typeface="Comic Sans MS" pitchFamily="66" charset="0"/>
                  <a:ea typeface="宋体" pitchFamily="2" charset="-122"/>
                </a:defRPr>
              </a:lvl2pPr>
              <a:lvl3pPr marL="1143000" indent="-228600" eaLnBrk="0" hangingPunct="0">
                <a:defRPr kumimoji="1" sz="2800">
                  <a:solidFill>
                    <a:schemeClr val="tx1"/>
                  </a:solidFill>
                  <a:latin typeface="Comic Sans MS" pitchFamily="66" charset="0"/>
                  <a:ea typeface="宋体" pitchFamily="2" charset="-122"/>
                </a:defRPr>
              </a:lvl3pPr>
              <a:lvl4pPr marL="1600200" indent="-228600" eaLnBrk="0" hangingPunct="0">
                <a:defRPr kumimoji="1" sz="2800">
                  <a:solidFill>
                    <a:schemeClr val="tx1"/>
                  </a:solidFill>
                  <a:latin typeface="Comic Sans MS" pitchFamily="66" charset="0"/>
                  <a:ea typeface="宋体" pitchFamily="2" charset="-122"/>
                </a:defRPr>
              </a:lvl4pPr>
              <a:lvl5pPr marL="2057400" indent="-228600" eaLnBrk="0" hangingPunct="0">
                <a:defRPr kumimoji="1" sz="2800">
                  <a:solidFill>
                    <a:schemeClr val="tx1"/>
                  </a:solidFill>
                  <a:latin typeface="Comic Sans MS" pitchFamily="66" charset="0"/>
                  <a:ea typeface="宋体" pitchFamily="2" charset="-122"/>
                </a:defRPr>
              </a:lvl5pPr>
              <a:lvl6pPr marL="25146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6pPr>
              <a:lvl7pPr marL="29718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7pPr>
              <a:lvl8pPr marL="34290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8pPr>
              <a:lvl9pPr marL="38862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9pPr>
            </a:lstStyle>
            <a:p>
              <a:pPr eaLnBrk="1" hangingPunct="1">
                <a:lnSpc>
                  <a:spcPct val="110000"/>
                </a:lnSpc>
                <a:spcBef>
                  <a:spcPct val="50000"/>
                </a:spcBef>
                <a:buClr>
                  <a:schemeClr val="accent1"/>
                </a:buClr>
                <a:buSzPct val="80000"/>
                <a:buFont typeface="Wingdings" pitchFamily="2" charset="2"/>
                <a:buNone/>
              </a:pPr>
              <a:r>
                <a:rPr lang="en-US" altLang="zh-CN" sz="2000" b="1">
                  <a:solidFill>
                    <a:schemeClr val="tx2"/>
                  </a:solidFill>
                  <a:latin typeface="宋体" pitchFamily="2" charset="-122"/>
                </a:rPr>
                <a:t>10</a:t>
              </a:r>
            </a:p>
          </p:txBody>
        </p:sp>
        <p:sp>
          <p:nvSpPr>
            <p:cNvPr id="140322" name="Text Box 23"/>
            <p:cNvSpPr txBox="1">
              <a:spLocks noChangeArrowheads="1"/>
            </p:cNvSpPr>
            <p:nvPr/>
          </p:nvSpPr>
          <p:spPr bwMode="auto">
            <a:xfrm>
              <a:off x="1488" y="3313"/>
              <a:ext cx="480" cy="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spAutoFit/>
            </a:bodyPr>
            <a:lstStyle>
              <a:lvl1pPr eaLnBrk="0" hangingPunct="0">
                <a:defRPr kumimoji="1" sz="2800">
                  <a:solidFill>
                    <a:schemeClr val="tx1"/>
                  </a:solidFill>
                  <a:latin typeface="Comic Sans MS" pitchFamily="66" charset="0"/>
                  <a:ea typeface="宋体" pitchFamily="2" charset="-122"/>
                </a:defRPr>
              </a:lvl1pPr>
              <a:lvl2pPr marL="742950" indent="-285750" eaLnBrk="0" hangingPunct="0">
                <a:defRPr kumimoji="1" sz="2800">
                  <a:solidFill>
                    <a:schemeClr val="tx1"/>
                  </a:solidFill>
                  <a:latin typeface="Comic Sans MS" pitchFamily="66" charset="0"/>
                  <a:ea typeface="宋体" pitchFamily="2" charset="-122"/>
                </a:defRPr>
              </a:lvl2pPr>
              <a:lvl3pPr marL="1143000" indent="-228600" eaLnBrk="0" hangingPunct="0">
                <a:defRPr kumimoji="1" sz="2800">
                  <a:solidFill>
                    <a:schemeClr val="tx1"/>
                  </a:solidFill>
                  <a:latin typeface="Comic Sans MS" pitchFamily="66" charset="0"/>
                  <a:ea typeface="宋体" pitchFamily="2" charset="-122"/>
                </a:defRPr>
              </a:lvl3pPr>
              <a:lvl4pPr marL="1600200" indent="-228600" eaLnBrk="0" hangingPunct="0">
                <a:defRPr kumimoji="1" sz="2800">
                  <a:solidFill>
                    <a:schemeClr val="tx1"/>
                  </a:solidFill>
                  <a:latin typeface="Comic Sans MS" pitchFamily="66" charset="0"/>
                  <a:ea typeface="宋体" pitchFamily="2" charset="-122"/>
                </a:defRPr>
              </a:lvl4pPr>
              <a:lvl5pPr marL="2057400" indent="-228600" eaLnBrk="0" hangingPunct="0">
                <a:defRPr kumimoji="1" sz="2800">
                  <a:solidFill>
                    <a:schemeClr val="tx1"/>
                  </a:solidFill>
                  <a:latin typeface="Comic Sans MS" pitchFamily="66" charset="0"/>
                  <a:ea typeface="宋体" pitchFamily="2" charset="-122"/>
                </a:defRPr>
              </a:lvl5pPr>
              <a:lvl6pPr marL="25146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6pPr>
              <a:lvl7pPr marL="29718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7pPr>
              <a:lvl8pPr marL="34290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8pPr>
              <a:lvl9pPr marL="38862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9pPr>
            </a:lstStyle>
            <a:p>
              <a:pPr eaLnBrk="1" hangingPunct="1">
                <a:lnSpc>
                  <a:spcPct val="110000"/>
                </a:lnSpc>
                <a:spcBef>
                  <a:spcPct val="50000"/>
                </a:spcBef>
                <a:buClr>
                  <a:schemeClr val="accent1"/>
                </a:buClr>
                <a:buSzPct val="80000"/>
                <a:buFont typeface="Wingdings" pitchFamily="2" charset="2"/>
                <a:buNone/>
              </a:pPr>
              <a:r>
                <a:rPr lang="en-US" altLang="zh-CN" sz="2000" b="1">
                  <a:solidFill>
                    <a:schemeClr val="tx2"/>
                  </a:solidFill>
                  <a:latin typeface="宋体" pitchFamily="2" charset="-122"/>
                </a:rPr>
                <a:t>50</a:t>
              </a:r>
            </a:p>
          </p:txBody>
        </p:sp>
        <p:sp>
          <p:nvSpPr>
            <p:cNvPr id="140323" name="Text Box 24"/>
            <p:cNvSpPr txBox="1">
              <a:spLocks noChangeArrowheads="1"/>
            </p:cNvSpPr>
            <p:nvPr/>
          </p:nvSpPr>
          <p:spPr bwMode="auto">
            <a:xfrm>
              <a:off x="1008" y="2593"/>
              <a:ext cx="480" cy="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spAutoFit/>
            </a:bodyPr>
            <a:lstStyle>
              <a:lvl1pPr eaLnBrk="0" hangingPunct="0">
                <a:defRPr kumimoji="1" sz="2800">
                  <a:solidFill>
                    <a:schemeClr val="tx1"/>
                  </a:solidFill>
                  <a:latin typeface="Comic Sans MS" pitchFamily="66" charset="0"/>
                  <a:ea typeface="宋体" pitchFamily="2" charset="-122"/>
                </a:defRPr>
              </a:lvl1pPr>
              <a:lvl2pPr marL="742950" indent="-285750" eaLnBrk="0" hangingPunct="0">
                <a:defRPr kumimoji="1" sz="2800">
                  <a:solidFill>
                    <a:schemeClr val="tx1"/>
                  </a:solidFill>
                  <a:latin typeface="Comic Sans MS" pitchFamily="66" charset="0"/>
                  <a:ea typeface="宋体" pitchFamily="2" charset="-122"/>
                </a:defRPr>
              </a:lvl2pPr>
              <a:lvl3pPr marL="1143000" indent="-228600" eaLnBrk="0" hangingPunct="0">
                <a:defRPr kumimoji="1" sz="2800">
                  <a:solidFill>
                    <a:schemeClr val="tx1"/>
                  </a:solidFill>
                  <a:latin typeface="Comic Sans MS" pitchFamily="66" charset="0"/>
                  <a:ea typeface="宋体" pitchFamily="2" charset="-122"/>
                </a:defRPr>
              </a:lvl3pPr>
              <a:lvl4pPr marL="1600200" indent="-228600" eaLnBrk="0" hangingPunct="0">
                <a:defRPr kumimoji="1" sz="2800">
                  <a:solidFill>
                    <a:schemeClr val="tx1"/>
                  </a:solidFill>
                  <a:latin typeface="Comic Sans MS" pitchFamily="66" charset="0"/>
                  <a:ea typeface="宋体" pitchFamily="2" charset="-122"/>
                </a:defRPr>
              </a:lvl4pPr>
              <a:lvl5pPr marL="2057400" indent="-228600" eaLnBrk="0" hangingPunct="0">
                <a:defRPr kumimoji="1" sz="2800">
                  <a:solidFill>
                    <a:schemeClr val="tx1"/>
                  </a:solidFill>
                  <a:latin typeface="Comic Sans MS" pitchFamily="66" charset="0"/>
                  <a:ea typeface="宋体" pitchFamily="2" charset="-122"/>
                </a:defRPr>
              </a:lvl5pPr>
              <a:lvl6pPr marL="25146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6pPr>
              <a:lvl7pPr marL="29718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7pPr>
              <a:lvl8pPr marL="34290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8pPr>
              <a:lvl9pPr marL="38862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9pPr>
            </a:lstStyle>
            <a:p>
              <a:pPr eaLnBrk="1" hangingPunct="1">
                <a:lnSpc>
                  <a:spcPct val="110000"/>
                </a:lnSpc>
                <a:spcBef>
                  <a:spcPct val="50000"/>
                </a:spcBef>
                <a:buClr>
                  <a:schemeClr val="accent1"/>
                </a:buClr>
                <a:buSzPct val="80000"/>
                <a:buFont typeface="Wingdings" pitchFamily="2" charset="2"/>
                <a:buNone/>
              </a:pPr>
              <a:r>
                <a:rPr lang="en-US" altLang="zh-CN" sz="2000" b="1">
                  <a:solidFill>
                    <a:schemeClr val="tx2"/>
                  </a:solidFill>
                  <a:latin typeface="宋体" pitchFamily="2" charset="-122"/>
                </a:rPr>
                <a:t>30</a:t>
              </a:r>
            </a:p>
          </p:txBody>
        </p:sp>
        <p:sp>
          <p:nvSpPr>
            <p:cNvPr id="140324" name="Line 25"/>
            <p:cNvSpPr>
              <a:spLocks noChangeShapeType="1"/>
            </p:cNvSpPr>
            <p:nvPr/>
          </p:nvSpPr>
          <p:spPr bwMode="auto">
            <a:xfrm>
              <a:off x="864" y="2785"/>
              <a:ext cx="1152" cy="0"/>
            </a:xfrm>
            <a:prstGeom prst="line">
              <a:avLst/>
            </a:prstGeom>
            <a:noFill/>
            <a:ln w="12700" cap="sq">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40325" name="Line 26"/>
            <p:cNvSpPr>
              <a:spLocks noChangeShapeType="1"/>
            </p:cNvSpPr>
            <p:nvPr/>
          </p:nvSpPr>
          <p:spPr bwMode="auto">
            <a:xfrm>
              <a:off x="2208" y="2881"/>
              <a:ext cx="0" cy="384"/>
            </a:xfrm>
            <a:prstGeom prst="line">
              <a:avLst/>
            </a:prstGeom>
            <a:noFill/>
            <a:ln w="12700" cap="sq">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40326" name="Line 27"/>
            <p:cNvSpPr>
              <a:spLocks noChangeShapeType="1"/>
            </p:cNvSpPr>
            <p:nvPr/>
          </p:nvSpPr>
          <p:spPr bwMode="auto">
            <a:xfrm flipH="1" flipV="1">
              <a:off x="1488" y="2305"/>
              <a:ext cx="576" cy="960"/>
            </a:xfrm>
            <a:prstGeom prst="line">
              <a:avLst/>
            </a:prstGeom>
            <a:noFill/>
            <a:ln w="12700" cap="sq">
              <a:solidFill>
                <a:schemeClr val="tx1"/>
              </a:solidFill>
              <a:round/>
              <a:headEnd type="none" w="sm" len="sm"/>
              <a:tailEnd type="triangle" w="med" len="lg"/>
            </a:ln>
            <a:extLst>
              <a:ext uri="{909E8E84-426E-40DD-AFC4-6F175D3DCCD1}">
                <a14:hiddenFill xmlns:a14="http://schemas.microsoft.com/office/drawing/2010/main">
                  <a:noFill/>
                </a14:hiddenFill>
              </a:ext>
            </a:extLst>
          </p:spPr>
          <p:txBody>
            <a:bodyPr wrap="none"/>
            <a:lstStyle/>
            <a:p>
              <a:endParaRPr lang="zh-CN" altLang="en-US"/>
            </a:p>
          </p:txBody>
        </p:sp>
      </p:grpSp>
      <p:sp>
        <p:nvSpPr>
          <p:cNvPr id="140294" name="Text Box 28"/>
          <p:cNvSpPr txBox="1">
            <a:spLocks noChangeArrowheads="1"/>
          </p:cNvSpPr>
          <p:nvPr/>
        </p:nvSpPr>
        <p:spPr bwMode="auto">
          <a:xfrm>
            <a:off x="5594920" y="3553544"/>
            <a:ext cx="4724400" cy="3895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lIns="0" rIns="0">
            <a:spAutoFit/>
          </a:bodyPr>
          <a:lstStyle>
            <a:lvl1pPr eaLnBrk="0" hangingPunct="0">
              <a:defRPr kumimoji="1" sz="2800">
                <a:solidFill>
                  <a:schemeClr val="tx1"/>
                </a:solidFill>
                <a:latin typeface="Comic Sans MS" pitchFamily="66" charset="0"/>
                <a:ea typeface="宋体" pitchFamily="2" charset="-122"/>
              </a:defRPr>
            </a:lvl1pPr>
            <a:lvl2pPr marL="742950" indent="-285750" eaLnBrk="0" hangingPunct="0">
              <a:defRPr kumimoji="1" sz="2800">
                <a:solidFill>
                  <a:schemeClr val="tx1"/>
                </a:solidFill>
                <a:latin typeface="Comic Sans MS" pitchFamily="66" charset="0"/>
                <a:ea typeface="宋体" pitchFamily="2" charset="-122"/>
              </a:defRPr>
            </a:lvl2pPr>
            <a:lvl3pPr marL="1143000" indent="-228600" eaLnBrk="0" hangingPunct="0">
              <a:defRPr kumimoji="1" sz="2800">
                <a:solidFill>
                  <a:schemeClr val="tx1"/>
                </a:solidFill>
                <a:latin typeface="Comic Sans MS" pitchFamily="66" charset="0"/>
                <a:ea typeface="宋体" pitchFamily="2" charset="-122"/>
              </a:defRPr>
            </a:lvl3pPr>
            <a:lvl4pPr marL="1600200" indent="-228600" eaLnBrk="0" hangingPunct="0">
              <a:defRPr kumimoji="1" sz="2800">
                <a:solidFill>
                  <a:schemeClr val="tx1"/>
                </a:solidFill>
                <a:latin typeface="Comic Sans MS" pitchFamily="66" charset="0"/>
                <a:ea typeface="宋体" pitchFamily="2" charset="-122"/>
              </a:defRPr>
            </a:lvl4pPr>
            <a:lvl5pPr marL="2057400" indent="-228600" eaLnBrk="0" hangingPunct="0">
              <a:defRPr kumimoji="1" sz="2800">
                <a:solidFill>
                  <a:schemeClr val="tx1"/>
                </a:solidFill>
                <a:latin typeface="Comic Sans MS" pitchFamily="66" charset="0"/>
                <a:ea typeface="宋体" pitchFamily="2" charset="-122"/>
              </a:defRPr>
            </a:lvl5pPr>
            <a:lvl6pPr marL="25146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6pPr>
            <a:lvl7pPr marL="29718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7pPr>
            <a:lvl8pPr marL="34290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8pPr>
            <a:lvl9pPr marL="38862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9pPr>
          </a:lstStyle>
          <a:p>
            <a:pPr algn="l" eaLnBrk="1" hangingPunct="1">
              <a:lnSpc>
                <a:spcPct val="110000"/>
              </a:lnSpc>
              <a:spcBef>
                <a:spcPct val="50000"/>
              </a:spcBef>
              <a:buClr>
                <a:schemeClr val="accent1"/>
              </a:buClr>
              <a:buSzPct val="80000"/>
              <a:buFont typeface="Wingdings" pitchFamily="2" charset="2"/>
              <a:buNone/>
            </a:pPr>
            <a:r>
              <a:rPr lang="zh-CN" altLang="en-US" sz="2000" b="1">
                <a:solidFill>
                  <a:srgbClr val="663300"/>
                </a:solidFill>
                <a:latin typeface="宋体" pitchFamily="2" charset="-122"/>
              </a:rPr>
              <a:t>始点  终点    最短路径      路径长度</a:t>
            </a:r>
          </a:p>
        </p:txBody>
      </p:sp>
      <p:sp>
        <p:nvSpPr>
          <p:cNvPr id="140295" name="Text Box 29"/>
          <p:cNvSpPr txBox="1">
            <a:spLocks noChangeArrowheads="1"/>
          </p:cNvSpPr>
          <p:nvPr/>
        </p:nvSpPr>
        <p:spPr bwMode="auto">
          <a:xfrm>
            <a:off x="5671120" y="4142507"/>
            <a:ext cx="457200" cy="3566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tIns="0" bIns="0">
            <a:spAutoFit/>
          </a:bodyPr>
          <a:lstStyle>
            <a:lvl1pPr eaLnBrk="0" hangingPunct="0">
              <a:defRPr kumimoji="1" sz="2800">
                <a:solidFill>
                  <a:schemeClr val="tx1"/>
                </a:solidFill>
                <a:latin typeface="Comic Sans MS" pitchFamily="66" charset="0"/>
                <a:ea typeface="宋体" pitchFamily="2" charset="-122"/>
              </a:defRPr>
            </a:lvl1pPr>
            <a:lvl2pPr marL="742950" indent="-285750" eaLnBrk="0" hangingPunct="0">
              <a:defRPr kumimoji="1" sz="2800">
                <a:solidFill>
                  <a:schemeClr val="tx1"/>
                </a:solidFill>
                <a:latin typeface="Comic Sans MS" pitchFamily="66" charset="0"/>
                <a:ea typeface="宋体" pitchFamily="2" charset="-122"/>
              </a:defRPr>
            </a:lvl2pPr>
            <a:lvl3pPr marL="1143000" indent="-228600" eaLnBrk="0" hangingPunct="0">
              <a:defRPr kumimoji="1" sz="2800">
                <a:solidFill>
                  <a:schemeClr val="tx1"/>
                </a:solidFill>
                <a:latin typeface="Comic Sans MS" pitchFamily="66" charset="0"/>
                <a:ea typeface="宋体" pitchFamily="2" charset="-122"/>
              </a:defRPr>
            </a:lvl3pPr>
            <a:lvl4pPr marL="1600200" indent="-228600" eaLnBrk="0" hangingPunct="0">
              <a:defRPr kumimoji="1" sz="2800">
                <a:solidFill>
                  <a:schemeClr val="tx1"/>
                </a:solidFill>
                <a:latin typeface="Comic Sans MS" pitchFamily="66" charset="0"/>
                <a:ea typeface="宋体" pitchFamily="2" charset="-122"/>
              </a:defRPr>
            </a:lvl4pPr>
            <a:lvl5pPr marL="2057400" indent="-228600" eaLnBrk="0" hangingPunct="0">
              <a:defRPr kumimoji="1" sz="2800">
                <a:solidFill>
                  <a:schemeClr val="tx1"/>
                </a:solidFill>
                <a:latin typeface="Comic Sans MS" pitchFamily="66" charset="0"/>
                <a:ea typeface="宋体" pitchFamily="2" charset="-122"/>
              </a:defRPr>
            </a:lvl5pPr>
            <a:lvl6pPr marL="25146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6pPr>
            <a:lvl7pPr marL="29718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7pPr>
            <a:lvl8pPr marL="34290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8pPr>
            <a:lvl9pPr marL="38862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9pPr>
          </a:lstStyle>
          <a:p>
            <a:pPr algn="l" eaLnBrk="1" hangingPunct="1">
              <a:lnSpc>
                <a:spcPct val="110000"/>
              </a:lnSpc>
              <a:spcBef>
                <a:spcPct val="50000"/>
              </a:spcBef>
              <a:buClr>
                <a:schemeClr val="accent1"/>
              </a:buClr>
              <a:buSzPct val="80000"/>
              <a:buFont typeface="Wingdings" pitchFamily="2" charset="2"/>
              <a:buNone/>
            </a:pPr>
            <a:r>
              <a:rPr lang="en-US" altLang="zh-CN" sz="2400" b="1">
                <a:latin typeface="宋体" pitchFamily="2" charset="-122"/>
              </a:rPr>
              <a:t>v</a:t>
            </a:r>
            <a:r>
              <a:rPr lang="en-US" altLang="zh-CN" sz="2400" b="1" baseline="-10000">
                <a:latin typeface="宋体" pitchFamily="2" charset="-122"/>
              </a:rPr>
              <a:t>0</a:t>
            </a:r>
            <a:endParaRPr lang="en-US" altLang="zh-CN" sz="2400" b="1" baseline="-25000">
              <a:latin typeface="宋体" pitchFamily="2" charset="-122"/>
            </a:endParaRPr>
          </a:p>
        </p:txBody>
      </p:sp>
      <p:sp>
        <p:nvSpPr>
          <p:cNvPr id="390174" name="Text Box 30"/>
          <p:cNvSpPr txBox="1">
            <a:spLocks noChangeArrowheads="1"/>
          </p:cNvSpPr>
          <p:nvPr/>
        </p:nvSpPr>
        <p:spPr bwMode="auto">
          <a:xfrm>
            <a:off x="6356920" y="4142507"/>
            <a:ext cx="4419600" cy="3566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tIns="0" bIns="0">
            <a:spAutoFit/>
          </a:bodyPr>
          <a:lstStyle>
            <a:lvl1pPr eaLnBrk="0" hangingPunct="0">
              <a:defRPr kumimoji="1" sz="2800">
                <a:solidFill>
                  <a:schemeClr val="tx1"/>
                </a:solidFill>
                <a:latin typeface="Comic Sans MS" pitchFamily="66" charset="0"/>
                <a:ea typeface="宋体" pitchFamily="2" charset="-122"/>
              </a:defRPr>
            </a:lvl1pPr>
            <a:lvl2pPr marL="742950" indent="-285750" eaLnBrk="0" hangingPunct="0">
              <a:defRPr kumimoji="1" sz="2800">
                <a:solidFill>
                  <a:schemeClr val="tx1"/>
                </a:solidFill>
                <a:latin typeface="Comic Sans MS" pitchFamily="66" charset="0"/>
                <a:ea typeface="宋体" pitchFamily="2" charset="-122"/>
              </a:defRPr>
            </a:lvl2pPr>
            <a:lvl3pPr marL="1143000" indent="-228600" eaLnBrk="0" hangingPunct="0">
              <a:defRPr kumimoji="1" sz="2800">
                <a:solidFill>
                  <a:schemeClr val="tx1"/>
                </a:solidFill>
                <a:latin typeface="Comic Sans MS" pitchFamily="66" charset="0"/>
                <a:ea typeface="宋体" pitchFamily="2" charset="-122"/>
              </a:defRPr>
            </a:lvl3pPr>
            <a:lvl4pPr marL="1600200" indent="-228600" eaLnBrk="0" hangingPunct="0">
              <a:defRPr kumimoji="1" sz="2800">
                <a:solidFill>
                  <a:schemeClr val="tx1"/>
                </a:solidFill>
                <a:latin typeface="Comic Sans MS" pitchFamily="66" charset="0"/>
                <a:ea typeface="宋体" pitchFamily="2" charset="-122"/>
              </a:defRPr>
            </a:lvl4pPr>
            <a:lvl5pPr marL="2057400" indent="-228600" eaLnBrk="0" hangingPunct="0">
              <a:defRPr kumimoji="1" sz="2800">
                <a:solidFill>
                  <a:schemeClr val="tx1"/>
                </a:solidFill>
                <a:latin typeface="Comic Sans MS" pitchFamily="66" charset="0"/>
                <a:ea typeface="宋体" pitchFamily="2" charset="-122"/>
              </a:defRPr>
            </a:lvl5pPr>
            <a:lvl6pPr marL="25146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6pPr>
            <a:lvl7pPr marL="29718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7pPr>
            <a:lvl8pPr marL="34290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8pPr>
            <a:lvl9pPr marL="38862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9pPr>
          </a:lstStyle>
          <a:p>
            <a:pPr algn="l" eaLnBrk="1" hangingPunct="1">
              <a:lnSpc>
                <a:spcPct val="110000"/>
              </a:lnSpc>
              <a:spcBef>
                <a:spcPct val="50000"/>
              </a:spcBef>
              <a:buClr>
                <a:schemeClr val="accent1"/>
              </a:buClr>
              <a:buSzPct val="80000"/>
              <a:buFont typeface="Wingdings" pitchFamily="2" charset="2"/>
              <a:buNone/>
            </a:pPr>
            <a:r>
              <a:rPr lang="en-US" altLang="zh-CN" sz="2400" b="1" dirty="0">
                <a:latin typeface="宋体" pitchFamily="2" charset="-122"/>
              </a:rPr>
              <a:t>v</a:t>
            </a:r>
            <a:r>
              <a:rPr lang="en-US" altLang="zh-CN" sz="2400" b="1" baseline="-10000" dirty="0">
                <a:latin typeface="宋体" pitchFamily="2" charset="-122"/>
              </a:rPr>
              <a:t>2</a:t>
            </a:r>
            <a:r>
              <a:rPr lang="en-US" altLang="zh-CN" sz="2400" b="1" baseline="-25000" dirty="0">
                <a:latin typeface="宋体" pitchFamily="2" charset="-122"/>
              </a:rPr>
              <a:t>        </a:t>
            </a:r>
            <a:r>
              <a:rPr lang="en-US" altLang="zh-CN" sz="2400" b="1" dirty="0">
                <a:latin typeface="宋体" pitchFamily="2" charset="-122"/>
              </a:rPr>
              <a:t>(v</a:t>
            </a:r>
            <a:r>
              <a:rPr lang="en-US" altLang="zh-CN" sz="2400" b="1" baseline="-10000" dirty="0">
                <a:latin typeface="宋体" pitchFamily="2" charset="-122"/>
              </a:rPr>
              <a:t>0</a:t>
            </a:r>
            <a:r>
              <a:rPr lang="en-US" altLang="zh-CN" sz="2400" b="1" dirty="0">
                <a:latin typeface="宋体" pitchFamily="2" charset="-122"/>
              </a:rPr>
              <a:t>,v</a:t>
            </a:r>
            <a:r>
              <a:rPr lang="en-US" altLang="zh-CN" sz="2400" b="1" baseline="-10000" dirty="0">
                <a:latin typeface="宋体" pitchFamily="2" charset="-122"/>
              </a:rPr>
              <a:t>2</a:t>
            </a:r>
            <a:r>
              <a:rPr lang="en-US" altLang="zh-CN" sz="2400" b="1" dirty="0">
                <a:latin typeface="宋体" pitchFamily="2" charset="-122"/>
              </a:rPr>
              <a:t>)        10</a:t>
            </a:r>
          </a:p>
        </p:txBody>
      </p:sp>
      <p:sp>
        <p:nvSpPr>
          <p:cNvPr id="390175" name="Text Box 31"/>
          <p:cNvSpPr txBox="1">
            <a:spLocks noChangeArrowheads="1"/>
          </p:cNvSpPr>
          <p:nvPr/>
        </p:nvSpPr>
        <p:spPr bwMode="auto">
          <a:xfrm>
            <a:off x="6356920" y="5306144"/>
            <a:ext cx="4419600" cy="3566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tIns="0" bIns="0">
            <a:spAutoFit/>
          </a:bodyPr>
          <a:lstStyle>
            <a:lvl1pPr eaLnBrk="0" hangingPunct="0">
              <a:defRPr kumimoji="1" sz="2800">
                <a:solidFill>
                  <a:schemeClr val="tx1"/>
                </a:solidFill>
                <a:latin typeface="Comic Sans MS" pitchFamily="66" charset="0"/>
                <a:ea typeface="宋体" pitchFamily="2" charset="-122"/>
              </a:defRPr>
            </a:lvl1pPr>
            <a:lvl2pPr marL="742950" indent="-285750" eaLnBrk="0" hangingPunct="0">
              <a:defRPr kumimoji="1" sz="2800">
                <a:solidFill>
                  <a:schemeClr val="tx1"/>
                </a:solidFill>
                <a:latin typeface="Comic Sans MS" pitchFamily="66" charset="0"/>
                <a:ea typeface="宋体" pitchFamily="2" charset="-122"/>
              </a:defRPr>
            </a:lvl2pPr>
            <a:lvl3pPr marL="1143000" indent="-228600" eaLnBrk="0" hangingPunct="0">
              <a:defRPr kumimoji="1" sz="2800">
                <a:solidFill>
                  <a:schemeClr val="tx1"/>
                </a:solidFill>
                <a:latin typeface="Comic Sans MS" pitchFamily="66" charset="0"/>
                <a:ea typeface="宋体" pitchFamily="2" charset="-122"/>
              </a:defRPr>
            </a:lvl3pPr>
            <a:lvl4pPr marL="1600200" indent="-228600" eaLnBrk="0" hangingPunct="0">
              <a:defRPr kumimoji="1" sz="2800">
                <a:solidFill>
                  <a:schemeClr val="tx1"/>
                </a:solidFill>
                <a:latin typeface="Comic Sans MS" pitchFamily="66" charset="0"/>
                <a:ea typeface="宋体" pitchFamily="2" charset="-122"/>
              </a:defRPr>
            </a:lvl4pPr>
            <a:lvl5pPr marL="2057400" indent="-228600" eaLnBrk="0" hangingPunct="0">
              <a:defRPr kumimoji="1" sz="2800">
                <a:solidFill>
                  <a:schemeClr val="tx1"/>
                </a:solidFill>
                <a:latin typeface="Comic Sans MS" pitchFamily="66" charset="0"/>
                <a:ea typeface="宋体" pitchFamily="2" charset="-122"/>
              </a:defRPr>
            </a:lvl5pPr>
            <a:lvl6pPr marL="25146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6pPr>
            <a:lvl7pPr marL="29718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7pPr>
            <a:lvl8pPr marL="34290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8pPr>
            <a:lvl9pPr marL="38862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9pPr>
          </a:lstStyle>
          <a:p>
            <a:pPr algn="l" eaLnBrk="1" hangingPunct="1">
              <a:lnSpc>
                <a:spcPct val="110000"/>
              </a:lnSpc>
              <a:spcBef>
                <a:spcPct val="50000"/>
              </a:spcBef>
              <a:buClr>
                <a:schemeClr val="accent1"/>
              </a:buClr>
              <a:buSzPct val="80000"/>
              <a:buFont typeface="Wingdings" pitchFamily="2" charset="2"/>
              <a:buNone/>
            </a:pPr>
            <a:r>
              <a:rPr lang="en-US" altLang="zh-CN" sz="2400" b="1">
                <a:latin typeface="宋体" pitchFamily="2" charset="-122"/>
              </a:rPr>
              <a:t>v</a:t>
            </a:r>
            <a:r>
              <a:rPr lang="en-US" altLang="zh-CN" sz="2400" b="1" baseline="-10000">
                <a:latin typeface="宋体" pitchFamily="2" charset="-122"/>
              </a:rPr>
              <a:t>3</a:t>
            </a:r>
            <a:r>
              <a:rPr lang="en-US" altLang="zh-CN" sz="2400" b="1">
                <a:latin typeface="宋体" pitchFamily="2" charset="-122"/>
              </a:rPr>
              <a:t>     (v</a:t>
            </a:r>
            <a:r>
              <a:rPr lang="en-US" altLang="zh-CN" sz="2400" b="1" baseline="-10000">
                <a:latin typeface="宋体" pitchFamily="2" charset="-122"/>
              </a:rPr>
              <a:t>0</a:t>
            </a:r>
            <a:r>
              <a:rPr lang="en-US" altLang="zh-CN" sz="2400" b="1">
                <a:latin typeface="宋体" pitchFamily="2" charset="-122"/>
              </a:rPr>
              <a:t>,v</a:t>
            </a:r>
            <a:r>
              <a:rPr lang="en-US" altLang="zh-CN" sz="2400" b="1" baseline="-10000">
                <a:latin typeface="宋体" pitchFamily="2" charset="-122"/>
              </a:rPr>
              <a:t>4</a:t>
            </a:r>
            <a:r>
              <a:rPr lang="en-US" altLang="zh-CN" sz="2400" b="1">
                <a:latin typeface="宋体" pitchFamily="2" charset="-122"/>
              </a:rPr>
              <a:t>,v</a:t>
            </a:r>
            <a:r>
              <a:rPr lang="en-US" altLang="zh-CN" sz="2400" b="1" baseline="-10000">
                <a:latin typeface="宋体" pitchFamily="2" charset="-122"/>
              </a:rPr>
              <a:t>3</a:t>
            </a:r>
            <a:r>
              <a:rPr lang="en-US" altLang="zh-CN" sz="2400" b="1">
                <a:latin typeface="宋体" pitchFamily="2" charset="-122"/>
              </a:rPr>
              <a:t>)      50</a:t>
            </a:r>
          </a:p>
        </p:txBody>
      </p:sp>
      <p:sp>
        <p:nvSpPr>
          <p:cNvPr id="390176" name="Text Box 32"/>
          <p:cNvSpPr txBox="1">
            <a:spLocks noChangeArrowheads="1"/>
          </p:cNvSpPr>
          <p:nvPr/>
        </p:nvSpPr>
        <p:spPr bwMode="auto">
          <a:xfrm>
            <a:off x="6356920" y="4752107"/>
            <a:ext cx="4419600" cy="3566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tIns="0" bIns="0">
            <a:spAutoFit/>
          </a:bodyPr>
          <a:lstStyle>
            <a:lvl1pPr eaLnBrk="0" hangingPunct="0">
              <a:defRPr kumimoji="1" sz="2800">
                <a:solidFill>
                  <a:schemeClr val="tx1"/>
                </a:solidFill>
                <a:latin typeface="Comic Sans MS" pitchFamily="66" charset="0"/>
                <a:ea typeface="宋体" pitchFamily="2" charset="-122"/>
              </a:defRPr>
            </a:lvl1pPr>
            <a:lvl2pPr marL="742950" indent="-285750" eaLnBrk="0" hangingPunct="0">
              <a:defRPr kumimoji="1" sz="2800">
                <a:solidFill>
                  <a:schemeClr val="tx1"/>
                </a:solidFill>
                <a:latin typeface="Comic Sans MS" pitchFamily="66" charset="0"/>
                <a:ea typeface="宋体" pitchFamily="2" charset="-122"/>
              </a:defRPr>
            </a:lvl2pPr>
            <a:lvl3pPr marL="1143000" indent="-228600" eaLnBrk="0" hangingPunct="0">
              <a:defRPr kumimoji="1" sz="2800">
                <a:solidFill>
                  <a:schemeClr val="tx1"/>
                </a:solidFill>
                <a:latin typeface="Comic Sans MS" pitchFamily="66" charset="0"/>
                <a:ea typeface="宋体" pitchFamily="2" charset="-122"/>
              </a:defRPr>
            </a:lvl3pPr>
            <a:lvl4pPr marL="1600200" indent="-228600" eaLnBrk="0" hangingPunct="0">
              <a:defRPr kumimoji="1" sz="2800">
                <a:solidFill>
                  <a:schemeClr val="tx1"/>
                </a:solidFill>
                <a:latin typeface="Comic Sans MS" pitchFamily="66" charset="0"/>
                <a:ea typeface="宋体" pitchFamily="2" charset="-122"/>
              </a:defRPr>
            </a:lvl4pPr>
            <a:lvl5pPr marL="2057400" indent="-228600" eaLnBrk="0" hangingPunct="0">
              <a:defRPr kumimoji="1" sz="2800">
                <a:solidFill>
                  <a:schemeClr val="tx1"/>
                </a:solidFill>
                <a:latin typeface="Comic Sans MS" pitchFamily="66" charset="0"/>
                <a:ea typeface="宋体" pitchFamily="2" charset="-122"/>
              </a:defRPr>
            </a:lvl5pPr>
            <a:lvl6pPr marL="25146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6pPr>
            <a:lvl7pPr marL="29718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7pPr>
            <a:lvl8pPr marL="34290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8pPr>
            <a:lvl9pPr marL="38862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9pPr>
          </a:lstStyle>
          <a:p>
            <a:pPr algn="l" eaLnBrk="1" hangingPunct="1">
              <a:lnSpc>
                <a:spcPct val="110000"/>
              </a:lnSpc>
              <a:spcBef>
                <a:spcPct val="50000"/>
              </a:spcBef>
              <a:buClr>
                <a:schemeClr val="accent1"/>
              </a:buClr>
              <a:buSzPct val="80000"/>
              <a:buFont typeface="Wingdings" pitchFamily="2" charset="2"/>
              <a:buNone/>
            </a:pPr>
            <a:r>
              <a:rPr lang="en-US" altLang="zh-CN" sz="2400" b="1" dirty="0">
                <a:latin typeface="宋体" pitchFamily="2" charset="-122"/>
              </a:rPr>
              <a:t>v</a:t>
            </a:r>
            <a:r>
              <a:rPr lang="en-US" altLang="zh-CN" sz="2400" b="1" baseline="-10000" dirty="0">
                <a:latin typeface="宋体" pitchFamily="2" charset="-122"/>
              </a:rPr>
              <a:t>4</a:t>
            </a:r>
            <a:r>
              <a:rPr lang="en-US" altLang="zh-CN" sz="2400" b="1" dirty="0">
                <a:latin typeface="宋体" pitchFamily="2" charset="-122"/>
              </a:rPr>
              <a:t>     (v</a:t>
            </a:r>
            <a:r>
              <a:rPr lang="en-US" altLang="zh-CN" sz="2400" b="1" baseline="-10000" dirty="0">
                <a:latin typeface="宋体" pitchFamily="2" charset="-122"/>
              </a:rPr>
              <a:t>0</a:t>
            </a:r>
            <a:r>
              <a:rPr lang="en-US" altLang="zh-CN" sz="2400" b="1" dirty="0">
                <a:latin typeface="宋体" pitchFamily="2" charset="-122"/>
              </a:rPr>
              <a:t>,v</a:t>
            </a:r>
            <a:r>
              <a:rPr lang="en-US" altLang="zh-CN" sz="2400" b="1" baseline="-10000" dirty="0">
                <a:latin typeface="宋体" pitchFamily="2" charset="-122"/>
              </a:rPr>
              <a:t>4</a:t>
            </a:r>
            <a:r>
              <a:rPr lang="en-US" altLang="zh-CN" sz="2400" b="1" dirty="0">
                <a:latin typeface="宋体" pitchFamily="2" charset="-122"/>
              </a:rPr>
              <a:t>)         30</a:t>
            </a:r>
          </a:p>
        </p:txBody>
      </p:sp>
      <p:sp>
        <p:nvSpPr>
          <p:cNvPr id="390177" name="Text Box 33"/>
          <p:cNvSpPr txBox="1">
            <a:spLocks noChangeArrowheads="1"/>
          </p:cNvSpPr>
          <p:nvPr/>
        </p:nvSpPr>
        <p:spPr bwMode="auto">
          <a:xfrm>
            <a:off x="6356920" y="5839544"/>
            <a:ext cx="4419600" cy="3566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tIns="0" bIns="0">
            <a:spAutoFit/>
          </a:bodyPr>
          <a:lstStyle>
            <a:lvl1pPr eaLnBrk="0" hangingPunct="0">
              <a:defRPr kumimoji="1" sz="2800">
                <a:solidFill>
                  <a:schemeClr val="tx1"/>
                </a:solidFill>
                <a:latin typeface="Comic Sans MS" pitchFamily="66" charset="0"/>
                <a:ea typeface="宋体" pitchFamily="2" charset="-122"/>
              </a:defRPr>
            </a:lvl1pPr>
            <a:lvl2pPr marL="742950" indent="-285750" eaLnBrk="0" hangingPunct="0">
              <a:defRPr kumimoji="1" sz="2800">
                <a:solidFill>
                  <a:schemeClr val="tx1"/>
                </a:solidFill>
                <a:latin typeface="Comic Sans MS" pitchFamily="66" charset="0"/>
                <a:ea typeface="宋体" pitchFamily="2" charset="-122"/>
              </a:defRPr>
            </a:lvl2pPr>
            <a:lvl3pPr marL="1143000" indent="-228600" eaLnBrk="0" hangingPunct="0">
              <a:defRPr kumimoji="1" sz="2800">
                <a:solidFill>
                  <a:schemeClr val="tx1"/>
                </a:solidFill>
                <a:latin typeface="Comic Sans MS" pitchFamily="66" charset="0"/>
                <a:ea typeface="宋体" pitchFamily="2" charset="-122"/>
              </a:defRPr>
            </a:lvl3pPr>
            <a:lvl4pPr marL="1600200" indent="-228600" eaLnBrk="0" hangingPunct="0">
              <a:defRPr kumimoji="1" sz="2800">
                <a:solidFill>
                  <a:schemeClr val="tx1"/>
                </a:solidFill>
                <a:latin typeface="Comic Sans MS" pitchFamily="66" charset="0"/>
                <a:ea typeface="宋体" pitchFamily="2" charset="-122"/>
              </a:defRPr>
            </a:lvl4pPr>
            <a:lvl5pPr marL="2057400" indent="-228600" eaLnBrk="0" hangingPunct="0">
              <a:defRPr kumimoji="1" sz="2800">
                <a:solidFill>
                  <a:schemeClr val="tx1"/>
                </a:solidFill>
                <a:latin typeface="Comic Sans MS" pitchFamily="66" charset="0"/>
                <a:ea typeface="宋体" pitchFamily="2" charset="-122"/>
              </a:defRPr>
            </a:lvl5pPr>
            <a:lvl6pPr marL="25146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6pPr>
            <a:lvl7pPr marL="29718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7pPr>
            <a:lvl8pPr marL="34290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8pPr>
            <a:lvl9pPr marL="3886200" indent="-228600" algn="ctr" defTabSz="457200" eaLnBrk="0" fontAlgn="base" hangingPunct="0">
              <a:spcBef>
                <a:spcPct val="0"/>
              </a:spcBef>
              <a:spcAft>
                <a:spcPct val="0"/>
              </a:spcAft>
              <a:defRPr kumimoji="1" sz="2800">
                <a:solidFill>
                  <a:schemeClr val="tx1"/>
                </a:solidFill>
                <a:latin typeface="Comic Sans MS" pitchFamily="66" charset="0"/>
                <a:ea typeface="宋体" pitchFamily="2" charset="-122"/>
              </a:defRPr>
            </a:lvl9pPr>
          </a:lstStyle>
          <a:p>
            <a:pPr algn="l" eaLnBrk="1" hangingPunct="1">
              <a:lnSpc>
                <a:spcPct val="110000"/>
              </a:lnSpc>
              <a:spcBef>
                <a:spcPct val="50000"/>
              </a:spcBef>
              <a:buClr>
                <a:schemeClr val="accent1"/>
              </a:buClr>
              <a:buSzPct val="80000"/>
              <a:buFont typeface="Wingdings" pitchFamily="2" charset="2"/>
              <a:buNone/>
            </a:pPr>
            <a:r>
              <a:rPr lang="en-US" altLang="zh-CN" sz="2400" b="1" dirty="0">
                <a:latin typeface="宋体" pitchFamily="2" charset="-122"/>
              </a:rPr>
              <a:t>v</a:t>
            </a:r>
            <a:r>
              <a:rPr lang="en-US" altLang="zh-CN" sz="2400" b="1" baseline="-10000" dirty="0">
                <a:latin typeface="宋体" pitchFamily="2" charset="-122"/>
              </a:rPr>
              <a:t>5</a:t>
            </a:r>
            <a:r>
              <a:rPr lang="en-US" altLang="zh-CN" sz="2400" b="1" dirty="0">
                <a:latin typeface="宋体" pitchFamily="2" charset="-122"/>
              </a:rPr>
              <a:t>   (v</a:t>
            </a:r>
            <a:r>
              <a:rPr lang="en-US" altLang="zh-CN" sz="2400" b="1" baseline="-10000" dirty="0">
                <a:latin typeface="宋体" pitchFamily="2" charset="-122"/>
              </a:rPr>
              <a:t>0</a:t>
            </a:r>
            <a:r>
              <a:rPr lang="en-US" altLang="zh-CN" sz="2400" b="1" dirty="0">
                <a:latin typeface="宋体" pitchFamily="2" charset="-122"/>
              </a:rPr>
              <a:t>,v</a:t>
            </a:r>
            <a:r>
              <a:rPr lang="en-US" altLang="zh-CN" sz="2400" b="1" baseline="-10000" dirty="0">
                <a:latin typeface="宋体" pitchFamily="2" charset="-122"/>
              </a:rPr>
              <a:t>4</a:t>
            </a:r>
            <a:r>
              <a:rPr lang="en-US" altLang="zh-CN" sz="2400" b="1" dirty="0">
                <a:latin typeface="宋体" pitchFamily="2" charset="-122"/>
              </a:rPr>
              <a:t>,v</a:t>
            </a:r>
            <a:r>
              <a:rPr lang="en-US" altLang="zh-CN" sz="2400" b="1" baseline="-10000" dirty="0">
                <a:latin typeface="宋体" pitchFamily="2" charset="-122"/>
              </a:rPr>
              <a:t>3</a:t>
            </a:r>
            <a:r>
              <a:rPr lang="en-US" altLang="zh-CN" sz="2400" b="1" dirty="0">
                <a:latin typeface="宋体" pitchFamily="2" charset="-122"/>
              </a:rPr>
              <a:t>,v</a:t>
            </a:r>
            <a:r>
              <a:rPr lang="en-US" altLang="zh-CN" sz="2400" b="1" baseline="-10000" dirty="0">
                <a:latin typeface="宋体" pitchFamily="2" charset="-122"/>
              </a:rPr>
              <a:t>5</a:t>
            </a:r>
            <a:r>
              <a:rPr lang="en-US" altLang="zh-CN" sz="2400" b="1" dirty="0">
                <a:latin typeface="宋体" pitchFamily="2" charset="-122"/>
              </a:rPr>
              <a:t>)      60</a:t>
            </a:r>
          </a:p>
        </p:txBody>
      </p:sp>
      <p:sp>
        <p:nvSpPr>
          <p:cNvPr id="140300" name="Line 34"/>
          <p:cNvSpPr>
            <a:spLocks noChangeShapeType="1"/>
          </p:cNvSpPr>
          <p:nvPr/>
        </p:nvSpPr>
        <p:spPr bwMode="auto">
          <a:xfrm>
            <a:off x="5518720" y="4086944"/>
            <a:ext cx="5257800"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40301" name="Line 35"/>
          <p:cNvSpPr>
            <a:spLocks noChangeShapeType="1"/>
          </p:cNvSpPr>
          <p:nvPr/>
        </p:nvSpPr>
        <p:spPr bwMode="auto">
          <a:xfrm>
            <a:off x="6204520" y="3477344"/>
            <a:ext cx="0" cy="304800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40302" name="Line 36"/>
          <p:cNvSpPr>
            <a:spLocks noChangeShapeType="1"/>
          </p:cNvSpPr>
          <p:nvPr/>
        </p:nvSpPr>
        <p:spPr bwMode="auto">
          <a:xfrm>
            <a:off x="7118920" y="3477344"/>
            <a:ext cx="0" cy="304800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40303" name="Line 37"/>
          <p:cNvSpPr>
            <a:spLocks noChangeShapeType="1"/>
          </p:cNvSpPr>
          <p:nvPr/>
        </p:nvSpPr>
        <p:spPr bwMode="auto">
          <a:xfrm>
            <a:off x="9100120" y="3477344"/>
            <a:ext cx="0" cy="304800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40304" name="Line 38"/>
          <p:cNvSpPr>
            <a:spLocks noChangeShapeType="1"/>
          </p:cNvSpPr>
          <p:nvPr/>
        </p:nvSpPr>
        <p:spPr bwMode="auto">
          <a:xfrm>
            <a:off x="5366320" y="3477344"/>
            <a:ext cx="5410200"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46" name="Line 37"/>
          <p:cNvSpPr>
            <a:spLocks noChangeShapeType="1"/>
          </p:cNvSpPr>
          <p:nvPr/>
        </p:nvSpPr>
        <p:spPr bwMode="auto">
          <a:xfrm>
            <a:off x="5562599" y="6523901"/>
            <a:ext cx="5105400"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2" name="Rectangle 2">
            <a:extLst>
              <a:ext uri="{FF2B5EF4-FFF2-40B4-BE49-F238E27FC236}">
                <a16:creationId xmlns:a16="http://schemas.microsoft.com/office/drawing/2014/main" id="{436DE4E3-3996-6A47-9D32-399CEEC9D52A}"/>
              </a:ext>
            </a:extLst>
          </p:cNvPr>
          <p:cNvSpPr txBox="1">
            <a:spLocks noChangeArrowheads="1"/>
          </p:cNvSpPr>
          <p:nvPr/>
        </p:nvSpPr>
        <p:spPr>
          <a:xfrm>
            <a:off x="474771" y="1230902"/>
            <a:ext cx="10949819"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8.5.2 </a:t>
            </a:r>
            <a:r>
              <a:rPr lang="zh-CN" altLang="en-US" dirty="0"/>
              <a:t>从一个顶点到其余各顶点的最短路径（单源点最短路径问题）</a:t>
            </a:r>
          </a:p>
        </p:txBody>
      </p:sp>
      <p:cxnSp>
        <p:nvCxnSpPr>
          <p:cNvPr id="3" name="直接连接符 2">
            <a:extLst>
              <a:ext uri="{FF2B5EF4-FFF2-40B4-BE49-F238E27FC236}">
                <a16:creationId xmlns:a16="http://schemas.microsoft.com/office/drawing/2014/main" id="{D32E31D9-87C7-D1C5-17A8-FE0F25078034}"/>
              </a:ext>
            </a:extLst>
          </p:cNvPr>
          <p:cNvCxnSpPr>
            <a:cxnSpLocks/>
          </p:cNvCxnSpPr>
          <p:nvPr/>
        </p:nvCxnSpPr>
        <p:spPr>
          <a:xfrm>
            <a:off x="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4" name="矩形 3">
            <a:extLst>
              <a:ext uri="{FF2B5EF4-FFF2-40B4-BE49-F238E27FC236}">
                <a16:creationId xmlns:a16="http://schemas.microsoft.com/office/drawing/2014/main" id="{196B2398-EAB2-7B9E-0729-46C99E990DAF}"/>
              </a:ext>
            </a:extLst>
          </p:cNvPr>
          <p:cNvSpPr/>
          <p:nvPr/>
        </p:nvSpPr>
        <p:spPr>
          <a:xfrm>
            <a:off x="3394075" y="399838"/>
            <a:ext cx="4617860"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8.5 </a:t>
            </a:r>
            <a:r>
              <a:rPr lang="zh-CN" altLang="en-US" sz="3000" b="1" dirty="0">
                <a:latin typeface="黑体" pitchFamily="49" charset="-122"/>
                <a:ea typeface="黑体" pitchFamily="49" charset="-122"/>
                <a:cs typeface="经典粗黑简" pitchFamily="49" charset="-122"/>
              </a:rPr>
              <a:t>最短路径</a:t>
            </a:r>
          </a:p>
        </p:txBody>
      </p:sp>
      <p:sp>
        <p:nvSpPr>
          <p:cNvPr id="5" name="Text Box 4">
            <a:extLst>
              <a:ext uri="{FF2B5EF4-FFF2-40B4-BE49-F238E27FC236}">
                <a16:creationId xmlns:a16="http://schemas.microsoft.com/office/drawing/2014/main" id="{3495B2B6-BC5D-17C0-66A0-7A0DE1DB1A61}"/>
              </a:ext>
            </a:extLst>
          </p:cNvPr>
          <p:cNvSpPr txBox="1">
            <a:spLocks noChangeArrowheads="1"/>
          </p:cNvSpPr>
          <p:nvPr/>
        </p:nvSpPr>
        <p:spPr bwMode="auto">
          <a:xfrm>
            <a:off x="1388265" y="1922692"/>
            <a:ext cx="5355805" cy="461665"/>
          </a:xfrm>
          <a:prstGeom prst="rect">
            <a:avLst/>
          </a:prstGeom>
          <a:noFill/>
          <a:ln w="38100" algn="ctr">
            <a:noFill/>
            <a:miter lim="800000"/>
            <a:headEnd/>
            <a:tailEnd type="none" w="med" len="lg"/>
          </a:ln>
          <a:effectLst/>
        </p:spPr>
        <p:txBody>
          <a:bodyPr wrap="square">
            <a:spAutoFit/>
          </a:bodyPr>
          <a:lstStyle/>
          <a:p>
            <a:r>
              <a:rPr lang="zh-CN" altLang="en-US" sz="2400" b="1" dirty="0">
                <a:latin typeface="黑体" pitchFamily="49" charset="-122"/>
                <a:ea typeface="黑体" pitchFamily="49" charset="-122"/>
                <a:cs typeface="经典粗黑简" pitchFamily="49" charset="-122"/>
              </a:rPr>
              <a:t>单源最短路径问题：</a:t>
            </a:r>
            <a:r>
              <a:rPr lang="en-US" altLang="zh-CN" sz="2400" b="1" dirty="0" err="1">
                <a:latin typeface="黑体" pitchFamily="49" charset="-122"/>
                <a:ea typeface="黑体" pitchFamily="49" charset="-122"/>
                <a:cs typeface="经典粗黑简" pitchFamily="49" charset="-122"/>
              </a:rPr>
              <a:t>Dijkstra</a:t>
            </a:r>
            <a:r>
              <a:rPr lang="zh-CN" altLang="en-US" sz="2400" b="1" dirty="0">
                <a:latin typeface="黑体" pitchFamily="49" charset="-122"/>
                <a:ea typeface="黑体" pitchFamily="49" charset="-122"/>
                <a:cs typeface="经典粗黑简" pitchFamily="49" charset="-122"/>
              </a:rPr>
              <a:t>算法</a:t>
            </a:r>
          </a:p>
        </p:txBody>
      </p:sp>
    </p:spTree>
    <p:extLst>
      <p:ext uri="{BB962C8B-B14F-4D97-AF65-F5344CB8AC3E}">
        <p14:creationId xmlns:p14="http://schemas.microsoft.com/office/powerpoint/2010/main" val="16888882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9017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grpId="0" nodeType="clickEffect">
                                  <p:stCondLst>
                                    <p:cond delay="0"/>
                                  </p:stCondLst>
                                  <p:childTnLst>
                                    <p:set>
                                      <p:cBhvr>
                                        <p:cTn id="10" dur="1" fill="hold">
                                          <p:stCondLst>
                                            <p:cond delay="0"/>
                                          </p:stCondLst>
                                        </p:cTn>
                                        <p:tgtEl>
                                          <p:spTgt spid="390176"/>
                                        </p:tgtEl>
                                        <p:attrNameLst>
                                          <p:attrName>style.visibility</p:attrName>
                                        </p:attrNameLst>
                                      </p:cBhvr>
                                      <p:to>
                                        <p:strVal val="visible"/>
                                      </p:to>
                                    </p:set>
                                    <p:animEffect transition="in" filter="wipe(left)">
                                      <p:cBhvr>
                                        <p:cTn id="11" dur="500"/>
                                        <p:tgtEl>
                                          <p:spTgt spid="390176"/>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390175"/>
                                        </p:tgtEl>
                                        <p:attrNameLst>
                                          <p:attrName>style.visibility</p:attrName>
                                        </p:attrNameLst>
                                      </p:cBhvr>
                                      <p:to>
                                        <p:strVal val="visible"/>
                                      </p:to>
                                    </p:set>
                                    <p:animEffect transition="in" filter="wipe(left)">
                                      <p:cBhvr>
                                        <p:cTn id="16" dur="500"/>
                                        <p:tgtEl>
                                          <p:spTgt spid="390175"/>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390177"/>
                                        </p:tgtEl>
                                        <p:attrNameLst>
                                          <p:attrName>style.visibility</p:attrName>
                                        </p:attrNameLst>
                                      </p:cBhvr>
                                      <p:to>
                                        <p:strVal val="visible"/>
                                      </p:to>
                                    </p:set>
                                    <p:animEffect transition="in" filter="wipe(left)">
                                      <p:cBhvr>
                                        <p:cTn id="21" dur="500"/>
                                        <p:tgtEl>
                                          <p:spTgt spid="3901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0174" grpId="0"/>
      <p:bldP spid="390175" grpId="0" autoUpdateAnimBg="0"/>
      <p:bldP spid="390176" grpId="0" autoUpdateAnimBg="0"/>
      <p:bldP spid="390177" grpId="0" autoUpdateAnimBg="0"/>
    </p:bld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Box 2">
            <a:extLst>
              <a:ext uri="{FF2B5EF4-FFF2-40B4-BE49-F238E27FC236}">
                <a16:creationId xmlns:a16="http://schemas.microsoft.com/office/drawing/2014/main" id="{A3698DED-22AC-BDB7-34C2-C90ED6A01160}"/>
              </a:ext>
            </a:extLst>
          </p:cNvPr>
          <p:cNvSpPr txBox="1">
            <a:spLocks noChangeArrowheads="1"/>
          </p:cNvSpPr>
          <p:nvPr/>
        </p:nvSpPr>
        <p:spPr bwMode="auto">
          <a:xfrm>
            <a:off x="1403176" y="2370048"/>
            <a:ext cx="6326088" cy="8371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rnd">
                <a:solidFill>
                  <a:srgbClr val="000000"/>
                </a:solidFill>
                <a:miter lim="800000"/>
                <a:headEnd/>
                <a:tailEnd/>
              </a14:hiddenLine>
            </a:ext>
          </a:extLst>
        </p:spPr>
        <p:txBody>
          <a:bodyPr wrap="square">
            <a:spAutoFit/>
          </a:bodyPr>
          <a:lstStyle>
            <a:lvl1pPr marL="457200" indent="-457200" eaLnBrk="0" hangingPunct="0">
              <a:defRPr kumimoji="1" sz="2800">
                <a:solidFill>
                  <a:schemeClr val="tx1"/>
                </a:solidFill>
                <a:latin typeface="Comic Sans MS" pitchFamily="66" charset="0"/>
                <a:ea typeface="宋体" pitchFamily="2" charset="-122"/>
              </a:defRPr>
            </a:lvl1pPr>
            <a:lvl2pPr marL="914400" indent="-457200" eaLnBrk="0" hangingPunct="0">
              <a:defRPr kumimoji="1" sz="2800">
                <a:solidFill>
                  <a:schemeClr val="tx1"/>
                </a:solidFill>
                <a:latin typeface="Comic Sans MS" pitchFamily="66" charset="0"/>
                <a:ea typeface="宋体" pitchFamily="2" charset="-122"/>
              </a:defRPr>
            </a:lvl2pPr>
            <a:lvl3pPr marL="1143000" indent="-228600" eaLnBrk="0" hangingPunct="0">
              <a:defRPr kumimoji="1" sz="2800">
                <a:solidFill>
                  <a:schemeClr val="tx1"/>
                </a:solidFill>
                <a:latin typeface="Comic Sans MS" pitchFamily="66" charset="0"/>
                <a:ea typeface="宋体" pitchFamily="2" charset="-122"/>
              </a:defRPr>
            </a:lvl3pPr>
            <a:lvl4pPr marL="1600200" indent="-228600" eaLnBrk="0" hangingPunct="0">
              <a:defRPr kumimoji="1" sz="2800">
                <a:solidFill>
                  <a:schemeClr val="tx1"/>
                </a:solidFill>
                <a:latin typeface="Comic Sans MS" pitchFamily="66" charset="0"/>
                <a:ea typeface="宋体" pitchFamily="2" charset="-122"/>
              </a:defRPr>
            </a:lvl4pPr>
            <a:lvl5pPr marL="2057400" indent="-228600" eaLnBrk="0" hangingPunct="0">
              <a:defRPr kumimoji="1" sz="2800">
                <a:solidFill>
                  <a:schemeClr val="tx1"/>
                </a:solidFill>
                <a:latin typeface="Comic Sans MS" pitchFamily="66" charset="0"/>
                <a:ea typeface="宋体" pitchFamily="2" charset="-122"/>
              </a:defRPr>
            </a:lvl5pPr>
            <a:lvl6pPr marL="2514600" indent="-228600" algn="ctr" eaLnBrk="0" fontAlgn="base" hangingPunct="0">
              <a:spcBef>
                <a:spcPct val="0"/>
              </a:spcBef>
              <a:spcAft>
                <a:spcPct val="0"/>
              </a:spcAft>
              <a:defRPr kumimoji="1" sz="2800">
                <a:solidFill>
                  <a:schemeClr val="tx1"/>
                </a:solidFill>
                <a:latin typeface="Comic Sans MS" pitchFamily="66" charset="0"/>
                <a:ea typeface="宋体" pitchFamily="2" charset="-122"/>
              </a:defRPr>
            </a:lvl6pPr>
            <a:lvl7pPr marL="2971800" indent="-228600" algn="ctr" eaLnBrk="0" fontAlgn="base" hangingPunct="0">
              <a:spcBef>
                <a:spcPct val="0"/>
              </a:spcBef>
              <a:spcAft>
                <a:spcPct val="0"/>
              </a:spcAft>
              <a:defRPr kumimoji="1" sz="2800">
                <a:solidFill>
                  <a:schemeClr val="tx1"/>
                </a:solidFill>
                <a:latin typeface="Comic Sans MS" pitchFamily="66" charset="0"/>
                <a:ea typeface="宋体" pitchFamily="2" charset="-122"/>
              </a:defRPr>
            </a:lvl7pPr>
            <a:lvl8pPr marL="3429000" indent="-228600" algn="ctr" eaLnBrk="0" fontAlgn="base" hangingPunct="0">
              <a:spcBef>
                <a:spcPct val="0"/>
              </a:spcBef>
              <a:spcAft>
                <a:spcPct val="0"/>
              </a:spcAft>
              <a:defRPr kumimoji="1" sz="2800">
                <a:solidFill>
                  <a:schemeClr val="tx1"/>
                </a:solidFill>
                <a:latin typeface="Comic Sans MS" pitchFamily="66" charset="0"/>
                <a:ea typeface="宋体" pitchFamily="2" charset="-122"/>
              </a:defRPr>
            </a:lvl8pPr>
            <a:lvl9pPr marL="3886200" indent="-228600" algn="ctr" eaLnBrk="0" fontAlgn="base" hangingPunct="0">
              <a:spcBef>
                <a:spcPct val="0"/>
              </a:spcBef>
              <a:spcAft>
                <a:spcPct val="0"/>
              </a:spcAft>
              <a:defRPr kumimoji="1" sz="2800">
                <a:solidFill>
                  <a:schemeClr val="tx1"/>
                </a:solidFill>
                <a:latin typeface="Comic Sans MS" pitchFamily="66" charset="0"/>
                <a:ea typeface="宋体" pitchFamily="2" charset="-122"/>
              </a:defRPr>
            </a:lvl9pPr>
          </a:lstStyle>
          <a:p>
            <a:pPr marL="0" indent="0" algn="just">
              <a:spcBef>
                <a:spcPct val="20000"/>
              </a:spcBef>
            </a:pPr>
            <a:r>
              <a:rPr lang="en-US" altLang="zh-CN" sz="2200" dirty="0" err="1">
                <a:latin typeface="Times New Roman" pitchFamily="18" charset="0"/>
                <a:ea typeface="黑体" pitchFamily="49" charset="-122"/>
                <a:cs typeface="Times New Roman" pitchFamily="18" charset="0"/>
              </a:rPr>
              <a:t>Dijkstra</a:t>
            </a:r>
            <a:r>
              <a:rPr lang="zh-CN" altLang="en-US" sz="2200" dirty="0">
                <a:latin typeface="黑体" pitchFamily="49" charset="-122"/>
                <a:ea typeface="黑体" pitchFamily="49" charset="-122"/>
                <a:cs typeface="经典粗黑简" pitchFamily="49" charset="-122"/>
              </a:rPr>
              <a:t>算法</a:t>
            </a:r>
            <a:r>
              <a:rPr lang="en-US" altLang="zh-CN" sz="2200" dirty="0">
                <a:latin typeface="黑体" pitchFamily="49" charset="-122"/>
                <a:ea typeface="黑体" pitchFamily="49" charset="-122"/>
                <a:cs typeface="经典粗黑简" pitchFamily="49" charset="-122"/>
              </a:rPr>
              <a:t>(</a:t>
            </a:r>
            <a:r>
              <a:rPr lang="en-US" altLang="zh-CN" sz="2200" dirty="0">
                <a:latin typeface="Times New Roman" pitchFamily="18" charset="0"/>
                <a:ea typeface="黑体" pitchFamily="49" charset="-122"/>
                <a:cs typeface="Times New Roman" pitchFamily="18" charset="0"/>
              </a:rPr>
              <a:t>1959</a:t>
            </a:r>
            <a:r>
              <a:rPr lang="en-US" altLang="zh-CN" sz="2200" dirty="0">
                <a:latin typeface="黑体" pitchFamily="49" charset="-122"/>
                <a:ea typeface="黑体" pitchFamily="49" charset="-122"/>
                <a:cs typeface="经典粗黑简" pitchFamily="49" charset="-122"/>
              </a:rPr>
              <a:t>)</a:t>
            </a:r>
            <a:r>
              <a:rPr lang="zh-CN" altLang="en-US" sz="2200" dirty="0">
                <a:latin typeface="黑体" pitchFamily="49" charset="-122"/>
                <a:ea typeface="黑体" pitchFamily="49" charset="-122"/>
                <a:cs typeface="经典粗黑简" pitchFamily="49" charset="-122"/>
              </a:rPr>
              <a:t>的基本思想</a:t>
            </a:r>
          </a:p>
          <a:p>
            <a:pPr lvl="1" algn="just">
              <a:spcBef>
                <a:spcPct val="20000"/>
              </a:spcBef>
              <a:buFont typeface="Wingdings" pitchFamily="2" charset="2"/>
              <a:buChar char="Ø"/>
            </a:pPr>
            <a:r>
              <a:rPr lang="zh-CN" altLang="en-US" sz="2200" dirty="0">
                <a:solidFill>
                  <a:srgbClr val="FF0000"/>
                </a:solidFill>
                <a:latin typeface="黑体" pitchFamily="49" charset="-122"/>
                <a:ea typeface="黑体" pitchFamily="49" charset="-122"/>
                <a:cs typeface="经典粗黑简" pitchFamily="49" charset="-122"/>
              </a:rPr>
              <a:t>按路径长度递增顺序</a:t>
            </a:r>
            <a:r>
              <a:rPr lang="zh-CN" altLang="en-US" sz="2200" dirty="0">
                <a:latin typeface="黑体" pitchFamily="49" charset="-122"/>
                <a:ea typeface="黑体" pitchFamily="49" charset="-122"/>
                <a:cs typeface="经典粗黑简" pitchFamily="49" charset="-122"/>
              </a:rPr>
              <a:t>求最短路径算法。</a:t>
            </a:r>
          </a:p>
        </p:txBody>
      </p:sp>
      <p:sp>
        <p:nvSpPr>
          <p:cNvPr id="9" name="Rectangle 2">
            <a:extLst>
              <a:ext uri="{FF2B5EF4-FFF2-40B4-BE49-F238E27FC236}">
                <a16:creationId xmlns:a16="http://schemas.microsoft.com/office/drawing/2014/main" id="{547F15CF-5C4B-CD35-0FC9-DFEE857C8790}"/>
              </a:ext>
            </a:extLst>
          </p:cNvPr>
          <p:cNvSpPr txBox="1">
            <a:spLocks noChangeArrowheads="1"/>
          </p:cNvSpPr>
          <p:nvPr/>
        </p:nvSpPr>
        <p:spPr>
          <a:xfrm>
            <a:off x="474771" y="1230902"/>
            <a:ext cx="10949819"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8.5.2 </a:t>
            </a:r>
            <a:r>
              <a:rPr lang="zh-CN" altLang="en-US" dirty="0"/>
              <a:t>从一个顶点到其余各顶点的最短路径（单源点最短路径问题）</a:t>
            </a:r>
          </a:p>
        </p:txBody>
      </p:sp>
      <p:cxnSp>
        <p:nvCxnSpPr>
          <p:cNvPr id="10" name="直接连接符 9">
            <a:extLst>
              <a:ext uri="{FF2B5EF4-FFF2-40B4-BE49-F238E27FC236}">
                <a16:creationId xmlns:a16="http://schemas.microsoft.com/office/drawing/2014/main" id="{13639D01-C520-6CD5-C80C-D9BADAD90A5E}"/>
              </a:ext>
            </a:extLst>
          </p:cNvPr>
          <p:cNvCxnSpPr>
            <a:cxnSpLocks/>
          </p:cNvCxnSpPr>
          <p:nvPr/>
        </p:nvCxnSpPr>
        <p:spPr>
          <a:xfrm>
            <a:off x="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11" name="矩形 10">
            <a:extLst>
              <a:ext uri="{FF2B5EF4-FFF2-40B4-BE49-F238E27FC236}">
                <a16:creationId xmlns:a16="http://schemas.microsoft.com/office/drawing/2014/main" id="{83C44420-0E32-A554-6D64-257CD0BE0896}"/>
              </a:ext>
            </a:extLst>
          </p:cNvPr>
          <p:cNvSpPr/>
          <p:nvPr/>
        </p:nvSpPr>
        <p:spPr>
          <a:xfrm>
            <a:off x="3394075" y="399838"/>
            <a:ext cx="4617860"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8.5 </a:t>
            </a:r>
            <a:r>
              <a:rPr lang="zh-CN" altLang="en-US" sz="3000" b="1" dirty="0">
                <a:latin typeface="黑体" pitchFamily="49" charset="-122"/>
                <a:ea typeface="黑体" pitchFamily="49" charset="-122"/>
                <a:cs typeface="经典粗黑简" pitchFamily="49" charset="-122"/>
              </a:rPr>
              <a:t>最短路径</a:t>
            </a:r>
          </a:p>
        </p:txBody>
      </p:sp>
      <p:sp>
        <p:nvSpPr>
          <p:cNvPr id="18" name="Text Box 4">
            <a:extLst>
              <a:ext uri="{FF2B5EF4-FFF2-40B4-BE49-F238E27FC236}">
                <a16:creationId xmlns:a16="http://schemas.microsoft.com/office/drawing/2014/main" id="{6405E05C-D2A6-361D-C25C-D4AB71E4508A}"/>
              </a:ext>
            </a:extLst>
          </p:cNvPr>
          <p:cNvSpPr txBox="1">
            <a:spLocks noChangeArrowheads="1"/>
          </p:cNvSpPr>
          <p:nvPr/>
        </p:nvSpPr>
        <p:spPr bwMode="auto">
          <a:xfrm>
            <a:off x="1388265" y="1922692"/>
            <a:ext cx="5355805" cy="461665"/>
          </a:xfrm>
          <a:prstGeom prst="rect">
            <a:avLst/>
          </a:prstGeom>
          <a:noFill/>
          <a:ln w="38100" algn="ctr">
            <a:noFill/>
            <a:miter lim="800000"/>
            <a:headEnd/>
            <a:tailEnd type="none" w="med" len="lg"/>
          </a:ln>
          <a:effectLst/>
        </p:spPr>
        <p:txBody>
          <a:bodyPr wrap="square">
            <a:spAutoFit/>
          </a:bodyPr>
          <a:lstStyle/>
          <a:p>
            <a:r>
              <a:rPr lang="zh-CN" altLang="en-US" sz="2400" b="1" dirty="0">
                <a:latin typeface="黑体" pitchFamily="49" charset="-122"/>
                <a:ea typeface="黑体" pitchFamily="49" charset="-122"/>
                <a:cs typeface="经典粗黑简" pitchFamily="49" charset="-122"/>
              </a:rPr>
              <a:t>单源最短路径问题：</a:t>
            </a:r>
            <a:r>
              <a:rPr lang="en-US" altLang="zh-CN" sz="2400" b="1" dirty="0" err="1">
                <a:latin typeface="黑体" pitchFamily="49" charset="-122"/>
                <a:ea typeface="黑体" pitchFamily="49" charset="-122"/>
                <a:cs typeface="经典粗黑简" pitchFamily="49" charset="-122"/>
              </a:rPr>
              <a:t>Dijkstra</a:t>
            </a:r>
            <a:r>
              <a:rPr lang="zh-CN" altLang="en-US" sz="2400" b="1" dirty="0">
                <a:latin typeface="黑体" pitchFamily="49" charset="-122"/>
                <a:ea typeface="黑体" pitchFamily="49" charset="-122"/>
                <a:cs typeface="经典粗黑简" pitchFamily="49" charset="-122"/>
              </a:rPr>
              <a:t>算法</a:t>
            </a:r>
          </a:p>
        </p:txBody>
      </p:sp>
      <p:sp>
        <p:nvSpPr>
          <p:cNvPr id="19" name="Text Box 2">
            <a:extLst>
              <a:ext uri="{FF2B5EF4-FFF2-40B4-BE49-F238E27FC236}">
                <a16:creationId xmlns:a16="http://schemas.microsoft.com/office/drawing/2014/main" id="{BF4A8595-548B-55F2-674A-9060E5A9BD44}"/>
              </a:ext>
            </a:extLst>
          </p:cNvPr>
          <p:cNvSpPr txBox="1">
            <a:spLocks noChangeArrowheads="1"/>
          </p:cNvSpPr>
          <p:nvPr/>
        </p:nvSpPr>
        <p:spPr bwMode="auto">
          <a:xfrm>
            <a:off x="512526" y="3272658"/>
            <a:ext cx="8107388" cy="400110"/>
          </a:xfrm>
          <a:prstGeom prst="rect">
            <a:avLst/>
          </a:prstGeom>
          <a:noFill/>
          <a:ln w="9525">
            <a:noFill/>
            <a:miter lim="800000"/>
            <a:headEnd/>
            <a:tailEnd/>
          </a:ln>
          <a:effectLst/>
        </p:spPr>
        <p:txBody>
          <a:bodyPr wrap="square">
            <a:spAutoFit/>
          </a:bodyPr>
          <a:lstStyle/>
          <a:p>
            <a:pPr algn="just"/>
            <a:r>
              <a:rPr kumimoji="1" lang="zh-CN" altLang="en-US" sz="2000" dirty="0">
                <a:solidFill>
                  <a:srgbClr val="1000E4"/>
                </a:solidFill>
                <a:latin typeface="Consolas" pitchFamily="49" charset="0"/>
                <a:ea typeface="楷体" pitchFamily="49" charset="-122"/>
                <a:cs typeface="Consolas" pitchFamily="49" charset="0"/>
              </a:rPr>
              <a:t>设</a:t>
            </a:r>
            <a:r>
              <a:rPr kumimoji="1" lang="en-US" altLang="zh-CN" sz="2000" dirty="0">
                <a:solidFill>
                  <a:srgbClr val="1000E4"/>
                </a:solidFill>
                <a:latin typeface="Consolas" pitchFamily="49" charset="0"/>
                <a:ea typeface="楷体" pitchFamily="49" charset="-122"/>
                <a:cs typeface="Consolas" pitchFamily="49" charset="0"/>
              </a:rPr>
              <a:t>G=(V</a:t>
            </a:r>
            <a:r>
              <a:rPr kumimoji="1" lang="zh-CN" altLang="en-US" sz="2000" dirty="0">
                <a:solidFill>
                  <a:srgbClr val="1000E4"/>
                </a:solidFill>
                <a:latin typeface="Consolas" pitchFamily="49" charset="0"/>
                <a:ea typeface="楷体" pitchFamily="49" charset="-122"/>
                <a:cs typeface="Consolas" pitchFamily="49" charset="0"/>
              </a:rPr>
              <a:t>，</a:t>
            </a:r>
            <a:r>
              <a:rPr kumimoji="1" lang="en-US" altLang="zh-CN" sz="2000" dirty="0">
                <a:solidFill>
                  <a:srgbClr val="1000E4"/>
                </a:solidFill>
                <a:latin typeface="Consolas" pitchFamily="49" charset="0"/>
                <a:ea typeface="楷体" pitchFamily="49" charset="-122"/>
                <a:cs typeface="Consolas" pitchFamily="49" charset="0"/>
              </a:rPr>
              <a:t>E)</a:t>
            </a:r>
            <a:r>
              <a:rPr kumimoji="1" lang="zh-CN" altLang="en-US" sz="2000" dirty="0">
                <a:solidFill>
                  <a:srgbClr val="1000E4"/>
                </a:solidFill>
                <a:latin typeface="Consolas" pitchFamily="49" charset="0"/>
                <a:ea typeface="楷体" pitchFamily="49" charset="-122"/>
                <a:cs typeface="Consolas" pitchFamily="49" charset="0"/>
              </a:rPr>
              <a:t>是一个带权有向图， 把图中顶点集合</a:t>
            </a:r>
            <a:r>
              <a:rPr kumimoji="1" lang="en-US" altLang="zh-CN" sz="2000" dirty="0">
                <a:solidFill>
                  <a:srgbClr val="1000E4"/>
                </a:solidFill>
                <a:latin typeface="Consolas" pitchFamily="49" charset="0"/>
                <a:ea typeface="楷体" pitchFamily="49" charset="-122"/>
                <a:cs typeface="Consolas" pitchFamily="49" charset="0"/>
              </a:rPr>
              <a:t>V</a:t>
            </a:r>
            <a:r>
              <a:rPr kumimoji="1" lang="zh-CN" altLang="en-US" sz="2000" dirty="0">
                <a:solidFill>
                  <a:srgbClr val="1000E4"/>
                </a:solidFill>
                <a:latin typeface="Consolas" pitchFamily="49" charset="0"/>
                <a:ea typeface="楷体" pitchFamily="49" charset="-122"/>
                <a:cs typeface="Consolas" pitchFamily="49" charset="0"/>
              </a:rPr>
              <a:t>分成两组：       </a:t>
            </a:r>
          </a:p>
        </p:txBody>
      </p:sp>
      <p:sp>
        <p:nvSpPr>
          <p:cNvPr id="20" name="Text Box 5">
            <a:extLst>
              <a:ext uri="{FF2B5EF4-FFF2-40B4-BE49-F238E27FC236}">
                <a16:creationId xmlns:a16="http://schemas.microsoft.com/office/drawing/2014/main" id="{CB0060EE-83BC-5DDA-1CE3-BB7D06FB2371}"/>
              </a:ext>
            </a:extLst>
          </p:cNvPr>
          <p:cNvSpPr txBox="1">
            <a:spLocks noChangeArrowheads="1"/>
          </p:cNvSpPr>
          <p:nvPr/>
        </p:nvSpPr>
        <p:spPr bwMode="auto">
          <a:xfrm>
            <a:off x="2472041" y="5237765"/>
            <a:ext cx="576263" cy="307777"/>
          </a:xfrm>
          <a:prstGeom prst="rect">
            <a:avLst/>
          </a:prstGeom>
          <a:noFill/>
          <a:ln w="38100" algn="ctr">
            <a:noFill/>
            <a:miter lim="800000"/>
            <a:headEnd/>
            <a:tailEnd type="none" w="med" len="lg"/>
          </a:ln>
          <a:effectLst/>
        </p:spPr>
        <p:txBody>
          <a:bodyPr lIns="0" tIns="0" rIns="0" bIns="0">
            <a:spAutoFit/>
          </a:bodyPr>
          <a:lstStyle/>
          <a:p>
            <a:pPr algn="ctr"/>
            <a:r>
              <a:rPr lang="en-US" altLang="zh-CN" sz="2000" dirty="0">
                <a:latin typeface="Consolas" pitchFamily="49" charset="0"/>
                <a:cs typeface="Consolas" pitchFamily="49" charset="0"/>
              </a:rPr>
              <a:t>S</a:t>
            </a:r>
          </a:p>
        </p:txBody>
      </p:sp>
      <p:sp>
        <p:nvSpPr>
          <p:cNvPr id="21" name="Oval 4">
            <a:extLst>
              <a:ext uri="{FF2B5EF4-FFF2-40B4-BE49-F238E27FC236}">
                <a16:creationId xmlns:a16="http://schemas.microsoft.com/office/drawing/2014/main" id="{85695B82-ABB1-7465-068E-90D62B7CA22D}"/>
              </a:ext>
            </a:extLst>
          </p:cNvPr>
          <p:cNvSpPr>
            <a:spLocks noChangeArrowheads="1"/>
          </p:cNvSpPr>
          <p:nvPr/>
        </p:nvSpPr>
        <p:spPr bwMode="auto">
          <a:xfrm>
            <a:off x="2172642" y="5531721"/>
            <a:ext cx="1294805" cy="1295400"/>
          </a:xfrm>
          <a:prstGeom prst="ellipse">
            <a:avLst/>
          </a:prstGeom>
          <a:solidFill>
            <a:srgbClr val="FFFFFF">
              <a:alpha val="0"/>
            </a:srgbClr>
          </a:solidFill>
          <a:ln w="38100" algn="ctr">
            <a:solidFill>
              <a:srgbClr val="FF00FF"/>
            </a:solidFill>
            <a:prstDash val="sysDot"/>
            <a:round/>
            <a:headEnd/>
            <a:tailEnd type="none" w="med" len="lg"/>
          </a:ln>
          <a:effectLst/>
        </p:spPr>
        <p:txBody>
          <a:bodyPr wrap="none" anchor="ctr"/>
          <a:lstStyle/>
          <a:p>
            <a:endParaRPr lang="zh-CN" altLang="en-US">
              <a:latin typeface="Consolas" pitchFamily="49" charset="0"/>
              <a:cs typeface="Consolas" pitchFamily="49" charset="0"/>
            </a:endParaRPr>
          </a:p>
        </p:txBody>
      </p:sp>
      <p:sp>
        <p:nvSpPr>
          <p:cNvPr id="22" name="Oval 6">
            <a:extLst>
              <a:ext uri="{FF2B5EF4-FFF2-40B4-BE49-F238E27FC236}">
                <a16:creationId xmlns:a16="http://schemas.microsoft.com/office/drawing/2014/main" id="{961816CD-F66D-50AF-1598-6E7FE236DDC7}"/>
              </a:ext>
            </a:extLst>
          </p:cNvPr>
          <p:cNvSpPr>
            <a:spLocks noChangeArrowheads="1"/>
          </p:cNvSpPr>
          <p:nvPr/>
        </p:nvSpPr>
        <p:spPr bwMode="auto">
          <a:xfrm>
            <a:off x="2544272" y="5950778"/>
            <a:ext cx="431800"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pPr algn="ctr">
              <a:spcBef>
                <a:spcPct val="0"/>
              </a:spcBef>
            </a:pPr>
            <a:r>
              <a:rPr lang="en-US" altLang="zh-CN" sz="2000" i="1" dirty="0">
                <a:solidFill>
                  <a:srgbClr val="3333FF"/>
                </a:solidFill>
                <a:latin typeface="Consolas" pitchFamily="49" charset="0"/>
                <a:cs typeface="Consolas" pitchFamily="49" charset="0"/>
              </a:rPr>
              <a:t>v</a:t>
            </a:r>
          </a:p>
        </p:txBody>
      </p:sp>
      <p:sp>
        <p:nvSpPr>
          <p:cNvPr id="24" name="Oval 9">
            <a:extLst>
              <a:ext uri="{FF2B5EF4-FFF2-40B4-BE49-F238E27FC236}">
                <a16:creationId xmlns:a16="http://schemas.microsoft.com/office/drawing/2014/main" id="{ACD7CD05-D26F-5116-31A4-001249C53FF8}"/>
              </a:ext>
            </a:extLst>
          </p:cNvPr>
          <p:cNvSpPr>
            <a:spLocks noChangeArrowheads="1"/>
          </p:cNvSpPr>
          <p:nvPr/>
        </p:nvSpPr>
        <p:spPr bwMode="auto">
          <a:xfrm>
            <a:off x="7580134" y="5420433"/>
            <a:ext cx="1396185" cy="1406687"/>
          </a:xfrm>
          <a:prstGeom prst="ellipse">
            <a:avLst/>
          </a:prstGeom>
          <a:solidFill>
            <a:srgbClr val="FFFFFF">
              <a:alpha val="0"/>
            </a:srgbClr>
          </a:solidFill>
          <a:ln w="38100" algn="ctr">
            <a:solidFill>
              <a:srgbClr val="FF00FF"/>
            </a:solidFill>
            <a:prstDash val="sysDot"/>
            <a:round/>
            <a:headEnd/>
            <a:tailEnd type="none" w="med" len="lg"/>
          </a:ln>
          <a:effectLst/>
        </p:spPr>
        <p:txBody>
          <a:bodyPr wrap="none" anchor="ctr"/>
          <a:lstStyle/>
          <a:p>
            <a:endParaRPr lang="zh-CN" altLang="en-US">
              <a:latin typeface="Consolas" pitchFamily="49" charset="0"/>
              <a:cs typeface="Consolas" pitchFamily="49" charset="0"/>
            </a:endParaRPr>
          </a:p>
        </p:txBody>
      </p:sp>
      <p:sp>
        <p:nvSpPr>
          <p:cNvPr id="28" name="Text Box 10">
            <a:extLst>
              <a:ext uri="{FF2B5EF4-FFF2-40B4-BE49-F238E27FC236}">
                <a16:creationId xmlns:a16="http://schemas.microsoft.com/office/drawing/2014/main" id="{2ECE14C0-C372-F14F-C91C-D29BC789F3B9}"/>
              </a:ext>
            </a:extLst>
          </p:cNvPr>
          <p:cNvSpPr txBox="1">
            <a:spLocks noChangeArrowheads="1"/>
          </p:cNvSpPr>
          <p:nvPr/>
        </p:nvSpPr>
        <p:spPr bwMode="auto">
          <a:xfrm>
            <a:off x="7710871" y="5191304"/>
            <a:ext cx="1008063" cy="307777"/>
          </a:xfrm>
          <a:prstGeom prst="rect">
            <a:avLst/>
          </a:prstGeom>
          <a:noFill/>
          <a:ln w="38100" algn="ctr">
            <a:noFill/>
            <a:miter lim="800000"/>
            <a:headEnd/>
            <a:tailEnd type="none" w="med" len="lg"/>
          </a:ln>
          <a:effectLst/>
        </p:spPr>
        <p:txBody>
          <a:bodyPr lIns="0" tIns="0" rIns="0" bIns="0">
            <a:spAutoFit/>
          </a:bodyPr>
          <a:lstStyle/>
          <a:p>
            <a:pPr algn="ctr"/>
            <a:r>
              <a:rPr lang="en-US" altLang="zh-CN" sz="2000" dirty="0">
                <a:latin typeface="Consolas" pitchFamily="49" charset="0"/>
                <a:cs typeface="Consolas" pitchFamily="49" charset="0"/>
              </a:rPr>
              <a:t>U=V</a:t>
            </a:r>
            <a:r>
              <a:rPr lang="en-US" altLang="zh-CN" sz="2000" dirty="0">
                <a:latin typeface="Consolas" pitchFamily="49" charset="0"/>
                <a:ea typeface="宋体" pitchFamily="2" charset="-122"/>
                <a:cs typeface="Consolas" pitchFamily="49" charset="0"/>
              </a:rPr>
              <a:t>-</a:t>
            </a:r>
            <a:r>
              <a:rPr lang="en-US" altLang="zh-CN" sz="2000" dirty="0">
                <a:latin typeface="Consolas" pitchFamily="49" charset="0"/>
                <a:cs typeface="Consolas" pitchFamily="49" charset="0"/>
              </a:rPr>
              <a:t>S</a:t>
            </a:r>
          </a:p>
        </p:txBody>
      </p:sp>
      <p:sp>
        <p:nvSpPr>
          <p:cNvPr id="29" name="Oval 11">
            <a:extLst>
              <a:ext uri="{FF2B5EF4-FFF2-40B4-BE49-F238E27FC236}">
                <a16:creationId xmlns:a16="http://schemas.microsoft.com/office/drawing/2014/main" id="{8B616DBB-0441-945A-B3AE-3F2F3E609E7A}"/>
              </a:ext>
            </a:extLst>
          </p:cNvPr>
          <p:cNvSpPr>
            <a:spLocks noChangeArrowheads="1"/>
          </p:cNvSpPr>
          <p:nvPr/>
        </p:nvSpPr>
        <p:spPr bwMode="auto">
          <a:xfrm>
            <a:off x="8227835" y="5568872"/>
            <a:ext cx="431800"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pPr algn="ctr">
              <a:spcBef>
                <a:spcPct val="0"/>
              </a:spcBef>
            </a:pPr>
            <a:r>
              <a:rPr lang="en-US" altLang="zh-CN" sz="2000" i="1">
                <a:solidFill>
                  <a:srgbClr val="3333FF"/>
                </a:solidFill>
                <a:latin typeface="Consolas" pitchFamily="49" charset="0"/>
                <a:cs typeface="Consolas" pitchFamily="49" charset="0"/>
              </a:rPr>
              <a:t>u</a:t>
            </a:r>
          </a:p>
        </p:txBody>
      </p:sp>
      <p:sp>
        <p:nvSpPr>
          <p:cNvPr id="30" name="Oval 12">
            <a:extLst>
              <a:ext uri="{FF2B5EF4-FFF2-40B4-BE49-F238E27FC236}">
                <a16:creationId xmlns:a16="http://schemas.microsoft.com/office/drawing/2014/main" id="{36FD06BC-A564-764F-7F0C-9AA429E3EFD6}"/>
              </a:ext>
            </a:extLst>
          </p:cNvPr>
          <p:cNvSpPr>
            <a:spLocks noChangeArrowheads="1"/>
          </p:cNvSpPr>
          <p:nvPr/>
        </p:nvSpPr>
        <p:spPr bwMode="auto">
          <a:xfrm>
            <a:off x="8154810" y="6216572"/>
            <a:ext cx="431800"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pPr algn="ctr">
              <a:spcBef>
                <a:spcPct val="0"/>
              </a:spcBef>
            </a:pPr>
            <a:endParaRPr lang="zh-CN" altLang="zh-CN" sz="2000" i="1">
              <a:solidFill>
                <a:srgbClr val="3333FF"/>
              </a:solidFill>
              <a:latin typeface="Consolas" pitchFamily="49" charset="0"/>
              <a:cs typeface="Consolas" pitchFamily="49" charset="0"/>
            </a:endParaRPr>
          </a:p>
        </p:txBody>
      </p:sp>
      <p:sp>
        <p:nvSpPr>
          <p:cNvPr id="31" name="Oval 13">
            <a:extLst>
              <a:ext uri="{FF2B5EF4-FFF2-40B4-BE49-F238E27FC236}">
                <a16:creationId xmlns:a16="http://schemas.microsoft.com/office/drawing/2014/main" id="{3D6B0BD9-6833-2362-8265-8BD66B6263FE}"/>
              </a:ext>
            </a:extLst>
          </p:cNvPr>
          <p:cNvSpPr>
            <a:spLocks noChangeArrowheads="1"/>
          </p:cNvSpPr>
          <p:nvPr/>
        </p:nvSpPr>
        <p:spPr bwMode="auto">
          <a:xfrm>
            <a:off x="7580135" y="5857797"/>
            <a:ext cx="431800"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pPr algn="ctr">
              <a:spcBef>
                <a:spcPct val="0"/>
              </a:spcBef>
            </a:pPr>
            <a:endParaRPr lang="zh-CN" altLang="zh-CN" sz="2000" i="1">
              <a:solidFill>
                <a:srgbClr val="3333FF"/>
              </a:solidFill>
              <a:latin typeface="Consolas" pitchFamily="49" charset="0"/>
              <a:cs typeface="Consolas" pitchFamily="49" charset="0"/>
            </a:endParaRPr>
          </a:p>
        </p:txBody>
      </p:sp>
      <p:sp>
        <p:nvSpPr>
          <p:cNvPr id="32" name="TextBox 16">
            <a:extLst>
              <a:ext uri="{FF2B5EF4-FFF2-40B4-BE49-F238E27FC236}">
                <a16:creationId xmlns:a16="http://schemas.microsoft.com/office/drawing/2014/main" id="{6CF974BC-F5DC-57B5-7FED-F103A6099507}"/>
              </a:ext>
            </a:extLst>
          </p:cNvPr>
          <p:cNvSpPr txBox="1"/>
          <p:nvPr/>
        </p:nvSpPr>
        <p:spPr>
          <a:xfrm>
            <a:off x="623392" y="3690201"/>
            <a:ext cx="11233248" cy="1476412"/>
          </a:xfrm>
          <a:prstGeom prst="rect">
            <a:avLst/>
          </a:prstGeom>
          <a:solidFill>
            <a:schemeClr val="bg1">
              <a:lumMod val="95000"/>
            </a:schemeClr>
          </a:solidFill>
        </p:spPr>
        <p:style>
          <a:lnRef idx="1">
            <a:schemeClr val="accent4"/>
          </a:lnRef>
          <a:fillRef idx="2">
            <a:schemeClr val="accent4"/>
          </a:fillRef>
          <a:effectRef idx="1">
            <a:schemeClr val="accent4"/>
          </a:effectRef>
          <a:fontRef idx="minor">
            <a:schemeClr val="dk1"/>
          </a:fontRef>
        </p:style>
        <p:txBody>
          <a:bodyPr wrap="square" tIns="72000" bIns="72000" rtlCol="0">
            <a:spAutoFit/>
          </a:bodyPr>
          <a:lstStyle/>
          <a:p>
            <a:pPr marL="457200" indent="-457200">
              <a:lnSpc>
                <a:spcPct val="150000"/>
              </a:lnSpc>
              <a:buBlip>
                <a:blip r:embed="rId2"/>
              </a:buBlip>
            </a:pPr>
            <a:r>
              <a:rPr kumimoji="1" lang="zh-CN" altLang="en-US" sz="2000" dirty="0">
                <a:solidFill>
                  <a:srgbClr val="FF0000"/>
                </a:solidFill>
                <a:latin typeface="Consolas" pitchFamily="49" charset="0"/>
                <a:ea typeface="仿宋" pitchFamily="49" charset="-122"/>
                <a:cs typeface="Consolas" pitchFamily="49" charset="0"/>
              </a:rPr>
              <a:t>第</a:t>
            </a:r>
            <a:r>
              <a:rPr kumimoji="1" lang="en-US" altLang="zh-CN" sz="2000" dirty="0">
                <a:solidFill>
                  <a:srgbClr val="FF0000"/>
                </a:solidFill>
                <a:latin typeface="Consolas" pitchFamily="49" charset="0"/>
                <a:ea typeface="仿宋" pitchFamily="49" charset="-122"/>
                <a:cs typeface="Consolas" pitchFamily="49" charset="0"/>
              </a:rPr>
              <a:t>1</a:t>
            </a:r>
            <a:r>
              <a:rPr kumimoji="1" lang="zh-CN" altLang="en-US" sz="2000" dirty="0">
                <a:solidFill>
                  <a:srgbClr val="FF0000"/>
                </a:solidFill>
                <a:latin typeface="Consolas" pitchFamily="49" charset="0"/>
                <a:ea typeface="仿宋" pitchFamily="49" charset="-122"/>
                <a:cs typeface="Consolas" pitchFamily="49" charset="0"/>
              </a:rPr>
              <a:t>组</a:t>
            </a:r>
            <a:r>
              <a:rPr kumimoji="1" lang="zh-CN" altLang="en-US" sz="2000" dirty="0">
                <a:solidFill>
                  <a:srgbClr val="3333FF"/>
                </a:solidFill>
                <a:latin typeface="Consolas" pitchFamily="49" charset="0"/>
                <a:ea typeface="仿宋" pitchFamily="49" charset="-122"/>
                <a:cs typeface="Consolas" pitchFamily="49" charset="0"/>
              </a:rPr>
              <a:t>为已求出最短路径的顶点集合（用</a:t>
            </a:r>
            <a:r>
              <a:rPr kumimoji="1" lang="en-US" altLang="zh-CN" sz="2000" dirty="0">
                <a:solidFill>
                  <a:srgbClr val="3333FF"/>
                </a:solidFill>
                <a:latin typeface="Consolas" pitchFamily="49" charset="0"/>
                <a:ea typeface="仿宋" pitchFamily="49" charset="-122"/>
                <a:cs typeface="Consolas" pitchFamily="49" charset="0"/>
              </a:rPr>
              <a:t>S</a:t>
            </a:r>
            <a:r>
              <a:rPr kumimoji="1" lang="zh-CN" altLang="en-US" sz="2000" dirty="0">
                <a:solidFill>
                  <a:srgbClr val="3333FF"/>
                </a:solidFill>
                <a:latin typeface="Consolas" pitchFamily="49" charset="0"/>
                <a:ea typeface="仿宋" pitchFamily="49" charset="-122"/>
                <a:cs typeface="Consolas" pitchFamily="49" charset="0"/>
              </a:rPr>
              <a:t>表示，初始时</a:t>
            </a:r>
            <a:r>
              <a:rPr kumimoji="1" lang="en-US" altLang="zh-CN" sz="2000" dirty="0">
                <a:solidFill>
                  <a:srgbClr val="3333FF"/>
                </a:solidFill>
                <a:latin typeface="Consolas" pitchFamily="49" charset="0"/>
                <a:ea typeface="仿宋" pitchFamily="49" charset="-122"/>
                <a:cs typeface="Consolas" pitchFamily="49" charset="0"/>
              </a:rPr>
              <a:t>S</a:t>
            </a:r>
            <a:r>
              <a:rPr kumimoji="1" lang="zh-CN" altLang="en-US" sz="2000" dirty="0">
                <a:solidFill>
                  <a:srgbClr val="3333FF"/>
                </a:solidFill>
                <a:latin typeface="Consolas" pitchFamily="49" charset="0"/>
                <a:ea typeface="仿宋" pitchFamily="49" charset="-122"/>
                <a:cs typeface="Consolas" pitchFamily="49" charset="0"/>
              </a:rPr>
              <a:t>中只有一个源点，以后每求得一条最短路径</a:t>
            </a:r>
            <a:r>
              <a:rPr kumimoji="1" lang="en-US" altLang="zh-CN" sz="2000" i="1">
                <a:solidFill>
                  <a:srgbClr val="3333FF"/>
                </a:solidFill>
                <a:latin typeface="Consolas" pitchFamily="49" charset="0"/>
                <a:ea typeface="仿宋" pitchFamily="49" charset="-122"/>
                <a:cs typeface="Consolas" pitchFamily="49" charset="0"/>
              </a:rPr>
              <a:t>v</a:t>
            </a:r>
            <a:r>
              <a:rPr kumimoji="1" lang="zh-CN" altLang="en-US" sz="2000">
                <a:solidFill>
                  <a:srgbClr val="3333FF"/>
                </a:solidFill>
                <a:latin typeface="Consolas" pitchFamily="49" charset="0"/>
                <a:ea typeface="仿宋" pitchFamily="49" charset="-122"/>
                <a:cs typeface="Consolas" pitchFamily="49" charset="0"/>
              </a:rPr>
              <a:t>，</a:t>
            </a:r>
            <a:r>
              <a:rPr kumimoji="1" lang="en-US" altLang="zh-CN" sz="2000">
                <a:solidFill>
                  <a:srgbClr val="3333FF"/>
                </a:solidFill>
                <a:latin typeface="宋体" pitchFamily="2" charset="-122"/>
                <a:ea typeface="宋体" pitchFamily="2" charset="-122"/>
                <a:cs typeface="Consolas" pitchFamily="49" charset="0"/>
              </a:rPr>
              <a:t>…</a:t>
            </a:r>
            <a:r>
              <a:rPr kumimoji="1" lang="en-US" altLang="zh-CN" sz="2000">
                <a:solidFill>
                  <a:srgbClr val="3333FF"/>
                </a:solidFill>
                <a:latin typeface="Consolas" pitchFamily="49" charset="0"/>
                <a:ea typeface="仿宋" pitchFamily="49" charset="-122"/>
                <a:cs typeface="Consolas" pitchFamily="49" charset="0"/>
              </a:rPr>
              <a:t> </a:t>
            </a:r>
            <a:r>
              <a:rPr kumimoji="1" lang="zh-CN" altLang="en-US" sz="2000">
                <a:solidFill>
                  <a:srgbClr val="3333FF"/>
                </a:solidFill>
                <a:latin typeface="Consolas" pitchFamily="49" charset="0"/>
                <a:ea typeface="仿宋" pitchFamily="49" charset="-122"/>
                <a:cs typeface="Consolas" pitchFamily="49" charset="0"/>
              </a:rPr>
              <a:t>，</a:t>
            </a:r>
            <a:r>
              <a:rPr kumimoji="1" lang="en-US" altLang="zh-CN" sz="2000" i="1" dirty="0">
                <a:solidFill>
                  <a:srgbClr val="3333FF"/>
                </a:solidFill>
                <a:latin typeface="Consolas" pitchFamily="49" charset="0"/>
                <a:ea typeface="仿宋" pitchFamily="49" charset="-122"/>
                <a:cs typeface="Consolas" pitchFamily="49" charset="0"/>
              </a:rPr>
              <a:t>u</a:t>
            </a:r>
            <a:r>
              <a:rPr kumimoji="1" lang="zh-CN" altLang="en-US" sz="2000" dirty="0">
                <a:solidFill>
                  <a:srgbClr val="3333FF"/>
                </a:solidFill>
                <a:latin typeface="Consolas" pitchFamily="49" charset="0"/>
                <a:ea typeface="仿宋" pitchFamily="49" charset="-122"/>
                <a:cs typeface="Consolas" pitchFamily="49" charset="0"/>
              </a:rPr>
              <a:t>，就将</a:t>
            </a:r>
            <a:r>
              <a:rPr kumimoji="1" lang="en-US" altLang="zh-CN" sz="2000" i="1" dirty="0">
                <a:solidFill>
                  <a:srgbClr val="3333FF"/>
                </a:solidFill>
                <a:latin typeface="Consolas" pitchFamily="49" charset="0"/>
                <a:ea typeface="仿宋" pitchFamily="49" charset="-122"/>
                <a:cs typeface="Consolas" pitchFamily="49" charset="0"/>
              </a:rPr>
              <a:t>u</a:t>
            </a:r>
            <a:r>
              <a:rPr kumimoji="1" lang="zh-CN" altLang="en-US" sz="2000" dirty="0">
                <a:solidFill>
                  <a:srgbClr val="3333FF"/>
                </a:solidFill>
                <a:latin typeface="Consolas" pitchFamily="49" charset="0"/>
                <a:ea typeface="仿宋" pitchFamily="49" charset="-122"/>
                <a:cs typeface="Consolas" pitchFamily="49" charset="0"/>
              </a:rPr>
              <a:t>加入到集合</a:t>
            </a:r>
            <a:r>
              <a:rPr kumimoji="1" lang="en-US" altLang="zh-CN" sz="2000" dirty="0">
                <a:solidFill>
                  <a:srgbClr val="3333FF"/>
                </a:solidFill>
                <a:latin typeface="Consolas" pitchFamily="49" charset="0"/>
                <a:ea typeface="仿宋" pitchFamily="49" charset="-122"/>
                <a:cs typeface="Consolas" pitchFamily="49" charset="0"/>
              </a:rPr>
              <a:t>S</a:t>
            </a:r>
            <a:r>
              <a:rPr kumimoji="1" lang="zh-CN" altLang="en-US" sz="2000" dirty="0">
                <a:solidFill>
                  <a:srgbClr val="3333FF"/>
                </a:solidFill>
                <a:latin typeface="Consolas" pitchFamily="49" charset="0"/>
                <a:ea typeface="仿宋" pitchFamily="49" charset="-122"/>
                <a:cs typeface="Consolas" pitchFamily="49" charset="0"/>
              </a:rPr>
              <a:t>中，直到全部顶点都加入到</a:t>
            </a:r>
            <a:r>
              <a:rPr kumimoji="1" lang="en-US" altLang="zh-CN" sz="2000" dirty="0">
                <a:solidFill>
                  <a:srgbClr val="3333FF"/>
                </a:solidFill>
                <a:latin typeface="Consolas" pitchFamily="49" charset="0"/>
                <a:ea typeface="仿宋" pitchFamily="49" charset="-122"/>
                <a:cs typeface="Consolas" pitchFamily="49" charset="0"/>
              </a:rPr>
              <a:t>S</a:t>
            </a:r>
            <a:r>
              <a:rPr kumimoji="1" lang="zh-CN" altLang="en-US" sz="2000" dirty="0">
                <a:solidFill>
                  <a:srgbClr val="3333FF"/>
                </a:solidFill>
                <a:latin typeface="Consolas" pitchFamily="49" charset="0"/>
                <a:ea typeface="仿宋" pitchFamily="49" charset="-122"/>
                <a:cs typeface="Consolas" pitchFamily="49" charset="0"/>
              </a:rPr>
              <a:t>中，算法就结束了）。</a:t>
            </a:r>
          </a:p>
          <a:p>
            <a:pPr marL="457200" indent="-457200">
              <a:lnSpc>
                <a:spcPct val="150000"/>
              </a:lnSpc>
              <a:buBlip>
                <a:blip r:embed="rId2"/>
              </a:buBlip>
            </a:pPr>
            <a:r>
              <a:rPr kumimoji="1" lang="zh-CN" altLang="en-US" sz="2000" dirty="0">
                <a:solidFill>
                  <a:srgbClr val="FF0000"/>
                </a:solidFill>
                <a:latin typeface="Consolas" pitchFamily="49" charset="0"/>
                <a:ea typeface="仿宋" pitchFamily="49" charset="-122"/>
                <a:cs typeface="Consolas" pitchFamily="49" charset="0"/>
              </a:rPr>
              <a:t>第</a:t>
            </a:r>
            <a:r>
              <a:rPr kumimoji="1" lang="en-US" altLang="zh-CN" sz="2000" dirty="0">
                <a:solidFill>
                  <a:srgbClr val="FF0000"/>
                </a:solidFill>
                <a:latin typeface="Consolas" pitchFamily="49" charset="0"/>
                <a:ea typeface="仿宋" pitchFamily="49" charset="-122"/>
                <a:cs typeface="Consolas" pitchFamily="49" charset="0"/>
              </a:rPr>
              <a:t>2</a:t>
            </a:r>
            <a:r>
              <a:rPr kumimoji="1" lang="zh-CN" altLang="en-US" sz="2000" dirty="0">
                <a:solidFill>
                  <a:srgbClr val="FF0000"/>
                </a:solidFill>
                <a:latin typeface="Consolas" pitchFamily="49" charset="0"/>
                <a:ea typeface="仿宋" pitchFamily="49" charset="-122"/>
                <a:cs typeface="Consolas" pitchFamily="49" charset="0"/>
              </a:rPr>
              <a:t>组</a:t>
            </a:r>
            <a:r>
              <a:rPr kumimoji="1" lang="zh-CN" altLang="en-US" sz="2000" dirty="0">
                <a:solidFill>
                  <a:srgbClr val="3333FF"/>
                </a:solidFill>
                <a:latin typeface="Consolas" pitchFamily="49" charset="0"/>
                <a:ea typeface="仿宋" pitchFamily="49" charset="-122"/>
                <a:cs typeface="Consolas" pitchFamily="49" charset="0"/>
              </a:rPr>
              <a:t>为</a:t>
            </a:r>
            <a:r>
              <a:rPr kumimoji="1" lang="zh-CN" altLang="en-US" sz="2000">
                <a:solidFill>
                  <a:srgbClr val="3333FF"/>
                </a:solidFill>
                <a:latin typeface="Consolas" pitchFamily="49" charset="0"/>
                <a:ea typeface="仿宋" pitchFamily="49" charset="-122"/>
                <a:cs typeface="Consolas" pitchFamily="49" charset="0"/>
              </a:rPr>
              <a:t>其余未求出最</a:t>
            </a:r>
            <a:r>
              <a:rPr kumimoji="1" lang="zh-CN" altLang="en-US" sz="2000" dirty="0">
                <a:solidFill>
                  <a:srgbClr val="3333FF"/>
                </a:solidFill>
                <a:latin typeface="Consolas" pitchFamily="49" charset="0"/>
                <a:ea typeface="仿宋" pitchFamily="49" charset="-122"/>
                <a:cs typeface="Consolas" pitchFamily="49" charset="0"/>
              </a:rPr>
              <a:t>短路径的顶点集合（用</a:t>
            </a:r>
            <a:r>
              <a:rPr kumimoji="1" lang="en-US" altLang="zh-CN" sz="2000" dirty="0">
                <a:solidFill>
                  <a:srgbClr val="3333FF"/>
                </a:solidFill>
                <a:latin typeface="Consolas" pitchFamily="49" charset="0"/>
                <a:ea typeface="仿宋" pitchFamily="49" charset="-122"/>
                <a:cs typeface="Consolas" pitchFamily="49" charset="0"/>
              </a:rPr>
              <a:t>U</a:t>
            </a:r>
            <a:r>
              <a:rPr kumimoji="1" lang="zh-CN" altLang="en-US" sz="2000" dirty="0">
                <a:solidFill>
                  <a:srgbClr val="3333FF"/>
                </a:solidFill>
                <a:latin typeface="Consolas" pitchFamily="49" charset="0"/>
                <a:ea typeface="仿宋" pitchFamily="49" charset="-122"/>
                <a:cs typeface="Consolas" pitchFamily="49" charset="0"/>
              </a:rPr>
              <a:t>表示）。</a:t>
            </a:r>
            <a:endParaRPr lang="zh-CN" altLang="en-US" sz="2000" dirty="0">
              <a:solidFill>
                <a:srgbClr val="3333FF"/>
              </a:solidFill>
              <a:latin typeface="Consolas" pitchFamily="49" charset="0"/>
              <a:ea typeface="仿宋" pitchFamily="49" charset="-122"/>
              <a:cs typeface="Consolas" pitchFamily="49" charset="0"/>
            </a:endParaRPr>
          </a:p>
        </p:txBody>
      </p:sp>
      <p:grpSp>
        <p:nvGrpSpPr>
          <p:cNvPr id="33" name="组合 20">
            <a:extLst>
              <a:ext uri="{FF2B5EF4-FFF2-40B4-BE49-F238E27FC236}">
                <a16:creationId xmlns:a16="http://schemas.microsoft.com/office/drawing/2014/main" id="{72B8CA2B-C7AE-3757-BCC3-648301049DD8}"/>
              </a:ext>
            </a:extLst>
          </p:cNvPr>
          <p:cNvGrpSpPr/>
          <p:nvPr/>
        </p:nvGrpSpPr>
        <p:grpSpPr>
          <a:xfrm>
            <a:off x="3935760" y="5420434"/>
            <a:ext cx="3214710" cy="1137644"/>
            <a:chOff x="2786050" y="4148744"/>
            <a:chExt cx="3214710" cy="1137644"/>
          </a:xfrm>
        </p:grpSpPr>
        <p:sp>
          <p:nvSpPr>
            <p:cNvPr id="34" name="TextBox 15">
              <a:extLst>
                <a:ext uri="{FF2B5EF4-FFF2-40B4-BE49-F238E27FC236}">
                  <a16:creationId xmlns:a16="http://schemas.microsoft.com/office/drawing/2014/main" id="{01782FAD-C236-F52D-A090-4C34DB7AC0DE}"/>
                </a:ext>
              </a:extLst>
            </p:cNvPr>
            <p:cNvSpPr txBox="1"/>
            <p:nvPr/>
          </p:nvSpPr>
          <p:spPr>
            <a:xfrm>
              <a:off x="2786050" y="4148744"/>
              <a:ext cx="3143272" cy="923330"/>
            </a:xfrm>
            <a:prstGeom prst="rect">
              <a:avLst/>
            </a:prstGeom>
            <a:noFill/>
          </p:spPr>
          <p:txBody>
            <a:bodyPr wrap="square" rtlCol="0">
              <a:spAutoFit/>
            </a:bodyPr>
            <a:lstStyle/>
            <a:p>
              <a:pPr algn="ctr"/>
              <a:r>
                <a:rPr lang="zh-CN" altLang="en-US" sz="1800" dirty="0">
                  <a:latin typeface="Consolas" pitchFamily="49" charset="0"/>
                  <a:ea typeface="仿宋" pitchFamily="49" charset="-122"/>
                  <a:cs typeface="Consolas" pitchFamily="49" charset="0"/>
                </a:rPr>
                <a:t>   每一步求出</a:t>
              </a:r>
              <a:r>
                <a:rPr lang="en-US" altLang="zh-CN" sz="1800" i="1" dirty="0">
                  <a:latin typeface="Consolas" pitchFamily="49" charset="0"/>
                  <a:ea typeface="仿宋" pitchFamily="49" charset="-122"/>
                  <a:cs typeface="Consolas" pitchFamily="49" charset="0"/>
                </a:rPr>
                <a:t>v</a:t>
              </a:r>
              <a:r>
                <a:rPr lang="zh-CN" altLang="en-US" sz="1800" dirty="0">
                  <a:latin typeface="Consolas" pitchFamily="49" charset="0"/>
                  <a:ea typeface="仿宋" pitchFamily="49" charset="-122"/>
                  <a:cs typeface="Consolas" pitchFamily="49" charset="0"/>
                </a:rPr>
                <a:t>到</a:t>
              </a:r>
              <a:r>
                <a:rPr lang="en-US" altLang="zh-CN" sz="1800" dirty="0">
                  <a:latin typeface="Consolas" pitchFamily="49" charset="0"/>
                  <a:ea typeface="仿宋" pitchFamily="49" charset="-122"/>
                  <a:cs typeface="Consolas" pitchFamily="49" charset="0"/>
                </a:rPr>
                <a:t>U</a:t>
              </a:r>
              <a:r>
                <a:rPr lang="zh-CN" altLang="en-US" sz="1800" dirty="0">
                  <a:latin typeface="Consolas" pitchFamily="49" charset="0"/>
                  <a:ea typeface="仿宋" pitchFamily="49" charset="-122"/>
                  <a:cs typeface="Consolas" pitchFamily="49" charset="0"/>
                </a:rPr>
                <a:t>中一个顶点</a:t>
              </a:r>
              <a:r>
                <a:rPr lang="en-US" altLang="zh-CN" sz="1800" i="1" dirty="0">
                  <a:latin typeface="Consolas" pitchFamily="49" charset="0"/>
                  <a:ea typeface="仿宋" pitchFamily="49" charset="-122"/>
                  <a:cs typeface="Consolas" pitchFamily="49" charset="0"/>
                </a:rPr>
                <a:t>u</a:t>
              </a:r>
              <a:r>
                <a:rPr lang="zh-CN" altLang="en-US" sz="1800" dirty="0">
                  <a:latin typeface="Consolas" pitchFamily="49" charset="0"/>
                  <a:ea typeface="仿宋" pitchFamily="49" charset="-122"/>
                  <a:cs typeface="Consolas" pitchFamily="49" charset="0"/>
                </a:rPr>
                <a:t>的</a:t>
              </a:r>
              <a:r>
                <a:rPr kumimoji="1" lang="zh-CN" altLang="en-US" sz="1800" dirty="0">
                  <a:latin typeface="Consolas" pitchFamily="49" charset="0"/>
                  <a:ea typeface="仿宋" pitchFamily="49" charset="-122"/>
                  <a:cs typeface="Consolas" pitchFamily="49" charset="0"/>
                </a:rPr>
                <a:t>最短路径，并将</a:t>
              </a:r>
              <a:r>
                <a:rPr kumimoji="1" lang="en-US" altLang="zh-CN" sz="1800" i="1" dirty="0">
                  <a:latin typeface="Consolas" pitchFamily="49" charset="0"/>
                  <a:ea typeface="仿宋" pitchFamily="49" charset="-122"/>
                  <a:cs typeface="Consolas" pitchFamily="49" charset="0"/>
                </a:rPr>
                <a:t>u</a:t>
              </a:r>
              <a:r>
                <a:rPr kumimoji="1" lang="zh-CN" altLang="en-US" sz="1800" dirty="0">
                  <a:latin typeface="Consolas" pitchFamily="49" charset="0"/>
                  <a:ea typeface="仿宋" pitchFamily="49" charset="-122"/>
                  <a:cs typeface="Consolas" pitchFamily="49" charset="0"/>
                </a:rPr>
                <a:t>移动到</a:t>
              </a:r>
              <a:r>
                <a:rPr kumimoji="1" lang="en-US" altLang="zh-CN" sz="1800" dirty="0">
                  <a:latin typeface="Consolas" pitchFamily="49" charset="0"/>
                  <a:ea typeface="仿宋" pitchFamily="49" charset="-122"/>
                  <a:cs typeface="Consolas" pitchFamily="49" charset="0"/>
                </a:rPr>
                <a:t>S</a:t>
              </a:r>
              <a:r>
                <a:rPr kumimoji="1" lang="zh-CN" altLang="en-US" sz="1800" dirty="0">
                  <a:latin typeface="Consolas" pitchFamily="49" charset="0"/>
                  <a:ea typeface="仿宋" pitchFamily="49" charset="-122"/>
                  <a:cs typeface="Consolas" pitchFamily="49" charset="0"/>
                </a:rPr>
                <a:t>中。直到</a:t>
              </a:r>
              <a:r>
                <a:rPr kumimoji="1" lang="en-US" altLang="zh-CN" sz="1800" dirty="0">
                  <a:latin typeface="Consolas" pitchFamily="49" charset="0"/>
                  <a:ea typeface="仿宋" pitchFamily="49" charset="-122"/>
                  <a:cs typeface="Consolas" pitchFamily="49" charset="0"/>
                </a:rPr>
                <a:t>U</a:t>
              </a:r>
              <a:r>
                <a:rPr kumimoji="1" lang="zh-CN" altLang="en-US" sz="1800" dirty="0">
                  <a:latin typeface="Consolas" pitchFamily="49" charset="0"/>
                  <a:ea typeface="仿宋" pitchFamily="49" charset="-122"/>
                  <a:cs typeface="Consolas" pitchFamily="49" charset="0"/>
                </a:rPr>
                <a:t>为空。</a:t>
              </a:r>
              <a:endParaRPr lang="zh-CN" altLang="en-US" sz="1800" dirty="0">
                <a:latin typeface="Consolas" pitchFamily="49" charset="0"/>
                <a:ea typeface="仿宋" pitchFamily="49" charset="-122"/>
                <a:cs typeface="Consolas" pitchFamily="49" charset="0"/>
              </a:endParaRPr>
            </a:p>
          </p:txBody>
        </p:sp>
        <p:sp>
          <p:nvSpPr>
            <p:cNvPr id="35" name="左箭头 19">
              <a:extLst>
                <a:ext uri="{FF2B5EF4-FFF2-40B4-BE49-F238E27FC236}">
                  <a16:creationId xmlns:a16="http://schemas.microsoft.com/office/drawing/2014/main" id="{35C25E78-D43B-D8B3-016F-B747DF9638FB}"/>
                </a:ext>
              </a:extLst>
            </p:cNvPr>
            <p:cNvSpPr/>
            <p:nvPr/>
          </p:nvSpPr>
          <p:spPr>
            <a:xfrm>
              <a:off x="3000364" y="5143512"/>
              <a:ext cx="3000396" cy="142876"/>
            </a:xfrm>
            <a:prstGeom prst="leftArrow">
              <a:avLst/>
            </a:prstGeom>
          </p:spPr>
          <p:style>
            <a:lnRef idx="0">
              <a:schemeClr val="accent5"/>
            </a:lnRef>
            <a:fillRef idx="3">
              <a:schemeClr val="accent5"/>
            </a:fillRef>
            <a:effectRef idx="3">
              <a:schemeClr val="accent5"/>
            </a:effectRef>
            <a:fontRef idx="minor">
              <a:schemeClr val="lt1"/>
            </a:fontRef>
          </p:style>
          <p:txBody>
            <a:bodyPr rtlCol="0" anchor="ctr"/>
            <a:lstStyle/>
            <a:p>
              <a:pPr algn="ctr"/>
              <a:endParaRPr lang="zh-CN" altLang="en-US">
                <a:latin typeface="Consolas" pitchFamily="49" charset="0"/>
                <a:cs typeface="Consolas" pitchFamily="49" charset="0"/>
              </a:endParaRPr>
            </a:p>
          </p:txBody>
        </p:sp>
      </p:grpSp>
    </p:spTree>
    <p:extLst>
      <p:ext uri="{BB962C8B-B14F-4D97-AF65-F5344CB8AC3E}">
        <p14:creationId xmlns:p14="http://schemas.microsoft.com/office/powerpoint/2010/main" val="242470182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B16C15-C0F1-5C2B-CAA9-E7FB00D5D59A}"/>
            </a:ext>
          </a:extLst>
        </p:cNvPr>
        <p:cNvGrpSpPr/>
        <p:nvPr/>
      </p:nvGrpSpPr>
      <p:grpSpPr>
        <a:xfrm>
          <a:off x="0" y="0"/>
          <a:ext cx="0" cy="0"/>
          <a:chOff x="0" y="0"/>
          <a:chExt cx="0" cy="0"/>
        </a:xfrm>
      </p:grpSpPr>
      <p:sp>
        <p:nvSpPr>
          <p:cNvPr id="8" name="Text Box 2">
            <a:extLst>
              <a:ext uri="{FF2B5EF4-FFF2-40B4-BE49-F238E27FC236}">
                <a16:creationId xmlns:a16="http://schemas.microsoft.com/office/drawing/2014/main" id="{DE6EF08F-6D41-E530-65F8-E62B4A6241A6}"/>
              </a:ext>
            </a:extLst>
          </p:cNvPr>
          <p:cNvSpPr txBox="1">
            <a:spLocks noChangeArrowheads="1"/>
          </p:cNvSpPr>
          <p:nvPr/>
        </p:nvSpPr>
        <p:spPr bwMode="auto">
          <a:xfrm>
            <a:off x="1403176" y="2370048"/>
            <a:ext cx="6326088" cy="8371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rnd">
                <a:solidFill>
                  <a:srgbClr val="000000"/>
                </a:solidFill>
                <a:miter lim="800000"/>
                <a:headEnd/>
                <a:tailEnd/>
              </a14:hiddenLine>
            </a:ext>
          </a:extLst>
        </p:spPr>
        <p:txBody>
          <a:bodyPr wrap="square">
            <a:spAutoFit/>
          </a:bodyPr>
          <a:lstStyle>
            <a:lvl1pPr marL="457200" indent="-457200" eaLnBrk="0" hangingPunct="0">
              <a:defRPr kumimoji="1" sz="2800">
                <a:solidFill>
                  <a:schemeClr val="tx1"/>
                </a:solidFill>
                <a:latin typeface="Comic Sans MS" pitchFamily="66" charset="0"/>
                <a:ea typeface="宋体" pitchFamily="2" charset="-122"/>
              </a:defRPr>
            </a:lvl1pPr>
            <a:lvl2pPr marL="914400" indent="-457200" eaLnBrk="0" hangingPunct="0">
              <a:defRPr kumimoji="1" sz="2800">
                <a:solidFill>
                  <a:schemeClr val="tx1"/>
                </a:solidFill>
                <a:latin typeface="Comic Sans MS" pitchFamily="66" charset="0"/>
                <a:ea typeface="宋体" pitchFamily="2" charset="-122"/>
              </a:defRPr>
            </a:lvl2pPr>
            <a:lvl3pPr marL="1143000" indent="-228600" eaLnBrk="0" hangingPunct="0">
              <a:defRPr kumimoji="1" sz="2800">
                <a:solidFill>
                  <a:schemeClr val="tx1"/>
                </a:solidFill>
                <a:latin typeface="Comic Sans MS" pitchFamily="66" charset="0"/>
                <a:ea typeface="宋体" pitchFamily="2" charset="-122"/>
              </a:defRPr>
            </a:lvl3pPr>
            <a:lvl4pPr marL="1600200" indent="-228600" eaLnBrk="0" hangingPunct="0">
              <a:defRPr kumimoji="1" sz="2800">
                <a:solidFill>
                  <a:schemeClr val="tx1"/>
                </a:solidFill>
                <a:latin typeface="Comic Sans MS" pitchFamily="66" charset="0"/>
                <a:ea typeface="宋体" pitchFamily="2" charset="-122"/>
              </a:defRPr>
            </a:lvl4pPr>
            <a:lvl5pPr marL="2057400" indent="-228600" eaLnBrk="0" hangingPunct="0">
              <a:defRPr kumimoji="1" sz="2800">
                <a:solidFill>
                  <a:schemeClr val="tx1"/>
                </a:solidFill>
                <a:latin typeface="Comic Sans MS" pitchFamily="66" charset="0"/>
                <a:ea typeface="宋体" pitchFamily="2" charset="-122"/>
              </a:defRPr>
            </a:lvl5pPr>
            <a:lvl6pPr marL="2514600" indent="-228600" algn="ctr" eaLnBrk="0" fontAlgn="base" hangingPunct="0">
              <a:spcBef>
                <a:spcPct val="0"/>
              </a:spcBef>
              <a:spcAft>
                <a:spcPct val="0"/>
              </a:spcAft>
              <a:defRPr kumimoji="1" sz="2800">
                <a:solidFill>
                  <a:schemeClr val="tx1"/>
                </a:solidFill>
                <a:latin typeface="Comic Sans MS" pitchFamily="66" charset="0"/>
                <a:ea typeface="宋体" pitchFamily="2" charset="-122"/>
              </a:defRPr>
            </a:lvl6pPr>
            <a:lvl7pPr marL="2971800" indent="-228600" algn="ctr" eaLnBrk="0" fontAlgn="base" hangingPunct="0">
              <a:spcBef>
                <a:spcPct val="0"/>
              </a:spcBef>
              <a:spcAft>
                <a:spcPct val="0"/>
              </a:spcAft>
              <a:defRPr kumimoji="1" sz="2800">
                <a:solidFill>
                  <a:schemeClr val="tx1"/>
                </a:solidFill>
                <a:latin typeface="Comic Sans MS" pitchFamily="66" charset="0"/>
                <a:ea typeface="宋体" pitchFamily="2" charset="-122"/>
              </a:defRPr>
            </a:lvl7pPr>
            <a:lvl8pPr marL="3429000" indent="-228600" algn="ctr" eaLnBrk="0" fontAlgn="base" hangingPunct="0">
              <a:spcBef>
                <a:spcPct val="0"/>
              </a:spcBef>
              <a:spcAft>
                <a:spcPct val="0"/>
              </a:spcAft>
              <a:defRPr kumimoji="1" sz="2800">
                <a:solidFill>
                  <a:schemeClr val="tx1"/>
                </a:solidFill>
                <a:latin typeface="Comic Sans MS" pitchFamily="66" charset="0"/>
                <a:ea typeface="宋体" pitchFamily="2" charset="-122"/>
              </a:defRPr>
            </a:lvl8pPr>
            <a:lvl9pPr marL="3886200" indent="-228600" algn="ctr" eaLnBrk="0" fontAlgn="base" hangingPunct="0">
              <a:spcBef>
                <a:spcPct val="0"/>
              </a:spcBef>
              <a:spcAft>
                <a:spcPct val="0"/>
              </a:spcAft>
              <a:defRPr kumimoji="1" sz="2800">
                <a:solidFill>
                  <a:schemeClr val="tx1"/>
                </a:solidFill>
                <a:latin typeface="Comic Sans MS" pitchFamily="66" charset="0"/>
                <a:ea typeface="宋体" pitchFamily="2" charset="-122"/>
              </a:defRPr>
            </a:lvl9pPr>
          </a:lstStyle>
          <a:p>
            <a:pPr marL="0" indent="0" algn="just">
              <a:spcBef>
                <a:spcPct val="20000"/>
              </a:spcBef>
            </a:pPr>
            <a:r>
              <a:rPr lang="en-US" altLang="zh-CN" sz="2200" dirty="0" err="1">
                <a:latin typeface="Times New Roman" pitchFamily="18" charset="0"/>
                <a:ea typeface="黑体" pitchFamily="49" charset="-122"/>
                <a:cs typeface="Times New Roman" pitchFamily="18" charset="0"/>
              </a:rPr>
              <a:t>Dijkstra</a:t>
            </a:r>
            <a:r>
              <a:rPr lang="zh-CN" altLang="en-US" sz="2200" dirty="0">
                <a:latin typeface="黑体" pitchFamily="49" charset="-122"/>
                <a:ea typeface="黑体" pitchFamily="49" charset="-122"/>
                <a:cs typeface="经典粗黑简" pitchFamily="49" charset="-122"/>
              </a:rPr>
              <a:t>算法</a:t>
            </a:r>
            <a:r>
              <a:rPr lang="en-US" altLang="zh-CN" sz="2200" dirty="0">
                <a:latin typeface="黑体" pitchFamily="49" charset="-122"/>
                <a:ea typeface="黑体" pitchFamily="49" charset="-122"/>
                <a:cs typeface="经典粗黑简" pitchFamily="49" charset="-122"/>
              </a:rPr>
              <a:t>(</a:t>
            </a:r>
            <a:r>
              <a:rPr lang="en-US" altLang="zh-CN" sz="2200" dirty="0">
                <a:latin typeface="Times New Roman" pitchFamily="18" charset="0"/>
                <a:ea typeface="黑体" pitchFamily="49" charset="-122"/>
                <a:cs typeface="Times New Roman" pitchFamily="18" charset="0"/>
              </a:rPr>
              <a:t>1959</a:t>
            </a:r>
            <a:r>
              <a:rPr lang="en-US" altLang="zh-CN" sz="2200" dirty="0">
                <a:latin typeface="黑体" pitchFamily="49" charset="-122"/>
                <a:ea typeface="黑体" pitchFamily="49" charset="-122"/>
                <a:cs typeface="经典粗黑简" pitchFamily="49" charset="-122"/>
              </a:rPr>
              <a:t>)</a:t>
            </a:r>
            <a:r>
              <a:rPr lang="zh-CN" altLang="en-US" sz="2200" dirty="0">
                <a:latin typeface="黑体" pitchFamily="49" charset="-122"/>
                <a:ea typeface="黑体" pitchFamily="49" charset="-122"/>
                <a:cs typeface="经典粗黑简" pitchFamily="49" charset="-122"/>
              </a:rPr>
              <a:t>的基本思想</a:t>
            </a:r>
          </a:p>
          <a:p>
            <a:pPr lvl="1" algn="just">
              <a:spcBef>
                <a:spcPct val="20000"/>
              </a:spcBef>
              <a:buFont typeface="Wingdings" pitchFamily="2" charset="2"/>
              <a:buChar char="Ø"/>
            </a:pPr>
            <a:r>
              <a:rPr lang="zh-CN" altLang="en-US" sz="2200" dirty="0">
                <a:solidFill>
                  <a:srgbClr val="FF0000"/>
                </a:solidFill>
                <a:latin typeface="黑体" pitchFamily="49" charset="-122"/>
                <a:ea typeface="黑体" pitchFamily="49" charset="-122"/>
                <a:cs typeface="经典粗黑简" pitchFamily="49" charset="-122"/>
              </a:rPr>
              <a:t>按路径长度递增顺序</a:t>
            </a:r>
            <a:r>
              <a:rPr lang="zh-CN" altLang="en-US" sz="2200" dirty="0">
                <a:latin typeface="黑体" pitchFamily="49" charset="-122"/>
                <a:ea typeface="黑体" pitchFamily="49" charset="-122"/>
                <a:cs typeface="经典粗黑简" pitchFamily="49" charset="-122"/>
              </a:rPr>
              <a:t>求最短路径算法。</a:t>
            </a:r>
          </a:p>
        </p:txBody>
      </p:sp>
      <p:sp>
        <p:nvSpPr>
          <p:cNvPr id="9" name="Rectangle 2">
            <a:extLst>
              <a:ext uri="{FF2B5EF4-FFF2-40B4-BE49-F238E27FC236}">
                <a16:creationId xmlns:a16="http://schemas.microsoft.com/office/drawing/2014/main" id="{69B4F52E-AFEA-4BD7-E15F-3D9C360C6EB4}"/>
              </a:ext>
            </a:extLst>
          </p:cNvPr>
          <p:cNvSpPr txBox="1">
            <a:spLocks noChangeArrowheads="1"/>
          </p:cNvSpPr>
          <p:nvPr/>
        </p:nvSpPr>
        <p:spPr>
          <a:xfrm>
            <a:off x="474771" y="1230902"/>
            <a:ext cx="10949819"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8.5.2 </a:t>
            </a:r>
            <a:r>
              <a:rPr lang="zh-CN" altLang="en-US" dirty="0"/>
              <a:t>从一个顶点到其余各顶点的最短路径（单源点最短路径问题）</a:t>
            </a:r>
          </a:p>
        </p:txBody>
      </p:sp>
      <p:cxnSp>
        <p:nvCxnSpPr>
          <p:cNvPr id="10" name="直接连接符 9">
            <a:extLst>
              <a:ext uri="{FF2B5EF4-FFF2-40B4-BE49-F238E27FC236}">
                <a16:creationId xmlns:a16="http://schemas.microsoft.com/office/drawing/2014/main" id="{AE1C61EB-9D07-7DA2-F30E-D3A0F33458E0}"/>
              </a:ext>
            </a:extLst>
          </p:cNvPr>
          <p:cNvCxnSpPr>
            <a:cxnSpLocks/>
          </p:cNvCxnSpPr>
          <p:nvPr/>
        </p:nvCxnSpPr>
        <p:spPr>
          <a:xfrm>
            <a:off x="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11" name="矩形 10">
            <a:extLst>
              <a:ext uri="{FF2B5EF4-FFF2-40B4-BE49-F238E27FC236}">
                <a16:creationId xmlns:a16="http://schemas.microsoft.com/office/drawing/2014/main" id="{0FF2ED0E-FEE0-BABE-5403-2D83B308AF33}"/>
              </a:ext>
            </a:extLst>
          </p:cNvPr>
          <p:cNvSpPr/>
          <p:nvPr/>
        </p:nvSpPr>
        <p:spPr>
          <a:xfrm>
            <a:off x="3394075" y="399838"/>
            <a:ext cx="4617860"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8.5 </a:t>
            </a:r>
            <a:r>
              <a:rPr lang="zh-CN" altLang="en-US" sz="3000" b="1" dirty="0">
                <a:latin typeface="黑体" pitchFamily="49" charset="-122"/>
                <a:ea typeface="黑体" pitchFamily="49" charset="-122"/>
                <a:cs typeface="经典粗黑简" pitchFamily="49" charset="-122"/>
              </a:rPr>
              <a:t>最短路径</a:t>
            </a:r>
          </a:p>
        </p:txBody>
      </p:sp>
      <p:sp>
        <p:nvSpPr>
          <p:cNvPr id="18" name="Text Box 4">
            <a:extLst>
              <a:ext uri="{FF2B5EF4-FFF2-40B4-BE49-F238E27FC236}">
                <a16:creationId xmlns:a16="http://schemas.microsoft.com/office/drawing/2014/main" id="{1C10309E-C1E6-2CAA-6E4B-71CBE5DC0B6B}"/>
              </a:ext>
            </a:extLst>
          </p:cNvPr>
          <p:cNvSpPr txBox="1">
            <a:spLocks noChangeArrowheads="1"/>
          </p:cNvSpPr>
          <p:nvPr/>
        </p:nvSpPr>
        <p:spPr bwMode="auto">
          <a:xfrm>
            <a:off x="1388265" y="1922692"/>
            <a:ext cx="5355805" cy="461665"/>
          </a:xfrm>
          <a:prstGeom prst="rect">
            <a:avLst/>
          </a:prstGeom>
          <a:noFill/>
          <a:ln w="38100" algn="ctr">
            <a:noFill/>
            <a:miter lim="800000"/>
            <a:headEnd/>
            <a:tailEnd type="none" w="med" len="lg"/>
          </a:ln>
          <a:effectLst/>
        </p:spPr>
        <p:txBody>
          <a:bodyPr wrap="square">
            <a:spAutoFit/>
          </a:bodyPr>
          <a:lstStyle/>
          <a:p>
            <a:r>
              <a:rPr lang="zh-CN" altLang="en-US" sz="2400" b="1" dirty="0">
                <a:latin typeface="黑体" pitchFamily="49" charset="-122"/>
                <a:ea typeface="黑体" pitchFamily="49" charset="-122"/>
                <a:cs typeface="经典粗黑简" pitchFamily="49" charset="-122"/>
              </a:rPr>
              <a:t>单源最短路径问题：</a:t>
            </a:r>
            <a:r>
              <a:rPr lang="en-US" altLang="zh-CN" sz="2400" b="1" dirty="0" err="1">
                <a:latin typeface="黑体" pitchFamily="49" charset="-122"/>
                <a:ea typeface="黑体" pitchFamily="49" charset="-122"/>
                <a:cs typeface="经典粗黑简" pitchFamily="49" charset="-122"/>
              </a:rPr>
              <a:t>Dijkstra</a:t>
            </a:r>
            <a:r>
              <a:rPr lang="zh-CN" altLang="en-US" sz="2400" b="1" dirty="0">
                <a:latin typeface="黑体" pitchFamily="49" charset="-122"/>
                <a:ea typeface="黑体" pitchFamily="49" charset="-122"/>
                <a:cs typeface="经典粗黑简" pitchFamily="49" charset="-122"/>
              </a:rPr>
              <a:t>算法</a:t>
            </a:r>
          </a:p>
        </p:txBody>
      </p:sp>
      <p:sp>
        <p:nvSpPr>
          <p:cNvPr id="2" name="Text Box 2" descr="羊皮纸">
            <a:extLst>
              <a:ext uri="{FF2B5EF4-FFF2-40B4-BE49-F238E27FC236}">
                <a16:creationId xmlns:a16="http://schemas.microsoft.com/office/drawing/2014/main" id="{C9849E29-1961-E979-6FA1-8E934B0BB766}"/>
              </a:ext>
            </a:extLst>
          </p:cNvPr>
          <p:cNvSpPr txBox="1">
            <a:spLocks noChangeArrowheads="1"/>
          </p:cNvSpPr>
          <p:nvPr/>
        </p:nvSpPr>
        <p:spPr bwMode="auto">
          <a:xfrm>
            <a:off x="1450912" y="3207200"/>
            <a:ext cx="9829663" cy="1549115"/>
          </a:xfrm>
          <a:prstGeom prst="rect">
            <a:avLst/>
          </a:prstGeom>
          <a:solidFill>
            <a:schemeClr val="bg1">
              <a:lumMod val="95000"/>
            </a:schemeClr>
          </a:solidFill>
          <a:ln>
            <a:headEnd/>
            <a:tailEnd/>
          </a:ln>
        </p:spPr>
        <p:style>
          <a:lnRef idx="1">
            <a:schemeClr val="accent4"/>
          </a:lnRef>
          <a:fillRef idx="2">
            <a:schemeClr val="accent4"/>
          </a:fillRef>
          <a:effectRef idx="1">
            <a:schemeClr val="accent4"/>
          </a:effectRef>
          <a:fontRef idx="minor">
            <a:schemeClr val="dk1"/>
          </a:fontRef>
        </p:style>
        <p:txBody>
          <a:bodyPr wrap="square" tIns="108000" bIns="108000">
            <a:spAutoFit/>
          </a:bodyPr>
          <a:lstStyle/>
          <a:p>
            <a:pPr algn="just">
              <a:lnSpc>
                <a:spcPct val="150000"/>
              </a:lnSpc>
            </a:pPr>
            <a:r>
              <a:rPr kumimoji="1" lang="en-US" altLang="zh-CN" sz="2000" dirty="0">
                <a:latin typeface="Consolas" pitchFamily="49" charset="0"/>
                <a:ea typeface="仿宋" pitchFamily="49" charset="-122"/>
                <a:cs typeface="Consolas" pitchFamily="49" charset="0"/>
              </a:rPr>
              <a:t>   </a:t>
            </a:r>
            <a:r>
              <a:rPr kumimoji="1" lang="zh-CN" altLang="en-US" sz="2000" dirty="0">
                <a:solidFill>
                  <a:srgbClr val="FF0000"/>
                </a:solidFill>
                <a:latin typeface="Consolas" pitchFamily="49" charset="0"/>
                <a:ea typeface="仿宋" pitchFamily="49" charset="-122"/>
                <a:cs typeface="Consolas" pitchFamily="49" charset="0"/>
              </a:rPr>
              <a:t>（</a:t>
            </a:r>
            <a:r>
              <a:rPr kumimoji="1" lang="en-US" altLang="zh-CN" sz="2000" dirty="0">
                <a:solidFill>
                  <a:srgbClr val="FF0000"/>
                </a:solidFill>
                <a:latin typeface="Consolas" pitchFamily="49" charset="0"/>
                <a:ea typeface="仿宋" pitchFamily="49" charset="-122"/>
                <a:cs typeface="Consolas" pitchFamily="49" charset="0"/>
              </a:rPr>
              <a:t>1</a:t>
            </a:r>
            <a:r>
              <a:rPr kumimoji="1" lang="zh-CN" altLang="en-US" sz="2000" dirty="0">
                <a:solidFill>
                  <a:srgbClr val="FF0000"/>
                </a:solidFill>
                <a:latin typeface="Consolas" pitchFamily="49" charset="0"/>
                <a:ea typeface="仿宋" pitchFamily="49" charset="-122"/>
                <a:cs typeface="Consolas" pitchFamily="49" charset="0"/>
              </a:rPr>
              <a:t>）初始化：</a:t>
            </a:r>
            <a:r>
              <a:rPr kumimoji="1" lang="en-US" altLang="zh-CN" sz="2000" dirty="0">
                <a:solidFill>
                  <a:srgbClr val="1000E4"/>
                </a:solidFill>
                <a:latin typeface="Consolas" pitchFamily="49" charset="0"/>
                <a:ea typeface="仿宋" pitchFamily="49" charset="-122"/>
                <a:cs typeface="Consolas" pitchFamily="49" charset="0"/>
              </a:rPr>
              <a:t>S</a:t>
            </a:r>
            <a:r>
              <a:rPr kumimoji="1" lang="zh-CN" altLang="en-US" sz="2000" dirty="0">
                <a:solidFill>
                  <a:srgbClr val="1000E4"/>
                </a:solidFill>
                <a:latin typeface="Consolas" pitchFamily="49" charset="0"/>
                <a:ea typeface="仿宋" pitchFamily="49" charset="-122"/>
                <a:cs typeface="Consolas" pitchFamily="49" charset="0"/>
              </a:rPr>
              <a:t>只包含源点即</a:t>
            </a:r>
            <a:r>
              <a:rPr kumimoji="1" lang="en-US" altLang="zh-CN" sz="2000" dirty="0">
                <a:solidFill>
                  <a:srgbClr val="1000E4"/>
                </a:solidFill>
                <a:latin typeface="Consolas" pitchFamily="49" charset="0"/>
                <a:ea typeface="仿宋" pitchFamily="49" charset="-122"/>
                <a:cs typeface="Consolas" pitchFamily="49" charset="0"/>
              </a:rPr>
              <a:t>S={</a:t>
            </a:r>
            <a:r>
              <a:rPr kumimoji="1" lang="en-US" altLang="zh-CN" sz="2000" i="1" dirty="0">
                <a:solidFill>
                  <a:srgbClr val="1000E4"/>
                </a:solidFill>
                <a:latin typeface="Consolas" pitchFamily="49" charset="0"/>
                <a:ea typeface="仿宋" pitchFamily="49" charset="-122"/>
                <a:cs typeface="Consolas" pitchFamily="49" charset="0"/>
              </a:rPr>
              <a:t>v</a:t>
            </a:r>
            <a:r>
              <a:rPr kumimoji="1" lang="en-US" altLang="zh-CN" sz="2000" dirty="0">
                <a:solidFill>
                  <a:srgbClr val="1000E4"/>
                </a:solidFill>
                <a:latin typeface="Consolas" pitchFamily="49" charset="0"/>
                <a:ea typeface="仿宋" pitchFamily="49" charset="-122"/>
                <a:cs typeface="Consolas" pitchFamily="49" charset="0"/>
              </a:rPr>
              <a:t>}</a:t>
            </a:r>
            <a:r>
              <a:rPr kumimoji="1" lang="zh-CN" altLang="en-US" sz="2000" dirty="0">
                <a:solidFill>
                  <a:srgbClr val="1000E4"/>
                </a:solidFill>
                <a:latin typeface="Consolas" pitchFamily="49" charset="0"/>
                <a:ea typeface="仿宋" pitchFamily="49" charset="-122"/>
                <a:cs typeface="Consolas" pitchFamily="49" charset="0"/>
              </a:rPr>
              <a:t>，</a:t>
            </a:r>
            <a:r>
              <a:rPr kumimoji="1" lang="en-US" altLang="zh-CN" sz="2000" i="1" dirty="0">
                <a:solidFill>
                  <a:srgbClr val="1000E4"/>
                </a:solidFill>
                <a:latin typeface="Consolas" pitchFamily="49" charset="0"/>
                <a:ea typeface="仿宋" pitchFamily="49" charset="-122"/>
                <a:cs typeface="Consolas" pitchFamily="49" charset="0"/>
              </a:rPr>
              <a:t>v</a:t>
            </a:r>
            <a:r>
              <a:rPr kumimoji="1" lang="zh-CN" altLang="en-US" sz="2000" dirty="0">
                <a:solidFill>
                  <a:srgbClr val="1000E4"/>
                </a:solidFill>
                <a:latin typeface="Consolas" pitchFamily="49" charset="0"/>
                <a:ea typeface="仿宋" pitchFamily="49" charset="-122"/>
                <a:cs typeface="Consolas" pitchFamily="49" charset="0"/>
              </a:rPr>
              <a:t>的最短路径为</a:t>
            </a:r>
            <a:r>
              <a:rPr kumimoji="1" lang="en-US" altLang="zh-CN" sz="2000" dirty="0">
                <a:solidFill>
                  <a:srgbClr val="1000E4"/>
                </a:solidFill>
                <a:latin typeface="Consolas" pitchFamily="49" charset="0"/>
                <a:ea typeface="仿宋" pitchFamily="49" charset="-122"/>
                <a:cs typeface="Consolas" pitchFamily="49" charset="0"/>
              </a:rPr>
              <a:t>0</a:t>
            </a:r>
            <a:r>
              <a:rPr kumimoji="1" lang="zh-CN" altLang="en-US" sz="2000" dirty="0">
                <a:solidFill>
                  <a:srgbClr val="1000E4"/>
                </a:solidFill>
                <a:latin typeface="Consolas" pitchFamily="49" charset="0"/>
                <a:ea typeface="仿宋" pitchFamily="49" charset="-122"/>
                <a:cs typeface="Consolas" pitchFamily="49" charset="0"/>
              </a:rPr>
              <a:t>。</a:t>
            </a:r>
            <a:r>
              <a:rPr kumimoji="1" lang="en-US" altLang="zh-CN" sz="2000" dirty="0">
                <a:solidFill>
                  <a:srgbClr val="1000E4"/>
                </a:solidFill>
                <a:latin typeface="Consolas" pitchFamily="49" charset="0"/>
                <a:ea typeface="仿宋" pitchFamily="49" charset="-122"/>
                <a:cs typeface="Consolas" pitchFamily="49" charset="0"/>
              </a:rPr>
              <a:t>U</a:t>
            </a:r>
            <a:r>
              <a:rPr kumimoji="1" lang="zh-CN" altLang="en-US" sz="2000" dirty="0">
                <a:solidFill>
                  <a:srgbClr val="1000E4"/>
                </a:solidFill>
                <a:latin typeface="Consolas" pitchFamily="49" charset="0"/>
                <a:ea typeface="仿宋" pitchFamily="49" charset="-122"/>
                <a:cs typeface="Consolas" pitchFamily="49" charset="0"/>
              </a:rPr>
              <a:t>包含除</a:t>
            </a:r>
            <a:r>
              <a:rPr kumimoji="1" lang="en-US" altLang="zh-CN" sz="2000" i="1" dirty="0">
                <a:solidFill>
                  <a:srgbClr val="1000E4"/>
                </a:solidFill>
                <a:latin typeface="Consolas" pitchFamily="49" charset="0"/>
                <a:ea typeface="仿宋" pitchFamily="49" charset="-122"/>
                <a:cs typeface="Consolas" pitchFamily="49" charset="0"/>
              </a:rPr>
              <a:t>v</a:t>
            </a:r>
            <a:r>
              <a:rPr kumimoji="1" lang="zh-CN" altLang="en-US" sz="2000" dirty="0">
                <a:solidFill>
                  <a:srgbClr val="1000E4"/>
                </a:solidFill>
                <a:latin typeface="Consolas" pitchFamily="49" charset="0"/>
                <a:ea typeface="仿宋" pitchFamily="49" charset="-122"/>
                <a:cs typeface="Consolas" pitchFamily="49" charset="0"/>
              </a:rPr>
              <a:t>外的其他顶点，从</a:t>
            </a:r>
            <a:r>
              <a:rPr kumimoji="1" lang="en-US" altLang="zh-CN" sz="2000" i="1" dirty="0" err="1">
                <a:solidFill>
                  <a:srgbClr val="1000E4"/>
                </a:solidFill>
                <a:latin typeface="Consolas" pitchFamily="49" charset="0"/>
                <a:ea typeface="仿宋" pitchFamily="49" charset="-122"/>
                <a:cs typeface="Consolas" pitchFamily="49" charset="0"/>
              </a:rPr>
              <a:t>v</a:t>
            </a:r>
            <a:r>
              <a:rPr kumimoji="1" lang="en-US" altLang="zh-CN" sz="2000" dirty="0" err="1">
                <a:solidFill>
                  <a:srgbClr val="FF00FF"/>
                </a:solidFill>
                <a:latin typeface="Consolas" pitchFamily="49" charset="0"/>
                <a:ea typeface="仿宋" pitchFamily="49" charset="-122"/>
                <a:cs typeface="Consolas" pitchFamily="49" charset="0"/>
                <a:sym typeface="Wingdings"/>
              </a:rPr>
              <a:t></a:t>
            </a:r>
            <a:r>
              <a:rPr kumimoji="1" lang="en-US" altLang="zh-CN" sz="2000" dirty="0" err="1">
                <a:solidFill>
                  <a:srgbClr val="1000E4"/>
                </a:solidFill>
                <a:latin typeface="Consolas" pitchFamily="49" charset="0"/>
                <a:ea typeface="仿宋" pitchFamily="49" charset="-122"/>
                <a:cs typeface="Consolas" pitchFamily="49" charset="0"/>
              </a:rPr>
              <a:t>U</a:t>
            </a:r>
            <a:r>
              <a:rPr kumimoji="1" lang="zh-CN" altLang="en-US" sz="2000" dirty="0">
                <a:solidFill>
                  <a:srgbClr val="1000E4"/>
                </a:solidFill>
                <a:latin typeface="Consolas" pitchFamily="49" charset="0"/>
                <a:ea typeface="仿宋" pitchFamily="49" charset="-122"/>
                <a:cs typeface="Consolas" pitchFamily="49" charset="0"/>
              </a:rPr>
              <a:t>中任一顶点</a:t>
            </a:r>
            <a:r>
              <a:rPr kumimoji="1" lang="en-US" altLang="zh-CN" sz="2000" i="1" dirty="0" err="1">
                <a:solidFill>
                  <a:srgbClr val="1000E4"/>
                </a:solidFill>
                <a:latin typeface="Consolas" pitchFamily="49" charset="0"/>
                <a:ea typeface="仿宋" pitchFamily="49" charset="-122"/>
                <a:cs typeface="Consolas" pitchFamily="49" charset="0"/>
              </a:rPr>
              <a:t>i</a:t>
            </a:r>
            <a:r>
              <a:rPr kumimoji="1" lang="zh-CN" altLang="en-US" sz="2000" dirty="0">
                <a:solidFill>
                  <a:srgbClr val="1000E4"/>
                </a:solidFill>
                <a:latin typeface="Consolas" pitchFamily="49" charset="0"/>
                <a:ea typeface="仿宋" pitchFamily="49" charset="-122"/>
              </a:rPr>
              <a:t>的最短路径长度</a:t>
            </a:r>
            <a:r>
              <a:rPr kumimoji="1" lang="zh-CN" altLang="en-US" sz="2000" dirty="0">
                <a:solidFill>
                  <a:srgbClr val="1000E4"/>
                </a:solidFill>
                <a:latin typeface="Consolas" pitchFamily="49" charset="0"/>
                <a:ea typeface="仿宋" pitchFamily="49" charset="-122"/>
                <a:cs typeface="Consolas" pitchFamily="49" charset="0"/>
              </a:rPr>
              <a:t>为边上的权值（若</a:t>
            </a:r>
            <a:r>
              <a:rPr kumimoji="1" lang="en-US" altLang="zh-CN" sz="2000" i="1" dirty="0">
                <a:solidFill>
                  <a:srgbClr val="1000E4"/>
                </a:solidFill>
                <a:latin typeface="Consolas" pitchFamily="49" charset="0"/>
                <a:ea typeface="仿宋" pitchFamily="49" charset="-122"/>
                <a:cs typeface="Consolas" pitchFamily="49" charset="0"/>
              </a:rPr>
              <a:t>v</a:t>
            </a:r>
            <a:r>
              <a:rPr kumimoji="1" lang="zh-CN" altLang="en-US" sz="2000" dirty="0">
                <a:solidFill>
                  <a:srgbClr val="1000E4"/>
                </a:solidFill>
                <a:latin typeface="Consolas" pitchFamily="49" charset="0"/>
                <a:ea typeface="仿宋" pitchFamily="49" charset="-122"/>
                <a:cs typeface="Consolas" pitchFamily="49" charset="0"/>
              </a:rPr>
              <a:t>与</a:t>
            </a:r>
            <a:r>
              <a:rPr kumimoji="1" lang="en-US" altLang="zh-CN" sz="2000" i="1" dirty="0" err="1">
                <a:solidFill>
                  <a:srgbClr val="1000E4"/>
                </a:solidFill>
                <a:latin typeface="Consolas" pitchFamily="49" charset="0"/>
                <a:ea typeface="仿宋" pitchFamily="49" charset="-122"/>
                <a:cs typeface="Consolas" pitchFamily="49" charset="0"/>
              </a:rPr>
              <a:t>i</a:t>
            </a:r>
            <a:r>
              <a:rPr kumimoji="1" lang="zh-CN" altLang="en-US" sz="2000" dirty="0">
                <a:solidFill>
                  <a:srgbClr val="1000E4"/>
                </a:solidFill>
                <a:latin typeface="Consolas" pitchFamily="49" charset="0"/>
                <a:ea typeface="仿宋" pitchFamily="49" charset="-122"/>
                <a:cs typeface="Consolas" pitchFamily="49" charset="0"/>
              </a:rPr>
              <a:t>有边</a:t>
            </a:r>
            <a:r>
              <a:rPr kumimoji="1" lang="en-US" altLang="zh-CN" sz="2000" dirty="0">
                <a:solidFill>
                  <a:srgbClr val="1000E4"/>
                </a:solidFill>
                <a:latin typeface="Consolas" pitchFamily="49" charset="0"/>
                <a:ea typeface="仿宋" pitchFamily="49" charset="-122"/>
                <a:cs typeface="Consolas" pitchFamily="49" charset="0"/>
              </a:rPr>
              <a:t>&lt;</a:t>
            </a:r>
            <a:r>
              <a:rPr kumimoji="1" lang="en-US" altLang="zh-CN" sz="2000" i="1" dirty="0">
                <a:solidFill>
                  <a:srgbClr val="1000E4"/>
                </a:solidFill>
                <a:latin typeface="Consolas" pitchFamily="49" charset="0"/>
                <a:ea typeface="仿宋" pitchFamily="49" charset="-122"/>
                <a:cs typeface="Consolas" pitchFamily="49" charset="0"/>
              </a:rPr>
              <a:t>v</a:t>
            </a:r>
            <a:r>
              <a:rPr kumimoji="1" lang="zh-CN" altLang="en-US" sz="2000" dirty="0">
                <a:solidFill>
                  <a:srgbClr val="1000E4"/>
                </a:solidFill>
                <a:latin typeface="Consolas" pitchFamily="49" charset="0"/>
                <a:ea typeface="仿宋" pitchFamily="49" charset="-122"/>
                <a:cs typeface="Consolas" pitchFamily="49" charset="0"/>
              </a:rPr>
              <a:t>，</a:t>
            </a:r>
            <a:r>
              <a:rPr kumimoji="1" lang="en-US" altLang="zh-CN" sz="2000" i="1" dirty="0" err="1">
                <a:solidFill>
                  <a:srgbClr val="1000E4"/>
                </a:solidFill>
                <a:latin typeface="Consolas" pitchFamily="49" charset="0"/>
                <a:ea typeface="仿宋" pitchFamily="49" charset="-122"/>
                <a:cs typeface="Consolas" pitchFamily="49" charset="0"/>
              </a:rPr>
              <a:t>i</a:t>
            </a:r>
            <a:r>
              <a:rPr kumimoji="1" lang="en-US" altLang="zh-CN" sz="2000" dirty="0">
                <a:solidFill>
                  <a:srgbClr val="1000E4"/>
                </a:solidFill>
                <a:latin typeface="Consolas" pitchFamily="49" charset="0"/>
                <a:ea typeface="仿宋" pitchFamily="49" charset="-122"/>
                <a:cs typeface="Consolas" pitchFamily="49" charset="0"/>
              </a:rPr>
              <a:t>&gt;</a:t>
            </a:r>
            <a:r>
              <a:rPr kumimoji="1" lang="zh-CN" altLang="en-US" sz="2000" dirty="0">
                <a:solidFill>
                  <a:srgbClr val="1000E4"/>
                </a:solidFill>
                <a:latin typeface="Consolas" pitchFamily="49" charset="0"/>
                <a:ea typeface="仿宋" pitchFamily="49" charset="-122"/>
                <a:cs typeface="Consolas" pitchFamily="49" charset="0"/>
              </a:rPr>
              <a:t>）或∞（若</a:t>
            </a:r>
            <a:r>
              <a:rPr kumimoji="1" lang="en-US" altLang="zh-CN" sz="2000" i="1" dirty="0" err="1">
                <a:solidFill>
                  <a:srgbClr val="1000E4"/>
                </a:solidFill>
                <a:latin typeface="Consolas" pitchFamily="49" charset="0"/>
                <a:ea typeface="仿宋" pitchFamily="49" charset="-122"/>
                <a:cs typeface="Consolas" pitchFamily="49" charset="0"/>
              </a:rPr>
              <a:t>v</a:t>
            </a:r>
            <a:r>
              <a:rPr kumimoji="1" lang="en-US" altLang="zh-CN" sz="2000" dirty="0" err="1">
                <a:solidFill>
                  <a:srgbClr val="FF00FF"/>
                </a:solidFill>
                <a:latin typeface="Consolas" pitchFamily="49" charset="0"/>
                <a:ea typeface="仿宋" pitchFamily="49" charset="-122"/>
                <a:cs typeface="Consolas" pitchFamily="49" charset="0"/>
                <a:sym typeface="Wingdings"/>
              </a:rPr>
              <a:t></a:t>
            </a:r>
            <a:r>
              <a:rPr kumimoji="1" lang="en-US" altLang="zh-CN" sz="2000" i="1" dirty="0" err="1">
                <a:solidFill>
                  <a:srgbClr val="1000E4"/>
                </a:solidFill>
                <a:latin typeface="Consolas" pitchFamily="49" charset="0"/>
                <a:ea typeface="仿宋" pitchFamily="49" charset="-122"/>
                <a:cs typeface="Consolas" pitchFamily="49" charset="0"/>
              </a:rPr>
              <a:t>i</a:t>
            </a:r>
            <a:r>
              <a:rPr kumimoji="1" lang="zh-CN" altLang="en-US" sz="2000" dirty="0">
                <a:solidFill>
                  <a:srgbClr val="1000E4"/>
                </a:solidFill>
                <a:latin typeface="Consolas" pitchFamily="49" charset="0"/>
                <a:ea typeface="仿宋" pitchFamily="49" charset="-122"/>
                <a:cs typeface="Consolas" pitchFamily="49" charset="0"/>
              </a:rPr>
              <a:t>没有边）。     </a:t>
            </a:r>
          </a:p>
        </p:txBody>
      </p:sp>
      <p:grpSp>
        <p:nvGrpSpPr>
          <p:cNvPr id="3" name="组合 15">
            <a:extLst>
              <a:ext uri="{FF2B5EF4-FFF2-40B4-BE49-F238E27FC236}">
                <a16:creationId xmlns:a16="http://schemas.microsoft.com/office/drawing/2014/main" id="{4610A06C-0787-E232-FD2A-B6A3E2AE68F6}"/>
              </a:ext>
            </a:extLst>
          </p:cNvPr>
          <p:cNvGrpSpPr/>
          <p:nvPr/>
        </p:nvGrpSpPr>
        <p:grpSpPr>
          <a:xfrm>
            <a:off x="3394075" y="4272693"/>
            <a:ext cx="4175918" cy="2495818"/>
            <a:chOff x="2252676" y="3000372"/>
            <a:chExt cx="4175918" cy="2495818"/>
          </a:xfrm>
        </p:grpSpPr>
        <p:sp>
          <p:nvSpPr>
            <p:cNvPr id="4" name="Oval 4">
              <a:extLst>
                <a:ext uri="{FF2B5EF4-FFF2-40B4-BE49-F238E27FC236}">
                  <a16:creationId xmlns:a16="http://schemas.microsoft.com/office/drawing/2014/main" id="{84A32D0A-2445-8DB8-7FF7-C4FF987D150A}"/>
                </a:ext>
              </a:extLst>
            </p:cNvPr>
            <p:cNvSpPr>
              <a:spLocks noChangeArrowheads="1"/>
            </p:cNvSpPr>
            <p:nvPr/>
          </p:nvSpPr>
          <p:spPr bwMode="auto">
            <a:xfrm>
              <a:off x="2252676" y="3387957"/>
              <a:ext cx="1728787" cy="1512888"/>
            </a:xfrm>
            <a:prstGeom prst="ellipse">
              <a:avLst/>
            </a:prstGeom>
            <a:solidFill>
              <a:srgbClr val="FFFFFF">
                <a:alpha val="0"/>
              </a:srgbClr>
            </a:solidFill>
            <a:ln w="38100" algn="ctr">
              <a:solidFill>
                <a:srgbClr val="FF00FF"/>
              </a:solidFill>
              <a:prstDash val="sysDot"/>
              <a:round/>
              <a:headEnd/>
              <a:tailEnd type="none" w="med" len="lg"/>
            </a:ln>
            <a:effectLst/>
          </p:spPr>
          <p:txBody>
            <a:bodyPr wrap="none" anchor="ctr"/>
            <a:lstStyle/>
            <a:p>
              <a:endParaRPr lang="zh-CN" altLang="en-US"/>
            </a:p>
          </p:txBody>
        </p:sp>
        <p:sp>
          <p:nvSpPr>
            <p:cNvPr id="5" name="Text Box 5">
              <a:extLst>
                <a:ext uri="{FF2B5EF4-FFF2-40B4-BE49-F238E27FC236}">
                  <a16:creationId xmlns:a16="http://schemas.microsoft.com/office/drawing/2014/main" id="{8A9C9CC3-0F38-21A6-B7D2-7179E7CE8216}"/>
                </a:ext>
              </a:extLst>
            </p:cNvPr>
            <p:cNvSpPr txBox="1">
              <a:spLocks noChangeArrowheads="1"/>
            </p:cNvSpPr>
            <p:nvPr/>
          </p:nvSpPr>
          <p:spPr bwMode="auto">
            <a:xfrm>
              <a:off x="2828938" y="3000372"/>
              <a:ext cx="576262" cy="307777"/>
            </a:xfrm>
            <a:prstGeom prst="rect">
              <a:avLst/>
            </a:prstGeom>
            <a:noFill/>
            <a:ln w="38100" algn="ctr">
              <a:noFill/>
              <a:miter lim="800000"/>
              <a:headEnd/>
              <a:tailEnd type="none" w="med" len="lg"/>
            </a:ln>
            <a:effectLst/>
          </p:spPr>
          <p:txBody>
            <a:bodyPr lIns="0" tIns="0" rIns="0" bIns="0">
              <a:spAutoFit/>
            </a:bodyPr>
            <a:lstStyle/>
            <a:p>
              <a:pPr algn="ctr"/>
              <a:r>
                <a:rPr lang="en-US" altLang="zh-CN" sz="2000">
                  <a:latin typeface="Consolas" pitchFamily="49" charset="0"/>
                  <a:cs typeface="Consolas" pitchFamily="49" charset="0"/>
                </a:rPr>
                <a:t>S</a:t>
              </a:r>
            </a:p>
          </p:txBody>
        </p:sp>
        <p:sp>
          <p:nvSpPr>
            <p:cNvPr id="6" name="Oval 6">
              <a:extLst>
                <a:ext uri="{FF2B5EF4-FFF2-40B4-BE49-F238E27FC236}">
                  <a16:creationId xmlns:a16="http://schemas.microsoft.com/office/drawing/2014/main" id="{5C1B9B00-304F-E476-0141-8F77887ECB0D}"/>
                </a:ext>
              </a:extLst>
            </p:cNvPr>
            <p:cNvSpPr>
              <a:spLocks noChangeArrowheads="1"/>
            </p:cNvSpPr>
            <p:nvPr/>
          </p:nvSpPr>
          <p:spPr bwMode="auto">
            <a:xfrm>
              <a:off x="2973401" y="4043360"/>
              <a:ext cx="431800"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pPr algn="ctr">
                <a:spcBef>
                  <a:spcPct val="0"/>
                </a:spcBef>
              </a:pPr>
              <a:r>
                <a:rPr lang="en-US" altLang="zh-CN" sz="2000" i="1" dirty="0">
                  <a:solidFill>
                    <a:srgbClr val="3333FF"/>
                  </a:solidFill>
                  <a:latin typeface="Consolas" pitchFamily="49" charset="0"/>
                  <a:cs typeface="Consolas" pitchFamily="49" charset="0"/>
                </a:rPr>
                <a:t>v</a:t>
              </a:r>
            </a:p>
          </p:txBody>
        </p:sp>
        <p:sp>
          <p:nvSpPr>
            <p:cNvPr id="7" name="Oval 9">
              <a:extLst>
                <a:ext uri="{FF2B5EF4-FFF2-40B4-BE49-F238E27FC236}">
                  <a16:creationId xmlns:a16="http://schemas.microsoft.com/office/drawing/2014/main" id="{C943458C-E307-889D-F4AB-2EE9E4E9F346}"/>
                </a:ext>
              </a:extLst>
            </p:cNvPr>
            <p:cNvSpPr>
              <a:spLocks noChangeArrowheads="1"/>
            </p:cNvSpPr>
            <p:nvPr/>
          </p:nvSpPr>
          <p:spPr bwMode="auto">
            <a:xfrm>
              <a:off x="4699807" y="3387957"/>
              <a:ext cx="1728787" cy="1512888"/>
            </a:xfrm>
            <a:prstGeom prst="ellipse">
              <a:avLst/>
            </a:prstGeom>
            <a:solidFill>
              <a:srgbClr val="FFFFFF">
                <a:alpha val="0"/>
              </a:srgbClr>
            </a:solidFill>
            <a:ln w="38100" algn="ctr">
              <a:solidFill>
                <a:srgbClr val="FF00FF"/>
              </a:solidFill>
              <a:prstDash val="sysDot"/>
              <a:round/>
              <a:headEnd/>
              <a:tailEnd type="none" w="med" len="lg"/>
            </a:ln>
            <a:effectLst/>
          </p:spPr>
          <p:txBody>
            <a:bodyPr wrap="none" anchor="ctr"/>
            <a:lstStyle/>
            <a:p>
              <a:endParaRPr lang="zh-CN" altLang="en-US"/>
            </a:p>
          </p:txBody>
        </p:sp>
        <p:sp>
          <p:nvSpPr>
            <p:cNvPr id="12" name="Text Box 10">
              <a:extLst>
                <a:ext uri="{FF2B5EF4-FFF2-40B4-BE49-F238E27FC236}">
                  <a16:creationId xmlns:a16="http://schemas.microsoft.com/office/drawing/2014/main" id="{2F60DBF5-2C6D-877F-FDD1-F6B0EAD2CFD7}"/>
                </a:ext>
              </a:extLst>
            </p:cNvPr>
            <p:cNvSpPr txBox="1">
              <a:spLocks noChangeArrowheads="1"/>
            </p:cNvSpPr>
            <p:nvPr/>
          </p:nvSpPr>
          <p:spPr bwMode="auto">
            <a:xfrm>
              <a:off x="5060963" y="3000372"/>
              <a:ext cx="1008062" cy="307777"/>
            </a:xfrm>
            <a:prstGeom prst="rect">
              <a:avLst/>
            </a:prstGeom>
            <a:noFill/>
            <a:ln w="38100" algn="ctr">
              <a:noFill/>
              <a:miter lim="800000"/>
              <a:headEnd/>
              <a:tailEnd type="none" w="med" len="lg"/>
            </a:ln>
            <a:effectLst/>
          </p:spPr>
          <p:txBody>
            <a:bodyPr lIns="0" tIns="0" rIns="0" bIns="0">
              <a:spAutoFit/>
            </a:bodyPr>
            <a:lstStyle/>
            <a:p>
              <a:pPr algn="ctr"/>
              <a:r>
                <a:rPr lang="en-US" altLang="zh-CN" sz="2000">
                  <a:latin typeface="Consolas" pitchFamily="49" charset="0"/>
                  <a:cs typeface="Consolas" pitchFamily="49" charset="0"/>
                </a:rPr>
                <a:t>U=V</a:t>
              </a:r>
              <a:r>
                <a:rPr lang="en-US" altLang="zh-CN" sz="2000">
                  <a:latin typeface="Consolas" pitchFamily="49" charset="0"/>
                  <a:ea typeface="宋体" pitchFamily="2" charset="-122"/>
                  <a:cs typeface="Consolas" pitchFamily="49" charset="0"/>
                </a:rPr>
                <a:t>-</a:t>
              </a:r>
              <a:r>
                <a:rPr lang="en-US" altLang="zh-CN" sz="2000">
                  <a:latin typeface="Consolas" pitchFamily="49" charset="0"/>
                  <a:cs typeface="Consolas" pitchFamily="49" charset="0"/>
                </a:rPr>
                <a:t>S</a:t>
              </a:r>
            </a:p>
          </p:txBody>
        </p:sp>
        <p:sp>
          <p:nvSpPr>
            <p:cNvPr id="13" name="Oval 11">
              <a:extLst>
                <a:ext uri="{FF2B5EF4-FFF2-40B4-BE49-F238E27FC236}">
                  <a16:creationId xmlns:a16="http://schemas.microsoft.com/office/drawing/2014/main" id="{3EC08638-D1DE-E1DA-7DA8-4A3940D8C398}"/>
                </a:ext>
              </a:extLst>
            </p:cNvPr>
            <p:cNvSpPr>
              <a:spLocks noChangeArrowheads="1"/>
            </p:cNvSpPr>
            <p:nvPr/>
          </p:nvSpPr>
          <p:spPr bwMode="auto">
            <a:xfrm>
              <a:off x="4916501" y="4043360"/>
              <a:ext cx="431800"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pPr algn="ctr">
                <a:spcBef>
                  <a:spcPct val="0"/>
                </a:spcBef>
              </a:pPr>
              <a:r>
                <a:rPr lang="en-US" altLang="zh-CN" sz="2000" i="1">
                  <a:solidFill>
                    <a:srgbClr val="3333FF"/>
                  </a:solidFill>
                  <a:latin typeface="Consolas" pitchFamily="49" charset="0"/>
                  <a:cs typeface="Consolas" pitchFamily="49" charset="0"/>
                </a:rPr>
                <a:t>i</a:t>
              </a:r>
            </a:p>
          </p:txBody>
        </p:sp>
        <p:sp>
          <p:nvSpPr>
            <p:cNvPr id="14" name="Oval 12">
              <a:extLst>
                <a:ext uri="{FF2B5EF4-FFF2-40B4-BE49-F238E27FC236}">
                  <a16:creationId xmlns:a16="http://schemas.microsoft.com/office/drawing/2014/main" id="{C7EE47DC-E048-3A86-19CB-74A9A1FDE519}"/>
                </a:ext>
              </a:extLst>
            </p:cNvPr>
            <p:cNvSpPr>
              <a:spLocks noChangeArrowheads="1"/>
            </p:cNvSpPr>
            <p:nvPr/>
          </p:nvSpPr>
          <p:spPr bwMode="auto">
            <a:xfrm>
              <a:off x="5564201" y="4367210"/>
              <a:ext cx="431800"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pPr algn="ctr">
                <a:spcBef>
                  <a:spcPct val="0"/>
                </a:spcBef>
              </a:pPr>
              <a:endParaRPr lang="zh-CN" altLang="zh-CN" sz="2000" i="1">
                <a:solidFill>
                  <a:srgbClr val="3333FF"/>
                </a:solidFill>
                <a:latin typeface="Times New Roman" pitchFamily="18" charset="0"/>
                <a:cs typeface="Times New Roman" pitchFamily="18" charset="0"/>
              </a:endParaRPr>
            </a:p>
          </p:txBody>
        </p:sp>
        <p:sp>
          <p:nvSpPr>
            <p:cNvPr id="15" name="Oval 13">
              <a:extLst>
                <a:ext uri="{FF2B5EF4-FFF2-40B4-BE49-F238E27FC236}">
                  <a16:creationId xmlns:a16="http://schemas.microsoft.com/office/drawing/2014/main" id="{76F8DD55-7C5C-1AF6-A0B4-A6C31EF4736B}"/>
                </a:ext>
              </a:extLst>
            </p:cNvPr>
            <p:cNvSpPr>
              <a:spLocks noChangeArrowheads="1"/>
            </p:cNvSpPr>
            <p:nvPr/>
          </p:nvSpPr>
          <p:spPr bwMode="auto">
            <a:xfrm>
              <a:off x="5492763" y="3756022"/>
              <a:ext cx="431800"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pPr algn="ctr">
                <a:spcBef>
                  <a:spcPct val="0"/>
                </a:spcBef>
              </a:pPr>
              <a:endParaRPr lang="zh-CN" altLang="zh-CN" sz="2000" i="1">
                <a:solidFill>
                  <a:srgbClr val="3333FF"/>
                </a:solidFill>
                <a:latin typeface="Times New Roman" pitchFamily="18" charset="0"/>
                <a:cs typeface="Times New Roman" pitchFamily="18" charset="0"/>
              </a:endParaRPr>
            </a:p>
          </p:txBody>
        </p:sp>
        <p:sp>
          <p:nvSpPr>
            <p:cNvPr id="16" name="Text Box 15">
              <a:extLst>
                <a:ext uri="{FF2B5EF4-FFF2-40B4-BE49-F238E27FC236}">
                  <a16:creationId xmlns:a16="http://schemas.microsoft.com/office/drawing/2014/main" id="{C50FB227-4C62-0D46-C590-C05C403BBAB4}"/>
                </a:ext>
              </a:extLst>
            </p:cNvPr>
            <p:cNvSpPr txBox="1">
              <a:spLocks noChangeArrowheads="1"/>
            </p:cNvSpPr>
            <p:nvPr/>
          </p:nvSpPr>
          <p:spPr bwMode="auto">
            <a:xfrm>
              <a:off x="3081555" y="5126858"/>
              <a:ext cx="2736850" cy="369332"/>
            </a:xfrm>
            <a:prstGeom prst="rect">
              <a:avLst/>
            </a:prstGeom>
            <a:noFill/>
            <a:ln w="38100" algn="ctr">
              <a:noFill/>
              <a:miter lim="800000"/>
              <a:headEnd/>
              <a:tailEnd type="none" w="med" len="lg"/>
            </a:ln>
            <a:effectLst/>
          </p:spPr>
          <p:txBody>
            <a:bodyPr>
              <a:spAutoFit/>
            </a:bodyPr>
            <a:lstStyle/>
            <a:p>
              <a:r>
                <a:rPr kumimoji="1" lang="en-US" altLang="zh-CN" sz="1800" i="1" dirty="0">
                  <a:latin typeface="Consolas" pitchFamily="49" charset="0"/>
                  <a:ea typeface="仿宋" pitchFamily="49" charset="-122"/>
                  <a:cs typeface="Consolas" pitchFamily="49" charset="0"/>
                </a:rPr>
                <a:t>v</a:t>
              </a:r>
              <a:r>
                <a:rPr kumimoji="1" lang="zh-CN" altLang="en-US" sz="1800" dirty="0">
                  <a:latin typeface="Consolas" pitchFamily="49" charset="0"/>
                  <a:ea typeface="仿宋" pitchFamily="49" charset="-122"/>
                  <a:cs typeface="Consolas" pitchFamily="49" charset="0"/>
                </a:rPr>
                <a:t>与</a:t>
              </a:r>
              <a:r>
                <a:rPr kumimoji="1" lang="en-US" altLang="zh-CN" sz="1800" dirty="0">
                  <a:latin typeface="Consolas" pitchFamily="49" charset="0"/>
                  <a:ea typeface="仿宋" pitchFamily="49" charset="-122"/>
                  <a:cs typeface="Consolas" pitchFamily="49" charset="0"/>
                </a:rPr>
                <a:t>U</a:t>
              </a:r>
              <a:r>
                <a:rPr kumimoji="1" lang="zh-CN" altLang="en-US" sz="1800" dirty="0">
                  <a:latin typeface="Consolas" pitchFamily="49" charset="0"/>
                  <a:ea typeface="仿宋" pitchFamily="49" charset="-122"/>
                  <a:cs typeface="Consolas" pitchFamily="49" charset="0"/>
                </a:rPr>
                <a:t>中顶点</a:t>
              </a:r>
              <a:r>
                <a:rPr kumimoji="1" lang="en-US" altLang="zh-CN" sz="1800" i="1" dirty="0">
                  <a:latin typeface="Consolas" pitchFamily="49" charset="0"/>
                  <a:ea typeface="仿宋" pitchFamily="49" charset="-122"/>
                  <a:cs typeface="Consolas" pitchFamily="49" charset="0"/>
                </a:rPr>
                <a:t>i</a:t>
              </a:r>
              <a:r>
                <a:rPr kumimoji="1" lang="zh-CN" altLang="en-US" sz="1800" dirty="0">
                  <a:latin typeface="Consolas" pitchFamily="49" charset="0"/>
                  <a:ea typeface="仿宋" pitchFamily="49" charset="-122"/>
                  <a:cs typeface="Consolas" pitchFamily="49" charset="0"/>
                </a:rPr>
                <a:t>的边</a:t>
              </a:r>
              <a:endParaRPr kumimoji="1" lang="zh-CN" altLang="en-US" sz="1800" i="1" dirty="0">
                <a:latin typeface="Consolas" pitchFamily="49" charset="0"/>
                <a:ea typeface="仿宋" pitchFamily="49" charset="-122"/>
                <a:cs typeface="Consolas" pitchFamily="49" charset="0"/>
              </a:endParaRPr>
            </a:p>
          </p:txBody>
        </p:sp>
        <p:sp>
          <p:nvSpPr>
            <p:cNvPr id="17" name="Line 16">
              <a:extLst>
                <a:ext uri="{FF2B5EF4-FFF2-40B4-BE49-F238E27FC236}">
                  <a16:creationId xmlns:a16="http://schemas.microsoft.com/office/drawing/2014/main" id="{4293F62F-4638-6089-D387-636DC970E6E7}"/>
                </a:ext>
              </a:extLst>
            </p:cNvPr>
            <p:cNvSpPr>
              <a:spLocks noChangeShapeType="1"/>
            </p:cNvSpPr>
            <p:nvPr/>
          </p:nvSpPr>
          <p:spPr bwMode="auto">
            <a:xfrm>
              <a:off x="3405201" y="4259259"/>
              <a:ext cx="1511300" cy="0"/>
            </a:xfrm>
            <a:prstGeom prst="line">
              <a:avLst/>
            </a:prstGeom>
            <a:ln>
              <a:headEnd/>
              <a:tailEnd type="stealth" w="med" len="lg"/>
            </a:ln>
          </p:spPr>
          <p:style>
            <a:lnRef idx="2">
              <a:schemeClr val="accent2"/>
            </a:lnRef>
            <a:fillRef idx="0">
              <a:schemeClr val="accent2"/>
            </a:fillRef>
            <a:effectRef idx="1">
              <a:schemeClr val="accent2"/>
            </a:effectRef>
            <a:fontRef idx="minor">
              <a:schemeClr val="tx1"/>
            </a:fontRef>
          </p:style>
          <p:txBody>
            <a:bodyPr wrap="none"/>
            <a:lstStyle/>
            <a:p>
              <a:endParaRPr lang="zh-CN" altLang="en-US"/>
            </a:p>
          </p:txBody>
        </p:sp>
        <p:sp>
          <p:nvSpPr>
            <p:cNvPr id="23" name="Line 17">
              <a:extLst>
                <a:ext uri="{FF2B5EF4-FFF2-40B4-BE49-F238E27FC236}">
                  <a16:creationId xmlns:a16="http://schemas.microsoft.com/office/drawing/2014/main" id="{4707F5DA-2B1C-7746-03EC-0A9DD03A86F5}"/>
                </a:ext>
              </a:extLst>
            </p:cNvPr>
            <p:cNvSpPr>
              <a:spLocks noChangeShapeType="1"/>
            </p:cNvSpPr>
            <p:nvPr/>
          </p:nvSpPr>
          <p:spPr bwMode="auto">
            <a:xfrm flipH="1">
              <a:off x="4267214" y="4259260"/>
              <a:ext cx="1587" cy="867598"/>
            </a:xfrm>
            <a:prstGeom prst="line">
              <a:avLst/>
            </a:prstGeom>
            <a:noFill/>
            <a:ln w="38100">
              <a:solidFill>
                <a:srgbClr val="339966"/>
              </a:solidFill>
              <a:round/>
              <a:headEnd type="none"/>
              <a:tailEnd type="none" w="med" len="lg"/>
            </a:ln>
            <a:effectLst/>
          </p:spPr>
          <p:txBody>
            <a:bodyPr wrap="none"/>
            <a:lstStyle/>
            <a:p>
              <a:endParaRPr lang="zh-CN" altLang="en-US"/>
            </a:p>
          </p:txBody>
        </p:sp>
      </p:grpSp>
    </p:spTree>
    <p:extLst>
      <p:ext uri="{BB962C8B-B14F-4D97-AF65-F5344CB8AC3E}">
        <p14:creationId xmlns:p14="http://schemas.microsoft.com/office/powerpoint/2010/main" val="1825542809"/>
      </p:ext>
    </p:extLst>
  </p:cSld>
  <p:clrMapOvr>
    <a:masterClrMapping/>
  </p:clrMapOvr>
  <p:transition/>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CE7FD3-21A8-5901-9195-697770C35E1D}"/>
            </a:ext>
          </a:extLst>
        </p:cNvPr>
        <p:cNvGrpSpPr/>
        <p:nvPr/>
      </p:nvGrpSpPr>
      <p:grpSpPr>
        <a:xfrm>
          <a:off x="0" y="0"/>
          <a:ext cx="0" cy="0"/>
          <a:chOff x="0" y="0"/>
          <a:chExt cx="0" cy="0"/>
        </a:xfrm>
      </p:grpSpPr>
      <p:sp>
        <p:nvSpPr>
          <p:cNvPr id="8" name="Text Box 2">
            <a:extLst>
              <a:ext uri="{FF2B5EF4-FFF2-40B4-BE49-F238E27FC236}">
                <a16:creationId xmlns:a16="http://schemas.microsoft.com/office/drawing/2014/main" id="{EAF43629-7CE8-5B24-025F-78F31CA9EB80}"/>
              </a:ext>
            </a:extLst>
          </p:cNvPr>
          <p:cNvSpPr txBox="1">
            <a:spLocks noChangeArrowheads="1"/>
          </p:cNvSpPr>
          <p:nvPr/>
        </p:nvSpPr>
        <p:spPr bwMode="auto">
          <a:xfrm>
            <a:off x="1403176" y="2370048"/>
            <a:ext cx="6326088" cy="8371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rnd">
                <a:solidFill>
                  <a:srgbClr val="000000"/>
                </a:solidFill>
                <a:miter lim="800000"/>
                <a:headEnd/>
                <a:tailEnd/>
              </a14:hiddenLine>
            </a:ext>
          </a:extLst>
        </p:spPr>
        <p:txBody>
          <a:bodyPr wrap="square">
            <a:spAutoFit/>
          </a:bodyPr>
          <a:lstStyle>
            <a:lvl1pPr marL="457200" indent="-457200" eaLnBrk="0" hangingPunct="0">
              <a:defRPr kumimoji="1" sz="2800">
                <a:solidFill>
                  <a:schemeClr val="tx1"/>
                </a:solidFill>
                <a:latin typeface="Comic Sans MS" pitchFamily="66" charset="0"/>
                <a:ea typeface="宋体" pitchFamily="2" charset="-122"/>
              </a:defRPr>
            </a:lvl1pPr>
            <a:lvl2pPr marL="914400" indent="-457200" eaLnBrk="0" hangingPunct="0">
              <a:defRPr kumimoji="1" sz="2800">
                <a:solidFill>
                  <a:schemeClr val="tx1"/>
                </a:solidFill>
                <a:latin typeface="Comic Sans MS" pitchFamily="66" charset="0"/>
                <a:ea typeface="宋体" pitchFamily="2" charset="-122"/>
              </a:defRPr>
            </a:lvl2pPr>
            <a:lvl3pPr marL="1143000" indent="-228600" eaLnBrk="0" hangingPunct="0">
              <a:defRPr kumimoji="1" sz="2800">
                <a:solidFill>
                  <a:schemeClr val="tx1"/>
                </a:solidFill>
                <a:latin typeface="Comic Sans MS" pitchFamily="66" charset="0"/>
                <a:ea typeface="宋体" pitchFamily="2" charset="-122"/>
              </a:defRPr>
            </a:lvl3pPr>
            <a:lvl4pPr marL="1600200" indent="-228600" eaLnBrk="0" hangingPunct="0">
              <a:defRPr kumimoji="1" sz="2800">
                <a:solidFill>
                  <a:schemeClr val="tx1"/>
                </a:solidFill>
                <a:latin typeface="Comic Sans MS" pitchFamily="66" charset="0"/>
                <a:ea typeface="宋体" pitchFamily="2" charset="-122"/>
              </a:defRPr>
            </a:lvl4pPr>
            <a:lvl5pPr marL="2057400" indent="-228600" eaLnBrk="0" hangingPunct="0">
              <a:defRPr kumimoji="1" sz="2800">
                <a:solidFill>
                  <a:schemeClr val="tx1"/>
                </a:solidFill>
                <a:latin typeface="Comic Sans MS" pitchFamily="66" charset="0"/>
                <a:ea typeface="宋体" pitchFamily="2" charset="-122"/>
              </a:defRPr>
            </a:lvl5pPr>
            <a:lvl6pPr marL="2514600" indent="-228600" algn="ctr" eaLnBrk="0" fontAlgn="base" hangingPunct="0">
              <a:spcBef>
                <a:spcPct val="0"/>
              </a:spcBef>
              <a:spcAft>
                <a:spcPct val="0"/>
              </a:spcAft>
              <a:defRPr kumimoji="1" sz="2800">
                <a:solidFill>
                  <a:schemeClr val="tx1"/>
                </a:solidFill>
                <a:latin typeface="Comic Sans MS" pitchFamily="66" charset="0"/>
                <a:ea typeface="宋体" pitchFamily="2" charset="-122"/>
              </a:defRPr>
            </a:lvl6pPr>
            <a:lvl7pPr marL="2971800" indent="-228600" algn="ctr" eaLnBrk="0" fontAlgn="base" hangingPunct="0">
              <a:spcBef>
                <a:spcPct val="0"/>
              </a:spcBef>
              <a:spcAft>
                <a:spcPct val="0"/>
              </a:spcAft>
              <a:defRPr kumimoji="1" sz="2800">
                <a:solidFill>
                  <a:schemeClr val="tx1"/>
                </a:solidFill>
                <a:latin typeface="Comic Sans MS" pitchFamily="66" charset="0"/>
                <a:ea typeface="宋体" pitchFamily="2" charset="-122"/>
              </a:defRPr>
            </a:lvl7pPr>
            <a:lvl8pPr marL="3429000" indent="-228600" algn="ctr" eaLnBrk="0" fontAlgn="base" hangingPunct="0">
              <a:spcBef>
                <a:spcPct val="0"/>
              </a:spcBef>
              <a:spcAft>
                <a:spcPct val="0"/>
              </a:spcAft>
              <a:defRPr kumimoji="1" sz="2800">
                <a:solidFill>
                  <a:schemeClr val="tx1"/>
                </a:solidFill>
                <a:latin typeface="Comic Sans MS" pitchFamily="66" charset="0"/>
                <a:ea typeface="宋体" pitchFamily="2" charset="-122"/>
              </a:defRPr>
            </a:lvl8pPr>
            <a:lvl9pPr marL="3886200" indent="-228600" algn="ctr" eaLnBrk="0" fontAlgn="base" hangingPunct="0">
              <a:spcBef>
                <a:spcPct val="0"/>
              </a:spcBef>
              <a:spcAft>
                <a:spcPct val="0"/>
              </a:spcAft>
              <a:defRPr kumimoji="1" sz="2800">
                <a:solidFill>
                  <a:schemeClr val="tx1"/>
                </a:solidFill>
                <a:latin typeface="Comic Sans MS" pitchFamily="66" charset="0"/>
                <a:ea typeface="宋体" pitchFamily="2" charset="-122"/>
              </a:defRPr>
            </a:lvl9pPr>
          </a:lstStyle>
          <a:p>
            <a:pPr marL="0" indent="0" algn="just">
              <a:spcBef>
                <a:spcPct val="20000"/>
              </a:spcBef>
            </a:pPr>
            <a:r>
              <a:rPr lang="en-US" altLang="zh-CN" sz="2200" dirty="0" err="1">
                <a:latin typeface="Times New Roman" pitchFamily="18" charset="0"/>
                <a:ea typeface="黑体" pitchFamily="49" charset="-122"/>
                <a:cs typeface="Times New Roman" pitchFamily="18" charset="0"/>
              </a:rPr>
              <a:t>Dijkstra</a:t>
            </a:r>
            <a:r>
              <a:rPr lang="zh-CN" altLang="en-US" sz="2200" dirty="0">
                <a:latin typeface="黑体" pitchFamily="49" charset="-122"/>
                <a:ea typeface="黑体" pitchFamily="49" charset="-122"/>
                <a:cs typeface="经典粗黑简" pitchFamily="49" charset="-122"/>
              </a:rPr>
              <a:t>算法</a:t>
            </a:r>
            <a:r>
              <a:rPr lang="en-US" altLang="zh-CN" sz="2200" dirty="0">
                <a:latin typeface="黑体" pitchFamily="49" charset="-122"/>
                <a:ea typeface="黑体" pitchFamily="49" charset="-122"/>
                <a:cs typeface="经典粗黑简" pitchFamily="49" charset="-122"/>
              </a:rPr>
              <a:t>(</a:t>
            </a:r>
            <a:r>
              <a:rPr lang="en-US" altLang="zh-CN" sz="2200" dirty="0">
                <a:latin typeface="Times New Roman" pitchFamily="18" charset="0"/>
                <a:ea typeface="黑体" pitchFamily="49" charset="-122"/>
                <a:cs typeface="Times New Roman" pitchFamily="18" charset="0"/>
              </a:rPr>
              <a:t>1959</a:t>
            </a:r>
            <a:r>
              <a:rPr lang="en-US" altLang="zh-CN" sz="2200" dirty="0">
                <a:latin typeface="黑体" pitchFamily="49" charset="-122"/>
                <a:ea typeface="黑体" pitchFamily="49" charset="-122"/>
                <a:cs typeface="经典粗黑简" pitchFamily="49" charset="-122"/>
              </a:rPr>
              <a:t>)</a:t>
            </a:r>
            <a:r>
              <a:rPr lang="zh-CN" altLang="en-US" sz="2200" dirty="0">
                <a:latin typeface="黑体" pitchFamily="49" charset="-122"/>
                <a:ea typeface="黑体" pitchFamily="49" charset="-122"/>
                <a:cs typeface="经典粗黑简" pitchFamily="49" charset="-122"/>
              </a:rPr>
              <a:t>的基本思想</a:t>
            </a:r>
          </a:p>
          <a:p>
            <a:pPr lvl="1" algn="just">
              <a:spcBef>
                <a:spcPct val="20000"/>
              </a:spcBef>
              <a:buFont typeface="Wingdings" pitchFamily="2" charset="2"/>
              <a:buChar char="Ø"/>
            </a:pPr>
            <a:r>
              <a:rPr lang="zh-CN" altLang="en-US" sz="2200" dirty="0">
                <a:solidFill>
                  <a:srgbClr val="FF0000"/>
                </a:solidFill>
                <a:latin typeface="黑体" pitchFamily="49" charset="-122"/>
                <a:ea typeface="黑体" pitchFamily="49" charset="-122"/>
                <a:cs typeface="经典粗黑简" pitchFamily="49" charset="-122"/>
              </a:rPr>
              <a:t>按路径长度递增顺序</a:t>
            </a:r>
            <a:r>
              <a:rPr lang="zh-CN" altLang="en-US" sz="2200" dirty="0">
                <a:latin typeface="黑体" pitchFamily="49" charset="-122"/>
                <a:ea typeface="黑体" pitchFamily="49" charset="-122"/>
                <a:cs typeface="经典粗黑简" pitchFamily="49" charset="-122"/>
              </a:rPr>
              <a:t>求最短路径算法。</a:t>
            </a:r>
          </a:p>
        </p:txBody>
      </p:sp>
      <p:sp>
        <p:nvSpPr>
          <p:cNvPr id="9" name="Rectangle 2">
            <a:extLst>
              <a:ext uri="{FF2B5EF4-FFF2-40B4-BE49-F238E27FC236}">
                <a16:creationId xmlns:a16="http://schemas.microsoft.com/office/drawing/2014/main" id="{27BF4ABA-54CA-5B17-DB7A-5F20FB742777}"/>
              </a:ext>
            </a:extLst>
          </p:cNvPr>
          <p:cNvSpPr txBox="1">
            <a:spLocks noChangeArrowheads="1"/>
          </p:cNvSpPr>
          <p:nvPr/>
        </p:nvSpPr>
        <p:spPr>
          <a:xfrm>
            <a:off x="474771" y="1230902"/>
            <a:ext cx="10949819"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8.5.2 </a:t>
            </a:r>
            <a:r>
              <a:rPr lang="zh-CN" altLang="en-US" dirty="0"/>
              <a:t>从一个顶点到其余各顶点的最短路径（单源点最短路径问题）</a:t>
            </a:r>
          </a:p>
        </p:txBody>
      </p:sp>
      <p:cxnSp>
        <p:nvCxnSpPr>
          <p:cNvPr id="10" name="直接连接符 9">
            <a:extLst>
              <a:ext uri="{FF2B5EF4-FFF2-40B4-BE49-F238E27FC236}">
                <a16:creationId xmlns:a16="http://schemas.microsoft.com/office/drawing/2014/main" id="{C547BEBA-59A7-6A75-5EDC-62B5B257BA1F}"/>
              </a:ext>
            </a:extLst>
          </p:cNvPr>
          <p:cNvCxnSpPr>
            <a:cxnSpLocks/>
          </p:cNvCxnSpPr>
          <p:nvPr/>
        </p:nvCxnSpPr>
        <p:spPr>
          <a:xfrm>
            <a:off x="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11" name="矩形 10">
            <a:extLst>
              <a:ext uri="{FF2B5EF4-FFF2-40B4-BE49-F238E27FC236}">
                <a16:creationId xmlns:a16="http://schemas.microsoft.com/office/drawing/2014/main" id="{85E3C599-0D1C-050B-E23F-C50399527F90}"/>
              </a:ext>
            </a:extLst>
          </p:cNvPr>
          <p:cNvSpPr/>
          <p:nvPr/>
        </p:nvSpPr>
        <p:spPr>
          <a:xfrm>
            <a:off x="3394075" y="399838"/>
            <a:ext cx="4617860"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8.5 </a:t>
            </a:r>
            <a:r>
              <a:rPr lang="zh-CN" altLang="en-US" sz="3000" b="1" dirty="0">
                <a:latin typeface="黑体" pitchFamily="49" charset="-122"/>
                <a:ea typeface="黑体" pitchFamily="49" charset="-122"/>
                <a:cs typeface="经典粗黑简" pitchFamily="49" charset="-122"/>
              </a:rPr>
              <a:t>最短路径</a:t>
            </a:r>
          </a:p>
        </p:txBody>
      </p:sp>
      <p:sp>
        <p:nvSpPr>
          <p:cNvPr id="18" name="Text Box 4">
            <a:extLst>
              <a:ext uri="{FF2B5EF4-FFF2-40B4-BE49-F238E27FC236}">
                <a16:creationId xmlns:a16="http://schemas.microsoft.com/office/drawing/2014/main" id="{10AF1145-93E3-642F-69CA-D07CA539982E}"/>
              </a:ext>
            </a:extLst>
          </p:cNvPr>
          <p:cNvSpPr txBox="1">
            <a:spLocks noChangeArrowheads="1"/>
          </p:cNvSpPr>
          <p:nvPr/>
        </p:nvSpPr>
        <p:spPr bwMode="auto">
          <a:xfrm>
            <a:off x="1388265" y="1922692"/>
            <a:ext cx="5355805" cy="461665"/>
          </a:xfrm>
          <a:prstGeom prst="rect">
            <a:avLst/>
          </a:prstGeom>
          <a:noFill/>
          <a:ln w="38100" algn="ctr">
            <a:noFill/>
            <a:miter lim="800000"/>
            <a:headEnd/>
            <a:tailEnd type="none" w="med" len="lg"/>
          </a:ln>
          <a:effectLst/>
        </p:spPr>
        <p:txBody>
          <a:bodyPr wrap="square">
            <a:spAutoFit/>
          </a:bodyPr>
          <a:lstStyle/>
          <a:p>
            <a:r>
              <a:rPr lang="zh-CN" altLang="en-US" sz="2400" b="1" dirty="0">
                <a:latin typeface="黑体" pitchFamily="49" charset="-122"/>
                <a:ea typeface="黑体" pitchFamily="49" charset="-122"/>
                <a:cs typeface="经典粗黑简" pitchFamily="49" charset="-122"/>
              </a:rPr>
              <a:t>单源最短路径问题：</a:t>
            </a:r>
            <a:r>
              <a:rPr lang="en-US" altLang="zh-CN" sz="2400" b="1" dirty="0" err="1">
                <a:latin typeface="黑体" pitchFamily="49" charset="-122"/>
                <a:ea typeface="黑体" pitchFamily="49" charset="-122"/>
                <a:cs typeface="经典粗黑简" pitchFamily="49" charset="-122"/>
              </a:rPr>
              <a:t>Dijkstra</a:t>
            </a:r>
            <a:r>
              <a:rPr lang="zh-CN" altLang="en-US" sz="2400" b="1" dirty="0">
                <a:latin typeface="黑体" pitchFamily="49" charset="-122"/>
                <a:ea typeface="黑体" pitchFamily="49" charset="-122"/>
                <a:cs typeface="经典粗黑简" pitchFamily="49" charset="-122"/>
              </a:rPr>
              <a:t>算法</a:t>
            </a:r>
          </a:p>
        </p:txBody>
      </p:sp>
      <p:sp>
        <p:nvSpPr>
          <p:cNvPr id="19" name="Oval 8">
            <a:extLst>
              <a:ext uri="{FF2B5EF4-FFF2-40B4-BE49-F238E27FC236}">
                <a16:creationId xmlns:a16="http://schemas.microsoft.com/office/drawing/2014/main" id="{8A03E625-B94C-FB17-D87A-C3701C2AB00E}"/>
              </a:ext>
            </a:extLst>
          </p:cNvPr>
          <p:cNvSpPr>
            <a:spLocks noChangeArrowheads="1"/>
          </p:cNvSpPr>
          <p:nvPr/>
        </p:nvSpPr>
        <p:spPr bwMode="auto">
          <a:xfrm>
            <a:off x="5369229" y="4776133"/>
            <a:ext cx="1728788" cy="1512887"/>
          </a:xfrm>
          <a:prstGeom prst="ellipse">
            <a:avLst/>
          </a:prstGeom>
          <a:solidFill>
            <a:srgbClr val="FFFFFF">
              <a:alpha val="0"/>
            </a:srgbClr>
          </a:solidFill>
          <a:ln w="38100" algn="ctr">
            <a:solidFill>
              <a:srgbClr val="FF00FF"/>
            </a:solidFill>
            <a:prstDash val="sysDot"/>
            <a:round/>
            <a:headEnd/>
            <a:tailEnd type="none" w="med" len="lg"/>
          </a:ln>
          <a:effectLst/>
        </p:spPr>
        <p:txBody>
          <a:bodyPr wrap="none" anchor="ctr"/>
          <a:lstStyle/>
          <a:p>
            <a:endParaRPr lang="zh-CN" altLang="en-US">
              <a:latin typeface="Consolas" pitchFamily="49" charset="0"/>
              <a:cs typeface="Consolas" pitchFamily="49" charset="0"/>
            </a:endParaRPr>
          </a:p>
        </p:txBody>
      </p:sp>
      <p:sp>
        <p:nvSpPr>
          <p:cNvPr id="20" name="Oval 5">
            <a:extLst>
              <a:ext uri="{FF2B5EF4-FFF2-40B4-BE49-F238E27FC236}">
                <a16:creationId xmlns:a16="http://schemas.microsoft.com/office/drawing/2014/main" id="{A38F3399-5D95-F716-DECE-D90C9694E393}"/>
              </a:ext>
            </a:extLst>
          </p:cNvPr>
          <p:cNvSpPr>
            <a:spLocks noChangeArrowheads="1"/>
          </p:cNvSpPr>
          <p:nvPr/>
        </p:nvSpPr>
        <p:spPr bwMode="auto">
          <a:xfrm>
            <a:off x="2927648" y="4776133"/>
            <a:ext cx="1728788" cy="1512887"/>
          </a:xfrm>
          <a:prstGeom prst="ellipse">
            <a:avLst/>
          </a:prstGeom>
          <a:solidFill>
            <a:srgbClr val="FFFFFF">
              <a:alpha val="0"/>
            </a:srgbClr>
          </a:solidFill>
          <a:ln w="38100" algn="ctr">
            <a:solidFill>
              <a:srgbClr val="FF00FF"/>
            </a:solidFill>
            <a:prstDash val="sysDot"/>
            <a:round/>
            <a:headEnd/>
            <a:tailEnd type="none" w="med" len="lg"/>
          </a:ln>
          <a:effectLst/>
        </p:spPr>
        <p:txBody>
          <a:bodyPr wrap="none" anchor="ctr"/>
          <a:lstStyle/>
          <a:p>
            <a:endParaRPr lang="zh-CN" altLang="en-US">
              <a:latin typeface="Consolas" pitchFamily="49" charset="0"/>
              <a:cs typeface="Consolas" pitchFamily="49" charset="0"/>
            </a:endParaRPr>
          </a:p>
        </p:txBody>
      </p:sp>
      <p:sp>
        <p:nvSpPr>
          <p:cNvPr id="21" name="Text Box 2" descr="羊皮纸">
            <a:extLst>
              <a:ext uri="{FF2B5EF4-FFF2-40B4-BE49-F238E27FC236}">
                <a16:creationId xmlns:a16="http://schemas.microsoft.com/office/drawing/2014/main" id="{8D26192B-20BE-97D4-8C53-924AA1343782}"/>
              </a:ext>
            </a:extLst>
          </p:cNvPr>
          <p:cNvSpPr txBox="1">
            <a:spLocks noChangeArrowheads="1"/>
          </p:cNvSpPr>
          <p:nvPr/>
        </p:nvSpPr>
        <p:spPr bwMode="auto">
          <a:xfrm>
            <a:off x="1403176" y="3207200"/>
            <a:ext cx="9229328" cy="1087450"/>
          </a:xfrm>
          <a:prstGeom prst="rect">
            <a:avLst/>
          </a:prstGeom>
          <a:solidFill>
            <a:schemeClr val="bg1">
              <a:lumMod val="95000"/>
            </a:schemeClr>
          </a:solidFill>
          <a:ln>
            <a:headEnd/>
            <a:tailEnd/>
          </a:ln>
        </p:spPr>
        <p:style>
          <a:lnRef idx="1">
            <a:schemeClr val="accent4"/>
          </a:lnRef>
          <a:fillRef idx="2">
            <a:schemeClr val="accent4"/>
          </a:fillRef>
          <a:effectRef idx="1">
            <a:schemeClr val="accent4"/>
          </a:effectRef>
          <a:fontRef idx="minor">
            <a:schemeClr val="dk1"/>
          </a:fontRef>
        </p:style>
        <p:txBody>
          <a:bodyPr wrap="square" tIns="108000" bIns="108000">
            <a:spAutoFit/>
          </a:bodyPr>
          <a:lstStyle/>
          <a:p>
            <a:pPr algn="just">
              <a:lnSpc>
                <a:spcPct val="150000"/>
              </a:lnSpc>
            </a:pPr>
            <a:r>
              <a:rPr kumimoji="1" lang="zh-CN" altLang="en-US" sz="2000" dirty="0">
                <a:latin typeface="Consolas" pitchFamily="49" charset="0"/>
                <a:ea typeface="仿宋" pitchFamily="49" charset="-122"/>
                <a:cs typeface="Consolas" pitchFamily="49" charset="0"/>
              </a:rPr>
              <a:t>　　</a:t>
            </a:r>
            <a:r>
              <a:rPr kumimoji="1" lang="zh-CN" altLang="en-US" sz="2000" dirty="0">
                <a:solidFill>
                  <a:srgbClr val="1000E4"/>
                </a:solidFill>
                <a:latin typeface="Consolas" pitchFamily="49" charset="0"/>
                <a:ea typeface="仿宋" pitchFamily="49" charset="-122"/>
                <a:cs typeface="Consolas" pitchFamily="49" charset="0"/>
              </a:rPr>
              <a:t>（</a:t>
            </a:r>
            <a:r>
              <a:rPr kumimoji="1" lang="en-US" altLang="zh-CN" sz="2000" dirty="0">
                <a:solidFill>
                  <a:srgbClr val="1000E4"/>
                </a:solidFill>
                <a:latin typeface="Consolas" pitchFamily="49" charset="0"/>
                <a:ea typeface="仿宋" pitchFamily="49" charset="-122"/>
                <a:cs typeface="Consolas" pitchFamily="49" charset="0"/>
              </a:rPr>
              <a:t>2</a:t>
            </a:r>
            <a:r>
              <a:rPr kumimoji="1" lang="zh-CN" altLang="en-US" sz="2000" dirty="0">
                <a:solidFill>
                  <a:srgbClr val="1000E4"/>
                </a:solidFill>
                <a:latin typeface="Consolas" pitchFamily="49" charset="0"/>
                <a:ea typeface="仿宋" pitchFamily="49" charset="-122"/>
                <a:cs typeface="Consolas" pitchFamily="49" charset="0"/>
              </a:rPr>
              <a:t>）从</a:t>
            </a:r>
            <a:r>
              <a:rPr kumimoji="1" lang="en-US" altLang="zh-CN" sz="2000" dirty="0">
                <a:solidFill>
                  <a:srgbClr val="1000E4"/>
                </a:solidFill>
                <a:latin typeface="Consolas" pitchFamily="49" charset="0"/>
                <a:ea typeface="仿宋" pitchFamily="49" charset="-122"/>
                <a:cs typeface="Consolas" pitchFamily="49" charset="0"/>
              </a:rPr>
              <a:t>U</a:t>
            </a:r>
            <a:r>
              <a:rPr kumimoji="1" lang="zh-CN" altLang="en-US" sz="2000" dirty="0">
                <a:solidFill>
                  <a:srgbClr val="1000E4"/>
                </a:solidFill>
                <a:latin typeface="Consolas" pitchFamily="49" charset="0"/>
                <a:ea typeface="仿宋" pitchFamily="49" charset="-122"/>
                <a:cs typeface="Consolas" pitchFamily="49" charset="0"/>
              </a:rPr>
              <a:t>中选取一个</a:t>
            </a:r>
            <a:r>
              <a:rPr kumimoji="1" lang="zh-CN" altLang="en-US" sz="2000" dirty="0">
                <a:solidFill>
                  <a:srgbClr val="00B050"/>
                </a:solidFill>
                <a:latin typeface="Consolas" pitchFamily="49" charset="0"/>
                <a:ea typeface="仿宋" pitchFamily="49" charset="-122"/>
                <a:cs typeface="Consolas" pitchFamily="49" charset="0"/>
              </a:rPr>
              <a:t>距离</a:t>
            </a:r>
            <a:r>
              <a:rPr kumimoji="1" lang="en-US" altLang="zh-CN" sz="2000" i="1" dirty="0">
                <a:solidFill>
                  <a:srgbClr val="00B050"/>
                </a:solidFill>
                <a:latin typeface="Consolas" pitchFamily="49" charset="0"/>
                <a:ea typeface="仿宋" pitchFamily="49" charset="-122"/>
                <a:cs typeface="Consolas" pitchFamily="49" charset="0"/>
              </a:rPr>
              <a:t>v</a:t>
            </a:r>
            <a:r>
              <a:rPr kumimoji="1" lang="zh-CN" altLang="en-US" sz="2000" dirty="0">
                <a:solidFill>
                  <a:srgbClr val="00B050"/>
                </a:solidFill>
                <a:latin typeface="Consolas" pitchFamily="49" charset="0"/>
                <a:ea typeface="仿宋" pitchFamily="49" charset="-122"/>
                <a:cs typeface="Consolas" pitchFamily="49" charset="0"/>
              </a:rPr>
              <a:t>最小的顶点</a:t>
            </a:r>
            <a:r>
              <a:rPr kumimoji="1" lang="en-US" altLang="zh-CN" sz="2000" i="1" dirty="0">
                <a:solidFill>
                  <a:srgbClr val="00B050"/>
                </a:solidFill>
                <a:latin typeface="Consolas" pitchFamily="49" charset="0"/>
                <a:ea typeface="仿宋" pitchFamily="49" charset="-122"/>
                <a:cs typeface="Consolas" pitchFamily="49" charset="0"/>
              </a:rPr>
              <a:t>u</a:t>
            </a:r>
            <a:r>
              <a:rPr kumimoji="1" lang="zh-CN" altLang="en-US" sz="2000" dirty="0">
                <a:solidFill>
                  <a:srgbClr val="1000E4"/>
                </a:solidFill>
                <a:latin typeface="Consolas" pitchFamily="49" charset="0"/>
                <a:ea typeface="仿宋" pitchFamily="49" charset="-122"/>
                <a:cs typeface="Consolas" pitchFamily="49" charset="0"/>
              </a:rPr>
              <a:t>，把</a:t>
            </a:r>
            <a:r>
              <a:rPr kumimoji="1" lang="en-US" altLang="zh-CN" sz="2000" i="1" dirty="0">
                <a:solidFill>
                  <a:srgbClr val="1000E4"/>
                </a:solidFill>
                <a:latin typeface="Consolas" pitchFamily="49" charset="0"/>
                <a:ea typeface="仿宋" pitchFamily="49" charset="-122"/>
                <a:cs typeface="Consolas" pitchFamily="49" charset="0"/>
              </a:rPr>
              <a:t>u</a:t>
            </a:r>
            <a:r>
              <a:rPr kumimoji="1" lang="zh-CN" altLang="en-US" sz="2000" dirty="0">
                <a:solidFill>
                  <a:srgbClr val="1000E4"/>
                </a:solidFill>
                <a:latin typeface="Consolas" pitchFamily="49" charset="0"/>
                <a:ea typeface="仿宋" pitchFamily="49" charset="-122"/>
                <a:cs typeface="Consolas" pitchFamily="49" charset="0"/>
              </a:rPr>
              <a:t>加入</a:t>
            </a:r>
            <a:r>
              <a:rPr kumimoji="1" lang="en-US" altLang="zh-CN" sz="2000" dirty="0">
                <a:solidFill>
                  <a:srgbClr val="1000E4"/>
                </a:solidFill>
                <a:latin typeface="Consolas" pitchFamily="49" charset="0"/>
                <a:ea typeface="仿宋" pitchFamily="49" charset="-122"/>
                <a:cs typeface="Consolas" pitchFamily="49" charset="0"/>
              </a:rPr>
              <a:t>S</a:t>
            </a:r>
            <a:r>
              <a:rPr kumimoji="1" lang="zh-CN" altLang="en-US" sz="2000" dirty="0">
                <a:solidFill>
                  <a:srgbClr val="1000E4"/>
                </a:solidFill>
                <a:latin typeface="Consolas" pitchFamily="49" charset="0"/>
                <a:ea typeface="仿宋" pitchFamily="49" charset="-122"/>
                <a:cs typeface="Consolas" pitchFamily="49" charset="0"/>
              </a:rPr>
              <a:t>中（该选定的距离就是</a:t>
            </a:r>
            <a:r>
              <a:rPr kumimoji="1" lang="en-US" altLang="zh-CN" sz="2000" i="1" dirty="0" err="1">
                <a:solidFill>
                  <a:srgbClr val="FF00FF"/>
                </a:solidFill>
                <a:latin typeface="Consolas" pitchFamily="49" charset="0"/>
                <a:ea typeface="仿宋" pitchFamily="49" charset="-122"/>
                <a:cs typeface="Consolas" pitchFamily="49" charset="0"/>
              </a:rPr>
              <a:t>v</a:t>
            </a:r>
            <a:r>
              <a:rPr kumimoji="1" lang="en-US" altLang="zh-CN" sz="2000" dirty="0" err="1">
                <a:solidFill>
                  <a:srgbClr val="FF00FF"/>
                </a:solidFill>
                <a:latin typeface="Consolas" pitchFamily="49" charset="0"/>
                <a:ea typeface="仿宋" pitchFamily="49" charset="-122"/>
                <a:cs typeface="Consolas" pitchFamily="49" charset="0"/>
                <a:sym typeface="Wingdings"/>
              </a:rPr>
              <a:t></a:t>
            </a:r>
            <a:r>
              <a:rPr kumimoji="1" lang="en-US" altLang="zh-CN" sz="2000" i="1" dirty="0" err="1">
                <a:solidFill>
                  <a:srgbClr val="FF00FF"/>
                </a:solidFill>
                <a:latin typeface="Consolas" pitchFamily="49" charset="0"/>
                <a:ea typeface="仿宋" pitchFamily="49" charset="-122"/>
                <a:cs typeface="Consolas" pitchFamily="49" charset="0"/>
              </a:rPr>
              <a:t>u</a:t>
            </a:r>
            <a:r>
              <a:rPr kumimoji="1" lang="zh-CN" altLang="en-US" sz="2000" dirty="0">
                <a:solidFill>
                  <a:srgbClr val="1000E4"/>
                </a:solidFill>
                <a:latin typeface="Consolas" pitchFamily="49" charset="0"/>
                <a:ea typeface="仿宋" pitchFamily="49" charset="-122"/>
                <a:cs typeface="Consolas" pitchFamily="49" charset="0"/>
              </a:rPr>
              <a:t>的最短路径长度）。     </a:t>
            </a:r>
          </a:p>
        </p:txBody>
      </p:sp>
      <p:sp>
        <p:nvSpPr>
          <p:cNvPr id="22" name="Text Box 6">
            <a:extLst>
              <a:ext uri="{FF2B5EF4-FFF2-40B4-BE49-F238E27FC236}">
                <a16:creationId xmlns:a16="http://schemas.microsoft.com/office/drawing/2014/main" id="{8D116F4B-E653-82B7-A71B-907D7A09326E}"/>
              </a:ext>
            </a:extLst>
          </p:cNvPr>
          <p:cNvSpPr txBox="1">
            <a:spLocks noChangeArrowheads="1"/>
          </p:cNvSpPr>
          <p:nvPr/>
        </p:nvSpPr>
        <p:spPr bwMode="auto">
          <a:xfrm>
            <a:off x="3497567" y="4272895"/>
            <a:ext cx="576262" cy="307777"/>
          </a:xfrm>
          <a:prstGeom prst="rect">
            <a:avLst/>
          </a:prstGeom>
          <a:noFill/>
          <a:ln w="38100" algn="ctr">
            <a:noFill/>
            <a:miter lim="800000"/>
            <a:headEnd/>
            <a:tailEnd type="none" w="med" len="lg"/>
          </a:ln>
          <a:effectLst/>
        </p:spPr>
        <p:txBody>
          <a:bodyPr lIns="0" tIns="0" rIns="0" bIns="0">
            <a:spAutoFit/>
          </a:bodyPr>
          <a:lstStyle/>
          <a:p>
            <a:pPr algn="ctr"/>
            <a:r>
              <a:rPr lang="en-US" altLang="zh-CN" sz="2000">
                <a:latin typeface="Consolas" pitchFamily="49" charset="0"/>
                <a:cs typeface="Consolas" pitchFamily="49" charset="0"/>
              </a:rPr>
              <a:t>S</a:t>
            </a:r>
          </a:p>
        </p:txBody>
      </p:sp>
      <p:sp>
        <p:nvSpPr>
          <p:cNvPr id="24" name="Oval 7">
            <a:extLst>
              <a:ext uri="{FF2B5EF4-FFF2-40B4-BE49-F238E27FC236}">
                <a16:creationId xmlns:a16="http://schemas.microsoft.com/office/drawing/2014/main" id="{4C3FBEAB-CED9-6097-0CE9-4F9352A0E8C9}"/>
              </a:ext>
            </a:extLst>
          </p:cNvPr>
          <p:cNvSpPr>
            <a:spLocks noChangeArrowheads="1"/>
          </p:cNvSpPr>
          <p:nvPr/>
        </p:nvSpPr>
        <p:spPr bwMode="auto">
          <a:xfrm>
            <a:off x="3354692" y="5280958"/>
            <a:ext cx="431800"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pPr algn="ctr">
              <a:spcBef>
                <a:spcPct val="0"/>
              </a:spcBef>
            </a:pPr>
            <a:r>
              <a:rPr lang="en-US" altLang="zh-CN" sz="2000" i="1" dirty="0">
                <a:solidFill>
                  <a:srgbClr val="3333FF"/>
                </a:solidFill>
                <a:latin typeface="Consolas" pitchFamily="49" charset="0"/>
                <a:cs typeface="Consolas" pitchFamily="49" charset="0"/>
              </a:rPr>
              <a:t>v</a:t>
            </a:r>
          </a:p>
        </p:txBody>
      </p:sp>
      <p:sp>
        <p:nvSpPr>
          <p:cNvPr id="25" name="Text Box 9">
            <a:extLst>
              <a:ext uri="{FF2B5EF4-FFF2-40B4-BE49-F238E27FC236}">
                <a16:creationId xmlns:a16="http://schemas.microsoft.com/office/drawing/2014/main" id="{EF12E956-B062-947F-4E36-D6ABB1C99404}"/>
              </a:ext>
            </a:extLst>
          </p:cNvPr>
          <p:cNvSpPr txBox="1">
            <a:spLocks noChangeArrowheads="1"/>
          </p:cNvSpPr>
          <p:nvPr/>
        </p:nvSpPr>
        <p:spPr bwMode="auto">
          <a:xfrm>
            <a:off x="5729592" y="4272895"/>
            <a:ext cx="1008062" cy="307777"/>
          </a:xfrm>
          <a:prstGeom prst="rect">
            <a:avLst/>
          </a:prstGeom>
          <a:noFill/>
          <a:ln w="38100" algn="ctr">
            <a:noFill/>
            <a:miter lim="800000"/>
            <a:headEnd/>
            <a:tailEnd type="none" w="med" len="lg"/>
          </a:ln>
          <a:effectLst/>
        </p:spPr>
        <p:txBody>
          <a:bodyPr lIns="0" tIns="0" rIns="0" bIns="0">
            <a:spAutoFit/>
          </a:bodyPr>
          <a:lstStyle/>
          <a:p>
            <a:pPr algn="ctr"/>
            <a:r>
              <a:rPr lang="en-US" altLang="zh-CN" sz="2000">
                <a:latin typeface="Consolas" pitchFamily="49" charset="0"/>
                <a:cs typeface="Consolas" pitchFamily="49" charset="0"/>
              </a:rPr>
              <a:t>U=V</a:t>
            </a:r>
            <a:r>
              <a:rPr lang="en-US" altLang="zh-CN" sz="2000">
                <a:latin typeface="Consolas" pitchFamily="49" charset="0"/>
                <a:ea typeface="宋体" pitchFamily="2" charset="-122"/>
                <a:cs typeface="Consolas" pitchFamily="49" charset="0"/>
              </a:rPr>
              <a:t>-</a:t>
            </a:r>
            <a:r>
              <a:rPr lang="en-US" altLang="zh-CN" sz="2000">
                <a:latin typeface="Consolas" pitchFamily="49" charset="0"/>
                <a:cs typeface="Consolas" pitchFamily="49" charset="0"/>
              </a:rPr>
              <a:t>S</a:t>
            </a:r>
          </a:p>
        </p:txBody>
      </p:sp>
      <p:sp>
        <p:nvSpPr>
          <p:cNvPr id="26" name="Oval 10">
            <a:extLst>
              <a:ext uri="{FF2B5EF4-FFF2-40B4-BE49-F238E27FC236}">
                <a16:creationId xmlns:a16="http://schemas.microsoft.com/office/drawing/2014/main" id="{B93616D2-5463-DEA6-09C6-B049BC80BE6A}"/>
              </a:ext>
            </a:extLst>
          </p:cNvPr>
          <p:cNvSpPr>
            <a:spLocks noChangeArrowheads="1"/>
          </p:cNvSpPr>
          <p:nvPr/>
        </p:nvSpPr>
        <p:spPr bwMode="auto">
          <a:xfrm>
            <a:off x="5585129" y="5315883"/>
            <a:ext cx="431800"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pPr algn="ctr">
              <a:spcBef>
                <a:spcPct val="0"/>
              </a:spcBef>
            </a:pPr>
            <a:r>
              <a:rPr lang="en-US" altLang="zh-CN" sz="2000" i="1">
                <a:solidFill>
                  <a:srgbClr val="3333FF"/>
                </a:solidFill>
                <a:latin typeface="Consolas" pitchFamily="49" charset="0"/>
                <a:cs typeface="Consolas" pitchFamily="49" charset="0"/>
              </a:rPr>
              <a:t>u</a:t>
            </a:r>
          </a:p>
        </p:txBody>
      </p:sp>
      <p:sp>
        <p:nvSpPr>
          <p:cNvPr id="27" name="Oval 11">
            <a:extLst>
              <a:ext uri="{FF2B5EF4-FFF2-40B4-BE49-F238E27FC236}">
                <a16:creationId xmlns:a16="http://schemas.microsoft.com/office/drawing/2014/main" id="{6B45CCF1-6FC6-2759-80CC-81AB05EC4098}"/>
              </a:ext>
            </a:extLst>
          </p:cNvPr>
          <p:cNvSpPr>
            <a:spLocks noChangeArrowheads="1"/>
          </p:cNvSpPr>
          <p:nvPr/>
        </p:nvSpPr>
        <p:spPr bwMode="auto">
          <a:xfrm>
            <a:off x="6232829" y="5639733"/>
            <a:ext cx="431800"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pPr algn="ctr">
              <a:spcBef>
                <a:spcPct val="0"/>
              </a:spcBef>
            </a:pPr>
            <a:endParaRPr lang="zh-CN" altLang="zh-CN" sz="2000" i="1">
              <a:solidFill>
                <a:srgbClr val="3333FF"/>
              </a:solidFill>
              <a:latin typeface="Consolas" pitchFamily="49" charset="0"/>
              <a:cs typeface="Consolas" pitchFamily="49" charset="0"/>
            </a:endParaRPr>
          </a:p>
        </p:txBody>
      </p:sp>
      <p:sp>
        <p:nvSpPr>
          <p:cNvPr id="28" name="Oval 12">
            <a:extLst>
              <a:ext uri="{FF2B5EF4-FFF2-40B4-BE49-F238E27FC236}">
                <a16:creationId xmlns:a16="http://schemas.microsoft.com/office/drawing/2014/main" id="{368A0E60-E3A6-E075-ADAC-8986F6E81EC4}"/>
              </a:ext>
            </a:extLst>
          </p:cNvPr>
          <p:cNvSpPr>
            <a:spLocks noChangeArrowheads="1"/>
          </p:cNvSpPr>
          <p:nvPr/>
        </p:nvSpPr>
        <p:spPr bwMode="auto">
          <a:xfrm>
            <a:off x="6161392" y="5028545"/>
            <a:ext cx="431800"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pPr algn="ctr">
              <a:spcBef>
                <a:spcPct val="0"/>
              </a:spcBef>
            </a:pPr>
            <a:endParaRPr lang="zh-CN" altLang="zh-CN" sz="2000" i="1">
              <a:solidFill>
                <a:srgbClr val="3333FF"/>
              </a:solidFill>
              <a:latin typeface="Consolas" pitchFamily="49" charset="0"/>
              <a:cs typeface="Consolas" pitchFamily="49" charset="0"/>
            </a:endParaRPr>
          </a:p>
        </p:txBody>
      </p:sp>
      <p:sp>
        <p:nvSpPr>
          <p:cNvPr id="29" name="Freeform 19">
            <a:extLst>
              <a:ext uri="{FF2B5EF4-FFF2-40B4-BE49-F238E27FC236}">
                <a16:creationId xmlns:a16="http://schemas.microsoft.com/office/drawing/2014/main" id="{B42B04C3-924A-43AF-E849-9741B3A00425}"/>
              </a:ext>
            </a:extLst>
          </p:cNvPr>
          <p:cNvSpPr>
            <a:spLocks/>
          </p:cNvSpPr>
          <p:nvPr/>
        </p:nvSpPr>
        <p:spPr bwMode="auto">
          <a:xfrm>
            <a:off x="3778554" y="5458758"/>
            <a:ext cx="1803400" cy="63500"/>
          </a:xfrm>
          <a:custGeom>
            <a:avLst/>
            <a:gdLst/>
            <a:ahLst/>
            <a:cxnLst>
              <a:cxn ang="0">
                <a:pos x="0" y="0"/>
              </a:cxn>
              <a:cxn ang="0">
                <a:pos x="1136" y="40"/>
              </a:cxn>
            </a:cxnLst>
            <a:rect l="0" t="0" r="r" b="b"/>
            <a:pathLst>
              <a:path w="1136" h="40">
                <a:moveTo>
                  <a:pt x="0" y="0"/>
                </a:moveTo>
                <a:lnTo>
                  <a:pt x="1136" y="40"/>
                </a:lnTo>
              </a:path>
            </a:pathLst>
          </a:custGeom>
          <a:ln>
            <a:headEnd type="none" w="med" len="med"/>
            <a:tailEnd type="stealth" w="med" len="lg"/>
          </a:ln>
        </p:spPr>
        <p:style>
          <a:lnRef idx="2">
            <a:schemeClr val="accent2"/>
          </a:lnRef>
          <a:fillRef idx="0">
            <a:schemeClr val="accent2"/>
          </a:fillRef>
          <a:effectRef idx="1">
            <a:schemeClr val="accent2"/>
          </a:effectRef>
          <a:fontRef idx="minor">
            <a:schemeClr val="tx1"/>
          </a:fontRef>
        </p:style>
        <p:txBody>
          <a:bodyPr wrap="none"/>
          <a:lstStyle/>
          <a:p>
            <a:endParaRPr lang="zh-CN" altLang="en-US">
              <a:latin typeface="Consolas" pitchFamily="49" charset="0"/>
              <a:cs typeface="Consolas" pitchFamily="49" charset="0"/>
            </a:endParaRPr>
          </a:p>
        </p:txBody>
      </p:sp>
      <p:grpSp>
        <p:nvGrpSpPr>
          <p:cNvPr id="30" name="组合 17">
            <a:extLst>
              <a:ext uri="{FF2B5EF4-FFF2-40B4-BE49-F238E27FC236}">
                <a16:creationId xmlns:a16="http://schemas.microsoft.com/office/drawing/2014/main" id="{8FA52BCD-4823-80CA-40BE-1151903D7897}"/>
              </a:ext>
            </a:extLst>
          </p:cNvPr>
          <p:cNvGrpSpPr/>
          <p:nvPr/>
        </p:nvGrpSpPr>
        <p:grpSpPr>
          <a:xfrm>
            <a:off x="3642029" y="5496858"/>
            <a:ext cx="2736850" cy="1336735"/>
            <a:chOff x="2771775" y="3224203"/>
            <a:chExt cx="2736850" cy="1336735"/>
          </a:xfrm>
        </p:grpSpPr>
        <p:sp>
          <p:nvSpPr>
            <p:cNvPr id="31" name="Text Box 18">
              <a:extLst>
                <a:ext uri="{FF2B5EF4-FFF2-40B4-BE49-F238E27FC236}">
                  <a16:creationId xmlns:a16="http://schemas.microsoft.com/office/drawing/2014/main" id="{0D37DA4D-B5A2-1C48-35E0-B544FC725807}"/>
                </a:ext>
              </a:extLst>
            </p:cNvPr>
            <p:cNvSpPr txBox="1">
              <a:spLocks noChangeArrowheads="1"/>
            </p:cNvSpPr>
            <p:nvPr/>
          </p:nvSpPr>
          <p:spPr bwMode="auto">
            <a:xfrm>
              <a:off x="2771775" y="4160828"/>
              <a:ext cx="2736850" cy="400110"/>
            </a:xfrm>
            <a:prstGeom prst="rect">
              <a:avLst/>
            </a:prstGeom>
            <a:noFill/>
            <a:ln w="38100" algn="ctr">
              <a:noFill/>
              <a:miter lim="800000"/>
              <a:headEnd/>
              <a:tailEnd type="none" w="med" len="lg"/>
            </a:ln>
            <a:effectLst/>
          </p:spPr>
          <p:txBody>
            <a:bodyPr>
              <a:spAutoFit/>
            </a:bodyPr>
            <a:lstStyle/>
            <a:p>
              <a:r>
                <a:rPr kumimoji="1" lang="en-US" altLang="zh-CN" sz="2000" i="1" dirty="0">
                  <a:latin typeface="Consolas" pitchFamily="49" charset="0"/>
                  <a:ea typeface="仿宋" pitchFamily="49" charset="-122"/>
                  <a:cs typeface="Consolas" pitchFamily="49" charset="0"/>
                </a:rPr>
                <a:t>v</a:t>
              </a:r>
              <a:r>
                <a:rPr kumimoji="1" lang="zh-CN" altLang="en-US" sz="2000" dirty="0">
                  <a:latin typeface="Consolas" pitchFamily="49" charset="0"/>
                  <a:ea typeface="仿宋" pitchFamily="49" charset="-122"/>
                  <a:cs typeface="Consolas" pitchFamily="49" charset="0"/>
                </a:rPr>
                <a:t>与</a:t>
              </a:r>
              <a:r>
                <a:rPr kumimoji="1" lang="en-US" altLang="zh-CN" sz="2000" dirty="0">
                  <a:latin typeface="Consolas" pitchFamily="49" charset="0"/>
                  <a:ea typeface="仿宋" pitchFamily="49" charset="-122"/>
                  <a:cs typeface="Consolas" pitchFamily="49" charset="0"/>
                </a:rPr>
                <a:t>U</a:t>
              </a:r>
              <a:r>
                <a:rPr kumimoji="1" lang="zh-CN" altLang="en-US" sz="2000" dirty="0">
                  <a:latin typeface="Consolas" pitchFamily="49" charset="0"/>
                  <a:ea typeface="仿宋" pitchFamily="49" charset="-122"/>
                  <a:cs typeface="Consolas" pitchFamily="49" charset="0"/>
                </a:rPr>
                <a:t>中顶点</a:t>
              </a:r>
              <a:r>
                <a:rPr kumimoji="1" lang="en-US" altLang="zh-CN" sz="2000" i="1" dirty="0">
                  <a:latin typeface="Consolas" pitchFamily="49" charset="0"/>
                  <a:ea typeface="仿宋" pitchFamily="49" charset="-122"/>
                  <a:cs typeface="Consolas" pitchFamily="49" charset="0"/>
                </a:rPr>
                <a:t>u</a:t>
              </a:r>
              <a:r>
                <a:rPr kumimoji="1" lang="zh-CN" altLang="en-US" sz="2000" dirty="0">
                  <a:latin typeface="Consolas" pitchFamily="49" charset="0"/>
                  <a:ea typeface="仿宋" pitchFamily="49" charset="-122"/>
                  <a:cs typeface="Consolas" pitchFamily="49" charset="0"/>
                </a:rPr>
                <a:t>的边最小</a:t>
              </a:r>
              <a:endParaRPr kumimoji="1" lang="zh-CN" altLang="en-US" sz="2000" i="1" dirty="0">
                <a:latin typeface="Consolas" pitchFamily="49" charset="0"/>
                <a:ea typeface="仿宋" pitchFamily="49" charset="-122"/>
                <a:cs typeface="Consolas" pitchFamily="49" charset="0"/>
              </a:endParaRPr>
            </a:p>
          </p:txBody>
        </p:sp>
        <p:sp>
          <p:nvSpPr>
            <p:cNvPr id="32" name="Line 20">
              <a:extLst>
                <a:ext uri="{FF2B5EF4-FFF2-40B4-BE49-F238E27FC236}">
                  <a16:creationId xmlns:a16="http://schemas.microsoft.com/office/drawing/2014/main" id="{6E3D4A80-A58D-5E83-DDBD-355833B16513}"/>
                </a:ext>
              </a:extLst>
            </p:cNvPr>
            <p:cNvSpPr>
              <a:spLocks noChangeShapeType="1"/>
            </p:cNvSpPr>
            <p:nvPr/>
          </p:nvSpPr>
          <p:spPr bwMode="auto">
            <a:xfrm>
              <a:off x="4067175" y="3224203"/>
              <a:ext cx="0" cy="936625"/>
            </a:xfrm>
            <a:prstGeom prst="line">
              <a:avLst/>
            </a:prstGeom>
            <a:noFill/>
            <a:ln w="28575">
              <a:solidFill>
                <a:srgbClr val="339966"/>
              </a:solidFill>
              <a:round/>
              <a:headEnd/>
              <a:tailEnd type="none" w="med" len="lg"/>
            </a:ln>
            <a:effectLst/>
          </p:spPr>
          <p:txBody>
            <a:bodyPr wrap="none"/>
            <a:lstStyle/>
            <a:p>
              <a:endParaRPr lang="zh-CN" altLang="en-US">
                <a:latin typeface="Consolas" pitchFamily="49" charset="0"/>
                <a:cs typeface="Consolas" pitchFamily="49" charset="0"/>
              </a:endParaRPr>
            </a:p>
          </p:txBody>
        </p:sp>
      </p:grpSp>
      <p:cxnSp>
        <p:nvCxnSpPr>
          <p:cNvPr id="33" name="直接箭头连接符 32">
            <a:extLst>
              <a:ext uri="{FF2B5EF4-FFF2-40B4-BE49-F238E27FC236}">
                <a16:creationId xmlns:a16="http://schemas.microsoft.com/office/drawing/2014/main" id="{BB7C3A7F-D0C6-3613-9AFC-C9EE14FE6D5E}"/>
              </a:ext>
            </a:extLst>
          </p:cNvPr>
          <p:cNvCxnSpPr>
            <a:stCxn id="24" idx="5"/>
          </p:cNvCxnSpPr>
          <p:nvPr/>
        </p:nvCxnSpPr>
        <p:spPr>
          <a:xfrm rot="16200000" flipH="1">
            <a:off x="3735152" y="5637626"/>
            <a:ext cx="195009" cy="218800"/>
          </a:xfrm>
          <a:prstGeom prst="straightConnector1">
            <a:avLst/>
          </a:prstGeom>
          <a:ln>
            <a:tailEnd type="stealth" w="med" len="lg"/>
          </a:ln>
        </p:spPr>
        <p:style>
          <a:lnRef idx="2">
            <a:schemeClr val="accent2"/>
          </a:lnRef>
          <a:fillRef idx="0">
            <a:schemeClr val="accent2"/>
          </a:fillRef>
          <a:effectRef idx="1">
            <a:schemeClr val="accent2"/>
          </a:effectRef>
          <a:fontRef idx="minor">
            <a:schemeClr val="tx1"/>
          </a:fontRef>
        </p:style>
      </p:cxnSp>
      <p:cxnSp>
        <p:nvCxnSpPr>
          <p:cNvPr id="34" name="直接连接符 33">
            <a:extLst>
              <a:ext uri="{FF2B5EF4-FFF2-40B4-BE49-F238E27FC236}">
                <a16:creationId xmlns:a16="http://schemas.microsoft.com/office/drawing/2014/main" id="{BEAA3696-1625-56BD-20BC-F4CC592E933A}"/>
              </a:ext>
            </a:extLst>
          </p:cNvPr>
          <p:cNvCxnSpPr>
            <a:stCxn id="24" idx="7"/>
          </p:cNvCxnSpPr>
          <p:nvPr/>
        </p:nvCxnSpPr>
        <p:spPr>
          <a:xfrm rot="5400000" flipH="1" flipV="1">
            <a:off x="4868643" y="4056203"/>
            <a:ext cx="142605" cy="2433378"/>
          </a:xfrm>
          <a:prstGeom prst="line">
            <a:avLst/>
          </a:prstGeom>
          <a:ln>
            <a:tailEnd type="stealth" w="med" len="lg"/>
          </a:ln>
        </p:spPr>
        <p:style>
          <a:lnRef idx="2">
            <a:schemeClr val="accent5"/>
          </a:lnRef>
          <a:fillRef idx="0">
            <a:schemeClr val="accent5"/>
          </a:fillRef>
          <a:effectRef idx="1">
            <a:schemeClr val="accent5"/>
          </a:effectRef>
          <a:fontRef idx="minor">
            <a:schemeClr val="tx1"/>
          </a:fontRef>
        </p:style>
      </p:cxnSp>
      <p:cxnSp>
        <p:nvCxnSpPr>
          <p:cNvPr id="35" name="直接箭头连接符 34">
            <a:extLst>
              <a:ext uri="{FF2B5EF4-FFF2-40B4-BE49-F238E27FC236}">
                <a16:creationId xmlns:a16="http://schemas.microsoft.com/office/drawing/2014/main" id="{0AD32ACB-A5E0-269D-1162-B964F1C5962D}"/>
              </a:ext>
            </a:extLst>
          </p:cNvPr>
          <p:cNvCxnSpPr/>
          <p:nvPr/>
        </p:nvCxnSpPr>
        <p:spPr>
          <a:xfrm>
            <a:off x="3786492" y="5560358"/>
            <a:ext cx="2441580" cy="284173"/>
          </a:xfrm>
          <a:prstGeom prst="straightConnector1">
            <a:avLst/>
          </a:prstGeom>
          <a:ln>
            <a:tailEnd type="stealth" w="med" len="lg"/>
          </a:ln>
        </p:spPr>
        <p:style>
          <a:lnRef idx="2">
            <a:schemeClr val="accent5"/>
          </a:lnRef>
          <a:fillRef idx="0">
            <a:schemeClr val="accent5"/>
          </a:fillRef>
          <a:effectRef idx="1">
            <a:schemeClr val="accent5"/>
          </a:effectRef>
          <a:fontRef idx="minor">
            <a:schemeClr val="tx1"/>
          </a:fontRef>
        </p:style>
      </p:cxnSp>
    </p:spTree>
    <p:extLst>
      <p:ext uri="{BB962C8B-B14F-4D97-AF65-F5344CB8AC3E}">
        <p14:creationId xmlns:p14="http://schemas.microsoft.com/office/powerpoint/2010/main" val="138187229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xit" presetSubtype="4" fill="hold" nodeType="clickEffect">
                                  <p:stCondLst>
                                    <p:cond delay="0"/>
                                  </p:stCondLst>
                                  <p:childTnLst>
                                    <p:animEffect transition="out" filter="wipe(down)">
                                      <p:cBhvr>
                                        <p:cTn id="10" dur="500"/>
                                        <p:tgtEl>
                                          <p:spTgt spid="34"/>
                                        </p:tgtEl>
                                      </p:cBhvr>
                                    </p:animEffect>
                                    <p:set>
                                      <p:cBhvr>
                                        <p:cTn id="11" dur="1" fill="hold">
                                          <p:stCondLst>
                                            <p:cond delay="499"/>
                                          </p:stCondLst>
                                        </p:cTn>
                                        <p:tgtEl>
                                          <p:spTgt spid="34"/>
                                        </p:tgtEl>
                                        <p:attrNameLst>
                                          <p:attrName>style.visibility</p:attrName>
                                        </p:attrNameLst>
                                      </p:cBhvr>
                                      <p:to>
                                        <p:strVal val="hidden"/>
                                      </p:to>
                                    </p:set>
                                  </p:childTnLst>
                                </p:cTn>
                              </p:par>
                              <p:par>
                                <p:cTn id="12" presetID="22" presetClass="exit" presetSubtype="4" fill="hold" nodeType="withEffect">
                                  <p:stCondLst>
                                    <p:cond delay="0"/>
                                  </p:stCondLst>
                                  <p:childTnLst>
                                    <p:animEffect transition="out" filter="wipe(down)">
                                      <p:cBhvr>
                                        <p:cTn id="13" dur="500"/>
                                        <p:tgtEl>
                                          <p:spTgt spid="35"/>
                                        </p:tgtEl>
                                      </p:cBhvr>
                                    </p:animEffect>
                                    <p:set>
                                      <p:cBhvr>
                                        <p:cTn id="14" dur="1" fill="hold">
                                          <p:stCondLst>
                                            <p:cond delay="499"/>
                                          </p:stCondLst>
                                        </p:cTn>
                                        <p:tgtEl>
                                          <p:spTgt spid="35"/>
                                        </p:tgtEl>
                                        <p:attrNameLst>
                                          <p:attrName>style.visibility</p:attrName>
                                        </p:attrNameLst>
                                      </p:cBhvr>
                                      <p:to>
                                        <p:strVal val="hidden"/>
                                      </p:to>
                                    </p:set>
                                  </p:childTnLst>
                                </p:cTn>
                              </p:par>
                            </p:childTnLst>
                          </p:cTn>
                        </p:par>
                        <p:par>
                          <p:cTn id="15" fill="hold">
                            <p:stCondLst>
                              <p:cond delay="500"/>
                            </p:stCondLst>
                            <p:childTnLst>
                              <p:par>
                                <p:cTn id="16" presetID="22" presetClass="exit" presetSubtype="4" fill="hold" nodeType="afterEffect">
                                  <p:stCondLst>
                                    <p:cond delay="0"/>
                                  </p:stCondLst>
                                  <p:childTnLst>
                                    <p:animEffect transition="out" filter="wipe(down)">
                                      <p:cBhvr>
                                        <p:cTn id="17" dur="500"/>
                                        <p:tgtEl>
                                          <p:spTgt spid="30"/>
                                        </p:tgtEl>
                                      </p:cBhvr>
                                    </p:animEffect>
                                    <p:set>
                                      <p:cBhvr>
                                        <p:cTn id="18" dur="1" fill="hold">
                                          <p:stCondLst>
                                            <p:cond delay="499"/>
                                          </p:stCondLst>
                                        </p:cTn>
                                        <p:tgtEl>
                                          <p:spTgt spid="30"/>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0" presetClass="path" presetSubtype="0" accel="50000" decel="50000" fill="hold" grpId="0" nodeType="clickEffect">
                                  <p:stCondLst>
                                    <p:cond delay="0"/>
                                  </p:stCondLst>
                                  <p:childTnLst>
                                    <p:animMotion origin="layout" path="M -0.02396 0.0081 C -0.02726 0.01366 -0.03039 0.01945 -0.03785 0.02662 C -0.04532 0.0338 -0.04341 0.04421 -0.06841 0.0507 C -0.09341 0.05718 -0.16302 0.0625 -0.18785 0.06551 " pathEditMode="relative" rAng="0" ptsTypes="aaaa">
                                      <p:cBhvr>
                                        <p:cTn id="22" dur="2000" fill="hold"/>
                                        <p:tgtEl>
                                          <p:spTgt spid="26"/>
                                        </p:tgtEl>
                                        <p:attrNameLst>
                                          <p:attrName>ppt_x</p:attrName>
                                          <p:attrName>ppt_y</p:attrName>
                                        </p:attrNameLst>
                                      </p:cBhvr>
                                      <p:rCtr x="-8200" y="2900"/>
                                    </p:animMotion>
                                  </p:childTnLst>
                                </p:cTn>
                              </p:par>
                            </p:childTnLst>
                          </p:cTn>
                        </p:par>
                        <p:par>
                          <p:cTn id="23" fill="hold">
                            <p:stCondLst>
                              <p:cond delay="2000"/>
                            </p:stCondLst>
                            <p:childTnLst>
                              <p:par>
                                <p:cTn id="24" presetID="22" presetClass="exit" presetSubtype="4" fill="hold" grpId="0" nodeType="afterEffect">
                                  <p:stCondLst>
                                    <p:cond delay="0"/>
                                  </p:stCondLst>
                                  <p:childTnLst>
                                    <p:animEffect transition="out" filter="wipe(down)">
                                      <p:cBhvr>
                                        <p:cTn id="25" dur="500"/>
                                        <p:tgtEl>
                                          <p:spTgt spid="29"/>
                                        </p:tgtEl>
                                      </p:cBhvr>
                                    </p:animEffect>
                                    <p:set>
                                      <p:cBhvr>
                                        <p:cTn id="26" dur="1" fill="hold">
                                          <p:stCondLst>
                                            <p:cond delay="499"/>
                                          </p:stCondLst>
                                        </p:cTn>
                                        <p:tgtEl>
                                          <p:spTgt spid="29"/>
                                        </p:tgtEl>
                                        <p:attrNameLst>
                                          <p:attrName>style.visibility</p:attrName>
                                        </p:attrNameLst>
                                      </p:cBhvr>
                                      <p:to>
                                        <p:strVal val="hidden"/>
                                      </p:to>
                                    </p:set>
                                  </p:childTnLst>
                                </p:cTn>
                              </p:par>
                            </p:childTnLst>
                          </p:cTn>
                        </p:par>
                        <p:par>
                          <p:cTn id="27" fill="hold">
                            <p:stCondLst>
                              <p:cond delay="2500"/>
                            </p:stCondLst>
                            <p:childTnLst>
                              <p:par>
                                <p:cTn id="28" presetID="1" presetClass="entr" presetSubtype="0" fill="hold" nodeType="afterEffect">
                                  <p:stCondLst>
                                    <p:cond delay="0"/>
                                  </p:stCondLst>
                                  <p:childTnLst>
                                    <p:set>
                                      <p:cBhvr>
                                        <p:cTn id="29"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9" grpId="0" animBg="1"/>
    </p:bld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B1B00C-D21A-D85D-5ABC-E2A0A7E58F56}"/>
            </a:ext>
          </a:extLst>
        </p:cNvPr>
        <p:cNvGrpSpPr/>
        <p:nvPr/>
      </p:nvGrpSpPr>
      <p:grpSpPr>
        <a:xfrm>
          <a:off x="0" y="0"/>
          <a:ext cx="0" cy="0"/>
          <a:chOff x="0" y="0"/>
          <a:chExt cx="0" cy="0"/>
        </a:xfrm>
      </p:grpSpPr>
      <p:sp>
        <p:nvSpPr>
          <p:cNvPr id="8" name="Text Box 2">
            <a:extLst>
              <a:ext uri="{FF2B5EF4-FFF2-40B4-BE49-F238E27FC236}">
                <a16:creationId xmlns:a16="http://schemas.microsoft.com/office/drawing/2014/main" id="{DCA61E82-5B3F-B230-411F-7BD6B0E51D9D}"/>
              </a:ext>
            </a:extLst>
          </p:cNvPr>
          <p:cNvSpPr txBox="1">
            <a:spLocks noChangeArrowheads="1"/>
          </p:cNvSpPr>
          <p:nvPr/>
        </p:nvSpPr>
        <p:spPr bwMode="auto">
          <a:xfrm>
            <a:off x="1403176" y="2370048"/>
            <a:ext cx="6326088" cy="8371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rnd">
                <a:solidFill>
                  <a:srgbClr val="000000"/>
                </a:solidFill>
                <a:miter lim="800000"/>
                <a:headEnd/>
                <a:tailEnd/>
              </a14:hiddenLine>
            </a:ext>
          </a:extLst>
        </p:spPr>
        <p:txBody>
          <a:bodyPr wrap="square">
            <a:spAutoFit/>
          </a:bodyPr>
          <a:lstStyle>
            <a:lvl1pPr marL="457200" indent="-457200" eaLnBrk="0" hangingPunct="0">
              <a:defRPr kumimoji="1" sz="2800">
                <a:solidFill>
                  <a:schemeClr val="tx1"/>
                </a:solidFill>
                <a:latin typeface="Comic Sans MS" pitchFamily="66" charset="0"/>
                <a:ea typeface="宋体" pitchFamily="2" charset="-122"/>
              </a:defRPr>
            </a:lvl1pPr>
            <a:lvl2pPr marL="914400" indent="-457200" eaLnBrk="0" hangingPunct="0">
              <a:defRPr kumimoji="1" sz="2800">
                <a:solidFill>
                  <a:schemeClr val="tx1"/>
                </a:solidFill>
                <a:latin typeface="Comic Sans MS" pitchFamily="66" charset="0"/>
                <a:ea typeface="宋体" pitchFamily="2" charset="-122"/>
              </a:defRPr>
            </a:lvl2pPr>
            <a:lvl3pPr marL="1143000" indent="-228600" eaLnBrk="0" hangingPunct="0">
              <a:defRPr kumimoji="1" sz="2800">
                <a:solidFill>
                  <a:schemeClr val="tx1"/>
                </a:solidFill>
                <a:latin typeface="Comic Sans MS" pitchFamily="66" charset="0"/>
                <a:ea typeface="宋体" pitchFamily="2" charset="-122"/>
              </a:defRPr>
            </a:lvl3pPr>
            <a:lvl4pPr marL="1600200" indent="-228600" eaLnBrk="0" hangingPunct="0">
              <a:defRPr kumimoji="1" sz="2800">
                <a:solidFill>
                  <a:schemeClr val="tx1"/>
                </a:solidFill>
                <a:latin typeface="Comic Sans MS" pitchFamily="66" charset="0"/>
                <a:ea typeface="宋体" pitchFamily="2" charset="-122"/>
              </a:defRPr>
            </a:lvl4pPr>
            <a:lvl5pPr marL="2057400" indent="-228600" eaLnBrk="0" hangingPunct="0">
              <a:defRPr kumimoji="1" sz="2800">
                <a:solidFill>
                  <a:schemeClr val="tx1"/>
                </a:solidFill>
                <a:latin typeface="Comic Sans MS" pitchFamily="66" charset="0"/>
                <a:ea typeface="宋体" pitchFamily="2" charset="-122"/>
              </a:defRPr>
            </a:lvl5pPr>
            <a:lvl6pPr marL="2514600" indent="-228600" algn="ctr" eaLnBrk="0" fontAlgn="base" hangingPunct="0">
              <a:spcBef>
                <a:spcPct val="0"/>
              </a:spcBef>
              <a:spcAft>
                <a:spcPct val="0"/>
              </a:spcAft>
              <a:defRPr kumimoji="1" sz="2800">
                <a:solidFill>
                  <a:schemeClr val="tx1"/>
                </a:solidFill>
                <a:latin typeface="Comic Sans MS" pitchFamily="66" charset="0"/>
                <a:ea typeface="宋体" pitchFamily="2" charset="-122"/>
              </a:defRPr>
            </a:lvl6pPr>
            <a:lvl7pPr marL="2971800" indent="-228600" algn="ctr" eaLnBrk="0" fontAlgn="base" hangingPunct="0">
              <a:spcBef>
                <a:spcPct val="0"/>
              </a:spcBef>
              <a:spcAft>
                <a:spcPct val="0"/>
              </a:spcAft>
              <a:defRPr kumimoji="1" sz="2800">
                <a:solidFill>
                  <a:schemeClr val="tx1"/>
                </a:solidFill>
                <a:latin typeface="Comic Sans MS" pitchFamily="66" charset="0"/>
                <a:ea typeface="宋体" pitchFamily="2" charset="-122"/>
              </a:defRPr>
            </a:lvl7pPr>
            <a:lvl8pPr marL="3429000" indent="-228600" algn="ctr" eaLnBrk="0" fontAlgn="base" hangingPunct="0">
              <a:spcBef>
                <a:spcPct val="0"/>
              </a:spcBef>
              <a:spcAft>
                <a:spcPct val="0"/>
              </a:spcAft>
              <a:defRPr kumimoji="1" sz="2800">
                <a:solidFill>
                  <a:schemeClr val="tx1"/>
                </a:solidFill>
                <a:latin typeface="Comic Sans MS" pitchFamily="66" charset="0"/>
                <a:ea typeface="宋体" pitchFamily="2" charset="-122"/>
              </a:defRPr>
            </a:lvl8pPr>
            <a:lvl9pPr marL="3886200" indent="-228600" algn="ctr" eaLnBrk="0" fontAlgn="base" hangingPunct="0">
              <a:spcBef>
                <a:spcPct val="0"/>
              </a:spcBef>
              <a:spcAft>
                <a:spcPct val="0"/>
              </a:spcAft>
              <a:defRPr kumimoji="1" sz="2800">
                <a:solidFill>
                  <a:schemeClr val="tx1"/>
                </a:solidFill>
                <a:latin typeface="Comic Sans MS" pitchFamily="66" charset="0"/>
                <a:ea typeface="宋体" pitchFamily="2" charset="-122"/>
              </a:defRPr>
            </a:lvl9pPr>
          </a:lstStyle>
          <a:p>
            <a:pPr marL="0" indent="0" algn="just">
              <a:spcBef>
                <a:spcPct val="20000"/>
              </a:spcBef>
            </a:pPr>
            <a:r>
              <a:rPr lang="en-US" altLang="zh-CN" sz="2200" dirty="0" err="1">
                <a:latin typeface="Times New Roman" pitchFamily="18" charset="0"/>
                <a:ea typeface="黑体" pitchFamily="49" charset="-122"/>
                <a:cs typeface="Times New Roman" pitchFamily="18" charset="0"/>
              </a:rPr>
              <a:t>Dijkstra</a:t>
            </a:r>
            <a:r>
              <a:rPr lang="zh-CN" altLang="en-US" sz="2200" dirty="0">
                <a:latin typeface="黑体" pitchFamily="49" charset="-122"/>
                <a:ea typeface="黑体" pitchFamily="49" charset="-122"/>
                <a:cs typeface="经典粗黑简" pitchFamily="49" charset="-122"/>
              </a:rPr>
              <a:t>算法</a:t>
            </a:r>
            <a:r>
              <a:rPr lang="en-US" altLang="zh-CN" sz="2200" dirty="0">
                <a:latin typeface="黑体" pitchFamily="49" charset="-122"/>
                <a:ea typeface="黑体" pitchFamily="49" charset="-122"/>
                <a:cs typeface="经典粗黑简" pitchFamily="49" charset="-122"/>
              </a:rPr>
              <a:t>(</a:t>
            </a:r>
            <a:r>
              <a:rPr lang="en-US" altLang="zh-CN" sz="2200" dirty="0">
                <a:latin typeface="Times New Roman" pitchFamily="18" charset="0"/>
                <a:ea typeface="黑体" pitchFamily="49" charset="-122"/>
                <a:cs typeface="Times New Roman" pitchFamily="18" charset="0"/>
              </a:rPr>
              <a:t>1959</a:t>
            </a:r>
            <a:r>
              <a:rPr lang="en-US" altLang="zh-CN" sz="2200" dirty="0">
                <a:latin typeface="黑体" pitchFamily="49" charset="-122"/>
                <a:ea typeface="黑体" pitchFamily="49" charset="-122"/>
                <a:cs typeface="经典粗黑简" pitchFamily="49" charset="-122"/>
              </a:rPr>
              <a:t>)</a:t>
            </a:r>
            <a:r>
              <a:rPr lang="zh-CN" altLang="en-US" sz="2200" dirty="0">
                <a:latin typeface="黑体" pitchFamily="49" charset="-122"/>
                <a:ea typeface="黑体" pitchFamily="49" charset="-122"/>
                <a:cs typeface="经典粗黑简" pitchFamily="49" charset="-122"/>
              </a:rPr>
              <a:t>的基本思想</a:t>
            </a:r>
          </a:p>
          <a:p>
            <a:pPr lvl="1" algn="just">
              <a:spcBef>
                <a:spcPct val="20000"/>
              </a:spcBef>
              <a:buFont typeface="Wingdings" pitchFamily="2" charset="2"/>
              <a:buChar char="Ø"/>
            </a:pPr>
            <a:r>
              <a:rPr lang="zh-CN" altLang="en-US" sz="2200" dirty="0">
                <a:solidFill>
                  <a:srgbClr val="FF0000"/>
                </a:solidFill>
                <a:latin typeface="黑体" pitchFamily="49" charset="-122"/>
                <a:ea typeface="黑体" pitchFamily="49" charset="-122"/>
                <a:cs typeface="经典粗黑简" pitchFamily="49" charset="-122"/>
              </a:rPr>
              <a:t>按路径长度递增顺序</a:t>
            </a:r>
            <a:r>
              <a:rPr lang="zh-CN" altLang="en-US" sz="2200" dirty="0">
                <a:latin typeface="黑体" pitchFamily="49" charset="-122"/>
                <a:ea typeface="黑体" pitchFamily="49" charset="-122"/>
                <a:cs typeface="经典粗黑简" pitchFamily="49" charset="-122"/>
              </a:rPr>
              <a:t>求最短路径算法。</a:t>
            </a:r>
          </a:p>
        </p:txBody>
      </p:sp>
      <p:sp>
        <p:nvSpPr>
          <p:cNvPr id="9" name="Rectangle 2">
            <a:extLst>
              <a:ext uri="{FF2B5EF4-FFF2-40B4-BE49-F238E27FC236}">
                <a16:creationId xmlns:a16="http://schemas.microsoft.com/office/drawing/2014/main" id="{6B885B31-1240-F8D2-286F-D55284D6C3B1}"/>
              </a:ext>
            </a:extLst>
          </p:cNvPr>
          <p:cNvSpPr txBox="1">
            <a:spLocks noChangeArrowheads="1"/>
          </p:cNvSpPr>
          <p:nvPr/>
        </p:nvSpPr>
        <p:spPr>
          <a:xfrm>
            <a:off x="474771" y="1230902"/>
            <a:ext cx="10949819"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8.5.2 </a:t>
            </a:r>
            <a:r>
              <a:rPr lang="zh-CN" altLang="en-US" dirty="0"/>
              <a:t>从一个顶点到其余各顶点的最短路径（单源点最短路径问题）</a:t>
            </a:r>
          </a:p>
        </p:txBody>
      </p:sp>
      <p:cxnSp>
        <p:nvCxnSpPr>
          <p:cNvPr id="10" name="直接连接符 9">
            <a:extLst>
              <a:ext uri="{FF2B5EF4-FFF2-40B4-BE49-F238E27FC236}">
                <a16:creationId xmlns:a16="http://schemas.microsoft.com/office/drawing/2014/main" id="{30305EEE-358D-F5BF-5FF9-1D7554571EC4}"/>
              </a:ext>
            </a:extLst>
          </p:cNvPr>
          <p:cNvCxnSpPr>
            <a:cxnSpLocks/>
          </p:cNvCxnSpPr>
          <p:nvPr/>
        </p:nvCxnSpPr>
        <p:spPr>
          <a:xfrm>
            <a:off x="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11" name="矩形 10">
            <a:extLst>
              <a:ext uri="{FF2B5EF4-FFF2-40B4-BE49-F238E27FC236}">
                <a16:creationId xmlns:a16="http://schemas.microsoft.com/office/drawing/2014/main" id="{D440FF97-6D10-EAC4-B43E-0AFC3351F92D}"/>
              </a:ext>
            </a:extLst>
          </p:cNvPr>
          <p:cNvSpPr/>
          <p:nvPr/>
        </p:nvSpPr>
        <p:spPr>
          <a:xfrm>
            <a:off x="3394075" y="399838"/>
            <a:ext cx="4617860"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8.5 </a:t>
            </a:r>
            <a:r>
              <a:rPr lang="zh-CN" altLang="en-US" sz="3000" b="1" dirty="0">
                <a:latin typeface="黑体" pitchFamily="49" charset="-122"/>
                <a:ea typeface="黑体" pitchFamily="49" charset="-122"/>
                <a:cs typeface="经典粗黑简" pitchFamily="49" charset="-122"/>
              </a:rPr>
              <a:t>最短路径</a:t>
            </a:r>
          </a:p>
        </p:txBody>
      </p:sp>
      <p:sp>
        <p:nvSpPr>
          <p:cNvPr id="18" name="Text Box 4">
            <a:extLst>
              <a:ext uri="{FF2B5EF4-FFF2-40B4-BE49-F238E27FC236}">
                <a16:creationId xmlns:a16="http://schemas.microsoft.com/office/drawing/2014/main" id="{D0F33BFA-1A75-93D4-F7CD-0D04A2F6E422}"/>
              </a:ext>
            </a:extLst>
          </p:cNvPr>
          <p:cNvSpPr txBox="1">
            <a:spLocks noChangeArrowheads="1"/>
          </p:cNvSpPr>
          <p:nvPr/>
        </p:nvSpPr>
        <p:spPr bwMode="auto">
          <a:xfrm>
            <a:off x="1388265" y="1922692"/>
            <a:ext cx="5355805" cy="461665"/>
          </a:xfrm>
          <a:prstGeom prst="rect">
            <a:avLst/>
          </a:prstGeom>
          <a:noFill/>
          <a:ln w="38100" algn="ctr">
            <a:noFill/>
            <a:miter lim="800000"/>
            <a:headEnd/>
            <a:tailEnd type="none" w="med" len="lg"/>
          </a:ln>
          <a:effectLst/>
        </p:spPr>
        <p:txBody>
          <a:bodyPr wrap="square">
            <a:spAutoFit/>
          </a:bodyPr>
          <a:lstStyle/>
          <a:p>
            <a:r>
              <a:rPr lang="zh-CN" altLang="en-US" sz="2400" b="1" dirty="0">
                <a:latin typeface="黑体" pitchFamily="49" charset="-122"/>
                <a:ea typeface="黑体" pitchFamily="49" charset="-122"/>
                <a:cs typeface="经典粗黑简" pitchFamily="49" charset="-122"/>
              </a:rPr>
              <a:t>单源最短路径问题：</a:t>
            </a:r>
            <a:r>
              <a:rPr lang="en-US" altLang="zh-CN" sz="2400" b="1" dirty="0" err="1">
                <a:latin typeface="黑体" pitchFamily="49" charset="-122"/>
                <a:ea typeface="黑体" pitchFamily="49" charset="-122"/>
                <a:cs typeface="经典粗黑简" pitchFamily="49" charset="-122"/>
              </a:rPr>
              <a:t>Dijkstra</a:t>
            </a:r>
            <a:r>
              <a:rPr lang="zh-CN" altLang="en-US" sz="2400" b="1" dirty="0">
                <a:latin typeface="黑体" pitchFamily="49" charset="-122"/>
                <a:ea typeface="黑体" pitchFamily="49" charset="-122"/>
                <a:cs typeface="经典粗黑简" pitchFamily="49" charset="-122"/>
              </a:rPr>
              <a:t>算法</a:t>
            </a:r>
          </a:p>
        </p:txBody>
      </p:sp>
      <p:sp>
        <p:nvSpPr>
          <p:cNvPr id="2" name="Text Box 2" descr="羊皮纸">
            <a:extLst>
              <a:ext uri="{FF2B5EF4-FFF2-40B4-BE49-F238E27FC236}">
                <a16:creationId xmlns:a16="http://schemas.microsoft.com/office/drawing/2014/main" id="{1F98F884-2782-EA0E-792D-E6CD102A21A9}"/>
              </a:ext>
            </a:extLst>
          </p:cNvPr>
          <p:cNvSpPr txBox="1">
            <a:spLocks noChangeArrowheads="1"/>
          </p:cNvSpPr>
          <p:nvPr/>
        </p:nvSpPr>
        <p:spPr bwMode="auto">
          <a:xfrm>
            <a:off x="1487488" y="3207200"/>
            <a:ext cx="10297144" cy="1401895"/>
          </a:xfrm>
          <a:prstGeom prst="rect">
            <a:avLst/>
          </a:prstGeom>
          <a:solidFill>
            <a:schemeClr val="bg1">
              <a:lumMod val="95000"/>
            </a:schemeClr>
          </a:solidFill>
          <a:ln>
            <a:headEnd/>
            <a:tailEnd/>
          </a:ln>
        </p:spPr>
        <p:style>
          <a:lnRef idx="1">
            <a:schemeClr val="accent4"/>
          </a:lnRef>
          <a:fillRef idx="2">
            <a:schemeClr val="accent4"/>
          </a:fillRef>
          <a:effectRef idx="1">
            <a:schemeClr val="accent4"/>
          </a:effectRef>
          <a:fontRef idx="minor">
            <a:schemeClr val="dk1"/>
          </a:fontRef>
        </p:style>
        <p:txBody>
          <a:bodyPr wrap="square" tIns="108000" bIns="108000">
            <a:spAutoFit/>
          </a:bodyPr>
          <a:lstStyle/>
          <a:p>
            <a:pPr algn="just">
              <a:lnSpc>
                <a:spcPts val="3200"/>
              </a:lnSpc>
            </a:pPr>
            <a:r>
              <a:rPr kumimoji="1" lang="zh-CN" altLang="en-US" sz="2000" dirty="0">
                <a:latin typeface="Consolas" pitchFamily="49" charset="0"/>
                <a:ea typeface="仿宋" pitchFamily="49" charset="-122"/>
                <a:cs typeface="Consolas" pitchFamily="49" charset="0"/>
              </a:rPr>
              <a:t>　</a:t>
            </a:r>
            <a:r>
              <a:rPr kumimoji="1" lang="zh-CN" altLang="en-US" sz="2000" dirty="0">
                <a:solidFill>
                  <a:srgbClr val="1000E4"/>
                </a:solidFill>
                <a:latin typeface="Consolas" pitchFamily="49" charset="0"/>
                <a:ea typeface="仿宋" pitchFamily="49" charset="-122"/>
                <a:cs typeface="Consolas" pitchFamily="49" charset="0"/>
              </a:rPr>
              <a:t>　（</a:t>
            </a:r>
            <a:r>
              <a:rPr kumimoji="1" lang="en-US" altLang="zh-CN" sz="2000" dirty="0">
                <a:solidFill>
                  <a:srgbClr val="1000E4"/>
                </a:solidFill>
                <a:latin typeface="Consolas" pitchFamily="49" charset="0"/>
                <a:ea typeface="仿宋" pitchFamily="49" charset="-122"/>
                <a:cs typeface="Consolas" pitchFamily="49" charset="0"/>
              </a:rPr>
              <a:t>3</a:t>
            </a:r>
            <a:r>
              <a:rPr kumimoji="1" lang="zh-CN" altLang="en-US" sz="2000" dirty="0">
                <a:solidFill>
                  <a:srgbClr val="1000E4"/>
                </a:solidFill>
                <a:latin typeface="Consolas" pitchFamily="49" charset="0"/>
                <a:ea typeface="仿宋" pitchFamily="49" charset="-122"/>
                <a:cs typeface="Consolas" pitchFamily="49" charset="0"/>
              </a:rPr>
              <a:t>）以</a:t>
            </a:r>
            <a:r>
              <a:rPr kumimoji="1" lang="en-US" altLang="zh-CN" sz="2000" i="1" dirty="0">
                <a:solidFill>
                  <a:srgbClr val="1000E4"/>
                </a:solidFill>
                <a:latin typeface="Consolas" pitchFamily="49" charset="0"/>
                <a:ea typeface="仿宋" pitchFamily="49" charset="-122"/>
                <a:cs typeface="Consolas" pitchFamily="49" charset="0"/>
              </a:rPr>
              <a:t>u</a:t>
            </a:r>
            <a:r>
              <a:rPr kumimoji="1" lang="zh-CN" altLang="en-US" sz="2000" dirty="0">
                <a:solidFill>
                  <a:srgbClr val="1000E4"/>
                </a:solidFill>
                <a:latin typeface="Consolas" pitchFamily="49" charset="0"/>
                <a:ea typeface="仿宋" pitchFamily="49" charset="-122"/>
                <a:cs typeface="Consolas" pitchFamily="49" charset="0"/>
              </a:rPr>
              <a:t>为新考虑的中间点，修改源点</a:t>
            </a:r>
            <a:r>
              <a:rPr kumimoji="1" lang="en-US" altLang="zh-CN" sz="2000" i="1" dirty="0">
                <a:solidFill>
                  <a:srgbClr val="1000E4"/>
                </a:solidFill>
                <a:latin typeface="Consolas" pitchFamily="49" charset="0"/>
                <a:ea typeface="仿宋" pitchFamily="49" charset="-122"/>
                <a:cs typeface="Consolas" pitchFamily="49" charset="0"/>
              </a:rPr>
              <a:t>v</a:t>
            </a:r>
            <a:r>
              <a:rPr kumimoji="1" lang="zh-CN" altLang="en-US" sz="2000" dirty="0">
                <a:solidFill>
                  <a:srgbClr val="1000E4"/>
                </a:solidFill>
                <a:latin typeface="Consolas" pitchFamily="49" charset="0"/>
                <a:ea typeface="仿宋" pitchFamily="49" charset="-122"/>
              </a:rPr>
              <a:t>到</a:t>
            </a:r>
            <a:r>
              <a:rPr kumimoji="1" lang="en-US" altLang="zh-CN" sz="2000" dirty="0">
                <a:solidFill>
                  <a:srgbClr val="1000E4"/>
                </a:solidFill>
                <a:latin typeface="Consolas" pitchFamily="49" charset="0"/>
                <a:ea typeface="仿宋" pitchFamily="49" charset="-122"/>
                <a:cs typeface="Consolas" pitchFamily="49" charset="0"/>
              </a:rPr>
              <a:t>U</a:t>
            </a:r>
            <a:r>
              <a:rPr kumimoji="1" lang="zh-CN" altLang="en-US" sz="2000" dirty="0">
                <a:solidFill>
                  <a:srgbClr val="1000E4"/>
                </a:solidFill>
                <a:latin typeface="Consolas" pitchFamily="49" charset="0"/>
                <a:ea typeface="仿宋" pitchFamily="49" charset="-122"/>
                <a:cs typeface="Consolas" pitchFamily="49" charset="0"/>
              </a:rPr>
              <a:t>中各顶点</a:t>
            </a:r>
            <a:r>
              <a:rPr kumimoji="1" lang="en-US" altLang="zh-CN" sz="2000" i="1" dirty="0">
                <a:solidFill>
                  <a:srgbClr val="1000E4"/>
                </a:solidFill>
                <a:latin typeface="Consolas" pitchFamily="49" charset="0"/>
                <a:ea typeface="仿宋" pitchFamily="49" charset="-122"/>
                <a:cs typeface="Consolas" pitchFamily="49" charset="0"/>
              </a:rPr>
              <a:t>j</a:t>
            </a:r>
            <a:r>
              <a:rPr kumimoji="1" lang="zh-CN" altLang="en-US" sz="2000" dirty="0">
                <a:solidFill>
                  <a:srgbClr val="1000E4"/>
                </a:solidFill>
                <a:latin typeface="Consolas" pitchFamily="49" charset="0"/>
                <a:ea typeface="仿宋" pitchFamily="49" charset="-122"/>
                <a:cs typeface="Consolas" pitchFamily="49" charset="0"/>
              </a:rPr>
              <a:t>的最短路径长度（路径调整）：若从源点</a:t>
            </a:r>
            <a:r>
              <a:rPr kumimoji="1" lang="en-US" altLang="zh-CN" sz="2000" i="1" dirty="0" err="1">
                <a:solidFill>
                  <a:srgbClr val="FF00FF"/>
                </a:solidFill>
                <a:latin typeface="Consolas" pitchFamily="49" charset="0"/>
                <a:ea typeface="仿宋" pitchFamily="49" charset="-122"/>
                <a:cs typeface="Consolas" pitchFamily="49" charset="0"/>
              </a:rPr>
              <a:t>v</a:t>
            </a:r>
            <a:r>
              <a:rPr kumimoji="1" lang="en-US" altLang="zh-CN" sz="2000" dirty="0" err="1">
                <a:solidFill>
                  <a:srgbClr val="FF00FF"/>
                </a:solidFill>
                <a:latin typeface="Consolas" pitchFamily="49" charset="0"/>
                <a:ea typeface="仿宋" pitchFamily="49" charset="-122"/>
                <a:cs typeface="Consolas" pitchFamily="49" charset="0"/>
                <a:sym typeface="Wingdings"/>
              </a:rPr>
              <a:t></a:t>
            </a:r>
            <a:r>
              <a:rPr kumimoji="1" lang="en-US" altLang="zh-CN" sz="2000" i="1" dirty="0" err="1">
                <a:solidFill>
                  <a:srgbClr val="FF00FF"/>
                </a:solidFill>
                <a:latin typeface="Consolas" pitchFamily="49" charset="0"/>
                <a:ea typeface="仿宋" pitchFamily="49" charset="-122"/>
                <a:cs typeface="Consolas" pitchFamily="49" charset="0"/>
                <a:sym typeface="Wingdings"/>
              </a:rPr>
              <a:t>j</a:t>
            </a:r>
            <a:r>
              <a:rPr kumimoji="1" lang="zh-CN" altLang="en-US" sz="2000" dirty="0">
                <a:solidFill>
                  <a:srgbClr val="1000E4"/>
                </a:solidFill>
                <a:latin typeface="Consolas" pitchFamily="49" charset="0"/>
                <a:ea typeface="仿宋" pitchFamily="49" charset="-122"/>
                <a:cs typeface="Consolas" pitchFamily="49" charset="0"/>
              </a:rPr>
              <a:t>（</a:t>
            </a:r>
            <a:r>
              <a:rPr kumimoji="1" lang="en-US" altLang="zh-CN" sz="2000" i="1" dirty="0" err="1">
                <a:solidFill>
                  <a:srgbClr val="1000E4"/>
                </a:solidFill>
                <a:latin typeface="Consolas" pitchFamily="49" charset="0"/>
                <a:ea typeface="仿宋" pitchFamily="49" charset="-122"/>
                <a:cs typeface="Consolas" pitchFamily="49" charset="0"/>
              </a:rPr>
              <a:t>j</a:t>
            </a:r>
            <a:r>
              <a:rPr kumimoji="1" lang="en-US" altLang="zh-CN" sz="2000" dirty="0" err="1">
                <a:solidFill>
                  <a:srgbClr val="1000E4"/>
                </a:solidFill>
                <a:latin typeface="Consolas" pitchFamily="49" charset="0"/>
                <a:ea typeface="仿宋" pitchFamily="49" charset="-122"/>
                <a:cs typeface="Consolas" pitchFamily="49" charset="0"/>
              </a:rPr>
              <a:t>∈U</a:t>
            </a:r>
            <a:r>
              <a:rPr kumimoji="1" lang="zh-CN" altLang="en-US" sz="2000" dirty="0">
                <a:solidFill>
                  <a:srgbClr val="1000E4"/>
                </a:solidFill>
                <a:latin typeface="Consolas" pitchFamily="49" charset="0"/>
                <a:ea typeface="仿宋" pitchFamily="49" charset="-122"/>
                <a:cs typeface="Consolas" pitchFamily="49" charset="0"/>
              </a:rPr>
              <a:t>）的最短路径长度（经过顶点</a:t>
            </a:r>
            <a:r>
              <a:rPr kumimoji="1" lang="en-US" altLang="zh-CN" sz="2000" i="1" dirty="0">
                <a:solidFill>
                  <a:srgbClr val="1000E4"/>
                </a:solidFill>
                <a:latin typeface="Consolas" pitchFamily="49" charset="0"/>
                <a:ea typeface="仿宋" pitchFamily="49" charset="-122"/>
                <a:cs typeface="Consolas" pitchFamily="49" charset="0"/>
              </a:rPr>
              <a:t>u</a:t>
            </a:r>
            <a:r>
              <a:rPr kumimoji="1" lang="zh-CN" altLang="en-US" sz="2000" dirty="0">
                <a:solidFill>
                  <a:srgbClr val="1000E4"/>
                </a:solidFill>
                <a:latin typeface="Consolas" pitchFamily="49" charset="0"/>
                <a:ea typeface="仿宋" pitchFamily="49" charset="-122"/>
                <a:cs typeface="Consolas" pitchFamily="49" charset="0"/>
              </a:rPr>
              <a:t>）比原来最短路径长度（不经过顶点</a:t>
            </a:r>
            <a:r>
              <a:rPr kumimoji="1" lang="en-US" altLang="zh-CN" sz="2000" i="1" dirty="0">
                <a:solidFill>
                  <a:srgbClr val="1000E4"/>
                </a:solidFill>
                <a:latin typeface="Consolas" pitchFamily="49" charset="0"/>
                <a:ea typeface="仿宋" pitchFamily="49" charset="-122"/>
                <a:cs typeface="Consolas" pitchFamily="49" charset="0"/>
              </a:rPr>
              <a:t>u</a:t>
            </a:r>
            <a:r>
              <a:rPr kumimoji="1" lang="zh-CN" altLang="en-US" sz="2000" dirty="0">
                <a:solidFill>
                  <a:srgbClr val="1000E4"/>
                </a:solidFill>
                <a:latin typeface="Consolas" pitchFamily="49" charset="0"/>
                <a:ea typeface="仿宋" pitchFamily="49" charset="-122"/>
                <a:cs typeface="Consolas" pitchFamily="49" charset="0"/>
              </a:rPr>
              <a:t>）短，则修改顶点</a:t>
            </a:r>
            <a:r>
              <a:rPr kumimoji="1" lang="en-US" altLang="zh-CN" sz="2000" i="1" dirty="0">
                <a:solidFill>
                  <a:srgbClr val="1000E4"/>
                </a:solidFill>
                <a:latin typeface="Consolas" pitchFamily="49" charset="0"/>
                <a:ea typeface="仿宋" pitchFamily="49" charset="-122"/>
                <a:cs typeface="Consolas" pitchFamily="49" charset="0"/>
              </a:rPr>
              <a:t>j</a:t>
            </a:r>
            <a:r>
              <a:rPr kumimoji="1" lang="zh-CN" altLang="en-US" sz="2000" dirty="0">
                <a:solidFill>
                  <a:srgbClr val="1000E4"/>
                </a:solidFill>
                <a:latin typeface="Consolas" pitchFamily="49" charset="0"/>
                <a:ea typeface="仿宋" pitchFamily="49" charset="-122"/>
                <a:cs typeface="Consolas" pitchFamily="49" charset="0"/>
              </a:rPr>
              <a:t>的最短路径长度。    </a:t>
            </a:r>
          </a:p>
        </p:txBody>
      </p:sp>
      <p:sp>
        <p:nvSpPr>
          <p:cNvPr id="3" name="Oval 4">
            <a:extLst>
              <a:ext uri="{FF2B5EF4-FFF2-40B4-BE49-F238E27FC236}">
                <a16:creationId xmlns:a16="http://schemas.microsoft.com/office/drawing/2014/main" id="{B67E896E-BE7D-FF5B-8E91-2DB3BDE94F11}"/>
              </a:ext>
            </a:extLst>
          </p:cNvPr>
          <p:cNvSpPr>
            <a:spLocks noChangeArrowheads="1"/>
          </p:cNvSpPr>
          <p:nvPr/>
        </p:nvSpPr>
        <p:spPr bwMode="auto">
          <a:xfrm>
            <a:off x="3287688" y="4652317"/>
            <a:ext cx="1728787" cy="1512888"/>
          </a:xfrm>
          <a:prstGeom prst="ellipse">
            <a:avLst/>
          </a:prstGeom>
          <a:solidFill>
            <a:srgbClr val="FFFFFF">
              <a:alpha val="0"/>
            </a:srgbClr>
          </a:solidFill>
          <a:ln w="38100" algn="ctr">
            <a:solidFill>
              <a:srgbClr val="FF00FF"/>
            </a:solidFill>
            <a:prstDash val="sysDot"/>
            <a:round/>
            <a:headEnd/>
            <a:tailEnd type="none" w="med" len="lg"/>
          </a:ln>
          <a:effectLst/>
        </p:spPr>
        <p:txBody>
          <a:bodyPr wrap="none" anchor="ctr"/>
          <a:lstStyle/>
          <a:p>
            <a:endParaRPr lang="zh-CN" altLang="en-US">
              <a:latin typeface="Consolas" pitchFamily="49" charset="0"/>
              <a:cs typeface="Consolas" pitchFamily="49" charset="0"/>
            </a:endParaRPr>
          </a:p>
        </p:txBody>
      </p:sp>
      <p:sp>
        <p:nvSpPr>
          <p:cNvPr id="4" name="Text Box 5">
            <a:extLst>
              <a:ext uri="{FF2B5EF4-FFF2-40B4-BE49-F238E27FC236}">
                <a16:creationId xmlns:a16="http://schemas.microsoft.com/office/drawing/2014/main" id="{2805BF02-731B-6A97-AC2A-5F73C1E5DBD9}"/>
              </a:ext>
            </a:extLst>
          </p:cNvPr>
          <p:cNvSpPr txBox="1">
            <a:spLocks noChangeArrowheads="1"/>
          </p:cNvSpPr>
          <p:nvPr/>
        </p:nvSpPr>
        <p:spPr bwMode="auto">
          <a:xfrm>
            <a:off x="3160672" y="4585038"/>
            <a:ext cx="576263" cy="307777"/>
          </a:xfrm>
          <a:prstGeom prst="rect">
            <a:avLst/>
          </a:prstGeom>
          <a:noFill/>
          <a:ln w="38100" algn="ctr">
            <a:noFill/>
            <a:miter lim="800000"/>
            <a:headEnd/>
            <a:tailEnd type="none" w="med" len="lg"/>
          </a:ln>
          <a:effectLst/>
        </p:spPr>
        <p:txBody>
          <a:bodyPr lIns="0" tIns="0" rIns="0" bIns="0">
            <a:spAutoFit/>
          </a:bodyPr>
          <a:lstStyle/>
          <a:p>
            <a:pPr algn="ctr"/>
            <a:r>
              <a:rPr lang="en-US" altLang="zh-CN" sz="2000" dirty="0">
                <a:latin typeface="Consolas" pitchFamily="49" charset="0"/>
                <a:cs typeface="Consolas" pitchFamily="49" charset="0"/>
              </a:rPr>
              <a:t>S</a:t>
            </a:r>
          </a:p>
        </p:txBody>
      </p:sp>
      <p:sp>
        <p:nvSpPr>
          <p:cNvPr id="5" name="Oval 6">
            <a:extLst>
              <a:ext uri="{FF2B5EF4-FFF2-40B4-BE49-F238E27FC236}">
                <a16:creationId xmlns:a16="http://schemas.microsoft.com/office/drawing/2014/main" id="{80F51C6B-24C7-32EB-9024-EDC99C008FAC}"/>
              </a:ext>
            </a:extLst>
          </p:cNvPr>
          <p:cNvSpPr>
            <a:spLocks noChangeArrowheads="1"/>
          </p:cNvSpPr>
          <p:nvPr/>
        </p:nvSpPr>
        <p:spPr bwMode="auto">
          <a:xfrm>
            <a:off x="3736935" y="4799952"/>
            <a:ext cx="431800"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pPr algn="ctr">
              <a:spcBef>
                <a:spcPct val="0"/>
              </a:spcBef>
            </a:pPr>
            <a:r>
              <a:rPr lang="en-US" altLang="zh-CN" sz="2000" i="1" dirty="0">
                <a:solidFill>
                  <a:srgbClr val="3333FF"/>
                </a:solidFill>
                <a:latin typeface="Consolas" pitchFamily="49" charset="0"/>
                <a:cs typeface="Consolas" pitchFamily="49" charset="0"/>
              </a:rPr>
              <a:t>v</a:t>
            </a:r>
          </a:p>
        </p:txBody>
      </p:sp>
      <p:sp>
        <p:nvSpPr>
          <p:cNvPr id="6" name="Oval 7">
            <a:extLst>
              <a:ext uri="{FF2B5EF4-FFF2-40B4-BE49-F238E27FC236}">
                <a16:creationId xmlns:a16="http://schemas.microsoft.com/office/drawing/2014/main" id="{9B8BAEA5-0C84-D399-1E4B-4B7E4C3BD54D}"/>
              </a:ext>
            </a:extLst>
          </p:cNvPr>
          <p:cNvSpPr>
            <a:spLocks noChangeArrowheads="1"/>
          </p:cNvSpPr>
          <p:nvPr/>
        </p:nvSpPr>
        <p:spPr bwMode="auto">
          <a:xfrm>
            <a:off x="5735613" y="4652317"/>
            <a:ext cx="1728787" cy="1512888"/>
          </a:xfrm>
          <a:prstGeom prst="ellipse">
            <a:avLst/>
          </a:prstGeom>
          <a:solidFill>
            <a:srgbClr val="FFFFFF">
              <a:alpha val="0"/>
            </a:srgbClr>
          </a:solidFill>
          <a:ln w="38100" algn="ctr">
            <a:solidFill>
              <a:srgbClr val="FF00FF"/>
            </a:solidFill>
            <a:prstDash val="sysDot"/>
            <a:round/>
            <a:headEnd/>
            <a:tailEnd type="none" w="med" len="lg"/>
          </a:ln>
          <a:effectLst/>
        </p:spPr>
        <p:txBody>
          <a:bodyPr wrap="none" anchor="ctr"/>
          <a:lstStyle/>
          <a:p>
            <a:endParaRPr lang="zh-CN" altLang="en-US">
              <a:latin typeface="Consolas" pitchFamily="49" charset="0"/>
              <a:cs typeface="Consolas" pitchFamily="49" charset="0"/>
            </a:endParaRPr>
          </a:p>
        </p:txBody>
      </p:sp>
      <p:sp>
        <p:nvSpPr>
          <p:cNvPr id="7" name="Text Box 8">
            <a:extLst>
              <a:ext uri="{FF2B5EF4-FFF2-40B4-BE49-F238E27FC236}">
                <a16:creationId xmlns:a16="http://schemas.microsoft.com/office/drawing/2014/main" id="{0B287F23-E446-AAA5-3E56-E5AB22F2EFFE}"/>
              </a:ext>
            </a:extLst>
          </p:cNvPr>
          <p:cNvSpPr txBox="1">
            <a:spLocks noChangeArrowheads="1"/>
          </p:cNvSpPr>
          <p:nvPr/>
        </p:nvSpPr>
        <p:spPr bwMode="auto">
          <a:xfrm>
            <a:off x="6096987" y="4272899"/>
            <a:ext cx="1008063" cy="307777"/>
          </a:xfrm>
          <a:prstGeom prst="rect">
            <a:avLst/>
          </a:prstGeom>
          <a:noFill/>
          <a:ln w="38100" algn="ctr">
            <a:noFill/>
            <a:miter lim="800000"/>
            <a:headEnd/>
            <a:tailEnd type="none" w="med" len="lg"/>
          </a:ln>
          <a:effectLst/>
        </p:spPr>
        <p:txBody>
          <a:bodyPr lIns="0" tIns="0" rIns="0" bIns="0">
            <a:spAutoFit/>
          </a:bodyPr>
          <a:lstStyle/>
          <a:p>
            <a:pPr algn="ctr"/>
            <a:r>
              <a:rPr lang="en-US" altLang="zh-CN" sz="2000" dirty="0">
                <a:latin typeface="Consolas" pitchFamily="49" charset="0"/>
                <a:cs typeface="Consolas" pitchFamily="49" charset="0"/>
              </a:rPr>
              <a:t>U=V</a:t>
            </a:r>
            <a:r>
              <a:rPr lang="en-US" altLang="zh-CN" sz="2000" dirty="0">
                <a:latin typeface="Consolas" pitchFamily="49" charset="0"/>
                <a:ea typeface="宋体" pitchFamily="2" charset="-122"/>
                <a:cs typeface="Consolas" pitchFamily="49" charset="0"/>
              </a:rPr>
              <a:t>-</a:t>
            </a:r>
            <a:r>
              <a:rPr lang="en-US" altLang="zh-CN" sz="2000" dirty="0">
                <a:latin typeface="Consolas" pitchFamily="49" charset="0"/>
                <a:cs typeface="Consolas" pitchFamily="49" charset="0"/>
              </a:rPr>
              <a:t>S</a:t>
            </a:r>
          </a:p>
        </p:txBody>
      </p:sp>
      <p:sp>
        <p:nvSpPr>
          <p:cNvPr id="12" name="Oval 9">
            <a:extLst>
              <a:ext uri="{FF2B5EF4-FFF2-40B4-BE49-F238E27FC236}">
                <a16:creationId xmlns:a16="http://schemas.microsoft.com/office/drawing/2014/main" id="{B9A1ADC8-C75C-551E-53B6-50F5509FDB7B}"/>
              </a:ext>
            </a:extLst>
          </p:cNvPr>
          <p:cNvSpPr>
            <a:spLocks noChangeArrowheads="1"/>
          </p:cNvSpPr>
          <p:nvPr/>
        </p:nvSpPr>
        <p:spPr bwMode="auto">
          <a:xfrm>
            <a:off x="4237001" y="5582598"/>
            <a:ext cx="431800" cy="431800"/>
          </a:xfrm>
          <a:prstGeom prst="ellipse">
            <a:avLst/>
          </a:prstGeom>
          <a:ln>
            <a:headEnd/>
            <a:tailEnd type="none" w="med" len="lg"/>
          </a:ln>
        </p:spPr>
        <p:style>
          <a:lnRef idx="1">
            <a:schemeClr val="accent4"/>
          </a:lnRef>
          <a:fillRef idx="2">
            <a:schemeClr val="accent4"/>
          </a:fillRef>
          <a:effectRef idx="1">
            <a:schemeClr val="accent4"/>
          </a:effectRef>
          <a:fontRef idx="minor">
            <a:schemeClr val="dk1"/>
          </a:fontRef>
        </p:style>
        <p:txBody>
          <a:bodyPr wrap="none" anchor="ctr"/>
          <a:lstStyle/>
          <a:p>
            <a:pPr algn="ctr">
              <a:spcBef>
                <a:spcPct val="0"/>
              </a:spcBef>
            </a:pPr>
            <a:r>
              <a:rPr lang="en-US" altLang="zh-CN" sz="2000" i="1">
                <a:solidFill>
                  <a:srgbClr val="3333FF"/>
                </a:solidFill>
                <a:latin typeface="Consolas" pitchFamily="49" charset="0"/>
                <a:cs typeface="Consolas" pitchFamily="49" charset="0"/>
              </a:rPr>
              <a:t>u</a:t>
            </a:r>
          </a:p>
        </p:txBody>
      </p:sp>
      <p:sp>
        <p:nvSpPr>
          <p:cNvPr id="13" name="Oval 10">
            <a:extLst>
              <a:ext uri="{FF2B5EF4-FFF2-40B4-BE49-F238E27FC236}">
                <a16:creationId xmlns:a16="http://schemas.microsoft.com/office/drawing/2014/main" id="{CC10F2B2-4DD1-47F3-92EA-4946146986FC}"/>
              </a:ext>
            </a:extLst>
          </p:cNvPr>
          <p:cNvSpPr>
            <a:spLocks noChangeArrowheads="1"/>
          </p:cNvSpPr>
          <p:nvPr/>
        </p:nvSpPr>
        <p:spPr bwMode="auto">
          <a:xfrm>
            <a:off x="6599213" y="5515917"/>
            <a:ext cx="431800"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pPr algn="ctr">
              <a:spcBef>
                <a:spcPct val="0"/>
              </a:spcBef>
            </a:pPr>
            <a:endParaRPr lang="zh-CN" altLang="zh-CN" sz="2000" i="1">
              <a:solidFill>
                <a:srgbClr val="3333FF"/>
              </a:solidFill>
              <a:latin typeface="Consolas" pitchFamily="49" charset="0"/>
              <a:cs typeface="Consolas" pitchFamily="49" charset="0"/>
            </a:endParaRPr>
          </a:p>
        </p:txBody>
      </p:sp>
      <p:sp>
        <p:nvSpPr>
          <p:cNvPr id="14" name="Oval 11">
            <a:extLst>
              <a:ext uri="{FF2B5EF4-FFF2-40B4-BE49-F238E27FC236}">
                <a16:creationId xmlns:a16="http://schemas.microsoft.com/office/drawing/2014/main" id="{B70C6FA3-BB91-8344-42F7-6EB97C471566}"/>
              </a:ext>
            </a:extLst>
          </p:cNvPr>
          <p:cNvSpPr>
            <a:spLocks noChangeArrowheads="1"/>
          </p:cNvSpPr>
          <p:nvPr/>
        </p:nvSpPr>
        <p:spPr bwMode="auto">
          <a:xfrm>
            <a:off x="6024538" y="5012680"/>
            <a:ext cx="431800"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pPr algn="ctr">
              <a:spcBef>
                <a:spcPct val="0"/>
              </a:spcBef>
            </a:pPr>
            <a:r>
              <a:rPr lang="en-US" altLang="zh-CN" sz="2000" i="1" dirty="0">
                <a:solidFill>
                  <a:srgbClr val="3333FF"/>
                </a:solidFill>
                <a:latin typeface="Consolas" pitchFamily="49" charset="0"/>
                <a:cs typeface="Consolas" pitchFamily="49" charset="0"/>
              </a:rPr>
              <a:t>j</a:t>
            </a:r>
          </a:p>
        </p:txBody>
      </p:sp>
      <p:sp>
        <p:nvSpPr>
          <p:cNvPr id="15" name="Oval 12">
            <a:extLst>
              <a:ext uri="{FF2B5EF4-FFF2-40B4-BE49-F238E27FC236}">
                <a16:creationId xmlns:a16="http://schemas.microsoft.com/office/drawing/2014/main" id="{8D4EEBF1-11C9-F85A-94D6-66BE4C14ADD8}"/>
              </a:ext>
            </a:extLst>
          </p:cNvPr>
          <p:cNvSpPr>
            <a:spLocks noChangeArrowheads="1"/>
          </p:cNvSpPr>
          <p:nvPr/>
        </p:nvSpPr>
        <p:spPr bwMode="auto">
          <a:xfrm>
            <a:off x="6672238" y="4941242"/>
            <a:ext cx="431800"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pPr algn="ctr">
              <a:spcBef>
                <a:spcPct val="0"/>
              </a:spcBef>
            </a:pPr>
            <a:endParaRPr lang="zh-CN" altLang="zh-CN" sz="2000" i="1">
              <a:solidFill>
                <a:srgbClr val="3333FF"/>
              </a:solidFill>
              <a:latin typeface="Consolas" pitchFamily="49" charset="0"/>
              <a:cs typeface="Consolas" pitchFamily="49" charset="0"/>
            </a:endParaRPr>
          </a:p>
        </p:txBody>
      </p:sp>
      <p:sp>
        <p:nvSpPr>
          <p:cNvPr id="16" name="Line 13">
            <a:extLst>
              <a:ext uri="{FF2B5EF4-FFF2-40B4-BE49-F238E27FC236}">
                <a16:creationId xmlns:a16="http://schemas.microsoft.com/office/drawing/2014/main" id="{FBCCF30E-73FB-9EDE-6888-B5CA2166584C}"/>
              </a:ext>
            </a:extLst>
          </p:cNvPr>
          <p:cNvSpPr>
            <a:spLocks noChangeShapeType="1"/>
          </p:cNvSpPr>
          <p:nvPr/>
        </p:nvSpPr>
        <p:spPr bwMode="auto">
          <a:xfrm flipV="1">
            <a:off x="4665629" y="5301603"/>
            <a:ext cx="1358909" cy="427042"/>
          </a:xfrm>
          <a:prstGeom prst="line">
            <a:avLst/>
          </a:prstGeom>
          <a:noFill/>
          <a:ln w="28575">
            <a:solidFill>
              <a:srgbClr val="FF3300"/>
            </a:solidFill>
            <a:round/>
            <a:headEnd/>
            <a:tailEnd type="stealth" w="med" len="lg"/>
          </a:ln>
          <a:effectLst/>
        </p:spPr>
        <p:txBody>
          <a:bodyPr wrap="none"/>
          <a:lstStyle/>
          <a:p>
            <a:endParaRPr lang="zh-CN" altLang="en-US">
              <a:latin typeface="Consolas" pitchFamily="49" charset="0"/>
              <a:cs typeface="Consolas" pitchFamily="49" charset="0"/>
            </a:endParaRPr>
          </a:p>
        </p:txBody>
      </p:sp>
      <p:sp>
        <p:nvSpPr>
          <p:cNvPr id="17" name="Line 14">
            <a:extLst>
              <a:ext uri="{FF2B5EF4-FFF2-40B4-BE49-F238E27FC236}">
                <a16:creationId xmlns:a16="http://schemas.microsoft.com/office/drawing/2014/main" id="{D85ACF14-6D76-D3B8-52F2-652D5CC7CBD4}"/>
              </a:ext>
            </a:extLst>
          </p:cNvPr>
          <p:cNvSpPr>
            <a:spLocks noChangeShapeType="1"/>
          </p:cNvSpPr>
          <p:nvPr/>
        </p:nvSpPr>
        <p:spPr bwMode="auto">
          <a:xfrm>
            <a:off x="4165563" y="5014266"/>
            <a:ext cx="1839926" cy="188914"/>
          </a:xfrm>
          <a:prstGeom prst="line">
            <a:avLst/>
          </a:prstGeom>
          <a:noFill/>
          <a:ln w="38100">
            <a:solidFill>
              <a:srgbClr val="339966"/>
            </a:solidFill>
            <a:prstDash val="dash"/>
            <a:round/>
            <a:headEnd/>
            <a:tailEnd type="stealth" w="med" len="lg"/>
          </a:ln>
          <a:effectLst/>
        </p:spPr>
        <p:txBody>
          <a:bodyPr wrap="none"/>
          <a:lstStyle/>
          <a:p>
            <a:endParaRPr lang="zh-CN" altLang="en-US">
              <a:latin typeface="Consolas" pitchFamily="49" charset="0"/>
              <a:cs typeface="Consolas" pitchFamily="49" charset="0"/>
            </a:endParaRPr>
          </a:p>
        </p:txBody>
      </p:sp>
      <p:grpSp>
        <p:nvGrpSpPr>
          <p:cNvPr id="23" name="组合 18">
            <a:extLst>
              <a:ext uri="{FF2B5EF4-FFF2-40B4-BE49-F238E27FC236}">
                <a16:creationId xmlns:a16="http://schemas.microsoft.com/office/drawing/2014/main" id="{8C891162-F95F-157B-A7D0-8BEAD94A50F0}"/>
              </a:ext>
            </a:extLst>
          </p:cNvPr>
          <p:cNvGrpSpPr/>
          <p:nvPr/>
        </p:nvGrpSpPr>
        <p:grpSpPr>
          <a:xfrm>
            <a:off x="2567608" y="5119043"/>
            <a:ext cx="7415236" cy="1639326"/>
            <a:chOff x="1259533" y="3390901"/>
            <a:chExt cx="7415236" cy="1639326"/>
          </a:xfrm>
        </p:grpSpPr>
        <p:sp>
          <p:nvSpPr>
            <p:cNvPr id="36" name="Freeform 15">
              <a:extLst>
                <a:ext uri="{FF2B5EF4-FFF2-40B4-BE49-F238E27FC236}">
                  <a16:creationId xmlns:a16="http://schemas.microsoft.com/office/drawing/2014/main" id="{9EDC36A4-F534-4DD1-56C3-F8727A4C3046}"/>
                </a:ext>
              </a:extLst>
            </p:cNvPr>
            <p:cNvSpPr>
              <a:spLocks/>
            </p:cNvSpPr>
            <p:nvPr/>
          </p:nvSpPr>
          <p:spPr bwMode="auto">
            <a:xfrm>
              <a:off x="3924301" y="3390901"/>
              <a:ext cx="1588" cy="1249363"/>
            </a:xfrm>
            <a:custGeom>
              <a:avLst/>
              <a:gdLst/>
              <a:ahLst/>
              <a:cxnLst>
                <a:cxn ang="0">
                  <a:pos x="0" y="0"/>
                </a:cxn>
                <a:cxn ang="0">
                  <a:pos x="1" y="787"/>
                </a:cxn>
              </a:cxnLst>
              <a:rect l="0" t="0" r="r" b="b"/>
              <a:pathLst>
                <a:path w="1" h="787">
                  <a:moveTo>
                    <a:pt x="0" y="0"/>
                  </a:moveTo>
                  <a:lnTo>
                    <a:pt x="1" y="787"/>
                  </a:lnTo>
                </a:path>
              </a:pathLst>
            </a:custGeom>
            <a:noFill/>
            <a:ln w="19050" cap="flat" cmpd="sng">
              <a:solidFill>
                <a:srgbClr val="0000FF"/>
              </a:solidFill>
              <a:prstDash val="solid"/>
              <a:round/>
              <a:headEnd type="none" w="med" len="med"/>
              <a:tailEnd type="none" w="med" len="lg"/>
            </a:ln>
            <a:effectLst/>
          </p:spPr>
          <p:txBody>
            <a:bodyPr wrap="none"/>
            <a:lstStyle/>
            <a:p>
              <a:endParaRPr lang="zh-CN" altLang="en-US">
                <a:latin typeface="Consolas" pitchFamily="49" charset="0"/>
                <a:cs typeface="Consolas" pitchFamily="49" charset="0"/>
              </a:endParaRPr>
            </a:p>
          </p:txBody>
        </p:sp>
        <p:sp>
          <p:nvSpPr>
            <p:cNvPr id="37" name="Line 16">
              <a:extLst>
                <a:ext uri="{FF2B5EF4-FFF2-40B4-BE49-F238E27FC236}">
                  <a16:creationId xmlns:a16="http://schemas.microsoft.com/office/drawing/2014/main" id="{89B15D8F-BD20-8297-D390-2C9A95CBDA6B}"/>
                </a:ext>
              </a:extLst>
            </p:cNvPr>
            <p:cNvSpPr>
              <a:spLocks noChangeShapeType="1"/>
            </p:cNvSpPr>
            <p:nvPr/>
          </p:nvSpPr>
          <p:spPr bwMode="auto">
            <a:xfrm flipH="1">
              <a:off x="4071933" y="3714753"/>
              <a:ext cx="139705" cy="928694"/>
            </a:xfrm>
            <a:prstGeom prst="line">
              <a:avLst/>
            </a:prstGeom>
            <a:noFill/>
            <a:ln w="19050">
              <a:solidFill>
                <a:srgbClr val="0000FF"/>
              </a:solidFill>
              <a:round/>
              <a:headEnd/>
              <a:tailEnd type="none" w="med" len="lg"/>
            </a:ln>
            <a:effectLst/>
          </p:spPr>
          <p:txBody>
            <a:bodyPr wrap="none"/>
            <a:lstStyle/>
            <a:p>
              <a:endParaRPr lang="zh-CN" altLang="en-US">
                <a:latin typeface="Consolas" pitchFamily="49" charset="0"/>
                <a:cs typeface="Consolas" pitchFamily="49" charset="0"/>
              </a:endParaRPr>
            </a:p>
          </p:txBody>
        </p:sp>
        <p:sp>
          <p:nvSpPr>
            <p:cNvPr id="38" name="Text Box 17">
              <a:extLst>
                <a:ext uri="{FF2B5EF4-FFF2-40B4-BE49-F238E27FC236}">
                  <a16:creationId xmlns:a16="http://schemas.microsoft.com/office/drawing/2014/main" id="{1EBDE846-3ADC-58AF-E853-61E0E3F81200}"/>
                </a:ext>
              </a:extLst>
            </p:cNvPr>
            <p:cNvSpPr txBox="1">
              <a:spLocks noChangeArrowheads="1"/>
            </p:cNvSpPr>
            <p:nvPr/>
          </p:nvSpPr>
          <p:spPr bwMode="auto">
            <a:xfrm>
              <a:off x="1259533" y="4714884"/>
              <a:ext cx="7415236" cy="315343"/>
            </a:xfrm>
            <a:prstGeom prst="rect">
              <a:avLst/>
            </a:prstGeom>
            <a:noFill/>
            <a:ln w="38100" algn="ctr">
              <a:noFill/>
              <a:miter lim="800000"/>
              <a:headEnd/>
              <a:tailEnd type="none" w="med" len="lg"/>
            </a:ln>
            <a:effectLst/>
          </p:spPr>
          <p:txBody>
            <a:bodyPr wrap="square">
              <a:spAutoFit/>
            </a:bodyPr>
            <a:lstStyle/>
            <a:p>
              <a:pPr>
                <a:lnSpc>
                  <a:spcPct val="70000"/>
                </a:lnSpc>
              </a:pPr>
              <a:r>
                <a:rPr lang="zh-CN" altLang="en-US" sz="2000" dirty="0">
                  <a:latin typeface="Consolas" pitchFamily="49" charset="0"/>
                  <a:ea typeface="仿宋" pitchFamily="49" charset="-122"/>
                  <a:cs typeface="Consolas" pitchFamily="49" charset="0"/>
                </a:rPr>
                <a:t>两条路径进行比较：若经过</a:t>
              </a:r>
              <a:r>
                <a:rPr lang="en-US" altLang="zh-CN" sz="2000" i="1" dirty="0">
                  <a:latin typeface="Consolas" pitchFamily="49" charset="0"/>
                  <a:ea typeface="仿宋" pitchFamily="49" charset="-122"/>
                  <a:cs typeface="Consolas" pitchFamily="49" charset="0"/>
                </a:rPr>
                <a:t>u</a:t>
              </a:r>
              <a:r>
                <a:rPr lang="zh-CN" altLang="en-US" sz="2000" dirty="0">
                  <a:latin typeface="Consolas" pitchFamily="49" charset="0"/>
                  <a:ea typeface="仿宋" pitchFamily="49" charset="-122"/>
                  <a:cs typeface="Consolas" pitchFamily="49" charset="0"/>
                </a:rPr>
                <a:t>的</a:t>
              </a:r>
              <a:r>
                <a:rPr kumimoji="1" lang="zh-CN" altLang="en-US" sz="2000" dirty="0">
                  <a:solidFill>
                    <a:srgbClr val="1000E4"/>
                  </a:solidFill>
                  <a:latin typeface="Consolas" pitchFamily="49" charset="0"/>
                  <a:ea typeface="仿宋" pitchFamily="49" charset="-122"/>
                  <a:cs typeface="Consolas" pitchFamily="49" charset="0"/>
                </a:rPr>
                <a:t>最短路径长度</a:t>
              </a:r>
              <a:r>
                <a:rPr lang="zh-CN" altLang="en-US" sz="2000" dirty="0">
                  <a:latin typeface="Consolas" pitchFamily="49" charset="0"/>
                  <a:ea typeface="仿宋" pitchFamily="49" charset="-122"/>
                  <a:cs typeface="Consolas" pitchFamily="49" charset="0"/>
                </a:rPr>
                <a:t>更短，则修正</a:t>
              </a:r>
            </a:p>
          </p:txBody>
        </p:sp>
      </p:grpSp>
      <p:sp>
        <p:nvSpPr>
          <p:cNvPr id="39" name="Line 18">
            <a:extLst>
              <a:ext uri="{FF2B5EF4-FFF2-40B4-BE49-F238E27FC236}">
                <a16:creationId xmlns:a16="http://schemas.microsoft.com/office/drawing/2014/main" id="{6DABBF38-7DFF-2C22-359F-083DF7D6DE9C}"/>
              </a:ext>
            </a:extLst>
          </p:cNvPr>
          <p:cNvSpPr>
            <a:spLocks noChangeShapeType="1"/>
          </p:cNvSpPr>
          <p:nvPr/>
        </p:nvSpPr>
        <p:spPr bwMode="auto">
          <a:xfrm>
            <a:off x="4094125" y="5228580"/>
            <a:ext cx="214314" cy="428628"/>
          </a:xfrm>
          <a:prstGeom prst="line">
            <a:avLst/>
          </a:prstGeom>
          <a:noFill/>
          <a:ln w="38100">
            <a:solidFill>
              <a:srgbClr val="339966"/>
            </a:solidFill>
            <a:prstDash val="sysDash"/>
            <a:round/>
            <a:headEnd/>
            <a:tailEnd type="stealth" w="med" len="lg"/>
          </a:ln>
          <a:effectLst/>
        </p:spPr>
        <p:txBody>
          <a:bodyPr wrap="none"/>
          <a:lstStyle/>
          <a:p>
            <a:endParaRPr lang="zh-CN" altLang="en-US">
              <a:latin typeface="Consolas" pitchFamily="49" charset="0"/>
              <a:cs typeface="Consolas" pitchFamily="49" charset="0"/>
            </a:endParaRPr>
          </a:p>
        </p:txBody>
      </p:sp>
    </p:spTree>
    <p:extLst>
      <p:ext uri="{BB962C8B-B14F-4D97-AF65-F5344CB8AC3E}">
        <p14:creationId xmlns:p14="http://schemas.microsoft.com/office/powerpoint/2010/main" val="428709675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0291ED-1AFD-79FD-C4DB-2310ED40DDAB}"/>
            </a:ext>
          </a:extLst>
        </p:cNvPr>
        <p:cNvGrpSpPr/>
        <p:nvPr/>
      </p:nvGrpSpPr>
      <p:grpSpPr>
        <a:xfrm>
          <a:off x="0" y="0"/>
          <a:ext cx="0" cy="0"/>
          <a:chOff x="0" y="0"/>
          <a:chExt cx="0" cy="0"/>
        </a:xfrm>
      </p:grpSpPr>
      <p:sp>
        <p:nvSpPr>
          <p:cNvPr id="8" name="Text Box 2">
            <a:extLst>
              <a:ext uri="{FF2B5EF4-FFF2-40B4-BE49-F238E27FC236}">
                <a16:creationId xmlns:a16="http://schemas.microsoft.com/office/drawing/2014/main" id="{7589D663-EF2C-5601-BFB9-3B8C4D5AF70E}"/>
              </a:ext>
            </a:extLst>
          </p:cNvPr>
          <p:cNvSpPr txBox="1">
            <a:spLocks noChangeArrowheads="1"/>
          </p:cNvSpPr>
          <p:nvPr/>
        </p:nvSpPr>
        <p:spPr bwMode="auto">
          <a:xfrm>
            <a:off x="1403176" y="2370048"/>
            <a:ext cx="6326088" cy="8371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rnd">
                <a:solidFill>
                  <a:srgbClr val="000000"/>
                </a:solidFill>
                <a:miter lim="800000"/>
                <a:headEnd/>
                <a:tailEnd/>
              </a14:hiddenLine>
            </a:ext>
          </a:extLst>
        </p:spPr>
        <p:txBody>
          <a:bodyPr wrap="square">
            <a:spAutoFit/>
          </a:bodyPr>
          <a:lstStyle>
            <a:lvl1pPr marL="457200" indent="-457200" eaLnBrk="0" hangingPunct="0">
              <a:defRPr kumimoji="1" sz="2800">
                <a:solidFill>
                  <a:schemeClr val="tx1"/>
                </a:solidFill>
                <a:latin typeface="Comic Sans MS" pitchFamily="66" charset="0"/>
                <a:ea typeface="宋体" pitchFamily="2" charset="-122"/>
              </a:defRPr>
            </a:lvl1pPr>
            <a:lvl2pPr marL="914400" indent="-457200" eaLnBrk="0" hangingPunct="0">
              <a:defRPr kumimoji="1" sz="2800">
                <a:solidFill>
                  <a:schemeClr val="tx1"/>
                </a:solidFill>
                <a:latin typeface="Comic Sans MS" pitchFamily="66" charset="0"/>
                <a:ea typeface="宋体" pitchFamily="2" charset="-122"/>
              </a:defRPr>
            </a:lvl2pPr>
            <a:lvl3pPr marL="1143000" indent="-228600" eaLnBrk="0" hangingPunct="0">
              <a:defRPr kumimoji="1" sz="2800">
                <a:solidFill>
                  <a:schemeClr val="tx1"/>
                </a:solidFill>
                <a:latin typeface="Comic Sans MS" pitchFamily="66" charset="0"/>
                <a:ea typeface="宋体" pitchFamily="2" charset="-122"/>
              </a:defRPr>
            </a:lvl3pPr>
            <a:lvl4pPr marL="1600200" indent="-228600" eaLnBrk="0" hangingPunct="0">
              <a:defRPr kumimoji="1" sz="2800">
                <a:solidFill>
                  <a:schemeClr val="tx1"/>
                </a:solidFill>
                <a:latin typeface="Comic Sans MS" pitchFamily="66" charset="0"/>
                <a:ea typeface="宋体" pitchFamily="2" charset="-122"/>
              </a:defRPr>
            </a:lvl4pPr>
            <a:lvl5pPr marL="2057400" indent="-228600" eaLnBrk="0" hangingPunct="0">
              <a:defRPr kumimoji="1" sz="2800">
                <a:solidFill>
                  <a:schemeClr val="tx1"/>
                </a:solidFill>
                <a:latin typeface="Comic Sans MS" pitchFamily="66" charset="0"/>
                <a:ea typeface="宋体" pitchFamily="2" charset="-122"/>
              </a:defRPr>
            </a:lvl5pPr>
            <a:lvl6pPr marL="2514600" indent="-228600" algn="ctr" eaLnBrk="0" fontAlgn="base" hangingPunct="0">
              <a:spcBef>
                <a:spcPct val="0"/>
              </a:spcBef>
              <a:spcAft>
                <a:spcPct val="0"/>
              </a:spcAft>
              <a:defRPr kumimoji="1" sz="2800">
                <a:solidFill>
                  <a:schemeClr val="tx1"/>
                </a:solidFill>
                <a:latin typeface="Comic Sans MS" pitchFamily="66" charset="0"/>
                <a:ea typeface="宋体" pitchFamily="2" charset="-122"/>
              </a:defRPr>
            </a:lvl6pPr>
            <a:lvl7pPr marL="2971800" indent="-228600" algn="ctr" eaLnBrk="0" fontAlgn="base" hangingPunct="0">
              <a:spcBef>
                <a:spcPct val="0"/>
              </a:spcBef>
              <a:spcAft>
                <a:spcPct val="0"/>
              </a:spcAft>
              <a:defRPr kumimoji="1" sz="2800">
                <a:solidFill>
                  <a:schemeClr val="tx1"/>
                </a:solidFill>
                <a:latin typeface="Comic Sans MS" pitchFamily="66" charset="0"/>
                <a:ea typeface="宋体" pitchFamily="2" charset="-122"/>
              </a:defRPr>
            </a:lvl7pPr>
            <a:lvl8pPr marL="3429000" indent="-228600" algn="ctr" eaLnBrk="0" fontAlgn="base" hangingPunct="0">
              <a:spcBef>
                <a:spcPct val="0"/>
              </a:spcBef>
              <a:spcAft>
                <a:spcPct val="0"/>
              </a:spcAft>
              <a:defRPr kumimoji="1" sz="2800">
                <a:solidFill>
                  <a:schemeClr val="tx1"/>
                </a:solidFill>
                <a:latin typeface="Comic Sans MS" pitchFamily="66" charset="0"/>
                <a:ea typeface="宋体" pitchFamily="2" charset="-122"/>
              </a:defRPr>
            </a:lvl8pPr>
            <a:lvl9pPr marL="3886200" indent="-228600" algn="ctr" eaLnBrk="0" fontAlgn="base" hangingPunct="0">
              <a:spcBef>
                <a:spcPct val="0"/>
              </a:spcBef>
              <a:spcAft>
                <a:spcPct val="0"/>
              </a:spcAft>
              <a:defRPr kumimoji="1" sz="2800">
                <a:solidFill>
                  <a:schemeClr val="tx1"/>
                </a:solidFill>
                <a:latin typeface="Comic Sans MS" pitchFamily="66" charset="0"/>
                <a:ea typeface="宋体" pitchFamily="2" charset="-122"/>
              </a:defRPr>
            </a:lvl9pPr>
          </a:lstStyle>
          <a:p>
            <a:pPr marL="0" indent="0" algn="just">
              <a:spcBef>
                <a:spcPct val="20000"/>
              </a:spcBef>
            </a:pPr>
            <a:r>
              <a:rPr lang="en-US" altLang="zh-CN" sz="2200" dirty="0" err="1">
                <a:latin typeface="Times New Roman" pitchFamily="18" charset="0"/>
                <a:ea typeface="黑体" pitchFamily="49" charset="-122"/>
                <a:cs typeface="Times New Roman" pitchFamily="18" charset="0"/>
              </a:rPr>
              <a:t>Dijkstra</a:t>
            </a:r>
            <a:r>
              <a:rPr lang="zh-CN" altLang="en-US" sz="2200" dirty="0">
                <a:latin typeface="黑体" pitchFamily="49" charset="-122"/>
                <a:ea typeface="黑体" pitchFamily="49" charset="-122"/>
                <a:cs typeface="经典粗黑简" pitchFamily="49" charset="-122"/>
              </a:rPr>
              <a:t>算法</a:t>
            </a:r>
            <a:r>
              <a:rPr lang="en-US" altLang="zh-CN" sz="2200" dirty="0">
                <a:latin typeface="黑体" pitchFamily="49" charset="-122"/>
                <a:ea typeface="黑体" pitchFamily="49" charset="-122"/>
                <a:cs typeface="经典粗黑简" pitchFamily="49" charset="-122"/>
              </a:rPr>
              <a:t>(</a:t>
            </a:r>
            <a:r>
              <a:rPr lang="en-US" altLang="zh-CN" sz="2200" dirty="0">
                <a:latin typeface="Times New Roman" pitchFamily="18" charset="0"/>
                <a:ea typeface="黑体" pitchFamily="49" charset="-122"/>
                <a:cs typeface="Times New Roman" pitchFamily="18" charset="0"/>
              </a:rPr>
              <a:t>1959</a:t>
            </a:r>
            <a:r>
              <a:rPr lang="en-US" altLang="zh-CN" sz="2200" dirty="0">
                <a:latin typeface="黑体" pitchFamily="49" charset="-122"/>
                <a:ea typeface="黑体" pitchFamily="49" charset="-122"/>
                <a:cs typeface="经典粗黑简" pitchFamily="49" charset="-122"/>
              </a:rPr>
              <a:t>)</a:t>
            </a:r>
            <a:r>
              <a:rPr lang="zh-CN" altLang="en-US" sz="2200" dirty="0">
                <a:latin typeface="黑体" pitchFamily="49" charset="-122"/>
                <a:ea typeface="黑体" pitchFamily="49" charset="-122"/>
                <a:cs typeface="经典粗黑简" pitchFamily="49" charset="-122"/>
              </a:rPr>
              <a:t>的基本思想</a:t>
            </a:r>
          </a:p>
          <a:p>
            <a:pPr lvl="1" algn="just">
              <a:spcBef>
                <a:spcPct val="20000"/>
              </a:spcBef>
              <a:buFont typeface="Wingdings" pitchFamily="2" charset="2"/>
              <a:buChar char="Ø"/>
            </a:pPr>
            <a:r>
              <a:rPr lang="zh-CN" altLang="en-US" sz="2200" dirty="0">
                <a:solidFill>
                  <a:srgbClr val="FF0000"/>
                </a:solidFill>
                <a:latin typeface="黑体" pitchFamily="49" charset="-122"/>
                <a:ea typeface="黑体" pitchFamily="49" charset="-122"/>
                <a:cs typeface="经典粗黑简" pitchFamily="49" charset="-122"/>
              </a:rPr>
              <a:t>按路径长度递增顺序</a:t>
            </a:r>
            <a:r>
              <a:rPr lang="zh-CN" altLang="en-US" sz="2200" dirty="0">
                <a:latin typeface="黑体" pitchFamily="49" charset="-122"/>
                <a:ea typeface="黑体" pitchFamily="49" charset="-122"/>
                <a:cs typeface="经典粗黑简" pitchFamily="49" charset="-122"/>
              </a:rPr>
              <a:t>求最短路径算法。</a:t>
            </a:r>
          </a:p>
        </p:txBody>
      </p:sp>
      <p:sp>
        <p:nvSpPr>
          <p:cNvPr id="9" name="Rectangle 2">
            <a:extLst>
              <a:ext uri="{FF2B5EF4-FFF2-40B4-BE49-F238E27FC236}">
                <a16:creationId xmlns:a16="http://schemas.microsoft.com/office/drawing/2014/main" id="{EE111142-E43B-B8E4-332E-2212FDC94D84}"/>
              </a:ext>
            </a:extLst>
          </p:cNvPr>
          <p:cNvSpPr txBox="1">
            <a:spLocks noChangeArrowheads="1"/>
          </p:cNvSpPr>
          <p:nvPr/>
        </p:nvSpPr>
        <p:spPr>
          <a:xfrm>
            <a:off x="474771" y="1230902"/>
            <a:ext cx="10949819"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8.5.2 </a:t>
            </a:r>
            <a:r>
              <a:rPr lang="zh-CN" altLang="en-US" dirty="0"/>
              <a:t>从一个顶点到其余各顶点的最短路径（单源点最短路径问题）</a:t>
            </a:r>
          </a:p>
        </p:txBody>
      </p:sp>
      <p:cxnSp>
        <p:nvCxnSpPr>
          <p:cNvPr id="10" name="直接连接符 9">
            <a:extLst>
              <a:ext uri="{FF2B5EF4-FFF2-40B4-BE49-F238E27FC236}">
                <a16:creationId xmlns:a16="http://schemas.microsoft.com/office/drawing/2014/main" id="{7B859210-F288-77A8-5022-B5FAE7CCF268}"/>
              </a:ext>
            </a:extLst>
          </p:cNvPr>
          <p:cNvCxnSpPr>
            <a:cxnSpLocks/>
          </p:cNvCxnSpPr>
          <p:nvPr/>
        </p:nvCxnSpPr>
        <p:spPr>
          <a:xfrm>
            <a:off x="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11" name="矩形 10">
            <a:extLst>
              <a:ext uri="{FF2B5EF4-FFF2-40B4-BE49-F238E27FC236}">
                <a16:creationId xmlns:a16="http://schemas.microsoft.com/office/drawing/2014/main" id="{4EC408FA-00D4-1ADC-01C0-7FECEE02A0BF}"/>
              </a:ext>
            </a:extLst>
          </p:cNvPr>
          <p:cNvSpPr/>
          <p:nvPr/>
        </p:nvSpPr>
        <p:spPr>
          <a:xfrm>
            <a:off x="3394075" y="399838"/>
            <a:ext cx="4617860"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8.5 </a:t>
            </a:r>
            <a:r>
              <a:rPr lang="zh-CN" altLang="en-US" sz="3000" b="1" dirty="0">
                <a:latin typeface="黑体" pitchFamily="49" charset="-122"/>
                <a:ea typeface="黑体" pitchFamily="49" charset="-122"/>
                <a:cs typeface="经典粗黑简" pitchFamily="49" charset="-122"/>
              </a:rPr>
              <a:t>最短路径</a:t>
            </a:r>
          </a:p>
        </p:txBody>
      </p:sp>
      <p:sp>
        <p:nvSpPr>
          <p:cNvPr id="18" name="Text Box 4">
            <a:extLst>
              <a:ext uri="{FF2B5EF4-FFF2-40B4-BE49-F238E27FC236}">
                <a16:creationId xmlns:a16="http://schemas.microsoft.com/office/drawing/2014/main" id="{A51058C5-1EA6-E0D2-B795-623F91427250}"/>
              </a:ext>
            </a:extLst>
          </p:cNvPr>
          <p:cNvSpPr txBox="1">
            <a:spLocks noChangeArrowheads="1"/>
          </p:cNvSpPr>
          <p:nvPr/>
        </p:nvSpPr>
        <p:spPr bwMode="auto">
          <a:xfrm>
            <a:off x="1388265" y="1922692"/>
            <a:ext cx="5355805" cy="461665"/>
          </a:xfrm>
          <a:prstGeom prst="rect">
            <a:avLst/>
          </a:prstGeom>
          <a:noFill/>
          <a:ln w="38100" algn="ctr">
            <a:noFill/>
            <a:miter lim="800000"/>
            <a:headEnd/>
            <a:tailEnd type="none" w="med" len="lg"/>
          </a:ln>
          <a:effectLst/>
        </p:spPr>
        <p:txBody>
          <a:bodyPr wrap="square">
            <a:spAutoFit/>
          </a:bodyPr>
          <a:lstStyle/>
          <a:p>
            <a:r>
              <a:rPr lang="zh-CN" altLang="en-US" sz="2400" b="1" dirty="0">
                <a:latin typeface="黑体" pitchFamily="49" charset="-122"/>
                <a:ea typeface="黑体" pitchFamily="49" charset="-122"/>
                <a:cs typeface="经典粗黑简" pitchFamily="49" charset="-122"/>
              </a:rPr>
              <a:t>单源最短路径问题：</a:t>
            </a:r>
            <a:r>
              <a:rPr lang="en-US" altLang="zh-CN" sz="2400" b="1" dirty="0" err="1">
                <a:latin typeface="黑体" pitchFamily="49" charset="-122"/>
                <a:ea typeface="黑体" pitchFamily="49" charset="-122"/>
                <a:cs typeface="经典粗黑简" pitchFamily="49" charset="-122"/>
              </a:rPr>
              <a:t>Dijkstra</a:t>
            </a:r>
            <a:r>
              <a:rPr lang="zh-CN" altLang="en-US" sz="2400" b="1" dirty="0">
                <a:latin typeface="黑体" pitchFamily="49" charset="-122"/>
                <a:ea typeface="黑体" pitchFamily="49" charset="-122"/>
                <a:cs typeface="经典粗黑简" pitchFamily="49" charset="-122"/>
              </a:rPr>
              <a:t>算法</a:t>
            </a:r>
          </a:p>
        </p:txBody>
      </p:sp>
      <p:sp>
        <p:nvSpPr>
          <p:cNvPr id="19" name="Text Box 6">
            <a:extLst>
              <a:ext uri="{FF2B5EF4-FFF2-40B4-BE49-F238E27FC236}">
                <a16:creationId xmlns:a16="http://schemas.microsoft.com/office/drawing/2014/main" id="{E6658B36-A033-91DE-770A-501F1E3D8FA9}"/>
              </a:ext>
            </a:extLst>
          </p:cNvPr>
          <p:cNvSpPr txBox="1">
            <a:spLocks noChangeArrowheads="1"/>
          </p:cNvSpPr>
          <p:nvPr/>
        </p:nvSpPr>
        <p:spPr bwMode="auto">
          <a:xfrm>
            <a:off x="6387957" y="5876628"/>
            <a:ext cx="5690257" cy="400110"/>
          </a:xfrm>
          <a:prstGeom prst="rect">
            <a:avLst/>
          </a:prstGeom>
          <a:noFill/>
          <a:ln w="9525">
            <a:noFill/>
            <a:miter lim="800000"/>
            <a:headEnd/>
            <a:tailEnd/>
          </a:ln>
          <a:effectLst/>
        </p:spPr>
        <p:txBody>
          <a:bodyPr wrap="square">
            <a:spAutoFit/>
          </a:bodyPr>
          <a:lstStyle/>
          <a:p>
            <a:r>
              <a:rPr kumimoji="1" lang="zh-CN" altLang="en-US" sz="2000" dirty="0">
                <a:latin typeface="Consolas" pitchFamily="49" charset="0"/>
                <a:ea typeface="楷体" pitchFamily="49" charset="-122"/>
                <a:cs typeface="Consolas" pitchFamily="49" charset="0"/>
              </a:rPr>
              <a:t>顶点</a:t>
            </a:r>
            <a:r>
              <a:rPr kumimoji="1" lang="en-US" altLang="zh-CN" sz="2000" i="1" dirty="0">
                <a:latin typeface="Consolas" pitchFamily="49" charset="0"/>
                <a:ea typeface="楷体" pitchFamily="49" charset="-122"/>
                <a:cs typeface="Consolas" pitchFamily="49" charset="0"/>
              </a:rPr>
              <a:t>v </a:t>
            </a:r>
            <a:r>
              <a:rPr lang="en-US" altLang="zh-CN" sz="2000" dirty="0">
                <a:solidFill>
                  <a:srgbClr val="FF0000"/>
                </a:solidFill>
                <a:latin typeface="Consolas" pitchFamily="49" charset="0"/>
                <a:ea typeface="楷体" pitchFamily="49" charset="-122"/>
                <a:cs typeface="Consolas" pitchFamily="49" charset="0"/>
                <a:sym typeface="Wingdings"/>
              </a:rPr>
              <a:t> </a:t>
            </a:r>
            <a:r>
              <a:rPr kumimoji="1" lang="en-US" altLang="zh-CN" sz="2000" i="1" dirty="0">
                <a:latin typeface="Consolas" pitchFamily="49" charset="0"/>
                <a:ea typeface="楷体" pitchFamily="49" charset="-122"/>
                <a:cs typeface="Consolas" pitchFamily="49" charset="0"/>
              </a:rPr>
              <a:t>j</a:t>
            </a:r>
            <a:r>
              <a:rPr kumimoji="1" lang="zh-CN" altLang="en-US" sz="2000" dirty="0">
                <a:latin typeface="Consolas" pitchFamily="49" charset="0"/>
                <a:ea typeface="楷体" pitchFamily="49" charset="-122"/>
                <a:cs typeface="Consolas" pitchFamily="49" charset="0"/>
              </a:rPr>
              <a:t>的</a:t>
            </a:r>
            <a:r>
              <a:rPr kumimoji="1" lang="zh-CN" altLang="en-US" sz="2000" dirty="0">
                <a:solidFill>
                  <a:srgbClr val="1000E4"/>
                </a:solidFill>
                <a:latin typeface="Consolas" pitchFamily="49" charset="0"/>
                <a:ea typeface="楷体" pitchFamily="49" charset="-122"/>
                <a:cs typeface="Consolas" pitchFamily="49" charset="0"/>
              </a:rPr>
              <a:t>最短路径长度</a:t>
            </a:r>
            <a:r>
              <a:rPr kumimoji="1" lang="zh-CN" altLang="en-US" sz="2000" dirty="0">
                <a:latin typeface="Consolas" pitchFamily="49" charset="0"/>
                <a:ea typeface="楷体" pitchFamily="49" charset="-122"/>
                <a:cs typeface="Consolas" pitchFamily="49" charset="0"/>
              </a:rPr>
              <a:t>＝</a:t>
            </a:r>
            <a:r>
              <a:rPr kumimoji="1" lang="en-US" altLang="zh-CN" sz="2000" dirty="0">
                <a:solidFill>
                  <a:srgbClr val="FF0000"/>
                </a:solidFill>
                <a:latin typeface="Consolas" pitchFamily="49" charset="0"/>
                <a:ea typeface="楷体" pitchFamily="49" charset="-122"/>
                <a:cs typeface="Consolas" pitchFamily="49" charset="0"/>
              </a:rPr>
              <a:t>MIN</a:t>
            </a:r>
            <a:r>
              <a:rPr kumimoji="1" lang="en-US" altLang="zh-CN" sz="2000" dirty="0">
                <a:latin typeface="Consolas" pitchFamily="49" charset="0"/>
                <a:ea typeface="楷体" pitchFamily="49" charset="-122"/>
                <a:cs typeface="Consolas" pitchFamily="49" charset="0"/>
              </a:rPr>
              <a:t>(</a:t>
            </a:r>
            <a:r>
              <a:rPr kumimoji="1" lang="en-US" altLang="zh-CN" sz="2000" i="1" dirty="0" err="1">
                <a:latin typeface="Consolas" pitchFamily="49" charset="0"/>
                <a:ea typeface="楷体" pitchFamily="49" charset="-122"/>
                <a:cs typeface="Consolas" pitchFamily="49" charset="0"/>
              </a:rPr>
              <a:t>c</a:t>
            </a:r>
            <a:r>
              <a:rPr kumimoji="1" lang="en-US" altLang="zh-CN" sz="2000" i="1" baseline="-25000" dirty="0" err="1">
                <a:latin typeface="Consolas" pitchFamily="49" charset="0"/>
                <a:ea typeface="楷体" pitchFamily="49" charset="-122"/>
                <a:cs typeface="Consolas" pitchFamily="49" charset="0"/>
              </a:rPr>
              <a:t>vu</a:t>
            </a:r>
            <a:r>
              <a:rPr kumimoji="1" lang="en-US" altLang="zh-CN" sz="2000" dirty="0" err="1">
                <a:latin typeface="Consolas" pitchFamily="49" charset="0"/>
                <a:ea typeface="楷体" pitchFamily="49" charset="-122"/>
                <a:cs typeface="Consolas" pitchFamily="49" charset="0"/>
              </a:rPr>
              <a:t>+</a:t>
            </a:r>
            <a:r>
              <a:rPr kumimoji="1" lang="en-US" altLang="zh-CN" sz="2000" i="1" dirty="0" err="1">
                <a:latin typeface="Consolas" pitchFamily="49" charset="0"/>
                <a:ea typeface="楷体" pitchFamily="49" charset="-122"/>
                <a:cs typeface="Consolas" pitchFamily="49" charset="0"/>
              </a:rPr>
              <a:t>w</a:t>
            </a:r>
            <a:r>
              <a:rPr kumimoji="1" lang="en-US" altLang="zh-CN" sz="2000" i="1" baseline="-25000" dirty="0" err="1">
                <a:latin typeface="Consolas" pitchFamily="49" charset="0"/>
                <a:ea typeface="楷体" pitchFamily="49" charset="-122"/>
                <a:cs typeface="Consolas" pitchFamily="49" charset="0"/>
              </a:rPr>
              <a:t>uj</a:t>
            </a:r>
            <a:r>
              <a:rPr kumimoji="1" lang="zh-CN" altLang="en-US" sz="2000" dirty="0">
                <a:latin typeface="Consolas" pitchFamily="49" charset="0"/>
                <a:ea typeface="楷体" pitchFamily="49" charset="-122"/>
                <a:cs typeface="Consolas" pitchFamily="49" charset="0"/>
              </a:rPr>
              <a:t>，</a:t>
            </a:r>
            <a:r>
              <a:rPr kumimoji="1" lang="en-US" altLang="zh-CN" sz="2000" i="1" dirty="0" err="1">
                <a:latin typeface="Consolas" pitchFamily="49" charset="0"/>
                <a:ea typeface="楷体" pitchFamily="49" charset="-122"/>
                <a:cs typeface="Consolas" pitchFamily="49" charset="0"/>
              </a:rPr>
              <a:t>c</a:t>
            </a:r>
            <a:r>
              <a:rPr kumimoji="1" lang="en-US" altLang="zh-CN" sz="2000" i="1" baseline="-25000" dirty="0" err="1">
                <a:latin typeface="Consolas" pitchFamily="49" charset="0"/>
                <a:ea typeface="楷体" pitchFamily="49" charset="-122"/>
                <a:cs typeface="Consolas" pitchFamily="49" charset="0"/>
              </a:rPr>
              <a:t>vj</a:t>
            </a:r>
            <a:r>
              <a:rPr kumimoji="1" lang="en-US" altLang="zh-CN" sz="2000" dirty="0">
                <a:latin typeface="Consolas" pitchFamily="49" charset="0"/>
                <a:ea typeface="楷体" pitchFamily="49" charset="-122"/>
                <a:cs typeface="Consolas" pitchFamily="49" charset="0"/>
              </a:rPr>
              <a:t>)</a:t>
            </a:r>
          </a:p>
        </p:txBody>
      </p:sp>
      <p:sp>
        <p:nvSpPr>
          <p:cNvPr id="20" name="Oval 23">
            <a:extLst>
              <a:ext uri="{FF2B5EF4-FFF2-40B4-BE49-F238E27FC236}">
                <a16:creationId xmlns:a16="http://schemas.microsoft.com/office/drawing/2014/main" id="{DC3ECDFE-340F-D478-920D-6D8ECE34AC9B}"/>
              </a:ext>
            </a:extLst>
          </p:cNvPr>
          <p:cNvSpPr>
            <a:spLocks noChangeArrowheads="1"/>
          </p:cNvSpPr>
          <p:nvPr/>
        </p:nvSpPr>
        <p:spPr bwMode="auto">
          <a:xfrm>
            <a:off x="170757" y="3779240"/>
            <a:ext cx="1728787" cy="1512887"/>
          </a:xfrm>
          <a:prstGeom prst="ellipse">
            <a:avLst/>
          </a:prstGeom>
          <a:solidFill>
            <a:srgbClr val="FFFFFF">
              <a:alpha val="0"/>
            </a:srgbClr>
          </a:solidFill>
          <a:ln w="38100" algn="ctr">
            <a:solidFill>
              <a:srgbClr val="FF00FF"/>
            </a:solidFill>
            <a:prstDash val="sysDot"/>
            <a:round/>
            <a:headEnd/>
            <a:tailEnd type="none" w="med" len="lg"/>
          </a:ln>
          <a:effectLst/>
        </p:spPr>
        <p:txBody>
          <a:bodyPr wrap="none" anchor="ctr"/>
          <a:lstStyle/>
          <a:p>
            <a:endParaRPr lang="zh-CN" altLang="en-US">
              <a:latin typeface="Consolas" pitchFamily="49" charset="0"/>
              <a:cs typeface="Consolas" pitchFamily="49" charset="0"/>
            </a:endParaRPr>
          </a:p>
        </p:txBody>
      </p:sp>
      <p:sp>
        <p:nvSpPr>
          <p:cNvPr id="21" name="Text Box 24">
            <a:extLst>
              <a:ext uri="{FF2B5EF4-FFF2-40B4-BE49-F238E27FC236}">
                <a16:creationId xmlns:a16="http://schemas.microsoft.com/office/drawing/2014/main" id="{C842B533-FF39-07F7-90EE-D4914DF749F2}"/>
              </a:ext>
            </a:extLst>
          </p:cNvPr>
          <p:cNvSpPr txBox="1">
            <a:spLocks noChangeArrowheads="1"/>
          </p:cNvSpPr>
          <p:nvPr/>
        </p:nvSpPr>
        <p:spPr bwMode="auto">
          <a:xfrm>
            <a:off x="747019" y="3276002"/>
            <a:ext cx="576263" cy="276999"/>
          </a:xfrm>
          <a:prstGeom prst="rect">
            <a:avLst/>
          </a:prstGeom>
          <a:noFill/>
          <a:ln w="38100" algn="ctr">
            <a:noFill/>
            <a:miter lim="800000"/>
            <a:headEnd/>
            <a:tailEnd type="none" w="med" len="lg"/>
          </a:ln>
          <a:effectLst/>
        </p:spPr>
        <p:txBody>
          <a:bodyPr lIns="0" tIns="0" rIns="0" bIns="0">
            <a:spAutoFit/>
          </a:bodyPr>
          <a:lstStyle/>
          <a:p>
            <a:pPr algn="ctr"/>
            <a:r>
              <a:rPr lang="en-US" altLang="zh-CN" sz="1800">
                <a:latin typeface="Consolas" pitchFamily="49" charset="0"/>
                <a:cs typeface="Consolas" pitchFamily="49" charset="0"/>
              </a:rPr>
              <a:t>S</a:t>
            </a:r>
          </a:p>
        </p:txBody>
      </p:sp>
      <p:sp>
        <p:nvSpPr>
          <p:cNvPr id="22" name="Oval 25">
            <a:extLst>
              <a:ext uri="{FF2B5EF4-FFF2-40B4-BE49-F238E27FC236}">
                <a16:creationId xmlns:a16="http://schemas.microsoft.com/office/drawing/2014/main" id="{9BF78A4C-3865-525C-7DAC-45DCF8B2F61A}"/>
              </a:ext>
            </a:extLst>
          </p:cNvPr>
          <p:cNvSpPr>
            <a:spLocks noChangeArrowheads="1"/>
          </p:cNvSpPr>
          <p:nvPr/>
        </p:nvSpPr>
        <p:spPr bwMode="auto">
          <a:xfrm>
            <a:off x="548566" y="3903046"/>
            <a:ext cx="431800"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pPr algn="ctr">
              <a:spcBef>
                <a:spcPct val="0"/>
              </a:spcBef>
            </a:pPr>
            <a:r>
              <a:rPr lang="en-US" altLang="zh-CN" sz="2000" i="1" dirty="0">
                <a:solidFill>
                  <a:srgbClr val="3333FF"/>
                </a:solidFill>
                <a:latin typeface="Consolas" pitchFamily="49" charset="0"/>
                <a:cs typeface="Consolas" pitchFamily="49" charset="0"/>
              </a:rPr>
              <a:t>v</a:t>
            </a:r>
          </a:p>
        </p:txBody>
      </p:sp>
      <p:sp>
        <p:nvSpPr>
          <p:cNvPr id="24" name="Oval 26">
            <a:extLst>
              <a:ext uri="{FF2B5EF4-FFF2-40B4-BE49-F238E27FC236}">
                <a16:creationId xmlns:a16="http://schemas.microsoft.com/office/drawing/2014/main" id="{8D054C5C-BE30-B4DF-8011-D085F3FEB4B5}"/>
              </a:ext>
            </a:extLst>
          </p:cNvPr>
          <p:cNvSpPr>
            <a:spLocks noChangeArrowheads="1"/>
          </p:cNvSpPr>
          <p:nvPr/>
        </p:nvSpPr>
        <p:spPr bwMode="auto">
          <a:xfrm>
            <a:off x="2618682" y="3779240"/>
            <a:ext cx="1728787" cy="1512887"/>
          </a:xfrm>
          <a:prstGeom prst="ellipse">
            <a:avLst/>
          </a:prstGeom>
          <a:solidFill>
            <a:srgbClr val="FFFFFF">
              <a:alpha val="0"/>
            </a:srgbClr>
          </a:solidFill>
          <a:ln w="38100" algn="ctr">
            <a:solidFill>
              <a:srgbClr val="FF00FF"/>
            </a:solidFill>
            <a:prstDash val="sysDot"/>
            <a:round/>
            <a:headEnd/>
            <a:tailEnd type="none" w="med" len="lg"/>
          </a:ln>
          <a:effectLst/>
        </p:spPr>
        <p:txBody>
          <a:bodyPr wrap="none" anchor="ctr"/>
          <a:lstStyle/>
          <a:p>
            <a:endParaRPr lang="zh-CN" altLang="en-US">
              <a:latin typeface="Consolas" pitchFamily="49" charset="0"/>
              <a:cs typeface="Consolas" pitchFamily="49" charset="0"/>
            </a:endParaRPr>
          </a:p>
        </p:txBody>
      </p:sp>
      <p:sp>
        <p:nvSpPr>
          <p:cNvPr id="25" name="Text Box 27">
            <a:extLst>
              <a:ext uri="{FF2B5EF4-FFF2-40B4-BE49-F238E27FC236}">
                <a16:creationId xmlns:a16="http://schemas.microsoft.com/office/drawing/2014/main" id="{C40F9452-0FE8-4BF1-4015-344D6DB76B1F}"/>
              </a:ext>
            </a:extLst>
          </p:cNvPr>
          <p:cNvSpPr txBox="1">
            <a:spLocks noChangeArrowheads="1"/>
          </p:cNvSpPr>
          <p:nvPr/>
        </p:nvSpPr>
        <p:spPr bwMode="auto">
          <a:xfrm>
            <a:off x="2979044" y="3276002"/>
            <a:ext cx="1008063" cy="276999"/>
          </a:xfrm>
          <a:prstGeom prst="rect">
            <a:avLst/>
          </a:prstGeom>
          <a:noFill/>
          <a:ln w="38100" algn="ctr">
            <a:noFill/>
            <a:miter lim="800000"/>
            <a:headEnd/>
            <a:tailEnd type="none" w="med" len="lg"/>
          </a:ln>
          <a:effectLst/>
        </p:spPr>
        <p:txBody>
          <a:bodyPr lIns="0" tIns="0" rIns="0" bIns="0">
            <a:spAutoFit/>
          </a:bodyPr>
          <a:lstStyle/>
          <a:p>
            <a:pPr algn="ctr"/>
            <a:r>
              <a:rPr lang="en-US" altLang="zh-CN" sz="1800">
                <a:latin typeface="Consolas" pitchFamily="49" charset="0"/>
                <a:cs typeface="Consolas" pitchFamily="49" charset="0"/>
              </a:rPr>
              <a:t>U=V</a:t>
            </a:r>
            <a:r>
              <a:rPr lang="en-US" altLang="zh-CN" sz="1800">
                <a:latin typeface="Consolas" pitchFamily="49" charset="0"/>
                <a:ea typeface="宋体" pitchFamily="2" charset="-122"/>
                <a:cs typeface="Consolas" pitchFamily="49" charset="0"/>
              </a:rPr>
              <a:t>-</a:t>
            </a:r>
            <a:r>
              <a:rPr lang="en-US" altLang="zh-CN" sz="1800">
                <a:latin typeface="Consolas" pitchFamily="49" charset="0"/>
                <a:cs typeface="Consolas" pitchFamily="49" charset="0"/>
              </a:rPr>
              <a:t>S</a:t>
            </a:r>
          </a:p>
        </p:txBody>
      </p:sp>
      <p:sp>
        <p:nvSpPr>
          <p:cNvPr id="26" name="Oval 28">
            <a:extLst>
              <a:ext uri="{FF2B5EF4-FFF2-40B4-BE49-F238E27FC236}">
                <a16:creationId xmlns:a16="http://schemas.microsoft.com/office/drawing/2014/main" id="{A6589C9F-3CB8-FF26-0E45-935DE6337C8E}"/>
              </a:ext>
            </a:extLst>
          </p:cNvPr>
          <p:cNvSpPr>
            <a:spLocks noChangeArrowheads="1"/>
          </p:cNvSpPr>
          <p:nvPr/>
        </p:nvSpPr>
        <p:spPr bwMode="auto">
          <a:xfrm>
            <a:off x="1178819" y="4606316"/>
            <a:ext cx="431800" cy="431800"/>
          </a:xfrm>
          <a:prstGeom prst="ellipse">
            <a:avLst/>
          </a:prstGeom>
          <a:ln>
            <a:headEnd/>
            <a:tailEnd type="none" w="med" len="lg"/>
          </a:ln>
        </p:spPr>
        <p:style>
          <a:lnRef idx="1">
            <a:schemeClr val="accent4"/>
          </a:lnRef>
          <a:fillRef idx="2">
            <a:schemeClr val="accent4"/>
          </a:fillRef>
          <a:effectRef idx="1">
            <a:schemeClr val="accent4"/>
          </a:effectRef>
          <a:fontRef idx="minor">
            <a:schemeClr val="dk1"/>
          </a:fontRef>
        </p:style>
        <p:txBody>
          <a:bodyPr wrap="none" anchor="ctr"/>
          <a:lstStyle/>
          <a:p>
            <a:pPr algn="ctr">
              <a:spcBef>
                <a:spcPct val="0"/>
              </a:spcBef>
            </a:pPr>
            <a:r>
              <a:rPr lang="en-US" altLang="zh-CN" sz="2000" i="1" dirty="0">
                <a:solidFill>
                  <a:srgbClr val="3333FF"/>
                </a:solidFill>
                <a:latin typeface="Consolas" pitchFamily="49" charset="0"/>
                <a:cs typeface="Consolas" pitchFamily="49" charset="0"/>
              </a:rPr>
              <a:t>u</a:t>
            </a:r>
          </a:p>
        </p:txBody>
      </p:sp>
      <p:sp>
        <p:nvSpPr>
          <p:cNvPr id="27" name="Oval 29">
            <a:extLst>
              <a:ext uri="{FF2B5EF4-FFF2-40B4-BE49-F238E27FC236}">
                <a16:creationId xmlns:a16="http://schemas.microsoft.com/office/drawing/2014/main" id="{745D22C2-7018-3FFA-B87C-82C83D558C51}"/>
              </a:ext>
            </a:extLst>
          </p:cNvPr>
          <p:cNvSpPr>
            <a:spLocks noChangeArrowheads="1"/>
          </p:cNvSpPr>
          <p:nvPr/>
        </p:nvSpPr>
        <p:spPr bwMode="auto">
          <a:xfrm>
            <a:off x="3482282" y="4642840"/>
            <a:ext cx="431800"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pPr algn="ctr">
              <a:spcBef>
                <a:spcPct val="0"/>
              </a:spcBef>
            </a:pPr>
            <a:endParaRPr lang="zh-CN" altLang="zh-CN" sz="2000" i="1">
              <a:solidFill>
                <a:srgbClr val="3333FF"/>
              </a:solidFill>
              <a:latin typeface="Consolas" pitchFamily="49" charset="0"/>
              <a:cs typeface="Consolas" pitchFamily="49" charset="0"/>
            </a:endParaRPr>
          </a:p>
        </p:txBody>
      </p:sp>
      <p:sp>
        <p:nvSpPr>
          <p:cNvPr id="28" name="Oval 30">
            <a:extLst>
              <a:ext uri="{FF2B5EF4-FFF2-40B4-BE49-F238E27FC236}">
                <a16:creationId xmlns:a16="http://schemas.microsoft.com/office/drawing/2014/main" id="{65386FCB-C89F-73D2-164D-8924725BD9AC}"/>
              </a:ext>
            </a:extLst>
          </p:cNvPr>
          <p:cNvSpPr>
            <a:spLocks noChangeArrowheads="1"/>
          </p:cNvSpPr>
          <p:nvPr/>
        </p:nvSpPr>
        <p:spPr bwMode="auto">
          <a:xfrm>
            <a:off x="2907607" y="4139602"/>
            <a:ext cx="431800"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pPr algn="ctr">
              <a:spcBef>
                <a:spcPct val="0"/>
              </a:spcBef>
            </a:pPr>
            <a:r>
              <a:rPr lang="en-US" altLang="zh-CN" sz="2000" i="1">
                <a:solidFill>
                  <a:srgbClr val="3333FF"/>
                </a:solidFill>
                <a:latin typeface="Consolas" pitchFamily="49" charset="0"/>
                <a:cs typeface="Consolas" pitchFamily="49" charset="0"/>
              </a:rPr>
              <a:t>j</a:t>
            </a:r>
          </a:p>
        </p:txBody>
      </p:sp>
      <p:sp>
        <p:nvSpPr>
          <p:cNvPr id="29" name="Oval 31">
            <a:extLst>
              <a:ext uri="{FF2B5EF4-FFF2-40B4-BE49-F238E27FC236}">
                <a16:creationId xmlns:a16="http://schemas.microsoft.com/office/drawing/2014/main" id="{ED64F7E8-BFDF-BFA4-9401-22D4F11AAA32}"/>
              </a:ext>
            </a:extLst>
          </p:cNvPr>
          <p:cNvSpPr>
            <a:spLocks noChangeArrowheads="1"/>
          </p:cNvSpPr>
          <p:nvPr/>
        </p:nvSpPr>
        <p:spPr bwMode="auto">
          <a:xfrm>
            <a:off x="3555307" y="4068165"/>
            <a:ext cx="431800"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pPr algn="ctr">
              <a:spcBef>
                <a:spcPct val="0"/>
              </a:spcBef>
            </a:pPr>
            <a:endParaRPr lang="zh-CN" altLang="zh-CN" sz="2000" i="1">
              <a:solidFill>
                <a:srgbClr val="3333FF"/>
              </a:solidFill>
              <a:latin typeface="Consolas" pitchFamily="49" charset="0"/>
              <a:cs typeface="Consolas" pitchFamily="49" charset="0"/>
            </a:endParaRPr>
          </a:p>
        </p:txBody>
      </p:sp>
      <p:sp>
        <p:nvSpPr>
          <p:cNvPr id="30" name="Line 32">
            <a:extLst>
              <a:ext uri="{FF2B5EF4-FFF2-40B4-BE49-F238E27FC236}">
                <a16:creationId xmlns:a16="http://schemas.microsoft.com/office/drawing/2014/main" id="{CCB91A4B-8169-4380-27ED-E38CBA013375}"/>
              </a:ext>
            </a:extLst>
          </p:cNvPr>
          <p:cNvSpPr>
            <a:spLocks noChangeShapeType="1"/>
          </p:cNvSpPr>
          <p:nvPr/>
        </p:nvSpPr>
        <p:spPr bwMode="auto">
          <a:xfrm flipV="1">
            <a:off x="1620135" y="4428526"/>
            <a:ext cx="1287471" cy="323837"/>
          </a:xfrm>
          <a:prstGeom prst="line">
            <a:avLst/>
          </a:prstGeom>
          <a:noFill/>
          <a:ln w="28575">
            <a:solidFill>
              <a:srgbClr val="FF0000"/>
            </a:solidFill>
            <a:round/>
            <a:headEnd/>
            <a:tailEnd type="stealth" w="med" len="lg"/>
          </a:ln>
          <a:effectLst/>
        </p:spPr>
        <p:txBody>
          <a:bodyPr wrap="none"/>
          <a:lstStyle/>
          <a:p>
            <a:endParaRPr lang="zh-CN" altLang="en-US">
              <a:latin typeface="Consolas" pitchFamily="49" charset="0"/>
              <a:cs typeface="Consolas" pitchFamily="49" charset="0"/>
            </a:endParaRPr>
          </a:p>
        </p:txBody>
      </p:sp>
      <p:sp>
        <p:nvSpPr>
          <p:cNvPr id="31" name="Line 33">
            <a:extLst>
              <a:ext uri="{FF2B5EF4-FFF2-40B4-BE49-F238E27FC236}">
                <a16:creationId xmlns:a16="http://schemas.microsoft.com/office/drawing/2014/main" id="{B16ADD32-3883-714E-C425-BFAA6B291EDF}"/>
              </a:ext>
            </a:extLst>
          </p:cNvPr>
          <p:cNvSpPr>
            <a:spLocks noChangeShapeType="1"/>
          </p:cNvSpPr>
          <p:nvPr/>
        </p:nvSpPr>
        <p:spPr bwMode="auto">
          <a:xfrm>
            <a:off x="977194" y="4109422"/>
            <a:ext cx="1930413" cy="174643"/>
          </a:xfrm>
          <a:prstGeom prst="line">
            <a:avLst/>
          </a:prstGeom>
          <a:noFill/>
          <a:ln w="38100">
            <a:solidFill>
              <a:srgbClr val="339966"/>
            </a:solidFill>
            <a:prstDash val="dash"/>
            <a:round/>
            <a:headEnd/>
            <a:tailEnd type="stealth" w="med" len="lg"/>
          </a:ln>
          <a:effectLst/>
        </p:spPr>
        <p:txBody>
          <a:bodyPr wrap="none"/>
          <a:lstStyle/>
          <a:p>
            <a:endParaRPr lang="zh-CN" altLang="en-US">
              <a:latin typeface="Consolas" pitchFamily="49" charset="0"/>
              <a:cs typeface="Consolas" pitchFamily="49" charset="0"/>
            </a:endParaRPr>
          </a:p>
        </p:txBody>
      </p:sp>
      <p:sp>
        <p:nvSpPr>
          <p:cNvPr id="32" name="Line 38">
            <a:extLst>
              <a:ext uri="{FF2B5EF4-FFF2-40B4-BE49-F238E27FC236}">
                <a16:creationId xmlns:a16="http://schemas.microsoft.com/office/drawing/2014/main" id="{5EFD3627-ECB7-A2C4-D5C9-B35D92DA7302}"/>
              </a:ext>
            </a:extLst>
          </p:cNvPr>
          <p:cNvSpPr>
            <a:spLocks noChangeShapeType="1"/>
          </p:cNvSpPr>
          <p:nvPr/>
        </p:nvSpPr>
        <p:spPr bwMode="auto">
          <a:xfrm>
            <a:off x="905756" y="4323736"/>
            <a:ext cx="357190" cy="357190"/>
          </a:xfrm>
          <a:prstGeom prst="line">
            <a:avLst/>
          </a:prstGeom>
          <a:noFill/>
          <a:ln w="38100">
            <a:solidFill>
              <a:srgbClr val="339966"/>
            </a:solidFill>
            <a:prstDash val="sysDash"/>
            <a:round/>
            <a:headEnd/>
            <a:tailEnd type="stealth" w="med" len="lg"/>
          </a:ln>
          <a:effectLst/>
        </p:spPr>
        <p:txBody>
          <a:bodyPr wrap="none"/>
          <a:lstStyle/>
          <a:p>
            <a:endParaRPr lang="zh-CN" altLang="en-US">
              <a:latin typeface="Consolas" pitchFamily="49" charset="0"/>
              <a:cs typeface="Consolas" pitchFamily="49" charset="0"/>
            </a:endParaRPr>
          </a:p>
        </p:txBody>
      </p:sp>
      <p:grpSp>
        <p:nvGrpSpPr>
          <p:cNvPr id="34" name="组合 33">
            <a:extLst>
              <a:ext uri="{FF2B5EF4-FFF2-40B4-BE49-F238E27FC236}">
                <a16:creationId xmlns:a16="http://schemas.microsoft.com/office/drawing/2014/main" id="{BBD1C747-138A-793B-0C36-1655A9A89A42}"/>
              </a:ext>
            </a:extLst>
          </p:cNvPr>
          <p:cNvGrpSpPr/>
          <p:nvPr/>
        </p:nvGrpSpPr>
        <p:grpSpPr>
          <a:xfrm>
            <a:off x="6800243" y="2833794"/>
            <a:ext cx="4414043" cy="2580719"/>
            <a:chOff x="1813720" y="2776538"/>
            <a:chExt cx="4414043" cy="2580719"/>
          </a:xfrm>
        </p:grpSpPr>
        <p:sp>
          <p:nvSpPr>
            <p:cNvPr id="40" name="Oval 7">
              <a:extLst>
                <a:ext uri="{FF2B5EF4-FFF2-40B4-BE49-F238E27FC236}">
                  <a16:creationId xmlns:a16="http://schemas.microsoft.com/office/drawing/2014/main" id="{70A331E5-961D-48B3-7323-673CE801A911}"/>
                </a:ext>
              </a:extLst>
            </p:cNvPr>
            <p:cNvSpPr>
              <a:spLocks noChangeArrowheads="1"/>
            </p:cNvSpPr>
            <p:nvPr/>
          </p:nvSpPr>
          <p:spPr bwMode="auto">
            <a:xfrm>
              <a:off x="3994151" y="2776538"/>
              <a:ext cx="504825" cy="576262"/>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pPr algn="ctr">
                <a:spcBef>
                  <a:spcPct val="0"/>
                </a:spcBef>
              </a:pPr>
              <a:r>
                <a:rPr lang="en-US" altLang="zh-CN" sz="2000" i="1" dirty="0">
                  <a:solidFill>
                    <a:srgbClr val="3333FF"/>
                  </a:solidFill>
                  <a:latin typeface="Consolas" pitchFamily="49" charset="0"/>
                  <a:cs typeface="Consolas" pitchFamily="49" charset="0"/>
                </a:rPr>
                <a:t>u</a:t>
              </a:r>
            </a:p>
          </p:txBody>
        </p:sp>
        <p:sp>
          <p:nvSpPr>
            <p:cNvPr id="41" name="Oval 8">
              <a:extLst>
                <a:ext uri="{FF2B5EF4-FFF2-40B4-BE49-F238E27FC236}">
                  <a16:creationId xmlns:a16="http://schemas.microsoft.com/office/drawing/2014/main" id="{F44E020D-7D49-1C8D-5A71-0A1101292352}"/>
                </a:ext>
              </a:extLst>
            </p:cNvPr>
            <p:cNvSpPr>
              <a:spLocks noChangeArrowheads="1"/>
            </p:cNvSpPr>
            <p:nvPr/>
          </p:nvSpPr>
          <p:spPr bwMode="auto">
            <a:xfrm>
              <a:off x="2338388" y="4289425"/>
              <a:ext cx="504825" cy="576262"/>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pPr algn="ctr">
                <a:spcBef>
                  <a:spcPct val="0"/>
                </a:spcBef>
              </a:pPr>
              <a:r>
                <a:rPr lang="en-US" altLang="zh-CN" sz="2000" i="1">
                  <a:solidFill>
                    <a:srgbClr val="3333FF"/>
                  </a:solidFill>
                  <a:latin typeface="Consolas" pitchFamily="49" charset="0"/>
                  <a:cs typeface="Consolas" pitchFamily="49" charset="0"/>
                </a:rPr>
                <a:t>v</a:t>
              </a:r>
            </a:p>
          </p:txBody>
        </p:sp>
        <p:sp>
          <p:nvSpPr>
            <p:cNvPr id="42" name="Oval 9">
              <a:extLst>
                <a:ext uri="{FF2B5EF4-FFF2-40B4-BE49-F238E27FC236}">
                  <a16:creationId xmlns:a16="http://schemas.microsoft.com/office/drawing/2014/main" id="{EF390240-C228-16B7-8D71-38A72FAB1DD3}"/>
                </a:ext>
              </a:extLst>
            </p:cNvPr>
            <p:cNvSpPr>
              <a:spLocks noChangeArrowheads="1"/>
            </p:cNvSpPr>
            <p:nvPr/>
          </p:nvSpPr>
          <p:spPr bwMode="auto">
            <a:xfrm>
              <a:off x="5722938" y="4289425"/>
              <a:ext cx="504825" cy="576262"/>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pPr algn="ctr">
                <a:spcBef>
                  <a:spcPct val="0"/>
                </a:spcBef>
              </a:pPr>
              <a:r>
                <a:rPr lang="en-US" altLang="zh-CN" sz="2000" i="1">
                  <a:solidFill>
                    <a:srgbClr val="3333FF"/>
                  </a:solidFill>
                  <a:latin typeface="Consolas" pitchFamily="49" charset="0"/>
                  <a:cs typeface="Consolas" pitchFamily="49" charset="0"/>
                </a:rPr>
                <a:t>j</a:t>
              </a:r>
            </a:p>
          </p:txBody>
        </p:sp>
        <p:sp>
          <p:nvSpPr>
            <p:cNvPr id="43" name="Freeform 10">
              <a:extLst>
                <a:ext uri="{FF2B5EF4-FFF2-40B4-BE49-F238E27FC236}">
                  <a16:creationId xmlns:a16="http://schemas.microsoft.com/office/drawing/2014/main" id="{A2C4CBCC-7C52-D55F-B7EF-F24F24E30652}"/>
                </a:ext>
              </a:extLst>
            </p:cNvPr>
            <p:cNvSpPr>
              <a:spLocks/>
            </p:cNvSpPr>
            <p:nvPr/>
          </p:nvSpPr>
          <p:spPr bwMode="auto">
            <a:xfrm>
              <a:off x="4473576" y="3176588"/>
              <a:ext cx="1320800" cy="1181100"/>
            </a:xfrm>
            <a:custGeom>
              <a:avLst/>
              <a:gdLst/>
              <a:ahLst/>
              <a:cxnLst>
                <a:cxn ang="0">
                  <a:pos x="0" y="0"/>
                </a:cxn>
                <a:cxn ang="0">
                  <a:pos x="832" y="744"/>
                </a:cxn>
              </a:cxnLst>
              <a:rect l="0" t="0" r="r" b="b"/>
              <a:pathLst>
                <a:path w="832" h="744">
                  <a:moveTo>
                    <a:pt x="0" y="0"/>
                  </a:moveTo>
                  <a:lnTo>
                    <a:pt x="832" y="744"/>
                  </a:lnTo>
                </a:path>
              </a:pathLst>
            </a:custGeom>
            <a:ln>
              <a:headEnd type="none" w="med" len="med"/>
              <a:tailEnd type="stealth" w="med" len="lg"/>
            </a:ln>
          </p:spPr>
          <p:style>
            <a:lnRef idx="2">
              <a:schemeClr val="accent2"/>
            </a:lnRef>
            <a:fillRef idx="0">
              <a:schemeClr val="accent2"/>
            </a:fillRef>
            <a:effectRef idx="1">
              <a:schemeClr val="accent2"/>
            </a:effectRef>
            <a:fontRef idx="minor">
              <a:schemeClr val="tx1"/>
            </a:fontRef>
          </p:style>
          <p:txBody>
            <a:bodyPr wrap="none"/>
            <a:lstStyle/>
            <a:p>
              <a:endParaRPr lang="zh-CN" altLang="en-US">
                <a:latin typeface="Consolas" pitchFamily="49" charset="0"/>
                <a:cs typeface="Consolas" pitchFamily="49" charset="0"/>
              </a:endParaRPr>
            </a:p>
          </p:txBody>
        </p:sp>
        <p:sp>
          <p:nvSpPr>
            <p:cNvPr id="44" name="Freeform 11">
              <a:extLst>
                <a:ext uri="{FF2B5EF4-FFF2-40B4-BE49-F238E27FC236}">
                  <a16:creationId xmlns:a16="http://schemas.microsoft.com/office/drawing/2014/main" id="{6BF63674-D478-229E-5BA0-C9F8847D07E3}"/>
                </a:ext>
              </a:extLst>
            </p:cNvPr>
            <p:cNvSpPr>
              <a:spLocks/>
            </p:cNvSpPr>
            <p:nvPr/>
          </p:nvSpPr>
          <p:spPr bwMode="auto">
            <a:xfrm>
              <a:off x="2724151" y="3976688"/>
              <a:ext cx="339725" cy="347662"/>
            </a:xfrm>
            <a:custGeom>
              <a:avLst/>
              <a:gdLst/>
              <a:ahLst/>
              <a:cxnLst>
                <a:cxn ang="0">
                  <a:pos x="0" y="219"/>
                </a:cxn>
                <a:cxn ang="0">
                  <a:pos x="214" y="0"/>
                </a:cxn>
              </a:cxnLst>
              <a:rect l="0" t="0" r="r" b="b"/>
              <a:pathLst>
                <a:path w="214" h="219">
                  <a:moveTo>
                    <a:pt x="0" y="219"/>
                  </a:moveTo>
                  <a:lnTo>
                    <a:pt x="214" y="0"/>
                  </a:lnTo>
                </a:path>
              </a:pathLst>
            </a:custGeom>
            <a:ln>
              <a:headEnd type="none" w="med" len="med"/>
              <a:tailEnd type="stealth" w="med" len="lg"/>
            </a:ln>
          </p:spPr>
          <p:style>
            <a:lnRef idx="2">
              <a:schemeClr val="accent5"/>
            </a:lnRef>
            <a:fillRef idx="0">
              <a:schemeClr val="accent5"/>
            </a:fillRef>
            <a:effectRef idx="1">
              <a:schemeClr val="accent5"/>
            </a:effectRef>
            <a:fontRef idx="minor">
              <a:schemeClr val="tx1"/>
            </a:fontRef>
          </p:style>
          <p:txBody>
            <a:bodyPr wrap="none"/>
            <a:lstStyle/>
            <a:p>
              <a:endParaRPr lang="zh-CN" altLang="en-US">
                <a:latin typeface="Consolas" pitchFamily="49" charset="0"/>
                <a:cs typeface="Consolas" pitchFamily="49" charset="0"/>
              </a:endParaRPr>
            </a:p>
          </p:txBody>
        </p:sp>
        <p:sp>
          <p:nvSpPr>
            <p:cNvPr id="45" name="Line 12">
              <a:extLst>
                <a:ext uri="{FF2B5EF4-FFF2-40B4-BE49-F238E27FC236}">
                  <a16:creationId xmlns:a16="http://schemas.microsoft.com/office/drawing/2014/main" id="{BB09A91B-B8D5-B07A-972E-B1FBB120C3F3}"/>
                </a:ext>
              </a:extLst>
            </p:cNvPr>
            <p:cNvSpPr>
              <a:spLocks noChangeShapeType="1"/>
            </p:cNvSpPr>
            <p:nvPr/>
          </p:nvSpPr>
          <p:spPr bwMode="auto">
            <a:xfrm flipV="1">
              <a:off x="3706813" y="3136900"/>
              <a:ext cx="287338" cy="288925"/>
            </a:xfrm>
            <a:prstGeom prst="line">
              <a:avLst/>
            </a:prstGeom>
            <a:ln>
              <a:headEnd/>
              <a:tailEnd type="stealth" w="med" len="lg"/>
            </a:ln>
          </p:spPr>
          <p:style>
            <a:lnRef idx="2">
              <a:schemeClr val="accent5"/>
            </a:lnRef>
            <a:fillRef idx="0">
              <a:schemeClr val="accent5"/>
            </a:fillRef>
            <a:effectRef idx="1">
              <a:schemeClr val="accent5"/>
            </a:effectRef>
            <a:fontRef idx="minor">
              <a:schemeClr val="tx1"/>
            </a:fontRef>
          </p:style>
          <p:txBody>
            <a:bodyPr wrap="none"/>
            <a:lstStyle/>
            <a:p>
              <a:endParaRPr lang="zh-CN" altLang="en-US">
                <a:latin typeface="Consolas" pitchFamily="49" charset="0"/>
                <a:cs typeface="Consolas" pitchFamily="49" charset="0"/>
              </a:endParaRPr>
            </a:p>
          </p:txBody>
        </p:sp>
        <p:sp>
          <p:nvSpPr>
            <p:cNvPr id="46" name="Text Box 13">
              <a:extLst>
                <a:ext uri="{FF2B5EF4-FFF2-40B4-BE49-F238E27FC236}">
                  <a16:creationId xmlns:a16="http://schemas.microsoft.com/office/drawing/2014/main" id="{17CDC38E-E483-6F3A-C2CB-CC0FBE995785}"/>
                </a:ext>
              </a:extLst>
            </p:cNvPr>
            <p:cNvSpPr txBox="1">
              <a:spLocks noChangeArrowheads="1"/>
            </p:cNvSpPr>
            <p:nvPr/>
          </p:nvSpPr>
          <p:spPr bwMode="auto">
            <a:xfrm rot="8100000">
              <a:off x="3117851" y="3565525"/>
              <a:ext cx="647700" cy="457200"/>
            </a:xfrm>
            <a:prstGeom prst="rect">
              <a:avLst/>
            </a:prstGeom>
            <a:noFill/>
            <a:ln w="19050" algn="ctr">
              <a:noFill/>
              <a:miter lim="800000"/>
              <a:headEnd/>
              <a:tailEnd type="none" w="med" len="lg"/>
            </a:ln>
            <a:effectLst/>
          </p:spPr>
          <p:txBody>
            <a:bodyPr>
              <a:spAutoFit/>
            </a:bodyPr>
            <a:lstStyle/>
            <a:p>
              <a:pPr algn="ctr"/>
              <a:r>
                <a:rPr lang="en-US" altLang="zh-CN" dirty="0">
                  <a:latin typeface="Consolas" pitchFamily="49" charset="0"/>
                  <a:cs typeface="Consolas" pitchFamily="49" charset="0"/>
                </a:rPr>
                <a:t>...</a:t>
              </a:r>
            </a:p>
          </p:txBody>
        </p:sp>
        <p:sp>
          <p:nvSpPr>
            <p:cNvPr id="47" name="Text Box 14">
              <a:extLst>
                <a:ext uri="{FF2B5EF4-FFF2-40B4-BE49-F238E27FC236}">
                  <a16:creationId xmlns:a16="http://schemas.microsoft.com/office/drawing/2014/main" id="{DACFC441-B12E-81BF-6144-182E2B3CD632}"/>
                </a:ext>
              </a:extLst>
            </p:cNvPr>
            <p:cNvSpPr txBox="1">
              <a:spLocks noChangeArrowheads="1"/>
            </p:cNvSpPr>
            <p:nvPr/>
          </p:nvSpPr>
          <p:spPr bwMode="auto">
            <a:xfrm>
              <a:off x="2411413" y="3184525"/>
              <a:ext cx="576263" cy="369332"/>
            </a:xfrm>
            <a:prstGeom prst="rect">
              <a:avLst/>
            </a:prstGeom>
            <a:noFill/>
            <a:ln w="19050" algn="ctr">
              <a:noFill/>
              <a:miter lim="800000"/>
              <a:headEnd/>
              <a:tailEnd type="none" w="med" len="lg"/>
            </a:ln>
            <a:effectLst/>
          </p:spPr>
          <p:txBody>
            <a:bodyPr>
              <a:spAutoFit/>
            </a:bodyPr>
            <a:lstStyle/>
            <a:p>
              <a:pPr algn="ctr"/>
              <a:r>
                <a:rPr lang="en-US" altLang="zh-CN" sz="1800" i="1" dirty="0" err="1">
                  <a:latin typeface="Consolas" pitchFamily="49" charset="0"/>
                  <a:cs typeface="Consolas" pitchFamily="49" charset="0"/>
                </a:rPr>
                <a:t>c</a:t>
              </a:r>
              <a:r>
                <a:rPr lang="en-US" altLang="zh-CN" sz="1800" i="1" baseline="-25000" dirty="0" err="1">
                  <a:latin typeface="Consolas" pitchFamily="49" charset="0"/>
                  <a:cs typeface="Consolas" pitchFamily="49" charset="0"/>
                </a:rPr>
                <a:t>vu</a:t>
              </a:r>
              <a:endParaRPr lang="en-US" altLang="zh-CN" sz="1800" i="1" baseline="-25000" dirty="0">
                <a:latin typeface="Consolas" pitchFamily="49" charset="0"/>
                <a:cs typeface="Consolas" pitchFamily="49" charset="0"/>
              </a:endParaRPr>
            </a:p>
          </p:txBody>
        </p:sp>
        <p:sp>
          <p:nvSpPr>
            <p:cNvPr id="48" name="AutoShape 15">
              <a:extLst>
                <a:ext uri="{FF2B5EF4-FFF2-40B4-BE49-F238E27FC236}">
                  <a16:creationId xmlns:a16="http://schemas.microsoft.com/office/drawing/2014/main" id="{38582681-2DA6-90C8-A471-0223F76A568B}"/>
                </a:ext>
              </a:extLst>
            </p:cNvPr>
            <p:cNvSpPr>
              <a:spLocks/>
            </p:cNvSpPr>
            <p:nvPr/>
          </p:nvSpPr>
          <p:spPr bwMode="auto">
            <a:xfrm rot="2760000">
              <a:off x="2984501" y="2320925"/>
              <a:ext cx="179387" cy="2520950"/>
            </a:xfrm>
            <a:prstGeom prst="leftBrace">
              <a:avLst>
                <a:gd name="adj1" fmla="val 117109"/>
                <a:gd name="adj2" fmla="val 50000"/>
              </a:avLst>
            </a:prstGeom>
            <a:ln>
              <a:headEnd/>
              <a:tailEnd type="none" w="med" len="lg"/>
            </a:ln>
          </p:spPr>
          <p:style>
            <a:lnRef idx="2">
              <a:schemeClr val="dk1"/>
            </a:lnRef>
            <a:fillRef idx="0">
              <a:schemeClr val="dk1"/>
            </a:fillRef>
            <a:effectRef idx="1">
              <a:schemeClr val="dk1"/>
            </a:effectRef>
            <a:fontRef idx="minor">
              <a:schemeClr val="tx1"/>
            </a:fontRef>
          </p:style>
          <p:txBody>
            <a:bodyPr wrap="none" anchor="ctr"/>
            <a:lstStyle/>
            <a:p>
              <a:endParaRPr lang="zh-CN" altLang="en-US">
                <a:latin typeface="Consolas" pitchFamily="49" charset="0"/>
                <a:cs typeface="Consolas" pitchFamily="49" charset="0"/>
              </a:endParaRPr>
            </a:p>
          </p:txBody>
        </p:sp>
        <p:sp>
          <p:nvSpPr>
            <p:cNvPr id="49" name="Line 16">
              <a:extLst>
                <a:ext uri="{FF2B5EF4-FFF2-40B4-BE49-F238E27FC236}">
                  <a16:creationId xmlns:a16="http://schemas.microsoft.com/office/drawing/2014/main" id="{EF04BA41-26F6-C7D6-83B3-AE275B3E874A}"/>
                </a:ext>
              </a:extLst>
            </p:cNvPr>
            <p:cNvSpPr>
              <a:spLocks noChangeShapeType="1"/>
            </p:cNvSpPr>
            <p:nvPr/>
          </p:nvSpPr>
          <p:spPr bwMode="auto">
            <a:xfrm flipV="1">
              <a:off x="2843213" y="4572008"/>
              <a:ext cx="800125" cy="4755"/>
            </a:xfrm>
            <a:prstGeom prst="line">
              <a:avLst/>
            </a:prstGeom>
            <a:ln>
              <a:headEnd/>
              <a:tailEnd type="stealth" w="med" len="lg"/>
            </a:ln>
          </p:spPr>
          <p:style>
            <a:lnRef idx="2">
              <a:schemeClr val="accent5"/>
            </a:lnRef>
            <a:fillRef idx="0">
              <a:schemeClr val="accent5"/>
            </a:fillRef>
            <a:effectRef idx="1">
              <a:schemeClr val="accent5"/>
            </a:effectRef>
            <a:fontRef idx="minor">
              <a:schemeClr val="tx1"/>
            </a:fontRef>
          </p:style>
          <p:txBody>
            <a:bodyPr wrap="none"/>
            <a:lstStyle/>
            <a:p>
              <a:endParaRPr lang="zh-CN" altLang="en-US">
                <a:latin typeface="Consolas" pitchFamily="49" charset="0"/>
                <a:cs typeface="Consolas" pitchFamily="49" charset="0"/>
              </a:endParaRPr>
            </a:p>
          </p:txBody>
        </p:sp>
        <p:sp>
          <p:nvSpPr>
            <p:cNvPr id="50" name="Text Box 17">
              <a:extLst>
                <a:ext uri="{FF2B5EF4-FFF2-40B4-BE49-F238E27FC236}">
                  <a16:creationId xmlns:a16="http://schemas.microsoft.com/office/drawing/2014/main" id="{E15FA279-985A-1D22-8CA7-C61841AAD06D}"/>
                </a:ext>
              </a:extLst>
            </p:cNvPr>
            <p:cNvSpPr txBox="1">
              <a:spLocks noChangeArrowheads="1"/>
            </p:cNvSpPr>
            <p:nvPr/>
          </p:nvSpPr>
          <p:spPr bwMode="auto">
            <a:xfrm>
              <a:off x="3698876" y="4286256"/>
              <a:ext cx="935038" cy="457200"/>
            </a:xfrm>
            <a:prstGeom prst="rect">
              <a:avLst/>
            </a:prstGeom>
            <a:noFill/>
            <a:ln w="19050" algn="ctr">
              <a:noFill/>
              <a:miter lim="800000"/>
              <a:headEnd/>
              <a:tailEnd type="none" w="med" len="lg"/>
            </a:ln>
            <a:effectLst/>
          </p:spPr>
          <p:txBody>
            <a:bodyPr>
              <a:spAutoFit/>
            </a:bodyPr>
            <a:lstStyle/>
            <a:p>
              <a:pPr algn="ctr"/>
              <a:r>
                <a:rPr lang="en-US" altLang="zh-CN">
                  <a:latin typeface="+mj-ea"/>
                  <a:ea typeface="+mj-ea"/>
                  <a:cs typeface="Consolas" pitchFamily="49" charset="0"/>
                </a:rPr>
                <a:t>……</a:t>
              </a:r>
            </a:p>
          </p:txBody>
        </p:sp>
        <p:sp>
          <p:nvSpPr>
            <p:cNvPr id="51" name="Freeform 18">
              <a:extLst>
                <a:ext uri="{FF2B5EF4-FFF2-40B4-BE49-F238E27FC236}">
                  <a16:creationId xmlns:a16="http://schemas.microsoft.com/office/drawing/2014/main" id="{BAEE8131-1FC0-F07F-9B57-630F584E9EA0}"/>
                </a:ext>
              </a:extLst>
            </p:cNvPr>
            <p:cNvSpPr>
              <a:spLocks/>
            </p:cNvSpPr>
            <p:nvPr/>
          </p:nvSpPr>
          <p:spPr bwMode="auto">
            <a:xfrm>
              <a:off x="4795838" y="4589463"/>
              <a:ext cx="906463" cy="12700"/>
            </a:xfrm>
            <a:custGeom>
              <a:avLst/>
              <a:gdLst/>
              <a:ahLst/>
              <a:cxnLst>
                <a:cxn ang="0">
                  <a:pos x="0" y="8"/>
                </a:cxn>
                <a:cxn ang="0">
                  <a:pos x="571" y="0"/>
                </a:cxn>
              </a:cxnLst>
              <a:rect l="0" t="0" r="r" b="b"/>
              <a:pathLst>
                <a:path w="571" h="8">
                  <a:moveTo>
                    <a:pt x="0" y="8"/>
                  </a:moveTo>
                  <a:lnTo>
                    <a:pt x="571" y="0"/>
                  </a:lnTo>
                </a:path>
              </a:pathLst>
            </a:custGeom>
            <a:ln>
              <a:headEnd type="none" w="med" len="med"/>
              <a:tailEnd type="stealth" w="med" len="lg"/>
            </a:ln>
          </p:spPr>
          <p:style>
            <a:lnRef idx="2">
              <a:schemeClr val="accent5"/>
            </a:lnRef>
            <a:fillRef idx="0">
              <a:schemeClr val="accent5"/>
            </a:fillRef>
            <a:effectRef idx="1">
              <a:schemeClr val="accent5"/>
            </a:effectRef>
            <a:fontRef idx="minor">
              <a:schemeClr val="tx1"/>
            </a:fontRef>
          </p:style>
          <p:txBody>
            <a:bodyPr wrap="none"/>
            <a:lstStyle/>
            <a:p>
              <a:endParaRPr lang="zh-CN" altLang="en-US">
                <a:latin typeface="Consolas" pitchFamily="49" charset="0"/>
                <a:cs typeface="Consolas" pitchFamily="49" charset="0"/>
              </a:endParaRPr>
            </a:p>
          </p:txBody>
        </p:sp>
        <p:sp>
          <p:nvSpPr>
            <p:cNvPr id="52" name="AutoShape 19">
              <a:extLst>
                <a:ext uri="{FF2B5EF4-FFF2-40B4-BE49-F238E27FC236}">
                  <a16:creationId xmlns:a16="http://schemas.microsoft.com/office/drawing/2014/main" id="{4FC22003-F6E6-8FB7-B5AF-4455E47FF355}"/>
                </a:ext>
              </a:extLst>
            </p:cNvPr>
            <p:cNvSpPr>
              <a:spLocks/>
            </p:cNvSpPr>
            <p:nvPr/>
          </p:nvSpPr>
          <p:spPr bwMode="auto">
            <a:xfrm rot="5400000">
              <a:off x="4140201" y="3497263"/>
              <a:ext cx="142875" cy="3022600"/>
            </a:xfrm>
            <a:prstGeom prst="rightBrace">
              <a:avLst>
                <a:gd name="adj1" fmla="val 176296"/>
                <a:gd name="adj2" fmla="val 50000"/>
              </a:avLst>
            </a:prstGeom>
            <a:ln>
              <a:headEnd/>
              <a:tailEnd type="none" w="med" len="lg"/>
            </a:ln>
          </p:spPr>
          <p:style>
            <a:lnRef idx="2">
              <a:schemeClr val="dk1"/>
            </a:lnRef>
            <a:fillRef idx="0">
              <a:schemeClr val="dk1"/>
            </a:fillRef>
            <a:effectRef idx="1">
              <a:schemeClr val="dk1"/>
            </a:effectRef>
            <a:fontRef idx="minor">
              <a:schemeClr val="tx1"/>
            </a:fontRef>
          </p:style>
          <p:txBody>
            <a:bodyPr wrap="none" anchor="ctr"/>
            <a:lstStyle/>
            <a:p>
              <a:endParaRPr lang="zh-CN" altLang="en-US">
                <a:latin typeface="Consolas" pitchFamily="49" charset="0"/>
                <a:cs typeface="Consolas" pitchFamily="49" charset="0"/>
              </a:endParaRPr>
            </a:p>
          </p:txBody>
        </p:sp>
        <p:sp>
          <p:nvSpPr>
            <p:cNvPr id="53" name="Text Box 20">
              <a:extLst>
                <a:ext uri="{FF2B5EF4-FFF2-40B4-BE49-F238E27FC236}">
                  <a16:creationId xmlns:a16="http://schemas.microsoft.com/office/drawing/2014/main" id="{4AF08BB7-8D66-2316-A64E-84119E58F651}"/>
                </a:ext>
              </a:extLst>
            </p:cNvPr>
            <p:cNvSpPr txBox="1">
              <a:spLocks noChangeArrowheads="1"/>
            </p:cNvSpPr>
            <p:nvPr/>
          </p:nvSpPr>
          <p:spPr bwMode="auto">
            <a:xfrm>
              <a:off x="3994151" y="4987925"/>
              <a:ext cx="576263" cy="369332"/>
            </a:xfrm>
            <a:prstGeom prst="rect">
              <a:avLst/>
            </a:prstGeom>
            <a:noFill/>
            <a:ln w="19050" algn="ctr">
              <a:noFill/>
              <a:miter lim="800000"/>
              <a:headEnd/>
              <a:tailEnd type="none" w="med" len="lg"/>
            </a:ln>
            <a:effectLst/>
          </p:spPr>
          <p:txBody>
            <a:bodyPr>
              <a:spAutoFit/>
            </a:bodyPr>
            <a:lstStyle/>
            <a:p>
              <a:pPr algn="ctr"/>
              <a:r>
                <a:rPr lang="en-US" altLang="zh-CN" sz="1800" i="1" dirty="0" err="1">
                  <a:latin typeface="Consolas" pitchFamily="49" charset="0"/>
                  <a:cs typeface="Consolas" pitchFamily="49" charset="0"/>
                </a:rPr>
                <a:t>c</a:t>
              </a:r>
              <a:r>
                <a:rPr lang="en-US" altLang="zh-CN" sz="1800" i="1" baseline="-25000" dirty="0" err="1">
                  <a:latin typeface="Consolas" pitchFamily="49" charset="0"/>
                  <a:cs typeface="Consolas" pitchFamily="49" charset="0"/>
                </a:rPr>
                <a:t>vj</a:t>
              </a:r>
              <a:endParaRPr lang="en-US" altLang="zh-CN" sz="1800" i="1" baseline="-25000" dirty="0">
                <a:latin typeface="Consolas" pitchFamily="49" charset="0"/>
                <a:cs typeface="Consolas" pitchFamily="49" charset="0"/>
              </a:endParaRPr>
            </a:p>
          </p:txBody>
        </p:sp>
        <p:sp>
          <p:nvSpPr>
            <p:cNvPr id="54" name="Text Box 21">
              <a:extLst>
                <a:ext uri="{FF2B5EF4-FFF2-40B4-BE49-F238E27FC236}">
                  <a16:creationId xmlns:a16="http://schemas.microsoft.com/office/drawing/2014/main" id="{C5151539-DCE1-4B6F-A659-82E6811EC9E2}"/>
                </a:ext>
              </a:extLst>
            </p:cNvPr>
            <p:cNvSpPr txBox="1">
              <a:spLocks noChangeArrowheads="1"/>
            </p:cNvSpPr>
            <p:nvPr/>
          </p:nvSpPr>
          <p:spPr bwMode="auto">
            <a:xfrm>
              <a:off x="4994277" y="3281363"/>
              <a:ext cx="792202" cy="369332"/>
            </a:xfrm>
            <a:prstGeom prst="rect">
              <a:avLst/>
            </a:prstGeom>
            <a:noFill/>
            <a:ln w="19050" algn="ctr">
              <a:noFill/>
              <a:miter lim="800000"/>
              <a:headEnd/>
              <a:tailEnd type="none" w="med" len="lg"/>
            </a:ln>
            <a:effectLst/>
          </p:spPr>
          <p:txBody>
            <a:bodyPr wrap="square">
              <a:spAutoFit/>
            </a:bodyPr>
            <a:lstStyle/>
            <a:p>
              <a:r>
                <a:rPr lang="zh-CN" altLang="en-US" sz="1800" dirty="0">
                  <a:latin typeface="Consolas" pitchFamily="49" charset="0"/>
                  <a:ea typeface="楷体" pitchFamily="49" charset="-122"/>
                  <a:cs typeface="Consolas" pitchFamily="49" charset="0"/>
                </a:rPr>
                <a:t>边</a:t>
              </a:r>
              <a:r>
                <a:rPr lang="en-US" altLang="zh-CN" sz="1800" i="1" dirty="0" err="1">
                  <a:latin typeface="Consolas" pitchFamily="49" charset="0"/>
                  <a:ea typeface="楷体" pitchFamily="49" charset="-122"/>
                  <a:cs typeface="Consolas" pitchFamily="49" charset="0"/>
                </a:rPr>
                <a:t>w</a:t>
              </a:r>
              <a:r>
                <a:rPr lang="en-US" altLang="zh-CN" sz="1800" i="1" baseline="-25000" dirty="0" err="1">
                  <a:latin typeface="Consolas" pitchFamily="49" charset="0"/>
                  <a:ea typeface="楷体" pitchFamily="49" charset="-122"/>
                  <a:cs typeface="Consolas" pitchFamily="49" charset="0"/>
                </a:rPr>
                <a:t>uj</a:t>
              </a:r>
              <a:endParaRPr lang="en-US" altLang="zh-CN" sz="1800" i="1" baseline="-25000" dirty="0">
                <a:latin typeface="Consolas" pitchFamily="49" charset="0"/>
                <a:ea typeface="楷体" pitchFamily="49" charset="-122"/>
                <a:cs typeface="Consolas" pitchFamily="49" charset="0"/>
              </a:endParaRPr>
            </a:p>
          </p:txBody>
        </p:sp>
      </p:grpSp>
      <p:sp>
        <p:nvSpPr>
          <p:cNvPr id="55" name="TextBox 34">
            <a:extLst>
              <a:ext uri="{FF2B5EF4-FFF2-40B4-BE49-F238E27FC236}">
                <a16:creationId xmlns:a16="http://schemas.microsoft.com/office/drawing/2014/main" id="{06D1E526-A71F-83CE-BDE3-231D508C1AF6}"/>
              </a:ext>
            </a:extLst>
          </p:cNvPr>
          <p:cNvSpPr txBox="1"/>
          <p:nvPr/>
        </p:nvSpPr>
        <p:spPr>
          <a:xfrm>
            <a:off x="4549094" y="3680794"/>
            <a:ext cx="2500330" cy="400110"/>
          </a:xfrm>
          <a:prstGeom prst="rect">
            <a:avLst/>
          </a:prstGeom>
          <a:noFill/>
        </p:spPr>
        <p:txBody>
          <a:bodyPr wrap="square" rtlCol="0">
            <a:spAutoFit/>
          </a:bodyPr>
          <a:lstStyle/>
          <a:p>
            <a:r>
              <a:rPr lang="en-US" altLang="zh-CN" sz="2000" i="1" dirty="0">
                <a:latin typeface="Consolas" pitchFamily="49" charset="0"/>
                <a:ea typeface="仿宋" pitchFamily="49" charset="-122"/>
                <a:cs typeface="Consolas" pitchFamily="49" charset="0"/>
              </a:rPr>
              <a:t>v </a:t>
            </a:r>
            <a:r>
              <a:rPr lang="en-US" altLang="zh-CN" sz="2000" dirty="0">
                <a:solidFill>
                  <a:srgbClr val="FF0000"/>
                </a:solidFill>
                <a:latin typeface="Consolas" pitchFamily="49" charset="0"/>
                <a:ea typeface="仿宋" pitchFamily="49" charset="-122"/>
                <a:cs typeface="Consolas" pitchFamily="49" charset="0"/>
                <a:sym typeface="Wingdings"/>
              </a:rPr>
              <a:t></a:t>
            </a:r>
            <a:r>
              <a:rPr lang="en-US" altLang="zh-CN" sz="2000" dirty="0">
                <a:latin typeface="Consolas" pitchFamily="49" charset="0"/>
                <a:ea typeface="仿宋" pitchFamily="49" charset="-122"/>
                <a:cs typeface="Consolas" pitchFamily="49" charset="0"/>
                <a:sym typeface="Wingdings"/>
              </a:rPr>
              <a:t> </a:t>
            </a:r>
            <a:r>
              <a:rPr lang="en-US" altLang="zh-CN" sz="2000" i="1" dirty="0">
                <a:latin typeface="Consolas" pitchFamily="49" charset="0"/>
                <a:ea typeface="仿宋" pitchFamily="49" charset="-122"/>
                <a:cs typeface="Consolas" pitchFamily="49" charset="0"/>
                <a:sym typeface="Wingdings"/>
              </a:rPr>
              <a:t>j</a:t>
            </a:r>
            <a:r>
              <a:rPr lang="zh-CN" altLang="en-US" sz="2000" dirty="0">
                <a:latin typeface="Consolas" pitchFamily="49" charset="0"/>
                <a:ea typeface="仿宋" pitchFamily="49" charset="-122"/>
                <a:cs typeface="Consolas" pitchFamily="49" charset="0"/>
                <a:sym typeface="Wingdings"/>
              </a:rPr>
              <a:t>的路径：</a:t>
            </a:r>
            <a:endParaRPr lang="zh-CN" altLang="en-US" sz="2000" dirty="0">
              <a:latin typeface="Consolas" pitchFamily="49" charset="0"/>
              <a:ea typeface="仿宋" pitchFamily="49" charset="-122"/>
              <a:cs typeface="Consolas" pitchFamily="49" charset="0"/>
            </a:endParaRPr>
          </a:p>
        </p:txBody>
      </p:sp>
      <p:sp>
        <p:nvSpPr>
          <p:cNvPr id="56" name="TextBox 35">
            <a:extLst>
              <a:ext uri="{FF2B5EF4-FFF2-40B4-BE49-F238E27FC236}">
                <a16:creationId xmlns:a16="http://schemas.microsoft.com/office/drawing/2014/main" id="{4AC8C567-9DBC-07E1-31DF-A36963E5609C}"/>
              </a:ext>
            </a:extLst>
          </p:cNvPr>
          <p:cNvSpPr txBox="1"/>
          <p:nvPr/>
        </p:nvSpPr>
        <p:spPr>
          <a:xfrm>
            <a:off x="4691970" y="4252298"/>
            <a:ext cx="2357454" cy="884959"/>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marL="457200" indent="-457200">
              <a:lnSpc>
                <a:spcPts val="2600"/>
              </a:lnSpc>
              <a:spcBef>
                <a:spcPts val="0"/>
              </a:spcBef>
              <a:buBlip>
                <a:blip r:embed="rId2"/>
              </a:buBlip>
            </a:pPr>
            <a:r>
              <a:rPr lang="zh-CN" altLang="en-US" sz="2000" dirty="0">
                <a:latin typeface="Consolas" pitchFamily="49" charset="0"/>
                <a:ea typeface="仿宋" pitchFamily="49" charset="-122"/>
                <a:cs typeface="Consolas" pitchFamily="49" charset="0"/>
              </a:rPr>
              <a:t>不经过顶点</a:t>
            </a:r>
            <a:r>
              <a:rPr lang="en-US" altLang="zh-CN" sz="2000" i="1" dirty="0">
                <a:latin typeface="Consolas" pitchFamily="49" charset="0"/>
                <a:ea typeface="仿宋" pitchFamily="49" charset="-122"/>
                <a:cs typeface="Consolas" pitchFamily="49" charset="0"/>
              </a:rPr>
              <a:t>u</a:t>
            </a:r>
          </a:p>
          <a:p>
            <a:pPr marL="457200" indent="-457200">
              <a:lnSpc>
                <a:spcPts val="2600"/>
              </a:lnSpc>
              <a:spcBef>
                <a:spcPts val="0"/>
              </a:spcBef>
              <a:buBlip>
                <a:blip r:embed="rId2"/>
              </a:buBlip>
            </a:pPr>
            <a:r>
              <a:rPr lang="zh-CN" altLang="en-US" sz="2000" dirty="0">
                <a:latin typeface="Consolas" pitchFamily="49" charset="0"/>
                <a:ea typeface="仿宋" pitchFamily="49" charset="-122"/>
                <a:cs typeface="Consolas" pitchFamily="49" charset="0"/>
              </a:rPr>
              <a:t>经过顶点</a:t>
            </a:r>
            <a:r>
              <a:rPr lang="en-US" altLang="zh-CN" sz="2000" i="1" dirty="0">
                <a:latin typeface="Consolas" pitchFamily="49" charset="0"/>
                <a:ea typeface="仿宋" pitchFamily="49" charset="-122"/>
                <a:cs typeface="Consolas" pitchFamily="49" charset="0"/>
              </a:rPr>
              <a:t>u</a:t>
            </a:r>
          </a:p>
        </p:txBody>
      </p:sp>
      <p:sp>
        <p:nvSpPr>
          <p:cNvPr id="58" name="AutoShape 40">
            <a:extLst>
              <a:ext uri="{FF2B5EF4-FFF2-40B4-BE49-F238E27FC236}">
                <a16:creationId xmlns:a16="http://schemas.microsoft.com/office/drawing/2014/main" id="{0EBF82CB-473B-6517-8500-E871AC73DB1F}"/>
              </a:ext>
            </a:extLst>
          </p:cNvPr>
          <p:cNvSpPr>
            <a:spLocks noChangeArrowheads="1"/>
          </p:cNvSpPr>
          <p:nvPr/>
        </p:nvSpPr>
        <p:spPr bwMode="auto">
          <a:xfrm rot="16200000">
            <a:off x="5717724" y="4298713"/>
            <a:ext cx="215900" cy="2447499"/>
          </a:xfrm>
          <a:prstGeom prst="downArrow">
            <a:avLst>
              <a:gd name="adj1" fmla="val 50000"/>
              <a:gd name="adj2" fmla="val 75000"/>
            </a:avLst>
          </a:prstGeom>
          <a:ln>
            <a:headEnd/>
            <a:tailEnd type="none" w="med" len="lg"/>
          </a:ln>
        </p:spPr>
        <p:style>
          <a:lnRef idx="1">
            <a:schemeClr val="accent2"/>
          </a:lnRef>
          <a:fillRef idx="3">
            <a:schemeClr val="accent2"/>
          </a:fillRef>
          <a:effectRef idx="2">
            <a:schemeClr val="accent2"/>
          </a:effectRef>
          <a:fontRef idx="minor">
            <a:schemeClr val="lt1"/>
          </a:fontRef>
        </p:style>
        <p:txBody>
          <a:bodyPr wrap="none" anchor="ctr"/>
          <a:lstStyle/>
          <a:p>
            <a:endParaRPr lang="zh-CN" altLang="en-US">
              <a:latin typeface="Consolas" pitchFamily="49" charset="0"/>
              <a:cs typeface="Consolas" pitchFamily="49" charset="0"/>
            </a:endParaRPr>
          </a:p>
        </p:txBody>
      </p:sp>
    </p:spTree>
    <p:extLst>
      <p:ext uri="{BB962C8B-B14F-4D97-AF65-F5344CB8AC3E}">
        <p14:creationId xmlns:p14="http://schemas.microsoft.com/office/powerpoint/2010/main" val="325212020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0F7159-7051-E61B-EF54-7C2172DC1C87}"/>
            </a:ext>
          </a:extLst>
        </p:cNvPr>
        <p:cNvGrpSpPr/>
        <p:nvPr/>
      </p:nvGrpSpPr>
      <p:grpSpPr>
        <a:xfrm>
          <a:off x="0" y="0"/>
          <a:ext cx="0" cy="0"/>
          <a:chOff x="0" y="0"/>
          <a:chExt cx="0" cy="0"/>
        </a:xfrm>
      </p:grpSpPr>
      <p:sp>
        <p:nvSpPr>
          <p:cNvPr id="8" name="Text Box 2">
            <a:extLst>
              <a:ext uri="{FF2B5EF4-FFF2-40B4-BE49-F238E27FC236}">
                <a16:creationId xmlns:a16="http://schemas.microsoft.com/office/drawing/2014/main" id="{7123CCE7-2A08-8C63-B396-43B09B91D3B0}"/>
              </a:ext>
            </a:extLst>
          </p:cNvPr>
          <p:cNvSpPr txBox="1">
            <a:spLocks noChangeArrowheads="1"/>
          </p:cNvSpPr>
          <p:nvPr/>
        </p:nvSpPr>
        <p:spPr bwMode="auto">
          <a:xfrm>
            <a:off x="1403176" y="2370048"/>
            <a:ext cx="6326088" cy="8371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rnd">
                <a:solidFill>
                  <a:srgbClr val="000000"/>
                </a:solidFill>
                <a:miter lim="800000"/>
                <a:headEnd/>
                <a:tailEnd/>
              </a14:hiddenLine>
            </a:ext>
          </a:extLst>
        </p:spPr>
        <p:txBody>
          <a:bodyPr wrap="square">
            <a:spAutoFit/>
          </a:bodyPr>
          <a:lstStyle>
            <a:lvl1pPr marL="457200" indent="-457200" eaLnBrk="0" hangingPunct="0">
              <a:defRPr kumimoji="1" sz="2800">
                <a:solidFill>
                  <a:schemeClr val="tx1"/>
                </a:solidFill>
                <a:latin typeface="Comic Sans MS" pitchFamily="66" charset="0"/>
                <a:ea typeface="宋体" pitchFamily="2" charset="-122"/>
              </a:defRPr>
            </a:lvl1pPr>
            <a:lvl2pPr marL="914400" indent="-457200" eaLnBrk="0" hangingPunct="0">
              <a:defRPr kumimoji="1" sz="2800">
                <a:solidFill>
                  <a:schemeClr val="tx1"/>
                </a:solidFill>
                <a:latin typeface="Comic Sans MS" pitchFamily="66" charset="0"/>
                <a:ea typeface="宋体" pitchFamily="2" charset="-122"/>
              </a:defRPr>
            </a:lvl2pPr>
            <a:lvl3pPr marL="1143000" indent="-228600" eaLnBrk="0" hangingPunct="0">
              <a:defRPr kumimoji="1" sz="2800">
                <a:solidFill>
                  <a:schemeClr val="tx1"/>
                </a:solidFill>
                <a:latin typeface="Comic Sans MS" pitchFamily="66" charset="0"/>
                <a:ea typeface="宋体" pitchFamily="2" charset="-122"/>
              </a:defRPr>
            </a:lvl3pPr>
            <a:lvl4pPr marL="1600200" indent="-228600" eaLnBrk="0" hangingPunct="0">
              <a:defRPr kumimoji="1" sz="2800">
                <a:solidFill>
                  <a:schemeClr val="tx1"/>
                </a:solidFill>
                <a:latin typeface="Comic Sans MS" pitchFamily="66" charset="0"/>
                <a:ea typeface="宋体" pitchFamily="2" charset="-122"/>
              </a:defRPr>
            </a:lvl4pPr>
            <a:lvl5pPr marL="2057400" indent="-228600" eaLnBrk="0" hangingPunct="0">
              <a:defRPr kumimoji="1" sz="2800">
                <a:solidFill>
                  <a:schemeClr val="tx1"/>
                </a:solidFill>
                <a:latin typeface="Comic Sans MS" pitchFamily="66" charset="0"/>
                <a:ea typeface="宋体" pitchFamily="2" charset="-122"/>
              </a:defRPr>
            </a:lvl5pPr>
            <a:lvl6pPr marL="2514600" indent="-228600" algn="ctr" eaLnBrk="0" fontAlgn="base" hangingPunct="0">
              <a:spcBef>
                <a:spcPct val="0"/>
              </a:spcBef>
              <a:spcAft>
                <a:spcPct val="0"/>
              </a:spcAft>
              <a:defRPr kumimoji="1" sz="2800">
                <a:solidFill>
                  <a:schemeClr val="tx1"/>
                </a:solidFill>
                <a:latin typeface="Comic Sans MS" pitchFamily="66" charset="0"/>
                <a:ea typeface="宋体" pitchFamily="2" charset="-122"/>
              </a:defRPr>
            </a:lvl6pPr>
            <a:lvl7pPr marL="2971800" indent="-228600" algn="ctr" eaLnBrk="0" fontAlgn="base" hangingPunct="0">
              <a:spcBef>
                <a:spcPct val="0"/>
              </a:spcBef>
              <a:spcAft>
                <a:spcPct val="0"/>
              </a:spcAft>
              <a:defRPr kumimoji="1" sz="2800">
                <a:solidFill>
                  <a:schemeClr val="tx1"/>
                </a:solidFill>
                <a:latin typeface="Comic Sans MS" pitchFamily="66" charset="0"/>
                <a:ea typeface="宋体" pitchFamily="2" charset="-122"/>
              </a:defRPr>
            </a:lvl7pPr>
            <a:lvl8pPr marL="3429000" indent="-228600" algn="ctr" eaLnBrk="0" fontAlgn="base" hangingPunct="0">
              <a:spcBef>
                <a:spcPct val="0"/>
              </a:spcBef>
              <a:spcAft>
                <a:spcPct val="0"/>
              </a:spcAft>
              <a:defRPr kumimoji="1" sz="2800">
                <a:solidFill>
                  <a:schemeClr val="tx1"/>
                </a:solidFill>
                <a:latin typeface="Comic Sans MS" pitchFamily="66" charset="0"/>
                <a:ea typeface="宋体" pitchFamily="2" charset="-122"/>
              </a:defRPr>
            </a:lvl8pPr>
            <a:lvl9pPr marL="3886200" indent="-228600" algn="ctr" eaLnBrk="0" fontAlgn="base" hangingPunct="0">
              <a:spcBef>
                <a:spcPct val="0"/>
              </a:spcBef>
              <a:spcAft>
                <a:spcPct val="0"/>
              </a:spcAft>
              <a:defRPr kumimoji="1" sz="2800">
                <a:solidFill>
                  <a:schemeClr val="tx1"/>
                </a:solidFill>
                <a:latin typeface="Comic Sans MS" pitchFamily="66" charset="0"/>
                <a:ea typeface="宋体" pitchFamily="2" charset="-122"/>
              </a:defRPr>
            </a:lvl9pPr>
          </a:lstStyle>
          <a:p>
            <a:pPr marL="0" indent="0" algn="just">
              <a:spcBef>
                <a:spcPct val="20000"/>
              </a:spcBef>
            </a:pPr>
            <a:r>
              <a:rPr lang="en-US" altLang="zh-CN" sz="2200" dirty="0" err="1">
                <a:latin typeface="Times New Roman" pitchFamily="18" charset="0"/>
                <a:ea typeface="黑体" pitchFamily="49" charset="-122"/>
                <a:cs typeface="Times New Roman" pitchFamily="18" charset="0"/>
              </a:rPr>
              <a:t>Dijkstra</a:t>
            </a:r>
            <a:r>
              <a:rPr lang="zh-CN" altLang="en-US" sz="2200" dirty="0">
                <a:latin typeface="黑体" pitchFamily="49" charset="-122"/>
                <a:ea typeface="黑体" pitchFamily="49" charset="-122"/>
                <a:cs typeface="经典粗黑简" pitchFamily="49" charset="-122"/>
              </a:rPr>
              <a:t>算法</a:t>
            </a:r>
            <a:r>
              <a:rPr lang="en-US" altLang="zh-CN" sz="2200" dirty="0">
                <a:latin typeface="黑体" pitchFamily="49" charset="-122"/>
                <a:ea typeface="黑体" pitchFamily="49" charset="-122"/>
                <a:cs typeface="经典粗黑简" pitchFamily="49" charset="-122"/>
              </a:rPr>
              <a:t>(</a:t>
            </a:r>
            <a:r>
              <a:rPr lang="en-US" altLang="zh-CN" sz="2200" dirty="0">
                <a:latin typeface="Times New Roman" pitchFamily="18" charset="0"/>
                <a:ea typeface="黑体" pitchFamily="49" charset="-122"/>
                <a:cs typeface="Times New Roman" pitchFamily="18" charset="0"/>
              </a:rPr>
              <a:t>1959</a:t>
            </a:r>
            <a:r>
              <a:rPr lang="en-US" altLang="zh-CN" sz="2200" dirty="0">
                <a:latin typeface="黑体" pitchFamily="49" charset="-122"/>
                <a:ea typeface="黑体" pitchFamily="49" charset="-122"/>
                <a:cs typeface="经典粗黑简" pitchFamily="49" charset="-122"/>
              </a:rPr>
              <a:t>)</a:t>
            </a:r>
            <a:r>
              <a:rPr lang="zh-CN" altLang="en-US" sz="2200" dirty="0">
                <a:latin typeface="黑体" pitchFamily="49" charset="-122"/>
                <a:ea typeface="黑体" pitchFamily="49" charset="-122"/>
                <a:cs typeface="经典粗黑简" pitchFamily="49" charset="-122"/>
              </a:rPr>
              <a:t>的基本思想</a:t>
            </a:r>
          </a:p>
          <a:p>
            <a:pPr lvl="1" algn="just">
              <a:spcBef>
                <a:spcPct val="20000"/>
              </a:spcBef>
              <a:buFont typeface="Wingdings" pitchFamily="2" charset="2"/>
              <a:buChar char="Ø"/>
            </a:pPr>
            <a:r>
              <a:rPr lang="zh-CN" altLang="en-US" sz="2200" dirty="0">
                <a:solidFill>
                  <a:srgbClr val="FF0000"/>
                </a:solidFill>
                <a:latin typeface="黑体" pitchFamily="49" charset="-122"/>
                <a:ea typeface="黑体" pitchFamily="49" charset="-122"/>
                <a:cs typeface="经典粗黑简" pitchFamily="49" charset="-122"/>
              </a:rPr>
              <a:t>按路径长度递增顺序</a:t>
            </a:r>
            <a:r>
              <a:rPr lang="zh-CN" altLang="en-US" sz="2200" dirty="0">
                <a:latin typeface="黑体" pitchFamily="49" charset="-122"/>
                <a:ea typeface="黑体" pitchFamily="49" charset="-122"/>
                <a:cs typeface="经典粗黑简" pitchFamily="49" charset="-122"/>
              </a:rPr>
              <a:t>求最短路径算法。</a:t>
            </a:r>
          </a:p>
        </p:txBody>
      </p:sp>
      <p:sp>
        <p:nvSpPr>
          <p:cNvPr id="9" name="Rectangle 2">
            <a:extLst>
              <a:ext uri="{FF2B5EF4-FFF2-40B4-BE49-F238E27FC236}">
                <a16:creationId xmlns:a16="http://schemas.microsoft.com/office/drawing/2014/main" id="{46B8099E-D31F-D201-99A3-9C93485CBFCE}"/>
              </a:ext>
            </a:extLst>
          </p:cNvPr>
          <p:cNvSpPr txBox="1">
            <a:spLocks noChangeArrowheads="1"/>
          </p:cNvSpPr>
          <p:nvPr/>
        </p:nvSpPr>
        <p:spPr>
          <a:xfrm>
            <a:off x="474771" y="1230902"/>
            <a:ext cx="10949819"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8.5.2 </a:t>
            </a:r>
            <a:r>
              <a:rPr lang="zh-CN" altLang="en-US" dirty="0"/>
              <a:t>从一个顶点到其余各顶点的最短路径（单源点最短路径问题）</a:t>
            </a:r>
          </a:p>
        </p:txBody>
      </p:sp>
      <p:cxnSp>
        <p:nvCxnSpPr>
          <p:cNvPr id="10" name="直接连接符 9">
            <a:extLst>
              <a:ext uri="{FF2B5EF4-FFF2-40B4-BE49-F238E27FC236}">
                <a16:creationId xmlns:a16="http://schemas.microsoft.com/office/drawing/2014/main" id="{F7071525-E97C-F96E-520F-59083AF352C7}"/>
              </a:ext>
            </a:extLst>
          </p:cNvPr>
          <p:cNvCxnSpPr>
            <a:cxnSpLocks/>
          </p:cNvCxnSpPr>
          <p:nvPr/>
        </p:nvCxnSpPr>
        <p:spPr>
          <a:xfrm>
            <a:off x="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11" name="矩形 10">
            <a:extLst>
              <a:ext uri="{FF2B5EF4-FFF2-40B4-BE49-F238E27FC236}">
                <a16:creationId xmlns:a16="http://schemas.microsoft.com/office/drawing/2014/main" id="{9C993A1F-E152-45C0-C4CB-25B05FE22521}"/>
              </a:ext>
            </a:extLst>
          </p:cNvPr>
          <p:cNvSpPr/>
          <p:nvPr/>
        </p:nvSpPr>
        <p:spPr>
          <a:xfrm>
            <a:off x="3394075" y="399838"/>
            <a:ext cx="4617860"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8.5 </a:t>
            </a:r>
            <a:r>
              <a:rPr lang="zh-CN" altLang="en-US" sz="3000" b="1" dirty="0">
                <a:latin typeface="黑体" pitchFamily="49" charset="-122"/>
                <a:ea typeface="黑体" pitchFamily="49" charset="-122"/>
                <a:cs typeface="经典粗黑简" pitchFamily="49" charset="-122"/>
              </a:rPr>
              <a:t>最短路径</a:t>
            </a:r>
          </a:p>
        </p:txBody>
      </p:sp>
      <p:sp>
        <p:nvSpPr>
          <p:cNvPr id="18" name="Text Box 4">
            <a:extLst>
              <a:ext uri="{FF2B5EF4-FFF2-40B4-BE49-F238E27FC236}">
                <a16:creationId xmlns:a16="http://schemas.microsoft.com/office/drawing/2014/main" id="{9B5E305F-8899-C919-D9AE-15C2F3A0B815}"/>
              </a:ext>
            </a:extLst>
          </p:cNvPr>
          <p:cNvSpPr txBox="1">
            <a:spLocks noChangeArrowheads="1"/>
          </p:cNvSpPr>
          <p:nvPr/>
        </p:nvSpPr>
        <p:spPr bwMode="auto">
          <a:xfrm>
            <a:off x="1388265" y="1922692"/>
            <a:ext cx="5355805" cy="461665"/>
          </a:xfrm>
          <a:prstGeom prst="rect">
            <a:avLst/>
          </a:prstGeom>
          <a:noFill/>
          <a:ln w="38100" algn="ctr">
            <a:noFill/>
            <a:miter lim="800000"/>
            <a:headEnd/>
            <a:tailEnd type="none" w="med" len="lg"/>
          </a:ln>
          <a:effectLst/>
        </p:spPr>
        <p:txBody>
          <a:bodyPr wrap="square">
            <a:spAutoFit/>
          </a:bodyPr>
          <a:lstStyle/>
          <a:p>
            <a:r>
              <a:rPr lang="zh-CN" altLang="en-US" sz="2400" b="1" dirty="0">
                <a:latin typeface="黑体" pitchFamily="49" charset="-122"/>
                <a:ea typeface="黑体" pitchFamily="49" charset="-122"/>
                <a:cs typeface="经典粗黑简" pitchFamily="49" charset="-122"/>
              </a:rPr>
              <a:t>单源最短路径问题：</a:t>
            </a:r>
            <a:r>
              <a:rPr lang="en-US" altLang="zh-CN" sz="2400" b="1" dirty="0" err="1">
                <a:latin typeface="黑体" pitchFamily="49" charset="-122"/>
                <a:ea typeface="黑体" pitchFamily="49" charset="-122"/>
                <a:cs typeface="经典粗黑简" pitchFamily="49" charset="-122"/>
              </a:rPr>
              <a:t>Dijkstra</a:t>
            </a:r>
            <a:r>
              <a:rPr lang="zh-CN" altLang="en-US" sz="2400" b="1" dirty="0">
                <a:latin typeface="黑体" pitchFamily="49" charset="-122"/>
                <a:ea typeface="黑体" pitchFamily="49" charset="-122"/>
                <a:cs typeface="经典粗黑简" pitchFamily="49" charset="-122"/>
              </a:rPr>
              <a:t>算法</a:t>
            </a:r>
          </a:p>
        </p:txBody>
      </p:sp>
      <p:sp>
        <p:nvSpPr>
          <p:cNvPr id="2" name="Text Box 2" descr="羊皮纸">
            <a:extLst>
              <a:ext uri="{FF2B5EF4-FFF2-40B4-BE49-F238E27FC236}">
                <a16:creationId xmlns:a16="http://schemas.microsoft.com/office/drawing/2014/main" id="{70FE711E-4AC5-34FF-87B5-3B5415962154}"/>
              </a:ext>
            </a:extLst>
          </p:cNvPr>
          <p:cNvSpPr txBox="1">
            <a:spLocks noChangeArrowheads="1"/>
          </p:cNvSpPr>
          <p:nvPr/>
        </p:nvSpPr>
        <p:spPr bwMode="auto">
          <a:xfrm>
            <a:off x="1487488" y="3387858"/>
            <a:ext cx="7527953" cy="525886"/>
          </a:xfrm>
          <a:prstGeom prst="rect">
            <a:avLst/>
          </a:prstGeom>
          <a:solidFill>
            <a:schemeClr val="bg1">
              <a:lumMod val="95000"/>
            </a:schemeClr>
          </a:solidFill>
          <a:ln>
            <a:headEnd/>
            <a:tailEnd/>
          </a:ln>
        </p:spPr>
        <p:style>
          <a:lnRef idx="1">
            <a:schemeClr val="accent4"/>
          </a:lnRef>
          <a:fillRef idx="2">
            <a:schemeClr val="accent4"/>
          </a:fillRef>
          <a:effectRef idx="1">
            <a:schemeClr val="accent4"/>
          </a:effectRef>
          <a:fontRef idx="minor">
            <a:schemeClr val="dk1"/>
          </a:fontRef>
        </p:style>
        <p:txBody>
          <a:bodyPr wrap="square" tIns="108000" bIns="108000">
            <a:spAutoFit/>
          </a:bodyPr>
          <a:lstStyle/>
          <a:p>
            <a:pPr algn="just"/>
            <a:r>
              <a:rPr kumimoji="1" lang="zh-CN" altLang="en-US" sz="2000">
                <a:solidFill>
                  <a:srgbClr val="1000E4"/>
                </a:solidFill>
                <a:latin typeface="Consolas" pitchFamily="49" charset="0"/>
                <a:ea typeface="仿宋" pitchFamily="49" charset="-122"/>
                <a:cs typeface="Consolas" pitchFamily="49" charset="0"/>
              </a:rPr>
              <a:t>（</a:t>
            </a:r>
            <a:r>
              <a:rPr kumimoji="1" lang="en-US" altLang="zh-CN" sz="2000" dirty="0">
                <a:solidFill>
                  <a:srgbClr val="1000E4"/>
                </a:solidFill>
                <a:latin typeface="Consolas" pitchFamily="49" charset="0"/>
                <a:ea typeface="仿宋" pitchFamily="49" charset="-122"/>
                <a:cs typeface="Consolas" pitchFamily="49" charset="0"/>
              </a:rPr>
              <a:t>4</a:t>
            </a:r>
            <a:r>
              <a:rPr kumimoji="1" lang="zh-CN" altLang="en-US" sz="2000" dirty="0">
                <a:solidFill>
                  <a:srgbClr val="1000E4"/>
                </a:solidFill>
                <a:latin typeface="Consolas" pitchFamily="49" charset="0"/>
                <a:ea typeface="仿宋" pitchFamily="49" charset="-122"/>
                <a:cs typeface="Consolas" pitchFamily="49" charset="0"/>
              </a:rPr>
              <a:t>）重复步骤（</a:t>
            </a:r>
            <a:r>
              <a:rPr kumimoji="1" lang="en-US" altLang="zh-CN" sz="2000" dirty="0">
                <a:solidFill>
                  <a:srgbClr val="1000E4"/>
                </a:solidFill>
                <a:latin typeface="Consolas" pitchFamily="49" charset="0"/>
                <a:ea typeface="仿宋" pitchFamily="49" charset="-122"/>
                <a:cs typeface="Consolas" pitchFamily="49" charset="0"/>
              </a:rPr>
              <a:t>2</a:t>
            </a:r>
            <a:r>
              <a:rPr kumimoji="1" lang="zh-CN" altLang="en-US" sz="2000" dirty="0">
                <a:solidFill>
                  <a:srgbClr val="1000E4"/>
                </a:solidFill>
                <a:latin typeface="Consolas" pitchFamily="49" charset="0"/>
                <a:ea typeface="仿宋" pitchFamily="49" charset="-122"/>
                <a:cs typeface="Consolas" pitchFamily="49" charset="0"/>
              </a:rPr>
              <a:t>）和（</a:t>
            </a:r>
            <a:r>
              <a:rPr kumimoji="1" lang="en-US" altLang="zh-CN" sz="2000" dirty="0">
                <a:solidFill>
                  <a:srgbClr val="1000E4"/>
                </a:solidFill>
                <a:latin typeface="Consolas" pitchFamily="49" charset="0"/>
                <a:ea typeface="仿宋" pitchFamily="49" charset="-122"/>
                <a:cs typeface="Consolas" pitchFamily="49" charset="0"/>
              </a:rPr>
              <a:t>3</a:t>
            </a:r>
            <a:r>
              <a:rPr kumimoji="1" lang="zh-CN" altLang="en-US" sz="2000" dirty="0">
                <a:solidFill>
                  <a:srgbClr val="1000E4"/>
                </a:solidFill>
                <a:latin typeface="Consolas" pitchFamily="49" charset="0"/>
                <a:ea typeface="仿宋" pitchFamily="49" charset="-122"/>
                <a:cs typeface="Consolas" pitchFamily="49" charset="0"/>
              </a:rPr>
              <a:t>）直到所有顶点都包含在</a:t>
            </a:r>
            <a:r>
              <a:rPr kumimoji="1" lang="en-US" altLang="zh-CN" sz="2000" dirty="0">
                <a:solidFill>
                  <a:srgbClr val="1000E4"/>
                </a:solidFill>
                <a:latin typeface="Consolas" pitchFamily="49" charset="0"/>
                <a:ea typeface="仿宋" pitchFamily="49" charset="-122"/>
                <a:cs typeface="Consolas" pitchFamily="49" charset="0"/>
              </a:rPr>
              <a:t>S</a:t>
            </a:r>
            <a:r>
              <a:rPr kumimoji="1" lang="zh-CN" altLang="en-US" sz="2000" dirty="0">
                <a:solidFill>
                  <a:srgbClr val="1000E4"/>
                </a:solidFill>
                <a:latin typeface="Consolas" pitchFamily="49" charset="0"/>
                <a:ea typeface="仿宋" pitchFamily="49" charset="-122"/>
                <a:cs typeface="Consolas" pitchFamily="49" charset="0"/>
              </a:rPr>
              <a:t>中。</a:t>
            </a:r>
          </a:p>
        </p:txBody>
      </p:sp>
      <p:sp>
        <p:nvSpPr>
          <p:cNvPr id="3" name="Oval 3">
            <a:extLst>
              <a:ext uri="{FF2B5EF4-FFF2-40B4-BE49-F238E27FC236}">
                <a16:creationId xmlns:a16="http://schemas.microsoft.com/office/drawing/2014/main" id="{A002DD0D-22A3-C83B-1B85-7B9ADC5EF7FD}"/>
              </a:ext>
            </a:extLst>
          </p:cNvPr>
          <p:cNvSpPr>
            <a:spLocks noChangeArrowheads="1"/>
          </p:cNvSpPr>
          <p:nvPr/>
        </p:nvSpPr>
        <p:spPr bwMode="auto">
          <a:xfrm>
            <a:off x="2727995" y="4689579"/>
            <a:ext cx="431800"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pPr algn="ctr">
              <a:spcBef>
                <a:spcPct val="0"/>
              </a:spcBef>
            </a:pPr>
            <a:r>
              <a:rPr lang="en-US" altLang="zh-CN" sz="2000" i="1">
                <a:solidFill>
                  <a:srgbClr val="3333FF"/>
                </a:solidFill>
                <a:latin typeface="Consolas" pitchFamily="49" charset="0"/>
                <a:cs typeface="Consolas" pitchFamily="49" charset="0"/>
              </a:rPr>
              <a:t>v</a:t>
            </a:r>
          </a:p>
        </p:txBody>
      </p:sp>
      <p:sp>
        <p:nvSpPr>
          <p:cNvPr id="4" name="Oval 4">
            <a:extLst>
              <a:ext uri="{FF2B5EF4-FFF2-40B4-BE49-F238E27FC236}">
                <a16:creationId xmlns:a16="http://schemas.microsoft.com/office/drawing/2014/main" id="{D103B63D-7C82-41E9-FA5B-EAC63883E5BF}"/>
              </a:ext>
            </a:extLst>
          </p:cNvPr>
          <p:cNvSpPr>
            <a:spLocks noChangeArrowheads="1"/>
          </p:cNvSpPr>
          <p:nvPr/>
        </p:nvSpPr>
        <p:spPr bwMode="auto">
          <a:xfrm>
            <a:off x="6399882" y="4762604"/>
            <a:ext cx="431800"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pPr algn="ctr">
              <a:spcBef>
                <a:spcPct val="0"/>
              </a:spcBef>
            </a:pPr>
            <a:r>
              <a:rPr lang="en-US" altLang="zh-CN" sz="2000" i="1">
                <a:solidFill>
                  <a:srgbClr val="3333FF"/>
                </a:solidFill>
                <a:latin typeface="Consolas" pitchFamily="49" charset="0"/>
                <a:cs typeface="Consolas" pitchFamily="49" charset="0"/>
              </a:rPr>
              <a:t>j</a:t>
            </a:r>
          </a:p>
        </p:txBody>
      </p:sp>
      <p:sp>
        <p:nvSpPr>
          <p:cNvPr id="5" name="Line 5">
            <a:extLst>
              <a:ext uri="{FF2B5EF4-FFF2-40B4-BE49-F238E27FC236}">
                <a16:creationId xmlns:a16="http://schemas.microsoft.com/office/drawing/2014/main" id="{F420421F-00F2-9E4F-F46C-6F25BE0D365B}"/>
              </a:ext>
            </a:extLst>
          </p:cNvPr>
          <p:cNvSpPr>
            <a:spLocks noChangeShapeType="1"/>
          </p:cNvSpPr>
          <p:nvPr/>
        </p:nvSpPr>
        <p:spPr bwMode="auto">
          <a:xfrm flipV="1">
            <a:off x="3126457" y="4580041"/>
            <a:ext cx="503238" cy="215900"/>
          </a:xfrm>
          <a:prstGeom prst="line">
            <a:avLst/>
          </a:prstGeom>
          <a:noFill/>
          <a:ln w="28575">
            <a:solidFill>
              <a:srgbClr val="0000FF"/>
            </a:solidFill>
            <a:round/>
            <a:headEnd/>
            <a:tailEnd type="stealth" w="med" len="lg"/>
          </a:ln>
          <a:effectLst/>
        </p:spPr>
        <p:txBody>
          <a:bodyPr wrap="none"/>
          <a:lstStyle/>
          <a:p>
            <a:endParaRPr lang="zh-CN" altLang="en-US">
              <a:latin typeface="Consolas" pitchFamily="49" charset="0"/>
              <a:cs typeface="Consolas" pitchFamily="49" charset="0"/>
            </a:endParaRPr>
          </a:p>
        </p:txBody>
      </p:sp>
      <p:sp>
        <p:nvSpPr>
          <p:cNvPr id="6" name="Line 6">
            <a:extLst>
              <a:ext uri="{FF2B5EF4-FFF2-40B4-BE49-F238E27FC236}">
                <a16:creationId xmlns:a16="http://schemas.microsoft.com/office/drawing/2014/main" id="{BFC7B214-314B-9302-C2CD-8E91F528DCB3}"/>
              </a:ext>
            </a:extLst>
          </p:cNvPr>
          <p:cNvSpPr>
            <a:spLocks noChangeShapeType="1"/>
          </p:cNvSpPr>
          <p:nvPr/>
        </p:nvSpPr>
        <p:spPr bwMode="auto">
          <a:xfrm>
            <a:off x="3159795" y="4978504"/>
            <a:ext cx="360362" cy="215900"/>
          </a:xfrm>
          <a:prstGeom prst="line">
            <a:avLst/>
          </a:prstGeom>
          <a:noFill/>
          <a:ln w="28575">
            <a:solidFill>
              <a:srgbClr val="0000FF"/>
            </a:solidFill>
            <a:round/>
            <a:headEnd/>
            <a:tailEnd type="stealth" w="med" len="lg"/>
          </a:ln>
          <a:effectLst/>
        </p:spPr>
        <p:txBody>
          <a:bodyPr wrap="none"/>
          <a:lstStyle/>
          <a:p>
            <a:endParaRPr lang="zh-CN" altLang="en-US">
              <a:latin typeface="Consolas" pitchFamily="49" charset="0"/>
              <a:cs typeface="Consolas" pitchFamily="49" charset="0"/>
            </a:endParaRPr>
          </a:p>
        </p:txBody>
      </p:sp>
      <p:sp>
        <p:nvSpPr>
          <p:cNvPr id="7" name="Line 7">
            <a:extLst>
              <a:ext uri="{FF2B5EF4-FFF2-40B4-BE49-F238E27FC236}">
                <a16:creationId xmlns:a16="http://schemas.microsoft.com/office/drawing/2014/main" id="{10C4D2FF-05C7-7C9A-6405-CEB55F214B3C}"/>
              </a:ext>
            </a:extLst>
          </p:cNvPr>
          <p:cNvSpPr>
            <a:spLocks noChangeShapeType="1"/>
          </p:cNvSpPr>
          <p:nvPr/>
        </p:nvSpPr>
        <p:spPr bwMode="auto">
          <a:xfrm>
            <a:off x="5849020" y="4618141"/>
            <a:ext cx="576262" cy="215900"/>
          </a:xfrm>
          <a:prstGeom prst="line">
            <a:avLst/>
          </a:prstGeom>
          <a:noFill/>
          <a:ln w="28575">
            <a:solidFill>
              <a:srgbClr val="0000FF"/>
            </a:solidFill>
            <a:round/>
            <a:headEnd/>
            <a:tailEnd type="stealth" w="med" len="lg"/>
          </a:ln>
          <a:effectLst/>
        </p:spPr>
        <p:txBody>
          <a:bodyPr wrap="none"/>
          <a:lstStyle/>
          <a:p>
            <a:endParaRPr lang="zh-CN" altLang="en-US">
              <a:latin typeface="Consolas" pitchFamily="49" charset="0"/>
              <a:cs typeface="Consolas" pitchFamily="49" charset="0"/>
            </a:endParaRPr>
          </a:p>
        </p:txBody>
      </p:sp>
      <p:sp>
        <p:nvSpPr>
          <p:cNvPr id="12" name="Freeform 8">
            <a:extLst>
              <a:ext uri="{FF2B5EF4-FFF2-40B4-BE49-F238E27FC236}">
                <a16:creationId xmlns:a16="http://schemas.microsoft.com/office/drawing/2014/main" id="{790C34A0-4843-DF02-0F94-63FABE6429F8}"/>
              </a:ext>
            </a:extLst>
          </p:cNvPr>
          <p:cNvSpPr>
            <a:spLocks/>
          </p:cNvSpPr>
          <p:nvPr/>
        </p:nvSpPr>
        <p:spPr bwMode="auto">
          <a:xfrm>
            <a:off x="5739482" y="5051529"/>
            <a:ext cx="669925" cy="257175"/>
          </a:xfrm>
          <a:custGeom>
            <a:avLst/>
            <a:gdLst/>
            <a:ahLst/>
            <a:cxnLst>
              <a:cxn ang="0">
                <a:pos x="0" y="162"/>
              </a:cxn>
              <a:cxn ang="0">
                <a:pos x="422" y="0"/>
              </a:cxn>
            </a:cxnLst>
            <a:rect l="0" t="0" r="r" b="b"/>
            <a:pathLst>
              <a:path w="422" h="162">
                <a:moveTo>
                  <a:pt x="0" y="162"/>
                </a:moveTo>
                <a:lnTo>
                  <a:pt x="422" y="0"/>
                </a:lnTo>
              </a:path>
            </a:pathLst>
          </a:custGeom>
          <a:noFill/>
          <a:ln w="28575" cap="flat" cmpd="sng">
            <a:solidFill>
              <a:srgbClr val="0000FF"/>
            </a:solidFill>
            <a:prstDash val="solid"/>
            <a:round/>
            <a:headEnd type="none" w="med" len="med"/>
            <a:tailEnd type="stealth" w="med" len="lg"/>
          </a:ln>
          <a:effectLst/>
        </p:spPr>
        <p:txBody>
          <a:bodyPr wrap="none"/>
          <a:lstStyle/>
          <a:p>
            <a:endParaRPr lang="zh-CN" altLang="en-US">
              <a:latin typeface="Consolas" pitchFamily="49" charset="0"/>
              <a:cs typeface="Consolas" pitchFamily="49" charset="0"/>
            </a:endParaRPr>
          </a:p>
        </p:txBody>
      </p:sp>
      <p:sp>
        <p:nvSpPr>
          <p:cNvPr id="13" name="Oval 9">
            <a:extLst>
              <a:ext uri="{FF2B5EF4-FFF2-40B4-BE49-F238E27FC236}">
                <a16:creationId xmlns:a16="http://schemas.microsoft.com/office/drawing/2014/main" id="{6F8C58F5-7F88-4BAD-556E-5C94E064538B}"/>
              </a:ext>
            </a:extLst>
          </p:cNvPr>
          <p:cNvSpPr>
            <a:spLocks noChangeArrowheads="1"/>
          </p:cNvSpPr>
          <p:nvPr/>
        </p:nvSpPr>
        <p:spPr bwMode="auto">
          <a:xfrm>
            <a:off x="3575720" y="4092679"/>
            <a:ext cx="2232025" cy="1657350"/>
          </a:xfrm>
          <a:prstGeom prst="ellipse">
            <a:avLst/>
          </a:prstGeom>
          <a:solidFill>
            <a:srgbClr val="FFFFFF">
              <a:alpha val="0"/>
            </a:srgbClr>
          </a:solidFill>
          <a:ln w="28575" algn="ctr">
            <a:solidFill>
              <a:srgbClr val="0000FF"/>
            </a:solidFill>
            <a:prstDash val="sysDot"/>
            <a:round/>
            <a:headEnd/>
            <a:tailEnd type="none" w="med" len="lg"/>
          </a:ln>
          <a:effectLst/>
        </p:spPr>
        <p:txBody>
          <a:bodyPr wrap="none" anchor="ctr"/>
          <a:lstStyle/>
          <a:p>
            <a:endParaRPr lang="zh-CN" altLang="en-US">
              <a:latin typeface="Consolas" pitchFamily="49" charset="0"/>
              <a:cs typeface="Consolas" pitchFamily="49" charset="0"/>
            </a:endParaRPr>
          </a:p>
        </p:txBody>
      </p:sp>
      <p:sp>
        <p:nvSpPr>
          <p:cNvPr id="14" name="Line 10">
            <a:extLst>
              <a:ext uri="{FF2B5EF4-FFF2-40B4-BE49-F238E27FC236}">
                <a16:creationId xmlns:a16="http://schemas.microsoft.com/office/drawing/2014/main" id="{E4684A8F-B3CB-55D5-B904-143819A06A58}"/>
              </a:ext>
            </a:extLst>
          </p:cNvPr>
          <p:cNvSpPr>
            <a:spLocks noChangeShapeType="1"/>
          </p:cNvSpPr>
          <p:nvPr/>
        </p:nvSpPr>
        <p:spPr bwMode="auto">
          <a:xfrm flipV="1">
            <a:off x="4756820" y="5757966"/>
            <a:ext cx="0" cy="335330"/>
          </a:xfrm>
          <a:prstGeom prst="line">
            <a:avLst/>
          </a:prstGeom>
          <a:ln>
            <a:headEnd/>
            <a:tailEnd type="triangle" w="med" len="lg"/>
          </a:ln>
        </p:spPr>
        <p:style>
          <a:lnRef idx="2">
            <a:schemeClr val="accent5"/>
          </a:lnRef>
          <a:fillRef idx="0">
            <a:schemeClr val="accent5"/>
          </a:fillRef>
          <a:effectRef idx="1">
            <a:schemeClr val="accent5"/>
          </a:effectRef>
          <a:fontRef idx="minor">
            <a:schemeClr val="tx1"/>
          </a:fontRef>
        </p:style>
        <p:txBody>
          <a:bodyPr wrap="none"/>
          <a:lstStyle/>
          <a:p>
            <a:endParaRPr lang="zh-CN" altLang="en-US">
              <a:latin typeface="Consolas" pitchFamily="49" charset="0"/>
              <a:cs typeface="Consolas" pitchFamily="49" charset="0"/>
            </a:endParaRPr>
          </a:p>
        </p:txBody>
      </p:sp>
      <p:sp>
        <p:nvSpPr>
          <p:cNvPr id="15" name="Text Box 11">
            <a:extLst>
              <a:ext uri="{FF2B5EF4-FFF2-40B4-BE49-F238E27FC236}">
                <a16:creationId xmlns:a16="http://schemas.microsoft.com/office/drawing/2014/main" id="{7B0E2700-B26F-ECE2-0678-B33F45BB8FE6}"/>
              </a:ext>
            </a:extLst>
          </p:cNvPr>
          <p:cNvSpPr txBox="1">
            <a:spLocks noChangeArrowheads="1"/>
          </p:cNvSpPr>
          <p:nvPr/>
        </p:nvSpPr>
        <p:spPr bwMode="auto">
          <a:xfrm>
            <a:off x="1631504" y="6117817"/>
            <a:ext cx="6984773" cy="400110"/>
          </a:xfrm>
          <a:prstGeom prst="rect">
            <a:avLst/>
          </a:prstGeom>
          <a:noFill/>
          <a:ln w="28575" algn="ctr">
            <a:noFill/>
            <a:miter lim="800000"/>
            <a:headEnd/>
            <a:tailEnd type="none" w="med" len="lg"/>
          </a:ln>
          <a:effectLst/>
        </p:spPr>
        <p:txBody>
          <a:bodyPr wrap="square">
            <a:spAutoFit/>
          </a:bodyPr>
          <a:lstStyle/>
          <a:p>
            <a:pPr algn="ctr"/>
            <a:r>
              <a:rPr lang="zh-CN" altLang="en-US" sz="2000" dirty="0">
                <a:solidFill>
                  <a:srgbClr val="1000E4"/>
                </a:solidFill>
                <a:latin typeface="Consolas" pitchFamily="49" charset="0"/>
                <a:ea typeface="仿宋" pitchFamily="49" charset="-122"/>
                <a:cs typeface="Consolas" pitchFamily="49" charset="0"/>
              </a:rPr>
              <a:t>考虑中间其他所有顶点</a:t>
            </a:r>
            <a:r>
              <a:rPr lang="en-US" altLang="zh-CN" sz="2000" i="1" dirty="0">
                <a:solidFill>
                  <a:srgbClr val="1000E4"/>
                </a:solidFill>
                <a:latin typeface="Consolas" pitchFamily="49" charset="0"/>
                <a:ea typeface="仿宋" pitchFamily="49" charset="-122"/>
                <a:cs typeface="Consolas" pitchFamily="49" charset="0"/>
              </a:rPr>
              <a:t>k</a:t>
            </a:r>
            <a:r>
              <a:rPr lang="zh-CN" altLang="en-US" sz="2000" dirty="0">
                <a:solidFill>
                  <a:srgbClr val="1000E4"/>
                </a:solidFill>
                <a:latin typeface="Consolas" pitchFamily="49" charset="0"/>
                <a:ea typeface="仿宋" pitchFamily="49" charset="-122"/>
                <a:cs typeface="Consolas" pitchFamily="49" charset="0"/>
              </a:rPr>
              <a:t>，通过比较得到</a:t>
            </a:r>
            <a:r>
              <a:rPr lang="en-US" altLang="zh-CN" sz="2000" i="1" dirty="0">
                <a:solidFill>
                  <a:srgbClr val="1000E4"/>
                </a:solidFill>
                <a:latin typeface="Consolas" pitchFamily="49" charset="0"/>
                <a:ea typeface="仿宋" pitchFamily="49" charset="-122"/>
                <a:cs typeface="Consolas" pitchFamily="49" charset="0"/>
              </a:rPr>
              <a:t>v </a:t>
            </a:r>
            <a:r>
              <a:rPr lang="en-US" altLang="zh-CN" sz="2000" dirty="0">
                <a:solidFill>
                  <a:srgbClr val="FF0000"/>
                </a:solidFill>
                <a:latin typeface="Consolas" pitchFamily="49" charset="0"/>
                <a:ea typeface="仿宋" pitchFamily="49" charset="-122"/>
                <a:cs typeface="Consolas" pitchFamily="49" charset="0"/>
                <a:sym typeface="Wingdings"/>
              </a:rPr>
              <a:t></a:t>
            </a:r>
            <a:r>
              <a:rPr lang="en-US" altLang="zh-CN" sz="2000" dirty="0">
                <a:solidFill>
                  <a:srgbClr val="1000E4"/>
                </a:solidFill>
                <a:latin typeface="Consolas" pitchFamily="49" charset="0"/>
                <a:ea typeface="仿宋" pitchFamily="49" charset="-122"/>
                <a:cs typeface="Consolas" pitchFamily="49" charset="0"/>
                <a:sym typeface="Wingdings"/>
              </a:rPr>
              <a:t> </a:t>
            </a:r>
            <a:r>
              <a:rPr lang="en-US" altLang="zh-CN" sz="2000" i="1" dirty="0">
                <a:solidFill>
                  <a:srgbClr val="1000E4"/>
                </a:solidFill>
                <a:latin typeface="Consolas" pitchFamily="49" charset="0"/>
                <a:ea typeface="仿宋" pitchFamily="49" charset="-122"/>
                <a:cs typeface="Consolas" pitchFamily="49" charset="0"/>
              </a:rPr>
              <a:t>j</a:t>
            </a:r>
            <a:r>
              <a:rPr lang="zh-CN" altLang="en-US" sz="2000" dirty="0">
                <a:solidFill>
                  <a:srgbClr val="1000E4"/>
                </a:solidFill>
                <a:latin typeface="Consolas" pitchFamily="49" charset="0"/>
                <a:ea typeface="仿宋" pitchFamily="49" charset="-122"/>
                <a:cs typeface="Consolas" pitchFamily="49" charset="0"/>
              </a:rPr>
              <a:t>的最短路径</a:t>
            </a:r>
          </a:p>
        </p:txBody>
      </p:sp>
      <p:sp>
        <p:nvSpPr>
          <p:cNvPr id="16" name="Oval 13">
            <a:extLst>
              <a:ext uri="{FF2B5EF4-FFF2-40B4-BE49-F238E27FC236}">
                <a16:creationId xmlns:a16="http://schemas.microsoft.com/office/drawing/2014/main" id="{0FAFD80C-6FDF-E161-B339-259E00195E7C}"/>
              </a:ext>
            </a:extLst>
          </p:cNvPr>
          <p:cNvSpPr>
            <a:spLocks noChangeArrowheads="1"/>
          </p:cNvSpPr>
          <p:nvPr/>
        </p:nvSpPr>
        <p:spPr bwMode="auto">
          <a:xfrm>
            <a:off x="4528220" y="4689579"/>
            <a:ext cx="431800" cy="431800"/>
          </a:xfrm>
          <a:prstGeom prst="ellipse">
            <a:avLst/>
          </a:prstGeom>
          <a:ln>
            <a:headEnd/>
            <a:tailEnd type="none" w="med" len="lg"/>
          </a:ln>
        </p:spPr>
        <p:style>
          <a:lnRef idx="1">
            <a:schemeClr val="accent1"/>
          </a:lnRef>
          <a:fillRef idx="2">
            <a:schemeClr val="accent1"/>
          </a:fillRef>
          <a:effectRef idx="1">
            <a:schemeClr val="accent1"/>
          </a:effectRef>
          <a:fontRef idx="minor">
            <a:schemeClr val="dk1"/>
          </a:fontRef>
        </p:style>
        <p:txBody>
          <a:bodyPr wrap="none" anchor="ctr"/>
          <a:lstStyle/>
          <a:p>
            <a:pPr algn="ctr">
              <a:spcBef>
                <a:spcPct val="0"/>
              </a:spcBef>
            </a:pPr>
            <a:r>
              <a:rPr lang="en-US" altLang="zh-CN" sz="2000" i="1" dirty="0">
                <a:solidFill>
                  <a:srgbClr val="3333FF"/>
                </a:solidFill>
                <a:latin typeface="Consolas" pitchFamily="49" charset="0"/>
                <a:cs typeface="Consolas" pitchFamily="49" charset="0"/>
              </a:rPr>
              <a:t>k</a:t>
            </a:r>
          </a:p>
        </p:txBody>
      </p:sp>
    </p:spTree>
    <p:extLst>
      <p:ext uri="{BB962C8B-B14F-4D97-AF65-F5344CB8AC3E}">
        <p14:creationId xmlns:p14="http://schemas.microsoft.com/office/powerpoint/2010/main" val="2846233493"/>
      </p:ext>
    </p:extLst>
  </p:cSld>
  <p:clrMapOvr>
    <a:masterClrMapping/>
  </p:clrMapOvr>
  <p:transition/>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5A54F3-076A-FBD3-4157-6BEB3416A09C}"/>
            </a:ext>
          </a:extLst>
        </p:cNvPr>
        <p:cNvGrpSpPr/>
        <p:nvPr/>
      </p:nvGrpSpPr>
      <p:grpSpPr>
        <a:xfrm>
          <a:off x="0" y="0"/>
          <a:ext cx="0" cy="0"/>
          <a:chOff x="0" y="0"/>
          <a:chExt cx="0" cy="0"/>
        </a:xfrm>
      </p:grpSpPr>
      <p:sp>
        <p:nvSpPr>
          <p:cNvPr id="9" name="Rectangle 2">
            <a:extLst>
              <a:ext uri="{FF2B5EF4-FFF2-40B4-BE49-F238E27FC236}">
                <a16:creationId xmlns:a16="http://schemas.microsoft.com/office/drawing/2014/main" id="{B7C52DAB-89AC-568B-A713-177C8D4CA429}"/>
              </a:ext>
            </a:extLst>
          </p:cNvPr>
          <p:cNvSpPr txBox="1">
            <a:spLocks noChangeArrowheads="1"/>
          </p:cNvSpPr>
          <p:nvPr/>
        </p:nvSpPr>
        <p:spPr>
          <a:xfrm>
            <a:off x="474771" y="1230902"/>
            <a:ext cx="10949819"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8.5.2 </a:t>
            </a:r>
            <a:r>
              <a:rPr lang="zh-CN" altLang="en-US" dirty="0"/>
              <a:t>从一个顶点到其余各顶点的最短路径（单源点最短路径问题）</a:t>
            </a:r>
          </a:p>
        </p:txBody>
      </p:sp>
      <p:cxnSp>
        <p:nvCxnSpPr>
          <p:cNvPr id="10" name="直接连接符 9">
            <a:extLst>
              <a:ext uri="{FF2B5EF4-FFF2-40B4-BE49-F238E27FC236}">
                <a16:creationId xmlns:a16="http://schemas.microsoft.com/office/drawing/2014/main" id="{045BF5AC-A30A-D1DA-9445-BBBEC3675D2D}"/>
              </a:ext>
            </a:extLst>
          </p:cNvPr>
          <p:cNvCxnSpPr>
            <a:cxnSpLocks/>
          </p:cNvCxnSpPr>
          <p:nvPr/>
        </p:nvCxnSpPr>
        <p:spPr>
          <a:xfrm>
            <a:off x="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11" name="矩形 10">
            <a:extLst>
              <a:ext uri="{FF2B5EF4-FFF2-40B4-BE49-F238E27FC236}">
                <a16:creationId xmlns:a16="http://schemas.microsoft.com/office/drawing/2014/main" id="{AAB84FB0-508C-A477-22F2-4DC302BD3910}"/>
              </a:ext>
            </a:extLst>
          </p:cNvPr>
          <p:cNvSpPr/>
          <p:nvPr/>
        </p:nvSpPr>
        <p:spPr>
          <a:xfrm>
            <a:off x="3394075" y="399838"/>
            <a:ext cx="4617860"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8.5 </a:t>
            </a:r>
            <a:r>
              <a:rPr lang="zh-CN" altLang="en-US" sz="3000" b="1" dirty="0">
                <a:latin typeface="黑体" pitchFamily="49" charset="-122"/>
                <a:ea typeface="黑体" pitchFamily="49" charset="-122"/>
                <a:cs typeface="经典粗黑简" pitchFamily="49" charset="-122"/>
              </a:rPr>
              <a:t>最短路径</a:t>
            </a:r>
          </a:p>
        </p:txBody>
      </p:sp>
      <p:sp>
        <p:nvSpPr>
          <p:cNvPr id="18" name="Text Box 4">
            <a:extLst>
              <a:ext uri="{FF2B5EF4-FFF2-40B4-BE49-F238E27FC236}">
                <a16:creationId xmlns:a16="http://schemas.microsoft.com/office/drawing/2014/main" id="{3C260B3B-6097-9FA3-6BD6-9E9AA538493C}"/>
              </a:ext>
            </a:extLst>
          </p:cNvPr>
          <p:cNvSpPr txBox="1">
            <a:spLocks noChangeArrowheads="1"/>
          </p:cNvSpPr>
          <p:nvPr/>
        </p:nvSpPr>
        <p:spPr bwMode="auto">
          <a:xfrm>
            <a:off x="1388265" y="1922692"/>
            <a:ext cx="5355805" cy="461665"/>
          </a:xfrm>
          <a:prstGeom prst="rect">
            <a:avLst/>
          </a:prstGeom>
          <a:noFill/>
          <a:ln w="38100" algn="ctr">
            <a:noFill/>
            <a:miter lim="800000"/>
            <a:headEnd/>
            <a:tailEnd type="none" w="med" len="lg"/>
          </a:ln>
          <a:effectLst/>
        </p:spPr>
        <p:txBody>
          <a:bodyPr wrap="square">
            <a:spAutoFit/>
          </a:bodyPr>
          <a:lstStyle/>
          <a:p>
            <a:r>
              <a:rPr lang="zh-CN" altLang="en-US" sz="2400" b="1" dirty="0">
                <a:latin typeface="黑体" pitchFamily="49" charset="-122"/>
                <a:ea typeface="黑体" pitchFamily="49" charset="-122"/>
                <a:cs typeface="经典粗黑简" pitchFamily="49" charset="-122"/>
              </a:rPr>
              <a:t>单源最短路径问题：</a:t>
            </a:r>
            <a:r>
              <a:rPr lang="en-US" altLang="zh-CN" sz="2400" b="1" dirty="0" err="1">
                <a:latin typeface="黑体" pitchFamily="49" charset="-122"/>
                <a:ea typeface="黑体" pitchFamily="49" charset="-122"/>
                <a:cs typeface="经典粗黑简" pitchFamily="49" charset="-122"/>
              </a:rPr>
              <a:t>Dijkstra</a:t>
            </a:r>
            <a:r>
              <a:rPr lang="zh-CN" altLang="en-US" sz="2400" b="1" dirty="0">
                <a:latin typeface="黑体" pitchFamily="49" charset="-122"/>
                <a:ea typeface="黑体" pitchFamily="49" charset="-122"/>
                <a:cs typeface="经典粗黑简" pitchFamily="49" charset="-122"/>
              </a:rPr>
              <a:t>算法</a:t>
            </a:r>
          </a:p>
        </p:txBody>
      </p:sp>
      <p:sp>
        <p:nvSpPr>
          <p:cNvPr id="17" name="Text Box 4">
            <a:extLst>
              <a:ext uri="{FF2B5EF4-FFF2-40B4-BE49-F238E27FC236}">
                <a16:creationId xmlns:a16="http://schemas.microsoft.com/office/drawing/2014/main" id="{DE64F7DA-2A85-06E5-0367-9CFCE84499FA}"/>
              </a:ext>
            </a:extLst>
          </p:cNvPr>
          <p:cNvSpPr txBox="1">
            <a:spLocks noChangeArrowheads="1"/>
          </p:cNvSpPr>
          <p:nvPr/>
        </p:nvSpPr>
        <p:spPr bwMode="auto">
          <a:xfrm>
            <a:off x="1560513" y="3047825"/>
            <a:ext cx="4175125" cy="453183"/>
          </a:xfrm>
          <a:prstGeom prst="rect">
            <a:avLst/>
          </a:prstGeom>
          <a:ln>
            <a:noFill/>
            <a:headEnd/>
            <a:tailEnd type="none" w="med" len="lg"/>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44000" tIns="72000" bIns="72000">
            <a:spAutoFit/>
          </a:bodyPr>
          <a:lstStyle/>
          <a:p>
            <a:pPr marL="457200" indent="-457200">
              <a:buBlip>
                <a:blip r:embed="rId3"/>
              </a:buBlip>
            </a:pPr>
            <a:r>
              <a:rPr lang="zh-CN" altLang="en-US" sz="2000" dirty="0">
                <a:solidFill>
                  <a:srgbClr val="FF00FF"/>
                </a:solidFill>
                <a:latin typeface="Consolas" pitchFamily="49" charset="0"/>
                <a:ea typeface="楷体" pitchFamily="49" charset="-122"/>
                <a:cs typeface="Consolas" pitchFamily="49" charset="0"/>
              </a:rPr>
              <a:t>如何存放最短路径长度：</a:t>
            </a:r>
          </a:p>
        </p:txBody>
      </p:sp>
      <p:sp>
        <p:nvSpPr>
          <p:cNvPr id="19" name="Text Box 5">
            <a:extLst>
              <a:ext uri="{FF2B5EF4-FFF2-40B4-BE49-F238E27FC236}">
                <a16:creationId xmlns:a16="http://schemas.microsoft.com/office/drawing/2014/main" id="{1C18F831-C43C-B436-974D-EA423DD1465F}"/>
              </a:ext>
            </a:extLst>
          </p:cNvPr>
          <p:cNvSpPr txBox="1">
            <a:spLocks noChangeArrowheads="1"/>
          </p:cNvSpPr>
          <p:nvPr/>
        </p:nvSpPr>
        <p:spPr bwMode="auto">
          <a:xfrm>
            <a:off x="1550627" y="3584260"/>
            <a:ext cx="9792071" cy="1015663"/>
          </a:xfrm>
          <a:prstGeom prst="rect">
            <a:avLst/>
          </a:prstGeom>
          <a:noFill/>
          <a:ln w="28575" algn="ctr">
            <a:noFill/>
            <a:miter lim="800000"/>
            <a:headEnd/>
            <a:tailEnd type="none" w="med" len="lg"/>
          </a:ln>
          <a:effectLst/>
        </p:spPr>
        <p:txBody>
          <a:bodyPr wrap="square">
            <a:spAutoFit/>
          </a:bodyPr>
          <a:lstStyle/>
          <a:p>
            <a:r>
              <a:rPr lang="zh-CN" altLang="en-US" sz="2000" dirty="0">
                <a:latin typeface="Consolas" pitchFamily="49" charset="0"/>
                <a:ea typeface="仿宋" pitchFamily="49" charset="-122"/>
                <a:cs typeface="Consolas" pitchFamily="49" charset="0"/>
              </a:rPr>
              <a:t>用一维数组</a:t>
            </a:r>
            <a:r>
              <a:rPr lang="en-US" altLang="zh-CN" sz="2000" dirty="0">
                <a:latin typeface="Consolas" pitchFamily="49" charset="0"/>
                <a:ea typeface="仿宋" pitchFamily="49" charset="-122"/>
                <a:cs typeface="Consolas" pitchFamily="49" charset="0"/>
              </a:rPr>
              <a:t>dist[</a:t>
            </a:r>
            <a:r>
              <a:rPr lang="en-US" altLang="zh-CN" sz="2000" i="1" dirty="0">
                <a:latin typeface="Consolas" pitchFamily="49" charset="0"/>
                <a:ea typeface="仿宋" pitchFamily="49" charset="-122"/>
                <a:cs typeface="Consolas" pitchFamily="49" charset="0"/>
              </a:rPr>
              <a:t>j</a:t>
            </a:r>
            <a:r>
              <a:rPr lang="en-US" altLang="zh-CN" sz="2000" dirty="0">
                <a:latin typeface="Consolas" pitchFamily="49" charset="0"/>
                <a:ea typeface="仿宋" pitchFamily="49" charset="-122"/>
                <a:cs typeface="Consolas" pitchFamily="49" charset="0"/>
              </a:rPr>
              <a:t>]</a:t>
            </a:r>
            <a:r>
              <a:rPr lang="zh-CN" altLang="en-US" sz="2000" dirty="0">
                <a:latin typeface="Consolas" pitchFamily="49" charset="0"/>
                <a:ea typeface="仿宋" pitchFamily="49" charset="-122"/>
                <a:cs typeface="Consolas" pitchFamily="49" charset="0"/>
              </a:rPr>
              <a:t>存储！</a:t>
            </a:r>
            <a:endParaRPr lang="en-US" altLang="zh-CN" sz="2000" dirty="0">
              <a:latin typeface="Consolas" pitchFamily="49" charset="0"/>
              <a:ea typeface="仿宋" pitchFamily="49" charset="-122"/>
              <a:cs typeface="Consolas" pitchFamily="49" charset="0"/>
            </a:endParaRPr>
          </a:p>
          <a:p>
            <a:r>
              <a:rPr kumimoji="1" lang="zh-CN" altLang="en-US" sz="2000" dirty="0">
                <a:latin typeface="Consolas" pitchFamily="49" charset="0"/>
                <a:ea typeface="仿宋" pitchFamily="49" charset="-122"/>
                <a:cs typeface="Consolas" pitchFamily="49" charset="0"/>
              </a:rPr>
              <a:t>源点</a:t>
            </a:r>
            <a:r>
              <a:rPr kumimoji="1" lang="en-US" altLang="zh-CN" sz="2000" i="1" dirty="0">
                <a:latin typeface="Consolas" pitchFamily="49" charset="0"/>
                <a:ea typeface="仿宋" pitchFamily="49" charset="-122"/>
                <a:cs typeface="Consolas" pitchFamily="49" charset="0"/>
              </a:rPr>
              <a:t>v</a:t>
            </a:r>
            <a:r>
              <a:rPr kumimoji="1" lang="zh-CN" altLang="en-US" sz="2000" dirty="0">
                <a:latin typeface="Consolas" pitchFamily="49" charset="0"/>
                <a:ea typeface="仿宋" pitchFamily="49" charset="-122"/>
                <a:cs typeface="Consolas" pitchFamily="49" charset="0"/>
              </a:rPr>
              <a:t>默认，</a:t>
            </a:r>
            <a:r>
              <a:rPr lang="en-US" altLang="zh-CN" sz="2000" dirty="0">
                <a:latin typeface="Consolas" pitchFamily="49" charset="0"/>
                <a:ea typeface="仿宋" pitchFamily="49" charset="-122"/>
                <a:cs typeface="Consolas" pitchFamily="49" charset="0"/>
              </a:rPr>
              <a:t> dist[</a:t>
            </a:r>
            <a:r>
              <a:rPr lang="en-US" altLang="zh-CN" sz="2000" i="1" dirty="0">
                <a:latin typeface="Consolas" pitchFamily="49" charset="0"/>
                <a:ea typeface="仿宋" pitchFamily="49" charset="-122"/>
                <a:cs typeface="Consolas" pitchFamily="49" charset="0"/>
              </a:rPr>
              <a:t>j</a:t>
            </a:r>
            <a:r>
              <a:rPr lang="en-US" altLang="zh-CN" sz="2000" dirty="0">
                <a:latin typeface="Consolas" pitchFamily="49" charset="0"/>
                <a:ea typeface="仿宋" pitchFamily="49" charset="-122"/>
                <a:cs typeface="Consolas" pitchFamily="49" charset="0"/>
              </a:rPr>
              <a:t>]</a:t>
            </a:r>
            <a:r>
              <a:rPr lang="zh-CN" altLang="en-US" sz="2000" dirty="0">
                <a:latin typeface="Consolas" pitchFamily="49" charset="0"/>
                <a:ea typeface="仿宋" pitchFamily="49" charset="-122"/>
                <a:cs typeface="Consolas" pitchFamily="49" charset="0"/>
              </a:rPr>
              <a:t>表示</a:t>
            </a:r>
            <a:r>
              <a:rPr kumimoji="1" lang="zh-CN" altLang="en-US" sz="2000" dirty="0">
                <a:latin typeface="Consolas" pitchFamily="49" charset="0"/>
                <a:ea typeface="仿宋" pitchFamily="49" charset="-122"/>
                <a:cs typeface="Consolas" pitchFamily="49" charset="0"/>
              </a:rPr>
              <a:t>源点</a:t>
            </a:r>
            <a:r>
              <a:rPr kumimoji="1" lang="zh-CN" altLang="en-US" sz="2000" dirty="0">
                <a:solidFill>
                  <a:srgbClr val="FF00FF"/>
                </a:solidFill>
                <a:latin typeface="Consolas" pitchFamily="49" charset="0"/>
                <a:ea typeface="仿宋" pitchFamily="49" charset="-122"/>
                <a:cs typeface="Consolas" pitchFamily="49" charset="0"/>
                <a:sym typeface="Wingdings"/>
              </a:rPr>
              <a:t></a:t>
            </a:r>
            <a:r>
              <a:rPr kumimoji="1" lang="zh-CN" altLang="en-US" sz="2000" dirty="0">
                <a:latin typeface="Consolas" pitchFamily="49" charset="0"/>
                <a:ea typeface="仿宋" pitchFamily="49" charset="-122"/>
                <a:cs typeface="Consolas" pitchFamily="49" charset="0"/>
                <a:sym typeface="Wingdings"/>
              </a:rPr>
              <a:t>顶点</a:t>
            </a:r>
            <a:r>
              <a:rPr kumimoji="1" lang="en-US" altLang="zh-CN" sz="2000" i="1" dirty="0">
                <a:latin typeface="Consolas" pitchFamily="49" charset="0"/>
                <a:ea typeface="仿宋" pitchFamily="49" charset="-122"/>
                <a:cs typeface="Consolas" pitchFamily="49" charset="0"/>
                <a:sym typeface="Wingdings"/>
              </a:rPr>
              <a:t>j</a:t>
            </a:r>
            <a:r>
              <a:rPr kumimoji="1" lang="zh-CN" altLang="en-US" sz="2000" dirty="0">
                <a:latin typeface="Consolas" pitchFamily="49" charset="0"/>
                <a:ea typeface="仿宋" pitchFamily="49" charset="-122"/>
                <a:cs typeface="Consolas" pitchFamily="49" charset="0"/>
                <a:sym typeface="Wingdings"/>
              </a:rPr>
              <a:t>的</a:t>
            </a:r>
            <a:r>
              <a:rPr lang="zh-CN" altLang="en-US" sz="2000" dirty="0">
                <a:latin typeface="Consolas" pitchFamily="49" charset="0"/>
                <a:ea typeface="仿宋" pitchFamily="49" charset="-122"/>
                <a:cs typeface="Consolas" pitchFamily="49" charset="0"/>
              </a:rPr>
              <a:t>最短</a:t>
            </a:r>
            <a:r>
              <a:rPr kumimoji="1" lang="zh-CN" altLang="en-US" sz="2000" dirty="0">
                <a:latin typeface="Consolas" pitchFamily="49" charset="0"/>
                <a:ea typeface="仿宋" pitchFamily="49" charset="-122"/>
                <a:cs typeface="Consolas" pitchFamily="49" charset="0"/>
                <a:sym typeface="Wingdings"/>
              </a:rPr>
              <a:t>路径</a:t>
            </a:r>
            <a:r>
              <a:rPr lang="zh-CN" altLang="en-US" sz="2000" dirty="0">
                <a:latin typeface="Consolas" pitchFamily="49" charset="0"/>
                <a:ea typeface="仿宋" pitchFamily="49" charset="-122"/>
                <a:cs typeface="Consolas" pitchFamily="49" charset="0"/>
              </a:rPr>
              <a:t>长度。如</a:t>
            </a:r>
            <a:r>
              <a:rPr lang="en-US" altLang="zh-CN" sz="2000" dirty="0">
                <a:latin typeface="Consolas" pitchFamily="49" charset="0"/>
                <a:ea typeface="仿宋" pitchFamily="49" charset="-122"/>
                <a:cs typeface="Consolas" pitchFamily="49" charset="0"/>
              </a:rPr>
              <a:t>dist[2]=12</a:t>
            </a:r>
            <a:r>
              <a:rPr lang="zh-CN" altLang="en-US" sz="2000" dirty="0">
                <a:latin typeface="Consolas" pitchFamily="49" charset="0"/>
                <a:ea typeface="仿宋" pitchFamily="49" charset="-122"/>
                <a:cs typeface="Consolas" pitchFamily="49" charset="0"/>
              </a:rPr>
              <a:t>表示</a:t>
            </a:r>
            <a:r>
              <a:rPr kumimoji="1" lang="zh-CN" altLang="en-US" sz="2000" dirty="0">
                <a:latin typeface="Consolas" pitchFamily="49" charset="0"/>
                <a:ea typeface="仿宋" pitchFamily="49" charset="-122"/>
                <a:cs typeface="Consolas" pitchFamily="49" charset="0"/>
              </a:rPr>
              <a:t>源点</a:t>
            </a:r>
            <a:r>
              <a:rPr kumimoji="1" lang="zh-CN" altLang="en-US" sz="2000" dirty="0">
                <a:solidFill>
                  <a:srgbClr val="FF00FF"/>
                </a:solidFill>
                <a:latin typeface="Consolas" pitchFamily="49" charset="0"/>
                <a:ea typeface="仿宋" pitchFamily="49" charset="-122"/>
                <a:cs typeface="Consolas" pitchFamily="49" charset="0"/>
                <a:sym typeface="Wingdings"/>
              </a:rPr>
              <a:t></a:t>
            </a:r>
            <a:r>
              <a:rPr kumimoji="1" lang="zh-CN" altLang="en-US" sz="2000" dirty="0">
                <a:latin typeface="Consolas" pitchFamily="49" charset="0"/>
                <a:ea typeface="仿宋" pitchFamily="49" charset="-122"/>
                <a:cs typeface="Consolas" pitchFamily="49" charset="0"/>
                <a:sym typeface="Wingdings"/>
              </a:rPr>
              <a:t>顶点</a:t>
            </a:r>
            <a:r>
              <a:rPr kumimoji="1" lang="en-US" altLang="zh-CN" sz="2000" dirty="0">
                <a:latin typeface="Consolas" pitchFamily="49" charset="0"/>
                <a:ea typeface="仿宋" pitchFamily="49" charset="-122"/>
                <a:cs typeface="Consolas" pitchFamily="49" charset="0"/>
                <a:sym typeface="Wingdings"/>
              </a:rPr>
              <a:t>2</a:t>
            </a:r>
            <a:r>
              <a:rPr kumimoji="1" lang="zh-CN" altLang="en-US" sz="2000" dirty="0">
                <a:latin typeface="Consolas" pitchFamily="49" charset="0"/>
                <a:ea typeface="仿宋" pitchFamily="49" charset="-122"/>
                <a:cs typeface="Consolas" pitchFamily="49" charset="0"/>
                <a:sym typeface="Wingdings"/>
              </a:rPr>
              <a:t>的</a:t>
            </a:r>
            <a:r>
              <a:rPr lang="zh-CN" altLang="en-US" sz="2000" dirty="0">
                <a:latin typeface="Consolas" pitchFamily="49" charset="0"/>
                <a:ea typeface="仿宋" pitchFamily="49" charset="-122"/>
                <a:cs typeface="Consolas" pitchFamily="49" charset="0"/>
              </a:rPr>
              <a:t>最短</a:t>
            </a:r>
            <a:r>
              <a:rPr kumimoji="1" lang="zh-CN" altLang="en-US" sz="2000" dirty="0">
                <a:latin typeface="Consolas" pitchFamily="49" charset="0"/>
                <a:ea typeface="仿宋" pitchFamily="49" charset="-122"/>
                <a:cs typeface="Consolas" pitchFamily="49" charset="0"/>
                <a:sym typeface="Wingdings"/>
              </a:rPr>
              <a:t>路径</a:t>
            </a:r>
            <a:r>
              <a:rPr lang="zh-CN" altLang="en-US" sz="2000" dirty="0">
                <a:latin typeface="Consolas" pitchFamily="49" charset="0"/>
                <a:ea typeface="仿宋" pitchFamily="49" charset="-122"/>
                <a:cs typeface="Consolas" pitchFamily="49" charset="0"/>
              </a:rPr>
              <a:t>长度为</a:t>
            </a:r>
            <a:r>
              <a:rPr lang="en-US" altLang="zh-CN" sz="2000" dirty="0">
                <a:latin typeface="Consolas" pitchFamily="49" charset="0"/>
                <a:ea typeface="仿宋" pitchFamily="49" charset="-122"/>
                <a:cs typeface="Consolas" pitchFamily="49" charset="0"/>
              </a:rPr>
              <a:t>12</a:t>
            </a:r>
            <a:r>
              <a:rPr lang="zh-CN" altLang="en-US" sz="2000" dirty="0">
                <a:latin typeface="Consolas" pitchFamily="49" charset="0"/>
                <a:ea typeface="仿宋" pitchFamily="49" charset="-122"/>
                <a:cs typeface="Consolas" pitchFamily="49" charset="0"/>
              </a:rPr>
              <a:t>。</a:t>
            </a:r>
            <a:endParaRPr lang="zh-CN" altLang="en-US" sz="2000" b="0" dirty="0">
              <a:latin typeface="Consolas" pitchFamily="49" charset="0"/>
              <a:ea typeface="仿宋" pitchFamily="49" charset="-122"/>
              <a:cs typeface="Consolas" pitchFamily="49" charset="0"/>
            </a:endParaRPr>
          </a:p>
        </p:txBody>
      </p:sp>
      <p:sp>
        <p:nvSpPr>
          <p:cNvPr id="20" name="Text Box 6">
            <a:extLst>
              <a:ext uri="{FF2B5EF4-FFF2-40B4-BE49-F238E27FC236}">
                <a16:creationId xmlns:a16="http://schemas.microsoft.com/office/drawing/2014/main" id="{288FB258-CF02-3958-29E7-71C6215889A2}"/>
              </a:ext>
            </a:extLst>
          </p:cNvPr>
          <p:cNvSpPr txBox="1">
            <a:spLocks noChangeArrowheads="1"/>
          </p:cNvSpPr>
          <p:nvPr/>
        </p:nvSpPr>
        <p:spPr bwMode="auto">
          <a:xfrm>
            <a:off x="1603253" y="4675100"/>
            <a:ext cx="4103687" cy="453183"/>
          </a:xfrm>
          <a:prstGeom prst="rect">
            <a:avLst/>
          </a:prstGeom>
          <a:ln>
            <a:noFill/>
            <a:headEnd/>
            <a:tailEnd type="none" w="med" len="lg"/>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44000" tIns="72000" bIns="72000">
            <a:spAutoFit/>
          </a:bodyPr>
          <a:lstStyle/>
          <a:p>
            <a:pPr marL="457200" indent="-457200">
              <a:buBlip>
                <a:blip r:embed="rId3"/>
              </a:buBlip>
            </a:pPr>
            <a:r>
              <a:rPr lang="zh-CN" altLang="en-US" sz="2000" dirty="0">
                <a:solidFill>
                  <a:srgbClr val="FF00FF"/>
                </a:solidFill>
                <a:latin typeface="Consolas" pitchFamily="49" charset="0"/>
                <a:ea typeface="楷体" pitchFamily="49" charset="-122"/>
                <a:cs typeface="Consolas" pitchFamily="49" charset="0"/>
              </a:rPr>
              <a:t>如何存放最短路径：</a:t>
            </a:r>
          </a:p>
        </p:txBody>
      </p:sp>
      <p:sp>
        <p:nvSpPr>
          <p:cNvPr id="21" name="Text Box 7">
            <a:extLst>
              <a:ext uri="{FF2B5EF4-FFF2-40B4-BE49-F238E27FC236}">
                <a16:creationId xmlns:a16="http://schemas.microsoft.com/office/drawing/2014/main" id="{D2CEA1E2-2AFD-E782-34E2-4184664C1AC9}"/>
              </a:ext>
            </a:extLst>
          </p:cNvPr>
          <p:cNvSpPr txBox="1">
            <a:spLocks noChangeArrowheads="1"/>
          </p:cNvSpPr>
          <p:nvPr/>
        </p:nvSpPr>
        <p:spPr bwMode="auto">
          <a:xfrm>
            <a:off x="1509178" y="5214563"/>
            <a:ext cx="10157054" cy="1323439"/>
          </a:xfrm>
          <a:prstGeom prst="rect">
            <a:avLst/>
          </a:prstGeom>
          <a:noFill/>
          <a:ln w="28575" algn="ctr">
            <a:noFill/>
            <a:miter lim="800000"/>
            <a:headEnd/>
            <a:tailEnd type="none" w="med" len="lg"/>
          </a:ln>
          <a:effectLst/>
        </p:spPr>
        <p:txBody>
          <a:bodyPr wrap="square">
            <a:spAutoFit/>
          </a:bodyPr>
          <a:lstStyle/>
          <a:p>
            <a:r>
              <a:rPr lang="zh-CN" altLang="en-US" sz="2000" dirty="0">
                <a:latin typeface="Consolas" pitchFamily="49" charset="0"/>
                <a:ea typeface="仿宋" pitchFamily="49" charset="-122"/>
                <a:cs typeface="Consolas" pitchFamily="49" charset="0"/>
              </a:rPr>
              <a:t>从</a:t>
            </a:r>
            <a:r>
              <a:rPr kumimoji="1" lang="zh-CN" altLang="en-US" sz="2000" dirty="0">
                <a:latin typeface="Consolas" pitchFamily="49" charset="0"/>
                <a:ea typeface="仿宋" pitchFamily="49" charset="-122"/>
                <a:cs typeface="Consolas" pitchFamily="49" charset="0"/>
              </a:rPr>
              <a:t>源点</a:t>
            </a:r>
            <a:r>
              <a:rPr lang="zh-CN" altLang="en-US" sz="2000" dirty="0">
                <a:latin typeface="Consolas" pitchFamily="49" charset="0"/>
                <a:ea typeface="仿宋" pitchFamily="49" charset="-122"/>
                <a:cs typeface="Consolas" pitchFamily="49" charset="0"/>
              </a:rPr>
              <a:t>到其他顶点的最短路径有</a:t>
            </a:r>
            <a:r>
              <a:rPr lang="en-US" altLang="zh-CN" sz="2000" i="1" dirty="0">
                <a:latin typeface="Consolas" pitchFamily="49" charset="0"/>
                <a:ea typeface="仿宋" pitchFamily="49" charset="-122"/>
                <a:cs typeface="Consolas" pitchFamily="49" charset="0"/>
              </a:rPr>
              <a:t>n</a:t>
            </a:r>
            <a:r>
              <a:rPr lang="en-US" altLang="zh-CN" sz="2000" dirty="0">
                <a:latin typeface="Consolas" pitchFamily="49" charset="0"/>
                <a:ea typeface="仿宋" pitchFamily="49" charset="-122"/>
                <a:cs typeface="Consolas" pitchFamily="49" charset="0"/>
              </a:rPr>
              <a:t>-1</a:t>
            </a:r>
            <a:r>
              <a:rPr lang="zh-CN" altLang="en-US" sz="2000" dirty="0">
                <a:latin typeface="Consolas" pitchFamily="49" charset="0"/>
                <a:ea typeface="仿宋" pitchFamily="49" charset="-122"/>
                <a:cs typeface="Consolas" pitchFamily="49" charset="0"/>
              </a:rPr>
              <a:t>条，一条最短路径用一个一维数组表示，如从顶点</a:t>
            </a:r>
            <a:r>
              <a:rPr lang="en-US" altLang="zh-CN" sz="2000" dirty="0">
                <a:latin typeface="Consolas" pitchFamily="49" charset="0"/>
                <a:ea typeface="仿宋" pitchFamily="49" charset="-122"/>
                <a:cs typeface="Consolas" pitchFamily="49" charset="0"/>
              </a:rPr>
              <a:t>0</a:t>
            </a:r>
            <a:r>
              <a:rPr kumimoji="1" lang="zh-CN" altLang="en-US" sz="2000" dirty="0">
                <a:solidFill>
                  <a:srgbClr val="FF00FF"/>
                </a:solidFill>
                <a:latin typeface="Consolas" pitchFamily="49" charset="0"/>
                <a:ea typeface="仿宋" pitchFamily="49" charset="-122"/>
                <a:cs typeface="Consolas" pitchFamily="49" charset="0"/>
                <a:sym typeface="Wingdings"/>
              </a:rPr>
              <a:t></a:t>
            </a:r>
            <a:r>
              <a:rPr lang="en-US" altLang="zh-CN" sz="2000" dirty="0">
                <a:latin typeface="Consolas" pitchFamily="49" charset="0"/>
                <a:ea typeface="仿宋" pitchFamily="49" charset="-122"/>
                <a:cs typeface="Consolas" pitchFamily="49" charset="0"/>
              </a:rPr>
              <a:t>5</a:t>
            </a:r>
            <a:r>
              <a:rPr lang="zh-CN" altLang="en-US" sz="2000" dirty="0">
                <a:latin typeface="Consolas" pitchFamily="49" charset="0"/>
                <a:ea typeface="仿宋" pitchFamily="49" charset="-122"/>
                <a:cs typeface="Consolas" pitchFamily="49" charset="0"/>
              </a:rPr>
              <a:t>的最短路径为</a:t>
            </a:r>
            <a:r>
              <a:rPr lang="en-US" altLang="zh-CN" sz="2000" dirty="0">
                <a:latin typeface="Consolas" pitchFamily="49" charset="0"/>
                <a:ea typeface="仿宋" pitchFamily="49" charset="-122"/>
                <a:cs typeface="Consolas" pitchFamily="49" charset="0"/>
              </a:rPr>
              <a:t>0</a:t>
            </a:r>
            <a:r>
              <a:rPr lang="zh-CN" altLang="en-US" sz="2000" dirty="0">
                <a:latin typeface="Consolas" pitchFamily="49" charset="0"/>
                <a:ea typeface="仿宋" pitchFamily="49" charset="-122"/>
                <a:cs typeface="Consolas" pitchFamily="49" charset="0"/>
              </a:rPr>
              <a:t>、</a:t>
            </a:r>
            <a:r>
              <a:rPr lang="en-US" altLang="zh-CN" sz="2000" dirty="0">
                <a:latin typeface="Consolas" pitchFamily="49" charset="0"/>
                <a:ea typeface="仿宋" pitchFamily="49" charset="-122"/>
                <a:cs typeface="Consolas" pitchFamily="49" charset="0"/>
              </a:rPr>
              <a:t>2</a:t>
            </a:r>
            <a:r>
              <a:rPr lang="zh-CN" altLang="en-US" sz="2000" dirty="0">
                <a:latin typeface="Consolas" pitchFamily="49" charset="0"/>
                <a:ea typeface="仿宋" pitchFamily="49" charset="-122"/>
                <a:cs typeface="Consolas" pitchFamily="49" charset="0"/>
              </a:rPr>
              <a:t>、</a:t>
            </a:r>
            <a:r>
              <a:rPr lang="en-US" altLang="zh-CN" sz="2000" dirty="0">
                <a:latin typeface="Consolas" pitchFamily="49" charset="0"/>
                <a:ea typeface="仿宋" pitchFamily="49" charset="-122"/>
                <a:cs typeface="Consolas" pitchFamily="49" charset="0"/>
              </a:rPr>
              <a:t>3</a:t>
            </a:r>
            <a:r>
              <a:rPr lang="zh-CN" altLang="en-US" sz="2000" dirty="0">
                <a:latin typeface="Consolas" pitchFamily="49" charset="0"/>
                <a:ea typeface="仿宋" pitchFamily="49" charset="-122"/>
                <a:cs typeface="Consolas" pitchFamily="49" charset="0"/>
              </a:rPr>
              <a:t>、</a:t>
            </a:r>
            <a:r>
              <a:rPr lang="en-US" altLang="zh-CN" sz="2000" dirty="0">
                <a:latin typeface="Consolas" pitchFamily="49" charset="0"/>
                <a:ea typeface="仿宋" pitchFamily="49" charset="-122"/>
                <a:cs typeface="Consolas" pitchFamily="49" charset="0"/>
              </a:rPr>
              <a:t>5</a:t>
            </a:r>
            <a:r>
              <a:rPr lang="zh-CN" altLang="en-US" sz="2000" dirty="0">
                <a:latin typeface="Consolas" pitchFamily="49" charset="0"/>
                <a:ea typeface="仿宋" pitchFamily="49" charset="-122"/>
                <a:cs typeface="Consolas" pitchFamily="49" charset="0"/>
              </a:rPr>
              <a:t>，表示为</a:t>
            </a:r>
          </a:p>
          <a:p>
            <a:r>
              <a:rPr lang="en-US" altLang="zh-CN" sz="2000" dirty="0">
                <a:latin typeface="Consolas" pitchFamily="49" charset="0"/>
                <a:ea typeface="仿宋" pitchFamily="49" charset="-122"/>
                <a:cs typeface="Consolas" pitchFamily="49" charset="0"/>
              </a:rPr>
              <a:t>path[5]={0,2,3,5}</a:t>
            </a:r>
            <a:r>
              <a:rPr lang="zh-CN" altLang="en-US" sz="2000" dirty="0">
                <a:latin typeface="Consolas" pitchFamily="49" charset="0"/>
                <a:ea typeface="仿宋" pitchFamily="49" charset="-122"/>
                <a:cs typeface="Consolas" pitchFamily="49" charset="0"/>
              </a:rPr>
              <a:t>。</a:t>
            </a:r>
            <a:endParaRPr lang="en-US" altLang="zh-CN" sz="2000" dirty="0">
              <a:latin typeface="Consolas" pitchFamily="49" charset="0"/>
              <a:ea typeface="仿宋" pitchFamily="49" charset="-122"/>
              <a:cs typeface="Consolas" pitchFamily="49" charset="0"/>
            </a:endParaRPr>
          </a:p>
          <a:p>
            <a:r>
              <a:rPr lang="zh-CN" altLang="en-US" sz="2000" dirty="0">
                <a:latin typeface="Consolas" pitchFamily="49" charset="0"/>
                <a:ea typeface="仿宋" pitchFamily="49" charset="-122"/>
                <a:cs typeface="Consolas" pitchFamily="49" charset="0"/>
              </a:rPr>
              <a:t>所有</a:t>
            </a:r>
            <a:r>
              <a:rPr lang="en-US" altLang="zh-CN" sz="2000" i="1" dirty="0">
                <a:latin typeface="Consolas" pitchFamily="49" charset="0"/>
                <a:ea typeface="仿宋" pitchFamily="49" charset="-122"/>
                <a:cs typeface="Consolas" pitchFamily="49" charset="0"/>
              </a:rPr>
              <a:t>n</a:t>
            </a:r>
            <a:r>
              <a:rPr lang="en-US" altLang="zh-CN" sz="2000" dirty="0">
                <a:latin typeface="Consolas" pitchFamily="49" charset="0"/>
                <a:ea typeface="仿宋" pitchFamily="49" charset="-122"/>
                <a:cs typeface="Consolas" pitchFamily="49" charset="0"/>
              </a:rPr>
              <a:t>-1</a:t>
            </a:r>
            <a:r>
              <a:rPr lang="zh-CN" altLang="en-US" sz="2000" dirty="0">
                <a:latin typeface="Consolas" pitchFamily="49" charset="0"/>
                <a:ea typeface="仿宋" pitchFamily="49" charset="-122"/>
                <a:cs typeface="Consolas" pitchFamily="49" charset="0"/>
              </a:rPr>
              <a:t>条最短路径可以用二维数组</a:t>
            </a:r>
            <a:r>
              <a:rPr lang="en-US" altLang="zh-CN" sz="2000" dirty="0">
                <a:latin typeface="Consolas" pitchFamily="49" charset="0"/>
                <a:ea typeface="仿宋" pitchFamily="49" charset="-122"/>
                <a:cs typeface="Consolas" pitchFamily="49" charset="0"/>
              </a:rPr>
              <a:t>path[][]</a:t>
            </a:r>
            <a:r>
              <a:rPr lang="zh-CN" altLang="en-US" sz="2000" dirty="0">
                <a:latin typeface="Consolas" pitchFamily="49" charset="0"/>
                <a:ea typeface="仿宋" pitchFamily="49" charset="-122"/>
                <a:cs typeface="Consolas" pitchFamily="49" charset="0"/>
              </a:rPr>
              <a:t>存储。</a:t>
            </a:r>
            <a:endParaRPr lang="en-US" altLang="zh-CN" sz="2000" dirty="0">
              <a:latin typeface="Consolas" pitchFamily="49" charset="0"/>
              <a:ea typeface="仿宋" pitchFamily="49" charset="-122"/>
              <a:cs typeface="Consolas" pitchFamily="49" charset="0"/>
            </a:endParaRPr>
          </a:p>
        </p:txBody>
      </p:sp>
      <p:sp>
        <p:nvSpPr>
          <p:cNvPr id="22" name="Text Box 8">
            <a:extLst>
              <a:ext uri="{FF2B5EF4-FFF2-40B4-BE49-F238E27FC236}">
                <a16:creationId xmlns:a16="http://schemas.microsoft.com/office/drawing/2014/main" id="{DF5450A0-3A98-BD04-C16F-C8631A68F9C7}"/>
              </a:ext>
            </a:extLst>
          </p:cNvPr>
          <p:cNvSpPr txBox="1">
            <a:spLocks noChangeArrowheads="1"/>
          </p:cNvSpPr>
          <p:nvPr/>
        </p:nvSpPr>
        <p:spPr bwMode="auto">
          <a:xfrm>
            <a:off x="7619510" y="5652999"/>
            <a:ext cx="784849" cy="1015663"/>
          </a:xfrm>
          <a:prstGeom prst="rect">
            <a:avLst/>
          </a:prstGeom>
          <a:noFill/>
          <a:ln w="28575" algn="ctr">
            <a:noFill/>
            <a:miter lim="800000"/>
            <a:headEnd/>
            <a:tailEnd type="none" w="med" len="lg"/>
          </a:ln>
          <a:effectLst/>
        </p:spPr>
        <p:txBody>
          <a:bodyPr wrap="square">
            <a:spAutoFit/>
          </a:bodyPr>
          <a:lstStyle/>
          <a:p>
            <a:pPr algn="ctr"/>
            <a:r>
              <a:rPr lang="zh-CN" altLang="en-US" sz="6000" dirty="0">
                <a:solidFill>
                  <a:srgbClr val="FF0000"/>
                </a:solidFill>
                <a:latin typeface="Consolas" pitchFamily="49" charset="0"/>
                <a:cs typeface="Consolas" pitchFamily="49" charset="0"/>
              </a:rPr>
              <a:t>？</a:t>
            </a:r>
          </a:p>
        </p:txBody>
      </p:sp>
      <p:sp>
        <p:nvSpPr>
          <p:cNvPr id="23" name="Text Box 9">
            <a:extLst>
              <a:ext uri="{FF2B5EF4-FFF2-40B4-BE49-F238E27FC236}">
                <a16:creationId xmlns:a16="http://schemas.microsoft.com/office/drawing/2014/main" id="{71526980-57F7-5D6F-C981-B7735A135481}"/>
              </a:ext>
            </a:extLst>
          </p:cNvPr>
          <p:cNvSpPr txBox="1">
            <a:spLocks noChangeArrowheads="1"/>
          </p:cNvSpPr>
          <p:nvPr/>
        </p:nvSpPr>
        <p:spPr bwMode="auto">
          <a:xfrm>
            <a:off x="1487488" y="2420888"/>
            <a:ext cx="4105274" cy="483960"/>
          </a:xfrm>
          <a:prstGeom prst="rect">
            <a:avLst/>
          </a:prstGeom>
          <a:ln>
            <a:headEnd/>
            <a:tailEnd/>
          </a:ln>
        </p:spPr>
        <p:style>
          <a:lnRef idx="1">
            <a:schemeClr val="accent6"/>
          </a:lnRef>
          <a:fillRef idx="2">
            <a:schemeClr val="accent6"/>
          </a:fillRef>
          <a:effectRef idx="1">
            <a:schemeClr val="accent6"/>
          </a:effectRef>
          <a:fontRef idx="minor">
            <a:schemeClr val="dk1"/>
          </a:fontRef>
        </p:style>
        <p:txBody>
          <a:bodyPr wrap="square" lIns="0" tIns="72000" rIns="0" bIns="72000">
            <a:spAutoFit/>
          </a:bodyPr>
          <a:lstStyle/>
          <a:p>
            <a:pPr algn="ctr"/>
            <a:r>
              <a:rPr lang="zh-CN" altLang="en-US" sz="2200" dirty="0">
                <a:solidFill>
                  <a:srgbClr val="FF0000"/>
                </a:solidFill>
                <a:latin typeface="Consolas" pitchFamily="49" charset="0"/>
                <a:ea typeface="华文中宋" pitchFamily="2" charset="-122"/>
                <a:cs typeface="Consolas" pitchFamily="49" charset="0"/>
              </a:rPr>
              <a:t>算法设计（解决</a:t>
            </a:r>
            <a:r>
              <a:rPr lang="en-US" altLang="zh-CN" sz="2200" dirty="0">
                <a:solidFill>
                  <a:srgbClr val="FF0000"/>
                </a:solidFill>
                <a:latin typeface="Consolas" pitchFamily="49" charset="0"/>
                <a:ea typeface="华文中宋" pitchFamily="2" charset="-122"/>
                <a:cs typeface="Consolas" pitchFamily="49" charset="0"/>
              </a:rPr>
              <a:t>2</a:t>
            </a:r>
            <a:r>
              <a:rPr lang="zh-CN" altLang="en-US" sz="2200" dirty="0">
                <a:solidFill>
                  <a:srgbClr val="FF0000"/>
                </a:solidFill>
                <a:latin typeface="Consolas" pitchFamily="49" charset="0"/>
                <a:ea typeface="华文中宋" pitchFamily="2" charset="-122"/>
                <a:cs typeface="Consolas" pitchFamily="49" charset="0"/>
              </a:rPr>
              <a:t>个问题）</a:t>
            </a:r>
          </a:p>
        </p:txBody>
      </p:sp>
    </p:spTree>
    <p:extLst>
      <p:ext uri="{BB962C8B-B14F-4D97-AF65-F5344CB8AC3E}">
        <p14:creationId xmlns:p14="http://schemas.microsoft.com/office/powerpoint/2010/main" val="97811160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0" grpId="0" animBg="1"/>
      <p:bldP spid="21" grpId="0"/>
      <p:bldP spid="22" grpId="0"/>
    </p:bld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7C8D27-C944-E671-0A6E-898D3C718230}"/>
            </a:ext>
          </a:extLst>
        </p:cNvPr>
        <p:cNvGrpSpPr/>
        <p:nvPr/>
      </p:nvGrpSpPr>
      <p:grpSpPr>
        <a:xfrm>
          <a:off x="0" y="0"/>
          <a:ext cx="0" cy="0"/>
          <a:chOff x="0" y="0"/>
          <a:chExt cx="0" cy="0"/>
        </a:xfrm>
      </p:grpSpPr>
      <p:sp>
        <p:nvSpPr>
          <p:cNvPr id="9" name="Rectangle 2">
            <a:extLst>
              <a:ext uri="{FF2B5EF4-FFF2-40B4-BE49-F238E27FC236}">
                <a16:creationId xmlns:a16="http://schemas.microsoft.com/office/drawing/2014/main" id="{C8C5C47D-FD61-2969-3FE1-D35EE0945B71}"/>
              </a:ext>
            </a:extLst>
          </p:cNvPr>
          <p:cNvSpPr txBox="1">
            <a:spLocks noChangeArrowheads="1"/>
          </p:cNvSpPr>
          <p:nvPr/>
        </p:nvSpPr>
        <p:spPr>
          <a:xfrm>
            <a:off x="474771" y="1230902"/>
            <a:ext cx="10949819"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8.5.2 </a:t>
            </a:r>
            <a:r>
              <a:rPr lang="zh-CN" altLang="en-US" dirty="0"/>
              <a:t>从一个顶点到其余各顶点的最短路径（单源点最短路径问题）</a:t>
            </a:r>
          </a:p>
        </p:txBody>
      </p:sp>
      <p:cxnSp>
        <p:nvCxnSpPr>
          <p:cNvPr id="10" name="直接连接符 9">
            <a:extLst>
              <a:ext uri="{FF2B5EF4-FFF2-40B4-BE49-F238E27FC236}">
                <a16:creationId xmlns:a16="http://schemas.microsoft.com/office/drawing/2014/main" id="{5C1F49D3-9B1F-249D-1354-14C4AD76534F}"/>
              </a:ext>
            </a:extLst>
          </p:cNvPr>
          <p:cNvCxnSpPr>
            <a:cxnSpLocks/>
          </p:cNvCxnSpPr>
          <p:nvPr/>
        </p:nvCxnSpPr>
        <p:spPr>
          <a:xfrm>
            <a:off x="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11" name="矩形 10">
            <a:extLst>
              <a:ext uri="{FF2B5EF4-FFF2-40B4-BE49-F238E27FC236}">
                <a16:creationId xmlns:a16="http://schemas.microsoft.com/office/drawing/2014/main" id="{35CA6D78-9C55-DFFC-3B0B-70C2978F84FE}"/>
              </a:ext>
            </a:extLst>
          </p:cNvPr>
          <p:cNvSpPr/>
          <p:nvPr/>
        </p:nvSpPr>
        <p:spPr>
          <a:xfrm>
            <a:off x="3394075" y="399838"/>
            <a:ext cx="4617860"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8.5 </a:t>
            </a:r>
            <a:r>
              <a:rPr lang="zh-CN" altLang="en-US" sz="3000" b="1" dirty="0">
                <a:latin typeface="黑体" pitchFamily="49" charset="-122"/>
                <a:ea typeface="黑体" pitchFamily="49" charset="-122"/>
                <a:cs typeface="经典粗黑简" pitchFamily="49" charset="-122"/>
              </a:rPr>
              <a:t>最短路径</a:t>
            </a:r>
          </a:p>
        </p:txBody>
      </p:sp>
      <p:sp>
        <p:nvSpPr>
          <p:cNvPr id="18" name="Text Box 4">
            <a:extLst>
              <a:ext uri="{FF2B5EF4-FFF2-40B4-BE49-F238E27FC236}">
                <a16:creationId xmlns:a16="http://schemas.microsoft.com/office/drawing/2014/main" id="{B307220C-9AE7-5151-15FF-8B735C9369FF}"/>
              </a:ext>
            </a:extLst>
          </p:cNvPr>
          <p:cNvSpPr txBox="1">
            <a:spLocks noChangeArrowheads="1"/>
          </p:cNvSpPr>
          <p:nvPr/>
        </p:nvSpPr>
        <p:spPr bwMode="auto">
          <a:xfrm>
            <a:off x="1388265" y="1922692"/>
            <a:ext cx="5355805" cy="461665"/>
          </a:xfrm>
          <a:prstGeom prst="rect">
            <a:avLst/>
          </a:prstGeom>
          <a:noFill/>
          <a:ln w="38100" algn="ctr">
            <a:noFill/>
            <a:miter lim="800000"/>
            <a:headEnd/>
            <a:tailEnd type="none" w="med" len="lg"/>
          </a:ln>
          <a:effectLst/>
        </p:spPr>
        <p:txBody>
          <a:bodyPr wrap="square">
            <a:spAutoFit/>
          </a:bodyPr>
          <a:lstStyle/>
          <a:p>
            <a:r>
              <a:rPr lang="zh-CN" altLang="en-US" sz="2400" b="1" dirty="0">
                <a:latin typeface="黑体" pitchFamily="49" charset="-122"/>
                <a:ea typeface="黑体" pitchFamily="49" charset="-122"/>
                <a:cs typeface="经典粗黑简" pitchFamily="49" charset="-122"/>
              </a:rPr>
              <a:t>单源最短路径问题：</a:t>
            </a:r>
            <a:r>
              <a:rPr lang="en-US" altLang="zh-CN" sz="2400" b="1" dirty="0" err="1">
                <a:latin typeface="黑体" pitchFamily="49" charset="-122"/>
                <a:ea typeface="黑体" pitchFamily="49" charset="-122"/>
                <a:cs typeface="经典粗黑简" pitchFamily="49" charset="-122"/>
              </a:rPr>
              <a:t>Dijkstra</a:t>
            </a:r>
            <a:r>
              <a:rPr lang="zh-CN" altLang="en-US" sz="2400" b="1" dirty="0">
                <a:latin typeface="黑体" pitchFamily="49" charset="-122"/>
                <a:ea typeface="黑体" pitchFamily="49" charset="-122"/>
                <a:cs typeface="经典粗黑简" pitchFamily="49" charset="-122"/>
              </a:rPr>
              <a:t>算法</a:t>
            </a:r>
          </a:p>
        </p:txBody>
      </p:sp>
      <p:sp>
        <p:nvSpPr>
          <p:cNvPr id="2" name="Text Box 4">
            <a:extLst>
              <a:ext uri="{FF2B5EF4-FFF2-40B4-BE49-F238E27FC236}">
                <a16:creationId xmlns:a16="http://schemas.microsoft.com/office/drawing/2014/main" id="{273D686E-9236-79D5-DAAC-290C7FF775F0}"/>
              </a:ext>
            </a:extLst>
          </p:cNvPr>
          <p:cNvSpPr txBox="1">
            <a:spLocks noChangeArrowheads="1"/>
          </p:cNvSpPr>
          <p:nvPr/>
        </p:nvSpPr>
        <p:spPr bwMode="auto">
          <a:xfrm>
            <a:off x="1386278" y="2485188"/>
            <a:ext cx="6337300" cy="461665"/>
          </a:xfrm>
          <a:prstGeom prst="rect">
            <a:avLst/>
          </a:prstGeom>
          <a:noFill/>
          <a:ln w="19050" algn="ctr">
            <a:noFill/>
            <a:miter lim="800000"/>
            <a:headEnd/>
            <a:tailEnd type="none" w="med" len="lg"/>
          </a:ln>
          <a:effectLst/>
        </p:spPr>
        <p:txBody>
          <a:bodyPr>
            <a:spAutoFit/>
          </a:bodyPr>
          <a:lstStyle/>
          <a:p>
            <a:pPr>
              <a:lnSpc>
                <a:spcPct val="120000"/>
              </a:lnSpc>
            </a:pPr>
            <a:r>
              <a:rPr lang="zh-CN" altLang="en-US" sz="2000" dirty="0">
                <a:latin typeface="Consolas" pitchFamily="49" charset="0"/>
                <a:ea typeface="楷体" pitchFamily="49" charset="-122"/>
                <a:cs typeface="Consolas" pitchFamily="49" charset="0"/>
              </a:rPr>
              <a:t>改进的方法是采用一维数组</a:t>
            </a:r>
            <a:r>
              <a:rPr lang="en-US" altLang="zh-CN" sz="2000" dirty="0">
                <a:solidFill>
                  <a:srgbClr val="FF3300"/>
                </a:solidFill>
                <a:latin typeface="Consolas" pitchFamily="49" charset="0"/>
                <a:ea typeface="楷体" pitchFamily="49" charset="-122"/>
                <a:cs typeface="Consolas" pitchFamily="49" charset="0"/>
              </a:rPr>
              <a:t>path</a:t>
            </a:r>
            <a:r>
              <a:rPr lang="zh-CN" altLang="en-US" sz="2000" dirty="0">
                <a:latin typeface="Consolas" pitchFamily="49" charset="0"/>
                <a:ea typeface="楷体" pitchFamily="49" charset="-122"/>
                <a:cs typeface="Consolas" pitchFamily="49" charset="0"/>
              </a:rPr>
              <a:t>来保存：</a:t>
            </a:r>
          </a:p>
        </p:txBody>
      </p:sp>
      <p:sp>
        <p:nvSpPr>
          <p:cNvPr id="3" name="Text Box 14">
            <a:extLst>
              <a:ext uri="{FF2B5EF4-FFF2-40B4-BE49-F238E27FC236}">
                <a16:creationId xmlns:a16="http://schemas.microsoft.com/office/drawing/2014/main" id="{62CB6CA8-2CA0-4852-A8C6-339D14A07034}"/>
              </a:ext>
            </a:extLst>
          </p:cNvPr>
          <p:cNvSpPr txBox="1">
            <a:spLocks noChangeArrowheads="1"/>
          </p:cNvSpPr>
          <p:nvPr/>
        </p:nvSpPr>
        <p:spPr bwMode="auto">
          <a:xfrm>
            <a:off x="1487488" y="2970576"/>
            <a:ext cx="4967288" cy="307777"/>
          </a:xfrm>
          <a:prstGeom prst="rect">
            <a:avLst/>
          </a:prstGeom>
          <a:noFill/>
          <a:ln w="28575" algn="ctr">
            <a:noFill/>
            <a:miter lim="800000"/>
            <a:headEnd/>
            <a:tailEnd/>
          </a:ln>
          <a:effectLst/>
        </p:spPr>
        <p:txBody>
          <a:bodyPr lIns="0" tIns="0" rIns="0" bIns="0">
            <a:spAutoFit/>
          </a:bodyPr>
          <a:lstStyle/>
          <a:p>
            <a:r>
              <a:rPr lang="zh-CN" altLang="en-US" sz="2000" dirty="0">
                <a:latin typeface="Consolas" pitchFamily="49" charset="0"/>
                <a:ea typeface="仿宋" pitchFamily="49" charset="-122"/>
                <a:cs typeface="Consolas" pitchFamily="49" charset="0"/>
              </a:rPr>
              <a:t>若从</a:t>
            </a:r>
            <a:r>
              <a:rPr lang="zh-CN" altLang="en-US" sz="2000">
                <a:latin typeface="Consolas" pitchFamily="49" charset="0"/>
                <a:ea typeface="仿宋" pitchFamily="49" charset="-122"/>
                <a:cs typeface="Consolas" pitchFamily="49" charset="0"/>
              </a:rPr>
              <a:t>源点</a:t>
            </a:r>
            <a:r>
              <a:rPr lang="en-US" altLang="zh-CN" sz="2000" i="1">
                <a:latin typeface="Consolas" pitchFamily="49" charset="0"/>
                <a:ea typeface="仿宋" pitchFamily="49" charset="-122"/>
                <a:cs typeface="Consolas" pitchFamily="49" charset="0"/>
              </a:rPr>
              <a:t>v</a:t>
            </a:r>
            <a:r>
              <a:rPr lang="en-US" altLang="zh-CN" sz="2000">
                <a:solidFill>
                  <a:srgbClr val="FF00FF"/>
                </a:solidFill>
                <a:latin typeface="Consolas" pitchFamily="49" charset="0"/>
                <a:ea typeface="仿宋" pitchFamily="49" charset="-122"/>
                <a:cs typeface="Consolas" pitchFamily="49" charset="0"/>
                <a:sym typeface="Wingdings"/>
              </a:rPr>
              <a:t></a:t>
            </a:r>
            <a:r>
              <a:rPr lang="en-US" altLang="zh-CN" sz="2000" i="1">
                <a:latin typeface="Consolas" pitchFamily="49" charset="0"/>
                <a:ea typeface="仿宋" pitchFamily="49" charset="-122"/>
                <a:cs typeface="Consolas" pitchFamily="49" charset="0"/>
              </a:rPr>
              <a:t>j</a:t>
            </a:r>
            <a:r>
              <a:rPr lang="zh-CN" altLang="en-US" sz="2000" dirty="0">
                <a:latin typeface="Consolas" pitchFamily="49" charset="0"/>
                <a:ea typeface="仿宋" pitchFamily="49" charset="-122"/>
                <a:cs typeface="Consolas" pitchFamily="49" charset="0"/>
              </a:rPr>
              <a:t>的最短路径如下：</a:t>
            </a:r>
          </a:p>
        </p:txBody>
      </p:sp>
      <p:sp>
        <p:nvSpPr>
          <p:cNvPr id="4" name="Text Box 15">
            <a:extLst>
              <a:ext uri="{FF2B5EF4-FFF2-40B4-BE49-F238E27FC236}">
                <a16:creationId xmlns:a16="http://schemas.microsoft.com/office/drawing/2014/main" id="{C8820564-DE93-AA03-F65E-181736C27001}"/>
              </a:ext>
            </a:extLst>
          </p:cNvPr>
          <p:cNvSpPr txBox="1">
            <a:spLocks noChangeArrowheads="1"/>
          </p:cNvSpPr>
          <p:nvPr/>
        </p:nvSpPr>
        <p:spPr bwMode="auto">
          <a:xfrm>
            <a:off x="1449348" y="4396821"/>
            <a:ext cx="358775" cy="307777"/>
          </a:xfrm>
          <a:prstGeom prst="rect">
            <a:avLst/>
          </a:prstGeom>
          <a:noFill/>
          <a:ln w="28575" algn="ctr">
            <a:noFill/>
            <a:miter lim="800000"/>
            <a:headEnd/>
            <a:tailEnd/>
          </a:ln>
          <a:effectLst/>
        </p:spPr>
        <p:txBody>
          <a:bodyPr lIns="0" tIns="0" rIns="0" bIns="0">
            <a:spAutoFit/>
          </a:bodyPr>
          <a:lstStyle/>
          <a:p>
            <a:r>
              <a:rPr lang="zh-CN" altLang="en-US" sz="2000" dirty="0">
                <a:latin typeface="Consolas" pitchFamily="49" charset="0"/>
                <a:ea typeface="楷体" pitchFamily="49" charset="-122"/>
                <a:cs typeface="Consolas" pitchFamily="49" charset="0"/>
              </a:rPr>
              <a:t>则</a:t>
            </a:r>
          </a:p>
        </p:txBody>
      </p:sp>
      <p:sp>
        <p:nvSpPr>
          <p:cNvPr id="5" name="Text Box 24">
            <a:extLst>
              <a:ext uri="{FF2B5EF4-FFF2-40B4-BE49-F238E27FC236}">
                <a16:creationId xmlns:a16="http://schemas.microsoft.com/office/drawing/2014/main" id="{1C4499D9-F815-BAAC-C749-F75A536299D5}"/>
              </a:ext>
            </a:extLst>
          </p:cNvPr>
          <p:cNvSpPr txBox="1">
            <a:spLocks noChangeArrowheads="1"/>
          </p:cNvSpPr>
          <p:nvPr/>
        </p:nvSpPr>
        <p:spPr bwMode="auto">
          <a:xfrm>
            <a:off x="2273307" y="4423132"/>
            <a:ext cx="3686227" cy="307777"/>
          </a:xfrm>
          <a:prstGeom prst="rect">
            <a:avLst/>
          </a:prstGeom>
          <a:noFill/>
          <a:ln w="28575" algn="ctr">
            <a:noFill/>
            <a:miter lim="800000"/>
            <a:headEnd/>
            <a:tailEnd/>
          </a:ln>
          <a:effectLst/>
        </p:spPr>
        <p:txBody>
          <a:bodyPr wrap="square" lIns="0" tIns="0" rIns="0" bIns="0">
            <a:spAutoFit/>
          </a:bodyPr>
          <a:lstStyle/>
          <a:p>
            <a:r>
              <a:rPr lang="zh-CN" altLang="en-US" sz="2000" dirty="0">
                <a:latin typeface="Consolas" pitchFamily="49" charset="0"/>
                <a:ea typeface="仿宋" pitchFamily="49" charset="-122"/>
                <a:cs typeface="Consolas" pitchFamily="49" charset="0"/>
              </a:rPr>
              <a:t>一定是从</a:t>
            </a:r>
            <a:r>
              <a:rPr lang="zh-CN" altLang="en-US" sz="2000">
                <a:latin typeface="Consolas" pitchFamily="49" charset="0"/>
                <a:ea typeface="仿宋" pitchFamily="49" charset="-122"/>
                <a:cs typeface="Consolas" pitchFamily="49" charset="0"/>
              </a:rPr>
              <a:t>源点</a:t>
            </a:r>
            <a:r>
              <a:rPr lang="en-US" altLang="zh-CN" sz="2000" i="1">
                <a:latin typeface="Consolas" pitchFamily="49" charset="0"/>
                <a:ea typeface="仿宋" pitchFamily="49" charset="-122"/>
                <a:cs typeface="Consolas" pitchFamily="49" charset="0"/>
              </a:rPr>
              <a:t>v</a:t>
            </a:r>
            <a:r>
              <a:rPr lang="en-US" altLang="zh-CN" sz="2000">
                <a:solidFill>
                  <a:srgbClr val="FF00FF"/>
                </a:solidFill>
                <a:latin typeface="Consolas" pitchFamily="49" charset="0"/>
                <a:ea typeface="仿宋" pitchFamily="49" charset="-122"/>
                <a:cs typeface="Consolas" pitchFamily="49" charset="0"/>
                <a:sym typeface="Wingdings"/>
              </a:rPr>
              <a:t></a:t>
            </a:r>
            <a:r>
              <a:rPr lang="en-US" altLang="zh-CN" sz="2000" i="1">
                <a:latin typeface="Consolas" pitchFamily="49" charset="0"/>
                <a:ea typeface="仿宋" pitchFamily="49" charset="-122"/>
                <a:cs typeface="Consolas" pitchFamily="49" charset="0"/>
              </a:rPr>
              <a:t>u</a:t>
            </a:r>
            <a:r>
              <a:rPr lang="zh-CN" altLang="en-US" sz="2000" dirty="0">
                <a:latin typeface="Consolas" pitchFamily="49" charset="0"/>
                <a:ea typeface="仿宋" pitchFamily="49" charset="-122"/>
                <a:cs typeface="Consolas" pitchFamily="49" charset="0"/>
              </a:rPr>
              <a:t>的最短路径</a:t>
            </a:r>
          </a:p>
        </p:txBody>
      </p:sp>
      <p:sp>
        <p:nvSpPr>
          <p:cNvPr id="6" name="Text Box 25">
            <a:extLst>
              <a:ext uri="{FF2B5EF4-FFF2-40B4-BE49-F238E27FC236}">
                <a16:creationId xmlns:a16="http://schemas.microsoft.com/office/drawing/2014/main" id="{7B541FD5-FED8-B746-A0C9-7D14E4AA631E}"/>
              </a:ext>
            </a:extLst>
          </p:cNvPr>
          <p:cNvSpPr txBox="1">
            <a:spLocks noChangeArrowheads="1"/>
          </p:cNvSpPr>
          <p:nvPr/>
        </p:nvSpPr>
        <p:spPr bwMode="auto">
          <a:xfrm>
            <a:off x="5488017" y="4208818"/>
            <a:ext cx="503238" cy="701675"/>
          </a:xfrm>
          <a:prstGeom prst="rect">
            <a:avLst/>
          </a:prstGeom>
          <a:noFill/>
          <a:ln w="28575" algn="ctr">
            <a:noFill/>
            <a:miter lim="800000"/>
            <a:headEnd/>
            <a:tailEnd type="none" w="med" len="lg"/>
          </a:ln>
          <a:effectLst/>
        </p:spPr>
        <p:txBody>
          <a:bodyPr>
            <a:spAutoFit/>
          </a:bodyPr>
          <a:lstStyle/>
          <a:p>
            <a:pPr algn="ctr"/>
            <a:r>
              <a:rPr lang="zh-CN" altLang="en-US" sz="4000" dirty="0">
                <a:solidFill>
                  <a:srgbClr val="FF0000"/>
                </a:solidFill>
                <a:latin typeface="Consolas" pitchFamily="49" charset="0"/>
                <a:cs typeface="Consolas" pitchFamily="49" charset="0"/>
              </a:rPr>
              <a:t>？</a:t>
            </a:r>
          </a:p>
        </p:txBody>
      </p:sp>
      <p:grpSp>
        <p:nvGrpSpPr>
          <p:cNvPr id="7" name="组合 47">
            <a:extLst>
              <a:ext uri="{FF2B5EF4-FFF2-40B4-BE49-F238E27FC236}">
                <a16:creationId xmlns:a16="http://schemas.microsoft.com/office/drawing/2014/main" id="{387CA80D-96EF-B634-97F8-C828B5830110}"/>
              </a:ext>
            </a:extLst>
          </p:cNvPr>
          <p:cNvGrpSpPr/>
          <p:nvPr/>
        </p:nvGrpSpPr>
        <p:grpSpPr>
          <a:xfrm>
            <a:off x="1930390" y="3529364"/>
            <a:ext cx="5189533" cy="468312"/>
            <a:chOff x="657183" y="1606538"/>
            <a:chExt cx="5189533" cy="468312"/>
          </a:xfrm>
        </p:grpSpPr>
        <p:sp>
          <p:nvSpPr>
            <p:cNvPr id="12" name="Oval 6">
              <a:extLst>
                <a:ext uri="{FF2B5EF4-FFF2-40B4-BE49-F238E27FC236}">
                  <a16:creationId xmlns:a16="http://schemas.microsoft.com/office/drawing/2014/main" id="{8BEFA245-BDD9-17C8-D9E7-5F93E59F3934}"/>
                </a:ext>
              </a:extLst>
            </p:cNvPr>
            <p:cNvSpPr>
              <a:spLocks noChangeArrowheads="1"/>
            </p:cNvSpPr>
            <p:nvPr/>
          </p:nvSpPr>
          <p:spPr bwMode="auto">
            <a:xfrm>
              <a:off x="657183" y="1643050"/>
              <a:ext cx="431800"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pPr algn="ctr">
                <a:spcBef>
                  <a:spcPct val="0"/>
                </a:spcBef>
              </a:pPr>
              <a:r>
                <a:rPr lang="en-US" altLang="zh-CN" sz="2000" i="1" dirty="0">
                  <a:solidFill>
                    <a:srgbClr val="3333FF"/>
                  </a:solidFill>
                  <a:latin typeface="Consolas" pitchFamily="49" charset="0"/>
                  <a:cs typeface="Consolas" pitchFamily="49" charset="0"/>
                </a:rPr>
                <a:t>v</a:t>
              </a:r>
            </a:p>
          </p:txBody>
        </p:sp>
        <p:sp>
          <p:nvSpPr>
            <p:cNvPr id="13" name="Oval 7">
              <a:extLst>
                <a:ext uri="{FF2B5EF4-FFF2-40B4-BE49-F238E27FC236}">
                  <a16:creationId xmlns:a16="http://schemas.microsoft.com/office/drawing/2014/main" id="{7D6712C2-4A32-087D-F033-9708EF2B5601}"/>
                </a:ext>
              </a:extLst>
            </p:cNvPr>
            <p:cNvSpPr>
              <a:spLocks noChangeArrowheads="1"/>
            </p:cNvSpPr>
            <p:nvPr/>
          </p:nvSpPr>
          <p:spPr bwMode="auto">
            <a:xfrm>
              <a:off x="4549729" y="1643050"/>
              <a:ext cx="431800"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pPr algn="ctr">
                <a:spcBef>
                  <a:spcPct val="0"/>
                </a:spcBef>
              </a:pPr>
              <a:r>
                <a:rPr lang="en-US" altLang="zh-CN" sz="2000" i="1">
                  <a:solidFill>
                    <a:srgbClr val="3333FF"/>
                  </a:solidFill>
                  <a:latin typeface="Consolas" pitchFamily="49" charset="0"/>
                  <a:cs typeface="Consolas" pitchFamily="49" charset="0"/>
                </a:rPr>
                <a:t>u</a:t>
              </a:r>
            </a:p>
          </p:txBody>
        </p:sp>
        <p:sp>
          <p:nvSpPr>
            <p:cNvPr id="14" name="Oval 8">
              <a:extLst>
                <a:ext uri="{FF2B5EF4-FFF2-40B4-BE49-F238E27FC236}">
                  <a16:creationId xmlns:a16="http://schemas.microsoft.com/office/drawing/2014/main" id="{6E6899E8-100D-AB0C-329C-DC68D5B3158E}"/>
                </a:ext>
              </a:extLst>
            </p:cNvPr>
            <p:cNvSpPr>
              <a:spLocks noChangeArrowheads="1"/>
            </p:cNvSpPr>
            <p:nvPr/>
          </p:nvSpPr>
          <p:spPr bwMode="auto">
            <a:xfrm>
              <a:off x="5414916" y="1643050"/>
              <a:ext cx="431800"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pPr algn="ctr">
                <a:spcBef>
                  <a:spcPct val="0"/>
                </a:spcBef>
              </a:pPr>
              <a:r>
                <a:rPr lang="en-US" altLang="zh-CN" sz="2000" i="1">
                  <a:solidFill>
                    <a:srgbClr val="3333FF"/>
                  </a:solidFill>
                  <a:latin typeface="Consolas" pitchFamily="49" charset="0"/>
                  <a:cs typeface="Consolas" pitchFamily="49" charset="0"/>
                </a:rPr>
                <a:t>j</a:t>
              </a:r>
            </a:p>
          </p:txBody>
        </p:sp>
        <p:sp>
          <p:nvSpPr>
            <p:cNvPr id="15" name="Line 9">
              <a:extLst>
                <a:ext uri="{FF2B5EF4-FFF2-40B4-BE49-F238E27FC236}">
                  <a16:creationId xmlns:a16="http://schemas.microsoft.com/office/drawing/2014/main" id="{0869B10A-FDE5-FAFC-BA7F-DBB8FFF25856}"/>
                </a:ext>
              </a:extLst>
            </p:cNvPr>
            <p:cNvSpPr>
              <a:spLocks noChangeShapeType="1"/>
            </p:cNvSpPr>
            <p:nvPr/>
          </p:nvSpPr>
          <p:spPr bwMode="auto">
            <a:xfrm>
              <a:off x="1088983" y="1858950"/>
              <a:ext cx="431800" cy="0"/>
            </a:xfrm>
            <a:prstGeom prst="line">
              <a:avLst/>
            </a:prstGeom>
            <a:ln>
              <a:headEnd/>
              <a:tailEnd type="triangle" w="med" len="lg"/>
            </a:ln>
          </p:spPr>
          <p:style>
            <a:lnRef idx="2">
              <a:schemeClr val="accent5"/>
            </a:lnRef>
            <a:fillRef idx="0">
              <a:schemeClr val="accent5"/>
            </a:fillRef>
            <a:effectRef idx="1">
              <a:schemeClr val="accent5"/>
            </a:effectRef>
            <a:fontRef idx="minor">
              <a:schemeClr val="tx1"/>
            </a:fontRef>
          </p:style>
          <p:txBody>
            <a:bodyPr wrap="none"/>
            <a:lstStyle/>
            <a:p>
              <a:endParaRPr lang="zh-CN" altLang="en-US">
                <a:latin typeface="Consolas" pitchFamily="49" charset="0"/>
                <a:cs typeface="Consolas" pitchFamily="49" charset="0"/>
              </a:endParaRPr>
            </a:p>
          </p:txBody>
        </p:sp>
        <p:sp>
          <p:nvSpPr>
            <p:cNvPr id="16" name="Text Box 10">
              <a:extLst>
                <a:ext uri="{FF2B5EF4-FFF2-40B4-BE49-F238E27FC236}">
                  <a16:creationId xmlns:a16="http://schemas.microsoft.com/office/drawing/2014/main" id="{FCEBD08D-9313-ED89-1D41-48941B71243A}"/>
                </a:ext>
              </a:extLst>
            </p:cNvPr>
            <p:cNvSpPr txBox="1">
              <a:spLocks noChangeArrowheads="1"/>
            </p:cNvSpPr>
            <p:nvPr/>
          </p:nvSpPr>
          <p:spPr bwMode="auto">
            <a:xfrm>
              <a:off x="1546161" y="1608128"/>
              <a:ext cx="576262" cy="369332"/>
            </a:xfrm>
            <a:prstGeom prst="rect">
              <a:avLst/>
            </a:prstGeom>
            <a:noFill/>
            <a:ln w="28575" algn="ctr">
              <a:noFill/>
              <a:miter lim="800000"/>
              <a:headEnd/>
              <a:tailEnd type="none" w="med" len="lg"/>
            </a:ln>
            <a:effectLst/>
          </p:spPr>
          <p:txBody>
            <a:bodyPr lIns="0" tIns="0" rIns="0" bIns="0">
              <a:spAutoFit/>
            </a:bodyPr>
            <a:lstStyle/>
            <a:p>
              <a:pPr algn="ctr"/>
              <a:r>
                <a:rPr lang="en-US" altLang="zh-CN" dirty="0">
                  <a:latin typeface="Consolas" pitchFamily="49" charset="0"/>
                  <a:ea typeface="宋体" pitchFamily="2" charset="-122"/>
                  <a:cs typeface="Consolas" pitchFamily="49" charset="0"/>
                </a:rPr>
                <a:t>…</a:t>
              </a:r>
            </a:p>
          </p:txBody>
        </p:sp>
        <p:sp>
          <p:nvSpPr>
            <p:cNvPr id="17" name="Line 11">
              <a:extLst>
                <a:ext uri="{FF2B5EF4-FFF2-40B4-BE49-F238E27FC236}">
                  <a16:creationId xmlns:a16="http://schemas.microsoft.com/office/drawing/2014/main" id="{D0920C5B-27B7-4E6C-39BB-04DDBB163A18}"/>
                </a:ext>
              </a:extLst>
            </p:cNvPr>
            <p:cNvSpPr>
              <a:spLocks noChangeShapeType="1"/>
            </p:cNvSpPr>
            <p:nvPr/>
          </p:nvSpPr>
          <p:spPr bwMode="auto">
            <a:xfrm>
              <a:off x="4117929" y="1858950"/>
              <a:ext cx="431800" cy="0"/>
            </a:xfrm>
            <a:prstGeom prst="line">
              <a:avLst/>
            </a:prstGeom>
            <a:ln>
              <a:headEnd/>
              <a:tailEnd type="triangle" w="med" len="med"/>
            </a:ln>
          </p:spPr>
          <p:style>
            <a:lnRef idx="2">
              <a:schemeClr val="accent5"/>
            </a:lnRef>
            <a:fillRef idx="0">
              <a:schemeClr val="accent5"/>
            </a:fillRef>
            <a:effectRef idx="1">
              <a:schemeClr val="accent5"/>
            </a:effectRef>
            <a:fontRef idx="minor">
              <a:schemeClr val="tx1"/>
            </a:fontRef>
          </p:style>
          <p:txBody>
            <a:bodyPr lIns="0" tIns="0" rIns="0" bIns="0">
              <a:spAutoFit/>
            </a:bodyPr>
            <a:lstStyle/>
            <a:p>
              <a:endParaRPr lang="zh-CN" altLang="en-US">
                <a:latin typeface="Consolas" pitchFamily="49" charset="0"/>
                <a:cs typeface="Consolas" pitchFamily="49" charset="0"/>
              </a:endParaRPr>
            </a:p>
          </p:txBody>
        </p:sp>
        <p:sp>
          <p:nvSpPr>
            <p:cNvPr id="19" name="Line 12">
              <a:extLst>
                <a:ext uri="{FF2B5EF4-FFF2-40B4-BE49-F238E27FC236}">
                  <a16:creationId xmlns:a16="http://schemas.microsoft.com/office/drawing/2014/main" id="{BAE382CA-8176-3CD9-E85B-8C136D2BA510}"/>
                </a:ext>
              </a:extLst>
            </p:cNvPr>
            <p:cNvSpPr>
              <a:spLocks noChangeShapeType="1"/>
            </p:cNvSpPr>
            <p:nvPr/>
          </p:nvSpPr>
          <p:spPr bwMode="auto">
            <a:xfrm>
              <a:off x="4981529" y="1858950"/>
              <a:ext cx="433387" cy="0"/>
            </a:xfrm>
            <a:prstGeom prst="line">
              <a:avLst/>
            </a:prstGeom>
            <a:ln>
              <a:headEnd/>
              <a:tailEnd type="triangle" w="med" len="med"/>
            </a:ln>
          </p:spPr>
          <p:style>
            <a:lnRef idx="2">
              <a:schemeClr val="accent5"/>
            </a:lnRef>
            <a:fillRef idx="0">
              <a:schemeClr val="accent5"/>
            </a:fillRef>
            <a:effectRef idx="1">
              <a:schemeClr val="accent5"/>
            </a:effectRef>
            <a:fontRef idx="minor">
              <a:schemeClr val="tx1"/>
            </a:fontRef>
          </p:style>
          <p:txBody>
            <a:bodyPr lIns="0" tIns="0" rIns="0" bIns="0">
              <a:spAutoFit/>
            </a:bodyPr>
            <a:lstStyle/>
            <a:p>
              <a:endParaRPr lang="zh-CN" altLang="en-US">
                <a:latin typeface="Consolas" pitchFamily="49" charset="0"/>
                <a:cs typeface="Consolas" pitchFamily="49" charset="0"/>
              </a:endParaRPr>
            </a:p>
          </p:txBody>
        </p:sp>
        <p:sp>
          <p:nvSpPr>
            <p:cNvPr id="20" name="Oval 7">
              <a:extLst>
                <a:ext uri="{FF2B5EF4-FFF2-40B4-BE49-F238E27FC236}">
                  <a16:creationId xmlns:a16="http://schemas.microsoft.com/office/drawing/2014/main" id="{A87D0085-E771-6965-FE04-3FFA9729BB4B}"/>
                </a:ext>
              </a:extLst>
            </p:cNvPr>
            <p:cNvSpPr>
              <a:spLocks noChangeArrowheads="1"/>
            </p:cNvSpPr>
            <p:nvPr/>
          </p:nvSpPr>
          <p:spPr bwMode="auto">
            <a:xfrm>
              <a:off x="2546293" y="1643050"/>
              <a:ext cx="431800"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pPr algn="ctr">
                <a:spcBef>
                  <a:spcPct val="0"/>
                </a:spcBef>
              </a:pPr>
              <a:r>
                <a:rPr lang="en-US" altLang="zh-CN" sz="2000" i="1" dirty="0">
                  <a:solidFill>
                    <a:srgbClr val="3333FF"/>
                  </a:solidFill>
                  <a:latin typeface="Consolas" pitchFamily="49" charset="0"/>
                  <a:cs typeface="Consolas" pitchFamily="49" charset="0"/>
                </a:rPr>
                <a:t>a</a:t>
              </a:r>
            </a:p>
          </p:txBody>
        </p:sp>
        <p:sp>
          <p:nvSpPr>
            <p:cNvPr id="21" name="Line 9">
              <a:extLst>
                <a:ext uri="{FF2B5EF4-FFF2-40B4-BE49-F238E27FC236}">
                  <a16:creationId xmlns:a16="http://schemas.microsoft.com/office/drawing/2014/main" id="{4A2725F9-E093-2ED3-781A-85DC9166E73D}"/>
                </a:ext>
              </a:extLst>
            </p:cNvPr>
            <p:cNvSpPr>
              <a:spLocks noChangeShapeType="1"/>
            </p:cNvSpPr>
            <p:nvPr/>
          </p:nvSpPr>
          <p:spPr bwMode="auto">
            <a:xfrm>
              <a:off x="2117665" y="1857364"/>
              <a:ext cx="431800" cy="0"/>
            </a:xfrm>
            <a:prstGeom prst="line">
              <a:avLst/>
            </a:prstGeom>
            <a:ln>
              <a:headEnd/>
              <a:tailEnd type="triangle" w="med" len="lg"/>
            </a:ln>
          </p:spPr>
          <p:style>
            <a:lnRef idx="2">
              <a:schemeClr val="accent5"/>
            </a:lnRef>
            <a:fillRef idx="0">
              <a:schemeClr val="accent5"/>
            </a:fillRef>
            <a:effectRef idx="1">
              <a:schemeClr val="accent5"/>
            </a:effectRef>
            <a:fontRef idx="minor">
              <a:schemeClr val="tx1"/>
            </a:fontRef>
          </p:style>
          <p:txBody>
            <a:bodyPr wrap="none"/>
            <a:lstStyle/>
            <a:p>
              <a:endParaRPr lang="zh-CN" altLang="en-US">
                <a:latin typeface="Consolas" pitchFamily="49" charset="0"/>
                <a:cs typeface="Consolas" pitchFamily="49" charset="0"/>
              </a:endParaRPr>
            </a:p>
          </p:txBody>
        </p:sp>
        <p:sp>
          <p:nvSpPr>
            <p:cNvPr id="22" name="Line 9">
              <a:extLst>
                <a:ext uri="{FF2B5EF4-FFF2-40B4-BE49-F238E27FC236}">
                  <a16:creationId xmlns:a16="http://schemas.microsoft.com/office/drawing/2014/main" id="{EDCF7ECF-58E7-1CC1-DCBA-67306A45A169}"/>
                </a:ext>
              </a:extLst>
            </p:cNvPr>
            <p:cNvSpPr>
              <a:spLocks noChangeShapeType="1"/>
            </p:cNvSpPr>
            <p:nvPr/>
          </p:nvSpPr>
          <p:spPr bwMode="auto">
            <a:xfrm>
              <a:off x="3013051" y="1866885"/>
              <a:ext cx="431800" cy="0"/>
            </a:xfrm>
            <a:prstGeom prst="line">
              <a:avLst/>
            </a:prstGeom>
            <a:ln>
              <a:headEnd/>
              <a:tailEnd type="triangle" w="med" len="lg"/>
            </a:ln>
          </p:spPr>
          <p:style>
            <a:lnRef idx="2">
              <a:schemeClr val="accent5"/>
            </a:lnRef>
            <a:fillRef idx="0">
              <a:schemeClr val="accent5"/>
            </a:fillRef>
            <a:effectRef idx="1">
              <a:schemeClr val="accent5"/>
            </a:effectRef>
            <a:fontRef idx="minor">
              <a:schemeClr val="tx1"/>
            </a:fontRef>
          </p:style>
          <p:txBody>
            <a:bodyPr wrap="none"/>
            <a:lstStyle/>
            <a:p>
              <a:endParaRPr lang="zh-CN" altLang="en-US">
                <a:latin typeface="Consolas" pitchFamily="49" charset="0"/>
                <a:cs typeface="Consolas" pitchFamily="49" charset="0"/>
              </a:endParaRPr>
            </a:p>
          </p:txBody>
        </p:sp>
        <p:sp>
          <p:nvSpPr>
            <p:cNvPr id="23" name="Text Box 10">
              <a:extLst>
                <a:ext uri="{FF2B5EF4-FFF2-40B4-BE49-F238E27FC236}">
                  <a16:creationId xmlns:a16="http://schemas.microsoft.com/office/drawing/2014/main" id="{1A57D33E-887A-5A0C-4DBC-D4A401992907}"/>
                </a:ext>
              </a:extLst>
            </p:cNvPr>
            <p:cNvSpPr txBox="1">
              <a:spLocks noChangeArrowheads="1"/>
            </p:cNvSpPr>
            <p:nvPr/>
          </p:nvSpPr>
          <p:spPr bwMode="auto">
            <a:xfrm>
              <a:off x="3470229" y="1606538"/>
              <a:ext cx="576262" cy="369332"/>
            </a:xfrm>
            <a:prstGeom prst="rect">
              <a:avLst/>
            </a:prstGeom>
            <a:noFill/>
            <a:ln w="28575" algn="ctr">
              <a:noFill/>
              <a:miter lim="800000"/>
              <a:headEnd/>
              <a:tailEnd type="none" w="med" len="lg"/>
            </a:ln>
            <a:effectLst/>
          </p:spPr>
          <p:txBody>
            <a:bodyPr lIns="0" tIns="0" rIns="0" bIns="0">
              <a:spAutoFit/>
            </a:bodyPr>
            <a:lstStyle/>
            <a:p>
              <a:pPr algn="ctr"/>
              <a:r>
                <a:rPr lang="en-US" altLang="zh-CN" dirty="0">
                  <a:latin typeface="Consolas" pitchFamily="49" charset="0"/>
                  <a:ea typeface="宋体" pitchFamily="2" charset="-122"/>
                  <a:cs typeface="Consolas" pitchFamily="49" charset="0"/>
                </a:rPr>
                <a:t>…</a:t>
              </a:r>
            </a:p>
          </p:txBody>
        </p:sp>
      </p:grpSp>
      <p:grpSp>
        <p:nvGrpSpPr>
          <p:cNvPr id="24" name="组合 53">
            <a:extLst>
              <a:ext uri="{FF2B5EF4-FFF2-40B4-BE49-F238E27FC236}">
                <a16:creationId xmlns:a16="http://schemas.microsoft.com/office/drawing/2014/main" id="{720527EB-3416-4DFC-1F5D-570DA536E1BF}"/>
              </a:ext>
            </a:extLst>
          </p:cNvPr>
          <p:cNvGrpSpPr/>
          <p:nvPr/>
        </p:nvGrpSpPr>
        <p:grpSpPr>
          <a:xfrm>
            <a:off x="2092290" y="5763946"/>
            <a:ext cx="5189533" cy="461966"/>
            <a:chOff x="1000100" y="4467232"/>
            <a:chExt cx="5189533" cy="461966"/>
          </a:xfrm>
        </p:grpSpPr>
        <p:sp>
          <p:nvSpPr>
            <p:cNvPr id="25" name="Oval 6">
              <a:extLst>
                <a:ext uri="{FF2B5EF4-FFF2-40B4-BE49-F238E27FC236}">
                  <a16:creationId xmlns:a16="http://schemas.microsoft.com/office/drawing/2014/main" id="{F7ED66E3-F192-BB89-2395-FF17785B681A}"/>
                </a:ext>
              </a:extLst>
            </p:cNvPr>
            <p:cNvSpPr>
              <a:spLocks noChangeArrowheads="1"/>
            </p:cNvSpPr>
            <p:nvPr/>
          </p:nvSpPr>
          <p:spPr bwMode="auto">
            <a:xfrm>
              <a:off x="1000100" y="4497398"/>
              <a:ext cx="431800"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pPr algn="ctr">
                <a:spcBef>
                  <a:spcPct val="0"/>
                </a:spcBef>
              </a:pPr>
              <a:r>
                <a:rPr lang="en-US" altLang="zh-CN" sz="2000" i="1" dirty="0">
                  <a:solidFill>
                    <a:srgbClr val="3333FF"/>
                  </a:solidFill>
                  <a:latin typeface="Consolas" pitchFamily="49" charset="0"/>
                  <a:cs typeface="Consolas" pitchFamily="49" charset="0"/>
                </a:rPr>
                <a:t>v</a:t>
              </a:r>
            </a:p>
          </p:txBody>
        </p:sp>
        <p:sp>
          <p:nvSpPr>
            <p:cNvPr id="26" name="Oval 7">
              <a:extLst>
                <a:ext uri="{FF2B5EF4-FFF2-40B4-BE49-F238E27FC236}">
                  <a16:creationId xmlns:a16="http://schemas.microsoft.com/office/drawing/2014/main" id="{2E785E8E-95BA-049B-09F4-A289EE1F10D8}"/>
                </a:ext>
              </a:extLst>
            </p:cNvPr>
            <p:cNvSpPr>
              <a:spLocks noChangeArrowheads="1"/>
            </p:cNvSpPr>
            <p:nvPr/>
          </p:nvSpPr>
          <p:spPr bwMode="auto">
            <a:xfrm>
              <a:off x="4892646" y="4497398"/>
              <a:ext cx="431800"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pPr algn="ctr">
                <a:spcBef>
                  <a:spcPct val="0"/>
                </a:spcBef>
              </a:pPr>
              <a:r>
                <a:rPr lang="en-US" altLang="zh-CN" sz="2000" i="1">
                  <a:solidFill>
                    <a:srgbClr val="3333FF"/>
                  </a:solidFill>
                  <a:latin typeface="Consolas" pitchFamily="49" charset="0"/>
                  <a:cs typeface="Consolas" pitchFamily="49" charset="0"/>
                </a:rPr>
                <a:t>u</a:t>
              </a:r>
            </a:p>
          </p:txBody>
        </p:sp>
        <p:sp>
          <p:nvSpPr>
            <p:cNvPr id="27" name="Oval 8">
              <a:extLst>
                <a:ext uri="{FF2B5EF4-FFF2-40B4-BE49-F238E27FC236}">
                  <a16:creationId xmlns:a16="http://schemas.microsoft.com/office/drawing/2014/main" id="{67A738BB-E326-4C4A-AFB5-C18D26A4E328}"/>
                </a:ext>
              </a:extLst>
            </p:cNvPr>
            <p:cNvSpPr>
              <a:spLocks noChangeArrowheads="1"/>
            </p:cNvSpPr>
            <p:nvPr/>
          </p:nvSpPr>
          <p:spPr bwMode="auto">
            <a:xfrm>
              <a:off x="5757833" y="4497398"/>
              <a:ext cx="431800"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pPr algn="ctr">
                <a:spcBef>
                  <a:spcPct val="0"/>
                </a:spcBef>
              </a:pPr>
              <a:r>
                <a:rPr lang="en-US" altLang="zh-CN" sz="2000" i="1">
                  <a:solidFill>
                    <a:srgbClr val="3333FF"/>
                  </a:solidFill>
                  <a:latin typeface="Consolas" pitchFamily="49" charset="0"/>
                  <a:cs typeface="Consolas" pitchFamily="49" charset="0"/>
                </a:rPr>
                <a:t>j</a:t>
              </a:r>
            </a:p>
          </p:txBody>
        </p:sp>
        <p:sp>
          <p:nvSpPr>
            <p:cNvPr id="28" name="Line 9">
              <a:extLst>
                <a:ext uri="{FF2B5EF4-FFF2-40B4-BE49-F238E27FC236}">
                  <a16:creationId xmlns:a16="http://schemas.microsoft.com/office/drawing/2014/main" id="{56D3E95E-C058-24CD-9170-6EA44BB2E5B6}"/>
                </a:ext>
              </a:extLst>
            </p:cNvPr>
            <p:cNvSpPr>
              <a:spLocks noChangeShapeType="1"/>
            </p:cNvSpPr>
            <p:nvPr/>
          </p:nvSpPr>
          <p:spPr bwMode="auto">
            <a:xfrm>
              <a:off x="1431900" y="4713298"/>
              <a:ext cx="431800" cy="0"/>
            </a:xfrm>
            <a:prstGeom prst="line">
              <a:avLst/>
            </a:prstGeom>
            <a:ln>
              <a:headEnd/>
              <a:tailEnd type="triangle" w="med" len="lg"/>
            </a:ln>
          </p:spPr>
          <p:style>
            <a:lnRef idx="2">
              <a:schemeClr val="accent5"/>
            </a:lnRef>
            <a:fillRef idx="0">
              <a:schemeClr val="accent5"/>
            </a:fillRef>
            <a:effectRef idx="1">
              <a:schemeClr val="accent5"/>
            </a:effectRef>
            <a:fontRef idx="minor">
              <a:schemeClr val="tx1"/>
            </a:fontRef>
          </p:style>
          <p:txBody>
            <a:bodyPr wrap="none"/>
            <a:lstStyle/>
            <a:p>
              <a:endParaRPr lang="zh-CN" altLang="en-US">
                <a:latin typeface="Consolas" pitchFamily="49" charset="0"/>
                <a:cs typeface="Consolas" pitchFamily="49" charset="0"/>
              </a:endParaRPr>
            </a:p>
          </p:txBody>
        </p:sp>
        <p:sp>
          <p:nvSpPr>
            <p:cNvPr id="29" name="Text Box 10">
              <a:extLst>
                <a:ext uri="{FF2B5EF4-FFF2-40B4-BE49-F238E27FC236}">
                  <a16:creationId xmlns:a16="http://schemas.microsoft.com/office/drawing/2014/main" id="{A12B4C82-7E6D-6FC4-802A-D6F06DA27258}"/>
                </a:ext>
              </a:extLst>
            </p:cNvPr>
            <p:cNvSpPr txBox="1">
              <a:spLocks noChangeArrowheads="1"/>
            </p:cNvSpPr>
            <p:nvPr/>
          </p:nvSpPr>
          <p:spPr bwMode="auto">
            <a:xfrm>
              <a:off x="1889078" y="4467232"/>
              <a:ext cx="576262" cy="369332"/>
            </a:xfrm>
            <a:prstGeom prst="rect">
              <a:avLst/>
            </a:prstGeom>
            <a:noFill/>
            <a:ln w="28575" algn="ctr">
              <a:noFill/>
              <a:miter lim="800000"/>
              <a:headEnd/>
              <a:tailEnd type="none" w="med" len="lg"/>
            </a:ln>
            <a:effectLst/>
          </p:spPr>
          <p:txBody>
            <a:bodyPr lIns="0" tIns="0" rIns="0" bIns="0">
              <a:spAutoFit/>
            </a:bodyPr>
            <a:lstStyle/>
            <a:p>
              <a:pPr algn="ctr"/>
              <a:r>
                <a:rPr lang="en-US" altLang="zh-CN" dirty="0">
                  <a:latin typeface="Consolas" pitchFamily="49" charset="0"/>
                  <a:ea typeface="宋体" pitchFamily="2" charset="-122"/>
                  <a:cs typeface="Consolas" pitchFamily="49" charset="0"/>
                </a:rPr>
                <a:t>…</a:t>
              </a:r>
            </a:p>
          </p:txBody>
        </p:sp>
        <p:sp>
          <p:nvSpPr>
            <p:cNvPr id="30" name="Line 11">
              <a:extLst>
                <a:ext uri="{FF2B5EF4-FFF2-40B4-BE49-F238E27FC236}">
                  <a16:creationId xmlns:a16="http://schemas.microsoft.com/office/drawing/2014/main" id="{3B1235D7-9D31-2FCA-E5F4-1CF0804B8712}"/>
                </a:ext>
              </a:extLst>
            </p:cNvPr>
            <p:cNvSpPr>
              <a:spLocks noChangeShapeType="1"/>
            </p:cNvSpPr>
            <p:nvPr/>
          </p:nvSpPr>
          <p:spPr bwMode="auto">
            <a:xfrm>
              <a:off x="4460846" y="4713298"/>
              <a:ext cx="431800" cy="0"/>
            </a:xfrm>
            <a:prstGeom prst="line">
              <a:avLst/>
            </a:prstGeom>
            <a:ln>
              <a:headEnd/>
              <a:tailEnd type="triangle" w="med" len="med"/>
            </a:ln>
          </p:spPr>
          <p:style>
            <a:lnRef idx="2">
              <a:schemeClr val="accent5"/>
            </a:lnRef>
            <a:fillRef idx="0">
              <a:schemeClr val="accent5"/>
            </a:fillRef>
            <a:effectRef idx="1">
              <a:schemeClr val="accent5"/>
            </a:effectRef>
            <a:fontRef idx="minor">
              <a:schemeClr val="tx1"/>
            </a:fontRef>
          </p:style>
          <p:txBody>
            <a:bodyPr lIns="0" tIns="0" rIns="0" bIns="0">
              <a:spAutoFit/>
            </a:bodyPr>
            <a:lstStyle/>
            <a:p>
              <a:endParaRPr lang="zh-CN" altLang="en-US">
                <a:latin typeface="Consolas" pitchFamily="49" charset="0"/>
                <a:cs typeface="Consolas" pitchFamily="49" charset="0"/>
              </a:endParaRPr>
            </a:p>
          </p:txBody>
        </p:sp>
        <p:sp>
          <p:nvSpPr>
            <p:cNvPr id="31" name="Line 12">
              <a:extLst>
                <a:ext uri="{FF2B5EF4-FFF2-40B4-BE49-F238E27FC236}">
                  <a16:creationId xmlns:a16="http://schemas.microsoft.com/office/drawing/2014/main" id="{5BA053DC-A982-2DCA-AE8B-3D8F38FAB271}"/>
                </a:ext>
              </a:extLst>
            </p:cNvPr>
            <p:cNvSpPr>
              <a:spLocks noChangeShapeType="1"/>
            </p:cNvSpPr>
            <p:nvPr/>
          </p:nvSpPr>
          <p:spPr bwMode="auto">
            <a:xfrm>
              <a:off x="5324446" y="4713298"/>
              <a:ext cx="433387" cy="0"/>
            </a:xfrm>
            <a:prstGeom prst="line">
              <a:avLst/>
            </a:prstGeom>
            <a:ln>
              <a:headEnd/>
              <a:tailEnd type="triangle" w="med" len="med"/>
            </a:ln>
          </p:spPr>
          <p:style>
            <a:lnRef idx="2">
              <a:schemeClr val="accent5"/>
            </a:lnRef>
            <a:fillRef idx="0">
              <a:schemeClr val="accent5"/>
            </a:fillRef>
            <a:effectRef idx="1">
              <a:schemeClr val="accent5"/>
            </a:effectRef>
            <a:fontRef idx="minor">
              <a:schemeClr val="tx1"/>
            </a:fontRef>
          </p:style>
          <p:txBody>
            <a:bodyPr lIns="0" tIns="0" rIns="0" bIns="0">
              <a:spAutoFit/>
            </a:bodyPr>
            <a:lstStyle/>
            <a:p>
              <a:endParaRPr lang="zh-CN" altLang="en-US">
                <a:latin typeface="Consolas" pitchFamily="49" charset="0"/>
                <a:cs typeface="Consolas" pitchFamily="49" charset="0"/>
              </a:endParaRPr>
            </a:p>
          </p:txBody>
        </p:sp>
        <p:sp>
          <p:nvSpPr>
            <p:cNvPr id="32" name="Oval 7">
              <a:extLst>
                <a:ext uri="{FF2B5EF4-FFF2-40B4-BE49-F238E27FC236}">
                  <a16:creationId xmlns:a16="http://schemas.microsoft.com/office/drawing/2014/main" id="{31F5B916-525F-1F51-4294-07BB1405F3ED}"/>
                </a:ext>
              </a:extLst>
            </p:cNvPr>
            <p:cNvSpPr>
              <a:spLocks noChangeArrowheads="1"/>
            </p:cNvSpPr>
            <p:nvPr/>
          </p:nvSpPr>
          <p:spPr bwMode="auto">
            <a:xfrm>
              <a:off x="2889210" y="4497398"/>
              <a:ext cx="431800"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pPr algn="ctr">
                <a:spcBef>
                  <a:spcPct val="0"/>
                </a:spcBef>
              </a:pPr>
              <a:r>
                <a:rPr lang="en-US" altLang="zh-CN" sz="2000" i="1" dirty="0">
                  <a:solidFill>
                    <a:srgbClr val="3333FF"/>
                  </a:solidFill>
                  <a:latin typeface="Consolas" pitchFamily="49" charset="0"/>
                  <a:cs typeface="Consolas" pitchFamily="49" charset="0"/>
                </a:rPr>
                <a:t>a</a:t>
              </a:r>
            </a:p>
          </p:txBody>
        </p:sp>
        <p:sp>
          <p:nvSpPr>
            <p:cNvPr id="33" name="Line 9">
              <a:extLst>
                <a:ext uri="{FF2B5EF4-FFF2-40B4-BE49-F238E27FC236}">
                  <a16:creationId xmlns:a16="http://schemas.microsoft.com/office/drawing/2014/main" id="{0D8F7E57-7E3C-2493-2E45-BF2049097B85}"/>
                </a:ext>
              </a:extLst>
            </p:cNvPr>
            <p:cNvSpPr>
              <a:spLocks noChangeShapeType="1"/>
            </p:cNvSpPr>
            <p:nvPr/>
          </p:nvSpPr>
          <p:spPr bwMode="auto">
            <a:xfrm>
              <a:off x="2460582" y="4711712"/>
              <a:ext cx="431800" cy="0"/>
            </a:xfrm>
            <a:prstGeom prst="line">
              <a:avLst/>
            </a:prstGeom>
            <a:ln>
              <a:headEnd/>
              <a:tailEnd type="triangle" w="med" len="lg"/>
            </a:ln>
          </p:spPr>
          <p:style>
            <a:lnRef idx="2">
              <a:schemeClr val="accent5"/>
            </a:lnRef>
            <a:fillRef idx="0">
              <a:schemeClr val="accent5"/>
            </a:fillRef>
            <a:effectRef idx="1">
              <a:schemeClr val="accent5"/>
            </a:effectRef>
            <a:fontRef idx="minor">
              <a:schemeClr val="tx1"/>
            </a:fontRef>
          </p:style>
          <p:txBody>
            <a:bodyPr wrap="none"/>
            <a:lstStyle/>
            <a:p>
              <a:endParaRPr lang="zh-CN" altLang="en-US">
                <a:latin typeface="Consolas" pitchFamily="49" charset="0"/>
                <a:cs typeface="Consolas" pitchFamily="49" charset="0"/>
              </a:endParaRPr>
            </a:p>
          </p:txBody>
        </p:sp>
        <p:sp>
          <p:nvSpPr>
            <p:cNvPr id="34" name="Line 9">
              <a:extLst>
                <a:ext uri="{FF2B5EF4-FFF2-40B4-BE49-F238E27FC236}">
                  <a16:creationId xmlns:a16="http://schemas.microsoft.com/office/drawing/2014/main" id="{33E4470A-C46D-6CD6-A2D4-D83942E84B55}"/>
                </a:ext>
              </a:extLst>
            </p:cNvPr>
            <p:cNvSpPr>
              <a:spLocks noChangeShapeType="1"/>
            </p:cNvSpPr>
            <p:nvPr/>
          </p:nvSpPr>
          <p:spPr bwMode="auto">
            <a:xfrm>
              <a:off x="3355968" y="4721233"/>
              <a:ext cx="431800" cy="0"/>
            </a:xfrm>
            <a:prstGeom prst="line">
              <a:avLst/>
            </a:prstGeom>
            <a:ln>
              <a:headEnd/>
              <a:tailEnd type="triangle" w="med" len="lg"/>
            </a:ln>
          </p:spPr>
          <p:style>
            <a:lnRef idx="2">
              <a:schemeClr val="accent5"/>
            </a:lnRef>
            <a:fillRef idx="0">
              <a:schemeClr val="accent5"/>
            </a:fillRef>
            <a:effectRef idx="1">
              <a:schemeClr val="accent5"/>
            </a:effectRef>
            <a:fontRef idx="minor">
              <a:schemeClr val="tx1"/>
            </a:fontRef>
          </p:style>
          <p:txBody>
            <a:bodyPr wrap="none"/>
            <a:lstStyle/>
            <a:p>
              <a:endParaRPr lang="zh-CN" altLang="en-US">
                <a:latin typeface="Consolas" pitchFamily="49" charset="0"/>
                <a:cs typeface="Consolas" pitchFamily="49" charset="0"/>
              </a:endParaRPr>
            </a:p>
          </p:txBody>
        </p:sp>
        <p:sp>
          <p:nvSpPr>
            <p:cNvPr id="35" name="Text Box 10">
              <a:extLst>
                <a:ext uri="{FF2B5EF4-FFF2-40B4-BE49-F238E27FC236}">
                  <a16:creationId xmlns:a16="http://schemas.microsoft.com/office/drawing/2014/main" id="{03468E16-3487-E685-49FF-A2F7809760B0}"/>
                </a:ext>
              </a:extLst>
            </p:cNvPr>
            <p:cNvSpPr txBox="1">
              <a:spLocks noChangeArrowheads="1"/>
            </p:cNvSpPr>
            <p:nvPr/>
          </p:nvSpPr>
          <p:spPr bwMode="auto">
            <a:xfrm>
              <a:off x="3813146" y="4478903"/>
              <a:ext cx="576262" cy="369332"/>
            </a:xfrm>
            <a:prstGeom prst="rect">
              <a:avLst/>
            </a:prstGeom>
            <a:noFill/>
            <a:ln w="28575" algn="ctr">
              <a:noFill/>
              <a:miter lim="800000"/>
              <a:headEnd/>
              <a:tailEnd type="none" w="med" len="lg"/>
            </a:ln>
            <a:effectLst/>
          </p:spPr>
          <p:txBody>
            <a:bodyPr lIns="0" tIns="0" rIns="0" bIns="0">
              <a:spAutoFit/>
            </a:bodyPr>
            <a:lstStyle/>
            <a:p>
              <a:pPr algn="ctr"/>
              <a:r>
                <a:rPr lang="en-US" altLang="zh-CN" dirty="0">
                  <a:latin typeface="Consolas" pitchFamily="49" charset="0"/>
                  <a:ea typeface="宋体" pitchFamily="2" charset="-122"/>
                  <a:cs typeface="Consolas" pitchFamily="49" charset="0"/>
                </a:rPr>
                <a:t>…</a:t>
              </a:r>
            </a:p>
          </p:txBody>
        </p:sp>
      </p:grpSp>
      <p:sp>
        <p:nvSpPr>
          <p:cNvPr id="36" name="Oval 7">
            <a:extLst>
              <a:ext uri="{FF2B5EF4-FFF2-40B4-BE49-F238E27FC236}">
                <a16:creationId xmlns:a16="http://schemas.microsoft.com/office/drawing/2014/main" id="{2D54C518-746E-6015-198D-0B36B18566E2}"/>
              </a:ext>
            </a:extLst>
          </p:cNvPr>
          <p:cNvSpPr>
            <a:spLocks noChangeArrowheads="1"/>
          </p:cNvSpPr>
          <p:nvPr/>
        </p:nvSpPr>
        <p:spPr bwMode="auto">
          <a:xfrm>
            <a:off x="4017944" y="5082904"/>
            <a:ext cx="431800"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pPr algn="ctr">
              <a:spcBef>
                <a:spcPct val="0"/>
              </a:spcBef>
            </a:pPr>
            <a:r>
              <a:rPr lang="en-US" altLang="zh-CN" sz="2000" i="1" dirty="0">
                <a:solidFill>
                  <a:srgbClr val="3333FF"/>
                </a:solidFill>
                <a:latin typeface="Consolas" pitchFamily="49" charset="0"/>
                <a:cs typeface="Consolas" pitchFamily="49" charset="0"/>
              </a:rPr>
              <a:t>b</a:t>
            </a:r>
          </a:p>
        </p:txBody>
      </p:sp>
      <p:cxnSp>
        <p:nvCxnSpPr>
          <p:cNvPr id="37" name="直接箭头连接符 36">
            <a:extLst>
              <a:ext uri="{FF2B5EF4-FFF2-40B4-BE49-F238E27FC236}">
                <a16:creationId xmlns:a16="http://schemas.microsoft.com/office/drawing/2014/main" id="{24026B91-4052-9FE3-CB1D-54ABFEBC42AE}"/>
              </a:ext>
            </a:extLst>
          </p:cNvPr>
          <p:cNvCxnSpPr>
            <a:stCxn id="25" idx="7"/>
            <a:endCxn id="36" idx="2"/>
          </p:cNvCxnSpPr>
          <p:nvPr/>
        </p:nvCxnSpPr>
        <p:spPr>
          <a:xfrm rot="5400000" flipH="1" flipV="1">
            <a:off x="2960127" y="4799531"/>
            <a:ext cx="558544" cy="1557090"/>
          </a:xfrm>
          <a:prstGeom prst="straightConnector1">
            <a:avLst/>
          </a:prstGeom>
          <a:ln w="28575">
            <a:solidFill>
              <a:srgbClr val="339966"/>
            </a:solidFill>
            <a:prstDash val="dashDot"/>
            <a:tailEnd type="arrow"/>
          </a:ln>
        </p:spPr>
        <p:style>
          <a:lnRef idx="1">
            <a:schemeClr val="accent1"/>
          </a:lnRef>
          <a:fillRef idx="0">
            <a:schemeClr val="accent1"/>
          </a:fillRef>
          <a:effectRef idx="0">
            <a:schemeClr val="accent1"/>
          </a:effectRef>
          <a:fontRef idx="minor">
            <a:schemeClr val="tx1"/>
          </a:fontRef>
        </p:style>
      </p:cxnSp>
      <p:cxnSp>
        <p:nvCxnSpPr>
          <p:cNvPr id="38" name="直接箭头连接符 37">
            <a:extLst>
              <a:ext uri="{FF2B5EF4-FFF2-40B4-BE49-F238E27FC236}">
                <a16:creationId xmlns:a16="http://schemas.microsoft.com/office/drawing/2014/main" id="{C36FFC42-ECAE-94EF-72E5-5376A22BA042}"/>
              </a:ext>
            </a:extLst>
          </p:cNvPr>
          <p:cNvCxnSpPr>
            <a:stCxn id="36" idx="6"/>
            <a:endCxn id="26" idx="1"/>
          </p:cNvCxnSpPr>
          <p:nvPr/>
        </p:nvCxnSpPr>
        <p:spPr>
          <a:xfrm>
            <a:off x="4449744" y="5298804"/>
            <a:ext cx="1598328" cy="558544"/>
          </a:xfrm>
          <a:prstGeom prst="straightConnector1">
            <a:avLst/>
          </a:prstGeom>
          <a:ln w="28575">
            <a:solidFill>
              <a:srgbClr val="339966"/>
            </a:solidFill>
            <a:prstDash val="dashDot"/>
            <a:tailEnd type="arrow"/>
          </a:ln>
        </p:spPr>
        <p:style>
          <a:lnRef idx="1">
            <a:schemeClr val="accent1"/>
          </a:lnRef>
          <a:fillRef idx="0">
            <a:schemeClr val="accent1"/>
          </a:fillRef>
          <a:effectRef idx="0">
            <a:schemeClr val="accent1"/>
          </a:effectRef>
          <a:fontRef idx="minor">
            <a:schemeClr val="tx1"/>
          </a:fontRef>
        </p:style>
      </p:cxnSp>
      <p:sp>
        <p:nvSpPr>
          <p:cNvPr id="39" name="TextBox 49">
            <a:extLst>
              <a:ext uri="{FF2B5EF4-FFF2-40B4-BE49-F238E27FC236}">
                <a16:creationId xmlns:a16="http://schemas.microsoft.com/office/drawing/2014/main" id="{520E7FC4-1F41-6167-BF2C-767497437935}"/>
              </a:ext>
            </a:extLst>
          </p:cNvPr>
          <p:cNvSpPr txBox="1"/>
          <p:nvPr/>
        </p:nvSpPr>
        <p:spPr>
          <a:xfrm>
            <a:off x="1449348" y="4797152"/>
            <a:ext cx="1785950" cy="400110"/>
          </a:xfrm>
          <a:prstGeom prst="rect">
            <a:avLst/>
          </a:prstGeom>
          <a:noFill/>
        </p:spPr>
        <p:txBody>
          <a:bodyPr wrap="square" rtlCol="0">
            <a:spAutoFit/>
          </a:bodyPr>
          <a:lstStyle/>
          <a:p>
            <a:r>
              <a:rPr lang="zh-CN" altLang="en-US" sz="2000">
                <a:solidFill>
                  <a:srgbClr val="FF0000"/>
                </a:solidFill>
                <a:latin typeface="华文中宋" pitchFamily="2" charset="-122"/>
                <a:ea typeface="华文中宋" pitchFamily="2" charset="-122"/>
                <a:cs typeface="Consolas" pitchFamily="49" charset="0"/>
              </a:rPr>
              <a:t>反证法证明：</a:t>
            </a:r>
            <a:endParaRPr lang="zh-CN" altLang="en-US" sz="2000" dirty="0">
              <a:solidFill>
                <a:srgbClr val="FF0000"/>
              </a:solidFill>
              <a:latin typeface="华文中宋" pitchFamily="2" charset="-122"/>
              <a:ea typeface="华文中宋" pitchFamily="2" charset="-122"/>
              <a:cs typeface="Consolas" pitchFamily="49" charset="0"/>
            </a:endParaRPr>
          </a:p>
        </p:txBody>
      </p:sp>
      <p:sp>
        <p:nvSpPr>
          <p:cNvPr id="40" name="任意多边形 51">
            <a:extLst>
              <a:ext uri="{FF2B5EF4-FFF2-40B4-BE49-F238E27FC236}">
                <a16:creationId xmlns:a16="http://schemas.microsoft.com/office/drawing/2014/main" id="{625564D6-DBF5-A22B-D2CD-41EB8C4D0A8E}"/>
              </a:ext>
            </a:extLst>
          </p:cNvPr>
          <p:cNvSpPr/>
          <p:nvPr/>
        </p:nvSpPr>
        <p:spPr>
          <a:xfrm>
            <a:off x="2362190" y="4975481"/>
            <a:ext cx="4686300" cy="791633"/>
          </a:xfrm>
          <a:custGeom>
            <a:avLst/>
            <a:gdLst>
              <a:gd name="connsiteX0" fmla="*/ 0 w 4686300"/>
              <a:gd name="connsiteY0" fmla="*/ 791633 h 791633"/>
              <a:gd name="connsiteX1" fmla="*/ 355600 w 4686300"/>
              <a:gd name="connsiteY1" fmla="*/ 639233 h 791633"/>
              <a:gd name="connsiteX2" fmla="*/ 1511300 w 4686300"/>
              <a:gd name="connsiteY2" fmla="*/ 156633 h 791633"/>
              <a:gd name="connsiteX3" fmla="*/ 2019300 w 4686300"/>
              <a:gd name="connsiteY3" fmla="*/ 67733 h 791633"/>
              <a:gd name="connsiteX4" fmla="*/ 3225800 w 4686300"/>
              <a:gd name="connsiteY4" fmla="*/ 563033 h 791633"/>
              <a:gd name="connsiteX5" fmla="*/ 3746500 w 4686300"/>
              <a:gd name="connsiteY5" fmla="*/ 753533 h 791633"/>
              <a:gd name="connsiteX6" fmla="*/ 4686300 w 4686300"/>
              <a:gd name="connsiteY6" fmla="*/ 766233 h 791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86300" h="791633">
                <a:moveTo>
                  <a:pt x="0" y="791633"/>
                </a:moveTo>
                <a:lnTo>
                  <a:pt x="355600" y="639233"/>
                </a:lnTo>
                <a:cubicBezTo>
                  <a:pt x="607483" y="533400"/>
                  <a:pt x="1234017" y="251883"/>
                  <a:pt x="1511300" y="156633"/>
                </a:cubicBezTo>
                <a:cubicBezTo>
                  <a:pt x="1788583" y="61383"/>
                  <a:pt x="1733550" y="0"/>
                  <a:pt x="2019300" y="67733"/>
                </a:cubicBezTo>
                <a:cubicBezTo>
                  <a:pt x="2305050" y="135466"/>
                  <a:pt x="2937933" y="448733"/>
                  <a:pt x="3225800" y="563033"/>
                </a:cubicBezTo>
                <a:cubicBezTo>
                  <a:pt x="3513667" y="677333"/>
                  <a:pt x="3503083" y="719666"/>
                  <a:pt x="3746500" y="753533"/>
                </a:cubicBezTo>
                <a:cubicBezTo>
                  <a:pt x="3989917" y="787400"/>
                  <a:pt x="4338108" y="776816"/>
                  <a:pt x="4686300" y="766233"/>
                </a:cubicBezTo>
              </a:path>
            </a:pathLst>
          </a:custGeom>
          <a:ln w="28575">
            <a:solidFill>
              <a:srgbClr val="6600CC"/>
            </a:solidFill>
            <a:tailEnd type="arrow" w="med"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Consolas" pitchFamily="49" charset="0"/>
              <a:cs typeface="Consolas" pitchFamily="49" charset="0"/>
            </a:endParaRPr>
          </a:p>
        </p:txBody>
      </p:sp>
      <p:sp>
        <p:nvSpPr>
          <p:cNvPr id="41" name="TextBox 45">
            <a:extLst>
              <a:ext uri="{FF2B5EF4-FFF2-40B4-BE49-F238E27FC236}">
                <a16:creationId xmlns:a16="http://schemas.microsoft.com/office/drawing/2014/main" id="{7F2853F6-CCAA-F891-9F49-2FE0E74CACF0}"/>
              </a:ext>
            </a:extLst>
          </p:cNvPr>
          <p:cNvSpPr txBox="1"/>
          <p:nvPr/>
        </p:nvSpPr>
        <p:spPr>
          <a:xfrm>
            <a:off x="1232060" y="6322490"/>
            <a:ext cx="10369152" cy="400110"/>
          </a:xfrm>
          <a:prstGeom prst="rect">
            <a:avLst/>
          </a:prstGeom>
          <a:noFill/>
        </p:spPr>
        <p:txBody>
          <a:bodyPr wrap="square" rtlCol="0">
            <a:spAutoFit/>
          </a:bodyPr>
          <a:lstStyle/>
          <a:p>
            <a:r>
              <a:rPr lang="zh-CN" altLang="en-US" sz="2000" dirty="0">
                <a:latin typeface="Consolas" pitchFamily="49" charset="0"/>
                <a:ea typeface="仿宋" pitchFamily="49" charset="-122"/>
                <a:cs typeface="Consolas" pitchFamily="49" charset="0"/>
              </a:rPr>
              <a:t>而通过</a:t>
            </a:r>
            <a:r>
              <a:rPr lang="en-US" altLang="zh-CN" sz="2000" i="1" dirty="0">
                <a:latin typeface="Consolas" pitchFamily="49" charset="0"/>
                <a:ea typeface="仿宋" pitchFamily="49" charset="-122"/>
                <a:cs typeface="Consolas" pitchFamily="49" charset="0"/>
              </a:rPr>
              <a:t>b</a:t>
            </a:r>
            <a:r>
              <a:rPr lang="zh-CN" altLang="en-US" sz="2000" dirty="0">
                <a:latin typeface="Consolas" pitchFamily="49" charset="0"/>
                <a:ea typeface="仿宋" pitchFamily="49" charset="-122"/>
                <a:cs typeface="Consolas" pitchFamily="49" charset="0"/>
              </a:rPr>
              <a:t>的路径更短，则</a:t>
            </a:r>
            <a:r>
              <a:rPr lang="en-US" altLang="zh-CN" sz="2000" i="1" dirty="0">
                <a:latin typeface="Consolas" pitchFamily="49" charset="0"/>
                <a:ea typeface="仿宋" pitchFamily="49" charset="-122"/>
                <a:cs typeface="Consolas" pitchFamily="49" charset="0"/>
              </a:rPr>
              <a:t>v</a:t>
            </a:r>
            <a:r>
              <a:rPr lang="en-US" altLang="zh-CN" sz="2000" dirty="0">
                <a:latin typeface="Consolas" pitchFamily="49" charset="0"/>
                <a:ea typeface="仿宋" pitchFamily="49" charset="-122"/>
                <a:cs typeface="Consolas" pitchFamily="49" charset="0"/>
              </a:rPr>
              <a:t> → </a:t>
            </a:r>
            <a:r>
              <a:rPr lang="en-US" altLang="zh-CN" sz="2000" dirty="0">
                <a:latin typeface="宋体" pitchFamily="2" charset="-122"/>
                <a:ea typeface="宋体" pitchFamily="2" charset="-122"/>
                <a:cs typeface="Consolas" pitchFamily="49" charset="0"/>
              </a:rPr>
              <a:t>…</a:t>
            </a:r>
            <a:r>
              <a:rPr lang="en-US" altLang="zh-CN" sz="2000" dirty="0">
                <a:latin typeface="Consolas" pitchFamily="49" charset="0"/>
                <a:ea typeface="仿宋" pitchFamily="49" charset="-122"/>
                <a:cs typeface="Consolas" pitchFamily="49" charset="0"/>
              </a:rPr>
              <a:t> </a:t>
            </a:r>
            <a:r>
              <a:rPr lang="en-US" altLang="zh-CN" sz="2000" i="1" dirty="0">
                <a:latin typeface="Consolas" pitchFamily="49" charset="0"/>
                <a:ea typeface="仿宋" pitchFamily="49" charset="-122"/>
                <a:cs typeface="Consolas" pitchFamily="49" charset="0"/>
              </a:rPr>
              <a:t>a</a:t>
            </a:r>
            <a:r>
              <a:rPr lang="en-US" altLang="zh-CN" sz="2000" dirty="0">
                <a:latin typeface="Consolas" pitchFamily="49" charset="0"/>
                <a:ea typeface="仿宋" pitchFamily="49" charset="-122"/>
                <a:cs typeface="Consolas" pitchFamily="49" charset="0"/>
              </a:rPr>
              <a:t> → </a:t>
            </a:r>
            <a:r>
              <a:rPr lang="en-US" altLang="zh-CN" sz="2000" dirty="0">
                <a:latin typeface="宋体" pitchFamily="2" charset="-122"/>
                <a:ea typeface="宋体" pitchFamily="2" charset="-122"/>
                <a:cs typeface="Consolas" pitchFamily="49" charset="0"/>
              </a:rPr>
              <a:t>…</a:t>
            </a:r>
            <a:r>
              <a:rPr lang="en-US" altLang="zh-CN" sz="2000" dirty="0">
                <a:latin typeface="Consolas" pitchFamily="49" charset="0"/>
                <a:ea typeface="仿宋" pitchFamily="49" charset="-122"/>
                <a:cs typeface="Consolas" pitchFamily="49" charset="0"/>
              </a:rPr>
              <a:t> </a:t>
            </a:r>
            <a:r>
              <a:rPr lang="en-US" altLang="zh-CN" sz="2000" i="1" dirty="0">
                <a:latin typeface="Consolas" pitchFamily="49" charset="0"/>
                <a:ea typeface="仿宋" pitchFamily="49" charset="-122"/>
                <a:cs typeface="Consolas" pitchFamily="49" charset="0"/>
              </a:rPr>
              <a:t>u</a:t>
            </a:r>
            <a:r>
              <a:rPr lang="en-US" altLang="zh-CN" sz="2000" dirty="0">
                <a:latin typeface="Consolas" pitchFamily="49" charset="0"/>
                <a:ea typeface="仿宋" pitchFamily="49" charset="-122"/>
                <a:cs typeface="Consolas" pitchFamily="49" charset="0"/>
              </a:rPr>
              <a:t> → </a:t>
            </a:r>
            <a:r>
              <a:rPr lang="en-US" altLang="zh-CN" sz="2000" i="1" dirty="0">
                <a:latin typeface="Consolas" pitchFamily="49" charset="0"/>
                <a:ea typeface="仿宋" pitchFamily="49" charset="-122"/>
                <a:cs typeface="Consolas" pitchFamily="49" charset="0"/>
              </a:rPr>
              <a:t>j</a:t>
            </a:r>
            <a:r>
              <a:rPr lang="zh-CN" altLang="en-US" sz="2000" dirty="0">
                <a:latin typeface="Consolas" pitchFamily="49" charset="0"/>
                <a:ea typeface="仿宋" pitchFamily="49" charset="-122"/>
                <a:cs typeface="Consolas" pitchFamily="49" charset="0"/>
              </a:rPr>
              <a:t>不是最短路径</a:t>
            </a:r>
            <a:r>
              <a:rPr lang="en-US" altLang="zh-CN" sz="2000" dirty="0">
                <a:latin typeface="Consolas" pitchFamily="49" charset="0"/>
                <a:ea typeface="仿宋" pitchFamily="49" charset="-122"/>
                <a:cs typeface="Consolas" pitchFamily="49" charset="0"/>
              </a:rPr>
              <a:t>,</a:t>
            </a:r>
            <a:r>
              <a:rPr lang="zh-CN" altLang="en-US" sz="2000" dirty="0">
                <a:latin typeface="Consolas" pitchFamily="49" charset="0"/>
                <a:ea typeface="仿宋" pitchFamily="49" charset="-122"/>
                <a:cs typeface="Consolas" pitchFamily="49" charset="0"/>
              </a:rPr>
              <a:t>与假设矛盾，问题得到证明。</a:t>
            </a:r>
          </a:p>
        </p:txBody>
      </p:sp>
      <p:grpSp>
        <p:nvGrpSpPr>
          <p:cNvPr id="42" name="组合 57">
            <a:extLst>
              <a:ext uri="{FF2B5EF4-FFF2-40B4-BE49-F238E27FC236}">
                <a16:creationId xmlns:a16="http://schemas.microsoft.com/office/drawing/2014/main" id="{88D85827-9B31-910C-FD3A-4727BD41D2CB}"/>
              </a:ext>
            </a:extLst>
          </p:cNvPr>
          <p:cNvGrpSpPr/>
          <p:nvPr/>
        </p:nvGrpSpPr>
        <p:grpSpPr>
          <a:xfrm>
            <a:off x="5092686" y="4940028"/>
            <a:ext cx="3143272" cy="571504"/>
            <a:chOff x="4000496" y="3643314"/>
            <a:chExt cx="3143272" cy="571504"/>
          </a:xfrm>
        </p:grpSpPr>
        <p:cxnSp>
          <p:nvCxnSpPr>
            <p:cNvPr id="43" name="直接箭头连接符 42">
              <a:extLst>
                <a:ext uri="{FF2B5EF4-FFF2-40B4-BE49-F238E27FC236}">
                  <a16:creationId xmlns:a16="http://schemas.microsoft.com/office/drawing/2014/main" id="{8BF6C0F7-4F24-A060-81A1-372347A90A11}"/>
                </a:ext>
              </a:extLst>
            </p:cNvPr>
            <p:cNvCxnSpPr/>
            <p:nvPr/>
          </p:nvCxnSpPr>
          <p:spPr>
            <a:xfrm rot="10800000" flipV="1">
              <a:off x="4000496" y="3929066"/>
              <a:ext cx="571504" cy="285752"/>
            </a:xfrm>
            <a:prstGeom prst="straightConnector1">
              <a:avLst/>
            </a:prstGeom>
            <a:ln w="28575">
              <a:solidFill>
                <a:srgbClr val="339933"/>
              </a:solidFill>
              <a:tailEnd type="arrow"/>
            </a:ln>
          </p:spPr>
          <p:style>
            <a:lnRef idx="1">
              <a:schemeClr val="accent1"/>
            </a:lnRef>
            <a:fillRef idx="0">
              <a:schemeClr val="accent1"/>
            </a:fillRef>
            <a:effectRef idx="0">
              <a:schemeClr val="accent1"/>
            </a:effectRef>
            <a:fontRef idx="minor">
              <a:schemeClr val="tx1"/>
            </a:fontRef>
          </p:style>
        </p:cxnSp>
        <p:sp>
          <p:nvSpPr>
            <p:cNvPr id="44" name="TextBox 56">
              <a:extLst>
                <a:ext uri="{FF2B5EF4-FFF2-40B4-BE49-F238E27FC236}">
                  <a16:creationId xmlns:a16="http://schemas.microsoft.com/office/drawing/2014/main" id="{EF2741D5-FD85-C2EF-05FE-CD37C617F64F}"/>
                </a:ext>
              </a:extLst>
            </p:cNvPr>
            <p:cNvSpPr txBox="1"/>
            <p:nvPr/>
          </p:nvSpPr>
          <p:spPr>
            <a:xfrm>
              <a:off x="4572000" y="3643314"/>
              <a:ext cx="2571768" cy="400110"/>
            </a:xfrm>
            <a:prstGeom prst="rect">
              <a:avLst/>
            </a:prstGeom>
            <a:noFill/>
          </p:spPr>
          <p:txBody>
            <a:bodyPr wrap="square" rtlCol="0">
              <a:spAutoFit/>
            </a:bodyPr>
            <a:lstStyle/>
            <a:p>
              <a:r>
                <a:rPr lang="zh-CN" altLang="en-US" sz="2000">
                  <a:latin typeface="Consolas" pitchFamily="49" charset="0"/>
                  <a:ea typeface="仿宋" pitchFamily="49" charset="-122"/>
                  <a:cs typeface="Consolas" pitchFamily="49" charset="0"/>
                </a:rPr>
                <a:t>是</a:t>
              </a:r>
              <a:r>
                <a:rPr lang="en-US" altLang="zh-CN" sz="2000" i="1">
                  <a:latin typeface="Consolas" pitchFamily="49" charset="0"/>
                  <a:ea typeface="仿宋" pitchFamily="49" charset="-122"/>
                  <a:cs typeface="Consolas" pitchFamily="49" charset="0"/>
                </a:rPr>
                <a:t>v</a:t>
              </a:r>
              <a:r>
                <a:rPr lang="en-US" altLang="zh-CN" sz="2000">
                  <a:solidFill>
                    <a:srgbClr val="FF00FF"/>
                  </a:solidFill>
                  <a:latin typeface="Consolas" pitchFamily="49" charset="0"/>
                  <a:ea typeface="仿宋" pitchFamily="49" charset="-122"/>
                  <a:cs typeface="Consolas" pitchFamily="49" charset="0"/>
                  <a:sym typeface="Wingdings"/>
                </a:rPr>
                <a:t></a:t>
              </a:r>
              <a:r>
                <a:rPr lang="en-US" altLang="zh-CN" sz="2000" i="1">
                  <a:latin typeface="Consolas" pitchFamily="49" charset="0"/>
                  <a:ea typeface="仿宋" pitchFamily="49" charset="-122"/>
                  <a:cs typeface="Consolas" pitchFamily="49" charset="0"/>
                </a:rPr>
                <a:t>u</a:t>
              </a:r>
              <a:r>
                <a:rPr lang="zh-CN" altLang="en-US" sz="2000">
                  <a:latin typeface="Consolas" pitchFamily="49" charset="0"/>
                  <a:ea typeface="仿宋" pitchFamily="49" charset="-122"/>
                  <a:cs typeface="Consolas" pitchFamily="49" charset="0"/>
                </a:rPr>
                <a:t>的最短路径</a:t>
              </a:r>
            </a:p>
          </p:txBody>
        </p:sp>
      </p:grpSp>
      <p:grpSp>
        <p:nvGrpSpPr>
          <p:cNvPr id="46" name="组合 62">
            <a:extLst>
              <a:ext uri="{FF2B5EF4-FFF2-40B4-BE49-F238E27FC236}">
                <a16:creationId xmlns:a16="http://schemas.microsoft.com/office/drawing/2014/main" id="{F7CC1BCF-0A5E-669C-A21C-7CEEB308521E}"/>
              </a:ext>
            </a:extLst>
          </p:cNvPr>
          <p:cNvGrpSpPr/>
          <p:nvPr/>
        </p:nvGrpSpPr>
        <p:grpSpPr>
          <a:xfrm>
            <a:off x="5559455" y="2994372"/>
            <a:ext cx="4214842" cy="563303"/>
            <a:chOff x="4286248" y="1071546"/>
            <a:chExt cx="4214842" cy="563303"/>
          </a:xfrm>
        </p:grpSpPr>
        <p:sp>
          <p:nvSpPr>
            <p:cNvPr id="47" name="TextBox 54">
              <a:extLst>
                <a:ext uri="{FF2B5EF4-FFF2-40B4-BE49-F238E27FC236}">
                  <a16:creationId xmlns:a16="http://schemas.microsoft.com/office/drawing/2014/main" id="{0DD9C7D2-A0B5-913E-4D64-2CDDD8FAD557}"/>
                </a:ext>
              </a:extLst>
            </p:cNvPr>
            <p:cNvSpPr txBox="1"/>
            <p:nvPr/>
          </p:nvSpPr>
          <p:spPr>
            <a:xfrm>
              <a:off x="4286248" y="1071546"/>
              <a:ext cx="4214842" cy="400110"/>
            </a:xfrm>
            <a:prstGeom prst="rect">
              <a:avLst/>
            </a:prstGeom>
            <a:noFill/>
          </p:spPr>
          <p:txBody>
            <a:bodyPr wrap="square" rtlCol="0">
              <a:spAutoFit/>
            </a:bodyPr>
            <a:lstStyle/>
            <a:p>
              <a:r>
                <a:rPr lang="en-US" altLang="zh-CN" sz="2000" i="1">
                  <a:latin typeface="Consolas" pitchFamily="49" charset="0"/>
                  <a:ea typeface="仿宋" pitchFamily="49" charset="-122"/>
                  <a:cs typeface="Consolas" pitchFamily="49" charset="0"/>
                </a:rPr>
                <a:t>v</a:t>
              </a:r>
              <a:r>
                <a:rPr kumimoji="1" lang="zh-CN" altLang="en-US" sz="2000">
                  <a:solidFill>
                    <a:srgbClr val="FF00FF"/>
                  </a:solidFill>
                  <a:latin typeface="Consolas" pitchFamily="49" charset="0"/>
                  <a:ea typeface="仿宋" pitchFamily="49" charset="-122"/>
                  <a:cs typeface="Consolas" pitchFamily="49" charset="0"/>
                  <a:sym typeface="Wingdings"/>
                </a:rPr>
                <a:t></a:t>
              </a:r>
              <a:r>
                <a:rPr kumimoji="1" lang="en-US" altLang="zh-CN" sz="2000" i="1">
                  <a:solidFill>
                    <a:srgbClr val="1000E4"/>
                  </a:solidFill>
                  <a:latin typeface="Consolas" pitchFamily="49" charset="0"/>
                  <a:ea typeface="仿宋" pitchFamily="49" charset="-122"/>
                  <a:cs typeface="Consolas" pitchFamily="49" charset="0"/>
                  <a:sym typeface="Wingdings"/>
                </a:rPr>
                <a:t>j</a:t>
              </a:r>
              <a:r>
                <a:rPr lang="zh-CN" altLang="en-US" sz="2000">
                  <a:latin typeface="Consolas" pitchFamily="49" charset="0"/>
                  <a:ea typeface="仿宋" pitchFamily="49" charset="-122"/>
                  <a:cs typeface="Consolas" pitchFamily="49" charset="0"/>
                </a:rPr>
                <a:t>最短</a:t>
              </a:r>
              <a:r>
                <a:rPr kumimoji="1" lang="zh-CN" altLang="en-US" sz="2000">
                  <a:latin typeface="Consolas" pitchFamily="49" charset="0"/>
                  <a:ea typeface="仿宋" pitchFamily="49" charset="-122"/>
                  <a:cs typeface="Consolas" pitchFamily="49" charset="0"/>
                  <a:sym typeface="Wingdings"/>
                </a:rPr>
                <a:t>路径中</a:t>
              </a:r>
              <a:r>
                <a:rPr kumimoji="1" lang="en-US" altLang="zh-CN" sz="2000" i="1">
                  <a:latin typeface="Consolas" pitchFamily="49" charset="0"/>
                  <a:ea typeface="仿宋" pitchFamily="49" charset="-122"/>
                  <a:cs typeface="Consolas" pitchFamily="49" charset="0"/>
                  <a:sym typeface="Wingdings"/>
                </a:rPr>
                <a:t>j</a:t>
              </a:r>
              <a:r>
                <a:rPr kumimoji="1" lang="zh-CN" altLang="en-US" sz="2000">
                  <a:latin typeface="Consolas" pitchFamily="49" charset="0"/>
                  <a:ea typeface="仿宋" pitchFamily="49" charset="-122"/>
                  <a:cs typeface="Consolas" pitchFamily="49" charset="0"/>
                  <a:sym typeface="Wingdings"/>
                </a:rPr>
                <a:t>的前一个顶点</a:t>
              </a:r>
              <a:endParaRPr lang="zh-CN" altLang="en-US" sz="2000">
                <a:latin typeface="Consolas" pitchFamily="49" charset="0"/>
                <a:ea typeface="仿宋" pitchFamily="49" charset="-122"/>
                <a:cs typeface="Consolas" pitchFamily="49" charset="0"/>
              </a:endParaRPr>
            </a:p>
          </p:txBody>
        </p:sp>
        <p:cxnSp>
          <p:nvCxnSpPr>
            <p:cNvPr id="48" name="直接箭头连接符 47">
              <a:extLst>
                <a:ext uri="{FF2B5EF4-FFF2-40B4-BE49-F238E27FC236}">
                  <a16:creationId xmlns:a16="http://schemas.microsoft.com/office/drawing/2014/main" id="{09DBEA25-30B3-A4FC-5DA2-F6C3327CF609}"/>
                </a:ext>
              </a:extLst>
            </p:cNvPr>
            <p:cNvCxnSpPr/>
            <p:nvPr/>
          </p:nvCxnSpPr>
          <p:spPr>
            <a:xfrm rot="10800000" flipV="1">
              <a:off x="4918294" y="1428737"/>
              <a:ext cx="225211" cy="206112"/>
            </a:xfrm>
            <a:prstGeom prst="straightConnector1">
              <a:avLst/>
            </a:prstGeom>
            <a:ln w="28575">
              <a:solidFill>
                <a:srgbClr val="7030A0"/>
              </a:solidFill>
              <a:tailEnd type="arrow"/>
            </a:ln>
          </p:spPr>
          <p:style>
            <a:lnRef idx="1">
              <a:schemeClr val="accent1"/>
            </a:lnRef>
            <a:fillRef idx="0">
              <a:schemeClr val="accent1"/>
            </a:fillRef>
            <a:effectRef idx="0">
              <a:schemeClr val="accent1"/>
            </a:effectRef>
            <a:fontRef idx="minor">
              <a:schemeClr val="tx1"/>
            </a:fontRef>
          </p:style>
        </p:cxnSp>
      </p:grpSp>
      <p:sp>
        <p:nvSpPr>
          <p:cNvPr id="49" name="右大括号 48">
            <a:extLst>
              <a:ext uri="{FF2B5EF4-FFF2-40B4-BE49-F238E27FC236}">
                <a16:creationId xmlns:a16="http://schemas.microsoft.com/office/drawing/2014/main" id="{C0FE4ADD-F1AD-C4E6-03A8-05A0C994FC17}"/>
              </a:ext>
            </a:extLst>
          </p:cNvPr>
          <p:cNvSpPr/>
          <p:nvPr/>
        </p:nvSpPr>
        <p:spPr>
          <a:xfrm rot="5400000">
            <a:off x="4026083" y="2246817"/>
            <a:ext cx="180000" cy="3744000"/>
          </a:xfrm>
          <a:prstGeom prst="rightBrace">
            <a:avLst>
              <a:gd name="adj1" fmla="val 0"/>
              <a:gd name="adj2" fmla="val 50000"/>
            </a:avLst>
          </a:prstGeom>
          <a:ln>
            <a:tailEnd type="none"/>
          </a:ln>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spTree>
    <p:extLst>
      <p:ext uri="{BB962C8B-B14F-4D97-AF65-F5344CB8AC3E}">
        <p14:creationId xmlns:p14="http://schemas.microsoft.com/office/powerpoint/2010/main" val="233798405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par>
                          <p:cTn id="9" fill="hold">
                            <p:stCondLst>
                              <p:cond delay="0"/>
                            </p:stCondLst>
                            <p:childTnLst>
                              <p:par>
                                <p:cTn id="10" presetID="1" presetClass="entr" presetSubtype="0" fill="hold" nodeType="afterEffect">
                                  <p:stCondLst>
                                    <p:cond delay="0"/>
                                  </p:stCondLst>
                                  <p:childTnLst>
                                    <p:set>
                                      <p:cBhvr>
                                        <p:cTn id="11" dur="1" fill="hold">
                                          <p:stCondLst>
                                            <p:cond delay="0"/>
                                          </p:stCondLst>
                                        </p:cTn>
                                        <p:tgtEl>
                                          <p:spTgt spid="46"/>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4"/>
                                        </p:tgtEl>
                                        <p:attrNameLst>
                                          <p:attrName>style.visibility</p:attrName>
                                        </p:attrNameLst>
                                      </p:cBhvr>
                                      <p:to>
                                        <p:strVal val="visible"/>
                                      </p:to>
                                    </p:set>
                                  </p:childTnLst>
                                </p:cTn>
                              </p:par>
                              <p:par>
                                <p:cTn id="16" presetID="1" presetClass="entr" presetSubtype="0" fill="hold" grpId="0" nodeType="withEffect">
                                  <p:stCondLst>
                                    <p:cond delay="0"/>
                                  </p:stCondLst>
                                  <p:childTnLst>
                                    <p:set>
                                      <p:cBhvr>
                                        <p:cTn id="17" dur="1" fill="hold">
                                          <p:stCondLst>
                                            <p:cond delay="0"/>
                                          </p:stCondLst>
                                        </p:cTn>
                                        <p:tgtEl>
                                          <p:spTgt spid="5"/>
                                        </p:tgtEl>
                                        <p:attrNameLst>
                                          <p:attrName>style.visibility</p:attrName>
                                        </p:attrNameLst>
                                      </p:cBhvr>
                                      <p:to>
                                        <p:strVal val="visible"/>
                                      </p:to>
                                    </p:set>
                                  </p:childTnLst>
                                </p:cTn>
                              </p:par>
                            </p:childTnLst>
                          </p:cTn>
                        </p:par>
                        <p:par>
                          <p:cTn id="18" fill="hold">
                            <p:stCondLst>
                              <p:cond delay="0"/>
                            </p:stCondLst>
                            <p:childTnLst>
                              <p:par>
                                <p:cTn id="19" presetID="1" presetClass="entr" presetSubtype="0" fill="hold" grpId="0" nodeType="afterEffect">
                                  <p:stCondLst>
                                    <p:cond delay="0"/>
                                  </p:stCondLst>
                                  <p:childTnLst>
                                    <p:set>
                                      <p:cBhvr>
                                        <p:cTn id="20" dur="1" fill="hold">
                                          <p:stCondLst>
                                            <p:cond delay="0"/>
                                          </p:stCondLst>
                                        </p:cTn>
                                        <p:tgtEl>
                                          <p:spTgt spid="4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8" presetClass="entr" presetSubtype="3" fill="hold" nodeType="clickEffect">
                                  <p:stCondLst>
                                    <p:cond delay="0"/>
                                  </p:stCondLst>
                                  <p:childTnLst>
                                    <p:set>
                                      <p:cBhvr>
                                        <p:cTn id="34" dur="1" fill="hold">
                                          <p:stCondLst>
                                            <p:cond delay="0"/>
                                          </p:stCondLst>
                                        </p:cTn>
                                        <p:tgtEl>
                                          <p:spTgt spid="37"/>
                                        </p:tgtEl>
                                        <p:attrNameLst>
                                          <p:attrName>style.visibility</p:attrName>
                                        </p:attrNameLst>
                                      </p:cBhvr>
                                      <p:to>
                                        <p:strVal val="visible"/>
                                      </p:to>
                                    </p:set>
                                    <p:animEffect transition="in" filter="strips(upRight)">
                                      <p:cBhvr>
                                        <p:cTn id="35" dur="500"/>
                                        <p:tgtEl>
                                          <p:spTgt spid="37"/>
                                        </p:tgtEl>
                                      </p:cBhvr>
                                    </p:animEffect>
                                  </p:childTnLst>
                                </p:cTn>
                              </p:par>
                            </p:childTnLst>
                          </p:cTn>
                        </p:par>
                        <p:par>
                          <p:cTn id="36" fill="hold">
                            <p:stCondLst>
                              <p:cond delay="500"/>
                            </p:stCondLst>
                            <p:childTnLst>
                              <p:par>
                                <p:cTn id="37" presetID="1" presetClass="entr" presetSubtype="0" fill="hold" grpId="0" nodeType="afterEffect">
                                  <p:stCondLst>
                                    <p:cond delay="0"/>
                                  </p:stCondLst>
                                  <p:childTnLst>
                                    <p:set>
                                      <p:cBhvr>
                                        <p:cTn id="38" dur="1" fill="hold">
                                          <p:stCondLst>
                                            <p:cond delay="0"/>
                                          </p:stCondLst>
                                        </p:cTn>
                                        <p:tgtEl>
                                          <p:spTgt spid="36"/>
                                        </p:tgtEl>
                                        <p:attrNameLst>
                                          <p:attrName>style.visibility</p:attrName>
                                        </p:attrNameLst>
                                      </p:cBhvr>
                                      <p:to>
                                        <p:strVal val="visible"/>
                                      </p:to>
                                    </p:set>
                                  </p:childTnLst>
                                </p:cTn>
                              </p:par>
                            </p:childTnLst>
                          </p:cTn>
                        </p:par>
                        <p:par>
                          <p:cTn id="39" fill="hold">
                            <p:stCondLst>
                              <p:cond delay="500"/>
                            </p:stCondLst>
                            <p:childTnLst>
                              <p:par>
                                <p:cTn id="40" presetID="18" presetClass="entr" presetSubtype="3" fill="hold" nodeType="afterEffect">
                                  <p:stCondLst>
                                    <p:cond delay="0"/>
                                  </p:stCondLst>
                                  <p:childTnLst>
                                    <p:set>
                                      <p:cBhvr>
                                        <p:cTn id="41" dur="1" fill="hold">
                                          <p:stCondLst>
                                            <p:cond delay="0"/>
                                          </p:stCondLst>
                                        </p:cTn>
                                        <p:tgtEl>
                                          <p:spTgt spid="38"/>
                                        </p:tgtEl>
                                        <p:attrNameLst>
                                          <p:attrName>style.visibility</p:attrName>
                                        </p:attrNameLst>
                                      </p:cBhvr>
                                      <p:to>
                                        <p:strVal val="visible"/>
                                      </p:to>
                                    </p:set>
                                    <p:animEffect transition="in" filter="strips(upRight)">
                                      <p:cBhvr>
                                        <p:cTn id="42" dur="500"/>
                                        <p:tgtEl>
                                          <p:spTgt spid="38"/>
                                        </p:tgtEl>
                                      </p:cBhvr>
                                    </p:animEffect>
                                  </p:childTnLst>
                                </p:cTn>
                              </p:par>
                            </p:childTnLst>
                          </p:cTn>
                        </p:par>
                        <p:par>
                          <p:cTn id="43" fill="hold">
                            <p:stCondLst>
                              <p:cond delay="1000"/>
                            </p:stCondLst>
                            <p:childTnLst>
                              <p:par>
                                <p:cTn id="44" presetID="1" presetClass="entr" presetSubtype="0" fill="hold" nodeType="afterEffect">
                                  <p:stCondLst>
                                    <p:cond delay="0"/>
                                  </p:stCondLst>
                                  <p:childTnLst>
                                    <p:set>
                                      <p:cBhvr>
                                        <p:cTn id="45" dur="1" fill="hold">
                                          <p:stCondLst>
                                            <p:cond delay="0"/>
                                          </p:stCondLst>
                                        </p:cTn>
                                        <p:tgtEl>
                                          <p:spTgt spid="42"/>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22" presetClass="exit" presetSubtype="4" fill="hold" nodeType="clickEffect">
                                  <p:stCondLst>
                                    <p:cond delay="0"/>
                                  </p:stCondLst>
                                  <p:childTnLst>
                                    <p:animEffect transition="out" filter="wipe(down)">
                                      <p:cBhvr>
                                        <p:cTn id="49" dur="500"/>
                                        <p:tgtEl>
                                          <p:spTgt spid="42"/>
                                        </p:tgtEl>
                                      </p:cBhvr>
                                    </p:animEffect>
                                    <p:set>
                                      <p:cBhvr>
                                        <p:cTn id="50" dur="1" fill="hold">
                                          <p:stCondLst>
                                            <p:cond delay="499"/>
                                          </p:stCondLst>
                                        </p:cTn>
                                        <p:tgtEl>
                                          <p:spTgt spid="42"/>
                                        </p:tgtEl>
                                        <p:attrNameLst>
                                          <p:attrName>style.visibility</p:attrName>
                                        </p:attrNameLst>
                                      </p:cBhvr>
                                      <p:to>
                                        <p:strVal val="hidden"/>
                                      </p:to>
                                    </p:set>
                                  </p:childTnLst>
                                </p:cTn>
                              </p:par>
                            </p:childTnLst>
                          </p:cTn>
                        </p:par>
                        <p:par>
                          <p:cTn id="51" fill="hold">
                            <p:stCondLst>
                              <p:cond delay="500"/>
                            </p:stCondLst>
                            <p:childTnLst>
                              <p:par>
                                <p:cTn id="52" presetID="20" presetClass="entr" presetSubtype="0" fill="hold" grpId="0" nodeType="afterEffect">
                                  <p:stCondLst>
                                    <p:cond delay="0"/>
                                  </p:stCondLst>
                                  <p:childTnLst>
                                    <p:set>
                                      <p:cBhvr>
                                        <p:cTn id="53" dur="1" fill="hold">
                                          <p:stCondLst>
                                            <p:cond delay="0"/>
                                          </p:stCondLst>
                                        </p:cTn>
                                        <p:tgtEl>
                                          <p:spTgt spid="40"/>
                                        </p:tgtEl>
                                        <p:attrNameLst>
                                          <p:attrName>style.visibility</p:attrName>
                                        </p:attrNameLst>
                                      </p:cBhvr>
                                      <p:to>
                                        <p:strVal val="visible"/>
                                      </p:to>
                                    </p:set>
                                    <p:animEffect transition="in" filter="wedge">
                                      <p:cBhvr>
                                        <p:cTn id="54" dur="2000"/>
                                        <p:tgtEl>
                                          <p:spTgt spid="40"/>
                                        </p:tgtEl>
                                      </p:cBhvr>
                                    </p:animEffect>
                                  </p:childTnLst>
                                </p:cTn>
                              </p:par>
                            </p:childTnLst>
                          </p:cTn>
                        </p:par>
                        <p:par>
                          <p:cTn id="55" fill="hold">
                            <p:stCondLst>
                              <p:cond delay="2500"/>
                            </p:stCondLst>
                            <p:childTnLst>
                              <p:par>
                                <p:cTn id="56" presetID="1" presetClass="entr" presetSubtype="0" fill="hold" grpId="0" nodeType="afterEffect">
                                  <p:stCondLst>
                                    <p:cond delay="0"/>
                                  </p:stCondLst>
                                  <p:childTnLst>
                                    <p:set>
                                      <p:cBhvr>
                                        <p:cTn id="57" dur="1" fill="hold">
                                          <p:stCondLst>
                                            <p:cond delay="0"/>
                                          </p:stCondLst>
                                        </p:cTn>
                                        <p:tgtEl>
                                          <p:spTgt spid="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6" grpId="0"/>
      <p:bldP spid="36" grpId="0" animBg="1"/>
      <p:bldP spid="39" grpId="0"/>
      <p:bldP spid="40" grpId="0" animBg="1"/>
      <p:bldP spid="41" grpId="0"/>
      <p:bldP spid="49" grpId="0" animBg="1"/>
    </p:bld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E8C300-87BD-D64A-CC44-3AF49BF95FA4}"/>
            </a:ext>
          </a:extLst>
        </p:cNvPr>
        <p:cNvGrpSpPr/>
        <p:nvPr/>
      </p:nvGrpSpPr>
      <p:grpSpPr>
        <a:xfrm>
          <a:off x="0" y="0"/>
          <a:ext cx="0" cy="0"/>
          <a:chOff x="0" y="0"/>
          <a:chExt cx="0" cy="0"/>
        </a:xfrm>
      </p:grpSpPr>
      <p:sp>
        <p:nvSpPr>
          <p:cNvPr id="9" name="Rectangle 2">
            <a:extLst>
              <a:ext uri="{FF2B5EF4-FFF2-40B4-BE49-F238E27FC236}">
                <a16:creationId xmlns:a16="http://schemas.microsoft.com/office/drawing/2014/main" id="{7F30EC4F-554F-E4AF-71D8-0011342C0C9D}"/>
              </a:ext>
            </a:extLst>
          </p:cNvPr>
          <p:cNvSpPr txBox="1">
            <a:spLocks noChangeArrowheads="1"/>
          </p:cNvSpPr>
          <p:nvPr/>
        </p:nvSpPr>
        <p:spPr>
          <a:xfrm>
            <a:off x="474771" y="1230902"/>
            <a:ext cx="10949819"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8.5.2 </a:t>
            </a:r>
            <a:r>
              <a:rPr lang="zh-CN" altLang="en-US" dirty="0"/>
              <a:t>从一个顶点到其余各顶点的最短路径（单源点最短路径问题）</a:t>
            </a:r>
          </a:p>
        </p:txBody>
      </p:sp>
      <p:cxnSp>
        <p:nvCxnSpPr>
          <p:cNvPr id="10" name="直接连接符 9">
            <a:extLst>
              <a:ext uri="{FF2B5EF4-FFF2-40B4-BE49-F238E27FC236}">
                <a16:creationId xmlns:a16="http://schemas.microsoft.com/office/drawing/2014/main" id="{F1D2CFCA-93AA-E38C-E6B9-BAF7CBD5517A}"/>
              </a:ext>
            </a:extLst>
          </p:cNvPr>
          <p:cNvCxnSpPr>
            <a:cxnSpLocks/>
          </p:cNvCxnSpPr>
          <p:nvPr/>
        </p:nvCxnSpPr>
        <p:spPr>
          <a:xfrm>
            <a:off x="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11" name="矩形 10">
            <a:extLst>
              <a:ext uri="{FF2B5EF4-FFF2-40B4-BE49-F238E27FC236}">
                <a16:creationId xmlns:a16="http://schemas.microsoft.com/office/drawing/2014/main" id="{DFA9F96D-829A-16E8-66BD-58469CBB73D7}"/>
              </a:ext>
            </a:extLst>
          </p:cNvPr>
          <p:cNvSpPr/>
          <p:nvPr/>
        </p:nvSpPr>
        <p:spPr>
          <a:xfrm>
            <a:off x="3394075" y="399838"/>
            <a:ext cx="4617860"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8.5 </a:t>
            </a:r>
            <a:r>
              <a:rPr lang="zh-CN" altLang="en-US" sz="3000" b="1" dirty="0">
                <a:latin typeface="黑体" pitchFamily="49" charset="-122"/>
                <a:ea typeface="黑体" pitchFamily="49" charset="-122"/>
                <a:cs typeface="经典粗黑简" pitchFamily="49" charset="-122"/>
              </a:rPr>
              <a:t>最短路径</a:t>
            </a:r>
          </a:p>
        </p:txBody>
      </p:sp>
      <p:sp>
        <p:nvSpPr>
          <p:cNvPr id="18" name="Text Box 4">
            <a:extLst>
              <a:ext uri="{FF2B5EF4-FFF2-40B4-BE49-F238E27FC236}">
                <a16:creationId xmlns:a16="http://schemas.microsoft.com/office/drawing/2014/main" id="{0135AED8-C31A-290C-BA9F-11F524A0A2F3}"/>
              </a:ext>
            </a:extLst>
          </p:cNvPr>
          <p:cNvSpPr txBox="1">
            <a:spLocks noChangeArrowheads="1"/>
          </p:cNvSpPr>
          <p:nvPr/>
        </p:nvSpPr>
        <p:spPr bwMode="auto">
          <a:xfrm>
            <a:off x="1388265" y="1922692"/>
            <a:ext cx="5355805" cy="461665"/>
          </a:xfrm>
          <a:prstGeom prst="rect">
            <a:avLst/>
          </a:prstGeom>
          <a:noFill/>
          <a:ln w="38100" algn="ctr">
            <a:noFill/>
            <a:miter lim="800000"/>
            <a:headEnd/>
            <a:tailEnd type="none" w="med" len="lg"/>
          </a:ln>
          <a:effectLst/>
        </p:spPr>
        <p:txBody>
          <a:bodyPr wrap="square">
            <a:spAutoFit/>
          </a:bodyPr>
          <a:lstStyle/>
          <a:p>
            <a:r>
              <a:rPr lang="zh-CN" altLang="en-US" sz="2400" b="1" dirty="0">
                <a:latin typeface="黑体" pitchFamily="49" charset="-122"/>
                <a:ea typeface="黑体" pitchFamily="49" charset="-122"/>
                <a:cs typeface="经典粗黑简" pitchFamily="49" charset="-122"/>
              </a:rPr>
              <a:t>单源最短路径问题：</a:t>
            </a:r>
            <a:r>
              <a:rPr lang="en-US" altLang="zh-CN" sz="2400" b="1" dirty="0" err="1">
                <a:latin typeface="黑体" pitchFamily="49" charset="-122"/>
                <a:ea typeface="黑体" pitchFamily="49" charset="-122"/>
                <a:cs typeface="经典粗黑简" pitchFamily="49" charset="-122"/>
              </a:rPr>
              <a:t>Dijkstra</a:t>
            </a:r>
            <a:r>
              <a:rPr lang="zh-CN" altLang="en-US" sz="2400" b="1" dirty="0">
                <a:latin typeface="黑体" pitchFamily="49" charset="-122"/>
                <a:ea typeface="黑体" pitchFamily="49" charset="-122"/>
                <a:cs typeface="经典粗黑简" pitchFamily="49" charset="-122"/>
              </a:rPr>
              <a:t>算法</a:t>
            </a:r>
          </a:p>
        </p:txBody>
      </p:sp>
      <p:sp>
        <p:nvSpPr>
          <p:cNvPr id="2" name="Text Box 5">
            <a:extLst>
              <a:ext uri="{FF2B5EF4-FFF2-40B4-BE49-F238E27FC236}">
                <a16:creationId xmlns:a16="http://schemas.microsoft.com/office/drawing/2014/main" id="{300F307B-C4A3-0E34-C30A-60CE356F05FD}"/>
              </a:ext>
            </a:extLst>
          </p:cNvPr>
          <p:cNvSpPr txBox="1">
            <a:spLocks noChangeArrowheads="1"/>
          </p:cNvSpPr>
          <p:nvPr/>
        </p:nvSpPr>
        <p:spPr bwMode="auto">
          <a:xfrm>
            <a:off x="1812669" y="5091889"/>
            <a:ext cx="5103819" cy="1025895"/>
          </a:xfrm>
          <a:prstGeom prst="rect">
            <a:avLst/>
          </a:prstGeom>
          <a:ln>
            <a:noFill/>
            <a:headEnd/>
            <a:tailEnd type="none" w="med" len="lg"/>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a:spAutoFit/>
          </a:bodyPr>
          <a:lstStyle/>
          <a:p>
            <a:pPr marL="342900" indent="-342900">
              <a:lnSpc>
                <a:spcPct val="110000"/>
              </a:lnSpc>
              <a:buBlip>
                <a:blip r:embed="rId2"/>
              </a:buBlip>
            </a:pPr>
            <a:r>
              <a:rPr lang="zh-CN" altLang="en-US" sz="2000" dirty="0">
                <a:latin typeface="Consolas" pitchFamily="49" charset="0"/>
                <a:ea typeface="仿宋" pitchFamily="49" charset="-122"/>
                <a:cs typeface="Consolas" pitchFamily="49" charset="0"/>
              </a:rPr>
              <a:t>从</a:t>
            </a:r>
            <a:r>
              <a:rPr lang="en-US" altLang="zh-CN" sz="2000" dirty="0">
                <a:latin typeface="Consolas" pitchFamily="49" charset="0"/>
                <a:ea typeface="仿宋" pitchFamily="49" charset="-122"/>
                <a:cs typeface="Consolas" pitchFamily="49" charset="0"/>
              </a:rPr>
              <a:t>path[</a:t>
            </a:r>
            <a:r>
              <a:rPr lang="en-US" altLang="zh-CN" sz="2000" i="1" dirty="0">
                <a:latin typeface="Consolas" pitchFamily="49" charset="0"/>
                <a:ea typeface="仿宋" pitchFamily="49" charset="-122"/>
                <a:cs typeface="Consolas" pitchFamily="49" charset="0"/>
              </a:rPr>
              <a:t>j</a:t>
            </a:r>
            <a:r>
              <a:rPr lang="en-US" altLang="zh-CN" sz="2000" dirty="0">
                <a:latin typeface="Consolas" pitchFamily="49" charset="0"/>
                <a:ea typeface="仿宋" pitchFamily="49" charset="-122"/>
                <a:cs typeface="Consolas" pitchFamily="49" charset="0"/>
              </a:rPr>
              <a:t>]</a:t>
            </a:r>
            <a:r>
              <a:rPr lang="zh-CN" altLang="en-US" sz="2000" dirty="0">
                <a:latin typeface="Consolas" pitchFamily="49" charset="0"/>
                <a:ea typeface="仿宋" pitchFamily="49" charset="-122"/>
                <a:cs typeface="Consolas" pitchFamily="49" charset="0"/>
              </a:rPr>
              <a:t>推出的逆路径：</a:t>
            </a:r>
            <a:r>
              <a:rPr lang="en-US" altLang="zh-CN" sz="2000" i="1" dirty="0">
                <a:latin typeface="Consolas" pitchFamily="49" charset="0"/>
                <a:ea typeface="仿宋" pitchFamily="49" charset="-122"/>
                <a:cs typeface="Consolas" pitchFamily="49" charset="0"/>
              </a:rPr>
              <a:t>j</a:t>
            </a:r>
            <a:r>
              <a:rPr lang="zh-CN" altLang="en-US" sz="2000" dirty="0">
                <a:latin typeface="Consolas" pitchFamily="49" charset="0"/>
                <a:ea typeface="仿宋" pitchFamily="49" charset="-122"/>
                <a:cs typeface="Consolas" pitchFamily="49" charset="0"/>
              </a:rPr>
              <a:t>，</a:t>
            </a:r>
            <a:r>
              <a:rPr lang="en-US" altLang="zh-CN" sz="2000" i="1" dirty="0">
                <a:latin typeface="Consolas" pitchFamily="49" charset="0"/>
                <a:ea typeface="仿宋" pitchFamily="49" charset="-122"/>
                <a:cs typeface="Consolas" pitchFamily="49" charset="0"/>
              </a:rPr>
              <a:t>w</a:t>
            </a:r>
            <a:r>
              <a:rPr lang="zh-CN" altLang="en-US" sz="2000" dirty="0">
                <a:latin typeface="Consolas" pitchFamily="49" charset="0"/>
                <a:ea typeface="仿宋" pitchFamily="49" charset="-122"/>
                <a:cs typeface="Consolas" pitchFamily="49" charset="0"/>
              </a:rPr>
              <a:t>，</a:t>
            </a:r>
            <a:r>
              <a:rPr lang="en-US" altLang="zh-CN" sz="2000" i="1" dirty="0">
                <a:latin typeface="Consolas" pitchFamily="49" charset="0"/>
                <a:ea typeface="仿宋" pitchFamily="49" charset="-122"/>
                <a:cs typeface="Consolas" pitchFamily="49" charset="0"/>
              </a:rPr>
              <a:t>u</a:t>
            </a:r>
            <a:r>
              <a:rPr lang="zh-CN" altLang="en-US" sz="2000" dirty="0">
                <a:latin typeface="Consolas" pitchFamily="49" charset="0"/>
                <a:ea typeface="仿宋" pitchFamily="49" charset="-122"/>
                <a:cs typeface="Consolas" pitchFamily="49" charset="0"/>
              </a:rPr>
              <a:t>，</a:t>
            </a:r>
            <a:r>
              <a:rPr lang="en-US" altLang="zh-CN" sz="2000" i="1" dirty="0">
                <a:latin typeface="Consolas" pitchFamily="49" charset="0"/>
                <a:ea typeface="仿宋" pitchFamily="49" charset="-122"/>
                <a:cs typeface="Consolas" pitchFamily="49" charset="0"/>
              </a:rPr>
              <a:t>v</a:t>
            </a:r>
            <a:endParaRPr lang="zh-CN" altLang="en-US" sz="2000" i="1" dirty="0">
              <a:latin typeface="Consolas" pitchFamily="49" charset="0"/>
              <a:ea typeface="仿宋" pitchFamily="49" charset="-122"/>
              <a:cs typeface="Consolas" pitchFamily="49" charset="0"/>
            </a:endParaRPr>
          </a:p>
          <a:p>
            <a:pPr marL="342900" indent="-342900">
              <a:lnSpc>
                <a:spcPct val="110000"/>
              </a:lnSpc>
              <a:buBlip>
                <a:blip r:embed="rId2"/>
              </a:buBlip>
            </a:pPr>
            <a:r>
              <a:rPr lang="zh-CN" altLang="en-US" sz="2000" dirty="0">
                <a:latin typeface="Consolas" pitchFamily="49" charset="0"/>
                <a:ea typeface="仿宋" pitchFamily="49" charset="-122"/>
                <a:cs typeface="Consolas" pitchFamily="49" charset="0"/>
              </a:rPr>
              <a:t>对应的最短路径为：</a:t>
            </a:r>
            <a:r>
              <a:rPr lang="en-US" altLang="zh-CN" sz="2000" i="1" dirty="0">
                <a:latin typeface="Consolas" pitchFamily="49" charset="0"/>
                <a:ea typeface="仿宋" pitchFamily="49" charset="-122"/>
                <a:cs typeface="Consolas" pitchFamily="49" charset="0"/>
              </a:rPr>
              <a:t>v </a:t>
            </a:r>
            <a:r>
              <a:rPr lang="en-US" altLang="zh-CN" sz="2000" dirty="0">
                <a:latin typeface="Consolas" pitchFamily="49" charset="0"/>
                <a:ea typeface="仿宋" pitchFamily="49" charset="-122"/>
                <a:cs typeface="Consolas" pitchFamily="49" charset="0"/>
              </a:rPr>
              <a:t>→ </a:t>
            </a:r>
            <a:r>
              <a:rPr lang="en-US" altLang="zh-CN" sz="2000" i="1" dirty="0">
                <a:latin typeface="Consolas" pitchFamily="49" charset="0"/>
                <a:ea typeface="仿宋" pitchFamily="49" charset="-122"/>
                <a:cs typeface="Consolas" pitchFamily="49" charset="0"/>
              </a:rPr>
              <a:t>u</a:t>
            </a:r>
            <a:r>
              <a:rPr lang="en-US" altLang="zh-CN" sz="2000" dirty="0">
                <a:latin typeface="Consolas" pitchFamily="49" charset="0"/>
                <a:ea typeface="仿宋" pitchFamily="49" charset="-122"/>
                <a:cs typeface="Consolas" pitchFamily="49" charset="0"/>
              </a:rPr>
              <a:t> → </a:t>
            </a:r>
            <a:r>
              <a:rPr lang="en-US" altLang="zh-CN" sz="2000" i="1" dirty="0">
                <a:latin typeface="Consolas" pitchFamily="49" charset="0"/>
                <a:ea typeface="仿宋" pitchFamily="49" charset="-122"/>
                <a:cs typeface="Consolas" pitchFamily="49" charset="0"/>
              </a:rPr>
              <a:t>w</a:t>
            </a:r>
            <a:r>
              <a:rPr lang="en-US" altLang="zh-CN" sz="2000" dirty="0">
                <a:latin typeface="Consolas" pitchFamily="49" charset="0"/>
                <a:ea typeface="仿宋" pitchFamily="49" charset="-122"/>
                <a:cs typeface="Consolas" pitchFamily="49" charset="0"/>
              </a:rPr>
              <a:t> → </a:t>
            </a:r>
            <a:r>
              <a:rPr lang="en-US" altLang="zh-CN" sz="2000" i="1" dirty="0">
                <a:latin typeface="Consolas" pitchFamily="49" charset="0"/>
                <a:ea typeface="仿宋" pitchFamily="49" charset="-122"/>
                <a:cs typeface="Consolas" pitchFamily="49" charset="0"/>
              </a:rPr>
              <a:t>j</a:t>
            </a:r>
          </a:p>
        </p:txBody>
      </p:sp>
      <p:sp>
        <p:nvSpPr>
          <p:cNvPr id="3" name="Oval 6">
            <a:extLst>
              <a:ext uri="{FF2B5EF4-FFF2-40B4-BE49-F238E27FC236}">
                <a16:creationId xmlns:a16="http://schemas.microsoft.com/office/drawing/2014/main" id="{F2A0F6FA-1695-706E-F433-48A55D38B8CC}"/>
              </a:ext>
            </a:extLst>
          </p:cNvPr>
          <p:cNvSpPr>
            <a:spLocks noChangeArrowheads="1"/>
          </p:cNvSpPr>
          <p:nvPr/>
        </p:nvSpPr>
        <p:spPr bwMode="auto">
          <a:xfrm>
            <a:off x="2097544" y="3383056"/>
            <a:ext cx="431800"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pPr algn="ctr">
              <a:spcBef>
                <a:spcPct val="0"/>
              </a:spcBef>
            </a:pPr>
            <a:r>
              <a:rPr lang="en-US" altLang="zh-CN" sz="2000" i="1" dirty="0">
                <a:solidFill>
                  <a:srgbClr val="3333FF"/>
                </a:solidFill>
                <a:latin typeface="Consolas" pitchFamily="49" charset="0"/>
                <a:cs typeface="Consolas" pitchFamily="49" charset="0"/>
              </a:rPr>
              <a:t>v</a:t>
            </a:r>
          </a:p>
        </p:txBody>
      </p:sp>
      <p:sp>
        <p:nvSpPr>
          <p:cNvPr id="4" name="Oval 7">
            <a:extLst>
              <a:ext uri="{FF2B5EF4-FFF2-40B4-BE49-F238E27FC236}">
                <a16:creationId xmlns:a16="http://schemas.microsoft.com/office/drawing/2014/main" id="{1562DAFE-459B-904F-60BA-1853192A7835}"/>
              </a:ext>
            </a:extLst>
          </p:cNvPr>
          <p:cNvSpPr>
            <a:spLocks noChangeArrowheads="1"/>
          </p:cNvSpPr>
          <p:nvPr/>
        </p:nvSpPr>
        <p:spPr bwMode="auto">
          <a:xfrm>
            <a:off x="5155062" y="3383056"/>
            <a:ext cx="431800"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pPr algn="ctr">
              <a:spcBef>
                <a:spcPct val="0"/>
              </a:spcBef>
            </a:pPr>
            <a:r>
              <a:rPr lang="en-US" altLang="zh-CN" sz="2000" i="1" dirty="0">
                <a:solidFill>
                  <a:srgbClr val="3333FF"/>
                </a:solidFill>
                <a:latin typeface="Consolas" pitchFamily="49" charset="0"/>
                <a:cs typeface="Consolas" pitchFamily="49" charset="0"/>
              </a:rPr>
              <a:t>w</a:t>
            </a:r>
          </a:p>
        </p:txBody>
      </p:sp>
      <p:sp>
        <p:nvSpPr>
          <p:cNvPr id="5" name="Oval 8">
            <a:extLst>
              <a:ext uri="{FF2B5EF4-FFF2-40B4-BE49-F238E27FC236}">
                <a16:creationId xmlns:a16="http://schemas.microsoft.com/office/drawing/2014/main" id="{FED25537-DE84-6150-C99B-CEBB8B2C3988}"/>
              </a:ext>
            </a:extLst>
          </p:cNvPr>
          <p:cNvSpPr>
            <a:spLocks noChangeArrowheads="1"/>
          </p:cNvSpPr>
          <p:nvPr/>
        </p:nvSpPr>
        <p:spPr bwMode="auto">
          <a:xfrm>
            <a:off x="6698126" y="3383056"/>
            <a:ext cx="431800"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pPr algn="ctr">
              <a:spcBef>
                <a:spcPct val="0"/>
              </a:spcBef>
            </a:pPr>
            <a:r>
              <a:rPr lang="en-US" altLang="zh-CN" sz="2000" i="1">
                <a:solidFill>
                  <a:srgbClr val="3333FF"/>
                </a:solidFill>
                <a:latin typeface="Consolas" pitchFamily="49" charset="0"/>
                <a:cs typeface="Consolas" pitchFamily="49" charset="0"/>
              </a:rPr>
              <a:t>j</a:t>
            </a:r>
          </a:p>
        </p:txBody>
      </p:sp>
      <p:sp>
        <p:nvSpPr>
          <p:cNvPr id="6" name="Line 9">
            <a:extLst>
              <a:ext uri="{FF2B5EF4-FFF2-40B4-BE49-F238E27FC236}">
                <a16:creationId xmlns:a16="http://schemas.microsoft.com/office/drawing/2014/main" id="{066884C8-5411-F9D4-95A0-543EEE15EF04}"/>
              </a:ext>
            </a:extLst>
          </p:cNvPr>
          <p:cNvSpPr>
            <a:spLocks noChangeShapeType="1"/>
          </p:cNvSpPr>
          <p:nvPr/>
        </p:nvSpPr>
        <p:spPr bwMode="auto">
          <a:xfrm flipV="1">
            <a:off x="2529344" y="3604037"/>
            <a:ext cx="1080000" cy="0"/>
          </a:xfrm>
          <a:prstGeom prst="line">
            <a:avLst/>
          </a:prstGeom>
          <a:ln>
            <a:headEnd/>
            <a:tailEnd type="triangle" w="med" len="lg"/>
          </a:ln>
        </p:spPr>
        <p:style>
          <a:lnRef idx="2">
            <a:schemeClr val="accent5"/>
          </a:lnRef>
          <a:fillRef idx="0">
            <a:schemeClr val="accent5"/>
          </a:fillRef>
          <a:effectRef idx="1">
            <a:schemeClr val="accent5"/>
          </a:effectRef>
          <a:fontRef idx="minor">
            <a:schemeClr val="tx1"/>
          </a:fontRef>
        </p:style>
        <p:txBody>
          <a:bodyPr wrap="none"/>
          <a:lstStyle/>
          <a:p>
            <a:endParaRPr lang="zh-CN" altLang="en-US">
              <a:latin typeface="Consolas" pitchFamily="49" charset="0"/>
              <a:cs typeface="Consolas" pitchFamily="49" charset="0"/>
            </a:endParaRPr>
          </a:p>
        </p:txBody>
      </p:sp>
      <p:grpSp>
        <p:nvGrpSpPr>
          <p:cNvPr id="7" name="组合 27">
            <a:extLst>
              <a:ext uri="{FF2B5EF4-FFF2-40B4-BE49-F238E27FC236}">
                <a16:creationId xmlns:a16="http://schemas.microsoft.com/office/drawing/2014/main" id="{2354F55C-1A35-29B5-D237-218F8C217489}"/>
              </a:ext>
            </a:extLst>
          </p:cNvPr>
          <p:cNvGrpSpPr/>
          <p:nvPr/>
        </p:nvGrpSpPr>
        <p:grpSpPr>
          <a:xfrm>
            <a:off x="6486984" y="3947416"/>
            <a:ext cx="1428760" cy="716146"/>
            <a:chOff x="5643570" y="1681944"/>
            <a:chExt cx="1428760" cy="716146"/>
          </a:xfrm>
        </p:grpSpPr>
        <p:cxnSp>
          <p:nvCxnSpPr>
            <p:cNvPr id="12" name="直接箭头连接符 11">
              <a:extLst>
                <a:ext uri="{FF2B5EF4-FFF2-40B4-BE49-F238E27FC236}">
                  <a16:creationId xmlns:a16="http://schemas.microsoft.com/office/drawing/2014/main" id="{98EA061B-06D8-E2C2-DE72-6E2D30CEAF1F}"/>
                </a:ext>
              </a:extLst>
            </p:cNvPr>
            <p:cNvCxnSpPr/>
            <p:nvPr/>
          </p:nvCxnSpPr>
          <p:spPr>
            <a:xfrm rot="5400000" flipH="1" flipV="1">
              <a:off x="5911065" y="1859745"/>
              <a:ext cx="357190" cy="1588"/>
            </a:xfrm>
            <a:prstGeom prst="straightConnector1">
              <a:avLst/>
            </a:prstGeom>
            <a:ln w="28575">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13" name="TextBox 22">
              <a:extLst>
                <a:ext uri="{FF2B5EF4-FFF2-40B4-BE49-F238E27FC236}">
                  <a16:creationId xmlns:a16="http://schemas.microsoft.com/office/drawing/2014/main" id="{79C29A60-3E96-0DA4-A1D6-5EE181B09792}"/>
                </a:ext>
              </a:extLst>
            </p:cNvPr>
            <p:cNvSpPr txBox="1"/>
            <p:nvPr/>
          </p:nvSpPr>
          <p:spPr>
            <a:xfrm>
              <a:off x="5643570" y="2028758"/>
              <a:ext cx="1428760" cy="369332"/>
            </a:xfrm>
            <a:prstGeom prst="rect">
              <a:avLst/>
            </a:prstGeom>
            <a:noFill/>
          </p:spPr>
          <p:txBody>
            <a:bodyPr wrap="square" rtlCol="0">
              <a:spAutoFit/>
            </a:bodyPr>
            <a:lstStyle/>
            <a:p>
              <a:r>
                <a:rPr lang="en-US" altLang="zh-CN" sz="1800" dirty="0">
                  <a:latin typeface="Consolas" pitchFamily="49" charset="0"/>
                  <a:ea typeface="楷体" pitchFamily="49" charset="-122"/>
                  <a:cs typeface="Consolas" pitchFamily="49" charset="0"/>
                </a:rPr>
                <a:t>path[</a:t>
              </a:r>
              <a:r>
                <a:rPr lang="en-US" altLang="zh-CN" sz="1800" i="1" dirty="0">
                  <a:latin typeface="Consolas" pitchFamily="49" charset="0"/>
                  <a:ea typeface="楷体" pitchFamily="49" charset="-122"/>
                  <a:cs typeface="Consolas" pitchFamily="49" charset="0"/>
                </a:rPr>
                <a:t>j</a:t>
              </a:r>
              <a:r>
                <a:rPr lang="en-US" altLang="zh-CN" sz="1800" dirty="0">
                  <a:latin typeface="Consolas" pitchFamily="49" charset="0"/>
                  <a:ea typeface="楷体" pitchFamily="49" charset="-122"/>
                  <a:cs typeface="Consolas" pitchFamily="49" charset="0"/>
                </a:rPr>
                <a:t>]=</a:t>
              </a:r>
              <a:r>
                <a:rPr lang="en-US" altLang="zh-CN" sz="1800" i="1" dirty="0">
                  <a:solidFill>
                    <a:srgbClr val="DB0303"/>
                  </a:solidFill>
                  <a:latin typeface="Consolas" pitchFamily="49" charset="0"/>
                  <a:ea typeface="楷体" pitchFamily="49" charset="-122"/>
                  <a:cs typeface="Consolas" pitchFamily="49" charset="0"/>
                </a:rPr>
                <a:t>w</a:t>
              </a:r>
              <a:endParaRPr lang="zh-CN" altLang="en-US" sz="1800" dirty="0">
                <a:latin typeface="Consolas" pitchFamily="49" charset="0"/>
                <a:cs typeface="Consolas" pitchFamily="49" charset="0"/>
              </a:endParaRPr>
            </a:p>
          </p:txBody>
        </p:sp>
      </p:grpSp>
      <p:sp>
        <p:nvSpPr>
          <p:cNvPr id="14" name="Oval 7">
            <a:extLst>
              <a:ext uri="{FF2B5EF4-FFF2-40B4-BE49-F238E27FC236}">
                <a16:creationId xmlns:a16="http://schemas.microsoft.com/office/drawing/2014/main" id="{9F28C620-03C4-7D55-70B3-524A8BFBBA96}"/>
              </a:ext>
            </a:extLst>
          </p:cNvPr>
          <p:cNvSpPr>
            <a:spLocks noChangeArrowheads="1"/>
          </p:cNvSpPr>
          <p:nvPr/>
        </p:nvSpPr>
        <p:spPr bwMode="auto">
          <a:xfrm>
            <a:off x="3629464" y="3383056"/>
            <a:ext cx="431800"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pPr algn="ctr">
              <a:spcBef>
                <a:spcPct val="0"/>
              </a:spcBef>
            </a:pPr>
            <a:r>
              <a:rPr lang="en-US" altLang="zh-CN" sz="2000" i="1" dirty="0">
                <a:solidFill>
                  <a:srgbClr val="3333FF"/>
                </a:solidFill>
                <a:latin typeface="Consolas" pitchFamily="49" charset="0"/>
                <a:cs typeface="Consolas" pitchFamily="49" charset="0"/>
              </a:rPr>
              <a:t>u</a:t>
            </a:r>
          </a:p>
        </p:txBody>
      </p:sp>
      <p:sp>
        <p:nvSpPr>
          <p:cNvPr id="15" name="Line 9">
            <a:extLst>
              <a:ext uri="{FF2B5EF4-FFF2-40B4-BE49-F238E27FC236}">
                <a16:creationId xmlns:a16="http://schemas.microsoft.com/office/drawing/2014/main" id="{08F5DB4F-BADA-1CAC-41E9-A5F9E2D15C23}"/>
              </a:ext>
            </a:extLst>
          </p:cNvPr>
          <p:cNvSpPr>
            <a:spLocks noChangeShapeType="1"/>
          </p:cNvSpPr>
          <p:nvPr/>
        </p:nvSpPr>
        <p:spPr bwMode="auto">
          <a:xfrm flipV="1">
            <a:off x="4061264" y="3604037"/>
            <a:ext cx="1080000" cy="0"/>
          </a:xfrm>
          <a:prstGeom prst="line">
            <a:avLst/>
          </a:prstGeom>
          <a:ln>
            <a:headEnd/>
            <a:tailEnd type="triangle" w="med" len="lg"/>
          </a:ln>
        </p:spPr>
        <p:style>
          <a:lnRef idx="2">
            <a:schemeClr val="accent5"/>
          </a:lnRef>
          <a:fillRef idx="0">
            <a:schemeClr val="accent5"/>
          </a:fillRef>
          <a:effectRef idx="1">
            <a:schemeClr val="accent5"/>
          </a:effectRef>
          <a:fontRef idx="minor">
            <a:schemeClr val="tx1"/>
          </a:fontRef>
        </p:style>
        <p:txBody>
          <a:bodyPr wrap="none"/>
          <a:lstStyle/>
          <a:p>
            <a:endParaRPr lang="zh-CN" altLang="en-US">
              <a:latin typeface="Consolas" pitchFamily="49" charset="0"/>
              <a:cs typeface="Consolas" pitchFamily="49" charset="0"/>
            </a:endParaRPr>
          </a:p>
        </p:txBody>
      </p:sp>
      <p:sp>
        <p:nvSpPr>
          <p:cNvPr id="16" name="Line 9">
            <a:extLst>
              <a:ext uri="{FF2B5EF4-FFF2-40B4-BE49-F238E27FC236}">
                <a16:creationId xmlns:a16="http://schemas.microsoft.com/office/drawing/2014/main" id="{A0474E23-B019-6BE6-D4E2-F6D655CCDEF5}"/>
              </a:ext>
            </a:extLst>
          </p:cNvPr>
          <p:cNvSpPr>
            <a:spLocks noChangeShapeType="1"/>
          </p:cNvSpPr>
          <p:nvPr/>
        </p:nvSpPr>
        <p:spPr bwMode="auto">
          <a:xfrm flipV="1">
            <a:off x="5596390" y="3604037"/>
            <a:ext cx="1080000" cy="0"/>
          </a:xfrm>
          <a:prstGeom prst="line">
            <a:avLst/>
          </a:prstGeom>
          <a:ln>
            <a:headEnd/>
            <a:tailEnd type="triangle" w="med" len="lg"/>
          </a:ln>
        </p:spPr>
        <p:style>
          <a:lnRef idx="2">
            <a:schemeClr val="accent5"/>
          </a:lnRef>
          <a:fillRef idx="0">
            <a:schemeClr val="accent5"/>
          </a:fillRef>
          <a:effectRef idx="1">
            <a:schemeClr val="accent5"/>
          </a:effectRef>
          <a:fontRef idx="minor">
            <a:schemeClr val="tx1"/>
          </a:fontRef>
        </p:style>
        <p:txBody>
          <a:bodyPr wrap="none"/>
          <a:lstStyle/>
          <a:p>
            <a:endParaRPr lang="zh-CN" altLang="en-US">
              <a:latin typeface="Consolas" pitchFamily="49" charset="0"/>
              <a:cs typeface="Consolas" pitchFamily="49" charset="0"/>
            </a:endParaRPr>
          </a:p>
        </p:txBody>
      </p:sp>
      <p:sp>
        <p:nvSpPr>
          <p:cNvPr id="17" name="TextBox 26">
            <a:extLst>
              <a:ext uri="{FF2B5EF4-FFF2-40B4-BE49-F238E27FC236}">
                <a16:creationId xmlns:a16="http://schemas.microsoft.com/office/drawing/2014/main" id="{1989C9CB-BBD1-C587-F179-26F3E11F1C7A}"/>
              </a:ext>
            </a:extLst>
          </p:cNvPr>
          <p:cNvSpPr txBox="1"/>
          <p:nvPr/>
        </p:nvSpPr>
        <p:spPr>
          <a:xfrm>
            <a:off x="1414886" y="2551200"/>
            <a:ext cx="2643206" cy="400110"/>
          </a:xfrm>
          <a:prstGeom prst="rect">
            <a:avLst/>
          </a:prstGeom>
          <a:noFill/>
        </p:spPr>
        <p:txBody>
          <a:bodyPr wrap="square" rtlCol="0">
            <a:spAutoFit/>
          </a:bodyPr>
          <a:lstStyle/>
          <a:p>
            <a:r>
              <a:rPr lang="en-US" altLang="zh-CN" sz="2000" i="1" dirty="0">
                <a:latin typeface="Consolas" pitchFamily="49" charset="0"/>
                <a:ea typeface="楷体" pitchFamily="49" charset="-122"/>
                <a:cs typeface="Consolas" pitchFamily="49" charset="0"/>
              </a:rPr>
              <a:t>v </a:t>
            </a:r>
            <a:r>
              <a:rPr lang="zh-CN" altLang="en-US" sz="2000">
                <a:solidFill>
                  <a:srgbClr val="FF00FF"/>
                </a:solidFill>
                <a:latin typeface="Consolas" pitchFamily="49" charset="0"/>
                <a:ea typeface="楷体" pitchFamily="49" charset="-122"/>
                <a:cs typeface="Consolas" pitchFamily="49" charset="0"/>
                <a:sym typeface="Wingdings"/>
              </a:rPr>
              <a:t></a:t>
            </a:r>
            <a:r>
              <a:rPr lang="zh-CN" altLang="en-US" sz="2000">
                <a:latin typeface="Consolas" pitchFamily="49" charset="0"/>
                <a:ea typeface="楷体" pitchFamily="49" charset="-122"/>
                <a:cs typeface="Consolas" pitchFamily="49" charset="0"/>
                <a:sym typeface="Wingdings"/>
              </a:rPr>
              <a:t> </a:t>
            </a:r>
            <a:r>
              <a:rPr lang="en-US" altLang="zh-CN" sz="2000" i="1">
                <a:latin typeface="Consolas" pitchFamily="49" charset="0"/>
                <a:ea typeface="楷体" pitchFamily="49" charset="-122"/>
                <a:cs typeface="Consolas" pitchFamily="49" charset="0"/>
              </a:rPr>
              <a:t>j</a:t>
            </a:r>
            <a:r>
              <a:rPr lang="zh-CN" altLang="en-US" sz="2000" dirty="0">
                <a:latin typeface="Consolas" pitchFamily="49" charset="0"/>
                <a:ea typeface="楷体" pitchFamily="49" charset="-122"/>
                <a:cs typeface="Consolas" pitchFamily="49" charset="0"/>
              </a:rPr>
              <a:t>的最短路径</a:t>
            </a:r>
            <a:r>
              <a:rPr lang="en-US" altLang="zh-CN" sz="2000" dirty="0">
                <a:latin typeface="Consolas" pitchFamily="49" charset="0"/>
                <a:ea typeface="楷体" pitchFamily="49" charset="-122"/>
                <a:cs typeface="Consolas" pitchFamily="49" charset="0"/>
              </a:rPr>
              <a:t>:</a:t>
            </a:r>
            <a:endParaRPr lang="zh-CN" altLang="en-US" sz="2000" dirty="0">
              <a:latin typeface="Consolas" pitchFamily="49" charset="0"/>
              <a:cs typeface="Consolas" pitchFamily="49" charset="0"/>
            </a:endParaRPr>
          </a:p>
        </p:txBody>
      </p:sp>
      <p:grpSp>
        <p:nvGrpSpPr>
          <p:cNvPr id="19" name="组合 28">
            <a:extLst>
              <a:ext uri="{FF2B5EF4-FFF2-40B4-BE49-F238E27FC236}">
                <a16:creationId xmlns:a16="http://schemas.microsoft.com/office/drawing/2014/main" id="{D05AAC0D-79A7-4353-8014-5FD92CC031F2}"/>
              </a:ext>
            </a:extLst>
          </p:cNvPr>
          <p:cNvGrpSpPr/>
          <p:nvPr/>
        </p:nvGrpSpPr>
        <p:grpSpPr>
          <a:xfrm>
            <a:off x="4915348" y="3947416"/>
            <a:ext cx="1428760" cy="716146"/>
            <a:chOff x="5643570" y="1681944"/>
            <a:chExt cx="1428760" cy="716146"/>
          </a:xfrm>
        </p:grpSpPr>
        <p:cxnSp>
          <p:nvCxnSpPr>
            <p:cNvPr id="20" name="直接箭头连接符 19">
              <a:extLst>
                <a:ext uri="{FF2B5EF4-FFF2-40B4-BE49-F238E27FC236}">
                  <a16:creationId xmlns:a16="http://schemas.microsoft.com/office/drawing/2014/main" id="{4A64512F-CAED-A3E8-0181-1D51B885442A}"/>
                </a:ext>
              </a:extLst>
            </p:cNvPr>
            <p:cNvCxnSpPr/>
            <p:nvPr/>
          </p:nvCxnSpPr>
          <p:spPr>
            <a:xfrm rot="5400000" flipH="1" flipV="1">
              <a:off x="5911065" y="1859745"/>
              <a:ext cx="357190" cy="1588"/>
            </a:xfrm>
            <a:prstGeom prst="straightConnector1">
              <a:avLst/>
            </a:prstGeom>
            <a:ln w="28575">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21" name="TextBox 30">
              <a:extLst>
                <a:ext uri="{FF2B5EF4-FFF2-40B4-BE49-F238E27FC236}">
                  <a16:creationId xmlns:a16="http://schemas.microsoft.com/office/drawing/2014/main" id="{F784FE0B-88B3-757E-420A-E08180A3D548}"/>
                </a:ext>
              </a:extLst>
            </p:cNvPr>
            <p:cNvSpPr txBox="1"/>
            <p:nvPr/>
          </p:nvSpPr>
          <p:spPr>
            <a:xfrm>
              <a:off x="5643570" y="2028758"/>
              <a:ext cx="1428760" cy="369332"/>
            </a:xfrm>
            <a:prstGeom prst="rect">
              <a:avLst/>
            </a:prstGeom>
            <a:noFill/>
          </p:spPr>
          <p:txBody>
            <a:bodyPr wrap="square" rtlCol="0">
              <a:spAutoFit/>
            </a:bodyPr>
            <a:lstStyle/>
            <a:p>
              <a:r>
                <a:rPr lang="en-US" altLang="zh-CN" sz="1800" dirty="0">
                  <a:latin typeface="Consolas" pitchFamily="49" charset="0"/>
                  <a:ea typeface="楷体" pitchFamily="49" charset="-122"/>
                  <a:cs typeface="Consolas" pitchFamily="49" charset="0"/>
                </a:rPr>
                <a:t>path[</a:t>
              </a:r>
              <a:r>
                <a:rPr lang="en-US" altLang="zh-CN" sz="1800" i="1" dirty="0">
                  <a:latin typeface="Consolas" pitchFamily="49" charset="0"/>
                  <a:ea typeface="楷体" pitchFamily="49" charset="-122"/>
                  <a:cs typeface="Consolas" pitchFamily="49" charset="0"/>
                </a:rPr>
                <a:t>w</a:t>
              </a:r>
              <a:r>
                <a:rPr lang="en-US" altLang="zh-CN" sz="1800" dirty="0">
                  <a:latin typeface="Consolas" pitchFamily="49" charset="0"/>
                  <a:ea typeface="楷体" pitchFamily="49" charset="-122"/>
                  <a:cs typeface="Consolas" pitchFamily="49" charset="0"/>
                </a:rPr>
                <a:t>]=</a:t>
              </a:r>
              <a:r>
                <a:rPr lang="en-US" altLang="zh-CN" sz="1800" i="1" dirty="0">
                  <a:solidFill>
                    <a:srgbClr val="DB0303"/>
                  </a:solidFill>
                  <a:latin typeface="Consolas" pitchFamily="49" charset="0"/>
                  <a:ea typeface="楷体" pitchFamily="49" charset="-122"/>
                  <a:cs typeface="Consolas" pitchFamily="49" charset="0"/>
                </a:rPr>
                <a:t>u</a:t>
              </a:r>
              <a:endParaRPr lang="zh-CN" altLang="en-US" sz="1800" dirty="0">
                <a:latin typeface="Consolas" pitchFamily="49" charset="0"/>
                <a:cs typeface="Consolas" pitchFamily="49" charset="0"/>
              </a:endParaRPr>
            </a:p>
          </p:txBody>
        </p:sp>
      </p:grpSp>
      <p:grpSp>
        <p:nvGrpSpPr>
          <p:cNvPr id="22" name="组合 31">
            <a:extLst>
              <a:ext uri="{FF2B5EF4-FFF2-40B4-BE49-F238E27FC236}">
                <a16:creationId xmlns:a16="http://schemas.microsoft.com/office/drawing/2014/main" id="{4B27DAD5-FF53-09C6-023F-4584B0B1FDB7}"/>
              </a:ext>
            </a:extLst>
          </p:cNvPr>
          <p:cNvGrpSpPr/>
          <p:nvPr/>
        </p:nvGrpSpPr>
        <p:grpSpPr>
          <a:xfrm>
            <a:off x="3415150" y="3947416"/>
            <a:ext cx="1428760" cy="716146"/>
            <a:chOff x="5643570" y="1681944"/>
            <a:chExt cx="1428760" cy="716146"/>
          </a:xfrm>
        </p:grpSpPr>
        <p:cxnSp>
          <p:nvCxnSpPr>
            <p:cNvPr id="23" name="直接箭头连接符 22">
              <a:extLst>
                <a:ext uri="{FF2B5EF4-FFF2-40B4-BE49-F238E27FC236}">
                  <a16:creationId xmlns:a16="http://schemas.microsoft.com/office/drawing/2014/main" id="{FEB46C4F-6E98-0261-C466-47A9F559CC32}"/>
                </a:ext>
              </a:extLst>
            </p:cNvPr>
            <p:cNvCxnSpPr/>
            <p:nvPr/>
          </p:nvCxnSpPr>
          <p:spPr>
            <a:xfrm rot="5400000" flipH="1" flipV="1">
              <a:off x="5911065" y="1859745"/>
              <a:ext cx="357190" cy="1588"/>
            </a:xfrm>
            <a:prstGeom prst="straightConnector1">
              <a:avLst/>
            </a:prstGeom>
            <a:ln w="28575">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24" name="TextBox 33">
              <a:extLst>
                <a:ext uri="{FF2B5EF4-FFF2-40B4-BE49-F238E27FC236}">
                  <a16:creationId xmlns:a16="http://schemas.microsoft.com/office/drawing/2014/main" id="{941F6260-E1C2-91C7-7A48-61527D03FF70}"/>
                </a:ext>
              </a:extLst>
            </p:cNvPr>
            <p:cNvSpPr txBox="1"/>
            <p:nvPr/>
          </p:nvSpPr>
          <p:spPr>
            <a:xfrm>
              <a:off x="5643570" y="2028758"/>
              <a:ext cx="1428760" cy="369332"/>
            </a:xfrm>
            <a:prstGeom prst="rect">
              <a:avLst/>
            </a:prstGeom>
            <a:noFill/>
          </p:spPr>
          <p:txBody>
            <a:bodyPr wrap="square" rtlCol="0">
              <a:spAutoFit/>
            </a:bodyPr>
            <a:lstStyle/>
            <a:p>
              <a:r>
                <a:rPr lang="en-US" altLang="zh-CN" sz="1800" dirty="0">
                  <a:latin typeface="Consolas" pitchFamily="49" charset="0"/>
                  <a:ea typeface="楷体" pitchFamily="49" charset="-122"/>
                  <a:cs typeface="Consolas" pitchFamily="49" charset="0"/>
                </a:rPr>
                <a:t>path[</a:t>
              </a:r>
              <a:r>
                <a:rPr lang="en-US" altLang="zh-CN" sz="1800" i="1" dirty="0">
                  <a:latin typeface="Consolas" pitchFamily="49" charset="0"/>
                  <a:ea typeface="楷体" pitchFamily="49" charset="-122"/>
                  <a:cs typeface="Consolas" pitchFamily="49" charset="0"/>
                </a:rPr>
                <a:t>u</a:t>
              </a:r>
              <a:r>
                <a:rPr lang="en-US" altLang="zh-CN" sz="1800" dirty="0">
                  <a:latin typeface="Consolas" pitchFamily="49" charset="0"/>
                  <a:ea typeface="楷体" pitchFamily="49" charset="-122"/>
                  <a:cs typeface="Consolas" pitchFamily="49" charset="0"/>
                </a:rPr>
                <a:t>]=</a:t>
              </a:r>
              <a:r>
                <a:rPr lang="en-US" altLang="zh-CN" sz="1800" i="1" dirty="0">
                  <a:solidFill>
                    <a:srgbClr val="DB0303"/>
                  </a:solidFill>
                  <a:latin typeface="Consolas" pitchFamily="49" charset="0"/>
                  <a:ea typeface="楷体" pitchFamily="49" charset="-122"/>
                  <a:cs typeface="Consolas" pitchFamily="49" charset="0"/>
                </a:rPr>
                <a:t>v</a:t>
              </a:r>
              <a:endParaRPr lang="zh-CN" altLang="en-US" sz="1800" dirty="0">
                <a:latin typeface="Consolas" pitchFamily="49" charset="0"/>
                <a:cs typeface="Consolas" pitchFamily="49" charset="0"/>
              </a:endParaRPr>
            </a:p>
          </p:txBody>
        </p:sp>
      </p:grpSp>
    </p:spTree>
    <p:extLst>
      <p:ext uri="{BB962C8B-B14F-4D97-AF65-F5344CB8AC3E}">
        <p14:creationId xmlns:p14="http://schemas.microsoft.com/office/powerpoint/2010/main" val="77844708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1D98B5-C832-4C30-0A5C-073AC70B1D2B}"/>
            </a:ext>
          </a:extLst>
        </p:cNvPr>
        <p:cNvGrpSpPr/>
        <p:nvPr/>
      </p:nvGrpSpPr>
      <p:grpSpPr>
        <a:xfrm>
          <a:off x="0" y="0"/>
          <a:ext cx="0" cy="0"/>
          <a:chOff x="0" y="0"/>
          <a:chExt cx="0" cy="0"/>
        </a:xfrm>
      </p:grpSpPr>
      <p:sp>
        <p:nvSpPr>
          <p:cNvPr id="51205" name="Oval 5"/>
          <p:cNvSpPr>
            <a:spLocks noChangeArrowheads="1"/>
          </p:cNvSpPr>
          <p:nvPr/>
        </p:nvSpPr>
        <p:spPr bwMode="auto">
          <a:xfrm>
            <a:off x="4366767" y="1203275"/>
            <a:ext cx="288925" cy="360363"/>
          </a:xfrm>
          <a:prstGeom prst="ellipse">
            <a:avLst/>
          </a:prstGeom>
          <a:ln>
            <a:headEnd/>
            <a:tailEnd type="none" w="med" len="lg"/>
          </a:ln>
        </p:spPr>
        <p:style>
          <a:lnRef idx="1">
            <a:schemeClr val="accent2"/>
          </a:lnRef>
          <a:fillRef idx="2">
            <a:schemeClr val="accent2"/>
          </a:fillRef>
          <a:effectRef idx="1">
            <a:schemeClr val="accent2"/>
          </a:effectRef>
          <a:fontRef idx="minor">
            <a:schemeClr val="dk1"/>
          </a:fontRef>
        </p:style>
        <p:txBody>
          <a:bodyPr wrap="none" anchor="ctr"/>
          <a:lstStyle/>
          <a:p>
            <a:pPr algn="ctr">
              <a:spcBef>
                <a:spcPct val="0"/>
              </a:spcBef>
            </a:pPr>
            <a:r>
              <a:rPr lang="en-US" altLang="zh-CN" sz="1800" dirty="0">
                <a:solidFill>
                  <a:srgbClr val="3333FF"/>
                </a:solidFill>
                <a:latin typeface="Consolas" pitchFamily="49" charset="0"/>
                <a:cs typeface="Consolas" pitchFamily="49" charset="0"/>
              </a:rPr>
              <a:t>0</a:t>
            </a:r>
          </a:p>
        </p:txBody>
      </p:sp>
      <p:sp>
        <p:nvSpPr>
          <p:cNvPr id="51206" name="Oval 6"/>
          <p:cNvSpPr>
            <a:spLocks noChangeArrowheads="1"/>
          </p:cNvSpPr>
          <p:nvPr/>
        </p:nvSpPr>
        <p:spPr bwMode="auto">
          <a:xfrm>
            <a:off x="5087492" y="627013"/>
            <a:ext cx="288925" cy="360362"/>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pPr algn="ctr">
              <a:spcBef>
                <a:spcPct val="0"/>
              </a:spcBef>
            </a:pPr>
            <a:r>
              <a:rPr lang="en-US" altLang="zh-CN" sz="1800" dirty="0">
                <a:solidFill>
                  <a:srgbClr val="3333FF"/>
                </a:solidFill>
                <a:latin typeface="Consolas" pitchFamily="49" charset="0"/>
                <a:cs typeface="Consolas" pitchFamily="49" charset="0"/>
              </a:rPr>
              <a:t>1</a:t>
            </a:r>
          </a:p>
        </p:txBody>
      </p:sp>
      <p:sp>
        <p:nvSpPr>
          <p:cNvPr id="51207" name="Oval 7"/>
          <p:cNvSpPr>
            <a:spLocks noChangeArrowheads="1"/>
          </p:cNvSpPr>
          <p:nvPr/>
        </p:nvSpPr>
        <p:spPr bwMode="auto">
          <a:xfrm>
            <a:off x="5158929" y="1850975"/>
            <a:ext cx="288925" cy="360363"/>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pPr algn="ctr">
              <a:spcBef>
                <a:spcPct val="0"/>
              </a:spcBef>
            </a:pPr>
            <a:r>
              <a:rPr lang="en-US" altLang="zh-CN" sz="1800">
                <a:solidFill>
                  <a:srgbClr val="3333FF"/>
                </a:solidFill>
                <a:latin typeface="Consolas" pitchFamily="49" charset="0"/>
                <a:cs typeface="Consolas" pitchFamily="49" charset="0"/>
              </a:rPr>
              <a:t>3</a:t>
            </a:r>
          </a:p>
        </p:txBody>
      </p:sp>
      <p:sp>
        <p:nvSpPr>
          <p:cNvPr id="51208" name="Oval 8"/>
          <p:cNvSpPr>
            <a:spLocks noChangeArrowheads="1"/>
          </p:cNvSpPr>
          <p:nvPr/>
        </p:nvSpPr>
        <p:spPr bwMode="auto">
          <a:xfrm>
            <a:off x="5808217" y="1203275"/>
            <a:ext cx="288925" cy="360363"/>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pPr algn="ctr">
              <a:spcBef>
                <a:spcPct val="0"/>
              </a:spcBef>
            </a:pPr>
            <a:r>
              <a:rPr lang="en-US" altLang="zh-CN" sz="1800" dirty="0">
                <a:solidFill>
                  <a:srgbClr val="3333FF"/>
                </a:solidFill>
                <a:latin typeface="Consolas" pitchFamily="49" charset="0"/>
                <a:cs typeface="Consolas" pitchFamily="49" charset="0"/>
              </a:rPr>
              <a:t>2</a:t>
            </a:r>
          </a:p>
        </p:txBody>
      </p:sp>
      <p:sp>
        <p:nvSpPr>
          <p:cNvPr id="51209" name="Oval 9"/>
          <p:cNvSpPr>
            <a:spLocks noChangeArrowheads="1"/>
          </p:cNvSpPr>
          <p:nvPr/>
        </p:nvSpPr>
        <p:spPr bwMode="auto">
          <a:xfrm>
            <a:off x="6743254" y="627013"/>
            <a:ext cx="288925" cy="360362"/>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pPr algn="ctr">
              <a:spcBef>
                <a:spcPct val="0"/>
              </a:spcBef>
            </a:pPr>
            <a:r>
              <a:rPr lang="en-US" altLang="zh-CN" sz="1800">
                <a:solidFill>
                  <a:srgbClr val="3333FF"/>
                </a:solidFill>
                <a:latin typeface="Consolas" pitchFamily="49" charset="0"/>
                <a:cs typeface="Consolas" pitchFamily="49" charset="0"/>
              </a:rPr>
              <a:t>4</a:t>
            </a:r>
          </a:p>
        </p:txBody>
      </p:sp>
      <p:sp>
        <p:nvSpPr>
          <p:cNvPr id="51210" name="Oval 10"/>
          <p:cNvSpPr>
            <a:spLocks noChangeArrowheads="1"/>
          </p:cNvSpPr>
          <p:nvPr/>
        </p:nvSpPr>
        <p:spPr bwMode="auto">
          <a:xfrm>
            <a:off x="6743254" y="1850975"/>
            <a:ext cx="288925" cy="360363"/>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pPr algn="ctr">
              <a:spcBef>
                <a:spcPct val="0"/>
              </a:spcBef>
            </a:pPr>
            <a:r>
              <a:rPr lang="en-US" altLang="zh-CN" sz="1800">
                <a:solidFill>
                  <a:srgbClr val="3333FF"/>
                </a:solidFill>
                <a:latin typeface="Consolas" pitchFamily="49" charset="0"/>
                <a:cs typeface="Consolas" pitchFamily="49" charset="0"/>
              </a:rPr>
              <a:t>5</a:t>
            </a:r>
          </a:p>
        </p:txBody>
      </p:sp>
      <p:sp>
        <p:nvSpPr>
          <p:cNvPr id="51211" name="Oval 11"/>
          <p:cNvSpPr>
            <a:spLocks noChangeArrowheads="1"/>
          </p:cNvSpPr>
          <p:nvPr/>
        </p:nvSpPr>
        <p:spPr bwMode="auto">
          <a:xfrm>
            <a:off x="7535417" y="1274713"/>
            <a:ext cx="288925" cy="360362"/>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pPr algn="ctr">
              <a:spcBef>
                <a:spcPct val="0"/>
              </a:spcBef>
            </a:pPr>
            <a:r>
              <a:rPr lang="en-US" altLang="zh-CN" sz="1800">
                <a:solidFill>
                  <a:srgbClr val="3333FF"/>
                </a:solidFill>
                <a:latin typeface="Consolas" pitchFamily="49" charset="0"/>
                <a:cs typeface="Consolas" pitchFamily="49" charset="0"/>
              </a:rPr>
              <a:t>6</a:t>
            </a:r>
          </a:p>
        </p:txBody>
      </p:sp>
      <p:sp>
        <p:nvSpPr>
          <p:cNvPr id="51212" name="Freeform 12"/>
          <p:cNvSpPr>
            <a:spLocks/>
          </p:cNvSpPr>
          <p:nvPr/>
        </p:nvSpPr>
        <p:spPr bwMode="auto">
          <a:xfrm>
            <a:off x="4617592" y="869900"/>
            <a:ext cx="469900" cy="381000"/>
          </a:xfrm>
          <a:custGeom>
            <a:avLst/>
            <a:gdLst/>
            <a:ahLst/>
            <a:cxnLst>
              <a:cxn ang="0">
                <a:pos x="0" y="240"/>
              </a:cxn>
              <a:cxn ang="0">
                <a:pos x="296" y="0"/>
              </a:cxn>
            </a:cxnLst>
            <a:rect l="0" t="0" r="r" b="b"/>
            <a:pathLst>
              <a:path w="296" h="240">
                <a:moveTo>
                  <a:pt x="0" y="240"/>
                </a:moveTo>
                <a:lnTo>
                  <a:pt x="296" y="0"/>
                </a:lnTo>
              </a:path>
            </a:pathLst>
          </a:custGeom>
          <a:noFill/>
          <a:ln w="19050" cap="flat" cmpd="sng">
            <a:solidFill>
              <a:srgbClr val="3333FF"/>
            </a:solidFill>
            <a:prstDash val="solid"/>
            <a:round/>
            <a:headEnd type="none" w="med" len="med"/>
            <a:tailEnd type="stealth" w="med" len="lg"/>
          </a:ln>
          <a:effectLst/>
        </p:spPr>
        <p:txBody>
          <a:bodyPr wrap="none"/>
          <a:lstStyle/>
          <a:p>
            <a:endParaRPr lang="zh-CN" altLang="en-US">
              <a:latin typeface="Consolas" pitchFamily="49" charset="0"/>
              <a:cs typeface="Consolas" pitchFamily="49" charset="0"/>
            </a:endParaRPr>
          </a:p>
        </p:txBody>
      </p:sp>
      <p:sp>
        <p:nvSpPr>
          <p:cNvPr id="51213" name="Line 13"/>
          <p:cNvSpPr>
            <a:spLocks noChangeShapeType="1"/>
          </p:cNvSpPr>
          <p:nvPr/>
        </p:nvSpPr>
        <p:spPr bwMode="auto">
          <a:xfrm>
            <a:off x="4655692" y="1419175"/>
            <a:ext cx="1152525" cy="0"/>
          </a:xfrm>
          <a:prstGeom prst="line">
            <a:avLst/>
          </a:prstGeom>
          <a:noFill/>
          <a:ln w="19050">
            <a:solidFill>
              <a:srgbClr val="3333FF"/>
            </a:solidFill>
            <a:round/>
            <a:headEnd/>
            <a:tailEnd type="stealth" w="med" len="lg"/>
          </a:ln>
          <a:effectLst/>
        </p:spPr>
        <p:txBody>
          <a:bodyPr wrap="none"/>
          <a:lstStyle/>
          <a:p>
            <a:endParaRPr lang="zh-CN" altLang="en-US">
              <a:latin typeface="Consolas" pitchFamily="49" charset="0"/>
              <a:cs typeface="Consolas" pitchFamily="49" charset="0"/>
            </a:endParaRPr>
          </a:p>
        </p:txBody>
      </p:sp>
      <p:sp>
        <p:nvSpPr>
          <p:cNvPr id="51214" name="Line 14"/>
          <p:cNvSpPr>
            <a:spLocks noChangeShapeType="1"/>
          </p:cNvSpPr>
          <p:nvPr/>
        </p:nvSpPr>
        <p:spPr bwMode="auto">
          <a:xfrm>
            <a:off x="4596954" y="1528713"/>
            <a:ext cx="574675" cy="431800"/>
          </a:xfrm>
          <a:prstGeom prst="line">
            <a:avLst/>
          </a:prstGeom>
          <a:noFill/>
          <a:ln w="19050">
            <a:solidFill>
              <a:srgbClr val="3333FF"/>
            </a:solidFill>
            <a:round/>
            <a:headEnd/>
            <a:tailEnd type="stealth" w="med" len="lg"/>
          </a:ln>
          <a:effectLst/>
        </p:spPr>
        <p:txBody>
          <a:bodyPr wrap="none"/>
          <a:lstStyle/>
          <a:p>
            <a:endParaRPr lang="zh-CN" altLang="en-US">
              <a:latin typeface="Consolas" pitchFamily="49" charset="0"/>
              <a:cs typeface="Consolas" pitchFamily="49" charset="0"/>
            </a:endParaRPr>
          </a:p>
        </p:txBody>
      </p:sp>
      <p:sp>
        <p:nvSpPr>
          <p:cNvPr id="51215" name="Line 15"/>
          <p:cNvSpPr>
            <a:spLocks noChangeShapeType="1"/>
          </p:cNvSpPr>
          <p:nvPr/>
        </p:nvSpPr>
        <p:spPr bwMode="auto">
          <a:xfrm>
            <a:off x="5376417" y="771475"/>
            <a:ext cx="1366837" cy="0"/>
          </a:xfrm>
          <a:prstGeom prst="line">
            <a:avLst/>
          </a:prstGeom>
          <a:noFill/>
          <a:ln w="19050">
            <a:solidFill>
              <a:srgbClr val="3333FF"/>
            </a:solidFill>
            <a:round/>
            <a:headEnd/>
            <a:tailEnd type="stealth" w="med" len="lg"/>
          </a:ln>
          <a:effectLst/>
        </p:spPr>
        <p:txBody>
          <a:bodyPr wrap="none"/>
          <a:lstStyle/>
          <a:p>
            <a:endParaRPr lang="zh-CN" altLang="en-US">
              <a:latin typeface="Consolas" pitchFamily="49" charset="0"/>
              <a:cs typeface="Consolas" pitchFamily="49" charset="0"/>
            </a:endParaRPr>
          </a:p>
        </p:txBody>
      </p:sp>
      <p:sp>
        <p:nvSpPr>
          <p:cNvPr id="51216" name="Line 16"/>
          <p:cNvSpPr>
            <a:spLocks noChangeShapeType="1"/>
          </p:cNvSpPr>
          <p:nvPr/>
        </p:nvSpPr>
        <p:spPr bwMode="auto">
          <a:xfrm>
            <a:off x="5447854" y="2066875"/>
            <a:ext cx="1295400" cy="0"/>
          </a:xfrm>
          <a:prstGeom prst="line">
            <a:avLst/>
          </a:prstGeom>
          <a:noFill/>
          <a:ln w="19050">
            <a:solidFill>
              <a:srgbClr val="3333FF"/>
            </a:solidFill>
            <a:round/>
            <a:headEnd/>
            <a:tailEnd type="stealth" w="med" len="lg"/>
          </a:ln>
          <a:effectLst/>
        </p:spPr>
        <p:txBody>
          <a:bodyPr wrap="none"/>
          <a:lstStyle/>
          <a:p>
            <a:endParaRPr lang="zh-CN" altLang="en-US">
              <a:latin typeface="Consolas" pitchFamily="49" charset="0"/>
              <a:cs typeface="Consolas" pitchFamily="49" charset="0"/>
            </a:endParaRPr>
          </a:p>
        </p:txBody>
      </p:sp>
      <p:sp>
        <p:nvSpPr>
          <p:cNvPr id="51217" name="Freeform 17"/>
          <p:cNvSpPr>
            <a:spLocks/>
          </p:cNvSpPr>
          <p:nvPr/>
        </p:nvSpPr>
        <p:spPr bwMode="auto">
          <a:xfrm>
            <a:off x="5409754" y="1490613"/>
            <a:ext cx="469900" cy="407987"/>
          </a:xfrm>
          <a:custGeom>
            <a:avLst/>
            <a:gdLst/>
            <a:ahLst/>
            <a:cxnLst>
              <a:cxn ang="0">
                <a:pos x="0" y="257"/>
              </a:cxn>
              <a:cxn ang="0">
                <a:pos x="296" y="0"/>
              </a:cxn>
            </a:cxnLst>
            <a:rect l="0" t="0" r="r" b="b"/>
            <a:pathLst>
              <a:path w="296" h="257">
                <a:moveTo>
                  <a:pt x="0" y="257"/>
                </a:moveTo>
                <a:lnTo>
                  <a:pt x="296" y="0"/>
                </a:lnTo>
              </a:path>
            </a:pathLst>
          </a:custGeom>
          <a:noFill/>
          <a:ln w="19050">
            <a:solidFill>
              <a:srgbClr val="3333FF"/>
            </a:solidFill>
            <a:round/>
            <a:headEnd/>
            <a:tailEnd type="stealth" w="med" len="lg"/>
          </a:ln>
          <a:effectLst/>
        </p:spPr>
        <p:txBody>
          <a:bodyPr wrap="none"/>
          <a:lstStyle/>
          <a:p>
            <a:endParaRPr lang="zh-CN" altLang="en-US">
              <a:latin typeface="Consolas" pitchFamily="49" charset="0"/>
              <a:cs typeface="Consolas" pitchFamily="49" charset="0"/>
            </a:endParaRPr>
          </a:p>
        </p:txBody>
      </p:sp>
      <p:sp>
        <p:nvSpPr>
          <p:cNvPr id="51218" name="Line 18"/>
          <p:cNvSpPr>
            <a:spLocks noChangeShapeType="1"/>
          </p:cNvSpPr>
          <p:nvPr/>
        </p:nvSpPr>
        <p:spPr bwMode="auto">
          <a:xfrm>
            <a:off x="5351017" y="914350"/>
            <a:ext cx="503237" cy="360363"/>
          </a:xfrm>
          <a:prstGeom prst="line">
            <a:avLst/>
          </a:prstGeom>
          <a:noFill/>
          <a:ln w="19050">
            <a:solidFill>
              <a:srgbClr val="3333FF"/>
            </a:solidFill>
            <a:round/>
            <a:headEnd/>
            <a:tailEnd type="stealth" w="med" len="lg"/>
          </a:ln>
          <a:effectLst/>
        </p:spPr>
        <p:txBody>
          <a:bodyPr wrap="none"/>
          <a:lstStyle/>
          <a:p>
            <a:endParaRPr lang="zh-CN" altLang="en-US">
              <a:latin typeface="Consolas" pitchFamily="49" charset="0"/>
              <a:cs typeface="Consolas" pitchFamily="49" charset="0"/>
            </a:endParaRPr>
          </a:p>
        </p:txBody>
      </p:sp>
      <p:sp>
        <p:nvSpPr>
          <p:cNvPr id="51219" name="Freeform 19"/>
          <p:cNvSpPr>
            <a:spLocks/>
          </p:cNvSpPr>
          <p:nvPr/>
        </p:nvSpPr>
        <p:spPr bwMode="auto">
          <a:xfrm>
            <a:off x="6103492" y="915938"/>
            <a:ext cx="639762" cy="411162"/>
          </a:xfrm>
          <a:custGeom>
            <a:avLst/>
            <a:gdLst/>
            <a:ahLst/>
            <a:cxnLst>
              <a:cxn ang="0">
                <a:pos x="0" y="259"/>
              </a:cxn>
              <a:cxn ang="0">
                <a:pos x="403" y="0"/>
              </a:cxn>
            </a:cxnLst>
            <a:rect l="0" t="0" r="r" b="b"/>
            <a:pathLst>
              <a:path w="403" h="259">
                <a:moveTo>
                  <a:pt x="0" y="259"/>
                </a:moveTo>
                <a:lnTo>
                  <a:pt x="403" y="0"/>
                </a:lnTo>
              </a:path>
            </a:pathLst>
          </a:custGeom>
          <a:noFill/>
          <a:ln w="19050" cap="flat" cmpd="sng">
            <a:solidFill>
              <a:srgbClr val="3333FF"/>
            </a:solidFill>
            <a:prstDash val="solid"/>
            <a:round/>
            <a:headEnd type="none" w="med" len="med"/>
            <a:tailEnd type="stealth" w="med" len="lg"/>
          </a:ln>
          <a:effectLst/>
        </p:spPr>
        <p:txBody>
          <a:bodyPr wrap="none"/>
          <a:lstStyle/>
          <a:p>
            <a:endParaRPr lang="zh-CN" altLang="en-US">
              <a:latin typeface="Consolas" pitchFamily="49" charset="0"/>
              <a:cs typeface="Consolas" pitchFamily="49" charset="0"/>
            </a:endParaRPr>
          </a:p>
        </p:txBody>
      </p:sp>
      <p:sp>
        <p:nvSpPr>
          <p:cNvPr id="51220" name="Line 20"/>
          <p:cNvSpPr>
            <a:spLocks noChangeShapeType="1"/>
          </p:cNvSpPr>
          <p:nvPr/>
        </p:nvSpPr>
        <p:spPr bwMode="auto">
          <a:xfrm>
            <a:off x="6095554" y="1490613"/>
            <a:ext cx="647700" cy="431800"/>
          </a:xfrm>
          <a:prstGeom prst="line">
            <a:avLst/>
          </a:prstGeom>
          <a:noFill/>
          <a:ln w="19050">
            <a:solidFill>
              <a:srgbClr val="3333FF"/>
            </a:solidFill>
            <a:round/>
            <a:headEnd/>
            <a:tailEnd type="stealth" w="med" len="lg"/>
          </a:ln>
          <a:effectLst/>
        </p:spPr>
        <p:txBody>
          <a:bodyPr wrap="none"/>
          <a:lstStyle/>
          <a:p>
            <a:endParaRPr lang="zh-CN" altLang="en-US">
              <a:latin typeface="Consolas" pitchFamily="49" charset="0"/>
              <a:cs typeface="Consolas" pitchFamily="49" charset="0"/>
            </a:endParaRPr>
          </a:p>
        </p:txBody>
      </p:sp>
      <p:sp>
        <p:nvSpPr>
          <p:cNvPr id="51221" name="Line 21"/>
          <p:cNvSpPr>
            <a:spLocks noChangeShapeType="1"/>
          </p:cNvSpPr>
          <p:nvPr/>
        </p:nvSpPr>
        <p:spPr bwMode="auto">
          <a:xfrm flipV="1">
            <a:off x="6887717" y="987375"/>
            <a:ext cx="0" cy="863600"/>
          </a:xfrm>
          <a:prstGeom prst="line">
            <a:avLst/>
          </a:prstGeom>
          <a:noFill/>
          <a:ln w="19050">
            <a:solidFill>
              <a:srgbClr val="3333FF"/>
            </a:solidFill>
            <a:round/>
            <a:headEnd/>
            <a:tailEnd type="stealth" w="med" len="lg"/>
          </a:ln>
          <a:effectLst/>
        </p:spPr>
        <p:txBody>
          <a:bodyPr wrap="none"/>
          <a:lstStyle/>
          <a:p>
            <a:endParaRPr lang="zh-CN" altLang="en-US">
              <a:latin typeface="Consolas" pitchFamily="49" charset="0"/>
              <a:cs typeface="Consolas" pitchFamily="49" charset="0"/>
            </a:endParaRPr>
          </a:p>
        </p:txBody>
      </p:sp>
      <p:sp>
        <p:nvSpPr>
          <p:cNvPr id="51222" name="Line 22"/>
          <p:cNvSpPr>
            <a:spLocks noChangeShapeType="1"/>
          </p:cNvSpPr>
          <p:nvPr/>
        </p:nvSpPr>
        <p:spPr bwMode="auto">
          <a:xfrm flipV="1">
            <a:off x="7032179" y="1589038"/>
            <a:ext cx="576263" cy="431800"/>
          </a:xfrm>
          <a:prstGeom prst="line">
            <a:avLst/>
          </a:prstGeom>
          <a:noFill/>
          <a:ln w="19050">
            <a:solidFill>
              <a:srgbClr val="3333FF"/>
            </a:solidFill>
            <a:round/>
            <a:headEnd/>
            <a:tailEnd type="stealth" w="med" len="lg"/>
          </a:ln>
          <a:effectLst/>
        </p:spPr>
        <p:txBody>
          <a:bodyPr wrap="none"/>
          <a:lstStyle/>
          <a:p>
            <a:endParaRPr lang="zh-CN" altLang="en-US">
              <a:latin typeface="Consolas" pitchFamily="49" charset="0"/>
              <a:cs typeface="Consolas" pitchFamily="49" charset="0"/>
            </a:endParaRPr>
          </a:p>
        </p:txBody>
      </p:sp>
      <p:sp>
        <p:nvSpPr>
          <p:cNvPr id="51223" name="Line 23"/>
          <p:cNvSpPr>
            <a:spLocks noChangeShapeType="1"/>
          </p:cNvSpPr>
          <p:nvPr/>
        </p:nvSpPr>
        <p:spPr bwMode="auto">
          <a:xfrm>
            <a:off x="7032179" y="817513"/>
            <a:ext cx="576263" cy="503237"/>
          </a:xfrm>
          <a:prstGeom prst="line">
            <a:avLst/>
          </a:prstGeom>
          <a:noFill/>
          <a:ln w="19050">
            <a:solidFill>
              <a:srgbClr val="3333FF"/>
            </a:solidFill>
            <a:round/>
            <a:headEnd/>
            <a:tailEnd type="stealth" w="med" len="lg"/>
          </a:ln>
          <a:effectLst/>
        </p:spPr>
        <p:txBody>
          <a:bodyPr wrap="none"/>
          <a:lstStyle/>
          <a:p>
            <a:endParaRPr lang="zh-CN" altLang="en-US">
              <a:latin typeface="Consolas" pitchFamily="49" charset="0"/>
              <a:cs typeface="Consolas" pitchFamily="49" charset="0"/>
            </a:endParaRPr>
          </a:p>
        </p:txBody>
      </p:sp>
      <p:sp>
        <p:nvSpPr>
          <p:cNvPr id="51224" name="Text Box 24"/>
          <p:cNvSpPr txBox="1">
            <a:spLocks noChangeArrowheads="1"/>
          </p:cNvSpPr>
          <p:nvPr/>
        </p:nvSpPr>
        <p:spPr bwMode="auto">
          <a:xfrm>
            <a:off x="4511229" y="698450"/>
            <a:ext cx="433388" cy="338554"/>
          </a:xfrm>
          <a:prstGeom prst="rect">
            <a:avLst/>
          </a:prstGeom>
          <a:noFill/>
          <a:ln w="19050" algn="ctr">
            <a:noFill/>
            <a:miter lim="800000"/>
            <a:headEnd/>
            <a:tailEnd type="none" w="med" len="lg"/>
          </a:ln>
          <a:effectLst/>
        </p:spPr>
        <p:txBody>
          <a:bodyPr>
            <a:spAutoFit/>
          </a:bodyPr>
          <a:lstStyle/>
          <a:p>
            <a:pPr algn="ctr"/>
            <a:r>
              <a:rPr lang="en-US" altLang="zh-CN" sz="1600">
                <a:solidFill>
                  <a:srgbClr val="339933"/>
                </a:solidFill>
                <a:latin typeface="Consolas" pitchFamily="49" charset="0"/>
                <a:cs typeface="Consolas" pitchFamily="49" charset="0"/>
              </a:rPr>
              <a:t>4</a:t>
            </a:r>
          </a:p>
        </p:txBody>
      </p:sp>
      <p:sp>
        <p:nvSpPr>
          <p:cNvPr id="51225" name="Text Box 25"/>
          <p:cNvSpPr txBox="1">
            <a:spLocks noChangeArrowheads="1"/>
          </p:cNvSpPr>
          <p:nvPr/>
        </p:nvSpPr>
        <p:spPr bwMode="auto">
          <a:xfrm>
            <a:off x="5808217" y="411112"/>
            <a:ext cx="433387" cy="338554"/>
          </a:xfrm>
          <a:prstGeom prst="rect">
            <a:avLst/>
          </a:prstGeom>
          <a:noFill/>
          <a:ln w="19050" algn="ctr">
            <a:noFill/>
            <a:miter lim="800000"/>
            <a:headEnd/>
            <a:tailEnd type="none" w="med" len="lg"/>
          </a:ln>
          <a:effectLst/>
        </p:spPr>
        <p:txBody>
          <a:bodyPr>
            <a:spAutoFit/>
          </a:bodyPr>
          <a:lstStyle/>
          <a:p>
            <a:pPr algn="ctr"/>
            <a:r>
              <a:rPr lang="en-US" altLang="zh-CN" sz="1600">
                <a:solidFill>
                  <a:srgbClr val="339933"/>
                </a:solidFill>
                <a:latin typeface="Consolas" pitchFamily="49" charset="0"/>
                <a:cs typeface="Consolas" pitchFamily="49" charset="0"/>
              </a:rPr>
              <a:t>7</a:t>
            </a:r>
          </a:p>
        </p:txBody>
      </p:sp>
      <p:sp>
        <p:nvSpPr>
          <p:cNvPr id="51226" name="Text Box 26"/>
          <p:cNvSpPr txBox="1">
            <a:spLocks noChangeArrowheads="1"/>
          </p:cNvSpPr>
          <p:nvPr/>
        </p:nvSpPr>
        <p:spPr bwMode="auto">
          <a:xfrm>
            <a:off x="6022529" y="852438"/>
            <a:ext cx="433388" cy="338554"/>
          </a:xfrm>
          <a:prstGeom prst="rect">
            <a:avLst/>
          </a:prstGeom>
          <a:noFill/>
          <a:ln w="19050" algn="ctr">
            <a:noFill/>
            <a:miter lim="800000"/>
            <a:headEnd/>
            <a:tailEnd type="none" w="med" len="lg"/>
          </a:ln>
          <a:effectLst/>
        </p:spPr>
        <p:txBody>
          <a:bodyPr>
            <a:spAutoFit/>
          </a:bodyPr>
          <a:lstStyle/>
          <a:p>
            <a:pPr algn="ctr"/>
            <a:r>
              <a:rPr lang="en-US" altLang="zh-CN" sz="1600">
                <a:solidFill>
                  <a:srgbClr val="339933"/>
                </a:solidFill>
                <a:latin typeface="Consolas" pitchFamily="49" charset="0"/>
                <a:cs typeface="Consolas" pitchFamily="49" charset="0"/>
              </a:rPr>
              <a:t>6</a:t>
            </a:r>
          </a:p>
        </p:txBody>
      </p:sp>
      <p:sp>
        <p:nvSpPr>
          <p:cNvPr id="51227" name="Text Box 27"/>
          <p:cNvSpPr txBox="1">
            <a:spLocks noChangeArrowheads="1"/>
          </p:cNvSpPr>
          <p:nvPr/>
        </p:nvSpPr>
        <p:spPr bwMode="auto">
          <a:xfrm>
            <a:off x="6768654" y="1192163"/>
            <a:ext cx="433388" cy="338554"/>
          </a:xfrm>
          <a:prstGeom prst="rect">
            <a:avLst/>
          </a:prstGeom>
          <a:noFill/>
          <a:ln w="19050" algn="ctr">
            <a:noFill/>
            <a:miter lim="800000"/>
            <a:headEnd/>
            <a:tailEnd type="none" w="med" len="lg"/>
          </a:ln>
          <a:effectLst/>
        </p:spPr>
        <p:txBody>
          <a:bodyPr>
            <a:spAutoFit/>
          </a:bodyPr>
          <a:lstStyle/>
          <a:p>
            <a:pPr algn="ctr"/>
            <a:r>
              <a:rPr lang="en-US" altLang="zh-CN" sz="1600">
                <a:solidFill>
                  <a:srgbClr val="339933"/>
                </a:solidFill>
                <a:latin typeface="Consolas" pitchFamily="49" charset="0"/>
                <a:cs typeface="Consolas" pitchFamily="49" charset="0"/>
              </a:rPr>
              <a:t>1</a:t>
            </a:r>
          </a:p>
        </p:txBody>
      </p:sp>
      <p:sp>
        <p:nvSpPr>
          <p:cNvPr id="51228" name="Text Box 28"/>
          <p:cNvSpPr txBox="1">
            <a:spLocks noChangeArrowheads="1"/>
          </p:cNvSpPr>
          <p:nvPr/>
        </p:nvSpPr>
        <p:spPr bwMode="auto">
          <a:xfrm>
            <a:off x="7175054" y="733375"/>
            <a:ext cx="433388" cy="338554"/>
          </a:xfrm>
          <a:prstGeom prst="rect">
            <a:avLst/>
          </a:prstGeom>
          <a:noFill/>
          <a:ln w="19050" algn="ctr">
            <a:noFill/>
            <a:miter lim="800000"/>
            <a:headEnd/>
            <a:tailEnd type="none" w="med" len="lg"/>
          </a:ln>
          <a:effectLst/>
        </p:spPr>
        <p:txBody>
          <a:bodyPr>
            <a:spAutoFit/>
          </a:bodyPr>
          <a:lstStyle/>
          <a:p>
            <a:pPr algn="ctr"/>
            <a:r>
              <a:rPr lang="en-US" altLang="zh-CN" sz="1600">
                <a:solidFill>
                  <a:srgbClr val="339933"/>
                </a:solidFill>
                <a:latin typeface="Consolas" pitchFamily="49" charset="0"/>
                <a:cs typeface="Consolas" pitchFamily="49" charset="0"/>
              </a:rPr>
              <a:t>6</a:t>
            </a:r>
          </a:p>
        </p:txBody>
      </p:sp>
      <p:sp>
        <p:nvSpPr>
          <p:cNvPr id="51229" name="Text Box 29"/>
          <p:cNvSpPr txBox="1">
            <a:spLocks noChangeArrowheads="1"/>
          </p:cNvSpPr>
          <p:nvPr/>
        </p:nvSpPr>
        <p:spPr bwMode="auto">
          <a:xfrm>
            <a:off x="7189342" y="1720800"/>
            <a:ext cx="433387" cy="338554"/>
          </a:xfrm>
          <a:prstGeom prst="rect">
            <a:avLst/>
          </a:prstGeom>
          <a:noFill/>
          <a:ln w="19050" algn="ctr">
            <a:noFill/>
            <a:miter lim="800000"/>
            <a:headEnd/>
            <a:tailEnd type="none" w="med" len="lg"/>
          </a:ln>
          <a:effectLst/>
        </p:spPr>
        <p:txBody>
          <a:bodyPr>
            <a:spAutoFit/>
          </a:bodyPr>
          <a:lstStyle/>
          <a:p>
            <a:pPr algn="ctr"/>
            <a:r>
              <a:rPr lang="en-US" altLang="zh-CN" sz="1600" dirty="0">
                <a:solidFill>
                  <a:srgbClr val="339933"/>
                </a:solidFill>
                <a:latin typeface="Consolas" pitchFamily="49" charset="0"/>
                <a:cs typeface="Consolas" pitchFamily="49" charset="0"/>
              </a:rPr>
              <a:t>8</a:t>
            </a:r>
          </a:p>
        </p:txBody>
      </p:sp>
      <p:sp>
        <p:nvSpPr>
          <p:cNvPr id="51230" name="Text Box 30"/>
          <p:cNvSpPr txBox="1">
            <a:spLocks noChangeArrowheads="1"/>
          </p:cNvSpPr>
          <p:nvPr/>
        </p:nvSpPr>
        <p:spPr bwMode="auto">
          <a:xfrm>
            <a:off x="5735192" y="1995438"/>
            <a:ext cx="433387" cy="338554"/>
          </a:xfrm>
          <a:prstGeom prst="rect">
            <a:avLst/>
          </a:prstGeom>
          <a:noFill/>
          <a:ln w="19050" algn="ctr">
            <a:noFill/>
            <a:miter lim="800000"/>
            <a:headEnd/>
            <a:tailEnd type="none" w="med" len="lg"/>
          </a:ln>
          <a:effectLst/>
        </p:spPr>
        <p:txBody>
          <a:bodyPr>
            <a:spAutoFit/>
          </a:bodyPr>
          <a:lstStyle/>
          <a:p>
            <a:pPr algn="ctr"/>
            <a:r>
              <a:rPr lang="en-US" altLang="zh-CN" sz="1600">
                <a:solidFill>
                  <a:srgbClr val="339933"/>
                </a:solidFill>
                <a:latin typeface="Consolas" pitchFamily="49" charset="0"/>
                <a:cs typeface="Consolas" pitchFamily="49" charset="0"/>
              </a:rPr>
              <a:t>5</a:t>
            </a:r>
          </a:p>
        </p:txBody>
      </p:sp>
      <p:sp>
        <p:nvSpPr>
          <p:cNvPr id="51231" name="Text Box 31"/>
          <p:cNvSpPr txBox="1">
            <a:spLocks noChangeArrowheads="1"/>
          </p:cNvSpPr>
          <p:nvPr/>
        </p:nvSpPr>
        <p:spPr bwMode="auto">
          <a:xfrm>
            <a:off x="4511229" y="1598563"/>
            <a:ext cx="433388" cy="338554"/>
          </a:xfrm>
          <a:prstGeom prst="rect">
            <a:avLst/>
          </a:prstGeom>
          <a:noFill/>
          <a:ln w="19050" algn="ctr">
            <a:noFill/>
            <a:miter lim="800000"/>
            <a:headEnd/>
            <a:tailEnd type="none" w="med" len="lg"/>
          </a:ln>
          <a:effectLst/>
        </p:spPr>
        <p:txBody>
          <a:bodyPr>
            <a:spAutoFit/>
          </a:bodyPr>
          <a:lstStyle/>
          <a:p>
            <a:pPr algn="ctr"/>
            <a:r>
              <a:rPr lang="en-US" altLang="zh-CN" sz="1600">
                <a:solidFill>
                  <a:srgbClr val="339933"/>
                </a:solidFill>
                <a:latin typeface="Consolas" pitchFamily="49" charset="0"/>
                <a:cs typeface="Consolas" pitchFamily="49" charset="0"/>
              </a:rPr>
              <a:t>6</a:t>
            </a:r>
          </a:p>
        </p:txBody>
      </p:sp>
      <p:sp>
        <p:nvSpPr>
          <p:cNvPr id="51232" name="Text Box 32"/>
          <p:cNvSpPr txBox="1">
            <a:spLocks noChangeArrowheads="1"/>
          </p:cNvSpPr>
          <p:nvPr/>
        </p:nvSpPr>
        <p:spPr bwMode="auto">
          <a:xfrm>
            <a:off x="4943029" y="1071513"/>
            <a:ext cx="433388" cy="338554"/>
          </a:xfrm>
          <a:prstGeom prst="rect">
            <a:avLst/>
          </a:prstGeom>
          <a:noFill/>
          <a:ln w="19050" algn="ctr">
            <a:noFill/>
            <a:miter lim="800000"/>
            <a:headEnd/>
            <a:tailEnd type="none" w="med" len="lg"/>
          </a:ln>
          <a:effectLst/>
        </p:spPr>
        <p:txBody>
          <a:bodyPr>
            <a:spAutoFit/>
          </a:bodyPr>
          <a:lstStyle/>
          <a:p>
            <a:pPr algn="ctr"/>
            <a:r>
              <a:rPr lang="en-US" altLang="zh-CN" sz="1600">
                <a:solidFill>
                  <a:srgbClr val="339933"/>
                </a:solidFill>
                <a:latin typeface="Consolas" pitchFamily="49" charset="0"/>
                <a:cs typeface="Consolas" pitchFamily="49" charset="0"/>
              </a:rPr>
              <a:t>6</a:t>
            </a:r>
          </a:p>
        </p:txBody>
      </p:sp>
      <p:sp>
        <p:nvSpPr>
          <p:cNvPr id="51233" name="Text Box 33"/>
          <p:cNvSpPr txBox="1">
            <a:spLocks noChangeArrowheads="1"/>
          </p:cNvSpPr>
          <p:nvPr/>
        </p:nvSpPr>
        <p:spPr bwMode="auto">
          <a:xfrm>
            <a:off x="5331967" y="1492200"/>
            <a:ext cx="298450" cy="246221"/>
          </a:xfrm>
          <a:prstGeom prst="rect">
            <a:avLst/>
          </a:prstGeom>
          <a:noFill/>
          <a:ln w="19050" algn="ctr">
            <a:noFill/>
            <a:miter lim="800000"/>
            <a:headEnd/>
            <a:tailEnd type="none" w="med" len="lg"/>
          </a:ln>
          <a:effectLst/>
        </p:spPr>
        <p:txBody>
          <a:bodyPr lIns="0" tIns="0" rIns="0" bIns="0">
            <a:spAutoFit/>
          </a:bodyPr>
          <a:lstStyle/>
          <a:p>
            <a:pPr algn="ctr"/>
            <a:r>
              <a:rPr lang="en-US" altLang="zh-CN" sz="1600">
                <a:solidFill>
                  <a:srgbClr val="339933"/>
                </a:solidFill>
                <a:latin typeface="Consolas" pitchFamily="49" charset="0"/>
                <a:cs typeface="Consolas" pitchFamily="49" charset="0"/>
              </a:rPr>
              <a:t>2</a:t>
            </a:r>
          </a:p>
        </p:txBody>
      </p:sp>
      <p:sp>
        <p:nvSpPr>
          <p:cNvPr id="51234" name="Text Box 34"/>
          <p:cNvSpPr txBox="1">
            <a:spLocks noChangeArrowheads="1"/>
          </p:cNvSpPr>
          <p:nvPr/>
        </p:nvSpPr>
        <p:spPr bwMode="auto">
          <a:xfrm>
            <a:off x="6192392" y="1333450"/>
            <a:ext cx="433387" cy="338554"/>
          </a:xfrm>
          <a:prstGeom prst="rect">
            <a:avLst/>
          </a:prstGeom>
          <a:noFill/>
          <a:ln w="19050" algn="ctr">
            <a:noFill/>
            <a:miter lim="800000"/>
            <a:headEnd/>
            <a:tailEnd type="none" w="med" len="lg"/>
          </a:ln>
          <a:effectLst/>
        </p:spPr>
        <p:txBody>
          <a:bodyPr>
            <a:spAutoFit/>
          </a:bodyPr>
          <a:lstStyle/>
          <a:p>
            <a:pPr algn="ctr"/>
            <a:r>
              <a:rPr lang="en-US" altLang="zh-CN" sz="1600">
                <a:solidFill>
                  <a:srgbClr val="339933"/>
                </a:solidFill>
                <a:latin typeface="Consolas" pitchFamily="49" charset="0"/>
                <a:cs typeface="Consolas" pitchFamily="49" charset="0"/>
              </a:rPr>
              <a:t>4</a:t>
            </a:r>
          </a:p>
        </p:txBody>
      </p:sp>
      <p:sp>
        <p:nvSpPr>
          <p:cNvPr id="51235" name="Text Box 35"/>
          <p:cNvSpPr txBox="1">
            <a:spLocks noChangeArrowheads="1"/>
          </p:cNvSpPr>
          <p:nvPr/>
        </p:nvSpPr>
        <p:spPr bwMode="auto">
          <a:xfrm>
            <a:off x="5447854" y="771475"/>
            <a:ext cx="287338" cy="246221"/>
          </a:xfrm>
          <a:prstGeom prst="rect">
            <a:avLst/>
          </a:prstGeom>
          <a:noFill/>
          <a:ln w="19050" algn="ctr">
            <a:noFill/>
            <a:miter lim="800000"/>
            <a:headEnd/>
            <a:tailEnd type="none" w="med" len="lg"/>
          </a:ln>
          <a:effectLst/>
        </p:spPr>
        <p:txBody>
          <a:bodyPr lIns="0" tIns="0" rIns="0" bIns="0">
            <a:spAutoFit/>
          </a:bodyPr>
          <a:lstStyle/>
          <a:p>
            <a:pPr algn="ctr"/>
            <a:r>
              <a:rPr lang="en-US" altLang="zh-CN" sz="1600">
                <a:solidFill>
                  <a:srgbClr val="339933"/>
                </a:solidFill>
                <a:latin typeface="Consolas" pitchFamily="49" charset="0"/>
                <a:cs typeface="Consolas" pitchFamily="49" charset="0"/>
              </a:rPr>
              <a:t>1</a:t>
            </a:r>
          </a:p>
        </p:txBody>
      </p:sp>
      <p:sp>
        <p:nvSpPr>
          <p:cNvPr id="51237" name="Text Box 37"/>
          <p:cNvSpPr txBox="1">
            <a:spLocks noChangeArrowheads="1"/>
          </p:cNvSpPr>
          <p:nvPr/>
        </p:nvSpPr>
        <p:spPr bwMode="auto">
          <a:xfrm>
            <a:off x="1631504" y="2420888"/>
            <a:ext cx="8208963" cy="317908"/>
          </a:xfrm>
          <a:prstGeom prst="rect">
            <a:avLst/>
          </a:prstGeom>
          <a:noFill/>
          <a:ln w="19050" algn="ctr">
            <a:noFill/>
            <a:miter lim="800000"/>
            <a:headEnd/>
            <a:tailEnd type="none" w="med" len="lg"/>
          </a:ln>
          <a:effectLst/>
        </p:spPr>
        <p:txBody>
          <a:bodyPr>
            <a:spAutoFit/>
          </a:bodyPr>
          <a:lstStyle/>
          <a:p>
            <a:pPr algn="just">
              <a:lnSpc>
                <a:spcPct val="80000"/>
              </a:lnSpc>
            </a:pPr>
            <a:r>
              <a:rPr kumimoji="1" lang="en-US" altLang="zh-CN" sz="1800">
                <a:solidFill>
                  <a:srgbClr val="FF00FF"/>
                </a:solidFill>
                <a:latin typeface="Consolas" pitchFamily="49" charset="0"/>
                <a:cs typeface="Consolas" pitchFamily="49" charset="0"/>
              </a:rPr>
              <a:t>S	     U	                dist[]                  path[]</a:t>
            </a:r>
            <a:endParaRPr lang="en-US" altLang="zh-CN" sz="1800">
              <a:solidFill>
                <a:srgbClr val="FF00FF"/>
              </a:solidFill>
              <a:latin typeface="Consolas" pitchFamily="49" charset="0"/>
              <a:cs typeface="Consolas" pitchFamily="49" charset="0"/>
            </a:endParaRPr>
          </a:p>
        </p:txBody>
      </p:sp>
      <p:sp>
        <p:nvSpPr>
          <p:cNvPr id="51240" name="Text Box 40"/>
          <p:cNvSpPr txBox="1">
            <a:spLocks noChangeArrowheads="1"/>
          </p:cNvSpPr>
          <p:nvPr/>
        </p:nvSpPr>
        <p:spPr bwMode="auto">
          <a:xfrm>
            <a:off x="4736646" y="2892375"/>
            <a:ext cx="2357454" cy="246221"/>
          </a:xfrm>
          <a:prstGeom prst="rect">
            <a:avLst/>
          </a:prstGeom>
          <a:noFill/>
          <a:ln w="19050" algn="ctr">
            <a:noFill/>
            <a:miter lim="800000"/>
            <a:headEnd/>
            <a:tailEnd type="none" w="med" len="lg"/>
          </a:ln>
          <a:effectLst/>
        </p:spPr>
        <p:txBody>
          <a:bodyPr wrap="square" lIns="0" tIns="0" rIns="0" bIns="0">
            <a:spAutoFit/>
          </a:bodyPr>
          <a:lstStyle/>
          <a:p>
            <a:r>
              <a:rPr lang="en-US" altLang="zh-CN" sz="1600">
                <a:solidFill>
                  <a:srgbClr val="006600"/>
                </a:solidFill>
                <a:latin typeface="Consolas" pitchFamily="49" charset="0"/>
                <a:cs typeface="Consolas" pitchFamily="49" charset="0"/>
              </a:rPr>
              <a:t>0   1  </a:t>
            </a:r>
            <a:r>
              <a:rPr lang="en-US" altLang="zh-CN" sz="1600" dirty="0">
                <a:solidFill>
                  <a:srgbClr val="006600"/>
                </a:solidFill>
                <a:latin typeface="Consolas" pitchFamily="49" charset="0"/>
                <a:cs typeface="Consolas" pitchFamily="49" charset="0"/>
              </a:rPr>
              <a:t>2  </a:t>
            </a:r>
            <a:r>
              <a:rPr lang="en-US" altLang="zh-CN" sz="1600">
                <a:solidFill>
                  <a:srgbClr val="006600"/>
                </a:solidFill>
                <a:latin typeface="Consolas" pitchFamily="49" charset="0"/>
                <a:cs typeface="Consolas" pitchFamily="49" charset="0"/>
              </a:rPr>
              <a:t>3  4  5  </a:t>
            </a:r>
            <a:r>
              <a:rPr lang="en-US" altLang="zh-CN" sz="1600" dirty="0">
                <a:solidFill>
                  <a:srgbClr val="006600"/>
                </a:solidFill>
                <a:latin typeface="Consolas" pitchFamily="49" charset="0"/>
                <a:cs typeface="Consolas" pitchFamily="49" charset="0"/>
              </a:rPr>
              <a:t>6</a:t>
            </a:r>
          </a:p>
        </p:txBody>
      </p:sp>
      <p:sp>
        <p:nvSpPr>
          <p:cNvPr id="51241" name="Text Box 41"/>
          <p:cNvSpPr txBox="1">
            <a:spLocks noChangeArrowheads="1"/>
          </p:cNvSpPr>
          <p:nvPr/>
        </p:nvSpPr>
        <p:spPr bwMode="auto">
          <a:xfrm>
            <a:off x="7465544" y="2892375"/>
            <a:ext cx="2628952" cy="246221"/>
          </a:xfrm>
          <a:prstGeom prst="rect">
            <a:avLst/>
          </a:prstGeom>
          <a:noFill/>
          <a:ln w="19050" algn="ctr">
            <a:noFill/>
            <a:miter lim="800000"/>
            <a:headEnd/>
            <a:tailEnd type="none" w="med" len="lg"/>
          </a:ln>
          <a:effectLst/>
        </p:spPr>
        <p:txBody>
          <a:bodyPr wrap="square" lIns="0" tIns="0" rIns="0" bIns="0">
            <a:spAutoFit/>
          </a:bodyPr>
          <a:lstStyle/>
          <a:p>
            <a:r>
              <a:rPr lang="en-US" altLang="zh-CN" sz="1600">
                <a:solidFill>
                  <a:srgbClr val="006600"/>
                </a:solidFill>
                <a:latin typeface="Consolas" pitchFamily="49" charset="0"/>
                <a:cs typeface="Consolas" pitchFamily="49" charset="0"/>
              </a:rPr>
              <a:t>0  1  2  3   4   5   6</a:t>
            </a:r>
          </a:p>
        </p:txBody>
      </p:sp>
      <p:sp>
        <p:nvSpPr>
          <p:cNvPr id="51242" name="Text Box 42"/>
          <p:cNvSpPr txBox="1">
            <a:spLocks noChangeArrowheads="1"/>
          </p:cNvSpPr>
          <p:nvPr/>
        </p:nvSpPr>
        <p:spPr bwMode="auto">
          <a:xfrm>
            <a:off x="1558479" y="3262263"/>
            <a:ext cx="576263" cy="246221"/>
          </a:xfrm>
          <a:prstGeom prst="rect">
            <a:avLst/>
          </a:prstGeom>
          <a:noFill/>
          <a:ln w="38100" algn="ctr">
            <a:noFill/>
            <a:miter lim="800000"/>
            <a:headEnd/>
            <a:tailEnd type="none" w="med" len="lg"/>
          </a:ln>
          <a:effectLst/>
        </p:spPr>
        <p:txBody>
          <a:bodyPr lIns="0" tIns="0" rIns="0" bIns="0">
            <a:spAutoFit/>
          </a:bodyPr>
          <a:lstStyle/>
          <a:p>
            <a:pPr algn="ctr"/>
            <a:r>
              <a:rPr lang="en-US" altLang="zh-CN" sz="1600" dirty="0">
                <a:latin typeface="Consolas" pitchFamily="49" charset="0"/>
                <a:cs typeface="Consolas" pitchFamily="49" charset="0"/>
              </a:rPr>
              <a:t>{</a:t>
            </a:r>
            <a:r>
              <a:rPr lang="en-US" altLang="zh-CN" sz="1600" dirty="0">
                <a:solidFill>
                  <a:srgbClr val="FF0000"/>
                </a:solidFill>
                <a:latin typeface="Consolas" pitchFamily="49" charset="0"/>
                <a:cs typeface="Consolas" pitchFamily="49" charset="0"/>
              </a:rPr>
              <a:t>0</a:t>
            </a:r>
            <a:r>
              <a:rPr lang="en-US" altLang="zh-CN" sz="1600" dirty="0">
                <a:latin typeface="Consolas" pitchFamily="49" charset="0"/>
                <a:cs typeface="Consolas" pitchFamily="49" charset="0"/>
              </a:rPr>
              <a:t>}</a:t>
            </a:r>
          </a:p>
        </p:txBody>
      </p:sp>
      <p:sp>
        <p:nvSpPr>
          <p:cNvPr id="51243" name="Text Box 43"/>
          <p:cNvSpPr txBox="1">
            <a:spLocks noChangeArrowheads="1"/>
          </p:cNvSpPr>
          <p:nvPr/>
        </p:nvSpPr>
        <p:spPr bwMode="auto">
          <a:xfrm>
            <a:off x="2666531" y="3262263"/>
            <a:ext cx="1441450" cy="246221"/>
          </a:xfrm>
          <a:prstGeom prst="rect">
            <a:avLst/>
          </a:prstGeom>
          <a:noFill/>
          <a:ln w="38100" algn="ctr">
            <a:noFill/>
            <a:miter lim="800000"/>
            <a:headEnd/>
            <a:tailEnd type="none" w="med" len="lg"/>
          </a:ln>
          <a:effectLst/>
        </p:spPr>
        <p:txBody>
          <a:bodyPr lIns="0" tIns="0" rIns="0" bIns="0">
            <a:spAutoFit/>
          </a:bodyPr>
          <a:lstStyle/>
          <a:p>
            <a:pPr algn="ctr"/>
            <a:r>
              <a:rPr lang="en-US" altLang="zh-CN" sz="1600" dirty="0">
                <a:latin typeface="Consolas" pitchFamily="49" charset="0"/>
                <a:cs typeface="Consolas" pitchFamily="49" charset="0"/>
              </a:rPr>
              <a:t>{1,2,3,4,5,6}</a:t>
            </a:r>
          </a:p>
        </p:txBody>
      </p:sp>
      <p:sp>
        <p:nvSpPr>
          <p:cNvPr id="51244" name="Text Box 44"/>
          <p:cNvSpPr txBox="1">
            <a:spLocks noChangeArrowheads="1"/>
          </p:cNvSpPr>
          <p:nvPr/>
        </p:nvSpPr>
        <p:spPr bwMode="auto">
          <a:xfrm>
            <a:off x="4611219" y="3274963"/>
            <a:ext cx="2449513" cy="246221"/>
          </a:xfrm>
          <a:prstGeom prst="rect">
            <a:avLst/>
          </a:prstGeom>
          <a:noFill/>
          <a:ln w="38100" algn="ctr">
            <a:noFill/>
            <a:miter lim="800000"/>
            <a:headEnd/>
            <a:tailEnd type="none" w="med" len="lg"/>
          </a:ln>
          <a:effectLst/>
        </p:spPr>
        <p:txBody>
          <a:bodyPr lIns="0" tIns="0" rIns="0" bIns="0">
            <a:spAutoFit/>
          </a:bodyPr>
          <a:lstStyle/>
          <a:p>
            <a:r>
              <a:rPr lang="en-US" altLang="zh-CN" sz="1600" dirty="0">
                <a:latin typeface="Consolas" pitchFamily="49" charset="0"/>
                <a:cs typeface="Consolas" pitchFamily="49" charset="0"/>
              </a:rPr>
              <a:t>{0,  </a:t>
            </a:r>
            <a:r>
              <a:rPr lang="en-US" altLang="zh-CN" sz="1600" u="heavy" dirty="0">
                <a:uFill>
                  <a:solidFill>
                    <a:srgbClr val="C00000"/>
                  </a:solidFill>
                </a:uFill>
                <a:latin typeface="Consolas" pitchFamily="49" charset="0"/>
                <a:cs typeface="Consolas" pitchFamily="49" charset="0"/>
              </a:rPr>
              <a:t>4, 6, 6, ∞, ∞, ∞</a:t>
            </a:r>
            <a:r>
              <a:rPr lang="en-US" altLang="zh-CN" sz="1600" dirty="0">
                <a:latin typeface="Consolas" pitchFamily="49" charset="0"/>
                <a:cs typeface="Consolas" pitchFamily="49" charset="0"/>
              </a:rPr>
              <a:t>}</a:t>
            </a:r>
          </a:p>
        </p:txBody>
      </p:sp>
      <p:sp>
        <p:nvSpPr>
          <p:cNvPr id="51245" name="Text Box 45"/>
          <p:cNvSpPr txBox="1">
            <a:spLocks noChangeArrowheads="1"/>
          </p:cNvSpPr>
          <p:nvPr/>
        </p:nvSpPr>
        <p:spPr bwMode="auto">
          <a:xfrm>
            <a:off x="7348069" y="3274963"/>
            <a:ext cx="2674989" cy="246221"/>
          </a:xfrm>
          <a:prstGeom prst="rect">
            <a:avLst/>
          </a:prstGeom>
          <a:noFill/>
          <a:ln w="38100" algn="ctr">
            <a:noFill/>
            <a:miter lim="800000"/>
            <a:headEnd/>
            <a:tailEnd type="none" w="med" len="lg"/>
          </a:ln>
          <a:effectLst/>
        </p:spPr>
        <p:txBody>
          <a:bodyPr wrap="square" lIns="0" tIns="0" rIns="0" bIns="0">
            <a:spAutoFit/>
          </a:bodyPr>
          <a:lstStyle/>
          <a:p>
            <a:r>
              <a:rPr lang="en-US" altLang="zh-CN" sz="1600">
                <a:latin typeface="Consolas" pitchFamily="49" charset="0"/>
                <a:cs typeface="Consolas" pitchFamily="49" charset="0"/>
              </a:rPr>
              <a:t>{0, 0, 0, 0, -1, -1, -1}</a:t>
            </a:r>
          </a:p>
        </p:txBody>
      </p:sp>
      <p:sp>
        <p:nvSpPr>
          <p:cNvPr id="51246" name="Text Box 46"/>
          <p:cNvSpPr txBox="1">
            <a:spLocks noChangeArrowheads="1"/>
          </p:cNvSpPr>
          <p:nvPr/>
        </p:nvSpPr>
        <p:spPr bwMode="auto">
          <a:xfrm>
            <a:off x="1556892" y="4224290"/>
            <a:ext cx="576263" cy="246221"/>
          </a:xfrm>
          <a:prstGeom prst="rect">
            <a:avLst/>
          </a:prstGeom>
          <a:noFill/>
          <a:ln w="38100" algn="ctr">
            <a:noFill/>
            <a:miter lim="800000"/>
            <a:headEnd/>
            <a:tailEnd type="none" w="med" len="lg"/>
          </a:ln>
          <a:effectLst/>
        </p:spPr>
        <p:txBody>
          <a:bodyPr lIns="0" tIns="0" rIns="0" bIns="0">
            <a:spAutoFit/>
          </a:bodyPr>
          <a:lstStyle/>
          <a:p>
            <a:pPr algn="ctr"/>
            <a:r>
              <a:rPr lang="en-US" altLang="zh-CN" sz="1600" dirty="0">
                <a:latin typeface="Consolas" pitchFamily="49" charset="0"/>
                <a:cs typeface="Consolas" pitchFamily="49" charset="0"/>
              </a:rPr>
              <a:t>{0,</a:t>
            </a:r>
            <a:r>
              <a:rPr lang="en-US" altLang="zh-CN" sz="1600" dirty="0">
                <a:solidFill>
                  <a:srgbClr val="FF3300"/>
                </a:solidFill>
                <a:latin typeface="Consolas" pitchFamily="49" charset="0"/>
                <a:cs typeface="Consolas" pitchFamily="49" charset="0"/>
              </a:rPr>
              <a:t>1</a:t>
            </a:r>
            <a:r>
              <a:rPr lang="en-US" altLang="zh-CN" sz="1600" dirty="0">
                <a:latin typeface="Consolas" pitchFamily="49" charset="0"/>
                <a:cs typeface="Consolas" pitchFamily="49" charset="0"/>
              </a:rPr>
              <a:t>}</a:t>
            </a:r>
          </a:p>
        </p:txBody>
      </p:sp>
      <p:sp>
        <p:nvSpPr>
          <p:cNvPr id="51247" name="Text Box 47"/>
          <p:cNvSpPr txBox="1">
            <a:spLocks noChangeArrowheads="1"/>
          </p:cNvSpPr>
          <p:nvPr/>
        </p:nvSpPr>
        <p:spPr bwMode="auto">
          <a:xfrm>
            <a:off x="2664944" y="4224290"/>
            <a:ext cx="1441450" cy="246221"/>
          </a:xfrm>
          <a:prstGeom prst="rect">
            <a:avLst/>
          </a:prstGeom>
          <a:noFill/>
          <a:ln w="38100" algn="ctr">
            <a:noFill/>
            <a:miter lim="800000"/>
            <a:headEnd/>
            <a:tailEnd type="none" w="med" len="lg"/>
          </a:ln>
          <a:effectLst/>
        </p:spPr>
        <p:txBody>
          <a:bodyPr lIns="0" tIns="0" rIns="0" bIns="0">
            <a:spAutoFit/>
          </a:bodyPr>
          <a:lstStyle/>
          <a:p>
            <a:pPr algn="ctr"/>
            <a:r>
              <a:rPr lang="en-US" altLang="zh-CN" sz="1600" dirty="0">
                <a:latin typeface="Consolas" pitchFamily="49" charset="0"/>
                <a:cs typeface="Consolas" pitchFamily="49" charset="0"/>
              </a:rPr>
              <a:t>{2,3,4,5,6}</a:t>
            </a:r>
          </a:p>
        </p:txBody>
      </p:sp>
      <p:sp>
        <p:nvSpPr>
          <p:cNvPr id="51248" name="Text Box 48"/>
          <p:cNvSpPr txBox="1">
            <a:spLocks noChangeArrowheads="1"/>
          </p:cNvSpPr>
          <p:nvPr/>
        </p:nvSpPr>
        <p:spPr bwMode="auto">
          <a:xfrm>
            <a:off x="4609632" y="4224290"/>
            <a:ext cx="2449513" cy="246221"/>
          </a:xfrm>
          <a:prstGeom prst="rect">
            <a:avLst/>
          </a:prstGeom>
          <a:noFill/>
          <a:ln w="38100" algn="ctr">
            <a:noFill/>
            <a:miter lim="800000"/>
            <a:headEnd/>
            <a:tailEnd type="none" w="med" len="lg"/>
          </a:ln>
          <a:effectLst/>
        </p:spPr>
        <p:txBody>
          <a:bodyPr lIns="0" tIns="0" rIns="0" bIns="0">
            <a:spAutoFit/>
          </a:bodyPr>
          <a:lstStyle/>
          <a:p>
            <a:r>
              <a:rPr lang="en-US" altLang="zh-CN" sz="1600" dirty="0">
                <a:latin typeface="Consolas" pitchFamily="49" charset="0"/>
                <a:cs typeface="Consolas" pitchFamily="49" charset="0"/>
              </a:rPr>
              <a:t>{0,  </a:t>
            </a:r>
            <a:r>
              <a:rPr lang="en-US" altLang="zh-CN" sz="1600" dirty="0">
                <a:solidFill>
                  <a:srgbClr val="0000FF"/>
                </a:solidFill>
                <a:latin typeface="Consolas" pitchFamily="49" charset="0"/>
                <a:cs typeface="Consolas" pitchFamily="49" charset="0"/>
              </a:rPr>
              <a:t>4,</a:t>
            </a:r>
            <a:r>
              <a:rPr lang="en-US" altLang="zh-CN" sz="1600" dirty="0">
                <a:solidFill>
                  <a:srgbClr val="FF3300"/>
                </a:solidFill>
                <a:latin typeface="Consolas" pitchFamily="49" charset="0"/>
                <a:cs typeface="Consolas" pitchFamily="49" charset="0"/>
              </a:rPr>
              <a:t> </a:t>
            </a:r>
            <a:r>
              <a:rPr lang="en-US" altLang="zh-CN" sz="1600" u="heavy" dirty="0">
                <a:solidFill>
                  <a:srgbClr val="FF0000"/>
                </a:solidFill>
                <a:uFill>
                  <a:solidFill>
                    <a:srgbClr val="6600CC"/>
                  </a:solidFill>
                </a:uFill>
                <a:latin typeface="Consolas" pitchFamily="49" charset="0"/>
                <a:cs typeface="Consolas" pitchFamily="49" charset="0"/>
              </a:rPr>
              <a:t>5</a:t>
            </a:r>
            <a:r>
              <a:rPr lang="en-US" altLang="zh-CN" sz="1600" u="heavy" dirty="0">
                <a:solidFill>
                  <a:srgbClr val="6600CC"/>
                </a:solidFill>
                <a:uFill>
                  <a:solidFill>
                    <a:srgbClr val="6600CC"/>
                  </a:solidFill>
                </a:uFill>
                <a:latin typeface="Consolas" pitchFamily="49" charset="0"/>
                <a:cs typeface="Consolas" pitchFamily="49" charset="0"/>
              </a:rPr>
              <a:t>, </a:t>
            </a:r>
            <a:r>
              <a:rPr lang="en-US" altLang="zh-CN" sz="1600" u="heavy" dirty="0">
                <a:uFill>
                  <a:solidFill>
                    <a:srgbClr val="6600CC"/>
                  </a:solidFill>
                </a:uFill>
                <a:latin typeface="Consolas" pitchFamily="49" charset="0"/>
                <a:cs typeface="Consolas" pitchFamily="49" charset="0"/>
              </a:rPr>
              <a:t>6</a:t>
            </a:r>
            <a:r>
              <a:rPr lang="en-US" altLang="zh-CN" sz="1600" u="heavy" dirty="0">
                <a:solidFill>
                  <a:srgbClr val="6600CC"/>
                </a:solidFill>
                <a:uFill>
                  <a:solidFill>
                    <a:srgbClr val="6600CC"/>
                  </a:solidFill>
                </a:uFill>
                <a:latin typeface="Consolas" pitchFamily="49" charset="0"/>
                <a:cs typeface="Consolas" pitchFamily="49" charset="0"/>
              </a:rPr>
              <a:t>, </a:t>
            </a:r>
            <a:r>
              <a:rPr lang="en-US" altLang="zh-CN" sz="1600" u="heavy" dirty="0">
                <a:solidFill>
                  <a:srgbClr val="FF0000"/>
                </a:solidFill>
                <a:uFill>
                  <a:solidFill>
                    <a:srgbClr val="6600CC"/>
                  </a:solidFill>
                </a:uFill>
                <a:latin typeface="Consolas" pitchFamily="49" charset="0"/>
                <a:cs typeface="Consolas" pitchFamily="49" charset="0"/>
              </a:rPr>
              <a:t>11</a:t>
            </a:r>
            <a:r>
              <a:rPr lang="en-US" altLang="zh-CN" sz="1600" u="heavy" dirty="0">
                <a:solidFill>
                  <a:srgbClr val="6600CC"/>
                </a:solidFill>
                <a:uFill>
                  <a:solidFill>
                    <a:srgbClr val="6600CC"/>
                  </a:solidFill>
                </a:uFill>
                <a:latin typeface="Consolas" pitchFamily="49" charset="0"/>
                <a:cs typeface="Consolas" pitchFamily="49" charset="0"/>
              </a:rPr>
              <a:t>, </a:t>
            </a:r>
            <a:r>
              <a:rPr lang="en-US" altLang="zh-CN" sz="1600" u="heavy" dirty="0">
                <a:uFill>
                  <a:solidFill>
                    <a:srgbClr val="6600CC"/>
                  </a:solidFill>
                </a:uFill>
                <a:latin typeface="Consolas" pitchFamily="49" charset="0"/>
                <a:cs typeface="Consolas" pitchFamily="49" charset="0"/>
              </a:rPr>
              <a:t>∞, ∞</a:t>
            </a:r>
            <a:r>
              <a:rPr lang="en-US" altLang="zh-CN" sz="1600" dirty="0">
                <a:latin typeface="Consolas" pitchFamily="49" charset="0"/>
                <a:cs typeface="Consolas" pitchFamily="49" charset="0"/>
              </a:rPr>
              <a:t>}</a:t>
            </a:r>
          </a:p>
        </p:txBody>
      </p:sp>
      <p:sp>
        <p:nvSpPr>
          <p:cNvPr id="51249" name="Text Box 49"/>
          <p:cNvSpPr txBox="1">
            <a:spLocks noChangeArrowheads="1"/>
          </p:cNvSpPr>
          <p:nvPr/>
        </p:nvSpPr>
        <p:spPr bwMode="auto">
          <a:xfrm>
            <a:off x="7346482" y="4224290"/>
            <a:ext cx="2676576" cy="246221"/>
          </a:xfrm>
          <a:prstGeom prst="rect">
            <a:avLst/>
          </a:prstGeom>
          <a:noFill/>
          <a:ln w="38100" algn="ctr">
            <a:noFill/>
            <a:miter lim="800000"/>
            <a:headEnd/>
            <a:tailEnd type="none" w="med" len="lg"/>
          </a:ln>
          <a:effectLst/>
        </p:spPr>
        <p:txBody>
          <a:bodyPr wrap="square" lIns="0" tIns="0" rIns="0" bIns="0">
            <a:spAutoFit/>
          </a:bodyPr>
          <a:lstStyle/>
          <a:p>
            <a:r>
              <a:rPr lang="en-US" altLang="zh-CN" sz="1600" dirty="0">
                <a:latin typeface="Consolas" pitchFamily="49" charset="0"/>
                <a:cs typeface="Consolas" pitchFamily="49" charset="0"/>
              </a:rPr>
              <a:t>{0, 0, </a:t>
            </a:r>
            <a:r>
              <a:rPr lang="en-US" altLang="zh-CN" sz="1600" dirty="0">
                <a:solidFill>
                  <a:srgbClr val="FF0000"/>
                </a:solidFill>
                <a:latin typeface="Consolas" pitchFamily="49" charset="0"/>
                <a:cs typeface="Consolas" pitchFamily="49" charset="0"/>
              </a:rPr>
              <a:t>1</a:t>
            </a:r>
            <a:r>
              <a:rPr lang="en-US" altLang="zh-CN" sz="1600" dirty="0">
                <a:latin typeface="Consolas" pitchFamily="49" charset="0"/>
                <a:cs typeface="Consolas" pitchFamily="49" charset="0"/>
              </a:rPr>
              <a:t>, 0,  </a:t>
            </a:r>
            <a:r>
              <a:rPr lang="en-US" altLang="zh-CN" sz="1600" dirty="0">
                <a:solidFill>
                  <a:srgbClr val="FF0000"/>
                </a:solidFill>
                <a:latin typeface="Consolas" pitchFamily="49" charset="0"/>
                <a:cs typeface="Consolas" pitchFamily="49" charset="0"/>
              </a:rPr>
              <a:t>1</a:t>
            </a:r>
            <a:r>
              <a:rPr lang="en-US" altLang="zh-CN" sz="1600" dirty="0">
                <a:latin typeface="Consolas" pitchFamily="49" charset="0"/>
                <a:cs typeface="Consolas" pitchFamily="49" charset="0"/>
              </a:rPr>
              <a:t>, -1, -1}</a:t>
            </a:r>
          </a:p>
        </p:txBody>
      </p:sp>
      <p:sp>
        <p:nvSpPr>
          <p:cNvPr id="51250" name="Text Box 50"/>
          <p:cNvSpPr txBox="1">
            <a:spLocks noChangeArrowheads="1"/>
          </p:cNvSpPr>
          <p:nvPr/>
        </p:nvSpPr>
        <p:spPr bwMode="auto">
          <a:xfrm>
            <a:off x="1558479" y="5224422"/>
            <a:ext cx="792163" cy="246221"/>
          </a:xfrm>
          <a:prstGeom prst="rect">
            <a:avLst/>
          </a:prstGeom>
          <a:noFill/>
          <a:ln w="38100" algn="ctr">
            <a:noFill/>
            <a:miter lim="800000"/>
            <a:headEnd/>
            <a:tailEnd type="none" w="med" len="lg"/>
          </a:ln>
          <a:effectLst/>
        </p:spPr>
        <p:txBody>
          <a:bodyPr lIns="0" tIns="0" rIns="0" bIns="0">
            <a:spAutoFit/>
          </a:bodyPr>
          <a:lstStyle/>
          <a:p>
            <a:pPr algn="ctr"/>
            <a:r>
              <a:rPr lang="en-US" altLang="zh-CN" sz="1600" dirty="0">
                <a:latin typeface="Consolas" pitchFamily="49" charset="0"/>
                <a:cs typeface="Consolas" pitchFamily="49" charset="0"/>
              </a:rPr>
              <a:t>{0,1,</a:t>
            </a:r>
            <a:r>
              <a:rPr lang="en-US" altLang="zh-CN" sz="1600" dirty="0">
                <a:solidFill>
                  <a:srgbClr val="FF3300"/>
                </a:solidFill>
                <a:latin typeface="Consolas" pitchFamily="49" charset="0"/>
                <a:cs typeface="Consolas" pitchFamily="49" charset="0"/>
              </a:rPr>
              <a:t>2</a:t>
            </a:r>
            <a:r>
              <a:rPr lang="en-US" altLang="zh-CN" sz="1600" dirty="0">
                <a:latin typeface="Consolas" pitchFamily="49" charset="0"/>
                <a:cs typeface="Consolas" pitchFamily="49" charset="0"/>
              </a:rPr>
              <a:t>}</a:t>
            </a:r>
          </a:p>
        </p:txBody>
      </p:sp>
      <p:sp>
        <p:nvSpPr>
          <p:cNvPr id="51251" name="Text Box 51"/>
          <p:cNvSpPr txBox="1">
            <a:spLocks noChangeArrowheads="1"/>
          </p:cNvSpPr>
          <p:nvPr/>
        </p:nvSpPr>
        <p:spPr bwMode="auto">
          <a:xfrm>
            <a:off x="2666531" y="5224422"/>
            <a:ext cx="1441450" cy="246221"/>
          </a:xfrm>
          <a:prstGeom prst="rect">
            <a:avLst/>
          </a:prstGeom>
          <a:noFill/>
          <a:ln w="38100" algn="ctr">
            <a:noFill/>
            <a:miter lim="800000"/>
            <a:headEnd/>
            <a:tailEnd type="none" w="med" len="lg"/>
          </a:ln>
          <a:effectLst/>
        </p:spPr>
        <p:txBody>
          <a:bodyPr lIns="0" tIns="0" rIns="0" bIns="0">
            <a:spAutoFit/>
          </a:bodyPr>
          <a:lstStyle/>
          <a:p>
            <a:pPr algn="ctr"/>
            <a:r>
              <a:rPr lang="en-US" altLang="zh-CN" sz="1600" dirty="0">
                <a:latin typeface="Consolas" pitchFamily="49" charset="0"/>
                <a:cs typeface="Consolas" pitchFamily="49" charset="0"/>
              </a:rPr>
              <a:t>{3,4,5,6}</a:t>
            </a:r>
          </a:p>
        </p:txBody>
      </p:sp>
      <p:sp>
        <p:nvSpPr>
          <p:cNvPr id="51252" name="Text Box 52"/>
          <p:cNvSpPr txBox="1">
            <a:spLocks noChangeArrowheads="1"/>
          </p:cNvSpPr>
          <p:nvPr/>
        </p:nvSpPr>
        <p:spPr bwMode="auto">
          <a:xfrm>
            <a:off x="4611219" y="5237122"/>
            <a:ext cx="2449513" cy="246221"/>
          </a:xfrm>
          <a:prstGeom prst="rect">
            <a:avLst/>
          </a:prstGeom>
          <a:noFill/>
          <a:ln w="38100" algn="ctr">
            <a:noFill/>
            <a:miter lim="800000"/>
            <a:headEnd/>
            <a:tailEnd type="none" w="med" len="lg"/>
          </a:ln>
          <a:effectLst/>
        </p:spPr>
        <p:txBody>
          <a:bodyPr lIns="0" tIns="0" rIns="0" bIns="0">
            <a:spAutoFit/>
          </a:bodyPr>
          <a:lstStyle/>
          <a:p>
            <a:r>
              <a:rPr lang="en-US" altLang="zh-CN" sz="1600" dirty="0">
                <a:latin typeface="Consolas" pitchFamily="49" charset="0"/>
                <a:cs typeface="Consolas" pitchFamily="49" charset="0"/>
              </a:rPr>
              <a:t>{0,  </a:t>
            </a:r>
            <a:r>
              <a:rPr lang="en-US" altLang="zh-CN" sz="1600" dirty="0">
                <a:solidFill>
                  <a:srgbClr val="0000FF"/>
                </a:solidFill>
                <a:latin typeface="Consolas" pitchFamily="49" charset="0"/>
                <a:cs typeface="Consolas" pitchFamily="49" charset="0"/>
              </a:rPr>
              <a:t>4,</a:t>
            </a:r>
            <a:r>
              <a:rPr lang="en-US" altLang="zh-CN" sz="1600" dirty="0">
                <a:solidFill>
                  <a:srgbClr val="FF3300"/>
                </a:solidFill>
                <a:latin typeface="Consolas" pitchFamily="49" charset="0"/>
                <a:cs typeface="Consolas" pitchFamily="49" charset="0"/>
              </a:rPr>
              <a:t> </a:t>
            </a:r>
            <a:r>
              <a:rPr lang="en-US" altLang="zh-CN" sz="1600" dirty="0">
                <a:latin typeface="Consolas" pitchFamily="49" charset="0"/>
                <a:cs typeface="Consolas" pitchFamily="49" charset="0"/>
              </a:rPr>
              <a:t>5,</a:t>
            </a:r>
            <a:r>
              <a:rPr lang="en-US" altLang="zh-CN" sz="1600" u="sng" dirty="0">
                <a:latin typeface="Consolas" pitchFamily="49" charset="0"/>
                <a:cs typeface="Consolas" pitchFamily="49" charset="0"/>
              </a:rPr>
              <a:t> </a:t>
            </a:r>
            <a:r>
              <a:rPr lang="en-US" altLang="zh-CN" sz="1600" u="heavy" dirty="0">
                <a:uFill>
                  <a:solidFill>
                    <a:srgbClr val="C00000"/>
                  </a:solidFill>
                </a:uFill>
                <a:latin typeface="Consolas" pitchFamily="49" charset="0"/>
                <a:cs typeface="Consolas" pitchFamily="49" charset="0"/>
              </a:rPr>
              <a:t>6, 11,</a:t>
            </a:r>
            <a:r>
              <a:rPr lang="en-US" altLang="zh-CN" sz="1600" u="heavy" dirty="0">
                <a:solidFill>
                  <a:srgbClr val="6600CC"/>
                </a:solidFill>
                <a:uFill>
                  <a:solidFill>
                    <a:srgbClr val="C00000"/>
                  </a:solidFill>
                </a:uFill>
                <a:latin typeface="Consolas" pitchFamily="49" charset="0"/>
                <a:cs typeface="Consolas" pitchFamily="49" charset="0"/>
              </a:rPr>
              <a:t> </a:t>
            </a:r>
            <a:r>
              <a:rPr lang="en-US" altLang="zh-CN" sz="1600" u="heavy" dirty="0">
                <a:solidFill>
                  <a:srgbClr val="FF0000"/>
                </a:solidFill>
                <a:uFill>
                  <a:solidFill>
                    <a:srgbClr val="C00000"/>
                  </a:solidFill>
                </a:uFill>
                <a:latin typeface="Consolas" pitchFamily="49" charset="0"/>
                <a:cs typeface="Consolas" pitchFamily="49" charset="0"/>
              </a:rPr>
              <a:t>9</a:t>
            </a:r>
            <a:r>
              <a:rPr lang="en-US" altLang="zh-CN" sz="1600" u="heavy" dirty="0">
                <a:solidFill>
                  <a:srgbClr val="6600CC"/>
                </a:solidFill>
                <a:uFill>
                  <a:solidFill>
                    <a:srgbClr val="C00000"/>
                  </a:solidFill>
                </a:uFill>
                <a:latin typeface="Consolas" pitchFamily="49" charset="0"/>
                <a:cs typeface="Consolas" pitchFamily="49" charset="0"/>
              </a:rPr>
              <a:t>, </a:t>
            </a:r>
            <a:r>
              <a:rPr lang="en-US" altLang="zh-CN" sz="1600" u="heavy" dirty="0">
                <a:uFill>
                  <a:solidFill>
                    <a:srgbClr val="C00000"/>
                  </a:solidFill>
                </a:uFill>
                <a:latin typeface="Consolas" pitchFamily="49" charset="0"/>
                <a:cs typeface="Consolas" pitchFamily="49" charset="0"/>
              </a:rPr>
              <a:t>∞</a:t>
            </a:r>
            <a:r>
              <a:rPr lang="en-US" altLang="zh-CN" sz="1600" dirty="0">
                <a:latin typeface="Consolas" pitchFamily="49" charset="0"/>
                <a:cs typeface="Consolas" pitchFamily="49" charset="0"/>
              </a:rPr>
              <a:t>}</a:t>
            </a:r>
          </a:p>
        </p:txBody>
      </p:sp>
      <p:sp>
        <p:nvSpPr>
          <p:cNvPr id="51253" name="Text Box 53"/>
          <p:cNvSpPr txBox="1">
            <a:spLocks noChangeArrowheads="1"/>
          </p:cNvSpPr>
          <p:nvPr/>
        </p:nvSpPr>
        <p:spPr bwMode="auto">
          <a:xfrm>
            <a:off x="7348069" y="5237122"/>
            <a:ext cx="2817865" cy="246221"/>
          </a:xfrm>
          <a:prstGeom prst="rect">
            <a:avLst/>
          </a:prstGeom>
          <a:noFill/>
          <a:ln w="38100" algn="ctr">
            <a:noFill/>
            <a:miter lim="800000"/>
            <a:headEnd/>
            <a:tailEnd type="none" w="med" len="lg"/>
          </a:ln>
          <a:effectLst/>
        </p:spPr>
        <p:txBody>
          <a:bodyPr wrap="square" lIns="0" tIns="0" rIns="0" bIns="0">
            <a:spAutoFit/>
          </a:bodyPr>
          <a:lstStyle/>
          <a:p>
            <a:r>
              <a:rPr lang="en-US" altLang="zh-CN" sz="1600" dirty="0">
                <a:latin typeface="Consolas" pitchFamily="49" charset="0"/>
                <a:cs typeface="Consolas" pitchFamily="49" charset="0"/>
              </a:rPr>
              <a:t>{0, 0, 1, 0,  1,  </a:t>
            </a:r>
            <a:r>
              <a:rPr lang="en-US" altLang="zh-CN" sz="1600" dirty="0">
                <a:solidFill>
                  <a:srgbClr val="FF0000"/>
                </a:solidFill>
                <a:latin typeface="Consolas" pitchFamily="49" charset="0"/>
                <a:cs typeface="Consolas" pitchFamily="49" charset="0"/>
              </a:rPr>
              <a:t>2</a:t>
            </a:r>
            <a:r>
              <a:rPr lang="en-US" altLang="zh-CN" sz="1600" dirty="0">
                <a:latin typeface="Consolas" pitchFamily="49" charset="0"/>
                <a:cs typeface="Consolas" pitchFamily="49" charset="0"/>
              </a:rPr>
              <a:t>, -1}</a:t>
            </a:r>
          </a:p>
        </p:txBody>
      </p:sp>
      <p:sp>
        <p:nvSpPr>
          <p:cNvPr id="51277" name="Text Box 77"/>
          <p:cNvSpPr txBox="1">
            <a:spLocks noChangeArrowheads="1"/>
          </p:cNvSpPr>
          <p:nvPr/>
        </p:nvSpPr>
        <p:spPr bwMode="auto">
          <a:xfrm>
            <a:off x="1521936" y="679779"/>
            <a:ext cx="1603357" cy="553998"/>
          </a:xfrm>
          <a:prstGeom prst="rect">
            <a:avLst/>
          </a:prstGeom>
          <a:ln>
            <a:headEnd/>
            <a:tailEnd/>
          </a:ln>
        </p:spPr>
        <p:style>
          <a:lnRef idx="1">
            <a:schemeClr val="accent6"/>
          </a:lnRef>
          <a:fillRef idx="3">
            <a:schemeClr val="accent6"/>
          </a:fillRef>
          <a:effectRef idx="2">
            <a:schemeClr val="accent6"/>
          </a:effectRef>
          <a:fontRef idx="minor">
            <a:schemeClr val="lt1"/>
          </a:fontRef>
        </p:style>
        <p:txBody>
          <a:bodyPr wrap="square" lIns="0" tIns="0" rIns="0" bIns="0">
            <a:spAutoFit/>
          </a:bodyPr>
          <a:lstStyle/>
          <a:p>
            <a:pPr algn="ctr"/>
            <a:r>
              <a:rPr lang="en-US" altLang="zh-CN" sz="1800" dirty="0" err="1">
                <a:solidFill>
                  <a:schemeClr val="bg1"/>
                </a:solidFill>
                <a:latin typeface="Consolas" pitchFamily="49" charset="0"/>
                <a:ea typeface="华文中宋" pitchFamily="2" charset="-122"/>
                <a:cs typeface="Consolas" pitchFamily="49" charset="0"/>
              </a:rPr>
              <a:t>Dijkstra</a:t>
            </a:r>
            <a:r>
              <a:rPr lang="zh-CN" altLang="en-US" sz="1800" dirty="0">
                <a:solidFill>
                  <a:schemeClr val="bg1"/>
                </a:solidFill>
                <a:latin typeface="Consolas" pitchFamily="49" charset="0"/>
                <a:ea typeface="华文中宋" pitchFamily="2" charset="-122"/>
                <a:cs typeface="Consolas" pitchFamily="49" charset="0"/>
              </a:rPr>
              <a:t>算法示例演示</a:t>
            </a:r>
          </a:p>
        </p:txBody>
      </p:sp>
      <p:grpSp>
        <p:nvGrpSpPr>
          <p:cNvPr id="2" name="组合 74"/>
          <p:cNvGrpSpPr/>
          <p:nvPr/>
        </p:nvGrpSpPr>
        <p:grpSpPr>
          <a:xfrm>
            <a:off x="5682781" y="3551186"/>
            <a:ext cx="2143140" cy="428628"/>
            <a:chOff x="4572000" y="3214686"/>
            <a:chExt cx="2143140" cy="428628"/>
          </a:xfrm>
        </p:grpSpPr>
        <p:sp>
          <p:nvSpPr>
            <p:cNvPr id="73" name="下箭头 72"/>
            <p:cNvSpPr/>
            <p:nvPr/>
          </p:nvSpPr>
          <p:spPr>
            <a:xfrm>
              <a:off x="4572000" y="3214686"/>
              <a:ext cx="142876" cy="428628"/>
            </a:xfrm>
            <a:prstGeom prst="downArrow">
              <a:avLst/>
            </a:prstGeom>
          </p:spPr>
          <p:style>
            <a:lnRef idx="0">
              <a:schemeClr val="accent4"/>
            </a:lnRef>
            <a:fillRef idx="3">
              <a:schemeClr val="accent4"/>
            </a:fillRef>
            <a:effectRef idx="3">
              <a:schemeClr val="accent4"/>
            </a:effectRef>
            <a:fontRef idx="minor">
              <a:schemeClr val="lt1"/>
            </a:fontRef>
          </p:style>
          <p:txBody>
            <a:bodyPr rtlCol="0" anchor="ctr"/>
            <a:lstStyle/>
            <a:p>
              <a:pPr algn="ctr"/>
              <a:endParaRPr lang="zh-CN" altLang="en-US" sz="1600">
                <a:latin typeface="Consolas" pitchFamily="49" charset="0"/>
                <a:ea typeface="仿宋" pitchFamily="49" charset="-122"/>
                <a:cs typeface="Consolas" pitchFamily="49" charset="0"/>
              </a:endParaRPr>
            </a:p>
          </p:txBody>
        </p:sp>
        <p:sp>
          <p:nvSpPr>
            <p:cNvPr id="74" name="TextBox 73"/>
            <p:cNvSpPr txBox="1"/>
            <p:nvPr/>
          </p:nvSpPr>
          <p:spPr>
            <a:xfrm>
              <a:off x="4786314" y="3243204"/>
              <a:ext cx="1928826" cy="369332"/>
            </a:xfrm>
            <a:prstGeom prst="rect">
              <a:avLst/>
            </a:prstGeom>
            <a:noFill/>
          </p:spPr>
          <p:txBody>
            <a:bodyPr wrap="square" rtlCol="0">
              <a:spAutoFit/>
            </a:bodyPr>
            <a:lstStyle/>
            <a:p>
              <a:r>
                <a:rPr lang="zh-CN" altLang="en-US" sz="1800" dirty="0">
                  <a:latin typeface="Consolas" pitchFamily="49" charset="0"/>
                  <a:ea typeface="仿宋" pitchFamily="49" charset="-122"/>
                  <a:cs typeface="Consolas" pitchFamily="49" charset="0"/>
                </a:rPr>
                <a:t>最小的顶点：</a:t>
              </a:r>
              <a:r>
                <a:rPr lang="en-US" altLang="zh-CN" sz="1800" dirty="0">
                  <a:solidFill>
                    <a:srgbClr val="FF0000"/>
                  </a:solidFill>
                  <a:latin typeface="Consolas" pitchFamily="49" charset="0"/>
                  <a:ea typeface="仿宋" pitchFamily="49" charset="-122"/>
                  <a:cs typeface="Consolas" pitchFamily="49" charset="0"/>
                </a:rPr>
                <a:t>1</a:t>
              </a:r>
              <a:endParaRPr lang="zh-CN" altLang="en-US" sz="1800" dirty="0">
                <a:latin typeface="Consolas" pitchFamily="49" charset="0"/>
                <a:ea typeface="仿宋" pitchFamily="49" charset="-122"/>
                <a:cs typeface="Consolas" pitchFamily="49" charset="0"/>
              </a:endParaRPr>
            </a:p>
          </p:txBody>
        </p:sp>
      </p:grpSp>
      <p:grpSp>
        <p:nvGrpSpPr>
          <p:cNvPr id="3" name="组合 75"/>
          <p:cNvGrpSpPr/>
          <p:nvPr/>
        </p:nvGrpSpPr>
        <p:grpSpPr>
          <a:xfrm>
            <a:off x="5833595" y="4510042"/>
            <a:ext cx="2117761" cy="459406"/>
            <a:chOff x="4572000" y="3214686"/>
            <a:chExt cx="2117761" cy="459406"/>
          </a:xfrm>
        </p:grpSpPr>
        <p:sp>
          <p:nvSpPr>
            <p:cNvPr id="77" name="下箭头 76"/>
            <p:cNvSpPr/>
            <p:nvPr/>
          </p:nvSpPr>
          <p:spPr>
            <a:xfrm>
              <a:off x="4572000" y="3214686"/>
              <a:ext cx="142876" cy="428628"/>
            </a:xfrm>
            <a:prstGeom prst="downArrow">
              <a:avLst/>
            </a:prstGeom>
          </p:spPr>
          <p:style>
            <a:lnRef idx="0">
              <a:schemeClr val="accent4"/>
            </a:lnRef>
            <a:fillRef idx="3">
              <a:schemeClr val="accent4"/>
            </a:fillRef>
            <a:effectRef idx="3">
              <a:schemeClr val="accent4"/>
            </a:effectRef>
            <a:fontRef idx="minor">
              <a:schemeClr val="lt1"/>
            </a:fontRef>
          </p:style>
          <p:txBody>
            <a:bodyPr rtlCol="0" anchor="ctr"/>
            <a:lstStyle/>
            <a:p>
              <a:pPr algn="ctr"/>
              <a:endParaRPr lang="zh-CN" altLang="en-US" sz="1600">
                <a:latin typeface="Consolas" pitchFamily="49" charset="0"/>
                <a:ea typeface="仿宋" pitchFamily="49" charset="-122"/>
                <a:cs typeface="Consolas" pitchFamily="49" charset="0"/>
              </a:endParaRPr>
            </a:p>
          </p:txBody>
        </p:sp>
        <p:sp>
          <p:nvSpPr>
            <p:cNvPr id="78" name="TextBox 77"/>
            <p:cNvSpPr txBox="1"/>
            <p:nvPr/>
          </p:nvSpPr>
          <p:spPr>
            <a:xfrm>
              <a:off x="4760935" y="3304760"/>
              <a:ext cx="1928826" cy="369332"/>
            </a:xfrm>
            <a:prstGeom prst="rect">
              <a:avLst/>
            </a:prstGeom>
            <a:noFill/>
          </p:spPr>
          <p:txBody>
            <a:bodyPr wrap="square" rtlCol="0">
              <a:spAutoFit/>
            </a:bodyPr>
            <a:lstStyle/>
            <a:p>
              <a:r>
                <a:rPr lang="zh-CN" altLang="en-US" sz="1800" dirty="0">
                  <a:latin typeface="Consolas" pitchFamily="49" charset="0"/>
                  <a:ea typeface="仿宋" pitchFamily="49" charset="-122"/>
                  <a:cs typeface="Consolas" pitchFamily="49" charset="0"/>
                </a:rPr>
                <a:t>最小的顶点：</a:t>
              </a:r>
              <a:r>
                <a:rPr lang="en-US" altLang="zh-CN" sz="1800" dirty="0">
                  <a:solidFill>
                    <a:srgbClr val="FF0000"/>
                  </a:solidFill>
                  <a:latin typeface="Consolas" pitchFamily="49" charset="0"/>
                  <a:ea typeface="仿宋" pitchFamily="49" charset="-122"/>
                  <a:cs typeface="Consolas" pitchFamily="49" charset="0"/>
                </a:rPr>
                <a:t>2</a:t>
              </a:r>
              <a:endParaRPr lang="zh-CN" altLang="en-US" sz="1800" dirty="0">
                <a:latin typeface="Consolas" pitchFamily="49" charset="0"/>
                <a:ea typeface="仿宋" pitchFamily="49" charset="-122"/>
                <a:cs typeface="Consolas" pitchFamily="49" charset="0"/>
              </a:endParaRPr>
            </a:p>
          </p:txBody>
        </p:sp>
      </p:grpSp>
    </p:spTree>
    <p:extLst>
      <p:ext uri="{BB962C8B-B14F-4D97-AF65-F5344CB8AC3E}">
        <p14:creationId xmlns:p14="http://schemas.microsoft.com/office/powerpoint/2010/main" val="33418716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51205"/>
                                        </p:tgtEl>
                                      </p:cBhvr>
                                    </p:animEffect>
                                    <p:animScale>
                                      <p:cBhvr>
                                        <p:cTn id="7" dur="250" autoRev="1" fill="hold"/>
                                        <p:tgtEl>
                                          <p:spTgt spid="51205"/>
                                        </p:tgtEl>
                                      </p:cBhvr>
                                      <p:by x="105000" y="105000"/>
                                    </p:animScale>
                                  </p:childTnLst>
                                </p:cTn>
                              </p:par>
                            </p:childTnLst>
                          </p:cTn>
                        </p:par>
                        <p:par>
                          <p:cTn id="8" fill="hold">
                            <p:stCondLst>
                              <p:cond delay="500"/>
                            </p:stCondLst>
                            <p:childTnLst>
                              <p:par>
                                <p:cTn id="9" presetID="1" presetClass="entr" presetSubtype="0" fill="hold" grpId="0" nodeType="afterEffect">
                                  <p:stCondLst>
                                    <p:cond delay="0"/>
                                  </p:stCondLst>
                                  <p:childTnLst>
                                    <p:set>
                                      <p:cBhvr>
                                        <p:cTn id="10" dur="1" fill="hold">
                                          <p:stCondLst>
                                            <p:cond delay="0"/>
                                          </p:stCondLst>
                                        </p:cTn>
                                        <p:tgtEl>
                                          <p:spTgt spid="51242"/>
                                        </p:tgtEl>
                                        <p:attrNameLst>
                                          <p:attrName>style.visibility</p:attrName>
                                        </p:attrNameLst>
                                      </p:cBhvr>
                                      <p:to>
                                        <p:strVal val="visible"/>
                                      </p:to>
                                    </p:set>
                                  </p:childTnLst>
                                </p:cTn>
                              </p:par>
                            </p:childTnLst>
                          </p:cTn>
                        </p:par>
                        <p:par>
                          <p:cTn id="11" fill="hold">
                            <p:stCondLst>
                              <p:cond delay="500"/>
                            </p:stCondLst>
                            <p:childTnLst>
                              <p:par>
                                <p:cTn id="12" presetID="1" presetClass="entr" presetSubtype="0" fill="hold" grpId="0" nodeType="afterEffect">
                                  <p:stCondLst>
                                    <p:cond delay="0"/>
                                  </p:stCondLst>
                                  <p:childTnLst>
                                    <p:set>
                                      <p:cBhvr>
                                        <p:cTn id="13" dur="1" fill="hold">
                                          <p:stCondLst>
                                            <p:cond delay="0"/>
                                          </p:stCondLst>
                                        </p:cTn>
                                        <p:tgtEl>
                                          <p:spTgt spid="51243"/>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26" presetClass="emph" presetSubtype="0" fill="hold" grpId="0" nodeType="clickEffect">
                                  <p:stCondLst>
                                    <p:cond delay="0"/>
                                  </p:stCondLst>
                                  <p:childTnLst>
                                    <p:animEffect transition="out" filter="fade">
                                      <p:cBhvr>
                                        <p:cTn id="17" dur="500" tmFilter="0, 0; .2, .5; .8, .5; 1, 0"/>
                                        <p:tgtEl>
                                          <p:spTgt spid="51212"/>
                                        </p:tgtEl>
                                      </p:cBhvr>
                                    </p:animEffect>
                                    <p:animScale>
                                      <p:cBhvr>
                                        <p:cTn id="18" dur="250" autoRev="1" fill="hold"/>
                                        <p:tgtEl>
                                          <p:spTgt spid="51212"/>
                                        </p:tgtEl>
                                      </p:cBhvr>
                                      <p:by x="105000" y="105000"/>
                                    </p:animScale>
                                  </p:childTnLst>
                                </p:cTn>
                              </p:par>
                              <p:par>
                                <p:cTn id="19" presetID="26" presetClass="emph" presetSubtype="0" fill="hold" grpId="0" nodeType="withEffect">
                                  <p:stCondLst>
                                    <p:cond delay="0"/>
                                  </p:stCondLst>
                                  <p:childTnLst>
                                    <p:animEffect transition="out" filter="fade">
                                      <p:cBhvr>
                                        <p:cTn id="20" dur="500" tmFilter="0, 0; .2, .5; .8, .5; 1, 0"/>
                                        <p:tgtEl>
                                          <p:spTgt spid="51213"/>
                                        </p:tgtEl>
                                      </p:cBhvr>
                                    </p:animEffect>
                                    <p:animScale>
                                      <p:cBhvr>
                                        <p:cTn id="21" dur="250" autoRev="1" fill="hold"/>
                                        <p:tgtEl>
                                          <p:spTgt spid="51213"/>
                                        </p:tgtEl>
                                      </p:cBhvr>
                                      <p:by x="105000" y="105000"/>
                                    </p:animScale>
                                  </p:childTnLst>
                                </p:cTn>
                              </p:par>
                              <p:par>
                                <p:cTn id="22" presetID="26" presetClass="emph" presetSubtype="0" fill="hold" grpId="0" nodeType="withEffect">
                                  <p:stCondLst>
                                    <p:cond delay="0"/>
                                  </p:stCondLst>
                                  <p:childTnLst>
                                    <p:animEffect transition="out" filter="fade">
                                      <p:cBhvr>
                                        <p:cTn id="23" dur="500" tmFilter="0, 0; .2, .5; .8, .5; 1, 0"/>
                                        <p:tgtEl>
                                          <p:spTgt spid="51214"/>
                                        </p:tgtEl>
                                      </p:cBhvr>
                                    </p:animEffect>
                                    <p:animScale>
                                      <p:cBhvr>
                                        <p:cTn id="24" dur="250" autoRev="1" fill="hold"/>
                                        <p:tgtEl>
                                          <p:spTgt spid="51214"/>
                                        </p:tgtEl>
                                      </p:cBhvr>
                                      <p:by x="105000" y="105000"/>
                                    </p:animScale>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5124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124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5124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5124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26" presetClass="emph" presetSubtype="0" fill="hold" grpId="0" nodeType="clickEffect">
                                  <p:stCondLst>
                                    <p:cond delay="0"/>
                                  </p:stCondLst>
                                  <p:childTnLst>
                                    <p:animEffect transition="out" filter="fade">
                                      <p:cBhvr>
                                        <p:cTn id="44" dur="500" tmFilter="0, 0; .2, .5; .8, .5; 1, 0"/>
                                        <p:tgtEl>
                                          <p:spTgt spid="51206"/>
                                        </p:tgtEl>
                                      </p:cBhvr>
                                    </p:animEffect>
                                    <p:animScale>
                                      <p:cBhvr>
                                        <p:cTn id="45" dur="250" autoRev="1" fill="hold"/>
                                        <p:tgtEl>
                                          <p:spTgt spid="51206"/>
                                        </p:tgtEl>
                                      </p:cBhvr>
                                      <p:by x="105000" y="105000"/>
                                    </p:animScale>
                                  </p:childTnLst>
                                </p:cTn>
                              </p:par>
                            </p:childTnLst>
                          </p:cTn>
                        </p:par>
                      </p:childTnLst>
                    </p:cTn>
                  </p:par>
                  <p:par>
                    <p:cTn id="46" fill="hold">
                      <p:stCondLst>
                        <p:cond delay="indefinite"/>
                      </p:stCondLst>
                      <p:childTnLst>
                        <p:par>
                          <p:cTn id="47" fill="hold">
                            <p:stCondLst>
                              <p:cond delay="0"/>
                            </p:stCondLst>
                            <p:childTnLst>
                              <p:par>
                                <p:cTn id="48" presetID="26" presetClass="emph" presetSubtype="0" fill="hold" grpId="0" nodeType="clickEffect">
                                  <p:stCondLst>
                                    <p:cond delay="0"/>
                                  </p:stCondLst>
                                  <p:childTnLst>
                                    <p:animEffect transition="out" filter="fade">
                                      <p:cBhvr>
                                        <p:cTn id="49" dur="500" tmFilter="0, 0; .2, .5; .8, .5; 1, 0"/>
                                        <p:tgtEl>
                                          <p:spTgt spid="51215"/>
                                        </p:tgtEl>
                                      </p:cBhvr>
                                    </p:animEffect>
                                    <p:animScale>
                                      <p:cBhvr>
                                        <p:cTn id="50" dur="250" autoRev="1" fill="hold"/>
                                        <p:tgtEl>
                                          <p:spTgt spid="51215"/>
                                        </p:tgtEl>
                                      </p:cBhvr>
                                      <p:by x="105000" y="105000"/>
                                    </p:animScale>
                                  </p:childTnLst>
                                </p:cTn>
                              </p:par>
                              <p:par>
                                <p:cTn id="51" presetID="26" presetClass="emph" presetSubtype="0" fill="hold" grpId="0" nodeType="withEffect">
                                  <p:stCondLst>
                                    <p:cond delay="0"/>
                                  </p:stCondLst>
                                  <p:childTnLst>
                                    <p:animEffect transition="out" filter="fade">
                                      <p:cBhvr>
                                        <p:cTn id="52" dur="500" tmFilter="0, 0; .2, .5; .8, .5; 1, 0"/>
                                        <p:tgtEl>
                                          <p:spTgt spid="51218"/>
                                        </p:tgtEl>
                                      </p:cBhvr>
                                    </p:animEffect>
                                    <p:animScale>
                                      <p:cBhvr>
                                        <p:cTn id="53" dur="250" autoRev="1" fill="hold"/>
                                        <p:tgtEl>
                                          <p:spTgt spid="51218"/>
                                        </p:tgtEl>
                                      </p:cBhvr>
                                      <p:by x="105000" y="105000"/>
                                    </p:animScale>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grpId="0" nodeType="clickEffect">
                                  <p:stCondLst>
                                    <p:cond delay="0"/>
                                  </p:stCondLst>
                                  <p:childTnLst>
                                    <p:set>
                                      <p:cBhvr>
                                        <p:cTn id="57" dur="1" fill="hold">
                                          <p:stCondLst>
                                            <p:cond delay="0"/>
                                          </p:stCondLst>
                                        </p:cTn>
                                        <p:tgtEl>
                                          <p:spTgt spid="51248"/>
                                        </p:tgtEl>
                                        <p:attrNameLst>
                                          <p:attrName>style.visibility</p:attrName>
                                        </p:attrNameLst>
                                      </p:cBhvr>
                                      <p:to>
                                        <p:strVal val="visible"/>
                                      </p:to>
                                    </p:set>
                                  </p:childTnLst>
                                </p:cTn>
                              </p:par>
                              <p:par>
                                <p:cTn id="58" presetID="1" presetClass="entr" presetSubtype="0" fill="hold" grpId="0" nodeType="withEffect">
                                  <p:stCondLst>
                                    <p:cond delay="0"/>
                                  </p:stCondLst>
                                  <p:childTnLst>
                                    <p:set>
                                      <p:cBhvr>
                                        <p:cTn id="59" dur="1" fill="hold">
                                          <p:stCondLst>
                                            <p:cond delay="0"/>
                                          </p:stCondLst>
                                        </p:cTn>
                                        <p:tgtEl>
                                          <p:spTgt spid="51249"/>
                                        </p:tgtEl>
                                        <p:attrNameLst>
                                          <p:attrName>style.visibility</p:attrName>
                                        </p:attrNameLst>
                                      </p:cBhvr>
                                      <p:to>
                                        <p:strVal val="visible"/>
                                      </p:to>
                                    </p:se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clickEffect">
                                  <p:stCondLst>
                                    <p:cond delay="0"/>
                                  </p:stCondLst>
                                  <p:childTnLst>
                                    <p:set>
                                      <p:cBhvr>
                                        <p:cTn id="63" dur="1" fill="hold">
                                          <p:stCondLst>
                                            <p:cond delay="0"/>
                                          </p:stCondLst>
                                        </p:cTn>
                                        <p:tgtEl>
                                          <p:spTgt spid="3"/>
                                        </p:tgtEl>
                                        <p:attrNameLst>
                                          <p:attrName>style.visibility</p:attrName>
                                        </p:attrNameLst>
                                      </p:cBhvr>
                                      <p:to>
                                        <p:strVal val="visible"/>
                                      </p:to>
                                    </p:set>
                                  </p:childTnLst>
                                </p:cTn>
                              </p:par>
                            </p:childTnLst>
                          </p:cTn>
                        </p:par>
                      </p:childTnLst>
                    </p:cTn>
                  </p:par>
                  <p:par>
                    <p:cTn id="64" fill="hold">
                      <p:stCondLst>
                        <p:cond delay="indefinite"/>
                      </p:stCondLst>
                      <p:childTnLst>
                        <p:par>
                          <p:cTn id="65" fill="hold">
                            <p:stCondLst>
                              <p:cond delay="0"/>
                            </p:stCondLst>
                            <p:childTnLst>
                              <p:par>
                                <p:cTn id="66" presetID="1" presetClass="entr" presetSubtype="0" fill="hold" grpId="0" nodeType="clickEffect">
                                  <p:stCondLst>
                                    <p:cond delay="0"/>
                                  </p:stCondLst>
                                  <p:childTnLst>
                                    <p:set>
                                      <p:cBhvr>
                                        <p:cTn id="67" dur="1" fill="hold">
                                          <p:stCondLst>
                                            <p:cond delay="0"/>
                                          </p:stCondLst>
                                        </p:cTn>
                                        <p:tgtEl>
                                          <p:spTgt spid="51250"/>
                                        </p:tgtEl>
                                        <p:attrNameLst>
                                          <p:attrName>style.visibility</p:attrName>
                                        </p:attrNameLst>
                                      </p:cBhvr>
                                      <p:to>
                                        <p:strVal val="visible"/>
                                      </p:to>
                                    </p:set>
                                  </p:childTnLst>
                                </p:cTn>
                              </p:par>
                              <p:par>
                                <p:cTn id="68" presetID="1" presetClass="entr" presetSubtype="0" fill="hold" grpId="0" nodeType="withEffect">
                                  <p:stCondLst>
                                    <p:cond delay="0"/>
                                  </p:stCondLst>
                                  <p:childTnLst>
                                    <p:set>
                                      <p:cBhvr>
                                        <p:cTn id="69" dur="1" fill="hold">
                                          <p:stCondLst>
                                            <p:cond delay="0"/>
                                          </p:stCondLst>
                                        </p:cTn>
                                        <p:tgtEl>
                                          <p:spTgt spid="51251"/>
                                        </p:tgtEl>
                                        <p:attrNameLst>
                                          <p:attrName>style.visibility</p:attrName>
                                        </p:attrNameLst>
                                      </p:cBhvr>
                                      <p:to>
                                        <p:strVal val="visible"/>
                                      </p:to>
                                    </p:set>
                                  </p:childTnLst>
                                </p:cTn>
                              </p:par>
                            </p:childTnLst>
                          </p:cTn>
                        </p:par>
                      </p:childTnLst>
                    </p:cTn>
                  </p:par>
                  <p:par>
                    <p:cTn id="70" fill="hold">
                      <p:stCondLst>
                        <p:cond delay="indefinite"/>
                      </p:stCondLst>
                      <p:childTnLst>
                        <p:par>
                          <p:cTn id="71" fill="hold">
                            <p:stCondLst>
                              <p:cond delay="0"/>
                            </p:stCondLst>
                            <p:childTnLst>
                              <p:par>
                                <p:cTn id="72" presetID="26" presetClass="emph" presetSubtype="0" fill="hold" grpId="0" nodeType="clickEffect">
                                  <p:stCondLst>
                                    <p:cond delay="0"/>
                                  </p:stCondLst>
                                  <p:childTnLst>
                                    <p:animEffect transition="out" filter="fade">
                                      <p:cBhvr>
                                        <p:cTn id="73" dur="500" tmFilter="0, 0; .2, .5; .8, .5; 1, 0"/>
                                        <p:tgtEl>
                                          <p:spTgt spid="51208"/>
                                        </p:tgtEl>
                                      </p:cBhvr>
                                    </p:animEffect>
                                    <p:animScale>
                                      <p:cBhvr>
                                        <p:cTn id="74" dur="250" autoRev="1" fill="hold"/>
                                        <p:tgtEl>
                                          <p:spTgt spid="51208"/>
                                        </p:tgtEl>
                                      </p:cBhvr>
                                      <p:by x="105000" y="105000"/>
                                    </p:animScale>
                                  </p:childTnLst>
                                </p:cTn>
                              </p:par>
                            </p:childTnLst>
                          </p:cTn>
                        </p:par>
                      </p:childTnLst>
                    </p:cTn>
                  </p:par>
                  <p:par>
                    <p:cTn id="75" fill="hold">
                      <p:stCondLst>
                        <p:cond delay="indefinite"/>
                      </p:stCondLst>
                      <p:childTnLst>
                        <p:par>
                          <p:cTn id="76" fill="hold">
                            <p:stCondLst>
                              <p:cond delay="0"/>
                            </p:stCondLst>
                            <p:childTnLst>
                              <p:par>
                                <p:cTn id="77" presetID="26" presetClass="emph" presetSubtype="0" fill="hold" grpId="0" nodeType="clickEffect">
                                  <p:stCondLst>
                                    <p:cond delay="0"/>
                                  </p:stCondLst>
                                  <p:childTnLst>
                                    <p:animEffect transition="out" filter="fade">
                                      <p:cBhvr>
                                        <p:cTn id="78" dur="500" tmFilter="0, 0; .2, .5; .8, .5; 1, 0"/>
                                        <p:tgtEl>
                                          <p:spTgt spid="51219"/>
                                        </p:tgtEl>
                                      </p:cBhvr>
                                    </p:animEffect>
                                    <p:animScale>
                                      <p:cBhvr>
                                        <p:cTn id="79" dur="250" autoRev="1" fill="hold"/>
                                        <p:tgtEl>
                                          <p:spTgt spid="51219"/>
                                        </p:tgtEl>
                                      </p:cBhvr>
                                      <p:by x="105000" y="105000"/>
                                    </p:animScale>
                                  </p:childTnLst>
                                </p:cTn>
                              </p:par>
                              <p:par>
                                <p:cTn id="80" presetID="26" presetClass="emph" presetSubtype="0" fill="hold" grpId="0" nodeType="withEffect">
                                  <p:stCondLst>
                                    <p:cond delay="0"/>
                                  </p:stCondLst>
                                  <p:childTnLst>
                                    <p:animEffect transition="out" filter="fade">
                                      <p:cBhvr>
                                        <p:cTn id="81" dur="500" tmFilter="0, 0; .2, .5; .8, .5; 1, 0"/>
                                        <p:tgtEl>
                                          <p:spTgt spid="51220"/>
                                        </p:tgtEl>
                                      </p:cBhvr>
                                    </p:animEffect>
                                    <p:animScale>
                                      <p:cBhvr>
                                        <p:cTn id="82" dur="250" autoRev="1" fill="hold"/>
                                        <p:tgtEl>
                                          <p:spTgt spid="51220"/>
                                        </p:tgtEl>
                                      </p:cBhvr>
                                      <p:by x="105000" y="105000"/>
                                    </p:animScale>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51252"/>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5125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05" grpId="0" animBg="1"/>
      <p:bldP spid="51206" grpId="0" animBg="1"/>
      <p:bldP spid="51208" grpId="0" animBg="1"/>
      <p:bldP spid="51212" grpId="0" animBg="1"/>
      <p:bldP spid="51213" grpId="0" animBg="1"/>
      <p:bldP spid="51214" grpId="0" animBg="1"/>
      <p:bldP spid="51215" grpId="0" animBg="1"/>
      <p:bldP spid="51218" grpId="0" animBg="1"/>
      <p:bldP spid="51219" grpId="0" animBg="1"/>
      <p:bldP spid="51220" grpId="0" animBg="1"/>
      <p:bldP spid="51242" grpId="0"/>
      <p:bldP spid="51243" grpId="0"/>
      <p:bldP spid="51244" grpId="0"/>
      <p:bldP spid="51245" grpId="0"/>
      <p:bldP spid="51246" grpId="0"/>
      <p:bldP spid="51247" grpId="0"/>
      <p:bldP spid="51248" grpId="0"/>
      <p:bldP spid="51249" grpId="0"/>
      <p:bldP spid="51250" grpId="0"/>
      <p:bldP spid="51251" grpId="0"/>
      <p:bldP spid="51252" grpId="0"/>
      <p:bldP spid="51253" grpId="0"/>
    </p:bld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EFC5D9-86B1-CC22-F688-DD0D9D9091DD}"/>
            </a:ext>
          </a:extLst>
        </p:cNvPr>
        <p:cNvGrpSpPr/>
        <p:nvPr/>
      </p:nvGrpSpPr>
      <p:grpSpPr>
        <a:xfrm>
          <a:off x="0" y="0"/>
          <a:ext cx="0" cy="0"/>
          <a:chOff x="0" y="0"/>
          <a:chExt cx="0" cy="0"/>
        </a:xfrm>
      </p:grpSpPr>
      <p:sp>
        <p:nvSpPr>
          <p:cNvPr id="2" name="Oval 5">
            <a:extLst>
              <a:ext uri="{FF2B5EF4-FFF2-40B4-BE49-F238E27FC236}">
                <a16:creationId xmlns:a16="http://schemas.microsoft.com/office/drawing/2014/main" id="{AB11B698-C8AE-38BD-D7BB-EA6E80F8737A}"/>
              </a:ext>
            </a:extLst>
          </p:cNvPr>
          <p:cNvSpPr>
            <a:spLocks noChangeArrowheads="1"/>
          </p:cNvSpPr>
          <p:nvPr/>
        </p:nvSpPr>
        <p:spPr bwMode="auto">
          <a:xfrm>
            <a:off x="4478045" y="1430027"/>
            <a:ext cx="288925" cy="360363"/>
          </a:xfrm>
          <a:prstGeom prst="ellipse">
            <a:avLst/>
          </a:prstGeom>
          <a:ln>
            <a:headEnd/>
            <a:tailEnd type="none" w="med" len="lg"/>
          </a:ln>
        </p:spPr>
        <p:style>
          <a:lnRef idx="1">
            <a:schemeClr val="accent2"/>
          </a:lnRef>
          <a:fillRef idx="2">
            <a:schemeClr val="accent2"/>
          </a:fillRef>
          <a:effectRef idx="1">
            <a:schemeClr val="accent2"/>
          </a:effectRef>
          <a:fontRef idx="minor">
            <a:schemeClr val="dk1"/>
          </a:fontRef>
        </p:style>
        <p:txBody>
          <a:bodyPr wrap="none" anchor="ctr"/>
          <a:lstStyle/>
          <a:p>
            <a:pPr algn="ctr">
              <a:spcBef>
                <a:spcPct val="0"/>
              </a:spcBef>
            </a:pPr>
            <a:r>
              <a:rPr lang="en-US" altLang="zh-CN" sz="1800" dirty="0">
                <a:solidFill>
                  <a:srgbClr val="3333FF"/>
                </a:solidFill>
                <a:latin typeface="Consolas" pitchFamily="49" charset="0"/>
                <a:cs typeface="Consolas" pitchFamily="49" charset="0"/>
              </a:rPr>
              <a:t>0</a:t>
            </a:r>
          </a:p>
        </p:txBody>
      </p:sp>
      <p:sp>
        <p:nvSpPr>
          <p:cNvPr id="3" name="Oval 6">
            <a:extLst>
              <a:ext uri="{FF2B5EF4-FFF2-40B4-BE49-F238E27FC236}">
                <a16:creationId xmlns:a16="http://schemas.microsoft.com/office/drawing/2014/main" id="{7995FBC4-52B0-A916-433A-D06EF8C32A41}"/>
              </a:ext>
            </a:extLst>
          </p:cNvPr>
          <p:cNvSpPr>
            <a:spLocks noChangeArrowheads="1"/>
          </p:cNvSpPr>
          <p:nvPr/>
        </p:nvSpPr>
        <p:spPr bwMode="auto">
          <a:xfrm>
            <a:off x="5198770" y="853765"/>
            <a:ext cx="288925" cy="360362"/>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pPr algn="ctr">
              <a:spcBef>
                <a:spcPct val="0"/>
              </a:spcBef>
            </a:pPr>
            <a:r>
              <a:rPr lang="en-US" altLang="zh-CN" sz="1800" dirty="0">
                <a:solidFill>
                  <a:srgbClr val="3333FF"/>
                </a:solidFill>
                <a:latin typeface="Consolas" pitchFamily="49" charset="0"/>
                <a:cs typeface="Consolas" pitchFamily="49" charset="0"/>
              </a:rPr>
              <a:t>1</a:t>
            </a:r>
          </a:p>
        </p:txBody>
      </p:sp>
      <p:sp>
        <p:nvSpPr>
          <p:cNvPr id="4" name="Oval 7">
            <a:extLst>
              <a:ext uri="{FF2B5EF4-FFF2-40B4-BE49-F238E27FC236}">
                <a16:creationId xmlns:a16="http://schemas.microsoft.com/office/drawing/2014/main" id="{72B041E9-9195-E7B7-15B2-F33ACE54EB90}"/>
              </a:ext>
            </a:extLst>
          </p:cNvPr>
          <p:cNvSpPr>
            <a:spLocks noChangeArrowheads="1"/>
          </p:cNvSpPr>
          <p:nvPr/>
        </p:nvSpPr>
        <p:spPr bwMode="auto">
          <a:xfrm>
            <a:off x="5270207" y="2077727"/>
            <a:ext cx="288925" cy="360363"/>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pPr algn="ctr">
              <a:spcBef>
                <a:spcPct val="0"/>
              </a:spcBef>
            </a:pPr>
            <a:r>
              <a:rPr lang="en-US" altLang="zh-CN" sz="1800">
                <a:solidFill>
                  <a:srgbClr val="3333FF"/>
                </a:solidFill>
                <a:latin typeface="Consolas" pitchFamily="49" charset="0"/>
                <a:cs typeface="Consolas" pitchFamily="49" charset="0"/>
              </a:rPr>
              <a:t>3</a:t>
            </a:r>
          </a:p>
        </p:txBody>
      </p:sp>
      <p:sp>
        <p:nvSpPr>
          <p:cNvPr id="5" name="Oval 8">
            <a:extLst>
              <a:ext uri="{FF2B5EF4-FFF2-40B4-BE49-F238E27FC236}">
                <a16:creationId xmlns:a16="http://schemas.microsoft.com/office/drawing/2014/main" id="{10582A1A-A85E-3E05-965A-D4185CF3F943}"/>
              </a:ext>
            </a:extLst>
          </p:cNvPr>
          <p:cNvSpPr>
            <a:spLocks noChangeArrowheads="1"/>
          </p:cNvSpPr>
          <p:nvPr/>
        </p:nvSpPr>
        <p:spPr bwMode="auto">
          <a:xfrm>
            <a:off x="5919495" y="1430027"/>
            <a:ext cx="288925" cy="360363"/>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pPr algn="ctr">
              <a:spcBef>
                <a:spcPct val="0"/>
              </a:spcBef>
            </a:pPr>
            <a:r>
              <a:rPr lang="en-US" altLang="zh-CN" sz="1800">
                <a:solidFill>
                  <a:srgbClr val="3333FF"/>
                </a:solidFill>
                <a:latin typeface="Consolas" pitchFamily="49" charset="0"/>
                <a:cs typeface="Consolas" pitchFamily="49" charset="0"/>
              </a:rPr>
              <a:t>2</a:t>
            </a:r>
          </a:p>
        </p:txBody>
      </p:sp>
      <p:sp>
        <p:nvSpPr>
          <p:cNvPr id="6" name="Oval 9">
            <a:extLst>
              <a:ext uri="{FF2B5EF4-FFF2-40B4-BE49-F238E27FC236}">
                <a16:creationId xmlns:a16="http://schemas.microsoft.com/office/drawing/2014/main" id="{668B7FD2-0C91-5BB4-FD34-942C68740AA3}"/>
              </a:ext>
            </a:extLst>
          </p:cNvPr>
          <p:cNvSpPr>
            <a:spLocks noChangeArrowheads="1"/>
          </p:cNvSpPr>
          <p:nvPr/>
        </p:nvSpPr>
        <p:spPr bwMode="auto">
          <a:xfrm>
            <a:off x="6854532" y="853765"/>
            <a:ext cx="288925" cy="360362"/>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pPr algn="ctr">
              <a:spcBef>
                <a:spcPct val="0"/>
              </a:spcBef>
            </a:pPr>
            <a:r>
              <a:rPr lang="en-US" altLang="zh-CN" sz="1800">
                <a:solidFill>
                  <a:srgbClr val="3333FF"/>
                </a:solidFill>
                <a:latin typeface="Consolas" pitchFamily="49" charset="0"/>
                <a:cs typeface="Consolas" pitchFamily="49" charset="0"/>
              </a:rPr>
              <a:t>4</a:t>
            </a:r>
          </a:p>
        </p:txBody>
      </p:sp>
      <p:sp>
        <p:nvSpPr>
          <p:cNvPr id="7" name="Oval 10">
            <a:extLst>
              <a:ext uri="{FF2B5EF4-FFF2-40B4-BE49-F238E27FC236}">
                <a16:creationId xmlns:a16="http://schemas.microsoft.com/office/drawing/2014/main" id="{F533DAA5-0CD8-88F5-4F71-3A489F67C9FD}"/>
              </a:ext>
            </a:extLst>
          </p:cNvPr>
          <p:cNvSpPr>
            <a:spLocks noChangeArrowheads="1"/>
          </p:cNvSpPr>
          <p:nvPr/>
        </p:nvSpPr>
        <p:spPr bwMode="auto">
          <a:xfrm>
            <a:off x="6854532" y="2077727"/>
            <a:ext cx="288925" cy="360363"/>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pPr algn="ctr">
              <a:spcBef>
                <a:spcPct val="0"/>
              </a:spcBef>
            </a:pPr>
            <a:r>
              <a:rPr lang="en-US" altLang="zh-CN" sz="1800" dirty="0">
                <a:solidFill>
                  <a:srgbClr val="3333FF"/>
                </a:solidFill>
                <a:latin typeface="Consolas" pitchFamily="49" charset="0"/>
                <a:cs typeface="Consolas" pitchFamily="49" charset="0"/>
              </a:rPr>
              <a:t>5</a:t>
            </a:r>
          </a:p>
        </p:txBody>
      </p:sp>
      <p:sp>
        <p:nvSpPr>
          <p:cNvPr id="12" name="Oval 11">
            <a:extLst>
              <a:ext uri="{FF2B5EF4-FFF2-40B4-BE49-F238E27FC236}">
                <a16:creationId xmlns:a16="http://schemas.microsoft.com/office/drawing/2014/main" id="{D07B56F8-9B30-D025-A884-56257D0A82EA}"/>
              </a:ext>
            </a:extLst>
          </p:cNvPr>
          <p:cNvSpPr>
            <a:spLocks noChangeArrowheads="1"/>
          </p:cNvSpPr>
          <p:nvPr/>
        </p:nvSpPr>
        <p:spPr bwMode="auto">
          <a:xfrm>
            <a:off x="7646695" y="1501465"/>
            <a:ext cx="288925" cy="360362"/>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pPr algn="ctr">
              <a:spcBef>
                <a:spcPct val="0"/>
              </a:spcBef>
            </a:pPr>
            <a:r>
              <a:rPr lang="en-US" altLang="zh-CN" sz="1800">
                <a:solidFill>
                  <a:srgbClr val="3333FF"/>
                </a:solidFill>
                <a:latin typeface="Consolas" pitchFamily="49" charset="0"/>
                <a:cs typeface="Consolas" pitchFamily="49" charset="0"/>
              </a:rPr>
              <a:t>6</a:t>
            </a:r>
          </a:p>
        </p:txBody>
      </p:sp>
      <p:sp>
        <p:nvSpPr>
          <p:cNvPr id="13" name="Freeform 12">
            <a:extLst>
              <a:ext uri="{FF2B5EF4-FFF2-40B4-BE49-F238E27FC236}">
                <a16:creationId xmlns:a16="http://schemas.microsoft.com/office/drawing/2014/main" id="{F2EAB705-6B6A-7F9B-A703-10A6DF0CCDD1}"/>
              </a:ext>
            </a:extLst>
          </p:cNvPr>
          <p:cNvSpPr>
            <a:spLocks/>
          </p:cNvSpPr>
          <p:nvPr/>
        </p:nvSpPr>
        <p:spPr bwMode="auto">
          <a:xfrm>
            <a:off x="4728870" y="1096652"/>
            <a:ext cx="469900" cy="381000"/>
          </a:xfrm>
          <a:custGeom>
            <a:avLst/>
            <a:gdLst/>
            <a:ahLst/>
            <a:cxnLst>
              <a:cxn ang="0">
                <a:pos x="0" y="240"/>
              </a:cxn>
              <a:cxn ang="0">
                <a:pos x="296" y="0"/>
              </a:cxn>
            </a:cxnLst>
            <a:rect l="0" t="0" r="r" b="b"/>
            <a:pathLst>
              <a:path w="296" h="240">
                <a:moveTo>
                  <a:pt x="0" y="240"/>
                </a:moveTo>
                <a:lnTo>
                  <a:pt x="296" y="0"/>
                </a:lnTo>
              </a:path>
            </a:pathLst>
          </a:custGeom>
          <a:noFill/>
          <a:ln w="19050" cap="flat" cmpd="sng">
            <a:solidFill>
              <a:srgbClr val="3333FF"/>
            </a:solidFill>
            <a:prstDash val="solid"/>
            <a:round/>
            <a:headEnd type="none" w="med" len="med"/>
            <a:tailEnd type="stealth" w="med" len="lg"/>
          </a:ln>
          <a:effectLst/>
        </p:spPr>
        <p:txBody>
          <a:bodyPr wrap="none"/>
          <a:lstStyle/>
          <a:p>
            <a:endParaRPr lang="zh-CN" altLang="en-US">
              <a:latin typeface="Consolas" pitchFamily="49" charset="0"/>
              <a:cs typeface="Consolas" pitchFamily="49" charset="0"/>
            </a:endParaRPr>
          </a:p>
        </p:txBody>
      </p:sp>
      <p:sp>
        <p:nvSpPr>
          <p:cNvPr id="14" name="Line 13">
            <a:extLst>
              <a:ext uri="{FF2B5EF4-FFF2-40B4-BE49-F238E27FC236}">
                <a16:creationId xmlns:a16="http://schemas.microsoft.com/office/drawing/2014/main" id="{6510CBCC-8C15-2847-09BB-D2082D13A54D}"/>
              </a:ext>
            </a:extLst>
          </p:cNvPr>
          <p:cNvSpPr>
            <a:spLocks noChangeShapeType="1"/>
          </p:cNvSpPr>
          <p:nvPr/>
        </p:nvSpPr>
        <p:spPr bwMode="auto">
          <a:xfrm>
            <a:off x="4766970" y="1645927"/>
            <a:ext cx="1152525" cy="0"/>
          </a:xfrm>
          <a:prstGeom prst="line">
            <a:avLst/>
          </a:prstGeom>
          <a:noFill/>
          <a:ln w="19050">
            <a:solidFill>
              <a:srgbClr val="3333FF"/>
            </a:solidFill>
            <a:round/>
            <a:headEnd/>
            <a:tailEnd type="stealth" w="med" len="lg"/>
          </a:ln>
          <a:effectLst/>
        </p:spPr>
        <p:txBody>
          <a:bodyPr wrap="none"/>
          <a:lstStyle/>
          <a:p>
            <a:endParaRPr lang="zh-CN" altLang="en-US">
              <a:latin typeface="Consolas" pitchFamily="49" charset="0"/>
              <a:cs typeface="Consolas" pitchFamily="49" charset="0"/>
            </a:endParaRPr>
          </a:p>
        </p:txBody>
      </p:sp>
      <p:sp>
        <p:nvSpPr>
          <p:cNvPr id="15" name="Line 14">
            <a:extLst>
              <a:ext uri="{FF2B5EF4-FFF2-40B4-BE49-F238E27FC236}">
                <a16:creationId xmlns:a16="http://schemas.microsoft.com/office/drawing/2014/main" id="{B1E7DE45-2260-BE81-3E80-1240945B50C8}"/>
              </a:ext>
            </a:extLst>
          </p:cNvPr>
          <p:cNvSpPr>
            <a:spLocks noChangeShapeType="1"/>
          </p:cNvSpPr>
          <p:nvPr/>
        </p:nvSpPr>
        <p:spPr bwMode="auto">
          <a:xfrm>
            <a:off x="4708232" y="1755465"/>
            <a:ext cx="574675" cy="431800"/>
          </a:xfrm>
          <a:prstGeom prst="line">
            <a:avLst/>
          </a:prstGeom>
          <a:noFill/>
          <a:ln w="19050">
            <a:solidFill>
              <a:srgbClr val="3333FF"/>
            </a:solidFill>
            <a:round/>
            <a:headEnd/>
            <a:tailEnd type="stealth" w="med" len="lg"/>
          </a:ln>
          <a:effectLst/>
        </p:spPr>
        <p:txBody>
          <a:bodyPr wrap="none"/>
          <a:lstStyle/>
          <a:p>
            <a:endParaRPr lang="zh-CN" altLang="en-US">
              <a:latin typeface="Consolas" pitchFamily="49" charset="0"/>
              <a:cs typeface="Consolas" pitchFamily="49" charset="0"/>
            </a:endParaRPr>
          </a:p>
        </p:txBody>
      </p:sp>
      <p:sp>
        <p:nvSpPr>
          <p:cNvPr id="16" name="Line 15">
            <a:extLst>
              <a:ext uri="{FF2B5EF4-FFF2-40B4-BE49-F238E27FC236}">
                <a16:creationId xmlns:a16="http://schemas.microsoft.com/office/drawing/2014/main" id="{FE15F417-7338-D8BD-8B53-1953CC2053B1}"/>
              </a:ext>
            </a:extLst>
          </p:cNvPr>
          <p:cNvSpPr>
            <a:spLocks noChangeShapeType="1"/>
          </p:cNvSpPr>
          <p:nvPr/>
        </p:nvSpPr>
        <p:spPr bwMode="auto">
          <a:xfrm>
            <a:off x="5487695" y="998227"/>
            <a:ext cx="1366837" cy="0"/>
          </a:xfrm>
          <a:prstGeom prst="line">
            <a:avLst/>
          </a:prstGeom>
          <a:noFill/>
          <a:ln w="19050">
            <a:solidFill>
              <a:srgbClr val="3333FF"/>
            </a:solidFill>
            <a:round/>
            <a:headEnd/>
            <a:tailEnd type="stealth" w="med" len="lg"/>
          </a:ln>
          <a:effectLst/>
        </p:spPr>
        <p:txBody>
          <a:bodyPr wrap="none"/>
          <a:lstStyle/>
          <a:p>
            <a:endParaRPr lang="zh-CN" altLang="en-US">
              <a:latin typeface="Consolas" pitchFamily="49" charset="0"/>
              <a:cs typeface="Consolas" pitchFamily="49" charset="0"/>
            </a:endParaRPr>
          </a:p>
        </p:txBody>
      </p:sp>
      <p:sp>
        <p:nvSpPr>
          <p:cNvPr id="17" name="Line 16">
            <a:extLst>
              <a:ext uri="{FF2B5EF4-FFF2-40B4-BE49-F238E27FC236}">
                <a16:creationId xmlns:a16="http://schemas.microsoft.com/office/drawing/2014/main" id="{F9891518-093F-8DC9-18A3-C5885C7B33F0}"/>
              </a:ext>
            </a:extLst>
          </p:cNvPr>
          <p:cNvSpPr>
            <a:spLocks noChangeShapeType="1"/>
          </p:cNvSpPr>
          <p:nvPr/>
        </p:nvSpPr>
        <p:spPr bwMode="auto">
          <a:xfrm>
            <a:off x="5559132" y="2293627"/>
            <a:ext cx="1295400" cy="0"/>
          </a:xfrm>
          <a:prstGeom prst="line">
            <a:avLst/>
          </a:prstGeom>
          <a:noFill/>
          <a:ln w="19050">
            <a:solidFill>
              <a:srgbClr val="3333FF"/>
            </a:solidFill>
            <a:round/>
            <a:headEnd/>
            <a:tailEnd type="stealth" w="med" len="lg"/>
          </a:ln>
          <a:effectLst/>
        </p:spPr>
        <p:txBody>
          <a:bodyPr wrap="none"/>
          <a:lstStyle/>
          <a:p>
            <a:endParaRPr lang="zh-CN" altLang="en-US">
              <a:latin typeface="Consolas" pitchFamily="49" charset="0"/>
              <a:cs typeface="Consolas" pitchFamily="49" charset="0"/>
            </a:endParaRPr>
          </a:p>
        </p:txBody>
      </p:sp>
      <p:sp>
        <p:nvSpPr>
          <p:cNvPr id="19" name="Freeform 17">
            <a:extLst>
              <a:ext uri="{FF2B5EF4-FFF2-40B4-BE49-F238E27FC236}">
                <a16:creationId xmlns:a16="http://schemas.microsoft.com/office/drawing/2014/main" id="{CAA03551-04CF-522E-097A-EC651A13AEE3}"/>
              </a:ext>
            </a:extLst>
          </p:cNvPr>
          <p:cNvSpPr>
            <a:spLocks/>
          </p:cNvSpPr>
          <p:nvPr/>
        </p:nvSpPr>
        <p:spPr bwMode="auto">
          <a:xfrm>
            <a:off x="5521032" y="1717365"/>
            <a:ext cx="469900" cy="407987"/>
          </a:xfrm>
          <a:custGeom>
            <a:avLst/>
            <a:gdLst/>
            <a:ahLst/>
            <a:cxnLst>
              <a:cxn ang="0">
                <a:pos x="0" y="257"/>
              </a:cxn>
              <a:cxn ang="0">
                <a:pos x="296" y="0"/>
              </a:cxn>
            </a:cxnLst>
            <a:rect l="0" t="0" r="r" b="b"/>
            <a:pathLst>
              <a:path w="296" h="257">
                <a:moveTo>
                  <a:pt x="0" y="257"/>
                </a:moveTo>
                <a:lnTo>
                  <a:pt x="296" y="0"/>
                </a:lnTo>
              </a:path>
            </a:pathLst>
          </a:custGeom>
          <a:noFill/>
          <a:ln w="19050">
            <a:solidFill>
              <a:srgbClr val="3333FF"/>
            </a:solidFill>
            <a:round/>
            <a:headEnd/>
            <a:tailEnd type="stealth" w="med" len="lg"/>
          </a:ln>
          <a:effectLst/>
        </p:spPr>
        <p:txBody>
          <a:bodyPr wrap="none"/>
          <a:lstStyle/>
          <a:p>
            <a:endParaRPr lang="zh-CN" altLang="en-US">
              <a:latin typeface="Consolas" pitchFamily="49" charset="0"/>
              <a:cs typeface="Consolas" pitchFamily="49" charset="0"/>
            </a:endParaRPr>
          </a:p>
        </p:txBody>
      </p:sp>
      <p:sp>
        <p:nvSpPr>
          <p:cNvPr id="20" name="Line 18">
            <a:extLst>
              <a:ext uri="{FF2B5EF4-FFF2-40B4-BE49-F238E27FC236}">
                <a16:creationId xmlns:a16="http://schemas.microsoft.com/office/drawing/2014/main" id="{1A26CC63-4B51-83B2-E0DC-1272F74D7B02}"/>
              </a:ext>
            </a:extLst>
          </p:cNvPr>
          <p:cNvSpPr>
            <a:spLocks noChangeShapeType="1"/>
          </p:cNvSpPr>
          <p:nvPr/>
        </p:nvSpPr>
        <p:spPr bwMode="auto">
          <a:xfrm>
            <a:off x="5462295" y="1141102"/>
            <a:ext cx="503237" cy="360363"/>
          </a:xfrm>
          <a:prstGeom prst="line">
            <a:avLst/>
          </a:prstGeom>
          <a:noFill/>
          <a:ln w="19050">
            <a:solidFill>
              <a:srgbClr val="3333FF"/>
            </a:solidFill>
            <a:round/>
            <a:headEnd/>
            <a:tailEnd type="stealth" w="med" len="lg"/>
          </a:ln>
          <a:effectLst/>
        </p:spPr>
        <p:txBody>
          <a:bodyPr wrap="none"/>
          <a:lstStyle/>
          <a:p>
            <a:endParaRPr lang="zh-CN" altLang="en-US">
              <a:latin typeface="Consolas" pitchFamily="49" charset="0"/>
              <a:cs typeface="Consolas" pitchFamily="49" charset="0"/>
            </a:endParaRPr>
          </a:p>
        </p:txBody>
      </p:sp>
      <p:sp>
        <p:nvSpPr>
          <p:cNvPr id="21" name="Freeform 19">
            <a:extLst>
              <a:ext uri="{FF2B5EF4-FFF2-40B4-BE49-F238E27FC236}">
                <a16:creationId xmlns:a16="http://schemas.microsoft.com/office/drawing/2014/main" id="{5E152B32-EECA-B0E9-54AF-877C3A6FC642}"/>
              </a:ext>
            </a:extLst>
          </p:cNvPr>
          <p:cNvSpPr>
            <a:spLocks/>
          </p:cNvSpPr>
          <p:nvPr/>
        </p:nvSpPr>
        <p:spPr bwMode="auto">
          <a:xfrm>
            <a:off x="6214770" y="1142690"/>
            <a:ext cx="639762" cy="411162"/>
          </a:xfrm>
          <a:custGeom>
            <a:avLst/>
            <a:gdLst/>
            <a:ahLst/>
            <a:cxnLst>
              <a:cxn ang="0">
                <a:pos x="0" y="259"/>
              </a:cxn>
              <a:cxn ang="0">
                <a:pos x="403" y="0"/>
              </a:cxn>
            </a:cxnLst>
            <a:rect l="0" t="0" r="r" b="b"/>
            <a:pathLst>
              <a:path w="403" h="259">
                <a:moveTo>
                  <a:pt x="0" y="259"/>
                </a:moveTo>
                <a:lnTo>
                  <a:pt x="403" y="0"/>
                </a:lnTo>
              </a:path>
            </a:pathLst>
          </a:custGeom>
          <a:noFill/>
          <a:ln w="19050" cap="flat" cmpd="sng">
            <a:solidFill>
              <a:srgbClr val="3333FF"/>
            </a:solidFill>
            <a:prstDash val="solid"/>
            <a:round/>
            <a:headEnd type="none" w="med" len="med"/>
            <a:tailEnd type="stealth" w="med" len="lg"/>
          </a:ln>
          <a:effectLst/>
        </p:spPr>
        <p:txBody>
          <a:bodyPr wrap="none"/>
          <a:lstStyle/>
          <a:p>
            <a:endParaRPr lang="zh-CN" altLang="en-US">
              <a:latin typeface="Consolas" pitchFamily="49" charset="0"/>
              <a:cs typeface="Consolas" pitchFamily="49" charset="0"/>
            </a:endParaRPr>
          </a:p>
        </p:txBody>
      </p:sp>
      <p:sp>
        <p:nvSpPr>
          <p:cNvPr id="22" name="Line 20">
            <a:extLst>
              <a:ext uri="{FF2B5EF4-FFF2-40B4-BE49-F238E27FC236}">
                <a16:creationId xmlns:a16="http://schemas.microsoft.com/office/drawing/2014/main" id="{A25C0A97-AC3B-6A4F-E1D7-2D92AFE2EEB2}"/>
              </a:ext>
            </a:extLst>
          </p:cNvPr>
          <p:cNvSpPr>
            <a:spLocks noChangeShapeType="1"/>
          </p:cNvSpPr>
          <p:nvPr/>
        </p:nvSpPr>
        <p:spPr bwMode="auto">
          <a:xfrm>
            <a:off x="6206832" y="1717365"/>
            <a:ext cx="647700" cy="431800"/>
          </a:xfrm>
          <a:prstGeom prst="line">
            <a:avLst/>
          </a:prstGeom>
          <a:noFill/>
          <a:ln w="19050">
            <a:solidFill>
              <a:srgbClr val="3333FF"/>
            </a:solidFill>
            <a:round/>
            <a:headEnd/>
            <a:tailEnd type="stealth" w="med" len="lg"/>
          </a:ln>
          <a:effectLst/>
        </p:spPr>
        <p:txBody>
          <a:bodyPr wrap="none"/>
          <a:lstStyle/>
          <a:p>
            <a:endParaRPr lang="zh-CN" altLang="en-US">
              <a:latin typeface="Consolas" pitchFamily="49" charset="0"/>
              <a:cs typeface="Consolas" pitchFamily="49" charset="0"/>
            </a:endParaRPr>
          </a:p>
        </p:txBody>
      </p:sp>
      <p:sp>
        <p:nvSpPr>
          <p:cNvPr id="23" name="Line 21">
            <a:extLst>
              <a:ext uri="{FF2B5EF4-FFF2-40B4-BE49-F238E27FC236}">
                <a16:creationId xmlns:a16="http://schemas.microsoft.com/office/drawing/2014/main" id="{87B1985D-3CC6-0A02-96D0-CCE98E9FC6F4}"/>
              </a:ext>
            </a:extLst>
          </p:cNvPr>
          <p:cNvSpPr>
            <a:spLocks noChangeShapeType="1"/>
          </p:cNvSpPr>
          <p:nvPr/>
        </p:nvSpPr>
        <p:spPr bwMode="auto">
          <a:xfrm flipV="1">
            <a:off x="6998995" y="1214127"/>
            <a:ext cx="0" cy="863600"/>
          </a:xfrm>
          <a:prstGeom prst="line">
            <a:avLst/>
          </a:prstGeom>
          <a:noFill/>
          <a:ln w="19050">
            <a:solidFill>
              <a:srgbClr val="3333FF"/>
            </a:solidFill>
            <a:round/>
            <a:headEnd/>
            <a:tailEnd type="stealth" w="med" len="lg"/>
          </a:ln>
          <a:effectLst/>
        </p:spPr>
        <p:txBody>
          <a:bodyPr wrap="none"/>
          <a:lstStyle/>
          <a:p>
            <a:endParaRPr lang="zh-CN" altLang="en-US">
              <a:latin typeface="Consolas" pitchFamily="49" charset="0"/>
              <a:cs typeface="Consolas" pitchFamily="49" charset="0"/>
            </a:endParaRPr>
          </a:p>
        </p:txBody>
      </p:sp>
      <p:sp>
        <p:nvSpPr>
          <p:cNvPr id="24" name="Line 22">
            <a:extLst>
              <a:ext uri="{FF2B5EF4-FFF2-40B4-BE49-F238E27FC236}">
                <a16:creationId xmlns:a16="http://schemas.microsoft.com/office/drawing/2014/main" id="{8BEE86FF-B757-58BE-34BA-CF3AED1B156E}"/>
              </a:ext>
            </a:extLst>
          </p:cNvPr>
          <p:cNvSpPr>
            <a:spLocks noChangeShapeType="1"/>
          </p:cNvSpPr>
          <p:nvPr/>
        </p:nvSpPr>
        <p:spPr bwMode="auto">
          <a:xfrm flipV="1">
            <a:off x="7143457" y="1815790"/>
            <a:ext cx="576263" cy="431800"/>
          </a:xfrm>
          <a:prstGeom prst="line">
            <a:avLst/>
          </a:prstGeom>
          <a:noFill/>
          <a:ln w="19050">
            <a:solidFill>
              <a:srgbClr val="3333FF"/>
            </a:solidFill>
            <a:round/>
            <a:headEnd/>
            <a:tailEnd type="stealth" w="med" len="lg"/>
          </a:ln>
          <a:effectLst/>
        </p:spPr>
        <p:txBody>
          <a:bodyPr wrap="none"/>
          <a:lstStyle/>
          <a:p>
            <a:endParaRPr lang="zh-CN" altLang="en-US">
              <a:latin typeface="Consolas" pitchFamily="49" charset="0"/>
              <a:cs typeface="Consolas" pitchFamily="49" charset="0"/>
            </a:endParaRPr>
          </a:p>
        </p:txBody>
      </p:sp>
      <p:sp>
        <p:nvSpPr>
          <p:cNvPr id="25" name="Line 23">
            <a:extLst>
              <a:ext uri="{FF2B5EF4-FFF2-40B4-BE49-F238E27FC236}">
                <a16:creationId xmlns:a16="http://schemas.microsoft.com/office/drawing/2014/main" id="{4D8E86BF-0BE1-5235-DD03-9F51EE18878C}"/>
              </a:ext>
            </a:extLst>
          </p:cNvPr>
          <p:cNvSpPr>
            <a:spLocks noChangeShapeType="1"/>
          </p:cNvSpPr>
          <p:nvPr/>
        </p:nvSpPr>
        <p:spPr bwMode="auto">
          <a:xfrm>
            <a:off x="7143457" y="1044265"/>
            <a:ext cx="576263" cy="503237"/>
          </a:xfrm>
          <a:prstGeom prst="line">
            <a:avLst/>
          </a:prstGeom>
          <a:noFill/>
          <a:ln w="19050">
            <a:solidFill>
              <a:srgbClr val="3333FF"/>
            </a:solidFill>
            <a:round/>
            <a:headEnd/>
            <a:tailEnd type="stealth" w="med" len="lg"/>
          </a:ln>
          <a:effectLst/>
        </p:spPr>
        <p:txBody>
          <a:bodyPr wrap="none"/>
          <a:lstStyle/>
          <a:p>
            <a:endParaRPr lang="zh-CN" altLang="en-US">
              <a:latin typeface="Consolas" pitchFamily="49" charset="0"/>
              <a:cs typeface="Consolas" pitchFamily="49" charset="0"/>
            </a:endParaRPr>
          </a:p>
        </p:txBody>
      </p:sp>
      <p:sp>
        <p:nvSpPr>
          <p:cNvPr id="26" name="Text Box 24">
            <a:extLst>
              <a:ext uri="{FF2B5EF4-FFF2-40B4-BE49-F238E27FC236}">
                <a16:creationId xmlns:a16="http://schemas.microsoft.com/office/drawing/2014/main" id="{D04B69D6-BF47-3829-62AB-3861FD6AE355}"/>
              </a:ext>
            </a:extLst>
          </p:cNvPr>
          <p:cNvSpPr txBox="1">
            <a:spLocks noChangeArrowheads="1"/>
          </p:cNvSpPr>
          <p:nvPr/>
        </p:nvSpPr>
        <p:spPr bwMode="auto">
          <a:xfrm>
            <a:off x="4622507" y="925202"/>
            <a:ext cx="433388" cy="338554"/>
          </a:xfrm>
          <a:prstGeom prst="rect">
            <a:avLst/>
          </a:prstGeom>
          <a:noFill/>
          <a:ln w="19050" algn="ctr">
            <a:noFill/>
            <a:miter lim="800000"/>
            <a:headEnd/>
            <a:tailEnd type="none" w="med" len="lg"/>
          </a:ln>
          <a:effectLst/>
        </p:spPr>
        <p:txBody>
          <a:bodyPr>
            <a:spAutoFit/>
          </a:bodyPr>
          <a:lstStyle/>
          <a:p>
            <a:pPr algn="ctr"/>
            <a:r>
              <a:rPr lang="en-US" altLang="zh-CN" sz="1600">
                <a:solidFill>
                  <a:srgbClr val="339933"/>
                </a:solidFill>
                <a:latin typeface="Consolas" pitchFamily="49" charset="0"/>
                <a:cs typeface="Consolas" pitchFamily="49" charset="0"/>
              </a:rPr>
              <a:t>4</a:t>
            </a:r>
          </a:p>
        </p:txBody>
      </p:sp>
      <p:sp>
        <p:nvSpPr>
          <p:cNvPr id="27" name="Text Box 26">
            <a:extLst>
              <a:ext uri="{FF2B5EF4-FFF2-40B4-BE49-F238E27FC236}">
                <a16:creationId xmlns:a16="http://schemas.microsoft.com/office/drawing/2014/main" id="{E6609CA1-F496-762B-8BDC-60B9B318944D}"/>
              </a:ext>
            </a:extLst>
          </p:cNvPr>
          <p:cNvSpPr txBox="1">
            <a:spLocks noChangeArrowheads="1"/>
          </p:cNvSpPr>
          <p:nvPr/>
        </p:nvSpPr>
        <p:spPr bwMode="auto">
          <a:xfrm>
            <a:off x="6133807" y="1079190"/>
            <a:ext cx="433388" cy="338554"/>
          </a:xfrm>
          <a:prstGeom prst="rect">
            <a:avLst/>
          </a:prstGeom>
          <a:noFill/>
          <a:ln w="19050" algn="ctr">
            <a:noFill/>
            <a:miter lim="800000"/>
            <a:headEnd/>
            <a:tailEnd type="none" w="med" len="lg"/>
          </a:ln>
          <a:effectLst/>
        </p:spPr>
        <p:txBody>
          <a:bodyPr>
            <a:spAutoFit/>
          </a:bodyPr>
          <a:lstStyle/>
          <a:p>
            <a:pPr algn="ctr"/>
            <a:r>
              <a:rPr lang="en-US" altLang="zh-CN" sz="1600">
                <a:solidFill>
                  <a:srgbClr val="339933"/>
                </a:solidFill>
                <a:latin typeface="Consolas" pitchFamily="49" charset="0"/>
                <a:cs typeface="Consolas" pitchFamily="49" charset="0"/>
              </a:rPr>
              <a:t>6</a:t>
            </a:r>
          </a:p>
        </p:txBody>
      </p:sp>
      <p:sp>
        <p:nvSpPr>
          <p:cNvPr id="28" name="Text Box 27">
            <a:extLst>
              <a:ext uri="{FF2B5EF4-FFF2-40B4-BE49-F238E27FC236}">
                <a16:creationId xmlns:a16="http://schemas.microsoft.com/office/drawing/2014/main" id="{A16A12E9-852C-FBE8-12B0-0ED9C6DD59CC}"/>
              </a:ext>
            </a:extLst>
          </p:cNvPr>
          <p:cNvSpPr txBox="1">
            <a:spLocks noChangeArrowheads="1"/>
          </p:cNvSpPr>
          <p:nvPr/>
        </p:nvSpPr>
        <p:spPr bwMode="auto">
          <a:xfrm>
            <a:off x="6879932" y="1418915"/>
            <a:ext cx="433388" cy="338554"/>
          </a:xfrm>
          <a:prstGeom prst="rect">
            <a:avLst/>
          </a:prstGeom>
          <a:noFill/>
          <a:ln w="19050" algn="ctr">
            <a:noFill/>
            <a:miter lim="800000"/>
            <a:headEnd/>
            <a:tailEnd type="none" w="med" len="lg"/>
          </a:ln>
          <a:effectLst/>
        </p:spPr>
        <p:txBody>
          <a:bodyPr>
            <a:spAutoFit/>
          </a:bodyPr>
          <a:lstStyle/>
          <a:p>
            <a:pPr algn="ctr"/>
            <a:r>
              <a:rPr lang="en-US" altLang="zh-CN" sz="1600">
                <a:solidFill>
                  <a:srgbClr val="339933"/>
                </a:solidFill>
                <a:latin typeface="Consolas" pitchFamily="49" charset="0"/>
                <a:cs typeface="Consolas" pitchFamily="49" charset="0"/>
              </a:rPr>
              <a:t>1</a:t>
            </a:r>
          </a:p>
        </p:txBody>
      </p:sp>
      <p:sp>
        <p:nvSpPr>
          <p:cNvPr id="29" name="Text Box 28">
            <a:extLst>
              <a:ext uri="{FF2B5EF4-FFF2-40B4-BE49-F238E27FC236}">
                <a16:creationId xmlns:a16="http://schemas.microsoft.com/office/drawing/2014/main" id="{DBDC8813-663C-DF00-EC66-3D61773E8DF6}"/>
              </a:ext>
            </a:extLst>
          </p:cNvPr>
          <p:cNvSpPr txBox="1">
            <a:spLocks noChangeArrowheads="1"/>
          </p:cNvSpPr>
          <p:nvPr/>
        </p:nvSpPr>
        <p:spPr bwMode="auto">
          <a:xfrm>
            <a:off x="7286332" y="960127"/>
            <a:ext cx="433388" cy="338554"/>
          </a:xfrm>
          <a:prstGeom prst="rect">
            <a:avLst/>
          </a:prstGeom>
          <a:noFill/>
          <a:ln w="19050" algn="ctr">
            <a:noFill/>
            <a:miter lim="800000"/>
            <a:headEnd/>
            <a:tailEnd type="none" w="med" len="lg"/>
          </a:ln>
          <a:effectLst/>
        </p:spPr>
        <p:txBody>
          <a:bodyPr>
            <a:spAutoFit/>
          </a:bodyPr>
          <a:lstStyle/>
          <a:p>
            <a:pPr algn="ctr"/>
            <a:r>
              <a:rPr lang="en-US" altLang="zh-CN" sz="1600">
                <a:solidFill>
                  <a:srgbClr val="339933"/>
                </a:solidFill>
                <a:latin typeface="Consolas" pitchFamily="49" charset="0"/>
                <a:cs typeface="Consolas" pitchFamily="49" charset="0"/>
              </a:rPr>
              <a:t>6</a:t>
            </a:r>
          </a:p>
        </p:txBody>
      </p:sp>
      <p:sp>
        <p:nvSpPr>
          <p:cNvPr id="30" name="Text Box 29">
            <a:extLst>
              <a:ext uri="{FF2B5EF4-FFF2-40B4-BE49-F238E27FC236}">
                <a16:creationId xmlns:a16="http://schemas.microsoft.com/office/drawing/2014/main" id="{00534B28-0ADE-A21B-C171-C4D372C209DD}"/>
              </a:ext>
            </a:extLst>
          </p:cNvPr>
          <p:cNvSpPr txBox="1">
            <a:spLocks noChangeArrowheads="1"/>
          </p:cNvSpPr>
          <p:nvPr/>
        </p:nvSpPr>
        <p:spPr bwMode="auto">
          <a:xfrm>
            <a:off x="7300620" y="1947552"/>
            <a:ext cx="433387" cy="338554"/>
          </a:xfrm>
          <a:prstGeom prst="rect">
            <a:avLst/>
          </a:prstGeom>
          <a:noFill/>
          <a:ln w="19050" algn="ctr">
            <a:noFill/>
            <a:miter lim="800000"/>
            <a:headEnd/>
            <a:tailEnd type="none" w="med" len="lg"/>
          </a:ln>
          <a:effectLst/>
        </p:spPr>
        <p:txBody>
          <a:bodyPr>
            <a:spAutoFit/>
          </a:bodyPr>
          <a:lstStyle/>
          <a:p>
            <a:pPr algn="ctr"/>
            <a:r>
              <a:rPr lang="en-US" altLang="zh-CN" sz="1600" dirty="0">
                <a:solidFill>
                  <a:srgbClr val="339933"/>
                </a:solidFill>
                <a:latin typeface="Consolas" pitchFamily="49" charset="0"/>
                <a:cs typeface="Consolas" pitchFamily="49" charset="0"/>
              </a:rPr>
              <a:t>8</a:t>
            </a:r>
          </a:p>
        </p:txBody>
      </p:sp>
      <p:sp>
        <p:nvSpPr>
          <p:cNvPr id="31" name="Text Box 30">
            <a:extLst>
              <a:ext uri="{FF2B5EF4-FFF2-40B4-BE49-F238E27FC236}">
                <a16:creationId xmlns:a16="http://schemas.microsoft.com/office/drawing/2014/main" id="{7DF6604F-43F4-EC4B-0C80-24781C8C66BF}"/>
              </a:ext>
            </a:extLst>
          </p:cNvPr>
          <p:cNvSpPr txBox="1">
            <a:spLocks noChangeArrowheads="1"/>
          </p:cNvSpPr>
          <p:nvPr/>
        </p:nvSpPr>
        <p:spPr bwMode="auto">
          <a:xfrm>
            <a:off x="5846470" y="2222190"/>
            <a:ext cx="433387" cy="338554"/>
          </a:xfrm>
          <a:prstGeom prst="rect">
            <a:avLst/>
          </a:prstGeom>
          <a:noFill/>
          <a:ln w="19050" algn="ctr">
            <a:noFill/>
            <a:miter lim="800000"/>
            <a:headEnd/>
            <a:tailEnd type="none" w="med" len="lg"/>
          </a:ln>
          <a:effectLst/>
        </p:spPr>
        <p:txBody>
          <a:bodyPr>
            <a:spAutoFit/>
          </a:bodyPr>
          <a:lstStyle/>
          <a:p>
            <a:pPr algn="ctr"/>
            <a:r>
              <a:rPr lang="en-US" altLang="zh-CN" sz="1600">
                <a:solidFill>
                  <a:srgbClr val="339933"/>
                </a:solidFill>
                <a:latin typeface="Consolas" pitchFamily="49" charset="0"/>
                <a:cs typeface="Consolas" pitchFamily="49" charset="0"/>
              </a:rPr>
              <a:t>5</a:t>
            </a:r>
          </a:p>
        </p:txBody>
      </p:sp>
      <p:sp>
        <p:nvSpPr>
          <p:cNvPr id="32" name="Text Box 31">
            <a:extLst>
              <a:ext uri="{FF2B5EF4-FFF2-40B4-BE49-F238E27FC236}">
                <a16:creationId xmlns:a16="http://schemas.microsoft.com/office/drawing/2014/main" id="{BFDCE7A9-A0E3-1FD8-06A2-8E67AECFD5FA}"/>
              </a:ext>
            </a:extLst>
          </p:cNvPr>
          <p:cNvSpPr txBox="1">
            <a:spLocks noChangeArrowheads="1"/>
          </p:cNvSpPr>
          <p:nvPr/>
        </p:nvSpPr>
        <p:spPr bwMode="auto">
          <a:xfrm>
            <a:off x="4622507" y="1825315"/>
            <a:ext cx="433388" cy="338554"/>
          </a:xfrm>
          <a:prstGeom prst="rect">
            <a:avLst/>
          </a:prstGeom>
          <a:noFill/>
          <a:ln w="19050" algn="ctr">
            <a:noFill/>
            <a:miter lim="800000"/>
            <a:headEnd/>
            <a:tailEnd type="none" w="med" len="lg"/>
          </a:ln>
          <a:effectLst/>
        </p:spPr>
        <p:txBody>
          <a:bodyPr>
            <a:spAutoFit/>
          </a:bodyPr>
          <a:lstStyle/>
          <a:p>
            <a:pPr algn="ctr"/>
            <a:r>
              <a:rPr lang="en-US" altLang="zh-CN" sz="1600">
                <a:solidFill>
                  <a:srgbClr val="339933"/>
                </a:solidFill>
                <a:latin typeface="Consolas" pitchFamily="49" charset="0"/>
                <a:cs typeface="Consolas" pitchFamily="49" charset="0"/>
              </a:rPr>
              <a:t>6</a:t>
            </a:r>
          </a:p>
        </p:txBody>
      </p:sp>
      <p:sp>
        <p:nvSpPr>
          <p:cNvPr id="33" name="Text Box 32">
            <a:extLst>
              <a:ext uri="{FF2B5EF4-FFF2-40B4-BE49-F238E27FC236}">
                <a16:creationId xmlns:a16="http://schemas.microsoft.com/office/drawing/2014/main" id="{CB34A65E-912C-DA74-9E6F-C3E5164CA829}"/>
              </a:ext>
            </a:extLst>
          </p:cNvPr>
          <p:cNvSpPr txBox="1">
            <a:spLocks noChangeArrowheads="1"/>
          </p:cNvSpPr>
          <p:nvPr/>
        </p:nvSpPr>
        <p:spPr bwMode="auto">
          <a:xfrm>
            <a:off x="5054307" y="1298265"/>
            <a:ext cx="433388" cy="338554"/>
          </a:xfrm>
          <a:prstGeom prst="rect">
            <a:avLst/>
          </a:prstGeom>
          <a:noFill/>
          <a:ln w="19050" algn="ctr">
            <a:noFill/>
            <a:miter lim="800000"/>
            <a:headEnd/>
            <a:tailEnd type="none" w="med" len="lg"/>
          </a:ln>
          <a:effectLst/>
        </p:spPr>
        <p:txBody>
          <a:bodyPr>
            <a:spAutoFit/>
          </a:bodyPr>
          <a:lstStyle/>
          <a:p>
            <a:pPr algn="ctr"/>
            <a:r>
              <a:rPr lang="en-US" altLang="zh-CN" sz="1600">
                <a:solidFill>
                  <a:srgbClr val="339933"/>
                </a:solidFill>
                <a:latin typeface="Consolas" pitchFamily="49" charset="0"/>
                <a:cs typeface="Consolas" pitchFamily="49" charset="0"/>
              </a:rPr>
              <a:t>6</a:t>
            </a:r>
          </a:p>
        </p:txBody>
      </p:sp>
      <p:sp>
        <p:nvSpPr>
          <p:cNvPr id="34" name="Text Box 33">
            <a:extLst>
              <a:ext uri="{FF2B5EF4-FFF2-40B4-BE49-F238E27FC236}">
                <a16:creationId xmlns:a16="http://schemas.microsoft.com/office/drawing/2014/main" id="{32C1B7DB-E095-59BB-D0A7-A6312F549D3E}"/>
              </a:ext>
            </a:extLst>
          </p:cNvPr>
          <p:cNvSpPr txBox="1">
            <a:spLocks noChangeArrowheads="1"/>
          </p:cNvSpPr>
          <p:nvPr/>
        </p:nvSpPr>
        <p:spPr bwMode="auto">
          <a:xfrm>
            <a:off x="5443245" y="1718952"/>
            <a:ext cx="298450" cy="246221"/>
          </a:xfrm>
          <a:prstGeom prst="rect">
            <a:avLst/>
          </a:prstGeom>
          <a:noFill/>
          <a:ln w="19050" algn="ctr">
            <a:noFill/>
            <a:miter lim="800000"/>
            <a:headEnd/>
            <a:tailEnd type="none" w="med" len="lg"/>
          </a:ln>
          <a:effectLst/>
        </p:spPr>
        <p:txBody>
          <a:bodyPr lIns="0" tIns="0" rIns="0" bIns="0">
            <a:spAutoFit/>
          </a:bodyPr>
          <a:lstStyle/>
          <a:p>
            <a:pPr algn="ctr"/>
            <a:r>
              <a:rPr lang="en-US" altLang="zh-CN" sz="1600">
                <a:solidFill>
                  <a:srgbClr val="339933"/>
                </a:solidFill>
                <a:latin typeface="Consolas" pitchFamily="49" charset="0"/>
                <a:cs typeface="Consolas" pitchFamily="49" charset="0"/>
              </a:rPr>
              <a:t>2</a:t>
            </a:r>
          </a:p>
        </p:txBody>
      </p:sp>
      <p:sp>
        <p:nvSpPr>
          <p:cNvPr id="35" name="Text Box 34">
            <a:extLst>
              <a:ext uri="{FF2B5EF4-FFF2-40B4-BE49-F238E27FC236}">
                <a16:creationId xmlns:a16="http://schemas.microsoft.com/office/drawing/2014/main" id="{1AF612E3-F4B5-507C-8091-D10E9ED8F252}"/>
              </a:ext>
            </a:extLst>
          </p:cNvPr>
          <p:cNvSpPr txBox="1">
            <a:spLocks noChangeArrowheads="1"/>
          </p:cNvSpPr>
          <p:nvPr/>
        </p:nvSpPr>
        <p:spPr bwMode="auto">
          <a:xfrm>
            <a:off x="6303670" y="1560202"/>
            <a:ext cx="433387" cy="338554"/>
          </a:xfrm>
          <a:prstGeom prst="rect">
            <a:avLst/>
          </a:prstGeom>
          <a:noFill/>
          <a:ln w="19050" algn="ctr">
            <a:noFill/>
            <a:miter lim="800000"/>
            <a:headEnd/>
            <a:tailEnd type="none" w="med" len="lg"/>
          </a:ln>
          <a:effectLst/>
        </p:spPr>
        <p:txBody>
          <a:bodyPr>
            <a:spAutoFit/>
          </a:bodyPr>
          <a:lstStyle/>
          <a:p>
            <a:pPr algn="ctr"/>
            <a:r>
              <a:rPr lang="en-US" altLang="zh-CN" sz="1600">
                <a:solidFill>
                  <a:srgbClr val="339933"/>
                </a:solidFill>
                <a:latin typeface="Consolas" pitchFamily="49" charset="0"/>
                <a:cs typeface="Consolas" pitchFamily="49" charset="0"/>
              </a:rPr>
              <a:t>4</a:t>
            </a:r>
          </a:p>
        </p:txBody>
      </p:sp>
      <p:sp>
        <p:nvSpPr>
          <p:cNvPr id="36" name="Text Box 35">
            <a:extLst>
              <a:ext uri="{FF2B5EF4-FFF2-40B4-BE49-F238E27FC236}">
                <a16:creationId xmlns:a16="http://schemas.microsoft.com/office/drawing/2014/main" id="{9FC69C44-48AC-F481-D81B-170FC451199E}"/>
              </a:ext>
            </a:extLst>
          </p:cNvPr>
          <p:cNvSpPr txBox="1">
            <a:spLocks noChangeArrowheads="1"/>
          </p:cNvSpPr>
          <p:nvPr/>
        </p:nvSpPr>
        <p:spPr bwMode="auto">
          <a:xfrm>
            <a:off x="5559132" y="998227"/>
            <a:ext cx="287338" cy="246221"/>
          </a:xfrm>
          <a:prstGeom prst="rect">
            <a:avLst/>
          </a:prstGeom>
          <a:noFill/>
          <a:ln w="19050" algn="ctr">
            <a:noFill/>
            <a:miter lim="800000"/>
            <a:headEnd/>
            <a:tailEnd type="none" w="med" len="lg"/>
          </a:ln>
          <a:effectLst/>
        </p:spPr>
        <p:txBody>
          <a:bodyPr lIns="0" tIns="0" rIns="0" bIns="0">
            <a:spAutoFit/>
          </a:bodyPr>
          <a:lstStyle/>
          <a:p>
            <a:pPr algn="ctr"/>
            <a:r>
              <a:rPr lang="en-US" altLang="zh-CN" sz="1600">
                <a:solidFill>
                  <a:srgbClr val="339933"/>
                </a:solidFill>
                <a:latin typeface="Consolas" pitchFamily="49" charset="0"/>
                <a:cs typeface="Consolas" pitchFamily="49" charset="0"/>
              </a:rPr>
              <a:t>1</a:t>
            </a:r>
          </a:p>
        </p:txBody>
      </p:sp>
      <p:sp>
        <p:nvSpPr>
          <p:cNvPr id="37" name="Text Box 37">
            <a:extLst>
              <a:ext uri="{FF2B5EF4-FFF2-40B4-BE49-F238E27FC236}">
                <a16:creationId xmlns:a16="http://schemas.microsoft.com/office/drawing/2014/main" id="{5D040C21-BEFE-AFAD-D22D-96B0514252D5}"/>
              </a:ext>
            </a:extLst>
          </p:cNvPr>
          <p:cNvSpPr txBox="1">
            <a:spLocks noChangeArrowheads="1"/>
          </p:cNvSpPr>
          <p:nvPr/>
        </p:nvSpPr>
        <p:spPr bwMode="auto">
          <a:xfrm>
            <a:off x="1847528" y="2636912"/>
            <a:ext cx="8208963" cy="313932"/>
          </a:xfrm>
          <a:prstGeom prst="rect">
            <a:avLst/>
          </a:prstGeom>
          <a:noFill/>
          <a:ln w="19050" algn="ctr">
            <a:noFill/>
            <a:miter lim="800000"/>
            <a:headEnd/>
            <a:tailEnd type="none" w="med" len="lg"/>
          </a:ln>
          <a:effectLst/>
        </p:spPr>
        <p:txBody>
          <a:bodyPr>
            <a:spAutoFit/>
          </a:bodyPr>
          <a:lstStyle/>
          <a:p>
            <a:pPr algn="just">
              <a:lnSpc>
                <a:spcPct val="80000"/>
              </a:lnSpc>
            </a:pPr>
            <a:r>
              <a:rPr kumimoji="1" lang="en-US" altLang="zh-CN" sz="1800">
                <a:solidFill>
                  <a:srgbClr val="FF00FF"/>
                </a:solidFill>
                <a:latin typeface="Consolas" pitchFamily="49" charset="0"/>
                <a:cs typeface="Consolas" pitchFamily="49" charset="0"/>
              </a:rPr>
              <a:t>S	      U	                dist[]                 path[]</a:t>
            </a:r>
            <a:endParaRPr lang="en-US" altLang="zh-CN" sz="1800">
              <a:solidFill>
                <a:srgbClr val="FF00FF"/>
              </a:solidFill>
              <a:latin typeface="Consolas" pitchFamily="49" charset="0"/>
              <a:cs typeface="Consolas" pitchFamily="49" charset="0"/>
            </a:endParaRPr>
          </a:p>
        </p:txBody>
      </p:sp>
      <p:sp>
        <p:nvSpPr>
          <p:cNvPr id="38" name="Text Box 40">
            <a:extLst>
              <a:ext uri="{FF2B5EF4-FFF2-40B4-BE49-F238E27FC236}">
                <a16:creationId xmlns:a16="http://schemas.microsoft.com/office/drawing/2014/main" id="{C580C440-D32F-ACDC-A3DA-D298D511984A}"/>
              </a:ext>
            </a:extLst>
          </p:cNvPr>
          <p:cNvSpPr txBox="1">
            <a:spLocks noChangeArrowheads="1"/>
          </p:cNvSpPr>
          <p:nvPr/>
        </p:nvSpPr>
        <p:spPr bwMode="auto">
          <a:xfrm>
            <a:off x="4620888" y="3119127"/>
            <a:ext cx="2441614" cy="246221"/>
          </a:xfrm>
          <a:prstGeom prst="rect">
            <a:avLst/>
          </a:prstGeom>
          <a:noFill/>
          <a:ln w="19050" algn="ctr">
            <a:noFill/>
            <a:miter lim="800000"/>
            <a:headEnd/>
            <a:tailEnd type="none" w="med" len="lg"/>
          </a:ln>
          <a:effectLst/>
        </p:spPr>
        <p:txBody>
          <a:bodyPr wrap="square" lIns="0" tIns="0" rIns="0" bIns="0">
            <a:spAutoFit/>
          </a:bodyPr>
          <a:lstStyle/>
          <a:p>
            <a:r>
              <a:rPr lang="en-US" altLang="zh-CN" sz="1600" dirty="0">
                <a:solidFill>
                  <a:srgbClr val="006600"/>
                </a:solidFill>
                <a:latin typeface="Consolas" pitchFamily="49" charset="0"/>
                <a:cs typeface="Consolas" pitchFamily="49" charset="0"/>
              </a:rPr>
              <a:t>0   1  2  3   </a:t>
            </a:r>
            <a:r>
              <a:rPr lang="en-US" altLang="zh-CN" sz="1600">
                <a:solidFill>
                  <a:srgbClr val="006600"/>
                </a:solidFill>
                <a:latin typeface="Consolas" pitchFamily="49" charset="0"/>
                <a:cs typeface="Consolas" pitchFamily="49" charset="0"/>
              </a:rPr>
              <a:t>4  5  </a:t>
            </a:r>
            <a:r>
              <a:rPr lang="en-US" altLang="zh-CN" sz="1600" dirty="0">
                <a:solidFill>
                  <a:srgbClr val="006600"/>
                </a:solidFill>
                <a:latin typeface="Consolas" pitchFamily="49" charset="0"/>
                <a:cs typeface="Consolas" pitchFamily="49" charset="0"/>
              </a:rPr>
              <a:t>6</a:t>
            </a:r>
          </a:p>
        </p:txBody>
      </p:sp>
      <p:sp>
        <p:nvSpPr>
          <p:cNvPr id="39" name="Text Box 41">
            <a:extLst>
              <a:ext uri="{FF2B5EF4-FFF2-40B4-BE49-F238E27FC236}">
                <a16:creationId xmlns:a16="http://schemas.microsoft.com/office/drawing/2014/main" id="{0FB1F61D-45DA-FCEA-31B2-57A343AD1824}"/>
              </a:ext>
            </a:extLst>
          </p:cNvPr>
          <p:cNvSpPr txBox="1">
            <a:spLocks noChangeArrowheads="1"/>
          </p:cNvSpPr>
          <p:nvPr/>
        </p:nvSpPr>
        <p:spPr bwMode="auto">
          <a:xfrm>
            <a:off x="7646673" y="3119127"/>
            <a:ext cx="2487663" cy="246221"/>
          </a:xfrm>
          <a:prstGeom prst="rect">
            <a:avLst/>
          </a:prstGeom>
          <a:noFill/>
          <a:ln w="19050" algn="ctr">
            <a:noFill/>
            <a:miter lim="800000"/>
            <a:headEnd/>
            <a:tailEnd type="none" w="med" len="lg"/>
          </a:ln>
          <a:effectLst/>
        </p:spPr>
        <p:txBody>
          <a:bodyPr wrap="square" lIns="0" tIns="0" rIns="0" bIns="0">
            <a:spAutoFit/>
          </a:bodyPr>
          <a:lstStyle/>
          <a:p>
            <a:r>
              <a:rPr lang="en-US" altLang="zh-CN" sz="1600">
                <a:solidFill>
                  <a:srgbClr val="006600"/>
                </a:solidFill>
                <a:latin typeface="Consolas" pitchFamily="49" charset="0"/>
                <a:cs typeface="Consolas" pitchFamily="49" charset="0"/>
              </a:rPr>
              <a:t>0  1  2  3   4  5   6</a:t>
            </a:r>
          </a:p>
        </p:txBody>
      </p:sp>
      <p:sp>
        <p:nvSpPr>
          <p:cNvPr id="40" name="Text Box 50">
            <a:extLst>
              <a:ext uri="{FF2B5EF4-FFF2-40B4-BE49-F238E27FC236}">
                <a16:creationId xmlns:a16="http://schemas.microsoft.com/office/drawing/2014/main" id="{1FA6BECE-BF1A-8387-C892-BE4839589126}"/>
              </a:ext>
            </a:extLst>
          </p:cNvPr>
          <p:cNvSpPr txBox="1">
            <a:spLocks noChangeArrowheads="1"/>
          </p:cNvSpPr>
          <p:nvPr/>
        </p:nvSpPr>
        <p:spPr bwMode="auto">
          <a:xfrm>
            <a:off x="1669757" y="3560448"/>
            <a:ext cx="792163" cy="246221"/>
          </a:xfrm>
          <a:prstGeom prst="rect">
            <a:avLst/>
          </a:prstGeom>
          <a:noFill/>
          <a:ln w="38100" algn="ctr">
            <a:noFill/>
            <a:miter lim="800000"/>
            <a:headEnd/>
            <a:tailEnd type="none" w="med" len="lg"/>
          </a:ln>
          <a:effectLst/>
        </p:spPr>
        <p:txBody>
          <a:bodyPr lIns="0" tIns="0" rIns="0" bIns="0">
            <a:spAutoFit/>
          </a:bodyPr>
          <a:lstStyle/>
          <a:p>
            <a:pPr algn="ctr"/>
            <a:r>
              <a:rPr lang="en-US" altLang="zh-CN" sz="1600" dirty="0">
                <a:latin typeface="Consolas" pitchFamily="49" charset="0"/>
                <a:cs typeface="Consolas" pitchFamily="49" charset="0"/>
              </a:rPr>
              <a:t>{0,1,</a:t>
            </a:r>
            <a:r>
              <a:rPr lang="en-US" altLang="zh-CN" sz="1600" dirty="0">
                <a:solidFill>
                  <a:srgbClr val="FF3300"/>
                </a:solidFill>
                <a:latin typeface="Consolas" pitchFamily="49" charset="0"/>
                <a:cs typeface="Consolas" pitchFamily="49" charset="0"/>
              </a:rPr>
              <a:t>2</a:t>
            </a:r>
            <a:r>
              <a:rPr lang="en-US" altLang="zh-CN" sz="1600" dirty="0">
                <a:latin typeface="Consolas" pitchFamily="49" charset="0"/>
                <a:cs typeface="Consolas" pitchFamily="49" charset="0"/>
              </a:rPr>
              <a:t>}</a:t>
            </a:r>
          </a:p>
        </p:txBody>
      </p:sp>
      <p:sp>
        <p:nvSpPr>
          <p:cNvPr id="41" name="Text Box 51">
            <a:extLst>
              <a:ext uri="{FF2B5EF4-FFF2-40B4-BE49-F238E27FC236}">
                <a16:creationId xmlns:a16="http://schemas.microsoft.com/office/drawing/2014/main" id="{CD5AFDEC-0DA1-8745-CAA0-FE638B1B3791}"/>
              </a:ext>
            </a:extLst>
          </p:cNvPr>
          <p:cNvSpPr txBox="1">
            <a:spLocks noChangeArrowheads="1"/>
          </p:cNvSpPr>
          <p:nvPr/>
        </p:nvSpPr>
        <p:spPr bwMode="auto">
          <a:xfrm>
            <a:off x="2847660" y="3560448"/>
            <a:ext cx="1441450" cy="246221"/>
          </a:xfrm>
          <a:prstGeom prst="rect">
            <a:avLst/>
          </a:prstGeom>
          <a:noFill/>
          <a:ln w="38100" algn="ctr">
            <a:noFill/>
            <a:miter lim="800000"/>
            <a:headEnd/>
            <a:tailEnd type="none" w="med" len="lg"/>
          </a:ln>
          <a:effectLst/>
        </p:spPr>
        <p:txBody>
          <a:bodyPr lIns="0" tIns="0" rIns="0" bIns="0">
            <a:spAutoFit/>
          </a:bodyPr>
          <a:lstStyle/>
          <a:p>
            <a:pPr algn="ctr"/>
            <a:r>
              <a:rPr lang="en-US" altLang="zh-CN" sz="1600" dirty="0">
                <a:latin typeface="Consolas" pitchFamily="49" charset="0"/>
                <a:cs typeface="Consolas" pitchFamily="49" charset="0"/>
              </a:rPr>
              <a:t>{3,4,5,6}</a:t>
            </a:r>
          </a:p>
        </p:txBody>
      </p:sp>
      <p:sp>
        <p:nvSpPr>
          <p:cNvPr id="42" name="Text Box 52">
            <a:extLst>
              <a:ext uri="{FF2B5EF4-FFF2-40B4-BE49-F238E27FC236}">
                <a16:creationId xmlns:a16="http://schemas.microsoft.com/office/drawing/2014/main" id="{B066A24F-7DB5-BA99-F2FA-429FA51F01D8}"/>
              </a:ext>
            </a:extLst>
          </p:cNvPr>
          <p:cNvSpPr txBox="1">
            <a:spLocks noChangeArrowheads="1"/>
          </p:cNvSpPr>
          <p:nvPr/>
        </p:nvSpPr>
        <p:spPr bwMode="auto">
          <a:xfrm>
            <a:off x="4514526" y="3573148"/>
            <a:ext cx="2449513" cy="246221"/>
          </a:xfrm>
          <a:prstGeom prst="rect">
            <a:avLst/>
          </a:prstGeom>
          <a:noFill/>
          <a:ln w="38100" algn="ctr">
            <a:noFill/>
            <a:miter lim="800000"/>
            <a:headEnd/>
            <a:tailEnd type="none" w="med" len="lg"/>
          </a:ln>
          <a:effectLst/>
        </p:spPr>
        <p:txBody>
          <a:bodyPr lIns="0" tIns="0" rIns="0" bIns="0">
            <a:spAutoFit/>
          </a:bodyPr>
          <a:lstStyle/>
          <a:p>
            <a:r>
              <a:rPr lang="en-US" altLang="zh-CN" sz="1600" dirty="0">
                <a:latin typeface="Consolas" pitchFamily="49" charset="0"/>
                <a:cs typeface="Consolas" pitchFamily="49" charset="0"/>
              </a:rPr>
              <a:t>{0,  </a:t>
            </a:r>
            <a:r>
              <a:rPr lang="en-US" altLang="zh-CN" sz="1600" dirty="0">
                <a:solidFill>
                  <a:srgbClr val="0000FF"/>
                </a:solidFill>
                <a:latin typeface="Consolas" pitchFamily="49" charset="0"/>
                <a:cs typeface="Consolas" pitchFamily="49" charset="0"/>
              </a:rPr>
              <a:t>4,</a:t>
            </a:r>
            <a:r>
              <a:rPr lang="en-US" altLang="zh-CN" sz="1600" dirty="0">
                <a:solidFill>
                  <a:srgbClr val="FF3300"/>
                </a:solidFill>
                <a:latin typeface="Consolas" pitchFamily="49" charset="0"/>
                <a:cs typeface="Consolas" pitchFamily="49" charset="0"/>
              </a:rPr>
              <a:t> </a:t>
            </a:r>
            <a:r>
              <a:rPr lang="en-US" altLang="zh-CN" sz="1600" dirty="0">
                <a:latin typeface="Consolas" pitchFamily="49" charset="0"/>
                <a:cs typeface="Consolas" pitchFamily="49" charset="0"/>
              </a:rPr>
              <a:t>5, </a:t>
            </a:r>
            <a:r>
              <a:rPr lang="en-US" altLang="zh-CN" sz="1600" u="heavy" dirty="0">
                <a:uFill>
                  <a:solidFill>
                    <a:srgbClr val="C00000"/>
                  </a:solidFill>
                </a:uFill>
                <a:latin typeface="Consolas" pitchFamily="49" charset="0"/>
                <a:cs typeface="Consolas" pitchFamily="49" charset="0"/>
              </a:rPr>
              <a:t>6, 11,</a:t>
            </a:r>
            <a:r>
              <a:rPr lang="en-US" altLang="zh-CN" sz="1600" u="heavy" dirty="0">
                <a:solidFill>
                  <a:srgbClr val="6600CC"/>
                </a:solidFill>
                <a:uFill>
                  <a:solidFill>
                    <a:srgbClr val="C00000"/>
                  </a:solidFill>
                </a:uFill>
                <a:latin typeface="Consolas" pitchFamily="49" charset="0"/>
                <a:cs typeface="Consolas" pitchFamily="49" charset="0"/>
              </a:rPr>
              <a:t> </a:t>
            </a:r>
            <a:r>
              <a:rPr lang="en-US" altLang="zh-CN" sz="1600" u="heavy" dirty="0">
                <a:solidFill>
                  <a:srgbClr val="FF0000"/>
                </a:solidFill>
                <a:uFill>
                  <a:solidFill>
                    <a:srgbClr val="C00000"/>
                  </a:solidFill>
                </a:uFill>
                <a:latin typeface="Consolas" pitchFamily="49" charset="0"/>
                <a:cs typeface="Consolas" pitchFamily="49" charset="0"/>
              </a:rPr>
              <a:t>9</a:t>
            </a:r>
            <a:r>
              <a:rPr lang="en-US" altLang="zh-CN" sz="1600" u="heavy" dirty="0">
                <a:solidFill>
                  <a:srgbClr val="6600CC"/>
                </a:solidFill>
                <a:uFill>
                  <a:solidFill>
                    <a:srgbClr val="C00000"/>
                  </a:solidFill>
                </a:uFill>
                <a:latin typeface="Consolas" pitchFamily="49" charset="0"/>
                <a:cs typeface="Consolas" pitchFamily="49" charset="0"/>
              </a:rPr>
              <a:t>, </a:t>
            </a:r>
            <a:r>
              <a:rPr lang="en-US" altLang="zh-CN" sz="1600" u="heavy" dirty="0">
                <a:uFill>
                  <a:solidFill>
                    <a:srgbClr val="C00000"/>
                  </a:solidFill>
                </a:uFill>
                <a:latin typeface="Consolas" pitchFamily="49" charset="0"/>
                <a:cs typeface="Consolas" pitchFamily="49" charset="0"/>
              </a:rPr>
              <a:t>∞</a:t>
            </a:r>
            <a:r>
              <a:rPr lang="en-US" altLang="zh-CN" sz="1600" dirty="0">
                <a:latin typeface="Consolas" pitchFamily="49" charset="0"/>
                <a:cs typeface="Consolas" pitchFamily="49" charset="0"/>
              </a:rPr>
              <a:t>}</a:t>
            </a:r>
          </a:p>
        </p:txBody>
      </p:sp>
      <p:sp>
        <p:nvSpPr>
          <p:cNvPr id="43" name="Text Box 53">
            <a:extLst>
              <a:ext uri="{FF2B5EF4-FFF2-40B4-BE49-F238E27FC236}">
                <a16:creationId xmlns:a16="http://schemas.microsoft.com/office/drawing/2014/main" id="{7CB57619-EDF4-7CFC-F4F1-D949B9BC4233}"/>
              </a:ext>
            </a:extLst>
          </p:cNvPr>
          <p:cNvSpPr txBox="1">
            <a:spLocks noChangeArrowheads="1"/>
          </p:cNvSpPr>
          <p:nvPr/>
        </p:nvSpPr>
        <p:spPr bwMode="auto">
          <a:xfrm>
            <a:off x="7529198" y="3573148"/>
            <a:ext cx="2748014" cy="246221"/>
          </a:xfrm>
          <a:prstGeom prst="rect">
            <a:avLst/>
          </a:prstGeom>
          <a:noFill/>
          <a:ln w="38100" algn="ctr">
            <a:noFill/>
            <a:miter lim="800000"/>
            <a:headEnd/>
            <a:tailEnd type="none" w="med" len="lg"/>
          </a:ln>
          <a:effectLst/>
        </p:spPr>
        <p:txBody>
          <a:bodyPr wrap="square" lIns="0" tIns="0" rIns="0" bIns="0">
            <a:spAutoFit/>
          </a:bodyPr>
          <a:lstStyle/>
          <a:p>
            <a:r>
              <a:rPr lang="en-US" altLang="zh-CN" sz="1600" dirty="0">
                <a:latin typeface="Consolas" pitchFamily="49" charset="0"/>
                <a:cs typeface="Consolas" pitchFamily="49" charset="0"/>
              </a:rPr>
              <a:t>{0, 0, 1, 0,  1,  </a:t>
            </a:r>
            <a:r>
              <a:rPr lang="en-US" altLang="zh-CN" sz="1600" dirty="0">
                <a:solidFill>
                  <a:srgbClr val="FF0000"/>
                </a:solidFill>
                <a:latin typeface="Consolas" pitchFamily="49" charset="0"/>
                <a:cs typeface="Consolas" pitchFamily="49" charset="0"/>
              </a:rPr>
              <a:t>2</a:t>
            </a:r>
            <a:r>
              <a:rPr lang="en-US" altLang="zh-CN" sz="1600" dirty="0">
                <a:latin typeface="Consolas" pitchFamily="49" charset="0"/>
                <a:cs typeface="Consolas" pitchFamily="49" charset="0"/>
              </a:rPr>
              <a:t>, -1}</a:t>
            </a:r>
          </a:p>
        </p:txBody>
      </p:sp>
      <p:sp>
        <p:nvSpPr>
          <p:cNvPr id="44" name="Text Box 77">
            <a:extLst>
              <a:ext uri="{FF2B5EF4-FFF2-40B4-BE49-F238E27FC236}">
                <a16:creationId xmlns:a16="http://schemas.microsoft.com/office/drawing/2014/main" id="{6D6D63F4-2369-2009-71C1-5DE838451B60}"/>
              </a:ext>
            </a:extLst>
          </p:cNvPr>
          <p:cNvSpPr txBox="1">
            <a:spLocks noChangeArrowheads="1"/>
          </p:cNvSpPr>
          <p:nvPr/>
        </p:nvSpPr>
        <p:spPr bwMode="auto">
          <a:xfrm>
            <a:off x="1633214" y="906531"/>
            <a:ext cx="1603357" cy="553998"/>
          </a:xfrm>
          <a:prstGeom prst="rect">
            <a:avLst/>
          </a:prstGeom>
          <a:ln>
            <a:headEnd/>
            <a:tailEnd/>
          </a:ln>
        </p:spPr>
        <p:style>
          <a:lnRef idx="1">
            <a:schemeClr val="accent4"/>
          </a:lnRef>
          <a:fillRef idx="3">
            <a:schemeClr val="accent4"/>
          </a:fillRef>
          <a:effectRef idx="2">
            <a:schemeClr val="accent4"/>
          </a:effectRef>
          <a:fontRef idx="minor">
            <a:schemeClr val="lt1"/>
          </a:fontRef>
        </p:style>
        <p:txBody>
          <a:bodyPr wrap="square" lIns="0" tIns="0" rIns="0" bIns="0">
            <a:spAutoFit/>
          </a:bodyPr>
          <a:lstStyle/>
          <a:p>
            <a:pPr algn="ctr"/>
            <a:r>
              <a:rPr lang="en-US" altLang="zh-CN" sz="1800" dirty="0" err="1">
                <a:solidFill>
                  <a:schemeClr val="bg1"/>
                </a:solidFill>
                <a:latin typeface="Consolas" pitchFamily="49" charset="0"/>
                <a:ea typeface="华文中宋" pitchFamily="2" charset="-122"/>
                <a:cs typeface="Consolas" pitchFamily="49" charset="0"/>
              </a:rPr>
              <a:t>Dijkstra</a:t>
            </a:r>
            <a:r>
              <a:rPr lang="zh-CN" altLang="en-US" sz="1800" dirty="0">
                <a:solidFill>
                  <a:schemeClr val="bg1"/>
                </a:solidFill>
                <a:latin typeface="Consolas" pitchFamily="49" charset="0"/>
                <a:ea typeface="华文中宋" pitchFamily="2" charset="-122"/>
                <a:cs typeface="Consolas" pitchFamily="49" charset="0"/>
              </a:rPr>
              <a:t>算法示例演示</a:t>
            </a:r>
          </a:p>
        </p:txBody>
      </p:sp>
      <p:grpSp>
        <p:nvGrpSpPr>
          <p:cNvPr id="45" name="组合 75">
            <a:extLst>
              <a:ext uri="{FF2B5EF4-FFF2-40B4-BE49-F238E27FC236}">
                <a16:creationId xmlns:a16="http://schemas.microsoft.com/office/drawing/2014/main" id="{367C2AAA-0117-2C64-AC57-5844677308D2}"/>
              </a:ext>
            </a:extLst>
          </p:cNvPr>
          <p:cNvGrpSpPr/>
          <p:nvPr/>
        </p:nvGrpSpPr>
        <p:grpSpPr>
          <a:xfrm>
            <a:off x="6136962" y="3854138"/>
            <a:ext cx="2068548" cy="428628"/>
            <a:chOff x="4572000" y="3214686"/>
            <a:chExt cx="2068548" cy="428628"/>
          </a:xfrm>
        </p:grpSpPr>
        <p:sp>
          <p:nvSpPr>
            <p:cNvPr id="46" name="下箭头 76">
              <a:extLst>
                <a:ext uri="{FF2B5EF4-FFF2-40B4-BE49-F238E27FC236}">
                  <a16:creationId xmlns:a16="http://schemas.microsoft.com/office/drawing/2014/main" id="{52E3A0EC-4836-2358-07EF-5E8115BD4AE5}"/>
                </a:ext>
              </a:extLst>
            </p:cNvPr>
            <p:cNvSpPr/>
            <p:nvPr/>
          </p:nvSpPr>
          <p:spPr>
            <a:xfrm>
              <a:off x="4572000" y="3214686"/>
              <a:ext cx="142876" cy="428628"/>
            </a:xfrm>
            <a:prstGeom prst="downArrow">
              <a:avLst/>
            </a:prstGeom>
          </p:spPr>
          <p:style>
            <a:lnRef idx="0">
              <a:schemeClr val="accent4"/>
            </a:lnRef>
            <a:fillRef idx="3">
              <a:schemeClr val="accent4"/>
            </a:fillRef>
            <a:effectRef idx="3">
              <a:schemeClr val="accent4"/>
            </a:effectRef>
            <a:fontRef idx="minor">
              <a:schemeClr val="lt1"/>
            </a:fontRef>
          </p:style>
          <p:txBody>
            <a:bodyPr rtlCol="0" anchor="ctr"/>
            <a:lstStyle/>
            <a:p>
              <a:pPr algn="ctr"/>
              <a:endParaRPr lang="zh-CN" altLang="en-US" sz="1600">
                <a:latin typeface="Consolas" pitchFamily="49" charset="0"/>
                <a:ea typeface="仿宋" pitchFamily="49" charset="-122"/>
                <a:cs typeface="Consolas" pitchFamily="49" charset="0"/>
              </a:endParaRPr>
            </a:p>
          </p:txBody>
        </p:sp>
        <p:sp>
          <p:nvSpPr>
            <p:cNvPr id="47" name="TextBox 77">
              <a:extLst>
                <a:ext uri="{FF2B5EF4-FFF2-40B4-BE49-F238E27FC236}">
                  <a16:creationId xmlns:a16="http://schemas.microsoft.com/office/drawing/2014/main" id="{8886285B-741A-FDE3-681E-1C96F920D742}"/>
                </a:ext>
              </a:extLst>
            </p:cNvPr>
            <p:cNvSpPr txBox="1"/>
            <p:nvPr/>
          </p:nvSpPr>
          <p:spPr>
            <a:xfrm>
              <a:off x="4711722" y="3258722"/>
              <a:ext cx="1928826" cy="369332"/>
            </a:xfrm>
            <a:prstGeom prst="rect">
              <a:avLst/>
            </a:prstGeom>
            <a:noFill/>
          </p:spPr>
          <p:txBody>
            <a:bodyPr wrap="square" rtlCol="0">
              <a:spAutoFit/>
            </a:bodyPr>
            <a:lstStyle/>
            <a:p>
              <a:r>
                <a:rPr lang="zh-CN" altLang="en-US" sz="1800" dirty="0">
                  <a:latin typeface="Consolas" pitchFamily="49" charset="0"/>
                  <a:ea typeface="仿宋" pitchFamily="49" charset="-122"/>
                  <a:cs typeface="Consolas" pitchFamily="49" charset="0"/>
                </a:rPr>
                <a:t>最小的顶点：</a:t>
              </a:r>
              <a:r>
                <a:rPr lang="en-US" altLang="zh-CN" sz="1800" dirty="0">
                  <a:solidFill>
                    <a:srgbClr val="FF0000"/>
                  </a:solidFill>
                  <a:latin typeface="Consolas" pitchFamily="49" charset="0"/>
                  <a:ea typeface="仿宋" pitchFamily="49" charset="-122"/>
                  <a:cs typeface="Consolas" pitchFamily="49" charset="0"/>
                </a:rPr>
                <a:t>3</a:t>
              </a:r>
              <a:endParaRPr lang="zh-CN" altLang="en-US" sz="1800" dirty="0">
                <a:latin typeface="Consolas" pitchFamily="49" charset="0"/>
                <a:ea typeface="仿宋" pitchFamily="49" charset="-122"/>
                <a:cs typeface="Consolas" pitchFamily="49" charset="0"/>
              </a:endParaRPr>
            </a:p>
          </p:txBody>
        </p:sp>
      </p:grpSp>
      <p:sp>
        <p:nvSpPr>
          <p:cNvPr id="48" name="Text Box 54">
            <a:extLst>
              <a:ext uri="{FF2B5EF4-FFF2-40B4-BE49-F238E27FC236}">
                <a16:creationId xmlns:a16="http://schemas.microsoft.com/office/drawing/2014/main" id="{A61A8FDD-9F10-99C5-CC80-A8F7F3F09FA6}"/>
              </a:ext>
            </a:extLst>
          </p:cNvPr>
          <p:cNvSpPr txBox="1">
            <a:spLocks noChangeArrowheads="1"/>
          </p:cNvSpPr>
          <p:nvPr/>
        </p:nvSpPr>
        <p:spPr bwMode="auto">
          <a:xfrm>
            <a:off x="1669757" y="4451042"/>
            <a:ext cx="936625" cy="246221"/>
          </a:xfrm>
          <a:prstGeom prst="rect">
            <a:avLst/>
          </a:prstGeom>
          <a:noFill/>
          <a:ln w="38100" algn="ctr">
            <a:noFill/>
            <a:miter lim="800000"/>
            <a:headEnd/>
            <a:tailEnd type="none" w="med" len="lg"/>
          </a:ln>
          <a:effectLst/>
        </p:spPr>
        <p:txBody>
          <a:bodyPr lIns="0" tIns="0" rIns="0" bIns="0">
            <a:spAutoFit/>
          </a:bodyPr>
          <a:lstStyle/>
          <a:p>
            <a:pPr algn="ctr"/>
            <a:r>
              <a:rPr lang="en-US" altLang="zh-CN" sz="1600" dirty="0">
                <a:latin typeface="Consolas" pitchFamily="49" charset="0"/>
                <a:cs typeface="Consolas" pitchFamily="49" charset="0"/>
              </a:rPr>
              <a:t>{0,1,2,</a:t>
            </a:r>
            <a:r>
              <a:rPr lang="en-US" altLang="zh-CN" sz="1600" dirty="0">
                <a:solidFill>
                  <a:srgbClr val="FF3300"/>
                </a:solidFill>
                <a:latin typeface="Consolas" pitchFamily="49" charset="0"/>
                <a:cs typeface="Consolas" pitchFamily="49" charset="0"/>
              </a:rPr>
              <a:t>3</a:t>
            </a:r>
            <a:r>
              <a:rPr lang="en-US" altLang="zh-CN" sz="1600" dirty="0">
                <a:latin typeface="Consolas" pitchFamily="49" charset="0"/>
                <a:cs typeface="Consolas" pitchFamily="49" charset="0"/>
              </a:rPr>
              <a:t>}</a:t>
            </a:r>
          </a:p>
        </p:txBody>
      </p:sp>
      <p:sp>
        <p:nvSpPr>
          <p:cNvPr id="49" name="Text Box 55">
            <a:extLst>
              <a:ext uri="{FF2B5EF4-FFF2-40B4-BE49-F238E27FC236}">
                <a16:creationId xmlns:a16="http://schemas.microsoft.com/office/drawing/2014/main" id="{0191D900-533E-E9D8-0D28-BD0D71C51823}"/>
              </a:ext>
            </a:extLst>
          </p:cNvPr>
          <p:cNvSpPr txBox="1">
            <a:spLocks noChangeArrowheads="1"/>
          </p:cNvSpPr>
          <p:nvPr/>
        </p:nvSpPr>
        <p:spPr bwMode="auto">
          <a:xfrm>
            <a:off x="2847660" y="4451042"/>
            <a:ext cx="1441450" cy="246221"/>
          </a:xfrm>
          <a:prstGeom prst="rect">
            <a:avLst/>
          </a:prstGeom>
          <a:noFill/>
          <a:ln w="38100" algn="ctr">
            <a:noFill/>
            <a:miter lim="800000"/>
            <a:headEnd/>
            <a:tailEnd type="none" w="med" len="lg"/>
          </a:ln>
          <a:effectLst/>
        </p:spPr>
        <p:txBody>
          <a:bodyPr lIns="0" tIns="0" rIns="0" bIns="0">
            <a:spAutoFit/>
          </a:bodyPr>
          <a:lstStyle/>
          <a:p>
            <a:pPr algn="ctr"/>
            <a:r>
              <a:rPr lang="en-US" altLang="zh-CN" sz="1600">
                <a:latin typeface="Consolas" pitchFamily="49" charset="0"/>
                <a:cs typeface="Consolas" pitchFamily="49" charset="0"/>
              </a:rPr>
              <a:t>{4,5,6}</a:t>
            </a:r>
          </a:p>
        </p:txBody>
      </p:sp>
      <p:sp>
        <p:nvSpPr>
          <p:cNvPr id="50" name="Text Box 56">
            <a:extLst>
              <a:ext uri="{FF2B5EF4-FFF2-40B4-BE49-F238E27FC236}">
                <a16:creationId xmlns:a16="http://schemas.microsoft.com/office/drawing/2014/main" id="{FCD8FA8A-85D0-155C-EF66-20AB3DF69797}"/>
              </a:ext>
            </a:extLst>
          </p:cNvPr>
          <p:cNvSpPr txBox="1">
            <a:spLocks noChangeArrowheads="1"/>
          </p:cNvSpPr>
          <p:nvPr/>
        </p:nvSpPr>
        <p:spPr bwMode="auto">
          <a:xfrm>
            <a:off x="4514526" y="4463742"/>
            <a:ext cx="2449513" cy="246221"/>
          </a:xfrm>
          <a:prstGeom prst="rect">
            <a:avLst/>
          </a:prstGeom>
          <a:noFill/>
          <a:ln w="38100" algn="ctr">
            <a:noFill/>
            <a:miter lim="800000"/>
            <a:headEnd/>
            <a:tailEnd type="none" w="med" len="lg"/>
          </a:ln>
          <a:effectLst/>
        </p:spPr>
        <p:txBody>
          <a:bodyPr lIns="0" tIns="0" rIns="0" bIns="0">
            <a:spAutoFit/>
          </a:bodyPr>
          <a:lstStyle/>
          <a:p>
            <a:r>
              <a:rPr lang="en-US" altLang="zh-CN" sz="1600" dirty="0">
                <a:latin typeface="Consolas" pitchFamily="49" charset="0"/>
                <a:cs typeface="Consolas" pitchFamily="49" charset="0"/>
              </a:rPr>
              <a:t>{0,  </a:t>
            </a:r>
            <a:r>
              <a:rPr lang="en-US" altLang="zh-CN" sz="1600" dirty="0">
                <a:solidFill>
                  <a:srgbClr val="0000FF"/>
                </a:solidFill>
                <a:latin typeface="Consolas" pitchFamily="49" charset="0"/>
                <a:cs typeface="Consolas" pitchFamily="49" charset="0"/>
              </a:rPr>
              <a:t>4,</a:t>
            </a:r>
            <a:r>
              <a:rPr lang="en-US" altLang="zh-CN" sz="1600" dirty="0">
                <a:solidFill>
                  <a:srgbClr val="FF3300"/>
                </a:solidFill>
                <a:latin typeface="Consolas" pitchFamily="49" charset="0"/>
                <a:cs typeface="Consolas" pitchFamily="49" charset="0"/>
              </a:rPr>
              <a:t> </a:t>
            </a:r>
            <a:r>
              <a:rPr lang="en-US" altLang="zh-CN" sz="1600" dirty="0">
                <a:latin typeface="Consolas" pitchFamily="49" charset="0"/>
                <a:cs typeface="Consolas" pitchFamily="49" charset="0"/>
              </a:rPr>
              <a:t>5, 6</a:t>
            </a:r>
            <a:r>
              <a:rPr lang="en-US" altLang="zh-CN" sz="1600" dirty="0">
                <a:uFill>
                  <a:solidFill>
                    <a:srgbClr val="C00000"/>
                  </a:solidFill>
                </a:uFill>
                <a:latin typeface="Consolas" pitchFamily="49" charset="0"/>
                <a:cs typeface="Consolas" pitchFamily="49" charset="0"/>
              </a:rPr>
              <a:t>, </a:t>
            </a:r>
            <a:r>
              <a:rPr lang="en-US" altLang="zh-CN" sz="1600" u="heavy" dirty="0">
                <a:uFill>
                  <a:solidFill>
                    <a:srgbClr val="C00000"/>
                  </a:solidFill>
                </a:uFill>
                <a:latin typeface="Consolas" pitchFamily="49" charset="0"/>
                <a:cs typeface="Consolas" pitchFamily="49" charset="0"/>
              </a:rPr>
              <a:t>11, 9,</a:t>
            </a:r>
            <a:r>
              <a:rPr lang="en-US" altLang="zh-CN" sz="1600" u="heavy" dirty="0">
                <a:solidFill>
                  <a:srgbClr val="6600CC"/>
                </a:solidFill>
                <a:uFill>
                  <a:solidFill>
                    <a:srgbClr val="C00000"/>
                  </a:solidFill>
                </a:uFill>
                <a:latin typeface="Consolas" pitchFamily="49" charset="0"/>
                <a:cs typeface="Consolas" pitchFamily="49" charset="0"/>
              </a:rPr>
              <a:t> </a:t>
            </a:r>
            <a:r>
              <a:rPr lang="en-US" altLang="zh-CN" sz="1600" u="heavy" dirty="0">
                <a:uFill>
                  <a:solidFill>
                    <a:srgbClr val="C00000"/>
                  </a:solidFill>
                </a:uFill>
                <a:latin typeface="Consolas" pitchFamily="49" charset="0"/>
                <a:cs typeface="Consolas" pitchFamily="49" charset="0"/>
              </a:rPr>
              <a:t>∞</a:t>
            </a:r>
            <a:r>
              <a:rPr lang="en-US" altLang="zh-CN" sz="1600" dirty="0">
                <a:latin typeface="Consolas" pitchFamily="49" charset="0"/>
                <a:cs typeface="Consolas" pitchFamily="49" charset="0"/>
              </a:rPr>
              <a:t>}</a:t>
            </a:r>
          </a:p>
        </p:txBody>
      </p:sp>
      <p:sp>
        <p:nvSpPr>
          <p:cNvPr id="51" name="Text Box 57">
            <a:extLst>
              <a:ext uri="{FF2B5EF4-FFF2-40B4-BE49-F238E27FC236}">
                <a16:creationId xmlns:a16="http://schemas.microsoft.com/office/drawing/2014/main" id="{94A44AEA-AE22-1395-DB85-E3094B3AE0D9}"/>
              </a:ext>
            </a:extLst>
          </p:cNvPr>
          <p:cNvSpPr txBox="1">
            <a:spLocks noChangeArrowheads="1"/>
          </p:cNvSpPr>
          <p:nvPr/>
        </p:nvSpPr>
        <p:spPr bwMode="auto">
          <a:xfrm>
            <a:off x="7529198" y="4463742"/>
            <a:ext cx="2700368" cy="246221"/>
          </a:xfrm>
          <a:prstGeom prst="rect">
            <a:avLst/>
          </a:prstGeom>
          <a:noFill/>
          <a:ln w="38100" algn="ctr">
            <a:noFill/>
            <a:miter lim="800000"/>
            <a:headEnd/>
            <a:tailEnd type="none" w="med" len="lg"/>
          </a:ln>
          <a:effectLst/>
        </p:spPr>
        <p:txBody>
          <a:bodyPr wrap="square" lIns="0" tIns="0" rIns="0" bIns="0">
            <a:spAutoFit/>
          </a:bodyPr>
          <a:lstStyle/>
          <a:p>
            <a:r>
              <a:rPr lang="en-US" altLang="zh-CN" sz="1600">
                <a:latin typeface="Consolas" pitchFamily="49" charset="0"/>
                <a:cs typeface="Consolas" pitchFamily="49" charset="0"/>
              </a:rPr>
              <a:t>{0, 0, 1, 0,  1,  2, -1}</a:t>
            </a:r>
          </a:p>
        </p:txBody>
      </p:sp>
      <p:grpSp>
        <p:nvGrpSpPr>
          <p:cNvPr id="52" name="组合 75">
            <a:extLst>
              <a:ext uri="{FF2B5EF4-FFF2-40B4-BE49-F238E27FC236}">
                <a16:creationId xmlns:a16="http://schemas.microsoft.com/office/drawing/2014/main" id="{13F38FBA-96CE-2FFB-98F4-C8EE2CA1F537}"/>
              </a:ext>
            </a:extLst>
          </p:cNvPr>
          <p:cNvGrpSpPr/>
          <p:nvPr/>
        </p:nvGrpSpPr>
        <p:grpSpPr>
          <a:xfrm>
            <a:off x="6292538" y="4736794"/>
            <a:ext cx="2127286" cy="459406"/>
            <a:chOff x="4572000" y="3214686"/>
            <a:chExt cx="2127286" cy="459406"/>
          </a:xfrm>
        </p:grpSpPr>
        <p:sp>
          <p:nvSpPr>
            <p:cNvPr id="53" name="下箭头 61">
              <a:extLst>
                <a:ext uri="{FF2B5EF4-FFF2-40B4-BE49-F238E27FC236}">
                  <a16:creationId xmlns:a16="http://schemas.microsoft.com/office/drawing/2014/main" id="{EA67607C-AD0E-4A95-F371-06FD2CFED497}"/>
                </a:ext>
              </a:extLst>
            </p:cNvPr>
            <p:cNvSpPr/>
            <p:nvPr/>
          </p:nvSpPr>
          <p:spPr>
            <a:xfrm>
              <a:off x="4572000" y="3214686"/>
              <a:ext cx="142876" cy="428628"/>
            </a:xfrm>
            <a:prstGeom prst="downArrow">
              <a:avLst/>
            </a:prstGeom>
          </p:spPr>
          <p:style>
            <a:lnRef idx="0">
              <a:schemeClr val="accent4"/>
            </a:lnRef>
            <a:fillRef idx="3">
              <a:schemeClr val="accent4"/>
            </a:fillRef>
            <a:effectRef idx="3">
              <a:schemeClr val="accent4"/>
            </a:effectRef>
            <a:fontRef idx="minor">
              <a:schemeClr val="lt1"/>
            </a:fontRef>
          </p:style>
          <p:txBody>
            <a:bodyPr rtlCol="0" anchor="ctr"/>
            <a:lstStyle/>
            <a:p>
              <a:pPr algn="ctr"/>
              <a:endParaRPr lang="zh-CN" altLang="en-US" sz="1600">
                <a:latin typeface="Consolas" pitchFamily="49" charset="0"/>
                <a:ea typeface="仿宋" pitchFamily="49" charset="-122"/>
                <a:cs typeface="Consolas" pitchFamily="49" charset="0"/>
              </a:endParaRPr>
            </a:p>
          </p:txBody>
        </p:sp>
        <p:sp>
          <p:nvSpPr>
            <p:cNvPr id="54" name="TextBox 62">
              <a:extLst>
                <a:ext uri="{FF2B5EF4-FFF2-40B4-BE49-F238E27FC236}">
                  <a16:creationId xmlns:a16="http://schemas.microsoft.com/office/drawing/2014/main" id="{77E1D9D0-21AC-E116-C743-D7663871A75D}"/>
                </a:ext>
              </a:extLst>
            </p:cNvPr>
            <p:cNvSpPr txBox="1"/>
            <p:nvPr/>
          </p:nvSpPr>
          <p:spPr>
            <a:xfrm>
              <a:off x="4770460" y="3304760"/>
              <a:ext cx="1928826" cy="369332"/>
            </a:xfrm>
            <a:prstGeom prst="rect">
              <a:avLst/>
            </a:prstGeom>
            <a:noFill/>
          </p:spPr>
          <p:txBody>
            <a:bodyPr wrap="square" rtlCol="0">
              <a:spAutoFit/>
            </a:bodyPr>
            <a:lstStyle/>
            <a:p>
              <a:r>
                <a:rPr lang="zh-CN" altLang="en-US" sz="1800" dirty="0">
                  <a:latin typeface="Consolas" pitchFamily="49" charset="0"/>
                  <a:ea typeface="仿宋" pitchFamily="49" charset="-122"/>
                  <a:cs typeface="Consolas" pitchFamily="49" charset="0"/>
                </a:rPr>
                <a:t>最小的顶点：</a:t>
              </a:r>
              <a:r>
                <a:rPr lang="en-US" altLang="zh-CN" sz="1800" dirty="0">
                  <a:solidFill>
                    <a:srgbClr val="FF0000"/>
                  </a:solidFill>
                  <a:latin typeface="Consolas" pitchFamily="49" charset="0"/>
                  <a:ea typeface="仿宋" pitchFamily="49" charset="-122"/>
                  <a:cs typeface="Consolas" pitchFamily="49" charset="0"/>
                </a:rPr>
                <a:t>5</a:t>
              </a:r>
              <a:endParaRPr lang="zh-CN" altLang="en-US" sz="1800" dirty="0">
                <a:solidFill>
                  <a:srgbClr val="FF0000"/>
                </a:solidFill>
                <a:latin typeface="Consolas" pitchFamily="49" charset="0"/>
                <a:ea typeface="仿宋" pitchFamily="49" charset="-122"/>
                <a:cs typeface="Consolas" pitchFamily="49" charset="0"/>
              </a:endParaRPr>
            </a:p>
          </p:txBody>
        </p:sp>
      </p:grpSp>
      <p:sp>
        <p:nvSpPr>
          <p:cNvPr id="55" name="Text Box 58">
            <a:extLst>
              <a:ext uri="{FF2B5EF4-FFF2-40B4-BE49-F238E27FC236}">
                <a16:creationId xmlns:a16="http://schemas.microsoft.com/office/drawing/2014/main" id="{5866EF79-7973-A789-3488-5957C4F468E8}"/>
              </a:ext>
            </a:extLst>
          </p:cNvPr>
          <p:cNvSpPr txBox="1">
            <a:spLocks noChangeArrowheads="1"/>
          </p:cNvSpPr>
          <p:nvPr/>
        </p:nvSpPr>
        <p:spPr bwMode="auto">
          <a:xfrm>
            <a:off x="1669756" y="5379736"/>
            <a:ext cx="1249341" cy="246221"/>
          </a:xfrm>
          <a:prstGeom prst="rect">
            <a:avLst/>
          </a:prstGeom>
          <a:noFill/>
          <a:ln w="38100" algn="ctr">
            <a:noFill/>
            <a:miter lim="800000"/>
            <a:headEnd/>
            <a:tailEnd type="none" w="med" len="lg"/>
          </a:ln>
          <a:effectLst/>
        </p:spPr>
        <p:txBody>
          <a:bodyPr wrap="square" lIns="0" tIns="0" rIns="0" bIns="0">
            <a:spAutoFit/>
          </a:bodyPr>
          <a:lstStyle/>
          <a:p>
            <a:pPr algn="ctr"/>
            <a:r>
              <a:rPr lang="en-US" altLang="zh-CN" sz="1600" dirty="0">
                <a:latin typeface="Consolas" pitchFamily="49" charset="0"/>
                <a:cs typeface="Consolas" pitchFamily="49" charset="0"/>
              </a:rPr>
              <a:t>{0,1,2,3,</a:t>
            </a:r>
            <a:r>
              <a:rPr lang="en-US" altLang="zh-CN" sz="1600" dirty="0">
                <a:solidFill>
                  <a:srgbClr val="FF3300"/>
                </a:solidFill>
                <a:latin typeface="Consolas" pitchFamily="49" charset="0"/>
                <a:cs typeface="Consolas" pitchFamily="49" charset="0"/>
              </a:rPr>
              <a:t>5</a:t>
            </a:r>
            <a:r>
              <a:rPr lang="en-US" altLang="zh-CN" sz="1600" dirty="0">
                <a:latin typeface="Consolas" pitchFamily="49" charset="0"/>
                <a:cs typeface="Consolas" pitchFamily="49" charset="0"/>
              </a:rPr>
              <a:t>}</a:t>
            </a:r>
          </a:p>
        </p:txBody>
      </p:sp>
      <p:sp>
        <p:nvSpPr>
          <p:cNvPr id="56" name="Text Box 59">
            <a:extLst>
              <a:ext uri="{FF2B5EF4-FFF2-40B4-BE49-F238E27FC236}">
                <a16:creationId xmlns:a16="http://schemas.microsoft.com/office/drawing/2014/main" id="{EE6AB335-4B1D-9E81-BE8C-7EF66DB9AD4E}"/>
              </a:ext>
            </a:extLst>
          </p:cNvPr>
          <p:cNvSpPr txBox="1">
            <a:spLocks noChangeArrowheads="1"/>
          </p:cNvSpPr>
          <p:nvPr/>
        </p:nvSpPr>
        <p:spPr bwMode="auto">
          <a:xfrm>
            <a:off x="2847660" y="5379736"/>
            <a:ext cx="1441450" cy="246221"/>
          </a:xfrm>
          <a:prstGeom prst="rect">
            <a:avLst/>
          </a:prstGeom>
          <a:noFill/>
          <a:ln w="38100" algn="ctr">
            <a:noFill/>
            <a:miter lim="800000"/>
            <a:headEnd/>
            <a:tailEnd type="none" w="med" len="lg"/>
          </a:ln>
          <a:effectLst/>
        </p:spPr>
        <p:txBody>
          <a:bodyPr lIns="0" tIns="0" rIns="0" bIns="0">
            <a:spAutoFit/>
          </a:bodyPr>
          <a:lstStyle/>
          <a:p>
            <a:pPr algn="ctr"/>
            <a:r>
              <a:rPr lang="en-US" altLang="zh-CN" sz="1600">
                <a:latin typeface="Consolas" pitchFamily="49" charset="0"/>
                <a:cs typeface="Consolas" pitchFamily="49" charset="0"/>
              </a:rPr>
              <a:t>{4,6}</a:t>
            </a:r>
          </a:p>
        </p:txBody>
      </p:sp>
      <p:sp>
        <p:nvSpPr>
          <p:cNvPr id="57" name="Text Box 60">
            <a:extLst>
              <a:ext uri="{FF2B5EF4-FFF2-40B4-BE49-F238E27FC236}">
                <a16:creationId xmlns:a16="http://schemas.microsoft.com/office/drawing/2014/main" id="{7CF42D99-420A-D006-8FE5-42F9DA62D942}"/>
              </a:ext>
            </a:extLst>
          </p:cNvPr>
          <p:cNvSpPr txBox="1">
            <a:spLocks noChangeArrowheads="1"/>
          </p:cNvSpPr>
          <p:nvPr/>
        </p:nvSpPr>
        <p:spPr bwMode="auto">
          <a:xfrm>
            <a:off x="4514526" y="5392436"/>
            <a:ext cx="2651136" cy="246221"/>
          </a:xfrm>
          <a:prstGeom prst="rect">
            <a:avLst/>
          </a:prstGeom>
          <a:noFill/>
          <a:ln w="38100" algn="ctr">
            <a:noFill/>
            <a:miter lim="800000"/>
            <a:headEnd/>
            <a:tailEnd type="none" w="med" len="lg"/>
          </a:ln>
          <a:effectLst/>
        </p:spPr>
        <p:txBody>
          <a:bodyPr wrap="square" lIns="0" tIns="0" rIns="0" bIns="0">
            <a:spAutoFit/>
          </a:bodyPr>
          <a:lstStyle/>
          <a:p>
            <a:r>
              <a:rPr lang="en-US" altLang="zh-CN" sz="1600" dirty="0">
                <a:latin typeface="Consolas" pitchFamily="49" charset="0"/>
                <a:cs typeface="Consolas" pitchFamily="49" charset="0"/>
              </a:rPr>
              <a:t>{0,  </a:t>
            </a:r>
            <a:r>
              <a:rPr lang="en-US" altLang="zh-CN" sz="1600" dirty="0">
                <a:solidFill>
                  <a:srgbClr val="0000FF"/>
                </a:solidFill>
                <a:latin typeface="Consolas" pitchFamily="49" charset="0"/>
                <a:cs typeface="Consolas" pitchFamily="49" charset="0"/>
              </a:rPr>
              <a:t>4,</a:t>
            </a:r>
            <a:r>
              <a:rPr lang="en-US" altLang="zh-CN" sz="1600" dirty="0">
                <a:solidFill>
                  <a:srgbClr val="FF3300"/>
                </a:solidFill>
                <a:latin typeface="Consolas" pitchFamily="49" charset="0"/>
                <a:cs typeface="Consolas" pitchFamily="49" charset="0"/>
              </a:rPr>
              <a:t> </a:t>
            </a:r>
            <a:r>
              <a:rPr lang="en-US" altLang="zh-CN" sz="1600" dirty="0">
                <a:latin typeface="Consolas" pitchFamily="49" charset="0"/>
                <a:cs typeface="Consolas" pitchFamily="49" charset="0"/>
              </a:rPr>
              <a:t>5, 6, </a:t>
            </a:r>
            <a:r>
              <a:rPr lang="en-US" altLang="zh-CN" sz="1600" u="heavy" dirty="0">
                <a:solidFill>
                  <a:srgbClr val="FF0000"/>
                </a:solidFill>
                <a:uFill>
                  <a:solidFill>
                    <a:srgbClr val="C00000"/>
                  </a:solidFill>
                </a:uFill>
                <a:latin typeface="Consolas" pitchFamily="49" charset="0"/>
                <a:cs typeface="Consolas" pitchFamily="49" charset="0"/>
              </a:rPr>
              <a:t>10</a:t>
            </a:r>
            <a:r>
              <a:rPr lang="en-US" altLang="zh-CN" sz="1600" dirty="0">
                <a:solidFill>
                  <a:srgbClr val="6600CC"/>
                </a:solidFill>
                <a:latin typeface="Consolas" pitchFamily="49" charset="0"/>
                <a:cs typeface="Consolas" pitchFamily="49" charset="0"/>
              </a:rPr>
              <a:t>, </a:t>
            </a:r>
            <a:r>
              <a:rPr lang="en-US" altLang="zh-CN" sz="1600" dirty="0">
                <a:latin typeface="Consolas" pitchFamily="49" charset="0"/>
                <a:cs typeface="Consolas" pitchFamily="49" charset="0"/>
              </a:rPr>
              <a:t>9,</a:t>
            </a:r>
            <a:r>
              <a:rPr lang="en-US" altLang="zh-CN" sz="1600" u="sng" dirty="0">
                <a:solidFill>
                  <a:srgbClr val="6600CC"/>
                </a:solidFill>
                <a:latin typeface="Consolas" pitchFamily="49" charset="0"/>
                <a:cs typeface="Consolas" pitchFamily="49" charset="0"/>
              </a:rPr>
              <a:t> </a:t>
            </a:r>
            <a:r>
              <a:rPr lang="en-US" altLang="zh-CN" sz="1600" u="heavy" dirty="0">
                <a:solidFill>
                  <a:srgbClr val="FF0000"/>
                </a:solidFill>
                <a:uFill>
                  <a:solidFill>
                    <a:srgbClr val="C00000"/>
                  </a:solidFill>
                </a:uFill>
                <a:latin typeface="Consolas" pitchFamily="49" charset="0"/>
                <a:cs typeface="Consolas" pitchFamily="49" charset="0"/>
              </a:rPr>
              <a:t>17</a:t>
            </a:r>
            <a:r>
              <a:rPr lang="en-US" altLang="zh-CN" sz="1600" dirty="0">
                <a:latin typeface="Consolas" pitchFamily="49" charset="0"/>
                <a:cs typeface="Consolas" pitchFamily="49" charset="0"/>
              </a:rPr>
              <a:t>}</a:t>
            </a:r>
          </a:p>
        </p:txBody>
      </p:sp>
      <p:sp>
        <p:nvSpPr>
          <p:cNvPr id="58" name="Text Box 61">
            <a:extLst>
              <a:ext uri="{FF2B5EF4-FFF2-40B4-BE49-F238E27FC236}">
                <a16:creationId xmlns:a16="http://schemas.microsoft.com/office/drawing/2014/main" id="{35AC3E6D-6B4F-EAC5-D681-924BC3C732BC}"/>
              </a:ext>
            </a:extLst>
          </p:cNvPr>
          <p:cNvSpPr txBox="1">
            <a:spLocks noChangeArrowheads="1"/>
          </p:cNvSpPr>
          <p:nvPr/>
        </p:nvSpPr>
        <p:spPr bwMode="auto">
          <a:xfrm>
            <a:off x="7529198" y="5392436"/>
            <a:ext cx="2628930" cy="246221"/>
          </a:xfrm>
          <a:prstGeom prst="rect">
            <a:avLst/>
          </a:prstGeom>
          <a:noFill/>
          <a:ln w="38100" algn="ctr">
            <a:noFill/>
            <a:miter lim="800000"/>
            <a:headEnd/>
            <a:tailEnd type="none" w="med" len="lg"/>
          </a:ln>
          <a:effectLst/>
        </p:spPr>
        <p:txBody>
          <a:bodyPr wrap="square" lIns="0" tIns="0" rIns="0" bIns="0">
            <a:spAutoFit/>
          </a:bodyPr>
          <a:lstStyle/>
          <a:p>
            <a:r>
              <a:rPr lang="en-US" altLang="zh-CN" sz="1600" dirty="0">
                <a:latin typeface="Consolas" pitchFamily="49" charset="0"/>
                <a:cs typeface="Consolas" pitchFamily="49" charset="0"/>
              </a:rPr>
              <a:t>{0, 0, 1, 0,  </a:t>
            </a:r>
            <a:r>
              <a:rPr lang="en-US" altLang="zh-CN" sz="1600" dirty="0">
                <a:solidFill>
                  <a:srgbClr val="FF0000"/>
                </a:solidFill>
                <a:latin typeface="Consolas" pitchFamily="49" charset="0"/>
                <a:cs typeface="Consolas" pitchFamily="49" charset="0"/>
              </a:rPr>
              <a:t>5</a:t>
            </a:r>
            <a:r>
              <a:rPr lang="en-US" altLang="zh-CN" sz="1600" dirty="0">
                <a:latin typeface="Consolas" pitchFamily="49" charset="0"/>
                <a:cs typeface="Consolas" pitchFamily="49" charset="0"/>
              </a:rPr>
              <a:t>,  2,  </a:t>
            </a:r>
            <a:r>
              <a:rPr lang="en-US" altLang="zh-CN" sz="1600" dirty="0">
                <a:solidFill>
                  <a:srgbClr val="FF0000"/>
                </a:solidFill>
                <a:latin typeface="Consolas" pitchFamily="49" charset="0"/>
                <a:cs typeface="Consolas" pitchFamily="49" charset="0"/>
              </a:rPr>
              <a:t>5</a:t>
            </a:r>
            <a:r>
              <a:rPr lang="en-US" altLang="zh-CN" sz="1600" dirty="0">
                <a:latin typeface="Consolas" pitchFamily="49" charset="0"/>
                <a:cs typeface="Consolas" pitchFamily="49" charset="0"/>
              </a:rPr>
              <a:t>}</a:t>
            </a:r>
          </a:p>
        </p:txBody>
      </p:sp>
    </p:spTree>
    <p:extLst>
      <p:ext uri="{BB962C8B-B14F-4D97-AF65-F5344CB8AC3E}">
        <p14:creationId xmlns:p14="http://schemas.microsoft.com/office/powerpoint/2010/main" val="211026536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4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26" presetClass="emph" presetSubtype="0" fill="hold" grpId="0" nodeType="clickEffect">
                                  <p:stCondLst>
                                    <p:cond delay="0"/>
                                  </p:stCondLst>
                                  <p:childTnLst>
                                    <p:animEffect transition="out" filter="fade">
                                      <p:cBhvr>
                                        <p:cTn id="16" dur="500" tmFilter="0, 0; .2, .5; .8, .5; 1, 0"/>
                                        <p:tgtEl>
                                          <p:spTgt spid="4"/>
                                        </p:tgtEl>
                                      </p:cBhvr>
                                    </p:animEffect>
                                    <p:animScale>
                                      <p:cBhvr>
                                        <p:cTn id="17" dur="250" autoRev="1" fill="hold"/>
                                        <p:tgtEl>
                                          <p:spTgt spid="4"/>
                                        </p:tgtEl>
                                      </p:cBhvr>
                                      <p:by x="105000" y="105000"/>
                                    </p:animScale>
                                  </p:childTnLst>
                                </p:cTn>
                              </p:par>
                            </p:childTnLst>
                          </p:cTn>
                        </p:par>
                      </p:childTnLst>
                    </p:cTn>
                  </p:par>
                  <p:par>
                    <p:cTn id="18" fill="hold">
                      <p:stCondLst>
                        <p:cond delay="indefinite"/>
                      </p:stCondLst>
                      <p:childTnLst>
                        <p:par>
                          <p:cTn id="19" fill="hold">
                            <p:stCondLst>
                              <p:cond delay="0"/>
                            </p:stCondLst>
                            <p:childTnLst>
                              <p:par>
                                <p:cTn id="20" presetID="26" presetClass="emph" presetSubtype="0" fill="hold" grpId="0" nodeType="clickEffect">
                                  <p:stCondLst>
                                    <p:cond delay="0"/>
                                  </p:stCondLst>
                                  <p:childTnLst>
                                    <p:animEffect transition="out" filter="fade">
                                      <p:cBhvr>
                                        <p:cTn id="21" dur="500" tmFilter="0, 0; .2, .5; .8, .5; 1, 0"/>
                                        <p:tgtEl>
                                          <p:spTgt spid="19"/>
                                        </p:tgtEl>
                                      </p:cBhvr>
                                    </p:animEffect>
                                    <p:animScale>
                                      <p:cBhvr>
                                        <p:cTn id="22" dur="250" autoRev="1" fill="hold"/>
                                        <p:tgtEl>
                                          <p:spTgt spid="19"/>
                                        </p:tgtEl>
                                      </p:cBhvr>
                                      <p:by x="105000" y="105000"/>
                                    </p:animScale>
                                  </p:childTnLst>
                                </p:cTn>
                              </p:par>
                              <p:par>
                                <p:cTn id="23" presetID="26" presetClass="emph" presetSubtype="0" fill="hold" grpId="0" nodeType="withEffect">
                                  <p:stCondLst>
                                    <p:cond delay="0"/>
                                  </p:stCondLst>
                                  <p:childTnLst>
                                    <p:animEffect transition="out" filter="fade">
                                      <p:cBhvr>
                                        <p:cTn id="24" dur="500" tmFilter="0, 0; .2, .5; .8, .5; 1, 0"/>
                                        <p:tgtEl>
                                          <p:spTgt spid="17"/>
                                        </p:tgtEl>
                                      </p:cBhvr>
                                    </p:animEffect>
                                    <p:animScale>
                                      <p:cBhvr>
                                        <p:cTn id="25" dur="250" autoRev="1" fill="hold"/>
                                        <p:tgtEl>
                                          <p:spTgt spid="17"/>
                                        </p:tgtEl>
                                      </p:cBhvr>
                                      <p:by x="105000" y="105000"/>
                                    </p:animScale>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50"/>
                                        </p:tgtEl>
                                        <p:attrNameLst>
                                          <p:attrName>style.visibility</p:attrName>
                                        </p:attrNameLst>
                                      </p:cBhvr>
                                      <p:to>
                                        <p:strVal val="visible"/>
                                      </p:to>
                                    </p:set>
                                  </p:childTnLst>
                                </p:cTn>
                              </p:par>
                              <p:par>
                                <p:cTn id="30" presetID="1" presetClass="entr" presetSubtype="0" fill="hold" grpId="0" nodeType="withEffect">
                                  <p:stCondLst>
                                    <p:cond delay="0"/>
                                  </p:stCondLst>
                                  <p:childTnLst>
                                    <p:set>
                                      <p:cBhvr>
                                        <p:cTn id="31" dur="1" fill="hold">
                                          <p:stCondLst>
                                            <p:cond delay="0"/>
                                          </p:stCondLst>
                                        </p:cTn>
                                        <p:tgtEl>
                                          <p:spTgt spid="51"/>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nodeType="clickEffect">
                                  <p:stCondLst>
                                    <p:cond delay="0"/>
                                  </p:stCondLst>
                                  <p:childTnLst>
                                    <p:set>
                                      <p:cBhvr>
                                        <p:cTn id="35" dur="1" fill="hold">
                                          <p:stCondLst>
                                            <p:cond delay="0"/>
                                          </p:stCondLst>
                                        </p:cTn>
                                        <p:tgtEl>
                                          <p:spTgt spid="52"/>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55"/>
                                        </p:tgtEl>
                                        <p:attrNameLst>
                                          <p:attrName>style.visibility</p:attrName>
                                        </p:attrNameLst>
                                      </p:cBhvr>
                                      <p:to>
                                        <p:strVal val="visible"/>
                                      </p:to>
                                    </p:set>
                                  </p:childTnLst>
                                </p:cTn>
                              </p:par>
                              <p:par>
                                <p:cTn id="40" presetID="1" presetClass="entr" presetSubtype="0" fill="hold" grpId="0" nodeType="withEffect">
                                  <p:stCondLst>
                                    <p:cond delay="0"/>
                                  </p:stCondLst>
                                  <p:childTnLst>
                                    <p:set>
                                      <p:cBhvr>
                                        <p:cTn id="41" dur="1" fill="hold">
                                          <p:stCondLst>
                                            <p:cond delay="0"/>
                                          </p:stCondLst>
                                        </p:cTn>
                                        <p:tgtEl>
                                          <p:spTgt spid="56"/>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26" presetClass="emph" presetSubtype="0" fill="hold" grpId="0" nodeType="clickEffect">
                                  <p:stCondLst>
                                    <p:cond delay="0"/>
                                  </p:stCondLst>
                                  <p:childTnLst>
                                    <p:animEffect transition="out" filter="fade">
                                      <p:cBhvr>
                                        <p:cTn id="45" dur="500" tmFilter="0, 0; .2, .5; .8, .5; 1, 0"/>
                                        <p:tgtEl>
                                          <p:spTgt spid="7"/>
                                        </p:tgtEl>
                                      </p:cBhvr>
                                    </p:animEffect>
                                    <p:animScale>
                                      <p:cBhvr>
                                        <p:cTn id="46" dur="250" autoRev="1" fill="hold"/>
                                        <p:tgtEl>
                                          <p:spTgt spid="7"/>
                                        </p:tgtEl>
                                      </p:cBhvr>
                                      <p:by x="105000" y="105000"/>
                                    </p:animScale>
                                  </p:childTnLst>
                                </p:cTn>
                              </p:par>
                            </p:childTnLst>
                          </p:cTn>
                        </p:par>
                      </p:childTnLst>
                    </p:cTn>
                  </p:par>
                  <p:par>
                    <p:cTn id="47" fill="hold">
                      <p:stCondLst>
                        <p:cond delay="indefinite"/>
                      </p:stCondLst>
                      <p:childTnLst>
                        <p:par>
                          <p:cTn id="48" fill="hold">
                            <p:stCondLst>
                              <p:cond delay="0"/>
                            </p:stCondLst>
                            <p:childTnLst>
                              <p:par>
                                <p:cTn id="49" presetID="26" presetClass="emph" presetSubtype="0" fill="hold" grpId="0" nodeType="clickEffect">
                                  <p:stCondLst>
                                    <p:cond delay="0"/>
                                  </p:stCondLst>
                                  <p:childTnLst>
                                    <p:animEffect transition="out" filter="fade">
                                      <p:cBhvr>
                                        <p:cTn id="50" dur="500" tmFilter="0, 0; .2, .5; .8, .5; 1, 0"/>
                                        <p:tgtEl>
                                          <p:spTgt spid="24"/>
                                        </p:tgtEl>
                                      </p:cBhvr>
                                    </p:animEffect>
                                    <p:animScale>
                                      <p:cBhvr>
                                        <p:cTn id="51" dur="250" autoRev="1" fill="hold"/>
                                        <p:tgtEl>
                                          <p:spTgt spid="24"/>
                                        </p:tgtEl>
                                      </p:cBhvr>
                                      <p:by x="105000" y="105000"/>
                                    </p:animScale>
                                  </p:childTnLst>
                                </p:cTn>
                              </p:par>
                              <p:par>
                                <p:cTn id="52" presetID="26" presetClass="emph" presetSubtype="0" fill="hold" grpId="0" nodeType="withEffect">
                                  <p:stCondLst>
                                    <p:cond delay="0"/>
                                  </p:stCondLst>
                                  <p:childTnLst>
                                    <p:animEffect transition="out" filter="fade">
                                      <p:cBhvr>
                                        <p:cTn id="53" dur="500" tmFilter="0, 0; .2, .5; .8, .5; 1, 0"/>
                                        <p:tgtEl>
                                          <p:spTgt spid="23"/>
                                        </p:tgtEl>
                                      </p:cBhvr>
                                    </p:animEffect>
                                    <p:animScale>
                                      <p:cBhvr>
                                        <p:cTn id="54" dur="250" autoRev="1" fill="hold"/>
                                        <p:tgtEl>
                                          <p:spTgt spid="23"/>
                                        </p:tgtEl>
                                      </p:cBhvr>
                                      <p:by x="105000" y="105000"/>
                                    </p:animScale>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57"/>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5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17" grpId="0" animBg="1"/>
      <p:bldP spid="19" grpId="0" animBg="1"/>
      <p:bldP spid="23" grpId="0" animBg="1"/>
      <p:bldP spid="24" grpId="0" animBg="1"/>
      <p:bldP spid="48" grpId="0"/>
      <p:bldP spid="49" grpId="0"/>
      <p:bldP spid="50" grpId="0"/>
      <p:bldP spid="51" grpId="0"/>
      <p:bldP spid="55" grpId="0"/>
      <p:bldP spid="56" grpId="0"/>
      <p:bldP spid="57" grpId="0"/>
      <p:bldP spid="58" grpId="0"/>
    </p:bld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F1A6B8-B325-F7F1-0A13-8F5D0C29463A}"/>
            </a:ext>
          </a:extLst>
        </p:cNvPr>
        <p:cNvGrpSpPr/>
        <p:nvPr/>
      </p:nvGrpSpPr>
      <p:grpSpPr>
        <a:xfrm>
          <a:off x="0" y="0"/>
          <a:ext cx="0" cy="0"/>
          <a:chOff x="0" y="0"/>
          <a:chExt cx="0" cy="0"/>
        </a:xfrm>
      </p:grpSpPr>
      <p:sp>
        <p:nvSpPr>
          <p:cNvPr id="2" name="Oval 5">
            <a:extLst>
              <a:ext uri="{FF2B5EF4-FFF2-40B4-BE49-F238E27FC236}">
                <a16:creationId xmlns:a16="http://schemas.microsoft.com/office/drawing/2014/main" id="{33B13A91-E8C3-59F1-96C0-68D75169EC77}"/>
              </a:ext>
            </a:extLst>
          </p:cNvPr>
          <p:cNvSpPr>
            <a:spLocks noChangeArrowheads="1"/>
          </p:cNvSpPr>
          <p:nvPr/>
        </p:nvSpPr>
        <p:spPr bwMode="auto">
          <a:xfrm>
            <a:off x="4332889" y="1224694"/>
            <a:ext cx="288925" cy="360363"/>
          </a:xfrm>
          <a:prstGeom prst="ellipse">
            <a:avLst/>
          </a:prstGeom>
          <a:ln>
            <a:headEnd/>
            <a:tailEnd type="none" w="med" len="lg"/>
          </a:ln>
        </p:spPr>
        <p:style>
          <a:lnRef idx="1">
            <a:schemeClr val="accent2"/>
          </a:lnRef>
          <a:fillRef idx="2">
            <a:schemeClr val="accent2"/>
          </a:fillRef>
          <a:effectRef idx="1">
            <a:schemeClr val="accent2"/>
          </a:effectRef>
          <a:fontRef idx="minor">
            <a:schemeClr val="dk1"/>
          </a:fontRef>
        </p:style>
        <p:txBody>
          <a:bodyPr wrap="none" anchor="ctr"/>
          <a:lstStyle/>
          <a:p>
            <a:pPr algn="ctr">
              <a:spcBef>
                <a:spcPct val="0"/>
              </a:spcBef>
            </a:pPr>
            <a:r>
              <a:rPr lang="en-US" altLang="zh-CN" sz="1800" dirty="0">
                <a:solidFill>
                  <a:srgbClr val="3333FF"/>
                </a:solidFill>
                <a:latin typeface="Consolas" pitchFamily="49" charset="0"/>
                <a:cs typeface="Consolas" pitchFamily="49" charset="0"/>
              </a:rPr>
              <a:t>0</a:t>
            </a:r>
          </a:p>
        </p:txBody>
      </p:sp>
      <p:sp>
        <p:nvSpPr>
          <p:cNvPr id="3" name="Oval 6">
            <a:extLst>
              <a:ext uri="{FF2B5EF4-FFF2-40B4-BE49-F238E27FC236}">
                <a16:creationId xmlns:a16="http://schemas.microsoft.com/office/drawing/2014/main" id="{1D1B2585-5486-EC3C-B6BE-F80EA3015623}"/>
              </a:ext>
            </a:extLst>
          </p:cNvPr>
          <p:cNvSpPr>
            <a:spLocks noChangeArrowheads="1"/>
          </p:cNvSpPr>
          <p:nvPr/>
        </p:nvSpPr>
        <p:spPr bwMode="auto">
          <a:xfrm>
            <a:off x="5053614" y="648432"/>
            <a:ext cx="288925" cy="360362"/>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pPr algn="ctr">
              <a:spcBef>
                <a:spcPct val="0"/>
              </a:spcBef>
            </a:pPr>
            <a:r>
              <a:rPr lang="en-US" altLang="zh-CN" sz="1800" dirty="0">
                <a:solidFill>
                  <a:srgbClr val="3333FF"/>
                </a:solidFill>
                <a:latin typeface="Consolas" pitchFamily="49" charset="0"/>
                <a:cs typeface="Consolas" pitchFamily="49" charset="0"/>
              </a:rPr>
              <a:t>1</a:t>
            </a:r>
          </a:p>
        </p:txBody>
      </p:sp>
      <p:sp>
        <p:nvSpPr>
          <p:cNvPr id="4" name="Oval 7">
            <a:extLst>
              <a:ext uri="{FF2B5EF4-FFF2-40B4-BE49-F238E27FC236}">
                <a16:creationId xmlns:a16="http://schemas.microsoft.com/office/drawing/2014/main" id="{AA48F6E1-AC62-4F3B-DF94-0B11000B7AFB}"/>
              </a:ext>
            </a:extLst>
          </p:cNvPr>
          <p:cNvSpPr>
            <a:spLocks noChangeArrowheads="1"/>
          </p:cNvSpPr>
          <p:nvPr/>
        </p:nvSpPr>
        <p:spPr bwMode="auto">
          <a:xfrm>
            <a:off x="5125051" y="1872394"/>
            <a:ext cx="288925" cy="360363"/>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pPr algn="ctr">
              <a:spcBef>
                <a:spcPct val="0"/>
              </a:spcBef>
            </a:pPr>
            <a:r>
              <a:rPr lang="en-US" altLang="zh-CN" sz="1800">
                <a:solidFill>
                  <a:srgbClr val="3333FF"/>
                </a:solidFill>
                <a:latin typeface="Consolas" pitchFamily="49" charset="0"/>
                <a:cs typeface="Consolas" pitchFamily="49" charset="0"/>
              </a:rPr>
              <a:t>3</a:t>
            </a:r>
          </a:p>
        </p:txBody>
      </p:sp>
      <p:sp>
        <p:nvSpPr>
          <p:cNvPr id="5" name="Oval 8">
            <a:extLst>
              <a:ext uri="{FF2B5EF4-FFF2-40B4-BE49-F238E27FC236}">
                <a16:creationId xmlns:a16="http://schemas.microsoft.com/office/drawing/2014/main" id="{77B28160-12F7-B272-B63E-2973338769E3}"/>
              </a:ext>
            </a:extLst>
          </p:cNvPr>
          <p:cNvSpPr>
            <a:spLocks noChangeArrowheads="1"/>
          </p:cNvSpPr>
          <p:nvPr/>
        </p:nvSpPr>
        <p:spPr bwMode="auto">
          <a:xfrm>
            <a:off x="5774339" y="1224694"/>
            <a:ext cx="288925" cy="360363"/>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pPr algn="ctr">
              <a:spcBef>
                <a:spcPct val="0"/>
              </a:spcBef>
            </a:pPr>
            <a:r>
              <a:rPr lang="en-US" altLang="zh-CN" sz="1800">
                <a:solidFill>
                  <a:srgbClr val="3333FF"/>
                </a:solidFill>
                <a:latin typeface="Consolas" pitchFamily="49" charset="0"/>
                <a:cs typeface="Consolas" pitchFamily="49" charset="0"/>
              </a:rPr>
              <a:t>2</a:t>
            </a:r>
          </a:p>
        </p:txBody>
      </p:sp>
      <p:sp>
        <p:nvSpPr>
          <p:cNvPr id="6" name="Oval 9">
            <a:extLst>
              <a:ext uri="{FF2B5EF4-FFF2-40B4-BE49-F238E27FC236}">
                <a16:creationId xmlns:a16="http://schemas.microsoft.com/office/drawing/2014/main" id="{1CCB17CC-5248-5039-F83F-AEAD3A4A354E}"/>
              </a:ext>
            </a:extLst>
          </p:cNvPr>
          <p:cNvSpPr>
            <a:spLocks noChangeArrowheads="1"/>
          </p:cNvSpPr>
          <p:nvPr/>
        </p:nvSpPr>
        <p:spPr bwMode="auto">
          <a:xfrm>
            <a:off x="6709376" y="648432"/>
            <a:ext cx="288925" cy="360362"/>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pPr algn="ctr">
              <a:spcBef>
                <a:spcPct val="0"/>
              </a:spcBef>
            </a:pPr>
            <a:r>
              <a:rPr lang="en-US" altLang="zh-CN" sz="1800" dirty="0">
                <a:solidFill>
                  <a:srgbClr val="3333FF"/>
                </a:solidFill>
                <a:latin typeface="Consolas" pitchFamily="49" charset="0"/>
                <a:cs typeface="Consolas" pitchFamily="49" charset="0"/>
              </a:rPr>
              <a:t>4</a:t>
            </a:r>
          </a:p>
        </p:txBody>
      </p:sp>
      <p:sp>
        <p:nvSpPr>
          <p:cNvPr id="7" name="Oval 10">
            <a:extLst>
              <a:ext uri="{FF2B5EF4-FFF2-40B4-BE49-F238E27FC236}">
                <a16:creationId xmlns:a16="http://schemas.microsoft.com/office/drawing/2014/main" id="{6C604422-C92D-2466-942C-26B41C9C8871}"/>
              </a:ext>
            </a:extLst>
          </p:cNvPr>
          <p:cNvSpPr>
            <a:spLocks noChangeArrowheads="1"/>
          </p:cNvSpPr>
          <p:nvPr/>
        </p:nvSpPr>
        <p:spPr bwMode="auto">
          <a:xfrm>
            <a:off x="6709376" y="1872394"/>
            <a:ext cx="288925" cy="360363"/>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pPr algn="ctr">
              <a:spcBef>
                <a:spcPct val="0"/>
              </a:spcBef>
            </a:pPr>
            <a:r>
              <a:rPr lang="en-US" altLang="zh-CN" sz="1800" dirty="0">
                <a:solidFill>
                  <a:srgbClr val="3333FF"/>
                </a:solidFill>
                <a:latin typeface="Consolas" pitchFamily="49" charset="0"/>
                <a:cs typeface="Consolas" pitchFamily="49" charset="0"/>
              </a:rPr>
              <a:t>5</a:t>
            </a:r>
          </a:p>
        </p:txBody>
      </p:sp>
      <p:sp>
        <p:nvSpPr>
          <p:cNvPr id="12" name="Oval 11">
            <a:extLst>
              <a:ext uri="{FF2B5EF4-FFF2-40B4-BE49-F238E27FC236}">
                <a16:creationId xmlns:a16="http://schemas.microsoft.com/office/drawing/2014/main" id="{803A9DC0-CA4A-6E31-9C17-46BC432FC254}"/>
              </a:ext>
            </a:extLst>
          </p:cNvPr>
          <p:cNvSpPr>
            <a:spLocks noChangeArrowheads="1"/>
          </p:cNvSpPr>
          <p:nvPr/>
        </p:nvSpPr>
        <p:spPr bwMode="auto">
          <a:xfrm>
            <a:off x="7501539" y="1296132"/>
            <a:ext cx="288925" cy="360362"/>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pPr algn="ctr">
              <a:spcBef>
                <a:spcPct val="0"/>
              </a:spcBef>
            </a:pPr>
            <a:r>
              <a:rPr lang="en-US" altLang="zh-CN" sz="1800" dirty="0">
                <a:solidFill>
                  <a:srgbClr val="3333FF"/>
                </a:solidFill>
                <a:latin typeface="Consolas" pitchFamily="49" charset="0"/>
                <a:cs typeface="Consolas" pitchFamily="49" charset="0"/>
              </a:rPr>
              <a:t>6</a:t>
            </a:r>
          </a:p>
        </p:txBody>
      </p:sp>
      <p:sp>
        <p:nvSpPr>
          <p:cNvPr id="13" name="Freeform 12">
            <a:extLst>
              <a:ext uri="{FF2B5EF4-FFF2-40B4-BE49-F238E27FC236}">
                <a16:creationId xmlns:a16="http://schemas.microsoft.com/office/drawing/2014/main" id="{EDAF38C8-9B6C-0AD2-A2CA-491104C14B95}"/>
              </a:ext>
            </a:extLst>
          </p:cNvPr>
          <p:cNvSpPr>
            <a:spLocks/>
          </p:cNvSpPr>
          <p:nvPr/>
        </p:nvSpPr>
        <p:spPr bwMode="auto">
          <a:xfrm>
            <a:off x="4583714" y="891319"/>
            <a:ext cx="469900" cy="381000"/>
          </a:xfrm>
          <a:custGeom>
            <a:avLst/>
            <a:gdLst/>
            <a:ahLst/>
            <a:cxnLst>
              <a:cxn ang="0">
                <a:pos x="0" y="240"/>
              </a:cxn>
              <a:cxn ang="0">
                <a:pos x="296" y="0"/>
              </a:cxn>
            </a:cxnLst>
            <a:rect l="0" t="0" r="r" b="b"/>
            <a:pathLst>
              <a:path w="296" h="240">
                <a:moveTo>
                  <a:pt x="0" y="240"/>
                </a:moveTo>
                <a:lnTo>
                  <a:pt x="296" y="0"/>
                </a:lnTo>
              </a:path>
            </a:pathLst>
          </a:custGeom>
          <a:noFill/>
          <a:ln w="19050" cap="flat" cmpd="sng">
            <a:solidFill>
              <a:srgbClr val="3333FF"/>
            </a:solidFill>
            <a:prstDash val="solid"/>
            <a:round/>
            <a:headEnd type="none" w="med" len="med"/>
            <a:tailEnd type="stealth" w="med" len="lg"/>
          </a:ln>
          <a:effectLst/>
        </p:spPr>
        <p:txBody>
          <a:bodyPr wrap="none"/>
          <a:lstStyle/>
          <a:p>
            <a:endParaRPr lang="zh-CN" altLang="en-US">
              <a:latin typeface="Consolas" pitchFamily="49" charset="0"/>
              <a:cs typeface="Consolas" pitchFamily="49" charset="0"/>
            </a:endParaRPr>
          </a:p>
        </p:txBody>
      </p:sp>
      <p:sp>
        <p:nvSpPr>
          <p:cNvPr id="14" name="Line 13">
            <a:extLst>
              <a:ext uri="{FF2B5EF4-FFF2-40B4-BE49-F238E27FC236}">
                <a16:creationId xmlns:a16="http://schemas.microsoft.com/office/drawing/2014/main" id="{928D21CE-A48B-E0D1-2C4F-8ABC593429FE}"/>
              </a:ext>
            </a:extLst>
          </p:cNvPr>
          <p:cNvSpPr>
            <a:spLocks noChangeShapeType="1"/>
          </p:cNvSpPr>
          <p:nvPr/>
        </p:nvSpPr>
        <p:spPr bwMode="auto">
          <a:xfrm>
            <a:off x="4621814" y="1440594"/>
            <a:ext cx="1152525" cy="0"/>
          </a:xfrm>
          <a:prstGeom prst="line">
            <a:avLst/>
          </a:prstGeom>
          <a:noFill/>
          <a:ln w="19050">
            <a:solidFill>
              <a:srgbClr val="3333FF"/>
            </a:solidFill>
            <a:round/>
            <a:headEnd/>
            <a:tailEnd type="stealth" w="med" len="lg"/>
          </a:ln>
          <a:effectLst/>
        </p:spPr>
        <p:txBody>
          <a:bodyPr wrap="none"/>
          <a:lstStyle/>
          <a:p>
            <a:endParaRPr lang="zh-CN" altLang="en-US">
              <a:latin typeface="Consolas" pitchFamily="49" charset="0"/>
              <a:cs typeface="Consolas" pitchFamily="49" charset="0"/>
            </a:endParaRPr>
          </a:p>
        </p:txBody>
      </p:sp>
      <p:sp>
        <p:nvSpPr>
          <p:cNvPr id="15" name="Line 14">
            <a:extLst>
              <a:ext uri="{FF2B5EF4-FFF2-40B4-BE49-F238E27FC236}">
                <a16:creationId xmlns:a16="http://schemas.microsoft.com/office/drawing/2014/main" id="{E9F2E261-DAE8-8508-7CB9-A529B444850C}"/>
              </a:ext>
            </a:extLst>
          </p:cNvPr>
          <p:cNvSpPr>
            <a:spLocks noChangeShapeType="1"/>
          </p:cNvSpPr>
          <p:nvPr/>
        </p:nvSpPr>
        <p:spPr bwMode="auto">
          <a:xfrm>
            <a:off x="4563076" y="1550132"/>
            <a:ext cx="574675" cy="431800"/>
          </a:xfrm>
          <a:prstGeom prst="line">
            <a:avLst/>
          </a:prstGeom>
          <a:noFill/>
          <a:ln w="19050">
            <a:solidFill>
              <a:srgbClr val="3333FF"/>
            </a:solidFill>
            <a:round/>
            <a:headEnd/>
            <a:tailEnd type="stealth" w="med" len="lg"/>
          </a:ln>
          <a:effectLst/>
        </p:spPr>
        <p:txBody>
          <a:bodyPr wrap="none"/>
          <a:lstStyle/>
          <a:p>
            <a:endParaRPr lang="zh-CN" altLang="en-US">
              <a:latin typeface="Consolas" pitchFamily="49" charset="0"/>
              <a:cs typeface="Consolas" pitchFamily="49" charset="0"/>
            </a:endParaRPr>
          </a:p>
        </p:txBody>
      </p:sp>
      <p:sp>
        <p:nvSpPr>
          <p:cNvPr id="16" name="Line 15">
            <a:extLst>
              <a:ext uri="{FF2B5EF4-FFF2-40B4-BE49-F238E27FC236}">
                <a16:creationId xmlns:a16="http://schemas.microsoft.com/office/drawing/2014/main" id="{ADD95DF4-0F36-7D3B-C11E-37046D50F50C}"/>
              </a:ext>
            </a:extLst>
          </p:cNvPr>
          <p:cNvSpPr>
            <a:spLocks noChangeShapeType="1"/>
          </p:cNvSpPr>
          <p:nvPr/>
        </p:nvSpPr>
        <p:spPr bwMode="auto">
          <a:xfrm>
            <a:off x="5342539" y="792894"/>
            <a:ext cx="1366837" cy="0"/>
          </a:xfrm>
          <a:prstGeom prst="line">
            <a:avLst/>
          </a:prstGeom>
          <a:noFill/>
          <a:ln w="19050">
            <a:solidFill>
              <a:srgbClr val="3333FF"/>
            </a:solidFill>
            <a:round/>
            <a:headEnd/>
            <a:tailEnd type="stealth" w="med" len="lg"/>
          </a:ln>
          <a:effectLst/>
        </p:spPr>
        <p:txBody>
          <a:bodyPr wrap="none"/>
          <a:lstStyle/>
          <a:p>
            <a:endParaRPr lang="zh-CN" altLang="en-US">
              <a:latin typeface="Consolas" pitchFamily="49" charset="0"/>
              <a:cs typeface="Consolas" pitchFamily="49" charset="0"/>
            </a:endParaRPr>
          </a:p>
        </p:txBody>
      </p:sp>
      <p:sp>
        <p:nvSpPr>
          <p:cNvPr id="17" name="Line 16">
            <a:extLst>
              <a:ext uri="{FF2B5EF4-FFF2-40B4-BE49-F238E27FC236}">
                <a16:creationId xmlns:a16="http://schemas.microsoft.com/office/drawing/2014/main" id="{B5CAE002-83DC-C8BC-D010-A5B0A15D262F}"/>
              </a:ext>
            </a:extLst>
          </p:cNvPr>
          <p:cNvSpPr>
            <a:spLocks noChangeShapeType="1"/>
          </p:cNvSpPr>
          <p:nvPr/>
        </p:nvSpPr>
        <p:spPr bwMode="auto">
          <a:xfrm>
            <a:off x="5413976" y="2088294"/>
            <a:ext cx="1295400" cy="0"/>
          </a:xfrm>
          <a:prstGeom prst="line">
            <a:avLst/>
          </a:prstGeom>
          <a:noFill/>
          <a:ln w="19050">
            <a:solidFill>
              <a:srgbClr val="3333FF"/>
            </a:solidFill>
            <a:round/>
            <a:headEnd/>
            <a:tailEnd type="stealth" w="med" len="lg"/>
          </a:ln>
          <a:effectLst/>
        </p:spPr>
        <p:txBody>
          <a:bodyPr wrap="none"/>
          <a:lstStyle/>
          <a:p>
            <a:endParaRPr lang="zh-CN" altLang="en-US">
              <a:latin typeface="Consolas" pitchFamily="49" charset="0"/>
              <a:cs typeface="Consolas" pitchFamily="49" charset="0"/>
            </a:endParaRPr>
          </a:p>
        </p:txBody>
      </p:sp>
      <p:sp>
        <p:nvSpPr>
          <p:cNvPr id="19" name="Freeform 17">
            <a:extLst>
              <a:ext uri="{FF2B5EF4-FFF2-40B4-BE49-F238E27FC236}">
                <a16:creationId xmlns:a16="http://schemas.microsoft.com/office/drawing/2014/main" id="{CC12FC65-B30C-E90A-CE8A-6D7503C58789}"/>
              </a:ext>
            </a:extLst>
          </p:cNvPr>
          <p:cNvSpPr>
            <a:spLocks/>
          </p:cNvSpPr>
          <p:nvPr/>
        </p:nvSpPr>
        <p:spPr bwMode="auto">
          <a:xfrm>
            <a:off x="5375876" y="1512032"/>
            <a:ext cx="469900" cy="407987"/>
          </a:xfrm>
          <a:custGeom>
            <a:avLst/>
            <a:gdLst/>
            <a:ahLst/>
            <a:cxnLst>
              <a:cxn ang="0">
                <a:pos x="0" y="257"/>
              </a:cxn>
              <a:cxn ang="0">
                <a:pos x="296" y="0"/>
              </a:cxn>
            </a:cxnLst>
            <a:rect l="0" t="0" r="r" b="b"/>
            <a:pathLst>
              <a:path w="296" h="257">
                <a:moveTo>
                  <a:pt x="0" y="257"/>
                </a:moveTo>
                <a:lnTo>
                  <a:pt x="296" y="0"/>
                </a:lnTo>
              </a:path>
            </a:pathLst>
          </a:custGeom>
          <a:noFill/>
          <a:ln w="19050">
            <a:solidFill>
              <a:srgbClr val="3333FF"/>
            </a:solidFill>
            <a:round/>
            <a:headEnd/>
            <a:tailEnd type="stealth" w="med" len="lg"/>
          </a:ln>
          <a:effectLst/>
        </p:spPr>
        <p:txBody>
          <a:bodyPr wrap="none"/>
          <a:lstStyle/>
          <a:p>
            <a:endParaRPr lang="zh-CN" altLang="en-US">
              <a:latin typeface="Consolas" pitchFamily="49" charset="0"/>
              <a:cs typeface="Consolas" pitchFamily="49" charset="0"/>
            </a:endParaRPr>
          </a:p>
        </p:txBody>
      </p:sp>
      <p:sp>
        <p:nvSpPr>
          <p:cNvPr id="20" name="Line 18">
            <a:extLst>
              <a:ext uri="{FF2B5EF4-FFF2-40B4-BE49-F238E27FC236}">
                <a16:creationId xmlns:a16="http://schemas.microsoft.com/office/drawing/2014/main" id="{7A376170-8239-D6F0-C573-E80207988D29}"/>
              </a:ext>
            </a:extLst>
          </p:cNvPr>
          <p:cNvSpPr>
            <a:spLocks noChangeShapeType="1"/>
          </p:cNvSpPr>
          <p:nvPr/>
        </p:nvSpPr>
        <p:spPr bwMode="auto">
          <a:xfrm>
            <a:off x="5317139" y="935769"/>
            <a:ext cx="503237" cy="360363"/>
          </a:xfrm>
          <a:prstGeom prst="line">
            <a:avLst/>
          </a:prstGeom>
          <a:noFill/>
          <a:ln w="19050">
            <a:solidFill>
              <a:srgbClr val="3333FF"/>
            </a:solidFill>
            <a:round/>
            <a:headEnd/>
            <a:tailEnd type="stealth" w="med" len="lg"/>
          </a:ln>
          <a:effectLst/>
        </p:spPr>
        <p:txBody>
          <a:bodyPr wrap="none"/>
          <a:lstStyle/>
          <a:p>
            <a:endParaRPr lang="zh-CN" altLang="en-US">
              <a:latin typeface="Consolas" pitchFamily="49" charset="0"/>
              <a:cs typeface="Consolas" pitchFamily="49" charset="0"/>
            </a:endParaRPr>
          </a:p>
        </p:txBody>
      </p:sp>
      <p:sp>
        <p:nvSpPr>
          <p:cNvPr id="21" name="Freeform 19">
            <a:extLst>
              <a:ext uri="{FF2B5EF4-FFF2-40B4-BE49-F238E27FC236}">
                <a16:creationId xmlns:a16="http://schemas.microsoft.com/office/drawing/2014/main" id="{ED563C85-7A4E-446B-1856-1E837F9B522A}"/>
              </a:ext>
            </a:extLst>
          </p:cNvPr>
          <p:cNvSpPr>
            <a:spLocks/>
          </p:cNvSpPr>
          <p:nvPr/>
        </p:nvSpPr>
        <p:spPr bwMode="auto">
          <a:xfrm>
            <a:off x="6069614" y="937357"/>
            <a:ext cx="639762" cy="411162"/>
          </a:xfrm>
          <a:custGeom>
            <a:avLst/>
            <a:gdLst/>
            <a:ahLst/>
            <a:cxnLst>
              <a:cxn ang="0">
                <a:pos x="0" y="259"/>
              </a:cxn>
              <a:cxn ang="0">
                <a:pos x="403" y="0"/>
              </a:cxn>
            </a:cxnLst>
            <a:rect l="0" t="0" r="r" b="b"/>
            <a:pathLst>
              <a:path w="403" h="259">
                <a:moveTo>
                  <a:pt x="0" y="259"/>
                </a:moveTo>
                <a:lnTo>
                  <a:pt x="403" y="0"/>
                </a:lnTo>
              </a:path>
            </a:pathLst>
          </a:custGeom>
          <a:noFill/>
          <a:ln w="19050" cap="flat" cmpd="sng">
            <a:solidFill>
              <a:srgbClr val="3333FF"/>
            </a:solidFill>
            <a:prstDash val="solid"/>
            <a:round/>
            <a:headEnd type="none" w="med" len="med"/>
            <a:tailEnd type="stealth" w="med" len="lg"/>
          </a:ln>
          <a:effectLst/>
        </p:spPr>
        <p:txBody>
          <a:bodyPr wrap="none"/>
          <a:lstStyle/>
          <a:p>
            <a:endParaRPr lang="zh-CN" altLang="en-US">
              <a:latin typeface="Consolas" pitchFamily="49" charset="0"/>
              <a:cs typeface="Consolas" pitchFamily="49" charset="0"/>
            </a:endParaRPr>
          </a:p>
        </p:txBody>
      </p:sp>
      <p:sp>
        <p:nvSpPr>
          <p:cNvPr id="22" name="Line 20">
            <a:extLst>
              <a:ext uri="{FF2B5EF4-FFF2-40B4-BE49-F238E27FC236}">
                <a16:creationId xmlns:a16="http://schemas.microsoft.com/office/drawing/2014/main" id="{B63C67E8-BC6C-D1DB-0EDA-13037D34E3A3}"/>
              </a:ext>
            </a:extLst>
          </p:cNvPr>
          <p:cNvSpPr>
            <a:spLocks noChangeShapeType="1"/>
          </p:cNvSpPr>
          <p:nvPr/>
        </p:nvSpPr>
        <p:spPr bwMode="auto">
          <a:xfrm>
            <a:off x="6061676" y="1512032"/>
            <a:ext cx="647700" cy="431800"/>
          </a:xfrm>
          <a:prstGeom prst="line">
            <a:avLst/>
          </a:prstGeom>
          <a:noFill/>
          <a:ln w="19050">
            <a:solidFill>
              <a:srgbClr val="3333FF"/>
            </a:solidFill>
            <a:round/>
            <a:headEnd/>
            <a:tailEnd type="stealth" w="med" len="lg"/>
          </a:ln>
          <a:effectLst/>
        </p:spPr>
        <p:txBody>
          <a:bodyPr wrap="none"/>
          <a:lstStyle/>
          <a:p>
            <a:endParaRPr lang="zh-CN" altLang="en-US">
              <a:latin typeface="Consolas" pitchFamily="49" charset="0"/>
              <a:cs typeface="Consolas" pitchFamily="49" charset="0"/>
            </a:endParaRPr>
          </a:p>
        </p:txBody>
      </p:sp>
      <p:sp>
        <p:nvSpPr>
          <p:cNvPr id="23" name="Line 21">
            <a:extLst>
              <a:ext uri="{FF2B5EF4-FFF2-40B4-BE49-F238E27FC236}">
                <a16:creationId xmlns:a16="http://schemas.microsoft.com/office/drawing/2014/main" id="{EA25AE55-4432-1477-9113-6AA340D8FCB4}"/>
              </a:ext>
            </a:extLst>
          </p:cNvPr>
          <p:cNvSpPr>
            <a:spLocks noChangeShapeType="1"/>
          </p:cNvSpPr>
          <p:nvPr/>
        </p:nvSpPr>
        <p:spPr bwMode="auto">
          <a:xfrm flipV="1">
            <a:off x="6853839" y="1008794"/>
            <a:ext cx="0" cy="863600"/>
          </a:xfrm>
          <a:prstGeom prst="line">
            <a:avLst/>
          </a:prstGeom>
          <a:noFill/>
          <a:ln w="19050">
            <a:solidFill>
              <a:srgbClr val="3333FF"/>
            </a:solidFill>
            <a:round/>
            <a:headEnd/>
            <a:tailEnd type="stealth" w="med" len="lg"/>
          </a:ln>
          <a:effectLst/>
        </p:spPr>
        <p:txBody>
          <a:bodyPr wrap="none"/>
          <a:lstStyle/>
          <a:p>
            <a:endParaRPr lang="zh-CN" altLang="en-US">
              <a:latin typeface="Consolas" pitchFamily="49" charset="0"/>
              <a:cs typeface="Consolas" pitchFamily="49" charset="0"/>
            </a:endParaRPr>
          </a:p>
        </p:txBody>
      </p:sp>
      <p:sp>
        <p:nvSpPr>
          <p:cNvPr id="24" name="Line 22">
            <a:extLst>
              <a:ext uri="{FF2B5EF4-FFF2-40B4-BE49-F238E27FC236}">
                <a16:creationId xmlns:a16="http://schemas.microsoft.com/office/drawing/2014/main" id="{F9EB9854-5E49-D405-FB03-B5A66A31D0A7}"/>
              </a:ext>
            </a:extLst>
          </p:cNvPr>
          <p:cNvSpPr>
            <a:spLocks noChangeShapeType="1"/>
          </p:cNvSpPr>
          <p:nvPr/>
        </p:nvSpPr>
        <p:spPr bwMode="auto">
          <a:xfrm flipV="1">
            <a:off x="6998301" y="1610457"/>
            <a:ext cx="576263" cy="431800"/>
          </a:xfrm>
          <a:prstGeom prst="line">
            <a:avLst/>
          </a:prstGeom>
          <a:noFill/>
          <a:ln w="19050">
            <a:solidFill>
              <a:srgbClr val="3333FF"/>
            </a:solidFill>
            <a:round/>
            <a:headEnd/>
            <a:tailEnd type="stealth" w="med" len="lg"/>
          </a:ln>
          <a:effectLst/>
        </p:spPr>
        <p:txBody>
          <a:bodyPr wrap="none"/>
          <a:lstStyle/>
          <a:p>
            <a:endParaRPr lang="zh-CN" altLang="en-US">
              <a:latin typeface="Consolas" pitchFamily="49" charset="0"/>
              <a:cs typeface="Consolas" pitchFamily="49" charset="0"/>
            </a:endParaRPr>
          </a:p>
        </p:txBody>
      </p:sp>
      <p:sp>
        <p:nvSpPr>
          <p:cNvPr id="25" name="Line 23">
            <a:extLst>
              <a:ext uri="{FF2B5EF4-FFF2-40B4-BE49-F238E27FC236}">
                <a16:creationId xmlns:a16="http://schemas.microsoft.com/office/drawing/2014/main" id="{729690D5-36C6-64CF-DBFC-DBBCE48D1A78}"/>
              </a:ext>
            </a:extLst>
          </p:cNvPr>
          <p:cNvSpPr>
            <a:spLocks noChangeShapeType="1"/>
          </p:cNvSpPr>
          <p:nvPr/>
        </p:nvSpPr>
        <p:spPr bwMode="auto">
          <a:xfrm>
            <a:off x="6998301" y="838932"/>
            <a:ext cx="576263" cy="503237"/>
          </a:xfrm>
          <a:prstGeom prst="line">
            <a:avLst/>
          </a:prstGeom>
          <a:noFill/>
          <a:ln w="19050">
            <a:solidFill>
              <a:srgbClr val="3333FF"/>
            </a:solidFill>
            <a:round/>
            <a:headEnd/>
            <a:tailEnd type="stealth" w="med" len="lg"/>
          </a:ln>
          <a:effectLst/>
        </p:spPr>
        <p:txBody>
          <a:bodyPr wrap="none"/>
          <a:lstStyle/>
          <a:p>
            <a:endParaRPr lang="zh-CN" altLang="en-US">
              <a:latin typeface="Consolas" pitchFamily="49" charset="0"/>
              <a:cs typeface="Consolas" pitchFamily="49" charset="0"/>
            </a:endParaRPr>
          </a:p>
        </p:txBody>
      </p:sp>
      <p:sp>
        <p:nvSpPr>
          <p:cNvPr id="26" name="Text Box 24">
            <a:extLst>
              <a:ext uri="{FF2B5EF4-FFF2-40B4-BE49-F238E27FC236}">
                <a16:creationId xmlns:a16="http://schemas.microsoft.com/office/drawing/2014/main" id="{D530870D-3A2A-DC15-B59E-B477ECE3D4D0}"/>
              </a:ext>
            </a:extLst>
          </p:cNvPr>
          <p:cNvSpPr txBox="1">
            <a:spLocks noChangeArrowheads="1"/>
          </p:cNvSpPr>
          <p:nvPr/>
        </p:nvSpPr>
        <p:spPr bwMode="auto">
          <a:xfrm>
            <a:off x="4477351" y="719869"/>
            <a:ext cx="433388" cy="338554"/>
          </a:xfrm>
          <a:prstGeom prst="rect">
            <a:avLst/>
          </a:prstGeom>
          <a:noFill/>
          <a:ln w="19050" algn="ctr">
            <a:noFill/>
            <a:miter lim="800000"/>
            <a:headEnd/>
            <a:tailEnd type="none" w="med" len="lg"/>
          </a:ln>
          <a:effectLst/>
        </p:spPr>
        <p:txBody>
          <a:bodyPr>
            <a:spAutoFit/>
          </a:bodyPr>
          <a:lstStyle/>
          <a:p>
            <a:pPr algn="ctr"/>
            <a:r>
              <a:rPr lang="en-US" altLang="zh-CN" sz="1600">
                <a:solidFill>
                  <a:srgbClr val="339933"/>
                </a:solidFill>
                <a:latin typeface="Consolas" pitchFamily="49" charset="0"/>
                <a:cs typeface="Consolas" pitchFamily="49" charset="0"/>
              </a:rPr>
              <a:t>4</a:t>
            </a:r>
          </a:p>
        </p:txBody>
      </p:sp>
      <p:sp>
        <p:nvSpPr>
          <p:cNvPr id="27" name="Text Box 25">
            <a:extLst>
              <a:ext uri="{FF2B5EF4-FFF2-40B4-BE49-F238E27FC236}">
                <a16:creationId xmlns:a16="http://schemas.microsoft.com/office/drawing/2014/main" id="{F8B6EE4D-0D8F-68D9-BD3D-F7C0C768901E}"/>
              </a:ext>
            </a:extLst>
          </p:cNvPr>
          <p:cNvSpPr txBox="1">
            <a:spLocks noChangeArrowheads="1"/>
          </p:cNvSpPr>
          <p:nvPr/>
        </p:nvSpPr>
        <p:spPr bwMode="auto">
          <a:xfrm>
            <a:off x="5774339" y="432531"/>
            <a:ext cx="433387" cy="338554"/>
          </a:xfrm>
          <a:prstGeom prst="rect">
            <a:avLst/>
          </a:prstGeom>
          <a:noFill/>
          <a:ln w="19050" algn="ctr">
            <a:noFill/>
            <a:miter lim="800000"/>
            <a:headEnd/>
            <a:tailEnd type="none" w="med" len="lg"/>
          </a:ln>
          <a:effectLst/>
        </p:spPr>
        <p:txBody>
          <a:bodyPr>
            <a:spAutoFit/>
          </a:bodyPr>
          <a:lstStyle/>
          <a:p>
            <a:pPr algn="ctr"/>
            <a:r>
              <a:rPr lang="en-US" altLang="zh-CN" sz="1600">
                <a:solidFill>
                  <a:srgbClr val="339933"/>
                </a:solidFill>
                <a:latin typeface="Consolas" pitchFamily="49" charset="0"/>
                <a:cs typeface="Consolas" pitchFamily="49" charset="0"/>
              </a:rPr>
              <a:t>7</a:t>
            </a:r>
          </a:p>
        </p:txBody>
      </p:sp>
      <p:sp>
        <p:nvSpPr>
          <p:cNvPr id="28" name="Text Box 26">
            <a:extLst>
              <a:ext uri="{FF2B5EF4-FFF2-40B4-BE49-F238E27FC236}">
                <a16:creationId xmlns:a16="http://schemas.microsoft.com/office/drawing/2014/main" id="{95BE3C5A-ACB2-833C-841E-484ED3BE0209}"/>
              </a:ext>
            </a:extLst>
          </p:cNvPr>
          <p:cNvSpPr txBox="1">
            <a:spLocks noChangeArrowheads="1"/>
          </p:cNvSpPr>
          <p:nvPr/>
        </p:nvSpPr>
        <p:spPr bwMode="auto">
          <a:xfrm>
            <a:off x="5988651" y="873857"/>
            <a:ext cx="433388" cy="338554"/>
          </a:xfrm>
          <a:prstGeom prst="rect">
            <a:avLst/>
          </a:prstGeom>
          <a:noFill/>
          <a:ln w="19050" algn="ctr">
            <a:noFill/>
            <a:miter lim="800000"/>
            <a:headEnd/>
            <a:tailEnd type="none" w="med" len="lg"/>
          </a:ln>
          <a:effectLst/>
        </p:spPr>
        <p:txBody>
          <a:bodyPr>
            <a:spAutoFit/>
          </a:bodyPr>
          <a:lstStyle/>
          <a:p>
            <a:pPr algn="ctr"/>
            <a:r>
              <a:rPr lang="en-US" altLang="zh-CN" sz="1600">
                <a:solidFill>
                  <a:srgbClr val="339933"/>
                </a:solidFill>
                <a:latin typeface="Consolas" pitchFamily="49" charset="0"/>
                <a:cs typeface="Consolas" pitchFamily="49" charset="0"/>
              </a:rPr>
              <a:t>6</a:t>
            </a:r>
          </a:p>
        </p:txBody>
      </p:sp>
      <p:sp>
        <p:nvSpPr>
          <p:cNvPr id="29" name="Text Box 27">
            <a:extLst>
              <a:ext uri="{FF2B5EF4-FFF2-40B4-BE49-F238E27FC236}">
                <a16:creationId xmlns:a16="http://schemas.microsoft.com/office/drawing/2014/main" id="{3EFD3941-66A3-5025-FBD6-F27B45A1A9CB}"/>
              </a:ext>
            </a:extLst>
          </p:cNvPr>
          <p:cNvSpPr txBox="1">
            <a:spLocks noChangeArrowheads="1"/>
          </p:cNvSpPr>
          <p:nvPr/>
        </p:nvSpPr>
        <p:spPr bwMode="auto">
          <a:xfrm>
            <a:off x="6734776" y="1213582"/>
            <a:ext cx="433388" cy="338554"/>
          </a:xfrm>
          <a:prstGeom prst="rect">
            <a:avLst/>
          </a:prstGeom>
          <a:noFill/>
          <a:ln w="19050" algn="ctr">
            <a:noFill/>
            <a:miter lim="800000"/>
            <a:headEnd/>
            <a:tailEnd type="none" w="med" len="lg"/>
          </a:ln>
          <a:effectLst/>
        </p:spPr>
        <p:txBody>
          <a:bodyPr>
            <a:spAutoFit/>
          </a:bodyPr>
          <a:lstStyle/>
          <a:p>
            <a:pPr algn="ctr"/>
            <a:r>
              <a:rPr lang="en-US" altLang="zh-CN" sz="1600">
                <a:solidFill>
                  <a:srgbClr val="339933"/>
                </a:solidFill>
                <a:latin typeface="Consolas" pitchFamily="49" charset="0"/>
                <a:cs typeface="Consolas" pitchFamily="49" charset="0"/>
              </a:rPr>
              <a:t>1</a:t>
            </a:r>
          </a:p>
        </p:txBody>
      </p:sp>
      <p:sp>
        <p:nvSpPr>
          <p:cNvPr id="30" name="Text Box 28">
            <a:extLst>
              <a:ext uri="{FF2B5EF4-FFF2-40B4-BE49-F238E27FC236}">
                <a16:creationId xmlns:a16="http://schemas.microsoft.com/office/drawing/2014/main" id="{61670C12-3FBB-3017-8714-E13B209346B6}"/>
              </a:ext>
            </a:extLst>
          </p:cNvPr>
          <p:cNvSpPr txBox="1">
            <a:spLocks noChangeArrowheads="1"/>
          </p:cNvSpPr>
          <p:nvPr/>
        </p:nvSpPr>
        <p:spPr bwMode="auto">
          <a:xfrm>
            <a:off x="7141176" y="754794"/>
            <a:ext cx="433388" cy="338554"/>
          </a:xfrm>
          <a:prstGeom prst="rect">
            <a:avLst/>
          </a:prstGeom>
          <a:noFill/>
          <a:ln w="19050" algn="ctr">
            <a:noFill/>
            <a:miter lim="800000"/>
            <a:headEnd/>
            <a:tailEnd type="none" w="med" len="lg"/>
          </a:ln>
          <a:effectLst/>
        </p:spPr>
        <p:txBody>
          <a:bodyPr>
            <a:spAutoFit/>
          </a:bodyPr>
          <a:lstStyle/>
          <a:p>
            <a:pPr algn="ctr"/>
            <a:r>
              <a:rPr lang="en-US" altLang="zh-CN" sz="1600">
                <a:solidFill>
                  <a:srgbClr val="339933"/>
                </a:solidFill>
                <a:latin typeface="Consolas" pitchFamily="49" charset="0"/>
                <a:cs typeface="Consolas" pitchFamily="49" charset="0"/>
              </a:rPr>
              <a:t>6</a:t>
            </a:r>
          </a:p>
        </p:txBody>
      </p:sp>
      <p:sp>
        <p:nvSpPr>
          <p:cNvPr id="31" name="Text Box 29">
            <a:extLst>
              <a:ext uri="{FF2B5EF4-FFF2-40B4-BE49-F238E27FC236}">
                <a16:creationId xmlns:a16="http://schemas.microsoft.com/office/drawing/2014/main" id="{71B4AFFA-0447-2441-1A42-D0E2936E24E7}"/>
              </a:ext>
            </a:extLst>
          </p:cNvPr>
          <p:cNvSpPr txBox="1">
            <a:spLocks noChangeArrowheads="1"/>
          </p:cNvSpPr>
          <p:nvPr/>
        </p:nvSpPr>
        <p:spPr bwMode="auto">
          <a:xfrm>
            <a:off x="7155464" y="1742219"/>
            <a:ext cx="433387" cy="338554"/>
          </a:xfrm>
          <a:prstGeom prst="rect">
            <a:avLst/>
          </a:prstGeom>
          <a:noFill/>
          <a:ln w="19050" algn="ctr">
            <a:noFill/>
            <a:miter lim="800000"/>
            <a:headEnd/>
            <a:tailEnd type="none" w="med" len="lg"/>
          </a:ln>
          <a:effectLst/>
        </p:spPr>
        <p:txBody>
          <a:bodyPr>
            <a:spAutoFit/>
          </a:bodyPr>
          <a:lstStyle/>
          <a:p>
            <a:pPr algn="ctr"/>
            <a:r>
              <a:rPr lang="en-US" altLang="zh-CN" sz="1600" dirty="0">
                <a:solidFill>
                  <a:srgbClr val="339933"/>
                </a:solidFill>
                <a:latin typeface="Consolas" pitchFamily="49" charset="0"/>
                <a:cs typeface="Consolas" pitchFamily="49" charset="0"/>
              </a:rPr>
              <a:t>8</a:t>
            </a:r>
          </a:p>
        </p:txBody>
      </p:sp>
      <p:sp>
        <p:nvSpPr>
          <p:cNvPr id="32" name="Text Box 30">
            <a:extLst>
              <a:ext uri="{FF2B5EF4-FFF2-40B4-BE49-F238E27FC236}">
                <a16:creationId xmlns:a16="http://schemas.microsoft.com/office/drawing/2014/main" id="{4C136215-6FE9-0EF1-0D05-827066ED69BD}"/>
              </a:ext>
            </a:extLst>
          </p:cNvPr>
          <p:cNvSpPr txBox="1">
            <a:spLocks noChangeArrowheads="1"/>
          </p:cNvSpPr>
          <p:nvPr/>
        </p:nvSpPr>
        <p:spPr bwMode="auto">
          <a:xfrm>
            <a:off x="5701314" y="2016857"/>
            <a:ext cx="433387" cy="338554"/>
          </a:xfrm>
          <a:prstGeom prst="rect">
            <a:avLst/>
          </a:prstGeom>
          <a:noFill/>
          <a:ln w="19050" algn="ctr">
            <a:noFill/>
            <a:miter lim="800000"/>
            <a:headEnd/>
            <a:tailEnd type="none" w="med" len="lg"/>
          </a:ln>
          <a:effectLst/>
        </p:spPr>
        <p:txBody>
          <a:bodyPr>
            <a:spAutoFit/>
          </a:bodyPr>
          <a:lstStyle/>
          <a:p>
            <a:pPr algn="ctr"/>
            <a:r>
              <a:rPr lang="en-US" altLang="zh-CN" sz="1600">
                <a:solidFill>
                  <a:srgbClr val="339933"/>
                </a:solidFill>
                <a:latin typeface="Consolas" pitchFamily="49" charset="0"/>
                <a:cs typeface="Consolas" pitchFamily="49" charset="0"/>
              </a:rPr>
              <a:t>5</a:t>
            </a:r>
          </a:p>
        </p:txBody>
      </p:sp>
      <p:sp>
        <p:nvSpPr>
          <p:cNvPr id="33" name="Text Box 31">
            <a:extLst>
              <a:ext uri="{FF2B5EF4-FFF2-40B4-BE49-F238E27FC236}">
                <a16:creationId xmlns:a16="http://schemas.microsoft.com/office/drawing/2014/main" id="{D0E06367-BA21-0925-1B02-3E9C57BF7C8F}"/>
              </a:ext>
            </a:extLst>
          </p:cNvPr>
          <p:cNvSpPr txBox="1">
            <a:spLocks noChangeArrowheads="1"/>
          </p:cNvSpPr>
          <p:nvPr/>
        </p:nvSpPr>
        <p:spPr bwMode="auto">
          <a:xfrm>
            <a:off x="4477351" y="1619982"/>
            <a:ext cx="433388" cy="338554"/>
          </a:xfrm>
          <a:prstGeom prst="rect">
            <a:avLst/>
          </a:prstGeom>
          <a:noFill/>
          <a:ln w="19050" algn="ctr">
            <a:noFill/>
            <a:miter lim="800000"/>
            <a:headEnd/>
            <a:tailEnd type="none" w="med" len="lg"/>
          </a:ln>
          <a:effectLst/>
        </p:spPr>
        <p:txBody>
          <a:bodyPr>
            <a:spAutoFit/>
          </a:bodyPr>
          <a:lstStyle/>
          <a:p>
            <a:pPr algn="ctr"/>
            <a:r>
              <a:rPr lang="en-US" altLang="zh-CN" sz="1600">
                <a:solidFill>
                  <a:srgbClr val="339933"/>
                </a:solidFill>
                <a:latin typeface="Consolas" pitchFamily="49" charset="0"/>
                <a:cs typeface="Consolas" pitchFamily="49" charset="0"/>
              </a:rPr>
              <a:t>6</a:t>
            </a:r>
          </a:p>
        </p:txBody>
      </p:sp>
      <p:sp>
        <p:nvSpPr>
          <p:cNvPr id="34" name="Text Box 32">
            <a:extLst>
              <a:ext uri="{FF2B5EF4-FFF2-40B4-BE49-F238E27FC236}">
                <a16:creationId xmlns:a16="http://schemas.microsoft.com/office/drawing/2014/main" id="{4E1650B1-C74D-8488-7CF7-3BB64FE8EFFA}"/>
              </a:ext>
            </a:extLst>
          </p:cNvPr>
          <p:cNvSpPr txBox="1">
            <a:spLocks noChangeArrowheads="1"/>
          </p:cNvSpPr>
          <p:nvPr/>
        </p:nvSpPr>
        <p:spPr bwMode="auto">
          <a:xfrm>
            <a:off x="4909151" y="1092932"/>
            <a:ext cx="433388" cy="338554"/>
          </a:xfrm>
          <a:prstGeom prst="rect">
            <a:avLst/>
          </a:prstGeom>
          <a:noFill/>
          <a:ln w="19050" algn="ctr">
            <a:noFill/>
            <a:miter lim="800000"/>
            <a:headEnd/>
            <a:tailEnd type="none" w="med" len="lg"/>
          </a:ln>
          <a:effectLst/>
        </p:spPr>
        <p:txBody>
          <a:bodyPr>
            <a:spAutoFit/>
          </a:bodyPr>
          <a:lstStyle/>
          <a:p>
            <a:pPr algn="ctr"/>
            <a:r>
              <a:rPr lang="en-US" altLang="zh-CN" sz="1600">
                <a:solidFill>
                  <a:srgbClr val="339933"/>
                </a:solidFill>
                <a:latin typeface="Consolas" pitchFamily="49" charset="0"/>
                <a:cs typeface="Consolas" pitchFamily="49" charset="0"/>
              </a:rPr>
              <a:t>6</a:t>
            </a:r>
          </a:p>
        </p:txBody>
      </p:sp>
      <p:sp>
        <p:nvSpPr>
          <p:cNvPr id="35" name="Text Box 33">
            <a:extLst>
              <a:ext uri="{FF2B5EF4-FFF2-40B4-BE49-F238E27FC236}">
                <a16:creationId xmlns:a16="http://schemas.microsoft.com/office/drawing/2014/main" id="{10DCE7BD-C531-4675-FD88-2588AAD292F7}"/>
              </a:ext>
            </a:extLst>
          </p:cNvPr>
          <p:cNvSpPr txBox="1">
            <a:spLocks noChangeArrowheads="1"/>
          </p:cNvSpPr>
          <p:nvPr/>
        </p:nvSpPr>
        <p:spPr bwMode="auto">
          <a:xfrm>
            <a:off x="5298089" y="1513619"/>
            <a:ext cx="298450" cy="246221"/>
          </a:xfrm>
          <a:prstGeom prst="rect">
            <a:avLst/>
          </a:prstGeom>
          <a:noFill/>
          <a:ln w="19050" algn="ctr">
            <a:noFill/>
            <a:miter lim="800000"/>
            <a:headEnd/>
            <a:tailEnd type="none" w="med" len="lg"/>
          </a:ln>
          <a:effectLst/>
        </p:spPr>
        <p:txBody>
          <a:bodyPr lIns="0" tIns="0" rIns="0" bIns="0">
            <a:spAutoFit/>
          </a:bodyPr>
          <a:lstStyle/>
          <a:p>
            <a:pPr algn="ctr"/>
            <a:r>
              <a:rPr lang="en-US" altLang="zh-CN" sz="1600">
                <a:solidFill>
                  <a:srgbClr val="339933"/>
                </a:solidFill>
                <a:latin typeface="Consolas" pitchFamily="49" charset="0"/>
                <a:cs typeface="Consolas" pitchFamily="49" charset="0"/>
              </a:rPr>
              <a:t>2</a:t>
            </a:r>
          </a:p>
        </p:txBody>
      </p:sp>
      <p:sp>
        <p:nvSpPr>
          <p:cNvPr id="36" name="Text Box 34">
            <a:extLst>
              <a:ext uri="{FF2B5EF4-FFF2-40B4-BE49-F238E27FC236}">
                <a16:creationId xmlns:a16="http://schemas.microsoft.com/office/drawing/2014/main" id="{9B2AEF19-8E92-BCDC-D3C6-CF482043AC38}"/>
              </a:ext>
            </a:extLst>
          </p:cNvPr>
          <p:cNvSpPr txBox="1">
            <a:spLocks noChangeArrowheads="1"/>
          </p:cNvSpPr>
          <p:nvPr/>
        </p:nvSpPr>
        <p:spPr bwMode="auto">
          <a:xfrm>
            <a:off x="6158514" y="1354869"/>
            <a:ext cx="433387" cy="338554"/>
          </a:xfrm>
          <a:prstGeom prst="rect">
            <a:avLst/>
          </a:prstGeom>
          <a:noFill/>
          <a:ln w="19050" algn="ctr">
            <a:noFill/>
            <a:miter lim="800000"/>
            <a:headEnd/>
            <a:tailEnd type="none" w="med" len="lg"/>
          </a:ln>
          <a:effectLst/>
        </p:spPr>
        <p:txBody>
          <a:bodyPr>
            <a:spAutoFit/>
          </a:bodyPr>
          <a:lstStyle/>
          <a:p>
            <a:pPr algn="ctr"/>
            <a:r>
              <a:rPr lang="en-US" altLang="zh-CN" sz="1600">
                <a:solidFill>
                  <a:srgbClr val="339933"/>
                </a:solidFill>
                <a:latin typeface="Consolas" pitchFamily="49" charset="0"/>
                <a:cs typeface="Consolas" pitchFamily="49" charset="0"/>
              </a:rPr>
              <a:t>4</a:t>
            </a:r>
          </a:p>
        </p:txBody>
      </p:sp>
      <p:sp>
        <p:nvSpPr>
          <p:cNvPr id="37" name="Text Box 35">
            <a:extLst>
              <a:ext uri="{FF2B5EF4-FFF2-40B4-BE49-F238E27FC236}">
                <a16:creationId xmlns:a16="http://schemas.microsoft.com/office/drawing/2014/main" id="{8B837185-3234-F833-81FF-CEA38C2DC923}"/>
              </a:ext>
            </a:extLst>
          </p:cNvPr>
          <p:cNvSpPr txBox="1">
            <a:spLocks noChangeArrowheads="1"/>
          </p:cNvSpPr>
          <p:nvPr/>
        </p:nvSpPr>
        <p:spPr bwMode="auto">
          <a:xfrm>
            <a:off x="5413976" y="792894"/>
            <a:ext cx="287338" cy="246221"/>
          </a:xfrm>
          <a:prstGeom prst="rect">
            <a:avLst/>
          </a:prstGeom>
          <a:noFill/>
          <a:ln w="19050" algn="ctr">
            <a:noFill/>
            <a:miter lim="800000"/>
            <a:headEnd/>
            <a:tailEnd type="none" w="med" len="lg"/>
          </a:ln>
          <a:effectLst/>
        </p:spPr>
        <p:txBody>
          <a:bodyPr lIns="0" tIns="0" rIns="0" bIns="0">
            <a:spAutoFit/>
          </a:bodyPr>
          <a:lstStyle/>
          <a:p>
            <a:pPr algn="ctr"/>
            <a:r>
              <a:rPr lang="en-US" altLang="zh-CN" sz="1600">
                <a:solidFill>
                  <a:srgbClr val="339933"/>
                </a:solidFill>
                <a:latin typeface="Consolas" pitchFamily="49" charset="0"/>
                <a:cs typeface="Consolas" pitchFamily="49" charset="0"/>
              </a:rPr>
              <a:t>1</a:t>
            </a:r>
          </a:p>
        </p:txBody>
      </p:sp>
      <p:sp>
        <p:nvSpPr>
          <p:cNvPr id="38" name="Text Box 37">
            <a:extLst>
              <a:ext uri="{FF2B5EF4-FFF2-40B4-BE49-F238E27FC236}">
                <a16:creationId xmlns:a16="http://schemas.microsoft.com/office/drawing/2014/main" id="{270358C0-3715-B5B6-B8EA-08EDF1ABB931}"/>
              </a:ext>
            </a:extLst>
          </p:cNvPr>
          <p:cNvSpPr txBox="1">
            <a:spLocks noChangeArrowheads="1"/>
          </p:cNvSpPr>
          <p:nvPr/>
        </p:nvSpPr>
        <p:spPr bwMode="auto">
          <a:xfrm>
            <a:off x="1559496" y="2348880"/>
            <a:ext cx="8208963" cy="313932"/>
          </a:xfrm>
          <a:prstGeom prst="rect">
            <a:avLst/>
          </a:prstGeom>
          <a:noFill/>
          <a:ln w="19050" algn="ctr">
            <a:noFill/>
            <a:miter lim="800000"/>
            <a:headEnd/>
            <a:tailEnd type="none" w="med" len="lg"/>
          </a:ln>
          <a:effectLst/>
        </p:spPr>
        <p:txBody>
          <a:bodyPr>
            <a:spAutoFit/>
          </a:bodyPr>
          <a:lstStyle/>
          <a:p>
            <a:pPr algn="just">
              <a:lnSpc>
                <a:spcPct val="80000"/>
              </a:lnSpc>
            </a:pPr>
            <a:r>
              <a:rPr kumimoji="1" lang="en-US" altLang="zh-CN" sz="1800">
                <a:solidFill>
                  <a:srgbClr val="FF00FF"/>
                </a:solidFill>
                <a:latin typeface="Consolas" pitchFamily="49" charset="0"/>
                <a:cs typeface="Consolas" pitchFamily="49" charset="0"/>
              </a:rPr>
              <a:t>S	       U	       dist[]                  path[]</a:t>
            </a:r>
            <a:endParaRPr lang="en-US" altLang="zh-CN" sz="1800">
              <a:solidFill>
                <a:srgbClr val="FF00FF"/>
              </a:solidFill>
              <a:latin typeface="Consolas" pitchFamily="49" charset="0"/>
              <a:cs typeface="Consolas" pitchFamily="49" charset="0"/>
            </a:endParaRPr>
          </a:p>
        </p:txBody>
      </p:sp>
      <p:sp>
        <p:nvSpPr>
          <p:cNvPr id="39" name="Text Box 40">
            <a:extLst>
              <a:ext uri="{FF2B5EF4-FFF2-40B4-BE49-F238E27FC236}">
                <a16:creationId xmlns:a16="http://schemas.microsoft.com/office/drawing/2014/main" id="{BB308C17-57BF-BFFD-02AE-56CB1A4AFA28}"/>
              </a:ext>
            </a:extLst>
          </p:cNvPr>
          <p:cNvSpPr txBox="1">
            <a:spLocks noChangeArrowheads="1"/>
          </p:cNvSpPr>
          <p:nvPr/>
        </p:nvSpPr>
        <p:spPr bwMode="auto">
          <a:xfrm>
            <a:off x="4310236" y="2913794"/>
            <a:ext cx="2535672" cy="246221"/>
          </a:xfrm>
          <a:prstGeom prst="rect">
            <a:avLst/>
          </a:prstGeom>
          <a:noFill/>
          <a:ln w="19050" algn="ctr">
            <a:noFill/>
            <a:miter lim="800000"/>
            <a:headEnd/>
            <a:tailEnd type="none" w="med" len="lg"/>
          </a:ln>
          <a:effectLst/>
        </p:spPr>
        <p:txBody>
          <a:bodyPr wrap="square" lIns="0" tIns="0" rIns="0" bIns="0">
            <a:spAutoFit/>
          </a:bodyPr>
          <a:lstStyle/>
          <a:p>
            <a:r>
              <a:rPr lang="en-US" altLang="zh-CN" sz="1600" dirty="0">
                <a:solidFill>
                  <a:srgbClr val="006600"/>
                </a:solidFill>
                <a:latin typeface="Consolas" pitchFamily="49" charset="0"/>
                <a:cs typeface="Consolas" pitchFamily="49" charset="0"/>
              </a:rPr>
              <a:t>0   1  2  3   </a:t>
            </a:r>
            <a:r>
              <a:rPr lang="en-US" altLang="zh-CN" sz="1600">
                <a:solidFill>
                  <a:srgbClr val="006600"/>
                </a:solidFill>
                <a:latin typeface="Consolas" pitchFamily="49" charset="0"/>
                <a:cs typeface="Consolas" pitchFamily="49" charset="0"/>
              </a:rPr>
              <a:t>4  5  </a:t>
            </a:r>
            <a:r>
              <a:rPr lang="en-US" altLang="zh-CN" sz="1600" dirty="0">
                <a:solidFill>
                  <a:srgbClr val="006600"/>
                </a:solidFill>
                <a:latin typeface="Consolas" pitchFamily="49" charset="0"/>
                <a:cs typeface="Consolas" pitchFamily="49" charset="0"/>
              </a:rPr>
              <a:t>6</a:t>
            </a:r>
          </a:p>
        </p:txBody>
      </p:sp>
      <p:sp>
        <p:nvSpPr>
          <p:cNvPr id="40" name="Text Box 41">
            <a:extLst>
              <a:ext uri="{FF2B5EF4-FFF2-40B4-BE49-F238E27FC236}">
                <a16:creationId xmlns:a16="http://schemas.microsoft.com/office/drawing/2014/main" id="{76B4032A-05EC-CA3C-E714-C2A1983F3E3E}"/>
              </a:ext>
            </a:extLst>
          </p:cNvPr>
          <p:cNvSpPr txBox="1">
            <a:spLocks noChangeArrowheads="1"/>
          </p:cNvSpPr>
          <p:nvPr/>
        </p:nvSpPr>
        <p:spPr bwMode="auto">
          <a:xfrm>
            <a:off x="7442828" y="2913794"/>
            <a:ext cx="2689228" cy="246221"/>
          </a:xfrm>
          <a:prstGeom prst="rect">
            <a:avLst/>
          </a:prstGeom>
          <a:noFill/>
          <a:ln w="19050" algn="ctr">
            <a:noFill/>
            <a:miter lim="800000"/>
            <a:headEnd/>
            <a:tailEnd type="none" w="med" len="lg"/>
          </a:ln>
          <a:effectLst/>
        </p:spPr>
        <p:txBody>
          <a:bodyPr wrap="square" lIns="0" tIns="0" rIns="0" bIns="0">
            <a:spAutoFit/>
          </a:bodyPr>
          <a:lstStyle/>
          <a:p>
            <a:r>
              <a:rPr lang="en-US" altLang="zh-CN" sz="1600">
                <a:solidFill>
                  <a:srgbClr val="006600"/>
                </a:solidFill>
                <a:latin typeface="Consolas" pitchFamily="49" charset="0"/>
                <a:cs typeface="Consolas" pitchFamily="49" charset="0"/>
              </a:rPr>
              <a:t>0  1  2  3   4   5   6</a:t>
            </a:r>
          </a:p>
        </p:txBody>
      </p:sp>
      <p:sp>
        <p:nvSpPr>
          <p:cNvPr id="41" name="Text Box 77">
            <a:extLst>
              <a:ext uri="{FF2B5EF4-FFF2-40B4-BE49-F238E27FC236}">
                <a16:creationId xmlns:a16="http://schemas.microsoft.com/office/drawing/2014/main" id="{E71B7F11-AB77-A7FA-C508-A9FFDAF4DCC0}"/>
              </a:ext>
            </a:extLst>
          </p:cNvPr>
          <p:cNvSpPr txBox="1">
            <a:spLocks noChangeArrowheads="1"/>
          </p:cNvSpPr>
          <p:nvPr/>
        </p:nvSpPr>
        <p:spPr bwMode="auto">
          <a:xfrm>
            <a:off x="1488058" y="701198"/>
            <a:ext cx="1603357" cy="553998"/>
          </a:xfrm>
          <a:prstGeom prst="rect">
            <a:avLst/>
          </a:prstGeom>
          <a:ln>
            <a:headEnd/>
            <a:tailEnd/>
          </a:ln>
        </p:spPr>
        <p:style>
          <a:lnRef idx="1">
            <a:schemeClr val="accent4"/>
          </a:lnRef>
          <a:fillRef idx="3">
            <a:schemeClr val="accent4"/>
          </a:fillRef>
          <a:effectRef idx="2">
            <a:schemeClr val="accent4"/>
          </a:effectRef>
          <a:fontRef idx="minor">
            <a:schemeClr val="lt1"/>
          </a:fontRef>
        </p:style>
        <p:txBody>
          <a:bodyPr wrap="square" lIns="0" tIns="0" rIns="0" bIns="0">
            <a:spAutoFit/>
          </a:bodyPr>
          <a:lstStyle/>
          <a:p>
            <a:pPr algn="ctr"/>
            <a:r>
              <a:rPr lang="en-US" altLang="zh-CN" sz="1800" dirty="0" err="1">
                <a:solidFill>
                  <a:schemeClr val="bg1"/>
                </a:solidFill>
                <a:latin typeface="Consolas" pitchFamily="49" charset="0"/>
                <a:ea typeface="华文中宋" pitchFamily="2" charset="-122"/>
                <a:cs typeface="Consolas" pitchFamily="49" charset="0"/>
              </a:rPr>
              <a:t>Dijkstra</a:t>
            </a:r>
            <a:r>
              <a:rPr lang="zh-CN" altLang="en-US" sz="1800" dirty="0">
                <a:solidFill>
                  <a:schemeClr val="bg1"/>
                </a:solidFill>
                <a:latin typeface="Consolas" pitchFamily="49" charset="0"/>
                <a:ea typeface="华文中宋" pitchFamily="2" charset="-122"/>
                <a:cs typeface="Consolas" pitchFamily="49" charset="0"/>
              </a:rPr>
              <a:t>算法示例演示</a:t>
            </a:r>
          </a:p>
        </p:txBody>
      </p:sp>
      <p:grpSp>
        <p:nvGrpSpPr>
          <p:cNvPr id="42" name="组合 75">
            <a:extLst>
              <a:ext uri="{FF2B5EF4-FFF2-40B4-BE49-F238E27FC236}">
                <a16:creationId xmlns:a16="http://schemas.microsoft.com/office/drawing/2014/main" id="{AA500087-914E-6864-3DC8-46BD6EBB9C11}"/>
              </a:ext>
            </a:extLst>
          </p:cNvPr>
          <p:cNvGrpSpPr/>
          <p:nvPr/>
        </p:nvGrpSpPr>
        <p:grpSpPr>
          <a:xfrm>
            <a:off x="6126793" y="3740881"/>
            <a:ext cx="2143140" cy="428628"/>
            <a:chOff x="4572000" y="3214686"/>
            <a:chExt cx="2143140" cy="428628"/>
          </a:xfrm>
        </p:grpSpPr>
        <p:sp>
          <p:nvSpPr>
            <p:cNvPr id="43" name="下箭头 61">
              <a:extLst>
                <a:ext uri="{FF2B5EF4-FFF2-40B4-BE49-F238E27FC236}">
                  <a16:creationId xmlns:a16="http://schemas.microsoft.com/office/drawing/2014/main" id="{EDB05F20-8832-03E7-D48E-9089F574D889}"/>
                </a:ext>
              </a:extLst>
            </p:cNvPr>
            <p:cNvSpPr/>
            <p:nvPr/>
          </p:nvSpPr>
          <p:spPr>
            <a:xfrm>
              <a:off x="4572000" y="3214686"/>
              <a:ext cx="142876" cy="428628"/>
            </a:xfrm>
            <a:prstGeom prst="downArrow">
              <a:avLst/>
            </a:prstGeom>
          </p:spPr>
          <p:style>
            <a:lnRef idx="0">
              <a:schemeClr val="accent4"/>
            </a:lnRef>
            <a:fillRef idx="3">
              <a:schemeClr val="accent4"/>
            </a:fillRef>
            <a:effectRef idx="3">
              <a:schemeClr val="accent4"/>
            </a:effectRef>
            <a:fontRef idx="minor">
              <a:schemeClr val="lt1"/>
            </a:fontRef>
          </p:style>
          <p:txBody>
            <a:bodyPr rtlCol="0" anchor="ctr"/>
            <a:lstStyle/>
            <a:p>
              <a:pPr algn="ctr"/>
              <a:endParaRPr lang="zh-CN" altLang="en-US" sz="1600">
                <a:latin typeface="Consolas" pitchFamily="49" charset="0"/>
                <a:ea typeface="仿宋" pitchFamily="49" charset="-122"/>
                <a:cs typeface="Consolas" pitchFamily="49" charset="0"/>
              </a:endParaRPr>
            </a:p>
          </p:txBody>
        </p:sp>
        <p:sp>
          <p:nvSpPr>
            <p:cNvPr id="44" name="TextBox 62">
              <a:extLst>
                <a:ext uri="{FF2B5EF4-FFF2-40B4-BE49-F238E27FC236}">
                  <a16:creationId xmlns:a16="http://schemas.microsoft.com/office/drawing/2014/main" id="{230235B0-B3BB-F091-760A-042090D97347}"/>
                </a:ext>
              </a:extLst>
            </p:cNvPr>
            <p:cNvSpPr txBox="1"/>
            <p:nvPr/>
          </p:nvSpPr>
          <p:spPr>
            <a:xfrm>
              <a:off x="4786314" y="3243204"/>
              <a:ext cx="1928826" cy="369332"/>
            </a:xfrm>
            <a:prstGeom prst="rect">
              <a:avLst/>
            </a:prstGeom>
            <a:noFill/>
          </p:spPr>
          <p:txBody>
            <a:bodyPr wrap="square" rtlCol="0">
              <a:spAutoFit/>
            </a:bodyPr>
            <a:lstStyle/>
            <a:p>
              <a:r>
                <a:rPr lang="zh-CN" altLang="en-US" sz="1800" dirty="0">
                  <a:latin typeface="Consolas" pitchFamily="49" charset="0"/>
                  <a:ea typeface="仿宋" pitchFamily="49" charset="-122"/>
                  <a:cs typeface="Consolas" pitchFamily="49" charset="0"/>
                </a:rPr>
                <a:t>最小的顶点：</a:t>
              </a:r>
              <a:r>
                <a:rPr lang="en-US" altLang="zh-CN" sz="1800" dirty="0">
                  <a:solidFill>
                    <a:srgbClr val="FF0000"/>
                  </a:solidFill>
                  <a:latin typeface="Consolas" pitchFamily="49" charset="0"/>
                  <a:ea typeface="仿宋" pitchFamily="49" charset="-122"/>
                  <a:cs typeface="Consolas" pitchFamily="49" charset="0"/>
                </a:rPr>
                <a:t>4</a:t>
              </a:r>
              <a:endParaRPr lang="zh-CN" altLang="en-US" sz="1800" dirty="0">
                <a:solidFill>
                  <a:srgbClr val="FF0000"/>
                </a:solidFill>
                <a:latin typeface="Consolas" pitchFamily="49" charset="0"/>
                <a:ea typeface="仿宋" pitchFamily="49" charset="-122"/>
                <a:cs typeface="Consolas" pitchFamily="49" charset="0"/>
              </a:endParaRPr>
            </a:p>
          </p:txBody>
        </p:sp>
      </p:grpSp>
      <p:sp>
        <p:nvSpPr>
          <p:cNvPr id="45" name="Text Box 58">
            <a:extLst>
              <a:ext uri="{FF2B5EF4-FFF2-40B4-BE49-F238E27FC236}">
                <a16:creationId xmlns:a16="http://schemas.microsoft.com/office/drawing/2014/main" id="{44D49D0A-2449-5013-6909-3E71B2B78CF2}"/>
              </a:ext>
            </a:extLst>
          </p:cNvPr>
          <p:cNvSpPr txBox="1">
            <a:spLocks noChangeArrowheads="1"/>
          </p:cNvSpPr>
          <p:nvPr/>
        </p:nvSpPr>
        <p:spPr bwMode="auto">
          <a:xfrm>
            <a:off x="1524600" y="3285267"/>
            <a:ext cx="1177903" cy="246221"/>
          </a:xfrm>
          <a:prstGeom prst="rect">
            <a:avLst/>
          </a:prstGeom>
          <a:noFill/>
          <a:ln w="38100" algn="ctr">
            <a:noFill/>
            <a:miter lim="800000"/>
            <a:headEnd/>
            <a:tailEnd type="none" w="med" len="lg"/>
          </a:ln>
          <a:effectLst/>
        </p:spPr>
        <p:txBody>
          <a:bodyPr wrap="square" lIns="0" tIns="0" rIns="0" bIns="0">
            <a:spAutoFit/>
          </a:bodyPr>
          <a:lstStyle/>
          <a:p>
            <a:pPr algn="ctr"/>
            <a:r>
              <a:rPr lang="en-US" altLang="zh-CN" sz="1600" dirty="0">
                <a:latin typeface="Consolas" pitchFamily="49" charset="0"/>
                <a:cs typeface="Consolas" pitchFamily="49" charset="0"/>
              </a:rPr>
              <a:t>{0,1,2,3,</a:t>
            </a:r>
            <a:r>
              <a:rPr lang="en-US" altLang="zh-CN" sz="1600" dirty="0">
                <a:solidFill>
                  <a:srgbClr val="FF3300"/>
                </a:solidFill>
                <a:latin typeface="Consolas" pitchFamily="49" charset="0"/>
                <a:cs typeface="Consolas" pitchFamily="49" charset="0"/>
              </a:rPr>
              <a:t>5</a:t>
            </a:r>
            <a:r>
              <a:rPr lang="en-US" altLang="zh-CN" sz="1600" dirty="0">
                <a:latin typeface="Consolas" pitchFamily="49" charset="0"/>
                <a:cs typeface="Consolas" pitchFamily="49" charset="0"/>
              </a:rPr>
              <a:t>}</a:t>
            </a:r>
          </a:p>
        </p:txBody>
      </p:sp>
      <p:sp>
        <p:nvSpPr>
          <p:cNvPr id="46" name="Text Box 59">
            <a:extLst>
              <a:ext uri="{FF2B5EF4-FFF2-40B4-BE49-F238E27FC236}">
                <a16:creationId xmlns:a16="http://schemas.microsoft.com/office/drawing/2014/main" id="{F7127E0A-1A3B-A402-C2A3-ADE082775D9E}"/>
              </a:ext>
            </a:extLst>
          </p:cNvPr>
          <p:cNvSpPr txBox="1">
            <a:spLocks noChangeArrowheads="1"/>
          </p:cNvSpPr>
          <p:nvPr/>
        </p:nvSpPr>
        <p:spPr bwMode="auto">
          <a:xfrm>
            <a:off x="2761252" y="3285267"/>
            <a:ext cx="1441450" cy="246221"/>
          </a:xfrm>
          <a:prstGeom prst="rect">
            <a:avLst/>
          </a:prstGeom>
          <a:noFill/>
          <a:ln w="38100" algn="ctr">
            <a:noFill/>
            <a:miter lim="800000"/>
            <a:headEnd/>
            <a:tailEnd type="none" w="med" len="lg"/>
          </a:ln>
          <a:effectLst/>
        </p:spPr>
        <p:txBody>
          <a:bodyPr lIns="0" tIns="0" rIns="0" bIns="0">
            <a:spAutoFit/>
          </a:bodyPr>
          <a:lstStyle/>
          <a:p>
            <a:pPr algn="ctr"/>
            <a:r>
              <a:rPr lang="en-US" altLang="zh-CN" sz="1600">
                <a:latin typeface="Consolas" pitchFamily="49" charset="0"/>
                <a:cs typeface="Consolas" pitchFamily="49" charset="0"/>
              </a:rPr>
              <a:t>{4,6}</a:t>
            </a:r>
          </a:p>
        </p:txBody>
      </p:sp>
      <p:sp>
        <p:nvSpPr>
          <p:cNvPr id="47" name="Text Box 60">
            <a:extLst>
              <a:ext uri="{FF2B5EF4-FFF2-40B4-BE49-F238E27FC236}">
                <a16:creationId xmlns:a16="http://schemas.microsoft.com/office/drawing/2014/main" id="{EB6E7943-AA2E-FD27-3AED-34D876CF0C82}"/>
              </a:ext>
            </a:extLst>
          </p:cNvPr>
          <p:cNvSpPr txBox="1">
            <a:spLocks noChangeArrowheads="1"/>
          </p:cNvSpPr>
          <p:nvPr/>
        </p:nvSpPr>
        <p:spPr bwMode="auto">
          <a:xfrm>
            <a:off x="4202702" y="3297967"/>
            <a:ext cx="2757471" cy="246221"/>
          </a:xfrm>
          <a:prstGeom prst="rect">
            <a:avLst/>
          </a:prstGeom>
          <a:noFill/>
          <a:ln w="38100" algn="ctr">
            <a:noFill/>
            <a:miter lim="800000"/>
            <a:headEnd/>
            <a:tailEnd type="none" w="med" len="lg"/>
          </a:ln>
          <a:effectLst/>
        </p:spPr>
        <p:txBody>
          <a:bodyPr wrap="square" lIns="0" tIns="0" rIns="0" bIns="0">
            <a:spAutoFit/>
          </a:bodyPr>
          <a:lstStyle/>
          <a:p>
            <a:r>
              <a:rPr lang="en-US" altLang="zh-CN" sz="1600" dirty="0">
                <a:latin typeface="Consolas" pitchFamily="49" charset="0"/>
                <a:cs typeface="Consolas" pitchFamily="49" charset="0"/>
              </a:rPr>
              <a:t>{0,  </a:t>
            </a:r>
            <a:r>
              <a:rPr lang="en-US" altLang="zh-CN" sz="1600" dirty="0">
                <a:solidFill>
                  <a:srgbClr val="0000FF"/>
                </a:solidFill>
                <a:latin typeface="Consolas" pitchFamily="49" charset="0"/>
                <a:cs typeface="Consolas" pitchFamily="49" charset="0"/>
              </a:rPr>
              <a:t>4,</a:t>
            </a:r>
            <a:r>
              <a:rPr lang="en-US" altLang="zh-CN" sz="1600" dirty="0">
                <a:solidFill>
                  <a:srgbClr val="FF3300"/>
                </a:solidFill>
                <a:latin typeface="Consolas" pitchFamily="49" charset="0"/>
                <a:cs typeface="Consolas" pitchFamily="49" charset="0"/>
              </a:rPr>
              <a:t> </a:t>
            </a:r>
            <a:r>
              <a:rPr lang="en-US" altLang="zh-CN" sz="1600" dirty="0">
                <a:latin typeface="Consolas" pitchFamily="49" charset="0"/>
                <a:cs typeface="Consolas" pitchFamily="49" charset="0"/>
              </a:rPr>
              <a:t>5, 6, </a:t>
            </a:r>
            <a:r>
              <a:rPr lang="en-US" altLang="zh-CN" sz="1600" u="heavy" dirty="0">
                <a:solidFill>
                  <a:srgbClr val="FF0000"/>
                </a:solidFill>
                <a:uFill>
                  <a:solidFill>
                    <a:srgbClr val="C00000"/>
                  </a:solidFill>
                </a:uFill>
                <a:latin typeface="Consolas" pitchFamily="49" charset="0"/>
                <a:cs typeface="Consolas" pitchFamily="49" charset="0"/>
              </a:rPr>
              <a:t>10</a:t>
            </a:r>
            <a:r>
              <a:rPr lang="en-US" altLang="zh-CN" sz="1600" dirty="0">
                <a:solidFill>
                  <a:srgbClr val="6600CC"/>
                </a:solidFill>
                <a:latin typeface="Consolas" pitchFamily="49" charset="0"/>
                <a:cs typeface="Consolas" pitchFamily="49" charset="0"/>
              </a:rPr>
              <a:t>, </a:t>
            </a:r>
            <a:r>
              <a:rPr lang="en-US" altLang="zh-CN" sz="1600" dirty="0">
                <a:latin typeface="Consolas" pitchFamily="49" charset="0"/>
                <a:cs typeface="Consolas" pitchFamily="49" charset="0"/>
              </a:rPr>
              <a:t>9,</a:t>
            </a:r>
            <a:r>
              <a:rPr lang="en-US" altLang="zh-CN" sz="1600" dirty="0">
                <a:solidFill>
                  <a:srgbClr val="6600CC"/>
                </a:solidFill>
                <a:latin typeface="Consolas" pitchFamily="49" charset="0"/>
                <a:cs typeface="Consolas" pitchFamily="49" charset="0"/>
              </a:rPr>
              <a:t> </a:t>
            </a:r>
            <a:r>
              <a:rPr lang="en-US" altLang="zh-CN" sz="1600" u="heavy" dirty="0">
                <a:solidFill>
                  <a:srgbClr val="FF0000"/>
                </a:solidFill>
                <a:uFill>
                  <a:solidFill>
                    <a:srgbClr val="C00000"/>
                  </a:solidFill>
                </a:uFill>
                <a:latin typeface="Consolas" pitchFamily="49" charset="0"/>
                <a:cs typeface="Consolas" pitchFamily="49" charset="0"/>
              </a:rPr>
              <a:t>17</a:t>
            </a:r>
            <a:r>
              <a:rPr lang="en-US" altLang="zh-CN" sz="1600" dirty="0">
                <a:latin typeface="Consolas" pitchFamily="49" charset="0"/>
                <a:cs typeface="Consolas" pitchFamily="49" charset="0"/>
              </a:rPr>
              <a:t>}</a:t>
            </a:r>
          </a:p>
        </p:txBody>
      </p:sp>
      <p:sp>
        <p:nvSpPr>
          <p:cNvPr id="48" name="Text Box 61">
            <a:extLst>
              <a:ext uri="{FF2B5EF4-FFF2-40B4-BE49-F238E27FC236}">
                <a16:creationId xmlns:a16="http://schemas.microsoft.com/office/drawing/2014/main" id="{92709B05-DAE3-1E90-D479-0E1A1E813712}"/>
              </a:ext>
            </a:extLst>
          </p:cNvPr>
          <p:cNvSpPr txBox="1">
            <a:spLocks noChangeArrowheads="1"/>
          </p:cNvSpPr>
          <p:nvPr/>
        </p:nvSpPr>
        <p:spPr bwMode="auto">
          <a:xfrm>
            <a:off x="7325353" y="3297967"/>
            <a:ext cx="2806703" cy="246221"/>
          </a:xfrm>
          <a:prstGeom prst="rect">
            <a:avLst/>
          </a:prstGeom>
          <a:noFill/>
          <a:ln w="38100" algn="ctr">
            <a:noFill/>
            <a:miter lim="800000"/>
            <a:headEnd/>
            <a:tailEnd type="none" w="med" len="lg"/>
          </a:ln>
          <a:effectLst/>
        </p:spPr>
        <p:txBody>
          <a:bodyPr wrap="square" lIns="0" tIns="0" rIns="0" bIns="0">
            <a:spAutoFit/>
          </a:bodyPr>
          <a:lstStyle/>
          <a:p>
            <a:r>
              <a:rPr lang="en-US" altLang="zh-CN" sz="1600" dirty="0">
                <a:latin typeface="Consolas" pitchFamily="49" charset="0"/>
                <a:cs typeface="Consolas" pitchFamily="49" charset="0"/>
              </a:rPr>
              <a:t>{0, 0, 1, 0,  </a:t>
            </a:r>
            <a:r>
              <a:rPr lang="en-US" altLang="zh-CN" sz="1600" dirty="0">
                <a:solidFill>
                  <a:srgbClr val="FF0000"/>
                </a:solidFill>
                <a:latin typeface="Consolas" pitchFamily="49" charset="0"/>
                <a:cs typeface="Consolas" pitchFamily="49" charset="0"/>
              </a:rPr>
              <a:t>5</a:t>
            </a:r>
            <a:r>
              <a:rPr lang="en-US" altLang="zh-CN" sz="1600" dirty="0">
                <a:latin typeface="Consolas" pitchFamily="49" charset="0"/>
                <a:cs typeface="Consolas" pitchFamily="49" charset="0"/>
              </a:rPr>
              <a:t>,  2,  </a:t>
            </a:r>
            <a:r>
              <a:rPr lang="en-US" altLang="zh-CN" sz="1600" dirty="0">
                <a:solidFill>
                  <a:srgbClr val="FF0000"/>
                </a:solidFill>
                <a:latin typeface="Consolas" pitchFamily="49" charset="0"/>
                <a:cs typeface="Consolas" pitchFamily="49" charset="0"/>
              </a:rPr>
              <a:t>5</a:t>
            </a:r>
            <a:r>
              <a:rPr lang="en-US" altLang="zh-CN" sz="1600" dirty="0">
                <a:latin typeface="Consolas" pitchFamily="49" charset="0"/>
                <a:cs typeface="Consolas" pitchFamily="49" charset="0"/>
              </a:rPr>
              <a:t>}</a:t>
            </a:r>
          </a:p>
        </p:txBody>
      </p:sp>
      <p:sp>
        <p:nvSpPr>
          <p:cNvPr id="49" name="右大括号 48">
            <a:extLst>
              <a:ext uri="{FF2B5EF4-FFF2-40B4-BE49-F238E27FC236}">
                <a16:creationId xmlns:a16="http://schemas.microsoft.com/office/drawing/2014/main" id="{26BD4F1E-52F2-04CC-F0F1-01845BF9F7C1}"/>
              </a:ext>
            </a:extLst>
          </p:cNvPr>
          <p:cNvSpPr/>
          <p:nvPr/>
        </p:nvSpPr>
        <p:spPr>
          <a:xfrm rot="5400000">
            <a:off x="6122031" y="3286853"/>
            <a:ext cx="142876" cy="714380"/>
          </a:xfrm>
          <a:prstGeom prst="rightBrace">
            <a:avLst/>
          </a:prstGeom>
          <a:ln w="28575">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600">
              <a:latin typeface="Consolas" pitchFamily="49" charset="0"/>
              <a:cs typeface="Consolas" pitchFamily="49" charset="0"/>
            </a:endParaRPr>
          </a:p>
        </p:txBody>
      </p:sp>
      <p:sp>
        <p:nvSpPr>
          <p:cNvPr id="50" name="Text Box 62">
            <a:extLst>
              <a:ext uri="{FF2B5EF4-FFF2-40B4-BE49-F238E27FC236}">
                <a16:creationId xmlns:a16="http://schemas.microsoft.com/office/drawing/2014/main" id="{44738222-B287-F534-B5D1-6167A499BFBF}"/>
              </a:ext>
            </a:extLst>
          </p:cNvPr>
          <p:cNvSpPr txBox="1">
            <a:spLocks noChangeArrowheads="1"/>
          </p:cNvSpPr>
          <p:nvPr/>
        </p:nvSpPr>
        <p:spPr bwMode="auto">
          <a:xfrm>
            <a:off x="1524600" y="4317147"/>
            <a:ext cx="1535093" cy="246221"/>
          </a:xfrm>
          <a:prstGeom prst="rect">
            <a:avLst/>
          </a:prstGeom>
          <a:noFill/>
          <a:ln w="38100" algn="ctr">
            <a:noFill/>
            <a:miter lim="800000"/>
            <a:headEnd/>
            <a:tailEnd type="none" w="med" len="lg"/>
          </a:ln>
          <a:effectLst/>
        </p:spPr>
        <p:txBody>
          <a:bodyPr wrap="square" lIns="0" tIns="0" rIns="0" bIns="0">
            <a:spAutoFit/>
          </a:bodyPr>
          <a:lstStyle/>
          <a:p>
            <a:pPr algn="ctr"/>
            <a:r>
              <a:rPr lang="en-US" altLang="zh-CN" sz="1600" dirty="0">
                <a:latin typeface="Consolas" pitchFamily="49" charset="0"/>
                <a:cs typeface="Consolas" pitchFamily="49" charset="0"/>
              </a:rPr>
              <a:t>{0,1,2,3,5,</a:t>
            </a:r>
            <a:r>
              <a:rPr lang="en-US" altLang="zh-CN" sz="1600" dirty="0">
                <a:solidFill>
                  <a:srgbClr val="FF3300"/>
                </a:solidFill>
                <a:latin typeface="Consolas" pitchFamily="49" charset="0"/>
                <a:cs typeface="Consolas" pitchFamily="49" charset="0"/>
              </a:rPr>
              <a:t>4</a:t>
            </a:r>
            <a:r>
              <a:rPr lang="en-US" altLang="zh-CN" sz="1600" dirty="0">
                <a:latin typeface="Consolas" pitchFamily="49" charset="0"/>
                <a:cs typeface="Consolas" pitchFamily="49" charset="0"/>
              </a:rPr>
              <a:t>}</a:t>
            </a:r>
          </a:p>
        </p:txBody>
      </p:sp>
      <p:sp>
        <p:nvSpPr>
          <p:cNvPr id="51" name="Text Box 63">
            <a:extLst>
              <a:ext uri="{FF2B5EF4-FFF2-40B4-BE49-F238E27FC236}">
                <a16:creationId xmlns:a16="http://schemas.microsoft.com/office/drawing/2014/main" id="{489E0140-C44A-6ED7-4BE1-66051C0B8F9F}"/>
              </a:ext>
            </a:extLst>
          </p:cNvPr>
          <p:cNvSpPr txBox="1">
            <a:spLocks noChangeArrowheads="1"/>
          </p:cNvSpPr>
          <p:nvPr/>
        </p:nvSpPr>
        <p:spPr bwMode="auto">
          <a:xfrm>
            <a:off x="2761252" y="4317147"/>
            <a:ext cx="1441450" cy="246221"/>
          </a:xfrm>
          <a:prstGeom prst="rect">
            <a:avLst/>
          </a:prstGeom>
          <a:noFill/>
          <a:ln w="38100" algn="ctr">
            <a:noFill/>
            <a:miter lim="800000"/>
            <a:headEnd/>
            <a:tailEnd type="none" w="med" len="lg"/>
          </a:ln>
          <a:effectLst/>
        </p:spPr>
        <p:txBody>
          <a:bodyPr lIns="0" tIns="0" rIns="0" bIns="0">
            <a:spAutoFit/>
          </a:bodyPr>
          <a:lstStyle/>
          <a:p>
            <a:pPr algn="ctr"/>
            <a:r>
              <a:rPr lang="en-US" altLang="zh-CN" sz="1600">
                <a:latin typeface="Consolas" pitchFamily="49" charset="0"/>
                <a:cs typeface="Consolas" pitchFamily="49" charset="0"/>
              </a:rPr>
              <a:t>{6}</a:t>
            </a:r>
          </a:p>
        </p:txBody>
      </p:sp>
      <p:sp>
        <p:nvSpPr>
          <p:cNvPr id="52" name="Text Box 64">
            <a:extLst>
              <a:ext uri="{FF2B5EF4-FFF2-40B4-BE49-F238E27FC236}">
                <a16:creationId xmlns:a16="http://schemas.microsoft.com/office/drawing/2014/main" id="{7F60A423-B427-C961-F2E4-A3A868DFAAFE}"/>
              </a:ext>
            </a:extLst>
          </p:cNvPr>
          <p:cNvSpPr txBox="1">
            <a:spLocks noChangeArrowheads="1"/>
          </p:cNvSpPr>
          <p:nvPr/>
        </p:nvSpPr>
        <p:spPr bwMode="auto">
          <a:xfrm>
            <a:off x="4202702" y="4329847"/>
            <a:ext cx="2686033" cy="246221"/>
          </a:xfrm>
          <a:prstGeom prst="rect">
            <a:avLst/>
          </a:prstGeom>
          <a:noFill/>
          <a:ln w="38100" algn="ctr">
            <a:noFill/>
            <a:miter lim="800000"/>
            <a:headEnd/>
            <a:tailEnd type="none" w="med" len="lg"/>
          </a:ln>
          <a:effectLst/>
        </p:spPr>
        <p:txBody>
          <a:bodyPr wrap="square" lIns="0" tIns="0" rIns="0" bIns="0">
            <a:spAutoFit/>
          </a:bodyPr>
          <a:lstStyle/>
          <a:p>
            <a:r>
              <a:rPr lang="en-US" altLang="zh-CN" sz="1600" dirty="0">
                <a:latin typeface="Consolas" pitchFamily="49" charset="0"/>
                <a:cs typeface="Consolas" pitchFamily="49" charset="0"/>
              </a:rPr>
              <a:t>{0,  </a:t>
            </a:r>
            <a:r>
              <a:rPr lang="en-US" altLang="zh-CN" sz="1600" dirty="0">
                <a:solidFill>
                  <a:srgbClr val="0000FF"/>
                </a:solidFill>
                <a:latin typeface="Consolas" pitchFamily="49" charset="0"/>
                <a:cs typeface="Consolas" pitchFamily="49" charset="0"/>
              </a:rPr>
              <a:t>4,</a:t>
            </a:r>
            <a:r>
              <a:rPr lang="en-US" altLang="zh-CN" sz="1600" dirty="0">
                <a:solidFill>
                  <a:srgbClr val="FF3300"/>
                </a:solidFill>
                <a:latin typeface="Consolas" pitchFamily="49" charset="0"/>
                <a:cs typeface="Consolas" pitchFamily="49" charset="0"/>
              </a:rPr>
              <a:t> </a:t>
            </a:r>
            <a:r>
              <a:rPr lang="en-US" altLang="zh-CN" sz="1600" dirty="0">
                <a:latin typeface="Consolas" pitchFamily="49" charset="0"/>
                <a:cs typeface="Consolas" pitchFamily="49" charset="0"/>
              </a:rPr>
              <a:t>5, 6, 10</a:t>
            </a:r>
            <a:r>
              <a:rPr lang="en-US" altLang="zh-CN" sz="1600" dirty="0">
                <a:solidFill>
                  <a:srgbClr val="6600CC"/>
                </a:solidFill>
                <a:latin typeface="Consolas" pitchFamily="49" charset="0"/>
                <a:cs typeface="Consolas" pitchFamily="49" charset="0"/>
              </a:rPr>
              <a:t>, </a:t>
            </a:r>
            <a:r>
              <a:rPr lang="en-US" altLang="zh-CN" sz="1600" dirty="0">
                <a:latin typeface="Consolas" pitchFamily="49" charset="0"/>
                <a:cs typeface="Consolas" pitchFamily="49" charset="0"/>
              </a:rPr>
              <a:t>9,</a:t>
            </a:r>
            <a:r>
              <a:rPr lang="en-US" altLang="zh-CN" sz="1600" u="sng" dirty="0">
                <a:solidFill>
                  <a:srgbClr val="6600CC"/>
                </a:solidFill>
                <a:latin typeface="Consolas" pitchFamily="49" charset="0"/>
                <a:cs typeface="Consolas" pitchFamily="49" charset="0"/>
              </a:rPr>
              <a:t> </a:t>
            </a:r>
            <a:r>
              <a:rPr lang="en-US" altLang="zh-CN" sz="1600" u="heavy" dirty="0">
                <a:solidFill>
                  <a:srgbClr val="FF0000"/>
                </a:solidFill>
                <a:uFill>
                  <a:solidFill>
                    <a:srgbClr val="C00000"/>
                  </a:solidFill>
                </a:uFill>
                <a:latin typeface="Consolas" pitchFamily="49" charset="0"/>
                <a:cs typeface="Consolas" pitchFamily="49" charset="0"/>
              </a:rPr>
              <a:t>16</a:t>
            </a:r>
            <a:r>
              <a:rPr lang="en-US" altLang="zh-CN" sz="1600" dirty="0">
                <a:latin typeface="Consolas" pitchFamily="49" charset="0"/>
                <a:cs typeface="Consolas" pitchFamily="49" charset="0"/>
              </a:rPr>
              <a:t>}</a:t>
            </a:r>
          </a:p>
        </p:txBody>
      </p:sp>
      <p:sp>
        <p:nvSpPr>
          <p:cNvPr id="53" name="Text Box 65">
            <a:extLst>
              <a:ext uri="{FF2B5EF4-FFF2-40B4-BE49-F238E27FC236}">
                <a16:creationId xmlns:a16="http://schemas.microsoft.com/office/drawing/2014/main" id="{2F9524B7-C9C4-BA11-7C9F-E252F1257803}"/>
              </a:ext>
            </a:extLst>
          </p:cNvPr>
          <p:cNvSpPr txBox="1">
            <a:spLocks noChangeArrowheads="1"/>
          </p:cNvSpPr>
          <p:nvPr/>
        </p:nvSpPr>
        <p:spPr bwMode="auto">
          <a:xfrm>
            <a:off x="7325353" y="4329847"/>
            <a:ext cx="2735265" cy="246221"/>
          </a:xfrm>
          <a:prstGeom prst="rect">
            <a:avLst/>
          </a:prstGeom>
          <a:noFill/>
          <a:ln w="38100" algn="ctr">
            <a:noFill/>
            <a:miter lim="800000"/>
            <a:headEnd/>
            <a:tailEnd type="none" w="med" len="lg"/>
          </a:ln>
          <a:effectLst/>
        </p:spPr>
        <p:txBody>
          <a:bodyPr wrap="square" lIns="0" tIns="0" rIns="0" bIns="0">
            <a:spAutoFit/>
          </a:bodyPr>
          <a:lstStyle/>
          <a:p>
            <a:r>
              <a:rPr lang="en-US" altLang="zh-CN" sz="1600" dirty="0">
                <a:latin typeface="Consolas" pitchFamily="49" charset="0"/>
                <a:cs typeface="Consolas" pitchFamily="49" charset="0"/>
              </a:rPr>
              <a:t>{0, 0, 1, 0,  5,  2,  </a:t>
            </a:r>
            <a:r>
              <a:rPr lang="en-US" altLang="zh-CN" sz="1600" dirty="0">
                <a:solidFill>
                  <a:srgbClr val="FF0000"/>
                </a:solidFill>
                <a:latin typeface="Consolas" pitchFamily="49" charset="0"/>
                <a:cs typeface="Consolas" pitchFamily="49" charset="0"/>
              </a:rPr>
              <a:t>4</a:t>
            </a:r>
            <a:r>
              <a:rPr lang="en-US" altLang="zh-CN" sz="1600" dirty="0">
                <a:latin typeface="Consolas" pitchFamily="49" charset="0"/>
                <a:cs typeface="Consolas" pitchFamily="49" charset="0"/>
              </a:rPr>
              <a:t>}</a:t>
            </a:r>
          </a:p>
        </p:txBody>
      </p:sp>
      <p:grpSp>
        <p:nvGrpSpPr>
          <p:cNvPr id="54" name="组合 75">
            <a:extLst>
              <a:ext uri="{FF2B5EF4-FFF2-40B4-BE49-F238E27FC236}">
                <a16:creationId xmlns:a16="http://schemas.microsoft.com/office/drawing/2014/main" id="{CF758337-2002-7C5E-97D3-94F6063774CD}"/>
              </a:ext>
            </a:extLst>
          </p:cNvPr>
          <p:cNvGrpSpPr/>
          <p:nvPr/>
        </p:nvGrpSpPr>
        <p:grpSpPr>
          <a:xfrm>
            <a:off x="6560156" y="4615599"/>
            <a:ext cx="2143140" cy="428628"/>
            <a:chOff x="4572000" y="3214686"/>
            <a:chExt cx="2143140" cy="428628"/>
          </a:xfrm>
        </p:grpSpPr>
        <p:sp>
          <p:nvSpPr>
            <p:cNvPr id="55" name="下箭头 72">
              <a:extLst>
                <a:ext uri="{FF2B5EF4-FFF2-40B4-BE49-F238E27FC236}">
                  <a16:creationId xmlns:a16="http://schemas.microsoft.com/office/drawing/2014/main" id="{2A9B8A41-21BD-D266-BBEB-563C0F46FE16}"/>
                </a:ext>
              </a:extLst>
            </p:cNvPr>
            <p:cNvSpPr/>
            <p:nvPr/>
          </p:nvSpPr>
          <p:spPr>
            <a:xfrm>
              <a:off x="4572000" y="3214686"/>
              <a:ext cx="142876" cy="428628"/>
            </a:xfrm>
            <a:prstGeom prst="downArrow">
              <a:avLst/>
            </a:prstGeom>
          </p:spPr>
          <p:style>
            <a:lnRef idx="0">
              <a:schemeClr val="accent4"/>
            </a:lnRef>
            <a:fillRef idx="3">
              <a:schemeClr val="accent4"/>
            </a:fillRef>
            <a:effectRef idx="3">
              <a:schemeClr val="accent4"/>
            </a:effectRef>
            <a:fontRef idx="minor">
              <a:schemeClr val="lt1"/>
            </a:fontRef>
          </p:style>
          <p:txBody>
            <a:bodyPr rtlCol="0" anchor="ctr"/>
            <a:lstStyle/>
            <a:p>
              <a:pPr algn="ctr"/>
              <a:endParaRPr lang="zh-CN" altLang="en-US" sz="1600">
                <a:latin typeface="Consolas" pitchFamily="49" charset="0"/>
                <a:ea typeface="仿宋" pitchFamily="49" charset="-122"/>
                <a:cs typeface="Consolas" pitchFamily="49" charset="0"/>
              </a:endParaRPr>
            </a:p>
          </p:txBody>
        </p:sp>
        <p:sp>
          <p:nvSpPr>
            <p:cNvPr id="56" name="TextBox 73">
              <a:extLst>
                <a:ext uri="{FF2B5EF4-FFF2-40B4-BE49-F238E27FC236}">
                  <a16:creationId xmlns:a16="http://schemas.microsoft.com/office/drawing/2014/main" id="{B966DC1C-69D3-9BA8-7656-C47ACE2673AC}"/>
                </a:ext>
              </a:extLst>
            </p:cNvPr>
            <p:cNvSpPr txBox="1"/>
            <p:nvPr/>
          </p:nvSpPr>
          <p:spPr>
            <a:xfrm>
              <a:off x="4786314" y="3243204"/>
              <a:ext cx="1928826" cy="369332"/>
            </a:xfrm>
            <a:prstGeom prst="rect">
              <a:avLst/>
            </a:prstGeom>
            <a:noFill/>
          </p:spPr>
          <p:txBody>
            <a:bodyPr wrap="square" rtlCol="0">
              <a:spAutoFit/>
            </a:bodyPr>
            <a:lstStyle/>
            <a:p>
              <a:r>
                <a:rPr lang="zh-CN" altLang="en-US" sz="1800" dirty="0">
                  <a:latin typeface="Consolas" pitchFamily="49" charset="0"/>
                  <a:ea typeface="仿宋" pitchFamily="49" charset="-122"/>
                  <a:cs typeface="Consolas" pitchFamily="49" charset="0"/>
                </a:rPr>
                <a:t>最小的顶点：</a:t>
              </a:r>
              <a:r>
                <a:rPr lang="en-US" altLang="zh-CN" sz="1800" dirty="0">
                  <a:solidFill>
                    <a:srgbClr val="FF0000"/>
                  </a:solidFill>
                  <a:latin typeface="Consolas" pitchFamily="49" charset="0"/>
                  <a:ea typeface="仿宋" pitchFamily="49" charset="-122"/>
                  <a:cs typeface="Consolas" pitchFamily="49" charset="0"/>
                </a:rPr>
                <a:t>6</a:t>
              </a:r>
              <a:endParaRPr lang="zh-CN" altLang="en-US" sz="1800" dirty="0">
                <a:solidFill>
                  <a:srgbClr val="FF0000"/>
                </a:solidFill>
                <a:latin typeface="Consolas" pitchFamily="49" charset="0"/>
                <a:ea typeface="仿宋" pitchFamily="49" charset="-122"/>
                <a:cs typeface="Consolas" pitchFamily="49" charset="0"/>
              </a:endParaRPr>
            </a:p>
          </p:txBody>
        </p:sp>
      </p:grpSp>
      <p:sp>
        <p:nvSpPr>
          <p:cNvPr id="57" name="Text Box 66">
            <a:extLst>
              <a:ext uri="{FF2B5EF4-FFF2-40B4-BE49-F238E27FC236}">
                <a16:creationId xmlns:a16="http://schemas.microsoft.com/office/drawing/2014/main" id="{A6EC55FB-85A9-AD01-570C-1E08A8ED09D2}"/>
              </a:ext>
            </a:extLst>
          </p:cNvPr>
          <p:cNvSpPr txBox="1">
            <a:spLocks noChangeArrowheads="1"/>
          </p:cNvSpPr>
          <p:nvPr/>
        </p:nvSpPr>
        <p:spPr bwMode="auto">
          <a:xfrm>
            <a:off x="1524600" y="5214093"/>
            <a:ext cx="1749407" cy="246221"/>
          </a:xfrm>
          <a:prstGeom prst="rect">
            <a:avLst/>
          </a:prstGeom>
          <a:noFill/>
          <a:ln w="38100" algn="ctr">
            <a:noFill/>
            <a:miter lim="800000"/>
            <a:headEnd/>
            <a:tailEnd type="none" w="med" len="lg"/>
          </a:ln>
          <a:effectLst/>
        </p:spPr>
        <p:txBody>
          <a:bodyPr wrap="square" lIns="0" tIns="0" rIns="0" bIns="0">
            <a:spAutoFit/>
          </a:bodyPr>
          <a:lstStyle/>
          <a:p>
            <a:pPr algn="ctr"/>
            <a:r>
              <a:rPr lang="en-US" altLang="zh-CN" sz="1600" dirty="0">
                <a:latin typeface="Consolas" pitchFamily="49" charset="0"/>
                <a:cs typeface="Consolas" pitchFamily="49" charset="0"/>
              </a:rPr>
              <a:t>{0,1,2,3,5,4,</a:t>
            </a:r>
            <a:r>
              <a:rPr lang="en-US" altLang="zh-CN" sz="1600" dirty="0">
                <a:solidFill>
                  <a:srgbClr val="FF3300"/>
                </a:solidFill>
                <a:latin typeface="Consolas" pitchFamily="49" charset="0"/>
                <a:cs typeface="Consolas" pitchFamily="49" charset="0"/>
              </a:rPr>
              <a:t>6</a:t>
            </a:r>
            <a:r>
              <a:rPr lang="en-US" altLang="zh-CN" sz="1600" dirty="0">
                <a:latin typeface="Consolas" pitchFamily="49" charset="0"/>
                <a:cs typeface="Consolas" pitchFamily="49" charset="0"/>
              </a:rPr>
              <a:t>}</a:t>
            </a:r>
          </a:p>
        </p:txBody>
      </p:sp>
      <p:sp>
        <p:nvSpPr>
          <p:cNvPr id="58" name="Text Box 67">
            <a:extLst>
              <a:ext uri="{FF2B5EF4-FFF2-40B4-BE49-F238E27FC236}">
                <a16:creationId xmlns:a16="http://schemas.microsoft.com/office/drawing/2014/main" id="{BD7E2599-E13B-144D-17CC-782C7A90968C}"/>
              </a:ext>
            </a:extLst>
          </p:cNvPr>
          <p:cNvSpPr txBox="1">
            <a:spLocks noChangeArrowheads="1"/>
          </p:cNvSpPr>
          <p:nvPr/>
        </p:nvSpPr>
        <p:spPr bwMode="auto">
          <a:xfrm>
            <a:off x="2761252" y="5214093"/>
            <a:ext cx="1441450" cy="246221"/>
          </a:xfrm>
          <a:prstGeom prst="rect">
            <a:avLst/>
          </a:prstGeom>
          <a:noFill/>
          <a:ln w="38100" algn="ctr">
            <a:noFill/>
            <a:miter lim="800000"/>
            <a:headEnd/>
            <a:tailEnd type="none" w="med" len="lg"/>
          </a:ln>
          <a:effectLst/>
        </p:spPr>
        <p:txBody>
          <a:bodyPr lIns="0" tIns="0" rIns="0" bIns="0">
            <a:spAutoFit/>
          </a:bodyPr>
          <a:lstStyle/>
          <a:p>
            <a:pPr algn="ctr"/>
            <a:r>
              <a:rPr lang="en-US" altLang="zh-CN" sz="1600">
                <a:latin typeface="Consolas" pitchFamily="49" charset="0"/>
                <a:cs typeface="Consolas" pitchFamily="49" charset="0"/>
              </a:rPr>
              <a:t>{}</a:t>
            </a:r>
          </a:p>
        </p:txBody>
      </p:sp>
      <p:sp>
        <p:nvSpPr>
          <p:cNvPr id="59" name="Text Box 68">
            <a:extLst>
              <a:ext uri="{FF2B5EF4-FFF2-40B4-BE49-F238E27FC236}">
                <a16:creationId xmlns:a16="http://schemas.microsoft.com/office/drawing/2014/main" id="{A5F13F62-9436-56C7-21BB-B420DDD98137}"/>
              </a:ext>
            </a:extLst>
          </p:cNvPr>
          <p:cNvSpPr txBox="1">
            <a:spLocks noChangeArrowheads="1"/>
          </p:cNvSpPr>
          <p:nvPr/>
        </p:nvSpPr>
        <p:spPr bwMode="auto">
          <a:xfrm>
            <a:off x="4202702" y="5226793"/>
            <a:ext cx="2686033" cy="246221"/>
          </a:xfrm>
          <a:prstGeom prst="rect">
            <a:avLst/>
          </a:prstGeom>
          <a:noFill/>
          <a:ln w="38100" algn="ctr">
            <a:noFill/>
            <a:miter lim="800000"/>
            <a:headEnd/>
            <a:tailEnd type="none" w="med" len="lg"/>
          </a:ln>
          <a:effectLst/>
        </p:spPr>
        <p:txBody>
          <a:bodyPr wrap="square" lIns="0" tIns="0" rIns="0" bIns="0">
            <a:spAutoFit/>
          </a:bodyPr>
          <a:lstStyle/>
          <a:p>
            <a:r>
              <a:rPr lang="en-US" altLang="zh-CN" sz="1600" dirty="0">
                <a:latin typeface="Consolas" pitchFamily="49" charset="0"/>
                <a:cs typeface="Consolas" pitchFamily="49" charset="0"/>
              </a:rPr>
              <a:t>{0,  </a:t>
            </a:r>
            <a:r>
              <a:rPr lang="en-US" altLang="zh-CN" sz="1600" dirty="0">
                <a:solidFill>
                  <a:srgbClr val="0000FF"/>
                </a:solidFill>
                <a:latin typeface="Consolas" pitchFamily="49" charset="0"/>
                <a:cs typeface="Consolas" pitchFamily="49" charset="0"/>
              </a:rPr>
              <a:t>4,</a:t>
            </a:r>
            <a:r>
              <a:rPr lang="en-US" altLang="zh-CN" sz="1600" dirty="0">
                <a:solidFill>
                  <a:srgbClr val="FF3300"/>
                </a:solidFill>
                <a:latin typeface="Consolas" pitchFamily="49" charset="0"/>
                <a:cs typeface="Consolas" pitchFamily="49" charset="0"/>
              </a:rPr>
              <a:t> </a:t>
            </a:r>
            <a:r>
              <a:rPr lang="en-US" altLang="zh-CN" sz="1600" dirty="0">
                <a:latin typeface="Consolas" pitchFamily="49" charset="0"/>
                <a:cs typeface="Consolas" pitchFamily="49" charset="0"/>
              </a:rPr>
              <a:t>5, 6, 10</a:t>
            </a:r>
            <a:r>
              <a:rPr lang="en-US" altLang="zh-CN" sz="1600" dirty="0">
                <a:solidFill>
                  <a:srgbClr val="6600CC"/>
                </a:solidFill>
                <a:latin typeface="Consolas" pitchFamily="49" charset="0"/>
                <a:cs typeface="Consolas" pitchFamily="49" charset="0"/>
              </a:rPr>
              <a:t>, </a:t>
            </a:r>
            <a:r>
              <a:rPr lang="en-US" altLang="zh-CN" sz="1600" dirty="0">
                <a:latin typeface="Consolas" pitchFamily="49" charset="0"/>
                <a:cs typeface="Consolas" pitchFamily="49" charset="0"/>
              </a:rPr>
              <a:t>9,</a:t>
            </a:r>
            <a:r>
              <a:rPr lang="en-US" altLang="zh-CN" sz="1600" dirty="0">
                <a:solidFill>
                  <a:srgbClr val="6600CC"/>
                </a:solidFill>
                <a:latin typeface="Consolas" pitchFamily="49" charset="0"/>
                <a:cs typeface="Consolas" pitchFamily="49" charset="0"/>
              </a:rPr>
              <a:t> </a:t>
            </a:r>
            <a:r>
              <a:rPr lang="en-US" altLang="zh-CN" sz="1600" dirty="0">
                <a:latin typeface="Consolas" pitchFamily="49" charset="0"/>
                <a:cs typeface="Consolas" pitchFamily="49" charset="0"/>
              </a:rPr>
              <a:t>16}</a:t>
            </a:r>
          </a:p>
        </p:txBody>
      </p:sp>
      <p:sp>
        <p:nvSpPr>
          <p:cNvPr id="60" name="Text Box 69">
            <a:extLst>
              <a:ext uri="{FF2B5EF4-FFF2-40B4-BE49-F238E27FC236}">
                <a16:creationId xmlns:a16="http://schemas.microsoft.com/office/drawing/2014/main" id="{E54FD3BA-66ED-4E74-42CD-0D8C9DDE8585}"/>
              </a:ext>
            </a:extLst>
          </p:cNvPr>
          <p:cNvSpPr txBox="1">
            <a:spLocks noChangeArrowheads="1"/>
          </p:cNvSpPr>
          <p:nvPr/>
        </p:nvSpPr>
        <p:spPr bwMode="auto">
          <a:xfrm>
            <a:off x="7325353" y="5226793"/>
            <a:ext cx="2806703" cy="246221"/>
          </a:xfrm>
          <a:prstGeom prst="rect">
            <a:avLst/>
          </a:prstGeom>
          <a:noFill/>
          <a:ln w="38100" algn="ctr">
            <a:noFill/>
            <a:miter lim="800000"/>
            <a:headEnd/>
            <a:tailEnd type="none" w="med" len="lg"/>
          </a:ln>
          <a:effectLst/>
        </p:spPr>
        <p:txBody>
          <a:bodyPr wrap="square" lIns="0" tIns="0" rIns="0" bIns="0">
            <a:spAutoFit/>
          </a:bodyPr>
          <a:lstStyle/>
          <a:p>
            <a:r>
              <a:rPr lang="en-US" altLang="zh-CN" sz="1600" dirty="0">
                <a:latin typeface="Consolas" pitchFamily="49" charset="0"/>
                <a:cs typeface="Consolas" pitchFamily="49" charset="0"/>
              </a:rPr>
              <a:t>{0, 0, 1, 0,  5,  2,  4}</a:t>
            </a:r>
          </a:p>
        </p:txBody>
      </p:sp>
      <p:grpSp>
        <p:nvGrpSpPr>
          <p:cNvPr id="61" name="组合 83">
            <a:extLst>
              <a:ext uri="{FF2B5EF4-FFF2-40B4-BE49-F238E27FC236}">
                <a16:creationId xmlns:a16="http://schemas.microsoft.com/office/drawing/2014/main" id="{7E6401B4-D571-4ABA-FC51-89F2D61D9B40}"/>
              </a:ext>
            </a:extLst>
          </p:cNvPr>
          <p:cNvGrpSpPr/>
          <p:nvPr/>
        </p:nvGrpSpPr>
        <p:grpSpPr>
          <a:xfrm>
            <a:off x="5202834" y="5674469"/>
            <a:ext cx="4107685" cy="652825"/>
            <a:chOff x="3929058" y="5214950"/>
            <a:chExt cx="4107685" cy="652825"/>
          </a:xfrm>
        </p:grpSpPr>
        <p:sp>
          <p:nvSpPr>
            <p:cNvPr id="62" name="左大括号 61">
              <a:extLst>
                <a:ext uri="{FF2B5EF4-FFF2-40B4-BE49-F238E27FC236}">
                  <a16:creationId xmlns:a16="http://schemas.microsoft.com/office/drawing/2014/main" id="{BD5355DA-84A6-975E-D301-219AE9F7D8A4}"/>
                </a:ext>
              </a:extLst>
            </p:cNvPr>
            <p:cNvSpPr/>
            <p:nvPr/>
          </p:nvSpPr>
          <p:spPr>
            <a:xfrm rot="16200000">
              <a:off x="5893603" y="3250405"/>
              <a:ext cx="178595" cy="4107685"/>
            </a:xfrm>
            <a:prstGeom prst="leftBrace">
              <a:avLst/>
            </a:prstGeom>
            <a:ln/>
          </p:spPr>
          <p:style>
            <a:lnRef idx="2">
              <a:schemeClr val="accent5"/>
            </a:lnRef>
            <a:fillRef idx="0">
              <a:schemeClr val="accent5"/>
            </a:fillRef>
            <a:effectRef idx="1">
              <a:schemeClr val="accent5"/>
            </a:effectRef>
            <a:fontRef idx="minor">
              <a:schemeClr val="tx1"/>
            </a:fontRef>
          </p:style>
          <p:txBody>
            <a:bodyPr rtlCol="0" anchor="ctr"/>
            <a:lstStyle/>
            <a:p>
              <a:pPr algn="ctr"/>
              <a:endParaRPr lang="zh-CN" altLang="en-US">
                <a:latin typeface="Consolas" pitchFamily="49" charset="0"/>
                <a:cs typeface="Consolas" pitchFamily="49" charset="0"/>
              </a:endParaRPr>
            </a:p>
          </p:txBody>
        </p:sp>
        <p:sp>
          <p:nvSpPr>
            <p:cNvPr id="63" name="TextBox 82">
              <a:extLst>
                <a:ext uri="{FF2B5EF4-FFF2-40B4-BE49-F238E27FC236}">
                  <a16:creationId xmlns:a16="http://schemas.microsoft.com/office/drawing/2014/main" id="{1BB764E3-5701-C0EA-54C1-FAEA539BD243}"/>
                </a:ext>
              </a:extLst>
            </p:cNvPr>
            <p:cNvSpPr txBox="1"/>
            <p:nvPr/>
          </p:nvSpPr>
          <p:spPr>
            <a:xfrm>
              <a:off x="5286380" y="5467665"/>
              <a:ext cx="1571636" cy="400110"/>
            </a:xfrm>
            <a:prstGeom prst="rect">
              <a:avLst/>
            </a:prstGeom>
            <a:noFill/>
          </p:spPr>
          <p:txBody>
            <a:bodyPr wrap="square" rtlCol="0">
              <a:spAutoFit/>
            </a:bodyPr>
            <a:lstStyle/>
            <a:p>
              <a:r>
                <a:rPr lang="zh-CN" altLang="en-US" sz="2000" dirty="0">
                  <a:solidFill>
                    <a:srgbClr val="6600CC"/>
                  </a:solidFill>
                  <a:latin typeface="方正启体简体" pitchFamily="65" charset="-122"/>
                  <a:ea typeface="方正启体简体" pitchFamily="65" charset="-122"/>
                  <a:cs typeface="Consolas" pitchFamily="49" charset="0"/>
                </a:rPr>
                <a:t>最终结果</a:t>
              </a:r>
            </a:p>
          </p:txBody>
        </p:sp>
      </p:grpSp>
    </p:spTree>
    <p:extLst>
      <p:ext uri="{BB962C8B-B14F-4D97-AF65-F5344CB8AC3E}">
        <p14:creationId xmlns:p14="http://schemas.microsoft.com/office/powerpoint/2010/main" val="56246973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4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26" presetClass="emph" presetSubtype="0" fill="hold" grpId="0" nodeType="clickEffect">
                                  <p:stCondLst>
                                    <p:cond delay="0"/>
                                  </p:stCondLst>
                                  <p:childTnLst>
                                    <p:animEffect transition="out" filter="fade">
                                      <p:cBhvr>
                                        <p:cTn id="16" dur="500" tmFilter="0, 0; .2, .5; .8, .5; 1, 0"/>
                                        <p:tgtEl>
                                          <p:spTgt spid="6"/>
                                        </p:tgtEl>
                                      </p:cBhvr>
                                    </p:animEffect>
                                    <p:animScale>
                                      <p:cBhvr>
                                        <p:cTn id="17" dur="250" autoRev="1" fill="hold"/>
                                        <p:tgtEl>
                                          <p:spTgt spid="6"/>
                                        </p:tgtEl>
                                      </p:cBhvr>
                                      <p:by x="105000" y="105000"/>
                                    </p:animScale>
                                  </p:childTnLst>
                                </p:cTn>
                              </p:par>
                            </p:childTnLst>
                          </p:cTn>
                        </p:par>
                      </p:childTnLst>
                    </p:cTn>
                  </p:par>
                  <p:par>
                    <p:cTn id="18" fill="hold">
                      <p:stCondLst>
                        <p:cond delay="indefinite"/>
                      </p:stCondLst>
                      <p:childTnLst>
                        <p:par>
                          <p:cTn id="19" fill="hold">
                            <p:stCondLst>
                              <p:cond delay="0"/>
                            </p:stCondLst>
                            <p:childTnLst>
                              <p:par>
                                <p:cTn id="20" presetID="26" presetClass="emph" presetSubtype="0" fill="hold" grpId="0" nodeType="clickEffect">
                                  <p:stCondLst>
                                    <p:cond delay="0"/>
                                  </p:stCondLst>
                                  <p:childTnLst>
                                    <p:animEffect transition="out" filter="fade">
                                      <p:cBhvr>
                                        <p:cTn id="21" dur="500" tmFilter="0, 0; .2, .5; .8, .5; 1, 0"/>
                                        <p:tgtEl>
                                          <p:spTgt spid="25"/>
                                        </p:tgtEl>
                                      </p:cBhvr>
                                    </p:animEffect>
                                    <p:animScale>
                                      <p:cBhvr>
                                        <p:cTn id="22" dur="250" autoRev="1" fill="hold"/>
                                        <p:tgtEl>
                                          <p:spTgt spid="25"/>
                                        </p:tgtEl>
                                      </p:cBhvr>
                                      <p:by x="105000" y="105000"/>
                                    </p:animScale>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3"/>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54"/>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57"/>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8"/>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26" presetClass="emph" presetSubtype="0" fill="hold" grpId="0" nodeType="clickEffect">
                                  <p:stCondLst>
                                    <p:cond delay="0"/>
                                  </p:stCondLst>
                                  <p:childTnLst>
                                    <p:animEffect transition="out" filter="fade">
                                      <p:cBhvr>
                                        <p:cTn id="42" dur="500" tmFilter="0, 0; .2, .5; .8, .5; 1, 0"/>
                                        <p:tgtEl>
                                          <p:spTgt spid="12"/>
                                        </p:tgtEl>
                                      </p:cBhvr>
                                    </p:animEffect>
                                    <p:animScale>
                                      <p:cBhvr>
                                        <p:cTn id="43" dur="250" autoRev="1" fill="hold"/>
                                        <p:tgtEl>
                                          <p:spTgt spid="12"/>
                                        </p:tgtEl>
                                      </p:cBhvr>
                                      <p:by x="105000" y="105000"/>
                                    </p:animScale>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59"/>
                                        </p:tgtEl>
                                        <p:attrNameLst>
                                          <p:attrName>style.visibility</p:attrName>
                                        </p:attrNameLst>
                                      </p:cBhvr>
                                      <p:to>
                                        <p:strVal val="visible"/>
                                      </p:to>
                                    </p:set>
                                  </p:childTnLst>
                                </p:cTn>
                              </p:par>
                              <p:par>
                                <p:cTn id="48" presetID="1" presetClass="entr" presetSubtype="0" fill="hold" grpId="0" nodeType="withEffect">
                                  <p:stCondLst>
                                    <p:cond delay="0"/>
                                  </p:stCondLst>
                                  <p:childTnLst>
                                    <p:set>
                                      <p:cBhvr>
                                        <p:cTn id="49" dur="1" fill="hold">
                                          <p:stCondLst>
                                            <p:cond delay="0"/>
                                          </p:stCondLst>
                                        </p:cTn>
                                        <p:tgtEl>
                                          <p:spTgt spid="60"/>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clickEffect">
                                  <p:stCondLst>
                                    <p:cond delay="0"/>
                                  </p:stCondLst>
                                  <p:childTnLst>
                                    <p:set>
                                      <p:cBhvr>
                                        <p:cTn id="53" dur="1" fill="hold">
                                          <p:stCondLst>
                                            <p:cond delay="0"/>
                                          </p:stCondLst>
                                        </p:cTn>
                                        <p:tgtEl>
                                          <p:spTgt spid="6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2" grpId="0" animBg="1"/>
      <p:bldP spid="25" grpId="0" animBg="1"/>
      <p:bldP spid="50" grpId="0"/>
      <p:bldP spid="51" grpId="0"/>
      <p:bldP spid="52" grpId="0"/>
      <p:bldP spid="53" grpId="0"/>
      <p:bldP spid="57" grpId="0"/>
      <p:bldP spid="58" grpId="0"/>
      <p:bldP spid="59" grpId="0"/>
      <p:bldP spid="60" grpId="0"/>
    </p:bld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3088FE-78AC-F278-020D-804C361E8040}"/>
            </a:ext>
          </a:extLst>
        </p:cNvPr>
        <p:cNvGrpSpPr/>
        <p:nvPr/>
      </p:nvGrpSpPr>
      <p:grpSpPr>
        <a:xfrm>
          <a:off x="0" y="0"/>
          <a:ext cx="0" cy="0"/>
          <a:chOff x="0" y="0"/>
          <a:chExt cx="0" cy="0"/>
        </a:xfrm>
      </p:grpSpPr>
      <p:sp>
        <p:nvSpPr>
          <p:cNvPr id="2" name="Text Box 1026">
            <a:extLst>
              <a:ext uri="{FF2B5EF4-FFF2-40B4-BE49-F238E27FC236}">
                <a16:creationId xmlns:a16="http://schemas.microsoft.com/office/drawing/2014/main" id="{57DAE46B-0945-709B-739F-6CA431AA3D8C}"/>
              </a:ext>
            </a:extLst>
          </p:cNvPr>
          <p:cNvSpPr txBox="1">
            <a:spLocks noChangeArrowheads="1"/>
          </p:cNvSpPr>
          <p:nvPr/>
        </p:nvSpPr>
        <p:spPr bwMode="auto">
          <a:xfrm>
            <a:off x="449111" y="3284984"/>
            <a:ext cx="2888108" cy="707886"/>
          </a:xfrm>
          <a:prstGeom prst="rect">
            <a:avLst/>
          </a:prstGeom>
          <a:noFill/>
          <a:ln w="9525">
            <a:noFill/>
            <a:miter lim="800000"/>
            <a:headEnd/>
            <a:tailEnd/>
          </a:ln>
          <a:effectLst/>
        </p:spPr>
        <p:txBody>
          <a:bodyPr wrap="square">
            <a:spAutoFit/>
          </a:bodyPr>
          <a:lstStyle/>
          <a:p>
            <a:pPr algn="just"/>
            <a:r>
              <a:rPr kumimoji="1" lang="zh-CN" altLang="en-US" sz="2000" dirty="0">
                <a:solidFill>
                  <a:srgbClr val="0000FF"/>
                </a:solidFill>
                <a:latin typeface="Consolas" pitchFamily="49" charset="0"/>
                <a:ea typeface="楷体" pitchFamily="49" charset="-122"/>
                <a:cs typeface="Consolas" pitchFamily="49" charset="0"/>
              </a:rPr>
              <a:t>狄克斯特拉算法如下（</a:t>
            </a:r>
            <a:r>
              <a:rPr kumimoji="1" lang="en-US" altLang="zh-CN" sz="2000" dirty="0">
                <a:solidFill>
                  <a:srgbClr val="0000FF"/>
                </a:solidFill>
                <a:latin typeface="Consolas" pitchFamily="49" charset="0"/>
                <a:ea typeface="楷体" pitchFamily="49" charset="-122"/>
                <a:cs typeface="Consolas" pitchFamily="49" charset="0"/>
              </a:rPr>
              <a:t>v</a:t>
            </a:r>
            <a:r>
              <a:rPr kumimoji="1" lang="zh-CN" altLang="en-US" sz="2000" dirty="0">
                <a:solidFill>
                  <a:srgbClr val="0000FF"/>
                </a:solidFill>
                <a:latin typeface="Consolas" pitchFamily="49" charset="0"/>
                <a:ea typeface="楷体" pitchFamily="49" charset="-122"/>
                <a:cs typeface="Consolas" pitchFamily="49" charset="0"/>
              </a:rPr>
              <a:t>为源点编号）：</a:t>
            </a:r>
          </a:p>
        </p:txBody>
      </p:sp>
      <p:sp>
        <p:nvSpPr>
          <p:cNvPr id="3" name="Text Box 1027">
            <a:extLst>
              <a:ext uri="{FF2B5EF4-FFF2-40B4-BE49-F238E27FC236}">
                <a16:creationId xmlns:a16="http://schemas.microsoft.com/office/drawing/2014/main" id="{8518717B-6502-F1CF-0970-2AEE121EA134}"/>
              </a:ext>
            </a:extLst>
          </p:cNvPr>
          <p:cNvSpPr txBox="1">
            <a:spLocks noChangeArrowheads="1"/>
          </p:cNvSpPr>
          <p:nvPr/>
        </p:nvSpPr>
        <p:spPr bwMode="auto">
          <a:xfrm>
            <a:off x="3397044" y="1788706"/>
            <a:ext cx="6607189" cy="4911803"/>
          </a:xfrm>
          <a:prstGeom prst="rect">
            <a:avLst/>
          </a:prstGeom>
          <a:solidFill>
            <a:schemeClr val="bg1">
              <a:lumMod val="95000"/>
            </a:schemeClr>
          </a:solidFill>
          <a:ln>
            <a:noFill/>
            <a:headEnd/>
            <a:tailEnd type="none" w="med" len="lg"/>
          </a:ln>
          <a:effectLst/>
          <a:scene3d>
            <a:camera prst="orthographicFront">
              <a:rot lat="0" lon="0" rev="0"/>
            </a:camera>
            <a:lightRig rig="chilly" dir="t">
              <a:rot lat="0" lon="0" rev="18480000"/>
            </a:lightRig>
          </a:scene3d>
          <a:sp3d prstMaterial="clear">
            <a:bevelT h="63500"/>
          </a:sp3d>
        </p:spPr>
        <p:style>
          <a:lnRef idx="1">
            <a:schemeClr val="accent3"/>
          </a:lnRef>
          <a:fillRef idx="2">
            <a:schemeClr val="accent3"/>
          </a:fillRef>
          <a:effectRef idx="1">
            <a:schemeClr val="accent3"/>
          </a:effectRef>
          <a:fontRef idx="minor">
            <a:schemeClr val="dk1"/>
          </a:fontRef>
        </p:style>
        <p:txBody>
          <a:bodyPr wrap="square" lIns="216000" tIns="216000" bIns="216000">
            <a:spAutoFit/>
          </a:bodyPr>
          <a:lstStyle/>
          <a:p>
            <a:pPr>
              <a:lnSpc>
                <a:spcPts val="2500"/>
              </a:lnSpc>
              <a:spcBef>
                <a:spcPct val="0"/>
              </a:spcBef>
            </a:pPr>
            <a:r>
              <a:rPr lang="en-US" altLang="zh-CN" sz="1800">
                <a:solidFill>
                  <a:srgbClr val="3333FF"/>
                </a:solidFill>
                <a:latin typeface="Consolas" pitchFamily="49" charset="0"/>
                <a:ea typeface="仿宋" pitchFamily="49" charset="-122"/>
                <a:cs typeface="Consolas" pitchFamily="49" charset="0"/>
              </a:rPr>
              <a:t>void </a:t>
            </a:r>
            <a:r>
              <a:rPr lang="en-US" altLang="zh-CN" sz="1800">
                <a:solidFill>
                  <a:srgbClr val="FF0000"/>
                </a:solidFill>
                <a:latin typeface="Consolas" pitchFamily="49" charset="0"/>
                <a:ea typeface="仿宋" pitchFamily="49" charset="-122"/>
                <a:cs typeface="Consolas" pitchFamily="49" charset="0"/>
              </a:rPr>
              <a:t>Dijkstra</a:t>
            </a:r>
            <a:r>
              <a:rPr lang="en-US" altLang="zh-CN" sz="1800">
                <a:solidFill>
                  <a:srgbClr val="3333FF"/>
                </a:solidFill>
                <a:latin typeface="Consolas" pitchFamily="49" charset="0"/>
                <a:ea typeface="仿宋" pitchFamily="49" charset="-122"/>
                <a:cs typeface="Consolas" pitchFamily="49" charset="0"/>
              </a:rPr>
              <a:t>(MatGraph g</a:t>
            </a:r>
            <a:r>
              <a:rPr lang="zh-CN" altLang="en-US" sz="1800">
                <a:solidFill>
                  <a:srgbClr val="3333FF"/>
                </a:solidFill>
                <a:latin typeface="Consolas" pitchFamily="49" charset="0"/>
                <a:ea typeface="仿宋" pitchFamily="49" charset="-122"/>
                <a:cs typeface="Consolas" pitchFamily="49" charset="0"/>
              </a:rPr>
              <a:t>，</a:t>
            </a:r>
            <a:r>
              <a:rPr lang="en-US" altLang="zh-CN" sz="1800">
                <a:solidFill>
                  <a:srgbClr val="3333FF"/>
                </a:solidFill>
                <a:latin typeface="Consolas" pitchFamily="49" charset="0"/>
                <a:ea typeface="仿宋" pitchFamily="49" charset="-122"/>
                <a:cs typeface="Consolas" pitchFamily="49" charset="0"/>
              </a:rPr>
              <a:t>int </a:t>
            </a:r>
            <a:r>
              <a:rPr lang="en-US" altLang="zh-CN" sz="1800" dirty="0">
                <a:solidFill>
                  <a:srgbClr val="3333FF"/>
                </a:solidFill>
                <a:latin typeface="Consolas" pitchFamily="49" charset="0"/>
                <a:ea typeface="仿宋" pitchFamily="49" charset="-122"/>
                <a:cs typeface="Consolas" pitchFamily="49" charset="0"/>
              </a:rPr>
              <a:t>v)</a:t>
            </a:r>
          </a:p>
          <a:p>
            <a:pPr>
              <a:lnSpc>
                <a:spcPts val="2500"/>
              </a:lnSpc>
              <a:spcBef>
                <a:spcPct val="0"/>
              </a:spcBef>
            </a:pPr>
            <a:r>
              <a:rPr lang="en-US" altLang="zh-CN" sz="1800">
                <a:solidFill>
                  <a:srgbClr val="3333FF"/>
                </a:solidFill>
                <a:latin typeface="Consolas" pitchFamily="49" charset="0"/>
                <a:ea typeface="仿宋" pitchFamily="49" charset="-122"/>
                <a:cs typeface="Consolas" pitchFamily="49" charset="0"/>
              </a:rPr>
              <a:t>{  int dist[MAXV]</a:t>
            </a:r>
            <a:r>
              <a:rPr lang="zh-CN" altLang="en-US" sz="1800">
                <a:solidFill>
                  <a:srgbClr val="3333FF"/>
                </a:solidFill>
                <a:latin typeface="Consolas" pitchFamily="49" charset="0"/>
                <a:ea typeface="仿宋" pitchFamily="49" charset="-122"/>
                <a:cs typeface="Consolas" pitchFamily="49" charset="0"/>
              </a:rPr>
              <a:t>，</a:t>
            </a:r>
            <a:r>
              <a:rPr lang="en-US" altLang="zh-CN" sz="1800">
                <a:solidFill>
                  <a:srgbClr val="3333FF"/>
                </a:solidFill>
                <a:latin typeface="Consolas" pitchFamily="49" charset="0"/>
                <a:ea typeface="仿宋" pitchFamily="49" charset="-122"/>
                <a:cs typeface="Consolas" pitchFamily="49" charset="0"/>
              </a:rPr>
              <a:t>path[MAXV</a:t>
            </a:r>
            <a:r>
              <a:rPr lang="en-US" altLang="zh-CN" sz="1800" dirty="0">
                <a:solidFill>
                  <a:srgbClr val="3333FF"/>
                </a:solidFill>
                <a:latin typeface="Consolas" pitchFamily="49" charset="0"/>
                <a:ea typeface="仿宋" pitchFamily="49" charset="-122"/>
                <a:cs typeface="Consolas" pitchFamily="49" charset="0"/>
              </a:rPr>
              <a:t>];</a:t>
            </a:r>
          </a:p>
          <a:p>
            <a:pPr>
              <a:lnSpc>
                <a:spcPts val="2500"/>
              </a:lnSpc>
              <a:spcBef>
                <a:spcPct val="0"/>
              </a:spcBef>
            </a:pPr>
            <a:r>
              <a:rPr lang="en-US" altLang="zh-CN" sz="1800">
                <a:solidFill>
                  <a:srgbClr val="3333FF"/>
                </a:solidFill>
                <a:latin typeface="Consolas" pitchFamily="49" charset="0"/>
                <a:ea typeface="仿宋" pitchFamily="49" charset="-122"/>
                <a:cs typeface="Consolas" pitchFamily="49" charset="0"/>
              </a:rPr>
              <a:t>   int </a:t>
            </a:r>
            <a:r>
              <a:rPr lang="en-US" altLang="zh-CN" sz="1800" dirty="0">
                <a:solidFill>
                  <a:srgbClr val="3333FF"/>
                </a:solidFill>
                <a:latin typeface="Consolas" pitchFamily="49" charset="0"/>
                <a:ea typeface="仿宋" pitchFamily="49" charset="-122"/>
                <a:cs typeface="Consolas" pitchFamily="49" charset="0"/>
              </a:rPr>
              <a:t>s[</a:t>
            </a:r>
            <a:r>
              <a:rPr lang="en-US" altLang="zh-CN" sz="1800" dirty="0" err="1">
                <a:solidFill>
                  <a:srgbClr val="3333FF"/>
                </a:solidFill>
                <a:latin typeface="Consolas" pitchFamily="49" charset="0"/>
                <a:ea typeface="仿宋" pitchFamily="49" charset="-122"/>
                <a:cs typeface="Consolas" pitchFamily="49" charset="0"/>
              </a:rPr>
              <a:t>MAXV</a:t>
            </a:r>
            <a:r>
              <a:rPr lang="en-US" altLang="zh-CN" sz="1800" dirty="0">
                <a:solidFill>
                  <a:srgbClr val="3333FF"/>
                </a:solidFill>
                <a:latin typeface="Consolas" pitchFamily="49" charset="0"/>
                <a:ea typeface="仿宋" pitchFamily="49" charset="-122"/>
                <a:cs typeface="Consolas" pitchFamily="49" charset="0"/>
              </a:rPr>
              <a:t>];</a:t>
            </a:r>
          </a:p>
          <a:p>
            <a:pPr>
              <a:lnSpc>
                <a:spcPts val="2500"/>
              </a:lnSpc>
              <a:spcBef>
                <a:spcPct val="0"/>
              </a:spcBef>
            </a:pPr>
            <a:r>
              <a:rPr lang="en-US" altLang="zh-CN" sz="1800">
                <a:solidFill>
                  <a:srgbClr val="3333FF"/>
                </a:solidFill>
                <a:latin typeface="Consolas" pitchFamily="49" charset="0"/>
                <a:ea typeface="仿宋" pitchFamily="49" charset="-122"/>
                <a:cs typeface="Consolas" pitchFamily="49" charset="0"/>
              </a:rPr>
              <a:t>   int </a:t>
            </a:r>
            <a:r>
              <a:rPr lang="en-US" altLang="zh-CN" sz="1800" dirty="0" err="1">
                <a:solidFill>
                  <a:srgbClr val="3333FF"/>
                </a:solidFill>
                <a:latin typeface="Consolas" pitchFamily="49" charset="0"/>
                <a:ea typeface="仿宋" pitchFamily="49" charset="-122"/>
                <a:cs typeface="Consolas" pitchFamily="49" charset="0"/>
              </a:rPr>
              <a:t>mindis,i,j,u</a:t>
            </a:r>
            <a:r>
              <a:rPr lang="en-US" altLang="zh-CN" sz="1800" dirty="0">
                <a:solidFill>
                  <a:srgbClr val="3333FF"/>
                </a:solidFill>
                <a:latin typeface="Consolas" pitchFamily="49" charset="0"/>
                <a:ea typeface="仿宋" pitchFamily="49" charset="-122"/>
                <a:cs typeface="Consolas" pitchFamily="49" charset="0"/>
              </a:rPr>
              <a:t>;</a:t>
            </a:r>
          </a:p>
          <a:p>
            <a:pPr>
              <a:lnSpc>
                <a:spcPts val="2500"/>
              </a:lnSpc>
              <a:spcBef>
                <a:spcPts val="1200"/>
              </a:spcBef>
            </a:pPr>
            <a:r>
              <a:rPr lang="en-US" altLang="zh-CN" sz="1800">
                <a:solidFill>
                  <a:srgbClr val="FF00FF"/>
                </a:solidFill>
                <a:latin typeface="Consolas" pitchFamily="49" charset="0"/>
                <a:ea typeface="仿宋" pitchFamily="49" charset="-122"/>
                <a:cs typeface="Consolas" pitchFamily="49" charset="0"/>
              </a:rPr>
              <a:t>   for </a:t>
            </a:r>
            <a:r>
              <a:rPr lang="en-US" altLang="zh-CN" sz="1800" dirty="0">
                <a:solidFill>
                  <a:srgbClr val="FF00FF"/>
                </a:solidFill>
                <a:latin typeface="Consolas" pitchFamily="49" charset="0"/>
                <a:ea typeface="仿宋" pitchFamily="49" charset="-122"/>
                <a:cs typeface="Consolas" pitchFamily="49" charset="0"/>
              </a:rPr>
              <a:t>(</a:t>
            </a:r>
            <a:r>
              <a:rPr lang="en-US" altLang="zh-CN" sz="1800" dirty="0" err="1">
                <a:solidFill>
                  <a:srgbClr val="FF00FF"/>
                </a:solidFill>
                <a:latin typeface="Consolas" pitchFamily="49" charset="0"/>
                <a:ea typeface="仿宋" pitchFamily="49" charset="-122"/>
                <a:cs typeface="Consolas" pitchFamily="49" charset="0"/>
              </a:rPr>
              <a:t>i</a:t>
            </a:r>
            <a:r>
              <a:rPr lang="en-US" altLang="zh-CN" sz="1800" dirty="0">
                <a:solidFill>
                  <a:srgbClr val="FF00FF"/>
                </a:solidFill>
                <a:latin typeface="Consolas" pitchFamily="49" charset="0"/>
                <a:ea typeface="仿宋" pitchFamily="49" charset="-122"/>
                <a:cs typeface="Consolas" pitchFamily="49" charset="0"/>
              </a:rPr>
              <a:t>=</a:t>
            </a:r>
            <a:r>
              <a:rPr lang="en-US" altLang="zh-CN" sz="1800" dirty="0" err="1">
                <a:solidFill>
                  <a:srgbClr val="FF00FF"/>
                </a:solidFill>
                <a:latin typeface="Consolas" pitchFamily="49" charset="0"/>
                <a:ea typeface="仿宋" pitchFamily="49" charset="-122"/>
                <a:cs typeface="Consolas" pitchFamily="49" charset="0"/>
              </a:rPr>
              <a:t>0;i</a:t>
            </a:r>
            <a:r>
              <a:rPr lang="en-US" altLang="zh-CN" sz="1800" dirty="0">
                <a:solidFill>
                  <a:srgbClr val="FF00FF"/>
                </a:solidFill>
                <a:latin typeface="Consolas" pitchFamily="49" charset="0"/>
                <a:ea typeface="仿宋" pitchFamily="49" charset="-122"/>
                <a:cs typeface="Consolas" pitchFamily="49" charset="0"/>
              </a:rPr>
              <a:t>&lt;</a:t>
            </a:r>
            <a:r>
              <a:rPr lang="en-US" altLang="zh-CN" sz="1800" dirty="0" err="1">
                <a:solidFill>
                  <a:srgbClr val="FF00FF"/>
                </a:solidFill>
                <a:latin typeface="Consolas" pitchFamily="49" charset="0"/>
                <a:ea typeface="仿宋" pitchFamily="49" charset="-122"/>
                <a:cs typeface="Consolas" pitchFamily="49" charset="0"/>
              </a:rPr>
              <a:t>g.n;i</a:t>
            </a:r>
            <a:r>
              <a:rPr lang="en-US" altLang="zh-CN" sz="1800" dirty="0">
                <a:solidFill>
                  <a:srgbClr val="FF00FF"/>
                </a:solidFill>
                <a:latin typeface="Consolas" pitchFamily="49" charset="0"/>
                <a:ea typeface="仿宋" pitchFamily="49" charset="-122"/>
                <a:cs typeface="Consolas" pitchFamily="49" charset="0"/>
              </a:rPr>
              <a:t>++)</a:t>
            </a:r>
          </a:p>
          <a:p>
            <a:pPr>
              <a:lnSpc>
                <a:spcPts val="2500"/>
              </a:lnSpc>
              <a:spcBef>
                <a:spcPct val="0"/>
              </a:spcBef>
            </a:pPr>
            <a:r>
              <a:rPr lang="en-US" altLang="zh-CN" sz="1800">
                <a:solidFill>
                  <a:srgbClr val="FF00FF"/>
                </a:solidFill>
                <a:latin typeface="Consolas" pitchFamily="49" charset="0"/>
                <a:ea typeface="仿宋" pitchFamily="49" charset="-122"/>
                <a:cs typeface="Consolas" pitchFamily="49" charset="0"/>
              </a:rPr>
              <a:t>   {   </a:t>
            </a:r>
            <a:r>
              <a:rPr lang="en-US" altLang="zh-CN" sz="1800" dirty="0">
                <a:solidFill>
                  <a:srgbClr val="FF00FF"/>
                </a:solidFill>
                <a:latin typeface="Consolas" pitchFamily="49" charset="0"/>
                <a:ea typeface="仿宋" pitchFamily="49" charset="-122"/>
                <a:cs typeface="Consolas" pitchFamily="49" charset="0"/>
              </a:rPr>
              <a:t>dist[</a:t>
            </a:r>
            <a:r>
              <a:rPr lang="en-US" altLang="zh-CN" sz="1800" dirty="0" err="1">
                <a:solidFill>
                  <a:srgbClr val="FF00FF"/>
                </a:solidFill>
                <a:latin typeface="Consolas" pitchFamily="49" charset="0"/>
                <a:ea typeface="仿宋" pitchFamily="49" charset="-122"/>
                <a:cs typeface="Consolas" pitchFamily="49" charset="0"/>
              </a:rPr>
              <a:t>i</a:t>
            </a:r>
            <a:r>
              <a:rPr lang="en-US" altLang="zh-CN" sz="1800" dirty="0">
                <a:solidFill>
                  <a:srgbClr val="FF00FF"/>
                </a:solidFill>
                <a:latin typeface="Consolas" pitchFamily="49" charset="0"/>
                <a:ea typeface="仿宋" pitchFamily="49" charset="-122"/>
                <a:cs typeface="Consolas" pitchFamily="49" charset="0"/>
              </a:rPr>
              <a:t>]=</a:t>
            </a:r>
            <a:r>
              <a:rPr lang="en-US" altLang="zh-CN" sz="1800" dirty="0" err="1">
                <a:solidFill>
                  <a:srgbClr val="FF00FF"/>
                </a:solidFill>
                <a:latin typeface="Consolas" pitchFamily="49" charset="0"/>
                <a:ea typeface="仿宋" pitchFamily="49" charset="-122"/>
                <a:cs typeface="Consolas" pitchFamily="49" charset="0"/>
              </a:rPr>
              <a:t>g.edges</a:t>
            </a:r>
            <a:r>
              <a:rPr lang="en-US" altLang="zh-CN" sz="1800" dirty="0">
                <a:solidFill>
                  <a:srgbClr val="FF00FF"/>
                </a:solidFill>
                <a:latin typeface="Consolas" pitchFamily="49" charset="0"/>
                <a:ea typeface="仿宋" pitchFamily="49" charset="-122"/>
                <a:cs typeface="Consolas" pitchFamily="49" charset="0"/>
              </a:rPr>
              <a:t>[v][</a:t>
            </a:r>
            <a:r>
              <a:rPr lang="en-US" altLang="zh-CN" sz="1800" dirty="0" err="1">
                <a:solidFill>
                  <a:srgbClr val="FF00FF"/>
                </a:solidFill>
                <a:latin typeface="Consolas" pitchFamily="49" charset="0"/>
                <a:ea typeface="仿宋" pitchFamily="49" charset="-122"/>
                <a:cs typeface="Consolas" pitchFamily="49" charset="0"/>
              </a:rPr>
              <a:t>i</a:t>
            </a:r>
            <a:r>
              <a:rPr lang="en-US" altLang="zh-CN" sz="1800" dirty="0">
                <a:solidFill>
                  <a:srgbClr val="FF00FF"/>
                </a:solidFill>
                <a:latin typeface="Consolas" pitchFamily="49" charset="0"/>
                <a:ea typeface="仿宋" pitchFamily="49" charset="-122"/>
                <a:cs typeface="Consolas" pitchFamily="49" charset="0"/>
              </a:rPr>
              <a:t>];</a:t>
            </a:r>
            <a:r>
              <a:rPr lang="en-US" altLang="zh-CN" sz="1800">
                <a:solidFill>
                  <a:srgbClr val="FF00FF"/>
                </a:solidFill>
                <a:latin typeface="Consolas" pitchFamily="49" charset="0"/>
                <a:ea typeface="仿宋" pitchFamily="49" charset="-122"/>
                <a:cs typeface="Consolas" pitchFamily="49" charset="0"/>
              </a:rPr>
              <a:t>	 </a:t>
            </a:r>
            <a:r>
              <a:rPr lang="en-US" altLang="zh-CN" sz="1800">
                <a:solidFill>
                  <a:srgbClr val="00B0F0"/>
                </a:solidFill>
                <a:latin typeface="Consolas" pitchFamily="49" charset="0"/>
                <a:ea typeface="仿宋" pitchFamily="49" charset="-122"/>
                <a:cs typeface="Consolas" pitchFamily="49" charset="0"/>
              </a:rPr>
              <a:t>//</a:t>
            </a:r>
            <a:r>
              <a:rPr lang="zh-CN" altLang="en-US" sz="1800" dirty="0">
                <a:solidFill>
                  <a:srgbClr val="00B0F0"/>
                </a:solidFill>
                <a:latin typeface="Consolas" pitchFamily="49" charset="0"/>
                <a:ea typeface="仿宋" pitchFamily="49" charset="-122"/>
                <a:cs typeface="Consolas" pitchFamily="49" charset="0"/>
              </a:rPr>
              <a:t>距离初始化</a:t>
            </a:r>
          </a:p>
          <a:p>
            <a:pPr>
              <a:lnSpc>
                <a:spcPts val="2500"/>
              </a:lnSpc>
              <a:spcBef>
                <a:spcPct val="0"/>
              </a:spcBef>
            </a:pPr>
            <a:r>
              <a:rPr lang="zh-CN" altLang="en-US" sz="1800" dirty="0">
                <a:solidFill>
                  <a:srgbClr val="FF00FF"/>
                </a:solidFill>
                <a:latin typeface="Consolas" pitchFamily="49" charset="0"/>
                <a:ea typeface="仿宋" pitchFamily="49" charset="-122"/>
                <a:cs typeface="Consolas" pitchFamily="49" charset="0"/>
              </a:rPr>
              <a:t>	</a:t>
            </a:r>
            <a:r>
              <a:rPr lang="en-US" altLang="zh-CN" sz="1800" dirty="0">
                <a:solidFill>
                  <a:srgbClr val="FF00FF"/>
                </a:solidFill>
                <a:latin typeface="Consolas" pitchFamily="49" charset="0"/>
                <a:ea typeface="仿宋" pitchFamily="49" charset="-122"/>
                <a:cs typeface="Consolas" pitchFamily="49" charset="0"/>
              </a:rPr>
              <a:t>s[</a:t>
            </a:r>
            <a:r>
              <a:rPr lang="en-US" altLang="zh-CN" sz="1800" dirty="0" err="1">
                <a:solidFill>
                  <a:srgbClr val="FF00FF"/>
                </a:solidFill>
                <a:latin typeface="Consolas" pitchFamily="49" charset="0"/>
                <a:ea typeface="仿宋" pitchFamily="49" charset="-122"/>
                <a:cs typeface="Consolas" pitchFamily="49" charset="0"/>
              </a:rPr>
              <a:t>i</a:t>
            </a:r>
            <a:r>
              <a:rPr lang="en-US" altLang="zh-CN" sz="1800" dirty="0">
                <a:solidFill>
                  <a:srgbClr val="FF00FF"/>
                </a:solidFill>
                <a:latin typeface="Consolas" pitchFamily="49" charset="0"/>
                <a:ea typeface="仿宋" pitchFamily="49" charset="-122"/>
                <a:cs typeface="Consolas" pitchFamily="49" charset="0"/>
              </a:rPr>
              <a:t>]=0;		</a:t>
            </a:r>
            <a:r>
              <a:rPr lang="en-US" altLang="zh-CN" sz="1800">
                <a:solidFill>
                  <a:srgbClr val="FF00FF"/>
                </a:solidFill>
                <a:latin typeface="Consolas" pitchFamily="49" charset="0"/>
                <a:ea typeface="仿宋" pitchFamily="49" charset="-122"/>
                <a:cs typeface="Consolas" pitchFamily="49" charset="0"/>
              </a:rPr>
              <a:t>	 </a:t>
            </a:r>
            <a:r>
              <a:rPr lang="en-US" altLang="zh-CN" sz="1800">
                <a:solidFill>
                  <a:srgbClr val="00B0F0"/>
                </a:solidFill>
                <a:latin typeface="Consolas" pitchFamily="49" charset="0"/>
                <a:ea typeface="仿宋" pitchFamily="49" charset="-122"/>
                <a:cs typeface="Consolas" pitchFamily="49" charset="0"/>
              </a:rPr>
              <a:t>//</a:t>
            </a:r>
            <a:r>
              <a:rPr lang="en-US" altLang="zh-CN" sz="1800" dirty="0">
                <a:solidFill>
                  <a:srgbClr val="00B0F0"/>
                </a:solidFill>
                <a:latin typeface="Consolas" pitchFamily="49" charset="0"/>
                <a:ea typeface="仿宋" pitchFamily="49" charset="-122"/>
                <a:cs typeface="Consolas" pitchFamily="49" charset="0"/>
              </a:rPr>
              <a:t>s[]</a:t>
            </a:r>
            <a:r>
              <a:rPr lang="zh-CN" altLang="en-US" sz="1800" dirty="0">
                <a:solidFill>
                  <a:srgbClr val="00B0F0"/>
                </a:solidFill>
                <a:latin typeface="Consolas" pitchFamily="49" charset="0"/>
                <a:ea typeface="仿宋" pitchFamily="49" charset="-122"/>
                <a:cs typeface="Consolas" pitchFamily="49" charset="0"/>
              </a:rPr>
              <a:t>置空</a:t>
            </a:r>
          </a:p>
          <a:p>
            <a:pPr>
              <a:lnSpc>
                <a:spcPts val="2500"/>
              </a:lnSpc>
              <a:spcBef>
                <a:spcPct val="0"/>
              </a:spcBef>
            </a:pPr>
            <a:r>
              <a:rPr lang="zh-CN" altLang="en-US" sz="1800" dirty="0">
                <a:solidFill>
                  <a:srgbClr val="FF00FF"/>
                </a:solidFill>
                <a:latin typeface="Consolas" pitchFamily="49" charset="0"/>
                <a:ea typeface="仿宋" pitchFamily="49" charset="-122"/>
                <a:cs typeface="Consolas" pitchFamily="49" charset="0"/>
              </a:rPr>
              <a:t>	</a:t>
            </a:r>
            <a:r>
              <a:rPr lang="en-US" altLang="zh-CN" sz="1800" dirty="0">
                <a:solidFill>
                  <a:srgbClr val="FF00FF"/>
                </a:solidFill>
                <a:latin typeface="Consolas" pitchFamily="49" charset="0"/>
                <a:ea typeface="仿宋" pitchFamily="49" charset="-122"/>
                <a:cs typeface="Consolas" pitchFamily="49" charset="0"/>
              </a:rPr>
              <a:t>if (</a:t>
            </a:r>
            <a:r>
              <a:rPr lang="en-US" altLang="zh-CN" sz="1800" dirty="0" err="1">
                <a:solidFill>
                  <a:srgbClr val="FF00FF"/>
                </a:solidFill>
                <a:latin typeface="Consolas" pitchFamily="49" charset="0"/>
                <a:ea typeface="仿宋" pitchFamily="49" charset="-122"/>
                <a:cs typeface="Consolas" pitchFamily="49" charset="0"/>
              </a:rPr>
              <a:t>g.edges</a:t>
            </a:r>
            <a:r>
              <a:rPr lang="en-US" altLang="zh-CN" sz="1800" dirty="0">
                <a:solidFill>
                  <a:srgbClr val="FF00FF"/>
                </a:solidFill>
                <a:latin typeface="Consolas" pitchFamily="49" charset="0"/>
                <a:ea typeface="仿宋" pitchFamily="49" charset="-122"/>
                <a:cs typeface="Consolas" pitchFamily="49" charset="0"/>
              </a:rPr>
              <a:t>[v][</a:t>
            </a:r>
            <a:r>
              <a:rPr lang="en-US" altLang="zh-CN" sz="1800" dirty="0" err="1">
                <a:solidFill>
                  <a:srgbClr val="FF00FF"/>
                </a:solidFill>
                <a:latin typeface="Consolas" pitchFamily="49" charset="0"/>
                <a:ea typeface="仿宋" pitchFamily="49" charset="-122"/>
                <a:cs typeface="Consolas" pitchFamily="49" charset="0"/>
              </a:rPr>
              <a:t>i</a:t>
            </a:r>
            <a:r>
              <a:rPr lang="en-US" altLang="zh-CN" sz="1800" dirty="0">
                <a:solidFill>
                  <a:srgbClr val="FF00FF"/>
                </a:solidFill>
                <a:latin typeface="Consolas" pitchFamily="49" charset="0"/>
                <a:ea typeface="仿宋" pitchFamily="49" charset="-122"/>
                <a:cs typeface="Consolas" pitchFamily="49" charset="0"/>
              </a:rPr>
              <a:t>]&lt;</a:t>
            </a:r>
            <a:r>
              <a:rPr lang="en-US" altLang="zh-CN" sz="1800">
                <a:solidFill>
                  <a:srgbClr val="FF00FF"/>
                </a:solidFill>
                <a:latin typeface="Consolas" pitchFamily="49" charset="0"/>
                <a:ea typeface="仿宋" pitchFamily="49" charset="-122"/>
                <a:cs typeface="Consolas" pitchFamily="49" charset="0"/>
              </a:rPr>
              <a:t>INF) </a:t>
            </a:r>
            <a:r>
              <a:rPr lang="en-US" altLang="zh-CN" sz="1800">
                <a:solidFill>
                  <a:srgbClr val="00B0F0"/>
                </a:solidFill>
                <a:latin typeface="Consolas" pitchFamily="49" charset="0"/>
                <a:ea typeface="仿宋" pitchFamily="49" charset="-122"/>
                <a:cs typeface="Consolas" pitchFamily="49" charset="0"/>
              </a:rPr>
              <a:t>//</a:t>
            </a:r>
            <a:r>
              <a:rPr lang="zh-CN" altLang="en-US" sz="1800" dirty="0">
                <a:solidFill>
                  <a:srgbClr val="00B0F0"/>
                </a:solidFill>
                <a:latin typeface="Consolas" pitchFamily="49" charset="0"/>
                <a:ea typeface="仿宋" pitchFamily="49" charset="-122"/>
                <a:cs typeface="Consolas" pitchFamily="49" charset="0"/>
              </a:rPr>
              <a:t>路径初始化</a:t>
            </a:r>
          </a:p>
          <a:p>
            <a:pPr>
              <a:lnSpc>
                <a:spcPts val="2500"/>
              </a:lnSpc>
              <a:spcBef>
                <a:spcPct val="0"/>
              </a:spcBef>
            </a:pPr>
            <a:r>
              <a:rPr lang="zh-CN" altLang="en-US" sz="1800">
                <a:solidFill>
                  <a:srgbClr val="FF00FF"/>
                </a:solidFill>
                <a:latin typeface="Consolas" pitchFamily="49" charset="0"/>
                <a:ea typeface="仿宋" pitchFamily="49" charset="-122"/>
                <a:cs typeface="Consolas" pitchFamily="49" charset="0"/>
              </a:rPr>
              <a:t>	   </a:t>
            </a:r>
            <a:r>
              <a:rPr lang="en-US" altLang="zh-CN" sz="1800" dirty="0">
                <a:solidFill>
                  <a:srgbClr val="FF00FF"/>
                </a:solidFill>
                <a:latin typeface="Consolas" pitchFamily="49" charset="0"/>
                <a:ea typeface="仿宋" pitchFamily="49" charset="-122"/>
                <a:cs typeface="Consolas" pitchFamily="49" charset="0"/>
              </a:rPr>
              <a:t>path[</a:t>
            </a:r>
            <a:r>
              <a:rPr lang="en-US" altLang="zh-CN" sz="1800" dirty="0" err="1">
                <a:solidFill>
                  <a:srgbClr val="FF00FF"/>
                </a:solidFill>
                <a:latin typeface="Consolas" pitchFamily="49" charset="0"/>
                <a:ea typeface="仿宋" pitchFamily="49" charset="-122"/>
                <a:cs typeface="Consolas" pitchFamily="49" charset="0"/>
              </a:rPr>
              <a:t>i</a:t>
            </a:r>
            <a:r>
              <a:rPr lang="en-US" altLang="zh-CN" sz="1800" dirty="0">
                <a:solidFill>
                  <a:srgbClr val="FF00FF"/>
                </a:solidFill>
                <a:latin typeface="Consolas" pitchFamily="49" charset="0"/>
                <a:ea typeface="仿宋" pitchFamily="49" charset="-122"/>
                <a:cs typeface="Consolas" pitchFamily="49" charset="0"/>
              </a:rPr>
              <a:t>]=v;	</a:t>
            </a:r>
            <a:r>
              <a:rPr lang="en-US" altLang="zh-CN" sz="1800">
                <a:solidFill>
                  <a:srgbClr val="FF00FF"/>
                </a:solidFill>
                <a:latin typeface="Consolas" pitchFamily="49" charset="0"/>
                <a:ea typeface="仿宋" pitchFamily="49" charset="-122"/>
                <a:cs typeface="Consolas" pitchFamily="49" charset="0"/>
              </a:rPr>
              <a:t>	 </a:t>
            </a:r>
            <a:r>
              <a:rPr lang="en-US" altLang="zh-CN" sz="1800">
                <a:solidFill>
                  <a:srgbClr val="00B0F0"/>
                </a:solidFill>
                <a:latin typeface="Consolas" pitchFamily="49" charset="0"/>
                <a:ea typeface="仿宋" pitchFamily="49" charset="-122"/>
                <a:cs typeface="Consolas" pitchFamily="49" charset="0"/>
              </a:rPr>
              <a:t>//</a:t>
            </a:r>
            <a:r>
              <a:rPr lang="zh-CN" altLang="en-US" sz="1800" dirty="0">
                <a:solidFill>
                  <a:srgbClr val="00B0F0"/>
                </a:solidFill>
                <a:latin typeface="Consolas" pitchFamily="49" charset="0"/>
                <a:ea typeface="仿宋" pitchFamily="49" charset="-122"/>
                <a:cs typeface="Consolas" pitchFamily="49" charset="0"/>
              </a:rPr>
              <a:t>顶点</a:t>
            </a:r>
            <a:r>
              <a:rPr lang="en-US" altLang="zh-CN" sz="1800" dirty="0">
                <a:solidFill>
                  <a:srgbClr val="00B0F0"/>
                </a:solidFill>
                <a:latin typeface="Consolas" pitchFamily="49" charset="0"/>
                <a:ea typeface="仿宋" pitchFamily="49" charset="-122"/>
                <a:cs typeface="Consolas" pitchFamily="49" charset="0"/>
              </a:rPr>
              <a:t>v</a:t>
            </a:r>
            <a:r>
              <a:rPr lang="zh-CN" altLang="en-US" sz="1800" dirty="0">
                <a:solidFill>
                  <a:srgbClr val="00B0F0"/>
                </a:solidFill>
                <a:latin typeface="Consolas" pitchFamily="49" charset="0"/>
                <a:ea typeface="仿宋" pitchFamily="49" charset="-122"/>
                <a:cs typeface="Consolas" pitchFamily="49" charset="0"/>
              </a:rPr>
              <a:t>到</a:t>
            </a:r>
            <a:r>
              <a:rPr lang="en-US" altLang="zh-CN" sz="1800" dirty="0" err="1">
                <a:solidFill>
                  <a:srgbClr val="00B0F0"/>
                </a:solidFill>
                <a:latin typeface="Consolas" pitchFamily="49" charset="0"/>
                <a:ea typeface="仿宋" pitchFamily="49" charset="-122"/>
                <a:cs typeface="Consolas" pitchFamily="49" charset="0"/>
              </a:rPr>
              <a:t>i</a:t>
            </a:r>
            <a:r>
              <a:rPr lang="zh-CN" altLang="en-US" sz="1800" dirty="0">
                <a:solidFill>
                  <a:srgbClr val="00B0F0"/>
                </a:solidFill>
                <a:latin typeface="Consolas" pitchFamily="49" charset="0"/>
                <a:ea typeface="仿宋" pitchFamily="49" charset="-122"/>
                <a:cs typeface="Consolas" pitchFamily="49" charset="0"/>
              </a:rPr>
              <a:t>有边时</a:t>
            </a:r>
            <a:endParaRPr lang="en-US" altLang="zh-CN" sz="1800" dirty="0">
              <a:solidFill>
                <a:srgbClr val="00B0F0"/>
              </a:solidFill>
              <a:latin typeface="Consolas" pitchFamily="49" charset="0"/>
              <a:ea typeface="仿宋" pitchFamily="49" charset="-122"/>
              <a:cs typeface="Consolas" pitchFamily="49" charset="0"/>
            </a:endParaRPr>
          </a:p>
          <a:p>
            <a:pPr>
              <a:lnSpc>
                <a:spcPts val="2500"/>
              </a:lnSpc>
              <a:spcBef>
                <a:spcPct val="0"/>
              </a:spcBef>
            </a:pPr>
            <a:r>
              <a:rPr lang="en-US" altLang="zh-CN" sz="1800" dirty="0">
                <a:solidFill>
                  <a:srgbClr val="FF00FF"/>
                </a:solidFill>
                <a:latin typeface="Consolas" pitchFamily="49" charset="0"/>
                <a:ea typeface="仿宋" pitchFamily="49" charset="-122"/>
                <a:cs typeface="Consolas" pitchFamily="49" charset="0"/>
              </a:rPr>
              <a:t>	else</a:t>
            </a:r>
          </a:p>
          <a:p>
            <a:pPr>
              <a:lnSpc>
                <a:spcPts val="2500"/>
              </a:lnSpc>
              <a:spcBef>
                <a:spcPct val="0"/>
              </a:spcBef>
            </a:pPr>
            <a:r>
              <a:rPr lang="en-US" altLang="zh-CN" sz="1800">
                <a:solidFill>
                  <a:srgbClr val="FF00FF"/>
                </a:solidFill>
                <a:latin typeface="Consolas" pitchFamily="49" charset="0"/>
                <a:ea typeface="仿宋" pitchFamily="49" charset="-122"/>
                <a:cs typeface="Consolas" pitchFamily="49" charset="0"/>
              </a:rPr>
              <a:t>	   </a:t>
            </a:r>
            <a:r>
              <a:rPr lang="en-US" altLang="zh-CN" sz="1800" dirty="0">
                <a:solidFill>
                  <a:srgbClr val="FF00FF"/>
                </a:solidFill>
                <a:latin typeface="Consolas" pitchFamily="49" charset="0"/>
                <a:ea typeface="仿宋" pitchFamily="49" charset="-122"/>
                <a:cs typeface="Consolas" pitchFamily="49" charset="0"/>
              </a:rPr>
              <a:t>path[</a:t>
            </a:r>
            <a:r>
              <a:rPr lang="en-US" altLang="zh-CN" sz="1800" dirty="0" err="1">
                <a:solidFill>
                  <a:srgbClr val="FF00FF"/>
                </a:solidFill>
                <a:latin typeface="Consolas" pitchFamily="49" charset="0"/>
                <a:ea typeface="仿宋" pitchFamily="49" charset="-122"/>
                <a:cs typeface="Consolas" pitchFamily="49" charset="0"/>
              </a:rPr>
              <a:t>i</a:t>
            </a:r>
            <a:r>
              <a:rPr lang="en-US" altLang="zh-CN" sz="1800" dirty="0">
                <a:solidFill>
                  <a:srgbClr val="FF00FF"/>
                </a:solidFill>
                <a:latin typeface="Consolas" pitchFamily="49" charset="0"/>
                <a:ea typeface="仿宋" pitchFamily="49" charset="-122"/>
                <a:cs typeface="Consolas" pitchFamily="49" charset="0"/>
              </a:rPr>
              <a:t>]=-1;	</a:t>
            </a:r>
            <a:r>
              <a:rPr lang="en-US" altLang="zh-CN" sz="1800">
                <a:solidFill>
                  <a:srgbClr val="FF00FF"/>
                </a:solidFill>
                <a:latin typeface="Consolas" pitchFamily="49" charset="0"/>
                <a:ea typeface="仿宋" pitchFamily="49" charset="-122"/>
                <a:cs typeface="Consolas" pitchFamily="49" charset="0"/>
              </a:rPr>
              <a:t>	 </a:t>
            </a:r>
            <a:r>
              <a:rPr lang="en-US" altLang="zh-CN" sz="1800">
                <a:solidFill>
                  <a:srgbClr val="00B0F0"/>
                </a:solidFill>
                <a:latin typeface="Consolas" pitchFamily="49" charset="0"/>
                <a:ea typeface="仿宋" pitchFamily="49" charset="-122"/>
                <a:cs typeface="Consolas" pitchFamily="49" charset="0"/>
              </a:rPr>
              <a:t>//</a:t>
            </a:r>
            <a:r>
              <a:rPr lang="zh-CN" altLang="en-US" sz="1800" dirty="0">
                <a:solidFill>
                  <a:srgbClr val="00B0F0"/>
                </a:solidFill>
                <a:latin typeface="Consolas" pitchFamily="49" charset="0"/>
                <a:ea typeface="仿宋" pitchFamily="49" charset="-122"/>
                <a:cs typeface="Consolas" pitchFamily="49" charset="0"/>
              </a:rPr>
              <a:t>顶点</a:t>
            </a:r>
            <a:r>
              <a:rPr lang="en-US" altLang="zh-CN" sz="1800" dirty="0">
                <a:solidFill>
                  <a:srgbClr val="00B0F0"/>
                </a:solidFill>
                <a:latin typeface="Consolas" pitchFamily="49" charset="0"/>
                <a:ea typeface="仿宋" pitchFamily="49" charset="-122"/>
                <a:cs typeface="Consolas" pitchFamily="49" charset="0"/>
              </a:rPr>
              <a:t>v</a:t>
            </a:r>
            <a:r>
              <a:rPr lang="zh-CN" altLang="en-US" sz="1800" dirty="0">
                <a:solidFill>
                  <a:srgbClr val="00B0F0"/>
                </a:solidFill>
                <a:latin typeface="Consolas" pitchFamily="49" charset="0"/>
                <a:ea typeface="仿宋" pitchFamily="49" charset="-122"/>
                <a:cs typeface="Consolas" pitchFamily="49" charset="0"/>
              </a:rPr>
              <a:t>到</a:t>
            </a:r>
            <a:r>
              <a:rPr lang="en-US" altLang="zh-CN" sz="1800" dirty="0" err="1">
                <a:solidFill>
                  <a:srgbClr val="00B0F0"/>
                </a:solidFill>
                <a:latin typeface="Consolas" pitchFamily="49" charset="0"/>
                <a:ea typeface="仿宋" pitchFamily="49" charset="-122"/>
                <a:cs typeface="Consolas" pitchFamily="49" charset="0"/>
              </a:rPr>
              <a:t>i</a:t>
            </a:r>
            <a:r>
              <a:rPr lang="zh-CN" altLang="en-US" sz="1800" dirty="0">
                <a:solidFill>
                  <a:srgbClr val="00B0F0"/>
                </a:solidFill>
                <a:latin typeface="Consolas" pitchFamily="49" charset="0"/>
                <a:ea typeface="仿宋" pitchFamily="49" charset="-122"/>
                <a:cs typeface="Consolas" pitchFamily="49" charset="0"/>
              </a:rPr>
              <a:t>没边时</a:t>
            </a:r>
            <a:endParaRPr lang="en-US" altLang="zh-CN" sz="1800" dirty="0">
              <a:solidFill>
                <a:srgbClr val="00B0F0"/>
              </a:solidFill>
              <a:latin typeface="Consolas" pitchFamily="49" charset="0"/>
              <a:ea typeface="仿宋" pitchFamily="49" charset="-122"/>
              <a:cs typeface="Consolas" pitchFamily="49" charset="0"/>
            </a:endParaRPr>
          </a:p>
          <a:p>
            <a:pPr>
              <a:lnSpc>
                <a:spcPts val="2500"/>
              </a:lnSpc>
              <a:spcBef>
                <a:spcPct val="0"/>
              </a:spcBef>
            </a:pPr>
            <a:r>
              <a:rPr lang="en-US" altLang="zh-CN" sz="1800">
                <a:solidFill>
                  <a:srgbClr val="FF00FF"/>
                </a:solidFill>
                <a:latin typeface="Consolas" pitchFamily="49" charset="0"/>
                <a:ea typeface="仿宋" pitchFamily="49" charset="-122"/>
                <a:cs typeface="Consolas" pitchFamily="49" charset="0"/>
              </a:rPr>
              <a:t>   }</a:t>
            </a:r>
            <a:endParaRPr lang="en-US" altLang="zh-CN" sz="1800" dirty="0">
              <a:solidFill>
                <a:srgbClr val="FF00FF"/>
              </a:solidFill>
              <a:latin typeface="Consolas" pitchFamily="49" charset="0"/>
              <a:ea typeface="仿宋" pitchFamily="49" charset="-122"/>
              <a:cs typeface="Consolas" pitchFamily="49" charset="0"/>
            </a:endParaRPr>
          </a:p>
          <a:p>
            <a:pPr>
              <a:lnSpc>
                <a:spcPts val="2500"/>
              </a:lnSpc>
              <a:spcBef>
                <a:spcPts val="1200"/>
              </a:spcBef>
            </a:pPr>
            <a:r>
              <a:rPr lang="en-US" altLang="zh-CN" sz="1800">
                <a:solidFill>
                  <a:srgbClr val="3333FF"/>
                </a:solidFill>
                <a:latin typeface="Consolas" pitchFamily="49" charset="0"/>
                <a:ea typeface="仿宋" pitchFamily="49" charset="-122"/>
                <a:cs typeface="Consolas" pitchFamily="49" charset="0"/>
              </a:rPr>
              <a:t>   s[v</a:t>
            </a:r>
            <a:r>
              <a:rPr lang="en-US" altLang="zh-CN" sz="1800" dirty="0">
                <a:solidFill>
                  <a:srgbClr val="3333FF"/>
                </a:solidFill>
                <a:latin typeface="Consolas" pitchFamily="49" charset="0"/>
                <a:ea typeface="仿宋" pitchFamily="49" charset="-122"/>
                <a:cs typeface="Consolas" pitchFamily="49" charset="0"/>
              </a:rPr>
              <a:t>]=1;	 	</a:t>
            </a:r>
            <a:r>
              <a:rPr lang="en-US" altLang="zh-CN" sz="1800">
                <a:solidFill>
                  <a:srgbClr val="3333FF"/>
                </a:solidFill>
                <a:latin typeface="Consolas" pitchFamily="49" charset="0"/>
                <a:ea typeface="仿宋" pitchFamily="49" charset="-122"/>
                <a:cs typeface="Consolas" pitchFamily="49" charset="0"/>
              </a:rPr>
              <a:t>	 </a:t>
            </a:r>
            <a:r>
              <a:rPr lang="en-US" altLang="zh-CN" sz="1800">
                <a:solidFill>
                  <a:srgbClr val="00B0F0"/>
                </a:solidFill>
                <a:latin typeface="Consolas" pitchFamily="49" charset="0"/>
                <a:ea typeface="仿宋" pitchFamily="49" charset="-122"/>
                <a:cs typeface="Consolas" pitchFamily="49" charset="0"/>
              </a:rPr>
              <a:t>//</a:t>
            </a:r>
            <a:r>
              <a:rPr lang="zh-CN" altLang="en-US" sz="1800">
                <a:solidFill>
                  <a:srgbClr val="00B0F0"/>
                </a:solidFill>
                <a:latin typeface="Consolas" pitchFamily="49" charset="0"/>
                <a:ea typeface="仿宋" pitchFamily="49" charset="-122"/>
                <a:cs typeface="Consolas" pitchFamily="49" charset="0"/>
              </a:rPr>
              <a:t>源点</a:t>
            </a:r>
            <a:r>
              <a:rPr lang="en-US" altLang="zh-CN" sz="1800">
                <a:solidFill>
                  <a:srgbClr val="00B0F0"/>
                </a:solidFill>
                <a:latin typeface="Consolas" pitchFamily="49" charset="0"/>
                <a:ea typeface="仿宋" pitchFamily="49" charset="-122"/>
                <a:cs typeface="Consolas" pitchFamily="49" charset="0"/>
              </a:rPr>
              <a:t>v</a:t>
            </a:r>
            <a:r>
              <a:rPr lang="zh-CN" altLang="en-US" sz="1800">
                <a:solidFill>
                  <a:srgbClr val="00B0F0"/>
                </a:solidFill>
                <a:latin typeface="Consolas" pitchFamily="49" charset="0"/>
                <a:ea typeface="仿宋" pitchFamily="49" charset="-122"/>
                <a:cs typeface="Consolas" pitchFamily="49" charset="0"/>
              </a:rPr>
              <a:t>放入</a:t>
            </a:r>
            <a:r>
              <a:rPr lang="en-US" altLang="zh-CN" sz="1800">
                <a:solidFill>
                  <a:srgbClr val="00B0F0"/>
                </a:solidFill>
                <a:latin typeface="Consolas" pitchFamily="49" charset="0"/>
                <a:ea typeface="仿宋" pitchFamily="49" charset="-122"/>
                <a:cs typeface="Consolas" pitchFamily="49" charset="0"/>
              </a:rPr>
              <a:t>S</a:t>
            </a:r>
            <a:r>
              <a:rPr lang="zh-CN" altLang="en-US" sz="1800">
                <a:solidFill>
                  <a:srgbClr val="00B0F0"/>
                </a:solidFill>
                <a:latin typeface="Consolas" pitchFamily="49" charset="0"/>
                <a:ea typeface="仿宋" pitchFamily="49" charset="-122"/>
                <a:cs typeface="Consolas" pitchFamily="49" charset="0"/>
              </a:rPr>
              <a:t>中</a:t>
            </a:r>
            <a:endParaRPr lang="zh-CN" altLang="en-US" sz="1800" dirty="0">
              <a:solidFill>
                <a:srgbClr val="00B0F0"/>
              </a:solidFill>
              <a:latin typeface="Consolas" pitchFamily="49" charset="0"/>
              <a:ea typeface="仿宋" pitchFamily="49" charset="-122"/>
              <a:cs typeface="Consolas" pitchFamily="49" charset="0"/>
            </a:endParaRPr>
          </a:p>
        </p:txBody>
      </p:sp>
      <p:grpSp>
        <p:nvGrpSpPr>
          <p:cNvPr id="4" name="组合 9">
            <a:extLst>
              <a:ext uri="{FF2B5EF4-FFF2-40B4-BE49-F238E27FC236}">
                <a16:creationId xmlns:a16="http://schemas.microsoft.com/office/drawing/2014/main" id="{A4602AC2-4928-5BC0-3070-491A27EFDDB7}"/>
              </a:ext>
            </a:extLst>
          </p:cNvPr>
          <p:cNvGrpSpPr/>
          <p:nvPr/>
        </p:nvGrpSpPr>
        <p:grpSpPr>
          <a:xfrm>
            <a:off x="3717689" y="3473759"/>
            <a:ext cx="7961728" cy="2500330"/>
            <a:chOff x="500034" y="1916102"/>
            <a:chExt cx="7961728" cy="2500330"/>
          </a:xfrm>
        </p:grpSpPr>
        <p:sp>
          <p:nvSpPr>
            <p:cNvPr id="5" name="矩形 4">
              <a:extLst>
                <a:ext uri="{FF2B5EF4-FFF2-40B4-BE49-F238E27FC236}">
                  <a16:creationId xmlns:a16="http://schemas.microsoft.com/office/drawing/2014/main" id="{BAB596D9-9D6C-B13F-F2BE-77CE38BA321A}"/>
                </a:ext>
              </a:extLst>
            </p:cNvPr>
            <p:cNvSpPr/>
            <p:nvPr/>
          </p:nvSpPr>
          <p:spPr>
            <a:xfrm>
              <a:off x="500034" y="1916102"/>
              <a:ext cx="5786478" cy="2500330"/>
            </a:xfrm>
            <a:prstGeom prst="rect">
              <a:avLst/>
            </a:prstGeom>
            <a:solidFill>
              <a:schemeClr val="accent1">
                <a:alpha val="0"/>
              </a:schemeClr>
            </a:solidFill>
            <a:ln w="38100">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TextBox 4">
              <a:extLst>
                <a:ext uri="{FF2B5EF4-FFF2-40B4-BE49-F238E27FC236}">
                  <a16:creationId xmlns:a16="http://schemas.microsoft.com/office/drawing/2014/main" id="{ADF8E319-D73A-BDF2-49CA-1CD7A6ECE85E}"/>
                </a:ext>
              </a:extLst>
            </p:cNvPr>
            <p:cNvSpPr txBox="1"/>
            <p:nvPr/>
          </p:nvSpPr>
          <p:spPr>
            <a:xfrm>
              <a:off x="6961564" y="2731416"/>
              <a:ext cx="1500198" cy="646331"/>
            </a:xfrm>
            <a:prstGeom prst="rect">
              <a:avLst/>
            </a:prstGeom>
            <a:noFill/>
          </p:spPr>
          <p:txBody>
            <a:bodyPr wrap="square" rtlCol="0">
              <a:spAutoFit/>
            </a:bodyPr>
            <a:lstStyle/>
            <a:p>
              <a:r>
                <a:rPr kumimoji="1" lang="en-US" altLang="zh-CN" sz="1800" dirty="0">
                  <a:latin typeface="Consolas" pitchFamily="49" charset="0"/>
                  <a:ea typeface="仿宋" pitchFamily="49" charset="-122"/>
                  <a:cs typeface="Consolas" pitchFamily="49" charset="0"/>
                </a:rPr>
                <a:t>dist</a:t>
              </a:r>
              <a:r>
                <a:rPr kumimoji="1" lang="zh-CN" altLang="en-US" sz="1800" dirty="0">
                  <a:latin typeface="Consolas" pitchFamily="49" charset="0"/>
                  <a:ea typeface="仿宋" pitchFamily="49" charset="-122"/>
                  <a:cs typeface="Consolas" pitchFamily="49" charset="0"/>
                </a:rPr>
                <a:t>和</a:t>
              </a:r>
              <a:r>
                <a:rPr kumimoji="1" lang="en-US" altLang="zh-CN" sz="1800" dirty="0">
                  <a:latin typeface="Consolas" pitchFamily="49" charset="0"/>
                  <a:ea typeface="仿宋" pitchFamily="49" charset="-122"/>
                  <a:cs typeface="Consolas" pitchFamily="49" charset="0"/>
                </a:rPr>
                <a:t>path</a:t>
              </a:r>
              <a:r>
                <a:rPr kumimoji="1" lang="zh-CN" altLang="en-US" sz="1800" dirty="0">
                  <a:latin typeface="Consolas" pitchFamily="49" charset="0"/>
                  <a:ea typeface="仿宋" pitchFamily="49" charset="-122"/>
                  <a:cs typeface="Consolas" pitchFamily="49" charset="0"/>
                </a:rPr>
                <a:t>数组初始化</a:t>
              </a:r>
              <a:endParaRPr lang="zh-CN" altLang="en-US" sz="1800" i="1" dirty="0">
                <a:latin typeface="Consolas" pitchFamily="49" charset="0"/>
                <a:ea typeface="仿宋" pitchFamily="49" charset="-122"/>
                <a:cs typeface="Consolas" pitchFamily="49" charset="0"/>
              </a:endParaRPr>
            </a:p>
          </p:txBody>
        </p:sp>
        <p:cxnSp>
          <p:nvCxnSpPr>
            <p:cNvPr id="7" name="直接连接符 6">
              <a:extLst>
                <a:ext uri="{FF2B5EF4-FFF2-40B4-BE49-F238E27FC236}">
                  <a16:creationId xmlns:a16="http://schemas.microsoft.com/office/drawing/2014/main" id="{5A3E1C0A-1AF8-35A4-55B9-E9650CD81658}"/>
                </a:ext>
              </a:extLst>
            </p:cNvPr>
            <p:cNvCxnSpPr/>
            <p:nvPr/>
          </p:nvCxnSpPr>
          <p:spPr>
            <a:xfrm flipV="1">
              <a:off x="6286512" y="3035532"/>
              <a:ext cx="675052" cy="0"/>
            </a:xfrm>
            <a:prstGeom prst="line">
              <a:avLst/>
            </a:prstGeom>
            <a:ln w="38100">
              <a:solidFill>
                <a:srgbClr val="C00000"/>
              </a:solidFill>
              <a:tailEnd type="none"/>
            </a:ln>
          </p:spPr>
          <p:style>
            <a:lnRef idx="1">
              <a:schemeClr val="accent1"/>
            </a:lnRef>
            <a:fillRef idx="0">
              <a:schemeClr val="accent1"/>
            </a:fillRef>
            <a:effectRef idx="0">
              <a:schemeClr val="accent1"/>
            </a:effectRef>
            <a:fontRef idx="minor">
              <a:schemeClr val="tx1"/>
            </a:fontRef>
          </p:style>
        </p:cxnSp>
      </p:grpSp>
      <p:sp>
        <p:nvSpPr>
          <p:cNvPr id="15" name="Rectangle 2">
            <a:extLst>
              <a:ext uri="{FF2B5EF4-FFF2-40B4-BE49-F238E27FC236}">
                <a16:creationId xmlns:a16="http://schemas.microsoft.com/office/drawing/2014/main" id="{F56EE074-87CE-A6E9-534F-4ADC3E46858D}"/>
              </a:ext>
            </a:extLst>
          </p:cNvPr>
          <p:cNvSpPr txBox="1">
            <a:spLocks noChangeArrowheads="1"/>
          </p:cNvSpPr>
          <p:nvPr/>
        </p:nvSpPr>
        <p:spPr>
          <a:xfrm>
            <a:off x="474771" y="1230902"/>
            <a:ext cx="10949819"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8.5.2 </a:t>
            </a:r>
            <a:r>
              <a:rPr lang="zh-CN" altLang="en-US" dirty="0"/>
              <a:t>从一个顶点到其余各顶点的最短路径（单源点最短路径问题）</a:t>
            </a:r>
          </a:p>
        </p:txBody>
      </p:sp>
      <p:cxnSp>
        <p:nvCxnSpPr>
          <p:cNvPr id="16" name="直接连接符 15">
            <a:extLst>
              <a:ext uri="{FF2B5EF4-FFF2-40B4-BE49-F238E27FC236}">
                <a16:creationId xmlns:a16="http://schemas.microsoft.com/office/drawing/2014/main" id="{B54094C1-7543-3265-EDD7-0FC8C281F57E}"/>
              </a:ext>
            </a:extLst>
          </p:cNvPr>
          <p:cNvCxnSpPr>
            <a:cxnSpLocks/>
          </p:cNvCxnSpPr>
          <p:nvPr/>
        </p:nvCxnSpPr>
        <p:spPr>
          <a:xfrm>
            <a:off x="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17" name="矩形 16">
            <a:extLst>
              <a:ext uri="{FF2B5EF4-FFF2-40B4-BE49-F238E27FC236}">
                <a16:creationId xmlns:a16="http://schemas.microsoft.com/office/drawing/2014/main" id="{6757EAC9-B690-A065-F7C4-3AE098C97BDD}"/>
              </a:ext>
            </a:extLst>
          </p:cNvPr>
          <p:cNvSpPr/>
          <p:nvPr/>
        </p:nvSpPr>
        <p:spPr>
          <a:xfrm>
            <a:off x="3394075" y="399838"/>
            <a:ext cx="4617860"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8.5 </a:t>
            </a:r>
            <a:r>
              <a:rPr lang="zh-CN" altLang="en-US" sz="3000" b="1" dirty="0">
                <a:latin typeface="黑体" pitchFamily="49" charset="-122"/>
                <a:ea typeface="黑体" pitchFamily="49" charset="-122"/>
                <a:cs typeface="经典粗黑简" pitchFamily="49" charset="-122"/>
              </a:rPr>
              <a:t>最短路径</a:t>
            </a:r>
          </a:p>
        </p:txBody>
      </p:sp>
    </p:spTree>
    <p:extLst>
      <p:ext uri="{BB962C8B-B14F-4D97-AF65-F5344CB8AC3E}">
        <p14:creationId xmlns:p14="http://schemas.microsoft.com/office/powerpoint/2010/main" val="133954858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7" end="7"/>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8" end="8"/>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9" end="9"/>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10" end="10"/>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1E7202-4F0B-0581-89DB-3054638DA0CA}"/>
            </a:ext>
          </a:extLst>
        </p:cNvPr>
        <p:cNvGrpSpPr/>
        <p:nvPr/>
      </p:nvGrpSpPr>
      <p:grpSpPr>
        <a:xfrm>
          <a:off x="0" y="0"/>
          <a:ext cx="0" cy="0"/>
          <a:chOff x="0" y="0"/>
          <a:chExt cx="0" cy="0"/>
        </a:xfrm>
      </p:grpSpPr>
      <p:sp>
        <p:nvSpPr>
          <p:cNvPr id="2" name="Text Box 1026">
            <a:extLst>
              <a:ext uri="{FF2B5EF4-FFF2-40B4-BE49-F238E27FC236}">
                <a16:creationId xmlns:a16="http://schemas.microsoft.com/office/drawing/2014/main" id="{AF2214F9-7BD8-5D44-E997-7419E8892488}"/>
              </a:ext>
            </a:extLst>
          </p:cNvPr>
          <p:cNvSpPr txBox="1">
            <a:spLocks noChangeArrowheads="1"/>
          </p:cNvSpPr>
          <p:nvPr/>
        </p:nvSpPr>
        <p:spPr bwMode="auto">
          <a:xfrm>
            <a:off x="1631504" y="1844824"/>
            <a:ext cx="8320084" cy="4943813"/>
          </a:xfrm>
          <a:prstGeom prst="rect">
            <a:avLst/>
          </a:prstGeom>
          <a:solidFill>
            <a:schemeClr val="bg1">
              <a:lumMod val="95000"/>
            </a:schemeClr>
          </a:solidFill>
          <a:ln>
            <a:noFill/>
            <a:headEnd/>
            <a:tailEnd/>
          </a:ln>
          <a:effectLst/>
          <a:scene3d>
            <a:camera prst="orthographicFront">
              <a:rot lat="0" lon="0" rev="0"/>
            </a:camera>
            <a:lightRig rig="chilly" dir="t">
              <a:rot lat="0" lon="0" rev="18480000"/>
            </a:lightRig>
          </a:scene3d>
          <a:sp3d prstMaterial="clear">
            <a:bevelT h="63500"/>
          </a:sp3d>
        </p:spPr>
        <p:style>
          <a:lnRef idx="1">
            <a:schemeClr val="accent3"/>
          </a:lnRef>
          <a:fillRef idx="2">
            <a:schemeClr val="accent3"/>
          </a:fillRef>
          <a:effectRef idx="1">
            <a:schemeClr val="accent3"/>
          </a:effectRef>
          <a:fontRef idx="minor">
            <a:schemeClr val="dk1"/>
          </a:fontRef>
        </p:style>
        <p:txBody>
          <a:bodyPr wrap="square" lIns="180000" tIns="180000" bIns="144000">
            <a:spAutoFit/>
          </a:bodyPr>
          <a:lstStyle/>
          <a:p>
            <a:pPr>
              <a:lnSpc>
                <a:spcPts val="2000"/>
              </a:lnSpc>
              <a:spcBef>
                <a:spcPct val="0"/>
              </a:spcBef>
            </a:pPr>
            <a:r>
              <a:rPr kumimoji="1" lang="en-US" altLang="zh-CN" sz="1800" dirty="0">
                <a:solidFill>
                  <a:srgbClr val="3333FF"/>
                </a:solidFill>
                <a:latin typeface="Consolas" pitchFamily="49" charset="0"/>
                <a:ea typeface="仿宋" pitchFamily="49" charset="-122"/>
                <a:cs typeface="Consolas" pitchFamily="49" charset="0"/>
              </a:rPr>
              <a:t>   for (</a:t>
            </a:r>
            <a:r>
              <a:rPr kumimoji="1" lang="en-US" altLang="zh-CN" sz="1800" dirty="0" err="1">
                <a:solidFill>
                  <a:srgbClr val="3333FF"/>
                </a:solidFill>
                <a:latin typeface="Consolas" pitchFamily="49" charset="0"/>
                <a:ea typeface="仿宋" pitchFamily="49" charset="-122"/>
                <a:cs typeface="Consolas" pitchFamily="49" charset="0"/>
              </a:rPr>
              <a:t>i</a:t>
            </a:r>
            <a:r>
              <a:rPr kumimoji="1" lang="en-US" altLang="zh-CN" sz="1800" dirty="0">
                <a:solidFill>
                  <a:srgbClr val="3333FF"/>
                </a:solidFill>
                <a:latin typeface="Consolas" pitchFamily="49" charset="0"/>
                <a:ea typeface="仿宋" pitchFamily="49" charset="-122"/>
                <a:cs typeface="Consolas" pitchFamily="49" charset="0"/>
              </a:rPr>
              <a:t>=0;i&lt;</a:t>
            </a:r>
            <a:r>
              <a:rPr kumimoji="1" lang="en-US" altLang="zh-CN" sz="1800" dirty="0" err="1">
                <a:solidFill>
                  <a:srgbClr val="3333FF"/>
                </a:solidFill>
                <a:latin typeface="Consolas" pitchFamily="49" charset="0"/>
                <a:ea typeface="仿宋" pitchFamily="49" charset="-122"/>
                <a:cs typeface="Consolas" pitchFamily="49" charset="0"/>
              </a:rPr>
              <a:t>g.n;i</a:t>
            </a:r>
            <a:r>
              <a:rPr kumimoji="1" lang="en-US" altLang="zh-CN" sz="1800" dirty="0">
                <a:solidFill>
                  <a:srgbClr val="3333FF"/>
                </a:solidFill>
                <a:latin typeface="Consolas" pitchFamily="49" charset="0"/>
                <a:ea typeface="仿宋" pitchFamily="49" charset="-122"/>
                <a:cs typeface="Consolas" pitchFamily="49" charset="0"/>
              </a:rPr>
              <a:t>++)	 	</a:t>
            </a:r>
            <a:r>
              <a:rPr kumimoji="1" lang="en-US" altLang="zh-CN" sz="1800" dirty="0">
                <a:solidFill>
                  <a:srgbClr val="00B0F0"/>
                </a:solidFill>
                <a:latin typeface="Consolas" pitchFamily="49" charset="0"/>
                <a:ea typeface="仿宋" pitchFamily="49" charset="-122"/>
                <a:cs typeface="Consolas" pitchFamily="49" charset="0"/>
              </a:rPr>
              <a:t>//</a:t>
            </a:r>
            <a:r>
              <a:rPr kumimoji="1" lang="zh-CN" altLang="en-US" sz="1800" dirty="0">
                <a:solidFill>
                  <a:srgbClr val="00B0F0"/>
                </a:solidFill>
                <a:latin typeface="Consolas" pitchFamily="49" charset="0"/>
                <a:ea typeface="仿宋" pitchFamily="49" charset="-122"/>
                <a:cs typeface="Consolas" pitchFamily="49" charset="0"/>
              </a:rPr>
              <a:t>循环</a:t>
            </a:r>
            <a:r>
              <a:rPr kumimoji="1" lang="en-US" altLang="zh-CN" sz="1800" dirty="0">
                <a:solidFill>
                  <a:srgbClr val="00B0F0"/>
                </a:solidFill>
                <a:latin typeface="Consolas" pitchFamily="49" charset="0"/>
                <a:ea typeface="仿宋" pitchFamily="49" charset="-122"/>
                <a:cs typeface="Consolas" pitchFamily="49" charset="0"/>
              </a:rPr>
              <a:t>n-1</a:t>
            </a:r>
            <a:r>
              <a:rPr kumimoji="1" lang="zh-CN" altLang="en-US" sz="1800" dirty="0">
                <a:solidFill>
                  <a:srgbClr val="00B0F0"/>
                </a:solidFill>
                <a:latin typeface="Consolas" pitchFamily="49" charset="0"/>
                <a:ea typeface="仿宋" pitchFamily="49" charset="-122"/>
                <a:cs typeface="Consolas" pitchFamily="49" charset="0"/>
              </a:rPr>
              <a:t>次</a:t>
            </a:r>
          </a:p>
          <a:p>
            <a:pPr>
              <a:lnSpc>
                <a:spcPts val="2000"/>
              </a:lnSpc>
              <a:spcBef>
                <a:spcPct val="0"/>
              </a:spcBef>
            </a:pPr>
            <a:r>
              <a:rPr kumimoji="1" lang="zh-CN" altLang="en-US" sz="1800" dirty="0">
                <a:solidFill>
                  <a:srgbClr val="3333FF"/>
                </a:solidFill>
                <a:latin typeface="Consolas" pitchFamily="49" charset="0"/>
                <a:ea typeface="仿宋" pitchFamily="49" charset="-122"/>
                <a:cs typeface="Consolas" pitchFamily="49" charset="0"/>
              </a:rPr>
              <a:t>   </a:t>
            </a:r>
            <a:r>
              <a:rPr kumimoji="1" lang="en-US" altLang="zh-CN" sz="1800" dirty="0">
                <a:solidFill>
                  <a:srgbClr val="3333FF"/>
                </a:solidFill>
                <a:latin typeface="Consolas" pitchFamily="49" charset="0"/>
                <a:ea typeface="仿宋" pitchFamily="49" charset="-122"/>
                <a:cs typeface="Consolas" pitchFamily="49" charset="0"/>
              </a:rPr>
              <a:t>{  </a:t>
            </a:r>
            <a:r>
              <a:rPr kumimoji="1" lang="en-US" altLang="zh-CN" sz="1800" dirty="0" err="1">
                <a:solidFill>
                  <a:srgbClr val="7030A0"/>
                </a:solidFill>
                <a:latin typeface="Consolas" pitchFamily="49" charset="0"/>
                <a:ea typeface="仿宋" pitchFamily="49" charset="-122"/>
                <a:cs typeface="Consolas" pitchFamily="49" charset="0"/>
              </a:rPr>
              <a:t>mindis</a:t>
            </a:r>
            <a:r>
              <a:rPr kumimoji="1" lang="en-US" altLang="zh-CN" sz="1800" dirty="0">
                <a:solidFill>
                  <a:srgbClr val="3333FF"/>
                </a:solidFill>
                <a:latin typeface="Consolas" pitchFamily="49" charset="0"/>
                <a:ea typeface="仿宋" pitchFamily="49" charset="-122"/>
                <a:cs typeface="Consolas" pitchFamily="49" charset="0"/>
              </a:rPr>
              <a:t>=INF;</a:t>
            </a:r>
            <a:endParaRPr kumimoji="1" lang="zh-CN" altLang="en-US" sz="1800" dirty="0">
              <a:solidFill>
                <a:srgbClr val="3333FF"/>
              </a:solidFill>
              <a:latin typeface="Consolas" pitchFamily="49" charset="0"/>
              <a:ea typeface="仿宋" pitchFamily="49" charset="-122"/>
              <a:cs typeface="Consolas" pitchFamily="49" charset="0"/>
            </a:endParaRPr>
          </a:p>
          <a:p>
            <a:pPr>
              <a:lnSpc>
                <a:spcPts val="2000"/>
              </a:lnSpc>
              <a:spcBef>
                <a:spcPct val="0"/>
              </a:spcBef>
            </a:pPr>
            <a:r>
              <a:rPr kumimoji="1" lang="zh-CN" altLang="en-US" sz="1800" dirty="0">
                <a:solidFill>
                  <a:srgbClr val="3333FF"/>
                </a:solidFill>
                <a:latin typeface="Consolas" pitchFamily="49" charset="0"/>
                <a:ea typeface="仿宋" pitchFamily="49" charset="-122"/>
                <a:cs typeface="Consolas" pitchFamily="49" charset="0"/>
              </a:rPr>
              <a:t>      </a:t>
            </a:r>
            <a:r>
              <a:rPr kumimoji="1" lang="en-US" altLang="zh-CN" sz="1800" dirty="0">
                <a:solidFill>
                  <a:srgbClr val="3333FF"/>
                </a:solidFill>
                <a:latin typeface="Consolas" pitchFamily="49" charset="0"/>
                <a:ea typeface="仿宋" pitchFamily="49" charset="-122"/>
                <a:cs typeface="Consolas" pitchFamily="49" charset="0"/>
              </a:rPr>
              <a:t>for (j=0;j&lt;</a:t>
            </a:r>
            <a:r>
              <a:rPr kumimoji="1" lang="en-US" altLang="zh-CN" sz="1800" dirty="0" err="1">
                <a:solidFill>
                  <a:srgbClr val="3333FF"/>
                </a:solidFill>
                <a:latin typeface="Consolas" pitchFamily="49" charset="0"/>
                <a:ea typeface="仿宋" pitchFamily="49" charset="-122"/>
                <a:cs typeface="Consolas" pitchFamily="49" charset="0"/>
              </a:rPr>
              <a:t>g.n;j</a:t>
            </a:r>
            <a:r>
              <a:rPr kumimoji="1" lang="en-US" altLang="zh-CN" sz="1800" dirty="0">
                <a:solidFill>
                  <a:srgbClr val="3333FF"/>
                </a:solidFill>
                <a:latin typeface="Consolas" pitchFamily="49" charset="0"/>
                <a:ea typeface="仿宋" pitchFamily="49" charset="-122"/>
                <a:cs typeface="Consolas" pitchFamily="49" charset="0"/>
              </a:rPr>
              <a:t>++)</a:t>
            </a:r>
          </a:p>
          <a:p>
            <a:pPr>
              <a:lnSpc>
                <a:spcPts val="2000"/>
              </a:lnSpc>
              <a:spcBef>
                <a:spcPct val="0"/>
              </a:spcBef>
            </a:pPr>
            <a:r>
              <a:rPr kumimoji="1" lang="en-US" altLang="zh-CN" sz="1800" dirty="0">
                <a:solidFill>
                  <a:srgbClr val="3333FF"/>
                </a:solidFill>
                <a:latin typeface="Consolas" pitchFamily="49" charset="0"/>
                <a:ea typeface="仿宋" pitchFamily="49" charset="-122"/>
                <a:cs typeface="Consolas" pitchFamily="49" charset="0"/>
              </a:rPr>
              <a:t>	 if (s[j]==0 &amp;&amp; dist[j]&lt;</a:t>
            </a:r>
            <a:r>
              <a:rPr kumimoji="1" lang="en-US" altLang="zh-CN" sz="1800" dirty="0" err="1">
                <a:solidFill>
                  <a:srgbClr val="3333FF"/>
                </a:solidFill>
                <a:latin typeface="Consolas" pitchFamily="49" charset="0"/>
                <a:ea typeface="仿宋" pitchFamily="49" charset="-122"/>
                <a:cs typeface="Consolas" pitchFamily="49" charset="0"/>
              </a:rPr>
              <a:t>mindis</a:t>
            </a:r>
            <a:r>
              <a:rPr kumimoji="1" lang="en-US" altLang="zh-CN" sz="1800" dirty="0">
                <a:solidFill>
                  <a:srgbClr val="3333FF"/>
                </a:solidFill>
                <a:latin typeface="Consolas" pitchFamily="49" charset="0"/>
                <a:ea typeface="仿宋" pitchFamily="49" charset="-122"/>
                <a:cs typeface="Consolas" pitchFamily="49" charset="0"/>
              </a:rPr>
              <a:t>) </a:t>
            </a:r>
          </a:p>
          <a:p>
            <a:pPr>
              <a:lnSpc>
                <a:spcPts val="2000"/>
              </a:lnSpc>
              <a:spcBef>
                <a:spcPct val="0"/>
              </a:spcBef>
            </a:pPr>
            <a:r>
              <a:rPr kumimoji="1" lang="en-US" altLang="zh-CN" sz="1800" dirty="0">
                <a:solidFill>
                  <a:srgbClr val="3333FF"/>
                </a:solidFill>
                <a:latin typeface="Consolas" pitchFamily="49" charset="0"/>
                <a:ea typeface="仿宋" pitchFamily="49" charset="-122"/>
                <a:cs typeface="Consolas" pitchFamily="49" charset="0"/>
              </a:rPr>
              <a:t>	 {  </a:t>
            </a:r>
            <a:r>
              <a:rPr kumimoji="1" lang="en-US" altLang="zh-CN" sz="1800" dirty="0">
                <a:solidFill>
                  <a:srgbClr val="FF0000"/>
                </a:solidFill>
                <a:latin typeface="Consolas" pitchFamily="49" charset="0"/>
                <a:ea typeface="仿宋" pitchFamily="49" charset="-122"/>
                <a:cs typeface="Consolas" pitchFamily="49" charset="0"/>
              </a:rPr>
              <a:t>u</a:t>
            </a:r>
            <a:r>
              <a:rPr kumimoji="1" lang="en-US" altLang="zh-CN" sz="1800" dirty="0">
                <a:solidFill>
                  <a:srgbClr val="3333FF"/>
                </a:solidFill>
                <a:latin typeface="Consolas" pitchFamily="49" charset="0"/>
                <a:ea typeface="仿宋" pitchFamily="49" charset="-122"/>
                <a:cs typeface="Consolas" pitchFamily="49" charset="0"/>
              </a:rPr>
              <a:t>=j;</a:t>
            </a:r>
          </a:p>
          <a:p>
            <a:pPr>
              <a:lnSpc>
                <a:spcPts val="2000"/>
              </a:lnSpc>
              <a:spcBef>
                <a:spcPct val="0"/>
              </a:spcBef>
            </a:pPr>
            <a:r>
              <a:rPr kumimoji="1" lang="en-US" altLang="zh-CN" sz="1800" dirty="0">
                <a:solidFill>
                  <a:srgbClr val="3333FF"/>
                </a:solidFill>
                <a:latin typeface="Consolas" pitchFamily="49" charset="0"/>
                <a:ea typeface="仿宋" pitchFamily="49" charset="-122"/>
                <a:cs typeface="Consolas" pitchFamily="49" charset="0"/>
              </a:rPr>
              <a:t>	    </a:t>
            </a:r>
            <a:r>
              <a:rPr kumimoji="1" lang="en-US" altLang="zh-CN" sz="1800" dirty="0" err="1">
                <a:solidFill>
                  <a:srgbClr val="7030A0"/>
                </a:solidFill>
                <a:latin typeface="Consolas" pitchFamily="49" charset="0"/>
                <a:ea typeface="仿宋" pitchFamily="49" charset="-122"/>
                <a:cs typeface="Consolas" pitchFamily="49" charset="0"/>
              </a:rPr>
              <a:t>mindis</a:t>
            </a:r>
            <a:r>
              <a:rPr kumimoji="1" lang="en-US" altLang="zh-CN" sz="1800" dirty="0">
                <a:solidFill>
                  <a:srgbClr val="3333FF"/>
                </a:solidFill>
                <a:latin typeface="Consolas" pitchFamily="49" charset="0"/>
                <a:ea typeface="仿宋" pitchFamily="49" charset="-122"/>
                <a:cs typeface="Consolas" pitchFamily="49" charset="0"/>
              </a:rPr>
              <a:t>=</a:t>
            </a:r>
            <a:r>
              <a:rPr kumimoji="1" lang="en-US" altLang="zh-CN" sz="1800" dirty="0" err="1">
                <a:solidFill>
                  <a:srgbClr val="3333FF"/>
                </a:solidFill>
                <a:latin typeface="Consolas" pitchFamily="49" charset="0"/>
                <a:ea typeface="仿宋" pitchFamily="49" charset="-122"/>
                <a:cs typeface="Consolas" pitchFamily="49" charset="0"/>
              </a:rPr>
              <a:t>dist</a:t>
            </a:r>
            <a:r>
              <a:rPr kumimoji="1" lang="en-US" altLang="zh-CN" sz="1800" dirty="0">
                <a:solidFill>
                  <a:srgbClr val="3333FF"/>
                </a:solidFill>
                <a:latin typeface="Consolas" pitchFamily="49" charset="0"/>
                <a:ea typeface="仿宋" pitchFamily="49" charset="-122"/>
                <a:cs typeface="Consolas" pitchFamily="49" charset="0"/>
              </a:rPr>
              <a:t>[j];</a:t>
            </a:r>
          </a:p>
          <a:p>
            <a:pPr>
              <a:lnSpc>
                <a:spcPts val="2000"/>
              </a:lnSpc>
              <a:spcBef>
                <a:spcPct val="0"/>
              </a:spcBef>
            </a:pPr>
            <a:r>
              <a:rPr kumimoji="1" lang="en-US" altLang="zh-CN" sz="1800" dirty="0">
                <a:solidFill>
                  <a:srgbClr val="3333FF"/>
                </a:solidFill>
                <a:latin typeface="Consolas" pitchFamily="49" charset="0"/>
                <a:ea typeface="仿宋" pitchFamily="49" charset="-122"/>
                <a:cs typeface="Consolas" pitchFamily="49" charset="0"/>
              </a:rPr>
              <a:t>	 }</a:t>
            </a:r>
          </a:p>
          <a:p>
            <a:pPr>
              <a:lnSpc>
                <a:spcPts val="2000"/>
              </a:lnSpc>
              <a:spcBef>
                <a:spcPct val="0"/>
              </a:spcBef>
            </a:pPr>
            <a:r>
              <a:rPr kumimoji="1" lang="en-US" altLang="zh-CN" sz="1800" dirty="0">
                <a:solidFill>
                  <a:srgbClr val="3333FF"/>
                </a:solidFill>
                <a:latin typeface="Consolas" pitchFamily="49" charset="0"/>
                <a:ea typeface="仿宋" pitchFamily="49" charset="-122"/>
                <a:cs typeface="Consolas" pitchFamily="49" charset="0"/>
              </a:rPr>
              <a:t>      s[</a:t>
            </a:r>
            <a:r>
              <a:rPr kumimoji="1" lang="en-US" altLang="zh-CN" sz="1800" dirty="0">
                <a:solidFill>
                  <a:srgbClr val="FF0000"/>
                </a:solidFill>
                <a:latin typeface="Consolas" pitchFamily="49" charset="0"/>
                <a:ea typeface="仿宋" pitchFamily="49" charset="-122"/>
                <a:cs typeface="Consolas" pitchFamily="49" charset="0"/>
              </a:rPr>
              <a:t>u</a:t>
            </a:r>
            <a:r>
              <a:rPr kumimoji="1" lang="en-US" altLang="zh-CN" sz="1800" dirty="0">
                <a:solidFill>
                  <a:srgbClr val="3333FF"/>
                </a:solidFill>
                <a:latin typeface="Consolas" pitchFamily="49" charset="0"/>
                <a:ea typeface="仿宋" pitchFamily="49" charset="-122"/>
                <a:cs typeface="Consolas" pitchFamily="49" charset="0"/>
              </a:rPr>
              <a:t>]=1;				</a:t>
            </a:r>
            <a:r>
              <a:rPr kumimoji="1" lang="en-US" altLang="zh-CN" sz="1800" dirty="0">
                <a:solidFill>
                  <a:srgbClr val="00B0F0"/>
                </a:solidFill>
                <a:latin typeface="Consolas" pitchFamily="49" charset="0"/>
                <a:ea typeface="仿宋" pitchFamily="49" charset="-122"/>
                <a:cs typeface="Consolas" pitchFamily="49" charset="0"/>
              </a:rPr>
              <a:t>//</a:t>
            </a:r>
            <a:r>
              <a:rPr kumimoji="1" lang="zh-CN" altLang="en-US" sz="1800" dirty="0">
                <a:solidFill>
                  <a:srgbClr val="00B0F0"/>
                </a:solidFill>
                <a:latin typeface="Consolas" pitchFamily="49" charset="0"/>
                <a:ea typeface="仿宋" pitchFamily="49" charset="-122"/>
                <a:cs typeface="Consolas" pitchFamily="49" charset="0"/>
              </a:rPr>
              <a:t>顶点</a:t>
            </a:r>
            <a:r>
              <a:rPr kumimoji="1" lang="en-US" altLang="zh-CN" sz="1800" dirty="0">
                <a:solidFill>
                  <a:srgbClr val="00B0F0"/>
                </a:solidFill>
                <a:latin typeface="Consolas" pitchFamily="49" charset="0"/>
                <a:ea typeface="仿宋" pitchFamily="49" charset="-122"/>
                <a:cs typeface="Consolas" pitchFamily="49" charset="0"/>
              </a:rPr>
              <a:t>u</a:t>
            </a:r>
            <a:r>
              <a:rPr kumimoji="1" lang="zh-CN" altLang="en-US" sz="1800" dirty="0">
                <a:solidFill>
                  <a:srgbClr val="00B0F0"/>
                </a:solidFill>
                <a:latin typeface="Consolas" pitchFamily="49" charset="0"/>
                <a:ea typeface="仿宋" pitchFamily="49" charset="-122"/>
                <a:cs typeface="Consolas" pitchFamily="49" charset="0"/>
              </a:rPr>
              <a:t>加入</a:t>
            </a:r>
            <a:r>
              <a:rPr kumimoji="1" lang="en-US" altLang="zh-CN" sz="1800" dirty="0">
                <a:solidFill>
                  <a:srgbClr val="00B0F0"/>
                </a:solidFill>
                <a:latin typeface="Consolas" pitchFamily="49" charset="0"/>
                <a:ea typeface="仿宋" pitchFamily="49" charset="-122"/>
                <a:cs typeface="Consolas" pitchFamily="49" charset="0"/>
              </a:rPr>
              <a:t>S</a:t>
            </a:r>
            <a:r>
              <a:rPr kumimoji="1" lang="zh-CN" altLang="en-US" sz="1800" dirty="0">
                <a:solidFill>
                  <a:srgbClr val="00B0F0"/>
                </a:solidFill>
                <a:latin typeface="Consolas" pitchFamily="49" charset="0"/>
                <a:ea typeface="仿宋" pitchFamily="49" charset="-122"/>
                <a:cs typeface="Consolas" pitchFamily="49" charset="0"/>
              </a:rPr>
              <a:t>中</a:t>
            </a:r>
          </a:p>
          <a:p>
            <a:pPr>
              <a:lnSpc>
                <a:spcPts val="2000"/>
              </a:lnSpc>
              <a:spcBef>
                <a:spcPct val="0"/>
              </a:spcBef>
            </a:pPr>
            <a:r>
              <a:rPr kumimoji="1" lang="en-US" altLang="zh-CN" sz="1800" dirty="0">
                <a:solidFill>
                  <a:srgbClr val="3333FF"/>
                </a:solidFill>
                <a:latin typeface="Consolas" pitchFamily="49" charset="0"/>
                <a:ea typeface="仿宋" pitchFamily="49" charset="-122"/>
                <a:cs typeface="Consolas" pitchFamily="49" charset="0"/>
              </a:rPr>
              <a:t>      for (j=0;j&lt;</a:t>
            </a:r>
            <a:r>
              <a:rPr kumimoji="1" lang="en-US" altLang="zh-CN" sz="1800" dirty="0" err="1">
                <a:solidFill>
                  <a:srgbClr val="3333FF"/>
                </a:solidFill>
                <a:latin typeface="Consolas" pitchFamily="49" charset="0"/>
                <a:ea typeface="仿宋" pitchFamily="49" charset="-122"/>
                <a:cs typeface="Consolas" pitchFamily="49" charset="0"/>
              </a:rPr>
              <a:t>g.n;j</a:t>
            </a:r>
            <a:r>
              <a:rPr kumimoji="1" lang="en-US" altLang="zh-CN" sz="1800" dirty="0">
                <a:solidFill>
                  <a:srgbClr val="3333FF"/>
                </a:solidFill>
                <a:latin typeface="Consolas" pitchFamily="49" charset="0"/>
                <a:ea typeface="仿宋" pitchFamily="49" charset="-122"/>
                <a:cs typeface="Consolas" pitchFamily="49" charset="0"/>
              </a:rPr>
              <a:t>++)		</a:t>
            </a:r>
            <a:r>
              <a:rPr kumimoji="1" lang="en-US" altLang="zh-CN" sz="1800" dirty="0">
                <a:solidFill>
                  <a:srgbClr val="00B0F0"/>
                </a:solidFill>
                <a:latin typeface="Consolas" pitchFamily="49" charset="0"/>
                <a:ea typeface="仿宋" pitchFamily="49" charset="-122"/>
                <a:cs typeface="Consolas" pitchFamily="49" charset="0"/>
              </a:rPr>
              <a:t>//</a:t>
            </a:r>
            <a:r>
              <a:rPr kumimoji="1" lang="zh-CN" altLang="en-US" sz="1800" dirty="0">
                <a:solidFill>
                  <a:srgbClr val="00B0F0"/>
                </a:solidFill>
                <a:latin typeface="Consolas" pitchFamily="49" charset="0"/>
                <a:ea typeface="仿宋" pitchFamily="49" charset="-122"/>
                <a:cs typeface="Consolas" pitchFamily="49" charset="0"/>
              </a:rPr>
              <a:t>修改不在</a:t>
            </a:r>
            <a:r>
              <a:rPr kumimoji="1" lang="en-US" altLang="zh-CN" sz="1800" dirty="0">
                <a:solidFill>
                  <a:srgbClr val="00B0F0"/>
                </a:solidFill>
                <a:latin typeface="Consolas" pitchFamily="49" charset="0"/>
                <a:ea typeface="仿宋" pitchFamily="49" charset="-122"/>
                <a:cs typeface="Consolas" pitchFamily="49" charset="0"/>
              </a:rPr>
              <a:t>s</a:t>
            </a:r>
            <a:r>
              <a:rPr kumimoji="1" lang="zh-CN" altLang="en-US" sz="1800" dirty="0">
                <a:solidFill>
                  <a:srgbClr val="00B0F0"/>
                </a:solidFill>
                <a:latin typeface="Consolas" pitchFamily="49" charset="0"/>
                <a:ea typeface="仿宋" pitchFamily="49" charset="-122"/>
                <a:cs typeface="Consolas" pitchFamily="49" charset="0"/>
              </a:rPr>
              <a:t>中的顶点的距离</a:t>
            </a:r>
          </a:p>
          <a:p>
            <a:pPr>
              <a:lnSpc>
                <a:spcPts val="2000"/>
              </a:lnSpc>
              <a:spcBef>
                <a:spcPct val="0"/>
              </a:spcBef>
            </a:pPr>
            <a:r>
              <a:rPr kumimoji="1" lang="en-US" altLang="zh-CN" sz="1800" dirty="0">
                <a:solidFill>
                  <a:srgbClr val="3333FF"/>
                </a:solidFill>
                <a:latin typeface="Consolas" pitchFamily="49" charset="0"/>
                <a:ea typeface="仿宋" pitchFamily="49" charset="-122"/>
                <a:cs typeface="Consolas" pitchFamily="49" charset="0"/>
              </a:rPr>
              <a:t>         if (s[j]==0)</a:t>
            </a:r>
          </a:p>
          <a:p>
            <a:pPr>
              <a:lnSpc>
                <a:spcPts val="2000"/>
              </a:lnSpc>
              <a:spcBef>
                <a:spcPct val="0"/>
              </a:spcBef>
            </a:pPr>
            <a:r>
              <a:rPr kumimoji="1" lang="en-US" altLang="zh-CN" sz="1800" dirty="0">
                <a:solidFill>
                  <a:srgbClr val="3333FF"/>
                </a:solidFill>
                <a:latin typeface="Consolas" pitchFamily="49" charset="0"/>
                <a:ea typeface="仿宋" pitchFamily="49" charset="-122"/>
                <a:cs typeface="Consolas" pitchFamily="49" charset="0"/>
              </a:rPr>
              <a:t>	    if (</a:t>
            </a:r>
            <a:r>
              <a:rPr kumimoji="1" lang="en-US" altLang="zh-CN" sz="1800" dirty="0" err="1">
                <a:solidFill>
                  <a:srgbClr val="FF00FF"/>
                </a:solidFill>
                <a:latin typeface="Consolas" pitchFamily="49" charset="0"/>
                <a:ea typeface="仿宋" pitchFamily="49" charset="-122"/>
                <a:cs typeface="Consolas" pitchFamily="49" charset="0"/>
              </a:rPr>
              <a:t>g.edges</a:t>
            </a:r>
            <a:r>
              <a:rPr kumimoji="1" lang="en-US" altLang="zh-CN" sz="1800" dirty="0">
                <a:solidFill>
                  <a:srgbClr val="FF00FF"/>
                </a:solidFill>
                <a:latin typeface="Consolas" pitchFamily="49" charset="0"/>
                <a:ea typeface="仿宋" pitchFamily="49" charset="-122"/>
                <a:cs typeface="Consolas" pitchFamily="49" charset="0"/>
              </a:rPr>
              <a:t>[</a:t>
            </a:r>
            <a:r>
              <a:rPr kumimoji="1" lang="en-US" altLang="zh-CN" sz="1800" dirty="0">
                <a:solidFill>
                  <a:srgbClr val="FF0000"/>
                </a:solidFill>
                <a:latin typeface="Consolas" pitchFamily="49" charset="0"/>
                <a:ea typeface="仿宋" pitchFamily="49" charset="-122"/>
                <a:cs typeface="Consolas" pitchFamily="49" charset="0"/>
              </a:rPr>
              <a:t>u</a:t>
            </a:r>
            <a:r>
              <a:rPr kumimoji="1" lang="en-US" altLang="zh-CN" sz="1800" dirty="0">
                <a:solidFill>
                  <a:srgbClr val="FF00FF"/>
                </a:solidFill>
                <a:latin typeface="Consolas" pitchFamily="49" charset="0"/>
                <a:ea typeface="仿宋" pitchFamily="49" charset="-122"/>
                <a:cs typeface="Consolas" pitchFamily="49" charset="0"/>
              </a:rPr>
              <a:t>][j]&lt;INF </a:t>
            </a:r>
            <a:r>
              <a:rPr kumimoji="1" lang="en-US" altLang="zh-CN" sz="1800" dirty="0">
                <a:solidFill>
                  <a:srgbClr val="3333FF"/>
                </a:solidFill>
                <a:latin typeface="Consolas" pitchFamily="49" charset="0"/>
                <a:ea typeface="仿宋" pitchFamily="49" charset="-122"/>
                <a:cs typeface="Consolas" pitchFamily="49" charset="0"/>
              </a:rPr>
              <a:t>&amp;&amp; </a:t>
            </a:r>
          </a:p>
          <a:p>
            <a:pPr>
              <a:lnSpc>
                <a:spcPts val="2000"/>
              </a:lnSpc>
              <a:spcBef>
                <a:spcPct val="0"/>
              </a:spcBef>
            </a:pPr>
            <a:r>
              <a:rPr kumimoji="1" lang="en-US" altLang="zh-CN" sz="1800" dirty="0">
                <a:solidFill>
                  <a:srgbClr val="3333FF"/>
                </a:solidFill>
                <a:latin typeface="Consolas" pitchFamily="49" charset="0"/>
                <a:ea typeface="仿宋" pitchFamily="49" charset="-122"/>
                <a:cs typeface="Consolas" pitchFamily="49" charset="0"/>
              </a:rPr>
              <a:t>                        </a:t>
            </a:r>
            <a:r>
              <a:rPr kumimoji="1" lang="en-US" altLang="zh-CN" sz="1800" dirty="0" err="1">
                <a:solidFill>
                  <a:srgbClr val="3333FF"/>
                </a:solidFill>
                <a:latin typeface="Consolas" pitchFamily="49" charset="0"/>
                <a:ea typeface="仿宋" pitchFamily="49" charset="-122"/>
                <a:cs typeface="Consolas" pitchFamily="49" charset="0"/>
              </a:rPr>
              <a:t>dist</a:t>
            </a:r>
            <a:r>
              <a:rPr kumimoji="1" lang="en-US" altLang="zh-CN" sz="1800" dirty="0">
                <a:solidFill>
                  <a:srgbClr val="3333FF"/>
                </a:solidFill>
                <a:latin typeface="Consolas" pitchFamily="49" charset="0"/>
                <a:ea typeface="仿宋" pitchFamily="49" charset="-122"/>
                <a:cs typeface="Consolas" pitchFamily="49" charset="0"/>
              </a:rPr>
              <a:t>[</a:t>
            </a:r>
            <a:r>
              <a:rPr kumimoji="1" lang="en-US" altLang="zh-CN" sz="1800" dirty="0">
                <a:solidFill>
                  <a:srgbClr val="FF0000"/>
                </a:solidFill>
                <a:latin typeface="Consolas" pitchFamily="49" charset="0"/>
                <a:ea typeface="仿宋" pitchFamily="49" charset="-122"/>
                <a:cs typeface="Consolas" pitchFamily="49" charset="0"/>
              </a:rPr>
              <a:t>u</a:t>
            </a:r>
            <a:r>
              <a:rPr kumimoji="1" lang="en-US" altLang="zh-CN" sz="1800" dirty="0">
                <a:solidFill>
                  <a:srgbClr val="3333FF"/>
                </a:solidFill>
                <a:latin typeface="Consolas" pitchFamily="49" charset="0"/>
                <a:ea typeface="仿宋" pitchFamily="49" charset="-122"/>
                <a:cs typeface="Consolas" pitchFamily="49" charset="0"/>
              </a:rPr>
              <a:t>]+</a:t>
            </a:r>
            <a:r>
              <a:rPr kumimoji="1" lang="en-US" altLang="zh-CN" sz="1800" dirty="0" err="1">
                <a:solidFill>
                  <a:srgbClr val="3333FF"/>
                </a:solidFill>
                <a:latin typeface="Consolas" pitchFamily="49" charset="0"/>
                <a:ea typeface="仿宋" pitchFamily="49" charset="-122"/>
                <a:cs typeface="Consolas" pitchFamily="49" charset="0"/>
              </a:rPr>
              <a:t>g.edges</a:t>
            </a:r>
            <a:r>
              <a:rPr kumimoji="1" lang="en-US" altLang="zh-CN" sz="1800" dirty="0">
                <a:solidFill>
                  <a:srgbClr val="3333FF"/>
                </a:solidFill>
                <a:latin typeface="Consolas" pitchFamily="49" charset="0"/>
                <a:ea typeface="仿宋" pitchFamily="49" charset="-122"/>
                <a:cs typeface="Consolas" pitchFamily="49" charset="0"/>
              </a:rPr>
              <a:t>[</a:t>
            </a:r>
            <a:r>
              <a:rPr kumimoji="1" lang="en-US" altLang="zh-CN" sz="1800" dirty="0">
                <a:solidFill>
                  <a:srgbClr val="FF0000"/>
                </a:solidFill>
                <a:latin typeface="Consolas" pitchFamily="49" charset="0"/>
                <a:ea typeface="仿宋" pitchFamily="49" charset="-122"/>
                <a:cs typeface="Consolas" pitchFamily="49" charset="0"/>
              </a:rPr>
              <a:t>u</a:t>
            </a:r>
            <a:r>
              <a:rPr kumimoji="1" lang="en-US" altLang="zh-CN" sz="1800" dirty="0">
                <a:solidFill>
                  <a:srgbClr val="3333FF"/>
                </a:solidFill>
                <a:latin typeface="Consolas" pitchFamily="49" charset="0"/>
                <a:ea typeface="仿宋" pitchFamily="49" charset="-122"/>
                <a:cs typeface="Consolas" pitchFamily="49" charset="0"/>
              </a:rPr>
              <a:t>][j]&lt;dist[j])</a:t>
            </a:r>
          </a:p>
          <a:p>
            <a:pPr>
              <a:lnSpc>
                <a:spcPts val="2000"/>
              </a:lnSpc>
              <a:spcBef>
                <a:spcPct val="0"/>
              </a:spcBef>
            </a:pPr>
            <a:r>
              <a:rPr kumimoji="1" lang="en-US" altLang="zh-CN" sz="1800" dirty="0">
                <a:solidFill>
                  <a:srgbClr val="3333FF"/>
                </a:solidFill>
                <a:latin typeface="Consolas" pitchFamily="49" charset="0"/>
                <a:ea typeface="仿宋" pitchFamily="49" charset="-122"/>
                <a:cs typeface="Consolas" pitchFamily="49" charset="0"/>
              </a:rPr>
              <a:t>           {  dist[j]=dist[u]+</a:t>
            </a:r>
            <a:r>
              <a:rPr kumimoji="1" lang="en-US" altLang="zh-CN" sz="1800" dirty="0" err="1">
                <a:solidFill>
                  <a:srgbClr val="3333FF"/>
                </a:solidFill>
                <a:latin typeface="Consolas" pitchFamily="49" charset="0"/>
                <a:ea typeface="仿宋" pitchFamily="49" charset="-122"/>
                <a:cs typeface="Consolas" pitchFamily="49" charset="0"/>
              </a:rPr>
              <a:t>g.edges</a:t>
            </a:r>
            <a:r>
              <a:rPr kumimoji="1" lang="en-US" altLang="zh-CN" sz="1800" dirty="0">
                <a:solidFill>
                  <a:srgbClr val="3333FF"/>
                </a:solidFill>
                <a:latin typeface="Consolas" pitchFamily="49" charset="0"/>
                <a:ea typeface="仿宋" pitchFamily="49" charset="-122"/>
                <a:cs typeface="Consolas" pitchFamily="49" charset="0"/>
              </a:rPr>
              <a:t>[u][j];</a:t>
            </a:r>
          </a:p>
          <a:p>
            <a:pPr>
              <a:lnSpc>
                <a:spcPts val="2000"/>
              </a:lnSpc>
              <a:spcBef>
                <a:spcPct val="0"/>
              </a:spcBef>
            </a:pPr>
            <a:r>
              <a:rPr kumimoji="1" lang="en-US" altLang="zh-CN" sz="1800" dirty="0">
                <a:solidFill>
                  <a:srgbClr val="3333FF"/>
                </a:solidFill>
                <a:latin typeface="Consolas" pitchFamily="49" charset="0"/>
                <a:ea typeface="仿宋" pitchFamily="49" charset="-122"/>
                <a:cs typeface="Consolas" pitchFamily="49" charset="0"/>
              </a:rPr>
              <a:t>	       path[j]=u;</a:t>
            </a:r>
          </a:p>
          <a:p>
            <a:pPr>
              <a:lnSpc>
                <a:spcPts val="2000"/>
              </a:lnSpc>
              <a:spcBef>
                <a:spcPct val="0"/>
              </a:spcBef>
            </a:pPr>
            <a:r>
              <a:rPr kumimoji="1" lang="en-US" altLang="zh-CN" sz="1800" dirty="0">
                <a:solidFill>
                  <a:srgbClr val="3333FF"/>
                </a:solidFill>
                <a:latin typeface="Consolas" pitchFamily="49" charset="0"/>
                <a:ea typeface="仿宋" pitchFamily="49" charset="-122"/>
                <a:cs typeface="Consolas" pitchFamily="49" charset="0"/>
              </a:rPr>
              <a:t>	    }</a:t>
            </a:r>
          </a:p>
          <a:p>
            <a:pPr>
              <a:lnSpc>
                <a:spcPts val="2000"/>
              </a:lnSpc>
              <a:spcBef>
                <a:spcPct val="0"/>
              </a:spcBef>
            </a:pPr>
            <a:r>
              <a:rPr kumimoji="1" lang="en-US" altLang="zh-CN" sz="1800" dirty="0">
                <a:solidFill>
                  <a:srgbClr val="3333FF"/>
                </a:solidFill>
                <a:latin typeface="Consolas" pitchFamily="49" charset="0"/>
                <a:ea typeface="仿宋" pitchFamily="49" charset="-122"/>
                <a:cs typeface="Consolas" pitchFamily="49" charset="0"/>
              </a:rPr>
              <a:t>  }</a:t>
            </a:r>
          </a:p>
          <a:p>
            <a:pPr>
              <a:lnSpc>
                <a:spcPts val="2000"/>
              </a:lnSpc>
              <a:spcBef>
                <a:spcPct val="0"/>
              </a:spcBef>
            </a:pPr>
            <a:r>
              <a:rPr kumimoji="1" lang="en-US" altLang="zh-CN" sz="1800" dirty="0">
                <a:solidFill>
                  <a:srgbClr val="3333FF"/>
                </a:solidFill>
                <a:latin typeface="Consolas" pitchFamily="49" charset="0"/>
                <a:ea typeface="仿宋" pitchFamily="49" charset="-122"/>
                <a:cs typeface="Consolas" pitchFamily="49" charset="0"/>
              </a:rPr>
              <a:t>  </a:t>
            </a:r>
            <a:r>
              <a:rPr kumimoji="1" lang="en-US" altLang="zh-CN" sz="1800" dirty="0" err="1">
                <a:solidFill>
                  <a:srgbClr val="FF0000"/>
                </a:solidFill>
                <a:latin typeface="Consolas" pitchFamily="49" charset="0"/>
                <a:ea typeface="仿宋" pitchFamily="49" charset="-122"/>
                <a:cs typeface="Consolas" pitchFamily="49" charset="0"/>
              </a:rPr>
              <a:t>Dispath</a:t>
            </a:r>
            <a:r>
              <a:rPr kumimoji="1" lang="en-US" altLang="zh-CN" sz="1800" dirty="0">
                <a:solidFill>
                  <a:srgbClr val="3333FF"/>
                </a:solidFill>
                <a:latin typeface="Consolas" pitchFamily="49" charset="0"/>
                <a:ea typeface="仿宋" pitchFamily="49" charset="-122"/>
                <a:cs typeface="Consolas" pitchFamily="49" charset="0"/>
              </a:rPr>
              <a:t>(</a:t>
            </a:r>
            <a:r>
              <a:rPr kumimoji="1" lang="en-US" altLang="zh-CN" sz="1800" dirty="0" err="1">
                <a:solidFill>
                  <a:srgbClr val="3333FF"/>
                </a:solidFill>
                <a:latin typeface="Consolas" pitchFamily="49" charset="0"/>
                <a:ea typeface="仿宋" pitchFamily="49" charset="-122"/>
                <a:cs typeface="Consolas" pitchFamily="49" charset="0"/>
              </a:rPr>
              <a:t>dist,path,s,g.n,v</a:t>
            </a:r>
            <a:r>
              <a:rPr kumimoji="1" lang="en-US" altLang="zh-CN" sz="1800" dirty="0">
                <a:solidFill>
                  <a:srgbClr val="3333FF"/>
                </a:solidFill>
                <a:latin typeface="Consolas" pitchFamily="49" charset="0"/>
                <a:ea typeface="仿宋" pitchFamily="49" charset="-122"/>
                <a:cs typeface="Consolas" pitchFamily="49" charset="0"/>
              </a:rPr>
              <a:t>);		</a:t>
            </a:r>
            <a:r>
              <a:rPr kumimoji="1" lang="en-US" altLang="zh-CN" sz="1800" dirty="0">
                <a:solidFill>
                  <a:srgbClr val="00B0F0"/>
                </a:solidFill>
                <a:latin typeface="Consolas" pitchFamily="49" charset="0"/>
                <a:ea typeface="仿宋" pitchFamily="49" charset="-122"/>
                <a:cs typeface="Consolas" pitchFamily="49" charset="0"/>
              </a:rPr>
              <a:t>//</a:t>
            </a:r>
            <a:r>
              <a:rPr kumimoji="1" lang="zh-CN" altLang="en-US" sz="1800" dirty="0">
                <a:solidFill>
                  <a:srgbClr val="00B0F0"/>
                </a:solidFill>
                <a:latin typeface="Consolas" pitchFamily="49" charset="0"/>
                <a:ea typeface="仿宋" pitchFamily="49" charset="-122"/>
                <a:cs typeface="Consolas" pitchFamily="49" charset="0"/>
              </a:rPr>
              <a:t>输出最短路径</a:t>
            </a:r>
          </a:p>
          <a:p>
            <a:pPr>
              <a:lnSpc>
                <a:spcPts val="2000"/>
              </a:lnSpc>
              <a:spcBef>
                <a:spcPct val="0"/>
              </a:spcBef>
            </a:pPr>
            <a:r>
              <a:rPr kumimoji="1" lang="en-US" altLang="zh-CN" sz="1800" dirty="0">
                <a:solidFill>
                  <a:srgbClr val="3333FF"/>
                </a:solidFill>
                <a:latin typeface="Consolas" pitchFamily="49" charset="0"/>
                <a:ea typeface="仿宋" pitchFamily="49" charset="-122"/>
                <a:cs typeface="Consolas" pitchFamily="49" charset="0"/>
              </a:rPr>
              <a:t>}</a:t>
            </a:r>
          </a:p>
        </p:txBody>
      </p:sp>
      <p:sp>
        <p:nvSpPr>
          <p:cNvPr id="3" name="Text Box 1031">
            <a:extLst>
              <a:ext uri="{FF2B5EF4-FFF2-40B4-BE49-F238E27FC236}">
                <a16:creationId xmlns:a16="http://schemas.microsoft.com/office/drawing/2014/main" id="{97C768FE-01D8-F01B-9CCF-6616A0CEA553}"/>
              </a:ext>
            </a:extLst>
          </p:cNvPr>
          <p:cNvSpPr txBox="1">
            <a:spLocks noChangeArrowheads="1"/>
          </p:cNvSpPr>
          <p:nvPr/>
        </p:nvSpPr>
        <p:spPr bwMode="auto">
          <a:xfrm>
            <a:off x="4727848" y="6388527"/>
            <a:ext cx="4752528" cy="400110"/>
          </a:xfrm>
          <a:prstGeom prst="rect">
            <a:avLst/>
          </a:prstGeom>
          <a:noFill/>
          <a:ln w="19050" algn="ctr">
            <a:noFill/>
            <a:miter lim="800000"/>
            <a:headEnd/>
            <a:tailEnd type="none" w="med" len="lg"/>
          </a:ln>
          <a:effectLst/>
        </p:spPr>
        <p:txBody>
          <a:bodyPr wrap="square">
            <a:spAutoFit/>
          </a:bodyPr>
          <a:lstStyle/>
          <a:p>
            <a:r>
              <a:rPr lang="zh-CN" altLang="en-US" sz="2000" dirty="0">
                <a:latin typeface="Consolas" pitchFamily="49" charset="0"/>
                <a:ea typeface="楷体" pitchFamily="49" charset="-122"/>
                <a:cs typeface="Consolas" pitchFamily="49" charset="0"/>
              </a:rPr>
              <a:t>狄克斯特拉算法的时间复杂度为</a:t>
            </a:r>
            <a:r>
              <a:rPr lang="en-US" altLang="zh-CN" sz="2000" dirty="0">
                <a:latin typeface="Consolas" pitchFamily="49" charset="0"/>
                <a:ea typeface="楷体" pitchFamily="49" charset="-122"/>
                <a:cs typeface="Consolas" pitchFamily="49" charset="0"/>
              </a:rPr>
              <a:t>O(</a:t>
            </a:r>
            <a:r>
              <a:rPr lang="en-US" altLang="zh-CN" sz="2000" i="1" dirty="0" err="1">
                <a:latin typeface="Consolas" pitchFamily="49" charset="0"/>
                <a:ea typeface="楷体" pitchFamily="49" charset="-122"/>
                <a:cs typeface="Consolas" pitchFamily="49" charset="0"/>
              </a:rPr>
              <a:t>n</a:t>
            </a:r>
            <a:r>
              <a:rPr lang="en-US" altLang="zh-CN" sz="2000" baseline="30000" dirty="0" err="1">
                <a:latin typeface="Consolas" pitchFamily="49" charset="0"/>
                <a:ea typeface="楷体" pitchFamily="49" charset="-122"/>
                <a:cs typeface="Consolas" pitchFamily="49" charset="0"/>
              </a:rPr>
              <a:t>2</a:t>
            </a:r>
            <a:r>
              <a:rPr lang="en-US" altLang="zh-CN" sz="2000" dirty="0">
                <a:latin typeface="Consolas" pitchFamily="49" charset="0"/>
                <a:ea typeface="楷体" pitchFamily="49" charset="-122"/>
                <a:cs typeface="Consolas" pitchFamily="49" charset="0"/>
              </a:rPr>
              <a:t>)</a:t>
            </a:r>
            <a:r>
              <a:rPr lang="zh-CN" altLang="en-US" sz="2000" dirty="0">
                <a:latin typeface="Consolas" pitchFamily="49" charset="0"/>
                <a:ea typeface="楷体" pitchFamily="49" charset="-122"/>
                <a:cs typeface="Consolas" pitchFamily="49" charset="0"/>
              </a:rPr>
              <a:t>。</a:t>
            </a:r>
          </a:p>
        </p:txBody>
      </p:sp>
      <p:sp>
        <p:nvSpPr>
          <p:cNvPr id="16" name="Rectangle 2">
            <a:extLst>
              <a:ext uri="{FF2B5EF4-FFF2-40B4-BE49-F238E27FC236}">
                <a16:creationId xmlns:a16="http://schemas.microsoft.com/office/drawing/2014/main" id="{0578F69F-EEA9-E2D3-629B-4C9EF5532154}"/>
              </a:ext>
            </a:extLst>
          </p:cNvPr>
          <p:cNvSpPr txBox="1">
            <a:spLocks noChangeArrowheads="1"/>
          </p:cNvSpPr>
          <p:nvPr/>
        </p:nvSpPr>
        <p:spPr>
          <a:xfrm>
            <a:off x="474771" y="1230902"/>
            <a:ext cx="10949819"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8.5.2 </a:t>
            </a:r>
            <a:r>
              <a:rPr lang="zh-CN" altLang="en-US" dirty="0"/>
              <a:t>从一个顶点到其余各顶点的最短路径（单源点最短路径问题）</a:t>
            </a:r>
          </a:p>
        </p:txBody>
      </p:sp>
      <p:cxnSp>
        <p:nvCxnSpPr>
          <p:cNvPr id="17" name="直接连接符 16">
            <a:extLst>
              <a:ext uri="{FF2B5EF4-FFF2-40B4-BE49-F238E27FC236}">
                <a16:creationId xmlns:a16="http://schemas.microsoft.com/office/drawing/2014/main" id="{54A9146B-E5CF-56F5-BE97-B62594F0081E}"/>
              </a:ext>
            </a:extLst>
          </p:cNvPr>
          <p:cNvCxnSpPr>
            <a:cxnSpLocks/>
          </p:cNvCxnSpPr>
          <p:nvPr/>
        </p:nvCxnSpPr>
        <p:spPr>
          <a:xfrm>
            <a:off x="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19" name="矩形 18">
            <a:extLst>
              <a:ext uri="{FF2B5EF4-FFF2-40B4-BE49-F238E27FC236}">
                <a16:creationId xmlns:a16="http://schemas.microsoft.com/office/drawing/2014/main" id="{FA4F05DE-1E92-BF65-CFD7-53F990EED0B8}"/>
              </a:ext>
            </a:extLst>
          </p:cNvPr>
          <p:cNvSpPr/>
          <p:nvPr/>
        </p:nvSpPr>
        <p:spPr>
          <a:xfrm>
            <a:off x="3394075" y="399838"/>
            <a:ext cx="4617860"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8.5 </a:t>
            </a:r>
            <a:r>
              <a:rPr lang="zh-CN" altLang="en-US" sz="3000" b="1" dirty="0">
                <a:latin typeface="黑体" pitchFamily="49" charset="-122"/>
                <a:ea typeface="黑体" pitchFamily="49" charset="-122"/>
                <a:cs typeface="经典粗黑简" pitchFamily="49" charset="-122"/>
              </a:rPr>
              <a:t>最短路径</a:t>
            </a:r>
          </a:p>
        </p:txBody>
      </p:sp>
    </p:spTree>
    <p:extLst>
      <p:ext uri="{BB962C8B-B14F-4D97-AF65-F5344CB8AC3E}">
        <p14:creationId xmlns:p14="http://schemas.microsoft.com/office/powerpoint/2010/main" val="386977038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
                                            <p:txEl>
                                              <p:pRg st="8" end="8"/>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
                                            <p:txEl>
                                              <p:pRg st="9" end="9"/>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
                                            <p:txEl>
                                              <p:pRg st="10" end="10"/>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
                                            <p:txEl>
                                              <p:pRg st="11" end="11"/>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
                                            <p:txEl>
                                              <p:pRg st="12" end="12"/>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
                                            <p:txEl>
                                              <p:pRg st="13" end="13"/>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
                                            <p:txEl>
                                              <p:pRg st="14" end="14"/>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
                                            <p:txEl>
                                              <p:pRg st="15" end="15"/>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
                                            <p:txEl>
                                              <p:pRg st="16" end="16"/>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338403-3324-65B5-0310-920BAC07C15F}"/>
            </a:ext>
          </a:extLst>
        </p:cNvPr>
        <p:cNvGrpSpPr/>
        <p:nvPr/>
      </p:nvGrpSpPr>
      <p:grpSpPr>
        <a:xfrm>
          <a:off x="0" y="0"/>
          <a:ext cx="0" cy="0"/>
          <a:chOff x="0" y="0"/>
          <a:chExt cx="0" cy="0"/>
        </a:xfrm>
      </p:grpSpPr>
      <p:sp>
        <p:nvSpPr>
          <p:cNvPr id="2" name="Text Box 9">
            <a:extLst>
              <a:ext uri="{FF2B5EF4-FFF2-40B4-BE49-F238E27FC236}">
                <a16:creationId xmlns:a16="http://schemas.microsoft.com/office/drawing/2014/main" id="{F68E7ED3-B626-5730-2F32-732EA8CE5ADB}"/>
              </a:ext>
            </a:extLst>
          </p:cNvPr>
          <p:cNvSpPr txBox="1">
            <a:spLocks noChangeArrowheads="1"/>
          </p:cNvSpPr>
          <p:nvPr/>
        </p:nvSpPr>
        <p:spPr bwMode="auto">
          <a:xfrm>
            <a:off x="2242264" y="1017093"/>
            <a:ext cx="3676646" cy="453183"/>
          </a:xfrm>
          <a:prstGeom prst="rect">
            <a:avLst/>
          </a:prstGeom>
          <a:ln>
            <a:noFill/>
            <a:headEnd/>
            <a:tailEnd/>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08000" tIns="72000" rIns="0" bIns="72000">
            <a:spAutoFit/>
          </a:bodyPr>
          <a:lstStyle/>
          <a:p>
            <a:pPr>
              <a:spcBef>
                <a:spcPts val="0"/>
              </a:spcBef>
            </a:pPr>
            <a:r>
              <a:rPr lang="zh-CN" altLang="en-US" sz="2000">
                <a:latin typeface="Consolas" pitchFamily="49" charset="0"/>
                <a:ea typeface="楷体" pitchFamily="49" charset="-122"/>
                <a:cs typeface="Consolas" pitchFamily="49" charset="0"/>
                <a:sym typeface="Wingdings"/>
              </a:rPr>
              <a:t>  </a:t>
            </a:r>
            <a:r>
              <a:rPr lang="zh-CN" altLang="en-US" sz="2000">
                <a:latin typeface="Consolas" pitchFamily="49" charset="0"/>
                <a:ea typeface="楷体" pitchFamily="49" charset="-122"/>
                <a:cs typeface="Consolas" pitchFamily="49" charset="0"/>
              </a:rPr>
              <a:t>求</a:t>
            </a:r>
            <a:r>
              <a:rPr lang="en-US" altLang="zh-CN" sz="2000" dirty="0">
                <a:latin typeface="Consolas" pitchFamily="49" charset="0"/>
                <a:ea typeface="楷体" pitchFamily="49" charset="-122"/>
                <a:cs typeface="Consolas" pitchFamily="49" charset="0"/>
              </a:rPr>
              <a:t>0 </a:t>
            </a:r>
            <a:r>
              <a:rPr lang="en-US" altLang="zh-CN" sz="2000" dirty="0">
                <a:solidFill>
                  <a:srgbClr val="FF00FF"/>
                </a:solidFill>
                <a:latin typeface="Consolas" pitchFamily="49" charset="0"/>
                <a:ea typeface="楷体" pitchFamily="49" charset="-122"/>
                <a:cs typeface="Consolas" pitchFamily="49" charset="0"/>
                <a:sym typeface="Wingdings"/>
              </a:rPr>
              <a:t></a:t>
            </a:r>
            <a:r>
              <a:rPr lang="en-US" altLang="zh-CN" sz="2000" dirty="0">
                <a:latin typeface="Consolas" pitchFamily="49" charset="0"/>
                <a:ea typeface="楷体" pitchFamily="49" charset="-122"/>
                <a:cs typeface="Consolas" pitchFamily="49" charset="0"/>
                <a:sym typeface="Wingdings"/>
              </a:rPr>
              <a:t> </a:t>
            </a:r>
            <a:r>
              <a:rPr lang="en-US" altLang="zh-CN" sz="2000">
                <a:latin typeface="Consolas" pitchFamily="49" charset="0"/>
                <a:ea typeface="楷体" pitchFamily="49" charset="-122"/>
                <a:cs typeface="Consolas" pitchFamily="49" charset="0"/>
                <a:sym typeface="Wingdings"/>
              </a:rPr>
              <a:t>6</a:t>
            </a:r>
            <a:r>
              <a:rPr lang="zh-CN" altLang="en-US" sz="2000">
                <a:latin typeface="Consolas" pitchFamily="49" charset="0"/>
                <a:ea typeface="楷体" pitchFamily="49" charset="-122"/>
                <a:cs typeface="Consolas" pitchFamily="49" charset="0"/>
                <a:sym typeface="Wingdings"/>
              </a:rPr>
              <a:t>的</a:t>
            </a:r>
            <a:r>
              <a:rPr lang="zh-CN" altLang="en-US" sz="2000">
                <a:latin typeface="Consolas" pitchFamily="49" charset="0"/>
                <a:ea typeface="楷体" pitchFamily="49" charset="-122"/>
                <a:cs typeface="Consolas" pitchFamily="49" charset="0"/>
              </a:rPr>
              <a:t>最短路径长度：</a:t>
            </a:r>
            <a:endParaRPr lang="zh-CN" altLang="en-US" sz="2000" dirty="0">
              <a:latin typeface="Consolas" pitchFamily="49" charset="0"/>
              <a:ea typeface="楷体" pitchFamily="49" charset="-122"/>
              <a:cs typeface="Consolas" pitchFamily="49" charset="0"/>
            </a:endParaRPr>
          </a:p>
        </p:txBody>
      </p:sp>
      <p:grpSp>
        <p:nvGrpSpPr>
          <p:cNvPr id="3" name="组合 49">
            <a:extLst>
              <a:ext uri="{FF2B5EF4-FFF2-40B4-BE49-F238E27FC236}">
                <a16:creationId xmlns:a16="http://schemas.microsoft.com/office/drawing/2014/main" id="{9FEC64A3-6E30-620A-06A2-4CE416F75F3B}"/>
              </a:ext>
            </a:extLst>
          </p:cNvPr>
          <p:cNvGrpSpPr/>
          <p:nvPr/>
        </p:nvGrpSpPr>
        <p:grpSpPr>
          <a:xfrm>
            <a:off x="5714175" y="5168030"/>
            <a:ext cx="3457575" cy="1706979"/>
            <a:chOff x="3924300" y="4949848"/>
            <a:chExt cx="3457575" cy="1706979"/>
          </a:xfrm>
        </p:grpSpPr>
        <p:sp>
          <p:nvSpPr>
            <p:cNvPr id="4" name="Oval 10">
              <a:extLst>
                <a:ext uri="{FF2B5EF4-FFF2-40B4-BE49-F238E27FC236}">
                  <a16:creationId xmlns:a16="http://schemas.microsoft.com/office/drawing/2014/main" id="{212EBAAB-1BFA-AA27-18D2-D2E2AF0A2A6B}"/>
                </a:ext>
              </a:extLst>
            </p:cNvPr>
            <p:cNvSpPr>
              <a:spLocks noChangeArrowheads="1"/>
            </p:cNvSpPr>
            <p:nvPr/>
          </p:nvSpPr>
          <p:spPr bwMode="auto">
            <a:xfrm>
              <a:off x="3924300" y="5526110"/>
              <a:ext cx="288925" cy="360363"/>
            </a:xfrm>
            <a:prstGeom prst="ellipse">
              <a:avLst/>
            </a:prstGeom>
            <a:ln>
              <a:headEnd/>
              <a:tailEnd type="none" w="med" len="lg"/>
            </a:ln>
          </p:spPr>
          <p:style>
            <a:lnRef idx="1">
              <a:schemeClr val="accent2"/>
            </a:lnRef>
            <a:fillRef idx="2">
              <a:schemeClr val="accent2"/>
            </a:fillRef>
            <a:effectRef idx="1">
              <a:schemeClr val="accent2"/>
            </a:effectRef>
            <a:fontRef idx="minor">
              <a:schemeClr val="dk1"/>
            </a:fontRef>
          </p:style>
          <p:txBody>
            <a:bodyPr wrap="none" anchor="ctr"/>
            <a:lstStyle/>
            <a:p>
              <a:pPr algn="ctr">
                <a:spcBef>
                  <a:spcPct val="0"/>
                </a:spcBef>
              </a:pPr>
              <a:r>
                <a:rPr lang="en-US" altLang="zh-CN" sz="1800" dirty="0">
                  <a:solidFill>
                    <a:srgbClr val="3333FF"/>
                  </a:solidFill>
                  <a:latin typeface="Consolas" pitchFamily="49" charset="0"/>
                  <a:cs typeface="Consolas" pitchFamily="49" charset="0"/>
                </a:rPr>
                <a:t>0</a:t>
              </a:r>
            </a:p>
          </p:txBody>
        </p:sp>
        <p:sp>
          <p:nvSpPr>
            <p:cNvPr id="5" name="Oval 11">
              <a:extLst>
                <a:ext uri="{FF2B5EF4-FFF2-40B4-BE49-F238E27FC236}">
                  <a16:creationId xmlns:a16="http://schemas.microsoft.com/office/drawing/2014/main" id="{D680A3A5-A2EA-A8EE-FA93-C55B21D6E05D}"/>
                </a:ext>
              </a:extLst>
            </p:cNvPr>
            <p:cNvSpPr>
              <a:spLocks noChangeArrowheads="1"/>
            </p:cNvSpPr>
            <p:nvPr/>
          </p:nvSpPr>
          <p:spPr bwMode="auto">
            <a:xfrm>
              <a:off x="4645025" y="4949848"/>
              <a:ext cx="288925" cy="360362"/>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pPr algn="ctr">
                <a:spcBef>
                  <a:spcPct val="0"/>
                </a:spcBef>
              </a:pPr>
              <a:r>
                <a:rPr lang="en-US" altLang="zh-CN" sz="1800">
                  <a:solidFill>
                    <a:srgbClr val="3333FF"/>
                  </a:solidFill>
                  <a:latin typeface="Consolas" pitchFamily="49" charset="0"/>
                  <a:cs typeface="Consolas" pitchFamily="49" charset="0"/>
                </a:rPr>
                <a:t>1</a:t>
              </a:r>
            </a:p>
          </p:txBody>
        </p:sp>
        <p:sp>
          <p:nvSpPr>
            <p:cNvPr id="6" name="Oval 12">
              <a:extLst>
                <a:ext uri="{FF2B5EF4-FFF2-40B4-BE49-F238E27FC236}">
                  <a16:creationId xmlns:a16="http://schemas.microsoft.com/office/drawing/2014/main" id="{7D907D01-F9F6-299D-0B13-981B783AA0C4}"/>
                </a:ext>
              </a:extLst>
            </p:cNvPr>
            <p:cNvSpPr>
              <a:spLocks noChangeArrowheads="1"/>
            </p:cNvSpPr>
            <p:nvPr/>
          </p:nvSpPr>
          <p:spPr bwMode="auto">
            <a:xfrm>
              <a:off x="4716463" y="6173810"/>
              <a:ext cx="288925" cy="360363"/>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pPr algn="ctr">
                <a:spcBef>
                  <a:spcPct val="0"/>
                </a:spcBef>
              </a:pPr>
              <a:r>
                <a:rPr lang="en-US" altLang="zh-CN" sz="1800">
                  <a:solidFill>
                    <a:srgbClr val="3333FF"/>
                  </a:solidFill>
                  <a:latin typeface="Consolas" pitchFamily="49" charset="0"/>
                  <a:cs typeface="Consolas" pitchFamily="49" charset="0"/>
                </a:rPr>
                <a:t>3</a:t>
              </a:r>
            </a:p>
          </p:txBody>
        </p:sp>
        <p:sp>
          <p:nvSpPr>
            <p:cNvPr id="7" name="Oval 13">
              <a:extLst>
                <a:ext uri="{FF2B5EF4-FFF2-40B4-BE49-F238E27FC236}">
                  <a16:creationId xmlns:a16="http://schemas.microsoft.com/office/drawing/2014/main" id="{27698320-8A93-0904-FFB4-FFF335C44403}"/>
                </a:ext>
              </a:extLst>
            </p:cNvPr>
            <p:cNvSpPr>
              <a:spLocks noChangeArrowheads="1"/>
            </p:cNvSpPr>
            <p:nvPr/>
          </p:nvSpPr>
          <p:spPr bwMode="auto">
            <a:xfrm>
              <a:off x="5365750" y="5526110"/>
              <a:ext cx="288925" cy="360363"/>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pPr algn="ctr">
                <a:spcBef>
                  <a:spcPct val="0"/>
                </a:spcBef>
              </a:pPr>
              <a:r>
                <a:rPr lang="en-US" altLang="zh-CN" sz="1800">
                  <a:solidFill>
                    <a:srgbClr val="3333FF"/>
                  </a:solidFill>
                  <a:latin typeface="Consolas" pitchFamily="49" charset="0"/>
                  <a:cs typeface="Consolas" pitchFamily="49" charset="0"/>
                </a:rPr>
                <a:t>2</a:t>
              </a:r>
            </a:p>
          </p:txBody>
        </p:sp>
        <p:sp>
          <p:nvSpPr>
            <p:cNvPr id="12" name="Oval 14">
              <a:extLst>
                <a:ext uri="{FF2B5EF4-FFF2-40B4-BE49-F238E27FC236}">
                  <a16:creationId xmlns:a16="http://schemas.microsoft.com/office/drawing/2014/main" id="{4AD6477E-3A4C-83E4-F5FA-80594DF97698}"/>
                </a:ext>
              </a:extLst>
            </p:cNvPr>
            <p:cNvSpPr>
              <a:spLocks noChangeArrowheads="1"/>
            </p:cNvSpPr>
            <p:nvPr/>
          </p:nvSpPr>
          <p:spPr bwMode="auto">
            <a:xfrm>
              <a:off x="6300788" y="4949848"/>
              <a:ext cx="288925" cy="360362"/>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pPr algn="ctr">
                <a:spcBef>
                  <a:spcPct val="0"/>
                </a:spcBef>
              </a:pPr>
              <a:r>
                <a:rPr lang="en-US" altLang="zh-CN" sz="1800">
                  <a:solidFill>
                    <a:srgbClr val="3333FF"/>
                  </a:solidFill>
                  <a:latin typeface="Consolas" pitchFamily="49" charset="0"/>
                  <a:cs typeface="Consolas" pitchFamily="49" charset="0"/>
                </a:rPr>
                <a:t>4</a:t>
              </a:r>
            </a:p>
          </p:txBody>
        </p:sp>
        <p:sp>
          <p:nvSpPr>
            <p:cNvPr id="13" name="Oval 15">
              <a:extLst>
                <a:ext uri="{FF2B5EF4-FFF2-40B4-BE49-F238E27FC236}">
                  <a16:creationId xmlns:a16="http://schemas.microsoft.com/office/drawing/2014/main" id="{C6A76970-89E0-7C14-BF4F-9DE7E53C81E8}"/>
                </a:ext>
              </a:extLst>
            </p:cNvPr>
            <p:cNvSpPr>
              <a:spLocks noChangeArrowheads="1"/>
            </p:cNvSpPr>
            <p:nvPr/>
          </p:nvSpPr>
          <p:spPr bwMode="auto">
            <a:xfrm>
              <a:off x="6300788" y="6173810"/>
              <a:ext cx="288925" cy="360363"/>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pPr algn="ctr">
                <a:spcBef>
                  <a:spcPct val="0"/>
                </a:spcBef>
              </a:pPr>
              <a:r>
                <a:rPr lang="en-US" altLang="zh-CN" sz="1800">
                  <a:solidFill>
                    <a:srgbClr val="3333FF"/>
                  </a:solidFill>
                  <a:latin typeface="Consolas" pitchFamily="49" charset="0"/>
                  <a:cs typeface="Consolas" pitchFamily="49" charset="0"/>
                </a:rPr>
                <a:t>5</a:t>
              </a:r>
            </a:p>
          </p:txBody>
        </p:sp>
        <p:sp>
          <p:nvSpPr>
            <p:cNvPr id="14" name="Oval 16">
              <a:extLst>
                <a:ext uri="{FF2B5EF4-FFF2-40B4-BE49-F238E27FC236}">
                  <a16:creationId xmlns:a16="http://schemas.microsoft.com/office/drawing/2014/main" id="{FAAB093E-32F8-7688-913A-9E6C5989F6EF}"/>
                </a:ext>
              </a:extLst>
            </p:cNvPr>
            <p:cNvSpPr>
              <a:spLocks noChangeArrowheads="1"/>
            </p:cNvSpPr>
            <p:nvPr/>
          </p:nvSpPr>
          <p:spPr bwMode="auto">
            <a:xfrm>
              <a:off x="7092950" y="5597548"/>
              <a:ext cx="288925" cy="360362"/>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pPr algn="ctr">
                <a:spcBef>
                  <a:spcPct val="0"/>
                </a:spcBef>
              </a:pPr>
              <a:r>
                <a:rPr lang="en-US" altLang="zh-CN" sz="1800">
                  <a:solidFill>
                    <a:srgbClr val="3333FF"/>
                  </a:solidFill>
                  <a:latin typeface="Consolas" pitchFamily="49" charset="0"/>
                  <a:cs typeface="Consolas" pitchFamily="49" charset="0"/>
                </a:rPr>
                <a:t>6</a:t>
              </a:r>
            </a:p>
          </p:txBody>
        </p:sp>
        <p:sp>
          <p:nvSpPr>
            <p:cNvPr id="15" name="Freeform 17">
              <a:extLst>
                <a:ext uri="{FF2B5EF4-FFF2-40B4-BE49-F238E27FC236}">
                  <a16:creationId xmlns:a16="http://schemas.microsoft.com/office/drawing/2014/main" id="{3318462B-FA36-B5C7-8060-EF4552216884}"/>
                </a:ext>
              </a:extLst>
            </p:cNvPr>
            <p:cNvSpPr>
              <a:spLocks/>
            </p:cNvSpPr>
            <p:nvPr/>
          </p:nvSpPr>
          <p:spPr bwMode="auto">
            <a:xfrm>
              <a:off x="4175125" y="5192735"/>
              <a:ext cx="469900" cy="381000"/>
            </a:xfrm>
            <a:custGeom>
              <a:avLst/>
              <a:gdLst/>
              <a:ahLst/>
              <a:cxnLst>
                <a:cxn ang="0">
                  <a:pos x="0" y="240"/>
                </a:cxn>
                <a:cxn ang="0">
                  <a:pos x="296" y="0"/>
                </a:cxn>
              </a:cxnLst>
              <a:rect l="0" t="0" r="r" b="b"/>
              <a:pathLst>
                <a:path w="296" h="240">
                  <a:moveTo>
                    <a:pt x="0" y="240"/>
                  </a:moveTo>
                  <a:lnTo>
                    <a:pt x="296" y="0"/>
                  </a:lnTo>
                </a:path>
              </a:pathLst>
            </a:custGeom>
            <a:noFill/>
            <a:ln w="38100" cap="flat" cmpd="sng">
              <a:solidFill>
                <a:srgbClr val="FF0000"/>
              </a:solidFill>
              <a:prstDash val="solid"/>
              <a:round/>
              <a:headEnd type="none" w="med" len="med"/>
              <a:tailEnd type="stealth" w="med" len="lg"/>
            </a:ln>
            <a:effectLst/>
          </p:spPr>
          <p:txBody>
            <a:bodyPr wrap="none"/>
            <a:lstStyle/>
            <a:p>
              <a:endParaRPr lang="zh-CN" altLang="en-US">
                <a:latin typeface="Consolas" pitchFamily="49" charset="0"/>
                <a:cs typeface="Consolas" pitchFamily="49" charset="0"/>
              </a:endParaRPr>
            </a:p>
          </p:txBody>
        </p:sp>
        <p:sp>
          <p:nvSpPr>
            <p:cNvPr id="16" name="Line 18">
              <a:extLst>
                <a:ext uri="{FF2B5EF4-FFF2-40B4-BE49-F238E27FC236}">
                  <a16:creationId xmlns:a16="http://schemas.microsoft.com/office/drawing/2014/main" id="{60AC93FB-E70B-1B39-0406-C851EBA4B0C3}"/>
                </a:ext>
              </a:extLst>
            </p:cNvPr>
            <p:cNvSpPr>
              <a:spLocks noChangeShapeType="1"/>
            </p:cNvSpPr>
            <p:nvPr/>
          </p:nvSpPr>
          <p:spPr bwMode="auto">
            <a:xfrm>
              <a:off x="4213225" y="5742010"/>
              <a:ext cx="1152525" cy="0"/>
            </a:xfrm>
            <a:prstGeom prst="line">
              <a:avLst/>
            </a:prstGeom>
            <a:noFill/>
            <a:ln w="19050">
              <a:solidFill>
                <a:srgbClr val="3333FF"/>
              </a:solidFill>
              <a:round/>
              <a:headEnd/>
              <a:tailEnd type="stealth" w="med" len="lg"/>
            </a:ln>
            <a:effectLst/>
          </p:spPr>
          <p:txBody>
            <a:bodyPr wrap="none"/>
            <a:lstStyle/>
            <a:p>
              <a:endParaRPr lang="zh-CN" altLang="en-US">
                <a:latin typeface="Consolas" pitchFamily="49" charset="0"/>
                <a:cs typeface="Consolas" pitchFamily="49" charset="0"/>
              </a:endParaRPr>
            </a:p>
          </p:txBody>
        </p:sp>
        <p:sp>
          <p:nvSpPr>
            <p:cNvPr id="17" name="Line 19">
              <a:extLst>
                <a:ext uri="{FF2B5EF4-FFF2-40B4-BE49-F238E27FC236}">
                  <a16:creationId xmlns:a16="http://schemas.microsoft.com/office/drawing/2014/main" id="{EA91D448-C44D-BFDE-D1C8-93F2091DDE5A}"/>
                </a:ext>
              </a:extLst>
            </p:cNvPr>
            <p:cNvSpPr>
              <a:spLocks noChangeShapeType="1"/>
            </p:cNvSpPr>
            <p:nvPr/>
          </p:nvSpPr>
          <p:spPr bwMode="auto">
            <a:xfrm>
              <a:off x="4154488" y="5851548"/>
              <a:ext cx="574675" cy="431800"/>
            </a:xfrm>
            <a:prstGeom prst="line">
              <a:avLst/>
            </a:prstGeom>
            <a:noFill/>
            <a:ln w="19050">
              <a:solidFill>
                <a:srgbClr val="3333FF"/>
              </a:solidFill>
              <a:round/>
              <a:headEnd/>
              <a:tailEnd type="stealth" w="med" len="lg"/>
            </a:ln>
            <a:effectLst/>
          </p:spPr>
          <p:txBody>
            <a:bodyPr wrap="none"/>
            <a:lstStyle/>
            <a:p>
              <a:endParaRPr lang="zh-CN" altLang="en-US">
                <a:latin typeface="Consolas" pitchFamily="49" charset="0"/>
                <a:cs typeface="Consolas" pitchFamily="49" charset="0"/>
              </a:endParaRPr>
            </a:p>
          </p:txBody>
        </p:sp>
        <p:sp>
          <p:nvSpPr>
            <p:cNvPr id="19" name="Line 20">
              <a:extLst>
                <a:ext uri="{FF2B5EF4-FFF2-40B4-BE49-F238E27FC236}">
                  <a16:creationId xmlns:a16="http://schemas.microsoft.com/office/drawing/2014/main" id="{03C5E19B-0F9D-C08A-6216-B4D31EB10A7B}"/>
                </a:ext>
              </a:extLst>
            </p:cNvPr>
            <p:cNvSpPr>
              <a:spLocks noChangeShapeType="1"/>
            </p:cNvSpPr>
            <p:nvPr/>
          </p:nvSpPr>
          <p:spPr bwMode="auto">
            <a:xfrm>
              <a:off x="4933950" y="5094310"/>
              <a:ext cx="1366838" cy="0"/>
            </a:xfrm>
            <a:prstGeom prst="line">
              <a:avLst/>
            </a:prstGeom>
            <a:noFill/>
            <a:ln w="19050">
              <a:solidFill>
                <a:srgbClr val="3333FF"/>
              </a:solidFill>
              <a:round/>
              <a:headEnd/>
              <a:tailEnd type="stealth" w="med" len="lg"/>
            </a:ln>
            <a:effectLst/>
          </p:spPr>
          <p:txBody>
            <a:bodyPr wrap="none"/>
            <a:lstStyle/>
            <a:p>
              <a:endParaRPr lang="zh-CN" altLang="en-US">
                <a:latin typeface="Consolas" pitchFamily="49" charset="0"/>
                <a:cs typeface="Consolas" pitchFamily="49" charset="0"/>
              </a:endParaRPr>
            </a:p>
          </p:txBody>
        </p:sp>
        <p:sp>
          <p:nvSpPr>
            <p:cNvPr id="20" name="Line 21">
              <a:extLst>
                <a:ext uri="{FF2B5EF4-FFF2-40B4-BE49-F238E27FC236}">
                  <a16:creationId xmlns:a16="http://schemas.microsoft.com/office/drawing/2014/main" id="{35DF095C-7109-54B8-0F6A-B26BA55256A1}"/>
                </a:ext>
              </a:extLst>
            </p:cNvPr>
            <p:cNvSpPr>
              <a:spLocks noChangeShapeType="1"/>
            </p:cNvSpPr>
            <p:nvPr/>
          </p:nvSpPr>
          <p:spPr bwMode="auto">
            <a:xfrm>
              <a:off x="5005388" y="6389710"/>
              <a:ext cx="1295400" cy="0"/>
            </a:xfrm>
            <a:prstGeom prst="line">
              <a:avLst/>
            </a:prstGeom>
            <a:noFill/>
            <a:ln w="19050">
              <a:solidFill>
                <a:srgbClr val="3333FF"/>
              </a:solidFill>
              <a:round/>
              <a:headEnd/>
              <a:tailEnd type="stealth" w="med" len="lg"/>
            </a:ln>
            <a:effectLst/>
          </p:spPr>
          <p:txBody>
            <a:bodyPr wrap="none"/>
            <a:lstStyle/>
            <a:p>
              <a:endParaRPr lang="zh-CN" altLang="en-US">
                <a:latin typeface="Consolas" pitchFamily="49" charset="0"/>
                <a:cs typeface="Consolas" pitchFamily="49" charset="0"/>
              </a:endParaRPr>
            </a:p>
          </p:txBody>
        </p:sp>
        <p:sp>
          <p:nvSpPr>
            <p:cNvPr id="21" name="Freeform 22">
              <a:extLst>
                <a:ext uri="{FF2B5EF4-FFF2-40B4-BE49-F238E27FC236}">
                  <a16:creationId xmlns:a16="http://schemas.microsoft.com/office/drawing/2014/main" id="{0ED8315E-613E-DEB3-8BA8-627E21F6CBD5}"/>
                </a:ext>
              </a:extLst>
            </p:cNvPr>
            <p:cNvSpPr>
              <a:spLocks/>
            </p:cNvSpPr>
            <p:nvPr/>
          </p:nvSpPr>
          <p:spPr bwMode="auto">
            <a:xfrm>
              <a:off x="4967288" y="5813448"/>
              <a:ext cx="469900" cy="407987"/>
            </a:xfrm>
            <a:custGeom>
              <a:avLst/>
              <a:gdLst/>
              <a:ahLst/>
              <a:cxnLst>
                <a:cxn ang="0">
                  <a:pos x="0" y="257"/>
                </a:cxn>
                <a:cxn ang="0">
                  <a:pos x="296" y="0"/>
                </a:cxn>
              </a:cxnLst>
              <a:rect l="0" t="0" r="r" b="b"/>
              <a:pathLst>
                <a:path w="296" h="257">
                  <a:moveTo>
                    <a:pt x="0" y="257"/>
                  </a:moveTo>
                  <a:lnTo>
                    <a:pt x="296" y="0"/>
                  </a:lnTo>
                </a:path>
              </a:pathLst>
            </a:custGeom>
            <a:noFill/>
            <a:ln w="19050">
              <a:solidFill>
                <a:srgbClr val="3333FF"/>
              </a:solidFill>
              <a:round/>
              <a:headEnd/>
              <a:tailEnd type="stealth" w="med" len="lg"/>
            </a:ln>
            <a:effectLst/>
          </p:spPr>
          <p:txBody>
            <a:bodyPr wrap="none"/>
            <a:lstStyle/>
            <a:p>
              <a:endParaRPr lang="zh-CN" altLang="en-US">
                <a:latin typeface="Consolas" pitchFamily="49" charset="0"/>
                <a:cs typeface="Consolas" pitchFamily="49" charset="0"/>
              </a:endParaRPr>
            </a:p>
          </p:txBody>
        </p:sp>
        <p:sp>
          <p:nvSpPr>
            <p:cNvPr id="22" name="Line 23">
              <a:extLst>
                <a:ext uri="{FF2B5EF4-FFF2-40B4-BE49-F238E27FC236}">
                  <a16:creationId xmlns:a16="http://schemas.microsoft.com/office/drawing/2014/main" id="{19867F0E-3219-A5A0-1F0E-19D79015CAF5}"/>
                </a:ext>
              </a:extLst>
            </p:cNvPr>
            <p:cNvSpPr>
              <a:spLocks noChangeShapeType="1"/>
            </p:cNvSpPr>
            <p:nvPr/>
          </p:nvSpPr>
          <p:spPr bwMode="auto">
            <a:xfrm>
              <a:off x="4908550" y="5237185"/>
              <a:ext cx="503238" cy="360363"/>
            </a:xfrm>
            <a:prstGeom prst="line">
              <a:avLst/>
            </a:prstGeom>
            <a:noFill/>
            <a:ln w="38100">
              <a:solidFill>
                <a:srgbClr val="FF0000"/>
              </a:solidFill>
              <a:round/>
              <a:headEnd/>
              <a:tailEnd type="stealth" w="med" len="lg"/>
            </a:ln>
            <a:effectLst/>
          </p:spPr>
          <p:txBody>
            <a:bodyPr wrap="none"/>
            <a:lstStyle/>
            <a:p>
              <a:endParaRPr lang="zh-CN" altLang="en-US">
                <a:latin typeface="Consolas" pitchFamily="49" charset="0"/>
                <a:cs typeface="Consolas" pitchFamily="49" charset="0"/>
              </a:endParaRPr>
            </a:p>
          </p:txBody>
        </p:sp>
        <p:sp>
          <p:nvSpPr>
            <p:cNvPr id="23" name="Freeform 24">
              <a:extLst>
                <a:ext uri="{FF2B5EF4-FFF2-40B4-BE49-F238E27FC236}">
                  <a16:creationId xmlns:a16="http://schemas.microsoft.com/office/drawing/2014/main" id="{8D5ECB08-3AAE-C1B8-1106-5AC66FD47847}"/>
                </a:ext>
              </a:extLst>
            </p:cNvPr>
            <p:cNvSpPr>
              <a:spLocks/>
            </p:cNvSpPr>
            <p:nvPr/>
          </p:nvSpPr>
          <p:spPr bwMode="auto">
            <a:xfrm>
              <a:off x="5661025" y="5238773"/>
              <a:ext cx="639763" cy="411162"/>
            </a:xfrm>
            <a:custGeom>
              <a:avLst/>
              <a:gdLst/>
              <a:ahLst/>
              <a:cxnLst>
                <a:cxn ang="0">
                  <a:pos x="0" y="259"/>
                </a:cxn>
                <a:cxn ang="0">
                  <a:pos x="403" y="0"/>
                </a:cxn>
              </a:cxnLst>
              <a:rect l="0" t="0" r="r" b="b"/>
              <a:pathLst>
                <a:path w="403" h="259">
                  <a:moveTo>
                    <a:pt x="0" y="259"/>
                  </a:moveTo>
                  <a:lnTo>
                    <a:pt x="403" y="0"/>
                  </a:lnTo>
                </a:path>
              </a:pathLst>
            </a:custGeom>
            <a:noFill/>
            <a:ln w="19050" cap="flat" cmpd="sng">
              <a:solidFill>
                <a:srgbClr val="3333FF"/>
              </a:solidFill>
              <a:prstDash val="solid"/>
              <a:round/>
              <a:headEnd type="none" w="med" len="med"/>
              <a:tailEnd type="stealth" w="med" len="lg"/>
            </a:ln>
            <a:effectLst/>
          </p:spPr>
          <p:txBody>
            <a:bodyPr wrap="none"/>
            <a:lstStyle/>
            <a:p>
              <a:endParaRPr lang="zh-CN" altLang="en-US">
                <a:latin typeface="Consolas" pitchFamily="49" charset="0"/>
                <a:cs typeface="Consolas" pitchFamily="49" charset="0"/>
              </a:endParaRPr>
            </a:p>
          </p:txBody>
        </p:sp>
        <p:sp>
          <p:nvSpPr>
            <p:cNvPr id="24" name="Line 25">
              <a:extLst>
                <a:ext uri="{FF2B5EF4-FFF2-40B4-BE49-F238E27FC236}">
                  <a16:creationId xmlns:a16="http://schemas.microsoft.com/office/drawing/2014/main" id="{283BBB3D-9C01-451B-3A17-AB2ACDF8277E}"/>
                </a:ext>
              </a:extLst>
            </p:cNvPr>
            <p:cNvSpPr>
              <a:spLocks noChangeShapeType="1"/>
            </p:cNvSpPr>
            <p:nvPr/>
          </p:nvSpPr>
          <p:spPr bwMode="auto">
            <a:xfrm>
              <a:off x="5653088" y="5813448"/>
              <a:ext cx="647700" cy="431800"/>
            </a:xfrm>
            <a:prstGeom prst="line">
              <a:avLst/>
            </a:prstGeom>
            <a:noFill/>
            <a:ln w="38100">
              <a:solidFill>
                <a:srgbClr val="FF0000"/>
              </a:solidFill>
              <a:round/>
              <a:headEnd/>
              <a:tailEnd type="stealth" w="med" len="lg"/>
            </a:ln>
            <a:effectLst/>
          </p:spPr>
          <p:txBody>
            <a:bodyPr wrap="none"/>
            <a:lstStyle/>
            <a:p>
              <a:endParaRPr lang="zh-CN" altLang="en-US">
                <a:latin typeface="Consolas" pitchFamily="49" charset="0"/>
                <a:cs typeface="Consolas" pitchFamily="49" charset="0"/>
              </a:endParaRPr>
            </a:p>
          </p:txBody>
        </p:sp>
        <p:sp>
          <p:nvSpPr>
            <p:cNvPr id="25" name="Line 26">
              <a:extLst>
                <a:ext uri="{FF2B5EF4-FFF2-40B4-BE49-F238E27FC236}">
                  <a16:creationId xmlns:a16="http://schemas.microsoft.com/office/drawing/2014/main" id="{9C16D1B7-816C-36BB-8916-72694303D09E}"/>
                </a:ext>
              </a:extLst>
            </p:cNvPr>
            <p:cNvSpPr>
              <a:spLocks noChangeShapeType="1"/>
            </p:cNvSpPr>
            <p:nvPr/>
          </p:nvSpPr>
          <p:spPr bwMode="auto">
            <a:xfrm flipV="1">
              <a:off x="6445250" y="5310210"/>
              <a:ext cx="0" cy="863600"/>
            </a:xfrm>
            <a:prstGeom prst="line">
              <a:avLst/>
            </a:prstGeom>
            <a:noFill/>
            <a:ln w="38100">
              <a:solidFill>
                <a:srgbClr val="FF0000"/>
              </a:solidFill>
              <a:round/>
              <a:headEnd/>
              <a:tailEnd type="stealth" w="med" len="lg"/>
            </a:ln>
            <a:effectLst/>
          </p:spPr>
          <p:txBody>
            <a:bodyPr wrap="none"/>
            <a:lstStyle/>
            <a:p>
              <a:endParaRPr lang="zh-CN" altLang="en-US">
                <a:latin typeface="Consolas" pitchFamily="49" charset="0"/>
                <a:cs typeface="Consolas" pitchFamily="49" charset="0"/>
              </a:endParaRPr>
            </a:p>
          </p:txBody>
        </p:sp>
        <p:sp>
          <p:nvSpPr>
            <p:cNvPr id="26" name="Line 27">
              <a:extLst>
                <a:ext uri="{FF2B5EF4-FFF2-40B4-BE49-F238E27FC236}">
                  <a16:creationId xmlns:a16="http://schemas.microsoft.com/office/drawing/2014/main" id="{8A37AAEC-15D9-F758-410D-1D93A455FA24}"/>
                </a:ext>
              </a:extLst>
            </p:cNvPr>
            <p:cNvSpPr>
              <a:spLocks noChangeShapeType="1"/>
            </p:cNvSpPr>
            <p:nvPr/>
          </p:nvSpPr>
          <p:spPr bwMode="auto">
            <a:xfrm flipV="1">
              <a:off x="6589713" y="5911873"/>
              <a:ext cx="576262" cy="431800"/>
            </a:xfrm>
            <a:prstGeom prst="line">
              <a:avLst/>
            </a:prstGeom>
            <a:noFill/>
            <a:ln w="19050">
              <a:solidFill>
                <a:srgbClr val="3333FF"/>
              </a:solidFill>
              <a:round/>
              <a:headEnd/>
              <a:tailEnd type="stealth" w="med" len="lg"/>
            </a:ln>
            <a:effectLst/>
          </p:spPr>
          <p:txBody>
            <a:bodyPr wrap="none"/>
            <a:lstStyle/>
            <a:p>
              <a:endParaRPr lang="zh-CN" altLang="en-US">
                <a:latin typeface="Consolas" pitchFamily="49" charset="0"/>
                <a:cs typeface="Consolas" pitchFamily="49" charset="0"/>
              </a:endParaRPr>
            </a:p>
          </p:txBody>
        </p:sp>
        <p:sp>
          <p:nvSpPr>
            <p:cNvPr id="27" name="Line 28">
              <a:extLst>
                <a:ext uri="{FF2B5EF4-FFF2-40B4-BE49-F238E27FC236}">
                  <a16:creationId xmlns:a16="http://schemas.microsoft.com/office/drawing/2014/main" id="{9C28051D-158A-88EA-E4CE-24AC10F6F84E}"/>
                </a:ext>
              </a:extLst>
            </p:cNvPr>
            <p:cNvSpPr>
              <a:spLocks noChangeShapeType="1"/>
            </p:cNvSpPr>
            <p:nvPr/>
          </p:nvSpPr>
          <p:spPr bwMode="auto">
            <a:xfrm>
              <a:off x="6589713" y="5140348"/>
              <a:ext cx="576262" cy="503237"/>
            </a:xfrm>
            <a:prstGeom prst="line">
              <a:avLst/>
            </a:prstGeom>
            <a:noFill/>
            <a:ln w="38100">
              <a:solidFill>
                <a:srgbClr val="FF0000"/>
              </a:solidFill>
              <a:round/>
              <a:headEnd/>
              <a:tailEnd type="stealth" w="med" len="lg"/>
            </a:ln>
            <a:effectLst/>
          </p:spPr>
          <p:txBody>
            <a:bodyPr wrap="none"/>
            <a:lstStyle/>
            <a:p>
              <a:endParaRPr lang="zh-CN" altLang="en-US">
                <a:latin typeface="Consolas" pitchFamily="49" charset="0"/>
                <a:cs typeface="Consolas" pitchFamily="49" charset="0"/>
              </a:endParaRPr>
            </a:p>
          </p:txBody>
        </p:sp>
        <p:sp>
          <p:nvSpPr>
            <p:cNvPr id="28" name="Text Box 29">
              <a:extLst>
                <a:ext uri="{FF2B5EF4-FFF2-40B4-BE49-F238E27FC236}">
                  <a16:creationId xmlns:a16="http://schemas.microsoft.com/office/drawing/2014/main" id="{C2349558-3752-4F61-AA34-E6B822D88846}"/>
                </a:ext>
              </a:extLst>
            </p:cNvPr>
            <p:cNvSpPr txBox="1">
              <a:spLocks noChangeArrowheads="1"/>
            </p:cNvSpPr>
            <p:nvPr/>
          </p:nvSpPr>
          <p:spPr bwMode="auto">
            <a:xfrm>
              <a:off x="4068763" y="5021285"/>
              <a:ext cx="433387" cy="338554"/>
            </a:xfrm>
            <a:prstGeom prst="rect">
              <a:avLst/>
            </a:prstGeom>
            <a:noFill/>
            <a:ln w="19050" algn="ctr">
              <a:noFill/>
              <a:miter lim="800000"/>
              <a:headEnd/>
              <a:tailEnd type="none" w="med" len="lg"/>
            </a:ln>
            <a:effectLst/>
          </p:spPr>
          <p:txBody>
            <a:bodyPr>
              <a:spAutoFit/>
            </a:bodyPr>
            <a:lstStyle/>
            <a:p>
              <a:pPr algn="ctr"/>
              <a:r>
                <a:rPr lang="en-US" altLang="zh-CN" sz="1600">
                  <a:solidFill>
                    <a:srgbClr val="339933"/>
                  </a:solidFill>
                  <a:latin typeface="Consolas" pitchFamily="49" charset="0"/>
                  <a:cs typeface="Consolas" pitchFamily="49" charset="0"/>
                </a:rPr>
                <a:t>4</a:t>
              </a:r>
            </a:p>
          </p:txBody>
        </p:sp>
        <p:sp>
          <p:nvSpPr>
            <p:cNvPr id="29" name="Text Box 30">
              <a:extLst>
                <a:ext uri="{FF2B5EF4-FFF2-40B4-BE49-F238E27FC236}">
                  <a16:creationId xmlns:a16="http://schemas.microsoft.com/office/drawing/2014/main" id="{6A837EB5-F671-5359-DFC2-6297F09E5CB3}"/>
                </a:ext>
              </a:extLst>
            </p:cNvPr>
            <p:cNvSpPr txBox="1">
              <a:spLocks noChangeArrowheads="1"/>
            </p:cNvSpPr>
            <p:nvPr/>
          </p:nvSpPr>
          <p:spPr bwMode="auto">
            <a:xfrm>
              <a:off x="5580063" y="5175273"/>
              <a:ext cx="433387" cy="338554"/>
            </a:xfrm>
            <a:prstGeom prst="rect">
              <a:avLst/>
            </a:prstGeom>
            <a:noFill/>
            <a:ln w="19050" algn="ctr">
              <a:noFill/>
              <a:miter lim="800000"/>
              <a:headEnd/>
              <a:tailEnd type="none" w="med" len="lg"/>
            </a:ln>
            <a:effectLst/>
          </p:spPr>
          <p:txBody>
            <a:bodyPr>
              <a:spAutoFit/>
            </a:bodyPr>
            <a:lstStyle/>
            <a:p>
              <a:pPr algn="ctr"/>
              <a:r>
                <a:rPr lang="en-US" altLang="zh-CN" sz="1600">
                  <a:solidFill>
                    <a:srgbClr val="339933"/>
                  </a:solidFill>
                  <a:latin typeface="Consolas" pitchFamily="49" charset="0"/>
                  <a:cs typeface="Consolas" pitchFamily="49" charset="0"/>
                </a:rPr>
                <a:t>6</a:t>
              </a:r>
            </a:p>
          </p:txBody>
        </p:sp>
        <p:sp>
          <p:nvSpPr>
            <p:cNvPr id="30" name="Text Box 31">
              <a:extLst>
                <a:ext uri="{FF2B5EF4-FFF2-40B4-BE49-F238E27FC236}">
                  <a16:creationId xmlns:a16="http://schemas.microsoft.com/office/drawing/2014/main" id="{9A4EA908-29CD-D7E9-054C-55BC6CAAF669}"/>
                </a:ext>
              </a:extLst>
            </p:cNvPr>
            <p:cNvSpPr txBox="1">
              <a:spLocks noChangeArrowheads="1"/>
            </p:cNvSpPr>
            <p:nvPr/>
          </p:nvSpPr>
          <p:spPr bwMode="auto">
            <a:xfrm>
              <a:off x="6326188" y="5514998"/>
              <a:ext cx="433387" cy="338554"/>
            </a:xfrm>
            <a:prstGeom prst="rect">
              <a:avLst/>
            </a:prstGeom>
            <a:noFill/>
            <a:ln w="19050" algn="ctr">
              <a:noFill/>
              <a:miter lim="800000"/>
              <a:headEnd/>
              <a:tailEnd type="none" w="med" len="lg"/>
            </a:ln>
            <a:effectLst/>
          </p:spPr>
          <p:txBody>
            <a:bodyPr>
              <a:spAutoFit/>
            </a:bodyPr>
            <a:lstStyle/>
            <a:p>
              <a:pPr algn="ctr"/>
              <a:r>
                <a:rPr lang="en-US" altLang="zh-CN" sz="1600">
                  <a:solidFill>
                    <a:srgbClr val="339933"/>
                  </a:solidFill>
                  <a:latin typeface="Consolas" pitchFamily="49" charset="0"/>
                  <a:cs typeface="Consolas" pitchFamily="49" charset="0"/>
                </a:rPr>
                <a:t>1</a:t>
              </a:r>
            </a:p>
          </p:txBody>
        </p:sp>
        <p:sp>
          <p:nvSpPr>
            <p:cNvPr id="31" name="Text Box 32">
              <a:extLst>
                <a:ext uri="{FF2B5EF4-FFF2-40B4-BE49-F238E27FC236}">
                  <a16:creationId xmlns:a16="http://schemas.microsoft.com/office/drawing/2014/main" id="{4F96396C-A932-DF76-431A-14E8832659FE}"/>
                </a:ext>
              </a:extLst>
            </p:cNvPr>
            <p:cNvSpPr txBox="1">
              <a:spLocks noChangeArrowheads="1"/>
            </p:cNvSpPr>
            <p:nvPr/>
          </p:nvSpPr>
          <p:spPr bwMode="auto">
            <a:xfrm>
              <a:off x="6732588" y="5056210"/>
              <a:ext cx="433387" cy="338554"/>
            </a:xfrm>
            <a:prstGeom prst="rect">
              <a:avLst/>
            </a:prstGeom>
            <a:noFill/>
            <a:ln w="19050" algn="ctr">
              <a:noFill/>
              <a:miter lim="800000"/>
              <a:headEnd/>
              <a:tailEnd type="none" w="med" len="lg"/>
            </a:ln>
            <a:effectLst/>
          </p:spPr>
          <p:txBody>
            <a:bodyPr>
              <a:spAutoFit/>
            </a:bodyPr>
            <a:lstStyle/>
            <a:p>
              <a:pPr algn="ctr"/>
              <a:r>
                <a:rPr lang="en-US" altLang="zh-CN" sz="1600">
                  <a:solidFill>
                    <a:srgbClr val="339933"/>
                  </a:solidFill>
                  <a:latin typeface="Consolas" pitchFamily="49" charset="0"/>
                  <a:cs typeface="Consolas" pitchFamily="49" charset="0"/>
                </a:rPr>
                <a:t>6</a:t>
              </a:r>
            </a:p>
          </p:txBody>
        </p:sp>
        <p:sp>
          <p:nvSpPr>
            <p:cNvPr id="32" name="Text Box 33">
              <a:extLst>
                <a:ext uri="{FF2B5EF4-FFF2-40B4-BE49-F238E27FC236}">
                  <a16:creationId xmlns:a16="http://schemas.microsoft.com/office/drawing/2014/main" id="{BF327892-DCBD-93EF-DCD8-88C9A6BD20B1}"/>
                </a:ext>
              </a:extLst>
            </p:cNvPr>
            <p:cNvSpPr txBox="1">
              <a:spLocks noChangeArrowheads="1"/>
            </p:cNvSpPr>
            <p:nvPr/>
          </p:nvSpPr>
          <p:spPr bwMode="auto">
            <a:xfrm>
              <a:off x="6746875" y="6056335"/>
              <a:ext cx="433388" cy="338554"/>
            </a:xfrm>
            <a:prstGeom prst="rect">
              <a:avLst/>
            </a:prstGeom>
            <a:noFill/>
            <a:ln w="19050" algn="ctr">
              <a:noFill/>
              <a:miter lim="800000"/>
              <a:headEnd/>
              <a:tailEnd type="none" w="med" len="lg"/>
            </a:ln>
            <a:effectLst/>
          </p:spPr>
          <p:txBody>
            <a:bodyPr>
              <a:spAutoFit/>
            </a:bodyPr>
            <a:lstStyle/>
            <a:p>
              <a:pPr algn="ctr"/>
              <a:r>
                <a:rPr lang="en-US" altLang="zh-CN" sz="1600" dirty="0">
                  <a:solidFill>
                    <a:srgbClr val="339933"/>
                  </a:solidFill>
                  <a:latin typeface="Consolas" pitchFamily="49" charset="0"/>
                  <a:cs typeface="Consolas" pitchFamily="49" charset="0"/>
                </a:rPr>
                <a:t>8</a:t>
              </a:r>
            </a:p>
          </p:txBody>
        </p:sp>
        <p:sp>
          <p:nvSpPr>
            <p:cNvPr id="33" name="Text Box 34">
              <a:extLst>
                <a:ext uri="{FF2B5EF4-FFF2-40B4-BE49-F238E27FC236}">
                  <a16:creationId xmlns:a16="http://schemas.microsoft.com/office/drawing/2014/main" id="{708BDB03-D1B8-5572-33EE-F34D64CD4CD7}"/>
                </a:ext>
              </a:extLst>
            </p:cNvPr>
            <p:cNvSpPr txBox="1">
              <a:spLocks noChangeArrowheads="1"/>
            </p:cNvSpPr>
            <p:nvPr/>
          </p:nvSpPr>
          <p:spPr bwMode="auto">
            <a:xfrm>
              <a:off x="5292725" y="6318273"/>
              <a:ext cx="433388" cy="338554"/>
            </a:xfrm>
            <a:prstGeom prst="rect">
              <a:avLst/>
            </a:prstGeom>
            <a:noFill/>
            <a:ln w="19050" algn="ctr">
              <a:noFill/>
              <a:miter lim="800000"/>
              <a:headEnd/>
              <a:tailEnd type="none" w="med" len="lg"/>
            </a:ln>
            <a:effectLst/>
          </p:spPr>
          <p:txBody>
            <a:bodyPr>
              <a:spAutoFit/>
            </a:bodyPr>
            <a:lstStyle/>
            <a:p>
              <a:pPr algn="ctr"/>
              <a:r>
                <a:rPr lang="en-US" altLang="zh-CN" sz="1600">
                  <a:solidFill>
                    <a:srgbClr val="339933"/>
                  </a:solidFill>
                  <a:latin typeface="Consolas" pitchFamily="49" charset="0"/>
                  <a:cs typeface="Consolas" pitchFamily="49" charset="0"/>
                </a:rPr>
                <a:t>5</a:t>
              </a:r>
            </a:p>
          </p:txBody>
        </p:sp>
        <p:sp>
          <p:nvSpPr>
            <p:cNvPr id="34" name="Text Box 35">
              <a:extLst>
                <a:ext uri="{FF2B5EF4-FFF2-40B4-BE49-F238E27FC236}">
                  <a16:creationId xmlns:a16="http://schemas.microsoft.com/office/drawing/2014/main" id="{501052AB-20A8-D006-35BA-C92CF6E2CA95}"/>
                </a:ext>
              </a:extLst>
            </p:cNvPr>
            <p:cNvSpPr txBox="1">
              <a:spLocks noChangeArrowheads="1"/>
            </p:cNvSpPr>
            <p:nvPr/>
          </p:nvSpPr>
          <p:spPr bwMode="auto">
            <a:xfrm>
              <a:off x="4068763" y="5921398"/>
              <a:ext cx="433387" cy="338554"/>
            </a:xfrm>
            <a:prstGeom prst="rect">
              <a:avLst/>
            </a:prstGeom>
            <a:noFill/>
            <a:ln w="19050" algn="ctr">
              <a:noFill/>
              <a:miter lim="800000"/>
              <a:headEnd/>
              <a:tailEnd type="none" w="med" len="lg"/>
            </a:ln>
            <a:effectLst/>
          </p:spPr>
          <p:txBody>
            <a:bodyPr>
              <a:spAutoFit/>
            </a:bodyPr>
            <a:lstStyle/>
            <a:p>
              <a:pPr algn="ctr"/>
              <a:r>
                <a:rPr lang="en-US" altLang="zh-CN" sz="1600">
                  <a:solidFill>
                    <a:srgbClr val="339933"/>
                  </a:solidFill>
                  <a:latin typeface="Consolas" pitchFamily="49" charset="0"/>
                  <a:cs typeface="Consolas" pitchFamily="49" charset="0"/>
                </a:rPr>
                <a:t>6</a:t>
              </a:r>
            </a:p>
          </p:txBody>
        </p:sp>
        <p:sp>
          <p:nvSpPr>
            <p:cNvPr id="35" name="Text Box 36">
              <a:extLst>
                <a:ext uri="{FF2B5EF4-FFF2-40B4-BE49-F238E27FC236}">
                  <a16:creationId xmlns:a16="http://schemas.microsoft.com/office/drawing/2014/main" id="{C3DEC8BB-816D-6EC6-2C9B-DBF2F8EE43EA}"/>
                </a:ext>
              </a:extLst>
            </p:cNvPr>
            <p:cNvSpPr txBox="1">
              <a:spLocks noChangeArrowheads="1"/>
            </p:cNvSpPr>
            <p:nvPr/>
          </p:nvSpPr>
          <p:spPr bwMode="auto">
            <a:xfrm>
              <a:off x="4500563" y="5394348"/>
              <a:ext cx="433387" cy="338554"/>
            </a:xfrm>
            <a:prstGeom prst="rect">
              <a:avLst/>
            </a:prstGeom>
            <a:noFill/>
            <a:ln w="19050" algn="ctr">
              <a:noFill/>
              <a:miter lim="800000"/>
              <a:headEnd/>
              <a:tailEnd type="none" w="med" len="lg"/>
            </a:ln>
            <a:effectLst/>
          </p:spPr>
          <p:txBody>
            <a:bodyPr>
              <a:spAutoFit/>
            </a:bodyPr>
            <a:lstStyle/>
            <a:p>
              <a:pPr algn="ctr"/>
              <a:r>
                <a:rPr lang="en-US" altLang="zh-CN" sz="1600">
                  <a:solidFill>
                    <a:srgbClr val="339933"/>
                  </a:solidFill>
                  <a:latin typeface="Consolas" pitchFamily="49" charset="0"/>
                  <a:cs typeface="Consolas" pitchFamily="49" charset="0"/>
                </a:rPr>
                <a:t>6</a:t>
              </a:r>
            </a:p>
          </p:txBody>
        </p:sp>
        <p:sp>
          <p:nvSpPr>
            <p:cNvPr id="36" name="Text Box 37">
              <a:extLst>
                <a:ext uri="{FF2B5EF4-FFF2-40B4-BE49-F238E27FC236}">
                  <a16:creationId xmlns:a16="http://schemas.microsoft.com/office/drawing/2014/main" id="{412BA937-142D-D5CB-7A36-D1822C89190B}"/>
                </a:ext>
              </a:extLst>
            </p:cNvPr>
            <p:cNvSpPr txBox="1">
              <a:spLocks noChangeArrowheads="1"/>
            </p:cNvSpPr>
            <p:nvPr/>
          </p:nvSpPr>
          <p:spPr bwMode="auto">
            <a:xfrm>
              <a:off x="4889500" y="5815035"/>
              <a:ext cx="298450" cy="246221"/>
            </a:xfrm>
            <a:prstGeom prst="rect">
              <a:avLst/>
            </a:prstGeom>
            <a:noFill/>
            <a:ln w="19050" algn="ctr">
              <a:noFill/>
              <a:miter lim="800000"/>
              <a:headEnd/>
              <a:tailEnd type="none" w="med" len="lg"/>
            </a:ln>
            <a:effectLst/>
          </p:spPr>
          <p:txBody>
            <a:bodyPr lIns="0" tIns="0" rIns="0" bIns="0">
              <a:spAutoFit/>
            </a:bodyPr>
            <a:lstStyle/>
            <a:p>
              <a:pPr algn="ctr"/>
              <a:r>
                <a:rPr lang="en-US" altLang="zh-CN" sz="1600">
                  <a:solidFill>
                    <a:srgbClr val="339933"/>
                  </a:solidFill>
                  <a:latin typeface="Consolas" pitchFamily="49" charset="0"/>
                  <a:cs typeface="Consolas" pitchFamily="49" charset="0"/>
                </a:rPr>
                <a:t>2</a:t>
              </a:r>
            </a:p>
          </p:txBody>
        </p:sp>
        <p:sp>
          <p:nvSpPr>
            <p:cNvPr id="37" name="Text Box 38">
              <a:extLst>
                <a:ext uri="{FF2B5EF4-FFF2-40B4-BE49-F238E27FC236}">
                  <a16:creationId xmlns:a16="http://schemas.microsoft.com/office/drawing/2014/main" id="{C428FE3C-007A-A535-D677-43901B561280}"/>
                </a:ext>
              </a:extLst>
            </p:cNvPr>
            <p:cNvSpPr txBox="1">
              <a:spLocks noChangeArrowheads="1"/>
            </p:cNvSpPr>
            <p:nvPr/>
          </p:nvSpPr>
          <p:spPr bwMode="auto">
            <a:xfrm>
              <a:off x="5749925" y="5656285"/>
              <a:ext cx="433388" cy="338554"/>
            </a:xfrm>
            <a:prstGeom prst="rect">
              <a:avLst/>
            </a:prstGeom>
            <a:noFill/>
            <a:ln w="19050" algn="ctr">
              <a:noFill/>
              <a:miter lim="800000"/>
              <a:headEnd/>
              <a:tailEnd type="none" w="med" len="lg"/>
            </a:ln>
            <a:effectLst/>
          </p:spPr>
          <p:txBody>
            <a:bodyPr>
              <a:spAutoFit/>
            </a:bodyPr>
            <a:lstStyle/>
            <a:p>
              <a:pPr algn="ctr"/>
              <a:r>
                <a:rPr lang="en-US" altLang="zh-CN" sz="1600">
                  <a:solidFill>
                    <a:srgbClr val="339933"/>
                  </a:solidFill>
                  <a:latin typeface="Consolas" pitchFamily="49" charset="0"/>
                  <a:cs typeface="Consolas" pitchFamily="49" charset="0"/>
                </a:rPr>
                <a:t>4</a:t>
              </a:r>
            </a:p>
          </p:txBody>
        </p:sp>
        <p:sp>
          <p:nvSpPr>
            <p:cNvPr id="38" name="Text Box 39">
              <a:extLst>
                <a:ext uri="{FF2B5EF4-FFF2-40B4-BE49-F238E27FC236}">
                  <a16:creationId xmlns:a16="http://schemas.microsoft.com/office/drawing/2014/main" id="{E69F82D3-95EC-46A1-F256-A7C3A9A7D143}"/>
                </a:ext>
              </a:extLst>
            </p:cNvPr>
            <p:cNvSpPr txBox="1">
              <a:spLocks noChangeArrowheads="1"/>
            </p:cNvSpPr>
            <p:nvPr/>
          </p:nvSpPr>
          <p:spPr bwMode="auto">
            <a:xfrm>
              <a:off x="5005388" y="5094310"/>
              <a:ext cx="287337" cy="246221"/>
            </a:xfrm>
            <a:prstGeom prst="rect">
              <a:avLst/>
            </a:prstGeom>
            <a:noFill/>
            <a:ln w="19050" algn="ctr">
              <a:noFill/>
              <a:miter lim="800000"/>
              <a:headEnd/>
              <a:tailEnd type="none" w="med" len="lg"/>
            </a:ln>
            <a:effectLst/>
          </p:spPr>
          <p:txBody>
            <a:bodyPr lIns="0" tIns="0" rIns="0" bIns="0">
              <a:spAutoFit/>
            </a:bodyPr>
            <a:lstStyle/>
            <a:p>
              <a:pPr algn="ctr"/>
              <a:r>
                <a:rPr lang="en-US" altLang="zh-CN" sz="1600">
                  <a:solidFill>
                    <a:srgbClr val="339933"/>
                  </a:solidFill>
                  <a:latin typeface="Consolas" pitchFamily="49" charset="0"/>
                  <a:cs typeface="Consolas" pitchFamily="49" charset="0"/>
                </a:rPr>
                <a:t>1</a:t>
              </a:r>
            </a:p>
          </p:txBody>
        </p:sp>
      </p:grpSp>
      <p:sp>
        <p:nvSpPr>
          <p:cNvPr id="39" name="Text Box 41">
            <a:extLst>
              <a:ext uri="{FF2B5EF4-FFF2-40B4-BE49-F238E27FC236}">
                <a16:creationId xmlns:a16="http://schemas.microsoft.com/office/drawing/2014/main" id="{886BCDB1-3962-B590-45FB-0D2514ADB5AE}"/>
              </a:ext>
            </a:extLst>
          </p:cNvPr>
          <p:cNvSpPr txBox="1">
            <a:spLocks noChangeArrowheads="1"/>
          </p:cNvSpPr>
          <p:nvPr/>
        </p:nvSpPr>
        <p:spPr bwMode="auto">
          <a:xfrm>
            <a:off x="2712194" y="3998057"/>
            <a:ext cx="2447925" cy="1760867"/>
          </a:xfrm>
          <a:prstGeom prst="rect">
            <a:avLst/>
          </a:prstGeom>
          <a:noFill/>
          <a:ln w="28575" algn="ctr">
            <a:noFill/>
            <a:miter lim="800000"/>
            <a:headEnd/>
            <a:tailEnd/>
          </a:ln>
          <a:effectLst/>
        </p:spPr>
        <p:txBody>
          <a:bodyPr lIns="0" tIns="0" rIns="0" bIns="0">
            <a:spAutoFit/>
          </a:bodyPr>
          <a:lstStyle/>
          <a:p>
            <a:pPr>
              <a:lnSpc>
                <a:spcPts val="2800"/>
              </a:lnSpc>
              <a:spcBef>
                <a:spcPts val="0"/>
              </a:spcBef>
            </a:pPr>
            <a:r>
              <a:rPr lang="en-US" altLang="zh-CN" sz="1800" dirty="0">
                <a:latin typeface="Consolas" pitchFamily="49" charset="0"/>
                <a:ea typeface="楷体" pitchFamily="49" charset="-122"/>
                <a:cs typeface="Consolas" pitchFamily="49" charset="0"/>
              </a:rPr>
              <a:t>path[</a:t>
            </a:r>
            <a:r>
              <a:rPr lang="en-US" altLang="zh-CN" sz="1800" dirty="0">
                <a:solidFill>
                  <a:srgbClr val="FF0000"/>
                </a:solidFill>
                <a:latin typeface="Consolas" pitchFamily="49" charset="0"/>
                <a:ea typeface="楷体" pitchFamily="49" charset="-122"/>
                <a:cs typeface="Consolas" pitchFamily="49" charset="0"/>
              </a:rPr>
              <a:t>6</a:t>
            </a:r>
            <a:r>
              <a:rPr lang="en-US" altLang="zh-CN" sz="1800" dirty="0">
                <a:latin typeface="Consolas" pitchFamily="49" charset="0"/>
                <a:ea typeface="楷体" pitchFamily="49" charset="-122"/>
                <a:cs typeface="Consolas" pitchFamily="49" charset="0"/>
              </a:rPr>
              <a:t>]=</a:t>
            </a:r>
            <a:r>
              <a:rPr lang="en-US" altLang="zh-CN" sz="1800" dirty="0">
                <a:solidFill>
                  <a:srgbClr val="006600"/>
                </a:solidFill>
                <a:latin typeface="Consolas" pitchFamily="49" charset="0"/>
                <a:ea typeface="楷体" pitchFamily="49" charset="-122"/>
                <a:cs typeface="Consolas" pitchFamily="49" charset="0"/>
              </a:rPr>
              <a:t>4</a:t>
            </a:r>
          </a:p>
          <a:p>
            <a:pPr>
              <a:lnSpc>
                <a:spcPts val="2800"/>
              </a:lnSpc>
              <a:spcBef>
                <a:spcPts val="0"/>
              </a:spcBef>
            </a:pPr>
            <a:r>
              <a:rPr lang="en-US" altLang="zh-CN" sz="1800" dirty="0">
                <a:latin typeface="Consolas" pitchFamily="49" charset="0"/>
                <a:ea typeface="楷体" pitchFamily="49" charset="-122"/>
                <a:cs typeface="Consolas" pitchFamily="49" charset="0"/>
              </a:rPr>
              <a:t>path[</a:t>
            </a:r>
            <a:r>
              <a:rPr lang="en-US" altLang="zh-CN" sz="1800" dirty="0">
                <a:solidFill>
                  <a:srgbClr val="006600"/>
                </a:solidFill>
                <a:latin typeface="Consolas" pitchFamily="49" charset="0"/>
                <a:ea typeface="楷体" pitchFamily="49" charset="-122"/>
                <a:cs typeface="Consolas" pitchFamily="49" charset="0"/>
              </a:rPr>
              <a:t>4</a:t>
            </a:r>
            <a:r>
              <a:rPr lang="en-US" altLang="zh-CN" sz="1800" dirty="0">
                <a:latin typeface="Consolas" pitchFamily="49" charset="0"/>
                <a:ea typeface="楷体" pitchFamily="49" charset="-122"/>
                <a:cs typeface="Consolas" pitchFamily="49" charset="0"/>
              </a:rPr>
              <a:t>]=</a:t>
            </a:r>
            <a:r>
              <a:rPr lang="en-US" altLang="zh-CN" sz="1800" dirty="0">
                <a:solidFill>
                  <a:srgbClr val="C00000"/>
                </a:solidFill>
                <a:latin typeface="Consolas" pitchFamily="49" charset="0"/>
                <a:ea typeface="楷体" pitchFamily="49" charset="-122"/>
                <a:cs typeface="Consolas" pitchFamily="49" charset="0"/>
              </a:rPr>
              <a:t>5</a:t>
            </a:r>
          </a:p>
          <a:p>
            <a:pPr>
              <a:lnSpc>
                <a:spcPts val="2800"/>
              </a:lnSpc>
              <a:spcBef>
                <a:spcPts val="0"/>
              </a:spcBef>
            </a:pPr>
            <a:r>
              <a:rPr lang="en-US" altLang="zh-CN" sz="1800" dirty="0">
                <a:latin typeface="Consolas" pitchFamily="49" charset="0"/>
                <a:ea typeface="楷体" pitchFamily="49" charset="-122"/>
                <a:cs typeface="Consolas" pitchFamily="49" charset="0"/>
              </a:rPr>
              <a:t>path[</a:t>
            </a:r>
            <a:r>
              <a:rPr lang="en-US" altLang="zh-CN" sz="1800" dirty="0">
                <a:solidFill>
                  <a:srgbClr val="C00000"/>
                </a:solidFill>
                <a:latin typeface="Consolas" pitchFamily="49" charset="0"/>
                <a:ea typeface="楷体" pitchFamily="49" charset="-122"/>
                <a:cs typeface="Consolas" pitchFamily="49" charset="0"/>
              </a:rPr>
              <a:t>5</a:t>
            </a:r>
            <a:r>
              <a:rPr lang="en-US" altLang="zh-CN" sz="1800" dirty="0">
                <a:latin typeface="Consolas" pitchFamily="49" charset="0"/>
                <a:ea typeface="楷体" pitchFamily="49" charset="-122"/>
                <a:cs typeface="Consolas" pitchFamily="49" charset="0"/>
              </a:rPr>
              <a:t>]=</a:t>
            </a:r>
            <a:r>
              <a:rPr lang="en-US" altLang="zh-CN" sz="1800" dirty="0">
                <a:solidFill>
                  <a:srgbClr val="FF00FF"/>
                </a:solidFill>
                <a:latin typeface="Consolas" pitchFamily="49" charset="0"/>
                <a:ea typeface="楷体" pitchFamily="49" charset="-122"/>
                <a:cs typeface="Consolas" pitchFamily="49" charset="0"/>
              </a:rPr>
              <a:t>2</a:t>
            </a:r>
          </a:p>
          <a:p>
            <a:pPr>
              <a:lnSpc>
                <a:spcPts val="2800"/>
              </a:lnSpc>
              <a:spcBef>
                <a:spcPts val="0"/>
              </a:spcBef>
            </a:pPr>
            <a:r>
              <a:rPr lang="en-US" altLang="zh-CN" sz="1800" dirty="0">
                <a:latin typeface="Consolas" pitchFamily="49" charset="0"/>
                <a:ea typeface="楷体" pitchFamily="49" charset="-122"/>
                <a:cs typeface="Consolas" pitchFamily="49" charset="0"/>
              </a:rPr>
              <a:t>path[</a:t>
            </a:r>
            <a:r>
              <a:rPr lang="en-US" altLang="zh-CN" sz="1800" dirty="0">
                <a:solidFill>
                  <a:srgbClr val="FF00FF"/>
                </a:solidFill>
                <a:latin typeface="Consolas" pitchFamily="49" charset="0"/>
                <a:ea typeface="楷体" pitchFamily="49" charset="-122"/>
                <a:cs typeface="Consolas" pitchFamily="49" charset="0"/>
              </a:rPr>
              <a:t>2</a:t>
            </a:r>
            <a:r>
              <a:rPr lang="en-US" altLang="zh-CN" sz="1800" dirty="0">
                <a:latin typeface="Consolas" pitchFamily="49" charset="0"/>
                <a:ea typeface="楷体" pitchFamily="49" charset="-122"/>
                <a:cs typeface="Consolas" pitchFamily="49" charset="0"/>
              </a:rPr>
              <a:t>]=</a:t>
            </a:r>
            <a:r>
              <a:rPr lang="en-US" altLang="zh-CN" sz="1800" dirty="0">
                <a:solidFill>
                  <a:srgbClr val="002060"/>
                </a:solidFill>
                <a:latin typeface="Consolas" pitchFamily="49" charset="0"/>
                <a:ea typeface="楷体" pitchFamily="49" charset="-122"/>
                <a:cs typeface="Consolas" pitchFamily="49" charset="0"/>
              </a:rPr>
              <a:t>1</a:t>
            </a:r>
          </a:p>
          <a:p>
            <a:pPr>
              <a:lnSpc>
                <a:spcPts val="2800"/>
              </a:lnSpc>
              <a:spcBef>
                <a:spcPts val="0"/>
              </a:spcBef>
            </a:pPr>
            <a:r>
              <a:rPr lang="en-US" altLang="zh-CN" sz="1800" dirty="0">
                <a:latin typeface="Consolas" pitchFamily="49" charset="0"/>
                <a:ea typeface="楷体" pitchFamily="49" charset="-122"/>
                <a:cs typeface="Consolas" pitchFamily="49" charset="0"/>
              </a:rPr>
              <a:t>path[</a:t>
            </a:r>
            <a:r>
              <a:rPr lang="en-US" altLang="zh-CN" sz="1800" dirty="0">
                <a:solidFill>
                  <a:srgbClr val="002060"/>
                </a:solidFill>
                <a:latin typeface="Consolas" pitchFamily="49" charset="0"/>
                <a:ea typeface="楷体" pitchFamily="49" charset="-122"/>
                <a:cs typeface="Consolas" pitchFamily="49" charset="0"/>
              </a:rPr>
              <a:t>1</a:t>
            </a:r>
            <a:r>
              <a:rPr lang="en-US" altLang="zh-CN" sz="1800" dirty="0">
                <a:latin typeface="Consolas" pitchFamily="49" charset="0"/>
                <a:ea typeface="楷体" pitchFamily="49" charset="-122"/>
                <a:cs typeface="Consolas" pitchFamily="49" charset="0"/>
              </a:rPr>
              <a:t>]=</a:t>
            </a:r>
            <a:r>
              <a:rPr lang="en-US" altLang="zh-CN" sz="1800" dirty="0">
                <a:solidFill>
                  <a:srgbClr val="FF0000"/>
                </a:solidFill>
                <a:latin typeface="Consolas" pitchFamily="49" charset="0"/>
                <a:ea typeface="楷体" pitchFamily="49" charset="-122"/>
                <a:cs typeface="Consolas" pitchFamily="49" charset="0"/>
              </a:rPr>
              <a:t>0</a:t>
            </a:r>
            <a:r>
              <a:rPr lang="zh-CN" altLang="en-US" sz="1800" dirty="0">
                <a:latin typeface="Consolas" pitchFamily="49" charset="0"/>
                <a:ea typeface="楷体" pitchFamily="49" charset="-122"/>
                <a:cs typeface="Consolas" pitchFamily="49" charset="0"/>
              </a:rPr>
              <a:t>到源点</a:t>
            </a:r>
          </a:p>
        </p:txBody>
      </p:sp>
      <p:grpSp>
        <p:nvGrpSpPr>
          <p:cNvPr id="40" name="组合 48">
            <a:extLst>
              <a:ext uri="{FF2B5EF4-FFF2-40B4-BE49-F238E27FC236}">
                <a16:creationId xmlns:a16="http://schemas.microsoft.com/office/drawing/2014/main" id="{774F69F8-384E-A11F-47B2-928F148F41E3}"/>
              </a:ext>
            </a:extLst>
          </p:cNvPr>
          <p:cNvGrpSpPr/>
          <p:nvPr/>
        </p:nvGrpSpPr>
        <p:grpSpPr>
          <a:xfrm>
            <a:off x="4956908" y="4005988"/>
            <a:ext cx="3241674" cy="1643074"/>
            <a:chOff x="3000364" y="3409966"/>
            <a:chExt cx="3241674" cy="1643074"/>
          </a:xfrm>
        </p:grpSpPr>
        <p:sp>
          <p:nvSpPr>
            <p:cNvPr id="41" name="Text Box 42">
              <a:extLst>
                <a:ext uri="{FF2B5EF4-FFF2-40B4-BE49-F238E27FC236}">
                  <a16:creationId xmlns:a16="http://schemas.microsoft.com/office/drawing/2014/main" id="{158E48FA-268E-FED9-F277-E2213D6852F0}"/>
                </a:ext>
              </a:extLst>
            </p:cNvPr>
            <p:cNvSpPr txBox="1">
              <a:spLocks noChangeArrowheads="1"/>
            </p:cNvSpPr>
            <p:nvPr/>
          </p:nvSpPr>
          <p:spPr bwMode="auto">
            <a:xfrm>
              <a:off x="3419475" y="4122760"/>
              <a:ext cx="2822563" cy="307777"/>
            </a:xfrm>
            <a:prstGeom prst="rect">
              <a:avLst/>
            </a:prstGeom>
            <a:noFill/>
            <a:ln w="28575" algn="ctr">
              <a:noFill/>
              <a:miter lim="800000"/>
              <a:headEnd/>
              <a:tailEnd/>
            </a:ln>
            <a:effectLst/>
          </p:spPr>
          <p:txBody>
            <a:bodyPr wrap="square" lIns="0" tIns="0" rIns="0" bIns="0">
              <a:spAutoFit/>
            </a:bodyPr>
            <a:lstStyle/>
            <a:p>
              <a:r>
                <a:rPr lang="zh-CN" altLang="en-US" sz="2000" dirty="0">
                  <a:latin typeface="Consolas" pitchFamily="49" charset="0"/>
                  <a:ea typeface="仿宋" pitchFamily="49" charset="-122"/>
                  <a:cs typeface="Consolas" pitchFamily="49" charset="0"/>
                </a:rPr>
                <a:t>最短路径为：</a:t>
              </a:r>
              <a:r>
                <a:rPr lang="en-US" altLang="zh-CN" sz="2000" dirty="0">
                  <a:latin typeface="Consolas" pitchFamily="49" charset="0"/>
                  <a:ea typeface="仿宋" pitchFamily="49" charset="-122"/>
                  <a:cs typeface="Consolas" pitchFamily="49" charset="0"/>
                </a:rPr>
                <a:t>0</a:t>
              </a:r>
              <a:r>
                <a:rPr lang="en-US" altLang="zh-CN" sz="2000">
                  <a:latin typeface="Consolas" pitchFamily="49" charset="0"/>
                  <a:ea typeface="仿宋" pitchFamily="49" charset="-122"/>
                  <a:cs typeface="Consolas" pitchFamily="49" charset="0"/>
                </a:rPr>
                <a:t>→1→2→5→</a:t>
              </a:r>
              <a:r>
                <a:rPr lang="en-US" altLang="zh-CN" sz="2000" dirty="0">
                  <a:latin typeface="Consolas" pitchFamily="49" charset="0"/>
                  <a:ea typeface="仿宋" pitchFamily="49" charset="-122"/>
                  <a:cs typeface="Consolas" pitchFamily="49" charset="0"/>
                </a:rPr>
                <a:t>4</a:t>
              </a:r>
            </a:p>
          </p:txBody>
        </p:sp>
        <p:sp>
          <p:nvSpPr>
            <p:cNvPr id="42" name="右大括号 41">
              <a:extLst>
                <a:ext uri="{FF2B5EF4-FFF2-40B4-BE49-F238E27FC236}">
                  <a16:creationId xmlns:a16="http://schemas.microsoft.com/office/drawing/2014/main" id="{093B1756-7AF3-3EFA-BDF7-C8FE15F80E4E}"/>
                </a:ext>
              </a:extLst>
            </p:cNvPr>
            <p:cNvSpPr/>
            <p:nvPr/>
          </p:nvSpPr>
          <p:spPr>
            <a:xfrm>
              <a:off x="3000364" y="3409966"/>
              <a:ext cx="252000" cy="1643074"/>
            </a:xfrm>
            <a:prstGeom prst="rightBrace">
              <a:avLst/>
            </a:prstGeom>
            <a:ln/>
          </p:spPr>
          <p:style>
            <a:lnRef idx="2">
              <a:schemeClr val="accent5"/>
            </a:lnRef>
            <a:fillRef idx="0">
              <a:schemeClr val="accent5"/>
            </a:fillRef>
            <a:effectRef idx="1">
              <a:schemeClr val="accent5"/>
            </a:effectRef>
            <a:fontRef idx="minor">
              <a:schemeClr val="tx1"/>
            </a:fontRef>
          </p:style>
          <p:txBody>
            <a:bodyPr rtlCol="0" anchor="ctr"/>
            <a:lstStyle/>
            <a:p>
              <a:pPr algn="ctr"/>
              <a:endParaRPr lang="zh-CN" altLang="en-US">
                <a:latin typeface="Consolas" pitchFamily="49" charset="0"/>
                <a:cs typeface="Consolas" pitchFamily="49" charset="0"/>
              </a:endParaRPr>
            </a:p>
          </p:txBody>
        </p:sp>
      </p:grpSp>
      <p:sp>
        <p:nvSpPr>
          <p:cNvPr id="43" name="TextBox 38">
            <a:extLst>
              <a:ext uri="{FF2B5EF4-FFF2-40B4-BE49-F238E27FC236}">
                <a16:creationId xmlns:a16="http://schemas.microsoft.com/office/drawing/2014/main" id="{CF2DCC94-55D4-FEEB-A353-2EFFE4F408BD}"/>
              </a:ext>
            </a:extLst>
          </p:cNvPr>
          <p:cNvSpPr txBox="1"/>
          <p:nvPr/>
        </p:nvSpPr>
        <p:spPr>
          <a:xfrm>
            <a:off x="2242264" y="2795233"/>
            <a:ext cx="3670302" cy="453183"/>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08000" tIns="72000" bIns="72000" rtlCol="0">
            <a:spAutoFit/>
          </a:bodyPr>
          <a:lstStyle/>
          <a:p>
            <a:pPr>
              <a:spcBef>
                <a:spcPts val="0"/>
              </a:spcBef>
            </a:pPr>
            <a:r>
              <a:rPr lang="en-US" altLang="zh-CN" sz="2000">
                <a:latin typeface="Consolas" pitchFamily="49" charset="0"/>
                <a:ea typeface="楷体" pitchFamily="49" charset="-122"/>
                <a:cs typeface="Consolas" pitchFamily="49" charset="0"/>
                <a:sym typeface="Wingdings"/>
              </a:rPr>
              <a:t>  </a:t>
            </a:r>
            <a:r>
              <a:rPr lang="zh-CN" altLang="en-US" sz="2000">
                <a:latin typeface="Consolas" pitchFamily="49" charset="0"/>
                <a:ea typeface="楷体" pitchFamily="49" charset="-122"/>
                <a:cs typeface="Consolas" pitchFamily="49" charset="0"/>
                <a:sym typeface="Wingdings"/>
              </a:rPr>
              <a:t>求</a:t>
            </a:r>
            <a:r>
              <a:rPr lang="en-US" altLang="zh-CN" sz="2000">
                <a:latin typeface="Consolas" pitchFamily="49" charset="0"/>
                <a:ea typeface="楷体" pitchFamily="49" charset="-122"/>
                <a:cs typeface="Consolas" pitchFamily="49" charset="0"/>
              </a:rPr>
              <a:t>0 </a:t>
            </a:r>
            <a:r>
              <a:rPr lang="en-US" altLang="zh-CN" sz="2000">
                <a:solidFill>
                  <a:srgbClr val="FF00FF"/>
                </a:solidFill>
                <a:latin typeface="Consolas" pitchFamily="49" charset="0"/>
                <a:ea typeface="楷体" pitchFamily="49" charset="-122"/>
                <a:cs typeface="Consolas" pitchFamily="49" charset="0"/>
                <a:sym typeface="Wingdings"/>
              </a:rPr>
              <a:t></a:t>
            </a:r>
            <a:r>
              <a:rPr lang="en-US" altLang="zh-CN" sz="2000">
                <a:solidFill>
                  <a:srgbClr val="FF0000"/>
                </a:solidFill>
                <a:latin typeface="Consolas" pitchFamily="49" charset="0"/>
                <a:ea typeface="楷体" pitchFamily="49" charset="-122"/>
                <a:cs typeface="Consolas" pitchFamily="49" charset="0"/>
                <a:sym typeface="Wingdings"/>
              </a:rPr>
              <a:t> 6</a:t>
            </a:r>
            <a:r>
              <a:rPr lang="zh-CN" altLang="en-US" sz="2000">
                <a:latin typeface="Consolas" pitchFamily="49" charset="0"/>
                <a:ea typeface="楷体" pitchFamily="49" charset="-122"/>
                <a:cs typeface="Consolas" pitchFamily="49" charset="0"/>
                <a:sym typeface="Wingdings"/>
              </a:rPr>
              <a:t>的</a:t>
            </a:r>
            <a:r>
              <a:rPr lang="zh-CN" altLang="en-US" sz="2000">
                <a:latin typeface="Consolas" pitchFamily="49" charset="0"/>
                <a:ea typeface="楷体" pitchFamily="49" charset="-122"/>
                <a:cs typeface="Consolas" pitchFamily="49" charset="0"/>
              </a:rPr>
              <a:t>最短路径：</a:t>
            </a:r>
            <a:endParaRPr lang="zh-CN" altLang="en-US" sz="2000" dirty="0">
              <a:latin typeface="Consolas" pitchFamily="49" charset="0"/>
              <a:ea typeface="楷体" pitchFamily="49" charset="-122"/>
              <a:cs typeface="Consolas" pitchFamily="49" charset="0"/>
            </a:endParaRPr>
          </a:p>
        </p:txBody>
      </p:sp>
      <p:grpSp>
        <p:nvGrpSpPr>
          <p:cNvPr id="44" name="组合 45">
            <a:extLst>
              <a:ext uri="{FF2B5EF4-FFF2-40B4-BE49-F238E27FC236}">
                <a16:creationId xmlns:a16="http://schemas.microsoft.com/office/drawing/2014/main" id="{408F9C33-71B9-F898-E6D9-6FAF23DDFFAA}"/>
              </a:ext>
            </a:extLst>
          </p:cNvPr>
          <p:cNvGrpSpPr/>
          <p:nvPr/>
        </p:nvGrpSpPr>
        <p:grpSpPr>
          <a:xfrm>
            <a:off x="2783632" y="1520174"/>
            <a:ext cx="3986189" cy="542959"/>
            <a:chOff x="827088" y="765933"/>
            <a:chExt cx="3986189" cy="542959"/>
          </a:xfrm>
        </p:grpSpPr>
        <p:sp>
          <p:nvSpPr>
            <p:cNvPr id="45" name="Text Box 7">
              <a:extLst>
                <a:ext uri="{FF2B5EF4-FFF2-40B4-BE49-F238E27FC236}">
                  <a16:creationId xmlns:a16="http://schemas.microsoft.com/office/drawing/2014/main" id="{7332E97E-923F-4795-F86F-93D100E69079}"/>
                </a:ext>
              </a:extLst>
            </p:cNvPr>
            <p:cNvSpPr txBox="1">
              <a:spLocks noChangeArrowheads="1"/>
            </p:cNvSpPr>
            <p:nvPr/>
          </p:nvSpPr>
          <p:spPr bwMode="auto">
            <a:xfrm>
              <a:off x="827088" y="1031893"/>
              <a:ext cx="3986189" cy="276999"/>
            </a:xfrm>
            <a:prstGeom prst="rect">
              <a:avLst/>
            </a:prstGeom>
            <a:noFill/>
            <a:ln w="38100" algn="ctr">
              <a:noFill/>
              <a:miter lim="800000"/>
              <a:headEnd/>
              <a:tailEnd type="none" w="med" len="lg"/>
            </a:ln>
            <a:effectLst/>
          </p:spPr>
          <p:txBody>
            <a:bodyPr wrap="square" lIns="0" tIns="0" rIns="0" bIns="0">
              <a:spAutoFit/>
            </a:bodyPr>
            <a:lstStyle/>
            <a:p>
              <a:r>
                <a:rPr lang="en-US" altLang="zh-CN" sz="1800" dirty="0">
                  <a:latin typeface="Consolas" pitchFamily="49" charset="0"/>
                  <a:ea typeface="楷体" pitchFamily="49" charset="-122"/>
                  <a:cs typeface="Consolas" pitchFamily="49" charset="0"/>
                </a:rPr>
                <a:t>dist={</a:t>
              </a:r>
              <a:r>
                <a:rPr lang="en-US" altLang="zh-CN" sz="1800">
                  <a:latin typeface="Consolas" pitchFamily="49" charset="0"/>
                  <a:ea typeface="楷体" pitchFamily="49" charset="-122"/>
                  <a:cs typeface="Consolas" pitchFamily="49" charset="0"/>
                </a:rPr>
                <a:t>0, </a:t>
              </a:r>
              <a:r>
                <a:rPr lang="en-US" altLang="zh-CN" sz="1800" dirty="0">
                  <a:solidFill>
                    <a:srgbClr val="0000FF"/>
                  </a:solidFill>
                  <a:latin typeface="Consolas" pitchFamily="49" charset="0"/>
                  <a:ea typeface="楷体" pitchFamily="49" charset="-122"/>
                  <a:cs typeface="Consolas" pitchFamily="49" charset="0"/>
                </a:rPr>
                <a:t>4,</a:t>
              </a:r>
              <a:r>
                <a:rPr lang="en-US" altLang="zh-CN" sz="1800" dirty="0">
                  <a:solidFill>
                    <a:srgbClr val="FF3300"/>
                  </a:solidFill>
                  <a:latin typeface="Consolas" pitchFamily="49" charset="0"/>
                  <a:ea typeface="楷体" pitchFamily="49" charset="-122"/>
                  <a:cs typeface="Consolas" pitchFamily="49" charset="0"/>
                </a:rPr>
                <a:t> </a:t>
              </a:r>
              <a:r>
                <a:rPr lang="en-US" altLang="zh-CN" sz="1800" dirty="0">
                  <a:latin typeface="Consolas" pitchFamily="49" charset="0"/>
                  <a:ea typeface="楷体" pitchFamily="49" charset="-122"/>
                  <a:cs typeface="Consolas" pitchFamily="49" charset="0"/>
                </a:rPr>
                <a:t>5, 6, 10</a:t>
              </a:r>
              <a:r>
                <a:rPr lang="en-US" altLang="zh-CN" sz="1800" dirty="0">
                  <a:solidFill>
                    <a:srgbClr val="6600CC"/>
                  </a:solidFill>
                  <a:latin typeface="Consolas" pitchFamily="49" charset="0"/>
                  <a:ea typeface="楷体" pitchFamily="49" charset="-122"/>
                  <a:cs typeface="Consolas" pitchFamily="49" charset="0"/>
                </a:rPr>
                <a:t>, </a:t>
              </a:r>
              <a:r>
                <a:rPr lang="en-US" altLang="zh-CN" sz="1800" dirty="0">
                  <a:latin typeface="Consolas" pitchFamily="49" charset="0"/>
                  <a:ea typeface="楷体" pitchFamily="49" charset="-122"/>
                  <a:cs typeface="Consolas" pitchFamily="49" charset="0"/>
                </a:rPr>
                <a:t>9,</a:t>
              </a:r>
              <a:r>
                <a:rPr lang="en-US" altLang="zh-CN" sz="1800" dirty="0">
                  <a:solidFill>
                    <a:srgbClr val="6600CC"/>
                  </a:solidFill>
                  <a:latin typeface="Consolas" pitchFamily="49" charset="0"/>
                  <a:ea typeface="楷体" pitchFamily="49" charset="-122"/>
                  <a:cs typeface="Consolas" pitchFamily="49" charset="0"/>
                </a:rPr>
                <a:t> </a:t>
              </a:r>
              <a:r>
                <a:rPr lang="en-US" altLang="zh-CN" sz="1800" dirty="0">
                  <a:latin typeface="Consolas" pitchFamily="49" charset="0"/>
                  <a:ea typeface="楷体" pitchFamily="49" charset="-122"/>
                  <a:cs typeface="Consolas" pitchFamily="49" charset="0"/>
                </a:rPr>
                <a:t>16}</a:t>
              </a:r>
            </a:p>
          </p:txBody>
        </p:sp>
        <p:sp>
          <p:nvSpPr>
            <p:cNvPr id="46" name="TextBox 39">
              <a:extLst>
                <a:ext uri="{FF2B5EF4-FFF2-40B4-BE49-F238E27FC236}">
                  <a16:creationId xmlns:a16="http://schemas.microsoft.com/office/drawing/2014/main" id="{7B31F81E-C85F-F078-A668-0E9BBAB59E17}"/>
                </a:ext>
              </a:extLst>
            </p:cNvPr>
            <p:cNvSpPr txBox="1"/>
            <p:nvPr/>
          </p:nvSpPr>
          <p:spPr>
            <a:xfrm>
              <a:off x="1484267" y="765933"/>
              <a:ext cx="3000396" cy="380344"/>
            </a:xfrm>
            <a:prstGeom prst="rect">
              <a:avLst/>
            </a:prstGeom>
            <a:noFill/>
          </p:spPr>
          <p:txBody>
            <a:bodyPr wrap="square" rtlCol="0">
              <a:noAutofit/>
            </a:bodyPr>
            <a:lstStyle/>
            <a:p>
              <a:pPr>
                <a:lnSpc>
                  <a:spcPts val="2000"/>
                </a:lnSpc>
                <a:spcBef>
                  <a:spcPts val="0"/>
                </a:spcBef>
              </a:pPr>
              <a:r>
                <a:rPr lang="en-US" altLang="zh-CN" sz="1600">
                  <a:solidFill>
                    <a:srgbClr val="00B0F0"/>
                  </a:solidFill>
                  <a:latin typeface="Consolas" pitchFamily="49" charset="0"/>
                  <a:cs typeface="Consolas" pitchFamily="49" charset="0"/>
                </a:rPr>
                <a:t>0 </a:t>
              </a:r>
              <a:r>
                <a:rPr lang="en-US" altLang="zh-CN">
                  <a:solidFill>
                    <a:srgbClr val="00B0F0"/>
                  </a:solidFill>
                  <a:latin typeface="Consolas" pitchFamily="49" charset="0"/>
                  <a:cs typeface="Consolas" pitchFamily="49" charset="0"/>
                </a:rPr>
                <a:t> </a:t>
              </a:r>
              <a:r>
                <a:rPr lang="en-US" altLang="zh-CN" sz="1600">
                  <a:solidFill>
                    <a:srgbClr val="00B0F0"/>
                  </a:solidFill>
                  <a:latin typeface="Consolas" pitchFamily="49" charset="0"/>
                  <a:cs typeface="Consolas" pitchFamily="49" charset="0"/>
                </a:rPr>
                <a:t>1</a:t>
              </a:r>
              <a:r>
                <a:rPr lang="en-US" altLang="zh-CN" sz="2000">
                  <a:solidFill>
                    <a:srgbClr val="00B0F0"/>
                  </a:solidFill>
                  <a:latin typeface="Consolas" pitchFamily="49" charset="0"/>
                  <a:cs typeface="Consolas" pitchFamily="49" charset="0"/>
                </a:rPr>
                <a:t> </a:t>
              </a:r>
              <a:r>
                <a:rPr lang="en-US" altLang="zh-CN" sz="1600">
                  <a:solidFill>
                    <a:srgbClr val="00B0F0"/>
                  </a:solidFill>
                  <a:latin typeface="Consolas" pitchFamily="49" charset="0"/>
                  <a:cs typeface="Consolas" pitchFamily="49" charset="0"/>
                </a:rPr>
                <a:t> </a:t>
              </a:r>
              <a:r>
                <a:rPr lang="en-US" altLang="zh-CN" sz="1600" dirty="0">
                  <a:solidFill>
                    <a:srgbClr val="00B0F0"/>
                  </a:solidFill>
                  <a:latin typeface="Consolas" pitchFamily="49" charset="0"/>
                  <a:cs typeface="Consolas" pitchFamily="49" charset="0"/>
                </a:rPr>
                <a:t>2 </a:t>
              </a:r>
              <a:r>
                <a:rPr lang="en-US" altLang="zh-CN" sz="2000" dirty="0">
                  <a:solidFill>
                    <a:srgbClr val="00B0F0"/>
                  </a:solidFill>
                  <a:latin typeface="Consolas" pitchFamily="49" charset="0"/>
                  <a:cs typeface="Consolas" pitchFamily="49" charset="0"/>
                </a:rPr>
                <a:t> </a:t>
              </a:r>
              <a:r>
                <a:rPr lang="en-US" altLang="zh-CN" sz="1600">
                  <a:solidFill>
                    <a:srgbClr val="00B0F0"/>
                  </a:solidFill>
                  <a:latin typeface="Consolas" pitchFamily="49" charset="0"/>
                  <a:cs typeface="Consolas" pitchFamily="49" charset="0"/>
                </a:rPr>
                <a:t>3 </a:t>
              </a:r>
              <a:r>
                <a:rPr lang="en-US" altLang="zh-CN">
                  <a:solidFill>
                    <a:srgbClr val="00B0F0"/>
                  </a:solidFill>
                  <a:latin typeface="Consolas" pitchFamily="49" charset="0"/>
                  <a:cs typeface="Consolas" pitchFamily="49" charset="0"/>
                </a:rPr>
                <a:t> </a:t>
              </a:r>
              <a:r>
                <a:rPr lang="en-US" altLang="zh-CN" sz="1600">
                  <a:solidFill>
                    <a:srgbClr val="00B0F0"/>
                  </a:solidFill>
                  <a:latin typeface="Consolas" pitchFamily="49" charset="0"/>
                  <a:cs typeface="Consolas" pitchFamily="49" charset="0"/>
                </a:rPr>
                <a:t>4 </a:t>
              </a:r>
              <a:r>
                <a:rPr lang="en-US" altLang="zh-CN">
                  <a:solidFill>
                    <a:srgbClr val="00B0F0"/>
                  </a:solidFill>
                  <a:latin typeface="Consolas" pitchFamily="49" charset="0"/>
                  <a:cs typeface="Consolas" pitchFamily="49" charset="0"/>
                </a:rPr>
                <a:t> </a:t>
              </a:r>
              <a:r>
                <a:rPr lang="en-US" altLang="zh-CN" sz="1600">
                  <a:solidFill>
                    <a:srgbClr val="00B0F0"/>
                  </a:solidFill>
                  <a:latin typeface="Consolas" pitchFamily="49" charset="0"/>
                  <a:cs typeface="Consolas" pitchFamily="49" charset="0"/>
                </a:rPr>
                <a:t> 5 </a:t>
              </a:r>
              <a:r>
                <a:rPr lang="en-US" altLang="zh-CN" sz="2800">
                  <a:solidFill>
                    <a:srgbClr val="00B0F0"/>
                  </a:solidFill>
                  <a:latin typeface="Consolas" pitchFamily="49" charset="0"/>
                  <a:cs typeface="Consolas" pitchFamily="49" charset="0"/>
                </a:rPr>
                <a:t> </a:t>
              </a:r>
              <a:r>
                <a:rPr lang="en-US" altLang="zh-CN" sz="1600">
                  <a:solidFill>
                    <a:srgbClr val="00B0F0"/>
                  </a:solidFill>
                  <a:latin typeface="Consolas" pitchFamily="49" charset="0"/>
                  <a:cs typeface="Consolas" pitchFamily="49" charset="0"/>
                </a:rPr>
                <a:t>6</a:t>
              </a:r>
              <a:endParaRPr lang="zh-CN" altLang="en-US" sz="1600" dirty="0">
                <a:solidFill>
                  <a:srgbClr val="00B0F0"/>
                </a:solidFill>
                <a:latin typeface="Consolas" pitchFamily="49" charset="0"/>
                <a:cs typeface="Consolas" pitchFamily="49" charset="0"/>
              </a:endParaRPr>
            </a:p>
          </p:txBody>
        </p:sp>
      </p:grpSp>
      <p:grpSp>
        <p:nvGrpSpPr>
          <p:cNvPr id="47" name="组合 46">
            <a:extLst>
              <a:ext uri="{FF2B5EF4-FFF2-40B4-BE49-F238E27FC236}">
                <a16:creationId xmlns:a16="http://schemas.microsoft.com/office/drawing/2014/main" id="{33AD62F5-2D91-0459-49CA-C1E924B7B8FC}"/>
              </a:ext>
            </a:extLst>
          </p:cNvPr>
          <p:cNvGrpSpPr/>
          <p:nvPr/>
        </p:nvGrpSpPr>
        <p:grpSpPr>
          <a:xfrm>
            <a:off x="4626682" y="2091695"/>
            <a:ext cx="3786214" cy="523203"/>
            <a:chOff x="1714480" y="1337454"/>
            <a:chExt cx="3786214" cy="523203"/>
          </a:xfrm>
        </p:grpSpPr>
        <p:sp>
          <p:nvSpPr>
            <p:cNvPr id="48" name="Text Box 40">
              <a:extLst>
                <a:ext uri="{FF2B5EF4-FFF2-40B4-BE49-F238E27FC236}">
                  <a16:creationId xmlns:a16="http://schemas.microsoft.com/office/drawing/2014/main" id="{91CE8265-6DAD-6C39-175E-3224072F0EF0}"/>
                </a:ext>
              </a:extLst>
            </p:cNvPr>
            <p:cNvSpPr txBox="1">
              <a:spLocks noChangeArrowheads="1"/>
            </p:cNvSpPr>
            <p:nvPr/>
          </p:nvSpPr>
          <p:spPr bwMode="auto">
            <a:xfrm>
              <a:off x="1714480" y="1680736"/>
              <a:ext cx="3786214" cy="179921"/>
            </a:xfrm>
            <a:prstGeom prst="rect">
              <a:avLst/>
            </a:prstGeom>
            <a:noFill/>
            <a:ln w="28575" algn="ctr">
              <a:noFill/>
              <a:miter lim="800000"/>
              <a:headEnd/>
              <a:tailEnd/>
            </a:ln>
            <a:effectLst/>
          </p:spPr>
          <p:txBody>
            <a:bodyPr wrap="square" lIns="0" tIns="0" rIns="0" bIns="0">
              <a:spAutoFit/>
            </a:bodyPr>
            <a:lstStyle/>
            <a:p>
              <a:pPr>
                <a:lnSpc>
                  <a:spcPct val="60000"/>
                </a:lnSpc>
              </a:pPr>
              <a:r>
                <a:rPr lang="zh-CN" altLang="en-US" sz="1800" dirty="0">
                  <a:latin typeface="Consolas" pitchFamily="49" charset="0"/>
                  <a:ea typeface="仿宋" pitchFamily="49" charset="-122"/>
                  <a:cs typeface="Consolas" pitchFamily="49" charset="0"/>
                </a:rPr>
                <a:t>从</a:t>
              </a:r>
              <a:r>
                <a:rPr lang="zh-CN" altLang="en-US" sz="1800">
                  <a:latin typeface="Consolas" pitchFamily="49" charset="0"/>
                  <a:ea typeface="仿宋" pitchFamily="49" charset="-122"/>
                  <a:cs typeface="Consolas" pitchFamily="49" charset="0"/>
                </a:rPr>
                <a:t>顶点</a:t>
              </a:r>
              <a:r>
                <a:rPr lang="en-US" altLang="zh-CN" sz="1800">
                  <a:latin typeface="Consolas" pitchFamily="49" charset="0"/>
                  <a:ea typeface="仿宋" pitchFamily="49" charset="-122"/>
                  <a:cs typeface="Consolas" pitchFamily="49" charset="0"/>
                </a:rPr>
                <a:t>0</a:t>
              </a:r>
              <a:r>
                <a:rPr lang="en-US" altLang="zh-CN" sz="1800">
                  <a:solidFill>
                    <a:srgbClr val="FF00FF"/>
                  </a:solidFill>
                  <a:latin typeface="Consolas" pitchFamily="49" charset="0"/>
                  <a:ea typeface="仿宋" pitchFamily="49" charset="-122"/>
                  <a:cs typeface="Consolas" pitchFamily="49" charset="0"/>
                  <a:sym typeface="Wingdings"/>
                </a:rPr>
                <a:t> </a:t>
              </a:r>
              <a:r>
                <a:rPr lang="en-US" altLang="zh-CN" sz="1800">
                  <a:latin typeface="Consolas" pitchFamily="49" charset="0"/>
                  <a:ea typeface="仿宋" pitchFamily="49" charset="-122"/>
                  <a:cs typeface="Consolas" pitchFamily="49" charset="0"/>
                </a:rPr>
                <a:t>6</a:t>
              </a:r>
              <a:r>
                <a:rPr lang="zh-CN" altLang="en-US" sz="1800" dirty="0">
                  <a:latin typeface="Consolas" pitchFamily="49" charset="0"/>
                  <a:ea typeface="仿宋" pitchFamily="49" charset="-122"/>
                  <a:cs typeface="Consolas" pitchFamily="49" charset="0"/>
                </a:rPr>
                <a:t>的最短路径长度为</a:t>
              </a:r>
              <a:r>
                <a:rPr lang="en-US" altLang="zh-CN" sz="1800" dirty="0">
                  <a:latin typeface="Consolas" pitchFamily="49" charset="0"/>
                  <a:ea typeface="仿宋" pitchFamily="49" charset="-122"/>
                  <a:cs typeface="Consolas" pitchFamily="49" charset="0"/>
                </a:rPr>
                <a:t>16</a:t>
              </a:r>
              <a:endParaRPr lang="zh-CN" altLang="en-US" sz="1800" dirty="0">
                <a:latin typeface="Consolas" pitchFamily="49" charset="0"/>
                <a:ea typeface="仿宋" pitchFamily="49" charset="-122"/>
                <a:cs typeface="Consolas" pitchFamily="49" charset="0"/>
              </a:endParaRPr>
            </a:p>
          </p:txBody>
        </p:sp>
        <p:cxnSp>
          <p:nvCxnSpPr>
            <p:cNvPr id="49" name="直接箭头连接符 48">
              <a:extLst>
                <a:ext uri="{FF2B5EF4-FFF2-40B4-BE49-F238E27FC236}">
                  <a16:creationId xmlns:a16="http://schemas.microsoft.com/office/drawing/2014/main" id="{AEE79770-82E8-A8CF-AF82-CD3BFC973A9E}"/>
                </a:ext>
              </a:extLst>
            </p:cNvPr>
            <p:cNvCxnSpPr/>
            <p:nvPr/>
          </p:nvCxnSpPr>
          <p:spPr>
            <a:xfrm rot="5400000" flipH="1" flipV="1">
              <a:off x="2991656" y="1480660"/>
              <a:ext cx="288000" cy="1588"/>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grpSp>
      <p:grpSp>
        <p:nvGrpSpPr>
          <p:cNvPr id="50" name="组合 47">
            <a:extLst>
              <a:ext uri="{FF2B5EF4-FFF2-40B4-BE49-F238E27FC236}">
                <a16:creationId xmlns:a16="http://schemas.microsoft.com/office/drawing/2014/main" id="{057B8930-1D88-9E18-E9B7-7EA041BD0591}"/>
              </a:ext>
            </a:extLst>
          </p:cNvPr>
          <p:cNvGrpSpPr/>
          <p:nvPr/>
        </p:nvGrpSpPr>
        <p:grpSpPr>
          <a:xfrm>
            <a:off x="2683568" y="3257840"/>
            <a:ext cx="3514750" cy="586563"/>
            <a:chOff x="771498" y="2161752"/>
            <a:chExt cx="3514750" cy="586563"/>
          </a:xfrm>
        </p:grpSpPr>
        <p:sp>
          <p:nvSpPr>
            <p:cNvPr id="51" name="Text Box 7">
              <a:extLst>
                <a:ext uri="{FF2B5EF4-FFF2-40B4-BE49-F238E27FC236}">
                  <a16:creationId xmlns:a16="http://schemas.microsoft.com/office/drawing/2014/main" id="{61243249-72AC-D3DE-D643-34B04EF6C38C}"/>
                </a:ext>
              </a:extLst>
            </p:cNvPr>
            <p:cNvSpPr txBox="1">
              <a:spLocks noChangeArrowheads="1"/>
            </p:cNvSpPr>
            <p:nvPr/>
          </p:nvSpPr>
          <p:spPr bwMode="auto">
            <a:xfrm>
              <a:off x="771498" y="2471316"/>
              <a:ext cx="3514750" cy="276999"/>
            </a:xfrm>
            <a:prstGeom prst="rect">
              <a:avLst/>
            </a:prstGeom>
            <a:noFill/>
            <a:ln w="38100" algn="ctr">
              <a:noFill/>
              <a:miter lim="800000"/>
              <a:headEnd/>
              <a:tailEnd type="none" w="med" len="lg"/>
            </a:ln>
            <a:effectLst/>
          </p:spPr>
          <p:txBody>
            <a:bodyPr wrap="square" lIns="0" tIns="0" rIns="0" bIns="0">
              <a:spAutoFit/>
            </a:bodyPr>
            <a:lstStyle/>
            <a:p>
              <a:r>
                <a:rPr lang="en-US" altLang="zh-CN" sz="1800" dirty="0">
                  <a:latin typeface="Consolas" pitchFamily="49" charset="0"/>
                  <a:ea typeface="楷体" pitchFamily="49" charset="-122"/>
                  <a:cs typeface="Consolas" pitchFamily="49" charset="0"/>
                </a:rPr>
                <a:t>path={0, 0, 1, 0</a:t>
              </a:r>
              <a:r>
                <a:rPr lang="en-US" altLang="zh-CN" sz="1800">
                  <a:latin typeface="Consolas" pitchFamily="49" charset="0"/>
                  <a:ea typeface="楷体" pitchFamily="49" charset="-122"/>
                  <a:cs typeface="Consolas" pitchFamily="49" charset="0"/>
                </a:rPr>
                <a:t>, 5, </a:t>
              </a:r>
              <a:r>
                <a:rPr lang="en-US" altLang="zh-CN" sz="1800" dirty="0">
                  <a:latin typeface="Consolas" pitchFamily="49" charset="0"/>
                  <a:ea typeface="楷体" pitchFamily="49" charset="-122"/>
                  <a:cs typeface="Consolas" pitchFamily="49" charset="0"/>
                </a:rPr>
                <a:t>2</a:t>
              </a:r>
              <a:r>
                <a:rPr lang="en-US" altLang="zh-CN" sz="1800">
                  <a:latin typeface="Consolas" pitchFamily="49" charset="0"/>
                  <a:ea typeface="楷体" pitchFamily="49" charset="-122"/>
                  <a:cs typeface="Consolas" pitchFamily="49" charset="0"/>
                </a:rPr>
                <a:t>, 4</a:t>
              </a:r>
              <a:r>
                <a:rPr lang="en-US" altLang="zh-CN" sz="1800" dirty="0">
                  <a:latin typeface="Consolas" pitchFamily="49" charset="0"/>
                  <a:ea typeface="楷体" pitchFamily="49" charset="-122"/>
                  <a:cs typeface="Consolas" pitchFamily="49" charset="0"/>
                </a:rPr>
                <a:t>}</a:t>
              </a:r>
            </a:p>
          </p:txBody>
        </p:sp>
        <p:sp>
          <p:nvSpPr>
            <p:cNvPr id="52" name="TextBox 44">
              <a:extLst>
                <a:ext uri="{FF2B5EF4-FFF2-40B4-BE49-F238E27FC236}">
                  <a16:creationId xmlns:a16="http://schemas.microsoft.com/office/drawing/2014/main" id="{0CDBCF16-9D58-A00D-275A-8A886AF39565}"/>
                </a:ext>
              </a:extLst>
            </p:cNvPr>
            <p:cNvSpPr txBox="1"/>
            <p:nvPr/>
          </p:nvSpPr>
          <p:spPr>
            <a:xfrm>
              <a:off x="1438253" y="2161752"/>
              <a:ext cx="2847995" cy="363882"/>
            </a:xfrm>
            <a:prstGeom prst="rect">
              <a:avLst/>
            </a:prstGeom>
            <a:noFill/>
          </p:spPr>
          <p:txBody>
            <a:bodyPr wrap="square" rtlCol="0">
              <a:spAutoFit/>
            </a:bodyPr>
            <a:lstStyle/>
            <a:p>
              <a:pPr>
                <a:lnSpc>
                  <a:spcPts val="2000"/>
                </a:lnSpc>
                <a:spcBef>
                  <a:spcPts val="0"/>
                </a:spcBef>
              </a:pPr>
              <a:r>
                <a:rPr lang="en-US" altLang="zh-CN" sz="1600">
                  <a:solidFill>
                    <a:srgbClr val="00B0F0"/>
                  </a:solidFill>
                  <a:latin typeface="Consolas" pitchFamily="49" charset="0"/>
                  <a:cs typeface="Consolas" pitchFamily="49" charset="0"/>
                </a:rPr>
                <a:t>0 </a:t>
              </a:r>
              <a:r>
                <a:rPr lang="en-US" altLang="zh-CN" sz="2000">
                  <a:solidFill>
                    <a:srgbClr val="00B0F0"/>
                  </a:solidFill>
                  <a:latin typeface="Consolas" pitchFamily="49" charset="0"/>
                  <a:cs typeface="Consolas" pitchFamily="49" charset="0"/>
                </a:rPr>
                <a:t> </a:t>
              </a:r>
              <a:r>
                <a:rPr lang="en-US" altLang="zh-CN" sz="1600">
                  <a:solidFill>
                    <a:srgbClr val="00B0F0"/>
                  </a:solidFill>
                  <a:latin typeface="Consolas" pitchFamily="49" charset="0"/>
                  <a:cs typeface="Consolas" pitchFamily="49" charset="0"/>
                </a:rPr>
                <a:t>1 </a:t>
              </a:r>
              <a:r>
                <a:rPr lang="en-US" altLang="zh-CN" sz="2000">
                  <a:solidFill>
                    <a:srgbClr val="00B0F0"/>
                  </a:solidFill>
                  <a:latin typeface="Consolas" pitchFamily="49" charset="0"/>
                  <a:cs typeface="Consolas" pitchFamily="49" charset="0"/>
                </a:rPr>
                <a:t> </a:t>
              </a:r>
              <a:r>
                <a:rPr lang="en-US" altLang="zh-CN" sz="1600" dirty="0">
                  <a:solidFill>
                    <a:srgbClr val="00B0F0"/>
                  </a:solidFill>
                  <a:latin typeface="Consolas" pitchFamily="49" charset="0"/>
                  <a:cs typeface="Consolas" pitchFamily="49" charset="0"/>
                </a:rPr>
                <a:t>2 </a:t>
              </a:r>
              <a:r>
                <a:rPr lang="en-US" altLang="zh-CN" dirty="0">
                  <a:solidFill>
                    <a:srgbClr val="00B0F0"/>
                  </a:solidFill>
                  <a:latin typeface="Consolas" pitchFamily="49" charset="0"/>
                  <a:cs typeface="Consolas" pitchFamily="49" charset="0"/>
                </a:rPr>
                <a:t> </a:t>
              </a:r>
              <a:r>
                <a:rPr lang="en-US" altLang="zh-CN" sz="1600" dirty="0">
                  <a:solidFill>
                    <a:srgbClr val="00B0F0"/>
                  </a:solidFill>
                  <a:latin typeface="Consolas" pitchFamily="49" charset="0"/>
                  <a:cs typeface="Consolas" pitchFamily="49" charset="0"/>
                </a:rPr>
                <a:t>3 </a:t>
              </a:r>
              <a:r>
                <a:rPr lang="en-US" altLang="zh-CN" sz="1200" dirty="0">
                  <a:solidFill>
                    <a:srgbClr val="00B0F0"/>
                  </a:solidFill>
                  <a:latin typeface="Consolas" pitchFamily="49" charset="0"/>
                  <a:cs typeface="Consolas" pitchFamily="49" charset="0"/>
                </a:rPr>
                <a:t>  </a:t>
              </a:r>
              <a:r>
                <a:rPr lang="en-US" altLang="zh-CN" sz="1600" dirty="0">
                  <a:solidFill>
                    <a:srgbClr val="00B0F0"/>
                  </a:solidFill>
                  <a:latin typeface="Consolas" pitchFamily="49" charset="0"/>
                  <a:cs typeface="Consolas" pitchFamily="49" charset="0"/>
                </a:rPr>
                <a:t>4 </a:t>
              </a:r>
              <a:r>
                <a:rPr lang="en-US" altLang="zh-CN" sz="1200" dirty="0">
                  <a:solidFill>
                    <a:srgbClr val="00B0F0"/>
                  </a:solidFill>
                  <a:latin typeface="Consolas" pitchFamily="49" charset="0"/>
                  <a:cs typeface="Consolas" pitchFamily="49" charset="0"/>
                </a:rPr>
                <a:t>  </a:t>
              </a:r>
              <a:r>
                <a:rPr lang="en-US" altLang="zh-CN" sz="1600" dirty="0">
                  <a:solidFill>
                    <a:srgbClr val="00B0F0"/>
                  </a:solidFill>
                  <a:latin typeface="Consolas" pitchFamily="49" charset="0"/>
                  <a:cs typeface="Consolas" pitchFamily="49" charset="0"/>
                </a:rPr>
                <a:t>5 </a:t>
              </a:r>
              <a:r>
                <a:rPr lang="en-US" altLang="zh-CN" sz="1100" dirty="0">
                  <a:solidFill>
                    <a:srgbClr val="00B0F0"/>
                  </a:solidFill>
                  <a:latin typeface="Consolas" pitchFamily="49" charset="0"/>
                  <a:cs typeface="Consolas" pitchFamily="49" charset="0"/>
                </a:rPr>
                <a:t>  </a:t>
              </a:r>
              <a:r>
                <a:rPr lang="en-US" altLang="zh-CN" sz="1600" dirty="0">
                  <a:solidFill>
                    <a:srgbClr val="00B0F0"/>
                  </a:solidFill>
                  <a:latin typeface="Consolas" pitchFamily="49" charset="0"/>
                  <a:cs typeface="Consolas" pitchFamily="49" charset="0"/>
                </a:rPr>
                <a:t>6</a:t>
              </a:r>
              <a:endParaRPr lang="zh-CN" altLang="en-US" sz="1600" dirty="0">
                <a:solidFill>
                  <a:srgbClr val="00B0F0"/>
                </a:solidFill>
                <a:latin typeface="Consolas" pitchFamily="49" charset="0"/>
                <a:cs typeface="Consolas" pitchFamily="49" charset="0"/>
              </a:endParaRPr>
            </a:p>
          </p:txBody>
        </p:sp>
      </p:grpSp>
      <p:sp>
        <p:nvSpPr>
          <p:cNvPr id="53" name="右弧形箭头 51">
            <a:extLst>
              <a:ext uri="{FF2B5EF4-FFF2-40B4-BE49-F238E27FC236}">
                <a16:creationId xmlns:a16="http://schemas.microsoft.com/office/drawing/2014/main" id="{47922D07-7991-66E1-4DF1-4CB29F2A8A3E}"/>
              </a:ext>
            </a:extLst>
          </p:cNvPr>
          <p:cNvSpPr/>
          <p:nvPr/>
        </p:nvSpPr>
        <p:spPr>
          <a:xfrm>
            <a:off x="9028874" y="4882278"/>
            <a:ext cx="285752" cy="857256"/>
          </a:xfrm>
          <a:prstGeom prst="curvedLeftArrow">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solidFill>
                <a:schemeClr val="tx1"/>
              </a:solidFill>
              <a:latin typeface="Consolas" pitchFamily="49" charset="0"/>
              <a:cs typeface="Consolas" pitchFamily="49" charset="0"/>
            </a:endParaRPr>
          </a:p>
        </p:txBody>
      </p:sp>
      <p:sp>
        <p:nvSpPr>
          <p:cNvPr id="54" name="TextBox 50">
            <a:extLst>
              <a:ext uri="{FF2B5EF4-FFF2-40B4-BE49-F238E27FC236}">
                <a16:creationId xmlns:a16="http://schemas.microsoft.com/office/drawing/2014/main" id="{2AF032BC-06C1-83B4-EB41-82FC1A6BF5D5}"/>
              </a:ext>
            </a:extLst>
          </p:cNvPr>
          <p:cNvSpPr txBox="1"/>
          <p:nvPr/>
        </p:nvSpPr>
        <p:spPr>
          <a:xfrm>
            <a:off x="1912038" y="374151"/>
            <a:ext cx="5857916" cy="400110"/>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r>
              <a:rPr lang="zh-CN" altLang="en-US" sz="2000">
                <a:solidFill>
                  <a:srgbClr val="FF0000"/>
                </a:solidFill>
                <a:latin typeface="Consolas" pitchFamily="49" charset="0"/>
                <a:ea typeface="华文中宋" pitchFamily="2" charset="-122"/>
                <a:cs typeface="Consolas" pitchFamily="49" charset="0"/>
              </a:rPr>
              <a:t>利用</a:t>
            </a:r>
            <a:r>
              <a:rPr lang="en-US" altLang="zh-CN" sz="2000">
                <a:solidFill>
                  <a:srgbClr val="FF0000"/>
                </a:solidFill>
                <a:latin typeface="Consolas" pitchFamily="49" charset="0"/>
                <a:ea typeface="华文中宋" pitchFamily="2" charset="-122"/>
                <a:cs typeface="Consolas" pitchFamily="49" charset="0"/>
              </a:rPr>
              <a:t>dist</a:t>
            </a:r>
            <a:r>
              <a:rPr lang="zh-CN" altLang="en-US" sz="2000">
                <a:solidFill>
                  <a:srgbClr val="FF0000"/>
                </a:solidFill>
                <a:latin typeface="Consolas" pitchFamily="49" charset="0"/>
                <a:ea typeface="华文中宋" pitchFamily="2" charset="-122"/>
                <a:cs typeface="Consolas" pitchFamily="49" charset="0"/>
              </a:rPr>
              <a:t>和</a:t>
            </a:r>
            <a:r>
              <a:rPr lang="en-US" altLang="zh-CN" sz="2000">
                <a:solidFill>
                  <a:srgbClr val="FF0000"/>
                </a:solidFill>
                <a:latin typeface="Consolas" pitchFamily="49" charset="0"/>
                <a:ea typeface="华文中宋" pitchFamily="2" charset="-122"/>
                <a:cs typeface="Consolas" pitchFamily="49" charset="0"/>
              </a:rPr>
              <a:t>path</a:t>
            </a:r>
            <a:r>
              <a:rPr lang="zh-CN" altLang="en-US" sz="2000">
                <a:solidFill>
                  <a:srgbClr val="FF0000"/>
                </a:solidFill>
                <a:latin typeface="Consolas" pitchFamily="49" charset="0"/>
                <a:ea typeface="华文中宋" pitchFamily="2" charset="-122"/>
                <a:cs typeface="Consolas" pitchFamily="49" charset="0"/>
              </a:rPr>
              <a:t>求最短路径长度和最短路径</a:t>
            </a:r>
          </a:p>
        </p:txBody>
      </p:sp>
    </p:spTree>
    <p:extLst>
      <p:ext uri="{BB962C8B-B14F-4D97-AF65-F5344CB8AC3E}">
        <p14:creationId xmlns:p14="http://schemas.microsoft.com/office/powerpoint/2010/main" val="362652352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9">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9">
                                            <p:txEl>
                                              <p:pRg st="1" end="1"/>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9">
                                            <p:txEl>
                                              <p:pRg st="2" end="2"/>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9">
                                            <p:txEl>
                                              <p:pRg st="3" end="3"/>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9">
                                            <p:txEl>
                                              <p:pRg st="4" end="4"/>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0"/>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53"/>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animBg="1"/>
      <p:bldP spid="53" grpId="0" animBg="1"/>
    </p:bld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5824E2-0755-8DF3-40FF-AB18CF1373DC}"/>
            </a:ext>
          </a:extLst>
        </p:cNvPr>
        <p:cNvGrpSpPr/>
        <p:nvPr/>
      </p:nvGrpSpPr>
      <p:grpSpPr>
        <a:xfrm>
          <a:off x="0" y="0"/>
          <a:ext cx="0" cy="0"/>
          <a:chOff x="0" y="0"/>
          <a:chExt cx="0" cy="0"/>
        </a:xfrm>
      </p:grpSpPr>
      <p:sp>
        <p:nvSpPr>
          <p:cNvPr id="2" name="Text Box 66">
            <a:extLst>
              <a:ext uri="{FF2B5EF4-FFF2-40B4-BE49-F238E27FC236}">
                <a16:creationId xmlns:a16="http://schemas.microsoft.com/office/drawing/2014/main" id="{EAC16C3F-2F5B-2368-3396-FA29CCBCDC8A}"/>
              </a:ext>
            </a:extLst>
          </p:cNvPr>
          <p:cNvSpPr txBox="1">
            <a:spLocks noChangeArrowheads="1"/>
          </p:cNvSpPr>
          <p:nvPr/>
        </p:nvSpPr>
        <p:spPr bwMode="auto">
          <a:xfrm>
            <a:off x="2569888" y="2422704"/>
            <a:ext cx="3071834" cy="276999"/>
          </a:xfrm>
          <a:prstGeom prst="rect">
            <a:avLst/>
          </a:prstGeom>
          <a:noFill/>
          <a:ln w="38100" algn="ctr">
            <a:noFill/>
            <a:miter lim="800000"/>
            <a:headEnd/>
            <a:tailEnd type="none" w="med" len="lg"/>
          </a:ln>
          <a:effectLst/>
        </p:spPr>
        <p:txBody>
          <a:bodyPr wrap="square" lIns="0" tIns="0" rIns="0" bIns="0">
            <a:spAutoFit/>
          </a:bodyPr>
          <a:lstStyle/>
          <a:p>
            <a:pPr algn="ctr"/>
            <a:r>
              <a:rPr lang="en-US" altLang="zh-CN" sz="1800">
                <a:latin typeface="Consolas" pitchFamily="49" charset="0"/>
                <a:cs typeface="Consolas" pitchFamily="49" charset="0"/>
              </a:rPr>
              <a:t>S={0, 1, 2, 3, 5, 4, 6</a:t>
            </a:r>
            <a:r>
              <a:rPr lang="en-US" altLang="zh-CN" sz="1800" dirty="0">
                <a:latin typeface="Consolas" pitchFamily="49" charset="0"/>
                <a:cs typeface="Consolas" pitchFamily="49" charset="0"/>
              </a:rPr>
              <a:t>}</a:t>
            </a:r>
          </a:p>
        </p:txBody>
      </p:sp>
      <p:sp>
        <p:nvSpPr>
          <p:cNvPr id="3" name="Text Box 68">
            <a:extLst>
              <a:ext uri="{FF2B5EF4-FFF2-40B4-BE49-F238E27FC236}">
                <a16:creationId xmlns:a16="http://schemas.microsoft.com/office/drawing/2014/main" id="{C2D41B6B-2EC1-445D-C374-7C47204E08A5}"/>
              </a:ext>
            </a:extLst>
          </p:cNvPr>
          <p:cNvSpPr txBox="1">
            <a:spLocks noChangeArrowheads="1"/>
          </p:cNvSpPr>
          <p:nvPr/>
        </p:nvSpPr>
        <p:spPr bwMode="auto">
          <a:xfrm>
            <a:off x="6192605" y="2435404"/>
            <a:ext cx="3663959" cy="276999"/>
          </a:xfrm>
          <a:prstGeom prst="rect">
            <a:avLst/>
          </a:prstGeom>
          <a:noFill/>
          <a:ln w="38100" algn="ctr">
            <a:noFill/>
            <a:miter lim="800000"/>
            <a:headEnd/>
            <a:tailEnd type="none" w="med" len="lg"/>
          </a:ln>
          <a:effectLst/>
        </p:spPr>
        <p:txBody>
          <a:bodyPr wrap="square" lIns="0" tIns="0" rIns="0" bIns="0">
            <a:spAutoFit/>
          </a:bodyPr>
          <a:lstStyle/>
          <a:p>
            <a:r>
              <a:rPr lang="en-US" altLang="zh-CN" sz="1800">
                <a:latin typeface="Consolas" pitchFamily="49" charset="0"/>
                <a:cs typeface="Consolas" pitchFamily="49" charset="0"/>
              </a:rPr>
              <a:t>dist={0, </a:t>
            </a:r>
            <a:r>
              <a:rPr lang="en-US" altLang="zh-CN" sz="1800">
                <a:solidFill>
                  <a:srgbClr val="0000FF"/>
                </a:solidFill>
                <a:latin typeface="Consolas" pitchFamily="49" charset="0"/>
                <a:cs typeface="Consolas" pitchFamily="49" charset="0"/>
              </a:rPr>
              <a:t>4,</a:t>
            </a:r>
            <a:r>
              <a:rPr lang="en-US" altLang="zh-CN" sz="1800">
                <a:solidFill>
                  <a:srgbClr val="FF3300"/>
                </a:solidFill>
                <a:latin typeface="Consolas" pitchFamily="49" charset="0"/>
                <a:cs typeface="Consolas" pitchFamily="49" charset="0"/>
              </a:rPr>
              <a:t> </a:t>
            </a:r>
            <a:r>
              <a:rPr lang="en-US" altLang="zh-CN" sz="1800">
                <a:latin typeface="Consolas" pitchFamily="49" charset="0"/>
                <a:cs typeface="Consolas" pitchFamily="49" charset="0"/>
              </a:rPr>
              <a:t>5</a:t>
            </a:r>
            <a:r>
              <a:rPr lang="en-US" altLang="zh-CN" sz="1800" dirty="0">
                <a:latin typeface="Consolas" pitchFamily="49" charset="0"/>
                <a:cs typeface="Consolas" pitchFamily="49" charset="0"/>
              </a:rPr>
              <a:t>, 6, 10</a:t>
            </a:r>
            <a:r>
              <a:rPr lang="en-US" altLang="zh-CN" sz="1800" dirty="0">
                <a:solidFill>
                  <a:srgbClr val="6600CC"/>
                </a:solidFill>
                <a:latin typeface="Consolas" pitchFamily="49" charset="0"/>
                <a:cs typeface="Consolas" pitchFamily="49" charset="0"/>
              </a:rPr>
              <a:t>, </a:t>
            </a:r>
            <a:r>
              <a:rPr lang="en-US" altLang="zh-CN" sz="1800" dirty="0">
                <a:latin typeface="Consolas" pitchFamily="49" charset="0"/>
                <a:cs typeface="Consolas" pitchFamily="49" charset="0"/>
              </a:rPr>
              <a:t>9,</a:t>
            </a:r>
            <a:r>
              <a:rPr lang="en-US" altLang="zh-CN" sz="1800" dirty="0">
                <a:solidFill>
                  <a:srgbClr val="6600CC"/>
                </a:solidFill>
                <a:latin typeface="Consolas" pitchFamily="49" charset="0"/>
                <a:cs typeface="Consolas" pitchFamily="49" charset="0"/>
              </a:rPr>
              <a:t> </a:t>
            </a:r>
            <a:r>
              <a:rPr lang="en-US" altLang="zh-CN" sz="1800" dirty="0">
                <a:latin typeface="Consolas" pitchFamily="49" charset="0"/>
                <a:cs typeface="Consolas" pitchFamily="49" charset="0"/>
              </a:rPr>
              <a:t>16}</a:t>
            </a:r>
          </a:p>
        </p:txBody>
      </p:sp>
      <p:sp>
        <p:nvSpPr>
          <p:cNvPr id="4" name="TextBox 5">
            <a:extLst>
              <a:ext uri="{FF2B5EF4-FFF2-40B4-BE49-F238E27FC236}">
                <a16:creationId xmlns:a16="http://schemas.microsoft.com/office/drawing/2014/main" id="{A5186D41-4653-4F19-86AF-C049EDAE6C70}"/>
              </a:ext>
            </a:extLst>
          </p:cNvPr>
          <p:cNvSpPr txBox="1"/>
          <p:nvPr/>
        </p:nvSpPr>
        <p:spPr>
          <a:xfrm>
            <a:off x="2069822" y="1876042"/>
            <a:ext cx="1571636" cy="369332"/>
          </a:xfrm>
          <a:prstGeom prst="rect">
            <a:avLst/>
          </a:prstGeom>
          <a:noFill/>
        </p:spPr>
        <p:txBody>
          <a:bodyPr wrap="square" rtlCol="0">
            <a:spAutoFit/>
          </a:bodyPr>
          <a:lstStyle/>
          <a:p>
            <a:r>
              <a:rPr lang="zh-CN" altLang="en-US" sz="1800">
                <a:latin typeface="Consolas" pitchFamily="49" charset="0"/>
                <a:ea typeface="楷体" pitchFamily="49" charset="-122"/>
                <a:cs typeface="Consolas" pitchFamily="49" charset="0"/>
              </a:rPr>
              <a:t>源点</a:t>
            </a:r>
            <a:r>
              <a:rPr lang="en-US" altLang="zh-CN" sz="1800" i="1">
                <a:latin typeface="Consolas" pitchFamily="49" charset="0"/>
                <a:ea typeface="楷体" pitchFamily="49" charset="-122"/>
                <a:cs typeface="Consolas" pitchFamily="49" charset="0"/>
              </a:rPr>
              <a:t>v</a:t>
            </a:r>
            <a:r>
              <a:rPr lang="en-US" altLang="zh-CN" sz="1800">
                <a:latin typeface="Consolas" pitchFamily="49" charset="0"/>
                <a:ea typeface="楷体" pitchFamily="49" charset="-122"/>
                <a:cs typeface="Consolas" pitchFamily="49" charset="0"/>
              </a:rPr>
              <a:t>=0</a:t>
            </a:r>
            <a:endParaRPr lang="zh-CN" altLang="en-US" sz="1800">
              <a:latin typeface="Consolas" pitchFamily="49" charset="0"/>
              <a:ea typeface="楷体" pitchFamily="49" charset="-122"/>
              <a:cs typeface="Consolas" pitchFamily="49" charset="0"/>
            </a:endParaRPr>
          </a:p>
        </p:txBody>
      </p:sp>
      <p:sp>
        <p:nvSpPr>
          <p:cNvPr id="5" name="TextBox 6">
            <a:extLst>
              <a:ext uri="{FF2B5EF4-FFF2-40B4-BE49-F238E27FC236}">
                <a16:creationId xmlns:a16="http://schemas.microsoft.com/office/drawing/2014/main" id="{9A900E70-4A79-53A8-406F-C2A17D8F9951}"/>
              </a:ext>
            </a:extLst>
          </p:cNvPr>
          <p:cNvSpPr txBox="1"/>
          <p:nvPr/>
        </p:nvSpPr>
        <p:spPr>
          <a:xfrm>
            <a:off x="283872" y="1869179"/>
            <a:ext cx="1714512" cy="400110"/>
          </a:xfrm>
          <a:prstGeom prst="rect">
            <a:avLst/>
          </a:prstGeom>
          <a:noFill/>
        </p:spPr>
        <p:txBody>
          <a:bodyPr wrap="square" rtlCol="0">
            <a:spAutoFit/>
          </a:bodyPr>
          <a:lstStyle/>
          <a:p>
            <a:r>
              <a:rPr lang="zh-CN" altLang="en-US" sz="2000" dirty="0">
                <a:solidFill>
                  <a:srgbClr val="FF0000"/>
                </a:solidFill>
                <a:latin typeface="微软雅黑" pitchFamily="34" charset="-122"/>
                <a:ea typeface="微软雅黑" pitchFamily="34" charset="-122"/>
                <a:cs typeface="Consolas" pitchFamily="49" charset="0"/>
              </a:rPr>
              <a:t>观察求解结果</a:t>
            </a:r>
          </a:p>
        </p:txBody>
      </p:sp>
      <p:grpSp>
        <p:nvGrpSpPr>
          <p:cNvPr id="6" name="组合 30">
            <a:extLst>
              <a:ext uri="{FF2B5EF4-FFF2-40B4-BE49-F238E27FC236}">
                <a16:creationId xmlns:a16="http://schemas.microsoft.com/office/drawing/2014/main" id="{775761D3-0F36-97F1-EFBC-FCFEAF790756}"/>
              </a:ext>
            </a:extLst>
          </p:cNvPr>
          <p:cNvGrpSpPr/>
          <p:nvPr/>
        </p:nvGrpSpPr>
        <p:grpSpPr>
          <a:xfrm>
            <a:off x="3069954" y="3447678"/>
            <a:ext cx="3214710" cy="2018196"/>
            <a:chOff x="1571604" y="2928934"/>
            <a:chExt cx="3214710" cy="2018196"/>
          </a:xfrm>
        </p:grpSpPr>
        <p:cxnSp>
          <p:nvCxnSpPr>
            <p:cNvPr id="7" name="直接箭头连接符 6">
              <a:extLst>
                <a:ext uri="{FF2B5EF4-FFF2-40B4-BE49-F238E27FC236}">
                  <a16:creationId xmlns:a16="http://schemas.microsoft.com/office/drawing/2014/main" id="{CE6E7F81-55DF-002A-CA97-625FD7C9574E}"/>
                </a:ext>
              </a:extLst>
            </p:cNvPr>
            <p:cNvCxnSpPr/>
            <p:nvPr/>
          </p:nvCxnSpPr>
          <p:spPr>
            <a:xfrm>
              <a:off x="1571604" y="2928934"/>
              <a:ext cx="2143140" cy="1934616"/>
            </a:xfrm>
            <a:prstGeom prst="straightConnector1">
              <a:avLst/>
            </a:prstGeom>
            <a:ln w="38100">
              <a:solidFill>
                <a:srgbClr val="FF00FF"/>
              </a:solidFill>
              <a:tailEnd type="arrow"/>
            </a:ln>
          </p:spPr>
          <p:style>
            <a:lnRef idx="1">
              <a:schemeClr val="accent1"/>
            </a:lnRef>
            <a:fillRef idx="0">
              <a:schemeClr val="accent1"/>
            </a:fillRef>
            <a:effectRef idx="0">
              <a:schemeClr val="accent1"/>
            </a:effectRef>
            <a:fontRef idx="minor">
              <a:schemeClr val="tx1"/>
            </a:fontRef>
          </p:style>
        </p:cxnSp>
        <p:sp>
          <p:nvSpPr>
            <p:cNvPr id="12" name="TextBox 27">
              <a:extLst>
                <a:ext uri="{FF2B5EF4-FFF2-40B4-BE49-F238E27FC236}">
                  <a16:creationId xmlns:a16="http://schemas.microsoft.com/office/drawing/2014/main" id="{AEB9BD76-1236-BA55-552B-A6E15D66C7A0}"/>
                </a:ext>
              </a:extLst>
            </p:cNvPr>
            <p:cNvSpPr txBox="1"/>
            <p:nvPr/>
          </p:nvSpPr>
          <p:spPr>
            <a:xfrm>
              <a:off x="3714744" y="4577798"/>
              <a:ext cx="1071570" cy="369332"/>
            </a:xfrm>
            <a:prstGeom prst="rect">
              <a:avLst/>
            </a:prstGeom>
            <a:noFill/>
          </p:spPr>
          <p:txBody>
            <a:bodyPr wrap="square" rtlCol="0">
              <a:spAutoFit/>
            </a:bodyPr>
            <a:lstStyle/>
            <a:p>
              <a:r>
                <a:rPr lang="zh-CN" altLang="en-US" sz="1800">
                  <a:latin typeface="仿宋" pitchFamily="49" charset="-122"/>
                  <a:ea typeface="仿宋" pitchFamily="49" charset="-122"/>
                  <a:cs typeface="Consolas" pitchFamily="49" charset="0"/>
                </a:rPr>
                <a:t>递增</a:t>
              </a:r>
            </a:p>
          </p:txBody>
        </p:sp>
      </p:grpSp>
      <p:grpSp>
        <p:nvGrpSpPr>
          <p:cNvPr id="13" name="组合 29">
            <a:extLst>
              <a:ext uri="{FF2B5EF4-FFF2-40B4-BE49-F238E27FC236}">
                <a16:creationId xmlns:a16="http://schemas.microsoft.com/office/drawing/2014/main" id="{085438DE-F9FA-86C8-D4C6-231795BFE80F}"/>
              </a:ext>
            </a:extLst>
          </p:cNvPr>
          <p:cNvGrpSpPr/>
          <p:nvPr/>
        </p:nvGrpSpPr>
        <p:grpSpPr>
          <a:xfrm>
            <a:off x="1998384" y="2792830"/>
            <a:ext cx="3643338" cy="2313453"/>
            <a:chOff x="500034" y="2274086"/>
            <a:chExt cx="3643338" cy="2313453"/>
          </a:xfrm>
        </p:grpSpPr>
        <p:cxnSp>
          <p:nvCxnSpPr>
            <p:cNvPr id="14" name="直接箭头连接符 13">
              <a:extLst>
                <a:ext uri="{FF2B5EF4-FFF2-40B4-BE49-F238E27FC236}">
                  <a16:creationId xmlns:a16="http://schemas.microsoft.com/office/drawing/2014/main" id="{27F99E95-F53E-5528-A89E-9455BC7625D3}"/>
                </a:ext>
              </a:extLst>
            </p:cNvPr>
            <p:cNvCxnSpPr/>
            <p:nvPr/>
          </p:nvCxnSpPr>
          <p:spPr>
            <a:xfrm rot="5400000">
              <a:off x="1820232" y="2465992"/>
              <a:ext cx="360000" cy="1588"/>
            </a:xfrm>
            <a:prstGeom prst="straightConnector1">
              <a:avLst/>
            </a:prstGeom>
            <a:ln w="28575">
              <a:solidFill>
                <a:srgbClr val="7030A0"/>
              </a:solidFill>
              <a:tailEnd type="arrow"/>
            </a:ln>
          </p:spPr>
          <p:style>
            <a:lnRef idx="1">
              <a:schemeClr val="accent1"/>
            </a:lnRef>
            <a:fillRef idx="0">
              <a:schemeClr val="accent1"/>
            </a:fillRef>
            <a:effectRef idx="0">
              <a:schemeClr val="accent1"/>
            </a:effectRef>
            <a:fontRef idx="minor">
              <a:schemeClr val="tx1"/>
            </a:fontRef>
          </p:style>
        </p:cxnSp>
        <p:sp>
          <p:nvSpPr>
            <p:cNvPr id="15" name="TextBox 9">
              <a:extLst>
                <a:ext uri="{FF2B5EF4-FFF2-40B4-BE49-F238E27FC236}">
                  <a16:creationId xmlns:a16="http://schemas.microsoft.com/office/drawing/2014/main" id="{6C5288D6-E3B0-80B6-2E73-F063BCD0FC61}"/>
                </a:ext>
              </a:extLst>
            </p:cNvPr>
            <p:cNvSpPr txBox="1"/>
            <p:nvPr/>
          </p:nvSpPr>
          <p:spPr>
            <a:xfrm>
              <a:off x="1811318" y="2571744"/>
              <a:ext cx="357190" cy="369332"/>
            </a:xfrm>
            <a:prstGeom prst="rect">
              <a:avLst/>
            </a:prstGeom>
            <a:noFill/>
          </p:spPr>
          <p:txBody>
            <a:bodyPr wrap="square" rtlCol="0">
              <a:spAutoFit/>
            </a:bodyPr>
            <a:lstStyle/>
            <a:p>
              <a:r>
                <a:rPr lang="en-US" altLang="zh-CN" sz="1800">
                  <a:latin typeface="Consolas" pitchFamily="49" charset="0"/>
                  <a:cs typeface="Consolas" pitchFamily="49" charset="0"/>
                </a:rPr>
                <a:t>4</a:t>
              </a:r>
              <a:endParaRPr lang="zh-CN" altLang="en-US" sz="1800">
                <a:latin typeface="Consolas" pitchFamily="49" charset="0"/>
                <a:cs typeface="Consolas" pitchFamily="49" charset="0"/>
              </a:endParaRPr>
            </a:p>
          </p:txBody>
        </p:sp>
        <p:cxnSp>
          <p:nvCxnSpPr>
            <p:cNvPr id="16" name="直接箭头连接符 15">
              <a:extLst>
                <a:ext uri="{FF2B5EF4-FFF2-40B4-BE49-F238E27FC236}">
                  <a16:creationId xmlns:a16="http://schemas.microsoft.com/office/drawing/2014/main" id="{050AC633-B6FF-E148-2E8A-1E57E4414D71}"/>
                </a:ext>
              </a:extLst>
            </p:cNvPr>
            <p:cNvCxnSpPr/>
            <p:nvPr/>
          </p:nvCxnSpPr>
          <p:spPr>
            <a:xfrm rot="5400000">
              <a:off x="2008816" y="2598086"/>
              <a:ext cx="648000" cy="0"/>
            </a:xfrm>
            <a:prstGeom prst="straightConnector1">
              <a:avLst/>
            </a:prstGeom>
            <a:ln w="28575">
              <a:solidFill>
                <a:srgbClr val="7030A0"/>
              </a:solidFill>
              <a:tailEnd type="arrow"/>
            </a:ln>
          </p:spPr>
          <p:style>
            <a:lnRef idx="1">
              <a:schemeClr val="accent1"/>
            </a:lnRef>
            <a:fillRef idx="0">
              <a:schemeClr val="accent1"/>
            </a:fillRef>
            <a:effectRef idx="0">
              <a:schemeClr val="accent1"/>
            </a:effectRef>
            <a:fontRef idx="minor">
              <a:schemeClr val="tx1"/>
            </a:fontRef>
          </p:style>
        </p:cxnSp>
        <p:sp>
          <p:nvSpPr>
            <p:cNvPr id="17" name="TextBox 12">
              <a:extLst>
                <a:ext uri="{FF2B5EF4-FFF2-40B4-BE49-F238E27FC236}">
                  <a16:creationId xmlns:a16="http://schemas.microsoft.com/office/drawing/2014/main" id="{A8DB26C7-BE85-8795-7462-FCB4548EE255}"/>
                </a:ext>
              </a:extLst>
            </p:cNvPr>
            <p:cNvSpPr txBox="1"/>
            <p:nvPr/>
          </p:nvSpPr>
          <p:spPr>
            <a:xfrm>
              <a:off x="2143108" y="2949572"/>
              <a:ext cx="357190" cy="369332"/>
            </a:xfrm>
            <a:prstGeom prst="rect">
              <a:avLst/>
            </a:prstGeom>
            <a:noFill/>
          </p:spPr>
          <p:txBody>
            <a:bodyPr wrap="square" rtlCol="0">
              <a:spAutoFit/>
            </a:bodyPr>
            <a:lstStyle/>
            <a:p>
              <a:r>
                <a:rPr lang="en-US" altLang="zh-CN" sz="1800">
                  <a:latin typeface="Consolas" pitchFamily="49" charset="0"/>
                  <a:cs typeface="Consolas" pitchFamily="49" charset="0"/>
                </a:rPr>
                <a:t>5</a:t>
              </a:r>
              <a:endParaRPr lang="zh-CN" altLang="en-US" sz="1800">
                <a:latin typeface="Consolas" pitchFamily="49" charset="0"/>
                <a:cs typeface="Consolas" pitchFamily="49" charset="0"/>
              </a:endParaRPr>
            </a:p>
          </p:txBody>
        </p:sp>
        <p:cxnSp>
          <p:nvCxnSpPr>
            <p:cNvPr id="19" name="直接箭头连接符 18">
              <a:extLst>
                <a:ext uri="{FF2B5EF4-FFF2-40B4-BE49-F238E27FC236}">
                  <a16:creationId xmlns:a16="http://schemas.microsoft.com/office/drawing/2014/main" id="{F1412DE0-3AE4-1F8D-4334-E27F2065A137}"/>
                </a:ext>
              </a:extLst>
            </p:cNvPr>
            <p:cNvCxnSpPr/>
            <p:nvPr/>
          </p:nvCxnSpPr>
          <p:spPr>
            <a:xfrm rot="5400000">
              <a:off x="2168885" y="2821777"/>
              <a:ext cx="1071570" cy="1588"/>
            </a:xfrm>
            <a:prstGeom prst="straightConnector1">
              <a:avLst/>
            </a:prstGeom>
            <a:ln w="28575">
              <a:solidFill>
                <a:srgbClr val="7030A0"/>
              </a:solidFill>
              <a:tailEnd type="arrow"/>
            </a:ln>
          </p:spPr>
          <p:style>
            <a:lnRef idx="1">
              <a:schemeClr val="accent1"/>
            </a:lnRef>
            <a:fillRef idx="0">
              <a:schemeClr val="accent1"/>
            </a:fillRef>
            <a:effectRef idx="0">
              <a:schemeClr val="accent1"/>
            </a:effectRef>
            <a:fontRef idx="minor">
              <a:schemeClr val="tx1"/>
            </a:fontRef>
          </p:style>
        </p:cxnSp>
        <p:sp>
          <p:nvSpPr>
            <p:cNvPr id="20" name="TextBox 15">
              <a:extLst>
                <a:ext uri="{FF2B5EF4-FFF2-40B4-BE49-F238E27FC236}">
                  <a16:creationId xmlns:a16="http://schemas.microsoft.com/office/drawing/2014/main" id="{2B2709EF-60E2-3755-951D-5F3198DFEA89}"/>
                </a:ext>
              </a:extLst>
            </p:cNvPr>
            <p:cNvSpPr txBox="1"/>
            <p:nvPr/>
          </p:nvSpPr>
          <p:spPr>
            <a:xfrm>
              <a:off x="2536394" y="3286124"/>
              <a:ext cx="357190" cy="369332"/>
            </a:xfrm>
            <a:prstGeom prst="rect">
              <a:avLst/>
            </a:prstGeom>
            <a:noFill/>
          </p:spPr>
          <p:txBody>
            <a:bodyPr wrap="square" rtlCol="0">
              <a:spAutoFit/>
            </a:bodyPr>
            <a:lstStyle/>
            <a:p>
              <a:r>
                <a:rPr lang="en-US" altLang="zh-CN" sz="1800">
                  <a:latin typeface="Consolas" pitchFamily="49" charset="0"/>
                  <a:cs typeface="Consolas" pitchFamily="49" charset="0"/>
                </a:rPr>
                <a:t>6</a:t>
              </a:r>
              <a:endParaRPr lang="zh-CN" altLang="en-US" sz="1800">
                <a:latin typeface="Consolas" pitchFamily="49" charset="0"/>
                <a:cs typeface="Consolas" pitchFamily="49" charset="0"/>
              </a:endParaRPr>
            </a:p>
          </p:txBody>
        </p:sp>
        <p:cxnSp>
          <p:nvCxnSpPr>
            <p:cNvPr id="21" name="直接箭头连接符 20">
              <a:extLst>
                <a:ext uri="{FF2B5EF4-FFF2-40B4-BE49-F238E27FC236}">
                  <a16:creationId xmlns:a16="http://schemas.microsoft.com/office/drawing/2014/main" id="{0ABFC730-E5AE-D847-9ED9-B8CA5CA12DC8}"/>
                </a:ext>
              </a:extLst>
            </p:cNvPr>
            <p:cNvCxnSpPr/>
            <p:nvPr/>
          </p:nvCxnSpPr>
          <p:spPr>
            <a:xfrm rot="5400000">
              <a:off x="2365360" y="3000372"/>
              <a:ext cx="1428760" cy="1588"/>
            </a:xfrm>
            <a:prstGeom prst="straightConnector1">
              <a:avLst/>
            </a:prstGeom>
            <a:ln w="28575">
              <a:solidFill>
                <a:srgbClr val="7030A0"/>
              </a:solidFill>
              <a:tailEnd type="arrow"/>
            </a:ln>
          </p:spPr>
          <p:style>
            <a:lnRef idx="1">
              <a:schemeClr val="accent1"/>
            </a:lnRef>
            <a:fillRef idx="0">
              <a:schemeClr val="accent1"/>
            </a:fillRef>
            <a:effectRef idx="0">
              <a:schemeClr val="accent1"/>
            </a:effectRef>
            <a:fontRef idx="minor">
              <a:schemeClr val="tx1"/>
            </a:fontRef>
          </p:style>
        </p:cxnSp>
        <p:sp>
          <p:nvSpPr>
            <p:cNvPr id="22" name="TextBox 18">
              <a:extLst>
                <a:ext uri="{FF2B5EF4-FFF2-40B4-BE49-F238E27FC236}">
                  <a16:creationId xmlns:a16="http://schemas.microsoft.com/office/drawing/2014/main" id="{7E9CCBE0-31F0-E18C-8812-D1194E2CE4D7}"/>
                </a:ext>
              </a:extLst>
            </p:cNvPr>
            <p:cNvSpPr txBox="1"/>
            <p:nvPr/>
          </p:nvSpPr>
          <p:spPr>
            <a:xfrm>
              <a:off x="2928926" y="3635677"/>
              <a:ext cx="357190" cy="369332"/>
            </a:xfrm>
            <a:prstGeom prst="rect">
              <a:avLst/>
            </a:prstGeom>
            <a:noFill/>
          </p:spPr>
          <p:txBody>
            <a:bodyPr wrap="square" rtlCol="0">
              <a:spAutoFit/>
            </a:bodyPr>
            <a:lstStyle/>
            <a:p>
              <a:r>
                <a:rPr lang="en-US" altLang="zh-CN" sz="1800">
                  <a:latin typeface="Consolas" pitchFamily="49" charset="0"/>
                  <a:cs typeface="Consolas" pitchFamily="49" charset="0"/>
                </a:rPr>
                <a:t>9</a:t>
              </a:r>
              <a:endParaRPr lang="zh-CN" altLang="en-US" sz="1800">
                <a:latin typeface="Consolas" pitchFamily="49" charset="0"/>
                <a:cs typeface="Consolas" pitchFamily="49" charset="0"/>
              </a:endParaRPr>
            </a:p>
          </p:txBody>
        </p:sp>
        <p:cxnSp>
          <p:nvCxnSpPr>
            <p:cNvPr id="23" name="直接箭头连接符 22">
              <a:extLst>
                <a:ext uri="{FF2B5EF4-FFF2-40B4-BE49-F238E27FC236}">
                  <a16:creationId xmlns:a16="http://schemas.microsoft.com/office/drawing/2014/main" id="{26331C6C-5947-7CCD-BA7B-29B411DA0A79}"/>
                </a:ext>
              </a:extLst>
            </p:cNvPr>
            <p:cNvCxnSpPr/>
            <p:nvPr/>
          </p:nvCxnSpPr>
          <p:spPr>
            <a:xfrm rot="5400000">
              <a:off x="2656251" y="3107529"/>
              <a:ext cx="1643074" cy="1588"/>
            </a:xfrm>
            <a:prstGeom prst="straightConnector1">
              <a:avLst/>
            </a:prstGeom>
            <a:ln w="28575">
              <a:solidFill>
                <a:srgbClr val="7030A0"/>
              </a:solidFill>
              <a:tailEnd type="arrow"/>
            </a:ln>
          </p:spPr>
          <p:style>
            <a:lnRef idx="1">
              <a:schemeClr val="accent1"/>
            </a:lnRef>
            <a:fillRef idx="0">
              <a:schemeClr val="accent1"/>
            </a:fillRef>
            <a:effectRef idx="0">
              <a:schemeClr val="accent1"/>
            </a:effectRef>
            <a:fontRef idx="minor">
              <a:schemeClr val="tx1"/>
            </a:fontRef>
          </p:style>
        </p:cxnSp>
        <p:sp>
          <p:nvSpPr>
            <p:cNvPr id="24" name="TextBox 21">
              <a:extLst>
                <a:ext uri="{FF2B5EF4-FFF2-40B4-BE49-F238E27FC236}">
                  <a16:creationId xmlns:a16="http://schemas.microsoft.com/office/drawing/2014/main" id="{9E54CFA4-EDDB-9C0D-7375-5F40050EEAA3}"/>
                </a:ext>
              </a:extLst>
            </p:cNvPr>
            <p:cNvSpPr txBox="1"/>
            <p:nvPr/>
          </p:nvSpPr>
          <p:spPr>
            <a:xfrm>
              <a:off x="3250774" y="3832529"/>
              <a:ext cx="500066" cy="369332"/>
            </a:xfrm>
            <a:prstGeom prst="rect">
              <a:avLst/>
            </a:prstGeom>
            <a:noFill/>
          </p:spPr>
          <p:txBody>
            <a:bodyPr wrap="square" rtlCol="0">
              <a:spAutoFit/>
            </a:bodyPr>
            <a:lstStyle/>
            <a:p>
              <a:r>
                <a:rPr lang="en-US" altLang="zh-CN" sz="1800">
                  <a:latin typeface="Consolas" pitchFamily="49" charset="0"/>
                  <a:cs typeface="Consolas" pitchFamily="49" charset="0"/>
                </a:rPr>
                <a:t>10</a:t>
              </a:r>
              <a:endParaRPr lang="zh-CN" altLang="en-US" sz="1800">
                <a:latin typeface="Consolas" pitchFamily="49" charset="0"/>
                <a:cs typeface="Consolas" pitchFamily="49" charset="0"/>
              </a:endParaRPr>
            </a:p>
          </p:txBody>
        </p:sp>
        <p:cxnSp>
          <p:nvCxnSpPr>
            <p:cNvPr id="25" name="直接箭头连接符 24">
              <a:extLst>
                <a:ext uri="{FF2B5EF4-FFF2-40B4-BE49-F238E27FC236}">
                  <a16:creationId xmlns:a16="http://schemas.microsoft.com/office/drawing/2014/main" id="{F79AA9B4-01B6-DAFF-EEB4-D431AA3CE1EE}"/>
                </a:ext>
              </a:extLst>
            </p:cNvPr>
            <p:cNvCxnSpPr/>
            <p:nvPr/>
          </p:nvCxnSpPr>
          <p:spPr>
            <a:xfrm rot="5400000">
              <a:off x="2890826" y="3286124"/>
              <a:ext cx="2000264" cy="1588"/>
            </a:xfrm>
            <a:prstGeom prst="straightConnector1">
              <a:avLst/>
            </a:prstGeom>
            <a:ln w="28575">
              <a:solidFill>
                <a:srgbClr val="7030A0"/>
              </a:solidFill>
              <a:tailEnd type="arrow"/>
            </a:ln>
          </p:spPr>
          <p:style>
            <a:lnRef idx="1">
              <a:schemeClr val="accent1"/>
            </a:lnRef>
            <a:fillRef idx="0">
              <a:schemeClr val="accent1"/>
            </a:fillRef>
            <a:effectRef idx="0">
              <a:schemeClr val="accent1"/>
            </a:effectRef>
            <a:fontRef idx="minor">
              <a:schemeClr val="tx1"/>
            </a:fontRef>
          </p:style>
        </p:cxnSp>
        <p:sp>
          <p:nvSpPr>
            <p:cNvPr id="26" name="TextBox 24">
              <a:extLst>
                <a:ext uri="{FF2B5EF4-FFF2-40B4-BE49-F238E27FC236}">
                  <a16:creationId xmlns:a16="http://schemas.microsoft.com/office/drawing/2014/main" id="{B0FF4F02-4421-65FD-4072-D686A53FB218}"/>
                </a:ext>
              </a:extLst>
            </p:cNvPr>
            <p:cNvSpPr txBox="1"/>
            <p:nvPr/>
          </p:nvSpPr>
          <p:spPr>
            <a:xfrm>
              <a:off x="3643306" y="4176718"/>
              <a:ext cx="500066" cy="369332"/>
            </a:xfrm>
            <a:prstGeom prst="rect">
              <a:avLst/>
            </a:prstGeom>
            <a:noFill/>
          </p:spPr>
          <p:txBody>
            <a:bodyPr wrap="square" rtlCol="0">
              <a:spAutoFit/>
            </a:bodyPr>
            <a:lstStyle/>
            <a:p>
              <a:r>
                <a:rPr lang="en-US" altLang="zh-CN" sz="1800">
                  <a:latin typeface="Consolas" pitchFamily="49" charset="0"/>
                  <a:cs typeface="Consolas" pitchFamily="49" charset="0"/>
                </a:rPr>
                <a:t>16</a:t>
              </a:r>
              <a:endParaRPr lang="zh-CN" altLang="en-US" sz="1800">
                <a:latin typeface="Consolas" pitchFamily="49" charset="0"/>
                <a:cs typeface="Consolas" pitchFamily="49" charset="0"/>
              </a:endParaRPr>
            </a:p>
          </p:txBody>
        </p:sp>
        <p:sp>
          <p:nvSpPr>
            <p:cNvPr id="27" name="TextBox 28">
              <a:extLst>
                <a:ext uri="{FF2B5EF4-FFF2-40B4-BE49-F238E27FC236}">
                  <a16:creationId xmlns:a16="http://schemas.microsoft.com/office/drawing/2014/main" id="{4E96CD4B-D4DE-028D-41FE-A82D916AF968}"/>
                </a:ext>
              </a:extLst>
            </p:cNvPr>
            <p:cNvSpPr txBox="1"/>
            <p:nvPr/>
          </p:nvSpPr>
          <p:spPr>
            <a:xfrm>
              <a:off x="500034" y="3571876"/>
              <a:ext cx="1500198" cy="1015663"/>
            </a:xfrm>
            <a:prstGeom prst="rect">
              <a:avLst/>
            </a:prstGeom>
            <a:noFill/>
          </p:spPr>
          <p:txBody>
            <a:bodyPr wrap="square" rtlCol="0">
              <a:spAutoFit/>
            </a:bodyPr>
            <a:lstStyle/>
            <a:p>
              <a:r>
                <a:rPr lang="zh-CN" altLang="en-US" sz="2000" dirty="0">
                  <a:latin typeface="Consolas" pitchFamily="49" charset="0"/>
                  <a:ea typeface="楷体" pitchFamily="49" charset="-122"/>
                  <a:cs typeface="Consolas" pitchFamily="49" charset="0"/>
                </a:rPr>
                <a:t>源点到各个顶点的最短路径长度</a:t>
              </a:r>
            </a:p>
          </p:txBody>
        </p:sp>
      </p:grpSp>
      <p:sp>
        <p:nvSpPr>
          <p:cNvPr id="28" name="TextBox 31">
            <a:extLst>
              <a:ext uri="{FF2B5EF4-FFF2-40B4-BE49-F238E27FC236}">
                <a16:creationId xmlns:a16="http://schemas.microsoft.com/office/drawing/2014/main" id="{B2EFA94A-6324-601B-C0D7-5A4B7E736F7E}"/>
              </a:ext>
            </a:extLst>
          </p:cNvPr>
          <p:cNvSpPr txBox="1"/>
          <p:nvPr/>
        </p:nvSpPr>
        <p:spPr>
          <a:xfrm>
            <a:off x="2855640" y="5949280"/>
            <a:ext cx="7215238" cy="760959"/>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tIns="72000" bIns="72000" rtlCol="0">
            <a:spAutoFit/>
          </a:bodyPr>
          <a:lstStyle/>
          <a:p>
            <a:pPr marL="457200" indent="-457200"/>
            <a:r>
              <a:rPr lang="zh-CN" altLang="en-US" sz="2000" dirty="0">
                <a:solidFill>
                  <a:srgbClr val="006600"/>
                </a:solidFill>
                <a:latin typeface="Consolas" pitchFamily="49" charset="0"/>
                <a:ea typeface="方正启体简体" pitchFamily="65" charset="-122"/>
                <a:cs typeface="Consolas" pitchFamily="49" charset="0"/>
                <a:sym typeface="Wingdings"/>
              </a:rPr>
              <a:t>  </a:t>
            </a:r>
            <a:r>
              <a:rPr lang="zh-CN" altLang="en-US" sz="2000" dirty="0">
                <a:solidFill>
                  <a:srgbClr val="006600"/>
                </a:solidFill>
                <a:latin typeface="Consolas" pitchFamily="49" charset="0"/>
                <a:ea typeface="方正启体简体" pitchFamily="65" charset="-122"/>
                <a:cs typeface="Consolas" pitchFamily="49" charset="0"/>
              </a:rPr>
              <a:t>按顶点进入</a:t>
            </a:r>
            <a:r>
              <a:rPr lang="en-US" altLang="zh-CN" sz="2000" dirty="0">
                <a:solidFill>
                  <a:srgbClr val="006600"/>
                </a:solidFill>
                <a:latin typeface="Consolas" pitchFamily="49" charset="0"/>
                <a:ea typeface="方正启体简体" pitchFamily="65" charset="-122"/>
                <a:cs typeface="Consolas" pitchFamily="49" charset="0"/>
              </a:rPr>
              <a:t>S</a:t>
            </a:r>
            <a:r>
              <a:rPr lang="zh-CN" altLang="en-US" sz="2000" dirty="0">
                <a:solidFill>
                  <a:srgbClr val="006600"/>
                </a:solidFill>
                <a:latin typeface="Consolas" pitchFamily="49" charset="0"/>
                <a:ea typeface="方正启体简体" pitchFamily="65" charset="-122"/>
                <a:cs typeface="Consolas" pitchFamily="49" charset="0"/>
              </a:rPr>
              <a:t>的先后顺序，最短路径长度越来越长。</a:t>
            </a:r>
            <a:endParaRPr lang="en-US" altLang="zh-CN" sz="2000" dirty="0">
              <a:solidFill>
                <a:srgbClr val="006600"/>
              </a:solidFill>
              <a:latin typeface="Consolas" pitchFamily="49" charset="0"/>
              <a:ea typeface="方正启体简体" pitchFamily="65" charset="-122"/>
              <a:cs typeface="Consolas" pitchFamily="49" charset="0"/>
            </a:endParaRPr>
          </a:p>
          <a:p>
            <a:pPr marL="457200" indent="-457200"/>
            <a:r>
              <a:rPr lang="zh-CN" altLang="en-US" sz="2000" dirty="0">
                <a:solidFill>
                  <a:srgbClr val="006600"/>
                </a:solidFill>
                <a:latin typeface="Consolas" pitchFamily="49" charset="0"/>
                <a:ea typeface="方正启体简体" pitchFamily="65" charset="-122"/>
                <a:cs typeface="Consolas" pitchFamily="49" charset="0"/>
                <a:sym typeface="Wingdings"/>
              </a:rPr>
              <a:t>  </a:t>
            </a:r>
            <a:r>
              <a:rPr lang="zh-CN" altLang="en-US" sz="2000" dirty="0">
                <a:solidFill>
                  <a:srgbClr val="006600"/>
                </a:solidFill>
                <a:latin typeface="Consolas" pitchFamily="49" charset="0"/>
                <a:ea typeface="方正启体简体" pitchFamily="65" charset="-122"/>
                <a:cs typeface="Consolas" pitchFamily="49" charset="0"/>
              </a:rPr>
              <a:t>一个顶点一旦进入</a:t>
            </a:r>
            <a:r>
              <a:rPr lang="en-US" altLang="zh-CN" sz="2000" dirty="0">
                <a:solidFill>
                  <a:srgbClr val="006600"/>
                </a:solidFill>
                <a:latin typeface="Consolas" pitchFamily="49" charset="0"/>
                <a:ea typeface="方正启体简体" pitchFamily="65" charset="-122"/>
                <a:cs typeface="Consolas" pitchFamily="49" charset="0"/>
              </a:rPr>
              <a:t>S</a:t>
            </a:r>
            <a:r>
              <a:rPr lang="zh-CN" altLang="en-US" sz="2000" dirty="0">
                <a:solidFill>
                  <a:srgbClr val="006600"/>
                </a:solidFill>
                <a:latin typeface="Consolas" pitchFamily="49" charset="0"/>
                <a:ea typeface="方正启体简体" pitchFamily="65" charset="-122"/>
                <a:cs typeface="Consolas" pitchFamily="49" charset="0"/>
              </a:rPr>
              <a:t>后，其最短路径长度不再改变（调整）</a:t>
            </a:r>
            <a:endParaRPr lang="en-US" altLang="zh-CN" sz="2000" dirty="0">
              <a:solidFill>
                <a:srgbClr val="006600"/>
              </a:solidFill>
              <a:latin typeface="Consolas" pitchFamily="49" charset="0"/>
              <a:ea typeface="方正启体简体" pitchFamily="65" charset="-122"/>
              <a:cs typeface="Consolas" pitchFamily="49" charset="0"/>
            </a:endParaRPr>
          </a:p>
        </p:txBody>
      </p:sp>
      <p:sp>
        <p:nvSpPr>
          <p:cNvPr id="29" name="TextBox 32">
            <a:extLst>
              <a:ext uri="{FF2B5EF4-FFF2-40B4-BE49-F238E27FC236}">
                <a16:creationId xmlns:a16="http://schemas.microsoft.com/office/drawing/2014/main" id="{0EA26597-2F59-3FCB-318A-2B703E6B9AA5}"/>
              </a:ext>
            </a:extLst>
          </p:cNvPr>
          <p:cNvSpPr txBox="1"/>
          <p:nvPr/>
        </p:nvSpPr>
        <p:spPr>
          <a:xfrm>
            <a:off x="1712632" y="5922033"/>
            <a:ext cx="1000132" cy="400110"/>
          </a:xfrm>
          <a:prstGeom prst="rect">
            <a:avLst/>
          </a:prstGeom>
          <a:noFill/>
        </p:spPr>
        <p:txBody>
          <a:bodyPr wrap="square" rtlCol="0">
            <a:spAutoFit/>
          </a:bodyPr>
          <a:lstStyle/>
          <a:p>
            <a:r>
              <a:rPr lang="zh-CN" altLang="en-US" sz="2000">
                <a:solidFill>
                  <a:srgbClr val="FF0000"/>
                </a:solidFill>
                <a:latin typeface="微软雅黑" pitchFamily="34" charset="-122"/>
                <a:ea typeface="微软雅黑" pitchFamily="34" charset="-122"/>
                <a:cs typeface="Consolas" pitchFamily="49" charset="0"/>
              </a:rPr>
              <a:t>结论：</a:t>
            </a:r>
          </a:p>
        </p:txBody>
      </p:sp>
      <p:sp>
        <p:nvSpPr>
          <p:cNvPr id="30" name="TextBox 33">
            <a:extLst>
              <a:ext uri="{FF2B5EF4-FFF2-40B4-BE49-F238E27FC236}">
                <a16:creationId xmlns:a16="http://schemas.microsoft.com/office/drawing/2014/main" id="{041F0C77-FC42-46C2-4C04-27960C0380BD}"/>
              </a:ext>
            </a:extLst>
          </p:cNvPr>
          <p:cNvSpPr txBox="1"/>
          <p:nvPr/>
        </p:nvSpPr>
        <p:spPr>
          <a:xfrm>
            <a:off x="6835531" y="2018918"/>
            <a:ext cx="2949595" cy="369332"/>
          </a:xfrm>
          <a:prstGeom prst="rect">
            <a:avLst/>
          </a:prstGeom>
          <a:noFill/>
        </p:spPr>
        <p:txBody>
          <a:bodyPr wrap="square" rtlCol="0">
            <a:spAutoFit/>
          </a:bodyPr>
          <a:lstStyle/>
          <a:p>
            <a:r>
              <a:rPr lang="en-US" altLang="zh-CN" sz="1800">
                <a:solidFill>
                  <a:srgbClr val="00B0F0"/>
                </a:solidFill>
                <a:latin typeface="Consolas" pitchFamily="49" charset="0"/>
                <a:cs typeface="Consolas" pitchFamily="49" charset="0"/>
              </a:rPr>
              <a:t>0</a:t>
            </a:r>
            <a:r>
              <a:rPr lang="en-US" altLang="zh-CN" sz="1000">
                <a:solidFill>
                  <a:srgbClr val="00B0F0"/>
                </a:solidFill>
                <a:latin typeface="Consolas" pitchFamily="49" charset="0"/>
                <a:cs typeface="Consolas" pitchFamily="49" charset="0"/>
              </a:rPr>
              <a:t>  </a:t>
            </a:r>
            <a:r>
              <a:rPr lang="en-US" altLang="zh-CN" sz="1800">
                <a:solidFill>
                  <a:srgbClr val="00B0F0"/>
                </a:solidFill>
                <a:latin typeface="Consolas" pitchFamily="49" charset="0"/>
                <a:cs typeface="Consolas" pitchFamily="49" charset="0"/>
              </a:rPr>
              <a:t> 1</a:t>
            </a:r>
            <a:r>
              <a:rPr lang="en-US" altLang="zh-CN" sz="1000">
                <a:solidFill>
                  <a:srgbClr val="00B0F0"/>
                </a:solidFill>
                <a:latin typeface="Consolas" pitchFamily="49" charset="0"/>
                <a:cs typeface="Consolas" pitchFamily="49" charset="0"/>
              </a:rPr>
              <a:t>  </a:t>
            </a:r>
            <a:r>
              <a:rPr lang="en-US" altLang="zh-CN" sz="1800">
                <a:solidFill>
                  <a:srgbClr val="00B0F0"/>
                </a:solidFill>
                <a:latin typeface="Consolas" pitchFamily="49" charset="0"/>
                <a:cs typeface="Consolas" pitchFamily="49" charset="0"/>
              </a:rPr>
              <a:t> 2  3  4 </a:t>
            </a:r>
            <a:r>
              <a:rPr lang="en-US" altLang="zh-CN" sz="1600">
                <a:solidFill>
                  <a:srgbClr val="00B0F0"/>
                </a:solidFill>
                <a:latin typeface="Consolas" pitchFamily="49" charset="0"/>
                <a:cs typeface="Consolas" pitchFamily="49" charset="0"/>
              </a:rPr>
              <a:t> </a:t>
            </a:r>
            <a:r>
              <a:rPr lang="en-US" altLang="zh-CN" sz="1800">
                <a:solidFill>
                  <a:srgbClr val="00B0F0"/>
                </a:solidFill>
                <a:latin typeface="Consolas" pitchFamily="49" charset="0"/>
                <a:cs typeface="Consolas" pitchFamily="49" charset="0"/>
              </a:rPr>
              <a:t> 5  6</a:t>
            </a:r>
            <a:endParaRPr lang="zh-CN" altLang="en-US" sz="1800">
              <a:solidFill>
                <a:srgbClr val="00B0F0"/>
              </a:solidFill>
              <a:latin typeface="Consolas" pitchFamily="49" charset="0"/>
              <a:cs typeface="Consolas" pitchFamily="49" charset="0"/>
            </a:endParaRPr>
          </a:p>
        </p:txBody>
      </p:sp>
      <p:sp>
        <p:nvSpPr>
          <p:cNvPr id="31" name="直角双向箭头 36">
            <a:extLst>
              <a:ext uri="{FF2B5EF4-FFF2-40B4-BE49-F238E27FC236}">
                <a16:creationId xmlns:a16="http://schemas.microsoft.com/office/drawing/2014/main" id="{F5967205-3983-28A4-21B9-8A89527AD84F}"/>
              </a:ext>
            </a:extLst>
          </p:cNvPr>
          <p:cNvSpPr/>
          <p:nvPr/>
        </p:nvSpPr>
        <p:spPr>
          <a:xfrm>
            <a:off x="5641722" y="2810526"/>
            <a:ext cx="1071570" cy="1571636"/>
          </a:xfrm>
          <a:prstGeom prst="leftUpArrow">
            <a:avLst>
              <a:gd name="adj1" fmla="val 10791"/>
              <a:gd name="adj2" fmla="val 9628"/>
              <a:gd name="adj3" fmla="val 25847"/>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a:latin typeface="Consolas" pitchFamily="49" charset="0"/>
              <a:cs typeface="Consolas" pitchFamily="49" charset="0"/>
            </a:endParaRPr>
          </a:p>
        </p:txBody>
      </p:sp>
      <p:sp>
        <p:nvSpPr>
          <p:cNvPr id="32" name="Rectangle 2">
            <a:extLst>
              <a:ext uri="{FF2B5EF4-FFF2-40B4-BE49-F238E27FC236}">
                <a16:creationId xmlns:a16="http://schemas.microsoft.com/office/drawing/2014/main" id="{FC9770FD-8990-1D3B-FFA2-A26344E87E50}"/>
              </a:ext>
            </a:extLst>
          </p:cNvPr>
          <p:cNvSpPr txBox="1">
            <a:spLocks noChangeArrowheads="1"/>
          </p:cNvSpPr>
          <p:nvPr/>
        </p:nvSpPr>
        <p:spPr>
          <a:xfrm>
            <a:off x="474771" y="1230902"/>
            <a:ext cx="10949819"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8.5.2 </a:t>
            </a:r>
            <a:r>
              <a:rPr lang="zh-CN" altLang="en-US" dirty="0"/>
              <a:t>从一个顶点到其余各顶点的最短路径（单源点最短路径问题）</a:t>
            </a:r>
          </a:p>
        </p:txBody>
      </p:sp>
      <p:cxnSp>
        <p:nvCxnSpPr>
          <p:cNvPr id="33" name="直接连接符 32">
            <a:extLst>
              <a:ext uri="{FF2B5EF4-FFF2-40B4-BE49-F238E27FC236}">
                <a16:creationId xmlns:a16="http://schemas.microsoft.com/office/drawing/2014/main" id="{00BA5387-ECBE-177D-2B2A-78F80026B18B}"/>
              </a:ext>
            </a:extLst>
          </p:cNvPr>
          <p:cNvCxnSpPr>
            <a:cxnSpLocks/>
          </p:cNvCxnSpPr>
          <p:nvPr/>
        </p:nvCxnSpPr>
        <p:spPr>
          <a:xfrm>
            <a:off x="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34" name="矩形 33">
            <a:extLst>
              <a:ext uri="{FF2B5EF4-FFF2-40B4-BE49-F238E27FC236}">
                <a16:creationId xmlns:a16="http://schemas.microsoft.com/office/drawing/2014/main" id="{154D45EB-0430-464F-46FD-F56EB619EECF}"/>
              </a:ext>
            </a:extLst>
          </p:cNvPr>
          <p:cNvSpPr/>
          <p:nvPr/>
        </p:nvSpPr>
        <p:spPr>
          <a:xfrm>
            <a:off x="3394075" y="399838"/>
            <a:ext cx="4617860"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8.5 </a:t>
            </a:r>
            <a:r>
              <a:rPr lang="zh-CN" altLang="en-US" sz="3000" b="1" dirty="0">
                <a:latin typeface="黑体" pitchFamily="49" charset="-122"/>
                <a:ea typeface="黑体" pitchFamily="49" charset="-122"/>
                <a:cs typeface="经典粗黑简" pitchFamily="49" charset="-122"/>
              </a:rPr>
              <a:t>最短路径</a:t>
            </a:r>
          </a:p>
        </p:txBody>
      </p:sp>
    </p:spTree>
    <p:extLst>
      <p:ext uri="{BB962C8B-B14F-4D97-AF65-F5344CB8AC3E}">
        <p14:creationId xmlns:p14="http://schemas.microsoft.com/office/powerpoint/2010/main" val="313680807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31"/>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6"/>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29"/>
                                        </p:tgtEl>
                                        <p:attrNameLst>
                                          <p:attrName>style.visibility</p:attrName>
                                        </p:attrNameLst>
                                      </p:cBhvr>
                                      <p:to>
                                        <p:strVal val="visible"/>
                                      </p:to>
                                    </p:set>
                                  </p:childTnLst>
                                </p:cTn>
                              </p:par>
                            </p:childTnLst>
                          </p:cTn>
                        </p:par>
                        <p:par>
                          <p:cTn id="18" fill="hold">
                            <p:stCondLst>
                              <p:cond delay="0"/>
                            </p:stCondLst>
                            <p:childTnLst>
                              <p:par>
                                <p:cTn id="19" presetID="1" presetClass="entr" presetSubtype="0" fill="hold" nodeType="afterEffect">
                                  <p:stCondLst>
                                    <p:cond delay="0"/>
                                  </p:stCondLst>
                                  <p:childTnLst>
                                    <p:set>
                                      <p:cBhvr>
                                        <p:cTn id="20" dur="1" fill="hold">
                                          <p:stCondLst>
                                            <p:cond delay="0"/>
                                          </p:stCondLst>
                                        </p:cTn>
                                        <p:tgtEl>
                                          <p:spTgt spid="28">
                                            <p:txEl>
                                              <p:pRg st="0" end="0"/>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8">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P spid="31" grpId="0" animBg="1"/>
    </p:bld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702C59-C52C-40E0-1EDC-9F807608E5FF}"/>
            </a:ext>
          </a:extLst>
        </p:cNvPr>
        <p:cNvGrpSpPr/>
        <p:nvPr/>
      </p:nvGrpSpPr>
      <p:grpSpPr>
        <a:xfrm>
          <a:off x="0" y="0"/>
          <a:ext cx="0" cy="0"/>
          <a:chOff x="0" y="0"/>
          <a:chExt cx="0" cy="0"/>
        </a:xfrm>
      </p:grpSpPr>
      <p:sp>
        <p:nvSpPr>
          <p:cNvPr id="9" name="Rectangle 2">
            <a:extLst>
              <a:ext uri="{FF2B5EF4-FFF2-40B4-BE49-F238E27FC236}">
                <a16:creationId xmlns:a16="http://schemas.microsoft.com/office/drawing/2014/main" id="{C5C2D544-CF1D-D750-65C0-D5E0B9D3D364}"/>
              </a:ext>
            </a:extLst>
          </p:cNvPr>
          <p:cNvSpPr txBox="1">
            <a:spLocks noChangeArrowheads="1"/>
          </p:cNvSpPr>
          <p:nvPr/>
        </p:nvSpPr>
        <p:spPr>
          <a:xfrm>
            <a:off x="474771" y="1230902"/>
            <a:ext cx="9077613"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8.5.3 </a:t>
            </a:r>
            <a:r>
              <a:rPr lang="zh-CN" altLang="en-US" dirty="0"/>
              <a:t>每一对顶点之间的最短路径（多源最短路径问题）</a:t>
            </a:r>
          </a:p>
        </p:txBody>
      </p:sp>
      <p:cxnSp>
        <p:nvCxnSpPr>
          <p:cNvPr id="10" name="直接连接符 9">
            <a:extLst>
              <a:ext uri="{FF2B5EF4-FFF2-40B4-BE49-F238E27FC236}">
                <a16:creationId xmlns:a16="http://schemas.microsoft.com/office/drawing/2014/main" id="{C2F7CEBD-F1BF-BFD8-3C80-349C92CAA0B3}"/>
              </a:ext>
            </a:extLst>
          </p:cNvPr>
          <p:cNvCxnSpPr>
            <a:cxnSpLocks/>
          </p:cNvCxnSpPr>
          <p:nvPr/>
        </p:nvCxnSpPr>
        <p:spPr>
          <a:xfrm>
            <a:off x="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11" name="矩形 10">
            <a:extLst>
              <a:ext uri="{FF2B5EF4-FFF2-40B4-BE49-F238E27FC236}">
                <a16:creationId xmlns:a16="http://schemas.microsoft.com/office/drawing/2014/main" id="{EBE2894F-7F80-FA73-0899-49CEF4482568}"/>
              </a:ext>
            </a:extLst>
          </p:cNvPr>
          <p:cNvSpPr/>
          <p:nvPr/>
        </p:nvSpPr>
        <p:spPr>
          <a:xfrm>
            <a:off x="3394075" y="399838"/>
            <a:ext cx="4617860"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8.5 </a:t>
            </a:r>
            <a:r>
              <a:rPr lang="zh-CN" altLang="en-US" sz="3000" b="1" dirty="0">
                <a:latin typeface="黑体" pitchFamily="49" charset="-122"/>
                <a:ea typeface="黑体" pitchFamily="49" charset="-122"/>
                <a:cs typeface="经典粗黑简" pitchFamily="49" charset="-122"/>
              </a:rPr>
              <a:t>最短路径</a:t>
            </a:r>
          </a:p>
        </p:txBody>
      </p:sp>
      <p:sp>
        <p:nvSpPr>
          <p:cNvPr id="2" name="Text Box 2">
            <a:extLst>
              <a:ext uri="{FF2B5EF4-FFF2-40B4-BE49-F238E27FC236}">
                <a16:creationId xmlns:a16="http://schemas.microsoft.com/office/drawing/2014/main" id="{637A5956-4CC4-B070-21A1-8530FF95A640}"/>
              </a:ext>
            </a:extLst>
          </p:cNvPr>
          <p:cNvSpPr txBox="1">
            <a:spLocks noChangeArrowheads="1"/>
          </p:cNvSpPr>
          <p:nvPr/>
        </p:nvSpPr>
        <p:spPr bwMode="auto">
          <a:xfrm>
            <a:off x="911424" y="1932287"/>
            <a:ext cx="10729192" cy="827021"/>
          </a:xfrm>
          <a:prstGeom prst="rect">
            <a:avLst/>
          </a:prstGeom>
          <a:noFill/>
          <a:ln w="9525">
            <a:noFill/>
            <a:miter lim="800000"/>
            <a:headEnd/>
            <a:tailEnd/>
          </a:ln>
          <a:effectLst/>
        </p:spPr>
        <p:txBody>
          <a:bodyPr wrap="square">
            <a:spAutoFit/>
          </a:bodyPr>
          <a:lstStyle/>
          <a:p>
            <a:pPr>
              <a:lnSpc>
                <a:spcPts val="3000"/>
              </a:lnSpc>
              <a:spcBef>
                <a:spcPts val="0"/>
              </a:spcBef>
            </a:pPr>
            <a:r>
              <a:rPr kumimoji="1" lang="zh-CN" altLang="en-US" sz="2000" dirty="0">
                <a:solidFill>
                  <a:srgbClr val="FF3300"/>
                </a:solidFill>
                <a:latin typeface="Consolas" pitchFamily="49" charset="0"/>
                <a:ea typeface="楷体" pitchFamily="49" charset="-122"/>
                <a:cs typeface="Consolas" pitchFamily="49" charset="0"/>
              </a:rPr>
              <a:t>　　</a:t>
            </a:r>
            <a:r>
              <a:rPr kumimoji="1" lang="zh-CN" altLang="en-US" sz="2000" dirty="0">
                <a:solidFill>
                  <a:srgbClr val="FF3300"/>
                </a:solidFill>
                <a:latin typeface="微软雅黑" pitchFamily="34" charset="-122"/>
                <a:ea typeface="微软雅黑" pitchFamily="34" charset="-122"/>
                <a:cs typeface="Consolas" pitchFamily="49" charset="0"/>
              </a:rPr>
              <a:t>问题描述：</a:t>
            </a:r>
            <a:r>
              <a:rPr lang="zh-CN" altLang="en-US" sz="2000" dirty="0">
                <a:latin typeface="黑体" panose="02010609060101010101" pitchFamily="49" charset="-122"/>
                <a:ea typeface="黑体" panose="02010609060101010101" pitchFamily="49" charset="-122"/>
              </a:rPr>
              <a:t>对于一个各边权值均大于零的有向图，对每一对顶点</a:t>
            </a:r>
            <a:r>
              <a:rPr lang="en-US" altLang="zh-CN" sz="2000" dirty="0" err="1">
                <a:latin typeface="黑体" panose="02010609060101010101" pitchFamily="49" charset="-122"/>
                <a:ea typeface="黑体" panose="02010609060101010101" pitchFamily="49" charset="-122"/>
              </a:rPr>
              <a:t>i≠j</a:t>
            </a:r>
            <a:r>
              <a:rPr lang="zh-CN" altLang="en-US" sz="2000" dirty="0">
                <a:latin typeface="黑体" panose="02010609060101010101" pitchFamily="49" charset="-122"/>
                <a:ea typeface="黑体" panose="02010609060101010101" pitchFamily="49" charset="-122"/>
              </a:rPr>
              <a:t>，求出顶点</a:t>
            </a:r>
            <a:r>
              <a:rPr lang="en-US" altLang="zh-CN" sz="2000" dirty="0" err="1">
                <a:latin typeface="黑体" panose="02010609060101010101" pitchFamily="49" charset="-122"/>
                <a:ea typeface="黑体" panose="02010609060101010101" pitchFamily="49" charset="-122"/>
              </a:rPr>
              <a:t>i</a:t>
            </a:r>
            <a:r>
              <a:rPr lang="zh-CN" altLang="en-US" sz="2000" dirty="0">
                <a:latin typeface="黑体" panose="02010609060101010101" pitchFamily="49" charset="-122"/>
                <a:ea typeface="黑体" panose="02010609060101010101" pitchFamily="49" charset="-122"/>
              </a:rPr>
              <a:t>与顶点</a:t>
            </a:r>
            <a:r>
              <a:rPr lang="en-US" altLang="zh-CN" sz="2000" dirty="0">
                <a:latin typeface="黑体" panose="02010609060101010101" pitchFamily="49" charset="-122"/>
                <a:ea typeface="黑体" panose="02010609060101010101" pitchFamily="49" charset="-122"/>
              </a:rPr>
              <a:t>j</a:t>
            </a:r>
            <a:r>
              <a:rPr lang="zh-CN" altLang="en-US" sz="2000" dirty="0">
                <a:latin typeface="黑体" panose="02010609060101010101" pitchFamily="49" charset="-122"/>
                <a:ea typeface="黑体" panose="02010609060101010101" pitchFamily="49" charset="-122"/>
              </a:rPr>
              <a:t>之间的最短路径和最短路径长度。       </a:t>
            </a:r>
          </a:p>
        </p:txBody>
      </p:sp>
      <p:sp>
        <p:nvSpPr>
          <p:cNvPr id="3" name="Text Box 4">
            <a:extLst>
              <a:ext uri="{FF2B5EF4-FFF2-40B4-BE49-F238E27FC236}">
                <a16:creationId xmlns:a16="http://schemas.microsoft.com/office/drawing/2014/main" id="{02217F24-86F9-9D6F-0CAD-B76FFACF187B}"/>
              </a:ext>
            </a:extLst>
          </p:cNvPr>
          <p:cNvSpPr txBox="1">
            <a:spLocks noChangeArrowheads="1"/>
          </p:cNvSpPr>
          <p:nvPr/>
        </p:nvSpPr>
        <p:spPr bwMode="auto">
          <a:xfrm>
            <a:off x="1343472" y="2852936"/>
            <a:ext cx="4000528" cy="400110"/>
          </a:xfrm>
          <a:prstGeom prst="rect">
            <a:avLst/>
          </a:prstGeom>
          <a:noFill/>
          <a:ln w="38100" algn="ctr">
            <a:noFill/>
            <a:miter lim="800000"/>
            <a:headEnd/>
            <a:tailEnd type="none" w="med" len="lg"/>
          </a:ln>
          <a:effectLst/>
        </p:spPr>
        <p:txBody>
          <a:bodyPr wrap="square">
            <a:spAutoFit/>
          </a:bodyPr>
          <a:lstStyle/>
          <a:p>
            <a:r>
              <a:rPr lang="zh-CN" altLang="en-US" sz="2000" dirty="0">
                <a:latin typeface="黑体" panose="02010609060101010101" pitchFamily="49" charset="-122"/>
                <a:ea typeface="黑体" panose="02010609060101010101" pitchFamily="49" charset="-122"/>
                <a:cs typeface="Consolas" pitchFamily="49" charset="0"/>
              </a:rPr>
              <a:t>多源最短路径问题：</a:t>
            </a:r>
            <a:r>
              <a:rPr kumimoji="1" lang="en-US" altLang="zh-CN" sz="2000" dirty="0">
                <a:solidFill>
                  <a:srgbClr val="0000FF"/>
                </a:solidFill>
                <a:latin typeface="黑体" panose="02010609060101010101" pitchFamily="49" charset="-122"/>
                <a:ea typeface="黑体" panose="02010609060101010101" pitchFamily="49" charset="-122"/>
                <a:cs typeface="Consolas" pitchFamily="49" charset="0"/>
              </a:rPr>
              <a:t> Floyd</a:t>
            </a:r>
            <a:r>
              <a:rPr lang="zh-CN" altLang="en-US" sz="2000" dirty="0">
                <a:latin typeface="黑体" panose="02010609060101010101" pitchFamily="49" charset="-122"/>
                <a:ea typeface="黑体" panose="02010609060101010101" pitchFamily="49" charset="-122"/>
                <a:cs typeface="Consolas" pitchFamily="49" charset="0"/>
              </a:rPr>
              <a:t>算法</a:t>
            </a:r>
          </a:p>
        </p:txBody>
      </p:sp>
      <p:sp>
        <p:nvSpPr>
          <p:cNvPr id="18" name="Text Box 7">
            <a:extLst>
              <a:ext uri="{FF2B5EF4-FFF2-40B4-BE49-F238E27FC236}">
                <a16:creationId xmlns:a16="http://schemas.microsoft.com/office/drawing/2014/main" id="{EA80DFB8-C2B2-CAC6-756F-7F7D3BDA1D55}"/>
              </a:ext>
            </a:extLst>
          </p:cNvPr>
          <p:cNvSpPr txBox="1">
            <a:spLocks noChangeArrowheads="1"/>
          </p:cNvSpPr>
          <p:nvPr/>
        </p:nvSpPr>
        <p:spPr bwMode="auto">
          <a:xfrm>
            <a:off x="4763132" y="6458162"/>
            <a:ext cx="1512888" cy="307777"/>
          </a:xfrm>
          <a:prstGeom prst="rect">
            <a:avLst/>
          </a:prstGeom>
          <a:noFill/>
          <a:ln w="28575" algn="ctr">
            <a:noFill/>
            <a:miter lim="800000"/>
            <a:headEnd/>
            <a:tailEnd/>
          </a:ln>
          <a:effectLst/>
        </p:spPr>
        <p:txBody>
          <a:bodyPr lIns="0" tIns="0" rIns="0" bIns="0">
            <a:spAutoFit/>
          </a:bodyPr>
          <a:lstStyle/>
          <a:p>
            <a:r>
              <a:rPr lang="en-US" altLang="zh-CN" sz="2000" dirty="0">
                <a:latin typeface="Consolas" pitchFamily="49" charset="0"/>
                <a:cs typeface="Consolas" pitchFamily="49" charset="0"/>
              </a:rPr>
              <a:t>1936~2001</a:t>
            </a:r>
          </a:p>
        </p:txBody>
      </p:sp>
      <p:pic>
        <p:nvPicPr>
          <p:cNvPr id="19" name="图片 3" descr="1">
            <a:extLst>
              <a:ext uri="{FF2B5EF4-FFF2-40B4-BE49-F238E27FC236}">
                <a16:creationId xmlns:a16="http://schemas.microsoft.com/office/drawing/2014/main" id="{4C515113-6796-2111-2818-37ED30959E93}"/>
              </a:ext>
            </a:extLst>
          </p:cNvPr>
          <p:cNvPicPr>
            <a:picLocks noChangeAspect="1" noChangeArrowheads="1"/>
          </p:cNvPicPr>
          <p:nvPr/>
        </p:nvPicPr>
        <p:blipFill>
          <a:blip r:embed="rId2" cstate="print"/>
          <a:srcRect/>
          <a:stretch>
            <a:fillRect/>
          </a:stretch>
        </p:blipFill>
        <p:spPr bwMode="auto">
          <a:xfrm>
            <a:off x="3791744" y="3429252"/>
            <a:ext cx="3384376" cy="2918264"/>
          </a:xfrm>
          <a:prstGeom prst="rect">
            <a:avLst/>
          </a:prstGeom>
          <a:noFill/>
          <a:ln w="9525">
            <a:noFill/>
            <a:miter lim="800000"/>
            <a:headEnd/>
            <a:tailEnd/>
          </a:ln>
        </p:spPr>
      </p:pic>
    </p:spTree>
    <p:extLst>
      <p:ext uri="{BB962C8B-B14F-4D97-AF65-F5344CB8AC3E}">
        <p14:creationId xmlns:p14="http://schemas.microsoft.com/office/powerpoint/2010/main" val="3096422855"/>
      </p:ext>
    </p:extLst>
  </p:cSld>
  <p:clrMapOvr>
    <a:masterClrMapping/>
  </p:clrMapOvr>
  <p:transition/>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E62BF9-3660-14B2-CBAF-78E5F1CC3B9A}"/>
            </a:ext>
          </a:extLst>
        </p:cNvPr>
        <p:cNvGrpSpPr/>
        <p:nvPr/>
      </p:nvGrpSpPr>
      <p:grpSpPr>
        <a:xfrm>
          <a:off x="0" y="0"/>
          <a:ext cx="0" cy="0"/>
          <a:chOff x="0" y="0"/>
          <a:chExt cx="0" cy="0"/>
        </a:xfrm>
      </p:grpSpPr>
      <p:sp>
        <p:nvSpPr>
          <p:cNvPr id="9" name="Rectangle 2">
            <a:extLst>
              <a:ext uri="{FF2B5EF4-FFF2-40B4-BE49-F238E27FC236}">
                <a16:creationId xmlns:a16="http://schemas.microsoft.com/office/drawing/2014/main" id="{C49EFCEA-F355-0BE7-9760-90F43A9C7E85}"/>
              </a:ext>
            </a:extLst>
          </p:cNvPr>
          <p:cNvSpPr txBox="1">
            <a:spLocks noChangeArrowheads="1"/>
          </p:cNvSpPr>
          <p:nvPr/>
        </p:nvSpPr>
        <p:spPr>
          <a:xfrm>
            <a:off x="474771" y="1230902"/>
            <a:ext cx="9077613"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8.5.3 </a:t>
            </a:r>
            <a:r>
              <a:rPr lang="zh-CN" altLang="en-US" dirty="0"/>
              <a:t>每一对顶点之间的最短路径（多源最短路径问题）</a:t>
            </a:r>
          </a:p>
        </p:txBody>
      </p:sp>
      <p:cxnSp>
        <p:nvCxnSpPr>
          <p:cNvPr id="10" name="直接连接符 9">
            <a:extLst>
              <a:ext uri="{FF2B5EF4-FFF2-40B4-BE49-F238E27FC236}">
                <a16:creationId xmlns:a16="http://schemas.microsoft.com/office/drawing/2014/main" id="{628D8764-8940-949F-F0E6-F119905AD35A}"/>
              </a:ext>
            </a:extLst>
          </p:cNvPr>
          <p:cNvCxnSpPr>
            <a:cxnSpLocks/>
          </p:cNvCxnSpPr>
          <p:nvPr/>
        </p:nvCxnSpPr>
        <p:spPr>
          <a:xfrm>
            <a:off x="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11" name="矩形 10">
            <a:extLst>
              <a:ext uri="{FF2B5EF4-FFF2-40B4-BE49-F238E27FC236}">
                <a16:creationId xmlns:a16="http://schemas.microsoft.com/office/drawing/2014/main" id="{81A7AC77-855E-B679-817D-E15C39604DE3}"/>
              </a:ext>
            </a:extLst>
          </p:cNvPr>
          <p:cNvSpPr/>
          <p:nvPr/>
        </p:nvSpPr>
        <p:spPr>
          <a:xfrm>
            <a:off x="3394075" y="399838"/>
            <a:ext cx="4617860"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8.5 </a:t>
            </a:r>
            <a:r>
              <a:rPr lang="zh-CN" altLang="en-US" sz="3000" b="1" dirty="0">
                <a:latin typeface="黑体" pitchFamily="49" charset="-122"/>
                <a:ea typeface="黑体" pitchFamily="49" charset="-122"/>
                <a:cs typeface="经典粗黑简" pitchFamily="49" charset="-122"/>
              </a:rPr>
              <a:t>最短路径</a:t>
            </a:r>
          </a:p>
        </p:txBody>
      </p:sp>
      <p:sp>
        <p:nvSpPr>
          <p:cNvPr id="2" name="Text Box 2">
            <a:extLst>
              <a:ext uri="{FF2B5EF4-FFF2-40B4-BE49-F238E27FC236}">
                <a16:creationId xmlns:a16="http://schemas.microsoft.com/office/drawing/2014/main" id="{EC509261-F867-311E-DF8F-2E6CC0F4361B}"/>
              </a:ext>
            </a:extLst>
          </p:cNvPr>
          <p:cNvSpPr txBox="1">
            <a:spLocks noChangeArrowheads="1"/>
          </p:cNvSpPr>
          <p:nvPr/>
        </p:nvSpPr>
        <p:spPr bwMode="auto">
          <a:xfrm>
            <a:off x="1343472" y="2585169"/>
            <a:ext cx="10153128" cy="827021"/>
          </a:xfrm>
          <a:prstGeom prst="rect">
            <a:avLst/>
          </a:prstGeom>
          <a:noFill/>
          <a:ln w="9525">
            <a:noFill/>
            <a:miter lim="800000"/>
            <a:headEnd/>
            <a:tailEnd/>
          </a:ln>
          <a:effectLst/>
        </p:spPr>
        <p:txBody>
          <a:bodyPr wrap="square">
            <a:spAutoFit/>
          </a:bodyPr>
          <a:lstStyle/>
          <a:p>
            <a:pPr algn="just">
              <a:lnSpc>
                <a:spcPts val="3000"/>
              </a:lnSpc>
            </a:pPr>
            <a:r>
              <a:rPr kumimoji="1" lang="zh-CN" altLang="en-US" sz="2000" dirty="0">
                <a:solidFill>
                  <a:srgbClr val="0000FF"/>
                </a:solidFill>
                <a:latin typeface="Consolas" pitchFamily="49" charset="0"/>
                <a:ea typeface="仿宋" pitchFamily="49" charset="-122"/>
                <a:cs typeface="Consolas" pitchFamily="49" charset="0"/>
              </a:rPr>
              <a:t>假设有向图</a:t>
            </a:r>
            <a:r>
              <a:rPr kumimoji="1" lang="en-US" altLang="zh-CN" sz="2000" dirty="0">
                <a:solidFill>
                  <a:srgbClr val="0000FF"/>
                </a:solidFill>
                <a:latin typeface="Consolas" pitchFamily="49" charset="0"/>
                <a:ea typeface="仿宋" pitchFamily="49" charset="-122"/>
                <a:cs typeface="Consolas" pitchFamily="49" charset="0"/>
              </a:rPr>
              <a:t>G=(V</a:t>
            </a:r>
            <a:r>
              <a:rPr kumimoji="1" lang="zh-CN" altLang="en-US" sz="2000" dirty="0">
                <a:solidFill>
                  <a:srgbClr val="0000FF"/>
                </a:solidFill>
                <a:latin typeface="Consolas" pitchFamily="49" charset="0"/>
                <a:ea typeface="仿宋" pitchFamily="49" charset="-122"/>
                <a:cs typeface="Consolas" pitchFamily="49" charset="0"/>
              </a:rPr>
              <a:t>，</a:t>
            </a:r>
            <a:r>
              <a:rPr kumimoji="1" lang="en-US" altLang="zh-CN" sz="2000" dirty="0">
                <a:solidFill>
                  <a:srgbClr val="0000FF"/>
                </a:solidFill>
                <a:latin typeface="Consolas" pitchFamily="49" charset="0"/>
                <a:ea typeface="仿宋" pitchFamily="49" charset="-122"/>
                <a:cs typeface="Consolas" pitchFamily="49" charset="0"/>
              </a:rPr>
              <a:t>E)</a:t>
            </a:r>
            <a:r>
              <a:rPr kumimoji="1" lang="zh-CN" altLang="en-US" sz="2000" dirty="0">
                <a:solidFill>
                  <a:srgbClr val="0000FF"/>
                </a:solidFill>
                <a:latin typeface="Consolas" pitchFamily="49" charset="0"/>
                <a:ea typeface="仿宋" pitchFamily="49" charset="-122"/>
                <a:cs typeface="Consolas" pitchFamily="49" charset="0"/>
              </a:rPr>
              <a:t>采用邻接矩阵存储。设置一个二维数组</a:t>
            </a:r>
            <a:r>
              <a:rPr kumimoji="1" lang="en-US" altLang="zh-CN" sz="2000" i="1" dirty="0">
                <a:solidFill>
                  <a:srgbClr val="0000FF"/>
                </a:solidFill>
                <a:latin typeface="Consolas" pitchFamily="49" charset="0"/>
                <a:ea typeface="仿宋" pitchFamily="49" charset="-122"/>
                <a:cs typeface="Consolas" pitchFamily="49" charset="0"/>
              </a:rPr>
              <a:t>A</a:t>
            </a:r>
            <a:r>
              <a:rPr kumimoji="1" lang="zh-CN" altLang="en-US" sz="2000" dirty="0">
                <a:solidFill>
                  <a:srgbClr val="0000FF"/>
                </a:solidFill>
                <a:latin typeface="Consolas" pitchFamily="49" charset="0"/>
                <a:ea typeface="仿宋" pitchFamily="49" charset="-122"/>
                <a:cs typeface="Consolas" pitchFamily="49" charset="0"/>
              </a:rPr>
              <a:t>用于存放当前顶点之间的最短路径长度，分量</a:t>
            </a:r>
            <a:r>
              <a:rPr kumimoji="1" lang="en-US" altLang="zh-CN" sz="2000" i="1" dirty="0">
                <a:solidFill>
                  <a:srgbClr val="0000FF"/>
                </a:solidFill>
                <a:latin typeface="Consolas" pitchFamily="49" charset="0"/>
                <a:ea typeface="仿宋" pitchFamily="49" charset="-122"/>
                <a:cs typeface="Consolas" pitchFamily="49" charset="0"/>
              </a:rPr>
              <a:t>A</a:t>
            </a:r>
            <a:r>
              <a:rPr kumimoji="1" lang="en-US" altLang="zh-CN" sz="2000" dirty="0">
                <a:solidFill>
                  <a:srgbClr val="0000FF"/>
                </a:solidFill>
                <a:latin typeface="Consolas" pitchFamily="49" charset="0"/>
                <a:ea typeface="仿宋" pitchFamily="49" charset="-122"/>
                <a:cs typeface="Consolas" pitchFamily="49" charset="0"/>
              </a:rPr>
              <a:t>[</a:t>
            </a:r>
            <a:r>
              <a:rPr kumimoji="1" lang="en-US" altLang="zh-CN" sz="2000" i="1" dirty="0" err="1">
                <a:solidFill>
                  <a:srgbClr val="0000FF"/>
                </a:solidFill>
                <a:latin typeface="Consolas" pitchFamily="49" charset="0"/>
                <a:ea typeface="仿宋" pitchFamily="49" charset="-122"/>
                <a:cs typeface="Consolas" pitchFamily="49" charset="0"/>
              </a:rPr>
              <a:t>i</a:t>
            </a:r>
            <a:r>
              <a:rPr kumimoji="1" lang="en-US" altLang="zh-CN" sz="2000" dirty="0">
                <a:solidFill>
                  <a:srgbClr val="0000FF"/>
                </a:solidFill>
                <a:latin typeface="Consolas" pitchFamily="49" charset="0"/>
                <a:ea typeface="仿宋" pitchFamily="49" charset="-122"/>
                <a:cs typeface="Consolas" pitchFamily="49" charset="0"/>
              </a:rPr>
              <a:t>][</a:t>
            </a:r>
            <a:r>
              <a:rPr kumimoji="1" lang="en-US" altLang="zh-CN" sz="2000" i="1" dirty="0">
                <a:solidFill>
                  <a:srgbClr val="0000FF"/>
                </a:solidFill>
                <a:latin typeface="Consolas" pitchFamily="49" charset="0"/>
                <a:ea typeface="仿宋" pitchFamily="49" charset="-122"/>
                <a:cs typeface="Consolas" pitchFamily="49" charset="0"/>
              </a:rPr>
              <a:t>j</a:t>
            </a:r>
            <a:r>
              <a:rPr kumimoji="1" lang="en-US" altLang="zh-CN" sz="2000" dirty="0">
                <a:solidFill>
                  <a:srgbClr val="0000FF"/>
                </a:solidFill>
                <a:latin typeface="Consolas" pitchFamily="49" charset="0"/>
                <a:ea typeface="仿宋" pitchFamily="49" charset="-122"/>
                <a:cs typeface="Consolas" pitchFamily="49" charset="0"/>
              </a:rPr>
              <a:t>]</a:t>
            </a:r>
            <a:r>
              <a:rPr kumimoji="1" lang="zh-CN" altLang="en-US" sz="2000" dirty="0">
                <a:solidFill>
                  <a:srgbClr val="0000FF"/>
                </a:solidFill>
                <a:latin typeface="Consolas" pitchFamily="49" charset="0"/>
                <a:ea typeface="仿宋" pitchFamily="49" charset="-122"/>
                <a:cs typeface="Consolas" pitchFamily="49" charset="0"/>
              </a:rPr>
              <a:t>表示当前顶点</a:t>
            </a:r>
            <a:r>
              <a:rPr kumimoji="1" lang="en-US" altLang="zh-CN" sz="2000" i="1" dirty="0" err="1">
                <a:solidFill>
                  <a:srgbClr val="0000FF"/>
                </a:solidFill>
                <a:latin typeface="Consolas" pitchFamily="49" charset="0"/>
                <a:ea typeface="仿宋" pitchFamily="49" charset="-122"/>
                <a:cs typeface="Consolas" pitchFamily="49" charset="0"/>
              </a:rPr>
              <a:t>i</a:t>
            </a:r>
            <a:r>
              <a:rPr kumimoji="1" lang="zh-CN" altLang="en-US" sz="2000" dirty="0">
                <a:solidFill>
                  <a:srgbClr val="FF00FF"/>
                </a:solidFill>
                <a:latin typeface="Consolas" pitchFamily="49" charset="0"/>
                <a:ea typeface="仿宋" pitchFamily="49" charset="-122"/>
                <a:cs typeface="Consolas" pitchFamily="49" charset="0"/>
                <a:sym typeface="Wingdings"/>
              </a:rPr>
              <a:t></a:t>
            </a:r>
            <a:r>
              <a:rPr kumimoji="1" lang="en-US" altLang="zh-CN" sz="2000" i="1" dirty="0">
                <a:solidFill>
                  <a:srgbClr val="0000FF"/>
                </a:solidFill>
                <a:latin typeface="Consolas" pitchFamily="49" charset="0"/>
                <a:ea typeface="仿宋" pitchFamily="49" charset="-122"/>
                <a:cs typeface="Consolas" pitchFamily="49" charset="0"/>
              </a:rPr>
              <a:t>j</a:t>
            </a:r>
            <a:r>
              <a:rPr kumimoji="1" lang="zh-CN" altLang="en-US" sz="2000" dirty="0">
                <a:solidFill>
                  <a:srgbClr val="0000FF"/>
                </a:solidFill>
                <a:latin typeface="Consolas" pitchFamily="49" charset="0"/>
                <a:ea typeface="仿宋" pitchFamily="49" charset="-122"/>
                <a:cs typeface="Consolas" pitchFamily="49" charset="0"/>
              </a:rPr>
              <a:t>的最短路径长度。</a:t>
            </a:r>
          </a:p>
        </p:txBody>
      </p:sp>
      <p:sp>
        <p:nvSpPr>
          <p:cNvPr id="4" name="TextBox 3">
            <a:extLst>
              <a:ext uri="{FF2B5EF4-FFF2-40B4-BE49-F238E27FC236}">
                <a16:creationId xmlns:a16="http://schemas.microsoft.com/office/drawing/2014/main" id="{3AF4CFF9-ECAC-EE20-3145-ADCAF7B5C776}"/>
              </a:ext>
            </a:extLst>
          </p:cNvPr>
          <p:cNvSpPr txBox="1"/>
          <p:nvPr/>
        </p:nvSpPr>
        <p:spPr>
          <a:xfrm>
            <a:off x="1955540" y="6159156"/>
            <a:ext cx="8928992" cy="525886"/>
          </a:xfrm>
          <a:prstGeom prst="rect">
            <a:avLst/>
          </a:prstGeom>
          <a:solidFill>
            <a:schemeClr val="bg1">
              <a:lumMod val="95000"/>
            </a:schemeClr>
          </a:solidFill>
        </p:spPr>
        <p:style>
          <a:lnRef idx="1">
            <a:schemeClr val="accent5"/>
          </a:lnRef>
          <a:fillRef idx="2">
            <a:schemeClr val="accent5"/>
          </a:fillRef>
          <a:effectRef idx="1">
            <a:schemeClr val="accent5"/>
          </a:effectRef>
          <a:fontRef idx="minor">
            <a:schemeClr val="dk1"/>
          </a:fontRef>
        </p:style>
        <p:txBody>
          <a:bodyPr wrap="square" tIns="108000" bIns="108000" rtlCol="0">
            <a:spAutoFit/>
          </a:bodyPr>
          <a:lstStyle/>
          <a:p>
            <a:pPr algn="ctr"/>
            <a:r>
              <a:rPr kumimoji="1" lang="en-US" altLang="zh-CN" sz="2000" i="1" dirty="0">
                <a:solidFill>
                  <a:srgbClr val="1000E4"/>
                </a:solidFill>
                <a:latin typeface="Consolas" pitchFamily="49" charset="0"/>
                <a:ea typeface="仿宋" pitchFamily="49" charset="-122"/>
                <a:cs typeface="Consolas" pitchFamily="49" charset="0"/>
              </a:rPr>
              <a:t>A</a:t>
            </a:r>
            <a:r>
              <a:rPr kumimoji="1" lang="en-US" altLang="zh-CN" sz="2000" i="1" baseline="-30000" dirty="0">
                <a:solidFill>
                  <a:srgbClr val="1000E4"/>
                </a:solidFill>
                <a:latin typeface="Consolas" pitchFamily="49" charset="0"/>
                <a:ea typeface="仿宋" pitchFamily="49" charset="-122"/>
                <a:cs typeface="Consolas" pitchFamily="49" charset="0"/>
              </a:rPr>
              <a:t>k</a:t>
            </a:r>
            <a:r>
              <a:rPr kumimoji="1" lang="en-US" altLang="zh-CN" sz="2000" dirty="0">
                <a:solidFill>
                  <a:srgbClr val="1000E4"/>
                </a:solidFill>
                <a:latin typeface="Consolas" pitchFamily="49" charset="0"/>
                <a:ea typeface="仿宋" pitchFamily="49" charset="-122"/>
                <a:cs typeface="Consolas" pitchFamily="49" charset="0"/>
              </a:rPr>
              <a:t>[</a:t>
            </a:r>
            <a:r>
              <a:rPr kumimoji="1" lang="en-US" altLang="zh-CN" sz="2000" i="1" dirty="0" err="1">
                <a:solidFill>
                  <a:srgbClr val="1000E4"/>
                </a:solidFill>
                <a:latin typeface="Consolas" pitchFamily="49" charset="0"/>
                <a:ea typeface="仿宋" pitchFamily="49" charset="-122"/>
                <a:cs typeface="Consolas" pitchFamily="49" charset="0"/>
              </a:rPr>
              <a:t>i</a:t>
            </a:r>
            <a:r>
              <a:rPr kumimoji="1" lang="en-US" altLang="zh-CN" sz="2000" dirty="0">
                <a:solidFill>
                  <a:srgbClr val="1000E4"/>
                </a:solidFill>
                <a:latin typeface="Consolas" pitchFamily="49" charset="0"/>
                <a:ea typeface="仿宋" pitchFamily="49" charset="-122"/>
                <a:cs typeface="Consolas" pitchFamily="49" charset="0"/>
              </a:rPr>
              <a:t>][</a:t>
            </a:r>
            <a:r>
              <a:rPr kumimoji="1" lang="en-US" altLang="zh-CN" sz="2000" i="1" dirty="0">
                <a:solidFill>
                  <a:srgbClr val="1000E4"/>
                </a:solidFill>
                <a:latin typeface="Consolas" pitchFamily="49" charset="0"/>
                <a:ea typeface="仿宋" pitchFamily="49" charset="-122"/>
                <a:cs typeface="Consolas" pitchFamily="49" charset="0"/>
              </a:rPr>
              <a:t>j</a:t>
            </a:r>
            <a:r>
              <a:rPr kumimoji="1" lang="en-US" altLang="zh-CN" sz="2000" dirty="0">
                <a:solidFill>
                  <a:srgbClr val="1000E4"/>
                </a:solidFill>
                <a:latin typeface="Consolas" pitchFamily="49" charset="0"/>
                <a:ea typeface="仿宋" pitchFamily="49" charset="-122"/>
                <a:cs typeface="Consolas" pitchFamily="49" charset="0"/>
              </a:rPr>
              <a:t>]</a:t>
            </a:r>
            <a:r>
              <a:rPr kumimoji="1" lang="zh-CN" altLang="en-US" sz="2000" dirty="0">
                <a:solidFill>
                  <a:srgbClr val="1000E4"/>
                </a:solidFill>
                <a:latin typeface="Consolas" pitchFamily="49" charset="0"/>
                <a:ea typeface="仿宋" pitchFamily="49" charset="-122"/>
                <a:cs typeface="Consolas" pitchFamily="49" charset="0"/>
              </a:rPr>
              <a:t>：</a:t>
            </a:r>
            <a:r>
              <a:rPr kumimoji="1" lang="en-US" altLang="zh-CN" sz="2000" i="1" dirty="0" err="1">
                <a:solidFill>
                  <a:srgbClr val="1000E4"/>
                </a:solidFill>
                <a:latin typeface="Consolas" pitchFamily="49" charset="0"/>
                <a:ea typeface="仿宋" pitchFamily="49" charset="-122"/>
                <a:cs typeface="Consolas" pitchFamily="49" charset="0"/>
              </a:rPr>
              <a:t>i</a:t>
            </a:r>
            <a:r>
              <a:rPr kumimoji="1" lang="en-US" altLang="zh-CN" sz="2000" i="1" dirty="0">
                <a:solidFill>
                  <a:srgbClr val="1000E4"/>
                </a:solidFill>
                <a:latin typeface="Consolas" pitchFamily="49" charset="0"/>
                <a:ea typeface="仿宋" pitchFamily="49" charset="-122"/>
                <a:cs typeface="Consolas" pitchFamily="49" charset="0"/>
              </a:rPr>
              <a:t> </a:t>
            </a:r>
            <a:r>
              <a:rPr kumimoji="1" lang="zh-CN" altLang="en-US" sz="2000" dirty="0">
                <a:solidFill>
                  <a:srgbClr val="1000E4"/>
                </a:solidFill>
                <a:latin typeface="Consolas" pitchFamily="49" charset="0"/>
                <a:ea typeface="仿宋" pitchFamily="49" charset="-122"/>
                <a:cs typeface="Consolas" pitchFamily="49" charset="0"/>
                <a:sym typeface="Wingdings"/>
              </a:rPr>
              <a:t> </a:t>
            </a:r>
            <a:r>
              <a:rPr kumimoji="1" lang="en-US" altLang="zh-CN" sz="2000" i="1" dirty="0">
                <a:solidFill>
                  <a:srgbClr val="1000E4"/>
                </a:solidFill>
                <a:latin typeface="Consolas" pitchFamily="49" charset="0"/>
                <a:ea typeface="仿宋" pitchFamily="49" charset="-122"/>
                <a:cs typeface="Consolas" pitchFamily="49" charset="0"/>
              </a:rPr>
              <a:t>j</a:t>
            </a:r>
            <a:r>
              <a:rPr kumimoji="1" lang="zh-CN" altLang="en-US" sz="2000" dirty="0">
                <a:solidFill>
                  <a:srgbClr val="1000E4"/>
                </a:solidFill>
                <a:latin typeface="Consolas" pitchFamily="49" charset="0"/>
                <a:ea typeface="仿宋" pitchFamily="49" charset="-122"/>
                <a:cs typeface="Consolas" pitchFamily="49" charset="0"/>
              </a:rPr>
              <a:t>的路径上所经过的顶点编号不大于</a:t>
            </a:r>
            <a:r>
              <a:rPr kumimoji="1" lang="en-US" altLang="zh-CN" sz="2000" i="1" dirty="0">
                <a:solidFill>
                  <a:srgbClr val="1000E4"/>
                </a:solidFill>
                <a:latin typeface="Consolas" pitchFamily="49" charset="0"/>
                <a:ea typeface="仿宋" pitchFamily="49" charset="-122"/>
                <a:cs typeface="Consolas" pitchFamily="49" charset="0"/>
              </a:rPr>
              <a:t>k</a:t>
            </a:r>
            <a:r>
              <a:rPr kumimoji="1" lang="zh-CN" altLang="en-US" sz="2000" dirty="0">
                <a:solidFill>
                  <a:srgbClr val="1000E4"/>
                </a:solidFill>
                <a:latin typeface="Consolas" pitchFamily="49" charset="0"/>
                <a:ea typeface="仿宋" pitchFamily="49" charset="-122"/>
                <a:cs typeface="Consolas" pitchFamily="49" charset="0"/>
              </a:rPr>
              <a:t>的最短路径长度。</a:t>
            </a:r>
            <a:endParaRPr kumimoji="1" lang="zh-CN" altLang="en-US" sz="2000" b="0" dirty="0">
              <a:solidFill>
                <a:srgbClr val="1000E4"/>
              </a:solidFill>
              <a:latin typeface="Consolas" pitchFamily="49" charset="0"/>
              <a:ea typeface="仿宋" pitchFamily="49" charset="-122"/>
              <a:cs typeface="Consolas" pitchFamily="49" charset="0"/>
            </a:endParaRPr>
          </a:p>
        </p:txBody>
      </p:sp>
      <p:grpSp>
        <p:nvGrpSpPr>
          <p:cNvPr id="5" name="组合 11">
            <a:extLst>
              <a:ext uri="{FF2B5EF4-FFF2-40B4-BE49-F238E27FC236}">
                <a16:creationId xmlns:a16="http://schemas.microsoft.com/office/drawing/2014/main" id="{F490EA43-E014-1767-F296-C47D4AFACAED}"/>
              </a:ext>
            </a:extLst>
          </p:cNvPr>
          <p:cNvGrpSpPr/>
          <p:nvPr/>
        </p:nvGrpSpPr>
        <p:grpSpPr>
          <a:xfrm>
            <a:off x="3164001" y="3461841"/>
            <a:ext cx="4071966" cy="1657350"/>
            <a:chOff x="2143108" y="4772046"/>
            <a:chExt cx="4071966" cy="1657350"/>
          </a:xfrm>
        </p:grpSpPr>
        <p:sp>
          <p:nvSpPr>
            <p:cNvPr id="6" name="椭圆 5">
              <a:extLst>
                <a:ext uri="{FF2B5EF4-FFF2-40B4-BE49-F238E27FC236}">
                  <a16:creationId xmlns:a16="http://schemas.microsoft.com/office/drawing/2014/main" id="{7DAEEF92-AFA0-2823-5A4F-CF70EA6B76B5}"/>
                </a:ext>
              </a:extLst>
            </p:cNvPr>
            <p:cNvSpPr/>
            <p:nvPr/>
          </p:nvSpPr>
          <p:spPr>
            <a:xfrm>
              <a:off x="2143108" y="5286388"/>
              <a:ext cx="540000" cy="540000"/>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800" i="1" dirty="0">
                  <a:solidFill>
                    <a:srgbClr val="3333FF"/>
                  </a:solidFill>
                  <a:latin typeface="Consolas" pitchFamily="49" charset="0"/>
                  <a:cs typeface="Consolas" pitchFamily="49" charset="0"/>
                </a:rPr>
                <a:t>i</a:t>
              </a:r>
              <a:endParaRPr lang="zh-CN" altLang="en-US" sz="1800" i="1" dirty="0">
                <a:solidFill>
                  <a:srgbClr val="3333FF"/>
                </a:solidFill>
                <a:latin typeface="Consolas" pitchFamily="49" charset="0"/>
                <a:cs typeface="Consolas" pitchFamily="49" charset="0"/>
              </a:endParaRPr>
            </a:p>
          </p:txBody>
        </p:sp>
        <p:sp>
          <p:nvSpPr>
            <p:cNvPr id="7" name="椭圆 6">
              <a:extLst>
                <a:ext uri="{FF2B5EF4-FFF2-40B4-BE49-F238E27FC236}">
                  <a16:creationId xmlns:a16="http://schemas.microsoft.com/office/drawing/2014/main" id="{3A96F837-283B-6A42-F584-A5DAFD8D5BB0}"/>
                </a:ext>
              </a:extLst>
            </p:cNvPr>
            <p:cNvSpPr/>
            <p:nvPr/>
          </p:nvSpPr>
          <p:spPr>
            <a:xfrm>
              <a:off x="5675074" y="5286388"/>
              <a:ext cx="540000" cy="540000"/>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800" i="1" dirty="0">
                  <a:solidFill>
                    <a:srgbClr val="3333FF"/>
                  </a:solidFill>
                  <a:latin typeface="Consolas" pitchFamily="49" charset="0"/>
                  <a:cs typeface="Consolas" pitchFamily="49" charset="0"/>
                </a:rPr>
                <a:t>j</a:t>
              </a:r>
              <a:endParaRPr lang="zh-CN" altLang="en-US" sz="1800" i="1" dirty="0">
                <a:solidFill>
                  <a:srgbClr val="3333FF"/>
                </a:solidFill>
                <a:latin typeface="Consolas" pitchFamily="49" charset="0"/>
                <a:cs typeface="Consolas" pitchFamily="49" charset="0"/>
              </a:endParaRPr>
            </a:p>
          </p:txBody>
        </p:sp>
        <p:sp>
          <p:nvSpPr>
            <p:cNvPr id="12" name="Oval 9">
              <a:extLst>
                <a:ext uri="{FF2B5EF4-FFF2-40B4-BE49-F238E27FC236}">
                  <a16:creationId xmlns:a16="http://schemas.microsoft.com/office/drawing/2014/main" id="{2A9084F4-0A14-7B2F-4F49-8EBC44C46B1B}"/>
                </a:ext>
              </a:extLst>
            </p:cNvPr>
            <p:cNvSpPr>
              <a:spLocks noChangeArrowheads="1"/>
            </p:cNvSpPr>
            <p:nvPr/>
          </p:nvSpPr>
          <p:spPr bwMode="auto">
            <a:xfrm>
              <a:off x="3054355" y="4772046"/>
              <a:ext cx="2232025" cy="1657350"/>
            </a:xfrm>
            <a:prstGeom prst="ellipse">
              <a:avLst/>
            </a:prstGeom>
            <a:solidFill>
              <a:srgbClr val="FFFFFF">
                <a:alpha val="0"/>
              </a:srgbClr>
            </a:solidFill>
            <a:ln w="28575" algn="ctr">
              <a:solidFill>
                <a:srgbClr val="0000FF"/>
              </a:solidFill>
              <a:prstDash val="sysDot"/>
              <a:round/>
              <a:headEnd/>
              <a:tailEnd type="none" w="med" len="lg"/>
            </a:ln>
            <a:effectLst/>
          </p:spPr>
          <p:txBody>
            <a:bodyPr wrap="none" anchor="ctr"/>
            <a:lstStyle/>
            <a:p>
              <a:endParaRPr lang="zh-CN" altLang="en-US" sz="1800">
                <a:latin typeface="Consolas" pitchFamily="49" charset="0"/>
                <a:cs typeface="Consolas" pitchFamily="49" charset="0"/>
              </a:endParaRPr>
            </a:p>
          </p:txBody>
        </p:sp>
        <p:sp>
          <p:nvSpPr>
            <p:cNvPr id="13" name="任意多边形 8">
              <a:extLst>
                <a:ext uri="{FF2B5EF4-FFF2-40B4-BE49-F238E27FC236}">
                  <a16:creationId xmlns:a16="http://schemas.microsoft.com/office/drawing/2014/main" id="{84804A7F-C90E-669E-5F9C-E96A068DAE49}"/>
                </a:ext>
              </a:extLst>
            </p:cNvPr>
            <p:cNvSpPr/>
            <p:nvPr/>
          </p:nvSpPr>
          <p:spPr>
            <a:xfrm>
              <a:off x="2679700" y="5471583"/>
              <a:ext cx="3035300" cy="203200"/>
            </a:xfrm>
            <a:custGeom>
              <a:avLst/>
              <a:gdLst>
                <a:gd name="connsiteX0" fmla="*/ 0 w 3035300"/>
                <a:gd name="connsiteY0" fmla="*/ 116417 h 203200"/>
                <a:gd name="connsiteX1" fmla="*/ 254000 w 3035300"/>
                <a:gd name="connsiteY1" fmla="*/ 40217 h 203200"/>
                <a:gd name="connsiteX2" fmla="*/ 660400 w 3035300"/>
                <a:gd name="connsiteY2" fmla="*/ 129117 h 203200"/>
                <a:gd name="connsiteX3" fmla="*/ 1066800 w 3035300"/>
                <a:gd name="connsiteY3" fmla="*/ 52917 h 203200"/>
                <a:gd name="connsiteX4" fmla="*/ 1600200 w 3035300"/>
                <a:gd name="connsiteY4" fmla="*/ 167217 h 203200"/>
                <a:gd name="connsiteX5" fmla="*/ 2108200 w 3035300"/>
                <a:gd name="connsiteY5" fmla="*/ 2117 h 203200"/>
                <a:gd name="connsiteX6" fmla="*/ 2540000 w 3035300"/>
                <a:gd name="connsiteY6" fmla="*/ 179917 h 203200"/>
                <a:gd name="connsiteX7" fmla="*/ 3035300 w 3035300"/>
                <a:gd name="connsiteY7" fmla="*/ 141817 h 203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35300" h="203200">
                  <a:moveTo>
                    <a:pt x="0" y="116417"/>
                  </a:moveTo>
                  <a:cubicBezTo>
                    <a:pt x="71966" y="77258"/>
                    <a:pt x="143933" y="38100"/>
                    <a:pt x="254000" y="40217"/>
                  </a:cubicBezTo>
                  <a:cubicBezTo>
                    <a:pt x="364067" y="42334"/>
                    <a:pt x="524933" y="127000"/>
                    <a:pt x="660400" y="129117"/>
                  </a:cubicBezTo>
                  <a:cubicBezTo>
                    <a:pt x="795867" y="131234"/>
                    <a:pt x="910167" y="46567"/>
                    <a:pt x="1066800" y="52917"/>
                  </a:cubicBezTo>
                  <a:cubicBezTo>
                    <a:pt x="1223433" y="59267"/>
                    <a:pt x="1426633" y="175684"/>
                    <a:pt x="1600200" y="167217"/>
                  </a:cubicBezTo>
                  <a:cubicBezTo>
                    <a:pt x="1773767" y="158750"/>
                    <a:pt x="1951567" y="0"/>
                    <a:pt x="2108200" y="2117"/>
                  </a:cubicBezTo>
                  <a:cubicBezTo>
                    <a:pt x="2264833" y="4234"/>
                    <a:pt x="2385483" y="156634"/>
                    <a:pt x="2540000" y="179917"/>
                  </a:cubicBezTo>
                  <a:cubicBezTo>
                    <a:pt x="2694517" y="203200"/>
                    <a:pt x="2864908" y="172508"/>
                    <a:pt x="3035300" y="141817"/>
                  </a:cubicBezTo>
                </a:path>
              </a:pathLst>
            </a:custGeom>
            <a:ln w="28575">
              <a:solidFill>
                <a:srgbClr val="C00000"/>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800">
                <a:latin typeface="Consolas" pitchFamily="49" charset="0"/>
                <a:cs typeface="Consolas" pitchFamily="49" charset="0"/>
              </a:endParaRPr>
            </a:p>
          </p:txBody>
        </p:sp>
        <p:sp>
          <p:nvSpPr>
            <p:cNvPr id="14" name="TextBox 10">
              <a:extLst>
                <a:ext uri="{FF2B5EF4-FFF2-40B4-BE49-F238E27FC236}">
                  <a16:creationId xmlns:a16="http://schemas.microsoft.com/office/drawing/2014/main" id="{E57352A9-D20B-8204-13A0-F9CBC2F2A5D9}"/>
                </a:ext>
              </a:extLst>
            </p:cNvPr>
            <p:cNvSpPr txBox="1"/>
            <p:nvPr/>
          </p:nvSpPr>
          <p:spPr>
            <a:xfrm>
              <a:off x="3428992" y="5715016"/>
              <a:ext cx="1571636" cy="369332"/>
            </a:xfrm>
            <a:prstGeom prst="rect">
              <a:avLst/>
            </a:prstGeom>
            <a:noFill/>
          </p:spPr>
          <p:txBody>
            <a:bodyPr wrap="square" rtlCol="0">
              <a:spAutoFit/>
            </a:bodyPr>
            <a:lstStyle/>
            <a:p>
              <a:r>
                <a:rPr lang="en-US" altLang="zh-CN" sz="1800" dirty="0">
                  <a:latin typeface="Consolas" pitchFamily="49" charset="0"/>
                  <a:ea typeface="楷体" pitchFamily="49" charset="-122"/>
                  <a:cs typeface="Consolas" pitchFamily="49" charset="0"/>
                </a:rPr>
                <a:t>0</a:t>
              </a:r>
              <a:r>
                <a:rPr lang="zh-CN" altLang="en-US" sz="1800" dirty="0">
                  <a:latin typeface="Consolas" pitchFamily="49" charset="0"/>
                  <a:ea typeface="楷体" pitchFamily="49" charset="-122"/>
                  <a:cs typeface="Consolas" pitchFamily="49" charset="0"/>
                </a:rPr>
                <a:t>～</a:t>
              </a:r>
              <a:r>
                <a:rPr lang="en-US" altLang="zh-CN" sz="1800" i="1" dirty="0">
                  <a:latin typeface="Consolas" pitchFamily="49" charset="0"/>
                  <a:ea typeface="楷体" pitchFamily="49" charset="-122"/>
                  <a:cs typeface="Consolas" pitchFamily="49" charset="0"/>
                </a:rPr>
                <a:t>k</a:t>
              </a:r>
              <a:r>
                <a:rPr lang="zh-CN" altLang="en-US" sz="1800" dirty="0">
                  <a:latin typeface="Consolas" pitchFamily="49" charset="0"/>
                  <a:ea typeface="楷体" pitchFamily="49" charset="-122"/>
                  <a:cs typeface="Consolas" pitchFamily="49" charset="0"/>
                </a:rPr>
                <a:t>的顶点</a:t>
              </a:r>
            </a:p>
          </p:txBody>
        </p:sp>
      </p:grpSp>
      <p:sp>
        <p:nvSpPr>
          <p:cNvPr id="15" name="TextBox 13">
            <a:extLst>
              <a:ext uri="{FF2B5EF4-FFF2-40B4-BE49-F238E27FC236}">
                <a16:creationId xmlns:a16="http://schemas.microsoft.com/office/drawing/2014/main" id="{E1B76289-1D9F-F7A4-FF1D-6EF89325C018}"/>
              </a:ext>
            </a:extLst>
          </p:cNvPr>
          <p:cNvSpPr txBox="1"/>
          <p:nvPr/>
        </p:nvSpPr>
        <p:spPr>
          <a:xfrm>
            <a:off x="3306877" y="5229200"/>
            <a:ext cx="4143404" cy="400110"/>
          </a:xfrm>
          <a:prstGeom prst="rect">
            <a:avLst/>
          </a:prstGeom>
          <a:noFill/>
        </p:spPr>
        <p:txBody>
          <a:bodyPr wrap="square" rtlCol="0">
            <a:spAutoFit/>
          </a:bodyPr>
          <a:lstStyle/>
          <a:p>
            <a:r>
              <a:rPr lang="zh-CN" altLang="en-US" sz="2000" dirty="0">
                <a:solidFill>
                  <a:srgbClr val="C00000"/>
                </a:solidFill>
                <a:latin typeface="Consolas" pitchFamily="49" charset="0"/>
                <a:ea typeface="方正启体简体" pitchFamily="65" charset="-122"/>
                <a:cs typeface="Consolas" pitchFamily="49" charset="0"/>
              </a:rPr>
              <a:t>按顶点</a:t>
            </a:r>
            <a:r>
              <a:rPr lang="en-US" altLang="zh-CN" sz="2000" dirty="0">
                <a:solidFill>
                  <a:srgbClr val="C00000"/>
                </a:solidFill>
                <a:latin typeface="Consolas" pitchFamily="49" charset="0"/>
                <a:ea typeface="方正启体简体" pitchFamily="65" charset="-122"/>
                <a:cs typeface="Consolas" pitchFamily="49" charset="0"/>
              </a:rPr>
              <a:t>0</a:t>
            </a:r>
            <a:r>
              <a:rPr lang="zh-CN" altLang="en-US" sz="2000" dirty="0">
                <a:solidFill>
                  <a:srgbClr val="C00000"/>
                </a:solidFill>
                <a:latin typeface="Consolas" pitchFamily="49" charset="0"/>
                <a:ea typeface="方正启体简体" pitchFamily="65" charset="-122"/>
                <a:cs typeface="Consolas" pitchFamily="49" charset="0"/>
              </a:rPr>
              <a:t>，</a:t>
            </a:r>
            <a:r>
              <a:rPr lang="en-US" altLang="zh-CN" sz="2000" dirty="0">
                <a:solidFill>
                  <a:srgbClr val="C00000"/>
                </a:solidFill>
                <a:latin typeface="Consolas" pitchFamily="49" charset="0"/>
                <a:ea typeface="方正启体简体" pitchFamily="65" charset="-122"/>
                <a:cs typeface="Consolas" pitchFamily="49" charset="0"/>
              </a:rPr>
              <a:t>1</a:t>
            </a:r>
            <a:r>
              <a:rPr lang="zh-CN" altLang="en-US" sz="2000" dirty="0">
                <a:solidFill>
                  <a:srgbClr val="C00000"/>
                </a:solidFill>
                <a:latin typeface="Consolas" pitchFamily="49" charset="0"/>
                <a:ea typeface="方正启体简体" pitchFamily="65" charset="-122"/>
                <a:cs typeface="Consolas" pitchFamily="49" charset="0"/>
              </a:rPr>
              <a:t>，</a:t>
            </a:r>
            <a:r>
              <a:rPr lang="en-US" altLang="zh-CN" sz="2000" dirty="0">
                <a:solidFill>
                  <a:srgbClr val="C00000"/>
                </a:solidFill>
                <a:latin typeface="Consolas" pitchFamily="49" charset="0"/>
                <a:ea typeface="方正启体简体" pitchFamily="65" charset="-122"/>
                <a:cs typeface="Consolas" pitchFamily="49" charset="0"/>
              </a:rPr>
              <a:t>2</a:t>
            </a:r>
            <a:r>
              <a:rPr lang="zh-CN" altLang="en-US" sz="2000" dirty="0">
                <a:solidFill>
                  <a:srgbClr val="C00000"/>
                </a:solidFill>
                <a:latin typeface="Consolas" pitchFamily="49" charset="0"/>
                <a:ea typeface="方正启体简体" pitchFamily="65" charset="-122"/>
                <a:cs typeface="Consolas" pitchFamily="49" charset="0"/>
              </a:rPr>
              <a:t>，</a:t>
            </a:r>
            <a:r>
              <a:rPr lang="en-US" altLang="zh-CN" sz="2000" dirty="0">
                <a:solidFill>
                  <a:srgbClr val="C00000"/>
                </a:solidFill>
                <a:latin typeface="Consolas" pitchFamily="49" charset="0"/>
                <a:ea typeface="方正启体简体" pitchFamily="65" charset="-122"/>
                <a:cs typeface="Consolas" pitchFamily="49" charset="0"/>
              </a:rPr>
              <a:t>…</a:t>
            </a:r>
            <a:r>
              <a:rPr lang="zh-CN" altLang="en-US" sz="2000" dirty="0">
                <a:solidFill>
                  <a:srgbClr val="C00000"/>
                </a:solidFill>
                <a:latin typeface="Consolas" pitchFamily="49" charset="0"/>
                <a:ea typeface="方正启体简体" pitchFamily="65" charset="-122"/>
                <a:cs typeface="Consolas" pitchFamily="49" charset="0"/>
              </a:rPr>
              <a:t>的顺序依次考虑</a:t>
            </a:r>
          </a:p>
        </p:txBody>
      </p:sp>
      <p:sp>
        <p:nvSpPr>
          <p:cNvPr id="16" name="Text Box 2">
            <a:extLst>
              <a:ext uri="{FF2B5EF4-FFF2-40B4-BE49-F238E27FC236}">
                <a16:creationId xmlns:a16="http://schemas.microsoft.com/office/drawing/2014/main" id="{A49A162C-7FC3-BE67-D01A-16AE85E9EA66}"/>
              </a:ext>
            </a:extLst>
          </p:cNvPr>
          <p:cNvSpPr txBox="1">
            <a:spLocks noChangeArrowheads="1"/>
          </p:cNvSpPr>
          <p:nvPr/>
        </p:nvSpPr>
        <p:spPr bwMode="auto">
          <a:xfrm>
            <a:off x="1847528" y="5661248"/>
            <a:ext cx="8928992" cy="442301"/>
          </a:xfrm>
          <a:prstGeom prst="rect">
            <a:avLst/>
          </a:prstGeom>
          <a:noFill/>
          <a:ln w="9525">
            <a:noFill/>
            <a:miter lim="800000"/>
            <a:headEnd/>
            <a:tailEnd/>
          </a:ln>
          <a:effectLst/>
        </p:spPr>
        <p:txBody>
          <a:bodyPr wrap="square">
            <a:spAutoFit/>
          </a:bodyPr>
          <a:lstStyle/>
          <a:p>
            <a:pPr algn="just">
              <a:lnSpc>
                <a:spcPts val="3000"/>
              </a:lnSpc>
            </a:pPr>
            <a:r>
              <a:rPr kumimoji="1" lang="zh-CN" altLang="en-US" sz="2000" dirty="0">
                <a:solidFill>
                  <a:srgbClr val="0000FF"/>
                </a:solidFill>
                <a:latin typeface="Consolas" pitchFamily="49" charset="0"/>
                <a:ea typeface="仿宋" pitchFamily="49" charset="-122"/>
                <a:cs typeface="Consolas" pitchFamily="49" charset="0"/>
              </a:rPr>
              <a:t>递推产生一个矩阵序列：</a:t>
            </a:r>
            <a:r>
              <a:rPr kumimoji="1" lang="en-US" altLang="zh-CN" sz="2000" i="1" dirty="0">
                <a:solidFill>
                  <a:srgbClr val="0000FF"/>
                </a:solidFill>
                <a:latin typeface="Consolas" pitchFamily="49" charset="0"/>
                <a:ea typeface="仿宋" pitchFamily="49" charset="-122"/>
                <a:cs typeface="Consolas" pitchFamily="49" charset="0"/>
              </a:rPr>
              <a:t> A</a:t>
            </a:r>
            <a:r>
              <a:rPr kumimoji="1" lang="en-US" altLang="zh-CN" sz="2000" baseline="-30000" dirty="0">
                <a:solidFill>
                  <a:srgbClr val="0000FF"/>
                </a:solidFill>
                <a:latin typeface="Consolas" pitchFamily="49" charset="0"/>
                <a:ea typeface="仿宋" pitchFamily="49" charset="-122"/>
                <a:cs typeface="Consolas" pitchFamily="49" charset="0"/>
              </a:rPr>
              <a:t>0 </a:t>
            </a:r>
            <a:r>
              <a:rPr kumimoji="1" lang="en-US" altLang="zh-CN" sz="2000" dirty="0">
                <a:solidFill>
                  <a:srgbClr val="0000FF"/>
                </a:solidFill>
                <a:latin typeface="Consolas" pitchFamily="49" charset="0"/>
                <a:ea typeface="仿宋" pitchFamily="49" charset="-122"/>
                <a:cs typeface="Consolas" pitchFamily="49" charset="0"/>
              </a:rPr>
              <a:t> </a:t>
            </a:r>
            <a:r>
              <a:rPr kumimoji="1" lang="zh-CN" altLang="en-US" sz="2000" dirty="0">
                <a:solidFill>
                  <a:srgbClr val="FF00FF"/>
                </a:solidFill>
                <a:latin typeface="Consolas" pitchFamily="49" charset="0"/>
                <a:ea typeface="仿宋" pitchFamily="49" charset="-122"/>
                <a:cs typeface="Consolas" pitchFamily="49" charset="0"/>
                <a:sym typeface="Wingdings"/>
              </a:rPr>
              <a:t></a:t>
            </a:r>
            <a:r>
              <a:rPr kumimoji="1" lang="zh-CN" altLang="en-US" sz="2000" dirty="0">
                <a:solidFill>
                  <a:srgbClr val="0000FF"/>
                </a:solidFill>
                <a:latin typeface="Consolas" pitchFamily="49" charset="0"/>
                <a:ea typeface="仿宋" pitchFamily="49" charset="-122"/>
                <a:cs typeface="Consolas" pitchFamily="49" charset="0"/>
                <a:sym typeface="Wingdings"/>
              </a:rPr>
              <a:t>  </a:t>
            </a:r>
            <a:r>
              <a:rPr kumimoji="1" lang="en-US" altLang="zh-CN" sz="2000" i="1" dirty="0" err="1">
                <a:solidFill>
                  <a:srgbClr val="0000FF"/>
                </a:solidFill>
                <a:latin typeface="Consolas" pitchFamily="49" charset="0"/>
                <a:ea typeface="仿宋" pitchFamily="49" charset="-122"/>
                <a:cs typeface="Consolas" pitchFamily="49" charset="0"/>
              </a:rPr>
              <a:t>A</a:t>
            </a:r>
            <a:r>
              <a:rPr kumimoji="1" lang="en-US" altLang="zh-CN" sz="2000" baseline="-30000" dirty="0" err="1">
                <a:solidFill>
                  <a:srgbClr val="0000FF"/>
                </a:solidFill>
                <a:latin typeface="Consolas" pitchFamily="49" charset="0"/>
                <a:ea typeface="仿宋" pitchFamily="49" charset="-122"/>
                <a:cs typeface="Consolas" pitchFamily="49" charset="0"/>
              </a:rPr>
              <a:t>1</a:t>
            </a:r>
            <a:r>
              <a:rPr kumimoji="1" lang="zh-CN" altLang="en-US" sz="2000" dirty="0">
                <a:solidFill>
                  <a:srgbClr val="FF00FF"/>
                </a:solidFill>
                <a:latin typeface="Consolas" pitchFamily="49" charset="0"/>
                <a:ea typeface="仿宋" pitchFamily="49" charset="-122"/>
                <a:cs typeface="Consolas" pitchFamily="49" charset="0"/>
                <a:sym typeface="Wingdings"/>
              </a:rPr>
              <a:t>   </a:t>
            </a:r>
            <a:r>
              <a:rPr kumimoji="1" lang="en-US" altLang="zh-CN" sz="2000" dirty="0">
                <a:solidFill>
                  <a:srgbClr val="0000FF"/>
                </a:solidFill>
                <a:latin typeface="宋体" pitchFamily="2" charset="-122"/>
                <a:ea typeface="宋体" pitchFamily="2" charset="-122"/>
                <a:cs typeface="Consolas" pitchFamily="49" charset="0"/>
              </a:rPr>
              <a:t>…</a:t>
            </a:r>
            <a:r>
              <a:rPr kumimoji="1" lang="en-US" altLang="zh-CN" sz="2000" dirty="0">
                <a:solidFill>
                  <a:srgbClr val="0000FF"/>
                </a:solidFill>
                <a:latin typeface="Consolas" pitchFamily="49" charset="0"/>
                <a:ea typeface="仿宋" pitchFamily="49" charset="-122"/>
                <a:cs typeface="Consolas" pitchFamily="49" charset="0"/>
              </a:rPr>
              <a:t> </a:t>
            </a:r>
            <a:r>
              <a:rPr kumimoji="1" lang="zh-CN" altLang="en-US" sz="2000" dirty="0">
                <a:solidFill>
                  <a:srgbClr val="FF00FF"/>
                </a:solidFill>
                <a:latin typeface="Consolas" pitchFamily="49" charset="0"/>
                <a:ea typeface="仿宋" pitchFamily="49" charset="-122"/>
                <a:cs typeface="Consolas" pitchFamily="49" charset="0"/>
                <a:sym typeface="Wingdings"/>
              </a:rPr>
              <a:t>  </a:t>
            </a:r>
            <a:r>
              <a:rPr kumimoji="1" lang="en-US" altLang="zh-CN" sz="2000" i="1" dirty="0" err="1">
                <a:solidFill>
                  <a:srgbClr val="0000FF"/>
                </a:solidFill>
                <a:latin typeface="Consolas" pitchFamily="49" charset="0"/>
                <a:ea typeface="仿宋" pitchFamily="49" charset="-122"/>
                <a:cs typeface="Consolas" pitchFamily="49" charset="0"/>
              </a:rPr>
              <a:t>A</a:t>
            </a:r>
            <a:r>
              <a:rPr kumimoji="1" lang="en-US" altLang="zh-CN" sz="2000" i="1" baseline="-30000" dirty="0" err="1">
                <a:solidFill>
                  <a:srgbClr val="0000FF"/>
                </a:solidFill>
                <a:latin typeface="Consolas" pitchFamily="49" charset="0"/>
                <a:ea typeface="仿宋" pitchFamily="49" charset="-122"/>
                <a:cs typeface="Consolas" pitchFamily="49" charset="0"/>
              </a:rPr>
              <a:t>k</a:t>
            </a:r>
            <a:r>
              <a:rPr kumimoji="1" lang="zh-CN" altLang="en-US" sz="2000" dirty="0">
                <a:solidFill>
                  <a:srgbClr val="FF00FF"/>
                </a:solidFill>
                <a:latin typeface="Consolas" pitchFamily="49" charset="0"/>
                <a:ea typeface="仿宋" pitchFamily="49" charset="-122"/>
                <a:cs typeface="Consolas" pitchFamily="49" charset="0"/>
                <a:sym typeface="Wingdings"/>
              </a:rPr>
              <a:t>  </a:t>
            </a:r>
            <a:r>
              <a:rPr kumimoji="1" lang="en-US" altLang="zh-CN" sz="2000" dirty="0">
                <a:solidFill>
                  <a:srgbClr val="0000FF"/>
                </a:solidFill>
                <a:latin typeface="宋体" pitchFamily="2" charset="-122"/>
                <a:ea typeface="宋体" pitchFamily="2" charset="-122"/>
                <a:cs typeface="Consolas" pitchFamily="49" charset="0"/>
              </a:rPr>
              <a:t>…</a:t>
            </a:r>
            <a:r>
              <a:rPr kumimoji="1" lang="en-US" altLang="zh-CN" sz="2000" dirty="0">
                <a:solidFill>
                  <a:srgbClr val="0000FF"/>
                </a:solidFill>
                <a:latin typeface="Consolas" pitchFamily="49" charset="0"/>
                <a:ea typeface="仿宋" pitchFamily="49" charset="-122"/>
                <a:cs typeface="Consolas" pitchFamily="49" charset="0"/>
              </a:rPr>
              <a:t> </a:t>
            </a:r>
            <a:r>
              <a:rPr kumimoji="1" lang="zh-CN" altLang="en-US" sz="2000" dirty="0">
                <a:solidFill>
                  <a:srgbClr val="FF00FF"/>
                </a:solidFill>
                <a:latin typeface="Consolas" pitchFamily="49" charset="0"/>
                <a:ea typeface="仿宋" pitchFamily="49" charset="-122"/>
                <a:cs typeface="Consolas" pitchFamily="49" charset="0"/>
                <a:sym typeface="Wingdings"/>
              </a:rPr>
              <a:t>   </a:t>
            </a:r>
            <a:r>
              <a:rPr kumimoji="1" lang="en-US" altLang="zh-CN" sz="2000" i="1" dirty="0">
                <a:solidFill>
                  <a:srgbClr val="0000FF"/>
                </a:solidFill>
                <a:latin typeface="Consolas" pitchFamily="49" charset="0"/>
                <a:ea typeface="仿宋" pitchFamily="49" charset="-122"/>
                <a:cs typeface="Consolas" pitchFamily="49" charset="0"/>
              </a:rPr>
              <a:t>A</a:t>
            </a:r>
            <a:r>
              <a:rPr kumimoji="1" lang="en-US" altLang="zh-CN" sz="2000" i="1" baseline="-30000" dirty="0">
                <a:solidFill>
                  <a:srgbClr val="0000FF"/>
                </a:solidFill>
                <a:latin typeface="Consolas" pitchFamily="49" charset="0"/>
                <a:ea typeface="仿宋" pitchFamily="49" charset="-122"/>
                <a:cs typeface="Consolas" pitchFamily="49" charset="0"/>
              </a:rPr>
              <a:t>n</a:t>
            </a:r>
            <a:r>
              <a:rPr kumimoji="1" lang="en-US" altLang="zh-CN" sz="2000" baseline="-30000" dirty="0">
                <a:solidFill>
                  <a:srgbClr val="0000FF"/>
                </a:solidFill>
                <a:latin typeface="Consolas" pitchFamily="49" charset="0"/>
                <a:ea typeface="仿宋" pitchFamily="49" charset="-122"/>
                <a:cs typeface="Consolas" pitchFamily="49" charset="0"/>
              </a:rPr>
              <a:t>-1</a:t>
            </a:r>
            <a:r>
              <a:rPr kumimoji="1" lang="zh-CN" altLang="en-US" sz="2000" baseline="-30000" dirty="0">
                <a:solidFill>
                  <a:srgbClr val="0000FF"/>
                </a:solidFill>
                <a:latin typeface="Consolas" pitchFamily="49" charset="0"/>
                <a:ea typeface="仿宋" pitchFamily="49" charset="-122"/>
                <a:cs typeface="Consolas" pitchFamily="49" charset="0"/>
              </a:rPr>
              <a:t>。</a:t>
            </a:r>
            <a:endParaRPr kumimoji="1" lang="en-US" altLang="zh-CN" sz="2000" baseline="-30000" dirty="0">
              <a:solidFill>
                <a:srgbClr val="0000FF"/>
              </a:solidFill>
              <a:latin typeface="Consolas" pitchFamily="49" charset="0"/>
              <a:ea typeface="仿宋" pitchFamily="49" charset="-122"/>
              <a:cs typeface="Consolas" pitchFamily="49" charset="0"/>
            </a:endParaRPr>
          </a:p>
        </p:txBody>
      </p:sp>
      <p:sp>
        <p:nvSpPr>
          <p:cNvPr id="19" name="文本框 18">
            <a:extLst>
              <a:ext uri="{FF2B5EF4-FFF2-40B4-BE49-F238E27FC236}">
                <a16:creationId xmlns:a16="http://schemas.microsoft.com/office/drawing/2014/main" id="{D9766BA8-325E-7CE1-6931-A13C41B8B141}"/>
              </a:ext>
            </a:extLst>
          </p:cNvPr>
          <p:cNvSpPr txBox="1"/>
          <p:nvPr/>
        </p:nvSpPr>
        <p:spPr>
          <a:xfrm>
            <a:off x="1077004" y="1955600"/>
            <a:ext cx="4173993" cy="461665"/>
          </a:xfrm>
          <a:prstGeom prst="rect">
            <a:avLst/>
          </a:prstGeom>
          <a:noFill/>
        </p:spPr>
        <p:txBody>
          <a:bodyPr wrap="square">
            <a:spAutoFit/>
          </a:bodyPr>
          <a:lstStyle/>
          <a:p>
            <a:pPr algn="ctr"/>
            <a:r>
              <a:rPr lang="zh-CN" altLang="en-US" sz="2400" b="1" dirty="0">
                <a:solidFill>
                  <a:schemeClr val="tx1"/>
                </a:solidFill>
                <a:latin typeface="黑体" pitchFamily="49" charset="-122"/>
                <a:ea typeface="黑体" pitchFamily="49" charset="-122"/>
                <a:cs typeface="经典粗黑简" pitchFamily="49" charset="-122"/>
              </a:rPr>
              <a:t>算法：迭代（递推）思路</a:t>
            </a:r>
          </a:p>
        </p:txBody>
      </p:sp>
    </p:spTree>
    <p:extLst>
      <p:ext uri="{BB962C8B-B14F-4D97-AF65-F5344CB8AC3E}">
        <p14:creationId xmlns:p14="http://schemas.microsoft.com/office/powerpoint/2010/main" val="21538331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15"/>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16"/>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5" grpId="0"/>
      <p:bldP spid="16" grpId="0"/>
    </p:bld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A37849-C86A-97F4-E102-7BF9977E97AF}"/>
            </a:ext>
          </a:extLst>
        </p:cNvPr>
        <p:cNvGrpSpPr/>
        <p:nvPr/>
      </p:nvGrpSpPr>
      <p:grpSpPr>
        <a:xfrm>
          <a:off x="0" y="0"/>
          <a:ext cx="0" cy="0"/>
          <a:chOff x="0" y="0"/>
          <a:chExt cx="0" cy="0"/>
        </a:xfrm>
      </p:grpSpPr>
      <p:sp>
        <p:nvSpPr>
          <p:cNvPr id="9" name="Rectangle 2">
            <a:extLst>
              <a:ext uri="{FF2B5EF4-FFF2-40B4-BE49-F238E27FC236}">
                <a16:creationId xmlns:a16="http://schemas.microsoft.com/office/drawing/2014/main" id="{2D4336E7-EDF1-2258-1C7B-131708CECB1E}"/>
              </a:ext>
            </a:extLst>
          </p:cNvPr>
          <p:cNvSpPr txBox="1">
            <a:spLocks noChangeArrowheads="1"/>
          </p:cNvSpPr>
          <p:nvPr/>
        </p:nvSpPr>
        <p:spPr>
          <a:xfrm>
            <a:off x="474771" y="1230902"/>
            <a:ext cx="9077613"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8.5.3 </a:t>
            </a:r>
            <a:r>
              <a:rPr lang="zh-CN" altLang="en-US" dirty="0"/>
              <a:t>每一对顶点之间的最短路径（多源最短路径问题）</a:t>
            </a:r>
          </a:p>
        </p:txBody>
      </p:sp>
      <p:cxnSp>
        <p:nvCxnSpPr>
          <p:cNvPr id="10" name="直接连接符 9">
            <a:extLst>
              <a:ext uri="{FF2B5EF4-FFF2-40B4-BE49-F238E27FC236}">
                <a16:creationId xmlns:a16="http://schemas.microsoft.com/office/drawing/2014/main" id="{17A1A83E-FAA4-7B3B-5416-799BE07C50EB}"/>
              </a:ext>
            </a:extLst>
          </p:cNvPr>
          <p:cNvCxnSpPr>
            <a:cxnSpLocks/>
          </p:cNvCxnSpPr>
          <p:nvPr/>
        </p:nvCxnSpPr>
        <p:spPr>
          <a:xfrm>
            <a:off x="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11" name="矩形 10">
            <a:extLst>
              <a:ext uri="{FF2B5EF4-FFF2-40B4-BE49-F238E27FC236}">
                <a16:creationId xmlns:a16="http://schemas.microsoft.com/office/drawing/2014/main" id="{1D82A997-E754-5A12-CF5E-FBA1BAB5470A}"/>
              </a:ext>
            </a:extLst>
          </p:cNvPr>
          <p:cNvSpPr/>
          <p:nvPr/>
        </p:nvSpPr>
        <p:spPr>
          <a:xfrm>
            <a:off x="3394075" y="399838"/>
            <a:ext cx="4617860"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8.5 </a:t>
            </a:r>
            <a:r>
              <a:rPr lang="zh-CN" altLang="en-US" sz="3000" b="1" dirty="0">
                <a:latin typeface="黑体" pitchFamily="49" charset="-122"/>
                <a:ea typeface="黑体" pitchFamily="49" charset="-122"/>
                <a:cs typeface="经典粗黑简" pitchFamily="49" charset="-122"/>
              </a:rPr>
              <a:t>最短路径</a:t>
            </a:r>
          </a:p>
        </p:txBody>
      </p:sp>
      <p:sp>
        <p:nvSpPr>
          <p:cNvPr id="3" name="Text Box 6">
            <a:extLst>
              <a:ext uri="{FF2B5EF4-FFF2-40B4-BE49-F238E27FC236}">
                <a16:creationId xmlns:a16="http://schemas.microsoft.com/office/drawing/2014/main" id="{5CBE27EB-77E6-7E59-0C97-1E6E392F3CDE}"/>
              </a:ext>
            </a:extLst>
          </p:cNvPr>
          <p:cNvSpPr txBox="1">
            <a:spLocks noChangeArrowheads="1"/>
          </p:cNvSpPr>
          <p:nvPr/>
        </p:nvSpPr>
        <p:spPr bwMode="auto">
          <a:xfrm>
            <a:off x="6183461" y="3706439"/>
            <a:ext cx="6215106" cy="400110"/>
          </a:xfrm>
          <a:prstGeom prst="rect">
            <a:avLst/>
          </a:prstGeom>
          <a:noFill/>
          <a:ln w="9525">
            <a:noFill/>
            <a:miter lim="800000"/>
            <a:headEnd/>
            <a:tailEnd/>
          </a:ln>
          <a:effectLst/>
        </p:spPr>
        <p:txBody>
          <a:bodyPr wrap="square">
            <a:spAutoFit/>
          </a:bodyPr>
          <a:lstStyle/>
          <a:p>
            <a:r>
              <a:rPr lang="en-US" altLang="zh-CN" sz="2000" i="1" dirty="0" err="1">
                <a:solidFill>
                  <a:srgbClr val="0000FF"/>
                </a:solidFill>
                <a:latin typeface="Consolas" pitchFamily="49" charset="0"/>
                <a:cs typeface="Consolas" pitchFamily="49" charset="0"/>
              </a:rPr>
              <a:t>A</a:t>
            </a:r>
            <a:r>
              <a:rPr lang="en-US" altLang="zh-CN" sz="2000" i="1" baseline="-25000" dirty="0" err="1">
                <a:solidFill>
                  <a:srgbClr val="0000FF"/>
                </a:solidFill>
                <a:latin typeface="Consolas" pitchFamily="49" charset="0"/>
                <a:cs typeface="Consolas" pitchFamily="49" charset="0"/>
              </a:rPr>
              <a:t>k</a:t>
            </a:r>
            <a:r>
              <a:rPr lang="en-US" altLang="zh-CN" sz="2000" dirty="0">
                <a:solidFill>
                  <a:srgbClr val="0000FF"/>
                </a:solidFill>
                <a:latin typeface="Consolas" pitchFamily="49" charset="0"/>
                <a:cs typeface="Consolas" pitchFamily="49" charset="0"/>
              </a:rPr>
              <a:t>[</a:t>
            </a:r>
            <a:r>
              <a:rPr lang="en-US" altLang="zh-CN" sz="2000" i="1" dirty="0" err="1">
                <a:solidFill>
                  <a:srgbClr val="0000FF"/>
                </a:solidFill>
                <a:latin typeface="Consolas" pitchFamily="49" charset="0"/>
                <a:cs typeface="Consolas" pitchFamily="49" charset="0"/>
              </a:rPr>
              <a:t>i</a:t>
            </a:r>
            <a:r>
              <a:rPr lang="en-US" altLang="zh-CN" sz="2000" dirty="0" err="1">
                <a:solidFill>
                  <a:srgbClr val="0000FF"/>
                </a:solidFill>
                <a:latin typeface="Consolas" pitchFamily="49" charset="0"/>
                <a:cs typeface="Consolas" pitchFamily="49" charset="0"/>
              </a:rPr>
              <a:t>,</a:t>
            </a:r>
            <a:r>
              <a:rPr lang="en-US" altLang="zh-CN" sz="2000" i="1" dirty="0" err="1">
                <a:solidFill>
                  <a:srgbClr val="0000FF"/>
                </a:solidFill>
                <a:latin typeface="Consolas" pitchFamily="49" charset="0"/>
                <a:cs typeface="Consolas" pitchFamily="49" charset="0"/>
              </a:rPr>
              <a:t>j</a:t>
            </a:r>
            <a:r>
              <a:rPr lang="en-US" altLang="zh-CN" sz="2000" dirty="0">
                <a:solidFill>
                  <a:srgbClr val="0000FF"/>
                </a:solidFill>
                <a:latin typeface="Consolas" pitchFamily="49" charset="0"/>
                <a:cs typeface="Consolas" pitchFamily="49" charset="0"/>
              </a:rPr>
              <a:t>]=</a:t>
            </a:r>
            <a:r>
              <a:rPr lang="en-US" altLang="zh-CN" sz="2000" dirty="0">
                <a:solidFill>
                  <a:srgbClr val="DB0303"/>
                </a:solidFill>
                <a:latin typeface="Consolas" pitchFamily="49" charset="0"/>
                <a:cs typeface="Consolas" pitchFamily="49" charset="0"/>
              </a:rPr>
              <a:t>MIN</a:t>
            </a:r>
            <a:r>
              <a:rPr lang="en-US" altLang="zh-CN" sz="2000" dirty="0">
                <a:solidFill>
                  <a:srgbClr val="0000FF"/>
                </a:solidFill>
                <a:latin typeface="Consolas" pitchFamily="49" charset="0"/>
                <a:cs typeface="Consolas" pitchFamily="49" charset="0"/>
              </a:rPr>
              <a:t>{ </a:t>
            </a:r>
            <a:r>
              <a:rPr lang="en-US" altLang="zh-CN" sz="2000" i="1" dirty="0" err="1">
                <a:solidFill>
                  <a:srgbClr val="0000FF"/>
                </a:solidFill>
                <a:latin typeface="Consolas" pitchFamily="49" charset="0"/>
                <a:cs typeface="Consolas" pitchFamily="49" charset="0"/>
              </a:rPr>
              <a:t>A</a:t>
            </a:r>
            <a:r>
              <a:rPr lang="en-US" altLang="zh-CN" sz="2000" i="1" baseline="-25000" dirty="0" err="1">
                <a:solidFill>
                  <a:srgbClr val="0000FF"/>
                </a:solidFill>
                <a:latin typeface="Consolas" pitchFamily="49" charset="0"/>
                <a:cs typeface="Consolas" pitchFamily="49" charset="0"/>
              </a:rPr>
              <a:t>k</a:t>
            </a:r>
            <a:r>
              <a:rPr lang="en-US" altLang="zh-CN" sz="2000" baseline="-25000" dirty="0">
                <a:solidFill>
                  <a:srgbClr val="0000FF"/>
                </a:solidFill>
                <a:latin typeface="Consolas" pitchFamily="49" charset="0"/>
                <a:cs typeface="Consolas" pitchFamily="49" charset="0"/>
              </a:rPr>
              <a:t>-1</a:t>
            </a:r>
            <a:r>
              <a:rPr lang="en-US" altLang="zh-CN" sz="2000" dirty="0">
                <a:solidFill>
                  <a:srgbClr val="0000FF"/>
                </a:solidFill>
                <a:latin typeface="Consolas" pitchFamily="49" charset="0"/>
                <a:cs typeface="Consolas" pitchFamily="49" charset="0"/>
              </a:rPr>
              <a:t>[</a:t>
            </a:r>
            <a:r>
              <a:rPr lang="en-US" altLang="zh-CN" sz="2000" i="1" dirty="0" err="1">
                <a:solidFill>
                  <a:srgbClr val="0000FF"/>
                </a:solidFill>
                <a:latin typeface="Consolas" pitchFamily="49" charset="0"/>
                <a:cs typeface="Consolas" pitchFamily="49" charset="0"/>
              </a:rPr>
              <a:t>i</a:t>
            </a:r>
            <a:r>
              <a:rPr lang="en-US" altLang="zh-CN" sz="2000" dirty="0" err="1">
                <a:solidFill>
                  <a:srgbClr val="0000FF"/>
                </a:solidFill>
                <a:latin typeface="Consolas" pitchFamily="49" charset="0"/>
                <a:cs typeface="Consolas" pitchFamily="49" charset="0"/>
              </a:rPr>
              <a:t>,</a:t>
            </a:r>
            <a:r>
              <a:rPr lang="en-US" altLang="zh-CN" sz="2000" i="1" dirty="0" err="1">
                <a:solidFill>
                  <a:srgbClr val="0000FF"/>
                </a:solidFill>
                <a:latin typeface="Consolas" pitchFamily="49" charset="0"/>
                <a:cs typeface="Consolas" pitchFamily="49" charset="0"/>
              </a:rPr>
              <a:t>j</a:t>
            </a:r>
            <a:r>
              <a:rPr lang="en-US" altLang="zh-CN" sz="2000" dirty="0">
                <a:solidFill>
                  <a:srgbClr val="0000FF"/>
                </a:solidFill>
                <a:latin typeface="Consolas" pitchFamily="49" charset="0"/>
                <a:cs typeface="Consolas" pitchFamily="49" charset="0"/>
              </a:rPr>
              <a:t>]</a:t>
            </a:r>
            <a:r>
              <a:rPr lang="zh-CN" altLang="en-US" sz="2000" dirty="0">
                <a:solidFill>
                  <a:srgbClr val="0000FF"/>
                </a:solidFill>
                <a:latin typeface="Consolas" pitchFamily="49" charset="0"/>
                <a:cs typeface="Consolas" pitchFamily="49" charset="0"/>
              </a:rPr>
              <a:t>，</a:t>
            </a:r>
            <a:r>
              <a:rPr lang="en-US" altLang="zh-CN" sz="2000" i="1" dirty="0" err="1">
                <a:solidFill>
                  <a:srgbClr val="0000FF"/>
                </a:solidFill>
                <a:latin typeface="Consolas" pitchFamily="49" charset="0"/>
                <a:cs typeface="Consolas" pitchFamily="49" charset="0"/>
              </a:rPr>
              <a:t>A</a:t>
            </a:r>
            <a:r>
              <a:rPr lang="en-US" altLang="zh-CN" sz="2000" i="1" baseline="-25000" dirty="0" err="1">
                <a:solidFill>
                  <a:srgbClr val="0000FF"/>
                </a:solidFill>
                <a:latin typeface="Consolas" pitchFamily="49" charset="0"/>
                <a:cs typeface="Consolas" pitchFamily="49" charset="0"/>
              </a:rPr>
              <a:t>k</a:t>
            </a:r>
            <a:r>
              <a:rPr lang="en-US" altLang="zh-CN" sz="2000" baseline="-25000" dirty="0">
                <a:solidFill>
                  <a:srgbClr val="0000FF"/>
                </a:solidFill>
                <a:latin typeface="Consolas" pitchFamily="49" charset="0"/>
                <a:cs typeface="Consolas" pitchFamily="49" charset="0"/>
              </a:rPr>
              <a:t>-1</a:t>
            </a:r>
            <a:r>
              <a:rPr lang="en-US" altLang="zh-CN" sz="2000" dirty="0">
                <a:solidFill>
                  <a:srgbClr val="0000FF"/>
                </a:solidFill>
                <a:latin typeface="Consolas" pitchFamily="49" charset="0"/>
                <a:cs typeface="Consolas" pitchFamily="49" charset="0"/>
              </a:rPr>
              <a:t>[</a:t>
            </a:r>
            <a:r>
              <a:rPr lang="en-US" altLang="zh-CN" sz="2000" i="1" dirty="0" err="1">
                <a:solidFill>
                  <a:srgbClr val="0000FF"/>
                </a:solidFill>
                <a:latin typeface="Consolas" pitchFamily="49" charset="0"/>
                <a:cs typeface="Consolas" pitchFamily="49" charset="0"/>
              </a:rPr>
              <a:t>i</a:t>
            </a:r>
            <a:r>
              <a:rPr lang="en-US" altLang="zh-CN" sz="2000" dirty="0" err="1">
                <a:solidFill>
                  <a:srgbClr val="0000FF"/>
                </a:solidFill>
                <a:latin typeface="Consolas" pitchFamily="49" charset="0"/>
                <a:cs typeface="Consolas" pitchFamily="49" charset="0"/>
              </a:rPr>
              <a:t>,</a:t>
            </a:r>
            <a:r>
              <a:rPr lang="en-US" altLang="zh-CN" sz="2000" i="1" dirty="0" err="1">
                <a:solidFill>
                  <a:srgbClr val="0000FF"/>
                </a:solidFill>
                <a:latin typeface="Consolas" pitchFamily="49" charset="0"/>
                <a:cs typeface="Consolas" pitchFamily="49" charset="0"/>
              </a:rPr>
              <a:t>k</a:t>
            </a:r>
            <a:r>
              <a:rPr lang="en-US" altLang="zh-CN" sz="2000" dirty="0">
                <a:solidFill>
                  <a:srgbClr val="0000FF"/>
                </a:solidFill>
                <a:latin typeface="Consolas" pitchFamily="49" charset="0"/>
                <a:cs typeface="Consolas" pitchFamily="49" charset="0"/>
              </a:rPr>
              <a:t>]+</a:t>
            </a:r>
            <a:r>
              <a:rPr lang="en-US" altLang="zh-CN" sz="2000" i="1" dirty="0" err="1">
                <a:solidFill>
                  <a:srgbClr val="0000FF"/>
                </a:solidFill>
                <a:latin typeface="Consolas" pitchFamily="49" charset="0"/>
                <a:cs typeface="Consolas" pitchFamily="49" charset="0"/>
              </a:rPr>
              <a:t>A</a:t>
            </a:r>
            <a:r>
              <a:rPr lang="en-US" altLang="zh-CN" sz="2000" i="1" baseline="-25000" dirty="0" err="1">
                <a:solidFill>
                  <a:srgbClr val="0000FF"/>
                </a:solidFill>
                <a:latin typeface="Consolas" pitchFamily="49" charset="0"/>
                <a:cs typeface="Consolas" pitchFamily="49" charset="0"/>
              </a:rPr>
              <a:t>k</a:t>
            </a:r>
            <a:r>
              <a:rPr lang="en-US" altLang="zh-CN" sz="2000" baseline="-25000" dirty="0">
                <a:solidFill>
                  <a:srgbClr val="0000FF"/>
                </a:solidFill>
                <a:latin typeface="Consolas" pitchFamily="49" charset="0"/>
                <a:cs typeface="Consolas" pitchFamily="49" charset="0"/>
              </a:rPr>
              <a:t>-1</a:t>
            </a:r>
            <a:r>
              <a:rPr lang="en-US" altLang="zh-CN" sz="2000" dirty="0">
                <a:solidFill>
                  <a:srgbClr val="0000FF"/>
                </a:solidFill>
                <a:latin typeface="Consolas" pitchFamily="49" charset="0"/>
                <a:cs typeface="Consolas" pitchFamily="49" charset="0"/>
              </a:rPr>
              <a:t>[</a:t>
            </a:r>
            <a:r>
              <a:rPr lang="en-US" altLang="zh-CN" sz="2000" i="1" dirty="0" err="1">
                <a:solidFill>
                  <a:srgbClr val="0000FF"/>
                </a:solidFill>
                <a:latin typeface="Consolas" pitchFamily="49" charset="0"/>
                <a:cs typeface="Consolas" pitchFamily="49" charset="0"/>
              </a:rPr>
              <a:t>k</a:t>
            </a:r>
            <a:r>
              <a:rPr lang="en-US" altLang="zh-CN" sz="2000" dirty="0" err="1">
                <a:solidFill>
                  <a:srgbClr val="0000FF"/>
                </a:solidFill>
                <a:latin typeface="Consolas" pitchFamily="49" charset="0"/>
                <a:cs typeface="Consolas" pitchFamily="49" charset="0"/>
              </a:rPr>
              <a:t>,</a:t>
            </a:r>
            <a:r>
              <a:rPr lang="en-US" altLang="zh-CN" sz="2000" i="1" dirty="0" err="1">
                <a:solidFill>
                  <a:srgbClr val="0000FF"/>
                </a:solidFill>
                <a:latin typeface="Consolas" pitchFamily="49" charset="0"/>
                <a:cs typeface="Consolas" pitchFamily="49" charset="0"/>
              </a:rPr>
              <a:t>j</a:t>
            </a:r>
            <a:r>
              <a:rPr lang="en-US" altLang="zh-CN" sz="2000" dirty="0">
                <a:solidFill>
                  <a:srgbClr val="0000FF"/>
                </a:solidFill>
                <a:latin typeface="Consolas" pitchFamily="49" charset="0"/>
                <a:cs typeface="Consolas" pitchFamily="49" charset="0"/>
              </a:rPr>
              <a:t>] }</a:t>
            </a:r>
          </a:p>
        </p:txBody>
      </p:sp>
      <p:grpSp>
        <p:nvGrpSpPr>
          <p:cNvPr id="8" name="组合 26">
            <a:extLst>
              <a:ext uri="{FF2B5EF4-FFF2-40B4-BE49-F238E27FC236}">
                <a16:creationId xmlns:a16="http://schemas.microsoft.com/office/drawing/2014/main" id="{3037E538-9422-EFCC-D43B-BFE326709635}"/>
              </a:ext>
            </a:extLst>
          </p:cNvPr>
          <p:cNvGrpSpPr/>
          <p:nvPr/>
        </p:nvGrpSpPr>
        <p:grpSpPr>
          <a:xfrm>
            <a:off x="-161286" y="3691067"/>
            <a:ext cx="2969454" cy="2278440"/>
            <a:chOff x="1643042" y="1662402"/>
            <a:chExt cx="2969454" cy="2278440"/>
          </a:xfrm>
        </p:grpSpPr>
        <p:sp>
          <p:nvSpPr>
            <p:cNvPr id="17" name="Oval 7">
              <a:extLst>
                <a:ext uri="{FF2B5EF4-FFF2-40B4-BE49-F238E27FC236}">
                  <a16:creationId xmlns:a16="http://schemas.microsoft.com/office/drawing/2014/main" id="{4339BD47-1629-CAB0-AF26-FA599C95D514}"/>
                </a:ext>
              </a:extLst>
            </p:cNvPr>
            <p:cNvSpPr>
              <a:spLocks noChangeArrowheads="1"/>
            </p:cNvSpPr>
            <p:nvPr/>
          </p:nvSpPr>
          <p:spPr bwMode="auto">
            <a:xfrm>
              <a:off x="4000496" y="1662402"/>
              <a:ext cx="612000" cy="5760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pPr algn="ctr">
                <a:spcBef>
                  <a:spcPct val="0"/>
                </a:spcBef>
              </a:pPr>
              <a:r>
                <a:rPr lang="en-US" altLang="zh-CN" sz="2000" i="1" dirty="0">
                  <a:solidFill>
                    <a:srgbClr val="3333FF"/>
                  </a:solidFill>
                  <a:latin typeface="Consolas" pitchFamily="49" charset="0"/>
                  <a:cs typeface="Consolas" pitchFamily="49" charset="0"/>
                </a:rPr>
                <a:t>k</a:t>
              </a:r>
              <a:endParaRPr lang="en-US" altLang="zh-CN" sz="2000" dirty="0">
                <a:solidFill>
                  <a:srgbClr val="3333FF"/>
                </a:solidFill>
                <a:latin typeface="Consolas" pitchFamily="49" charset="0"/>
                <a:cs typeface="Consolas" pitchFamily="49" charset="0"/>
              </a:endParaRPr>
            </a:p>
          </p:txBody>
        </p:sp>
        <p:sp>
          <p:nvSpPr>
            <p:cNvPr id="18" name="Oval 8">
              <a:extLst>
                <a:ext uri="{FF2B5EF4-FFF2-40B4-BE49-F238E27FC236}">
                  <a16:creationId xmlns:a16="http://schemas.microsoft.com/office/drawing/2014/main" id="{BFD0EAC4-ABC6-D56F-A295-49532ABA6DA9}"/>
                </a:ext>
              </a:extLst>
            </p:cNvPr>
            <p:cNvSpPr>
              <a:spLocks noChangeArrowheads="1"/>
            </p:cNvSpPr>
            <p:nvPr/>
          </p:nvSpPr>
          <p:spPr bwMode="auto">
            <a:xfrm>
              <a:off x="2124058" y="3364842"/>
              <a:ext cx="612000" cy="5760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pPr algn="ctr">
                <a:spcBef>
                  <a:spcPct val="0"/>
                </a:spcBef>
              </a:pPr>
              <a:r>
                <a:rPr lang="en-US" altLang="zh-CN" sz="2000" i="1">
                  <a:solidFill>
                    <a:srgbClr val="FF00FF"/>
                  </a:solidFill>
                  <a:latin typeface="Consolas" pitchFamily="49" charset="0"/>
                  <a:cs typeface="Consolas" pitchFamily="49" charset="0"/>
                </a:rPr>
                <a:t>i</a:t>
              </a:r>
            </a:p>
          </p:txBody>
        </p:sp>
        <p:sp>
          <p:nvSpPr>
            <p:cNvPr id="20" name="Line 10">
              <a:extLst>
                <a:ext uri="{FF2B5EF4-FFF2-40B4-BE49-F238E27FC236}">
                  <a16:creationId xmlns:a16="http://schemas.microsoft.com/office/drawing/2014/main" id="{8C398A8D-23EB-DB4B-CC72-349A24BC3D70}"/>
                </a:ext>
              </a:extLst>
            </p:cNvPr>
            <p:cNvSpPr>
              <a:spLocks noChangeShapeType="1"/>
            </p:cNvSpPr>
            <p:nvPr/>
          </p:nvSpPr>
          <p:spPr bwMode="auto">
            <a:xfrm flipV="1">
              <a:off x="2607780" y="3062710"/>
              <a:ext cx="354393" cy="355197"/>
            </a:xfrm>
            <a:prstGeom prst="line">
              <a:avLst/>
            </a:prstGeom>
            <a:ln>
              <a:headEnd/>
              <a:tailEnd type="stealth" w="med" len="lg"/>
            </a:ln>
          </p:spPr>
          <p:style>
            <a:lnRef idx="2">
              <a:schemeClr val="accent5"/>
            </a:lnRef>
            <a:fillRef idx="0">
              <a:schemeClr val="accent5"/>
            </a:fillRef>
            <a:effectRef idx="1">
              <a:schemeClr val="accent5"/>
            </a:effectRef>
            <a:fontRef idx="minor">
              <a:schemeClr val="tx1"/>
            </a:fontRef>
          </p:style>
          <p:txBody>
            <a:bodyPr wrap="none"/>
            <a:lstStyle/>
            <a:p>
              <a:endParaRPr lang="zh-CN" altLang="en-US">
                <a:latin typeface="Consolas" pitchFamily="49" charset="0"/>
                <a:cs typeface="Consolas" pitchFamily="49" charset="0"/>
              </a:endParaRPr>
            </a:p>
          </p:txBody>
        </p:sp>
        <p:sp>
          <p:nvSpPr>
            <p:cNvPr id="21" name="Text Box 11">
              <a:extLst>
                <a:ext uri="{FF2B5EF4-FFF2-40B4-BE49-F238E27FC236}">
                  <a16:creationId xmlns:a16="http://schemas.microsoft.com/office/drawing/2014/main" id="{495B83B7-2C33-800D-BEF9-2ED6A8B01FBF}"/>
                </a:ext>
              </a:extLst>
            </p:cNvPr>
            <p:cNvSpPr txBox="1">
              <a:spLocks noChangeArrowheads="1"/>
            </p:cNvSpPr>
            <p:nvPr/>
          </p:nvSpPr>
          <p:spPr bwMode="auto">
            <a:xfrm rot="8100000">
              <a:off x="2902361" y="2689833"/>
              <a:ext cx="639790" cy="461665"/>
            </a:xfrm>
            <a:prstGeom prst="rect">
              <a:avLst/>
            </a:prstGeom>
            <a:noFill/>
            <a:ln w="19050" algn="ctr">
              <a:noFill/>
              <a:miter lim="800000"/>
              <a:headEnd/>
              <a:tailEnd type="none" w="med" len="lg"/>
            </a:ln>
            <a:effectLst/>
          </p:spPr>
          <p:txBody>
            <a:bodyPr>
              <a:spAutoFit/>
            </a:bodyPr>
            <a:lstStyle/>
            <a:p>
              <a:pPr algn="ctr"/>
              <a:r>
                <a:rPr lang="en-US" altLang="zh-CN">
                  <a:latin typeface="Consolas" pitchFamily="49" charset="0"/>
                  <a:ea typeface="宋体" pitchFamily="2" charset="-122"/>
                  <a:cs typeface="Consolas" pitchFamily="49" charset="0"/>
                </a:rPr>
                <a:t>…</a:t>
              </a:r>
            </a:p>
          </p:txBody>
        </p:sp>
        <p:sp>
          <p:nvSpPr>
            <p:cNvPr id="22" name="Freeform 12">
              <a:extLst>
                <a:ext uri="{FF2B5EF4-FFF2-40B4-BE49-F238E27FC236}">
                  <a16:creationId xmlns:a16="http://schemas.microsoft.com/office/drawing/2014/main" id="{C9BE3B07-8745-0A75-4EA7-896A2F5C52FB}"/>
                </a:ext>
              </a:extLst>
            </p:cNvPr>
            <p:cNvSpPr>
              <a:spLocks/>
            </p:cNvSpPr>
            <p:nvPr/>
          </p:nvSpPr>
          <p:spPr bwMode="auto">
            <a:xfrm>
              <a:off x="3500430" y="2038642"/>
              <a:ext cx="517477" cy="513236"/>
            </a:xfrm>
            <a:custGeom>
              <a:avLst/>
              <a:gdLst/>
              <a:ahLst/>
              <a:cxnLst>
                <a:cxn ang="0">
                  <a:pos x="0" y="328"/>
                </a:cxn>
                <a:cxn ang="0">
                  <a:pos x="330" y="0"/>
                </a:cxn>
              </a:cxnLst>
              <a:rect l="0" t="0" r="r" b="b"/>
              <a:pathLst>
                <a:path w="330" h="328">
                  <a:moveTo>
                    <a:pt x="0" y="328"/>
                  </a:moveTo>
                  <a:lnTo>
                    <a:pt x="330" y="0"/>
                  </a:lnTo>
                </a:path>
              </a:pathLst>
            </a:custGeom>
            <a:ln>
              <a:headEnd type="none" w="med" len="med"/>
              <a:tailEnd type="stealth" w="med" len="lg"/>
            </a:ln>
          </p:spPr>
          <p:style>
            <a:lnRef idx="2">
              <a:schemeClr val="accent5"/>
            </a:lnRef>
            <a:fillRef idx="0">
              <a:schemeClr val="accent5"/>
            </a:fillRef>
            <a:effectRef idx="1">
              <a:schemeClr val="accent5"/>
            </a:effectRef>
            <a:fontRef idx="minor">
              <a:schemeClr val="tx1"/>
            </a:fontRef>
          </p:style>
          <p:txBody>
            <a:bodyPr wrap="none"/>
            <a:lstStyle/>
            <a:p>
              <a:endParaRPr lang="zh-CN" altLang="en-US">
                <a:latin typeface="Consolas" pitchFamily="49" charset="0"/>
                <a:cs typeface="Consolas" pitchFamily="49" charset="0"/>
              </a:endParaRPr>
            </a:p>
          </p:txBody>
        </p:sp>
        <p:sp>
          <p:nvSpPr>
            <p:cNvPr id="23" name="AutoShape 13">
              <a:extLst>
                <a:ext uri="{FF2B5EF4-FFF2-40B4-BE49-F238E27FC236}">
                  <a16:creationId xmlns:a16="http://schemas.microsoft.com/office/drawing/2014/main" id="{86020088-35C3-2991-C360-9645E842FDE0}"/>
                </a:ext>
              </a:extLst>
            </p:cNvPr>
            <p:cNvSpPr>
              <a:spLocks/>
            </p:cNvSpPr>
            <p:nvPr/>
          </p:nvSpPr>
          <p:spPr bwMode="auto">
            <a:xfrm rot="2820000">
              <a:off x="2834997" y="1188664"/>
              <a:ext cx="176817" cy="2560727"/>
            </a:xfrm>
            <a:prstGeom prst="leftBrace">
              <a:avLst>
                <a:gd name="adj1" fmla="val 120427"/>
                <a:gd name="adj2" fmla="val 50000"/>
              </a:avLst>
            </a:prstGeom>
            <a:ln>
              <a:headEnd/>
              <a:tailEnd type="none" w="med" len="lg"/>
            </a:ln>
          </p:spPr>
          <p:style>
            <a:lnRef idx="2">
              <a:schemeClr val="dk1"/>
            </a:lnRef>
            <a:fillRef idx="0">
              <a:schemeClr val="dk1"/>
            </a:fillRef>
            <a:effectRef idx="1">
              <a:schemeClr val="dk1"/>
            </a:effectRef>
            <a:fontRef idx="minor">
              <a:schemeClr val="tx1"/>
            </a:fontRef>
          </p:style>
          <p:txBody>
            <a:bodyPr wrap="none" anchor="ctr"/>
            <a:lstStyle/>
            <a:p>
              <a:endParaRPr lang="zh-CN" altLang="en-US">
                <a:latin typeface="Consolas" pitchFamily="49" charset="0"/>
                <a:cs typeface="Consolas" pitchFamily="49" charset="0"/>
              </a:endParaRPr>
            </a:p>
          </p:txBody>
        </p:sp>
        <p:sp>
          <p:nvSpPr>
            <p:cNvPr id="24" name="Text Box 14">
              <a:extLst>
                <a:ext uri="{FF2B5EF4-FFF2-40B4-BE49-F238E27FC236}">
                  <a16:creationId xmlns:a16="http://schemas.microsoft.com/office/drawing/2014/main" id="{439EB6DC-AD25-6B6A-57D7-7B5EF65AAFA2}"/>
                </a:ext>
              </a:extLst>
            </p:cNvPr>
            <p:cNvSpPr txBox="1">
              <a:spLocks noChangeArrowheads="1"/>
            </p:cNvSpPr>
            <p:nvPr/>
          </p:nvSpPr>
          <p:spPr bwMode="auto">
            <a:xfrm rot="19146275">
              <a:off x="2080546" y="1886134"/>
              <a:ext cx="1279579" cy="369332"/>
            </a:xfrm>
            <a:prstGeom prst="rect">
              <a:avLst/>
            </a:prstGeom>
            <a:noFill/>
            <a:ln w="19050" algn="ctr">
              <a:noFill/>
              <a:miter lim="800000"/>
              <a:headEnd/>
              <a:tailEnd type="none" w="med" len="lg"/>
            </a:ln>
            <a:effectLst/>
          </p:spPr>
          <p:txBody>
            <a:bodyPr>
              <a:spAutoFit/>
            </a:bodyPr>
            <a:lstStyle/>
            <a:p>
              <a:pPr algn="ctr"/>
              <a:r>
                <a:rPr lang="en-US" altLang="zh-CN" sz="1800" i="1" dirty="0" err="1">
                  <a:latin typeface="Consolas" pitchFamily="49" charset="0"/>
                  <a:cs typeface="Consolas" pitchFamily="49" charset="0"/>
                </a:rPr>
                <a:t>A</a:t>
              </a:r>
              <a:r>
                <a:rPr lang="en-US" altLang="zh-CN" sz="1800" i="1" baseline="-25000" dirty="0" err="1">
                  <a:latin typeface="Consolas" pitchFamily="49" charset="0"/>
                  <a:cs typeface="Consolas" pitchFamily="49" charset="0"/>
                </a:rPr>
                <a:t>k</a:t>
              </a:r>
              <a:r>
                <a:rPr lang="en-US" altLang="zh-CN" sz="1800" baseline="-25000" dirty="0">
                  <a:latin typeface="Consolas" pitchFamily="49" charset="0"/>
                  <a:cs typeface="Consolas" pitchFamily="49" charset="0"/>
                </a:rPr>
                <a:t>-1</a:t>
              </a:r>
              <a:r>
                <a:rPr lang="en-US" altLang="zh-CN" sz="1800" dirty="0">
                  <a:latin typeface="Consolas" pitchFamily="49" charset="0"/>
                  <a:cs typeface="Consolas" pitchFamily="49" charset="0"/>
                </a:rPr>
                <a:t>[</a:t>
              </a:r>
              <a:r>
                <a:rPr lang="en-US" altLang="zh-CN" sz="1800" i="1" dirty="0" err="1">
                  <a:latin typeface="Consolas" pitchFamily="49" charset="0"/>
                  <a:cs typeface="Consolas" pitchFamily="49" charset="0"/>
                </a:rPr>
                <a:t>i</a:t>
              </a:r>
              <a:r>
                <a:rPr lang="en-US" altLang="zh-CN" sz="1800" dirty="0" err="1">
                  <a:latin typeface="Consolas" pitchFamily="49" charset="0"/>
                  <a:cs typeface="Consolas" pitchFamily="49" charset="0"/>
                </a:rPr>
                <a:t>,</a:t>
              </a:r>
              <a:r>
                <a:rPr lang="en-US" altLang="zh-CN" sz="1800" i="1" dirty="0" err="1">
                  <a:latin typeface="Consolas" pitchFamily="49" charset="0"/>
                  <a:cs typeface="Consolas" pitchFamily="49" charset="0"/>
                </a:rPr>
                <a:t>k</a:t>
              </a:r>
              <a:r>
                <a:rPr lang="en-US" altLang="zh-CN" sz="1800" dirty="0">
                  <a:latin typeface="Consolas" pitchFamily="49" charset="0"/>
                  <a:cs typeface="Consolas" pitchFamily="49" charset="0"/>
                </a:rPr>
                <a:t>]</a:t>
              </a:r>
            </a:p>
          </p:txBody>
        </p:sp>
      </p:grpSp>
      <p:grpSp>
        <p:nvGrpSpPr>
          <p:cNvPr id="25" name="组合 28">
            <a:extLst>
              <a:ext uri="{FF2B5EF4-FFF2-40B4-BE49-F238E27FC236}">
                <a16:creationId xmlns:a16="http://schemas.microsoft.com/office/drawing/2014/main" id="{F1CE609A-6EC3-A86E-35F4-418A49AB4247}"/>
              </a:ext>
            </a:extLst>
          </p:cNvPr>
          <p:cNvGrpSpPr/>
          <p:nvPr/>
        </p:nvGrpSpPr>
        <p:grpSpPr>
          <a:xfrm>
            <a:off x="2669157" y="4039978"/>
            <a:ext cx="2560726" cy="1412990"/>
            <a:chOff x="4473485" y="2011313"/>
            <a:chExt cx="2560726" cy="1412990"/>
          </a:xfrm>
        </p:grpSpPr>
        <p:sp>
          <p:nvSpPr>
            <p:cNvPr id="26" name="Line 15">
              <a:extLst>
                <a:ext uri="{FF2B5EF4-FFF2-40B4-BE49-F238E27FC236}">
                  <a16:creationId xmlns:a16="http://schemas.microsoft.com/office/drawing/2014/main" id="{26D79155-3515-AAEA-61CD-401DE141FF08}"/>
                </a:ext>
              </a:extLst>
            </p:cNvPr>
            <p:cNvSpPr>
              <a:spLocks noChangeShapeType="1"/>
            </p:cNvSpPr>
            <p:nvPr/>
          </p:nvSpPr>
          <p:spPr bwMode="auto">
            <a:xfrm>
              <a:off x="4594062" y="2100291"/>
              <a:ext cx="428094" cy="355196"/>
            </a:xfrm>
            <a:prstGeom prst="line">
              <a:avLst/>
            </a:prstGeom>
            <a:ln>
              <a:headEnd/>
              <a:tailEnd type="stealth" w="med" len="lg"/>
            </a:ln>
          </p:spPr>
          <p:style>
            <a:lnRef idx="2">
              <a:schemeClr val="accent5"/>
            </a:lnRef>
            <a:fillRef idx="0">
              <a:schemeClr val="accent5"/>
            </a:fillRef>
            <a:effectRef idx="1">
              <a:schemeClr val="accent5"/>
            </a:effectRef>
            <a:fontRef idx="minor">
              <a:schemeClr val="tx1"/>
            </a:fontRef>
          </p:style>
          <p:txBody>
            <a:bodyPr wrap="none"/>
            <a:lstStyle/>
            <a:p>
              <a:endParaRPr lang="zh-CN" altLang="en-US">
                <a:latin typeface="Consolas" pitchFamily="49" charset="0"/>
                <a:cs typeface="Consolas" pitchFamily="49" charset="0"/>
              </a:endParaRPr>
            </a:p>
          </p:txBody>
        </p:sp>
        <p:sp>
          <p:nvSpPr>
            <p:cNvPr id="27" name="Line 16">
              <a:extLst>
                <a:ext uri="{FF2B5EF4-FFF2-40B4-BE49-F238E27FC236}">
                  <a16:creationId xmlns:a16="http://schemas.microsoft.com/office/drawing/2014/main" id="{8DEDE31D-45EE-0F15-3D35-F6D5B14629B8}"/>
                </a:ext>
              </a:extLst>
            </p:cNvPr>
            <p:cNvSpPr>
              <a:spLocks noChangeShapeType="1"/>
            </p:cNvSpPr>
            <p:nvPr/>
          </p:nvSpPr>
          <p:spPr bwMode="auto">
            <a:xfrm>
              <a:off x="5652704" y="3069106"/>
              <a:ext cx="428094" cy="355197"/>
            </a:xfrm>
            <a:prstGeom prst="line">
              <a:avLst/>
            </a:prstGeom>
            <a:ln>
              <a:headEnd/>
              <a:tailEnd type="stealth" w="med" len="lg"/>
            </a:ln>
          </p:spPr>
          <p:style>
            <a:lnRef idx="2">
              <a:schemeClr val="accent5"/>
            </a:lnRef>
            <a:fillRef idx="0">
              <a:schemeClr val="accent5"/>
            </a:fillRef>
            <a:effectRef idx="1">
              <a:schemeClr val="accent5"/>
            </a:effectRef>
            <a:fontRef idx="minor">
              <a:schemeClr val="tx1"/>
            </a:fontRef>
          </p:style>
          <p:txBody>
            <a:bodyPr wrap="none"/>
            <a:lstStyle/>
            <a:p>
              <a:endParaRPr lang="zh-CN" altLang="en-US">
                <a:latin typeface="Consolas" pitchFamily="49" charset="0"/>
                <a:cs typeface="Consolas" pitchFamily="49" charset="0"/>
              </a:endParaRPr>
            </a:p>
          </p:txBody>
        </p:sp>
        <p:sp>
          <p:nvSpPr>
            <p:cNvPr id="28" name="Text Box 17">
              <a:extLst>
                <a:ext uri="{FF2B5EF4-FFF2-40B4-BE49-F238E27FC236}">
                  <a16:creationId xmlns:a16="http://schemas.microsoft.com/office/drawing/2014/main" id="{93CD0D73-E428-BC14-7E7E-49FC0AB58CBC}"/>
                </a:ext>
              </a:extLst>
            </p:cNvPr>
            <p:cNvSpPr txBox="1">
              <a:spLocks noChangeArrowheads="1"/>
            </p:cNvSpPr>
            <p:nvPr/>
          </p:nvSpPr>
          <p:spPr bwMode="auto">
            <a:xfrm rot="2147976">
              <a:off x="5055253" y="2512807"/>
              <a:ext cx="639790" cy="461665"/>
            </a:xfrm>
            <a:prstGeom prst="rect">
              <a:avLst/>
            </a:prstGeom>
            <a:noFill/>
            <a:ln w="19050" algn="ctr">
              <a:noFill/>
              <a:miter lim="800000"/>
              <a:headEnd/>
              <a:tailEnd type="none" w="med" len="lg"/>
            </a:ln>
            <a:effectLst/>
          </p:spPr>
          <p:txBody>
            <a:bodyPr>
              <a:spAutoFit/>
            </a:bodyPr>
            <a:lstStyle/>
            <a:p>
              <a:pPr algn="ctr"/>
              <a:r>
                <a:rPr lang="en-US" altLang="zh-CN">
                  <a:latin typeface="Consolas" pitchFamily="49" charset="0"/>
                  <a:ea typeface="宋体" pitchFamily="2" charset="-122"/>
                  <a:cs typeface="Consolas" pitchFamily="49" charset="0"/>
                </a:rPr>
                <a:t>…</a:t>
              </a:r>
            </a:p>
          </p:txBody>
        </p:sp>
        <p:sp>
          <p:nvSpPr>
            <p:cNvPr id="29" name="AutoShape 18">
              <a:extLst>
                <a:ext uri="{FF2B5EF4-FFF2-40B4-BE49-F238E27FC236}">
                  <a16:creationId xmlns:a16="http://schemas.microsoft.com/office/drawing/2014/main" id="{AACA538F-2D41-A13B-0BB7-F3E452B8EC4E}"/>
                </a:ext>
              </a:extLst>
            </p:cNvPr>
            <p:cNvSpPr>
              <a:spLocks/>
            </p:cNvSpPr>
            <p:nvPr/>
          </p:nvSpPr>
          <p:spPr bwMode="auto">
            <a:xfrm rot="7800000">
              <a:off x="5665439" y="1126074"/>
              <a:ext cx="176817" cy="2560726"/>
            </a:xfrm>
            <a:prstGeom prst="leftBrace">
              <a:avLst>
                <a:gd name="adj1" fmla="val 120427"/>
                <a:gd name="adj2" fmla="val 50000"/>
              </a:avLst>
            </a:prstGeom>
            <a:ln>
              <a:headEnd/>
              <a:tailEnd type="none" w="med" len="lg"/>
            </a:ln>
          </p:spPr>
          <p:style>
            <a:lnRef idx="2">
              <a:schemeClr val="dk1"/>
            </a:lnRef>
            <a:fillRef idx="0">
              <a:schemeClr val="dk1"/>
            </a:fillRef>
            <a:effectRef idx="1">
              <a:schemeClr val="dk1"/>
            </a:effectRef>
            <a:fontRef idx="minor">
              <a:schemeClr val="tx1"/>
            </a:fontRef>
          </p:style>
          <p:txBody>
            <a:bodyPr wrap="none" anchor="ctr"/>
            <a:lstStyle/>
            <a:p>
              <a:endParaRPr lang="zh-CN" altLang="en-US">
                <a:latin typeface="Consolas" pitchFamily="49" charset="0"/>
                <a:cs typeface="Consolas" pitchFamily="49" charset="0"/>
              </a:endParaRPr>
            </a:p>
          </p:txBody>
        </p:sp>
        <p:sp>
          <p:nvSpPr>
            <p:cNvPr id="30" name="Text Box 19">
              <a:extLst>
                <a:ext uri="{FF2B5EF4-FFF2-40B4-BE49-F238E27FC236}">
                  <a16:creationId xmlns:a16="http://schemas.microsoft.com/office/drawing/2014/main" id="{4946C9DE-9FFD-7AF9-F4D2-012475F58F5D}"/>
                </a:ext>
              </a:extLst>
            </p:cNvPr>
            <p:cNvSpPr txBox="1">
              <a:spLocks noChangeArrowheads="1"/>
            </p:cNvSpPr>
            <p:nvPr/>
          </p:nvSpPr>
          <p:spPr bwMode="auto">
            <a:xfrm rot="2474130">
              <a:off x="5488052" y="2011313"/>
              <a:ext cx="1279579" cy="369332"/>
            </a:xfrm>
            <a:prstGeom prst="rect">
              <a:avLst/>
            </a:prstGeom>
            <a:noFill/>
            <a:ln w="19050" algn="ctr">
              <a:noFill/>
              <a:miter lim="800000"/>
              <a:headEnd/>
              <a:tailEnd type="none" w="med" len="lg"/>
            </a:ln>
            <a:effectLst/>
          </p:spPr>
          <p:txBody>
            <a:bodyPr>
              <a:spAutoFit/>
            </a:bodyPr>
            <a:lstStyle/>
            <a:p>
              <a:pPr algn="ctr"/>
              <a:r>
                <a:rPr lang="en-US" altLang="zh-CN" sz="1800" i="1" dirty="0" err="1">
                  <a:latin typeface="Consolas" pitchFamily="49" charset="0"/>
                  <a:cs typeface="Consolas" pitchFamily="49" charset="0"/>
                </a:rPr>
                <a:t>A</a:t>
              </a:r>
              <a:r>
                <a:rPr lang="en-US" altLang="zh-CN" sz="1800" i="1" baseline="-25000" dirty="0" err="1">
                  <a:latin typeface="Consolas" pitchFamily="49" charset="0"/>
                  <a:cs typeface="Consolas" pitchFamily="49" charset="0"/>
                </a:rPr>
                <a:t>k</a:t>
              </a:r>
              <a:r>
                <a:rPr lang="en-US" altLang="zh-CN" sz="1800" baseline="-25000" dirty="0">
                  <a:latin typeface="Consolas" pitchFamily="49" charset="0"/>
                  <a:cs typeface="Consolas" pitchFamily="49" charset="0"/>
                </a:rPr>
                <a:t>-1</a:t>
              </a:r>
              <a:r>
                <a:rPr lang="en-US" altLang="zh-CN" sz="1800" dirty="0">
                  <a:latin typeface="Consolas" pitchFamily="49" charset="0"/>
                  <a:cs typeface="Consolas" pitchFamily="49" charset="0"/>
                </a:rPr>
                <a:t>[</a:t>
              </a:r>
              <a:r>
                <a:rPr lang="en-US" altLang="zh-CN" sz="1800" i="1" dirty="0" err="1">
                  <a:latin typeface="Consolas" pitchFamily="49" charset="0"/>
                  <a:cs typeface="Consolas" pitchFamily="49" charset="0"/>
                </a:rPr>
                <a:t>k</a:t>
              </a:r>
              <a:r>
                <a:rPr lang="en-US" altLang="zh-CN" sz="1800" dirty="0" err="1">
                  <a:latin typeface="Consolas" pitchFamily="49" charset="0"/>
                  <a:cs typeface="Consolas" pitchFamily="49" charset="0"/>
                </a:rPr>
                <a:t>,</a:t>
              </a:r>
              <a:r>
                <a:rPr lang="en-US" altLang="zh-CN" sz="1800" i="1" dirty="0" err="1">
                  <a:latin typeface="Consolas" pitchFamily="49" charset="0"/>
                  <a:cs typeface="Consolas" pitchFamily="49" charset="0"/>
                </a:rPr>
                <a:t>j</a:t>
              </a:r>
              <a:r>
                <a:rPr lang="en-US" altLang="zh-CN" sz="1800" dirty="0">
                  <a:latin typeface="Consolas" pitchFamily="49" charset="0"/>
                  <a:cs typeface="Consolas" pitchFamily="49" charset="0"/>
                </a:rPr>
                <a:t>]</a:t>
              </a:r>
            </a:p>
          </p:txBody>
        </p:sp>
      </p:grpSp>
      <p:grpSp>
        <p:nvGrpSpPr>
          <p:cNvPr id="31" name="组合 27">
            <a:extLst>
              <a:ext uri="{FF2B5EF4-FFF2-40B4-BE49-F238E27FC236}">
                <a16:creationId xmlns:a16="http://schemas.microsoft.com/office/drawing/2014/main" id="{68CDFBB6-88E7-40E3-BCBD-E67DFEC36D11}"/>
              </a:ext>
            </a:extLst>
          </p:cNvPr>
          <p:cNvGrpSpPr/>
          <p:nvPr/>
        </p:nvGrpSpPr>
        <p:grpSpPr>
          <a:xfrm>
            <a:off x="845441" y="5364012"/>
            <a:ext cx="3955216" cy="1143646"/>
            <a:chOff x="2649769" y="3335347"/>
            <a:chExt cx="3955216" cy="1143646"/>
          </a:xfrm>
        </p:grpSpPr>
        <p:sp>
          <p:nvSpPr>
            <p:cNvPr id="32" name="Oval 9">
              <a:extLst>
                <a:ext uri="{FF2B5EF4-FFF2-40B4-BE49-F238E27FC236}">
                  <a16:creationId xmlns:a16="http://schemas.microsoft.com/office/drawing/2014/main" id="{7C2DAC83-6F65-4A86-A081-3495785C1BC1}"/>
                </a:ext>
              </a:extLst>
            </p:cNvPr>
            <p:cNvSpPr>
              <a:spLocks noChangeArrowheads="1"/>
            </p:cNvSpPr>
            <p:nvPr/>
          </p:nvSpPr>
          <p:spPr bwMode="auto">
            <a:xfrm>
              <a:off x="5992985" y="3364842"/>
              <a:ext cx="612000" cy="5760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pPr algn="ctr">
                <a:spcBef>
                  <a:spcPct val="0"/>
                </a:spcBef>
              </a:pPr>
              <a:r>
                <a:rPr lang="en-US" altLang="zh-CN" sz="2000" i="1">
                  <a:solidFill>
                    <a:srgbClr val="FF00FF"/>
                  </a:solidFill>
                  <a:latin typeface="Consolas" pitchFamily="49" charset="0"/>
                  <a:cs typeface="Consolas" pitchFamily="49" charset="0"/>
                </a:rPr>
                <a:t>j</a:t>
              </a:r>
            </a:p>
          </p:txBody>
        </p:sp>
        <p:sp>
          <p:nvSpPr>
            <p:cNvPr id="33" name="Line 20">
              <a:extLst>
                <a:ext uri="{FF2B5EF4-FFF2-40B4-BE49-F238E27FC236}">
                  <a16:creationId xmlns:a16="http://schemas.microsoft.com/office/drawing/2014/main" id="{7FBFEA81-3A06-EC77-AC83-16A7C0C95E8F}"/>
                </a:ext>
              </a:extLst>
            </p:cNvPr>
            <p:cNvSpPr>
              <a:spLocks noChangeShapeType="1"/>
            </p:cNvSpPr>
            <p:nvPr/>
          </p:nvSpPr>
          <p:spPr bwMode="auto">
            <a:xfrm>
              <a:off x="2720335" y="3649627"/>
              <a:ext cx="925186" cy="0"/>
            </a:xfrm>
            <a:prstGeom prst="line">
              <a:avLst/>
            </a:prstGeom>
            <a:ln>
              <a:headEnd/>
              <a:tailEnd type="stealth" w="med" len="lg"/>
            </a:ln>
          </p:spPr>
          <p:style>
            <a:lnRef idx="2">
              <a:schemeClr val="accent5"/>
            </a:lnRef>
            <a:fillRef idx="0">
              <a:schemeClr val="accent5"/>
            </a:fillRef>
            <a:effectRef idx="1">
              <a:schemeClr val="accent5"/>
            </a:effectRef>
            <a:fontRef idx="minor">
              <a:schemeClr val="tx1"/>
            </a:fontRef>
          </p:style>
          <p:txBody>
            <a:bodyPr wrap="none"/>
            <a:lstStyle/>
            <a:p>
              <a:endParaRPr lang="zh-CN" altLang="en-US">
                <a:latin typeface="Consolas" pitchFamily="49" charset="0"/>
                <a:cs typeface="Consolas" pitchFamily="49" charset="0"/>
              </a:endParaRPr>
            </a:p>
          </p:txBody>
        </p:sp>
        <p:sp>
          <p:nvSpPr>
            <p:cNvPr id="34" name="Text Box 21">
              <a:extLst>
                <a:ext uri="{FF2B5EF4-FFF2-40B4-BE49-F238E27FC236}">
                  <a16:creationId xmlns:a16="http://schemas.microsoft.com/office/drawing/2014/main" id="{DA2B25A8-D762-5F90-E798-785E5BF96C29}"/>
                </a:ext>
              </a:extLst>
            </p:cNvPr>
            <p:cNvSpPr txBox="1">
              <a:spLocks noChangeArrowheads="1"/>
            </p:cNvSpPr>
            <p:nvPr/>
          </p:nvSpPr>
          <p:spPr bwMode="auto">
            <a:xfrm>
              <a:off x="3571868" y="3335347"/>
              <a:ext cx="1281148" cy="461665"/>
            </a:xfrm>
            <a:prstGeom prst="rect">
              <a:avLst/>
            </a:prstGeom>
            <a:noFill/>
            <a:ln w="19050" algn="ctr">
              <a:noFill/>
              <a:miter lim="800000"/>
              <a:headEnd/>
              <a:tailEnd type="none" w="med" len="lg"/>
            </a:ln>
            <a:effectLst/>
          </p:spPr>
          <p:txBody>
            <a:bodyPr>
              <a:spAutoFit/>
            </a:bodyPr>
            <a:lstStyle/>
            <a:p>
              <a:pPr algn="ctr"/>
              <a:r>
                <a:rPr lang="en-US" altLang="zh-CN">
                  <a:latin typeface="+mj-ea"/>
                  <a:ea typeface="+mj-ea"/>
                  <a:cs typeface="Consolas" pitchFamily="49" charset="0"/>
                </a:rPr>
                <a:t>……</a:t>
              </a:r>
            </a:p>
          </p:txBody>
        </p:sp>
        <p:sp>
          <p:nvSpPr>
            <p:cNvPr id="35" name="Line 22">
              <a:extLst>
                <a:ext uri="{FF2B5EF4-FFF2-40B4-BE49-F238E27FC236}">
                  <a16:creationId xmlns:a16="http://schemas.microsoft.com/office/drawing/2014/main" id="{CFE93EF0-DE89-3EFB-4C8C-51004E01AEFC}"/>
                </a:ext>
              </a:extLst>
            </p:cNvPr>
            <p:cNvSpPr>
              <a:spLocks noChangeShapeType="1"/>
            </p:cNvSpPr>
            <p:nvPr/>
          </p:nvSpPr>
          <p:spPr bwMode="auto">
            <a:xfrm>
              <a:off x="4854535" y="3649627"/>
              <a:ext cx="1138449" cy="0"/>
            </a:xfrm>
            <a:prstGeom prst="line">
              <a:avLst/>
            </a:prstGeom>
            <a:ln>
              <a:headEnd/>
              <a:tailEnd type="stealth" w="med" len="lg"/>
            </a:ln>
          </p:spPr>
          <p:style>
            <a:lnRef idx="2">
              <a:schemeClr val="accent5"/>
            </a:lnRef>
            <a:fillRef idx="0">
              <a:schemeClr val="accent5"/>
            </a:fillRef>
            <a:effectRef idx="1">
              <a:schemeClr val="accent5"/>
            </a:effectRef>
            <a:fontRef idx="minor">
              <a:schemeClr val="tx1"/>
            </a:fontRef>
          </p:style>
          <p:txBody>
            <a:bodyPr wrap="none"/>
            <a:lstStyle/>
            <a:p>
              <a:endParaRPr lang="zh-CN" altLang="en-US">
                <a:latin typeface="Consolas" pitchFamily="49" charset="0"/>
                <a:cs typeface="Consolas" pitchFamily="49" charset="0"/>
              </a:endParaRPr>
            </a:p>
          </p:txBody>
        </p:sp>
        <p:sp>
          <p:nvSpPr>
            <p:cNvPr id="36" name="AutoShape 23">
              <a:extLst>
                <a:ext uri="{FF2B5EF4-FFF2-40B4-BE49-F238E27FC236}">
                  <a16:creationId xmlns:a16="http://schemas.microsoft.com/office/drawing/2014/main" id="{9DCFCB45-2B3D-16A9-046A-60ECABFC938C}"/>
                </a:ext>
              </a:extLst>
            </p:cNvPr>
            <p:cNvSpPr>
              <a:spLocks/>
            </p:cNvSpPr>
            <p:nvPr/>
          </p:nvSpPr>
          <p:spPr bwMode="auto">
            <a:xfrm rot="5400000">
              <a:off x="4320670" y="2332358"/>
              <a:ext cx="71978" cy="3413780"/>
            </a:xfrm>
            <a:prstGeom prst="rightBrace">
              <a:avLst>
                <a:gd name="adj1" fmla="val 394384"/>
                <a:gd name="adj2" fmla="val 50000"/>
              </a:avLst>
            </a:prstGeom>
            <a:ln>
              <a:headEnd/>
              <a:tailEnd type="none" w="med" len="lg"/>
            </a:ln>
          </p:spPr>
          <p:style>
            <a:lnRef idx="2">
              <a:schemeClr val="dk1"/>
            </a:lnRef>
            <a:fillRef idx="0">
              <a:schemeClr val="dk1"/>
            </a:fillRef>
            <a:effectRef idx="1">
              <a:schemeClr val="dk1"/>
            </a:effectRef>
            <a:fontRef idx="minor">
              <a:schemeClr val="tx1"/>
            </a:fontRef>
          </p:style>
          <p:txBody>
            <a:bodyPr wrap="none" anchor="ctr"/>
            <a:lstStyle/>
            <a:p>
              <a:endParaRPr lang="zh-CN" altLang="en-US">
                <a:latin typeface="Consolas" pitchFamily="49" charset="0"/>
                <a:cs typeface="Consolas" pitchFamily="49" charset="0"/>
              </a:endParaRPr>
            </a:p>
          </p:txBody>
        </p:sp>
        <p:sp>
          <p:nvSpPr>
            <p:cNvPr id="37" name="Text Box 24">
              <a:extLst>
                <a:ext uri="{FF2B5EF4-FFF2-40B4-BE49-F238E27FC236}">
                  <a16:creationId xmlns:a16="http://schemas.microsoft.com/office/drawing/2014/main" id="{85F73C71-A10B-1826-52B5-A24120A68BAB}"/>
                </a:ext>
              </a:extLst>
            </p:cNvPr>
            <p:cNvSpPr txBox="1">
              <a:spLocks noChangeArrowheads="1"/>
            </p:cNvSpPr>
            <p:nvPr/>
          </p:nvSpPr>
          <p:spPr bwMode="auto">
            <a:xfrm>
              <a:off x="3717654" y="4109661"/>
              <a:ext cx="1422277" cy="369332"/>
            </a:xfrm>
            <a:prstGeom prst="rect">
              <a:avLst/>
            </a:prstGeom>
            <a:noFill/>
            <a:ln w="19050" algn="ctr">
              <a:noFill/>
              <a:miter lim="800000"/>
              <a:headEnd/>
              <a:tailEnd type="none" w="med" len="lg"/>
            </a:ln>
            <a:effectLst/>
          </p:spPr>
          <p:txBody>
            <a:bodyPr>
              <a:spAutoFit/>
            </a:bodyPr>
            <a:lstStyle/>
            <a:p>
              <a:pPr algn="ctr"/>
              <a:r>
                <a:rPr lang="en-US" altLang="zh-CN" sz="1800" i="1" dirty="0" err="1">
                  <a:latin typeface="Consolas" pitchFamily="49" charset="0"/>
                  <a:cs typeface="Consolas" pitchFamily="49" charset="0"/>
                </a:rPr>
                <a:t>A</a:t>
              </a:r>
              <a:r>
                <a:rPr lang="en-US" altLang="zh-CN" sz="1800" i="1" baseline="-25000" dirty="0" err="1">
                  <a:latin typeface="Consolas" pitchFamily="49" charset="0"/>
                  <a:cs typeface="Consolas" pitchFamily="49" charset="0"/>
                </a:rPr>
                <a:t>k</a:t>
              </a:r>
              <a:r>
                <a:rPr lang="en-US" altLang="zh-CN" sz="1800" baseline="-25000" dirty="0">
                  <a:latin typeface="Consolas" pitchFamily="49" charset="0"/>
                  <a:cs typeface="Consolas" pitchFamily="49" charset="0"/>
                </a:rPr>
                <a:t>-1</a:t>
              </a:r>
              <a:r>
                <a:rPr lang="en-US" altLang="zh-CN" sz="1800" dirty="0">
                  <a:latin typeface="Consolas" pitchFamily="49" charset="0"/>
                  <a:cs typeface="Consolas" pitchFamily="49" charset="0"/>
                </a:rPr>
                <a:t>[</a:t>
              </a:r>
              <a:r>
                <a:rPr lang="en-US" altLang="zh-CN" sz="1800" i="1" dirty="0" err="1">
                  <a:latin typeface="Consolas" pitchFamily="49" charset="0"/>
                  <a:cs typeface="Consolas" pitchFamily="49" charset="0"/>
                </a:rPr>
                <a:t>i</a:t>
              </a:r>
              <a:r>
                <a:rPr lang="en-US" altLang="zh-CN" sz="1800" dirty="0" err="1">
                  <a:latin typeface="Consolas" pitchFamily="49" charset="0"/>
                  <a:cs typeface="Consolas" pitchFamily="49" charset="0"/>
                </a:rPr>
                <a:t>,</a:t>
              </a:r>
              <a:r>
                <a:rPr lang="en-US" altLang="zh-CN" sz="1800" i="1" dirty="0" err="1">
                  <a:latin typeface="Consolas" pitchFamily="49" charset="0"/>
                  <a:cs typeface="Consolas" pitchFamily="49" charset="0"/>
                </a:rPr>
                <a:t>j</a:t>
              </a:r>
              <a:r>
                <a:rPr lang="en-US" altLang="zh-CN" sz="1800" dirty="0">
                  <a:latin typeface="Consolas" pitchFamily="49" charset="0"/>
                  <a:cs typeface="Consolas" pitchFamily="49" charset="0"/>
                </a:rPr>
                <a:t>]</a:t>
              </a:r>
            </a:p>
          </p:txBody>
        </p:sp>
      </p:grpSp>
      <p:sp>
        <p:nvSpPr>
          <p:cNvPr id="38" name="Text Box 25">
            <a:extLst>
              <a:ext uri="{FF2B5EF4-FFF2-40B4-BE49-F238E27FC236}">
                <a16:creationId xmlns:a16="http://schemas.microsoft.com/office/drawing/2014/main" id="{26715F35-5044-F2FC-4928-384A37C414C3}"/>
              </a:ext>
            </a:extLst>
          </p:cNvPr>
          <p:cNvSpPr txBox="1">
            <a:spLocks noChangeArrowheads="1"/>
          </p:cNvSpPr>
          <p:nvPr/>
        </p:nvSpPr>
        <p:spPr bwMode="auto">
          <a:xfrm>
            <a:off x="1331080" y="1926605"/>
            <a:ext cx="7858179" cy="1222624"/>
          </a:xfrm>
          <a:prstGeom prst="rect">
            <a:avLst/>
          </a:prstGeom>
          <a:ln>
            <a:noFill/>
            <a:headEnd/>
            <a:tailEnd/>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44000" tIns="72000" rIns="0" bIns="72000">
            <a:spAutoFit/>
          </a:bodyPr>
          <a:lstStyle/>
          <a:p>
            <a:pPr>
              <a:spcBef>
                <a:spcPts val="600"/>
              </a:spcBef>
            </a:pPr>
            <a:r>
              <a:rPr kumimoji="1" lang="zh-CN" altLang="en-US" sz="2000">
                <a:solidFill>
                  <a:srgbClr val="1000E4"/>
                </a:solidFill>
                <a:latin typeface="Consolas" pitchFamily="49" charset="0"/>
                <a:ea typeface="仿宋" pitchFamily="49" charset="-122"/>
                <a:cs typeface="Consolas" pitchFamily="49" charset="0"/>
                <a:sym typeface="Wingdings"/>
              </a:rPr>
              <a:t> </a:t>
            </a:r>
            <a:r>
              <a:rPr kumimoji="1" lang="zh-CN" altLang="en-US" sz="2000">
                <a:solidFill>
                  <a:srgbClr val="1000E4"/>
                </a:solidFill>
                <a:latin typeface="Consolas" pitchFamily="49" charset="0"/>
                <a:ea typeface="仿宋" pitchFamily="49" charset="-122"/>
                <a:cs typeface="Consolas" pitchFamily="49" charset="0"/>
              </a:rPr>
              <a:t>初始</a:t>
            </a:r>
            <a:r>
              <a:rPr kumimoji="1" lang="zh-CN" altLang="en-US" sz="2000" dirty="0">
                <a:solidFill>
                  <a:srgbClr val="1000E4"/>
                </a:solidFill>
                <a:latin typeface="Consolas" pitchFamily="49" charset="0"/>
                <a:ea typeface="仿宋" pitchFamily="49" charset="-122"/>
                <a:cs typeface="Consolas" pitchFamily="49" charset="0"/>
              </a:rPr>
              <a:t>时，有</a:t>
            </a:r>
            <a:r>
              <a:rPr kumimoji="1" lang="en-US" altLang="zh-CN" sz="2000" i="1" dirty="0">
                <a:solidFill>
                  <a:srgbClr val="1000E4"/>
                </a:solidFill>
                <a:latin typeface="Consolas" pitchFamily="49" charset="0"/>
                <a:ea typeface="仿宋" pitchFamily="49" charset="-122"/>
                <a:cs typeface="Consolas" pitchFamily="49" charset="0"/>
              </a:rPr>
              <a:t>A</a:t>
            </a:r>
            <a:r>
              <a:rPr kumimoji="1" lang="en-US" altLang="zh-CN" sz="2000" baseline="-30000" dirty="0">
                <a:solidFill>
                  <a:srgbClr val="1000E4"/>
                </a:solidFill>
                <a:latin typeface="Consolas" pitchFamily="49" charset="0"/>
                <a:ea typeface="仿宋" pitchFamily="49" charset="-122"/>
                <a:cs typeface="Consolas" pitchFamily="49" charset="0"/>
              </a:rPr>
              <a:t>-1</a:t>
            </a:r>
            <a:r>
              <a:rPr kumimoji="1" lang="en-US" altLang="zh-CN" sz="2000" dirty="0">
                <a:solidFill>
                  <a:srgbClr val="1000E4"/>
                </a:solidFill>
                <a:latin typeface="Consolas" pitchFamily="49" charset="0"/>
                <a:ea typeface="仿宋" pitchFamily="49" charset="-122"/>
                <a:cs typeface="Consolas" pitchFamily="49" charset="0"/>
              </a:rPr>
              <a:t>[</a:t>
            </a:r>
            <a:r>
              <a:rPr kumimoji="1" lang="en-US" altLang="zh-CN" sz="2000" i="1" dirty="0" err="1">
                <a:solidFill>
                  <a:srgbClr val="1000E4"/>
                </a:solidFill>
                <a:latin typeface="Consolas" pitchFamily="49" charset="0"/>
                <a:ea typeface="仿宋" pitchFamily="49" charset="-122"/>
                <a:cs typeface="Consolas" pitchFamily="49" charset="0"/>
              </a:rPr>
              <a:t>i</a:t>
            </a:r>
            <a:r>
              <a:rPr kumimoji="1" lang="en-US" altLang="zh-CN" sz="2000" dirty="0">
                <a:solidFill>
                  <a:srgbClr val="1000E4"/>
                </a:solidFill>
                <a:latin typeface="Consolas" pitchFamily="49" charset="0"/>
                <a:ea typeface="仿宋" pitchFamily="49" charset="-122"/>
                <a:cs typeface="Consolas" pitchFamily="49" charset="0"/>
              </a:rPr>
              <a:t>][</a:t>
            </a:r>
            <a:r>
              <a:rPr kumimoji="1" lang="en-US" altLang="zh-CN" sz="2000" i="1" dirty="0">
                <a:solidFill>
                  <a:srgbClr val="1000E4"/>
                </a:solidFill>
                <a:latin typeface="Consolas" pitchFamily="49" charset="0"/>
                <a:ea typeface="仿宋" pitchFamily="49" charset="-122"/>
                <a:cs typeface="Consolas" pitchFamily="49" charset="0"/>
              </a:rPr>
              <a:t>j</a:t>
            </a:r>
            <a:r>
              <a:rPr kumimoji="1" lang="en-US" altLang="zh-CN" sz="2000" dirty="0">
                <a:solidFill>
                  <a:srgbClr val="1000E4"/>
                </a:solidFill>
                <a:latin typeface="Consolas" pitchFamily="49" charset="0"/>
                <a:ea typeface="仿宋" pitchFamily="49" charset="-122"/>
                <a:cs typeface="Consolas" pitchFamily="49" charset="0"/>
              </a:rPr>
              <a:t>]=</a:t>
            </a:r>
            <a:r>
              <a:rPr lang="nb-NO" altLang="zh-CN" sz="2000" dirty="0">
                <a:solidFill>
                  <a:srgbClr val="1000E4"/>
                </a:solidFill>
                <a:latin typeface="Consolas" pitchFamily="49" charset="0"/>
                <a:ea typeface="仿宋" pitchFamily="49" charset="-122"/>
                <a:cs typeface="Consolas" pitchFamily="49" charset="0"/>
              </a:rPr>
              <a:t>g.edges</a:t>
            </a:r>
            <a:r>
              <a:rPr kumimoji="1" lang="en-US" altLang="zh-CN" sz="2000" dirty="0">
                <a:solidFill>
                  <a:srgbClr val="1000E4"/>
                </a:solidFill>
                <a:latin typeface="Consolas" pitchFamily="49" charset="0"/>
                <a:ea typeface="仿宋" pitchFamily="49" charset="-122"/>
                <a:cs typeface="Consolas" pitchFamily="49" charset="0"/>
              </a:rPr>
              <a:t>[</a:t>
            </a:r>
            <a:r>
              <a:rPr kumimoji="1" lang="en-US" altLang="zh-CN" sz="2000" i="1" dirty="0" err="1">
                <a:solidFill>
                  <a:srgbClr val="1000E4"/>
                </a:solidFill>
                <a:latin typeface="Consolas" pitchFamily="49" charset="0"/>
                <a:ea typeface="仿宋" pitchFamily="49" charset="-122"/>
                <a:cs typeface="Consolas" pitchFamily="49" charset="0"/>
              </a:rPr>
              <a:t>i</a:t>
            </a:r>
            <a:r>
              <a:rPr kumimoji="1" lang="en-US" altLang="zh-CN" sz="2000" dirty="0">
                <a:solidFill>
                  <a:srgbClr val="1000E4"/>
                </a:solidFill>
                <a:latin typeface="Consolas" pitchFamily="49" charset="0"/>
                <a:ea typeface="仿宋" pitchFamily="49" charset="-122"/>
                <a:cs typeface="Consolas" pitchFamily="49" charset="0"/>
              </a:rPr>
              <a:t>][</a:t>
            </a:r>
            <a:r>
              <a:rPr kumimoji="1" lang="en-US" altLang="zh-CN" sz="2000" i="1" dirty="0">
                <a:solidFill>
                  <a:srgbClr val="1000E4"/>
                </a:solidFill>
                <a:latin typeface="Consolas" pitchFamily="49" charset="0"/>
                <a:ea typeface="仿宋" pitchFamily="49" charset="-122"/>
                <a:cs typeface="Consolas" pitchFamily="49" charset="0"/>
              </a:rPr>
              <a:t>j</a:t>
            </a:r>
            <a:r>
              <a:rPr kumimoji="1" lang="en-US" altLang="zh-CN" sz="2000" dirty="0">
                <a:solidFill>
                  <a:srgbClr val="1000E4"/>
                </a:solidFill>
                <a:latin typeface="Consolas" pitchFamily="49" charset="0"/>
                <a:ea typeface="仿宋" pitchFamily="49" charset="-122"/>
                <a:cs typeface="Consolas" pitchFamily="49" charset="0"/>
              </a:rPr>
              <a:t>]</a:t>
            </a:r>
            <a:r>
              <a:rPr kumimoji="1" lang="zh-CN" altLang="en-US" sz="2000" dirty="0">
                <a:solidFill>
                  <a:srgbClr val="1000E4"/>
                </a:solidFill>
                <a:latin typeface="Consolas" pitchFamily="49" charset="0"/>
                <a:ea typeface="仿宋" pitchFamily="49" charset="-122"/>
                <a:cs typeface="Consolas" pitchFamily="49" charset="0"/>
              </a:rPr>
              <a:t>。</a:t>
            </a:r>
            <a:endParaRPr kumimoji="1" lang="en-US" altLang="zh-CN" sz="2000" dirty="0">
              <a:solidFill>
                <a:srgbClr val="1000E4"/>
              </a:solidFill>
              <a:latin typeface="Consolas" pitchFamily="49" charset="0"/>
              <a:ea typeface="仿宋" pitchFamily="49" charset="-122"/>
              <a:cs typeface="Consolas" pitchFamily="49" charset="0"/>
            </a:endParaRPr>
          </a:p>
          <a:p>
            <a:pPr>
              <a:spcBef>
                <a:spcPts val="600"/>
              </a:spcBef>
            </a:pPr>
            <a:r>
              <a:rPr kumimoji="1" lang="zh-CN" altLang="en-US" sz="2000">
                <a:solidFill>
                  <a:srgbClr val="1000E4"/>
                </a:solidFill>
                <a:latin typeface="Consolas" pitchFamily="49" charset="0"/>
                <a:ea typeface="仿宋" pitchFamily="49" charset="-122"/>
                <a:cs typeface="Consolas" pitchFamily="49" charset="0"/>
                <a:sym typeface="Wingdings"/>
              </a:rPr>
              <a:t> 若</a:t>
            </a:r>
            <a:r>
              <a:rPr kumimoji="1" lang="en-US" altLang="zh-CN" sz="2000" i="1">
                <a:solidFill>
                  <a:srgbClr val="1000E4"/>
                </a:solidFill>
                <a:latin typeface="Consolas" pitchFamily="49" charset="0"/>
                <a:ea typeface="仿宋" pitchFamily="49" charset="-122"/>
                <a:cs typeface="Consolas" pitchFamily="49" charset="0"/>
                <a:sym typeface="Wingdings"/>
              </a:rPr>
              <a:t>A</a:t>
            </a:r>
            <a:r>
              <a:rPr kumimoji="1" lang="en-US" altLang="zh-CN" sz="2000" i="1" baseline="-25000">
                <a:solidFill>
                  <a:srgbClr val="1000E4"/>
                </a:solidFill>
                <a:latin typeface="Consolas" pitchFamily="49" charset="0"/>
                <a:ea typeface="仿宋" pitchFamily="49" charset="-122"/>
                <a:cs typeface="Consolas" pitchFamily="49" charset="0"/>
                <a:sym typeface="Wingdings"/>
              </a:rPr>
              <a:t>k</a:t>
            </a:r>
            <a:r>
              <a:rPr kumimoji="1" lang="en-US" altLang="zh-CN" sz="2000" baseline="-25000">
                <a:solidFill>
                  <a:srgbClr val="1000E4"/>
                </a:solidFill>
                <a:latin typeface="Consolas" pitchFamily="49" charset="0"/>
                <a:ea typeface="仿宋" pitchFamily="49" charset="-122"/>
                <a:cs typeface="Consolas" pitchFamily="49" charset="0"/>
                <a:sym typeface="Wingdings"/>
              </a:rPr>
              <a:t>-1</a:t>
            </a:r>
            <a:r>
              <a:rPr kumimoji="1" lang="zh-CN" altLang="en-US" sz="2000">
                <a:solidFill>
                  <a:srgbClr val="1000E4"/>
                </a:solidFill>
                <a:latin typeface="Consolas" pitchFamily="49" charset="0"/>
                <a:ea typeface="仿宋" pitchFamily="49" charset="-122"/>
                <a:cs typeface="Consolas" pitchFamily="49" charset="0"/>
                <a:sym typeface="Wingdings"/>
              </a:rPr>
              <a:t>已经求出。</a:t>
            </a:r>
            <a:endParaRPr kumimoji="1" lang="en-US" altLang="zh-CN" sz="2000">
              <a:solidFill>
                <a:srgbClr val="1000E4"/>
              </a:solidFill>
              <a:latin typeface="Consolas" pitchFamily="49" charset="0"/>
              <a:ea typeface="仿宋" pitchFamily="49" charset="-122"/>
              <a:cs typeface="Consolas" pitchFamily="49" charset="0"/>
              <a:sym typeface="Wingdings"/>
            </a:endParaRPr>
          </a:p>
          <a:p>
            <a:pPr>
              <a:spcBef>
                <a:spcPts val="600"/>
              </a:spcBef>
            </a:pPr>
            <a:r>
              <a:rPr kumimoji="1" lang="zh-CN" altLang="zh-CN" sz="2000">
                <a:solidFill>
                  <a:srgbClr val="1000E4"/>
                </a:solidFill>
                <a:latin typeface="Consolas" pitchFamily="49" charset="0"/>
                <a:ea typeface="仿宋" pitchFamily="49" charset="-122"/>
                <a:cs typeface="Consolas" pitchFamily="49" charset="0"/>
                <a:sym typeface="Wingdings"/>
              </a:rPr>
              <a:t></a:t>
            </a:r>
            <a:r>
              <a:rPr kumimoji="1" lang="en-US" altLang="zh-CN" sz="2000">
                <a:solidFill>
                  <a:srgbClr val="1000E4"/>
                </a:solidFill>
                <a:latin typeface="Consolas" pitchFamily="49" charset="0"/>
                <a:ea typeface="仿宋" pitchFamily="49" charset="-122"/>
                <a:cs typeface="Consolas" pitchFamily="49" charset="0"/>
                <a:sym typeface="Wingdings"/>
              </a:rPr>
              <a:t> </a:t>
            </a:r>
            <a:r>
              <a:rPr kumimoji="1" lang="zh-CN" altLang="en-US" sz="2000">
                <a:solidFill>
                  <a:srgbClr val="1000E4"/>
                </a:solidFill>
                <a:latin typeface="Consolas" pitchFamily="49" charset="0"/>
                <a:ea typeface="仿宋" pitchFamily="49" charset="-122"/>
                <a:cs typeface="Consolas" pitchFamily="49" charset="0"/>
              </a:rPr>
              <a:t>考虑顶点</a:t>
            </a:r>
            <a:r>
              <a:rPr kumimoji="1" lang="en-US" altLang="zh-CN" sz="2000" i="1">
                <a:solidFill>
                  <a:srgbClr val="1000E4"/>
                </a:solidFill>
                <a:latin typeface="Consolas" pitchFamily="49" charset="0"/>
                <a:ea typeface="仿宋" pitchFamily="49" charset="-122"/>
                <a:cs typeface="Consolas" pitchFamily="49" charset="0"/>
              </a:rPr>
              <a:t>k</a:t>
            </a:r>
            <a:r>
              <a:rPr kumimoji="1" lang="zh-CN" altLang="en-US" sz="2000">
                <a:solidFill>
                  <a:srgbClr val="1000E4"/>
                </a:solidFill>
                <a:latin typeface="Consolas" pitchFamily="49" charset="0"/>
                <a:ea typeface="仿宋" pitchFamily="49" charset="-122"/>
                <a:cs typeface="Consolas" pitchFamily="49" charset="0"/>
              </a:rPr>
              <a:t>：求从</a:t>
            </a:r>
            <a:r>
              <a:rPr kumimoji="1" lang="en-US" altLang="zh-CN" sz="2000" i="1">
                <a:solidFill>
                  <a:srgbClr val="1000E4"/>
                </a:solidFill>
                <a:latin typeface="Consolas" pitchFamily="49" charset="0"/>
                <a:ea typeface="仿宋" pitchFamily="49" charset="-122"/>
                <a:cs typeface="Consolas" pitchFamily="49" charset="0"/>
              </a:rPr>
              <a:t>i</a:t>
            </a:r>
            <a:r>
              <a:rPr kumimoji="1" lang="zh-CN" altLang="en-US" sz="2000">
                <a:solidFill>
                  <a:srgbClr val="1000E4"/>
                </a:solidFill>
                <a:latin typeface="Consolas" pitchFamily="49" charset="0"/>
                <a:ea typeface="仿宋" pitchFamily="49" charset="-122"/>
                <a:cs typeface="Consolas" pitchFamily="49" charset="0"/>
                <a:sym typeface="Wingdings"/>
              </a:rPr>
              <a:t></a:t>
            </a:r>
            <a:r>
              <a:rPr kumimoji="1" lang="en-US" altLang="zh-CN" sz="2000" i="1">
                <a:solidFill>
                  <a:srgbClr val="1000E4"/>
                </a:solidFill>
                <a:latin typeface="Consolas" pitchFamily="49" charset="0"/>
                <a:ea typeface="仿宋" pitchFamily="49" charset="-122"/>
                <a:cs typeface="Consolas" pitchFamily="49" charset="0"/>
              </a:rPr>
              <a:t>j</a:t>
            </a:r>
            <a:r>
              <a:rPr kumimoji="1" lang="zh-CN" altLang="en-US" sz="2000" dirty="0">
                <a:solidFill>
                  <a:srgbClr val="1000E4"/>
                </a:solidFill>
                <a:latin typeface="Consolas" pitchFamily="49" charset="0"/>
                <a:ea typeface="仿宋" pitchFamily="49" charset="-122"/>
                <a:cs typeface="Consolas" pitchFamily="49" charset="0"/>
              </a:rPr>
              <a:t>的最短路径经过编号为</a:t>
            </a:r>
            <a:r>
              <a:rPr kumimoji="1" lang="en-US" altLang="zh-CN" sz="2000" i="1" dirty="0">
                <a:solidFill>
                  <a:srgbClr val="1000E4"/>
                </a:solidFill>
                <a:latin typeface="Consolas" pitchFamily="49" charset="0"/>
                <a:ea typeface="仿宋" pitchFamily="49" charset="-122"/>
                <a:cs typeface="Consolas" pitchFamily="49" charset="0"/>
              </a:rPr>
              <a:t>k</a:t>
            </a:r>
            <a:r>
              <a:rPr kumimoji="1" lang="zh-CN" altLang="en-US" sz="2000" dirty="0">
                <a:solidFill>
                  <a:srgbClr val="1000E4"/>
                </a:solidFill>
                <a:latin typeface="Consolas" pitchFamily="49" charset="0"/>
                <a:ea typeface="仿宋" pitchFamily="49" charset="-122"/>
                <a:cs typeface="Consolas" pitchFamily="49" charset="0"/>
              </a:rPr>
              <a:t>顶点</a:t>
            </a:r>
            <a:r>
              <a:rPr kumimoji="1" lang="zh-CN" altLang="en-US" sz="2000">
                <a:solidFill>
                  <a:srgbClr val="1000E4"/>
                </a:solidFill>
                <a:latin typeface="Consolas" pitchFamily="49" charset="0"/>
                <a:ea typeface="仿宋" pitchFamily="49" charset="-122"/>
                <a:cs typeface="Consolas" pitchFamily="49" charset="0"/>
              </a:rPr>
              <a:t>的情况。</a:t>
            </a:r>
            <a:endParaRPr kumimoji="1" lang="zh-CN" altLang="en-US" sz="2000" dirty="0">
              <a:solidFill>
                <a:srgbClr val="1000E4"/>
              </a:solidFill>
              <a:latin typeface="Consolas" pitchFamily="49" charset="0"/>
              <a:ea typeface="仿宋" pitchFamily="49" charset="-122"/>
              <a:cs typeface="Consolas" pitchFamily="49" charset="0"/>
            </a:endParaRPr>
          </a:p>
        </p:txBody>
      </p:sp>
      <p:sp>
        <p:nvSpPr>
          <p:cNvPr id="40" name="左弧形箭头 23">
            <a:extLst>
              <a:ext uri="{FF2B5EF4-FFF2-40B4-BE49-F238E27FC236}">
                <a16:creationId xmlns:a16="http://schemas.microsoft.com/office/drawing/2014/main" id="{A54B2E10-3554-EBB9-79FF-1D6572648BEF}"/>
              </a:ext>
            </a:extLst>
          </p:cNvPr>
          <p:cNvSpPr/>
          <p:nvPr/>
        </p:nvSpPr>
        <p:spPr>
          <a:xfrm>
            <a:off x="7797621" y="4106549"/>
            <a:ext cx="428628" cy="714380"/>
          </a:xfrm>
          <a:prstGeom prst="curvedRightArrow">
            <a:avLst>
              <a:gd name="adj1" fmla="val 25000"/>
              <a:gd name="adj2" fmla="val 50000"/>
              <a:gd name="adj3" fmla="val 13474"/>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zh-CN" altLang="en-US" sz="2000">
              <a:solidFill>
                <a:schemeClr val="tx1"/>
              </a:solidFill>
              <a:latin typeface="Consolas" pitchFamily="49" charset="0"/>
              <a:cs typeface="Consolas" pitchFamily="49" charset="0"/>
            </a:endParaRPr>
          </a:p>
        </p:txBody>
      </p:sp>
      <p:sp>
        <p:nvSpPr>
          <p:cNvPr id="42" name="Oval 7">
            <a:extLst>
              <a:ext uri="{FF2B5EF4-FFF2-40B4-BE49-F238E27FC236}">
                <a16:creationId xmlns:a16="http://schemas.microsoft.com/office/drawing/2014/main" id="{EBEE8AFB-AAF5-1CD5-BA00-06EB19CA2DDF}"/>
              </a:ext>
            </a:extLst>
          </p:cNvPr>
          <p:cNvSpPr>
            <a:spLocks noChangeArrowheads="1"/>
          </p:cNvSpPr>
          <p:nvPr/>
        </p:nvSpPr>
        <p:spPr bwMode="auto">
          <a:xfrm>
            <a:off x="4294407" y="3589499"/>
            <a:ext cx="612000" cy="5760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pPr algn="ctr">
              <a:spcBef>
                <a:spcPct val="0"/>
              </a:spcBef>
            </a:pPr>
            <a:r>
              <a:rPr lang="en-US" altLang="zh-CN" sz="2000" i="1" dirty="0">
                <a:solidFill>
                  <a:srgbClr val="3333FF"/>
                </a:solidFill>
                <a:latin typeface="Consolas" pitchFamily="49" charset="0"/>
                <a:cs typeface="Consolas" pitchFamily="49" charset="0"/>
              </a:rPr>
              <a:t>k</a:t>
            </a:r>
            <a:endParaRPr lang="en-US" altLang="zh-CN" sz="2000" dirty="0">
              <a:solidFill>
                <a:srgbClr val="3333FF"/>
              </a:solidFill>
              <a:latin typeface="Consolas" pitchFamily="49" charset="0"/>
              <a:cs typeface="Consolas" pitchFamily="49" charset="0"/>
            </a:endParaRPr>
          </a:p>
        </p:txBody>
      </p:sp>
      <p:grpSp>
        <p:nvGrpSpPr>
          <p:cNvPr id="43" name="组合 34">
            <a:extLst>
              <a:ext uri="{FF2B5EF4-FFF2-40B4-BE49-F238E27FC236}">
                <a16:creationId xmlns:a16="http://schemas.microsoft.com/office/drawing/2014/main" id="{624C8F90-D648-0FB1-7740-B6FBBA41BAA9}"/>
              </a:ext>
            </a:extLst>
          </p:cNvPr>
          <p:cNvGrpSpPr/>
          <p:nvPr/>
        </p:nvGrpSpPr>
        <p:grpSpPr>
          <a:xfrm>
            <a:off x="767408" y="4106549"/>
            <a:ext cx="5922742" cy="2524251"/>
            <a:chOff x="2571736" y="2077884"/>
            <a:chExt cx="5922742" cy="2524251"/>
          </a:xfrm>
        </p:grpSpPr>
        <p:cxnSp>
          <p:nvCxnSpPr>
            <p:cNvPr id="44" name="直接箭头连接符 43">
              <a:extLst>
                <a:ext uri="{FF2B5EF4-FFF2-40B4-BE49-F238E27FC236}">
                  <a16:creationId xmlns:a16="http://schemas.microsoft.com/office/drawing/2014/main" id="{3BE0786F-A1EE-E431-9752-168100AD8D3C}"/>
                </a:ext>
              </a:extLst>
            </p:cNvPr>
            <p:cNvCxnSpPr/>
            <p:nvPr/>
          </p:nvCxnSpPr>
          <p:spPr>
            <a:xfrm>
              <a:off x="2571736" y="3784602"/>
              <a:ext cx="3643338" cy="1588"/>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45" name="TextBox 32">
              <a:extLst>
                <a:ext uri="{FF2B5EF4-FFF2-40B4-BE49-F238E27FC236}">
                  <a16:creationId xmlns:a16="http://schemas.microsoft.com/office/drawing/2014/main" id="{6E00F2F8-C335-EC88-CBF8-BBA6BA0106E6}"/>
                </a:ext>
              </a:extLst>
            </p:cNvPr>
            <p:cNvSpPr txBox="1"/>
            <p:nvPr/>
          </p:nvSpPr>
          <p:spPr>
            <a:xfrm>
              <a:off x="6279900" y="3842953"/>
              <a:ext cx="2214578" cy="759182"/>
            </a:xfrm>
            <a:prstGeom prst="rect">
              <a:avLst/>
            </a:prstGeom>
            <a:noFill/>
          </p:spPr>
          <p:txBody>
            <a:bodyPr wrap="square" rtlCol="0">
              <a:spAutoFit/>
            </a:bodyPr>
            <a:lstStyle/>
            <a:p>
              <a:pPr>
                <a:lnSpc>
                  <a:spcPts val="2600"/>
                </a:lnSpc>
                <a:spcBef>
                  <a:spcPts val="0"/>
                </a:spcBef>
              </a:pPr>
              <a:r>
                <a:rPr kumimoji="1" lang="en-US" altLang="zh-CN" sz="2000" i="1" dirty="0" err="1">
                  <a:solidFill>
                    <a:srgbClr val="FF0000"/>
                  </a:solidFill>
                  <a:latin typeface="Consolas" pitchFamily="49" charset="0"/>
                  <a:ea typeface="方正启体简体" pitchFamily="65" charset="-122"/>
                  <a:cs typeface="Consolas" pitchFamily="49" charset="0"/>
                </a:rPr>
                <a:t>i</a:t>
              </a:r>
              <a:r>
                <a:rPr kumimoji="1" lang="zh-CN" altLang="en-US" sz="2000" dirty="0">
                  <a:solidFill>
                    <a:srgbClr val="FF00FF"/>
                  </a:solidFill>
                  <a:latin typeface="Consolas" pitchFamily="49" charset="0"/>
                  <a:ea typeface="方正启体简体" pitchFamily="65" charset="-122"/>
                  <a:cs typeface="Consolas" pitchFamily="49" charset="0"/>
                  <a:sym typeface="Wingdings"/>
                </a:rPr>
                <a:t></a:t>
              </a:r>
              <a:r>
                <a:rPr kumimoji="1" lang="en-US" altLang="zh-CN" sz="2000" i="1" dirty="0">
                  <a:solidFill>
                    <a:srgbClr val="FF0000"/>
                  </a:solidFill>
                  <a:latin typeface="Consolas" pitchFamily="49" charset="0"/>
                  <a:ea typeface="方正启体简体" pitchFamily="65" charset="-122"/>
                  <a:cs typeface="Consolas" pitchFamily="49" charset="0"/>
                </a:rPr>
                <a:t>j</a:t>
              </a:r>
              <a:r>
                <a:rPr kumimoji="1" lang="zh-CN" altLang="en-US" sz="2000" dirty="0">
                  <a:solidFill>
                    <a:srgbClr val="FF0000"/>
                  </a:solidFill>
                  <a:latin typeface="Consolas" pitchFamily="49" charset="0"/>
                  <a:ea typeface="方正启体简体" pitchFamily="65" charset="-122"/>
                  <a:cs typeface="Consolas" pitchFamily="49" charset="0"/>
                </a:rPr>
                <a:t>有两条路径，</a:t>
              </a:r>
              <a:endParaRPr kumimoji="1" lang="en-US" altLang="zh-CN" sz="2000" dirty="0">
                <a:solidFill>
                  <a:srgbClr val="FF0000"/>
                </a:solidFill>
                <a:latin typeface="Consolas" pitchFamily="49" charset="0"/>
                <a:ea typeface="方正启体简体" pitchFamily="65" charset="-122"/>
                <a:cs typeface="Consolas" pitchFamily="49" charset="0"/>
              </a:endParaRPr>
            </a:p>
            <a:p>
              <a:pPr>
                <a:lnSpc>
                  <a:spcPts val="2600"/>
                </a:lnSpc>
                <a:spcBef>
                  <a:spcPts val="0"/>
                </a:spcBef>
              </a:pPr>
              <a:r>
                <a:rPr kumimoji="1" lang="zh-CN" altLang="en-US" sz="2000" dirty="0">
                  <a:solidFill>
                    <a:srgbClr val="FF0000"/>
                  </a:solidFill>
                  <a:latin typeface="Consolas" pitchFamily="49" charset="0"/>
                  <a:ea typeface="方正启体简体" pitchFamily="65" charset="-122"/>
                  <a:cs typeface="Consolas" pitchFamily="49" charset="0"/>
                </a:rPr>
                <a:t>取最短的一条！</a:t>
              </a:r>
              <a:endParaRPr lang="zh-CN" altLang="en-US" sz="2000" dirty="0">
                <a:solidFill>
                  <a:srgbClr val="FF0000"/>
                </a:solidFill>
                <a:latin typeface="Consolas" pitchFamily="49" charset="0"/>
                <a:ea typeface="方正启体简体" pitchFamily="65" charset="-122"/>
                <a:cs typeface="Consolas" pitchFamily="49" charset="0"/>
              </a:endParaRPr>
            </a:p>
          </p:txBody>
        </p:sp>
        <p:sp>
          <p:nvSpPr>
            <p:cNvPr id="46" name="任意多边形 33">
              <a:extLst>
                <a:ext uri="{FF2B5EF4-FFF2-40B4-BE49-F238E27FC236}">
                  <a16:creationId xmlns:a16="http://schemas.microsoft.com/office/drawing/2014/main" id="{87995BA8-3BF0-64C9-CE26-7546CFB99833}"/>
                </a:ext>
              </a:extLst>
            </p:cNvPr>
            <p:cNvSpPr/>
            <p:nvPr/>
          </p:nvSpPr>
          <p:spPr>
            <a:xfrm>
              <a:off x="2576052" y="2077884"/>
              <a:ext cx="3539613" cy="1510890"/>
            </a:xfrm>
            <a:custGeom>
              <a:avLst/>
              <a:gdLst>
                <a:gd name="connsiteX0" fmla="*/ 0 w 3539613"/>
                <a:gd name="connsiteY0" fmla="*/ 1510890 h 1510890"/>
                <a:gd name="connsiteX1" fmla="*/ 560438 w 3539613"/>
                <a:gd name="connsiteY1" fmla="*/ 1009445 h 1510890"/>
                <a:gd name="connsiteX2" fmla="*/ 1455174 w 3539613"/>
                <a:gd name="connsiteY2" fmla="*/ 173703 h 1510890"/>
                <a:gd name="connsiteX3" fmla="*/ 1730477 w 3539613"/>
                <a:gd name="connsiteY3" fmla="*/ 6555 h 1510890"/>
                <a:gd name="connsiteX4" fmla="*/ 2064774 w 3539613"/>
                <a:gd name="connsiteY4" fmla="*/ 154039 h 1510890"/>
                <a:gd name="connsiteX5" fmla="*/ 2880851 w 3539613"/>
                <a:gd name="connsiteY5" fmla="*/ 930787 h 1510890"/>
                <a:gd name="connsiteX6" fmla="*/ 3539613 w 3539613"/>
                <a:gd name="connsiteY6" fmla="*/ 1481393 h 15108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39613" h="1510890">
                  <a:moveTo>
                    <a:pt x="0" y="1510890"/>
                  </a:moveTo>
                  <a:cubicBezTo>
                    <a:pt x="158954" y="1371599"/>
                    <a:pt x="317909" y="1232309"/>
                    <a:pt x="560438" y="1009445"/>
                  </a:cubicBezTo>
                  <a:cubicBezTo>
                    <a:pt x="802967" y="786581"/>
                    <a:pt x="1260168" y="340851"/>
                    <a:pt x="1455174" y="173703"/>
                  </a:cubicBezTo>
                  <a:cubicBezTo>
                    <a:pt x="1650180" y="6555"/>
                    <a:pt x="1628877" y="9832"/>
                    <a:pt x="1730477" y="6555"/>
                  </a:cubicBezTo>
                  <a:cubicBezTo>
                    <a:pt x="1832077" y="3278"/>
                    <a:pt x="1873045" y="0"/>
                    <a:pt x="2064774" y="154039"/>
                  </a:cubicBezTo>
                  <a:cubicBezTo>
                    <a:pt x="2256503" y="308078"/>
                    <a:pt x="2635045" y="709561"/>
                    <a:pt x="2880851" y="930787"/>
                  </a:cubicBezTo>
                  <a:cubicBezTo>
                    <a:pt x="3126657" y="1152013"/>
                    <a:pt x="3333135" y="1316703"/>
                    <a:pt x="3539613" y="1481393"/>
                  </a:cubicBezTo>
                </a:path>
              </a:pathLst>
            </a:cu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sp>
        <p:nvSpPr>
          <p:cNvPr id="47" name="TextBox 24">
            <a:extLst>
              <a:ext uri="{FF2B5EF4-FFF2-40B4-BE49-F238E27FC236}">
                <a16:creationId xmlns:a16="http://schemas.microsoft.com/office/drawing/2014/main" id="{1E41EF8C-389C-106A-CE72-9D74F472033D}"/>
              </a:ext>
            </a:extLst>
          </p:cNvPr>
          <p:cNvSpPr txBox="1"/>
          <p:nvPr/>
        </p:nvSpPr>
        <p:spPr>
          <a:xfrm>
            <a:off x="5179413" y="4871337"/>
            <a:ext cx="6975126" cy="699404"/>
          </a:xfrm>
          <a:prstGeom prst="rect">
            <a:avLst/>
          </a:prstGeom>
          <a:solidFill>
            <a:schemeClr val="bg1">
              <a:lumMod val="95000"/>
            </a:schemeClr>
          </a:solidFill>
        </p:spPr>
        <p:style>
          <a:lnRef idx="1">
            <a:schemeClr val="accent5"/>
          </a:lnRef>
          <a:fillRef idx="2">
            <a:schemeClr val="accent5"/>
          </a:fillRef>
          <a:effectRef idx="1">
            <a:schemeClr val="accent5"/>
          </a:effectRef>
          <a:fontRef idx="minor">
            <a:schemeClr val="dk1"/>
          </a:fontRef>
        </p:style>
        <p:txBody>
          <a:bodyPr wrap="square" lIns="144000" tIns="72000" bIns="72000" rtlCol="0">
            <a:spAutoFit/>
          </a:bodyPr>
          <a:lstStyle/>
          <a:p>
            <a:r>
              <a:rPr kumimoji="1" lang="en-US" altLang="zh-CN" i="1" dirty="0">
                <a:solidFill>
                  <a:srgbClr val="3333FF"/>
                </a:solidFill>
                <a:latin typeface="Consolas" pitchFamily="49" charset="0"/>
                <a:ea typeface="楷体" pitchFamily="49" charset="-122"/>
                <a:cs typeface="Consolas" pitchFamily="49" charset="0"/>
              </a:rPr>
              <a:t>A</a:t>
            </a:r>
            <a:r>
              <a:rPr kumimoji="1" lang="en-US" altLang="zh-CN" baseline="-30000" dirty="0">
                <a:solidFill>
                  <a:srgbClr val="3333FF"/>
                </a:solidFill>
                <a:latin typeface="Consolas" pitchFamily="49" charset="0"/>
                <a:ea typeface="楷体" pitchFamily="49" charset="-122"/>
                <a:cs typeface="Consolas" pitchFamily="49" charset="0"/>
              </a:rPr>
              <a:t>-1</a:t>
            </a:r>
            <a:r>
              <a:rPr kumimoji="1" lang="en-US" altLang="zh-CN" dirty="0">
                <a:solidFill>
                  <a:srgbClr val="3333FF"/>
                </a:solidFill>
                <a:latin typeface="Consolas" pitchFamily="49" charset="0"/>
                <a:ea typeface="楷体" pitchFamily="49" charset="-122"/>
                <a:cs typeface="Consolas" pitchFamily="49" charset="0"/>
              </a:rPr>
              <a:t>[</a:t>
            </a:r>
            <a:r>
              <a:rPr kumimoji="1" lang="en-US" altLang="zh-CN" i="1" dirty="0" err="1">
                <a:solidFill>
                  <a:srgbClr val="3333FF"/>
                </a:solidFill>
                <a:latin typeface="Consolas" pitchFamily="49" charset="0"/>
                <a:ea typeface="楷体" pitchFamily="49" charset="-122"/>
                <a:cs typeface="Consolas" pitchFamily="49" charset="0"/>
              </a:rPr>
              <a:t>i</a:t>
            </a:r>
            <a:r>
              <a:rPr kumimoji="1" lang="en-US" altLang="zh-CN" dirty="0">
                <a:solidFill>
                  <a:srgbClr val="3333FF"/>
                </a:solidFill>
                <a:latin typeface="Consolas" pitchFamily="49" charset="0"/>
                <a:ea typeface="楷体" pitchFamily="49" charset="-122"/>
                <a:cs typeface="Consolas" pitchFamily="49" charset="0"/>
              </a:rPr>
              <a:t>][</a:t>
            </a:r>
            <a:r>
              <a:rPr kumimoji="1" lang="en-US" altLang="zh-CN" i="1" dirty="0">
                <a:solidFill>
                  <a:srgbClr val="3333FF"/>
                </a:solidFill>
                <a:latin typeface="Consolas" pitchFamily="49" charset="0"/>
                <a:ea typeface="楷体" pitchFamily="49" charset="-122"/>
                <a:cs typeface="Consolas" pitchFamily="49" charset="0"/>
              </a:rPr>
              <a:t>j</a:t>
            </a:r>
            <a:r>
              <a:rPr kumimoji="1" lang="en-US" altLang="zh-CN" dirty="0">
                <a:solidFill>
                  <a:srgbClr val="3333FF"/>
                </a:solidFill>
                <a:latin typeface="Consolas" pitchFamily="49" charset="0"/>
                <a:ea typeface="楷体" pitchFamily="49" charset="-122"/>
                <a:cs typeface="Consolas" pitchFamily="49" charset="0"/>
              </a:rPr>
              <a:t>]=</a:t>
            </a:r>
            <a:r>
              <a:rPr lang="nb-NO" altLang="zh-CN" dirty="0">
                <a:solidFill>
                  <a:srgbClr val="3333FF"/>
                </a:solidFill>
                <a:latin typeface="Consolas" pitchFamily="49" charset="0"/>
                <a:ea typeface="楷体" pitchFamily="49" charset="-122"/>
                <a:cs typeface="Consolas" pitchFamily="49" charset="0"/>
              </a:rPr>
              <a:t>g.edges</a:t>
            </a:r>
            <a:r>
              <a:rPr kumimoji="1" lang="en-US" altLang="zh-CN" dirty="0">
                <a:solidFill>
                  <a:srgbClr val="3333FF"/>
                </a:solidFill>
                <a:latin typeface="Consolas" pitchFamily="49" charset="0"/>
                <a:ea typeface="楷体" pitchFamily="49" charset="-122"/>
                <a:cs typeface="Consolas" pitchFamily="49" charset="0"/>
              </a:rPr>
              <a:t>[</a:t>
            </a:r>
            <a:r>
              <a:rPr kumimoji="1" lang="en-US" altLang="zh-CN" i="1" dirty="0" err="1">
                <a:solidFill>
                  <a:srgbClr val="3333FF"/>
                </a:solidFill>
                <a:latin typeface="Consolas" pitchFamily="49" charset="0"/>
                <a:ea typeface="楷体" pitchFamily="49" charset="-122"/>
                <a:cs typeface="Consolas" pitchFamily="49" charset="0"/>
              </a:rPr>
              <a:t>i</a:t>
            </a:r>
            <a:r>
              <a:rPr kumimoji="1" lang="en-US" altLang="zh-CN" dirty="0">
                <a:solidFill>
                  <a:srgbClr val="3333FF"/>
                </a:solidFill>
                <a:latin typeface="Consolas" pitchFamily="49" charset="0"/>
                <a:ea typeface="楷体" pitchFamily="49" charset="-122"/>
                <a:cs typeface="Consolas" pitchFamily="49" charset="0"/>
              </a:rPr>
              <a:t>][</a:t>
            </a:r>
            <a:r>
              <a:rPr kumimoji="1" lang="en-US" altLang="zh-CN" i="1" dirty="0">
                <a:solidFill>
                  <a:srgbClr val="3333FF"/>
                </a:solidFill>
                <a:latin typeface="Consolas" pitchFamily="49" charset="0"/>
                <a:ea typeface="楷体" pitchFamily="49" charset="-122"/>
                <a:cs typeface="Consolas" pitchFamily="49" charset="0"/>
              </a:rPr>
              <a:t>j</a:t>
            </a:r>
            <a:r>
              <a:rPr kumimoji="1" lang="en-US" altLang="zh-CN" dirty="0">
                <a:solidFill>
                  <a:srgbClr val="3333FF"/>
                </a:solidFill>
                <a:latin typeface="Consolas" pitchFamily="49" charset="0"/>
                <a:ea typeface="楷体" pitchFamily="49" charset="-122"/>
                <a:cs typeface="Consolas" pitchFamily="49" charset="0"/>
              </a:rPr>
              <a:t>]</a:t>
            </a:r>
          </a:p>
          <a:p>
            <a:r>
              <a:rPr lang="en-US" altLang="zh-CN" i="1" dirty="0" err="1">
                <a:solidFill>
                  <a:srgbClr val="3333FF"/>
                </a:solidFill>
                <a:latin typeface="Consolas" pitchFamily="49" charset="0"/>
                <a:ea typeface="楷体" pitchFamily="49" charset="-122"/>
                <a:cs typeface="Consolas" pitchFamily="49" charset="0"/>
              </a:rPr>
              <a:t>A</a:t>
            </a:r>
            <a:r>
              <a:rPr lang="en-US" altLang="zh-CN" i="1" baseline="-25000" dirty="0" err="1">
                <a:solidFill>
                  <a:srgbClr val="3333FF"/>
                </a:solidFill>
                <a:latin typeface="Consolas" pitchFamily="49" charset="0"/>
                <a:ea typeface="楷体" pitchFamily="49" charset="-122"/>
                <a:cs typeface="Consolas" pitchFamily="49" charset="0"/>
              </a:rPr>
              <a:t>k</a:t>
            </a:r>
            <a:r>
              <a:rPr lang="en-US" altLang="zh-CN" dirty="0">
                <a:solidFill>
                  <a:srgbClr val="3333FF"/>
                </a:solidFill>
                <a:latin typeface="Consolas" pitchFamily="49" charset="0"/>
                <a:ea typeface="楷体" pitchFamily="49" charset="-122"/>
                <a:cs typeface="Consolas" pitchFamily="49" charset="0"/>
              </a:rPr>
              <a:t>[</a:t>
            </a:r>
            <a:r>
              <a:rPr lang="en-US" altLang="zh-CN" i="1" dirty="0" err="1">
                <a:solidFill>
                  <a:srgbClr val="3333FF"/>
                </a:solidFill>
                <a:latin typeface="Consolas" pitchFamily="49" charset="0"/>
                <a:ea typeface="楷体" pitchFamily="49" charset="-122"/>
                <a:cs typeface="Consolas" pitchFamily="49" charset="0"/>
              </a:rPr>
              <a:t>i</a:t>
            </a:r>
            <a:r>
              <a:rPr lang="en-US" altLang="zh-CN" dirty="0" err="1">
                <a:solidFill>
                  <a:srgbClr val="3333FF"/>
                </a:solidFill>
                <a:latin typeface="Consolas" pitchFamily="49" charset="0"/>
                <a:ea typeface="楷体" pitchFamily="49" charset="-122"/>
                <a:cs typeface="Consolas" pitchFamily="49" charset="0"/>
              </a:rPr>
              <a:t>,</a:t>
            </a:r>
            <a:r>
              <a:rPr lang="en-US" altLang="zh-CN" i="1" dirty="0" err="1">
                <a:solidFill>
                  <a:srgbClr val="3333FF"/>
                </a:solidFill>
                <a:latin typeface="Consolas" pitchFamily="49" charset="0"/>
                <a:ea typeface="楷体" pitchFamily="49" charset="-122"/>
                <a:cs typeface="Consolas" pitchFamily="49" charset="0"/>
              </a:rPr>
              <a:t>j</a:t>
            </a:r>
            <a:r>
              <a:rPr lang="en-US" altLang="zh-CN" dirty="0">
                <a:solidFill>
                  <a:srgbClr val="3333FF"/>
                </a:solidFill>
                <a:latin typeface="Consolas" pitchFamily="49" charset="0"/>
                <a:ea typeface="楷体" pitchFamily="49" charset="-122"/>
                <a:cs typeface="Consolas" pitchFamily="49" charset="0"/>
              </a:rPr>
              <a:t>]=MIN{ </a:t>
            </a:r>
            <a:r>
              <a:rPr lang="en-US" altLang="zh-CN" i="1" dirty="0" err="1">
                <a:solidFill>
                  <a:srgbClr val="3333FF"/>
                </a:solidFill>
                <a:latin typeface="Consolas" pitchFamily="49" charset="0"/>
                <a:ea typeface="楷体" pitchFamily="49" charset="-122"/>
                <a:cs typeface="Consolas" pitchFamily="49" charset="0"/>
              </a:rPr>
              <a:t>A</a:t>
            </a:r>
            <a:r>
              <a:rPr lang="en-US" altLang="zh-CN" i="1" baseline="-25000" dirty="0" err="1">
                <a:solidFill>
                  <a:srgbClr val="3333FF"/>
                </a:solidFill>
                <a:latin typeface="Consolas" pitchFamily="49" charset="0"/>
                <a:ea typeface="楷体" pitchFamily="49" charset="-122"/>
                <a:cs typeface="Consolas" pitchFamily="49" charset="0"/>
              </a:rPr>
              <a:t>k</a:t>
            </a:r>
            <a:r>
              <a:rPr lang="en-US" altLang="zh-CN" baseline="-25000" dirty="0">
                <a:solidFill>
                  <a:srgbClr val="3333FF"/>
                </a:solidFill>
                <a:latin typeface="Consolas" pitchFamily="49" charset="0"/>
                <a:ea typeface="楷体" pitchFamily="49" charset="-122"/>
                <a:cs typeface="Consolas" pitchFamily="49" charset="0"/>
              </a:rPr>
              <a:t>-1</a:t>
            </a:r>
            <a:r>
              <a:rPr lang="en-US" altLang="zh-CN" dirty="0">
                <a:solidFill>
                  <a:srgbClr val="3333FF"/>
                </a:solidFill>
                <a:latin typeface="Consolas" pitchFamily="49" charset="0"/>
                <a:ea typeface="楷体" pitchFamily="49" charset="-122"/>
                <a:cs typeface="Consolas" pitchFamily="49" charset="0"/>
              </a:rPr>
              <a:t>[</a:t>
            </a:r>
            <a:r>
              <a:rPr lang="en-US" altLang="zh-CN" i="1" dirty="0" err="1">
                <a:solidFill>
                  <a:srgbClr val="3333FF"/>
                </a:solidFill>
                <a:latin typeface="Consolas" pitchFamily="49" charset="0"/>
                <a:ea typeface="楷体" pitchFamily="49" charset="-122"/>
                <a:cs typeface="Consolas" pitchFamily="49" charset="0"/>
              </a:rPr>
              <a:t>i</a:t>
            </a:r>
            <a:r>
              <a:rPr lang="en-US" altLang="zh-CN" dirty="0" err="1">
                <a:solidFill>
                  <a:srgbClr val="3333FF"/>
                </a:solidFill>
                <a:latin typeface="Consolas" pitchFamily="49" charset="0"/>
                <a:ea typeface="楷体" pitchFamily="49" charset="-122"/>
                <a:cs typeface="Consolas" pitchFamily="49" charset="0"/>
              </a:rPr>
              <a:t>,</a:t>
            </a:r>
            <a:r>
              <a:rPr lang="en-US" altLang="zh-CN" i="1" dirty="0" err="1">
                <a:solidFill>
                  <a:srgbClr val="3333FF"/>
                </a:solidFill>
                <a:latin typeface="Consolas" pitchFamily="49" charset="0"/>
                <a:ea typeface="楷体" pitchFamily="49" charset="-122"/>
                <a:cs typeface="Consolas" pitchFamily="49" charset="0"/>
              </a:rPr>
              <a:t>j</a:t>
            </a:r>
            <a:r>
              <a:rPr lang="en-US" altLang="zh-CN" dirty="0">
                <a:solidFill>
                  <a:srgbClr val="3333FF"/>
                </a:solidFill>
                <a:latin typeface="Consolas" pitchFamily="49" charset="0"/>
                <a:ea typeface="楷体" pitchFamily="49" charset="-122"/>
                <a:cs typeface="Consolas" pitchFamily="49" charset="0"/>
              </a:rPr>
              <a:t>]</a:t>
            </a:r>
            <a:r>
              <a:rPr lang="zh-CN" altLang="en-US" dirty="0">
                <a:solidFill>
                  <a:srgbClr val="3333FF"/>
                </a:solidFill>
                <a:latin typeface="Consolas" pitchFamily="49" charset="0"/>
                <a:ea typeface="楷体" pitchFamily="49" charset="-122"/>
                <a:cs typeface="Consolas" pitchFamily="49" charset="0"/>
              </a:rPr>
              <a:t>，</a:t>
            </a:r>
            <a:r>
              <a:rPr lang="en-US" altLang="zh-CN" i="1" dirty="0">
                <a:solidFill>
                  <a:srgbClr val="3333FF"/>
                </a:solidFill>
                <a:latin typeface="Consolas" pitchFamily="49" charset="0"/>
                <a:ea typeface="楷体" pitchFamily="49" charset="-122"/>
                <a:cs typeface="Consolas" pitchFamily="49" charset="0"/>
              </a:rPr>
              <a:t>A</a:t>
            </a:r>
            <a:r>
              <a:rPr lang="en-US" altLang="zh-CN" i="1" baseline="-25000" dirty="0">
                <a:solidFill>
                  <a:srgbClr val="3333FF"/>
                </a:solidFill>
                <a:latin typeface="Consolas" pitchFamily="49" charset="0"/>
                <a:ea typeface="楷体" pitchFamily="49" charset="-122"/>
                <a:cs typeface="Consolas" pitchFamily="49" charset="0"/>
              </a:rPr>
              <a:t>k</a:t>
            </a:r>
            <a:r>
              <a:rPr lang="en-US" altLang="zh-CN" baseline="-25000" dirty="0">
                <a:solidFill>
                  <a:srgbClr val="3333FF"/>
                </a:solidFill>
                <a:latin typeface="Consolas" pitchFamily="49" charset="0"/>
                <a:ea typeface="楷体" pitchFamily="49" charset="-122"/>
                <a:cs typeface="Consolas" pitchFamily="49" charset="0"/>
              </a:rPr>
              <a:t>-1</a:t>
            </a:r>
            <a:r>
              <a:rPr lang="en-US" altLang="zh-CN" dirty="0">
                <a:solidFill>
                  <a:srgbClr val="3333FF"/>
                </a:solidFill>
                <a:latin typeface="Consolas" pitchFamily="49" charset="0"/>
                <a:ea typeface="楷体" pitchFamily="49" charset="-122"/>
                <a:cs typeface="Consolas" pitchFamily="49" charset="0"/>
              </a:rPr>
              <a:t>[</a:t>
            </a:r>
            <a:r>
              <a:rPr lang="en-US" altLang="zh-CN" i="1" dirty="0" err="1">
                <a:solidFill>
                  <a:srgbClr val="3333FF"/>
                </a:solidFill>
                <a:latin typeface="Consolas" pitchFamily="49" charset="0"/>
                <a:ea typeface="楷体" pitchFamily="49" charset="-122"/>
                <a:cs typeface="Consolas" pitchFamily="49" charset="0"/>
              </a:rPr>
              <a:t>i</a:t>
            </a:r>
            <a:r>
              <a:rPr lang="en-US" altLang="zh-CN" dirty="0" err="1">
                <a:solidFill>
                  <a:srgbClr val="3333FF"/>
                </a:solidFill>
                <a:latin typeface="Consolas" pitchFamily="49" charset="0"/>
                <a:ea typeface="楷体" pitchFamily="49" charset="-122"/>
                <a:cs typeface="Consolas" pitchFamily="49" charset="0"/>
              </a:rPr>
              <a:t>,</a:t>
            </a:r>
            <a:r>
              <a:rPr lang="en-US" altLang="zh-CN" i="1" dirty="0" err="1">
                <a:solidFill>
                  <a:srgbClr val="3333FF"/>
                </a:solidFill>
                <a:latin typeface="Consolas" pitchFamily="49" charset="0"/>
                <a:ea typeface="楷体" pitchFamily="49" charset="-122"/>
                <a:cs typeface="Consolas" pitchFamily="49" charset="0"/>
              </a:rPr>
              <a:t>k</a:t>
            </a:r>
            <a:r>
              <a:rPr lang="en-US" altLang="zh-CN" dirty="0">
                <a:solidFill>
                  <a:srgbClr val="3333FF"/>
                </a:solidFill>
                <a:latin typeface="Consolas" pitchFamily="49" charset="0"/>
                <a:ea typeface="楷体" pitchFamily="49" charset="-122"/>
                <a:cs typeface="Consolas" pitchFamily="49" charset="0"/>
              </a:rPr>
              <a:t>]+</a:t>
            </a:r>
            <a:r>
              <a:rPr lang="en-US" altLang="zh-CN" i="1" dirty="0">
                <a:solidFill>
                  <a:srgbClr val="3333FF"/>
                </a:solidFill>
                <a:latin typeface="Consolas" pitchFamily="49" charset="0"/>
                <a:ea typeface="楷体" pitchFamily="49" charset="-122"/>
                <a:cs typeface="Consolas" pitchFamily="49" charset="0"/>
              </a:rPr>
              <a:t>A</a:t>
            </a:r>
            <a:r>
              <a:rPr lang="en-US" altLang="zh-CN" i="1" baseline="-25000" dirty="0">
                <a:solidFill>
                  <a:srgbClr val="3333FF"/>
                </a:solidFill>
                <a:latin typeface="Consolas" pitchFamily="49" charset="0"/>
                <a:ea typeface="楷体" pitchFamily="49" charset="-122"/>
                <a:cs typeface="Consolas" pitchFamily="49" charset="0"/>
              </a:rPr>
              <a:t>k</a:t>
            </a:r>
            <a:r>
              <a:rPr lang="en-US" altLang="zh-CN" baseline="-25000" dirty="0">
                <a:solidFill>
                  <a:srgbClr val="3333FF"/>
                </a:solidFill>
                <a:latin typeface="Consolas" pitchFamily="49" charset="0"/>
                <a:ea typeface="楷体" pitchFamily="49" charset="-122"/>
                <a:cs typeface="Consolas" pitchFamily="49" charset="0"/>
              </a:rPr>
              <a:t>-1</a:t>
            </a:r>
            <a:r>
              <a:rPr lang="en-US" altLang="zh-CN" dirty="0">
                <a:solidFill>
                  <a:srgbClr val="3333FF"/>
                </a:solidFill>
                <a:latin typeface="Consolas" pitchFamily="49" charset="0"/>
                <a:ea typeface="楷体" pitchFamily="49" charset="-122"/>
                <a:cs typeface="Consolas" pitchFamily="49" charset="0"/>
              </a:rPr>
              <a:t>[</a:t>
            </a:r>
            <a:r>
              <a:rPr lang="en-US" altLang="zh-CN" i="1" dirty="0" err="1">
                <a:solidFill>
                  <a:srgbClr val="3333FF"/>
                </a:solidFill>
                <a:latin typeface="Consolas" pitchFamily="49" charset="0"/>
                <a:ea typeface="楷体" pitchFamily="49" charset="-122"/>
                <a:cs typeface="Consolas" pitchFamily="49" charset="0"/>
              </a:rPr>
              <a:t>k</a:t>
            </a:r>
            <a:r>
              <a:rPr lang="en-US" altLang="zh-CN" dirty="0" err="1">
                <a:solidFill>
                  <a:srgbClr val="3333FF"/>
                </a:solidFill>
                <a:latin typeface="Consolas" pitchFamily="49" charset="0"/>
                <a:ea typeface="楷体" pitchFamily="49" charset="-122"/>
                <a:cs typeface="Consolas" pitchFamily="49" charset="0"/>
              </a:rPr>
              <a:t>,</a:t>
            </a:r>
            <a:r>
              <a:rPr lang="en-US" altLang="zh-CN" i="1" dirty="0" err="1">
                <a:solidFill>
                  <a:srgbClr val="3333FF"/>
                </a:solidFill>
                <a:latin typeface="Consolas" pitchFamily="49" charset="0"/>
                <a:ea typeface="楷体" pitchFamily="49" charset="-122"/>
                <a:cs typeface="Consolas" pitchFamily="49" charset="0"/>
              </a:rPr>
              <a:t>j</a:t>
            </a:r>
            <a:r>
              <a:rPr lang="en-US" altLang="zh-CN" dirty="0">
                <a:solidFill>
                  <a:srgbClr val="3333FF"/>
                </a:solidFill>
                <a:latin typeface="Consolas" pitchFamily="49" charset="0"/>
                <a:ea typeface="楷体" pitchFamily="49" charset="-122"/>
                <a:cs typeface="Consolas" pitchFamily="49" charset="0"/>
              </a:rPr>
              <a:t>] }  </a:t>
            </a:r>
            <a:r>
              <a:rPr kumimoji="1" lang="en-US" altLang="zh-CN" dirty="0">
                <a:solidFill>
                  <a:srgbClr val="00B0F0"/>
                </a:solidFill>
                <a:latin typeface="Consolas" pitchFamily="49" charset="0"/>
                <a:ea typeface="楷体" pitchFamily="49" charset="-122"/>
                <a:cs typeface="Consolas" pitchFamily="49" charset="0"/>
              </a:rPr>
              <a:t>0</a:t>
            </a:r>
            <a:r>
              <a:rPr kumimoji="1" lang="en-US" altLang="zh-CN" dirty="0">
                <a:solidFill>
                  <a:srgbClr val="00B0F0"/>
                </a:solidFill>
                <a:latin typeface="宋体" pitchFamily="2" charset="-122"/>
                <a:ea typeface="宋体" pitchFamily="2" charset="-122"/>
                <a:cs typeface="Consolas" pitchFamily="49" charset="0"/>
              </a:rPr>
              <a:t>≤</a:t>
            </a:r>
            <a:r>
              <a:rPr kumimoji="1" lang="en-US" altLang="zh-CN" i="1" dirty="0">
                <a:solidFill>
                  <a:srgbClr val="00B0F0"/>
                </a:solidFill>
                <a:latin typeface="Consolas" pitchFamily="49" charset="0"/>
                <a:ea typeface="楷体" pitchFamily="49" charset="-122"/>
                <a:cs typeface="Consolas" pitchFamily="49" charset="0"/>
              </a:rPr>
              <a:t>k</a:t>
            </a:r>
            <a:r>
              <a:rPr kumimoji="1" lang="en-US" altLang="zh-CN" dirty="0">
                <a:solidFill>
                  <a:srgbClr val="00B0F0"/>
                </a:solidFill>
                <a:latin typeface="宋体" pitchFamily="2" charset="-122"/>
                <a:ea typeface="宋体" pitchFamily="2" charset="-122"/>
                <a:cs typeface="Consolas" pitchFamily="49" charset="0"/>
              </a:rPr>
              <a:t>≤</a:t>
            </a:r>
            <a:r>
              <a:rPr kumimoji="1" lang="en-US" altLang="zh-CN" i="1" dirty="0">
                <a:solidFill>
                  <a:srgbClr val="00B0F0"/>
                </a:solidFill>
                <a:latin typeface="Consolas" pitchFamily="49" charset="0"/>
                <a:ea typeface="楷体" pitchFamily="49" charset="-122"/>
                <a:cs typeface="Consolas" pitchFamily="49" charset="0"/>
              </a:rPr>
              <a:t>n</a:t>
            </a:r>
            <a:r>
              <a:rPr kumimoji="1" lang="en-US" altLang="zh-CN" dirty="0">
                <a:solidFill>
                  <a:srgbClr val="00B0F0"/>
                </a:solidFill>
                <a:latin typeface="Consolas" pitchFamily="49" charset="0"/>
                <a:ea typeface="+mj-ea"/>
                <a:cs typeface="Consolas" pitchFamily="49" charset="0"/>
              </a:rPr>
              <a:t>-</a:t>
            </a:r>
            <a:r>
              <a:rPr kumimoji="1" lang="en-US" altLang="zh-CN" dirty="0">
                <a:solidFill>
                  <a:srgbClr val="00B0F0"/>
                </a:solidFill>
                <a:latin typeface="Consolas" pitchFamily="49" charset="0"/>
                <a:ea typeface="楷体" pitchFamily="49" charset="-122"/>
                <a:cs typeface="Consolas" pitchFamily="49" charset="0"/>
              </a:rPr>
              <a:t>1</a:t>
            </a:r>
            <a:endParaRPr lang="zh-CN" altLang="en-US" dirty="0">
              <a:solidFill>
                <a:srgbClr val="00B0F0"/>
              </a:solidFill>
              <a:latin typeface="Consolas" pitchFamily="49" charset="0"/>
              <a:ea typeface="楷体" pitchFamily="49" charset="-122"/>
              <a:cs typeface="Consolas" pitchFamily="49" charset="0"/>
            </a:endParaRPr>
          </a:p>
        </p:txBody>
      </p:sp>
    </p:spTree>
    <p:extLst>
      <p:ext uri="{BB962C8B-B14F-4D97-AF65-F5344CB8AC3E}">
        <p14:creationId xmlns:p14="http://schemas.microsoft.com/office/powerpoint/2010/main" val="68304498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8">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8">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2"/>
                                        </p:tgtEl>
                                        <p:attrNameLst>
                                          <p:attrName>style.visibility</p:attrName>
                                        </p:attrNameLst>
                                      </p:cBhvr>
                                      <p:to>
                                        <p:strVal val="visible"/>
                                      </p:to>
                                    </p:set>
                                  </p:childTnLst>
                                </p:cTn>
                              </p:par>
                            </p:childTnLst>
                          </p:cTn>
                        </p:par>
                        <p:par>
                          <p:cTn id="27" fill="hold">
                            <p:stCondLst>
                              <p:cond delay="0"/>
                            </p:stCondLst>
                            <p:childTnLst>
                              <p:par>
                                <p:cTn id="28" presetID="26" presetClass="emph" presetSubtype="0" fill="hold" grpId="1" nodeType="afterEffect">
                                  <p:stCondLst>
                                    <p:cond delay="0"/>
                                  </p:stCondLst>
                                  <p:childTnLst>
                                    <p:animEffect transition="out" filter="fade">
                                      <p:cBhvr>
                                        <p:cTn id="29" dur="500" tmFilter="0, 0; .2, .5; .8, .5; 1, 0"/>
                                        <p:tgtEl>
                                          <p:spTgt spid="42"/>
                                        </p:tgtEl>
                                      </p:cBhvr>
                                    </p:animEffect>
                                    <p:animScale>
                                      <p:cBhvr>
                                        <p:cTn id="30" dur="250" autoRev="1" fill="hold"/>
                                        <p:tgtEl>
                                          <p:spTgt spid="42"/>
                                        </p:tgtEl>
                                      </p:cBhvr>
                                      <p:by x="105000" y="105000"/>
                                    </p:animScale>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3"/>
                                        </p:tgtEl>
                                        <p:attrNameLst>
                                          <p:attrName>style.visibility</p:attrName>
                                        </p:attrNameLst>
                                      </p:cBhvr>
                                      <p:to>
                                        <p:strVal val="visible"/>
                                      </p:to>
                                    </p:set>
                                  </p:childTnLst>
                                </p:cTn>
                              </p:par>
                            </p:childTnLst>
                          </p:cTn>
                        </p:par>
                        <p:par>
                          <p:cTn id="35" fill="hold">
                            <p:stCondLst>
                              <p:cond delay="0"/>
                            </p:stCondLst>
                            <p:childTnLst>
                              <p:par>
                                <p:cTn id="36" presetID="26" presetClass="emph" presetSubtype="0" fill="hold" nodeType="afterEffect">
                                  <p:stCondLst>
                                    <p:cond delay="0"/>
                                  </p:stCondLst>
                                  <p:childTnLst>
                                    <p:animEffect transition="out" filter="fade">
                                      <p:cBhvr>
                                        <p:cTn id="37" dur="500" tmFilter="0, 0; .2, .5; .8, .5; 1, 0"/>
                                        <p:tgtEl>
                                          <p:spTgt spid="43"/>
                                        </p:tgtEl>
                                      </p:cBhvr>
                                    </p:animEffect>
                                    <p:animScale>
                                      <p:cBhvr>
                                        <p:cTn id="38" dur="250" autoRev="1" fill="hold"/>
                                        <p:tgtEl>
                                          <p:spTgt spid="43"/>
                                        </p:tgtEl>
                                      </p:cBhvr>
                                      <p:by x="105000" y="105000"/>
                                    </p:animScale>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2" grpId="0" animBg="1"/>
      <p:bldP spid="42" grpId="1" animBg="1"/>
    </p:bld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DDDE42-3A81-D4F8-B9F0-CFF7A39E55A9}"/>
            </a:ext>
          </a:extLst>
        </p:cNvPr>
        <p:cNvGrpSpPr/>
        <p:nvPr/>
      </p:nvGrpSpPr>
      <p:grpSpPr>
        <a:xfrm>
          <a:off x="0" y="0"/>
          <a:ext cx="0" cy="0"/>
          <a:chOff x="0" y="0"/>
          <a:chExt cx="0" cy="0"/>
        </a:xfrm>
      </p:grpSpPr>
      <p:sp>
        <p:nvSpPr>
          <p:cNvPr id="9" name="Rectangle 2">
            <a:extLst>
              <a:ext uri="{FF2B5EF4-FFF2-40B4-BE49-F238E27FC236}">
                <a16:creationId xmlns:a16="http://schemas.microsoft.com/office/drawing/2014/main" id="{0CD8CE91-B4F1-62CF-DE3D-55734F649E83}"/>
              </a:ext>
            </a:extLst>
          </p:cNvPr>
          <p:cNvSpPr txBox="1">
            <a:spLocks noChangeArrowheads="1"/>
          </p:cNvSpPr>
          <p:nvPr/>
        </p:nvSpPr>
        <p:spPr>
          <a:xfrm>
            <a:off x="474771" y="1230902"/>
            <a:ext cx="9077613"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8.5.3 </a:t>
            </a:r>
            <a:r>
              <a:rPr lang="zh-CN" altLang="en-US" dirty="0"/>
              <a:t>每一对顶点之间的最短路径（多源最短路径问题）</a:t>
            </a:r>
          </a:p>
        </p:txBody>
      </p:sp>
      <p:cxnSp>
        <p:nvCxnSpPr>
          <p:cNvPr id="10" name="直接连接符 9">
            <a:extLst>
              <a:ext uri="{FF2B5EF4-FFF2-40B4-BE49-F238E27FC236}">
                <a16:creationId xmlns:a16="http://schemas.microsoft.com/office/drawing/2014/main" id="{A9BB0D2D-09BD-289C-FF18-63EAC9F98E27}"/>
              </a:ext>
            </a:extLst>
          </p:cNvPr>
          <p:cNvCxnSpPr>
            <a:cxnSpLocks/>
          </p:cNvCxnSpPr>
          <p:nvPr/>
        </p:nvCxnSpPr>
        <p:spPr>
          <a:xfrm>
            <a:off x="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11" name="矩形 10">
            <a:extLst>
              <a:ext uri="{FF2B5EF4-FFF2-40B4-BE49-F238E27FC236}">
                <a16:creationId xmlns:a16="http://schemas.microsoft.com/office/drawing/2014/main" id="{5515EB4E-08B8-5715-AFBC-9EC7F3C61664}"/>
              </a:ext>
            </a:extLst>
          </p:cNvPr>
          <p:cNvSpPr/>
          <p:nvPr/>
        </p:nvSpPr>
        <p:spPr>
          <a:xfrm>
            <a:off x="3394075" y="399838"/>
            <a:ext cx="4617860"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8.5 </a:t>
            </a:r>
            <a:r>
              <a:rPr lang="zh-CN" altLang="en-US" sz="3000" b="1" dirty="0">
                <a:latin typeface="黑体" pitchFamily="49" charset="-122"/>
                <a:ea typeface="黑体" pitchFamily="49" charset="-122"/>
                <a:cs typeface="经典粗黑简" pitchFamily="49" charset="-122"/>
              </a:rPr>
              <a:t>最短路径</a:t>
            </a:r>
          </a:p>
        </p:txBody>
      </p:sp>
      <p:sp>
        <p:nvSpPr>
          <p:cNvPr id="2" name="Text Box 4">
            <a:extLst>
              <a:ext uri="{FF2B5EF4-FFF2-40B4-BE49-F238E27FC236}">
                <a16:creationId xmlns:a16="http://schemas.microsoft.com/office/drawing/2014/main" id="{CDE90FCB-93A1-826E-869E-55A229CFFB6D}"/>
              </a:ext>
            </a:extLst>
          </p:cNvPr>
          <p:cNvSpPr txBox="1">
            <a:spLocks noChangeArrowheads="1"/>
          </p:cNvSpPr>
          <p:nvPr/>
        </p:nvSpPr>
        <p:spPr bwMode="auto">
          <a:xfrm>
            <a:off x="1418331" y="3058229"/>
            <a:ext cx="4851376" cy="453183"/>
          </a:xfrm>
          <a:prstGeom prst="rect">
            <a:avLst/>
          </a:prstGeom>
          <a:ln>
            <a:noFill/>
            <a:headEnd/>
            <a:tailEnd/>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08000" tIns="72000" rIns="0" bIns="72000">
            <a:spAutoFit/>
          </a:bodyPr>
          <a:lstStyle/>
          <a:p>
            <a:r>
              <a:rPr lang="zh-CN" altLang="en-US" sz="2000" dirty="0">
                <a:solidFill>
                  <a:srgbClr val="FF00FF"/>
                </a:solidFill>
                <a:latin typeface="Consolas" pitchFamily="49" charset="0"/>
                <a:ea typeface="楷体" pitchFamily="49" charset="-122"/>
                <a:cs typeface="Consolas" pitchFamily="49" charset="0"/>
              </a:rPr>
              <a:t>（</a:t>
            </a:r>
            <a:r>
              <a:rPr lang="en-US" altLang="zh-CN" sz="2000" dirty="0">
                <a:solidFill>
                  <a:srgbClr val="FF00FF"/>
                </a:solidFill>
                <a:latin typeface="Consolas" pitchFamily="49" charset="0"/>
                <a:ea typeface="楷体" pitchFamily="49" charset="-122"/>
                <a:cs typeface="Consolas" pitchFamily="49" charset="0"/>
              </a:rPr>
              <a:t>1</a:t>
            </a:r>
            <a:r>
              <a:rPr lang="zh-CN" altLang="en-US" sz="2000" dirty="0">
                <a:solidFill>
                  <a:srgbClr val="FF00FF"/>
                </a:solidFill>
                <a:latin typeface="Consolas" pitchFamily="49" charset="0"/>
                <a:ea typeface="楷体" pitchFamily="49" charset="-122"/>
                <a:cs typeface="Consolas" pitchFamily="49" charset="0"/>
              </a:rPr>
              <a:t>）用二维数组</a:t>
            </a:r>
            <a:r>
              <a:rPr lang="en-US" altLang="zh-CN" sz="2000" i="1" dirty="0">
                <a:solidFill>
                  <a:srgbClr val="FF00FF"/>
                </a:solidFill>
                <a:latin typeface="Consolas" pitchFamily="49" charset="0"/>
                <a:ea typeface="楷体" pitchFamily="49" charset="-122"/>
                <a:cs typeface="Consolas" pitchFamily="49" charset="0"/>
              </a:rPr>
              <a:t>A</a:t>
            </a:r>
            <a:r>
              <a:rPr lang="zh-CN" altLang="en-US" sz="2000" dirty="0">
                <a:solidFill>
                  <a:srgbClr val="FF00FF"/>
                </a:solidFill>
                <a:latin typeface="Consolas" pitchFamily="49" charset="0"/>
                <a:ea typeface="楷体" pitchFamily="49" charset="-122"/>
                <a:cs typeface="Consolas" pitchFamily="49" charset="0"/>
              </a:rPr>
              <a:t>存储最短路径长度：</a:t>
            </a:r>
          </a:p>
        </p:txBody>
      </p:sp>
      <p:sp>
        <p:nvSpPr>
          <p:cNvPr id="4" name="Text Box 5">
            <a:extLst>
              <a:ext uri="{FF2B5EF4-FFF2-40B4-BE49-F238E27FC236}">
                <a16:creationId xmlns:a16="http://schemas.microsoft.com/office/drawing/2014/main" id="{38874CCD-C637-7133-87BF-8ECD42F51B60}"/>
              </a:ext>
            </a:extLst>
          </p:cNvPr>
          <p:cNvSpPr txBox="1">
            <a:spLocks noChangeArrowheads="1"/>
          </p:cNvSpPr>
          <p:nvPr/>
        </p:nvSpPr>
        <p:spPr bwMode="auto">
          <a:xfrm>
            <a:off x="1775520" y="3717032"/>
            <a:ext cx="7280268" cy="923330"/>
          </a:xfrm>
          <a:prstGeom prst="rect">
            <a:avLst/>
          </a:prstGeom>
          <a:noFill/>
          <a:ln w="28575" algn="ctr">
            <a:noFill/>
            <a:miter lim="800000"/>
            <a:headEnd/>
            <a:tailEnd/>
          </a:ln>
          <a:effectLst/>
        </p:spPr>
        <p:txBody>
          <a:bodyPr wrap="square" lIns="0" tIns="0" rIns="0" bIns="0">
            <a:spAutoFit/>
          </a:bodyPr>
          <a:lstStyle/>
          <a:p>
            <a:pPr marL="457200" indent="-457200">
              <a:lnSpc>
                <a:spcPct val="150000"/>
              </a:lnSpc>
              <a:spcBef>
                <a:spcPts val="0"/>
              </a:spcBef>
              <a:buFontTx/>
              <a:buBlip>
                <a:blip r:embed="rId2"/>
              </a:buBlip>
            </a:pPr>
            <a:r>
              <a:rPr lang="en-US" altLang="zh-CN" sz="2000" i="1" dirty="0" err="1">
                <a:latin typeface="Consolas" pitchFamily="49" charset="0"/>
                <a:ea typeface="仿宋" pitchFamily="49" charset="-122"/>
                <a:cs typeface="Consolas" pitchFamily="49" charset="0"/>
              </a:rPr>
              <a:t>A</a:t>
            </a:r>
            <a:r>
              <a:rPr lang="en-US" altLang="zh-CN" sz="2000" i="1" baseline="-25000" dirty="0" err="1">
                <a:latin typeface="Consolas" pitchFamily="49" charset="0"/>
                <a:ea typeface="仿宋" pitchFamily="49" charset="-122"/>
                <a:cs typeface="Consolas" pitchFamily="49" charset="0"/>
              </a:rPr>
              <a:t>k</a:t>
            </a:r>
            <a:r>
              <a:rPr lang="en-US" altLang="zh-CN" sz="2000" dirty="0">
                <a:latin typeface="Consolas" pitchFamily="49" charset="0"/>
                <a:ea typeface="仿宋" pitchFamily="49" charset="-122"/>
                <a:cs typeface="Consolas" pitchFamily="49" charset="0"/>
              </a:rPr>
              <a:t>[</a:t>
            </a:r>
            <a:r>
              <a:rPr lang="en-US" altLang="zh-CN" sz="2000" i="1" dirty="0" err="1">
                <a:latin typeface="Consolas" pitchFamily="49" charset="0"/>
                <a:ea typeface="仿宋" pitchFamily="49" charset="-122"/>
                <a:cs typeface="Consolas" pitchFamily="49" charset="0"/>
              </a:rPr>
              <a:t>i</a:t>
            </a:r>
            <a:r>
              <a:rPr lang="en-US" altLang="zh-CN" sz="2000" dirty="0">
                <a:latin typeface="Consolas" pitchFamily="49" charset="0"/>
                <a:ea typeface="仿宋" pitchFamily="49" charset="-122"/>
                <a:cs typeface="Consolas" pitchFamily="49" charset="0"/>
              </a:rPr>
              <a:t>][</a:t>
            </a:r>
            <a:r>
              <a:rPr lang="en-US" altLang="zh-CN" sz="2000" i="1" dirty="0">
                <a:latin typeface="Consolas" pitchFamily="49" charset="0"/>
                <a:ea typeface="仿宋" pitchFamily="49" charset="-122"/>
                <a:cs typeface="Consolas" pitchFamily="49" charset="0"/>
              </a:rPr>
              <a:t>j</a:t>
            </a:r>
            <a:r>
              <a:rPr lang="en-US" altLang="zh-CN" sz="2000" dirty="0">
                <a:latin typeface="Consolas" pitchFamily="49" charset="0"/>
                <a:ea typeface="仿宋" pitchFamily="49" charset="-122"/>
                <a:cs typeface="Consolas" pitchFamily="49" charset="0"/>
              </a:rPr>
              <a:t>]</a:t>
            </a:r>
            <a:r>
              <a:rPr lang="zh-CN" altLang="en-US" sz="2000" dirty="0">
                <a:latin typeface="Consolas" pitchFamily="49" charset="0"/>
                <a:ea typeface="仿宋" pitchFamily="49" charset="-122"/>
                <a:cs typeface="Consolas" pitchFamily="49" charset="0"/>
              </a:rPr>
              <a:t>表示考虑顶点</a:t>
            </a:r>
            <a:r>
              <a:rPr lang="en-US" altLang="zh-CN" sz="2000" dirty="0" err="1">
                <a:latin typeface="Consolas" pitchFamily="49" charset="0"/>
                <a:ea typeface="仿宋" pitchFamily="49" charset="-122"/>
                <a:cs typeface="Consolas" pitchFamily="49" charset="0"/>
              </a:rPr>
              <a:t>0~</a:t>
            </a:r>
            <a:r>
              <a:rPr lang="en-US" altLang="zh-CN" sz="2000" i="1" dirty="0" err="1">
                <a:latin typeface="Consolas" pitchFamily="49" charset="0"/>
                <a:ea typeface="仿宋" pitchFamily="49" charset="-122"/>
                <a:cs typeface="Consolas" pitchFamily="49" charset="0"/>
              </a:rPr>
              <a:t>k</a:t>
            </a:r>
            <a:r>
              <a:rPr lang="zh-CN" altLang="en-US" sz="2000" dirty="0">
                <a:latin typeface="Consolas" pitchFamily="49" charset="0"/>
                <a:ea typeface="仿宋" pitchFamily="49" charset="-122"/>
                <a:cs typeface="Consolas" pitchFamily="49" charset="0"/>
              </a:rPr>
              <a:t>后得出</a:t>
            </a:r>
            <a:r>
              <a:rPr lang="zh-CN" altLang="en-US" sz="2000">
                <a:latin typeface="Consolas" pitchFamily="49" charset="0"/>
                <a:ea typeface="仿宋" pitchFamily="49" charset="-122"/>
                <a:cs typeface="Consolas" pitchFamily="49" charset="0"/>
              </a:rPr>
              <a:t>的</a:t>
            </a:r>
            <a:r>
              <a:rPr lang="en-US" altLang="zh-CN" sz="2000" i="1">
                <a:latin typeface="Consolas" pitchFamily="49" charset="0"/>
                <a:ea typeface="仿宋" pitchFamily="49" charset="-122"/>
                <a:cs typeface="Consolas" pitchFamily="49" charset="0"/>
              </a:rPr>
              <a:t>i</a:t>
            </a:r>
            <a:r>
              <a:rPr lang="en-US" altLang="zh-CN" sz="2000">
                <a:solidFill>
                  <a:srgbClr val="FF00FF"/>
                </a:solidFill>
                <a:latin typeface="Consolas" pitchFamily="49" charset="0"/>
                <a:ea typeface="仿宋" pitchFamily="49" charset="-122"/>
                <a:cs typeface="Consolas" pitchFamily="49" charset="0"/>
                <a:sym typeface="Wingdings"/>
              </a:rPr>
              <a:t></a:t>
            </a:r>
            <a:r>
              <a:rPr lang="en-US" altLang="zh-CN" sz="2000" i="1">
                <a:latin typeface="Consolas" pitchFamily="49" charset="0"/>
                <a:ea typeface="仿宋" pitchFamily="49" charset="-122"/>
                <a:cs typeface="Consolas" pitchFamily="49" charset="0"/>
              </a:rPr>
              <a:t>j</a:t>
            </a:r>
            <a:r>
              <a:rPr lang="zh-CN" altLang="en-US" sz="2000" dirty="0">
                <a:latin typeface="Consolas" pitchFamily="49" charset="0"/>
                <a:ea typeface="仿宋" pitchFamily="49" charset="-122"/>
                <a:cs typeface="Consolas" pitchFamily="49" charset="0"/>
              </a:rPr>
              <a:t>的最短路径长度。</a:t>
            </a:r>
          </a:p>
          <a:p>
            <a:pPr marL="457200" indent="-457200">
              <a:lnSpc>
                <a:spcPct val="150000"/>
              </a:lnSpc>
              <a:spcBef>
                <a:spcPts val="0"/>
              </a:spcBef>
              <a:buFontTx/>
              <a:buBlip>
                <a:blip r:embed="rId2"/>
              </a:buBlip>
            </a:pPr>
            <a:r>
              <a:rPr lang="en-US" altLang="zh-CN" sz="2000" i="1" dirty="0">
                <a:latin typeface="Consolas" pitchFamily="49" charset="0"/>
                <a:ea typeface="仿宋" pitchFamily="49" charset="-122"/>
                <a:cs typeface="Consolas" pitchFamily="49" charset="0"/>
              </a:rPr>
              <a:t>A</a:t>
            </a:r>
            <a:r>
              <a:rPr lang="en-US" altLang="zh-CN" sz="2000" i="1" baseline="-25000" dirty="0">
                <a:latin typeface="Consolas" pitchFamily="49" charset="0"/>
                <a:ea typeface="仿宋" pitchFamily="49" charset="-122"/>
                <a:cs typeface="Consolas" pitchFamily="49" charset="0"/>
              </a:rPr>
              <a:t>n</a:t>
            </a:r>
            <a:r>
              <a:rPr lang="en-US" altLang="zh-CN" sz="2000" baseline="-25000" dirty="0">
                <a:latin typeface="Consolas" pitchFamily="49" charset="0"/>
                <a:ea typeface="仿宋" pitchFamily="49" charset="-122"/>
                <a:cs typeface="Consolas" pitchFamily="49" charset="0"/>
              </a:rPr>
              <a:t>-1</a:t>
            </a:r>
            <a:r>
              <a:rPr lang="en-US" altLang="zh-CN" sz="2000" dirty="0">
                <a:latin typeface="Consolas" pitchFamily="49" charset="0"/>
                <a:ea typeface="仿宋" pitchFamily="49" charset="-122"/>
                <a:cs typeface="Consolas" pitchFamily="49" charset="0"/>
              </a:rPr>
              <a:t>[</a:t>
            </a:r>
            <a:r>
              <a:rPr lang="en-US" altLang="zh-CN" sz="2000" i="1" dirty="0" err="1">
                <a:latin typeface="Consolas" pitchFamily="49" charset="0"/>
                <a:ea typeface="仿宋" pitchFamily="49" charset="-122"/>
                <a:cs typeface="Consolas" pitchFamily="49" charset="0"/>
              </a:rPr>
              <a:t>i</a:t>
            </a:r>
            <a:r>
              <a:rPr lang="en-US" altLang="zh-CN" sz="2000" dirty="0">
                <a:latin typeface="Consolas" pitchFamily="49" charset="0"/>
                <a:ea typeface="仿宋" pitchFamily="49" charset="-122"/>
                <a:cs typeface="Consolas" pitchFamily="49" charset="0"/>
              </a:rPr>
              <a:t>][</a:t>
            </a:r>
            <a:r>
              <a:rPr lang="en-US" altLang="zh-CN" sz="2000" i="1" dirty="0">
                <a:latin typeface="Consolas" pitchFamily="49" charset="0"/>
                <a:ea typeface="仿宋" pitchFamily="49" charset="-122"/>
                <a:cs typeface="Consolas" pitchFamily="49" charset="0"/>
              </a:rPr>
              <a:t>j</a:t>
            </a:r>
            <a:r>
              <a:rPr lang="en-US" altLang="zh-CN" sz="2000" dirty="0">
                <a:latin typeface="Consolas" pitchFamily="49" charset="0"/>
                <a:ea typeface="仿宋" pitchFamily="49" charset="-122"/>
                <a:cs typeface="Consolas" pitchFamily="49" charset="0"/>
              </a:rPr>
              <a:t>]</a:t>
            </a:r>
            <a:r>
              <a:rPr lang="zh-CN" altLang="en-US" sz="2000" dirty="0">
                <a:latin typeface="Consolas" pitchFamily="49" charset="0"/>
                <a:ea typeface="仿宋" pitchFamily="49" charset="-122"/>
                <a:cs typeface="Consolas" pitchFamily="49" charset="0"/>
              </a:rPr>
              <a:t>表示最终</a:t>
            </a:r>
            <a:r>
              <a:rPr lang="zh-CN" altLang="en-US" sz="2000">
                <a:latin typeface="Consolas" pitchFamily="49" charset="0"/>
                <a:ea typeface="仿宋" pitchFamily="49" charset="-122"/>
                <a:cs typeface="Consolas" pitchFamily="49" charset="0"/>
              </a:rPr>
              <a:t>的</a:t>
            </a:r>
            <a:r>
              <a:rPr lang="en-US" altLang="zh-CN" sz="2000" i="1">
                <a:latin typeface="Consolas" pitchFamily="49" charset="0"/>
                <a:ea typeface="仿宋" pitchFamily="49" charset="-122"/>
                <a:cs typeface="Consolas" pitchFamily="49" charset="0"/>
              </a:rPr>
              <a:t>i</a:t>
            </a:r>
            <a:r>
              <a:rPr lang="en-US" altLang="zh-CN" sz="2000">
                <a:solidFill>
                  <a:srgbClr val="FF00FF"/>
                </a:solidFill>
                <a:latin typeface="Consolas" pitchFamily="49" charset="0"/>
                <a:ea typeface="仿宋" pitchFamily="49" charset="-122"/>
                <a:cs typeface="Consolas" pitchFamily="49" charset="0"/>
                <a:sym typeface="Wingdings"/>
              </a:rPr>
              <a:t></a:t>
            </a:r>
            <a:r>
              <a:rPr lang="en-US" altLang="zh-CN" sz="2000" i="1">
                <a:latin typeface="Consolas" pitchFamily="49" charset="0"/>
                <a:ea typeface="仿宋" pitchFamily="49" charset="-122"/>
                <a:cs typeface="Consolas" pitchFamily="49" charset="0"/>
              </a:rPr>
              <a:t>j</a:t>
            </a:r>
            <a:r>
              <a:rPr lang="zh-CN" altLang="en-US" sz="2000" dirty="0">
                <a:latin typeface="Consolas" pitchFamily="49" charset="0"/>
                <a:ea typeface="仿宋" pitchFamily="49" charset="-122"/>
                <a:cs typeface="Consolas" pitchFamily="49" charset="0"/>
              </a:rPr>
              <a:t>的最短路径长度。</a:t>
            </a:r>
          </a:p>
        </p:txBody>
      </p:sp>
      <p:sp>
        <p:nvSpPr>
          <p:cNvPr id="5" name="Text Box 9">
            <a:extLst>
              <a:ext uri="{FF2B5EF4-FFF2-40B4-BE49-F238E27FC236}">
                <a16:creationId xmlns:a16="http://schemas.microsoft.com/office/drawing/2014/main" id="{4A3D4A98-03A7-343C-EB06-6AFFA2E8DAC9}"/>
              </a:ext>
            </a:extLst>
          </p:cNvPr>
          <p:cNvSpPr txBox="1">
            <a:spLocks noChangeArrowheads="1"/>
          </p:cNvSpPr>
          <p:nvPr/>
        </p:nvSpPr>
        <p:spPr bwMode="auto">
          <a:xfrm>
            <a:off x="1411922" y="2002520"/>
            <a:ext cx="4105274" cy="483960"/>
          </a:xfrm>
          <a:prstGeom prst="rect">
            <a:avLst/>
          </a:prstGeom>
          <a:ln>
            <a:headEnd/>
            <a:tailEnd/>
          </a:ln>
        </p:spPr>
        <p:style>
          <a:lnRef idx="1">
            <a:schemeClr val="accent6"/>
          </a:lnRef>
          <a:fillRef idx="2">
            <a:schemeClr val="accent6"/>
          </a:fillRef>
          <a:effectRef idx="1">
            <a:schemeClr val="accent6"/>
          </a:effectRef>
          <a:fontRef idx="minor">
            <a:schemeClr val="dk1"/>
          </a:fontRef>
        </p:style>
        <p:txBody>
          <a:bodyPr wrap="square" lIns="0" tIns="72000" rIns="0" bIns="72000">
            <a:spAutoFit/>
          </a:bodyPr>
          <a:lstStyle/>
          <a:p>
            <a:pPr algn="ctr"/>
            <a:r>
              <a:rPr lang="zh-CN" altLang="en-US" sz="2200" dirty="0">
                <a:solidFill>
                  <a:srgbClr val="FF0000"/>
                </a:solidFill>
                <a:latin typeface="Consolas" pitchFamily="49" charset="0"/>
                <a:ea typeface="华文中宋" pitchFamily="2" charset="-122"/>
                <a:cs typeface="Consolas" pitchFamily="49" charset="0"/>
              </a:rPr>
              <a:t>算法设计（解决</a:t>
            </a:r>
            <a:r>
              <a:rPr lang="en-US" altLang="zh-CN" sz="2200" dirty="0">
                <a:solidFill>
                  <a:srgbClr val="FF0000"/>
                </a:solidFill>
                <a:latin typeface="Consolas" pitchFamily="49" charset="0"/>
                <a:ea typeface="华文中宋" pitchFamily="2" charset="-122"/>
                <a:cs typeface="Consolas" pitchFamily="49" charset="0"/>
              </a:rPr>
              <a:t>2</a:t>
            </a:r>
            <a:r>
              <a:rPr lang="zh-CN" altLang="en-US" sz="2200" dirty="0">
                <a:solidFill>
                  <a:srgbClr val="FF0000"/>
                </a:solidFill>
                <a:latin typeface="Consolas" pitchFamily="49" charset="0"/>
                <a:ea typeface="华文中宋" pitchFamily="2" charset="-122"/>
                <a:cs typeface="Consolas" pitchFamily="49" charset="0"/>
              </a:rPr>
              <a:t>个问题）</a:t>
            </a:r>
          </a:p>
        </p:txBody>
      </p:sp>
      <p:sp>
        <p:nvSpPr>
          <p:cNvPr id="6" name="Text Box 4">
            <a:extLst>
              <a:ext uri="{FF2B5EF4-FFF2-40B4-BE49-F238E27FC236}">
                <a16:creationId xmlns:a16="http://schemas.microsoft.com/office/drawing/2014/main" id="{13BA315D-65E0-AE7B-0C9C-BE6A750105DD}"/>
              </a:ext>
            </a:extLst>
          </p:cNvPr>
          <p:cNvSpPr txBox="1">
            <a:spLocks noChangeArrowheads="1"/>
          </p:cNvSpPr>
          <p:nvPr/>
        </p:nvSpPr>
        <p:spPr bwMode="auto">
          <a:xfrm>
            <a:off x="1418330" y="5217835"/>
            <a:ext cx="4851376" cy="453183"/>
          </a:xfrm>
          <a:prstGeom prst="rect">
            <a:avLst/>
          </a:prstGeom>
          <a:ln>
            <a:noFill/>
            <a:headEnd/>
            <a:tailEnd/>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08000" tIns="72000" rIns="0" bIns="72000">
            <a:spAutoFit/>
          </a:bodyPr>
          <a:lstStyle/>
          <a:p>
            <a:r>
              <a:rPr lang="zh-CN" altLang="en-US" sz="2000" dirty="0">
                <a:solidFill>
                  <a:srgbClr val="FF00FF"/>
                </a:solidFill>
                <a:latin typeface="Consolas" pitchFamily="49" charset="0"/>
                <a:ea typeface="楷体" pitchFamily="49" charset="-122"/>
                <a:cs typeface="Consolas" pitchFamily="49" charset="0"/>
              </a:rPr>
              <a:t>（</a:t>
            </a:r>
            <a:r>
              <a:rPr lang="en-US" altLang="zh-CN" sz="2000" dirty="0">
                <a:solidFill>
                  <a:srgbClr val="FF00FF"/>
                </a:solidFill>
                <a:latin typeface="Consolas" pitchFamily="49" charset="0"/>
                <a:ea typeface="楷体" pitchFamily="49" charset="-122"/>
                <a:cs typeface="Consolas" pitchFamily="49" charset="0"/>
              </a:rPr>
              <a:t>2</a:t>
            </a:r>
            <a:r>
              <a:rPr lang="zh-CN" altLang="en-US" sz="2000" dirty="0">
                <a:solidFill>
                  <a:srgbClr val="FF00FF"/>
                </a:solidFill>
                <a:latin typeface="Consolas" pitchFamily="49" charset="0"/>
                <a:ea typeface="楷体" pitchFamily="49" charset="-122"/>
                <a:cs typeface="Consolas" pitchFamily="49" charset="0"/>
              </a:rPr>
              <a:t>）用二维数组</a:t>
            </a:r>
            <a:r>
              <a:rPr lang="en-US" altLang="zh-CN" sz="2000" dirty="0">
                <a:solidFill>
                  <a:srgbClr val="FF00FF"/>
                </a:solidFill>
                <a:latin typeface="Consolas" pitchFamily="49" charset="0"/>
                <a:ea typeface="楷体" pitchFamily="49" charset="-122"/>
                <a:cs typeface="Consolas" pitchFamily="49" charset="0"/>
              </a:rPr>
              <a:t>path</a:t>
            </a:r>
            <a:r>
              <a:rPr lang="zh-CN" altLang="en-US" sz="2000" dirty="0">
                <a:solidFill>
                  <a:srgbClr val="FF00FF"/>
                </a:solidFill>
                <a:latin typeface="Consolas" pitchFamily="49" charset="0"/>
                <a:ea typeface="楷体" pitchFamily="49" charset="-122"/>
                <a:cs typeface="Consolas" pitchFamily="49" charset="0"/>
              </a:rPr>
              <a:t>存放最短路径：</a:t>
            </a:r>
          </a:p>
        </p:txBody>
      </p:sp>
      <p:sp>
        <p:nvSpPr>
          <p:cNvPr id="7" name="Text Box 5">
            <a:extLst>
              <a:ext uri="{FF2B5EF4-FFF2-40B4-BE49-F238E27FC236}">
                <a16:creationId xmlns:a16="http://schemas.microsoft.com/office/drawing/2014/main" id="{AA2A7B88-B3AA-E5D2-73DD-576C7C0E558A}"/>
              </a:ext>
            </a:extLst>
          </p:cNvPr>
          <p:cNvSpPr txBox="1">
            <a:spLocks noChangeArrowheads="1"/>
          </p:cNvSpPr>
          <p:nvPr/>
        </p:nvSpPr>
        <p:spPr bwMode="auto">
          <a:xfrm>
            <a:off x="1775520" y="5794098"/>
            <a:ext cx="6851640" cy="923330"/>
          </a:xfrm>
          <a:prstGeom prst="rect">
            <a:avLst/>
          </a:prstGeom>
          <a:noFill/>
          <a:ln w="28575" algn="ctr">
            <a:noFill/>
            <a:miter lim="800000"/>
            <a:headEnd/>
            <a:tailEnd/>
          </a:ln>
          <a:effectLst/>
        </p:spPr>
        <p:txBody>
          <a:bodyPr wrap="square" lIns="0" tIns="0" rIns="0" bIns="0">
            <a:spAutoFit/>
          </a:bodyPr>
          <a:lstStyle/>
          <a:p>
            <a:pPr marL="457200" indent="-457200">
              <a:lnSpc>
                <a:spcPct val="150000"/>
              </a:lnSpc>
              <a:spcBef>
                <a:spcPts val="0"/>
              </a:spcBef>
              <a:buFontTx/>
              <a:buBlip>
                <a:blip r:embed="rId2"/>
              </a:buBlip>
            </a:pPr>
            <a:r>
              <a:rPr lang="en-US" altLang="zh-CN" sz="2000" dirty="0" err="1">
                <a:latin typeface="Consolas" pitchFamily="49" charset="0"/>
                <a:ea typeface="仿宋" pitchFamily="49" charset="-122"/>
                <a:cs typeface="Consolas" pitchFamily="49" charset="0"/>
              </a:rPr>
              <a:t>path</a:t>
            </a:r>
            <a:r>
              <a:rPr lang="en-US" altLang="zh-CN" sz="2000" i="1" baseline="-25000" dirty="0" err="1">
                <a:latin typeface="Consolas" pitchFamily="49" charset="0"/>
                <a:ea typeface="仿宋" pitchFamily="49" charset="-122"/>
                <a:cs typeface="Consolas" pitchFamily="49" charset="0"/>
              </a:rPr>
              <a:t>k</a:t>
            </a:r>
            <a:r>
              <a:rPr lang="en-US" altLang="zh-CN" sz="2000" dirty="0">
                <a:latin typeface="Consolas" pitchFamily="49" charset="0"/>
                <a:ea typeface="仿宋" pitchFamily="49" charset="-122"/>
                <a:cs typeface="Consolas" pitchFamily="49" charset="0"/>
              </a:rPr>
              <a:t>[</a:t>
            </a:r>
            <a:r>
              <a:rPr lang="en-US" altLang="zh-CN" sz="2000" i="1" dirty="0" err="1">
                <a:latin typeface="Consolas" pitchFamily="49" charset="0"/>
                <a:ea typeface="仿宋" pitchFamily="49" charset="-122"/>
                <a:cs typeface="Consolas" pitchFamily="49" charset="0"/>
              </a:rPr>
              <a:t>i</a:t>
            </a:r>
            <a:r>
              <a:rPr lang="en-US" altLang="zh-CN" sz="2000" dirty="0">
                <a:latin typeface="Consolas" pitchFamily="49" charset="0"/>
                <a:ea typeface="仿宋" pitchFamily="49" charset="-122"/>
                <a:cs typeface="Consolas" pitchFamily="49" charset="0"/>
              </a:rPr>
              <a:t>][</a:t>
            </a:r>
            <a:r>
              <a:rPr lang="en-US" altLang="zh-CN" sz="2000" i="1" dirty="0">
                <a:latin typeface="Consolas" pitchFamily="49" charset="0"/>
                <a:ea typeface="仿宋" pitchFamily="49" charset="-122"/>
                <a:cs typeface="Consolas" pitchFamily="49" charset="0"/>
              </a:rPr>
              <a:t>j</a:t>
            </a:r>
            <a:r>
              <a:rPr lang="en-US" altLang="zh-CN" sz="2000" dirty="0">
                <a:latin typeface="Consolas" pitchFamily="49" charset="0"/>
                <a:ea typeface="仿宋" pitchFamily="49" charset="-122"/>
                <a:cs typeface="Consolas" pitchFamily="49" charset="0"/>
              </a:rPr>
              <a:t>]</a:t>
            </a:r>
            <a:r>
              <a:rPr lang="zh-CN" altLang="en-US" sz="2000" dirty="0">
                <a:latin typeface="Consolas" pitchFamily="49" charset="0"/>
                <a:ea typeface="仿宋" pitchFamily="49" charset="-122"/>
                <a:cs typeface="Consolas" pitchFamily="49" charset="0"/>
              </a:rPr>
              <a:t>表示考虑顶点</a:t>
            </a:r>
            <a:r>
              <a:rPr lang="en-US" altLang="zh-CN" sz="2000" dirty="0" err="1">
                <a:latin typeface="Consolas" pitchFamily="49" charset="0"/>
                <a:ea typeface="仿宋" pitchFamily="49" charset="-122"/>
                <a:cs typeface="Consolas" pitchFamily="49" charset="0"/>
              </a:rPr>
              <a:t>0~</a:t>
            </a:r>
            <a:r>
              <a:rPr lang="en-US" altLang="zh-CN" sz="2000" i="1" dirty="0" err="1">
                <a:latin typeface="Consolas" pitchFamily="49" charset="0"/>
                <a:ea typeface="仿宋" pitchFamily="49" charset="-122"/>
                <a:cs typeface="Consolas" pitchFamily="49" charset="0"/>
              </a:rPr>
              <a:t>k</a:t>
            </a:r>
            <a:r>
              <a:rPr lang="zh-CN" altLang="en-US" sz="2000" dirty="0">
                <a:latin typeface="Consolas" pitchFamily="49" charset="0"/>
                <a:ea typeface="仿宋" pitchFamily="49" charset="-122"/>
                <a:cs typeface="Consolas" pitchFamily="49" charset="0"/>
              </a:rPr>
              <a:t>后得出</a:t>
            </a:r>
            <a:r>
              <a:rPr lang="zh-CN" altLang="en-US" sz="2000">
                <a:latin typeface="Consolas" pitchFamily="49" charset="0"/>
                <a:ea typeface="仿宋" pitchFamily="49" charset="-122"/>
                <a:cs typeface="Consolas" pitchFamily="49" charset="0"/>
              </a:rPr>
              <a:t>的</a:t>
            </a:r>
            <a:r>
              <a:rPr lang="en-US" altLang="zh-CN" sz="2000" i="1">
                <a:latin typeface="Consolas" pitchFamily="49" charset="0"/>
                <a:ea typeface="仿宋" pitchFamily="49" charset="-122"/>
                <a:cs typeface="Consolas" pitchFamily="49" charset="0"/>
              </a:rPr>
              <a:t>i</a:t>
            </a:r>
            <a:r>
              <a:rPr lang="en-US" altLang="zh-CN" sz="2000">
                <a:solidFill>
                  <a:srgbClr val="FF00FF"/>
                </a:solidFill>
                <a:latin typeface="Consolas" pitchFamily="49" charset="0"/>
                <a:ea typeface="仿宋" pitchFamily="49" charset="-122"/>
                <a:cs typeface="Consolas" pitchFamily="49" charset="0"/>
                <a:sym typeface="Wingdings"/>
              </a:rPr>
              <a:t></a:t>
            </a:r>
            <a:r>
              <a:rPr lang="en-US" altLang="zh-CN" sz="2000" i="1">
                <a:latin typeface="Consolas" pitchFamily="49" charset="0"/>
                <a:ea typeface="仿宋" pitchFamily="49" charset="-122"/>
                <a:cs typeface="Consolas" pitchFamily="49" charset="0"/>
              </a:rPr>
              <a:t>j</a:t>
            </a:r>
            <a:r>
              <a:rPr lang="zh-CN" altLang="en-US" sz="2000" dirty="0">
                <a:latin typeface="Consolas" pitchFamily="49" charset="0"/>
                <a:ea typeface="仿宋" pitchFamily="49" charset="-122"/>
                <a:cs typeface="Consolas" pitchFamily="49" charset="0"/>
              </a:rPr>
              <a:t>的最短路径。</a:t>
            </a:r>
          </a:p>
          <a:p>
            <a:pPr marL="457200" indent="-457200">
              <a:lnSpc>
                <a:spcPct val="150000"/>
              </a:lnSpc>
              <a:spcBef>
                <a:spcPts val="0"/>
              </a:spcBef>
              <a:buFontTx/>
              <a:buBlip>
                <a:blip r:embed="rId2"/>
              </a:buBlip>
            </a:pPr>
            <a:r>
              <a:rPr lang="en-US" altLang="zh-CN" sz="2000" dirty="0" err="1">
                <a:latin typeface="Consolas" pitchFamily="49" charset="0"/>
                <a:ea typeface="仿宋" pitchFamily="49" charset="-122"/>
                <a:cs typeface="Consolas" pitchFamily="49" charset="0"/>
              </a:rPr>
              <a:t>path</a:t>
            </a:r>
            <a:r>
              <a:rPr lang="en-US" altLang="zh-CN" sz="2000" i="1" baseline="-25000" dirty="0" err="1">
                <a:latin typeface="Consolas" pitchFamily="49" charset="0"/>
                <a:ea typeface="仿宋" pitchFamily="49" charset="-122"/>
                <a:cs typeface="Consolas" pitchFamily="49" charset="0"/>
              </a:rPr>
              <a:t>n</a:t>
            </a:r>
            <a:r>
              <a:rPr lang="en-US" altLang="zh-CN" sz="2000" baseline="-25000" dirty="0">
                <a:latin typeface="Consolas" pitchFamily="49" charset="0"/>
                <a:ea typeface="仿宋" pitchFamily="49" charset="-122"/>
                <a:cs typeface="Consolas" pitchFamily="49" charset="0"/>
              </a:rPr>
              <a:t>-1</a:t>
            </a:r>
            <a:r>
              <a:rPr lang="en-US" altLang="zh-CN" sz="2000" dirty="0">
                <a:latin typeface="Consolas" pitchFamily="49" charset="0"/>
                <a:ea typeface="仿宋" pitchFamily="49" charset="-122"/>
                <a:cs typeface="Consolas" pitchFamily="49" charset="0"/>
              </a:rPr>
              <a:t>[</a:t>
            </a:r>
            <a:r>
              <a:rPr lang="en-US" altLang="zh-CN" sz="2000" i="1" dirty="0" err="1">
                <a:latin typeface="Consolas" pitchFamily="49" charset="0"/>
                <a:ea typeface="仿宋" pitchFamily="49" charset="-122"/>
                <a:cs typeface="Consolas" pitchFamily="49" charset="0"/>
              </a:rPr>
              <a:t>i</a:t>
            </a:r>
            <a:r>
              <a:rPr lang="en-US" altLang="zh-CN" sz="2000" dirty="0">
                <a:latin typeface="Consolas" pitchFamily="49" charset="0"/>
                <a:ea typeface="仿宋" pitchFamily="49" charset="-122"/>
                <a:cs typeface="Consolas" pitchFamily="49" charset="0"/>
              </a:rPr>
              <a:t>][</a:t>
            </a:r>
            <a:r>
              <a:rPr lang="en-US" altLang="zh-CN" sz="2000" i="1" dirty="0">
                <a:latin typeface="Consolas" pitchFamily="49" charset="0"/>
                <a:ea typeface="仿宋" pitchFamily="49" charset="-122"/>
                <a:cs typeface="Consolas" pitchFamily="49" charset="0"/>
              </a:rPr>
              <a:t>j</a:t>
            </a:r>
            <a:r>
              <a:rPr lang="en-US" altLang="zh-CN" sz="2000" dirty="0">
                <a:latin typeface="Consolas" pitchFamily="49" charset="0"/>
                <a:ea typeface="仿宋" pitchFamily="49" charset="-122"/>
                <a:cs typeface="Consolas" pitchFamily="49" charset="0"/>
              </a:rPr>
              <a:t>]</a:t>
            </a:r>
            <a:r>
              <a:rPr lang="zh-CN" altLang="en-US" sz="2000" dirty="0">
                <a:latin typeface="Consolas" pitchFamily="49" charset="0"/>
                <a:ea typeface="仿宋" pitchFamily="49" charset="-122"/>
                <a:cs typeface="Consolas" pitchFamily="49" charset="0"/>
              </a:rPr>
              <a:t>表示</a:t>
            </a:r>
            <a:r>
              <a:rPr lang="zh-CN" altLang="en-US" sz="2000">
                <a:latin typeface="Consolas" pitchFamily="49" charset="0"/>
                <a:ea typeface="仿宋" pitchFamily="49" charset="-122"/>
                <a:cs typeface="Consolas" pitchFamily="49" charset="0"/>
              </a:rPr>
              <a:t>最终</a:t>
            </a:r>
            <a:r>
              <a:rPr lang="en-US" altLang="zh-CN" sz="2000" i="1">
                <a:latin typeface="Consolas" pitchFamily="49" charset="0"/>
                <a:ea typeface="仿宋" pitchFamily="49" charset="-122"/>
                <a:cs typeface="Consolas" pitchFamily="49" charset="0"/>
              </a:rPr>
              <a:t>i</a:t>
            </a:r>
            <a:r>
              <a:rPr lang="en-US" altLang="zh-CN" sz="2000">
                <a:solidFill>
                  <a:srgbClr val="FF00FF"/>
                </a:solidFill>
                <a:latin typeface="Consolas" pitchFamily="49" charset="0"/>
                <a:ea typeface="仿宋" pitchFamily="49" charset="-122"/>
                <a:cs typeface="Consolas" pitchFamily="49" charset="0"/>
                <a:sym typeface="Wingdings"/>
              </a:rPr>
              <a:t></a:t>
            </a:r>
            <a:r>
              <a:rPr lang="en-US" altLang="zh-CN" sz="2000" i="1">
                <a:latin typeface="Consolas" pitchFamily="49" charset="0"/>
                <a:ea typeface="仿宋" pitchFamily="49" charset="-122"/>
                <a:cs typeface="Consolas" pitchFamily="49" charset="0"/>
              </a:rPr>
              <a:t>j</a:t>
            </a:r>
            <a:r>
              <a:rPr lang="zh-CN" altLang="en-US" sz="2000" dirty="0">
                <a:latin typeface="Consolas" pitchFamily="49" charset="0"/>
                <a:ea typeface="仿宋" pitchFamily="49" charset="-122"/>
                <a:cs typeface="Consolas" pitchFamily="49" charset="0"/>
              </a:rPr>
              <a:t>的最短路径。</a:t>
            </a:r>
          </a:p>
        </p:txBody>
      </p:sp>
    </p:spTree>
    <p:extLst>
      <p:ext uri="{BB962C8B-B14F-4D97-AF65-F5344CB8AC3E}">
        <p14:creationId xmlns:p14="http://schemas.microsoft.com/office/powerpoint/2010/main" val="404691531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animBg="1"/>
      <p:bldP spid="7" grpId="0"/>
    </p:bld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4C8E86-C237-6DB0-FE1F-45F0496C0C35}"/>
            </a:ext>
          </a:extLst>
        </p:cNvPr>
        <p:cNvGrpSpPr/>
        <p:nvPr/>
      </p:nvGrpSpPr>
      <p:grpSpPr>
        <a:xfrm>
          <a:off x="0" y="0"/>
          <a:ext cx="0" cy="0"/>
          <a:chOff x="0" y="0"/>
          <a:chExt cx="0" cy="0"/>
        </a:xfrm>
      </p:grpSpPr>
      <p:sp>
        <p:nvSpPr>
          <p:cNvPr id="9" name="Rectangle 2">
            <a:extLst>
              <a:ext uri="{FF2B5EF4-FFF2-40B4-BE49-F238E27FC236}">
                <a16:creationId xmlns:a16="http://schemas.microsoft.com/office/drawing/2014/main" id="{D54D8734-5629-620B-0EFF-F7A34C8A5485}"/>
              </a:ext>
            </a:extLst>
          </p:cNvPr>
          <p:cNvSpPr txBox="1">
            <a:spLocks noChangeArrowheads="1"/>
          </p:cNvSpPr>
          <p:nvPr/>
        </p:nvSpPr>
        <p:spPr>
          <a:xfrm>
            <a:off x="474771" y="1230902"/>
            <a:ext cx="9077613"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8.5.3 </a:t>
            </a:r>
            <a:r>
              <a:rPr lang="zh-CN" altLang="en-US" dirty="0"/>
              <a:t>每一对顶点之间的最短路径（多源最短路径问题）</a:t>
            </a:r>
          </a:p>
        </p:txBody>
      </p:sp>
      <p:cxnSp>
        <p:nvCxnSpPr>
          <p:cNvPr id="10" name="直接连接符 9">
            <a:extLst>
              <a:ext uri="{FF2B5EF4-FFF2-40B4-BE49-F238E27FC236}">
                <a16:creationId xmlns:a16="http://schemas.microsoft.com/office/drawing/2014/main" id="{7CB3FD1B-01FA-2BFE-CAF2-34AA44C1982D}"/>
              </a:ext>
            </a:extLst>
          </p:cNvPr>
          <p:cNvCxnSpPr>
            <a:cxnSpLocks/>
          </p:cNvCxnSpPr>
          <p:nvPr/>
        </p:nvCxnSpPr>
        <p:spPr>
          <a:xfrm>
            <a:off x="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11" name="矩形 10">
            <a:extLst>
              <a:ext uri="{FF2B5EF4-FFF2-40B4-BE49-F238E27FC236}">
                <a16:creationId xmlns:a16="http://schemas.microsoft.com/office/drawing/2014/main" id="{206E19AA-B215-59E7-AA05-0D6D273076C4}"/>
              </a:ext>
            </a:extLst>
          </p:cNvPr>
          <p:cNvSpPr/>
          <p:nvPr/>
        </p:nvSpPr>
        <p:spPr>
          <a:xfrm>
            <a:off x="3394075" y="399838"/>
            <a:ext cx="4617860"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8.5 </a:t>
            </a:r>
            <a:r>
              <a:rPr lang="zh-CN" altLang="en-US" sz="3000" b="1" dirty="0">
                <a:latin typeface="黑体" pitchFamily="49" charset="-122"/>
                <a:ea typeface="黑体" pitchFamily="49" charset="-122"/>
                <a:cs typeface="经典粗黑简" pitchFamily="49" charset="-122"/>
              </a:rPr>
              <a:t>最短路径</a:t>
            </a:r>
          </a:p>
        </p:txBody>
      </p:sp>
      <p:sp>
        <p:nvSpPr>
          <p:cNvPr id="3" name="Text Box 28">
            <a:extLst>
              <a:ext uri="{FF2B5EF4-FFF2-40B4-BE49-F238E27FC236}">
                <a16:creationId xmlns:a16="http://schemas.microsoft.com/office/drawing/2014/main" id="{40F1D547-4D0C-642D-EF8B-0A31C2A6D8B6}"/>
              </a:ext>
            </a:extLst>
          </p:cNvPr>
          <p:cNvSpPr txBox="1">
            <a:spLocks noChangeArrowheads="1"/>
          </p:cNvSpPr>
          <p:nvPr/>
        </p:nvSpPr>
        <p:spPr bwMode="auto">
          <a:xfrm>
            <a:off x="5894396" y="3790923"/>
            <a:ext cx="5944482" cy="1504130"/>
          </a:xfrm>
          <a:prstGeom prst="rect">
            <a:avLst/>
          </a:prstGeom>
          <a:noFill/>
          <a:ln w="28575" algn="ctr">
            <a:noFill/>
            <a:miter lim="800000"/>
            <a:headEnd/>
            <a:tailEnd/>
          </a:ln>
          <a:effectLst/>
        </p:spPr>
        <p:txBody>
          <a:bodyPr wrap="square" lIns="0" tIns="0" rIns="0" bIns="0">
            <a:spAutoFit/>
          </a:bodyPr>
          <a:lstStyle/>
          <a:p>
            <a:pPr>
              <a:lnSpc>
                <a:spcPts val="3000"/>
              </a:lnSpc>
              <a:spcBef>
                <a:spcPts val="0"/>
              </a:spcBef>
            </a:pPr>
            <a:r>
              <a:rPr lang="zh-CN" altLang="nb-NO" sz="2000" dirty="0">
                <a:solidFill>
                  <a:srgbClr val="FF00FF"/>
                </a:solidFill>
                <a:latin typeface="Consolas" pitchFamily="49" charset="0"/>
                <a:ea typeface="仿宋" pitchFamily="49" charset="-122"/>
                <a:cs typeface="Consolas" pitchFamily="49" charset="0"/>
              </a:rPr>
              <a:t>若</a:t>
            </a:r>
            <a:r>
              <a:rPr lang="zh-CN" altLang="en-US" sz="2000" dirty="0">
                <a:solidFill>
                  <a:srgbClr val="FF00FF"/>
                </a:solidFill>
                <a:latin typeface="Consolas" pitchFamily="49" charset="0"/>
                <a:ea typeface="仿宋" pitchFamily="49" charset="-122"/>
                <a:cs typeface="Consolas" pitchFamily="49" charset="0"/>
              </a:rPr>
              <a:t>经过顶点</a:t>
            </a:r>
            <a:r>
              <a:rPr lang="en-US" altLang="zh-CN" sz="2000" i="1" dirty="0">
                <a:solidFill>
                  <a:srgbClr val="FF00FF"/>
                </a:solidFill>
                <a:latin typeface="Consolas" pitchFamily="49" charset="0"/>
                <a:ea typeface="仿宋" pitchFamily="49" charset="-122"/>
                <a:cs typeface="Consolas" pitchFamily="49" charset="0"/>
              </a:rPr>
              <a:t>k</a:t>
            </a:r>
            <a:r>
              <a:rPr lang="zh-CN" altLang="en-US" sz="2000" dirty="0">
                <a:solidFill>
                  <a:srgbClr val="FF00FF"/>
                </a:solidFill>
                <a:latin typeface="Consolas" pitchFamily="49" charset="0"/>
                <a:ea typeface="仿宋" pitchFamily="49" charset="-122"/>
                <a:cs typeface="Consolas" pitchFamily="49" charset="0"/>
              </a:rPr>
              <a:t>的路径更短：</a:t>
            </a:r>
            <a:r>
              <a:rPr lang="zh-CN" altLang="en-US" sz="2000" dirty="0">
                <a:latin typeface="Consolas" pitchFamily="49" charset="0"/>
                <a:ea typeface="仿宋" pitchFamily="49" charset="-122"/>
                <a:cs typeface="Consolas" pitchFamily="49" charset="0"/>
              </a:rPr>
              <a:t> </a:t>
            </a:r>
            <a:endParaRPr lang="en-US" altLang="zh-CN" sz="2000" dirty="0">
              <a:latin typeface="Consolas" pitchFamily="49" charset="0"/>
              <a:ea typeface="仿宋" pitchFamily="49" charset="-122"/>
              <a:cs typeface="Consolas" pitchFamily="49" charset="0"/>
            </a:endParaRPr>
          </a:p>
          <a:p>
            <a:pPr>
              <a:lnSpc>
                <a:spcPts val="3000"/>
              </a:lnSpc>
              <a:spcBef>
                <a:spcPts val="0"/>
              </a:spcBef>
            </a:pPr>
            <a:r>
              <a:rPr lang="zh-CN" altLang="en-US" sz="2000" dirty="0">
                <a:solidFill>
                  <a:srgbClr val="FF0000"/>
                </a:solidFill>
                <a:latin typeface="Consolas" pitchFamily="49" charset="0"/>
                <a:ea typeface="仿宋" pitchFamily="49" charset="-122"/>
                <a:cs typeface="Consolas" pitchFamily="49" charset="0"/>
                <a:sym typeface="Wingdings"/>
              </a:rPr>
              <a:t></a:t>
            </a:r>
            <a:r>
              <a:rPr lang="zh-CN" altLang="en-US" sz="2000" dirty="0">
                <a:latin typeface="Consolas" pitchFamily="49" charset="0"/>
                <a:ea typeface="仿宋" pitchFamily="49" charset="-122"/>
                <a:cs typeface="Consolas" pitchFamily="49" charset="0"/>
              </a:rPr>
              <a:t>  </a:t>
            </a:r>
            <a:r>
              <a:rPr lang="nb-NO" altLang="zh-CN" sz="2000" dirty="0">
                <a:latin typeface="Consolas" pitchFamily="49" charset="0"/>
                <a:ea typeface="仿宋" pitchFamily="49" charset="-122"/>
                <a:cs typeface="Consolas" pitchFamily="49" charset="0"/>
              </a:rPr>
              <a:t>path</a:t>
            </a:r>
            <a:r>
              <a:rPr lang="nb-NO" altLang="zh-CN" sz="2000" i="1" baseline="-25000" dirty="0">
                <a:latin typeface="Consolas" pitchFamily="49" charset="0"/>
                <a:ea typeface="仿宋" pitchFamily="49" charset="-122"/>
                <a:cs typeface="Consolas" pitchFamily="49" charset="0"/>
              </a:rPr>
              <a:t>k</a:t>
            </a:r>
            <a:r>
              <a:rPr lang="nb-NO" altLang="zh-CN" sz="2000" dirty="0">
                <a:latin typeface="Consolas" pitchFamily="49" charset="0"/>
                <a:ea typeface="仿宋" pitchFamily="49" charset="-122"/>
                <a:cs typeface="Consolas" pitchFamily="49" charset="0"/>
              </a:rPr>
              <a:t>[</a:t>
            </a:r>
            <a:r>
              <a:rPr lang="nb-NO" altLang="zh-CN" sz="2000" i="1" dirty="0">
                <a:latin typeface="Consolas" pitchFamily="49" charset="0"/>
                <a:ea typeface="仿宋" pitchFamily="49" charset="-122"/>
                <a:cs typeface="Consolas" pitchFamily="49" charset="0"/>
              </a:rPr>
              <a:t>i</a:t>
            </a:r>
            <a:r>
              <a:rPr lang="nb-NO" altLang="zh-CN" sz="2000" dirty="0">
                <a:latin typeface="Consolas" pitchFamily="49" charset="0"/>
                <a:ea typeface="仿宋" pitchFamily="49" charset="-122"/>
                <a:cs typeface="Consolas" pitchFamily="49" charset="0"/>
              </a:rPr>
              <a:t>][</a:t>
            </a:r>
            <a:r>
              <a:rPr lang="nb-NO" altLang="zh-CN" sz="2000" i="1" dirty="0">
                <a:latin typeface="Consolas" pitchFamily="49" charset="0"/>
                <a:ea typeface="仿宋" pitchFamily="49" charset="-122"/>
                <a:cs typeface="Consolas" pitchFamily="49" charset="0"/>
              </a:rPr>
              <a:t>j</a:t>
            </a:r>
            <a:r>
              <a:rPr lang="nb-NO" altLang="zh-CN" sz="2000" dirty="0">
                <a:latin typeface="Consolas" pitchFamily="49" charset="0"/>
                <a:ea typeface="仿宋" pitchFamily="49" charset="-122"/>
                <a:cs typeface="Consolas" pitchFamily="49" charset="0"/>
              </a:rPr>
              <a:t>] = </a:t>
            </a:r>
            <a:r>
              <a:rPr lang="nb-NO" altLang="zh-CN" sz="2000" i="1" dirty="0">
                <a:solidFill>
                  <a:srgbClr val="FF0000"/>
                </a:solidFill>
                <a:latin typeface="Consolas" pitchFamily="49" charset="0"/>
                <a:ea typeface="仿宋" pitchFamily="49" charset="-122"/>
                <a:cs typeface="Consolas" pitchFamily="49" charset="0"/>
              </a:rPr>
              <a:t>a </a:t>
            </a:r>
            <a:r>
              <a:rPr lang="nb-NO" altLang="zh-CN" sz="2000" dirty="0">
                <a:latin typeface="Consolas" pitchFamily="49" charset="0"/>
                <a:ea typeface="仿宋" pitchFamily="49" charset="-122"/>
                <a:cs typeface="Consolas" pitchFamily="49" charset="0"/>
              </a:rPr>
              <a:t>= path</a:t>
            </a:r>
            <a:r>
              <a:rPr lang="nb-NO" altLang="zh-CN" sz="2000" i="1" baseline="-25000" dirty="0">
                <a:latin typeface="Consolas" pitchFamily="49" charset="0"/>
                <a:ea typeface="仿宋" pitchFamily="49" charset="-122"/>
                <a:cs typeface="Consolas" pitchFamily="49" charset="0"/>
              </a:rPr>
              <a:t>k</a:t>
            </a:r>
            <a:r>
              <a:rPr lang="en-US" altLang="zh-CN" sz="2000" baseline="-25000" dirty="0">
                <a:latin typeface="Consolas" pitchFamily="49" charset="0"/>
                <a:ea typeface="仿宋" pitchFamily="49" charset="-122"/>
                <a:cs typeface="Consolas" pitchFamily="49" charset="0"/>
              </a:rPr>
              <a:t>-1</a:t>
            </a:r>
            <a:r>
              <a:rPr lang="nb-NO" altLang="zh-CN" sz="2000" dirty="0">
                <a:latin typeface="Consolas" pitchFamily="49" charset="0"/>
                <a:ea typeface="仿宋" pitchFamily="49" charset="-122"/>
                <a:cs typeface="Consolas" pitchFamily="49" charset="0"/>
              </a:rPr>
              <a:t>[</a:t>
            </a:r>
            <a:r>
              <a:rPr lang="nb-NO" altLang="zh-CN" sz="2000" i="1" dirty="0">
                <a:latin typeface="Consolas" pitchFamily="49" charset="0"/>
                <a:ea typeface="仿宋" pitchFamily="49" charset="-122"/>
                <a:cs typeface="Consolas" pitchFamily="49" charset="0"/>
              </a:rPr>
              <a:t>k</a:t>
            </a:r>
            <a:r>
              <a:rPr lang="nb-NO" altLang="zh-CN" sz="2000" dirty="0">
                <a:latin typeface="Consolas" pitchFamily="49" charset="0"/>
                <a:ea typeface="仿宋" pitchFamily="49" charset="-122"/>
                <a:cs typeface="Consolas" pitchFamily="49" charset="0"/>
              </a:rPr>
              <a:t>][</a:t>
            </a:r>
            <a:r>
              <a:rPr lang="nb-NO" altLang="zh-CN" sz="2000" i="1" dirty="0">
                <a:latin typeface="Consolas" pitchFamily="49" charset="0"/>
                <a:ea typeface="仿宋" pitchFamily="49" charset="-122"/>
                <a:cs typeface="Consolas" pitchFamily="49" charset="0"/>
              </a:rPr>
              <a:t>j</a:t>
            </a:r>
            <a:r>
              <a:rPr lang="nb-NO" altLang="zh-CN" sz="2000" dirty="0">
                <a:latin typeface="Consolas" pitchFamily="49" charset="0"/>
                <a:ea typeface="仿宋" pitchFamily="49" charset="-122"/>
                <a:cs typeface="Consolas" pitchFamily="49" charset="0"/>
              </a:rPr>
              <a:t>]</a:t>
            </a:r>
            <a:endParaRPr lang="en-US" altLang="zh-CN" sz="2000" dirty="0">
              <a:latin typeface="Consolas" pitchFamily="49" charset="0"/>
              <a:ea typeface="仿宋" pitchFamily="49" charset="-122"/>
              <a:cs typeface="Consolas" pitchFamily="49" charset="0"/>
            </a:endParaRPr>
          </a:p>
          <a:p>
            <a:pPr>
              <a:lnSpc>
                <a:spcPts val="3000"/>
              </a:lnSpc>
              <a:spcBef>
                <a:spcPts val="0"/>
              </a:spcBef>
            </a:pPr>
            <a:r>
              <a:rPr lang="zh-CN" altLang="en-US" sz="2000" dirty="0">
                <a:solidFill>
                  <a:srgbClr val="FF00FF"/>
                </a:solidFill>
                <a:latin typeface="Consolas" pitchFamily="49" charset="0"/>
                <a:ea typeface="仿宋" pitchFamily="49" charset="-122"/>
                <a:cs typeface="Consolas" pitchFamily="49" charset="0"/>
              </a:rPr>
              <a:t>否则： </a:t>
            </a:r>
            <a:endParaRPr lang="en-US" altLang="zh-CN" sz="2000" dirty="0">
              <a:solidFill>
                <a:srgbClr val="FF00FF"/>
              </a:solidFill>
              <a:latin typeface="Consolas" pitchFamily="49" charset="0"/>
              <a:ea typeface="仿宋" pitchFamily="49" charset="-122"/>
              <a:cs typeface="Consolas" pitchFamily="49" charset="0"/>
            </a:endParaRPr>
          </a:p>
          <a:p>
            <a:pPr>
              <a:lnSpc>
                <a:spcPts val="3000"/>
              </a:lnSpc>
              <a:spcBef>
                <a:spcPts val="0"/>
              </a:spcBef>
            </a:pPr>
            <a:r>
              <a:rPr lang="zh-CN" altLang="en-US" sz="2000" dirty="0">
                <a:solidFill>
                  <a:srgbClr val="FF0000"/>
                </a:solidFill>
                <a:latin typeface="Consolas" pitchFamily="49" charset="0"/>
                <a:ea typeface="仿宋" pitchFamily="49" charset="-122"/>
                <a:cs typeface="Consolas" pitchFamily="49" charset="0"/>
                <a:sym typeface="Wingdings"/>
              </a:rPr>
              <a:t></a:t>
            </a:r>
            <a:r>
              <a:rPr lang="zh-CN" altLang="en-US" sz="2000" dirty="0">
                <a:latin typeface="Consolas" pitchFamily="49" charset="0"/>
                <a:ea typeface="仿宋" pitchFamily="49" charset="-122"/>
                <a:cs typeface="Consolas" pitchFamily="49" charset="0"/>
              </a:rPr>
              <a:t>  </a:t>
            </a:r>
            <a:r>
              <a:rPr lang="nb-NO" altLang="zh-CN" sz="2000" dirty="0">
                <a:latin typeface="Consolas" pitchFamily="49" charset="0"/>
                <a:ea typeface="仿宋" pitchFamily="49" charset="-122"/>
                <a:cs typeface="Consolas" pitchFamily="49" charset="0"/>
              </a:rPr>
              <a:t>path</a:t>
            </a:r>
            <a:r>
              <a:rPr lang="nb-NO" altLang="zh-CN" sz="2000" i="1" baseline="-25000" dirty="0">
                <a:latin typeface="Consolas" pitchFamily="49" charset="0"/>
                <a:ea typeface="仿宋" pitchFamily="49" charset="-122"/>
                <a:cs typeface="Consolas" pitchFamily="49" charset="0"/>
              </a:rPr>
              <a:t>k</a:t>
            </a:r>
            <a:r>
              <a:rPr lang="nb-NO" altLang="zh-CN" sz="2000" dirty="0">
                <a:latin typeface="Consolas" pitchFamily="49" charset="0"/>
                <a:ea typeface="仿宋" pitchFamily="49" charset="-122"/>
                <a:cs typeface="Consolas" pitchFamily="49" charset="0"/>
              </a:rPr>
              <a:t>[</a:t>
            </a:r>
            <a:r>
              <a:rPr lang="nb-NO" altLang="zh-CN" sz="2000" i="1" dirty="0">
                <a:latin typeface="Consolas" pitchFamily="49" charset="0"/>
                <a:ea typeface="仿宋" pitchFamily="49" charset="-122"/>
                <a:cs typeface="Consolas" pitchFamily="49" charset="0"/>
              </a:rPr>
              <a:t>i</a:t>
            </a:r>
            <a:r>
              <a:rPr lang="nb-NO" altLang="zh-CN" sz="2000" dirty="0">
                <a:latin typeface="Consolas" pitchFamily="49" charset="0"/>
                <a:ea typeface="仿宋" pitchFamily="49" charset="-122"/>
                <a:cs typeface="Consolas" pitchFamily="49" charset="0"/>
              </a:rPr>
              <a:t>][</a:t>
            </a:r>
            <a:r>
              <a:rPr lang="nb-NO" altLang="zh-CN" sz="2000" i="1" dirty="0">
                <a:latin typeface="Consolas" pitchFamily="49" charset="0"/>
                <a:ea typeface="仿宋" pitchFamily="49" charset="-122"/>
                <a:cs typeface="Consolas" pitchFamily="49" charset="0"/>
              </a:rPr>
              <a:t>j</a:t>
            </a:r>
            <a:r>
              <a:rPr lang="nb-NO" altLang="zh-CN" sz="2000" dirty="0">
                <a:latin typeface="Consolas" pitchFamily="49" charset="0"/>
                <a:ea typeface="仿宋" pitchFamily="49" charset="-122"/>
                <a:cs typeface="Consolas" pitchFamily="49" charset="0"/>
              </a:rPr>
              <a:t>] = </a:t>
            </a:r>
            <a:r>
              <a:rPr lang="en-US" altLang="zh-CN" sz="2000" i="1" dirty="0">
                <a:solidFill>
                  <a:srgbClr val="FF0000"/>
                </a:solidFill>
                <a:latin typeface="Consolas" pitchFamily="49" charset="0"/>
                <a:ea typeface="仿宋" pitchFamily="49" charset="-122"/>
                <a:cs typeface="Consolas" pitchFamily="49" charset="0"/>
              </a:rPr>
              <a:t>b </a:t>
            </a:r>
            <a:r>
              <a:rPr lang="nb-NO" altLang="zh-CN" sz="2000" dirty="0">
                <a:latin typeface="Consolas" pitchFamily="49" charset="0"/>
                <a:ea typeface="仿宋" pitchFamily="49" charset="-122"/>
                <a:cs typeface="Consolas" pitchFamily="49" charset="0"/>
              </a:rPr>
              <a:t>= path</a:t>
            </a:r>
            <a:r>
              <a:rPr lang="nb-NO" altLang="zh-CN" sz="2000" i="1" baseline="-25000" dirty="0">
                <a:latin typeface="Consolas" pitchFamily="49" charset="0"/>
                <a:ea typeface="仿宋" pitchFamily="49" charset="-122"/>
                <a:cs typeface="Consolas" pitchFamily="49" charset="0"/>
              </a:rPr>
              <a:t>k</a:t>
            </a:r>
            <a:r>
              <a:rPr lang="en-US" altLang="zh-CN" sz="2000" baseline="-25000" dirty="0">
                <a:latin typeface="Consolas" pitchFamily="49" charset="0"/>
                <a:ea typeface="仿宋" pitchFamily="49" charset="-122"/>
                <a:cs typeface="Consolas" pitchFamily="49" charset="0"/>
              </a:rPr>
              <a:t>-1</a:t>
            </a:r>
            <a:r>
              <a:rPr lang="nb-NO" altLang="zh-CN" sz="2000" dirty="0">
                <a:latin typeface="Consolas" pitchFamily="49" charset="0"/>
                <a:ea typeface="仿宋" pitchFamily="49" charset="-122"/>
                <a:cs typeface="Consolas" pitchFamily="49" charset="0"/>
              </a:rPr>
              <a:t>[</a:t>
            </a:r>
            <a:r>
              <a:rPr lang="nb-NO" altLang="zh-CN" sz="2000" i="1" dirty="0">
                <a:latin typeface="Consolas" pitchFamily="49" charset="0"/>
                <a:ea typeface="仿宋" pitchFamily="49" charset="-122"/>
                <a:cs typeface="Consolas" pitchFamily="49" charset="0"/>
              </a:rPr>
              <a:t>i</a:t>
            </a:r>
            <a:r>
              <a:rPr lang="nb-NO" altLang="zh-CN" sz="2000" dirty="0">
                <a:latin typeface="Consolas" pitchFamily="49" charset="0"/>
                <a:ea typeface="仿宋" pitchFamily="49" charset="-122"/>
                <a:cs typeface="Consolas" pitchFamily="49" charset="0"/>
              </a:rPr>
              <a:t>][</a:t>
            </a:r>
            <a:r>
              <a:rPr lang="nb-NO" altLang="zh-CN" sz="2000" i="1" dirty="0">
                <a:latin typeface="Consolas" pitchFamily="49" charset="0"/>
                <a:ea typeface="仿宋" pitchFamily="49" charset="-122"/>
                <a:cs typeface="Consolas" pitchFamily="49" charset="0"/>
              </a:rPr>
              <a:t>j</a:t>
            </a:r>
            <a:r>
              <a:rPr lang="nb-NO" altLang="zh-CN" sz="2000" dirty="0">
                <a:latin typeface="Consolas" pitchFamily="49" charset="0"/>
                <a:ea typeface="仿宋" pitchFamily="49" charset="-122"/>
                <a:cs typeface="Consolas" pitchFamily="49" charset="0"/>
              </a:rPr>
              <a:t>]  </a:t>
            </a:r>
            <a:r>
              <a:rPr lang="zh-CN" altLang="en-US" sz="2000" dirty="0">
                <a:latin typeface="Consolas" pitchFamily="49" charset="0"/>
                <a:ea typeface="仿宋" pitchFamily="49" charset="-122"/>
                <a:cs typeface="Consolas" pitchFamily="49" charset="0"/>
              </a:rPr>
              <a:t>不改变</a:t>
            </a:r>
          </a:p>
        </p:txBody>
      </p:sp>
      <p:sp>
        <p:nvSpPr>
          <p:cNvPr id="8" name="Text Box 29">
            <a:extLst>
              <a:ext uri="{FF2B5EF4-FFF2-40B4-BE49-F238E27FC236}">
                <a16:creationId xmlns:a16="http://schemas.microsoft.com/office/drawing/2014/main" id="{04A5D28D-90BD-4756-6F6E-E9BA495F08D2}"/>
              </a:ext>
            </a:extLst>
          </p:cNvPr>
          <p:cNvSpPr txBox="1">
            <a:spLocks noChangeArrowheads="1"/>
          </p:cNvSpPr>
          <p:nvPr/>
        </p:nvSpPr>
        <p:spPr bwMode="auto">
          <a:xfrm>
            <a:off x="1134644" y="2452720"/>
            <a:ext cx="11161240" cy="330732"/>
          </a:xfrm>
          <a:prstGeom prst="rect">
            <a:avLst/>
          </a:prstGeom>
          <a:noFill/>
          <a:ln w="28575" algn="ctr">
            <a:noFill/>
            <a:miter lim="800000"/>
            <a:headEnd/>
            <a:tailEnd/>
          </a:ln>
          <a:effectLst/>
        </p:spPr>
        <p:txBody>
          <a:bodyPr wrap="square" lIns="0" tIns="0" rIns="0" bIns="0">
            <a:spAutoFit/>
          </a:bodyPr>
          <a:lstStyle/>
          <a:p>
            <a:pPr>
              <a:lnSpc>
                <a:spcPts val="2800"/>
              </a:lnSpc>
              <a:spcBef>
                <a:spcPts val="0"/>
              </a:spcBef>
            </a:pPr>
            <a:r>
              <a:rPr lang="en-US" altLang="zh-CN" sz="2000" dirty="0" err="1">
                <a:latin typeface="Consolas" pitchFamily="49" charset="0"/>
                <a:ea typeface="楷体" pitchFamily="49" charset="-122"/>
                <a:cs typeface="Consolas" pitchFamily="49" charset="0"/>
              </a:rPr>
              <a:t>path</a:t>
            </a:r>
            <a:r>
              <a:rPr lang="en-US" altLang="zh-CN" sz="2000" i="1" baseline="-25000" dirty="0" err="1">
                <a:latin typeface="Consolas" pitchFamily="49" charset="0"/>
                <a:ea typeface="楷体" pitchFamily="49" charset="-122"/>
                <a:cs typeface="Consolas" pitchFamily="49" charset="0"/>
              </a:rPr>
              <a:t>x</a:t>
            </a:r>
            <a:r>
              <a:rPr lang="en-US" altLang="zh-CN" sz="2000" dirty="0">
                <a:latin typeface="Consolas" pitchFamily="49" charset="0"/>
                <a:ea typeface="楷体" pitchFamily="49" charset="-122"/>
                <a:cs typeface="Consolas" pitchFamily="49" charset="0"/>
              </a:rPr>
              <a:t>[</a:t>
            </a:r>
            <a:r>
              <a:rPr lang="en-US" altLang="zh-CN" sz="2000" i="1" dirty="0" err="1">
                <a:latin typeface="Consolas" pitchFamily="49" charset="0"/>
                <a:ea typeface="楷体" pitchFamily="49" charset="-122"/>
                <a:cs typeface="Consolas" pitchFamily="49" charset="0"/>
              </a:rPr>
              <a:t>i</a:t>
            </a:r>
            <a:r>
              <a:rPr lang="en-US" altLang="zh-CN" sz="2000" dirty="0">
                <a:latin typeface="Consolas" pitchFamily="49" charset="0"/>
                <a:ea typeface="楷体" pitchFamily="49" charset="-122"/>
                <a:cs typeface="Consolas" pitchFamily="49" charset="0"/>
              </a:rPr>
              <a:t>][</a:t>
            </a:r>
            <a:r>
              <a:rPr lang="en-US" altLang="zh-CN" sz="2000" i="1" dirty="0">
                <a:latin typeface="Consolas" pitchFamily="49" charset="0"/>
                <a:ea typeface="楷体" pitchFamily="49" charset="-122"/>
                <a:cs typeface="Consolas" pitchFamily="49" charset="0"/>
              </a:rPr>
              <a:t>j</a:t>
            </a:r>
            <a:r>
              <a:rPr lang="en-US" altLang="zh-CN" sz="2000" dirty="0">
                <a:latin typeface="Consolas" pitchFamily="49" charset="0"/>
                <a:ea typeface="楷体" pitchFamily="49" charset="-122"/>
                <a:cs typeface="Consolas" pitchFamily="49" charset="0"/>
              </a:rPr>
              <a:t>]</a:t>
            </a:r>
            <a:r>
              <a:rPr lang="zh-CN" altLang="en-US" sz="2000" dirty="0">
                <a:latin typeface="Consolas" pitchFamily="49" charset="0"/>
                <a:ea typeface="楷体" pitchFamily="49" charset="-122"/>
                <a:cs typeface="Consolas" pitchFamily="49" charset="0"/>
              </a:rPr>
              <a:t>表示考虑过</a:t>
            </a:r>
            <a:r>
              <a:rPr lang="en-US" altLang="zh-CN" sz="2000" dirty="0">
                <a:latin typeface="Consolas" pitchFamily="49" charset="0"/>
                <a:ea typeface="楷体" pitchFamily="49" charset="-122"/>
                <a:cs typeface="Consolas" pitchFamily="49" charset="0"/>
              </a:rPr>
              <a:t>0</a:t>
            </a:r>
            <a:r>
              <a:rPr lang="zh-CN" altLang="en-US" sz="2000" dirty="0">
                <a:latin typeface="Consolas" pitchFamily="49" charset="0"/>
                <a:ea typeface="楷体" pitchFamily="49" charset="-122"/>
                <a:cs typeface="Consolas" pitchFamily="49" charset="0"/>
              </a:rPr>
              <a:t>～</a:t>
            </a:r>
            <a:r>
              <a:rPr lang="en-US" altLang="zh-CN" sz="2000" i="1" dirty="0">
                <a:latin typeface="Consolas" pitchFamily="49" charset="0"/>
                <a:ea typeface="楷体" pitchFamily="49" charset="-122"/>
                <a:cs typeface="Consolas" pitchFamily="49" charset="0"/>
              </a:rPr>
              <a:t>x</a:t>
            </a:r>
            <a:r>
              <a:rPr lang="zh-CN" altLang="en-US" sz="2000" dirty="0">
                <a:latin typeface="Consolas" pitchFamily="49" charset="0"/>
                <a:ea typeface="楷体" pitchFamily="49" charset="-122"/>
                <a:cs typeface="Consolas" pitchFamily="49" charset="0"/>
              </a:rPr>
              <a:t>的顶点得到</a:t>
            </a:r>
            <a:r>
              <a:rPr lang="en-US" altLang="zh-CN" sz="2000" i="1" dirty="0" err="1">
                <a:latin typeface="Consolas" pitchFamily="49" charset="0"/>
                <a:ea typeface="楷体" pitchFamily="49" charset="-122"/>
                <a:cs typeface="Consolas" pitchFamily="49" charset="0"/>
              </a:rPr>
              <a:t>i</a:t>
            </a:r>
            <a:r>
              <a:rPr lang="en-US" altLang="zh-CN" sz="2000" dirty="0" err="1">
                <a:solidFill>
                  <a:srgbClr val="FF00FF"/>
                </a:solidFill>
                <a:latin typeface="Consolas" pitchFamily="49" charset="0"/>
                <a:ea typeface="楷体" pitchFamily="49" charset="-122"/>
                <a:cs typeface="Consolas" pitchFamily="49" charset="0"/>
                <a:sym typeface="Wingdings"/>
              </a:rPr>
              <a:t></a:t>
            </a:r>
            <a:r>
              <a:rPr lang="en-US" altLang="zh-CN" sz="2000" i="1" dirty="0" err="1">
                <a:latin typeface="Consolas" pitchFamily="49" charset="0"/>
                <a:ea typeface="楷体" pitchFamily="49" charset="-122"/>
                <a:cs typeface="Consolas" pitchFamily="49" charset="0"/>
              </a:rPr>
              <a:t>j</a:t>
            </a:r>
            <a:r>
              <a:rPr lang="zh-CN" altLang="en-US" sz="2000" dirty="0">
                <a:latin typeface="Consolas" pitchFamily="49" charset="0"/>
                <a:ea typeface="楷体" pitchFamily="49" charset="-122"/>
                <a:cs typeface="Consolas" pitchFamily="49" charset="0"/>
              </a:rPr>
              <a:t>的最短路径，存放该路径上顶点</a:t>
            </a:r>
            <a:r>
              <a:rPr lang="en-US" altLang="zh-CN" sz="2000" i="1" dirty="0">
                <a:latin typeface="Consolas" pitchFamily="49" charset="0"/>
                <a:ea typeface="楷体" pitchFamily="49" charset="-122"/>
                <a:cs typeface="Consolas" pitchFamily="49" charset="0"/>
              </a:rPr>
              <a:t>j</a:t>
            </a:r>
            <a:r>
              <a:rPr lang="zh-CN" altLang="en-US" sz="2000" dirty="0">
                <a:latin typeface="Consolas" pitchFamily="49" charset="0"/>
                <a:ea typeface="楷体" pitchFamily="49" charset="-122"/>
                <a:cs typeface="Consolas" pitchFamily="49" charset="0"/>
              </a:rPr>
              <a:t>的前一个顶点编号。</a:t>
            </a:r>
          </a:p>
        </p:txBody>
      </p:sp>
      <p:grpSp>
        <p:nvGrpSpPr>
          <p:cNvPr id="12" name="组合 35">
            <a:extLst>
              <a:ext uri="{FF2B5EF4-FFF2-40B4-BE49-F238E27FC236}">
                <a16:creationId xmlns:a16="http://schemas.microsoft.com/office/drawing/2014/main" id="{2BAB0F83-15A2-2BC7-79FB-87DB1042B99E}"/>
              </a:ext>
            </a:extLst>
          </p:cNvPr>
          <p:cNvGrpSpPr/>
          <p:nvPr/>
        </p:nvGrpSpPr>
        <p:grpSpPr>
          <a:xfrm>
            <a:off x="293474" y="5270457"/>
            <a:ext cx="4644250" cy="1213900"/>
            <a:chOff x="2643174" y="3645238"/>
            <a:chExt cx="4644250" cy="1213900"/>
          </a:xfrm>
        </p:grpSpPr>
        <p:sp>
          <p:nvSpPr>
            <p:cNvPr id="13" name="Oval 7">
              <a:extLst>
                <a:ext uri="{FF2B5EF4-FFF2-40B4-BE49-F238E27FC236}">
                  <a16:creationId xmlns:a16="http://schemas.microsoft.com/office/drawing/2014/main" id="{856B5892-72BC-B940-CE1E-184407C06E0E}"/>
                </a:ext>
              </a:extLst>
            </p:cNvPr>
            <p:cNvSpPr>
              <a:spLocks noChangeArrowheads="1"/>
            </p:cNvSpPr>
            <p:nvPr/>
          </p:nvSpPr>
          <p:spPr bwMode="auto">
            <a:xfrm>
              <a:off x="2643174" y="3683338"/>
              <a:ext cx="612000" cy="576263"/>
            </a:xfrm>
            <a:prstGeom prst="ellipse">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anchor="ctr"/>
            <a:lstStyle/>
            <a:p>
              <a:pPr algn="ctr">
                <a:spcBef>
                  <a:spcPct val="0"/>
                </a:spcBef>
              </a:pPr>
              <a:r>
                <a:rPr lang="en-US" altLang="zh-CN" sz="2000" i="1" dirty="0" err="1">
                  <a:solidFill>
                    <a:srgbClr val="3333FF"/>
                  </a:solidFill>
                  <a:latin typeface="Consolas" pitchFamily="49" charset="0"/>
                  <a:cs typeface="Consolas" pitchFamily="49" charset="0"/>
                </a:rPr>
                <a:t>i</a:t>
              </a:r>
              <a:endParaRPr lang="en-US" altLang="zh-CN" sz="2000" i="1" dirty="0">
                <a:solidFill>
                  <a:srgbClr val="3333FF"/>
                </a:solidFill>
                <a:latin typeface="Consolas" pitchFamily="49" charset="0"/>
                <a:cs typeface="Consolas" pitchFamily="49" charset="0"/>
              </a:endParaRPr>
            </a:p>
          </p:txBody>
        </p:sp>
        <p:sp>
          <p:nvSpPr>
            <p:cNvPr id="14" name="Oval 8">
              <a:extLst>
                <a:ext uri="{FF2B5EF4-FFF2-40B4-BE49-F238E27FC236}">
                  <a16:creationId xmlns:a16="http://schemas.microsoft.com/office/drawing/2014/main" id="{329F51B3-B75B-FF67-2CA2-E5BB5A203347}"/>
                </a:ext>
              </a:extLst>
            </p:cNvPr>
            <p:cNvSpPr>
              <a:spLocks noChangeArrowheads="1"/>
            </p:cNvSpPr>
            <p:nvPr/>
          </p:nvSpPr>
          <p:spPr bwMode="auto">
            <a:xfrm>
              <a:off x="6675424" y="3683338"/>
              <a:ext cx="612000" cy="576263"/>
            </a:xfrm>
            <a:prstGeom prst="ellipse">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anchor="ctr"/>
            <a:lstStyle/>
            <a:p>
              <a:pPr algn="ctr">
                <a:spcBef>
                  <a:spcPct val="0"/>
                </a:spcBef>
              </a:pPr>
              <a:r>
                <a:rPr lang="en-US" altLang="zh-CN" sz="2000" i="1">
                  <a:solidFill>
                    <a:srgbClr val="3333FF"/>
                  </a:solidFill>
                  <a:latin typeface="Consolas" pitchFamily="49" charset="0"/>
                  <a:cs typeface="Consolas" pitchFamily="49" charset="0"/>
                </a:rPr>
                <a:t>j</a:t>
              </a:r>
            </a:p>
          </p:txBody>
        </p:sp>
        <p:sp>
          <p:nvSpPr>
            <p:cNvPr id="15" name="Freeform 19">
              <a:extLst>
                <a:ext uri="{FF2B5EF4-FFF2-40B4-BE49-F238E27FC236}">
                  <a16:creationId xmlns:a16="http://schemas.microsoft.com/office/drawing/2014/main" id="{2AE1AF60-BEFB-50D7-376D-A4E672E25D61}"/>
                </a:ext>
              </a:extLst>
            </p:cNvPr>
            <p:cNvSpPr>
              <a:spLocks/>
            </p:cNvSpPr>
            <p:nvPr/>
          </p:nvSpPr>
          <p:spPr bwMode="auto">
            <a:xfrm>
              <a:off x="3267061" y="3962738"/>
              <a:ext cx="587375" cy="7938"/>
            </a:xfrm>
            <a:custGeom>
              <a:avLst/>
              <a:gdLst/>
              <a:ahLst/>
              <a:cxnLst>
                <a:cxn ang="0">
                  <a:pos x="0" y="0"/>
                </a:cxn>
                <a:cxn ang="0">
                  <a:pos x="370" y="5"/>
                </a:cxn>
              </a:cxnLst>
              <a:rect l="0" t="0" r="r" b="b"/>
              <a:pathLst>
                <a:path w="370" h="5">
                  <a:moveTo>
                    <a:pt x="0" y="0"/>
                  </a:moveTo>
                  <a:lnTo>
                    <a:pt x="370" y="5"/>
                  </a:lnTo>
                </a:path>
              </a:pathLst>
            </a:custGeom>
            <a:ln>
              <a:headEnd/>
              <a:tailEnd type="stealth" w="med" len="lg"/>
            </a:ln>
          </p:spPr>
          <p:style>
            <a:lnRef idx="2">
              <a:schemeClr val="accent5"/>
            </a:lnRef>
            <a:fillRef idx="0">
              <a:schemeClr val="accent5"/>
            </a:fillRef>
            <a:effectRef idx="1">
              <a:schemeClr val="accent5"/>
            </a:effectRef>
            <a:fontRef idx="minor">
              <a:schemeClr val="tx1"/>
            </a:fontRef>
          </p:style>
          <p:txBody>
            <a:bodyPr wrap="none"/>
            <a:lstStyle/>
            <a:p>
              <a:endParaRPr lang="zh-CN" altLang="en-US">
                <a:latin typeface="Consolas" pitchFamily="49" charset="0"/>
                <a:cs typeface="Consolas" pitchFamily="49" charset="0"/>
              </a:endParaRPr>
            </a:p>
          </p:txBody>
        </p:sp>
        <p:sp>
          <p:nvSpPr>
            <p:cNvPr id="16" name="Text Box 20">
              <a:extLst>
                <a:ext uri="{FF2B5EF4-FFF2-40B4-BE49-F238E27FC236}">
                  <a16:creationId xmlns:a16="http://schemas.microsoft.com/office/drawing/2014/main" id="{2425E460-9953-ADCA-37A1-9A77996FCC96}"/>
                </a:ext>
              </a:extLst>
            </p:cNvPr>
            <p:cNvSpPr txBox="1">
              <a:spLocks noChangeArrowheads="1"/>
            </p:cNvSpPr>
            <p:nvPr/>
          </p:nvSpPr>
          <p:spPr bwMode="auto">
            <a:xfrm>
              <a:off x="3857620" y="3645238"/>
              <a:ext cx="1296987" cy="457200"/>
            </a:xfrm>
            <a:prstGeom prst="rect">
              <a:avLst/>
            </a:prstGeom>
            <a:noFill/>
            <a:ln w="19050" algn="ctr">
              <a:noFill/>
              <a:miter lim="800000"/>
              <a:headEnd/>
              <a:tailEnd type="none" w="med" len="lg"/>
            </a:ln>
            <a:effectLst/>
          </p:spPr>
          <p:txBody>
            <a:bodyPr>
              <a:spAutoFit/>
            </a:bodyPr>
            <a:lstStyle/>
            <a:p>
              <a:pPr algn="ctr"/>
              <a:r>
                <a:rPr lang="en-US" altLang="zh-CN">
                  <a:latin typeface="Consolas" pitchFamily="49" charset="0"/>
                  <a:cs typeface="Consolas" pitchFamily="49" charset="0"/>
                </a:rPr>
                <a:t>……</a:t>
              </a:r>
            </a:p>
          </p:txBody>
        </p:sp>
        <p:sp>
          <p:nvSpPr>
            <p:cNvPr id="17" name="Freeform 21">
              <a:extLst>
                <a:ext uri="{FF2B5EF4-FFF2-40B4-BE49-F238E27FC236}">
                  <a16:creationId xmlns:a16="http://schemas.microsoft.com/office/drawing/2014/main" id="{2347F69A-00C0-1DD3-7A67-4C55B382B6D9}"/>
                </a:ext>
              </a:extLst>
            </p:cNvPr>
            <p:cNvSpPr>
              <a:spLocks/>
            </p:cNvSpPr>
            <p:nvPr/>
          </p:nvSpPr>
          <p:spPr bwMode="auto">
            <a:xfrm>
              <a:off x="6000760" y="3970994"/>
              <a:ext cx="674664" cy="0"/>
            </a:xfrm>
            <a:custGeom>
              <a:avLst/>
              <a:gdLst/>
              <a:ahLst/>
              <a:cxnLst>
                <a:cxn ang="0">
                  <a:pos x="0" y="0"/>
                </a:cxn>
                <a:cxn ang="0">
                  <a:pos x="285" y="4"/>
                </a:cxn>
              </a:cxnLst>
              <a:rect l="0" t="0" r="r" b="b"/>
              <a:pathLst>
                <a:path w="285" h="4">
                  <a:moveTo>
                    <a:pt x="0" y="0"/>
                  </a:moveTo>
                  <a:lnTo>
                    <a:pt x="285" y="4"/>
                  </a:lnTo>
                </a:path>
              </a:pathLst>
            </a:custGeom>
            <a:ln>
              <a:headEnd/>
              <a:tailEnd type="stealth" w="med" len="lg"/>
            </a:ln>
          </p:spPr>
          <p:style>
            <a:lnRef idx="2">
              <a:schemeClr val="accent5"/>
            </a:lnRef>
            <a:fillRef idx="0">
              <a:schemeClr val="accent5"/>
            </a:fillRef>
            <a:effectRef idx="1">
              <a:schemeClr val="accent5"/>
            </a:effectRef>
            <a:fontRef idx="minor">
              <a:schemeClr val="tx1"/>
            </a:fontRef>
          </p:style>
          <p:txBody>
            <a:bodyPr wrap="none"/>
            <a:lstStyle/>
            <a:p>
              <a:endParaRPr lang="zh-CN" altLang="en-US">
                <a:latin typeface="Consolas" pitchFamily="49" charset="0"/>
                <a:cs typeface="Consolas" pitchFamily="49" charset="0"/>
              </a:endParaRPr>
            </a:p>
          </p:txBody>
        </p:sp>
        <p:sp>
          <p:nvSpPr>
            <p:cNvPr id="18" name="Oval 25">
              <a:extLst>
                <a:ext uri="{FF2B5EF4-FFF2-40B4-BE49-F238E27FC236}">
                  <a16:creationId xmlns:a16="http://schemas.microsoft.com/office/drawing/2014/main" id="{91245B25-FE41-E87E-D8CD-087A5C3BB5A5}"/>
                </a:ext>
              </a:extLst>
            </p:cNvPr>
            <p:cNvSpPr>
              <a:spLocks noChangeArrowheads="1"/>
            </p:cNvSpPr>
            <p:nvPr/>
          </p:nvSpPr>
          <p:spPr bwMode="auto">
            <a:xfrm>
              <a:off x="5511786" y="3707976"/>
              <a:ext cx="540000" cy="504000"/>
            </a:xfrm>
            <a:prstGeom prst="ellipse">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anchor="ctr"/>
            <a:lstStyle/>
            <a:p>
              <a:pPr algn="ctr">
                <a:spcBef>
                  <a:spcPct val="0"/>
                </a:spcBef>
              </a:pPr>
              <a:r>
                <a:rPr lang="en-US" altLang="zh-CN" sz="2200" i="1" dirty="0">
                  <a:solidFill>
                    <a:srgbClr val="FF0000"/>
                  </a:solidFill>
                  <a:latin typeface="Consolas" pitchFamily="49" charset="0"/>
                  <a:cs typeface="Consolas" pitchFamily="49" charset="0"/>
                </a:rPr>
                <a:t>b</a:t>
              </a:r>
            </a:p>
          </p:txBody>
        </p:sp>
        <p:sp>
          <p:nvSpPr>
            <p:cNvPr id="19" name="Freeform 26">
              <a:extLst>
                <a:ext uri="{FF2B5EF4-FFF2-40B4-BE49-F238E27FC236}">
                  <a16:creationId xmlns:a16="http://schemas.microsoft.com/office/drawing/2014/main" id="{BEDE84C9-0512-7423-015B-4968C504C82B}"/>
                </a:ext>
              </a:extLst>
            </p:cNvPr>
            <p:cNvSpPr>
              <a:spLocks/>
            </p:cNvSpPr>
            <p:nvPr/>
          </p:nvSpPr>
          <p:spPr bwMode="auto">
            <a:xfrm>
              <a:off x="5059349" y="3965913"/>
              <a:ext cx="452437" cy="1588"/>
            </a:xfrm>
            <a:custGeom>
              <a:avLst/>
              <a:gdLst/>
              <a:ahLst/>
              <a:cxnLst>
                <a:cxn ang="0">
                  <a:pos x="0" y="0"/>
                </a:cxn>
                <a:cxn ang="0">
                  <a:pos x="285" y="4"/>
                </a:cxn>
              </a:cxnLst>
              <a:rect l="0" t="0" r="r" b="b"/>
              <a:pathLst>
                <a:path w="285" h="4">
                  <a:moveTo>
                    <a:pt x="0" y="0"/>
                  </a:moveTo>
                  <a:lnTo>
                    <a:pt x="285" y="4"/>
                  </a:lnTo>
                </a:path>
              </a:pathLst>
            </a:custGeom>
            <a:ln>
              <a:headEnd/>
              <a:tailEnd type="stealth" w="med" len="lg"/>
            </a:ln>
          </p:spPr>
          <p:style>
            <a:lnRef idx="2">
              <a:schemeClr val="accent5"/>
            </a:lnRef>
            <a:fillRef idx="0">
              <a:schemeClr val="accent5"/>
            </a:fillRef>
            <a:effectRef idx="1">
              <a:schemeClr val="accent5"/>
            </a:effectRef>
            <a:fontRef idx="minor">
              <a:schemeClr val="tx1"/>
            </a:fontRef>
          </p:style>
          <p:txBody>
            <a:bodyPr wrap="none"/>
            <a:lstStyle/>
            <a:p>
              <a:endParaRPr lang="zh-CN" altLang="en-US">
                <a:latin typeface="Consolas" pitchFamily="49" charset="0"/>
                <a:cs typeface="Consolas" pitchFamily="49" charset="0"/>
              </a:endParaRPr>
            </a:p>
          </p:txBody>
        </p:sp>
        <p:grpSp>
          <p:nvGrpSpPr>
            <p:cNvPr id="20" name="组合 27">
              <a:extLst>
                <a:ext uri="{FF2B5EF4-FFF2-40B4-BE49-F238E27FC236}">
                  <a16:creationId xmlns:a16="http://schemas.microsoft.com/office/drawing/2014/main" id="{CEF277D0-0126-6D9E-FA09-29120677EB38}"/>
                </a:ext>
              </a:extLst>
            </p:cNvPr>
            <p:cNvGrpSpPr/>
            <p:nvPr/>
          </p:nvGrpSpPr>
          <p:grpSpPr>
            <a:xfrm>
              <a:off x="3182895" y="4292954"/>
              <a:ext cx="3643338" cy="566184"/>
              <a:chOff x="2074846" y="3303586"/>
              <a:chExt cx="3643338" cy="566184"/>
            </a:xfrm>
          </p:grpSpPr>
          <p:sp>
            <p:nvSpPr>
              <p:cNvPr id="21" name="TextBox 21">
                <a:extLst>
                  <a:ext uri="{FF2B5EF4-FFF2-40B4-BE49-F238E27FC236}">
                    <a16:creationId xmlns:a16="http://schemas.microsoft.com/office/drawing/2014/main" id="{F361C81F-FBF5-5D80-D8F8-17094A94703E}"/>
                  </a:ext>
                </a:extLst>
              </p:cNvPr>
              <p:cNvSpPr txBox="1"/>
              <p:nvPr/>
            </p:nvSpPr>
            <p:spPr>
              <a:xfrm>
                <a:off x="2821009" y="3500438"/>
                <a:ext cx="2320975" cy="369332"/>
              </a:xfrm>
              <a:prstGeom prst="rect">
                <a:avLst/>
              </a:prstGeom>
              <a:noFill/>
            </p:spPr>
            <p:txBody>
              <a:bodyPr wrap="square" rtlCol="0">
                <a:spAutoFit/>
              </a:bodyPr>
              <a:lstStyle/>
              <a:p>
                <a:r>
                  <a:rPr lang="nb-NO" altLang="zh-CN" sz="1800" dirty="0">
                    <a:latin typeface="Consolas" pitchFamily="49" charset="0"/>
                    <a:cs typeface="Consolas" pitchFamily="49" charset="0"/>
                  </a:rPr>
                  <a:t>path</a:t>
                </a:r>
                <a:r>
                  <a:rPr lang="nb-NO" altLang="zh-CN" sz="1800" i="1" baseline="-25000" dirty="0">
                    <a:latin typeface="Consolas" pitchFamily="49" charset="0"/>
                    <a:cs typeface="Consolas" pitchFamily="49" charset="0"/>
                  </a:rPr>
                  <a:t>k</a:t>
                </a:r>
                <a:r>
                  <a:rPr lang="en-US" altLang="zh-CN" sz="1800" baseline="-25000" dirty="0">
                    <a:latin typeface="Consolas" pitchFamily="49" charset="0"/>
                    <a:cs typeface="Consolas" pitchFamily="49" charset="0"/>
                  </a:rPr>
                  <a:t>-1</a:t>
                </a:r>
                <a:r>
                  <a:rPr lang="nb-NO" altLang="zh-CN" sz="1800" dirty="0">
                    <a:latin typeface="Consolas" pitchFamily="49" charset="0"/>
                    <a:cs typeface="Consolas" pitchFamily="49" charset="0"/>
                  </a:rPr>
                  <a:t>[</a:t>
                </a:r>
                <a:r>
                  <a:rPr lang="nb-NO" altLang="zh-CN" sz="1800" i="1" dirty="0">
                    <a:latin typeface="Consolas" pitchFamily="49" charset="0"/>
                    <a:cs typeface="Consolas" pitchFamily="49" charset="0"/>
                  </a:rPr>
                  <a:t>i</a:t>
                </a:r>
                <a:r>
                  <a:rPr lang="nb-NO" altLang="zh-CN" sz="1800" dirty="0">
                    <a:latin typeface="Consolas" pitchFamily="49" charset="0"/>
                    <a:cs typeface="Consolas" pitchFamily="49" charset="0"/>
                  </a:rPr>
                  <a:t>][</a:t>
                </a:r>
                <a:r>
                  <a:rPr lang="nb-NO" altLang="zh-CN" sz="1800" i="1" dirty="0">
                    <a:latin typeface="Consolas" pitchFamily="49" charset="0"/>
                    <a:cs typeface="Consolas" pitchFamily="49" charset="0"/>
                  </a:rPr>
                  <a:t>j</a:t>
                </a:r>
                <a:r>
                  <a:rPr lang="nb-NO" altLang="zh-CN" sz="1800" dirty="0">
                    <a:latin typeface="Consolas" pitchFamily="49" charset="0"/>
                    <a:cs typeface="Consolas" pitchFamily="49" charset="0"/>
                  </a:rPr>
                  <a:t>]=</a:t>
                </a:r>
                <a:r>
                  <a:rPr lang="nb-NO" altLang="zh-CN" sz="1800" i="1" dirty="0">
                    <a:solidFill>
                      <a:srgbClr val="FF0000"/>
                    </a:solidFill>
                    <a:latin typeface="Consolas" pitchFamily="49" charset="0"/>
                    <a:cs typeface="Consolas" pitchFamily="49" charset="0"/>
                  </a:rPr>
                  <a:t>b</a:t>
                </a:r>
                <a:endParaRPr lang="zh-CN" altLang="en-US" sz="1800" dirty="0">
                  <a:solidFill>
                    <a:srgbClr val="FF0000"/>
                  </a:solidFill>
                  <a:latin typeface="Consolas" pitchFamily="49" charset="0"/>
                  <a:cs typeface="Consolas" pitchFamily="49" charset="0"/>
                </a:endParaRPr>
              </a:p>
            </p:txBody>
          </p:sp>
          <p:sp>
            <p:nvSpPr>
              <p:cNvPr id="22" name="右大括号 21">
                <a:extLst>
                  <a:ext uri="{FF2B5EF4-FFF2-40B4-BE49-F238E27FC236}">
                    <a16:creationId xmlns:a16="http://schemas.microsoft.com/office/drawing/2014/main" id="{B8C70CC0-94D2-AFF8-6281-AB539D32763E}"/>
                  </a:ext>
                </a:extLst>
              </p:cNvPr>
              <p:cNvSpPr/>
              <p:nvPr/>
            </p:nvSpPr>
            <p:spPr>
              <a:xfrm rot="5400000">
                <a:off x="3770515" y="1607917"/>
                <a:ext cx="252000" cy="3643338"/>
              </a:xfrm>
              <a:prstGeom prst="rightBrace">
                <a:avLst/>
              </a:prstGeom>
              <a:ln>
                <a:tailEnd type="none"/>
              </a:ln>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sz="1800">
                  <a:latin typeface="Consolas" pitchFamily="49" charset="0"/>
                  <a:cs typeface="Consolas" pitchFamily="49" charset="0"/>
                </a:endParaRPr>
              </a:p>
            </p:txBody>
          </p:sp>
        </p:grpSp>
      </p:grpSp>
      <p:grpSp>
        <p:nvGrpSpPr>
          <p:cNvPr id="23" name="组合 36">
            <a:extLst>
              <a:ext uri="{FF2B5EF4-FFF2-40B4-BE49-F238E27FC236}">
                <a16:creationId xmlns:a16="http://schemas.microsoft.com/office/drawing/2014/main" id="{AD9E7D91-F43E-E10E-2CB9-3F7FA484224A}"/>
              </a:ext>
            </a:extLst>
          </p:cNvPr>
          <p:cNvGrpSpPr/>
          <p:nvPr/>
        </p:nvGrpSpPr>
        <p:grpSpPr>
          <a:xfrm>
            <a:off x="793540" y="3554021"/>
            <a:ext cx="5201070" cy="1828800"/>
            <a:chOff x="3162286" y="1918038"/>
            <a:chExt cx="5201070" cy="1828800"/>
          </a:xfrm>
        </p:grpSpPr>
        <p:sp>
          <p:nvSpPr>
            <p:cNvPr id="24" name="Oval 6">
              <a:extLst>
                <a:ext uri="{FF2B5EF4-FFF2-40B4-BE49-F238E27FC236}">
                  <a16:creationId xmlns:a16="http://schemas.microsoft.com/office/drawing/2014/main" id="{BC75FBE9-C0FF-AE7A-E6CC-2FC1889584F8}"/>
                </a:ext>
              </a:extLst>
            </p:cNvPr>
            <p:cNvSpPr>
              <a:spLocks noChangeArrowheads="1"/>
            </p:cNvSpPr>
            <p:nvPr/>
          </p:nvSpPr>
          <p:spPr bwMode="auto">
            <a:xfrm>
              <a:off x="4514836" y="1918038"/>
              <a:ext cx="612000" cy="576000"/>
            </a:xfrm>
            <a:prstGeom prst="ellipse">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anchor="ctr"/>
            <a:lstStyle/>
            <a:p>
              <a:pPr algn="ctr">
                <a:spcBef>
                  <a:spcPct val="0"/>
                </a:spcBef>
              </a:pPr>
              <a:r>
                <a:rPr lang="en-US" altLang="zh-CN" sz="2000" i="1" dirty="0">
                  <a:solidFill>
                    <a:srgbClr val="3333FF"/>
                  </a:solidFill>
                  <a:latin typeface="Consolas" pitchFamily="49" charset="0"/>
                  <a:cs typeface="Consolas" pitchFamily="49" charset="0"/>
                </a:rPr>
                <a:t>k</a:t>
              </a:r>
              <a:endParaRPr lang="en-US" altLang="zh-CN" sz="2000" dirty="0">
                <a:solidFill>
                  <a:srgbClr val="3333FF"/>
                </a:solidFill>
                <a:latin typeface="Consolas" pitchFamily="49" charset="0"/>
                <a:cs typeface="Consolas" pitchFamily="49" charset="0"/>
              </a:endParaRPr>
            </a:p>
          </p:txBody>
        </p:sp>
        <p:sp>
          <p:nvSpPr>
            <p:cNvPr id="25" name="Line 9">
              <a:extLst>
                <a:ext uri="{FF2B5EF4-FFF2-40B4-BE49-F238E27FC236}">
                  <a16:creationId xmlns:a16="http://schemas.microsoft.com/office/drawing/2014/main" id="{48F7690D-D916-5C18-4DBF-54B4E210BB52}"/>
                </a:ext>
              </a:extLst>
            </p:cNvPr>
            <p:cNvSpPr>
              <a:spLocks noChangeShapeType="1"/>
            </p:cNvSpPr>
            <p:nvPr/>
          </p:nvSpPr>
          <p:spPr bwMode="auto">
            <a:xfrm flipV="1">
              <a:off x="3162286" y="3386476"/>
              <a:ext cx="358775" cy="360362"/>
            </a:xfrm>
            <a:prstGeom prst="line">
              <a:avLst/>
            </a:prstGeom>
            <a:ln>
              <a:headEnd/>
              <a:tailEnd type="stealth" w="med" len="lg"/>
            </a:ln>
          </p:spPr>
          <p:style>
            <a:lnRef idx="2">
              <a:schemeClr val="accent5"/>
            </a:lnRef>
            <a:fillRef idx="0">
              <a:schemeClr val="accent5"/>
            </a:fillRef>
            <a:effectRef idx="1">
              <a:schemeClr val="accent5"/>
            </a:effectRef>
            <a:fontRef idx="minor">
              <a:schemeClr val="tx1"/>
            </a:fontRef>
          </p:style>
          <p:txBody>
            <a:bodyPr wrap="none"/>
            <a:lstStyle/>
            <a:p>
              <a:endParaRPr lang="zh-CN" altLang="en-US">
                <a:latin typeface="Consolas" pitchFamily="49" charset="0"/>
                <a:cs typeface="Consolas" pitchFamily="49" charset="0"/>
              </a:endParaRPr>
            </a:p>
          </p:txBody>
        </p:sp>
        <p:sp>
          <p:nvSpPr>
            <p:cNvPr id="26" name="Text Box 10">
              <a:extLst>
                <a:ext uri="{FF2B5EF4-FFF2-40B4-BE49-F238E27FC236}">
                  <a16:creationId xmlns:a16="http://schemas.microsoft.com/office/drawing/2014/main" id="{2F849EAD-93D7-5188-52E8-194939DD4DF2}"/>
                </a:ext>
              </a:extLst>
            </p:cNvPr>
            <p:cNvSpPr txBox="1">
              <a:spLocks noChangeArrowheads="1"/>
            </p:cNvSpPr>
            <p:nvPr/>
          </p:nvSpPr>
          <p:spPr bwMode="auto">
            <a:xfrm rot="8100000">
              <a:off x="3506774" y="2926101"/>
              <a:ext cx="647700" cy="457200"/>
            </a:xfrm>
            <a:prstGeom prst="rect">
              <a:avLst/>
            </a:prstGeom>
            <a:noFill/>
            <a:ln w="19050" algn="ctr">
              <a:noFill/>
              <a:miter lim="800000"/>
              <a:headEnd/>
              <a:tailEnd type="none" w="med" len="lg"/>
            </a:ln>
            <a:effectLst/>
          </p:spPr>
          <p:txBody>
            <a:bodyPr>
              <a:spAutoFit/>
            </a:bodyPr>
            <a:lstStyle/>
            <a:p>
              <a:pPr algn="ctr"/>
              <a:r>
                <a:rPr lang="en-US" altLang="zh-CN">
                  <a:latin typeface="Consolas" pitchFamily="49" charset="0"/>
                  <a:ea typeface="宋体" pitchFamily="2" charset="-122"/>
                  <a:cs typeface="Consolas" pitchFamily="49" charset="0"/>
                </a:rPr>
                <a:t>…</a:t>
              </a:r>
            </a:p>
          </p:txBody>
        </p:sp>
        <p:sp>
          <p:nvSpPr>
            <p:cNvPr id="27" name="Freeform 11">
              <a:extLst>
                <a:ext uri="{FF2B5EF4-FFF2-40B4-BE49-F238E27FC236}">
                  <a16:creationId xmlns:a16="http://schemas.microsoft.com/office/drawing/2014/main" id="{43763CE9-61D5-396A-7F14-CDC9CD99015A}"/>
                </a:ext>
              </a:extLst>
            </p:cNvPr>
            <p:cNvSpPr>
              <a:spLocks/>
            </p:cNvSpPr>
            <p:nvPr/>
          </p:nvSpPr>
          <p:spPr bwMode="auto">
            <a:xfrm>
              <a:off x="4052874" y="2356188"/>
              <a:ext cx="523875" cy="520700"/>
            </a:xfrm>
            <a:custGeom>
              <a:avLst/>
              <a:gdLst/>
              <a:ahLst/>
              <a:cxnLst>
                <a:cxn ang="0">
                  <a:pos x="0" y="328"/>
                </a:cxn>
                <a:cxn ang="0">
                  <a:pos x="330" y="0"/>
                </a:cxn>
              </a:cxnLst>
              <a:rect l="0" t="0" r="r" b="b"/>
              <a:pathLst>
                <a:path w="330" h="328">
                  <a:moveTo>
                    <a:pt x="0" y="328"/>
                  </a:moveTo>
                  <a:lnTo>
                    <a:pt x="330" y="0"/>
                  </a:lnTo>
                </a:path>
              </a:pathLst>
            </a:custGeom>
            <a:ln>
              <a:headEnd type="none" w="med" len="med"/>
              <a:tailEnd type="stealth" w="med" len="lg"/>
            </a:ln>
          </p:spPr>
          <p:style>
            <a:lnRef idx="2">
              <a:schemeClr val="accent5"/>
            </a:lnRef>
            <a:fillRef idx="0">
              <a:schemeClr val="accent5"/>
            </a:fillRef>
            <a:effectRef idx="1">
              <a:schemeClr val="accent5"/>
            </a:effectRef>
            <a:fontRef idx="minor">
              <a:schemeClr val="tx1"/>
            </a:fontRef>
          </p:style>
          <p:txBody>
            <a:bodyPr wrap="none"/>
            <a:lstStyle/>
            <a:p>
              <a:endParaRPr lang="zh-CN" altLang="en-US">
                <a:latin typeface="Consolas" pitchFamily="49" charset="0"/>
                <a:cs typeface="Consolas" pitchFamily="49" charset="0"/>
              </a:endParaRPr>
            </a:p>
          </p:txBody>
        </p:sp>
        <p:sp>
          <p:nvSpPr>
            <p:cNvPr id="28" name="Freeform 14">
              <a:extLst>
                <a:ext uri="{FF2B5EF4-FFF2-40B4-BE49-F238E27FC236}">
                  <a16:creationId xmlns:a16="http://schemas.microsoft.com/office/drawing/2014/main" id="{29902152-2C64-7D2E-DB8D-9C500E17AE4B}"/>
                </a:ext>
              </a:extLst>
            </p:cNvPr>
            <p:cNvSpPr>
              <a:spLocks/>
            </p:cNvSpPr>
            <p:nvPr/>
          </p:nvSpPr>
          <p:spPr bwMode="auto">
            <a:xfrm>
              <a:off x="5100641" y="2325112"/>
              <a:ext cx="285750" cy="220663"/>
            </a:xfrm>
            <a:custGeom>
              <a:avLst/>
              <a:gdLst/>
              <a:ahLst/>
              <a:cxnLst>
                <a:cxn ang="0">
                  <a:pos x="0" y="0"/>
                </a:cxn>
                <a:cxn ang="0">
                  <a:pos x="180" y="139"/>
                </a:cxn>
              </a:cxnLst>
              <a:rect l="0" t="0" r="r" b="b"/>
              <a:pathLst>
                <a:path w="180" h="139">
                  <a:moveTo>
                    <a:pt x="0" y="0"/>
                  </a:moveTo>
                  <a:lnTo>
                    <a:pt x="180" y="139"/>
                  </a:lnTo>
                </a:path>
              </a:pathLst>
            </a:custGeom>
            <a:ln>
              <a:headEnd/>
              <a:tailEnd type="stealth" w="med" len="lg"/>
            </a:ln>
          </p:spPr>
          <p:style>
            <a:lnRef idx="2">
              <a:schemeClr val="accent5"/>
            </a:lnRef>
            <a:fillRef idx="0">
              <a:schemeClr val="accent5"/>
            </a:fillRef>
            <a:effectRef idx="1">
              <a:schemeClr val="accent5"/>
            </a:effectRef>
            <a:fontRef idx="minor">
              <a:schemeClr val="tx1"/>
            </a:fontRef>
          </p:style>
          <p:txBody>
            <a:bodyPr wrap="none"/>
            <a:lstStyle/>
            <a:p>
              <a:endParaRPr lang="zh-CN" altLang="en-US">
                <a:latin typeface="Consolas" pitchFamily="49" charset="0"/>
                <a:cs typeface="Consolas" pitchFamily="49" charset="0"/>
              </a:endParaRPr>
            </a:p>
          </p:txBody>
        </p:sp>
        <p:sp>
          <p:nvSpPr>
            <p:cNvPr id="29" name="Freeform 15">
              <a:extLst>
                <a:ext uri="{FF2B5EF4-FFF2-40B4-BE49-F238E27FC236}">
                  <a16:creationId xmlns:a16="http://schemas.microsoft.com/office/drawing/2014/main" id="{82C221A8-6006-453E-05C0-10B7F38FE4B3}"/>
                </a:ext>
              </a:extLst>
            </p:cNvPr>
            <p:cNvSpPr>
              <a:spLocks/>
            </p:cNvSpPr>
            <p:nvPr/>
          </p:nvSpPr>
          <p:spPr bwMode="auto">
            <a:xfrm>
              <a:off x="6500826" y="3420495"/>
              <a:ext cx="331760" cy="318406"/>
            </a:xfrm>
            <a:custGeom>
              <a:avLst/>
              <a:gdLst/>
              <a:ahLst/>
              <a:cxnLst>
                <a:cxn ang="0">
                  <a:pos x="0" y="0"/>
                </a:cxn>
                <a:cxn ang="0">
                  <a:pos x="160" y="144"/>
                </a:cxn>
              </a:cxnLst>
              <a:rect l="0" t="0" r="r" b="b"/>
              <a:pathLst>
                <a:path w="160" h="144">
                  <a:moveTo>
                    <a:pt x="0" y="0"/>
                  </a:moveTo>
                  <a:lnTo>
                    <a:pt x="160" y="144"/>
                  </a:lnTo>
                </a:path>
              </a:pathLst>
            </a:custGeom>
            <a:ln>
              <a:headEnd/>
              <a:tailEnd type="stealth" w="med" len="lg"/>
            </a:ln>
          </p:spPr>
          <p:style>
            <a:lnRef idx="2">
              <a:schemeClr val="accent5"/>
            </a:lnRef>
            <a:fillRef idx="0">
              <a:schemeClr val="accent5"/>
            </a:fillRef>
            <a:effectRef idx="1">
              <a:schemeClr val="accent5"/>
            </a:effectRef>
            <a:fontRef idx="minor">
              <a:schemeClr val="tx1"/>
            </a:fontRef>
          </p:style>
          <p:txBody>
            <a:bodyPr wrap="none"/>
            <a:lstStyle/>
            <a:p>
              <a:endParaRPr lang="zh-CN" altLang="en-US">
                <a:latin typeface="Consolas" pitchFamily="49" charset="0"/>
                <a:cs typeface="Consolas" pitchFamily="49" charset="0"/>
              </a:endParaRPr>
            </a:p>
          </p:txBody>
        </p:sp>
        <p:sp>
          <p:nvSpPr>
            <p:cNvPr id="30" name="Text Box 16">
              <a:extLst>
                <a:ext uri="{FF2B5EF4-FFF2-40B4-BE49-F238E27FC236}">
                  <a16:creationId xmlns:a16="http://schemas.microsoft.com/office/drawing/2014/main" id="{980CCC32-7BDD-8845-963B-8CD1C47304CF}"/>
                </a:ext>
              </a:extLst>
            </p:cNvPr>
            <p:cNvSpPr txBox="1">
              <a:spLocks noChangeArrowheads="1"/>
            </p:cNvSpPr>
            <p:nvPr/>
          </p:nvSpPr>
          <p:spPr bwMode="auto">
            <a:xfrm rot="2147976">
              <a:off x="5316524" y="2410163"/>
              <a:ext cx="647700" cy="457200"/>
            </a:xfrm>
            <a:prstGeom prst="rect">
              <a:avLst/>
            </a:prstGeom>
            <a:noFill/>
            <a:ln w="19050" algn="ctr">
              <a:noFill/>
              <a:miter lim="800000"/>
              <a:headEnd/>
              <a:tailEnd type="none" w="med" len="lg"/>
            </a:ln>
            <a:effectLst/>
          </p:spPr>
          <p:txBody>
            <a:bodyPr>
              <a:spAutoFit/>
            </a:bodyPr>
            <a:lstStyle/>
            <a:p>
              <a:pPr algn="ctr"/>
              <a:r>
                <a:rPr lang="en-US" altLang="zh-CN" dirty="0">
                  <a:latin typeface="Consolas" pitchFamily="49" charset="0"/>
                  <a:ea typeface="宋体" pitchFamily="2" charset="-122"/>
                  <a:cs typeface="Consolas" pitchFamily="49" charset="0"/>
                </a:rPr>
                <a:t>…</a:t>
              </a:r>
            </a:p>
          </p:txBody>
        </p:sp>
        <p:sp>
          <p:nvSpPr>
            <p:cNvPr id="31" name="Oval 24">
              <a:extLst>
                <a:ext uri="{FF2B5EF4-FFF2-40B4-BE49-F238E27FC236}">
                  <a16:creationId xmlns:a16="http://schemas.microsoft.com/office/drawing/2014/main" id="{F5E68EE6-3301-D3BB-00F1-8B8C228184B2}"/>
                </a:ext>
              </a:extLst>
            </p:cNvPr>
            <p:cNvSpPr>
              <a:spLocks noChangeArrowheads="1"/>
            </p:cNvSpPr>
            <p:nvPr/>
          </p:nvSpPr>
          <p:spPr bwMode="auto">
            <a:xfrm>
              <a:off x="5968986" y="3035638"/>
              <a:ext cx="576000" cy="540000"/>
            </a:xfrm>
            <a:prstGeom prst="ellipse">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anchor="ctr"/>
            <a:lstStyle/>
            <a:p>
              <a:pPr algn="ctr">
                <a:spcBef>
                  <a:spcPct val="0"/>
                </a:spcBef>
              </a:pPr>
              <a:r>
                <a:rPr lang="en-US" altLang="zh-CN" sz="2200" i="1" dirty="0">
                  <a:solidFill>
                    <a:srgbClr val="FF0000"/>
                  </a:solidFill>
                  <a:latin typeface="Consolas" pitchFamily="49" charset="0"/>
                  <a:cs typeface="Consolas" pitchFamily="49" charset="0"/>
                </a:rPr>
                <a:t>a</a:t>
              </a:r>
            </a:p>
          </p:txBody>
        </p:sp>
        <p:sp>
          <p:nvSpPr>
            <p:cNvPr id="32" name="Freeform 27">
              <a:extLst>
                <a:ext uri="{FF2B5EF4-FFF2-40B4-BE49-F238E27FC236}">
                  <a16:creationId xmlns:a16="http://schemas.microsoft.com/office/drawing/2014/main" id="{E05051C1-A259-7640-B4D1-5CFB7BEF8140}"/>
                </a:ext>
              </a:extLst>
            </p:cNvPr>
            <p:cNvSpPr>
              <a:spLocks/>
            </p:cNvSpPr>
            <p:nvPr/>
          </p:nvSpPr>
          <p:spPr bwMode="auto">
            <a:xfrm>
              <a:off x="5813411" y="2911813"/>
              <a:ext cx="254000" cy="228600"/>
            </a:xfrm>
            <a:custGeom>
              <a:avLst/>
              <a:gdLst/>
              <a:ahLst/>
              <a:cxnLst>
                <a:cxn ang="0">
                  <a:pos x="0" y="0"/>
                </a:cxn>
                <a:cxn ang="0">
                  <a:pos x="160" y="144"/>
                </a:cxn>
              </a:cxnLst>
              <a:rect l="0" t="0" r="r" b="b"/>
              <a:pathLst>
                <a:path w="160" h="144">
                  <a:moveTo>
                    <a:pt x="0" y="0"/>
                  </a:moveTo>
                  <a:lnTo>
                    <a:pt x="160" y="144"/>
                  </a:lnTo>
                </a:path>
              </a:pathLst>
            </a:custGeom>
            <a:ln>
              <a:headEnd/>
              <a:tailEnd type="stealth" w="med" len="lg"/>
            </a:ln>
          </p:spPr>
          <p:style>
            <a:lnRef idx="2">
              <a:schemeClr val="accent5"/>
            </a:lnRef>
            <a:fillRef idx="0">
              <a:schemeClr val="accent5"/>
            </a:fillRef>
            <a:effectRef idx="1">
              <a:schemeClr val="accent5"/>
            </a:effectRef>
            <a:fontRef idx="minor">
              <a:schemeClr val="tx1"/>
            </a:fontRef>
          </p:style>
          <p:txBody>
            <a:bodyPr wrap="none"/>
            <a:lstStyle/>
            <a:p>
              <a:endParaRPr lang="zh-CN" altLang="en-US">
                <a:latin typeface="Consolas" pitchFamily="49" charset="0"/>
                <a:cs typeface="Consolas" pitchFamily="49" charset="0"/>
              </a:endParaRPr>
            </a:p>
          </p:txBody>
        </p:sp>
        <p:grpSp>
          <p:nvGrpSpPr>
            <p:cNvPr id="33" name="组合 28">
              <a:extLst>
                <a:ext uri="{FF2B5EF4-FFF2-40B4-BE49-F238E27FC236}">
                  <a16:creationId xmlns:a16="http://schemas.microsoft.com/office/drawing/2014/main" id="{EB19B55A-98AD-D2AC-EDB1-014613D01C3B}"/>
                </a:ext>
              </a:extLst>
            </p:cNvPr>
            <p:cNvGrpSpPr/>
            <p:nvPr/>
          </p:nvGrpSpPr>
          <p:grpSpPr>
            <a:xfrm>
              <a:off x="5016730" y="2550208"/>
              <a:ext cx="3346626" cy="369332"/>
              <a:chOff x="3908681" y="1560840"/>
              <a:chExt cx="3346626" cy="369332"/>
            </a:xfrm>
          </p:grpSpPr>
          <p:sp>
            <p:nvSpPr>
              <p:cNvPr id="34" name="TextBox 22">
                <a:extLst>
                  <a:ext uri="{FF2B5EF4-FFF2-40B4-BE49-F238E27FC236}">
                    <a16:creationId xmlns:a16="http://schemas.microsoft.com/office/drawing/2014/main" id="{82D4CB8B-2AF7-A51B-09A9-81D448F4B137}"/>
                  </a:ext>
                </a:extLst>
              </p:cNvPr>
              <p:cNvSpPr txBox="1"/>
              <p:nvPr/>
            </p:nvSpPr>
            <p:spPr>
              <a:xfrm rot="2640977">
                <a:off x="4657815" y="1560840"/>
                <a:ext cx="2597492" cy="369332"/>
              </a:xfrm>
              <a:prstGeom prst="rect">
                <a:avLst/>
              </a:prstGeom>
              <a:noFill/>
              <a:ln>
                <a:noFill/>
              </a:ln>
            </p:spPr>
            <p:txBody>
              <a:bodyPr wrap="square" rtlCol="0">
                <a:spAutoFit/>
              </a:bodyPr>
              <a:lstStyle/>
              <a:p>
                <a:r>
                  <a:rPr lang="nb-NO" altLang="zh-CN" sz="1800" dirty="0">
                    <a:latin typeface="Consolas" pitchFamily="49" charset="0"/>
                    <a:cs typeface="Consolas" pitchFamily="49" charset="0"/>
                  </a:rPr>
                  <a:t>path</a:t>
                </a:r>
                <a:r>
                  <a:rPr lang="nb-NO" altLang="zh-CN" sz="1800" i="1" baseline="-25000" dirty="0">
                    <a:latin typeface="Consolas" pitchFamily="49" charset="0"/>
                    <a:cs typeface="Consolas" pitchFamily="49" charset="0"/>
                  </a:rPr>
                  <a:t>k</a:t>
                </a:r>
                <a:r>
                  <a:rPr lang="nb-NO" altLang="zh-CN" sz="1800" baseline="-25000" dirty="0">
                    <a:latin typeface="Consolas" pitchFamily="49" charset="0"/>
                    <a:cs typeface="Consolas" pitchFamily="49" charset="0"/>
                  </a:rPr>
                  <a:t>-1</a:t>
                </a:r>
                <a:r>
                  <a:rPr lang="nb-NO" altLang="zh-CN" sz="1800" dirty="0">
                    <a:latin typeface="Consolas" pitchFamily="49" charset="0"/>
                    <a:cs typeface="Consolas" pitchFamily="49" charset="0"/>
                  </a:rPr>
                  <a:t>[</a:t>
                </a:r>
                <a:r>
                  <a:rPr lang="nb-NO" altLang="zh-CN" sz="1800" i="1" dirty="0">
                    <a:latin typeface="Consolas" pitchFamily="49" charset="0"/>
                    <a:cs typeface="Consolas" pitchFamily="49" charset="0"/>
                  </a:rPr>
                  <a:t>k</a:t>
                </a:r>
                <a:r>
                  <a:rPr lang="nb-NO" altLang="zh-CN" sz="1800" dirty="0">
                    <a:latin typeface="Consolas" pitchFamily="49" charset="0"/>
                    <a:cs typeface="Consolas" pitchFamily="49" charset="0"/>
                  </a:rPr>
                  <a:t>][</a:t>
                </a:r>
                <a:r>
                  <a:rPr lang="nb-NO" altLang="zh-CN" sz="1800" i="1" dirty="0">
                    <a:latin typeface="Consolas" pitchFamily="49" charset="0"/>
                    <a:cs typeface="Consolas" pitchFamily="49" charset="0"/>
                  </a:rPr>
                  <a:t>j</a:t>
                </a:r>
                <a:r>
                  <a:rPr lang="nb-NO" altLang="zh-CN" sz="1800" dirty="0">
                    <a:latin typeface="Consolas" pitchFamily="49" charset="0"/>
                    <a:cs typeface="Consolas" pitchFamily="49" charset="0"/>
                  </a:rPr>
                  <a:t>]=</a:t>
                </a:r>
                <a:r>
                  <a:rPr lang="nb-NO" altLang="zh-CN" sz="1800" i="1" dirty="0">
                    <a:solidFill>
                      <a:srgbClr val="FF0000"/>
                    </a:solidFill>
                    <a:latin typeface="Consolas" pitchFamily="49" charset="0"/>
                    <a:cs typeface="Consolas" pitchFamily="49" charset="0"/>
                  </a:rPr>
                  <a:t>a</a:t>
                </a:r>
                <a:endParaRPr lang="zh-CN" altLang="en-US" sz="1800" dirty="0">
                  <a:solidFill>
                    <a:srgbClr val="FF0000"/>
                  </a:solidFill>
                  <a:latin typeface="Consolas" pitchFamily="49" charset="0"/>
                  <a:cs typeface="Consolas" pitchFamily="49" charset="0"/>
                </a:endParaRPr>
              </a:p>
            </p:txBody>
          </p:sp>
          <p:sp>
            <p:nvSpPr>
              <p:cNvPr id="35" name="右大括号 34">
                <a:extLst>
                  <a:ext uri="{FF2B5EF4-FFF2-40B4-BE49-F238E27FC236}">
                    <a16:creationId xmlns:a16="http://schemas.microsoft.com/office/drawing/2014/main" id="{427447E2-3EC8-A644-15BF-D3BFF2FF9D2E}"/>
                  </a:ext>
                </a:extLst>
              </p:cNvPr>
              <p:cNvSpPr/>
              <p:nvPr/>
            </p:nvSpPr>
            <p:spPr>
              <a:xfrm rot="18702633">
                <a:off x="5172909" y="351687"/>
                <a:ext cx="288000" cy="2816456"/>
              </a:xfrm>
              <a:prstGeom prst="rightBrace">
                <a:avLst/>
              </a:prstGeom>
              <a:ln>
                <a:tailEnd type="none"/>
              </a:ln>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sz="1800">
                  <a:latin typeface="Consolas" pitchFamily="49" charset="0"/>
                  <a:cs typeface="Consolas" pitchFamily="49" charset="0"/>
                </a:endParaRPr>
              </a:p>
            </p:txBody>
          </p:sp>
        </p:grpSp>
      </p:grpSp>
      <p:sp>
        <p:nvSpPr>
          <p:cNvPr id="36" name="TextBox 29">
            <a:extLst>
              <a:ext uri="{FF2B5EF4-FFF2-40B4-BE49-F238E27FC236}">
                <a16:creationId xmlns:a16="http://schemas.microsoft.com/office/drawing/2014/main" id="{AF278DAF-7FD7-2CDA-153D-C1A21616C490}"/>
              </a:ext>
            </a:extLst>
          </p:cNvPr>
          <p:cNvSpPr txBox="1"/>
          <p:nvPr/>
        </p:nvSpPr>
        <p:spPr>
          <a:xfrm>
            <a:off x="1489198" y="1930512"/>
            <a:ext cx="3857652" cy="430887"/>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pPr algn="ctr"/>
            <a:r>
              <a:rPr lang="zh-CN" altLang="en-US" sz="2200">
                <a:solidFill>
                  <a:srgbClr val="FF0000"/>
                </a:solidFill>
                <a:latin typeface="Consolas" pitchFamily="49" charset="0"/>
                <a:ea typeface="华文中宋" pitchFamily="2" charset="-122"/>
                <a:cs typeface="Consolas" pitchFamily="49" charset="0"/>
              </a:rPr>
              <a:t>如何用</a:t>
            </a:r>
            <a:r>
              <a:rPr lang="en-US" altLang="zh-CN" sz="2200">
                <a:solidFill>
                  <a:srgbClr val="FF0000"/>
                </a:solidFill>
                <a:latin typeface="Consolas" pitchFamily="49" charset="0"/>
                <a:ea typeface="华文中宋" pitchFamily="2" charset="-122"/>
                <a:cs typeface="Consolas" pitchFamily="49" charset="0"/>
              </a:rPr>
              <a:t>path</a:t>
            </a:r>
            <a:r>
              <a:rPr lang="zh-CN" altLang="en-US" sz="2200">
                <a:solidFill>
                  <a:srgbClr val="FF0000"/>
                </a:solidFill>
                <a:latin typeface="Consolas" pitchFamily="49" charset="0"/>
                <a:ea typeface="华文中宋" pitchFamily="2" charset="-122"/>
                <a:cs typeface="Consolas" pitchFamily="49" charset="0"/>
              </a:rPr>
              <a:t>存放最短路径？</a:t>
            </a:r>
          </a:p>
        </p:txBody>
      </p:sp>
      <p:sp>
        <p:nvSpPr>
          <p:cNvPr id="37" name="TextBox 31">
            <a:extLst>
              <a:ext uri="{FF2B5EF4-FFF2-40B4-BE49-F238E27FC236}">
                <a16:creationId xmlns:a16="http://schemas.microsoft.com/office/drawing/2014/main" id="{49D93768-E20C-2F19-2283-C1D93B4DD38D}"/>
              </a:ext>
            </a:extLst>
          </p:cNvPr>
          <p:cNvSpPr txBox="1"/>
          <p:nvPr/>
        </p:nvSpPr>
        <p:spPr>
          <a:xfrm>
            <a:off x="1055440" y="2863867"/>
            <a:ext cx="3786214" cy="453183"/>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tIns="72000" bIns="72000" rtlCol="0">
            <a:spAutoFit/>
          </a:bodyPr>
          <a:lstStyle/>
          <a:p>
            <a:pPr marL="457200" indent="-457200"/>
            <a:r>
              <a:rPr lang="zh-CN" altLang="en-US" sz="2000" dirty="0">
                <a:latin typeface="Consolas" pitchFamily="49" charset="0"/>
                <a:ea typeface="仿宋" pitchFamily="49" charset="-122"/>
                <a:cs typeface="Consolas" pitchFamily="49" charset="0"/>
                <a:sym typeface="Wingdings"/>
              </a:rPr>
              <a:t>  考虑过</a:t>
            </a:r>
            <a:r>
              <a:rPr lang="en-US" altLang="zh-CN" sz="2000" dirty="0">
                <a:latin typeface="Consolas" pitchFamily="49" charset="0"/>
                <a:ea typeface="仿宋" pitchFamily="49" charset="-122"/>
                <a:cs typeface="Consolas" pitchFamily="49" charset="0"/>
                <a:sym typeface="Wingdings"/>
              </a:rPr>
              <a:t>0</a:t>
            </a:r>
            <a:r>
              <a:rPr lang="zh-CN" altLang="en-US" sz="2000" dirty="0">
                <a:latin typeface="Consolas" pitchFamily="49" charset="0"/>
                <a:ea typeface="仿宋" pitchFamily="49" charset="-122"/>
                <a:cs typeface="Consolas" pitchFamily="49" charset="0"/>
                <a:sym typeface="Wingdings"/>
              </a:rPr>
              <a:t>～</a:t>
            </a:r>
            <a:r>
              <a:rPr lang="en-US" altLang="zh-CN" sz="2000" i="1" dirty="0">
                <a:latin typeface="Consolas" pitchFamily="49" charset="0"/>
                <a:ea typeface="仿宋" pitchFamily="49" charset="-122"/>
                <a:cs typeface="Consolas" pitchFamily="49" charset="0"/>
                <a:sym typeface="Wingdings"/>
              </a:rPr>
              <a:t>k</a:t>
            </a:r>
            <a:r>
              <a:rPr lang="en-US" altLang="zh-CN" sz="2000" dirty="0">
                <a:latin typeface="Consolas" pitchFamily="49" charset="0"/>
                <a:ea typeface="仿宋" pitchFamily="49" charset="-122"/>
                <a:cs typeface="Consolas" pitchFamily="49" charset="0"/>
                <a:sym typeface="Wingdings"/>
              </a:rPr>
              <a:t>-1</a:t>
            </a:r>
            <a:r>
              <a:rPr lang="zh-CN" altLang="en-US" sz="2000" dirty="0">
                <a:latin typeface="Consolas" pitchFamily="49" charset="0"/>
                <a:ea typeface="仿宋" pitchFamily="49" charset="-122"/>
                <a:cs typeface="Consolas" pitchFamily="49" charset="0"/>
                <a:sym typeface="Wingdings"/>
              </a:rPr>
              <a:t>顶点的情况</a:t>
            </a:r>
            <a:endParaRPr lang="zh-CN" altLang="en-US" sz="2000" dirty="0">
              <a:latin typeface="Consolas" pitchFamily="49" charset="0"/>
              <a:ea typeface="仿宋" pitchFamily="49" charset="-122"/>
              <a:cs typeface="Consolas" pitchFamily="49" charset="0"/>
            </a:endParaRPr>
          </a:p>
        </p:txBody>
      </p:sp>
      <p:sp>
        <p:nvSpPr>
          <p:cNvPr id="38" name="TextBox 32">
            <a:extLst>
              <a:ext uri="{FF2B5EF4-FFF2-40B4-BE49-F238E27FC236}">
                <a16:creationId xmlns:a16="http://schemas.microsoft.com/office/drawing/2014/main" id="{AD9A6DCE-DE51-9121-B682-E3DB8E67DD3C}"/>
              </a:ext>
            </a:extLst>
          </p:cNvPr>
          <p:cNvSpPr txBox="1"/>
          <p:nvPr/>
        </p:nvSpPr>
        <p:spPr>
          <a:xfrm>
            <a:off x="5894396" y="3202408"/>
            <a:ext cx="3286148" cy="453183"/>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tIns="72000" bIns="72000" rtlCol="0">
            <a:spAutoFit/>
          </a:bodyPr>
          <a:lstStyle/>
          <a:p>
            <a:r>
              <a:rPr lang="zh-CN" altLang="en-US" sz="2000">
                <a:latin typeface="Consolas" pitchFamily="49" charset="0"/>
                <a:ea typeface="仿宋" pitchFamily="49" charset="-122"/>
                <a:cs typeface="Consolas" pitchFamily="49" charset="0"/>
                <a:sym typeface="Wingdings"/>
              </a:rPr>
              <a:t>  现在考虑顶点</a:t>
            </a:r>
            <a:r>
              <a:rPr lang="en-US" altLang="zh-CN" sz="2000" i="1">
                <a:latin typeface="Consolas" pitchFamily="49" charset="0"/>
                <a:ea typeface="仿宋" pitchFamily="49" charset="-122"/>
                <a:cs typeface="Consolas" pitchFamily="49" charset="0"/>
                <a:sym typeface="Wingdings"/>
              </a:rPr>
              <a:t>k</a:t>
            </a:r>
            <a:endParaRPr lang="zh-CN" altLang="en-US" sz="2000" i="1">
              <a:latin typeface="Consolas" pitchFamily="49" charset="0"/>
              <a:ea typeface="仿宋" pitchFamily="49" charset="-122"/>
              <a:cs typeface="Consolas" pitchFamily="49" charset="0"/>
            </a:endParaRPr>
          </a:p>
        </p:txBody>
      </p:sp>
      <p:sp>
        <p:nvSpPr>
          <p:cNvPr id="39" name="任意多边形 37">
            <a:extLst>
              <a:ext uri="{FF2B5EF4-FFF2-40B4-BE49-F238E27FC236}">
                <a16:creationId xmlns:a16="http://schemas.microsoft.com/office/drawing/2014/main" id="{70F5DDB0-A91F-61FD-8529-669FBC0A3D58}"/>
              </a:ext>
            </a:extLst>
          </p:cNvPr>
          <p:cNvSpPr/>
          <p:nvPr/>
        </p:nvSpPr>
        <p:spPr>
          <a:xfrm>
            <a:off x="816287" y="3961736"/>
            <a:ext cx="3578942" cy="1547225"/>
          </a:xfrm>
          <a:custGeom>
            <a:avLst/>
            <a:gdLst>
              <a:gd name="connsiteX0" fmla="*/ 0 w 3578942"/>
              <a:gd name="connsiteY0" fmla="*/ 1548581 h 1548581"/>
              <a:gd name="connsiteX1" fmla="*/ 108155 w 3578942"/>
              <a:gd name="connsiteY1" fmla="*/ 1499420 h 1548581"/>
              <a:gd name="connsiteX2" fmla="*/ 226142 w 3578942"/>
              <a:gd name="connsiteY2" fmla="*/ 1420762 h 1548581"/>
              <a:gd name="connsiteX3" fmla="*/ 796413 w 3578942"/>
              <a:gd name="connsiteY3" fmla="*/ 889820 h 1548581"/>
              <a:gd name="connsiteX4" fmla="*/ 1376516 w 3578942"/>
              <a:gd name="connsiteY4" fmla="*/ 299884 h 1548581"/>
              <a:gd name="connsiteX5" fmla="*/ 1641987 w 3578942"/>
              <a:gd name="connsiteY5" fmla="*/ 34413 h 1548581"/>
              <a:gd name="connsiteX6" fmla="*/ 2271252 w 3578942"/>
              <a:gd name="connsiteY6" fmla="*/ 506362 h 1548581"/>
              <a:gd name="connsiteX7" fmla="*/ 3578942 w 3578942"/>
              <a:gd name="connsiteY7" fmla="*/ 1509252 h 1548581"/>
              <a:gd name="connsiteX0" fmla="*/ 0 w 3578942"/>
              <a:gd name="connsiteY0" fmla="*/ 1547225 h 1547225"/>
              <a:gd name="connsiteX1" fmla="*/ 108155 w 3578942"/>
              <a:gd name="connsiteY1" fmla="*/ 1498064 h 1547225"/>
              <a:gd name="connsiteX2" fmla="*/ 226142 w 3578942"/>
              <a:gd name="connsiteY2" fmla="*/ 1419406 h 1547225"/>
              <a:gd name="connsiteX3" fmla="*/ 796413 w 3578942"/>
              <a:gd name="connsiteY3" fmla="*/ 888464 h 1547225"/>
              <a:gd name="connsiteX4" fmla="*/ 1263137 w 3578942"/>
              <a:gd name="connsiteY4" fmla="*/ 306665 h 1547225"/>
              <a:gd name="connsiteX5" fmla="*/ 1641987 w 3578942"/>
              <a:gd name="connsiteY5" fmla="*/ 33057 h 1547225"/>
              <a:gd name="connsiteX6" fmla="*/ 2271252 w 3578942"/>
              <a:gd name="connsiteY6" fmla="*/ 505006 h 1547225"/>
              <a:gd name="connsiteX7" fmla="*/ 3578942 w 3578942"/>
              <a:gd name="connsiteY7" fmla="*/ 1507896 h 1547225"/>
              <a:gd name="connsiteX0" fmla="*/ 0 w 3578942"/>
              <a:gd name="connsiteY0" fmla="*/ 1547225 h 1547225"/>
              <a:gd name="connsiteX1" fmla="*/ 108155 w 3578942"/>
              <a:gd name="connsiteY1" fmla="*/ 1498064 h 1547225"/>
              <a:gd name="connsiteX2" fmla="*/ 226142 w 3578942"/>
              <a:gd name="connsiteY2" fmla="*/ 1419406 h 1547225"/>
              <a:gd name="connsiteX3" fmla="*/ 691633 w 3578942"/>
              <a:gd name="connsiteY3" fmla="*/ 878169 h 1547225"/>
              <a:gd name="connsiteX4" fmla="*/ 1263137 w 3578942"/>
              <a:gd name="connsiteY4" fmla="*/ 306665 h 1547225"/>
              <a:gd name="connsiteX5" fmla="*/ 1641987 w 3578942"/>
              <a:gd name="connsiteY5" fmla="*/ 33057 h 1547225"/>
              <a:gd name="connsiteX6" fmla="*/ 2271252 w 3578942"/>
              <a:gd name="connsiteY6" fmla="*/ 505006 h 1547225"/>
              <a:gd name="connsiteX7" fmla="*/ 3578942 w 3578942"/>
              <a:gd name="connsiteY7" fmla="*/ 1507896 h 1547225"/>
              <a:gd name="connsiteX0" fmla="*/ 0 w 3578942"/>
              <a:gd name="connsiteY0" fmla="*/ 1547225 h 1550042"/>
              <a:gd name="connsiteX1" fmla="*/ 108155 w 3578942"/>
              <a:gd name="connsiteY1" fmla="*/ 1498064 h 1550042"/>
              <a:gd name="connsiteX2" fmla="*/ 334443 w 3578942"/>
              <a:gd name="connsiteY2" fmla="*/ 1235359 h 1550042"/>
              <a:gd name="connsiteX3" fmla="*/ 691633 w 3578942"/>
              <a:gd name="connsiteY3" fmla="*/ 878169 h 1550042"/>
              <a:gd name="connsiteX4" fmla="*/ 1263137 w 3578942"/>
              <a:gd name="connsiteY4" fmla="*/ 306665 h 1550042"/>
              <a:gd name="connsiteX5" fmla="*/ 1641987 w 3578942"/>
              <a:gd name="connsiteY5" fmla="*/ 33057 h 1550042"/>
              <a:gd name="connsiteX6" fmla="*/ 2271252 w 3578942"/>
              <a:gd name="connsiteY6" fmla="*/ 505006 h 1550042"/>
              <a:gd name="connsiteX7" fmla="*/ 3578942 w 3578942"/>
              <a:gd name="connsiteY7" fmla="*/ 1507896 h 1550042"/>
              <a:gd name="connsiteX0" fmla="*/ 0 w 3578942"/>
              <a:gd name="connsiteY0" fmla="*/ 1547225 h 1547225"/>
              <a:gd name="connsiteX1" fmla="*/ 120129 w 3578942"/>
              <a:gd name="connsiteY1" fmla="*/ 1449672 h 1547225"/>
              <a:gd name="connsiteX2" fmla="*/ 334443 w 3578942"/>
              <a:gd name="connsiteY2" fmla="*/ 1235359 h 1547225"/>
              <a:gd name="connsiteX3" fmla="*/ 691633 w 3578942"/>
              <a:gd name="connsiteY3" fmla="*/ 878169 h 1547225"/>
              <a:gd name="connsiteX4" fmla="*/ 1263137 w 3578942"/>
              <a:gd name="connsiteY4" fmla="*/ 306665 h 1547225"/>
              <a:gd name="connsiteX5" fmla="*/ 1641987 w 3578942"/>
              <a:gd name="connsiteY5" fmla="*/ 33057 h 1547225"/>
              <a:gd name="connsiteX6" fmla="*/ 2271252 w 3578942"/>
              <a:gd name="connsiteY6" fmla="*/ 505006 h 1547225"/>
              <a:gd name="connsiteX7" fmla="*/ 3578942 w 3578942"/>
              <a:gd name="connsiteY7" fmla="*/ 1507896 h 1547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78942" h="1547225">
                <a:moveTo>
                  <a:pt x="0" y="1547225"/>
                </a:moveTo>
                <a:cubicBezTo>
                  <a:pt x="35232" y="1533296"/>
                  <a:pt x="64389" y="1501650"/>
                  <a:pt x="120129" y="1449672"/>
                </a:cubicBezTo>
                <a:cubicBezTo>
                  <a:pt x="175870" y="1397694"/>
                  <a:pt x="239192" y="1330609"/>
                  <a:pt x="334443" y="1235359"/>
                </a:cubicBezTo>
                <a:lnTo>
                  <a:pt x="691633" y="878169"/>
                </a:lnTo>
                <a:cubicBezTo>
                  <a:pt x="846415" y="723387"/>
                  <a:pt x="1104745" y="447517"/>
                  <a:pt x="1263137" y="306665"/>
                </a:cubicBezTo>
                <a:cubicBezTo>
                  <a:pt x="1421529" y="165813"/>
                  <a:pt x="1473968" y="0"/>
                  <a:pt x="1641987" y="33057"/>
                </a:cubicBezTo>
                <a:cubicBezTo>
                  <a:pt x="1810006" y="66114"/>
                  <a:pt x="2271252" y="505006"/>
                  <a:pt x="2271252" y="505006"/>
                </a:cubicBezTo>
                <a:lnTo>
                  <a:pt x="3578942" y="1507896"/>
                </a:lnTo>
              </a:path>
            </a:pathLst>
          </a:cu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40" name="直接箭头连接符 39">
            <a:extLst>
              <a:ext uri="{FF2B5EF4-FFF2-40B4-BE49-F238E27FC236}">
                <a16:creationId xmlns:a16="http://schemas.microsoft.com/office/drawing/2014/main" id="{D7699EC9-3F8A-C9CC-778B-DE13AD3CD792}"/>
              </a:ext>
            </a:extLst>
          </p:cNvPr>
          <p:cNvCxnSpPr/>
          <p:nvPr/>
        </p:nvCxnSpPr>
        <p:spPr>
          <a:xfrm rot="16200000" flipH="1">
            <a:off x="2615599" y="3961350"/>
            <a:ext cx="1588" cy="3599500"/>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1428980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1" end="1"/>
                                            </p:txEl>
                                          </p:spTgt>
                                        </p:tgtEl>
                                        <p:attrNameLst>
                                          <p:attrName>style.visibility</p:attrName>
                                        </p:attrNameLst>
                                      </p:cBhvr>
                                      <p:to>
                                        <p:strVal val="visible"/>
                                      </p:to>
                                    </p:set>
                                  </p:childTnLst>
                                </p:cTn>
                              </p:par>
                            </p:childTnLst>
                          </p:cTn>
                        </p:par>
                        <p:par>
                          <p:cTn id="27" fill="hold">
                            <p:stCondLst>
                              <p:cond delay="0"/>
                            </p:stCondLst>
                            <p:childTnLst>
                              <p:par>
                                <p:cTn id="28" presetID="1" presetClass="entr" presetSubtype="0" fill="hold" grpId="0" nodeType="afterEffect">
                                  <p:stCondLst>
                                    <p:cond delay="0"/>
                                  </p:stCondLst>
                                  <p:childTnLst>
                                    <p:set>
                                      <p:cBhvr>
                                        <p:cTn id="29" dur="1" fill="hold">
                                          <p:stCondLst>
                                            <p:cond delay="0"/>
                                          </p:stCondLst>
                                        </p:cTn>
                                        <p:tgtEl>
                                          <p:spTgt spid="39"/>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22" presetClass="exit" presetSubtype="4" fill="hold" grpId="1" nodeType="clickEffect">
                                  <p:stCondLst>
                                    <p:cond delay="0"/>
                                  </p:stCondLst>
                                  <p:childTnLst>
                                    <p:animEffect transition="out" filter="wipe(down)">
                                      <p:cBhvr>
                                        <p:cTn id="33" dur="500"/>
                                        <p:tgtEl>
                                          <p:spTgt spid="39"/>
                                        </p:tgtEl>
                                      </p:cBhvr>
                                    </p:animEffect>
                                    <p:set>
                                      <p:cBhvr>
                                        <p:cTn id="34" dur="1" fill="hold">
                                          <p:stCondLst>
                                            <p:cond delay="499"/>
                                          </p:stCondLst>
                                        </p:cTn>
                                        <p:tgtEl>
                                          <p:spTgt spid="39"/>
                                        </p:tgtEl>
                                        <p:attrNameLst>
                                          <p:attrName>style.visibility</p:attrName>
                                        </p:attrNameLst>
                                      </p:cBhvr>
                                      <p:to>
                                        <p:strVal val="hidden"/>
                                      </p:to>
                                    </p:set>
                                  </p:childTnLst>
                                </p:cTn>
                              </p:par>
                            </p:childTnLst>
                          </p:cTn>
                        </p:par>
                        <p:par>
                          <p:cTn id="35" fill="hold">
                            <p:stCondLst>
                              <p:cond delay="500"/>
                            </p:stCondLst>
                            <p:childTnLst>
                              <p:par>
                                <p:cTn id="36" presetID="1" presetClass="entr" presetSubtype="0" fill="hold" nodeType="afterEffect">
                                  <p:stCondLst>
                                    <p:cond delay="0"/>
                                  </p:stCondLst>
                                  <p:childTnLst>
                                    <p:set>
                                      <p:cBhvr>
                                        <p:cTn id="37" dur="1" fill="hold">
                                          <p:stCondLst>
                                            <p:cond delay="0"/>
                                          </p:stCondLst>
                                        </p:cTn>
                                        <p:tgtEl>
                                          <p:spTgt spid="3">
                                            <p:txEl>
                                              <p:pRg st="2" end="2"/>
                                            </p:txEl>
                                          </p:spTgt>
                                        </p:tgtEl>
                                        <p:attrNameLst>
                                          <p:attrName>style.visibility</p:attrName>
                                        </p:attrNameLst>
                                      </p:cBhvr>
                                      <p:to>
                                        <p:strVal val="visible"/>
                                      </p:to>
                                    </p:set>
                                  </p:childTnLst>
                                </p:cTn>
                              </p:par>
                            </p:childTnLst>
                          </p:cTn>
                        </p:par>
                        <p:par>
                          <p:cTn id="38" fill="hold">
                            <p:stCondLst>
                              <p:cond delay="500"/>
                            </p:stCondLst>
                            <p:childTnLst>
                              <p:par>
                                <p:cTn id="39" presetID="1" presetClass="entr" presetSubtype="0" fill="hold" nodeType="afterEffect">
                                  <p:stCondLst>
                                    <p:cond delay="0"/>
                                  </p:stCondLst>
                                  <p:childTnLst>
                                    <p:set>
                                      <p:cBhvr>
                                        <p:cTn id="40" dur="1" fill="hold">
                                          <p:stCondLst>
                                            <p:cond delay="0"/>
                                          </p:stCondLst>
                                        </p:cTn>
                                        <p:tgtEl>
                                          <p:spTgt spid="3">
                                            <p:txEl>
                                              <p:pRg st="3" end="3"/>
                                            </p:txEl>
                                          </p:spTgt>
                                        </p:tgtEl>
                                        <p:attrNameLst>
                                          <p:attrName>style.visibility</p:attrName>
                                        </p:attrNameLst>
                                      </p:cBhvr>
                                      <p:to>
                                        <p:strVal val="visible"/>
                                      </p:to>
                                    </p:set>
                                  </p:childTnLst>
                                </p:cTn>
                              </p:par>
                            </p:childTnLst>
                          </p:cTn>
                        </p:par>
                        <p:par>
                          <p:cTn id="41" fill="hold">
                            <p:stCondLst>
                              <p:cond delay="500"/>
                            </p:stCondLst>
                            <p:childTnLst>
                              <p:par>
                                <p:cTn id="42" presetID="1" presetClass="entr" presetSubtype="0" fill="hold" nodeType="afterEffect">
                                  <p:stCondLst>
                                    <p:cond delay="0"/>
                                  </p:stCondLst>
                                  <p:childTnLst>
                                    <p:set>
                                      <p:cBhvr>
                                        <p:cTn id="43" dur="1" fill="hold">
                                          <p:stCondLst>
                                            <p:cond delay="0"/>
                                          </p:stCondLst>
                                        </p:cTn>
                                        <p:tgtEl>
                                          <p:spTgt spid="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animBg="1"/>
      <p:bldP spid="38" grpId="0" animBg="1"/>
      <p:bldP spid="39" grpId="0" animBg="1"/>
      <p:bldP spid="39" grpId="1" animBg="1"/>
    </p:bld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A0E41C-2168-06F8-1DE3-78B0FBDDF0D6}"/>
            </a:ext>
          </a:extLst>
        </p:cNvPr>
        <p:cNvGrpSpPr/>
        <p:nvPr/>
      </p:nvGrpSpPr>
      <p:grpSpPr>
        <a:xfrm>
          <a:off x="0" y="0"/>
          <a:ext cx="0" cy="0"/>
          <a:chOff x="0" y="0"/>
          <a:chExt cx="0" cy="0"/>
        </a:xfrm>
      </p:grpSpPr>
      <p:sp>
        <p:nvSpPr>
          <p:cNvPr id="2" name="AutoShape 6">
            <a:extLst>
              <a:ext uri="{FF2B5EF4-FFF2-40B4-BE49-F238E27FC236}">
                <a16:creationId xmlns:a16="http://schemas.microsoft.com/office/drawing/2014/main" id="{92587B9F-B4E9-F23D-933B-C394F4DB1222}"/>
              </a:ext>
            </a:extLst>
          </p:cNvPr>
          <p:cNvSpPr>
            <a:spLocks noChangeArrowheads="1"/>
          </p:cNvSpPr>
          <p:nvPr/>
        </p:nvSpPr>
        <p:spPr bwMode="auto">
          <a:xfrm>
            <a:off x="5130256" y="1860832"/>
            <a:ext cx="792162" cy="288925"/>
          </a:xfrm>
          <a:prstGeom prst="rightArrow">
            <a:avLst>
              <a:gd name="adj1" fmla="val 50000"/>
              <a:gd name="adj2" fmla="val 68544"/>
            </a:avLst>
          </a:prstGeom>
          <a:ln>
            <a:headEnd/>
            <a:tailEnd/>
          </a:ln>
        </p:spPr>
        <p:style>
          <a:lnRef idx="1">
            <a:schemeClr val="accent2"/>
          </a:lnRef>
          <a:fillRef idx="3">
            <a:schemeClr val="accent2"/>
          </a:fillRef>
          <a:effectRef idx="2">
            <a:schemeClr val="accent2"/>
          </a:effectRef>
          <a:fontRef idx="minor">
            <a:schemeClr val="lt1"/>
          </a:fontRef>
        </p:style>
        <p:txBody>
          <a:bodyPr wrap="none" anchor="ctr"/>
          <a:lstStyle/>
          <a:p>
            <a:endParaRPr lang="zh-CN" altLang="en-US">
              <a:latin typeface="Consolas" pitchFamily="49" charset="0"/>
              <a:cs typeface="Consolas" pitchFamily="49" charset="0"/>
            </a:endParaRPr>
          </a:p>
        </p:txBody>
      </p:sp>
      <p:sp>
        <p:nvSpPr>
          <p:cNvPr id="3" name="Text Box 140">
            <a:extLst>
              <a:ext uri="{FF2B5EF4-FFF2-40B4-BE49-F238E27FC236}">
                <a16:creationId xmlns:a16="http://schemas.microsoft.com/office/drawing/2014/main" id="{30DCB863-60FE-7C4E-A15A-62F506E765C6}"/>
              </a:ext>
            </a:extLst>
          </p:cNvPr>
          <p:cNvSpPr txBox="1">
            <a:spLocks noChangeArrowheads="1"/>
          </p:cNvSpPr>
          <p:nvPr/>
        </p:nvSpPr>
        <p:spPr bwMode="auto">
          <a:xfrm>
            <a:off x="1486918" y="432072"/>
            <a:ext cx="2428892" cy="422405"/>
          </a:xfrm>
          <a:prstGeom prst="rect">
            <a:avLst/>
          </a:prstGeom>
          <a:solidFill>
            <a:srgbClr val="339933"/>
          </a:solidFill>
          <a:ln w="28575" algn="ctr">
            <a:noFill/>
            <a:miter lim="800000"/>
            <a:headEnd/>
            <a:tailEnd/>
          </a:ln>
          <a:effectLst/>
        </p:spPr>
        <p:txBody>
          <a:bodyPr wrap="square" lIns="0" tIns="72000" rIns="0" bIns="72000">
            <a:spAutoFit/>
          </a:bodyPr>
          <a:lstStyle/>
          <a:p>
            <a:pPr algn="ctr"/>
            <a:r>
              <a:rPr lang="en-US" altLang="zh-CN" sz="1800" dirty="0">
                <a:solidFill>
                  <a:schemeClr val="bg1"/>
                </a:solidFill>
                <a:latin typeface="Consolas" pitchFamily="49" charset="0"/>
                <a:ea typeface="华文中宋" pitchFamily="2" charset="-122"/>
                <a:cs typeface="Consolas" pitchFamily="49" charset="0"/>
              </a:rPr>
              <a:t>Floyd</a:t>
            </a:r>
            <a:r>
              <a:rPr lang="zh-CN" altLang="en-US" sz="1800" dirty="0">
                <a:solidFill>
                  <a:schemeClr val="bg1"/>
                </a:solidFill>
                <a:latin typeface="Consolas" pitchFamily="49" charset="0"/>
                <a:ea typeface="华文中宋" pitchFamily="2" charset="-122"/>
                <a:cs typeface="Consolas" pitchFamily="49" charset="0"/>
              </a:rPr>
              <a:t>算法示例演示</a:t>
            </a:r>
          </a:p>
        </p:txBody>
      </p:sp>
      <p:grpSp>
        <p:nvGrpSpPr>
          <p:cNvPr id="4" name="组合 119">
            <a:extLst>
              <a:ext uri="{FF2B5EF4-FFF2-40B4-BE49-F238E27FC236}">
                <a16:creationId xmlns:a16="http://schemas.microsoft.com/office/drawing/2014/main" id="{3951C78B-961F-6F7B-7DAF-3FFA981E10F6}"/>
              </a:ext>
            </a:extLst>
          </p:cNvPr>
          <p:cNvGrpSpPr/>
          <p:nvPr/>
        </p:nvGrpSpPr>
        <p:grpSpPr>
          <a:xfrm>
            <a:off x="6291190" y="1217890"/>
            <a:ext cx="2504166" cy="1717380"/>
            <a:chOff x="5161430" y="928670"/>
            <a:chExt cx="2504166" cy="1717380"/>
          </a:xfrm>
        </p:grpSpPr>
        <p:cxnSp>
          <p:nvCxnSpPr>
            <p:cNvPr id="5" name="直接连接符 4">
              <a:extLst>
                <a:ext uri="{FF2B5EF4-FFF2-40B4-BE49-F238E27FC236}">
                  <a16:creationId xmlns:a16="http://schemas.microsoft.com/office/drawing/2014/main" id="{466D206F-897D-D0D0-7676-D7BD3ECB520E}"/>
                </a:ext>
              </a:extLst>
            </p:cNvPr>
            <p:cNvCxnSpPr/>
            <p:nvPr/>
          </p:nvCxnSpPr>
          <p:spPr>
            <a:xfrm rot="5400000">
              <a:off x="4304968" y="1785132"/>
              <a:ext cx="1714512" cy="1588"/>
            </a:xfrm>
            <a:prstGeom prst="line">
              <a:avLst/>
            </a:prstGeom>
            <a:ln w="38100">
              <a:solidFill>
                <a:srgbClr val="0000FF"/>
              </a:solidFill>
              <a:tailEnd type="none"/>
            </a:ln>
          </p:spPr>
          <p:style>
            <a:lnRef idx="1">
              <a:schemeClr val="accent1"/>
            </a:lnRef>
            <a:fillRef idx="0">
              <a:schemeClr val="accent1"/>
            </a:fillRef>
            <a:effectRef idx="0">
              <a:schemeClr val="accent1"/>
            </a:effectRef>
            <a:fontRef idx="minor">
              <a:schemeClr val="tx1"/>
            </a:fontRef>
          </p:style>
        </p:cxnSp>
        <p:cxnSp>
          <p:nvCxnSpPr>
            <p:cNvPr id="6" name="直接连接符 5">
              <a:extLst>
                <a:ext uri="{FF2B5EF4-FFF2-40B4-BE49-F238E27FC236}">
                  <a16:creationId xmlns:a16="http://schemas.microsoft.com/office/drawing/2014/main" id="{07395878-0FDB-0A18-496C-3417DF938832}"/>
                </a:ext>
              </a:extLst>
            </p:cNvPr>
            <p:cNvCxnSpPr/>
            <p:nvPr/>
          </p:nvCxnSpPr>
          <p:spPr>
            <a:xfrm>
              <a:off x="5163018" y="941370"/>
              <a:ext cx="144000" cy="1588"/>
            </a:xfrm>
            <a:prstGeom prst="line">
              <a:avLst/>
            </a:prstGeom>
            <a:ln w="38100">
              <a:solidFill>
                <a:srgbClr val="0000FF"/>
              </a:solidFill>
              <a:tailEnd type="none"/>
            </a:ln>
          </p:spPr>
          <p:style>
            <a:lnRef idx="1">
              <a:schemeClr val="accent1"/>
            </a:lnRef>
            <a:fillRef idx="0">
              <a:schemeClr val="accent1"/>
            </a:fillRef>
            <a:effectRef idx="0">
              <a:schemeClr val="accent1"/>
            </a:effectRef>
            <a:fontRef idx="minor">
              <a:schemeClr val="tx1"/>
            </a:fontRef>
          </p:style>
        </p:cxnSp>
        <p:cxnSp>
          <p:nvCxnSpPr>
            <p:cNvPr id="7" name="直接连接符 6">
              <a:extLst>
                <a:ext uri="{FF2B5EF4-FFF2-40B4-BE49-F238E27FC236}">
                  <a16:creationId xmlns:a16="http://schemas.microsoft.com/office/drawing/2014/main" id="{1EF35D56-4716-BC71-E742-68B178E5F0D8}"/>
                </a:ext>
              </a:extLst>
            </p:cNvPr>
            <p:cNvCxnSpPr/>
            <p:nvPr/>
          </p:nvCxnSpPr>
          <p:spPr>
            <a:xfrm>
              <a:off x="5163018" y="2644462"/>
              <a:ext cx="144000" cy="1588"/>
            </a:xfrm>
            <a:prstGeom prst="line">
              <a:avLst/>
            </a:prstGeom>
            <a:ln w="38100">
              <a:solidFill>
                <a:srgbClr val="0000FF"/>
              </a:solidFill>
              <a:tailEnd type="none"/>
            </a:ln>
          </p:spPr>
          <p:style>
            <a:lnRef idx="1">
              <a:schemeClr val="accent1"/>
            </a:lnRef>
            <a:fillRef idx="0">
              <a:schemeClr val="accent1"/>
            </a:fillRef>
            <a:effectRef idx="0">
              <a:schemeClr val="accent1"/>
            </a:effectRef>
            <a:fontRef idx="minor">
              <a:schemeClr val="tx1"/>
            </a:fontRef>
          </p:style>
        </p:cxnSp>
        <p:sp>
          <p:nvSpPr>
            <p:cNvPr id="8" name="TextBox 99">
              <a:extLst>
                <a:ext uri="{FF2B5EF4-FFF2-40B4-BE49-F238E27FC236}">
                  <a16:creationId xmlns:a16="http://schemas.microsoft.com/office/drawing/2014/main" id="{5AD5AC9D-932C-6691-AAE5-1246F48A3759}"/>
                </a:ext>
              </a:extLst>
            </p:cNvPr>
            <p:cNvSpPr txBox="1"/>
            <p:nvPr/>
          </p:nvSpPr>
          <p:spPr>
            <a:xfrm>
              <a:off x="5429256" y="972706"/>
              <a:ext cx="266238" cy="338554"/>
            </a:xfrm>
            <a:prstGeom prst="rect">
              <a:avLst/>
            </a:prstGeom>
            <a:noFill/>
          </p:spPr>
          <p:txBody>
            <a:bodyPr wrap="square" lIns="0" tIns="0" rIns="0" bIns="0" rtlCol="0">
              <a:spAutoFit/>
            </a:bodyPr>
            <a:lstStyle/>
            <a:p>
              <a:r>
                <a:rPr lang="en-US" altLang="zh-CN" sz="2200">
                  <a:latin typeface="Consolas" pitchFamily="49" charset="0"/>
                  <a:cs typeface="Consolas" pitchFamily="49" charset="0"/>
                </a:rPr>
                <a:t>0</a:t>
              </a:r>
              <a:endParaRPr lang="zh-CN" altLang="en-US" sz="2200">
                <a:latin typeface="Consolas" pitchFamily="49" charset="0"/>
                <a:cs typeface="Consolas" pitchFamily="49" charset="0"/>
              </a:endParaRPr>
            </a:p>
          </p:txBody>
        </p:sp>
        <p:sp>
          <p:nvSpPr>
            <p:cNvPr id="12" name="TextBox 100">
              <a:extLst>
                <a:ext uri="{FF2B5EF4-FFF2-40B4-BE49-F238E27FC236}">
                  <a16:creationId xmlns:a16="http://schemas.microsoft.com/office/drawing/2014/main" id="{CE01BE05-4C48-BC4B-887B-C7267537FBCA}"/>
                </a:ext>
              </a:extLst>
            </p:cNvPr>
            <p:cNvSpPr txBox="1"/>
            <p:nvPr/>
          </p:nvSpPr>
          <p:spPr>
            <a:xfrm>
              <a:off x="6020274" y="972706"/>
              <a:ext cx="266238" cy="338554"/>
            </a:xfrm>
            <a:prstGeom prst="rect">
              <a:avLst/>
            </a:prstGeom>
            <a:noFill/>
          </p:spPr>
          <p:txBody>
            <a:bodyPr wrap="square" lIns="0" tIns="0" rIns="0" bIns="0" rtlCol="0">
              <a:spAutoFit/>
            </a:bodyPr>
            <a:lstStyle/>
            <a:p>
              <a:r>
                <a:rPr lang="en-US" altLang="zh-CN" sz="2200">
                  <a:latin typeface="Consolas" pitchFamily="49" charset="0"/>
                  <a:cs typeface="Consolas" pitchFamily="49" charset="0"/>
                </a:rPr>
                <a:t>5</a:t>
              </a:r>
              <a:endParaRPr lang="zh-CN" altLang="en-US" sz="2200">
                <a:latin typeface="Consolas" pitchFamily="49" charset="0"/>
                <a:cs typeface="Consolas" pitchFamily="49" charset="0"/>
              </a:endParaRPr>
            </a:p>
          </p:txBody>
        </p:sp>
        <p:sp>
          <p:nvSpPr>
            <p:cNvPr id="13" name="TextBox 101">
              <a:extLst>
                <a:ext uri="{FF2B5EF4-FFF2-40B4-BE49-F238E27FC236}">
                  <a16:creationId xmlns:a16="http://schemas.microsoft.com/office/drawing/2014/main" id="{E7D13194-A728-D98B-4B8D-F7C9BD7D5288}"/>
                </a:ext>
              </a:extLst>
            </p:cNvPr>
            <p:cNvSpPr txBox="1"/>
            <p:nvPr/>
          </p:nvSpPr>
          <p:spPr>
            <a:xfrm>
              <a:off x="7163282" y="972706"/>
              <a:ext cx="337676" cy="338554"/>
            </a:xfrm>
            <a:prstGeom prst="rect">
              <a:avLst/>
            </a:prstGeom>
            <a:noFill/>
          </p:spPr>
          <p:txBody>
            <a:bodyPr wrap="square" lIns="0" tIns="0" rIns="0" bIns="0" rtlCol="0">
              <a:spAutoFit/>
            </a:bodyPr>
            <a:lstStyle/>
            <a:p>
              <a:r>
                <a:rPr lang="en-US" altLang="zh-CN" sz="2200">
                  <a:latin typeface="Consolas" pitchFamily="49" charset="0"/>
                  <a:cs typeface="Consolas" pitchFamily="49" charset="0"/>
                </a:rPr>
                <a:t>7</a:t>
              </a:r>
              <a:endParaRPr lang="zh-CN" altLang="en-US" sz="2200">
                <a:latin typeface="Consolas" pitchFamily="49" charset="0"/>
                <a:cs typeface="Consolas" pitchFamily="49" charset="0"/>
              </a:endParaRPr>
            </a:p>
          </p:txBody>
        </p:sp>
        <p:sp>
          <p:nvSpPr>
            <p:cNvPr id="14" name="TextBox 102">
              <a:extLst>
                <a:ext uri="{FF2B5EF4-FFF2-40B4-BE49-F238E27FC236}">
                  <a16:creationId xmlns:a16="http://schemas.microsoft.com/office/drawing/2014/main" id="{6B71DE81-1881-D796-E08B-2120C5249719}"/>
                </a:ext>
              </a:extLst>
            </p:cNvPr>
            <p:cNvSpPr txBox="1"/>
            <p:nvPr/>
          </p:nvSpPr>
          <p:spPr>
            <a:xfrm>
              <a:off x="6572264" y="954070"/>
              <a:ext cx="409114" cy="338554"/>
            </a:xfrm>
            <a:prstGeom prst="rect">
              <a:avLst/>
            </a:prstGeom>
            <a:noFill/>
          </p:spPr>
          <p:txBody>
            <a:bodyPr wrap="square" lIns="0" tIns="0" rIns="0" bIns="0" rtlCol="0">
              <a:spAutoFit/>
            </a:bodyPr>
            <a:lstStyle/>
            <a:p>
              <a:r>
                <a:rPr lang="zh-CN" altLang="en-US" sz="2200">
                  <a:latin typeface="Consolas" pitchFamily="49" charset="0"/>
                  <a:ea typeface="+mn-ea"/>
                  <a:cs typeface="Consolas" pitchFamily="49" charset="0"/>
                </a:rPr>
                <a:t>∞</a:t>
              </a:r>
            </a:p>
          </p:txBody>
        </p:sp>
        <p:sp>
          <p:nvSpPr>
            <p:cNvPr id="15" name="TextBox 103">
              <a:extLst>
                <a:ext uri="{FF2B5EF4-FFF2-40B4-BE49-F238E27FC236}">
                  <a16:creationId xmlns:a16="http://schemas.microsoft.com/office/drawing/2014/main" id="{E3812924-970D-63FB-BC52-DFD82C8D77DB}"/>
                </a:ext>
              </a:extLst>
            </p:cNvPr>
            <p:cNvSpPr txBox="1"/>
            <p:nvPr/>
          </p:nvSpPr>
          <p:spPr>
            <a:xfrm>
              <a:off x="5429256" y="1401334"/>
              <a:ext cx="409114" cy="338554"/>
            </a:xfrm>
            <a:prstGeom prst="rect">
              <a:avLst/>
            </a:prstGeom>
            <a:noFill/>
          </p:spPr>
          <p:txBody>
            <a:bodyPr wrap="square" lIns="0" tIns="0" rIns="0" bIns="0" rtlCol="0">
              <a:spAutoFit/>
            </a:bodyPr>
            <a:lstStyle/>
            <a:p>
              <a:r>
                <a:rPr lang="zh-CN" altLang="en-US" sz="2200">
                  <a:latin typeface="Consolas" pitchFamily="49" charset="0"/>
                  <a:cs typeface="Consolas" pitchFamily="49" charset="0"/>
                </a:rPr>
                <a:t>∞</a:t>
              </a:r>
            </a:p>
          </p:txBody>
        </p:sp>
        <p:sp>
          <p:nvSpPr>
            <p:cNvPr id="16" name="TextBox 104">
              <a:extLst>
                <a:ext uri="{FF2B5EF4-FFF2-40B4-BE49-F238E27FC236}">
                  <a16:creationId xmlns:a16="http://schemas.microsoft.com/office/drawing/2014/main" id="{1EBBC03E-4146-F5DB-C82E-F721EA585A12}"/>
                </a:ext>
              </a:extLst>
            </p:cNvPr>
            <p:cNvSpPr txBox="1"/>
            <p:nvPr/>
          </p:nvSpPr>
          <p:spPr>
            <a:xfrm>
              <a:off x="6020274" y="1401334"/>
              <a:ext cx="266238" cy="338554"/>
            </a:xfrm>
            <a:prstGeom prst="rect">
              <a:avLst/>
            </a:prstGeom>
            <a:noFill/>
          </p:spPr>
          <p:txBody>
            <a:bodyPr wrap="square" lIns="0" tIns="0" rIns="0" bIns="0" rtlCol="0">
              <a:spAutoFit/>
            </a:bodyPr>
            <a:lstStyle/>
            <a:p>
              <a:r>
                <a:rPr lang="en-US" altLang="zh-CN" sz="2200">
                  <a:latin typeface="Consolas" pitchFamily="49" charset="0"/>
                  <a:cs typeface="Consolas" pitchFamily="49" charset="0"/>
                </a:rPr>
                <a:t>0</a:t>
              </a:r>
              <a:endParaRPr lang="zh-CN" altLang="en-US" sz="2200">
                <a:latin typeface="Consolas" pitchFamily="49" charset="0"/>
                <a:cs typeface="Consolas" pitchFamily="49" charset="0"/>
              </a:endParaRPr>
            </a:p>
          </p:txBody>
        </p:sp>
        <p:sp>
          <p:nvSpPr>
            <p:cNvPr id="17" name="TextBox 105">
              <a:extLst>
                <a:ext uri="{FF2B5EF4-FFF2-40B4-BE49-F238E27FC236}">
                  <a16:creationId xmlns:a16="http://schemas.microsoft.com/office/drawing/2014/main" id="{96B81ED8-B799-3487-67BC-8AA232981BC8}"/>
                </a:ext>
              </a:extLst>
            </p:cNvPr>
            <p:cNvSpPr txBox="1"/>
            <p:nvPr/>
          </p:nvSpPr>
          <p:spPr>
            <a:xfrm>
              <a:off x="7163282" y="1401334"/>
              <a:ext cx="266238" cy="338554"/>
            </a:xfrm>
            <a:prstGeom prst="rect">
              <a:avLst/>
            </a:prstGeom>
            <a:noFill/>
          </p:spPr>
          <p:txBody>
            <a:bodyPr wrap="square" lIns="0" tIns="0" rIns="0" bIns="0" rtlCol="0">
              <a:spAutoFit/>
            </a:bodyPr>
            <a:lstStyle/>
            <a:p>
              <a:r>
                <a:rPr lang="en-US" altLang="zh-CN" sz="2200">
                  <a:latin typeface="Consolas" pitchFamily="49" charset="0"/>
                  <a:cs typeface="Consolas" pitchFamily="49" charset="0"/>
                </a:rPr>
                <a:t>2</a:t>
              </a:r>
              <a:endParaRPr lang="zh-CN" altLang="en-US" sz="2200">
                <a:latin typeface="Consolas" pitchFamily="49" charset="0"/>
                <a:cs typeface="Consolas" pitchFamily="49" charset="0"/>
              </a:endParaRPr>
            </a:p>
          </p:txBody>
        </p:sp>
        <p:sp>
          <p:nvSpPr>
            <p:cNvPr id="18" name="TextBox 106">
              <a:extLst>
                <a:ext uri="{FF2B5EF4-FFF2-40B4-BE49-F238E27FC236}">
                  <a16:creationId xmlns:a16="http://schemas.microsoft.com/office/drawing/2014/main" id="{87DCBE4E-CF95-A7E1-C970-D60752ED4E3A}"/>
                </a:ext>
              </a:extLst>
            </p:cNvPr>
            <p:cNvSpPr txBox="1"/>
            <p:nvPr/>
          </p:nvSpPr>
          <p:spPr>
            <a:xfrm>
              <a:off x="6572264" y="1382698"/>
              <a:ext cx="266238" cy="338554"/>
            </a:xfrm>
            <a:prstGeom prst="rect">
              <a:avLst/>
            </a:prstGeom>
            <a:noFill/>
          </p:spPr>
          <p:txBody>
            <a:bodyPr wrap="square" lIns="0" tIns="0" rIns="0" bIns="0" rtlCol="0">
              <a:spAutoFit/>
            </a:bodyPr>
            <a:lstStyle/>
            <a:p>
              <a:r>
                <a:rPr lang="en-US" altLang="zh-CN" sz="2200">
                  <a:latin typeface="Consolas" pitchFamily="49" charset="0"/>
                  <a:ea typeface="+mn-ea"/>
                  <a:cs typeface="Consolas" pitchFamily="49" charset="0"/>
                  <a:sym typeface="Symbol"/>
                </a:rPr>
                <a:t>4</a:t>
              </a:r>
              <a:endParaRPr lang="zh-CN" altLang="en-US" sz="2200">
                <a:latin typeface="Consolas" pitchFamily="49" charset="0"/>
                <a:ea typeface="+mn-ea"/>
                <a:cs typeface="Consolas" pitchFamily="49" charset="0"/>
              </a:endParaRPr>
            </a:p>
          </p:txBody>
        </p:sp>
        <p:sp>
          <p:nvSpPr>
            <p:cNvPr id="19" name="TextBox 107">
              <a:extLst>
                <a:ext uri="{FF2B5EF4-FFF2-40B4-BE49-F238E27FC236}">
                  <a16:creationId xmlns:a16="http://schemas.microsoft.com/office/drawing/2014/main" id="{9FE0224F-2953-7A1F-83F6-B664FC026BD4}"/>
                </a:ext>
              </a:extLst>
            </p:cNvPr>
            <p:cNvSpPr txBox="1"/>
            <p:nvPr/>
          </p:nvSpPr>
          <p:spPr>
            <a:xfrm>
              <a:off x="5429256" y="2263352"/>
              <a:ext cx="409114" cy="338554"/>
            </a:xfrm>
            <a:prstGeom prst="rect">
              <a:avLst/>
            </a:prstGeom>
            <a:noFill/>
          </p:spPr>
          <p:txBody>
            <a:bodyPr wrap="square" lIns="0" tIns="0" rIns="0" bIns="0" rtlCol="0">
              <a:spAutoFit/>
            </a:bodyPr>
            <a:lstStyle/>
            <a:p>
              <a:r>
                <a:rPr lang="zh-CN" altLang="en-US" sz="2200">
                  <a:latin typeface="Consolas" pitchFamily="49" charset="0"/>
                  <a:cs typeface="Consolas" pitchFamily="49" charset="0"/>
                </a:rPr>
                <a:t>∞ </a:t>
              </a:r>
            </a:p>
          </p:txBody>
        </p:sp>
        <p:sp>
          <p:nvSpPr>
            <p:cNvPr id="20" name="TextBox 108">
              <a:extLst>
                <a:ext uri="{FF2B5EF4-FFF2-40B4-BE49-F238E27FC236}">
                  <a16:creationId xmlns:a16="http://schemas.microsoft.com/office/drawing/2014/main" id="{C796D6E4-CF84-CF12-E299-BA07534C2315}"/>
                </a:ext>
              </a:extLst>
            </p:cNvPr>
            <p:cNvSpPr txBox="1"/>
            <p:nvPr/>
          </p:nvSpPr>
          <p:spPr>
            <a:xfrm>
              <a:off x="6020274" y="2263352"/>
              <a:ext cx="337676" cy="338554"/>
            </a:xfrm>
            <a:prstGeom prst="rect">
              <a:avLst/>
            </a:prstGeom>
            <a:noFill/>
          </p:spPr>
          <p:txBody>
            <a:bodyPr wrap="square" lIns="0" tIns="0" rIns="0" bIns="0" rtlCol="0">
              <a:spAutoFit/>
            </a:bodyPr>
            <a:lstStyle/>
            <a:p>
              <a:r>
                <a:rPr lang="zh-CN" altLang="en-US" sz="2200">
                  <a:latin typeface="Consolas" pitchFamily="49" charset="0"/>
                  <a:cs typeface="Consolas" pitchFamily="49" charset="0"/>
                </a:rPr>
                <a:t>∞</a:t>
              </a:r>
            </a:p>
          </p:txBody>
        </p:sp>
        <p:sp>
          <p:nvSpPr>
            <p:cNvPr id="21" name="TextBox 109">
              <a:extLst>
                <a:ext uri="{FF2B5EF4-FFF2-40B4-BE49-F238E27FC236}">
                  <a16:creationId xmlns:a16="http://schemas.microsoft.com/office/drawing/2014/main" id="{55562FBA-B328-087A-7417-BE9D72607483}"/>
                </a:ext>
              </a:extLst>
            </p:cNvPr>
            <p:cNvSpPr txBox="1"/>
            <p:nvPr/>
          </p:nvSpPr>
          <p:spPr>
            <a:xfrm>
              <a:off x="7163282" y="2263352"/>
              <a:ext cx="266238" cy="338554"/>
            </a:xfrm>
            <a:prstGeom prst="rect">
              <a:avLst/>
            </a:prstGeom>
            <a:noFill/>
          </p:spPr>
          <p:txBody>
            <a:bodyPr wrap="square" lIns="0" tIns="0" rIns="0" bIns="0" rtlCol="0">
              <a:spAutoFit/>
            </a:bodyPr>
            <a:lstStyle/>
            <a:p>
              <a:r>
                <a:rPr lang="en-US" altLang="zh-CN" sz="2200">
                  <a:latin typeface="Consolas" pitchFamily="49" charset="0"/>
                  <a:cs typeface="Consolas" pitchFamily="49" charset="0"/>
                </a:rPr>
                <a:t>0</a:t>
              </a:r>
              <a:endParaRPr lang="zh-CN" altLang="en-US" sz="2200">
                <a:latin typeface="Consolas" pitchFamily="49" charset="0"/>
                <a:cs typeface="Consolas" pitchFamily="49" charset="0"/>
              </a:endParaRPr>
            </a:p>
          </p:txBody>
        </p:sp>
        <p:sp>
          <p:nvSpPr>
            <p:cNvPr id="22" name="TextBox 110">
              <a:extLst>
                <a:ext uri="{FF2B5EF4-FFF2-40B4-BE49-F238E27FC236}">
                  <a16:creationId xmlns:a16="http://schemas.microsoft.com/office/drawing/2014/main" id="{3F2C834B-A591-6E2A-0CC2-8C89307E05E5}"/>
                </a:ext>
              </a:extLst>
            </p:cNvPr>
            <p:cNvSpPr txBox="1"/>
            <p:nvPr/>
          </p:nvSpPr>
          <p:spPr>
            <a:xfrm>
              <a:off x="6572264" y="2244716"/>
              <a:ext cx="337676" cy="338554"/>
            </a:xfrm>
            <a:prstGeom prst="rect">
              <a:avLst/>
            </a:prstGeom>
            <a:noFill/>
          </p:spPr>
          <p:txBody>
            <a:bodyPr wrap="square" lIns="0" tIns="0" rIns="0" bIns="0" rtlCol="0">
              <a:spAutoFit/>
            </a:bodyPr>
            <a:lstStyle/>
            <a:p>
              <a:r>
                <a:rPr lang="en-US" altLang="zh-CN" sz="2200">
                  <a:latin typeface="Consolas" pitchFamily="49" charset="0"/>
                  <a:ea typeface="+mn-ea"/>
                  <a:cs typeface="Consolas" pitchFamily="49" charset="0"/>
                  <a:sym typeface="Symbol"/>
                </a:rPr>
                <a:t>1</a:t>
              </a:r>
              <a:endParaRPr lang="zh-CN" altLang="en-US" sz="2200">
                <a:latin typeface="Consolas" pitchFamily="49" charset="0"/>
                <a:ea typeface="+mn-ea"/>
                <a:cs typeface="Consolas" pitchFamily="49" charset="0"/>
              </a:endParaRPr>
            </a:p>
          </p:txBody>
        </p:sp>
        <p:cxnSp>
          <p:nvCxnSpPr>
            <p:cNvPr id="23" name="直接连接符 22">
              <a:extLst>
                <a:ext uri="{FF2B5EF4-FFF2-40B4-BE49-F238E27FC236}">
                  <a16:creationId xmlns:a16="http://schemas.microsoft.com/office/drawing/2014/main" id="{75B12761-A2F4-824B-CE87-09986CE48D0F}"/>
                </a:ext>
              </a:extLst>
            </p:cNvPr>
            <p:cNvCxnSpPr/>
            <p:nvPr/>
          </p:nvCxnSpPr>
          <p:spPr>
            <a:xfrm rot="5400000">
              <a:off x="6804978" y="1779612"/>
              <a:ext cx="1692000" cy="1588"/>
            </a:xfrm>
            <a:prstGeom prst="line">
              <a:avLst/>
            </a:prstGeom>
            <a:ln w="38100">
              <a:solidFill>
                <a:srgbClr val="0000FF"/>
              </a:solidFill>
              <a:tailEnd type="none"/>
            </a:ln>
          </p:spPr>
          <p:style>
            <a:lnRef idx="1">
              <a:schemeClr val="accent1"/>
            </a:lnRef>
            <a:fillRef idx="0">
              <a:schemeClr val="accent1"/>
            </a:fillRef>
            <a:effectRef idx="0">
              <a:schemeClr val="accent1"/>
            </a:effectRef>
            <a:fontRef idx="minor">
              <a:schemeClr val="tx1"/>
            </a:fontRef>
          </p:style>
        </p:cxnSp>
        <p:cxnSp>
          <p:nvCxnSpPr>
            <p:cNvPr id="24" name="直接连接符 23">
              <a:extLst>
                <a:ext uri="{FF2B5EF4-FFF2-40B4-BE49-F238E27FC236}">
                  <a16:creationId xmlns:a16="http://schemas.microsoft.com/office/drawing/2014/main" id="{571F5BEE-BACC-BA5E-B8C4-AC41D2EBE3B0}"/>
                </a:ext>
              </a:extLst>
            </p:cNvPr>
            <p:cNvCxnSpPr/>
            <p:nvPr/>
          </p:nvCxnSpPr>
          <p:spPr>
            <a:xfrm>
              <a:off x="7521596" y="947106"/>
              <a:ext cx="144000" cy="1588"/>
            </a:xfrm>
            <a:prstGeom prst="line">
              <a:avLst/>
            </a:prstGeom>
            <a:ln w="38100">
              <a:solidFill>
                <a:srgbClr val="0000FF"/>
              </a:solidFill>
              <a:tailEnd type="none"/>
            </a:ln>
          </p:spPr>
          <p:style>
            <a:lnRef idx="1">
              <a:schemeClr val="accent1"/>
            </a:lnRef>
            <a:fillRef idx="0">
              <a:schemeClr val="accent1"/>
            </a:fillRef>
            <a:effectRef idx="0">
              <a:schemeClr val="accent1"/>
            </a:effectRef>
            <a:fontRef idx="minor">
              <a:schemeClr val="tx1"/>
            </a:fontRef>
          </p:style>
        </p:cxnSp>
        <p:cxnSp>
          <p:nvCxnSpPr>
            <p:cNvPr id="25" name="直接连接符 24">
              <a:extLst>
                <a:ext uri="{FF2B5EF4-FFF2-40B4-BE49-F238E27FC236}">
                  <a16:creationId xmlns:a16="http://schemas.microsoft.com/office/drawing/2014/main" id="{B4E2F7AA-A822-8A56-E450-10A8204C939A}"/>
                </a:ext>
              </a:extLst>
            </p:cNvPr>
            <p:cNvCxnSpPr/>
            <p:nvPr/>
          </p:nvCxnSpPr>
          <p:spPr>
            <a:xfrm>
              <a:off x="7501932" y="2601038"/>
              <a:ext cx="144000" cy="1588"/>
            </a:xfrm>
            <a:prstGeom prst="line">
              <a:avLst/>
            </a:prstGeom>
            <a:ln w="38100">
              <a:solidFill>
                <a:srgbClr val="0000FF"/>
              </a:solidFill>
              <a:tailEnd type="none"/>
            </a:ln>
          </p:spPr>
          <p:style>
            <a:lnRef idx="1">
              <a:schemeClr val="accent1"/>
            </a:lnRef>
            <a:fillRef idx="0">
              <a:schemeClr val="accent1"/>
            </a:fillRef>
            <a:effectRef idx="0">
              <a:schemeClr val="accent1"/>
            </a:effectRef>
            <a:fontRef idx="minor">
              <a:schemeClr val="tx1"/>
            </a:fontRef>
          </p:style>
        </p:cxnSp>
        <p:sp>
          <p:nvSpPr>
            <p:cNvPr id="26" name="TextBox 115">
              <a:extLst>
                <a:ext uri="{FF2B5EF4-FFF2-40B4-BE49-F238E27FC236}">
                  <a16:creationId xmlns:a16="http://schemas.microsoft.com/office/drawing/2014/main" id="{03CB26C7-CED3-BD0C-7FE8-8653BE628173}"/>
                </a:ext>
              </a:extLst>
            </p:cNvPr>
            <p:cNvSpPr txBox="1"/>
            <p:nvPr/>
          </p:nvSpPr>
          <p:spPr>
            <a:xfrm>
              <a:off x="5429256" y="1804562"/>
              <a:ext cx="266238" cy="338554"/>
            </a:xfrm>
            <a:prstGeom prst="rect">
              <a:avLst/>
            </a:prstGeom>
            <a:noFill/>
          </p:spPr>
          <p:txBody>
            <a:bodyPr wrap="square" lIns="0" tIns="0" rIns="0" bIns="0" rtlCol="0">
              <a:spAutoFit/>
            </a:bodyPr>
            <a:lstStyle/>
            <a:p>
              <a:r>
                <a:rPr lang="en-US" altLang="zh-CN" sz="2200">
                  <a:latin typeface="Consolas" pitchFamily="49" charset="0"/>
                  <a:cs typeface="Consolas" pitchFamily="49" charset="0"/>
                </a:rPr>
                <a:t>3</a:t>
              </a:r>
              <a:endParaRPr lang="zh-CN" altLang="en-US" sz="2200">
                <a:latin typeface="Consolas" pitchFamily="49" charset="0"/>
                <a:cs typeface="Consolas" pitchFamily="49" charset="0"/>
              </a:endParaRPr>
            </a:p>
          </p:txBody>
        </p:sp>
        <p:sp>
          <p:nvSpPr>
            <p:cNvPr id="27" name="TextBox 116">
              <a:extLst>
                <a:ext uri="{FF2B5EF4-FFF2-40B4-BE49-F238E27FC236}">
                  <a16:creationId xmlns:a16="http://schemas.microsoft.com/office/drawing/2014/main" id="{1468C39C-9447-9420-090E-3A13107C0A82}"/>
                </a:ext>
              </a:extLst>
            </p:cNvPr>
            <p:cNvSpPr txBox="1"/>
            <p:nvPr/>
          </p:nvSpPr>
          <p:spPr>
            <a:xfrm>
              <a:off x="6020274" y="1804562"/>
              <a:ext cx="266238" cy="338554"/>
            </a:xfrm>
            <a:prstGeom prst="rect">
              <a:avLst/>
            </a:prstGeom>
            <a:noFill/>
          </p:spPr>
          <p:txBody>
            <a:bodyPr wrap="square" lIns="0" tIns="0" rIns="0" bIns="0" rtlCol="0">
              <a:spAutoFit/>
            </a:bodyPr>
            <a:lstStyle/>
            <a:p>
              <a:r>
                <a:rPr lang="en-US" altLang="zh-CN" sz="2200">
                  <a:latin typeface="Consolas" pitchFamily="49" charset="0"/>
                  <a:cs typeface="Consolas" pitchFamily="49" charset="0"/>
                </a:rPr>
                <a:t>3</a:t>
              </a:r>
              <a:endParaRPr lang="zh-CN" altLang="en-US" sz="2200">
                <a:latin typeface="Consolas" pitchFamily="49" charset="0"/>
                <a:cs typeface="Consolas" pitchFamily="49" charset="0"/>
              </a:endParaRPr>
            </a:p>
          </p:txBody>
        </p:sp>
        <p:sp>
          <p:nvSpPr>
            <p:cNvPr id="28" name="TextBox 117">
              <a:extLst>
                <a:ext uri="{FF2B5EF4-FFF2-40B4-BE49-F238E27FC236}">
                  <a16:creationId xmlns:a16="http://schemas.microsoft.com/office/drawing/2014/main" id="{6385CF7B-3563-8CE6-25D7-6336F1A6F1B4}"/>
                </a:ext>
              </a:extLst>
            </p:cNvPr>
            <p:cNvSpPr txBox="1"/>
            <p:nvPr/>
          </p:nvSpPr>
          <p:spPr>
            <a:xfrm>
              <a:off x="7163282" y="1804562"/>
              <a:ext cx="337676" cy="338554"/>
            </a:xfrm>
            <a:prstGeom prst="rect">
              <a:avLst/>
            </a:prstGeom>
            <a:noFill/>
          </p:spPr>
          <p:txBody>
            <a:bodyPr wrap="square" lIns="0" tIns="0" rIns="0" bIns="0" rtlCol="0">
              <a:spAutoFit/>
            </a:bodyPr>
            <a:lstStyle/>
            <a:p>
              <a:r>
                <a:rPr lang="en-US" altLang="zh-CN" sz="2200">
                  <a:latin typeface="Consolas" pitchFamily="49" charset="0"/>
                  <a:cs typeface="Consolas" pitchFamily="49" charset="0"/>
                </a:rPr>
                <a:t>2</a:t>
              </a:r>
              <a:endParaRPr lang="zh-CN" altLang="en-US" sz="2200">
                <a:latin typeface="Consolas" pitchFamily="49" charset="0"/>
                <a:cs typeface="Consolas" pitchFamily="49" charset="0"/>
              </a:endParaRPr>
            </a:p>
          </p:txBody>
        </p:sp>
        <p:sp>
          <p:nvSpPr>
            <p:cNvPr id="29" name="TextBox 118">
              <a:extLst>
                <a:ext uri="{FF2B5EF4-FFF2-40B4-BE49-F238E27FC236}">
                  <a16:creationId xmlns:a16="http://schemas.microsoft.com/office/drawing/2014/main" id="{29B94BF7-D9A2-6B3D-DA8E-C1CA05A8A6CF}"/>
                </a:ext>
              </a:extLst>
            </p:cNvPr>
            <p:cNvSpPr txBox="1"/>
            <p:nvPr/>
          </p:nvSpPr>
          <p:spPr>
            <a:xfrm>
              <a:off x="6572264" y="1785926"/>
              <a:ext cx="409114" cy="338554"/>
            </a:xfrm>
            <a:prstGeom prst="rect">
              <a:avLst/>
            </a:prstGeom>
            <a:noFill/>
          </p:spPr>
          <p:txBody>
            <a:bodyPr wrap="square" lIns="0" tIns="0" rIns="0" bIns="0" rtlCol="0">
              <a:spAutoFit/>
            </a:bodyPr>
            <a:lstStyle/>
            <a:p>
              <a:r>
                <a:rPr lang="en-US" altLang="zh-CN" sz="2200">
                  <a:latin typeface="Consolas" pitchFamily="49" charset="0"/>
                  <a:ea typeface="+mn-ea"/>
                  <a:cs typeface="Consolas" pitchFamily="49" charset="0"/>
                </a:rPr>
                <a:t>0</a:t>
              </a:r>
              <a:endParaRPr lang="zh-CN" altLang="en-US" sz="2200">
                <a:latin typeface="Consolas" pitchFamily="49" charset="0"/>
                <a:ea typeface="+mn-ea"/>
                <a:cs typeface="Consolas" pitchFamily="49" charset="0"/>
              </a:endParaRPr>
            </a:p>
          </p:txBody>
        </p:sp>
      </p:grpSp>
      <p:grpSp>
        <p:nvGrpSpPr>
          <p:cNvPr id="30" name="组合 58">
            <a:extLst>
              <a:ext uri="{FF2B5EF4-FFF2-40B4-BE49-F238E27FC236}">
                <a16:creationId xmlns:a16="http://schemas.microsoft.com/office/drawing/2014/main" id="{8A083265-642F-30DB-4BAF-48270E3A8C5E}"/>
              </a:ext>
            </a:extLst>
          </p:cNvPr>
          <p:cNvGrpSpPr/>
          <p:nvPr/>
        </p:nvGrpSpPr>
        <p:grpSpPr>
          <a:xfrm>
            <a:off x="1415480" y="1052736"/>
            <a:ext cx="2736850" cy="2137192"/>
            <a:chOff x="285720" y="763516"/>
            <a:chExt cx="2736850" cy="2137192"/>
          </a:xfrm>
        </p:grpSpPr>
        <p:sp>
          <p:nvSpPr>
            <p:cNvPr id="31" name="Text Box 21">
              <a:extLst>
                <a:ext uri="{FF2B5EF4-FFF2-40B4-BE49-F238E27FC236}">
                  <a16:creationId xmlns:a16="http://schemas.microsoft.com/office/drawing/2014/main" id="{7964B62C-029E-EB1F-8811-0E3ED3A5BBD0}"/>
                </a:ext>
              </a:extLst>
            </p:cNvPr>
            <p:cNvSpPr txBox="1">
              <a:spLocks noChangeArrowheads="1"/>
            </p:cNvSpPr>
            <p:nvPr/>
          </p:nvSpPr>
          <p:spPr bwMode="auto">
            <a:xfrm>
              <a:off x="1425556" y="763516"/>
              <a:ext cx="431800" cy="338554"/>
            </a:xfrm>
            <a:prstGeom prst="rect">
              <a:avLst/>
            </a:prstGeom>
            <a:noFill/>
            <a:ln w="19050" algn="ctr">
              <a:noFill/>
              <a:miter lim="800000"/>
              <a:headEnd/>
              <a:tailEnd type="none" w="med" len="lg"/>
            </a:ln>
            <a:effectLst/>
          </p:spPr>
          <p:txBody>
            <a:bodyPr>
              <a:spAutoFit/>
            </a:bodyPr>
            <a:lstStyle/>
            <a:p>
              <a:pPr algn="ctr"/>
              <a:r>
                <a:rPr lang="en-US" altLang="zh-CN" sz="1600">
                  <a:solidFill>
                    <a:srgbClr val="FF0000"/>
                  </a:solidFill>
                  <a:latin typeface="Consolas" pitchFamily="49" charset="0"/>
                  <a:ea typeface="宋体" pitchFamily="2" charset="-122"/>
                  <a:cs typeface="Consolas" pitchFamily="49" charset="0"/>
                </a:rPr>
                <a:t>5</a:t>
              </a:r>
            </a:p>
          </p:txBody>
        </p:sp>
        <p:sp>
          <p:nvSpPr>
            <p:cNvPr id="32" name="Oval 9">
              <a:extLst>
                <a:ext uri="{FF2B5EF4-FFF2-40B4-BE49-F238E27FC236}">
                  <a16:creationId xmlns:a16="http://schemas.microsoft.com/office/drawing/2014/main" id="{19A8153B-2C8C-6278-F27E-E8E0CC68B76C}"/>
                </a:ext>
              </a:extLst>
            </p:cNvPr>
            <p:cNvSpPr>
              <a:spLocks noChangeArrowheads="1"/>
            </p:cNvSpPr>
            <p:nvPr/>
          </p:nvSpPr>
          <p:spPr bwMode="auto">
            <a:xfrm>
              <a:off x="501620" y="936606"/>
              <a:ext cx="360363" cy="360363"/>
            </a:xfrm>
            <a:prstGeom prst="ellipse">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anchor="ctr"/>
            <a:lstStyle/>
            <a:p>
              <a:pPr algn="ctr">
                <a:spcBef>
                  <a:spcPct val="0"/>
                </a:spcBef>
              </a:pPr>
              <a:r>
                <a:rPr lang="en-US" altLang="zh-CN" sz="1800" dirty="0">
                  <a:solidFill>
                    <a:srgbClr val="3333FF"/>
                  </a:solidFill>
                  <a:latin typeface="Consolas" pitchFamily="49" charset="0"/>
                  <a:ea typeface="宋体" pitchFamily="2" charset="-122"/>
                  <a:cs typeface="Consolas" pitchFamily="49" charset="0"/>
                </a:rPr>
                <a:t>0</a:t>
              </a:r>
            </a:p>
          </p:txBody>
        </p:sp>
        <p:sp>
          <p:nvSpPr>
            <p:cNvPr id="33" name="Oval 10">
              <a:extLst>
                <a:ext uri="{FF2B5EF4-FFF2-40B4-BE49-F238E27FC236}">
                  <a16:creationId xmlns:a16="http://schemas.microsoft.com/office/drawing/2014/main" id="{33461D16-3D94-7A2C-B36B-31DF4B3E0513}"/>
                </a:ext>
              </a:extLst>
            </p:cNvPr>
            <p:cNvSpPr>
              <a:spLocks noChangeArrowheads="1"/>
            </p:cNvSpPr>
            <p:nvPr/>
          </p:nvSpPr>
          <p:spPr bwMode="auto">
            <a:xfrm>
              <a:off x="2446308" y="936606"/>
              <a:ext cx="360363" cy="360363"/>
            </a:xfrm>
            <a:prstGeom prst="ellipse">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anchor="ctr"/>
            <a:lstStyle/>
            <a:p>
              <a:pPr algn="ctr">
                <a:spcBef>
                  <a:spcPct val="0"/>
                </a:spcBef>
              </a:pPr>
              <a:r>
                <a:rPr lang="en-US" altLang="zh-CN" sz="1800">
                  <a:solidFill>
                    <a:srgbClr val="3333FF"/>
                  </a:solidFill>
                  <a:latin typeface="Consolas" pitchFamily="49" charset="0"/>
                  <a:ea typeface="宋体" pitchFamily="2" charset="-122"/>
                  <a:cs typeface="Consolas" pitchFamily="49" charset="0"/>
                </a:rPr>
                <a:t>1</a:t>
              </a:r>
            </a:p>
          </p:txBody>
        </p:sp>
        <p:sp>
          <p:nvSpPr>
            <p:cNvPr id="34" name="Oval 11">
              <a:extLst>
                <a:ext uri="{FF2B5EF4-FFF2-40B4-BE49-F238E27FC236}">
                  <a16:creationId xmlns:a16="http://schemas.microsoft.com/office/drawing/2014/main" id="{395612B7-E0C2-3F1B-115D-EFCDAAD554DA}"/>
                </a:ext>
              </a:extLst>
            </p:cNvPr>
            <p:cNvSpPr>
              <a:spLocks noChangeArrowheads="1"/>
            </p:cNvSpPr>
            <p:nvPr/>
          </p:nvSpPr>
          <p:spPr bwMode="auto">
            <a:xfrm>
              <a:off x="501620" y="2160569"/>
              <a:ext cx="360363" cy="360363"/>
            </a:xfrm>
            <a:prstGeom prst="ellipse">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anchor="ctr"/>
            <a:lstStyle/>
            <a:p>
              <a:pPr algn="ctr">
                <a:spcBef>
                  <a:spcPct val="0"/>
                </a:spcBef>
              </a:pPr>
              <a:r>
                <a:rPr lang="en-US" altLang="zh-CN" sz="1800">
                  <a:solidFill>
                    <a:srgbClr val="3333FF"/>
                  </a:solidFill>
                  <a:latin typeface="Consolas" pitchFamily="49" charset="0"/>
                  <a:ea typeface="宋体" pitchFamily="2" charset="-122"/>
                  <a:cs typeface="Consolas" pitchFamily="49" charset="0"/>
                </a:rPr>
                <a:t>2</a:t>
              </a:r>
            </a:p>
          </p:txBody>
        </p:sp>
        <p:sp>
          <p:nvSpPr>
            <p:cNvPr id="35" name="Oval 12">
              <a:extLst>
                <a:ext uri="{FF2B5EF4-FFF2-40B4-BE49-F238E27FC236}">
                  <a16:creationId xmlns:a16="http://schemas.microsoft.com/office/drawing/2014/main" id="{F3A01821-434A-4711-BD45-B8A7781C4B7D}"/>
                </a:ext>
              </a:extLst>
            </p:cNvPr>
            <p:cNvSpPr>
              <a:spLocks noChangeArrowheads="1"/>
            </p:cNvSpPr>
            <p:nvPr/>
          </p:nvSpPr>
          <p:spPr bwMode="auto">
            <a:xfrm>
              <a:off x="2517745" y="2160569"/>
              <a:ext cx="360363" cy="360363"/>
            </a:xfrm>
            <a:prstGeom prst="ellipse">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anchor="ctr"/>
            <a:lstStyle/>
            <a:p>
              <a:pPr algn="ctr">
                <a:spcBef>
                  <a:spcPct val="0"/>
                </a:spcBef>
              </a:pPr>
              <a:r>
                <a:rPr lang="en-US" altLang="zh-CN" sz="1800">
                  <a:solidFill>
                    <a:srgbClr val="3333FF"/>
                  </a:solidFill>
                  <a:latin typeface="Consolas" pitchFamily="49" charset="0"/>
                  <a:ea typeface="宋体" pitchFamily="2" charset="-122"/>
                  <a:cs typeface="Consolas" pitchFamily="49" charset="0"/>
                </a:rPr>
                <a:t>3</a:t>
              </a:r>
            </a:p>
          </p:txBody>
        </p:sp>
        <p:sp>
          <p:nvSpPr>
            <p:cNvPr id="36" name="Line 13">
              <a:extLst>
                <a:ext uri="{FF2B5EF4-FFF2-40B4-BE49-F238E27FC236}">
                  <a16:creationId xmlns:a16="http://schemas.microsoft.com/office/drawing/2014/main" id="{696AE80B-6AC2-3FD1-3B0B-99CD8FF30BF8}"/>
                </a:ext>
              </a:extLst>
            </p:cNvPr>
            <p:cNvSpPr>
              <a:spLocks noChangeShapeType="1"/>
            </p:cNvSpPr>
            <p:nvPr/>
          </p:nvSpPr>
          <p:spPr bwMode="auto">
            <a:xfrm>
              <a:off x="861983" y="1081069"/>
              <a:ext cx="1584325" cy="0"/>
            </a:xfrm>
            <a:prstGeom prst="line">
              <a:avLst/>
            </a:prstGeom>
            <a:noFill/>
            <a:ln w="19050">
              <a:solidFill>
                <a:srgbClr val="7030A0"/>
              </a:solidFill>
              <a:round/>
              <a:headEnd/>
              <a:tailEnd type="stealth" w="med" len="lg"/>
            </a:ln>
            <a:effectLst/>
          </p:spPr>
          <p:txBody>
            <a:bodyPr wrap="none"/>
            <a:lstStyle/>
            <a:p>
              <a:endParaRPr lang="zh-CN" altLang="en-US">
                <a:latin typeface="Consolas" pitchFamily="49" charset="0"/>
                <a:cs typeface="Consolas" pitchFamily="49" charset="0"/>
              </a:endParaRPr>
            </a:p>
          </p:txBody>
        </p:sp>
        <p:sp>
          <p:nvSpPr>
            <p:cNvPr id="37" name="Line 14">
              <a:extLst>
                <a:ext uri="{FF2B5EF4-FFF2-40B4-BE49-F238E27FC236}">
                  <a16:creationId xmlns:a16="http://schemas.microsoft.com/office/drawing/2014/main" id="{5DBC7198-AE45-7128-BFA4-619BA6754CDB}"/>
                </a:ext>
              </a:extLst>
            </p:cNvPr>
            <p:cNvSpPr>
              <a:spLocks noChangeShapeType="1"/>
            </p:cNvSpPr>
            <p:nvPr/>
          </p:nvSpPr>
          <p:spPr bwMode="auto">
            <a:xfrm flipV="1">
              <a:off x="646083" y="1296969"/>
              <a:ext cx="0" cy="863600"/>
            </a:xfrm>
            <a:prstGeom prst="line">
              <a:avLst/>
            </a:prstGeom>
            <a:noFill/>
            <a:ln w="19050">
              <a:solidFill>
                <a:srgbClr val="7030A0"/>
              </a:solidFill>
              <a:round/>
              <a:headEnd/>
              <a:tailEnd type="stealth" w="med" len="lg"/>
            </a:ln>
            <a:effectLst/>
          </p:spPr>
          <p:txBody>
            <a:bodyPr wrap="none"/>
            <a:lstStyle/>
            <a:p>
              <a:endParaRPr lang="zh-CN" altLang="en-US">
                <a:latin typeface="Consolas" pitchFamily="49" charset="0"/>
                <a:cs typeface="Consolas" pitchFamily="49" charset="0"/>
              </a:endParaRPr>
            </a:p>
          </p:txBody>
        </p:sp>
        <p:sp>
          <p:nvSpPr>
            <p:cNvPr id="38" name="Freeform 15">
              <a:extLst>
                <a:ext uri="{FF2B5EF4-FFF2-40B4-BE49-F238E27FC236}">
                  <a16:creationId xmlns:a16="http://schemas.microsoft.com/office/drawing/2014/main" id="{B7B4D060-B67F-C9DC-18E6-0049FC104D6A}"/>
                </a:ext>
              </a:extLst>
            </p:cNvPr>
            <p:cNvSpPr>
              <a:spLocks/>
            </p:cNvSpPr>
            <p:nvPr/>
          </p:nvSpPr>
          <p:spPr bwMode="auto">
            <a:xfrm>
              <a:off x="841345" y="1211244"/>
              <a:ext cx="1676400" cy="1020763"/>
            </a:xfrm>
            <a:custGeom>
              <a:avLst/>
              <a:gdLst/>
              <a:ahLst/>
              <a:cxnLst>
                <a:cxn ang="0">
                  <a:pos x="0" y="0"/>
                </a:cxn>
                <a:cxn ang="0">
                  <a:pos x="1056" y="643"/>
                </a:cxn>
              </a:cxnLst>
              <a:rect l="0" t="0" r="r" b="b"/>
              <a:pathLst>
                <a:path w="1056" h="643">
                  <a:moveTo>
                    <a:pt x="0" y="0"/>
                  </a:moveTo>
                  <a:lnTo>
                    <a:pt x="1056" y="643"/>
                  </a:lnTo>
                </a:path>
              </a:pathLst>
            </a:custGeom>
            <a:noFill/>
            <a:ln w="19050" cap="flat" cmpd="sng">
              <a:solidFill>
                <a:srgbClr val="7030A0"/>
              </a:solidFill>
              <a:prstDash val="solid"/>
              <a:round/>
              <a:headEnd type="none" w="med" len="med"/>
              <a:tailEnd type="stealth" w="med" len="lg"/>
            </a:ln>
            <a:effectLst/>
          </p:spPr>
          <p:txBody>
            <a:bodyPr wrap="none"/>
            <a:lstStyle/>
            <a:p>
              <a:endParaRPr lang="zh-CN" altLang="en-US">
                <a:latin typeface="Consolas" pitchFamily="49" charset="0"/>
                <a:cs typeface="Consolas" pitchFamily="49" charset="0"/>
              </a:endParaRPr>
            </a:p>
          </p:txBody>
        </p:sp>
        <p:sp>
          <p:nvSpPr>
            <p:cNvPr id="39" name="Line 16">
              <a:extLst>
                <a:ext uri="{FF2B5EF4-FFF2-40B4-BE49-F238E27FC236}">
                  <a16:creationId xmlns:a16="http://schemas.microsoft.com/office/drawing/2014/main" id="{9B963406-F6E0-0C03-30CD-D65EA72141D7}"/>
                </a:ext>
              </a:extLst>
            </p:cNvPr>
            <p:cNvSpPr>
              <a:spLocks noChangeShapeType="1"/>
            </p:cNvSpPr>
            <p:nvPr/>
          </p:nvSpPr>
          <p:spPr bwMode="auto">
            <a:xfrm>
              <a:off x="2662208" y="1296969"/>
              <a:ext cx="0" cy="863600"/>
            </a:xfrm>
            <a:prstGeom prst="line">
              <a:avLst/>
            </a:prstGeom>
            <a:noFill/>
            <a:ln w="19050">
              <a:solidFill>
                <a:srgbClr val="7030A0"/>
              </a:solidFill>
              <a:round/>
              <a:headEnd/>
              <a:tailEnd type="stealth" w="med" len="lg"/>
            </a:ln>
            <a:effectLst/>
          </p:spPr>
          <p:txBody>
            <a:bodyPr wrap="none"/>
            <a:lstStyle/>
            <a:p>
              <a:endParaRPr lang="zh-CN" altLang="en-US">
                <a:latin typeface="Consolas" pitchFamily="49" charset="0"/>
                <a:cs typeface="Consolas" pitchFamily="49" charset="0"/>
              </a:endParaRPr>
            </a:p>
          </p:txBody>
        </p:sp>
        <p:sp>
          <p:nvSpPr>
            <p:cNvPr id="40" name="Text Box 22">
              <a:extLst>
                <a:ext uri="{FF2B5EF4-FFF2-40B4-BE49-F238E27FC236}">
                  <a16:creationId xmlns:a16="http://schemas.microsoft.com/office/drawing/2014/main" id="{52E6FC68-0FF7-D0B3-0395-BF2E259FB008}"/>
                </a:ext>
              </a:extLst>
            </p:cNvPr>
            <p:cNvSpPr txBox="1">
              <a:spLocks noChangeArrowheads="1"/>
            </p:cNvSpPr>
            <p:nvPr/>
          </p:nvSpPr>
          <p:spPr bwMode="auto">
            <a:xfrm>
              <a:off x="285720" y="1504931"/>
              <a:ext cx="431800" cy="338554"/>
            </a:xfrm>
            <a:prstGeom prst="rect">
              <a:avLst/>
            </a:prstGeom>
            <a:noFill/>
            <a:ln w="19050" algn="ctr">
              <a:noFill/>
              <a:miter lim="800000"/>
              <a:headEnd/>
              <a:tailEnd type="none" w="med" len="lg"/>
            </a:ln>
            <a:effectLst/>
          </p:spPr>
          <p:txBody>
            <a:bodyPr>
              <a:spAutoFit/>
            </a:bodyPr>
            <a:lstStyle/>
            <a:p>
              <a:pPr algn="ctr"/>
              <a:r>
                <a:rPr lang="en-US" altLang="zh-CN" sz="1600">
                  <a:solidFill>
                    <a:srgbClr val="FF0000"/>
                  </a:solidFill>
                  <a:latin typeface="Consolas" pitchFamily="49" charset="0"/>
                  <a:ea typeface="宋体" pitchFamily="2" charset="-122"/>
                  <a:cs typeface="Consolas" pitchFamily="49" charset="0"/>
                </a:rPr>
                <a:t>3</a:t>
              </a:r>
            </a:p>
          </p:txBody>
        </p:sp>
        <p:sp>
          <p:nvSpPr>
            <p:cNvPr id="41" name="Text Box 23">
              <a:extLst>
                <a:ext uri="{FF2B5EF4-FFF2-40B4-BE49-F238E27FC236}">
                  <a16:creationId xmlns:a16="http://schemas.microsoft.com/office/drawing/2014/main" id="{DD934AF0-DDB2-1FDE-BF4F-91B1AE5FE432}"/>
                </a:ext>
              </a:extLst>
            </p:cNvPr>
            <p:cNvSpPr txBox="1">
              <a:spLocks noChangeArrowheads="1"/>
            </p:cNvSpPr>
            <p:nvPr/>
          </p:nvSpPr>
          <p:spPr bwMode="auto">
            <a:xfrm>
              <a:off x="2590770" y="1577956"/>
              <a:ext cx="431800" cy="338554"/>
            </a:xfrm>
            <a:prstGeom prst="rect">
              <a:avLst/>
            </a:prstGeom>
            <a:noFill/>
            <a:ln w="19050" algn="ctr">
              <a:noFill/>
              <a:miter lim="800000"/>
              <a:headEnd/>
              <a:tailEnd type="none" w="med" len="lg"/>
            </a:ln>
            <a:effectLst/>
          </p:spPr>
          <p:txBody>
            <a:bodyPr>
              <a:spAutoFit/>
            </a:bodyPr>
            <a:lstStyle/>
            <a:p>
              <a:pPr algn="ctr"/>
              <a:r>
                <a:rPr lang="en-US" altLang="zh-CN" sz="1600">
                  <a:solidFill>
                    <a:srgbClr val="FF0000"/>
                  </a:solidFill>
                  <a:latin typeface="Consolas" pitchFamily="49" charset="0"/>
                  <a:ea typeface="宋体" pitchFamily="2" charset="-122"/>
                  <a:cs typeface="Consolas" pitchFamily="49" charset="0"/>
                </a:rPr>
                <a:t>2</a:t>
              </a:r>
            </a:p>
          </p:txBody>
        </p:sp>
        <p:sp>
          <p:nvSpPr>
            <p:cNvPr id="42" name="Text Box 24">
              <a:extLst>
                <a:ext uri="{FF2B5EF4-FFF2-40B4-BE49-F238E27FC236}">
                  <a16:creationId xmlns:a16="http://schemas.microsoft.com/office/drawing/2014/main" id="{CC3362AF-97B9-3014-E885-E40890D09D6A}"/>
                </a:ext>
              </a:extLst>
            </p:cNvPr>
            <p:cNvSpPr txBox="1">
              <a:spLocks noChangeArrowheads="1"/>
            </p:cNvSpPr>
            <p:nvPr/>
          </p:nvSpPr>
          <p:spPr bwMode="auto">
            <a:xfrm>
              <a:off x="1006445" y="1081069"/>
              <a:ext cx="431800" cy="338554"/>
            </a:xfrm>
            <a:prstGeom prst="rect">
              <a:avLst/>
            </a:prstGeom>
            <a:noFill/>
            <a:ln w="19050" algn="ctr">
              <a:noFill/>
              <a:miter lim="800000"/>
              <a:headEnd/>
              <a:tailEnd type="none" w="med" len="lg"/>
            </a:ln>
            <a:effectLst/>
          </p:spPr>
          <p:txBody>
            <a:bodyPr>
              <a:spAutoFit/>
            </a:bodyPr>
            <a:lstStyle/>
            <a:p>
              <a:pPr algn="ctr"/>
              <a:r>
                <a:rPr lang="en-US" altLang="zh-CN" sz="1600">
                  <a:solidFill>
                    <a:srgbClr val="FF0000"/>
                  </a:solidFill>
                  <a:latin typeface="Consolas" pitchFamily="49" charset="0"/>
                  <a:ea typeface="宋体" pitchFamily="2" charset="-122"/>
                  <a:cs typeface="Consolas" pitchFamily="49" charset="0"/>
                </a:rPr>
                <a:t>7</a:t>
              </a:r>
            </a:p>
          </p:txBody>
        </p:sp>
        <p:sp>
          <p:nvSpPr>
            <p:cNvPr id="43" name="Text Box 25">
              <a:extLst>
                <a:ext uri="{FF2B5EF4-FFF2-40B4-BE49-F238E27FC236}">
                  <a16:creationId xmlns:a16="http://schemas.microsoft.com/office/drawing/2014/main" id="{30CC8A94-5436-80BD-339E-6F81BD80CFE9}"/>
                </a:ext>
              </a:extLst>
            </p:cNvPr>
            <p:cNvSpPr txBox="1">
              <a:spLocks noChangeArrowheads="1"/>
            </p:cNvSpPr>
            <p:nvPr/>
          </p:nvSpPr>
          <p:spPr bwMode="auto">
            <a:xfrm>
              <a:off x="1941483" y="1577956"/>
              <a:ext cx="431800" cy="338554"/>
            </a:xfrm>
            <a:prstGeom prst="rect">
              <a:avLst/>
            </a:prstGeom>
            <a:noFill/>
            <a:ln w="19050" algn="ctr">
              <a:noFill/>
              <a:miter lim="800000"/>
              <a:headEnd/>
              <a:tailEnd type="none" w="med" len="lg"/>
            </a:ln>
            <a:effectLst/>
          </p:spPr>
          <p:txBody>
            <a:bodyPr>
              <a:spAutoFit/>
            </a:bodyPr>
            <a:lstStyle/>
            <a:p>
              <a:pPr algn="ctr"/>
              <a:r>
                <a:rPr lang="en-US" altLang="zh-CN" sz="1600">
                  <a:solidFill>
                    <a:srgbClr val="FF0000"/>
                  </a:solidFill>
                  <a:latin typeface="Consolas" pitchFamily="49" charset="0"/>
                  <a:ea typeface="宋体" pitchFamily="2" charset="-122"/>
                  <a:cs typeface="Consolas" pitchFamily="49" charset="0"/>
                </a:rPr>
                <a:t>3</a:t>
              </a:r>
            </a:p>
          </p:txBody>
        </p:sp>
        <p:sp>
          <p:nvSpPr>
            <p:cNvPr id="44" name="Text Box 26">
              <a:extLst>
                <a:ext uri="{FF2B5EF4-FFF2-40B4-BE49-F238E27FC236}">
                  <a16:creationId xmlns:a16="http://schemas.microsoft.com/office/drawing/2014/main" id="{A894AEE6-3952-7C88-3D89-729A16A4763D}"/>
                </a:ext>
              </a:extLst>
            </p:cNvPr>
            <p:cNvSpPr txBox="1">
              <a:spLocks noChangeArrowheads="1"/>
            </p:cNvSpPr>
            <p:nvPr/>
          </p:nvSpPr>
          <p:spPr bwMode="auto">
            <a:xfrm>
              <a:off x="1438245" y="2562154"/>
              <a:ext cx="431800" cy="338554"/>
            </a:xfrm>
            <a:prstGeom prst="rect">
              <a:avLst/>
            </a:prstGeom>
            <a:noFill/>
            <a:ln w="19050" algn="ctr">
              <a:noFill/>
              <a:miter lim="800000"/>
              <a:headEnd/>
              <a:tailEnd type="none" w="med" len="lg"/>
            </a:ln>
            <a:effectLst/>
          </p:spPr>
          <p:txBody>
            <a:bodyPr>
              <a:spAutoFit/>
            </a:bodyPr>
            <a:lstStyle/>
            <a:p>
              <a:pPr algn="ctr"/>
              <a:r>
                <a:rPr lang="en-US" altLang="zh-CN" sz="1600">
                  <a:solidFill>
                    <a:srgbClr val="FF0000"/>
                  </a:solidFill>
                  <a:latin typeface="Consolas" pitchFamily="49" charset="0"/>
                  <a:ea typeface="宋体" pitchFamily="2" charset="-122"/>
                  <a:cs typeface="Consolas" pitchFamily="49" charset="0"/>
                </a:rPr>
                <a:t>1</a:t>
              </a:r>
            </a:p>
          </p:txBody>
        </p:sp>
        <p:sp>
          <p:nvSpPr>
            <p:cNvPr id="45" name="Text Box 27">
              <a:extLst>
                <a:ext uri="{FF2B5EF4-FFF2-40B4-BE49-F238E27FC236}">
                  <a16:creationId xmlns:a16="http://schemas.microsoft.com/office/drawing/2014/main" id="{971AAA15-E0C6-BB8B-A039-01371B877A0B}"/>
                </a:ext>
              </a:extLst>
            </p:cNvPr>
            <p:cNvSpPr txBox="1">
              <a:spLocks noChangeArrowheads="1"/>
            </p:cNvSpPr>
            <p:nvPr/>
          </p:nvSpPr>
          <p:spPr bwMode="auto">
            <a:xfrm>
              <a:off x="1438245" y="2154219"/>
              <a:ext cx="431800" cy="338554"/>
            </a:xfrm>
            <a:prstGeom prst="rect">
              <a:avLst/>
            </a:prstGeom>
            <a:noFill/>
            <a:ln w="19050" algn="ctr">
              <a:noFill/>
              <a:miter lim="800000"/>
              <a:headEnd/>
              <a:tailEnd type="none" w="med" len="lg"/>
            </a:ln>
            <a:effectLst/>
          </p:spPr>
          <p:txBody>
            <a:bodyPr>
              <a:spAutoFit/>
            </a:bodyPr>
            <a:lstStyle/>
            <a:p>
              <a:pPr algn="ctr"/>
              <a:r>
                <a:rPr lang="en-US" altLang="zh-CN" sz="1600">
                  <a:solidFill>
                    <a:srgbClr val="FF0000"/>
                  </a:solidFill>
                  <a:latin typeface="Consolas" pitchFamily="49" charset="0"/>
                  <a:ea typeface="宋体" pitchFamily="2" charset="-122"/>
                  <a:cs typeface="Consolas" pitchFamily="49" charset="0"/>
                </a:rPr>
                <a:t>2</a:t>
              </a:r>
            </a:p>
          </p:txBody>
        </p:sp>
        <p:sp>
          <p:nvSpPr>
            <p:cNvPr id="46" name="Text Box 28">
              <a:extLst>
                <a:ext uri="{FF2B5EF4-FFF2-40B4-BE49-F238E27FC236}">
                  <a16:creationId xmlns:a16="http://schemas.microsoft.com/office/drawing/2014/main" id="{23F07782-4897-223A-CDDD-CA8CA55089F9}"/>
                </a:ext>
              </a:extLst>
            </p:cNvPr>
            <p:cNvSpPr txBox="1">
              <a:spLocks noChangeArrowheads="1"/>
            </p:cNvSpPr>
            <p:nvPr/>
          </p:nvSpPr>
          <p:spPr bwMode="auto">
            <a:xfrm>
              <a:off x="765145" y="1539856"/>
              <a:ext cx="431800" cy="338554"/>
            </a:xfrm>
            <a:prstGeom prst="rect">
              <a:avLst/>
            </a:prstGeom>
            <a:noFill/>
            <a:ln w="19050" algn="ctr">
              <a:noFill/>
              <a:miter lim="800000"/>
              <a:headEnd/>
              <a:tailEnd type="none" w="med" len="lg"/>
            </a:ln>
            <a:effectLst/>
          </p:spPr>
          <p:txBody>
            <a:bodyPr>
              <a:spAutoFit/>
            </a:bodyPr>
            <a:lstStyle/>
            <a:p>
              <a:pPr algn="ctr"/>
              <a:r>
                <a:rPr lang="en-US" altLang="zh-CN" sz="1600">
                  <a:solidFill>
                    <a:srgbClr val="FF0000"/>
                  </a:solidFill>
                  <a:latin typeface="Consolas" pitchFamily="49" charset="0"/>
                  <a:ea typeface="宋体" pitchFamily="2" charset="-122"/>
                  <a:cs typeface="Consolas" pitchFamily="49" charset="0"/>
                </a:rPr>
                <a:t>4</a:t>
              </a:r>
            </a:p>
          </p:txBody>
        </p:sp>
        <p:sp>
          <p:nvSpPr>
            <p:cNvPr id="47" name="任意多边形 119">
              <a:extLst>
                <a:ext uri="{FF2B5EF4-FFF2-40B4-BE49-F238E27FC236}">
                  <a16:creationId xmlns:a16="http://schemas.microsoft.com/office/drawing/2014/main" id="{151A659B-9236-51D5-6C64-550B3EFC4C09}"/>
                </a:ext>
              </a:extLst>
            </p:cNvPr>
            <p:cNvSpPr/>
            <p:nvPr/>
          </p:nvSpPr>
          <p:spPr>
            <a:xfrm>
              <a:off x="830232" y="2425678"/>
              <a:ext cx="1714500" cy="190500"/>
            </a:xfrm>
            <a:custGeom>
              <a:avLst/>
              <a:gdLst>
                <a:gd name="connsiteX0" fmla="*/ 1714500 w 1714500"/>
                <a:gd name="connsiteY0" fmla="*/ 0 h 190500"/>
                <a:gd name="connsiteX1" fmla="*/ 1612900 w 1714500"/>
                <a:gd name="connsiteY1" fmla="*/ 76200 h 190500"/>
                <a:gd name="connsiteX2" fmla="*/ 1130300 w 1714500"/>
                <a:gd name="connsiteY2" fmla="*/ 177800 h 190500"/>
                <a:gd name="connsiteX3" fmla="*/ 596900 w 1714500"/>
                <a:gd name="connsiteY3" fmla="*/ 152400 h 190500"/>
                <a:gd name="connsiteX4" fmla="*/ 0 w 1714500"/>
                <a:gd name="connsiteY4" fmla="*/ 50800 h 190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4500" h="190500">
                  <a:moveTo>
                    <a:pt x="1714500" y="0"/>
                  </a:moveTo>
                  <a:cubicBezTo>
                    <a:pt x="1712383" y="23283"/>
                    <a:pt x="1710267" y="46567"/>
                    <a:pt x="1612900" y="76200"/>
                  </a:cubicBezTo>
                  <a:cubicBezTo>
                    <a:pt x="1515533" y="105833"/>
                    <a:pt x="1299633" y="165100"/>
                    <a:pt x="1130300" y="177800"/>
                  </a:cubicBezTo>
                  <a:cubicBezTo>
                    <a:pt x="960967" y="190500"/>
                    <a:pt x="785283" y="173567"/>
                    <a:pt x="596900" y="152400"/>
                  </a:cubicBezTo>
                  <a:cubicBezTo>
                    <a:pt x="408517" y="131233"/>
                    <a:pt x="204258" y="91016"/>
                    <a:pt x="0" y="50800"/>
                  </a:cubicBezTo>
                </a:path>
              </a:pathLst>
            </a:custGeom>
            <a:ln w="28575">
              <a:solidFill>
                <a:srgbClr val="7030A0"/>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Consolas" pitchFamily="49" charset="0"/>
                <a:cs typeface="Consolas" pitchFamily="49" charset="0"/>
              </a:endParaRPr>
            </a:p>
          </p:txBody>
        </p:sp>
        <p:sp>
          <p:nvSpPr>
            <p:cNvPr id="48" name="任意多边形 120">
              <a:extLst>
                <a:ext uri="{FF2B5EF4-FFF2-40B4-BE49-F238E27FC236}">
                  <a16:creationId xmlns:a16="http://schemas.microsoft.com/office/drawing/2014/main" id="{B751311F-07D1-3051-6D45-AED06006BE3C}"/>
                </a:ext>
              </a:extLst>
            </p:cNvPr>
            <p:cNvSpPr/>
            <p:nvPr/>
          </p:nvSpPr>
          <p:spPr>
            <a:xfrm>
              <a:off x="881032" y="2194961"/>
              <a:ext cx="1638300" cy="141817"/>
            </a:xfrm>
            <a:custGeom>
              <a:avLst/>
              <a:gdLst>
                <a:gd name="connsiteX0" fmla="*/ 0 w 1638300"/>
                <a:gd name="connsiteY0" fmla="*/ 141817 h 141817"/>
                <a:gd name="connsiteX1" fmla="*/ 114300 w 1638300"/>
                <a:gd name="connsiteY1" fmla="*/ 103717 h 141817"/>
                <a:gd name="connsiteX2" fmla="*/ 495300 w 1638300"/>
                <a:gd name="connsiteY2" fmla="*/ 14817 h 141817"/>
                <a:gd name="connsiteX3" fmla="*/ 863600 w 1638300"/>
                <a:gd name="connsiteY3" fmla="*/ 14817 h 141817"/>
                <a:gd name="connsiteX4" fmla="*/ 1638300 w 1638300"/>
                <a:gd name="connsiteY4" fmla="*/ 103717 h 141817"/>
                <a:gd name="connsiteX0" fmla="*/ 0 w 1638300"/>
                <a:gd name="connsiteY0" fmla="*/ 141817 h 141817"/>
                <a:gd name="connsiteX1" fmla="*/ 114300 w 1638300"/>
                <a:gd name="connsiteY1" fmla="*/ 103717 h 141817"/>
                <a:gd name="connsiteX2" fmla="*/ 495300 w 1638300"/>
                <a:gd name="connsiteY2" fmla="*/ 14817 h 141817"/>
                <a:gd name="connsiteX3" fmla="*/ 863600 w 1638300"/>
                <a:gd name="connsiteY3" fmla="*/ 14817 h 141817"/>
                <a:gd name="connsiteX4" fmla="*/ 1638300 w 1638300"/>
                <a:gd name="connsiteY4" fmla="*/ 103717 h 1418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38300" h="141817">
                  <a:moveTo>
                    <a:pt x="0" y="141817"/>
                  </a:moveTo>
                  <a:cubicBezTo>
                    <a:pt x="15875" y="133350"/>
                    <a:pt x="31750" y="124884"/>
                    <a:pt x="114300" y="103717"/>
                  </a:cubicBezTo>
                  <a:cubicBezTo>
                    <a:pt x="196850" y="82550"/>
                    <a:pt x="370417" y="29634"/>
                    <a:pt x="495300" y="14817"/>
                  </a:cubicBezTo>
                  <a:cubicBezTo>
                    <a:pt x="620183" y="0"/>
                    <a:pt x="673100" y="0"/>
                    <a:pt x="863600" y="14817"/>
                  </a:cubicBezTo>
                  <a:cubicBezTo>
                    <a:pt x="1054100" y="29634"/>
                    <a:pt x="1346200" y="66675"/>
                    <a:pt x="1638300" y="103717"/>
                  </a:cubicBezTo>
                </a:path>
              </a:pathLst>
            </a:custGeom>
            <a:ln w="28575">
              <a:solidFill>
                <a:srgbClr val="7030A0"/>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Consolas" pitchFamily="49" charset="0"/>
                <a:cs typeface="Consolas" pitchFamily="49" charset="0"/>
              </a:endParaRPr>
            </a:p>
          </p:txBody>
        </p:sp>
        <p:sp>
          <p:nvSpPr>
            <p:cNvPr id="49" name="任意多边形 121">
              <a:extLst>
                <a:ext uri="{FF2B5EF4-FFF2-40B4-BE49-F238E27FC236}">
                  <a16:creationId xmlns:a16="http://schemas.microsoft.com/office/drawing/2014/main" id="{49A87917-9084-0E15-84AD-4B16E11FC3B7}"/>
                </a:ext>
              </a:extLst>
            </p:cNvPr>
            <p:cNvSpPr/>
            <p:nvPr/>
          </p:nvSpPr>
          <p:spPr>
            <a:xfrm>
              <a:off x="741332" y="1155678"/>
              <a:ext cx="1714500" cy="1016000"/>
            </a:xfrm>
            <a:custGeom>
              <a:avLst/>
              <a:gdLst>
                <a:gd name="connsiteX0" fmla="*/ 1714500 w 1714500"/>
                <a:gd name="connsiteY0" fmla="*/ 0 h 1016000"/>
                <a:gd name="connsiteX1" fmla="*/ 1549400 w 1714500"/>
                <a:gd name="connsiteY1" fmla="*/ 38100 h 1016000"/>
                <a:gd name="connsiteX2" fmla="*/ 1143000 w 1714500"/>
                <a:gd name="connsiteY2" fmla="*/ 165100 h 1016000"/>
                <a:gd name="connsiteX3" fmla="*/ 609600 w 1714500"/>
                <a:gd name="connsiteY3" fmla="*/ 406400 h 1016000"/>
                <a:gd name="connsiteX4" fmla="*/ 0 w 1714500"/>
                <a:gd name="connsiteY4" fmla="*/ 1016000 h 1016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4500" h="1016000">
                  <a:moveTo>
                    <a:pt x="1714500" y="0"/>
                  </a:moveTo>
                  <a:cubicBezTo>
                    <a:pt x="1679575" y="5291"/>
                    <a:pt x="1644650" y="10583"/>
                    <a:pt x="1549400" y="38100"/>
                  </a:cubicBezTo>
                  <a:cubicBezTo>
                    <a:pt x="1454150" y="65617"/>
                    <a:pt x="1299633" y="103717"/>
                    <a:pt x="1143000" y="165100"/>
                  </a:cubicBezTo>
                  <a:cubicBezTo>
                    <a:pt x="986367" y="226483"/>
                    <a:pt x="800100" y="264583"/>
                    <a:pt x="609600" y="406400"/>
                  </a:cubicBezTo>
                  <a:cubicBezTo>
                    <a:pt x="419100" y="548217"/>
                    <a:pt x="209550" y="782108"/>
                    <a:pt x="0" y="1016000"/>
                  </a:cubicBezTo>
                </a:path>
              </a:pathLst>
            </a:custGeom>
            <a:ln w="28575">
              <a:solidFill>
                <a:srgbClr val="7030A0"/>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Consolas" pitchFamily="49" charset="0"/>
                <a:cs typeface="Consolas" pitchFamily="49" charset="0"/>
              </a:endParaRPr>
            </a:p>
          </p:txBody>
        </p:sp>
        <p:sp>
          <p:nvSpPr>
            <p:cNvPr id="50" name="任意多边形 122">
              <a:extLst>
                <a:ext uri="{FF2B5EF4-FFF2-40B4-BE49-F238E27FC236}">
                  <a16:creationId xmlns:a16="http://schemas.microsoft.com/office/drawing/2014/main" id="{D25EA4B2-3E81-D197-2876-5B9FE9100EDD}"/>
                </a:ext>
              </a:extLst>
            </p:cNvPr>
            <p:cNvSpPr/>
            <p:nvPr/>
          </p:nvSpPr>
          <p:spPr>
            <a:xfrm>
              <a:off x="817532" y="1269978"/>
              <a:ext cx="1689100" cy="990600"/>
            </a:xfrm>
            <a:custGeom>
              <a:avLst/>
              <a:gdLst>
                <a:gd name="connsiteX0" fmla="*/ 0 w 1689100"/>
                <a:gd name="connsiteY0" fmla="*/ 990600 h 990600"/>
                <a:gd name="connsiteX1" fmla="*/ 266700 w 1689100"/>
                <a:gd name="connsiteY1" fmla="*/ 901700 h 990600"/>
                <a:gd name="connsiteX2" fmla="*/ 787400 w 1689100"/>
                <a:gd name="connsiteY2" fmla="*/ 622300 h 990600"/>
                <a:gd name="connsiteX3" fmla="*/ 1219200 w 1689100"/>
                <a:gd name="connsiteY3" fmla="*/ 381000 h 990600"/>
                <a:gd name="connsiteX4" fmla="*/ 1689100 w 1689100"/>
                <a:gd name="connsiteY4" fmla="*/ 0 h 990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89100" h="990600">
                  <a:moveTo>
                    <a:pt x="0" y="990600"/>
                  </a:moveTo>
                  <a:cubicBezTo>
                    <a:pt x="67733" y="976841"/>
                    <a:pt x="135467" y="963083"/>
                    <a:pt x="266700" y="901700"/>
                  </a:cubicBezTo>
                  <a:cubicBezTo>
                    <a:pt x="397933" y="840317"/>
                    <a:pt x="628650" y="709083"/>
                    <a:pt x="787400" y="622300"/>
                  </a:cubicBezTo>
                  <a:cubicBezTo>
                    <a:pt x="946150" y="535517"/>
                    <a:pt x="1068917" y="484717"/>
                    <a:pt x="1219200" y="381000"/>
                  </a:cubicBezTo>
                  <a:cubicBezTo>
                    <a:pt x="1369483" y="277283"/>
                    <a:pt x="1529291" y="138641"/>
                    <a:pt x="1689100" y="0"/>
                  </a:cubicBezTo>
                </a:path>
              </a:pathLst>
            </a:custGeom>
            <a:ln w="28575">
              <a:solidFill>
                <a:srgbClr val="7030A0"/>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Consolas" pitchFamily="49" charset="0"/>
                <a:cs typeface="Consolas" pitchFamily="49" charset="0"/>
              </a:endParaRPr>
            </a:p>
          </p:txBody>
        </p:sp>
      </p:grpSp>
      <p:sp>
        <p:nvSpPr>
          <p:cNvPr id="51" name="TextBox 123">
            <a:extLst>
              <a:ext uri="{FF2B5EF4-FFF2-40B4-BE49-F238E27FC236}">
                <a16:creationId xmlns:a16="http://schemas.microsoft.com/office/drawing/2014/main" id="{9031FBA9-61AE-919B-9456-CFE77389FF3A}"/>
              </a:ext>
            </a:extLst>
          </p:cNvPr>
          <p:cNvSpPr txBox="1"/>
          <p:nvPr/>
        </p:nvSpPr>
        <p:spPr>
          <a:xfrm>
            <a:off x="2915678" y="3432468"/>
            <a:ext cx="642942" cy="400110"/>
          </a:xfrm>
          <a:prstGeom prst="rect">
            <a:avLst/>
          </a:prstGeom>
          <a:noFill/>
        </p:spPr>
        <p:txBody>
          <a:bodyPr wrap="square" rtlCol="0">
            <a:spAutoFit/>
          </a:bodyPr>
          <a:lstStyle/>
          <a:p>
            <a:r>
              <a:rPr lang="en-US" altLang="zh-CN" sz="2000" i="1">
                <a:latin typeface="Consolas" pitchFamily="49" charset="0"/>
                <a:cs typeface="Consolas" pitchFamily="49" charset="0"/>
              </a:rPr>
              <a:t>A</a:t>
            </a:r>
            <a:r>
              <a:rPr lang="en-US" altLang="zh-CN" sz="2000" baseline="-25000">
                <a:latin typeface="Consolas" pitchFamily="49" charset="0"/>
                <a:cs typeface="Consolas" pitchFamily="49" charset="0"/>
              </a:rPr>
              <a:t>-1</a:t>
            </a:r>
            <a:endParaRPr lang="zh-CN" altLang="en-US" sz="2000" baseline="-25000">
              <a:latin typeface="Consolas" pitchFamily="49" charset="0"/>
              <a:cs typeface="Consolas" pitchFamily="49" charset="0"/>
            </a:endParaRPr>
          </a:p>
        </p:txBody>
      </p:sp>
      <p:graphicFrame>
        <p:nvGraphicFramePr>
          <p:cNvPr id="52" name="表格 51">
            <a:extLst>
              <a:ext uri="{FF2B5EF4-FFF2-40B4-BE49-F238E27FC236}">
                <a16:creationId xmlns:a16="http://schemas.microsoft.com/office/drawing/2014/main" id="{AEBCE714-AC5D-B301-132B-E437C57786DD}"/>
              </a:ext>
            </a:extLst>
          </p:cNvPr>
          <p:cNvGraphicFramePr>
            <a:graphicFrameLocks noGrp="1"/>
          </p:cNvGraphicFramePr>
          <p:nvPr>
            <p:extLst>
              <p:ext uri="{D42A27DB-BD31-4B8C-83A1-F6EECF244321}">
                <p14:modId xmlns:p14="http://schemas.microsoft.com/office/powerpoint/2010/main" val="1196193677"/>
              </p:ext>
            </p:extLst>
          </p:nvPr>
        </p:nvGraphicFramePr>
        <p:xfrm>
          <a:off x="1629794" y="4003972"/>
          <a:ext cx="3071835" cy="1854200"/>
        </p:xfrm>
        <a:graphic>
          <a:graphicData uri="http://schemas.openxmlformats.org/drawingml/2006/table">
            <a:tbl>
              <a:tblPr firstRow="1" bandRow="1">
                <a:tableStyleId>{E8B1032C-EA38-4F05-BA0D-38AFFFC7BED3}</a:tableStyleId>
              </a:tblPr>
              <a:tblGrid>
                <a:gridCol w="614367">
                  <a:extLst>
                    <a:ext uri="{9D8B030D-6E8A-4147-A177-3AD203B41FA5}">
                      <a16:colId xmlns:a16="http://schemas.microsoft.com/office/drawing/2014/main" val="20000"/>
                    </a:ext>
                  </a:extLst>
                </a:gridCol>
                <a:gridCol w="614367">
                  <a:extLst>
                    <a:ext uri="{9D8B030D-6E8A-4147-A177-3AD203B41FA5}">
                      <a16:colId xmlns:a16="http://schemas.microsoft.com/office/drawing/2014/main" val="20001"/>
                    </a:ext>
                  </a:extLst>
                </a:gridCol>
                <a:gridCol w="614367">
                  <a:extLst>
                    <a:ext uri="{9D8B030D-6E8A-4147-A177-3AD203B41FA5}">
                      <a16:colId xmlns:a16="http://schemas.microsoft.com/office/drawing/2014/main" val="20002"/>
                    </a:ext>
                  </a:extLst>
                </a:gridCol>
                <a:gridCol w="614367">
                  <a:extLst>
                    <a:ext uri="{9D8B030D-6E8A-4147-A177-3AD203B41FA5}">
                      <a16:colId xmlns:a16="http://schemas.microsoft.com/office/drawing/2014/main" val="20003"/>
                    </a:ext>
                  </a:extLst>
                </a:gridCol>
                <a:gridCol w="614367">
                  <a:extLst>
                    <a:ext uri="{9D8B030D-6E8A-4147-A177-3AD203B41FA5}">
                      <a16:colId xmlns:a16="http://schemas.microsoft.com/office/drawing/2014/main" val="20004"/>
                    </a:ext>
                  </a:extLst>
                </a:gridCol>
              </a:tblGrid>
              <a:tr h="370840">
                <a:tc>
                  <a:txBody>
                    <a:bodyPr/>
                    <a:lstStyle/>
                    <a:p>
                      <a:pPr algn="ctr"/>
                      <a:endParaRPr lang="zh-CN" altLang="en-US" b="1">
                        <a:solidFill>
                          <a:srgbClr val="3333FF"/>
                        </a:solidFill>
                        <a:latin typeface="Consolas" pitchFamily="49" charset="0"/>
                        <a:cs typeface="Consolas" pitchFamily="49" charset="0"/>
                      </a:endParaRPr>
                    </a:p>
                  </a:txBody>
                  <a:tcPr>
                    <a:solidFill>
                      <a:schemeClr val="tx2">
                        <a:lumMod val="40000"/>
                        <a:lumOff val="60000"/>
                      </a:schemeClr>
                    </a:solidFill>
                  </a:tcPr>
                </a:tc>
                <a:tc>
                  <a:txBody>
                    <a:bodyPr/>
                    <a:lstStyle/>
                    <a:p>
                      <a:pPr algn="ctr"/>
                      <a:r>
                        <a:rPr lang="en-US" altLang="zh-CN" sz="1600" b="1">
                          <a:solidFill>
                            <a:srgbClr val="FF0000"/>
                          </a:solidFill>
                          <a:latin typeface="Consolas" pitchFamily="49" charset="0"/>
                          <a:cs typeface="Consolas" pitchFamily="49" charset="0"/>
                        </a:rPr>
                        <a:t>0</a:t>
                      </a:r>
                      <a:endParaRPr lang="zh-CN" altLang="en-US" sz="1600" b="1">
                        <a:solidFill>
                          <a:srgbClr val="FF0000"/>
                        </a:solidFill>
                        <a:latin typeface="Consolas" pitchFamily="49" charset="0"/>
                        <a:cs typeface="Consolas" pitchFamily="49" charset="0"/>
                      </a:endParaRPr>
                    </a:p>
                  </a:txBody>
                  <a:tcPr>
                    <a:solidFill>
                      <a:schemeClr val="tx2">
                        <a:lumMod val="40000"/>
                        <a:lumOff val="60000"/>
                      </a:schemeClr>
                    </a:solidFill>
                  </a:tcPr>
                </a:tc>
                <a:tc>
                  <a:txBody>
                    <a:bodyPr/>
                    <a:lstStyle/>
                    <a:p>
                      <a:pPr algn="ctr"/>
                      <a:r>
                        <a:rPr lang="en-US" altLang="zh-CN" sz="1600" b="1">
                          <a:solidFill>
                            <a:srgbClr val="FF0000"/>
                          </a:solidFill>
                          <a:latin typeface="Consolas" pitchFamily="49" charset="0"/>
                          <a:cs typeface="Consolas" pitchFamily="49" charset="0"/>
                        </a:rPr>
                        <a:t>1</a:t>
                      </a:r>
                      <a:endParaRPr lang="zh-CN" altLang="en-US" sz="1600" b="1">
                        <a:solidFill>
                          <a:srgbClr val="FF0000"/>
                        </a:solidFill>
                        <a:latin typeface="Consolas" pitchFamily="49" charset="0"/>
                        <a:cs typeface="Consolas" pitchFamily="49" charset="0"/>
                      </a:endParaRPr>
                    </a:p>
                  </a:txBody>
                  <a:tcPr>
                    <a:solidFill>
                      <a:schemeClr val="tx2">
                        <a:lumMod val="40000"/>
                        <a:lumOff val="60000"/>
                      </a:schemeClr>
                    </a:solidFill>
                  </a:tcPr>
                </a:tc>
                <a:tc>
                  <a:txBody>
                    <a:bodyPr/>
                    <a:lstStyle/>
                    <a:p>
                      <a:pPr algn="ctr"/>
                      <a:r>
                        <a:rPr lang="en-US" altLang="zh-CN" sz="1600" b="1">
                          <a:solidFill>
                            <a:srgbClr val="FF0000"/>
                          </a:solidFill>
                          <a:latin typeface="Consolas" pitchFamily="49" charset="0"/>
                          <a:cs typeface="Consolas" pitchFamily="49" charset="0"/>
                        </a:rPr>
                        <a:t>2</a:t>
                      </a:r>
                      <a:endParaRPr lang="zh-CN" altLang="en-US" sz="1600" b="1">
                        <a:solidFill>
                          <a:srgbClr val="FF0000"/>
                        </a:solidFill>
                        <a:latin typeface="Consolas" pitchFamily="49" charset="0"/>
                        <a:cs typeface="Consolas" pitchFamily="49" charset="0"/>
                      </a:endParaRPr>
                    </a:p>
                  </a:txBody>
                  <a:tcPr>
                    <a:solidFill>
                      <a:schemeClr val="tx2">
                        <a:lumMod val="40000"/>
                        <a:lumOff val="60000"/>
                      </a:schemeClr>
                    </a:solidFill>
                  </a:tcPr>
                </a:tc>
                <a:tc>
                  <a:txBody>
                    <a:bodyPr/>
                    <a:lstStyle/>
                    <a:p>
                      <a:pPr algn="ctr"/>
                      <a:r>
                        <a:rPr lang="en-US" altLang="zh-CN" sz="1600" b="1">
                          <a:solidFill>
                            <a:srgbClr val="FF0000"/>
                          </a:solidFill>
                          <a:latin typeface="Consolas" pitchFamily="49" charset="0"/>
                          <a:cs typeface="Consolas" pitchFamily="49" charset="0"/>
                        </a:rPr>
                        <a:t>3</a:t>
                      </a:r>
                      <a:endParaRPr lang="zh-CN" altLang="en-US" sz="1600" b="1">
                        <a:solidFill>
                          <a:srgbClr val="FF0000"/>
                        </a:solidFill>
                        <a:latin typeface="Consolas" pitchFamily="49" charset="0"/>
                        <a:cs typeface="Consolas" pitchFamily="49" charset="0"/>
                      </a:endParaRPr>
                    </a:p>
                  </a:txBody>
                  <a:tcPr>
                    <a:solidFill>
                      <a:schemeClr val="tx2">
                        <a:lumMod val="40000"/>
                        <a:lumOff val="60000"/>
                      </a:schemeClr>
                    </a:solidFill>
                  </a:tcPr>
                </a:tc>
                <a:extLst>
                  <a:ext uri="{0D108BD9-81ED-4DB2-BD59-A6C34878D82A}">
                    <a16:rowId xmlns:a16="http://schemas.microsoft.com/office/drawing/2014/main" val="10000"/>
                  </a:ext>
                </a:extLst>
              </a:tr>
              <a:tr h="370840">
                <a:tc>
                  <a:txBody>
                    <a:bodyPr/>
                    <a:lstStyle/>
                    <a:p>
                      <a:pPr algn="ctr"/>
                      <a:r>
                        <a:rPr lang="en-US" altLang="zh-CN" sz="1600" b="1">
                          <a:solidFill>
                            <a:srgbClr val="FF0000"/>
                          </a:solidFill>
                          <a:latin typeface="Consolas" pitchFamily="49" charset="0"/>
                          <a:cs typeface="Consolas" pitchFamily="49" charset="0"/>
                        </a:rPr>
                        <a:t>0</a:t>
                      </a:r>
                      <a:endParaRPr lang="zh-CN" altLang="en-US" sz="1600" b="1">
                        <a:solidFill>
                          <a:srgbClr val="FF0000"/>
                        </a:solidFill>
                        <a:latin typeface="Consolas" pitchFamily="49" charset="0"/>
                        <a:cs typeface="Consolas" pitchFamily="49" charset="0"/>
                      </a:endParaRPr>
                    </a:p>
                  </a:txBody>
                  <a:tcPr>
                    <a:solidFill>
                      <a:schemeClr val="tx2">
                        <a:lumMod val="40000"/>
                        <a:lumOff val="60000"/>
                      </a:schemeClr>
                    </a:solidFill>
                  </a:tcPr>
                </a:tc>
                <a:tc>
                  <a:txBody>
                    <a:bodyPr/>
                    <a:lstStyle/>
                    <a:p>
                      <a:pPr algn="ctr"/>
                      <a:r>
                        <a:rPr lang="en-US" altLang="zh-CN" b="1">
                          <a:solidFill>
                            <a:srgbClr val="3333FF"/>
                          </a:solidFill>
                          <a:latin typeface="Consolas" pitchFamily="49" charset="0"/>
                          <a:cs typeface="Consolas" pitchFamily="49" charset="0"/>
                        </a:rPr>
                        <a:t>0</a:t>
                      </a:r>
                      <a:endParaRPr lang="zh-CN" altLang="en-US" b="1">
                        <a:solidFill>
                          <a:srgbClr val="3333FF"/>
                        </a:solidFill>
                        <a:latin typeface="Consolas" pitchFamily="49" charset="0"/>
                        <a:cs typeface="Consolas" pitchFamily="49" charset="0"/>
                      </a:endParaRPr>
                    </a:p>
                  </a:txBody>
                  <a:tcPr/>
                </a:tc>
                <a:tc>
                  <a:txBody>
                    <a:bodyPr/>
                    <a:lstStyle/>
                    <a:p>
                      <a:pPr algn="ctr"/>
                      <a:r>
                        <a:rPr lang="en-US" altLang="zh-CN" b="1">
                          <a:solidFill>
                            <a:srgbClr val="3333FF"/>
                          </a:solidFill>
                          <a:latin typeface="Consolas" pitchFamily="49" charset="0"/>
                          <a:cs typeface="Consolas" pitchFamily="49" charset="0"/>
                        </a:rPr>
                        <a:t>5</a:t>
                      </a:r>
                      <a:endParaRPr lang="zh-CN" altLang="en-US" b="1">
                        <a:solidFill>
                          <a:srgbClr val="3333FF"/>
                        </a:solidFill>
                        <a:latin typeface="Consolas" pitchFamily="49" charset="0"/>
                        <a:cs typeface="Consolas" pitchFamily="49" charset="0"/>
                      </a:endParaRPr>
                    </a:p>
                  </a:txBody>
                  <a:tcPr/>
                </a:tc>
                <a:tc>
                  <a:txBody>
                    <a:bodyPr/>
                    <a:lstStyle/>
                    <a:p>
                      <a:pPr algn="ctr"/>
                      <a:r>
                        <a:rPr lang="zh-CN" altLang="en-US" b="1">
                          <a:solidFill>
                            <a:srgbClr val="3333FF"/>
                          </a:solidFill>
                          <a:latin typeface="Consolas" pitchFamily="49" charset="0"/>
                          <a:cs typeface="Consolas" pitchFamily="49" charset="0"/>
                        </a:rPr>
                        <a:t>∞</a:t>
                      </a:r>
                    </a:p>
                  </a:txBody>
                  <a:tcPr/>
                </a:tc>
                <a:tc>
                  <a:txBody>
                    <a:bodyPr/>
                    <a:lstStyle/>
                    <a:p>
                      <a:pPr algn="ctr"/>
                      <a:r>
                        <a:rPr lang="en-US" altLang="zh-CN" b="1">
                          <a:solidFill>
                            <a:srgbClr val="3333FF"/>
                          </a:solidFill>
                          <a:latin typeface="Consolas" pitchFamily="49" charset="0"/>
                          <a:cs typeface="Consolas" pitchFamily="49" charset="0"/>
                        </a:rPr>
                        <a:t>7</a:t>
                      </a:r>
                      <a:endParaRPr lang="zh-CN" altLang="en-US" b="1">
                        <a:solidFill>
                          <a:srgbClr val="3333FF"/>
                        </a:solidFill>
                        <a:latin typeface="Consolas" pitchFamily="49" charset="0"/>
                        <a:cs typeface="Consolas" pitchFamily="49" charset="0"/>
                      </a:endParaRPr>
                    </a:p>
                  </a:txBody>
                  <a:tcPr/>
                </a:tc>
                <a:extLst>
                  <a:ext uri="{0D108BD9-81ED-4DB2-BD59-A6C34878D82A}">
                    <a16:rowId xmlns:a16="http://schemas.microsoft.com/office/drawing/2014/main" val="10001"/>
                  </a:ext>
                </a:extLst>
              </a:tr>
              <a:tr h="370840">
                <a:tc>
                  <a:txBody>
                    <a:bodyPr/>
                    <a:lstStyle/>
                    <a:p>
                      <a:pPr algn="ctr"/>
                      <a:r>
                        <a:rPr lang="en-US" altLang="zh-CN" sz="1600" b="1">
                          <a:solidFill>
                            <a:srgbClr val="FF0000"/>
                          </a:solidFill>
                          <a:latin typeface="Consolas" pitchFamily="49" charset="0"/>
                          <a:cs typeface="Consolas" pitchFamily="49" charset="0"/>
                        </a:rPr>
                        <a:t>1</a:t>
                      </a:r>
                      <a:endParaRPr lang="zh-CN" altLang="en-US" sz="1600" b="1">
                        <a:solidFill>
                          <a:srgbClr val="FF0000"/>
                        </a:solidFill>
                        <a:latin typeface="Consolas" pitchFamily="49" charset="0"/>
                        <a:cs typeface="Consolas" pitchFamily="49" charset="0"/>
                      </a:endParaRPr>
                    </a:p>
                  </a:txBody>
                  <a:tcPr>
                    <a:solidFill>
                      <a:schemeClr val="tx2">
                        <a:lumMod val="40000"/>
                        <a:lumOff val="6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b="1">
                          <a:solidFill>
                            <a:srgbClr val="3333FF"/>
                          </a:solidFill>
                          <a:latin typeface="Consolas" pitchFamily="49" charset="0"/>
                          <a:cs typeface="Consolas" pitchFamily="49" charset="0"/>
                        </a:rPr>
                        <a:t>∞</a:t>
                      </a:r>
                    </a:p>
                  </a:txBody>
                  <a:tcPr/>
                </a:tc>
                <a:tc>
                  <a:txBody>
                    <a:bodyPr/>
                    <a:lstStyle/>
                    <a:p>
                      <a:pPr algn="ctr"/>
                      <a:r>
                        <a:rPr lang="en-US" altLang="zh-CN" b="1">
                          <a:solidFill>
                            <a:srgbClr val="3333FF"/>
                          </a:solidFill>
                          <a:latin typeface="Consolas" pitchFamily="49" charset="0"/>
                          <a:cs typeface="Consolas" pitchFamily="49" charset="0"/>
                        </a:rPr>
                        <a:t>0</a:t>
                      </a:r>
                      <a:endParaRPr lang="zh-CN" altLang="en-US" b="1">
                        <a:solidFill>
                          <a:srgbClr val="3333FF"/>
                        </a:solidFill>
                        <a:latin typeface="Consolas" pitchFamily="49" charset="0"/>
                        <a:cs typeface="Consolas" pitchFamily="49" charset="0"/>
                      </a:endParaRPr>
                    </a:p>
                  </a:txBody>
                  <a:tcPr/>
                </a:tc>
                <a:tc>
                  <a:txBody>
                    <a:bodyPr/>
                    <a:lstStyle/>
                    <a:p>
                      <a:pPr algn="ctr"/>
                      <a:r>
                        <a:rPr lang="en-US" altLang="zh-CN" b="1">
                          <a:solidFill>
                            <a:srgbClr val="3333FF"/>
                          </a:solidFill>
                          <a:latin typeface="Consolas" pitchFamily="49" charset="0"/>
                          <a:cs typeface="Consolas" pitchFamily="49" charset="0"/>
                        </a:rPr>
                        <a:t>4</a:t>
                      </a:r>
                      <a:endParaRPr lang="zh-CN" altLang="en-US" b="1">
                        <a:solidFill>
                          <a:srgbClr val="3333FF"/>
                        </a:solidFill>
                        <a:latin typeface="Consolas" pitchFamily="49" charset="0"/>
                        <a:cs typeface="Consolas" pitchFamily="49" charset="0"/>
                      </a:endParaRPr>
                    </a:p>
                  </a:txBody>
                  <a:tcPr/>
                </a:tc>
                <a:tc>
                  <a:txBody>
                    <a:bodyPr/>
                    <a:lstStyle/>
                    <a:p>
                      <a:pPr algn="ctr"/>
                      <a:r>
                        <a:rPr lang="en-US" altLang="zh-CN" b="1">
                          <a:solidFill>
                            <a:srgbClr val="3333FF"/>
                          </a:solidFill>
                          <a:latin typeface="Consolas" pitchFamily="49" charset="0"/>
                          <a:cs typeface="Consolas" pitchFamily="49" charset="0"/>
                        </a:rPr>
                        <a:t>2</a:t>
                      </a:r>
                      <a:endParaRPr lang="zh-CN" altLang="en-US" b="1">
                        <a:solidFill>
                          <a:srgbClr val="3333FF"/>
                        </a:solidFill>
                        <a:latin typeface="Consolas" pitchFamily="49" charset="0"/>
                        <a:cs typeface="Consolas" pitchFamily="49" charset="0"/>
                      </a:endParaRPr>
                    </a:p>
                  </a:txBody>
                  <a:tcPr/>
                </a:tc>
                <a:extLst>
                  <a:ext uri="{0D108BD9-81ED-4DB2-BD59-A6C34878D82A}">
                    <a16:rowId xmlns:a16="http://schemas.microsoft.com/office/drawing/2014/main" val="10002"/>
                  </a:ext>
                </a:extLst>
              </a:tr>
              <a:tr h="370840">
                <a:tc>
                  <a:txBody>
                    <a:bodyPr/>
                    <a:lstStyle/>
                    <a:p>
                      <a:pPr algn="ctr"/>
                      <a:r>
                        <a:rPr lang="en-US" altLang="zh-CN" sz="1600" b="1">
                          <a:solidFill>
                            <a:srgbClr val="FF0000"/>
                          </a:solidFill>
                          <a:latin typeface="Consolas" pitchFamily="49" charset="0"/>
                          <a:cs typeface="Consolas" pitchFamily="49" charset="0"/>
                        </a:rPr>
                        <a:t>2</a:t>
                      </a:r>
                      <a:endParaRPr lang="zh-CN" altLang="en-US" sz="1600" b="1">
                        <a:solidFill>
                          <a:srgbClr val="FF0000"/>
                        </a:solidFill>
                        <a:latin typeface="Consolas" pitchFamily="49" charset="0"/>
                        <a:cs typeface="Consolas" pitchFamily="49" charset="0"/>
                      </a:endParaRPr>
                    </a:p>
                  </a:txBody>
                  <a:tcPr>
                    <a:solidFill>
                      <a:schemeClr val="tx2">
                        <a:lumMod val="40000"/>
                        <a:lumOff val="60000"/>
                      </a:schemeClr>
                    </a:solidFill>
                  </a:tcPr>
                </a:tc>
                <a:tc>
                  <a:txBody>
                    <a:bodyPr/>
                    <a:lstStyle/>
                    <a:p>
                      <a:pPr algn="ctr"/>
                      <a:r>
                        <a:rPr lang="en-US" altLang="zh-CN" b="1">
                          <a:solidFill>
                            <a:srgbClr val="3333FF"/>
                          </a:solidFill>
                          <a:latin typeface="Consolas" pitchFamily="49" charset="0"/>
                          <a:cs typeface="Consolas" pitchFamily="49" charset="0"/>
                        </a:rPr>
                        <a:t>3</a:t>
                      </a:r>
                      <a:endParaRPr lang="zh-CN" altLang="en-US" b="1">
                        <a:solidFill>
                          <a:srgbClr val="3333FF"/>
                        </a:solidFill>
                        <a:latin typeface="Consolas" pitchFamily="49" charset="0"/>
                        <a:cs typeface="Consolas" pitchFamily="49" charset="0"/>
                      </a:endParaRPr>
                    </a:p>
                  </a:txBody>
                  <a:tcPr/>
                </a:tc>
                <a:tc>
                  <a:txBody>
                    <a:bodyPr/>
                    <a:lstStyle/>
                    <a:p>
                      <a:pPr algn="ctr"/>
                      <a:r>
                        <a:rPr lang="en-US" altLang="zh-CN" b="1">
                          <a:solidFill>
                            <a:srgbClr val="3333FF"/>
                          </a:solidFill>
                          <a:latin typeface="Consolas" pitchFamily="49" charset="0"/>
                          <a:cs typeface="Consolas" pitchFamily="49" charset="0"/>
                        </a:rPr>
                        <a:t>3</a:t>
                      </a:r>
                      <a:endParaRPr lang="zh-CN" altLang="en-US" b="1">
                        <a:solidFill>
                          <a:srgbClr val="3333FF"/>
                        </a:solidFill>
                        <a:latin typeface="Consolas" pitchFamily="49" charset="0"/>
                        <a:cs typeface="Consolas" pitchFamily="49" charset="0"/>
                      </a:endParaRPr>
                    </a:p>
                  </a:txBody>
                  <a:tcPr/>
                </a:tc>
                <a:tc>
                  <a:txBody>
                    <a:bodyPr/>
                    <a:lstStyle/>
                    <a:p>
                      <a:pPr algn="ctr"/>
                      <a:r>
                        <a:rPr lang="en-US" altLang="zh-CN" b="1">
                          <a:solidFill>
                            <a:srgbClr val="3333FF"/>
                          </a:solidFill>
                          <a:latin typeface="Consolas" pitchFamily="49" charset="0"/>
                          <a:cs typeface="Consolas" pitchFamily="49" charset="0"/>
                        </a:rPr>
                        <a:t>0</a:t>
                      </a:r>
                      <a:endParaRPr lang="zh-CN" altLang="en-US" b="1">
                        <a:solidFill>
                          <a:srgbClr val="3333FF"/>
                        </a:solidFill>
                        <a:latin typeface="Consolas" pitchFamily="49" charset="0"/>
                        <a:cs typeface="Consolas" pitchFamily="49" charset="0"/>
                      </a:endParaRPr>
                    </a:p>
                  </a:txBody>
                  <a:tcPr/>
                </a:tc>
                <a:tc>
                  <a:txBody>
                    <a:bodyPr/>
                    <a:lstStyle/>
                    <a:p>
                      <a:pPr algn="ctr"/>
                      <a:r>
                        <a:rPr lang="en-US" altLang="zh-CN" b="1">
                          <a:solidFill>
                            <a:srgbClr val="3333FF"/>
                          </a:solidFill>
                          <a:latin typeface="Consolas" pitchFamily="49" charset="0"/>
                          <a:cs typeface="Consolas" pitchFamily="49" charset="0"/>
                        </a:rPr>
                        <a:t>2</a:t>
                      </a:r>
                      <a:endParaRPr lang="zh-CN" altLang="en-US" b="1">
                        <a:solidFill>
                          <a:srgbClr val="3333FF"/>
                        </a:solidFill>
                        <a:latin typeface="Consolas" pitchFamily="49" charset="0"/>
                        <a:cs typeface="Consolas" pitchFamily="49" charset="0"/>
                      </a:endParaRPr>
                    </a:p>
                  </a:txBody>
                  <a:tcPr/>
                </a:tc>
                <a:extLst>
                  <a:ext uri="{0D108BD9-81ED-4DB2-BD59-A6C34878D82A}">
                    <a16:rowId xmlns:a16="http://schemas.microsoft.com/office/drawing/2014/main" val="10003"/>
                  </a:ext>
                </a:extLst>
              </a:tr>
              <a:tr h="370840">
                <a:tc>
                  <a:txBody>
                    <a:bodyPr/>
                    <a:lstStyle/>
                    <a:p>
                      <a:pPr algn="ctr"/>
                      <a:r>
                        <a:rPr lang="en-US" altLang="zh-CN" sz="1600" b="1">
                          <a:solidFill>
                            <a:srgbClr val="FF0000"/>
                          </a:solidFill>
                          <a:latin typeface="Consolas" pitchFamily="49" charset="0"/>
                          <a:cs typeface="Consolas" pitchFamily="49" charset="0"/>
                        </a:rPr>
                        <a:t>3</a:t>
                      </a:r>
                      <a:endParaRPr lang="zh-CN" altLang="en-US" sz="1600" b="1">
                        <a:solidFill>
                          <a:srgbClr val="FF0000"/>
                        </a:solidFill>
                        <a:latin typeface="Consolas" pitchFamily="49" charset="0"/>
                        <a:cs typeface="Consolas" pitchFamily="49" charset="0"/>
                      </a:endParaRPr>
                    </a:p>
                  </a:txBody>
                  <a:tcPr>
                    <a:solidFill>
                      <a:schemeClr val="tx2">
                        <a:lumMod val="40000"/>
                        <a:lumOff val="6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b="1">
                          <a:solidFill>
                            <a:srgbClr val="3333FF"/>
                          </a:solidFill>
                          <a:latin typeface="Consolas" pitchFamily="49" charset="0"/>
                          <a:cs typeface="Consolas" pitchFamily="49" charset="0"/>
                        </a:rPr>
                        <a:t>∞</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b="1">
                          <a:solidFill>
                            <a:srgbClr val="3333FF"/>
                          </a:solidFill>
                          <a:latin typeface="Consolas" pitchFamily="49" charset="0"/>
                          <a:cs typeface="Consolas" pitchFamily="49" charset="0"/>
                        </a:rPr>
                        <a:t>∞</a:t>
                      </a:r>
                    </a:p>
                  </a:txBody>
                  <a:tcPr/>
                </a:tc>
                <a:tc>
                  <a:txBody>
                    <a:bodyPr/>
                    <a:lstStyle/>
                    <a:p>
                      <a:pPr algn="ctr"/>
                      <a:r>
                        <a:rPr lang="en-US" altLang="zh-CN" b="1">
                          <a:solidFill>
                            <a:srgbClr val="3333FF"/>
                          </a:solidFill>
                          <a:latin typeface="Consolas" pitchFamily="49" charset="0"/>
                          <a:cs typeface="Consolas" pitchFamily="49" charset="0"/>
                        </a:rPr>
                        <a:t>1</a:t>
                      </a:r>
                      <a:endParaRPr lang="zh-CN" altLang="en-US" b="1">
                        <a:solidFill>
                          <a:srgbClr val="3333FF"/>
                        </a:solidFill>
                        <a:latin typeface="Consolas" pitchFamily="49" charset="0"/>
                        <a:cs typeface="Consolas" pitchFamily="49" charset="0"/>
                      </a:endParaRPr>
                    </a:p>
                  </a:txBody>
                  <a:tcPr/>
                </a:tc>
                <a:tc>
                  <a:txBody>
                    <a:bodyPr/>
                    <a:lstStyle/>
                    <a:p>
                      <a:pPr algn="ctr"/>
                      <a:r>
                        <a:rPr lang="en-US" altLang="zh-CN" b="1">
                          <a:solidFill>
                            <a:srgbClr val="3333FF"/>
                          </a:solidFill>
                          <a:latin typeface="Consolas" pitchFamily="49" charset="0"/>
                          <a:cs typeface="Consolas" pitchFamily="49" charset="0"/>
                        </a:rPr>
                        <a:t>0</a:t>
                      </a:r>
                      <a:endParaRPr lang="zh-CN" altLang="en-US" b="1">
                        <a:solidFill>
                          <a:srgbClr val="3333FF"/>
                        </a:solidFill>
                        <a:latin typeface="Consolas" pitchFamily="49" charset="0"/>
                        <a:cs typeface="Consolas" pitchFamily="49" charset="0"/>
                      </a:endParaRPr>
                    </a:p>
                  </a:txBody>
                  <a:tcPr/>
                </a:tc>
                <a:extLst>
                  <a:ext uri="{0D108BD9-81ED-4DB2-BD59-A6C34878D82A}">
                    <a16:rowId xmlns:a16="http://schemas.microsoft.com/office/drawing/2014/main" val="10004"/>
                  </a:ext>
                </a:extLst>
              </a:tr>
            </a:tbl>
          </a:graphicData>
        </a:graphic>
      </p:graphicFrame>
      <p:sp>
        <p:nvSpPr>
          <p:cNvPr id="53" name="TextBox 125">
            <a:extLst>
              <a:ext uri="{FF2B5EF4-FFF2-40B4-BE49-F238E27FC236}">
                <a16:creationId xmlns:a16="http://schemas.microsoft.com/office/drawing/2014/main" id="{FA489E2D-3279-B4C7-4CF5-A0A0996C40FF}"/>
              </a:ext>
            </a:extLst>
          </p:cNvPr>
          <p:cNvSpPr txBox="1"/>
          <p:nvPr/>
        </p:nvSpPr>
        <p:spPr>
          <a:xfrm>
            <a:off x="8130650" y="3432468"/>
            <a:ext cx="1000133" cy="400110"/>
          </a:xfrm>
          <a:prstGeom prst="rect">
            <a:avLst/>
          </a:prstGeom>
          <a:noFill/>
        </p:spPr>
        <p:txBody>
          <a:bodyPr wrap="square" rtlCol="0">
            <a:spAutoFit/>
          </a:bodyPr>
          <a:lstStyle/>
          <a:p>
            <a:r>
              <a:rPr lang="en-US" altLang="zh-CN" sz="2000">
                <a:latin typeface="Consolas" pitchFamily="49" charset="0"/>
                <a:cs typeface="Consolas" pitchFamily="49" charset="0"/>
              </a:rPr>
              <a:t>path</a:t>
            </a:r>
            <a:r>
              <a:rPr lang="en-US" altLang="zh-CN" sz="2000" baseline="-25000">
                <a:latin typeface="Consolas" pitchFamily="49" charset="0"/>
                <a:cs typeface="Consolas" pitchFamily="49" charset="0"/>
              </a:rPr>
              <a:t>-1</a:t>
            </a:r>
            <a:endParaRPr lang="zh-CN" altLang="en-US" sz="2000" baseline="-25000">
              <a:latin typeface="Consolas" pitchFamily="49" charset="0"/>
              <a:cs typeface="Consolas" pitchFamily="49" charset="0"/>
            </a:endParaRPr>
          </a:p>
        </p:txBody>
      </p:sp>
      <p:graphicFrame>
        <p:nvGraphicFramePr>
          <p:cNvPr id="54" name="表格 53">
            <a:extLst>
              <a:ext uri="{FF2B5EF4-FFF2-40B4-BE49-F238E27FC236}">
                <a16:creationId xmlns:a16="http://schemas.microsoft.com/office/drawing/2014/main" id="{DFDAAAD6-7955-2463-2700-374714BF4C37}"/>
              </a:ext>
            </a:extLst>
          </p:cNvPr>
          <p:cNvGraphicFramePr>
            <a:graphicFrameLocks noGrp="1"/>
          </p:cNvGraphicFramePr>
          <p:nvPr>
            <p:extLst>
              <p:ext uri="{D42A27DB-BD31-4B8C-83A1-F6EECF244321}">
                <p14:modId xmlns:p14="http://schemas.microsoft.com/office/powerpoint/2010/main" val="1389074983"/>
              </p:ext>
            </p:extLst>
          </p:nvPr>
        </p:nvGraphicFramePr>
        <p:xfrm>
          <a:off x="6844767" y="4003972"/>
          <a:ext cx="3071835" cy="1854200"/>
        </p:xfrm>
        <a:graphic>
          <a:graphicData uri="http://schemas.openxmlformats.org/drawingml/2006/table">
            <a:tbl>
              <a:tblPr firstRow="1" bandRow="1">
                <a:tableStyleId>{E8B1032C-EA38-4F05-BA0D-38AFFFC7BED3}</a:tableStyleId>
              </a:tblPr>
              <a:tblGrid>
                <a:gridCol w="614367">
                  <a:extLst>
                    <a:ext uri="{9D8B030D-6E8A-4147-A177-3AD203B41FA5}">
                      <a16:colId xmlns:a16="http://schemas.microsoft.com/office/drawing/2014/main" val="20000"/>
                    </a:ext>
                  </a:extLst>
                </a:gridCol>
                <a:gridCol w="614367">
                  <a:extLst>
                    <a:ext uri="{9D8B030D-6E8A-4147-A177-3AD203B41FA5}">
                      <a16:colId xmlns:a16="http://schemas.microsoft.com/office/drawing/2014/main" val="20001"/>
                    </a:ext>
                  </a:extLst>
                </a:gridCol>
                <a:gridCol w="614367">
                  <a:extLst>
                    <a:ext uri="{9D8B030D-6E8A-4147-A177-3AD203B41FA5}">
                      <a16:colId xmlns:a16="http://schemas.microsoft.com/office/drawing/2014/main" val="20002"/>
                    </a:ext>
                  </a:extLst>
                </a:gridCol>
                <a:gridCol w="614367">
                  <a:extLst>
                    <a:ext uri="{9D8B030D-6E8A-4147-A177-3AD203B41FA5}">
                      <a16:colId xmlns:a16="http://schemas.microsoft.com/office/drawing/2014/main" val="20003"/>
                    </a:ext>
                  </a:extLst>
                </a:gridCol>
                <a:gridCol w="614367">
                  <a:extLst>
                    <a:ext uri="{9D8B030D-6E8A-4147-A177-3AD203B41FA5}">
                      <a16:colId xmlns:a16="http://schemas.microsoft.com/office/drawing/2014/main" val="20004"/>
                    </a:ext>
                  </a:extLst>
                </a:gridCol>
              </a:tblGrid>
              <a:tr h="370840">
                <a:tc>
                  <a:txBody>
                    <a:bodyPr/>
                    <a:lstStyle/>
                    <a:p>
                      <a:pPr algn="ctr"/>
                      <a:endParaRPr lang="zh-CN" altLang="en-US" b="1">
                        <a:solidFill>
                          <a:srgbClr val="3333FF"/>
                        </a:solidFill>
                        <a:latin typeface="Consolas" pitchFamily="49" charset="0"/>
                        <a:cs typeface="Consolas" pitchFamily="49" charset="0"/>
                      </a:endParaRPr>
                    </a:p>
                  </a:txBody>
                  <a:tcPr>
                    <a:solidFill>
                      <a:schemeClr val="tx2">
                        <a:lumMod val="40000"/>
                        <a:lumOff val="60000"/>
                      </a:schemeClr>
                    </a:solidFill>
                  </a:tcPr>
                </a:tc>
                <a:tc>
                  <a:txBody>
                    <a:bodyPr/>
                    <a:lstStyle/>
                    <a:p>
                      <a:pPr algn="ctr"/>
                      <a:r>
                        <a:rPr lang="en-US" altLang="zh-CN" sz="1600" b="1">
                          <a:solidFill>
                            <a:srgbClr val="FF0000"/>
                          </a:solidFill>
                          <a:latin typeface="Consolas" pitchFamily="49" charset="0"/>
                          <a:cs typeface="Consolas" pitchFamily="49" charset="0"/>
                        </a:rPr>
                        <a:t>0</a:t>
                      </a:r>
                      <a:endParaRPr lang="zh-CN" altLang="en-US" sz="1600" b="1">
                        <a:solidFill>
                          <a:srgbClr val="FF0000"/>
                        </a:solidFill>
                        <a:latin typeface="Consolas" pitchFamily="49" charset="0"/>
                        <a:cs typeface="Consolas" pitchFamily="49" charset="0"/>
                      </a:endParaRPr>
                    </a:p>
                  </a:txBody>
                  <a:tcPr>
                    <a:solidFill>
                      <a:schemeClr val="tx2">
                        <a:lumMod val="40000"/>
                        <a:lumOff val="60000"/>
                      </a:schemeClr>
                    </a:solidFill>
                  </a:tcPr>
                </a:tc>
                <a:tc>
                  <a:txBody>
                    <a:bodyPr/>
                    <a:lstStyle/>
                    <a:p>
                      <a:pPr algn="ctr"/>
                      <a:r>
                        <a:rPr lang="en-US" altLang="zh-CN" sz="1600" b="1">
                          <a:solidFill>
                            <a:srgbClr val="FF0000"/>
                          </a:solidFill>
                          <a:latin typeface="Consolas" pitchFamily="49" charset="0"/>
                          <a:cs typeface="Consolas" pitchFamily="49" charset="0"/>
                        </a:rPr>
                        <a:t>1</a:t>
                      </a:r>
                      <a:endParaRPr lang="zh-CN" altLang="en-US" sz="1600" b="1">
                        <a:solidFill>
                          <a:srgbClr val="FF0000"/>
                        </a:solidFill>
                        <a:latin typeface="Consolas" pitchFamily="49" charset="0"/>
                        <a:cs typeface="Consolas" pitchFamily="49" charset="0"/>
                      </a:endParaRPr>
                    </a:p>
                  </a:txBody>
                  <a:tcPr>
                    <a:solidFill>
                      <a:schemeClr val="tx2">
                        <a:lumMod val="40000"/>
                        <a:lumOff val="60000"/>
                      </a:schemeClr>
                    </a:solidFill>
                  </a:tcPr>
                </a:tc>
                <a:tc>
                  <a:txBody>
                    <a:bodyPr/>
                    <a:lstStyle/>
                    <a:p>
                      <a:pPr algn="ctr"/>
                      <a:r>
                        <a:rPr lang="en-US" altLang="zh-CN" sz="1600" b="1">
                          <a:solidFill>
                            <a:srgbClr val="FF0000"/>
                          </a:solidFill>
                          <a:latin typeface="Consolas" pitchFamily="49" charset="0"/>
                          <a:cs typeface="Consolas" pitchFamily="49" charset="0"/>
                        </a:rPr>
                        <a:t>2</a:t>
                      </a:r>
                      <a:endParaRPr lang="zh-CN" altLang="en-US" sz="1600" b="1">
                        <a:solidFill>
                          <a:srgbClr val="FF0000"/>
                        </a:solidFill>
                        <a:latin typeface="Consolas" pitchFamily="49" charset="0"/>
                        <a:cs typeface="Consolas" pitchFamily="49" charset="0"/>
                      </a:endParaRPr>
                    </a:p>
                  </a:txBody>
                  <a:tcPr>
                    <a:solidFill>
                      <a:schemeClr val="tx2">
                        <a:lumMod val="40000"/>
                        <a:lumOff val="60000"/>
                      </a:schemeClr>
                    </a:solidFill>
                  </a:tcPr>
                </a:tc>
                <a:tc>
                  <a:txBody>
                    <a:bodyPr/>
                    <a:lstStyle/>
                    <a:p>
                      <a:pPr algn="ctr"/>
                      <a:r>
                        <a:rPr lang="en-US" altLang="zh-CN" sz="1600" b="1">
                          <a:solidFill>
                            <a:srgbClr val="FF0000"/>
                          </a:solidFill>
                          <a:latin typeface="Consolas" pitchFamily="49" charset="0"/>
                          <a:cs typeface="Consolas" pitchFamily="49" charset="0"/>
                        </a:rPr>
                        <a:t>3</a:t>
                      </a:r>
                      <a:endParaRPr lang="zh-CN" altLang="en-US" sz="1600" b="1">
                        <a:solidFill>
                          <a:srgbClr val="FF0000"/>
                        </a:solidFill>
                        <a:latin typeface="Consolas" pitchFamily="49" charset="0"/>
                        <a:cs typeface="Consolas" pitchFamily="49" charset="0"/>
                      </a:endParaRPr>
                    </a:p>
                  </a:txBody>
                  <a:tcPr>
                    <a:solidFill>
                      <a:schemeClr val="tx2">
                        <a:lumMod val="40000"/>
                        <a:lumOff val="60000"/>
                      </a:schemeClr>
                    </a:solidFill>
                  </a:tcPr>
                </a:tc>
                <a:extLst>
                  <a:ext uri="{0D108BD9-81ED-4DB2-BD59-A6C34878D82A}">
                    <a16:rowId xmlns:a16="http://schemas.microsoft.com/office/drawing/2014/main" val="10000"/>
                  </a:ext>
                </a:extLst>
              </a:tr>
              <a:tr h="370840">
                <a:tc>
                  <a:txBody>
                    <a:bodyPr/>
                    <a:lstStyle/>
                    <a:p>
                      <a:pPr algn="ctr"/>
                      <a:r>
                        <a:rPr lang="en-US" altLang="zh-CN" sz="1600" b="1">
                          <a:solidFill>
                            <a:srgbClr val="FF0000"/>
                          </a:solidFill>
                          <a:latin typeface="Consolas" pitchFamily="49" charset="0"/>
                          <a:cs typeface="Consolas" pitchFamily="49" charset="0"/>
                        </a:rPr>
                        <a:t>0</a:t>
                      </a:r>
                      <a:endParaRPr lang="zh-CN" altLang="en-US" sz="1600" b="1">
                        <a:solidFill>
                          <a:srgbClr val="FF0000"/>
                        </a:solidFill>
                        <a:latin typeface="Consolas" pitchFamily="49" charset="0"/>
                        <a:cs typeface="Consolas" pitchFamily="49" charset="0"/>
                      </a:endParaRPr>
                    </a:p>
                  </a:txBody>
                  <a:tcPr>
                    <a:solidFill>
                      <a:schemeClr val="tx2">
                        <a:lumMod val="40000"/>
                        <a:lumOff val="60000"/>
                      </a:schemeClr>
                    </a:solidFill>
                  </a:tcPr>
                </a:tc>
                <a:tc>
                  <a:txBody>
                    <a:bodyPr/>
                    <a:lstStyle/>
                    <a:p>
                      <a:pPr algn="ctr"/>
                      <a:r>
                        <a:rPr lang="en-US" altLang="zh-CN" b="1">
                          <a:solidFill>
                            <a:srgbClr val="3333FF"/>
                          </a:solidFill>
                          <a:latin typeface="Consolas" pitchFamily="49" charset="0"/>
                          <a:ea typeface="+mj-ea"/>
                          <a:cs typeface="Consolas" pitchFamily="49" charset="0"/>
                        </a:rPr>
                        <a:t>-</a:t>
                      </a:r>
                      <a:r>
                        <a:rPr lang="en-US" altLang="zh-CN" b="1">
                          <a:solidFill>
                            <a:srgbClr val="3333FF"/>
                          </a:solidFill>
                          <a:latin typeface="Consolas" pitchFamily="49" charset="0"/>
                          <a:cs typeface="Consolas" pitchFamily="49" charset="0"/>
                        </a:rPr>
                        <a:t>1</a:t>
                      </a:r>
                      <a:endParaRPr lang="zh-CN" altLang="en-US" b="1">
                        <a:solidFill>
                          <a:srgbClr val="3333FF"/>
                        </a:solidFill>
                        <a:latin typeface="Consolas" pitchFamily="49" charset="0"/>
                        <a:cs typeface="Consolas" pitchFamily="49" charset="0"/>
                      </a:endParaRPr>
                    </a:p>
                  </a:txBody>
                  <a:tcPr/>
                </a:tc>
                <a:tc>
                  <a:txBody>
                    <a:bodyPr/>
                    <a:lstStyle/>
                    <a:p>
                      <a:pPr algn="ctr"/>
                      <a:r>
                        <a:rPr lang="en-US" altLang="zh-CN" b="1">
                          <a:solidFill>
                            <a:srgbClr val="3333FF"/>
                          </a:solidFill>
                          <a:latin typeface="Consolas" pitchFamily="49" charset="0"/>
                          <a:cs typeface="Consolas" pitchFamily="49" charset="0"/>
                        </a:rPr>
                        <a:t>0</a:t>
                      </a:r>
                      <a:endParaRPr lang="zh-CN" altLang="en-US" b="1">
                        <a:solidFill>
                          <a:srgbClr val="3333FF"/>
                        </a:solidFill>
                        <a:latin typeface="Consolas" pitchFamily="49" charset="0"/>
                        <a:cs typeface="Consolas" pitchFamily="49" charset="0"/>
                      </a:endParaRPr>
                    </a:p>
                  </a:txBody>
                  <a:tcPr/>
                </a:tc>
                <a:tc>
                  <a:txBody>
                    <a:bodyPr/>
                    <a:lstStyle/>
                    <a:p>
                      <a:pPr algn="ctr"/>
                      <a:r>
                        <a:rPr lang="en-US" altLang="zh-CN" b="1">
                          <a:solidFill>
                            <a:srgbClr val="3333FF"/>
                          </a:solidFill>
                          <a:latin typeface="Consolas" pitchFamily="49" charset="0"/>
                          <a:ea typeface="+mj-ea"/>
                          <a:cs typeface="Consolas" pitchFamily="49" charset="0"/>
                        </a:rPr>
                        <a:t>-</a:t>
                      </a:r>
                      <a:r>
                        <a:rPr lang="en-US" altLang="zh-CN" b="1">
                          <a:solidFill>
                            <a:srgbClr val="3333FF"/>
                          </a:solidFill>
                          <a:latin typeface="Consolas" pitchFamily="49" charset="0"/>
                          <a:cs typeface="Consolas" pitchFamily="49" charset="0"/>
                        </a:rPr>
                        <a:t>1</a:t>
                      </a:r>
                      <a:endParaRPr lang="zh-CN" altLang="en-US" b="1">
                        <a:solidFill>
                          <a:srgbClr val="3333FF"/>
                        </a:solidFill>
                        <a:latin typeface="Consolas" pitchFamily="49" charset="0"/>
                        <a:cs typeface="Consolas" pitchFamily="49" charset="0"/>
                      </a:endParaRPr>
                    </a:p>
                  </a:txBody>
                  <a:tcPr/>
                </a:tc>
                <a:tc>
                  <a:txBody>
                    <a:bodyPr/>
                    <a:lstStyle/>
                    <a:p>
                      <a:pPr algn="ctr"/>
                      <a:r>
                        <a:rPr lang="en-US" altLang="zh-CN" b="1">
                          <a:solidFill>
                            <a:srgbClr val="3333FF"/>
                          </a:solidFill>
                          <a:latin typeface="Consolas" pitchFamily="49" charset="0"/>
                          <a:cs typeface="Consolas" pitchFamily="49" charset="0"/>
                        </a:rPr>
                        <a:t>0</a:t>
                      </a:r>
                      <a:endParaRPr lang="zh-CN" altLang="en-US" b="1">
                        <a:solidFill>
                          <a:srgbClr val="3333FF"/>
                        </a:solidFill>
                        <a:latin typeface="Consolas" pitchFamily="49" charset="0"/>
                        <a:cs typeface="Consolas" pitchFamily="49" charset="0"/>
                      </a:endParaRPr>
                    </a:p>
                  </a:txBody>
                  <a:tcPr/>
                </a:tc>
                <a:extLst>
                  <a:ext uri="{0D108BD9-81ED-4DB2-BD59-A6C34878D82A}">
                    <a16:rowId xmlns:a16="http://schemas.microsoft.com/office/drawing/2014/main" val="10001"/>
                  </a:ext>
                </a:extLst>
              </a:tr>
              <a:tr h="370840">
                <a:tc>
                  <a:txBody>
                    <a:bodyPr/>
                    <a:lstStyle/>
                    <a:p>
                      <a:pPr algn="ctr"/>
                      <a:r>
                        <a:rPr lang="en-US" altLang="zh-CN" sz="1600" b="1">
                          <a:solidFill>
                            <a:srgbClr val="FF0000"/>
                          </a:solidFill>
                          <a:latin typeface="Consolas" pitchFamily="49" charset="0"/>
                          <a:cs typeface="Consolas" pitchFamily="49" charset="0"/>
                        </a:rPr>
                        <a:t>1</a:t>
                      </a:r>
                      <a:endParaRPr lang="zh-CN" altLang="en-US" sz="1600" b="1">
                        <a:solidFill>
                          <a:srgbClr val="FF0000"/>
                        </a:solidFill>
                        <a:latin typeface="Consolas" pitchFamily="49" charset="0"/>
                        <a:cs typeface="Consolas" pitchFamily="49" charset="0"/>
                      </a:endParaRPr>
                    </a:p>
                  </a:txBody>
                  <a:tcPr>
                    <a:solidFill>
                      <a:schemeClr val="tx2">
                        <a:lumMod val="40000"/>
                        <a:lumOff val="6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b="1">
                          <a:solidFill>
                            <a:srgbClr val="3333FF"/>
                          </a:solidFill>
                          <a:latin typeface="Consolas" pitchFamily="49" charset="0"/>
                          <a:ea typeface="+mj-ea"/>
                          <a:cs typeface="Consolas" pitchFamily="49" charset="0"/>
                        </a:rPr>
                        <a:t>-</a:t>
                      </a:r>
                      <a:r>
                        <a:rPr lang="en-US" altLang="zh-CN" b="1">
                          <a:solidFill>
                            <a:srgbClr val="3333FF"/>
                          </a:solidFill>
                          <a:latin typeface="Consolas" pitchFamily="49" charset="0"/>
                          <a:cs typeface="Consolas" pitchFamily="49" charset="0"/>
                        </a:rPr>
                        <a:t>1</a:t>
                      </a:r>
                      <a:endParaRPr lang="zh-CN" altLang="en-US" b="1">
                        <a:solidFill>
                          <a:srgbClr val="3333FF"/>
                        </a:solidFill>
                        <a:latin typeface="Consolas" pitchFamily="49" charset="0"/>
                        <a:cs typeface="Consolas" pitchFamily="49" charset="0"/>
                      </a:endParaRPr>
                    </a:p>
                  </a:txBody>
                  <a:tcPr/>
                </a:tc>
                <a:tc>
                  <a:txBody>
                    <a:bodyPr/>
                    <a:lstStyle/>
                    <a:p>
                      <a:pPr algn="ctr"/>
                      <a:r>
                        <a:rPr lang="en-US" altLang="zh-CN" b="1">
                          <a:solidFill>
                            <a:srgbClr val="3333FF"/>
                          </a:solidFill>
                          <a:latin typeface="Consolas" pitchFamily="49" charset="0"/>
                          <a:ea typeface="+mn-ea"/>
                          <a:cs typeface="Consolas" pitchFamily="49" charset="0"/>
                        </a:rPr>
                        <a:t>-</a:t>
                      </a:r>
                      <a:r>
                        <a:rPr lang="en-US" altLang="zh-CN" b="1">
                          <a:solidFill>
                            <a:srgbClr val="3333FF"/>
                          </a:solidFill>
                          <a:latin typeface="Consolas" pitchFamily="49" charset="0"/>
                          <a:cs typeface="Consolas" pitchFamily="49" charset="0"/>
                        </a:rPr>
                        <a:t>1</a:t>
                      </a:r>
                      <a:endParaRPr lang="zh-CN" altLang="en-US" b="1">
                        <a:solidFill>
                          <a:srgbClr val="3333FF"/>
                        </a:solidFill>
                        <a:latin typeface="Consolas" pitchFamily="49" charset="0"/>
                        <a:cs typeface="Consolas" pitchFamily="49" charset="0"/>
                      </a:endParaRPr>
                    </a:p>
                  </a:txBody>
                  <a:tcPr/>
                </a:tc>
                <a:tc>
                  <a:txBody>
                    <a:bodyPr/>
                    <a:lstStyle/>
                    <a:p>
                      <a:pPr algn="ctr"/>
                      <a:r>
                        <a:rPr lang="en-US" altLang="zh-CN" b="1">
                          <a:solidFill>
                            <a:srgbClr val="3333FF"/>
                          </a:solidFill>
                          <a:latin typeface="Consolas" pitchFamily="49" charset="0"/>
                          <a:cs typeface="Consolas" pitchFamily="49" charset="0"/>
                        </a:rPr>
                        <a:t>1</a:t>
                      </a:r>
                      <a:endParaRPr lang="zh-CN" altLang="en-US" b="1">
                        <a:solidFill>
                          <a:srgbClr val="3333FF"/>
                        </a:solidFill>
                        <a:latin typeface="Consolas" pitchFamily="49" charset="0"/>
                        <a:cs typeface="Consolas" pitchFamily="49" charset="0"/>
                      </a:endParaRPr>
                    </a:p>
                  </a:txBody>
                  <a:tcPr/>
                </a:tc>
                <a:tc>
                  <a:txBody>
                    <a:bodyPr/>
                    <a:lstStyle/>
                    <a:p>
                      <a:pPr algn="ctr"/>
                      <a:r>
                        <a:rPr lang="en-US" altLang="zh-CN" b="1">
                          <a:solidFill>
                            <a:srgbClr val="3333FF"/>
                          </a:solidFill>
                          <a:latin typeface="Consolas" pitchFamily="49" charset="0"/>
                          <a:cs typeface="Consolas" pitchFamily="49" charset="0"/>
                        </a:rPr>
                        <a:t>1</a:t>
                      </a:r>
                      <a:endParaRPr lang="zh-CN" altLang="en-US" b="1">
                        <a:solidFill>
                          <a:srgbClr val="3333FF"/>
                        </a:solidFill>
                        <a:latin typeface="Consolas" pitchFamily="49" charset="0"/>
                        <a:cs typeface="Consolas" pitchFamily="49" charset="0"/>
                      </a:endParaRPr>
                    </a:p>
                  </a:txBody>
                  <a:tcPr/>
                </a:tc>
                <a:extLst>
                  <a:ext uri="{0D108BD9-81ED-4DB2-BD59-A6C34878D82A}">
                    <a16:rowId xmlns:a16="http://schemas.microsoft.com/office/drawing/2014/main" val="10002"/>
                  </a:ext>
                </a:extLst>
              </a:tr>
              <a:tr h="370840">
                <a:tc>
                  <a:txBody>
                    <a:bodyPr/>
                    <a:lstStyle/>
                    <a:p>
                      <a:pPr algn="ctr"/>
                      <a:r>
                        <a:rPr lang="en-US" altLang="zh-CN" sz="1600" b="1">
                          <a:solidFill>
                            <a:srgbClr val="FF0000"/>
                          </a:solidFill>
                          <a:latin typeface="Consolas" pitchFamily="49" charset="0"/>
                          <a:cs typeface="Consolas" pitchFamily="49" charset="0"/>
                        </a:rPr>
                        <a:t>2</a:t>
                      </a:r>
                      <a:endParaRPr lang="zh-CN" altLang="en-US" sz="1600" b="1">
                        <a:solidFill>
                          <a:srgbClr val="FF0000"/>
                        </a:solidFill>
                        <a:latin typeface="Consolas" pitchFamily="49" charset="0"/>
                        <a:cs typeface="Consolas" pitchFamily="49" charset="0"/>
                      </a:endParaRPr>
                    </a:p>
                  </a:txBody>
                  <a:tcPr>
                    <a:solidFill>
                      <a:schemeClr val="tx2">
                        <a:lumMod val="40000"/>
                        <a:lumOff val="60000"/>
                      </a:schemeClr>
                    </a:solidFill>
                  </a:tcPr>
                </a:tc>
                <a:tc>
                  <a:txBody>
                    <a:bodyPr/>
                    <a:lstStyle/>
                    <a:p>
                      <a:pPr algn="ctr"/>
                      <a:r>
                        <a:rPr lang="en-US" altLang="zh-CN" b="1">
                          <a:solidFill>
                            <a:srgbClr val="3333FF"/>
                          </a:solidFill>
                          <a:latin typeface="Consolas" pitchFamily="49" charset="0"/>
                          <a:cs typeface="Consolas" pitchFamily="49" charset="0"/>
                        </a:rPr>
                        <a:t>2</a:t>
                      </a:r>
                      <a:endParaRPr lang="zh-CN" altLang="en-US" b="1">
                        <a:solidFill>
                          <a:srgbClr val="3333FF"/>
                        </a:solidFill>
                        <a:latin typeface="Consolas" pitchFamily="49" charset="0"/>
                        <a:cs typeface="Consolas" pitchFamily="49" charset="0"/>
                      </a:endParaRPr>
                    </a:p>
                  </a:txBody>
                  <a:tcPr/>
                </a:tc>
                <a:tc>
                  <a:txBody>
                    <a:bodyPr/>
                    <a:lstStyle/>
                    <a:p>
                      <a:pPr algn="ctr"/>
                      <a:r>
                        <a:rPr lang="en-US" altLang="zh-CN" b="1">
                          <a:solidFill>
                            <a:srgbClr val="3333FF"/>
                          </a:solidFill>
                          <a:latin typeface="Consolas" pitchFamily="49" charset="0"/>
                          <a:cs typeface="Consolas" pitchFamily="49" charset="0"/>
                        </a:rPr>
                        <a:t>2</a:t>
                      </a:r>
                      <a:endParaRPr lang="zh-CN" altLang="en-US" b="1">
                        <a:solidFill>
                          <a:srgbClr val="3333FF"/>
                        </a:solidFill>
                        <a:latin typeface="Consolas" pitchFamily="49" charset="0"/>
                        <a:cs typeface="Consolas" pitchFamily="49" charset="0"/>
                      </a:endParaRPr>
                    </a:p>
                  </a:txBody>
                  <a:tcPr/>
                </a:tc>
                <a:tc>
                  <a:txBody>
                    <a:bodyPr/>
                    <a:lstStyle/>
                    <a:p>
                      <a:pPr algn="ctr"/>
                      <a:r>
                        <a:rPr lang="en-US" altLang="zh-CN" b="1">
                          <a:solidFill>
                            <a:srgbClr val="3333FF"/>
                          </a:solidFill>
                          <a:latin typeface="Consolas" pitchFamily="49" charset="0"/>
                          <a:ea typeface="+mj-ea"/>
                          <a:cs typeface="Consolas" pitchFamily="49" charset="0"/>
                        </a:rPr>
                        <a:t>-</a:t>
                      </a:r>
                      <a:r>
                        <a:rPr lang="en-US" altLang="zh-CN" b="1">
                          <a:solidFill>
                            <a:srgbClr val="3333FF"/>
                          </a:solidFill>
                          <a:latin typeface="Consolas" pitchFamily="49" charset="0"/>
                          <a:cs typeface="Consolas" pitchFamily="49" charset="0"/>
                        </a:rPr>
                        <a:t>1</a:t>
                      </a:r>
                      <a:endParaRPr lang="zh-CN" altLang="en-US" b="1">
                        <a:solidFill>
                          <a:srgbClr val="3333FF"/>
                        </a:solidFill>
                        <a:latin typeface="Consolas" pitchFamily="49" charset="0"/>
                        <a:cs typeface="Consolas" pitchFamily="49" charset="0"/>
                      </a:endParaRPr>
                    </a:p>
                  </a:txBody>
                  <a:tcPr/>
                </a:tc>
                <a:tc>
                  <a:txBody>
                    <a:bodyPr/>
                    <a:lstStyle/>
                    <a:p>
                      <a:pPr algn="ctr"/>
                      <a:r>
                        <a:rPr lang="en-US" altLang="zh-CN" b="1">
                          <a:solidFill>
                            <a:srgbClr val="3333FF"/>
                          </a:solidFill>
                          <a:latin typeface="Consolas" pitchFamily="49" charset="0"/>
                          <a:cs typeface="Consolas" pitchFamily="49" charset="0"/>
                        </a:rPr>
                        <a:t>2</a:t>
                      </a:r>
                      <a:endParaRPr lang="zh-CN" altLang="en-US" b="1">
                        <a:solidFill>
                          <a:srgbClr val="3333FF"/>
                        </a:solidFill>
                        <a:latin typeface="Consolas" pitchFamily="49" charset="0"/>
                        <a:cs typeface="Consolas" pitchFamily="49" charset="0"/>
                      </a:endParaRPr>
                    </a:p>
                  </a:txBody>
                  <a:tcPr/>
                </a:tc>
                <a:extLst>
                  <a:ext uri="{0D108BD9-81ED-4DB2-BD59-A6C34878D82A}">
                    <a16:rowId xmlns:a16="http://schemas.microsoft.com/office/drawing/2014/main" val="10003"/>
                  </a:ext>
                </a:extLst>
              </a:tr>
              <a:tr h="370840">
                <a:tc>
                  <a:txBody>
                    <a:bodyPr/>
                    <a:lstStyle/>
                    <a:p>
                      <a:pPr algn="ctr"/>
                      <a:r>
                        <a:rPr lang="en-US" altLang="zh-CN" sz="1600" b="1">
                          <a:solidFill>
                            <a:srgbClr val="FF0000"/>
                          </a:solidFill>
                          <a:latin typeface="Consolas" pitchFamily="49" charset="0"/>
                          <a:cs typeface="Consolas" pitchFamily="49" charset="0"/>
                        </a:rPr>
                        <a:t>3</a:t>
                      </a:r>
                      <a:endParaRPr lang="zh-CN" altLang="en-US" sz="1600" b="1">
                        <a:solidFill>
                          <a:srgbClr val="FF0000"/>
                        </a:solidFill>
                        <a:latin typeface="Consolas" pitchFamily="49" charset="0"/>
                        <a:cs typeface="Consolas" pitchFamily="49" charset="0"/>
                      </a:endParaRPr>
                    </a:p>
                  </a:txBody>
                  <a:tcPr>
                    <a:solidFill>
                      <a:schemeClr val="tx2">
                        <a:lumMod val="40000"/>
                        <a:lumOff val="6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b="1">
                          <a:solidFill>
                            <a:srgbClr val="3333FF"/>
                          </a:solidFill>
                          <a:latin typeface="Consolas" pitchFamily="49" charset="0"/>
                          <a:ea typeface="+mn-ea"/>
                          <a:cs typeface="Consolas" pitchFamily="49" charset="0"/>
                        </a:rPr>
                        <a:t>-</a:t>
                      </a:r>
                      <a:r>
                        <a:rPr lang="en-US" altLang="zh-CN" b="1">
                          <a:solidFill>
                            <a:srgbClr val="3333FF"/>
                          </a:solidFill>
                          <a:latin typeface="Consolas" pitchFamily="49" charset="0"/>
                          <a:cs typeface="Consolas" pitchFamily="49" charset="0"/>
                        </a:rPr>
                        <a:t>1</a:t>
                      </a:r>
                      <a:endParaRPr lang="zh-CN" altLang="en-US" b="1">
                        <a:solidFill>
                          <a:srgbClr val="3333FF"/>
                        </a:solidFill>
                        <a:latin typeface="Consolas" pitchFamily="49" charset="0"/>
                        <a:cs typeface="Consolas"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b="1">
                          <a:solidFill>
                            <a:srgbClr val="3333FF"/>
                          </a:solidFill>
                          <a:latin typeface="Consolas" pitchFamily="49" charset="0"/>
                          <a:ea typeface="+mn-ea"/>
                          <a:cs typeface="Consolas" pitchFamily="49" charset="0"/>
                        </a:rPr>
                        <a:t>-</a:t>
                      </a:r>
                      <a:r>
                        <a:rPr lang="en-US" altLang="zh-CN" b="1">
                          <a:solidFill>
                            <a:srgbClr val="3333FF"/>
                          </a:solidFill>
                          <a:latin typeface="Consolas" pitchFamily="49" charset="0"/>
                          <a:cs typeface="Consolas" pitchFamily="49" charset="0"/>
                        </a:rPr>
                        <a:t>1</a:t>
                      </a:r>
                      <a:endParaRPr lang="zh-CN" altLang="en-US" b="1">
                        <a:solidFill>
                          <a:srgbClr val="3333FF"/>
                        </a:solidFill>
                        <a:latin typeface="Consolas" pitchFamily="49" charset="0"/>
                        <a:cs typeface="Consolas" pitchFamily="49" charset="0"/>
                      </a:endParaRPr>
                    </a:p>
                  </a:txBody>
                  <a:tcPr/>
                </a:tc>
                <a:tc>
                  <a:txBody>
                    <a:bodyPr/>
                    <a:lstStyle/>
                    <a:p>
                      <a:pPr algn="ctr"/>
                      <a:r>
                        <a:rPr lang="en-US" altLang="zh-CN" b="1">
                          <a:solidFill>
                            <a:srgbClr val="3333FF"/>
                          </a:solidFill>
                          <a:latin typeface="Consolas" pitchFamily="49" charset="0"/>
                          <a:cs typeface="Consolas" pitchFamily="49" charset="0"/>
                        </a:rPr>
                        <a:t>3</a:t>
                      </a:r>
                      <a:endParaRPr lang="zh-CN" altLang="en-US" b="1">
                        <a:solidFill>
                          <a:srgbClr val="3333FF"/>
                        </a:solidFill>
                        <a:latin typeface="Consolas" pitchFamily="49" charset="0"/>
                        <a:cs typeface="Consolas" pitchFamily="49" charset="0"/>
                      </a:endParaRPr>
                    </a:p>
                  </a:txBody>
                  <a:tcPr/>
                </a:tc>
                <a:tc>
                  <a:txBody>
                    <a:bodyPr/>
                    <a:lstStyle/>
                    <a:p>
                      <a:pPr algn="ctr"/>
                      <a:r>
                        <a:rPr lang="en-US" altLang="zh-CN" b="1" dirty="0">
                          <a:solidFill>
                            <a:srgbClr val="3333FF"/>
                          </a:solidFill>
                          <a:latin typeface="Consolas" pitchFamily="49" charset="0"/>
                          <a:ea typeface="+mn-ea"/>
                          <a:cs typeface="Consolas" pitchFamily="49" charset="0"/>
                        </a:rPr>
                        <a:t>-</a:t>
                      </a:r>
                      <a:r>
                        <a:rPr lang="en-US" altLang="zh-CN" b="1" dirty="0">
                          <a:solidFill>
                            <a:srgbClr val="3333FF"/>
                          </a:solidFill>
                          <a:latin typeface="Consolas" pitchFamily="49" charset="0"/>
                          <a:cs typeface="Consolas" pitchFamily="49" charset="0"/>
                        </a:rPr>
                        <a:t>1</a:t>
                      </a:r>
                      <a:endParaRPr lang="zh-CN" altLang="en-US" b="1" dirty="0">
                        <a:solidFill>
                          <a:srgbClr val="3333FF"/>
                        </a:solidFill>
                        <a:latin typeface="Consolas" pitchFamily="49" charset="0"/>
                        <a:cs typeface="Consolas" pitchFamily="49" charset="0"/>
                      </a:endParaRPr>
                    </a:p>
                  </a:txBody>
                  <a:tcPr/>
                </a:tc>
                <a:extLst>
                  <a:ext uri="{0D108BD9-81ED-4DB2-BD59-A6C34878D82A}">
                    <a16:rowId xmlns:a16="http://schemas.microsoft.com/office/drawing/2014/main" val="10004"/>
                  </a:ext>
                </a:extLst>
              </a:tr>
            </a:tbl>
          </a:graphicData>
        </a:graphic>
      </p:graphicFrame>
      <p:sp>
        <p:nvSpPr>
          <p:cNvPr id="55" name="右箭头 154">
            <a:extLst>
              <a:ext uri="{FF2B5EF4-FFF2-40B4-BE49-F238E27FC236}">
                <a16:creationId xmlns:a16="http://schemas.microsoft.com/office/drawing/2014/main" id="{31EEC659-49D7-4248-50FC-A6233EEA79E1}"/>
              </a:ext>
            </a:extLst>
          </p:cNvPr>
          <p:cNvSpPr/>
          <p:nvPr/>
        </p:nvSpPr>
        <p:spPr>
          <a:xfrm>
            <a:off x="4987380" y="5004104"/>
            <a:ext cx="1643074" cy="285752"/>
          </a:xfrm>
          <a:prstGeom prst="rightArrow">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latin typeface="Consolas" pitchFamily="49" charset="0"/>
              <a:cs typeface="Consolas" pitchFamily="49" charset="0"/>
            </a:endParaRPr>
          </a:p>
        </p:txBody>
      </p:sp>
      <p:sp>
        <p:nvSpPr>
          <p:cNvPr id="56" name="TextBox 155">
            <a:extLst>
              <a:ext uri="{FF2B5EF4-FFF2-40B4-BE49-F238E27FC236}">
                <a16:creationId xmlns:a16="http://schemas.microsoft.com/office/drawing/2014/main" id="{CB750B6E-3D38-FCA2-3D24-0D9C81F11BC7}"/>
              </a:ext>
            </a:extLst>
          </p:cNvPr>
          <p:cNvSpPr txBox="1"/>
          <p:nvPr/>
        </p:nvSpPr>
        <p:spPr>
          <a:xfrm>
            <a:off x="4915942" y="4575476"/>
            <a:ext cx="1500198" cy="369332"/>
          </a:xfrm>
          <a:prstGeom prst="rect">
            <a:avLst/>
          </a:prstGeom>
          <a:noFill/>
        </p:spPr>
        <p:txBody>
          <a:bodyPr wrap="square" rtlCol="0">
            <a:spAutoFit/>
          </a:bodyPr>
          <a:lstStyle/>
          <a:p>
            <a:r>
              <a:rPr lang="zh-CN" altLang="en-US" sz="1800">
                <a:latin typeface="Consolas" pitchFamily="49" charset="0"/>
                <a:ea typeface="仿宋" pitchFamily="49" charset="-122"/>
                <a:cs typeface="Consolas" pitchFamily="49" charset="0"/>
              </a:rPr>
              <a:t>∞和</a:t>
            </a:r>
            <a:r>
              <a:rPr lang="en-US" altLang="zh-CN" sz="1800" i="1">
                <a:latin typeface="Consolas" pitchFamily="49" charset="0"/>
                <a:ea typeface="仿宋" pitchFamily="49" charset="-122"/>
                <a:cs typeface="Consolas" pitchFamily="49" charset="0"/>
              </a:rPr>
              <a:t>i</a:t>
            </a:r>
            <a:r>
              <a:rPr lang="en-US" altLang="zh-CN" sz="1800">
                <a:solidFill>
                  <a:srgbClr val="C00000"/>
                </a:solidFill>
                <a:latin typeface="Consolas" pitchFamily="49" charset="0"/>
                <a:ea typeface="仿宋" pitchFamily="49" charset="-122"/>
                <a:cs typeface="Consolas" pitchFamily="49" charset="0"/>
                <a:sym typeface="Wingdings"/>
              </a:rPr>
              <a:t></a:t>
            </a:r>
            <a:r>
              <a:rPr lang="en-US" altLang="zh-CN" sz="1800" i="1">
                <a:latin typeface="Consolas" pitchFamily="49" charset="0"/>
                <a:ea typeface="仿宋" pitchFamily="49" charset="-122"/>
                <a:cs typeface="Consolas" pitchFamily="49" charset="0"/>
                <a:sym typeface="Wingdings"/>
              </a:rPr>
              <a:t>i</a:t>
            </a:r>
            <a:r>
              <a:rPr lang="zh-CN" altLang="en-US" sz="1800">
                <a:latin typeface="Consolas" pitchFamily="49" charset="0"/>
                <a:ea typeface="仿宋" pitchFamily="49" charset="-122"/>
                <a:cs typeface="Consolas" pitchFamily="49" charset="0"/>
                <a:sym typeface="Wingdings"/>
              </a:rPr>
              <a:t>：</a:t>
            </a:r>
            <a:r>
              <a:rPr lang="en-US" altLang="zh-CN" sz="1800">
                <a:latin typeface="Consolas" pitchFamily="49" charset="0"/>
                <a:ea typeface="仿宋" pitchFamily="49" charset="-122"/>
                <a:cs typeface="Consolas" pitchFamily="49" charset="0"/>
                <a:sym typeface="Wingdings"/>
              </a:rPr>
              <a:t>-1</a:t>
            </a:r>
            <a:endParaRPr lang="zh-CN" altLang="en-US" sz="1800">
              <a:latin typeface="Consolas" pitchFamily="49" charset="0"/>
              <a:ea typeface="仿宋" pitchFamily="49" charset="-122"/>
              <a:cs typeface="Consolas" pitchFamily="49" charset="0"/>
            </a:endParaRPr>
          </a:p>
        </p:txBody>
      </p:sp>
      <p:sp>
        <p:nvSpPr>
          <p:cNvPr id="57" name="TextBox 156">
            <a:extLst>
              <a:ext uri="{FF2B5EF4-FFF2-40B4-BE49-F238E27FC236}">
                <a16:creationId xmlns:a16="http://schemas.microsoft.com/office/drawing/2014/main" id="{3E1C573B-05BF-0A2E-38A4-EACADDFB870D}"/>
              </a:ext>
            </a:extLst>
          </p:cNvPr>
          <p:cNvSpPr txBox="1"/>
          <p:nvPr/>
        </p:nvSpPr>
        <p:spPr>
          <a:xfrm>
            <a:off x="4915942" y="5318374"/>
            <a:ext cx="1785950" cy="369332"/>
          </a:xfrm>
          <a:prstGeom prst="rect">
            <a:avLst/>
          </a:prstGeom>
          <a:noFill/>
        </p:spPr>
        <p:txBody>
          <a:bodyPr wrap="square" rtlCol="0">
            <a:spAutoFit/>
          </a:bodyPr>
          <a:lstStyle/>
          <a:p>
            <a:r>
              <a:rPr lang="en-US" altLang="zh-CN" sz="1800">
                <a:latin typeface="Consolas" pitchFamily="49" charset="0"/>
                <a:ea typeface="仿宋" pitchFamily="49" charset="-122"/>
                <a:cs typeface="Consolas" pitchFamily="49" charset="0"/>
              </a:rPr>
              <a:t>(</a:t>
            </a:r>
            <a:r>
              <a:rPr lang="en-US" altLang="zh-CN" sz="1800" i="1">
                <a:latin typeface="Consolas" pitchFamily="49" charset="0"/>
                <a:ea typeface="仿宋" pitchFamily="49" charset="-122"/>
                <a:cs typeface="Consolas" pitchFamily="49" charset="0"/>
              </a:rPr>
              <a:t>i</a:t>
            </a:r>
            <a:r>
              <a:rPr lang="en-US" altLang="zh-CN" sz="1800">
                <a:latin typeface="Consolas" pitchFamily="49" charset="0"/>
                <a:ea typeface="仿宋" pitchFamily="49" charset="-122"/>
                <a:cs typeface="Consolas" pitchFamily="49" charset="0"/>
              </a:rPr>
              <a:t>,</a:t>
            </a:r>
            <a:r>
              <a:rPr lang="en-US" altLang="zh-CN" sz="1800" i="1">
                <a:latin typeface="Consolas" pitchFamily="49" charset="0"/>
                <a:ea typeface="仿宋" pitchFamily="49" charset="-122"/>
                <a:cs typeface="Consolas" pitchFamily="49" charset="0"/>
              </a:rPr>
              <a:t>j</a:t>
            </a:r>
            <a:r>
              <a:rPr lang="en-US" altLang="zh-CN" sz="1800">
                <a:latin typeface="Consolas" pitchFamily="49" charset="0"/>
                <a:ea typeface="仿宋" pitchFamily="49" charset="-122"/>
                <a:cs typeface="Consolas" pitchFamily="49" charset="0"/>
              </a:rPr>
              <a:t>)</a:t>
            </a:r>
            <a:r>
              <a:rPr lang="zh-CN" altLang="en-US" sz="1800">
                <a:latin typeface="Consolas" pitchFamily="49" charset="0"/>
                <a:ea typeface="仿宋" pitchFamily="49" charset="-122"/>
                <a:cs typeface="Consolas" pitchFamily="49" charset="0"/>
              </a:rPr>
              <a:t>有边：</a:t>
            </a:r>
            <a:r>
              <a:rPr lang="en-US" altLang="zh-CN" sz="1800" i="1">
                <a:latin typeface="Consolas" pitchFamily="49" charset="0"/>
                <a:ea typeface="仿宋" pitchFamily="49" charset="-122"/>
                <a:cs typeface="Consolas" pitchFamily="49" charset="0"/>
              </a:rPr>
              <a:t>i</a:t>
            </a:r>
            <a:endParaRPr lang="zh-CN" altLang="en-US" sz="1800" i="1">
              <a:latin typeface="Consolas" pitchFamily="49" charset="0"/>
              <a:ea typeface="仿宋" pitchFamily="49" charset="-122"/>
              <a:cs typeface="Consolas" pitchFamily="49" charset="0"/>
            </a:endParaRPr>
          </a:p>
        </p:txBody>
      </p:sp>
      <p:sp>
        <p:nvSpPr>
          <p:cNvPr id="58" name="下箭头 157">
            <a:extLst>
              <a:ext uri="{FF2B5EF4-FFF2-40B4-BE49-F238E27FC236}">
                <a16:creationId xmlns:a16="http://schemas.microsoft.com/office/drawing/2014/main" id="{E78D26FD-CD2D-4281-EBC1-0C319A183877}"/>
              </a:ext>
            </a:extLst>
          </p:cNvPr>
          <p:cNvSpPr/>
          <p:nvPr/>
        </p:nvSpPr>
        <p:spPr>
          <a:xfrm rot="2700000">
            <a:off x="5427214" y="2943608"/>
            <a:ext cx="214314" cy="928694"/>
          </a:xfrm>
          <a:prstGeom prst="downArrow">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zh-CN" altLang="en-US">
              <a:latin typeface="Consolas" pitchFamily="49" charset="0"/>
              <a:cs typeface="Consolas" pitchFamily="49" charset="0"/>
            </a:endParaRPr>
          </a:p>
        </p:txBody>
      </p:sp>
      <p:sp>
        <p:nvSpPr>
          <p:cNvPr id="59" name="TextBox 158">
            <a:extLst>
              <a:ext uri="{FF2B5EF4-FFF2-40B4-BE49-F238E27FC236}">
                <a16:creationId xmlns:a16="http://schemas.microsoft.com/office/drawing/2014/main" id="{A22D73A8-1EB1-4CC1-9104-D1C5AB7EC0EC}"/>
              </a:ext>
            </a:extLst>
          </p:cNvPr>
          <p:cNvSpPr txBox="1"/>
          <p:nvPr/>
        </p:nvSpPr>
        <p:spPr>
          <a:xfrm>
            <a:off x="5058818" y="4075410"/>
            <a:ext cx="1143008" cy="369332"/>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pPr algn="ctr"/>
            <a:r>
              <a:rPr lang="zh-CN" altLang="en-US" sz="1800">
                <a:latin typeface="Consolas" pitchFamily="49" charset="0"/>
                <a:ea typeface="楷体" pitchFamily="49" charset="-122"/>
                <a:cs typeface="Consolas" pitchFamily="49" charset="0"/>
              </a:rPr>
              <a:t>求</a:t>
            </a:r>
            <a:r>
              <a:rPr lang="en-US" altLang="zh-CN" sz="1800">
                <a:latin typeface="Consolas" pitchFamily="49" charset="0"/>
                <a:ea typeface="楷体" pitchFamily="49" charset="-122"/>
                <a:cs typeface="Consolas" pitchFamily="49" charset="0"/>
              </a:rPr>
              <a:t>path</a:t>
            </a:r>
            <a:endParaRPr lang="zh-CN" altLang="en-US" sz="1800">
              <a:latin typeface="Consolas" pitchFamily="49" charset="0"/>
              <a:ea typeface="楷体" pitchFamily="49" charset="-122"/>
              <a:cs typeface="Consolas" pitchFamily="49" charset="0"/>
            </a:endParaRPr>
          </a:p>
        </p:txBody>
      </p:sp>
    </p:spTree>
    <p:extLst>
      <p:ext uri="{BB962C8B-B14F-4D97-AF65-F5344CB8AC3E}">
        <p14:creationId xmlns:p14="http://schemas.microsoft.com/office/powerpoint/2010/main" val="101839505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5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3"/>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1" grpId="0"/>
      <p:bldP spid="53" grpId="0"/>
      <p:bldP spid="55" grpId="0" animBg="1"/>
      <p:bldP spid="56" grpId="0"/>
      <p:bldP spid="57" grpId="0"/>
      <p:bldP spid="58" grpId="0" animBg="1"/>
      <p:bldP spid="59" grpId="0" animBg="1"/>
    </p:bld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CACD33-92FD-F82B-1E4F-B5677059724B}"/>
            </a:ext>
          </a:extLst>
        </p:cNvPr>
        <p:cNvGrpSpPr/>
        <p:nvPr/>
      </p:nvGrpSpPr>
      <p:grpSpPr>
        <a:xfrm>
          <a:off x="0" y="0"/>
          <a:ext cx="0" cy="0"/>
          <a:chOff x="0" y="0"/>
          <a:chExt cx="0" cy="0"/>
        </a:xfrm>
      </p:grpSpPr>
      <p:sp>
        <p:nvSpPr>
          <p:cNvPr id="2" name="Text Box 21">
            <a:extLst>
              <a:ext uri="{FF2B5EF4-FFF2-40B4-BE49-F238E27FC236}">
                <a16:creationId xmlns:a16="http://schemas.microsoft.com/office/drawing/2014/main" id="{6C4CFF09-AD12-745B-A92B-3011D6E0321E}"/>
              </a:ext>
            </a:extLst>
          </p:cNvPr>
          <p:cNvSpPr txBox="1">
            <a:spLocks noChangeArrowheads="1"/>
          </p:cNvSpPr>
          <p:nvPr/>
        </p:nvSpPr>
        <p:spPr bwMode="auto">
          <a:xfrm>
            <a:off x="3418842" y="1234153"/>
            <a:ext cx="431800" cy="366713"/>
          </a:xfrm>
          <a:prstGeom prst="rect">
            <a:avLst/>
          </a:prstGeom>
          <a:noFill/>
          <a:ln w="19050" algn="ctr">
            <a:noFill/>
            <a:miter lim="800000"/>
            <a:headEnd/>
            <a:tailEnd type="none" w="med" len="lg"/>
          </a:ln>
          <a:effectLst/>
        </p:spPr>
        <p:txBody>
          <a:bodyPr>
            <a:spAutoFit/>
          </a:bodyPr>
          <a:lstStyle/>
          <a:p>
            <a:pPr algn="ctr"/>
            <a:r>
              <a:rPr lang="en-US" altLang="zh-CN" sz="1800">
                <a:solidFill>
                  <a:srgbClr val="FF0000"/>
                </a:solidFill>
                <a:latin typeface="Consolas" pitchFamily="49" charset="0"/>
                <a:ea typeface="宋体" pitchFamily="2" charset="-122"/>
                <a:cs typeface="Consolas" pitchFamily="49" charset="0"/>
              </a:rPr>
              <a:t>5</a:t>
            </a:r>
          </a:p>
        </p:txBody>
      </p:sp>
      <p:sp>
        <p:nvSpPr>
          <p:cNvPr id="3" name="Text Box 140">
            <a:extLst>
              <a:ext uri="{FF2B5EF4-FFF2-40B4-BE49-F238E27FC236}">
                <a16:creationId xmlns:a16="http://schemas.microsoft.com/office/drawing/2014/main" id="{E6654AFF-4A65-D056-061B-0BBF8ED9498E}"/>
              </a:ext>
            </a:extLst>
          </p:cNvPr>
          <p:cNvSpPr txBox="1">
            <a:spLocks noChangeArrowheads="1"/>
          </p:cNvSpPr>
          <p:nvPr/>
        </p:nvSpPr>
        <p:spPr bwMode="auto">
          <a:xfrm>
            <a:off x="2207568" y="662649"/>
            <a:ext cx="3319456" cy="422405"/>
          </a:xfrm>
          <a:prstGeom prst="rect">
            <a:avLst/>
          </a:prstGeom>
          <a:solidFill>
            <a:srgbClr val="339933"/>
          </a:solidFill>
          <a:ln w="28575" algn="ctr">
            <a:noFill/>
            <a:miter lim="800000"/>
            <a:headEnd/>
            <a:tailEnd/>
          </a:ln>
          <a:effectLst/>
        </p:spPr>
        <p:txBody>
          <a:bodyPr wrap="square" lIns="0" tIns="72000" rIns="0" bIns="72000">
            <a:spAutoFit/>
          </a:bodyPr>
          <a:lstStyle/>
          <a:p>
            <a:pPr algn="ctr"/>
            <a:r>
              <a:rPr lang="en-US" altLang="zh-CN" sz="1800" dirty="0">
                <a:solidFill>
                  <a:schemeClr val="bg1"/>
                </a:solidFill>
                <a:latin typeface="Consolas" pitchFamily="49" charset="0"/>
                <a:ea typeface="华文中宋" pitchFamily="2" charset="-122"/>
                <a:cs typeface="Consolas" pitchFamily="49" charset="0"/>
              </a:rPr>
              <a:t>Floyd</a:t>
            </a:r>
            <a:r>
              <a:rPr lang="zh-CN" altLang="en-US" sz="1800" dirty="0">
                <a:solidFill>
                  <a:schemeClr val="bg1"/>
                </a:solidFill>
                <a:latin typeface="Consolas" pitchFamily="49" charset="0"/>
                <a:ea typeface="华文中宋" pitchFamily="2" charset="-122"/>
                <a:cs typeface="Consolas" pitchFamily="49" charset="0"/>
              </a:rPr>
              <a:t>算法示例演示</a:t>
            </a:r>
          </a:p>
        </p:txBody>
      </p:sp>
      <p:grpSp>
        <p:nvGrpSpPr>
          <p:cNvPr id="4" name="组合 30">
            <a:extLst>
              <a:ext uri="{FF2B5EF4-FFF2-40B4-BE49-F238E27FC236}">
                <a16:creationId xmlns:a16="http://schemas.microsoft.com/office/drawing/2014/main" id="{29F6A326-4B28-CBD0-391D-0566AF70294A}"/>
              </a:ext>
            </a:extLst>
          </p:cNvPr>
          <p:cNvGrpSpPr/>
          <p:nvPr/>
        </p:nvGrpSpPr>
        <p:grpSpPr>
          <a:xfrm>
            <a:off x="2207568" y="1456403"/>
            <a:ext cx="2736850" cy="1972597"/>
            <a:chOff x="357158" y="936606"/>
            <a:chExt cx="2736850" cy="1972597"/>
          </a:xfrm>
        </p:grpSpPr>
        <p:sp>
          <p:nvSpPr>
            <p:cNvPr id="5" name="Oval 9">
              <a:extLst>
                <a:ext uri="{FF2B5EF4-FFF2-40B4-BE49-F238E27FC236}">
                  <a16:creationId xmlns:a16="http://schemas.microsoft.com/office/drawing/2014/main" id="{362DE95D-B3AC-BC6E-81B8-633C7F826626}"/>
                </a:ext>
              </a:extLst>
            </p:cNvPr>
            <p:cNvSpPr>
              <a:spLocks noChangeArrowheads="1"/>
            </p:cNvSpPr>
            <p:nvPr/>
          </p:nvSpPr>
          <p:spPr bwMode="auto">
            <a:xfrm>
              <a:off x="573058" y="936606"/>
              <a:ext cx="360363" cy="360363"/>
            </a:xfrm>
            <a:prstGeom prst="ellipse">
              <a:avLst/>
            </a:prstGeom>
            <a:ln>
              <a:headEnd/>
              <a:tailEnd type="none" w="med" len="lg"/>
            </a:ln>
          </p:spPr>
          <p:style>
            <a:lnRef idx="1">
              <a:schemeClr val="accent6"/>
            </a:lnRef>
            <a:fillRef idx="3">
              <a:schemeClr val="accent6"/>
            </a:fillRef>
            <a:effectRef idx="2">
              <a:schemeClr val="accent6"/>
            </a:effectRef>
            <a:fontRef idx="minor">
              <a:schemeClr val="lt1"/>
            </a:fontRef>
          </p:style>
          <p:txBody>
            <a:bodyPr wrap="none" anchor="ctr"/>
            <a:lstStyle/>
            <a:p>
              <a:pPr algn="ctr">
                <a:spcBef>
                  <a:spcPct val="0"/>
                </a:spcBef>
              </a:pPr>
              <a:r>
                <a:rPr lang="en-US" altLang="zh-CN" sz="1800" dirty="0">
                  <a:solidFill>
                    <a:srgbClr val="3333FF"/>
                  </a:solidFill>
                  <a:latin typeface="Consolas" pitchFamily="49" charset="0"/>
                  <a:ea typeface="宋体" pitchFamily="2" charset="-122"/>
                  <a:cs typeface="Consolas" pitchFamily="49" charset="0"/>
                </a:rPr>
                <a:t>0</a:t>
              </a:r>
            </a:p>
          </p:txBody>
        </p:sp>
        <p:sp>
          <p:nvSpPr>
            <p:cNvPr id="6" name="Oval 10">
              <a:extLst>
                <a:ext uri="{FF2B5EF4-FFF2-40B4-BE49-F238E27FC236}">
                  <a16:creationId xmlns:a16="http://schemas.microsoft.com/office/drawing/2014/main" id="{227BD0BB-91AC-C55C-387C-602A733F4266}"/>
                </a:ext>
              </a:extLst>
            </p:cNvPr>
            <p:cNvSpPr>
              <a:spLocks noChangeArrowheads="1"/>
            </p:cNvSpPr>
            <p:nvPr/>
          </p:nvSpPr>
          <p:spPr bwMode="auto">
            <a:xfrm>
              <a:off x="2517746" y="936606"/>
              <a:ext cx="360363" cy="360363"/>
            </a:xfrm>
            <a:prstGeom prst="ellipse">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anchor="ctr"/>
            <a:lstStyle/>
            <a:p>
              <a:pPr algn="ctr">
                <a:spcBef>
                  <a:spcPct val="0"/>
                </a:spcBef>
              </a:pPr>
              <a:r>
                <a:rPr lang="en-US" altLang="zh-CN" sz="1800">
                  <a:solidFill>
                    <a:srgbClr val="3333FF"/>
                  </a:solidFill>
                  <a:latin typeface="Consolas" pitchFamily="49" charset="0"/>
                  <a:ea typeface="宋体" pitchFamily="2" charset="-122"/>
                  <a:cs typeface="Consolas" pitchFamily="49" charset="0"/>
                </a:rPr>
                <a:t>1</a:t>
              </a:r>
            </a:p>
          </p:txBody>
        </p:sp>
        <p:sp>
          <p:nvSpPr>
            <p:cNvPr id="7" name="Oval 11">
              <a:extLst>
                <a:ext uri="{FF2B5EF4-FFF2-40B4-BE49-F238E27FC236}">
                  <a16:creationId xmlns:a16="http://schemas.microsoft.com/office/drawing/2014/main" id="{86AB15F1-CD56-85A9-531C-A3BCBA541C08}"/>
                </a:ext>
              </a:extLst>
            </p:cNvPr>
            <p:cNvSpPr>
              <a:spLocks noChangeArrowheads="1"/>
            </p:cNvSpPr>
            <p:nvPr/>
          </p:nvSpPr>
          <p:spPr bwMode="auto">
            <a:xfrm>
              <a:off x="573058" y="2160569"/>
              <a:ext cx="360363" cy="360363"/>
            </a:xfrm>
            <a:prstGeom prst="ellipse">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anchor="ctr"/>
            <a:lstStyle/>
            <a:p>
              <a:pPr algn="ctr">
                <a:spcBef>
                  <a:spcPct val="0"/>
                </a:spcBef>
              </a:pPr>
              <a:r>
                <a:rPr lang="en-US" altLang="zh-CN" sz="1800">
                  <a:solidFill>
                    <a:srgbClr val="3333FF"/>
                  </a:solidFill>
                  <a:latin typeface="Consolas" pitchFamily="49" charset="0"/>
                  <a:ea typeface="宋体" pitchFamily="2" charset="-122"/>
                  <a:cs typeface="Consolas" pitchFamily="49" charset="0"/>
                </a:rPr>
                <a:t>2</a:t>
              </a:r>
            </a:p>
          </p:txBody>
        </p:sp>
        <p:sp>
          <p:nvSpPr>
            <p:cNvPr id="8" name="Oval 12">
              <a:extLst>
                <a:ext uri="{FF2B5EF4-FFF2-40B4-BE49-F238E27FC236}">
                  <a16:creationId xmlns:a16="http://schemas.microsoft.com/office/drawing/2014/main" id="{BE076A73-2F64-7551-97DE-7BB1C5455236}"/>
                </a:ext>
              </a:extLst>
            </p:cNvPr>
            <p:cNvSpPr>
              <a:spLocks noChangeArrowheads="1"/>
            </p:cNvSpPr>
            <p:nvPr/>
          </p:nvSpPr>
          <p:spPr bwMode="auto">
            <a:xfrm>
              <a:off x="2589183" y="2160569"/>
              <a:ext cx="360363" cy="360363"/>
            </a:xfrm>
            <a:prstGeom prst="ellipse">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anchor="ctr"/>
            <a:lstStyle/>
            <a:p>
              <a:pPr algn="ctr">
                <a:spcBef>
                  <a:spcPct val="0"/>
                </a:spcBef>
              </a:pPr>
              <a:r>
                <a:rPr lang="en-US" altLang="zh-CN" sz="1800">
                  <a:solidFill>
                    <a:srgbClr val="3333FF"/>
                  </a:solidFill>
                  <a:latin typeface="Consolas" pitchFamily="49" charset="0"/>
                  <a:ea typeface="宋体" pitchFamily="2" charset="-122"/>
                  <a:cs typeface="Consolas" pitchFamily="49" charset="0"/>
                </a:rPr>
                <a:t>3</a:t>
              </a:r>
            </a:p>
          </p:txBody>
        </p:sp>
        <p:sp>
          <p:nvSpPr>
            <p:cNvPr id="9" name="Line 13">
              <a:extLst>
                <a:ext uri="{FF2B5EF4-FFF2-40B4-BE49-F238E27FC236}">
                  <a16:creationId xmlns:a16="http://schemas.microsoft.com/office/drawing/2014/main" id="{9F1C80E5-ADF0-F3F8-259F-74533B9FA2B6}"/>
                </a:ext>
              </a:extLst>
            </p:cNvPr>
            <p:cNvSpPr>
              <a:spLocks noChangeShapeType="1"/>
            </p:cNvSpPr>
            <p:nvPr/>
          </p:nvSpPr>
          <p:spPr bwMode="auto">
            <a:xfrm>
              <a:off x="933421" y="1081069"/>
              <a:ext cx="1584325" cy="0"/>
            </a:xfrm>
            <a:prstGeom prst="line">
              <a:avLst/>
            </a:prstGeom>
            <a:noFill/>
            <a:ln w="19050">
              <a:solidFill>
                <a:srgbClr val="7030A0"/>
              </a:solidFill>
              <a:round/>
              <a:headEnd/>
              <a:tailEnd type="stealth" w="med" len="lg"/>
            </a:ln>
            <a:effectLst/>
          </p:spPr>
          <p:txBody>
            <a:bodyPr wrap="none"/>
            <a:lstStyle/>
            <a:p>
              <a:endParaRPr lang="zh-CN" altLang="en-US">
                <a:latin typeface="Consolas" pitchFamily="49" charset="0"/>
                <a:cs typeface="Consolas" pitchFamily="49" charset="0"/>
              </a:endParaRPr>
            </a:p>
          </p:txBody>
        </p:sp>
        <p:sp>
          <p:nvSpPr>
            <p:cNvPr id="10" name="Line 14">
              <a:extLst>
                <a:ext uri="{FF2B5EF4-FFF2-40B4-BE49-F238E27FC236}">
                  <a16:creationId xmlns:a16="http://schemas.microsoft.com/office/drawing/2014/main" id="{BE1188AD-45A9-9777-0B35-A09B5BD7EFC1}"/>
                </a:ext>
              </a:extLst>
            </p:cNvPr>
            <p:cNvSpPr>
              <a:spLocks noChangeShapeType="1"/>
            </p:cNvSpPr>
            <p:nvPr/>
          </p:nvSpPr>
          <p:spPr bwMode="auto">
            <a:xfrm flipV="1">
              <a:off x="717521" y="1296969"/>
              <a:ext cx="0" cy="863600"/>
            </a:xfrm>
            <a:prstGeom prst="line">
              <a:avLst/>
            </a:prstGeom>
            <a:noFill/>
            <a:ln w="19050">
              <a:solidFill>
                <a:srgbClr val="7030A0"/>
              </a:solidFill>
              <a:round/>
              <a:headEnd/>
              <a:tailEnd type="stealth" w="med" len="lg"/>
            </a:ln>
            <a:effectLst/>
          </p:spPr>
          <p:txBody>
            <a:bodyPr wrap="none"/>
            <a:lstStyle/>
            <a:p>
              <a:endParaRPr lang="zh-CN" altLang="en-US">
                <a:latin typeface="Consolas" pitchFamily="49" charset="0"/>
                <a:cs typeface="Consolas" pitchFamily="49" charset="0"/>
              </a:endParaRPr>
            </a:p>
          </p:txBody>
        </p:sp>
        <p:sp>
          <p:nvSpPr>
            <p:cNvPr id="11" name="Freeform 15">
              <a:extLst>
                <a:ext uri="{FF2B5EF4-FFF2-40B4-BE49-F238E27FC236}">
                  <a16:creationId xmlns:a16="http://schemas.microsoft.com/office/drawing/2014/main" id="{CEB0E8F4-08CA-D7CB-6061-4F10C84EEFBB}"/>
                </a:ext>
              </a:extLst>
            </p:cNvPr>
            <p:cNvSpPr>
              <a:spLocks/>
            </p:cNvSpPr>
            <p:nvPr/>
          </p:nvSpPr>
          <p:spPr bwMode="auto">
            <a:xfrm>
              <a:off x="912783" y="1211244"/>
              <a:ext cx="1676400" cy="1020763"/>
            </a:xfrm>
            <a:custGeom>
              <a:avLst/>
              <a:gdLst/>
              <a:ahLst/>
              <a:cxnLst>
                <a:cxn ang="0">
                  <a:pos x="0" y="0"/>
                </a:cxn>
                <a:cxn ang="0">
                  <a:pos x="1056" y="643"/>
                </a:cxn>
              </a:cxnLst>
              <a:rect l="0" t="0" r="r" b="b"/>
              <a:pathLst>
                <a:path w="1056" h="643">
                  <a:moveTo>
                    <a:pt x="0" y="0"/>
                  </a:moveTo>
                  <a:lnTo>
                    <a:pt x="1056" y="643"/>
                  </a:lnTo>
                </a:path>
              </a:pathLst>
            </a:custGeom>
            <a:noFill/>
            <a:ln w="19050" cap="flat" cmpd="sng">
              <a:solidFill>
                <a:srgbClr val="7030A0"/>
              </a:solidFill>
              <a:prstDash val="solid"/>
              <a:round/>
              <a:headEnd type="none" w="med" len="med"/>
              <a:tailEnd type="stealth" w="med" len="lg"/>
            </a:ln>
            <a:effectLst/>
          </p:spPr>
          <p:txBody>
            <a:bodyPr wrap="none"/>
            <a:lstStyle/>
            <a:p>
              <a:endParaRPr lang="zh-CN" altLang="en-US">
                <a:latin typeface="Consolas" pitchFamily="49" charset="0"/>
                <a:cs typeface="Consolas" pitchFamily="49" charset="0"/>
              </a:endParaRPr>
            </a:p>
          </p:txBody>
        </p:sp>
        <p:sp>
          <p:nvSpPr>
            <p:cNvPr id="12" name="Line 16">
              <a:extLst>
                <a:ext uri="{FF2B5EF4-FFF2-40B4-BE49-F238E27FC236}">
                  <a16:creationId xmlns:a16="http://schemas.microsoft.com/office/drawing/2014/main" id="{E2D1CCD7-365F-D256-FA58-269FC9F32421}"/>
                </a:ext>
              </a:extLst>
            </p:cNvPr>
            <p:cNvSpPr>
              <a:spLocks noChangeShapeType="1"/>
            </p:cNvSpPr>
            <p:nvPr/>
          </p:nvSpPr>
          <p:spPr bwMode="auto">
            <a:xfrm>
              <a:off x="2733646" y="1296969"/>
              <a:ext cx="0" cy="863600"/>
            </a:xfrm>
            <a:prstGeom prst="line">
              <a:avLst/>
            </a:prstGeom>
            <a:noFill/>
            <a:ln w="19050">
              <a:solidFill>
                <a:srgbClr val="7030A0"/>
              </a:solidFill>
              <a:round/>
              <a:headEnd/>
              <a:tailEnd type="stealth" w="med" len="lg"/>
            </a:ln>
            <a:effectLst/>
          </p:spPr>
          <p:txBody>
            <a:bodyPr wrap="none"/>
            <a:lstStyle/>
            <a:p>
              <a:endParaRPr lang="zh-CN" altLang="en-US">
                <a:latin typeface="Consolas" pitchFamily="49" charset="0"/>
                <a:cs typeface="Consolas" pitchFamily="49" charset="0"/>
              </a:endParaRPr>
            </a:p>
          </p:txBody>
        </p:sp>
        <p:sp>
          <p:nvSpPr>
            <p:cNvPr id="13" name="Text Box 22">
              <a:extLst>
                <a:ext uri="{FF2B5EF4-FFF2-40B4-BE49-F238E27FC236}">
                  <a16:creationId xmlns:a16="http://schemas.microsoft.com/office/drawing/2014/main" id="{F38BBCEC-C95D-568D-A009-11F356B4E1FE}"/>
                </a:ext>
              </a:extLst>
            </p:cNvPr>
            <p:cNvSpPr txBox="1">
              <a:spLocks noChangeArrowheads="1"/>
            </p:cNvSpPr>
            <p:nvPr/>
          </p:nvSpPr>
          <p:spPr bwMode="auto">
            <a:xfrm>
              <a:off x="357158" y="1504931"/>
              <a:ext cx="431800" cy="366713"/>
            </a:xfrm>
            <a:prstGeom prst="rect">
              <a:avLst/>
            </a:prstGeom>
            <a:noFill/>
            <a:ln w="19050" algn="ctr">
              <a:noFill/>
              <a:miter lim="800000"/>
              <a:headEnd/>
              <a:tailEnd type="none" w="med" len="lg"/>
            </a:ln>
            <a:effectLst/>
          </p:spPr>
          <p:txBody>
            <a:bodyPr>
              <a:spAutoFit/>
            </a:bodyPr>
            <a:lstStyle/>
            <a:p>
              <a:pPr algn="ctr"/>
              <a:r>
                <a:rPr lang="en-US" altLang="zh-CN" sz="1800">
                  <a:solidFill>
                    <a:srgbClr val="FF0000"/>
                  </a:solidFill>
                  <a:latin typeface="Consolas" pitchFamily="49" charset="0"/>
                  <a:ea typeface="宋体" pitchFamily="2" charset="-122"/>
                  <a:cs typeface="Consolas" pitchFamily="49" charset="0"/>
                </a:rPr>
                <a:t>3</a:t>
              </a:r>
            </a:p>
          </p:txBody>
        </p:sp>
        <p:sp>
          <p:nvSpPr>
            <p:cNvPr id="14" name="Text Box 23">
              <a:extLst>
                <a:ext uri="{FF2B5EF4-FFF2-40B4-BE49-F238E27FC236}">
                  <a16:creationId xmlns:a16="http://schemas.microsoft.com/office/drawing/2014/main" id="{A0B11BA9-9B35-B497-02FF-ABA77594A221}"/>
                </a:ext>
              </a:extLst>
            </p:cNvPr>
            <p:cNvSpPr txBox="1">
              <a:spLocks noChangeArrowheads="1"/>
            </p:cNvSpPr>
            <p:nvPr/>
          </p:nvSpPr>
          <p:spPr bwMode="auto">
            <a:xfrm>
              <a:off x="2662208" y="1577956"/>
              <a:ext cx="431800" cy="366713"/>
            </a:xfrm>
            <a:prstGeom prst="rect">
              <a:avLst/>
            </a:prstGeom>
            <a:noFill/>
            <a:ln w="19050" algn="ctr">
              <a:noFill/>
              <a:miter lim="800000"/>
              <a:headEnd/>
              <a:tailEnd type="none" w="med" len="lg"/>
            </a:ln>
            <a:effectLst/>
          </p:spPr>
          <p:txBody>
            <a:bodyPr>
              <a:spAutoFit/>
            </a:bodyPr>
            <a:lstStyle/>
            <a:p>
              <a:pPr algn="ctr"/>
              <a:r>
                <a:rPr lang="en-US" altLang="zh-CN" sz="1800">
                  <a:solidFill>
                    <a:srgbClr val="FF0000"/>
                  </a:solidFill>
                  <a:latin typeface="Consolas" pitchFamily="49" charset="0"/>
                  <a:ea typeface="宋体" pitchFamily="2" charset="-122"/>
                  <a:cs typeface="Consolas" pitchFamily="49" charset="0"/>
                </a:rPr>
                <a:t>2</a:t>
              </a:r>
            </a:p>
          </p:txBody>
        </p:sp>
        <p:sp>
          <p:nvSpPr>
            <p:cNvPr id="15" name="Text Box 24">
              <a:extLst>
                <a:ext uri="{FF2B5EF4-FFF2-40B4-BE49-F238E27FC236}">
                  <a16:creationId xmlns:a16="http://schemas.microsoft.com/office/drawing/2014/main" id="{7BC40162-466D-1F61-ABFE-FF6FD0006C30}"/>
                </a:ext>
              </a:extLst>
            </p:cNvPr>
            <p:cNvSpPr txBox="1">
              <a:spLocks noChangeArrowheads="1"/>
            </p:cNvSpPr>
            <p:nvPr/>
          </p:nvSpPr>
          <p:spPr bwMode="auto">
            <a:xfrm>
              <a:off x="1077883" y="1081069"/>
              <a:ext cx="431800" cy="366713"/>
            </a:xfrm>
            <a:prstGeom prst="rect">
              <a:avLst/>
            </a:prstGeom>
            <a:noFill/>
            <a:ln w="19050" algn="ctr">
              <a:noFill/>
              <a:miter lim="800000"/>
              <a:headEnd/>
              <a:tailEnd type="none" w="med" len="lg"/>
            </a:ln>
            <a:effectLst/>
          </p:spPr>
          <p:txBody>
            <a:bodyPr>
              <a:spAutoFit/>
            </a:bodyPr>
            <a:lstStyle/>
            <a:p>
              <a:pPr algn="ctr"/>
              <a:r>
                <a:rPr lang="en-US" altLang="zh-CN" sz="1800">
                  <a:solidFill>
                    <a:srgbClr val="FF0000"/>
                  </a:solidFill>
                  <a:latin typeface="Consolas" pitchFamily="49" charset="0"/>
                  <a:ea typeface="宋体" pitchFamily="2" charset="-122"/>
                  <a:cs typeface="Consolas" pitchFamily="49" charset="0"/>
                </a:rPr>
                <a:t>7</a:t>
              </a:r>
            </a:p>
          </p:txBody>
        </p:sp>
        <p:sp>
          <p:nvSpPr>
            <p:cNvPr id="16" name="Text Box 25">
              <a:extLst>
                <a:ext uri="{FF2B5EF4-FFF2-40B4-BE49-F238E27FC236}">
                  <a16:creationId xmlns:a16="http://schemas.microsoft.com/office/drawing/2014/main" id="{A6A4423C-C094-6EDF-5725-4EF615F0CA3F}"/>
                </a:ext>
              </a:extLst>
            </p:cNvPr>
            <p:cNvSpPr txBox="1">
              <a:spLocks noChangeArrowheads="1"/>
            </p:cNvSpPr>
            <p:nvPr/>
          </p:nvSpPr>
          <p:spPr bwMode="auto">
            <a:xfrm>
              <a:off x="2012921" y="1577956"/>
              <a:ext cx="431800" cy="366713"/>
            </a:xfrm>
            <a:prstGeom prst="rect">
              <a:avLst/>
            </a:prstGeom>
            <a:noFill/>
            <a:ln w="19050" algn="ctr">
              <a:noFill/>
              <a:miter lim="800000"/>
              <a:headEnd/>
              <a:tailEnd type="none" w="med" len="lg"/>
            </a:ln>
            <a:effectLst/>
          </p:spPr>
          <p:txBody>
            <a:bodyPr>
              <a:spAutoFit/>
            </a:bodyPr>
            <a:lstStyle/>
            <a:p>
              <a:pPr algn="ctr"/>
              <a:r>
                <a:rPr lang="en-US" altLang="zh-CN" sz="1800">
                  <a:solidFill>
                    <a:srgbClr val="FF0000"/>
                  </a:solidFill>
                  <a:latin typeface="Consolas" pitchFamily="49" charset="0"/>
                  <a:ea typeface="宋体" pitchFamily="2" charset="-122"/>
                  <a:cs typeface="Consolas" pitchFamily="49" charset="0"/>
                </a:rPr>
                <a:t>3</a:t>
              </a:r>
            </a:p>
          </p:txBody>
        </p:sp>
        <p:sp>
          <p:nvSpPr>
            <p:cNvPr id="17" name="Text Box 26">
              <a:extLst>
                <a:ext uri="{FF2B5EF4-FFF2-40B4-BE49-F238E27FC236}">
                  <a16:creationId xmlns:a16="http://schemas.microsoft.com/office/drawing/2014/main" id="{31155617-8443-730A-3DC7-A792CDD3368D}"/>
                </a:ext>
              </a:extLst>
            </p:cNvPr>
            <p:cNvSpPr txBox="1">
              <a:spLocks noChangeArrowheads="1"/>
            </p:cNvSpPr>
            <p:nvPr/>
          </p:nvSpPr>
          <p:spPr bwMode="auto">
            <a:xfrm>
              <a:off x="1509683" y="2542490"/>
              <a:ext cx="431800" cy="366713"/>
            </a:xfrm>
            <a:prstGeom prst="rect">
              <a:avLst/>
            </a:prstGeom>
            <a:noFill/>
            <a:ln w="19050" algn="ctr">
              <a:noFill/>
              <a:miter lim="800000"/>
              <a:headEnd/>
              <a:tailEnd type="none" w="med" len="lg"/>
            </a:ln>
            <a:effectLst/>
          </p:spPr>
          <p:txBody>
            <a:bodyPr>
              <a:spAutoFit/>
            </a:bodyPr>
            <a:lstStyle/>
            <a:p>
              <a:pPr algn="ctr"/>
              <a:r>
                <a:rPr lang="en-US" altLang="zh-CN" sz="1800">
                  <a:solidFill>
                    <a:srgbClr val="FF0000"/>
                  </a:solidFill>
                  <a:latin typeface="Consolas" pitchFamily="49" charset="0"/>
                  <a:ea typeface="宋体" pitchFamily="2" charset="-122"/>
                  <a:cs typeface="Consolas" pitchFamily="49" charset="0"/>
                </a:rPr>
                <a:t>1</a:t>
              </a:r>
            </a:p>
          </p:txBody>
        </p:sp>
        <p:sp>
          <p:nvSpPr>
            <p:cNvPr id="18" name="Text Box 27">
              <a:extLst>
                <a:ext uri="{FF2B5EF4-FFF2-40B4-BE49-F238E27FC236}">
                  <a16:creationId xmlns:a16="http://schemas.microsoft.com/office/drawing/2014/main" id="{EFB0DACB-EC7F-156B-DA74-AEE4D2281CD7}"/>
                </a:ext>
              </a:extLst>
            </p:cNvPr>
            <p:cNvSpPr txBox="1">
              <a:spLocks noChangeArrowheads="1"/>
            </p:cNvSpPr>
            <p:nvPr/>
          </p:nvSpPr>
          <p:spPr bwMode="auto">
            <a:xfrm>
              <a:off x="1509683" y="2154219"/>
              <a:ext cx="431800" cy="366713"/>
            </a:xfrm>
            <a:prstGeom prst="rect">
              <a:avLst/>
            </a:prstGeom>
            <a:noFill/>
            <a:ln w="19050" algn="ctr">
              <a:noFill/>
              <a:miter lim="800000"/>
              <a:headEnd/>
              <a:tailEnd type="none" w="med" len="lg"/>
            </a:ln>
            <a:effectLst/>
          </p:spPr>
          <p:txBody>
            <a:bodyPr>
              <a:spAutoFit/>
            </a:bodyPr>
            <a:lstStyle/>
            <a:p>
              <a:pPr algn="ctr"/>
              <a:r>
                <a:rPr lang="en-US" altLang="zh-CN" sz="1800">
                  <a:solidFill>
                    <a:srgbClr val="FF0000"/>
                  </a:solidFill>
                  <a:latin typeface="Consolas" pitchFamily="49" charset="0"/>
                  <a:ea typeface="宋体" pitchFamily="2" charset="-122"/>
                  <a:cs typeface="Consolas" pitchFamily="49" charset="0"/>
                </a:rPr>
                <a:t>2</a:t>
              </a:r>
            </a:p>
          </p:txBody>
        </p:sp>
        <p:sp>
          <p:nvSpPr>
            <p:cNvPr id="19" name="Text Box 28">
              <a:extLst>
                <a:ext uri="{FF2B5EF4-FFF2-40B4-BE49-F238E27FC236}">
                  <a16:creationId xmlns:a16="http://schemas.microsoft.com/office/drawing/2014/main" id="{68A337CB-832C-9788-2C33-A9B4518867C7}"/>
                </a:ext>
              </a:extLst>
            </p:cNvPr>
            <p:cNvSpPr txBox="1">
              <a:spLocks noChangeArrowheads="1"/>
            </p:cNvSpPr>
            <p:nvPr/>
          </p:nvSpPr>
          <p:spPr bwMode="auto">
            <a:xfrm>
              <a:off x="823883" y="1539856"/>
              <a:ext cx="431800" cy="366713"/>
            </a:xfrm>
            <a:prstGeom prst="rect">
              <a:avLst/>
            </a:prstGeom>
            <a:noFill/>
            <a:ln w="19050" algn="ctr">
              <a:noFill/>
              <a:miter lim="800000"/>
              <a:headEnd/>
              <a:tailEnd type="none" w="med" len="lg"/>
            </a:ln>
            <a:effectLst/>
          </p:spPr>
          <p:txBody>
            <a:bodyPr>
              <a:spAutoFit/>
            </a:bodyPr>
            <a:lstStyle/>
            <a:p>
              <a:pPr algn="ctr"/>
              <a:r>
                <a:rPr lang="en-US" altLang="zh-CN" sz="1800">
                  <a:solidFill>
                    <a:srgbClr val="FF0000"/>
                  </a:solidFill>
                  <a:latin typeface="Consolas" pitchFamily="49" charset="0"/>
                  <a:ea typeface="宋体" pitchFamily="2" charset="-122"/>
                  <a:cs typeface="Consolas" pitchFamily="49" charset="0"/>
                </a:rPr>
                <a:t>4</a:t>
              </a:r>
            </a:p>
          </p:txBody>
        </p:sp>
        <p:sp>
          <p:nvSpPr>
            <p:cNvPr id="20" name="任意多边形 119">
              <a:extLst>
                <a:ext uri="{FF2B5EF4-FFF2-40B4-BE49-F238E27FC236}">
                  <a16:creationId xmlns:a16="http://schemas.microsoft.com/office/drawing/2014/main" id="{E3BD6BFF-A134-6CC5-ADD4-14B054C39812}"/>
                </a:ext>
              </a:extLst>
            </p:cNvPr>
            <p:cNvSpPr/>
            <p:nvPr/>
          </p:nvSpPr>
          <p:spPr>
            <a:xfrm>
              <a:off x="901670" y="2425678"/>
              <a:ext cx="1714500" cy="190500"/>
            </a:xfrm>
            <a:custGeom>
              <a:avLst/>
              <a:gdLst>
                <a:gd name="connsiteX0" fmla="*/ 1714500 w 1714500"/>
                <a:gd name="connsiteY0" fmla="*/ 0 h 190500"/>
                <a:gd name="connsiteX1" fmla="*/ 1612900 w 1714500"/>
                <a:gd name="connsiteY1" fmla="*/ 76200 h 190500"/>
                <a:gd name="connsiteX2" fmla="*/ 1130300 w 1714500"/>
                <a:gd name="connsiteY2" fmla="*/ 177800 h 190500"/>
                <a:gd name="connsiteX3" fmla="*/ 596900 w 1714500"/>
                <a:gd name="connsiteY3" fmla="*/ 152400 h 190500"/>
                <a:gd name="connsiteX4" fmla="*/ 0 w 1714500"/>
                <a:gd name="connsiteY4" fmla="*/ 50800 h 190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4500" h="190500">
                  <a:moveTo>
                    <a:pt x="1714500" y="0"/>
                  </a:moveTo>
                  <a:cubicBezTo>
                    <a:pt x="1712383" y="23283"/>
                    <a:pt x="1710267" y="46567"/>
                    <a:pt x="1612900" y="76200"/>
                  </a:cubicBezTo>
                  <a:cubicBezTo>
                    <a:pt x="1515533" y="105833"/>
                    <a:pt x="1299633" y="165100"/>
                    <a:pt x="1130300" y="177800"/>
                  </a:cubicBezTo>
                  <a:cubicBezTo>
                    <a:pt x="960967" y="190500"/>
                    <a:pt x="785283" y="173567"/>
                    <a:pt x="596900" y="152400"/>
                  </a:cubicBezTo>
                  <a:cubicBezTo>
                    <a:pt x="408517" y="131233"/>
                    <a:pt x="204258" y="91016"/>
                    <a:pt x="0" y="50800"/>
                  </a:cubicBezTo>
                </a:path>
              </a:pathLst>
            </a:custGeom>
            <a:ln w="28575">
              <a:solidFill>
                <a:srgbClr val="7030A0"/>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Consolas" pitchFamily="49" charset="0"/>
                <a:cs typeface="Consolas" pitchFamily="49" charset="0"/>
              </a:endParaRPr>
            </a:p>
          </p:txBody>
        </p:sp>
        <p:sp>
          <p:nvSpPr>
            <p:cNvPr id="21" name="任意多边形 120">
              <a:extLst>
                <a:ext uri="{FF2B5EF4-FFF2-40B4-BE49-F238E27FC236}">
                  <a16:creationId xmlns:a16="http://schemas.microsoft.com/office/drawing/2014/main" id="{D43CB586-0546-04FC-DD7F-87DA5336ADCA}"/>
                </a:ext>
              </a:extLst>
            </p:cNvPr>
            <p:cNvSpPr/>
            <p:nvPr/>
          </p:nvSpPr>
          <p:spPr>
            <a:xfrm>
              <a:off x="952470" y="2194961"/>
              <a:ext cx="1638300" cy="141817"/>
            </a:xfrm>
            <a:custGeom>
              <a:avLst/>
              <a:gdLst>
                <a:gd name="connsiteX0" fmla="*/ 0 w 1638300"/>
                <a:gd name="connsiteY0" fmla="*/ 141817 h 141817"/>
                <a:gd name="connsiteX1" fmla="*/ 114300 w 1638300"/>
                <a:gd name="connsiteY1" fmla="*/ 103717 h 141817"/>
                <a:gd name="connsiteX2" fmla="*/ 495300 w 1638300"/>
                <a:gd name="connsiteY2" fmla="*/ 14817 h 141817"/>
                <a:gd name="connsiteX3" fmla="*/ 863600 w 1638300"/>
                <a:gd name="connsiteY3" fmla="*/ 14817 h 141817"/>
                <a:gd name="connsiteX4" fmla="*/ 1638300 w 1638300"/>
                <a:gd name="connsiteY4" fmla="*/ 103717 h 141817"/>
                <a:gd name="connsiteX0" fmla="*/ 0 w 1638300"/>
                <a:gd name="connsiteY0" fmla="*/ 141817 h 141817"/>
                <a:gd name="connsiteX1" fmla="*/ 114300 w 1638300"/>
                <a:gd name="connsiteY1" fmla="*/ 103717 h 141817"/>
                <a:gd name="connsiteX2" fmla="*/ 495300 w 1638300"/>
                <a:gd name="connsiteY2" fmla="*/ 14817 h 141817"/>
                <a:gd name="connsiteX3" fmla="*/ 863600 w 1638300"/>
                <a:gd name="connsiteY3" fmla="*/ 14817 h 141817"/>
                <a:gd name="connsiteX4" fmla="*/ 1638300 w 1638300"/>
                <a:gd name="connsiteY4" fmla="*/ 103717 h 1418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38300" h="141817">
                  <a:moveTo>
                    <a:pt x="0" y="141817"/>
                  </a:moveTo>
                  <a:cubicBezTo>
                    <a:pt x="15875" y="133350"/>
                    <a:pt x="31750" y="124884"/>
                    <a:pt x="114300" y="103717"/>
                  </a:cubicBezTo>
                  <a:cubicBezTo>
                    <a:pt x="196850" y="82550"/>
                    <a:pt x="370417" y="29634"/>
                    <a:pt x="495300" y="14817"/>
                  </a:cubicBezTo>
                  <a:cubicBezTo>
                    <a:pt x="620183" y="0"/>
                    <a:pt x="673100" y="0"/>
                    <a:pt x="863600" y="14817"/>
                  </a:cubicBezTo>
                  <a:cubicBezTo>
                    <a:pt x="1054100" y="29634"/>
                    <a:pt x="1346200" y="66675"/>
                    <a:pt x="1638300" y="103717"/>
                  </a:cubicBezTo>
                </a:path>
              </a:pathLst>
            </a:custGeom>
            <a:ln w="28575">
              <a:solidFill>
                <a:srgbClr val="7030A0"/>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Consolas" pitchFamily="49" charset="0"/>
                <a:cs typeface="Consolas" pitchFamily="49" charset="0"/>
              </a:endParaRPr>
            </a:p>
          </p:txBody>
        </p:sp>
        <p:sp>
          <p:nvSpPr>
            <p:cNvPr id="22" name="任意多边形 121">
              <a:extLst>
                <a:ext uri="{FF2B5EF4-FFF2-40B4-BE49-F238E27FC236}">
                  <a16:creationId xmlns:a16="http://schemas.microsoft.com/office/drawing/2014/main" id="{0A5F1E61-48A0-D00C-504C-D26F0775287A}"/>
                </a:ext>
              </a:extLst>
            </p:cNvPr>
            <p:cNvSpPr/>
            <p:nvPr/>
          </p:nvSpPr>
          <p:spPr>
            <a:xfrm>
              <a:off x="812770" y="1155678"/>
              <a:ext cx="1714500" cy="1016000"/>
            </a:xfrm>
            <a:custGeom>
              <a:avLst/>
              <a:gdLst>
                <a:gd name="connsiteX0" fmla="*/ 1714500 w 1714500"/>
                <a:gd name="connsiteY0" fmla="*/ 0 h 1016000"/>
                <a:gd name="connsiteX1" fmla="*/ 1549400 w 1714500"/>
                <a:gd name="connsiteY1" fmla="*/ 38100 h 1016000"/>
                <a:gd name="connsiteX2" fmla="*/ 1143000 w 1714500"/>
                <a:gd name="connsiteY2" fmla="*/ 165100 h 1016000"/>
                <a:gd name="connsiteX3" fmla="*/ 609600 w 1714500"/>
                <a:gd name="connsiteY3" fmla="*/ 406400 h 1016000"/>
                <a:gd name="connsiteX4" fmla="*/ 0 w 1714500"/>
                <a:gd name="connsiteY4" fmla="*/ 1016000 h 1016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4500" h="1016000">
                  <a:moveTo>
                    <a:pt x="1714500" y="0"/>
                  </a:moveTo>
                  <a:cubicBezTo>
                    <a:pt x="1679575" y="5291"/>
                    <a:pt x="1644650" y="10583"/>
                    <a:pt x="1549400" y="38100"/>
                  </a:cubicBezTo>
                  <a:cubicBezTo>
                    <a:pt x="1454150" y="65617"/>
                    <a:pt x="1299633" y="103717"/>
                    <a:pt x="1143000" y="165100"/>
                  </a:cubicBezTo>
                  <a:cubicBezTo>
                    <a:pt x="986367" y="226483"/>
                    <a:pt x="800100" y="264583"/>
                    <a:pt x="609600" y="406400"/>
                  </a:cubicBezTo>
                  <a:cubicBezTo>
                    <a:pt x="419100" y="548217"/>
                    <a:pt x="209550" y="782108"/>
                    <a:pt x="0" y="1016000"/>
                  </a:cubicBezTo>
                </a:path>
              </a:pathLst>
            </a:custGeom>
            <a:ln w="28575">
              <a:solidFill>
                <a:srgbClr val="7030A0"/>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Consolas" pitchFamily="49" charset="0"/>
                <a:cs typeface="Consolas" pitchFamily="49" charset="0"/>
              </a:endParaRPr>
            </a:p>
          </p:txBody>
        </p:sp>
        <p:sp>
          <p:nvSpPr>
            <p:cNvPr id="23" name="任意多边形 122">
              <a:extLst>
                <a:ext uri="{FF2B5EF4-FFF2-40B4-BE49-F238E27FC236}">
                  <a16:creationId xmlns:a16="http://schemas.microsoft.com/office/drawing/2014/main" id="{303EB1AB-03F0-0766-501F-6FFE6FE8EC46}"/>
                </a:ext>
              </a:extLst>
            </p:cNvPr>
            <p:cNvSpPr/>
            <p:nvPr/>
          </p:nvSpPr>
          <p:spPr>
            <a:xfrm>
              <a:off x="888970" y="1269978"/>
              <a:ext cx="1689100" cy="990600"/>
            </a:xfrm>
            <a:custGeom>
              <a:avLst/>
              <a:gdLst>
                <a:gd name="connsiteX0" fmla="*/ 0 w 1689100"/>
                <a:gd name="connsiteY0" fmla="*/ 990600 h 990600"/>
                <a:gd name="connsiteX1" fmla="*/ 266700 w 1689100"/>
                <a:gd name="connsiteY1" fmla="*/ 901700 h 990600"/>
                <a:gd name="connsiteX2" fmla="*/ 787400 w 1689100"/>
                <a:gd name="connsiteY2" fmla="*/ 622300 h 990600"/>
                <a:gd name="connsiteX3" fmla="*/ 1219200 w 1689100"/>
                <a:gd name="connsiteY3" fmla="*/ 381000 h 990600"/>
                <a:gd name="connsiteX4" fmla="*/ 1689100 w 1689100"/>
                <a:gd name="connsiteY4" fmla="*/ 0 h 990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89100" h="990600">
                  <a:moveTo>
                    <a:pt x="0" y="990600"/>
                  </a:moveTo>
                  <a:cubicBezTo>
                    <a:pt x="67733" y="976841"/>
                    <a:pt x="135467" y="963083"/>
                    <a:pt x="266700" y="901700"/>
                  </a:cubicBezTo>
                  <a:cubicBezTo>
                    <a:pt x="397933" y="840317"/>
                    <a:pt x="628650" y="709083"/>
                    <a:pt x="787400" y="622300"/>
                  </a:cubicBezTo>
                  <a:cubicBezTo>
                    <a:pt x="946150" y="535517"/>
                    <a:pt x="1068917" y="484717"/>
                    <a:pt x="1219200" y="381000"/>
                  </a:cubicBezTo>
                  <a:cubicBezTo>
                    <a:pt x="1369483" y="277283"/>
                    <a:pt x="1529291" y="138641"/>
                    <a:pt x="1689100" y="0"/>
                  </a:cubicBezTo>
                </a:path>
              </a:pathLst>
            </a:custGeom>
            <a:ln w="28575">
              <a:solidFill>
                <a:srgbClr val="7030A0"/>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Consolas" pitchFamily="49" charset="0"/>
                <a:cs typeface="Consolas" pitchFamily="49" charset="0"/>
              </a:endParaRPr>
            </a:p>
          </p:txBody>
        </p:sp>
      </p:grpSp>
      <p:sp>
        <p:nvSpPr>
          <p:cNvPr id="24" name="TextBox 123">
            <a:extLst>
              <a:ext uri="{FF2B5EF4-FFF2-40B4-BE49-F238E27FC236}">
                <a16:creationId xmlns:a16="http://schemas.microsoft.com/office/drawing/2014/main" id="{DC9F1AD8-69F3-FB48-B3FD-FA79290788EE}"/>
              </a:ext>
            </a:extLst>
          </p:cNvPr>
          <p:cNvSpPr txBox="1"/>
          <p:nvPr/>
        </p:nvSpPr>
        <p:spPr>
          <a:xfrm>
            <a:off x="3636328" y="3663045"/>
            <a:ext cx="642942" cy="430887"/>
          </a:xfrm>
          <a:prstGeom prst="rect">
            <a:avLst/>
          </a:prstGeom>
          <a:noFill/>
        </p:spPr>
        <p:txBody>
          <a:bodyPr wrap="square" rtlCol="0">
            <a:spAutoFit/>
          </a:bodyPr>
          <a:lstStyle/>
          <a:p>
            <a:r>
              <a:rPr lang="en-US" altLang="zh-CN" sz="2200" i="1">
                <a:latin typeface="Consolas" pitchFamily="49" charset="0"/>
                <a:cs typeface="Consolas" pitchFamily="49" charset="0"/>
              </a:rPr>
              <a:t>A</a:t>
            </a:r>
            <a:r>
              <a:rPr lang="en-US" altLang="zh-CN" sz="2200" baseline="-25000">
                <a:latin typeface="Consolas" pitchFamily="49" charset="0"/>
                <a:cs typeface="Consolas" pitchFamily="49" charset="0"/>
              </a:rPr>
              <a:t>0</a:t>
            </a:r>
            <a:endParaRPr lang="zh-CN" altLang="en-US" sz="2200" baseline="-25000">
              <a:latin typeface="Consolas" pitchFamily="49" charset="0"/>
              <a:cs typeface="Consolas" pitchFamily="49" charset="0"/>
            </a:endParaRPr>
          </a:p>
        </p:txBody>
      </p:sp>
      <p:graphicFrame>
        <p:nvGraphicFramePr>
          <p:cNvPr id="25" name="表格 24">
            <a:extLst>
              <a:ext uri="{FF2B5EF4-FFF2-40B4-BE49-F238E27FC236}">
                <a16:creationId xmlns:a16="http://schemas.microsoft.com/office/drawing/2014/main" id="{023ABDE6-F029-B0F8-A5C9-327A81829DFF}"/>
              </a:ext>
            </a:extLst>
          </p:cNvPr>
          <p:cNvGraphicFramePr>
            <a:graphicFrameLocks noGrp="1"/>
          </p:cNvGraphicFramePr>
          <p:nvPr>
            <p:extLst>
              <p:ext uri="{D42A27DB-BD31-4B8C-83A1-F6EECF244321}">
                <p14:modId xmlns:p14="http://schemas.microsoft.com/office/powerpoint/2010/main" val="1496494106"/>
              </p:ext>
            </p:extLst>
          </p:nvPr>
        </p:nvGraphicFramePr>
        <p:xfrm>
          <a:off x="2350444" y="4234549"/>
          <a:ext cx="3071835" cy="1854200"/>
        </p:xfrm>
        <a:graphic>
          <a:graphicData uri="http://schemas.openxmlformats.org/drawingml/2006/table">
            <a:tbl>
              <a:tblPr firstRow="1" bandRow="1">
                <a:tableStyleId>{E8B1032C-EA38-4F05-BA0D-38AFFFC7BED3}</a:tableStyleId>
              </a:tblPr>
              <a:tblGrid>
                <a:gridCol w="614367">
                  <a:extLst>
                    <a:ext uri="{9D8B030D-6E8A-4147-A177-3AD203B41FA5}">
                      <a16:colId xmlns:a16="http://schemas.microsoft.com/office/drawing/2014/main" val="20000"/>
                    </a:ext>
                  </a:extLst>
                </a:gridCol>
                <a:gridCol w="614367">
                  <a:extLst>
                    <a:ext uri="{9D8B030D-6E8A-4147-A177-3AD203B41FA5}">
                      <a16:colId xmlns:a16="http://schemas.microsoft.com/office/drawing/2014/main" val="20001"/>
                    </a:ext>
                  </a:extLst>
                </a:gridCol>
                <a:gridCol w="614367">
                  <a:extLst>
                    <a:ext uri="{9D8B030D-6E8A-4147-A177-3AD203B41FA5}">
                      <a16:colId xmlns:a16="http://schemas.microsoft.com/office/drawing/2014/main" val="20002"/>
                    </a:ext>
                  </a:extLst>
                </a:gridCol>
                <a:gridCol w="614367">
                  <a:extLst>
                    <a:ext uri="{9D8B030D-6E8A-4147-A177-3AD203B41FA5}">
                      <a16:colId xmlns:a16="http://schemas.microsoft.com/office/drawing/2014/main" val="20003"/>
                    </a:ext>
                  </a:extLst>
                </a:gridCol>
                <a:gridCol w="614367">
                  <a:extLst>
                    <a:ext uri="{9D8B030D-6E8A-4147-A177-3AD203B41FA5}">
                      <a16:colId xmlns:a16="http://schemas.microsoft.com/office/drawing/2014/main" val="20004"/>
                    </a:ext>
                  </a:extLst>
                </a:gridCol>
              </a:tblGrid>
              <a:tr h="370840">
                <a:tc>
                  <a:txBody>
                    <a:bodyPr/>
                    <a:lstStyle/>
                    <a:p>
                      <a:pPr algn="ctr"/>
                      <a:endParaRPr lang="zh-CN" altLang="en-US" b="1">
                        <a:solidFill>
                          <a:srgbClr val="3333FF"/>
                        </a:solidFill>
                        <a:latin typeface="Consolas" pitchFamily="49" charset="0"/>
                        <a:cs typeface="Consolas" pitchFamily="49" charset="0"/>
                      </a:endParaRPr>
                    </a:p>
                  </a:txBody>
                  <a:tcPr>
                    <a:solidFill>
                      <a:schemeClr val="tx2">
                        <a:lumMod val="40000"/>
                        <a:lumOff val="60000"/>
                      </a:schemeClr>
                    </a:solidFill>
                  </a:tcPr>
                </a:tc>
                <a:tc>
                  <a:txBody>
                    <a:bodyPr/>
                    <a:lstStyle/>
                    <a:p>
                      <a:pPr algn="ctr"/>
                      <a:r>
                        <a:rPr lang="en-US" altLang="zh-CN" sz="1600" b="1">
                          <a:solidFill>
                            <a:srgbClr val="FF0000"/>
                          </a:solidFill>
                          <a:latin typeface="Consolas" pitchFamily="49" charset="0"/>
                          <a:cs typeface="Consolas" pitchFamily="49" charset="0"/>
                        </a:rPr>
                        <a:t>0</a:t>
                      </a:r>
                      <a:endParaRPr lang="zh-CN" altLang="en-US" sz="1600" b="1">
                        <a:solidFill>
                          <a:srgbClr val="FF0000"/>
                        </a:solidFill>
                        <a:latin typeface="Consolas" pitchFamily="49" charset="0"/>
                        <a:cs typeface="Consolas" pitchFamily="49" charset="0"/>
                      </a:endParaRPr>
                    </a:p>
                  </a:txBody>
                  <a:tcPr>
                    <a:solidFill>
                      <a:schemeClr val="tx2">
                        <a:lumMod val="40000"/>
                        <a:lumOff val="60000"/>
                      </a:schemeClr>
                    </a:solidFill>
                  </a:tcPr>
                </a:tc>
                <a:tc>
                  <a:txBody>
                    <a:bodyPr/>
                    <a:lstStyle/>
                    <a:p>
                      <a:pPr algn="ctr"/>
                      <a:r>
                        <a:rPr lang="en-US" altLang="zh-CN" sz="1600" b="1">
                          <a:solidFill>
                            <a:srgbClr val="FF0000"/>
                          </a:solidFill>
                          <a:latin typeface="Consolas" pitchFamily="49" charset="0"/>
                          <a:cs typeface="Consolas" pitchFamily="49" charset="0"/>
                        </a:rPr>
                        <a:t>1</a:t>
                      </a:r>
                      <a:endParaRPr lang="zh-CN" altLang="en-US" sz="1600" b="1">
                        <a:solidFill>
                          <a:srgbClr val="FF0000"/>
                        </a:solidFill>
                        <a:latin typeface="Consolas" pitchFamily="49" charset="0"/>
                        <a:cs typeface="Consolas" pitchFamily="49" charset="0"/>
                      </a:endParaRPr>
                    </a:p>
                  </a:txBody>
                  <a:tcPr>
                    <a:solidFill>
                      <a:schemeClr val="tx2">
                        <a:lumMod val="40000"/>
                        <a:lumOff val="60000"/>
                      </a:schemeClr>
                    </a:solidFill>
                  </a:tcPr>
                </a:tc>
                <a:tc>
                  <a:txBody>
                    <a:bodyPr/>
                    <a:lstStyle/>
                    <a:p>
                      <a:pPr algn="ctr"/>
                      <a:r>
                        <a:rPr lang="en-US" altLang="zh-CN" sz="1600" b="1">
                          <a:solidFill>
                            <a:srgbClr val="FF0000"/>
                          </a:solidFill>
                          <a:latin typeface="Consolas" pitchFamily="49" charset="0"/>
                          <a:cs typeface="Consolas" pitchFamily="49" charset="0"/>
                        </a:rPr>
                        <a:t>2</a:t>
                      </a:r>
                      <a:endParaRPr lang="zh-CN" altLang="en-US" sz="1600" b="1">
                        <a:solidFill>
                          <a:srgbClr val="FF0000"/>
                        </a:solidFill>
                        <a:latin typeface="Consolas" pitchFamily="49" charset="0"/>
                        <a:cs typeface="Consolas" pitchFamily="49" charset="0"/>
                      </a:endParaRPr>
                    </a:p>
                  </a:txBody>
                  <a:tcPr>
                    <a:solidFill>
                      <a:schemeClr val="tx2">
                        <a:lumMod val="40000"/>
                        <a:lumOff val="60000"/>
                      </a:schemeClr>
                    </a:solidFill>
                  </a:tcPr>
                </a:tc>
                <a:tc>
                  <a:txBody>
                    <a:bodyPr/>
                    <a:lstStyle/>
                    <a:p>
                      <a:pPr algn="ctr"/>
                      <a:r>
                        <a:rPr lang="en-US" altLang="zh-CN" sz="1600" b="1">
                          <a:solidFill>
                            <a:srgbClr val="FF0000"/>
                          </a:solidFill>
                          <a:latin typeface="Consolas" pitchFamily="49" charset="0"/>
                          <a:cs typeface="Consolas" pitchFamily="49" charset="0"/>
                        </a:rPr>
                        <a:t>3</a:t>
                      </a:r>
                      <a:endParaRPr lang="zh-CN" altLang="en-US" sz="1600" b="1">
                        <a:solidFill>
                          <a:srgbClr val="FF0000"/>
                        </a:solidFill>
                        <a:latin typeface="Consolas" pitchFamily="49" charset="0"/>
                        <a:cs typeface="Consolas" pitchFamily="49" charset="0"/>
                      </a:endParaRPr>
                    </a:p>
                  </a:txBody>
                  <a:tcPr>
                    <a:solidFill>
                      <a:schemeClr val="tx2">
                        <a:lumMod val="40000"/>
                        <a:lumOff val="60000"/>
                      </a:schemeClr>
                    </a:solidFill>
                  </a:tcPr>
                </a:tc>
                <a:extLst>
                  <a:ext uri="{0D108BD9-81ED-4DB2-BD59-A6C34878D82A}">
                    <a16:rowId xmlns:a16="http://schemas.microsoft.com/office/drawing/2014/main" val="10000"/>
                  </a:ext>
                </a:extLst>
              </a:tr>
              <a:tr h="370840">
                <a:tc>
                  <a:txBody>
                    <a:bodyPr/>
                    <a:lstStyle/>
                    <a:p>
                      <a:pPr algn="ctr"/>
                      <a:r>
                        <a:rPr lang="en-US" altLang="zh-CN" sz="1600" b="1">
                          <a:solidFill>
                            <a:srgbClr val="FF0000"/>
                          </a:solidFill>
                          <a:latin typeface="Consolas" pitchFamily="49" charset="0"/>
                          <a:cs typeface="Consolas" pitchFamily="49" charset="0"/>
                        </a:rPr>
                        <a:t>0</a:t>
                      </a:r>
                      <a:endParaRPr lang="zh-CN" altLang="en-US" sz="1600" b="1">
                        <a:solidFill>
                          <a:srgbClr val="FF0000"/>
                        </a:solidFill>
                        <a:latin typeface="Consolas" pitchFamily="49" charset="0"/>
                        <a:cs typeface="Consolas" pitchFamily="49" charset="0"/>
                      </a:endParaRPr>
                    </a:p>
                  </a:txBody>
                  <a:tcPr>
                    <a:solidFill>
                      <a:schemeClr val="tx2">
                        <a:lumMod val="40000"/>
                        <a:lumOff val="60000"/>
                      </a:schemeClr>
                    </a:solidFill>
                  </a:tcPr>
                </a:tc>
                <a:tc>
                  <a:txBody>
                    <a:bodyPr/>
                    <a:lstStyle/>
                    <a:p>
                      <a:pPr algn="ctr"/>
                      <a:r>
                        <a:rPr lang="en-US" altLang="zh-CN" b="1">
                          <a:solidFill>
                            <a:srgbClr val="3333FF"/>
                          </a:solidFill>
                          <a:latin typeface="Consolas" pitchFamily="49" charset="0"/>
                          <a:cs typeface="Consolas" pitchFamily="49" charset="0"/>
                        </a:rPr>
                        <a:t>0</a:t>
                      </a:r>
                      <a:endParaRPr lang="zh-CN" altLang="en-US" b="1">
                        <a:solidFill>
                          <a:srgbClr val="3333FF"/>
                        </a:solidFill>
                        <a:latin typeface="Consolas" pitchFamily="49" charset="0"/>
                        <a:cs typeface="Consolas" pitchFamily="49" charset="0"/>
                      </a:endParaRPr>
                    </a:p>
                  </a:txBody>
                  <a:tcPr/>
                </a:tc>
                <a:tc>
                  <a:txBody>
                    <a:bodyPr/>
                    <a:lstStyle/>
                    <a:p>
                      <a:pPr algn="ctr"/>
                      <a:r>
                        <a:rPr lang="en-US" altLang="zh-CN" b="1">
                          <a:solidFill>
                            <a:srgbClr val="3333FF"/>
                          </a:solidFill>
                          <a:latin typeface="Consolas" pitchFamily="49" charset="0"/>
                          <a:cs typeface="Consolas" pitchFamily="49" charset="0"/>
                        </a:rPr>
                        <a:t>5</a:t>
                      </a:r>
                      <a:endParaRPr lang="zh-CN" altLang="en-US" b="1">
                        <a:solidFill>
                          <a:srgbClr val="3333FF"/>
                        </a:solidFill>
                        <a:latin typeface="Consolas" pitchFamily="49" charset="0"/>
                        <a:cs typeface="Consolas" pitchFamily="49" charset="0"/>
                      </a:endParaRPr>
                    </a:p>
                  </a:txBody>
                  <a:tcPr/>
                </a:tc>
                <a:tc>
                  <a:txBody>
                    <a:bodyPr/>
                    <a:lstStyle/>
                    <a:p>
                      <a:pPr algn="ctr"/>
                      <a:r>
                        <a:rPr lang="zh-CN" altLang="en-US" b="1">
                          <a:solidFill>
                            <a:srgbClr val="3333FF"/>
                          </a:solidFill>
                          <a:latin typeface="Consolas" pitchFamily="49" charset="0"/>
                          <a:cs typeface="Consolas" pitchFamily="49" charset="0"/>
                        </a:rPr>
                        <a:t>∞</a:t>
                      </a:r>
                    </a:p>
                  </a:txBody>
                  <a:tcPr/>
                </a:tc>
                <a:tc>
                  <a:txBody>
                    <a:bodyPr/>
                    <a:lstStyle/>
                    <a:p>
                      <a:pPr algn="ctr"/>
                      <a:r>
                        <a:rPr lang="en-US" altLang="zh-CN" b="1">
                          <a:solidFill>
                            <a:srgbClr val="3333FF"/>
                          </a:solidFill>
                          <a:latin typeface="Consolas" pitchFamily="49" charset="0"/>
                          <a:cs typeface="Consolas" pitchFamily="49" charset="0"/>
                        </a:rPr>
                        <a:t>7</a:t>
                      </a:r>
                      <a:endParaRPr lang="zh-CN" altLang="en-US" b="1">
                        <a:solidFill>
                          <a:srgbClr val="3333FF"/>
                        </a:solidFill>
                        <a:latin typeface="Consolas" pitchFamily="49" charset="0"/>
                        <a:cs typeface="Consolas" pitchFamily="49" charset="0"/>
                      </a:endParaRPr>
                    </a:p>
                  </a:txBody>
                  <a:tcPr/>
                </a:tc>
                <a:extLst>
                  <a:ext uri="{0D108BD9-81ED-4DB2-BD59-A6C34878D82A}">
                    <a16:rowId xmlns:a16="http://schemas.microsoft.com/office/drawing/2014/main" val="10001"/>
                  </a:ext>
                </a:extLst>
              </a:tr>
              <a:tr h="370840">
                <a:tc>
                  <a:txBody>
                    <a:bodyPr/>
                    <a:lstStyle/>
                    <a:p>
                      <a:pPr algn="ctr"/>
                      <a:r>
                        <a:rPr lang="en-US" altLang="zh-CN" sz="1600" b="1">
                          <a:solidFill>
                            <a:srgbClr val="FF0000"/>
                          </a:solidFill>
                          <a:latin typeface="Consolas" pitchFamily="49" charset="0"/>
                          <a:cs typeface="Consolas" pitchFamily="49" charset="0"/>
                        </a:rPr>
                        <a:t>1</a:t>
                      </a:r>
                      <a:endParaRPr lang="zh-CN" altLang="en-US" sz="1600" b="1">
                        <a:solidFill>
                          <a:srgbClr val="FF0000"/>
                        </a:solidFill>
                        <a:latin typeface="Consolas" pitchFamily="49" charset="0"/>
                        <a:cs typeface="Consolas" pitchFamily="49" charset="0"/>
                      </a:endParaRPr>
                    </a:p>
                  </a:txBody>
                  <a:tcPr>
                    <a:solidFill>
                      <a:schemeClr val="tx2">
                        <a:lumMod val="40000"/>
                        <a:lumOff val="6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b="1">
                          <a:solidFill>
                            <a:srgbClr val="3333FF"/>
                          </a:solidFill>
                          <a:latin typeface="Consolas" pitchFamily="49" charset="0"/>
                          <a:cs typeface="Consolas" pitchFamily="49" charset="0"/>
                        </a:rPr>
                        <a:t>∞</a:t>
                      </a:r>
                    </a:p>
                  </a:txBody>
                  <a:tcPr/>
                </a:tc>
                <a:tc>
                  <a:txBody>
                    <a:bodyPr/>
                    <a:lstStyle/>
                    <a:p>
                      <a:pPr algn="ctr"/>
                      <a:r>
                        <a:rPr lang="en-US" altLang="zh-CN" b="1">
                          <a:solidFill>
                            <a:srgbClr val="3333FF"/>
                          </a:solidFill>
                          <a:latin typeface="Consolas" pitchFamily="49" charset="0"/>
                          <a:cs typeface="Consolas" pitchFamily="49" charset="0"/>
                        </a:rPr>
                        <a:t>0</a:t>
                      </a:r>
                      <a:endParaRPr lang="zh-CN" altLang="en-US" b="1">
                        <a:solidFill>
                          <a:srgbClr val="3333FF"/>
                        </a:solidFill>
                        <a:latin typeface="Consolas" pitchFamily="49" charset="0"/>
                        <a:cs typeface="Consolas" pitchFamily="49" charset="0"/>
                      </a:endParaRPr>
                    </a:p>
                  </a:txBody>
                  <a:tcPr/>
                </a:tc>
                <a:tc>
                  <a:txBody>
                    <a:bodyPr/>
                    <a:lstStyle/>
                    <a:p>
                      <a:pPr algn="ctr"/>
                      <a:r>
                        <a:rPr lang="en-US" altLang="zh-CN" b="1">
                          <a:solidFill>
                            <a:srgbClr val="3333FF"/>
                          </a:solidFill>
                          <a:latin typeface="Consolas" pitchFamily="49" charset="0"/>
                          <a:cs typeface="Consolas" pitchFamily="49" charset="0"/>
                        </a:rPr>
                        <a:t>4</a:t>
                      </a:r>
                      <a:endParaRPr lang="zh-CN" altLang="en-US" b="1">
                        <a:solidFill>
                          <a:srgbClr val="3333FF"/>
                        </a:solidFill>
                        <a:latin typeface="Consolas" pitchFamily="49" charset="0"/>
                        <a:cs typeface="Consolas" pitchFamily="49" charset="0"/>
                      </a:endParaRPr>
                    </a:p>
                  </a:txBody>
                  <a:tcPr/>
                </a:tc>
                <a:tc>
                  <a:txBody>
                    <a:bodyPr/>
                    <a:lstStyle/>
                    <a:p>
                      <a:pPr algn="ctr"/>
                      <a:r>
                        <a:rPr lang="en-US" altLang="zh-CN" b="1">
                          <a:solidFill>
                            <a:srgbClr val="3333FF"/>
                          </a:solidFill>
                          <a:latin typeface="Consolas" pitchFamily="49" charset="0"/>
                          <a:cs typeface="Consolas" pitchFamily="49" charset="0"/>
                        </a:rPr>
                        <a:t>2</a:t>
                      </a:r>
                      <a:endParaRPr lang="zh-CN" altLang="en-US" b="1">
                        <a:solidFill>
                          <a:srgbClr val="3333FF"/>
                        </a:solidFill>
                        <a:latin typeface="Consolas" pitchFamily="49" charset="0"/>
                        <a:cs typeface="Consolas" pitchFamily="49" charset="0"/>
                      </a:endParaRPr>
                    </a:p>
                  </a:txBody>
                  <a:tcPr/>
                </a:tc>
                <a:extLst>
                  <a:ext uri="{0D108BD9-81ED-4DB2-BD59-A6C34878D82A}">
                    <a16:rowId xmlns:a16="http://schemas.microsoft.com/office/drawing/2014/main" val="10002"/>
                  </a:ext>
                </a:extLst>
              </a:tr>
              <a:tr h="370840">
                <a:tc>
                  <a:txBody>
                    <a:bodyPr/>
                    <a:lstStyle/>
                    <a:p>
                      <a:pPr algn="ctr"/>
                      <a:r>
                        <a:rPr lang="en-US" altLang="zh-CN" sz="1600" b="1">
                          <a:solidFill>
                            <a:srgbClr val="FF0000"/>
                          </a:solidFill>
                          <a:latin typeface="Consolas" pitchFamily="49" charset="0"/>
                          <a:cs typeface="Consolas" pitchFamily="49" charset="0"/>
                        </a:rPr>
                        <a:t>2</a:t>
                      </a:r>
                      <a:endParaRPr lang="zh-CN" altLang="en-US" sz="1600" b="1">
                        <a:solidFill>
                          <a:srgbClr val="FF0000"/>
                        </a:solidFill>
                        <a:latin typeface="Consolas" pitchFamily="49" charset="0"/>
                        <a:cs typeface="Consolas" pitchFamily="49" charset="0"/>
                      </a:endParaRPr>
                    </a:p>
                  </a:txBody>
                  <a:tcPr>
                    <a:solidFill>
                      <a:schemeClr val="tx2">
                        <a:lumMod val="40000"/>
                        <a:lumOff val="60000"/>
                      </a:schemeClr>
                    </a:solidFill>
                  </a:tcPr>
                </a:tc>
                <a:tc>
                  <a:txBody>
                    <a:bodyPr/>
                    <a:lstStyle/>
                    <a:p>
                      <a:pPr algn="ctr"/>
                      <a:r>
                        <a:rPr lang="en-US" altLang="zh-CN" b="1">
                          <a:solidFill>
                            <a:srgbClr val="3333FF"/>
                          </a:solidFill>
                          <a:latin typeface="Consolas" pitchFamily="49" charset="0"/>
                          <a:cs typeface="Consolas" pitchFamily="49" charset="0"/>
                        </a:rPr>
                        <a:t>3</a:t>
                      </a:r>
                      <a:endParaRPr lang="zh-CN" altLang="en-US" b="1">
                        <a:solidFill>
                          <a:srgbClr val="3333FF"/>
                        </a:solidFill>
                        <a:latin typeface="Consolas" pitchFamily="49" charset="0"/>
                        <a:cs typeface="Consolas" pitchFamily="49" charset="0"/>
                      </a:endParaRPr>
                    </a:p>
                  </a:txBody>
                  <a:tcPr/>
                </a:tc>
                <a:tc>
                  <a:txBody>
                    <a:bodyPr/>
                    <a:lstStyle/>
                    <a:p>
                      <a:pPr algn="ctr"/>
                      <a:r>
                        <a:rPr lang="en-US" altLang="zh-CN" b="1">
                          <a:solidFill>
                            <a:srgbClr val="3333FF"/>
                          </a:solidFill>
                          <a:latin typeface="Consolas" pitchFamily="49" charset="0"/>
                          <a:cs typeface="Consolas" pitchFamily="49" charset="0"/>
                        </a:rPr>
                        <a:t>3</a:t>
                      </a:r>
                      <a:endParaRPr lang="zh-CN" altLang="en-US" b="1">
                        <a:solidFill>
                          <a:srgbClr val="3333FF"/>
                        </a:solidFill>
                        <a:latin typeface="Consolas" pitchFamily="49" charset="0"/>
                        <a:cs typeface="Consolas" pitchFamily="49" charset="0"/>
                      </a:endParaRPr>
                    </a:p>
                  </a:txBody>
                  <a:tcPr/>
                </a:tc>
                <a:tc>
                  <a:txBody>
                    <a:bodyPr/>
                    <a:lstStyle/>
                    <a:p>
                      <a:pPr algn="ctr"/>
                      <a:r>
                        <a:rPr lang="en-US" altLang="zh-CN" b="1">
                          <a:solidFill>
                            <a:srgbClr val="3333FF"/>
                          </a:solidFill>
                          <a:latin typeface="Consolas" pitchFamily="49" charset="0"/>
                          <a:cs typeface="Consolas" pitchFamily="49" charset="0"/>
                        </a:rPr>
                        <a:t>0</a:t>
                      </a:r>
                      <a:endParaRPr lang="zh-CN" altLang="en-US" b="1">
                        <a:solidFill>
                          <a:srgbClr val="3333FF"/>
                        </a:solidFill>
                        <a:latin typeface="Consolas" pitchFamily="49" charset="0"/>
                        <a:cs typeface="Consolas" pitchFamily="49" charset="0"/>
                      </a:endParaRPr>
                    </a:p>
                  </a:txBody>
                  <a:tcPr/>
                </a:tc>
                <a:tc>
                  <a:txBody>
                    <a:bodyPr/>
                    <a:lstStyle/>
                    <a:p>
                      <a:pPr algn="ctr"/>
                      <a:r>
                        <a:rPr lang="en-US" altLang="zh-CN" b="1">
                          <a:solidFill>
                            <a:srgbClr val="3333FF"/>
                          </a:solidFill>
                          <a:latin typeface="Consolas" pitchFamily="49" charset="0"/>
                          <a:cs typeface="Consolas" pitchFamily="49" charset="0"/>
                        </a:rPr>
                        <a:t>2</a:t>
                      </a:r>
                      <a:endParaRPr lang="zh-CN" altLang="en-US" b="1">
                        <a:solidFill>
                          <a:srgbClr val="3333FF"/>
                        </a:solidFill>
                        <a:latin typeface="Consolas" pitchFamily="49" charset="0"/>
                        <a:cs typeface="Consolas" pitchFamily="49" charset="0"/>
                      </a:endParaRPr>
                    </a:p>
                  </a:txBody>
                  <a:tcPr/>
                </a:tc>
                <a:extLst>
                  <a:ext uri="{0D108BD9-81ED-4DB2-BD59-A6C34878D82A}">
                    <a16:rowId xmlns:a16="http://schemas.microsoft.com/office/drawing/2014/main" val="10003"/>
                  </a:ext>
                </a:extLst>
              </a:tr>
              <a:tr h="370840">
                <a:tc>
                  <a:txBody>
                    <a:bodyPr/>
                    <a:lstStyle/>
                    <a:p>
                      <a:pPr algn="ctr"/>
                      <a:r>
                        <a:rPr lang="en-US" altLang="zh-CN" sz="1600" b="1">
                          <a:solidFill>
                            <a:srgbClr val="FF0000"/>
                          </a:solidFill>
                          <a:latin typeface="Consolas" pitchFamily="49" charset="0"/>
                          <a:cs typeface="Consolas" pitchFamily="49" charset="0"/>
                        </a:rPr>
                        <a:t>3</a:t>
                      </a:r>
                      <a:endParaRPr lang="zh-CN" altLang="en-US" sz="1600" b="1">
                        <a:solidFill>
                          <a:srgbClr val="FF0000"/>
                        </a:solidFill>
                        <a:latin typeface="Consolas" pitchFamily="49" charset="0"/>
                        <a:cs typeface="Consolas" pitchFamily="49" charset="0"/>
                      </a:endParaRPr>
                    </a:p>
                  </a:txBody>
                  <a:tcPr>
                    <a:solidFill>
                      <a:schemeClr val="tx2">
                        <a:lumMod val="40000"/>
                        <a:lumOff val="6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b="1">
                          <a:solidFill>
                            <a:srgbClr val="3333FF"/>
                          </a:solidFill>
                          <a:latin typeface="Consolas" pitchFamily="49" charset="0"/>
                          <a:cs typeface="Consolas" pitchFamily="49" charset="0"/>
                        </a:rPr>
                        <a:t>∞</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b="1">
                          <a:solidFill>
                            <a:srgbClr val="3333FF"/>
                          </a:solidFill>
                          <a:latin typeface="Consolas" pitchFamily="49" charset="0"/>
                          <a:cs typeface="Consolas" pitchFamily="49" charset="0"/>
                        </a:rPr>
                        <a:t>∞</a:t>
                      </a:r>
                    </a:p>
                  </a:txBody>
                  <a:tcPr/>
                </a:tc>
                <a:tc>
                  <a:txBody>
                    <a:bodyPr/>
                    <a:lstStyle/>
                    <a:p>
                      <a:pPr algn="ctr"/>
                      <a:r>
                        <a:rPr lang="en-US" altLang="zh-CN" b="1">
                          <a:solidFill>
                            <a:srgbClr val="3333FF"/>
                          </a:solidFill>
                          <a:latin typeface="Consolas" pitchFamily="49" charset="0"/>
                          <a:cs typeface="Consolas" pitchFamily="49" charset="0"/>
                        </a:rPr>
                        <a:t>1</a:t>
                      </a:r>
                      <a:endParaRPr lang="zh-CN" altLang="en-US" b="1">
                        <a:solidFill>
                          <a:srgbClr val="3333FF"/>
                        </a:solidFill>
                        <a:latin typeface="Consolas" pitchFamily="49" charset="0"/>
                        <a:cs typeface="Consolas" pitchFamily="49" charset="0"/>
                      </a:endParaRPr>
                    </a:p>
                  </a:txBody>
                  <a:tcPr/>
                </a:tc>
                <a:tc>
                  <a:txBody>
                    <a:bodyPr/>
                    <a:lstStyle/>
                    <a:p>
                      <a:pPr algn="ctr"/>
                      <a:r>
                        <a:rPr lang="en-US" altLang="zh-CN" b="1">
                          <a:solidFill>
                            <a:srgbClr val="3333FF"/>
                          </a:solidFill>
                          <a:latin typeface="Consolas" pitchFamily="49" charset="0"/>
                          <a:cs typeface="Consolas" pitchFamily="49" charset="0"/>
                        </a:rPr>
                        <a:t>0</a:t>
                      </a:r>
                      <a:endParaRPr lang="zh-CN" altLang="en-US" b="1">
                        <a:solidFill>
                          <a:srgbClr val="3333FF"/>
                        </a:solidFill>
                        <a:latin typeface="Consolas" pitchFamily="49" charset="0"/>
                        <a:cs typeface="Consolas" pitchFamily="49" charset="0"/>
                      </a:endParaRPr>
                    </a:p>
                  </a:txBody>
                  <a:tcPr/>
                </a:tc>
                <a:extLst>
                  <a:ext uri="{0D108BD9-81ED-4DB2-BD59-A6C34878D82A}">
                    <a16:rowId xmlns:a16="http://schemas.microsoft.com/office/drawing/2014/main" val="10004"/>
                  </a:ext>
                </a:extLst>
              </a:tr>
            </a:tbl>
          </a:graphicData>
        </a:graphic>
      </p:graphicFrame>
      <p:sp>
        <p:nvSpPr>
          <p:cNvPr id="26" name="TextBox 125">
            <a:extLst>
              <a:ext uri="{FF2B5EF4-FFF2-40B4-BE49-F238E27FC236}">
                <a16:creationId xmlns:a16="http://schemas.microsoft.com/office/drawing/2014/main" id="{2DA7044C-86AF-67BD-BEBE-C8B320F3CC90}"/>
              </a:ext>
            </a:extLst>
          </p:cNvPr>
          <p:cNvSpPr txBox="1"/>
          <p:nvPr/>
        </p:nvSpPr>
        <p:spPr>
          <a:xfrm>
            <a:off x="8851300" y="3663045"/>
            <a:ext cx="1000133" cy="430887"/>
          </a:xfrm>
          <a:prstGeom prst="rect">
            <a:avLst/>
          </a:prstGeom>
          <a:noFill/>
        </p:spPr>
        <p:txBody>
          <a:bodyPr wrap="square" rtlCol="0">
            <a:spAutoFit/>
          </a:bodyPr>
          <a:lstStyle/>
          <a:p>
            <a:r>
              <a:rPr lang="en-US" altLang="zh-CN" sz="2200">
                <a:latin typeface="Consolas" pitchFamily="49" charset="0"/>
                <a:cs typeface="Consolas" pitchFamily="49" charset="0"/>
              </a:rPr>
              <a:t>path</a:t>
            </a:r>
            <a:r>
              <a:rPr lang="en-US" altLang="zh-CN" sz="2200" baseline="-25000">
                <a:latin typeface="Consolas" pitchFamily="49" charset="0"/>
                <a:cs typeface="Consolas" pitchFamily="49" charset="0"/>
              </a:rPr>
              <a:t>0</a:t>
            </a:r>
            <a:endParaRPr lang="zh-CN" altLang="en-US" sz="2200" baseline="-25000">
              <a:latin typeface="Consolas" pitchFamily="49" charset="0"/>
              <a:cs typeface="Consolas" pitchFamily="49" charset="0"/>
            </a:endParaRPr>
          </a:p>
        </p:txBody>
      </p:sp>
      <p:graphicFrame>
        <p:nvGraphicFramePr>
          <p:cNvPr id="27" name="表格 26">
            <a:extLst>
              <a:ext uri="{FF2B5EF4-FFF2-40B4-BE49-F238E27FC236}">
                <a16:creationId xmlns:a16="http://schemas.microsoft.com/office/drawing/2014/main" id="{0ACF54F3-70D9-8B82-BF45-D14DF45F465E}"/>
              </a:ext>
            </a:extLst>
          </p:cNvPr>
          <p:cNvGraphicFramePr>
            <a:graphicFrameLocks noGrp="1"/>
          </p:cNvGraphicFramePr>
          <p:nvPr>
            <p:extLst>
              <p:ext uri="{D42A27DB-BD31-4B8C-83A1-F6EECF244321}">
                <p14:modId xmlns:p14="http://schemas.microsoft.com/office/powerpoint/2010/main" val="4179387238"/>
              </p:ext>
            </p:extLst>
          </p:nvPr>
        </p:nvGraphicFramePr>
        <p:xfrm>
          <a:off x="7565417" y="4234549"/>
          <a:ext cx="3071835" cy="1854200"/>
        </p:xfrm>
        <a:graphic>
          <a:graphicData uri="http://schemas.openxmlformats.org/drawingml/2006/table">
            <a:tbl>
              <a:tblPr firstRow="1" bandRow="1">
                <a:tableStyleId>{E8B1032C-EA38-4F05-BA0D-38AFFFC7BED3}</a:tableStyleId>
              </a:tblPr>
              <a:tblGrid>
                <a:gridCol w="614367">
                  <a:extLst>
                    <a:ext uri="{9D8B030D-6E8A-4147-A177-3AD203B41FA5}">
                      <a16:colId xmlns:a16="http://schemas.microsoft.com/office/drawing/2014/main" val="20000"/>
                    </a:ext>
                  </a:extLst>
                </a:gridCol>
                <a:gridCol w="614367">
                  <a:extLst>
                    <a:ext uri="{9D8B030D-6E8A-4147-A177-3AD203B41FA5}">
                      <a16:colId xmlns:a16="http://schemas.microsoft.com/office/drawing/2014/main" val="20001"/>
                    </a:ext>
                  </a:extLst>
                </a:gridCol>
                <a:gridCol w="614367">
                  <a:extLst>
                    <a:ext uri="{9D8B030D-6E8A-4147-A177-3AD203B41FA5}">
                      <a16:colId xmlns:a16="http://schemas.microsoft.com/office/drawing/2014/main" val="20002"/>
                    </a:ext>
                  </a:extLst>
                </a:gridCol>
                <a:gridCol w="614367">
                  <a:extLst>
                    <a:ext uri="{9D8B030D-6E8A-4147-A177-3AD203B41FA5}">
                      <a16:colId xmlns:a16="http://schemas.microsoft.com/office/drawing/2014/main" val="20003"/>
                    </a:ext>
                  </a:extLst>
                </a:gridCol>
                <a:gridCol w="614367">
                  <a:extLst>
                    <a:ext uri="{9D8B030D-6E8A-4147-A177-3AD203B41FA5}">
                      <a16:colId xmlns:a16="http://schemas.microsoft.com/office/drawing/2014/main" val="20004"/>
                    </a:ext>
                  </a:extLst>
                </a:gridCol>
              </a:tblGrid>
              <a:tr h="370840">
                <a:tc>
                  <a:txBody>
                    <a:bodyPr/>
                    <a:lstStyle/>
                    <a:p>
                      <a:pPr algn="ctr"/>
                      <a:endParaRPr lang="zh-CN" altLang="en-US" b="1">
                        <a:solidFill>
                          <a:srgbClr val="3333FF"/>
                        </a:solidFill>
                        <a:latin typeface="Times New Roman" pitchFamily="18" charset="0"/>
                        <a:cs typeface="Times New Roman" pitchFamily="18" charset="0"/>
                      </a:endParaRPr>
                    </a:p>
                  </a:txBody>
                  <a:tcPr>
                    <a:solidFill>
                      <a:schemeClr val="tx2">
                        <a:lumMod val="40000"/>
                        <a:lumOff val="60000"/>
                      </a:schemeClr>
                    </a:solidFill>
                  </a:tcPr>
                </a:tc>
                <a:tc>
                  <a:txBody>
                    <a:bodyPr/>
                    <a:lstStyle/>
                    <a:p>
                      <a:pPr algn="ctr"/>
                      <a:r>
                        <a:rPr lang="en-US" altLang="zh-CN" sz="1600" b="1">
                          <a:solidFill>
                            <a:srgbClr val="FF0000"/>
                          </a:solidFill>
                          <a:latin typeface="Consolas" pitchFamily="49" charset="0"/>
                          <a:cs typeface="Consolas" pitchFamily="49" charset="0"/>
                        </a:rPr>
                        <a:t>0</a:t>
                      </a:r>
                      <a:endParaRPr lang="zh-CN" altLang="en-US" sz="1600" b="1">
                        <a:solidFill>
                          <a:srgbClr val="FF0000"/>
                        </a:solidFill>
                        <a:latin typeface="Consolas" pitchFamily="49" charset="0"/>
                        <a:cs typeface="Consolas" pitchFamily="49" charset="0"/>
                      </a:endParaRPr>
                    </a:p>
                  </a:txBody>
                  <a:tcPr>
                    <a:solidFill>
                      <a:schemeClr val="tx2">
                        <a:lumMod val="40000"/>
                        <a:lumOff val="60000"/>
                      </a:schemeClr>
                    </a:solidFill>
                  </a:tcPr>
                </a:tc>
                <a:tc>
                  <a:txBody>
                    <a:bodyPr/>
                    <a:lstStyle/>
                    <a:p>
                      <a:pPr algn="ctr"/>
                      <a:r>
                        <a:rPr lang="en-US" altLang="zh-CN" sz="1600" b="1">
                          <a:solidFill>
                            <a:srgbClr val="FF0000"/>
                          </a:solidFill>
                          <a:latin typeface="Consolas" pitchFamily="49" charset="0"/>
                          <a:cs typeface="Consolas" pitchFamily="49" charset="0"/>
                        </a:rPr>
                        <a:t>1</a:t>
                      </a:r>
                      <a:endParaRPr lang="zh-CN" altLang="en-US" sz="1600" b="1">
                        <a:solidFill>
                          <a:srgbClr val="FF0000"/>
                        </a:solidFill>
                        <a:latin typeface="Consolas" pitchFamily="49" charset="0"/>
                        <a:cs typeface="Consolas" pitchFamily="49" charset="0"/>
                      </a:endParaRPr>
                    </a:p>
                  </a:txBody>
                  <a:tcPr>
                    <a:solidFill>
                      <a:schemeClr val="tx2">
                        <a:lumMod val="40000"/>
                        <a:lumOff val="60000"/>
                      </a:schemeClr>
                    </a:solidFill>
                  </a:tcPr>
                </a:tc>
                <a:tc>
                  <a:txBody>
                    <a:bodyPr/>
                    <a:lstStyle/>
                    <a:p>
                      <a:pPr algn="ctr"/>
                      <a:r>
                        <a:rPr lang="en-US" altLang="zh-CN" sz="1600" b="1">
                          <a:solidFill>
                            <a:srgbClr val="FF0000"/>
                          </a:solidFill>
                          <a:latin typeface="Consolas" pitchFamily="49" charset="0"/>
                          <a:cs typeface="Consolas" pitchFamily="49" charset="0"/>
                        </a:rPr>
                        <a:t>2</a:t>
                      </a:r>
                      <a:endParaRPr lang="zh-CN" altLang="en-US" sz="1600" b="1">
                        <a:solidFill>
                          <a:srgbClr val="FF0000"/>
                        </a:solidFill>
                        <a:latin typeface="Consolas" pitchFamily="49" charset="0"/>
                        <a:cs typeface="Consolas" pitchFamily="49" charset="0"/>
                      </a:endParaRPr>
                    </a:p>
                  </a:txBody>
                  <a:tcPr>
                    <a:solidFill>
                      <a:schemeClr val="tx2">
                        <a:lumMod val="40000"/>
                        <a:lumOff val="60000"/>
                      </a:schemeClr>
                    </a:solidFill>
                  </a:tcPr>
                </a:tc>
                <a:tc>
                  <a:txBody>
                    <a:bodyPr/>
                    <a:lstStyle/>
                    <a:p>
                      <a:pPr algn="ctr"/>
                      <a:r>
                        <a:rPr lang="en-US" altLang="zh-CN" sz="1600" b="1">
                          <a:solidFill>
                            <a:srgbClr val="FF0000"/>
                          </a:solidFill>
                          <a:latin typeface="Consolas" pitchFamily="49" charset="0"/>
                          <a:cs typeface="Consolas" pitchFamily="49" charset="0"/>
                        </a:rPr>
                        <a:t>3</a:t>
                      </a:r>
                      <a:endParaRPr lang="zh-CN" altLang="en-US" sz="1600" b="1">
                        <a:solidFill>
                          <a:srgbClr val="FF0000"/>
                        </a:solidFill>
                        <a:latin typeface="Consolas" pitchFamily="49" charset="0"/>
                        <a:cs typeface="Consolas" pitchFamily="49" charset="0"/>
                      </a:endParaRPr>
                    </a:p>
                  </a:txBody>
                  <a:tcPr>
                    <a:solidFill>
                      <a:schemeClr val="tx2">
                        <a:lumMod val="40000"/>
                        <a:lumOff val="60000"/>
                      </a:schemeClr>
                    </a:solidFill>
                  </a:tcPr>
                </a:tc>
                <a:extLst>
                  <a:ext uri="{0D108BD9-81ED-4DB2-BD59-A6C34878D82A}">
                    <a16:rowId xmlns:a16="http://schemas.microsoft.com/office/drawing/2014/main" val="10000"/>
                  </a:ext>
                </a:extLst>
              </a:tr>
              <a:tr h="370840">
                <a:tc>
                  <a:txBody>
                    <a:bodyPr/>
                    <a:lstStyle/>
                    <a:p>
                      <a:pPr algn="ctr"/>
                      <a:r>
                        <a:rPr lang="en-US" altLang="zh-CN" sz="1600" b="1">
                          <a:solidFill>
                            <a:srgbClr val="FF0000"/>
                          </a:solidFill>
                          <a:latin typeface="Times New Roman" pitchFamily="18" charset="0"/>
                          <a:cs typeface="Times New Roman" pitchFamily="18" charset="0"/>
                        </a:rPr>
                        <a:t>0</a:t>
                      </a:r>
                      <a:endParaRPr lang="zh-CN" altLang="en-US" sz="1600" b="1">
                        <a:solidFill>
                          <a:srgbClr val="FF0000"/>
                        </a:solidFill>
                        <a:latin typeface="Times New Roman" pitchFamily="18" charset="0"/>
                        <a:cs typeface="Times New Roman" pitchFamily="18" charset="0"/>
                      </a:endParaRPr>
                    </a:p>
                  </a:txBody>
                  <a:tcPr>
                    <a:solidFill>
                      <a:schemeClr val="tx2">
                        <a:lumMod val="40000"/>
                        <a:lumOff val="60000"/>
                      </a:schemeClr>
                    </a:solidFill>
                  </a:tcPr>
                </a:tc>
                <a:tc>
                  <a:txBody>
                    <a:bodyPr/>
                    <a:lstStyle/>
                    <a:p>
                      <a:pPr algn="ctr"/>
                      <a:r>
                        <a:rPr lang="en-US" altLang="zh-CN" b="1">
                          <a:solidFill>
                            <a:srgbClr val="3333FF"/>
                          </a:solidFill>
                          <a:latin typeface="Consolas" pitchFamily="49" charset="0"/>
                          <a:ea typeface="+mj-ea"/>
                          <a:cs typeface="Consolas" pitchFamily="49" charset="0"/>
                        </a:rPr>
                        <a:t>-</a:t>
                      </a:r>
                      <a:r>
                        <a:rPr lang="en-US" altLang="zh-CN" b="1">
                          <a:solidFill>
                            <a:srgbClr val="3333FF"/>
                          </a:solidFill>
                          <a:latin typeface="Consolas" pitchFamily="49" charset="0"/>
                          <a:cs typeface="Consolas" pitchFamily="49" charset="0"/>
                        </a:rPr>
                        <a:t>1</a:t>
                      </a:r>
                      <a:endParaRPr lang="zh-CN" altLang="en-US" b="1">
                        <a:solidFill>
                          <a:srgbClr val="3333FF"/>
                        </a:solidFill>
                        <a:latin typeface="Consolas" pitchFamily="49" charset="0"/>
                        <a:cs typeface="Consolas" pitchFamily="49" charset="0"/>
                      </a:endParaRPr>
                    </a:p>
                  </a:txBody>
                  <a:tcPr/>
                </a:tc>
                <a:tc>
                  <a:txBody>
                    <a:bodyPr/>
                    <a:lstStyle/>
                    <a:p>
                      <a:pPr algn="ctr"/>
                      <a:r>
                        <a:rPr lang="en-US" altLang="zh-CN" b="1">
                          <a:solidFill>
                            <a:srgbClr val="3333FF"/>
                          </a:solidFill>
                          <a:latin typeface="Consolas" pitchFamily="49" charset="0"/>
                          <a:cs typeface="Consolas" pitchFamily="49" charset="0"/>
                        </a:rPr>
                        <a:t>0</a:t>
                      </a:r>
                      <a:endParaRPr lang="zh-CN" altLang="en-US" b="1">
                        <a:solidFill>
                          <a:srgbClr val="3333FF"/>
                        </a:solidFill>
                        <a:latin typeface="Consolas" pitchFamily="49" charset="0"/>
                        <a:cs typeface="Consolas" pitchFamily="49" charset="0"/>
                      </a:endParaRPr>
                    </a:p>
                  </a:txBody>
                  <a:tcPr/>
                </a:tc>
                <a:tc>
                  <a:txBody>
                    <a:bodyPr/>
                    <a:lstStyle/>
                    <a:p>
                      <a:pPr algn="ctr"/>
                      <a:r>
                        <a:rPr lang="en-US" altLang="zh-CN" b="1">
                          <a:solidFill>
                            <a:srgbClr val="3333FF"/>
                          </a:solidFill>
                          <a:latin typeface="Consolas" pitchFamily="49" charset="0"/>
                          <a:ea typeface="+mj-ea"/>
                          <a:cs typeface="Consolas" pitchFamily="49" charset="0"/>
                        </a:rPr>
                        <a:t>-</a:t>
                      </a:r>
                      <a:r>
                        <a:rPr lang="en-US" altLang="zh-CN" b="1">
                          <a:solidFill>
                            <a:srgbClr val="3333FF"/>
                          </a:solidFill>
                          <a:latin typeface="Consolas" pitchFamily="49" charset="0"/>
                          <a:cs typeface="Consolas" pitchFamily="49" charset="0"/>
                        </a:rPr>
                        <a:t>1</a:t>
                      </a:r>
                      <a:endParaRPr lang="zh-CN" altLang="en-US" b="1">
                        <a:solidFill>
                          <a:srgbClr val="3333FF"/>
                        </a:solidFill>
                        <a:latin typeface="Consolas" pitchFamily="49" charset="0"/>
                        <a:cs typeface="Consolas" pitchFamily="49" charset="0"/>
                      </a:endParaRPr>
                    </a:p>
                  </a:txBody>
                  <a:tcPr/>
                </a:tc>
                <a:tc>
                  <a:txBody>
                    <a:bodyPr/>
                    <a:lstStyle/>
                    <a:p>
                      <a:pPr algn="ctr"/>
                      <a:r>
                        <a:rPr lang="en-US" altLang="zh-CN" b="1">
                          <a:solidFill>
                            <a:srgbClr val="3333FF"/>
                          </a:solidFill>
                          <a:latin typeface="Consolas" pitchFamily="49" charset="0"/>
                          <a:cs typeface="Consolas" pitchFamily="49" charset="0"/>
                        </a:rPr>
                        <a:t>0</a:t>
                      </a:r>
                      <a:endParaRPr lang="zh-CN" altLang="en-US" b="1">
                        <a:solidFill>
                          <a:srgbClr val="3333FF"/>
                        </a:solidFill>
                        <a:latin typeface="Consolas" pitchFamily="49" charset="0"/>
                        <a:cs typeface="Consolas" pitchFamily="49" charset="0"/>
                      </a:endParaRPr>
                    </a:p>
                  </a:txBody>
                  <a:tcPr/>
                </a:tc>
                <a:extLst>
                  <a:ext uri="{0D108BD9-81ED-4DB2-BD59-A6C34878D82A}">
                    <a16:rowId xmlns:a16="http://schemas.microsoft.com/office/drawing/2014/main" val="10001"/>
                  </a:ext>
                </a:extLst>
              </a:tr>
              <a:tr h="370840">
                <a:tc>
                  <a:txBody>
                    <a:bodyPr/>
                    <a:lstStyle/>
                    <a:p>
                      <a:pPr algn="ctr"/>
                      <a:r>
                        <a:rPr lang="en-US" altLang="zh-CN" sz="1600" b="1">
                          <a:solidFill>
                            <a:srgbClr val="FF0000"/>
                          </a:solidFill>
                          <a:latin typeface="Times New Roman" pitchFamily="18" charset="0"/>
                          <a:cs typeface="Times New Roman" pitchFamily="18" charset="0"/>
                        </a:rPr>
                        <a:t>1</a:t>
                      </a:r>
                      <a:endParaRPr lang="zh-CN" altLang="en-US" sz="1600" b="1">
                        <a:solidFill>
                          <a:srgbClr val="FF0000"/>
                        </a:solidFill>
                        <a:latin typeface="Times New Roman" pitchFamily="18" charset="0"/>
                        <a:cs typeface="Times New Roman" pitchFamily="18" charset="0"/>
                      </a:endParaRPr>
                    </a:p>
                  </a:txBody>
                  <a:tcPr>
                    <a:solidFill>
                      <a:schemeClr val="tx2">
                        <a:lumMod val="40000"/>
                        <a:lumOff val="6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b="1">
                          <a:solidFill>
                            <a:srgbClr val="3333FF"/>
                          </a:solidFill>
                          <a:latin typeface="Consolas" pitchFamily="49" charset="0"/>
                          <a:ea typeface="+mj-ea"/>
                          <a:cs typeface="Consolas" pitchFamily="49" charset="0"/>
                        </a:rPr>
                        <a:t>-</a:t>
                      </a:r>
                      <a:r>
                        <a:rPr lang="en-US" altLang="zh-CN" b="1">
                          <a:solidFill>
                            <a:srgbClr val="3333FF"/>
                          </a:solidFill>
                          <a:latin typeface="Consolas" pitchFamily="49" charset="0"/>
                          <a:cs typeface="Consolas" pitchFamily="49" charset="0"/>
                        </a:rPr>
                        <a:t>1</a:t>
                      </a:r>
                      <a:endParaRPr lang="zh-CN" altLang="en-US" b="1">
                        <a:solidFill>
                          <a:srgbClr val="3333FF"/>
                        </a:solidFill>
                        <a:latin typeface="Consolas" pitchFamily="49" charset="0"/>
                        <a:cs typeface="Consolas" pitchFamily="49" charset="0"/>
                      </a:endParaRPr>
                    </a:p>
                  </a:txBody>
                  <a:tcPr/>
                </a:tc>
                <a:tc>
                  <a:txBody>
                    <a:bodyPr/>
                    <a:lstStyle/>
                    <a:p>
                      <a:pPr algn="ctr"/>
                      <a:r>
                        <a:rPr lang="en-US" altLang="zh-CN" b="1">
                          <a:solidFill>
                            <a:srgbClr val="3333FF"/>
                          </a:solidFill>
                          <a:latin typeface="Consolas" pitchFamily="49" charset="0"/>
                          <a:ea typeface="+mn-ea"/>
                          <a:cs typeface="Consolas" pitchFamily="49" charset="0"/>
                        </a:rPr>
                        <a:t>-</a:t>
                      </a:r>
                      <a:r>
                        <a:rPr lang="en-US" altLang="zh-CN" b="1">
                          <a:solidFill>
                            <a:srgbClr val="3333FF"/>
                          </a:solidFill>
                          <a:latin typeface="Consolas" pitchFamily="49" charset="0"/>
                          <a:cs typeface="Consolas" pitchFamily="49" charset="0"/>
                        </a:rPr>
                        <a:t>1</a:t>
                      </a:r>
                      <a:endParaRPr lang="zh-CN" altLang="en-US" b="1">
                        <a:solidFill>
                          <a:srgbClr val="3333FF"/>
                        </a:solidFill>
                        <a:latin typeface="Consolas" pitchFamily="49" charset="0"/>
                        <a:cs typeface="Consolas" pitchFamily="49" charset="0"/>
                      </a:endParaRPr>
                    </a:p>
                  </a:txBody>
                  <a:tcPr/>
                </a:tc>
                <a:tc>
                  <a:txBody>
                    <a:bodyPr/>
                    <a:lstStyle/>
                    <a:p>
                      <a:pPr algn="ctr"/>
                      <a:r>
                        <a:rPr lang="en-US" altLang="zh-CN" b="1">
                          <a:solidFill>
                            <a:srgbClr val="3333FF"/>
                          </a:solidFill>
                          <a:latin typeface="Consolas" pitchFamily="49" charset="0"/>
                          <a:cs typeface="Consolas" pitchFamily="49" charset="0"/>
                        </a:rPr>
                        <a:t>1</a:t>
                      </a:r>
                      <a:endParaRPr lang="zh-CN" altLang="en-US" b="1">
                        <a:solidFill>
                          <a:srgbClr val="3333FF"/>
                        </a:solidFill>
                        <a:latin typeface="Consolas" pitchFamily="49" charset="0"/>
                        <a:cs typeface="Consolas" pitchFamily="49" charset="0"/>
                      </a:endParaRPr>
                    </a:p>
                  </a:txBody>
                  <a:tcPr/>
                </a:tc>
                <a:tc>
                  <a:txBody>
                    <a:bodyPr/>
                    <a:lstStyle/>
                    <a:p>
                      <a:pPr algn="ctr"/>
                      <a:r>
                        <a:rPr lang="en-US" altLang="zh-CN" b="1">
                          <a:solidFill>
                            <a:srgbClr val="3333FF"/>
                          </a:solidFill>
                          <a:latin typeface="Consolas" pitchFamily="49" charset="0"/>
                          <a:cs typeface="Consolas" pitchFamily="49" charset="0"/>
                        </a:rPr>
                        <a:t>1</a:t>
                      </a:r>
                      <a:endParaRPr lang="zh-CN" altLang="en-US" b="1">
                        <a:solidFill>
                          <a:srgbClr val="3333FF"/>
                        </a:solidFill>
                        <a:latin typeface="Consolas" pitchFamily="49" charset="0"/>
                        <a:cs typeface="Consolas" pitchFamily="49" charset="0"/>
                      </a:endParaRPr>
                    </a:p>
                  </a:txBody>
                  <a:tcPr/>
                </a:tc>
                <a:extLst>
                  <a:ext uri="{0D108BD9-81ED-4DB2-BD59-A6C34878D82A}">
                    <a16:rowId xmlns:a16="http://schemas.microsoft.com/office/drawing/2014/main" val="10002"/>
                  </a:ext>
                </a:extLst>
              </a:tr>
              <a:tr h="370840">
                <a:tc>
                  <a:txBody>
                    <a:bodyPr/>
                    <a:lstStyle/>
                    <a:p>
                      <a:pPr algn="ctr"/>
                      <a:r>
                        <a:rPr lang="en-US" altLang="zh-CN" sz="1600" b="1">
                          <a:solidFill>
                            <a:srgbClr val="FF0000"/>
                          </a:solidFill>
                          <a:latin typeface="Times New Roman" pitchFamily="18" charset="0"/>
                          <a:cs typeface="Times New Roman" pitchFamily="18" charset="0"/>
                        </a:rPr>
                        <a:t>2</a:t>
                      </a:r>
                      <a:endParaRPr lang="zh-CN" altLang="en-US" sz="1600" b="1">
                        <a:solidFill>
                          <a:srgbClr val="FF0000"/>
                        </a:solidFill>
                        <a:latin typeface="Times New Roman" pitchFamily="18" charset="0"/>
                        <a:cs typeface="Times New Roman" pitchFamily="18" charset="0"/>
                      </a:endParaRPr>
                    </a:p>
                  </a:txBody>
                  <a:tcPr>
                    <a:solidFill>
                      <a:schemeClr val="tx2">
                        <a:lumMod val="40000"/>
                        <a:lumOff val="60000"/>
                      </a:schemeClr>
                    </a:solidFill>
                  </a:tcPr>
                </a:tc>
                <a:tc>
                  <a:txBody>
                    <a:bodyPr/>
                    <a:lstStyle/>
                    <a:p>
                      <a:pPr algn="ctr"/>
                      <a:r>
                        <a:rPr lang="en-US" altLang="zh-CN" b="1">
                          <a:solidFill>
                            <a:srgbClr val="3333FF"/>
                          </a:solidFill>
                          <a:latin typeface="Consolas" pitchFamily="49" charset="0"/>
                          <a:cs typeface="Consolas" pitchFamily="49" charset="0"/>
                        </a:rPr>
                        <a:t>2</a:t>
                      </a:r>
                      <a:endParaRPr lang="zh-CN" altLang="en-US" b="1">
                        <a:solidFill>
                          <a:srgbClr val="3333FF"/>
                        </a:solidFill>
                        <a:latin typeface="Consolas" pitchFamily="49" charset="0"/>
                        <a:cs typeface="Consolas" pitchFamily="49" charset="0"/>
                      </a:endParaRPr>
                    </a:p>
                  </a:txBody>
                  <a:tcPr/>
                </a:tc>
                <a:tc>
                  <a:txBody>
                    <a:bodyPr/>
                    <a:lstStyle/>
                    <a:p>
                      <a:pPr algn="ctr"/>
                      <a:r>
                        <a:rPr lang="en-US" altLang="zh-CN" b="1">
                          <a:solidFill>
                            <a:srgbClr val="3333FF"/>
                          </a:solidFill>
                          <a:latin typeface="Consolas" pitchFamily="49" charset="0"/>
                          <a:cs typeface="Consolas" pitchFamily="49" charset="0"/>
                        </a:rPr>
                        <a:t>2</a:t>
                      </a:r>
                      <a:endParaRPr lang="zh-CN" altLang="en-US" b="1">
                        <a:solidFill>
                          <a:srgbClr val="3333FF"/>
                        </a:solidFill>
                        <a:latin typeface="Consolas" pitchFamily="49" charset="0"/>
                        <a:cs typeface="Consolas" pitchFamily="49" charset="0"/>
                      </a:endParaRPr>
                    </a:p>
                  </a:txBody>
                  <a:tcPr/>
                </a:tc>
                <a:tc>
                  <a:txBody>
                    <a:bodyPr/>
                    <a:lstStyle/>
                    <a:p>
                      <a:pPr algn="ctr"/>
                      <a:r>
                        <a:rPr lang="en-US" altLang="zh-CN" b="1">
                          <a:solidFill>
                            <a:srgbClr val="3333FF"/>
                          </a:solidFill>
                          <a:latin typeface="Consolas" pitchFamily="49" charset="0"/>
                          <a:ea typeface="+mj-ea"/>
                          <a:cs typeface="Consolas" pitchFamily="49" charset="0"/>
                        </a:rPr>
                        <a:t>-</a:t>
                      </a:r>
                      <a:r>
                        <a:rPr lang="en-US" altLang="zh-CN" b="1">
                          <a:solidFill>
                            <a:srgbClr val="3333FF"/>
                          </a:solidFill>
                          <a:latin typeface="Consolas" pitchFamily="49" charset="0"/>
                          <a:cs typeface="Consolas" pitchFamily="49" charset="0"/>
                        </a:rPr>
                        <a:t>1</a:t>
                      </a:r>
                      <a:endParaRPr lang="zh-CN" altLang="en-US" b="1">
                        <a:solidFill>
                          <a:srgbClr val="3333FF"/>
                        </a:solidFill>
                        <a:latin typeface="Consolas" pitchFamily="49" charset="0"/>
                        <a:cs typeface="Consolas" pitchFamily="49" charset="0"/>
                      </a:endParaRPr>
                    </a:p>
                  </a:txBody>
                  <a:tcPr/>
                </a:tc>
                <a:tc>
                  <a:txBody>
                    <a:bodyPr/>
                    <a:lstStyle/>
                    <a:p>
                      <a:pPr algn="ctr"/>
                      <a:r>
                        <a:rPr lang="en-US" altLang="zh-CN" b="1">
                          <a:solidFill>
                            <a:srgbClr val="3333FF"/>
                          </a:solidFill>
                          <a:latin typeface="Consolas" pitchFamily="49" charset="0"/>
                          <a:cs typeface="Consolas" pitchFamily="49" charset="0"/>
                        </a:rPr>
                        <a:t>2</a:t>
                      </a:r>
                      <a:endParaRPr lang="zh-CN" altLang="en-US" b="1">
                        <a:solidFill>
                          <a:srgbClr val="3333FF"/>
                        </a:solidFill>
                        <a:latin typeface="Consolas" pitchFamily="49" charset="0"/>
                        <a:cs typeface="Consolas" pitchFamily="49" charset="0"/>
                      </a:endParaRPr>
                    </a:p>
                  </a:txBody>
                  <a:tcPr/>
                </a:tc>
                <a:extLst>
                  <a:ext uri="{0D108BD9-81ED-4DB2-BD59-A6C34878D82A}">
                    <a16:rowId xmlns:a16="http://schemas.microsoft.com/office/drawing/2014/main" val="10003"/>
                  </a:ext>
                </a:extLst>
              </a:tr>
              <a:tr h="370840">
                <a:tc>
                  <a:txBody>
                    <a:bodyPr/>
                    <a:lstStyle/>
                    <a:p>
                      <a:pPr algn="ctr"/>
                      <a:r>
                        <a:rPr lang="en-US" altLang="zh-CN" sz="1600" b="1">
                          <a:solidFill>
                            <a:srgbClr val="FF0000"/>
                          </a:solidFill>
                          <a:latin typeface="Times New Roman" pitchFamily="18" charset="0"/>
                          <a:cs typeface="Times New Roman" pitchFamily="18" charset="0"/>
                        </a:rPr>
                        <a:t>3</a:t>
                      </a:r>
                      <a:endParaRPr lang="zh-CN" altLang="en-US" sz="1600" b="1">
                        <a:solidFill>
                          <a:srgbClr val="FF0000"/>
                        </a:solidFill>
                        <a:latin typeface="Times New Roman" pitchFamily="18" charset="0"/>
                        <a:cs typeface="Times New Roman" pitchFamily="18" charset="0"/>
                      </a:endParaRPr>
                    </a:p>
                  </a:txBody>
                  <a:tcPr>
                    <a:solidFill>
                      <a:schemeClr val="tx2">
                        <a:lumMod val="40000"/>
                        <a:lumOff val="6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b="1">
                          <a:solidFill>
                            <a:srgbClr val="3333FF"/>
                          </a:solidFill>
                          <a:latin typeface="Consolas" pitchFamily="49" charset="0"/>
                          <a:ea typeface="+mn-ea"/>
                          <a:cs typeface="Consolas" pitchFamily="49" charset="0"/>
                        </a:rPr>
                        <a:t>-</a:t>
                      </a:r>
                      <a:r>
                        <a:rPr lang="en-US" altLang="zh-CN" b="1">
                          <a:solidFill>
                            <a:srgbClr val="3333FF"/>
                          </a:solidFill>
                          <a:latin typeface="Consolas" pitchFamily="49" charset="0"/>
                          <a:cs typeface="Consolas" pitchFamily="49" charset="0"/>
                        </a:rPr>
                        <a:t>1</a:t>
                      </a:r>
                      <a:endParaRPr lang="zh-CN" altLang="en-US" b="1">
                        <a:solidFill>
                          <a:srgbClr val="3333FF"/>
                        </a:solidFill>
                        <a:latin typeface="Consolas" pitchFamily="49" charset="0"/>
                        <a:cs typeface="Consolas"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b="1">
                          <a:solidFill>
                            <a:srgbClr val="3333FF"/>
                          </a:solidFill>
                          <a:latin typeface="Consolas" pitchFamily="49" charset="0"/>
                          <a:ea typeface="+mn-ea"/>
                          <a:cs typeface="Consolas" pitchFamily="49" charset="0"/>
                        </a:rPr>
                        <a:t>-</a:t>
                      </a:r>
                      <a:r>
                        <a:rPr lang="en-US" altLang="zh-CN" b="1">
                          <a:solidFill>
                            <a:srgbClr val="3333FF"/>
                          </a:solidFill>
                          <a:latin typeface="Consolas" pitchFamily="49" charset="0"/>
                          <a:cs typeface="Consolas" pitchFamily="49" charset="0"/>
                        </a:rPr>
                        <a:t>1</a:t>
                      </a:r>
                      <a:endParaRPr lang="zh-CN" altLang="en-US" b="1">
                        <a:solidFill>
                          <a:srgbClr val="3333FF"/>
                        </a:solidFill>
                        <a:latin typeface="Consolas" pitchFamily="49" charset="0"/>
                        <a:cs typeface="Consolas" pitchFamily="49" charset="0"/>
                      </a:endParaRPr>
                    </a:p>
                  </a:txBody>
                  <a:tcPr/>
                </a:tc>
                <a:tc>
                  <a:txBody>
                    <a:bodyPr/>
                    <a:lstStyle/>
                    <a:p>
                      <a:pPr algn="ctr"/>
                      <a:r>
                        <a:rPr lang="en-US" altLang="zh-CN" b="1">
                          <a:solidFill>
                            <a:srgbClr val="3333FF"/>
                          </a:solidFill>
                          <a:latin typeface="Consolas" pitchFamily="49" charset="0"/>
                          <a:cs typeface="Consolas" pitchFamily="49" charset="0"/>
                        </a:rPr>
                        <a:t>3</a:t>
                      </a:r>
                      <a:endParaRPr lang="zh-CN" altLang="en-US" b="1">
                        <a:solidFill>
                          <a:srgbClr val="3333FF"/>
                        </a:solidFill>
                        <a:latin typeface="Consolas" pitchFamily="49" charset="0"/>
                        <a:cs typeface="Consolas" pitchFamily="49" charset="0"/>
                      </a:endParaRPr>
                    </a:p>
                  </a:txBody>
                  <a:tcPr/>
                </a:tc>
                <a:tc>
                  <a:txBody>
                    <a:bodyPr/>
                    <a:lstStyle/>
                    <a:p>
                      <a:pPr algn="ctr"/>
                      <a:r>
                        <a:rPr lang="en-US" altLang="zh-CN" b="1">
                          <a:solidFill>
                            <a:srgbClr val="3333FF"/>
                          </a:solidFill>
                          <a:latin typeface="Consolas" pitchFamily="49" charset="0"/>
                          <a:ea typeface="+mn-ea"/>
                          <a:cs typeface="Consolas" pitchFamily="49" charset="0"/>
                        </a:rPr>
                        <a:t>-</a:t>
                      </a:r>
                      <a:r>
                        <a:rPr lang="en-US" altLang="zh-CN" b="1">
                          <a:solidFill>
                            <a:srgbClr val="3333FF"/>
                          </a:solidFill>
                          <a:latin typeface="Consolas" pitchFamily="49" charset="0"/>
                          <a:cs typeface="Consolas" pitchFamily="49" charset="0"/>
                        </a:rPr>
                        <a:t>1</a:t>
                      </a:r>
                      <a:endParaRPr lang="zh-CN" altLang="en-US" b="1">
                        <a:solidFill>
                          <a:srgbClr val="3333FF"/>
                        </a:solidFill>
                        <a:latin typeface="Consolas" pitchFamily="49" charset="0"/>
                        <a:cs typeface="Consolas" pitchFamily="49" charset="0"/>
                      </a:endParaRPr>
                    </a:p>
                  </a:txBody>
                  <a:tcPr/>
                </a:tc>
                <a:extLst>
                  <a:ext uri="{0D108BD9-81ED-4DB2-BD59-A6C34878D82A}">
                    <a16:rowId xmlns:a16="http://schemas.microsoft.com/office/drawing/2014/main" val="10004"/>
                  </a:ext>
                </a:extLst>
              </a:tr>
            </a:tbl>
          </a:graphicData>
        </a:graphic>
      </p:graphicFrame>
      <p:sp>
        <p:nvSpPr>
          <p:cNvPr id="28" name="Text Box 116">
            <a:extLst>
              <a:ext uri="{FF2B5EF4-FFF2-40B4-BE49-F238E27FC236}">
                <a16:creationId xmlns:a16="http://schemas.microsoft.com/office/drawing/2014/main" id="{CA0D5AF3-8B5B-8BED-2E88-11451C8F715C}"/>
              </a:ext>
            </a:extLst>
          </p:cNvPr>
          <p:cNvSpPr txBox="1">
            <a:spLocks noChangeArrowheads="1"/>
          </p:cNvSpPr>
          <p:nvPr/>
        </p:nvSpPr>
        <p:spPr bwMode="auto">
          <a:xfrm>
            <a:off x="6136658" y="1262671"/>
            <a:ext cx="2035159" cy="492443"/>
          </a:xfrm>
          <a:prstGeom prst="rect">
            <a:avLst/>
          </a:prstGeom>
          <a:noFill/>
          <a:ln w="28575" algn="ctr">
            <a:noFill/>
            <a:miter lim="800000"/>
            <a:headEnd/>
            <a:tailEnd/>
          </a:ln>
          <a:effectLst/>
        </p:spPr>
        <p:txBody>
          <a:bodyPr wrap="square" lIns="0" tIns="0" rIns="0" bIns="0">
            <a:spAutoFit/>
          </a:bodyPr>
          <a:lstStyle/>
          <a:p>
            <a:r>
              <a:rPr lang="zh-CN" altLang="en-US" sz="1800">
                <a:latin typeface="Consolas" pitchFamily="49" charset="0"/>
                <a:ea typeface="楷体" pitchFamily="49" charset="-122"/>
                <a:cs typeface="Consolas" pitchFamily="49" charset="0"/>
              </a:rPr>
              <a:t>考虑顶点</a:t>
            </a:r>
            <a:r>
              <a:rPr lang="en-US" altLang="zh-CN" sz="3200">
                <a:solidFill>
                  <a:srgbClr val="FF0000"/>
                </a:solidFill>
                <a:latin typeface="Consolas" pitchFamily="49" charset="0"/>
                <a:ea typeface="楷体" pitchFamily="49" charset="-122"/>
                <a:cs typeface="Consolas" pitchFamily="49" charset="0"/>
              </a:rPr>
              <a:t>0</a:t>
            </a:r>
            <a:r>
              <a:rPr lang="zh-CN" altLang="en-US">
                <a:solidFill>
                  <a:srgbClr val="FF0000"/>
                </a:solidFill>
                <a:latin typeface="Consolas" pitchFamily="49" charset="0"/>
                <a:ea typeface="楷体" pitchFamily="49" charset="-122"/>
                <a:cs typeface="Consolas" pitchFamily="49" charset="0"/>
              </a:rPr>
              <a:t>：</a:t>
            </a:r>
            <a:endParaRPr lang="zh-CN" altLang="en-US" sz="2000" dirty="0">
              <a:latin typeface="Consolas" pitchFamily="49" charset="0"/>
              <a:ea typeface="楷体" pitchFamily="49" charset="-122"/>
              <a:cs typeface="Consolas" pitchFamily="49" charset="0"/>
            </a:endParaRPr>
          </a:p>
        </p:txBody>
      </p:sp>
      <p:sp>
        <p:nvSpPr>
          <p:cNvPr id="29" name="TextBox 56">
            <a:extLst>
              <a:ext uri="{FF2B5EF4-FFF2-40B4-BE49-F238E27FC236}">
                <a16:creationId xmlns:a16="http://schemas.microsoft.com/office/drawing/2014/main" id="{940A2E57-91FD-065B-D440-319AC6D1B20B}"/>
              </a:ext>
            </a:extLst>
          </p:cNvPr>
          <p:cNvSpPr txBox="1"/>
          <p:nvPr/>
        </p:nvSpPr>
        <p:spPr>
          <a:xfrm>
            <a:off x="6493848" y="1834175"/>
            <a:ext cx="2786082" cy="369332"/>
          </a:xfrm>
          <a:prstGeom prst="rect">
            <a:avLst/>
          </a:prstGeom>
          <a:noFill/>
        </p:spPr>
        <p:txBody>
          <a:bodyPr wrap="square" rtlCol="0">
            <a:spAutoFit/>
          </a:bodyPr>
          <a:lstStyle/>
          <a:p>
            <a:pPr marL="457200" indent="-457200">
              <a:buBlip>
                <a:blip r:embed="rId2"/>
              </a:buBlip>
            </a:pPr>
            <a:r>
              <a:rPr lang="zh-CN" altLang="en-US" sz="1800">
                <a:latin typeface="仿宋" pitchFamily="49" charset="-122"/>
                <a:ea typeface="仿宋" pitchFamily="49" charset="-122"/>
                <a:cs typeface="Consolas" pitchFamily="49" charset="0"/>
              </a:rPr>
              <a:t>没有任何路径修改</a:t>
            </a:r>
          </a:p>
        </p:txBody>
      </p:sp>
      <p:sp>
        <p:nvSpPr>
          <p:cNvPr id="30" name="TextBox 57">
            <a:extLst>
              <a:ext uri="{FF2B5EF4-FFF2-40B4-BE49-F238E27FC236}">
                <a16:creationId xmlns:a16="http://schemas.microsoft.com/office/drawing/2014/main" id="{AD4C6AAE-C862-086B-5B21-678A766BA2A4}"/>
              </a:ext>
            </a:extLst>
          </p:cNvPr>
          <p:cNvSpPr txBox="1"/>
          <p:nvPr/>
        </p:nvSpPr>
        <p:spPr>
          <a:xfrm>
            <a:off x="6208096" y="2591475"/>
            <a:ext cx="3286148" cy="400110"/>
          </a:xfrm>
          <a:prstGeom prst="rect">
            <a:avLst/>
          </a:prstGeom>
          <a:noFill/>
        </p:spPr>
        <p:txBody>
          <a:bodyPr wrap="square" rtlCol="0">
            <a:spAutoFit/>
          </a:bodyPr>
          <a:lstStyle/>
          <a:p>
            <a:r>
              <a:rPr lang="en-US" altLang="zh-CN" sz="2000" i="1">
                <a:latin typeface="Consolas" pitchFamily="49" charset="0"/>
                <a:cs typeface="Consolas" pitchFamily="49" charset="0"/>
              </a:rPr>
              <a:t>A</a:t>
            </a:r>
            <a:r>
              <a:rPr lang="en-US" altLang="zh-CN" sz="2000" baseline="-25000">
                <a:latin typeface="Consolas" pitchFamily="49" charset="0"/>
                <a:cs typeface="Consolas" pitchFamily="49" charset="0"/>
              </a:rPr>
              <a:t>0</a:t>
            </a:r>
            <a:r>
              <a:rPr lang="en-US" altLang="zh-CN" sz="2000">
                <a:latin typeface="Consolas" pitchFamily="49" charset="0"/>
                <a:cs typeface="Consolas" pitchFamily="49" charset="0"/>
              </a:rPr>
              <a:t>=</a:t>
            </a:r>
            <a:r>
              <a:rPr lang="en-US" altLang="zh-CN" sz="2000" i="1">
                <a:latin typeface="Consolas" pitchFamily="49" charset="0"/>
                <a:cs typeface="Consolas" pitchFamily="49" charset="0"/>
              </a:rPr>
              <a:t>A</a:t>
            </a:r>
            <a:r>
              <a:rPr lang="en-US" altLang="zh-CN" sz="2000" baseline="-25000">
                <a:latin typeface="Consolas" pitchFamily="49" charset="0"/>
                <a:cs typeface="Consolas" pitchFamily="49" charset="0"/>
              </a:rPr>
              <a:t>-1</a:t>
            </a:r>
            <a:r>
              <a:rPr lang="zh-CN" altLang="en-US" sz="2000">
                <a:latin typeface="Consolas" pitchFamily="49" charset="0"/>
                <a:cs typeface="Consolas" pitchFamily="49" charset="0"/>
              </a:rPr>
              <a:t>，</a:t>
            </a:r>
            <a:r>
              <a:rPr lang="en-US" altLang="zh-CN" sz="2000">
                <a:latin typeface="Consolas" pitchFamily="49" charset="0"/>
                <a:cs typeface="Consolas" pitchFamily="49" charset="0"/>
              </a:rPr>
              <a:t>path</a:t>
            </a:r>
            <a:r>
              <a:rPr lang="en-US" altLang="zh-CN" sz="2000" baseline="-25000">
                <a:latin typeface="Consolas" pitchFamily="49" charset="0"/>
                <a:cs typeface="Consolas" pitchFamily="49" charset="0"/>
              </a:rPr>
              <a:t>0</a:t>
            </a:r>
            <a:r>
              <a:rPr lang="en-US" altLang="zh-CN" sz="2000">
                <a:latin typeface="Consolas" pitchFamily="49" charset="0"/>
                <a:cs typeface="Consolas" pitchFamily="49" charset="0"/>
              </a:rPr>
              <a:t>=path</a:t>
            </a:r>
            <a:r>
              <a:rPr lang="en-US" altLang="zh-CN" sz="2000" baseline="-25000">
                <a:latin typeface="Consolas" pitchFamily="49" charset="0"/>
                <a:cs typeface="Consolas" pitchFamily="49" charset="0"/>
              </a:rPr>
              <a:t>-1</a:t>
            </a:r>
            <a:endParaRPr lang="zh-CN" altLang="en-US" sz="2000" baseline="-25000">
              <a:latin typeface="Consolas" pitchFamily="49" charset="0"/>
              <a:cs typeface="Consolas" pitchFamily="49" charset="0"/>
            </a:endParaRPr>
          </a:p>
        </p:txBody>
      </p:sp>
      <p:sp>
        <p:nvSpPr>
          <p:cNvPr id="31" name="下箭头 58">
            <a:extLst>
              <a:ext uri="{FF2B5EF4-FFF2-40B4-BE49-F238E27FC236}">
                <a16:creationId xmlns:a16="http://schemas.microsoft.com/office/drawing/2014/main" id="{89466A13-3A61-ACB6-2434-3FFA216A3FA9}"/>
              </a:ext>
            </a:extLst>
          </p:cNvPr>
          <p:cNvSpPr/>
          <p:nvPr/>
        </p:nvSpPr>
        <p:spPr>
          <a:xfrm>
            <a:off x="6279534" y="3377293"/>
            <a:ext cx="214314" cy="571504"/>
          </a:xfrm>
          <a:prstGeom prst="downArrow">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zh-CN" altLang="en-US">
              <a:latin typeface="Consolas" pitchFamily="49" charset="0"/>
              <a:cs typeface="Consolas" pitchFamily="49" charset="0"/>
            </a:endParaRPr>
          </a:p>
        </p:txBody>
      </p:sp>
    </p:spTree>
    <p:extLst>
      <p:ext uri="{BB962C8B-B14F-4D97-AF65-F5344CB8AC3E}">
        <p14:creationId xmlns:p14="http://schemas.microsoft.com/office/powerpoint/2010/main" val="154073631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wipe(left)">
                                      <p:cBhvr>
                                        <p:cTn id="7" dur="500"/>
                                        <p:tgtEl>
                                          <p:spTgt spid="28"/>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29"/>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30"/>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31"/>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4"/>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25"/>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26"/>
                                        </p:tgtEl>
                                        <p:attrNameLst>
                                          <p:attrName>style.visibility</p:attrName>
                                        </p:attrNameLst>
                                      </p:cBhvr>
                                      <p:to>
                                        <p:strVal val="visible"/>
                                      </p:to>
                                    </p:set>
                                  </p:childTnLst>
                                </p:cTn>
                              </p:par>
                              <p:par>
                                <p:cTn id="26" presetID="1" presetClass="entr" presetSubtype="0" fill="hold" nodeType="withEffect">
                                  <p:stCondLst>
                                    <p:cond delay="0"/>
                                  </p:stCondLst>
                                  <p:childTnLst>
                                    <p:set>
                                      <p:cBhvr>
                                        <p:cTn id="27"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6" grpId="0"/>
      <p:bldP spid="28" grpId="0"/>
      <p:bldP spid="29" grpId="0"/>
      <p:bldP spid="30" grpId="0"/>
      <p:bldP spid="31" grpId="0" animBg="1"/>
    </p:bld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582414-BBEA-AF9B-CC5E-7F354D965001}"/>
            </a:ext>
          </a:extLst>
        </p:cNvPr>
        <p:cNvGrpSpPr/>
        <p:nvPr/>
      </p:nvGrpSpPr>
      <p:grpSpPr>
        <a:xfrm>
          <a:off x="0" y="0"/>
          <a:ext cx="0" cy="0"/>
          <a:chOff x="0" y="0"/>
          <a:chExt cx="0" cy="0"/>
        </a:xfrm>
      </p:grpSpPr>
      <p:sp>
        <p:nvSpPr>
          <p:cNvPr id="2" name="Text Box 140">
            <a:extLst>
              <a:ext uri="{FF2B5EF4-FFF2-40B4-BE49-F238E27FC236}">
                <a16:creationId xmlns:a16="http://schemas.microsoft.com/office/drawing/2014/main" id="{E84D59DE-EF35-825B-679D-571A9F82253C}"/>
              </a:ext>
            </a:extLst>
          </p:cNvPr>
          <p:cNvSpPr txBox="1">
            <a:spLocks noChangeArrowheads="1"/>
          </p:cNvSpPr>
          <p:nvPr/>
        </p:nvSpPr>
        <p:spPr bwMode="auto">
          <a:xfrm>
            <a:off x="2206998" y="769264"/>
            <a:ext cx="3319456" cy="422405"/>
          </a:xfrm>
          <a:prstGeom prst="rect">
            <a:avLst/>
          </a:prstGeom>
          <a:solidFill>
            <a:srgbClr val="339933"/>
          </a:solidFill>
          <a:ln w="28575" algn="ctr">
            <a:noFill/>
            <a:miter lim="800000"/>
            <a:headEnd/>
            <a:tailEnd/>
          </a:ln>
          <a:effectLst/>
        </p:spPr>
        <p:txBody>
          <a:bodyPr wrap="square" lIns="0" tIns="72000" rIns="0" bIns="72000">
            <a:spAutoFit/>
          </a:bodyPr>
          <a:lstStyle/>
          <a:p>
            <a:pPr algn="ctr"/>
            <a:r>
              <a:rPr lang="en-US" altLang="zh-CN" sz="1800" dirty="0">
                <a:solidFill>
                  <a:schemeClr val="bg1"/>
                </a:solidFill>
                <a:latin typeface="Consolas" pitchFamily="49" charset="0"/>
                <a:ea typeface="华文中宋" pitchFamily="2" charset="-122"/>
                <a:cs typeface="Consolas" pitchFamily="49" charset="0"/>
              </a:rPr>
              <a:t>Floyd</a:t>
            </a:r>
            <a:r>
              <a:rPr lang="zh-CN" altLang="en-US" sz="1800" dirty="0">
                <a:solidFill>
                  <a:schemeClr val="bg1"/>
                </a:solidFill>
                <a:latin typeface="Consolas" pitchFamily="49" charset="0"/>
                <a:ea typeface="华文中宋" pitchFamily="2" charset="-122"/>
                <a:cs typeface="Consolas" pitchFamily="49" charset="0"/>
              </a:rPr>
              <a:t>算法示例演示</a:t>
            </a:r>
          </a:p>
        </p:txBody>
      </p:sp>
      <p:grpSp>
        <p:nvGrpSpPr>
          <p:cNvPr id="3" name="组合 63">
            <a:extLst>
              <a:ext uri="{FF2B5EF4-FFF2-40B4-BE49-F238E27FC236}">
                <a16:creationId xmlns:a16="http://schemas.microsoft.com/office/drawing/2014/main" id="{A2F3E828-6721-A3C6-3D92-2572E963140F}"/>
              </a:ext>
            </a:extLst>
          </p:cNvPr>
          <p:cNvGrpSpPr/>
          <p:nvPr/>
        </p:nvGrpSpPr>
        <p:grpSpPr>
          <a:xfrm>
            <a:off x="2135560" y="1340768"/>
            <a:ext cx="2736850" cy="2194847"/>
            <a:chOff x="285720" y="714356"/>
            <a:chExt cx="2736850" cy="2194847"/>
          </a:xfrm>
        </p:grpSpPr>
        <p:sp>
          <p:nvSpPr>
            <p:cNvPr id="4" name="Oval 9">
              <a:extLst>
                <a:ext uri="{FF2B5EF4-FFF2-40B4-BE49-F238E27FC236}">
                  <a16:creationId xmlns:a16="http://schemas.microsoft.com/office/drawing/2014/main" id="{240ECE0B-D548-81AB-D412-651557CDFCA8}"/>
                </a:ext>
              </a:extLst>
            </p:cNvPr>
            <p:cNvSpPr>
              <a:spLocks noChangeArrowheads="1"/>
            </p:cNvSpPr>
            <p:nvPr/>
          </p:nvSpPr>
          <p:spPr bwMode="auto">
            <a:xfrm>
              <a:off x="501620" y="936606"/>
              <a:ext cx="360363" cy="360363"/>
            </a:xfrm>
            <a:prstGeom prst="ellipse">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anchor="ctr"/>
            <a:lstStyle/>
            <a:p>
              <a:pPr algn="ctr">
                <a:spcBef>
                  <a:spcPct val="0"/>
                </a:spcBef>
              </a:pPr>
              <a:r>
                <a:rPr lang="en-US" altLang="zh-CN" sz="1800" dirty="0">
                  <a:solidFill>
                    <a:srgbClr val="3333FF"/>
                  </a:solidFill>
                  <a:latin typeface="Consolas" pitchFamily="49" charset="0"/>
                  <a:ea typeface="宋体" pitchFamily="2" charset="-122"/>
                  <a:cs typeface="Consolas" pitchFamily="49" charset="0"/>
                </a:rPr>
                <a:t>0</a:t>
              </a:r>
            </a:p>
          </p:txBody>
        </p:sp>
        <p:sp>
          <p:nvSpPr>
            <p:cNvPr id="5" name="Oval 10">
              <a:extLst>
                <a:ext uri="{FF2B5EF4-FFF2-40B4-BE49-F238E27FC236}">
                  <a16:creationId xmlns:a16="http://schemas.microsoft.com/office/drawing/2014/main" id="{4E2E10F4-282E-F428-5B8F-AD97E6891244}"/>
                </a:ext>
              </a:extLst>
            </p:cNvPr>
            <p:cNvSpPr>
              <a:spLocks noChangeArrowheads="1"/>
            </p:cNvSpPr>
            <p:nvPr/>
          </p:nvSpPr>
          <p:spPr bwMode="auto">
            <a:xfrm>
              <a:off x="2446308" y="936606"/>
              <a:ext cx="360363" cy="360363"/>
            </a:xfrm>
            <a:prstGeom prst="ellipse">
              <a:avLst/>
            </a:prstGeom>
            <a:ln>
              <a:headEnd/>
              <a:tailEnd type="none" w="med" len="lg"/>
            </a:ln>
          </p:spPr>
          <p:style>
            <a:lnRef idx="1">
              <a:schemeClr val="accent6"/>
            </a:lnRef>
            <a:fillRef idx="3">
              <a:schemeClr val="accent6"/>
            </a:fillRef>
            <a:effectRef idx="2">
              <a:schemeClr val="accent6"/>
            </a:effectRef>
            <a:fontRef idx="minor">
              <a:schemeClr val="lt1"/>
            </a:fontRef>
          </p:style>
          <p:txBody>
            <a:bodyPr wrap="none" anchor="ctr"/>
            <a:lstStyle/>
            <a:p>
              <a:pPr algn="ctr">
                <a:spcBef>
                  <a:spcPct val="0"/>
                </a:spcBef>
              </a:pPr>
              <a:r>
                <a:rPr lang="en-US" altLang="zh-CN" sz="1800">
                  <a:solidFill>
                    <a:srgbClr val="3333FF"/>
                  </a:solidFill>
                  <a:latin typeface="Consolas" pitchFamily="49" charset="0"/>
                  <a:ea typeface="宋体" pitchFamily="2" charset="-122"/>
                  <a:cs typeface="Consolas" pitchFamily="49" charset="0"/>
                </a:rPr>
                <a:t>1</a:t>
              </a:r>
            </a:p>
          </p:txBody>
        </p:sp>
        <p:sp>
          <p:nvSpPr>
            <p:cNvPr id="6" name="Oval 11">
              <a:extLst>
                <a:ext uri="{FF2B5EF4-FFF2-40B4-BE49-F238E27FC236}">
                  <a16:creationId xmlns:a16="http://schemas.microsoft.com/office/drawing/2014/main" id="{903330F1-E1CC-0DEB-86B8-12E6129C036C}"/>
                </a:ext>
              </a:extLst>
            </p:cNvPr>
            <p:cNvSpPr>
              <a:spLocks noChangeArrowheads="1"/>
            </p:cNvSpPr>
            <p:nvPr/>
          </p:nvSpPr>
          <p:spPr bwMode="auto">
            <a:xfrm>
              <a:off x="501620" y="2160569"/>
              <a:ext cx="360363" cy="360363"/>
            </a:xfrm>
            <a:prstGeom prst="ellipse">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anchor="ctr"/>
            <a:lstStyle/>
            <a:p>
              <a:pPr algn="ctr">
                <a:spcBef>
                  <a:spcPct val="0"/>
                </a:spcBef>
              </a:pPr>
              <a:r>
                <a:rPr lang="en-US" altLang="zh-CN" sz="1800">
                  <a:solidFill>
                    <a:srgbClr val="3333FF"/>
                  </a:solidFill>
                  <a:latin typeface="Consolas" pitchFamily="49" charset="0"/>
                  <a:ea typeface="宋体" pitchFamily="2" charset="-122"/>
                  <a:cs typeface="Consolas" pitchFamily="49" charset="0"/>
                </a:rPr>
                <a:t>2</a:t>
              </a:r>
            </a:p>
          </p:txBody>
        </p:sp>
        <p:sp>
          <p:nvSpPr>
            <p:cNvPr id="7" name="Oval 12">
              <a:extLst>
                <a:ext uri="{FF2B5EF4-FFF2-40B4-BE49-F238E27FC236}">
                  <a16:creationId xmlns:a16="http://schemas.microsoft.com/office/drawing/2014/main" id="{81E7AC64-8CDC-FB9B-E483-99537A856501}"/>
                </a:ext>
              </a:extLst>
            </p:cNvPr>
            <p:cNvSpPr>
              <a:spLocks noChangeArrowheads="1"/>
            </p:cNvSpPr>
            <p:nvPr/>
          </p:nvSpPr>
          <p:spPr bwMode="auto">
            <a:xfrm>
              <a:off x="2517745" y="2160569"/>
              <a:ext cx="360363" cy="360363"/>
            </a:xfrm>
            <a:prstGeom prst="ellipse">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anchor="ctr"/>
            <a:lstStyle/>
            <a:p>
              <a:pPr algn="ctr">
                <a:spcBef>
                  <a:spcPct val="0"/>
                </a:spcBef>
              </a:pPr>
              <a:r>
                <a:rPr lang="en-US" altLang="zh-CN" sz="1800">
                  <a:solidFill>
                    <a:srgbClr val="3333FF"/>
                  </a:solidFill>
                  <a:latin typeface="Consolas" pitchFamily="49" charset="0"/>
                  <a:ea typeface="宋体" pitchFamily="2" charset="-122"/>
                  <a:cs typeface="Consolas" pitchFamily="49" charset="0"/>
                </a:rPr>
                <a:t>3</a:t>
              </a:r>
            </a:p>
          </p:txBody>
        </p:sp>
        <p:sp>
          <p:nvSpPr>
            <p:cNvPr id="8" name="Line 13">
              <a:extLst>
                <a:ext uri="{FF2B5EF4-FFF2-40B4-BE49-F238E27FC236}">
                  <a16:creationId xmlns:a16="http://schemas.microsoft.com/office/drawing/2014/main" id="{8B02028D-537F-19A8-9584-5776B46F3C25}"/>
                </a:ext>
              </a:extLst>
            </p:cNvPr>
            <p:cNvSpPr>
              <a:spLocks noChangeShapeType="1"/>
            </p:cNvSpPr>
            <p:nvPr/>
          </p:nvSpPr>
          <p:spPr bwMode="auto">
            <a:xfrm>
              <a:off x="861983" y="1081069"/>
              <a:ext cx="1584325" cy="0"/>
            </a:xfrm>
            <a:prstGeom prst="line">
              <a:avLst/>
            </a:prstGeom>
            <a:noFill/>
            <a:ln w="19050">
              <a:solidFill>
                <a:srgbClr val="7030A0"/>
              </a:solidFill>
              <a:round/>
              <a:headEnd/>
              <a:tailEnd type="stealth" w="med" len="lg"/>
            </a:ln>
            <a:effectLst/>
          </p:spPr>
          <p:txBody>
            <a:bodyPr wrap="none"/>
            <a:lstStyle/>
            <a:p>
              <a:endParaRPr lang="zh-CN" altLang="en-US">
                <a:latin typeface="Consolas" pitchFamily="49" charset="0"/>
                <a:cs typeface="Consolas" pitchFamily="49" charset="0"/>
              </a:endParaRPr>
            </a:p>
          </p:txBody>
        </p:sp>
        <p:sp>
          <p:nvSpPr>
            <p:cNvPr id="9" name="Line 14">
              <a:extLst>
                <a:ext uri="{FF2B5EF4-FFF2-40B4-BE49-F238E27FC236}">
                  <a16:creationId xmlns:a16="http://schemas.microsoft.com/office/drawing/2014/main" id="{A3349407-24CC-D1BC-BA77-374D77063504}"/>
                </a:ext>
              </a:extLst>
            </p:cNvPr>
            <p:cNvSpPr>
              <a:spLocks noChangeShapeType="1"/>
            </p:cNvSpPr>
            <p:nvPr/>
          </p:nvSpPr>
          <p:spPr bwMode="auto">
            <a:xfrm flipV="1">
              <a:off x="646083" y="1296969"/>
              <a:ext cx="0" cy="863600"/>
            </a:xfrm>
            <a:prstGeom prst="line">
              <a:avLst/>
            </a:prstGeom>
            <a:noFill/>
            <a:ln w="19050">
              <a:solidFill>
                <a:srgbClr val="7030A0"/>
              </a:solidFill>
              <a:round/>
              <a:headEnd/>
              <a:tailEnd type="stealth" w="med" len="lg"/>
            </a:ln>
            <a:effectLst/>
          </p:spPr>
          <p:txBody>
            <a:bodyPr wrap="none"/>
            <a:lstStyle/>
            <a:p>
              <a:endParaRPr lang="zh-CN" altLang="en-US">
                <a:latin typeface="Consolas" pitchFamily="49" charset="0"/>
                <a:cs typeface="Consolas" pitchFamily="49" charset="0"/>
              </a:endParaRPr>
            </a:p>
          </p:txBody>
        </p:sp>
        <p:sp>
          <p:nvSpPr>
            <p:cNvPr id="10" name="Freeform 15">
              <a:extLst>
                <a:ext uri="{FF2B5EF4-FFF2-40B4-BE49-F238E27FC236}">
                  <a16:creationId xmlns:a16="http://schemas.microsoft.com/office/drawing/2014/main" id="{D227D10F-BBA6-2DA5-BF81-70D237B53872}"/>
                </a:ext>
              </a:extLst>
            </p:cNvPr>
            <p:cNvSpPr>
              <a:spLocks/>
            </p:cNvSpPr>
            <p:nvPr/>
          </p:nvSpPr>
          <p:spPr bwMode="auto">
            <a:xfrm>
              <a:off x="841345" y="1211244"/>
              <a:ext cx="1676400" cy="1020763"/>
            </a:xfrm>
            <a:custGeom>
              <a:avLst/>
              <a:gdLst/>
              <a:ahLst/>
              <a:cxnLst>
                <a:cxn ang="0">
                  <a:pos x="0" y="0"/>
                </a:cxn>
                <a:cxn ang="0">
                  <a:pos x="1056" y="643"/>
                </a:cxn>
              </a:cxnLst>
              <a:rect l="0" t="0" r="r" b="b"/>
              <a:pathLst>
                <a:path w="1056" h="643">
                  <a:moveTo>
                    <a:pt x="0" y="0"/>
                  </a:moveTo>
                  <a:lnTo>
                    <a:pt x="1056" y="643"/>
                  </a:lnTo>
                </a:path>
              </a:pathLst>
            </a:custGeom>
            <a:noFill/>
            <a:ln w="19050" cap="flat" cmpd="sng">
              <a:solidFill>
                <a:srgbClr val="7030A0"/>
              </a:solidFill>
              <a:prstDash val="solid"/>
              <a:round/>
              <a:headEnd type="none" w="med" len="med"/>
              <a:tailEnd type="stealth" w="med" len="lg"/>
            </a:ln>
            <a:effectLst/>
          </p:spPr>
          <p:txBody>
            <a:bodyPr wrap="none"/>
            <a:lstStyle/>
            <a:p>
              <a:endParaRPr lang="zh-CN" altLang="en-US">
                <a:latin typeface="Consolas" pitchFamily="49" charset="0"/>
                <a:cs typeface="Consolas" pitchFamily="49" charset="0"/>
              </a:endParaRPr>
            </a:p>
          </p:txBody>
        </p:sp>
        <p:sp>
          <p:nvSpPr>
            <p:cNvPr id="11" name="Line 16">
              <a:extLst>
                <a:ext uri="{FF2B5EF4-FFF2-40B4-BE49-F238E27FC236}">
                  <a16:creationId xmlns:a16="http://schemas.microsoft.com/office/drawing/2014/main" id="{131F60D4-5A29-5CA0-0C46-E083CAC77009}"/>
                </a:ext>
              </a:extLst>
            </p:cNvPr>
            <p:cNvSpPr>
              <a:spLocks noChangeShapeType="1"/>
            </p:cNvSpPr>
            <p:nvPr/>
          </p:nvSpPr>
          <p:spPr bwMode="auto">
            <a:xfrm>
              <a:off x="2662208" y="1296969"/>
              <a:ext cx="0" cy="863600"/>
            </a:xfrm>
            <a:prstGeom prst="line">
              <a:avLst/>
            </a:prstGeom>
            <a:noFill/>
            <a:ln w="19050">
              <a:solidFill>
                <a:srgbClr val="7030A0"/>
              </a:solidFill>
              <a:round/>
              <a:headEnd/>
              <a:tailEnd type="stealth" w="med" len="lg"/>
            </a:ln>
            <a:effectLst/>
          </p:spPr>
          <p:txBody>
            <a:bodyPr wrap="none"/>
            <a:lstStyle/>
            <a:p>
              <a:endParaRPr lang="zh-CN" altLang="en-US">
                <a:latin typeface="Consolas" pitchFamily="49" charset="0"/>
                <a:cs typeface="Consolas" pitchFamily="49" charset="0"/>
              </a:endParaRPr>
            </a:p>
          </p:txBody>
        </p:sp>
        <p:sp>
          <p:nvSpPr>
            <p:cNvPr id="12" name="Text Box 21">
              <a:extLst>
                <a:ext uri="{FF2B5EF4-FFF2-40B4-BE49-F238E27FC236}">
                  <a16:creationId xmlns:a16="http://schemas.microsoft.com/office/drawing/2014/main" id="{663ED349-243D-6C45-9EFF-E02B31162B9C}"/>
                </a:ext>
              </a:extLst>
            </p:cNvPr>
            <p:cNvSpPr txBox="1">
              <a:spLocks noChangeArrowheads="1"/>
            </p:cNvSpPr>
            <p:nvPr/>
          </p:nvSpPr>
          <p:spPr bwMode="auto">
            <a:xfrm>
              <a:off x="1496994" y="714356"/>
              <a:ext cx="431800" cy="366713"/>
            </a:xfrm>
            <a:prstGeom prst="rect">
              <a:avLst/>
            </a:prstGeom>
            <a:noFill/>
            <a:ln w="19050" algn="ctr">
              <a:noFill/>
              <a:miter lim="800000"/>
              <a:headEnd/>
              <a:tailEnd type="none" w="med" len="lg"/>
            </a:ln>
            <a:effectLst/>
          </p:spPr>
          <p:txBody>
            <a:bodyPr>
              <a:spAutoFit/>
            </a:bodyPr>
            <a:lstStyle/>
            <a:p>
              <a:pPr algn="ctr"/>
              <a:r>
                <a:rPr lang="en-US" altLang="zh-CN" sz="1800">
                  <a:solidFill>
                    <a:srgbClr val="FF0000"/>
                  </a:solidFill>
                  <a:latin typeface="Consolas" pitchFamily="49" charset="0"/>
                  <a:ea typeface="宋体" pitchFamily="2" charset="-122"/>
                  <a:cs typeface="Consolas" pitchFamily="49" charset="0"/>
                </a:rPr>
                <a:t>5</a:t>
              </a:r>
            </a:p>
          </p:txBody>
        </p:sp>
        <p:sp>
          <p:nvSpPr>
            <p:cNvPr id="13" name="Text Box 22">
              <a:extLst>
                <a:ext uri="{FF2B5EF4-FFF2-40B4-BE49-F238E27FC236}">
                  <a16:creationId xmlns:a16="http://schemas.microsoft.com/office/drawing/2014/main" id="{53ED84C6-48FB-5D57-6A8E-01F245FE5A0D}"/>
                </a:ext>
              </a:extLst>
            </p:cNvPr>
            <p:cNvSpPr txBox="1">
              <a:spLocks noChangeArrowheads="1"/>
            </p:cNvSpPr>
            <p:nvPr/>
          </p:nvSpPr>
          <p:spPr bwMode="auto">
            <a:xfrm>
              <a:off x="285720" y="1504931"/>
              <a:ext cx="431800" cy="366713"/>
            </a:xfrm>
            <a:prstGeom prst="rect">
              <a:avLst/>
            </a:prstGeom>
            <a:noFill/>
            <a:ln w="19050" algn="ctr">
              <a:noFill/>
              <a:miter lim="800000"/>
              <a:headEnd/>
              <a:tailEnd type="none" w="med" len="lg"/>
            </a:ln>
            <a:effectLst/>
          </p:spPr>
          <p:txBody>
            <a:bodyPr>
              <a:spAutoFit/>
            </a:bodyPr>
            <a:lstStyle/>
            <a:p>
              <a:pPr algn="ctr"/>
              <a:r>
                <a:rPr lang="en-US" altLang="zh-CN" sz="1800">
                  <a:solidFill>
                    <a:srgbClr val="FF0000"/>
                  </a:solidFill>
                  <a:latin typeface="Consolas" pitchFamily="49" charset="0"/>
                  <a:ea typeface="宋体" pitchFamily="2" charset="-122"/>
                  <a:cs typeface="Consolas" pitchFamily="49" charset="0"/>
                </a:rPr>
                <a:t>3</a:t>
              </a:r>
            </a:p>
          </p:txBody>
        </p:sp>
        <p:sp>
          <p:nvSpPr>
            <p:cNvPr id="14" name="Text Box 23">
              <a:extLst>
                <a:ext uri="{FF2B5EF4-FFF2-40B4-BE49-F238E27FC236}">
                  <a16:creationId xmlns:a16="http://schemas.microsoft.com/office/drawing/2014/main" id="{FB981891-6FD6-4F3A-5AC1-4E2914D55197}"/>
                </a:ext>
              </a:extLst>
            </p:cNvPr>
            <p:cNvSpPr txBox="1">
              <a:spLocks noChangeArrowheads="1"/>
            </p:cNvSpPr>
            <p:nvPr/>
          </p:nvSpPr>
          <p:spPr bwMode="auto">
            <a:xfrm>
              <a:off x="2590770" y="1577956"/>
              <a:ext cx="431800" cy="366713"/>
            </a:xfrm>
            <a:prstGeom prst="rect">
              <a:avLst/>
            </a:prstGeom>
            <a:noFill/>
            <a:ln w="19050" algn="ctr">
              <a:noFill/>
              <a:miter lim="800000"/>
              <a:headEnd/>
              <a:tailEnd type="none" w="med" len="lg"/>
            </a:ln>
            <a:effectLst/>
          </p:spPr>
          <p:txBody>
            <a:bodyPr>
              <a:spAutoFit/>
            </a:bodyPr>
            <a:lstStyle/>
            <a:p>
              <a:pPr algn="ctr"/>
              <a:r>
                <a:rPr lang="en-US" altLang="zh-CN" sz="1800">
                  <a:solidFill>
                    <a:srgbClr val="FF0000"/>
                  </a:solidFill>
                  <a:latin typeface="Consolas" pitchFamily="49" charset="0"/>
                  <a:ea typeface="宋体" pitchFamily="2" charset="-122"/>
                  <a:cs typeface="Consolas" pitchFamily="49" charset="0"/>
                </a:rPr>
                <a:t>2</a:t>
              </a:r>
            </a:p>
          </p:txBody>
        </p:sp>
        <p:sp>
          <p:nvSpPr>
            <p:cNvPr id="15" name="Text Box 24">
              <a:extLst>
                <a:ext uri="{FF2B5EF4-FFF2-40B4-BE49-F238E27FC236}">
                  <a16:creationId xmlns:a16="http://schemas.microsoft.com/office/drawing/2014/main" id="{0EB539CF-BE56-189C-7CA3-3C3DE5A85CFD}"/>
                </a:ext>
              </a:extLst>
            </p:cNvPr>
            <p:cNvSpPr txBox="1">
              <a:spLocks noChangeArrowheads="1"/>
            </p:cNvSpPr>
            <p:nvPr/>
          </p:nvSpPr>
          <p:spPr bwMode="auto">
            <a:xfrm>
              <a:off x="1006445" y="1081069"/>
              <a:ext cx="431800" cy="366713"/>
            </a:xfrm>
            <a:prstGeom prst="rect">
              <a:avLst/>
            </a:prstGeom>
            <a:noFill/>
            <a:ln w="19050" algn="ctr">
              <a:noFill/>
              <a:miter lim="800000"/>
              <a:headEnd/>
              <a:tailEnd type="none" w="med" len="lg"/>
            </a:ln>
            <a:effectLst/>
          </p:spPr>
          <p:txBody>
            <a:bodyPr>
              <a:spAutoFit/>
            </a:bodyPr>
            <a:lstStyle/>
            <a:p>
              <a:pPr algn="ctr"/>
              <a:r>
                <a:rPr lang="en-US" altLang="zh-CN" sz="1800">
                  <a:solidFill>
                    <a:srgbClr val="FF0000"/>
                  </a:solidFill>
                  <a:latin typeface="Consolas" pitchFamily="49" charset="0"/>
                  <a:ea typeface="宋体" pitchFamily="2" charset="-122"/>
                  <a:cs typeface="Consolas" pitchFamily="49" charset="0"/>
                </a:rPr>
                <a:t>7</a:t>
              </a:r>
            </a:p>
          </p:txBody>
        </p:sp>
        <p:sp>
          <p:nvSpPr>
            <p:cNvPr id="16" name="Text Box 25">
              <a:extLst>
                <a:ext uri="{FF2B5EF4-FFF2-40B4-BE49-F238E27FC236}">
                  <a16:creationId xmlns:a16="http://schemas.microsoft.com/office/drawing/2014/main" id="{5DD1F019-77F6-AEE5-FD94-D31B432A2C62}"/>
                </a:ext>
              </a:extLst>
            </p:cNvPr>
            <p:cNvSpPr txBox="1">
              <a:spLocks noChangeArrowheads="1"/>
            </p:cNvSpPr>
            <p:nvPr/>
          </p:nvSpPr>
          <p:spPr bwMode="auto">
            <a:xfrm>
              <a:off x="1941483" y="1577956"/>
              <a:ext cx="431800" cy="366713"/>
            </a:xfrm>
            <a:prstGeom prst="rect">
              <a:avLst/>
            </a:prstGeom>
            <a:noFill/>
            <a:ln w="19050" algn="ctr">
              <a:noFill/>
              <a:miter lim="800000"/>
              <a:headEnd/>
              <a:tailEnd type="none" w="med" len="lg"/>
            </a:ln>
            <a:effectLst/>
          </p:spPr>
          <p:txBody>
            <a:bodyPr>
              <a:spAutoFit/>
            </a:bodyPr>
            <a:lstStyle/>
            <a:p>
              <a:pPr algn="ctr"/>
              <a:r>
                <a:rPr lang="en-US" altLang="zh-CN" sz="1800">
                  <a:solidFill>
                    <a:srgbClr val="FF0000"/>
                  </a:solidFill>
                  <a:latin typeface="Consolas" pitchFamily="49" charset="0"/>
                  <a:ea typeface="宋体" pitchFamily="2" charset="-122"/>
                  <a:cs typeface="Consolas" pitchFamily="49" charset="0"/>
                </a:rPr>
                <a:t>3</a:t>
              </a:r>
            </a:p>
          </p:txBody>
        </p:sp>
        <p:sp>
          <p:nvSpPr>
            <p:cNvPr id="17" name="Text Box 26">
              <a:extLst>
                <a:ext uri="{FF2B5EF4-FFF2-40B4-BE49-F238E27FC236}">
                  <a16:creationId xmlns:a16="http://schemas.microsoft.com/office/drawing/2014/main" id="{E979E6F3-F5ED-4351-165F-634319EAE193}"/>
                </a:ext>
              </a:extLst>
            </p:cNvPr>
            <p:cNvSpPr txBox="1">
              <a:spLocks noChangeArrowheads="1"/>
            </p:cNvSpPr>
            <p:nvPr/>
          </p:nvSpPr>
          <p:spPr bwMode="auto">
            <a:xfrm>
              <a:off x="1438245" y="2542490"/>
              <a:ext cx="431800" cy="366713"/>
            </a:xfrm>
            <a:prstGeom prst="rect">
              <a:avLst/>
            </a:prstGeom>
            <a:noFill/>
            <a:ln w="19050" algn="ctr">
              <a:noFill/>
              <a:miter lim="800000"/>
              <a:headEnd/>
              <a:tailEnd type="none" w="med" len="lg"/>
            </a:ln>
            <a:effectLst/>
          </p:spPr>
          <p:txBody>
            <a:bodyPr>
              <a:spAutoFit/>
            </a:bodyPr>
            <a:lstStyle/>
            <a:p>
              <a:pPr algn="ctr"/>
              <a:r>
                <a:rPr lang="en-US" altLang="zh-CN" sz="1800">
                  <a:solidFill>
                    <a:srgbClr val="FF0000"/>
                  </a:solidFill>
                  <a:latin typeface="Consolas" pitchFamily="49" charset="0"/>
                  <a:ea typeface="宋体" pitchFamily="2" charset="-122"/>
                  <a:cs typeface="Consolas" pitchFamily="49" charset="0"/>
                </a:rPr>
                <a:t>1</a:t>
              </a:r>
            </a:p>
          </p:txBody>
        </p:sp>
        <p:sp>
          <p:nvSpPr>
            <p:cNvPr id="18" name="Text Box 27">
              <a:extLst>
                <a:ext uri="{FF2B5EF4-FFF2-40B4-BE49-F238E27FC236}">
                  <a16:creationId xmlns:a16="http://schemas.microsoft.com/office/drawing/2014/main" id="{70511F68-02D6-BC92-EBA8-84C5296BA601}"/>
                </a:ext>
              </a:extLst>
            </p:cNvPr>
            <p:cNvSpPr txBox="1">
              <a:spLocks noChangeArrowheads="1"/>
            </p:cNvSpPr>
            <p:nvPr/>
          </p:nvSpPr>
          <p:spPr bwMode="auto">
            <a:xfrm>
              <a:off x="1438245" y="2154219"/>
              <a:ext cx="431800" cy="366713"/>
            </a:xfrm>
            <a:prstGeom prst="rect">
              <a:avLst/>
            </a:prstGeom>
            <a:noFill/>
            <a:ln w="19050" algn="ctr">
              <a:noFill/>
              <a:miter lim="800000"/>
              <a:headEnd/>
              <a:tailEnd type="none" w="med" len="lg"/>
            </a:ln>
            <a:effectLst/>
          </p:spPr>
          <p:txBody>
            <a:bodyPr>
              <a:spAutoFit/>
            </a:bodyPr>
            <a:lstStyle/>
            <a:p>
              <a:pPr algn="ctr"/>
              <a:r>
                <a:rPr lang="en-US" altLang="zh-CN" sz="1800">
                  <a:solidFill>
                    <a:srgbClr val="FF0000"/>
                  </a:solidFill>
                  <a:latin typeface="Consolas" pitchFamily="49" charset="0"/>
                  <a:ea typeface="宋体" pitchFamily="2" charset="-122"/>
                  <a:cs typeface="Consolas" pitchFamily="49" charset="0"/>
                </a:rPr>
                <a:t>2</a:t>
              </a:r>
            </a:p>
          </p:txBody>
        </p:sp>
        <p:sp>
          <p:nvSpPr>
            <p:cNvPr id="19" name="Text Box 28">
              <a:extLst>
                <a:ext uri="{FF2B5EF4-FFF2-40B4-BE49-F238E27FC236}">
                  <a16:creationId xmlns:a16="http://schemas.microsoft.com/office/drawing/2014/main" id="{06CF8141-D192-6B7F-AA50-C7B18411E7F3}"/>
                </a:ext>
              </a:extLst>
            </p:cNvPr>
            <p:cNvSpPr txBox="1">
              <a:spLocks noChangeArrowheads="1"/>
            </p:cNvSpPr>
            <p:nvPr/>
          </p:nvSpPr>
          <p:spPr bwMode="auto">
            <a:xfrm>
              <a:off x="752445" y="1539856"/>
              <a:ext cx="431800" cy="366713"/>
            </a:xfrm>
            <a:prstGeom prst="rect">
              <a:avLst/>
            </a:prstGeom>
            <a:noFill/>
            <a:ln w="19050" algn="ctr">
              <a:noFill/>
              <a:miter lim="800000"/>
              <a:headEnd/>
              <a:tailEnd type="none" w="med" len="lg"/>
            </a:ln>
            <a:effectLst/>
          </p:spPr>
          <p:txBody>
            <a:bodyPr>
              <a:spAutoFit/>
            </a:bodyPr>
            <a:lstStyle/>
            <a:p>
              <a:pPr algn="ctr"/>
              <a:r>
                <a:rPr lang="en-US" altLang="zh-CN" sz="1800">
                  <a:solidFill>
                    <a:srgbClr val="FF0000"/>
                  </a:solidFill>
                  <a:latin typeface="Consolas" pitchFamily="49" charset="0"/>
                  <a:ea typeface="宋体" pitchFamily="2" charset="-122"/>
                  <a:cs typeface="Consolas" pitchFamily="49" charset="0"/>
                </a:rPr>
                <a:t>4</a:t>
              </a:r>
            </a:p>
          </p:txBody>
        </p:sp>
        <p:sp>
          <p:nvSpPr>
            <p:cNvPr id="20" name="任意多边形 119">
              <a:extLst>
                <a:ext uri="{FF2B5EF4-FFF2-40B4-BE49-F238E27FC236}">
                  <a16:creationId xmlns:a16="http://schemas.microsoft.com/office/drawing/2014/main" id="{4561F8B9-2442-6077-DDD0-8E6D87863EB1}"/>
                </a:ext>
              </a:extLst>
            </p:cNvPr>
            <p:cNvSpPr/>
            <p:nvPr/>
          </p:nvSpPr>
          <p:spPr>
            <a:xfrm>
              <a:off x="830232" y="2425678"/>
              <a:ext cx="1714500" cy="190500"/>
            </a:xfrm>
            <a:custGeom>
              <a:avLst/>
              <a:gdLst>
                <a:gd name="connsiteX0" fmla="*/ 1714500 w 1714500"/>
                <a:gd name="connsiteY0" fmla="*/ 0 h 190500"/>
                <a:gd name="connsiteX1" fmla="*/ 1612900 w 1714500"/>
                <a:gd name="connsiteY1" fmla="*/ 76200 h 190500"/>
                <a:gd name="connsiteX2" fmla="*/ 1130300 w 1714500"/>
                <a:gd name="connsiteY2" fmla="*/ 177800 h 190500"/>
                <a:gd name="connsiteX3" fmla="*/ 596900 w 1714500"/>
                <a:gd name="connsiteY3" fmla="*/ 152400 h 190500"/>
                <a:gd name="connsiteX4" fmla="*/ 0 w 1714500"/>
                <a:gd name="connsiteY4" fmla="*/ 50800 h 190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4500" h="190500">
                  <a:moveTo>
                    <a:pt x="1714500" y="0"/>
                  </a:moveTo>
                  <a:cubicBezTo>
                    <a:pt x="1712383" y="23283"/>
                    <a:pt x="1710267" y="46567"/>
                    <a:pt x="1612900" y="76200"/>
                  </a:cubicBezTo>
                  <a:cubicBezTo>
                    <a:pt x="1515533" y="105833"/>
                    <a:pt x="1299633" y="165100"/>
                    <a:pt x="1130300" y="177800"/>
                  </a:cubicBezTo>
                  <a:cubicBezTo>
                    <a:pt x="960967" y="190500"/>
                    <a:pt x="785283" y="173567"/>
                    <a:pt x="596900" y="152400"/>
                  </a:cubicBezTo>
                  <a:cubicBezTo>
                    <a:pt x="408517" y="131233"/>
                    <a:pt x="204258" y="91016"/>
                    <a:pt x="0" y="50800"/>
                  </a:cubicBezTo>
                </a:path>
              </a:pathLst>
            </a:custGeom>
            <a:ln w="28575">
              <a:solidFill>
                <a:srgbClr val="7030A0"/>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Consolas" pitchFamily="49" charset="0"/>
                <a:cs typeface="Consolas" pitchFamily="49" charset="0"/>
              </a:endParaRPr>
            </a:p>
          </p:txBody>
        </p:sp>
        <p:sp>
          <p:nvSpPr>
            <p:cNvPr id="21" name="任意多边形 120">
              <a:extLst>
                <a:ext uri="{FF2B5EF4-FFF2-40B4-BE49-F238E27FC236}">
                  <a16:creationId xmlns:a16="http://schemas.microsoft.com/office/drawing/2014/main" id="{096D361D-521C-6EC4-B244-CF02E6F24C90}"/>
                </a:ext>
              </a:extLst>
            </p:cNvPr>
            <p:cNvSpPr/>
            <p:nvPr/>
          </p:nvSpPr>
          <p:spPr>
            <a:xfrm>
              <a:off x="881032" y="2194961"/>
              <a:ext cx="1638300" cy="141817"/>
            </a:xfrm>
            <a:custGeom>
              <a:avLst/>
              <a:gdLst>
                <a:gd name="connsiteX0" fmla="*/ 0 w 1638300"/>
                <a:gd name="connsiteY0" fmla="*/ 141817 h 141817"/>
                <a:gd name="connsiteX1" fmla="*/ 114300 w 1638300"/>
                <a:gd name="connsiteY1" fmla="*/ 103717 h 141817"/>
                <a:gd name="connsiteX2" fmla="*/ 495300 w 1638300"/>
                <a:gd name="connsiteY2" fmla="*/ 14817 h 141817"/>
                <a:gd name="connsiteX3" fmla="*/ 863600 w 1638300"/>
                <a:gd name="connsiteY3" fmla="*/ 14817 h 141817"/>
                <a:gd name="connsiteX4" fmla="*/ 1638300 w 1638300"/>
                <a:gd name="connsiteY4" fmla="*/ 103717 h 141817"/>
                <a:gd name="connsiteX0" fmla="*/ 0 w 1638300"/>
                <a:gd name="connsiteY0" fmla="*/ 141817 h 141817"/>
                <a:gd name="connsiteX1" fmla="*/ 114300 w 1638300"/>
                <a:gd name="connsiteY1" fmla="*/ 103717 h 141817"/>
                <a:gd name="connsiteX2" fmla="*/ 495300 w 1638300"/>
                <a:gd name="connsiteY2" fmla="*/ 14817 h 141817"/>
                <a:gd name="connsiteX3" fmla="*/ 863600 w 1638300"/>
                <a:gd name="connsiteY3" fmla="*/ 14817 h 141817"/>
                <a:gd name="connsiteX4" fmla="*/ 1638300 w 1638300"/>
                <a:gd name="connsiteY4" fmla="*/ 103717 h 1418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38300" h="141817">
                  <a:moveTo>
                    <a:pt x="0" y="141817"/>
                  </a:moveTo>
                  <a:cubicBezTo>
                    <a:pt x="15875" y="133350"/>
                    <a:pt x="31750" y="124884"/>
                    <a:pt x="114300" y="103717"/>
                  </a:cubicBezTo>
                  <a:cubicBezTo>
                    <a:pt x="196850" y="82550"/>
                    <a:pt x="370417" y="29634"/>
                    <a:pt x="495300" y="14817"/>
                  </a:cubicBezTo>
                  <a:cubicBezTo>
                    <a:pt x="620183" y="0"/>
                    <a:pt x="673100" y="0"/>
                    <a:pt x="863600" y="14817"/>
                  </a:cubicBezTo>
                  <a:cubicBezTo>
                    <a:pt x="1054100" y="29634"/>
                    <a:pt x="1346200" y="66675"/>
                    <a:pt x="1638300" y="103717"/>
                  </a:cubicBezTo>
                </a:path>
              </a:pathLst>
            </a:custGeom>
            <a:ln w="28575">
              <a:solidFill>
                <a:srgbClr val="7030A0"/>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Consolas" pitchFamily="49" charset="0"/>
                <a:cs typeface="Consolas" pitchFamily="49" charset="0"/>
              </a:endParaRPr>
            </a:p>
          </p:txBody>
        </p:sp>
        <p:sp>
          <p:nvSpPr>
            <p:cNvPr id="22" name="任意多边形 121">
              <a:extLst>
                <a:ext uri="{FF2B5EF4-FFF2-40B4-BE49-F238E27FC236}">
                  <a16:creationId xmlns:a16="http://schemas.microsoft.com/office/drawing/2014/main" id="{E8586911-17C1-4F74-490D-0BDAB1EF8019}"/>
                </a:ext>
              </a:extLst>
            </p:cNvPr>
            <p:cNvSpPr/>
            <p:nvPr/>
          </p:nvSpPr>
          <p:spPr>
            <a:xfrm>
              <a:off x="741332" y="1155678"/>
              <a:ext cx="1714500" cy="1016000"/>
            </a:xfrm>
            <a:custGeom>
              <a:avLst/>
              <a:gdLst>
                <a:gd name="connsiteX0" fmla="*/ 1714500 w 1714500"/>
                <a:gd name="connsiteY0" fmla="*/ 0 h 1016000"/>
                <a:gd name="connsiteX1" fmla="*/ 1549400 w 1714500"/>
                <a:gd name="connsiteY1" fmla="*/ 38100 h 1016000"/>
                <a:gd name="connsiteX2" fmla="*/ 1143000 w 1714500"/>
                <a:gd name="connsiteY2" fmla="*/ 165100 h 1016000"/>
                <a:gd name="connsiteX3" fmla="*/ 609600 w 1714500"/>
                <a:gd name="connsiteY3" fmla="*/ 406400 h 1016000"/>
                <a:gd name="connsiteX4" fmla="*/ 0 w 1714500"/>
                <a:gd name="connsiteY4" fmla="*/ 1016000 h 1016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4500" h="1016000">
                  <a:moveTo>
                    <a:pt x="1714500" y="0"/>
                  </a:moveTo>
                  <a:cubicBezTo>
                    <a:pt x="1679575" y="5291"/>
                    <a:pt x="1644650" y="10583"/>
                    <a:pt x="1549400" y="38100"/>
                  </a:cubicBezTo>
                  <a:cubicBezTo>
                    <a:pt x="1454150" y="65617"/>
                    <a:pt x="1299633" y="103717"/>
                    <a:pt x="1143000" y="165100"/>
                  </a:cubicBezTo>
                  <a:cubicBezTo>
                    <a:pt x="986367" y="226483"/>
                    <a:pt x="800100" y="264583"/>
                    <a:pt x="609600" y="406400"/>
                  </a:cubicBezTo>
                  <a:cubicBezTo>
                    <a:pt x="419100" y="548217"/>
                    <a:pt x="209550" y="782108"/>
                    <a:pt x="0" y="1016000"/>
                  </a:cubicBezTo>
                </a:path>
              </a:pathLst>
            </a:custGeom>
            <a:ln w="28575">
              <a:solidFill>
                <a:srgbClr val="7030A0"/>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Consolas" pitchFamily="49" charset="0"/>
                <a:cs typeface="Consolas" pitchFamily="49" charset="0"/>
              </a:endParaRPr>
            </a:p>
          </p:txBody>
        </p:sp>
        <p:sp>
          <p:nvSpPr>
            <p:cNvPr id="23" name="任意多边形 122">
              <a:extLst>
                <a:ext uri="{FF2B5EF4-FFF2-40B4-BE49-F238E27FC236}">
                  <a16:creationId xmlns:a16="http://schemas.microsoft.com/office/drawing/2014/main" id="{928F1B4D-067A-5631-456E-9D5C7A8DE7D8}"/>
                </a:ext>
              </a:extLst>
            </p:cNvPr>
            <p:cNvSpPr/>
            <p:nvPr/>
          </p:nvSpPr>
          <p:spPr>
            <a:xfrm>
              <a:off x="817532" y="1269978"/>
              <a:ext cx="1689100" cy="990600"/>
            </a:xfrm>
            <a:custGeom>
              <a:avLst/>
              <a:gdLst>
                <a:gd name="connsiteX0" fmla="*/ 0 w 1689100"/>
                <a:gd name="connsiteY0" fmla="*/ 990600 h 990600"/>
                <a:gd name="connsiteX1" fmla="*/ 266700 w 1689100"/>
                <a:gd name="connsiteY1" fmla="*/ 901700 h 990600"/>
                <a:gd name="connsiteX2" fmla="*/ 787400 w 1689100"/>
                <a:gd name="connsiteY2" fmla="*/ 622300 h 990600"/>
                <a:gd name="connsiteX3" fmla="*/ 1219200 w 1689100"/>
                <a:gd name="connsiteY3" fmla="*/ 381000 h 990600"/>
                <a:gd name="connsiteX4" fmla="*/ 1689100 w 1689100"/>
                <a:gd name="connsiteY4" fmla="*/ 0 h 990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89100" h="990600">
                  <a:moveTo>
                    <a:pt x="0" y="990600"/>
                  </a:moveTo>
                  <a:cubicBezTo>
                    <a:pt x="67733" y="976841"/>
                    <a:pt x="135467" y="963083"/>
                    <a:pt x="266700" y="901700"/>
                  </a:cubicBezTo>
                  <a:cubicBezTo>
                    <a:pt x="397933" y="840317"/>
                    <a:pt x="628650" y="709083"/>
                    <a:pt x="787400" y="622300"/>
                  </a:cubicBezTo>
                  <a:cubicBezTo>
                    <a:pt x="946150" y="535517"/>
                    <a:pt x="1068917" y="484717"/>
                    <a:pt x="1219200" y="381000"/>
                  </a:cubicBezTo>
                  <a:cubicBezTo>
                    <a:pt x="1369483" y="277283"/>
                    <a:pt x="1529291" y="138641"/>
                    <a:pt x="1689100" y="0"/>
                  </a:cubicBezTo>
                </a:path>
              </a:pathLst>
            </a:custGeom>
            <a:ln w="28575">
              <a:solidFill>
                <a:srgbClr val="7030A0"/>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Consolas" pitchFamily="49" charset="0"/>
                <a:cs typeface="Consolas" pitchFamily="49" charset="0"/>
              </a:endParaRPr>
            </a:p>
          </p:txBody>
        </p:sp>
      </p:grpSp>
      <p:sp>
        <p:nvSpPr>
          <p:cNvPr id="24" name="TextBox 123">
            <a:extLst>
              <a:ext uri="{FF2B5EF4-FFF2-40B4-BE49-F238E27FC236}">
                <a16:creationId xmlns:a16="http://schemas.microsoft.com/office/drawing/2014/main" id="{F9B7BF77-DE86-9437-7EC4-A665A3680452}"/>
              </a:ext>
            </a:extLst>
          </p:cNvPr>
          <p:cNvSpPr txBox="1"/>
          <p:nvPr/>
        </p:nvSpPr>
        <p:spPr>
          <a:xfrm>
            <a:off x="3635758" y="3769660"/>
            <a:ext cx="642942" cy="430887"/>
          </a:xfrm>
          <a:prstGeom prst="rect">
            <a:avLst/>
          </a:prstGeom>
          <a:noFill/>
        </p:spPr>
        <p:txBody>
          <a:bodyPr wrap="square" rtlCol="0">
            <a:spAutoFit/>
          </a:bodyPr>
          <a:lstStyle/>
          <a:p>
            <a:r>
              <a:rPr lang="en-US" altLang="zh-CN" sz="2200" i="1">
                <a:latin typeface="Consolas" pitchFamily="49" charset="0"/>
                <a:cs typeface="Consolas" pitchFamily="49" charset="0"/>
              </a:rPr>
              <a:t>A</a:t>
            </a:r>
            <a:r>
              <a:rPr lang="en-US" altLang="zh-CN" sz="2200" baseline="-25000">
                <a:latin typeface="Consolas" pitchFamily="49" charset="0"/>
                <a:cs typeface="Consolas" pitchFamily="49" charset="0"/>
              </a:rPr>
              <a:t>1</a:t>
            </a:r>
            <a:endParaRPr lang="zh-CN" altLang="en-US" sz="2200" baseline="-25000">
              <a:latin typeface="Consolas" pitchFamily="49" charset="0"/>
              <a:cs typeface="Consolas" pitchFamily="49" charset="0"/>
            </a:endParaRPr>
          </a:p>
        </p:txBody>
      </p:sp>
      <p:graphicFrame>
        <p:nvGraphicFramePr>
          <p:cNvPr id="25" name="表格 24">
            <a:extLst>
              <a:ext uri="{FF2B5EF4-FFF2-40B4-BE49-F238E27FC236}">
                <a16:creationId xmlns:a16="http://schemas.microsoft.com/office/drawing/2014/main" id="{C887FAA2-6A6F-0541-B3D5-0CC68FC81423}"/>
              </a:ext>
            </a:extLst>
          </p:cNvPr>
          <p:cNvGraphicFramePr>
            <a:graphicFrameLocks noGrp="1"/>
          </p:cNvGraphicFramePr>
          <p:nvPr>
            <p:extLst>
              <p:ext uri="{D42A27DB-BD31-4B8C-83A1-F6EECF244321}">
                <p14:modId xmlns:p14="http://schemas.microsoft.com/office/powerpoint/2010/main" val="3282479916"/>
              </p:ext>
            </p:extLst>
          </p:nvPr>
        </p:nvGraphicFramePr>
        <p:xfrm>
          <a:off x="2349874" y="4341164"/>
          <a:ext cx="3071835" cy="1854200"/>
        </p:xfrm>
        <a:graphic>
          <a:graphicData uri="http://schemas.openxmlformats.org/drawingml/2006/table">
            <a:tbl>
              <a:tblPr firstRow="1" bandRow="1">
                <a:tableStyleId>{E8B1032C-EA38-4F05-BA0D-38AFFFC7BED3}</a:tableStyleId>
              </a:tblPr>
              <a:tblGrid>
                <a:gridCol w="614367">
                  <a:extLst>
                    <a:ext uri="{9D8B030D-6E8A-4147-A177-3AD203B41FA5}">
                      <a16:colId xmlns:a16="http://schemas.microsoft.com/office/drawing/2014/main" val="20000"/>
                    </a:ext>
                  </a:extLst>
                </a:gridCol>
                <a:gridCol w="614367">
                  <a:extLst>
                    <a:ext uri="{9D8B030D-6E8A-4147-A177-3AD203B41FA5}">
                      <a16:colId xmlns:a16="http://schemas.microsoft.com/office/drawing/2014/main" val="20001"/>
                    </a:ext>
                  </a:extLst>
                </a:gridCol>
                <a:gridCol w="614367">
                  <a:extLst>
                    <a:ext uri="{9D8B030D-6E8A-4147-A177-3AD203B41FA5}">
                      <a16:colId xmlns:a16="http://schemas.microsoft.com/office/drawing/2014/main" val="20002"/>
                    </a:ext>
                  </a:extLst>
                </a:gridCol>
                <a:gridCol w="614367">
                  <a:extLst>
                    <a:ext uri="{9D8B030D-6E8A-4147-A177-3AD203B41FA5}">
                      <a16:colId xmlns:a16="http://schemas.microsoft.com/office/drawing/2014/main" val="20003"/>
                    </a:ext>
                  </a:extLst>
                </a:gridCol>
                <a:gridCol w="614367">
                  <a:extLst>
                    <a:ext uri="{9D8B030D-6E8A-4147-A177-3AD203B41FA5}">
                      <a16:colId xmlns:a16="http://schemas.microsoft.com/office/drawing/2014/main" val="20004"/>
                    </a:ext>
                  </a:extLst>
                </a:gridCol>
              </a:tblGrid>
              <a:tr h="370840">
                <a:tc>
                  <a:txBody>
                    <a:bodyPr/>
                    <a:lstStyle/>
                    <a:p>
                      <a:pPr algn="ctr"/>
                      <a:endParaRPr lang="zh-CN" altLang="en-US" b="1">
                        <a:solidFill>
                          <a:srgbClr val="3333FF"/>
                        </a:solidFill>
                        <a:latin typeface="Consolas" pitchFamily="49" charset="0"/>
                        <a:cs typeface="Consolas" pitchFamily="49" charset="0"/>
                      </a:endParaRPr>
                    </a:p>
                  </a:txBody>
                  <a:tcPr>
                    <a:solidFill>
                      <a:schemeClr val="tx2">
                        <a:lumMod val="40000"/>
                        <a:lumOff val="60000"/>
                      </a:schemeClr>
                    </a:solidFill>
                  </a:tcPr>
                </a:tc>
                <a:tc>
                  <a:txBody>
                    <a:bodyPr/>
                    <a:lstStyle/>
                    <a:p>
                      <a:pPr algn="ctr"/>
                      <a:r>
                        <a:rPr lang="en-US" altLang="zh-CN" sz="1600" b="1">
                          <a:solidFill>
                            <a:srgbClr val="FF0000"/>
                          </a:solidFill>
                          <a:latin typeface="Consolas" pitchFamily="49" charset="0"/>
                          <a:cs typeface="Consolas" pitchFamily="49" charset="0"/>
                        </a:rPr>
                        <a:t>0</a:t>
                      </a:r>
                      <a:endParaRPr lang="zh-CN" altLang="en-US" sz="1600" b="1">
                        <a:solidFill>
                          <a:srgbClr val="FF0000"/>
                        </a:solidFill>
                        <a:latin typeface="Consolas" pitchFamily="49" charset="0"/>
                        <a:cs typeface="Consolas" pitchFamily="49" charset="0"/>
                      </a:endParaRPr>
                    </a:p>
                  </a:txBody>
                  <a:tcPr>
                    <a:solidFill>
                      <a:schemeClr val="tx2">
                        <a:lumMod val="40000"/>
                        <a:lumOff val="60000"/>
                      </a:schemeClr>
                    </a:solidFill>
                  </a:tcPr>
                </a:tc>
                <a:tc>
                  <a:txBody>
                    <a:bodyPr/>
                    <a:lstStyle/>
                    <a:p>
                      <a:pPr algn="ctr"/>
                      <a:r>
                        <a:rPr lang="en-US" altLang="zh-CN" sz="1600" b="1">
                          <a:solidFill>
                            <a:srgbClr val="FF0000"/>
                          </a:solidFill>
                          <a:latin typeface="Consolas" pitchFamily="49" charset="0"/>
                          <a:cs typeface="Consolas" pitchFamily="49" charset="0"/>
                        </a:rPr>
                        <a:t>1</a:t>
                      </a:r>
                      <a:endParaRPr lang="zh-CN" altLang="en-US" sz="1600" b="1">
                        <a:solidFill>
                          <a:srgbClr val="FF0000"/>
                        </a:solidFill>
                        <a:latin typeface="Consolas" pitchFamily="49" charset="0"/>
                        <a:cs typeface="Consolas" pitchFamily="49" charset="0"/>
                      </a:endParaRPr>
                    </a:p>
                  </a:txBody>
                  <a:tcPr>
                    <a:solidFill>
                      <a:schemeClr val="tx2">
                        <a:lumMod val="40000"/>
                        <a:lumOff val="60000"/>
                      </a:schemeClr>
                    </a:solidFill>
                  </a:tcPr>
                </a:tc>
                <a:tc>
                  <a:txBody>
                    <a:bodyPr/>
                    <a:lstStyle/>
                    <a:p>
                      <a:pPr algn="ctr"/>
                      <a:r>
                        <a:rPr lang="en-US" altLang="zh-CN" sz="1600" b="1">
                          <a:solidFill>
                            <a:srgbClr val="FF0000"/>
                          </a:solidFill>
                          <a:latin typeface="Consolas" pitchFamily="49" charset="0"/>
                          <a:cs typeface="Consolas" pitchFamily="49" charset="0"/>
                        </a:rPr>
                        <a:t>2</a:t>
                      </a:r>
                      <a:endParaRPr lang="zh-CN" altLang="en-US" sz="1600" b="1">
                        <a:solidFill>
                          <a:srgbClr val="FF0000"/>
                        </a:solidFill>
                        <a:latin typeface="Consolas" pitchFamily="49" charset="0"/>
                        <a:cs typeface="Consolas" pitchFamily="49" charset="0"/>
                      </a:endParaRPr>
                    </a:p>
                  </a:txBody>
                  <a:tcPr>
                    <a:solidFill>
                      <a:schemeClr val="tx2">
                        <a:lumMod val="40000"/>
                        <a:lumOff val="60000"/>
                      </a:schemeClr>
                    </a:solidFill>
                  </a:tcPr>
                </a:tc>
                <a:tc>
                  <a:txBody>
                    <a:bodyPr/>
                    <a:lstStyle/>
                    <a:p>
                      <a:pPr algn="ctr"/>
                      <a:r>
                        <a:rPr lang="en-US" altLang="zh-CN" sz="1600" b="1">
                          <a:solidFill>
                            <a:srgbClr val="FF0000"/>
                          </a:solidFill>
                          <a:latin typeface="Consolas" pitchFamily="49" charset="0"/>
                          <a:cs typeface="Consolas" pitchFamily="49" charset="0"/>
                        </a:rPr>
                        <a:t>3</a:t>
                      </a:r>
                      <a:endParaRPr lang="zh-CN" altLang="en-US" sz="1600" b="1">
                        <a:solidFill>
                          <a:srgbClr val="FF0000"/>
                        </a:solidFill>
                        <a:latin typeface="Consolas" pitchFamily="49" charset="0"/>
                        <a:cs typeface="Consolas" pitchFamily="49" charset="0"/>
                      </a:endParaRPr>
                    </a:p>
                  </a:txBody>
                  <a:tcPr>
                    <a:solidFill>
                      <a:schemeClr val="tx2">
                        <a:lumMod val="40000"/>
                        <a:lumOff val="60000"/>
                      </a:schemeClr>
                    </a:solidFill>
                  </a:tcPr>
                </a:tc>
                <a:extLst>
                  <a:ext uri="{0D108BD9-81ED-4DB2-BD59-A6C34878D82A}">
                    <a16:rowId xmlns:a16="http://schemas.microsoft.com/office/drawing/2014/main" val="10000"/>
                  </a:ext>
                </a:extLst>
              </a:tr>
              <a:tr h="370840">
                <a:tc>
                  <a:txBody>
                    <a:bodyPr/>
                    <a:lstStyle/>
                    <a:p>
                      <a:pPr algn="ctr"/>
                      <a:r>
                        <a:rPr lang="en-US" altLang="zh-CN" sz="1600" b="1">
                          <a:solidFill>
                            <a:srgbClr val="FF0000"/>
                          </a:solidFill>
                          <a:latin typeface="Consolas" pitchFamily="49" charset="0"/>
                          <a:cs typeface="Consolas" pitchFamily="49" charset="0"/>
                        </a:rPr>
                        <a:t>0</a:t>
                      </a:r>
                      <a:endParaRPr lang="zh-CN" altLang="en-US" sz="1600" b="1">
                        <a:solidFill>
                          <a:srgbClr val="FF0000"/>
                        </a:solidFill>
                        <a:latin typeface="Consolas" pitchFamily="49" charset="0"/>
                        <a:cs typeface="Consolas" pitchFamily="49" charset="0"/>
                      </a:endParaRPr>
                    </a:p>
                  </a:txBody>
                  <a:tcPr>
                    <a:solidFill>
                      <a:schemeClr val="tx2">
                        <a:lumMod val="40000"/>
                        <a:lumOff val="60000"/>
                      </a:schemeClr>
                    </a:solidFill>
                  </a:tcPr>
                </a:tc>
                <a:tc>
                  <a:txBody>
                    <a:bodyPr/>
                    <a:lstStyle/>
                    <a:p>
                      <a:pPr algn="ctr"/>
                      <a:r>
                        <a:rPr lang="en-US" altLang="zh-CN" b="1">
                          <a:solidFill>
                            <a:srgbClr val="3333FF"/>
                          </a:solidFill>
                          <a:latin typeface="Consolas" pitchFamily="49" charset="0"/>
                          <a:cs typeface="Consolas" pitchFamily="49" charset="0"/>
                        </a:rPr>
                        <a:t>0</a:t>
                      </a:r>
                      <a:endParaRPr lang="zh-CN" altLang="en-US" b="1">
                        <a:solidFill>
                          <a:srgbClr val="3333FF"/>
                        </a:solidFill>
                        <a:latin typeface="Consolas" pitchFamily="49" charset="0"/>
                        <a:cs typeface="Consolas" pitchFamily="49" charset="0"/>
                      </a:endParaRPr>
                    </a:p>
                  </a:txBody>
                  <a:tcPr/>
                </a:tc>
                <a:tc>
                  <a:txBody>
                    <a:bodyPr/>
                    <a:lstStyle/>
                    <a:p>
                      <a:pPr algn="ctr"/>
                      <a:r>
                        <a:rPr lang="en-US" altLang="zh-CN" b="1">
                          <a:solidFill>
                            <a:srgbClr val="3333FF"/>
                          </a:solidFill>
                          <a:latin typeface="Consolas" pitchFamily="49" charset="0"/>
                          <a:cs typeface="Consolas" pitchFamily="49" charset="0"/>
                        </a:rPr>
                        <a:t>5</a:t>
                      </a:r>
                      <a:endParaRPr lang="zh-CN" altLang="en-US" b="1">
                        <a:solidFill>
                          <a:srgbClr val="3333FF"/>
                        </a:solidFill>
                        <a:latin typeface="Consolas" pitchFamily="49" charset="0"/>
                        <a:cs typeface="Consolas" pitchFamily="49" charset="0"/>
                      </a:endParaRPr>
                    </a:p>
                  </a:txBody>
                  <a:tcPr/>
                </a:tc>
                <a:tc>
                  <a:txBody>
                    <a:bodyPr/>
                    <a:lstStyle/>
                    <a:p>
                      <a:pPr algn="ctr"/>
                      <a:r>
                        <a:rPr lang="zh-CN" altLang="en-US" b="1">
                          <a:solidFill>
                            <a:srgbClr val="3333FF"/>
                          </a:solidFill>
                          <a:latin typeface="Consolas" pitchFamily="49" charset="0"/>
                          <a:cs typeface="Consolas" pitchFamily="49" charset="0"/>
                        </a:rPr>
                        <a:t>∞</a:t>
                      </a:r>
                    </a:p>
                  </a:txBody>
                  <a:tcPr/>
                </a:tc>
                <a:tc>
                  <a:txBody>
                    <a:bodyPr/>
                    <a:lstStyle/>
                    <a:p>
                      <a:pPr algn="ctr"/>
                      <a:r>
                        <a:rPr lang="en-US" altLang="zh-CN" b="1">
                          <a:solidFill>
                            <a:srgbClr val="3333FF"/>
                          </a:solidFill>
                          <a:latin typeface="Consolas" pitchFamily="49" charset="0"/>
                          <a:cs typeface="Consolas" pitchFamily="49" charset="0"/>
                        </a:rPr>
                        <a:t>7</a:t>
                      </a:r>
                      <a:endParaRPr lang="zh-CN" altLang="en-US" b="1">
                        <a:solidFill>
                          <a:srgbClr val="3333FF"/>
                        </a:solidFill>
                        <a:latin typeface="Consolas" pitchFamily="49" charset="0"/>
                        <a:cs typeface="Consolas" pitchFamily="49" charset="0"/>
                      </a:endParaRPr>
                    </a:p>
                  </a:txBody>
                  <a:tcPr/>
                </a:tc>
                <a:extLst>
                  <a:ext uri="{0D108BD9-81ED-4DB2-BD59-A6C34878D82A}">
                    <a16:rowId xmlns:a16="http://schemas.microsoft.com/office/drawing/2014/main" val="10001"/>
                  </a:ext>
                </a:extLst>
              </a:tr>
              <a:tr h="370840">
                <a:tc>
                  <a:txBody>
                    <a:bodyPr/>
                    <a:lstStyle/>
                    <a:p>
                      <a:pPr algn="ctr"/>
                      <a:r>
                        <a:rPr lang="en-US" altLang="zh-CN" sz="1600" b="1">
                          <a:solidFill>
                            <a:srgbClr val="FF0000"/>
                          </a:solidFill>
                          <a:latin typeface="Consolas" pitchFamily="49" charset="0"/>
                          <a:cs typeface="Consolas" pitchFamily="49" charset="0"/>
                        </a:rPr>
                        <a:t>1</a:t>
                      </a:r>
                      <a:endParaRPr lang="zh-CN" altLang="en-US" sz="1600" b="1">
                        <a:solidFill>
                          <a:srgbClr val="FF0000"/>
                        </a:solidFill>
                        <a:latin typeface="Consolas" pitchFamily="49" charset="0"/>
                        <a:cs typeface="Consolas" pitchFamily="49" charset="0"/>
                      </a:endParaRPr>
                    </a:p>
                  </a:txBody>
                  <a:tcPr>
                    <a:solidFill>
                      <a:schemeClr val="tx2">
                        <a:lumMod val="40000"/>
                        <a:lumOff val="6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b="1">
                          <a:solidFill>
                            <a:srgbClr val="3333FF"/>
                          </a:solidFill>
                          <a:latin typeface="Consolas" pitchFamily="49" charset="0"/>
                          <a:cs typeface="Consolas" pitchFamily="49" charset="0"/>
                        </a:rPr>
                        <a:t>∞</a:t>
                      </a:r>
                    </a:p>
                  </a:txBody>
                  <a:tcPr/>
                </a:tc>
                <a:tc>
                  <a:txBody>
                    <a:bodyPr/>
                    <a:lstStyle/>
                    <a:p>
                      <a:pPr algn="ctr"/>
                      <a:r>
                        <a:rPr lang="en-US" altLang="zh-CN" b="1">
                          <a:solidFill>
                            <a:srgbClr val="3333FF"/>
                          </a:solidFill>
                          <a:latin typeface="Consolas" pitchFamily="49" charset="0"/>
                          <a:cs typeface="Consolas" pitchFamily="49" charset="0"/>
                        </a:rPr>
                        <a:t>0</a:t>
                      </a:r>
                      <a:endParaRPr lang="zh-CN" altLang="en-US" b="1">
                        <a:solidFill>
                          <a:srgbClr val="3333FF"/>
                        </a:solidFill>
                        <a:latin typeface="Consolas" pitchFamily="49" charset="0"/>
                        <a:cs typeface="Consolas" pitchFamily="49" charset="0"/>
                      </a:endParaRPr>
                    </a:p>
                  </a:txBody>
                  <a:tcPr/>
                </a:tc>
                <a:tc>
                  <a:txBody>
                    <a:bodyPr/>
                    <a:lstStyle/>
                    <a:p>
                      <a:pPr algn="ctr"/>
                      <a:r>
                        <a:rPr lang="en-US" altLang="zh-CN" b="1">
                          <a:solidFill>
                            <a:srgbClr val="3333FF"/>
                          </a:solidFill>
                          <a:latin typeface="Consolas" pitchFamily="49" charset="0"/>
                          <a:cs typeface="Consolas" pitchFamily="49" charset="0"/>
                        </a:rPr>
                        <a:t>4</a:t>
                      </a:r>
                      <a:endParaRPr lang="zh-CN" altLang="en-US" b="1">
                        <a:solidFill>
                          <a:srgbClr val="3333FF"/>
                        </a:solidFill>
                        <a:latin typeface="Consolas" pitchFamily="49" charset="0"/>
                        <a:cs typeface="Consolas" pitchFamily="49" charset="0"/>
                      </a:endParaRPr>
                    </a:p>
                  </a:txBody>
                  <a:tcPr/>
                </a:tc>
                <a:tc>
                  <a:txBody>
                    <a:bodyPr/>
                    <a:lstStyle/>
                    <a:p>
                      <a:pPr algn="ctr"/>
                      <a:r>
                        <a:rPr lang="en-US" altLang="zh-CN" b="1">
                          <a:solidFill>
                            <a:srgbClr val="3333FF"/>
                          </a:solidFill>
                          <a:latin typeface="Consolas" pitchFamily="49" charset="0"/>
                          <a:cs typeface="Consolas" pitchFamily="49" charset="0"/>
                        </a:rPr>
                        <a:t>2</a:t>
                      </a:r>
                      <a:endParaRPr lang="zh-CN" altLang="en-US" b="1">
                        <a:solidFill>
                          <a:srgbClr val="3333FF"/>
                        </a:solidFill>
                        <a:latin typeface="Consolas" pitchFamily="49" charset="0"/>
                        <a:cs typeface="Consolas" pitchFamily="49" charset="0"/>
                      </a:endParaRPr>
                    </a:p>
                  </a:txBody>
                  <a:tcPr/>
                </a:tc>
                <a:extLst>
                  <a:ext uri="{0D108BD9-81ED-4DB2-BD59-A6C34878D82A}">
                    <a16:rowId xmlns:a16="http://schemas.microsoft.com/office/drawing/2014/main" val="10002"/>
                  </a:ext>
                </a:extLst>
              </a:tr>
              <a:tr h="370840">
                <a:tc>
                  <a:txBody>
                    <a:bodyPr/>
                    <a:lstStyle/>
                    <a:p>
                      <a:pPr algn="ctr"/>
                      <a:r>
                        <a:rPr lang="en-US" altLang="zh-CN" sz="1600" b="1">
                          <a:solidFill>
                            <a:srgbClr val="FF0000"/>
                          </a:solidFill>
                          <a:latin typeface="Consolas" pitchFamily="49" charset="0"/>
                          <a:cs typeface="Consolas" pitchFamily="49" charset="0"/>
                        </a:rPr>
                        <a:t>2</a:t>
                      </a:r>
                      <a:endParaRPr lang="zh-CN" altLang="en-US" sz="1600" b="1">
                        <a:solidFill>
                          <a:srgbClr val="FF0000"/>
                        </a:solidFill>
                        <a:latin typeface="Consolas" pitchFamily="49" charset="0"/>
                        <a:cs typeface="Consolas" pitchFamily="49" charset="0"/>
                      </a:endParaRPr>
                    </a:p>
                  </a:txBody>
                  <a:tcPr>
                    <a:solidFill>
                      <a:schemeClr val="tx2">
                        <a:lumMod val="40000"/>
                        <a:lumOff val="60000"/>
                      </a:schemeClr>
                    </a:solidFill>
                  </a:tcPr>
                </a:tc>
                <a:tc>
                  <a:txBody>
                    <a:bodyPr/>
                    <a:lstStyle/>
                    <a:p>
                      <a:pPr algn="ctr"/>
                      <a:r>
                        <a:rPr lang="en-US" altLang="zh-CN" b="1">
                          <a:solidFill>
                            <a:srgbClr val="3333FF"/>
                          </a:solidFill>
                          <a:latin typeface="Consolas" pitchFamily="49" charset="0"/>
                          <a:cs typeface="Consolas" pitchFamily="49" charset="0"/>
                        </a:rPr>
                        <a:t>3</a:t>
                      </a:r>
                      <a:endParaRPr lang="zh-CN" altLang="en-US" b="1">
                        <a:solidFill>
                          <a:srgbClr val="3333FF"/>
                        </a:solidFill>
                        <a:latin typeface="Consolas" pitchFamily="49" charset="0"/>
                        <a:cs typeface="Consolas" pitchFamily="49" charset="0"/>
                      </a:endParaRPr>
                    </a:p>
                  </a:txBody>
                  <a:tcPr/>
                </a:tc>
                <a:tc>
                  <a:txBody>
                    <a:bodyPr/>
                    <a:lstStyle/>
                    <a:p>
                      <a:pPr algn="ctr"/>
                      <a:r>
                        <a:rPr lang="en-US" altLang="zh-CN" b="1">
                          <a:solidFill>
                            <a:srgbClr val="3333FF"/>
                          </a:solidFill>
                          <a:latin typeface="Consolas" pitchFamily="49" charset="0"/>
                          <a:cs typeface="Consolas" pitchFamily="49" charset="0"/>
                        </a:rPr>
                        <a:t>3</a:t>
                      </a:r>
                      <a:endParaRPr lang="zh-CN" altLang="en-US" b="1">
                        <a:solidFill>
                          <a:srgbClr val="3333FF"/>
                        </a:solidFill>
                        <a:latin typeface="Consolas" pitchFamily="49" charset="0"/>
                        <a:cs typeface="Consolas" pitchFamily="49" charset="0"/>
                      </a:endParaRPr>
                    </a:p>
                  </a:txBody>
                  <a:tcPr/>
                </a:tc>
                <a:tc>
                  <a:txBody>
                    <a:bodyPr/>
                    <a:lstStyle/>
                    <a:p>
                      <a:pPr algn="ctr"/>
                      <a:r>
                        <a:rPr lang="en-US" altLang="zh-CN" b="1">
                          <a:solidFill>
                            <a:srgbClr val="3333FF"/>
                          </a:solidFill>
                          <a:latin typeface="Consolas" pitchFamily="49" charset="0"/>
                          <a:cs typeface="Consolas" pitchFamily="49" charset="0"/>
                        </a:rPr>
                        <a:t>0</a:t>
                      </a:r>
                      <a:endParaRPr lang="zh-CN" altLang="en-US" b="1">
                        <a:solidFill>
                          <a:srgbClr val="3333FF"/>
                        </a:solidFill>
                        <a:latin typeface="Consolas" pitchFamily="49" charset="0"/>
                        <a:cs typeface="Consolas" pitchFamily="49" charset="0"/>
                      </a:endParaRPr>
                    </a:p>
                  </a:txBody>
                  <a:tcPr/>
                </a:tc>
                <a:tc>
                  <a:txBody>
                    <a:bodyPr/>
                    <a:lstStyle/>
                    <a:p>
                      <a:pPr algn="ctr"/>
                      <a:r>
                        <a:rPr lang="en-US" altLang="zh-CN" b="1">
                          <a:solidFill>
                            <a:srgbClr val="3333FF"/>
                          </a:solidFill>
                          <a:latin typeface="Consolas" pitchFamily="49" charset="0"/>
                          <a:cs typeface="Consolas" pitchFamily="49" charset="0"/>
                        </a:rPr>
                        <a:t>2</a:t>
                      </a:r>
                      <a:endParaRPr lang="zh-CN" altLang="en-US" b="1">
                        <a:solidFill>
                          <a:srgbClr val="3333FF"/>
                        </a:solidFill>
                        <a:latin typeface="Consolas" pitchFamily="49" charset="0"/>
                        <a:cs typeface="Consolas" pitchFamily="49" charset="0"/>
                      </a:endParaRPr>
                    </a:p>
                  </a:txBody>
                  <a:tcPr/>
                </a:tc>
                <a:extLst>
                  <a:ext uri="{0D108BD9-81ED-4DB2-BD59-A6C34878D82A}">
                    <a16:rowId xmlns:a16="http://schemas.microsoft.com/office/drawing/2014/main" val="10003"/>
                  </a:ext>
                </a:extLst>
              </a:tr>
              <a:tr h="370840">
                <a:tc>
                  <a:txBody>
                    <a:bodyPr/>
                    <a:lstStyle/>
                    <a:p>
                      <a:pPr algn="ctr"/>
                      <a:r>
                        <a:rPr lang="en-US" altLang="zh-CN" sz="1600" b="1">
                          <a:solidFill>
                            <a:srgbClr val="FF0000"/>
                          </a:solidFill>
                          <a:latin typeface="Consolas" pitchFamily="49" charset="0"/>
                          <a:cs typeface="Consolas" pitchFamily="49" charset="0"/>
                        </a:rPr>
                        <a:t>3</a:t>
                      </a:r>
                      <a:endParaRPr lang="zh-CN" altLang="en-US" sz="1600" b="1">
                        <a:solidFill>
                          <a:srgbClr val="FF0000"/>
                        </a:solidFill>
                        <a:latin typeface="Consolas" pitchFamily="49" charset="0"/>
                        <a:cs typeface="Consolas" pitchFamily="49" charset="0"/>
                      </a:endParaRPr>
                    </a:p>
                  </a:txBody>
                  <a:tcPr>
                    <a:solidFill>
                      <a:schemeClr val="tx2">
                        <a:lumMod val="40000"/>
                        <a:lumOff val="6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b="1">
                          <a:solidFill>
                            <a:srgbClr val="3333FF"/>
                          </a:solidFill>
                          <a:latin typeface="Consolas" pitchFamily="49" charset="0"/>
                          <a:cs typeface="Consolas" pitchFamily="49" charset="0"/>
                        </a:rPr>
                        <a:t>∞</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b="1">
                          <a:solidFill>
                            <a:srgbClr val="3333FF"/>
                          </a:solidFill>
                          <a:latin typeface="Consolas" pitchFamily="49" charset="0"/>
                          <a:cs typeface="Consolas" pitchFamily="49" charset="0"/>
                        </a:rPr>
                        <a:t>∞</a:t>
                      </a:r>
                    </a:p>
                  </a:txBody>
                  <a:tcPr/>
                </a:tc>
                <a:tc>
                  <a:txBody>
                    <a:bodyPr/>
                    <a:lstStyle/>
                    <a:p>
                      <a:pPr algn="ctr"/>
                      <a:r>
                        <a:rPr lang="en-US" altLang="zh-CN" b="1">
                          <a:solidFill>
                            <a:srgbClr val="3333FF"/>
                          </a:solidFill>
                          <a:latin typeface="Consolas" pitchFamily="49" charset="0"/>
                          <a:cs typeface="Consolas" pitchFamily="49" charset="0"/>
                        </a:rPr>
                        <a:t>1</a:t>
                      </a:r>
                      <a:endParaRPr lang="zh-CN" altLang="en-US" b="1">
                        <a:solidFill>
                          <a:srgbClr val="3333FF"/>
                        </a:solidFill>
                        <a:latin typeface="Consolas" pitchFamily="49" charset="0"/>
                        <a:cs typeface="Consolas" pitchFamily="49" charset="0"/>
                      </a:endParaRPr>
                    </a:p>
                  </a:txBody>
                  <a:tcPr/>
                </a:tc>
                <a:tc>
                  <a:txBody>
                    <a:bodyPr/>
                    <a:lstStyle/>
                    <a:p>
                      <a:pPr algn="ctr"/>
                      <a:r>
                        <a:rPr lang="en-US" altLang="zh-CN" b="1">
                          <a:solidFill>
                            <a:srgbClr val="3333FF"/>
                          </a:solidFill>
                          <a:latin typeface="Consolas" pitchFamily="49" charset="0"/>
                          <a:cs typeface="Consolas" pitchFamily="49" charset="0"/>
                        </a:rPr>
                        <a:t>0</a:t>
                      </a:r>
                      <a:endParaRPr lang="zh-CN" altLang="en-US" b="1">
                        <a:solidFill>
                          <a:srgbClr val="3333FF"/>
                        </a:solidFill>
                        <a:latin typeface="Consolas" pitchFamily="49" charset="0"/>
                        <a:cs typeface="Consolas" pitchFamily="49" charset="0"/>
                      </a:endParaRPr>
                    </a:p>
                  </a:txBody>
                  <a:tcPr/>
                </a:tc>
                <a:extLst>
                  <a:ext uri="{0D108BD9-81ED-4DB2-BD59-A6C34878D82A}">
                    <a16:rowId xmlns:a16="http://schemas.microsoft.com/office/drawing/2014/main" val="10004"/>
                  </a:ext>
                </a:extLst>
              </a:tr>
            </a:tbl>
          </a:graphicData>
        </a:graphic>
      </p:graphicFrame>
      <p:sp>
        <p:nvSpPr>
          <p:cNvPr id="26" name="TextBox 125">
            <a:extLst>
              <a:ext uri="{FF2B5EF4-FFF2-40B4-BE49-F238E27FC236}">
                <a16:creationId xmlns:a16="http://schemas.microsoft.com/office/drawing/2014/main" id="{8F06564C-87F4-4293-741C-7520EEF4AE30}"/>
              </a:ext>
            </a:extLst>
          </p:cNvPr>
          <p:cNvSpPr txBox="1"/>
          <p:nvPr/>
        </p:nvSpPr>
        <p:spPr>
          <a:xfrm>
            <a:off x="8850730" y="3769660"/>
            <a:ext cx="1000133" cy="430887"/>
          </a:xfrm>
          <a:prstGeom prst="rect">
            <a:avLst/>
          </a:prstGeom>
          <a:noFill/>
        </p:spPr>
        <p:txBody>
          <a:bodyPr wrap="square" rtlCol="0">
            <a:spAutoFit/>
          </a:bodyPr>
          <a:lstStyle/>
          <a:p>
            <a:r>
              <a:rPr lang="en-US" altLang="zh-CN" sz="2200">
                <a:latin typeface="Consolas" pitchFamily="49" charset="0"/>
                <a:cs typeface="Consolas" pitchFamily="49" charset="0"/>
              </a:rPr>
              <a:t>path</a:t>
            </a:r>
            <a:r>
              <a:rPr lang="en-US" altLang="zh-CN" sz="2200" baseline="-25000">
                <a:latin typeface="Consolas" pitchFamily="49" charset="0"/>
                <a:cs typeface="Consolas" pitchFamily="49" charset="0"/>
              </a:rPr>
              <a:t>1</a:t>
            </a:r>
            <a:endParaRPr lang="zh-CN" altLang="en-US" sz="2200" baseline="-25000">
              <a:latin typeface="Consolas" pitchFamily="49" charset="0"/>
              <a:cs typeface="Consolas" pitchFamily="49" charset="0"/>
            </a:endParaRPr>
          </a:p>
        </p:txBody>
      </p:sp>
      <p:graphicFrame>
        <p:nvGraphicFramePr>
          <p:cNvPr id="27" name="表格 26">
            <a:extLst>
              <a:ext uri="{FF2B5EF4-FFF2-40B4-BE49-F238E27FC236}">
                <a16:creationId xmlns:a16="http://schemas.microsoft.com/office/drawing/2014/main" id="{A3257BE5-FC37-6BD4-A226-A3EC153BBC05}"/>
              </a:ext>
            </a:extLst>
          </p:cNvPr>
          <p:cNvGraphicFramePr>
            <a:graphicFrameLocks noGrp="1"/>
          </p:cNvGraphicFramePr>
          <p:nvPr>
            <p:extLst>
              <p:ext uri="{D42A27DB-BD31-4B8C-83A1-F6EECF244321}">
                <p14:modId xmlns:p14="http://schemas.microsoft.com/office/powerpoint/2010/main" val="2856594315"/>
              </p:ext>
            </p:extLst>
          </p:nvPr>
        </p:nvGraphicFramePr>
        <p:xfrm>
          <a:off x="7564847" y="4341164"/>
          <a:ext cx="3071835" cy="1854200"/>
        </p:xfrm>
        <a:graphic>
          <a:graphicData uri="http://schemas.openxmlformats.org/drawingml/2006/table">
            <a:tbl>
              <a:tblPr firstRow="1" bandRow="1">
                <a:tableStyleId>{E8B1032C-EA38-4F05-BA0D-38AFFFC7BED3}</a:tableStyleId>
              </a:tblPr>
              <a:tblGrid>
                <a:gridCol w="614367">
                  <a:extLst>
                    <a:ext uri="{9D8B030D-6E8A-4147-A177-3AD203B41FA5}">
                      <a16:colId xmlns:a16="http://schemas.microsoft.com/office/drawing/2014/main" val="20000"/>
                    </a:ext>
                  </a:extLst>
                </a:gridCol>
                <a:gridCol w="614367">
                  <a:extLst>
                    <a:ext uri="{9D8B030D-6E8A-4147-A177-3AD203B41FA5}">
                      <a16:colId xmlns:a16="http://schemas.microsoft.com/office/drawing/2014/main" val="20001"/>
                    </a:ext>
                  </a:extLst>
                </a:gridCol>
                <a:gridCol w="614367">
                  <a:extLst>
                    <a:ext uri="{9D8B030D-6E8A-4147-A177-3AD203B41FA5}">
                      <a16:colId xmlns:a16="http://schemas.microsoft.com/office/drawing/2014/main" val="20002"/>
                    </a:ext>
                  </a:extLst>
                </a:gridCol>
                <a:gridCol w="614367">
                  <a:extLst>
                    <a:ext uri="{9D8B030D-6E8A-4147-A177-3AD203B41FA5}">
                      <a16:colId xmlns:a16="http://schemas.microsoft.com/office/drawing/2014/main" val="20003"/>
                    </a:ext>
                  </a:extLst>
                </a:gridCol>
                <a:gridCol w="614367">
                  <a:extLst>
                    <a:ext uri="{9D8B030D-6E8A-4147-A177-3AD203B41FA5}">
                      <a16:colId xmlns:a16="http://schemas.microsoft.com/office/drawing/2014/main" val="20004"/>
                    </a:ext>
                  </a:extLst>
                </a:gridCol>
              </a:tblGrid>
              <a:tr h="370840">
                <a:tc>
                  <a:txBody>
                    <a:bodyPr/>
                    <a:lstStyle/>
                    <a:p>
                      <a:pPr algn="ctr"/>
                      <a:endParaRPr lang="zh-CN" altLang="en-US" b="1">
                        <a:solidFill>
                          <a:srgbClr val="3333FF"/>
                        </a:solidFill>
                        <a:latin typeface="Consolas" pitchFamily="49" charset="0"/>
                        <a:cs typeface="Consolas" pitchFamily="49" charset="0"/>
                      </a:endParaRPr>
                    </a:p>
                  </a:txBody>
                  <a:tcPr>
                    <a:solidFill>
                      <a:schemeClr val="tx2">
                        <a:lumMod val="40000"/>
                        <a:lumOff val="60000"/>
                      </a:schemeClr>
                    </a:solidFill>
                  </a:tcPr>
                </a:tc>
                <a:tc>
                  <a:txBody>
                    <a:bodyPr/>
                    <a:lstStyle/>
                    <a:p>
                      <a:pPr algn="ctr"/>
                      <a:r>
                        <a:rPr lang="en-US" altLang="zh-CN" sz="1600" b="1">
                          <a:solidFill>
                            <a:srgbClr val="FF0000"/>
                          </a:solidFill>
                          <a:latin typeface="Consolas" pitchFamily="49" charset="0"/>
                          <a:cs typeface="Consolas" pitchFamily="49" charset="0"/>
                        </a:rPr>
                        <a:t>0</a:t>
                      </a:r>
                      <a:endParaRPr lang="zh-CN" altLang="en-US" sz="1600" b="1">
                        <a:solidFill>
                          <a:srgbClr val="FF0000"/>
                        </a:solidFill>
                        <a:latin typeface="Consolas" pitchFamily="49" charset="0"/>
                        <a:cs typeface="Consolas" pitchFamily="49" charset="0"/>
                      </a:endParaRPr>
                    </a:p>
                  </a:txBody>
                  <a:tcPr>
                    <a:solidFill>
                      <a:schemeClr val="tx2">
                        <a:lumMod val="40000"/>
                        <a:lumOff val="60000"/>
                      </a:schemeClr>
                    </a:solidFill>
                  </a:tcPr>
                </a:tc>
                <a:tc>
                  <a:txBody>
                    <a:bodyPr/>
                    <a:lstStyle/>
                    <a:p>
                      <a:pPr algn="ctr"/>
                      <a:r>
                        <a:rPr lang="en-US" altLang="zh-CN" sz="1600" b="1">
                          <a:solidFill>
                            <a:srgbClr val="FF0000"/>
                          </a:solidFill>
                          <a:latin typeface="Consolas" pitchFamily="49" charset="0"/>
                          <a:cs typeface="Consolas" pitchFamily="49" charset="0"/>
                        </a:rPr>
                        <a:t>1</a:t>
                      </a:r>
                      <a:endParaRPr lang="zh-CN" altLang="en-US" sz="1600" b="1">
                        <a:solidFill>
                          <a:srgbClr val="FF0000"/>
                        </a:solidFill>
                        <a:latin typeface="Consolas" pitchFamily="49" charset="0"/>
                        <a:cs typeface="Consolas" pitchFamily="49" charset="0"/>
                      </a:endParaRPr>
                    </a:p>
                  </a:txBody>
                  <a:tcPr>
                    <a:solidFill>
                      <a:schemeClr val="tx2">
                        <a:lumMod val="40000"/>
                        <a:lumOff val="60000"/>
                      </a:schemeClr>
                    </a:solidFill>
                  </a:tcPr>
                </a:tc>
                <a:tc>
                  <a:txBody>
                    <a:bodyPr/>
                    <a:lstStyle/>
                    <a:p>
                      <a:pPr algn="ctr"/>
                      <a:r>
                        <a:rPr lang="en-US" altLang="zh-CN" sz="1600" b="1">
                          <a:solidFill>
                            <a:srgbClr val="FF0000"/>
                          </a:solidFill>
                          <a:latin typeface="Consolas" pitchFamily="49" charset="0"/>
                          <a:cs typeface="Consolas" pitchFamily="49" charset="0"/>
                        </a:rPr>
                        <a:t>2</a:t>
                      </a:r>
                      <a:endParaRPr lang="zh-CN" altLang="en-US" sz="1600" b="1">
                        <a:solidFill>
                          <a:srgbClr val="FF0000"/>
                        </a:solidFill>
                        <a:latin typeface="Consolas" pitchFamily="49" charset="0"/>
                        <a:cs typeface="Consolas" pitchFamily="49" charset="0"/>
                      </a:endParaRPr>
                    </a:p>
                  </a:txBody>
                  <a:tcPr>
                    <a:solidFill>
                      <a:schemeClr val="tx2">
                        <a:lumMod val="40000"/>
                        <a:lumOff val="60000"/>
                      </a:schemeClr>
                    </a:solidFill>
                  </a:tcPr>
                </a:tc>
                <a:tc>
                  <a:txBody>
                    <a:bodyPr/>
                    <a:lstStyle/>
                    <a:p>
                      <a:pPr algn="ctr"/>
                      <a:r>
                        <a:rPr lang="en-US" altLang="zh-CN" sz="1600" b="1">
                          <a:solidFill>
                            <a:srgbClr val="FF0000"/>
                          </a:solidFill>
                          <a:latin typeface="Consolas" pitchFamily="49" charset="0"/>
                          <a:cs typeface="Consolas" pitchFamily="49" charset="0"/>
                        </a:rPr>
                        <a:t>3</a:t>
                      </a:r>
                      <a:endParaRPr lang="zh-CN" altLang="en-US" sz="1600" b="1">
                        <a:solidFill>
                          <a:srgbClr val="FF0000"/>
                        </a:solidFill>
                        <a:latin typeface="Consolas" pitchFamily="49" charset="0"/>
                        <a:cs typeface="Consolas" pitchFamily="49" charset="0"/>
                      </a:endParaRPr>
                    </a:p>
                  </a:txBody>
                  <a:tcPr>
                    <a:solidFill>
                      <a:schemeClr val="tx2">
                        <a:lumMod val="40000"/>
                        <a:lumOff val="60000"/>
                      </a:schemeClr>
                    </a:solidFill>
                  </a:tcPr>
                </a:tc>
                <a:extLst>
                  <a:ext uri="{0D108BD9-81ED-4DB2-BD59-A6C34878D82A}">
                    <a16:rowId xmlns:a16="http://schemas.microsoft.com/office/drawing/2014/main" val="10000"/>
                  </a:ext>
                </a:extLst>
              </a:tr>
              <a:tr h="370840">
                <a:tc>
                  <a:txBody>
                    <a:bodyPr/>
                    <a:lstStyle/>
                    <a:p>
                      <a:pPr algn="ctr"/>
                      <a:r>
                        <a:rPr lang="en-US" altLang="zh-CN" sz="1600" b="1">
                          <a:solidFill>
                            <a:srgbClr val="FF0000"/>
                          </a:solidFill>
                          <a:latin typeface="Consolas" pitchFamily="49" charset="0"/>
                          <a:cs typeface="Consolas" pitchFamily="49" charset="0"/>
                        </a:rPr>
                        <a:t>0</a:t>
                      </a:r>
                      <a:endParaRPr lang="zh-CN" altLang="en-US" sz="1600" b="1">
                        <a:solidFill>
                          <a:srgbClr val="FF0000"/>
                        </a:solidFill>
                        <a:latin typeface="Consolas" pitchFamily="49" charset="0"/>
                        <a:cs typeface="Consolas" pitchFamily="49" charset="0"/>
                      </a:endParaRPr>
                    </a:p>
                  </a:txBody>
                  <a:tcPr>
                    <a:solidFill>
                      <a:schemeClr val="tx2">
                        <a:lumMod val="40000"/>
                        <a:lumOff val="60000"/>
                      </a:schemeClr>
                    </a:solidFill>
                  </a:tcPr>
                </a:tc>
                <a:tc>
                  <a:txBody>
                    <a:bodyPr/>
                    <a:lstStyle/>
                    <a:p>
                      <a:pPr algn="ctr"/>
                      <a:r>
                        <a:rPr lang="en-US" altLang="zh-CN" b="1">
                          <a:solidFill>
                            <a:srgbClr val="3333FF"/>
                          </a:solidFill>
                          <a:latin typeface="Consolas" pitchFamily="49" charset="0"/>
                          <a:ea typeface="+mj-ea"/>
                          <a:cs typeface="Consolas" pitchFamily="49" charset="0"/>
                        </a:rPr>
                        <a:t>-</a:t>
                      </a:r>
                      <a:r>
                        <a:rPr lang="en-US" altLang="zh-CN" b="1">
                          <a:solidFill>
                            <a:srgbClr val="3333FF"/>
                          </a:solidFill>
                          <a:latin typeface="Consolas" pitchFamily="49" charset="0"/>
                          <a:cs typeface="Consolas" pitchFamily="49" charset="0"/>
                        </a:rPr>
                        <a:t>1</a:t>
                      </a:r>
                      <a:endParaRPr lang="zh-CN" altLang="en-US" b="1">
                        <a:solidFill>
                          <a:srgbClr val="3333FF"/>
                        </a:solidFill>
                        <a:latin typeface="Consolas" pitchFamily="49" charset="0"/>
                        <a:cs typeface="Consolas" pitchFamily="49" charset="0"/>
                      </a:endParaRPr>
                    </a:p>
                  </a:txBody>
                  <a:tcPr/>
                </a:tc>
                <a:tc>
                  <a:txBody>
                    <a:bodyPr/>
                    <a:lstStyle/>
                    <a:p>
                      <a:pPr algn="ctr"/>
                      <a:r>
                        <a:rPr lang="en-US" altLang="zh-CN" b="1">
                          <a:solidFill>
                            <a:srgbClr val="3333FF"/>
                          </a:solidFill>
                          <a:latin typeface="Consolas" pitchFamily="49" charset="0"/>
                          <a:cs typeface="Consolas" pitchFamily="49" charset="0"/>
                        </a:rPr>
                        <a:t>0</a:t>
                      </a:r>
                      <a:endParaRPr lang="zh-CN" altLang="en-US" b="1">
                        <a:solidFill>
                          <a:srgbClr val="3333FF"/>
                        </a:solidFill>
                        <a:latin typeface="Consolas" pitchFamily="49" charset="0"/>
                        <a:cs typeface="Consolas" pitchFamily="49" charset="0"/>
                      </a:endParaRPr>
                    </a:p>
                  </a:txBody>
                  <a:tcPr/>
                </a:tc>
                <a:tc>
                  <a:txBody>
                    <a:bodyPr/>
                    <a:lstStyle/>
                    <a:p>
                      <a:pPr algn="ctr"/>
                      <a:r>
                        <a:rPr lang="en-US" altLang="zh-CN" b="1">
                          <a:solidFill>
                            <a:srgbClr val="3333FF"/>
                          </a:solidFill>
                          <a:latin typeface="Consolas" pitchFamily="49" charset="0"/>
                          <a:ea typeface="+mj-ea"/>
                          <a:cs typeface="Consolas" pitchFamily="49" charset="0"/>
                        </a:rPr>
                        <a:t>-</a:t>
                      </a:r>
                      <a:r>
                        <a:rPr lang="en-US" altLang="zh-CN" b="1">
                          <a:solidFill>
                            <a:srgbClr val="3333FF"/>
                          </a:solidFill>
                          <a:latin typeface="Consolas" pitchFamily="49" charset="0"/>
                          <a:cs typeface="Consolas" pitchFamily="49" charset="0"/>
                        </a:rPr>
                        <a:t>1</a:t>
                      </a:r>
                      <a:endParaRPr lang="zh-CN" altLang="en-US" b="1">
                        <a:solidFill>
                          <a:srgbClr val="3333FF"/>
                        </a:solidFill>
                        <a:latin typeface="Consolas" pitchFamily="49" charset="0"/>
                        <a:cs typeface="Consolas" pitchFamily="49" charset="0"/>
                      </a:endParaRPr>
                    </a:p>
                  </a:txBody>
                  <a:tcPr/>
                </a:tc>
                <a:tc>
                  <a:txBody>
                    <a:bodyPr/>
                    <a:lstStyle/>
                    <a:p>
                      <a:pPr algn="ctr"/>
                      <a:r>
                        <a:rPr lang="en-US" altLang="zh-CN" b="1">
                          <a:solidFill>
                            <a:srgbClr val="3333FF"/>
                          </a:solidFill>
                          <a:latin typeface="Consolas" pitchFamily="49" charset="0"/>
                          <a:cs typeface="Consolas" pitchFamily="49" charset="0"/>
                        </a:rPr>
                        <a:t>0</a:t>
                      </a:r>
                      <a:endParaRPr lang="zh-CN" altLang="en-US" b="1">
                        <a:solidFill>
                          <a:srgbClr val="3333FF"/>
                        </a:solidFill>
                        <a:latin typeface="Consolas" pitchFamily="49" charset="0"/>
                        <a:cs typeface="Consolas" pitchFamily="49" charset="0"/>
                      </a:endParaRPr>
                    </a:p>
                  </a:txBody>
                  <a:tcPr/>
                </a:tc>
                <a:extLst>
                  <a:ext uri="{0D108BD9-81ED-4DB2-BD59-A6C34878D82A}">
                    <a16:rowId xmlns:a16="http://schemas.microsoft.com/office/drawing/2014/main" val="10001"/>
                  </a:ext>
                </a:extLst>
              </a:tr>
              <a:tr h="370840">
                <a:tc>
                  <a:txBody>
                    <a:bodyPr/>
                    <a:lstStyle/>
                    <a:p>
                      <a:pPr algn="ctr"/>
                      <a:r>
                        <a:rPr lang="en-US" altLang="zh-CN" sz="1600" b="1">
                          <a:solidFill>
                            <a:srgbClr val="FF0000"/>
                          </a:solidFill>
                          <a:latin typeface="Consolas" pitchFamily="49" charset="0"/>
                          <a:cs typeface="Consolas" pitchFamily="49" charset="0"/>
                        </a:rPr>
                        <a:t>1</a:t>
                      </a:r>
                      <a:endParaRPr lang="zh-CN" altLang="en-US" sz="1600" b="1">
                        <a:solidFill>
                          <a:srgbClr val="FF0000"/>
                        </a:solidFill>
                        <a:latin typeface="Consolas" pitchFamily="49" charset="0"/>
                        <a:cs typeface="Consolas" pitchFamily="49" charset="0"/>
                      </a:endParaRPr>
                    </a:p>
                  </a:txBody>
                  <a:tcPr>
                    <a:solidFill>
                      <a:schemeClr val="tx2">
                        <a:lumMod val="40000"/>
                        <a:lumOff val="6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b="1">
                          <a:solidFill>
                            <a:srgbClr val="3333FF"/>
                          </a:solidFill>
                          <a:latin typeface="Consolas" pitchFamily="49" charset="0"/>
                          <a:ea typeface="+mj-ea"/>
                          <a:cs typeface="Consolas" pitchFamily="49" charset="0"/>
                        </a:rPr>
                        <a:t>-</a:t>
                      </a:r>
                      <a:r>
                        <a:rPr lang="en-US" altLang="zh-CN" b="1">
                          <a:solidFill>
                            <a:srgbClr val="3333FF"/>
                          </a:solidFill>
                          <a:latin typeface="Consolas" pitchFamily="49" charset="0"/>
                          <a:cs typeface="Consolas" pitchFamily="49" charset="0"/>
                        </a:rPr>
                        <a:t>1</a:t>
                      </a:r>
                      <a:endParaRPr lang="zh-CN" altLang="en-US" b="1">
                        <a:solidFill>
                          <a:srgbClr val="3333FF"/>
                        </a:solidFill>
                        <a:latin typeface="Consolas" pitchFamily="49" charset="0"/>
                        <a:cs typeface="Consolas" pitchFamily="49" charset="0"/>
                      </a:endParaRPr>
                    </a:p>
                  </a:txBody>
                  <a:tcPr/>
                </a:tc>
                <a:tc>
                  <a:txBody>
                    <a:bodyPr/>
                    <a:lstStyle/>
                    <a:p>
                      <a:pPr algn="ctr"/>
                      <a:r>
                        <a:rPr lang="en-US" altLang="zh-CN" b="1">
                          <a:solidFill>
                            <a:srgbClr val="3333FF"/>
                          </a:solidFill>
                          <a:latin typeface="Consolas" pitchFamily="49" charset="0"/>
                          <a:ea typeface="+mn-ea"/>
                          <a:cs typeface="Consolas" pitchFamily="49" charset="0"/>
                        </a:rPr>
                        <a:t>-</a:t>
                      </a:r>
                      <a:r>
                        <a:rPr lang="en-US" altLang="zh-CN" b="1">
                          <a:solidFill>
                            <a:srgbClr val="3333FF"/>
                          </a:solidFill>
                          <a:latin typeface="Consolas" pitchFamily="49" charset="0"/>
                          <a:cs typeface="Consolas" pitchFamily="49" charset="0"/>
                        </a:rPr>
                        <a:t>1</a:t>
                      </a:r>
                      <a:endParaRPr lang="zh-CN" altLang="en-US" b="1">
                        <a:solidFill>
                          <a:srgbClr val="3333FF"/>
                        </a:solidFill>
                        <a:latin typeface="Consolas" pitchFamily="49" charset="0"/>
                        <a:cs typeface="Consolas" pitchFamily="49" charset="0"/>
                      </a:endParaRPr>
                    </a:p>
                  </a:txBody>
                  <a:tcPr/>
                </a:tc>
                <a:tc>
                  <a:txBody>
                    <a:bodyPr/>
                    <a:lstStyle/>
                    <a:p>
                      <a:pPr algn="ctr"/>
                      <a:r>
                        <a:rPr lang="en-US" altLang="zh-CN" b="1">
                          <a:solidFill>
                            <a:srgbClr val="3333FF"/>
                          </a:solidFill>
                          <a:latin typeface="Consolas" pitchFamily="49" charset="0"/>
                          <a:cs typeface="Consolas" pitchFamily="49" charset="0"/>
                        </a:rPr>
                        <a:t>1</a:t>
                      </a:r>
                      <a:endParaRPr lang="zh-CN" altLang="en-US" b="1">
                        <a:solidFill>
                          <a:srgbClr val="3333FF"/>
                        </a:solidFill>
                        <a:latin typeface="Consolas" pitchFamily="49" charset="0"/>
                        <a:cs typeface="Consolas" pitchFamily="49" charset="0"/>
                      </a:endParaRPr>
                    </a:p>
                  </a:txBody>
                  <a:tcPr/>
                </a:tc>
                <a:tc>
                  <a:txBody>
                    <a:bodyPr/>
                    <a:lstStyle/>
                    <a:p>
                      <a:pPr algn="ctr"/>
                      <a:r>
                        <a:rPr lang="en-US" altLang="zh-CN" b="1">
                          <a:solidFill>
                            <a:srgbClr val="3333FF"/>
                          </a:solidFill>
                          <a:latin typeface="Consolas" pitchFamily="49" charset="0"/>
                          <a:cs typeface="Consolas" pitchFamily="49" charset="0"/>
                        </a:rPr>
                        <a:t>1</a:t>
                      </a:r>
                      <a:endParaRPr lang="zh-CN" altLang="en-US" b="1">
                        <a:solidFill>
                          <a:srgbClr val="3333FF"/>
                        </a:solidFill>
                        <a:latin typeface="Consolas" pitchFamily="49" charset="0"/>
                        <a:cs typeface="Consolas" pitchFamily="49" charset="0"/>
                      </a:endParaRPr>
                    </a:p>
                  </a:txBody>
                  <a:tcPr/>
                </a:tc>
                <a:extLst>
                  <a:ext uri="{0D108BD9-81ED-4DB2-BD59-A6C34878D82A}">
                    <a16:rowId xmlns:a16="http://schemas.microsoft.com/office/drawing/2014/main" val="10002"/>
                  </a:ext>
                </a:extLst>
              </a:tr>
              <a:tr h="370840">
                <a:tc>
                  <a:txBody>
                    <a:bodyPr/>
                    <a:lstStyle/>
                    <a:p>
                      <a:pPr algn="ctr"/>
                      <a:r>
                        <a:rPr lang="en-US" altLang="zh-CN" sz="1600" b="1">
                          <a:solidFill>
                            <a:srgbClr val="FF0000"/>
                          </a:solidFill>
                          <a:latin typeface="Consolas" pitchFamily="49" charset="0"/>
                          <a:cs typeface="Consolas" pitchFamily="49" charset="0"/>
                        </a:rPr>
                        <a:t>2</a:t>
                      </a:r>
                      <a:endParaRPr lang="zh-CN" altLang="en-US" sz="1600" b="1">
                        <a:solidFill>
                          <a:srgbClr val="FF0000"/>
                        </a:solidFill>
                        <a:latin typeface="Consolas" pitchFamily="49" charset="0"/>
                        <a:cs typeface="Consolas" pitchFamily="49" charset="0"/>
                      </a:endParaRPr>
                    </a:p>
                  </a:txBody>
                  <a:tcPr>
                    <a:solidFill>
                      <a:schemeClr val="tx2">
                        <a:lumMod val="40000"/>
                        <a:lumOff val="60000"/>
                      </a:schemeClr>
                    </a:solidFill>
                  </a:tcPr>
                </a:tc>
                <a:tc>
                  <a:txBody>
                    <a:bodyPr/>
                    <a:lstStyle/>
                    <a:p>
                      <a:pPr algn="ctr"/>
                      <a:r>
                        <a:rPr lang="en-US" altLang="zh-CN" b="1">
                          <a:solidFill>
                            <a:srgbClr val="3333FF"/>
                          </a:solidFill>
                          <a:latin typeface="Consolas" pitchFamily="49" charset="0"/>
                          <a:cs typeface="Consolas" pitchFamily="49" charset="0"/>
                        </a:rPr>
                        <a:t>2</a:t>
                      </a:r>
                      <a:endParaRPr lang="zh-CN" altLang="en-US" b="1">
                        <a:solidFill>
                          <a:srgbClr val="3333FF"/>
                        </a:solidFill>
                        <a:latin typeface="Consolas" pitchFamily="49" charset="0"/>
                        <a:cs typeface="Consolas" pitchFamily="49" charset="0"/>
                      </a:endParaRPr>
                    </a:p>
                  </a:txBody>
                  <a:tcPr/>
                </a:tc>
                <a:tc>
                  <a:txBody>
                    <a:bodyPr/>
                    <a:lstStyle/>
                    <a:p>
                      <a:pPr algn="ctr"/>
                      <a:r>
                        <a:rPr lang="en-US" altLang="zh-CN" b="1">
                          <a:solidFill>
                            <a:srgbClr val="3333FF"/>
                          </a:solidFill>
                          <a:latin typeface="Consolas" pitchFamily="49" charset="0"/>
                          <a:cs typeface="Consolas" pitchFamily="49" charset="0"/>
                        </a:rPr>
                        <a:t>2</a:t>
                      </a:r>
                      <a:endParaRPr lang="zh-CN" altLang="en-US" b="1">
                        <a:solidFill>
                          <a:srgbClr val="3333FF"/>
                        </a:solidFill>
                        <a:latin typeface="Consolas" pitchFamily="49" charset="0"/>
                        <a:cs typeface="Consolas" pitchFamily="49" charset="0"/>
                      </a:endParaRPr>
                    </a:p>
                  </a:txBody>
                  <a:tcPr/>
                </a:tc>
                <a:tc>
                  <a:txBody>
                    <a:bodyPr/>
                    <a:lstStyle/>
                    <a:p>
                      <a:pPr algn="ctr"/>
                      <a:r>
                        <a:rPr lang="en-US" altLang="zh-CN" b="1">
                          <a:solidFill>
                            <a:srgbClr val="3333FF"/>
                          </a:solidFill>
                          <a:latin typeface="Consolas" pitchFamily="49" charset="0"/>
                          <a:ea typeface="+mj-ea"/>
                          <a:cs typeface="Consolas" pitchFamily="49" charset="0"/>
                        </a:rPr>
                        <a:t>-</a:t>
                      </a:r>
                      <a:r>
                        <a:rPr lang="en-US" altLang="zh-CN" b="1">
                          <a:solidFill>
                            <a:srgbClr val="3333FF"/>
                          </a:solidFill>
                          <a:latin typeface="Consolas" pitchFamily="49" charset="0"/>
                          <a:cs typeface="Consolas" pitchFamily="49" charset="0"/>
                        </a:rPr>
                        <a:t>1</a:t>
                      </a:r>
                      <a:endParaRPr lang="zh-CN" altLang="en-US" b="1">
                        <a:solidFill>
                          <a:srgbClr val="3333FF"/>
                        </a:solidFill>
                        <a:latin typeface="Consolas" pitchFamily="49" charset="0"/>
                        <a:cs typeface="Consolas" pitchFamily="49" charset="0"/>
                      </a:endParaRPr>
                    </a:p>
                  </a:txBody>
                  <a:tcPr/>
                </a:tc>
                <a:tc>
                  <a:txBody>
                    <a:bodyPr/>
                    <a:lstStyle/>
                    <a:p>
                      <a:pPr algn="ctr"/>
                      <a:r>
                        <a:rPr lang="en-US" altLang="zh-CN" b="1">
                          <a:solidFill>
                            <a:srgbClr val="3333FF"/>
                          </a:solidFill>
                          <a:latin typeface="Consolas" pitchFamily="49" charset="0"/>
                          <a:cs typeface="Consolas" pitchFamily="49" charset="0"/>
                        </a:rPr>
                        <a:t>2</a:t>
                      </a:r>
                      <a:endParaRPr lang="zh-CN" altLang="en-US" b="1">
                        <a:solidFill>
                          <a:srgbClr val="3333FF"/>
                        </a:solidFill>
                        <a:latin typeface="Consolas" pitchFamily="49" charset="0"/>
                        <a:cs typeface="Consolas" pitchFamily="49" charset="0"/>
                      </a:endParaRPr>
                    </a:p>
                  </a:txBody>
                  <a:tcPr/>
                </a:tc>
                <a:extLst>
                  <a:ext uri="{0D108BD9-81ED-4DB2-BD59-A6C34878D82A}">
                    <a16:rowId xmlns:a16="http://schemas.microsoft.com/office/drawing/2014/main" val="10003"/>
                  </a:ext>
                </a:extLst>
              </a:tr>
              <a:tr h="370840">
                <a:tc>
                  <a:txBody>
                    <a:bodyPr/>
                    <a:lstStyle/>
                    <a:p>
                      <a:pPr algn="ctr"/>
                      <a:r>
                        <a:rPr lang="en-US" altLang="zh-CN" sz="1600" b="1">
                          <a:solidFill>
                            <a:srgbClr val="FF0000"/>
                          </a:solidFill>
                          <a:latin typeface="Consolas" pitchFamily="49" charset="0"/>
                          <a:cs typeface="Consolas" pitchFamily="49" charset="0"/>
                        </a:rPr>
                        <a:t>3</a:t>
                      </a:r>
                      <a:endParaRPr lang="zh-CN" altLang="en-US" sz="1600" b="1">
                        <a:solidFill>
                          <a:srgbClr val="FF0000"/>
                        </a:solidFill>
                        <a:latin typeface="Consolas" pitchFamily="49" charset="0"/>
                        <a:cs typeface="Consolas" pitchFamily="49" charset="0"/>
                      </a:endParaRPr>
                    </a:p>
                  </a:txBody>
                  <a:tcPr>
                    <a:solidFill>
                      <a:schemeClr val="tx2">
                        <a:lumMod val="40000"/>
                        <a:lumOff val="6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b="1">
                          <a:solidFill>
                            <a:srgbClr val="3333FF"/>
                          </a:solidFill>
                          <a:latin typeface="Consolas" pitchFamily="49" charset="0"/>
                          <a:ea typeface="+mn-ea"/>
                          <a:cs typeface="Consolas" pitchFamily="49" charset="0"/>
                        </a:rPr>
                        <a:t>-</a:t>
                      </a:r>
                      <a:r>
                        <a:rPr lang="en-US" altLang="zh-CN" b="1">
                          <a:solidFill>
                            <a:srgbClr val="3333FF"/>
                          </a:solidFill>
                          <a:latin typeface="Consolas" pitchFamily="49" charset="0"/>
                          <a:cs typeface="Consolas" pitchFamily="49" charset="0"/>
                        </a:rPr>
                        <a:t>1</a:t>
                      </a:r>
                      <a:endParaRPr lang="zh-CN" altLang="en-US" b="1">
                        <a:solidFill>
                          <a:srgbClr val="3333FF"/>
                        </a:solidFill>
                        <a:latin typeface="Consolas" pitchFamily="49" charset="0"/>
                        <a:cs typeface="Consolas"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b="1">
                          <a:solidFill>
                            <a:srgbClr val="3333FF"/>
                          </a:solidFill>
                          <a:latin typeface="Consolas" pitchFamily="49" charset="0"/>
                          <a:ea typeface="+mn-ea"/>
                          <a:cs typeface="Consolas" pitchFamily="49" charset="0"/>
                        </a:rPr>
                        <a:t>-</a:t>
                      </a:r>
                      <a:r>
                        <a:rPr lang="en-US" altLang="zh-CN" b="1">
                          <a:solidFill>
                            <a:srgbClr val="3333FF"/>
                          </a:solidFill>
                          <a:latin typeface="Consolas" pitchFamily="49" charset="0"/>
                          <a:cs typeface="Consolas" pitchFamily="49" charset="0"/>
                        </a:rPr>
                        <a:t>1</a:t>
                      </a:r>
                      <a:endParaRPr lang="zh-CN" altLang="en-US" b="1">
                        <a:solidFill>
                          <a:srgbClr val="3333FF"/>
                        </a:solidFill>
                        <a:latin typeface="Consolas" pitchFamily="49" charset="0"/>
                        <a:cs typeface="Consolas" pitchFamily="49" charset="0"/>
                      </a:endParaRPr>
                    </a:p>
                  </a:txBody>
                  <a:tcPr/>
                </a:tc>
                <a:tc>
                  <a:txBody>
                    <a:bodyPr/>
                    <a:lstStyle/>
                    <a:p>
                      <a:pPr algn="ctr"/>
                      <a:r>
                        <a:rPr lang="en-US" altLang="zh-CN" b="1">
                          <a:solidFill>
                            <a:srgbClr val="3333FF"/>
                          </a:solidFill>
                          <a:latin typeface="Consolas" pitchFamily="49" charset="0"/>
                          <a:cs typeface="Consolas" pitchFamily="49" charset="0"/>
                        </a:rPr>
                        <a:t>3</a:t>
                      </a:r>
                      <a:endParaRPr lang="zh-CN" altLang="en-US" b="1">
                        <a:solidFill>
                          <a:srgbClr val="3333FF"/>
                        </a:solidFill>
                        <a:latin typeface="Consolas" pitchFamily="49" charset="0"/>
                        <a:cs typeface="Consolas" pitchFamily="49" charset="0"/>
                      </a:endParaRPr>
                    </a:p>
                  </a:txBody>
                  <a:tcPr/>
                </a:tc>
                <a:tc>
                  <a:txBody>
                    <a:bodyPr/>
                    <a:lstStyle/>
                    <a:p>
                      <a:pPr algn="ctr"/>
                      <a:r>
                        <a:rPr lang="en-US" altLang="zh-CN" b="1">
                          <a:solidFill>
                            <a:srgbClr val="3333FF"/>
                          </a:solidFill>
                          <a:latin typeface="Consolas" pitchFamily="49" charset="0"/>
                          <a:ea typeface="+mn-ea"/>
                          <a:cs typeface="Consolas" pitchFamily="49" charset="0"/>
                        </a:rPr>
                        <a:t>-</a:t>
                      </a:r>
                      <a:r>
                        <a:rPr lang="en-US" altLang="zh-CN" b="1">
                          <a:solidFill>
                            <a:srgbClr val="3333FF"/>
                          </a:solidFill>
                          <a:latin typeface="Consolas" pitchFamily="49" charset="0"/>
                          <a:cs typeface="Consolas" pitchFamily="49" charset="0"/>
                        </a:rPr>
                        <a:t>1</a:t>
                      </a:r>
                      <a:endParaRPr lang="zh-CN" altLang="en-US" b="1">
                        <a:solidFill>
                          <a:srgbClr val="3333FF"/>
                        </a:solidFill>
                        <a:latin typeface="Consolas" pitchFamily="49" charset="0"/>
                        <a:cs typeface="Consolas" pitchFamily="49" charset="0"/>
                      </a:endParaRPr>
                    </a:p>
                  </a:txBody>
                  <a:tcPr/>
                </a:tc>
                <a:extLst>
                  <a:ext uri="{0D108BD9-81ED-4DB2-BD59-A6C34878D82A}">
                    <a16:rowId xmlns:a16="http://schemas.microsoft.com/office/drawing/2014/main" val="10004"/>
                  </a:ext>
                </a:extLst>
              </a:tr>
            </a:tbl>
          </a:graphicData>
        </a:graphic>
      </p:graphicFrame>
      <p:sp>
        <p:nvSpPr>
          <p:cNvPr id="28" name="Text Box 116">
            <a:extLst>
              <a:ext uri="{FF2B5EF4-FFF2-40B4-BE49-F238E27FC236}">
                <a16:creationId xmlns:a16="http://schemas.microsoft.com/office/drawing/2014/main" id="{C8443205-7DB6-BE6A-3F49-532897F7C17F}"/>
              </a:ext>
            </a:extLst>
          </p:cNvPr>
          <p:cNvSpPr txBox="1">
            <a:spLocks noChangeArrowheads="1"/>
          </p:cNvSpPr>
          <p:nvPr/>
        </p:nvSpPr>
        <p:spPr bwMode="auto">
          <a:xfrm>
            <a:off x="5315375" y="1419829"/>
            <a:ext cx="2035159" cy="492443"/>
          </a:xfrm>
          <a:prstGeom prst="rect">
            <a:avLst/>
          </a:prstGeom>
          <a:noFill/>
          <a:ln w="28575" algn="ctr">
            <a:noFill/>
            <a:miter lim="800000"/>
            <a:headEnd/>
            <a:tailEnd/>
          </a:ln>
          <a:effectLst/>
        </p:spPr>
        <p:txBody>
          <a:bodyPr wrap="square" lIns="0" tIns="0" rIns="0" bIns="0">
            <a:spAutoFit/>
          </a:bodyPr>
          <a:lstStyle/>
          <a:p>
            <a:r>
              <a:rPr lang="zh-CN" altLang="en-US" sz="1800">
                <a:latin typeface="Consolas" pitchFamily="49" charset="0"/>
                <a:ea typeface="楷体" pitchFamily="49" charset="-122"/>
                <a:cs typeface="Consolas" pitchFamily="49" charset="0"/>
              </a:rPr>
              <a:t>考虑顶点</a:t>
            </a:r>
            <a:r>
              <a:rPr lang="en-US" altLang="zh-CN" sz="3200">
                <a:solidFill>
                  <a:srgbClr val="FF0000"/>
                </a:solidFill>
                <a:latin typeface="Consolas" pitchFamily="49" charset="0"/>
                <a:ea typeface="楷体" pitchFamily="49" charset="-122"/>
                <a:cs typeface="Consolas" pitchFamily="49" charset="0"/>
              </a:rPr>
              <a:t>1</a:t>
            </a:r>
            <a:r>
              <a:rPr lang="zh-CN" altLang="en-US">
                <a:solidFill>
                  <a:srgbClr val="FF0000"/>
                </a:solidFill>
                <a:latin typeface="Consolas" pitchFamily="49" charset="0"/>
                <a:ea typeface="楷体" pitchFamily="49" charset="-122"/>
                <a:cs typeface="Consolas" pitchFamily="49" charset="0"/>
              </a:rPr>
              <a:t>：</a:t>
            </a:r>
            <a:endParaRPr lang="zh-CN" altLang="en-US" sz="2000" dirty="0">
              <a:latin typeface="Consolas" pitchFamily="49" charset="0"/>
              <a:ea typeface="楷体" pitchFamily="49" charset="-122"/>
              <a:cs typeface="Consolas" pitchFamily="49" charset="0"/>
            </a:endParaRPr>
          </a:p>
        </p:txBody>
      </p:sp>
      <p:sp>
        <p:nvSpPr>
          <p:cNvPr id="29" name="Text Box 90">
            <a:extLst>
              <a:ext uri="{FF2B5EF4-FFF2-40B4-BE49-F238E27FC236}">
                <a16:creationId xmlns:a16="http://schemas.microsoft.com/office/drawing/2014/main" id="{3CC9EFE1-5DFB-C8D2-716B-BEDFA95FF87C}"/>
              </a:ext>
            </a:extLst>
          </p:cNvPr>
          <p:cNvSpPr txBox="1">
            <a:spLocks noChangeArrowheads="1"/>
          </p:cNvSpPr>
          <p:nvPr/>
        </p:nvSpPr>
        <p:spPr bwMode="auto">
          <a:xfrm>
            <a:off x="5448702" y="2055148"/>
            <a:ext cx="5045104" cy="553998"/>
          </a:xfrm>
          <a:prstGeom prst="rect">
            <a:avLst/>
          </a:prstGeom>
          <a:noFill/>
          <a:ln w="28575" algn="ctr">
            <a:noFill/>
            <a:miter lim="800000"/>
            <a:headEnd/>
            <a:tailEnd/>
          </a:ln>
          <a:effectLst/>
        </p:spPr>
        <p:txBody>
          <a:bodyPr wrap="square" lIns="0" tIns="0" rIns="0" bIns="0">
            <a:spAutoFit/>
          </a:bodyPr>
          <a:lstStyle/>
          <a:p>
            <a:pPr marL="457200" indent="-457200">
              <a:buBlip>
                <a:blip r:embed="rId2"/>
              </a:buBlip>
            </a:pPr>
            <a:r>
              <a:rPr lang="en-US" altLang="zh-CN" sz="1800" dirty="0">
                <a:latin typeface="Consolas" pitchFamily="49" charset="0"/>
                <a:ea typeface="仿宋" pitchFamily="49" charset="-122"/>
                <a:cs typeface="Consolas" pitchFamily="49" charset="0"/>
              </a:rPr>
              <a:t>0→2</a:t>
            </a:r>
            <a:r>
              <a:rPr lang="zh-CN" altLang="en-US" sz="1800" dirty="0">
                <a:latin typeface="Consolas" pitchFamily="49" charset="0"/>
                <a:ea typeface="仿宋" pitchFamily="49" charset="-122"/>
                <a:cs typeface="Consolas" pitchFamily="49" charset="0"/>
              </a:rPr>
              <a:t>：由无路径改为</a:t>
            </a:r>
            <a:r>
              <a:rPr lang="en-US" altLang="zh-CN" sz="1800" dirty="0">
                <a:latin typeface="Consolas" pitchFamily="49" charset="0"/>
                <a:ea typeface="仿宋" pitchFamily="49" charset="-122"/>
                <a:cs typeface="Consolas" pitchFamily="49" charset="0"/>
              </a:rPr>
              <a:t>0</a:t>
            </a:r>
            <a:r>
              <a:rPr lang="en-US" altLang="zh-CN" sz="1800">
                <a:latin typeface="Consolas" pitchFamily="49" charset="0"/>
                <a:ea typeface="仿宋" pitchFamily="49" charset="-122"/>
                <a:cs typeface="Consolas" pitchFamily="49" charset="0"/>
              </a:rPr>
              <a:t>→</a:t>
            </a:r>
            <a:r>
              <a:rPr lang="en-US" altLang="zh-CN" sz="1800">
                <a:solidFill>
                  <a:srgbClr val="FF00FF"/>
                </a:solidFill>
                <a:latin typeface="Consolas" pitchFamily="49" charset="0"/>
                <a:ea typeface="仿宋" pitchFamily="49" charset="-122"/>
                <a:cs typeface="Consolas" pitchFamily="49" charset="0"/>
              </a:rPr>
              <a:t>1</a:t>
            </a:r>
            <a:r>
              <a:rPr lang="en-US" altLang="zh-CN" sz="1800">
                <a:latin typeface="Consolas" pitchFamily="49" charset="0"/>
                <a:ea typeface="仿宋" pitchFamily="49" charset="-122"/>
                <a:cs typeface="Consolas" pitchFamily="49" charset="0"/>
              </a:rPr>
              <a:t>→2</a:t>
            </a:r>
            <a:r>
              <a:rPr lang="zh-CN" altLang="en-US" sz="1800">
                <a:latin typeface="Consolas" pitchFamily="49" charset="0"/>
                <a:ea typeface="仿宋" pitchFamily="49" charset="-122"/>
                <a:cs typeface="Consolas" pitchFamily="49" charset="0"/>
              </a:rPr>
              <a:t>，长度为</a:t>
            </a:r>
            <a:r>
              <a:rPr lang="en-US" altLang="zh-CN" sz="1800">
                <a:solidFill>
                  <a:srgbClr val="FF0000"/>
                </a:solidFill>
                <a:latin typeface="Consolas" pitchFamily="49" charset="0"/>
                <a:ea typeface="仿宋" pitchFamily="49" charset="-122"/>
                <a:cs typeface="Consolas" pitchFamily="49" charset="0"/>
              </a:rPr>
              <a:t>9</a:t>
            </a:r>
            <a:r>
              <a:rPr lang="zh-CN" altLang="en-US" sz="1800">
                <a:latin typeface="Consolas" pitchFamily="49" charset="0"/>
                <a:ea typeface="仿宋" pitchFamily="49" charset="-122"/>
                <a:cs typeface="Consolas" pitchFamily="49" charset="0"/>
              </a:rPr>
              <a:t>，</a:t>
            </a:r>
            <a:r>
              <a:rPr lang="en-US" altLang="zh-CN" sz="1800">
                <a:latin typeface="Consolas" pitchFamily="49" charset="0"/>
                <a:ea typeface="仿宋" pitchFamily="49" charset="-122"/>
                <a:cs typeface="Consolas" pitchFamily="49" charset="0"/>
              </a:rPr>
              <a:t>path[0</a:t>
            </a:r>
            <a:r>
              <a:rPr lang="en-US" altLang="zh-CN" sz="1800" dirty="0">
                <a:latin typeface="Consolas" pitchFamily="49" charset="0"/>
                <a:ea typeface="仿宋" pitchFamily="49" charset="-122"/>
                <a:cs typeface="Consolas" pitchFamily="49" charset="0"/>
              </a:rPr>
              <a:t>][2]</a:t>
            </a:r>
            <a:r>
              <a:rPr lang="zh-CN" altLang="en-US" sz="1800" dirty="0">
                <a:latin typeface="Consolas" pitchFamily="49" charset="0"/>
                <a:ea typeface="仿宋" pitchFamily="49" charset="-122"/>
                <a:cs typeface="Consolas" pitchFamily="49" charset="0"/>
              </a:rPr>
              <a:t>改为</a:t>
            </a:r>
            <a:r>
              <a:rPr lang="en-US" altLang="zh-CN" sz="1800" dirty="0">
                <a:solidFill>
                  <a:srgbClr val="FF0000"/>
                </a:solidFill>
                <a:latin typeface="Consolas" pitchFamily="49" charset="0"/>
                <a:ea typeface="仿宋" pitchFamily="49" charset="-122"/>
                <a:cs typeface="Consolas" pitchFamily="49" charset="0"/>
              </a:rPr>
              <a:t>1</a:t>
            </a:r>
          </a:p>
        </p:txBody>
      </p:sp>
      <p:sp>
        <p:nvSpPr>
          <p:cNvPr id="30" name="TextBox 60">
            <a:extLst>
              <a:ext uri="{FF2B5EF4-FFF2-40B4-BE49-F238E27FC236}">
                <a16:creationId xmlns:a16="http://schemas.microsoft.com/office/drawing/2014/main" id="{74739E5D-4512-0EBD-3D56-9CC909722643}"/>
              </a:ext>
            </a:extLst>
          </p:cNvPr>
          <p:cNvSpPr txBox="1"/>
          <p:nvPr/>
        </p:nvSpPr>
        <p:spPr>
          <a:xfrm>
            <a:off x="4266000" y="4728817"/>
            <a:ext cx="468000" cy="369332"/>
          </a:xfrm>
          <a:prstGeom prst="rect">
            <a:avLst/>
          </a:prstGeom>
        </p:spPr>
        <p:style>
          <a:lnRef idx="1">
            <a:schemeClr val="accent2"/>
          </a:lnRef>
          <a:fillRef idx="2">
            <a:schemeClr val="accent2"/>
          </a:fillRef>
          <a:effectRef idx="1">
            <a:schemeClr val="accent2"/>
          </a:effectRef>
          <a:fontRef idx="minor">
            <a:schemeClr val="dk1"/>
          </a:fontRef>
        </p:style>
        <p:txBody>
          <a:bodyPr wrap="square" lIns="0" tIns="0" rIns="0" bIns="0" rtlCol="0">
            <a:spAutoFit/>
          </a:bodyPr>
          <a:lstStyle/>
          <a:p>
            <a:pPr algn="ctr"/>
            <a:r>
              <a:rPr lang="en-US" altLang="zh-CN">
                <a:solidFill>
                  <a:srgbClr val="FF0000"/>
                </a:solidFill>
                <a:latin typeface="Consolas" pitchFamily="49" charset="0"/>
                <a:ea typeface="楷体" pitchFamily="49" charset="-122"/>
                <a:cs typeface="Consolas" pitchFamily="49" charset="0"/>
              </a:rPr>
              <a:t>9</a:t>
            </a:r>
            <a:endParaRPr lang="zh-CN" altLang="en-US">
              <a:solidFill>
                <a:srgbClr val="FF0000"/>
              </a:solidFill>
              <a:latin typeface="Consolas" pitchFamily="49" charset="0"/>
              <a:ea typeface="楷体" pitchFamily="49" charset="-122"/>
              <a:cs typeface="Consolas" pitchFamily="49" charset="0"/>
            </a:endParaRPr>
          </a:p>
        </p:txBody>
      </p:sp>
      <p:sp>
        <p:nvSpPr>
          <p:cNvPr id="31" name="矩形 30">
            <a:extLst>
              <a:ext uri="{FF2B5EF4-FFF2-40B4-BE49-F238E27FC236}">
                <a16:creationId xmlns:a16="http://schemas.microsoft.com/office/drawing/2014/main" id="{7EB4E757-FAD5-CF57-5174-B45071322B35}"/>
              </a:ext>
            </a:extLst>
          </p:cNvPr>
          <p:cNvSpPr/>
          <p:nvPr/>
        </p:nvSpPr>
        <p:spPr>
          <a:xfrm>
            <a:off x="9565112" y="4712021"/>
            <a:ext cx="285752" cy="369332"/>
          </a:xfrm>
          <a:prstGeom prst="rect">
            <a:avLst/>
          </a:prstGeom>
        </p:spPr>
        <p:style>
          <a:lnRef idx="1">
            <a:schemeClr val="accent2"/>
          </a:lnRef>
          <a:fillRef idx="2">
            <a:schemeClr val="accent2"/>
          </a:fillRef>
          <a:effectRef idx="1">
            <a:schemeClr val="accent2"/>
          </a:effectRef>
          <a:fontRef idx="minor">
            <a:schemeClr val="dk1"/>
          </a:fontRef>
        </p:style>
        <p:txBody>
          <a:bodyPr wrap="square" lIns="0" tIns="0" rIns="0" bIns="0">
            <a:spAutoFit/>
          </a:bodyPr>
          <a:lstStyle/>
          <a:p>
            <a:pPr algn="ctr"/>
            <a:r>
              <a:rPr lang="en-US" altLang="zh-CN">
                <a:solidFill>
                  <a:srgbClr val="FF0000"/>
                </a:solidFill>
                <a:latin typeface="Consolas" pitchFamily="49" charset="0"/>
                <a:ea typeface="楷体" pitchFamily="49" charset="-122"/>
                <a:cs typeface="Consolas" pitchFamily="49" charset="0"/>
              </a:rPr>
              <a:t>1</a:t>
            </a:r>
            <a:endParaRPr lang="zh-CN" altLang="en-US">
              <a:solidFill>
                <a:srgbClr val="FF0000"/>
              </a:solidFill>
              <a:latin typeface="Consolas" pitchFamily="49" charset="0"/>
              <a:ea typeface="楷体" pitchFamily="49" charset="-122"/>
              <a:cs typeface="Consolas" pitchFamily="49" charset="0"/>
            </a:endParaRPr>
          </a:p>
        </p:txBody>
      </p:sp>
      <p:sp>
        <p:nvSpPr>
          <p:cNvPr id="32" name="下箭头 62">
            <a:extLst>
              <a:ext uri="{FF2B5EF4-FFF2-40B4-BE49-F238E27FC236}">
                <a16:creationId xmlns:a16="http://schemas.microsoft.com/office/drawing/2014/main" id="{AF6CFD2A-96FC-79E3-D7A5-6D6AD68F0B1E}"/>
              </a:ext>
            </a:extLst>
          </p:cNvPr>
          <p:cNvSpPr/>
          <p:nvPr/>
        </p:nvSpPr>
        <p:spPr>
          <a:xfrm>
            <a:off x="6564716" y="2983842"/>
            <a:ext cx="214314" cy="642942"/>
          </a:xfrm>
          <a:prstGeom prst="downArrow">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zh-CN" altLang="en-US">
              <a:latin typeface="Consolas" pitchFamily="49" charset="0"/>
              <a:cs typeface="Consolas" pitchFamily="49" charset="0"/>
            </a:endParaRPr>
          </a:p>
        </p:txBody>
      </p:sp>
    </p:spTree>
    <p:extLst>
      <p:ext uri="{BB962C8B-B14F-4D97-AF65-F5344CB8AC3E}">
        <p14:creationId xmlns:p14="http://schemas.microsoft.com/office/powerpoint/2010/main" val="225587355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6" grpId="0"/>
      <p:bldP spid="28" grpId="0"/>
      <p:bldP spid="29" grpId="0"/>
      <p:bldP spid="30" grpId="0" animBg="1"/>
      <p:bldP spid="31" grpId="0" animBg="1"/>
      <p:bldP spid="32" grpId="0" animBg="1"/>
    </p:bld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D5DBD9-003D-2799-1DF9-A2488EE08B1D}"/>
            </a:ext>
          </a:extLst>
        </p:cNvPr>
        <p:cNvGrpSpPr/>
        <p:nvPr/>
      </p:nvGrpSpPr>
      <p:grpSpPr>
        <a:xfrm>
          <a:off x="0" y="0"/>
          <a:ext cx="0" cy="0"/>
          <a:chOff x="0" y="0"/>
          <a:chExt cx="0" cy="0"/>
        </a:xfrm>
      </p:grpSpPr>
      <p:sp>
        <p:nvSpPr>
          <p:cNvPr id="2" name="Text Box 140">
            <a:extLst>
              <a:ext uri="{FF2B5EF4-FFF2-40B4-BE49-F238E27FC236}">
                <a16:creationId xmlns:a16="http://schemas.microsoft.com/office/drawing/2014/main" id="{1CEFA961-8FFE-C0ED-077D-76858AD0BFB0}"/>
              </a:ext>
            </a:extLst>
          </p:cNvPr>
          <p:cNvSpPr txBox="1">
            <a:spLocks noChangeArrowheads="1"/>
          </p:cNvSpPr>
          <p:nvPr/>
        </p:nvSpPr>
        <p:spPr bwMode="auto">
          <a:xfrm>
            <a:off x="2208708" y="865212"/>
            <a:ext cx="3319456" cy="422405"/>
          </a:xfrm>
          <a:prstGeom prst="rect">
            <a:avLst/>
          </a:prstGeom>
          <a:solidFill>
            <a:srgbClr val="339933"/>
          </a:solidFill>
          <a:ln w="28575" algn="ctr">
            <a:noFill/>
            <a:miter lim="800000"/>
            <a:headEnd/>
            <a:tailEnd/>
          </a:ln>
          <a:effectLst/>
        </p:spPr>
        <p:txBody>
          <a:bodyPr wrap="square" lIns="0" tIns="72000" rIns="0" bIns="72000">
            <a:spAutoFit/>
          </a:bodyPr>
          <a:lstStyle/>
          <a:p>
            <a:pPr algn="ctr"/>
            <a:r>
              <a:rPr lang="en-US" altLang="zh-CN" sz="1800" dirty="0">
                <a:solidFill>
                  <a:schemeClr val="bg1"/>
                </a:solidFill>
                <a:latin typeface="Consolas" pitchFamily="49" charset="0"/>
                <a:ea typeface="华文中宋" pitchFamily="2" charset="-122"/>
                <a:cs typeface="Consolas" pitchFamily="49" charset="0"/>
              </a:rPr>
              <a:t>Floyd</a:t>
            </a:r>
            <a:r>
              <a:rPr lang="zh-CN" altLang="en-US" sz="1800" dirty="0">
                <a:solidFill>
                  <a:schemeClr val="bg1"/>
                </a:solidFill>
                <a:latin typeface="Consolas" pitchFamily="49" charset="0"/>
                <a:ea typeface="华文中宋" pitchFamily="2" charset="-122"/>
                <a:cs typeface="Consolas" pitchFamily="49" charset="0"/>
              </a:rPr>
              <a:t>算法示例演示</a:t>
            </a:r>
          </a:p>
        </p:txBody>
      </p:sp>
      <p:grpSp>
        <p:nvGrpSpPr>
          <p:cNvPr id="3" name="组合 38">
            <a:extLst>
              <a:ext uri="{FF2B5EF4-FFF2-40B4-BE49-F238E27FC236}">
                <a16:creationId xmlns:a16="http://schemas.microsoft.com/office/drawing/2014/main" id="{A5F7AE64-8030-A356-160E-4057EC237BD6}"/>
              </a:ext>
            </a:extLst>
          </p:cNvPr>
          <p:cNvGrpSpPr/>
          <p:nvPr/>
        </p:nvGrpSpPr>
        <p:grpSpPr>
          <a:xfrm>
            <a:off x="2137270" y="1436716"/>
            <a:ext cx="2736850" cy="2194847"/>
            <a:chOff x="285720" y="714356"/>
            <a:chExt cx="2736850" cy="2194847"/>
          </a:xfrm>
        </p:grpSpPr>
        <p:sp>
          <p:nvSpPr>
            <p:cNvPr id="4" name="Oval 9">
              <a:extLst>
                <a:ext uri="{FF2B5EF4-FFF2-40B4-BE49-F238E27FC236}">
                  <a16:creationId xmlns:a16="http://schemas.microsoft.com/office/drawing/2014/main" id="{333F5B4A-9CE4-5E48-7E0F-144A2468CF4D}"/>
                </a:ext>
              </a:extLst>
            </p:cNvPr>
            <p:cNvSpPr>
              <a:spLocks noChangeArrowheads="1"/>
            </p:cNvSpPr>
            <p:nvPr/>
          </p:nvSpPr>
          <p:spPr bwMode="auto">
            <a:xfrm>
              <a:off x="501620" y="936606"/>
              <a:ext cx="360363" cy="360363"/>
            </a:xfrm>
            <a:prstGeom prst="ellipse">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anchor="ctr"/>
            <a:lstStyle/>
            <a:p>
              <a:pPr algn="ctr">
                <a:spcBef>
                  <a:spcPct val="0"/>
                </a:spcBef>
              </a:pPr>
              <a:r>
                <a:rPr lang="en-US" altLang="zh-CN" sz="1800" dirty="0">
                  <a:solidFill>
                    <a:srgbClr val="3333FF"/>
                  </a:solidFill>
                  <a:latin typeface="Consolas" pitchFamily="49" charset="0"/>
                  <a:ea typeface="宋体" pitchFamily="2" charset="-122"/>
                  <a:cs typeface="Consolas" pitchFamily="49" charset="0"/>
                </a:rPr>
                <a:t>0</a:t>
              </a:r>
            </a:p>
          </p:txBody>
        </p:sp>
        <p:sp>
          <p:nvSpPr>
            <p:cNvPr id="5" name="Oval 10">
              <a:extLst>
                <a:ext uri="{FF2B5EF4-FFF2-40B4-BE49-F238E27FC236}">
                  <a16:creationId xmlns:a16="http://schemas.microsoft.com/office/drawing/2014/main" id="{726B3E30-4618-53D0-8D5D-ECB9241F34F1}"/>
                </a:ext>
              </a:extLst>
            </p:cNvPr>
            <p:cNvSpPr>
              <a:spLocks noChangeArrowheads="1"/>
            </p:cNvSpPr>
            <p:nvPr/>
          </p:nvSpPr>
          <p:spPr bwMode="auto">
            <a:xfrm>
              <a:off x="2446308" y="936606"/>
              <a:ext cx="360363" cy="360363"/>
            </a:xfrm>
            <a:prstGeom prst="ellipse">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anchor="ctr"/>
            <a:lstStyle/>
            <a:p>
              <a:pPr algn="ctr">
                <a:spcBef>
                  <a:spcPct val="0"/>
                </a:spcBef>
              </a:pPr>
              <a:r>
                <a:rPr lang="en-US" altLang="zh-CN" sz="1800">
                  <a:solidFill>
                    <a:srgbClr val="3333FF"/>
                  </a:solidFill>
                  <a:latin typeface="Consolas" pitchFamily="49" charset="0"/>
                  <a:ea typeface="宋体" pitchFamily="2" charset="-122"/>
                  <a:cs typeface="Consolas" pitchFamily="49" charset="0"/>
                </a:rPr>
                <a:t>1</a:t>
              </a:r>
            </a:p>
          </p:txBody>
        </p:sp>
        <p:sp>
          <p:nvSpPr>
            <p:cNvPr id="6" name="Oval 11">
              <a:extLst>
                <a:ext uri="{FF2B5EF4-FFF2-40B4-BE49-F238E27FC236}">
                  <a16:creationId xmlns:a16="http://schemas.microsoft.com/office/drawing/2014/main" id="{B1F318E2-5AF0-74EB-820E-EFB6E5207F43}"/>
                </a:ext>
              </a:extLst>
            </p:cNvPr>
            <p:cNvSpPr>
              <a:spLocks noChangeArrowheads="1"/>
            </p:cNvSpPr>
            <p:nvPr/>
          </p:nvSpPr>
          <p:spPr bwMode="auto">
            <a:xfrm>
              <a:off x="501620" y="2160569"/>
              <a:ext cx="360363" cy="360363"/>
            </a:xfrm>
            <a:prstGeom prst="ellipse">
              <a:avLst/>
            </a:prstGeom>
            <a:ln>
              <a:headEnd/>
              <a:tailEnd type="none" w="med" len="lg"/>
            </a:ln>
          </p:spPr>
          <p:style>
            <a:lnRef idx="1">
              <a:schemeClr val="accent6"/>
            </a:lnRef>
            <a:fillRef idx="3">
              <a:schemeClr val="accent6"/>
            </a:fillRef>
            <a:effectRef idx="2">
              <a:schemeClr val="accent6"/>
            </a:effectRef>
            <a:fontRef idx="minor">
              <a:schemeClr val="lt1"/>
            </a:fontRef>
          </p:style>
          <p:txBody>
            <a:bodyPr wrap="none" anchor="ctr"/>
            <a:lstStyle/>
            <a:p>
              <a:pPr algn="ctr">
                <a:spcBef>
                  <a:spcPct val="0"/>
                </a:spcBef>
              </a:pPr>
              <a:r>
                <a:rPr lang="en-US" altLang="zh-CN" sz="1800">
                  <a:solidFill>
                    <a:srgbClr val="3333FF"/>
                  </a:solidFill>
                  <a:latin typeface="Consolas" pitchFamily="49" charset="0"/>
                  <a:ea typeface="宋体" pitchFamily="2" charset="-122"/>
                  <a:cs typeface="Consolas" pitchFamily="49" charset="0"/>
                </a:rPr>
                <a:t>2</a:t>
              </a:r>
            </a:p>
          </p:txBody>
        </p:sp>
        <p:sp>
          <p:nvSpPr>
            <p:cNvPr id="7" name="Oval 12">
              <a:extLst>
                <a:ext uri="{FF2B5EF4-FFF2-40B4-BE49-F238E27FC236}">
                  <a16:creationId xmlns:a16="http://schemas.microsoft.com/office/drawing/2014/main" id="{BAC91CD8-96FD-C2CF-6CC3-98731E28B475}"/>
                </a:ext>
              </a:extLst>
            </p:cNvPr>
            <p:cNvSpPr>
              <a:spLocks noChangeArrowheads="1"/>
            </p:cNvSpPr>
            <p:nvPr/>
          </p:nvSpPr>
          <p:spPr bwMode="auto">
            <a:xfrm>
              <a:off x="2517745" y="2160569"/>
              <a:ext cx="360363" cy="360363"/>
            </a:xfrm>
            <a:prstGeom prst="ellipse">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anchor="ctr"/>
            <a:lstStyle/>
            <a:p>
              <a:pPr algn="ctr">
                <a:spcBef>
                  <a:spcPct val="0"/>
                </a:spcBef>
              </a:pPr>
              <a:r>
                <a:rPr lang="en-US" altLang="zh-CN" sz="1800">
                  <a:solidFill>
                    <a:srgbClr val="3333FF"/>
                  </a:solidFill>
                  <a:latin typeface="Consolas" pitchFamily="49" charset="0"/>
                  <a:ea typeface="宋体" pitchFamily="2" charset="-122"/>
                  <a:cs typeface="Consolas" pitchFamily="49" charset="0"/>
                </a:rPr>
                <a:t>3</a:t>
              </a:r>
            </a:p>
          </p:txBody>
        </p:sp>
        <p:sp>
          <p:nvSpPr>
            <p:cNvPr id="8" name="Line 13">
              <a:extLst>
                <a:ext uri="{FF2B5EF4-FFF2-40B4-BE49-F238E27FC236}">
                  <a16:creationId xmlns:a16="http://schemas.microsoft.com/office/drawing/2014/main" id="{79D2A201-FD01-87AD-AFC4-A5EA9FCBD5FC}"/>
                </a:ext>
              </a:extLst>
            </p:cNvPr>
            <p:cNvSpPr>
              <a:spLocks noChangeShapeType="1"/>
            </p:cNvSpPr>
            <p:nvPr/>
          </p:nvSpPr>
          <p:spPr bwMode="auto">
            <a:xfrm>
              <a:off x="861983" y="1081069"/>
              <a:ext cx="1584325" cy="0"/>
            </a:xfrm>
            <a:prstGeom prst="line">
              <a:avLst/>
            </a:prstGeom>
            <a:noFill/>
            <a:ln w="19050">
              <a:solidFill>
                <a:srgbClr val="7030A0"/>
              </a:solidFill>
              <a:round/>
              <a:headEnd/>
              <a:tailEnd type="stealth" w="med" len="lg"/>
            </a:ln>
            <a:effectLst/>
          </p:spPr>
          <p:txBody>
            <a:bodyPr wrap="none"/>
            <a:lstStyle/>
            <a:p>
              <a:endParaRPr lang="zh-CN" altLang="en-US">
                <a:latin typeface="Consolas" pitchFamily="49" charset="0"/>
                <a:cs typeface="Consolas" pitchFamily="49" charset="0"/>
              </a:endParaRPr>
            </a:p>
          </p:txBody>
        </p:sp>
        <p:sp>
          <p:nvSpPr>
            <p:cNvPr id="9" name="Line 14">
              <a:extLst>
                <a:ext uri="{FF2B5EF4-FFF2-40B4-BE49-F238E27FC236}">
                  <a16:creationId xmlns:a16="http://schemas.microsoft.com/office/drawing/2014/main" id="{3809310C-6358-96D9-DBEE-B1C872D8198D}"/>
                </a:ext>
              </a:extLst>
            </p:cNvPr>
            <p:cNvSpPr>
              <a:spLocks noChangeShapeType="1"/>
            </p:cNvSpPr>
            <p:nvPr/>
          </p:nvSpPr>
          <p:spPr bwMode="auto">
            <a:xfrm flipV="1">
              <a:off x="646083" y="1296969"/>
              <a:ext cx="0" cy="863600"/>
            </a:xfrm>
            <a:prstGeom prst="line">
              <a:avLst/>
            </a:prstGeom>
            <a:noFill/>
            <a:ln w="19050">
              <a:solidFill>
                <a:srgbClr val="7030A0"/>
              </a:solidFill>
              <a:round/>
              <a:headEnd/>
              <a:tailEnd type="stealth" w="med" len="lg"/>
            </a:ln>
            <a:effectLst/>
          </p:spPr>
          <p:txBody>
            <a:bodyPr wrap="none"/>
            <a:lstStyle/>
            <a:p>
              <a:endParaRPr lang="zh-CN" altLang="en-US">
                <a:latin typeface="Consolas" pitchFamily="49" charset="0"/>
                <a:cs typeface="Consolas" pitchFamily="49" charset="0"/>
              </a:endParaRPr>
            </a:p>
          </p:txBody>
        </p:sp>
        <p:sp>
          <p:nvSpPr>
            <p:cNvPr id="10" name="Freeform 15">
              <a:extLst>
                <a:ext uri="{FF2B5EF4-FFF2-40B4-BE49-F238E27FC236}">
                  <a16:creationId xmlns:a16="http://schemas.microsoft.com/office/drawing/2014/main" id="{D5D49E3E-FD9C-AB4F-1AA6-4D249B1D0F46}"/>
                </a:ext>
              </a:extLst>
            </p:cNvPr>
            <p:cNvSpPr>
              <a:spLocks/>
            </p:cNvSpPr>
            <p:nvPr/>
          </p:nvSpPr>
          <p:spPr bwMode="auto">
            <a:xfrm>
              <a:off x="841345" y="1211244"/>
              <a:ext cx="1676400" cy="1020763"/>
            </a:xfrm>
            <a:custGeom>
              <a:avLst/>
              <a:gdLst/>
              <a:ahLst/>
              <a:cxnLst>
                <a:cxn ang="0">
                  <a:pos x="0" y="0"/>
                </a:cxn>
                <a:cxn ang="0">
                  <a:pos x="1056" y="643"/>
                </a:cxn>
              </a:cxnLst>
              <a:rect l="0" t="0" r="r" b="b"/>
              <a:pathLst>
                <a:path w="1056" h="643">
                  <a:moveTo>
                    <a:pt x="0" y="0"/>
                  </a:moveTo>
                  <a:lnTo>
                    <a:pt x="1056" y="643"/>
                  </a:lnTo>
                </a:path>
              </a:pathLst>
            </a:custGeom>
            <a:noFill/>
            <a:ln w="19050" cap="flat" cmpd="sng">
              <a:solidFill>
                <a:srgbClr val="7030A0"/>
              </a:solidFill>
              <a:prstDash val="solid"/>
              <a:round/>
              <a:headEnd type="none" w="med" len="med"/>
              <a:tailEnd type="stealth" w="med" len="lg"/>
            </a:ln>
            <a:effectLst/>
          </p:spPr>
          <p:txBody>
            <a:bodyPr wrap="none"/>
            <a:lstStyle/>
            <a:p>
              <a:endParaRPr lang="zh-CN" altLang="en-US">
                <a:latin typeface="Consolas" pitchFamily="49" charset="0"/>
                <a:cs typeface="Consolas" pitchFamily="49" charset="0"/>
              </a:endParaRPr>
            </a:p>
          </p:txBody>
        </p:sp>
        <p:sp>
          <p:nvSpPr>
            <p:cNvPr id="11" name="Line 16">
              <a:extLst>
                <a:ext uri="{FF2B5EF4-FFF2-40B4-BE49-F238E27FC236}">
                  <a16:creationId xmlns:a16="http://schemas.microsoft.com/office/drawing/2014/main" id="{870ACA98-0F7D-D35C-D659-D36B1F44AC81}"/>
                </a:ext>
              </a:extLst>
            </p:cNvPr>
            <p:cNvSpPr>
              <a:spLocks noChangeShapeType="1"/>
            </p:cNvSpPr>
            <p:nvPr/>
          </p:nvSpPr>
          <p:spPr bwMode="auto">
            <a:xfrm>
              <a:off x="2662208" y="1296969"/>
              <a:ext cx="0" cy="863600"/>
            </a:xfrm>
            <a:prstGeom prst="line">
              <a:avLst/>
            </a:prstGeom>
            <a:noFill/>
            <a:ln w="19050">
              <a:solidFill>
                <a:srgbClr val="7030A0"/>
              </a:solidFill>
              <a:round/>
              <a:headEnd/>
              <a:tailEnd type="stealth" w="med" len="lg"/>
            </a:ln>
            <a:effectLst/>
          </p:spPr>
          <p:txBody>
            <a:bodyPr wrap="none"/>
            <a:lstStyle/>
            <a:p>
              <a:endParaRPr lang="zh-CN" altLang="en-US">
                <a:latin typeface="Consolas" pitchFamily="49" charset="0"/>
                <a:cs typeface="Consolas" pitchFamily="49" charset="0"/>
              </a:endParaRPr>
            </a:p>
          </p:txBody>
        </p:sp>
        <p:sp>
          <p:nvSpPr>
            <p:cNvPr id="12" name="Text Box 21">
              <a:extLst>
                <a:ext uri="{FF2B5EF4-FFF2-40B4-BE49-F238E27FC236}">
                  <a16:creationId xmlns:a16="http://schemas.microsoft.com/office/drawing/2014/main" id="{E363C4DF-4D74-78BC-54B6-45DB47C3D965}"/>
                </a:ext>
              </a:extLst>
            </p:cNvPr>
            <p:cNvSpPr txBox="1">
              <a:spLocks noChangeArrowheads="1"/>
            </p:cNvSpPr>
            <p:nvPr/>
          </p:nvSpPr>
          <p:spPr bwMode="auto">
            <a:xfrm>
              <a:off x="1551940" y="714356"/>
              <a:ext cx="431800" cy="366713"/>
            </a:xfrm>
            <a:prstGeom prst="rect">
              <a:avLst/>
            </a:prstGeom>
            <a:noFill/>
            <a:ln w="19050" algn="ctr">
              <a:noFill/>
              <a:miter lim="800000"/>
              <a:headEnd/>
              <a:tailEnd type="none" w="med" len="lg"/>
            </a:ln>
            <a:effectLst/>
          </p:spPr>
          <p:txBody>
            <a:bodyPr>
              <a:spAutoFit/>
            </a:bodyPr>
            <a:lstStyle/>
            <a:p>
              <a:pPr algn="ctr"/>
              <a:r>
                <a:rPr lang="en-US" altLang="zh-CN" sz="1800">
                  <a:solidFill>
                    <a:srgbClr val="FF0000"/>
                  </a:solidFill>
                  <a:latin typeface="Consolas" pitchFamily="49" charset="0"/>
                  <a:ea typeface="宋体" pitchFamily="2" charset="-122"/>
                  <a:cs typeface="Consolas" pitchFamily="49" charset="0"/>
                </a:rPr>
                <a:t>5</a:t>
              </a:r>
            </a:p>
          </p:txBody>
        </p:sp>
        <p:sp>
          <p:nvSpPr>
            <p:cNvPr id="13" name="Text Box 22">
              <a:extLst>
                <a:ext uri="{FF2B5EF4-FFF2-40B4-BE49-F238E27FC236}">
                  <a16:creationId xmlns:a16="http://schemas.microsoft.com/office/drawing/2014/main" id="{67148D09-F849-FC07-574D-6202DCE4141E}"/>
                </a:ext>
              </a:extLst>
            </p:cNvPr>
            <p:cNvSpPr txBox="1">
              <a:spLocks noChangeArrowheads="1"/>
            </p:cNvSpPr>
            <p:nvPr/>
          </p:nvSpPr>
          <p:spPr bwMode="auto">
            <a:xfrm>
              <a:off x="285720" y="1504931"/>
              <a:ext cx="431800" cy="366713"/>
            </a:xfrm>
            <a:prstGeom prst="rect">
              <a:avLst/>
            </a:prstGeom>
            <a:noFill/>
            <a:ln w="19050" algn="ctr">
              <a:noFill/>
              <a:miter lim="800000"/>
              <a:headEnd/>
              <a:tailEnd type="none" w="med" len="lg"/>
            </a:ln>
            <a:effectLst/>
          </p:spPr>
          <p:txBody>
            <a:bodyPr>
              <a:spAutoFit/>
            </a:bodyPr>
            <a:lstStyle/>
            <a:p>
              <a:pPr algn="ctr"/>
              <a:r>
                <a:rPr lang="en-US" altLang="zh-CN" sz="1800">
                  <a:solidFill>
                    <a:srgbClr val="FF0000"/>
                  </a:solidFill>
                  <a:latin typeface="Consolas" pitchFamily="49" charset="0"/>
                  <a:ea typeface="宋体" pitchFamily="2" charset="-122"/>
                  <a:cs typeface="Consolas" pitchFamily="49" charset="0"/>
                </a:rPr>
                <a:t>3</a:t>
              </a:r>
            </a:p>
          </p:txBody>
        </p:sp>
        <p:sp>
          <p:nvSpPr>
            <p:cNvPr id="14" name="Text Box 23">
              <a:extLst>
                <a:ext uri="{FF2B5EF4-FFF2-40B4-BE49-F238E27FC236}">
                  <a16:creationId xmlns:a16="http://schemas.microsoft.com/office/drawing/2014/main" id="{3FE8C15D-F5E2-1AF5-D411-DE63F36C2236}"/>
                </a:ext>
              </a:extLst>
            </p:cNvPr>
            <p:cNvSpPr txBox="1">
              <a:spLocks noChangeArrowheads="1"/>
            </p:cNvSpPr>
            <p:nvPr/>
          </p:nvSpPr>
          <p:spPr bwMode="auto">
            <a:xfrm>
              <a:off x="2590770" y="1577956"/>
              <a:ext cx="431800" cy="366713"/>
            </a:xfrm>
            <a:prstGeom prst="rect">
              <a:avLst/>
            </a:prstGeom>
            <a:noFill/>
            <a:ln w="19050" algn="ctr">
              <a:noFill/>
              <a:miter lim="800000"/>
              <a:headEnd/>
              <a:tailEnd type="none" w="med" len="lg"/>
            </a:ln>
            <a:effectLst/>
          </p:spPr>
          <p:txBody>
            <a:bodyPr>
              <a:spAutoFit/>
            </a:bodyPr>
            <a:lstStyle/>
            <a:p>
              <a:pPr algn="ctr"/>
              <a:r>
                <a:rPr lang="en-US" altLang="zh-CN" sz="1800">
                  <a:solidFill>
                    <a:srgbClr val="FF0000"/>
                  </a:solidFill>
                  <a:latin typeface="Consolas" pitchFamily="49" charset="0"/>
                  <a:ea typeface="宋体" pitchFamily="2" charset="-122"/>
                  <a:cs typeface="Consolas" pitchFamily="49" charset="0"/>
                </a:rPr>
                <a:t>2</a:t>
              </a:r>
            </a:p>
          </p:txBody>
        </p:sp>
        <p:sp>
          <p:nvSpPr>
            <p:cNvPr id="15" name="Text Box 24">
              <a:extLst>
                <a:ext uri="{FF2B5EF4-FFF2-40B4-BE49-F238E27FC236}">
                  <a16:creationId xmlns:a16="http://schemas.microsoft.com/office/drawing/2014/main" id="{3DE87500-FB04-5DB6-5B79-8B21F431DAEC}"/>
                </a:ext>
              </a:extLst>
            </p:cNvPr>
            <p:cNvSpPr txBox="1">
              <a:spLocks noChangeArrowheads="1"/>
            </p:cNvSpPr>
            <p:nvPr/>
          </p:nvSpPr>
          <p:spPr bwMode="auto">
            <a:xfrm>
              <a:off x="1006445" y="1081069"/>
              <a:ext cx="431800" cy="366713"/>
            </a:xfrm>
            <a:prstGeom prst="rect">
              <a:avLst/>
            </a:prstGeom>
            <a:noFill/>
            <a:ln w="19050" algn="ctr">
              <a:noFill/>
              <a:miter lim="800000"/>
              <a:headEnd/>
              <a:tailEnd type="none" w="med" len="lg"/>
            </a:ln>
            <a:effectLst/>
          </p:spPr>
          <p:txBody>
            <a:bodyPr>
              <a:spAutoFit/>
            </a:bodyPr>
            <a:lstStyle/>
            <a:p>
              <a:pPr algn="ctr"/>
              <a:r>
                <a:rPr lang="en-US" altLang="zh-CN" sz="1800">
                  <a:solidFill>
                    <a:srgbClr val="FF0000"/>
                  </a:solidFill>
                  <a:latin typeface="Consolas" pitchFamily="49" charset="0"/>
                  <a:ea typeface="宋体" pitchFamily="2" charset="-122"/>
                  <a:cs typeface="Consolas" pitchFamily="49" charset="0"/>
                </a:rPr>
                <a:t>7</a:t>
              </a:r>
            </a:p>
          </p:txBody>
        </p:sp>
        <p:sp>
          <p:nvSpPr>
            <p:cNvPr id="16" name="Text Box 25">
              <a:extLst>
                <a:ext uri="{FF2B5EF4-FFF2-40B4-BE49-F238E27FC236}">
                  <a16:creationId xmlns:a16="http://schemas.microsoft.com/office/drawing/2014/main" id="{38F3CD6E-FFF7-60B3-E224-C2F5700526C3}"/>
                </a:ext>
              </a:extLst>
            </p:cNvPr>
            <p:cNvSpPr txBox="1">
              <a:spLocks noChangeArrowheads="1"/>
            </p:cNvSpPr>
            <p:nvPr/>
          </p:nvSpPr>
          <p:spPr bwMode="auto">
            <a:xfrm>
              <a:off x="1941483" y="1577956"/>
              <a:ext cx="431800" cy="366713"/>
            </a:xfrm>
            <a:prstGeom prst="rect">
              <a:avLst/>
            </a:prstGeom>
            <a:noFill/>
            <a:ln w="19050" algn="ctr">
              <a:noFill/>
              <a:miter lim="800000"/>
              <a:headEnd/>
              <a:tailEnd type="none" w="med" len="lg"/>
            </a:ln>
            <a:effectLst/>
          </p:spPr>
          <p:txBody>
            <a:bodyPr>
              <a:spAutoFit/>
            </a:bodyPr>
            <a:lstStyle/>
            <a:p>
              <a:pPr algn="ctr"/>
              <a:r>
                <a:rPr lang="en-US" altLang="zh-CN" sz="1800">
                  <a:solidFill>
                    <a:srgbClr val="FF0000"/>
                  </a:solidFill>
                  <a:latin typeface="Consolas" pitchFamily="49" charset="0"/>
                  <a:ea typeface="宋体" pitchFamily="2" charset="-122"/>
                  <a:cs typeface="Consolas" pitchFamily="49" charset="0"/>
                </a:rPr>
                <a:t>3</a:t>
              </a:r>
            </a:p>
          </p:txBody>
        </p:sp>
        <p:sp>
          <p:nvSpPr>
            <p:cNvPr id="17" name="Text Box 26">
              <a:extLst>
                <a:ext uri="{FF2B5EF4-FFF2-40B4-BE49-F238E27FC236}">
                  <a16:creationId xmlns:a16="http://schemas.microsoft.com/office/drawing/2014/main" id="{6F46FEEC-A6FB-6C8C-AC79-B3E1BAA1EF86}"/>
                </a:ext>
              </a:extLst>
            </p:cNvPr>
            <p:cNvSpPr txBox="1">
              <a:spLocks noChangeArrowheads="1"/>
            </p:cNvSpPr>
            <p:nvPr/>
          </p:nvSpPr>
          <p:spPr bwMode="auto">
            <a:xfrm>
              <a:off x="1438245" y="2542490"/>
              <a:ext cx="431800" cy="366713"/>
            </a:xfrm>
            <a:prstGeom prst="rect">
              <a:avLst/>
            </a:prstGeom>
            <a:noFill/>
            <a:ln w="19050" algn="ctr">
              <a:noFill/>
              <a:miter lim="800000"/>
              <a:headEnd/>
              <a:tailEnd type="none" w="med" len="lg"/>
            </a:ln>
            <a:effectLst/>
          </p:spPr>
          <p:txBody>
            <a:bodyPr>
              <a:spAutoFit/>
            </a:bodyPr>
            <a:lstStyle/>
            <a:p>
              <a:pPr algn="ctr"/>
              <a:r>
                <a:rPr lang="en-US" altLang="zh-CN" sz="1800">
                  <a:solidFill>
                    <a:srgbClr val="FF0000"/>
                  </a:solidFill>
                  <a:latin typeface="Consolas" pitchFamily="49" charset="0"/>
                  <a:ea typeface="宋体" pitchFamily="2" charset="-122"/>
                  <a:cs typeface="Consolas" pitchFamily="49" charset="0"/>
                </a:rPr>
                <a:t>1</a:t>
              </a:r>
            </a:p>
          </p:txBody>
        </p:sp>
        <p:sp>
          <p:nvSpPr>
            <p:cNvPr id="18" name="Text Box 27">
              <a:extLst>
                <a:ext uri="{FF2B5EF4-FFF2-40B4-BE49-F238E27FC236}">
                  <a16:creationId xmlns:a16="http://schemas.microsoft.com/office/drawing/2014/main" id="{A9836F8B-9E4F-E8E4-A728-ACDE70C32726}"/>
                </a:ext>
              </a:extLst>
            </p:cNvPr>
            <p:cNvSpPr txBox="1">
              <a:spLocks noChangeArrowheads="1"/>
            </p:cNvSpPr>
            <p:nvPr/>
          </p:nvSpPr>
          <p:spPr bwMode="auto">
            <a:xfrm>
              <a:off x="1438245" y="2154219"/>
              <a:ext cx="431800" cy="366713"/>
            </a:xfrm>
            <a:prstGeom prst="rect">
              <a:avLst/>
            </a:prstGeom>
            <a:noFill/>
            <a:ln w="19050" algn="ctr">
              <a:noFill/>
              <a:miter lim="800000"/>
              <a:headEnd/>
              <a:tailEnd type="none" w="med" len="lg"/>
            </a:ln>
            <a:effectLst/>
          </p:spPr>
          <p:txBody>
            <a:bodyPr>
              <a:spAutoFit/>
            </a:bodyPr>
            <a:lstStyle/>
            <a:p>
              <a:pPr algn="ctr"/>
              <a:r>
                <a:rPr lang="en-US" altLang="zh-CN" sz="1800">
                  <a:solidFill>
                    <a:srgbClr val="FF0000"/>
                  </a:solidFill>
                  <a:latin typeface="Consolas" pitchFamily="49" charset="0"/>
                  <a:ea typeface="宋体" pitchFamily="2" charset="-122"/>
                  <a:cs typeface="Consolas" pitchFamily="49" charset="0"/>
                </a:rPr>
                <a:t>2</a:t>
              </a:r>
            </a:p>
          </p:txBody>
        </p:sp>
        <p:sp>
          <p:nvSpPr>
            <p:cNvPr id="19" name="Text Box 28">
              <a:extLst>
                <a:ext uri="{FF2B5EF4-FFF2-40B4-BE49-F238E27FC236}">
                  <a16:creationId xmlns:a16="http://schemas.microsoft.com/office/drawing/2014/main" id="{D549A5E5-0787-D3AF-5F79-3A3AB79024F6}"/>
                </a:ext>
              </a:extLst>
            </p:cNvPr>
            <p:cNvSpPr txBox="1">
              <a:spLocks noChangeArrowheads="1"/>
            </p:cNvSpPr>
            <p:nvPr/>
          </p:nvSpPr>
          <p:spPr bwMode="auto">
            <a:xfrm>
              <a:off x="752445" y="1539856"/>
              <a:ext cx="431800" cy="366713"/>
            </a:xfrm>
            <a:prstGeom prst="rect">
              <a:avLst/>
            </a:prstGeom>
            <a:noFill/>
            <a:ln w="19050" algn="ctr">
              <a:noFill/>
              <a:miter lim="800000"/>
              <a:headEnd/>
              <a:tailEnd type="none" w="med" len="lg"/>
            </a:ln>
            <a:effectLst/>
          </p:spPr>
          <p:txBody>
            <a:bodyPr>
              <a:spAutoFit/>
            </a:bodyPr>
            <a:lstStyle/>
            <a:p>
              <a:pPr algn="ctr"/>
              <a:r>
                <a:rPr lang="en-US" altLang="zh-CN" sz="1800">
                  <a:solidFill>
                    <a:srgbClr val="FF0000"/>
                  </a:solidFill>
                  <a:latin typeface="Consolas" pitchFamily="49" charset="0"/>
                  <a:ea typeface="宋体" pitchFamily="2" charset="-122"/>
                  <a:cs typeface="Consolas" pitchFamily="49" charset="0"/>
                </a:rPr>
                <a:t>4</a:t>
              </a:r>
            </a:p>
          </p:txBody>
        </p:sp>
        <p:sp>
          <p:nvSpPr>
            <p:cNvPr id="20" name="任意多边形 119">
              <a:extLst>
                <a:ext uri="{FF2B5EF4-FFF2-40B4-BE49-F238E27FC236}">
                  <a16:creationId xmlns:a16="http://schemas.microsoft.com/office/drawing/2014/main" id="{1D305D00-3DD6-1C38-5BB3-858C21FCADB4}"/>
                </a:ext>
              </a:extLst>
            </p:cNvPr>
            <p:cNvSpPr/>
            <p:nvPr/>
          </p:nvSpPr>
          <p:spPr>
            <a:xfrm>
              <a:off x="830232" y="2425678"/>
              <a:ext cx="1714500" cy="190500"/>
            </a:xfrm>
            <a:custGeom>
              <a:avLst/>
              <a:gdLst>
                <a:gd name="connsiteX0" fmla="*/ 1714500 w 1714500"/>
                <a:gd name="connsiteY0" fmla="*/ 0 h 190500"/>
                <a:gd name="connsiteX1" fmla="*/ 1612900 w 1714500"/>
                <a:gd name="connsiteY1" fmla="*/ 76200 h 190500"/>
                <a:gd name="connsiteX2" fmla="*/ 1130300 w 1714500"/>
                <a:gd name="connsiteY2" fmla="*/ 177800 h 190500"/>
                <a:gd name="connsiteX3" fmla="*/ 596900 w 1714500"/>
                <a:gd name="connsiteY3" fmla="*/ 152400 h 190500"/>
                <a:gd name="connsiteX4" fmla="*/ 0 w 1714500"/>
                <a:gd name="connsiteY4" fmla="*/ 50800 h 190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4500" h="190500">
                  <a:moveTo>
                    <a:pt x="1714500" y="0"/>
                  </a:moveTo>
                  <a:cubicBezTo>
                    <a:pt x="1712383" y="23283"/>
                    <a:pt x="1710267" y="46567"/>
                    <a:pt x="1612900" y="76200"/>
                  </a:cubicBezTo>
                  <a:cubicBezTo>
                    <a:pt x="1515533" y="105833"/>
                    <a:pt x="1299633" y="165100"/>
                    <a:pt x="1130300" y="177800"/>
                  </a:cubicBezTo>
                  <a:cubicBezTo>
                    <a:pt x="960967" y="190500"/>
                    <a:pt x="785283" y="173567"/>
                    <a:pt x="596900" y="152400"/>
                  </a:cubicBezTo>
                  <a:cubicBezTo>
                    <a:pt x="408517" y="131233"/>
                    <a:pt x="204258" y="91016"/>
                    <a:pt x="0" y="50800"/>
                  </a:cubicBezTo>
                </a:path>
              </a:pathLst>
            </a:custGeom>
            <a:ln w="28575">
              <a:solidFill>
                <a:srgbClr val="7030A0"/>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Consolas" pitchFamily="49" charset="0"/>
                <a:cs typeface="Consolas" pitchFamily="49" charset="0"/>
              </a:endParaRPr>
            </a:p>
          </p:txBody>
        </p:sp>
        <p:sp>
          <p:nvSpPr>
            <p:cNvPr id="21" name="任意多边形 120">
              <a:extLst>
                <a:ext uri="{FF2B5EF4-FFF2-40B4-BE49-F238E27FC236}">
                  <a16:creationId xmlns:a16="http://schemas.microsoft.com/office/drawing/2014/main" id="{E4EC4CE7-50E2-05F2-CFAF-C2B8B3C4064E}"/>
                </a:ext>
              </a:extLst>
            </p:cNvPr>
            <p:cNvSpPr/>
            <p:nvPr/>
          </p:nvSpPr>
          <p:spPr>
            <a:xfrm>
              <a:off x="881032" y="2194961"/>
              <a:ext cx="1638300" cy="141817"/>
            </a:xfrm>
            <a:custGeom>
              <a:avLst/>
              <a:gdLst>
                <a:gd name="connsiteX0" fmla="*/ 0 w 1638300"/>
                <a:gd name="connsiteY0" fmla="*/ 141817 h 141817"/>
                <a:gd name="connsiteX1" fmla="*/ 114300 w 1638300"/>
                <a:gd name="connsiteY1" fmla="*/ 103717 h 141817"/>
                <a:gd name="connsiteX2" fmla="*/ 495300 w 1638300"/>
                <a:gd name="connsiteY2" fmla="*/ 14817 h 141817"/>
                <a:gd name="connsiteX3" fmla="*/ 863600 w 1638300"/>
                <a:gd name="connsiteY3" fmla="*/ 14817 h 141817"/>
                <a:gd name="connsiteX4" fmla="*/ 1638300 w 1638300"/>
                <a:gd name="connsiteY4" fmla="*/ 103717 h 141817"/>
                <a:gd name="connsiteX0" fmla="*/ 0 w 1638300"/>
                <a:gd name="connsiteY0" fmla="*/ 141817 h 141817"/>
                <a:gd name="connsiteX1" fmla="*/ 114300 w 1638300"/>
                <a:gd name="connsiteY1" fmla="*/ 103717 h 141817"/>
                <a:gd name="connsiteX2" fmla="*/ 495300 w 1638300"/>
                <a:gd name="connsiteY2" fmla="*/ 14817 h 141817"/>
                <a:gd name="connsiteX3" fmla="*/ 863600 w 1638300"/>
                <a:gd name="connsiteY3" fmla="*/ 14817 h 141817"/>
                <a:gd name="connsiteX4" fmla="*/ 1638300 w 1638300"/>
                <a:gd name="connsiteY4" fmla="*/ 103717 h 1418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38300" h="141817">
                  <a:moveTo>
                    <a:pt x="0" y="141817"/>
                  </a:moveTo>
                  <a:cubicBezTo>
                    <a:pt x="15875" y="133350"/>
                    <a:pt x="31750" y="124884"/>
                    <a:pt x="114300" y="103717"/>
                  </a:cubicBezTo>
                  <a:cubicBezTo>
                    <a:pt x="196850" y="82550"/>
                    <a:pt x="370417" y="29634"/>
                    <a:pt x="495300" y="14817"/>
                  </a:cubicBezTo>
                  <a:cubicBezTo>
                    <a:pt x="620183" y="0"/>
                    <a:pt x="673100" y="0"/>
                    <a:pt x="863600" y="14817"/>
                  </a:cubicBezTo>
                  <a:cubicBezTo>
                    <a:pt x="1054100" y="29634"/>
                    <a:pt x="1346200" y="66675"/>
                    <a:pt x="1638300" y="103717"/>
                  </a:cubicBezTo>
                </a:path>
              </a:pathLst>
            </a:custGeom>
            <a:ln w="28575">
              <a:solidFill>
                <a:srgbClr val="7030A0"/>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Consolas" pitchFamily="49" charset="0"/>
                <a:cs typeface="Consolas" pitchFamily="49" charset="0"/>
              </a:endParaRPr>
            </a:p>
          </p:txBody>
        </p:sp>
        <p:sp>
          <p:nvSpPr>
            <p:cNvPr id="22" name="任意多边形 121">
              <a:extLst>
                <a:ext uri="{FF2B5EF4-FFF2-40B4-BE49-F238E27FC236}">
                  <a16:creationId xmlns:a16="http://schemas.microsoft.com/office/drawing/2014/main" id="{16FB8EBC-300F-2242-3884-982B6AFE1973}"/>
                </a:ext>
              </a:extLst>
            </p:cNvPr>
            <p:cNvSpPr/>
            <p:nvPr/>
          </p:nvSpPr>
          <p:spPr>
            <a:xfrm>
              <a:off x="741332" y="1155678"/>
              <a:ext cx="1714500" cy="1016000"/>
            </a:xfrm>
            <a:custGeom>
              <a:avLst/>
              <a:gdLst>
                <a:gd name="connsiteX0" fmla="*/ 1714500 w 1714500"/>
                <a:gd name="connsiteY0" fmla="*/ 0 h 1016000"/>
                <a:gd name="connsiteX1" fmla="*/ 1549400 w 1714500"/>
                <a:gd name="connsiteY1" fmla="*/ 38100 h 1016000"/>
                <a:gd name="connsiteX2" fmla="*/ 1143000 w 1714500"/>
                <a:gd name="connsiteY2" fmla="*/ 165100 h 1016000"/>
                <a:gd name="connsiteX3" fmla="*/ 609600 w 1714500"/>
                <a:gd name="connsiteY3" fmla="*/ 406400 h 1016000"/>
                <a:gd name="connsiteX4" fmla="*/ 0 w 1714500"/>
                <a:gd name="connsiteY4" fmla="*/ 1016000 h 1016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4500" h="1016000">
                  <a:moveTo>
                    <a:pt x="1714500" y="0"/>
                  </a:moveTo>
                  <a:cubicBezTo>
                    <a:pt x="1679575" y="5291"/>
                    <a:pt x="1644650" y="10583"/>
                    <a:pt x="1549400" y="38100"/>
                  </a:cubicBezTo>
                  <a:cubicBezTo>
                    <a:pt x="1454150" y="65617"/>
                    <a:pt x="1299633" y="103717"/>
                    <a:pt x="1143000" y="165100"/>
                  </a:cubicBezTo>
                  <a:cubicBezTo>
                    <a:pt x="986367" y="226483"/>
                    <a:pt x="800100" y="264583"/>
                    <a:pt x="609600" y="406400"/>
                  </a:cubicBezTo>
                  <a:cubicBezTo>
                    <a:pt x="419100" y="548217"/>
                    <a:pt x="209550" y="782108"/>
                    <a:pt x="0" y="1016000"/>
                  </a:cubicBezTo>
                </a:path>
              </a:pathLst>
            </a:custGeom>
            <a:ln w="28575">
              <a:solidFill>
                <a:srgbClr val="7030A0"/>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Consolas" pitchFamily="49" charset="0"/>
                <a:cs typeface="Consolas" pitchFamily="49" charset="0"/>
              </a:endParaRPr>
            </a:p>
          </p:txBody>
        </p:sp>
        <p:sp>
          <p:nvSpPr>
            <p:cNvPr id="23" name="任意多边形 122">
              <a:extLst>
                <a:ext uri="{FF2B5EF4-FFF2-40B4-BE49-F238E27FC236}">
                  <a16:creationId xmlns:a16="http://schemas.microsoft.com/office/drawing/2014/main" id="{5CFE1DE9-6592-8C55-CF02-2BF18DED5B69}"/>
                </a:ext>
              </a:extLst>
            </p:cNvPr>
            <p:cNvSpPr/>
            <p:nvPr/>
          </p:nvSpPr>
          <p:spPr>
            <a:xfrm>
              <a:off x="817532" y="1269978"/>
              <a:ext cx="1689100" cy="990600"/>
            </a:xfrm>
            <a:custGeom>
              <a:avLst/>
              <a:gdLst>
                <a:gd name="connsiteX0" fmla="*/ 0 w 1689100"/>
                <a:gd name="connsiteY0" fmla="*/ 990600 h 990600"/>
                <a:gd name="connsiteX1" fmla="*/ 266700 w 1689100"/>
                <a:gd name="connsiteY1" fmla="*/ 901700 h 990600"/>
                <a:gd name="connsiteX2" fmla="*/ 787400 w 1689100"/>
                <a:gd name="connsiteY2" fmla="*/ 622300 h 990600"/>
                <a:gd name="connsiteX3" fmla="*/ 1219200 w 1689100"/>
                <a:gd name="connsiteY3" fmla="*/ 381000 h 990600"/>
                <a:gd name="connsiteX4" fmla="*/ 1689100 w 1689100"/>
                <a:gd name="connsiteY4" fmla="*/ 0 h 990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89100" h="990600">
                  <a:moveTo>
                    <a:pt x="0" y="990600"/>
                  </a:moveTo>
                  <a:cubicBezTo>
                    <a:pt x="67733" y="976841"/>
                    <a:pt x="135467" y="963083"/>
                    <a:pt x="266700" y="901700"/>
                  </a:cubicBezTo>
                  <a:cubicBezTo>
                    <a:pt x="397933" y="840317"/>
                    <a:pt x="628650" y="709083"/>
                    <a:pt x="787400" y="622300"/>
                  </a:cubicBezTo>
                  <a:cubicBezTo>
                    <a:pt x="946150" y="535517"/>
                    <a:pt x="1068917" y="484717"/>
                    <a:pt x="1219200" y="381000"/>
                  </a:cubicBezTo>
                  <a:cubicBezTo>
                    <a:pt x="1369483" y="277283"/>
                    <a:pt x="1529291" y="138641"/>
                    <a:pt x="1689100" y="0"/>
                  </a:cubicBezTo>
                </a:path>
              </a:pathLst>
            </a:custGeom>
            <a:ln w="28575">
              <a:solidFill>
                <a:srgbClr val="7030A0"/>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Consolas" pitchFamily="49" charset="0"/>
                <a:cs typeface="Consolas" pitchFamily="49" charset="0"/>
              </a:endParaRPr>
            </a:p>
          </p:txBody>
        </p:sp>
      </p:grpSp>
      <p:sp>
        <p:nvSpPr>
          <p:cNvPr id="24" name="TextBox 123">
            <a:extLst>
              <a:ext uri="{FF2B5EF4-FFF2-40B4-BE49-F238E27FC236}">
                <a16:creationId xmlns:a16="http://schemas.microsoft.com/office/drawing/2014/main" id="{3D20C37F-31D1-F49F-5450-53F2CFEC2735}"/>
              </a:ext>
            </a:extLst>
          </p:cNvPr>
          <p:cNvSpPr txBox="1"/>
          <p:nvPr/>
        </p:nvSpPr>
        <p:spPr>
          <a:xfrm>
            <a:off x="3637468" y="3865608"/>
            <a:ext cx="642942" cy="430887"/>
          </a:xfrm>
          <a:prstGeom prst="rect">
            <a:avLst/>
          </a:prstGeom>
          <a:noFill/>
        </p:spPr>
        <p:txBody>
          <a:bodyPr wrap="square" rtlCol="0">
            <a:spAutoFit/>
          </a:bodyPr>
          <a:lstStyle/>
          <a:p>
            <a:r>
              <a:rPr lang="en-US" altLang="zh-CN" sz="2200" i="1">
                <a:latin typeface="Consolas" pitchFamily="49" charset="0"/>
                <a:cs typeface="Consolas" pitchFamily="49" charset="0"/>
              </a:rPr>
              <a:t>A</a:t>
            </a:r>
            <a:r>
              <a:rPr lang="en-US" altLang="zh-CN" sz="2200" baseline="-25000">
                <a:latin typeface="Consolas" pitchFamily="49" charset="0"/>
                <a:cs typeface="Consolas" pitchFamily="49" charset="0"/>
              </a:rPr>
              <a:t>2</a:t>
            </a:r>
            <a:endParaRPr lang="zh-CN" altLang="en-US" sz="2200" baseline="-25000">
              <a:latin typeface="Consolas" pitchFamily="49" charset="0"/>
              <a:cs typeface="Consolas" pitchFamily="49" charset="0"/>
            </a:endParaRPr>
          </a:p>
        </p:txBody>
      </p:sp>
      <p:graphicFrame>
        <p:nvGraphicFramePr>
          <p:cNvPr id="25" name="表格 24">
            <a:extLst>
              <a:ext uri="{FF2B5EF4-FFF2-40B4-BE49-F238E27FC236}">
                <a16:creationId xmlns:a16="http://schemas.microsoft.com/office/drawing/2014/main" id="{11B46385-395D-870E-10E3-9025677D29DB}"/>
              </a:ext>
            </a:extLst>
          </p:cNvPr>
          <p:cNvGraphicFramePr>
            <a:graphicFrameLocks noGrp="1"/>
          </p:cNvGraphicFramePr>
          <p:nvPr>
            <p:extLst>
              <p:ext uri="{D42A27DB-BD31-4B8C-83A1-F6EECF244321}">
                <p14:modId xmlns:p14="http://schemas.microsoft.com/office/powerpoint/2010/main" val="881225376"/>
              </p:ext>
            </p:extLst>
          </p:nvPr>
        </p:nvGraphicFramePr>
        <p:xfrm>
          <a:off x="2351584" y="4437112"/>
          <a:ext cx="3071835" cy="1854200"/>
        </p:xfrm>
        <a:graphic>
          <a:graphicData uri="http://schemas.openxmlformats.org/drawingml/2006/table">
            <a:tbl>
              <a:tblPr firstRow="1" bandRow="1">
                <a:tableStyleId>{E8B1032C-EA38-4F05-BA0D-38AFFFC7BED3}</a:tableStyleId>
              </a:tblPr>
              <a:tblGrid>
                <a:gridCol w="614367">
                  <a:extLst>
                    <a:ext uri="{9D8B030D-6E8A-4147-A177-3AD203B41FA5}">
                      <a16:colId xmlns:a16="http://schemas.microsoft.com/office/drawing/2014/main" val="20000"/>
                    </a:ext>
                  </a:extLst>
                </a:gridCol>
                <a:gridCol w="614367">
                  <a:extLst>
                    <a:ext uri="{9D8B030D-6E8A-4147-A177-3AD203B41FA5}">
                      <a16:colId xmlns:a16="http://schemas.microsoft.com/office/drawing/2014/main" val="20001"/>
                    </a:ext>
                  </a:extLst>
                </a:gridCol>
                <a:gridCol w="614367">
                  <a:extLst>
                    <a:ext uri="{9D8B030D-6E8A-4147-A177-3AD203B41FA5}">
                      <a16:colId xmlns:a16="http://schemas.microsoft.com/office/drawing/2014/main" val="20002"/>
                    </a:ext>
                  </a:extLst>
                </a:gridCol>
                <a:gridCol w="614367">
                  <a:extLst>
                    <a:ext uri="{9D8B030D-6E8A-4147-A177-3AD203B41FA5}">
                      <a16:colId xmlns:a16="http://schemas.microsoft.com/office/drawing/2014/main" val="20003"/>
                    </a:ext>
                  </a:extLst>
                </a:gridCol>
                <a:gridCol w="614367">
                  <a:extLst>
                    <a:ext uri="{9D8B030D-6E8A-4147-A177-3AD203B41FA5}">
                      <a16:colId xmlns:a16="http://schemas.microsoft.com/office/drawing/2014/main" val="20004"/>
                    </a:ext>
                  </a:extLst>
                </a:gridCol>
              </a:tblGrid>
              <a:tr h="370840">
                <a:tc>
                  <a:txBody>
                    <a:bodyPr/>
                    <a:lstStyle/>
                    <a:p>
                      <a:pPr algn="ctr"/>
                      <a:endParaRPr lang="zh-CN" altLang="en-US" b="1">
                        <a:solidFill>
                          <a:srgbClr val="3333FF"/>
                        </a:solidFill>
                        <a:latin typeface="Consolas" pitchFamily="49" charset="0"/>
                        <a:cs typeface="Consolas" pitchFamily="49" charset="0"/>
                      </a:endParaRPr>
                    </a:p>
                  </a:txBody>
                  <a:tcPr>
                    <a:solidFill>
                      <a:schemeClr val="tx2">
                        <a:lumMod val="40000"/>
                        <a:lumOff val="60000"/>
                      </a:schemeClr>
                    </a:solidFill>
                  </a:tcPr>
                </a:tc>
                <a:tc>
                  <a:txBody>
                    <a:bodyPr/>
                    <a:lstStyle/>
                    <a:p>
                      <a:pPr algn="ctr"/>
                      <a:r>
                        <a:rPr lang="en-US" altLang="zh-CN" sz="1600" b="1">
                          <a:solidFill>
                            <a:srgbClr val="FF0000"/>
                          </a:solidFill>
                          <a:latin typeface="Consolas" pitchFamily="49" charset="0"/>
                          <a:cs typeface="Consolas" pitchFamily="49" charset="0"/>
                        </a:rPr>
                        <a:t>0</a:t>
                      </a:r>
                      <a:endParaRPr lang="zh-CN" altLang="en-US" sz="1600" b="1">
                        <a:solidFill>
                          <a:srgbClr val="FF0000"/>
                        </a:solidFill>
                        <a:latin typeface="Consolas" pitchFamily="49" charset="0"/>
                        <a:cs typeface="Consolas" pitchFamily="49" charset="0"/>
                      </a:endParaRPr>
                    </a:p>
                  </a:txBody>
                  <a:tcPr>
                    <a:solidFill>
                      <a:schemeClr val="tx2">
                        <a:lumMod val="40000"/>
                        <a:lumOff val="60000"/>
                      </a:schemeClr>
                    </a:solidFill>
                  </a:tcPr>
                </a:tc>
                <a:tc>
                  <a:txBody>
                    <a:bodyPr/>
                    <a:lstStyle/>
                    <a:p>
                      <a:pPr algn="ctr"/>
                      <a:r>
                        <a:rPr lang="en-US" altLang="zh-CN" sz="1600" b="1">
                          <a:solidFill>
                            <a:srgbClr val="FF0000"/>
                          </a:solidFill>
                          <a:latin typeface="Consolas" pitchFamily="49" charset="0"/>
                          <a:cs typeface="Consolas" pitchFamily="49" charset="0"/>
                        </a:rPr>
                        <a:t>1</a:t>
                      </a:r>
                      <a:endParaRPr lang="zh-CN" altLang="en-US" sz="1600" b="1">
                        <a:solidFill>
                          <a:srgbClr val="FF0000"/>
                        </a:solidFill>
                        <a:latin typeface="Consolas" pitchFamily="49" charset="0"/>
                        <a:cs typeface="Consolas" pitchFamily="49" charset="0"/>
                      </a:endParaRPr>
                    </a:p>
                  </a:txBody>
                  <a:tcPr>
                    <a:solidFill>
                      <a:schemeClr val="tx2">
                        <a:lumMod val="40000"/>
                        <a:lumOff val="60000"/>
                      </a:schemeClr>
                    </a:solidFill>
                  </a:tcPr>
                </a:tc>
                <a:tc>
                  <a:txBody>
                    <a:bodyPr/>
                    <a:lstStyle/>
                    <a:p>
                      <a:pPr algn="ctr"/>
                      <a:r>
                        <a:rPr lang="en-US" altLang="zh-CN" sz="1600" b="1">
                          <a:solidFill>
                            <a:srgbClr val="FF0000"/>
                          </a:solidFill>
                          <a:latin typeface="Consolas" pitchFamily="49" charset="0"/>
                          <a:cs typeface="Consolas" pitchFamily="49" charset="0"/>
                        </a:rPr>
                        <a:t>2</a:t>
                      </a:r>
                      <a:endParaRPr lang="zh-CN" altLang="en-US" sz="1600" b="1">
                        <a:solidFill>
                          <a:srgbClr val="FF0000"/>
                        </a:solidFill>
                        <a:latin typeface="Consolas" pitchFamily="49" charset="0"/>
                        <a:cs typeface="Consolas" pitchFamily="49" charset="0"/>
                      </a:endParaRPr>
                    </a:p>
                  </a:txBody>
                  <a:tcPr>
                    <a:solidFill>
                      <a:schemeClr val="tx2">
                        <a:lumMod val="40000"/>
                        <a:lumOff val="60000"/>
                      </a:schemeClr>
                    </a:solidFill>
                  </a:tcPr>
                </a:tc>
                <a:tc>
                  <a:txBody>
                    <a:bodyPr/>
                    <a:lstStyle/>
                    <a:p>
                      <a:pPr algn="ctr"/>
                      <a:r>
                        <a:rPr lang="en-US" altLang="zh-CN" sz="1600" b="1">
                          <a:solidFill>
                            <a:srgbClr val="FF0000"/>
                          </a:solidFill>
                          <a:latin typeface="Consolas" pitchFamily="49" charset="0"/>
                          <a:cs typeface="Consolas" pitchFamily="49" charset="0"/>
                        </a:rPr>
                        <a:t>3</a:t>
                      </a:r>
                      <a:endParaRPr lang="zh-CN" altLang="en-US" sz="1600" b="1">
                        <a:solidFill>
                          <a:srgbClr val="FF0000"/>
                        </a:solidFill>
                        <a:latin typeface="Consolas" pitchFamily="49" charset="0"/>
                        <a:cs typeface="Consolas" pitchFamily="49" charset="0"/>
                      </a:endParaRPr>
                    </a:p>
                  </a:txBody>
                  <a:tcPr>
                    <a:solidFill>
                      <a:schemeClr val="tx2">
                        <a:lumMod val="40000"/>
                        <a:lumOff val="60000"/>
                      </a:schemeClr>
                    </a:solidFill>
                  </a:tcPr>
                </a:tc>
                <a:extLst>
                  <a:ext uri="{0D108BD9-81ED-4DB2-BD59-A6C34878D82A}">
                    <a16:rowId xmlns:a16="http://schemas.microsoft.com/office/drawing/2014/main" val="10000"/>
                  </a:ext>
                </a:extLst>
              </a:tr>
              <a:tr h="370840">
                <a:tc>
                  <a:txBody>
                    <a:bodyPr/>
                    <a:lstStyle/>
                    <a:p>
                      <a:pPr algn="ctr"/>
                      <a:r>
                        <a:rPr lang="en-US" altLang="zh-CN" sz="1600" b="1">
                          <a:solidFill>
                            <a:srgbClr val="FF0000"/>
                          </a:solidFill>
                          <a:latin typeface="Consolas" pitchFamily="49" charset="0"/>
                          <a:cs typeface="Consolas" pitchFamily="49" charset="0"/>
                        </a:rPr>
                        <a:t>0</a:t>
                      </a:r>
                      <a:endParaRPr lang="zh-CN" altLang="en-US" sz="1600" b="1">
                        <a:solidFill>
                          <a:srgbClr val="FF0000"/>
                        </a:solidFill>
                        <a:latin typeface="Consolas" pitchFamily="49" charset="0"/>
                        <a:cs typeface="Consolas" pitchFamily="49" charset="0"/>
                      </a:endParaRPr>
                    </a:p>
                  </a:txBody>
                  <a:tcPr>
                    <a:solidFill>
                      <a:schemeClr val="tx2">
                        <a:lumMod val="40000"/>
                        <a:lumOff val="60000"/>
                      </a:schemeClr>
                    </a:solidFill>
                  </a:tcPr>
                </a:tc>
                <a:tc>
                  <a:txBody>
                    <a:bodyPr/>
                    <a:lstStyle/>
                    <a:p>
                      <a:pPr algn="ctr"/>
                      <a:r>
                        <a:rPr lang="en-US" altLang="zh-CN" b="1">
                          <a:solidFill>
                            <a:srgbClr val="3333FF"/>
                          </a:solidFill>
                          <a:latin typeface="Consolas" pitchFamily="49" charset="0"/>
                          <a:cs typeface="Consolas" pitchFamily="49" charset="0"/>
                        </a:rPr>
                        <a:t>0</a:t>
                      </a:r>
                      <a:endParaRPr lang="zh-CN" altLang="en-US" b="1">
                        <a:solidFill>
                          <a:srgbClr val="3333FF"/>
                        </a:solidFill>
                        <a:latin typeface="Consolas" pitchFamily="49" charset="0"/>
                        <a:cs typeface="Consolas" pitchFamily="49" charset="0"/>
                      </a:endParaRPr>
                    </a:p>
                  </a:txBody>
                  <a:tcPr/>
                </a:tc>
                <a:tc>
                  <a:txBody>
                    <a:bodyPr/>
                    <a:lstStyle/>
                    <a:p>
                      <a:pPr algn="ctr"/>
                      <a:r>
                        <a:rPr lang="en-US" altLang="zh-CN" b="1">
                          <a:solidFill>
                            <a:srgbClr val="3333FF"/>
                          </a:solidFill>
                          <a:latin typeface="Consolas" pitchFamily="49" charset="0"/>
                          <a:cs typeface="Consolas" pitchFamily="49" charset="0"/>
                        </a:rPr>
                        <a:t>5</a:t>
                      </a:r>
                      <a:endParaRPr lang="zh-CN" altLang="en-US" b="1">
                        <a:solidFill>
                          <a:srgbClr val="3333FF"/>
                        </a:solidFill>
                        <a:latin typeface="Consolas" pitchFamily="49" charset="0"/>
                        <a:cs typeface="Consolas" pitchFamily="49" charset="0"/>
                      </a:endParaRPr>
                    </a:p>
                  </a:txBody>
                  <a:tcPr/>
                </a:tc>
                <a:tc>
                  <a:txBody>
                    <a:bodyPr/>
                    <a:lstStyle/>
                    <a:p>
                      <a:pPr algn="ctr"/>
                      <a:r>
                        <a:rPr lang="en-US" altLang="zh-CN" b="1">
                          <a:solidFill>
                            <a:srgbClr val="3333FF"/>
                          </a:solidFill>
                          <a:latin typeface="Consolas" pitchFamily="49" charset="0"/>
                          <a:cs typeface="Consolas" pitchFamily="49" charset="0"/>
                        </a:rPr>
                        <a:t>9</a:t>
                      </a:r>
                      <a:endParaRPr lang="zh-CN" altLang="en-US" b="1">
                        <a:solidFill>
                          <a:srgbClr val="3333FF"/>
                        </a:solidFill>
                        <a:latin typeface="Consolas" pitchFamily="49" charset="0"/>
                        <a:cs typeface="Consolas" pitchFamily="49" charset="0"/>
                      </a:endParaRPr>
                    </a:p>
                  </a:txBody>
                  <a:tcPr/>
                </a:tc>
                <a:tc>
                  <a:txBody>
                    <a:bodyPr/>
                    <a:lstStyle/>
                    <a:p>
                      <a:pPr algn="ctr"/>
                      <a:r>
                        <a:rPr lang="en-US" altLang="zh-CN" b="1">
                          <a:solidFill>
                            <a:srgbClr val="3333FF"/>
                          </a:solidFill>
                          <a:latin typeface="Consolas" pitchFamily="49" charset="0"/>
                          <a:cs typeface="Consolas" pitchFamily="49" charset="0"/>
                        </a:rPr>
                        <a:t>7</a:t>
                      </a:r>
                      <a:endParaRPr lang="zh-CN" altLang="en-US" b="1">
                        <a:solidFill>
                          <a:srgbClr val="3333FF"/>
                        </a:solidFill>
                        <a:latin typeface="Consolas" pitchFamily="49" charset="0"/>
                        <a:cs typeface="Consolas" pitchFamily="49" charset="0"/>
                      </a:endParaRPr>
                    </a:p>
                  </a:txBody>
                  <a:tcPr/>
                </a:tc>
                <a:extLst>
                  <a:ext uri="{0D108BD9-81ED-4DB2-BD59-A6C34878D82A}">
                    <a16:rowId xmlns:a16="http://schemas.microsoft.com/office/drawing/2014/main" val="10001"/>
                  </a:ext>
                </a:extLst>
              </a:tr>
              <a:tr h="370840">
                <a:tc>
                  <a:txBody>
                    <a:bodyPr/>
                    <a:lstStyle/>
                    <a:p>
                      <a:pPr algn="ctr"/>
                      <a:r>
                        <a:rPr lang="en-US" altLang="zh-CN" sz="1600" b="1">
                          <a:solidFill>
                            <a:srgbClr val="FF0000"/>
                          </a:solidFill>
                          <a:latin typeface="Consolas" pitchFamily="49" charset="0"/>
                          <a:cs typeface="Consolas" pitchFamily="49" charset="0"/>
                        </a:rPr>
                        <a:t>1</a:t>
                      </a:r>
                      <a:endParaRPr lang="zh-CN" altLang="en-US" sz="1600" b="1">
                        <a:solidFill>
                          <a:srgbClr val="FF0000"/>
                        </a:solidFill>
                        <a:latin typeface="Consolas" pitchFamily="49" charset="0"/>
                        <a:cs typeface="Consolas" pitchFamily="49" charset="0"/>
                      </a:endParaRPr>
                    </a:p>
                  </a:txBody>
                  <a:tcPr>
                    <a:solidFill>
                      <a:schemeClr val="tx2">
                        <a:lumMod val="40000"/>
                        <a:lumOff val="6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b="1">
                          <a:solidFill>
                            <a:srgbClr val="3333FF"/>
                          </a:solidFill>
                          <a:latin typeface="Consolas" pitchFamily="49" charset="0"/>
                          <a:cs typeface="Consolas" pitchFamily="49" charset="0"/>
                        </a:rPr>
                        <a:t>∞</a:t>
                      </a:r>
                    </a:p>
                  </a:txBody>
                  <a:tcPr/>
                </a:tc>
                <a:tc>
                  <a:txBody>
                    <a:bodyPr/>
                    <a:lstStyle/>
                    <a:p>
                      <a:pPr algn="ctr"/>
                      <a:r>
                        <a:rPr lang="en-US" altLang="zh-CN" b="1">
                          <a:solidFill>
                            <a:srgbClr val="3333FF"/>
                          </a:solidFill>
                          <a:latin typeface="Consolas" pitchFamily="49" charset="0"/>
                          <a:cs typeface="Consolas" pitchFamily="49" charset="0"/>
                        </a:rPr>
                        <a:t>0</a:t>
                      </a:r>
                      <a:endParaRPr lang="zh-CN" altLang="en-US" b="1">
                        <a:solidFill>
                          <a:srgbClr val="3333FF"/>
                        </a:solidFill>
                        <a:latin typeface="Consolas" pitchFamily="49" charset="0"/>
                        <a:cs typeface="Consolas" pitchFamily="49" charset="0"/>
                      </a:endParaRPr>
                    </a:p>
                  </a:txBody>
                  <a:tcPr/>
                </a:tc>
                <a:tc>
                  <a:txBody>
                    <a:bodyPr/>
                    <a:lstStyle/>
                    <a:p>
                      <a:pPr algn="ctr"/>
                      <a:r>
                        <a:rPr lang="en-US" altLang="zh-CN" b="1">
                          <a:solidFill>
                            <a:srgbClr val="3333FF"/>
                          </a:solidFill>
                          <a:latin typeface="Consolas" pitchFamily="49" charset="0"/>
                          <a:cs typeface="Consolas" pitchFamily="49" charset="0"/>
                        </a:rPr>
                        <a:t>4</a:t>
                      </a:r>
                      <a:endParaRPr lang="zh-CN" altLang="en-US" b="1">
                        <a:solidFill>
                          <a:srgbClr val="3333FF"/>
                        </a:solidFill>
                        <a:latin typeface="Consolas" pitchFamily="49" charset="0"/>
                        <a:cs typeface="Consolas" pitchFamily="49" charset="0"/>
                      </a:endParaRPr>
                    </a:p>
                  </a:txBody>
                  <a:tcPr/>
                </a:tc>
                <a:tc>
                  <a:txBody>
                    <a:bodyPr/>
                    <a:lstStyle/>
                    <a:p>
                      <a:pPr algn="ctr"/>
                      <a:r>
                        <a:rPr lang="en-US" altLang="zh-CN" b="1">
                          <a:solidFill>
                            <a:srgbClr val="3333FF"/>
                          </a:solidFill>
                          <a:latin typeface="Consolas" pitchFamily="49" charset="0"/>
                          <a:cs typeface="Consolas" pitchFamily="49" charset="0"/>
                        </a:rPr>
                        <a:t>2</a:t>
                      </a:r>
                      <a:endParaRPr lang="zh-CN" altLang="en-US" b="1">
                        <a:solidFill>
                          <a:srgbClr val="3333FF"/>
                        </a:solidFill>
                        <a:latin typeface="Consolas" pitchFamily="49" charset="0"/>
                        <a:cs typeface="Consolas" pitchFamily="49" charset="0"/>
                      </a:endParaRPr>
                    </a:p>
                  </a:txBody>
                  <a:tcPr/>
                </a:tc>
                <a:extLst>
                  <a:ext uri="{0D108BD9-81ED-4DB2-BD59-A6C34878D82A}">
                    <a16:rowId xmlns:a16="http://schemas.microsoft.com/office/drawing/2014/main" val="10002"/>
                  </a:ext>
                </a:extLst>
              </a:tr>
              <a:tr h="370840">
                <a:tc>
                  <a:txBody>
                    <a:bodyPr/>
                    <a:lstStyle/>
                    <a:p>
                      <a:pPr algn="ctr"/>
                      <a:r>
                        <a:rPr lang="en-US" altLang="zh-CN" sz="1600" b="1">
                          <a:solidFill>
                            <a:srgbClr val="FF0000"/>
                          </a:solidFill>
                          <a:latin typeface="Consolas" pitchFamily="49" charset="0"/>
                          <a:cs typeface="Consolas" pitchFamily="49" charset="0"/>
                        </a:rPr>
                        <a:t>2</a:t>
                      </a:r>
                      <a:endParaRPr lang="zh-CN" altLang="en-US" sz="1600" b="1">
                        <a:solidFill>
                          <a:srgbClr val="FF0000"/>
                        </a:solidFill>
                        <a:latin typeface="Consolas" pitchFamily="49" charset="0"/>
                        <a:cs typeface="Consolas" pitchFamily="49" charset="0"/>
                      </a:endParaRPr>
                    </a:p>
                  </a:txBody>
                  <a:tcPr>
                    <a:solidFill>
                      <a:schemeClr val="tx2">
                        <a:lumMod val="40000"/>
                        <a:lumOff val="60000"/>
                      </a:schemeClr>
                    </a:solidFill>
                  </a:tcPr>
                </a:tc>
                <a:tc>
                  <a:txBody>
                    <a:bodyPr/>
                    <a:lstStyle/>
                    <a:p>
                      <a:pPr algn="ctr"/>
                      <a:r>
                        <a:rPr lang="en-US" altLang="zh-CN" b="1">
                          <a:solidFill>
                            <a:srgbClr val="3333FF"/>
                          </a:solidFill>
                          <a:latin typeface="Consolas" pitchFamily="49" charset="0"/>
                          <a:cs typeface="Consolas" pitchFamily="49" charset="0"/>
                        </a:rPr>
                        <a:t>3</a:t>
                      </a:r>
                      <a:endParaRPr lang="zh-CN" altLang="en-US" b="1">
                        <a:solidFill>
                          <a:srgbClr val="3333FF"/>
                        </a:solidFill>
                        <a:latin typeface="Consolas" pitchFamily="49" charset="0"/>
                        <a:cs typeface="Consolas" pitchFamily="49" charset="0"/>
                      </a:endParaRPr>
                    </a:p>
                  </a:txBody>
                  <a:tcPr/>
                </a:tc>
                <a:tc>
                  <a:txBody>
                    <a:bodyPr/>
                    <a:lstStyle/>
                    <a:p>
                      <a:pPr algn="ctr"/>
                      <a:r>
                        <a:rPr lang="en-US" altLang="zh-CN" b="1">
                          <a:solidFill>
                            <a:srgbClr val="3333FF"/>
                          </a:solidFill>
                          <a:latin typeface="Consolas" pitchFamily="49" charset="0"/>
                          <a:cs typeface="Consolas" pitchFamily="49" charset="0"/>
                        </a:rPr>
                        <a:t>3</a:t>
                      </a:r>
                      <a:endParaRPr lang="zh-CN" altLang="en-US" b="1">
                        <a:solidFill>
                          <a:srgbClr val="3333FF"/>
                        </a:solidFill>
                        <a:latin typeface="Consolas" pitchFamily="49" charset="0"/>
                        <a:cs typeface="Consolas" pitchFamily="49" charset="0"/>
                      </a:endParaRPr>
                    </a:p>
                  </a:txBody>
                  <a:tcPr/>
                </a:tc>
                <a:tc>
                  <a:txBody>
                    <a:bodyPr/>
                    <a:lstStyle/>
                    <a:p>
                      <a:pPr algn="ctr"/>
                      <a:r>
                        <a:rPr lang="en-US" altLang="zh-CN" b="1">
                          <a:solidFill>
                            <a:srgbClr val="3333FF"/>
                          </a:solidFill>
                          <a:latin typeface="Consolas" pitchFamily="49" charset="0"/>
                          <a:cs typeface="Consolas" pitchFamily="49" charset="0"/>
                        </a:rPr>
                        <a:t>0</a:t>
                      </a:r>
                      <a:endParaRPr lang="zh-CN" altLang="en-US" b="1">
                        <a:solidFill>
                          <a:srgbClr val="3333FF"/>
                        </a:solidFill>
                        <a:latin typeface="Consolas" pitchFamily="49" charset="0"/>
                        <a:cs typeface="Consolas" pitchFamily="49" charset="0"/>
                      </a:endParaRPr>
                    </a:p>
                  </a:txBody>
                  <a:tcPr/>
                </a:tc>
                <a:tc>
                  <a:txBody>
                    <a:bodyPr/>
                    <a:lstStyle/>
                    <a:p>
                      <a:pPr algn="ctr"/>
                      <a:r>
                        <a:rPr lang="en-US" altLang="zh-CN" b="1">
                          <a:solidFill>
                            <a:srgbClr val="3333FF"/>
                          </a:solidFill>
                          <a:latin typeface="Consolas" pitchFamily="49" charset="0"/>
                          <a:cs typeface="Consolas" pitchFamily="49" charset="0"/>
                        </a:rPr>
                        <a:t>2</a:t>
                      </a:r>
                      <a:endParaRPr lang="zh-CN" altLang="en-US" b="1">
                        <a:solidFill>
                          <a:srgbClr val="3333FF"/>
                        </a:solidFill>
                        <a:latin typeface="Consolas" pitchFamily="49" charset="0"/>
                        <a:cs typeface="Consolas" pitchFamily="49" charset="0"/>
                      </a:endParaRPr>
                    </a:p>
                  </a:txBody>
                  <a:tcPr/>
                </a:tc>
                <a:extLst>
                  <a:ext uri="{0D108BD9-81ED-4DB2-BD59-A6C34878D82A}">
                    <a16:rowId xmlns:a16="http://schemas.microsoft.com/office/drawing/2014/main" val="10003"/>
                  </a:ext>
                </a:extLst>
              </a:tr>
              <a:tr h="370840">
                <a:tc>
                  <a:txBody>
                    <a:bodyPr/>
                    <a:lstStyle/>
                    <a:p>
                      <a:pPr algn="ctr"/>
                      <a:r>
                        <a:rPr lang="en-US" altLang="zh-CN" sz="1600" b="1">
                          <a:solidFill>
                            <a:srgbClr val="FF0000"/>
                          </a:solidFill>
                          <a:latin typeface="Consolas" pitchFamily="49" charset="0"/>
                          <a:cs typeface="Consolas" pitchFamily="49" charset="0"/>
                        </a:rPr>
                        <a:t>3</a:t>
                      </a:r>
                      <a:endParaRPr lang="zh-CN" altLang="en-US" sz="1600" b="1">
                        <a:solidFill>
                          <a:srgbClr val="FF0000"/>
                        </a:solidFill>
                        <a:latin typeface="Consolas" pitchFamily="49" charset="0"/>
                        <a:cs typeface="Consolas" pitchFamily="49" charset="0"/>
                      </a:endParaRPr>
                    </a:p>
                  </a:txBody>
                  <a:tcPr>
                    <a:solidFill>
                      <a:schemeClr val="tx2">
                        <a:lumMod val="40000"/>
                        <a:lumOff val="6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b="1">
                          <a:solidFill>
                            <a:srgbClr val="3333FF"/>
                          </a:solidFill>
                          <a:latin typeface="Consolas" pitchFamily="49" charset="0"/>
                          <a:cs typeface="Consolas" pitchFamily="49" charset="0"/>
                        </a:rPr>
                        <a:t>∞</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b="1">
                          <a:solidFill>
                            <a:srgbClr val="3333FF"/>
                          </a:solidFill>
                          <a:latin typeface="Consolas" pitchFamily="49" charset="0"/>
                          <a:cs typeface="Consolas" pitchFamily="49" charset="0"/>
                        </a:rPr>
                        <a:t>∞</a:t>
                      </a:r>
                    </a:p>
                  </a:txBody>
                  <a:tcPr/>
                </a:tc>
                <a:tc>
                  <a:txBody>
                    <a:bodyPr/>
                    <a:lstStyle/>
                    <a:p>
                      <a:pPr algn="ctr"/>
                      <a:r>
                        <a:rPr lang="en-US" altLang="zh-CN" b="1">
                          <a:solidFill>
                            <a:srgbClr val="3333FF"/>
                          </a:solidFill>
                          <a:latin typeface="Consolas" pitchFamily="49" charset="0"/>
                          <a:cs typeface="Consolas" pitchFamily="49" charset="0"/>
                        </a:rPr>
                        <a:t>1</a:t>
                      </a:r>
                      <a:endParaRPr lang="zh-CN" altLang="en-US" b="1">
                        <a:solidFill>
                          <a:srgbClr val="3333FF"/>
                        </a:solidFill>
                        <a:latin typeface="Consolas" pitchFamily="49" charset="0"/>
                        <a:cs typeface="Consolas" pitchFamily="49" charset="0"/>
                      </a:endParaRPr>
                    </a:p>
                  </a:txBody>
                  <a:tcPr/>
                </a:tc>
                <a:tc>
                  <a:txBody>
                    <a:bodyPr/>
                    <a:lstStyle/>
                    <a:p>
                      <a:pPr algn="ctr"/>
                      <a:r>
                        <a:rPr lang="en-US" altLang="zh-CN" b="1">
                          <a:solidFill>
                            <a:srgbClr val="3333FF"/>
                          </a:solidFill>
                          <a:latin typeface="Consolas" pitchFamily="49" charset="0"/>
                          <a:cs typeface="Consolas" pitchFamily="49" charset="0"/>
                        </a:rPr>
                        <a:t>0</a:t>
                      </a:r>
                      <a:endParaRPr lang="zh-CN" altLang="en-US" b="1">
                        <a:solidFill>
                          <a:srgbClr val="3333FF"/>
                        </a:solidFill>
                        <a:latin typeface="Consolas" pitchFamily="49" charset="0"/>
                        <a:cs typeface="Consolas" pitchFamily="49" charset="0"/>
                      </a:endParaRPr>
                    </a:p>
                  </a:txBody>
                  <a:tcPr/>
                </a:tc>
                <a:extLst>
                  <a:ext uri="{0D108BD9-81ED-4DB2-BD59-A6C34878D82A}">
                    <a16:rowId xmlns:a16="http://schemas.microsoft.com/office/drawing/2014/main" val="10004"/>
                  </a:ext>
                </a:extLst>
              </a:tr>
            </a:tbl>
          </a:graphicData>
        </a:graphic>
      </p:graphicFrame>
      <p:sp>
        <p:nvSpPr>
          <p:cNvPr id="26" name="TextBox 125">
            <a:extLst>
              <a:ext uri="{FF2B5EF4-FFF2-40B4-BE49-F238E27FC236}">
                <a16:creationId xmlns:a16="http://schemas.microsoft.com/office/drawing/2014/main" id="{F844DC4E-8F59-FD79-CC7E-FC7203CABD97}"/>
              </a:ext>
            </a:extLst>
          </p:cNvPr>
          <p:cNvSpPr txBox="1"/>
          <p:nvPr/>
        </p:nvSpPr>
        <p:spPr>
          <a:xfrm>
            <a:off x="8852440" y="3865608"/>
            <a:ext cx="1000133" cy="430887"/>
          </a:xfrm>
          <a:prstGeom prst="rect">
            <a:avLst/>
          </a:prstGeom>
          <a:noFill/>
        </p:spPr>
        <p:txBody>
          <a:bodyPr wrap="square" rtlCol="0">
            <a:spAutoFit/>
          </a:bodyPr>
          <a:lstStyle/>
          <a:p>
            <a:r>
              <a:rPr lang="en-US" altLang="zh-CN" sz="2200">
                <a:latin typeface="Consolas" pitchFamily="49" charset="0"/>
                <a:cs typeface="Consolas" pitchFamily="49" charset="0"/>
              </a:rPr>
              <a:t>path</a:t>
            </a:r>
            <a:r>
              <a:rPr lang="en-US" altLang="zh-CN" sz="2200" baseline="-25000">
                <a:latin typeface="Consolas" pitchFamily="49" charset="0"/>
                <a:cs typeface="Consolas" pitchFamily="49" charset="0"/>
              </a:rPr>
              <a:t>2</a:t>
            </a:r>
            <a:endParaRPr lang="zh-CN" altLang="en-US" sz="2200" baseline="-25000">
              <a:latin typeface="Consolas" pitchFamily="49" charset="0"/>
              <a:cs typeface="Consolas" pitchFamily="49" charset="0"/>
            </a:endParaRPr>
          </a:p>
        </p:txBody>
      </p:sp>
      <p:graphicFrame>
        <p:nvGraphicFramePr>
          <p:cNvPr id="27" name="表格 26">
            <a:extLst>
              <a:ext uri="{FF2B5EF4-FFF2-40B4-BE49-F238E27FC236}">
                <a16:creationId xmlns:a16="http://schemas.microsoft.com/office/drawing/2014/main" id="{0CDFF8E1-F0FE-2A70-B934-B2FF34B5542B}"/>
              </a:ext>
            </a:extLst>
          </p:cNvPr>
          <p:cNvGraphicFramePr>
            <a:graphicFrameLocks noGrp="1"/>
          </p:cNvGraphicFramePr>
          <p:nvPr>
            <p:extLst>
              <p:ext uri="{D42A27DB-BD31-4B8C-83A1-F6EECF244321}">
                <p14:modId xmlns:p14="http://schemas.microsoft.com/office/powerpoint/2010/main" val="4096679245"/>
              </p:ext>
            </p:extLst>
          </p:nvPr>
        </p:nvGraphicFramePr>
        <p:xfrm>
          <a:off x="7566557" y="4437112"/>
          <a:ext cx="3071835" cy="1854200"/>
        </p:xfrm>
        <a:graphic>
          <a:graphicData uri="http://schemas.openxmlformats.org/drawingml/2006/table">
            <a:tbl>
              <a:tblPr firstRow="1" bandRow="1">
                <a:tableStyleId>{E8B1032C-EA38-4F05-BA0D-38AFFFC7BED3}</a:tableStyleId>
              </a:tblPr>
              <a:tblGrid>
                <a:gridCol w="614367">
                  <a:extLst>
                    <a:ext uri="{9D8B030D-6E8A-4147-A177-3AD203B41FA5}">
                      <a16:colId xmlns:a16="http://schemas.microsoft.com/office/drawing/2014/main" val="20000"/>
                    </a:ext>
                  </a:extLst>
                </a:gridCol>
                <a:gridCol w="614367">
                  <a:extLst>
                    <a:ext uri="{9D8B030D-6E8A-4147-A177-3AD203B41FA5}">
                      <a16:colId xmlns:a16="http://schemas.microsoft.com/office/drawing/2014/main" val="20001"/>
                    </a:ext>
                  </a:extLst>
                </a:gridCol>
                <a:gridCol w="614367">
                  <a:extLst>
                    <a:ext uri="{9D8B030D-6E8A-4147-A177-3AD203B41FA5}">
                      <a16:colId xmlns:a16="http://schemas.microsoft.com/office/drawing/2014/main" val="20002"/>
                    </a:ext>
                  </a:extLst>
                </a:gridCol>
                <a:gridCol w="614367">
                  <a:extLst>
                    <a:ext uri="{9D8B030D-6E8A-4147-A177-3AD203B41FA5}">
                      <a16:colId xmlns:a16="http://schemas.microsoft.com/office/drawing/2014/main" val="20003"/>
                    </a:ext>
                  </a:extLst>
                </a:gridCol>
                <a:gridCol w="614367">
                  <a:extLst>
                    <a:ext uri="{9D8B030D-6E8A-4147-A177-3AD203B41FA5}">
                      <a16:colId xmlns:a16="http://schemas.microsoft.com/office/drawing/2014/main" val="20004"/>
                    </a:ext>
                  </a:extLst>
                </a:gridCol>
              </a:tblGrid>
              <a:tr h="370840">
                <a:tc>
                  <a:txBody>
                    <a:bodyPr/>
                    <a:lstStyle/>
                    <a:p>
                      <a:pPr algn="ctr"/>
                      <a:endParaRPr lang="zh-CN" altLang="en-US" b="1">
                        <a:solidFill>
                          <a:srgbClr val="3333FF"/>
                        </a:solidFill>
                        <a:latin typeface="Consolas" pitchFamily="49" charset="0"/>
                        <a:cs typeface="Consolas" pitchFamily="49" charset="0"/>
                      </a:endParaRPr>
                    </a:p>
                  </a:txBody>
                  <a:tcPr>
                    <a:solidFill>
                      <a:schemeClr val="tx2">
                        <a:lumMod val="40000"/>
                        <a:lumOff val="60000"/>
                      </a:schemeClr>
                    </a:solidFill>
                  </a:tcPr>
                </a:tc>
                <a:tc>
                  <a:txBody>
                    <a:bodyPr/>
                    <a:lstStyle/>
                    <a:p>
                      <a:pPr algn="ctr"/>
                      <a:r>
                        <a:rPr lang="en-US" altLang="zh-CN" sz="1600" b="1">
                          <a:solidFill>
                            <a:srgbClr val="FF0000"/>
                          </a:solidFill>
                          <a:latin typeface="Consolas" pitchFamily="49" charset="0"/>
                          <a:cs typeface="Consolas" pitchFamily="49" charset="0"/>
                        </a:rPr>
                        <a:t>0</a:t>
                      </a:r>
                      <a:endParaRPr lang="zh-CN" altLang="en-US" sz="1600" b="1">
                        <a:solidFill>
                          <a:srgbClr val="FF0000"/>
                        </a:solidFill>
                        <a:latin typeface="Consolas" pitchFamily="49" charset="0"/>
                        <a:cs typeface="Consolas" pitchFamily="49" charset="0"/>
                      </a:endParaRPr>
                    </a:p>
                  </a:txBody>
                  <a:tcPr>
                    <a:solidFill>
                      <a:schemeClr val="tx2">
                        <a:lumMod val="40000"/>
                        <a:lumOff val="60000"/>
                      </a:schemeClr>
                    </a:solidFill>
                  </a:tcPr>
                </a:tc>
                <a:tc>
                  <a:txBody>
                    <a:bodyPr/>
                    <a:lstStyle/>
                    <a:p>
                      <a:pPr algn="ctr"/>
                      <a:r>
                        <a:rPr lang="en-US" altLang="zh-CN" sz="1600" b="1">
                          <a:solidFill>
                            <a:srgbClr val="FF0000"/>
                          </a:solidFill>
                          <a:latin typeface="Consolas" pitchFamily="49" charset="0"/>
                          <a:cs typeface="Consolas" pitchFamily="49" charset="0"/>
                        </a:rPr>
                        <a:t>1</a:t>
                      </a:r>
                      <a:endParaRPr lang="zh-CN" altLang="en-US" sz="1600" b="1">
                        <a:solidFill>
                          <a:srgbClr val="FF0000"/>
                        </a:solidFill>
                        <a:latin typeface="Consolas" pitchFamily="49" charset="0"/>
                        <a:cs typeface="Consolas" pitchFamily="49" charset="0"/>
                      </a:endParaRPr>
                    </a:p>
                  </a:txBody>
                  <a:tcPr>
                    <a:solidFill>
                      <a:schemeClr val="tx2">
                        <a:lumMod val="40000"/>
                        <a:lumOff val="60000"/>
                      </a:schemeClr>
                    </a:solidFill>
                  </a:tcPr>
                </a:tc>
                <a:tc>
                  <a:txBody>
                    <a:bodyPr/>
                    <a:lstStyle/>
                    <a:p>
                      <a:pPr algn="ctr"/>
                      <a:r>
                        <a:rPr lang="en-US" altLang="zh-CN" sz="1600" b="1">
                          <a:solidFill>
                            <a:srgbClr val="FF0000"/>
                          </a:solidFill>
                          <a:latin typeface="Consolas" pitchFamily="49" charset="0"/>
                          <a:cs typeface="Consolas" pitchFamily="49" charset="0"/>
                        </a:rPr>
                        <a:t>2</a:t>
                      </a:r>
                      <a:endParaRPr lang="zh-CN" altLang="en-US" sz="1600" b="1">
                        <a:solidFill>
                          <a:srgbClr val="FF0000"/>
                        </a:solidFill>
                        <a:latin typeface="Consolas" pitchFamily="49" charset="0"/>
                        <a:cs typeface="Consolas" pitchFamily="49" charset="0"/>
                      </a:endParaRPr>
                    </a:p>
                  </a:txBody>
                  <a:tcPr>
                    <a:solidFill>
                      <a:schemeClr val="tx2">
                        <a:lumMod val="40000"/>
                        <a:lumOff val="60000"/>
                      </a:schemeClr>
                    </a:solidFill>
                  </a:tcPr>
                </a:tc>
                <a:tc>
                  <a:txBody>
                    <a:bodyPr/>
                    <a:lstStyle/>
                    <a:p>
                      <a:pPr algn="ctr"/>
                      <a:r>
                        <a:rPr lang="en-US" altLang="zh-CN" sz="1600" b="1">
                          <a:solidFill>
                            <a:srgbClr val="FF0000"/>
                          </a:solidFill>
                          <a:latin typeface="Consolas" pitchFamily="49" charset="0"/>
                          <a:cs typeface="Consolas" pitchFamily="49" charset="0"/>
                        </a:rPr>
                        <a:t>3</a:t>
                      </a:r>
                      <a:endParaRPr lang="zh-CN" altLang="en-US" sz="1600" b="1">
                        <a:solidFill>
                          <a:srgbClr val="FF0000"/>
                        </a:solidFill>
                        <a:latin typeface="Consolas" pitchFamily="49" charset="0"/>
                        <a:cs typeface="Consolas" pitchFamily="49" charset="0"/>
                      </a:endParaRPr>
                    </a:p>
                  </a:txBody>
                  <a:tcPr>
                    <a:solidFill>
                      <a:schemeClr val="tx2">
                        <a:lumMod val="40000"/>
                        <a:lumOff val="60000"/>
                      </a:schemeClr>
                    </a:solidFill>
                  </a:tcPr>
                </a:tc>
                <a:extLst>
                  <a:ext uri="{0D108BD9-81ED-4DB2-BD59-A6C34878D82A}">
                    <a16:rowId xmlns:a16="http://schemas.microsoft.com/office/drawing/2014/main" val="10000"/>
                  </a:ext>
                </a:extLst>
              </a:tr>
              <a:tr h="370840">
                <a:tc>
                  <a:txBody>
                    <a:bodyPr/>
                    <a:lstStyle/>
                    <a:p>
                      <a:pPr algn="ctr"/>
                      <a:r>
                        <a:rPr lang="en-US" altLang="zh-CN" sz="1600" b="1">
                          <a:solidFill>
                            <a:srgbClr val="FF0000"/>
                          </a:solidFill>
                          <a:latin typeface="Consolas" pitchFamily="49" charset="0"/>
                          <a:cs typeface="Consolas" pitchFamily="49" charset="0"/>
                        </a:rPr>
                        <a:t>0</a:t>
                      </a:r>
                      <a:endParaRPr lang="zh-CN" altLang="en-US" sz="1600" b="1">
                        <a:solidFill>
                          <a:srgbClr val="FF0000"/>
                        </a:solidFill>
                        <a:latin typeface="Consolas" pitchFamily="49" charset="0"/>
                        <a:cs typeface="Consolas" pitchFamily="49" charset="0"/>
                      </a:endParaRPr>
                    </a:p>
                  </a:txBody>
                  <a:tcPr>
                    <a:solidFill>
                      <a:schemeClr val="tx2">
                        <a:lumMod val="40000"/>
                        <a:lumOff val="60000"/>
                      </a:schemeClr>
                    </a:solidFill>
                  </a:tcPr>
                </a:tc>
                <a:tc>
                  <a:txBody>
                    <a:bodyPr/>
                    <a:lstStyle/>
                    <a:p>
                      <a:pPr algn="ctr"/>
                      <a:r>
                        <a:rPr lang="en-US" altLang="zh-CN" b="1">
                          <a:solidFill>
                            <a:srgbClr val="3333FF"/>
                          </a:solidFill>
                          <a:latin typeface="Consolas" pitchFamily="49" charset="0"/>
                          <a:ea typeface="+mj-ea"/>
                          <a:cs typeface="Consolas" pitchFamily="49" charset="0"/>
                        </a:rPr>
                        <a:t>-</a:t>
                      </a:r>
                      <a:r>
                        <a:rPr lang="en-US" altLang="zh-CN" b="1">
                          <a:solidFill>
                            <a:srgbClr val="3333FF"/>
                          </a:solidFill>
                          <a:latin typeface="Consolas" pitchFamily="49" charset="0"/>
                          <a:cs typeface="Consolas" pitchFamily="49" charset="0"/>
                        </a:rPr>
                        <a:t>1</a:t>
                      </a:r>
                      <a:endParaRPr lang="zh-CN" altLang="en-US" b="1">
                        <a:solidFill>
                          <a:srgbClr val="3333FF"/>
                        </a:solidFill>
                        <a:latin typeface="Consolas" pitchFamily="49" charset="0"/>
                        <a:cs typeface="Consolas" pitchFamily="49" charset="0"/>
                      </a:endParaRPr>
                    </a:p>
                  </a:txBody>
                  <a:tcPr/>
                </a:tc>
                <a:tc>
                  <a:txBody>
                    <a:bodyPr/>
                    <a:lstStyle/>
                    <a:p>
                      <a:pPr algn="ctr"/>
                      <a:r>
                        <a:rPr lang="en-US" altLang="zh-CN" b="1">
                          <a:solidFill>
                            <a:srgbClr val="3333FF"/>
                          </a:solidFill>
                          <a:latin typeface="Consolas" pitchFamily="49" charset="0"/>
                          <a:cs typeface="Consolas" pitchFamily="49" charset="0"/>
                        </a:rPr>
                        <a:t>0</a:t>
                      </a:r>
                      <a:endParaRPr lang="zh-CN" altLang="en-US" b="1">
                        <a:solidFill>
                          <a:srgbClr val="3333FF"/>
                        </a:solidFill>
                        <a:latin typeface="Consolas" pitchFamily="49" charset="0"/>
                        <a:cs typeface="Consolas" pitchFamily="49" charset="0"/>
                      </a:endParaRPr>
                    </a:p>
                  </a:txBody>
                  <a:tcPr/>
                </a:tc>
                <a:tc>
                  <a:txBody>
                    <a:bodyPr/>
                    <a:lstStyle/>
                    <a:p>
                      <a:pPr algn="ctr"/>
                      <a:r>
                        <a:rPr lang="en-US" altLang="zh-CN" b="1">
                          <a:solidFill>
                            <a:srgbClr val="3333FF"/>
                          </a:solidFill>
                          <a:latin typeface="Consolas" pitchFamily="49" charset="0"/>
                          <a:cs typeface="Consolas" pitchFamily="49" charset="0"/>
                        </a:rPr>
                        <a:t>1</a:t>
                      </a:r>
                      <a:endParaRPr lang="zh-CN" altLang="en-US" b="1">
                        <a:solidFill>
                          <a:srgbClr val="3333FF"/>
                        </a:solidFill>
                        <a:latin typeface="Consolas" pitchFamily="49" charset="0"/>
                        <a:cs typeface="Consolas" pitchFamily="49" charset="0"/>
                      </a:endParaRPr>
                    </a:p>
                  </a:txBody>
                  <a:tcPr/>
                </a:tc>
                <a:tc>
                  <a:txBody>
                    <a:bodyPr/>
                    <a:lstStyle/>
                    <a:p>
                      <a:pPr algn="ctr"/>
                      <a:r>
                        <a:rPr lang="en-US" altLang="zh-CN" b="1">
                          <a:solidFill>
                            <a:srgbClr val="3333FF"/>
                          </a:solidFill>
                          <a:latin typeface="Consolas" pitchFamily="49" charset="0"/>
                          <a:cs typeface="Consolas" pitchFamily="49" charset="0"/>
                        </a:rPr>
                        <a:t>0</a:t>
                      </a:r>
                      <a:endParaRPr lang="zh-CN" altLang="en-US" b="1">
                        <a:solidFill>
                          <a:srgbClr val="3333FF"/>
                        </a:solidFill>
                        <a:latin typeface="Consolas" pitchFamily="49" charset="0"/>
                        <a:cs typeface="Consolas" pitchFamily="49" charset="0"/>
                      </a:endParaRPr>
                    </a:p>
                  </a:txBody>
                  <a:tcPr/>
                </a:tc>
                <a:extLst>
                  <a:ext uri="{0D108BD9-81ED-4DB2-BD59-A6C34878D82A}">
                    <a16:rowId xmlns:a16="http://schemas.microsoft.com/office/drawing/2014/main" val="10001"/>
                  </a:ext>
                </a:extLst>
              </a:tr>
              <a:tr h="370840">
                <a:tc>
                  <a:txBody>
                    <a:bodyPr/>
                    <a:lstStyle/>
                    <a:p>
                      <a:pPr algn="ctr"/>
                      <a:r>
                        <a:rPr lang="en-US" altLang="zh-CN" sz="1600" b="1">
                          <a:solidFill>
                            <a:srgbClr val="FF0000"/>
                          </a:solidFill>
                          <a:latin typeface="Consolas" pitchFamily="49" charset="0"/>
                          <a:cs typeface="Consolas" pitchFamily="49" charset="0"/>
                        </a:rPr>
                        <a:t>1</a:t>
                      </a:r>
                      <a:endParaRPr lang="zh-CN" altLang="en-US" sz="1600" b="1">
                        <a:solidFill>
                          <a:srgbClr val="FF0000"/>
                        </a:solidFill>
                        <a:latin typeface="Consolas" pitchFamily="49" charset="0"/>
                        <a:cs typeface="Consolas" pitchFamily="49" charset="0"/>
                      </a:endParaRPr>
                    </a:p>
                  </a:txBody>
                  <a:tcPr>
                    <a:solidFill>
                      <a:schemeClr val="tx2">
                        <a:lumMod val="40000"/>
                        <a:lumOff val="6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b="1">
                          <a:solidFill>
                            <a:srgbClr val="3333FF"/>
                          </a:solidFill>
                          <a:latin typeface="Consolas" pitchFamily="49" charset="0"/>
                          <a:ea typeface="+mj-ea"/>
                          <a:cs typeface="Consolas" pitchFamily="49" charset="0"/>
                        </a:rPr>
                        <a:t>-</a:t>
                      </a:r>
                      <a:r>
                        <a:rPr lang="en-US" altLang="zh-CN" b="1">
                          <a:solidFill>
                            <a:srgbClr val="3333FF"/>
                          </a:solidFill>
                          <a:latin typeface="Consolas" pitchFamily="49" charset="0"/>
                          <a:cs typeface="Consolas" pitchFamily="49" charset="0"/>
                        </a:rPr>
                        <a:t>1</a:t>
                      </a:r>
                      <a:endParaRPr lang="zh-CN" altLang="en-US" b="1">
                        <a:solidFill>
                          <a:srgbClr val="3333FF"/>
                        </a:solidFill>
                        <a:latin typeface="Consolas" pitchFamily="49" charset="0"/>
                        <a:cs typeface="Consolas" pitchFamily="49" charset="0"/>
                      </a:endParaRPr>
                    </a:p>
                  </a:txBody>
                  <a:tcPr/>
                </a:tc>
                <a:tc>
                  <a:txBody>
                    <a:bodyPr/>
                    <a:lstStyle/>
                    <a:p>
                      <a:pPr algn="ctr"/>
                      <a:r>
                        <a:rPr lang="en-US" altLang="zh-CN" b="1">
                          <a:solidFill>
                            <a:srgbClr val="3333FF"/>
                          </a:solidFill>
                          <a:latin typeface="Consolas" pitchFamily="49" charset="0"/>
                          <a:ea typeface="+mn-ea"/>
                          <a:cs typeface="Consolas" pitchFamily="49" charset="0"/>
                        </a:rPr>
                        <a:t>-</a:t>
                      </a:r>
                      <a:r>
                        <a:rPr lang="en-US" altLang="zh-CN" b="1">
                          <a:solidFill>
                            <a:srgbClr val="3333FF"/>
                          </a:solidFill>
                          <a:latin typeface="Consolas" pitchFamily="49" charset="0"/>
                          <a:cs typeface="Consolas" pitchFamily="49" charset="0"/>
                        </a:rPr>
                        <a:t>1</a:t>
                      </a:r>
                      <a:endParaRPr lang="zh-CN" altLang="en-US" b="1">
                        <a:solidFill>
                          <a:srgbClr val="3333FF"/>
                        </a:solidFill>
                        <a:latin typeface="Consolas" pitchFamily="49" charset="0"/>
                        <a:cs typeface="Consolas" pitchFamily="49" charset="0"/>
                      </a:endParaRPr>
                    </a:p>
                  </a:txBody>
                  <a:tcPr/>
                </a:tc>
                <a:tc>
                  <a:txBody>
                    <a:bodyPr/>
                    <a:lstStyle/>
                    <a:p>
                      <a:pPr algn="ctr"/>
                      <a:r>
                        <a:rPr lang="en-US" altLang="zh-CN" b="1">
                          <a:solidFill>
                            <a:srgbClr val="3333FF"/>
                          </a:solidFill>
                          <a:latin typeface="Consolas" pitchFamily="49" charset="0"/>
                          <a:cs typeface="Consolas" pitchFamily="49" charset="0"/>
                        </a:rPr>
                        <a:t>1</a:t>
                      </a:r>
                      <a:endParaRPr lang="zh-CN" altLang="en-US" b="1">
                        <a:solidFill>
                          <a:srgbClr val="3333FF"/>
                        </a:solidFill>
                        <a:latin typeface="Consolas" pitchFamily="49" charset="0"/>
                        <a:cs typeface="Consolas" pitchFamily="49" charset="0"/>
                      </a:endParaRPr>
                    </a:p>
                  </a:txBody>
                  <a:tcPr/>
                </a:tc>
                <a:tc>
                  <a:txBody>
                    <a:bodyPr/>
                    <a:lstStyle/>
                    <a:p>
                      <a:pPr algn="ctr"/>
                      <a:r>
                        <a:rPr lang="en-US" altLang="zh-CN" b="1">
                          <a:solidFill>
                            <a:srgbClr val="3333FF"/>
                          </a:solidFill>
                          <a:latin typeface="Consolas" pitchFamily="49" charset="0"/>
                          <a:cs typeface="Consolas" pitchFamily="49" charset="0"/>
                        </a:rPr>
                        <a:t>1</a:t>
                      </a:r>
                      <a:endParaRPr lang="zh-CN" altLang="en-US" b="1">
                        <a:solidFill>
                          <a:srgbClr val="3333FF"/>
                        </a:solidFill>
                        <a:latin typeface="Consolas" pitchFamily="49" charset="0"/>
                        <a:cs typeface="Consolas" pitchFamily="49" charset="0"/>
                      </a:endParaRPr>
                    </a:p>
                  </a:txBody>
                  <a:tcPr/>
                </a:tc>
                <a:extLst>
                  <a:ext uri="{0D108BD9-81ED-4DB2-BD59-A6C34878D82A}">
                    <a16:rowId xmlns:a16="http://schemas.microsoft.com/office/drawing/2014/main" val="10002"/>
                  </a:ext>
                </a:extLst>
              </a:tr>
              <a:tr h="370840">
                <a:tc>
                  <a:txBody>
                    <a:bodyPr/>
                    <a:lstStyle/>
                    <a:p>
                      <a:pPr algn="ctr"/>
                      <a:r>
                        <a:rPr lang="en-US" altLang="zh-CN" sz="1600" b="1">
                          <a:solidFill>
                            <a:srgbClr val="FF0000"/>
                          </a:solidFill>
                          <a:latin typeface="Consolas" pitchFamily="49" charset="0"/>
                          <a:cs typeface="Consolas" pitchFamily="49" charset="0"/>
                        </a:rPr>
                        <a:t>2</a:t>
                      </a:r>
                      <a:endParaRPr lang="zh-CN" altLang="en-US" sz="1600" b="1">
                        <a:solidFill>
                          <a:srgbClr val="FF0000"/>
                        </a:solidFill>
                        <a:latin typeface="Consolas" pitchFamily="49" charset="0"/>
                        <a:cs typeface="Consolas" pitchFamily="49" charset="0"/>
                      </a:endParaRPr>
                    </a:p>
                  </a:txBody>
                  <a:tcPr>
                    <a:solidFill>
                      <a:schemeClr val="tx2">
                        <a:lumMod val="40000"/>
                        <a:lumOff val="60000"/>
                      </a:schemeClr>
                    </a:solidFill>
                  </a:tcPr>
                </a:tc>
                <a:tc>
                  <a:txBody>
                    <a:bodyPr/>
                    <a:lstStyle/>
                    <a:p>
                      <a:pPr algn="ctr"/>
                      <a:r>
                        <a:rPr lang="en-US" altLang="zh-CN" b="1">
                          <a:solidFill>
                            <a:srgbClr val="3333FF"/>
                          </a:solidFill>
                          <a:latin typeface="Consolas" pitchFamily="49" charset="0"/>
                          <a:cs typeface="Consolas" pitchFamily="49" charset="0"/>
                        </a:rPr>
                        <a:t>2</a:t>
                      </a:r>
                      <a:endParaRPr lang="zh-CN" altLang="en-US" b="1">
                        <a:solidFill>
                          <a:srgbClr val="3333FF"/>
                        </a:solidFill>
                        <a:latin typeface="Consolas" pitchFamily="49" charset="0"/>
                        <a:cs typeface="Consolas" pitchFamily="49" charset="0"/>
                      </a:endParaRPr>
                    </a:p>
                  </a:txBody>
                  <a:tcPr/>
                </a:tc>
                <a:tc>
                  <a:txBody>
                    <a:bodyPr/>
                    <a:lstStyle/>
                    <a:p>
                      <a:pPr algn="ctr"/>
                      <a:r>
                        <a:rPr lang="en-US" altLang="zh-CN" b="1">
                          <a:solidFill>
                            <a:srgbClr val="3333FF"/>
                          </a:solidFill>
                          <a:latin typeface="Consolas" pitchFamily="49" charset="0"/>
                          <a:cs typeface="Consolas" pitchFamily="49" charset="0"/>
                        </a:rPr>
                        <a:t>2</a:t>
                      </a:r>
                      <a:endParaRPr lang="zh-CN" altLang="en-US" b="1">
                        <a:solidFill>
                          <a:srgbClr val="3333FF"/>
                        </a:solidFill>
                        <a:latin typeface="Consolas" pitchFamily="49" charset="0"/>
                        <a:cs typeface="Consolas" pitchFamily="49" charset="0"/>
                      </a:endParaRPr>
                    </a:p>
                  </a:txBody>
                  <a:tcPr/>
                </a:tc>
                <a:tc>
                  <a:txBody>
                    <a:bodyPr/>
                    <a:lstStyle/>
                    <a:p>
                      <a:pPr algn="ctr"/>
                      <a:r>
                        <a:rPr lang="en-US" altLang="zh-CN" b="1">
                          <a:solidFill>
                            <a:srgbClr val="3333FF"/>
                          </a:solidFill>
                          <a:latin typeface="Consolas" pitchFamily="49" charset="0"/>
                          <a:ea typeface="+mj-ea"/>
                          <a:cs typeface="Consolas" pitchFamily="49" charset="0"/>
                        </a:rPr>
                        <a:t>-</a:t>
                      </a:r>
                      <a:r>
                        <a:rPr lang="en-US" altLang="zh-CN" b="1">
                          <a:solidFill>
                            <a:srgbClr val="3333FF"/>
                          </a:solidFill>
                          <a:latin typeface="Consolas" pitchFamily="49" charset="0"/>
                          <a:cs typeface="Consolas" pitchFamily="49" charset="0"/>
                        </a:rPr>
                        <a:t>1</a:t>
                      </a:r>
                      <a:endParaRPr lang="zh-CN" altLang="en-US" b="1">
                        <a:solidFill>
                          <a:srgbClr val="3333FF"/>
                        </a:solidFill>
                        <a:latin typeface="Consolas" pitchFamily="49" charset="0"/>
                        <a:cs typeface="Consolas" pitchFamily="49" charset="0"/>
                      </a:endParaRPr>
                    </a:p>
                  </a:txBody>
                  <a:tcPr/>
                </a:tc>
                <a:tc>
                  <a:txBody>
                    <a:bodyPr/>
                    <a:lstStyle/>
                    <a:p>
                      <a:pPr algn="ctr"/>
                      <a:r>
                        <a:rPr lang="en-US" altLang="zh-CN" b="1">
                          <a:solidFill>
                            <a:srgbClr val="3333FF"/>
                          </a:solidFill>
                          <a:latin typeface="Consolas" pitchFamily="49" charset="0"/>
                          <a:cs typeface="Consolas" pitchFamily="49" charset="0"/>
                        </a:rPr>
                        <a:t>2</a:t>
                      </a:r>
                      <a:endParaRPr lang="zh-CN" altLang="en-US" b="1">
                        <a:solidFill>
                          <a:srgbClr val="3333FF"/>
                        </a:solidFill>
                        <a:latin typeface="Consolas" pitchFamily="49" charset="0"/>
                        <a:cs typeface="Consolas" pitchFamily="49" charset="0"/>
                      </a:endParaRPr>
                    </a:p>
                  </a:txBody>
                  <a:tcPr/>
                </a:tc>
                <a:extLst>
                  <a:ext uri="{0D108BD9-81ED-4DB2-BD59-A6C34878D82A}">
                    <a16:rowId xmlns:a16="http://schemas.microsoft.com/office/drawing/2014/main" val="10003"/>
                  </a:ext>
                </a:extLst>
              </a:tr>
              <a:tr h="370840">
                <a:tc>
                  <a:txBody>
                    <a:bodyPr/>
                    <a:lstStyle/>
                    <a:p>
                      <a:pPr algn="ctr"/>
                      <a:r>
                        <a:rPr lang="en-US" altLang="zh-CN" sz="1600" b="1">
                          <a:solidFill>
                            <a:srgbClr val="FF0000"/>
                          </a:solidFill>
                          <a:latin typeface="Consolas" pitchFamily="49" charset="0"/>
                          <a:cs typeface="Consolas" pitchFamily="49" charset="0"/>
                        </a:rPr>
                        <a:t>3</a:t>
                      </a:r>
                      <a:endParaRPr lang="zh-CN" altLang="en-US" sz="1600" b="1">
                        <a:solidFill>
                          <a:srgbClr val="FF0000"/>
                        </a:solidFill>
                        <a:latin typeface="Consolas" pitchFamily="49" charset="0"/>
                        <a:cs typeface="Consolas" pitchFamily="49" charset="0"/>
                      </a:endParaRPr>
                    </a:p>
                  </a:txBody>
                  <a:tcPr>
                    <a:solidFill>
                      <a:schemeClr val="tx2">
                        <a:lumMod val="40000"/>
                        <a:lumOff val="6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b="1">
                          <a:solidFill>
                            <a:srgbClr val="3333FF"/>
                          </a:solidFill>
                          <a:latin typeface="Consolas" pitchFamily="49" charset="0"/>
                          <a:ea typeface="+mn-ea"/>
                          <a:cs typeface="Consolas" pitchFamily="49" charset="0"/>
                        </a:rPr>
                        <a:t>-</a:t>
                      </a:r>
                      <a:r>
                        <a:rPr lang="en-US" altLang="zh-CN" b="1">
                          <a:solidFill>
                            <a:srgbClr val="3333FF"/>
                          </a:solidFill>
                          <a:latin typeface="Consolas" pitchFamily="49" charset="0"/>
                          <a:cs typeface="Consolas" pitchFamily="49" charset="0"/>
                        </a:rPr>
                        <a:t>1</a:t>
                      </a:r>
                      <a:endParaRPr lang="zh-CN" altLang="en-US" b="1">
                        <a:solidFill>
                          <a:srgbClr val="3333FF"/>
                        </a:solidFill>
                        <a:latin typeface="Consolas" pitchFamily="49" charset="0"/>
                        <a:cs typeface="Consolas"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b="1">
                          <a:solidFill>
                            <a:srgbClr val="3333FF"/>
                          </a:solidFill>
                          <a:latin typeface="Consolas" pitchFamily="49" charset="0"/>
                          <a:ea typeface="+mn-ea"/>
                          <a:cs typeface="Consolas" pitchFamily="49" charset="0"/>
                        </a:rPr>
                        <a:t>-</a:t>
                      </a:r>
                      <a:r>
                        <a:rPr lang="en-US" altLang="zh-CN" b="1">
                          <a:solidFill>
                            <a:srgbClr val="3333FF"/>
                          </a:solidFill>
                          <a:latin typeface="Consolas" pitchFamily="49" charset="0"/>
                          <a:cs typeface="Consolas" pitchFamily="49" charset="0"/>
                        </a:rPr>
                        <a:t>1</a:t>
                      </a:r>
                      <a:endParaRPr lang="zh-CN" altLang="en-US" b="1">
                        <a:solidFill>
                          <a:srgbClr val="3333FF"/>
                        </a:solidFill>
                        <a:latin typeface="Consolas" pitchFamily="49" charset="0"/>
                        <a:cs typeface="Consolas" pitchFamily="49" charset="0"/>
                      </a:endParaRPr>
                    </a:p>
                  </a:txBody>
                  <a:tcPr/>
                </a:tc>
                <a:tc>
                  <a:txBody>
                    <a:bodyPr/>
                    <a:lstStyle/>
                    <a:p>
                      <a:pPr algn="ctr"/>
                      <a:r>
                        <a:rPr lang="en-US" altLang="zh-CN" b="1">
                          <a:solidFill>
                            <a:srgbClr val="3333FF"/>
                          </a:solidFill>
                          <a:latin typeface="Consolas" pitchFamily="49" charset="0"/>
                          <a:cs typeface="Consolas" pitchFamily="49" charset="0"/>
                        </a:rPr>
                        <a:t>3</a:t>
                      </a:r>
                      <a:endParaRPr lang="zh-CN" altLang="en-US" b="1">
                        <a:solidFill>
                          <a:srgbClr val="3333FF"/>
                        </a:solidFill>
                        <a:latin typeface="Consolas" pitchFamily="49" charset="0"/>
                        <a:cs typeface="Consolas" pitchFamily="49" charset="0"/>
                      </a:endParaRPr>
                    </a:p>
                  </a:txBody>
                  <a:tcPr/>
                </a:tc>
                <a:tc>
                  <a:txBody>
                    <a:bodyPr/>
                    <a:lstStyle/>
                    <a:p>
                      <a:pPr algn="ctr"/>
                      <a:r>
                        <a:rPr lang="en-US" altLang="zh-CN" b="1">
                          <a:solidFill>
                            <a:srgbClr val="3333FF"/>
                          </a:solidFill>
                          <a:latin typeface="Consolas" pitchFamily="49" charset="0"/>
                          <a:ea typeface="+mn-ea"/>
                          <a:cs typeface="Consolas" pitchFamily="49" charset="0"/>
                        </a:rPr>
                        <a:t>-</a:t>
                      </a:r>
                      <a:r>
                        <a:rPr lang="en-US" altLang="zh-CN" b="1">
                          <a:solidFill>
                            <a:srgbClr val="3333FF"/>
                          </a:solidFill>
                          <a:latin typeface="Consolas" pitchFamily="49" charset="0"/>
                          <a:cs typeface="Consolas" pitchFamily="49" charset="0"/>
                        </a:rPr>
                        <a:t>1</a:t>
                      </a:r>
                      <a:endParaRPr lang="zh-CN" altLang="en-US" b="1">
                        <a:solidFill>
                          <a:srgbClr val="3333FF"/>
                        </a:solidFill>
                        <a:latin typeface="Consolas" pitchFamily="49" charset="0"/>
                        <a:cs typeface="Consolas" pitchFamily="49" charset="0"/>
                      </a:endParaRPr>
                    </a:p>
                  </a:txBody>
                  <a:tcPr/>
                </a:tc>
                <a:extLst>
                  <a:ext uri="{0D108BD9-81ED-4DB2-BD59-A6C34878D82A}">
                    <a16:rowId xmlns:a16="http://schemas.microsoft.com/office/drawing/2014/main" val="10004"/>
                  </a:ext>
                </a:extLst>
              </a:tr>
            </a:tbl>
          </a:graphicData>
        </a:graphic>
      </p:graphicFrame>
      <p:sp>
        <p:nvSpPr>
          <p:cNvPr id="28" name="Text Box 116">
            <a:extLst>
              <a:ext uri="{FF2B5EF4-FFF2-40B4-BE49-F238E27FC236}">
                <a16:creationId xmlns:a16="http://schemas.microsoft.com/office/drawing/2014/main" id="{9CEAC198-9D79-A5F3-F7F7-EA192A4841BD}"/>
              </a:ext>
            </a:extLst>
          </p:cNvPr>
          <p:cNvSpPr txBox="1">
            <a:spLocks noChangeArrowheads="1"/>
          </p:cNvSpPr>
          <p:nvPr/>
        </p:nvSpPr>
        <p:spPr bwMode="auto">
          <a:xfrm>
            <a:off x="5317085" y="1390774"/>
            <a:ext cx="2035159" cy="492443"/>
          </a:xfrm>
          <a:prstGeom prst="rect">
            <a:avLst/>
          </a:prstGeom>
          <a:noFill/>
          <a:ln w="28575" algn="ctr">
            <a:noFill/>
            <a:miter lim="800000"/>
            <a:headEnd/>
            <a:tailEnd/>
          </a:ln>
          <a:effectLst/>
        </p:spPr>
        <p:txBody>
          <a:bodyPr wrap="square" lIns="0" tIns="0" rIns="0" bIns="0">
            <a:spAutoFit/>
          </a:bodyPr>
          <a:lstStyle/>
          <a:p>
            <a:r>
              <a:rPr lang="zh-CN" altLang="en-US" sz="1800">
                <a:latin typeface="Consolas" pitchFamily="49" charset="0"/>
                <a:ea typeface="楷体" pitchFamily="49" charset="-122"/>
                <a:cs typeface="Consolas" pitchFamily="49" charset="0"/>
              </a:rPr>
              <a:t>考虑顶点</a:t>
            </a:r>
            <a:r>
              <a:rPr lang="en-US" altLang="zh-CN" sz="3200">
                <a:solidFill>
                  <a:srgbClr val="FF0000"/>
                </a:solidFill>
                <a:latin typeface="Consolas" pitchFamily="49" charset="0"/>
                <a:ea typeface="楷体" pitchFamily="49" charset="-122"/>
                <a:cs typeface="Consolas" pitchFamily="49" charset="0"/>
              </a:rPr>
              <a:t>2</a:t>
            </a:r>
            <a:r>
              <a:rPr lang="zh-CN" altLang="en-US">
                <a:solidFill>
                  <a:srgbClr val="FF0000"/>
                </a:solidFill>
                <a:latin typeface="Consolas" pitchFamily="49" charset="0"/>
                <a:ea typeface="楷体" pitchFamily="49" charset="-122"/>
                <a:cs typeface="Consolas" pitchFamily="49" charset="0"/>
              </a:rPr>
              <a:t>：</a:t>
            </a:r>
            <a:endParaRPr lang="zh-CN" altLang="en-US" sz="2000" dirty="0">
              <a:latin typeface="Consolas" pitchFamily="49" charset="0"/>
              <a:ea typeface="楷体" pitchFamily="49" charset="-122"/>
              <a:cs typeface="Consolas" pitchFamily="49" charset="0"/>
            </a:endParaRPr>
          </a:p>
        </p:txBody>
      </p:sp>
      <p:sp>
        <p:nvSpPr>
          <p:cNvPr id="29" name="TextBox 60">
            <a:extLst>
              <a:ext uri="{FF2B5EF4-FFF2-40B4-BE49-F238E27FC236}">
                <a16:creationId xmlns:a16="http://schemas.microsoft.com/office/drawing/2014/main" id="{53F07222-EE34-3E8A-2A7D-BDCD51EAEEFB}"/>
              </a:ext>
            </a:extLst>
          </p:cNvPr>
          <p:cNvSpPr txBox="1"/>
          <p:nvPr/>
        </p:nvSpPr>
        <p:spPr>
          <a:xfrm>
            <a:off x="3065964" y="5179760"/>
            <a:ext cx="468000" cy="369332"/>
          </a:xfrm>
          <a:prstGeom prst="rect">
            <a:avLst/>
          </a:prstGeom>
        </p:spPr>
        <p:style>
          <a:lnRef idx="1">
            <a:schemeClr val="accent4"/>
          </a:lnRef>
          <a:fillRef idx="2">
            <a:schemeClr val="accent4"/>
          </a:fillRef>
          <a:effectRef idx="1">
            <a:schemeClr val="accent4"/>
          </a:effectRef>
          <a:fontRef idx="minor">
            <a:schemeClr val="dk1"/>
          </a:fontRef>
        </p:style>
        <p:txBody>
          <a:bodyPr wrap="square" lIns="0" tIns="0" rIns="0" bIns="0" rtlCol="0">
            <a:spAutoFit/>
          </a:bodyPr>
          <a:lstStyle/>
          <a:p>
            <a:pPr algn="ctr"/>
            <a:r>
              <a:rPr lang="en-US" altLang="zh-CN">
                <a:solidFill>
                  <a:srgbClr val="FF0000"/>
                </a:solidFill>
                <a:latin typeface="Consolas" pitchFamily="49" charset="0"/>
                <a:ea typeface="楷体" pitchFamily="49" charset="-122"/>
                <a:cs typeface="Consolas" pitchFamily="49" charset="0"/>
              </a:rPr>
              <a:t>7</a:t>
            </a:r>
            <a:endParaRPr lang="zh-CN" altLang="en-US">
              <a:solidFill>
                <a:srgbClr val="FF0000"/>
              </a:solidFill>
              <a:latin typeface="Consolas" pitchFamily="49" charset="0"/>
              <a:ea typeface="楷体" pitchFamily="49" charset="-122"/>
              <a:cs typeface="Consolas" pitchFamily="49" charset="0"/>
            </a:endParaRPr>
          </a:p>
        </p:txBody>
      </p:sp>
      <p:sp>
        <p:nvSpPr>
          <p:cNvPr id="30" name="矩形 29">
            <a:extLst>
              <a:ext uri="{FF2B5EF4-FFF2-40B4-BE49-F238E27FC236}">
                <a16:creationId xmlns:a16="http://schemas.microsoft.com/office/drawing/2014/main" id="{C1539A0F-6652-1E97-52AD-631C710F7C8C}"/>
              </a:ext>
            </a:extLst>
          </p:cNvPr>
          <p:cNvSpPr/>
          <p:nvPr/>
        </p:nvSpPr>
        <p:spPr>
          <a:xfrm>
            <a:off x="8365076" y="5178424"/>
            <a:ext cx="285752" cy="369332"/>
          </a:xfrm>
          <a:prstGeom prst="rect">
            <a:avLst/>
          </a:prstGeom>
        </p:spPr>
        <p:style>
          <a:lnRef idx="1">
            <a:schemeClr val="accent4"/>
          </a:lnRef>
          <a:fillRef idx="2">
            <a:schemeClr val="accent4"/>
          </a:fillRef>
          <a:effectRef idx="1">
            <a:schemeClr val="accent4"/>
          </a:effectRef>
          <a:fontRef idx="minor">
            <a:schemeClr val="dk1"/>
          </a:fontRef>
        </p:style>
        <p:txBody>
          <a:bodyPr wrap="square" lIns="0" tIns="0" rIns="0" bIns="0">
            <a:spAutoFit/>
          </a:bodyPr>
          <a:lstStyle/>
          <a:p>
            <a:pPr algn="ctr"/>
            <a:r>
              <a:rPr lang="en-US" altLang="zh-CN">
                <a:solidFill>
                  <a:srgbClr val="FF0000"/>
                </a:solidFill>
                <a:latin typeface="Consolas" pitchFamily="49" charset="0"/>
                <a:ea typeface="楷体" pitchFamily="49" charset="-122"/>
                <a:cs typeface="Consolas" pitchFamily="49" charset="0"/>
              </a:rPr>
              <a:t>2</a:t>
            </a:r>
            <a:endParaRPr lang="zh-CN" altLang="en-US">
              <a:solidFill>
                <a:srgbClr val="FF0000"/>
              </a:solidFill>
              <a:latin typeface="Consolas" pitchFamily="49" charset="0"/>
              <a:ea typeface="楷体" pitchFamily="49" charset="-122"/>
              <a:cs typeface="Consolas" pitchFamily="49" charset="0"/>
            </a:endParaRPr>
          </a:p>
        </p:txBody>
      </p:sp>
      <p:sp>
        <p:nvSpPr>
          <p:cNvPr id="31" name="下箭头 62">
            <a:extLst>
              <a:ext uri="{FF2B5EF4-FFF2-40B4-BE49-F238E27FC236}">
                <a16:creationId xmlns:a16="http://schemas.microsoft.com/office/drawing/2014/main" id="{F940F900-3D4B-4155-6741-81C67A480077}"/>
              </a:ext>
            </a:extLst>
          </p:cNvPr>
          <p:cNvSpPr/>
          <p:nvPr/>
        </p:nvSpPr>
        <p:spPr>
          <a:xfrm>
            <a:off x="6352112" y="4079922"/>
            <a:ext cx="285752" cy="357190"/>
          </a:xfrm>
          <a:prstGeom prst="downArrow">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zh-CN" altLang="en-US">
              <a:latin typeface="Consolas" pitchFamily="49" charset="0"/>
              <a:cs typeface="Consolas" pitchFamily="49" charset="0"/>
            </a:endParaRPr>
          </a:p>
        </p:txBody>
      </p:sp>
      <p:sp>
        <p:nvSpPr>
          <p:cNvPr id="32" name="Text Box 93">
            <a:extLst>
              <a:ext uri="{FF2B5EF4-FFF2-40B4-BE49-F238E27FC236}">
                <a16:creationId xmlns:a16="http://schemas.microsoft.com/office/drawing/2014/main" id="{6BE6D2EB-07AB-6875-04AD-A0F0A4C4F80B}"/>
              </a:ext>
            </a:extLst>
          </p:cNvPr>
          <p:cNvSpPr txBox="1">
            <a:spLocks noChangeArrowheads="1"/>
          </p:cNvSpPr>
          <p:nvPr/>
        </p:nvSpPr>
        <p:spPr bwMode="auto">
          <a:xfrm>
            <a:off x="5307569" y="1964171"/>
            <a:ext cx="4545005" cy="553998"/>
          </a:xfrm>
          <a:prstGeom prst="rect">
            <a:avLst/>
          </a:prstGeom>
          <a:noFill/>
          <a:ln w="28575" algn="ctr">
            <a:noFill/>
            <a:miter lim="800000"/>
            <a:headEnd/>
            <a:tailEnd/>
          </a:ln>
          <a:effectLst/>
        </p:spPr>
        <p:txBody>
          <a:bodyPr wrap="square" lIns="0" tIns="0" rIns="0" bIns="0">
            <a:spAutoFit/>
          </a:bodyPr>
          <a:lstStyle/>
          <a:p>
            <a:pPr marL="457200" indent="-457200">
              <a:buBlip>
                <a:blip r:embed="rId2"/>
              </a:buBlip>
            </a:pPr>
            <a:r>
              <a:rPr lang="en-US" altLang="zh-CN" sz="1800" dirty="0">
                <a:latin typeface="Consolas" pitchFamily="49" charset="0"/>
                <a:ea typeface="仿宋" pitchFamily="49" charset="-122"/>
                <a:cs typeface="Consolas" pitchFamily="49" charset="0"/>
              </a:rPr>
              <a:t>1→0</a:t>
            </a:r>
            <a:r>
              <a:rPr lang="zh-CN" altLang="en-US" sz="1800" dirty="0">
                <a:latin typeface="Consolas" pitchFamily="49" charset="0"/>
                <a:ea typeface="仿宋" pitchFamily="49" charset="-122"/>
                <a:cs typeface="Consolas" pitchFamily="49" charset="0"/>
              </a:rPr>
              <a:t>：由无路径改为</a:t>
            </a:r>
            <a:r>
              <a:rPr lang="en-US" altLang="zh-CN" sz="1800" dirty="0">
                <a:latin typeface="Consolas" pitchFamily="49" charset="0"/>
                <a:ea typeface="仿宋" pitchFamily="49" charset="-122"/>
                <a:cs typeface="Consolas" pitchFamily="49" charset="0"/>
              </a:rPr>
              <a:t>1</a:t>
            </a:r>
            <a:r>
              <a:rPr lang="en-US" altLang="zh-CN" sz="1800">
                <a:latin typeface="Consolas" pitchFamily="49" charset="0"/>
                <a:ea typeface="仿宋" pitchFamily="49" charset="-122"/>
                <a:cs typeface="Consolas" pitchFamily="49" charset="0"/>
              </a:rPr>
              <a:t>→</a:t>
            </a:r>
            <a:r>
              <a:rPr lang="en-US" altLang="zh-CN" sz="1800">
                <a:solidFill>
                  <a:srgbClr val="FF00FF"/>
                </a:solidFill>
                <a:latin typeface="Consolas" pitchFamily="49" charset="0"/>
                <a:ea typeface="仿宋" pitchFamily="49" charset="-122"/>
                <a:cs typeface="Consolas" pitchFamily="49" charset="0"/>
              </a:rPr>
              <a:t>2</a:t>
            </a:r>
            <a:r>
              <a:rPr lang="en-US" altLang="zh-CN" sz="1800">
                <a:latin typeface="Consolas" pitchFamily="49" charset="0"/>
                <a:ea typeface="仿宋" pitchFamily="49" charset="-122"/>
                <a:cs typeface="Consolas" pitchFamily="49" charset="0"/>
              </a:rPr>
              <a:t>→0</a:t>
            </a:r>
            <a:r>
              <a:rPr lang="zh-CN" altLang="en-US" sz="1800">
                <a:latin typeface="Consolas" pitchFamily="49" charset="0"/>
                <a:ea typeface="仿宋" pitchFamily="49" charset="-122"/>
                <a:cs typeface="Consolas" pitchFamily="49" charset="0"/>
              </a:rPr>
              <a:t>，长度为</a:t>
            </a:r>
            <a:r>
              <a:rPr lang="en-US" altLang="zh-CN" sz="1800">
                <a:solidFill>
                  <a:srgbClr val="FF0000"/>
                </a:solidFill>
                <a:latin typeface="Consolas" pitchFamily="49" charset="0"/>
                <a:ea typeface="仿宋" pitchFamily="49" charset="-122"/>
                <a:cs typeface="Consolas" pitchFamily="49" charset="0"/>
              </a:rPr>
              <a:t>7</a:t>
            </a:r>
            <a:r>
              <a:rPr lang="zh-CN" altLang="en-US" sz="1800">
                <a:latin typeface="Consolas" pitchFamily="49" charset="0"/>
                <a:ea typeface="仿宋" pitchFamily="49" charset="-122"/>
                <a:cs typeface="Consolas" pitchFamily="49" charset="0"/>
              </a:rPr>
              <a:t>， </a:t>
            </a:r>
            <a:r>
              <a:rPr lang="en-US" altLang="zh-CN" sz="1800">
                <a:latin typeface="Consolas" pitchFamily="49" charset="0"/>
                <a:ea typeface="仿宋" pitchFamily="49" charset="-122"/>
                <a:cs typeface="Consolas" pitchFamily="49" charset="0"/>
              </a:rPr>
              <a:t>path[1</a:t>
            </a:r>
            <a:r>
              <a:rPr lang="en-US" altLang="zh-CN" sz="1800" dirty="0">
                <a:latin typeface="Consolas" pitchFamily="49" charset="0"/>
                <a:ea typeface="仿宋" pitchFamily="49" charset="-122"/>
                <a:cs typeface="Consolas" pitchFamily="49" charset="0"/>
              </a:rPr>
              <a:t>][0]</a:t>
            </a:r>
            <a:r>
              <a:rPr lang="zh-CN" altLang="en-US" sz="1800" dirty="0">
                <a:latin typeface="Consolas" pitchFamily="49" charset="0"/>
                <a:ea typeface="仿宋" pitchFamily="49" charset="-122"/>
                <a:cs typeface="Consolas" pitchFamily="49" charset="0"/>
              </a:rPr>
              <a:t>改为</a:t>
            </a:r>
            <a:r>
              <a:rPr lang="en-US" altLang="zh-CN" sz="1800" dirty="0">
                <a:solidFill>
                  <a:srgbClr val="FF0000"/>
                </a:solidFill>
                <a:latin typeface="Consolas" pitchFamily="49" charset="0"/>
                <a:ea typeface="仿宋" pitchFamily="49" charset="-122"/>
                <a:cs typeface="Consolas" pitchFamily="49" charset="0"/>
              </a:rPr>
              <a:t>2</a:t>
            </a:r>
          </a:p>
        </p:txBody>
      </p:sp>
      <p:sp>
        <p:nvSpPr>
          <p:cNvPr id="33" name="Text Box 94">
            <a:extLst>
              <a:ext uri="{FF2B5EF4-FFF2-40B4-BE49-F238E27FC236}">
                <a16:creationId xmlns:a16="http://schemas.microsoft.com/office/drawing/2014/main" id="{1F631D81-2BF6-0445-6D7A-468BEC974BEF}"/>
              </a:ext>
            </a:extLst>
          </p:cNvPr>
          <p:cNvSpPr txBox="1">
            <a:spLocks noChangeArrowheads="1"/>
          </p:cNvSpPr>
          <p:nvPr/>
        </p:nvSpPr>
        <p:spPr bwMode="auto">
          <a:xfrm>
            <a:off x="5307569" y="3294104"/>
            <a:ext cx="4545005" cy="553998"/>
          </a:xfrm>
          <a:prstGeom prst="rect">
            <a:avLst/>
          </a:prstGeom>
          <a:noFill/>
          <a:ln w="28575" algn="ctr">
            <a:noFill/>
            <a:miter lim="800000"/>
            <a:headEnd/>
            <a:tailEnd/>
          </a:ln>
          <a:effectLst/>
        </p:spPr>
        <p:txBody>
          <a:bodyPr wrap="square" lIns="0" tIns="0" rIns="0" bIns="0">
            <a:spAutoFit/>
          </a:bodyPr>
          <a:lstStyle/>
          <a:p>
            <a:pPr marL="457200" indent="-457200">
              <a:buBlip>
                <a:blip r:embed="rId2"/>
              </a:buBlip>
            </a:pPr>
            <a:r>
              <a:rPr lang="en-US" altLang="zh-CN" sz="1800" dirty="0">
                <a:latin typeface="Consolas" pitchFamily="49" charset="0"/>
                <a:ea typeface="仿宋" pitchFamily="49" charset="-122"/>
                <a:cs typeface="Consolas" pitchFamily="49" charset="0"/>
              </a:rPr>
              <a:t>3→1</a:t>
            </a:r>
            <a:r>
              <a:rPr lang="zh-CN" altLang="en-US" sz="1800" dirty="0">
                <a:latin typeface="Consolas" pitchFamily="49" charset="0"/>
                <a:ea typeface="仿宋" pitchFamily="49" charset="-122"/>
                <a:cs typeface="Consolas" pitchFamily="49" charset="0"/>
              </a:rPr>
              <a:t>：由无路径改为</a:t>
            </a:r>
            <a:r>
              <a:rPr lang="en-US" altLang="zh-CN" sz="1800" dirty="0">
                <a:latin typeface="Consolas" pitchFamily="49" charset="0"/>
                <a:ea typeface="仿宋" pitchFamily="49" charset="-122"/>
                <a:cs typeface="Consolas" pitchFamily="49" charset="0"/>
              </a:rPr>
              <a:t>3</a:t>
            </a:r>
            <a:r>
              <a:rPr lang="en-US" altLang="zh-CN" sz="1800">
                <a:latin typeface="Consolas" pitchFamily="49" charset="0"/>
                <a:ea typeface="仿宋" pitchFamily="49" charset="-122"/>
                <a:cs typeface="Consolas" pitchFamily="49" charset="0"/>
              </a:rPr>
              <a:t>→</a:t>
            </a:r>
            <a:r>
              <a:rPr lang="en-US" altLang="zh-CN" sz="1800">
                <a:solidFill>
                  <a:srgbClr val="FF00FF"/>
                </a:solidFill>
                <a:latin typeface="Consolas" pitchFamily="49" charset="0"/>
                <a:ea typeface="仿宋" pitchFamily="49" charset="-122"/>
                <a:cs typeface="Consolas" pitchFamily="49" charset="0"/>
              </a:rPr>
              <a:t>2</a:t>
            </a:r>
            <a:r>
              <a:rPr lang="en-US" altLang="zh-CN" sz="1800">
                <a:latin typeface="Consolas" pitchFamily="49" charset="0"/>
                <a:ea typeface="仿宋" pitchFamily="49" charset="-122"/>
                <a:cs typeface="Consolas" pitchFamily="49" charset="0"/>
              </a:rPr>
              <a:t>→1</a:t>
            </a:r>
            <a:r>
              <a:rPr lang="zh-CN" altLang="en-US" sz="1800">
                <a:latin typeface="Consolas" pitchFamily="49" charset="0"/>
                <a:ea typeface="仿宋" pitchFamily="49" charset="-122"/>
                <a:cs typeface="Consolas" pitchFamily="49" charset="0"/>
              </a:rPr>
              <a:t>，长度为</a:t>
            </a:r>
            <a:r>
              <a:rPr lang="en-US" altLang="zh-CN" sz="1800">
                <a:solidFill>
                  <a:srgbClr val="FF0000"/>
                </a:solidFill>
                <a:latin typeface="Consolas" pitchFamily="49" charset="0"/>
                <a:ea typeface="仿宋" pitchFamily="49" charset="-122"/>
                <a:cs typeface="Consolas" pitchFamily="49" charset="0"/>
              </a:rPr>
              <a:t>4</a:t>
            </a:r>
            <a:r>
              <a:rPr lang="zh-CN" altLang="en-US" sz="1800">
                <a:latin typeface="Consolas" pitchFamily="49" charset="0"/>
                <a:ea typeface="仿宋" pitchFamily="49" charset="-122"/>
                <a:cs typeface="Consolas" pitchFamily="49" charset="0"/>
              </a:rPr>
              <a:t>， </a:t>
            </a:r>
            <a:r>
              <a:rPr lang="en-US" altLang="zh-CN" sz="1800">
                <a:latin typeface="Consolas" pitchFamily="49" charset="0"/>
                <a:ea typeface="仿宋" pitchFamily="49" charset="-122"/>
                <a:cs typeface="Consolas" pitchFamily="49" charset="0"/>
              </a:rPr>
              <a:t>path[3</a:t>
            </a:r>
            <a:r>
              <a:rPr lang="en-US" altLang="zh-CN" sz="1800" dirty="0">
                <a:latin typeface="Consolas" pitchFamily="49" charset="0"/>
                <a:ea typeface="仿宋" pitchFamily="49" charset="-122"/>
                <a:cs typeface="Consolas" pitchFamily="49" charset="0"/>
              </a:rPr>
              <a:t>][1]</a:t>
            </a:r>
            <a:r>
              <a:rPr lang="zh-CN" altLang="en-US" sz="1800" dirty="0">
                <a:latin typeface="Consolas" pitchFamily="49" charset="0"/>
                <a:ea typeface="仿宋" pitchFamily="49" charset="-122"/>
                <a:cs typeface="Consolas" pitchFamily="49" charset="0"/>
              </a:rPr>
              <a:t>改为</a:t>
            </a:r>
            <a:r>
              <a:rPr lang="en-US" altLang="zh-CN" sz="1800" dirty="0">
                <a:solidFill>
                  <a:srgbClr val="FF0000"/>
                </a:solidFill>
                <a:latin typeface="Consolas" pitchFamily="49" charset="0"/>
                <a:ea typeface="仿宋" pitchFamily="49" charset="-122"/>
                <a:cs typeface="Consolas" pitchFamily="49" charset="0"/>
              </a:rPr>
              <a:t>2</a:t>
            </a:r>
          </a:p>
        </p:txBody>
      </p:sp>
      <p:sp>
        <p:nvSpPr>
          <p:cNvPr id="34" name="Text Box 95">
            <a:extLst>
              <a:ext uri="{FF2B5EF4-FFF2-40B4-BE49-F238E27FC236}">
                <a16:creationId xmlns:a16="http://schemas.microsoft.com/office/drawing/2014/main" id="{47E3E70F-B439-A5AF-CC77-938AAC413585}"/>
              </a:ext>
            </a:extLst>
          </p:cNvPr>
          <p:cNvSpPr txBox="1">
            <a:spLocks noChangeArrowheads="1"/>
          </p:cNvSpPr>
          <p:nvPr/>
        </p:nvSpPr>
        <p:spPr bwMode="auto">
          <a:xfrm>
            <a:off x="5307569" y="2607113"/>
            <a:ext cx="4545005" cy="553998"/>
          </a:xfrm>
          <a:prstGeom prst="rect">
            <a:avLst/>
          </a:prstGeom>
          <a:noFill/>
          <a:ln w="28575" algn="ctr">
            <a:noFill/>
            <a:miter lim="800000"/>
            <a:headEnd/>
            <a:tailEnd/>
          </a:ln>
          <a:effectLst/>
        </p:spPr>
        <p:txBody>
          <a:bodyPr wrap="square" lIns="0" tIns="0" rIns="0" bIns="0">
            <a:spAutoFit/>
          </a:bodyPr>
          <a:lstStyle/>
          <a:p>
            <a:pPr marL="457200" indent="-457200">
              <a:buBlip>
                <a:blip r:embed="rId2"/>
              </a:buBlip>
            </a:pPr>
            <a:r>
              <a:rPr lang="en-US" altLang="zh-CN" sz="1800" dirty="0">
                <a:latin typeface="Consolas" pitchFamily="49" charset="0"/>
                <a:ea typeface="仿宋" pitchFamily="49" charset="-122"/>
                <a:cs typeface="Consolas" pitchFamily="49" charset="0"/>
              </a:rPr>
              <a:t>3→0</a:t>
            </a:r>
            <a:r>
              <a:rPr lang="zh-CN" altLang="en-US" sz="1800" dirty="0">
                <a:latin typeface="Consolas" pitchFamily="49" charset="0"/>
                <a:ea typeface="仿宋" pitchFamily="49" charset="-122"/>
                <a:cs typeface="Consolas" pitchFamily="49" charset="0"/>
              </a:rPr>
              <a:t>：由无路径改为</a:t>
            </a:r>
            <a:r>
              <a:rPr lang="en-US" altLang="zh-CN" sz="1800" dirty="0">
                <a:latin typeface="Consolas" pitchFamily="49" charset="0"/>
                <a:ea typeface="仿宋" pitchFamily="49" charset="-122"/>
                <a:cs typeface="Consolas" pitchFamily="49" charset="0"/>
              </a:rPr>
              <a:t>3</a:t>
            </a:r>
            <a:r>
              <a:rPr lang="en-US" altLang="zh-CN" sz="1800">
                <a:latin typeface="Consolas" pitchFamily="49" charset="0"/>
                <a:ea typeface="仿宋" pitchFamily="49" charset="-122"/>
                <a:cs typeface="Consolas" pitchFamily="49" charset="0"/>
              </a:rPr>
              <a:t>→</a:t>
            </a:r>
            <a:r>
              <a:rPr lang="en-US" altLang="zh-CN" sz="1800">
                <a:solidFill>
                  <a:srgbClr val="FF00FF"/>
                </a:solidFill>
                <a:latin typeface="Consolas" pitchFamily="49" charset="0"/>
                <a:ea typeface="仿宋" pitchFamily="49" charset="-122"/>
                <a:cs typeface="Consolas" pitchFamily="49" charset="0"/>
              </a:rPr>
              <a:t>2</a:t>
            </a:r>
            <a:r>
              <a:rPr lang="en-US" altLang="zh-CN" sz="1800">
                <a:latin typeface="Consolas" pitchFamily="49" charset="0"/>
                <a:ea typeface="仿宋" pitchFamily="49" charset="-122"/>
                <a:cs typeface="Consolas" pitchFamily="49" charset="0"/>
              </a:rPr>
              <a:t>→0</a:t>
            </a:r>
            <a:r>
              <a:rPr lang="zh-CN" altLang="en-US" sz="1800">
                <a:latin typeface="Consolas" pitchFamily="49" charset="0"/>
                <a:ea typeface="仿宋" pitchFamily="49" charset="-122"/>
                <a:cs typeface="Consolas" pitchFamily="49" charset="0"/>
              </a:rPr>
              <a:t>，长度为</a:t>
            </a:r>
            <a:r>
              <a:rPr lang="en-US" altLang="zh-CN" sz="1800">
                <a:solidFill>
                  <a:srgbClr val="FF0000"/>
                </a:solidFill>
                <a:latin typeface="Consolas" pitchFamily="49" charset="0"/>
                <a:ea typeface="仿宋" pitchFamily="49" charset="-122"/>
                <a:cs typeface="Consolas" pitchFamily="49" charset="0"/>
              </a:rPr>
              <a:t>4</a:t>
            </a:r>
            <a:r>
              <a:rPr lang="zh-CN" altLang="en-US" sz="1800">
                <a:latin typeface="Consolas" pitchFamily="49" charset="0"/>
                <a:ea typeface="仿宋" pitchFamily="49" charset="-122"/>
                <a:cs typeface="Consolas" pitchFamily="49" charset="0"/>
              </a:rPr>
              <a:t>， </a:t>
            </a:r>
            <a:r>
              <a:rPr lang="en-US" altLang="zh-CN" sz="1800">
                <a:latin typeface="Consolas" pitchFamily="49" charset="0"/>
                <a:ea typeface="仿宋" pitchFamily="49" charset="-122"/>
                <a:cs typeface="Consolas" pitchFamily="49" charset="0"/>
              </a:rPr>
              <a:t>path[3</a:t>
            </a:r>
            <a:r>
              <a:rPr lang="en-US" altLang="zh-CN" sz="1800" dirty="0">
                <a:latin typeface="Consolas" pitchFamily="49" charset="0"/>
                <a:ea typeface="仿宋" pitchFamily="49" charset="-122"/>
                <a:cs typeface="Consolas" pitchFamily="49" charset="0"/>
              </a:rPr>
              <a:t>][0]</a:t>
            </a:r>
            <a:r>
              <a:rPr lang="zh-CN" altLang="en-US" sz="1800" dirty="0">
                <a:latin typeface="Consolas" pitchFamily="49" charset="0"/>
                <a:ea typeface="仿宋" pitchFamily="49" charset="-122"/>
                <a:cs typeface="Consolas" pitchFamily="49" charset="0"/>
              </a:rPr>
              <a:t>改为</a:t>
            </a:r>
            <a:r>
              <a:rPr lang="en-US" altLang="zh-CN" sz="1800" dirty="0">
                <a:solidFill>
                  <a:srgbClr val="FF0000"/>
                </a:solidFill>
                <a:latin typeface="Consolas" pitchFamily="49" charset="0"/>
                <a:ea typeface="仿宋" pitchFamily="49" charset="-122"/>
                <a:cs typeface="Consolas" pitchFamily="49" charset="0"/>
              </a:rPr>
              <a:t>2</a:t>
            </a:r>
          </a:p>
        </p:txBody>
      </p:sp>
      <p:sp>
        <p:nvSpPr>
          <p:cNvPr id="35" name="TextBox 34">
            <a:extLst>
              <a:ext uri="{FF2B5EF4-FFF2-40B4-BE49-F238E27FC236}">
                <a16:creationId xmlns:a16="http://schemas.microsoft.com/office/drawing/2014/main" id="{F4039DA5-D188-1952-76D0-23C0ACE373CA}"/>
              </a:ext>
            </a:extLst>
          </p:cNvPr>
          <p:cNvSpPr txBox="1"/>
          <p:nvPr/>
        </p:nvSpPr>
        <p:spPr>
          <a:xfrm>
            <a:off x="3065964" y="5928036"/>
            <a:ext cx="468000" cy="369332"/>
          </a:xfrm>
          <a:prstGeom prst="rect">
            <a:avLst/>
          </a:prstGeom>
        </p:spPr>
        <p:style>
          <a:lnRef idx="1">
            <a:schemeClr val="accent4"/>
          </a:lnRef>
          <a:fillRef idx="2">
            <a:schemeClr val="accent4"/>
          </a:fillRef>
          <a:effectRef idx="1">
            <a:schemeClr val="accent4"/>
          </a:effectRef>
          <a:fontRef idx="minor">
            <a:schemeClr val="dk1"/>
          </a:fontRef>
        </p:style>
        <p:txBody>
          <a:bodyPr wrap="square" lIns="0" tIns="0" rIns="0" bIns="0" rtlCol="0">
            <a:spAutoFit/>
          </a:bodyPr>
          <a:lstStyle/>
          <a:p>
            <a:pPr algn="ctr"/>
            <a:r>
              <a:rPr lang="en-US" altLang="zh-CN">
                <a:solidFill>
                  <a:srgbClr val="FF0000"/>
                </a:solidFill>
                <a:latin typeface="Consolas" pitchFamily="49" charset="0"/>
                <a:ea typeface="楷体" pitchFamily="49" charset="-122"/>
                <a:cs typeface="Consolas" pitchFamily="49" charset="0"/>
              </a:rPr>
              <a:t>4</a:t>
            </a:r>
            <a:endParaRPr lang="zh-CN" altLang="en-US">
              <a:solidFill>
                <a:srgbClr val="FF0000"/>
              </a:solidFill>
              <a:latin typeface="Consolas" pitchFamily="49" charset="0"/>
              <a:ea typeface="楷体" pitchFamily="49" charset="-122"/>
              <a:cs typeface="Consolas" pitchFamily="49" charset="0"/>
            </a:endParaRPr>
          </a:p>
        </p:txBody>
      </p:sp>
      <p:sp>
        <p:nvSpPr>
          <p:cNvPr id="36" name="矩形 35">
            <a:extLst>
              <a:ext uri="{FF2B5EF4-FFF2-40B4-BE49-F238E27FC236}">
                <a16:creationId xmlns:a16="http://schemas.microsoft.com/office/drawing/2014/main" id="{6259F525-56F6-6B65-8954-315A7A44662A}"/>
              </a:ext>
            </a:extLst>
          </p:cNvPr>
          <p:cNvSpPr/>
          <p:nvPr/>
        </p:nvSpPr>
        <p:spPr>
          <a:xfrm>
            <a:off x="8365076" y="5914000"/>
            <a:ext cx="285752" cy="369332"/>
          </a:xfrm>
          <a:prstGeom prst="rect">
            <a:avLst/>
          </a:prstGeom>
        </p:spPr>
        <p:style>
          <a:lnRef idx="1">
            <a:schemeClr val="accent4"/>
          </a:lnRef>
          <a:fillRef idx="2">
            <a:schemeClr val="accent4"/>
          </a:fillRef>
          <a:effectRef idx="1">
            <a:schemeClr val="accent4"/>
          </a:effectRef>
          <a:fontRef idx="minor">
            <a:schemeClr val="dk1"/>
          </a:fontRef>
        </p:style>
        <p:txBody>
          <a:bodyPr wrap="square" lIns="0" tIns="0" rIns="0" bIns="0">
            <a:spAutoFit/>
          </a:bodyPr>
          <a:lstStyle/>
          <a:p>
            <a:pPr algn="ctr"/>
            <a:r>
              <a:rPr lang="en-US" altLang="zh-CN">
                <a:solidFill>
                  <a:srgbClr val="FF0000"/>
                </a:solidFill>
                <a:latin typeface="Consolas" pitchFamily="49" charset="0"/>
                <a:ea typeface="楷体" pitchFamily="49" charset="-122"/>
                <a:cs typeface="Consolas" pitchFamily="49" charset="0"/>
              </a:rPr>
              <a:t>2</a:t>
            </a:r>
            <a:endParaRPr lang="zh-CN" altLang="en-US">
              <a:solidFill>
                <a:srgbClr val="FF0000"/>
              </a:solidFill>
              <a:latin typeface="Consolas" pitchFamily="49" charset="0"/>
              <a:ea typeface="楷体" pitchFamily="49" charset="-122"/>
              <a:cs typeface="Consolas" pitchFamily="49" charset="0"/>
            </a:endParaRPr>
          </a:p>
        </p:txBody>
      </p:sp>
      <p:sp>
        <p:nvSpPr>
          <p:cNvPr id="37" name="TextBox 36">
            <a:extLst>
              <a:ext uri="{FF2B5EF4-FFF2-40B4-BE49-F238E27FC236}">
                <a16:creationId xmlns:a16="http://schemas.microsoft.com/office/drawing/2014/main" id="{B88C07D9-77E4-C23D-9E47-F421432AED83}"/>
              </a:ext>
            </a:extLst>
          </p:cNvPr>
          <p:cNvSpPr txBox="1"/>
          <p:nvPr/>
        </p:nvSpPr>
        <p:spPr>
          <a:xfrm>
            <a:off x="3629530" y="5923744"/>
            <a:ext cx="468000" cy="369332"/>
          </a:xfrm>
          <a:prstGeom prst="rect">
            <a:avLst/>
          </a:prstGeom>
        </p:spPr>
        <p:style>
          <a:lnRef idx="1">
            <a:schemeClr val="accent4"/>
          </a:lnRef>
          <a:fillRef idx="2">
            <a:schemeClr val="accent4"/>
          </a:fillRef>
          <a:effectRef idx="1">
            <a:schemeClr val="accent4"/>
          </a:effectRef>
          <a:fontRef idx="minor">
            <a:schemeClr val="dk1"/>
          </a:fontRef>
        </p:style>
        <p:txBody>
          <a:bodyPr wrap="square" lIns="0" tIns="0" rIns="0" bIns="0" rtlCol="0">
            <a:spAutoFit/>
          </a:bodyPr>
          <a:lstStyle/>
          <a:p>
            <a:pPr algn="ctr"/>
            <a:r>
              <a:rPr lang="en-US" altLang="zh-CN">
                <a:solidFill>
                  <a:srgbClr val="FF0000"/>
                </a:solidFill>
                <a:latin typeface="Consolas" pitchFamily="49" charset="0"/>
                <a:ea typeface="楷体" pitchFamily="49" charset="-122"/>
                <a:cs typeface="Consolas" pitchFamily="49" charset="0"/>
              </a:rPr>
              <a:t>4</a:t>
            </a:r>
            <a:endParaRPr lang="zh-CN" altLang="en-US">
              <a:solidFill>
                <a:srgbClr val="FF0000"/>
              </a:solidFill>
              <a:latin typeface="Consolas" pitchFamily="49" charset="0"/>
              <a:ea typeface="楷体" pitchFamily="49" charset="-122"/>
              <a:cs typeface="Consolas" pitchFamily="49" charset="0"/>
            </a:endParaRPr>
          </a:p>
        </p:txBody>
      </p:sp>
      <p:sp>
        <p:nvSpPr>
          <p:cNvPr id="38" name="矩形 37">
            <a:extLst>
              <a:ext uri="{FF2B5EF4-FFF2-40B4-BE49-F238E27FC236}">
                <a16:creationId xmlns:a16="http://schemas.microsoft.com/office/drawing/2014/main" id="{2DFCEA7F-E783-04AD-8CAE-831E9CB39E96}"/>
              </a:ext>
            </a:extLst>
          </p:cNvPr>
          <p:cNvSpPr/>
          <p:nvPr/>
        </p:nvSpPr>
        <p:spPr>
          <a:xfrm>
            <a:off x="8928642" y="5909708"/>
            <a:ext cx="285752" cy="369332"/>
          </a:xfrm>
          <a:prstGeom prst="rect">
            <a:avLst/>
          </a:prstGeom>
        </p:spPr>
        <p:style>
          <a:lnRef idx="1">
            <a:schemeClr val="accent4"/>
          </a:lnRef>
          <a:fillRef idx="2">
            <a:schemeClr val="accent4"/>
          </a:fillRef>
          <a:effectRef idx="1">
            <a:schemeClr val="accent4"/>
          </a:effectRef>
          <a:fontRef idx="minor">
            <a:schemeClr val="dk1"/>
          </a:fontRef>
        </p:style>
        <p:txBody>
          <a:bodyPr wrap="square" lIns="0" tIns="0" rIns="0" bIns="0">
            <a:spAutoFit/>
          </a:bodyPr>
          <a:lstStyle/>
          <a:p>
            <a:pPr algn="ctr"/>
            <a:r>
              <a:rPr lang="en-US" altLang="zh-CN">
                <a:solidFill>
                  <a:srgbClr val="FF0000"/>
                </a:solidFill>
                <a:latin typeface="Consolas" pitchFamily="49" charset="0"/>
                <a:ea typeface="楷体" pitchFamily="49" charset="-122"/>
                <a:cs typeface="Consolas" pitchFamily="49" charset="0"/>
              </a:rPr>
              <a:t>2</a:t>
            </a:r>
            <a:endParaRPr lang="zh-CN" altLang="en-US">
              <a:solidFill>
                <a:srgbClr val="FF0000"/>
              </a:solidFill>
              <a:latin typeface="Consolas" pitchFamily="49" charset="0"/>
              <a:ea typeface="楷体" pitchFamily="49" charset="-122"/>
              <a:cs typeface="Consolas" pitchFamily="49" charset="0"/>
            </a:endParaRPr>
          </a:p>
        </p:txBody>
      </p:sp>
    </p:spTree>
    <p:extLst>
      <p:ext uri="{BB962C8B-B14F-4D97-AF65-F5344CB8AC3E}">
        <p14:creationId xmlns:p14="http://schemas.microsoft.com/office/powerpoint/2010/main" val="429490337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1"/>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4"/>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7"/>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6" grpId="0"/>
      <p:bldP spid="28" grpId="0"/>
      <p:bldP spid="29" grpId="0" animBg="1"/>
      <p:bldP spid="30" grpId="0" animBg="1"/>
      <p:bldP spid="31" grpId="0" animBg="1"/>
      <p:bldP spid="32" grpId="0"/>
      <p:bldP spid="33" grpId="0"/>
      <p:bldP spid="34" grpId="0"/>
      <p:bldP spid="35" grpId="0" animBg="1"/>
      <p:bldP spid="36" grpId="0" animBg="1"/>
      <p:bldP spid="37" grpId="0" animBg="1"/>
      <p:bldP spid="38" grpId="0" animBg="1"/>
    </p:bld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804CC2-6F5E-4C4A-658B-F8C1A73D02AE}"/>
            </a:ext>
          </a:extLst>
        </p:cNvPr>
        <p:cNvGrpSpPr/>
        <p:nvPr/>
      </p:nvGrpSpPr>
      <p:grpSpPr>
        <a:xfrm>
          <a:off x="0" y="0"/>
          <a:ext cx="0" cy="0"/>
          <a:chOff x="0" y="0"/>
          <a:chExt cx="0" cy="0"/>
        </a:xfrm>
      </p:grpSpPr>
      <p:sp>
        <p:nvSpPr>
          <p:cNvPr id="2" name="Text Box 140">
            <a:extLst>
              <a:ext uri="{FF2B5EF4-FFF2-40B4-BE49-F238E27FC236}">
                <a16:creationId xmlns:a16="http://schemas.microsoft.com/office/drawing/2014/main" id="{EBDA2DFA-54E9-AC19-0694-190DCFFA16B5}"/>
              </a:ext>
            </a:extLst>
          </p:cNvPr>
          <p:cNvSpPr txBox="1">
            <a:spLocks noChangeArrowheads="1"/>
          </p:cNvSpPr>
          <p:nvPr/>
        </p:nvSpPr>
        <p:spPr bwMode="auto">
          <a:xfrm>
            <a:off x="2062982" y="769264"/>
            <a:ext cx="3319456" cy="422405"/>
          </a:xfrm>
          <a:prstGeom prst="rect">
            <a:avLst/>
          </a:prstGeom>
          <a:solidFill>
            <a:srgbClr val="339933"/>
          </a:solidFill>
          <a:ln w="28575" algn="ctr">
            <a:noFill/>
            <a:miter lim="800000"/>
            <a:headEnd/>
            <a:tailEnd/>
          </a:ln>
          <a:effectLst/>
        </p:spPr>
        <p:txBody>
          <a:bodyPr wrap="square" lIns="0" tIns="72000" rIns="0" bIns="72000">
            <a:spAutoFit/>
          </a:bodyPr>
          <a:lstStyle/>
          <a:p>
            <a:pPr algn="ctr"/>
            <a:r>
              <a:rPr lang="en-US" altLang="zh-CN" sz="1800" dirty="0">
                <a:solidFill>
                  <a:schemeClr val="bg1"/>
                </a:solidFill>
                <a:latin typeface="Consolas" pitchFamily="49" charset="0"/>
                <a:ea typeface="华文中宋" pitchFamily="2" charset="-122"/>
                <a:cs typeface="Consolas" pitchFamily="49" charset="0"/>
              </a:rPr>
              <a:t>Floyd</a:t>
            </a:r>
            <a:r>
              <a:rPr lang="zh-CN" altLang="en-US" sz="1800" dirty="0">
                <a:solidFill>
                  <a:schemeClr val="bg1"/>
                </a:solidFill>
                <a:latin typeface="Consolas" pitchFamily="49" charset="0"/>
                <a:ea typeface="华文中宋" pitchFamily="2" charset="-122"/>
                <a:cs typeface="Consolas" pitchFamily="49" charset="0"/>
              </a:rPr>
              <a:t>算法示例演示</a:t>
            </a:r>
          </a:p>
        </p:txBody>
      </p:sp>
      <p:grpSp>
        <p:nvGrpSpPr>
          <p:cNvPr id="3" name="组合 47">
            <a:extLst>
              <a:ext uri="{FF2B5EF4-FFF2-40B4-BE49-F238E27FC236}">
                <a16:creationId xmlns:a16="http://schemas.microsoft.com/office/drawing/2014/main" id="{61671134-D045-D79A-238C-F162B5B45352}"/>
              </a:ext>
            </a:extLst>
          </p:cNvPr>
          <p:cNvGrpSpPr/>
          <p:nvPr/>
        </p:nvGrpSpPr>
        <p:grpSpPr>
          <a:xfrm>
            <a:off x="1991544" y="1340768"/>
            <a:ext cx="2736850" cy="2204679"/>
            <a:chOff x="285720" y="714356"/>
            <a:chExt cx="2736850" cy="2204679"/>
          </a:xfrm>
        </p:grpSpPr>
        <p:sp>
          <p:nvSpPr>
            <p:cNvPr id="4" name="Oval 9">
              <a:extLst>
                <a:ext uri="{FF2B5EF4-FFF2-40B4-BE49-F238E27FC236}">
                  <a16:creationId xmlns:a16="http://schemas.microsoft.com/office/drawing/2014/main" id="{A6A554B2-1E24-8902-31DB-3E8CBA40C125}"/>
                </a:ext>
              </a:extLst>
            </p:cNvPr>
            <p:cNvSpPr>
              <a:spLocks noChangeArrowheads="1"/>
            </p:cNvSpPr>
            <p:nvPr/>
          </p:nvSpPr>
          <p:spPr bwMode="auto">
            <a:xfrm>
              <a:off x="501620" y="936606"/>
              <a:ext cx="360363" cy="360363"/>
            </a:xfrm>
            <a:prstGeom prst="ellipse">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anchor="ctr"/>
            <a:lstStyle/>
            <a:p>
              <a:pPr algn="ctr">
                <a:spcBef>
                  <a:spcPct val="0"/>
                </a:spcBef>
              </a:pPr>
              <a:r>
                <a:rPr lang="en-US" altLang="zh-CN" sz="1800" dirty="0">
                  <a:solidFill>
                    <a:srgbClr val="3333FF"/>
                  </a:solidFill>
                  <a:latin typeface="Consolas" pitchFamily="49" charset="0"/>
                  <a:ea typeface="宋体" pitchFamily="2" charset="-122"/>
                  <a:cs typeface="Consolas" pitchFamily="49" charset="0"/>
                </a:rPr>
                <a:t>0</a:t>
              </a:r>
            </a:p>
          </p:txBody>
        </p:sp>
        <p:sp>
          <p:nvSpPr>
            <p:cNvPr id="5" name="Oval 10">
              <a:extLst>
                <a:ext uri="{FF2B5EF4-FFF2-40B4-BE49-F238E27FC236}">
                  <a16:creationId xmlns:a16="http://schemas.microsoft.com/office/drawing/2014/main" id="{774AC65E-4B69-E818-55AE-3F58D63E2C06}"/>
                </a:ext>
              </a:extLst>
            </p:cNvPr>
            <p:cNvSpPr>
              <a:spLocks noChangeArrowheads="1"/>
            </p:cNvSpPr>
            <p:nvPr/>
          </p:nvSpPr>
          <p:spPr bwMode="auto">
            <a:xfrm>
              <a:off x="2446308" y="936606"/>
              <a:ext cx="360363" cy="360363"/>
            </a:xfrm>
            <a:prstGeom prst="ellipse">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anchor="ctr"/>
            <a:lstStyle/>
            <a:p>
              <a:pPr algn="ctr">
                <a:spcBef>
                  <a:spcPct val="0"/>
                </a:spcBef>
              </a:pPr>
              <a:r>
                <a:rPr lang="en-US" altLang="zh-CN" sz="1800">
                  <a:solidFill>
                    <a:srgbClr val="3333FF"/>
                  </a:solidFill>
                  <a:latin typeface="Consolas" pitchFamily="49" charset="0"/>
                  <a:ea typeface="宋体" pitchFamily="2" charset="-122"/>
                  <a:cs typeface="Consolas" pitchFamily="49" charset="0"/>
                </a:rPr>
                <a:t>1</a:t>
              </a:r>
            </a:p>
          </p:txBody>
        </p:sp>
        <p:sp>
          <p:nvSpPr>
            <p:cNvPr id="6" name="Oval 11">
              <a:extLst>
                <a:ext uri="{FF2B5EF4-FFF2-40B4-BE49-F238E27FC236}">
                  <a16:creationId xmlns:a16="http://schemas.microsoft.com/office/drawing/2014/main" id="{F8176AE0-8D7F-D563-8AA5-33A52085A02A}"/>
                </a:ext>
              </a:extLst>
            </p:cNvPr>
            <p:cNvSpPr>
              <a:spLocks noChangeArrowheads="1"/>
            </p:cNvSpPr>
            <p:nvPr/>
          </p:nvSpPr>
          <p:spPr bwMode="auto">
            <a:xfrm>
              <a:off x="501620" y="2160569"/>
              <a:ext cx="360363" cy="360363"/>
            </a:xfrm>
            <a:prstGeom prst="ellipse">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anchor="ctr"/>
            <a:lstStyle/>
            <a:p>
              <a:pPr algn="ctr">
                <a:spcBef>
                  <a:spcPct val="0"/>
                </a:spcBef>
              </a:pPr>
              <a:r>
                <a:rPr lang="en-US" altLang="zh-CN" sz="1800">
                  <a:solidFill>
                    <a:srgbClr val="3333FF"/>
                  </a:solidFill>
                  <a:latin typeface="Consolas" pitchFamily="49" charset="0"/>
                  <a:ea typeface="宋体" pitchFamily="2" charset="-122"/>
                  <a:cs typeface="Consolas" pitchFamily="49" charset="0"/>
                </a:rPr>
                <a:t>2</a:t>
              </a:r>
            </a:p>
          </p:txBody>
        </p:sp>
        <p:sp>
          <p:nvSpPr>
            <p:cNvPr id="7" name="Oval 12">
              <a:extLst>
                <a:ext uri="{FF2B5EF4-FFF2-40B4-BE49-F238E27FC236}">
                  <a16:creationId xmlns:a16="http://schemas.microsoft.com/office/drawing/2014/main" id="{8803FF3E-59CA-BE0A-3DEC-84BB4D24A4AB}"/>
                </a:ext>
              </a:extLst>
            </p:cNvPr>
            <p:cNvSpPr>
              <a:spLocks noChangeArrowheads="1"/>
            </p:cNvSpPr>
            <p:nvPr/>
          </p:nvSpPr>
          <p:spPr bwMode="auto">
            <a:xfrm>
              <a:off x="2517745" y="2160569"/>
              <a:ext cx="360363" cy="360363"/>
            </a:xfrm>
            <a:prstGeom prst="ellipse">
              <a:avLst/>
            </a:prstGeom>
            <a:ln>
              <a:headEnd/>
              <a:tailEnd type="none" w="med" len="lg"/>
            </a:ln>
          </p:spPr>
          <p:style>
            <a:lnRef idx="1">
              <a:schemeClr val="accent6"/>
            </a:lnRef>
            <a:fillRef idx="3">
              <a:schemeClr val="accent6"/>
            </a:fillRef>
            <a:effectRef idx="2">
              <a:schemeClr val="accent6"/>
            </a:effectRef>
            <a:fontRef idx="minor">
              <a:schemeClr val="lt1"/>
            </a:fontRef>
          </p:style>
          <p:txBody>
            <a:bodyPr wrap="none" anchor="ctr"/>
            <a:lstStyle/>
            <a:p>
              <a:pPr algn="ctr">
                <a:spcBef>
                  <a:spcPct val="0"/>
                </a:spcBef>
              </a:pPr>
              <a:r>
                <a:rPr lang="en-US" altLang="zh-CN" sz="1800">
                  <a:solidFill>
                    <a:srgbClr val="3333FF"/>
                  </a:solidFill>
                  <a:latin typeface="Consolas" pitchFamily="49" charset="0"/>
                  <a:ea typeface="宋体" pitchFamily="2" charset="-122"/>
                  <a:cs typeface="Consolas" pitchFamily="49" charset="0"/>
                </a:rPr>
                <a:t>3</a:t>
              </a:r>
            </a:p>
          </p:txBody>
        </p:sp>
        <p:sp>
          <p:nvSpPr>
            <p:cNvPr id="8" name="Line 13">
              <a:extLst>
                <a:ext uri="{FF2B5EF4-FFF2-40B4-BE49-F238E27FC236}">
                  <a16:creationId xmlns:a16="http://schemas.microsoft.com/office/drawing/2014/main" id="{E06BFB28-B16F-8BAF-59D3-1BA156E0728D}"/>
                </a:ext>
              </a:extLst>
            </p:cNvPr>
            <p:cNvSpPr>
              <a:spLocks noChangeShapeType="1"/>
            </p:cNvSpPr>
            <p:nvPr/>
          </p:nvSpPr>
          <p:spPr bwMode="auto">
            <a:xfrm>
              <a:off x="861983" y="1081069"/>
              <a:ext cx="1584325" cy="0"/>
            </a:xfrm>
            <a:prstGeom prst="line">
              <a:avLst/>
            </a:prstGeom>
            <a:noFill/>
            <a:ln w="19050">
              <a:solidFill>
                <a:srgbClr val="7030A0"/>
              </a:solidFill>
              <a:round/>
              <a:headEnd/>
              <a:tailEnd type="stealth" w="med" len="lg"/>
            </a:ln>
            <a:effectLst/>
          </p:spPr>
          <p:txBody>
            <a:bodyPr wrap="none"/>
            <a:lstStyle/>
            <a:p>
              <a:endParaRPr lang="zh-CN" altLang="en-US">
                <a:latin typeface="Consolas" pitchFamily="49" charset="0"/>
                <a:cs typeface="Consolas" pitchFamily="49" charset="0"/>
              </a:endParaRPr>
            </a:p>
          </p:txBody>
        </p:sp>
        <p:sp>
          <p:nvSpPr>
            <p:cNvPr id="9" name="Line 14">
              <a:extLst>
                <a:ext uri="{FF2B5EF4-FFF2-40B4-BE49-F238E27FC236}">
                  <a16:creationId xmlns:a16="http://schemas.microsoft.com/office/drawing/2014/main" id="{F60A066B-0024-3090-B206-63F372B2EDE4}"/>
                </a:ext>
              </a:extLst>
            </p:cNvPr>
            <p:cNvSpPr>
              <a:spLocks noChangeShapeType="1"/>
            </p:cNvSpPr>
            <p:nvPr/>
          </p:nvSpPr>
          <p:spPr bwMode="auto">
            <a:xfrm flipV="1">
              <a:off x="646083" y="1296969"/>
              <a:ext cx="0" cy="863600"/>
            </a:xfrm>
            <a:prstGeom prst="line">
              <a:avLst/>
            </a:prstGeom>
            <a:noFill/>
            <a:ln w="19050">
              <a:solidFill>
                <a:srgbClr val="7030A0"/>
              </a:solidFill>
              <a:round/>
              <a:headEnd/>
              <a:tailEnd type="stealth" w="med" len="lg"/>
            </a:ln>
            <a:effectLst/>
          </p:spPr>
          <p:txBody>
            <a:bodyPr wrap="none"/>
            <a:lstStyle/>
            <a:p>
              <a:endParaRPr lang="zh-CN" altLang="en-US">
                <a:latin typeface="Consolas" pitchFamily="49" charset="0"/>
                <a:cs typeface="Consolas" pitchFamily="49" charset="0"/>
              </a:endParaRPr>
            </a:p>
          </p:txBody>
        </p:sp>
        <p:sp>
          <p:nvSpPr>
            <p:cNvPr id="10" name="Freeform 15">
              <a:extLst>
                <a:ext uri="{FF2B5EF4-FFF2-40B4-BE49-F238E27FC236}">
                  <a16:creationId xmlns:a16="http://schemas.microsoft.com/office/drawing/2014/main" id="{CC08FFA4-F9CA-FB1D-79E4-69BF4DACACA6}"/>
                </a:ext>
              </a:extLst>
            </p:cNvPr>
            <p:cNvSpPr>
              <a:spLocks/>
            </p:cNvSpPr>
            <p:nvPr/>
          </p:nvSpPr>
          <p:spPr bwMode="auto">
            <a:xfrm>
              <a:off x="841345" y="1211244"/>
              <a:ext cx="1676400" cy="1020763"/>
            </a:xfrm>
            <a:custGeom>
              <a:avLst/>
              <a:gdLst/>
              <a:ahLst/>
              <a:cxnLst>
                <a:cxn ang="0">
                  <a:pos x="0" y="0"/>
                </a:cxn>
                <a:cxn ang="0">
                  <a:pos x="1056" y="643"/>
                </a:cxn>
              </a:cxnLst>
              <a:rect l="0" t="0" r="r" b="b"/>
              <a:pathLst>
                <a:path w="1056" h="643">
                  <a:moveTo>
                    <a:pt x="0" y="0"/>
                  </a:moveTo>
                  <a:lnTo>
                    <a:pt x="1056" y="643"/>
                  </a:lnTo>
                </a:path>
              </a:pathLst>
            </a:custGeom>
            <a:noFill/>
            <a:ln w="19050" cap="flat" cmpd="sng">
              <a:solidFill>
                <a:srgbClr val="7030A0"/>
              </a:solidFill>
              <a:prstDash val="solid"/>
              <a:round/>
              <a:headEnd type="none" w="med" len="med"/>
              <a:tailEnd type="stealth" w="med" len="lg"/>
            </a:ln>
            <a:effectLst/>
          </p:spPr>
          <p:txBody>
            <a:bodyPr wrap="none"/>
            <a:lstStyle/>
            <a:p>
              <a:endParaRPr lang="zh-CN" altLang="en-US">
                <a:latin typeface="Consolas" pitchFamily="49" charset="0"/>
                <a:cs typeface="Consolas" pitchFamily="49" charset="0"/>
              </a:endParaRPr>
            </a:p>
          </p:txBody>
        </p:sp>
        <p:sp>
          <p:nvSpPr>
            <p:cNvPr id="11" name="Line 16">
              <a:extLst>
                <a:ext uri="{FF2B5EF4-FFF2-40B4-BE49-F238E27FC236}">
                  <a16:creationId xmlns:a16="http://schemas.microsoft.com/office/drawing/2014/main" id="{58FF5140-C2DA-B02C-8492-F8F7A4560A09}"/>
                </a:ext>
              </a:extLst>
            </p:cNvPr>
            <p:cNvSpPr>
              <a:spLocks noChangeShapeType="1"/>
            </p:cNvSpPr>
            <p:nvPr/>
          </p:nvSpPr>
          <p:spPr bwMode="auto">
            <a:xfrm>
              <a:off x="2662208" y="1296969"/>
              <a:ext cx="0" cy="863600"/>
            </a:xfrm>
            <a:prstGeom prst="line">
              <a:avLst/>
            </a:prstGeom>
            <a:noFill/>
            <a:ln w="19050">
              <a:solidFill>
                <a:srgbClr val="7030A0"/>
              </a:solidFill>
              <a:round/>
              <a:headEnd/>
              <a:tailEnd type="stealth" w="med" len="lg"/>
            </a:ln>
            <a:effectLst/>
          </p:spPr>
          <p:txBody>
            <a:bodyPr wrap="none"/>
            <a:lstStyle/>
            <a:p>
              <a:endParaRPr lang="zh-CN" altLang="en-US">
                <a:latin typeface="Consolas" pitchFamily="49" charset="0"/>
                <a:cs typeface="Consolas" pitchFamily="49" charset="0"/>
              </a:endParaRPr>
            </a:p>
          </p:txBody>
        </p:sp>
        <p:sp>
          <p:nvSpPr>
            <p:cNvPr id="12" name="Text Box 21">
              <a:extLst>
                <a:ext uri="{FF2B5EF4-FFF2-40B4-BE49-F238E27FC236}">
                  <a16:creationId xmlns:a16="http://schemas.microsoft.com/office/drawing/2014/main" id="{DD3E462D-A39D-A9B2-643C-09F04324727D}"/>
                </a:ext>
              </a:extLst>
            </p:cNvPr>
            <p:cNvSpPr txBox="1">
              <a:spLocks noChangeArrowheads="1"/>
            </p:cNvSpPr>
            <p:nvPr/>
          </p:nvSpPr>
          <p:spPr bwMode="auto">
            <a:xfrm>
              <a:off x="1428728" y="714356"/>
              <a:ext cx="431800" cy="366713"/>
            </a:xfrm>
            <a:prstGeom prst="rect">
              <a:avLst/>
            </a:prstGeom>
            <a:noFill/>
            <a:ln w="19050" algn="ctr">
              <a:noFill/>
              <a:miter lim="800000"/>
              <a:headEnd/>
              <a:tailEnd type="none" w="med" len="lg"/>
            </a:ln>
            <a:effectLst/>
          </p:spPr>
          <p:txBody>
            <a:bodyPr>
              <a:spAutoFit/>
            </a:bodyPr>
            <a:lstStyle/>
            <a:p>
              <a:pPr algn="ctr"/>
              <a:r>
                <a:rPr lang="en-US" altLang="zh-CN" sz="1800">
                  <a:solidFill>
                    <a:srgbClr val="FF0000"/>
                  </a:solidFill>
                  <a:latin typeface="Consolas" pitchFamily="49" charset="0"/>
                  <a:ea typeface="宋体" pitchFamily="2" charset="-122"/>
                  <a:cs typeface="Consolas" pitchFamily="49" charset="0"/>
                </a:rPr>
                <a:t>5</a:t>
              </a:r>
            </a:p>
          </p:txBody>
        </p:sp>
        <p:sp>
          <p:nvSpPr>
            <p:cNvPr id="13" name="Text Box 22">
              <a:extLst>
                <a:ext uri="{FF2B5EF4-FFF2-40B4-BE49-F238E27FC236}">
                  <a16:creationId xmlns:a16="http://schemas.microsoft.com/office/drawing/2014/main" id="{4FAEFD3B-D9F0-5B77-727E-8148F05D7E1A}"/>
                </a:ext>
              </a:extLst>
            </p:cNvPr>
            <p:cNvSpPr txBox="1">
              <a:spLocks noChangeArrowheads="1"/>
            </p:cNvSpPr>
            <p:nvPr/>
          </p:nvSpPr>
          <p:spPr bwMode="auto">
            <a:xfrm>
              <a:off x="285720" y="1504931"/>
              <a:ext cx="431800" cy="366713"/>
            </a:xfrm>
            <a:prstGeom prst="rect">
              <a:avLst/>
            </a:prstGeom>
            <a:noFill/>
            <a:ln w="19050" algn="ctr">
              <a:noFill/>
              <a:miter lim="800000"/>
              <a:headEnd/>
              <a:tailEnd type="none" w="med" len="lg"/>
            </a:ln>
            <a:effectLst/>
          </p:spPr>
          <p:txBody>
            <a:bodyPr>
              <a:spAutoFit/>
            </a:bodyPr>
            <a:lstStyle/>
            <a:p>
              <a:pPr algn="ctr"/>
              <a:r>
                <a:rPr lang="en-US" altLang="zh-CN" sz="1800">
                  <a:solidFill>
                    <a:srgbClr val="FF0000"/>
                  </a:solidFill>
                  <a:latin typeface="Consolas" pitchFamily="49" charset="0"/>
                  <a:ea typeface="宋体" pitchFamily="2" charset="-122"/>
                  <a:cs typeface="Consolas" pitchFamily="49" charset="0"/>
                </a:rPr>
                <a:t>3</a:t>
              </a:r>
            </a:p>
          </p:txBody>
        </p:sp>
        <p:sp>
          <p:nvSpPr>
            <p:cNvPr id="14" name="Text Box 23">
              <a:extLst>
                <a:ext uri="{FF2B5EF4-FFF2-40B4-BE49-F238E27FC236}">
                  <a16:creationId xmlns:a16="http://schemas.microsoft.com/office/drawing/2014/main" id="{AD2FCF57-C163-08F8-F9B4-6D38328F6C65}"/>
                </a:ext>
              </a:extLst>
            </p:cNvPr>
            <p:cNvSpPr txBox="1">
              <a:spLocks noChangeArrowheads="1"/>
            </p:cNvSpPr>
            <p:nvPr/>
          </p:nvSpPr>
          <p:spPr bwMode="auto">
            <a:xfrm>
              <a:off x="2590770" y="1577956"/>
              <a:ext cx="431800" cy="366713"/>
            </a:xfrm>
            <a:prstGeom prst="rect">
              <a:avLst/>
            </a:prstGeom>
            <a:noFill/>
            <a:ln w="19050" algn="ctr">
              <a:noFill/>
              <a:miter lim="800000"/>
              <a:headEnd/>
              <a:tailEnd type="none" w="med" len="lg"/>
            </a:ln>
            <a:effectLst/>
          </p:spPr>
          <p:txBody>
            <a:bodyPr>
              <a:spAutoFit/>
            </a:bodyPr>
            <a:lstStyle/>
            <a:p>
              <a:pPr algn="ctr"/>
              <a:r>
                <a:rPr lang="en-US" altLang="zh-CN" sz="1800">
                  <a:solidFill>
                    <a:srgbClr val="FF0000"/>
                  </a:solidFill>
                  <a:latin typeface="Consolas" pitchFamily="49" charset="0"/>
                  <a:ea typeface="宋体" pitchFamily="2" charset="-122"/>
                  <a:cs typeface="Consolas" pitchFamily="49" charset="0"/>
                </a:rPr>
                <a:t>2</a:t>
              </a:r>
            </a:p>
          </p:txBody>
        </p:sp>
        <p:sp>
          <p:nvSpPr>
            <p:cNvPr id="15" name="Text Box 24">
              <a:extLst>
                <a:ext uri="{FF2B5EF4-FFF2-40B4-BE49-F238E27FC236}">
                  <a16:creationId xmlns:a16="http://schemas.microsoft.com/office/drawing/2014/main" id="{56DF9645-7DBA-92A3-78B1-C6BA340D260D}"/>
                </a:ext>
              </a:extLst>
            </p:cNvPr>
            <p:cNvSpPr txBox="1">
              <a:spLocks noChangeArrowheads="1"/>
            </p:cNvSpPr>
            <p:nvPr/>
          </p:nvSpPr>
          <p:spPr bwMode="auto">
            <a:xfrm>
              <a:off x="1006445" y="1081069"/>
              <a:ext cx="431800" cy="366713"/>
            </a:xfrm>
            <a:prstGeom prst="rect">
              <a:avLst/>
            </a:prstGeom>
            <a:noFill/>
            <a:ln w="19050" algn="ctr">
              <a:noFill/>
              <a:miter lim="800000"/>
              <a:headEnd/>
              <a:tailEnd type="none" w="med" len="lg"/>
            </a:ln>
            <a:effectLst/>
          </p:spPr>
          <p:txBody>
            <a:bodyPr>
              <a:spAutoFit/>
            </a:bodyPr>
            <a:lstStyle/>
            <a:p>
              <a:pPr algn="ctr"/>
              <a:r>
                <a:rPr lang="en-US" altLang="zh-CN" sz="1800">
                  <a:solidFill>
                    <a:srgbClr val="FF0000"/>
                  </a:solidFill>
                  <a:latin typeface="Consolas" pitchFamily="49" charset="0"/>
                  <a:ea typeface="宋体" pitchFamily="2" charset="-122"/>
                  <a:cs typeface="Consolas" pitchFamily="49" charset="0"/>
                </a:rPr>
                <a:t>7</a:t>
              </a:r>
            </a:p>
          </p:txBody>
        </p:sp>
        <p:sp>
          <p:nvSpPr>
            <p:cNvPr id="16" name="Text Box 25">
              <a:extLst>
                <a:ext uri="{FF2B5EF4-FFF2-40B4-BE49-F238E27FC236}">
                  <a16:creationId xmlns:a16="http://schemas.microsoft.com/office/drawing/2014/main" id="{FE3D7794-7A54-9AA9-D8C3-B06030B2C277}"/>
                </a:ext>
              </a:extLst>
            </p:cNvPr>
            <p:cNvSpPr txBox="1">
              <a:spLocks noChangeArrowheads="1"/>
            </p:cNvSpPr>
            <p:nvPr/>
          </p:nvSpPr>
          <p:spPr bwMode="auto">
            <a:xfrm>
              <a:off x="1941483" y="1577956"/>
              <a:ext cx="431800" cy="366713"/>
            </a:xfrm>
            <a:prstGeom prst="rect">
              <a:avLst/>
            </a:prstGeom>
            <a:noFill/>
            <a:ln w="19050" algn="ctr">
              <a:noFill/>
              <a:miter lim="800000"/>
              <a:headEnd/>
              <a:tailEnd type="none" w="med" len="lg"/>
            </a:ln>
            <a:effectLst/>
          </p:spPr>
          <p:txBody>
            <a:bodyPr>
              <a:spAutoFit/>
            </a:bodyPr>
            <a:lstStyle/>
            <a:p>
              <a:pPr algn="ctr"/>
              <a:r>
                <a:rPr lang="en-US" altLang="zh-CN" sz="1800">
                  <a:solidFill>
                    <a:srgbClr val="FF0000"/>
                  </a:solidFill>
                  <a:latin typeface="Consolas" pitchFamily="49" charset="0"/>
                  <a:ea typeface="宋体" pitchFamily="2" charset="-122"/>
                  <a:cs typeface="Consolas" pitchFamily="49" charset="0"/>
                </a:rPr>
                <a:t>3</a:t>
              </a:r>
            </a:p>
          </p:txBody>
        </p:sp>
        <p:sp>
          <p:nvSpPr>
            <p:cNvPr id="17" name="Text Box 26">
              <a:extLst>
                <a:ext uri="{FF2B5EF4-FFF2-40B4-BE49-F238E27FC236}">
                  <a16:creationId xmlns:a16="http://schemas.microsoft.com/office/drawing/2014/main" id="{EFFA2A39-B75A-A480-6549-233C64F76142}"/>
                </a:ext>
              </a:extLst>
            </p:cNvPr>
            <p:cNvSpPr txBox="1">
              <a:spLocks noChangeArrowheads="1"/>
            </p:cNvSpPr>
            <p:nvPr/>
          </p:nvSpPr>
          <p:spPr bwMode="auto">
            <a:xfrm>
              <a:off x="1438245" y="2552322"/>
              <a:ext cx="431800" cy="366713"/>
            </a:xfrm>
            <a:prstGeom prst="rect">
              <a:avLst/>
            </a:prstGeom>
            <a:noFill/>
            <a:ln w="19050" algn="ctr">
              <a:noFill/>
              <a:miter lim="800000"/>
              <a:headEnd/>
              <a:tailEnd type="none" w="med" len="lg"/>
            </a:ln>
            <a:effectLst/>
          </p:spPr>
          <p:txBody>
            <a:bodyPr>
              <a:spAutoFit/>
            </a:bodyPr>
            <a:lstStyle/>
            <a:p>
              <a:pPr algn="ctr"/>
              <a:r>
                <a:rPr lang="en-US" altLang="zh-CN" sz="1800">
                  <a:solidFill>
                    <a:srgbClr val="FF0000"/>
                  </a:solidFill>
                  <a:latin typeface="Consolas" pitchFamily="49" charset="0"/>
                  <a:ea typeface="宋体" pitchFamily="2" charset="-122"/>
                  <a:cs typeface="Consolas" pitchFamily="49" charset="0"/>
                </a:rPr>
                <a:t>1</a:t>
              </a:r>
            </a:p>
          </p:txBody>
        </p:sp>
        <p:sp>
          <p:nvSpPr>
            <p:cNvPr id="18" name="Text Box 27">
              <a:extLst>
                <a:ext uri="{FF2B5EF4-FFF2-40B4-BE49-F238E27FC236}">
                  <a16:creationId xmlns:a16="http://schemas.microsoft.com/office/drawing/2014/main" id="{9EF174F3-0930-DB81-0070-150164200F65}"/>
                </a:ext>
              </a:extLst>
            </p:cNvPr>
            <p:cNvSpPr txBox="1">
              <a:spLocks noChangeArrowheads="1"/>
            </p:cNvSpPr>
            <p:nvPr/>
          </p:nvSpPr>
          <p:spPr bwMode="auto">
            <a:xfrm>
              <a:off x="1438245" y="2154219"/>
              <a:ext cx="431800" cy="366713"/>
            </a:xfrm>
            <a:prstGeom prst="rect">
              <a:avLst/>
            </a:prstGeom>
            <a:noFill/>
            <a:ln w="19050" algn="ctr">
              <a:noFill/>
              <a:miter lim="800000"/>
              <a:headEnd/>
              <a:tailEnd type="none" w="med" len="lg"/>
            </a:ln>
            <a:effectLst/>
          </p:spPr>
          <p:txBody>
            <a:bodyPr>
              <a:spAutoFit/>
            </a:bodyPr>
            <a:lstStyle/>
            <a:p>
              <a:pPr algn="ctr"/>
              <a:r>
                <a:rPr lang="en-US" altLang="zh-CN" sz="1800">
                  <a:solidFill>
                    <a:srgbClr val="FF0000"/>
                  </a:solidFill>
                  <a:latin typeface="Consolas" pitchFamily="49" charset="0"/>
                  <a:ea typeface="宋体" pitchFamily="2" charset="-122"/>
                  <a:cs typeface="Consolas" pitchFamily="49" charset="0"/>
                </a:rPr>
                <a:t>2</a:t>
              </a:r>
            </a:p>
          </p:txBody>
        </p:sp>
        <p:sp>
          <p:nvSpPr>
            <p:cNvPr id="19" name="Text Box 28">
              <a:extLst>
                <a:ext uri="{FF2B5EF4-FFF2-40B4-BE49-F238E27FC236}">
                  <a16:creationId xmlns:a16="http://schemas.microsoft.com/office/drawing/2014/main" id="{B22363AC-3200-5D4B-F5B4-11E51840B893}"/>
                </a:ext>
              </a:extLst>
            </p:cNvPr>
            <p:cNvSpPr txBox="1">
              <a:spLocks noChangeArrowheads="1"/>
            </p:cNvSpPr>
            <p:nvPr/>
          </p:nvSpPr>
          <p:spPr bwMode="auto">
            <a:xfrm>
              <a:off x="752445" y="1539856"/>
              <a:ext cx="431800" cy="366713"/>
            </a:xfrm>
            <a:prstGeom prst="rect">
              <a:avLst/>
            </a:prstGeom>
            <a:noFill/>
            <a:ln w="19050" algn="ctr">
              <a:noFill/>
              <a:miter lim="800000"/>
              <a:headEnd/>
              <a:tailEnd type="none" w="med" len="lg"/>
            </a:ln>
            <a:effectLst/>
          </p:spPr>
          <p:txBody>
            <a:bodyPr>
              <a:spAutoFit/>
            </a:bodyPr>
            <a:lstStyle/>
            <a:p>
              <a:pPr algn="ctr"/>
              <a:r>
                <a:rPr lang="en-US" altLang="zh-CN" sz="1800">
                  <a:solidFill>
                    <a:srgbClr val="FF0000"/>
                  </a:solidFill>
                  <a:latin typeface="Consolas" pitchFamily="49" charset="0"/>
                  <a:ea typeface="宋体" pitchFamily="2" charset="-122"/>
                  <a:cs typeface="Consolas" pitchFamily="49" charset="0"/>
                </a:rPr>
                <a:t>4</a:t>
              </a:r>
            </a:p>
          </p:txBody>
        </p:sp>
        <p:sp>
          <p:nvSpPr>
            <p:cNvPr id="20" name="任意多边形 119">
              <a:extLst>
                <a:ext uri="{FF2B5EF4-FFF2-40B4-BE49-F238E27FC236}">
                  <a16:creationId xmlns:a16="http://schemas.microsoft.com/office/drawing/2014/main" id="{FA20E725-A94D-140C-8068-EB8AB1A3F5A9}"/>
                </a:ext>
              </a:extLst>
            </p:cNvPr>
            <p:cNvSpPr/>
            <p:nvPr/>
          </p:nvSpPr>
          <p:spPr>
            <a:xfrm>
              <a:off x="830232" y="2425678"/>
              <a:ext cx="1714500" cy="190500"/>
            </a:xfrm>
            <a:custGeom>
              <a:avLst/>
              <a:gdLst>
                <a:gd name="connsiteX0" fmla="*/ 1714500 w 1714500"/>
                <a:gd name="connsiteY0" fmla="*/ 0 h 190500"/>
                <a:gd name="connsiteX1" fmla="*/ 1612900 w 1714500"/>
                <a:gd name="connsiteY1" fmla="*/ 76200 h 190500"/>
                <a:gd name="connsiteX2" fmla="*/ 1130300 w 1714500"/>
                <a:gd name="connsiteY2" fmla="*/ 177800 h 190500"/>
                <a:gd name="connsiteX3" fmla="*/ 596900 w 1714500"/>
                <a:gd name="connsiteY3" fmla="*/ 152400 h 190500"/>
                <a:gd name="connsiteX4" fmla="*/ 0 w 1714500"/>
                <a:gd name="connsiteY4" fmla="*/ 50800 h 190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4500" h="190500">
                  <a:moveTo>
                    <a:pt x="1714500" y="0"/>
                  </a:moveTo>
                  <a:cubicBezTo>
                    <a:pt x="1712383" y="23283"/>
                    <a:pt x="1710267" y="46567"/>
                    <a:pt x="1612900" y="76200"/>
                  </a:cubicBezTo>
                  <a:cubicBezTo>
                    <a:pt x="1515533" y="105833"/>
                    <a:pt x="1299633" y="165100"/>
                    <a:pt x="1130300" y="177800"/>
                  </a:cubicBezTo>
                  <a:cubicBezTo>
                    <a:pt x="960967" y="190500"/>
                    <a:pt x="785283" y="173567"/>
                    <a:pt x="596900" y="152400"/>
                  </a:cubicBezTo>
                  <a:cubicBezTo>
                    <a:pt x="408517" y="131233"/>
                    <a:pt x="204258" y="91016"/>
                    <a:pt x="0" y="50800"/>
                  </a:cubicBezTo>
                </a:path>
              </a:pathLst>
            </a:custGeom>
            <a:ln w="28575">
              <a:solidFill>
                <a:srgbClr val="7030A0"/>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Consolas" pitchFamily="49" charset="0"/>
                <a:cs typeface="Consolas" pitchFamily="49" charset="0"/>
              </a:endParaRPr>
            </a:p>
          </p:txBody>
        </p:sp>
        <p:sp>
          <p:nvSpPr>
            <p:cNvPr id="21" name="任意多边形 120">
              <a:extLst>
                <a:ext uri="{FF2B5EF4-FFF2-40B4-BE49-F238E27FC236}">
                  <a16:creationId xmlns:a16="http://schemas.microsoft.com/office/drawing/2014/main" id="{693EF727-84D8-F387-C5E3-11CE4FE20386}"/>
                </a:ext>
              </a:extLst>
            </p:cNvPr>
            <p:cNvSpPr/>
            <p:nvPr/>
          </p:nvSpPr>
          <p:spPr>
            <a:xfrm>
              <a:off x="881032" y="2194961"/>
              <a:ext cx="1638300" cy="141817"/>
            </a:xfrm>
            <a:custGeom>
              <a:avLst/>
              <a:gdLst>
                <a:gd name="connsiteX0" fmla="*/ 0 w 1638300"/>
                <a:gd name="connsiteY0" fmla="*/ 141817 h 141817"/>
                <a:gd name="connsiteX1" fmla="*/ 114300 w 1638300"/>
                <a:gd name="connsiteY1" fmla="*/ 103717 h 141817"/>
                <a:gd name="connsiteX2" fmla="*/ 495300 w 1638300"/>
                <a:gd name="connsiteY2" fmla="*/ 14817 h 141817"/>
                <a:gd name="connsiteX3" fmla="*/ 863600 w 1638300"/>
                <a:gd name="connsiteY3" fmla="*/ 14817 h 141817"/>
                <a:gd name="connsiteX4" fmla="*/ 1638300 w 1638300"/>
                <a:gd name="connsiteY4" fmla="*/ 103717 h 141817"/>
                <a:gd name="connsiteX0" fmla="*/ 0 w 1638300"/>
                <a:gd name="connsiteY0" fmla="*/ 141817 h 141817"/>
                <a:gd name="connsiteX1" fmla="*/ 114300 w 1638300"/>
                <a:gd name="connsiteY1" fmla="*/ 103717 h 141817"/>
                <a:gd name="connsiteX2" fmla="*/ 495300 w 1638300"/>
                <a:gd name="connsiteY2" fmla="*/ 14817 h 141817"/>
                <a:gd name="connsiteX3" fmla="*/ 863600 w 1638300"/>
                <a:gd name="connsiteY3" fmla="*/ 14817 h 141817"/>
                <a:gd name="connsiteX4" fmla="*/ 1638300 w 1638300"/>
                <a:gd name="connsiteY4" fmla="*/ 103717 h 1418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38300" h="141817">
                  <a:moveTo>
                    <a:pt x="0" y="141817"/>
                  </a:moveTo>
                  <a:cubicBezTo>
                    <a:pt x="15875" y="133350"/>
                    <a:pt x="31750" y="124884"/>
                    <a:pt x="114300" y="103717"/>
                  </a:cubicBezTo>
                  <a:cubicBezTo>
                    <a:pt x="196850" y="82550"/>
                    <a:pt x="370417" y="29634"/>
                    <a:pt x="495300" y="14817"/>
                  </a:cubicBezTo>
                  <a:cubicBezTo>
                    <a:pt x="620183" y="0"/>
                    <a:pt x="673100" y="0"/>
                    <a:pt x="863600" y="14817"/>
                  </a:cubicBezTo>
                  <a:cubicBezTo>
                    <a:pt x="1054100" y="29634"/>
                    <a:pt x="1346200" y="66675"/>
                    <a:pt x="1638300" y="103717"/>
                  </a:cubicBezTo>
                </a:path>
              </a:pathLst>
            </a:custGeom>
            <a:ln w="28575">
              <a:solidFill>
                <a:srgbClr val="7030A0"/>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Consolas" pitchFamily="49" charset="0"/>
                <a:cs typeface="Consolas" pitchFamily="49" charset="0"/>
              </a:endParaRPr>
            </a:p>
          </p:txBody>
        </p:sp>
        <p:sp>
          <p:nvSpPr>
            <p:cNvPr id="22" name="任意多边形 121">
              <a:extLst>
                <a:ext uri="{FF2B5EF4-FFF2-40B4-BE49-F238E27FC236}">
                  <a16:creationId xmlns:a16="http://schemas.microsoft.com/office/drawing/2014/main" id="{FEF3E817-E79E-1812-BD8C-46C9BE8315DB}"/>
                </a:ext>
              </a:extLst>
            </p:cNvPr>
            <p:cNvSpPr/>
            <p:nvPr/>
          </p:nvSpPr>
          <p:spPr>
            <a:xfrm>
              <a:off x="741332" y="1155678"/>
              <a:ext cx="1714500" cy="1016000"/>
            </a:xfrm>
            <a:custGeom>
              <a:avLst/>
              <a:gdLst>
                <a:gd name="connsiteX0" fmla="*/ 1714500 w 1714500"/>
                <a:gd name="connsiteY0" fmla="*/ 0 h 1016000"/>
                <a:gd name="connsiteX1" fmla="*/ 1549400 w 1714500"/>
                <a:gd name="connsiteY1" fmla="*/ 38100 h 1016000"/>
                <a:gd name="connsiteX2" fmla="*/ 1143000 w 1714500"/>
                <a:gd name="connsiteY2" fmla="*/ 165100 h 1016000"/>
                <a:gd name="connsiteX3" fmla="*/ 609600 w 1714500"/>
                <a:gd name="connsiteY3" fmla="*/ 406400 h 1016000"/>
                <a:gd name="connsiteX4" fmla="*/ 0 w 1714500"/>
                <a:gd name="connsiteY4" fmla="*/ 1016000 h 1016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4500" h="1016000">
                  <a:moveTo>
                    <a:pt x="1714500" y="0"/>
                  </a:moveTo>
                  <a:cubicBezTo>
                    <a:pt x="1679575" y="5291"/>
                    <a:pt x="1644650" y="10583"/>
                    <a:pt x="1549400" y="38100"/>
                  </a:cubicBezTo>
                  <a:cubicBezTo>
                    <a:pt x="1454150" y="65617"/>
                    <a:pt x="1299633" y="103717"/>
                    <a:pt x="1143000" y="165100"/>
                  </a:cubicBezTo>
                  <a:cubicBezTo>
                    <a:pt x="986367" y="226483"/>
                    <a:pt x="800100" y="264583"/>
                    <a:pt x="609600" y="406400"/>
                  </a:cubicBezTo>
                  <a:cubicBezTo>
                    <a:pt x="419100" y="548217"/>
                    <a:pt x="209550" y="782108"/>
                    <a:pt x="0" y="1016000"/>
                  </a:cubicBezTo>
                </a:path>
              </a:pathLst>
            </a:custGeom>
            <a:ln w="28575">
              <a:solidFill>
                <a:srgbClr val="7030A0"/>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Consolas" pitchFamily="49" charset="0"/>
                <a:cs typeface="Consolas" pitchFamily="49" charset="0"/>
              </a:endParaRPr>
            </a:p>
          </p:txBody>
        </p:sp>
        <p:sp>
          <p:nvSpPr>
            <p:cNvPr id="23" name="任意多边形 122">
              <a:extLst>
                <a:ext uri="{FF2B5EF4-FFF2-40B4-BE49-F238E27FC236}">
                  <a16:creationId xmlns:a16="http://schemas.microsoft.com/office/drawing/2014/main" id="{A9E31287-CE13-0976-6803-C6827743BB77}"/>
                </a:ext>
              </a:extLst>
            </p:cNvPr>
            <p:cNvSpPr/>
            <p:nvPr/>
          </p:nvSpPr>
          <p:spPr>
            <a:xfrm>
              <a:off x="817532" y="1269978"/>
              <a:ext cx="1689100" cy="990600"/>
            </a:xfrm>
            <a:custGeom>
              <a:avLst/>
              <a:gdLst>
                <a:gd name="connsiteX0" fmla="*/ 0 w 1689100"/>
                <a:gd name="connsiteY0" fmla="*/ 990600 h 990600"/>
                <a:gd name="connsiteX1" fmla="*/ 266700 w 1689100"/>
                <a:gd name="connsiteY1" fmla="*/ 901700 h 990600"/>
                <a:gd name="connsiteX2" fmla="*/ 787400 w 1689100"/>
                <a:gd name="connsiteY2" fmla="*/ 622300 h 990600"/>
                <a:gd name="connsiteX3" fmla="*/ 1219200 w 1689100"/>
                <a:gd name="connsiteY3" fmla="*/ 381000 h 990600"/>
                <a:gd name="connsiteX4" fmla="*/ 1689100 w 1689100"/>
                <a:gd name="connsiteY4" fmla="*/ 0 h 990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89100" h="990600">
                  <a:moveTo>
                    <a:pt x="0" y="990600"/>
                  </a:moveTo>
                  <a:cubicBezTo>
                    <a:pt x="67733" y="976841"/>
                    <a:pt x="135467" y="963083"/>
                    <a:pt x="266700" y="901700"/>
                  </a:cubicBezTo>
                  <a:cubicBezTo>
                    <a:pt x="397933" y="840317"/>
                    <a:pt x="628650" y="709083"/>
                    <a:pt x="787400" y="622300"/>
                  </a:cubicBezTo>
                  <a:cubicBezTo>
                    <a:pt x="946150" y="535517"/>
                    <a:pt x="1068917" y="484717"/>
                    <a:pt x="1219200" y="381000"/>
                  </a:cubicBezTo>
                  <a:cubicBezTo>
                    <a:pt x="1369483" y="277283"/>
                    <a:pt x="1529291" y="138641"/>
                    <a:pt x="1689100" y="0"/>
                  </a:cubicBezTo>
                </a:path>
              </a:pathLst>
            </a:custGeom>
            <a:ln w="28575">
              <a:solidFill>
                <a:srgbClr val="7030A0"/>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Consolas" pitchFamily="49" charset="0"/>
                <a:cs typeface="Consolas" pitchFamily="49" charset="0"/>
              </a:endParaRPr>
            </a:p>
          </p:txBody>
        </p:sp>
      </p:grpSp>
      <p:sp>
        <p:nvSpPr>
          <p:cNvPr id="24" name="TextBox 123">
            <a:extLst>
              <a:ext uri="{FF2B5EF4-FFF2-40B4-BE49-F238E27FC236}">
                <a16:creationId xmlns:a16="http://schemas.microsoft.com/office/drawing/2014/main" id="{5FEDAA64-CF30-3D6C-90F8-DFCF290A09B1}"/>
              </a:ext>
            </a:extLst>
          </p:cNvPr>
          <p:cNvSpPr txBox="1"/>
          <p:nvPr/>
        </p:nvSpPr>
        <p:spPr>
          <a:xfrm>
            <a:off x="3491742" y="3769660"/>
            <a:ext cx="642942" cy="430887"/>
          </a:xfrm>
          <a:prstGeom prst="rect">
            <a:avLst/>
          </a:prstGeom>
          <a:noFill/>
        </p:spPr>
        <p:txBody>
          <a:bodyPr wrap="square" rtlCol="0">
            <a:spAutoFit/>
          </a:bodyPr>
          <a:lstStyle/>
          <a:p>
            <a:r>
              <a:rPr lang="en-US" altLang="zh-CN" sz="2200" i="1">
                <a:latin typeface="Consolas" pitchFamily="49" charset="0"/>
                <a:cs typeface="Consolas" pitchFamily="49" charset="0"/>
              </a:rPr>
              <a:t>A</a:t>
            </a:r>
            <a:r>
              <a:rPr lang="en-US" altLang="zh-CN" sz="2200" baseline="-25000">
                <a:latin typeface="Consolas" pitchFamily="49" charset="0"/>
                <a:cs typeface="Consolas" pitchFamily="49" charset="0"/>
              </a:rPr>
              <a:t>3</a:t>
            </a:r>
            <a:endParaRPr lang="zh-CN" altLang="en-US" sz="2200" baseline="-25000">
              <a:latin typeface="Consolas" pitchFamily="49" charset="0"/>
              <a:cs typeface="Consolas" pitchFamily="49" charset="0"/>
            </a:endParaRPr>
          </a:p>
        </p:txBody>
      </p:sp>
      <p:graphicFrame>
        <p:nvGraphicFramePr>
          <p:cNvPr id="25" name="表格 24">
            <a:extLst>
              <a:ext uri="{FF2B5EF4-FFF2-40B4-BE49-F238E27FC236}">
                <a16:creationId xmlns:a16="http://schemas.microsoft.com/office/drawing/2014/main" id="{66A778B8-4510-2331-05D7-5D3C6BD1F4EA}"/>
              </a:ext>
            </a:extLst>
          </p:cNvPr>
          <p:cNvGraphicFramePr>
            <a:graphicFrameLocks noGrp="1"/>
          </p:cNvGraphicFramePr>
          <p:nvPr>
            <p:extLst>
              <p:ext uri="{D42A27DB-BD31-4B8C-83A1-F6EECF244321}">
                <p14:modId xmlns:p14="http://schemas.microsoft.com/office/powerpoint/2010/main" val="1906486063"/>
              </p:ext>
            </p:extLst>
          </p:nvPr>
        </p:nvGraphicFramePr>
        <p:xfrm>
          <a:off x="2205858" y="4341164"/>
          <a:ext cx="3071835" cy="1854200"/>
        </p:xfrm>
        <a:graphic>
          <a:graphicData uri="http://schemas.openxmlformats.org/drawingml/2006/table">
            <a:tbl>
              <a:tblPr firstRow="1" bandRow="1">
                <a:tableStyleId>{E8B1032C-EA38-4F05-BA0D-38AFFFC7BED3}</a:tableStyleId>
              </a:tblPr>
              <a:tblGrid>
                <a:gridCol w="614367">
                  <a:extLst>
                    <a:ext uri="{9D8B030D-6E8A-4147-A177-3AD203B41FA5}">
                      <a16:colId xmlns:a16="http://schemas.microsoft.com/office/drawing/2014/main" val="20000"/>
                    </a:ext>
                  </a:extLst>
                </a:gridCol>
                <a:gridCol w="614367">
                  <a:extLst>
                    <a:ext uri="{9D8B030D-6E8A-4147-A177-3AD203B41FA5}">
                      <a16:colId xmlns:a16="http://schemas.microsoft.com/office/drawing/2014/main" val="20001"/>
                    </a:ext>
                  </a:extLst>
                </a:gridCol>
                <a:gridCol w="614367">
                  <a:extLst>
                    <a:ext uri="{9D8B030D-6E8A-4147-A177-3AD203B41FA5}">
                      <a16:colId xmlns:a16="http://schemas.microsoft.com/office/drawing/2014/main" val="20002"/>
                    </a:ext>
                  </a:extLst>
                </a:gridCol>
                <a:gridCol w="614367">
                  <a:extLst>
                    <a:ext uri="{9D8B030D-6E8A-4147-A177-3AD203B41FA5}">
                      <a16:colId xmlns:a16="http://schemas.microsoft.com/office/drawing/2014/main" val="20003"/>
                    </a:ext>
                  </a:extLst>
                </a:gridCol>
                <a:gridCol w="614367">
                  <a:extLst>
                    <a:ext uri="{9D8B030D-6E8A-4147-A177-3AD203B41FA5}">
                      <a16:colId xmlns:a16="http://schemas.microsoft.com/office/drawing/2014/main" val="20004"/>
                    </a:ext>
                  </a:extLst>
                </a:gridCol>
              </a:tblGrid>
              <a:tr h="370840">
                <a:tc>
                  <a:txBody>
                    <a:bodyPr/>
                    <a:lstStyle/>
                    <a:p>
                      <a:pPr algn="ctr"/>
                      <a:endParaRPr lang="zh-CN" altLang="en-US" b="1">
                        <a:solidFill>
                          <a:srgbClr val="3333FF"/>
                        </a:solidFill>
                        <a:latin typeface="Consolas" pitchFamily="49" charset="0"/>
                        <a:cs typeface="Consolas" pitchFamily="49" charset="0"/>
                      </a:endParaRPr>
                    </a:p>
                  </a:txBody>
                  <a:tcPr>
                    <a:solidFill>
                      <a:schemeClr val="tx2">
                        <a:lumMod val="40000"/>
                        <a:lumOff val="60000"/>
                      </a:schemeClr>
                    </a:solidFill>
                  </a:tcPr>
                </a:tc>
                <a:tc>
                  <a:txBody>
                    <a:bodyPr/>
                    <a:lstStyle/>
                    <a:p>
                      <a:pPr algn="ctr"/>
                      <a:r>
                        <a:rPr lang="en-US" altLang="zh-CN" sz="1600" b="1">
                          <a:solidFill>
                            <a:srgbClr val="FF0000"/>
                          </a:solidFill>
                          <a:latin typeface="Consolas" pitchFamily="49" charset="0"/>
                          <a:cs typeface="Consolas" pitchFamily="49" charset="0"/>
                        </a:rPr>
                        <a:t>0</a:t>
                      </a:r>
                      <a:endParaRPr lang="zh-CN" altLang="en-US" sz="1600" b="1">
                        <a:solidFill>
                          <a:srgbClr val="FF0000"/>
                        </a:solidFill>
                        <a:latin typeface="Consolas" pitchFamily="49" charset="0"/>
                        <a:cs typeface="Consolas" pitchFamily="49" charset="0"/>
                      </a:endParaRPr>
                    </a:p>
                  </a:txBody>
                  <a:tcPr>
                    <a:solidFill>
                      <a:schemeClr val="tx2">
                        <a:lumMod val="40000"/>
                        <a:lumOff val="60000"/>
                      </a:schemeClr>
                    </a:solidFill>
                  </a:tcPr>
                </a:tc>
                <a:tc>
                  <a:txBody>
                    <a:bodyPr/>
                    <a:lstStyle/>
                    <a:p>
                      <a:pPr algn="ctr"/>
                      <a:r>
                        <a:rPr lang="en-US" altLang="zh-CN" sz="1600" b="1">
                          <a:solidFill>
                            <a:srgbClr val="FF0000"/>
                          </a:solidFill>
                          <a:latin typeface="Consolas" pitchFamily="49" charset="0"/>
                          <a:cs typeface="Consolas" pitchFamily="49" charset="0"/>
                        </a:rPr>
                        <a:t>1</a:t>
                      </a:r>
                      <a:endParaRPr lang="zh-CN" altLang="en-US" sz="1600" b="1">
                        <a:solidFill>
                          <a:srgbClr val="FF0000"/>
                        </a:solidFill>
                        <a:latin typeface="Consolas" pitchFamily="49" charset="0"/>
                        <a:cs typeface="Consolas" pitchFamily="49" charset="0"/>
                      </a:endParaRPr>
                    </a:p>
                  </a:txBody>
                  <a:tcPr>
                    <a:solidFill>
                      <a:schemeClr val="tx2">
                        <a:lumMod val="40000"/>
                        <a:lumOff val="60000"/>
                      </a:schemeClr>
                    </a:solidFill>
                  </a:tcPr>
                </a:tc>
                <a:tc>
                  <a:txBody>
                    <a:bodyPr/>
                    <a:lstStyle/>
                    <a:p>
                      <a:pPr algn="ctr"/>
                      <a:r>
                        <a:rPr lang="en-US" altLang="zh-CN" sz="1600" b="1">
                          <a:solidFill>
                            <a:srgbClr val="FF0000"/>
                          </a:solidFill>
                          <a:latin typeface="Consolas" pitchFamily="49" charset="0"/>
                          <a:cs typeface="Consolas" pitchFamily="49" charset="0"/>
                        </a:rPr>
                        <a:t>2</a:t>
                      </a:r>
                      <a:endParaRPr lang="zh-CN" altLang="en-US" sz="1600" b="1">
                        <a:solidFill>
                          <a:srgbClr val="FF0000"/>
                        </a:solidFill>
                        <a:latin typeface="Consolas" pitchFamily="49" charset="0"/>
                        <a:cs typeface="Consolas" pitchFamily="49" charset="0"/>
                      </a:endParaRPr>
                    </a:p>
                  </a:txBody>
                  <a:tcPr>
                    <a:solidFill>
                      <a:schemeClr val="tx2">
                        <a:lumMod val="40000"/>
                        <a:lumOff val="60000"/>
                      </a:schemeClr>
                    </a:solidFill>
                  </a:tcPr>
                </a:tc>
                <a:tc>
                  <a:txBody>
                    <a:bodyPr/>
                    <a:lstStyle/>
                    <a:p>
                      <a:pPr algn="ctr"/>
                      <a:r>
                        <a:rPr lang="en-US" altLang="zh-CN" sz="1600" b="1">
                          <a:solidFill>
                            <a:srgbClr val="FF0000"/>
                          </a:solidFill>
                          <a:latin typeface="Consolas" pitchFamily="49" charset="0"/>
                          <a:cs typeface="Consolas" pitchFamily="49" charset="0"/>
                        </a:rPr>
                        <a:t>3</a:t>
                      </a:r>
                      <a:endParaRPr lang="zh-CN" altLang="en-US" sz="1600" b="1">
                        <a:solidFill>
                          <a:srgbClr val="FF0000"/>
                        </a:solidFill>
                        <a:latin typeface="Consolas" pitchFamily="49" charset="0"/>
                        <a:cs typeface="Consolas" pitchFamily="49" charset="0"/>
                      </a:endParaRPr>
                    </a:p>
                  </a:txBody>
                  <a:tcPr>
                    <a:solidFill>
                      <a:schemeClr val="tx2">
                        <a:lumMod val="40000"/>
                        <a:lumOff val="60000"/>
                      </a:schemeClr>
                    </a:solidFill>
                  </a:tcPr>
                </a:tc>
                <a:extLst>
                  <a:ext uri="{0D108BD9-81ED-4DB2-BD59-A6C34878D82A}">
                    <a16:rowId xmlns:a16="http://schemas.microsoft.com/office/drawing/2014/main" val="10000"/>
                  </a:ext>
                </a:extLst>
              </a:tr>
              <a:tr h="370840">
                <a:tc>
                  <a:txBody>
                    <a:bodyPr/>
                    <a:lstStyle/>
                    <a:p>
                      <a:pPr algn="ctr"/>
                      <a:r>
                        <a:rPr lang="en-US" altLang="zh-CN" sz="1600" b="1">
                          <a:solidFill>
                            <a:srgbClr val="FF0000"/>
                          </a:solidFill>
                          <a:latin typeface="Consolas" pitchFamily="49" charset="0"/>
                          <a:cs typeface="Consolas" pitchFamily="49" charset="0"/>
                        </a:rPr>
                        <a:t>0</a:t>
                      </a:r>
                      <a:endParaRPr lang="zh-CN" altLang="en-US" sz="1600" b="1">
                        <a:solidFill>
                          <a:srgbClr val="FF0000"/>
                        </a:solidFill>
                        <a:latin typeface="Consolas" pitchFamily="49" charset="0"/>
                        <a:cs typeface="Consolas" pitchFamily="49" charset="0"/>
                      </a:endParaRPr>
                    </a:p>
                  </a:txBody>
                  <a:tcPr>
                    <a:solidFill>
                      <a:schemeClr val="tx2">
                        <a:lumMod val="40000"/>
                        <a:lumOff val="60000"/>
                      </a:schemeClr>
                    </a:solidFill>
                  </a:tcPr>
                </a:tc>
                <a:tc>
                  <a:txBody>
                    <a:bodyPr/>
                    <a:lstStyle/>
                    <a:p>
                      <a:pPr algn="ctr"/>
                      <a:r>
                        <a:rPr lang="en-US" altLang="zh-CN" b="1">
                          <a:solidFill>
                            <a:srgbClr val="3333FF"/>
                          </a:solidFill>
                          <a:latin typeface="Consolas" pitchFamily="49" charset="0"/>
                          <a:cs typeface="Consolas" pitchFamily="49" charset="0"/>
                        </a:rPr>
                        <a:t>0</a:t>
                      </a:r>
                      <a:endParaRPr lang="zh-CN" altLang="en-US" b="1">
                        <a:solidFill>
                          <a:srgbClr val="3333FF"/>
                        </a:solidFill>
                        <a:latin typeface="Consolas" pitchFamily="49" charset="0"/>
                        <a:cs typeface="Consolas" pitchFamily="49" charset="0"/>
                      </a:endParaRPr>
                    </a:p>
                  </a:txBody>
                  <a:tcPr/>
                </a:tc>
                <a:tc>
                  <a:txBody>
                    <a:bodyPr/>
                    <a:lstStyle/>
                    <a:p>
                      <a:pPr algn="ctr"/>
                      <a:r>
                        <a:rPr lang="en-US" altLang="zh-CN" b="1">
                          <a:solidFill>
                            <a:srgbClr val="3333FF"/>
                          </a:solidFill>
                          <a:latin typeface="Consolas" pitchFamily="49" charset="0"/>
                          <a:cs typeface="Consolas" pitchFamily="49" charset="0"/>
                        </a:rPr>
                        <a:t>5</a:t>
                      </a:r>
                      <a:endParaRPr lang="zh-CN" altLang="en-US" b="1">
                        <a:solidFill>
                          <a:srgbClr val="3333FF"/>
                        </a:solidFill>
                        <a:latin typeface="Consolas" pitchFamily="49" charset="0"/>
                        <a:cs typeface="Consolas" pitchFamily="49" charset="0"/>
                      </a:endParaRPr>
                    </a:p>
                  </a:txBody>
                  <a:tcPr/>
                </a:tc>
                <a:tc>
                  <a:txBody>
                    <a:bodyPr/>
                    <a:lstStyle/>
                    <a:p>
                      <a:pPr algn="ctr"/>
                      <a:r>
                        <a:rPr lang="en-US" altLang="zh-CN" b="1">
                          <a:solidFill>
                            <a:srgbClr val="3333FF"/>
                          </a:solidFill>
                          <a:latin typeface="Consolas" pitchFamily="49" charset="0"/>
                          <a:cs typeface="Consolas" pitchFamily="49" charset="0"/>
                        </a:rPr>
                        <a:t>9</a:t>
                      </a:r>
                      <a:endParaRPr lang="zh-CN" altLang="en-US" b="1">
                        <a:solidFill>
                          <a:srgbClr val="3333FF"/>
                        </a:solidFill>
                        <a:latin typeface="Consolas" pitchFamily="49" charset="0"/>
                        <a:cs typeface="Consolas" pitchFamily="49" charset="0"/>
                      </a:endParaRPr>
                    </a:p>
                  </a:txBody>
                  <a:tcPr/>
                </a:tc>
                <a:tc>
                  <a:txBody>
                    <a:bodyPr/>
                    <a:lstStyle/>
                    <a:p>
                      <a:pPr algn="ctr"/>
                      <a:r>
                        <a:rPr lang="en-US" altLang="zh-CN" b="1">
                          <a:solidFill>
                            <a:srgbClr val="3333FF"/>
                          </a:solidFill>
                          <a:latin typeface="Consolas" pitchFamily="49" charset="0"/>
                          <a:cs typeface="Consolas" pitchFamily="49" charset="0"/>
                        </a:rPr>
                        <a:t>7</a:t>
                      </a:r>
                      <a:endParaRPr lang="zh-CN" altLang="en-US" b="1">
                        <a:solidFill>
                          <a:srgbClr val="3333FF"/>
                        </a:solidFill>
                        <a:latin typeface="Consolas" pitchFamily="49" charset="0"/>
                        <a:cs typeface="Consolas" pitchFamily="49" charset="0"/>
                      </a:endParaRPr>
                    </a:p>
                  </a:txBody>
                  <a:tcPr/>
                </a:tc>
                <a:extLst>
                  <a:ext uri="{0D108BD9-81ED-4DB2-BD59-A6C34878D82A}">
                    <a16:rowId xmlns:a16="http://schemas.microsoft.com/office/drawing/2014/main" val="10001"/>
                  </a:ext>
                </a:extLst>
              </a:tr>
              <a:tr h="370840">
                <a:tc>
                  <a:txBody>
                    <a:bodyPr/>
                    <a:lstStyle/>
                    <a:p>
                      <a:pPr algn="ctr"/>
                      <a:r>
                        <a:rPr lang="en-US" altLang="zh-CN" sz="1600" b="1">
                          <a:solidFill>
                            <a:srgbClr val="FF0000"/>
                          </a:solidFill>
                          <a:latin typeface="Consolas" pitchFamily="49" charset="0"/>
                          <a:cs typeface="Consolas" pitchFamily="49" charset="0"/>
                        </a:rPr>
                        <a:t>1</a:t>
                      </a:r>
                      <a:endParaRPr lang="zh-CN" altLang="en-US" sz="1600" b="1">
                        <a:solidFill>
                          <a:srgbClr val="FF0000"/>
                        </a:solidFill>
                        <a:latin typeface="Consolas" pitchFamily="49" charset="0"/>
                        <a:cs typeface="Consolas" pitchFamily="49" charset="0"/>
                      </a:endParaRPr>
                    </a:p>
                  </a:txBody>
                  <a:tcPr>
                    <a:solidFill>
                      <a:schemeClr val="tx2">
                        <a:lumMod val="40000"/>
                        <a:lumOff val="6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b="1">
                          <a:solidFill>
                            <a:srgbClr val="3333FF"/>
                          </a:solidFill>
                          <a:latin typeface="Consolas" pitchFamily="49" charset="0"/>
                          <a:cs typeface="Consolas" pitchFamily="49" charset="0"/>
                        </a:rPr>
                        <a:t>7</a:t>
                      </a:r>
                      <a:endParaRPr lang="zh-CN" altLang="en-US" b="1">
                        <a:solidFill>
                          <a:srgbClr val="3333FF"/>
                        </a:solidFill>
                        <a:latin typeface="Consolas" pitchFamily="49" charset="0"/>
                        <a:cs typeface="Consolas" pitchFamily="49" charset="0"/>
                      </a:endParaRPr>
                    </a:p>
                  </a:txBody>
                  <a:tcPr/>
                </a:tc>
                <a:tc>
                  <a:txBody>
                    <a:bodyPr/>
                    <a:lstStyle/>
                    <a:p>
                      <a:pPr algn="ctr"/>
                      <a:r>
                        <a:rPr lang="en-US" altLang="zh-CN" b="1">
                          <a:solidFill>
                            <a:srgbClr val="3333FF"/>
                          </a:solidFill>
                          <a:latin typeface="Consolas" pitchFamily="49" charset="0"/>
                          <a:cs typeface="Consolas" pitchFamily="49" charset="0"/>
                        </a:rPr>
                        <a:t>0</a:t>
                      </a:r>
                      <a:endParaRPr lang="zh-CN" altLang="en-US" b="1">
                        <a:solidFill>
                          <a:srgbClr val="3333FF"/>
                        </a:solidFill>
                        <a:latin typeface="Consolas" pitchFamily="49" charset="0"/>
                        <a:cs typeface="Consolas" pitchFamily="49" charset="0"/>
                      </a:endParaRPr>
                    </a:p>
                  </a:txBody>
                  <a:tcPr/>
                </a:tc>
                <a:tc>
                  <a:txBody>
                    <a:bodyPr/>
                    <a:lstStyle/>
                    <a:p>
                      <a:pPr algn="ctr"/>
                      <a:r>
                        <a:rPr lang="en-US" altLang="zh-CN" b="1">
                          <a:solidFill>
                            <a:srgbClr val="3333FF"/>
                          </a:solidFill>
                          <a:latin typeface="Consolas" pitchFamily="49" charset="0"/>
                          <a:cs typeface="Consolas" pitchFamily="49" charset="0"/>
                        </a:rPr>
                        <a:t>4</a:t>
                      </a:r>
                      <a:endParaRPr lang="zh-CN" altLang="en-US" b="1">
                        <a:solidFill>
                          <a:srgbClr val="3333FF"/>
                        </a:solidFill>
                        <a:latin typeface="Consolas" pitchFamily="49" charset="0"/>
                        <a:cs typeface="Consolas" pitchFamily="49" charset="0"/>
                      </a:endParaRPr>
                    </a:p>
                  </a:txBody>
                  <a:tcPr/>
                </a:tc>
                <a:tc>
                  <a:txBody>
                    <a:bodyPr/>
                    <a:lstStyle/>
                    <a:p>
                      <a:pPr algn="ctr"/>
                      <a:r>
                        <a:rPr lang="en-US" altLang="zh-CN" b="1">
                          <a:solidFill>
                            <a:srgbClr val="3333FF"/>
                          </a:solidFill>
                          <a:latin typeface="Consolas" pitchFamily="49" charset="0"/>
                          <a:cs typeface="Consolas" pitchFamily="49" charset="0"/>
                        </a:rPr>
                        <a:t>2</a:t>
                      </a:r>
                      <a:endParaRPr lang="zh-CN" altLang="en-US" b="1">
                        <a:solidFill>
                          <a:srgbClr val="3333FF"/>
                        </a:solidFill>
                        <a:latin typeface="Consolas" pitchFamily="49" charset="0"/>
                        <a:cs typeface="Consolas" pitchFamily="49" charset="0"/>
                      </a:endParaRPr>
                    </a:p>
                  </a:txBody>
                  <a:tcPr/>
                </a:tc>
                <a:extLst>
                  <a:ext uri="{0D108BD9-81ED-4DB2-BD59-A6C34878D82A}">
                    <a16:rowId xmlns:a16="http://schemas.microsoft.com/office/drawing/2014/main" val="10002"/>
                  </a:ext>
                </a:extLst>
              </a:tr>
              <a:tr h="370840">
                <a:tc>
                  <a:txBody>
                    <a:bodyPr/>
                    <a:lstStyle/>
                    <a:p>
                      <a:pPr algn="ctr"/>
                      <a:r>
                        <a:rPr lang="en-US" altLang="zh-CN" sz="1600" b="1">
                          <a:solidFill>
                            <a:srgbClr val="FF0000"/>
                          </a:solidFill>
                          <a:latin typeface="Consolas" pitchFamily="49" charset="0"/>
                          <a:cs typeface="Consolas" pitchFamily="49" charset="0"/>
                        </a:rPr>
                        <a:t>2</a:t>
                      </a:r>
                      <a:endParaRPr lang="zh-CN" altLang="en-US" sz="1600" b="1">
                        <a:solidFill>
                          <a:srgbClr val="FF0000"/>
                        </a:solidFill>
                        <a:latin typeface="Consolas" pitchFamily="49" charset="0"/>
                        <a:cs typeface="Consolas" pitchFamily="49" charset="0"/>
                      </a:endParaRPr>
                    </a:p>
                  </a:txBody>
                  <a:tcPr>
                    <a:solidFill>
                      <a:schemeClr val="tx2">
                        <a:lumMod val="40000"/>
                        <a:lumOff val="60000"/>
                      </a:schemeClr>
                    </a:solidFill>
                  </a:tcPr>
                </a:tc>
                <a:tc>
                  <a:txBody>
                    <a:bodyPr/>
                    <a:lstStyle/>
                    <a:p>
                      <a:pPr algn="ctr"/>
                      <a:r>
                        <a:rPr lang="en-US" altLang="zh-CN" b="1">
                          <a:solidFill>
                            <a:srgbClr val="3333FF"/>
                          </a:solidFill>
                          <a:latin typeface="Consolas" pitchFamily="49" charset="0"/>
                          <a:cs typeface="Consolas" pitchFamily="49" charset="0"/>
                        </a:rPr>
                        <a:t>3</a:t>
                      </a:r>
                      <a:endParaRPr lang="zh-CN" altLang="en-US" b="1">
                        <a:solidFill>
                          <a:srgbClr val="3333FF"/>
                        </a:solidFill>
                        <a:latin typeface="Consolas" pitchFamily="49" charset="0"/>
                        <a:cs typeface="Consolas" pitchFamily="49" charset="0"/>
                      </a:endParaRPr>
                    </a:p>
                  </a:txBody>
                  <a:tcPr/>
                </a:tc>
                <a:tc>
                  <a:txBody>
                    <a:bodyPr/>
                    <a:lstStyle/>
                    <a:p>
                      <a:pPr algn="ctr"/>
                      <a:r>
                        <a:rPr lang="en-US" altLang="zh-CN" b="1">
                          <a:solidFill>
                            <a:srgbClr val="3333FF"/>
                          </a:solidFill>
                          <a:latin typeface="Consolas" pitchFamily="49" charset="0"/>
                          <a:cs typeface="Consolas" pitchFamily="49" charset="0"/>
                        </a:rPr>
                        <a:t>3</a:t>
                      </a:r>
                      <a:endParaRPr lang="zh-CN" altLang="en-US" b="1">
                        <a:solidFill>
                          <a:srgbClr val="3333FF"/>
                        </a:solidFill>
                        <a:latin typeface="Consolas" pitchFamily="49" charset="0"/>
                        <a:cs typeface="Consolas" pitchFamily="49" charset="0"/>
                      </a:endParaRPr>
                    </a:p>
                  </a:txBody>
                  <a:tcPr/>
                </a:tc>
                <a:tc>
                  <a:txBody>
                    <a:bodyPr/>
                    <a:lstStyle/>
                    <a:p>
                      <a:pPr algn="ctr"/>
                      <a:r>
                        <a:rPr lang="en-US" altLang="zh-CN" b="1">
                          <a:solidFill>
                            <a:srgbClr val="3333FF"/>
                          </a:solidFill>
                          <a:latin typeface="Consolas" pitchFamily="49" charset="0"/>
                          <a:cs typeface="Consolas" pitchFamily="49" charset="0"/>
                        </a:rPr>
                        <a:t>0</a:t>
                      </a:r>
                      <a:endParaRPr lang="zh-CN" altLang="en-US" b="1">
                        <a:solidFill>
                          <a:srgbClr val="3333FF"/>
                        </a:solidFill>
                        <a:latin typeface="Consolas" pitchFamily="49" charset="0"/>
                        <a:cs typeface="Consolas" pitchFamily="49" charset="0"/>
                      </a:endParaRPr>
                    </a:p>
                  </a:txBody>
                  <a:tcPr/>
                </a:tc>
                <a:tc>
                  <a:txBody>
                    <a:bodyPr/>
                    <a:lstStyle/>
                    <a:p>
                      <a:pPr algn="ctr"/>
                      <a:r>
                        <a:rPr lang="en-US" altLang="zh-CN" b="1">
                          <a:solidFill>
                            <a:srgbClr val="3333FF"/>
                          </a:solidFill>
                          <a:latin typeface="Consolas" pitchFamily="49" charset="0"/>
                          <a:cs typeface="Consolas" pitchFamily="49" charset="0"/>
                        </a:rPr>
                        <a:t>2</a:t>
                      </a:r>
                      <a:endParaRPr lang="zh-CN" altLang="en-US" b="1">
                        <a:solidFill>
                          <a:srgbClr val="3333FF"/>
                        </a:solidFill>
                        <a:latin typeface="Consolas" pitchFamily="49" charset="0"/>
                        <a:cs typeface="Consolas" pitchFamily="49" charset="0"/>
                      </a:endParaRPr>
                    </a:p>
                  </a:txBody>
                  <a:tcPr/>
                </a:tc>
                <a:extLst>
                  <a:ext uri="{0D108BD9-81ED-4DB2-BD59-A6C34878D82A}">
                    <a16:rowId xmlns:a16="http://schemas.microsoft.com/office/drawing/2014/main" val="10003"/>
                  </a:ext>
                </a:extLst>
              </a:tr>
              <a:tr h="370840">
                <a:tc>
                  <a:txBody>
                    <a:bodyPr/>
                    <a:lstStyle/>
                    <a:p>
                      <a:pPr algn="ctr"/>
                      <a:r>
                        <a:rPr lang="en-US" altLang="zh-CN" sz="1600" b="1">
                          <a:solidFill>
                            <a:srgbClr val="FF0000"/>
                          </a:solidFill>
                          <a:latin typeface="Consolas" pitchFamily="49" charset="0"/>
                          <a:cs typeface="Consolas" pitchFamily="49" charset="0"/>
                        </a:rPr>
                        <a:t>3</a:t>
                      </a:r>
                      <a:endParaRPr lang="zh-CN" altLang="en-US" sz="1600" b="1">
                        <a:solidFill>
                          <a:srgbClr val="FF0000"/>
                        </a:solidFill>
                        <a:latin typeface="Consolas" pitchFamily="49" charset="0"/>
                        <a:cs typeface="Consolas" pitchFamily="49" charset="0"/>
                      </a:endParaRPr>
                    </a:p>
                  </a:txBody>
                  <a:tcPr>
                    <a:solidFill>
                      <a:schemeClr val="tx2">
                        <a:lumMod val="40000"/>
                        <a:lumOff val="6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b="1">
                          <a:solidFill>
                            <a:srgbClr val="3333FF"/>
                          </a:solidFill>
                          <a:latin typeface="Consolas" pitchFamily="49" charset="0"/>
                          <a:cs typeface="Consolas" pitchFamily="49" charset="0"/>
                        </a:rPr>
                        <a:t>4</a:t>
                      </a:r>
                      <a:endParaRPr lang="zh-CN" altLang="en-US" b="1">
                        <a:solidFill>
                          <a:srgbClr val="3333FF"/>
                        </a:solidFill>
                        <a:latin typeface="Consolas" pitchFamily="49" charset="0"/>
                        <a:cs typeface="Consolas"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b="1">
                          <a:solidFill>
                            <a:srgbClr val="3333FF"/>
                          </a:solidFill>
                          <a:latin typeface="Consolas" pitchFamily="49" charset="0"/>
                          <a:cs typeface="Consolas" pitchFamily="49" charset="0"/>
                        </a:rPr>
                        <a:t>4</a:t>
                      </a:r>
                      <a:endParaRPr lang="zh-CN" altLang="en-US" b="1">
                        <a:solidFill>
                          <a:srgbClr val="3333FF"/>
                        </a:solidFill>
                        <a:latin typeface="Consolas" pitchFamily="49" charset="0"/>
                        <a:cs typeface="Consolas" pitchFamily="49" charset="0"/>
                      </a:endParaRPr>
                    </a:p>
                  </a:txBody>
                  <a:tcPr/>
                </a:tc>
                <a:tc>
                  <a:txBody>
                    <a:bodyPr/>
                    <a:lstStyle/>
                    <a:p>
                      <a:pPr algn="ctr"/>
                      <a:r>
                        <a:rPr lang="en-US" altLang="zh-CN" b="1">
                          <a:solidFill>
                            <a:srgbClr val="3333FF"/>
                          </a:solidFill>
                          <a:latin typeface="Consolas" pitchFamily="49" charset="0"/>
                          <a:cs typeface="Consolas" pitchFamily="49" charset="0"/>
                        </a:rPr>
                        <a:t>1</a:t>
                      </a:r>
                      <a:endParaRPr lang="zh-CN" altLang="en-US" b="1">
                        <a:solidFill>
                          <a:srgbClr val="3333FF"/>
                        </a:solidFill>
                        <a:latin typeface="Consolas" pitchFamily="49" charset="0"/>
                        <a:cs typeface="Consolas" pitchFamily="49" charset="0"/>
                      </a:endParaRPr>
                    </a:p>
                  </a:txBody>
                  <a:tcPr/>
                </a:tc>
                <a:tc>
                  <a:txBody>
                    <a:bodyPr/>
                    <a:lstStyle/>
                    <a:p>
                      <a:pPr algn="ctr"/>
                      <a:r>
                        <a:rPr lang="en-US" altLang="zh-CN" b="1">
                          <a:solidFill>
                            <a:srgbClr val="3333FF"/>
                          </a:solidFill>
                          <a:latin typeface="Consolas" pitchFamily="49" charset="0"/>
                          <a:cs typeface="Consolas" pitchFamily="49" charset="0"/>
                        </a:rPr>
                        <a:t>0</a:t>
                      </a:r>
                      <a:endParaRPr lang="zh-CN" altLang="en-US" b="1">
                        <a:solidFill>
                          <a:srgbClr val="3333FF"/>
                        </a:solidFill>
                        <a:latin typeface="Consolas" pitchFamily="49" charset="0"/>
                        <a:cs typeface="Consolas" pitchFamily="49" charset="0"/>
                      </a:endParaRPr>
                    </a:p>
                  </a:txBody>
                  <a:tcPr/>
                </a:tc>
                <a:extLst>
                  <a:ext uri="{0D108BD9-81ED-4DB2-BD59-A6C34878D82A}">
                    <a16:rowId xmlns:a16="http://schemas.microsoft.com/office/drawing/2014/main" val="10004"/>
                  </a:ext>
                </a:extLst>
              </a:tr>
            </a:tbl>
          </a:graphicData>
        </a:graphic>
      </p:graphicFrame>
      <p:sp>
        <p:nvSpPr>
          <p:cNvPr id="26" name="TextBox 125">
            <a:extLst>
              <a:ext uri="{FF2B5EF4-FFF2-40B4-BE49-F238E27FC236}">
                <a16:creationId xmlns:a16="http://schemas.microsoft.com/office/drawing/2014/main" id="{925D2965-98F9-1432-8266-FE6B49EACB7E}"/>
              </a:ext>
            </a:extLst>
          </p:cNvPr>
          <p:cNvSpPr txBox="1"/>
          <p:nvPr/>
        </p:nvSpPr>
        <p:spPr>
          <a:xfrm>
            <a:off x="8706714" y="3769660"/>
            <a:ext cx="1000133" cy="430887"/>
          </a:xfrm>
          <a:prstGeom prst="rect">
            <a:avLst/>
          </a:prstGeom>
          <a:noFill/>
        </p:spPr>
        <p:txBody>
          <a:bodyPr wrap="square" rtlCol="0">
            <a:spAutoFit/>
          </a:bodyPr>
          <a:lstStyle/>
          <a:p>
            <a:r>
              <a:rPr lang="en-US" altLang="zh-CN" sz="2200">
                <a:latin typeface="Consolas" pitchFamily="49" charset="0"/>
                <a:cs typeface="Consolas" pitchFamily="49" charset="0"/>
              </a:rPr>
              <a:t>path</a:t>
            </a:r>
            <a:r>
              <a:rPr lang="en-US" altLang="zh-CN" sz="2200" baseline="-25000">
                <a:latin typeface="Consolas" pitchFamily="49" charset="0"/>
                <a:cs typeface="Consolas" pitchFamily="49" charset="0"/>
              </a:rPr>
              <a:t>3</a:t>
            </a:r>
            <a:endParaRPr lang="zh-CN" altLang="en-US" sz="2200" baseline="-25000">
              <a:latin typeface="Consolas" pitchFamily="49" charset="0"/>
              <a:cs typeface="Consolas" pitchFamily="49" charset="0"/>
            </a:endParaRPr>
          </a:p>
        </p:txBody>
      </p:sp>
      <p:graphicFrame>
        <p:nvGraphicFramePr>
          <p:cNvPr id="27" name="表格 26">
            <a:extLst>
              <a:ext uri="{FF2B5EF4-FFF2-40B4-BE49-F238E27FC236}">
                <a16:creationId xmlns:a16="http://schemas.microsoft.com/office/drawing/2014/main" id="{FDE86BFB-C171-ABA5-2CFA-79854BBEABFE}"/>
              </a:ext>
            </a:extLst>
          </p:cNvPr>
          <p:cNvGraphicFramePr>
            <a:graphicFrameLocks noGrp="1"/>
          </p:cNvGraphicFramePr>
          <p:nvPr>
            <p:extLst>
              <p:ext uri="{D42A27DB-BD31-4B8C-83A1-F6EECF244321}">
                <p14:modId xmlns:p14="http://schemas.microsoft.com/office/powerpoint/2010/main" val="680181493"/>
              </p:ext>
            </p:extLst>
          </p:nvPr>
        </p:nvGraphicFramePr>
        <p:xfrm>
          <a:off x="7420831" y="4341164"/>
          <a:ext cx="3071835" cy="1854200"/>
        </p:xfrm>
        <a:graphic>
          <a:graphicData uri="http://schemas.openxmlformats.org/drawingml/2006/table">
            <a:tbl>
              <a:tblPr firstRow="1" bandRow="1">
                <a:tableStyleId>{E8B1032C-EA38-4F05-BA0D-38AFFFC7BED3}</a:tableStyleId>
              </a:tblPr>
              <a:tblGrid>
                <a:gridCol w="614367">
                  <a:extLst>
                    <a:ext uri="{9D8B030D-6E8A-4147-A177-3AD203B41FA5}">
                      <a16:colId xmlns:a16="http://schemas.microsoft.com/office/drawing/2014/main" val="20000"/>
                    </a:ext>
                  </a:extLst>
                </a:gridCol>
                <a:gridCol w="614367">
                  <a:extLst>
                    <a:ext uri="{9D8B030D-6E8A-4147-A177-3AD203B41FA5}">
                      <a16:colId xmlns:a16="http://schemas.microsoft.com/office/drawing/2014/main" val="20001"/>
                    </a:ext>
                  </a:extLst>
                </a:gridCol>
                <a:gridCol w="614367">
                  <a:extLst>
                    <a:ext uri="{9D8B030D-6E8A-4147-A177-3AD203B41FA5}">
                      <a16:colId xmlns:a16="http://schemas.microsoft.com/office/drawing/2014/main" val="20002"/>
                    </a:ext>
                  </a:extLst>
                </a:gridCol>
                <a:gridCol w="614367">
                  <a:extLst>
                    <a:ext uri="{9D8B030D-6E8A-4147-A177-3AD203B41FA5}">
                      <a16:colId xmlns:a16="http://schemas.microsoft.com/office/drawing/2014/main" val="20003"/>
                    </a:ext>
                  </a:extLst>
                </a:gridCol>
                <a:gridCol w="614367">
                  <a:extLst>
                    <a:ext uri="{9D8B030D-6E8A-4147-A177-3AD203B41FA5}">
                      <a16:colId xmlns:a16="http://schemas.microsoft.com/office/drawing/2014/main" val="20004"/>
                    </a:ext>
                  </a:extLst>
                </a:gridCol>
              </a:tblGrid>
              <a:tr h="370840">
                <a:tc>
                  <a:txBody>
                    <a:bodyPr/>
                    <a:lstStyle/>
                    <a:p>
                      <a:pPr algn="ctr"/>
                      <a:endParaRPr lang="zh-CN" altLang="en-US" b="1">
                        <a:solidFill>
                          <a:srgbClr val="3333FF"/>
                        </a:solidFill>
                        <a:latin typeface="Consolas" pitchFamily="49" charset="0"/>
                        <a:cs typeface="Consolas" pitchFamily="49" charset="0"/>
                      </a:endParaRPr>
                    </a:p>
                  </a:txBody>
                  <a:tcPr>
                    <a:solidFill>
                      <a:schemeClr val="tx2">
                        <a:lumMod val="40000"/>
                        <a:lumOff val="60000"/>
                      </a:schemeClr>
                    </a:solidFill>
                  </a:tcPr>
                </a:tc>
                <a:tc>
                  <a:txBody>
                    <a:bodyPr/>
                    <a:lstStyle/>
                    <a:p>
                      <a:pPr algn="ctr"/>
                      <a:r>
                        <a:rPr lang="en-US" altLang="zh-CN" sz="1600" b="1">
                          <a:solidFill>
                            <a:srgbClr val="FF0000"/>
                          </a:solidFill>
                          <a:latin typeface="Consolas" pitchFamily="49" charset="0"/>
                          <a:cs typeface="Consolas" pitchFamily="49" charset="0"/>
                        </a:rPr>
                        <a:t>0</a:t>
                      </a:r>
                      <a:endParaRPr lang="zh-CN" altLang="en-US" sz="1600" b="1">
                        <a:solidFill>
                          <a:srgbClr val="FF0000"/>
                        </a:solidFill>
                        <a:latin typeface="Consolas" pitchFamily="49" charset="0"/>
                        <a:cs typeface="Consolas" pitchFamily="49" charset="0"/>
                      </a:endParaRPr>
                    </a:p>
                  </a:txBody>
                  <a:tcPr>
                    <a:solidFill>
                      <a:schemeClr val="tx2">
                        <a:lumMod val="40000"/>
                        <a:lumOff val="60000"/>
                      </a:schemeClr>
                    </a:solidFill>
                  </a:tcPr>
                </a:tc>
                <a:tc>
                  <a:txBody>
                    <a:bodyPr/>
                    <a:lstStyle/>
                    <a:p>
                      <a:pPr algn="ctr"/>
                      <a:r>
                        <a:rPr lang="en-US" altLang="zh-CN" sz="1600" b="1">
                          <a:solidFill>
                            <a:srgbClr val="FF0000"/>
                          </a:solidFill>
                          <a:latin typeface="Consolas" pitchFamily="49" charset="0"/>
                          <a:cs typeface="Consolas" pitchFamily="49" charset="0"/>
                        </a:rPr>
                        <a:t>1</a:t>
                      </a:r>
                      <a:endParaRPr lang="zh-CN" altLang="en-US" sz="1600" b="1">
                        <a:solidFill>
                          <a:srgbClr val="FF0000"/>
                        </a:solidFill>
                        <a:latin typeface="Consolas" pitchFamily="49" charset="0"/>
                        <a:cs typeface="Consolas" pitchFamily="49" charset="0"/>
                      </a:endParaRPr>
                    </a:p>
                  </a:txBody>
                  <a:tcPr>
                    <a:solidFill>
                      <a:schemeClr val="tx2">
                        <a:lumMod val="40000"/>
                        <a:lumOff val="60000"/>
                      </a:schemeClr>
                    </a:solidFill>
                  </a:tcPr>
                </a:tc>
                <a:tc>
                  <a:txBody>
                    <a:bodyPr/>
                    <a:lstStyle/>
                    <a:p>
                      <a:pPr algn="ctr"/>
                      <a:r>
                        <a:rPr lang="en-US" altLang="zh-CN" sz="1600" b="1">
                          <a:solidFill>
                            <a:srgbClr val="FF0000"/>
                          </a:solidFill>
                          <a:latin typeface="Consolas" pitchFamily="49" charset="0"/>
                          <a:cs typeface="Consolas" pitchFamily="49" charset="0"/>
                        </a:rPr>
                        <a:t>2</a:t>
                      </a:r>
                      <a:endParaRPr lang="zh-CN" altLang="en-US" sz="1600" b="1">
                        <a:solidFill>
                          <a:srgbClr val="FF0000"/>
                        </a:solidFill>
                        <a:latin typeface="Consolas" pitchFamily="49" charset="0"/>
                        <a:cs typeface="Consolas" pitchFamily="49" charset="0"/>
                      </a:endParaRPr>
                    </a:p>
                  </a:txBody>
                  <a:tcPr>
                    <a:solidFill>
                      <a:schemeClr val="tx2">
                        <a:lumMod val="40000"/>
                        <a:lumOff val="60000"/>
                      </a:schemeClr>
                    </a:solidFill>
                  </a:tcPr>
                </a:tc>
                <a:tc>
                  <a:txBody>
                    <a:bodyPr/>
                    <a:lstStyle/>
                    <a:p>
                      <a:pPr algn="ctr"/>
                      <a:r>
                        <a:rPr lang="en-US" altLang="zh-CN" sz="1600" b="1">
                          <a:solidFill>
                            <a:srgbClr val="FF0000"/>
                          </a:solidFill>
                          <a:latin typeface="Consolas" pitchFamily="49" charset="0"/>
                          <a:cs typeface="Consolas" pitchFamily="49" charset="0"/>
                        </a:rPr>
                        <a:t>3</a:t>
                      </a:r>
                      <a:endParaRPr lang="zh-CN" altLang="en-US" sz="1600" b="1">
                        <a:solidFill>
                          <a:srgbClr val="FF0000"/>
                        </a:solidFill>
                        <a:latin typeface="Consolas" pitchFamily="49" charset="0"/>
                        <a:cs typeface="Consolas" pitchFamily="49" charset="0"/>
                      </a:endParaRPr>
                    </a:p>
                  </a:txBody>
                  <a:tcPr>
                    <a:solidFill>
                      <a:schemeClr val="tx2">
                        <a:lumMod val="40000"/>
                        <a:lumOff val="60000"/>
                      </a:schemeClr>
                    </a:solidFill>
                  </a:tcPr>
                </a:tc>
                <a:extLst>
                  <a:ext uri="{0D108BD9-81ED-4DB2-BD59-A6C34878D82A}">
                    <a16:rowId xmlns:a16="http://schemas.microsoft.com/office/drawing/2014/main" val="10000"/>
                  </a:ext>
                </a:extLst>
              </a:tr>
              <a:tr h="370840">
                <a:tc>
                  <a:txBody>
                    <a:bodyPr/>
                    <a:lstStyle/>
                    <a:p>
                      <a:pPr algn="ctr"/>
                      <a:r>
                        <a:rPr lang="en-US" altLang="zh-CN" sz="1600" b="1">
                          <a:solidFill>
                            <a:srgbClr val="FF0000"/>
                          </a:solidFill>
                          <a:latin typeface="Consolas" pitchFamily="49" charset="0"/>
                          <a:cs typeface="Consolas" pitchFamily="49" charset="0"/>
                        </a:rPr>
                        <a:t>0</a:t>
                      </a:r>
                      <a:endParaRPr lang="zh-CN" altLang="en-US" sz="1600" b="1">
                        <a:solidFill>
                          <a:srgbClr val="FF0000"/>
                        </a:solidFill>
                        <a:latin typeface="Consolas" pitchFamily="49" charset="0"/>
                        <a:cs typeface="Consolas" pitchFamily="49" charset="0"/>
                      </a:endParaRPr>
                    </a:p>
                  </a:txBody>
                  <a:tcPr>
                    <a:solidFill>
                      <a:schemeClr val="tx2">
                        <a:lumMod val="40000"/>
                        <a:lumOff val="60000"/>
                      </a:schemeClr>
                    </a:solidFill>
                  </a:tcPr>
                </a:tc>
                <a:tc>
                  <a:txBody>
                    <a:bodyPr/>
                    <a:lstStyle/>
                    <a:p>
                      <a:pPr algn="ctr"/>
                      <a:r>
                        <a:rPr lang="en-US" altLang="zh-CN" b="1">
                          <a:solidFill>
                            <a:srgbClr val="3333FF"/>
                          </a:solidFill>
                          <a:latin typeface="Consolas" pitchFamily="49" charset="0"/>
                          <a:ea typeface="+mj-ea"/>
                          <a:cs typeface="Consolas" pitchFamily="49" charset="0"/>
                        </a:rPr>
                        <a:t>-</a:t>
                      </a:r>
                      <a:r>
                        <a:rPr lang="en-US" altLang="zh-CN" b="1">
                          <a:solidFill>
                            <a:srgbClr val="3333FF"/>
                          </a:solidFill>
                          <a:latin typeface="Consolas" pitchFamily="49" charset="0"/>
                          <a:cs typeface="Consolas" pitchFamily="49" charset="0"/>
                        </a:rPr>
                        <a:t>1</a:t>
                      </a:r>
                      <a:endParaRPr lang="zh-CN" altLang="en-US" b="1">
                        <a:solidFill>
                          <a:srgbClr val="3333FF"/>
                        </a:solidFill>
                        <a:latin typeface="Consolas" pitchFamily="49" charset="0"/>
                        <a:cs typeface="Consolas" pitchFamily="49" charset="0"/>
                      </a:endParaRPr>
                    </a:p>
                  </a:txBody>
                  <a:tcPr/>
                </a:tc>
                <a:tc>
                  <a:txBody>
                    <a:bodyPr/>
                    <a:lstStyle/>
                    <a:p>
                      <a:pPr algn="ctr"/>
                      <a:r>
                        <a:rPr lang="en-US" altLang="zh-CN" b="1">
                          <a:solidFill>
                            <a:srgbClr val="3333FF"/>
                          </a:solidFill>
                          <a:latin typeface="Consolas" pitchFamily="49" charset="0"/>
                          <a:cs typeface="Consolas" pitchFamily="49" charset="0"/>
                        </a:rPr>
                        <a:t>0</a:t>
                      </a:r>
                      <a:endParaRPr lang="zh-CN" altLang="en-US" b="1">
                        <a:solidFill>
                          <a:srgbClr val="3333FF"/>
                        </a:solidFill>
                        <a:latin typeface="Consolas" pitchFamily="49" charset="0"/>
                        <a:cs typeface="Consolas" pitchFamily="49" charset="0"/>
                      </a:endParaRPr>
                    </a:p>
                  </a:txBody>
                  <a:tcPr/>
                </a:tc>
                <a:tc>
                  <a:txBody>
                    <a:bodyPr/>
                    <a:lstStyle/>
                    <a:p>
                      <a:pPr algn="ctr"/>
                      <a:r>
                        <a:rPr lang="en-US" altLang="zh-CN" b="1">
                          <a:solidFill>
                            <a:srgbClr val="3333FF"/>
                          </a:solidFill>
                          <a:latin typeface="Consolas" pitchFamily="49" charset="0"/>
                          <a:cs typeface="Consolas" pitchFamily="49" charset="0"/>
                        </a:rPr>
                        <a:t>1</a:t>
                      </a:r>
                      <a:endParaRPr lang="zh-CN" altLang="en-US" b="1">
                        <a:solidFill>
                          <a:srgbClr val="3333FF"/>
                        </a:solidFill>
                        <a:latin typeface="Consolas" pitchFamily="49" charset="0"/>
                        <a:cs typeface="Consolas" pitchFamily="49" charset="0"/>
                      </a:endParaRPr>
                    </a:p>
                  </a:txBody>
                  <a:tcPr/>
                </a:tc>
                <a:tc>
                  <a:txBody>
                    <a:bodyPr/>
                    <a:lstStyle/>
                    <a:p>
                      <a:pPr algn="ctr"/>
                      <a:r>
                        <a:rPr lang="en-US" altLang="zh-CN" b="1">
                          <a:solidFill>
                            <a:srgbClr val="3333FF"/>
                          </a:solidFill>
                          <a:latin typeface="Consolas" pitchFamily="49" charset="0"/>
                          <a:cs typeface="Consolas" pitchFamily="49" charset="0"/>
                        </a:rPr>
                        <a:t>0</a:t>
                      </a:r>
                      <a:endParaRPr lang="zh-CN" altLang="en-US" b="1">
                        <a:solidFill>
                          <a:srgbClr val="3333FF"/>
                        </a:solidFill>
                        <a:latin typeface="Consolas" pitchFamily="49" charset="0"/>
                        <a:cs typeface="Consolas" pitchFamily="49" charset="0"/>
                      </a:endParaRPr>
                    </a:p>
                  </a:txBody>
                  <a:tcPr/>
                </a:tc>
                <a:extLst>
                  <a:ext uri="{0D108BD9-81ED-4DB2-BD59-A6C34878D82A}">
                    <a16:rowId xmlns:a16="http://schemas.microsoft.com/office/drawing/2014/main" val="10001"/>
                  </a:ext>
                </a:extLst>
              </a:tr>
              <a:tr h="370840">
                <a:tc>
                  <a:txBody>
                    <a:bodyPr/>
                    <a:lstStyle/>
                    <a:p>
                      <a:pPr algn="ctr"/>
                      <a:r>
                        <a:rPr lang="en-US" altLang="zh-CN" sz="1600" b="1">
                          <a:solidFill>
                            <a:srgbClr val="FF0000"/>
                          </a:solidFill>
                          <a:latin typeface="Consolas" pitchFamily="49" charset="0"/>
                          <a:cs typeface="Consolas" pitchFamily="49" charset="0"/>
                        </a:rPr>
                        <a:t>1</a:t>
                      </a:r>
                      <a:endParaRPr lang="zh-CN" altLang="en-US" sz="1600" b="1">
                        <a:solidFill>
                          <a:srgbClr val="FF0000"/>
                        </a:solidFill>
                        <a:latin typeface="Consolas" pitchFamily="49" charset="0"/>
                        <a:cs typeface="Consolas" pitchFamily="49" charset="0"/>
                      </a:endParaRPr>
                    </a:p>
                  </a:txBody>
                  <a:tcPr>
                    <a:solidFill>
                      <a:schemeClr val="tx2">
                        <a:lumMod val="40000"/>
                        <a:lumOff val="6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b="1">
                          <a:solidFill>
                            <a:srgbClr val="3333FF"/>
                          </a:solidFill>
                          <a:latin typeface="Consolas" pitchFamily="49" charset="0"/>
                          <a:ea typeface="+mj-ea"/>
                          <a:cs typeface="Consolas" pitchFamily="49" charset="0"/>
                        </a:rPr>
                        <a:t>2</a:t>
                      </a:r>
                      <a:endParaRPr lang="zh-CN" altLang="en-US" b="1">
                        <a:solidFill>
                          <a:srgbClr val="3333FF"/>
                        </a:solidFill>
                        <a:latin typeface="Consolas" pitchFamily="49" charset="0"/>
                        <a:cs typeface="Consolas" pitchFamily="49" charset="0"/>
                      </a:endParaRPr>
                    </a:p>
                  </a:txBody>
                  <a:tcPr/>
                </a:tc>
                <a:tc>
                  <a:txBody>
                    <a:bodyPr/>
                    <a:lstStyle/>
                    <a:p>
                      <a:pPr algn="ctr"/>
                      <a:r>
                        <a:rPr lang="en-US" altLang="zh-CN" b="1">
                          <a:solidFill>
                            <a:srgbClr val="3333FF"/>
                          </a:solidFill>
                          <a:latin typeface="Consolas" pitchFamily="49" charset="0"/>
                          <a:ea typeface="+mn-ea"/>
                          <a:cs typeface="Consolas" pitchFamily="49" charset="0"/>
                        </a:rPr>
                        <a:t>-</a:t>
                      </a:r>
                      <a:r>
                        <a:rPr lang="en-US" altLang="zh-CN" b="1">
                          <a:solidFill>
                            <a:srgbClr val="3333FF"/>
                          </a:solidFill>
                          <a:latin typeface="Consolas" pitchFamily="49" charset="0"/>
                          <a:cs typeface="Consolas" pitchFamily="49" charset="0"/>
                        </a:rPr>
                        <a:t>1</a:t>
                      </a:r>
                      <a:endParaRPr lang="zh-CN" altLang="en-US" b="1">
                        <a:solidFill>
                          <a:srgbClr val="3333FF"/>
                        </a:solidFill>
                        <a:latin typeface="Consolas" pitchFamily="49" charset="0"/>
                        <a:cs typeface="Consolas" pitchFamily="49" charset="0"/>
                      </a:endParaRPr>
                    </a:p>
                  </a:txBody>
                  <a:tcPr/>
                </a:tc>
                <a:tc>
                  <a:txBody>
                    <a:bodyPr/>
                    <a:lstStyle/>
                    <a:p>
                      <a:pPr algn="ctr"/>
                      <a:r>
                        <a:rPr lang="en-US" altLang="zh-CN" b="1">
                          <a:solidFill>
                            <a:srgbClr val="3333FF"/>
                          </a:solidFill>
                          <a:latin typeface="Consolas" pitchFamily="49" charset="0"/>
                          <a:cs typeface="Consolas" pitchFamily="49" charset="0"/>
                        </a:rPr>
                        <a:t>1</a:t>
                      </a:r>
                      <a:endParaRPr lang="zh-CN" altLang="en-US" b="1">
                        <a:solidFill>
                          <a:srgbClr val="3333FF"/>
                        </a:solidFill>
                        <a:latin typeface="Consolas" pitchFamily="49" charset="0"/>
                        <a:cs typeface="Consolas" pitchFamily="49" charset="0"/>
                      </a:endParaRPr>
                    </a:p>
                  </a:txBody>
                  <a:tcPr/>
                </a:tc>
                <a:tc>
                  <a:txBody>
                    <a:bodyPr/>
                    <a:lstStyle/>
                    <a:p>
                      <a:pPr algn="ctr"/>
                      <a:r>
                        <a:rPr lang="en-US" altLang="zh-CN" b="1">
                          <a:solidFill>
                            <a:srgbClr val="3333FF"/>
                          </a:solidFill>
                          <a:latin typeface="Consolas" pitchFamily="49" charset="0"/>
                          <a:cs typeface="Consolas" pitchFamily="49" charset="0"/>
                        </a:rPr>
                        <a:t>1</a:t>
                      </a:r>
                      <a:endParaRPr lang="zh-CN" altLang="en-US" b="1">
                        <a:solidFill>
                          <a:srgbClr val="3333FF"/>
                        </a:solidFill>
                        <a:latin typeface="Consolas" pitchFamily="49" charset="0"/>
                        <a:cs typeface="Consolas" pitchFamily="49" charset="0"/>
                      </a:endParaRPr>
                    </a:p>
                  </a:txBody>
                  <a:tcPr/>
                </a:tc>
                <a:extLst>
                  <a:ext uri="{0D108BD9-81ED-4DB2-BD59-A6C34878D82A}">
                    <a16:rowId xmlns:a16="http://schemas.microsoft.com/office/drawing/2014/main" val="10002"/>
                  </a:ext>
                </a:extLst>
              </a:tr>
              <a:tr h="370840">
                <a:tc>
                  <a:txBody>
                    <a:bodyPr/>
                    <a:lstStyle/>
                    <a:p>
                      <a:pPr algn="ctr"/>
                      <a:r>
                        <a:rPr lang="en-US" altLang="zh-CN" sz="1600" b="1">
                          <a:solidFill>
                            <a:srgbClr val="FF0000"/>
                          </a:solidFill>
                          <a:latin typeface="Consolas" pitchFamily="49" charset="0"/>
                          <a:cs typeface="Consolas" pitchFamily="49" charset="0"/>
                        </a:rPr>
                        <a:t>2</a:t>
                      </a:r>
                      <a:endParaRPr lang="zh-CN" altLang="en-US" sz="1600" b="1">
                        <a:solidFill>
                          <a:srgbClr val="FF0000"/>
                        </a:solidFill>
                        <a:latin typeface="Consolas" pitchFamily="49" charset="0"/>
                        <a:cs typeface="Consolas" pitchFamily="49" charset="0"/>
                      </a:endParaRPr>
                    </a:p>
                  </a:txBody>
                  <a:tcPr>
                    <a:solidFill>
                      <a:schemeClr val="tx2">
                        <a:lumMod val="40000"/>
                        <a:lumOff val="60000"/>
                      </a:schemeClr>
                    </a:solidFill>
                  </a:tcPr>
                </a:tc>
                <a:tc>
                  <a:txBody>
                    <a:bodyPr/>
                    <a:lstStyle/>
                    <a:p>
                      <a:pPr algn="ctr"/>
                      <a:r>
                        <a:rPr lang="en-US" altLang="zh-CN" b="1">
                          <a:solidFill>
                            <a:srgbClr val="3333FF"/>
                          </a:solidFill>
                          <a:latin typeface="Consolas" pitchFamily="49" charset="0"/>
                          <a:cs typeface="Consolas" pitchFamily="49" charset="0"/>
                        </a:rPr>
                        <a:t>2</a:t>
                      </a:r>
                      <a:endParaRPr lang="zh-CN" altLang="en-US" b="1">
                        <a:solidFill>
                          <a:srgbClr val="3333FF"/>
                        </a:solidFill>
                        <a:latin typeface="Consolas" pitchFamily="49" charset="0"/>
                        <a:cs typeface="Consolas" pitchFamily="49" charset="0"/>
                      </a:endParaRPr>
                    </a:p>
                  </a:txBody>
                  <a:tcPr/>
                </a:tc>
                <a:tc>
                  <a:txBody>
                    <a:bodyPr/>
                    <a:lstStyle/>
                    <a:p>
                      <a:pPr algn="ctr"/>
                      <a:r>
                        <a:rPr lang="en-US" altLang="zh-CN" b="1">
                          <a:solidFill>
                            <a:srgbClr val="3333FF"/>
                          </a:solidFill>
                          <a:latin typeface="Consolas" pitchFamily="49" charset="0"/>
                          <a:cs typeface="Consolas" pitchFamily="49" charset="0"/>
                        </a:rPr>
                        <a:t>2</a:t>
                      </a:r>
                      <a:endParaRPr lang="zh-CN" altLang="en-US" b="1">
                        <a:solidFill>
                          <a:srgbClr val="3333FF"/>
                        </a:solidFill>
                        <a:latin typeface="Consolas" pitchFamily="49" charset="0"/>
                        <a:cs typeface="Consolas" pitchFamily="49" charset="0"/>
                      </a:endParaRPr>
                    </a:p>
                  </a:txBody>
                  <a:tcPr/>
                </a:tc>
                <a:tc>
                  <a:txBody>
                    <a:bodyPr/>
                    <a:lstStyle/>
                    <a:p>
                      <a:pPr algn="ctr"/>
                      <a:r>
                        <a:rPr lang="en-US" altLang="zh-CN" b="1">
                          <a:solidFill>
                            <a:srgbClr val="3333FF"/>
                          </a:solidFill>
                          <a:latin typeface="Consolas" pitchFamily="49" charset="0"/>
                          <a:ea typeface="+mj-ea"/>
                          <a:cs typeface="Consolas" pitchFamily="49" charset="0"/>
                        </a:rPr>
                        <a:t>-</a:t>
                      </a:r>
                      <a:r>
                        <a:rPr lang="en-US" altLang="zh-CN" b="1">
                          <a:solidFill>
                            <a:srgbClr val="3333FF"/>
                          </a:solidFill>
                          <a:latin typeface="Consolas" pitchFamily="49" charset="0"/>
                          <a:cs typeface="Consolas" pitchFamily="49" charset="0"/>
                        </a:rPr>
                        <a:t>1</a:t>
                      </a:r>
                      <a:endParaRPr lang="zh-CN" altLang="en-US" b="1">
                        <a:solidFill>
                          <a:srgbClr val="3333FF"/>
                        </a:solidFill>
                        <a:latin typeface="Consolas" pitchFamily="49" charset="0"/>
                        <a:cs typeface="Consolas" pitchFamily="49" charset="0"/>
                      </a:endParaRPr>
                    </a:p>
                  </a:txBody>
                  <a:tcPr/>
                </a:tc>
                <a:tc>
                  <a:txBody>
                    <a:bodyPr/>
                    <a:lstStyle/>
                    <a:p>
                      <a:pPr algn="ctr"/>
                      <a:r>
                        <a:rPr lang="en-US" altLang="zh-CN" b="1">
                          <a:solidFill>
                            <a:srgbClr val="3333FF"/>
                          </a:solidFill>
                          <a:latin typeface="Consolas" pitchFamily="49" charset="0"/>
                          <a:cs typeface="Consolas" pitchFamily="49" charset="0"/>
                        </a:rPr>
                        <a:t>2</a:t>
                      </a:r>
                      <a:endParaRPr lang="zh-CN" altLang="en-US" b="1">
                        <a:solidFill>
                          <a:srgbClr val="3333FF"/>
                        </a:solidFill>
                        <a:latin typeface="Consolas" pitchFamily="49" charset="0"/>
                        <a:cs typeface="Consolas" pitchFamily="49" charset="0"/>
                      </a:endParaRPr>
                    </a:p>
                  </a:txBody>
                  <a:tcPr/>
                </a:tc>
                <a:extLst>
                  <a:ext uri="{0D108BD9-81ED-4DB2-BD59-A6C34878D82A}">
                    <a16:rowId xmlns:a16="http://schemas.microsoft.com/office/drawing/2014/main" val="10003"/>
                  </a:ext>
                </a:extLst>
              </a:tr>
              <a:tr h="370840">
                <a:tc>
                  <a:txBody>
                    <a:bodyPr/>
                    <a:lstStyle/>
                    <a:p>
                      <a:pPr algn="ctr"/>
                      <a:r>
                        <a:rPr lang="en-US" altLang="zh-CN" sz="1600" b="1">
                          <a:solidFill>
                            <a:srgbClr val="FF0000"/>
                          </a:solidFill>
                          <a:latin typeface="Consolas" pitchFamily="49" charset="0"/>
                          <a:cs typeface="Consolas" pitchFamily="49" charset="0"/>
                        </a:rPr>
                        <a:t>3</a:t>
                      </a:r>
                      <a:endParaRPr lang="zh-CN" altLang="en-US" sz="1600" b="1">
                        <a:solidFill>
                          <a:srgbClr val="FF0000"/>
                        </a:solidFill>
                        <a:latin typeface="Consolas" pitchFamily="49" charset="0"/>
                        <a:cs typeface="Consolas" pitchFamily="49" charset="0"/>
                      </a:endParaRPr>
                    </a:p>
                  </a:txBody>
                  <a:tcPr>
                    <a:solidFill>
                      <a:schemeClr val="tx2">
                        <a:lumMod val="40000"/>
                        <a:lumOff val="6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b="1">
                          <a:solidFill>
                            <a:srgbClr val="3333FF"/>
                          </a:solidFill>
                          <a:latin typeface="Consolas" pitchFamily="49" charset="0"/>
                          <a:ea typeface="+mn-ea"/>
                          <a:cs typeface="Consolas" pitchFamily="49" charset="0"/>
                        </a:rPr>
                        <a:t>2</a:t>
                      </a:r>
                      <a:endParaRPr lang="zh-CN" altLang="en-US" b="1">
                        <a:solidFill>
                          <a:srgbClr val="3333FF"/>
                        </a:solidFill>
                        <a:latin typeface="Consolas" pitchFamily="49" charset="0"/>
                        <a:cs typeface="Consolas"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b="1">
                          <a:solidFill>
                            <a:srgbClr val="3333FF"/>
                          </a:solidFill>
                          <a:latin typeface="Consolas" pitchFamily="49" charset="0"/>
                          <a:ea typeface="+mn-ea"/>
                          <a:cs typeface="Consolas" pitchFamily="49" charset="0"/>
                        </a:rPr>
                        <a:t>2</a:t>
                      </a:r>
                      <a:endParaRPr lang="zh-CN" altLang="en-US" b="1">
                        <a:solidFill>
                          <a:srgbClr val="3333FF"/>
                        </a:solidFill>
                        <a:latin typeface="Consolas" pitchFamily="49" charset="0"/>
                        <a:cs typeface="Consolas" pitchFamily="49" charset="0"/>
                      </a:endParaRPr>
                    </a:p>
                  </a:txBody>
                  <a:tcPr/>
                </a:tc>
                <a:tc>
                  <a:txBody>
                    <a:bodyPr/>
                    <a:lstStyle/>
                    <a:p>
                      <a:pPr algn="ctr"/>
                      <a:r>
                        <a:rPr lang="en-US" altLang="zh-CN" b="1">
                          <a:solidFill>
                            <a:srgbClr val="3333FF"/>
                          </a:solidFill>
                          <a:latin typeface="Consolas" pitchFamily="49" charset="0"/>
                          <a:cs typeface="Consolas" pitchFamily="49" charset="0"/>
                        </a:rPr>
                        <a:t>3</a:t>
                      </a:r>
                      <a:endParaRPr lang="zh-CN" altLang="en-US" b="1">
                        <a:solidFill>
                          <a:srgbClr val="3333FF"/>
                        </a:solidFill>
                        <a:latin typeface="Consolas" pitchFamily="49" charset="0"/>
                        <a:cs typeface="Consolas" pitchFamily="49" charset="0"/>
                      </a:endParaRPr>
                    </a:p>
                  </a:txBody>
                  <a:tcPr/>
                </a:tc>
                <a:tc>
                  <a:txBody>
                    <a:bodyPr/>
                    <a:lstStyle/>
                    <a:p>
                      <a:pPr algn="ctr"/>
                      <a:r>
                        <a:rPr lang="en-US" altLang="zh-CN" b="1">
                          <a:solidFill>
                            <a:srgbClr val="3333FF"/>
                          </a:solidFill>
                          <a:latin typeface="Consolas" pitchFamily="49" charset="0"/>
                          <a:ea typeface="+mn-ea"/>
                          <a:cs typeface="Consolas" pitchFamily="49" charset="0"/>
                        </a:rPr>
                        <a:t>-</a:t>
                      </a:r>
                      <a:r>
                        <a:rPr lang="en-US" altLang="zh-CN" b="1">
                          <a:solidFill>
                            <a:srgbClr val="3333FF"/>
                          </a:solidFill>
                          <a:latin typeface="Consolas" pitchFamily="49" charset="0"/>
                          <a:cs typeface="Consolas" pitchFamily="49" charset="0"/>
                        </a:rPr>
                        <a:t>1</a:t>
                      </a:r>
                      <a:endParaRPr lang="zh-CN" altLang="en-US" b="1">
                        <a:solidFill>
                          <a:srgbClr val="3333FF"/>
                        </a:solidFill>
                        <a:latin typeface="Consolas" pitchFamily="49" charset="0"/>
                        <a:cs typeface="Consolas" pitchFamily="49" charset="0"/>
                      </a:endParaRPr>
                    </a:p>
                  </a:txBody>
                  <a:tcPr/>
                </a:tc>
                <a:extLst>
                  <a:ext uri="{0D108BD9-81ED-4DB2-BD59-A6C34878D82A}">
                    <a16:rowId xmlns:a16="http://schemas.microsoft.com/office/drawing/2014/main" val="10004"/>
                  </a:ext>
                </a:extLst>
              </a:tr>
            </a:tbl>
          </a:graphicData>
        </a:graphic>
      </p:graphicFrame>
      <p:sp>
        <p:nvSpPr>
          <p:cNvPr id="28" name="Text Box 116">
            <a:extLst>
              <a:ext uri="{FF2B5EF4-FFF2-40B4-BE49-F238E27FC236}">
                <a16:creationId xmlns:a16="http://schemas.microsoft.com/office/drawing/2014/main" id="{615FC0DD-61DD-85A7-86A5-5E1143FBF95A}"/>
              </a:ext>
            </a:extLst>
          </p:cNvPr>
          <p:cNvSpPr txBox="1">
            <a:spLocks noChangeArrowheads="1"/>
          </p:cNvSpPr>
          <p:nvPr/>
        </p:nvSpPr>
        <p:spPr bwMode="auto">
          <a:xfrm>
            <a:off x="5171359" y="1294826"/>
            <a:ext cx="2035159" cy="492443"/>
          </a:xfrm>
          <a:prstGeom prst="rect">
            <a:avLst/>
          </a:prstGeom>
          <a:noFill/>
          <a:ln w="28575" algn="ctr">
            <a:noFill/>
            <a:miter lim="800000"/>
            <a:headEnd/>
            <a:tailEnd/>
          </a:ln>
          <a:effectLst/>
        </p:spPr>
        <p:txBody>
          <a:bodyPr wrap="square" lIns="0" tIns="0" rIns="0" bIns="0">
            <a:spAutoFit/>
          </a:bodyPr>
          <a:lstStyle/>
          <a:p>
            <a:r>
              <a:rPr lang="zh-CN" altLang="en-US" sz="1800">
                <a:latin typeface="Consolas" pitchFamily="49" charset="0"/>
                <a:ea typeface="楷体" pitchFamily="49" charset="-122"/>
                <a:cs typeface="Consolas" pitchFamily="49" charset="0"/>
              </a:rPr>
              <a:t>考虑顶点</a:t>
            </a:r>
            <a:r>
              <a:rPr lang="en-US" altLang="zh-CN" sz="3200">
                <a:solidFill>
                  <a:srgbClr val="FF0000"/>
                </a:solidFill>
                <a:latin typeface="Consolas" pitchFamily="49" charset="0"/>
                <a:ea typeface="楷体" pitchFamily="49" charset="-122"/>
                <a:cs typeface="Consolas" pitchFamily="49" charset="0"/>
              </a:rPr>
              <a:t>3</a:t>
            </a:r>
            <a:r>
              <a:rPr lang="zh-CN" altLang="en-US">
                <a:solidFill>
                  <a:srgbClr val="FF0000"/>
                </a:solidFill>
                <a:latin typeface="Consolas" pitchFamily="49" charset="0"/>
                <a:ea typeface="楷体" pitchFamily="49" charset="-122"/>
                <a:cs typeface="Consolas" pitchFamily="49" charset="0"/>
              </a:rPr>
              <a:t>：</a:t>
            </a:r>
            <a:endParaRPr lang="zh-CN" altLang="en-US" sz="2000" dirty="0">
              <a:latin typeface="Consolas" pitchFamily="49" charset="0"/>
              <a:ea typeface="楷体" pitchFamily="49" charset="-122"/>
              <a:cs typeface="Consolas" pitchFamily="49" charset="0"/>
            </a:endParaRPr>
          </a:p>
        </p:txBody>
      </p:sp>
      <p:sp>
        <p:nvSpPr>
          <p:cNvPr id="29" name="下箭头 62">
            <a:extLst>
              <a:ext uri="{FF2B5EF4-FFF2-40B4-BE49-F238E27FC236}">
                <a16:creationId xmlns:a16="http://schemas.microsoft.com/office/drawing/2014/main" id="{DDE8DA29-B37A-9022-74DF-AE02209719C7}"/>
              </a:ext>
            </a:extLst>
          </p:cNvPr>
          <p:cNvSpPr/>
          <p:nvPr/>
        </p:nvSpPr>
        <p:spPr>
          <a:xfrm>
            <a:off x="6206386" y="3983974"/>
            <a:ext cx="285752" cy="357190"/>
          </a:xfrm>
          <a:prstGeom prst="downArrow">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zh-CN" altLang="en-US">
              <a:latin typeface="Consolas" pitchFamily="49" charset="0"/>
              <a:cs typeface="Consolas" pitchFamily="49" charset="0"/>
            </a:endParaRPr>
          </a:p>
        </p:txBody>
      </p:sp>
      <p:sp>
        <p:nvSpPr>
          <p:cNvPr id="30" name="Text Box 92">
            <a:extLst>
              <a:ext uri="{FF2B5EF4-FFF2-40B4-BE49-F238E27FC236}">
                <a16:creationId xmlns:a16="http://schemas.microsoft.com/office/drawing/2014/main" id="{B651261B-EC0B-43CA-2E9F-D8E00F3BD611}"/>
              </a:ext>
            </a:extLst>
          </p:cNvPr>
          <p:cNvSpPr txBox="1">
            <a:spLocks noChangeArrowheads="1"/>
          </p:cNvSpPr>
          <p:nvPr/>
        </p:nvSpPr>
        <p:spPr bwMode="auto">
          <a:xfrm>
            <a:off x="5063379" y="1901376"/>
            <a:ext cx="4786345" cy="553998"/>
          </a:xfrm>
          <a:prstGeom prst="rect">
            <a:avLst/>
          </a:prstGeom>
          <a:noFill/>
          <a:ln w="28575" algn="ctr">
            <a:noFill/>
            <a:miter lim="800000"/>
            <a:headEnd/>
            <a:tailEnd/>
          </a:ln>
          <a:effectLst/>
        </p:spPr>
        <p:txBody>
          <a:bodyPr wrap="square" lIns="0" tIns="0" rIns="0" bIns="0">
            <a:spAutoFit/>
          </a:bodyPr>
          <a:lstStyle/>
          <a:p>
            <a:pPr marL="457200" indent="-457200">
              <a:buBlip>
                <a:blip r:embed="rId2"/>
              </a:buBlip>
            </a:pPr>
            <a:r>
              <a:rPr lang="en-US" altLang="zh-CN" sz="1800" dirty="0">
                <a:latin typeface="Consolas" pitchFamily="49" charset="0"/>
                <a:ea typeface="仿宋" pitchFamily="49" charset="-122"/>
                <a:cs typeface="Consolas" pitchFamily="49" charset="0"/>
              </a:rPr>
              <a:t>0→2</a:t>
            </a:r>
            <a:r>
              <a:rPr lang="zh-CN" altLang="en-US" sz="1800" dirty="0">
                <a:latin typeface="Consolas" pitchFamily="49" charset="0"/>
                <a:ea typeface="仿宋" pitchFamily="49" charset="-122"/>
                <a:cs typeface="Consolas" pitchFamily="49" charset="0"/>
              </a:rPr>
              <a:t>：由</a:t>
            </a:r>
            <a:r>
              <a:rPr lang="en-US" altLang="zh-CN" sz="1800" dirty="0">
                <a:latin typeface="Consolas" pitchFamily="49" charset="0"/>
                <a:ea typeface="仿宋" pitchFamily="49" charset="-122"/>
                <a:cs typeface="Consolas" pitchFamily="49" charset="0"/>
              </a:rPr>
              <a:t>0</a:t>
            </a:r>
            <a:r>
              <a:rPr lang="en-US" altLang="zh-CN" sz="1800">
                <a:latin typeface="Consolas" pitchFamily="49" charset="0"/>
                <a:ea typeface="仿宋" pitchFamily="49" charset="-122"/>
                <a:cs typeface="Consolas" pitchFamily="49" charset="0"/>
              </a:rPr>
              <a:t>→1→</a:t>
            </a:r>
            <a:r>
              <a:rPr lang="en-US" altLang="zh-CN" sz="1800" dirty="0">
                <a:latin typeface="Consolas" pitchFamily="49" charset="0"/>
                <a:ea typeface="仿宋" pitchFamily="49" charset="-122"/>
                <a:cs typeface="Consolas" pitchFamily="49" charset="0"/>
              </a:rPr>
              <a:t>2</a:t>
            </a:r>
            <a:r>
              <a:rPr lang="zh-CN" altLang="en-US" sz="1800" dirty="0">
                <a:latin typeface="Consolas" pitchFamily="49" charset="0"/>
                <a:ea typeface="仿宋" pitchFamily="49" charset="-122"/>
                <a:cs typeface="Consolas" pitchFamily="49" charset="0"/>
              </a:rPr>
              <a:t>改为</a:t>
            </a:r>
            <a:r>
              <a:rPr lang="en-US" altLang="zh-CN" sz="1800" dirty="0">
                <a:latin typeface="Consolas" pitchFamily="49" charset="0"/>
                <a:ea typeface="仿宋" pitchFamily="49" charset="-122"/>
                <a:cs typeface="Consolas" pitchFamily="49" charset="0"/>
              </a:rPr>
              <a:t>0</a:t>
            </a:r>
            <a:r>
              <a:rPr lang="en-US" altLang="zh-CN" sz="1800">
                <a:latin typeface="Consolas" pitchFamily="49" charset="0"/>
                <a:ea typeface="仿宋" pitchFamily="49" charset="-122"/>
                <a:cs typeface="Consolas" pitchFamily="49" charset="0"/>
              </a:rPr>
              <a:t>→</a:t>
            </a:r>
            <a:r>
              <a:rPr lang="en-US" altLang="zh-CN" sz="1800">
                <a:solidFill>
                  <a:srgbClr val="FF00FF"/>
                </a:solidFill>
                <a:latin typeface="Consolas" pitchFamily="49" charset="0"/>
                <a:ea typeface="仿宋" pitchFamily="49" charset="-122"/>
                <a:cs typeface="Consolas" pitchFamily="49" charset="0"/>
              </a:rPr>
              <a:t>3</a:t>
            </a:r>
            <a:r>
              <a:rPr lang="en-US" altLang="zh-CN" sz="1800">
                <a:latin typeface="Consolas" pitchFamily="49" charset="0"/>
                <a:ea typeface="仿宋" pitchFamily="49" charset="-122"/>
                <a:cs typeface="Consolas" pitchFamily="49" charset="0"/>
              </a:rPr>
              <a:t>→2 </a:t>
            </a:r>
            <a:r>
              <a:rPr lang="zh-CN" altLang="en-US" sz="1800">
                <a:latin typeface="Consolas" pitchFamily="49" charset="0"/>
                <a:ea typeface="仿宋" pitchFamily="49" charset="-122"/>
                <a:cs typeface="Consolas" pitchFamily="49" charset="0"/>
              </a:rPr>
              <a:t>，长度为</a:t>
            </a:r>
            <a:r>
              <a:rPr lang="en-US" altLang="zh-CN" sz="1800">
                <a:solidFill>
                  <a:srgbClr val="FF0000"/>
                </a:solidFill>
                <a:latin typeface="Consolas" pitchFamily="49" charset="0"/>
                <a:ea typeface="仿宋" pitchFamily="49" charset="-122"/>
                <a:cs typeface="Consolas" pitchFamily="49" charset="0"/>
              </a:rPr>
              <a:t>8</a:t>
            </a:r>
            <a:r>
              <a:rPr lang="zh-CN" altLang="en-US" sz="1800">
                <a:latin typeface="Consolas" pitchFamily="49" charset="0"/>
                <a:ea typeface="仿宋" pitchFamily="49" charset="-122"/>
                <a:cs typeface="Consolas" pitchFamily="49" charset="0"/>
              </a:rPr>
              <a:t>， </a:t>
            </a:r>
            <a:r>
              <a:rPr lang="en-US" altLang="zh-CN" sz="1800">
                <a:latin typeface="Consolas" pitchFamily="49" charset="0"/>
                <a:ea typeface="仿宋" pitchFamily="49" charset="-122"/>
                <a:cs typeface="Consolas" pitchFamily="49" charset="0"/>
              </a:rPr>
              <a:t>path[0][2]</a:t>
            </a:r>
            <a:r>
              <a:rPr lang="zh-CN" altLang="en-US" sz="1800" dirty="0">
                <a:latin typeface="Consolas" pitchFamily="49" charset="0"/>
                <a:ea typeface="仿宋" pitchFamily="49" charset="-122"/>
                <a:cs typeface="Consolas" pitchFamily="49" charset="0"/>
              </a:rPr>
              <a:t>改为</a:t>
            </a:r>
            <a:r>
              <a:rPr lang="en-US" altLang="zh-CN" sz="1800" dirty="0">
                <a:solidFill>
                  <a:srgbClr val="FF0000"/>
                </a:solidFill>
                <a:latin typeface="Consolas" pitchFamily="49" charset="0"/>
                <a:ea typeface="仿宋" pitchFamily="49" charset="-122"/>
                <a:cs typeface="Consolas" pitchFamily="49" charset="0"/>
              </a:rPr>
              <a:t>3</a:t>
            </a:r>
          </a:p>
        </p:txBody>
      </p:sp>
      <p:sp>
        <p:nvSpPr>
          <p:cNvPr id="31" name="Text Box 93">
            <a:extLst>
              <a:ext uri="{FF2B5EF4-FFF2-40B4-BE49-F238E27FC236}">
                <a16:creationId xmlns:a16="http://schemas.microsoft.com/office/drawing/2014/main" id="{F2C30BA4-C32B-0E7C-9315-55514E61492D}"/>
              </a:ext>
            </a:extLst>
          </p:cNvPr>
          <p:cNvSpPr txBox="1">
            <a:spLocks noChangeArrowheads="1"/>
          </p:cNvSpPr>
          <p:nvPr/>
        </p:nvSpPr>
        <p:spPr bwMode="auto">
          <a:xfrm>
            <a:off x="5063378" y="3250546"/>
            <a:ext cx="4357718" cy="553998"/>
          </a:xfrm>
          <a:prstGeom prst="rect">
            <a:avLst/>
          </a:prstGeom>
          <a:noFill/>
          <a:ln w="28575" algn="ctr">
            <a:noFill/>
            <a:miter lim="800000"/>
            <a:headEnd/>
            <a:tailEnd/>
          </a:ln>
          <a:effectLst/>
        </p:spPr>
        <p:txBody>
          <a:bodyPr wrap="square" lIns="0" tIns="0" rIns="0" bIns="0">
            <a:spAutoFit/>
          </a:bodyPr>
          <a:lstStyle/>
          <a:p>
            <a:pPr marL="457200" indent="-457200">
              <a:buBlip>
                <a:blip r:embed="rId2"/>
              </a:buBlip>
            </a:pPr>
            <a:r>
              <a:rPr lang="en-US" altLang="zh-CN" sz="1800" dirty="0">
                <a:latin typeface="Consolas" pitchFamily="49" charset="0"/>
                <a:ea typeface="仿宋" pitchFamily="49" charset="-122"/>
                <a:cs typeface="Consolas" pitchFamily="49" charset="0"/>
              </a:rPr>
              <a:t>1→2</a:t>
            </a:r>
            <a:r>
              <a:rPr lang="zh-CN" altLang="en-US" sz="1800" dirty="0">
                <a:latin typeface="Consolas" pitchFamily="49" charset="0"/>
                <a:ea typeface="仿宋" pitchFamily="49" charset="-122"/>
                <a:cs typeface="Consolas" pitchFamily="49" charset="0"/>
              </a:rPr>
              <a:t>：由</a:t>
            </a:r>
            <a:r>
              <a:rPr lang="en-US" altLang="zh-CN" sz="1800" dirty="0">
                <a:latin typeface="Consolas" pitchFamily="49" charset="0"/>
                <a:ea typeface="仿宋" pitchFamily="49" charset="-122"/>
                <a:cs typeface="Consolas" pitchFamily="49" charset="0"/>
              </a:rPr>
              <a:t>1→2</a:t>
            </a:r>
            <a:r>
              <a:rPr lang="zh-CN" altLang="en-US" sz="1800" dirty="0">
                <a:latin typeface="Consolas" pitchFamily="49" charset="0"/>
                <a:ea typeface="仿宋" pitchFamily="49" charset="-122"/>
                <a:cs typeface="Consolas" pitchFamily="49" charset="0"/>
              </a:rPr>
              <a:t>改为</a:t>
            </a:r>
            <a:r>
              <a:rPr lang="en-US" altLang="zh-CN" sz="1800" dirty="0">
                <a:latin typeface="Consolas" pitchFamily="49" charset="0"/>
                <a:ea typeface="仿宋" pitchFamily="49" charset="-122"/>
                <a:cs typeface="Consolas" pitchFamily="49" charset="0"/>
              </a:rPr>
              <a:t>1</a:t>
            </a:r>
            <a:r>
              <a:rPr lang="en-US" altLang="zh-CN" sz="1800">
                <a:latin typeface="Consolas" pitchFamily="49" charset="0"/>
                <a:ea typeface="仿宋" pitchFamily="49" charset="-122"/>
                <a:cs typeface="Consolas" pitchFamily="49" charset="0"/>
              </a:rPr>
              <a:t>→</a:t>
            </a:r>
            <a:r>
              <a:rPr lang="en-US" altLang="zh-CN" sz="1800">
                <a:solidFill>
                  <a:srgbClr val="FF00FF"/>
                </a:solidFill>
                <a:latin typeface="Consolas" pitchFamily="49" charset="0"/>
                <a:ea typeface="仿宋" pitchFamily="49" charset="-122"/>
                <a:cs typeface="Consolas" pitchFamily="49" charset="0"/>
              </a:rPr>
              <a:t>3</a:t>
            </a:r>
            <a:r>
              <a:rPr lang="en-US" altLang="zh-CN" sz="1800">
                <a:latin typeface="Consolas" pitchFamily="49" charset="0"/>
                <a:ea typeface="仿宋" pitchFamily="49" charset="-122"/>
                <a:cs typeface="Consolas" pitchFamily="49" charset="0"/>
              </a:rPr>
              <a:t>→2 </a:t>
            </a:r>
            <a:r>
              <a:rPr lang="zh-CN" altLang="en-US" sz="1800">
                <a:latin typeface="Consolas" pitchFamily="49" charset="0"/>
                <a:ea typeface="仿宋" pitchFamily="49" charset="-122"/>
                <a:cs typeface="Consolas" pitchFamily="49" charset="0"/>
              </a:rPr>
              <a:t>，长度为</a:t>
            </a:r>
            <a:r>
              <a:rPr lang="en-US" altLang="zh-CN" sz="1800">
                <a:solidFill>
                  <a:srgbClr val="FF0000"/>
                </a:solidFill>
                <a:latin typeface="Consolas" pitchFamily="49" charset="0"/>
                <a:ea typeface="仿宋" pitchFamily="49" charset="-122"/>
                <a:cs typeface="Consolas" pitchFamily="49" charset="0"/>
              </a:rPr>
              <a:t>3</a:t>
            </a:r>
            <a:r>
              <a:rPr lang="zh-CN" altLang="en-US" sz="1800">
                <a:latin typeface="Consolas" pitchFamily="49" charset="0"/>
                <a:ea typeface="仿宋" pitchFamily="49" charset="-122"/>
                <a:cs typeface="Consolas" pitchFamily="49" charset="0"/>
              </a:rPr>
              <a:t>， </a:t>
            </a:r>
            <a:r>
              <a:rPr lang="en-US" altLang="zh-CN" sz="1800">
                <a:latin typeface="Consolas" pitchFamily="49" charset="0"/>
                <a:ea typeface="仿宋" pitchFamily="49" charset="-122"/>
                <a:cs typeface="Consolas" pitchFamily="49" charset="0"/>
              </a:rPr>
              <a:t>path[1][2]</a:t>
            </a:r>
            <a:r>
              <a:rPr lang="zh-CN" altLang="en-US" sz="1800" dirty="0">
                <a:latin typeface="Consolas" pitchFamily="49" charset="0"/>
                <a:ea typeface="仿宋" pitchFamily="49" charset="-122"/>
                <a:cs typeface="Consolas" pitchFamily="49" charset="0"/>
              </a:rPr>
              <a:t>改为</a:t>
            </a:r>
            <a:r>
              <a:rPr lang="en-US" altLang="zh-CN" sz="1800" dirty="0">
                <a:solidFill>
                  <a:srgbClr val="FF0000"/>
                </a:solidFill>
                <a:latin typeface="Consolas" pitchFamily="49" charset="0"/>
                <a:ea typeface="仿宋" pitchFamily="49" charset="-122"/>
                <a:cs typeface="Consolas" pitchFamily="49" charset="0"/>
              </a:rPr>
              <a:t>3</a:t>
            </a:r>
          </a:p>
        </p:txBody>
      </p:sp>
      <p:sp>
        <p:nvSpPr>
          <p:cNvPr id="32" name="Text Box 94">
            <a:extLst>
              <a:ext uri="{FF2B5EF4-FFF2-40B4-BE49-F238E27FC236}">
                <a16:creationId xmlns:a16="http://schemas.microsoft.com/office/drawing/2014/main" id="{2004B904-5AE2-5244-5154-F585FB399310}"/>
              </a:ext>
            </a:extLst>
          </p:cNvPr>
          <p:cNvSpPr txBox="1">
            <a:spLocks noChangeArrowheads="1"/>
          </p:cNvSpPr>
          <p:nvPr/>
        </p:nvSpPr>
        <p:spPr bwMode="auto">
          <a:xfrm>
            <a:off x="5063378" y="2555214"/>
            <a:ext cx="4714908" cy="553998"/>
          </a:xfrm>
          <a:prstGeom prst="rect">
            <a:avLst/>
          </a:prstGeom>
          <a:noFill/>
          <a:ln w="28575" algn="ctr">
            <a:noFill/>
            <a:miter lim="800000"/>
            <a:headEnd/>
            <a:tailEnd/>
          </a:ln>
          <a:effectLst/>
        </p:spPr>
        <p:txBody>
          <a:bodyPr wrap="square" lIns="0" tIns="0" rIns="0" bIns="0">
            <a:spAutoFit/>
          </a:bodyPr>
          <a:lstStyle/>
          <a:p>
            <a:pPr marL="457200" indent="-457200">
              <a:buBlip>
                <a:blip r:embed="rId2"/>
              </a:buBlip>
            </a:pPr>
            <a:r>
              <a:rPr lang="en-US" altLang="zh-CN" sz="1800" dirty="0">
                <a:latin typeface="Consolas" pitchFamily="49" charset="0"/>
                <a:ea typeface="仿宋" pitchFamily="49" charset="-122"/>
                <a:cs typeface="Consolas" pitchFamily="49" charset="0"/>
              </a:rPr>
              <a:t>1→0</a:t>
            </a:r>
            <a:r>
              <a:rPr lang="zh-CN" altLang="en-US" sz="1800" dirty="0">
                <a:latin typeface="Consolas" pitchFamily="49" charset="0"/>
                <a:ea typeface="仿宋" pitchFamily="49" charset="-122"/>
                <a:cs typeface="Consolas" pitchFamily="49" charset="0"/>
              </a:rPr>
              <a:t>：由</a:t>
            </a:r>
            <a:r>
              <a:rPr lang="en-US" altLang="zh-CN" sz="1800" dirty="0">
                <a:latin typeface="Consolas" pitchFamily="49" charset="0"/>
                <a:ea typeface="仿宋" pitchFamily="49" charset="-122"/>
                <a:cs typeface="Consolas" pitchFamily="49" charset="0"/>
              </a:rPr>
              <a:t>1</a:t>
            </a:r>
            <a:r>
              <a:rPr lang="en-US" altLang="zh-CN" sz="1800">
                <a:latin typeface="Consolas" pitchFamily="49" charset="0"/>
                <a:ea typeface="仿宋" pitchFamily="49" charset="-122"/>
                <a:cs typeface="Consolas" pitchFamily="49" charset="0"/>
              </a:rPr>
              <a:t>→2→</a:t>
            </a:r>
            <a:r>
              <a:rPr lang="en-US" altLang="zh-CN" sz="1800" dirty="0">
                <a:latin typeface="Consolas" pitchFamily="49" charset="0"/>
                <a:ea typeface="仿宋" pitchFamily="49" charset="-122"/>
                <a:cs typeface="Consolas" pitchFamily="49" charset="0"/>
              </a:rPr>
              <a:t>0</a:t>
            </a:r>
            <a:r>
              <a:rPr lang="zh-CN" altLang="en-US" sz="1800" dirty="0">
                <a:latin typeface="Consolas" pitchFamily="49" charset="0"/>
                <a:ea typeface="仿宋" pitchFamily="49" charset="-122"/>
                <a:cs typeface="Consolas" pitchFamily="49" charset="0"/>
              </a:rPr>
              <a:t>改为</a:t>
            </a:r>
            <a:r>
              <a:rPr lang="en-US" altLang="zh-CN" sz="1800" dirty="0">
                <a:latin typeface="Consolas" pitchFamily="49" charset="0"/>
                <a:ea typeface="仿宋" pitchFamily="49" charset="-122"/>
                <a:cs typeface="Consolas" pitchFamily="49" charset="0"/>
              </a:rPr>
              <a:t>1</a:t>
            </a:r>
            <a:r>
              <a:rPr lang="en-US" altLang="zh-CN" sz="1800">
                <a:latin typeface="Consolas" pitchFamily="49" charset="0"/>
                <a:ea typeface="仿宋" pitchFamily="49" charset="-122"/>
                <a:cs typeface="Consolas" pitchFamily="49" charset="0"/>
              </a:rPr>
              <a:t>→3→</a:t>
            </a:r>
            <a:r>
              <a:rPr lang="en-US" altLang="zh-CN" sz="1800">
                <a:solidFill>
                  <a:srgbClr val="FF00FF"/>
                </a:solidFill>
                <a:latin typeface="Consolas" pitchFamily="49" charset="0"/>
                <a:ea typeface="仿宋" pitchFamily="49" charset="-122"/>
                <a:cs typeface="Consolas" pitchFamily="49" charset="0"/>
              </a:rPr>
              <a:t>2</a:t>
            </a:r>
            <a:r>
              <a:rPr lang="en-US" altLang="zh-CN" sz="1800">
                <a:latin typeface="Consolas" pitchFamily="49" charset="0"/>
                <a:ea typeface="仿宋" pitchFamily="49" charset="-122"/>
                <a:cs typeface="Consolas" pitchFamily="49" charset="0"/>
              </a:rPr>
              <a:t>→0</a:t>
            </a:r>
            <a:r>
              <a:rPr lang="zh-CN" altLang="en-US" sz="1800">
                <a:latin typeface="Consolas" pitchFamily="49" charset="0"/>
                <a:ea typeface="仿宋" pitchFamily="49" charset="-122"/>
                <a:cs typeface="Consolas" pitchFamily="49" charset="0"/>
              </a:rPr>
              <a:t>，长度为</a:t>
            </a:r>
            <a:r>
              <a:rPr lang="en-US" altLang="zh-CN" sz="1800">
                <a:solidFill>
                  <a:srgbClr val="FF0000"/>
                </a:solidFill>
                <a:latin typeface="Consolas" pitchFamily="49" charset="0"/>
                <a:ea typeface="仿宋" pitchFamily="49" charset="-122"/>
                <a:cs typeface="Consolas" pitchFamily="49" charset="0"/>
              </a:rPr>
              <a:t>6</a:t>
            </a:r>
            <a:r>
              <a:rPr lang="zh-CN" altLang="en-US" sz="1800">
                <a:latin typeface="Consolas" pitchFamily="49" charset="0"/>
                <a:ea typeface="仿宋" pitchFamily="49" charset="-122"/>
                <a:cs typeface="Consolas" pitchFamily="49" charset="0"/>
              </a:rPr>
              <a:t>， </a:t>
            </a:r>
            <a:r>
              <a:rPr lang="en-US" altLang="zh-CN" sz="1800">
                <a:latin typeface="Consolas" pitchFamily="49" charset="0"/>
                <a:ea typeface="仿宋" pitchFamily="49" charset="-122"/>
                <a:cs typeface="Consolas" pitchFamily="49" charset="0"/>
              </a:rPr>
              <a:t>path[1</a:t>
            </a:r>
            <a:r>
              <a:rPr lang="en-US" altLang="zh-CN" sz="1800" dirty="0">
                <a:latin typeface="Consolas" pitchFamily="49" charset="0"/>
                <a:ea typeface="仿宋" pitchFamily="49" charset="-122"/>
                <a:cs typeface="Consolas" pitchFamily="49" charset="0"/>
              </a:rPr>
              <a:t>][0]</a:t>
            </a:r>
            <a:r>
              <a:rPr lang="zh-CN" altLang="en-US" sz="1800" dirty="0">
                <a:latin typeface="Consolas" pitchFamily="49" charset="0"/>
                <a:ea typeface="仿宋" pitchFamily="49" charset="-122"/>
                <a:cs typeface="Consolas" pitchFamily="49" charset="0"/>
              </a:rPr>
              <a:t>改为</a:t>
            </a:r>
            <a:r>
              <a:rPr lang="en-US" altLang="zh-CN" sz="1800" dirty="0">
                <a:solidFill>
                  <a:srgbClr val="FF0000"/>
                </a:solidFill>
                <a:latin typeface="Consolas" pitchFamily="49" charset="0"/>
                <a:ea typeface="仿宋" pitchFamily="49" charset="-122"/>
                <a:cs typeface="Consolas" pitchFamily="49" charset="0"/>
              </a:rPr>
              <a:t>2</a:t>
            </a:r>
          </a:p>
        </p:txBody>
      </p:sp>
      <p:sp>
        <p:nvSpPr>
          <p:cNvPr id="33" name="TextBox 41">
            <a:extLst>
              <a:ext uri="{FF2B5EF4-FFF2-40B4-BE49-F238E27FC236}">
                <a16:creationId xmlns:a16="http://schemas.microsoft.com/office/drawing/2014/main" id="{1324CA73-577F-FB2B-070A-C5A2D1590DF8}"/>
              </a:ext>
            </a:extLst>
          </p:cNvPr>
          <p:cNvSpPr txBox="1"/>
          <p:nvPr/>
        </p:nvSpPr>
        <p:spPr>
          <a:xfrm>
            <a:off x="4126746" y="4696152"/>
            <a:ext cx="468000" cy="369332"/>
          </a:xfrm>
          <a:prstGeom prst="rect">
            <a:avLst/>
          </a:prstGeom>
        </p:spPr>
        <p:style>
          <a:lnRef idx="1">
            <a:schemeClr val="accent1"/>
          </a:lnRef>
          <a:fillRef idx="2">
            <a:schemeClr val="accent1"/>
          </a:fillRef>
          <a:effectRef idx="1">
            <a:schemeClr val="accent1"/>
          </a:effectRef>
          <a:fontRef idx="minor">
            <a:schemeClr val="dk1"/>
          </a:fontRef>
        </p:style>
        <p:txBody>
          <a:bodyPr wrap="square" lIns="0" tIns="0" rIns="0" bIns="0" rtlCol="0">
            <a:spAutoFit/>
          </a:bodyPr>
          <a:lstStyle/>
          <a:p>
            <a:pPr algn="ctr"/>
            <a:r>
              <a:rPr lang="en-US" altLang="zh-CN">
                <a:solidFill>
                  <a:srgbClr val="FF0000"/>
                </a:solidFill>
                <a:latin typeface="Consolas" pitchFamily="49" charset="0"/>
                <a:ea typeface="楷体" pitchFamily="49" charset="-122"/>
                <a:cs typeface="Consolas" pitchFamily="49" charset="0"/>
              </a:rPr>
              <a:t>8</a:t>
            </a:r>
            <a:endParaRPr lang="zh-CN" altLang="en-US">
              <a:solidFill>
                <a:srgbClr val="FF0000"/>
              </a:solidFill>
              <a:latin typeface="Consolas" pitchFamily="49" charset="0"/>
              <a:ea typeface="楷体" pitchFamily="49" charset="-122"/>
              <a:cs typeface="Consolas" pitchFamily="49" charset="0"/>
            </a:endParaRPr>
          </a:p>
        </p:txBody>
      </p:sp>
      <p:sp>
        <p:nvSpPr>
          <p:cNvPr id="34" name="矩形 33">
            <a:extLst>
              <a:ext uri="{FF2B5EF4-FFF2-40B4-BE49-F238E27FC236}">
                <a16:creationId xmlns:a16="http://schemas.microsoft.com/office/drawing/2014/main" id="{4A4EF2B1-5683-86ED-B6B4-2C4CA36588A5}"/>
              </a:ext>
            </a:extLst>
          </p:cNvPr>
          <p:cNvSpPr/>
          <p:nvPr/>
        </p:nvSpPr>
        <p:spPr>
          <a:xfrm>
            <a:off x="9425858" y="4704648"/>
            <a:ext cx="285752" cy="369332"/>
          </a:xfrm>
          <a:prstGeom prst="rect">
            <a:avLst/>
          </a:prstGeom>
        </p:spPr>
        <p:style>
          <a:lnRef idx="1">
            <a:schemeClr val="accent1"/>
          </a:lnRef>
          <a:fillRef idx="2">
            <a:schemeClr val="accent1"/>
          </a:fillRef>
          <a:effectRef idx="1">
            <a:schemeClr val="accent1"/>
          </a:effectRef>
          <a:fontRef idx="minor">
            <a:schemeClr val="dk1"/>
          </a:fontRef>
        </p:style>
        <p:txBody>
          <a:bodyPr wrap="square" lIns="0" tIns="0" rIns="0" bIns="0">
            <a:spAutoFit/>
          </a:bodyPr>
          <a:lstStyle/>
          <a:p>
            <a:pPr algn="ctr"/>
            <a:r>
              <a:rPr lang="en-US" altLang="zh-CN">
                <a:solidFill>
                  <a:srgbClr val="FF0000"/>
                </a:solidFill>
                <a:latin typeface="Consolas" pitchFamily="49" charset="0"/>
                <a:ea typeface="楷体" pitchFamily="49" charset="-122"/>
                <a:cs typeface="Consolas" pitchFamily="49" charset="0"/>
              </a:rPr>
              <a:t>3</a:t>
            </a:r>
            <a:endParaRPr lang="zh-CN" altLang="en-US">
              <a:solidFill>
                <a:srgbClr val="FF0000"/>
              </a:solidFill>
              <a:latin typeface="Consolas" pitchFamily="49" charset="0"/>
              <a:ea typeface="楷体" pitchFamily="49" charset="-122"/>
              <a:cs typeface="Consolas" pitchFamily="49" charset="0"/>
            </a:endParaRPr>
          </a:p>
        </p:txBody>
      </p:sp>
      <p:sp>
        <p:nvSpPr>
          <p:cNvPr id="35" name="TextBox 43">
            <a:extLst>
              <a:ext uri="{FF2B5EF4-FFF2-40B4-BE49-F238E27FC236}">
                <a16:creationId xmlns:a16="http://schemas.microsoft.com/office/drawing/2014/main" id="{5F984015-818C-DD57-EEC1-FD6A1A9CE308}"/>
              </a:ext>
            </a:extLst>
          </p:cNvPr>
          <p:cNvSpPr txBox="1"/>
          <p:nvPr/>
        </p:nvSpPr>
        <p:spPr>
          <a:xfrm>
            <a:off x="2907538" y="5081918"/>
            <a:ext cx="468000" cy="369332"/>
          </a:xfrm>
          <a:prstGeom prst="rect">
            <a:avLst/>
          </a:prstGeom>
        </p:spPr>
        <p:style>
          <a:lnRef idx="1">
            <a:schemeClr val="accent1"/>
          </a:lnRef>
          <a:fillRef idx="2">
            <a:schemeClr val="accent1"/>
          </a:fillRef>
          <a:effectRef idx="1">
            <a:schemeClr val="accent1"/>
          </a:effectRef>
          <a:fontRef idx="minor">
            <a:schemeClr val="dk1"/>
          </a:fontRef>
        </p:style>
        <p:txBody>
          <a:bodyPr wrap="square" lIns="0" tIns="0" rIns="0" bIns="0" rtlCol="0">
            <a:spAutoFit/>
          </a:bodyPr>
          <a:lstStyle/>
          <a:p>
            <a:pPr algn="ctr"/>
            <a:r>
              <a:rPr lang="en-US" altLang="zh-CN">
                <a:solidFill>
                  <a:srgbClr val="FF0000"/>
                </a:solidFill>
                <a:latin typeface="Consolas" pitchFamily="49" charset="0"/>
                <a:ea typeface="楷体" pitchFamily="49" charset="-122"/>
                <a:cs typeface="Consolas" pitchFamily="49" charset="0"/>
              </a:rPr>
              <a:t>6</a:t>
            </a:r>
            <a:endParaRPr lang="zh-CN" altLang="en-US">
              <a:solidFill>
                <a:srgbClr val="FF0000"/>
              </a:solidFill>
              <a:latin typeface="Consolas" pitchFamily="49" charset="0"/>
              <a:ea typeface="楷体" pitchFamily="49" charset="-122"/>
              <a:cs typeface="Consolas" pitchFamily="49" charset="0"/>
            </a:endParaRPr>
          </a:p>
        </p:txBody>
      </p:sp>
      <p:sp>
        <p:nvSpPr>
          <p:cNvPr id="36" name="矩形 35">
            <a:extLst>
              <a:ext uri="{FF2B5EF4-FFF2-40B4-BE49-F238E27FC236}">
                <a16:creationId xmlns:a16="http://schemas.microsoft.com/office/drawing/2014/main" id="{6F9D1D57-ABBF-5C1B-F8A3-D67BC2911842}"/>
              </a:ext>
            </a:extLst>
          </p:cNvPr>
          <p:cNvSpPr/>
          <p:nvPr/>
        </p:nvSpPr>
        <p:spPr>
          <a:xfrm>
            <a:off x="8206650" y="5077714"/>
            <a:ext cx="285752" cy="369332"/>
          </a:xfrm>
          <a:prstGeom prst="rect">
            <a:avLst/>
          </a:prstGeom>
        </p:spPr>
        <p:style>
          <a:lnRef idx="1">
            <a:schemeClr val="accent1"/>
          </a:lnRef>
          <a:fillRef idx="2">
            <a:schemeClr val="accent1"/>
          </a:fillRef>
          <a:effectRef idx="1">
            <a:schemeClr val="accent1"/>
          </a:effectRef>
          <a:fontRef idx="minor">
            <a:schemeClr val="dk1"/>
          </a:fontRef>
        </p:style>
        <p:txBody>
          <a:bodyPr wrap="square" lIns="0" tIns="0" rIns="0" bIns="0">
            <a:spAutoFit/>
          </a:bodyPr>
          <a:lstStyle/>
          <a:p>
            <a:pPr algn="ctr"/>
            <a:r>
              <a:rPr lang="en-US" altLang="zh-CN">
                <a:solidFill>
                  <a:srgbClr val="FF0000"/>
                </a:solidFill>
                <a:latin typeface="Consolas" pitchFamily="49" charset="0"/>
                <a:ea typeface="楷体" pitchFamily="49" charset="-122"/>
                <a:cs typeface="Consolas" pitchFamily="49" charset="0"/>
              </a:rPr>
              <a:t>2</a:t>
            </a:r>
            <a:endParaRPr lang="zh-CN" altLang="en-US">
              <a:solidFill>
                <a:srgbClr val="FF0000"/>
              </a:solidFill>
              <a:latin typeface="Consolas" pitchFamily="49" charset="0"/>
              <a:ea typeface="楷体" pitchFamily="49" charset="-122"/>
              <a:cs typeface="Consolas" pitchFamily="49" charset="0"/>
            </a:endParaRPr>
          </a:p>
        </p:txBody>
      </p:sp>
      <p:sp>
        <p:nvSpPr>
          <p:cNvPr id="37" name="TextBox 45">
            <a:extLst>
              <a:ext uri="{FF2B5EF4-FFF2-40B4-BE49-F238E27FC236}">
                <a16:creationId xmlns:a16="http://schemas.microsoft.com/office/drawing/2014/main" id="{334ADE4F-1B94-E252-5EBD-E79E9BF77614}"/>
              </a:ext>
            </a:extLst>
          </p:cNvPr>
          <p:cNvSpPr txBox="1"/>
          <p:nvPr/>
        </p:nvSpPr>
        <p:spPr>
          <a:xfrm>
            <a:off x="4121984" y="5071112"/>
            <a:ext cx="468000" cy="369332"/>
          </a:xfrm>
          <a:prstGeom prst="rect">
            <a:avLst/>
          </a:prstGeom>
        </p:spPr>
        <p:style>
          <a:lnRef idx="1">
            <a:schemeClr val="accent1"/>
          </a:lnRef>
          <a:fillRef idx="2">
            <a:schemeClr val="accent1"/>
          </a:fillRef>
          <a:effectRef idx="1">
            <a:schemeClr val="accent1"/>
          </a:effectRef>
          <a:fontRef idx="minor">
            <a:schemeClr val="dk1"/>
          </a:fontRef>
        </p:style>
        <p:txBody>
          <a:bodyPr wrap="square" lIns="0" tIns="0" rIns="0" bIns="0" rtlCol="0">
            <a:spAutoFit/>
          </a:bodyPr>
          <a:lstStyle/>
          <a:p>
            <a:pPr algn="ctr"/>
            <a:r>
              <a:rPr lang="en-US" altLang="zh-CN">
                <a:solidFill>
                  <a:srgbClr val="FF0000"/>
                </a:solidFill>
                <a:latin typeface="Consolas" pitchFamily="49" charset="0"/>
                <a:ea typeface="楷体" pitchFamily="49" charset="-122"/>
                <a:cs typeface="Consolas" pitchFamily="49" charset="0"/>
              </a:rPr>
              <a:t>3</a:t>
            </a:r>
            <a:endParaRPr lang="zh-CN" altLang="en-US">
              <a:solidFill>
                <a:srgbClr val="FF0000"/>
              </a:solidFill>
              <a:latin typeface="Consolas" pitchFamily="49" charset="0"/>
              <a:ea typeface="楷体" pitchFamily="49" charset="-122"/>
              <a:cs typeface="Consolas" pitchFamily="49" charset="0"/>
            </a:endParaRPr>
          </a:p>
        </p:txBody>
      </p:sp>
      <p:sp>
        <p:nvSpPr>
          <p:cNvPr id="38" name="矩形 37">
            <a:extLst>
              <a:ext uri="{FF2B5EF4-FFF2-40B4-BE49-F238E27FC236}">
                <a16:creationId xmlns:a16="http://schemas.microsoft.com/office/drawing/2014/main" id="{A0E6BC74-20F4-FC6C-7A83-04649B5B01BE}"/>
              </a:ext>
            </a:extLst>
          </p:cNvPr>
          <p:cNvSpPr/>
          <p:nvPr/>
        </p:nvSpPr>
        <p:spPr>
          <a:xfrm>
            <a:off x="9421096" y="5082476"/>
            <a:ext cx="285752" cy="369332"/>
          </a:xfrm>
          <a:prstGeom prst="rect">
            <a:avLst/>
          </a:prstGeom>
        </p:spPr>
        <p:style>
          <a:lnRef idx="1">
            <a:schemeClr val="accent1"/>
          </a:lnRef>
          <a:fillRef idx="2">
            <a:schemeClr val="accent1"/>
          </a:fillRef>
          <a:effectRef idx="1">
            <a:schemeClr val="accent1"/>
          </a:effectRef>
          <a:fontRef idx="minor">
            <a:schemeClr val="dk1"/>
          </a:fontRef>
        </p:style>
        <p:txBody>
          <a:bodyPr wrap="square" lIns="0" tIns="0" rIns="0" bIns="0">
            <a:spAutoFit/>
          </a:bodyPr>
          <a:lstStyle/>
          <a:p>
            <a:pPr algn="ctr"/>
            <a:r>
              <a:rPr lang="en-US" altLang="zh-CN">
                <a:solidFill>
                  <a:srgbClr val="FF0000"/>
                </a:solidFill>
                <a:latin typeface="Consolas" pitchFamily="49" charset="0"/>
                <a:ea typeface="楷体" pitchFamily="49" charset="-122"/>
                <a:cs typeface="Consolas" pitchFamily="49" charset="0"/>
              </a:rPr>
              <a:t>3</a:t>
            </a:r>
            <a:endParaRPr lang="zh-CN" altLang="en-US">
              <a:solidFill>
                <a:srgbClr val="FF0000"/>
              </a:solidFill>
              <a:latin typeface="Consolas" pitchFamily="49" charset="0"/>
              <a:ea typeface="楷体" pitchFamily="49" charset="-122"/>
              <a:cs typeface="Consolas" pitchFamily="49" charset="0"/>
            </a:endParaRPr>
          </a:p>
        </p:txBody>
      </p:sp>
    </p:spTree>
    <p:extLst>
      <p:ext uri="{BB962C8B-B14F-4D97-AF65-F5344CB8AC3E}">
        <p14:creationId xmlns:p14="http://schemas.microsoft.com/office/powerpoint/2010/main" val="425229836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9"/>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4"/>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7"/>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6" grpId="0"/>
      <p:bldP spid="28" grpId="0"/>
      <p:bldP spid="29" grpId="0" animBg="1"/>
      <p:bldP spid="30" grpId="0"/>
      <p:bldP spid="31" grpId="0"/>
      <p:bldP spid="32" grpId="0"/>
      <p:bldP spid="33" grpId="0" animBg="1"/>
      <p:bldP spid="34" grpId="0" animBg="1"/>
      <p:bldP spid="35" grpId="0" animBg="1"/>
      <p:bldP spid="36" grpId="0" animBg="1"/>
      <p:bldP spid="37" grpId="0" animBg="1"/>
      <p:bldP spid="38" grpId="0" animBg="1"/>
    </p:bld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1826F4-486C-E463-FC46-194F00FDD999}"/>
            </a:ext>
          </a:extLst>
        </p:cNvPr>
        <p:cNvGrpSpPr/>
        <p:nvPr/>
      </p:nvGrpSpPr>
      <p:grpSpPr>
        <a:xfrm>
          <a:off x="0" y="0"/>
          <a:ext cx="0" cy="0"/>
          <a:chOff x="0" y="0"/>
          <a:chExt cx="0" cy="0"/>
        </a:xfrm>
      </p:grpSpPr>
      <p:graphicFrame>
        <p:nvGraphicFramePr>
          <p:cNvPr id="2" name="表格 1">
            <a:extLst>
              <a:ext uri="{FF2B5EF4-FFF2-40B4-BE49-F238E27FC236}">
                <a16:creationId xmlns:a16="http://schemas.microsoft.com/office/drawing/2014/main" id="{6E32CFAC-CE2A-A564-4867-E86348679383}"/>
              </a:ext>
            </a:extLst>
          </p:cNvPr>
          <p:cNvGraphicFramePr>
            <a:graphicFrameLocks noGrp="1"/>
          </p:cNvGraphicFramePr>
          <p:nvPr>
            <p:extLst>
              <p:ext uri="{D42A27DB-BD31-4B8C-83A1-F6EECF244321}">
                <p14:modId xmlns:p14="http://schemas.microsoft.com/office/powerpoint/2010/main" val="3218122225"/>
              </p:ext>
            </p:extLst>
          </p:nvPr>
        </p:nvGraphicFramePr>
        <p:xfrm>
          <a:off x="3279707" y="1146742"/>
          <a:ext cx="3071835" cy="1854200"/>
        </p:xfrm>
        <a:graphic>
          <a:graphicData uri="http://schemas.openxmlformats.org/drawingml/2006/table">
            <a:tbl>
              <a:tblPr firstRow="1" bandRow="1">
                <a:tableStyleId>{E8B1032C-EA38-4F05-BA0D-38AFFFC7BED3}</a:tableStyleId>
              </a:tblPr>
              <a:tblGrid>
                <a:gridCol w="614367">
                  <a:extLst>
                    <a:ext uri="{9D8B030D-6E8A-4147-A177-3AD203B41FA5}">
                      <a16:colId xmlns:a16="http://schemas.microsoft.com/office/drawing/2014/main" val="20000"/>
                    </a:ext>
                  </a:extLst>
                </a:gridCol>
                <a:gridCol w="614367">
                  <a:extLst>
                    <a:ext uri="{9D8B030D-6E8A-4147-A177-3AD203B41FA5}">
                      <a16:colId xmlns:a16="http://schemas.microsoft.com/office/drawing/2014/main" val="20001"/>
                    </a:ext>
                  </a:extLst>
                </a:gridCol>
                <a:gridCol w="614367">
                  <a:extLst>
                    <a:ext uri="{9D8B030D-6E8A-4147-A177-3AD203B41FA5}">
                      <a16:colId xmlns:a16="http://schemas.microsoft.com/office/drawing/2014/main" val="20002"/>
                    </a:ext>
                  </a:extLst>
                </a:gridCol>
                <a:gridCol w="614367">
                  <a:extLst>
                    <a:ext uri="{9D8B030D-6E8A-4147-A177-3AD203B41FA5}">
                      <a16:colId xmlns:a16="http://schemas.microsoft.com/office/drawing/2014/main" val="20003"/>
                    </a:ext>
                  </a:extLst>
                </a:gridCol>
                <a:gridCol w="614367">
                  <a:extLst>
                    <a:ext uri="{9D8B030D-6E8A-4147-A177-3AD203B41FA5}">
                      <a16:colId xmlns:a16="http://schemas.microsoft.com/office/drawing/2014/main" val="20004"/>
                    </a:ext>
                  </a:extLst>
                </a:gridCol>
              </a:tblGrid>
              <a:tr h="370840">
                <a:tc>
                  <a:txBody>
                    <a:bodyPr/>
                    <a:lstStyle/>
                    <a:p>
                      <a:pPr algn="ctr"/>
                      <a:endParaRPr lang="zh-CN" altLang="en-US" b="1">
                        <a:solidFill>
                          <a:srgbClr val="3333FF"/>
                        </a:solidFill>
                        <a:latin typeface="Consolas" pitchFamily="49" charset="0"/>
                        <a:cs typeface="Consolas" pitchFamily="49" charset="0"/>
                      </a:endParaRPr>
                    </a:p>
                  </a:txBody>
                  <a:tcPr>
                    <a:solidFill>
                      <a:schemeClr val="tx2">
                        <a:lumMod val="40000"/>
                        <a:lumOff val="60000"/>
                      </a:schemeClr>
                    </a:solidFill>
                  </a:tcPr>
                </a:tc>
                <a:tc>
                  <a:txBody>
                    <a:bodyPr/>
                    <a:lstStyle/>
                    <a:p>
                      <a:pPr algn="ctr"/>
                      <a:r>
                        <a:rPr lang="en-US" altLang="zh-CN" sz="1600" b="1">
                          <a:solidFill>
                            <a:srgbClr val="FF0000"/>
                          </a:solidFill>
                          <a:latin typeface="Consolas" pitchFamily="49" charset="0"/>
                          <a:cs typeface="Consolas" pitchFamily="49" charset="0"/>
                        </a:rPr>
                        <a:t>0</a:t>
                      </a:r>
                      <a:endParaRPr lang="zh-CN" altLang="en-US" sz="1600" b="1">
                        <a:solidFill>
                          <a:srgbClr val="FF0000"/>
                        </a:solidFill>
                        <a:latin typeface="Consolas" pitchFamily="49" charset="0"/>
                        <a:cs typeface="Consolas" pitchFamily="49" charset="0"/>
                      </a:endParaRPr>
                    </a:p>
                  </a:txBody>
                  <a:tcPr>
                    <a:solidFill>
                      <a:schemeClr val="tx2">
                        <a:lumMod val="40000"/>
                        <a:lumOff val="60000"/>
                      </a:schemeClr>
                    </a:solidFill>
                  </a:tcPr>
                </a:tc>
                <a:tc>
                  <a:txBody>
                    <a:bodyPr/>
                    <a:lstStyle/>
                    <a:p>
                      <a:pPr algn="ctr"/>
                      <a:r>
                        <a:rPr lang="en-US" altLang="zh-CN" sz="1600" b="1">
                          <a:solidFill>
                            <a:srgbClr val="FF0000"/>
                          </a:solidFill>
                          <a:latin typeface="Consolas" pitchFamily="49" charset="0"/>
                          <a:cs typeface="Consolas" pitchFamily="49" charset="0"/>
                        </a:rPr>
                        <a:t>1</a:t>
                      </a:r>
                      <a:endParaRPr lang="zh-CN" altLang="en-US" sz="1600" b="1">
                        <a:solidFill>
                          <a:srgbClr val="FF0000"/>
                        </a:solidFill>
                        <a:latin typeface="Consolas" pitchFamily="49" charset="0"/>
                        <a:cs typeface="Consolas" pitchFamily="49" charset="0"/>
                      </a:endParaRPr>
                    </a:p>
                  </a:txBody>
                  <a:tcPr>
                    <a:solidFill>
                      <a:schemeClr val="tx2">
                        <a:lumMod val="40000"/>
                        <a:lumOff val="60000"/>
                      </a:schemeClr>
                    </a:solidFill>
                  </a:tcPr>
                </a:tc>
                <a:tc>
                  <a:txBody>
                    <a:bodyPr/>
                    <a:lstStyle/>
                    <a:p>
                      <a:pPr algn="ctr"/>
                      <a:r>
                        <a:rPr lang="en-US" altLang="zh-CN" sz="1600" b="1">
                          <a:solidFill>
                            <a:srgbClr val="FF0000"/>
                          </a:solidFill>
                          <a:latin typeface="Consolas" pitchFamily="49" charset="0"/>
                          <a:cs typeface="Consolas" pitchFamily="49" charset="0"/>
                        </a:rPr>
                        <a:t>2</a:t>
                      </a:r>
                      <a:endParaRPr lang="zh-CN" altLang="en-US" sz="1600" b="1">
                        <a:solidFill>
                          <a:srgbClr val="FF0000"/>
                        </a:solidFill>
                        <a:latin typeface="Consolas" pitchFamily="49" charset="0"/>
                        <a:cs typeface="Consolas" pitchFamily="49" charset="0"/>
                      </a:endParaRPr>
                    </a:p>
                  </a:txBody>
                  <a:tcPr>
                    <a:solidFill>
                      <a:schemeClr val="tx2">
                        <a:lumMod val="40000"/>
                        <a:lumOff val="60000"/>
                      </a:schemeClr>
                    </a:solidFill>
                  </a:tcPr>
                </a:tc>
                <a:tc>
                  <a:txBody>
                    <a:bodyPr/>
                    <a:lstStyle/>
                    <a:p>
                      <a:pPr algn="ctr"/>
                      <a:r>
                        <a:rPr lang="en-US" altLang="zh-CN" sz="1600" b="1">
                          <a:solidFill>
                            <a:srgbClr val="FF0000"/>
                          </a:solidFill>
                          <a:latin typeface="Consolas" pitchFamily="49" charset="0"/>
                          <a:cs typeface="Consolas" pitchFamily="49" charset="0"/>
                        </a:rPr>
                        <a:t>3</a:t>
                      </a:r>
                      <a:endParaRPr lang="zh-CN" altLang="en-US" sz="1600" b="1">
                        <a:solidFill>
                          <a:srgbClr val="FF0000"/>
                        </a:solidFill>
                        <a:latin typeface="Consolas" pitchFamily="49" charset="0"/>
                        <a:cs typeface="Consolas" pitchFamily="49" charset="0"/>
                      </a:endParaRPr>
                    </a:p>
                  </a:txBody>
                  <a:tcPr>
                    <a:solidFill>
                      <a:schemeClr val="tx2">
                        <a:lumMod val="40000"/>
                        <a:lumOff val="60000"/>
                      </a:schemeClr>
                    </a:solidFill>
                  </a:tcPr>
                </a:tc>
                <a:extLst>
                  <a:ext uri="{0D108BD9-81ED-4DB2-BD59-A6C34878D82A}">
                    <a16:rowId xmlns:a16="http://schemas.microsoft.com/office/drawing/2014/main" val="10000"/>
                  </a:ext>
                </a:extLst>
              </a:tr>
              <a:tr h="370840">
                <a:tc>
                  <a:txBody>
                    <a:bodyPr/>
                    <a:lstStyle/>
                    <a:p>
                      <a:pPr algn="ctr"/>
                      <a:r>
                        <a:rPr lang="en-US" altLang="zh-CN" sz="1600" b="1">
                          <a:solidFill>
                            <a:srgbClr val="FF0000"/>
                          </a:solidFill>
                          <a:latin typeface="Consolas" pitchFamily="49" charset="0"/>
                          <a:cs typeface="Consolas" pitchFamily="49" charset="0"/>
                        </a:rPr>
                        <a:t>0</a:t>
                      </a:r>
                      <a:endParaRPr lang="zh-CN" altLang="en-US" sz="1600" b="1">
                        <a:solidFill>
                          <a:srgbClr val="FF0000"/>
                        </a:solidFill>
                        <a:latin typeface="Consolas" pitchFamily="49" charset="0"/>
                        <a:cs typeface="Consolas" pitchFamily="49" charset="0"/>
                      </a:endParaRPr>
                    </a:p>
                  </a:txBody>
                  <a:tcPr>
                    <a:solidFill>
                      <a:schemeClr val="tx2">
                        <a:lumMod val="40000"/>
                        <a:lumOff val="60000"/>
                      </a:schemeClr>
                    </a:solidFill>
                  </a:tcPr>
                </a:tc>
                <a:tc>
                  <a:txBody>
                    <a:bodyPr/>
                    <a:lstStyle/>
                    <a:p>
                      <a:pPr algn="ctr"/>
                      <a:r>
                        <a:rPr lang="en-US" altLang="zh-CN" b="1">
                          <a:solidFill>
                            <a:srgbClr val="3333FF"/>
                          </a:solidFill>
                          <a:latin typeface="Consolas" pitchFamily="49" charset="0"/>
                          <a:cs typeface="Consolas" pitchFamily="49" charset="0"/>
                        </a:rPr>
                        <a:t>0</a:t>
                      </a:r>
                      <a:endParaRPr lang="zh-CN" altLang="en-US" b="1">
                        <a:solidFill>
                          <a:srgbClr val="3333FF"/>
                        </a:solidFill>
                        <a:latin typeface="Consolas" pitchFamily="49" charset="0"/>
                        <a:cs typeface="Consolas" pitchFamily="49" charset="0"/>
                      </a:endParaRPr>
                    </a:p>
                  </a:txBody>
                  <a:tcPr/>
                </a:tc>
                <a:tc>
                  <a:txBody>
                    <a:bodyPr/>
                    <a:lstStyle/>
                    <a:p>
                      <a:pPr algn="ctr"/>
                      <a:r>
                        <a:rPr lang="en-US" altLang="zh-CN" b="1">
                          <a:solidFill>
                            <a:srgbClr val="3333FF"/>
                          </a:solidFill>
                          <a:latin typeface="Consolas" pitchFamily="49" charset="0"/>
                          <a:cs typeface="Consolas" pitchFamily="49" charset="0"/>
                        </a:rPr>
                        <a:t>5</a:t>
                      </a:r>
                      <a:endParaRPr lang="zh-CN" altLang="en-US" b="1">
                        <a:solidFill>
                          <a:srgbClr val="3333FF"/>
                        </a:solidFill>
                        <a:latin typeface="Consolas" pitchFamily="49" charset="0"/>
                        <a:cs typeface="Consolas" pitchFamily="49" charset="0"/>
                      </a:endParaRPr>
                    </a:p>
                  </a:txBody>
                  <a:tcPr/>
                </a:tc>
                <a:tc>
                  <a:txBody>
                    <a:bodyPr/>
                    <a:lstStyle/>
                    <a:p>
                      <a:pPr algn="ctr"/>
                      <a:r>
                        <a:rPr lang="en-US" altLang="zh-CN" b="1">
                          <a:solidFill>
                            <a:srgbClr val="3333FF"/>
                          </a:solidFill>
                          <a:latin typeface="Consolas" pitchFamily="49" charset="0"/>
                          <a:cs typeface="Consolas" pitchFamily="49" charset="0"/>
                        </a:rPr>
                        <a:t>8</a:t>
                      </a:r>
                      <a:endParaRPr lang="zh-CN" altLang="en-US" b="1">
                        <a:solidFill>
                          <a:srgbClr val="3333FF"/>
                        </a:solidFill>
                        <a:latin typeface="Consolas" pitchFamily="49" charset="0"/>
                        <a:cs typeface="Consolas" pitchFamily="49" charset="0"/>
                      </a:endParaRPr>
                    </a:p>
                  </a:txBody>
                  <a:tcPr/>
                </a:tc>
                <a:tc>
                  <a:txBody>
                    <a:bodyPr/>
                    <a:lstStyle/>
                    <a:p>
                      <a:pPr algn="ctr"/>
                      <a:r>
                        <a:rPr lang="en-US" altLang="zh-CN" b="1">
                          <a:solidFill>
                            <a:srgbClr val="3333FF"/>
                          </a:solidFill>
                          <a:latin typeface="Consolas" pitchFamily="49" charset="0"/>
                          <a:cs typeface="Consolas" pitchFamily="49" charset="0"/>
                        </a:rPr>
                        <a:t>7</a:t>
                      </a:r>
                      <a:endParaRPr lang="zh-CN" altLang="en-US" b="1">
                        <a:solidFill>
                          <a:srgbClr val="3333FF"/>
                        </a:solidFill>
                        <a:latin typeface="Consolas" pitchFamily="49" charset="0"/>
                        <a:cs typeface="Consolas" pitchFamily="49" charset="0"/>
                      </a:endParaRPr>
                    </a:p>
                  </a:txBody>
                  <a:tcPr/>
                </a:tc>
                <a:extLst>
                  <a:ext uri="{0D108BD9-81ED-4DB2-BD59-A6C34878D82A}">
                    <a16:rowId xmlns:a16="http://schemas.microsoft.com/office/drawing/2014/main" val="10001"/>
                  </a:ext>
                </a:extLst>
              </a:tr>
              <a:tr h="370840">
                <a:tc>
                  <a:txBody>
                    <a:bodyPr/>
                    <a:lstStyle/>
                    <a:p>
                      <a:pPr algn="ctr"/>
                      <a:r>
                        <a:rPr lang="en-US" altLang="zh-CN" sz="1600" b="1">
                          <a:solidFill>
                            <a:srgbClr val="FF0000"/>
                          </a:solidFill>
                          <a:latin typeface="Consolas" pitchFamily="49" charset="0"/>
                          <a:cs typeface="Consolas" pitchFamily="49" charset="0"/>
                        </a:rPr>
                        <a:t>1</a:t>
                      </a:r>
                      <a:endParaRPr lang="zh-CN" altLang="en-US" sz="1600" b="1">
                        <a:solidFill>
                          <a:srgbClr val="FF0000"/>
                        </a:solidFill>
                        <a:latin typeface="Consolas" pitchFamily="49" charset="0"/>
                        <a:cs typeface="Consolas" pitchFamily="49" charset="0"/>
                      </a:endParaRPr>
                    </a:p>
                  </a:txBody>
                  <a:tcPr>
                    <a:solidFill>
                      <a:schemeClr val="tx2">
                        <a:lumMod val="40000"/>
                        <a:lumOff val="6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b="1">
                          <a:solidFill>
                            <a:srgbClr val="3333FF"/>
                          </a:solidFill>
                          <a:latin typeface="Consolas" pitchFamily="49" charset="0"/>
                          <a:cs typeface="Consolas" pitchFamily="49" charset="0"/>
                        </a:rPr>
                        <a:t>6</a:t>
                      </a:r>
                      <a:endParaRPr lang="zh-CN" altLang="en-US" b="1">
                        <a:solidFill>
                          <a:srgbClr val="3333FF"/>
                        </a:solidFill>
                        <a:latin typeface="Consolas" pitchFamily="49" charset="0"/>
                        <a:cs typeface="Consolas" pitchFamily="49" charset="0"/>
                      </a:endParaRPr>
                    </a:p>
                  </a:txBody>
                  <a:tcPr/>
                </a:tc>
                <a:tc>
                  <a:txBody>
                    <a:bodyPr/>
                    <a:lstStyle/>
                    <a:p>
                      <a:pPr algn="ctr"/>
                      <a:r>
                        <a:rPr lang="en-US" altLang="zh-CN" b="1">
                          <a:solidFill>
                            <a:srgbClr val="3333FF"/>
                          </a:solidFill>
                          <a:latin typeface="Consolas" pitchFamily="49" charset="0"/>
                          <a:cs typeface="Consolas" pitchFamily="49" charset="0"/>
                        </a:rPr>
                        <a:t>0</a:t>
                      </a:r>
                      <a:endParaRPr lang="zh-CN" altLang="en-US" b="1">
                        <a:solidFill>
                          <a:srgbClr val="3333FF"/>
                        </a:solidFill>
                        <a:latin typeface="Consolas" pitchFamily="49" charset="0"/>
                        <a:cs typeface="Consolas" pitchFamily="49" charset="0"/>
                      </a:endParaRPr>
                    </a:p>
                  </a:txBody>
                  <a:tcPr/>
                </a:tc>
                <a:tc>
                  <a:txBody>
                    <a:bodyPr/>
                    <a:lstStyle/>
                    <a:p>
                      <a:pPr algn="ctr"/>
                      <a:r>
                        <a:rPr lang="en-US" altLang="zh-CN" b="1">
                          <a:solidFill>
                            <a:srgbClr val="3333FF"/>
                          </a:solidFill>
                          <a:latin typeface="Consolas" pitchFamily="49" charset="0"/>
                          <a:cs typeface="Consolas" pitchFamily="49" charset="0"/>
                        </a:rPr>
                        <a:t>3</a:t>
                      </a:r>
                      <a:endParaRPr lang="zh-CN" altLang="en-US" b="1">
                        <a:solidFill>
                          <a:srgbClr val="3333FF"/>
                        </a:solidFill>
                        <a:latin typeface="Consolas" pitchFamily="49" charset="0"/>
                        <a:cs typeface="Consolas" pitchFamily="49" charset="0"/>
                      </a:endParaRPr>
                    </a:p>
                  </a:txBody>
                  <a:tcPr/>
                </a:tc>
                <a:tc>
                  <a:txBody>
                    <a:bodyPr/>
                    <a:lstStyle/>
                    <a:p>
                      <a:pPr algn="ctr"/>
                      <a:r>
                        <a:rPr lang="en-US" altLang="zh-CN" b="1">
                          <a:solidFill>
                            <a:srgbClr val="3333FF"/>
                          </a:solidFill>
                          <a:latin typeface="Consolas" pitchFamily="49" charset="0"/>
                          <a:cs typeface="Consolas" pitchFamily="49" charset="0"/>
                        </a:rPr>
                        <a:t>2</a:t>
                      </a:r>
                      <a:endParaRPr lang="zh-CN" altLang="en-US" b="1">
                        <a:solidFill>
                          <a:srgbClr val="3333FF"/>
                        </a:solidFill>
                        <a:latin typeface="Consolas" pitchFamily="49" charset="0"/>
                        <a:cs typeface="Consolas" pitchFamily="49" charset="0"/>
                      </a:endParaRPr>
                    </a:p>
                  </a:txBody>
                  <a:tcPr/>
                </a:tc>
                <a:extLst>
                  <a:ext uri="{0D108BD9-81ED-4DB2-BD59-A6C34878D82A}">
                    <a16:rowId xmlns:a16="http://schemas.microsoft.com/office/drawing/2014/main" val="10002"/>
                  </a:ext>
                </a:extLst>
              </a:tr>
              <a:tr h="370840">
                <a:tc>
                  <a:txBody>
                    <a:bodyPr/>
                    <a:lstStyle/>
                    <a:p>
                      <a:pPr algn="ctr"/>
                      <a:r>
                        <a:rPr lang="en-US" altLang="zh-CN" sz="1600" b="1">
                          <a:solidFill>
                            <a:srgbClr val="FF0000"/>
                          </a:solidFill>
                          <a:latin typeface="Consolas" pitchFamily="49" charset="0"/>
                          <a:cs typeface="Consolas" pitchFamily="49" charset="0"/>
                        </a:rPr>
                        <a:t>2</a:t>
                      </a:r>
                      <a:endParaRPr lang="zh-CN" altLang="en-US" sz="1600" b="1">
                        <a:solidFill>
                          <a:srgbClr val="FF0000"/>
                        </a:solidFill>
                        <a:latin typeface="Consolas" pitchFamily="49" charset="0"/>
                        <a:cs typeface="Consolas" pitchFamily="49" charset="0"/>
                      </a:endParaRPr>
                    </a:p>
                  </a:txBody>
                  <a:tcPr>
                    <a:solidFill>
                      <a:schemeClr val="tx2">
                        <a:lumMod val="40000"/>
                        <a:lumOff val="60000"/>
                      </a:schemeClr>
                    </a:solidFill>
                  </a:tcPr>
                </a:tc>
                <a:tc>
                  <a:txBody>
                    <a:bodyPr/>
                    <a:lstStyle/>
                    <a:p>
                      <a:pPr algn="ctr"/>
                      <a:r>
                        <a:rPr lang="en-US" altLang="zh-CN" b="1">
                          <a:solidFill>
                            <a:srgbClr val="3333FF"/>
                          </a:solidFill>
                          <a:latin typeface="Consolas" pitchFamily="49" charset="0"/>
                          <a:cs typeface="Consolas" pitchFamily="49" charset="0"/>
                        </a:rPr>
                        <a:t>3</a:t>
                      </a:r>
                      <a:endParaRPr lang="zh-CN" altLang="en-US" b="1">
                        <a:solidFill>
                          <a:srgbClr val="3333FF"/>
                        </a:solidFill>
                        <a:latin typeface="Consolas" pitchFamily="49" charset="0"/>
                        <a:cs typeface="Consolas" pitchFamily="49" charset="0"/>
                      </a:endParaRPr>
                    </a:p>
                  </a:txBody>
                  <a:tcPr/>
                </a:tc>
                <a:tc>
                  <a:txBody>
                    <a:bodyPr/>
                    <a:lstStyle/>
                    <a:p>
                      <a:pPr algn="ctr"/>
                      <a:r>
                        <a:rPr lang="en-US" altLang="zh-CN" b="1">
                          <a:solidFill>
                            <a:srgbClr val="3333FF"/>
                          </a:solidFill>
                          <a:latin typeface="Consolas" pitchFamily="49" charset="0"/>
                          <a:cs typeface="Consolas" pitchFamily="49" charset="0"/>
                        </a:rPr>
                        <a:t>3</a:t>
                      </a:r>
                      <a:endParaRPr lang="zh-CN" altLang="en-US" b="1">
                        <a:solidFill>
                          <a:srgbClr val="3333FF"/>
                        </a:solidFill>
                        <a:latin typeface="Consolas" pitchFamily="49" charset="0"/>
                        <a:cs typeface="Consolas" pitchFamily="49" charset="0"/>
                      </a:endParaRPr>
                    </a:p>
                  </a:txBody>
                  <a:tcPr/>
                </a:tc>
                <a:tc>
                  <a:txBody>
                    <a:bodyPr/>
                    <a:lstStyle/>
                    <a:p>
                      <a:pPr algn="ctr"/>
                      <a:r>
                        <a:rPr lang="en-US" altLang="zh-CN" b="1">
                          <a:solidFill>
                            <a:srgbClr val="3333FF"/>
                          </a:solidFill>
                          <a:latin typeface="Consolas" pitchFamily="49" charset="0"/>
                          <a:cs typeface="Consolas" pitchFamily="49" charset="0"/>
                        </a:rPr>
                        <a:t>0</a:t>
                      </a:r>
                      <a:endParaRPr lang="zh-CN" altLang="en-US" b="1">
                        <a:solidFill>
                          <a:srgbClr val="3333FF"/>
                        </a:solidFill>
                        <a:latin typeface="Consolas" pitchFamily="49" charset="0"/>
                        <a:cs typeface="Consolas" pitchFamily="49" charset="0"/>
                      </a:endParaRPr>
                    </a:p>
                  </a:txBody>
                  <a:tcPr/>
                </a:tc>
                <a:tc>
                  <a:txBody>
                    <a:bodyPr/>
                    <a:lstStyle/>
                    <a:p>
                      <a:pPr algn="ctr"/>
                      <a:r>
                        <a:rPr lang="en-US" altLang="zh-CN" b="1">
                          <a:solidFill>
                            <a:srgbClr val="3333FF"/>
                          </a:solidFill>
                          <a:latin typeface="Consolas" pitchFamily="49" charset="0"/>
                          <a:cs typeface="Consolas" pitchFamily="49" charset="0"/>
                        </a:rPr>
                        <a:t>2</a:t>
                      </a:r>
                      <a:endParaRPr lang="zh-CN" altLang="en-US" b="1">
                        <a:solidFill>
                          <a:srgbClr val="3333FF"/>
                        </a:solidFill>
                        <a:latin typeface="Consolas" pitchFamily="49" charset="0"/>
                        <a:cs typeface="Consolas" pitchFamily="49" charset="0"/>
                      </a:endParaRPr>
                    </a:p>
                  </a:txBody>
                  <a:tcPr/>
                </a:tc>
                <a:extLst>
                  <a:ext uri="{0D108BD9-81ED-4DB2-BD59-A6C34878D82A}">
                    <a16:rowId xmlns:a16="http://schemas.microsoft.com/office/drawing/2014/main" val="10003"/>
                  </a:ext>
                </a:extLst>
              </a:tr>
              <a:tr h="370840">
                <a:tc>
                  <a:txBody>
                    <a:bodyPr/>
                    <a:lstStyle/>
                    <a:p>
                      <a:pPr algn="ctr"/>
                      <a:r>
                        <a:rPr lang="en-US" altLang="zh-CN" sz="1600" b="1">
                          <a:solidFill>
                            <a:srgbClr val="FF0000"/>
                          </a:solidFill>
                          <a:latin typeface="Consolas" pitchFamily="49" charset="0"/>
                          <a:cs typeface="Consolas" pitchFamily="49" charset="0"/>
                        </a:rPr>
                        <a:t>3</a:t>
                      </a:r>
                      <a:endParaRPr lang="zh-CN" altLang="en-US" sz="1600" b="1">
                        <a:solidFill>
                          <a:srgbClr val="FF0000"/>
                        </a:solidFill>
                        <a:latin typeface="Consolas" pitchFamily="49" charset="0"/>
                        <a:cs typeface="Consolas" pitchFamily="49" charset="0"/>
                      </a:endParaRPr>
                    </a:p>
                  </a:txBody>
                  <a:tcPr>
                    <a:solidFill>
                      <a:schemeClr val="tx2">
                        <a:lumMod val="40000"/>
                        <a:lumOff val="6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b="1">
                          <a:solidFill>
                            <a:srgbClr val="3333FF"/>
                          </a:solidFill>
                          <a:latin typeface="Consolas" pitchFamily="49" charset="0"/>
                          <a:cs typeface="Consolas" pitchFamily="49" charset="0"/>
                        </a:rPr>
                        <a:t>4</a:t>
                      </a:r>
                      <a:endParaRPr lang="zh-CN" altLang="en-US" b="1">
                        <a:solidFill>
                          <a:srgbClr val="3333FF"/>
                        </a:solidFill>
                        <a:latin typeface="Consolas" pitchFamily="49" charset="0"/>
                        <a:cs typeface="Consolas"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b="1">
                          <a:solidFill>
                            <a:srgbClr val="3333FF"/>
                          </a:solidFill>
                          <a:latin typeface="Consolas" pitchFamily="49" charset="0"/>
                          <a:cs typeface="Consolas" pitchFamily="49" charset="0"/>
                        </a:rPr>
                        <a:t>4</a:t>
                      </a:r>
                      <a:endParaRPr lang="zh-CN" altLang="en-US" b="1">
                        <a:solidFill>
                          <a:srgbClr val="3333FF"/>
                        </a:solidFill>
                        <a:latin typeface="Consolas" pitchFamily="49" charset="0"/>
                        <a:cs typeface="Consolas" pitchFamily="49" charset="0"/>
                      </a:endParaRPr>
                    </a:p>
                  </a:txBody>
                  <a:tcPr/>
                </a:tc>
                <a:tc>
                  <a:txBody>
                    <a:bodyPr/>
                    <a:lstStyle/>
                    <a:p>
                      <a:pPr algn="ctr"/>
                      <a:r>
                        <a:rPr lang="en-US" altLang="zh-CN" b="1">
                          <a:solidFill>
                            <a:srgbClr val="3333FF"/>
                          </a:solidFill>
                          <a:latin typeface="Consolas" pitchFamily="49" charset="0"/>
                          <a:cs typeface="Consolas" pitchFamily="49" charset="0"/>
                        </a:rPr>
                        <a:t>1</a:t>
                      </a:r>
                      <a:endParaRPr lang="zh-CN" altLang="en-US" b="1">
                        <a:solidFill>
                          <a:srgbClr val="3333FF"/>
                        </a:solidFill>
                        <a:latin typeface="Consolas" pitchFamily="49" charset="0"/>
                        <a:cs typeface="Consolas" pitchFamily="49" charset="0"/>
                      </a:endParaRPr>
                    </a:p>
                  </a:txBody>
                  <a:tcPr/>
                </a:tc>
                <a:tc>
                  <a:txBody>
                    <a:bodyPr/>
                    <a:lstStyle/>
                    <a:p>
                      <a:pPr algn="ctr"/>
                      <a:r>
                        <a:rPr lang="en-US" altLang="zh-CN" b="1">
                          <a:solidFill>
                            <a:srgbClr val="3333FF"/>
                          </a:solidFill>
                          <a:latin typeface="Consolas" pitchFamily="49" charset="0"/>
                          <a:cs typeface="Consolas" pitchFamily="49" charset="0"/>
                        </a:rPr>
                        <a:t>0</a:t>
                      </a:r>
                      <a:endParaRPr lang="zh-CN" altLang="en-US" b="1">
                        <a:solidFill>
                          <a:srgbClr val="3333FF"/>
                        </a:solidFill>
                        <a:latin typeface="Consolas" pitchFamily="49" charset="0"/>
                        <a:cs typeface="Consolas" pitchFamily="49" charset="0"/>
                      </a:endParaRPr>
                    </a:p>
                  </a:txBody>
                  <a:tcPr/>
                </a:tc>
                <a:extLst>
                  <a:ext uri="{0D108BD9-81ED-4DB2-BD59-A6C34878D82A}">
                    <a16:rowId xmlns:a16="http://schemas.microsoft.com/office/drawing/2014/main" val="10004"/>
                  </a:ext>
                </a:extLst>
              </a:tr>
            </a:tbl>
          </a:graphicData>
        </a:graphic>
      </p:graphicFrame>
      <p:sp>
        <p:nvSpPr>
          <p:cNvPr id="3" name="Text Box 4">
            <a:extLst>
              <a:ext uri="{FF2B5EF4-FFF2-40B4-BE49-F238E27FC236}">
                <a16:creationId xmlns:a16="http://schemas.microsoft.com/office/drawing/2014/main" id="{94044120-A3E1-0E24-E74F-9BAA5A20FD26}"/>
              </a:ext>
            </a:extLst>
          </p:cNvPr>
          <p:cNvSpPr txBox="1">
            <a:spLocks noChangeArrowheads="1"/>
          </p:cNvSpPr>
          <p:nvPr/>
        </p:nvSpPr>
        <p:spPr bwMode="auto">
          <a:xfrm>
            <a:off x="2779642" y="4054722"/>
            <a:ext cx="7072362" cy="1323439"/>
          </a:xfrm>
          <a:prstGeom prst="rect">
            <a:avLst/>
          </a:prstGeom>
          <a:noFill/>
          <a:ln w="9525">
            <a:noFill/>
            <a:miter lim="800000"/>
            <a:headEnd/>
            <a:tailEnd/>
          </a:ln>
          <a:effectLst/>
        </p:spPr>
        <p:txBody>
          <a:bodyPr wrap="square">
            <a:spAutoFit/>
          </a:bodyPr>
          <a:lstStyle/>
          <a:p>
            <a:r>
              <a:rPr lang="zh-CN" altLang="en-US" sz="2000" dirty="0">
                <a:latin typeface="Consolas" pitchFamily="49" charset="0"/>
                <a:ea typeface="仿宋" pitchFamily="49" charset="-122"/>
                <a:cs typeface="Consolas" pitchFamily="49" charset="0"/>
              </a:rPr>
              <a:t>由</a:t>
            </a:r>
            <a:r>
              <a:rPr lang="en-US" altLang="zh-CN" sz="2000" i="1" dirty="0" err="1">
                <a:latin typeface="Consolas" pitchFamily="49" charset="0"/>
                <a:ea typeface="仿宋" pitchFamily="49" charset="-122"/>
                <a:cs typeface="Consolas" pitchFamily="49" charset="0"/>
              </a:rPr>
              <a:t>A</a:t>
            </a:r>
            <a:r>
              <a:rPr lang="en-US" altLang="zh-CN" sz="2000" baseline="-25000" dirty="0" err="1">
                <a:latin typeface="Consolas" pitchFamily="49" charset="0"/>
                <a:ea typeface="仿宋" pitchFamily="49" charset="-122"/>
                <a:cs typeface="Consolas" pitchFamily="49" charset="0"/>
              </a:rPr>
              <a:t>3</a:t>
            </a:r>
            <a:r>
              <a:rPr lang="zh-CN" altLang="en-US" sz="2000" dirty="0">
                <a:latin typeface="Consolas" pitchFamily="49" charset="0"/>
                <a:ea typeface="仿宋" pitchFamily="49" charset="-122"/>
                <a:cs typeface="Consolas" pitchFamily="49" charset="0"/>
              </a:rPr>
              <a:t>数组可以直接得到两个顶点之间的最短路径长度。</a:t>
            </a:r>
            <a:endParaRPr lang="en-US" altLang="zh-CN" sz="2000" dirty="0">
              <a:latin typeface="Consolas" pitchFamily="49" charset="0"/>
              <a:ea typeface="仿宋" pitchFamily="49" charset="-122"/>
              <a:cs typeface="Consolas" pitchFamily="49" charset="0"/>
            </a:endParaRPr>
          </a:p>
          <a:p>
            <a:r>
              <a:rPr lang="zh-CN" altLang="en-US" sz="2000" dirty="0">
                <a:latin typeface="Consolas" pitchFamily="49" charset="0"/>
                <a:ea typeface="仿宋" pitchFamily="49" charset="-122"/>
                <a:cs typeface="Consolas" pitchFamily="49" charset="0"/>
              </a:rPr>
              <a:t>如</a:t>
            </a:r>
            <a:r>
              <a:rPr lang="en-US" altLang="zh-CN" sz="2000" i="1" dirty="0" err="1">
                <a:latin typeface="Consolas" pitchFamily="49" charset="0"/>
                <a:ea typeface="仿宋" pitchFamily="49" charset="-122"/>
                <a:cs typeface="Consolas" pitchFamily="49" charset="0"/>
              </a:rPr>
              <a:t>A</a:t>
            </a:r>
            <a:r>
              <a:rPr lang="en-US" altLang="zh-CN" sz="2000" baseline="-25000" dirty="0" err="1">
                <a:latin typeface="Consolas" pitchFamily="49" charset="0"/>
                <a:ea typeface="仿宋" pitchFamily="49" charset="-122"/>
                <a:cs typeface="Consolas" pitchFamily="49" charset="0"/>
              </a:rPr>
              <a:t>3</a:t>
            </a:r>
            <a:r>
              <a:rPr lang="en-US" altLang="zh-CN" sz="2000" dirty="0">
                <a:latin typeface="Consolas" pitchFamily="49" charset="0"/>
                <a:ea typeface="仿宋" pitchFamily="49" charset="-122"/>
                <a:cs typeface="Consolas" pitchFamily="49" charset="0"/>
              </a:rPr>
              <a:t>[1][0]=6</a:t>
            </a:r>
          </a:p>
          <a:p>
            <a:r>
              <a:rPr lang="zh-CN" altLang="en-US" sz="2000" dirty="0">
                <a:latin typeface="Consolas" pitchFamily="49" charset="0"/>
                <a:ea typeface="仿宋" pitchFamily="49" charset="-122"/>
                <a:cs typeface="Consolas" pitchFamily="49" charset="0"/>
              </a:rPr>
              <a:t>说明顶点</a:t>
            </a:r>
            <a:r>
              <a:rPr lang="en-US" altLang="zh-CN" sz="2000" dirty="0">
                <a:latin typeface="Consolas" pitchFamily="49" charset="0"/>
                <a:ea typeface="仿宋" pitchFamily="49" charset="-122"/>
                <a:cs typeface="Consolas" pitchFamily="49" charset="0"/>
              </a:rPr>
              <a:t>1</a:t>
            </a:r>
            <a:r>
              <a:rPr lang="zh-CN" altLang="en-US" sz="2000" dirty="0">
                <a:latin typeface="Consolas" pitchFamily="49" charset="0"/>
                <a:ea typeface="仿宋" pitchFamily="49" charset="-122"/>
                <a:cs typeface="Consolas" pitchFamily="49" charset="0"/>
              </a:rPr>
              <a:t>到</a:t>
            </a:r>
            <a:r>
              <a:rPr lang="en-US" altLang="zh-CN" sz="2000" dirty="0">
                <a:latin typeface="Consolas" pitchFamily="49" charset="0"/>
                <a:ea typeface="仿宋" pitchFamily="49" charset="-122"/>
                <a:cs typeface="Consolas" pitchFamily="49" charset="0"/>
              </a:rPr>
              <a:t>0</a:t>
            </a:r>
            <a:r>
              <a:rPr lang="zh-CN" altLang="en-US" sz="2000" dirty="0">
                <a:latin typeface="Consolas" pitchFamily="49" charset="0"/>
                <a:ea typeface="仿宋" pitchFamily="49" charset="-122"/>
                <a:cs typeface="Consolas" pitchFamily="49" charset="0"/>
              </a:rPr>
              <a:t>的最短路径长度为</a:t>
            </a:r>
            <a:r>
              <a:rPr lang="en-US" altLang="zh-CN" sz="2000" dirty="0">
                <a:latin typeface="Consolas" pitchFamily="49" charset="0"/>
                <a:ea typeface="仿宋" pitchFamily="49" charset="-122"/>
                <a:cs typeface="Consolas" pitchFamily="49" charset="0"/>
              </a:rPr>
              <a:t>6</a:t>
            </a:r>
            <a:r>
              <a:rPr lang="zh-CN" altLang="en-US" sz="2000" dirty="0">
                <a:latin typeface="Consolas" pitchFamily="49" charset="0"/>
                <a:ea typeface="仿宋" pitchFamily="49" charset="-122"/>
                <a:cs typeface="Consolas" pitchFamily="49" charset="0"/>
              </a:rPr>
              <a:t>。</a:t>
            </a:r>
          </a:p>
        </p:txBody>
      </p:sp>
      <p:sp>
        <p:nvSpPr>
          <p:cNvPr id="4" name="TextBox 7">
            <a:extLst>
              <a:ext uri="{FF2B5EF4-FFF2-40B4-BE49-F238E27FC236}">
                <a16:creationId xmlns:a16="http://schemas.microsoft.com/office/drawing/2014/main" id="{56EDAAF7-2BCA-05B5-0F5A-EF04F703BC98}"/>
              </a:ext>
            </a:extLst>
          </p:cNvPr>
          <p:cNvSpPr txBox="1"/>
          <p:nvPr/>
        </p:nvSpPr>
        <p:spPr>
          <a:xfrm>
            <a:off x="2279576" y="3501008"/>
            <a:ext cx="2428892" cy="453183"/>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tIns="72000" bIns="72000" rtlCol="0">
            <a:spAutoFit/>
          </a:bodyPr>
          <a:lstStyle/>
          <a:p>
            <a:r>
              <a:rPr lang="zh-CN" altLang="en-US" sz="2000">
                <a:latin typeface="Consolas" pitchFamily="49" charset="0"/>
                <a:ea typeface="楷体" pitchFamily="49" charset="-122"/>
                <a:cs typeface="Consolas" pitchFamily="49" charset="0"/>
                <a:sym typeface="Wingdings"/>
              </a:rPr>
              <a:t> </a:t>
            </a:r>
            <a:r>
              <a:rPr lang="zh-CN" altLang="en-US" sz="2000">
                <a:latin typeface="Consolas" pitchFamily="49" charset="0"/>
                <a:ea typeface="楷体" pitchFamily="49" charset="-122"/>
                <a:cs typeface="Consolas" pitchFamily="49" charset="0"/>
              </a:rPr>
              <a:t>求</a:t>
            </a:r>
            <a:r>
              <a:rPr lang="zh-CN" altLang="en-US" sz="2000" dirty="0">
                <a:latin typeface="Consolas" pitchFamily="49" charset="0"/>
                <a:ea typeface="楷体" pitchFamily="49" charset="-122"/>
                <a:cs typeface="Consolas" pitchFamily="49" charset="0"/>
              </a:rPr>
              <a:t>最短路径长度：</a:t>
            </a:r>
          </a:p>
        </p:txBody>
      </p:sp>
      <p:sp>
        <p:nvSpPr>
          <p:cNvPr id="5" name="TextBox 9">
            <a:extLst>
              <a:ext uri="{FF2B5EF4-FFF2-40B4-BE49-F238E27FC236}">
                <a16:creationId xmlns:a16="http://schemas.microsoft.com/office/drawing/2014/main" id="{1645DA18-6C78-CE69-BE94-2F5857CBCFC0}"/>
              </a:ext>
            </a:extLst>
          </p:cNvPr>
          <p:cNvSpPr txBox="1"/>
          <p:nvPr/>
        </p:nvSpPr>
        <p:spPr>
          <a:xfrm>
            <a:off x="4565591" y="575238"/>
            <a:ext cx="642942" cy="430887"/>
          </a:xfrm>
          <a:prstGeom prst="rect">
            <a:avLst/>
          </a:prstGeom>
          <a:noFill/>
        </p:spPr>
        <p:txBody>
          <a:bodyPr wrap="square" rtlCol="0">
            <a:spAutoFit/>
          </a:bodyPr>
          <a:lstStyle/>
          <a:p>
            <a:r>
              <a:rPr lang="en-US" altLang="zh-CN" sz="2200" i="1">
                <a:latin typeface="Consolas" pitchFamily="49" charset="0"/>
                <a:cs typeface="Consolas" pitchFamily="49" charset="0"/>
              </a:rPr>
              <a:t>A</a:t>
            </a:r>
            <a:r>
              <a:rPr lang="en-US" altLang="zh-CN" sz="2200" baseline="-25000">
                <a:latin typeface="Consolas" pitchFamily="49" charset="0"/>
                <a:cs typeface="Consolas" pitchFamily="49" charset="0"/>
              </a:rPr>
              <a:t>3</a:t>
            </a:r>
            <a:endParaRPr lang="zh-CN" altLang="en-US" sz="2200" baseline="-25000">
              <a:latin typeface="Consolas" pitchFamily="49" charset="0"/>
              <a:cs typeface="Consolas" pitchFamily="49" charset="0"/>
            </a:endParaRPr>
          </a:p>
        </p:txBody>
      </p:sp>
      <p:sp>
        <p:nvSpPr>
          <p:cNvPr id="6" name="TextBox 13">
            <a:extLst>
              <a:ext uri="{FF2B5EF4-FFF2-40B4-BE49-F238E27FC236}">
                <a16:creationId xmlns:a16="http://schemas.microsoft.com/office/drawing/2014/main" id="{DAC9FAFF-0205-FE1D-0291-3CFD42A70F28}"/>
              </a:ext>
            </a:extLst>
          </p:cNvPr>
          <p:cNvSpPr txBox="1"/>
          <p:nvPr/>
        </p:nvSpPr>
        <p:spPr>
          <a:xfrm>
            <a:off x="7994615" y="572050"/>
            <a:ext cx="1000133" cy="430887"/>
          </a:xfrm>
          <a:prstGeom prst="rect">
            <a:avLst/>
          </a:prstGeom>
          <a:noFill/>
        </p:spPr>
        <p:txBody>
          <a:bodyPr wrap="square" rtlCol="0">
            <a:spAutoFit/>
          </a:bodyPr>
          <a:lstStyle/>
          <a:p>
            <a:r>
              <a:rPr lang="en-US" altLang="zh-CN" sz="2200">
                <a:latin typeface="Consolas" pitchFamily="49" charset="0"/>
                <a:cs typeface="Consolas" pitchFamily="49" charset="0"/>
              </a:rPr>
              <a:t>path</a:t>
            </a:r>
            <a:r>
              <a:rPr lang="en-US" altLang="zh-CN" sz="2200" baseline="-25000">
                <a:latin typeface="Consolas" pitchFamily="49" charset="0"/>
                <a:cs typeface="Consolas" pitchFamily="49" charset="0"/>
              </a:rPr>
              <a:t>3</a:t>
            </a:r>
            <a:endParaRPr lang="zh-CN" altLang="en-US" sz="2200" baseline="-25000">
              <a:latin typeface="Consolas" pitchFamily="49" charset="0"/>
              <a:cs typeface="Consolas" pitchFamily="49" charset="0"/>
            </a:endParaRPr>
          </a:p>
        </p:txBody>
      </p:sp>
      <p:graphicFrame>
        <p:nvGraphicFramePr>
          <p:cNvPr id="7" name="表格 6">
            <a:extLst>
              <a:ext uri="{FF2B5EF4-FFF2-40B4-BE49-F238E27FC236}">
                <a16:creationId xmlns:a16="http://schemas.microsoft.com/office/drawing/2014/main" id="{F49BB429-D2BF-B449-9C8D-CEC4F47C1726}"/>
              </a:ext>
            </a:extLst>
          </p:cNvPr>
          <p:cNvGraphicFramePr>
            <a:graphicFrameLocks noGrp="1"/>
          </p:cNvGraphicFramePr>
          <p:nvPr>
            <p:extLst>
              <p:ext uri="{D42A27DB-BD31-4B8C-83A1-F6EECF244321}">
                <p14:modId xmlns:p14="http://schemas.microsoft.com/office/powerpoint/2010/main" val="3463451210"/>
              </p:ext>
            </p:extLst>
          </p:nvPr>
        </p:nvGraphicFramePr>
        <p:xfrm>
          <a:off x="6708732" y="1143554"/>
          <a:ext cx="3071835" cy="1854200"/>
        </p:xfrm>
        <a:graphic>
          <a:graphicData uri="http://schemas.openxmlformats.org/drawingml/2006/table">
            <a:tbl>
              <a:tblPr firstRow="1" bandRow="1">
                <a:tableStyleId>{E8B1032C-EA38-4F05-BA0D-38AFFFC7BED3}</a:tableStyleId>
              </a:tblPr>
              <a:tblGrid>
                <a:gridCol w="614367">
                  <a:extLst>
                    <a:ext uri="{9D8B030D-6E8A-4147-A177-3AD203B41FA5}">
                      <a16:colId xmlns:a16="http://schemas.microsoft.com/office/drawing/2014/main" val="20000"/>
                    </a:ext>
                  </a:extLst>
                </a:gridCol>
                <a:gridCol w="614367">
                  <a:extLst>
                    <a:ext uri="{9D8B030D-6E8A-4147-A177-3AD203B41FA5}">
                      <a16:colId xmlns:a16="http://schemas.microsoft.com/office/drawing/2014/main" val="20001"/>
                    </a:ext>
                  </a:extLst>
                </a:gridCol>
                <a:gridCol w="614367">
                  <a:extLst>
                    <a:ext uri="{9D8B030D-6E8A-4147-A177-3AD203B41FA5}">
                      <a16:colId xmlns:a16="http://schemas.microsoft.com/office/drawing/2014/main" val="20002"/>
                    </a:ext>
                  </a:extLst>
                </a:gridCol>
                <a:gridCol w="614367">
                  <a:extLst>
                    <a:ext uri="{9D8B030D-6E8A-4147-A177-3AD203B41FA5}">
                      <a16:colId xmlns:a16="http://schemas.microsoft.com/office/drawing/2014/main" val="20003"/>
                    </a:ext>
                  </a:extLst>
                </a:gridCol>
                <a:gridCol w="614367">
                  <a:extLst>
                    <a:ext uri="{9D8B030D-6E8A-4147-A177-3AD203B41FA5}">
                      <a16:colId xmlns:a16="http://schemas.microsoft.com/office/drawing/2014/main" val="20004"/>
                    </a:ext>
                  </a:extLst>
                </a:gridCol>
              </a:tblGrid>
              <a:tr h="370840">
                <a:tc>
                  <a:txBody>
                    <a:bodyPr/>
                    <a:lstStyle/>
                    <a:p>
                      <a:pPr algn="ctr"/>
                      <a:endParaRPr lang="zh-CN" altLang="en-US" b="1">
                        <a:solidFill>
                          <a:srgbClr val="3333FF"/>
                        </a:solidFill>
                        <a:latin typeface="Consolas" pitchFamily="49" charset="0"/>
                        <a:cs typeface="Consolas" pitchFamily="49" charset="0"/>
                      </a:endParaRPr>
                    </a:p>
                  </a:txBody>
                  <a:tcPr>
                    <a:solidFill>
                      <a:schemeClr val="tx2">
                        <a:lumMod val="40000"/>
                        <a:lumOff val="60000"/>
                      </a:schemeClr>
                    </a:solidFill>
                  </a:tcPr>
                </a:tc>
                <a:tc>
                  <a:txBody>
                    <a:bodyPr/>
                    <a:lstStyle/>
                    <a:p>
                      <a:pPr algn="ctr"/>
                      <a:r>
                        <a:rPr lang="en-US" altLang="zh-CN" sz="1600" b="1">
                          <a:solidFill>
                            <a:srgbClr val="FF0000"/>
                          </a:solidFill>
                          <a:latin typeface="Consolas" pitchFamily="49" charset="0"/>
                          <a:cs typeface="Consolas" pitchFamily="49" charset="0"/>
                        </a:rPr>
                        <a:t>0</a:t>
                      </a:r>
                      <a:endParaRPr lang="zh-CN" altLang="en-US" sz="1600" b="1">
                        <a:solidFill>
                          <a:srgbClr val="FF0000"/>
                        </a:solidFill>
                        <a:latin typeface="Consolas" pitchFamily="49" charset="0"/>
                        <a:cs typeface="Consolas" pitchFamily="49" charset="0"/>
                      </a:endParaRPr>
                    </a:p>
                  </a:txBody>
                  <a:tcPr>
                    <a:solidFill>
                      <a:schemeClr val="tx2">
                        <a:lumMod val="40000"/>
                        <a:lumOff val="60000"/>
                      </a:schemeClr>
                    </a:solidFill>
                  </a:tcPr>
                </a:tc>
                <a:tc>
                  <a:txBody>
                    <a:bodyPr/>
                    <a:lstStyle/>
                    <a:p>
                      <a:pPr algn="ctr"/>
                      <a:r>
                        <a:rPr lang="en-US" altLang="zh-CN" sz="1600" b="1">
                          <a:solidFill>
                            <a:srgbClr val="FF0000"/>
                          </a:solidFill>
                          <a:latin typeface="Consolas" pitchFamily="49" charset="0"/>
                          <a:cs typeface="Consolas" pitchFamily="49" charset="0"/>
                        </a:rPr>
                        <a:t>1</a:t>
                      </a:r>
                      <a:endParaRPr lang="zh-CN" altLang="en-US" sz="1600" b="1">
                        <a:solidFill>
                          <a:srgbClr val="FF0000"/>
                        </a:solidFill>
                        <a:latin typeface="Consolas" pitchFamily="49" charset="0"/>
                        <a:cs typeface="Consolas" pitchFamily="49" charset="0"/>
                      </a:endParaRPr>
                    </a:p>
                  </a:txBody>
                  <a:tcPr>
                    <a:solidFill>
                      <a:schemeClr val="tx2">
                        <a:lumMod val="40000"/>
                        <a:lumOff val="60000"/>
                      </a:schemeClr>
                    </a:solidFill>
                  </a:tcPr>
                </a:tc>
                <a:tc>
                  <a:txBody>
                    <a:bodyPr/>
                    <a:lstStyle/>
                    <a:p>
                      <a:pPr algn="ctr"/>
                      <a:r>
                        <a:rPr lang="en-US" altLang="zh-CN" sz="1600" b="1">
                          <a:solidFill>
                            <a:srgbClr val="FF0000"/>
                          </a:solidFill>
                          <a:latin typeface="Consolas" pitchFamily="49" charset="0"/>
                          <a:cs typeface="Consolas" pitchFamily="49" charset="0"/>
                        </a:rPr>
                        <a:t>2</a:t>
                      </a:r>
                      <a:endParaRPr lang="zh-CN" altLang="en-US" sz="1600" b="1">
                        <a:solidFill>
                          <a:srgbClr val="FF0000"/>
                        </a:solidFill>
                        <a:latin typeface="Consolas" pitchFamily="49" charset="0"/>
                        <a:cs typeface="Consolas" pitchFamily="49" charset="0"/>
                      </a:endParaRPr>
                    </a:p>
                  </a:txBody>
                  <a:tcPr>
                    <a:solidFill>
                      <a:schemeClr val="tx2">
                        <a:lumMod val="40000"/>
                        <a:lumOff val="60000"/>
                      </a:schemeClr>
                    </a:solidFill>
                  </a:tcPr>
                </a:tc>
                <a:tc>
                  <a:txBody>
                    <a:bodyPr/>
                    <a:lstStyle/>
                    <a:p>
                      <a:pPr algn="ctr"/>
                      <a:r>
                        <a:rPr lang="en-US" altLang="zh-CN" sz="1600" b="1">
                          <a:solidFill>
                            <a:srgbClr val="FF0000"/>
                          </a:solidFill>
                          <a:latin typeface="Consolas" pitchFamily="49" charset="0"/>
                          <a:cs typeface="Consolas" pitchFamily="49" charset="0"/>
                        </a:rPr>
                        <a:t>3</a:t>
                      </a:r>
                      <a:endParaRPr lang="zh-CN" altLang="en-US" sz="1600" b="1">
                        <a:solidFill>
                          <a:srgbClr val="FF0000"/>
                        </a:solidFill>
                        <a:latin typeface="Consolas" pitchFamily="49" charset="0"/>
                        <a:cs typeface="Consolas" pitchFamily="49" charset="0"/>
                      </a:endParaRPr>
                    </a:p>
                  </a:txBody>
                  <a:tcPr>
                    <a:solidFill>
                      <a:schemeClr val="tx2">
                        <a:lumMod val="40000"/>
                        <a:lumOff val="60000"/>
                      </a:schemeClr>
                    </a:solidFill>
                  </a:tcPr>
                </a:tc>
                <a:extLst>
                  <a:ext uri="{0D108BD9-81ED-4DB2-BD59-A6C34878D82A}">
                    <a16:rowId xmlns:a16="http://schemas.microsoft.com/office/drawing/2014/main" val="10000"/>
                  </a:ext>
                </a:extLst>
              </a:tr>
              <a:tr h="370840">
                <a:tc>
                  <a:txBody>
                    <a:bodyPr/>
                    <a:lstStyle/>
                    <a:p>
                      <a:pPr algn="ctr"/>
                      <a:r>
                        <a:rPr lang="en-US" altLang="zh-CN" sz="1600" b="1">
                          <a:solidFill>
                            <a:srgbClr val="FF0000"/>
                          </a:solidFill>
                          <a:latin typeface="Consolas" pitchFamily="49" charset="0"/>
                          <a:cs typeface="Consolas" pitchFamily="49" charset="0"/>
                        </a:rPr>
                        <a:t>0</a:t>
                      </a:r>
                      <a:endParaRPr lang="zh-CN" altLang="en-US" sz="1600" b="1">
                        <a:solidFill>
                          <a:srgbClr val="FF0000"/>
                        </a:solidFill>
                        <a:latin typeface="Consolas" pitchFamily="49" charset="0"/>
                        <a:cs typeface="Consolas" pitchFamily="49" charset="0"/>
                      </a:endParaRPr>
                    </a:p>
                  </a:txBody>
                  <a:tcPr>
                    <a:solidFill>
                      <a:schemeClr val="tx2">
                        <a:lumMod val="40000"/>
                        <a:lumOff val="60000"/>
                      </a:schemeClr>
                    </a:solidFill>
                  </a:tcPr>
                </a:tc>
                <a:tc>
                  <a:txBody>
                    <a:bodyPr/>
                    <a:lstStyle/>
                    <a:p>
                      <a:pPr algn="ctr"/>
                      <a:r>
                        <a:rPr lang="en-US" altLang="zh-CN" b="1">
                          <a:solidFill>
                            <a:srgbClr val="3333FF"/>
                          </a:solidFill>
                          <a:latin typeface="Consolas" pitchFamily="49" charset="0"/>
                          <a:ea typeface="+mj-ea"/>
                          <a:cs typeface="Consolas" pitchFamily="49" charset="0"/>
                        </a:rPr>
                        <a:t>-</a:t>
                      </a:r>
                      <a:r>
                        <a:rPr lang="en-US" altLang="zh-CN" b="1">
                          <a:solidFill>
                            <a:srgbClr val="3333FF"/>
                          </a:solidFill>
                          <a:latin typeface="Consolas" pitchFamily="49" charset="0"/>
                          <a:cs typeface="Consolas" pitchFamily="49" charset="0"/>
                        </a:rPr>
                        <a:t>1</a:t>
                      </a:r>
                      <a:endParaRPr lang="zh-CN" altLang="en-US" b="1">
                        <a:solidFill>
                          <a:srgbClr val="3333FF"/>
                        </a:solidFill>
                        <a:latin typeface="Consolas" pitchFamily="49" charset="0"/>
                        <a:cs typeface="Consolas" pitchFamily="49" charset="0"/>
                      </a:endParaRPr>
                    </a:p>
                  </a:txBody>
                  <a:tcPr/>
                </a:tc>
                <a:tc>
                  <a:txBody>
                    <a:bodyPr/>
                    <a:lstStyle/>
                    <a:p>
                      <a:pPr algn="ctr"/>
                      <a:r>
                        <a:rPr lang="en-US" altLang="zh-CN" b="1">
                          <a:solidFill>
                            <a:srgbClr val="3333FF"/>
                          </a:solidFill>
                          <a:latin typeface="Consolas" pitchFamily="49" charset="0"/>
                          <a:cs typeface="Consolas" pitchFamily="49" charset="0"/>
                        </a:rPr>
                        <a:t>0</a:t>
                      </a:r>
                      <a:endParaRPr lang="zh-CN" altLang="en-US" b="1">
                        <a:solidFill>
                          <a:srgbClr val="3333FF"/>
                        </a:solidFill>
                        <a:latin typeface="Consolas" pitchFamily="49" charset="0"/>
                        <a:cs typeface="Consolas" pitchFamily="49" charset="0"/>
                      </a:endParaRPr>
                    </a:p>
                  </a:txBody>
                  <a:tcPr/>
                </a:tc>
                <a:tc>
                  <a:txBody>
                    <a:bodyPr/>
                    <a:lstStyle/>
                    <a:p>
                      <a:pPr algn="ctr"/>
                      <a:r>
                        <a:rPr lang="en-US" altLang="zh-CN" b="1">
                          <a:solidFill>
                            <a:srgbClr val="3333FF"/>
                          </a:solidFill>
                          <a:latin typeface="Consolas" pitchFamily="49" charset="0"/>
                          <a:cs typeface="Consolas" pitchFamily="49" charset="0"/>
                        </a:rPr>
                        <a:t>3</a:t>
                      </a:r>
                      <a:endParaRPr lang="zh-CN" altLang="en-US" b="1">
                        <a:solidFill>
                          <a:srgbClr val="3333FF"/>
                        </a:solidFill>
                        <a:latin typeface="Consolas" pitchFamily="49" charset="0"/>
                        <a:cs typeface="Consolas" pitchFamily="49" charset="0"/>
                      </a:endParaRPr>
                    </a:p>
                  </a:txBody>
                  <a:tcPr/>
                </a:tc>
                <a:tc>
                  <a:txBody>
                    <a:bodyPr/>
                    <a:lstStyle/>
                    <a:p>
                      <a:pPr algn="ctr"/>
                      <a:r>
                        <a:rPr lang="en-US" altLang="zh-CN" b="1">
                          <a:solidFill>
                            <a:srgbClr val="3333FF"/>
                          </a:solidFill>
                          <a:latin typeface="Consolas" pitchFamily="49" charset="0"/>
                          <a:cs typeface="Consolas" pitchFamily="49" charset="0"/>
                        </a:rPr>
                        <a:t>0</a:t>
                      </a:r>
                      <a:endParaRPr lang="zh-CN" altLang="en-US" b="1">
                        <a:solidFill>
                          <a:srgbClr val="3333FF"/>
                        </a:solidFill>
                        <a:latin typeface="Consolas" pitchFamily="49" charset="0"/>
                        <a:cs typeface="Consolas" pitchFamily="49" charset="0"/>
                      </a:endParaRPr>
                    </a:p>
                  </a:txBody>
                  <a:tcPr/>
                </a:tc>
                <a:extLst>
                  <a:ext uri="{0D108BD9-81ED-4DB2-BD59-A6C34878D82A}">
                    <a16:rowId xmlns:a16="http://schemas.microsoft.com/office/drawing/2014/main" val="10001"/>
                  </a:ext>
                </a:extLst>
              </a:tr>
              <a:tr h="370840">
                <a:tc>
                  <a:txBody>
                    <a:bodyPr/>
                    <a:lstStyle/>
                    <a:p>
                      <a:pPr algn="ctr"/>
                      <a:r>
                        <a:rPr lang="en-US" altLang="zh-CN" sz="1600" b="1">
                          <a:solidFill>
                            <a:srgbClr val="FF0000"/>
                          </a:solidFill>
                          <a:latin typeface="Consolas" pitchFamily="49" charset="0"/>
                          <a:cs typeface="Consolas" pitchFamily="49" charset="0"/>
                        </a:rPr>
                        <a:t>1</a:t>
                      </a:r>
                      <a:endParaRPr lang="zh-CN" altLang="en-US" sz="1600" b="1">
                        <a:solidFill>
                          <a:srgbClr val="FF0000"/>
                        </a:solidFill>
                        <a:latin typeface="Consolas" pitchFamily="49" charset="0"/>
                        <a:cs typeface="Consolas" pitchFamily="49" charset="0"/>
                      </a:endParaRPr>
                    </a:p>
                  </a:txBody>
                  <a:tcPr>
                    <a:solidFill>
                      <a:schemeClr val="tx2">
                        <a:lumMod val="40000"/>
                        <a:lumOff val="6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b="1">
                          <a:solidFill>
                            <a:srgbClr val="3333FF"/>
                          </a:solidFill>
                          <a:latin typeface="Consolas" pitchFamily="49" charset="0"/>
                          <a:ea typeface="+mj-ea"/>
                          <a:cs typeface="Consolas" pitchFamily="49" charset="0"/>
                        </a:rPr>
                        <a:t>2</a:t>
                      </a:r>
                      <a:endParaRPr lang="zh-CN" altLang="en-US" b="1">
                        <a:solidFill>
                          <a:srgbClr val="3333FF"/>
                        </a:solidFill>
                        <a:latin typeface="Consolas" pitchFamily="49" charset="0"/>
                        <a:cs typeface="Consolas" pitchFamily="49" charset="0"/>
                      </a:endParaRPr>
                    </a:p>
                  </a:txBody>
                  <a:tcPr/>
                </a:tc>
                <a:tc>
                  <a:txBody>
                    <a:bodyPr/>
                    <a:lstStyle/>
                    <a:p>
                      <a:pPr algn="ctr"/>
                      <a:r>
                        <a:rPr lang="en-US" altLang="zh-CN" b="1">
                          <a:solidFill>
                            <a:srgbClr val="3333FF"/>
                          </a:solidFill>
                          <a:latin typeface="Consolas" pitchFamily="49" charset="0"/>
                          <a:ea typeface="+mn-ea"/>
                          <a:cs typeface="Consolas" pitchFamily="49" charset="0"/>
                        </a:rPr>
                        <a:t>-</a:t>
                      </a:r>
                      <a:r>
                        <a:rPr lang="en-US" altLang="zh-CN" b="1">
                          <a:solidFill>
                            <a:srgbClr val="3333FF"/>
                          </a:solidFill>
                          <a:latin typeface="Consolas" pitchFamily="49" charset="0"/>
                          <a:cs typeface="Consolas" pitchFamily="49" charset="0"/>
                        </a:rPr>
                        <a:t>1</a:t>
                      </a:r>
                      <a:endParaRPr lang="zh-CN" altLang="en-US" b="1">
                        <a:solidFill>
                          <a:srgbClr val="3333FF"/>
                        </a:solidFill>
                        <a:latin typeface="Consolas" pitchFamily="49" charset="0"/>
                        <a:cs typeface="Consolas" pitchFamily="49" charset="0"/>
                      </a:endParaRPr>
                    </a:p>
                  </a:txBody>
                  <a:tcPr/>
                </a:tc>
                <a:tc>
                  <a:txBody>
                    <a:bodyPr/>
                    <a:lstStyle/>
                    <a:p>
                      <a:pPr algn="ctr"/>
                      <a:r>
                        <a:rPr lang="en-US" altLang="zh-CN" b="1">
                          <a:solidFill>
                            <a:srgbClr val="3333FF"/>
                          </a:solidFill>
                          <a:latin typeface="Consolas" pitchFamily="49" charset="0"/>
                          <a:cs typeface="Consolas" pitchFamily="49" charset="0"/>
                        </a:rPr>
                        <a:t>3</a:t>
                      </a:r>
                      <a:endParaRPr lang="zh-CN" altLang="en-US" b="1">
                        <a:solidFill>
                          <a:srgbClr val="3333FF"/>
                        </a:solidFill>
                        <a:latin typeface="Consolas" pitchFamily="49" charset="0"/>
                        <a:cs typeface="Consolas" pitchFamily="49" charset="0"/>
                      </a:endParaRPr>
                    </a:p>
                  </a:txBody>
                  <a:tcPr/>
                </a:tc>
                <a:tc>
                  <a:txBody>
                    <a:bodyPr/>
                    <a:lstStyle/>
                    <a:p>
                      <a:pPr algn="ctr"/>
                      <a:r>
                        <a:rPr lang="en-US" altLang="zh-CN" b="1">
                          <a:solidFill>
                            <a:srgbClr val="3333FF"/>
                          </a:solidFill>
                          <a:latin typeface="Consolas" pitchFamily="49" charset="0"/>
                          <a:cs typeface="Consolas" pitchFamily="49" charset="0"/>
                        </a:rPr>
                        <a:t>1</a:t>
                      </a:r>
                      <a:endParaRPr lang="zh-CN" altLang="en-US" b="1">
                        <a:solidFill>
                          <a:srgbClr val="3333FF"/>
                        </a:solidFill>
                        <a:latin typeface="Consolas" pitchFamily="49" charset="0"/>
                        <a:cs typeface="Consolas" pitchFamily="49" charset="0"/>
                      </a:endParaRPr>
                    </a:p>
                  </a:txBody>
                  <a:tcPr/>
                </a:tc>
                <a:extLst>
                  <a:ext uri="{0D108BD9-81ED-4DB2-BD59-A6C34878D82A}">
                    <a16:rowId xmlns:a16="http://schemas.microsoft.com/office/drawing/2014/main" val="10002"/>
                  </a:ext>
                </a:extLst>
              </a:tr>
              <a:tr h="370840">
                <a:tc>
                  <a:txBody>
                    <a:bodyPr/>
                    <a:lstStyle/>
                    <a:p>
                      <a:pPr algn="ctr"/>
                      <a:r>
                        <a:rPr lang="en-US" altLang="zh-CN" sz="1600" b="1">
                          <a:solidFill>
                            <a:srgbClr val="FF0000"/>
                          </a:solidFill>
                          <a:latin typeface="Consolas" pitchFamily="49" charset="0"/>
                          <a:cs typeface="Consolas" pitchFamily="49" charset="0"/>
                        </a:rPr>
                        <a:t>2</a:t>
                      </a:r>
                      <a:endParaRPr lang="zh-CN" altLang="en-US" sz="1600" b="1">
                        <a:solidFill>
                          <a:srgbClr val="FF0000"/>
                        </a:solidFill>
                        <a:latin typeface="Consolas" pitchFamily="49" charset="0"/>
                        <a:cs typeface="Consolas" pitchFamily="49" charset="0"/>
                      </a:endParaRPr>
                    </a:p>
                  </a:txBody>
                  <a:tcPr>
                    <a:solidFill>
                      <a:schemeClr val="tx2">
                        <a:lumMod val="40000"/>
                        <a:lumOff val="60000"/>
                      </a:schemeClr>
                    </a:solidFill>
                  </a:tcPr>
                </a:tc>
                <a:tc>
                  <a:txBody>
                    <a:bodyPr/>
                    <a:lstStyle/>
                    <a:p>
                      <a:pPr algn="ctr"/>
                      <a:r>
                        <a:rPr lang="en-US" altLang="zh-CN" b="1">
                          <a:solidFill>
                            <a:srgbClr val="3333FF"/>
                          </a:solidFill>
                          <a:latin typeface="Consolas" pitchFamily="49" charset="0"/>
                          <a:cs typeface="Consolas" pitchFamily="49" charset="0"/>
                        </a:rPr>
                        <a:t>2</a:t>
                      </a:r>
                      <a:endParaRPr lang="zh-CN" altLang="en-US" b="1">
                        <a:solidFill>
                          <a:srgbClr val="3333FF"/>
                        </a:solidFill>
                        <a:latin typeface="Consolas" pitchFamily="49" charset="0"/>
                        <a:cs typeface="Consolas" pitchFamily="49" charset="0"/>
                      </a:endParaRPr>
                    </a:p>
                  </a:txBody>
                  <a:tcPr/>
                </a:tc>
                <a:tc>
                  <a:txBody>
                    <a:bodyPr/>
                    <a:lstStyle/>
                    <a:p>
                      <a:pPr algn="ctr"/>
                      <a:r>
                        <a:rPr lang="en-US" altLang="zh-CN" b="1">
                          <a:solidFill>
                            <a:srgbClr val="3333FF"/>
                          </a:solidFill>
                          <a:latin typeface="Consolas" pitchFamily="49" charset="0"/>
                          <a:cs typeface="Consolas" pitchFamily="49" charset="0"/>
                        </a:rPr>
                        <a:t>2</a:t>
                      </a:r>
                      <a:endParaRPr lang="zh-CN" altLang="en-US" b="1">
                        <a:solidFill>
                          <a:srgbClr val="3333FF"/>
                        </a:solidFill>
                        <a:latin typeface="Consolas" pitchFamily="49" charset="0"/>
                        <a:cs typeface="Consolas" pitchFamily="49" charset="0"/>
                      </a:endParaRPr>
                    </a:p>
                  </a:txBody>
                  <a:tcPr/>
                </a:tc>
                <a:tc>
                  <a:txBody>
                    <a:bodyPr/>
                    <a:lstStyle/>
                    <a:p>
                      <a:pPr algn="ctr"/>
                      <a:r>
                        <a:rPr lang="en-US" altLang="zh-CN" b="1">
                          <a:solidFill>
                            <a:srgbClr val="3333FF"/>
                          </a:solidFill>
                          <a:latin typeface="Consolas" pitchFamily="49" charset="0"/>
                          <a:ea typeface="+mj-ea"/>
                          <a:cs typeface="Consolas" pitchFamily="49" charset="0"/>
                        </a:rPr>
                        <a:t>-</a:t>
                      </a:r>
                      <a:r>
                        <a:rPr lang="en-US" altLang="zh-CN" b="1">
                          <a:solidFill>
                            <a:srgbClr val="3333FF"/>
                          </a:solidFill>
                          <a:latin typeface="Consolas" pitchFamily="49" charset="0"/>
                          <a:cs typeface="Consolas" pitchFamily="49" charset="0"/>
                        </a:rPr>
                        <a:t>1</a:t>
                      </a:r>
                      <a:endParaRPr lang="zh-CN" altLang="en-US" b="1">
                        <a:solidFill>
                          <a:srgbClr val="3333FF"/>
                        </a:solidFill>
                        <a:latin typeface="Consolas" pitchFamily="49" charset="0"/>
                        <a:cs typeface="Consolas" pitchFamily="49" charset="0"/>
                      </a:endParaRPr>
                    </a:p>
                  </a:txBody>
                  <a:tcPr/>
                </a:tc>
                <a:tc>
                  <a:txBody>
                    <a:bodyPr/>
                    <a:lstStyle/>
                    <a:p>
                      <a:pPr algn="ctr"/>
                      <a:r>
                        <a:rPr lang="en-US" altLang="zh-CN" b="1">
                          <a:solidFill>
                            <a:srgbClr val="3333FF"/>
                          </a:solidFill>
                          <a:latin typeface="Consolas" pitchFamily="49" charset="0"/>
                          <a:cs typeface="Consolas" pitchFamily="49" charset="0"/>
                        </a:rPr>
                        <a:t>2</a:t>
                      </a:r>
                      <a:endParaRPr lang="zh-CN" altLang="en-US" b="1">
                        <a:solidFill>
                          <a:srgbClr val="3333FF"/>
                        </a:solidFill>
                        <a:latin typeface="Consolas" pitchFamily="49" charset="0"/>
                        <a:cs typeface="Consolas" pitchFamily="49" charset="0"/>
                      </a:endParaRPr>
                    </a:p>
                  </a:txBody>
                  <a:tcPr/>
                </a:tc>
                <a:extLst>
                  <a:ext uri="{0D108BD9-81ED-4DB2-BD59-A6C34878D82A}">
                    <a16:rowId xmlns:a16="http://schemas.microsoft.com/office/drawing/2014/main" val="10003"/>
                  </a:ext>
                </a:extLst>
              </a:tr>
              <a:tr h="370840">
                <a:tc>
                  <a:txBody>
                    <a:bodyPr/>
                    <a:lstStyle/>
                    <a:p>
                      <a:pPr algn="ctr"/>
                      <a:r>
                        <a:rPr lang="en-US" altLang="zh-CN" sz="1600" b="1">
                          <a:solidFill>
                            <a:srgbClr val="FF0000"/>
                          </a:solidFill>
                          <a:latin typeface="Consolas" pitchFamily="49" charset="0"/>
                          <a:cs typeface="Consolas" pitchFamily="49" charset="0"/>
                        </a:rPr>
                        <a:t>3</a:t>
                      </a:r>
                      <a:endParaRPr lang="zh-CN" altLang="en-US" sz="1600" b="1">
                        <a:solidFill>
                          <a:srgbClr val="FF0000"/>
                        </a:solidFill>
                        <a:latin typeface="Consolas" pitchFamily="49" charset="0"/>
                        <a:cs typeface="Consolas" pitchFamily="49" charset="0"/>
                      </a:endParaRPr>
                    </a:p>
                  </a:txBody>
                  <a:tcPr>
                    <a:solidFill>
                      <a:schemeClr val="tx2">
                        <a:lumMod val="40000"/>
                        <a:lumOff val="6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b="1">
                          <a:solidFill>
                            <a:srgbClr val="3333FF"/>
                          </a:solidFill>
                          <a:latin typeface="Consolas" pitchFamily="49" charset="0"/>
                          <a:ea typeface="+mn-ea"/>
                          <a:cs typeface="Consolas" pitchFamily="49" charset="0"/>
                        </a:rPr>
                        <a:t>2</a:t>
                      </a:r>
                      <a:endParaRPr lang="zh-CN" altLang="en-US" b="1">
                        <a:solidFill>
                          <a:srgbClr val="3333FF"/>
                        </a:solidFill>
                        <a:latin typeface="Consolas" pitchFamily="49" charset="0"/>
                        <a:cs typeface="Consolas"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b="1">
                          <a:solidFill>
                            <a:srgbClr val="3333FF"/>
                          </a:solidFill>
                          <a:latin typeface="Consolas" pitchFamily="49" charset="0"/>
                          <a:ea typeface="+mn-ea"/>
                          <a:cs typeface="Consolas" pitchFamily="49" charset="0"/>
                        </a:rPr>
                        <a:t>2</a:t>
                      </a:r>
                      <a:endParaRPr lang="zh-CN" altLang="en-US" b="1">
                        <a:solidFill>
                          <a:srgbClr val="3333FF"/>
                        </a:solidFill>
                        <a:latin typeface="Consolas" pitchFamily="49" charset="0"/>
                        <a:cs typeface="Consolas" pitchFamily="49" charset="0"/>
                      </a:endParaRPr>
                    </a:p>
                  </a:txBody>
                  <a:tcPr/>
                </a:tc>
                <a:tc>
                  <a:txBody>
                    <a:bodyPr/>
                    <a:lstStyle/>
                    <a:p>
                      <a:pPr algn="ctr"/>
                      <a:r>
                        <a:rPr lang="en-US" altLang="zh-CN" b="1">
                          <a:solidFill>
                            <a:srgbClr val="3333FF"/>
                          </a:solidFill>
                          <a:latin typeface="Consolas" pitchFamily="49" charset="0"/>
                          <a:cs typeface="Consolas" pitchFamily="49" charset="0"/>
                        </a:rPr>
                        <a:t>3</a:t>
                      </a:r>
                      <a:endParaRPr lang="zh-CN" altLang="en-US" b="1">
                        <a:solidFill>
                          <a:srgbClr val="3333FF"/>
                        </a:solidFill>
                        <a:latin typeface="Consolas" pitchFamily="49" charset="0"/>
                        <a:cs typeface="Consolas" pitchFamily="49" charset="0"/>
                      </a:endParaRPr>
                    </a:p>
                  </a:txBody>
                  <a:tcPr/>
                </a:tc>
                <a:tc>
                  <a:txBody>
                    <a:bodyPr/>
                    <a:lstStyle/>
                    <a:p>
                      <a:pPr algn="ctr"/>
                      <a:r>
                        <a:rPr lang="en-US" altLang="zh-CN" b="1">
                          <a:solidFill>
                            <a:srgbClr val="3333FF"/>
                          </a:solidFill>
                          <a:latin typeface="Consolas" pitchFamily="49" charset="0"/>
                          <a:ea typeface="+mn-ea"/>
                          <a:cs typeface="Consolas" pitchFamily="49" charset="0"/>
                        </a:rPr>
                        <a:t>-</a:t>
                      </a:r>
                      <a:r>
                        <a:rPr lang="en-US" altLang="zh-CN" b="1">
                          <a:solidFill>
                            <a:srgbClr val="3333FF"/>
                          </a:solidFill>
                          <a:latin typeface="Consolas" pitchFamily="49" charset="0"/>
                          <a:cs typeface="Consolas" pitchFamily="49" charset="0"/>
                        </a:rPr>
                        <a:t>1</a:t>
                      </a:r>
                      <a:endParaRPr lang="zh-CN" altLang="en-US" b="1">
                        <a:solidFill>
                          <a:srgbClr val="3333FF"/>
                        </a:solidFill>
                        <a:latin typeface="Consolas" pitchFamily="49" charset="0"/>
                        <a:cs typeface="Consolas" pitchFamily="49" charset="0"/>
                      </a:endParaRPr>
                    </a:p>
                  </a:txBody>
                  <a:tcPr/>
                </a:tc>
                <a:extLst>
                  <a:ext uri="{0D108BD9-81ED-4DB2-BD59-A6C34878D82A}">
                    <a16:rowId xmlns:a16="http://schemas.microsoft.com/office/drawing/2014/main" val="10004"/>
                  </a:ext>
                </a:extLst>
              </a:tr>
            </a:tbl>
          </a:graphicData>
        </a:graphic>
      </p:graphicFrame>
      <p:grpSp>
        <p:nvGrpSpPr>
          <p:cNvPr id="8" name="组合 25">
            <a:extLst>
              <a:ext uri="{FF2B5EF4-FFF2-40B4-BE49-F238E27FC236}">
                <a16:creationId xmlns:a16="http://schemas.microsoft.com/office/drawing/2014/main" id="{99BE8297-5A65-104B-A2E5-EF8C03AB1DC9}"/>
              </a:ext>
            </a:extLst>
          </p:cNvPr>
          <p:cNvGrpSpPr/>
          <p:nvPr/>
        </p:nvGrpSpPr>
        <p:grpSpPr>
          <a:xfrm>
            <a:off x="3851211" y="1794434"/>
            <a:ext cx="676281" cy="2778145"/>
            <a:chOff x="2071669" y="1436674"/>
            <a:chExt cx="676281" cy="2753383"/>
          </a:xfrm>
        </p:grpSpPr>
        <p:sp>
          <p:nvSpPr>
            <p:cNvPr id="9" name="椭圆 8">
              <a:extLst>
                <a:ext uri="{FF2B5EF4-FFF2-40B4-BE49-F238E27FC236}">
                  <a16:creationId xmlns:a16="http://schemas.microsoft.com/office/drawing/2014/main" id="{3148A056-2EA8-A2AD-AF4C-19CEFB2E984E}"/>
                </a:ext>
              </a:extLst>
            </p:cNvPr>
            <p:cNvSpPr/>
            <p:nvPr/>
          </p:nvSpPr>
          <p:spPr>
            <a:xfrm>
              <a:off x="2105008" y="1436674"/>
              <a:ext cx="642942" cy="571504"/>
            </a:xfrm>
            <a:prstGeom prst="ellipse">
              <a:avLst/>
            </a:prstGeom>
            <a:solidFill>
              <a:schemeClr val="accent1">
                <a:alpha val="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Consolas" pitchFamily="49" charset="0"/>
                <a:cs typeface="Consolas" pitchFamily="49" charset="0"/>
              </a:endParaRPr>
            </a:p>
          </p:txBody>
        </p:sp>
        <p:cxnSp>
          <p:nvCxnSpPr>
            <p:cNvPr id="10" name="直接箭头连接符 9">
              <a:extLst>
                <a:ext uri="{FF2B5EF4-FFF2-40B4-BE49-F238E27FC236}">
                  <a16:creationId xmlns:a16="http://schemas.microsoft.com/office/drawing/2014/main" id="{1822167C-3640-6B37-09B6-44965399B955}"/>
                </a:ext>
              </a:extLst>
            </p:cNvPr>
            <p:cNvCxnSpPr>
              <a:endCxn id="9" idx="4"/>
            </p:cNvCxnSpPr>
            <p:nvPr/>
          </p:nvCxnSpPr>
          <p:spPr>
            <a:xfrm rot="5400000" flipH="1" flipV="1">
              <a:off x="1158135" y="2921713"/>
              <a:ext cx="2181878" cy="354809"/>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1" name="TextBox 18">
              <a:extLst>
                <a:ext uri="{FF2B5EF4-FFF2-40B4-BE49-F238E27FC236}">
                  <a16:creationId xmlns:a16="http://schemas.microsoft.com/office/drawing/2014/main" id="{385C142A-7FC7-7351-4DE5-2AA477D59364}"/>
                </a:ext>
              </a:extLst>
            </p:cNvPr>
            <p:cNvSpPr txBox="1"/>
            <p:nvPr/>
          </p:nvSpPr>
          <p:spPr>
            <a:xfrm>
              <a:off x="2187874" y="1549400"/>
              <a:ext cx="468000" cy="369332"/>
            </a:xfrm>
            <a:prstGeom prst="rect">
              <a:avLst/>
            </a:prstGeom>
          </p:spPr>
          <p:style>
            <a:lnRef idx="1">
              <a:schemeClr val="accent1"/>
            </a:lnRef>
            <a:fillRef idx="2">
              <a:schemeClr val="accent1"/>
            </a:fillRef>
            <a:effectRef idx="1">
              <a:schemeClr val="accent1"/>
            </a:effectRef>
            <a:fontRef idx="minor">
              <a:schemeClr val="dk1"/>
            </a:fontRef>
          </p:style>
          <p:txBody>
            <a:bodyPr wrap="square" lIns="0" tIns="0" rIns="0" bIns="0" rtlCol="0">
              <a:spAutoFit/>
            </a:bodyPr>
            <a:lstStyle/>
            <a:p>
              <a:pPr algn="ctr"/>
              <a:r>
                <a:rPr lang="en-US" altLang="zh-CN">
                  <a:solidFill>
                    <a:srgbClr val="FF0000"/>
                  </a:solidFill>
                  <a:latin typeface="Consolas" pitchFamily="49" charset="0"/>
                  <a:ea typeface="楷体" pitchFamily="49" charset="-122"/>
                  <a:cs typeface="Consolas" pitchFamily="49" charset="0"/>
                </a:rPr>
                <a:t>6</a:t>
              </a:r>
              <a:endParaRPr lang="zh-CN" altLang="en-US">
                <a:solidFill>
                  <a:srgbClr val="FF0000"/>
                </a:solidFill>
                <a:latin typeface="Consolas" pitchFamily="49" charset="0"/>
                <a:ea typeface="楷体" pitchFamily="49" charset="-122"/>
                <a:cs typeface="Consolas" pitchFamily="49" charset="0"/>
              </a:endParaRPr>
            </a:p>
          </p:txBody>
        </p:sp>
      </p:grpSp>
      <p:sp>
        <p:nvSpPr>
          <p:cNvPr id="12" name="TextBox 22">
            <a:extLst>
              <a:ext uri="{FF2B5EF4-FFF2-40B4-BE49-F238E27FC236}">
                <a16:creationId xmlns:a16="http://schemas.microsoft.com/office/drawing/2014/main" id="{186E0B1D-1B9D-B7EC-CA90-0FA5C382F700}"/>
              </a:ext>
            </a:extLst>
          </p:cNvPr>
          <p:cNvSpPr txBox="1"/>
          <p:nvPr/>
        </p:nvSpPr>
        <p:spPr>
          <a:xfrm>
            <a:off x="1993824" y="572050"/>
            <a:ext cx="1785950" cy="400110"/>
          </a:xfrm>
          <a:prstGeom prst="rect">
            <a:avLst/>
          </a:prstGeom>
          <a:noFill/>
        </p:spPr>
        <p:txBody>
          <a:bodyPr wrap="square" rtlCol="0">
            <a:spAutoFit/>
          </a:bodyPr>
          <a:lstStyle/>
          <a:p>
            <a:r>
              <a:rPr lang="zh-CN" altLang="en-US" sz="2000">
                <a:solidFill>
                  <a:srgbClr val="FF0000"/>
                </a:solidFill>
                <a:latin typeface="微软雅黑" pitchFamily="34" charset="-122"/>
                <a:ea typeface="微软雅黑" pitchFamily="34" charset="-122"/>
                <a:cs typeface="Consolas" pitchFamily="49" charset="0"/>
              </a:rPr>
              <a:t>求最终结果</a:t>
            </a:r>
          </a:p>
        </p:txBody>
      </p:sp>
    </p:spTree>
    <p:extLst>
      <p:ext uri="{BB962C8B-B14F-4D97-AF65-F5344CB8AC3E}">
        <p14:creationId xmlns:p14="http://schemas.microsoft.com/office/powerpoint/2010/main" val="163615486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par>
                          <p:cTn id="11" fill="hold">
                            <p:stCondLst>
                              <p:cond delay="0"/>
                            </p:stCondLst>
                            <p:childTnLst>
                              <p:par>
                                <p:cTn id="12" presetID="1" presetClass="entr" presetSubtype="0" fill="hold" nodeType="afterEffect">
                                  <p:stCondLst>
                                    <p:cond delay="0"/>
                                  </p:stCondLst>
                                  <p:childTnLst>
                                    <p:set>
                                      <p:cBhvr>
                                        <p:cTn id="13" dur="1" fill="hold">
                                          <p:stCondLst>
                                            <p:cond delay="0"/>
                                          </p:stCondLst>
                                        </p:cTn>
                                        <p:tgtEl>
                                          <p:spTgt spid="8"/>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F52B55-0ECD-EAFB-91C6-A016802F733F}"/>
            </a:ext>
          </a:extLst>
        </p:cNvPr>
        <p:cNvGrpSpPr/>
        <p:nvPr/>
      </p:nvGrpSpPr>
      <p:grpSpPr>
        <a:xfrm>
          <a:off x="0" y="0"/>
          <a:ext cx="0" cy="0"/>
          <a:chOff x="0" y="0"/>
          <a:chExt cx="0" cy="0"/>
        </a:xfrm>
      </p:grpSpPr>
      <p:graphicFrame>
        <p:nvGraphicFramePr>
          <p:cNvPr id="2" name="表格 1">
            <a:extLst>
              <a:ext uri="{FF2B5EF4-FFF2-40B4-BE49-F238E27FC236}">
                <a16:creationId xmlns:a16="http://schemas.microsoft.com/office/drawing/2014/main" id="{9BC7DB4A-55FE-9AD9-C062-5A1BBE7D54B8}"/>
              </a:ext>
            </a:extLst>
          </p:cNvPr>
          <p:cNvGraphicFramePr>
            <a:graphicFrameLocks noGrp="1"/>
          </p:cNvGraphicFramePr>
          <p:nvPr>
            <p:extLst>
              <p:ext uri="{D42A27DB-BD31-4B8C-83A1-F6EECF244321}">
                <p14:modId xmlns:p14="http://schemas.microsoft.com/office/powerpoint/2010/main" val="575088622"/>
              </p:ext>
            </p:extLst>
          </p:nvPr>
        </p:nvGraphicFramePr>
        <p:xfrm>
          <a:off x="7133939" y="991018"/>
          <a:ext cx="3071835" cy="1854200"/>
        </p:xfrm>
        <a:graphic>
          <a:graphicData uri="http://schemas.openxmlformats.org/drawingml/2006/table">
            <a:tbl>
              <a:tblPr firstRow="1" bandRow="1">
                <a:tableStyleId>{E8B1032C-EA38-4F05-BA0D-38AFFFC7BED3}</a:tableStyleId>
              </a:tblPr>
              <a:tblGrid>
                <a:gridCol w="614367">
                  <a:extLst>
                    <a:ext uri="{9D8B030D-6E8A-4147-A177-3AD203B41FA5}">
                      <a16:colId xmlns:a16="http://schemas.microsoft.com/office/drawing/2014/main" val="20000"/>
                    </a:ext>
                  </a:extLst>
                </a:gridCol>
                <a:gridCol w="614367">
                  <a:extLst>
                    <a:ext uri="{9D8B030D-6E8A-4147-A177-3AD203B41FA5}">
                      <a16:colId xmlns:a16="http://schemas.microsoft.com/office/drawing/2014/main" val="20001"/>
                    </a:ext>
                  </a:extLst>
                </a:gridCol>
                <a:gridCol w="614367">
                  <a:extLst>
                    <a:ext uri="{9D8B030D-6E8A-4147-A177-3AD203B41FA5}">
                      <a16:colId xmlns:a16="http://schemas.microsoft.com/office/drawing/2014/main" val="20002"/>
                    </a:ext>
                  </a:extLst>
                </a:gridCol>
                <a:gridCol w="614367">
                  <a:extLst>
                    <a:ext uri="{9D8B030D-6E8A-4147-A177-3AD203B41FA5}">
                      <a16:colId xmlns:a16="http://schemas.microsoft.com/office/drawing/2014/main" val="20003"/>
                    </a:ext>
                  </a:extLst>
                </a:gridCol>
                <a:gridCol w="614367">
                  <a:extLst>
                    <a:ext uri="{9D8B030D-6E8A-4147-A177-3AD203B41FA5}">
                      <a16:colId xmlns:a16="http://schemas.microsoft.com/office/drawing/2014/main" val="20004"/>
                    </a:ext>
                  </a:extLst>
                </a:gridCol>
              </a:tblGrid>
              <a:tr h="370840">
                <a:tc>
                  <a:txBody>
                    <a:bodyPr/>
                    <a:lstStyle/>
                    <a:p>
                      <a:pPr algn="ctr"/>
                      <a:endParaRPr lang="zh-CN" altLang="en-US" b="1">
                        <a:solidFill>
                          <a:srgbClr val="3333FF"/>
                        </a:solidFill>
                        <a:latin typeface="Consolas" pitchFamily="49" charset="0"/>
                        <a:cs typeface="Consolas" pitchFamily="49" charset="0"/>
                      </a:endParaRPr>
                    </a:p>
                  </a:txBody>
                  <a:tcPr>
                    <a:solidFill>
                      <a:schemeClr val="tx2">
                        <a:lumMod val="40000"/>
                        <a:lumOff val="60000"/>
                      </a:schemeClr>
                    </a:solidFill>
                  </a:tcPr>
                </a:tc>
                <a:tc>
                  <a:txBody>
                    <a:bodyPr/>
                    <a:lstStyle/>
                    <a:p>
                      <a:pPr algn="ctr"/>
                      <a:r>
                        <a:rPr lang="en-US" altLang="zh-CN" sz="1600" b="1">
                          <a:solidFill>
                            <a:srgbClr val="FF0000"/>
                          </a:solidFill>
                          <a:latin typeface="Consolas" pitchFamily="49" charset="0"/>
                          <a:cs typeface="Consolas" pitchFamily="49" charset="0"/>
                        </a:rPr>
                        <a:t>0</a:t>
                      </a:r>
                      <a:endParaRPr lang="zh-CN" altLang="en-US" sz="1600" b="1">
                        <a:solidFill>
                          <a:srgbClr val="FF0000"/>
                        </a:solidFill>
                        <a:latin typeface="Consolas" pitchFamily="49" charset="0"/>
                        <a:cs typeface="Consolas" pitchFamily="49" charset="0"/>
                      </a:endParaRPr>
                    </a:p>
                  </a:txBody>
                  <a:tcPr>
                    <a:solidFill>
                      <a:schemeClr val="tx2">
                        <a:lumMod val="40000"/>
                        <a:lumOff val="60000"/>
                      </a:schemeClr>
                    </a:solidFill>
                  </a:tcPr>
                </a:tc>
                <a:tc>
                  <a:txBody>
                    <a:bodyPr/>
                    <a:lstStyle/>
                    <a:p>
                      <a:pPr algn="ctr"/>
                      <a:r>
                        <a:rPr lang="en-US" altLang="zh-CN" sz="1600" b="1">
                          <a:solidFill>
                            <a:srgbClr val="FF0000"/>
                          </a:solidFill>
                          <a:latin typeface="Consolas" pitchFamily="49" charset="0"/>
                          <a:cs typeface="Consolas" pitchFamily="49" charset="0"/>
                        </a:rPr>
                        <a:t>1</a:t>
                      </a:r>
                      <a:endParaRPr lang="zh-CN" altLang="en-US" sz="1600" b="1">
                        <a:solidFill>
                          <a:srgbClr val="FF0000"/>
                        </a:solidFill>
                        <a:latin typeface="Consolas" pitchFamily="49" charset="0"/>
                        <a:cs typeface="Consolas" pitchFamily="49" charset="0"/>
                      </a:endParaRPr>
                    </a:p>
                  </a:txBody>
                  <a:tcPr>
                    <a:solidFill>
                      <a:schemeClr val="tx2">
                        <a:lumMod val="40000"/>
                        <a:lumOff val="60000"/>
                      </a:schemeClr>
                    </a:solidFill>
                  </a:tcPr>
                </a:tc>
                <a:tc>
                  <a:txBody>
                    <a:bodyPr/>
                    <a:lstStyle/>
                    <a:p>
                      <a:pPr algn="ctr"/>
                      <a:r>
                        <a:rPr lang="en-US" altLang="zh-CN" sz="1600" b="1">
                          <a:solidFill>
                            <a:srgbClr val="FF0000"/>
                          </a:solidFill>
                          <a:latin typeface="Consolas" pitchFamily="49" charset="0"/>
                          <a:cs typeface="Consolas" pitchFamily="49" charset="0"/>
                        </a:rPr>
                        <a:t>2</a:t>
                      </a:r>
                      <a:endParaRPr lang="zh-CN" altLang="en-US" sz="1600" b="1">
                        <a:solidFill>
                          <a:srgbClr val="FF0000"/>
                        </a:solidFill>
                        <a:latin typeface="Consolas" pitchFamily="49" charset="0"/>
                        <a:cs typeface="Consolas" pitchFamily="49" charset="0"/>
                      </a:endParaRPr>
                    </a:p>
                  </a:txBody>
                  <a:tcPr>
                    <a:solidFill>
                      <a:schemeClr val="tx2">
                        <a:lumMod val="40000"/>
                        <a:lumOff val="60000"/>
                      </a:schemeClr>
                    </a:solidFill>
                  </a:tcPr>
                </a:tc>
                <a:tc>
                  <a:txBody>
                    <a:bodyPr/>
                    <a:lstStyle/>
                    <a:p>
                      <a:pPr algn="ctr"/>
                      <a:r>
                        <a:rPr lang="en-US" altLang="zh-CN" sz="1600" b="1">
                          <a:solidFill>
                            <a:srgbClr val="FF0000"/>
                          </a:solidFill>
                          <a:latin typeface="Consolas" pitchFamily="49" charset="0"/>
                          <a:cs typeface="Consolas" pitchFamily="49" charset="0"/>
                        </a:rPr>
                        <a:t>3</a:t>
                      </a:r>
                      <a:endParaRPr lang="zh-CN" altLang="en-US" sz="1600" b="1">
                        <a:solidFill>
                          <a:srgbClr val="FF0000"/>
                        </a:solidFill>
                        <a:latin typeface="Consolas" pitchFamily="49" charset="0"/>
                        <a:cs typeface="Consolas" pitchFamily="49" charset="0"/>
                      </a:endParaRPr>
                    </a:p>
                  </a:txBody>
                  <a:tcPr>
                    <a:solidFill>
                      <a:schemeClr val="tx2">
                        <a:lumMod val="40000"/>
                        <a:lumOff val="60000"/>
                      </a:schemeClr>
                    </a:solidFill>
                  </a:tcPr>
                </a:tc>
                <a:extLst>
                  <a:ext uri="{0D108BD9-81ED-4DB2-BD59-A6C34878D82A}">
                    <a16:rowId xmlns:a16="http://schemas.microsoft.com/office/drawing/2014/main" val="10000"/>
                  </a:ext>
                </a:extLst>
              </a:tr>
              <a:tr h="370840">
                <a:tc>
                  <a:txBody>
                    <a:bodyPr/>
                    <a:lstStyle/>
                    <a:p>
                      <a:pPr algn="ctr"/>
                      <a:r>
                        <a:rPr lang="en-US" altLang="zh-CN" sz="1600" b="1">
                          <a:solidFill>
                            <a:srgbClr val="FF0000"/>
                          </a:solidFill>
                          <a:latin typeface="Consolas" pitchFamily="49" charset="0"/>
                          <a:cs typeface="Consolas" pitchFamily="49" charset="0"/>
                        </a:rPr>
                        <a:t>0</a:t>
                      </a:r>
                      <a:endParaRPr lang="zh-CN" altLang="en-US" sz="1600" b="1">
                        <a:solidFill>
                          <a:srgbClr val="FF0000"/>
                        </a:solidFill>
                        <a:latin typeface="Consolas" pitchFamily="49" charset="0"/>
                        <a:cs typeface="Consolas" pitchFamily="49" charset="0"/>
                      </a:endParaRPr>
                    </a:p>
                  </a:txBody>
                  <a:tcPr>
                    <a:solidFill>
                      <a:schemeClr val="tx2">
                        <a:lumMod val="40000"/>
                        <a:lumOff val="60000"/>
                      </a:schemeClr>
                    </a:solidFill>
                  </a:tcPr>
                </a:tc>
                <a:tc>
                  <a:txBody>
                    <a:bodyPr/>
                    <a:lstStyle/>
                    <a:p>
                      <a:pPr algn="ctr"/>
                      <a:r>
                        <a:rPr lang="en-US" altLang="zh-CN" b="1">
                          <a:solidFill>
                            <a:srgbClr val="3333FF"/>
                          </a:solidFill>
                          <a:latin typeface="Consolas" pitchFamily="49" charset="0"/>
                          <a:ea typeface="+mj-ea"/>
                          <a:cs typeface="Consolas" pitchFamily="49" charset="0"/>
                        </a:rPr>
                        <a:t>-</a:t>
                      </a:r>
                      <a:r>
                        <a:rPr lang="en-US" altLang="zh-CN" b="1">
                          <a:solidFill>
                            <a:srgbClr val="3333FF"/>
                          </a:solidFill>
                          <a:latin typeface="Consolas" pitchFamily="49" charset="0"/>
                          <a:cs typeface="Consolas" pitchFamily="49" charset="0"/>
                        </a:rPr>
                        <a:t>1</a:t>
                      </a:r>
                      <a:endParaRPr lang="zh-CN" altLang="en-US" b="1">
                        <a:solidFill>
                          <a:srgbClr val="3333FF"/>
                        </a:solidFill>
                        <a:latin typeface="Consolas" pitchFamily="49" charset="0"/>
                        <a:cs typeface="Consolas" pitchFamily="49" charset="0"/>
                      </a:endParaRPr>
                    </a:p>
                  </a:txBody>
                  <a:tcPr/>
                </a:tc>
                <a:tc>
                  <a:txBody>
                    <a:bodyPr/>
                    <a:lstStyle/>
                    <a:p>
                      <a:pPr algn="ctr"/>
                      <a:r>
                        <a:rPr lang="en-US" altLang="zh-CN" b="1">
                          <a:solidFill>
                            <a:srgbClr val="3333FF"/>
                          </a:solidFill>
                          <a:latin typeface="Consolas" pitchFamily="49" charset="0"/>
                          <a:cs typeface="Consolas" pitchFamily="49" charset="0"/>
                        </a:rPr>
                        <a:t>0</a:t>
                      </a:r>
                      <a:endParaRPr lang="zh-CN" altLang="en-US" b="1">
                        <a:solidFill>
                          <a:srgbClr val="3333FF"/>
                        </a:solidFill>
                        <a:latin typeface="Consolas" pitchFamily="49" charset="0"/>
                        <a:cs typeface="Consolas" pitchFamily="49" charset="0"/>
                      </a:endParaRPr>
                    </a:p>
                  </a:txBody>
                  <a:tcPr/>
                </a:tc>
                <a:tc>
                  <a:txBody>
                    <a:bodyPr/>
                    <a:lstStyle/>
                    <a:p>
                      <a:pPr algn="ctr"/>
                      <a:r>
                        <a:rPr lang="en-US" altLang="zh-CN" b="1">
                          <a:solidFill>
                            <a:srgbClr val="3333FF"/>
                          </a:solidFill>
                          <a:latin typeface="Consolas" pitchFamily="49" charset="0"/>
                          <a:cs typeface="Consolas" pitchFamily="49" charset="0"/>
                        </a:rPr>
                        <a:t>3</a:t>
                      </a:r>
                      <a:endParaRPr lang="zh-CN" altLang="en-US" b="1">
                        <a:solidFill>
                          <a:srgbClr val="3333FF"/>
                        </a:solidFill>
                        <a:latin typeface="Consolas" pitchFamily="49" charset="0"/>
                        <a:cs typeface="Consolas" pitchFamily="49" charset="0"/>
                      </a:endParaRPr>
                    </a:p>
                  </a:txBody>
                  <a:tcPr/>
                </a:tc>
                <a:tc>
                  <a:txBody>
                    <a:bodyPr/>
                    <a:lstStyle/>
                    <a:p>
                      <a:pPr algn="ctr"/>
                      <a:r>
                        <a:rPr lang="en-US" altLang="zh-CN" b="1">
                          <a:solidFill>
                            <a:srgbClr val="3333FF"/>
                          </a:solidFill>
                          <a:latin typeface="Consolas" pitchFamily="49" charset="0"/>
                          <a:cs typeface="Consolas" pitchFamily="49" charset="0"/>
                        </a:rPr>
                        <a:t>0</a:t>
                      </a:r>
                      <a:endParaRPr lang="zh-CN" altLang="en-US" b="1">
                        <a:solidFill>
                          <a:srgbClr val="3333FF"/>
                        </a:solidFill>
                        <a:latin typeface="Consolas" pitchFamily="49" charset="0"/>
                        <a:cs typeface="Consolas" pitchFamily="49" charset="0"/>
                      </a:endParaRPr>
                    </a:p>
                  </a:txBody>
                  <a:tcPr/>
                </a:tc>
                <a:extLst>
                  <a:ext uri="{0D108BD9-81ED-4DB2-BD59-A6C34878D82A}">
                    <a16:rowId xmlns:a16="http://schemas.microsoft.com/office/drawing/2014/main" val="10001"/>
                  </a:ext>
                </a:extLst>
              </a:tr>
              <a:tr h="370840">
                <a:tc>
                  <a:txBody>
                    <a:bodyPr/>
                    <a:lstStyle/>
                    <a:p>
                      <a:pPr algn="ctr"/>
                      <a:r>
                        <a:rPr lang="en-US" altLang="zh-CN" sz="1600" b="1">
                          <a:solidFill>
                            <a:srgbClr val="FF0000"/>
                          </a:solidFill>
                          <a:latin typeface="Consolas" pitchFamily="49" charset="0"/>
                          <a:cs typeface="Consolas" pitchFamily="49" charset="0"/>
                        </a:rPr>
                        <a:t>1</a:t>
                      </a:r>
                      <a:endParaRPr lang="zh-CN" altLang="en-US" sz="1600" b="1">
                        <a:solidFill>
                          <a:srgbClr val="FF0000"/>
                        </a:solidFill>
                        <a:latin typeface="Consolas" pitchFamily="49" charset="0"/>
                        <a:cs typeface="Consolas" pitchFamily="49" charset="0"/>
                      </a:endParaRPr>
                    </a:p>
                  </a:txBody>
                  <a:tcPr>
                    <a:solidFill>
                      <a:schemeClr val="tx2">
                        <a:lumMod val="40000"/>
                        <a:lumOff val="6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b="1">
                          <a:solidFill>
                            <a:srgbClr val="3333FF"/>
                          </a:solidFill>
                          <a:latin typeface="Consolas" pitchFamily="49" charset="0"/>
                          <a:ea typeface="+mj-ea"/>
                          <a:cs typeface="Consolas" pitchFamily="49" charset="0"/>
                        </a:rPr>
                        <a:t>2</a:t>
                      </a:r>
                      <a:endParaRPr lang="zh-CN" altLang="en-US" b="1">
                        <a:solidFill>
                          <a:srgbClr val="3333FF"/>
                        </a:solidFill>
                        <a:latin typeface="Consolas" pitchFamily="49" charset="0"/>
                        <a:cs typeface="Consolas" pitchFamily="49" charset="0"/>
                      </a:endParaRPr>
                    </a:p>
                  </a:txBody>
                  <a:tcPr/>
                </a:tc>
                <a:tc>
                  <a:txBody>
                    <a:bodyPr/>
                    <a:lstStyle/>
                    <a:p>
                      <a:pPr algn="ctr"/>
                      <a:r>
                        <a:rPr lang="en-US" altLang="zh-CN" b="1">
                          <a:solidFill>
                            <a:srgbClr val="3333FF"/>
                          </a:solidFill>
                          <a:latin typeface="Consolas" pitchFamily="49" charset="0"/>
                          <a:ea typeface="+mn-ea"/>
                          <a:cs typeface="Consolas" pitchFamily="49" charset="0"/>
                        </a:rPr>
                        <a:t>-</a:t>
                      </a:r>
                      <a:r>
                        <a:rPr lang="en-US" altLang="zh-CN" b="1">
                          <a:solidFill>
                            <a:srgbClr val="3333FF"/>
                          </a:solidFill>
                          <a:latin typeface="Consolas" pitchFamily="49" charset="0"/>
                          <a:cs typeface="Consolas" pitchFamily="49" charset="0"/>
                        </a:rPr>
                        <a:t>1</a:t>
                      </a:r>
                      <a:endParaRPr lang="zh-CN" altLang="en-US" b="1">
                        <a:solidFill>
                          <a:srgbClr val="3333FF"/>
                        </a:solidFill>
                        <a:latin typeface="Consolas" pitchFamily="49" charset="0"/>
                        <a:cs typeface="Consolas" pitchFamily="49" charset="0"/>
                      </a:endParaRPr>
                    </a:p>
                  </a:txBody>
                  <a:tcPr/>
                </a:tc>
                <a:tc>
                  <a:txBody>
                    <a:bodyPr/>
                    <a:lstStyle/>
                    <a:p>
                      <a:pPr algn="ctr"/>
                      <a:r>
                        <a:rPr lang="en-US" altLang="zh-CN" b="1">
                          <a:solidFill>
                            <a:srgbClr val="3333FF"/>
                          </a:solidFill>
                          <a:latin typeface="Consolas" pitchFamily="49" charset="0"/>
                          <a:cs typeface="Consolas" pitchFamily="49" charset="0"/>
                        </a:rPr>
                        <a:t>3</a:t>
                      </a:r>
                      <a:endParaRPr lang="zh-CN" altLang="en-US" b="1">
                        <a:solidFill>
                          <a:srgbClr val="3333FF"/>
                        </a:solidFill>
                        <a:latin typeface="Consolas" pitchFamily="49" charset="0"/>
                        <a:cs typeface="Consolas" pitchFamily="49" charset="0"/>
                      </a:endParaRPr>
                    </a:p>
                  </a:txBody>
                  <a:tcPr/>
                </a:tc>
                <a:tc>
                  <a:txBody>
                    <a:bodyPr/>
                    <a:lstStyle/>
                    <a:p>
                      <a:pPr algn="ctr"/>
                      <a:r>
                        <a:rPr lang="en-US" altLang="zh-CN" b="1">
                          <a:solidFill>
                            <a:srgbClr val="3333FF"/>
                          </a:solidFill>
                          <a:latin typeface="Consolas" pitchFamily="49" charset="0"/>
                          <a:cs typeface="Consolas" pitchFamily="49" charset="0"/>
                        </a:rPr>
                        <a:t>1</a:t>
                      </a:r>
                      <a:endParaRPr lang="zh-CN" altLang="en-US" b="1">
                        <a:solidFill>
                          <a:srgbClr val="3333FF"/>
                        </a:solidFill>
                        <a:latin typeface="Consolas" pitchFamily="49" charset="0"/>
                        <a:cs typeface="Consolas" pitchFamily="49" charset="0"/>
                      </a:endParaRPr>
                    </a:p>
                  </a:txBody>
                  <a:tcPr/>
                </a:tc>
                <a:extLst>
                  <a:ext uri="{0D108BD9-81ED-4DB2-BD59-A6C34878D82A}">
                    <a16:rowId xmlns:a16="http://schemas.microsoft.com/office/drawing/2014/main" val="10002"/>
                  </a:ext>
                </a:extLst>
              </a:tr>
              <a:tr h="370840">
                <a:tc>
                  <a:txBody>
                    <a:bodyPr/>
                    <a:lstStyle/>
                    <a:p>
                      <a:pPr algn="ctr"/>
                      <a:r>
                        <a:rPr lang="en-US" altLang="zh-CN" sz="1600" b="1">
                          <a:solidFill>
                            <a:srgbClr val="FF0000"/>
                          </a:solidFill>
                          <a:latin typeface="Consolas" pitchFamily="49" charset="0"/>
                          <a:cs typeface="Consolas" pitchFamily="49" charset="0"/>
                        </a:rPr>
                        <a:t>2</a:t>
                      </a:r>
                      <a:endParaRPr lang="zh-CN" altLang="en-US" sz="1600" b="1">
                        <a:solidFill>
                          <a:srgbClr val="FF0000"/>
                        </a:solidFill>
                        <a:latin typeface="Consolas" pitchFamily="49" charset="0"/>
                        <a:cs typeface="Consolas" pitchFamily="49" charset="0"/>
                      </a:endParaRPr>
                    </a:p>
                  </a:txBody>
                  <a:tcPr>
                    <a:solidFill>
                      <a:schemeClr val="tx2">
                        <a:lumMod val="40000"/>
                        <a:lumOff val="60000"/>
                      </a:schemeClr>
                    </a:solidFill>
                  </a:tcPr>
                </a:tc>
                <a:tc>
                  <a:txBody>
                    <a:bodyPr/>
                    <a:lstStyle/>
                    <a:p>
                      <a:pPr algn="ctr"/>
                      <a:r>
                        <a:rPr lang="en-US" altLang="zh-CN" b="1">
                          <a:solidFill>
                            <a:srgbClr val="3333FF"/>
                          </a:solidFill>
                          <a:latin typeface="Consolas" pitchFamily="49" charset="0"/>
                          <a:cs typeface="Consolas" pitchFamily="49" charset="0"/>
                        </a:rPr>
                        <a:t>2</a:t>
                      </a:r>
                      <a:endParaRPr lang="zh-CN" altLang="en-US" b="1">
                        <a:solidFill>
                          <a:srgbClr val="3333FF"/>
                        </a:solidFill>
                        <a:latin typeface="Consolas" pitchFamily="49" charset="0"/>
                        <a:cs typeface="Consolas" pitchFamily="49" charset="0"/>
                      </a:endParaRPr>
                    </a:p>
                  </a:txBody>
                  <a:tcPr/>
                </a:tc>
                <a:tc>
                  <a:txBody>
                    <a:bodyPr/>
                    <a:lstStyle/>
                    <a:p>
                      <a:pPr algn="ctr"/>
                      <a:r>
                        <a:rPr lang="en-US" altLang="zh-CN" b="1">
                          <a:solidFill>
                            <a:srgbClr val="3333FF"/>
                          </a:solidFill>
                          <a:latin typeface="Consolas" pitchFamily="49" charset="0"/>
                          <a:cs typeface="Consolas" pitchFamily="49" charset="0"/>
                        </a:rPr>
                        <a:t>2</a:t>
                      </a:r>
                      <a:endParaRPr lang="zh-CN" altLang="en-US" b="1">
                        <a:solidFill>
                          <a:srgbClr val="3333FF"/>
                        </a:solidFill>
                        <a:latin typeface="Consolas" pitchFamily="49" charset="0"/>
                        <a:cs typeface="Consolas" pitchFamily="49" charset="0"/>
                      </a:endParaRPr>
                    </a:p>
                  </a:txBody>
                  <a:tcPr/>
                </a:tc>
                <a:tc>
                  <a:txBody>
                    <a:bodyPr/>
                    <a:lstStyle/>
                    <a:p>
                      <a:pPr algn="ctr"/>
                      <a:r>
                        <a:rPr lang="en-US" altLang="zh-CN" b="1">
                          <a:solidFill>
                            <a:srgbClr val="3333FF"/>
                          </a:solidFill>
                          <a:latin typeface="Consolas" pitchFamily="49" charset="0"/>
                          <a:ea typeface="+mj-ea"/>
                          <a:cs typeface="Consolas" pitchFamily="49" charset="0"/>
                        </a:rPr>
                        <a:t>-</a:t>
                      </a:r>
                      <a:r>
                        <a:rPr lang="en-US" altLang="zh-CN" b="1">
                          <a:solidFill>
                            <a:srgbClr val="3333FF"/>
                          </a:solidFill>
                          <a:latin typeface="Consolas" pitchFamily="49" charset="0"/>
                          <a:cs typeface="Consolas" pitchFamily="49" charset="0"/>
                        </a:rPr>
                        <a:t>1</a:t>
                      </a:r>
                      <a:endParaRPr lang="zh-CN" altLang="en-US" b="1">
                        <a:solidFill>
                          <a:srgbClr val="3333FF"/>
                        </a:solidFill>
                        <a:latin typeface="Consolas" pitchFamily="49" charset="0"/>
                        <a:cs typeface="Consolas" pitchFamily="49" charset="0"/>
                      </a:endParaRPr>
                    </a:p>
                  </a:txBody>
                  <a:tcPr/>
                </a:tc>
                <a:tc>
                  <a:txBody>
                    <a:bodyPr/>
                    <a:lstStyle/>
                    <a:p>
                      <a:pPr algn="ctr"/>
                      <a:r>
                        <a:rPr lang="en-US" altLang="zh-CN" b="1">
                          <a:solidFill>
                            <a:srgbClr val="3333FF"/>
                          </a:solidFill>
                          <a:latin typeface="Consolas" pitchFamily="49" charset="0"/>
                          <a:cs typeface="Consolas" pitchFamily="49" charset="0"/>
                        </a:rPr>
                        <a:t>2</a:t>
                      </a:r>
                      <a:endParaRPr lang="zh-CN" altLang="en-US" b="1">
                        <a:solidFill>
                          <a:srgbClr val="3333FF"/>
                        </a:solidFill>
                        <a:latin typeface="Consolas" pitchFamily="49" charset="0"/>
                        <a:cs typeface="Consolas" pitchFamily="49" charset="0"/>
                      </a:endParaRPr>
                    </a:p>
                  </a:txBody>
                  <a:tcPr/>
                </a:tc>
                <a:extLst>
                  <a:ext uri="{0D108BD9-81ED-4DB2-BD59-A6C34878D82A}">
                    <a16:rowId xmlns:a16="http://schemas.microsoft.com/office/drawing/2014/main" val="10003"/>
                  </a:ext>
                </a:extLst>
              </a:tr>
              <a:tr h="370840">
                <a:tc>
                  <a:txBody>
                    <a:bodyPr/>
                    <a:lstStyle/>
                    <a:p>
                      <a:pPr algn="ctr"/>
                      <a:r>
                        <a:rPr lang="en-US" altLang="zh-CN" sz="1600" b="1">
                          <a:solidFill>
                            <a:srgbClr val="FF0000"/>
                          </a:solidFill>
                          <a:latin typeface="Consolas" pitchFamily="49" charset="0"/>
                          <a:cs typeface="Consolas" pitchFamily="49" charset="0"/>
                        </a:rPr>
                        <a:t>3</a:t>
                      </a:r>
                      <a:endParaRPr lang="zh-CN" altLang="en-US" sz="1600" b="1">
                        <a:solidFill>
                          <a:srgbClr val="FF0000"/>
                        </a:solidFill>
                        <a:latin typeface="Consolas" pitchFamily="49" charset="0"/>
                        <a:cs typeface="Consolas" pitchFamily="49" charset="0"/>
                      </a:endParaRPr>
                    </a:p>
                  </a:txBody>
                  <a:tcPr>
                    <a:solidFill>
                      <a:schemeClr val="tx2">
                        <a:lumMod val="40000"/>
                        <a:lumOff val="6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b="1">
                          <a:solidFill>
                            <a:srgbClr val="3333FF"/>
                          </a:solidFill>
                          <a:latin typeface="Consolas" pitchFamily="49" charset="0"/>
                          <a:ea typeface="+mn-ea"/>
                          <a:cs typeface="Consolas" pitchFamily="49" charset="0"/>
                        </a:rPr>
                        <a:t>2</a:t>
                      </a:r>
                      <a:endParaRPr lang="zh-CN" altLang="en-US" b="1">
                        <a:solidFill>
                          <a:srgbClr val="3333FF"/>
                        </a:solidFill>
                        <a:latin typeface="Consolas" pitchFamily="49" charset="0"/>
                        <a:cs typeface="Consolas"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b="1">
                          <a:solidFill>
                            <a:srgbClr val="3333FF"/>
                          </a:solidFill>
                          <a:latin typeface="Consolas" pitchFamily="49" charset="0"/>
                          <a:ea typeface="+mn-ea"/>
                          <a:cs typeface="Consolas" pitchFamily="49" charset="0"/>
                        </a:rPr>
                        <a:t>2</a:t>
                      </a:r>
                      <a:endParaRPr lang="zh-CN" altLang="en-US" b="1">
                        <a:solidFill>
                          <a:srgbClr val="3333FF"/>
                        </a:solidFill>
                        <a:latin typeface="Consolas" pitchFamily="49" charset="0"/>
                        <a:cs typeface="Consolas" pitchFamily="49" charset="0"/>
                      </a:endParaRPr>
                    </a:p>
                  </a:txBody>
                  <a:tcPr/>
                </a:tc>
                <a:tc>
                  <a:txBody>
                    <a:bodyPr/>
                    <a:lstStyle/>
                    <a:p>
                      <a:pPr algn="ctr"/>
                      <a:r>
                        <a:rPr lang="en-US" altLang="zh-CN" b="1">
                          <a:solidFill>
                            <a:srgbClr val="3333FF"/>
                          </a:solidFill>
                          <a:latin typeface="Consolas" pitchFamily="49" charset="0"/>
                          <a:cs typeface="Consolas" pitchFamily="49" charset="0"/>
                        </a:rPr>
                        <a:t>3</a:t>
                      </a:r>
                      <a:endParaRPr lang="zh-CN" altLang="en-US" b="1">
                        <a:solidFill>
                          <a:srgbClr val="3333FF"/>
                        </a:solidFill>
                        <a:latin typeface="Consolas" pitchFamily="49" charset="0"/>
                        <a:cs typeface="Consolas" pitchFamily="49" charset="0"/>
                      </a:endParaRPr>
                    </a:p>
                  </a:txBody>
                  <a:tcPr/>
                </a:tc>
                <a:tc>
                  <a:txBody>
                    <a:bodyPr/>
                    <a:lstStyle/>
                    <a:p>
                      <a:pPr algn="ctr"/>
                      <a:r>
                        <a:rPr lang="en-US" altLang="zh-CN" b="1">
                          <a:solidFill>
                            <a:srgbClr val="3333FF"/>
                          </a:solidFill>
                          <a:latin typeface="Consolas" pitchFamily="49" charset="0"/>
                          <a:ea typeface="+mn-ea"/>
                          <a:cs typeface="Consolas" pitchFamily="49" charset="0"/>
                        </a:rPr>
                        <a:t>-</a:t>
                      </a:r>
                      <a:r>
                        <a:rPr lang="en-US" altLang="zh-CN" b="1">
                          <a:solidFill>
                            <a:srgbClr val="3333FF"/>
                          </a:solidFill>
                          <a:latin typeface="Consolas" pitchFamily="49" charset="0"/>
                          <a:cs typeface="Consolas" pitchFamily="49" charset="0"/>
                        </a:rPr>
                        <a:t>1</a:t>
                      </a:r>
                      <a:endParaRPr lang="zh-CN" altLang="en-US" b="1">
                        <a:solidFill>
                          <a:srgbClr val="3333FF"/>
                        </a:solidFill>
                        <a:latin typeface="Consolas" pitchFamily="49" charset="0"/>
                        <a:cs typeface="Consolas" pitchFamily="49" charset="0"/>
                      </a:endParaRPr>
                    </a:p>
                  </a:txBody>
                  <a:tcPr/>
                </a:tc>
                <a:extLst>
                  <a:ext uri="{0D108BD9-81ED-4DB2-BD59-A6C34878D82A}">
                    <a16:rowId xmlns:a16="http://schemas.microsoft.com/office/drawing/2014/main" val="10004"/>
                  </a:ext>
                </a:extLst>
              </a:tr>
            </a:tbl>
          </a:graphicData>
        </a:graphic>
      </p:graphicFrame>
      <p:sp>
        <p:nvSpPr>
          <p:cNvPr id="3" name="TextBox 5">
            <a:extLst>
              <a:ext uri="{FF2B5EF4-FFF2-40B4-BE49-F238E27FC236}">
                <a16:creationId xmlns:a16="http://schemas.microsoft.com/office/drawing/2014/main" id="{E7D275F4-59E2-DC69-D188-4DB5895D7EAE}"/>
              </a:ext>
            </a:extLst>
          </p:cNvPr>
          <p:cNvSpPr txBox="1"/>
          <p:nvPr/>
        </p:nvSpPr>
        <p:spPr>
          <a:xfrm>
            <a:off x="1918934" y="3845350"/>
            <a:ext cx="8143964" cy="2246769"/>
          </a:xfrm>
          <a:prstGeom prst="rect">
            <a:avLst/>
          </a:prstGeom>
          <a:noFill/>
        </p:spPr>
        <p:txBody>
          <a:bodyPr wrap="square" rtlCol="0">
            <a:spAutoFit/>
          </a:bodyPr>
          <a:lstStyle/>
          <a:p>
            <a:r>
              <a:rPr lang="zh-CN" altLang="en-US" sz="2000" dirty="0">
                <a:latin typeface="Consolas" pitchFamily="49" charset="0"/>
                <a:ea typeface="仿宋" pitchFamily="49" charset="-122"/>
                <a:cs typeface="Consolas" pitchFamily="49" charset="0"/>
              </a:rPr>
              <a:t>求顶点</a:t>
            </a:r>
            <a:r>
              <a:rPr lang="en-US" altLang="zh-CN" sz="2000" dirty="0">
                <a:solidFill>
                  <a:srgbClr val="FF0000"/>
                </a:solidFill>
                <a:latin typeface="Consolas" pitchFamily="49" charset="0"/>
                <a:ea typeface="仿宋" pitchFamily="49" charset="-122"/>
                <a:cs typeface="Consolas" pitchFamily="49" charset="0"/>
              </a:rPr>
              <a:t>1</a:t>
            </a:r>
            <a:r>
              <a:rPr lang="en-US" altLang="zh-CN" sz="2000" dirty="0">
                <a:latin typeface="Consolas" pitchFamily="49" charset="0"/>
                <a:ea typeface="仿宋" pitchFamily="49" charset="-122"/>
                <a:cs typeface="Consolas" pitchFamily="49" charset="0"/>
              </a:rPr>
              <a:t> </a:t>
            </a:r>
            <a:r>
              <a:rPr lang="en-US" altLang="zh-CN" sz="2000" dirty="0">
                <a:latin typeface="Consolas" pitchFamily="49" charset="0"/>
                <a:ea typeface="仿宋" pitchFamily="49" charset="-122"/>
                <a:cs typeface="Consolas" pitchFamily="49" charset="0"/>
                <a:sym typeface="Wingdings"/>
              </a:rPr>
              <a:t> </a:t>
            </a:r>
            <a:r>
              <a:rPr lang="en-US" altLang="zh-CN" sz="2000" dirty="0">
                <a:solidFill>
                  <a:srgbClr val="FF0000"/>
                </a:solidFill>
                <a:latin typeface="Consolas" pitchFamily="49" charset="0"/>
                <a:ea typeface="仿宋" pitchFamily="49" charset="-122"/>
                <a:cs typeface="Consolas" pitchFamily="49" charset="0"/>
              </a:rPr>
              <a:t>0</a:t>
            </a:r>
            <a:r>
              <a:rPr lang="zh-CN" altLang="en-US" sz="2000" dirty="0">
                <a:latin typeface="Consolas" pitchFamily="49" charset="0"/>
                <a:ea typeface="仿宋" pitchFamily="49" charset="-122"/>
                <a:cs typeface="Consolas" pitchFamily="49" charset="0"/>
              </a:rPr>
              <a:t>的最短路径：</a:t>
            </a:r>
            <a:endParaRPr lang="en-US" altLang="zh-CN" sz="2000" dirty="0">
              <a:latin typeface="Consolas" pitchFamily="49" charset="0"/>
              <a:ea typeface="仿宋" pitchFamily="49" charset="-122"/>
              <a:cs typeface="Consolas" pitchFamily="49" charset="0"/>
            </a:endParaRPr>
          </a:p>
          <a:p>
            <a:r>
              <a:rPr lang="en-US" altLang="zh-CN" sz="2000">
                <a:latin typeface="Consolas" pitchFamily="49" charset="0"/>
                <a:ea typeface="仿宋" pitchFamily="49" charset="-122"/>
                <a:cs typeface="Consolas" pitchFamily="49" charset="0"/>
              </a:rPr>
              <a:t>    path</a:t>
            </a:r>
            <a:r>
              <a:rPr lang="en-US" altLang="zh-CN" sz="2000" baseline="-25000">
                <a:latin typeface="Consolas" pitchFamily="49" charset="0"/>
                <a:ea typeface="仿宋" pitchFamily="49" charset="-122"/>
                <a:cs typeface="Consolas" pitchFamily="49" charset="0"/>
              </a:rPr>
              <a:t>3</a:t>
            </a:r>
            <a:r>
              <a:rPr lang="en-US" altLang="zh-CN" sz="2000">
                <a:latin typeface="Consolas" pitchFamily="49" charset="0"/>
                <a:ea typeface="仿宋" pitchFamily="49" charset="-122"/>
                <a:cs typeface="Consolas" pitchFamily="49" charset="0"/>
              </a:rPr>
              <a:t>[</a:t>
            </a:r>
            <a:r>
              <a:rPr lang="en-US" altLang="zh-CN" sz="2000">
                <a:solidFill>
                  <a:srgbClr val="FF0000"/>
                </a:solidFill>
                <a:latin typeface="Consolas" pitchFamily="49" charset="0"/>
                <a:ea typeface="仿宋" pitchFamily="49" charset="-122"/>
                <a:cs typeface="Consolas" pitchFamily="49" charset="0"/>
              </a:rPr>
              <a:t>1</a:t>
            </a:r>
            <a:r>
              <a:rPr lang="en-US" altLang="zh-CN" sz="2000" dirty="0">
                <a:latin typeface="Consolas" pitchFamily="49" charset="0"/>
                <a:ea typeface="仿宋" pitchFamily="49" charset="-122"/>
                <a:cs typeface="Consolas" pitchFamily="49" charset="0"/>
              </a:rPr>
              <a:t>][</a:t>
            </a:r>
            <a:r>
              <a:rPr lang="en-US" altLang="zh-CN" sz="2000" dirty="0">
                <a:solidFill>
                  <a:srgbClr val="FF0000"/>
                </a:solidFill>
                <a:latin typeface="Consolas" pitchFamily="49" charset="0"/>
                <a:ea typeface="仿宋" pitchFamily="49" charset="-122"/>
                <a:cs typeface="Consolas" pitchFamily="49" charset="0"/>
              </a:rPr>
              <a:t>0</a:t>
            </a:r>
            <a:r>
              <a:rPr lang="en-US" altLang="zh-CN" sz="2000" dirty="0">
                <a:latin typeface="Consolas" pitchFamily="49" charset="0"/>
                <a:ea typeface="仿宋" pitchFamily="49" charset="-122"/>
                <a:cs typeface="Consolas" pitchFamily="49" charset="0"/>
              </a:rPr>
              <a:t>]=</a:t>
            </a:r>
            <a:r>
              <a:rPr lang="en-US" altLang="zh-CN" sz="2000" dirty="0">
                <a:solidFill>
                  <a:srgbClr val="006600"/>
                </a:solidFill>
                <a:latin typeface="Consolas" pitchFamily="49" charset="0"/>
                <a:ea typeface="仿宋" pitchFamily="49" charset="-122"/>
                <a:cs typeface="Consolas" pitchFamily="49" charset="0"/>
              </a:rPr>
              <a:t>2</a:t>
            </a:r>
          </a:p>
          <a:p>
            <a:r>
              <a:rPr lang="en-US" altLang="zh-CN" sz="2000">
                <a:latin typeface="Consolas" pitchFamily="49" charset="0"/>
                <a:ea typeface="仿宋" pitchFamily="49" charset="-122"/>
                <a:cs typeface="Consolas" pitchFamily="49" charset="0"/>
              </a:rPr>
              <a:t>    path</a:t>
            </a:r>
            <a:r>
              <a:rPr lang="en-US" altLang="zh-CN" sz="2000" baseline="-25000">
                <a:latin typeface="Consolas" pitchFamily="49" charset="0"/>
                <a:ea typeface="仿宋" pitchFamily="49" charset="-122"/>
                <a:cs typeface="Consolas" pitchFamily="49" charset="0"/>
              </a:rPr>
              <a:t>3</a:t>
            </a:r>
            <a:r>
              <a:rPr lang="en-US" altLang="zh-CN" sz="2000">
                <a:latin typeface="Consolas" pitchFamily="49" charset="0"/>
                <a:ea typeface="仿宋" pitchFamily="49" charset="-122"/>
                <a:cs typeface="Consolas" pitchFamily="49" charset="0"/>
              </a:rPr>
              <a:t>[</a:t>
            </a:r>
            <a:r>
              <a:rPr lang="en-US" altLang="zh-CN" sz="2000">
                <a:solidFill>
                  <a:srgbClr val="FF0000"/>
                </a:solidFill>
                <a:latin typeface="Consolas" pitchFamily="49" charset="0"/>
                <a:ea typeface="仿宋" pitchFamily="49" charset="-122"/>
                <a:cs typeface="Consolas" pitchFamily="49" charset="0"/>
              </a:rPr>
              <a:t>1</a:t>
            </a:r>
            <a:r>
              <a:rPr lang="en-US" altLang="zh-CN" sz="2000" dirty="0">
                <a:latin typeface="Consolas" pitchFamily="49" charset="0"/>
                <a:ea typeface="仿宋" pitchFamily="49" charset="-122"/>
                <a:cs typeface="Consolas" pitchFamily="49" charset="0"/>
              </a:rPr>
              <a:t>][</a:t>
            </a:r>
            <a:r>
              <a:rPr lang="en-US" altLang="zh-CN" sz="2000" dirty="0">
                <a:solidFill>
                  <a:srgbClr val="006600"/>
                </a:solidFill>
                <a:latin typeface="Consolas" pitchFamily="49" charset="0"/>
                <a:ea typeface="仿宋" pitchFamily="49" charset="-122"/>
                <a:cs typeface="Consolas" pitchFamily="49" charset="0"/>
              </a:rPr>
              <a:t>2</a:t>
            </a:r>
            <a:r>
              <a:rPr lang="en-US" altLang="zh-CN" sz="2000" dirty="0">
                <a:latin typeface="Consolas" pitchFamily="49" charset="0"/>
                <a:ea typeface="仿宋" pitchFamily="49" charset="-122"/>
                <a:cs typeface="Consolas" pitchFamily="49" charset="0"/>
              </a:rPr>
              <a:t>]=</a:t>
            </a:r>
            <a:r>
              <a:rPr lang="en-US" altLang="zh-CN" sz="2000" dirty="0">
                <a:solidFill>
                  <a:srgbClr val="FF00FF"/>
                </a:solidFill>
                <a:latin typeface="Consolas" pitchFamily="49" charset="0"/>
                <a:ea typeface="仿宋" pitchFamily="49" charset="-122"/>
                <a:cs typeface="Consolas" pitchFamily="49" charset="0"/>
              </a:rPr>
              <a:t>3</a:t>
            </a:r>
          </a:p>
          <a:p>
            <a:r>
              <a:rPr lang="en-US" altLang="zh-CN" sz="2000">
                <a:latin typeface="Consolas" pitchFamily="49" charset="0"/>
                <a:ea typeface="仿宋" pitchFamily="49" charset="-122"/>
                <a:cs typeface="Consolas" pitchFamily="49" charset="0"/>
              </a:rPr>
              <a:t>    path</a:t>
            </a:r>
            <a:r>
              <a:rPr lang="en-US" altLang="zh-CN" sz="2000" baseline="-25000">
                <a:latin typeface="Consolas" pitchFamily="49" charset="0"/>
                <a:ea typeface="仿宋" pitchFamily="49" charset="-122"/>
                <a:cs typeface="Consolas" pitchFamily="49" charset="0"/>
              </a:rPr>
              <a:t>3</a:t>
            </a:r>
            <a:r>
              <a:rPr lang="en-US" altLang="zh-CN" sz="2000">
                <a:latin typeface="Consolas" pitchFamily="49" charset="0"/>
                <a:ea typeface="仿宋" pitchFamily="49" charset="-122"/>
                <a:cs typeface="Consolas" pitchFamily="49" charset="0"/>
              </a:rPr>
              <a:t>[</a:t>
            </a:r>
            <a:r>
              <a:rPr lang="en-US" altLang="zh-CN" sz="2000">
                <a:solidFill>
                  <a:srgbClr val="FF0000"/>
                </a:solidFill>
                <a:latin typeface="Consolas" pitchFamily="49" charset="0"/>
                <a:ea typeface="仿宋" pitchFamily="49" charset="-122"/>
                <a:cs typeface="Consolas" pitchFamily="49" charset="0"/>
              </a:rPr>
              <a:t>1</a:t>
            </a:r>
            <a:r>
              <a:rPr lang="en-US" altLang="zh-CN" sz="2000" dirty="0">
                <a:latin typeface="Consolas" pitchFamily="49" charset="0"/>
                <a:ea typeface="仿宋" pitchFamily="49" charset="-122"/>
                <a:cs typeface="Consolas" pitchFamily="49" charset="0"/>
              </a:rPr>
              <a:t>][</a:t>
            </a:r>
            <a:r>
              <a:rPr lang="en-US" altLang="zh-CN" sz="2000" dirty="0">
                <a:solidFill>
                  <a:srgbClr val="FF00FF"/>
                </a:solidFill>
                <a:latin typeface="Consolas" pitchFamily="49" charset="0"/>
                <a:ea typeface="仿宋" pitchFamily="49" charset="-122"/>
                <a:cs typeface="Consolas" pitchFamily="49" charset="0"/>
              </a:rPr>
              <a:t>3</a:t>
            </a:r>
            <a:r>
              <a:rPr lang="en-US" altLang="zh-CN" sz="2000" dirty="0">
                <a:latin typeface="Consolas" pitchFamily="49" charset="0"/>
                <a:ea typeface="仿宋" pitchFamily="49" charset="-122"/>
                <a:cs typeface="Consolas" pitchFamily="49" charset="0"/>
              </a:rPr>
              <a:t>]=</a:t>
            </a:r>
            <a:r>
              <a:rPr lang="en-US" altLang="zh-CN" sz="2000" dirty="0">
                <a:solidFill>
                  <a:srgbClr val="FF0000"/>
                </a:solidFill>
                <a:latin typeface="Consolas" pitchFamily="49" charset="0"/>
                <a:ea typeface="仿宋" pitchFamily="49" charset="-122"/>
                <a:cs typeface="Consolas" pitchFamily="49" charset="0"/>
              </a:rPr>
              <a:t>1</a:t>
            </a:r>
          </a:p>
          <a:p>
            <a:r>
              <a:rPr lang="zh-CN" altLang="en-US" sz="2000">
                <a:latin typeface="Consolas" pitchFamily="49" charset="0"/>
                <a:ea typeface="仿宋" pitchFamily="49" charset="-122"/>
                <a:cs typeface="Consolas" pitchFamily="49" charset="0"/>
              </a:rPr>
              <a:t>查找的顶</a:t>
            </a:r>
            <a:r>
              <a:rPr lang="zh-CN" altLang="en-US" sz="2000" dirty="0">
                <a:latin typeface="Consolas" pitchFamily="49" charset="0"/>
                <a:ea typeface="仿宋" pitchFamily="49" charset="-122"/>
                <a:cs typeface="Consolas" pitchFamily="49" charset="0"/>
              </a:rPr>
              <a:t>点序列为</a:t>
            </a:r>
            <a:r>
              <a:rPr lang="en-US" altLang="zh-CN" sz="2000" dirty="0">
                <a:solidFill>
                  <a:srgbClr val="FF00FF"/>
                </a:solidFill>
                <a:latin typeface="Consolas" pitchFamily="49" charset="0"/>
                <a:ea typeface="仿宋" pitchFamily="49" charset="-122"/>
                <a:cs typeface="Consolas" pitchFamily="49" charset="0"/>
              </a:rPr>
              <a:t>0</a:t>
            </a:r>
            <a:r>
              <a:rPr lang="zh-CN" altLang="en-US" sz="2000" dirty="0">
                <a:solidFill>
                  <a:srgbClr val="FF00FF"/>
                </a:solidFill>
                <a:latin typeface="Consolas" pitchFamily="49" charset="0"/>
                <a:ea typeface="仿宋" pitchFamily="49" charset="-122"/>
                <a:cs typeface="Consolas" pitchFamily="49" charset="0"/>
              </a:rPr>
              <a:t>、</a:t>
            </a:r>
            <a:r>
              <a:rPr lang="en-US" altLang="zh-CN" sz="2000" dirty="0">
                <a:solidFill>
                  <a:srgbClr val="FF00FF"/>
                </a:solidFill>
                <a:latin typeface="Consolas" pitchFamily="49" charset="0"/>
                <a:ea typeface="仿宋" pitchFamily="49" charset="-122"/>
                <a:cs typeface="Consolas" pitchFamily="49" charset="0"/>
              </a:rPr>
              <a:t>2</a:t>
            </a:r>
            <a:r>
              <a:rPr lang="zh-CN" altLang="en-US" sz="2000" dirty="0">
                <a:solidFill>
                  <a:srgbClr val="FF00FF"/>
                </a:solidFill>
                <a:latin typeface="Consolas" pitchFamily="49" charset="0"/>
                <a:ea typeface="仿宋" pitchFamily="49" charset="-122"/>
                <a:cs typeface="Consolas" pitchFamily="49" charset="0"/>
              </a:rPr>
              <a:t>、</a:t>
            </a:r>
            <a:r>
              <a:rPr lang="en-US" altLang="zh-CN" sz="2000" dirty="0">
                <a:solidFill>
                  <a:srgbClr val="FF00FF"/>
                </a:solidFill>
                <a:latin typeface="Consolas" pitchFamily="49" charset="0"/>
                <a:ea typeface="仿宋" pitchFamily="49" charset="-122"/>
                <a:cs typeface="Consolas" pitchFamily="49" charset="0"/>
              </a:rPr>
              <a:t>3</a:t>
            </a:r>
            <a:r>
              <a:rPr lang="zh-CN" altLang="en-US" sz="2000" dirty="0">
                <a:solidFill>
                  <a:srgbClr val="FF00FF"/>
                </a:solidFill>
                <a:latin typeface="Consolas" pitchFamily="49" charset="0"/>
                <a:ea typeface="仿宋" pitchFamily="49" charset="-122"/>
                <a:cs typeface="Consolas" pitchFamily="49" charset="0"/>
              </a:rPr>
              <a:t>、</a:t>
            </a:r>
            <a:r>
              <a:rPr lang="en-US" altLang="zh-CN" sz="2000" dirty="0">
                <a:solidFill>
                  <a:srgbClr val="FF00FF"/>
                </a:solidFill>
                <a:latin typeface="Consolas" pitchFamily="49" charset="0"/>
                <a:ea typeface="仿宋" pitchFamily="49" charset="-122"/>
                <a:cs typeface="Consolas" pitchFamily="49" charset="0"/>
              </a:rPr>
              <a:t>1</a:t>
            </a:r>
            <a:r>
              <a:rPr lang="zh-CN" altLang="en-US" sz="2000" dirty="0">
                <a:latin typeface="Consolas" pitchFamily="49" charset="0"/>
                <a:ea typeface="仿宋" pitchFamily="49" charset="-122"/>
                <a:cs typeface="Consolas" pitchFamily="49" charset="0"/>
              </a:rPr>
              <a:t>，则</a:t>
            </a:r>
            <a:r>
              <a:rPr lang="zh-CN" altLang="en-US" sz="2000">
                <a:latin typeface="Consolas" pitchFamily="49" charset="0"/>
                <a:ea typeface="仿宋" pitchFamily="49" charset="-122"/>
                <a:cs typeface="Consolas" pitchFamily="49" charset="0"/>
              </a:rPr>
              <a:t>顶点</a:t>
            </a:r>
            <a:r>
              <a:rPr lang="en-US" altLang="zh-CN" sz="2000">
                <a:latin typeface="Consolas" pitchFamily="49" charset="0"/>
                <a:ea typeface="仿宋" pitchFamily="49" charset="-122"/>
                <a:cs typeface="Consolas" pitchFamily="49" charset="0"/>
              </a:rPr>
              <a:t>1</a:t>
            </a:r>
            <a:r>
              <a:rPr lang="en-US" altLang="zh-CN" sz="2000">
                <a:latin typeface="Consolas" pitchFamily="49" charset="0"/>
                <a:ea typeface="仿宋" pitchFamily="49" charset="-122"/>
                <a:cs typeface="Consolas" pitchFamily="49" charset="0"/>
                <a:sym typeface="Wingdings"/>
              </a:rPr>
              <a:t>  </a:t>
            </a:r>
            <a:r>
              <a:rPr lang="en-US" altLang="zh-CN" sz="2000">
                <a:latin typeface="Consolas" pitchFamily="49" charset="0"/>
                <a:ea typeface="仿宋" pitchFamily="49" charset="-122"/>
                <a:cs typeface="Consolas" pitchFamily="49" charset="0"/>
              </a:rPr>
              <a:t>0</a:t>
            </a:r>
            <a:r>
              <a:rPr lang="zh-CN" altLang="en-US" sz="2000" dirty="0">
                <a:latin typeface="Consolas" pitchFamily="49" charset="0"/>
                <a:ea typeface="仿宋" pitchFamily="49" charset="-122"/>
                <a:cs typeface="Consolas" pitchFamily="49" charset="0"/>
              </a:rPr>
              <a:t>的最短路径为</a:t>
            </a:r>
            <a:r>
              <a:rPr lang="en-US" altLang="zh-CN" sz="2000" dirty="0">
                <a:solidFill>
                  <a:srgbClr val="FF0000"/>
                </a:solidFill>
                <a:latin typeface="Consolas" pitchFamily="49" charset="0"/>
                <a:ea typeface="仿宋" pitchFamily="49" charset="-122"/>
                <a:cs typeface="Consolas" pitchFamily="49" charset="0"/>
              </a:rPr>
              <a:t>1→3→2→0</a:t>
            </a:r>
            <a:r>
              <a:rPr lang="zh-CN" altLang="en-US" sz="2000" dirty="0">
                <a:latin typeface="Consolas" pitchFamily="49" charset="0"/>
                <a:ea typeface="仿宋" pitchFamily="49" charset="-122"/>
                <a:cs typeface="Consolas" pitchFamily="49" charset="0"/>
              </a:rPr>
              <a:t>。</a:t>
            </a:r>
          </a:p>
        </p:txBody>
      </p:sp>
      <p:sp>
        <p:nvSpPr>
          <p:cNvPr id="4" name="TextBox 6">
            <a:extLst>
              <a:ext uri="{FF2B5EF4-FFF2-40B4-BE49-F238E27FC236}">
                <a16:creationId xmlns:a16="http://schemas.microsoft.com/office/drawing/2014/main" id="{02984836-024C-CF04-1EF6-659F36170F67}"/>
              </a:ext>
            </a:extLst>
          </p:cNvPr>
          <p:cNvSpPr txBox="1"/>
          <p:nvPr/>
        </p:nvSpPr>
        <p:spPr>
          <a:xfrm>
            <a:off x="1847528" y="3202408"/>
            <a:ext cx="2214578" cy="453183"/>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tIns="72000" bIns="72000" rtlCol="0">
            <a:spAutoFit/>
          </a:bodyPr>
          <a:lstStyle/>
          <a:p>
            <a:r>
              <a:rPr lang="zh-CN" altLang="en-US" sz="2000">
                <a:latin typeface="Consolas" pitchFamily="49" charset="0"/>
                <a:ea typeface="楷体" pitchFamily="49" charset="-122"/>
                <a:cs typeface="Consolas" pitchFamily="49" charset="0"/>
                <a:sym typeface="Wingdings"/>
              </a:rPr>
              <a:t>  </a:t>
            </a:r>
            <a:r>
              <a:rPr lang="zh-CN" altLang="en-US" sz="2000">
                <a:latin typeface="Consolas" pitchFamily="49" charset="0"/>
                <a:ea typeface="楷体" pitchFamily="49" charset="-122"/>
                <a:cs typeface="Consolas" pitchFamily="49" charset="0"/>
              </a:rPr>
              <a:t>求</a:t>
            </a:r>
            <a:r>
              <a:rPr lang="zh-CN" altLang="en-US" sz="2000" dirty="0">
                <a:latin typeface="Consolas" pitchFamily="49" charset="0"/>
                <a:ea typeface="楷体" pitchFamily="49" charset="-122"/>
                <a:cs typeface="Consolas" pitchFamily="49" charset="0"/>
              </a:rPr>
              <a:t>最短路径：</a:t>
            </a:r>
          </a:p>
        </p:txBody>
      </p:sp>
      <p:sp>
        <p:nvSpPr>
          <p:cNvPr id="5" name="TextBox 16">
            <a:extLst>
              <a:ext uri="{FF2B5EF4-FFF2-40B4-BE49-F238E27FC236}">
                <a16:creationId xmlns:a16="http://schemas.microsoft.com/office/drawing/2014/main" id="{2535E79A-3C45-97A4-8872-EE016DC22DBF}"/>
              </a:ext>
            </a:extLst>
          </p:cNvPr>
          <p:cNvSpPr txBox="1"/>
          <p:nvPr/>
        </p:nvSpPr>
        <p:spPr>
          <a:xfrm>
            <a:off x="4347858" y="419514"/>
            <a:ext cx="642942" cy="430887"/>
          </a:xfrm>
          <a:prstGeom prst="rect">
            <a:avLst/>
          </a:prstGeom>
          <a:noFill/>
        </p:spPr>
        <p:txBody>
          <a:bodyPr wrap="square" rtlCol="0">
            <a:spAutoFit/>
          </a:bodyPr>
          <a:lstStyle/>
          <a:p>
            <a:r>
              <a:rPr lang="en-US" altLang="zh-CN" sz="2200" i="1">
                <a:latin typeface="Consolas" pitchFamily="49" charset="0"/>
                <a:cs typeface="Consolas" pitchFamily="49" charset="0"/>
              </a:rPr>
              <a:t>A</a:t>
            </a:r>
            <a:r>
              <a:rPr lang="en-US" altLang="zh-CN" sz="2200" baseline="-25000">
                <a:latin typeface="Consolas" pitchFamily="49" charset="0"/>
                <a:cs typeface="Consolas" pitchFamily="49" charset="0"/>
              </a:rPr>
              <a:t>3</a:t>
            </a:r>
            <a:endParaRPr lang="zh-CN" altLang="en-US" sz="2200" baseline="-25000">
              <a:latin typeface="Consolas" pitchFamily="49" charset="0"/>
              <a:cs typeface="Consolas" pitchFamily="49" charset="0"/>
            </a:endParaRPr>
          </a:p>
        </p:txBody>
      </p:sp>
      <p:graphicFrame>
        <p:nvGraphicFramePr>
          <p:cNvPr id="6" name="表格 5">
            <a:extLst>
              <a:ext uri="{FF2B5EF4-FFF2-40B4-BE49-F238E27FC236}">
                <a16:creationId xmlns:a16="http://schemas.microsoft.com/office/drawing/2014/main" id="{647E6DEF-4963-DCF8-0273-455024CCE875}"/>
              </a:ext>
            </a:extLst>
          </p:cNvPr>
          <p:cNvGraphicFramePr>
            <a:graphicFrameLocks noGrp="1"/>
          </p:cNvGraphicFramePr>
          <p:nvPr>
            <p:extLst>
              <p:ext uri="{D42A27DB-BD31-4B8C-83A1-F6EECF244321}">
                <p14:modId xmlns:p14="http://schemas.microsoft.com/office/powerpoint/2010/main" val="3201741326"/>
              </p:ext>
            </p:extLst>
          </p:nvPr>
        </p:nvGraphicFramePr>
        <p:xfrm>
          <a:off x="2847659" y="991018"/>
          <a:ext cx="3071835" cy="1854200"/>
        </p:xfrm>
        <a:graphic>
          <a:graphicData uri="http://schemas.openxmlformats.org/drawingml/2006/table">
            <a:tbl>
              <a:tblPr firstRow="1" bandRow="1">
                <a:tableStyleId>{E8B1032C-EA38-4F05-BA0D-38AFFFC7BED3}</a:tableStyleId>
              </a:tblPr>
              <a:tblGrid>
                <a:gridCol w="614367">
                  <a:extLst>
                    <a:ext uri="{9D8B030D-6E8A-4147-A177-3AD203B41FA5}">
                      <a16:colId xmlns:a16="http://schemas.microsoft.com/office/drawing/2014/main" val="20000"/>
                    </a:ext>
                  </a:extLst>
                </a:gridCol>
                <a:gridCol w="614367">
                  <a:extLst>
                    <a:ext uri="{9D8B030D-6E8A-4147-A177-3AD203B41FA5}">
                      <a16:colId xmlns:a16="http://schemas.microsoft.com/office/drawing/2014/main" val="20001"/>
                    </a:ext>
                  </a:extLst>
                </a:gridCol>
                <a:gridCol w="614367">
                  <a:extLst>
                    <a:ext uri="{9D8B030D-6E8A-4147-A177-3AD203B41FA5}">
                      <a16:colId xmlns:a16="http://schemas.microsoft.com/office/drawing/2014/main" val="20002"/>
                    </a:ext>
                  </a:extLst>
                </a:gridCol>
                <a:gridCol w="614367">
                  <a:extLst>
                    <a:ext uri="{9D8B030D-6E8A-4147-A177-3AD203B41FA5}">
                      <a16:colId xmlns:a16="http://schemas.microsoft.com/office/drawing/2014/main" val="20003"/>
                    </a:ext>
                  </a:extLst>
                </a:gridCol>
                <a:gridCol w="614367">
                  <a:extLst>
                    <a:ext uri="{9D8B030D-6E8A-4147-A177-3AD203B41FA5}">
                      <a16:colId xmlns:a16="http://schemas.microsoft.com/office/drawing/2014/main" val="20004"/>
                    </a:ext>
                  </a:extLst>
                </a:gridCol>
              </a:tblGrid>
              <a:tr h="370840">
                <a:tc>
                  <a:txBody>
                    <a:bodyPr/>
                    <a:lstStyle/>
                    <a:p>
                      <a:pPr algn="ctr"/>
                      <a:endParaRPr lang="zh-CN" altLang="en-US" b="1">
                        <a:solidFill>
                          <a:srgbClr val="3333FF"/>
                        </a:solidFill>
                        <a:latin typeface="Consolas" pitchFamily="49" charset="0"/>
                        <a:cs typeface="Consolas" pitchFamily="49" charset="0"/>
                      </a:endParaRPr>
                    </a:p>
                  </a:txBody>
                  <a:tcPr>
                    <a:solidFill>
                      <a:schemeClr val="tx2">
                        <a:lumMod val="40000"/>
                        <a:lumOff val="60000"/>
                      </a:schemeClr>
                    </a:solidFill>
                  </a:tcPr>
                </a:tc>
                <a:tc>
                  <a:txBody>
                    <a:bodyPr/>
                    <a:lstStyle/>
                    <a:p>
                      <a:pPr algn="ctr"/>
                      <a:r>
                        <a:rPr lang="en-US" altLang="zh-CN" sz="1600" b="1">
                          <a:solidFill>
                            <a:srgbClr val="FF0000"/>
                          </a:solidFill>
                          <a:latin typeface="Consolas" pitchFamily="49" charset="0"/>
                          <a:cs typeface="Consolas" pitchFamily="49" charset="0"/>
                        </a:rPr>
                        <a:t>0</a:t>
                      </a:r>
                      <a:endParaRPr lang="zh-CN" altLang="en-US" sz="1600" b="1">
                        <a:solidFill>
                          <a:srgbClr val="FF0000"/>
                        </a:solidFill>
                        <a:latin typeface="Consolas" pitchFamily="49" charset="0"/>
                        <a:cs typeface="Consolas" pitchFamily="49" charset="0"/>
                      </a:endParaRPr>
                    </a:p>
                  </a:txBody>
                  <a:tcPr>
                    <a:solidFill>
                      <a:schemeClr val="tx2">
                        <a:lumMod val="40000"/>
                        <a:lumOff val="60000"/>
                      </a:schemeClr>
                    </a:solidFill>
                  </a:tcPr>
                </a:tc>
                <a:tc>
                  <a:txBody>
                    <a:bodyPr/>
                    <a:lstStyle/>
                    <a:p>
                      <a:pPr algn="ctr"/>
                      <a:r>
                        <a:rPr lang="en-US" altLang="zh-CN" sz="1600" b="1">
                          <a:solidFill>
                            <a:srgbClr val="FF0000"/>
                          </a:solidFill>
                          <a:latin typeface="Consolas" pitchFamily="49" charset="0"/>
                          <a:cs typeface="Consolas" pitchFamily="49" charset="0"/>
                        </a:rPr>
                        <a:t>1</a:t>
                      </a:r>
                      <a:endParaRPr lang="zh-CN" altLang="en-US" sz="1600" b="1">
                        <a:solidFill>
                          <a:srgbClr val="FF0000"/>
                        </a:solidFill>
                        <a:latin typeface="Consolas" pitchFamily="49" charset="0"/>
                        <a:cs typeface="Consolas" pitchFamily="49" charset="0"/>
                      </a:endParaRPr>
                    </a:p>
                  </a:txBody>
                  <a:tcPr>
                    <a:solidFill>
                      <a:schemeClr val="tx2">
                        <a:lumMod val="40000"/>
                        <a:lumOff val="60000"/>
                      </a:schemeClr>
                    </a:solidFill>
                  </a:tcPr>
                </a:tc>
                <a:tc>
                  <a:txBody>
                    <a:bodyPr/>
                    <a:lstStyle/>
                    <a:p>
                      <a:pPr algn="ctr"/>
                      <a:r>
                        <a:rPr lang="en-US" altLang="zh-CN" sz="1600" b="1">
                          <a:solidFill>
                            <a:srgbClr val="FF0000"/>
                          </a:solidFill>
                          <a:latin typeface="Consolas" pitchFamily="49" charset="0"/>
                          <a:cs typeface="Consolas" pitchFamily="49" charset="0"/>
                        </a:rPr>
                        <a:t>2</a:t>
                      </a:r>
                      <a:endParaRPr lang="zh-CN" altLang="en-US" sz="1600" b="1">
                        <a:solidFill>
                          <a:srgbClr val="FF0000"/>
                        </a:solidFill>
                        <a:latin typeface="Consolas" pitchFamily="49" charset="0"/>
                        <a:cs typeface="Consolas" pitchFamily="49" charset="0"/>
                      </a:endParaRPr>
                    </a:p>
                  </a:txBody>
                  <a:tcPr>
                    <a:solidFill>
                      <a:schemeClr val="tx2">
                        <a:lumMod val="40000"/>
                        <a:lumOff val="60000"/>
                      </a:schemeClr>
                    </a:solidFill>
                  </a:tcPr>
                </a:tc>
                <a:tc>
                  <a:txBody>
                    <a:bodyPr/>
                    <a:lstStyle/>
                    <a:p>
                      <a:pPr algn="ctr"/>
                      <a:r>
                        <a:rPr lang="en-US" altLang="zh-CN" sz="1600" b="1">
                          <a:solidFill>
                            <a:srgbClr val="FF0000"/>
                          </a:solidFill>
                          <a:latin typeface="Consolas" pitchFamily="49" charset="0"/>
                          <a:cs typeface="Consolas" pitchFamily="49" charset="0"/>
                        </a:rPr>
                        <a:t>3</a:t>
                      </a:r>
                      <a:endParaRPr lang="zh-CN" altLang="en-US" sz="1600" b="1">
                        <a:solidFill>
                          <a:srgbClr val="FF0000"/>
                        </a:solidFill>
                        <a:latin typeface="Consolas" pitchFamily="49" charset="0"/>
                        <a:cs typeface="Consolas" pitchFamily="49" charset="0"/>
                      </a:endParaRPr>
                    </a:p>
                  </a:txBody>
                  <a:tcPr>
                    <a:solidFill>
                      <a:schemeClr val="tx2">
                        <a:lumMod val="40000"/>
                        <a:lumOff val="60000"/>
                      </a:schemeClr>
                    </a:solidFill>
                  </a:tcPr>
                </a:tc>
                <a:extLst>
                  <a:ext uri="{0D108BD9-81ED-4DB2-BD59-A6C34878D82A}">
                    <a16:rowId xmlns:a16="http://schemas.microsoft.com/office/drawing/2014/main" val="10000"/>
                  </a:ext>
                </a:extLst>
              </a:tr>
              <a:tr h="370840">
                <a:tc>
                  <a:txBody>
                    <a:bodyPr/>
                    <a:lstStyle/>
                    <a:p>
                      <a:pPr algn="ctr"/>
                      <a:r>
                        <a:rPr lang="en-US" altLang="zh-CN" sz="1600" b="1">
                          <a:solidFill>
                            <a:srgbClr val="FF0000"/>
                          </a:solidFill>
                          <a:latin typeface="Consolas" pitchFamily="49" charset="0"/>
                          <a:cs typeface="Consolas" pitchFamily="49" charset="0"/>
                        </a:rPr>
                        <a:t>0</a:t>
                      </a:r>
                      <a:endParaRPr lang="zh-CN" altLang="en-US" sz="1600" b="1">
                        <a:solidFill>
                          <a:srgbClr val="FF0000"/>
                        </a:solidFill>
                        <a:latin typeface="Consolas" pitchFamily="49" charset="0"/>
                        <a:cs typeface="Consolas" pitchFamily="49" charset="0"/>
                      </a:endParaRPr>
                    </a:p>
                  </a:txBody>
                  <a:tcPr>
                    <a:solidFill>
                      <a:schemeClr val="tx2">
                        <a:lumMod val="40000"/>
                        <a:lumOff val="60000"/>
                      </a:schemeClr>
                    </a:solidFill>
                  </a:tcPr>
                </a:tc>
                <a:tc>
                  <a:txBody>
                    <a:bodyPr/>
                    <a:lstStyle/>
                    <a:p>
                      <a:pPr algn="ctr"/>
                      <a:r>
                        <a:rPr lang="en-US" altLang="zh-CN" b="1">
                          <a:solidFill>
                            <a:srgbClr val="3333FF"/>
                          </a:solidFill>
                          <a:latin typeface="Consolas" pitchFamily="49" charset="0"/>
                          <a:cs typeface="Consolas" pitchFamily="49" charset="0"/>
                        </a:rPr>
                        <a:t>0</a:t>
                      </a:r>
                      <a:endParaRPr lang="zh-CN" altLang="en-US" b="1">
                        <a:solidFill>
                          <a:srgbClr val="3333FF"/>
                        </a:solidFill>
                        <a:latin typeface="Consolas" pitchFamily="49" charset="0"/>
                        <a:cs typeface="Consolas" pitchFamily="49" charset="0"/>
                      </a:endParaRPr>
                    </a:p>
                  </a:txBody>
                  <a:tcPr/>
                </a:tc>
                <a:tc>
                  <a:txBody>
                    <a:bodyPr/>
                    <a:lstStyle/>
                    <a:p>
                      <a:pPr algn="ctr"/>
                      <a:r>
                        <a:rPr lang="en-US" altLang="zh-CN" b="1">
                          <a:solidFill>
                            <a:srgbClr val="3333FF"/>
                          </a:solidFill>
                          <a:latin typeface="Consolas" pitchFamily="49" charset="0"/>
                          <a:cs typeface="Consolas" pitchFamily="49" charset="0"/>
                        </a:rPr>
                        <a:t>5</a:t>
                      </a:r>
                      <a:endParaRPr lang="zh-CN" altLang="en-US" b="1">
                        <a:solidFill>
                          <a:srgbClr val="3333FF"/>
                        </a:solidFill>
                        <a:latin typeface="Consolas" pitchFamily="49" charset="0"/>
                        <a:cs typeface="Consolas" pitchFamily="49" charset="0"/>
                      </a:endParaRPr>
                    </a:p>
                  </a:txBody>
                  <a:tcPr/>
                </a:tc>
                <a:tc>
                  <a:txBody>
                    <a:bodyPr/>
                    <a:lstStyle/>
                    <a:p>
                      <a:pPr algn="ctr"/>
                      <a:r>
                        <a:rPr lang="en-US" altLang="zh-CN" b="1">
                          <a:solidFill>
                            <a:srgbClr val="3333FF"/>
                          </a:solidFill>
                          <a:latin typeface="Consolas" pitchFamily="49" charset="0"/>
                          <a:cs typeface="Consolas" pitchFamily="49" charset="0"/>
                        </a:rPr>
                        <a:t>8</a:t>
                      </a:r>
                      <a:endParaRPr lang="zh-CN" altLang="en-US" b="1">
                        <a:solidFill>
                          <a:srgbClr val="3333FF"/>
                        </a:solidFill>
                        <a:latin typeface="Consolas" pitchFamily="49" charset="0"/>
                        <a:cs typeface="Consolas" pitchFamily="49" charset="0"/>
                      </a:endParaRPr>
                    </a:p>
                  </a:txBody>
                  <a:tcPr/>
                </a:tc>
                <a:tc>
                  <a:txBody>
                    <a:bodyPr/>
                    <a:lstStyle/>
                    <a:p>
                      <a:pPr algn="ctr"/>
                      <a:r>
                        <a:rPr lang="en-US" altLang="zh-CN" b="1">
                          <a:solidFill>
                            <a:srgbClr val="3333FF"/>
                          </a:solidFill>
                          <a:latin typeface="Consolas" pitchFamily="49" charset="0"/>
                          <a:cs typeface="Consolas" pitchFamily="49" charset="0"/>
                        </a:rPr>
                        <a:t>7</a:t>
                      </a:r>
                      <a:endParaRPr lang="zh-CN" altLang="en-US" b="1">
                        <a:solidFill>
                          <a:srgbClr val="3333FF"/>
                        </a:solidFill>
                        <a:latin typeface="Consolas" pitchFamily="49" charset="0"/>
                        <a:cs typeface="Consolas" pitchFamily="49" charset="0"/>
                      </a:endParaRPr>
                    </a:p>
                  </a:txBody>
                  <a:tcPr/>
                </a:tc>
                <a:extLst>
                  <a:ext uri="{0D108BD9-81ED-4DB2-BD59-A6C34878D82A}">
                    <a16:rowId xmlns:a16="http://schemas.microsoft.com/office/drawing/2014/main" val="10001"/>
                  </a:ext>
                </a:extLst>
              </a:tr>
              <a:tr h="370840">
                <a:tc>
                  <a:txBody>
                    <a:bodyPr/>
                    <a:lstStyle/>
                    <a:p>
                      <a:pPr algn="ctr"/>
                      <a:r>
                        <a:rPr lang="en-US" altLang="zh-CN" sz="1600" b="1">
                          <a:solidFill>
                            <a:srgbClr val="FF0000"/>
                          </a:solidFill>
                          <a:latin typeface="Consolas" pitchFamily="49" charset="0"/>
                          <a:cs typeface="Consolas" pitchFamily="49" charset="0"/>
                        </a:rPr>
                        <a:t>1</a:t>
                      </a:r>
                      <a:endParaRPr lang="zh-CN" altLang="en-US" sz="1600" b="1">
                        <a:solidFill>
                          <a:srgbClr val="FF0000"/>
                        </a:solidFill>
                        <a:latin typeface="Consolas" pitchFamily="49" charset="0"/>
                        <a:cs typeface="Consolas" pitchFamily="49" charset="0"/>
                      </a:endParaRPr>
                    </a:p>
                  </a:txBody>
                  <a:tcPr>
                    <a:solidFill>
                      <a:schemeClr val="tx2">
                        <a:lumMod val="40000"/>
                        <a:lumOff val="6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b="1">
                          <a:solidFill>
                            <a:srgbClr val="3333FF"/>
                          </a:solidFill>
                          <a:latin typeface="Consolas" pitchFamily="49" charset="0"/>
                          <a:cs typeface="Consolas" pitchFamily="49" charset="0"/>
                        </a:rPr>
                        <a:t>6</a:t>
                      </a:r>
                      <a:endParaRPr lang="zh-CN" altLang="en-US" b="1">
                        <a:solidFill>
                          <a:srgbClr val="3333FF"/>
                        </a:solidFill>
                        <a:latin typeface="Consolas" pitchFamily="49" charset="0"/>
                        <a:cs typeface="Consolas" pitchFamily="49" charset="0"/>
                      </a:endParaRPr>
                    </a:p>
                  </a:txBody>
                  <a:tcPr/>
                </a:tc>
                <a:tc>
                  <a:txBody>
                    <a:bodyPr/>
                    <a:lstStyle/>
                    <a:p>
                      <a:pPr algn="ctr"/>
                      <a:r>
                        <a:rPr lang="en-US" altLang="zh-CN" b="1">
                          <a:solidFill>
                            <a:srgbClr val="3333FF"/>
                          </a:solidFill>
                          <a:latin typeface="Consolas" pitchFamily="49" charset="0"/>
                          <a:cs typeface="Consolas" pitchFamily="49" charset="0"/>
                        </a:rPr>
                        <a:t>0</a:t>
                      </a:r>
                      <a:endParaRPr lang="zh-CN" altLang="en-US" b="1">
                        <a:solidFill>
                          <a:srgbClr val="3333FF"/>
                        </a:solidFill>
                        <a:latin typeface="Consolas" pitchFamily="49" charset="0"/>
                        <a:cs typeface="Consolas" pitchFamily="49" charset="0"/>
                      </a:endParaRPr>
                    </a:p>
                  </a:txBody>
                  <a:tcPr/>
                </a:tc>
                <a:tc>
                  <a:txBody>
                    <a:bodyPr/>
                    <a:lstStyle/>
                    <a:p>
                      <a:pPr algn="ctr"/>
                      <a:r>
                        <a:rPr lang="en-US" altLang="zh-CN" b="1">
                          <a:solidFill>
                            <a:srgbClr val="3333FF"/>
                          </a:solidFill>
                          <a:latin typeface="Consolas" pitchFamily="49" charset="0"/>
                          <a:cs typeface="Consolas" pitchFamily="49" charset="0"/>
                        </a:rPr>
                        <a:t>3</a:t>
                      </a:r>
                      <a:endParaRPr lang="zh-CN" altLang="en-US" b="1">
                        <a:solidFill>
                          <a:srgbClr val="3333FF"/>
                        </a:solidFill>
                        <a:latin typeface="Consolas" pitchFamily="49" charset="0"/>
                        <a:cs typeface="Consolas" pitchFamily="49" charset="0"/>
                      </a:endParaRPr>
                    </a:p>
                  </a:txBody>
                  <a:tcPr/>
                </a:tc>
                <a:tc>
                  <a:txBody>
                    <a:bodyPr/>
                    <a:lstStyle/>
                    <a:p>
                      <a:pPr algn="ctr"/>
                      <a:r>
                        <a:rPr lang="en-US" altLang="zh-CN" b="1">
                          <a:solidFill>
                            <a:srgbClr val="3333FF"/>
                          </a:solidFill>
                          <a:latin typeface="Consolas" pitchFamily="49" charset="0"/>
                          <a:cs typeface="Consolas" pitchFamily="49" charset="0"/>
                        </a:rPr>
                        <a:t>2</a:t>
                      </a:r>
                      <a:endParaRPr lang="zh-CN" altLang="en-US" b="1">
                        <a:solidFill>
                          <a:srgbClr val="3333FF"/>
                        </a:solidFill>
                        <a:latin typeface="Consolas" pitchFamily="49" charset="0"/>
                        <a:cs typeface="Consolas" pitchFamily="49" charset="0"/>
                      </a:endParaRPr>
                    </a:p>
                  </a:txBody>
                  <a:tcPr/>
                </a:tc>
                <a:extLst>
                  <a:ext uri="{0D108BD9-81ED-4DB2-BD59-A6C34878D82A}">
                    <a16:rowId xmlns:a16="http://schemas.microsoft.com/office/drawing/2014/main" val="10002"/>
                  </a:ext>
                </a:extLst>
              </a:tr>
              <a:tr h="370840">
                <a:tc>
                  <a:txBody>
                    <a:bodyPr/>
                    <a:lstStyle/>
                    <a:p>
                      <a:pPr algn="ctr"/>
                      <a:r>
                        <a:rPr lang="en-US" altLang="zh-CN" sz="1600" b="1">
                          <a:solidFill>
                            <a:srgbClr val="FF0000"/>
                          </a:solidFill>
                          <a:latin typeface="Consolas" pitchFamily="49" charset="0"/>
                          <a:cs typeface="Consolas" pitchFamily="49" charset="0"/>
                        </a:rPr>
                        <a:t>2</a:t>
                      </a:r>
                      <a:endParaRPr lang="zh-CN" altLang="en-US" sz="1600" b="1">
                        <a:solidFill>
                          <a:srgbClr val="FF0000"/>
                        </a:solidFill>
                        <a:latin typeface="Consolas" pitchFamily="49" charset="0"/>
                        <a:cs typeface="Consolas" pitchFamily="49" charset="0"/>
                      </a:endParaRPr>
                    </a:p>
                  </a:txBody>
                  <a:tcPr>
                    <a:solidFill>
                      <a:schemeClr val="tx2">
                        <a:lumMod val="40000"/>
                        <a:lumOff val="60000"/>
                      </a:schemeClr>
                    </a:solidFill>
                  </a:tcPr>
                </a:tc>
                <a:tc>
                  <a:txBody>
                    <a:bodyPr/>
                    <a:lstStyle/>
                    <a:p>
                      <a:pPr algn="ctr"/>
                      <a:r>
                        <a:rPr lang="en-US" altLang="zh-CN" b="1">
                          <a:solidFill>
                            <a:srgbClr val="3333FF"/>
                          </a:solidFill>
                          <a:latin typeface="Consolas" pitchFamily="49" charset="0"/>
                          <a:cs typeface="Consolas" pitchFamily="49" charset="0"/>
                        </a:rPr>
                        <a:t>3</a:t>
                      </a:r>
                      <a:endParaRPr lang="zh-CN" altLang="en-US" b="1">
                        <a:solidFill>
                          <a:srgbClr val="3333FF"/>
                        </a:solidFill>
                        <a:latin typeface="Consolas" pitchFamily="49" charset="0"/>
                        <a:cs typeface="Consolas" pitchFamily="49" charset="0"/>
                      </a:endParaRPr>
                    </a:p>
                  </a:txBody>
                  <a:tcPr/>
                </a:tc>
                <a:tc>
                  <a:txBody>
                    <a:bodyPr/>
                    <a:lstStyle/>
                    <a:p>
                      <a:pPr algn="ctr"/>
                      <a:r>
                        <a:rPr lang="en-US" altLang="zh-CN" b="1">
                          <a:solidFill>
                            <a:srgbClr val="3333FF"/>
                          </a:solidFill>
                          <a:latin typeface="Consolas" pitchFamily="49" charset="0"/>
                          <a:cs typeface="Consolas" pitchFamily="49" charset="0"/>
                        </a:rPr>
                        <a:t>3</a:t>
                      </a:r>
                      <a:endParaRPr lang="zh-CN" altLang="en-US" b="1">
                        <a:solidFill>
                          <a:srgbClr val="3333FF"/>
                        </a:solidFill>
                        <a:latin typeface="Consolas" pitchFamily="49" charset="0"/>
                        <a:cs typeface="Consolas" pitchFamily="49" charset="0"/>
                      </a:endParaRPr>
                    </a:p>
                  </a:txBody>
                  <a:tcPr/>
                </a:tc>
                <a:tc>
                  <a:txBody>
                    <a:bodyPr/>
                    <a:lstStyle/>
                    <a:p>
                      <a:pPr algn="ctr"/>
                      <a:r>
                        <a:rPr lang="en-US" altLang="zh-CN" b="1">
                          <a:solidFill>
                            <a:srgbClr val="3333FF"/>
                          </a:solidFill>
                          <a:latin typeface="Consolas" pitchFamily="49" charset="0"/>
                          <a:cs typeface="Consolas" pitchFamily="49" charset="0"/>
                        </a:rPr>
                        <a:t>0</a:t>
                      </a:r>
                      <a:endParaRPr lang="zh-CN" altLang="en-US" b="1">
                        <a:solidFill>
                          <a:srgbClr val="3333FF"/>
                        </a:solidFill>
                        <a:latin typeface="Consolas" pitchFamily="49" charset="0"/>
                        <a:cs typeface="Consolas" pitchFamily="49" charset="0"/>
                      </a:endParaRPr>
                    </a:p>
                  </a:txBody>
                  <a:tcPr/>
                </a:tc>
                <a:tc>
                  <a:txBody>
                    <a:bodyPr/>
                    <a:lstStyle/>
                    <a:p>
                      <a:pPr algn="ctr"/>
                      <a:r>
                        <a:rPr lang="en-US" altLang="zh-CN" b="1">
                          <a:solidFill>
                            <a:srgbClr val="3333FF"/>
                          </a:solidFill>
                          <a:latin typeface="Consolas" pitchFamily="49" charset="0"/>
                          <a:cs typeface="Consolas" pitchFamily="49" charset="0"/>
                        </a:rPr>
                        <a:t>2</a:t>
                      </a:r>
                      <a:endParaRPr lang="zh-CN" altLang="en-US" b="1">
                        <a:solidFill>
                          <a:srgbClr val="3333FF"/>
                        </a:solidFill>
                        <a:latin typeface="Consolas" pitchFamily="49" charset="0"/>
                        <a:cs typeface="Consolas" pitchFamily="49" charset="0"/>
                      </a:endParaRPr>
                    </a:p>
                  </a:txBody>
                  <a:tcPr/>
                </a:tc>
                <a:extLst>
                  <a:ext uri="{0D108BD9-81ED-4DB2-BD59-A6C34878D82A}">
                    <a16:rowId xmlns:a16="http://schemas.microsoft.com/office/drawing/2014/main" val="10003"/>
                  </a:ext>
                </a:extLst>
              </a:tr>
              <a:tr h="370840">
                <a:tc>
                  <a:txBody>
                    <a:bodyPr/>
                    <a:lstStyle/>
                    <a:p>
                      <a:pPr algn="ctr"/>
                      <a:r>
                        <a:rPr lang="en-US" altLang="zh-CN" sz="1600" b="1">
                          <a:solidFill>
                            <a:srgbClr val="FF0000"/>
                          </a:solidFill>
                          <a:latin typeface="Consolas" pitchFamily="49" charset="0"/>
                          <a:cs typeface="Consolas" pitchFamily="49" charset="0"/>
                        </a:rPr>
                        <a:t>3</a:t>
                      </a:r>
                      <a:endParaRPr lang="zh-CN" altLang="en-US" sz="1600" b="1">
                        <a:solidFill>
                          <a:srgbClr val="FF0000"/>
                        </a:solidFill>
                        <a:latin typeface="Consolas" pitchFamily="49" charset="0"/>
                        <a:cs typeface="Consolas" pitchFamily="49" charset="0"/>
                      </a:endParaRPr>
                    </a:p>
                  </a:txBody>
                  <a:tcPr>
                    <a:solidFill>
                      <a:schemeClr val="tx2">
                        <a:lumMod val="40000"/>
                        <a:lumOff val="6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b="1">
                          <a:solidFill>
                            <a:srgbClr val="3333FF"/>
                          </a:solidFill>
                          <a:latin typeface="Consolas" pitchFamily="49" charset="0"/>
                          <a:cs typeface="Consolas" pitchFamily="49" charset="0"/>
                        </a:rPr>
                        <a:t>4</a:t>
                      </a:r>
                      <a:endParaRPr lang="zh-CN" altLang="en-US" b="1">
                        <a:solidFill>
                          <a:srgbClr val="3333FF"/>
                        </a:solidFill>
                        <a:latin typeface="Consolas" pitchFamily="49" charset="0"/>
                        <a:cs typeface="Consolas"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b="1">
                          <a:solidFill>
                            <a:srgbClr val="3333FF"/>
                          </a:solidFill>
                          <a:latin typeface="Consolas" pitchFamily="49" charset="0"/>
                          <a:cs typeface="Consolas" pitchFamily="49" charset="0"/>
                        </a:rPr>
                        <a:t>4</a:t>
                      </a:r>
                      <a:endParaRPr lang="zh-CN" altLang="en-US" b="1">
                        <a:solidFill>
                          <a:srgbClr val="3333FF"/>
                        </a:solidFill>
                        <a:latin typeface="Consolas" pitchFamily="49" charset="0"/>
                        <a:cs typeface="Consolas" pitchFamily="49" charset="0"/>
                      </a:endParaRPr>
                    </a:p>
                  </a:txBody>
                  <a:tcPr/>
                </a:tc>
                <a:tc>
                  <a:txBody>
                    <a:bodyPr/>
                    <a:lstStyle/>
                    <a:p>
                      <a:pPr algn="ctr"/>
                      <a:r>
                        <a:rPr lang="en-US" altLang="zh-CN" b="1">
                          <a:solidFill>
                            <a:srgbClr val="3333FF"/>
                          </a:solidFill>
                          <a:latin typeface="Consolas" pitchFamily="49" charset="0"/>
                          <a:cs typeface="Consolas" pitchFamily="49" charset="0"/>
                        </a:rPr>
                        <a:t>1</a:t>
                      </a:r>
                      <a:endParaRPr lang="zh-CN" altLang="en-US" b="1">
                        <a:solidFill>
                          <a:srgbClr val="3333FF"/>
                        </a:solidFill>
                        <a:latin typeface="Consolas" pitchFamily="49" charset="0"/>
                        <a:cs typeface="Consolas" pitchFamily="49" charset="0"/>
                      </a:endParaRPr>
                    </a:p>
                  </a:txBody>
                  <a:tcPr/>
                </a:tc>
                <a:tc>
                  <a:txBody>
                    <a:bodyPr/>
                    <a:lstStyle/>
                    <a:p>
                      <a:pPr algn="ctr"/>
                      <a:r>
                        <a:rPr lang="en-US" altLang="zh-CN" b="1">
                          <a:solidFill>
                            <a:srgbClr val="3333FF"/>
                          </a:solidFill>
                          <a:latin typeface="Consolas" pitchFamily="49" charset="0"/>
                          <a:cs typeface="Consolas" pitchFamily="49" charset="0"/>
                        </a:rPr>
                        <a:t>0</a:t>
                      </a:r>
                      <a:endParaRPr lang="zh-CN" altLang="en-US" b="1">
                        <a:solidFill>
                          <a:srgbClr val="3333FF"/>
                        </a:solidFill>
                        <a:latin typeface="Consolas" pitchFamily="49" charset="0"/>
                        <a:cs typeface="Consolas" pitchFamily="49" charset="0"/>
                      </a:endParaRPr>
                    </a:p>
                  </a:txBody>
                  <a:tcPr/>
                </a:tc>
                <a:extLst>
                  <a:ext uri="{0D108BD9-81ED-4DB2-BD59-A6C34878D82A}">
                    <a16:rowId xmlns:a16="http://schemas.microsoft.com/office/drawing/2014/main" val="10004"/>
                  </a:ext>
                </a:extLst>
              </a:tr>
            </a:tbl>
          </a:graphicData>
        </a:graphic>
      </p:graphicFrame>
      <p:sp>
        <p:nvSpPr>
          <p:cNvPr id="7" name="TextBox 20">
            <a:extLst>
              <a:ext uri="{FF2B5EF4-FFF2-40B4-BE49-F238E27FC236}">
                <a16:creationId xmlns:a16="http://schemas.microsoft.com/office/drawing/2014/main" id="{B112B3A1-6B88-B0FA-74A7-0E772963FF86}"/>
              </a:ext>
            </a:extLst>
          </p:cNvPr>
          <p:cNvSpPr txBox="1"/>
          <p:nvPr/>
        </p:nvSpPr>
        <p:spPr>
          <a:xfrm>
            <a:off x="8419822" y="419514"/>
            <a:ext cx="1000133" cy="430887"/>
          </a:xfrm>
          <a:prstGeom prst="rect">
            <a:avLst/>
          </a:prstGeom>
          <a:noFill/>
        </p:spPr>
        <p:txBody>
          <a:bodyPr wrap="square" rtlCol="0">
            <a:spAutoFit/>
          </a:bodyPr>
          <a:lstStyle/>
          <a:p>
            <a:r>
              <a:rPr lang="en-US" altLang="zh-CN" sz="2200">
                <a:latin typeface="Consolas" pitchFamily="49" charset="0"/>
                <a:cs typeface="Consolas" pitchFamily="49" charset="0"/>
              </a:rPr>
              <a:t>path</a:t>
            </a:r>
            <a:r>
              <a:rPr lang="en-US" altLang="zh-CN" sz="2200" baseline="-25000">
                <a:latin typeface="Consolas" pitchFamily="49" charset="0"/>
                <a:cs typeface="Consolas" pitchFamily="49" charset="0"/>
              </a:rPr>
              <a:t>3</a:t>
            </a:r>
            <a:endParaRPr lang="zh-CN" altLang="en-US" sz="2200" baseline="-25000">
              <a:latin typeface="Consolas" pitchFamily="49" charset="0"/>
              <a:cs typeface="Consolas" pitchFamily="49" charset="0"/>
            </a:endParaRPr>
          </a:p>
        </p:txBody>
      </p:sp>
      <p:grpSp>
        <p:nvGrpSpPr>
          <p:cNvPr id="8" name="组合 31">
            <a:extLst>
              <a:ext uri="{FF2B5EF4-FFF2-40B4-BE49-F238E27FC236}">
                <a16:creationId xmlns:a16="http://schemas.microsoft.com/office/drawing/2014/main" id="{8DEF5092-96DC-1082-8129-8C11D770F005}"/>
              </a:ext>
            </a:extLst>
          </p:cNvPr>
          <p:cNvGrpSpPr/>
          <p:nvPr/>
        </p:nvGrpSpPr>
        <p:grpSpPr>
          <a:xfrm>
            <a:off x="4133544" y="1630772"/>
            <a:ext cx="5429288" cy="3214710"/>
            <a:chOff x="2714612" y="1428736"/>
            <a:chExt cx="5429288" cy="3214710"/>
          </a:xfrm>
        </p:grpSpPr>
        <p:sp>
          <p:nvSpPr>
            <p:cNvPr id="9" name="椭圆 8">
              <a:extLst>
                <a:ext uri="{FF2B5EF4-FFF2-40B4-BE49-F238E27FC236}">
                  <a16:creationId xmlns:a16="http://schemas.microsoft.com/office/drawing/2014/main" id="{5FE3607A-052D-4D5E-9D57-BB055DC45350}"/>
                </a:ext>
              </a:extLst>
            </p:cNvPr>
            <p:cNvSpPr/>
            <p:nvPr/>
          </p:nvSpPr>
          <p:spPr>
            <a:xfrm>
              <a:off x="7500958" y="1428736"/>
              <a:ext cx="642942" cy="571504"/>
            </a:xfrm>
            <a:prstGeom prst="ellipse">
              <a:avLst/>
            </a:prstGeom>
            <a:solidFill>
              <a:schemeClr val="accent1">
                <a:alpha val="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Consolas" pitchFamily="49" charset="0"/>
                <a:cs typeface="Consolas" pitchFamily="49" charset="0"/>
              </a:endParaRPr>
            </a:p>
          </p:txBody>
        </p:sp>
        <p:cxnSp>
          <p:nvCxnSpPr>
            <p:cNvPr id="10" name="直接箭头连接符 9">
              <a:extLst>
                <a:ext uri="{FF2B5EF4-FFF2-40B4-BE49-F238E27FC236}">
                  <a16:creationId xmlns:a16="http://schemas.microsoft.com/office/drawing/2014/main" id="{2CCD32EC-B1E5-D615-B38E-5D60683BA36F}"/>
                </a:ext>
              </a:extLst>
            </p:cNvPr>
            <p:cNvCxnSpPr/>
            <p:nvPr/>
          </p:nvCxnSpPr>
          <p:spPr>
            <a:xfrm flipV="1">
              <a:off x="2714612" y="1928802"/>
              <a:ext cx="4929222" cy="2714644"/>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1" name="矩形 10">
              <a:extLst>
                <a:ext uri="{FF2B5EF4-FFF2-40B4-BE49-F238E27FC236}">
                  <a16:creationId xmlns:a16="http://schemas.microsoft.com/office/drawing/2014/main" id="{A494B885-FB92-F763-CCCB-784AAD21A637}"/>
                </a:ext>
              </a:extLst>
            </p:cNvPr>
            <p:cNvSpPr/>
            <p:nvPr/>
          </p:nvSpPr>
          <p:spPr>
            <a:xfrm>
              <a:off x="7702572" y="1525426"/>
              <a:ext cx="285752" cy="369332"/>
            </a:xfrm>
            <a:prstGeom prst="rect">
              <a:avLst/>
            </a:prstGeom>
          </p:spPr>
          <p:style>
            <a:lnRef idx="1">
              <a:schemeClr val="accent1"/>
            </a:lnRef>
            <a:fillRef idx="2">
              <a:schemeClr val="accent1"/>
            </a:fillRef>
            <a:effectRef idx="1">
              <a:schemeClr val="accent1"/>
            </a:effectRef>
            <a:fontRef idx="minor">
              <a:schemeClr val="dk1"/>
            </a:fontRef>
          </p:style>
          <p:txBody>
            <a:bodyPr wrap="square" lIns="0" tIns="0" rIns="0" bIns="0">
              <a:spAutoFit/>
            </a:bodyPr>
            <a:lstStyle/>
            <a:p>
              <a:pPr algn="ctr"/>
              <a:r>
                <a:rPr lang="en-US" altLang="zh-CN">
                  <a:solidFill>
                    <a:srgbClr val="FF0000"/>
                  </a:solidFill>
                  <a:latin typeface="Consolas" pitchFamily="49" charset="0"/>
                  <a:ea typeface="楷体" pitchFamily="49" charset="-122"/>
                  <a:cs typeface="Consolas" pitchFamily="49" charset="0"/>
                </a:rPr>
                <a:t>3</a:t>
              </a:r>
              <a:endParaRPr lang="zh-CN" altLang="en-US">
                <a:solidFill>
                  <a:srgbClr val="FF0000"/>
                </a:solidFill>
                <a:latin typeface="Consolas" pitchFamily="49" charset="0"/>
                <a:ea typeface="楷体" pitchFamily="49" charset="-122"/>
                <a:cs typeface="Consolas" pitchFamily="49" charset="0"/>
              </a:endParaRPr>
            </a:p>
          </p:txBody>
        </p:sp>
      </p:grpSp>
      <p:grpSp>
        <p:nvGrpSpPr>
          <p:cNvPr id="12" name="组合 29">
            <a:extLst>
              <a:ext uri="{FF2B5EF4-FFF2-40B4-BE49-F238E27FC236}">
                <a16:creationId xmlns:a16="http://schemas.microsoft.com/office/drawing/2014/main" id="{1BAC79E8-109A-0E06-D220-77E162CFB31F}"/>
              </a:ext>
            </a:extLst>
          </p:cNvPr>
          <p:cNvGrpSpPr/>
          <p:nvPr/>
        </p:nvGrpSpPr>
        <p:grpSpPr>
          <a:xfrm>
            <a:off x="4133544" y="1630772"/>
            <a:ext cx="4260880" cy="2786082"/>
            <a:chOff x="2714612" y="1428736"/>
            <a:chExt cx="4260880" cy="2786082"/>
          </a:xfrm>
        </p:grpSpPr>
        <p:sp>
          <p:nvSpPr>
            <p:cNvPr id="13" name="椭圆 12">
              <a:extLst>
                <a:ext uri="{FF2B5EF4-FFF2-40B4-BE49-F238E27FC236}">
                  <a16:creationId xmlns:a16="http://schemas.microsoft.com/office/drawing/2014/main" id="{AF04C8FB-AE32-2A43-9E36-5EB9B025D9AF}"/>
                </a:ext>
              </a:extLst>
            </p:cNvPr>
            <p:cNvSpPr/>
            <p:nvPr/>
          </p:nvSpPr>
          <p:spPr>
            <a:xfrm>
              <a:off x="6332550" y="1428736"/>
              <a:ext cx="642942" cy="571504"/>
            </a:xfrm>
            <a:prstGeom prst="ellipse">
              <a:avLst/>
            </a:prstGeom>
            <a:solidFill>
              <a:schemeClr val="accent1">
                <a:alpha val="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Consolas" pitchFamily="49" charset="0"/>
                <a:cs typeface="Consolas" pitchFamily="49" charset="0"/>
              </a:endParaRPr>
            </a:p>
          </p:txBody>
        </p:sp>
        <p:cxnSp>
          <p:nvCxnSpPr>
            <p:cNvPr id="14" name="直接箭头连接符 13">
              <a:extLst>
                <a:ext uri="{FF2B5EF4-FFF2-40B4-BE49-F238E27FC236}">
                  <a16:creationId xmlns:a16="http://schemas.microsoft.com/office/drawing/2014/main" id="{4DFE5BBB-9746-3F89-08B2-9347157E9A02}"/>
                </a:ext>
              </a:extLst>
            </p:cNvPr>
            <p:cNvCxnSpPr>
              <a:endCxn id="13" idx="3"/>
            </p:cNvCxnSpPr>
            <p:nvPr/>
          </p:nvCxnSpPr>
          <p:spPr>
            <a:xfrm flipV="1">
              <a:off x="2714612" y="1916545"/>
              <a:ext cx="3712095" cy="2298273"/>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5" name="矩形 14">
              <a:extLst>
                <a:ext uri="{FF2B5EF4-FFF2-40B4-BE49-F238E27FC236}">
                  <a16:creationId xmlns:a16="http://schemas.microsoft.com/office/drawing/2014/main" id="{7F78EFC9-48BC-7E48-2FB1-5512CFA218F2}"/>
                </a:ext>
              </a:extLst>
            </p:cNvPr>
            <p:cNvSpPr/>
            <p:nvPr/>
          </p:nvSpPr>
          <p:spPr>
            <a:xfrm>
              <a:off x="6513526" y="1532496"/>
              <a:ext cx="285752" cy="369332"/>
            </a:xfrm>
            <a:prstGeom prst="rect">
              <a:avLst/>
            </a:prstGeom>
          </p:spPr>
          <p:style>
            <a:lnRef idx="1">
              <a:schemeClr val="accent1"/>
            </a:lnRef>
            <a:fillRef idx="2">
              <a:schemeClr val="accent1"/>
            </a:fillRef>
            <a:effectRef idx="1">
              <a:schemeClr val="accent1"/>
            </a:effectRef>
            <a:fontRef idx="minor">
              <a:schemeClr val="dk1"/>
            </a:fontRef>
          </p:style>
          <p:txBody>
            <a:bodyPr wrap="square" lIns="0" tIns="0" rIns="0" bIns="0">
              <a:spAutoFit/>
            </a:bodyPr>
            <a:lstStyle/>
            <a:p>
              <a:pPr algn="ctr"/>
              <a:r>
                <a:rPr lang="en-US" altLang="zh-CN">
                  <a:solidFill>
                    <a:srgbClr val="FF0000"/>
                  </a:solidFill>
                  <a:latin typeface="Consolas" pitchFamily="49" charset="0"/>
                  <a:ea typeface="楷体" pitchFamily="49" charset="-122"/>
                  <a:cs typeface="Consolas" pitchFamily="49" charset="0"/>
                </a:rPr>
                <a:t>2</a:t>
              </a:r>
              <a:endParaRPr lang="zh-CN" altLang="en-US">
                <a:solidFill>
                  <a:srgbClr val="FF0000"/>
                </a:solidFill>
                <a:latin typeface="Consolas" pitchFamily="49" charset="0"/>
                <a:ea typeface="楷体" pitchFamily="49" charset="-122"/>
                <a:cs typeface="Consolas" pitchFamily="49" charset="0"/>
              </a:endParaRPr>
            </a:p>
          </p:txBody>
        </p:sp>
      </p:grpSp>
      <p:grpSp>
        <p:nvGrpSpPr>
          <p:cNvPr id="16" name="组合 33">
            <a:extLst>
              <a:ext uri="{FF2B5EF4-FFF2-40B4-BE49-F238E27FC236}">
                <a16:creationId xmlns:a16="http://schemas.microsoft.com/office/drawing/2014/main" id="{4290ACAE-0001-6F7D-C7D2-A33BB8F1F224}"/>
              </a:ext>
            </a:extLst>
          </p:cNvPr>
          <p:cNvGrpSpPr/>
          <p:nvPr/>
        </p:nvGrpSpPr>
        <p:grpSpPr>
          <a:xfrm>
            <a:off x="4133544" y="1618072"/>
            <a:ext cx="6072230" cy="3656038"/>
            <a:chOff x="2714612" y="1416036"/>
            <a:chExt cx="6072230" cy="3656038"/>
          </a:xfrm>
        </p:grpSpPr>
        <p:sp>
          <p:nvSpPr>
            <p:cNvPr id="17" name="椭圆 16">
              <a:extLst>
                <a:ext uri="{FF2B5EF4-FFF2-40B4-BE49-F238E27FC236}">
                  <a16:creationId xmlns:a16="http://schemas.microsoft.com/office/drawing/2014/main" id="{39A1581D-4261-6937-54CF-E11487ECD936}"/>
                </a:ext>
              </a:extLst>
            </p:cNvPr>
            <p:cNvSpPr/>
            <p:nvPr/>
          </p:nvSpPr>
          <p:spPr>
            <a:xfrm>
              <a:off x="8143900" y="1416036"/>
              <a:ext cx="642942" cy="571504"/>
            </a:xfrm>
            <a:prstGeom prst="ellipse">
              <a:avLst/>
            </a:prstGeom>
            <a:solidFill>
              <a:schemeClr val="accent1">
                <a:alpha val="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Consolas" pitchFamily="49" charset="0"/>
                <a:cs typeface="Consolas" pitchFamily="49" charset="0"/>
              </a:endParaRPr>
            </a:p>
          </p:txBody>
        </p:sp>
        <p:cxnSp>
          <p:nvCxnSpPr>
            <p:cNvPr id="18" name="直接箭头连接符 17">
              <a:extLst>
                <a:ext uri="{FF2B5EF4-FFF2-40B4-BE49-F238E27FC236}">
                  <a16:creationId xmlns:a16="http://schemas.microsoft.com/office/drawing/2014/main" id="{2C9DF31B-A50E-36DD-DD77-FA637DE4FA1E}"/>
                </a:ext>
              </a:extLst>
            </p:cNvPr>
            <p:cNvCxnSpPr>
              <a:endCxn id="17" idx="3"/>
            </p:cNvCxnSpPr>
            <p:nvPr/>
          </p:nvCxnSpPr>
          <p:spPr>
            <a:xfrm flipV="1">
              <a:off x="2714612" y="1903845"/>
              <a:ext cx="5523445" cy="3168229"/>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9" name="矩形 18">
              <a:extLst>
                <a:ext uri="{FF2B5EF4-FFF2-40B4-BE49-F238E27FC236}">
                  <a16:creationId xmlns:a16="http://schemas.microsoft.com/office/drawing/2014/main" id="{A2A2AAB5-6E58-971C-69FB-14E6299A37C4}"/>
                </a:ext>
              </a:extLst>
            </p:cNvPr>
            <p:cNvSpPr/>
            <p:nvPr/>
          </p:nvSpPr>
          <p:spPr>
            <a:xfrm>
              <a:off x="8337576" y="1524558"/>
              <a:ext cx="285752" cy="369332"/>
            </a:xfrm>
            <a:prstGeom prst="rect">
              <a:avLst/>
            </a:prstGeom>
          </p:spPr>
          <p:style>
            <a:lnRef idx="1">
              <a:schemeClr val="accent1"/>
            </a:lnRef>
            <a:fillRef idx="2">
              <a:schemeClr val="accent1"/>
            </a:fillRef>
            <a:effectRef idx="1">
              <a:schemeClr val="accent1"/>
            </a:effectRef>
            <a:fontRef idx="minor">
              <a:schemeClr val="dk1"/>
            </a:fontRef>
          </p:style>
          <p:txBody>
            <a:bodyPr wrap="square" lIns="0" tIns="0" rIns="0" bIns="0">
              <a:spAutoFit/>
            </a:bodyPr>
            <a:lstStyle/>
            <a:p>
              <a:pPr algn="ctr"/>
              <a:r>
                <a:rPr lang="en-US" altLang="zh-CN">
                  <a:solidFill>
                    <a:srgbClr val="FF0000"/>
                  </a:solidFill>
                  <a:latin typeface="Consolas" pitchFamily="49" charset="0"/>
                  <a:ea typeface="楷体" pitchFamily="49" charset="-122"/>
                  <a:cs typeface="Consolas" pitchFamily="49" charset="0"/>
                </a:rPr>
                <a:t>1</a:t>
              </a:r>
              <a:endParaRPr lang="zh-CN" altLang="en-US">
                <a:solidFill>
                  <a:srgbClr val="FF0000"/>
                </a:solidFill>
                <a:latin typeface="Consolas" pitchFamily="49" charset="0"/>
                <a:ea typeface="楷体" pitchFamily="49" charset="-122"/>
                <a:cs typeface="Consolas" pitchFamily="49" charset="0"/>
              </a:endParaRPr>
            </a:p>
          </p:txBody>
        </p:sp>
      </p:grpSp>
    </p:spTree>
    <p:extLst>
      <p:ext uri="{BB962C8B-B14F-4D97-AF65-F5344CB8AC3E}">
        <p14:creationId xmlns:p14="http://schemas.microsoft.com/office/powerpoint/2010/main" val="427965088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par>
                          <p:cTn id="11" fill="hold">
                            <p:stCondLst>
                              <p:cond delay="0"/>
                            </p:stCondLst>
                            <p:childTnLst>
                              <p:par>
                                <p:cTn id="12" presetID="1" presetClass="entr" presetSubtype="0" fill="hold" nodeType="afterEffect">
                                  <p:stCondLst>
                                    <p:cond delay="0"/>
                                  </p:stCondLst>
                                  <p:childTnLst>
                                    <p:set>
                                      <p:cBhvr>
                                        <p:cTn id="13" dur="1" fill="hold">
                                          <p:stCondLst>
                                            <p:cond delay="0"/>
                                          </p:stCondLst>
                                        </p:cTn>
                                        <p:tgtEl>
                                          <p:spTgt spid="12"/>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3">
                                            <p:txEl>
                                              <p:pRg st="2" end="2"/>
                                            </p:txEl>
                                          </p:spTgt>
                                        </p:tgtEl>
                                        <p:attrNameLst>
                                          <p:attrName>style.visibility</p:attrName>
                                        </p:attrNameLst>
                                      </p:cBhvr>
                                      <p:to>
                                        <p:strVal val="visible"/>
                                      </p:to>
                                    </p:set>
                                  </p:childTnLst>
                                </p:cTn>
                              </p:par>
                            </p:childTnLst>
                          </p:cTn>
                        </p:par>
                        <p:par>
                          <p:cTn id="18" fill="hold">
                            <p:stCondLst>
                              <p:cond delay="0"/>
                            </p:stCondLst>
                            <p:childTnLst>
                              <p:par>
                                <p:cTn id="19" presetID="1" presetClass="entr" presetSubtype="0" fill="hold" nodeType="afterEffect">
                                  <p:stCondLst>
                                    <p:cond delay="0"/>
                                  </p:stCondLst>
                                  <p:childTnLst>
                                    <p:set>
                                      <p:cBhvr>
                                        <p:cTn id="20" dur="1" fill="hold">
                                          <p:stCondLst>
                                            <p:cond delay="0"/>
                                          </p:stCondLst>
                                        </p:cTn>
                                        <p:tgtEl>
                                          <p:spTgt spid="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childTnLst>
                                </p:cTn>
                              </p:par>
                            </p:childTnLst>
                          </p:cTn>
                        </p:par>
                        <p:par>
                          <p:cTn id="25" fill="hold">
                            <p:stCondLst>
                              <p:cond delay="0"/>
                            </p:stCondLst>
                            <p:childTnLst>
                              <p:par>
                                <p:cTn id="26" presetID="1" presetClass="entr" presetSubtype="0" fill="hold" nodeType="afterEffect">
                                  <p:stCondLst>
                                    <p:cond delay="0"/>
                                  </p:stCondLst>
                                  <p:childTnLst>
                                    <p:set>
                                      <p:cBhvr>
                                        <p:cTn id="27" dur="1" fill="hold">
                                          <p:stCondLst>
                                            <p:cond delay="0"/>
                                          </p:stCondLst>
                                        </p:cTn>
                                        <p:tgtEl>
                                          <p:spTgt spid="16"/>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EBCC97-AAFF-8A86-4EDA-C5BE25EAB323}"/>
            </a:ext>
          </a:extLst>
        </p:cNvPr>
        <p:cNvGrpSpPr/>
        <p:nvPr/>
      </p:nvGrpSpPr>
      <p:grpSpPr>
        <a:xfrm>
          <a:off x="0" y="0"/>
          <a:ext cx="0" cy="0"/>
          <a:chOff x="0" y="0"/>
          <a:chExt cx="0" cy="0"/>
        </a:xfrm>
      </p:grpSpPr>
      <p:sp>
        <p:nvSpPr>
          <p:cNvPr id="8" name="Text Box 2">
            <a:extLst>
              <a:ext uri="{FF2B5EF4-FFF2-40B4-BE49-F238E27FC236}">
                <a16:creationId xmlns:a16="http://schemas.microsoft.com/office/drawing/2014/main" id="{B4F6BD35-B2A9-3A5C-128A-3868D1692B0D}"/>
              </a:ext>
            </a:extLst>
          </p:cNvPr>
          <p:cNvSpPr txBox="1">
            <a:spLocks noChangeArrowheads="1"/>
          </p:cNvSpPr>
          <p:nvPr/>
        </p:nvSpPr>
        <p:spPr bwMode="auto">
          <a:xfrm>
            <a:off x="2135560" y="631033"/>
            <a:ext cx="3143272" cy="369332"/>
          </a:xfrm>
          <a:prstGeom prst="rect">
            <a:avLst/>
          </a:prstGeom>
          <a:noFill/>
          <a:ln w="9525">
            <a:noFill/>
            <a:miter lim="800000"/>
            <a:headEnd/>
            <a:tailEnd/>
          </a:ln>
          <a:effectLst/>
        </p:spPr>
        <p:txBody>
          <a:bodyPr wrap="square">
            <a:spAutoFit/>
          </a:bodyPr>
          <a:lstStyle/>
          <a:p>
            <a:pPr algn="just">
              <a:lnSpc>
                <a:spcPct val="90000"/>
              </a:lnSpc>
            </a:pPr>
            <a:r>
              <a:rPr kumimoji="1" lang="zh-CN" altLang="en-US" sz="2000" dirty="0">
                <a:latin typeface="楷体" pitchFamily="49" charset="-122"/>
                <a:ea typeface="楷体" pitchFamily="49" charset="-122"/>
              </a:rPr>
              <a:t>弗洛伊德算法如下：</a:t>
            </a:r>
          </a:p>
        </p:txBody>
      </p:sp>
      <p:sp>
        <p:nvSpPr>
          <p:cNvPr id="12" name="Text Box 3">
            <a:extLst>
              <a:ext uri="{FF2B5EF4-FFF2-40B4-BE49-F238E27FC236}">
                <a16:creationId xmlns:a16="http://schemas.microsoft.com/office/drawing/2014/main" id="{0E31866B-426C-94FD-534B-B09A4841A298}"/>
              </a:ext>
            </a:extLst>
          </p:cNvPr>
          <p:cNvSpPr txBox="1">
            <a:spLocks noChangeArrowheads="1"/>
          </p:cNvSpPr>
          <p:nvPr/>
        </p:nvSpPr>
        <p:spPr bwMode="auto">
          <a:xfrm>
            <a:off x="2135560" y="1124744"/>
            <a:ext cx="8035951" cy="5039054"/>
          </a:xfrm>
          <a:prstGeom prst="rect">
            <a:avLst/>
          </a:prstGeom>
          <a:solidFill>
            <a:schemeClr val="bg1">
              <a:lumMod val="95000"/>
            </a:schemeClr>
          </a:solidFill>
          <a:ln>
            <a:noFill/>
            <a:headEnd/>
            <a:tailEnd type="none" w="med" len="lg"/>
          </a:ln>
          <a:effectLst/>
          <a:scene3d>
            <a:camera prst="orthographicFront">
              <a:rot lat="0" lon="0" rev="0"/>
            </a:camera>
            <a:lightRig rig="chilly" dir="t">
              <a:rot lat="0" lon="0" rev="18480000"/>
            </a:lightRig>
          </a:scene3d>
          <a:sp3d prstMaterial="clear">
            <a:bevelT h="63500"/>
          </a:sp3d>
        </p:spPr>
        <p:style>
          <a:lnRef idx="1">
            <a:schemeClr val="accent3"/>
          </a:lnRef>
          <a:fillRef idx="2">
            <a:schemeClr val="accent3"/>
          </a:fillRef>
          <a:effectRef idx="1">
            <a:schemeClr val="accent3"/>
          </a:effectRef>
          <a:fontRef idx="minor">
            <a:schemeClr val="dk1"/>
          </a:fontRef>
        </p:style>
        <p:txBody>
          <a:bodyPr wrap="square" bIns="144000">
            <a:spAutoFit/>
          </a:bodyPr>
          <a:lstStyle/>
          <a:p>
            <a:r>
              <a:rPr lang="en-US" altLang="zh-CN" sz="1800" dirty="0">
                <a:solidFill>
                  <a:srgbClr val="FF0000"/>
                </a:solidFill>
                <a:latin typeface="Consolas" pitchFamily="49" charset="0"/>
                <a:ea typeface="仿宋" pitchFamily="49" charset="-122"/>
                <a:cs typeface="Consolas" pitchFamily="49" charset="0"/>
              </a:rPr>
              <a:t>void Floyd(</a:t>
            </a:r>
            <a:r>
              <a:rPr lang="en-US" altLang="zh-CN" sz="1800" dirty="0" err="1">
                <a:solidFill>
                  <a:srgbClr val="FF0000"/>
                </a:solidFill>
                <a:latin typeface="Consolas" pitchFamily="49" charset="0"/>
                <a:ea typeface="仿宋" pitchFamily="49" charset="-122"/>
                <a:cs typeface="Consolas" pitchFamily="49" charset="0"/>
              </a:rPr>
              <a:t>MatGraph</a:t>
            </a:r>
            <a:r>
              <a:rPr lang="en-US" altLang="zh-CN" sz="1800" dirty="0">
                <a:solidFill>
                  <a:srgbClr val="FF0000"/>
                </a:solidFill>
                <a:latin typeface="Consolas" pitchFamily="49" charset="0"/>
                <a:ea typeface="仿宋" pitchFamily="49" charset="-122"/>
                <a:cs typeface="Consolas" pitchFamily="49" charset="0"/>
              </a:rPr>
              <a:t> g)</a:t>
            </a:r>
            <a:r>
              <a:rPr lang="en-US" altLang="zh-CN" sz="1800">
                <a:solidFill>
                  <a:srgbClr val="FF0000"/>
                </a:solidFill>
                <a:latin typeface="Consolas" pitchFamily="49" charset="0"/>
                <a:ea typeface="仿宋" pitchFamily="49" charset="-122"/>
                <a:cs typeface="Consolas" pitchFamily="49" charset="0"/>
              </a:rPr>
              <a:t>	//</a:t>
            </a:r>
            <a:r>
              <a:rPr lang="zh-CN" altLang="en-US" sz="1800" dirty="0">
                <a:solidFill>
                  <a:srgbClr val="FF0000"/>
                </a:solidFill>
                <a:latin typeface="Consolas" pitchFamily="49" charset="0"/>
                <a:ea typeface="仿宋" pitchFamily="49" charset="-122"/>
                <a:cs typeface="Consolas" pitchFamily="49" charset="0"/>
              </a:rPr>
              <a:t>求每对顶点之间的最短路径</a:t>
            </a:r>
          </a:p>
          <a:p>
            <a:r>
              <a:rPr lang="en-US" altLang="zh-CN" sz="1800">
                <a:solidFill>
                  <a:srgbClr val="3333FF"/>
                </a:solidFill>
                <a:latin typeface="Consolas" pitchFamily="49" charset="0"/>
                <a:ea typeface="仿宋" pitchFamily="49" charset="-122"/>
                <a:cs typeface="Consolas" pitchFamily="49" charset="0"/>
              </a:rPr>
              <a:t>{  int </a:t>
            </a:r>
            <a:r>
              <a:rPr lang="en-US" altLang="zh-CN" sz="1800" dirty="0">
                <a:solidFill>
                  <a:srgbClr val="3333FF"/>
                </a:solidFill>
                <a:latin typeface="Consolas" pitchFamily="49" charset="0"/>
                <a:ea typeface="仿宋" pitchFamily="49" charset="-122"/>
                <a:cs typeface="Consolas" pitchFamily="49" charset="0"/>
              </a:rPr>
              <a:t>A[</a:t>
            </a:r>
            <a:r>
              <a:rPr lang="en-US" altLang="zh-CN" sz="1800" dirty="0" err="1">
                <a:solidFill>
                  <a:srgbClr val="3333FF"/>
                </a:solidFill>
                <a:latin typeface="Consolas" pitchFamily="49" charset="0"/>
                <a:ea typeface="仿宋" pitchFamily="49" charset="-122"/>
                <a:cs typeface="Consolas" pitchFamily="49" charset="0"/>
              </a:rPr>
              <a:t>MAXVEX</a:t>
            </a:r>
            <a:r>
              <a:rPr lang="en-US" altLang="zh-CN" sz="1800" dirty="0">
                <a:solidFill>
                  <a:srgbClr val="3333FF"/>
                </a:solidFill>
                <a:latin typeface="Consolas" pitchFamily="49" charset="0"/>
                <a:ea typeface="仿宋" pitchFamily="49" charset="-122"/>
                <a:cs typeface="Consolas" pitchFamily="49" charset="0"/>
              </a:rPr>
              <a:t>][</a:t>
            </a:r>
            <a:r>
              <a:rPr lang="en-US" altLang="zh-CN" sz="1800" dirty="0" err="1">
                <a:solidFill>
                  <a:srgbClr val="3333FF"/>
                </a:solidFill>
                <a:latin typeface="Consolas" pitchFamily="49" charset="0"/>
                <a:ea typeface="仿宋" pitchFamily="49" charset="-122"/>
                <a:cs typeface="Consolas" pitchFamily="49" charset="0"/>
              </a:rPr>
              <a:t>MAXVEX</a:t>
            </a:r>
            <a:r>
              <a:rPr lang="en-US" altLang="zh-CN" sz="1800" dirty="0">
                <a:solidFill>
                  <a:srgbClr val="3333FF"/>
                </a:solidFill>
                <a:latin typeface="Consolas" pitchFamily="49" charset="0"/>
                <a:ea typeface="仿宋" pitchFamily="49" charset="-122"/>
                <a:cs typeface="Consolas" pitchFamily="49" charset="0"/>
              </a:rPr>
              <a:t>];	</a:t>
            </a:r>
            <a:r>
              <a:rPr lang="en-US" altLang="zh-CN" sz="1800" dirty="0">
                <a:solidFill>
                  <a:srgbClr val="00B0F0"/>
                </a:solidFill>
                <a:latin typeface="Consolas" pitchFamily="49" charset="0"/>
                <a:ea typeface="仿宋" pitchFamily="49" charset="-122"/>
                <a:cs typeface="Consolas" pitchFamily="49" charset="0"/>
              </a:rPr>
              <a:t>//</a:t>
            </a:r>
            <a:r>
              <a:rPr lang="zh-CN" altLang="en-US" sz="1800" dirty="0">
                <a:solidFill>
                  <a:srgbClr val="00B0F0"/>
                </a:solidFill>
                <a:latin typeface="Consolas" pitchFamily="49" charset="0"/>
                <a:ea typeface="仿宋" pitchFamily="49" charset="-122"/>
                <a:cs typeface="Consolas" pitchFamily="49" charset="0"/>
              </a:rPr>
              <a:t>建立</a:t>
            </a:r>
            <a:r>
              <a:rPr lang="en-US" altLang="zh-CN" sz="1800" dirty="0">
                <a:solidFill>
                  <a:srgbClr val="00B0F0"/>
                </a:solidFill>
                <a:latin typeface="Consolas" pitchFamily="49" charset="0"/>
                <a:ea typeface="仿宋" pitchFamily="49" charset="-122"/>
                <a:cs typeface="Consolas" pitchFamily="49" charset="0"/>
              </a:rPr>
              <a:t>A</a:t>
            </a:r>
            <a:r>
              <a:rPr lang="zh-CN" altLang="en-US" sz="1800" dirty="0">
                <a:solidFill>
                  <a:srgbClr val="00B0F0"/>
                </a:solidFill>
                <a:latin typeface="Consolas" pitchFamily="49" charset="0"/>
                <a:ea typeface="仿宋" pitchFamily="49" charset="-122"/>
                <a:cs typeface="Consolas" pitchFamily="49" charset="0"/>
              </a:rPr>
              <a:t>数组</a:t>
            </a:r>
          </a:p>
          <a:p>
            <a:r>
              <a:rPr lang="zh-CN" altLang="en-US" sz="1800">
                <a:solidFill>
                  <a:srgbClr val="3333FF"/>
                </a:solidFill>
                <a:latin typeface="Consolas" pitchFamily="49" charset="0"/>
                <a:ea typeface="仿宋" pitchFamily="49" charset="-122"/>
                <a:cs typeface="Consolas" pitchFamily="49" charset="0"/>
              </a:rPr>
              <a:t>   </a:t>
            </a:r>
            <a:r>
              <a:rPr lang="en-US" altLang="zh-CN" sz="1800">
                <a:solidFill>
                  <a:srgbClr val="3333FF"/>
                </a:solidFill>
                <a:latin typeface="Consolas" pitchFamily="49" charset="0"/>
                <a:ea typeface="仿宋" pitchFamily="49" charset="-122"/>
                <a:cs typeface="Consolas" pitchFamily="49" charset="0"/>
              </a:rPr>
              <a:t>int </a:t>
            </a:r>
            <a:r>
              <a:rPr lang="en-US" altLang="zh-CN" sz="1800" dirty="0">
                <a:solidFill>
                  <a:srgbClr val="3333FF"/>
                </a:solidFill>
                <a:latin typeface="Consolas" pitchFamily="49" charset="0"/>
                <a:ea typeface="仿宋" pitchFamily="49" charset="-122"/>
                <a:cs typeface="Consolas" pitchFamily="49" charset="0"/>
              </a:rPr>
              <a:t>path[</a:t>
            </a:r>
            <a:r>
              <a:rPr lang="en-US" altLang="zh-CN" sz="1800" dirty="0" err="1">
                <a:solidFill>
                  <a:srgbClr val="3333FF"/>
                </a:solidFill>
                <a:latin typeface="Consolas" pitchFamily="49" charset="0"/>
                <a:ea typeface="仿宋" pitchFamily="49" charset="-122"/>
                <a:cs typeface="Consolas" pitchFamily="49" charset="0"/>
              </a:rPr>
              <a:t>MAXVEX</a:t>
            </a:r>
            <a:r>
              <a:rPr lang="en-US" altLang="zh-CN" sz="1800" dirty="0">
                <a:solidFill>
                  <a:srgbClr val="3333FF"/>
                </a:solidFill>
                <a:latin typeface="Consolas" pitchFamily="49" charset="0"/>
                <a:ea typeface="仿宋" pitchFamily="49" charset="-122"/>
                <a:cs typeface="Consolas" pitchFamily="49" charset="0"/>
              </a:rPr>
              <a:t>][</a:t>
            </a:r>
            <a:r>
              <a:rPr lang="en-US" altLang="zh-CN" sz="1800" dirty="0" err="1">
                <a:solidFill>
                  <a:srgbClr val="3333FF"/>
                </a:solidFill>
                <a:latin typeface="Consolas" pitchFamily="49" charset="0"/>
                <a:ea typeface="仿宋" pitchFamily="49" charset="-122"/>
                <a:cs typeface="Consolas" pitchFamily="49" charset="0"/>
              </a:rPr>
              <a:t>MAXVEX</a:t>
            </a:r>
            <a:r>
              <a:rPr lang="en-US" altLang="zh-CN" sz="1800" dirty="0">
                <a:solidFill>
                  <a:srgbClr val="3333FF"/>
                </a:solidFill>
                <a:latin typeface="Consolas" pitchFamily="49" charset="0"/>
                <a:ea typeface="仿宋" pitchFamily="49" charset="-122"/>
                <a:cs typeface="Consolas" pitchFamily="49" charset="0"/>
              </a:rPr>
              <a:t>];	</a:t>
            </a:r>
            <a:r>
              <a:rPr lang="en-US" altLang="zh-CN" sz="1800" dirty="0">
                <a:solidFill>
                  <a:srgbClr val="00B0F0"/>
                </a:solidFill>
                <a:latin typeface="Consolas" pitchFamily="49" charset="0"/>
                <a:ea typeface="仿宋" pitchFamily="49" charset="-122"/>
                <a:cs typeface="Consolas" pitchFamily="49" charset="0"/>
              </a:rPr>
              <a:t>//</a:t>
            </a:r>
            <a:r>
              <a:rPr lang="zh-CN" altLang="en-US" sz="1800" dirty="0">
                <a:solidFill>
                  <a:srgbClr val="00B0F0"/>
                </a:solidFill>
                <a:latin typeface="Consolas" pitchFamily="49" charset="0"/>
                <a:ea typeface="仿宋" pitchFamily="49" charset="-122"/>
                <a:cs typeface="Consolas" pitchFamily="49" charset="0"/>
              </a:rPr>
              <a:t>建立</a:t>
            </a:r>
            <a:r>
              <a:rPr lang="en-US" altLang="zh-CN" sz="1800" dirty="0">
                <a:solidFill>
                  <a:srgbClr val="00B0F0"/>
                </a:solidFill>
                <a:latin typeface="Consolas" pitchFamily="49" charset="0"/>
                <a:ea typeface="仿宋" pitchFamily="49" charset="-122"/>
                <a:cs typeface="Consolas" pitchFamily="49" charset="0"/>
              </a:rPr>
              <a:t>path</a:t>
            </a:r>
            <a:r>
              <a:rPr lang="zh-CN" altLang="en-US" sz="1800" dirty="0">
                <a:solidFill>
                  <a:srgbClr val="00B0F0"/>
                </a:solidFill>
                <a:latin typeface="Consolas" pitchFamily="49" charset="0"/>
                <a:ea typeface="仿宋" pitchFamily="49" charset="-122"/>
                <a:cs typeface="Consolas" pitchFamily="49" charset="0"/>
              </a:rPr>
              <a:t>数组</a:t>
            </a:r>
          </a:p>
          <a:p>
            <a:r>
              <a:rPr lang="zh-CN" altLang="en-US" sz="1800" dirty="0">
                <a:solidFill>
                  <a:srgbClr val="3333FF"/>
                </a:solidFill>
                <a:latin typeface="Consolas" pitchFamily="49" charset="0"/>
                <a:ea typeface="仿宋" pitchFamily="49" charset="-122"/>
                <a:cs typeface="Consolas" pitchFamily="49" charset="0"/>
              </a:rPr>
              <a:t>　</a:t>
            </a:r>
            <a:r>
              <a:rPr lang="zh-CN" altLang="en-US" sz="1800">
                <a:solidFill>
                  <a:srgbClr val="3333FF"/>
                </a:solidFill>
                <a:latin typeface="Consolas" pitchFamily="49" charset="0"/>
                <a:ea typeface="仿宋" pitchFamily="49" charset="-122"/>
                <a:cs typeface="Consolas" pitchFamily="49" charset="0"/>
              </a:rPr>
              <a:t> </a:t>
            </a:r>
            <a:r>
              <a:rPr lang="en-US" altLang="zh-CN" sz="1800">
                <a:solidFill>
                  <a:srgbClr val="3333FF"/>
                </a:solidFill>
                <a:latin typeface="Consolas" pitchFamily="49" charset="0"/>
                <a:ea typeface="仿宋" pitchFamily="49" charset="-122"/>
                <a:cs typeface="Consolas" pitchFamily="49" charset="0"/>
              </a:rPr>
              <a:t>int </a:t>
            </a:r>
            <a:r>
              <a:rPr lang="en-US" altLang="zh-CN" sz="1800" err="1">
                <a:solidFill>
                  <a:srgbClr val="3333FF"/>
                </a:solidFill>
                <a:latin typeface="Consolas" pitchFamily="49" charset="0"/>
                <a:ea typeface="仿宋" pitchFamily="49" charset="-122"/>
                <a:cs typeface="Consolas" pitchFamily="49" charset="0"/>
              </a:rPr>
              <a:t>i</a:t>
            </a:r>
            <a:r>
              <a:rPr lang="en-US" altLang="zh-CN" sz="1800">
                <a:solidFill>
                  <a:srgbClr val="3333FF"/>
                </a:solidFill>
                <a:latin typeface="Consolas" pitchFamily="49" charset="0"/>
                <a:ea typeface="仿宋" pitchFamily="49" charset="-122"/>
                <a:cs typeface="Consolas" pitchFamily="49" charset="0"/>
              </a:rPr>
              <a:t>, j, k</a:t>
            </a:r>
            <a:r>
              <a:rPr lang="en-US" altLang="zh-CN" sz="1800" dirty="0">
                <a:solidFill>
                  <a:srgbClr val="3333FF"/>
                </a:solidFill>
                <a:latin typeface="Consolas" pitchFamily="49" charset="0"/>
                <a:ea typeface="仿宋" pitchFamily="49" charset="-122"/>
                <a:cs typeface="Consolas" pitchFamily="49" charset="0"/>
              </a:rPr>
              <a:t>;</a:t>
            </a:r>
          </a:p>
          <a:p>
            <a:r>
              <a:rPr lang="zh-CN" altLang="en-US" sz="1800" dirty="0">
                <a:solidFill>
                  <a:srgbClr val="3333FF"/>
                </a:solidFill>
                <a:latin typeface="Consolas" pitchFamily="49" charset="0"/>
                <a:ea typeface="仿宋" pitchFamily="49" charset="-122"/>
                <a:cs typeface="Consolas" pitchFamily="49" charset="0"/>
              </a:rPr>
              <a:t>　</a:t>
            </a:r>
            <a:r>
              <a:rPr lang="zh-CN" altLang="en-US" sz="1800">
                <a:solidFill>
                  <a:srgbClr val="3333FF"/>
                </a:solidFill>
                <a:latin typeface="Consolas" pitchFamily="49" charset="0"/>
                <a:ea typeface="仿宋" pitchFamily="49" charset="-122"/>
                <a:cs typeface="Consolas" pitchFamily="49" charset="0"/>
              </a:rPr>
              <a:t> </a:t>
            </a:r>
            <a:r>
              <a:rPr lang="en-US" altLang="zh-CN" sz="1800">
                <a:solidFill>
                  <a:srgbClr val="FF00FF"/>
                </a:solidFill>
                <a:latin typeface="Consolas" pitchFamily="49" charset="0"/>
                <a:ea typeface="仿宋" pitchFamily="49" charset="-122"/>
                <a:cs typeface="Consolas" pitchFamily="49" charset="0"/>
              </a:rPr>
              <a:t>for </a:t>
            </a:r>
            <a:r>
              <a:rPr lang="en-US" altLang="zh-CN" sz="1800" dirty="0">
                <a:solidFill>
                  <a:srgbClr val="FF00FF"/>
                </a:solidFill>
                <a:latin typeface="Consolas" pitchFamily="49" charset="0"/>
                <a:ea typeface="仿宋" pitchFamily="49" charset="-122"/>
                <a:cs typeface="Consolas" pitchFamily="49" charset="0"/>
              </a:rPr>
              <a:t>(</a:t>
            </a:r>
            <a:r>
              <a:rPr lang="en-US" altLang="zh-CN" sz="1800" dirty="0" err="1">
                <a:solidFill>
                  <a:srgbClr val="FF00FF"/>
                </a:solidFill>
                <a:latin typeface="Consolas" pitchFamily="49" charset="0"/>
                <a:ea typeface="仿宋" pitchFamily="49" charset="-122"/>
                <a:cs typeface="Consolas" pitchFamily="49" charset="0"/>
              </a:rPr>
              <a:t>i</a:t>
            </a:r>
            <a:r>
              <a:rPr lang="en-US" altLang="zh-CN" sz="1800" dirty="0">
                <a:solidFill>
                  <a:srgbClr val="FF00FF"/>
                </a:solidFill>
                <a:latin typeface="Consolas" pitchFamily="49" charset="0"/>
                <a:ea typeface="仿宋" pitchFamily="49" charset="-122"/>
                <a:cs typeface="Consolas" pitchFamily="49" charset="0"/>
              </a:rPr>
              <a:t>=</a:t>
            </a:r>
            <a:r>
              <a:rPr lang="en-US" altLang="zh-CN" sz="1800" dirty="0" err="1">
                <a:solidFill>
                  <a:srgbClr val="FF00FF"/>
                </a:solidFill>
                <a:latin typeface="Consolas" pitchFamily="49" charset="0"/>
                <a:ea typeface="仿宋" pitchFamily="49" charset="-122"/>
                <a:cs typeface="Consolas" pitchFamily="49" charset="0"/>
              </a:rPr>
              <a:t>0;i</a:t>
            </a:r>
            <a:r>
              <a:rPr lang="en-US" altLang="zh-CN" sz="1800" dirty="0">
                <a:solidFill>
                  <a:srgbClr val="FF00FF"/>
                </a:solidFill>
                <a:latin typeface="Consolas" pitchFamily="49" charset="0"/>
                <a:ea typeface="仿宋" pitchFamily="49" charset="-122"/>
                <a:cs typeface="Consolas" pitchFamily="49" charset="0"/>
              </a:rPr>
              <a:t>&lt;</a:t>
            </a:r>
            <a:r>
              <a:rPr lang="en-US" altLang="zh-CN" sz="1800" dirty="0" err="1">
                <a:solidFill>
                  <a:srgbClr val="FF00FF"/>
                </a:solidFill>
                <a:latin typeface="Consolas" pitchFamily="49" charset="0"/>
                <a:ea typeface="仿宋" pitchFamily="49" charset="-122"/>
                <a:cs typeface="Consolas" pitchFamily="49" charset="0"/>
              </a:rPr>
              <a:t>g.n;i</a:t>
            </a:r>
            <a:r>
              <a:rPr lang="en-US" altLang="zh-CN" sz="1800" dirty="0">
                <a:solidFill>
                  <a:srgbClr val="FF00FF"/>
                </a:solidFill>
                <a:latin typeface="Consolas" pitchFamily="49" charset="0"/>
                <a:ea typeface="仿宋" pitchFamily="49" charset="-122"/>
                <a:cs typeface="Consolas" pitchFamily="49" charset="0"/>
              </a:rPr>
              <a:t>++)   		</a:t>
            </a:r>
          </a:p>
          <a:p>
            <a:r>
              <a:rPr lang="en-US" altLang="zh-CN" sz="1800">
                <a:solidFill>
                  <a:srgbClr val="FF00FF"/>
                </a:solidFill>
                <a:latin typeface="Consolas" pitchFamily="49" charset="0"/>
                <a:ea typeface="仿宋" pitchFamily="49" charset="-122"/>
                <a:cs typeface="Consolas" pitchFamily="49" charset="0"/>
              </a:rPr>
              <a:t>     </a:t>
            </a:r>
            <a:r>
              <a:rPr lang="nb-NO" altLang="zh-CN" sz="1800" dirty="0">
                <a:solidFill>
                  <a:srgbClr val="FF00FF"/>
                </a:solidFill>
                <a:latin typeface="Consolas" pitchFamily="49" charset="0"/>
                <a:ea typeface="仿宋" pitchFamily="49" charset="-122"/>
                <a:cs typeface="Consolas" pitchFamily="49" charset="0"/>
              </a:rPr>
              <a:t>for (j=0;j&lt;g.n;j++) </a:t>
            </a:r>
          </a:p>
          <a:p>
            <a:r>
              <a:rPr lang="nb-NO" altLang="zh-CN" sz="1800">
                <a:solidFill>
                  <a:srgbClr val="FF00FF"/>
                </a:solidFill>
                <a:latin typeface="Consolas" pitchFamily="49" charset="0"/>
                <a:ea typeface="仿宋" pitchFamily="49" charset="-122"/>
                <a:cs typeface="Consolas" pitchFamily="49" charset="0"/>
              </a:rPr>
              <a:t>     {  A[i</a:t>
            </a:r>
            <a:r>
              <a:rPr lang="nb-NO" altLang="zh-CN" sz="1800" dirty="0">
                <a:solidFill>
                  <a:srgbClr val="FF00FF"/>
                </a:solidFill>
                <a:latin typeface="Consolas" pitchFamily="49" charset="0"/>
                <a:ea typeface="仿宋" pitchFamily="49" charset="-122"/>
                <a:cs typeface="Consolas" pitchFamily="49" charset="0"/>
              </a:rPr>
              <a:t>][j]=g.edges[i][j];</a:t>
            </a:r>
          </a:p>
          <a:p>
            <a:r>
              <a:rPr lang="nb-NO" altLang="zh-CN" sz="1800">
                <a:solidFill>
                  <a:srgbClr val="FF00FF"/>
                </a:solidFill>
                <a:latin typeface="Consolas" pitchFamily="49" charset="0"/>
                <a:ea typeface="仿宋" pitchFamily="49" charset="-122"/>
                <a:cs typeface="Consolas" pitchFamily="49" charset="0"/>
              </a:rPr>
              <a:t>        </a:t>
            </a:r>
            <a:r>
              <a:rPr lang="en-US" altLang="zh-CN" sz="1800">
                <a:solidFill>
                  <a:srgbClr val="FF00FF"/>
                </a:solidFill>
                <a:latin typeface="Consolas" pitchFamily="49" charset="0"/>
                <a:ea typeface="仿宋" pitchFamily="49" charset="-122"/>
                <a:cs typeface="Consolas" pitchFamily="49" charset="0"/>
              </a:rPr>
              <a:t>if </a:t>
            </a:r>
            <a:r>
              <a:rPr lang="en-US" altLang="zh-CN" sz="1800" dirty="0">
                <a:solidFill>
                  <a:srgbClr val="FF00FF"/>
                </a:solidFill>
                <a:latin typeface="Consolas" pitchFamily="49" charset="0"/>
                <a:ea typeface="仿宋" pitchFamily="49" charset="-122"/>
                <a:cs typeface="Consolas" pitchFamily="49" charset="0"/>
              </a:rPr>
              <a:t>(</a:t>
            </a:r>
            <a:r>
              <a:rPr lang="en-US" altLang="zh-CN" sz="1800" dirty="0" err="1">
                <a:solidFill>
                  <a:srgbClr val="FF00FF"/>
                </a:solidFill>
                <a:latin typeface="Consolas" pitchFamily="49" charset="0"/>
                <a:ea typeface="仿宋" pitchFamily="49" charset="-122"/>
                <a:cs typeface="Consolas" pitchFamily="49" charset="0"/>
              </a:rPr>
              <a:t>i</a:t>
            </a:r>
            <a:r>
              <a:rPr lang="en-US" altLang="zh-CN" sz="1800" dirty="0">
                <a:solidFill>
                  <a:srgbClr val="FF00FF"/>
                </a:solidFill>
                <a:latin typeface="Consolas" pitchFamily="49" charset="0"/>
                <a:ea typeface="仿宋" pitchFamily="49" charset="-122"/>
                <a:cs typeface="Consolas" pitchFamily="49" charset="0"/>
              </a:rPr>
              <a:t>!=j &amp;&amp; </a:t>
            </a:r>
            <a:r>
              <a:rPr lang="en-US" altLang="zh-CN" sz="1800" dirty="0" err="1">
                <a:solidFill>
                  <a:srgbClr val="FF00FF"/>
                </a:solidFill>
                <a:latin typeface="Consolas" pitchFamily="49" charset="0"/>
                <a:ea typeface="仿宋" pitchFamily="49" charset="-122"/>
                <a:cs typeface="Consolas" pitchFamily="49" charset="0"/>
              </a:rPr>
              <a:t>g.edges</a:t>
            </a:r>
            <a:r>
              <a:rPr lang="en-US" altLang="zh-CN" sz="1800" dirty="0">
                <a:solidFill>
                  <a:srgbClr val="FF00FF"/>
                </a:solidFill>
                <a:latin typeface="Consolas" pitchFamily="49" charset="0"/>
                <a:ea typeface="仿宋" pitchFamily="49" charset="-122"/>
                <a:cs typeface="Consolas" pitchFamily="49" charset="0"/>
              </a:rPr>
              <a:t>[</a:t>
            </a:r>
            <a:r>
              <a:rPr lang="en-US" altLang="zh-CN" sz="1800" dirty="0" err="1">
                <a:solidFill>
                  <a:srgbClr val="FF00FF"/>
                </a:solidFill>
                <a:latin typeface="Consolas" pitchFamily="49" charset="0"/>
                <a:ea typeface="仿宋" pitchFamily="49" charset="-122"/>
                <a:cs typeface="Consolas" pitchFamily="49" charset="0"/>
              </a:rPr>
              <a:t>i</a:t>
            </a:r>
            <a:r>
              <a:rPr lang="en-US" altLang="zh-CN" sz="1800" dirty="0">
                <a:solidFill>
                  <a:srgbClr val="FF00FF"/>
                </a:solidFill>
                <a:latin typeface="Consolas" pitchFamily="49" charset="0"/>
                <a:ea typeface="仿宋" pitchFamily="49" charset="-122"/>
                <a:cs typeface="Consolas" pitchFamily="49" charset="0"/>
              </a:rPr>
              <a:t>][j]&lt;INF)</a:t>
            </a:r>
          </a:p>
          <a:p>
            <a:r>
              <a:rPr lang="en-US" altLang="zh-CN" sz="1800" dirty="0">
                <a:solidFill>
                  <a:srgbClr val="FF00FF"/>
                </a:solidFill>
                <a:latin typeface="Consolas" pitchFamily="49" charset="0"/>
                <a:ea typeface="仿宋" pitchFamily="49" charset="-122"/>
                <a:cs typeface="Consolas" pitchFamily="49" charset="0"/>
              </a:rPr>
              <a:t>	</a:t>
            </a:r>
            <a:r>
              <a:rPr lang="en-US" altLang="zh-CN" sz="1800">
                <a:solidFill>
                  <a:srgbClr val="FF00FF"/>
                </a:solidFill>
                <a:latin typeface="Consolas" pitchFamily="49" charset="0"/>
                <a:ea typeface="仿宋" pitchFamily="49" charset="-122"/>
                <a:cs typeface="Consolas" pitchFamily="49" charset="0"/>
              </a:rPr>
              <a:t>    </a:t>
            </a:r>
            <a:r>
              <a:rPr lang="en-US" altLang="zh-CN" sz="1800" dirty="0">
                <a:solidFill>
                  <a:srgbClr val="FF00FF"/>
                </a:solidFill>
                <a:latin typeface="Consolas" pitchFamily="49" charset="0"/>
                <a:ea typeface="仿宋" pitchFamily="49" charset="-122"/>
                <a:cs typeface="Consolas" pitchFamily="49" charset="0"/>
              </a:rPr>
              <a:t>path[</a:t>
            </a:r>
            <a:r>
              <a:rPr lang="en-US" altLang="zh-CN" sz="1800" dirty="0" err="1">
                <a:solidFill>
                  <a:srgbClr val="FF00FF"/>
                </a:solidFill>
                <a:latin typeface="Consolas" pitchFamily="49" charset="0"/>
                <a:ea typeface="仿宋" pitchFamily="49" charset="-122"/>
                <a:cs typeface="Consolas" pitchFamily="49" charset="0"/>
              </a:rPr>
              <a:t>i</a:t>
            </a:r>
            <a:r>
              <a:rPr lang="en-US" altLang="zh-CN" sz="1800" dirty="0">
                <a:solidFill>
                  <a:srgbClr val="FF00FF"/>
                </a:solidFill>
                <a:latin typeface="Consolas" pitchFamily="49" charset="0"/>
                <a:ea typeface="仿宋" pitchFamily="49" charset="-122"/>
                <a:cs typeface="Consolas" pitchFamily="49" charset="0"/>
              </a:rPr>
              <a:t>][j]=</a:t>
            </a:r>
            <a:r>
              <a:rPr lang="en-US" altLang="zh-CN" sz="1800" dirty="0" err="1">
                <a:solidFill>
                  <a:srgbClr val="FF00FF"/>
                </a:solidFill>
                <a:latin typeface="Consolas" pitchFamily="49" charset="0"/>
                <a:ea typeface="仿宋" pitchFamily="49" charset="-122"/>
                <a:cs typeface="Consolas" pitchFamily="49" charset="0"/>
              </a:rPr>
              <a:t>i</a:t>
            </a:r>
            <a:r>
              <a:rPr lang="en-US" altLang="zh-CN" sz="1800" dirty="0">
                <a:solidFill>
                  <a:srgbClr val="FF00FF"/>
                </a:solidFill>
                <a:latin typeface="Consolas" pitchFamily="49" charset="0"/>
                <a:ea typeface="仿宋" pitchFamily="49" charset="-122"/>
                <a:cs typeface="Consolas" pitchFamily="49" charset="0"/>
              </a:rPr>
              <a:t>; 	</a:t>
            </a:r>
            <a:r>
              <a:rPr lang="en-US" altLang="zh-CN" sz="1800" dirty="0">
                <a:solidFill>
                  <a:srgbClr val="00B0F0"/>
                </a:solidFill>
                <a:latin typeface="Consolas" pitchFamily="49" charset="0"/>
                <a:ea typeface="仿宋" pitchFamily="49" charset="-122"/>
                <a:cs typeface="Consolas" pitchFamily="49" charset="0"/>
              </a:rPr>
              <a:t>//</a:t>
            </a:r>
            <a:r>
              <a:rPr lang="en-US" altLang="zh-CN" sz="1800" dirty="0" err="1">
                <a:solidFill>
                  <a:srgbClr val="00B0F0"/>
                </a:solidFill>
                <a:latin typeface="Consolas" pitchFamily="49" charset="0"/>
                <a:ea typeface="仿宋" pitchFamily="49" charset="-122"/>
                <a:cs typeface="Consolas" pitchFamily="49" charset="0"/>
              </a:rPr>
              <a:t>i</a:t>
            </a:r>
            <a:r>
              <a:rPr lang="zh-CN" altLang="en-US" sz="1800" dirty="0">
                <a:solidFill>
                  <a:srgbClr val="00B0F0"/>
                </a:solidFill>
                <a:latin typeface="Consolas" pitchFamily="49" charset="0"/>
                <a:ea typeface="仿宋" pitchFamily="49" charset="-122"/>
                <a:cs typeface="Consolas" pitchFamily="49" charset="0"/>
              </a:rPr>
              <a:t>和</a:t>
            </a:r>
            <a:r>
              <a:rPr lang="en-US" altLang="zh-CN" sz="1800" dirty="0">
                <a:solidFill>
                  <a:srgbClr val="00B0F0"/>
                </a:solidFill>
                <a:latin typeface="Consolas" pitchFamily="49" charset="0"/>
                <a:ea typeface="仿宋" pitchFamily="49" charset="-122"/>
                <a:cs typeface="Consolas" pitchFamily="49" charset="0"/>
              </a:rPr>
              <a:t>j</a:t>
            </a:r>
            <a:r>
              <a:rPr lang="zh-CN" altLang="en-US" sz="1800" dirty="0">
                <a:solidFill>
                  <a:srgbClr val="00B0F0"/>
                </a:solidFill>
                <a:latin typeface="Consolas" pitchFamily="49" charset="0"/>
                <a:ea typeface="仿宋" pitchFamily="49" charset="-122"/>
                <a:cs typeface="Consolas" pitchFamily="49" charset="0"/>
              </a:rPr>
              <a:t>顶点之间有一条边时</a:t>
            </a:r>
          </a:p>
          <a:p>
            <a:r>
              <a:rPr lang="zh-CN" altLang="en-US" sz="1800" dirty="0">
                <a:solidFill>
                  <a:srgbClr val="FF00FF"/>
                </a:solidFill>
                <a:latin typeface="Consolas" pitchFamily="49" charset="0"/>
                <a:ea typeface="仿宋" pitchFamily="49" charset="-122"/>
                <a:cs typeface="Consolas" pitchFamily="49" charset="0"/>
              </a:rPr>
              <a:t>　　　　 </a:t>
            </a:r>
            <a:r>
              <a:rPr lang="en-US" altLang="zh-CN" sz="1800" dirty="0">
                <a:solidFill>
                  <a:srgbClr val="FF00FF"/>
                </a:solidFill>
                <a:latin typeface="Consolas" pitchFamily="49" charset="0"/>
                <a:ea typeface="仿宋" pitchFamily="49" charset="-122"/>
                <a:cs typeface="Consolas" pitchFamily="49" charset="0"/>
              </a:rPr>
              <a:t>else		</a:t>
            </a:r>
            <a:r>
              <a:rPr lang="en-US" altLang="zh-CN" sz="1800">
                <a:solidFill>
                  <a:srgbClr val="FF00FF"/>
                </a:solidFill>
                <a:latin typeface="Consolas" pitchFamily="49" charset="0"/>
                <a:ea typeface="仿宋" pitchFamily="49" charset="-122"/>
                <a:cs typeface="Consolas" pitchFamily="49" charset="0"/>
              </a:rPr>
              <a:t>	</a:t>
            </a:r>
            <a:r>
              <a:rPr lang="en-US" altLang="zh-CN" sz="1800">
                <a:solidFill>
                  <a:srgbClr val="00B0F0"/>
                </a:solidFill>
                <a:latin typeface="Consolas" pitchFamily="49" charset="0"/>
                <a:ea typeface="仿宋" pitchFamily="49" charset="-122"/>
                <a:cs typeface="Consolas" pitchFamily="49" charset="0"/>
              </a:rPr>
              <a:t>//</a:t>
            </a:r>
            <a:r>
              <a:rPr lang="en-US" altLang="zh-CN" sz="1800" dirty="0" err="1">
                <a:solidFill>
                  <a:srgbClr val="00B0F0"/>
                </a:solidFill>
                <a:latin typeface="Consolas" pitchFamily="49" charset="0"/>
                <a:ea typeface="仿宋" pitchFamily="49" charset="-122"/>
                <a:cs typeface="Consolas" pitchFamily="49" charset="0"/>
              </a:rPr>
              <a:t>i</a:t>
            </a:r>
            <a:r>
              <a:rPr lang="zh-CN" altLang="en-US" sz="1800" dirty="0">
                <a:solidFill>
                  <a:srgbClr val="00B0F0"/>
                </a:solidFill>
                <a:latin typeface="Consolas" pitchFamily="49" charset="0"/>
                <a:ea typeface="仿宋" pitchFamily="49" charset="-122"/>
                <a:cs typeface="Consolas" pitchFamily="49" charset="0"/>
              </a:rPr>
              <a:t>和</a:t>
            </a:r>
            <a:r>
              <a:rPr lang="en-US" altLang="zh-CN" sz="1800" dirty="0">
                <a:solidFill>
                  <a:srgbClr val="00B0F0"/>
                </a:solidFill>
                <a:latin typeface="Consolas" pitchFamily="49" charset="0"/>
                <a:ea typeface="仿宋" pitchFamily="49" charset="-122"/>
                <a:cs typeface="Consolas" pitchFamily="49" charset="0"/>
              </a:rPr>
              <a:t>j</a:t>
            </a:r>
            <a:r>
              <a:rPr lang="zh-CN" altLang="en-US" sz="1800" dirty="0">
                <a:solidFill>
                  <a:srgbClr val="00B0F0"/>
                </a:solidFill>
                <a:latin typeface="Consolas" pitchFamily="49" charset="0"/>
                <a:ea typeface="仿宋" pitchFamily="49" charset="-122"/>
                <a:cs typeface="Consolas" pitchFamily="49" charset="0"/>
              </a:rPr>
              <a:t>顶点之间没有一条边时</a:t>
            </a:r>
          </a:p>
          <a:p>
            <a:r>
              <a:rPr lang="zh-CN" altLang="en-US" sz="1800" dirty="0">
                <a:solidFill>
                  <a:srgbClr val="FF00FF"/>
                </a:solidFill>
                <a:latin typeface="Consolas" pitchFamily="49" charset="0"/>
                <a:ea typeface="仿宋" pitchFamily="49" charset="-122"/>
                <a:cs typeface="Consolas" pitchFamily="49" charset="0"/>
              </a:rPr>
              <a:t>	</a:t>
            </a:r>
            <a:r>
              <a:rPr lang="zh-CN" altLang="en-US" sz="1800">
                <a:solidFill>
                  <a:srgbClr val="FF00FF"/>
                </a:solidFill>
                <a:latin typeface="Consolas" pitchFamily="49" charset="0"/>
                <a:ea typeface="仿宋" pitchFamily="49" charset="-122"/>
                <a:cs typeface="Consolas" pitchFamily="49" charset="0"/>
              </a:rPr>
              <a:t>    </a:t>
            </a:r>
            <a:r>
              <a:rPr lang="en-US" altLang="zh-CN" sz="1800" dirty="0">
                <a:solidFill>
                  <a:srgbClr val="FF00FF"/>
                </a:solidFill>
                <a:latin typeface="Consolas" pitchFamily="49" charset="0"/>
                <a:ea typeface="仿宋" pitchFamily="49" charset="-122"/>
                <a:cs typeface="Consolas" pitchFamily="49" charset="0"/>
              </a:rPr>
              <a:t>path[</a:t>
            </a:r>
            <a:r>
              <a:rPr lang="en-US" altLang="zh-CN" sz="1800" dirty="0" err="1">
                <a:solidFill>
                  <a:srgbClr val="FF00FF"/>
                </a:solidFill>
                <a:latin typeface="Consolas" pitchFamily="49" charset="0"/>
                <a:ea typeface="仿宋" pitchFamily="49" charset="-122"/>
                <a:cs typeface="Consolas" pitchFamily="49" charset="0"/>
              </a:rPr>
              <a:t>i</a:t>
            </a:r>
            <a:r>
              <a:rPr lang="en-US" altLang="zh-CN" sz="1800" dirty="0">
                <a:solidFill>
                  <a:srgbClr val="FF00FF"/>
                </a:solidFill>
                <a:latin typeface="Consolas" pitchFamily="49" charset="0"/>
                <a:ea typeface="仿宋" pitchFamily="49" charset="-122"/>
                <a:cs typeface="Consolas" pitchFamily="49" charset="0"/>
              </a:rPr>
              <a:t>][j]=-1;</a:t>
            </a:r>
          </a:p>
          <a:p>
            <a:r>
              <a:rPr lang="en-US" altLang="zh-CN" sz="1800" dirty="0">
                <a:solidFill>
                  <a:srgbClr val="FF00FF"/>
                </a:solidFill>
                <a:latin typeface="Consolas" pitchFamily="49" charset="0"/>
                <a:ea typeface="仿宋" pitchFamily="49" charset="-122"/>
                <a:cs typeface="Consolas" pitchFamily="49" charset="0"/>
              </a:rPr>
              <a:t>     }</a:t>
            </a:r>
          </a:p>
        </p:txBody>
      </p:sp>
      <p:grpSp>
        <p:nvGrpSpPr>
          <p:cNvPr id="13" name="组合 13">
            <a:extLst>
              <a:ext uri="{FF2B5EF4-FFF2-40B4-BE49-F238E27FC236}">
                <a16:creationId xmlns:a16="http://schemas.microsoft.com/office/drawing/2014/main" id="{A97900FE-17A3-15DE-2B9F-4F5705B9CB3A}"/>
              </a:ext>
            </a:extLst>
          </p:cNvPr>
          <p:cNvGrpSpPr/>
          <p:nvPr/>
        </p:nvGrpSpPr>
        <p:grpSpPr>
          <a:xfrm>
            <a:off x="2456207" y="2774173"/>
            <a:ext cx="8572560" cy="3286148"/>
            <a:chOff x="571472" y="2714620"/>
            <a:chExt cx="8572560" cy="3286148"/>
          </a:xfrm>
        </p:grpSpPr>
        <p:sp>
          <p:nvSpPr>
            <p:cNvPr id="14" name="矩形 13">
              <a:extLst>
                <a:ext uri="{FF2B5EF4-FFF2-40B4-BE49-F238E27FC236}">
                  <a16:creationId xmlns:a16="http://schemas.microsoft.com/office/drawing/2014/main" id="{F2A42A12-FCE7-B7B6-8A72-30BB72E02FF7}"/>
                </a:ext>
              </a:extLst>
            </p:cNvPr>
            <p:cNvSpPr/>
            <p:nvPr/>
          </p:nvSpPr>
          <p:spPr>
            <a:xfrm>
              <a:off x="571472" y="2714620"/>
              <a:ext cx="6715172" cy="3286148"/>
            </a:xfrm>
            <a:prstGeom prst="rect">
              <a:avLst/>
            </a:prstGeom>
            <a:solidFill>
              <a:schemeClr val="accent1">
                <a:alpha val="0"/>
              </a:schemeClr>
            </a:solidFill>
            <a:ln w="38100">
              <a:solidFill>
                <a:srgbClr val="C0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extBox 5">
              <a:extLst>
                <a:ext uri="{FF2B5EF4-FFF2-40B4-BE49-F238E27FC236}">
                  <a16:creationId xmlns:a16="http://schemas.microsoft.com/office/drawing/2014/main" id="{8623426A-9330-DDB2-3107-6A683CAFD0B1}"/>
                </a:ext>
              </a:extLst>
            </p:cNvPr>
            <p:cNvSpPr txBox="1"/>
            <p:nvPr/>
          </p:nvSpPr>
          <p:spPr>
            <a:xfrm>
              <a:off x="7643834" y="4000504"/>
              <a:ext cx="1500198" cy="646331"/>
            </a:xfrm>
            <a:prstGeom prst="rect">
              <a:avLst/>
            </a:prstGeom>
            <a:noFill/>
          </p:spPr>
          <p:txBody>
            <a:bodyPr wrap="square" rtlCol="0">
              <a:spAutoFit/>
            </a:bodyPr>
            <a:lstStyle/>
            <a:p>
              <a:r>
                <a:rPr kumimoji="1" lang="en-US" altLang="zh-CN" sz="1800" i="1" dirty="0">
                  <a:latin typeface="Consolas" pitchFamily="49" charset="0"/>
                  <a:ea typeface="仿宋" pitchFamily="49" charset="-122"/>
                  <a:cs typeface="Consolas" pitchFamily="49" charset="0"/>
                </a:rPr>
                <a:t>A</a:t>
              </a:r>
              <a:r>
                <a:rPr kumimoji="1" lang="zh-CN" altLang="en-US" sz="1800" dirty="0">
                  <a:latin typeface="Consolas" pitchFamily="49" charset="0"/>
                  <a:ea typeface="仿宋" pitchFamily="49" charset="-122"/>
                  <a:cs typeface="Consolas" pitchFamily="49" charset="0"/>
                </a:rPr>
                <a:t>和</a:t>
              </a:r>
              <a:r>
                <a:rPr kumimoji="1" lang="en-US" altLang="zh-CN" sz="1800" dirty="0">
                  <a:latin typeface="Consolas" pitchFamily="49" charset="0"/>
                  <a:ea typeface="仿宋" pitchFamily="49" charset="-122"/>
                  <a:cs typeface="Consolas" pitchFamily="49" charset="0"/>
                </a:rPr>
                <a:t>path</a:t>
              </a:r>
              <a:r>
                <a:rPr kumimoji="1" lang="zh-CN" altLang="en-US" sz="1800" dirty="0">
                  <a:latin typeface="Consolas" pitchFamily="49" charset="0"/>
                  <a:ea typeface="仿宋" pitchFamily="49" charset="-122"/>
                  <a:cs typeface="Consolas" pitchFamily="49" charset="0"/>
                </a:rPr>
                <a:t>数组初始化</a:t>
              </a:r>
              <a:endParaRPr lang="zh-CN" altLang="en-US" sz="1800" i="1" dirty="0">
                <a:latin typeface="Consolas" pitchFamily="49" charset="0"/>
                <a:ea typeface="仿宋" pitchFamily="49" charset="-122"/>
                <a:cs typeface="Consolas" pitchFamily="49" charset="0"/>
              </a:endParaRPr>
            </a:p>
          </p:txBody>
        </p:sp>
        <p:cxnSp>
          <p:nvCxnSpPr>
            <p:cNvPr id="16" name="直接连接符 15">
              <a:extLst>
                <a:ext uri="{FF2B5EF4-FFF2-40B4-BE49-F238E27FC236}">
                  <a16:creationId xmlns:a16="http://schemas.microsoft.com/office/drawing/2014/main" id="{96BC230E-FBAA-D681-8241-33C62A5D308E}"/>
                </a:ext>
              </a:extLst>
            </p:cNvPr>
            <p:cNvCxnSpPr/>
            <p:nvPr/>
          </p:nvCxnSpPr>
          <p:spPr>
            <a:xfrm flipV="1">
              <a:off x="7286644" y="4314145"/>
              <a:ext cx="357190" cy="0"/>
            </a:xfrm>
            <a:prstGeom prst="line">
              <a:avLst/>
            </a:prstGeom>
            <a:ln w="38100">
              <a:solidFill>
                <a:srgbClr val="C00000"/>
              </a:solidFill>
              <a:tailEnd type="non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24753598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2">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2">
                                            <p:txEl>
                                              <p:pRg st="7" end="7"/>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
                                            <p:txEl>
                                              <p:pRg st="8" end="8"/>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
                                            <p:txEl>
                                              <p:pRg st="9" end="9"/>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xEl>
                                              <p:pRg st="10" end="10"/>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2">
                                            <p:txEl>
                                              <p:pRg st="11" end="11"/>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984A65-5387-1154-6DF5-B96F0FC2BC05}"/>
            </a:ext>
          </a:extLst>
        </p:cNvPr>
        <p:cNvGrpSpPr/>
        <p:nvPr/>
      </p:nvGrpSpPr>
      <p:grpSpPr>
        <a:xfrm>
          <a:off x="0" y="0"/>
          <a:ext cx="0" cy="0"/>
          <a:chOff x="0" y="0"/>
          <a:chExt cx="0" cy="0"/>
        </a:xfrm>
      </p:grpSpPr>
      <p:sp>
        <p:nvSpPr>
          <p:cNvPr id="2" name="Text Box 4">
            <a:extLst>
              <a:ext uri="{FF2B5EF4-FFF2-40B4-BE49-F238E27FC236}">
                <a16:creationId xmlns:a16="http://schemas.microsoft.com/office/drawing/2014/main" id="{79AAF971-458F-3A74-31F1-7D9C08CD0B28}"/>
              </a:ext>
            </a:extLst>
          </p:cNvPr>
          <p:cNvSpPr txBox="1">
            <a:spLocks noChangeArrowheads="1"/>
          </p:cNvSpPr>
          <p:nvPr/>
        </p:nvSpPr>
        <p:spPr bwMode="auto">
          <a:xfrm>
            <a:off x="2106366" y="1248389"/>
            <a:ext cx="8785225" cy="3693319"/>
          </a:xfrm>
          <a:prstGeom prst="rect">
            <a:avLst/>
          </a:prstGeom>
          <a:solidFill>
            <a:schemeClr val="bg1">
              <a:lumMod val="95000"/>
            </a:schemeClr>
          </a:solidFill>
          <a:ln>
            <a:noFill/>
            <a:headEnd/>
            <a:tailEnd type="none" w="med" len="lg"/>
          </a:ln>
          <a:effectLst/>
          <a:scene3d>
            <a:camera prst="orthographicFront">
              <a:rot lat="0" lon="0" rev="0"/>
            </a:camera>
            <a:lightRig rig="chilly" dir="t">
              <a:rot lat="0" lon="0" rev="18480000"/>
            </a:lightRig>
          </a:scene3d>
          <a:sp3d prstMaterial="clear">
            <a:bevelT h="63500"/>
          </a:sp3d>
        </p:spPr>
        <p:style>
          <a:lnRef idx="1">
            <a:schemeClr val="accent3"/>
          </a:lnRef>
          <a:fillRef idx="2">
            <a:schemeClr val="accent3"/>
          </a:fillRef>
          <a:effectRef idx="1">
            <a:schemeClr val="accent3"/>
          </a:effectRef>
          <a:fontRef idx="minor">
            <a:schemeClr val="dk1"/>
          </a:fontRef>
        </p:style>
        <p:txBody>
          <a:bodyPr>
            <a:spAutoFit/>
          </a:bodyPr>
          <a:lstStyle/>
          <a:p>
            <a:r>
              <a:rPr lang="zh-CN" altLang="en-US" sz="1800" dirty="0">
                <a:solidFill>
                  <a:srgbClr val="3333FF"/>
                </a:solidFill>
                <a:latin typeface="Consolas" pitchFamily="49" charset="0"/>
                <a:ea typeface="仿宋" pitchFamily="49" charset="-122"/>
                <a:cs typeface="Consolas" pitchFamily="49" charset="0"/>
              </a:rPr>
              <a:t>　</a:t>
            </a:r>
            <a:r>
              <a:rPr lang="en-US" altLang="zh-CN" sz="1800" dirty="0">
                <a:solidFill>
                  <a:srgbClr val="3333FF"/>
                </a:solidFill>
                <a:latin typeface="Consolas" pitchFamily="49" charset="0"/>
                <a:ea typeface="仿宋" pitchFamily="49" charset="-122"/>
                <a:cs typeface="Consolas" pitchFamily="49" charset="0"/>
              </a:rPr>
              <a:t>for (k=</a:t>
            </a:r>
            <a:r>
              <a:rPr lang="en-US" altLang="zh-CN" sz="1800" dirty="0" err="1">
                <a:solidFill>
                  <a:srgbClr val="3333FF"/>
                </a:solidFill>
                <a:latin typeface="Consolas" pitchFamily="49" charset="0"/>
                <a:ea typeface="仿宋" pitchFamily="49" charset="-122"/>
                <a:cs typeface="Consolas" pitchFamily="49" charset="0"/>
              </a:rPr>
              <a:t>0;k</a:t>
            </a:r>
            <a:r>
              <a:rPr lang="en-US" altLang="zh-CN" sz="1800" dirty="0">
                <a:solidFill>
                  <a:srgbClr val="3333FF"/>
                </a:solidFill>
                <a:latin typeface="Consolas" pitchFamily="49" charset="0"/>
                <a:ea typeface="仿宋" pitchFamily="49" charset="-122"/>
                <a:cs typeface="Consolas" pitchFamily="49" charset="0"/>
              </a:rPr>
              <a:t>&lt;</a:t>
            </a:r>
            <a:r>
              <a:rPr lang="en-US" altLang="zh-CN" sz="1800" dirty="0" err="1">
                <a:solidFill>
                  <a:srgbClr val="3333FF"/>
                </a:solidFill>
                <a:latin typeface="Consolas" pitchFamily="49" charset="0"/>
                <a:ea typeface="仿宋" pitchFamily="49" charset="-122"/>
                <a:cs typeface="Consolas" pitchFamily="49" charset="0"/>
              </a:rPr>
              <a:t>g.n;k</a:t>
            </a:r>
            <a:r>
              <a:rPr lang="en-US" altLang="zh-CN" sz="1800" dirty="0">
                <a:solidFill>
                  <a:srgbClr val="3333FF"/>
                </a:solidFill>
                <a:latin typeface="Consolas" pitchFamily="49" charset="0"/>
                <a:ea typeface="仿宋" pitchFamily="49" charset="-122"/>
                <a:cs typeface="Consolas" pitchFamily="49" charset="0"/>
              </a:rPr>
              <a:t>++)		</a:t>
            </a:r>
            <a:r>
              <a:rPr lang="en-US" altLang="zh-CN" sz="1800" dirty="0">
                <a:solidFill>
                  <a:srgbClr val="00B0F0"/>
                </a:solidFill>
                <a:latin typeface="Consolas" pitchFamily="49" charset="0"/>
                <a:ea typeface="仿宋" pitchFamily="49" charset="-122"/>
                <a:cs typeface="Consolas" pitchFamily="49" charset="0"/>
              </a:rPr>
              <a:t>//</a:t>
            </a:r>
            <a:r>
              <a:rPr lang="zh-CN" altLang="en-US" sz="1800" dirty="0">
                <a:solidFill>
                  <a:srgbClr val="00B0F0"/>
                </a:solidFill>
                <a:latin typeface="Consolas" pitchFamily="49" charset="0"/>
                <a:ea typeface="仿宋" pitchFamily="49" charset="-122"/>
                <a:cs typeface="Consolas" pitchFamily="49" charset="0"/>
              </a:rPr>
              <a:t>求</a:t>
            </a:r>
            <a:r>
              <a:rPr lang="en-US" altLang="zh-CN" sz="1800" dirty="0" err="1">
                <a:solidFill>
                  <a:srgbClr val="00B0F0"/>
                </a:solidFill>
                <a:latin typeface="Consolas" pitchFamily="49" charset="0"/>
                <a:ea typeface="仿宋" pitchFamily="49" charset="-122"/>
                <a:cs typeface="Consolas" pitchFamily="49" charset="0"/>
              </a:rPr>
              <a:t>A</a:t>
            </a:r>
            <a:r>
              <a:rPr lang="en-US" altLang="zh-CN" sz="1800" baseline="-25000" dirty="0" err="1">
                <a:solidFill>
                  <a:srgbClr val="00B0F0"/>
                </a:solidFill>
                <a:latin typeface="Consolas" pitchFamily="49" charset="0"/>
                <a:ea typeface="仿宋" pitchFamily="49" charset="-122"/>
                <a:cs typeface="Consolas" pitchFamily="49" charset="0"/>
              </a:rPr>
              <a:t>k</a:t>
            </a:r>
            <a:r>
              <a:rPr lang="en-US" altLang="zh-CN" sz="1800" dirty="0">
                <a:solidFill>
                  <a:srgbClr val="00B0F0"/>
                </a:solidFill>
                <a:latin typeface="Consolas" pitchFamily="49" charset="0"/>
                <a:ea typeface="仿宋" pitchFamily="49" charset="-122"/>
                <a:cs typeface="Consolas" pitchFamily="49" charset="0"/>
              </a:rPr>
              <a:t>[</a:t>
            </a:r>
            <a:r>
              <a:rPr lang="en-US" altLang="zh-CN" sz="1800" dirty="0" err="1">
                <a:solidFill>
                  <a:srgbClr val="00B0F0"/>
                </a:solidFill>
                <a:latin typeface="Consolas" pitchFamily="49" charset="0"/>
                <a:ea typeface="仿宋" pitchFamily="49" charset="-122"/>
                <a:cs typeface="Consolas" pitchFamily="49" charset="0"/>
              </a:rPr>
              <a:t>i</a:t>
            </a:r>
            <a:r>
              <a:rPr lang="en-US" altLang="zh-CN" sz="1800" dirty="0">
                <a:solidFill>
                  <a:srgbClr val="00B0F0"/>
                </a:solidFill>
                <a:latin typeface="Consolas" pitchFamily="49" charset="0"/>
                <a:ea typeface="仿宋" pitchFamily="49" charset="-122"/>
                <a:cs typeface="Consolas" pitchFamily="49" charset="0"/>
              </a:rPr>
              <a:t>][j]</a:t>
            </a:r>
          </a:p>
          <a:p>
            <a:r>
              <a:rPr lang="zh-CN" altLang="en-US" sz="1800" dirty="0">
                <a:solidFill>
                  <a:srgbClr val="3333FF"/>
                </a:solidFill>
                <a:latin typeface="Consolas" pitchFamily="49" charset="0"/>
                <a:ea typeface="仿宋" pitchFamily="49" charset="-122"/>
                <a:cs typeface="Consolas" pitchFamily="49" charset="0"/>
              </a:rPr>
              <a:t>　</a:t>
            </a:r>
            <a:r>
              <a:rPr lang="nb-NO" altLang="zh-CN" sz="1800">
                <a:solidFill>
                  <a:srgbClr val="3333FF"/>
                </a:solidFill>
                <a:latin typeface="Consolas" pitchFamily="49" charset="0"/>
                <a:ea typeface="仿宋" pitchFamily="49" charset="-122"/>
                <a:cs typeface="Consolas" pitchFamily="49" charset="0"/>
              </a:rPr>
              <a:t>{   for </a:t>
            </a:r>
            <a:r>
              <a:rPr lang="nb-NO" altLang="zh-CN" sz="1800" dirty="0">
                <a:solidFill>
                  <a:srgbClr val="3333FF"/>
                </a:solidFill>
                <a:latin typeface="Consolas" pitchFamily="49" charset="0"/>
                <a:ea typeface="仿宋" pitchFamily="49" charset="-122"/>
                <a:cs typeface="Consolas" pitchFamily="49" charset="0"/>
              </a:rPr>
              <a:t>(i=0;i&lt;g.n;i++)</a:t>
            </a:r>
          </a:p>
          <a:p>
            <a:r>
              <a:rPr lang="zh-CN" altLang="nb-NO" sz="1800" dirty="0">
                <a:solidFill>
                  <a:srgbClr val="3333FF"/>
                </a:solidFill>
                <a:latin typeface="Consolas" pitchFamily="49" charset="0"/>
                <a:ea typeface="仿宋" pitchFamily="49" charset="-122"/>
                <a:cs typeface="Consolas" pitchFamily="49" charset="0"/>
              </a:rPr>
              <a:t>　　　    </a:t>
            </a:r>
            <a:r>
              <a:rPr lang="nb-NO" altLang="zh-CN" sz="1800" dirty="0">
                <a:solidFill>
                  <a:srgbClr val="3333FF"/>
                </a:solidFill>
                <a:latin typeface="Consolas" pitchFamily="49" charset="0"/>
                <a:ea typeface="仿宋" pitchFamily="49" charset="-122"/>
                <a:cs typeface="Consolas" pitchFamily="49" charset="0"/>
              </a:rPr>
              <a:t>for (j=0;j&lt;g.n;j++)</a:t>
            </a:r>
          </a:p>
          <a:p>
            <a:r>
              <a:rPr lang="nb-NO" altLang="zh-CN" sz="1800" dirty="0">
                <a:solidFill>
                  <a:srgbClr val="3333FF"/>
                </a:solidFill>
                <a:latin typeface="Consolas" pitchFamily="49" charset="0"/>
                <a:ea typeface="仿宋" pitchFamily="49" charset="-122"/>
                <a:cs typeface="Consolas" pitchFamily="49" charset="0"/>
              </a:rPr>
              <a:t>	</a:t>
            </a:r>
            <a:r>
              <a:rPr lang="zh-CN" altLang="nb-NO" sz="1800" dirty="0">
                <a:solidFill>
                  <a:srgbClr val="3333FF"/>
                </a:solidFill>
                <a:latin typeface="Consolas" pitchFamily="49" charset="0"/>
                <a:ea typeface="仿宋" pitchFamily="49" charset="-122"/>
                <a:cs typeface="Consolas" pitchFamily="49" charset="0"/>
              </a:rPr>
              <a:t>　   </a:t>
            </a:r>
            <a:r>
              <a:rPr lang="nb-NO" altLang="zh-CN" sz="1800" dirty="0">
                <a:solidFill>
                  <a:srgbClr val="3333FF"/>
                </a:solidFill>
                <a:latin typeface="Consolas" pitchFamily="49" charset="0"/>
                <a:ea typeface="仿宋" pitchFamily="49" charset="-122"/>
                <a:cs typeface="Consolas" pitchFamily="49" charset="0"/>
              </a:rPr>
              <a:t>if (A[i][j]&gt;A[i][k]+A[k][j])	</a:t>
            </a:r>
            <a:r>
              <a:rPr lang="nb-NO" altLang="zh-CN" sz="1800" dirty="0">
                <a:solidFill>
                  <a:srgbClr val="00B0F0"/>
                </a:solidFill>
                <a:latin typeface="Consolas" pitchFamily="49" charset="0"/>
                <a:ea typeface="仿宋" pitchFamily="49" charset="-122"/>
                <a:cs typeface="Consolas" pitchFamily="49" charset="0"/>
              </a:rPr>
              <a:t>//</a:t>
            </a:r>
            <a:r>
              <a:rPr lang="zh-CN" altLang="nb-NO" sz="1800" dirty="0">
                <a:solidFill>
                  <a:srgbClr val="00B0F0"/>
                </a:solidFill>
                <a:latin typeface="Consolas" pitchFamily="49" charset="0"/>
                <a:ea typeface="仿宋" pitchFamily="49" charset="-122"/>
                <a:cs typeface="Consolas" pitchFamily="49" charset="0"/>
              </a:rPr>
              <a:t>找到更短路径</a:t>
            </a:r>
          </a:p>
          <a:p>
            <a:r>
              <a:rPr lang="zh-CN" altLang="nb-NO" sz="1800" dirty="0">
                <a:solidFill>
                  <a:srgbClr val="3333FF"/>
                </a:solidFill>
                <a:latin typeface="Consolas" pitchFamily="49" charset="0"/>
                <a:ea typeface="仿宋" pitchFamily="49" charset="-122"/>
                <a:cs typeface="Consolas" pitchFamily="49" charset="0"/>
              </a:rPr>
              <a:t>	　   </a:t>
            </a:r>
            <a:r>
              <a:rPr lang="nb-NO" altLang="zh-CN" sz="1800" dirty="0">
                <a:solidFill>
                  <a:srgbClr val="3333FF"/>
                </a:solidFill>
                <a:latin typeface="Consolas" pitchFamily="49" charset="0"/>
                <a:ea typeface="仿宋" pitchFamily="49" charset="-122"/>
                <a:cs typeface="Consolas" pitchFamily="49" charset="0"/>
              </a:rPr>
              <a:t>{</a:t>
            </a:r>
            <a:r>
              <a:rPr lang="zh-CN" altLang="nb-NO" sz="1800" dirty="0">
                <a:solidFill>
                  <a:srgbClr val="3333FF"/>
                </a:solidFill>
                <a:latin typeface="Consolas" pitchFamily="49" charset="0"/>
                <a:ea typeface="仿宋" pitchFamily="49" charset="-122"/>
                <a:cs typeface="Consolas" pitchFamily="49" charset="0"/>
              </a:rPr>
              <a:t>　</a:t>
            </a:r>
            <a:r>
              <a:rPr lang="zh-CN" altLang="nb-NO" sz="1800">
                <a:solidFill>
                  <a:srgbClr val="3333FF"/>
                </a:solidFill>
                <a:latin typeface="Consolas" pitchFamily="49" charset="0"/>
                <a:ea typeface="仿宋" pitchFamily="49" charset="-122"/>
                <a:cs typeface="Consolas" pitchFamily="49" charset="0"/>
              </a:rPr>
              <a:t>  </a:t>
            </a:r>
            <a:r>
              <a:rPr lang="nb-NO" altLang="zh-CN" sz="1800">
                <a:solidFill>
                  <a:srgbClr val="3333FF"/>
                </a:solidFill>
                <a:latin typeface="Consolas" pitchFamily="49" charset="0"/>
                <a:ea typeface="仿宋" pitchFamily="49" charset="-122"/>
                <a:cs typeface="Consolas" pitchFamily="49" charset="0"/>
              </a:rPr>
              <a:t>A[i</a:t>
            </a:r>
            <a:r>
              <a:rPr lang="nb-NO" altLang="zh-CN" sz="1800" dirty="0">
                <a:solidFill>
                  <a:srgbClr val="3333FF"/>
                </a:solidFill>
                <a:latin typeface="Consolas" pitchFamily="49" charset="0"/>
                <a:ea typeface="仿宋" pitchFamily="49" charset="-122"/>
                <a:cs typeface="Consolas" pitchFamily="49" charset="0"/>
              </a:rPr>
              <a:t>][j]=</a:t>
            </a:r>
            <a:r>
              <a:rPr lang="nb-NO" altLang="zh-CN" sz="1800" dirty="0">
                <a:solidFill>
                  <a:srgbClr val="FF00FF"/>
                </a:solidFill>
                <a:latin typeface="Consolas" pitchFamily="49" charset="0"/>
                <a:ea typeface="仿宋" pitchFamily="49" charset="-122"/>
                <a:cs typeface="Consolas" pitchFamily="49" charset="0"/>
              </a:rPr>
              <a:t>A[i][k]+A[k][j]</a:t>
            </a:r>
            <a:r>
              <a:rPr lang="nb-NO" altLang="zh-CN" sz="1800" dirty="0">
                <a:solidFill>
                  <a:srgbClr val="3333FF"/>
                </a:solidFill>
                <a:latin typeface="Consolas" pitchFamily="49" charset="0"/>
                <a:ea typeface="仿宋" pitchFamily="49" charset="-122"/>
                <a:cs typeface="Consolas" pitchFamily="49" charset="0"/>
              </a:rPr>
              <a:t>;	</a:t>
            </a:r>
            <a:r>
              <a:rPr lang="nb-NO" altLang="zh-CN" sz="1800" dirty="0">
                <a:solidFill>
                  <a:srgbClr val="00B0F0"/>
                </a:solidFill>
                <a:latin typeface="Consolas" pitchFamily="49" charset="0"/>
                <a:ea typeface="仿宋" pitchFamily="49" charset="-122"/>
                <a:cs typeface="Consolas" pitchFamily="49" charset="0"/>
              </a:rPr>
              <a:t>//</a:t>
            </a:r>
            <a:r>
              <a:rPr lang="zh-CN" altLang="nb-NO" sz="1800" dirty="0">
                <a:solidFill>
                  <a:srgbClr val="00B0F0"/>
                </a:solidFill>
                <a:latin typeface="Consolas" pitchFamily="49" charset="0"/>
                <a:ea typeface="仿宋" pitchFamily="49" charset="-122"/>
                <a:cs typeface="Consolas" pitchFamily="49" charset="0"/>
              </a:rPr>
              <a:t>修改路径长度</a:t>
            </a:r>
          </a:p>
          <a:p>
            <a:r>
              <a:rPr lang="zh-CN" altLang="nb-NO" sz="1800" dirty="0">
                <a:solidFill>
                  <a:srgbClr val="3333FF"/>
                </a:solidFill>
                <a:latin typeface="Consolas" pitchFamily="49" charset="0"/>
                <a:ea typeface="仿宋" pitchFamily="49" charset="-122"/>
                <a:cs typeface="Consolas" pitchFamily="49" charset="0"/>
              </a:rPr>
              <a:t>	　</a:t>
            </a:r>
            <a:r>
              <a:rPr lang="zh-CN" altLang="nb-NO" sz="1800">
                <a:solidFill>
                  <a:srgbClr val="3333FF"/>
                </a:solidFill>
                <a:latin typeface="Consolas" pitchFamily="49" charset="0"/>
                <a:ea typeface="仿宋" pitchFamily="49" charset="-122"/>
                <a:cs typeface="Consolas" pitchFamily="49" charset="0"/>
              </a:rPr>
              <a:t>        </a:t>
            </a:r>
            <a:r>
              <a:rPr lang="nb-NO" altLang="zh-CN" sz="1800">
                <a:solidFill>
                  <a:srgbClr val="3333FF"/>
                </a:solidFill>
                <a:latin typeface="Consolas" pitchFamily="49" charset="0"/>
                <a:ea typeface="仿宋" pitchFamily="49" charset="-122"/>
                <a:cs typeface="Consolas" pitchFamily="49" charset="0"/>
              </a:rPr>
              <a:t>path[i</a:t>
            </a:r>
            <a:r>
              <a:rPr lang="nb-NO" altLang="zh-CN" sz="1800" dirty="0">
                <a:solidFill>
                  <a:srgbClr val="3333FF"/>
                </a:solidFill>
                <a:latin typeface="Consolas" pitchFamily="49" charset="0"/>
                <a:ea typeface="仿宋" pitchFamily="49" charset="-122"/>
                <a:cs typeface="Consolas" pitchFamily="49" charset="0"/>
              </a:rPr>
              <a:t>][j]=</a:t>
            </a:r>
            <a:r>
              <a:rPr lang="nb-NO" altLang="zh-CN" sz="1800" dirty="0">
                <a:solidFill>
                  <a:srgbClr val="FF00FF"/>
                </a:solidFill>
                <a:latin typeface="Consolas" pitchFamily="49" charset="0"/>
                <a:ea typeface="仿宋" pitchFamily="49" charset="-122"/>
                <a:cs typeface="Consolas" pitchFamily="49" charset="0"/>
              </a:rPr>
              <a:t>path[k][j]</a:t>
            </a:r>
            <a:r>
              <a:rPr lang="nb-NO" altLang="zh-CN" sz="1800" dirty="0">
                <a:solidFill>
                  <a:srgbClr val="3333FF"/>
                </a:solidFill>
                <a:latin typeface="Consolas" pitchFamily="49" charset="0"/>
                <a:ea typeface="仿宋" pitchFamily="49" charset="-122"/>
                <a:cs typeface="Consolas" pitchFamily="49" charset="0"/>
              </a:rPr>
              <a:t>; 	</a:t>
            </a:r>
            <a:r>
              <a:rPr lang="nb-NO" altLang="zh-CN" sz="1800" dirty="0">
                <a:solidFill>
                  <a:srgbClr val="00B0F0"/>
                </a:solidFill>
                <a:latin typeface="Consolas" pitchFamily="49" charset="0"/>
                <a:ea typeface="仿宋" pitchFamily="49" charset="-122"/>
                <a:cs typeface="Consolas" pitchFamily="49" charset="0"/>
              </a:rPr>
              <a:t>//</a:t>
            </a:r>
            <a:r>
              <a:rPr lang="zh-CN" altLang="nb-NO" sz="1800" dirty="0">
                <a:solidFill>
                  <a:srgbClr val="00B0F0"/>
                </a:solidFill>
                <a:latin typeface="Consolas" pitchFamily="49" charset="0"/>
                <a:ea typeface="仿宋" pitchFamily="49" charset="-122"/>
                <a:cs typeface="Consolas" pitchFamily="49" charset="0"/>
              </a:rPr>
              <a:t>修改最短路径为经过顶点</a:t>
            </a:r>
            <a:r>
              <a:rPr lang="nb-NO" altLang="zh-CN" sz="1800" dirty="0">
                <a:solidFill>
                  <a:srgbClr val="00B0F0"/>
                </a:solidFill>
                <a:latin typeface="Consolas" pitchFamily="49" charset="0"/>
                <a:ea typeface="仿宋" pitchFamily="49" charset="-122"/>
                <a:cs typeface="Consolas" pitchFamily="49" charset="0"/>
              </a:rPr>
              <a:t>k</a:t>
            </a:r>
          </a:p>
          <a:p>
            <a:r>
              <a:rPr lang="zh-CN" altLang="nb-NO" sz="1800" dirty="0">
                <a:solidFill>
                  <a:srgbClr val="3333FF"/>
                </a:solidFill>
                <a:latin typeface="Consolas" pitchFamily="49" charset="0"/>
                <a:ea typeface="仿宋" pitchFamily="49" charset="-122"/>
                <a:cs typeface="Consolas" pitchFamily="49" charset="0"/>
              </a:rPr>
              <a:t>　　　　    </a:t>
            </a:r>
            <a:r>
              <a:rPr lang="nb-NO" altLang="zh-CN" sz="1800" dirty="0">
                <a:solidFill>
                  <a:srgbClr val="3333FF"/>
                </a:solidFill>
                <a:latin typeface="Consolas" pitchFamily="49" charset="0"/>
                <a:ea typeface="仿宋" pitchFamily="49" charset="-122"/>
                <a:cs typeface="Consolas" pitchFamily="49" charset="0"/>
              </a:rPr>
              <a:t>}</a:t>
            </a:r>
          </a:p>
          <a:p>
            <a:r>
              <a:rPr lang="zh-CN" altLang="nb-NO" sz="1800" dirty="0">
                <a:solidFill>
                  <a:srgbClr val="3333FF"/>
                </a:solidFill>
                <a:latin typeface="Consolas" pitchFamily="49" charset="0"/>
                <a:ea typeface="仿宋" pitchFamily="49" charset="-122"/>
                <a:cs typeface="Consolas" pitchFamily="49" charset="0"/>
              </a:rPr>
              <a:t>　  </a:t>
            </a:r>
            <a:r>
              <a:rPr lang="nb-NO" altLang="zh-CN" sz="1800" dirty="0">
                <a:solidFill>
                  <a:srgbClr val="3333FF"/>
                </a:solidFill>
                <a:latin typeface="Consolas" pitchFamily="49" charset="0"/>
                <a:ea typeface="仿宋" pitchFamily="49" charset="-122"/>
                <a:cs typeface="Consolas" pitchFamily="49" charset="0"/>
              </a:rPr>
              <a:t>}</a:t>
            </a:r>
          </a:p>
          <a:p>
            <a:r>
              <a:rPr lang="nb-NO" altLang="zh-CN" sz="1800" dirty="0">
                <a:solidFill>
                  <a:srgbClr val="3333FF"/>
                </a:solidFill>
                <a:latin typeface="Consolas" pitchFamily="49" charset="0"/>
                <a:ea typeface="仿宋" pitchFamily="49" charset="-122"/>
                <a:cs typeface="Consolas" pitchFamily="49" charset="0"/>
              </a:rPr>
              <a:t>}	</a:t>
            </a:r>
            <a:endParaRPr lang="en-US" altLang="zh-CN" sz="1800" dirty="0">
              <a:solidFill>
                <a:srgbClr val="3333FF"/>
              </a:solidFill>
              <a:latin typeface="Consolas" pitchFamily="49" charset="0"/>
              <a:ea typeface="仿宋" pitchFamily="49" charset="-122"/>
              <a:cs typeface="Consolas" pitchFamily="49" charset="0"/>
            </a:endParaRPr>
          </a:p>
        </p:txBody>
      </p:sp>
      <p:sp>
        <p:nvSpPr>
          <p:cNvPr id="3" name="Text Box 5">
            <a:extLst>
              <a:ext uri="{FF2B5EF4-FFF2-40B4-BE49-F238E27FC236}">
                <a16:creationId xmlns:a16="http://schemas.microsoft.com/office/drawing/2014/main" id="{92E1F3D5-9AE3-1090-42B8-47DFE9692EF5}"/>
              </a:ext>
            </a:extLst>
          </p:cNvPr>
          <p:cNvSpPr txBox="1">
            <a:spLocks noChangeArrowheads="1"/>
          </p:cNvSpPr>
          <p:nvPr/>
        </p:nvSpPr>
        <p:spPr bwMode="auto">
          <a:xfrm>
            <a:off x="2395291" y="5094101"/>
            <a:ext cx="3960811" cy="400110"/>
          </a:xfrm>
          <a:prstGeom prst="rect">
            <a:avLst/>
          </a:prstGeom>
          <a:noFill/>
          <a:ln w="9525">
            <a:noFill/>
            <a:miter lim="800000"/>
            <a:headEnd/>
            <a:tailEnd/>
          </a:ln>
          <a:effectLst/>
        </p:spPr>
        <p:txBody>
          <a:bodyPr wrap="square">
            <a:spAutoFit/>
          </a:bodyPr>
          <a:lstStyle/>
          <a:p>
            <a:r>
              <a:rPr lang="zh-CN" altLang="en-US" sz="2000" dirty="0">
                <a:latin typeface="Consolas" pitchFamily="49" charset="0"/>
                <a:ea typeface="楷体" pitchFamily="49" charset="-122"/>
                <a:cs typeface="Consolas" pitchFamily="49" charset="0"/>
              </a:rPr>
              <a:t>本算法的时间复杂度为</a:t>
            </a:r>
            <a:r>
              <a:rPr lang="en-US" altLang="zh-CN" sz="2000" dirty="0">
                <a:solidFill>
                  <a:srgbClr val="FF0000"/>
                </a:solidFill>
                <a:latin typeface="Consolas" pitchFamily="49" charset="0"/>
                <a:ea typeface="楷体" pitchFamily="49" charset="-122"/>
                <a:cs typeface="Consolas" pitchFamily="49" charset="0"/>
              </a:rPr>
              <a:t>O(</a:t>
            </a:r>
            <a:r>
              <a:rPr lang="en-US" altLang="zh-CN" sz="2000" i="1" dirty="0" err="1">
                <a:solidFill>
                  <a:srgbClr val="FF0000"/>
                </a:solidFill>
                <a:latin typeface="Consolas" pitchFamily="49" charset="0"/>
                <a:ea typeface="楷体" pitchFamily="49" charset="-122"/>
                <a:cs typeface="Consolas" pitchFamily="49" charset="0"/>
              </a:rPr>
              <a:t>n</a:t>
            </a:r>
            <a:r>
              <a:rPr lang="en-US" altLang="zh-CN" sz="2000" baseline="30000" dirty="0" err="1">
                <a:solidFill>
                  <a:srgbClr val="FF0000"/>
                </a:solidFill>
                <a:latin typeface="Consolas" pitchFamily="49" charset="0"/>
                <a:ea typeface="楷体" pitchFamily="49" charset="-122"/>
                <a:cs typeface="Consolas" pitchFamily="49" charset="0"/>
              </a:rPr>
              <a:t>3</a:t>
            </a:r>
            <a:r>
              <a:rPr lang="en-US" altLang="zh-CN" sz="2000" dirty="0">
                <a:solidFill>
                  <a:srgbClr val="FF0000"/>
                </a:solidFill>
                <a:latin typeface="Consolas" pitchFamily="49" charset="0"/>
                <a:ea typeface="楷体" pitchFamily="49" charset="-122"/>
                <a:cs typeface="Consolas" pitchFamily="49" charset="0"/>
              </a:rPr>
              <a:t>)</a:t>
            </a:r>
            <a:r>
              <a:rPr lang="zh-CN" altLang="en-US" sz="2000" dirty="0">
                <a:latin typeface="Consolas" pitchFamily="49" charset="0"/>
                <a:ea typeface="楷体" pitchFamily="49" charset="-122"/>
                <a:cs typeface="Consolas" pitchFamily="49" charset="0"/>
              </a:rPr>
              <a:t>。</a:t>
            </a:r>
          </a:p>
        </p:txBody>
      </p:sp>
      <p:grpSp>
        <p:nvGrpSpPr>
          <p:cNvPr id="4" name="组合 9">
            <a:extLst>
              <a:ext uri="{FF2B5EF4-FFF2-40B4-BE49-F238E27FC236}">
                <a16:creationId xmlns:a16="http://schemas.microsoft.com/office/drawing/2014/main" id="{BE71BEAD-50E6-38D9-CF20-B78F21F6295F}"/>
              </a:ext>
            </a:extLst>
          </p:cNvPr>
          <p:cNvGrpSpPr/>
          <p:nvPr/>
        </p:nvGrpSpPr>
        <p:grpSpPr>
          <a:xfrm>
            <a:off x="2855640" y="1556792"/>
            <a:ext cx="8131232" cy="2500330"/>
            <a:chOff x="928662" y="857232"/>
            <a:chExt cx="8131232" cy="2500330"/>
          </a:xfrm>
        </p:grpSpPr>
        <p:sp>
          <p:nvSpPr>
            <p:cNvPr id="5" name="矩形 4">
              <a:extLst>
                <a:ext uri="{FF2B5EF4-FFF2-40B4-BE49-F238E27FC236}">
                  <a16:creationId xmlns:a16="http://schemas.microsoft.com/office/drawing/2014/main" id="{20257FB8-036E-3E98-4CF6-FE361C72E878}"/>
                </a:ext>
              </a:extLst>
            </p:cNvPr>
            <p:cNvSpPr/>
            <p:nvPr/>
          </p:nvSpPr>
          <p:spPr>
            <a:xfrm>
              <a:off x="928662" y="857232"/>
              <a:ext cx="7286676" cy="2500330"/>
            </a:xfrm>
            <a:prstGeom prst="rect">
              <a:avLst/>
            </a:prstGeom>
            <a:solidFill>
              <a:schemeClr val="accent1">
                <a:alpha val="0"/>
              </a:schemeClr>
            </a:solidFill>
            <a:ln w="38100">
              <a:solidFill>
                <a:srgbClr val="C0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TextBox 5">
              <a:extLst>
                <a:ext uri="{FF2B5EF4-FFF2-40B4-BE49-F238E27FC236}">
                  <a16:creationId xmlns:a16="http://schemas.microsoft.com/office/drawing/2014/main" id="{539E89A3-0DEA-236E-6D73-6508C383D1CB}"/>
                </a:ext>
              </a:extLst>
            </p:cNvPr>
            <p:cNvSpPr txBox="1"/>
            <p:nvPr/>
          </p:nvSpPr>
          <p:spPr>
            <a:xfrm>
              <a:off x="8559828" y="1714488"/>
              <a:ext cx="500066" cy="723275"/>
            </a:xfrm>
            <a:prstGeom prst="rect">
              <a:avLst/>
            </a:prstGeom>
            <a:noFill/>
          </p:spPr>
          <p:txBody>
            <a:bodyPr wrap="square" rtlCol="0">
              <a:spAutoFit/>
            </a:bodyPr>
            <a:lstStyle/>
            <a:p>
              <a:pPr>
                <a:spcBef>
                  <a:spcPts val="600"/>
                </a:spcBef>
              </a:pPr>
              <a:r>
                <a:rPr lang="zh-CN" altLang="en-US" sz="1800" dirty="0">
                  <a:latin typeface="仿宋" pitchFamily="49" charset="-122"/>
                  <a:ea typeface="仿宋" pitchFamily="49" charset="-122"/>
                </a:rPr>
                <a:t>调</a:t>
              </a:r>
              <a:endParaRPr lang="en-US" altLang="zh-CN" sz="1800" dirty="0">
                <a:latin typeface="仿宋" pitchFamily="49" charset="-122"/>
                <a:ea typeface="仿宋" pitchFamily="49" charset="-122"/>
              </a:endParaRPr>
            </a:p>
            <a:p>
              <a:pPr>
                <a:spcBef>
                  <a:spcPts val="600"/>
                </a:spcBef>
              </a:pPr>
              <a:r>
                <a:rPr lang="zh-CN" altLang="en-US" sz="1800" dirty="0">
                  <a:latin typeface="仿宋" pitchFamily="49" charset="-122"/>
                  <a:ea typeface="仿宋" pitchFamily="49" charset="-122"/>
                </a:rPr>
                <a:t>整</a:t>
              </a:r>
            </a:p>
          </p:txBody>
        </p:sp>
        <p:cxnSp>
          <p:nvCxnSpPr>
            <p:cNvPr id="7" name="直接连接符 6">
              <a:extLst>
                <a:ext uri="{FF2B5EF4-FFF2-40B4-BE49-F238E27FC236}">
                  <a16:creationId xmlns:a16="http://schemas.microsoft.com/office/drawing/2014/main" id="{ECECEF6F-01EF-F6EF-E7B4-B7723BC39AF0}"/>
                </a:ext>
              </a:extLst>
            </p:cNvPr>
            <p:cNvCxnSpPr/>
            <p:nvPr/>
          </p:nvCxnSpPr>
          <p:spPr>
            <a:xfrm flipV="1">
              <a:off x="8215338" y="2066601"/>
              <a:ext cx="344490" cy="0"/>
            </a:xfrm>
            <a:prstGeom prst="line">
              <a:avLst/>
            </a:prstGeom>
            <a:ln w="38100">
              <a:solidFill>
                <a:srgbClr val="C00000"/>
              </a:solidFill>
              <a:tailEnd type="non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03539785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2751</TotalTime>
  <Words>15238</Words>
  <Application>Microsoft Office PowerPoint</Application>
  <PresentationFormat>宽屏</PresentationFormat>
  <Paragraphs>2929</Paragraphs>
  <Slides>136</Slides>
  <Notes>17</Notes>
  <HiddenSlides>0</HiddenSlides>
  <MMClips>0</MMClips>
  <ScaleCrop>false</ScaleCrop>
  <HeadingPairs>
    <vt:vector size="8" baseType="variant">
      <vt:variant>
        <vt:lpstr>已用的字体</vt:lpstr>
      </vt:variant>
      <vt:variant>
        <vt:i4>14</vt:i4>
      </vt:variant>
      <vt:variant>
        <vt:lpstr>主题</vt:lpstr>
      </vt:variant>
      <vt:variant>
        <vt:i4>1</vt:i4>
      </vt:variant>
      <vt:variant>
        <vt:lpstr>嵌入 OLE 服务器</vt:lpstr>
      </vt:variant>
      <vt:variant>
        <vt:i4>1</vt:i4>
      </vt:variant>
      <vt:variant>
        <vt:lpstr>幻灯片标题</vt:lpstr>
      </vt:variant>
      <vt:variant>
        <vt:i4>136</vt:i4>
      </vt:variant>
    </vt:vector>
  </HeadingPairs>
  <TitlesOfParts>
    <vt:vector size="152" baseType="lpstr">
      <vt:lpstr>方正启体简体</vt:lpstr>
      <vt:lpstr>仿宋</vt:lpstr>
      <vt:lpstr>黑体</vt:lpstr>
      <vt:lpstr>华文中宋</vt:lpstr>
      <vt:lpstr>楷体</vt:lpstr>
      <vt:lpstr>宋体</vt:lpstr>
      <vt:lpstr>微软雅黑</vt:lpstr>
      <vt:lpstr>Arial</vt:lpstr>
      <vt:lpstr>Calibri</vt:lpstr>
      <vt:lpstr>Comic Sans MS</vt:lpstr>
      <vt:lpstr>Consolas</vt:lpstr>
      <vt:lpstr>Symbol</vt:lpstr>
      <vt:lpstr>Times New Roman</vt:lpstr>
      <vt:lpstr>Wingdings</vt:lpstr>
      <vt:lpstr>Office 主题​​</vt:lpstr>
      <vt:lpstr>公式</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数据结构 Data Structure</dc:title>
  <dc:creator>Fenghc</dc:creator>
  <cp:lastModifiedBy>User</cp:lastModifiedBy>
  <cp:revision>261</cp:revision>
  <dcterms:created xsi:type="dcterms:W3CDTF">2021-02-25T03:49:55Z</dcterms:created>
  <dcterms:modified xsi:type="dcterms:W3CDTF">2025-11-17T02:50:53Z</dcterms:modified>
</cp:coreProperties>
</file>